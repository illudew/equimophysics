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327" r:id="rId3"/>
    <p:sldId id="333" r:id="rId4"/>
    <p:sldId id="329" r:id="rId5"/>
    <p:sldId id="330" r:id="rId6"/>
    <p:sldId id="304" r:id="rId7"/>
    <p:sldId id="303" r:id="rId8"/>
    <p:sldId id="320" r:id="rId9"/>
    <p:sldId id="331" r:id="rId10"/>
    <p:sldId id="334" r:id="rId11"/>
    <p:sldId id="332"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308" r:id="rId25"/>
    <p:sldId id="326" r:id="rId26"/>
    <p:sldId id="296" r:id="rId27"/>
    <p:sldId id="298" r:id="rId28"/>
    <p:sldId id="309" r:id="rId29"/>
    <p:sldId id="299" r:id="rId30"/>
    <p:sldId id="313" r:id="rId31"/>
    <p:sldId id="269" r:id="rId32"/>
    <p:sldId id="324" r:id="rId33"/>
    <p:sldId id="300" r:id="rId34"/>
    <p:sldId id="301" r:id="rId35"/>
    <p:sldId id="302" r:id="rId36"/>
    <p:sldId id="310" r:id="rId37"/>
    <p:sldId id="311" r:id="rId38"/>
    <p:sldId id="312" r:id="rId39"/>
    <p:sldId id="314" r:id="rId40"/>
    <p:sldId id="315" r:id="rId41"/>
    <p:sldId id="316" r:id="rId42"/>
    <p:sldId id="321" r:id="rId43"/>
    <p:sldId id="317" r:id="rId44"/>
    <p:sldId id="318" r:id="rId45"/>
    <p:sldId id="319" r:id="rId46"/>
    <p:sldId id="322" r:id="rId47"/>
    <p:sldId id="323" r:id="rId48"/>
    <p:sldId id="325" r:id="rId49"/>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164"/>
    <p:restoredTop sz="94766"/>
  </p:normalViewPr>
  <p:slideViewPr>
    <p:cSldViewPr snapToGrid="0" snapToObjects="1">
      <p:cViewPr varScale="1">
        <p:scale>
          <a:sx n="101" d="100"/>
          <a:sy n="101" d="100"/>
        </p:scale>
        <p:origin x="224"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2023/5/9</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80.png"/><Relationship Id="rId5" Type="http://schemas.openxmlformats.org/officeDocument/2006/relationships/image" Target="../media/image570.png"/><Relationship Id="rId4" Type="http://schemas.openxmlformats.org/officeDocument/2006/relationships/image" Target="../media/image10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0.png"/></Relationships>
</file>

<file path=ppt/slides/_rels/slide1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0.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0.png"/><Relationship Id="rId7" Type="http://schemas.openxmlformats.org/officeDocument/2006/relationships/image" Target="../media/image57.png"/><Relationship Id="rId2" Type="http://schemas.openxmlformats.org/officeDocument/2006/relationships/image" Target="../media/image5200.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0.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image" Target="../media/image5700.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0.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9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0.png"/><Relationship Id="rId3" Type="http://schemas.openxmlformats.org/officeDocument/2006/relationships/image" Target="../media/image690.png"/><Relationship Id="rId7" Type="http://schemas.openxmlformats.org/officeDocument/2006/relationships/image" Target="../media/image75.png"/><Relationship Id="rId12" Type="http://schemas.openxmlformats.org/officeDocument/2006/relationships/image" Target="../media/image57.png"/><Relationship Id="rId2" Type="http://schemas.openxmlformats.org/officeDocument/2006/relationships/image" Target="../media/image710.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70.png"/></Relationships>
</file>

<file path=ppt/slides/_rels/slide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43.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73.gif"/><Relationship Id="rId4" Type="http://schemas.openxmlformats.org/officeDocument/2006/relationships/image" Target="../media/image72.gif"/></Relationships>
</file>

<file path=ppt/slides/_rels/slide44.xml.rels><?xml version="1.0" encoding="UTF-8" standalone="yes"?>
<Relationships xmlns="http://schemas.openxmlformats.org/package/2006/relationships"><Relationship Id="rId3" Type="http://schemas.openxmlformats.org/officeDocument/2006/relationships/image" Target="../media/image73.gif"/><Relationship Id="rId7" Type="http://schemas.openxmlformats.org/officeDocument/2006/relationships/image" Target="../media/image96.png"/><Relationship Id="rId2" Type="http://schemas.openxmlformats.org/officeDocument/2006/relationships/image" Target="../media/image72.gif"/><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74.jpe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2"/>
            <a:ext cx="10425811" cy="24219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N" sz="4000" dirty="0">
                <a:latin typeface="FangSong" panose="02010609060101010101" pitchFamily="49" charset="-122"/>
                <a:ea typeface="FangSong" panose="02010609060101010101" pitchFamily="49" charset="-122"/>
              </a:rPr>
              <a:t>相互作用系统</a:t>
            </a:r>
          </a:p>
          <a:p>
            <a:r>
              <a:rPr lang="en-CN" sz="4000" dirty="0">
                <a:latin typeface="FangSong" panose="02010609060101010101" pitchFamily="49" charset="-122"/>
                <a:ea typeface="FangSong" panose="02010609060101010101" pitchFamily="49" charset="-122"/>
              </a:rPr>
              <a:t>弱耦合</a:t>
            </a:r>
            <a:r>
              <a:rPr lang="zh-CN" altLang="en-US" sz="4000" dirty="0">
                <a:latin typeface="FangSong" panose="02010609060101010101" pitchFamily="49" charset="-122"/>
                <a:ea typeface="FangSong" panose="02010609060101010101" pitchFamily="49" charset="-122"/>
              </a:rPr>
              <a:t>（</a:t>
            </a:r>
            <a:r>
              <a:rPr lang="en-US" altLang="zh-CN" sz="4000" dirty="0">
                <a:latin typeface="FangSong" panose="02010609060101010101" pitchFamily="49" charset="-122"/>
                <a:ea typeface="FangSong" panose="02010609060101010101" pitchFamily="49" charset="-122"/>
              </a:rPr>
              <a:t>weakly interacting gases</a:t>
            </a:r>
            <a:r>
              <a:rPr lang="zh-CN" altLang="en-US"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a:p>
            <a:r>
              <a:rPr lang="en-CN" sz="4000" dirty="0">
                <a:latin typeface="FangSong" panose="02010609060101010101" pitchFamily="49" charset="-122"/>
                <a:ea typeface="FangSong" panose="02010609060101010101" pitchFamily="49" charset="-122"/>
              </a:rPr>
              <a:t>Ising模型</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（第十二三周）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420855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8BD727-6202-EA6B-8114-B15CB7B4FD33}"/>
              </a:ext>
            </a:extLst>
          </p:cNvPr>
          <p:cNvSpPr txBox="1"/>
          <p:nvPr/>
        </p:nvSpPr>
        <p:spPr>
          <a:xfrm>
            <a:off x="215153" y="160274"/>
            <a:ext cx="4816349" cy="369332"/>
          </a:xfrm>
          <a:prstGeom prst="rect">
            <a:avLst/>
          </a:prstGeom>
          <a:noFill/>
        </p:spPr>
        <p:txBody>
          <a:bodyPr wrap="square" rtlCol="0">
            <a:spAutoFit/>
          </a:bodyPr>
          <a:lstStyle/>
          <a:p>
            <a:pPr algn="ctr"/>
            <a:r>
              <a:rPr lang="en-CN" dirty="0"/>
              <a:t>前十一周课程图(consider particles in V at tau)</a:t>
            </a:r>
          </a:p>
        </p:txBody>
      </p:sp>
      <p:sp>
        <p:nvSpPr>
          <p:cNvPr id="4" name="Diamond 3">
            <a:extLst>
              <a:ext uri="{FF2B5EF4-FFF2-40B4-BE49-F238E27FC236}">
                <a16:creationId xmlns:a16="http://schemas.microsoft.com/office/drawing/2014/main" id="{E81BE994-3F41-F129-9E5C-5CB1954FA258}"/>
              </a:ext>
            </a:extLst>
          </p:cNvPr>
          <p:cNvSpPr/>
          <p:nvPr/>
        </p:nvSpPr>
        <p:spPr>
          <a:xfrm>
            <a:off x="0" y="840255"/>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Do they interact with each other?</a:t>
            </a:r>
          </a:p>
        </p:txBody>
      </p:sp>
      <p:sp>
        <p:nvSpPr>
          <p:cNvPr id="6" name="Diamond 5">
            <a:extLst>
              <a:ext uri="{FF2B5EF4-FFF2-40B4-BE49-F238E27FC236}">
                <a16:creationId xmlns:a16="http://schemas.microsoft.com/office/drawing/2014/main" id="{F967E158-FB8D-16FF-9771-F4398E9DF915}"/>
              </a:ext>
            </a:extLst>
          </p:cNvPr>
          <p:cNvSpPr/>
          <p:nvPr/>
        </p:nvSpPr>
        <p:spPr>
          <a:xfrm>
            <a:off x="2232463" y="1186246"/>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Are they localized?</a:t>
            </a:r>
          </a:p>
        </p:txBody>
      </p:sp>
      <mc:AlternateContent xmlns:mc="http://schemas.openxmlformats.org/markup-compatibility/2006" xmlns:a14="http://schemas.microsoft.com/office/drawing/2010/main">
        <mc:Choice Requires="a14">
          <p:sp>
            <p:nvSpPr>
              <p:cNvPr id="7" name="Diamond 6">
                <a:extLst>
                  <a:ext uri="{FF2B5EF4-FFF2-40B4-BE49-F238E27FC236}">
                    <a16:creationId xmlns:a16="http://schemas.microsoft.com/office/drawing/2014/main" id="{9365820C-A18E-8E66-5813-AD6B84477F8C}"/>
                  </a:ext>
                </a:extLst>
              </p:cNvPr>
              <p:cNvSpPr/>
              <p:nvPr/>
            </p:nvSpPr>
            <p:spPr>
              <a:xfrm>
                <a:off x="4267201" y="628825"/>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Is </a:t>
                </a:r>
                <a14:m>
                  <m:oMath xmlns:m="http://schemas.openxmlformats.org/officeDocument/2006/math">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𝑛</m:t>
                        </m:r>
                      </m:e>
                      <m:sub>
                        <m:r>
                          <a:rPr lang="en-US" b="0" i="1" smtClean="0">
                            <a:solidFill>
                              <a:srgbClr val="FF0000"/>
                            </a:solidFill>
                            <a:latin typeface="Cambria Math" panose="02040503050406030204" pitchFamily="18" charset="0"/>
                            <a:ea typeface="Cambria Math" panose="02040503050406030204" pitchFamily="18" charset="0"/>
                          </a:rPr>
                          <m:t>𝑄</m:t>
                        </m:r>
                      </m:sub>
                    </m:sSub>
                  </m:oMath>
                </a14:m>
                <a:r>
                  <a:rPr lang="en-CN" dirty="0">
                    <a:solidFill>
                      <a:srgbClr val="FF0000"/>
                    </a:solidFill>
                  </a:rPr>
                  <a:t>?</a:t>
                </a:r>
              </a:p>
            </p:txBody>
          </p:sp>
        </mc:Choice>
        <mc:Fallback xmlns="">
          <p:sp>
            <p:nvSpPr>
              <p:cNvPr id="7" name="Diamond 6">
                <a:extLst>
                  <a:ext uri="{FF2B5EF4-FFF2-40B4-BE49-F238E27FC236}">
                    <a16:creationId xmlns:a16="http://schemas.microsoft.com/office/drawing/2014/main" id="{9365820C-A18E-8E66-5813-AD6B84477F8C}"/>
                  </a:ext>
                </a:extLst>
              </p:cNvPr>
              <p:cNvSpPr>
                <a:spLocks noRot="1" noChangeAspect="1" noMove="1" noResize="1" noEditPoints="1" noAdjustHandles="1" noChangeArrowheads="1" noChangeShapeType="1" noTextEdit="1"/>
              </p:cNvSpPr>
              <p:nvPr/>
            </p:nvSpPr>
            <p:spPr>
              <a:xfrm>
                <a:off x="4267201" y="628825"/>
                <a:ext cx="1828799" cy="1717589"/>
              </a:xfrm>
              <a:prstGeom prst="diamond">
                <a:avLst/>
              </a:prstGeom>
              <a:blipFill>
                <a:blip r:embed="rId2"/>
                <a:stretch>
                  <a:fillRect/>
                </a:stretch>
              </a:blipFill>
            </p:spPr>
            <p:txBody>
              <a:bodyPr/>
              <a:lstStyle/>
              <a:p>
                <a:r>
                  <a:rPr lang="en-CN">
                    <a:noFill/>
                  </a:rPr>
                  <a:t> </a:t>
                </a:r>
              </a:p>
            </p:txBody>
          </p:sp>
        </mc:Fallback>
      </mc:AlternateContent>
      <p:sp>
        <p:nvSpPr>
          <p:cNvPr id="9" name="Diamond 8">
            <a:extLst>
              <a:ext uri="{FF2B5EF4-FFF2-40B4-BE49-F238E27FC236}">
                <a16:creationId xmlns:a16="http://schemas.microsoft.com/office/drawing/2014/main" id="{7370856B-086D-9836-EFB7-E1567ABF77C5}"/>
              </a:ext>
            </a:extLst>
          </p:cNvPr>
          <p:cNvSpPr/>
          <p:nvPr/>
        </p:nvSpPr>
        <p:spPr>
          <a:xfrm>
            <a:off x="6262039" y="1272404"/>
            <a:ext cx="2001426"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Fermion?</a:t>
            </a:r>
          </a:p>
        </p:txBody>
      </p:sp>
      <p:sp>
        <p:nvSpPr>
          <p:cNvPr id="10" name="Diamond 9">
            <a:extLst>
              <a:ext uri="{FF2B5EF4-FFF2-40B4-BE49-F238E27FC236}">
                <a16:creationId xmlns:a16="http://schemas.microsoft.com/office/drawing/2014/main" id="{79023843-3DF9-1132-670B-60E04FD7F314}"/>
              </a:ext>
            </a:extLst>
          </p:cNvPr>
          <p:cNvSpPr/>
          <p:nvPr/>
        </p:nvSpPr>
        <p:spPr>
          <a:xfrm>
            <a:off x="8402611" y="628824"/>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Bosons!</a:t>
            </a:r>
          </a:p>
        </p:txBody>
      </p:sp>
      <p:sp>
        <p:nvSpPr>
          <p:cNvPr id="11" name="Diamond 10">
            <a:extLst>
              <a:ext uri="{FF2B5EF4-FFF2-40B4-BE49-F238E27FC236}">
                <a16:creationId xmlns:a16="http://schemas.microsoft.com/office/drawing/2014/main" id="{5CE1BFE3-A122-7FD4-34BD-26BD07611BCC}"/>
              </a:ext>
            </a:extLst>
          </p:cNvPr>
          <p:cNvSpPr/>
          <p:nvPr/>
        </p:nvSpPr>
        <p:spPr>
          <a:xfrm>
            <a:off x="9522777" y="2065874"/>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Is the number fixed?</a:t>
            </a:r>
          </a:p>
        </p:txBody>
      </p:sp>
      <p:cxnSp>
        <p:nvCxnSpPr>
          <p:cNvPr id="13" name="Straight Arrow Connector 12">
            <a:extLst>
              <a:ext uri="{FF2B5EF4-FFF2-40B4-BE49-F238E27FC236}">
                <a16:creationId xmlns:a16="http://schemas.microsoft.com/office/drawing/2014/main" id="{DF6839A4-D5D6-3D89-7460-46E6E701F7D2}"/>
              </a:ext>
            </a:extLst>
          </p:cNvPr>
          <p:cNvCxnSpPr/>
          <p:nvPr/>
        </p:nvCxnSpPr>
        <p:spPr>
          <a:xfrm>
            <a:off x="1962682" y="1705232"/>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74A6D47-9339-0BEE-BCE9-C49E852463CA}"/>
              </a:ext>
            </a:extLst>
          </p:cNvPr>
          <p:cNvSpPr txBox="1"/>
          <p:nvPr/>
        </p:nvSpPr>
        <p:spPr>
          <a:xfrm>
            <a:off x="1945363" y="1215713"/>
            <a:ext cx="531342" cy="369332"/>
          </a:xfrm>
          <a:prstGeom prst="rect">
            <a:avLst/>
          </a:prstGeom>
          <a:noFill/>
        </p:spPr>
        <p:txBody>
          <a:bodyPr wrap="square" rtlCol="0">
            <a:spAutoFit/>
          </a:bodyPr>
          <a:lstStyle/>
          <a:p>
            <a:r>
              <a:rPr lang="en-CN" dirty="0"/>
              <a:t>No</a:t>
            </a:r>
          </a:p>
        </p:txBody>
      </p:sp>
      <p:sp>
        <p:nvSpPr>
          <p:cNvPr id="16" name="TextBox 15">
            <a:extLst>
              <a:ext uri="{FF2B5EF4-FFF2-40B4-BE49-F238E27FC236}">
                <a16:creationId xmlns:a16="http://schemas.microsoft.com/office/drawing/2014/main" id="{FFF17710-BEFB-F24C-9F9B-68EDEE45EFCC}"/>
              </a:ext>
            </a:extLst>
          </p:cNvPr>
          <p:cNvSpPr txBox="1"/>
          <p:nvPr/>
        </p:nvSpPr>
        <p:spPr>
          <a:xfrm>
            <a:off x="3799701" y="1400379"/>
            <a:ext cx="531342" cy="369332"/>
          </a:xfrm>
          <a:prstGeom prst="rect">
            <a:avLst/>
          </a:prstGeom>
          <a:noFill/>
        </p:spPr>
        <p:txBody>
          <a:bodyPr wrap="square" rtlCol="0">
            <a:spAutoFit/>
          </a:bodyPr>
          <a:lstStyle/>
          <a:p>
            <a:r>
              <a:rPr lang="en-CN" dirty="0"/>
              <a:t>No</a:t>
            </a:r>
          </a:p>
        </p:txBody>
      </p:sp>
      <p:sp>
        <p:nvSpPr>
          <p:cNvPr id="17" name="TextBox 16">
            <a:extLst>
              <a:ext uri="{FF2B5EF4-FFF2-40B4-BE49-F238E27FC236}">
                <a16:creationId xmlns:a16="http://schemas.microsoft.com/office/drawing/2014/main" id="{7032A55C-E7BC-9730-A0BF-46758AB8F850}"/>
              </a:ext>
            </a:extLst>
          </p:cNvPr>
          <p:cNvSpPr txBox="1"/>
          <p:nvPr/>
        </p:nvSpPr>
        <p:spPr>
          <a:xfrm>
            <a:off x="6110416" y="1392067"/>
            <a:ext cx="531342" cy="369332"/>
          </a:xfrm>
          <a:prstGeom prst="rect">
            <a:avLst/>
          </a:prstGeom>
          <a:noFill/>
        </p:spPr>
        <p:txBody>
          <a:bodyPr wrap="square" rtlCol="0">
            <a:spAutoFit/>
          </a:bodyPr>
          <a:lstStyle/>
          <a:p>
            <a:r>
              <a:rPr lang="en-CN" dirty="0"/>
              <a:t>No</a:t>
            </a:r>
          </a:p>
        </p:txBody>
      </p:sp>
      <p:sp>
        <p:nvSpPr>
          <p:cNvPr id="18" name="TextBox 17">
            <a:extLst>
              <a:ext uri="{FF2B5EF4-FFF2-40B4-BE49-F238E27FC236}">
                <a16:creationId xmlns:a16="http://schemas.microsoft.com/office/drawing/2014/main" id="{4574DC60-FF8D-FC72-E8DA-AE3AE69DCB2C}"/>
              </a:ext>
            </a:extLst>
          </p:cNvPr>
          <p:cNvSpPr txBox="1"/>
          <p:nvPr/>
        </p:nvSpPr>
        <p:spPr>
          <a:xfrm>
            <a:off x="7855175" y="1329717"/>
            <a:ext cx="531342" cy="369332"/>
          </a:xfrm>
          <a:prstGeom prst="rect">
            <a:avLst/>
          </a:prstGeom>
          <a:noFill/>
        </p:spPr>
        <p:txBody>
          <a:bodyPr wrap="square" rtlCol="0">
            <a:spAutoFit/>
          </a:bodyPr>
          <a:lstStyle/>
          <a:p>
            <a:r>
              <a:rPr lang="en-CN" dirty="0"/>
              <a:t>No</a:t>
            </a:r>
          </a:p>
        </p:txBody>
      </p:sp>
      <p:cxnSp>
        <p:nvCxnSpPr>
          <p:cNvPr id="20" name="Straight Arrow Connector 19">
            <a:extLst>
              <a:ext uri="{FF2B5EF4-FFF2-40B4-BE49-F238E27FC236}">
                <a16:creationId xmlns:a16="http://schemas.microsoft.com/office/drawing/2014/main" id="{F7203929-1A63-57D4-D4E9-B2BD28D51713}"/>
              </a:ext>
            </a:extLst>
          </p:cNvPr>
          <p:cNvCxnSpPr/>
          <p:nvPr/>
        </p:nvCxnSpPr>
        <p:spPr>
          <a:xfrm>
            <a:off x="3827591" y="1769711"/>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15BA86A-7AAD-2B58-5E01-87BCDECD6BFA}"/>
              </a:ext>
            </a:extLst>
          </p:cNvPr>
          <p:cNvCxnSpPr/>
          <p:nvPr/>
        </p:nvCxnSpPr>
        <p:spPr>
          <a:xfrm>
            <a:off x="6096000" y="1769711"/>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6B7D392-1BB9-40E6-87C5-2A928280327F}"/>
              </a:ext>
            </a:extLst>
          </p:cNvPr>
          <p:cNvCxnSpPr/>
          <p:nvPr/>
        </p:nvCxnSpPr>
        <p:spPr>
          <a:xfrm>
            <a:off x="7898034" y="1761399"/>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DD2E243-1C40-53E6-DEE6-344CBA97AF39}"/>
              </a:ext>
            </a:extLst>
          </p:cNvPr>
          <p:cNvCxnSpPr>
            <a:cxnSpLocks/>
          </p:cNvCxnSpPr>
          <p:nvPr/>
        </p:nvCxnSpPr>
        <p:spPr>
          <a:xfrm>
            <a:off x="9700068" y="2061629"/>
            <a:ext cx="286950" cy="404696"/>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F4F8497-44F6-C145-E702-12E6D085BAB3}"/>
              </a:ext>
            </a:extLst>
          </p:cNvPr>
          <p:cNvCxnSpPr>
            <a:cxnSpLocks/>
          </p:cNvCxnSpPr>
          <p:nvPr/>
        </p:nvCxnSpPr>
        <p:spPr>
          <a:xfrm>
            <a:off x="914399" y="2713472"/>
            <a:ext cx="0" cy="119110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6120228-20B8-2BDA-D74F-173EFB883FD9}"/>
              </a:ext>
            </a:extLst>
          </p:cNvPr>
          <p:cNvCxnSpPr>
            <a:cxnSpLocks/>
          </p:cNvCxnSpPr>
          <p:nvPr/>
        </p:nvCxnSpPr>
        <p:spPr>
          <a:xfrm>
            <a:off x="3146862" y="3102391"/>
            <a:ext cx="0" cy="653217"/>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B71154E-EC2A-3C04-BA2B-B0753A1E3C0D}"/>
              </a:ext>
            </a:extLst>
          </p:cNvPr>
          <p:cNvCxnSpPr>
            <a:cxnSpLocks/>
          </p:cNvCxnSpPr>
          <p:nvPr/>
        </p:nvCxnSpPr>
        <p:spPr>
          <a:xfrm>
            <a:off x="5181600" y="2629071"/>
            <a:ext cx="0" cy="1275501"/>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2CEC70E-F296-3ED2-EBFE-73C93A9A6F0F}"/>
              </a:ext>
            </a:extLst>
          </p:cNvPr>
          <p:cNvCxnSpPr>
            <a:cxnSpLocks/>
          </p:cNvCxnSpPr>
          <p:nvPr/>
        </p:nvCxnSpPr>
        <p:spPr>
          <a:xfrm>
            <a:off x="7249305" y="3102391"/>
            <a:ext cx="0" cy="802181"/>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A87EB89-E592-9283-4B5D-D58F0EB8F710}"/>
              </a:ext>
            </a:extLst>
          </p:cNvPr>
          <p:cNvCxnSpPr>
            <a:cxnSpLocks/>
            <a:endCxn id="37" idx="0"/>
          </p:cNvCxnSpPr>
          <p:nvPr/>
        </p:nvCxnSpPr>
        <p:spPr>
          <a:xfrm flipH="1">
            <a:off x="9741068" y="3903375"/>
            <a:ext cx="447957" cy="1021374"/>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59BC962-E0B0-08A4-49BF-84F98577A84C}"/>
              </a:ext>
            </a:extLst>
          </p:cNvPr>
          <p:cNvSpPr/>
          <p:nvPr/>
        </p:nvSpPr>
        <p:spPr>
          <a:xfrm>
            <a:off x="215153" y="4123765"/>
            <a:ext cx="1398494"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a:t>
            </a:r>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823D08AF-6A36-2235-7B87-B9A3B3CF72AF}"/>
                  </a:ext>
                </a:extLst>
              </p:cNvPr>
              <p:cNvSpPr/>
              <p:nvPr/>
            </p:nvSpPr>
            <p:spPr>
              <a:xfrm>
                <a:off x="2202636" y="4123765"/>
                <a:ext cx="1828795"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nary>
                        <m:naryPr>
                          <m:chr m:val="∑"/>
                          <m:subHide m:val="on"/>
                          <m:supHide m:val="on"/>
                          <m:ctrlPr>
                            <a:rPr lang="en-US" b="0" i="1" smtClean="0">
                              <a:solidFill>
                                <a:srgbClr val="FF0000"/>
                              </a:solidFill>
                              <a:latin typeface="Cambria Math" panose="02040503050406030204" pitchFamily="18" charset="0"/>
                            </a:rPr>
                          </m:ctrlPr>
                        </m:naryPr>
                        <m:sub/>
                        <m:sup/>
                        <m:e>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e>
                      </m:nary>
                    </m:oMath>
                  </m:oMathPara>
                </a14:m>
                <a:endParaRPr lang="en-CN" dirty="0">
                  <a:solidFill>
                    <a:srgbClr val="FF0000"/>
                  </a:solidFill>
                </a:endParaRPr>
              </a:p>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𝑁</m:t>
                          </m:r>
                        </m:sup>
                      </m:sSubSup>
                    </m:oMath>
                  </m:oMathPara>
                </a14:m>
                <a:endParaRPr lang="en-CN" dirty="0">
                  <a:solidFill>
                    <a:srgbClr val="FF0000"/>
                  </a:solidFill>
                </a:endParaRPr>
              </a:p>
            </p:txBody>
          </p:sp>
        </mc:Choice>
        <mc:Fallback xmlns="">
          <p:sp>
            <p:nvSpPr>
              <p:cNvPr id="33" name="Rectangle 32">
                <a:extLst>
                  <a:ext uri="{FF2B5EF4-FFF2-40B4-BE49-F238E27FC236}">
                    <a16:creationId xmlns:a16="http://schemas.microsoft.com/office/drawing/2014/main" id="{823D08AF-6A36-2235-7B87-B9A3B3CF72AF}"/>
                  </a:ext>
                </a:extLst>
              </p:cNvPr>
              <p:cNvSpPr>
                <a:spLocks noRot="1" noChangeAspect="1" noMove="1" noResize="1" noEditPoints="1" noAdjustHandles="1" noChangeArrowheads="1" noChangeShapeType="1" noTextEdit="1"/>
              </p:cNvSpPr>
              <p:nvPr/>
            </p:nvSpPr>
            <p:spPr>
              <a:xfrm>
                <a:off x="2202636" y="4123765"/>
                <a:ext cx="1828795" cy="1201270"/>
              </a:xfrm>
              <a:prstGeom prst="rect">
                <a:avLst/>
              </a:prstGeom>
              <a:blipFill>
                <a:blip r:embed="rId3"/>
                <a:stretch>
                  <a:fillRect l="-3425" t="-70103" b="-7732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D4E44EC7-2BC9-1057-2DD5-95765404A60B}"/>
                  </a:ext>
                </a:extLst>
              </p:cNvPr>
              <p:cNvSpPr/>
              <p:nvPr/>
            </p:nvSpPr>
            <p:spPr>
              <a:xfrm>
                <a:off x="4587261" y="4123765"/>
                <a:ext cx="1398494"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𝑁</m:t>
                          </m:r>
                        </m:sup>
                      </m:sSub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m:t>
                      </m:r>
                    </m:oMath>
                  </m:oMathPara>
                </a14:m>
                <a:endParaRPr lang="en-CN" dirty="0">
                  <a:solidFill>
                    <a:srgbClr val="FF0000"/>
                  </a:solidFill>
                </a:endParaRPr>
              </a:p>
            </p:txBody>
          </p:sp>
        </mc:Choice>
        <mc:Fallback xmlns="">
          <p:sp>
            <p:nvSpPr>
              <p:cNvPr id="34" name="Rectangle 33">
                <a:extLst>
                  <a:ext uri="{FF2B5EF4-FFF2-40B4-BE49-F238E27FC236}">
                    <a16:creationId xmlns:a16="http://schemas.microsoft.com/office/drawing/2014/main" id="{D4E44EC7-2BC9-1057-2DD5-95765404A60B}"/>
                  </a:ext>
                </a:extLst>
              </p:cNvPr>
              <p:cNvSpPr>
                <a:spLocks noRot="1" noChangeAspect="1" noMove="1" noResize="1" noEditPoints="1" noAdjustHandles="1" noChangeArrowheads="1" noChangeShapeType="1" noTextEdit="1"/>
              </p:cNvSpPr>
              <p:nvPr/>
            </p:nvSpPr>
            <p:spPr>
              <a:xfrm>
                <a:off x="4587261" y="4123765"/>
                <a:ext cx="1398494" cy="1201270"/>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875B19F4-2771-9C56-9B45-1F26A42720E9}"/>
                  </a:ext>
                </a:extLst>
              </p:cNvPr>
              <p:cNvSpPr/>
              <p:nvPr/>
            </p:nvSpPr>
            <p:spPr>
              <a:xfrm>
                <a:off x="6262037" y="4122568"/>
                <a:ext cx="2001426"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rPr>
                            <m:t>+1</m:t>
                          </m:r>
                        </m:den>
                      </m:f>
                    </m:oMath>
                  </m:oMathPara>
                </a14:m>
                <a:endParaRPr lang="en-CN" dirty="0"/>
              </a:p>
            </p:txBody>
          </p:sp>
        </mc:Choice>
        <mc:Fallback xmlns="">
          <p:sp>
            <p:nvSpPr>
              <p:cNvPr id="35" name="Rectangle 34">
                <a:extLst>
                  <a:ext uri="{FF2B5EF4-FFF2-40B4-BE49-F238E27FC236}">
                    <a16:creationId xmlns:a16="http://schemas.microsoft.com/office/drawing/2014/main" id="{875B19F4-2771-9C56-9B45-1F26A42720E9}"/>
                  </a:ext>
                </a:extLst>
              </p:cNvPr>
              <p:cNvSpPr>
                <a:spLocks noRot="1" noChangeAspect="1" noMove="1" noResize="1" noEditPoints="1" noAdjustHandles="1" noChangeArrowheads="1" noChangeShapeType="1" noTextEdit="1"/>
              </p:cNvSpPr>
              <p:nvPr/>
            </p:nvSpPr>
            <p:spPr>
              <a:xfrm>
                <a:off x="6262037" y="4122568"/>
                <a:ext cx="2001426" cy="1201270"/>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C99BF343-7208-0C60-A743-1706B43EAEDA}"/>
                  </a:ext>
                </a:extLst>
              </p:cNvPr>
              <p:cNvSpPr/>
              <p:nvPr/>
            </p:nvSpPr>
            <p:spPr>
              <a:xfrm>
                <a:off x="8593864" y="4924749"/>
                <a:ext cx="2294408" cy="1338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rPr>
                            <m:t>1</m:t>
                          </m:r>
                        </m:den>
                      </m:f>
                    </m:oMath>
                  </m:oMathPara>
                </a14:m>
                <a:endParaRPr lang="en-CN" dirty="0"/>
              </a:p>
            </p:txBody>
          </p:sp>
        </mc:Choice>
        <mc:Fallback xmlns="">
          <p:sp>
            <p:nvSpPr>
              <p:cNvPr id="37" name="Rectangle 36">
                <a:extLst>
                  <a:ext uri="{FF2B5EF4-FFF2-40B4-BE49-F238E27FC236}">
                    <a16:creationId xmlns:a16="http://schemas.microsoft.com/office/drawing/2014/main" id="{C99BF343-7208-0C60-A743-1706B43EAEDA}"/>
                  </a:ext>
                </a:extLst>
              </p:cNvPr>
              <p:cNvSpPr>
                <a:spLocks noRot="1" noChangeAspect="1" noMove="1" noResize="1" noEditPoints="1" noAdjustHandles="1" noChangeArrowheads="1" noChangeShapeType="1" noTextEdit="1"/>
              </p:cNvSpPr>
              <p:nvPr/>
            </p:nvSpPr>
            <p:spPr>
              <a:xfrm>
                <a:off x="8593864" y="4924749"/>
                <a:ext cx="2294408" cy="1338642"/>
              </a:xfrm>
              <a:prstGeom prst="rect">
                <a:avLst/>
              </a:prstGeom>
              <a:blipFill>
                <a:blip r:embed="rId6"/>
                <a:stretch>
                  <a:fillRect/>
                </a:stretch>
              </a:blipFill>
            </p:spPr>
            <p:txBody>
              <a:bodyPr/>
              <a:lstStyle/>
              <a:p>
                <a:r>
                  <a:rPr lang="en-CN">
                    <a:noFill/>
                  </a:rPr>
                  <a:t> </a:t>
                </a:r>
              </a:p>
            </p:txBody>
          </p:sp>
        </mc:Fallback>
      </mc:AlternateContent>
      <p:sp>
        <p:nvSpPr>
          <p:cNvPr id="38" name="TextBox 37">
            <a:extLst>
              <a:ext uri="{FF2B5EF4-FFF2-40B4-BE49-F238E27FC236}">
                <a16:creationId xmlns:a16="http://schemas.microsoft.com/office/drawing/2014/main" id="{BB8A9963-213B-EF5C-7ECA-CE586725BC55}"/>
              </a:ext>
            </a:extLst>
          </p:cNvPr>
          <p:cNvSpPr txBox="1"/>
          <p:nvPr/>
        </p:nvSpPr>
        <p:spPr>
          <a:xfrm>
            <a:off x="1018231" y="3026395"/>
            <a:ext cx="531342" cy="369332"/>
          </a:xfrm>
          <a:prstGeom prst="rect">
            <a:avLst/>
          </a:prstGeom>
          <a:noFill/>
        </p:spPr>
        <p:txBody>
          <a:bodyPr wrap="square" rtlCol="0">
            <a:spAutoFit/>
          </a:bodyPr>
          <a:lstStyle/>
          <a:p>
            <a:r>
              <a:rPr lang="en-CN" dirty="0"/>
              <a:t>Yes</a:t>
            </a:r>
          </a:p>
        </p:txBody>
      </p:sp>
      <p:sp>
        <p:nvSpPr>
          <p:cNvPr id="39" name="TextBox 38">
            <a:extLst>
              <a:ext uri="{FF2B5EF4-FFF2-40B4-BE49-F238E27FC236}">
                <a16:creationId xmlns:a16="http://schemas.microsoft.com/office/drawing/2014/main" id="{B58D7ED0-308C-C6CD-DD4F-7BA0295B5228}"/>
              </a:ext>
            </a:extLst>
          </p:cNvPr>
          <p:cNvSpPr txBox="1"/>
          <p:nvPr/>
        </p:nvSpPr>
        <p:spPr>
          <a:xfrm>
            <a:off x="3212047" y="3144468"/>
            <a:ext cx="531342" cy="369332"/>
          </a:xfrm>
          <a:prstGeom prst="rect">
            <a:avLst/>
          </a:prstGeom>
          <a:noFill/>
        </p:spPr>
        <p:txBody>
          <a:bodyPr wrap="square" rtlCol="0">
            <a:spAutoFit/>
          </a:bodyPr>
          <a:lstStyle/>
          <a:p>
            <a:r>
              <a:rPr lang="en-CN" dirty="0"/>
              <a:t>Yes</a:t>
            </a:r>
          </a:p>
        </p:txBody>
      </p:sp>
      <p:sp>
        <p:nvSpPr>
          <p:cNvPr id="40" name="TextBox 39">
            <a:extLst>
              <a:ext uri="{FF2B5EF4-FFF2-40B4-BE49-F238E27FC236}">
                <a16:creationId xmlns:a16="http://schemas.microsoft.com/office/drawing/2014/main" id="{0A6745CF-5770-CC6C-2BE4-BBAB30ED3FD3}"/>
              </a:ext>
            </a:extLst>
          </p:cNvPr>
          <p:cNvSpPr txBox="1"/>
          <p:nvPr/>
        </p:nvSpPr>
        <p:spPr>
          <a:xfrm>
            <a:off x="5240358" y="2747999"/>
            <a:ext cx="531342" cy="369332"/>
          </a:xfrm>
          <a:prstGeom prst="rect">
            <a:avLst/>
          </a:prstGeom>
          <a:noFill/>
        </p:spPr>
        <p:txBody>
          <a:bodyPr wrap="square" rtlCol="0">
            <a:spAutoFit/>
          </a:bodyPr>
          <a:lstStyle/>
          <a:p>
            <a:r>
              <a:rPr lang="en-CN" dirty="0"/>
              <a:t>Yes</a:t>
            </a:r>
          </a:p>
        </p:txBody>
      </p:sp>
      <p:sp>
        <p:nvSpPr>
          <p:cNvPr id="41" name="TextBox 40">
            <a:extLst>
              <a:ext uri="{FF2B5EF4-FFF2-40B4-BE49-F238E27FC236}">
                <a16:creationId xmlns:a16="http://schemas.microsoft.com/office/drawing/2014/main" id="{1C71B717-DC04-B265-09BA-285BA7AD7751}"/>
              </a:ext>
            </a:extLst>
          </p:cNvPr>
          <p:cNvSpPr txBox="1"/>
          <p:nvPr/>
        </p:nvSpPr>
        <p:spPr>
          <a:xfrm>
            <a:off x="7366692" y="3164094"/>
            <a:ext cx="531342" cy="369332"/>
          </a:xfrm>
          <a:prstGeom prst="rect">
            <a:avLst/>
          </a:prstGeom>
          <a:noFill/>
        </p:spPr>
        <p:txBody>
          <a:bodyPr wrap="square" rtlCol="0">
            <a:spAutoFit/>
          </a:bodyPr>
          <a:lstStyle/>
          <a:p>
            <a:r>
              <a:rPr lang="en-CN" dirty="0"/>
              <a:t>Yes</a:t>
            </a:r>
          </a:p>
        </p:txBody>
      </p:sp>
      <p:sp>
        <p:nvSpPr>
          <p:cNvPr id="43" name="TextBox 42">
            <a:extLst>
              <a:ext uri="{FF2B5EF4-FFF2-40B4-BE49-F238E27FC236}">
                <a16:creationId xmlns:a16="http://schemas.microsoft.com/office/drawing/2014/main" id="{FD821727-9C67-52D8-4131-84040E27C583}"/>
              </a:ext>
            </a:extLst>
          </p:cNvPr>
          <p:cNvSpPr txBox="1"/>
          <p:nvPr/>
        </p:nvSpPr>
        <p:spPr>
          <a:xfrm>
            <a:off x="10102803" y="4169440"/>
            <a:ext cx="531342" cy="369332"/>
          </a:xfrm>
          <a:prstGeom prst="rect">
            <a:avLst/>
          </a:prstGeom>
          <a:noFill/>
        </p:spPr>
        <p:txBody>
          <a:bodyPr wrap="square" rtlCol="0">
            <a:spAutoFit/>
          </a:bodyPr>
          <a:lstStyle/>
          <a:p>
            <a:r>
              <a:rPr lang="en-CN" dirty="0"/>
              <a:t>Yes</a:t>
            </a:r>
          </a:p>
        </p:txBody>
      </p:sp>
      <p:cxnSp>
        <p:nvCxnSpPr>
          <p:cNvPr id="56" name="Straight Arrow Connector 55">
            <a:extLst>
              <a:ext uri="{FF2B5EF4-FFF2-40B4-BE49-F238E27FC236}">
                <a16:creationId xmlns:a16="http://schemas.microsoft.com/office/drawing/2014/main" id="{0C1F704C-2E8B-16F7-1FB9-A5B67FEA86A8}"/>
              </a:ext>
            </a:extLst>
          </p:cNvPr>
          <p:cNvCxnSpPr>
            <a:cxnSpLocks/>
          </p:cNvCxnSpPr>
          <p:nvPr/>
        </p:nvCxnSpPr>
        <p:spPr>
          <a:xfrm>
            <a:off x="10755225" y="3400598"/>
            <a:ext cx="596351" cy="55626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AF2BE5C-98D2-A601-E7EE-F094D3732930}"/>
              </a:ext>
            </a:extLst>
          </p:cNvPr>
          <p:cNvSpPr txBox="1"/>
          <p:nvPr/>
        </p:nvSpPr>
        <p:spPr>
          <a:xfrm>
            <a:off x="11117769" y="3348237"/>
            <a:ext cx="531342" cy="369332"/>
          </a:xfrm>
          <a:prstGeom prst="rect">
            <a:avLst/>
          </a:prstGeom>
          <a:noFill/>
        </p:spPr>
        <p:txBody>
          <a:bodyPr wrap="square" rtlCol="0">
            <a:spAutoFit/>
          </a:bodyPr>
          <a:lstStyle/>
          <a:p>
            <a:r>
              <a:rPr lang="en-CN" dirty="0"/>
              <a:t>No</a:t>
            </a:r>
          </a:p>
        </p:txBody>
      </p:sp>
      <p:sp>
        <p:nvSpPr>
          <p:cNvPr id="59" name="Rectangle 58">
            <a:extLst>
              <a:ext uri="{FF2B5EF4-FFF2-40B4-BE49-F238E27FC236}">
                <a16:creationId xmlns:a16="http://schemas.microsoft.com/office/drawing/2014/main" id="{4CC7B773-2355-D016-356E-2CF67F48840F}"/>
              </a:ext>
            </a:extLst>
          </p:cNvPr>
          <p:cNvSpPr/>
          <p:nvPr/>
        </p:nvSpPr>
        <p:spPr>
          <a:xfrm>
            <a:off x="11117769" y="3984328"/>
            <a:ext cx="996329" cy="819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Photon/Phonon</a:t>
            </a:r>
          </a:p>
        </p:txBody>
      </p:sp>
      <p:sp>
        <p:nvSpPr>
          <p:cNvPr id="3" name="TextBox 2">
            <a:extLst>
              <a:ext uri="{FF2B5EF4-FFF2-40B4-BE49-F238E27FC236}">
                <a16:creationId xmlns:a16="http://schemas.microsoft.com/office/drawing/2014/main" id="{D6191AB8-CD1D-D85E-B652-42E8046355E7}"/>
              </a:ext>
            </a:extLst>
          </p:cNvPr>
          <p:cNvSpPr txBox="1"/>
          <p:nvPr/>
        </p:nvSpPr>
        <p:spPr>
          <a:xfrm>
            <a:off x="6376087" y="5409404"/>
            <a:ext cx="1581074" cy="369332"/>
          </a:xfrm>
          <a:prstGeom prst="rect">
            <a:avLst/>
          </a:prstGeom>
          <a:noFill/>
        </p:spPr>
        <p:txBody>
          <a:bodyPr wrap="none" rtlCol="0">
            <a:spAutoFit/>
          </a:bodyPr>
          <a:lstStyle/>
          <a:p>
            <a:r>
              <a:rPr lang="en-CN" dirty="0"/>
              <a:t>Fermi pressure</a:t>
            </a:r>
          </a:p>
        </p:txBody>
      </p:sp>
      <p:sp>
        <p:nvSpPr>
          <p:cNvPr id="5" name="TextBox 4">
            <a:extLst>
              <a:ext uri="{FF2B5EF4-FFF2-40B4-BE49-F238E27FC236}">
                <a16:creationId xmlns:a16="http://schemas.microsoft.com/office/drawing/2014/main" id="{4B59D469-D6F0-B1A5-B23D-B7F64221B4C5}"/>
              </a:ext>
            </a:extLst>
          </p:cNvPr>
          <p:cNvSpPr txBox="1"/>
          <p:nvPr/>
        </p:nvSpPr>
        <p:spPr>
          <a:xfrm>
            <a:off x="8950531" y="6348867"/>
            <a:ext cx="1561518" cy="369332"/>
          </a:xfrm>
          <a:prstGeom prst="rect">
            <a:avLst/>
          </a:prstGeom>
          <a:noFill/>
        </p:spPr>
        <p:txBody>
          <a:bodyPr wrap="none" rtlCol="0">
            <a:spAutoFit/>
          </a:bodyPr>
          <a:lstStyle/>
          <a:p>
            <a:r>
              <a:rPr lang="en-CN" dirty="0"/>
              <a:t>BE condensate</a:t>
            </a:r>
          </a:p>
        </p:txBody>
      </p:sp>
    </p:spTree>
    <p:extLst>
      <p:ext uri="{BB962C8B-B14F-4D97-AF65-F5344CB8AC3E}">
        <p14:creationId xmlns:p14="http://schemas.microsoft.com/office/powerpoint/2010/main" val="2314464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FDADDC4-D8E5-E142-9621-B7058BF3D98A}"/>
              </a:ext>
            </a:extLst>
          </p:cNvPr>
          <p:cNvSpPr/>
          <p:nvPr/>
        </p:nvSpPr>
        <p:spPr>
          <a:xfrm>
            <a:off x="1482436" y="526473"/>
            <a:ext cx="2189019" cy="1801091"/>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Rectangle 5">
            <a:extLst>
              <a:ext uri="{FF2B5EF4-FFF2-40B4-BE49-F238E27FC236}">
                <a16:creationId xmlns:a16="http://schemas.microsoft.com/office/drawing/2014/main" id="{C91EF53F-98DB-6A4D-9256-0FB314F1D86C}"/>
              </a:ext>
            </a:extLst>
          </p:cNvPr>
          <p:cNvSpPr/>
          <p:nvPr/>
        </p:nvSpPr>
        <p:spPr>
          <a:xfrm>
            <a:off x="5098472" y="526472"/>
            <a:ext cx="2189019" cy="18010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A8387A4C-D014-8246-AAFB-503083F48DE0}"/>
              </a:ext>
            </a:extLst>
          </p:cNvPr>
          <p:cNvSpPr/>
          <p:nvPr/>
        </p:nvSpPr>
        <p:spPr>
          <a:xfrm>
            <a:off x="8714508" y="526472"/>
            <a:ext cx="2189019" cy="18010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4FFD77AC-0A46-CA47-BBBB-9653A8A14AAA}"/>
              </a:ext>
            </a:extLst>
          </p:cNvPr>
          <p:cNvCxnSpPr/>
          <p:nvPr/>
        </p:nvCxnSpPr>
        <p:spPr>
          <a:xfrm>
            <a:off x="4502727" y="2327563"/>
            <a:ext cx="32973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E47B72F-E44C-264D-BBED-15A41550675A}"/>
              </a:ext>
            </a:extLst>
          </p:cNvPr>
          <p:cNvCxnSpPr/>
          <p:nvPr/>
        </p:nvCxnSpPr>
        <p:spPr>
          <a:xfrm>
            <a:off x="8160326" y="2327563"/>
            <a:ext cx="329738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CA33DA-2D90-F942-8D69-2DC7A19CAC55}"/>
                  </a:ext>
                </a:extLst>
              </p:cNvPr>
              <p:cNvSpPr txBox="1"/>
              <p:nvPr/>
            </p:nvSpPr>
            <p:spPr>
              <a:xfrm>
                <a:off x="6677247" y="2509284"/>
                <a:ext cx="11228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11" name="TextBox 10">
                <a:extLst>
                  <a:ext uri="{FF2B5EF4-FFF2-40B4-BE49-F238E27FC236}">
                    <a16:creationId xmlns:a16="http://schemas.microsoft.com/office/drawing/2014/main" id="{54CA33DA-2D90-F942-8D69-2DC7A19CAC55}"/>
                  </a:ext>
                </a:extLst>
              </p:cNvPr>
              <p:cNvSpPr txBox="1">
                <a:spLocks noRot="1" noChangeAspect="1" noMove="1" noResize="1" noEditPoints="1" noAdjustHandles="1" noChangeArrowheads="1" noChangeShapeType="1" noTextEdit="1"/>
              </p:cNvSpPr>
              <p:nvPr/>
            </p:nvSpPr>
            <p:spPr>
              <a:xfrm>
                <a:off x="6677247" y="2509284"/>
                <a:ext cx="1122862"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EBA4DFE-EE61-3749-B222-14BD3679D075}"/>
                  </a:ext>
                </a:extLst>
              </p:cNvPr>
              <p:cNvSpPr txBox="1"/>
              <p:nvPr/>
            </p:nvSpPr>
            <p:spPr>
              <a:xfrm>
                <a:off x="10168271" y="2509284"/>
                <a:ext cx="11228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US" b="0" i="0"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oMath>
                  </m:oMathPara>
                </a14:m>
                <a:endParaRPr lang="en-CN" dirty="0"/>
              </a:p>
            </p:txBody>
          </p:sp>
        </mc:Choice>
        <mc:Fallback xmlns="">
          <p:sp>
            <p:nvSpPr>
              <p:cNvPr id="12" name="TextBox 11">
                <a:extLst>
                  <a:ext uri="{FF2B5EF4-FFF2-40B4-BE49-F238E27FC236}">
                    <a16:creationId xmlns:a16="http://schemas.microsoft.com/office/drawing/2014/main" id="{BEBA4DFE-EE61-3749-B222-14BD3679D075}"/>
                  </a:ext>
                </a:extLst>
              </p:cNvPr>
              <p:cNvSpPr txBox="1">
                <a:spLocks noRot="1" noChangeAspect="1" noMove="1" noResize="1" noEditPoints="1" noAdjustHandles="1" noChangeArrowheads="1" noChangeShapeType="1" noTextEdit="1"/>
              </p:cNvSpPr>
              <p:nvPr/>
            </p:nvSpPr>
            <p:spPr>
              <a:xfrm>
                <a:off x="10168271" y="2509284"/>
                <a:ext cx="1122862" cy="369332"/>
              </a:xfrm>
              <a:prstGeom prst="rect">
                <a:avLst/>
              </a:prstGeom>
              <a:blipFill>
                <a:blip r:embed="rId3"/>
                <a:stretch>
                  <a:fillRect b="-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400D193-1928-8249-A4B2-7BF566FCB586}"/>
                  </a:ext>
                </a:extLst>
              </p:cNvPr>
              <p:cNvSpPr txBox="1"/>
              <p:nvPr/>
            </p:nvSpPr>
            <p:spPr>
              <a:xfrm>
                <a:off x="361508" y="2822646"/>
                <a:ext cx="11504428" cy="3145413"/>
              </a:xfrm>
              <a:prstGeom prst="rect">
                <a:avLst/>
              </a:prstGeom>
              <a:noFill/>
            </p:spPr>
            <p:txBody>
              <a:bodyPr wrap="square" rtlCol="0">
                <a:spAutoFit/>
              </a:bodyPr>
              <a:lstStyle/>
              <a:p>
                <a:r>
                  <a:rPr lang="en-CN" sz="2800" dirty="0"/>
                  <a:t>Factor           1</a:t>
                </a:r>
                <a14:m>
                  <m:oMath xmlns:m="http://schemas.openxmlformats.org/officeDocument/2006/math">
                    <m:sSup>
                      <m:sSupPr>
                        <m:ctrlPr>
                          <a:rPr lang="en-CN" sz="2800" i="1" dirty="0" smtClean="0">
                            <a:latin typeface="Cambria Math" panose="02040503050406030204" pitchFamily="18" charset="0"/>
                          </a:rPr>
                        </m:ctrlPr>
                      </m:sSupPr>
                      <m:e>
                        <m:r>
                          <a:rPr lang="en-US" sz="2800" b="0" i="1" dirty="0" smtClean="0">
                            <a:latin typeface="Cambria Math" panose="02040503050406030204" pitchFamily="18" charset="0"/>
                          </a:rPr>
                          <m:t>                                   </m:t>
                        </m:r>
                        <m:r>
                          <a:rPr lang="en-US" sz="2800" b="0" i="1" dirty="0" smtClean="0">
                            <a:latin typeface="Cambria Math" panose="02040503050406030204" pitchFamily="18" charset="0"/>
                          </a:rPr>
                          <m:t>𝑒</m:t>
                        </m:r>
                      </m:e>
                      <m:sup>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oMath>
                </a14:m>
                <a:r>
                  <a:rPr lang="en-CN" sz="2800" dirty="0"/>
                  <a:t>              </a:t>
                </a:r>
                <a14:m>
                  <m:oMath xmlns:m="http://schemas.openxmlformats.org/officeDocument/2006/math">
                    <m:sSup>
                      <m:sSupPr>
                        <m:ctrlPr>
                          <a:rPr lang="en-CN" sz="2800" i="1" dirty="0" smtClean="0">
                            <a:latin typeface="Cambria Math" panose="02040503050406030204" pitchFamily="18" charset="0"/>
                          </a:rPr>
                        </m:ctrlPr>
                      </m:sSupPr>
                      <m:e>
                        <m:r>
                          <a:rPr lang="en-US" sz="2800" b="0" i="1" dirty="0" smtClean="0">
                            <a:latin typeface="Cambria Math" panose="02040503050406030204" pitchFamily="18" charset="0"/>
                          </a:rPr>
                          <m:t>                    </m:t>
                        </m:r>
                        <m:r>
                          <a:rPr lang="en-US" sz="2800" b="0" i="1" dirty="0" smtClean="0">
                            <a:latin typeface="Cambria Math" panose="02040503050406030204" pitchFamily="18" charset="0"/>
                          </a:rPr>
                          <m:t>𝑒</m:t>
                        </m:r>
                      </m:e>
                      <m:sup>
                        <m:r>
                          <a:rPr lang="en-US" sz="2800" b="0" i="1" dirty="0" smtClean="0">
                            <a:latin typeface="Cambria Math" panose="02040503050406030204" pitchFamily="18" charset="0"/>
                          </a:rPr>
                          <m:t>(</m:t>
                        </m:r>
                        <m:r>
                          <a:rPr lang="en-US" sz="2800" b="0" i="1" dirty="0" smtClean="0">
                            <a:latin typeface="Cambria Math" panose="02040503050406030204" pitchFamily="18" charset="0"/>
                          </a:rPr>
                          <m:t>𝑁</m:t>
                        </m:r>
                        <m:r>
                          <a:rPr lang="en-US" sz="2800" b="0" i="1" dirty="0" smtClean="0">
                            <a:latin typeface="Cambria Math" panose="02040503050406030204" pitchFamily="18" charset="0"/>
                            <a:ea typeface="Cambria Math" panose="02040503050406030204" pitchFamily="18" charset="0"/>
                          </a:rPr>
                          <m:t>𝜇</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r>
                      <a:rPr lang="en-US" sz="2800" b="0" i="1" dirty="0" smtClean="0">
                        <a:latin typeface="Cambria Math" panose="02040503050406030204" pitchFamily="18" charset="0"/>
                        <a:ea typeface="Cambria Math" panose="02040503050406030204" pitchFamily="18" charset="0"/>
                      </a:rPr>
                      <m:t>=</m:t>
                    </m:r>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𝜆</m:t>
                        </m:r>
                      </m:e>
                      <m:sup>
                        <m:r>
                          <a:rPr lang="en-US" sz="2800" b="0" i="1" dirty="0" smtClean="0">
                            <a:latin typeface="Cambria Math" panose="02040503050406030204" pitchFamily="18" charset="0"/>
                            <a:ea typeface="Cambria Math" panose="02040503050406030204" pitchFamily="18" charset="0"/>
                          </a:rPr>
                          <m:t>𝑁</m:t>
                        </m:r>
                      </m:sup>
                    </m:sSup>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𝑒</m:t>
                        </m:r>
                      </m:e>
                      <m:sup>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oMath>
                </a14:m>
                <a:endParaRPr lang="en-CN" sz="2800" dirty="0"/>
              </a:p>
              <a:p>
                <a:r>
                  <a:rPr lang="en-US" sz="2800" dirty="0" err="1"/>
                  <a:t>配分函数</a:t>
                </a:r>
                <a:endParaRPr lang="en-US" sz="2800" dirty="0"/>
              </a:p>
              <a:p>
                <a:r>
                  <a:rPr lang="zh-CN" altLang="en-US" sz="2800" b="0" dirty="0"/>
                  <a:t>                   </a:t>
                </a:r>
                <a:r>
                  <a:rPr lang="en-US" altLang="zh-CN" sz="2800" b="0" dirty="0"/>
                  <a:t>  </a:t>
                </a:r>
                <a14:m>
                  <m:oMath xmlns:m="http://schemas.openxmlformats.org/officeDocument/2006/math">
                    <m:r>
                      <a:rPr lang="en-US" altLang="zh-CN" sz="2800" b="0" i="1" smtClean="0">
                        <a:latin typeface="Cambria Math" panose="02040503050406030204" pitchFamily="18" charset="0"/>
                      </a:rPr>
                      <m:t>𝑔</m:t>
                    </m:r>
                    <m:r>
                      <a:rPr lang="en-US" altLang="zh-CN" sz="2800" b="0" i="1" smtClean="0">
                        <a:latin typeface="Cambria Math" panose="02040503050406030204" pitchFamily="18" charset="0"/>
                      </a:rPr>
                      <m:t>=</m:t>
                    </m:r>
                    <m:nary>
                      <m:naryPr>
                        <m:chr m:val="∑"/>
                        <m:subHide m:val="on"/>
                        <m:supHide m:val="on"/>
                        <m:ctrlPr>
                          <a:rPr lang="en-US" altLang="zh-CN" sz="2800" b="0" i="1" smtClean="0">
                            <a:latin typeface="Cambria Math" panose="02040503050406030204" pitchFamily="18" charset="0"/>
                          </a:rPr>
                        </m:ctrlPr>
                      </m:naryPr>
                      <m:sub/>
                      <m:sup/>
                      <m:e/>
                    </m:nary>
                  </m:oMath>
                </a14:m>
                <a:r>
                  <a:rPr lang="en-US" sz="2800" b="0" dirty="0"/>
                  <a:t>                 </a:t>
                </a:r>
                <a14:m>
                  <m:oMath xmlns:m="http://schemas.openxmlformats.org/officeDocument/2006/math">
                    <m:r>
                      <a:rPr lang="en-US" sz="2800" b="0" i="1" dirty="0" smtClean="0">
                        <a:latin typeface="Cambria Math" panose="02040503050406030204" pitchFamily="18" charset="0"/>
                      </a:rPr>
                      <m:t>𝑍</m:t>
                    </m:r>
                    <m:r>
                      <a:rPr lang="en-US" sz="2800" b="0" i="1" dirty="0" smtClean="0">
                        <a:latin typeface="Cambria Math" panose="02040503050406030204" pitchFamily="18" charset="0"/>
                      </a:rPr>
                      <m:t>=</m:t>
                    </m:r>
                    <m:nary>
                      <m:naryPr>
                        <m:chr m:val="∑"/>
                        <m:supHide m:val="on"/>
                        <m:ctrlPr>
                          <a:rPr lang="en-US" sz="2800" b="0" i="1" dirty="0" smtClean="0">
                            <a:latin typeface="Cambria Math" panose="02040503050406030204" pitchFamily="18" charset="0"/>
                          </a:rPr>
                        </m:ctrlPr>
                      </m:naryPr>
                      <m:sub>
                        <m:r>
                          <m:rPr>
                            <m:brk m:alnAt="7"/>
                          </m:rPr>
                          <a:rPr lang="en-US" sz="2800" b="0" i="1" dirty="0" smtClean="0">
                            <a:latin typeface="Cambria Math" panose="02040503050406030204" pitchFamily="18" charset="0"/>
                          </a:rPr>
                          <m:t>𝑠</m:t>
                        </m:r>
                      </m:sub>
                      <m:sup/>
                      <m:e/>
                    </m:nary>
                  </m:oMath>
                </a14:m>
                <a:r>
                  <a:rPr lang="en-US" sz="2800" b="0" dirty="0"/>
                  <a:t>                           </a:t>
                </a:r>
                <a14:m>
                  <m:oMath xmlns:m="http://schemas.openxmlformats.org/officeDocument/2006/math">
                    <m:r>
                      <a:rPr lang="en-US" sz="2800" b="0" i="1" dirty="0" smtClean="0">
                        <a:latin typeface="Cambria Math" panose="02040503050406030204" pitchFamily="18" charset="0"/>
                        <a:ea typeface="Cambria Math" panose="02040503050406030204" pitchFamily="18" charset="0"/>
                      </a:rPr>
                      <m:t>𝒵</m:t>
                    </m:r>
                    <m:r>
                      <a:rPr lang="en-US" sz="2800" b="0" i="1" dirty="0" smtClean="0">
                        <a:latin typeface="Cambria Math" panose="02040503050406030204" pitchFamily="18" charset="0"/>
                        <a:ea typeface="Cambria Math" panose="02040503050406030204" pitchFamily="18" charset="0"/>
                      </a:rPr>
                      <m:t>=</m:t>
                    </m:r>
                    <m:nary>
                      <m:naryPr>
                        <m:chr m:val="∑"/>
                        <m:supHide m:val="on"/>
                        <m:ctrlPr>
                          <a:rPr lang="en-US" sz="2800" b="0" i="1" dirty="0" smtClean="0">
                            <a:latin typeface="Cambria Math" panose="02040503050406030204" pitchFamily="18" charset="0"/>
                            <a:ea typeface="Cambria Math" panose="02040503050406030204" pitchFamily="18" charset="0"/>
                          </a:rPr>
                        </m:ctrlPr>
                      </m:naryPr>
                      <m:sub>
                        <m:r>
                          <m:rPr>
                            <m:brk m:alnAt="7"/>
                          </m:rPr>
                          <a:rPr lang="en-US" sz="2800" b="0" i="1" dirty="0" smtClean="0">
                            <a:latin typeface="Cambria Math" panose="02040503050406030204" pitchFamily="18" charset="0"/>
                            <a:ea typeface="Cambria Math" panose="02040503050406030204" pitchFamily="18" charset="0"/>
                          </a:rPr>
                          <m:t>𝐴</m:t>
                        </m:r>
                        <m:r>
                          <a:rPr lang="en-US" sz="2800" b="0" i="1" dirty="0" smtClean="0">
                            <a:latin typeface="Cambria Math" panose="02040503050406030204" pitchFamily="18" charset="0"/>
                            <a:ea typeface="Cambria Math" panose="02040503050406030204" pitchFamily="18" charset="0"/>
                          </a:rPr>
                          <m:t>𝑆𝑁</m:t>
                        </m:r>
                      </m:sub>
                      <m:sup/>
                      <m:e/>
                    </m:nary>
                  </m:oMath>
                </a14:m>
                <a:endParaRPr lang="en-US" sz="2800" b="0" dirty="0"/>
              </a:p>
              <a:p>
                <a:r>
                  <a:rPr lang="en-US" sz="2800" b="0" dirty="0" err="1"/>
                  <a:t>极值</a:t>
                </a:r>
                <a:endParaRPr lang="en-US" sz="2800" b="0" dirty="0"/>
              </a:p>
              <a:p>
                <a:r>
                  <a:rPr lang="zh-CN" altLang="en-US" sz="2800" dirty="0"/>
                  <a:t>              </a:t>
                </a:r>
                <a14:m>
                  <m:oMath xmlns:m="http://schemas.openxmlformats.org/officeDocument/2006/math">
                    <m:r>
                      <a:rPr lang="en-US" altLang="zh-CN" sz="2800" b="0" i="0" smtClean="0">
                        <a:latin typeface="Cambria Math" panose="02040503050406030204" pitchFamily="18" charset="0"/>
                      </a:rPr>
                      <m:t>    </m:t>
                    </m:r>
                    <m:r>
                      <a:rPr lang="zh-CN" altLang="en-US" sz="2800" i="1" smtClean="0">
                        <a:latin typeface="Cambria Math" panose="02040503050406030204" pitchFamily="18" charset="0"/>
                      </a:rPr>
                      <m:t>𝜎</m:t>
                    </m:r>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log</m:t>
                        </m:r>
                      </m:fName>
                      <m:e>
                        <m:r>
                          <a:rPr lang="en-US" altLang="zh-CN" sz="2800" b="0" i="1" smtClean="0">
                            <a:latin typeface="Cambria Math" panose="02040503050406030204" pitchFamily="18" charset="0"/>
                          </a:rPr>
                          <m:t>𝑔</m:t>
                        </m:r>
                      </m:e>
                    </m:func>
                  </m:oMath>
                </a14:m>
                <a:r>
                  <a:rPr lang="en-US" sz="2800" b="0" dirty="0"/>
                  <a:t>                    </a:t>
                </a:r>
                <a14:m>
                  <m:oMath xmlns:m="http://schemas.openxmlformats.org/officeDocument/2006/math">
                    <m:r>
                      <a:rPr lang="en-US" sz="2800" b="0" i="1" dirty="0" smtClean="0">
                        <a:latin typeface="Cambria Math" panose="02040503050406030204" pitchFamily="18" charset="0"/>
                      </a:rPr>
                      <m:t>𝐹</m:t>
                    </m:r>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func>
                      <m:funcPr>
                        <m:ctrlPr>
                          <a:rPr lang="en-US" sz="2800" b="0" i="1" dirty="0" smtClean="0">
                            <a:latin typeface="Cambria Math" panose="02040503050406030204" pitchFamily="18" charset="0"/>
                            <a:ea typeface="Cambria Math" panose="02040503050406030204" pitchFamily="18" charset="0"/>
                          </a:rPr>
                        </m:ctrlPr>
                      </m:funcPr>
                      <m:fName>
                        <m:r>
                          <m:rPr>
                            <m:sty m:val="p"/>
                          </m:rPr>
                          <a:rPr lang="en-US" sz="2800" b="0" i="0" dirty="0" smtClean="0">
                            <a:latin typeface="Cambria Math" panose="02040503050406030204" pitchFamily="18" charset="0"/>
                            <a:ea typeface="Cambria Math" panose="02040503050406030204" pitchFamily="18" charset="0"/>
                          </a:rPr>
                          <m:t>log</m:t>
                        </m:r>
                      </m:fName>
                      <m:e>
                        <m:r>
                          <a:rPr lang="en-US" sz="2800" b="0" i="1" dirty="0" smtClean="0">
                            <a:latin typeface="Cambria Math" panose="02040503050406030204" pitchFamily="18" charset="0"/>
                            <a:ea typeface="Cambria Math" panose="02040503050406030204" pitchFamily="18" charset="0"/>
                          </a:rPr>
                          <m:t>𝑍</m:t>
                        </m:r>
                      </m:e>
                    </m:func>
                  </m:oMath>
                </a14:m>
                <a:r>
                  <a:rPr lang="en-US" sz="2800" b="0" dirty="0"/>
                  <a:t>                     </a:t>
                </a:r>
                <a14:m>
                  <m:oMath xmlns:m="http://schemas.openxmlformats.org/officeDocument/2006/math">
                    <m:r>
                      <m:rPr>
                        <m:sty m:val="p"/>
                      </m:rPr>
                      <a:rPr lang="el-GR" sz="2800" b="0" i="1" dirty="0" smtClean="0">
                        <a:solidFill>
                          <a:srgbClr val="7030A0"/>
                        </a:solidFill>
                        <a:latin typeface="Cambria Math" panose="02040503050406030204" pitchFamily="18" charset="0"/>
                        <a:ea typeface="Cambria Math" panose="02040503050406030204" pitchFamily="18" charset="0"/>
                      </a:rPr>
                      <m:t>Ω</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𝜏</m:t>
                    </m:r>
                    <m:func>
                      <m:funcPr>
                        <m:ctrlPr>
                          <a:rPr lang="en-US" sz="2800" b="0" i="1" dirty="0" smtClean="0">
                            <a:solidFill>
                              <a:srgbClr val="7030A0"/>
                            </a:solidFill>
                            <a:latin typeface="Cambria Math" panose="02040503050406030204" pitchFamily="18" charset="0"/>
                            <a:ea typeface="Cambria Math" panose="02040503050406030204" pitchFamily="18" charset="0"/>
                          </a:rPr>
                        </m:ctrlPr>
                      </m:funcPr>
                      <m:fName>
                        <m:r>
                          <m:rPr>
                            <m:sty m:val="p"/>
                          </m:rPr>
                          <a:rPr lang="en-US" sz="2800" b="0" i="0" dirty="0" smtClean="0">
                            <a:solidFill>
                              <a:srgbClr val="7030A0"/>
                            </a:solidFill>
                            <a:latin typeface="Cambria Math" panose="02040503050406030204" pitchFamily="18" charset="0"/>
                            <a:ea typeface="Cambria Math" panose="02040503050406030204" pitchFamily="18" charset="0"/>
                          </a:rPr>
                          <m:t>log</m:t>
                        </m:r>
                      </m:fName>
                      <m:e>
                        <m:r>
                          <a:rPr lang="en-US" sz="2800" b="0" i="1" dirty="0" smtClean="0">
                            <a:solidFill>
                              <a:srgbClr val="7030A0"/>
                            </a:solidFill>
                            <a:latin typeface="Cambria Math" panose="02040503050406030204" pitchFamily="18" charset="0"/>
                            <a:ea typeface="Cambria Math" panose="02040503050406030204" pitchFamily="18" charset="0"/>
                          </a:rPr>
                          <m:t>𝒵</m:t>
                        </m:r>
                      </m:e>
                    </m:func>
                  </m:oMath>
                </a14:m>
                <a:endParaRPr lang="en-US" sz="2800" b="0" dirty="0"/>
              </a:p>
              <a:p>
                <a:r>
                  <a:rPr lang="en-US" sz="2800" dirty="0" err="1"/>
                  <a:t>Legendre变换</a:t>
                </a:r>
                <a:endParaRPr lang="en-US" sz="2800" dirty="0"/>
              </a:p>
              <a:p>
                <a:r>
                  <a:rPr lang="zh-CN" altLang="en-US" sz="2800" b="0" dirty="0"/>
                  <a:t>                                                     </a:t>
                </a:r>
                <a:r>
                  <a:rPr lang="en-US" altLang="zh-CN" sz="2800" b="0" dirty="0"/>
                  <a:t>  </a:t>
                </a:r>
                <a14:m>
                  <m:oMath xmlns:m="http://schemas.openxmlformats.org/officeDocument/2006/math">
                    <m:r>
                      <a:rPr lang="en-US" altLang="zh-CN" sz="2800" b="0" i="1" smtClean="0">
                        <a:latin typeface="Cambria Math" panose="02040503050406030204" pitchFamily="18" charset="0"/>
                      </a:rPr>
                      <m:t>𝐹</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𝑈</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𝜎𝜏</m:t>
                    </m:r>
                  </m:oMath>
                </a14:m>
                <a:r>
                  <a:rPr lang="en-US" sz="2800" b="0" dirty="0"/>
                  <a:t>                       </a:t>
                </a:r>
                <a14:m>
                  <m:oMath xmlns:m="http://schemas.openxmlformats.org/officeDocument/2006/math">
                    <m:r>
                      <m:rPr>
                        <m:sty m:val="p"/>
                      </m:rPr>
                      <a:rPr lang="el-GR" sz="2800" b="0" i="1" dirty="0" smtClean="0">
                        <a:solidFill>
                          <a:srgbClr val="7030A0"/>
                        </a:solidFill>
                        <a:latin typeface="Cambria Math" panose="02040503050406030204" pitchFamily="18" charset="0"/>
                        <a:ea typeface="Cambria Math" panose="02040503050406030204" pitchFamily="18" charset="0"/>
                      </a:rPr>
                      <m:t>Ω</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𝑈</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𝜎𝜏</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𝑁</m:t>
                    </m:r>
                    <m:r>
                      <a:rPr lang="en-US" sz="2800" b="0" i="1" dirty="0" smtClean="0">
                        <a:solidFill>
                          <a:srgbClr val="7030A0"/>
                        </a:solidFill>
                        <a:latin typeface="Cambria Math" panose="02040503050406030204" pitchFamily="18" charset="0"/>
                        <a:ea typeface="Cambria Math" panose="02040503050406030204" pitchFamily="18" charset="0"/>
                      </a:rPr>
                      <m:t>𝜇</m:t>
                    </m:r>
                  </m:oMath>
                </a14:m>
                <a:endParaRPr lang="en-US" sz="2800" b="0" dirty="0"/>
              </a:p>
            </p:txBody>
          </p:sp>
        </mc:Choice>
        <mc:Fallback xmlns="">
          <p:sp>
            <p:nvSpPr>
              <p:cNvPr id="13" name="TextBox 12">
                <a:extLst>
                  <a:ext uri="{FF2B5EF4-FFF2-40B4-BE49-F238E27FC236}">
                    <a16:creationId xmlns:a16="http://schemas.microsoft.com/office/drawing/2014/main" id="{F400D193-1928-8249-A4B2-7BF566FCB586}"/>
                  </a:ext>
                </a:extLst>
              </p:cNvPr>
              <p:cNvSpPr txBox="1">
                <a:spLocks noRot="1" noChangeAspect="1" noMove="1" noResize="1" noEditPoints="1" noAdjustHandles="1" noChangeArrowheads="1" noChangeShapeType="1" noTextEdit="1"/>
              </p:cNvSpPr>
              <p:nvPr/>
            </p:nvSpPr>
            <p:spPr>
              <a:xfrm>
                <a:off x="361508" y="2822646"/>
                <a:ext cx="11504428" cy="3145413"/>
              </a:xfrm>
              <a:prstGeom prst="rect">
                <a:avLst/>
              </a:prstGeom>
              <a:blipFill>
                <a:blip r:embed="rId4"/>
                <a:stretch>
                  <a:fillRect l="-1103" t="-1613" b="-1210"/>
                </a:stretch>
              </a:blipFill>
            </p:spPr>
            <p:txBody>
              <a:bodyPr/>
              <a:lstStyle/>
              <a:p>
                <a:r>
                  <a:rPr lang="en-CN">
                    <a:noFill/>
                  </a:rPr>
                  <a:t> </a:t>
                </a:r>
              </a:p>
            </p:txBody>
          </p:sp>
        </mc:Fallback>
      </mc:AlternateContent>
      <p:sp>
        <p:nvSpPr>
          <p:cNvPr id="14" name="TextBox 13">
            <a:extLst>
              <a:ext uri="{FF2B5EF4-FFF2-40B4-BE49-F238E27FC236}">
                <a16:creationId xmlns:a16="http://schemas.microsoft.com/office/drawing/2014/main" id="{62DC121E-A93B-6E41-A0A2-88AF9F16A394}"/>
              </a:ext>
            </a:extLst>
          </p:cNvPr>
          <p:cNvSpPr txBox="1"/>
          <p:nvPr/>
        </p:nvSpPr>
        <p:spPr>
          <a:xfrm>
            <a:off x="1765005" y="1020726"/>
            <a:ext cx="1679944" cy="400110"/>
          </a:xfrm>
          <a:prstGeom prst="rect">
            <a:avLst/>
          </a:prstGeom>
          <a:noFill/>
        </p:spPr>
        <p:txBody>
          <a:bodyPr wrap="square" rtlCol="0">
            <a:spAutoFit/>
          </a:bodyPr>
          <a:lstStyle/>
          <a:p>
            <a:pPr algn="ctr"/>
            <a:r>
              <a:rPr lang="en-CN" sz="2000" dirty="0">
                <a:solidFill>
                  <a:srgbClr val="FF0000"/>
                </a:solidFill>
              </a:rPr>
              <a:t>U,V,N fixed</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C5F70BA-DF7C-F04D-983C-FBD1764AB72B}"/>
                  </a:ext>
                </a:extLst>
              </p:cNvPr>
              <p:cNvSpPr txBox="1"/>
              <p:nvPr/>
            </p:nvSpPr>
            <p:spPr>
              <a:xfrm>
                <a:off x="5481084" y="1020726"/>
                <a:ext cx="1679944" cy="400110"/>
              </a:xfrm>
              <a:prstGeom prst="rect">
                <a:avLst/>
              </a:prstGeom>
              <a:noFill/>
            </p:spPr>
            <p:txBody>
              <a:bodyPr wrap="square" rtlCol="0">
                <a:spAutoFit/>
              </a:bodyPr>
              <a:lstStyle/>
              <a:p>
                <a:pPr algn="ct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𝜏</m:t>
                    </m:r>
                  </m:oMath>
                </a14:m>
                <a:r>
                  <a:rPr lang="en-CN" sz="2000" dirty="0">
                    <a:solidFill>
                      <a:srgbClr val="FF0000"/>
                    </a:solidFill>
                  </a:rPr>
                  <a:t>,V,N fixed</a:t>
                </a:r>
              </a:p>
            </p:txBody>
          </p:sp>
        </mc:Choice>
        <mc:Fallback xmlns="">
          <p:sp>
            <p:nvSpPr>
              <p:cNvPr id="15" name="TextBox 14">
                <a:extLst>
                  <a:ext uri="{FF2B5EF4-FFF2-40B4-BE49-F238E27FC236}">
                    <a16:creationId xmlns:a16="http://schemas.microsoft.com/office/drawing/2014/main" id="{7C5F70BA-DF7C-F04D-983C-FBD1764AB72B}"/>
                  </a:ext>
                </a:extLst>
              </p:cNvPr>
              <p:cNvSpPr txBox="1">
                <a:spLocks noRot="1" noChangeAspect="1" noMove="1" noResize="1" noEditPoints="1" noAdjustHandles="1" noChangeArrowheads="1" noChangeShapeType="1" noTextEdit="1"/>
              </p:cNvSpPr>
              <p:nvPr/>
            </p:nvSpPr>
            <p:spPr>
              <a:xfrm>
                <a:off x="5481084" y="1020726"/>
                <a:ext cx="1679944" cy="400110"/>
              </a:xfrm>
              <a:prstGeom prst="rect">
                <a:avLst/>
              </a:prstGeom>
              <a:blipFill>
                <a:blip r:embed="rId5"/>
                <a:stretch>
                  <a:fillRect t="-9375" b="-2812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8433430-E5A5-D141-8645-30B65B19C3C8}"/>
                  </a:ext>
                </a:extLst>
              </p:cNvPr>
              <p:cNvSpPr txBox="1"/>
              <p:nvPr/>
            </p:nvSpPr>
            <p:spPr>
              <a:xfrm>
                <a:off x="9074889" y="1020726"/>
                <a:ext cx="1679944" cy="400110"/>
              </a:xfrm>
              <a:prstGeom prst="rect">
                <a:avLst/>
              </a:prstGeom>
              <a:noFill/>
            </p:spPr>
            <p:txBody>
              <a:bodyPr wrap="square" rtlCol="0">
                <a:spAutoFit/>
              </a:bodyPr>
              <a:lstStyle/>
              <a:p>
                <a:pPr algn="ct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𝜏</m:t>
                    </m:r>
                  </m:oMath>
                </a14:m>
                <a:r>
                  <a:rPr lang="en-CN" sz="2000" dirty="0">
                    <a:solidFill>
                      <a:srgbClr val="FF0000"/>
                    </a:solidFill>
                  </a:rPr>
                  <a:t>,V,</a:t>
                </a: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𝜇</m:t>
                    </m:r>
                  </m:oMath>
                </a14:m>
                <a:r>
                  <a:rPr lang="en-CN" sz="2000" dirty="0">
                    <a:solidFill>
                      <a:srgbClr val="FF0000"/>
                    </a:solidFill>
                  </a:rPr>
                  <a:t> fixed</a:t>
                </a:r>
              </a:p>
            </p:txBody>
          </p:sp>
        </mc:Choice>
        <mc:Fallback xmlns="">
          <p:sp>
            <p:nvSpPr>
              <p:cNvPr id="16" name="TextBox 15">
                <a:extLst>
                  <a:ext uri="{FF2B5EF4-FFF2-40B4-BE49-F238E27FC236}">
                    <a16:creationId xmlns:a16="http://schemas.microsoft.com/office/drawing/2014/main" id="{A8433430-E5A5-D141-8645-30B65B19C3C8}"/>
                  </a:ext>
                </a:extLst>
              </p:cNvPr>
              <p:cNvSpPr txBox="1">
                <a:spLocks noRot="1" noChangeAspect="1" noMove="1" noResize="1" noEditPoints="1" noAdjustHandles="1" noChangeArrowheads="1" noChangeShapeType="1" noTextEdit="1"/>
              </p:cNvSpPr>
              <p:nvPr/>
            </p:nvSpPr>
            <p:spPr>
              <a:xfrm>
                <a:off x="9074889" y="1020726"/>
                <a:ext cx="1679944" cy="400110"/>
              </a:xfrm>
              <a:prstGeom prst="rect">
                <a:avLst/>
              </a:prstGeom>
              <a:blipFill>
                <a:blip r:embed="rId6"/>
                <a:stretch>
                  <a:fillRect t="-9375" b="-28125"/>
                </a:stretch>
              </a:blipFill>
            </p:spPr>
            <p:txBody>
              <a:bodyPr/>
              <a:lstStyle/>
              <a:p>
                <a:r>
                  <a:rPr lang="en-CN">
                    <a:noFill/>
                  </a:rPr>
                  <a:t> </a:t>
                </a:r>
              </a:p>
            </p:txBody>
          </p:sp>
        </mc:Fallback>
      </mc:AlternateContent>
    </p:spTree>
    <p:extLst>
      <p:ext uri="{BB962C8B-B14F-4D97-AF65-F5344CB8AC3E}">
        <p14:creationId xmlns:p14="http://schemas.microsoft.com/office/powerpoint/2010/main" val="219380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8BD727-6202-EA6B-8114-B15CB7B4FD33}"/>
              </a:ext>
            </a:extLst>
          </p:cNvPr>
          <p:cNvSpPr txBox="1"/>
          <p:nvPr/>
        </p:nvSpPr>
        <p:spPr>
          <a:xfrm>
            <a:off x="215153" y="160274"/>
            <a:ext cx="4816349" cy="369332"/>
          </a:xfrm>
          <a:prstGeom prst="rect">
            <a:avLst/>
          </a:prstGeom>
          <a:noFill/>
        </p:spPr>
        <p:txBody>
          <a:bodyPr wrap="square" rtlCol="0">
            <a:spAutoFit/>
          </a:bodyPr>
          <a:lstStyle/>
          <a:p>
            <a:pPr algn="ctr"/>
            <a:r>
              <a:rPr lang="en-CN" dirty="0"/>
              <a:t>前十一周课程图(consider particles in V at tau)</a:t>
            </a:r>
          </a:p>
        </p:txBody>
      </p:sp>
      <p:sp>
        <p:nvSpPr>
          <p:cNvPr id="4" name="Diamond 3">
            <a:extLst>
              <a:ext uri="{FF2B5EF4-FFF2-40B4-BE49-F238E27FC236}">
                <a16:creationId xmlns:a16="http://schemas.microsoft.com/office/drawing/2014/main" id="{E81BE994-3F41-F129-9E5C-5CB1954FA258}"/>
              </a:ext>
            </a:extLst>
          </p:cNvPr>
          <p:cNvSpPr/>
          <p:nvPr/>
        </p:nvSpPr>
        <p:spPr>
          <a:xfrm>
            <a:off x="0" y="840255"/>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Do they interact with each other?</a:t>
            </a:r>
          </a:p>
        </p:txBody>
      </p:sp>
      <p:sp>
        <p:nvSpPr>
          <p:cNvPr id="6" name="Diamond 5">
            <a:extLst>
              <a:ext uri="{FF2B5EF4-FFF2-40B4-BE49-F238E27FC236}">
                <a16:creationId xmlns:a16="http://schemas.microsoft.com/office/drawing/2014/main" id="{F967E158-FB8D-16FF-9771-F4398E9DF915}"/>
              </a:ext>
            </a:extLst>
          </p:cNvPr>
          <p:cNvSpPr/>
          <p:nvPr/>
        </p:nvSpPr>
        <p:spPr>
          <a:xfrm>
            <a:off x="2232463" y="1186246"/>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700" dirty="0">
                <a:solidFill>
                  <a:srgbClr val="FF0000"/>
                </a:solidFill>
              </a:rPr>
              <a:t>Are they localized?</a:t>
            </a:r>
          </a:p>
        </p:txBody>
      </p:sp>
      <mc:AlternateContent xmlns:mc="http://schemas.openxmlformats.org/markup-compatibility/2006" xmlns:a14="http://schemas.microsoft.com/office/drawing/2010/main">
        <mc:Choice Requires="a14">
          <p:sp>
            <p:nvSpPr>
              <p:cNvPr id="7" name="Diamond 6">
                <a:extLst>
                  <a:ext uri="{FF2B5EF4-FFF2-40B4-BE49-F238E27FC236}">
                    <a16:creationId xmlns:a16="http://schemas.microsoft.com/office/drawing/2014/main" id="{9365820C-A18E-8E66-5813-AD6B84477F8C}"/>
                  </a:ext>
                </a:extLst>
              </p:cNvPr>
              <p:cNvSpPr/>
              <p:nvPr/>
            </p:nvSpPr>
            <p:spPr>
              <a:xfrm>
                <a:off x="4267201" y="628825"/>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Is </a:t>
                </a:r>
                <a14:m>
                  <m:oMath xmlns:m="http://schemas.openxmlformats.org/officeDocument/2006/math">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𝑛</m:t>
                        </m:r>
                      </m:e>
                      <m:sub>
                        <m:r>
                          <a:rPr lang="en-US" b="0" i="1" smtClean="0">
                            <a:solidFill>
                              <a:srgbClr val="FF0000"/>
                            </a:solidFill>
                            <a:latin typeface="Cambria Math" panose="02040503050406030204" pitchFamily="18" charset="0"/>
                            <a:ea typeface="Cambria Math" panose="02040503050406030204" pitchFamily="18" charset="0"/>
                          </a:rPr>
                          <m:t>𝑄</m:t>
                        </m:r>
                      </m:sub>
                    </m:sSub>
                  </m:oMath>
                </a14:m>
                <a:r>
                  <a:rPr lang="en-CN" dirty="0">
                    <a:solidFill>
                      <a:srgbClr val="FF0000"/>
                    </a:solidFill>
                  </a:rPr>
                  <a:t>?</a:t>
                </a:r>
              </a:p>
            </p:txBody>
          </p:sp>
        </mc:Choice>
        <mc:Fallback xmlns="">
          <p:sp>
            <p:nvSpPr>
              <p:cNvPr id="7" name="Diamond 6">
                <a:extLst>
                  <a:ext uri="{FF2B5EF4-FFF2-40B4-BE49-F238E27FC236}">
                    <a16:creationId xmlns:a16="http://schemas.microsoft.com/office/drawing/2014/main" id="{9365820C-A18E-8E66-5813-AD6B84477F8C}"/>
                  </a:ext>
                </a:extLst>
              </p:cNvPr>
              <p:cNvSpPr>
                <a:spLocks noRot="1" noChangeAspect="1" noMove="1" noResize="1" noEditPoints="1" noAdjustHandles="1" noChangeArrowheads="1" noChangeShapeType="1" noTextEdit="1"/>
              </p:cNvSpPr>
              <p:nvPr/>
            </p:nvSpPr>
            <p:spPr>
              <a:xfrm>
                <a:off x="4267201" y="628825"/>
                <a:ext cx="1828799" cy="1717589"/>
              </a:xfrm>
              <a:prstGeom prst="diamond">
                <a:avLst/>
              </a:prstGeom>
              <a:blipFill>
                <a:blip r:embed="rId2"/>
                <a:stretch>
                  <a:fillRect/>
                </a:stretch>
              </a:blipFill>
            </p:spPr>
            <p:txBody>
              <a:bodyPr/>
              <a:lstStyle/>
              <a:p>
                <a:r>
                  <a:rPr lang="en-CN">
                    <a:noFill/>
                  </a:rPr>
                  <a:t> </a:t>
                </a:r>
              </a:p>
            </p:txBody>
          </p:sp>
        </mc:Fallback>
      </mc:AlternateContent>
      <p:sp>
        <p:nvSpPr>
          <p:cNvPr id="9" name="Diamond 8">
            <a:extLst>
              <a:ext uri="{FF2B5EF4-FFF2-40B4-BE49-F238E27FC236}">
                <a16:creationId xmlns:a16="http://schemas.microsoft.com/office/drawing/2014/main" id="{7370856B-086D-9836-EFB7-E1567ABF77C5}"/>
              </a:ext>
            </a:extLst>
          </p:cNvPr>
          <p:cNvSpPr/>
          <p:nvPr/>
        </p:nvSpPr>
        <p:spPr>
          <a:xfrm>
            <a:off x="6262039" y="1272404"/>
            <a:ext cx="2001426"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Fermion?</a:t>
            </a:r>
          </a:p>
        </p:txBody>
      </p:sp>
      <p:sp>
        <p:nvSpPr>
          <p:cNvPr id="10" name="Diamond 9">
            <a:extLst>
              <a:ext uri="{FF2B5EF4-FFF2-40B4-BE49-F238E27FC236}">
                <a16:creationId xmlns:a16="http://schemas.microsoft.com/office/drawing/2014/main" id="{79023843-3DF9-1132-670B-60E04FD7F314}"/>
              </a:ext>
            </a:extLst>
          </p:cNvPr>
          <p:cNvSpPr/>
          <p:nvPr/>
        </p:nvSpPr>
        <p:spPr>
          <a:xfrm>
            <a:off x="8402611" y="628824"/>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Bosons!</a:t>
            </a:r>
          </a:p>
        </p:txBody>
      </p:sp>
      <p:sp>
        <p:nvSpPr>
          <p:cNvPr id="11" name="Diamond 10">
            <a:extLst>
              <a:ext uri="{FF2B5EF4-FFF2-40B4-BE49-F238E27FC236}">
                <a16:creationId xmlns:a16="http://schemas.microsoft.com/office/drawing/2014/main" id="{5CE1BFE3-A122-7FD4-34BD-26BD07611BCC}"/>
              </a:ext>
            </a:extLst>
          </p:cNvPr>
          <p:cNvSpPr/>
          <p:nvPr/>
        </p:nvSpPr>
        <p:spPr>
          <a:xfrm>
            <a:off x="9522777" y="2065874"/>
            <a:ext cx="1828799" cy="17175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7030A0"/>
                </a:solidFill>
              </a:rPr>
              <a:t>Is the number fixed?</a:t>
            </a:r>
          </a:p>
        </p:txBody>
      </p:sp>
      <p:cxnSp>
        <p:nvCxnSpPr>
          <p:cNvPr id="13" name="Straight Arrow Connector 12">
            <a:extLst>
              <a:ext uri="{FF2B5EF4-FFF2-40B4-BE49-F238E27FC236}">
                <a16:creationId xmlns:a16="http://schemas.microsoft.com/office/drawing/2014/main" id="{DF6839A4-D5D6-3D89-7460-46E6E701F7D2}"/>
              </a:ext>
            </a:extLst>
          </p:cNvPr>
          <p:cNvCxnSpPr/>
          <p:nvPr/>
        </p:nvCxnSpPr>
        <p:spPr>
          <a:xfrm>
            <a:off x="1962682" y="1705232"/>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74A6D47-9339-0BEE-BCE9-C49E852463CA}"/>
              </a:ext>
            </a:extLst>
          </p:cNvPr>
          <p:cNvSpPr txBox="1"/>
          <p:nvPr/>
        </p:nvSpPr>
        <p:spPr>
          <a:xfrm>
            <a:off x="1945363" y="1215713"/>
            <a:ext cx="531342" cy="369332"/>
          </a:xfrm>
          <a:prstGeom prst="rect">
            <a:avLst/>
          </a:prstGeom>
          <a:noFill/>
        </p:spPr>
        <p:txBody>
          <a:bodyPr wrap="square" rtlCol="0">
            <a:spAutoFit/>
          </a:bodyPr>
          <a:lstStyle/>
          <a:p>
            <a:r>
              <a:rPr lang="en-CN" dirty="0"/>
              <a:t>No</a:t>
            </a:r>
          </a:p>
        </p:txBody>
      </p:sp>
      <p:sp>
        <p:nvSpPr>
          <p:cNvPr id="16" name="TextBox 15">
            <a:extLst>
              <a:ext uri="{FF2B5EF4-FFF2-40B4-BE49-F238E27FC236}">
                <a16:creationId xmlns:a16="http://schemas.microsoft.com/office/drawing/2014/main" id="{FFF17710-BEFB-F24C-9F9B-68EDEE45EFCC}"/>
              </a:ext>
            </a:extLst>
          </p:cNvPr>
          <p:cNvSpPr txBox="1"/>
          <p:nvPr/>
        </p:nvSpPr>
        <p:spPr>
          <a:xfrm>
            <a:off x="3799701" y="1400379"/>
            <a:ext cx="531342" cy="369332"/>
          </a:xfrm>
          <a:prstGeom prst="rect">
            <a:avLst/>
          </a:prstGeom>
          <a:noFill/>
        </p:spPr>
        <p:txBody>
          <a:bodyPr wrap="square" rtlCol="0">
            <a:spAutoFit/>
          </a:bodyPr>
          <a:lstStyle/>
          <a:p>
            <a:r>
              <a:rPr lang="en-CN" dirty="0"/>
              <a:t>No</a:t>
            </a:r>
          </a:p>
        </p:txBody>
      </p:sp>
      <p:sp>
        <p:nvSpPr>
          <p:cNvPr id="17" name="TextBox 16">
            <a:extLst>
              <a:ext uri="{FF2B5EF4-FFF2-40B4-BE49-F238E27FC236}">
                <a16:creationId xmlns:a16="http://schemas.microsoft.com/office/drawing/2014/main" id="{7032A55C-E7BC-9730-A0BF-46758AB8F850}"/>
              </a:ext>
            </a:extLst>
          </p:cNvPr>
          <p:cNvSpPr txBox="1"/>
          <p:nvPr/>
        </p:nvSpPr>
        <p:spPr>
          <a:xfrm>
            <a:off x="6110416" y="1392067"/>
            <a:ext cx="531342" cy="369332"/>
          </a:xfrm>
          <a:prstGeom prst="rect">
            <a:avLst/>
          </a:prstGeom>
          <a:noFill/>
        </p:spPr>
        <p:txBody>
          <a:bodyPr wrap="square" rtlCol="0">
            <a:spAutoFit/>
          </a:bodyPr>
          <a:lstStyle/>
          <a:p>
            <a:r>
              <a:rPr lang="en-CN" dirty="0"/>
              <a:t>No</a:t>
            </a:r>
          </a:p>
        </p:txBody>
      </p:sp>
      <p:sp>
        <p:nvSpPr>
          <p:cNvPr id="18" name="TextBox 17">
            <a:extLst>
              <a:ext uri="{FF2B5EF4-FFF2-40B4-BE49-F238E27FC236}">
                <a16:creationId xmlns:a16="http://schemas.microsoft.com/office/drawing/2014/main" id="{4574DC60-FF8D-FC72-E8DA-AE3AE69DCB2C}"/>
              </a:ext>
            </a:extLst>
          </p:cNvPr>
          <p:cNvSpPr txBox="1"/>
          <p:nvPr/>
        </p:nvSpPr>
        <p:spPr>
          <a:xfrm>
            <a:off x="7855175" y="1329717"/>
            <a:ext cx="531342" cy="369332"/>
          </a:xfrm>
          <a:prstGeom prst="rect">
            <a:avLst/>
          </a:prstGeom>
          <a:noFill/>
        </p:spPr>
        <p:txBody>
          <a:bodyPr wrap="square" rtlCol="0">
            <a:spAutoFit/>
          </a:bodyPr>
          <a:lstStyle/>
          <a:p>
            <a:r>
              <a:rPr lang="en-CN" dirty="0"/>
              <a:t>No</a:t>
            </a:r>
          </a:p>
        </p:txBody>
      </p:sp>
      <p:cxnSp>
        <p:nvCxnSpPr>
          <p:cNvPr id="20" name="Straight Arrow Connector 19">
            <a:extLst>
              <a:ext uri="{FF2B5EF4-FFF2-40B4-BE49-F238E27FC236}">
                <a16:creationId xmlns:a16="http://schemas.microsoft.com/office/drawing/2014/main" id="{F7203929-1A63-57D4-D4E9-B2BD28D51713}"/>
              </a:ext>
            </a:extLst>
          </p:cNvPr>
          <p:cNvCxnSpPr/>
          <p:nvPr/>
        </p:nvCxnSpPr>
        <p:spPr>
          <a:xfrm>
            <a:off x="3827591" y="1769711"/>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15BA86A-7AAD-2B58-5E01-87BCDECD6BFA}"/>
              </a:ext>
            </a:extLst>
          </p:cNvPr>
          <p:cNvCxnSpPr/>
          <p:nvPr/>
        </p:nvCxnSpPr>
        <p:spPr>
          <a:xfrm>
            <a:off x="6096000" y="1769711"/>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6B7D392-1BB9-40E6-87C5-2A928280327F}"/>
              </a:ext>
            </a:extLst>
          </p:cNvPr>
          <p:cNvCxnSpPr/>
          <p:nvPr/>
        </p:nvCxnSpPr>
        <p:spPr>
          <a:xfrm>
            <a:off x="7898034" y="1761399"/>
            <a:ext cx="531342"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DD2E243-1C40-53E6-DEE6-344CBA97AF39}"/>
              </a:ext>
            </a:extLst>
          </p:cNvPr>
          <p:cNvCxnSpPr>
            <a:cxnSpLocks/>
          </p:cNvCxnSpPr>
          <p:nvPr/>
        </p:nvCxnSpPr>
        <p:spPr>
          <a:xfrm>
            <a:off x="9700068" y="2061629"/>
            <a:ext cx="286950" cy="404696"/>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F4F8497-44F6-C145-E702-12E6D085BAB3}"/>
              </a:ext>
            </a:extLst>
          </p:cNvPr>
          <p:cNvCxnSpPr>
            <a:cxnSpLocks/>
          </p:cNvCxnSpPr>
          <p:nvPr/>
        </p:nvCxnSpPr>
        <p:spPr>
          <a:xfrm>
            <a:off x="914399" y="2713472"/>
            <a:ext cx="0" cy="119110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6120228-20B8-2BDA-D74F-173EFB883FD9}"/>
              </a:ext>
            </a:extLst>
          </p:cNvPr>
          <p:cNvCxnSpPr>
            <a:cxnSpLocks/>
          </p:cNvCxnSpPr>
          <p:nvPr/>
        </p:nvCxnSpPr>
        <p:spPr>
          <a:xfrm>
            <a:off x="3146862" y="3102391"/>
            <a:ext cx="0" cy="653217"/>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B71154E-EC2A-3C04-BA2B-B0753A1E3C0D}"/>
              </a:ext>
            </a:extLst>
          </p:cNvPr>
          <p:cNvCxnSpPr>
            <a:cxnSpLocks/>
          </p:cNvCxnSpPr>
          <p:nvPr/>
        </p:nvCxnSpPr>
        <p:spPr>
          <a:xfrm>
            <a:off x="5181600" y="2629071"/>
            <a:ext cx="0" cy="1275501"/>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2CEC70E-F296-3ED2-EBFE-73C93A9A6F0F}"/>
              </a:ext>
            </a:extLst>
          </p:cNvPr>
          <p:cNvCxnSpPr>
            <a:cxnSpLocks/>
          </p:cNvCxnSpPr>
          <p:nvPr/>
        </p:nvCxnSpPr>
        <p:spPr>
          <a:xfrm>
            <a:off x="7249305" y="3102391"/>
            <a:ext cx="0" cy="802181"/>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A87EB89-E592-9283-4B5D-D58F0EB8F710}"/>
              </a:ext>
            </a:extLst>
          </p:cNvPr>
          <p:cNvCxnSpPr>
            <a:cxnSpLocks/>
            <a:endCxn id="37" idx="0"/>
          </p:cNvCxnSpPr>
          <p:nvPr/>
        </p:nvCxnSpPr>
        <p:spPr>
          <a:xfrm flipH="1">
            <a:off x="9741068" y="3903375"/>
            <a:ext cx="447957" cy="1021374"/>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59BC962-E0B0-08A4-49BF-84F98577A84C}"/>
              </a:ext>
            </a:extLst>
          </p:cNvPr>
          <p:cNvSpPr/>
          <p:nvPr/>
        </p:nvSpPr>
        <p:spPr>
          <a:xfrm>
            <a:off x="215153" y="4123765"/>
            <a:ext cx="1398494"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6000" dirty="0">
                <a:solidFill>
                  <a:schemeClr val="tx1"/>
                </a:solidFill>
              </a:rPr>
              <a:t>??</a:t>
            </a:r>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823D08AF-6A36-2235-7B87-B9A3B3CF72AF}"/>
                  </a:ext>
                </a:extLst>
              </p:cNvPr>
              <p:cNvSpPr/>
              <p:nvPr/>
            </p:nvSpPr>
            <p:spPr>
              <a:xfrm>
                <a:off x="2202636" y="4123765"/>
                <a:ext cx="1828795"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nary>
                        <m:naryPr>
                          <m:chr m:val="∑"/>
                          <m:subHide m:val="on"/>
                          <m:supHide m:val="on"/>
                          <m:ctrlPr>
                            <a:rPr lang="en-US" b="0" i="1" smtClean="0">
                              <a:solidFill>
                                <a:srgbClr val="FF0000"/>
                              </a:solidFill>
                              <a:latin typeface="Cambria Math" panose="02040503050406030204" pitchFamily="18" charset="0"/>
                            </a:rPr>
                          </m:ctrlPr>
                        </m:naryPr>
                        <m:sub/>
                        <m:sup/>
                        <m:e>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e>
                      </m:nary>
                    </m:oMath>
                  </m:oMathPara>
                </a14:m>
                <a:endParaRPr lang="en-CN" dirty="0">
                  <a:solidFill>
                    <a:srgbClr val="FF0000"/>
                  </a:solidFill>
                </a:endParaRPr>
              </a:p>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𝑁</m:t>
                          </m:r>
                        </m:sup>
                      </m:sSubSup>
                    </m:oMath>
                  </m:oMathPara>
                </a14:m>
                <a:endParaRPr lang="en-CN" dirty="0">
                  <a:solidFill>
                    <a:srgbClr val="FF0000"/>
                  </a:solidFill>
                </a:endParaRPr>
              </a:p>
            </p:txBody>
          </p:sp>
        </mc:Choice>
        <mc:Fallback xmlns="">
          <p:sp>
            <p:nvSpPr>
              <p:cNvPr id="33" name="Rectangle 32">
                <a:extLst>
                  <a:ext uri="{FF2B5EF4-FFF2-40B4-BE49-F238E27FC236}">
                    <a16:creationId xmlns:a16="http://schemas.microsoft.com/office/drawing/2014/main" id="{823D08AF-6A36-2235-7B87-B9A3B3CF72AF}"/>
                  </a:ext>
                </a:extLst>
              </p:cNvPr>
              <p:cNvSpPr>
                <a:spLocks noRot="1" noChangeAspect="1" noMove="1" noResize="1" noEditPoints="1" noAdjustHandles="1" noChangeArrowheads="1" noChangeShapeType="1" noTextEdit="1"/>
              </p:cNvSpPr>
              <p:nvPr/>
            </p:nvSpPr>
            <p:spPr>
              <a:xfrm>
                <a:off x="2202636" y="4123765"/>
                <a:ext cx="1828795" cy="1201270"/>
              </a:xfrm>
              <a:prstGeom prst="rect">
                <a:avLst/>
              </a:prstGeom>
              <a:blipFill>
                <a:blip r:embed="rId3"/>
                <a:stretch>
                  <a:fillRect l="-3425" t="-70103" b="-7732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D4E44EC7-2BC9-1057-2DD5-95765404A60B}"/>
                  </a:ext>
                </a:extLst>
              </p:cNvPr>
              <p:cNvSpPr/>
              <p:nvPr/>
            </p:nvSpPr>
            <p:spPr>
              <a:xfrm>
                <a:off x="4587261" y="4123765"/>
                <a:ext cx="1398494"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𝑍</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𝑁</m:t>
                          </m:r>
                        </m:sup>
                      </m:sSub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m:t>
                      </m:r>
                    </m:oMath>
                  </m:oMathPara>
                </a14:m>
                <a:endParaRPr lang="en-CN" dirty="0">
                  <a:solidFill>
                    <a:srgbClr val="FF0000"/>
                  </a:solidFill>
                </a:endParaRPr>
              </a:p>
            </p:txBody>
          </p:sp>
        </mc:Choice>
        <mc:Fallback xmlns="">
          <p:sp>
            <p:nvSpPr>
              <p:cNvPr id="34" name="Rectangle 33">
                <a:extLst>
                  <a:ext uri="{FF2B5EF4-FFF2-40B4-BE49-F238E27FC236}">
                    <a16:creationId xmlns:a16="http://schemas.microsoft.com/office/drawing/2014/main" id="{D4E44EC7-2BC9-1057-2DD5-95765404A60B}"/>
                  </a:ext>
                </a:extLst>
              </p:cNvPr>
              <p:cNvSpPr>
                <a:spLocks noRot="1" noChangeAspect="1" noMove="1" noResize="1" noEditPoints="1" noAdjustHandles="1" noChangeArrowheads="1" noChangeShapeType="1" noTextEdit="1"/>
              </p:cNvSpPr>
              <p:nvPr/>
            </p:nvSpPr>
            <p:spPr>
              <a:xfrm>
                <a:off x="4587261" y="4123765"/>
                <a:ext cx="1398494" cy="1201270"/>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875B19F4-2771-9C56-9B45-1F26A42720E9}"/>
                  </a:ext>
                </a:extLst>
              </p:cNvPr>
              <p:cNvSpPr/>
              <p:nvPr/>
            </p:nvSpPr>
            <p:spPr>
              <a:xfrm>
                <a:off x="6262037" y="4122568"/>
                <a:ext cx="2001426" cy="120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rPr>
                            <m:t>+1</m:t>
                          </m:r>
                        </m:den>
                      </m:f>
                    </m:oMath>
                  </m:oMathPara>
                </a14:m>
                <a:endParaRPr lang="en-CN" dirty="0"/>
              </a:p>
            </p:txBody>
          </p:sp>
        </mc:Choice>
        <mc:Fallback xmlns="">
          <p:sp>
            <p:nvSpPr>
              <p:cNvPr id="35" name="Rectangle 34">
                <a:extLst>
                  <a:ext uri="{FF2B5EF4-FFF2-40B4-BE49-F238E27FC236}">
                    <a16:creationId xmlns:a16="http://schemas.microsoft.com/office/drawing/2014/main" id="{875B19F4-2771-9C56-9B45-1F26A42720E9}"/>
                  </a:ext>
                </a:extLst>
              </p:cNvPr>
              <p:cNvSpPr>
                <a:spLocks noRot="1" noChangeAspect="1" noMove="1" noResize="1" noEditPoints="1" noAdjustHandles="1" noChangeArrowheads="1" noChangeShapeType="1" noTextEdit="1"/>
              </p:cNvSpPr>
              <p:nvPr/>
            </p:nvSpPr>
            <p:spPr>
              <a:xfrm>
                <a:off x="6262037" y="4122568"/>
                <a:ext cx="2001426" cy="1201270"/>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C99BF343-7208-0C60-A743-1706B43EAEDA}"/>
                  </a:ext>
                </a:extLst>
              </p:cNvPr>
              <p:cNvSpPr/>
              <p:nvPr/>
            </p:nvSpPr>
            <p:spPr>
              <a:xfrm>
                <a:off x="8593864" y="4924749"/>
                <a:ext cx="2294408" cy="1338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rPr>
                            <m:t>1</m:t>
                          </m:r>
                        </m:den>
                      </m:f>
                    </m:oMath>
                  </m:oMathPara>
                </a14:m>
                <a:endParaRPr lang="en-CN" dirty="0"/>
              </a:p>
            </p:txBody>
          </p:sp>
        </mc:Choice>
        <mc:Fallback xmlns="">
          <p:sp>
            <p:nvSpPr>
              <p:cNvPr id="37" name="Rectangle 36">
                <a:extLst>
                  <a:ext uri="{FF2B5EF4-FFF2-40B4-BE49-F238E27FC236}">
                    <a16:creationId xmlns:a16="http://schemas.microsoft.com/office/drawing/2014/main" id="{C99BF343-7208-0C60-A743-1706B43EAEDA}"/>
                  </a:ext>
                </a:extLst>
              </p:cNvPr>
              <p:cNvSpPr>
                <a:spLocks noRot="1" noChangeAspect="1" noMove="1" noResize="1" noEditPoints="1" noAdjustHandles="1" noChangeArrowheads="1" noChangeShapeType="1" noTextEdit="1"/>
              </p:cNvSpPr>
              <p:nvPr/>
            </p:nvSpPr>
            <p:spPr>
              <a:xfrm>
                <a:off x="8593864" y="4924749"/>
                <a:ext cx="2294408" cy="1338642"/>
              </a:xfrm>
              <a:prstGeom prst="rect">
                <a:avLst/>
              </a:prstGeom>
              <a:blipFill>
                <a:blip r:embed="rId6"/>
                <a:stretch>
                  <a:fillRect/>
                </a:stretch>
              </a:blipFill>
            </p:spPr>
            <p:txBody>
              <a:bodyPr/>
              <a:lstStyle/>
              <a:p>
                <a:r>
                  <a:rPr lang="en-CN">
                    <a:noFill/>
                  </a:rPr>
                  <a:t> </a:t>
                </a:r>
              </a:p>
            </p:txBody>
          </p:sp>
        </mc:Fallback>
      </mc:AlternateContent>
      <p:sp>
        <p:nvSpPr>
          <p:cNvPr id="38" name="TextBox 37">
            <a:extLst>
              <a:ext uri="{FF2B5EF4-FFF2-40B4-BE49-F238E27FC236}">
                <a16:creationId xmlns:a16="http://schemas.microsoft.com/office/drawing/2014/main" id="{BB8A9963-213B-EF5C-7ECA-CE586725BC55}"/>
              </a:ext>
            </a:extLst>
          </p:cNvPr>
          <p:cNvSpPr txBox="1"/>
          <p:nvPr/>
        </p:nvSpPr>
        <p:spPr>
          <a:xfrm>
            <a:off x="1018231" y="3026395"/>
            <a:ext cx="531342" cy="369332"/>
          </a:xfrm>
          <a:prstGeom prst="rect">
            <a:avLst/>
          </a:prstGeom>
          <a:noFill/>
        </p:spPr>
        <p:txBody>
          <a:bodyPr wrap="square" rtlCol="0">
            <a:spAutoFit/>
          </a:bodyPr>
          <a:lstStyle/>
          <a:p>
            <a:r>
              <a:rPr lang="en-CN" dirty="0"/>
              <a:t>Yes</a:t>
            </a:r>
          </a:p>
        </p:txBody>
      </p:sp>
      <p:sp>
        <p:nvSpPr>
          <p:cNvPr id="39" name="TextBox 38">
            <a:extLst>
              <a:ext uri="{FF2B5EF4-FFF2-40B4-BE49-F238E27FC236}">
                <a16:creationId xmlns:a16="http://schemas.microsoft.com/office/drawing/2014/main" id="{B58D7ED0-308C-C6CD-DD4F-7BA0295B5228}"/>
              </a:ext>
            </a:extLst>
          </p:cNvPr>
          <p:cNvSpPr txBox="1"/>
          <p:nvPr/>
        </p:nvSpPr>
        <p:spPr>
          <a:xfrm>
            <a:off x="3212047" y="3144468"/>
            <a:ext cx="531342" cy="369332"/>
          </a:xfrm>
          <a:prstGeom prst="rect">
            <a:avLst/>
          </a:prstGeom>
          <a:noFill/>
        </p:spPr>
        <p:txBody>
          <a:bodyPr wrap="square" rtlCol="0">
            <a:spAutoFit/>
          </a:bodyPr>
          <a:lstStyle/>
          <a:p>
            <a:r>
              <a:rPr lang="en-CN" dirty="0"/>
              <a:t>Yes</a:t>
            </a:r>
          </a:p>
        </p:txBody>
      </p:sp>
      <p:sp>
        <p:nvSpPr>
          <p:cNvPr id="40" name="TextBox 39">
            <a:extLst>
              <a:ext uri="{FF2B5EF4-FFF2-40B4-BE49-F238E27FC236}">
                <a16:creationId xmlns:a16="http://schemas.microsoft.com/office/drawing/2014/main" id="{0A6745CF-5770-CC6C-2BE4-BBAB30ED3FD3}"/>
              </a:ext>
            </a:extLst>
          </p:cNvPr>
          <p:cNvSpPr txBox="1"/>
          <p:nvPr/>
        </p:nvSpPr>
        <p:spPr>
          <a:xfrm>
            <a:off x="5240358" y="2747999"/>
            <a:ext cx="531342" cy="369332"/>
          </a:xfrm>
          <a:prstGeom prst="rect">
            <a:avLst/>
          </a:prstGeom>
          <a:noFill/>
        </p:spPr>
        <p:txBody>
          <a:bodyPr wrap="square" rtlCol="0">
            <a:spAutoFit/>
          </a:bodyPr>
          <a:lstStyle/>
          <a:p>
            <a:r>
              <a:rPr lang="en-CN" dirty="0"/>
              <a:t>Yes</a:t>
            </a:r>
          </a:p>
        </p:txBody>
      </p:sp>
      <p:sp>
        <p:nvSpPr>
          <p:cNvPr id="41" name="TextBox 40">
            <a:extLst>
              <a:ext uri="{FF2B5EF4-FFF2-40B4-BE49-F238E27FC236}">
                <a16:creationId xmlns:a16="http://schemas.microsoft.com/office/drawing/2014/main" id="{1C71B717-DC04-B265-09BA-285BA7AD7751}"/>
              </a:ext>
            </a:extLst>
          </p:cNvPr>
          <p:cNvSpPr txBox="1"/>
          <p:nvPr/>
        </p:nvSpPr>
        <p:spPr>
          <a:xfrm>
            <a:off x="7366692" y="3164094"/>
            <a:ext cx="531342" cy="369332"/>
          </a:xfrm>
          <a:prstGeom prst="rect">
            <a:avLst/>
          </a:prstGeom>
          <a:noFill/>
        </p:spPr>
        <p:txBody>
          <a:bodyPr wrap="square" rtlCol="0">
            <a:spAutoFit/>
          </a:bodyPr>
          <a:lstStyle/>
          <a:p>
            <a:r>
              <a:rPr lang="en-CN" dirty="0"/>
              <a:t>Yes</a:t>
            </a:r>
          </a:p>
        </p:txBody>
      </p:sp>
      <p:sp>
        <p:nvSpPr>
          <p:cNvPr id="43" name="TextBox 42">
            <a:extLst>
              <a:ext uri="{FF2B5EF4-FFF2-40B4-BE49-F238E27FC236}">
                <a16:creationId xmlns:a16="http://schemas.microsoft.com/office/drawing/2014/main" id="{FD821727-9C67-52D8-4131-84040E27C583}"/>
              </a:ext>
            </a:extLst>
          </p:cNvPr>
          <p:cNvSpPr txBox="1"/>
          <p:nvPr/>
        </p:nvSpPr>
        <p:spPr>
          <a:xfrm>
            <a:off x="10102803" y="4169440"/>
            <a:ext cx="531342" cy="369332"/>
          </a:xfrm>
          <a:prstGeom prst="rect">
            <a:avLst/>
          </a:prstGeom>
          <a:noFill/>
        </p:spPr>
        <p:txBody>
          <a:bodyPr wrap="square" rtlCol="0">
            <a:spAutoFit/>
          </a:bodyPr>
          <a:lstStyle/>
          <a:p>
            <a:r>
              <a:rPr lang="en-CN" dirty="0"/>
              <a:t>Yes</a:t>
            </a:r>
          </a:p>
        </p:txBody>
      </p:sp>
      <p:cxnSp>
        <p:nvCxnSpPr>
          <p:cNvPr id="56" name="Straight Arrow Connector 55">
            <a:extLst>
              <a:ext uri="{FF2B5EF4-FFF2-40B4-BE49-F238E27FC236}">
                <a16:creationId xmlns:a16="http://schemas.microsoft.com/office/drawing/2014/main" id="{0C1F704C-2E8B-16F7-1FB9-A5B67FEA86A8}"/>
              </a:ext>
            </a:extLst>
          </p:cNvPr>
          <p:cNvCxnSpPr>
            <a:cxnSpLocks/>
          </p:cNvCxnSpPr>
          <p:nvPr/>
        </p:nvCxnSpPr>
        <p:spPr>
          <a:xfrm>
            <a:off x="10755225" y="3400598"/>
            <a:ext cx="596351" cy="55626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AF2BE5C-98D2-A601-E7EE-F094D3732930}"/>
              </a:ext>
            </a:extLst>
          </p:cNvPr>
          <p:cNvSpPr txBox="1"/>
          <p:nvPr/>
        </p:nvSpPr>
        <p:spPr>
          <a:xfrm>
            <a:off x="11117769" y="3348237"/>
            <a:ext cx="531342" cy="369332"/>
          </a:xfrm>
          <a:prstGeom prst="rect">
            <a:avLst/>
          </a:prstGeom>
          <a:noFill/>
        </p:spPr>
        <p:txBody>
          <a:bodyPr wrap="square" rtlCol="0">
            <a:spAutoFit/>
          </a:bodyPr>
          <a:lstStyle/>
          <a:p>
            <a:r>
              <a:rPr lang="en-CN" dirty="0"/>
              <a:t>No</a:t>
            </a:r>
          </a:p>
        </p:txBody>
      </p:sp>
      <p:sp>
        <p:nvSpPr>
          <p:cNvPr id="59" name="Rectangle 58">
            <a:extLst>
              <a:ext uri="{FF2B5EF4-FFF2-40B4-BE49-F238E27FC236}">
                <a16:creationId xmlns:a16="http://schemas.microsoft.com/office/drawing/2014/main" id="{4CC7B773-2355-D016-356E-2CF67F48840F}"/>
              </a:ext>
            </a:extLst>
          </p:cNvPr>
          <p:cNvSpPr/>
          <p:nvPr/>
        </p:nvSpPr>
        <p:spPr>
          <a:xfrm>
            <a:off x="11117769" y="3984328"/>
            <a:ext cx="996329" cy="819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solidFill>
                  <a:srgbClr val="FF0000"/>
                </a:solidFill>
              </a:rPr>
              <a:t>Photon/Phonon</a:t>
            </a:r>
          </a:p>
        </p:txBody>
      </p:sp>
      <p:pic>
        <p:nvPicPr>
          <p:cNvPr id="3" name="Picture 2">
            <a:extLst>
              <a:ext uri="{FF2B5EF4-FFF2-40B4-BE49-F238E27FC236}">
                <a16:creationId xmlns:a16="http://schemas.microsoft.com/office/drawing/2014/main" id="{742FFC87-3779-600D-AAA6-17BD4393E0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4630" y="4027201"/>
            <a:ext cx="1524250" cy="230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9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513138-F6E4-9EF0-E6B9-DEB0E042BA1E}"/>
              </a:ext>
            </a:extLst>
          </p:cNvPr>
          <p:cNvPicPr>
            <a:picLocks noChangeAspect="1"/>
          </p:cNvPicPr>
          <p:nvPr/>
        </p:nvPicPr>
        <p:blipFill>
          <a:blip r:embed="rId2"/>
          <a:stretch>
            <a:fillRect/>
          </a:stretch>
        </p:blipFill>
        <p:spPr>
          <a:xfrm>
            <a:off x="6140874" y="403437"/>
            <a:ext cx="6051126" cy="6051126"/>
          </a:xfrm>
          <a:prstGeom prst="rect">
            <a:avLst/>
          </a:prstGeom>
        </p:spPr>
      </p:pic>
      <p:pic>
        <p:nvPicPr>
          <p:cNvPr id="3" name="Picture 2">
            <a:extLst>
              <a:ext uri="{FF2B5EF4-FFF2-40B4-BE49-F238E27FC236}">
                <a16:creationId xmlns:a16="http://schemas.microsoft.com/office/drawing/2014/main" id="{B3EAFC43-F270-7BE8-0D49-0C178FD7A936}"/>
              </a:ext>
            </a:extLst>
          </p:cNvPr>
          <p:cNvPicPr>
            <a:picLocks noChangeAspect="1"/>
          </p:cNvPicPr>
          <p:nvPr/>
        </p:nvPicPr>
        <p:blipFill>
          <a:blip r:embed="rId3"/>
          <a:stretch>
            <a:fillRect/>
          </a:stretch>
        </p:blipFill>
        <p:spPr>
          <a:xfrm>
            <a:off x="637695" y="634728"/>
            <a:ext cx="7018164" cy="5348755"/>
          </a:xfrm>
          <a:prstGeom prst="rect">
            <a:avLst/>
          </a:prstGeom>
        </p:spPr>
      </p:pic>
    </p:spTree>
    <p:extLst>
      <p:ext uri="{BB962C8B-B14F-4D97-AF65-F5344CB8AC3E}">
        <p14:creationId xmlns:p14="http://schemas.microsoft.com/office/powerpoint/2010/main" val="1507695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513138-F6E4-9EF0-E6B9-DEB0E042BA1E}"/>
              </a:ext>
            </a:extLst>
          </p:cNvPr>
          <p:cNvPicPr>
            <a:picLocks noChangeAspect="1"/>
          </p:cNvPicPr>
          <p:nvPr/>
        </p:nvPicPr>
        <p:blipFill>
          <a:blip r:embed="rId2"/>
          <a:stretch>
            <a:fillRect/>
          </a:stretch>
        </p:blipFill>
        <p:spPr>
          <a:xfrm>
            <a:off x="5316786" y="-17216"/>
            <a:ext cx="6875215" cy="6875215"/>
          </a:xfrm>
          <a:prstGeom prst="rect">
            <a:avLst/>
          </a:prstGeom>
        </p:spPr>
      </p:pic>
      <p:sp>
        <p:nvSpPr>
          <p:cNvPr id="5" name="TextBox 4">
            <a:extLst>
              <a:ext uri="{FF2B5EF4-FFF2-40B4-BE49-F238E27FC236}">
                <a16:creationId xmlns:a16="http://schemas.microsoft.com/office/drawing/2014/main" id="{E2328DD8-7EFA-9EFE-1922-AF81EE1CB086}"/>
              </a:ext>
            </a:extLst>
          </p:cNvPr>
          <p:cNvSpPr txBox="1"/>
          <p:nvPr/>
        </p:nvSpPr>
        <p:spPr>
          <a:xfrm>
            <a:off x="557750" y="2096952"/>
            <a:ext cx="9518072" cy="1323439"/>
          </a:xfrm>
          <a:prstGeom prst="rect">
            <a:avLst/>
          </a:prstGeom>
          <a:noFill/>
        </p:spPr>
        <p:txBody>
          <a:bodyPr wrap="square" rtlCol="0">
            <a:spAutoFit/>
          </a:bodyPr>
          <a:lstStyle/>
          <a:p>
            <a:pPr marL="285750" indent="-285750">
              <a:buFont typeface="Arial" panose="020B0604020202020204" pitchFamily="34" charset="0"/>
              <a:buChar char="•"/>
            </a:pPr>
            <a:r>
              <a:rPr lang="en-CN" sz="4000" dirty="0">
                <a:latin typeface="FangSong" panose="02010609060101010101" pitchFamily="49" charset="-122"/>
                <a:ea typeface="FangSong" panose="02010609060101010101" pitchFamily="49" charset="-122"/>
              </a:rPr>
              <a:t>对称性使自然界简单</a:t>
            </a:r>
          </a:p>
          <a:p>
            <a:pPr marL="285750" indent="-285750">
              <a:buFont typeface="Arial" panose="020B0604020202020204" pitchFamily="34" charset="0"/>
              <a:buChar char="•"/>
            </a:pPr>
            <a:r>
              <a:rPr lang="en-CN" sz="4000" dirty="0">
                <a:latin typeface="FangSong" panose="02010609060101010101" pitchFamily="49" charset="-122"/>
                <a:ea typeface="FangSong" panose="02010609060101010101" pitchFamily="49" charset="-122"/>
              </a:rPr>
              <a:t>对称性破缺让自然界更精彩</a:t>
            </a:r>
          </a:p>
        </p:txBody>
      </p:sp>
    </p:spTree>
    <p:extLst>
      <p:ext uri="{BB962C8B-B14F-4D97-AF65-F5344CB8AC3E}">
        <p14:creationId xmlns:p14="http://schemas.microsoft.com/office/powerpoint/2010/main" val="109455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4B255B8-EC4A-48D3-955B-B8B956934C78}"/>
                  </a:ext>
                </a:extLst>
              </p:cNvPr>
              <p:cNvSpPr txBox="1"/>
              <p:nvPr/>
            </p:nvSpPr>
            <p:spPr>
              <a:xfrm>
                <a:off x="3117273" y="983670"/>
                <a:ext cx="5015346"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𝑃</m:t>
                      </m:r>
                      <m:r>
                        <a:rPr lang="en-US" sz="4000" b="0" i="1" smtClean="0">
                          <a:latin typeface="Cambria Math" panose="02040503050406030204" pitchFamily="18" charset="0"/>
                        </a:rPr>
                        <m:t>𝑉</m:t>
                      </m:r>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𝜏</m:t>
                      </m:r>
                    </m:oMath>
                  </m:oMathPara>
                </a14:m>
                <a:endParaRPr lang="en-CN" sz="4000" dirty="0"/>
              </a:p>
            </p:txBody>
          </p:sp>
        </mc:Choice>
        <mc:Fallback xmlns="">
          <p:sp>
            <p:nvSpPr>
              <p:cNvPr id="2" name="TextBox 1">
                <a:extLst>
                  <a:ext uri="{FF2B5EF4-FFF2-40B4-BE49-F238E27FC236}">
                    <a16:creationId xmlns:a16="http://schemas.microsoft.com/office/drawing/2014/main" id="{64B255B8-EC4A-48D3-955B-B8B956934C78}"/>
                  </a:ext>
                </a:extLst>
              </p:cNvPr>
              <p:cNvSpPr txBox="1">
                <a:spLocks noRot="1" noChangeAspect="1" noMove="1" noResize="1" noEditPoints="1" noAdjustHandles="1" noChangeArrowheads="1" noChangeShapeType="1" noTextEdit="1"/>
              </p:cNvSpPr>
              <p:nvPr/>
            </p:nvSpPr>
            <p:spPr>
              <a:xfrm>
                <a:off x="3117273" y="983670"/>
                <a:ext cx="5015346" cy="707886"/>
              </a:xfrm>
              <a:prstGeom prst="rect">
                <a:avLst/>
              </a:prstGeom>
              <a:blipFill>
                <a:blip r:embed="rId2"/>
                <a:stretch>
                  <a:fillRect/>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3BB35F4B-5B85-D5E2-26C9-FE9A303B1F8B}"/>
              </a:ext>
            </a:extLst>
          </p:cNvPr>
          <p:cNvSpPr/>
          <p:nvPr/>
        </p:nvSpPr>
        <p:spPr>
          <a:xfrm>
            <a:off x="5527964" y="1674634"/>
            <a:ext cx="193963" cy="4280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F15E41-E036-2991-C1FE-59B90C72F2A3}"/>
                  </a:ext>
                </a:extLst>
              </p:cNvPr>
              <p:cNvSpPr txBox="1"/>
              <p:nvPr/>
            </p:nvSpPr>
            <p:spPr>
              <a:xfrm>
                <a:off x="2493817" y="2685078"/>
                <a:ext cx="6456219" cy="14878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CN" sz="4000" i="1" smtClean="0">
                              <a:latin typeface="Cambria Math" panose="02040503050406030204" pitchFamily="18" charset="0"/>
                            </a:rPr>
                          </m:ctrlPr>
                        </m:dPr>
                        <m:e>
                          <m:r>
                            <a:rPr lang="en-US" sz="4000" b="0" i="1" smtClean="0">
                              <a:latin typeface="Cambria Math" panose="02040503050406030204" pitchFamily="18" charset="0"/>
                            </a:rPr>
                            <m:t>𝑃</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𝑁</m:t>
                                  </m:r>
                                </m:e>
                                <m:sup>
                                  <m:r>
                                    <a:rPr lang="en-US" sz="4000" b="0" i="1" smtClean="0">
                                      <a:latin typeface="Cambria Math" panose="02040503050406030204" pitchFamily="18" charset="0"/>
                                    </a:rPr>
                                    <m:t>2</m:t>
                                  </m:r>
                                </m:sup>
                              </m:sSup>
                            </m:num>
                            <m:den>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𝑉</m:t>
                                  </m:r>
                                </m:e>
                                <m:sup>
                                  <m:r>
                                    <a:rPr lang="en-US" sz="4000" b="0" i="1" smtClean="0">
                                      <a:latin typeface="Cambria Math" panose="02040503050406030204" pitchFamily="18" charset="0"/>
                                    </a:rPr>
                                    <m:t>2</m:t>
                                  </m:r>
                                </m:sup>
                              </m:sSup>
                            </m:den>
                          </m:f>
                          <m:r>
                            <a:rPr lang="en-US" sz="4000" b="0" i="1" smtClean="0">
                              <a:solidFill>
                                <a:srgbClr val="C00000"/>
                              </a:solidFill>
                              <a:latin typeface="Cambria Math" panose="02040503050406030204" pitchFamily="18" charset="0"/>
                            </a:rPr>
                            <m:t>𝑎</m:t>
                          </m:r>
                        </m:e>
                      </m:d>
                      <m:d>
                        <m:dPr>
                          <m:ctrlPr>
                            <a:rPr lang="en-CN" sz="4000" i="1" smtClean="0">
                              <a:latin typeface="Cambria Math" panose="02040503050406030204" pitchFamily="18" charset="0"/>
                            </a:rPr>
                          </m:ctrlPr>
                        </m:dPr>
                        <m:e>
                          <m:r>
                            <a:rPr lang="en-US" sz="4000" b="0" i="1" smtClean="0">
                              <a:latin typeface="Cambria Math" panose="02040503050406030204" pitchFamily="18" charset="0"/>
                            </a:rPr>
                            <m:t>𝑉</m:t>
                          </m:r>
                          <m:r>
                            <a:rPr lang="en-US" sz="4000" b="0" i="1" smtClean="0">
                              <a:latin typeface="Cambria Math" panose="02040503050406030204" pitchFamily="18" charset="0"/>
                            </a:rPr>
                            <m:t>−</m:t>
                          </m:r>
                          <m:r>
                            <a:rPr lang="en-US" sz="4000" b="0" i="1" smtClean="0">
                              <a:latin typeface="Cambria Math" panose="02040503050406030204" pitchFamily="18" charset="0"/>
                            </a:rPr>
                            <m:t>𝑁𝑏</m:t>
                          </m:r>
                        </m:e>
                      </m:d>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𝜏</m:t>
                      </m:r>
                    </m:oMath>
                  </m:oMathPara>
                </a14:m>
                <a:endParaRPr lang="en-CN" sz="4000" dirty="0"/>
              </a:p>
            </p:txBody>
          </p:sp>
        </mc:Choice>
        <mc:Fallback xmlns="">
          <p:sp>
            <p:nvSpPr>
              <p:cNvPr id="4" name="TextBox 3">
                <a:extLst>
                  <a:ext uri="{FF2B5EF4-FFF2-40B4-BE49-F238E27FC236}">
                    <a16:creationId xmlns:a16="http://schemas.microsoft.com/office/drawing/2014/main" id="{2EF15E41-E036-2991-C1FE-59B90C72F2A3}"/>
                  </a:ext>
                </a:extLst>
              </p:cNvPr>
              <p:cNvSpPr txBox="1">
                <a:spLocks noRot="1" noChangeAspect="1" noMove="1" noResize="1" noEditPoints="1" noAdjustHandles="1" noChangeArrowheads="1" noChangeShapeType="1" noTextEdit="1"/>
              </p:cNvSpPr>
              <p:nvPr/>
            </p:nvSpPr>
            <p:spPr>
              <a:xfrm>
                <a:off x="2493817" y="2685078"/>
                <a:ext cx="6456219" cy="1487843"/>
              </a:xfrm>
              <a:prstGeom prst="rect">
                <a:avLst/>
              </a:prstGeom>
              <a:blipFill>
                <a:blip r:embed="rId3"/>
                <a:stretch>
                  <a:fillRect/>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21EF6F85-FA09-CB74-E364-78CAAF648517}"/>
              </a:ext>
            </a:extLst>
          </p:cNvPr>
          <p:cNvSpPr txBox="1"/>
          <p:nvPr/>
        </p:nvSpPr>
        <p:spPr>
          <a:xfrm>
            <a:off x="457200" y="2051638"/>
            <a:ext cx="5507764" cy="707886"/>
          </a:xfrm>
          <a:prstGeom prst="rect">
            <a:avLst/>
          </a:prstGeom>
          <a:noFill/>
        </p:spPr>
        <p:txBody>
          <a:bodyPr wrap="square" rtlCol="0">
            <a:spAutoFit/>
          </a:bodyPr>
          <a:lstStyle/>
          <a:p>
            <a:r>
              <a:rPr lang="en-CN" sz="4000" dirty="0"/>
              <a:t>The van der Waals Model</a:t>
            </a:r>
          </a:p>
        </p:txBody>
      </p:sp>
      <p:sp>
        <p:nvSpPr>
          <p:cNvPr id="10" name="TextBox 9">
            <a:extLst>
              <a:ext uri="{FF2B5EF4-FFF2-40B4-BE49-F238E27FC236}">
                <a16:creationId xmlns:a16="http://schemas.microsoft.com/office/drawing/2014/main" id="{B9B101F9-76ED-E4E9-3EE1-2EDA7BA4469F}"/>
              </a:ext>
            </a:extLst>
          </p:cNvPr>
          <p:cNvSpPr txBox="1"/>
          <p:nvPr/>
        </p:nvSpPr>
        <p:spPr>
          <a:xfrm>
            <a:off x="900545" y="4655127"/>
            <a:ext cx="10321637"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FF0000"/>
                </a:solidFill>
                <a:latin typeface="FangSong" panose="02010609060101010101" pitchFamily="49" charset="-122"/>
                <a:ea typeface="FangSong" panose="02010609060101010101" pitchFamily="49" charset="-122"/>
              </a:rPr>
              <a:t>a</a:t>
            </a:r>
            <a:r>
              <a:rPr lang="zh-CN" altLang="en-US" sz="2800" dirty="0">
                <a:latin typeface="FangSong" panose="02010609060101010101" pitchFamily="49" charset="-122"/>
                <a:ea typeface="FangSong" panose="02010609060101010101" pitchFamily="49" charset="-122"/>
              </a:rPr>
              <a:t>：</a:t>
            </a:r>
            <a:r>
              <a:rPr lang="en-US" sz="2800" dirty="0" err="1">
                <a:latin typeface="FangSong" panose="02010609060101010101" pitchFamily="49" charset="-122"/>
                <a:ea typeface="FangSong" panose="02010609060101010101" pitchFamily="49" charset="-122"/>
              </a:rPr>
              <a:t>长程</a:t>
            </a:r>
            <a:r>
              <a:rPr lang="zh-CN" altLang="en-US" sz="2800" dirty="0">
                <a:latin typeface="FangSong" panose="02010609060101010101" pitchFamily="49" charset="-122"/>
                <a:ea typeface="FangSong" panose="02010609060101010101" pitchFamily="49" charset="-122"/>
              </a:rPr>
              <a:t>；</a:t>
            </a:r>
            <a:r>
              <a:rPr lang="en-US" altLang="zh-CN" sz="2800" dirty="0">
                <a:solidFill>
                  <a:srgbClr val="7030A0"/>
                </a:solidFill>
                <a:latin typeface="FangSong" panose="02010609060101010101" pitchFamily="49" charset="-122"/>
                <a:ea typeface="FangSong" panose="02010609060101010101" pitchFamily="49" charset="-122"/>
              </a:rPr>
              <a:t>b</a:t>
            </a:r>
            <a:r>
              <a:rPr lang="zh-CN" altLang="en-US" sz="2800" dirty="0">
                <a:latin typeface="FangSong" panose="02010609060101010101" pitchFamily="49" charset="-122"/>
                <a:ea typeface="FangSong" panose="02010609060101010101" pitchFamily="49" charset="-122"/>
              </a:rPr>
              <a:t>：短程</a:t>
            </a:r>
            <a:endParaRPr lang="en-US" sz="2800"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US" sz="2800" dirty="0" err="1">
                <a:latin typeface="FangSong" panose="02010609060101010101" pitchFamily="49" charset="-122"/>
                <a:ea typeface="FangSong" panose="02010609060101010101" pitchFamily="49" charset="-122"/>
              </a:rPr>
              <a:t>让我们从理论的角度做一个探索</a:t>
            </a:r>
            <a:endParaRPr lang="en-CN" sz="2800" dirty="0">
              <a:latin typeface="FangSong" panose="02010609060101010101" pitchFamily="49" charset="-122"/>
              <a:ea typeface="FangSong" panose="02010609060101010101" pitchFamily="49" charset="-122"/>
            </a:endParaRPr>
          </a:p>
        </p:txBody>
      </p:sp>
      <p:sp>
        <p:nvSpPr>
          <p:cNvPr id="11" name="TextBox 10">
            <a:extLst>
              <a:ext uri="{FF2B5EF4-FFF2-40B4-BE49-F238E27FC236}">
                <a16:creationId xmlns:a16="http://schemas.microsoft.com/office/drawing/2014/main" id="{74D6E111-B622-1BB7-FCBE-96FF5B0CB82F}"/>
              </a:ext>
            </a:extLst>
          </p:cNvPr>
          <p:cNvSpPr txBox="1"/>
          <p:nvPr/>
        </p:nvSpPr>
        <p:spPr>
          <a:xfrm>
            <a:off x="457200" y="267184"/>
            <a:ext cx="3810000" cy="707886"/>
          </a:xfrm>
          <a:prstGeom prst="rect">
            <a:avLst/>
          </a:prstGeom>
          <a:noFill/>
        </p:spPr>
        <p:txBody>
          <a:bodyPr wrap="square" rtlCol="0">
            <a:spAutoFit/>
          </a:bodyPr>
          <a:lstStyle/>
          <a:p>
            <a:r>
              <a:rPr lang="en-CN" sz="4000" dirty="0"/>
              <a:t>The ideal gas</a:t>
            </a:r>
          </a:p>
        </p:txBody>
      </p:sp>
      <p:pic>
        <p:nvPicPr>
          <p:cNvPr id="13" name="Picture 12">
            <a:extLst>
              <a:ext uri="{FF2B5EF4-FFF2-40B4-BE49-F238E27FC236}">
                <a16:creationId xmlns:a16="http://schemas.microsoft.com/office/drawing/2014/main" id="{289CB5DE-BF7D-03F2-F616-DB1DDCF8856F}"/>
              </a:ext>
            </a:extLst>
          </p:cNvPr>
          <p:cNvPicPr>
            <a:picLocks noChangeAspect="1"/>
          </p:cNvPicPr>
          <p:nvPr/>
        </p:nvPicPr>
        <p:blipFill>
          <a:blip r:embed="rId4"/>
          <a:stretch>
            <a:fillRect/>
          </a:stretch>
        </p:blipFill>
        <p:spPr>
          <a:xfrm>
            <a:off x="7924802" y="438399"/>
            <a:ext cx="2958523" cy="1647408"/>
          </a:xfrm>
          <a:prstGeom prst="rect">
            <a:avLst/>
          </a:prstGeom>
        </p:spPr>
      </p:pic>
      <p:pic>
        <p:nvPicPr>
          <p:cNvPr id="1026" name="Picture 2" descr="undefined">
            <a:extLst>
              <a:ext uri="{FF2B5EF4-FFF2-40B4-BE49-F238E27FC236}">
                <a16:creationId xmlns:a16="http://schemas.microsoft.com/office/drawing/2014/main" id="{32BDC6FD-163A-BFB8-C8A6-9A7E78B3C7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2379" y="3634536"/>
            <a:ext cx="4265718"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713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334810-6971-8D5C-B079-0D479F896250}"/>
              </a:ext>
            </a:extLst>
          </p:cNvPr>
          <p:cNvSpPr txBox="1"/>
          <p:nvPr/>
        </p:nvSpPr>
        <p:spPr>
          <a:xfrm>
            <a:off x="471054" y="304800"/>
            <a:ext cx="4891167" cy="707886"/>
          </a:xfrm>
          <a:prstGeom prst="rect">
            <a:avLst/>
          </a:prstGeom>
          <a:noFill/>
        </p:spPr>
        <p:txBody>
          <a:bodyPr wrap="square" rtlCol="0">
            <a:spAutoFit/>
          </a:bodyPr>
          <a:lstStyle/>
          <a:p>
            <a:r>
              <a:rPr lang="en-CN" sz="4000" dirty="0"/>
              <a:t>For ideal Gas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2EF160-0465-F6DA-FB67-126EB3AB4142}"/>
                  </a:ext>
                </a:extLst>
              </p:cNvPr>
              <p:cNvSpPr txBox="1"/>
              <p:nvPr/>
            </p:nvSpPr>
            <p:spPr>
              <a:xfrm>
                <a:off x="2178756" y="1012686"/>
                <a:ext cx="7303911" cy="11582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𝐹</m:t>
                      </m:r>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𝜏</m:t>
                      </m:r>
                      <m:d>
                        <m:dPr>
                          <m:begChr m:val="["/>
                          <m:endChr m:val="]"/>
                          <m:ctrlPr>
                            <a:rPr lang="en-US" sz="4000" b="0" i="1" smtClean="0">
                              <a:latin typeface="Cambria Math" panose="02040503050406030204" pitchFamily="18" charset="0"/>
                              <a:ea typeface="Cambria Math" panose="02040503050406030204" pitchFamily="18" charset="0"/>
                            </a:rPr>
                          </m:ctrlPr>
                        </m:dPr>
                        <m:e>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num>
                                <m:den>
                                  <m:r>
                                    <a:rPr lang="en-US" sz="4000" b="0" i="1" smtClean="0">
                                      <a:latin typeface="Cambria Math" panose="02040503050406030204" pitchFamily="18" charset="0"/>
                                      <a:ea typeface="Cambria Math" panose="02040503050406030204" pitchFamily="18" charset="0"/>
                                    </a:rPr>
                                    <m:t>𝑛</m:t>
                                  </m:r>
                                </m:den>
                              </m:f>
                            </m:e>
                          </m:func>
                          <m:r>
                            <a:rPr lang="en-US" sz="4000" b="0" i="1" smtClean="0">
                              <a:latin typeface="Cambria Math" panose="02040503050406030204" pitchFamily="18" charset="0"/>
                              <a:ea typeface="Cambria Math" panose="02040503050406030204" pitchFamily="18" charset="0"/>
                            </a:rPr>
                            <m:t>+1</m:t>
                          </m:r>
                        </m:e>
                      </m:d>
                    </m:oMath>
                  </m:oMathPara>
                </a14:m>
                <a:endParaRPr lang="en-CN" sz="4000" dirty="0"/>
              </a:p>
            </p:txBody>
          </p:sp>
        </mc:Choice>
        <mc:Fallback xmlns="">
          <p:sp>
            <p:nvSpPr>
              <p:cNvPr id="6" name="TextBox 5">
                <a:extLst>
                  <a:ext uri="{FF2B5EF4-FFF2-40B4-BE49-F238E27FC236}">
                    <a16:creationId xmlns:a16="http://schemas.microsoft.com/office/drawing/2014/main" id="{B02EF160-0465-F6DA-FB67-126EB3AB4142}"/>
                  </a:ext>
                </a:extLst>
              </p:cNvPr>
              <p:cNvSpPr txBox="1">
                <a:spLocks noRot="1" noChangeAspect="1" noMove="1" noResize="1" noEditPoints="1" noAdjustHandles="1" noChangeArrowheads="1" noChangeShapeType="1" noTextEdit="1"/>
              </p:cNvSpPr>
              <p:nvPr/>
            </p:nvSpPr>
            <p:spPr>
              <a:xfrm>
                <a:off x="2178756" y="1012686"/>
                <a:ext cx="7303911" cy="1158266"/>
              </a:xfrm>
              <a:prstGeom prst="rect">
                <a:avLst/>
              </a:prstGeom>
              <a:blipFill>
                <a:blip r:embed="rId2"/>
                <a:stretch>
                  <a:fillRect b="-7609"/>
                </a:stretch>
              </a:blipFill>
            </p:spPr>
            <p:txBody>
              <a:bodyPr/>
              <a:lstStyle/>
              <a:p>
                <a:r>
                  <a:rPr lang="en-CN">
                    <a:noFill/>
                  </a:rPr>
                  <a:t> </a:t>
                </a:r>
              </a:p>
            </p:txBody>
          </p:sp>
        </mc:Fallback>
      </mc:AlternateContent>
      <p:sp>
        <p:nvSpPr>
          <p:cNvPr id="7" name="Down Arrow 6">
            <a:extLst>
              <a:ext uri="{FF2B5EF4-FFF2-40B4-BE49-F238E27FC236}">
                <a16:creationId xmlns:a16="http://schemas.microsoft.com/office/drawing/2014/main" id="{5BE4DC2D-1690-C328-C04E-B054225535E8}"/>
              </a:ext>
            </a:extLst>
          </p:cNvPr>
          <p:cNvSpPr/>
          <p:nvPr/>
        </p:nvSpPr>
        <p:spPr>
          <a:xfrm>
            <a:off x="5362221" y="2359378"/>
            <a:ext cx="891823" cy="1873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8BE9C412-6578-3CB6-DB30-D1D5873ABD65}"/>
              </a:ext>
            </a:extLst>
          </p:cNvPr>
          <p:cNvSpPr txBox="1"/>
          <p:nvPr/>
        </p:nvSpPr>
        <p:spPr>
          <a:xfrm>
            <a:off x="6254044" y="2788356"/>
            <a:ext cx="3668889" cy="646331"/>
          </a:xfrm>
          <a:prstGeom prst="rect">
            <a:avLst/>
          </a:prstGeom>
          <a:noFill/>
        </p:spPr>
        <p:txBody>
          <a:bodyPr wrap="square" rtlCol="0">
            <a:spAutoFit/>
          </a:bodyPr>
          <a:lstStyle/>
          <a:p>
            <a:r>
              <a:rPr lang="en-CN" dirty="0"/>
              <a:t>有限体积修正</a:t>
            </a:r>
            <a:r>
              <a:rPr lang="zh-CN" altLang="en-US" dirty="0"/>
              <a:t>？？</a:t>
            </a:r>
            <a:endParaRPr lang="en-US" altLang="zh-CN" dirty="0"/>
          </a:p>
          <a:p>
            <a:r>
              <a:rPr lang="en-US" dirty="0" err="1"/>
              <a:t>相互作用的排斥心</a:t>
            </a:r>
            <a:r>
              <a:rPr lang="zh-CN" altLang="en-US" dirty="0"/>
              <a:t>？？</a:t>
            </a:r>
            <a:endParaRPr lang="en-CN"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04E070-7E3D-3675-E7DB-B2D9CBDE06F8}"/>
                  </a:ext>
                </a:extLst>
              </p:cNvPr>
              <p:cNvSpPr txBox="1"/>
              <p:nvPr/>
            </p:nvSpPr>
            <p:spPr>
              <a:xfrm>
                <a:off x="141111" y="4529175"/>
                <a:ext cx="11870267" cy="1290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𝐹</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ea typeface="Cambria Math" panose="02040503050406030204" pitchFamily="18" charset="0"/>
                        </a:rPr>
                        <m:t>𝜏</m:t>
                      </m:r>
                      <m:d>
                        <m:dPr>
                          <m:begChr m:val="["/>
                          <m:endChr m:val="]"/>
                          <m:ctrlPr>
                            <a:rPr lang="en-US" sz="2800" b="0" i="1" smtClean="0">
                              <a:latin typeface="Cambria Math" panose="02040503050406030204" pitchFamily="18" charset="0"/>
                              <a:ea typeface="Cambria Math" panose="02040503050406030204" pitchFamily="18" charset="0"/>
                            </a:rPr>
                          </m:ctrlPr>
                        </m:dPr>
                        <m:e>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f>
                                <m:fPr>
                                  <m:ctrlPr>
                                    <a:rPr lang="en-US" sz="2800" b="0" i="1" smtClean="0">
                                      <a:latin typeface="Cambria Math" panose="02040503050406030204" pitchFamily="18" charset="0"/>
                                      <a:ea typeface="Cambria Math" panose="02040503050406030204" pitchFamily="18" charset="0"/>
                                    </a:rPr>
                                  </m:ctrlPr>
                                </m:fPr>
                                <m:num>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𝑛</m:t>
                                      </m:r>
                                    </m:e>
                                    <m:sub>
                                      <m:r>
                                        <a:rPr lang="en-US" sz="2800" b="0" i="1" smtClean="0">
                                          <a:latin typeface="Cambria Math" panose="02040503050406030204" pitchFamily="18" charset="0"/>
                                          <a:ea typeface="Cambria Math" panose="02040503050406030204" pitchFamily="18" charset="0"/>
                                        </a:rPr>
                                        <m:t>𝑄</m:t>
                                      </m:r>
                                    </m:sub>
                                  </m:sSub>
                                </m:num>
                                <m:den>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𝑁</m:t>
                                      </m:r>
                                    </m:num>
                                    <m:den>
                                      <m:r>
                                        <a:rPr lang="en-US" sz="2800" b="0" i="1" smtClean="0">
                                          <a:latin typeface="Cambria Math" panose="02040503050406030204" pitchFamily="18" charset="0"/>
                                          <a:ea typeface="Cambria Math" panose="02040503050406030204" pitchFamily="18" charset="0"/>
                                        </a:rPr>
                                        <m:t>𝑉</m:t>
                                      </m:r>
                                    </m:den>
                                  </m:f>
                                </m:den>
                              </m:f>
                            </m:e>
                          </m:func>
                          <m:r>
                            <a:rPr lang="en-US" sz="2800" b="0" i="1" smtClean="0">
                              <a:latin typeface="Cambria Math" panose="02040503050406030204" pitchFamily="18" charset="0"/>
                              <a:ea typeface="Cambria Math" panose="02040503050406030204" pitchFamily="18" charset="0"/>
                            </a:rPr>
                            <m:t>+1</m:t>
                          </m:r>
                        </m:e>
                      </m:d>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ea typeface="Cambria Math" panose="02040503050406030204" pitchFamily="18" charset="0"/>
                        </a:rPr>
                        <m:t>𝜏</m:t>
                      </m:r>
                      <m:d>
                        <m:dPr>
                          <m:begChr m:val="["/>
                          <m:endChr m:val="]"/>
                          <m:ctrlPr>
                            <a:rPr lang="en-US" sz="2800" i="1">
                              <a:latin typeface="Cambria Math" panose="02040503050406030204" pitchFamily="18" charset="0"/>
                              <a:ea typeface="Cambria Math" panose="02040503050406030204" pitchFamily="18" charset="0"/>
                            </a:rPr>
                          </m:ctrlPr>
                        </m:dPr>
                        <m:e>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𝑛</m:t>
                                      </m:r>
                                    </m:e>
                                    <m:sub>
                                      <m:r>
                                        <a:rPr lang="en-US" sz="2800" i="1">
                                          <a:latin typeface="Cambria Math" panose="02040503050406030204" pitchFamily="18" charset="0"/>
                                          <a:ea typeface="Cambria Math" panose="02040503050406030204" pitchFamily="18" charset="0"/>
                                        </a:rPr>
                                        <m:t>𝑄</m:t>
                                      </m:r>
                                    </m:sub>
                                  </m:sSub>
                                </m:num>
                                <m:den>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𝑁</m:t>
                                      </m:r>
                                    </m:num>
                                    <m:den>
                                      <m:r>
                                        <a:rPr lang="en-US" sz="2800" i="1">
                                          <a:latin typeface="Cambria Math" panose="02040503050406030204" pitchFamily="18" charset="0"/>
                                          <a:ea typeface="Cambria Math" panose="02040503050406030204" pitchFamily="18" charset="0"/>
                                        </a:rPr>
                                        <m:t>𝑉</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𝑁𝑏</m:t>
                                      </m:r>
                                    </m:den>
                                  </m:f>
                                </m:den>
                              </m:f>
                            </m:e>
                          </m:func>
                          <m:r>
                            <a:rPr lang="en-US" sz="2800" i="1">
                              <a:latin typeface="Cambria Math" panose="02040503050406030204" pitchFamily="18" charset="0"/>
                              <a:ea typeface="Cambria Math" panose="02040503050406030204" pitchFamily="18" charset="0"/>
                            </a:rPr>
                            <m:t>+1</m:t>
                          </m:r>
                        </m:e>
                      </m:d>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ea typeface="Cambria Math" panose="02040503050406030204" pitchFamily="18" charset="0"/>
                        </a:rPr>
                        <m:t>𝜏</m:t>
                      </m:r>
                      <m:d>
                        <m:dPr>
                          <m:begChr m:val="["/>
                          <m:endChr m:val="]"/>
                          <m:ctrlPr>
                            <a:rPr lang="en-US" sz="2800" i="1">
                              <a:latin typeface="Cambria Math" panose="02040503050406030204" pitchFamily="18" charset="0"/>
                              <a:ea typeface="Cambria Math" panose="02040503050406030204" pitchFamily="18" charset="0"/>
                            </a:rPr>
                          </m:ctrlPr>
                        </m:dPr>
                        <m:e>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sSub>
                                <m:sSubPr>
                                  <m:ctrlPr>
                                    <a:rPr lang="en-US" sz="280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𝑛</m:t>
                                  </m:r>
                                </m:e>
                                <m:sub>
                                  <m:r>
                                    <a:rPr lang="en-US" sz="2800" b="0" i="1" smtClean="0">
                                      <a:latin typeface="Cambria Math" panose="02040503050406030204" pitchFamily="18" charset="0"/>
                                      <a:ea typeface="Cambria Math" panose="02040503050406030204" pitchFamily="18" charset="0"/>
                                    </a:rPr>
                                    <m:t>𝑄</m:t>
                                  </m:r>
                                </m:sub>
                              </m:sSub>
                              <m:f>
                                <m:fPr>
                                  <m:ctrlPr>
                                    <a:rPr lang="en-US" sz="280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𝑉</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𝑁𝑏</m:t>
                                  </m:r>
                                </m:num>
                                <m:den>
                                  <m:r>
                                    <a:rPr lang="en-US" sz="2800" b="0" i="1" smtClean="0">
                                      <a:latin typeface="Cambria Math" panose="02040503050406030204" pitchFamily="18" charset="0"/>
                                      <a:ea typeface="Cambria Math" panose="02040503050406030204" pitchFamily="18" charset="0"/>
                                    </a:rPr>
                                    <m:t>𝑁</m:t>
                                  </m:r>
                                </m:den>
                              </m:f>
                            </m:e>
                          </m:func>
                          <m:r>
                            <a:rPr lang="en-US" sz="2800" i="1">
                              <a:latin typeface="Cambria Math" panose="02040503050406030204" pitchFamily="18" charset="0"/>
                              <a:ea typeface="Cambria Math" panose="02040503050406030204" pitchFamily="18" charset="0"/>
                            </a:rPr>
                            <m:t>+1</m:t>
                          </m:r>
                        </m:e>
                      </m:d>
                    </m:oMath>
                  </m:oMathPara>
                </a14:m>
                <a:endParaRPr lang="en-CN" sz="2800" dirty="0"/>
              </a:p>
            </p:txBody>
          </p:sp>
        </mc:Choice>
        <mc:Fallback xmlns="">
          <p:sp>
            <p:nvSpPr>
              <p:cNvPr id="9" name="TextBox 8">
                <a:extLst>
                  <a:ext uri="{FF2B5EF4-FFF2-40B4-BE49-F238E27FC236}">
                    <a16:creationId xmlns:a16="http://schemas.microsoft.com/office/drawing/2014/main" id="{6204E070-7E3D-3675-E7DB-B2D9CBDE06F8}"/>
                  </a:ext>
                </a:extLst>
              </p:cNvPr>
              <p:cNvSpPr txBox="1">
                <a:spLocks noRot="1" noChangeAspect="1" noMove="1" noResize="1" noEditPoints="1" noAdjustHandles="1" noChangeArrowheads="1" noChangeShapeType="1" noTextEdit="1"/>
              </p:cNvSpPr>
              <p:nvPr/>
            </p:nvSpPr>
            <p:spPr>
              <a:xfrm>
                <a:off x="141111" y="4529175"/>
                <a:ext cx="11870267" cy="1290931"/>
              </a:xfrm>
              <a:prstGeom prst="rect">
                <a:avLst/>
              </a:prstGeom>
              <a:blipFill>
                <a:blip r:embed="rId3"/>
                <a:stretch>
                  <a:fillRect b="-2913"/>
                </a:stretch>
              </a:blipFill>
            </p:spPr>
            <p:txBody>
              <a:bodyPr/>
              <a:lstStyle/>
              <a:p>
                <a:r>
                  <a:rPr lang="en-CN">
                    <a:noFill/>
                  </a:rPr>
                  <a:t> </a:t>
                </a:r>
              </a:p>
            </p:txBody>
          </p:sp>
        </mc:Fallback>
      </mc:AlternateContent>
    </p:spTree>
    <p:extLst>
      <p:ext uri="{BB962C8B-B14F-4D97-AF65-F5344CB8AC3E}">
        <p14:creationId xmlns:p14="http://schemas.microsoft.com/office/powerpoint/2010/main" val="1304648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334810-6971-8D5C-B079-0D479F896250}"/>
              </a:ext>
            </a:extLst>
          </p:cNvPr>
          <p:cNvSpPr txBox="1"/>
          <p:nvPr/>
        </p:nvSpPr>
        <p:spPr>
          <a:xfrm>
            <a:off x="471054" y="304800"/>
            <a:ext cx="4507345" cy="369332"/>
          </a:xfrm>
          <a:prstGeom prst="rect">
            <a:avLst/>
          </a:prstGeom>
          <a:noFill/>
        </p:spPr>
        <p:txBody>
          <a:bodyPr wrap="square" rtlCol="0">
            <a:spAutoFit/>
          </a:bodyPr>
          <a:lstStyle/>
          <a:p>
            <a:r>
              <a:rPr lang="en-CN" dirty="0"/>
              <a:t>以一个粗糙的方式看一下相互作用</a:t>
            </a:r>
          </a:p>
        </p:txBody>
      </p:sp>
      <p:pic>
        <p:nvPicPr>
          <p:cNvPr id="5" name="Picture 4">
            <a:extLst>
              <a:ext uri="{FF2B5EF4-FFF2-40B4-BE49-F238E27FC236}">
                <a16:creationId xmlns:a16="http://schemas.microsoft.com/office/drawing/2014/main" id="{1CEA4D1B-173D-033A-CF96-B243E8A5A174}"/>
              </a:ext>
            </a:extLst>
          </p:cNvPr>
          <p:cNvPicPr>
            <a:picLocks noChangeAspect="1"/>
          </p:cNvPicPr>
          <p:nvPr/>
        </p:nvPicPr>
        <p:blipFill>
          <a:blip r:embed="rId2"/>
          <a:stretch>
            <a:fillRect/>
          </a:stretch>
        </p:blipFill>
        <p:spPr>
          <a:xfrm>
            <a:off x="982133" y="725607"/>
            <a:ext cx="7222324" cy="5827593"/>
          </a:xfrm>
          <a:prstGeom prst="rect">
            <a:avLst/>
          </a:prstGeom>
        </p:spPr>
      </p:pic>
      <p:pic>
        <p:nvPicPr>
          <p:cNvPr id="3" name="Picture 2" descr="undefined">
            <a:extLst>
              <a:ext uri="{FF2B5EF4-FFF2-40B4-BE49-F238E27FC236}">
                <a16:creationId xmlns:a16="http://schemas.microsoft.com/office/drawing/2014/main" id="{C6E6F453-7AC3-ACA4-7C4A-0EAF364CC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2379" y="3634536"/>
            <a:ext cx="4265718"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705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334810-6971-8D5C-B079-0D479F896250}"/>
              </a:ext>
            </a:extLst>
          </p:cNvPr>
          <p:cNvSpPr txBox="1"/>
          <p:nvPr/>
        </p:nvSpPr>
        <p:spPr>
          <a:xfrm>
            <a:off x="471054" y="304800"/>
            <a:ext cx="4507345" cy="369332"/>
          </a:xfrm>
          <a:prstGeom prst="rect">
            <a:avLst/>
          </a:prstGeom>
          <a:noFill/>
        </p:spPr>
        <p:txBody>
          <a:bodyPr wrap="square" rtlCol="0">
            <a:spAutoFit/>
          </a:bodyPr>
          <a:lstStyle/>
          <a:p>
            <a:r>
              <a:rPr lang="en-CN" dirty="0"/>
              <a:t>以一个粗糙的方式看一下相互作用</a:t>
            </a:r>
          </a:p>
        </p:txBody>
      </p:sp>
      <p:pic>
        <p:nvPicPr>
          <p:cNvPr id="5" name="Picture 4">
            <a:extLst>
              <a:ext uri="{FF2B5EF4-FFF2-40B4-BE49-F238E27FC236}">
                <a16:creationId xmlns:a16="http://schemas.microsoft.com/office/drawing/2014/main" id="{1CEA4D1B-173D-033A-CF96-B243E8A5A174}"/>
              </a:ext>
            </a:extLst>
          </p:cNvPr>
          <p:cNvPicPr>
            <a:picLocks noChangeAspect="1"/>
          </p:cNvPicPr>
          <p:nvPr/>
        </p:nvPicPr>
        <p:blipFill>
          <a:blip r:embed="rId2"/>
          <a:stretch>
            <a:fillRect/>
          </a:stretch>
        </p:blipFill>
        <p:spPr>
          <a:xfrm>
            <a:off x="982133" y="725607"/>
            <a:ext cx="7222324" cy="5827593"/>
          </a:xfrm>
          <a:prstGeom prst="rect">
            <a:avLst/>
          </a:prstGeom>
        </p:spPr>
      </p:pic>
      <p:sp>
        <p:nvSpPr>
          <p:cNvPr id="6" name="TextBox 5">
            <a:extLst>
              <a:ext uri="{FF2B5EF4-FFF2-40B4-BE49-F238E27FC236}">
                <a16:creationId xmlns:a16="http://schemas.microsoft.com/office/drawing/2014/main" id="{23AAE77C-968B-776B-AEC7-473343A9D4B7}"/>
              </a:ext>
            </a:extLst>
          </p:cNvPr>
          <p:cNvSpPr txBox="1"/>
          <p:nvPr/>
        </p:nvSpPr>
        <p:spPr>
          <a:xfrm>
            <a:off x="8362503" y="4666791"/>
            <a:ext cx="3592431" cy="1323439"/>
          </a:xfrm>
          <a:prstGeom prst="rect">
            <a:avLst/>
          </a:prstGeom>
          <a:noFill/>
        </p:spPr>
        <p:txBody>
          <a:bodyPr wrap="square" rtlCol="0">
            <a:spAutoFit/>
          </a:bodyPr>
          <a:lstStyle/>
          <a:p>
            <a:r>
              <a:rPr lang="en-CN" sz="4000" dirty="0"/>
              <a:t>平均场近似</a:t>
            </a:r>
            <a:r>
              <a:rPr lang="zh-CN" altLang="en-US" sz="4000" dirty="0"/>
              <a:t>！</a:t>
            </a:r>
            <a:endParaRPr lang="en-US" altLang="zh-CN" sz="4000" dirty="0"/>
          </a:p>
          <a:p>
            <a:r>
              <a:rPr lang="en-CN" sz="4000" dirty="0"/>
              <a:t>后面再详细讲</a:t>
            </a:r>
          </a:p>
        </p:txBody>
      </p:sp>
    </p:spTree>
    <p:extLst>
      <p:ext uri="{BB962C8B-B14F-4D97-AF65-F5344CB8AC3E}">
        <p14:creationId xmlns:p14="http://schemas.microsoft.com/office/powerpoint/2010/main" val="347188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2"/>
            <a:ext cx="10425811" cy="24219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N" sz="4000" dirty="0">
                <a:latin typeface="FangSong" panose="02010609060101010101" pitchFamily="49" charset="-122"/>
                <a:ea typeface="FangSong" panose="02010609060101010101" pitchFamily="49" charset="-122"/>
              </a:rPr>
              <a:t>相互作用系统</a:t>
            </a:r>
          </a:p>
          <a:p>
            <a:r>
              <a:rPr lang="en-CN" sz="4000" dirty="0">
                <a:latin typeface="FangSong" panose="02010609060101010101" pitchFamily="49" charset="-122"/>
                <a:ea typeface="FangSong" panose="02010609060101010101" pitchFamily="49" charset="-122"/>
              </a:rPr>
              <a:t>弱耦合</a:t>
            </a:r>
            <a:r>
              <a:rPr lang="zh-CN" altLang="en-US" sz="4000" dirty="0">
                <a:latin typeface="FangSong" panose="02010609060101010101" pitchFamily="49" charset="-122"/>
                <a:ea typeface="FangSong" panose="02010609060101010101" pitchFamily="49" charset="-122"/>
              </a:rPr>
              <a:t>（</a:t>
            </a:r>
            <a:r>
              <a:rPr lang="en-US" altLang="zh-CN" sz="4000" dirty="0">
                <a:latin typeface="FangSong" panose="02010609060101010101" pitchFamily="49" charset="-122"/>
                <a:ea typeface="FangSong" panose="02010609060101010101" pitchFamily="49" charset="-122"/>
              </a:rPr>
              <a:t>weakly interacting gases</a:t>
            </a:r>
            <a:r>
              <a:rPr lang="zh-CN" altLang="en-US"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a:p>
            <a:r>
              <a:rPr lang="en-CN" sz="4000" dirty="0">
                <a:solidFill>
                  <a:schemeClr val="bg1">
                    <a:lumMod val="50000"/>
                  </a:schemeClr>
                </a:solidFill>
                <a:latin typeface="FangSong" panose="02010609060101010101" pitchFamily="49" charset="-122"/>
                <a:ea typeface="FangSong" panose="02010609060101010101" pitchFamily="49" charset="-122"/>
              </a:rPr>
              <a:t>Ising模型</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（第十二三周）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095291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4B255B8-EC4A-48D3-955B-B8B956934C78}"/>
                  </a:ext>
                </a:extLst>
              </p:cNvPr>
              <p:cNvSpPr txBox="1"/>
              <p:nvPr/>
            </p:nvSpPr>
            <p:spPr>
              <a:xfrm>
                <a:off x="3117273" y="983670"/>
                <a:ext cx="5015346" cy="89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00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ℏ</m:t>
                                  </m:r>
                                </m:e>
                              </m:d>
                            </m:e>
                            <m:sup>
                              <m:r>
                                <a:rPr lang="en-US" sz="2000" b="0" i="1" smtClean="0">
                                  <a:latin typeface="Cambria Math" panose="02040503050406030204" pitchFamily="18" charset="0"/>
                                </a:rPr>
                                <m:t>3</m:t>
                              </m:r>
                            </m:sup>
                          </m:sSup>
                        </m:den>
                      </m:f>
                      <m:nary>
                        <m:naryPr>
                          <m:limLoc m:val="undOvr"/>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𝑟</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𝑝</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𝐸</m:t>
                              </m:r>
                            </m:sup>
                          </m:sSup>
                        </m:e>
                      </m:nary>
                    </m:oMath>
                  </m:oMathPara>
                </a14:m>
                <a:endParaRPr lang="en-CN" sz="2000" dirty="0"/>
              </a:p>
            </p:txBody>
          </p:sp>
        </mc:Choice>
        <mc:Fallback xmlns="">
          <p:sp>
            <p:nvSpPr>
              <p:cNvPr id="2" name="TextBox 1">
                <a:extLst>
                  <a:ext uri="{FF2B5EF4-FFF2-40B4-BE49-F238E27FC236}">
                    <a16:creationId xmlns:a16="http://schemas.microsoft.com/office/drawing/2014/main" id="{64B255B8-EC4A-48D3-955B-B8B956934C78}"/>
                  </a:ext>
                </a:extLst>
              </p:cNvPr>
              <p:cNvSpPr txBox="1">
                <a:spLocks noRot="1" noChangeAspect="1" noMove="1" noResize="1" noEditPoints="1" noAdjustHandles="1" noChangeArrowheads="1" noChangeShapeType="1" noTextEdit="1"/>
              </p:cNvSpPr>
              <p:nvPr/>
            </p:nvSpPr>
            <p:spPr>
              <a:xfrm>
                <a:off x="3117273" y="983670"/>
                <a:ext cx="5015346" cy="899605"/>
              </a:xfrm>
              <a:prstGeom prst="rect">
                <a:avLst/>
              </a:prstGeom>
              <a:blipFill>
                <a:blip r:embed="rId2"/>
                <a:stretch>
                  <a:fillRect t="-133333" b="-187500"/>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3BB35F4B-5B85-D5E2-26C9-FE9A303B1F8B}"/>
              </a:ext>
            </a:extLst>
          </p:cNvPr>
          <p:cNvSpPr/>
          <p:nvPr/>
        </p:nvSpPr>
        <p:spPr>
          <a:xfrm>
            <a:off x="5527964" y="1802484"/>
            <a:ext cx="193963" cy="4280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F15E41-E036-2991-C1FE-59B90C72F2A3}"/>
                  </a:ext>
                </a:extLst>
              </p:cNvPr>
              <p:cNvSpPr txBox="1"/>
              <p:nvPr/>
            </p:nvSpPr>
            <p:spPr>
              <a:xfrm>
                <a:off x="3117272" y="2230580"/>
                <a:ext cx="5496149" cy="89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00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𝑁</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𝑁</m:t>
                          </m:r>
                          <m:r>
                            <a:rPr lang="en-US" sz="2000" b="0" i="1" smtClean="0">
                              <a:latin typeface="Cambria Math" panose="02040503050406030204" pitchFamily="18" charset="0"/>
                            </a:rPr>
                            <m:t>!</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ℏ</m:t>
                                  </m:r>
                                </m:e>
                              </m:d>
                            </m:e>
                            <m:sup>
                              <m:r>
                                <a:rPr lang="en-US" sz="2000" b="0" i="1" smtClean="0">
                                  <a:latin typeface="Cambria Math" panose="02040503050406030204" pitchFamily="18" charset="0"/>
                                </a:rPr>
                                <m:t>3</m:t>
                              </m:r>
                              <m:r>
                                <a:rPr lang="en-US" sz="2000" b="0" i="1" smtClean="0">
                                  <a:latin typeface="Cambria Math" panose="02040503050406030204" pitchFamily="18" charset="0"/>
                                </a:rPr>
                                <m:t>𝑁</m:t>
                              </m:r>
                            </m:sup>
                          </m:sSup>
                        </m:den>
                      </m:f>
                      <m:nary>
                        <m:naryPr>
                          <m:limLoc m:val="undOvr"/>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3</m:t>
                              </m:r>
                            </m:sup>
                          </m:s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1</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3</m:t>
                              </m:r>
                            </m:sup>
                          </m:s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𝑑</m:t>
                              </m:r>
                            </m:e>
                            <m:sup>
                              <m:r>
                                <a:rPr lang="en-US" sz="2000" i="1">
                                  <a:latin typeface="Cambria Math" panose="02040503050406030204" pitchFamily="18" charset="0"/>
                                </a:rPr>
                                <m:t>3</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𝑟</m:t>
                              </m:r>
                            </m:e>
                            <m:sub>
                              <m:r>
                                <a:rPr lang="en-US" sz="2000" b="0" i="1" smtClean="0">
                                  <a:latin typeface="Cambria Math" panose="02040503050406030204" pitchFamily="18" charset="0"/>
                                </a:rPr>
                                <m:t>𝑁</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𝑑</m:t>
                              </m:r>
                            </m:e>
                            <m:sup>
                              <m:r>
                                <a:rPr lang="en-US" sz="2000" i="1">
                                  <a:latin typeface="Cambria Math" panose="02040503050406030204" pitchFamily="18" charset="0"/>
                                </a:rPr>
                                <m:t>3</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𝑁</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 </m:t>
                              </m:r>
                              <m:r>
                                <a:rPr lang="en-US" sz="2000" b="0" i="1" smtClean="0">
                                  <a:solidFill>
                                    <a:srgbClr val="C00000"/>
                                  </a:solidFill>
                                  <a:latin typeface="Cambria Math" panose="02040503050406030204" pitchFamily="18" charset="0"/>
                                  <a:ea typeface="Cambria Math" panose="02040503050406030204" pitchFamily="18" charset="0"/>
                                </a:rPr>
                                <m:t>𝑈</m:t>
                              </m:r>
                            </m:sup>
                          </m:sSup>
                        </m:e>
                      </m:nary>
                    </m:oMath>
                  </m:oMathPara>
                </a14:m>
                <a:endParaRPr lang="en-CN" sz="2000" dirty="0"/>
              </a:p>
            </p:txBody>
          </p:sp>
        </mc:Choice>
        <mc:Fallback xmlns="">
          <p:sp>
            <p:nvSpPr>
              <p:cNvPr id="4" name="TextBox 3">
                <a:extLst>
                  <a:ext uri="{FF2B5EF4-FFF2-40B4-BE49-F238E27FC236}">
                    <a16:creationId xmlns:a16="http://schemas.microsoft.com/office/drawing/2014/main" id="{2EF15E41-E036-2991-C1FE-59B90C72F2A3}"/>
                  </a:ext>
                </a:extLst>
              </p:cNvPr>
              <p:cNvSpPr txBox="1">
                <a:spLocks noRot="1" noChangeAspect="1" noMove="1" noResize="1" noEditPoints="1" noAdjustHandles="1" noChangeArrowheads="1" noChangeShapeType="1" noTextEdit="1"/>
              </p:cNvSpPr>
              <p:nvPr/>
            </p:nvSpPr>
            <p:spPr>
              <a:xfrm>
                <a:off x="3117272" y="2230580"/>
                <a:ext cx="5496149" cy="899605"/>
              </a:xfrm>
              <a:prstGeom prst="rect">
                <a:avLst/>
              </a:prstGeom>
              <a:blipFill>
                <a:blip r:embed="rId3"/>
                <a:stretch>
                  <a:fillRect t="-131944" b="-1875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31024F-A7DE-1FBC-CEEC-15834AB23153}"/>
                  </a:ext>
                </a:extLst>
              </p:cNvPr>
              <p:cNvSpPr txBox="1"/>
              <p:nvPr/>
            </p:nvSpPr>
            <p:spPr>
              <a:xfrm>
                <a:off x="5832764" y="3261346"/>
                <a:ext cx="4599709" cy="736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r>
                                <a:rPr lang="en-US" b="0" i="1" smtClean="0">
                                  <a:latin typeface="Cambria Math" panose="02040503050406030204" pitchFamily="18" charset="0"/>
                                </a:rPr>
                                <m:t>𝑚</m:t>
                              </m:r>
                            </m:den>
                          </m:f>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b="0" i="1" smtClean="0">
                                      <a:latin typeface="Cambria Math" panose="02040503050406030204" pitchFamily="18" charset="0"/>
                                    </a:rPr>
                                    <m:t>𝑁</m:t>
                                  </m:r>
                                </m:sub>
                                <m:sup>
                                  <m:r>
                                    <a:rPr lang="en-US" i="1">
                                      <a:latin typeface="Cambria Math" panose="02040503050406030204" pitchFamily="18" charset="0"/>
                                    </a:rPr>
                                    <m:t>2</m:t>
                                  </m:r>
                                </m:sup>
                              </m:sSubSup>
                            </m:num>
                            <m:den>
                              <m:r>
                                <a:rPr lang="en-US" i="1">
                                  <a:latin typeface="Cambria Math" panose="02040503050406030204" pitchFamily="18" charset="0"/>
                                </a:rPr>
                                <m:t>2</m:t>
                              </m:r>
                              <m:r>
                                <a:rPr lang="en-US" i="1">
                                  <a:latin typeface="Cambria Math" panose="02040503050406030204" pitchFamily="18" charset="0"/>
                                </a:rPr>
                                <m:t>𝑚</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𝑝𝑜𝑡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e>
                      </m:d>
                    </m:oMath>
                  </m:oMathPara>
                </a14:m>
                <a:endParaRPr lang="en-CN" dirty="0"/>
              </a:p>
            </p:txBody>
          </p:sp>
        </mc:Choice>
        <mc:Fallback xmlns="">
          <p:sp>
            <p:nvSpPr>
              <p:cNvPr id="5" name="TextBox 4">
                <a:extLst>
                  <a:ext uri="{FF2B5EF4-FFF2-40B4-BE49-F238E27FC236}">
                    <a16:creationId xmlns:a16="http://schemas.microsoft.com/office/drawing/2014/main" id="{1731024F-A7DE-1FBC-CEEC-15834AB23153}"/>
                  </a:ext>
                </a:extLst>
              </p:cNvPr>
              <p:cNvSpPr txBox="1">
                <a:spLocks noRot="1" noChangeAspect="1" noMove="1" noResize="1" noEditPoints="1" noAdjustHandles="1" noChangeArrowheads="1" noChangeShapeType="1" noTextEdit="1"/>
              </p:cNvSpPr>
              <p:nvPr/>
            </p:nvSpPr>
            <p:spPr>
              <a:xfrm>
                <a:off x="5832764" y="3261346"/>
                <a:ext cx="4599709" cy="736933"/>
              </a:xfrm>
              <a:prstGeom prst="rect">
                <a:avLst/>
              </a:prstGeom>
              <a:blipFill>
                <a:blip r:embed="rId4"/>
                <a:stretch>
                  <a:fillRect/>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2955EDD4-1684-2FF6-2737-4E886BB95B9B}"/>
              </a:ext>
            </a:extLst>
          </p:cNvPr>
          <p:cNvSpPr/>
          <p:nvPr/>
        </p:nvSpPr>
        <p:spPr>
          <a:xfrm>
            <a:off x="5527964" y="3415765"/>
            <a:ext cx="193963" cy="4280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03CA7D-5427-7928-5C42-A7F3B68C3E52}"/>
                  </a:ext>
                </a:extLst>
              </p:cNvPr>
              <p:cNvSpPr txBox="1"/>
              <p:nvPr/>
            </p:nvSpPr>
            <p:spPr>
              <a:xfrm>
                <a:off x="1727200" y="4398517"/>
                <a:ext cx="9731022" cy="18763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200" i="1" smtClean="0">
                              <a:latin typeface="Cambria Math" panose="02040503050406030204" pitchFamily="18" charset="0"/>
                            </a:rPr>
                          </m:ctrlPr>
                        </m:sSubPr>
                        <m:e>
                          <m:r>
                            <a:rPr lang="en-US" sz="3200" b="0" i="1" smtClean="0">
                              <a:latin typeface="Cambria Math" panose="02040503050406030204" pitchFamily="18" charset="0"/>
                            </a:rPr>
                            <m:t>𝑍</m:t>
                          </m:r>
                        </m:e>
                        <m:sub>
                          <m:r>
                            <a:rPr lang="en-US" sz="3200" b="0" i="1" smtClean="0">
                              <a:latin typeface="Cambria Math" panose="02040503050406030204" pitchFamily="18" charset="0"/>
                            </a:rPr>
                            <m:t>𝑁</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𝑍</m:t>
                          </m:r>
                        </m:e>
                        <m:sub>
                          <m:r>
                            <a:rPr lang="en-US" sz="3200" b="0" i="1" smtClean="0">
                              <a:latin typeface="Cambria Math" panose="02040503050406030204" pitchFamily="18" charset="0"/>
                            </a:rPr>
                            <m:t>𝑖𝑑𝑒𝑎𝑙</m:t>
                          </m:r>
                        </m:sub>
                      </m:sSub>
                      <m:f>
                        <m:fPr>
                          <m:ctrlPr>
                            <a:rPr lang="en-US" sz="3200" b="0" i="1" smtClean="0">
                              <a:solidFill>
                                <a:srgbClr val="C00000"/>
                              </a:solidFill>
                              <a:latin typeface="Cambria Math" panose="02040503050406030204" pitchFamily="18" charset="0"/>
                            </a:rPr>
                          </m:ctrlPr>
                        </m:fPr>
                        <m:num>
                          <m:r>
                            <a:rPr lang="en-US" sz="3200" b="0" i="1" smtClean="0">
                              <a:solidFill>
                                <a:srgbClr val="C00000"/>
                              </a:solidFill>
                              <a:latin typeface="Cambria Math" panose="02040503050406030204" pitchFamily="18" charset="0"/>
                            </a:rPr>
                            <m:t>1</m:t>
                          </m:r>
                        </m:num>
                        <m:den>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𝑉</m:t>
                              </m:r>
                            </m:e>
                            <m:sup>
                              <m:r>
                                <a:rPr lang="en-US" sz="3200" b="0" i="1" smtClean="0">
                                  <a:solidFill>
                                    <a:srgbClr val="C00000"/>
                                  </a:solidFill>
                                  <a:latin typeface="Cambria Math" panose="02040503050406030204" pitchFamily="18" charset="0"/>
                                </a:rPr>
                                <m:t>𝑁</m:t>
                              </m:r>
                            </m:sup>
                          </m:sSup>
                        </m:den>
                      </m:f>
                      <m:nary>
                        <m:naryPr>
                          <m:limLoc m:val="undOvr"/>
                          <m:subHide m:val="on"/>
                          <m:supHide m:val="on"/>
                          <m:ctrlPr>
                            <a:rPr lang="en-US" sz="3200" b="0" i="1" smtClean="0">
                              <a:solidFill>
                                <a:srgbClr val="C00000"/>
                              </a:solidFill>
                              <a:latin typeface="Cambria Math" panose="02040503050406030204" pitchFamily="18" charset="0"/>
                            </a:rPr>
                          </m:ctrlPr>
                        </m:naryPr>
                        <m:sub/>
                        <m:sup/>
                        <m:e>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𝑑</m:t>
                              </m:r>
                            </m:e>
                            <m:sup>
                              <m:r>
                                <a:rPr lang="en-US" sz="3200" b="0" i="1" smtClean="0">
                                  <a:solidFill>
                                    <a:srgbClr val="C00000"/>
                                  </a:solidFill>
                                  <a:latin typeface="Cambria Math" panose="02040503050406030204" pitchFamily="18" charset="0"/>
                                </a:rPr>
                                <m:t>3</m:t>
                              </m:r>
                            </m:sup>
                          </m:sSup>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1</m:t>
                              </m:r>
                            </m:sub>
                          </m:sSub>
                          <m:r>
                            <a:rPr lang="en-US" sz="3200" b="0" i="1" smtClean="0">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r>
                                <a:rPr lang="en-US" sz="3200" i="1">
                                  <a:solidFill>
                                    <a:srgbClr val="C00000"/>
                                  </a:solidFill>
                                  <a:latin typeface="Cambria Math" panose="02040503050406030204" pitchFamily="18" charset="0"/>
                                </a:rPr>
                                <m:t>𝑑</m:t>
                              </m:r>
                            </m:e>
                            <m:sup>
                              <m:r>
                                <a:rPr lang="en-US" sz="3200" i="1">
                                  <a:solidFill>
                                    <a:srgbClr val="C00000"/>
                                  </a:solidFill>
                                  <a:latin typeface="Cambria Math" panose="02040503050406030204" pitchFamily="18" charset="0"/>
                                </a:rPr>
                                <m:t>3</m:t>
                              </m:r>
                            </m:sup>
                          </m:sSup>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𝑁</m:t>
                              </m:r>
                            </m:sub>
                          </m:sSub>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𝑒</m:t>
                              </m:r>
                            </m:e>
                            <m:sup>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ea typeface="Cambria Math" panose="02040503050406030204" pitchFamily="18" charset="0"/>
                                </a:rPr>
                                <m:t>𝛽</m:t>
                              </m:r>
                              <m:sSub>
                                <m:sSubPr>
                                  <m:ctrlPr>
                                    <a:rPr lang="en-US" sz="3200" b="0" i="1" smtClean="0">
                                      <a:solidFill>
                                        <a:srgbClr val="C00000"/>
                                      </a:solidFill>
                                      <a:latin typeface="Cambria Math" panose="02040503050406030204" pitchFamily="18" charset="0"/>
                                      <a:ea typeface="Cambria Math" panose="02040503050406030204" pitchFamily="18" charset="0"/>
                                    </a:rPr>
                                  </m:ctrlPr>
                                </m:sSubPr>
                                <m:e>
                                  <m:r>
                                    <a:rPr lang="en-US" sz="3200" b="0" i="1" smtClean="0">
                                      <a:solidFill>
                                        <a:srgbClr val="C00000"/>
                                      </a:solidFill>
                                      <a:latin typeface="Cambria Math" panose="02040503050406030204" pitchFamily="18" charset="0"/>
                                      <a:ea typeface="Cambria Math" panose="02040503050406030204" pitchFamily="18" charset="0"/>
                                    </a:rPr>
                                    <m:t>𝑈</m:t>
                                  </m:r>
                                </m:e>
                                <m:sub>
                                  <m:r>
                                    <a:rPr lang="en-US" sz="3200" b="0" i="1" smtClean="0">
                                      <a:solidFill>
                                        <a:srgbClr val="C00000"/>
                                      </a:solidFill>
                                      <a:latin typeface="Cambria Math" panose="02040503050406030204" pitchFamily="18" charset="0"/>
                                      <a:ea typeface="Cambria Math" panose="02040503050406030204" pitchFamily="18" charset="0"/>
                                    </a:rPr>
                                    <m:t>𝑝𝑜𝑡</m:t>
                                  </m:r>
                                </m:sub>
                              </m:sSub>
                              <m:r>
                                <a:rPr lang="en-US" sz="3200" b="0" i="1" smtClean="0">
                                  <a:solidFill>
                                    <a:srgbClr val="C00000"/>
                                  </a:solidFill>
                                  <a:latin typeface="Cambria Math" panose="02040503050406030204" pitchFamily="18" charset="0"/>
                                  <a:ea typeface="Cambria Math" panose="02040503050406030204" pitchFamily="18" charset="0"/>
                                </a:rPr>
                                <m:t>(</m:t>
                              </m:r>
                              <m:sSub>
                                <m:sSubPr>
                                  <m:ctrlPr>
                                    <a:rPr lang="en-US" sz="3200" i="1" smtClean="0">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𝑟</m:t>
                                  </m:r>
                                </m:e>
                                <m:sub>
                                  <m:r>
                                    <a:rPr lang="en-US" sz="3200" i="1">
                                      <a:solidFill>
                                        <a:srgbClr val="C00000"/>
                                      </a:solidFill>
                                      <a:latin typeface="Cambria Math" panose="02040503050406030204" pitchFamily="18" charset="0"/>
                                    </a:rPr>
                                    <m:t>1</m:t>
                                  </m:r>
                                </m:sub>
                              </m:sSub>
                              <m:r>
                                <a:rPr lang="en-US" sz="3200" i="1">
                                  <a:solidFill>
                                    <a:srgbClr val="C00000"/>
                                  </a:solidFill>
                                  <a:latin typeface="Cambria Math" panose="02040503050406030204" pitchFamily="18" charset="0"/>
                                </a:rPr>
                                <m:t>,…,</m:t>
                              </m:r>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𝑟</m:t>
                                  </m:r>
                                </m:e>
                                <m:sub>
                                  <m:r>
                                    <a:rPr lang="en-US" sz="3200" i="1">
                                      <a:solidFill>
                                        <a:srgbClr val="C00000"/>
                                      </a:solidFill>
                                      <a:latin typeface="Cambria Math" panose="02040503050406030204" pitchFamily="18" charset="0"/>
                                    </a:rPr>
                                    <m:t>𝑁</m:t>
                                  </m:r>
                                </m:sub>
                              </m:sSub>
                              <m:r>
                                <a:rPr lang="en-US" sz="3200" b="0" i="1" smtClean="0">
                                  <a:solidFill>
                                    <a:srgbClr val="C00000"/>
                                  </a:solidFill>
                                  <a:latin typeface="Cambria Math" panose="02040503050406030204" pitchFamily="18" charset="0"/>
                                  <a:ea typeface="Cambria Math" panose="02040503050406030204" pitchFamily="18" charset="0"/>
                                </a:rPr>
                                <m:t>)</m:t>
                              </m:r>
                            </m:sup>
                          </m:sSup>
                        </m:e>
                      </m:nary>
                      <m:r>
                        <a:rPr lang="en-US" sz="3200" b="0" i="1" smtClean="0">
                          <a:solidFill>
                            <a:schemeClr val="tx1"/>
                          </a:solidFill>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𝑍</m:t>
                          </m:r>
                        </m:e>
                        <m:sub>
                          <m:r>
                            <a:rPr lang="en-US" sz="3200" i="1">
                              <a:latin typeface="Cambria Math" panose="02040503050406030204" pitchFamily="18" charset="0"/>
                            </a:rPr>
                            <m:t>𝑖𝑑𝑒𝑎𝑙</m:t>
                          </m:r>
                        </m:sub>
                      </m:sSub>
                      <m:r>
                        <a:rPr lang="en-US" sz="3200" b="0" i="1" smtClean="0">
                          <a:latin typeface="Cambria Math" panose="02040503050406030204" pitchFamily="18" charset="0"/>
                        </a:rPr>
                        <m:t> </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𝑍</m:t>
                          </m:r>
                        </m:e>
                        <m:sub>
                          <m:r>
                            <a:rPr lang="en-US" sz="3200" b="0" i="1" smtClean="0">
                              <a:solidFill>
                                <a:srgbClr val="C00000"/>
                              </a:solidFill>
                              <a:latin typeface="Cambria Math" panose="02040503050406030204" pitchFamily="18" charset="0"/>
                            </a:rPr>
                            <m:t>𝑐</m:t>
                          </m:r>
                        </m:sub>
                      </m:sSub>
                      <m:r>
                        <a:rPr lang="en-US" altLang="zh-CN" sz="3200" b="0" i="1" smtClean="0">
                          <a:solidFill>
                            <a:srgbClr val="C00000"/>
                          </a:solidFill>
                          <a:latin typeface="Cambria Math" panose="02040503050406030204" pitchFamily="18" charset="0"/>
                        </a:rPr>
                        <m:t>=</m:t>
                      </m:r>
                      <m:d>
                        <m:dPr>
                          <m:begChr m:val="["/>
                          <m:endChr m:val="]"/>
                          <m:ctrlPr>
                            <a:rPr lang="en-US" altLang="zh-CN" sz="3200" b="0" i="1" smtClean="0">
                              <a:solidFill>
                                <a:schemeClr val="tx1"/>
                              </a:solidFill>
                              <a:latin typeface="Cambria Math" panose="02040503050406030204" pitchFamily="18" charset="0"/>
                            </a:rPr>
                          </m:ctrlPr>
                        </m:dPr>
                        <m:e>
                          <m:r>
                            <a:rPr lang="en-US" altLang="zh-CN" sz="3200" b="0" i="1" smtClean="0">
                              <a:solidFill>
                                <a:schemeClr val="tx1"/>
                              </a:solidFill>
                              <a:latin typeface="Cambria Math" panose="02040503050406030204" pitchFamily="18" charset="0"/>
                            </a:rPr>
                            <m:t>𝑖𝑑𝑒𝑎𝑙</m:t>
                          </m:r>
                          <m:r>
                            <a:rPr lang="en-US" altLang="zh-CN" sz="3200" b="0" i="1" smtClean="0">
                              <a:solidFill>
                                <a:schemeClr val="tx1"/>
                              </a:solidFill>
                              <a:latin typeface="Cambria Math" panose="02040503050406030204" pitchFamily="18" charset="0"/>
                            </a:rPr>
                            <m:t> </m:t>
                          </m:r>
                          <m:r>
                            <a:rPr lang="en-US" altLang="zh-CN" sz="3200" b="0" i="1" smtClean="0">
                              <a:solidFill>
                                <a:schemeClr val="tx1"/>
                              </a:solidFill>
                              <a:latin typeface="Cambria Math" panose="02040503050406030204" pitchFamily="18" charset="0"/>
                            </a:rPr>
                            <m:t>𝑔𝑎𝑠𝑠</m:t>
                          </m:r>
                        </m:e>
                      </m:d>
                      <m:r>
                        <a:rPr lang="en-US" altLang="zh-CN" sz="3200" b="0" i="1" smtClean="0">
                          <a:solidFill>
                            <a:srgbClr val="C00000"/>
                          </a:solidFill>
                          <a:latin typeface="Cambria Math" panose="02040503050406030204" pitchFamily="18" charset="0"/>
                        </a:rPr>
                        <m:t>[</m:t>
                      </m:r>
                      <m:r>
                        <a:rPr lang="en-US" altLang="zh-CN" sz="3200" b="0" i="1" smtClean="0">
                          <a:solidFill>
                            <a:srgbClr val="C00000"/>
                          </a:solidFill>
                          <a:latin typeface="Cambria Math" panose="02040503050406030204" pitchFamily="18" charset="0"/>
                        </a:rPr>
                        <m:t>𝑇𝑒𝑟𝑚</m:t>
                      </m:r>
                      <m:r>
                        <a:rPr lang="en-US" altLang="zh-CN" sz="3200" b="0" i="1" smtClean="0">
                          <a:solidFill>
                            <a:srgbClr val="C00000"/>
                          </a:solidFill>
                          <a:latin typeface="Cambria Math" panose="02040503050406030204" pitchFamily="18" charset="0"/>
                        </a:rPr>
                        <m:t> </m:t>
                      </m:r>
                      <m:r>
                        <a:rPr lang="en-US" altLang="zh-CN" sz="3200" b="0" i="1" smtClean="0">
                          <a:solidFill>
                            <a:srgbClr val="C00000"/>
                          </a:solidFill>
                          <a:latin typeface="Cambria Math" panose="02040503050406030204" pitchFamily="18" charset="0"/>
                        </a:rPr>
                        <m:t>𝑑𝑢𝑒</m:t>
                      </m:r>
                      <m:r>
                        <a:rPr lang="en-US" altLang="zh-CN" sz="3200" b="0" i="1" smtClean="0">
                          <a:solidFill>
                            <a:srgbClr val="C00000"/>
                          </a:solidFill>
                          <a:latin typeface="Cambria Math" panose="02040503050406030204" pitchFamily="18" charset="0"/>
                        </a:rPr>
                        <m:t> </m:t>
                      </m:r>
                      <m:r>
                        <a:rPr lang="en-US" altLang="zh-CN" sz="3200" b="0" i="1" smtClean="0">
                          <a:solidFill>
                            <a:srgbClr val="C00000"/>
                          </a:solidFill>
                          <a:latin typeface="Cambria Math" panose="02040503050406030204" pitchFamily="18" charset="0"/>
                        </a:rPr>
                        <m:t>𝑡𝑜</m:t>
                      </m:r>
                      <m:r>
                        <a:rPr lang="en-US" altLang="zh-CN" sz="3200" b="0" i="1" smtClean="0">
                          <a:solidFill>
                            <a:srgbClr val="C00000"/>
                          </a:solidFill>
                          <a:latin typeface="Cambria Math" panose="02040503050406030204" pitchFamily="18" charset="0"/>
                        </a:rPr>
                        <m:t> </m:t>
                      </m:r>
                      <m:r>
                        <a:rPr lang="en-US" altLang="zh-CN" sz="3200" b="0" i="1" smtClean="0">
                          <a:solidFill>
                            <a:srgbClr val="C00000"/>
                          </a:solidFill>
                          <a:latin typeface="Cambria Math" panose="02040503050406030204" pitchFamily="18" charset="0"/>
                        </a:rPr>
                        <m:t>𝑖𝑛𝑡𝑒𝑟𝑎𝑐𝑡𝑖𝑜𝑛</m:t>
                      </m:r>
                      <m:r>
                        <a:rPr lang="en-US" altLang="zh-CN" sz="3200" b="0" i="1" smtClean="0">
                          <a:solidFill>
                            <a:srgbClr val="C00000"/>
                          </a:solidFill>
                          <a:latin typeface="Cambria Math" panose="02040503050406030204" pitchFamily="18" charset="0"/>
                        </a:rPr>
                        <m:t>]</m:t>
                      </m:r>
                    </m:oMath>
                  </m:oMathPara>
                </a14:m>
                <a:endParaRPr lang="en-CN" sz="3200" dirty="0"/>
              </a:p>
            </p:txBody>
          </p:sp>
        </mc:Choice>
        <mc:Fallback xmlns="">
          <p:sp>
            <p:nvSpPr>
              <p:cNvPr id="7" name="TextBox 6">
                <a:extLst>
                  <a:ext uri="{FF2B5EF4-FFF2-40B4-BE49-F238E27FC236}">
                    <a16:creationId xmlns:a16="http://schemas.microsoft.com/office/drawing/2014/main" id="{7203CA7D-5427-7928-5C42-A7F3B68C3E52}"/>
                  </a:ext>
                </a:extLst>
              </p:cNvPr>
              <p:cNvSpPr txBox="1">
                <a:spLocks noRot="1" noChangeAspect="1" noMove="1" noResize="1" noEditPoints="1" noAdjustHandles="1" noChangeArrowheads="1" noChangeShapeType="1" noTextEdit="1"/>
              </p:cNvSpPr>
              <p:nvPr/>
            </p:nvSpPr>
            <p:spPr>
              <a:xfrm>
                <a:off x="1727200" y="4398517"/>
                <a:ext cx="9731022" cy="1876347"/>
              </a:xfrm>
              <a:prstGeom prst="rect">
                <a:avLst/>
              </a:prstGeom>
              <a:blipFill>
                <a:blip r:embed="rId5"/>
                <a:stretch>
                  <a:fillRect t="-105405" b="-121622"/>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5B0FBDA0-8DD7-2F33-EFD5-C9AE372BDE6E}"/>
              </a:ext>
            </a:extLst>
          </p:cNvPr>
          <p:cNvSpPr txBox="1"/>
          <p:nvPr/>
        </p:nvSpPr>
        <p:spPr>
          <a:xfrm>
            <a:off x="484909" y="332509"/>
            <a:ext cx="5043055" cy="646331"/>
          </a:xfrm>
          <a:prstGeom prst="rect">
            <a:avLst/>
          </a:prstGeom>
          <a:noFill/>
        </p:spPr>
        <p:txBody>
          <a:bodyPr wrap="square" rtlCol="0">
            <a:spAutoFit/>
          </a:bodyPr>
          <a:lstStyle/>
          <a:p>
            <a:r>
              <a:rPr lang="en-CN" sz="3600" dirty="0">
                <a:latin typeface="FangSong" panose="02010609060101010101" pitchFamily="49" charset="-122"/>
                <a:ea typeface="FangSong" panose="02010609060101010101" pitchFamily="49" charset="-122"/>
              </a:rPr>
              <a:t>从配分函数出发</a:t>
            </a:r>
          </a:p>
        </p:txBody>
      </p:sp>
    </p:spTree>
    <p:extLst>
      <p:ext uri="{BB962C8B-B14F-4D97-AF65-F5344CB8AC3E}">
        <p14:creationId xmlns:p14="http://schemas.microsoft.com/office/powerpoint/2010/main" val="385800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C6641-0559-0875-EEB7-DE4E2EBC45B5}"/>
              </a:ext>
            </a:extLst>
          </p:cNvPr>
          <p:cNvSpPr txBox="1"/>
          <p:nvPr/>
        </p:nvSpPr>
        <p:spPr>
          <a:xfrm>
            <a:off x="609600" y="484909"/>
            <a:ext cx="10161069" cy="369332"/>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仅考虑两体相互作用(目前能够把握的一件事情</a:t>
            </a:r>
            <a:r>
              <a:rPr lang="zh-CN" altLang="en-US" dirty="0">
                <a:latin typeface="Songti TC" panose="02010600040101010101" pitchFamily="2" charset="-120"/>
                <a:ea typeface="Songti TC" panose="02010600040101010101" pitchFamily="2" charset="-120"/>
              </a:rPr>
              <a:t>，三体等更复杂的相互作用</a:t>
            </a:r>
            <a:r>
              <a:rPr lang="en-CN" dirty="0">
                <a:latin typeface="Songti TC" panose="02010600040101010101" pitchFamily="2" charset="-120"/>
                <a:ea typeface="Songti TC" panose="02010600040101010101" pitchFamily="2" charset="-120"/>
              </a:rPr>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0CC961-727E-48D0-FBA1-EC3D087FAB0B}"/>
                  </a:ext>
                </a:extLst>
              </p:cNvPr>
              <p:cNvSpPr txBox="1"/>
              <p:nvPr/>
            </p:nvSpPr>
            <p:spPr>
              <a:xfrm>
                <a:off x="3016827" y="854241"/>
                <a:ext cx="6158346" cy="31393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20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𝑝𝑜𝑡</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1</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𝑁</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12</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13</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23</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24</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oMath>
                  </m:oMathPara>
                </a14:m>
                <a:endParaRPr lang="en-US" sz="3200" b="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𝑁</m:t>
                          </m:r>
                          <m:r>
                            <a:rPr lang="en-US" sz="3200" b="0" i="1" smtClean="0">
                              <a:solidFill>
                                <a:srgbClr val="C00000"/>
                              </a:solidFill>
                              <a:latin typeface="Cambria Math" panose="02040503050406030204" pitchFamily="18" charset="0"/>
                            </a:rPr>
                            <m:t>−1 </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14:m>
                  <m:oMath xmlns:m="http://schemas.openxmlformats.org/officeDocument/2006/math">
                    <m:r>
                      <a:rPr lang="en-US" sz="3200" b="0" i="1" smtClean="0">
                        <a:solidFill>
                          <a:srgbClr val="C00000"/>
                        </a:solidFill>
                        <a:latin typeface="Cambria Math" panose="02040503050406030204" pitchFamily="18" charset="0"/>
                      </a:rPr>
                      <m:t>=</m:t>
                    </m:r>
                    <m:nary>
                      <m:naryPr>
                        <m:chr m:val="∑"/>
                        <m:supHide m:val="on"/>
                        <m:ctrlPr>
                          <a:rPr lang="en-US" sz="3200" b="0" i="1" smtClean="0">
                            <a:solidFill>
                              <a:srgbClr val="C00000"/>
                            </a:solidFill>
                            <a:latin typeface="Cambria Math" panose="02040503050406030204" pitchFamily="18" charset="0"/>
                          </a:rPr>
                        </m:ctrlPr>
                      </m:naryPr>
                      <m:sub>
                        <m:r>
                          <m:rPr>
                            <m:brk m:alnAt="7"/>
                          </m:rPr>
                          <a:rPr lang="en-US" sz="3200" b="0" i="1" smtClean="0">
                            <a:solidFill>
                              <a:srgbClr val="C00000"/>
                            </a:solidFill>
                            <a:latin typeface="Cambria Math" panose="02040503050406030204" pitchFamily="18" charset="0"/>
                          </a:rPr>
                          <m:t>𝑝</m:t>
                        </m:r>
                        <m:r>
                          <a:rPr lang="en-US" sz="3200" b="0" i="1" smtClean="0">
                            <a:solidFill>
                              <a:srgbClr val="C00000"/>
                            </a:solidFill>
                            <a:latin typeface="Cambria Math" panose="02040503050406030204" pitchFamily="18" charset="0"/>
                          </a:rPr>
                          <m:t>𝑎𝑖𝑟𝑠</m:t>
                        </m:r>
                      </m:sub>
                      <m:sup/>
                      <m:e>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𝑖𝑗</m:t>
                            </m:r>
                          </m:sub>
                        </m:sSub>
                      </m:e>
                    </m:nary>
                  </m:oMath>
                </a14:m>
                <a:r>
                  <a:rPr lang="en-CN" sz="3200" dirty="0"/>
                  <a:t>, </a:t>
                </a:r>
                <a14:m>
                  <m:oMath xmlns:m="http://schemas.openxmlformats.org/officeDocument/2006/math">
                    <m:r>
                      <a:rPr lang="en-US" sz="3200" b="0" i="0" smtClean="0">
                        <a:latin typeface="Cambria Math" panose="02040503050406030204" pitchFamily="18" charset="0"/>
                      </a:rPr>
                      <m:t>(</m:t>
                    </m:r>
                    <m:r>
                      <a:rPr lang="en-US" sz="3200" b="0" i="1" smtClean="0">
                        <a:latin typeface="Cambria Math" panose="02040503050406030204" pitchFamily="18" charset="0"/>
                      </a:rPr>
                      <m:t>𝑖</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𝑗</m:t>
                    </m:r>
                    <m:r>
                      <a:rPr lang="en-US" sz="3200" b="0" i="1" smtClean="0">
                        <a:latin typeface="Cambria Math" panose="02040503050406030204" pitchFamily="18" charset="0"/>
                        <a:ea typeface="Cambria Math" panose="02040503050406030204" pitchFamily="18" charset="0"/>
                      </a:rPr>
                      <m:t>, </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𝑈</m:t>
                        </m:r>
                      </m:e>
                      <m:sub>
                        <m:r>
                          <a:rPr lang="en-US" sz="3200" b="0" i="1" smtClean="0">
                            <a:latin typeface="Cambria Math" panose="02040503050406030204" pitchFamily="18" charset="0"/>
                            <a:ea typeface="Cambria Math" panose="02040503050406030204" pitchFamily="18" charset="0"/>
                          </a:rPr>
                          <m:t>𝑖𝑗</m:t>
                        </m:r>
                      </m:sub>
                    </m:sSub>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𝑈</m:t>
                        </m:r>
                      </m:e>
                      <m:sub>
                        <m:r>
                          <a:rPr lang="en-US" sz="3200" b="0" i="1" smtClean="0">
                            <a:latin typeface="Cambria Math" panose="02040503050406030204" pitchFamily="18" charset="0"/>
                            <a:ea typeface="Cambria Math" panose="02040503050406030204" pitchFamily="18" charset="0"/>
                          </a:rPr>
                          <m:t>𝑗𝑖</m:t>
                        </m:r>
                      </m:sub>
                    </m:sSub>
                    <m:r>
                      <a:rPr lang="en-US" sz="3200" b="0" i="1" smtClean="0">
                        <a:latin typeface="Cambria Math" panose="02040503050406030204" pitchFamily="18" charset="0"/>
                        <a:ea typeface="Cambria Math" panose="02040503050406030204" pitchFamily="18" charset="0"/>
                      </a:rPr>
                      <m:t>)</m:t>
                    </m:r>
                  </m:oMath>
                </a14:m>
                <a:endParaRPr lang="en-CN" sz="3200" dirty="0"/>
              </a:p>
            </p:txBody>
          </p:sp>
        </mc:Choice>
        <mc:Fallback xmlns="">
          <p:sp>
            <p:nvSpPr>
              <p:cNvPr id="3" name="TextBox 2">
                <a:extLst>
                  <a:ext uri="{FF2B5EF4-FFF2-40B4-BE49-F238E27FC236}">
                    <a16:creationId xmlns:a16="http://schemas.microsoft.com/office/drawing/2014/main" id="{310CC961-727E-48D0-FBA1-EC3D087FAB0B}"/>
                  </a:ext>
                </a:extLst>
              </p:cNvPr>
              <p:cNvSpPr txBox="1">
                <a:spLocks noRot="1" noChangeAspect="1" noMove="1" noResize="1" noEditPoints="1" noAdjustHandles="1" noChangeArrowheads="1" noChangeShapeType="1" noTextEdit="1"/>
              </p:cNvSpPr>
              <p:nvPr/>
            </p:nvSpPr>
            <p:spPr>
              <a:xfrm>
                <a:off x="3016827" y="854241"/>
                <a:ext cx="6158346" cy="3139386"/>
              </a:xfrm>
              <a:prstGeom prst="rect">
                <a:avLst/>
              </a:prstGeom>
              <a:blipFill>
                <a:blip r:embed="rId2"/>
                <a:stretch>
                  <a:fillRect l="-3704" b="-358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CAA4213-5933-3D30-22FB-B655A05454F9}"/>
                  </a:ext>
                </a:extLst>
              </p:cNvPr>
              <p:cNvSpPr txBox="1"/>
              <p:nvPr/>
            </p:nvSpPr>
            <p:spPr>
              <a:xfrm>
                <a:off x="734291" y="3972055"/>
                <a:ext cx="6331527" cy="411395"/>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相互作用势只依赖于两粒子间的距离</a:t>
                </a:r>
                <a:r>
                  <a:rPr lang="zh-CN" altLang="en-US" dirty="0"/>
                  <a:t>， </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𝑗</m:t>
                            </m:r>
                          </m:sub>
                        </m:sSub>
                      </m:e>
                    </m:d>
                  </m:oMath>
                </a14:m>
                <a:endParaRPr lang="en-CN" dirty="0"/>
              </a:p>
            </p:txBody>
          </p:sp>
        </mc:Choice>
        <mc:Fallback xmlns="">
          <p:sp>
            <p:nvSpPr>
              <p:cNvPr id="4" name="TextBox 3">
                <a:extLst>
                  <a:ext uri="{FF2B5EF4-FFF2-40B4-BE49-F238E27FC236}">
                    <a16:creationId xmlns:a16="http://schemas.microsoft.com/office/drawing/2014/main" id="{5CAA4213-5933-3D30-22FB-B655A05454F9}"/>
                  </a:ext>
                </a:extLst>
              </p:cNvPr>
              <p:cNvSpPr txBox="1">
                <a:spLocks noRot="1" noChangeAspect="1" noMove="1" noResize="1" noEditPoints="1" noAdjustHandles="1" noChangeArrowheads="1" noChangeShapeType="1" noTextEdit="1"/>
              </p:cNvSpPr>
              <p:nvPr/>
            </p:nvSpPr>
            <p:spPr>
              <a:xfrm>
                <a:off x="734291" y="3972055"/>
                <a:ext cx="6331527" cy="411395"/>
              </a:xfrm>
              <a:prstGeom prst="rect">
                <a:avLst/>
              </a:prstGeom>
              <a:blipFill>
                <a:blip r:embed="rId3"/>
                <a:stretch>
                  <a:fillRect l="-600" b="-176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ED9C255-19FE-B5EE-CBD5-5E1EB2A26935}"/>
                  </a:ext>
                </a:extLst>
              </p:cNvPr>
              <p:cNvSpPr txBox="1"/>
              <p:nvPr/>
            </p:nvSpPr>
            <p:spPr>
              <a:xfrm>
                <a:off x="3255818" y="4696691"/>
                <a:ext cx="6016337"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𝑎𝑖𝑟𝑠</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𝑖𝑗</m:t>
                                      </m:r>
                                    </m:sub>
                                  </m:sSub>
                                </m:e>
                              </m:nary>
                            </m:sup>
                          </m:sSup>
                        </m:e>
                      </m:nary>
                    </m:oMath>
                  </m:oMathPara>
                </a14:m>
                <a:endParaRPr lang="en-CN" dirty="0"/>
              </a:p>
            </p:txBody>
          </p:sp>
        </mc:Choice>
        <mc:Fallback xmlns="">
          <p:sp>
            <p:nvSpPr>
              <p:cNvPr id="5" name="TextBox 4">
                <a:extLst>
                  <a:ext uri="{FF2B5EF4-FFF2-40B4-BE49-F238E27FC236}">
                    <a16:creationId xmlns:a16="http://schemas.microsoft.com/office/drawing/2014/main" id="{8ED9C255-19FE-B5EE-CBD5-5E1EB2A26935}"/>
                  </a:ext>
                </a:extLst>
              </p:cNvPr>
              <p:cNvSpPr txBox="1">
                <a:spLocks noRot="1" noChangeAspect="1" noMove="1" noResize="1" noEditPoints="1" noAdjustHandles="1" noChangeArrowheads="1" noChangeShapeType="1" noTextEdit="1"/>
              </p:cNvSpPr>
              <p:nvPr/>
            </p:nvSpPr>
            <p:spPr>
              <a:xfrm>
                <a:off x="3255818" y="4696691"/>
                <a:ext cx="6016337" cy="818814"/>
              </a:xfrm>
              <a:prstGeom prst="rect">
                <a:avLst/>
              </a:prstGeom>
              <a:blipFill>
                <a:blip r:embed="rId4"/>
                <a:stretch>
                  <a:fillRect t="-128788" b="-18636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843827-0B81-87F6-7A1D-60EAC6389776}"/>
                  </a:ext>
                </a:extLst>
              </p:cNvPr>
              <p:cNvSpPr txBox="1"/>
              <p:nvPr/>
            </p:nvSpPr>
            <p:spPr>
              <a:xfrm>
                <a:off x="845127" y="5961696"/>
                <a:ext cx="8908473" cy="391646"/>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相互作用势在距离无穷远处趋于零</a:t>
                </a:r>
                <a:r>
                  <a:rPr lang="zh-CN" altLang="en-US" dirty="0">
                    <a:latin typeface="Songti TC" panose="02010600040101010101" pitchFamily="2" charset="-120"/>
                    <a:ea typeface="Songti TC" panose="02010600040101010101" pitchFamily="2" charset="-120"/>
                  </a:rPr>
                  <a:t>，且弱</a:t>
                </a:r>
                <a:r>
                  <a:rPr lang="zh-CN" altLang="en-US"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𝑖𝑗</m:t>
                        </m:r>
                      </m:sub>
                    </m:sSub>
                    <m:r>
                      <a:rPr lang="en-US" altLang="zh-CN"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𝜏</m:t>
                    </m:r>
                  </m:oMath>
                </a14:m>
                <a:r>
                  <a:rPr lang="en-CN" dirty="0"/>
                  <a:t>.</a:t>
                </a:r>
              </a:p>
            </p:txBody>
          </p:sp>
        </mc:Choice>
        <mc:Fallback xmlns="">
          <p:sp>
            <p:nvSpPr>
              <p:cNvPr id="6" name="TextBox 5">
                <a:extLst>
                  <a:ext uri="{FF2B5EF4-FFF2-40B4-BE49-F238E27FC236}">
                    <a16:creationId xmlns:a16="http://schemas.microsoft.com/office/drawing/2014/main" id="{EF843827-0B81-87F6-7A1D-60EAC6389776}"/>
                  </a:ext>
                </a:extLst>
              </p:cNvPr>
              <p:cNvSpPr txBox="1">
                <a:spLocks noRot="1" noChangeAspect="1" noMove="1" noResize="1" noEditPoints="1" noAdjustHandles="1" noChangeArrowheads="1" noChangeShapeType="1" noTextEdit="1"/>
              </p:cNvSpPr>
              <p:nvPr/>
            </p:nvSpPr>
            <p:spPr>
              <a:xfrm>
                <a:off x="845127" y="5961696"/>
                <a:ext cx="8908473" cy="391646"/>
              </a:xfrm>
              <a:prstGeom prst="rect">
                <a:avLst/>
              </a:prstGeom>
              <a:blipFill>
                <a:blip r:embed="rId5"/>
                <a:stretch>
                  <a:fillRect l="-427" t="-6250" b="-18750"/>
                </a:stretch>
              </a:blipFill>
            </p:spPr>
            <p:txBody>
              <a:bodyPr/>
              <a:lstStyle/>
              <a:p>
                <a:r>
                  <a:rPr lang="en-CN">
                    <a:noFill/>
                  </a:rPr>
                  <a:t> </a:t>
                </a:r>
              </a:p>
            </p:txBody>
          </p:sp>
        </mc:Fallback>
      </mc:AlternateContent>
    </p:spTree>
    <p:extLst>
      <p:ext uri="{BB962C8B-B14F-4D97-AF65-F5344CB8AC3E}">
        <p14:creationId xmlns:p14="http://schemas.microsoft.com/office/powerpoint/2010/main" val="390310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54B0091-E72C-EE88-4C07-B084CC7C10D1}"/>
                  </a:ext>
                </a:extLst>
              </p:cNvPr>
              <p:cNvSpPr txBox="1"/>
              <p:nvPr/>
            </p:nvSpPr>
            <p:spPr>
              <a:xfrm>
                <a:off x="706581" y="350606"/>
                <a:ext cx="10778837" cy="4432047"/>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Songti TC" panose="02010600040101010101" pitchFamily="2" charset="-120"/>
                    <a:ea typeface="Songti TC" panose="02010600040101010101" pitchFamily="2" charset="-120"/>
                  </a:rPr>
                  <a:t>定义Mayer函数</a:t>
                </a:r>
                <a:r>
                  <a:rPr lang="zh-CN" altLang="en-US" dirty="0">
                    <a:latin typeface="Songti TC" panose="02010600040101010101" pitchFamily="2" charset="-120"/>
                    <a:ea typeface="Songti TC" panose="02010600040101010101" pitchFamily="2" charset="-120"/>
                  </a:rPr>
                  <a:t>，</a:t>
                </a:r>
                <a:endParaRPr lang="en-US" altLang="zh-CN" dirty="0">
                  <a:latin typeface="Songti TC" panose="02010600040101010101" pitchFamily="2" charset="-120"/>
                  <a:ea typeface="Songti TC" panose="02010600040101010101" pitchFamily="2" charset="-12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CN"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𝑖𝑗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𝑖𝑗</m:t>
                              </m:r>
                            </m:sub>
                          </m:sSub>
                        </m:sup>
                      </m:sSup>
                    </m:oMath>
                  </m:oMathPara>
                </a14:m>
                <a:endParaRPr lang="en-CN" dirty="0"/>
              </a:p>
              <a:p>
                <a:pPr marL="285750" indent="-285750">
                  <a:buFont typeface="Arial" panose="020B0604020202020204" pitchFamily="34" charset="0"/>
                  <a:buChar char="•"/>
                </a:pPr>
                <a:r>
                  <a:rPr lang="en-CN" dirty="0">
                    <a:latin typeface="Songti TC" panose="02010600040101010101" pitchFamily="2" charset="-120"/>
                    <a:ea typeface="Songti TC" panose="02010600040101010101" pitchFamily="2" charset="-120"/>
                  </a:rPr>
                  <a:t>那么</a:t>
                </a:r>
              </a:p>
              <a:p>
                <a:pPr algn="ct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𝑎𝑖𝑟𝑠</m:t>
                              </m:r>
                            </m:sub>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𝑢</m:t>
                                  </m:r>
                                </m:e>
                                <m:sub>
                                  <m:r>
                                    <a:rPr lang="en-US" i="1">
                                      <a:latin typeface="Cambria Math" panose="02040503050406030204" pitchFamily="18" charset="0"/>
                                      <a:ea typeface="Cambria Math" panose="02040503050406030204" pitchFamily="18" charset="0"/>
                                    </a:rPr>
                                    <m:t>𝑖𝑗</m:t>
                                  </m:r>
                                </m:sub>
                              </m:sSub>
                            </m:e>
                          </m:nary>
                        </m:sup>
                      </m:sSup>
                      <m:r>
                        <a:rPr lang="en-US" b="0" i="1" smtClean="0">
                          <a:latin typeface="Cambria Math" panose="02040503050406030204" pitchFamily="18" charset="0"/>
                          <a:ea typeface="Cambria Math" panose="02040503050406030204" pitchFamily="18" charset="0"/>
                        </a:rPr>
                        <m:t>=</m:t>
                      </m:r>
                      <m:nary>
                        <m:naryPr>
                          <m:chr m:val="∏"/>
                          <m:subHide m:val="on"/>
                          <m:supHide m:val="on"/>
                          <m:ctrlPr>
                            <a:rPr lang="en-US" b="0" i="1" smtClean="0">
                              <a:latin typeface="Cambria Math" panose="02040503050406030204" pitchFamily="18" charset="0"/>
                              <a:ea typeface="Cambria Math" panose="02040503050406030204" pitchFamily="18" charset="0"/>
                            </a:rPr>
                          </m:ctrlPr>
                        </m:naryPr>
                        <m:sub/>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𝑖𝑗</m:t>
                                  </m:r>
                                </m:sub>
                              </m:sSub>
                            </m:sup>
                          </m:sSup>
                          <m:r>
                            <a:rPr lang="en-US" b="0" i="1" smtClean="0">
                              <a:latin typeface="Cambria Math" panose="02040503050406030204" pitchFamily="18" charset="0"/>
                              <a:ea typeface="Cambria Math" panose="02040503050406030204" pitchFamily="18" charset="0"/>
                            </a:rPr>
                            <m:t>=</m:t>
                          </m:r>
                          <m:nary>
                            <m:naryPr>
                              <m:chr m:val="∏"/>
                              <m:subHide m:val="on"/>
                              <m:supHide m:val="on"/>
                              <m:ctrlPr>
                                <a:rPr lang="en-US" b="0" i="1" smtClean="0">
                                  <a:latin typeface="Cambria Math" panose="02040503050406030204" pitchFamily="18" charset="0"/>
                                  <a:ea typeface="Cambria Math" panose="02040503050406030204" pitchFamily="18" charset="0"/>
                                </a:rPr>
                              </m:ctrlPr>
                            </m:naryPr>
                            <m:sub/>
                            <m:sup/>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𝑖𝑗</m:t>
                                      </m:r>
                                    </m:sub>
                                  </m:sSub>
                                </m:e>
                              </m:d>
                              <m:r>
                                <a:rPr lang="en-US" b="0" i="1" smtClean="0">
                                  <a:latin typeface="Cambria Math" panose="02040503050406030204" pitchFamily="18" charset="0"/>
                                  <a:ea typeface="Cambria Math" panose="02040503050406030204" pitchFamily="18" charset="0"/>
                                </a:rPr>
                                <m:t>=</m:t>
                              </m:r>
                            </m:e>
                          </m:nary>
                        </m:e>
                      </m:nary>
                    </m:oMath>
                  </m:oMathPara>
                </a14:m>
                <a:endParaRPr lang="en-CN" dirty="0"/>
              </a:p>
              <a:p>
                <a:pPr algn="ctr"/>
                <a14:m>
                  <m:oMathPara xmlns:m="http://schemas.openxmlformats.org/officeDocument/2006/math">
                    <m:oMathParaPr>
                      <m:jc m:val="centerGroup"/>
                    </m:oMathParaPr>
                    <m:oMath xmlns:m="http://schemas.openxmlformats.org/officeDocument/2006/math">
                      <m:d>
                        <m:dPr>
                          <m:ctrlPr>
                            <a:rPr lang="en-CN"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e>
                      </m:d>
                      <m:r>
                        <a:rPr lang="en-CN" i="1" smtClean="0">
                          <a:latin typeface="Cambria Math" panose="02040503050406030204" pitchFamily="18" charset="0"/>
                          <a:ea typeface="Cambria Math" panose="02040503050406030204" pitchFamily="18" charset="0"/>
                        </a:rPr>
                        <m:t>×</m:t>
                      </m:r>
                      <m:d>
                        <m:dPr>
                          <m:ctrlPr>
                            <a:rPr lang="en-CN"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13</m:t>
                              </m:r>
                            </m:sub>
                          </m:sSub>
                        </m:e>
                      </m:d>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r>
                                <a:rPr lang="en-US" b="0" i="1" smtClean="0">
                                  <a:latin typeface="Cambria Math" panose="02040503050406030204" pitchFamily="18" charset="0"/>
                                </a:rPr>
                                <m:t>𝑁</m:t>
                              </m:r>
                            </m:sub>
                          </m:sSub>
                        </m:e>
                      </m:d>
                    </m:oMath>
                  </m:oMathPara>
                </a14:m>
                <a:endParaRPr lang="en-US" b="0" dirty="0"/>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d>
                        <m:dPr>
                          <m:ctrlPr>
                            <a:rPr lang="en-CN"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23</m:t>
                              </m:r>
                            </m:sub>
                          </m:sSub>
                        </m:e>
                      </m:d>
                      <m:r>
                        <a:rPr lang="en-CN" i="1" smtClean="0">
                          <a:latin typeface="Cambria Math" panose="02040503050406030204" pitchFamily="18" charset="0"/>
                          <a:ea typeface="Cambria Math" panose="02040503050406030204" pitchFamily="18" charset="0"/>
                        </a:rPr>
                        <m:t>×</m:t>
                      </m:r>
                      <m:d>
                        <m:dPr>
                          <m:ctrlPr>
                            <a:rPr lang="en-CN"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24</m:t>
                              </m:r>
                            </m:sub>
                          </m:sSub>
                        </m:e>
                      </m:d>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r>
                                <a:rPr lang="en-US" b="0" i="1" smtClean="0">
                                  <a:latin typeface="Cambria Math" panose="02040503050406030204" pitchFamily="18" charset="0"/>
                                </a:rPr>
                                <m:t>𝑁</m:t>
                              </m:r>
                            </m:sub>
                          </m:sSub>
                        </m:e>
                      </m:d>
                    </m:oMath>
                  </m:oMathPara>
                </a14:m>
                <a:endParaRPr lang="en-CN" dirty="0"/>
              </a:p>
              <a:p>
                <a:pPr algn="ctr"/>
                <a:r>
                  <a:rPr lang="en-CN" dirty="0"/>
                  <a:t>…</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d>
                        <m:dPr>
                          <m:ctrlPr>
                            <a:rPr lang="en-CN"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𝑁</m:t>
                              </m:r>
                              <m:r>
                                <a:rPr lang="en-US" b="0" i="1" smtClean="0">
                                  <a:latin typeface="Cambria Math" panose="02040503050406030204" pitchFamily="18" charset="0"/>
                                </a:rPr>
                                <m:t>−1 </m:t>
                              </m:r>
                              <m:r>
                                <a:rPr lang="en-US" b="0" i="1" smtClean="0">
                                  <a:latin typeface="Cambria Math" panose="02040503050406030204" pitchFamily="18" charset="0"/>
                                </a:rPr>
                                <m:t>𝑁</m:t>
                              </m:r>
                            </m:sub>
                          </m:sSub>
                        </m:e>
                      </m:d>
                    </m:oMath>
                  </m:oMathPara>
                </a14:m>
                <a:endParaRPr lang="en-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nary>
                        <m:naryPr>
                          <m:chr m:val="∑"/>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𝑖𝑗</m:t>
                              </m:r>
                            </m:sub>
                          </m:sSub>
                        </m:e>
                      </m:nary>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𝑘𝑙</m:t>
                              </m:r>
                            </m:sub>
                          </m:sSub>
                          <m:r>
                            <a:rPr lang="en-US" b="0" i="1" smtClean="0">
                              <a:latin typeface="Cambria Math" panose="02040503050406030204" pitchFamily="18" charset="0"/>
                            </a:rPr>
                            <m:t>+…</m:t>
                          </m:r>
                        </m:e>
                      </m:nary>
                    </m:oMath>
                  </m:oMathPara>
                </a14:m>
                <a:endParaRPr lang="en-CN" dirty="0"/>
              </a:p>
              <a:p>
                <a:pPr marL="285750" indent="-285750">
                  <a:buFont typeface="Arial" panose="020B0604020202020204" pitchFamily="34" charset="0"/>
                  <a:buChar char="•"/>
                </a:pPr>
                <a:r>
                  <a:rPr lang="en-CN" dirty="0">
                    <a:latin typeface="Songti TC" panose="02010600040101010101" pitchFamily="2" charset="-120"/>
                    <a:ea typeface="Songti TC" panose="02010600040101010101" pitchFamily="2" charset="-120"/>
                  </a:rPr>
                  <a:t>配分函数</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e>
                      </m:nary>
                      <m:d>
                        <m:dPr>
                          <m:ctrlPr>
                            <a:rPr lang="en-US" b="0" i="1" smtClean="0">
                              <a:latin typeface="Cambria Math" panose="02040503050406030204" pitchFamily="18" charset="0"/>
                            </a:rPr>
                          </m:ctrlPr>
                        </m:dPr>
                        <m:e>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𝑖𝑗</m:t>
                                  </m:r>
                                </m:sub>
                              </m:sSub>
                            </m:e>
                          </m:nary>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𝑘𝑙</m:t>
                                  </m:r>
                                </m:sub>
                              </m:sSub>
                              <m:r>
                                <a:rPr lang="en-US" i="1">
                                  <a:latin typeface="Cambria Math" panose="02040503050406030204" pitchFamily="18" charset="0"/>
                                </a:rPr>
                                <m:t>+…</m:t>
                              </m:r>
                            </m:e>
                          </m:nary>
                        </m:e>
                      </m:d>
                    </m:oMath>
                  </m:oMathPara>
                </a14:m>
                <a:endParaRPr lang="en-CN" dirty="0"/>
              </a:p>
            </p:txBody>
          </p:sp>
        </mc:Choice>
        <mc:Fallback xmlns="">
          <p:sp>
            <p:nvSpPr>
              <p:cNvPr id="2" name="TextBox 1">
                <a:extLst>
                  <a:ext uri="{FF2B5EF4-FFF2-40B4-BE49-F238E27FC236}">
                    <a16:creationId xmlns:a16="http://schemas.microsoft.com/office/drawing/2014/main" id="{254B0091-E72C-EE88-4C07-B084CC7C10D1}"/>
                  </a:ext>
                </a:extLst>
              </p:cNvPr>
              <p:cNvSpPr txBox="1">
                <a:spLocks noRot="1" noChangeAspect="1" noMove="1" noResize="1" noEditPoints="1" noAdjustHandles="1" noChangeArrowheads="1" noChangeShapeType="1" noTextEdit="1"/>
              </p:cNvSpPr>
              <p:nvPr/>
            </p:nvSpPr>
            <p:spPr>
              <a:xfrm>
                <a:off x="706581" y="350606"/>
                <a:ext cx="10778837" cy="4432047"/>
              </a:xfrm>
              <a:prstGeom prst="rect">
                <a:avLst/>
              </a:prstGeom>
              <a:blipFill>
                <a:blip r:embed="rId2"/>
                <a:stretch>
                  <a:fillRect l="-353" t="-1429" b="-35143"/>
                </a:stretch>
              </a:blipFill>
            </p:spPr>
            <p:txBody>
              <a:bodyPr/>
              <a:lstStyle/>
              <a:p>
                <a:r>
                  <a:rPr lang="en-CN">
                    <a:noFill/>
                  </a:rPr>
                  <a:t> </a:t>
                </a:r>
              </a:p>
            </p:txBody>
          </p:sp>
        </mc:Fallback>
      </mc:AlternateContent>
    </p:spTree>
    <p:extLst>
      <p:ext uri="{BB962C8B-B14F-4D97-AF65-F5344CB8AC3E}">
        <p14:creationId xmlns:p14="http://schemas.microsoft.com/office/powerpoint/2010/main" val="3512444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4D4F0D-430D-E4E1-53A6-20ABB3552793}"/>
                  </a:ext>
                </a:extLst>
              </p:cNvPr>
              <p:cNvSpPr txBox="1"/>
              <p:nvPr/>
            </p:nvSpPr>
            <p:spPr>
              <a:xfrm>
                <a:off x="845127" y="1893547"/>
                <a:ext cx="10972800" cy="3772379"/>
              </a:xfrm>
              <a:prstGeom prst="rect">
                <a:avLst/>
              </a:prstGeom>
              <a:noFill/>
            </p:spPr>
            <p:txBody>
              <a:bodyPr wrap="square" rtlCol="0">
                <a:spAutoFit/>
              </a:bodyPr>
              <a:lstStyle/>
              <a:p>
                <a:r>
                  <a:rPr lang="zh-CN" altLang="en-US" sz="3200" dirty="0"/>
                  <a:t>（第一项）</a:t>
                </a:r>
                <a:endParaRPr lang="en-CN" sz="3200" i="1" dirty="0">
                  <a:latin typeface="Cambria Math" panose="02040503050406030204" pitchFamily="18" charset="0"/>
                </a:endParaRPr>
              </a:p>
              <a:p>
                <a:pPr marL="285750" indent="-285750">
                  <a:buFont typeface="Wingdings" pitchFamily="2" charset="2"/>
                  <a:buChar char="q"/>
                </a:pPr>
                <a14:m>
                  <m:oMath xmlns:m="http://schemas.openxmlformats.org/officeDocument/2006/math">
                    <m:f>
                      <m:fPr>
                        <m:ctrlPr>
                          <a:rPr lang="en-CN" sz="3200" i="1" smtClean="0">
                            <a:latin typeface="Cambria Math" panose="02040503050406030204" pitchFamily="18" charset="0"/>
                          </a:rPr>
                        </m:ctrlPr>
                      </m:fPr>
                      <m:num>
                        <m:r>
                          <a:rPr lang="en-US" sz="3200" b="0" i="1" smtClean="0">
                            <a:latin typeface="Cambria Math" panose="02040503050406030204" pitchFamily="18" charset="0"/>
                          </a:rPr>
                          <m:t>1</m:t>
                        </m:r>
                      </m:num>
                      <m:den>
                        <m:sSup>
                          <m:sSupPr>
                            <m:ctrlPr>
                              <a:rPr lang="en-CN" sz="3200" i="1" smtClean="0">
                                <a:latin typeface="Cambria Math" panose="02040503050406030204" pitchFamily="18" charset="0"/>
                              </a:rPr>
                            </m:ctrlPr>
                          </m:sSupPr>
                          <m:e>
                            <m:r>
                              <a:rPr lang="en-US" sz="3200" b="0" i="1" smtClean="0">
                                <a:latin typeface="Cambria Math" panose="02040503050406030204" pitchFamily="18" charset="0"/>
                              </a:rPr>
                              <m:t>𝑉</m:t>
                            </m:r>
                          </m:e>
                          <m:sup>
                            <m:r>
                              <a:rPr lang="en-US" sz="3200" b="0" i="1" smtClean="0">
                                <a:latin typeface="Cambria Math" panose="02040503050406030204" pitchFamily="18" charset="0"/>
                              </a:rPr>
                              <m:t>𝑁</m:t>
                            </m:r>
                          </m:sup>
                        </m:sSup>
                      </m:den>
                    </m:f>
                    <m:nary>
                      <m:naryPr>
                        <m:limLoc m:val="undOvr"/>
                        <m:subHide m:val="on"/>
                        <m:supHide m:val="on"/>
                        <m:ctrlPr>
                          <a:rPr lang="en-CN" sz="3200" i="1" smtClean="0">
                            <a:latin typeface="Cambria Math" panose="02040503050406030204" pitchFamily="18" charset="0"/>
                          </a:rPr>
                        </m:ctrlPr>
                      </m:naryPr>
                      <m:sub/>
                      <m:sup/>
                      <m:e>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𝑁</m:t>
                            </m:r>
                          </m:sub>
                        </m:sSub>
                      </m:e>
                    </m:nary>
                    <m:d>
                      <m:dPr>
                        <m:ctrlPr>
                          <a:rPr lang="en-CN" sz="3200" i="1" smtClean="0">
                            <a:latin typeface="Cambria Math" panose="02040503050406030204" pitchFamily="18" charset="0"/>
                          </a:rPr>
                        </m:ctrlPr>
                      </m:dPr>
                      <m:e>
                        <m:r>
                          <a:rPr lang="en-US" sz="3200" b="0" i="1" smtClean="0">
                            <a:solidFill>
                              <a:srgbClr val="FF0000"/>
                            </a:solidFill>
                            <a:latin typeface="Cambria Math" panose="02040503050406030204" pitchFamily="18" charset="0"/>
                          </a:rPr>
                          <m:t>1</m:t>
                        </m:r>
                      </m:e>
                    </m:d>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endParaRPr lang="en-US" altLang="zh-CN" sz="3200" dirty="0"/>
              </a:p>
              <a:p>
                <a:r>
                  <a:rPr lang="zh-CN" altLang="en-US" sz="3200" dirty="0"/>
                  <a:t>（第二项）</a:t>
                </a:r>
                <a:endParaRPr lang="en-US" sz="3200" b="0" i="1" dirty="0">
                  <a:latin typeface="Cambria Math" panose="02040503050406030204" pitchFamily="18" charset="0"/>
                </a:endParaRPr>
              </a:p>
              <a:p>
                <a:pPr marL="285750" indent="-285750">
                  <a:buFont typeface="Wingdings" pitchFamily="2" charset="2"/>
                  <a:buChar char="q"/>
                </a:pPr>
                <a14:m>
                  <m:oMath xmlns:m="http://schemas.openxmlformats.org/officeDocument/2006/math">
                    <m:f>
                      <m:fPr>
                        <m:ctrlPr>
                          <a:rPr lang="en-CN" sz="3200" i="1">
                            <a:latin typeface="Cambria Math" panose="02040503050406030204" pitchFamily="18" charset="0"/>
                          </a:rPr>
                        </m:ctrlPr>
                      </m:fPr>
                      <m:num>
                        <m:r>
                          <a:rPr lang="en-US" sz="3200" i="1">
                            <a:latin typeface="Cambria Math" panose="02040503050406030204" pitchFamily="18" charset="0"/>
                          </a:rPr>
                          <m:t>1</m:t>
                        </m:r>
                      </m:num>
                      <m:den>
                        <m:sSup>
                          <m:sSupPr>
                            <m:ctrlPr>
                              <a:rPr lang="en-CN" sz="3200" i="1">
                                <a:latin typeface="Cambria Math" panose="02040503050406030204" pitchFamily="18" charset="0"/>
                              </a:rPr>
                            </m:ctrlPr>
                          </m:sSupPr>
                          <m:e>
                            <m:r>
                              <a:rPr lang="en-US" sz="3200" i="1">
                                <a:latin typeface="Cambria Math" panose="02040503050406030204" pitchFamily="18" charset="0"/>
                              </a:rPr>
                              <m:t>𝑉</m:t>
                            </m:r>
                          </m:e>
                          <m:sup>
                            <m:r>
                              <a:rPr lang="en-US" sz="3200" i="1">
                                <a:latin typeface="Cambria Math" panose="02040503050406030204" pitchFamily="18" charset="0"/>
                              </a:rPr>
                              <m:t>𝑁</m:t>
                            </m:r>
                          </m:sup>
                        </m:sSup>
                      </m:den>
                    </m:f>
                    <m:nary>
                      <m:naryPr>
                        <m:limLoc m:val="undOvr"/>
                        <m:subHide m:val="on"/>
                        <m:supHide m:val="on"/>
                        <m:ctrlPr>
                          <a:rPr lang="en-CN" sz="3200" i="1">
                            <a:latin typeface="Cambria Math" panose="02040503050406030204" pitchFamily="18" charset="0"/>
                          </a:rPr>
                        </m:ctrlPr>
                      </m:naryPr>
                      <m:sub/>
                      <m:sup/>
                      <m:e>
                        <m:r>
                          <a:rPr lang="en-US" sz="3200" i="1">
                            <a:latin typeface="Cambria Math" panose="02040503050406030204" pitchFamily="18" charset="0"/>
                          </a:rPr>
                          <m:t>𝑑</m:t>
                        </m:r>
                        <m:sSub>
                          <m:sSubPr>
                            <m:ctrlPr>
                              <a:rPr lang="en-US" sz="3200" i="1">
                                <a:latin typeface="Cambria Math" panose="02040503050406030204" pitchFamily="18" charset="0"/>
                              </a:rPr>
                            </m:ctrlPr>
                          </m:sSubPr>
                          <m:e>
                            <m:r>
                              <a:rPr lang="en-US" sz="3200" i="1">
                                <a:latin typeface="Cambria Math" panose="02040503050406030204" pitchFamily="18" charset="0"/>
                              </a:rPr>
                              <m:t>𝑟</m:t>
                            </m:r>
                          </m:e>
                          <m:sub>
                            <m:r>
                              <a:rPr lang="en-US" sz="3200" i="1">
                                <a:latin typeface="Cambria Math" panose="02040503050406030204" pitchFamily="18" charset="0"/>
                              </a:rPr>
                              <m:t>1</m:t>
                            </m:r>
                          </m:sub>
                        </m:sSub>
                        <m:r>
                          <a:rPr lang="en-US" sz="3200" i="1">
                            <a:latin typeface="Cambria Math" panose="02040503050406030204" pitchFamily="18" charset="0"/>
                          </a:rPr>
                          <m:t>…</m:t>
                        </m:r>
                        <m:r>
                          <a:rPr lang="en-US" sz="3200" i="1">
                            <a:latin typeface="Cambria Math" panose="02040503050406030204" pitchFamily="18" charset="0"/>
                          </a:rPr>
                          <m:t>𝑑</m:t>
                        </m:r>
                        <m:sSub>
                          <m:sSubPr>
                            <m:ctrlPr>
                              <a:rPr lang="en-US" sz="3200" i="1">
                                <a:latin typeface="Cambria Math" panose="02040503050406030204" pitchFamily="18" charset="0"/>
                              </a:rPr>
                            </m:ctrlPr>
                          </m:sSubPr>
                          <m:e>
                            <m:r>
                              <a:rPr lang="en-US" sz="3200" i="1">
                                <a:latin typeface="Cambria Math" panose="02040503050406030204" pitchFamily="18" charset="0"/>
                              </a:rPr>
                              <m:t>𝑟</m:t>
                            </m:r>
                          </m:e>
                          <m:sub>
                            <m:r>
                              <a:rPr lang="en-US" sz="3200" i="1">
                                <a:latin typeface="Cambria Math" panose="02040503050406030204" pitchFamily="18" charset="0"/>
                              </a:rPr>
                              <m:t>𝑁</m:t>
                            </m:r>
                          </m:sub>
                        </m:sSub>
                      </m:e>
                    </m:nary>
                    <m:d>
                      <m:dPr>
                        <m:ctrlPr>
                          <a:rPr lang="en-CN" sz="3200" i="1">
                            <a:latin typeface="Cambria Math" panose="02040503050406030204" pitchFamily="18" charset="0"/>
                          </a:rPr>
                        </m:ctrlPr>
                      </m:dPr>
                      <m:e>
                        <m:sSub>
                          <m:sSubPr>
                            <m:ctrlPr>
                              <a:rPr lang="en-CN" sz="320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𝑓</m:t>
                            </m:r>
                          </m:e>
                          <m:sub>
                            <m:r>
                              <a:rPr lang="en-US" sz="3200" b="0" i="1" smtClean="0">
                                <a:solidFill>
                                  <a:srgbClr val="FF0000"/>
                                </a:solidFill>
                                <a:latin typeface="Cambria Math" panose="02040503050406030204" pitchFamily="18" charset="0"/>
                              </a:rPr>
                              <m:t>12</m:t>
                            </m:r>
                          </m:sub>
                        </m:sSub>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𝑉</m:t>
                            </m:r>
                          </m:e>
                          <m:sup>
                            <m:r>
                              <a:rPr lang="en-US" sz="3200" b="0" i="1" smtClean="0">
                                <a:latin typeface="Cambria Math" panose="02040503050406030204" pitchFamily="18" charset="0"/>
                              </a:rPr>
                              <m:t>𝑁</m:t>
                            </m:r>
                            <m:r>
                              <a:rPr lang="en-US" sz="3200" b="0" i="1" smtClean="0">
                                <a:latin typeface="Cambria Math" panose="02040503050406030204" pitchFamily="18" charset="0"/>
                              </a:rPr>
                              <m:t>−2</m:t>
                            </m:r>
                          </m:sup>
                        </m:sSup>
                      </m:num>
                      <m:den>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𝑉</m:t>
                            </m:r>
                          </m:e>
                          <m:sup>
                            <m:r>
                              <a:rPr lang="en-US" sz="3200" b="0" i="1" smtClean="0">
                                <a:latin typeface="Cambria Math" panose="02040503050406030204" pitchFamily="18" charset="0"/>
                              </a:rPr>
                              <m:t>𝑁</m:t>
                            </m:r>
                          </m:sup>
                        </m:sSup>
                      </m:den>
                    </m:f>
                    <m:nary>
                      <m:naryPr>
                        <m:limLoc m:val="undOvr"/>
                        <m:subHide m:val="on"/>
                        <m:supHide m:val="on"/>
                        <m:ctrlPr>
                          <a:rPr lang="en-US" sz="3200" b="0" i="1" smtClean="0">
                            <a:latin typeface="Cambria Math" panose="02040503050406030204" pitchFamily="18" charset="0"/>
                          </a:rPr>
                        </m:ctrlPr>
                      </m:naryPr>
                      <m:sub/>
                      <m:sup/>
                      <m:e>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2</m:t>
                            </m:r>
                          </m:sub>
                        </m:sSub>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𝑓</m:t>
                                </m:r>
                              </m:e>
                              <m:sub>
                                <m:r>
                                  <a:rPr lang="en-US" sz="3200" b="0" i="1" smtClean="0">
                                    <a:latin typeface="Cambria Math" panose="02040503050406030204" pitchFamily="18" charset="0"/>
                                  </a:rPr>
                                  <m:t>12</m:t>
                                </m:r>
                              </m:sub>
                            </m:sSub>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𝑉</m:t>
                                </m:r>
                              </m:e>
                              <m:sup>
                                <m:r>
                                  <a:rPr lang="en-US" sz="3200" b="0" i="1" smtClean="0">
                                    <a:latin typeface="Cambria Math" panose="02040503050406030204" pitchFamily="18" charset="0"/>
                                  </a:rPr>
                                  <m:t>2</m:t>
                                </m:r>
                              </m:sup>
                            </m:sSup>
                          </m:den>
                        </m:f>
                        <m:nary>
                          <m:naryPr>
                            <m:limLoc m:val="undOvr"/>
                            <m:subHide m:val="on"/>
                            <m:supHide m:val="on"/>
                            <m:ctrlPr>
                              <a:rPr lang="en-US" sz="3200" b="0" i="1" smtClean="0">
                                <a:latin typeface="Cambria Math" panose="02040503050406030204" pitchFamily="18" charset="0"/>
                              </a:rPr>
                            </m:ctrlPr>
                          </m:naryPr>
                          <m:sub/>
                          <m:sup/>
                          <m:e>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𝑟</m:t>
                                </m:r>
                              </m:e>
                              <m:sub>
                                <m:r>
                                  <a:rPr lang="en-US" sz="3200" b="0" i="1" smtClean="0">
                                    <a:latin typeface="Cambria Math" panose="02040503050406030204" pitchFamily="18" charset="0"/>
                                  </a:rPr>
                                  <m:t>2</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𝑓</m:t>
                                </m:r>
                              </m:e>
                              <m:sub>
                                <m:r>
                                  <a:rPr lang="en-US" sz="3200" b="0" i="1" smtClean="0">
                                    <a:latin typeface="Cambria Math" panose="02040503050406030204" pitchFamily="18" charset="0"/>
                                  </a:rPr>
                                  <m:t>12</m:t>
                                </m:r>
                              </m:sub>
                            </m:sSub>
                          </m:e>
                        </m:nary>
                      </m:e>
                    </m:nary>
                  </m:oMath>
                </a14:m>
                <a:endParaRPr lang="en-CN" sz="3200" dirty="0"/>
              </a:p>
              <a:p>
                <a:pPr marL="285750" indent="-285750">
                  <a:buFont typeface="Wingdings" pitchFamily="2" charset="2"/>
                  <a:buChar char="q"/>
                </a:pPr>
                <a14:m>
                  <m:oMath xmlns:m="http://schemas.openxmlformats.org/officeDocument/2006/math">
                    <m:f>
                      <m:fPr>
                        <m:ctrlPr>
                          <a:rPr lang="en-CN" sz="3200" i="1">
                            <a:latin typeface="Cambria Math" panose="02040503050406030204" pitchFamily="18" charset="0"/>
                          </a:rPr>
                        </m:ctrlPr>
                      </m:fPr>
                      <m:num>
                        <m:r>
                          <a:rPr lang="en-US" sz="3200" i="1">
                            <a:latin typeface="Cambria Math" panose="02040503050406030204" pitchFamily="18" charset="0"/>
                          </a:rPr>
                          <m:t>1</m:t>
                        </m:r>
                      </m:num>
                      <m:den>
                        <m:sSup>
                          <m:sSupPr>
                            <m:ctrlPr>
                              <a:rPr lang="en-CN" sz="3200" i="1">
                                <a:latin typeface="Cambria Math" panose="02040503050406030204" pitchFamily="18" charset="0"/>
                              </a:rPr>
                            </m:ctrlPr>
                          </m:sSupPr>
                          <m:e>
                            <m:r>
                              <a:rPr lang="en-US" sz="3200" i="1">
                                <a:latin typeface="Cambria Math" panose="02040503050406030204" pitchFamily="18" charset="0"/>
                              </a:rPr>
                              <m:t>𝑉</m:t>
                            </m:r>
                          </m:e>
                          <m:sup>
                            <m:r>
                              <a:rPr lang="en-US" sz="3200" i="1">
                                <a:latin typeface="Cambria Math" panose="02040503050406030204" pitchFamily="18" charset="0"/>
                              </a:rPr>
                              <m:t>𝑁</m:t>
                            </m:r>
                          </m:sup>
                        </m:sSup>
                      </m:den>
                    </m:f>
                    <m:nary>
                      <m:naryPr>
                        <m:limLoc m:val="undOvr"/>
                        <m:subHide m:val="on"/>
                        <m:supHide m:val="on"/>
                        <m:ctrlPr>
                          <a:rPr lang="en-CN" sz="3200" i="1">
                            <a:latin typeface="Cambria Math" panose="02040503050406030204" pitchFamily="18" charset="0"/>
                          </a:rPr>
                        </m:ctrlPr>
                      </m:naryPr>
                      <m:sub/>
                      <m:sup/>
                      <m:e>
                        <m:r>
                          <a:rPr lang="en-US" sz="3200" i="1">
                            <a:latin typeface="Cambria Math" panose="02040503050406030204" pitchFamily="18" charset="0"/>
                          </a:rPr>
                          <m:t>𝑑</m:t>
                        </m:r>
                        <m:sSub>
                          <m:sSubPr>
                            <m:ctrlPr>
                              <a:rPr lang="en-US" sz="3200" i="1">
                                <a:latin typeface="Cambria Math" panose="02040503050406030204" pitchFamily="18" charset="0"/>
                              </a:rPr>
                            </m:ctrlPr>
                          </m:sSubPr>
                          <m:e>
                            <m:r>
                              <a:rPr lang="en-US" sz="3200" i="1">
                                <a:latin typeface="Cambria Math" panose="02040503050406030204" pitchFamily="18" charset="0"/>
                              </a:rPr>
                              <m:t>𝑟</m:t>
                            </m:r>
                          </m:e>
                          <m:sub>
                            <m:r>
                              <a:rPr lang="en-US" sz="3200" i="1">
                                <a:latin typeface="Cambria Math" panose="02040503050406030204" pitchFamily="18" charset="0"/>
                              </a:rPr>
                              <m:t>1</m:t>
                            </m:r>
                          </m:sub>
                        </m:sSub>
                        <m:r>
                          <a:rPr lang="en-US" sz="3200" i="1">
                            <a:latin typeface="Cambria Math" panose="02040503050406030204" pitchFamily="18" charset="0"/>
                          </a:rPr>
                          <m:t>…</m:t>
                        </m:r>
                        <m:r>
                          <a:rPr lang="en-US" sz="3200" i="1">
                            <a:latin typeface="Cambria Math" panose="02040503050406030204" pitchFamily="18" charset="0"/>
                          </a:rPr>
                          <m:t>𝑑</m:t>
                        </m:r>
                        <m:sSub>
                          <m:sSubPr>
                            <m:ctrlPr>
                              <a:rPr lang="en-US" sz="3200" i="1">
                                <a:latin typeface="Cambria Math" panose="02040503050406030204" pitchFamily="18" charset="0"/>
                              </a:rPr>
                            </m:ctrlPr>
                          </m:sSubPr>
                          <m:e>
                            <m:r>
                              <a:rPr lang="en-US" sz="3200" i="1">
                                <a:latin typeface="Cambria Math" panose="02040503050406030204" pitchFamily="18" charset="0"/>
                              </a:rPr>
                              <m:t>𝑟</m:t>
                            </m:r>
                          </m:e>
                          <m:sub>
                            <m:r>
                              <a:rPr lang="en-US" sz="3200" i="1">
                                <a:latin typeface="Cambria Math" panose="02040503050406030204" pitchFamily="18" charset="0"/>
                              </a:rPr>
                              <m:t>𝑁</m:t>
                            </m:r>
                          </m:sub>
                        </m:sSub>
                      </m:e>
                    </m:nary>
                    <m:d>
                      <m:dPr>
                        <m:ctrlPr>
                          <a:rPr lang="en-CN" sz="3200" i="1">
                            <a:latin typeface="Cambria Math" panose="02040503050406030204" pitchFamily="18" charset="0"/>
                          </a:rPr>
                        </m:ctrlPr>
                      </m:dPr>
                      <m:e>
                        <m:nary>
                          <m:naryPr>
                            <m:chr m:val="∑"/>
                            <m:supHide m:val="on"/>
                            <m:ctrlPr>
                              <a:rPr lang="en-CN" sz="3200" i="1" smtClean="0">
                                <a:solidFill>
                                  <a:srgbClr val="FF0000"/>
                                </a:solidFill>
                                <a:latin typeface="Cambria Math" panose="02040503050406030204" pitchFamily="18" charset="0"/>
                              </a:rPr>
                            </m:ctrlPr>
                          </m:naryPr>
                          <m:sub/>
                          <m:sup/>
                          <m:e>
                            <m:sSub>
                              <m:sSubPr>
                                <m:ctrlPr>
                                  <a:rPr lang="en-CN" sz="320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𝑓</m:t>
                                </m:r>
                              </m:e>
                              <m:sub>
                                <m:r>
                                  <a:rPr lang="en-US" sz="3200" b="0" i="1" smtClean="0">
                                    <a:solidFill>
                                      <a:srgbClr val="FF0000"/>
                                    </a:solidFill>
                                    <a:latin typeface="Cambria Math" panose="02040503050406030204" pitchFamily="18" charset="0"/>
                                  </a:rPr>
                                  <m:t>𝑖𝑗</m:t>
                                </m:r>
                              </m:sub>
                            </m:sSub>
                          </m:e>
                        </m:nary>
                      </m:e>
                    </m:d>
                    <m:r>
                      <a:rPr lang="en-US" sz="3200" b="0" i="1" smtClean="0">
                        <a:latin typeface="Cambria Math" panose="02040503050406030204" pitchFamily="18" charset="0"/>
                      </a:rPr>
                      <m:t>=</m:t>
                    </m:r>
                    <m:f>
                      <m:fPr>
                        <m:ctrlPr>
                          <a:rPr lang="en-US" sz="3200" b="0" i="1" smtClean="0">
                            <a:solidFill>
                              <a:srgbClr val="C00000"/>
                            </a:solidFill>
                            <a:latin typeface="Cambria Math" panose="02040503050406030204" pitchFamily="18" charset="0"/>
                          </a:rPr>
                        </m:ctrlPr>
                      </m:fPr>
                      <m:num>
                        <m:r>
                          <a:rPr lang="en-US" sz="3200" b="0" i="1" smtClean="0">
                            <a:solidFill>
                              <a:srgbClr val="C00000"/>
                            </a:solidFill>
                            <a:latin typeface="Cambria Math" panose="02040503050406030204" pitchFamily="18" charset="0"/>
                          </a:rPr>
                          <m:t>1</m:t>
                        </m:r>
                      </m:num>
                      <m:den>
                        <m:r>
                          <a:rPr lang="en-US" sz="3200" b="0" i="1" smtClean="0">
                            <a:solidFill>
                              <a:srgbClr val="C00000"/>
                            </a:solidFill>
                            <a:latin typeface="Cambria Math" panose="02040503050406030204" pitchFamily="18" charset="0"/>
                          </a:rPr>
                          <m:t>2</m:t>
                        </m:r>
                      </m:den>
                    </m:f>
                    <m:f>
                      <m:fPr>
                        <m:ctrlPr>
                          <a:rPr lang="en-US" sz="3200" b="0" i="1" smtClean="0">
                            <a:solidFill>
                              <a:srgbClr val="C00000"/>
                            </a:solidFill>
                            <a:latin typeface="Cambria Math" panose="02040503050406030204" pitchFamily="18" charset="0"/>
                          </a:rPr>
                        </m:ctrlPr>
                      </m:fPr>
                      <m:num>
                        <m:r>
                          <a:rPr lang="en-US" sz="3200" b="0" i="1" smtClean="0">
                            <a:solidFill>
                              <a:srgbClr val="C00000"/>
                            </a:solidFill>
                            <a:latin typeface="Cambria Math" panose="02040503050406030204" pitchFamily="18" charset="0"/>
                          </a:rPr>
                          <m:t>𝑁</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𝑁</m:t>
                        </m:r>
                        <m:r>
                          <a:rPr lang="en-US" sz="3200" b="0" i="1" smtClean="0">
                            <a:solidFill>
                              <a:srgbClr val="C00000"/>
                            </a:solidFill>
                            <a:latin typeface="Cambria Math" panose="02040503050406030204" pitchFamily="18" charset="0"/>
                          </a:rPr>
                          <m:t>−1)</m:t>
                        </m:r>
                      </m:num>
                      <m:den>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𝑉</m:t>
                            </m:r>
                          </m:e>
                          <m:sup>
                            <m:r>
                              <a:rPr lang="en-US" sz="3200" b="0" i="1" smtClean="0">
                                <a:solidFill>
                                  <a:srgbClr val="C00000"/>
                                </a:solidFill>
                                <a:latin typeface="Cambria Math" panose="02040503050406030204" pitchFamily="18" charset="0"/>
                              </a:rPr>
                              <m:t>2</m:t>
                            </m:r>
                          </m:sup>
                        </m:sSup>
                      </m:den>
                    </m:f>
                  </m:oMath>
                </a14:m>
                <a:r>
                  <a:rPr lang="en-US" sz="3200" dirty="0">
                    <a:solidFill>
                      <a:srgbClr val="C00000"/>
                    </a:solidFill>
                  </a:rPr>
                  <a:t> </a:t>
                </a:r>
                <a14:m>
                  <m:oMath xmlns:m="http://schemas.openxmlformats.org/officeDocument/2006/math">
                    <m:nary>
                      <m:naryPr>
                        <m:limLoc m:val="undOvr"/>
                        <m:subHide m:val="on"/>
                        <m:supHide m:val="on"/>
                        <m:ctrlPr>
                          <a:rPr lang="en-US" sz="3200" i="1">
                            <a:solidFill>
                              <a:srgbClr val="C00000"/>
                            </a:solidFill>
                            <a:latin typeface="Cambria Math" panose="02040503050406030204" pitchFamily="18" charset="0"/>
                          </a:rPr>
                        </m:ctrlPr>
                      </m:naryPr>
                      <m:sub/>
                      <m:sup/>
                      <m:e>
                        <m:r>
                          <a:rPr lang="en-US" sz="3200" i="1">
                            <a:solidFill>
                              <a:srgbClr val="C00000"/>
                            </a:solidFill>
                            <a:latin typeface="Cambria Math" panose="02040503050406030204" pitchFamily="18" charset="0"/>
                          </a:rPr>
                          <m:t>𝑑</m:t>
                        </m:r>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𝑟</m:t>
                            </m:r>
                          </m:e>
                          <m:sub>
                            <m:r>
                              <a:rPr lang="en-US" sz="3200" i="1">
                                <a:solidFill>
                                  <a:srgbClr val="C00000"/>
                                </a:solidFill>
                                <a:latin typeface="Cambria Math" panose="02040503050406030204" pitchFamily="18" charset="0"/>
                              </a:rPr>
                              <m:t>1</m:t>
                            </m:r>
                          </m:sub>
                        </m:sSub>
                        <m:r>
                          <a:rPr lang="en-US" sz="3200" i="1">
                            <a:solidFill>
                              <a:srgbClr val="C00000"/>
                            </a:solidFill>
                            <a:latin typeface="Cambria Math" panose="02040503050406030204" pitchFamily="18" charset="0"/>
                          </a:rPr>
                          <m:t>𝑑</m:t>
                        </m:r>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𝑟</m:t>
                            </m:r>
                          </m:e>
                          <m:sub>
                            <m:r>
                              <a:rPr lang="en-US" sz="3200" i="1">
                                <a:solidFill>
                                  <a:srgbClr val="C00000"/>
                                </a:solidFill>
                                <a:latin typeface="Cambria Math" panose="02040503050406030204" pitchFamily="18" charset="0"/>
                              </a:rPr>
                              <m:t>2</m:t>
                            </m:r>
                          </m:sub>
                        </m:sSub>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𝑓</m:t>
                            </m:r>
                          </m:e>
                          <m:sub>
                            <m:r>
                              <a:rPr lang="en-US" sz="3200" i="1">
                                <a:solidFill>
                                  <a:srgbClr val="C00000"/>
                                </a:solidFill>
                                <a:latin typeface="Cambria Math" panose="02040503050406030204" pitchFamily="18" charset="0"/>
                              </a:rPr>
                              <m:t>12</m:t>
                            </m:r>
                          </m:sub>
                        </m:sSub>
                      </m:e>
                    </m:nary>
                  </m:oMath>
                </a14:m>
                <a:endParaRPr lang="en-CN" sz="3200" dirty="0"/>
              </a:p>
            </p:txBody>
          </p:sp>
        </mc:Choice>
        <mc:Fallback xmlns="">
          <p:sp>
            <p:nvSpPr>
              <p:cNvPr id="2" name="TextBox 1">
                <a:extLst>
                  <a:ext uri="{FF2B5EF4-FFF2-40B4-BE49-F238E27FC236}">
                    <a16:creationId xmlns:a16="http://schemas.microsoft.com/office/drawing/2014/main" id="{844D4F0D-430D-E4E1-53A6-20ABB3552793}"/>
                  </a:ext>
                </a:extLst>
              </p:cNvPr>
              <p:cNvSpPr txBox="1">
                <a:spLocks noRot="1" noChangeAspect="1" noMove="1" noResize="1" noEditPoints="1" noAdjustHandles="1" noChangeArrowheads="1" noChangeShapeType="1" noTextEdit="1"/>
              </p:cNvSpPr>
              <p:nvPr/>
            </p:nvSpPr>
            <p:spPr>
              <a:xfrm>
                <a:off x="845127" y="1893547"/>
                <a:ext cx="10972800" cy="3772379"/>
              </a:xfrm>
              <a:prstGeom prst="rect">
                <a:avLst/>
              </a:prstGeom>
              <a:blipFill>
                <a:blip r:embed="rId2"/>
                <a:stretch>
                  <a:fillRect l="-1387" t="-11111" b="-3703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5B87C20-3E6A-7A93-0579-445C1B321337}"/>
                  </a:ext>
                </a:extLst>
              </p:cNvPr>
              <p:cNvSpPr txBox="1"/>
              <p:nvPr/>
            </p:nvSpPr>
            <p:spPr>
              <a:xfrm>
                <a:off x="2909455" y="355165"/>
                <a:ext cx="6096000" cy="8552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e>
                      </m:nary>
                      <m:d>
                        <m:dPr>
                          <m:ctrlPr>
                            <a:rPr lang="en-US" b="0" i="1" smtClean="0">
                              <a:latin typeface="Cambria Math" panose="02040503050406030204" pitchFamily="18" charset="0"/>
                            </a:rPr>
                          </m:ctrlPr>
                        </m:dPr>
                        <m:e>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𝑖𝑗</m:t>
                                  </m:r>
                                </m:sub>
                              </m:sSub>
                            </m:e>
                          </m:nary>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𝑘𝑙</m:t>
                                  </m:r>
                                </m:sub>
                              </m:sSub>
                              <m:r>
                                <a:rPr lang="en-US" i="1">
                                  <a:latin typeface="Cambria Math" panose="02040503050406030204" pitchFamily="18" charset="0"/>
                                </a:rPr>
                                <m:t>+…</m:t>
                              </m:r>
                            </m:e>
                          </m:nary>
                        </m:e>
                      </m:d>
                    </m:oMath>
                  </m:oMathPara>
                </a14:m>
                <a:endParaRPr lang="en-CN" dirty="0"/>
              </a:p>
            </p:txBody>
          </p:sp>
        </mc:Choice>
        <mc:Fallback xmlns="">
          <p:sp>
            <p:nvSpPr>
              <p:cNvPr id="4" name="TextBox 3">
                <a:extLst>
                  <a:ext uri="{FF2B5EF4-FFF2-40B4-BE49-F238E27FC236}">
                    <a16:creationId xmlns:a16="http://schemas.microsoft.com/office/drawing/2014/main" id="{55B87C20-3E6A-7A93-0579-445C1B321337}"/>
                  </a:ext>
                </a:extLst>
              </p:cNvPr>
              <p:cNvSpPr txBox="1">
                <a:spLocks noRot="1" noChangeAspect="1" noMove="1" noResize="1" noEditPoints="1" noAdjustHandles="1" noChangeArrowheads="1" noChangeShapeType="1" noTextEdit="1"/>
              </p:cNvSpPr>
              <p:nvPr/>
            </p:nvSpPr>
            <p:spPr>
              <a:xfrm>
                <a:off x="2909455" y="355165"/>
                <a:ext cx="6096000" cy="855234"/>
              </a:xfrm>
              <a:prstGeom prst="rect">
                <a:avLst/>
              </a:prstGeom>
              <a:blipFill>
                <a:blip r:embed="rId3"/>
                <a:stretch>
                  <a:fillRect t="-120290" b="-176812"/>
                </a:stretch>
              </a:blipFill>
            </p:spPr>
            <p:txBody>
              <a:bodyPr/>
              <a:lstStyle/>
              <a:p>
                <a:r>
                  <a:rPr lang="en-CN">
                    <a:noFill/>
                  </a:rPr>
                  <a:t> </a:t>
                </a:r>
              </a:p>
            </p:txBody>
          </p:sp>
        </mc:Fallback>
      </mc:AlternateContent>
    </p:spTree>
    <p:extLst>
      <p:ext uri="{BB962C8B-B14F-4D97-AF65-F5344CB8AC3E}">
        <p14:creationId xmlns:p14="http://schemas.microsoft.com/office/powerpoint/2010/main" val="2444607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390D9-9887-3361-130F-F8FB5B28BB66}"/>
              </a:ext>
            </a:extLst>
          </p:cNvPr>
          <p:cNvSpPr txBox="1"/>
          <p:nvPr/>
        </p:nvSpPr>
        <p:spPr>
          <a:xfrm>
            <a:off x="443345" y="387927"/>
            <a:ext cx="5818910" cy="369332"/>
          </a:xfrm>
          <a:prstGeom prst="rect">
            <a:avLst/>
          </a:prstGeom>
          <a:noFill/>
        </p:spPr>
        <p:txBody>
          <a:bodyPr wrap="square" rtlCol="0">
            <a:spAutoFit/>
          </a:bodyPr>
          <a:lstStyle/>
          <a:p>
            <a:r>
              <a:rPr lang="en-CN" dirty="0">
                <a:latin typeface="Songti TC" panose="02010600040101010101" pitchFamily="2" charset="-120"/>
                <a:ea typeface="Songti TC" panose="02010600040101010101" pitchFamily="2" charset="-120"/>
              </a:rPr>
              <a:t>图示法</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38F889F-A760-2607-5119-9156FBD835B0}"/>
                  </a:ext>
                </a:extLst>
              </p:cNvPr>
              <p:cNvSpPr txBox="1"/>
              <p:nvPr/>
            </p:nvSpPr>
            <p:spPr>
              <a:xfrm>
                <a:off x="4412672" y="858979"/>
                <a:ext cx="3338945"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2</m:t>
                          </m:r>
                        </m:den>
                      </m:f>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−1)</m:t>
                          </m:r>
                        </m:num>
                        <m:den>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𝑉</m:t>
                              </m:r>
                            </m:e>
                            <m:sup>
                              <m:r>
                                <a:rPr lang="en-US" i="1">
                                  <a:solidFill>
                                    <a:srgbClr val="C00000"/>
                                  </a:solidFill>
                                  <a:latin typeface="Cambria Math" panose="02040503050406030204" pitchFamily="18" charset="0"/>
                                </a:rPr>
                                <m:t>2</m:t>
                              </m:r>
                            </m:sup>
                          </m:sSup>
                        </m:den>
                      </m:f>
                      <m:r>
                        <m:rPr>
                          <m:nor/>
                        </m:rPr>
                        <a:rPr lang="en-US" dirty="0">
                          <a:solidFill>
                            <a:srgbClr val="C00000"/>
                          </a:solidFill>
                        </a:rPr>
                        <m:t> </m:t>
                      </m:r>
                      <m:nary>
                        <m:naryPr>
                          <m:limLoc m:val="undOvr"/>
                          <m:subHide m:val="on"/>
                          <m:supHide m:val="on"/>
                          <m:ctrlPr>
                            <a:rPr lang="en-US" i="1">
                              <a:solidFill>
                                <a:srgbClr val="C00000"/>
                              </a:solidFill>
                              <a:latin typeface="Cambria Math" panose="02040503050406030204" pitchFamily="18" charset="0"/>
                            </a:rPr>
                          </m:ctrlPr>
                        </m:naryPr>
                        <m:sub/>
                        <m:sup/>
                        <m:e>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1</m:t>
                              </m:r>
                            </m:sub>
                          </m:sSub>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2</m:t>
                              </m:r>
                            </m:sub>
                          </m:sSub>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12</m:t>
                              </m:r>
                            </m:sub>
                          </m:sSub>
                        </m:e>
                      </m:nary>
                    </m:oMath>
                  </m:oMathPara>
                </a14:m>
                <a:endParaRPr lang="en-CN" dirty="0"/>
              </a:p>
            </p:txBody>
          </p:sp>
        </mc:Choice>
        <mc:Fallback xmlns="">
          <p:sp>
            <p:nvSpPr>
              <p:cNvPr id="3" name="TextBox 2">
                <a:extLst>
                  <a:ext uri="{FF2B5EF4-FFF2-40B4-BE49-F238E27FC236}">
                    <a16:creationId xmlns:a16="http://schemas.microsoft.com/office/drawing/2014/main" id="{F38F889F-A760-2607-5119-9156FBD835B0}"/>
                  </a:ext>
                </a:extLst>
              </p:cNvPr>
              <p:cNvSpPr txBox="1">
                <a:spLocks noRot="1" noChangeAspect="1" noMove="1" noResize="1" noEditPoints="1" noAdjustHandles="1" noChangeArrowheads="1" noChangeShapeType="1" noTextEdit="1"/>
              </p:cNvSpPr>
              <p:nvPr/>
            </p:nvSpPr>
            <p:spPr>
              <a:xfrm>
                <a:off x="4412672" y="858979"/>
                <a:ext cx="3338945" cy="818814"/>
              </a:xfrm>
              <a:prstGeom prst="rect">
                <a:avLst/>
              </a:prstGeom>
              <a:blipFill>
                <a:blip r:embed="rId2"/>
                <a:stretch>
                  <a:fillRect t="-132308" b="-190769"/>
                </a:stretch>
              </a:blipFill>
            </p:spPr>
            <p:txBody>
              <a:bodyPr/>
              <a:lstStyle/>
              <a:p>
                <a:r>
                  <a:rPr lang="en-CN">
                    <a:noFill/>
                  </a:rPr>
                  <a:t> </a:t>
                </a:r>
              </a:p>
            </p:txBody>
          </p:sp>
        </mc:Fallback>
      </mc:AlternateContent>
      <p:sp>
        <p:nvSpPr>
          <p:cNvPr id="4" name="Oval 3">
            <a:extLst>
              <a:ext uri="{FF2B5EF4-FFF2-40B4-BE49-F238E27FC236}">
                <a16:creationId xmlns:a16="http://schemas.microsoft.com/office/drawing/2014/main" id="{4AD80125-B216-91D6-82CA-54E28858C8FD}"/>
              </a:ext>
            </a:extLst>
          </p:cNvPr>
          <p:cNvSpPr/>
          <p:nvPr/>
        </p:nvSpPr>
        <p:spPr>
          <a:xfrm>
            <a:off x="3920838" y="757259"/>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Oval 4">
            <a:extLst>
              <a:ext uri="{FF2B5EF4-FFF2-40B4-BE49-F238E27FC236}">
                <a16:creationId xmlns:a16="http://schemas.microsoft.com/office/drawing/2014/main" id="{20D7E17C-F208-B1BA-BC74-82290DD7291F}"/>
              </a:ext>
            </a:extLst>
          </p:cNvPr>
          <p:cNvSpPr/>
          <p:nvPr/>
        </p:nvSpPr>
        <p:spPr>
          <a:xfrm>
            <a:off x="3945082" y="157607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7" name="Straight Connector 6">
            <a:extLst>
              <a:ext uri="{FF2B5EF4-FFF2-40B4-BE49-F238E27FC236}">
                <a16:creationId xmlns:a16="http://schemas.microsoft.com/office/drawing/2014/main" id="{D9541BC1-E434-E4AA-B94A-0FA33A8A346B}"/>
              </a:ext>
            </a:extLst>
          </p:cNvPr>
          <p:cNvCxnSpPr>
            <a:cxnSpLocks/>
            <a:stCxn id="4" idx="0"/>
            <a:endCxn id="5" idx="4"/>
          </p:cNvCxnSpPr>
          <p:nvPr/>
        </p:nvCxnSpPr>
        <p:spPr>
          <a:xfrm>
            <a:off x="4024747" y="757259"/>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BFD199-5FA6-5235-CE49-4C1DFDAAA76E}"/>
                  </a:ext>
                </a:extLst>
              </p:cNvPr>
              <p:cNvSpPr txBox="1"/>
              <p:nvPr/>
            </p:nvSpPr>
            <p:spPr>
              <a:xfrm>
                <a:off x="1593273" y="2521527"/>
                <a:ext cx="8832274" cy="2092239"/>
              </a:xfrm>
              <a:prstGeom prst="rect">
                <a:avLst/>
              </a:prstGeom>
              <a:noFill/>
            </p:spPr>
            <p:txBody>
              <a:bodyPr wrap="square" rtlCol="0">
                <a:spAutoFit/>
              </a:bodyPr>
              <a:lstStyle/>
              <a:p>
                <a:r>
                  <a:rPr lang="en-CN" sz="2000" dirty="0">
                    <a:latin typeface="Songti TC" panose="02010600040101010101" pitchFamily="2" charset="-120"/>
                    <a:ea typeface="Songti TC" panose="02010600040101010101" pitchFamily="2" charset="-120"/>
                  </a:rPr>
                  <a:t>定义规则</a:t>
                </a:r>
              </a:p>
              <a:p>
                <a:pPr marL="342900" indent="-342900">
                  <a:buFont typeface="+mj-lt"/>
                  <a:buAutoNum type="arabicParenR"/>
                </a:pPr>
                <a:r>
                  <a:rPr lang="en-CN" sz="2000" dirty="0">
                    <a:latin typeface="Songti TC" panose="02010600040101010101" pitchFamily="2" charset="-120"/>
                    <a:ea typeface="Songti TC" panose="02010600040101010101" pitchFamily="2" charset="-120"/>
                  </a:rPr>
                  <a:t>每一个点</a:t>
                </a:r>
                <a14:m>
                  <m:oMath xmlns:m="http://schemas.openxmlformats.org/officeDocument/2006/math">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𝑉</m:t>
                        </m:r>
                      </m:den>
                    </m:f>
                    <m:nary>
                      <m:naryPr>
                        <m:limLoc m:val="undOvr"/>
                        <m:subHide m:val="on"/>
                        <m:supHide m:val="on"/>
                        <m:ctrlPr>
                          <a:rPr lang="en-US" altLang="zh-CN" sz="2000" b="0" i="1" smtClean="0">
                            <a:latin typeface="Cambria Math" panose="02040503050406030204" pitchFamily="18" charset="0"/>
                          </a:rPr>
                        </m:ctrlPr>
                      </m:naryPr>
                      <m:sub/>
                      <m:sup/>
                      <m:e>
                        <m:r>
                          <a:rPr lang="en-US" altLang="zh-CN" sz="2000" b="0" i="1" smtClean="0">
                            <a:latin typeface="Cambria Math" panose="02040503050406030204" pitchFamily="18" charset="0"/>
                          </a:rPr>
                          <m:t>𝑑𝑟</m:t>
                        </m:r>
                      </m:e>
                    </m:nary>
                  </m:oMath>
                </a14:m>
                <a:endParaRPr lang="en-CN" sz="2000" dirty="0">
                  <a:latin typeface="Songti TC" panose="02010600040101010101" pitchFamily="2" charset="-120"/>
                  <a:ea typeface="Songti TC" panose="02010600040101010101" pitchFamily="2" charset="-120"/>
                </a:endParaRPr>
              </a:p>
              <a:p>
                <a:pPr marL="342900" indent="-342900">
                  <a:buFont typeface="+mj-lt"/>
                  <a:buAutoNum type="arabicParenR"/>
                </a:pPr>
                <a:r>
                  <a:rPr lang="en-CN" sz="2000" dirty="0">
                    <a:latin typeface="Songti TC" panose="02010600040101010101" pitchFamily="2" charset="-120"/>
                    <a:ea typeface="Songti TC" panose="02010600040101010101" pitchFamily="2" charset="-120"/>
                  </a:rPr>
                  <a:t>第一个点出现乘以N</a:t>
                </a:r>
                <a:r>
                  <a:rPr lang="zh-CN" altLang="en-US" sz="2000" dirty="0">
                    <a:latin typeface="Songti TC" panose="02010600040101010101" pitchFamily="2" charset="-120"/>
                    <a:ea typeface="Songti TC" panose="02010600040101010101" pitchFamily="2" charset="-120"/>
                  </a:rPr>
                  <a:t>，第二个点出现乘以</a:t>
                </a:r>
                <a:r>
                  <a:rPr lang="en-US" altLang="zh-CN" sz="2000" dirty="0">
                    <a:latin typeface="Songti TC" panose="02010600040101010101" pitchFamily="2" charset="-120"/>
                    <a:ea typeface="Songti TC" panose="02010600040101010101" pitchFamily="2" charset="-120"/>
                  </a:rPr>
                  <a:t>N-1</a:t>
                </a:r>
                <a:r>
                  <a:rPr lang="zh-CN" altLang="en-US" sz="2000" dirty="0">
                    <a:latin typeface="Songti TC" panose="02010600040101010101" pitchFamily="2" charset="-120"/>
                    <a:ea typeface="Songti TC" panose="02010600040101010101" pitchFamily="2" charset="-120"/>
                  </a:rPr>
                  <a:t>，第三个点出现乘以</a:t>
                </a:r>
                <a:r>
                  <a:rPr lang="en-US" altLang="zh-CN" sz="2000" dirty="0">
                    <a:latin typeface="Songti TC" panose="02010600040101010101" pitchFamily="2" charset="-120"/>
                    <a:ea typeface="Songti TC" panose="02010600040101010101" pitchFamily="2" charset="-120"/>
                  </a:rPr>
                  <a:t>N-2</a:t>
                </a:r>
                <a:r>
                  <a:rPr lang="zh-CN" altLang="en-US" sz="2000" dirty="0">
                    <a:latin typeface="Songti TC" panose="02010600040101010101" pitchFamily="2" charset="-120"/>
                    <a:ea typeface="Songti TC" panose="02010600040101010101" pitchFamily="2" charset="-120"/>
                  </a:rPr>
                  <a:t>，以此类推</a:t>
                </a:r>
                <a:endParaRPr lang="en-US" altLang="zh-CN" sz="2000" dirty="0">
                  <a:latin typeface="Songti TC" panose="02010600040101010101" pitchFamily="2" charset="-120"/>
                  <a:ea typeface="Songti TC" panose="02010600040101010101" pitchFamily="2" charset="-120"/>
                </a:endParaRPr>
              </a:p>
              <a:p>
                <a:pPr marL="342900" indent="-342900">
                  <a:buFont typeface="+mj-lt"/>
                  <a:buAutoNum type="arabicParenR"/>
                </a:pPr>
                <a:r>
                  <a:rPr lang="en-US" altLang="zh-CN" sz="2000" dirty="0" err="1">
                    <a:latin typeface="Songti TC" panose="02010600040101010101" pitchFamily="2" charset="-120"/>
                    <a:ea typeface="Songti TC" panose="02010600040101010101" pitchFamily="2" charset="-120"/>
                  </a:rPr>
                  <a:t>ij</a:t>
                </a:r>
                <a:r>
                  <a:rPr lang="zh-CN" altLang="en-US" sz="2000" dirty="0">
                    <a:latin typeface="Songti TC" panose="02010600040101010101" pitchFamily="2" charset="-120"/>
                    <a:ea typeface="Songti TC" panose="02010600040101010101" pitchFamily="2" charset="-120"/>
                  </a:rPr>
                  <a:t>之间的线表示一个</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𝑖𝑗</m:t>
                        </m:r>
                      </m:sub>
                    </m:sSub>
                  </m:oMath>
                </a14:m>
                <a:endParaRPr lang="en-CN" sz="2000" dirty="0">
                  <a:latin typeface="Songti TC" panose="02010600040101010101" pitchFamily="2" charset="-120"/>
                  <a:ea typeface="Songti TC" panose="02010600040101010101" pitchFamily="2" charset="-120"/>
                </a:endParaRPr>
              </a:p>
              <a:p>
                <a:pPr marL="342900" indent="-342900">
                  <a:buFont typeface="+mj-lt"/>
                  <a:buAutoNum type="arabicParenR"/>
                </a:pPr>
                <a:r>
                  <a:rPr lang="en-CN" sz="2000" dirty="0">
                    <a:latin typeface="Songti TC" panose="02010600040101010101" pitchFamily="2" charset="-120"/>
                    <a:ea typeface="Songti TC" panose="02010600040101010101" pitchFamily="2" charset="-120"/>
                  </a:rPr>
                  <a:t>整体除以图形的对称因子</a:t>
                </a:r>
              </a:p>
            </p:txBody>
          </p:sp>
        </mc:Choice>
        <mc:Fallback xmlns="">
          <p:sp>
            <p:nvSpPr>
              <p:cNvPr id="8" name="TextBox 7">
                <a:extLst>
                  <a:ext uri="{FF2B5EF4-FFF2-40B4-BE49-F238E27FC236}">
                    <a16:creationId xmlns:a16="http://schemas.microsoft.com/office/drawing/2014/main" id="{E1BFD199-5FA6-5235-CE49-4C1DFDAAA76E}"/>
                  </a:ext>
                </a:extLst>
              </p:cNvPr>
              <p:cNvSpPr txBox="1">
                <a:spLocks noRot="1" noChangeAspect="1" noMove="1" noResize="1" noEditPoints="1" noAdjustHandles="1" noChangeArrowheads="1" noChangeShapeType="1" noTextEdit="1"/>
              </p:cNvSpPr>
              <p:nvPr/>
            </p:nvSpPr>
            <p:spPr>
              <a:xfrm>
                <a:off x="1593273" y="2521527"/>
                <a:ext cx="8832274" cy="2092239"/>
              </a:xfrm>
              <a:prstGeom prst="rect">
                <a:avLst/>
              </a:prstGeom>
              <a:blipFill>
                <a:blip r:embed="rId3"/>
                <a:stretch>
                  <a:fillRect l="-1006" t="-12048" b="-6024"/>
                </a:stretch>
              </a:blipFill>
            </p:spPr>
            <p:txBody>
              <a:bodyPr/>
              <a:lstStyle/>
              <a:p>
                <a:r>
                  <a:rPr lang="en-CN">
                    <a:noFill/>
                  </a:rPr>
                  <a:t> </a:t>
                </a:r>
              </a:p>
            </p:txBody>
          </p:sp>
        </mc:Fallback>
      </mc:AlternateContent>
    </p:spTree>
    <p:extLst>
      <p:ext uri="{BB962C8B-B14F-4D97-AF65-F5344CB8AC3E}">
        <p14:creationId xmlns:p14="http://schemas.microsoft.com/office/powerpoint/2010/main" val="6109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EFE63C-D6BE-0269-5037-2368B3659B31}"/>
              </a:ext>
            </a:extLst>
          </p:cNvPr>
          <p:cNvSpPr txBox="1"/>
          <p:nvPr/>
        </p:nvSpPr>
        <p:spPr>
          <a:xfrm>
            <a:off x="748145" y="374073"/>
            <a:ext cx="4765964" cy="369332"/>
          </a:xfrm>
          <a:prstGeom prst="rect">
            <a:avLst/>
          </a:prstGeom>
          <a:noFill/>
        </p:spPr>
        <p:txBody>
          <a:bodyPr wrap="square" rtlCol="0">
            <a:spAutoFit/>
          </a:bodyPr>
          <a:lstStyle/>
          <a:p>
            <a:r>
              <a:rPr lang="en-CN" dirty="0"/>
              <a:t>图示法表示两个Mayer函数的形式</a:t>
            </a:r>
          </a:p>
        </p:txBody>
      </p:sp>
      <p:sp>
        <p:nvSpPr>
          <p:cNvPr id="3" name="Oval 2">
            <a:extLst>
              <a:ext uri="{FF2B5EF4-FFF2-40B4-BE49-F238E27FC236}">
                <a16:creationId xmlns:a16="http://schemas.microsoft.com/office/drawing/2014/main" id="{7C5AB881-1606-2E5D-B904-B14829D8CC2D}"/>
              </a:ext>
            </a:extLst>
          </p:cNvPr>
          <p:cNvSpPr/>
          <p:nvPr/>
        </p:nvSpPr>
        <p:spPr>
          <a:xfrm>
            <a:off x="1828802" y="2336679"/>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Oval 3">
            <a:extLst>
              <a:ext uri="{FF2B5EF4-FFF2-40B4-BE49-F238E27FC236}">
                <a16:creationId xmlns:a16="http://schemas.microsoft.com/office/drawing/2014/main" id="{3208F3F3-4E7C-97BB-2456-7A41C3CAFEFB}"/>
              </a:ext>
            </a:extLst>
          </p:cNvPr>
          <p:cNvSpPr/>
          <p:nvPr/>
        </p:nvSpPr>
        <p:spPr>
          <a:xfrm>
            <a:off x="1853046" y="315549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19076478-011C-8D7D-4A6F-FF49719D5F36}"/>
              </a:ext>
            </a:extLst>
          </p:cNvPr>
          <p:cNvCxnSpPr>
            <a:cxnSpLocks/>
            <a:stCxn id="3" idx="0"/>
            <a:endCxn id="4" idx="4"/>
          </p:cNvCxnSpPr>
          <p:nvPr/>
        </p:nvCxnSpPr>
        <p:spPr>
          <a:xfrm>
            <a:off x="1932711" y="2336679"/>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710D553B-43E4-8493-7157-E65CEF00B9E2}"/>
              </a:ext>
            </a:extLst>
          </p:cNvPr>
          <p:cNvSpPr/>
          <p:nvPr/>
        </p:nvSpPr>
        <p:spPr>
          <a:xfrm>
            <a:off x="2715493" y="2336679"/>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Oval 9">
            <a:extLst>
              <a:ext uri="{FF2B5EF4-FFF2-40B4-BE49-F238E27FC236}">
                <a16:creationId xmlns:a16="http://schemas.microsoft.com/office/drawing/2014/main" id="{67326F75-B6E5-52CE-CA03-92789C3452C5}"/>
              </a:ext>
            </a:extLst>
          </p:cNvPr>
          <p:cNvSpPr/>
          <p:nvPr/>
        </p:nvSpPr>
        <p:spPr>
          <a:xfrm>
            <a:off x="2739737" y="315549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1" name="Straight Connector 10">
            <a:extLst>
              <a:ext uri="{FF2B5EF4-FFF2-40B4-BE49-F238E27FC236}">
                <a16:creationId xmlns:a16="http://schemas.microsoft.com/office/drawing/2014/main" id="{2F0EEA04-8A47-F21F-DC48-4311B48A9154}"/>
              </a:ext>
            </a:extLst>
          </p:cNvPr>
          <p:cNvCxnSpPr>
            <a:cxnSpLocks/>
            <a:stCxn id="9" idx="0"/>
            <a:endCxn id="10" idx="4"/>
          </p:cNvCxnSpPr>
          <p:nvPr/>
        </p:nvCxnSpPr>
        <p:spPr>
          <a:xfrm>
            <a:off x="2819402" y="2336679"/>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372285A-A140-B6DD-2E57-C95320AD72BC}"/>
              </a:ext>
            </a:extLst>
          </p:cNvPr>
          <p:cNvSpPr/>
          <p:nvPr/>
        </p:nvSpPr>
        <p:spPr>
          <a:xfrm rot="13330062">
            <a:off x="2308530" y="4008246"/>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Oval 12">
            <a:extLst>
              <a:ext uri="{FF2B5EF4-FFF2-40B4-BE49-F238E27FC236}">
                <a16:creationId xmlns:a16="http://schemas.microsoft.com/office/drawing/2014/main" id="{31E24F41-A5E8-AD7D-2462-95C6BF84FFFE}"/>
              </a:ext>
            </a:extLst>
          </p:cNvPr>
          <p:cNvSpPr/>
          <p:nvPr/>
        </p:nvSpPr>
        <p:spPr>
          <a:xfrm rot="13330062">
            <a:off x="1888198" y="4631990"/>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Connector 13">
            <a:extLst>
              <a:ext uri="{FF2B5EF4-FFF2-40B4-BE49-F238E27FC236}">
                <a16:creationId xmlns:a16="http://schemas.microsoft.com/office/drawing/2014/main" id="{01820C90-EE4B-0FA1-74EC-4C9F59CD35D4}"/>
              </a:ext>
            </a:extLst>
          </p:cNvPr>
          <p:cNvCxnSpPr>
            <a:cxnSpLocks/>
          </p:cNvCxnSpPr>
          <p:nvPr/>
        </p:nvCxnSpPr>
        <p:spPr>
          <a:xfrm rot="13330062">
            <a:off x="2123327" y="4062228"/>
            <a:ext cx="148334" cy="68180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89002282-DD79-0E18-AB69-B2E1377228FD}"/>
              </a:ext>
            </a:extLst>
          </p:cNvPr>
          <p:cNvSpPr/>
          <p:nvPr/>
        </p:nvSpPr>
        <p:spPr>
          <a:xfrm rot="13330062">
            <a:off x="2772656" y="4631990"/>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8" name="Straight Connector 17">
            <a:extLst>
              <a:ext uri="{FF2B5EF4-FFF2-40B4-BE49-F238E27FC236}">
                <a16:creationId xmlns:a16="http://schemas.microsoft.com/office/drawing/2014/main" id="{BA10F1E5-0B1D-8DBD-CC38-21489786020C}"/>
              </a:ext>
            </a:extLst>
          </p:cNvPr>
          <p:cNvCxnSpPr>
            <a:cxnSpLocks/>
            <a:endCxn id="16" idx="1"/>
          </p:cNvCxnSpPr>
          <p:nvPr/>
        </p:nvCxnSpPr>
        <p:spPr>
          <a:xfrm>
            <a:off x="2412439" y="4100670"/>
            <a:ext cx="474712" cy="721508"/>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40B758C-8B28-3EC8-F5F7-8E61AB26F884}"/>
                  </a:ext>
                </a:extLst>
              </p:cNvPr>
              <p:cNvSpPr txBox="1"/>
              <p:nvPr/>
            </p:nvSpPr>
            <p:spPr>
              <a:xfrm>
                <a:off x="4059379" y="2429104"/>
                <a:ext cx="5403273"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−2)(</m:t>
                          </m:r>
                          <m:r>
                            <a:rPr lang="en-US" b="0" i="1" smtClean="0">
                              <a:latin typeface="Cambria Math" panose="02040503050406030204" pitchFamily="18" charset="0"/>
                            </a:rPr>
                            <m:t>𝑁</m:t>
                          </m:r>
                          <m:r>
                            <a:rPr lang="en-US" b="0" i="1" smtClean="0">
                              <a:latin typeface="Cambria Math" panose="02040503050406030204" pitchFamily="18" charset="0"/>
                            </a:rPr>
                            <m:t>−3)</m:t>
                          </m:r>
                        </m:num>
                        <m:den>
                          <m:r>
                            <a:rPr lang="en-US" b="0" i="1" smtClean="0">
                              <a:latin typeface="Cambria Math" panose="02040503050406030204" pitchFamily="18" charset="0"/>
                            </a:rPr>
                            <m:t>8</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4</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34</m:t>
                              </m:r>
                            </m:sub>
                          </m:sSub>
                        </m:e>
                      </m:nary>
                    </m:oMath>
                  </m:oMathPara>
                </a14:m>
                <a:endParaRPr lang="en-CN" dirty="0"/>
              </a:p>
            </p:txBody>
          </p:sp>
        </mc:Choice>
        <mc:Fallback xmlns="">
          <p:sp>
            <p:nvSpPr>
              <p:cNvPr id="20" name="TextBox 19">
                <a:extLst>
                  <a:ext uri="{FF2B5EF4-FFF2-40B4-BE49-F238E27FC236}">
                    <a16:creationId xmlns:a16="http://schemas.microsoft.com/office/drawing/2014/main" id="{440B758C-8B28-3EC8-F5F7-8E61AB26F884}"/>
                  </a:ext>
                </a:extLst>
              </p:cNvPr>
              <p:cNvSpPr txBox="1">
                <a:spLocks noRot="1" noChangeAspect="1" noMove="1" noResize="1" noEditPoints="1" noAdjustHandles="1" noChangeArrowheads="1" noChangeShapeType="1" noTextEdit="1"/>
              </p:cNvSpPr>
              <p:nvPr/>
            </p:nvSpPr>
            <p:spPr>
              <a:xfrm>
                <a:off x="4059379" y="2429104"/>
                <a:ext cx="5403273" cy="818814"/>
              </a:xfrm>
              <a:prstGeom prst="rect">
                <a:avLst/>
              </a:prstGeom>
              <a:blipFill>
                <a:blip r:embed="rId2"/>
                <a:stretch>
                  <a:fillRect t="-132308" r="-469" b="-19076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C82C8C5-32C8-A98C-6C94-49F02F3117BC}"/>
                  </a:ext>
                </a:extLst>
              </p:cNvPr>
              <p:cNvSpPr txBox="1"/>
              <p:nvPr/>
            </p:nvSpPr>
            <p:spPr>
              <a:xfrm>
                <a:off x="3957733" y="4072960"/>
                <a:ext cx="5403273"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solidFill>
                            <a:srgbClr val="C00000"/>
                          </a:solidFill>
                          <a:latin typeface="Cambria Math" panose="02040503050406030204" pitchFamily="18" charset="0"/>
                        </a:rPr>
                        <m:t>3</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3</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23</m:t>
                              </m:r>
                            </m:sub>
                          </m:sSub>
                        </m:e>
                      </m:nary>
                    </m:oMath>
                  </m:oMathPara>
                </a14:m>
                <a:endParaRPr lang="en-CN" dirty="0"/>
              </a:p>
            </p:txBody>
          </p:sp>
        </mc:Choice>
        <mc:Fallback xmlns="">
          <p:sp>
            <p:nvSpPr>
              <p:cNvPr id="21" name="TextBox 20">
                <a:extLst>
                  <a:ext uri="{FF2B5EF4-FFF2-40B4-BE49-F238E27FC236}">
                    <a16:creationId xmlns:a16="http://schemas.microsoft.com/office/drawing/2014/main" id="{2C82C8C5-32C8-A98C-6C94-49F02F3117BC}"/>
                  </a:ext>
                </a:extLst>
              </p:cNvPr>
              <p:cNvSpPr txBox="1">
                <a:spLocks noRot="1" noChangeAspect="1" noMove="1" noResize="1" noEditPoints="1" noAdjustHandles="1" noChangeArrowheads="1" noChangeShapeType="1" noTextEdit="1"/>
              </p:cNvSpPr>
              <p:nvPr/>
            </p:nvSpPr>
            <p:spPr>
              <a:xfrm>
                <a:off x="3957733" y="4072960"/>
                <a:ext cx="5403273" cy="818814"/>
              </a:xfrm>
              <a:prstGeom prst="rect">
                <a:avLst/>
              </a:prstGeom>
              <a:blipFill>
                <a:blip r:embed="rId3"/>
                <a:stretch>
                  <a:fillRect t="-130769" b="-190769"/>
                </a:stretch>
              </a:blipFill>
            </p:spPr>
            <p:txBody>
              <a:bodyPr/>
              <a:lstStyle/>
              <a:p>
                <a:r>
                  <a:rPr lang="en-CN">
                    <a:noFill/>
                  </a:rPr>
                  <a:t> </a:t>
                </a:r>
              </a:p>
            </p:txBody>
          </p:sp>
        </mc:Fallback>
      </mc:AlternateContent>
      <p:sp>
        <p:nvSpPr>
          <p:cNvPr id="24" name="Oval 23">
            <a:extLst>
              <a:ext uri="{FF2B5EF4-FFF2-40B4-BE49-F238E27FC236}">
                <a16:creationId xmlns:a16="http://schemas.microsoft.com/office/drawing/2014/main" id="{106BC0E7-E0D6-8D94-67D8-FE287C18D418}"/>
              </a:ext>
            </a:extLst>
          </p:cNvPr>
          <p:cNvSpPr/>
          <p:nvPr/>
        </p:nvSpPr>
        <p:spPr>
          <a:xfrm rot="13330062">
            <a:off x="2322380" y="5850900"/>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Oval 24">
            <a:extLst>
              <a:ext uri="{FF2B5EF4-FFF2-40B4-BE49-F238E27FC236}">
                <a16:creationId xmlns:a16="http://schemas.microsoft.com/office/drawing/2014/main" id="{B6E65F72-AC57-EC7F-8AC8-B2ADEFEBC4A4}"/>
              </a:ext>
            </a:extLst>
          </p:cNvPr>
          <p:cNvSpPr/>
          <p:nvPr/>
        </p:nvSpPr>
        <p:spPr>
          <a:xfrm rot="13330062">
            <a:off x="1902048" y="6474644"/>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6" name="Straight Connector 25">
            <a:extLst>
              <a:ext uri="{FF2B5EF4-FFF2-40B4-BE49-F238E27FC236}">
                <a16:creationId xmlns:a16="http://schemas.microsoft.com/office/drawing/2014/main" id="{81AA33F8-999B-91F5-CDB1-FD64791C3329}"/>
              </a:ext>
            </a:extLst>
          </p:cNvPr>
          <p:cNvCxnSpPr>
            <a:cxnSpLocks/>
          </p:cNvCxnSpPr>
          <p:nvPr/>
        </p:nvCxnSpPr>
        <p:spPr>
          <a:xfrm rot="13330062">
            <a:off x="2137177" y="5904882"/>
            <a:ext cx="148334" cy="68180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2FFD82B6-8C9B-9DF3-26CB-33E0984E442C}"/>
              </a:ext>
            </a:extLst>
          </p:cNvPr>
          <p:cNvSpPr/>
          <p:nvPr/>
        </p:nvSpPr>
        <p:spPr>
          <a:xfrm rot="13330062">
            <a:off x="2786506" y="6474644"/>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8" name="Straight Connector 27">
            <a:extLst>
              <a:ext uri="{FF2B5EF4-FFF2-40B4-BE49-F238E27FC236}">
                <a16:creationId xmlns:a16="http://schemas.microsoft.com/office/drawing/2014/main" id="{AD66AEE2-943D-21E3-F346-791B22312F05}"/>
              </a:ext>
            </a:extLst>
          </p:cNvPr>
          <p:cNvCxnSpPr>
            <a:cxnSpLocks/>
            <a:endCxn id="27" idx="1"/>
          </p:cNvCxnSpPr>
          <p:nvPr/>
        </p:nvCxnSpPr>
        <p:spPr>
          <a:xfrm>
            <a:off x="2426289" y="5943324"/>
            <a:ext cx="474712" cy="7215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616D124-B14A-27DA-E159-286917D9B884}"/>
              </a:ext>
            </a:extLst>
          </p:cNvPr>
          <p:cNvCxnSpPr>
            <a:cxnSpLocks/>
          </p:cNvCxnSpPr>
          <p:nvPr/>
        </p:nvCxnSpPr>
        <p:spPr>
          <a:xfrm flipV="1">
            <a:off x="2068002" y="6552735"/>
            <a:ext cx="745397" cy="125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9CCFEA0-DF24-D408-BABA-C8265628745A}"/>
                  </a:ext>
                </a:extLst>
              </p:cNvPr>
              <p:cNvSpPr txBox="1"/>
              <p:nvPr/>
            </p:nvSpPr>
            <p:spPr>
              <a:xfrm>
                <a:off x="3957732" y="5846018"/>
                <a:ext cx="5403273"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3</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31</m:t>
                              </m:r>
                            </m:sub>
                          </m:sSub>
                        </m:e>
                      </m:nary>
                    </m:oMath>
                  </m:oMathPara>
                </a14:m>
                <a:endParaRPr lang="en-CN" dirty="0"/>
              </a:p>
            </p:txBody>
          </p:sp>
        </mc:Choice>
        <mc:Fallback xmlns="">
          <p:sp>
            <p:nvSpPr>
              <p:cNvPr id="32" name="TextBox 31">
                <a:extLst>
                  <a:ext uri="{FF2B5EF4-FFF2-40B4-BE49-F238E27FC236}">
                    <a16:creationId xmlns:a16="http://schemas.microsoft.com/office/drawing/2014/main" id="{99CCFEA0-DF24-D408-BABA-C8265628745A}"/>
                  </a:ext>
                </a:extLst>
              </p:cNvPr>
              <p:cNvSpPr txBox="1">
                <a:spLocks noRot="1" noChangeAspect="1" noMove="1" noResize="1" noEditPoints="1" noAdjustHandles="1" noChangeArrowheads="1" noChangeShapeType="1" noTextEdit="1"/>
              </p:cNvSpPr>
              <p:nvPr/>
            </p:nvSpPr>
            <p:spPr>
              <a:xfrm>
                <a:off x="3957732" y="5846018"/>
                <a:ext cx="5403273" cy="818814"/>
              </a:xfrm>
              <a:prstGeom prst="rect">
                <a:avLst/>
              </a:prstGeom>
              <a:blipFill>
                <a:blip r:embed="rId4"/>
                <a:stretch>
                  <a:fillRect t="-132308" b="-18923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8CAF87C-696A-1E81-81BE-7031A012636B}"/>
                  </a:ext>
                </a:extLst>
              </p:cNvPr>
              <p:cNvSpPr txBox="1"/>
              <p:nvPr/>
            </p:nvSpPr>
            <p:spPr>
              <a:xfrm>
                <a:off x="4412672" y="858979"/>
                <a:ext cx="3338945"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2</m:t>
                          </m:r>
                        </m:den>
                      </m:f>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−1)</m:t>
                          </m:r>
                        </m:num>
                        <m:den>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𝑉</m:t>
                              </m:r>
                            </m:e>
                            <m:sup>
                              <m:r>
                                <a:rPr lang="en-US" i="1">
                                  <a:solidFill>
                                    <a:srgbClr val="C00000"/>
                                  </a:solidFill>
                                  <a:latin typeface="Cambria Math" panose="02040503050406030204" pitchFamily="18" charset="0"/>
                                </a:rPr>
                                <m:t>2</m:t>
                              </m:r>
                            </m:sup>
                          </m:sSup>
                        </m:den>
                      </m:f>
                      <m:r>
                        <m:rPr>
                          <m:nor/>
                        </m:rPr>
                        <a:rPr lang="en-US" dirty="0">
                          <a:solidFill>
                            <a:srgbClr val="C00000"/>
                          </a:solidFill>
                        </a:rPr>
                        <m:t> </m:t>
                      </m:r>
                      <m:nary>
                        <m:naryPr>
                          <m:limLoc m:val="undOvr"/>
                          <m:subHide m:val="on"/>
                          <m:supHide m:val="on"/>
                          <m:ctrlPr>
                            <a:rPr lang="en-US" i="1">
                              <a:solidFill>
                                <a:srgbClr val="C00000"/>
                              </a:solidFill>
                              <a:latin typeface="Cambria Math" panose="02040503050406030204" pitchFamily="18" charset="0"/>
                            </a:rPr>
                          </m:ctrlPr>
                        </m:naryPr>
                        <m:sub/>
                        <m:sup/>
                        <m:e>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1</m:t>
                              </m:r>
                            </m:sub>
                          </m:sSub>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2</m:t>
                              </m:r>
                            </m:sub>
                          </m:sSub>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12</m:t>
                              </m:r>
                            </m:sub>
                          </m:sSub>
                        </m:e>
                      </m:nary>
                    </m:oMath>
                  </m:oMathPara>
                </a14:m>
                <a:endParaRPr lang="en-CN" dirty="0"/>
              </a:p>
            </p:txBody>
          </p:sp>
        </mc:Choice>
        <mc:Fallback xmlns="">
          <p:sp>
            <p:nvSpPr>
              <p:cNvPr id="23" name="TextBox 22">
                <a:extLst>
                  <a:ext uri="{FF2B5EF4-FFF2-40B4-BE49-F238E27FC236}">
                    <a16:creationId xmlns:a16="http://schemas.microsoft.com/office/drawing/2014/main" id="{18CAF87C-696A-1E81-81BE-7031A012636B}"/>
                  </a:ext>
                </a:extLst>
              </p:cNvPr>
              <p:cNvSpPr txBox="1">
                <a:spLocks noRot="1" noChangeAspect="1" noMove="1" noResize="1" noEditPoints="1" noAdjustHandles="1" noChangeArrowheads="1" noChangeShapeType="1" noTextEdit="1"/>
              </p:cNvSpPr>
              <p:nvPr/>
            </p:nvSpPr>
            <p:spPr>
              <a:xfrm>
                <a:off x="4412672" y="858979"/>
                <a:ext cx="3338945" cy="818814"/>
              </a:xfrm>
              <a:prstGeom prst="rect">
                <a:avLst/>
              </a:prstGeom>
              <a:blipFill>
                <a:blip r:embed="rId5"/>
                <a:stretch>
                  <a:fillRect t="-132308" b="-190769"/>
                </a:stretch>
              </a:blipFill>
            </p:spPr>
            <p:txBody>
              <a:bodyPr/>
              <a:lstStyle/>
              <a:p>
                <a:r>
                  <a:rPr lang="en-CN">
                    <a:noFill/>
                  </a:rPr>
                  <a:t> </a:t>
                </a:r>
              </a:p>
            </p:txBody>
          </p:sp>
        </mc:Fallback>
      </mc:AlternateContent>
      <p:sp>
        <p:nvSpPr>
          <p:cNvPr id="31" name="Oval 30">
            <a:extLst>
              <a:ext uri="{FF2B5EF4-FFF2-40B4-BE49-F238E27FC236}">
                <a16:creationId xmlns:a16="http://schemas.microsoft.com/office/drawing/2014/main" id="{3B27FFDC-5C5A-2AF6-6877-4DD4C1F6B810}"/>
              </a:ext>
            </a:extLst>
          </p:cNvPr>
          <p:cNvSpPr/>
          <p:nvPr/>
        </p:nvSpPr>
        <p:spPr>
          <a:xfrm>
            <a:off x="2258294" y="840389"/>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3" name="Oval 32">
            <a:extLst>
              <a:ext uri="{FF2B5EF4-FFF2-40B4-BE49-F238E27FC236}">
                <a16:creationId xmlns:a16="http://schemas.microsoft.com/office/drawing/2014/main" id="{DA33127B-FFA2-EFE4-372E-904C2960E148}"/>
              </a:ext>
            </a:extLst>
          </p:cNvPr>
          <p:cNvSpPr/>
          <p:nvPr/>
        </p:nvSpPr>
        <p:spPr>
          <a:xfrm>
            <a:off x="2282538" y="165920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4" name="Straight Connector 33">
            <a:extLst>
              <a:ext uri="{FF2B5EF4-FFF2-40B4-BE49-F238E27FC236}">
                <a16:creationId xmlns:a16="http://schemas.microsoft.com/office/drawing/2014/main" id="{27836868-1F87-89DB-1C90-FFCD75E77DD7}"/>
              </a:ext>
            </a:extLst>
          </p:cNvPr>
          <p:cNvCxnSpPr>
            <a:cxnSpLocks/>
            <a:stCxn id="31" idx="0"/>
            <a:endCxn id="33" idx="4"/>
          </p:cNvCxnSpPr>
          <p:nvPr/>
        </p:nvCxnSpPr>
        <p:spPr>
          <a:xfrm>
            <a:off x="2362203" y="840389"/>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06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B3280C-2C05-21A2-39F5-C0DC4F1D23CE}"/>
              </a:ext>
            </a:extLst>
          </p:cNvPr>
          <p:cNvPicPr>
            <a:picLocks noChangeAspect="1"/>
          </p:cNvPicPr>
          <p:nvPr/>
        </p:nvPicPr>
        <p:blipFill>
          <a:blip r:embed="rId2"/>
          <a:stretch>
            <a:fillRect/>
          </a:stretch>
        </p:blipFill>
        <p:spPr>
          <a:xfrm>
            <a:off x="475405" y="1178805"/>
            <a:ext cx="11241189" cy="2406412"/>
          </a:xfrm>
          <a:prstGeom prst="rect">
            <a:avLst/>
          </a:prstGeom>
        </p:spPr>
      </p:pic>
      <p:sp>
        <p:nvSpPr>
          <p:cNvPr id="3" name="TextBox 2">
            <a:extLst>
              <a:ext uri="{FF2B5EF4-FFF2-40B4-BE49-F238E27FC236}">
                <a16:creationId xmlns:a16="http://schemas.microsoft.com/office/drawing/2014/main" id="{C2BD55B6-3F3C-62AC-E4E7-C7F4E434B6BC}"/>
              </a:ext>
            </a:extLst>
          </p:cNvPr>
          <p:cNvSpPr txBox="1"/>
          <p:nvPr/>
        </p:nvSpPr>
        <p:spPr>
          <a:xfrm>
            <a:off x="701428" y="387927"/>
            <a:ext cx="3967554" cy="369332"/>
          </a:xfrm>
          <a:prstGeom prst="rect">
            <a:avLst/>
          </a:prstGeom>
          <a:noFill/>
        </p:spPr>
        <p:txBody>
          <a:bodyPr wrap="square" rtlCol="0">
            <a:spAutoFit/>
          </a:bodyPr>
          <a:lstStyle/>
          <a:p>
            <a:r>
              <a:rPr lang="en-CN" dirty="0">
                <a:latin typeface="Songti TC" panose="02010600040101010101" pitchFamily="2" charset="-120"/>
                <a:ea typeface="Songti TC" panose="02010600040101010101" pitchFamily="2" charset="-120"/>
              </a:rPr>
              <a:t>猜测</a:t>
            </a:r>
          </a:p>
        </p:txBody>
      </p:sp>
      <p:sp>
        <p:nvSpPr>
          <p:cNvPr id="4" name="TextBox 3">
            <a:extLst>
              <a:ext uri="{FF2B5EF4-FFF2-40B4-BE49-F238E27FC236}">
                <a16:creationId xmlns:a16="http://schemas.microsoft.com/office/drawing/2014/main" id="{1451C784-884D-6F27-1471-44FBBD7F40BF}"/>
              </a:ext>
            </a:extLst>
          </p:cNvPr>
          <p:cNvSpPr txBox="1"/>
          <p:nvPr/>
        </p:nvSpPr>
        <p:spPr>
          <a:xfrm>
            <a:off x="803564" y="4364182"/>
            <a:ext cx="7190509" cy="369332"/>
          </a:xfrm>
          <a:prstGeom prst="rect">
            <a:avLst/>
          </a:prstGeom>
          <a:noFill/>
        </p:spPr>
        <p:txBody>
          <a:bodyPr wrap="square" rtlCol="0">
            <a:spAutoFit/>
          </a:bodyPr>
          <a:lstStyle/>
          <a:p>
            <a:r>
              <a:rPr lang="en-CN" dirty="0">
                <a:latin typeface="Songti TC" panose="02010600040101010101" pitchFamily="2" charset="-120"/>
                <a:ea typeface="Songti TC" panose="02010600040101010101" pitchFamily="2" charset="-120"/>
              </a:rPr>
              <a:t>留在以后你们自己去证明吧</a:t>
            </a:r>
          </a:p>
        </p:txBody>
      </p:sp>
    </p:spTree>
    <p:extLst>
      <p:ext uri="{BB962C8B-B14F-4D97-AF65-F5344CB8AC3E}">
        <p14:creationId xmlns:p14="http://schemas.microsoft.com/office/powerpoint/2010/main" val="1142249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7C838D-B006-6167-24EB-32101AAC4F06}"/>
              </a:ext>
            </a:extLst>
          </p:cNvPr>
          <p:cNvSpPr txBox="1"/>
          <p:nvPr/>
        </p:nvSpPr>
        <p:spPr>
          <a:xfrm>
            <a:off x="415636" y="332509"/>
            <a:ext cx="5278582" cy="369332"/>
          </a:xfrm>
          <a:prstGeom prst="rect">
            <a:avLst/>
          </a:prstGeom>
          <a:noFill/>
        </p:spPr>
        <p:txBody>
          <a:bodyPr wrap="square" rtlCol="0">
            <a:spAutoFit/>
          </a:bodyPr>
          <a:lstStyle/>
          <a:p>
            <a:r>
              <a:rPr lang="en-CN" dirty="0"/>
              <a:t>求和</a:t>
            </a:r>
            <a:r>
              <a:rPr lang="zh-CN" altLang="en-US" dirty="0"/>
              <a:t>！！</a:t>
            </a:r>
            <a:endParaRPr lang="en-CN" dirty="0"/>
          </a:p>
        </p:txBody>
      </p:sp>
      <p:pic>
        <p:nvPicPr>
          <p:cNvPr id="3" name="Picture 2">
            <a:extLst>
              <a:ext uri="{FF2B5EF4-FFF2-40B4-BE49-F238E27FC236}">
                <a16:creationId xmlns:a16="http://schemas.microsoft.com/office/drawing/2014/main" id="{5096BC61-58B2-661A-F0E6-B6202ADCD084}"/>
              </a:ext>
            </a:extLst>
          </p:cNvPr>
          <p:cNvPicPr>
            <a:picLocks noChangeAspect="1"/>
          </p:cNvPicPr>
          <p:nvPr/>
        </p:nvPicPr>
        <p:blipFill>
          <a:blip r:embed="rId2"/>
          <a:stretch>
            <a:fillRect/>
          </a:stretch>
        </p:blipFill>
        <p:spPr>
          <a:xfrm>
            <a:off x="3281795" y="79690"/>
            <a:ext cx="4824846" cy="2814493"/>
          </a:xfrm>
          <a:prstGeom prst="rect">
            <a:avLst/>
          </a:prstGeom>
        </p:spPr>
      </p:pic>
      <p:sp>
        <p:nvSpPr>
          <p:cNvPr id="10" name="Oval 9">
            <a:extLst>
              <a:ext uri="{FF2B5EF4-FFF2-40B4-BE49-F238E27FC236}">
                <a16:creationId xmlns:a16="http://schemas.microsoft.com/office/drawing/2014/main" id="{C1A122C3-6040-B621-6511-E4482CB0AC58}"/>
              </a:ext>
            </a:extLst>
          </p:cNvPr>
          <p:cNvSpPr/>
          <p:nvPr/>
        </p:nvSpPr>
        <p:spPr>
          <a:xfrm rot="13330062">
            <a:off x="673693" y="5740067"/>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Oval 10">
            <a:extLst>
              <a:ext uri="{FF2B5EF4-FFF2-40B4-BE49-F238E27FC236}">
                <a16:creationId xmlns:a16="http://schemas.microsoft.com/office/drawing/2014/main" id="{F1706FF2-8E78-DB8F-AC71-5F41961AA8FE}"/>
              </a:ext>
            </a:extLst>
          </p:cNvPr>
          <p:cNvSpPr/>
          <p:nvPr/>
        </p:nvSpPr>
        <p:spPr>
          <a:xfrm rot="13330062">
            <a:off x="253361" y="6363811"/>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2" name="Straight Connector 11">
            <a:extLst>
              <a:ext uri="{FF2B5EF4-FFF2-40B4-BE49-F238E27FC236}">
                <a16:creationId xmlns:a16="http://schemas.microsoft.com/office/drawing/2014/main" id="{72086F30-505C-52F6-6BE6-2E3E69A4D81F}"/>
              </a:ext>
            </a:extLst>
          </p:cNvPr>
          <p:cNvCxnSpPr>
            <a:cxnSpLocks/>
          </p:cNvCxnSpPr>
          <p:nvPr/>
        </p:nvCxnSpPr>
        <p:spPr>
          <a:xfrm rot="13330062">
            <a:off x="488490" y="5794049"/>
            <a:ext cx="148334" cy="68180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73D11E0-0123-03E3-40F2-068C8BBA8749}"/>
              </a:ext>
            </a:extLst>
          </p:cNvPr>
          <p:cNvSpPr/>
          <p:nvPr/>
        </p:nvSpPr>
        <p:spPr>
          <a:xfrm rot="13330062">
            <a:off x="1137819" y="6363811"/>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Connector 13">
            <a:extLst>
              <a:ext uri="{FF2B5EF4-FFF2-40B4-BE49-F238E27FC236}">
                <a16:creationId xmlns:a16="http://schemas.microsoft.com/office/drawing/2014/main" id="{524E2BA1-849F-7E06-D1EE-B7AD2B886E97}"/>
              </a:ext>
            </a:extLst>
          </p:cNvPr>
          <p:cNvCxnSpPr>
            <a:cxnSpLocks/>
            <a:endCxn id="13" idx="1"/>
          </p:cNvCxnSpPr>
          <p:nvPr/>
        </p:nvCxnSpPr>
        <p:spPr>
          <a:xfrm>
            <a:off x="777602" y="5832491"/>
            <a:ext cx="474712" cy="721508"/>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3F274E1-6468-8E7D-B400-15B0684EC3E4}"/>
                  </a:ext>
                </a:extLst>
              </p:cNvPr>
              <p:cNvSpPr txBox="1"/>
              <p:nvPr/>
            </p:nvSpPr>
            <p:spPr>
              <a:xfrm>
                <a:off x="2322896" y="5804781"/>
                <a:ext cx="9590268" cy="9099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solidFill>
                            <a:srgbClr val="C00000"/>
                          </a:solidFill>
                          <a:latin typeface="Cambria Math" panose="02040503050406030204" pitchFamily="18" charset="0"/>
                        </a:rPr>
                        <m:t>3</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3</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23</m:t>
                              </m:r>
                            </m:sub>
                          </m:sSub>
                        </m:e>
                      </m:nary>
                      <m:r>
                        <a:rPr lang="en-US" altLang="zh-CN" i="1">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𝑁</m:t>
                              </m:r>
                            </m:e>
                            <m:sup>
                              <m:r>
                                <a:rPr lang="en-US" altLang="zh-CN" b="0" i="1" smtClean="0">
                                  <a:latin typeface="Cambria Math" panose="02040503050406030204" pitchFamily="18" charset="0"/>
                                  <a:ea typeface="Cambria Math" panose="02040503050406030204" pitchFamily="18" charset="0"/>
                                </a:rPr>
                                <m:t>3</m:t>
                              </m:r>
                            </m:sup>
                          </m:sSup>
                        </m:num>
                        <m:den>
                          <m:r>
                            <a:rPr lang="en-US" altLang="zh-CN" b="0" i="1" smtClean="0">
                              <a:latin typeface="Cambria Math" panose="02040503050406030204" pitchFamily="18" charset="0"/>
                              <a:ea typeface="Cambria Math" panose="02040503050406030204" pitchFamily="18" charset="0"/>
                            </a:rPr>
                            <m:t>2</m:t>
                          </m:r>
                        </m:den>
                      </m:f>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𝑉</m:t>
                              </m:r>
                            </m:e>
                            <m:sup>
                              <m:r>
                                <a:rPr lang="en-US" altLang="zh-CN" b="0" i="1" smtClean="0">
                                  <a:latin typeface="Cambria Math" panose="02040503050406030204" pitchFamily="18" charset="0"/>
                                  <a:ea typeface="Cambria Math" panose="02040503050406030204" pitchFamily="18" charset="0"/>
                                </a:rPr>
                                <m:t>3</m:t>
                              </m:r>
                            </m:sup>
                          </m:sSup>
                        </m:den>
                      </m:f>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𝑉</m:t>
                      </m:r>
                      <m:r>
                        <a:rPr lang="en-US" altLang="zh-CN" b="0" i="1" smtClean="0">
                          <a:latin typeface="Cambria Math" panose="02040503050406030204" pitchFamily="18" charset="0"/>
                          <a:ea typeface="Cambria Math" panose="02040503050406030204" pitchFamily="18" charset="0"/>
                        </a:rPr>
                        <m:t> </m:t>
                      </m:r>
                      <m:nary>
                        <m:naryPr>
                          <m:limLoc m:val="undOvr"/>
                          <m:subHide m:val="on"/>
                          <m:supHide m:val="on"/>
                          <m:ctrlPr>
                            <a:rPr lang="en-US" altLang="zh-CN" b="0" i="1" smtClean="0">
                              <a:latin typeface="Cambria Math" panose="02040503050406030204" pitchFamily="18" charset="0"/>
                              <a:ea typeface="Cambria Math" panose="02040503050406030204" pitchFamily="18" charset="0"/>
                            </a:rPr>
                          </m:ctrlPr>
                        </m:naryPr>
                        <m:sub/>
                        <m:sup/>
                        <m:e>
                          <m:r>
                            <a:rPr lang="en-US" altLang="zh-CN" b="0" i="1" smtClean="0">
                              <a:latin typeface="Cambria Math" panose="02040503050406030204" pitchFamily="18" charset="0"/>
                              <a:ea typeface="Cambria Math" panose="02040503050406030204" pitchFamily="18" charset="0"/>
                            </a:rPr>
                            <m:t>𝑑𝑟𝑓</m:t>
                          </m:r>
                        </m:e>
                      </m:nary>
                      <m:nary>
                        <m:naryPr>
                          <m:limLoc m:val="undOvr"/>
                          <m:subHide m:val="on"/>
                          <m:supHide m:val="on"/>
                          <m:ctrlPr>
                            <a:rPr lang="en-US" altLang="zh-CN" b="0" i="1" smtClean="0">
                              <a:latin typeface="Cambria Math" panose="02040503050406030204" pitchFamily="18" charset="0"/>
                              <a:ea typeface="Cambria Math" panose="02040503050406030204" pitchFamily="18" charset="0"/>
                            </a:rPr>
                          </m:ctrlPr>
                        </m:naryPr>
                        <m:sub/>
                        <m:sup/>
                        <m:e>
                          <m:r>
                            <a:rPr lang="en-US" altLang="zh-CN" b="0" i="1" smtClean="0">
                              <a:latin typeface="Cambria Math" panose="02040503050406030204" pitchFamily="18" charset="0"/>
                              <a:ea typeface="Cambria Math" panose="02040503050406030204" pitchFamily="18" charset="0"/>
                            </a:rPr>
                            <m:t>𝑑𝑟𝑓</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2</m:t>
                              </m:r>
                            </m:num>
                            <m:den>
                              <m:r>
                                <a:rPr lang="en-US" altLang="zh-CN" b="0" i="1" smtClean="0">
                                  <a:latin typeface="Cambria Math" panose="02040503050406030204" pitchFamily="18" charset="0"/>
                                  <a:ea typeface="Cambria Math" panose="02040503050406030204" pitchFamily="18" charset="0"/>
                                </a:rPr>
                                <m:t>𝑁</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smtClean="0">
                                          <a:solidFill>
                                            <a:srgbClr val="C00000"/>
                                          </a:solidFill>
                                          <a:latin typeface="Cambria Math" panose="02040503050406030204" pitchFamily="18" charset="0"/>
                                          <a:ea typeface="Cambria Math" panose="02040503050406030204" pitchFamily="18" charset="0"/>
                                        </a:rPr>
                                      </m:ctrlPr>
                                    </m:fPr>
                                    <m:num>
                                      <m:sSup>
                                        <m:sSupPr>
                                          <m:ctrlPr>
                                            <a:rPr lang="en-US" i="1">
                                              <a:solidFill>
                                                <a:srgbClr val="C00000"/>
                                              </a:solidFill>
                                              <a:latin typeface="Cambria Math" panose="02040503050406030204" pitchFamily="18" charset="0"/>
                                              <a:ea typeface="Cambria Math" panose="02040503050406030204" pitchFamily="18" charset="0"/>
                                            </a:rPr>
                                          </m:ctrlPr>
                                        </m:sSupPr>
                                        <m:e>
                                          <m:r>
                                            <a:rPr lang="en-US" i="1">
                                              <a:solidFill>
                                                <a:srgbClr val="C00000"/>
                                              </a:solidFill>
                                              <a:latin typeface="Cambria Math" panose="02040503050406030204" pitchFamily="18" charset="0"/>
                                              <a:ea typeface="Cambria Math" panose="02040503050406030204" pitchFamily="18" charset="0"/>
                                            </a:rPr>
                                            <m:t>𝑁</m:t>
                                          </m:r>
                                        </m:e>
                                        <m:sup>
                                          <m:r>
                                            <a:rPr lang="en-US" i="1">
                                              <a:solidFill>
                                                <a:srgbClr val="C00000"/>
                                              </a:solidFill>
                                              <a:latin typeface="Cambria Math" panose="02040503050406030204" pitchFamily="18" charset="0"/>
                                              <a:ea typeface="Cambria Math" panose="02040503050406030204" pitchFamily="18" charset="0"/>
                                            </a:rPr>
                                            <m:t>2</m:t>
                                          </m:r>
                                        </m:sup>
                                      </m:sSup>
                                    </m:num>
                                    <m:den>
                                      <m:r>
                                        <a:rPr lang="en-US" i="1">
                                          <a:solidFill>
                                            <a:srgbClr val="C00000"/>
                                          </a:solidFill>
                                          <a:latin typeface="Cambria Math" panose="02040503050406030204" pitchFamily="18" charset="0"/>
                                          <a:ea typeface="Cambria Math" panose="02040503050406030204" pitchFamily="18" charset="0"/>
                                        </a:rPr>
                                        <m:t>2</m:t>
                                      </m:r>
                                      <m:r>
                                        <a:rPr lang="en-US" i="1">
                                          <a:solidFill>
                                            <a:srgbClr val="C00000"/>
                                          </a:solidFill>
                                          <a:latin typeface="Cambria Math" panose="02040503050406030204" pitchFamily="18" charset="0"/>
                                          <a:ea typeface="Cambria Math" panose="02040503050406030204" pitchFamily="18" charset="0"/>
                                        </a:rPr>
                                        <m:t>𝑉</m:t>
                                      </m:r>
                                    </m:den>
                                  </m:f>
                                  <m:nary>
                                    <m:naryPr>
                                      <m:limLoc m:val="undOvr"/>
                                      <m:subHide m:val="on"/>
                                      <m:supHide m:val="on"/>
                                      <m:ctrlPr>
                                        <a:rPr lang="en-US" i="1">
                                          <a:solidFill>
                                            <a:srgbClr val="C00000"/>
                                          </a:solidFill>
                                          <a:latin typeface="Cambria Math" panose="02040503050406030204" pitchFamily="18" charset="0"/>
                                          <a:ea typeface="Cambria Math" panose="02040503050406030204" pitchFamily="18" charset="0"/>
                                        </a:rPr>
                                      </m:ctrlPr>
                                    </m:naryPr>
                                    <m:sub/>
                                    <m:sup/>
                                    <m:e>
                                      <m:r>
                                        <a:rPr lang="en-US" i="1">
                                          <a:solidFill>
                                            <a:srgbClr val="C00000"/>
                                          </a:solidFill>
                                          <a:latin typeface="Cambria Math" panose="02040503050406030204" pitchFamily="18" charset="0"/>
                                          <a:ea typeface="Cambria Math" panose="02040503050406030204" pitchFamily="18" charset="0"/>
                                        </a:rPr>
                                        <m:t>𝑑𝑟</m:t>
                                      </m:r>
                                      <m:r>
                                        <a:rPr lang="en-US" i="1">
                                          <a:solidFill>
                                            <a:srgbClr val="C00000"/>
                                          </a:solidFill>
                                          <a:latin typeface="Cambria Math" panose="02040503050406030204" pitchFamily="18" charset="0"/>
                                          <a:ea typeface="Cambria Math" panose="02040503050406030204" pitchFamily="18" charset="0"/>
                                        </a:rPr>
                                        <m:t> </m:t>
                                      </m:r>
                                      <m:r>
                                        <a:rPr lang="en-US" i="1">
                                          <a:solidFill>
                                            <a:srgbClr val="C00000"/>
                                          </a:solidFill>
                                          <a:latin typeface="Cambria Math" panose="02040503050406030204" pitchFamily="18" charset="0"/>
                                          <a:ea typeface="Cambria Math" panose="02040503050406030204" pitchFamily="18" charset="0"/>
                                        </a:rPr>
                                        <m:t>𝑓</m:t>
                                      </m:r>
                                      <m:r>
                                        <a:rPr lang="en-US" i="1">
                                          <a:solidFill>
                                            <a:srgbClr val="C00000"/>
                                          </a:solidFill>
                                          <a:latin typeface="Cambria Math" panose="02040503050406030204" pitchFamily="18" charset="0"/>
                                          <a:ea typeface="Cambria Math" panose="02040503050406030204" pitchFamily="18" charset="0"/>
                                        </a:rPr>
                                        <m:t>(</m:t>
                                      </m:r>
                                      <m:r>
                                        <a:rPr lang="en-US" i="1">
                                          <a:solidFill>
                                            <a:srgbClr val="C00000"/>
                                          </a:solidFill>
                                          <a:latin typeface="Cambria Math" panose="02040503050406030204" pitchFamily="18" charset="0"/>
                                          <a:ea typeface="Cambria Math" panose="02040503050406030204" pitchFamily="18" charset="0"/>
                                        </a:rPr>
                                        <m:t>𝑟</m:t>
                                      </m:r>
                                      <m:r>
                                        <a:rPr lang="en-US" i="1">
                                          <a:solidFill>
                                            <a:srgbClr val="C00000"/>
                                          </a:solidFill>
                                          <a:latin typeface="Cambria Math" panose="02040503050406030204" pitchFamily="18" charset="0"/>
                                          <a:ea typeface="Cambria Math" panose="02040503050406030204" pitchFamily="18" charset="0"/>
                                        </a:rPr>
                                        <m:t>)</m:t>
                                      </m:r>
                                    </m:e>
                                  </m:nary>
                                </m:e>
                              </m:d>
                            </m:e>
                            <m:sup>
                              <m:r>
                                <a:rPr lang="en-US" i="1">
                                  <a:latin typeface="Cambria Math" panose="02040503050406030204" pitchFamily="18" charset="0"/>
                                  <a:ea typeface="Cambria Math" panose="02040503050406030204" pitchFamily="18" charset="0"/>
                                </a:rPr>
                                <m:t>2</m:t>
                              </m:r>
                            </m:sup>
                          </m:sSup>
                        </m:e>
                      </m:nary>
                      <m:r>
                        <a:rPr lang="en-US" altLang="zh-CN" b="0" i="1" smtClean="0">
                          <a:latin typeface="Cambria Math" panose="02040503050406030204" pitchFamily="18" charset="0"/>
                          <a:ea typeface="Cambria Math" panose="02040503050406030204" pitchFamily="18" charset="0"/>
                        </a:rPr>
                        <m:t> </m:t>
                      </m:r>
                    </m:oMath>
                  </m:oMathPara>
                </a14:m>
                <a:endParaRPr lang="en-CN" dirty="0"/>
              </a:p>
            </p:txBody>
          </p:sp>
        </mc:Choice>
        <mc:Fallback xmlns="">
          <p:sp>
            <p:nvSpPr>
              <p:cNvPr id="15" name="TextBox 14">
                <a:extLst>
                  <a:ext uri="{FF2B5EF4-FFF2-40B4-BE49-F238E27FC236}">
                    <a16:creationId xmlns:a16="http://schemas.microsoft.com/office/drawing/2014/main" id="{73F274E1-6468-8E7D-B400-15B0684EC3E4}"/>
                  </a:ext>
                </a:extLst>
              </p:cNvPr>
              <p:cNvSpPr txBox="1">
                <a:spLocks noRot="1" noChangeAspect="1" noMove="1" noResize="1" noEditPoints="1" noAdjustHandles="1" noChangeArrowheads="1" noChangeShapeType="1" noTextEdit="1"/>
              </p:cNvSpPr>
              <p:nvPr/>
            </p:nvSpPr>
            <p:spPr>
              <a:xfrm>
                <a:off x="2322896" y="5804781"/>
                <a:ext cx="9590268" cy="909929"/>
              </a:xfrm>
              <a:prstGeom prst="rect">
                <a:avLst/>
              </a:prstGeom>
              <a:blipFill>
                <a:blip r:embed="rId3"/>
                <a:stretch>
                  <a:fillRect t="-106849" b="-168493"/>
                </a:stretch>
              </a:blipFill>
            </p:spPr>
            <p:txBody>
              <a:bodyPr/>
              <a:lstStyle/>
              <a:p>
                <a:r>
                  <a:rPr lang="en-CN">
                    <a:noFill/>
                  </a:rPr>
                  <a:t> </a:t>
                </a:r>
              </a:p>
            </p:txBody>
          </p:sp>
        </mc:Fallback>
      </mc:AlternateContent>
      <p:sp>
        <p:nvSpPr>
          <p:cNvPr id="16" name="Oval 15">
            <a:extLst>
              <a:ext uri="{FF2B5EF4-FFF2-40B4-BE49-F238E27FC236}">
                <a16:creationId xmlns:a16="http://schemas.microsoft.com/office/drawing/2014/main" id="{DE047057-0335-7FB3-A300-844E91B30EEA}"/>
              </a:ext>
            </a:extLst>
          </p:cNvPr>
          <p:cNvSpPr/>
          <p:nvPr/>
        </p:nvSpPr>
        <p:spPr>
          <a:xfrm>
            <a:off x="96979" y="4317870"/>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Oval 16">
            <a:extLst>
              <a:ext uri="{FF2B5EF4-FFF2-40B4-BE49-F238E27FC236}">
                <a16:creationId xmlns:a16="http://schemas.microsoft.com/office/drawing/2014/main" id="{2B1AEEAD-3D1D-E197-01C5-195A8A90F1CC}"/>
              </a:ext>
            </a:extLst>
          </p:cNvPr>
          <p:cNvSpPr/>
          <p:nvPr/>
        </p:nvSpPr>
        <p:spPr>
          <a:xfrm>
            <a:off x="121223" y="5136684"/>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8" name="Straight Connector 17">
            <a:extLst>
              <a:ext uri="{FF2B5EF4-FFF2-40B4-BE49-F238E27FC236}">
                <a16:creationId xmlns:a16="http://schemas.microsoft.com/office/drawing/2014/main" id="{8C524CED-F9C1-F4DE-9373-8F6A4A5FE57A}"/>
              </a:ext>
            </a:extLst>
          </p:cNvPr>
          <p:cNvCxnSpPr>
            <a:cxnSpLocks/>
            <a:stCxn id="16" idx="0"/>
            <a:endCxn id="17" idx="4"/>
          </p:cNvCxnSpPr>
          <p:nvPr/>
        </p:nvCxnSpPr>
        <p:spPr>
          <a:xfrm>
            <a:off x="200888" y="4317870"/>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3C43FB7-2DD2-FF5F-3F66-656CB89D4232}"/>
              </a:ext>
            </a:extLst>
          </p:cNvPr>
          <p:cNvSpPr/>
          <p:nvPr/>
        </p:nvSpPr>
        <p:spPr>
          <a:xfrm>
            <a:off x="983670" y="4317870"/>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Oval 19">
            <a:extLst>
              <a:ext uri="{FF2B5EF4-FFF2-40B4-BE49-F238E27FC236}">
                <a16:creationId xmlns:a16="http://schemas.microsoft.com/office/drawing/2014/main" id="{938A6B17-ABCC-8D9C-DD6D-7C5334728163}"/>
              </a:ext>
            </a:extLst>
          </p:cNvPr>
          <p:cNvSpPr/>
          <p:nvPr/>
        </p:nvSpPr>
        <p:spPr>
          <a:xfrm>
            <a:off x="1007914" y="5136684"/>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1" name="Straight Connector 20">
            <a:extLst>
              <a:ext uri="{FF2B5EF4-FFF2-40B4-BE49-F238E27FC236}">
                <a16:creationId xmlns:a16="http://schemas.microsoft.com/office/drawing/2014/main" id="{54F5995C-3ED7-AE2F-FF40-4072C68B29FB}"/>
              </a:ext>
            </a:extLst>
          </p:cNvPr>
          <p:cNvCxnSpPr>
            <a:cxnSpLocks/>
            <a:stCxn id="19" idx="0"/>
            <a:endCxn id="20" idx="4"/>
          </p:cNvCxnSpPr>
          <p:nvPr/>
        </p:nvCxnSpPr>
        <p:spPr>
          <a:xfrm>
            <a:off x="1087579" y="4317870"/>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5AB275C-7696-3DD7-0CB8-50C20B37F6F5}"/>
                  </a:ext>
                </a:extLst>
              </p:cNvPr>
              <p:cNvSpPr txBox="1"/>
              <p:nvPr/>
            </p:nvSpPr>
            <p:spPr>
              <a:xfrm>
                <a:off x="2327555" y="4410295"/>
                <a:ext cx="10196953" cy="9099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−2)(</m:t>
                          </m:r>
                          <m:r>
                            <a:rPr lang="en-US" b="0" i="1" smtClean="0">
                              <a:latin typeface="Cambria Math" panose="02040503050406030204" pitchFamily="18" charset="0"/>
                            </a:rPr>
                            <m:t>𝑁</m:t>
                          </m:r>
                          <m:r>
                            <a:rPr lang="en-US" b="0" i="1" smtClean="0">
                              <a:latin typeface="Cambria Math" panose="02040503050406030204" pitchFamily="18" charset="0"/>
                            </a:rPr>
                            <m:t>−3)</m:t>
                          </m:r>
                        </m:num>
                        <m:den>
                          <m:r>
                            <a:rPr lang="en-US" b="0" i="1" smtClean="0">
                              <a:latin typeface="Cambria Math" panose="02040503050406030204" pitchFamily="18" charset="0"/>
                            </a:rPr>
                            <m:t>8</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4</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34</m:t>
                              </m:r>
                            </m:sub>
                          </m:sSub>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latin typeface="Cambria Math" panose="02040503050406030204" pitchFamily="18" charset="0"/>
                                  <a:ea typeface="Cambria Math" panose="02040503050406030204" pitchFamily="18" charset="0"/>
                                </a:rPr>
                                <m:t>4</m:t>
                              </m:r>
                            </m:sup>
                          </m:sSup>
                        </m:num>
                        <m:den>
                          <m:r>
                            <a:rPr lang="en-US" b="0" i="1" smtClean="0">
                              <a:latin typeface="Cambria Math" panose="02040503050406030204" pitchFamily="18" charset="0"/>
                              <a:ea typeface="Cambria Math" panose="02040503050406030204" pitchFamily="18" charset="0"/>
                            </a:rPr>
                            <m:t>8</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2</m:t>
                              </m:r>
                            </m:sup>
                          </m:sSup>
                        </m:den>
                      </m:f>
                      <m:nary>
                        <m:naryPr>
                          <m:limLoc m:val="undOvr"/>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𝑑𝑟𝑓</m:t>
                          </m:r>
                        </m:e>
                      </m:nary>
                      <m:nary>
                        <m:naryPr>
                          <m:limLoc m:val="undOvr"/>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𝑑𝑟𝑓</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smtClean="0">
                                          <a:solidFill>
                                            <a:srgbClr val="C00000"/>
                                          </a:solidFill>
                                          <a:latin typeface="Cambria Math" panose="02040503050406030204" pitchFamily="18" charset="0"/>
                                          <a:ea typeface="Cambria Math" panose="02040503050406030204" pitchFamily="18" charset="0"/>
                                        </a:rPr>
                                      </m:ctrlPr>
                                    </m:fPr>
                                    <m:num>
                                      <m:sSup>
                                        <m:sSupPr>
                                          <m:ctrlPr>
                                            <a:rPr lang="en-US" i="1">
                                              <a:solidFill>
                                                <a:srgbClr val="C00000"/>
                                              </a:solidFill>
                                              <a:latin typeface="Cambria Math" panose="02040503050406030204" pitchFamily="18" charset="0"/>
                                              <a:ea typeface="Cambria Math" panose="02040503050406030204" pitchFamily="18" charset="0"/>
                                            </a:rPr>
                                          </m:ctrlPr>
                                        </m:sSupPr>
                                        <m:e>
                                          <m:r>
                                            <a:rPr lang="en-US" i="1">
                                              <a:solidFill>
                                                <a:srgbClr val="C00000"/>
                                              </a:solidFill>
                                              <a:latin typeface="Cambria Math" panose="02040503050406030204" pitchFamily="18" charset="0"/>
                                              <a:ea typeface="Cambria Math" panose="02040503050406030204" pitchFamily="18" charset="0"/>
                                            </a:rPr>
                                            <m:t>𝑁</m:t>
                                          </m:r>
                                        </m:e>
                                        <m:sup>
                                          <m:r>
                                            <a:rPr lang="en-US" i="1">
                                              <a:solidFill>
                                                <a:srgbClr val="C00000"/>
                                              </a:solidFill>
                                              <a:latin typeface="Cambria Math" panose="02040503050406030204" pitchFamily="18" charset="0"/>
                                              <a:ea typeface="Cambria Math" panose="02040503050406030204" pitchFamily="18" charset="0"/>
                                            </a:rPr>
                                            <m:t>2</m:t>
                                          </m:r>
                                        </m:sup>
                                      </m:sSup>
                                    </m:num>
                                    <m:den>
                                      <m:r>
                                        <a:rPr lang="en-US" i="1">
                                          <a:solidFill>
                                            <a:srgbClr val="C00000"/>
                                          </a:solidFill>
                                          <a:latin typeface="Cambria Math" panose="02040503050406030204" pitchFamily="18" charset="0"/>
                                          <a:ea typeface="Cambria Math" panose="02040503050406030204" pitchFamily="18" charset="0"/>
                                        </a:rPr>
                                        <m:t>2</m:t>
                                      </m:r>
                                      <m:r>
                                        <a:rPr lang="en-US" i="1">
                                          <a:solidFill>
                                            <a:srgbClr val="C00000"/>
                                          </a:solidFill>
                                          <a:latin typeface="Cambria Math" panose="02040503050406030204" pitchFamily="18" charset="0"/>
                                          <a:ea typeface="Cambria Math" panose="02040503050406030204" pitchFamily="18" charset="0"/>
                                        </a:rPr>
                                        <m:t>𝑉</m:t>
                                      </m:r>
                                    </m:den>
                                  </m:f>
                                  <m:nary>
                                    <m:naryPr>
                                      <m:limLoc m:val="undOvr"/>
                                      <m:subHide m:val="on"/>
                                      <m:supHide m:val="on"/>
                                      <m:ctrlPr>
                                        <a:rPr lang="en-US" i="1">
                                          <a:solidFill>
                                            <a:srgbClr val="C00000"/>
                                          </a:solidFill>
                                          <a:latin typeface="Cambria Math" panose="02040503050406030204" pitchFamily="18" charset="0"/>
                                          <a:ea typeface="Cambria Math" panose="02040503050406030204" pitchFamily="18" charset="0"/>
                                        </a:rPr>
                                      </m:ctrlPr>
                                    </m:naryPr>
                                    <m:sub/>
                                    <m:sup/>
                                    <m:e>
                                      <m:r>
                                        <a:rPr lang="en-US" i="1">
                                          <a:solidFill>
                                            <a:srgbClr val="C00000"/>
                                          </a:solidFill>
                                          <a:latin typeface="Cambria Math" panose="02040503050406030204" pitchFamily="18" charset="0"/>
                                          <a:ea typeface="Cambria Math" panose="02040503050406030204" pitchFamily="18" charset="0"/>
                                        </a:rPr>
                                        <m:t>𝑑𝑟</m:t>
                                      </m:r>
                                      <m:r>
                                        <a:rPr lang="en-US" i="1">
                                          <a:solidFill>
                                            <a:srgbClr val="C00000"/>
                                          </a:solidFill>
                                          <a:latin typeface="Cambria Math" panose="02040503050406030204" pitchFamily="18" charset="0"/>
                                          <a:ea typeface="Cambria Math" panose="02040503050406030204" pitchFamily="18" charset="0"/>
                                        </a:rPr>
                                        <m:t> </m:t>
                                      </m:r>
                                      <m:r>
                                        <a:rPr lang="en-US" i="1">
                                          <a:solidFill>
                                            <a:srgbClr val="C00000"/>
                                          </a:solidFill>
                                          <a:latin typeface="Cambria Math" panose="02040503050406030204" pitchFamily="18" charset="0"/>
                                          <a:ea typeface="Cambria Math" panose="02040503050406030204" pitchFamily="18" charset="0"/>
                                        </a:rPr>
                                        <m:t>𝑓</m:t>
                                      </m:r>
                                      <m:r>
                                        <a:rPr lang="en-US" i="1">
                                          <a:solidFill>
                                            <a:srgbClr val="C00000"/>
                                          </a:solidFill>
                                          <a:latin typeface="Cambria Math" panose="02040503050406030204" pitchFamily="18" charset="0"/>
                                          <a:ea typeface="Cambria Math" panose="02040503050406030204" pitchFamily="18" charset="0"/>
                                        </a:rPr>
                                        <m:t>(</m:t>
                                      </m:r>
                                      <m:r>
                                        <a:rPr lang="en-US" i="1">
                                          <a:solidFill>
                                            <a:srgbClr val="C00000"/>
                                          </a:solidFill>
                                          <a:latin typeface="Cambria Math" panose="02040503050406030204" pitchFamily="18" charset="0"/>
                                          <a:ea typeface="Cambria Math" panose="02040503050406030204" pitchFamily="18" charset="0"/>
                                        </a:rPr>
                                        <m:t>𝑟</m:t>
                                      </m:r>
                                      <m:r>
                                        <a:rPr lang="en-US" i="1">
                                          <a:solidFill>
                                            <a:srgbClr val="C00000"/>
                                          </a:solidFill>
                                          <a:latin typeface="Cambria Math" panose="02040503050406030204" pitchFamily="18" charset="0"/>
                                          <a:ea typeface="Cambria Math" panose="02040503050406030204" pitchFamily="18" charset="0"/>
                                        </a:rPr>
                                        <m:t>)</m:t>
                                      </m:r>
                                    </m:e>
                                  </m:nary>
                                </m:e>
                              </m:d>
                            </m:e>
                            <m:sup>
                              <m:r>
                                <a:rPr lang="en-US" b="0" i="1" smtClean="0">
                                  <a:latin typeface="Cambria Math" panose="02040503050406030204" pitchFamily="18" charset="0"/>
                                  <a:ea typeface="Cambria Math" panose="02040503050406030204" pitchFamily="18" charset="0"/>
                                </a:rPr>
                                <m:t>2</m:t>
                              </m:r>
                            </m:sup>
                          </m:sSup>
                        </m:e>
                      </m:nary>
                    </m:oMath>
                  </m:oMathPara>
                </a14:m>
                <a:endParaRPr lang="en-CN" dirty="0"/>
              </a:p>
            </p:txBody>
          </p:sp>
        </mc:Choice>
        <mc:Fallback xmlns="">
          <p:sp>
            <p:nvSpPr>
              <p:cNvPr id="22" name="TextBox 21">
                <a:extLst>
                  <a:ext uri="{FF2B5EF4-FFF2-40B4-BE49-F238E27FC236}">
                    <a16:creationId xmlns:a16="http://schemas.microsoft.com/office/drawing/2014/main" id="{15AB275C-7696-3DD7-0CB8-50C20B37F6F5}"/>
                  </a:ext>
                </a:extLst>
              </p:cNvPr>
              <p:cNvSpPr txBox="1">
                <a:spLocks noRot="1" noChangeAspect="1" noMove="1" noResize="1" noEditPoints="1" noAdjustHandles="1" noChangeArrowheads="1" noChangeShapeType="1" noTextEdit="1"/>
              </p:cNvSpPr>
              <p:nvPr/>
            </p:nvSpPr>
            <p:spPr>
              <a:xfrm>
                <a:off x="2327555" y="4410295"/>
                <a:ext cx="10196953" cy="909929"/>
              </a:xfrm>
              <a:prstGeom prst="rect">
                <a:avLst/>
              </a:prstGeom>
              <a:blipFill>
                <a:blip r:embed="rId4"/>
                <a:stretch>
                  <a:fillRect t="-108219" b="-16712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0377141-E017-57E2-CBD3-1E446F54EAF3}"/>
                  </a:ext>
                </a:extLst>
              </p:cNvPr>
              <p:cNvSpPr txBox="1"/>
              <p:nvPr/>
            </p:nvSpPr>
            <p:spPr>
              <a:xfrm>
                <a:off x="2708564" y="3089559"/>
                <a:ext cx="6012875" cy="838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2</m:t>
                          </m:r>
                        </m:den>
                      </m:f>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−1)</m:t>
                          </m:r>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𝑉</m:t>
                              </m:r>
                            </m:e>
                            <m:sup>
                              <m:r>
                                <a:rPr lang="en-US" i="1">
                                  <a:solidFill>
                                    <a:schemeClr val="tx1"/>
                                  </a:solidFill>
                                  <a:latin typeface="Cambria Math" panose="02040503050406030204" pitchFamily="18" charset="0"/>
                                </a:rPr>
                                <m:t>2</m:t>
                              </m:r>
                            </m:sup>
                          </m:sSup>
                        </m:den>
                      </m:f>
                      <m:r>
                        <m:rPr>
                          <m:nor/>
                        </m:rPr>
                        <a:rPr lang="en-US" dirty="0">
                          <a:solidFill>
                            <a:schemeClr val="tx1"/>
                          </a:solidFill>
                        </a:rPr>
                        <m:t> </m:t>
                      </m:r>
                      <m:nary>
                        <m:naryPr>
                          <m:limLoc m:val="undOvr"/>
                          <m:subHide m:val="on"/>
                          <m:supHide m:val="on"/>
                          <m:ctrlPr>
                            <a:rPr lang="en-US" i="1">
                              <a:solidFill>
                                <a:schemeClr val="tx1"/>
                              </a:solidFill>
                              <a:latin typeface="Cambria Math" panose="02040503050406030204" pitchFamily="18" charset="0"/>
                            </a:rPr>
                          </m:ctrlPr>
                        </m:naryPr>
                        <m:sub/>
                        <m:sup/>
                        <m:e>
                          <m:r>
                            <a:rPr lang="en-US" i="1">
                              <a:solidFill>
                                <a:schemeClr val="tx1"/>
                              </a:solidFill>
                              <a:latin typeface="Cambria Math" panose="02040503050406030204" pitchFamily="18" charset="0"/>
                            </a:rPr>
                            <m:t>𝑑</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𝑟</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𝑑</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𝑟</m:t>
                              </m:r>
                            </m:e>
                            <m:sub>
                              <m:r>
                                <a:rPr lang="en-US" i="1">
                                  <a:solidFill>
                                    <a:schemeClr val="tx1"/>
                                  </a:solidFill>
                                  <a:latin typeface="Cambria Math" panose="02040503050406030204" pitchFamily="18" charset="0"/>
                                </a:rPr>
                                <m:t>2</m:t>
                              </m:r>
                            </m:sub>
                          </m:s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12</m:t>
                              </m:r>
                            </m:sub>
                          </m:sSub>
                        </m:e>
                      </m:nary>
                      <m:r>
                        <a:rPr lang="en-US" i="1" smtClean="0">
                          <a:solidFill>
                            <a:schemeClr val="tx1"/>
                          </a:solidFill>
                          <a:latin typeface="Cambria Math" panose="02040503050406030204" pitchFamily="18" charset="0"/>
                          <a:ea typeface="Cambria Math" panose="02040503050406030204" pitchFamily="18" charset="0"/>
                        </a:rPr>
                        <m:t>→</m:t>
                      </m:r>
                      <m:f>
                        <m:fPr>
                          <m:ctrlPr>
                            <a:rPr lang="en-US" i="1" smtClean="0">
                              <a:solidFill>
                                <a:srgbClr val="C00000"/>
                              </a:solidFill>
                              <a:latin typeface="Cambria Math" panose="02040503050406030204" pitchFamily="18" charset="0"/>
                              <a:ea typeface="Cambria Math" panose="02040503050406030204" pitchFamily="18" charset="0"/>
                            </a:rPr>
                          </m:ctrlPr>
                        </m:fPr>
                        <m:num>
                          <m:sSup>
                            <m:sSupPr>
                              <m:ctrlPr>
                                <a:rPr lang="en-US" i="1" smtClean="0">
                                  <a:solidFill>
                                    <a:srgbClr val="C00000"/>
                                  </a:solidFill>
                                  <a:latin typeface="Cambria Math" panose="02040503050406030204" pitchFamily="18" charset="0"/>
                                  <a:ea typeface="Cambria Math" panose="02040503050406030204" pitchFamily="18" charset="0"/>
                                </a:rPr>
                              </m:ctrlPr>
                            </m:sSupPr>
                            <m:e>
                              <m:r>
                                <a:rPr lang="en-US" b="0" i="1" smtClean="0">
                                  <a:solidFill>
                                    <a:srgbClr val="C00000"/>
                                  </a:solidFill>
                                  <a:latin typeface="Cambria Math" panose="02040503050406030204" pitchFamily="18" charset="0"/>
                                  <a:ea typeface="Cambria Math" panose="02040503050406030204" pitchFamily="18" charset="0"/>
                                </a:rPr>
                                <m:t>𝑁</m:t>
                              </m:r>
                            </m:e>
                            <m:sup>
                              <m:r>
                                <a:rPr lang="en-US" b="0" i="1" smtClean="0">
                                  <a:solidFill>
                                    <a:srgbClr val="C00000"/>
                                  </a:solidFill>
                                  <a:latin typeface="Cambria Math" panose="02040503050406030204" pitchFamily="18" charset="0"/>
                                  <a:ea typeface="Cambria Math" panose="02040503050406030204" pitchFamily="18" charset="0"/>
                                </a:rPr>
                                <m:t>2</m:t>
                              </m:r>
                            </m:sup>
                          </m:sSup>
                        </m:num>
                        <m:den>
                          <m:r>
                            <a:rPr lang="en-US" b="0" i="1" smtClean="0">
                              <a:solidFill>
                                <a:srgbClr val="C00000"/>
                              </a:solidFill>
                              <a:latin typeface="Cambria Math" panose="02040503050406030204" pitchFamily="18" charset="0"/>
                              <a:ea typeface="Cambria Math" panose="02040503050406030204" pitchFamily="18" charset="0"/>
                            </a:rPr>
                            <m:t>2</m:t>
                          </m:r>
                          <m:r>
                            <a:rPr lang="en-US" b="0" i="1" smtClean="0">
                              <a:solidFill>
                                <a:srgbClr val="C00000"/>
                              </a:solidFill>
                              <a:latin typeface="Cambria Math" panose="02040503050406030204" pitchFamily="18" charset="0"/>
                              <a:ea typeface="Cambria Math" panose="02040503050406030204" pitchFamily="18" charset="0"/>
                            </a:rPr>
                            <m:t>𝑉</m:t>
                          </m:r>
                        </m:den>
                      </m:f>
                      <m:nary>
                        <m:naryPr>
                          <m:limLoc m:val="undOvr"/>
                          <m:subHide m:val="on"/>
                          <m:supHide m:val="on"/>
                          <m:ctrlPr>
                            <a:rPr lang="en-US" i="1" smtClean="0">
                              <a:solidFill>
                                <a:srgbClr val="C00000"/>
                              </a:solidFill>
                              <a:latin typeface="Cambria Math" panose="02040503050406030204" pitchFamily="18" charset="0"/>
                              <a:ea typeface="Cambria Math" panose="02040503050406030204" pitchFamily="18" charset="0"/>
                            </a:rPr>
                          </m:ctrlPr>
                        </m:naryPr>
                        <m:sub/>
                        <m:sup/>
                        <m:e>
                          <m:r>
                            <a:rPr lang="en-US" b="0" i="1" smtClean="0">
                              <a:solidFill>
                                <a:srgbClr val="C00000"/>
                              </a:solidFill>
                              <a:latin typeface="Cambria Math" panose="02040503050406030204" pitchFamily="18" charset="0"/>
                              <a:ea typeface="Cambria Math" panose="02040503050406030204" pitchFamily="18" charset="0"/>
                            </a:rPr>
                            <m:t>𝑑𝑟</m:t>
                          </m:r>
                          <m:r>
                            <a:rPr lang="en-US" b="0" i="1" smtClean="0">
                              <a:solidFill>
                                <a:srgbClr val="C00000"/>
                              </a:solidFill>
                              <a:latin typeface="Cambria Math" panose="02040503050406030204" pitchFamily="18" charset="0"/>
                              <a:ea typeface="Cambria Math" panose="02040503050406030204" pitchFamily="18" charset="0"/>
                            </a:rPr>
                            <m:t> </m:t>
                          </m:r>
                          <m:r>
                            <a:rPr lang="en-US" b="0" i="1" smtClean="0">
                              <a:solidFill>
                                <a:srgbClr val="C00000"/>
                              </a:solidFill>
                              <a:latin typeface="Cambria Math" panose="02040503050406030204" pitchFamily="18" charset="0"/>
                              <a:ea typeface="Cambria Math" panose="02040503050406030204" pitchFamily="18" charset="0"/>
                            </a:rPr>
                            <m:t>𝑓</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𝑟</m:t>
                          </m:r>
                          <m:r>
                            <a:rPr lang="en-US" b="0" i="1" smtClean="0">
                              <a:solidFill>
                                <a:srgbClr val="C00000"/>
                              </a:solidFill>
                              <a:latin typeface="Cambria Math" panose="02040503050406030204" pitchFamily="18" charset="0"/>
                              <a:ea typeface="Cambria Math" panose="02040503050406030204" pitchFamily="18" charset="0"/>
                            </a:rPr>
                            <m:t>)</m:t>
                          </m:r>
                        </m:e>
                      </m:nary>
                    </m:oMath>
                  </m:oMathPara>
                </a14:m>
                <a:endParaRPr lang="en-CN" dirty="0"/>
              </a:p>
            </p:txBody>
          </p:sp>
        </mc:Choice>
        <mc:Fallback xmlns="">
          <p:sp>
            <p:nvSpPr>
              <p:cNvPr id="23" name="TextBox 22">
                <a:extLst>
                  <a:ext uri="{FF2B5EF4-FFF2-40B4-BE49-F238E27FC236}">
                    <a16:creationId xmlns:a16="http://schemas.microsoft.com/office/drawing/2014/main" id="{D0377141-E017-57E2-CBD3-1E446F54EAF3}"/>
                  </a:ext>
                </a:extLst>
              </p:cNvPr>
              <p:cNvSpPr txBox="1">
                <a:spLocks noRot="1" noChangeAspect="1" noMove="1" noResize="1" noEditPoints="1" noAdjustHandles="1" noChangeArrowheads="1" noChangeShapeType="1" noTextEdit="1"/>
              </p:cNvSpPr>
              <p:nvPr/>
            </p:nvSpPr>
            <p:spPr>
              <a:xfrm>
                <a:off x="2708564" y="3089559"/>
                <a:ext cx="6012875" cy="838563"/>
              </a:xfrm>
              <a:prstGeom prst="rect">
                <a:avLst/>
              </a:prstGeom>
              <a:blipFill>
                <a:blip r:embed="rId5"/>
                <a:stretch>
                  <a:fillRect t="-128358" b="-182090"/>
                </a:stretch>
              </a:blipFill>
            </p:spPr>
            <p:txBody>
              <a:bodyPr/>
              <a:lstStyle/>
              <a:p>
                <a:r>
                  <a:rPr lang="en-CN">
                    <a:noFill/>
                  </a:rPr>
                  <a:t> </a:t>
                </a:r>
              </a:p>
            </p:txBody>
          </p:sp>
        </mc:Fallback>
      </mc:AlternateContent>
      <p:sp>
        <p:nvSpPr>
          <p:cNvPr id="24" name="Oval 23">
            <a:extLst>
              <a:ext uri="{FF2B5EF4-FFF2-40B4-BE49-F238E27FC236}">
                <a16:creationId xmlns:a16="http://schemas.microsoft.com/office/drawing/2014/main" id="{A3C4568B-E7FA-D154-395B-342C04D0A1A9}"/>
              </a:ext>
            </a:extLst>
          </p:cNvPr>
          <p:cNvSpPr/>
          <p:nvPr/>
        </p:nvSpPr>
        <p:spPr>
          <a:xfrm>
            <a:off x="554186" y="3070969"/>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Oval 24">
            <a:extLst>
              <a:ext uri="{FF2B5EF4-FFF2-40B4-BE49-F238E27FC236}">
                <a16:creationId xmlns:a16="http://schemas.microsoft.com/office/drawing/2014/main" id="{40EFC9C0-1455-A4F8-85F8-F229CD578C8D}"/>
              </a:ext>
            </a:extLst>
          </p:cNvPr>
          <p:cNvSpPr/>
          <p:nvPr/>
        </p:nvSpPr>
        <p:spPr>
          <a:xfrm>
            <a:off x="578430" y="388978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6" name="Straight Connector 25">
            <a:extLst>
              <a:ext uri="{FF2B5EF4-FFF2-40B4-BE49-F238E27FC236}">
                <a16:creationId xmlns:a16="http://schemas.microsoft.com/office/drawing/2014/main" id="{1E13E5D0-13E0-1A2E-6722-9375A9E6DFDA}"/>
              </a:ext>
            </a:extLst>
          </p:cNvPr>
          <p:cNvCxnSpPr>
            <a:cxnSpLocks/>
            <a:stCxn id="24" idx="0"/>
            <a:endCxn id="25" idx="4"/>
          </p:cNvCxnSpPr>
          <p:nvPr/>
        </p:nvCxnSpPr>
        <p:spPr>
          <a:xfrm>
            <a:off x="658095" y="3070969"/>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602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926ED-D982-8FCD-3415-C66BCDF1F625}"/>
              </a:ext>
            </a:extLst>
          </p:cNvPr>
          <p:cNvPicPr>
            <a:picLocks noChangeAspect="1"/>
          </p:cNvPicPr>
          <p:nvPr/>
        </p:nvPicPr>
        <p:blipFill>
          <a:blip r:embed="rId2"/>
          <a:stretch>
            <a:fillRect/>
          </a:stretch>
        </p:blipFill>
        <p:spPr>
          <a:xfrm>
            <a:off x="0" y="249382"/>
            <a:ext cx="12192000" cy="2207381"/>
          </a:xfrm>
          <a:prstGeom prst="rect">
            <a:avLst/>
          </a:prstGeom>
        </p:spPr>
      </p:pic>
      <p:pic>
        <p:nvPicPr>
          <p:cNvPr id="3" name="Picture 2">
            <a:extLst>
              <a:ext uri="{FF2B5EF4-FFF2-40B4-BE49-F238E27FC236}">
                <a16:creationId xmlns:a16="http://schemas.microsoft.com/office/drawing/2014/main" id="{C13F45A2-696C-3B01-497E-CAE53F0FA4A9}"/>
              </a:ext>
            </a:extLst>
          </p:cNvPr>
          <p:cNvPicPr>
            <a:picLocks noChangeAspect="1"/>
          </p:cNvPicPr>
          <p:nvPr/>
        </p:nvPicPr>
        <p:blipFill>
          <a:blip r:embed="rId3"/>
          <a:stretch>
            <a:fillRect/>
          </a:stretch>
        </p:blipFill>
        <p:spPr>
          <a:xfrm>
            <a:off x="2438400" y="4009027"/>
            <a:ext cx="7675418" cy="2702188"/>
          </a:xfrm>
          <a:prstGeom prst="rect">
            <a:avLst/>
          </a:prstGeom>
        </p:spPr>
      </p:pic>
      <p:sp>
        <p:nvSpPr>
          <p:cNvPr id="4" name="Down Arrow 3">
            <a:extLst>
              <a:ext uri="{FF2B5EF4-FFF2-40B4-BE49-F238E27FC236}">
                <a16:creationId xmlns:a16="http://schemas.microsoft.com/office/drawing/2014/main" id="{9A6E4F75-4E18-51DD-AF45-8B38A3FAD05B}"/>
              </a:ext>
            </a:extLst>
          </p:cNvPr>
          <p:cNvSpPr/>
          <p:nvPr/>
        </p:nvSpPr>
        <p:spPr>
          <a:xfrm>
            <a:off x="5209309" y="2660073"/>
            <a:ext cx="1191491" cy="11222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75808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38DD183-58FC-D2E4-A958-2CC5C657666B}"/>
                  </a:ext>
                </a:extLst>
              </p:cNvPr>
              <p:cNvSpPr txBox="1"/>
              <p:nvPr/>
            </p:nvSpPr>
            <p:spPr>
              <a:xfrm>
                <a:off x="4412672" y="360213"/>
                <a:ext cx="4045531" cy="15452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2</m:t>
                          </m:r>
                        </m:den>
                      </m:f>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−1)</m:t>
                          </m:r>
                        </m:num>
                        <m:den>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𝑉</m:t>
                              </m:r>
                            </m:e>
                            <m:sup>
                              <m:r>
                                <a:rPr lang="en-US" i="1">
                                  <a:solidFill>
                                    <a:srgbClr val="C00000"/>
                                  </a:solidFill>
                                  <a:latin typeface="Cambria Math" panose="02040503050406030204" pitchFamily="18" charset="0"/>
                                </a:rPr>
                                <m:t>2</m:t>
                              </m:r>
                            </m:sup>
                          </m:sSup>
                        </m:den>
                      </m:f>
                      <m:r>
                        <m:rPr>
                          <m:nor/>
                        </m:rPr>
                        <a:rPr lang="en-US" dirty="0">
                          <a:solidFill>
                            <a:srgbClr val="C00000"/>
                          </a:solidFill>
                        </a:rPr>
                        <m:t> </m:t>
                      </m:r>
                      <m:nary>
                        <m:naryPr>
                          <m:limLoc m:val="undOvr"/>
                          <m:subHide m:val="on"/>
                          <m:supHide m:val="on"/>
                          <m:ctrlPr>
                            <a:rPr lang="en-US" i="1">
                              <a:solidFill>
                                <a:srgbClr val="C00000"/>
                              </a:solidFill>
                              <a:latin typeface="Cambria Math" panose="02040503050406030204" pitchFamily="18" charset="0"/>
                            </a:rPr>
                          </m:ctrlPr>
                        </m:naryPr>
                        <m:sub/>
                        <m:sup/>
                        <m:e>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1</m:t>
                              </m:r>
                            </m:sub>
                          </m:sSub>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2</m:t>
                              </m:r>
                            </m:sub>
                          </m:sSub>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12</m:t>
                              </m:r>
                            </m:sub>
                          </m:sSub>
                        </m:e>
                      </m:nary>
                    </m:oMath>
                  </m:oMathPara>
                </a14:m>
                <a:endParaRPr lang="en-US" dirty="0">
                  <a:solidFill>
                    <a:srgbClr val="C00000"/>
                  </a:solidFill>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𝑉</m:t>
                          </m:r>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𝑑𝑟</m:t>
                          </m:r>
                          <m:r>
                            <a:rPr lang="en-US" b="0" i="1"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e>
                      </m:nary>
                    </m:oMath>
                  </m:oMathPara>
                </a14:m>
                <a:endParaRPr lang="en-CN" dirty="0"/>
              </a:p>
            </p:txBody>
          </p:sp>
        </mc:Choice>
        <mc:Fallback xmlns="">
          <p:sp>
            <p:nvSpPr>
              <p:cNvPr id="2" name="TextBox 1">
                <a:extLst>
                  <a:ext uri="{FF2B5EF4-FFF2-40B4-BE49-F238E27FC236}">
                    <a16:creationId xmlns:a16="http://schemas.microsoft.com/office/drawing/2014/main" id="{A38DD183-58FC-D2E4-A958-2CC5C657666B}"/>
                  </a:ext>
                </a:extLst>
              </p:cNvPr>
              <p:cNvSpPr txBox="1">
                <a:spLocks noRot="1" noChangeAspect="1" noMove="1" noResize="1" noEditPoints="1" noAdjustHandles="1" noChangeArrowheads="1" noChangeShapeType="1" noTextEdit="1"/>
              </p:cNvSpPr>
              <p:nvPr/>
            </p:nvSpPr>
            <p:spPr>
              <a:xfrm>
                <a:off x="4412672" y="360213"/>
                <a:ext cx="4045531" cy="1545295"/>
              </a:xfrm>
              <a:prstGeom prst="rect">
                <a:avLst/>
              </a:prstGeom>
              <a:blipFill>
                <a:blip r:embed="rId2"/>
                <a:stretch>
                  <a:fillRect t="-69919" b="-99187"/>
                </a:stretch>
              </a:blipFill>
            </p:spPr>
            <p:txBody>
              <a:bodyPr/>
              <a:lstStyle/>
              <a:p>
                <a:r>
                  <a:rPr lang="en-CN">
                    <a:noFill/>
                  </a:rPr>
                  <a:t> </a:t>
                </a:r>
              </a:p>
            </p:txBody>
          </p:sp>
        </mc:Fallback>
      </mc:AlternateContent>
      <p:sp>
        <p:nvSpPr>
          <p:cNvPr id="3" name="Oval 2">
            <a:extLst>
              <a:ext uri="{FF2B5EF4-FFF2-40B4-BE49-F238E27FC236}">
                <a16:creationId xmlns:a16="http://schemas.microsoft.com/office/drawing/2014/main" id="{52BC7EC2-C4FD-9E82-EFC1-0E98A1E3402A}"/>
              </a:ext>
            </a:extLst>
          </p:cNvPr>
          <p:cNvSpPr/>
          <p:nvPr/>
        </p:nvSpPr>
        <p:spPr>
          <a:xfrm>
            <a:off x="3920838" y="258493"/>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Oval 3">
            <a:extLst>
              <a:ext uri="{FF2B5EF4-FFF2-40B4-BE49-F238E27FC236}">
                <a16:creationId xmlns:a16="http://schemas.microsoft.com/office/drawing/2014/main" id="{2E1BA972-2957-2FCA-B790-66D82D83F5EF}"/>
              </a:ext>
            </a:extLst>
          </p:cNvPr>
          <p:cNvSpPr/>
          <p:nvPr/>
        </p:nvSpPr>
        <p:spPr>
          <a:xfrm>
            <a:off x="3945082" y="1077307"/>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E5407C49-598F-9D30-2758-96FDD89D66B5}"/>
              </a:ext>
            </a:extLst>
          </p:cNvPr>
          <p:cNvCxnSpPr>
            <a:cxnSpLocks/>
            <a:stCxn id="3" idx="0"/>
            <a:endCxn id="4" idx="4"/>
          </p:cNvCxnSpPr>
          <p:nvPr/>
        </p:nvCxnSpPr>
        <p:spPr>
          <a:xfrm>
            <a:off x="4024747" y="258493"/>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Right Arrow 5">
            <a:extLst>
              <a:ext uri="{FF2B5EF4-FFF2-40B4-BE49-F238E27FC236}">
                <a16:creationId xmlns:a16="http://schemas.microsoft.com/office/drawing/2014/main" id="{1B46489B-B00E-27FB-DB45-72B6A73B2A89}"/>
              </a:ext>
            </a:extLst>
          </p:cNvPr>
          <p:cNvSpPr/>
          <p:nvPr/>
        </p:nvSpPr>
        <p:spPr>
          <a:xfrm>
            <a:off x="4128656" y="1905508"/>
            <a:ext cx="3335482" cy="6373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CFCFD5F-041C-E928-8636-FFB690382474}"/>
                  </a:ext>
                </a:extLst>
              </p:cNvPr>
              <p:cNvSpPr txBox="1"/>
              <p:nvPr/>
            </p:nvSpPr>
            <p:spPr>
              <a:xfrm>
                <a:off x="581891" y="2672249"/>
                <a:ext cx="7277109" cy="16205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𝑉</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den>
                      </m:f>
                      <m:d>
                        <m:dPr>
                          <m:begChr m:val="["/>
                          <m:endChr m:val="]"/>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2</m:t>
                                  </m:r>
                                </m:sup>
                              </m:sSup>
                            </m:num>
                            <m:den>
                              <m:r>
                                <a:rPr lang="en-US" i="1">
                                  <a:latin typeface="Cambria Math" panose="02040503050406030204" pitchFamily="18" charset="0"/>
                                </a:rPr>
                                <m:t>𝑉</m:t>
                              </m:r>
                            </m:den>
                          </m:f>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𝑑𝑟</m:t>
                              </m:r>
                              <m:r>
                                <a:rPr lang="en-US" i="1">
                                  <a:latin typeface="Cambria Math" panose="02040503050406030204" pitchFamily="18" charset="0"/>
                                </a:rPr>
                                <m:t> </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e>
                          </m:nary>
                          <m:r>
                            <a:rPr lang="en-US" b="0" i="1" smtClean="0">
                              <a:latin typeface="Cambria Math" panose="02040503050406030204" pitchFamily="18" charset="0"/>
                            </a:rPr>
                            <m:t>+…</m:t>
                          </m:r>
                        </m:e>
                      </m:d>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𝑉</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𝑑𝑟</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e>
                          </m:nary>
                        </m:e>
                      </m:d>
                    </m:oMath>
                  </m:oMathPara>
                </a14:m>
                <a:endParaRPr lang="en-CN" dirty="0"/>
              </a:p>
            </p:txBody>
          </p:sp>
        </mc:Choice>
        <mc:Fallback xmlns="">
          <p:sp>
            <p:nvSpPr>
              <p:cNvPr id="7" name="TextBox 6">
                <a:extLst>
                  <a:ext uri="{FF2B5EF4-FFF2-40B4-BE49-F238E27FC236}">
                    <a16:creationId xmlns:a16="http://schemas.microsoft.com/office/drawing/2014/main" id="{8CFCFD5F-041C-E928-8636-FFB690382474}"/>
                  </a:ext>
                </a:extLst>
              </p:cNvPr>
              <p:cNvSpPr txBox="1">
                <a:spLocks noRot="1" noChangeAspect="1" noMove="1" noResize="1" noEditPoints="1" noAdjustHandles="1" noChangeArrowheads="1" noChangeShapeType="1" noTextEdit="1"/>
              </p:cNvSpPr>
              <p:nvPr/>
            </p:nvSpPr>
            <p:spPr>
              <a:xfrm>
                <a:off x="581891" y="2672249"/>
                <a:ext cx="7277109" cy="1620572"/>
              </a:xfrm>
              <a:prstGeom prst="rect">
                <a:avLst/>
              </a:prstGeom>
              <a:blipFill>
                <a:blip r:embed="rId3"/>
                <a:stretch>
                  <a:fillRect t="-65625" b="-96094"/>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CC8D0331-ACC7-1339-E0C6-05477BCAA966}"/>
              </a:ext>
            </a:extLst>
          </p:cNvPr>
          <p:cNvSpPr txBox="1"/>
          <p:nvPr/>
        </p:nvSpPr>
        <p:spPr>
          <a:xfrm>
            <a:off x="581891" y="4475018"/>
            <a:ext cx="4710545" cy="369332"/>
          </a:xfrm>
          <a:prstGeom prst="rect">
            <a:avLst/>
          </a:prstGeom>
          <a:noFill/>
        </p:spPr>
        <p:txBody>
          <a:bodyPr wrap="square" rtlCol="0">
            <a:spAutoFit/>
          </a:bodyPr>
          <a:lstStyle/>
          <a:p>
            <a:r>
              <a:rPr lang="en-CN" dirty="0">
                <a:solidFill>
                  <a:srgbClr val="FF0000"/>
                </a:solidFill>
              </a:rPr>
              <a:t>比较Virial展开</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E0009B-12B4-0AC9-85EF-724CDB1CDCA0}"/>
                  </a:ext>
                </a:extLst>
              </p:cNvPr>
              <p:cNvSpPr txBox="1"/>
              <p:nvPr/>
            </p:nvSpPr>
            <p:spPr>
              <a:xfrm>
                <a:off x="1593276" y="5026547"/>
                <a:ext cx="5254337" cy="6688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𝑉</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𝐵</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𝜏</m:t>
                              </m:r>
                              <m:r>
                                <a:rPr lang="en-US" b="0" i="1" smtClean="0">
                                  <a:solidFill>
                                    <a:srgbClr val="C00000"/>
                                  </a:solidFill>
                                  <a:latin typeface="Cambria Math" panose="02040503050406030204" pitchFamily="18" charset="0"/>
                                </a:rPr>
                                <m:t>)</m:t>
                              </m:r>
                            </m:num>
                            <m:den>
                              <m:r>
                                <a:rPr lang="en-US" b="0" i="1" smtClean="0">
                                  <a:solidFill>
                                    <a:srgbClr val="C00000"/>
                                  </a:solidFill>
                                  <a:latin typeface="Cambria Math" panose="02040503050406030204" pitchFamily="18" charset="0"/>
                                </a:rPr>
                                <m:t>𝑉</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𝑁</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rPr>
                                <m:t>)</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e>
                      </m:d>
                    </m:oMath>
                  </m:oMathPara>
                </a14:m>
                <a:endParaRPr lang="en-CN" dirty="0"/>
              </a:p>
            </p:txBody>
          </p:sp>
        </mc:Choice>
        <mc:Fallback xmlns="">
          <p:sp>
            <p:nvSpPr>
              <p:cNvPr id="9" name="TextBox 8">
                <a:extLst>
                  <a:ext uri="{FF2B5EF4-FFF2-40B4-BE49-F238E27FC236}">
                    <a16:creationId xmlns:a16="http://schemas.microsoft.com/office/drawing/2014/main" id="{A0E0009B-12B4-0AC9-85EF-724CDB1CDCA0}"/>
                  </a:ext>
                </a:extLst>
              </p:cNvPr>
              <p:cNvSpPr txBox="1">
                <a:spLocks noRot="1" noChangeAspect="1" noMove="1" noResize="1" noEditPoints="1" noAdjustHandles="1" noChangeArrowheads="1" noChangeShapeType="1" noTextEdit="1"/>
              </p:cNvSpPr>
              <p:nvPr/>
            </p:nvSpPr>
            <p:spPr>
              <a:xfrm>
                <a:off x="1593276" y="5026547"/>
                <a:ext cx="5254337" cy="668837"/>
              </a:xfrm>
              <a:prstGeom prst="rect">
                <a:avLst/>
              </a:prstGeom>
              <a:blipFill>
                <a:blip r:embed="rId4"/>
                <a:stretch>
                  <a:fillRect b="-9434"/>
                </a:stretch>
              </a:blipFill>
            </p:spPr>
            <p:txBody>
              <a:bodyPr/>
              <a:lstStyle/>
              <a:p>
                <a:r>
                  <a:rPr lang="en-CN">
                    <a:noFill/>
                  </a:rPr>
                  <a:t> </a:t>
                </a:r>
              </a:p>
            </p:txBody>
          </p:sp>
        </mc:Fallback>
      </mc:AlternateContent>
      <p:sp>
        <p:nvSpPr>
          <p:cNvPr id="10" name="Right Brace 9">
            <a:extLst>
              <a:ext uri="{FF2B5EF4-FFF2-40B4-BE49-F238E27FC236}">
                <a16:creationId xmlns:a16="http://schemas.microsoft.com/office/drawing/2014/main" id="{749830AE-32FE-29E9-B716-A2256EEDC01B}"/>
              </a:ext>
            </a:extLst>
          </p:cNvPr>
          <p:cNvSpPr/>
          <p:nvPr/>
        </p:nvSpPr>
        <p:spPr>
          <a:xfrm>
            <a:off x="6303818" y="3034145"/>
            <a:ext cx="762000" cy="23268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5A3C1A6-E1B7-D156-6F24-E0BE729BD913}"/>
                  </a:ext>
                </a:extLst>
              </p:cNvPr>
              <p:cNvSpPr txBox="1"/>
              <p:nvPr/>
            </p:nvSpPr>
            <p:spPr>
              <a:xfrm>
                <a:off x="7287491" y="3602182"/>
                <a:ext cx="4184073" cy="13372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 4</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𝑑𝑟</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𝜋</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𝑑𝑟</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−1</m:t>
                              </m:r>
                            </m:e>
                          </m:d>
                        </m:e>
                      </m:nary>
                    </m:oMath>
                  </m:oMathPara>
                </a14:m>
                <a:endParaRPr lang="en-CN" dirty="0"/>
              </a:p>
            </p:txBody>
          </p:sp>
        </mc:Choice>
        <mc:Fallback xmlns="">
          <p:sp>
            <p:nvSpPr>
              <p:cNvPr id="11" name="TextBox 10">
                <a:extLst>
                  <a:ext uri="{FF2B5EF4-FFF2-40B4-BE49-F238E27FC236}">
                    <a16:creationId xmlns:a16="http://schemas.microsoft.com/office/drawing/2014/main" id="{65A3C1A6-E1B7-D156-6F24-E0BE729BD913}"/>
                  </a:ext>
                </a:extLst>
              </p:cNvPr>
              <p:cNvSpPr txBox="1">
                <a:spLocks noRot="1" noChangeAspect="1" noMove="1" noResize="1" noEditPoints="1" noAdjustHandles="1" noChangeArrowheads="1" noChangeShapeType="1" noTextEdit="1"/>
              </p:cNvSpPr>
              <p:nvPr/>
            </p:nvSpPr>
            <p:spPr>
              <a:xfrm>
                <a:off x="7287491" y="3602182"/>
                <a:ext cx="4184073" cy="1337226"/>
              </a:xfrm>
              <a:prstGeom prst="rect">
                <a:avLst/>
              </a:prstGeom>
              <a:blipFill>
                <a:blip r:embed="rId5"/>
                <a:stretch>
                  <a:fillRect t="-83019" b="-119811"/>
                </a:stretch>
              </a:blipFill>
            </p:spPr>
            <p:txBody>
              <a:bodyPr/>
              <a:lstStyle/>
              <a:p>
                <a:r>
                  <a:rPr lang="en-CN">
                    <a:noFill/>
                  </a:rPr>
                  <a:t> </a:t>
                </a:r>
              </a:p>
            </p:txBody>
          </p:sp>
        </mc:Fallback>
      </mc:AlternateContent>
    </p:spTree>
    <p:extLst>
      <p:ext uri="{BB962C8B-B14F-4D97-AF65-F5344CB8AC3E}">
        <p14:creationId xmlns:p14="http://schemas.microsoft.com/office/powerpoint/2010/main" val="634295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6D4CA4-DAAD-CC1E-F8BF-39F3144537C4}"/>
              </a:ext>
            </a:extLst>
          </p:cNvPr>
          <p:cNvPicPr>
            <a:picLocks noChangeAspect="1"/>
          </p:cNvPicPr>
          <p:nvPr/>
        </p:nvPicPr>
        <p:blipFill>
          <a:blip r:embed="rId2"/>
          <a:stretch>
            <a:fillRect/>
          </a:stretch>
        </p:blipFill>
        <p:spPr>
          <a:xfrm>
            <a:off x="1527658" y="124691"/>
            <a:ext cx="9136684" cy="521681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15C529-DCA8-EF43-FDDD-5311C71F526E}"/>
                  </a:ext>
                </a:extLst>
              </p:cNvPr>
              <p:cNvSpPr txBox="1"/>
              <p:nvPr/>
            </p:nvSpPr>
            <p:spPr>
              <a:xfrm>
                <a:off x="3588327" y="5749636"/>
                <a:ext cx="5430982" cy="8082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0</m:t>
                                          </m:r>
                                        </m:sub>
                                      </m:sSub>
                                    </m:num>
                                    <m:den>
                                      <m:r>
                                        <a:rPr lang="en-US" b="0" i="1" smtClean="0">
                                          <a:latin typeface="Cambria Math" panose="02040503050406030204" pitchFamily="18" charset="0"/>
                                        </a:rPr>
                                        <m:t>𝑟</m:t>
                                      </m:r>
                                    </m:den>
                                  </m:f>
                                </m:e>
                              </m:d>
                            </m:e>
                            <m:sup>
                              <m:r>
                                <a:rPr lang="en-US" b="0" i="1" smtClean="0">
                                  <a:latin typeface="Cambria Math" panose="02040503050406030204" pitchFamily="18" charset="0"/>
                                </a:rPr>
                                <m:t>12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0</m:t>
                                          </m:r>
                                        </m:sub>
                                      </m:sSub>
                                    </m:num>
                                    <m:den>
                                      <m:r>
                                        <a:rPr lang="en-US" b="0" i="1" smtClean="0">
                                          <a:latin typeface="Cambria Math" panose="02040503050406030204" pitchFamily="18" charset="0"/>
                                        </a:rPr>
                                        <m:t>𝑟</m:t>
                                      </m:r>
                                    </m:den>
                                  </m:f>
                                </m:e>
                              </m:d>
                            </m:e>
                            <m:sup>
                              <m:r>
                                <a:rPr lang="en-US" b="0" i="1" smtClean="0">
                                  <a:latin typeface="Cambria Math" panose="02040503050406030204" pitchFamily="18" charset="0"/>
                                </a:rPr>
                                <m:t>6</m:t>
                              </m:r>
                            </m:sup>
                          </m:sSup>
                        </m:e>
                      </m:d>
                    </m:oMath>
                  </m:oMathPara>
                </a14:m>
                <a:endParaRPr lang="en-CN" dirty="0"/>
              </a:p>
            </p:txBody>
          </p:sp>
        </mc:Choice>
        <mc:Fallback xmlns="">
          <p:sp>
            <p:nvSpPr>
              <p:cNvPr id="3" name="TextBox 2">
                <a:extLst>
                  <a:ext uri="{FF2B5EF4-FFF2-40B4-BE49-F238E27FC236}">
                    <a16:creationId xmlns:a16="http://schemas.microsoft.com/office/drawing/2014/main" id="{C015C529-DCA8-EF43-FDDD-5311C71F526E}"/>
                  </a:ext>
                </a:extLst>
              </p:cNvPr>
              <p:cNvSpPr txBox="1">
                <a:spLocks noRot="1" noChangeAspect="1" noMove="1" noResize="1" noEditPoints="1" noAdjustHandles="1" noChangeArrowheads="1" noChangeShapeType="1" noTextEdit="1"/>
              </p:cNvSpPr>
              <p:nvPr/>
            </p:nvSpPr>
            <p:spPr>
              <a:xfrm>
                <a:off x="3588327" y="5749636"/>
                <a:ext cx="5430982" cy="808235"/>
              </a:xfrm>
              <a:prstGeom prst="rect">
                <a:avLst/>
              </a:prstGeom>
              <a:blipFill>
                <a:blip r:embed="rId3"/>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415232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DEE8B3-AF8B-92D2-4098-52BCB0ABFF1E}"/>
                  </a:ext>
                </a:extLst>
              </p:cNvPr>
              <p:cNvSpPr txBox="1"/>
              <p:nvPr/>
            </p:nvSpPr>
            <p:spPr>
              <a:xfrm>
                <a:off x="1233055" y="498764"/>
                <a:ext cx="8922327" cy="9766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brk m:alnAt="7"/>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&lt;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0</m:t>
                                  </m:r>
                                </m:sub>
                              </m:sSub>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0</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0</m:t>
                                              </m:r>
                                            </m:sub>
                                          </m:sSub>
                                        </m:num>
                                        <m:den>
                                          <m:r>
                                            <a:rPr lang="en-US" i="1">
                                              <a:latin typeface="Cambria Math" panose="02040503050406030204" pitchFamily="18" charset="0"/>
                                            </a:rPr>
                                            <m:t>𝑟</m:t>
                                          </m:r>
                                        </m:den>
                                      </m:f>
                                    </m:e>
                                  </m:d>
                                </m:e>
                                <m:sup>
                                  <m:r>
                                    <a:rPr lang="en-US" i="1">
                                      <a:latin typeface="Cambria Math" panose="02040503050406030204" pitchFamily="18" charset="0"/>
                                    </a:rPr>
                                    <m:t>6</m:t>
                                  </m:r>
                                </m:sup>
                              </m:sSup>
                              <m:r>
                                <a:rPr lang="en-US" i="1">
                                  <a:latin typeface="Cambria Math" panose="02040503050406030204" pitchFamily="18" charset="0"/>
                                </a:rPr>
                                <m:t>, </m:t>
                              </m:r>
                              <m:r>
                                <a:rPr lang="en-US" i="1">
                                  <a:latin typeface="Cambria Math" panose="02040503050406030204" pitchFamily="18" charset="0"/>
                                </a:rPr>
                                <m:t>𝑟</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0</m:t>
                                  </m:r>
                                </m:sub>
                              </m:sSub>
                            </m:e>
                          </m:eqArr>
                        </m:e>
                      </m:d>
                    </m:oMath>
                  </m:oMathPara>
                </a14:m>
                <a:endParaRPr lang="en-CN" dirty="0"/>
              </a:p>
            </p:txBody>
          </p:sp>
        </mc:Choice>
        <mc:Fallback xmlns="">
          <p:sp>
            <p:nvSpPr>
              <p:cNvPr id="2" name="TextBox 1">
                <a:extLst>
                  <a:ext uri="{FF2B5EF4-FFF2-40B4-BE49-F238E27FC236}">
                    <a16:creationId xmlns:a16="http://schemas.microsoft.com/office/drawing/2014/main" id="{5ADEE8B3-AF8B-92D2-4098-52BCB0ABFF1E}"/>
                  </a:ext>
                </a:extLst>
              </p:cNvPr>
              <p:cNvSpPr txBox="1">
                <a:spLocks noRot="1" noChangeAspect="1" noMove="1" noResize="1" noEditPoints="1" noAdjustHandles="1" noChangeArrowheads="1" noChangeShapeType="1" noTextEdit="1"/>
              </p:cNvSpPr>
              <p:nvPr/>
            </p:nvSpPr>
            <p:spPr>
              <a:xfrm>
                <a:off x="1233055" y="498764"/>
                <a:ext cx="8922327" cy="976614"/>
              </a:xfrm>
              <a:prstGeom prst="rect">
                <a:avLst/>
              </a:prstGeom>
              <a:blipFill>
                <a:blip r:embed="rId2"/>
                <a:stretch>
                  <a:fillRect t="-203846" b="-2910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B65C3E6-8115-4EF6-5A99-9B429FBBF1B7}"/>
                  </a:ext>
                </a:extLst>
              </p:cNvPr>
              <p:cNvSpPr txBox="1"/>
              <p:nvPr/>
            </p:nvSpPr>
            <p:spPr>
              <a:xfrm>
                <a:off x="1018309" y="2909455"/>
                <a:ext cx="10155382"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3" name="TextBox 2">
                <a:extLst>
                  <a:ext uri="{FF2B5EF4-FFF2-40B4-BE49-F238E27FC236}">
                    <a16:creationId xmlns:a16="http://schemas.microsoft.com/office/drawing/2014/main" id="{0B65C3E6-8115-4EF6-5A99-9B429FBBF1B7}"/>
                  </a:ext>
                </a:extLst>
              </p:cNvPr>
              <p:cNvSpPr txBox="1">
                <a:spLocks noRot="1" noChangeAspect="1" noMove="1" noResize="1" noEditPoints="1" noAdjustHandles="1" noChangeArrowheads="1" noChangeShapeType="1" noTextEdit="1"/>
              </p:cNvSpPr>
              <p:nvPr/>
            </p:nvSpPr>
            <p:spPr>
              <a:xfrm>
                <a:off x="1018309" y="2909455"/>
                <a:ext cx="10155382" cy="646331"/>
              </a:xfrm>
              <a:prstGeom prst="rect">
                <a:avLst/>
              </a:prstGeom>
              <a:blipFill>
                <a:blip r:embed="rId3"/>
                <a:stretch>
                  <a:fillRect b="-3846"/>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7CF91B7D-A392-BB89-D157-E6A683B1A66F}"/>
              </a:ext>
            </a:extLst>
          </p:cNvPr>
          <p:cNvSpPr/>
          <p:nvPr/>
        </p:nvSpPr>
        <p:spPr>
          <a:xfrm>
            <a:off x="5694218" y="1524000"/>
            <a:ext cx="554182" cy="11222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69EA2CE-04DA-4F23-EB5E-22BDB6C4D51A}"/>
                  </a:ext>
                </a:extLst>
              </p:cNvPr>
              <p:cNvSpPr txBox="1"/>
              <p:nvPr/>
            </p:nvSpPr>
            <p:spPr>
              <a:xfrm>
                <a:off x="6539345" y="1717964"/>
                <a:ext cx="3616037" cy="6769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3</m:t>
                              </m:r>
                            </m:sup>
                          </m:sSub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0</m:t>
                              </m:r>
                            </m:sub>
                          </m:sSub>
                        </m:num>
                        <m:den>
                          <m:r>
                            <a:rPr lang="en-US" b="0" i="1" smtClean="0">
                              <a:latin typeface="Cambria Math" panose="02040503050406030204" pitchFamily="18" charset="0"/>
                            </a:rPr>
                            <m:t>3</m:t>
                          </m:r>
                        </m:den>
                      </m:f>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3</m:t>
                              </m:r>
                            </m:sup>
                          </m:sSubSup>
                        </m:num>
                        <m:den>
                          <m:r>
                            <a:rPr lang="en-US" b="0" i="1" smtClean="0">
                              <a:latin typeface="Cambria Math" panose="02040503050406030204" pitchFamily="18" charset="0"/>
                            </a:rPr>
                            <m:t>3</m:t>
                          </m:r>
                        </m:den>
                      </m:f>
                    </m:oMath>
                  </m:oMathPara>
                </a14:m>
                <a:endParaRPr lang="en-CN" dirty="0"/>
              </a:p>
            </p:txBody>
          </p:sp>
        </mc:Choice>
        <mc:Fallback xmlns="">
          <p:sp>
            <p:nvSpPr>
              <p:cNvPr id="5" name="TextBox 4">
                <a:extLst>
                  <a:ext uri="{FF2B5EF4-FFF2-40B4-BE49-F238E27FC236}">
                    <a16:creationId xmlns:a16="http://schemas.microsoft.com/office/drawing/2014/main" id="{969EA2CE-04DA-4F23-EB5E-22BDB6C4D51A}"/>
                  </a:ext>
                </a:extLst>
              </p:cNvPr>
              <p:cNvSpPr txBox="1">
                <a:spLocks noRot="1" noChangeAspect="1" noMove="1" noResize="1" noEditPoints="1" noAdjustHandles="1" noChangeArrowheads="1" noChangeShapeType="1" noTextEdit="1"/>
              </p:cNvSpPr>
              <p:nvPr/>
            </p:nvSpPr>
            <p:spPr>
              <a:xfrm>
                <a:off x="6539345" y="1717964"/>
                <a:ext cx="3616037" cy="676980"/>
              </a:xfrm>
              <a:prstGeom prst="rect">
                <a:avLst/>
              </a:prstGeom>
              <a:blipFill>
                <a:blip r:embed="rId4"/>
                <a:stretch>
                  <a:fillRect b="-1852"/>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A7FD04F4-E5C0-2D8C-02D4-49DEF4FD97F8}"/>
              </a:ext>
            </a:extLst>
          </p:cNvPr>
          <p:cNvSpPr/>
          <p:nvPr/>
        </p:nvSpPr>
        <p:spPr>
          <a:xfrm>
            <a:off x="5694218" y="3819023"/>
            <a:ext cx="554182" cy="11222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8DAF8C-903E-E33B-1CF5-42EA049CF4A7}"/>
                  </a:ext>
                </a:extLst>
              </p:cNvPr>
              <p:cNvSpPr txBox="1"/>
              <p:nvPr/>
            </p:nvSpPr>
            <p:spPr>
              <a:xfrm>
                <a:off x="4606636" y="5722150"/>
                <a:ext cx="3283527" cy="7371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r>
                            <a:rPr lang="en-US" b="0" i="1" smtClean="0">
                              <a:latin typeface="Cambria Math" panose="02040503050406030204" pitchFamily="18" charset="0"/>
                              <a:ea typeface="Cambria Math" panose="02040503050406030204" pitchFamily="18" charset="0"/>
                            </a:rPr>
                            <m:t>𝑁</m:t>
                          </m:r>
                        </m:den>
                      </m:f>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𝑎</m:t>
                          </m:r>
                        </m:e>
                      </m:d>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𝑏</m:t>
                              </m:r>
                            </m:e>
                          </m:d>
                        </m:e>
                        <m:sup>
                          <m:r>
                            <a:rPr lang="en-US" b="0" i="1" smtClean="0">
                              <a:latin typeface="Cambria Math" panose="02040503050406030204" pitchFamily="18" charset="0"/>
                              <a:ea typeface="Cambria Math" panose="02040503050406030204" pitchFamily="18" charset="0"/>
                            </a:rPr>
                            <m:t>−1</m:t>
                          </m:r>
                        </m:sup>
                      </m:sSup>
                    </m:oMath>
                  </m:oMathPara>
                </a14:m>
                <a:endParaRPr lang="en-CN" dirty="0"/>
              </a:p>
            </p:txBody>
          </p:sp>
        </mc:Choice>
        <mc:Fallback xmlns="">
          <p:sp>
            <p:nvSpPr>
              <p:cNvPr id="7" name="TextBox 6">
                <a:extLst>
                  <a:ext uri="{FF2B5EF4-FFF2-40B4-BE49-F238E27FC236}">
                    <a16:creationId xmlns:a16="http://schemas.microsoft.com/office/drawing/2014/main" id="{A88DAF8C-903E-E33B-1CF5-42EA049CF4A7}"/>
                  </a:ext>
                </a:extLst>
              </p:cNvPr>
              <p:cNvSpPr txBox="1">
                <a:spLocks noRot="1" noChangeAspect="1" noMove="1" noResize="1" noEditPoints="1" noAdjustHandles="1" noChangeArrowheads="1" noChangeShapeType="1" noTextEdit="1"/>
              </p:cNvSpPr>
              <p:nvPr/>
            </p:nvSpPr>
            <p:spPr>
              <a:xfrm>
                <a:off x="4606636" y="5722150"/>
                <a:ext cx="3283527" cy="737189"/>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8E8E66-3084-62C3-7A7C-BA4FE7481D5E}"/>
                  </a:ext>
                </a:extLst>
              </p:cNvPr>
              <p:cNvSpPr txBox="1"/>
              <p:nvPr/>
            </p:nvSpPr>
            <p:spPr>
              <a:xfrm>
                <a:off x="8866909" y="5694330"/>
                <a:ext cx="2978726" cy="7203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CN" i="1" smtClean="0">
                              <a:latin typeface="Cambria Math" panose="02040503050406030204" pitchFamily="18" charset="0"/>
                            </a:rPr>
                          </m:ctrlPr>
                        </m:dPr>
                        <m:e>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den>
                          </m:f>
                          <m:r>
                            <a:rPr lang="en-US" b="0" i="1" smtClean="0">
                              <a:solidFill>
                                <a:srgbClr val="C00000"/>
                              </a:solidFill>
                              <a:latin typeface="Cambria Math" panose="02040503050406030204" pitchFamily="18" charset="0"/>
                            </a:rPr>
                            <m:t>𝑎</m:t>
                          </m:r>
                        </m:e>
                      </m:d>
                      <m:d>
                        <m:dPr>
                          <m:ctrlPr>
                            <a:rPr lang="en-CN" i="1" smtClean="0">
                              <a:latin typeface="Cambria Math" panose="02040503050406030204" pitchFamily="18" charset="0"/>
                            </a:rPr>
                          </m:ctrlPr>
                        </m:dPr>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𝑁𝑏</m:t>
                          </m:r>
                        </m:e>
                      </m:d>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8" name="TextBox 7">
                <a:extLst>
                  <a:ext uri="{FF2B5EF4-FFF2-40B4-BE49-F238E27FC236}">
                    <a16:creationId xmlns:a16="http://schemas.microsoft.com/office/drawing/2014/main" id="{9C8E8E66-3084-62C3-7A7C-BA4FE7481D5E}"/>
                  </a:ext>
                </a:extLst>
              </p:cNvPr>
              <p:cNvSpPr txBox="1">
                <a:spLocks noRot="1" noChangeAspect="1" noMove="1" noResize="1" noEditPoints="1" noAdjustHandles="1" noChangeArrowheads="1" noChangeShapeType="1" noTextEdit="1"/>
              </p:cNvSpPr>
              <p:nvPr/>
            </p:nvSpPr>
            <p:spPr>
              <a:xfrm>
                <a:off x="8866909" y="5694330"/>
                <a:ext cx="2978726" cy="720325"/>
              </a:xfrm>
              <a:prstGeom prst="rect">
                <a:avLst/>
              </a:prstGeom>
              <a:blipFill>
                <a:blip r:embed="rId6"/>
                <a:stretch>
                  <a:fillRect/>
                </a:stretch>
              </a:blipFill>
            </p:spPr>
            <p:txBody>
              <a:bodyPr/>
              <a:lstStyle/>
              <a:p>
                <a:r>
                  <a:rPr lang="en-CN">
                    <a:noFill/>
                  </a:rPr>
                  <a:t> </a:t>
                </a:r>
              </a:p>
            </p:txBody>
          </p:sp>
        </mc:Fallback>
      </mc:AlternateContent>
      <p:sp>
        <p:nvSpPr>
          <p:cNvPr id="9" name="Right Arrow 8">
            <a:extLst>
              <a:ext uri="{FF2B5EF4-FFF2-40B4-BE49-F238E27FC236}">
                <a16:creationId xmlns:a16="http://schemas.microsoft.com/office/drawing/2014/main" id="{173F1DC8-780B-EA7C-D6FB-C489F12C0B9F}"/>
              </a:ext>
            </a:extLst>
          </p:cNvPr>
          <p:cNvSpPr/>
          <p:nvPr/>
        </p:nvSpPr>
        <p:spPr>
          <a:xfrm>
            <a:off x="7889332" y="587460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C07324F-8131-3167-C245-2D003301BE37}"/>
                  </a:ext>
                </a:extLst>
              </p:cNvPr>
              <p:cNvSpPr txBox="1"/>
              <p:nvPr/>
            </p:nvSpPr>
            <p:spPr>
              <a:xfrm>
                <a:off x="1960418" y="1717964"/>
                <a:ext cx="3588327" cy="6314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r>
                            <a:rPr lang="en-CN" i="1" smtClean="0">
                              <a:latin typeface="Cambria Math" panose="02040503050406030204" pitchFamily="18" charset="0"/>
                              <a:ea typeface="Cambria Math" panose="02040503050406030204" pitchFamily="18" charset="0"/>
                            </a:rPr>
                            <m:t>𝛽</m:t>
                          </m:r>
                          <m:sSub>
                            <m:sSubPr>
                              <m:ctrlPr>
                                <a:rPr lang="en-CN"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0</m:t>
                              </m:r>
                            </m:sub>
                          </m:sSub>
                          <m:sSup>
                            <m:sSupPr>
                              <m:ctrlPr>
                                <a:rPr lang="en-CN" i="1" smtClean="0">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f>
                                    <m:fPr>
                                      <m:ctrlPr>
                                        <a:rPr lang="en-CN" i="1" smtClean="0">
                                          <a:latin typeface="Cambria Math" panose="02040503050406030204" pitchFamily="18" charset="0"/>
                                          <a:ea typeface="Cambria Math" panose="02040503050406030204" pitchFamily="18" charset="0"/>
                                        </a:rPr>
                                      </m:ctrlPr>
                                    </m:fPr>
                                    <m:num>
                                      <m:sSub>
                                        <m:sSubPr>
                                          <m:ctrlPr>
                                            <a:rPr lang="en-CN"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0</m:t>
                                          </m:r>
                                        </m:sub>
                                      </m:sSub>
                                    </m:num>
                                    <m:den>
                                      <m:r>
                                        <a:rPr lang="en-US" b="0" i="1" smtClean="0">
                                          <a:latin typeface="Cambria Math" panose="02040503050406030204" pitchFamily="18" charset="0"/>
                                          <a:ea typeface="Cambria Math" panose="02040503050406030204" pitchFamily="18" charset="0"/>
                                        </a:rPr>
                                        <m:t>𝑟</m:t>
                                      </m:r>
                                    </m:den>
                                  </m:f>
                                </m:e>
                              </m:d>
                            </m:e>
                            <m:sup>
                              <m:r>
                                <a:rPr lang="en-US" b="0" i="1" smtClean="0">
                                  <a:latin typeface="Cambria Math" panose="02040503050406030204" pitchFamily="18" charset="0"/>
                                  <a:ea typeface="Cambria Math" panose="02040503050406030204" pitchFamily="18" charset="0"/>
                                </a:rPr>
                                <m:t>6</m:t>
                              </m:r>
                            </m:sup>
                          </m:sSup>
                        </m:sup>
                      </m:sSup>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CN" i="1">
                          <a:latin typeface="Cambria Math" panose="02040503050406030204" pitchFamily="18" charset="0"/>
                          <a:ea typeface="Cambria Math" panose="02040503050406030204" pitchFamily="18" charset="0"/>
                        </a:rPr>
                        <m:t>𝛽</m:t>
                      </m:r>
                      <m:sSub>
                        <m:sSubPr>
                          <m:ctrlPr>
                            <a:rPr lang="en-CN"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𝑢</m:t>
                          </m:r>
                        </m:e>
                        <m:sub>
                          <m:r>
                            <a:rPr lang="en-US" i="1">
                              <a:latin typeface="Cambria Math" panose="02040503050406030204" pitchFamily="18" charset="0"/>
                              <a:ea typeface="Cambria Math" panose="02040503050406030204" pitchFamily="18" charset="0"/>
                            </a:rPr>
                            <m:t>0</m:t>
                          </m:r>
                        </m:sub>
                      </m:sSub>
                      <m:sSup>
                        <m:sSupPr>
                          <m:ctrlPr>
                            <a:rPr lang="en-CN" i="1">
                              <a:latin typeface="Cambria Math" panose="02040503050406030204" pitchFamily="18" charset="0"/>
                              <a:ea typeface="Cambria Math" panose="02040503050406030204" pitchFamily="18" charset="0"/>
                            </a:rPr>
                          </m:ctrlPr>
                        </m:sSupPr>
                        <m:e>
                          <m:d>
                            <m:dPr>
                              <m:ctrlPr>
                                <a:rPr lang="en-CN" i="1">
                                  <a:latin typeface="Cambria Math" panose="02040503050406030204" pitchFamily="18" charset="0"/>
                                  <a:ea typeface="Cambria Math" panose="02040503050406030204" pitchFamily="18" charset="0"/>
                                </a:rPr>
                              </m:ctrlPr>
                            </m:dPr>
                            <m:e>
                              <m:f>
                                <m:fPr>
                                  <m:ctrlPr>
                                    <a:rPr lang="en-CN" i="1">
                                      <a:latin typeface="Cambria Math" panose="02040503050406030204" pitchFamily="18" charset="0"/>
                                      <a:ea typeface="Cambria Math" panose="02040503050406030204" pitchFamily="18" charset="0"/>
                                    </a:rPr>
                                  </m:ctrlPr>
                                </m:fPr>
                                <m:num>
                                  <m:sSub>
                                    <m:sSubPr>
                                      <m:ctrlPr>
                                        <a:rPr lang="en-CN"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0</m:t>
                                      </m:r>
                                    </m:sub>
                                  </m:sSub>
                                </m:num>
                                <m:den>
                                  <m:r>
                                    <a:rPr lang="en-US" i="1">
                                      <a:latin typeface="Cambria Math" panose="02040503050406030204" pitchFamily="18" charset="0"/>
                                      <a:ea typeface="Cambria Math" panose="02040503050406030204" pitchFamily="18" charset="0"/>
                                    </a:rPr>
                                    <m:t>𝑟</m:t>
                                  </m:r>
                                </m:den>
                              </m:f>
                            </m:e>
                          </m:d>
                        </m:e>
                        <m:sup>
                          <m:r>
                            <a:rPr lang="en-US" i="1">
                              <a:latin typeface="Cambria Math" panose="02040503050406030204" pitchFamily="18" charset="0"/>
                              <a:ea typeface="Cambria Math" panose="02040503050406030204" pitchFamily="18" charset="0"/>
                            </a:rPr>
                            <m:t>6</m:t>
                          </m:r>
                        </m:sup>
                      </m:sSup>
                    </m:oMath>
                  </m:oMathPara>
                </a14:m>
                <a:endParaRPr lang="en-CN" dirty="0"/>
              </a:p>
            </p:txBody>
          </p:sp>
        </mc:Choice>
        <mc:Fallback xmlns="">
          <p:sp>
            <p:nvSpPr>
              <p:cNvPr id="10" name="TextBox 9">
                <a:extLst>
                  <a:ext uri="{FF2B5EF4-FFF2-40B4-BE49-F238E27FC236}">
                    <a16:creationId xmlns:a16="http://schemas.microsoft.com/office/drawing/2014/main" id="{0C07324F-8131-3167-C245-2D003301BE37}"/>
                  </a:ext>
                </a:extLst>
              </p:cNvPr>
              <p:cNvSpPr txBox="1">
                <a:spLocks noRot="1" noChangeAspect="1" noMove="1" noResize="1" noEditPoints="1" noAdjustHandles="1" noChangeArrowheads="1" noChangeShapeType="1" noTextEdit="1"/>
              </p:cNvSpPr>
              <p:nvPr/>
            </p:nvSpPr>
            <p:spPr>
              <a:xfrm>
                <a:off x="1960418" y="1717964"/>
                <a:ext cx="3588327" cy="631455"/>
              </a:xfrm>
              <a:prstGeom prst="rect">
                <a:avLst/>
              </a:prstGeom>
              <a:blipFill>
                <a:blip r:embed="rId7"/>
                <a:stretch>
                  <a:fillRect b="-2000"/>
                </a:stretch>
              </a:blipFill>
            </p:spPr>
            <p:txBody>
              <a:bodyPr/>
              <a:lstStyle/>
              <a:p>
                <a:r>
                  <a:rPr lang="en-CN">
                    <a:noFill/>
                  </a:rPr>
                  <a:t> </a:t>
                </a:r>
              </a:p>
            </p:txBody>
          </p:sp>
        </mc:Fallback>
      </mc:AlternateContent>
    </p:spTree>
    <p:extLst>
      <p:ext uri="{BB962C8B-B14F-4D97-AF65-F5344CB8AC3E}">
        <p14:creationId xmlns:p14="http://schemas.microsoft.com/office/powerpoint/2010/main" val="3341371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1F3A8A-55BC-2042-6551-B17AB88EEF8F}"/>
              </a:ext>
            </a:extLst>
          </p:cNvPr>
          <p:cNvSpPr txBox="1"/>
          <p:nvPr/>
        </p:nvSpPr>
        <p:spPr>
          <a:xfrm>
            <a:off x="678873" y="290945"/>
            <a:ext cx="8797636" cy="369332"/>
          </a:xfrm>
          <a:prstGeom prst="rect">
            <a:avLst/>
          </a:prstGeom>
          <a:noFill/>
        </p:spPr>
        <p:txBody>
          <a:bodyPr wrap="square" rtlCol="0">
            <a:spAutoFit/>
          </a:bodyPr>
          <a:lstStyle/>
          <a:p>
            <a:r>
              <a:rPr lang="en-CN" dirty="0"/>
              <a:t>另外一种方式</a:t>
            </a:r>
          </a:p>
        </p:txBody>
      </p:sp>
      <p:pic>
        <p:nvPicPr>
          <p:cNvPr id="4" name="Picture 3">
            <a:extLst>
              <a:ext uri="{FF2B5EF4-FFF2-40B4-BE49-F238E27FC236}">
                <a16:creationId xmlns:a16="http://schemas.microsoft.com/office/drawing/2014/main" id="{ED3C4574-A716-4F71-2560-3E89E56D30B4}"/>
              </a:ext>
            </a:extLst>
          </p:cNvPr>
          <p:cNvPicPr>
            <a:picLocks noChangeAspect="1"/>
          </p:cNvPicPr>
          <p:nvPr/>
        </p:nvPicPr>
        <p:blipFill>
          <a:blip r:embed="rId2"/>
          <a:stretch>
            <a:fillRect/>
          </a:stretch>
        </p:blipFill>
        <p:spPr>
          <a:xfrm>
            <a:off x="1565565" y="994769"/>
            <a:ext cx="8452838" cy="4191572"/>
          </a:xfrm>
          <a:prstGeom prst="rect">
            <a:avLst/>
          </a:prstGeom>
        </p:spPr>
      </p:pic>
    </p:spTree>
    <p:extLst>
      <p:ext uri="{BB962C8B-B14F-4D97-AF65-F5344CB8AC3E}">
        <p14:creationId xmlns:p14="http://schemas.microsoft.com/office/powerpoint/2010/main" val="3059497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C6641-0559-0875-EEB7-DE4E2EBC45B5}"/>
              </a:ext>
            </a:extLst>
          </p:cNvPr>
          <p:cNvSpPr txBox="1"/>
          <p:nvPr/>
        </p:nvSpPr>
        <p:spPr>
          <a:xfrm>
            <a:off x="609600" y="484909"/>
            <a:ext cx="10161069" cy="369332"/>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仅考虑两体相互作用(目前能够把握的一件事情</a:t>
            </a:r>
            <a:r>
              <a:rPr lang="zh-CN" altLang="en-US" dirty="0">
                <a:latin typeface="Songti TC" panose="02010600040101010101" pitchFamily="2" charset="-120"/>
                <a:ea typeface="Songti TC" panose="02010600040101010101" pitchFamily="2" charset="-120"/>
              </a:rPr>
              <a:t>，三体等更复杂的相互作用</a:t>
            </a:r>
            <a:r>
              <a:rPr lang="en-CN" dirty="0">
                <a:latin typeface="Songti TC" panose="02010600040101010101" pitchFamily="2" charset="-120"/>
                <a:ea typeface="Songti TC" panose="02010600040101010101" pitchFamily="2" charset="-120"/>
              </a:rPr>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0CC961-727E-48D0-FBA1-EC3D087FAB0B}"/>
                  </a:ext>
                </a:extLst>
              </p:cNvPr>
              <p:cNvSpPr txBox="1"/>
              <p:nvPr/>
            </p:nvSpPr>
            <p:spPr>
              <a:xfrm>
                <a:off x="3016827" y="854241"/>
                <a:ext cx="6158346" cy="31393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20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𝑝𝑜𝑡</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1</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𝑟</m:t>
                          </m:r>
                        </m:e>
                        <m:sub>
                          <m:r>
                            <a:rPr lang="en-US" sz="3200" b="0" i="1" smtClean="0">
                              <a:solidFill>
                                <a:srgbClr val="C00000"/>
                              </a:solidFill>
                              <a:latin typeface="Cambria Math" panose="02040503050406030204" pitchFamily="18" charset="0"/>
                            </a:rPr>
                            <m:t>𝑁</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12</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13</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1</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23</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24</m:t>
                          </m:r>
                        </m:sub>
                      </m:sSub>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2</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oMath>
                  </m:oMathPara>
                </a14:m>
                <a:endParaRPr lang="en-US" sz="3200" b="0" dirty="0">
                  <a:solidFill>
                    <a:srgbClr val="C00000"/>
                  </a:solidFill>
                </a:endParaRPr>
              </a:p>
              <a:p>
                <a:pPr algn="ct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𝑁</m:t>
                          </m:r>
                          <m:r>
                            <a:rPr lang="en-US" sz="3200" b="0" i="1" smtClean="0">
                              <a:solidFill>
                                <a:srgbClr val="C00000"/>
                              </a:solidFill>
                              <a:latin typeface="Cambria Math" panose="02040503050406030204" pitchFamily="18" charset="0"/>
                            </a:rPr>
                            <m:t>−1 </m:t>
                          </m:r>
                          <m:r>
                            <a:rPr lang="en-US" sz="3200" b="0" i="1" smtClean="0">
                              <a:solidFill>
                                <a:srgbClr val="C00000"/>
                              </a:solidFill>
                              <a:latin typeface="Cambria Math" panose="02040503050406030204" pitchFamily="18" charset="0"/>
                            </a:rPr>
                            <m:t>𝑁</m:t>
                          </m:r>
                        </m:sub>
                      </m:sSub>
                    </m:oMath>
                  </m:oMathPara>
                </a14:m>
                <a:endParaRPr lang="en-CN" sz="3200" dirty="0">
                  <a:solidFill>
                    <a:srgbClr val="C00000"/>
                  </a:solidFill>
                </a:endParaRPr>
              </a:p>
              <a:p>
                <a14:m>
                  <m:oMath xmlns:m="http://schemas.openxmlformats.org/officeDocument/2006/math">
                    <m:r>
                      <a:rPr lang="en-US" sz="3200" b="0" i="1" smtClean="0">
                        <a:solidFill>
                          <a:srgbClr val="C00000"/>
                        </a:solidFill>
                        <a:latin typeface="Cambria Math" panose="02040503050406030204" pitchFamily="18" charset="0"/>
                      </a:rPr>
                      <m:t>=</m:t>
                    </m:r>
                    <m:nary>
                      <m:naryPr>
                        <m:chr m:val="∑"/>
                        <m:supHide m:val="on"/>
                        <m:ctrlPr>
                          <a:rPr lang="en-US" sz="3200" b="0" i="1" smtClean="0">
                            <a:solidFill>
                              <a:srgbClr val="C00000"/>
                            </a:solidFill>
                            <a:latin typeface="Cambria Math" panose="02040503050406030204" pitchFamily="18" charset="0"/>
                          </a:rPr>
                        </m:ctrlPr>
                      </m:naryPr>
                      <m:sub>
                        <m:r>
                          <m:rPr>
                            <m:brk m:alnAt="7"/>
                          </m:rPr>
                          <a:rPr lang="en-US" sz="3200" b="0" i="1" smtClean="0">
                            <a:solidFill>
                              <a:srgbClr val="C00000"/>
                            </a:solidFill>
                            <a:latin typeface="Cambria Math" panose="02040503050406030204" pitchFamily="18" charset="0"/>
                          </a:rPr>
                          <m:t>𝑝</m:t>
                        </m:r>
                        <m:r>
                          <a:rPr lang="en-US" sz="3200" b="0" i="1" smtClean="0">
                            <a:solidFill>
                              <a:srgbClr val="C00000"/>
                            </a:solidFill>
                            <a:latin typeface="Cambria Math" panose="02040503050406030204" pitchFamily="18" charset="0"/>
                          </a:rPr>
                          <m:t>𝑎𝑖𝑟𝑠</m:t>
                        </m:r>
                      </m:sub>
                      <m:sup/>
                      <m:e>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𝑈</m:t>
                            </m:r>
                          </m:e>
                          <m:sub>
                            <m:r>
                              <a:rPr lang="en-US" sz="3200" b="0" i="1" smtClean="0">
                                <a:solidFill>
                                  <a:srgbClr val="C00000"/>
                                </a:solidFill>
                                <a:latin typeface="Cambria Math" panose="02040503050406030204" pitchFamily="18" charset="0"/>
                              </a:rPr>
                              <m:t>𝑖𝑗</m:t>
                            </m:r>
                          </m:sub>
                        </m:sSub>
                      </m:e>
                    </m:nary>
                  </m:oMath>
                </a14:m>
                <a:r>
                  <a:rPr lang="en-CN" sz="3200" dirty="0"/>
                  <a:t>, </a:t>
                </a:r>
                <a14:m>
                  <m:oMath xmlns:m="http://schemas.openxmlformats.org/officeDocument/2006/math">
                    <m:r>
                      <a:rPr lang="en-US" sz="3200" b="0" i="0" smtClean="0">
                        <a:latin typeface="Cambria Math" panose="02040503050406030204" pitchFamily="18" charset="0"/>
                      </a:rPr>
                      <m:t>(</m:t>
                    </m:r>
                    <m:r>
                      <a:rPr lang="en-US" sz="3200" b="0" i="1" smtClean="0">
                        <a:latin typeface="Cambria Math" panose="02040503050406030204" pitchFamily="18" charset="0"/>
                      </a:rPr>
                      <m:t>𝑖</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𝑗</m:t>
                    </m:r>
                    <m:r>
                      <a:rPr lang="en-US" sz="3200" b="0" i="1" smtClean="0">
                        <a:latin typeface="Cambria Math" panose="02040503050406030204" pitchFamily="18" charset="0"/>
                        <a:ea typeface="Cambria Math" panose="02040503050406030204" pitchFamily="18" charset="0"/>
                      </a:rPr>
                      <m:t>, </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𝑈</m:t>
                        </m:r>
                      </m:e>
                      <m:sub>
                        <m:r>
                          <a:rPr lang="en-US" sz="3200" b="0" i="1" smtClean="0">
                            <a:latin typeface="Cambria Math" panose="02040503050406030204" pitchFamily="18" charset="0"/>
                            <a:ea typeface="Cambria Math" panose="02040503050406030204" pitchFamily="18" charset="0"/>
                          </a:rPr>
                          <m:t>𝑖𝑗</m:t>
                        </m:r>
                      </m:sub>
                    </m:sSub>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𝑈</m:t>
                        </m:r>
                      </m:e>
                      <m:sub>
                        <m:r>
                          <a:rPr lang="en-US" sz="3200" b="0" i="1" smtClean="0">
                            <a:latin typeface="Cambria Math" panose="02040503050406030204" pitchFamily="18" charset="0"/>
                            <a:ea typeface="Cambria Math" panose="02040503050406030204" pitchFamily="18" charset="0"/>
                          </a:rPr>
                          <m:t>𝑗𝑖</m:t>
                        </m:r>
                      </m:sub>
                    </m:sSub>
                    <m:r>
                      <a:rPr lang="en-US" sz="3200" b="0" i="1" smtClean="0">
                        <a:latin typeface="Cambria Math" panose="02040503050406030204" pitchFamily="18" charset="0"/>
                        <a:ea typeface="Cambria Math" panose="02040503050406030204" pitchFamily="18" charset="0"/>
                      </a:rPr>
                      <m:t>)</m:t>
                    </m:r>
                  </m:oMath>
                </a14:m>
                <a:endParaRPr lang="en-CN" sz="3200" dirty="0"/>
              </a:p>
            </p:txBody>
          </p:sp>
        </mc:Choice>
        <mc:Fallback xmlns="">
          <p:sp>
            <p:nvSpPr>
              <p:cNvPr id="3" name="TextBox 2">
                <a:extLst>
                  <a:ext uri="{FF2B5EF4-FFF2-40B4-BE49-F238E27FC236}">
                    <a16:creationId xmlns:a16="http://schemas.microsoft.com/office/drawing/2014/main" id="{310CC961-727E-48D0-FBA1-EC3D087FAB0B}"/>
                  </a:ext>
                </a:extLst>
              </p:cNvPr>
              <p:cNvSpPr txBox="1">
                <a:spLocks noRot="1" noChangeAspect="1" noMove="1" noResize="1" noEditPoints="1" noAdjustHandles="1" noChangeArrowheads="1" noChangeShapeType="1" noTextEdit="1"/>
              </p:cNvSpPr>
              <p:nvPr/>
            </p:nvSpPr>
            <p:spPr>
              <a:xfrm>
                <a:off x="3016827" y="854241"/>
                <a:ext cx="6158346" cy="3139386"/>
              </a:xfrm>
              <a:prstGeom prst="rect">
                <a:avLst/>
              </a:prstGeom>
              <a:blipFill>
                <a:blip r:embed="rId2"/>
                <a:stretch>
                  <a:fillRect l="-3704" b="-358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CAA4213-5933-3D30-22FB-B655A05454F9}"/>
                  </a:ext>
                </a:extLst>
              </p:cNvPr>
              <p:cNvSpPr txBox="1"/>
              <p:nvPr/>
            </p:nvSpPr>
            <p:spPr>
              <a:xfrm>
                <a:off x="734291" y="3972055"/>
                <a:ext cx="6331527" cy="411395"/>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相互作用势只依赖于两粒子间的距离</a:t>
                </a:r>
                <a:r>
                  <a:rPr lang="zh-CN" altLang="en-US" dirty="0"/>
                  <a:t>， </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𝑗</m:t>
                            </m:r>
                          </m:sub>
                        </m:sSub>
                      </m:e>
                    </m:d>
                  </m:oMath>
                </a14:m>
                <a:endParaRPr lang="en-CN" dirty="0"/>
              </a:p>
            </p:txBody>
          </p:sp>
        </mc:Choice>
        <mc:Fallback xmlns="">
          <p:sp>
            <p:nvSpPr>
              <p:cNvPr id="4" name="TextBox 3">
                <a:extLst>
                  <a:ext uri="{FF2B5EF4-FFF2-40B4-BE49-F238E27FC236}">
                    <a16:creationId xmlns:a16="http://schemas.microsoft.com/office/drawing/2014/main" id="{5CAA4213-5933-3D30-22FB-B655A05454F9}"/>
                  </a:ext>
                </a:extLst>
              </p:cNvPr>
              <p:cNvSpPr txBox="1">
                <a:spLocks noRot="1" noChangeAspect="1" noMove="1" noResize="1" noEditPoints="1" noAdjustHandles="1" noChangeArrowheads="1" noChangeShapeType="1" noTextEdit="1"/>
              </p:cNvSpPr>
              <p:nvPr/>
            </p:nvSpPr>
            <p:spPr>
              <a:xfrm>
                <a:off x="734291" y="3972055"/>
                <a:ext cx="6331527" cy="411395"/>
              </a:xfrm>
              <a:prstGeom prst="rect">
                <a:avLst/>
              </a:prstGeom>
              <a:blipFill>
                <a:blip r:embed="rId3"/>
                <a:stretch>
                  <a:fillRect l="-600" b="-176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ED9C255-19FE-B5EE-CBD5-5E1EB2A26935}"/>
                  </a:ext>
                </a:extLst>
              </p:cNvPr>
              <p:cNvSpPr txBox="1"/>
              <p:nvPr/>
            </p:nvSpPr>
            <p:spPr>
              <a:xfrm>
                <a:off x="3255818" y="4696691"/>
                <a:ext cx="6016337"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𝑎𝑖𝑟𝑠</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𝑖𝑗</m:t>
                                      </m:r>
                                    </m:sub>
                                  </m:sSub>
                                </m:e>
                              </m:nary>
                            </m:sup>
                          </m:sSup>
                        </m:e>
                      </m:nary>
                    </m:oMath>
                  </m:oMathPara>
                </a14:m>
                <a:endParaRPr lang="en-CN" dirty="0"/>
              </a:p>
            </p:txBody>
          </p:sp>
        </mc:Choice>
        <mc:Fallback xmlns="">
          <p:sp>
            <p:nvSpPr>
              <p:cNvPr id="5" name="TextBox 4">
                <a:extLst>
                  <a:ext uri="{FF2B5EF4-FFF2-40B4-BE49-F238E27FC236}">
                    <a16:creationId xmlns:a16="http://schemas.microsoft.com/office/drawing/2014/main" id="{8ED9C255-19FE-B5EE-CBD5-5E1EB2A26935}"/>
                  </a:ext>
                </a:extLst>
              </p:cNvPr>
              <p:cNvSpPr txBox="1">
                <a:spLocks noRot="1" noChangeAspect="1" noMove="1" noResize="1" noEditPoints="1" noAdjustHandles="1" noChangeArrowheads="1" noChangeShapeType="1" noTextEdit="1"/>
              </p:cNvSpPr>
              <p:nvPr/>
            </p:nvSpPr>
            <p:spPr>
              <a:xfrm>
                <a:off x="3255818" y="4696691"/>
                <a:ext cx="6016337" cy="818814"/>
              </a:xfrm>
              <a:prstGeom prst="rect">
                <a:avLst/>
              </a:prstGeom>
              <a:blipFill>
                <a:blip r:embed="rId4"/>
                <a:stretch>
                  <a:fillRect t="-128788" b="-18636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843827-0B81-87F6-7A1D-60EAC6389776}"/>
                  </a:ext>
                </a:extLst>
              </p:cNvPr>
              <p:cNvSpPr txBox="1"/>
              <p:nvPr/>
            </p:nvSpPr>
            <p:spPr>
              <a:xfrm>
                <a:off x="845127" y="5961696"/>
                <a:ext cx="8908473" cy="391646"/>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latin typeface="Songti TC" panose="02010600040101010101" pitchFamily="2" charset="-120"/>
                    <a:ea typeface="Songti TC" panose="02010600040101010101" pitchFamily="2" charset="-120"/>
                  </a:rPr>
                  <a:t>假设</a:t>
                </a:r>
                <a:r>
                  <a:rPr lang="en-CN" dirty="0">
                    <a:latin typeface="Songti TC" panose="02010600040101010101" pitchFamily="2" charset="-120"/>
                    <a:ea typeface="Songti TC" panose="02010600040101010101" pitchFamily="2" charset="-120"/>
                  </a:rPr>
                  <a:t>相互作用势在距离无穷远处趋于零</a:t>
                </a:r>
                <a:r>
                  <a:rPr lang="zh-CN" altLang="en-US" dirty="0">
                    <a:latin typeface="Songti TC" panose="02010600040101010101" pitchFamily="2" charset="-120"/>
                    <a:ea typeface="Songti TC" panose="02010600040101010101" pitchFamily="2" charset="-120"/>
                  </a:rPr>
                  <a:t>，且弱</a:t>
                </a:r>
                <a:r>
                  <a:rPr lang="zh-CN" altLang="en-US"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𝑖𝑗</m:t>
                        </m:r>
                      </m:sub>
                    </m:sSub>
                    <m:r>
                      <a:rPr lang="en-US" altLang="zh-CN"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𝜏</m:t>
                    </m:r>
                  </m:oMath>
                </a14:m>
                <a:r>
                  <a:rPr lang="en-CN" dirty="0"/>
                  <a:t>.</a:t>
                </a:r>
              </a:p>
            </p:txBody>
          </p:sp>
        </mc:Choice>
        <mc:Fallback xmlns="">
          <p:sp>
            <p:nvSpPr>
              <p:cNvPr id="6" name="TextBox 5">
                <a:extLst>
                  <a:ext uri="{FF2B5EF4-FFF2-40B4-BE49-F238E27FC236}">
                    <a16:creationId xmlns:a16="http://schemas.microsoft.com/office/drawing/2014/main" id="{EF843827-0B81-87F6-7A1D-60EAC6389776}"/>
                  </a:ext>
                </a:extLst>
              </p:cNvPr>
              <p:cNvSpPr txBox="1">
                <a:spLocks noRot="1" noChangeAspect="1" noMove="1" noResize="1" noEditPoints="1" noAdjustHandles="1" noChangeArrowheads="1" noChangeShapeType="1" noTextEdit="1"/>
              </p:cNvSpPr>
              <p:nvPr/>
            </p:nvSpPr>
            <p:spPr>
              <a:xfrm>
                <a:off x="845127" y="5961696"/>
                <a:ext cx="8908473" cy="391646"/>
              </a:xfrm>
              <a:prstGeom prst="rect">
                <a:avLst/>
              </a:prstGeom>
              <a:blipFill>
                <a:blip r:embed="rId5"/>
                <a:stretch>
                  <a:fillRect l="-427" t="-6250" b="-18750"/>
                </a:stretch>
              </a:blipFill>
            </p:spPr>
            <p:txBody>
              <a:bodyPr/>
              <a:lstStyle/>
              <a:p>
                <a:r>
                  <a:rPr lang="en-CN">
                    <a:noFill/>
                  </a:rPr>
                  <a:t> </a:t>
                </a:r>
              </a:p>
            </p:txBody>
          </p:sp>
        </mc:Fallback>
      </mc:AlternateContent>
    </p:spTree>
    <p:extLst>
      <p:ext uri="{BB962C8B-B14F-4D97-AF65-F5344CB8AC3E}">
        <p14:creationId xmlns:p14="http://schemas.microsoft.com/office/powerpoint/2010/main" val="1549391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D5D3A7-F044-B51D-52F3-D225DDECDC55}"/>
              </a:ext>
            </a:extLst>
          </p:cNvPr>
          <p:cNvSpPr txBox="1"/>
          <p:nvPr/>
        </p:nvSpPr>
        <p:spPr>
          <a:xfrm>
            <a:off x="228600" y="1936971"/>
            <a:ext cx="5167745" cy="369332"/>
          </a:xfrm>
          <a:prstGeom prst="rect">
            <a:avLst/>
          </a:prstGeom>
          <a:noFill/>
        </p:spPr>
        <p:txBody>
          <a:bodyPr wrap="square" rtlCol="0">
            <a:spAutoFit/>
          </a:bodyPr>
          <a:lstStyle/>
          <a:p>
            <a:r>
              <a:rPr lang="en-CN" dirty="0"/>
              <a:t>The first approximation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72CB41-DA7F-C681-1D8C-FCD0A7EBD038}"/>
                  </a:ext>
                </a:extLst>
              </p:cNvPr>
              <p:cNvSpPr txBox="1"/>
              <p:nvPr/>
            </p:nvSpPr>
            <p:spPr>
              <a:xfrm>
                <a:off x="2646218" y="220972"/>
                <a:ext cx="6096000" cy="11202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𝑁</m:t>
                          </m:r>
                        </m:sub>
                      </m:sSub>
                      <m:r>
                        <a:rPr lang="en-US" b="0" i="1" smtClean="0">
                          <a:latin typeface="Cambria Math" panose="02040503050406030204" pitchFamily="18" charset="0"/>
                        </a:rPr>
                        <m:t>=</m:t>
                      </m:r>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𝑁</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𝑎𝑖𝑟𝑠</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𝑖𝑗</m:t>
                                      </m:r>
                                    </m:sub>
                                  </m:sSub>
                                </m:e>
                              </m:nary>
                            </m:sup>
                          </m:sSup>
                        </m:e>
                      </m:nary>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12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13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sub>
                          </m:sSub>
                        </m:e>
                      </m:acc>
                    </m:oMath>
                  </m:oMathPara>
                </a14:m>
                <a:endParaRPr lang="en-CN" dirty="0"/>
              </a:p>
            </p:txBody>
          </p:sp>
        </mc:Choice>
        <mc:Fallback xmlns="">
          <p:sp>
            <p:nvSpPr>
              <p:cNvPr id="5" name="TextBox 4">
                <a:extLst>
                  <a:ext uri="{FF2B5EF4-FFF2-40B4-BE49-F238E27FC236}">
                    <a16:creationId xmlns:a16="http://schemas.microsoft.com/office/drawing/2014/main" id="{5472CB41-DA7F-C681-1D8C-FCD0A7EBD038}"/>
                  </a:ext>
                </a:extLst>
              </p:cNvPr>
              <p:cNvSpPr txBox="1">
                <a:spLocks noRot="1" noChangeAspect="1" noMove="1" noResize="1" noEditPoints="1" noAdjustHandles="1" noChangeArrowheads="1" noChangeShapeType="1" noTextEdit="1"/>
              </p:cNvSpPr>
              <p:nvPr/>
            </p:nvSpPr>
            <p:spPr>
              <a:xfrm>
                <a:off x="2646218" y="220972"/>
                <a:ext cx="6096000" cy="1120243"/>
              </a:xfrm>
              <a:prstGeom prst="rect">
                <a:avLst/>
              </a:prstGeom>
              <a:blipFill>
                <a:blip r:embed="rId2"/>
                <a:stretch>
                  <a:fillRect t="-96629" b="-111236"/>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28322BAB-AF98-A035-9723-5FBF6CD05DD4}"/>
              </a:ext>
            </a:extLst>
          </p:cNvPr>
          <p:cNvSpPr txBox="1"/>
          <p:nvPr/>
        </p:nvSpPr>
        <p:spPr>
          <a:xfrm>
            <a:off x="7924800" y="914398"/>
            <a:ext cx="3505200" cy="646331"/>
          </a:xfrm>
          <a:prstGeom prst="rect">
            <a:avLst/>
          </a:prstGeom>
          <a:noFill/>
        </p:spPr>
        <p:txBody>
          <a:bodyPr wrap="square" rtlCol="0">
            <a:spAutoFit/>
          </a:bodyPr>
          <a:lstStyle/>
          <a:p>
            <a:r>
              <a:rPr lang="en-CN" dirty="0"/>
              <a:t>平均值(an average over N-partile configurations)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4CD5CC-BA0C-EE81-9CDD-C92833E64934}"/>
                  </a:ext>
                </a:extLst>
              </p:cNvPr>
              <p:cNvSpPr txBox="1"/>
              <p:nvPr/>
            </p:nvSpPr>
            <p:spPr>
              <a:xfrm>
                <a:off x="1579418" y="2479964"/>
                <a:ext cx="9725891" cy="954749"/>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acc>
                      <m:accPr>
                        <m:chr m:val="̅"/>
                        <m:ctrlPr>
                          <a:rPr lang="en-CN" i="1" smtClean="0">
                            <a:latin typeface="Cambria Math" panose="02040503050406030204" pitchFamily="18" charset="0"/>
                          </a:rPr>
                        </m:ctrlPr>
                      </m:accPr>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12</m:t>
                            </m:r>
                          </m:sub>
                        </m:sSub>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34</m:t>
                            </m:r>
                          </m:sub>
                        </m:sSub>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e>
                        </m:acc>
                      </m:e>
                      <m:sup>
                        <m:r>
                          <a:rPr lang="en-US" b="0" i="1" smtClean="0">
                            <a:latin typeface="Cambria Math" panose="02040503050406030204" pitchFamily="18" charset="0"/>
                          </a:rPr>
                          <m:t>2</m:t>
                        </m:r>
                      </m:sup>
                    </m:sSup>
                  </m:oMath>
                </a14:m>
                <a:r>
                  <a:rPr lang="en-CN" dirty="0"/>
                  <a:t>; </a:t>
                </a:r>
                <a14:m>
                  <m:oMath xmlns:m="http://schemas.openxmlformats.org/officeDocument/2006/math">
                    <m:acc>
                      <m:accPr>
                        <m:chr m:val="̅"/>
                        <m:ctrlPr>
                          <a:rPr lang="en-CN" i="1">
                            <a:latin typeface="Cambria Math" panose="02040503050406030204" pitchFamily="18" charset="0"/>
                          </a:rPr>
                        </m:ctrlPr>
                      </m:accPr>
                      <m:e>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13</m:t>
                            </m:r>
                          </m:sub>
                        </m:sSub>
                      </m:e>
                    </m:acc>
                    <m:r>
                      <a:rPr lang="en-US" i="1">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e>
                        </m:acc>
                      </m:e>
                      <m:sup>
                        <m:r>
                          <a:rPr lang="en-US" i="1">
                            <a:latin typeface="Cambria Math" panose="02040503050406030204" pitchFamily="18" charset="0"/>
                          </a:rPr>
                          <m:t>2</m:t>
                        </m:r>
                      </m:sup>
                    </m:sSup>
                  </m:oMath>
                </a14:m>
                <a:endParaRPr lang="en-CN" dirty="0"/>
              </a:p>
              <a:p>
                <a:pPr marL="285750" indent="-285750">
                  <a:buFont typeface="Arial" panose="020B0604020202020204" pitchFamily="34" charset="0"/>
                  <a:buChar char="•"/>
                </a:pPr>
                <a:r>
                  <a:rPr lang="en-CN" dirty="0"/>
                  <a:t>第一步近似</a:t>
                </a:r>
                <a:r>
                  <a:rPr lang="zh-CN" altLang="en-US" dirty="0"/>
                  <a:t>，</a:t>
                </a:r>
                <a:r>
                  <a:rPr lang="en-CN" dirty="0"/>
                  <a:t> </a:t>
                </a:r>
                <a14:m>
                  <m:oMath xmlns:m="http://schemas.openxmlformats.org/officeDocument/2006/math">
                    <m:acc>
                      <m:accPr>
                        <m:chr m:val="̅"/>
                        <m:ctrlPr>
                          <a:rPr lang="en-CN" i="1">
                            <a:latin typeface="Cambria Math" panose="02040503050406030204" pitchFamily="18" charset="0"/>
                          </a:rPr>
                        </m:ctrlPr>
                      </m:accPr>
                      <m:e>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13</m:t>
                            </m:r>
                          </m:sub>
                        </m:sSub>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23</m:t>
                            </m:r>
                          </m:sub>
                        </m:sSub>
                      </m:e>
                    </m:acc>
                    <m:r>
                      <a:rPr lang="en-US" i="1">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e>
                        </m:acc>
                      </m:e>
                      <m:sup>
                        <m:r>
                          <a:rPr lang="en-US" b="0" i="1" smtClean="0">
                            <a:latin typeface="Cambria Math" panose="02040503050406030204" pitchFamily="18" charset="0"/>
                          </a:rPr>
                          <m:t>3</m:t>
                        </m:r>
                      </m:sup>
                    </m:sSup>
                  </m:oMath>
                </a14:m>
                <a:r>
                  <a:rPr lang="zh-CN" altLang="en-US" dirty="0"/>
                  <a:t>，</a:t>
                </a:r>
                <a:r>
                  <a:rPr lang="en-US" altLang="zh-CN" dirty="0"/>
                  <a:t>N</a:t>
                </a:r>
                <a:r>
                  <a:rPr lang="zh-CN" altLang="en-US" dirty="0"/>
                  <a:t>个平均写成平均的</a:t>
                </a:r>
                <a:r>
                  <a:rPr lang="en-US" altLang="zh-CN" dirty="0"/>
                  <a:t>N</a:t>
                </a:r>
                <a:r>
                  <a:rPr lang="zh-CN" altLang="en-US" dirty="0"/>
                  <a:t>次方</a:t>
                </a:r>
                <a:r>
                  <a:rPr lang="en-US" altLang="zh-CN" dirty="0"/>
                  <a:t>; In the product</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13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𝑁</m:t>
                        </m:r>
                        <m:r>
                          <a:rPr lang="en-US" i="1">
                            <a:latin typeface="Cambria Math" panose="02040503050406030204" pitchFamily="18" charset="0"/>
                          </a:rPr>
                          <m:t>−1,</m:t>
                        </m:r>
                        <m:r>
                          <a:rPr lang="en-US" i="1">
                            <a:latin typeface="Cambria Math" panose="02040503050406030204" pitchFamily="18" charset="0"/>
                          </a:rPr>
                          <m:t>𝑁</m:t>
                        </m:r>
                      </m:sub>
                    </m:sSub>
                  </m:oMath>
                </a14:m>
                <a:r>
                  <a:rPr lang="en-CN" dirty="0"/>
                  <a:t>as statistically independent__________low density</a:t>
                </a:r>
              </a:p>
            </p:txBody>
          </p:sp>
        </mc:Choice>
        <mc:Fallback xmlns="">
          <p:sp>
            <p:nvSpPr>
              <p:cNvPr id="7" name="TextBox 6">
                <a:extLst>
                  <a:ext uri="{FF2B5EF4-FFF2-40B4-BE49-F238E27FC236}">
                    <a16:creationId xmlns:a16="http://schemas.microsoft.com/office/drawing/2014/main" id="{E44CD5CC-BA0C-EE81-9CDD-C92833E64934}"/>
                  </a:ext>
                </a:extLst>
              </p:cNvPr>
              <p:cNvSpPr txBox="1">
                <a:spLocks noRot="1" noChangeAspect="1" noMove="1" noResize="1" noEditPoints="1" noAdjustHandles="1" noChangeArrowheads="1" noChangeShapeType="1" noTextEdit="1"/>
              </p:cNvSpPr>
              <p:nvPr/>
            </p:nvSpPr>
            <p:spPr>
              <a:xfrm>
                <a:off x="1579418" y="2479964"/>
                <a:ext cx="9725891" cy="954749"/>
              </a:xfrm>
              <a:prstGeom prst="rect">
                <a:avLst/>
              </a:prstGeom>
              <a:blipFill>
                <a:blip r:embed="rId3"/>
                <a:stretch>
                  <a:fillRect l="-391" t="-2632" b="-7895"/>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A8144BEE-E403-2F75-5D49-4F4841574EE3}"/>
              </a:ext>
            </a:extLst>
          </p:cNvPr>
          <p:cNvSpPr/>
          <p:nvPr/>
        </p:nvSpPr>
        <p:spPr>
          <a:xfrm>
            <a:off x="5805055" y="3608373"/>
            <a:ext cx="290945" cy="9428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770188-783D-F96C-FA65-3C5EE29D9373}"/>
                  </a:ext>
                </a:extLst>
              </p:cNvPr>
              <p:cNvSpPr txBox="1"/>
              <p:nvPr/>
            </p:nvSpPr>
            <p:spPr>
              <a:xfrm>
                <a:off x="374073" y="4770705"/>
                <a:ext cx="11970327" cy="958724"/>
              </a:xfrm>
              <a:prstGeom prst="rect">
                <a:avLst/>
              </a:prstGeom>
              <a:noFill/>
            </p:spPr>
            <p:txBody>
              <a:bodyPr wrap="square" rtlCol="0">
                <a:spAutoFit/>
              </a:bodyPr>
              <a:lstStyle/>
              <a:p>
                <a14:m>
                  <m:oMath xmlns:m="http://schemas.openxmlformats.org/officeDocument/2006/math">
                    <m:f>
                      <m:fPr>
                        <m:ctrlPr>
                          <a:rPr lang="en-CN" sz="2800" i="1" smtClean="0">
                            <a:latin typeface="Cambria Math" panose="02040503050406030204" pitchFamily="18" charset="0"/>
                          </a:rPr>
                        </m:ctrlPr>
                      </m:fPr>
                      <m:num>
                        <m:sSub>
                          <m:sSubPr>
                            <m:ctrlPr>
                              <a:rPr lang="en-CN" sz="280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𝑁</m:t>
                            </m:r>
                          </m:sub>
                        </m:sSub>
                      </m:num>
                      <m:den>
                        <m:sSup>
                          <m:sSupPr>
                            <m:ctrlPr>
                              <a:rPr lang="en-CN" sz="2800" i="1" smtClean="0">
                                <a:latin typeface="Cambria Math" panose="02040503050406030204" pitchFamily="18" charset="0"/>
                              </a:rPr>
                            </m:ctrlPr>
                          </m:sSupPr>
                          <m:e>
                            <m:r>
                              <a:rPr lang="en-US" sz="2800" b="0" i="1" smtClean="0">
                                <a:latin typeface="Cambria Math" panose="02040503050406030204" pitchFamily="18" charset="0"/>
                              </a:rPr>
                              <m:t>𝑉</m:t>
                            </m:r>
                          </m:e>
                          <m:sup>
                            <m:r>
                              <a:rPr lang="en-US" sz="2800" b="0" i="1" smtClean="0">
                                <a:latin typeface="Cambria Math" panose="02040503050406030204" pitchFamily="18" charset="0"/>
                              </a:rPr>
                              <m:t>𝑁</m:t>
                            </m:r>
                          </m:sup>
                        </m:sSup>
                      </m:den>
                    </m:f>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acc>
                              <m:accPr>
                                <m:chr m:val="̅"/>
                                <m:ctrlPr>
                                  <a:rPr lang="en-CN" sz="2800" i="1">
                                    <a:latin typeface="Cambria Math" panose="02040503050406030204" pitchFamily="18" charset="0"/>
                                  </a:rPr>
                                </m:ctrlPr>
                              </m:accPr>
                              <m:e>
                                <m:sSub>
                                  <m:sSubPr>
                                    <m:ctrlPr>
                                      <a:rPr lang="en-CN" sz="2800" i="1">
                                        <a:latin typeface="Cambria Math" panose="02040503050406030204" pitchFamily="18" charset="0"/>
                                      </a:rPr>
                                    </m:ctrlPr>
                                  </m:sSubPr>
                                  <m:e>
                                    <m:r>
                                      <a:rPr lang="en-CN" sz="2800" i="1">
                                        <a:latin typeface="Cambria Math" panose="02040503050406030204" pitchFamily="18" charset="0"/>
                                        <a:ea typeface="Cambria Math" panose="02040503050406030204" pitchFamily="18" charset="0"/>
                                      </a:rPr>
                                      <m:t>𝜑</m:t>
                                    </m:r>
                                  </m:e>
                                  <m:sub>
                                    <m:r>
                                      <a:rPr lang="en-US" sz="2800" i="1">
                                        <a:latin typeface="Cambria Math" panose="02040503050406030204" pitchFamily="18" charset="0"/>
                                      </a:rPr>
                                      <m:t>12</m:t>
                                    </m:r>
                                  </m:sub>
                                </m:sSub>
                              </m:e>
                            </m:acc>
                          </m:e>
                        </m:d>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sup>
                    </m:sSup>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nary>
                              <m:naryPr>
                                <m:limLoc m:val="undOvr"/>
                                <m:subHide m:val="on"/>
                                <m:supHide m:val="on"/>
                                <m:ctrlPr>
                                  <a:rPr lang="en-US" sz="2800" b="0" i="1" smtClean="0">
                                    <a:latin typeface="Cambria Math" panose="02040503050406030204" pitchFamily="18" charset="0"/>
                                  </a:rPr>
                                </m:ctrlPr>
                              </m:naryPr>
                              <m:sub/>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𝑢</m:t>
                                        </m:r>
                                      </m:e>
                                      <m:sub>
                                        <m:r>
                                          <a:rPr lang="en-US" sz="2800" b="0" i="1" smtClean="0">
                                            <a:latin typeface="Cambria Math" panose="02040503050406030204" pitchFamily="18" charset="0"/>
                                            <a:ea typeface="Cambria Math" panose="02040503050406030204" pitchFamily="18" charset="0"/>
                                          </a:rPr>
                                          <m:t>12</m:t>
                                        </m:r>
                                      </m:sub>
                                    </m:sSub>
                                  </m:sup>
                                </m:s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𝑑</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𝑟</m:t>
                                        </m:r>
                                      </m:e>
                                      <m:sub>
                                        <m:r>
                                          <a:rPr lang="en-US" sz="2800" b="0" i="1" smtClean="0">
                                            <a:latin typeface="Cambria Math" panose="02040503050406030204" pitchFamily="18" charset="0"/>
                                          </a:rPr>
                                          <m:t>1</m:t>
                                        </m:r>
                                      </m:sub>
                                    </m:sSub>
                                  </m:num>
                                  <m:den>
                                    <m:r>
                                      <a:rPr lang="en-US" sz="2800" b="0" i="1" smtClean="0">
                                        <a:latin typeface="Cambria Math" panose="02040503050406030204" pitchFamily="18" charset="0"/>
                                      </a:rPr>
                                      <m:t>𝑉</m:t>
                                    </m:r>
                                  </m:den>
                                </m:f>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𝑑</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𝑟</m:t>
                                        </m:r>
                                      </m:e>
                                      <m:sub>
                                        <m:r>
                                          <a:rPr lang="en-US" sz="2800" b="0" i="1" smtClean="0">
                                            <a:latin typeface="Cambria Math" panose="02040503050406030204" pitchFamily="18" charset="0"/>
                                          </a:rPr>
                                          <m:t>2</m:t>
                                        </m:r>
                                      </m:sub>
                                    </m:sSub>
                                  </m:num>
                                  <m:den>
                                    <m:r>
                                      <a:rPr lang="en-US" sz="2800" b="0" i="1" smtClean="0">
                                        <a:latin typeface="Cambria Math" panose="02040503050406030204" pitchFamily="18" charset="0"/>
                                      </a:rPr>
                                      <m:t>𝑉</m:t>
                                    </m:r>
                                  </m:den>
                                </m:f>
                              </m:e>
                            </m:nary>
                          </m:e>
                        </m:d>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sup>
                    </m:sSup>
                    <m:r>
                      <a:rPr lang="en-US" sz="2800" b="0" i="1" smtClean="0">
                        <a:latin typeface="Cambria Math" panose="02040503050406030204" pitchFamily="18" charset="0"/>
                      </a:rPr>
                      <m:t>=</m:t>
                    </m:r>
                  </m:oMath>
                </a14:m>
                <a:r>
                  <a:rPr lang="en-US" sz="2800" dirty="0"/>
                  <a:t> </a:t>
                </a:r>
                <a14:m>
                  <m:oMath xmlns:m="http://schemas.openxmlformats.org/officeDocument/2006/math">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𝑉</m:t>
                                </m:r>
                              </m:den>
                            </m:f>
                            <m:nary>
                              <m:naryPr>
                                <m:limLoc m:val="undOvr"/>
                                <m:subHide m:val="on"/>
                                <m:supHide m:val="on"/>
                                <m:ctrlPr>
                                  <a:rPr lang="en-US" sz="2800" i="1">
                                    <a:latin typeface="Cambria Math" panose="02040503050406030204" pitchFamily="18" charset="0"/>
                                  </a:rPr>
                                </m:ctrlPr>
                              </m:naryPr>
                              <m:sub/>
                              <m:sup/>
                              <m:e>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𝑢</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rPr>
                                      <m:t>−1</m:t>
                                    </m:r>
                                  </m:e>
                                </m:d>
                                <m:r>
                                  <a:rPr lang="en-US" sz="2800" b="0" i="1" smtClean="0">
                                    <a:latin typeface="Cambria Math" panose="02040503050406030204" pitchFamily="18" charset="0"/>
                                  </a:rPr>
                                  <m:t>𝑑𝑟</m:t>
                                </m:r>
                              </m:e>
                            </m:nary>
                          </m:e>
                        </m:d>
                      </m:e>
                      <m:sup>
                        <m:f>
                          <m:fPr>
                            <m:ctrlPr>
                              <a:rPr lang="en-US" sz="2800" i="1">
                                <a:latin typeface="Cambria Math" panose="02040503050406030204" pitchFamily="18" charset="0"/>
                              </a:rPr>
                            </m:ctrlPr>
                          </m:fPr>
                          <m:num>
                            <m:r>
                              <a:rPr lang="en-US" sz="2800" i="1">
                                <a:latin typeface="Cambria Math" panose="02040503050406030204" pitchFamily="18" charset="0"/>
                              </a:rPr>
                              <m:t>𝑁</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rPr>
                              <m:t>−1)</m:t>
                            </m:r>
                          </m:num>
                          <m:den>
                            <m:r>
                              <a:rPr lang="en-US" sz="2800" i="1">
                                <a:latin typeface="Cambria Math" panose="02040503050406030204" pitchFamily="18" charset="0"/>
                              </a:rPr>
                              <m:t>2</m:t>
                            </m:r>
                          </m:den>
                        </m:f>
                      </m:sup>
                    </m:sSup>
                  </m:oMath>
                </a14:m>
                <a:endParaRPr lang="en-CN" sz="2800" dirty="0"/>
              </a:p>
            </p:txBody>
          </p:sp>
        </mc:Choice>
        <mc:Fallback xmlns="">
          <p:sp>
            <p:nvSpPr>
              <p:cNvPr id="9" name="TextBox 8">
                <a:extLst>
                  <a:ext uri="{FF2B5EF4-FFF2-40B4-BE49-F238E27FC236}">
                    <a16:creationId xmlns:a16="http://schemas.microsoft.com/office/drawing/2014/main" id="{27770188-783D-F96C-FA65-3C5EE29D9373}"/>
                  </a:ext>
                </a:extLst>
              </p:cNvPr>
              <p:cNvSpPr txBox="1">
                <a:spLocks noRot="1" noChangeAspect="1" noMove="1" noResize="1" noEditPoints="1" noAdjustHandles="1" noChangeArrowheads="1" noChangeShapeType="1" noTextEdit="1"/>
              </p:cNvSpPr>
              <p:nvPr/>
            </p:nvSpPr>
            <p:spPr>
              <a:xfrm>
                <a:off x="374073" y="4770705"/>
                <a:ext cx="11970327" cy="958724"/>
              </a:xfrm>
              <a:prstGeom prst="rect">
                <a:avLst/>
              </a:prstGeom>
              <a:blipFill>
                <a:blip r:embed="rId4"/>
                <a:stretch>
                  <a:fillRect l="-106" t="-54545" b="-119481"/>
                </a:stretch>
              </a:blipFill>
            </p:spPr>
            <p:txBody>
              <a:bodyPr/>
              <a:lstStyle/>
              <a:p>
                <a:r>
                  <a:rPr lang="en-CN">
                    <a:noFill/>
                  </a:rPr>
                  <a:t> </a:t>
                </a:r>
              </a:p>
            </p:txBody>
          </p:sp>
        </mc:Fallback>
      </mc:AlternateContent>
    </p:spTree>
    <p:extLst>
      <p:ext uri="{BB962C8B-B14F-4D97-AF65-F5344CB8AC3E}">
        <p14:creationId xmlns:p14="http://schemas.microsoft.com/office/powerpoint/2010/main" val="1547313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6BEAE77-EC67-EDAA-C247-E61B7CC7394A}"/>
                  </a:ext>
                </a:extLst>
              </p:cNvPr>
              <p:cNvSpPr txBox="1"/>
              <p:nvPr/>
            </p:nvSpPr>
            <p:spPr>
              <a:xfrm>
                <a:off x="193963" y="1018309"/>
                <a:ext cx="9227128" cy="485774"/>
              </a:xfrm>
              <a:prstGeom prst="rect">
                <a:avLst/>
              </a:prstGeom>
              <a:noFill/>
            </p:spPr>
            <p:txBody>
              <a:bodyPr wrap="square" rtlCol="0">
                <a:spAutoFit/>
              </a:bodyPr>
              <a:lstStyle/>
              <a:p>
                <a:r>
                  <a:rPr lang="en-CN" dirty="0"/>
                  <a:t>In the limit of a large system,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𝑐𝑜𝑛𝑠𝑡𝑎𝑛𝑡</m:t>
                    </m:r>
                  </m:oMath>
                </a14:m>
                <a:r>
                  <a:rPr lang="en-CN" dirty="0"/>
                  <a:t>)</a:t>
                </a:r>
              </a:p>
            </p:txBody>
          </p:sp>
        </mc:Choice>
        <mc:Fallback xmlns="">
          <p:sp>
            <p:nvSpPr>
              <p:cNvPr id="2" name="TextBox 1">
                <a:extLst>
                  <a:ext uri="{FF2B5EF4-FFF2-40B4-BE49-F238E27FC236}">
                    <a16:creationId xmlns:a16="http://schemas.microsoft.com/office/drawing/2014/main" id="{16BEAE77-EC67-EDAA-C247-E61B7CC7394A}"/>
                  </a:ext>
                </a:extLst>
              </p:cNvPr>
              <p:cNvSpPr txBox="1">
                <a:spLocks noRot="1" noChangeAspect="1" noMove="1" noResize="1" noEditPoints="1" noAdjustHandles="1" noChangeArrowheads="1" noChangeShapeType="1" noTextEdit="1"/>
              </p:cNvSpPr>
              <p:nvPr/>
            </p:nvSpPr>
            <p:spPr>
              <a:xfrm>
                <a:off x="193963" y="1018309"/>
                <a:ext cx="9227128" cy="485774"/>
              </a:xfrm>
              <a:prstGeom prst="rect">
                <a:avLst/>
              </a:prstGeom>
              <a:blipFill>
                <a:blip r:embed="rId2"/>
                <a:stretch>
                  <a:fillRect l="-550"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266DB56-E26E-ABFA-60F1-3506F6BC445A}"/>
                  </a:ext>
                </a:extLst>
              </p:cNvPr>
              <p:cNvSpPr txBox="1"/>
              <p:nvPr/>
            </p:nvSpPr>
            <p:spPr>
              <a:xfrm>
                <a:off x="1857671" y="1849385"/>
                <a:ext cx="5569527" cy="6593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lim</m:t>
                              </m:r>
                            </m:e>
                            <m:lim/>
                          </m:limLow>
                        </m:fName>
                        <m:e>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𝑁</m:t>
                                      </m:r>
                                    </m:sub>
                                  </m:sSub>
                                  <m:r>
                                    <a:rPr lang="en-US" b="0" i="1" smtClean="0">
                                      <a:latin typeface="Cambria Math" panose="02040503050406030204" pitchFamily="18" charset="0"/>
                                    </a:rPr>
                                    <m:t>)</m:t>
                                  </m:r>
                                </m:e>
                                <m:sup>
                                  <m:r>
                                    <a:rPr lang="en-US" b="0" i="1" smtClean="0">
                                      <a:latin typeface="Cambria Math" panose="02040503050406030204" pitchFamily="18" charset="0"/>
                                    </a:rPr>
                                    <m:t>1/</m:t>
                                  </m:r>
                                  <m:r>
                                    <a:rPr lang="en-US" b="0" i="1" smtClean="0">
                                      <a:latin typeface="Cambria Math" panose="02040503050406030204" pitchFamily="18" charset="0"/>
                                    </a:rPr>
                                    <m:t>𝑁</m:t>
                                  </m:r>
                                </m:sup>
                              </m:sSup>
                            </m:num>
                            <m:den>
                              <m:r>
                                <a:rPr lang="en-US" b="0" i="1" smtClean="0">
                                  <a:latin typeface="Cambria Math" panose="02040503050406030204" pitchFamily="18" charset="0"/>
                                </a:rPr>
                                <m:t>𝑉</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𝑛</m:t>
                              </m:r>
                              <m:nary>
                                <m:naryPr>
                                  <m:limLoc m:val="undOvr"/>
                                  <m:subHide m:val="on"/>
                                  <m:supHide m:val="on"/>
                                  <m:ctrlPr>
                                    <a:rPr lang="en-US" b="0" i="1" smtClean="0">
                                      <a:latin typeface="Cambria Math" panose="02040503050406030204" pitchFamily="18" charset="0"/>
                                    </a:rPr>
                                  </m:ctrlPr>
                                </m:naryPr>
                                <m:sub/>
                                <m:sup/>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−1</m:t>
                                      </m:r>
                                    </m:e>
                                  </m:d>
                                  <m:r>
                                    <a:rPr lang="en-US" b="0" i="1" smtClean="0">
                                      <a:latin typeface="Cambria Math" panose="02040503050406030204" pitchFamily="18" charset="0"/>
                                    </a:rPr>
                                    <m:t>𝑑𝑟</m:t>
                                  </m:r>
                                </m:e>
                              </m:nary>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𝑛</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sup>
                          </m:sSup>
                        </m:e>
                      </m:func>
                    </m:oMath>
                  </m:oMathPara>
                </a14:m>
                <a:endParaRPr lang="en-CN" dirty="0"/>
              </a:p>
            </p:txBody>
          </p:sp>
        </mc:Choice>
        <mc:Fallback xmlns="">
          <p:sp>
            <p:nvSpPr>
              <p:cNvPr id="3" name="TextBox 2">
                <a:extLst>
                  <a:ext uri="{FF2B5EF4-FFF2-40B4-BE49-F238E27FC236}">
                    <a16:creationId xmlns:a16="http://schemas.microsoft.com/office/drawing/2014/main" id="{D266DB56-E26E-ABFA-60F1-3506F6BC445A}"/>
                  </a:ext>
                </a:extLst>
              </p:cNvPr>
              <p:cNvSpPr txBox="1">
                <a:spLocks noRot="1" noChangeAspect="1" noMove="1" noResize="1" noEditPoints="1" noAdjustHandles="1" noChangeArrowheads="1" noChangeShapeType="1" noTextEdit="1"/>
              </p:cNvSpPr>
              <p:nvPr/>
            </p:nvSpPr>
            <p:spPr>
              <a:xfrm>
                <a:off x="1857671" y="1849385"/>
                <a:ext cx="5569527" cy="659348"/>
              </a:xfrm>
              <a:prstGeom prst="rect">
                <a:avLst/>
              </a:prstGeom>
              <a:blipFill>
                <a:blip r:embed="rId3"/>
                <a:stretch>
                  <a:fillRect t="-33962" b="-52830"/>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B7FD4D3B-9AFE-2EF3-F34E-69AA2988FE90}"/>
              </a:ext>
            </a:extLst>
          </p:cNvPr>
          <p:cNvPicPr>
            <a:picLocks noChangeAspect="1"/>
          </p:cNvPicPr>
          <p:nvPr/>
        </p:nvPicPr>
        <p:blipFill>
          <a:blip r:embed="rId4"/>
          <a:stretch>
            <a:fillRect/>
          </a:stretch>
        </p:blipFill>
        <p:spPr>
          <a:xfrm>
            <a:off x="9090906" y="1220312"/>
            <a:ext cx="2655425" cy="140046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AE5E6FE-A50A-B7BE-8C3A-01B66E048355}"/>
                  </a:ext>
                </a:extLst>
              </p:cNvPr>
              <p:cNvSpPr txBox="1"/>
              <p:nvPr/>
            </p:nvSpPr>
            <p:spPr>
              <a:xfrm>
                <a:off x="5126181" y="3008246"/>
                <a:ext cx="3879273" cy="7721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800" b="0" i="1" smtClean="0">
                              <a:solidFill>
                                <a:srgbClr val="C00000"/>
                              </a:solidFill>
                              <a:latin typeface="Cambria Math" panose="02040503050406030204" pitchFamily="18" charset="0"/>
                            </a:rPr>
                          </m:ctrlPr>
                        </m:sSubSupPr>
                        <m:e>
                          <m:r>
                            <a:rPr lang="en-US" sz="2800" b="0" i="1" smtClean="0">
                              <a:solidFill>
                                <a:srgbClr val="C00000"/>
                              </a:solidFill>
                              <a:latin typeface="Cambria Math" panose="02040503050406030204" pitchFamily="18" charset="0"/>
                            </a:rPr>
                            <m:t>𝑄</m:t>
                          </m:r>
                        </m:e>
                        <m:sub>
                          <m:r>
                            <a:rPr lang="en-US" sz="2800" b="0" i="1" smtClean="0">
                              <a:solidFill>
                                <a:srgbClr val="C00000"/>
                              </a:solidFill>
                              <a:latin typeface="Cambria Math" panose="02040503050406030204" pitchFamily="18" charset="0"/>
                            </a:rPr>
                            <m:t>𝑁</m:t>
                          </m:r>
                        </m:sub>
                        <m:sup>
                          <m:r>
                            <a:rPr lang="en-US" sz="2800" b="0" i="1" smtClean="0">
                              <a:solidFill>
                                <a:srgbClr val="C00000"/>
                              </a:solidFill>
                              <a:latin typeface="Cambria Math" panose="02040503050406030204" pitchFamily="18" charset="0"/>
                            </a:rPr>
                            <m:t>(1)</m:t>
                          </m:r>
                        </m:sup>
                      </m:sSubSup>
                      <m:r>
                        <a:rPr lang="en-US" sz="2800" b="0" i="1" smtClean="0">
                          <a:solidFill>
                            <a:srgbClr val="C00000"/>
                          </a:solidFill>
                          <a:latin typeface="Cambria Math" panose="02040503050406030204" pitchFamily="18" charset="0"/>
                        </a:rPr>
                        <m:t>=</m:t>
                      </m:r>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𝑉</m:t>
                          </m:r>
                        </m:e>
                        <m:sup>
                          <m:r>
                            <a:rPr lang="en-US" sz="2800" b="0" i="1" smtClean="0">
                              <a:solidFill>
                                <a:srgbClr val="C00000"/>
                              </a:solidFill>
                              <a:latin typeface="Cambria Math" panose="02040503050406030204" pitchFamily="18" charset="0"/>
                            </a:rPr>
                            <m:t>𝑁</m:t>
                          </m:r>
                        </m:sup>
                      </m:sSup>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𝑒</m:t>
                          </m:r>
                        </m:e>
                        <m:sup>
                          <m:r>
                            <a:rPr lang="en-US" sz="2800" b="0" i="1" smtClean="0">
                              <a:solidFill>
                                <a:srgbClr val="C00000"/>
                              </a:solidFill>
                              <a:latin typeface="Cambria Math" panose="02040503050406030204" pitchFamily="18" charset="0"/>
                            </a:rPr>
                            <m:t>𝑁</m:t>
                          </m:r>
                          <m:f>
                            <m:fPr>
                              <m:ctrlPr>
                                <a:rPr lang="en-US" sz="2800" b="0" i="1" smtClean="0">
                                  <a:solidFill>
                                    <a:srgbClr val="C00000"/>
                                  </a:solidFill>
                                  <a:latin typeface="Cambria Math" panose="02040503050406030204" pitchFamily="18" charset="0"/>
                                </a:rPr>
                              </m:ctrlPr>
                            </m:fPr>
                            <m:num>
                              <m:r>
                                <a:rPr lang="en-US" sz="2800" b="0" i="1" smtClean="0">
                                  <a:solidFill>
                                    <a:srgbClr val="C00000"/>
                                  </a:solidFill>
                                  <a:latin typeface="Cambria Math" panose="02040503050406030204" pitchFamily="18" charset="0"/>
                                </a:rPr>
                                <m:t>𝑁</m:t>
                              </m:r>
                            </m:num>
                            <m:den>
                              <m:r>
                                <a:rPr lang="en-US" sz="2800" b="0" i="1" smtClean="0">
                                  <a:solidFill>
                                    <a:srgbClr val="C00000"/>
                                  </a:solidFill>
                                  <a:latin typeface="Cambria Math" panose="02040503050406030204" pitchFamily="18" charset="0"/>
                                </a:rPr>
                                <m:t>𝑉</m:t>
                              </m:r>
                            </m:den>
                          </m:f>
                          <m:f>
                            <m:fPr>
                              <m:ctrlPr>
                                <a:rPr lang="en-US" sz="2800" b="0" i="1" smtClean="0">
                                  <a:solidFill>
                                    <a:srgbClr val="C00000"/>
                                  </a:solidFill>
                                  <a:latin typeface="Cambria Math" panose="02040503050406030204" pitchFamily="18" charset="0"/>
                                </a:rPr>
                              </m:ctrlPr>
                            </m:fPr>
                            <m:num>
                              <m:sSub>
                                <m:sSubPr>
                                  <m:ctrlPr>
                                    <a:rPr lang="en-US" sz="2800" i="1">
                                      <a:solidFill>
                                        <a:srgbClr val="C00000"/>
                                      </a:solidFill>
                                      <a:latin typeface="Cambria Math" panose="02040503050406030204" pitchFamily="18" charset="0"/>
                                    </a:rPr>
                                  </m:ctrlPr>
                                </m:sSubPr>
                                <m:e>
                                  <m:r>
                                    <a:rPr lang="en-US" sz="2800" i="1">
                                      <a:solidFill>
                                        <a:srgbClr val="C00000"/>
                                      </a:solidFill>
                                      <a:latin typeface="Cambria Math" panose="02040503050406030204" pitchFamily="18" charset="0"/>
                                      <a:ea typeface="Cambria Math" panose="02040503050406030204" pitchFamily="18" charset="0"/>
                                    </a:rPr>
                                    <m:t>𝛽</m:t>
                                  </m:r>
                                </m:e>
                                <m:sub>
                                  <m:r>
                                    <a:rPr lang="en-US" sz="2800" i="1">
                                      <a:solidFill>
                                        <a:srgbClr val="C00000"/>
                                      </a:solidFill>
                                      <a:latin typeface="Cambria Math" panose="02040503050406030204" pitchFamily="18" charset="0"/>
                                    </a:rPr>
                                    <m:t>1</m:t>
                                  </m:r>
                                </m:sub>
                              </m:sSub>
                            </m:num>
                            <m:den>
                              <m:r>
                                <a:rPr lang="en-US" sz="2800" b="0" i="1" smtClean="0">
                                  <a:solidFill>
                                    <a:srgbClr val="C00000"/>
                                  </a:solidFill>
                                  <a:latin typeface="Cambria Math" panose="02040503050406030204" pitchFamily="18" charset="0"/>
                                </a:rPr>
                                <m:t>2</m:t>
                              </m:r>
                            </m:den>
                          </m:f>
                        </m:sup>
                      </m:sSup>
                    </m:oMath>
                  </m:oMathPara>
                </a14:m>
                <a:endParaRPr lang="en-CN" sz="2800" dirty="0"/>
              </a:p>
            </p:txBody>
          </p:sp>
        </mc:Choice>
        <mc:Fallback xmlns="">
          <p:sp>
            <p:nvSpPr>
              <p:cNvPr id="7" name="TextBox 6">
                <a:extLst>
                  <a:ext uri="{FF2B5EF4-FFF2-40B4-BE49-F238E27FC236}">
                    <a16:creationId xmlns:a16="http://schemas.microsoft.com/office/drawing/2014/main" id="{EAE5E6FE-A50A-B7BE-8C3A-01B66E048355}"/>
                  </a:ext>
                </a:extLst>
              </p:cNvPr>
              <p:cNvSpPr txBox="1">
                <a:spLocks noRot="1" noChangeAspect="1" noMove="1" noResize="1" noEditPoints="1" noAdjustHandles="1" noChangeArrowheads="1" noChangeShapeType="1" noTextEdit="1"/>
              </p:cNvSpPr>
              <p:nvPr/>
            </p:nvSpPr>
            <p:spPr>
              <a:xfrm>
                <a:off x="5126181" y="3008246"/>
                <a:ext cx="3879273" cy="772199"/>
              </a:xfrm>
              <a:prstGeom prst="rect">
                <a:avLst/>
              </a:prstGeom>
              <a:blipFill>
                <a:blip r:embed="rId5"/>
                <a:stretch>
                  <a:fillRect b="-806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09B881-1CF2-CF68-1652-8B78075CC454}"/>
                  </a:ext>
                </a:extLst>
              </p:cNvPr>
              <p:cNvSpPr txBox="1"/>
              <p:nvPr/>
            </p:nvSpPr>
            <p:spPr>
              <a:xfrm>
                <a:off x="3830778" y="5153878"/>
                <a:ext cx="4045531" cy="15452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2</m:t>
                          </m:r>
                        </m:den>
                      </m:f>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𝑁</m:t>
                          </m:r>
                          <m:r>
                            <a:rPr lang="en-US" i="1">
                              <a:solidFill>
                                <a:srgbClr val="C00000"/>
                              </a:solidFill>
                              <a:latin typeface="Cambria Math" panose="02040503050406030204" pitchFamily="18" charset="0"/>
                            </a:rPr>
                            <m:t>−1)</m:t>
                          </m:r>
                        </m:num>
                        <m:den>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𝑉</m:t>
                              </m:r>
                            </m:e>
                            <m:sup>
                              <m:r>
                                <a:rPr lang="en-US" i="1">
                                  <a:solidFill>
                                    <a:srgbClr val="C00000"/>
                                  </a:solidFill>
                                  <a:latin typeface="Cambria Math" panose="02040503050406030204" pitchFamily="18" charset="0"/>
                                </a:rPr>
                                <m:t>2</m:t>
                              </m:r>
                            </m:sup>
                          </m:sSup>
                        </m:den>
                      </m:f>
                      <m:r>
                        <m:rPr>
                          <m:nor/>
                        </m:rPr>
                        <a:rPr lang="en-US" dirty="0">
                          <a:solidFill>
                            <a:srgbClr val="C00000"/>
                          </a:solidFill>
                        </a:rPr>
                        <m:t> </m:t>
                      </m:r>
                      <m:nary>
                        <m:naryPr>
                          <m:limLoc m:val="undOvr"/>
                          <m:subHide m:val="on"/>
                          <m:supHide m:val="on"/>
                          <m:ctrlPr>
                            <a:rPr lang="en-US" i="1">
                              <a:solidFill>
                                <a:srgbClr val="C00000"/>
                              </a:solidFill>
                              <a:latin typeface="Cambria Math" panose="02040503050406030204" pitchFamily="18" charset="0"/>
                            </a:rPr>
                          </m:ctrlPr>
                        </m:naryPr>
                        <m:sub/>
                        <m:sup/>
                        <m:e>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1</m:t>
                              </m:r>
                            </m:sub>
                          </m:sSub>
                          <m:r>
                            <a:rPr lang="en-US" i="1">
                              <a:solidFill>
                                <a:srgbClr val="C00000"/>
                              </a:solidFill>
                              <a:latin typeface="Cambria Math" panose="02040503050406030204" pitchFamily="18" charset="0"/>
                            </a:rPr>
                            <m:t>𝑑</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𝑟</m:t>
                              </m:r>
                            </m:e>
                            <m:sub>
                              <m:r>
                                <a:rPr lang="en-US" i="1">
                                  <a:solidFill>
                                    <a:srgbClr val="C00000"/>
                                  </a:solidFill>
                                  <a:latin typeface="Cambria Math" panose="02040503050406030204" pitchFamily="18" charset="0"/>
                                </a:rPr>
                                <m:t>2</m:t>
                              </m:r>
                            </m:sub>
                          </m:sSub>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12</m:t>
                              </m:r>
                            </m:sub>
                          </m:sSub>
                        </m:e>
                      </m:nary>
                    </m:oMath>
                  </m:oMathPara>
                </a14:m>
                <a:endParaRPr lang="en-US" dirty="0">
                  <a:solidFill>
                    <a:srgbClr val="C00000"/>
                  </a:solidFill>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𝑉</m:t>
                          </m:r>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𝑑𝑟</m:t>
                          </m:r>
                          <m:r>
                            <a:rPr lang="en-US" b="0" i="1"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e>
                      </m:nary>
                    </m:oMath>
                  </m:oMathPara>
                </a14:m>
                <a:endParaRPr lang="en-CN" dirty="0"/>
              </a:p>
            </p:txBody>
          </p:sp>
        </mc:Choice>
        <mc:Fallback xmlns="">
          <p:sp>
            <p:nvSpPr>
              <p:cNvPr id="8" name="TextBox 7">
                <a:extLst>
                  <a:ext uri="{FF2B5EF4-FFF2-40B4-BE49-F238E27FC236}">
                    <a16:creationId xmlns:a16="http://schemas.microsoft.com/office/drawing/2014/main" id="{DF09B881-1CF2-CF68-1652-8B78075CC454}"/>
                  </a:ext>
                </a:extLst>
              </p:cNvPr>
              <p:cNvSpPr txBox="1">
                <a:spLocks noRot="1" noChangeAspect="1" noMove="1" noResize="1" noEditPoints="1" noAdjustHandles="1" noChangeArrowheads="1" noChangeShapeType="1" noTextEdit="1"/>
              </p:cNvSpPr>
              <p:nvPr/>
            </p:nvSpPr>
            <p:spPr>
              <a:xfrm>
                <a:off x="3830778" y="5153878"/>
                <a:ext cx="4045531" cy="1545295"/>
              </a:xfrm>
              <a:prstGeom prst="rect">
                <a:avLst/>
              </a:prstGeom>
              <a:blipFill>
                <a:blip r:embed="rId6"/>
                <a:stretch>
                  <a:fillRect t="-69106" b="-99187"/>
                </a:stretch>
              </a:blipFill>
            </p:spPr>
            <p:txBody>
              <a:bodyPr/>
              <a:lstStyle/>
              <a:p>
                <a:r>
                  <a:rPr lang="en-CN">
                    <a:noFill/>
                  </a:rPr>
                  <a:t> </a:t>
                </a:r>
              </a:p>
            </p:txBody>
          </p:sp>
        </mc:Fallback>
      </mc:AlternateContent>
      <p:sp>
        <p:nvSpPr>
          <p:cNvPr id="9" name="Oval 8">
            <a:extLst>
              <a:ext uri="{FF2B5EF4-FFF2-40B4-BE49-F238E27FC236}">
                <a16:creationId xmlns:a16="http://schemas.microsoft.com/office/drawing/2014/main" id="{5DB3CFB7-7E07-A9CC-F410-0D3B8B22D0A8}"/>
              </a:ext>
            </a:extLst>
          </p:cNvPr>
          <p:cNvSpPr/>
          <p:nvPr/>
        </p:nvSpPr>
        <p:spPr>
          <a:xfrm>
            <a:off x="3338944" y="5052158"/>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Oval 9">
            <a:extLst>
              <a:ext uri="{FF2B5EF4-FFF2-40B4-BE49-F238E27FC236}">
                <a16:creationId xmlns:a16="http://schemas.microsoft.com/office/drawing/2014/main" id="{0810BF01-8DEB-964E-87F7-1267696A1171}"/>
              </a:ext>
            </a:extLst>
          </p:cNvPr>
          <p:cNvSpPr/>
          <p:nvPr/>
        </p:nvSpPr>
        <p:spPr>
          <a:xfrm>
            <a:off x="3363188" y="5870972"/>
            <a:ext cx="207818" cy="184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1" name="Straight Connector 10">
            <a:extLst>
              <a:ext uri="{FF2B5EF4-FFF2-40B4-BE49-F238E27FC236}">
                <a16:creationId xmlns:a16="http://schemas.microsoft.com/office/drawing/2014/main" id="{0DAC5C3B-5A33-8E67-A0D2-EDAB84CA4F61}"/>
              </a:ext>
            </a:extLst>
          </p:cNvPr>
          <p:cNvCxnSpPr>
            <a:cxnSpLocks/>
            <a:stCxn id="9" idx="0"/>
            <a:endCxn id="10" idx="4"/>
          </p:cNvCxnSpPr>
          <p:nvPr/>
        </p:nvCxnSpPr>
        <p:spPr>
          <a:xfrm>
            <a:off x="3442853" y="5052158"/>
            <a:ext cx="24244" cy="1003664"/>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BB216EF-8FF6-CDA3-F62C-C30BD678376A}"/>
                  </a:ext>
                </a:extLst>
              </p:cNvPr>
              <p:cNvSpPr txBox="1"/>
              <p:nvPr/>
            </p:nvSpPr>
            <p:spPr>
              <a:xfrm>
                <a:off x="3636815" y="45730"/>
                <a:ext cx="5694218" cy="958724"/>
              </a:xfrm>
              <a:prstGeom prst="rect">
                <a:avLst/>
              </a:prstGeom>
              <a:noFill/>
            </p:spPr>
            <p:txBody>
              <a:bodyPr wrap="square" rtlCol="0">
                <a:spAutoFit/>
              </a:bodyPr>
              <a:lstStyle/>
              <a:p>
                <a14:m>
                  <m:oMath xmlns:m="http://schemas.openxmlformats.org/officeDocument/2006/math">
                    <m:f>
                      <m:fPr>
                        <m:ctrlPr>
                          <a:rPr lang="en-CN" sz="2800" i="1" smtClean="0">
                            <a:latin typeface="Cambria Math" panose="02040503050406030204" pitchFamily="18" charset="0"/>
                          </a:rPr>
                        </m:ctrlPr>
                      </m:fPr>
                      <m:num>
                        <m:sSub>
                          <m:sSubPr>
                            <m:ctrlPr>
                              <a:rPr lang="en-CN" sz="280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𝑁</m:t>
                            </m:r>
                          </m:sub>
                        </m:sSub>
                      </m:num>
                      <m:den>
                        <m:sSup>
                          <m:sSupPr>
                            <m:ctrlPr>
                              <a:rPr lang="en-CN" sz="2800" i="1" smtClean="0">
                                <a:latin typeface="Cambria Math" panose="02040503050406030204" pitchFamily="18" charset="0"/>
                              </a:rPr>
                            </m:ctrlPr>
                          </m:sSupPr>
                          <m:e>
                            <m:r>
                              <a:rPr lang="en-US" sz="2800" b="0" i="1" smtClean="0">
                                <a:latin typeface="Cambria Math" panose="02040503050406030204" pitchFamily="18" charset="0"/>
                              </a:rPr>
                              <m:t>𝑉</m:t>
                            </m:r>
                          </m:e>
                          <m:sup>
                            <m:r>
                              <a:rPr lang="en-US" sz="2800" b="0" i="1" smtClean="0">
                                <a:latin typeface="Cambria Math" panose="02040503050406030204" pitchFamily="18" charset="0"/>
                              </a:rPr>
                              <m:t>𝑁</m:t>
                            </m:r>
                          </m:sup>
                        </m:sSup>
                      </m:den>
                    </m:f>
                    <m:r>
                      <a:rPr lang="en-US" sz="2800" b="0" i="1" smtClean="0">
                        <a:latin typeface="Cambria Math" panose="02040503050406030204" pitchFamily="18" charset="0"/>
                      </a:rPr>
                      <m:t>=</m:t>
                    </m:r>
                  </m:oMath>
                </a14:m>
                <a:r>
                  <a:rPr lang="en-US" sz="2800" dirty="0"/>
                  <a:t> </a:t>
                </a:r>
                <a14:m>
                  <m:oMath xmlns:m="http://schemas.openxmlformats.org/officeDocument/2006/math">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𝑉</m:t>
                                </m:r>
                              </m:den>
                            </m:f>
                            <m:nary>
                              <m:naryPr>
                                <m:limLoc m:val="undOvr"/>
                                <m:subHide m:val="on"/>
                                <m:supHide m:val="on"/>
                                <m:ctrlPr>
                                  <a:rPr lang="en-US" sz="2800" i="1">
                                    <a:latin typeface="Cambria Math" panose="02040503050406030204" pitchFamily="18" charset="0"/>
                                  </a:rPr>
                                </m:ctrlPr>
                              </m:naryPr>
                              <m:sub/>
                              <m:sup/>
                              <m:e>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𝑢</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rPr>
                                      <m:t>−1</m:t>
                                    </m:r>
                                  </m:e>
                                </m:d>
                                <m:r>
                                  <a:rPr lang="en-US" sz="2800" b="0" i="1" smtClean="0">
                                    <a:latin typeface="Cambria Math" panose="02040503050406030204" pitchFamily="18" charset="0"/>
                                  </a:rPr>
                                  <m:t>𝑑𝑟</m:t>
                                </m:r>
                              </m:e>
                            </m:nary>
                          </m:e>
                        </m:d>
                      </m:e>
                      <m:sup>
                        <m:f>
                          <m:fPr>
                            <m:ctrlPr>
                              <a:rPr lang="en-US" sz="2800" i="1">
                                <a:latin typeface="Cambria Math" panose="02040503050406030204" pitchFamily="18" charset="0"/>
                              </a:rPr>
                            </m:ctrlPr>
                          </m:fPr>
                          <m:num>
                            <m:r>
                              <a:rPr lang="en-US" sz="2800" i="1">
                                <a:latin typeface="Cambria Math" panose="02040503050406030204" pitchFamily="18" charset="0"/>
                              </a:rPr>
                              <m:t>𝑁</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rPr>
                              <m:t>−1)</m:t>
                            </m:r>
                          </m:num>
                          <m:den>
                            <m:r>
                              <a:rPr lang="en-US" sz="2800" i="1">
                                <a:latin typeface="Cambria Math" panose="02040503050406030204" pitchFamily="18" charset="0"/>
                              </a:rPr>
                              <m:t>2</m:t>
                            </m:r>
                          </m:den>
                        </m:f>
                      </m:sup>
                    </m:sSup>
                  </m:oMath>
                </a14:m>
                <a:endParaRPr lang="en-CN" sz="2800" dirty="0"/>
              </a:p>
            </p:txBody>
          </p:sp>
        </mc:Choice>
        <mc:Fallback xmlns="">
          <p:sp>
            <p:nvSpPr>
              <p:cNvPr id="12" name="TextBox 11">
                <a:extLst>
                  <a:ext uri="{FF2B5EF4-FFF2-40B4-BE49-F238E27FC236}">
                    <a16:creationId xmlns:a16="http://schemas.microsoft.com/office/drawing/2014/main" id="{FBB216EF-8FF6-CDA3-F62C-C30BD678376A}"/>
                  </a:ext>
                </a:extLst>
              </p:cNvPr>
              <p:cNvSpPr txBox="1">
                <a:spLocks noRot="1" noChangeAspect="1" noMove="1" noResize="1" noEditPoints="1" noAdjustHandles="1" noChangeArrowheads="1" noChangeShapeType="1" noTextEdit="1"/>
              </p:cNvSpPr>
              <p:nvPr/>
            </p:nvSpPr>
            <p:spPr>
              <a:xfrm>
                <a:off x="3636815" y="45730"/>
                <a:ext cx="5694218" cy="958724"/>
              </a:xfrm>
              <a:prstGeom prst="rect">
                <a:avLst/>
              </a:prstGeom>
              <a:blipFill>
                <a:blip r:embed="rId7"/>
                <a:stretch>
                  <a:fillRect l="-223" t="-54545" b="-119481"/>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E73988A2-C132-7BE7-BF06-BC54EEF68654}"/>
              </a:ext>
            </a:extLst>
          </p:cNvPr>
          <p:cNvSpPr/>
          <p:nvPr/>
        </p:nvSpPr>
        <p:spPr>
          <a:xfrm>
            <a:off x="6830291" y="1220312"/>
            <a:ext cx="471054" cy="15090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Connector 13">
            <a:extLst>
              <a:ext uri="{FF2B5EF4-FFF2-40B4-BE49-F238E27FC236}">
                <a16:creationId xmlns:a16="http://schemas.microsoft.com/office/drawing/2014/main" id="{F39E8DAF-D563-87D2-4910-2CC7F5D7BD6D}"/>
              </a:ext>
            </a:extLst>
          </p:cNvPr>
          <p:cNvCxnSpPr/>
          <p:nvPr/>
        </p:nvCxnSpPr>
        <p:spPr>
          <a:xfrm>
            <a:off x="2715491" y="4211782"/>
            <a:ext cx="6705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6957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1F3A8A-55BC-2042-6551-B17AB88EEF8F}"/>
              </a:ext>
            </a:extLst>
          </p:cNvPr>
          <p:cNvSpPr txBox="1"/>
          <p:nvPr/>
        </p:nvSpPr>
        <p:spPr>
          <a:xfrm>
            <a:off x="678873" y="290945"/>
            <a:ext cx="8797636" cy="369332"/>
          </a:xfrm>
          <a:prstGeom prst="rect">
            <a:avLst/>
          </a:prstGeom>
          <a:noFill/>
        </p:spPr>
        <p:txBody>
          <a:bodyPr wrap="square" rtlCol="0">
            <a:spAutoFit/>
          </a:bodyPr>
          <a:lstStyle/>
          <a:p>
            <a:r>
              <a:rPr lang="en-CN" dirty="0"/>
              <a:t>更高阶近似</a:t>
            </a:r>
          </a:p>
        </p:txBody>
      </p:sp>
      <p:sp>
        <p:nvSpPr>
          <p:cNvPr id="3" name="TextBox 2">
            <a:extLst>
              <a:ext uri="{FF2B5EF4-FFF2-40B4-BE49-F238E27FC236}">
                <a16:creationId xmlns:a16="http://schemas.microsoft.com/office/drawing/2014/main" id="{4D69E27B-A6E9-A520-ED74-00C23EE9BA7B}"/>
              </a:ext>
            </a:extLst>
          </p:cNvPr>
          <p:cNvSpPr txBox="1"/>
          <p:nvPr/>
        </p:nvSpPr>
        <p:spPr>
          <a:xfrm>
            <a:off x="7758546" y="6057195"/>
            <a:ext cx="4142509" cy="369332"/>
          </a:xfrm>
          <a:prstGeom prst="rect">
            <a:avLst/>
          </a:prstGeom>
          <a:noFill/>
        </p:spPr>
        <p:txBody>
          <a:bodyPr wrap="square" rtlCol="0">
            <a:spAutoFit/>
          </a:bodyPr>
          <a:lstStyle/>
          <a:p>
            <a:pPr algn="r"/>
            <a:r>
              <a:rPr lang="en-CN" dirty="0"/>
              <a:t>2022.05.</a:t>
            </a:r>
            <a:r>
              <a:rPr lang="en-US" altLang="zh-CN" dirty="0"/>
              <a:t>08</a:t>
            </a:r>
            <a:endParaRPr lang="en-CN" dirty="0"/>
          </a:p>
        </p:txBody>
      </p:sp>
      <p:pic>
        <p:nvPicPr>
          <p:cNvPr id="6" name="Picture 5">
            <a:extLst>
              <a:ext uri="{FF2B5EF4-FFF2-40B4-BE49-F238E27FC236}">
                <a16:creationId xmlns:a16="http://schemas.microsoft.com/office/drawing/2014/main" id="{9D0F7D40-CF84-9E3C-4912-B34986F6A633}"/>
              </a:ext>
            </a:extLst>
          </p:cNvPr>
          <p:cNvPicPr>
            <a:picLocks noChangeAspect="1"/>
          </p:cNvPicPr>
          <p:nvPr/>
        </p:nvPicPr>
        <p:blipFill>
          <a:blip r:embed="rId2"/>
          <a:stretch>
            <a:fillRect/>
          </a:stretch>
        </p:blipFill>
        <p:spPr>
          <a:xfrm>
            <a:off x="678873" y="671028"/>
            <a:ext cx="6102902" cy="3669268"/>
          </a:xfrm>
          <a:prstGeom prst="rect">
            <a:avLst/>
          </a:prstGeom>
        </p:spPr>
      </p:pic>
      <p:pic>
        <p:nvPicPr>
          <p:cNvPr id="8" name="Picture 7">
            <a:extLst>
              <a:ext uri="{FF2B5EF4-FFF2-40B4-BE49-F238E27FC236}">
                <a16:creationId xmlns:a16="http://schemas.microsoft.com/office/drawing/2014/main" id="{A478D796-70E0-D126-E16F-6756A06D04D6}"/>
              </a:ext>
            </a:extLst>
          </p:cNvPr>
          <p:cNvPicPr>
            <a:picLocks noChangeAspect="1"/>
          </p:cNvPicPr>
          <p:nvPr/>
        </p:nvPicPr>
        <p:blipFill>
          <a:blip r:embed="rId3"/>
          <a:stretch>
            <a:fillRect/>
          </a:stretch>
        </p:blipFill>
        <p:spPr>
          <a:xfrm>
            <a:off x="7758546" y="1354965"/>
            <a:ext cx="4142509" cy="2301394"/>
          </a:xfrm>
          <a:prstGeom prst="rect">
            <a:avLst/>
          </a:prstGeom>
        </p:spPr>
      </p:pic>
      <p:pic>
        <p:nvPicPr>
          <p:cNvPr id="10" name="Picture 9">
            <a:extLst>
              <a:ext uri="{FF2B5EF4-FFF2-40B4-BE49-F238E27FC236}">
                <a16:creationId xmlns:a16="http://schemas.microsoft.com/office/drawing/2014/main" id="{488C5DE7-440C-C17D-4E85-7BC4E3095C60}"/>
              </a:ext>
            </a:extLst>
          </p:cNvPr>
          <p:cNvPicPr>
            <a:picLocks noChangeAspect="1"/>
          </p:cNvPicPr>
          <p:nvPr/>
        </p:nvPicPr>
        <p:blipFill>
          <a:blip r:embed="rId4"/>
          <a:stretch>
            <a:fillRect/>
          </a:stretch>
        </p:blipFill>
        <p:spPr>
          <a:xfrm>
            <a:off x="290945" y="5044651"/>
            <a:ext cx="3881582" cy="1056866"/>
          </a:xfrm>
          <a:prstGeom prst="rect">
            <a:avLst/>
          </a:prstGeom>
        </p:spPr>
      </p:pic>
      <p:cxnSp>
        <p:nvCxnSpPr>
          <p:cNvPr id="12" name="Straight Connector 11">
            <a:extLst>
              <a:ext uri="{FF2B5EF4-FFF2-40B4-BE49-F238E27FC236}">
                <a16:creationId xmlns:a16="http://schemas.microsoft.com/office/drawing/2014/main" id="{5FED50E4-CB10-55E3-85EC-502C0FD00B74}"/>
              </a:ext>
            </a:extLst>
          </p:cNvPr>
          <p:cNvCxnSpPr/>
          <p:nvPr/>
        </p:nvCxnSpPr>
        <p:spPr>
          <a:xfrm>
            <a:off x="415636" y="4558145"/>
            <a:ext cx="70381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DAC2508-BA0D-982F-ADC6-97FC499E5C02}"/>
              </a:ext>
            </a:extLst>
          </p:cNvPr>
          <p:cNvCxnSpPr/>
          <p:nvPr/>
        </p:nvCxnSpPr>
        <p:spPr>
          <a:xfrm flipV="1">
            <a:off x="7453745" y="290945"/>
            <a:ext cx="0" cy="4253346"/>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9AE6E654-1193-8201-D13A-09008103B971}"/>
              </a:ext>
            </a:extLst>
          </p:cNvPr>
          <p:cNvPicPr>
            <a:picLocks noChangeAspect="1"/>
          </p:cNvPicPr>
          <p:nvPr/>
        </p:nvPicPr>
        <p:blipFill>
          <a:blip r:embed="rId5"/>
          <a:stretch>
            <a:fillRect/>
          </a:stretch>
        </p:blipFill>
        <p:spPr>
          <a:xfrm>
            <a:off x="5077691" y="4831517"/>
            <a:ext cx="5130800" cy="1270000"/>
          </a:xfrm>
          <a:prstGeom prst="rect">
            <a:avLst/>
          </a:prstGeom>
        </p:spPr>
      </p:pic>
    </p:spTree>
    <p:extLst>
      <p:ext uri="{BB962C8B-B14F-4D97-AF65-F5344CB8AC3E}">
        <p14:creationId xmlns:p14="http://schemas.microsoft.com/office/powerpoint/2010/main" val="2528349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1F3A8A-55BC-2042-6551-B17AB88EEF8F}"/>
              </a:ext>
            </a:extLst>
          </p:cNvPr>
          <p:cNvSpPr txBox="1"/>
          <p:nvPr/>
        </p:nvSpPr>
        <p:spPr>
          <a:xfrm>
            <a:off x="678873" y="290945"/>
            <a:ext cx="8797636" cy="369332"/>
          </a:xfrm>
          <a:prstGeom prst="rect">
            <a:avLst/>
          </a:prstGeom>
          <a:noFill/>
        </p:spPr>
        <p:txBody>
          <a:bodyPr wrap="square" rtlCol="0">
            <a:spAutoFit/>
          </a:bodyPr>
          <a:lstStyle/>
          <a:p>
            <a:r>
              <a:rPr lang="en-CN" dirty="0"/>
              <a:t>更高阶近似</a:t>
            </a:r>
          </a:p>
        </p:txBody>
      </p:sp>
      <p:pic>
        <p:nvPicPr>
          <p:cNvPr id="4" name="Picture 3">
            <a:extLst>
              <a:ext uri="{FF2B5EF4-FFF2-40B4-BE49-F238E27FC236}">
                <a16:creationId xmlns:a16="http://schemas.microsoft.com/office/drawing/2014/main" id="{ED3C4574-A716-4F71-2560-3E89E56D30B4}"/>
              </a:ext>
            </a:extLst>
          </p:cNvPr>
          <p:cNvPicPr>
            <a:picLocks noChangeAspect="1"/>
          </p:cNvPicPr>
          <p:nvPr/>
        </p:nvPicPr>
        <p:blipFill>
          <a:blip r:embed="rId2"/>
          <a:stretch>
            <a:fillRect/>
          </a:stretch>
        </p:blipFill>
        <p:spPr>
          <a:xfrm>
            <a:off x="2008910" y="800805"/>
            <a:ext cx="7301344" cy="3620572"/>
          </a:xfrm>
          <a:prstGeom prst="rect">
            <a:avLst/>
          </a:prstGeom>
        </p:spPr>
      </p:pic>
      <p:sp>
        <p:nvSpPr>
          <p:cNvPr id="3" name="TextBox 2">
            <a:extLst>
              <a:ext uri="{FF2B5EF4-FFF2-40B4-BE49-F238E27FC236}">
                <a16:creationId xmlns:a16="http://schemas.microsoft.com/office/drawing/2014/main" id="{4D69E27B-A6E9-A520-ED74-00C23EE9BA7B}"/>
              </a:ext>
            </a:extLst>
          </p:cNvPr>
          <p:cNvSpPr txBox="1"/>
          <p:nvPr/>
        </p:nvSpPr>
        <p:spPr>
          <a:xfrm>
            <a:off x="7758546" y="6057195"/>
            <a:ext cx="4142509" cy="369332"/>
          </a:xfrm>
          <a:prstGeom prst="rect">
            <a:avLst/>
          </a:prstGeom>
          <a:noFill/>
        </p:spPr>
        <p:txBody>
          <a:bodyPr wrap="square" rtlCol="0">
            <a:spAutoFit/>
          </a:bodyPr>
          <a:lstStyle/>
          <a:p>
            <a:pPr algn="r"/>
            <a:r>
              <a:rPr lang="en-CN" dirty="0"/>
              <a:t>2022.05.</a:t>
            </a:r>
            <a:r>
              <a:rPr lang="en-US" altLang="zh-CN" dirty="0"/>
              <a:t>08</a:t>
            </a:r>
            <a:endParaRPr lang="en-CN" dirty="0"/>
          </a:p>
        </p:txBody>
      </p:sp>
    </p:spTree>
    <p:extLst>
      <p:ext uri="{BB962C8B-B14F-4D97-AF65-F5344CB8AC3E}">
        <p14:creationId xmlns:p14="http://schemas.microsoft.com/office/powerpoint/2010/main" val="118512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2"/>
            <a:ext cx="10425811" cy="24219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N" sz="4000" dirty="0">
                <a:latin typeface="FangSong" panose="02010609060101010101" pitchFamily="49" charset="-122"/>
                <a:ea typeface="FangSong" panose="02010609060101010101" pitchFamily="49" charset="-122"/>
              </a:rPr>
              <a:t>相互作用系统</a:t>
            </a:r>
          </a:p>
          <a:p>
            <a:r>
              <a:rPr lang="en-CN" sz="4000" dirty="0">
                <a:solidFill>
                  <a:schemeClr val="bg1">
                    <a:lumMod val="50000"/>
                  </a:schemeClr>
                </a:solidFill>
                <a:latin typeface="FangSong" panose="02010609060101010101" pitchFamily="49" charset="-122"/>
                <a:ea typeface="FangSong" panose="02010609060101010101" pitchFamily="49" charset="-122"/>
              </a:rPr>
              <a:t>弱耦合</a:t>
            </a:r>
            <a:r>
              <a:rPr lang="zh-CN" altLang="en-US" sz="4000" dirty="0">
                <a:solidFill>
                  <a:schemeClr val="bg1">
                    <a:lumMod val="50000"/>
                  </a:schemeClr>
                </a:solidFill>
                <a:latin typeface="FangSong" panose="02010609060101010101" pitchFamily="49" charset="-122"/>
                <a:ea typeface="FangSong" panose="02010609060101010101" pitchFamily="49" charset="-122"/>
              </a:rPr>
              <a:t>（</a:t>
            </a:r>
            <a:r>
              <a:rPr lang="en-US" altLang="zh-CN" sz="4000" dirty="0">
                <a:solidFill>
                  <a:schemeClr val="bg1">
                    <a:lumMod val="50000"/>
                  </a:schemeClr>
                </a:solidFill>
                <a:latin typeface="FangSong" panose="02010609060101010101" pitchFamily="49" charset="-122"/>
                <a:ea typeface="FangSong" panose="02010609060101010101" pitchFamily="49" charset="-122"/>
              </a:rPr>
              <a:t>weakly interacting gases</a:t>
            </a:r>
            <a:r>
              <a:rPr lang="zh-CN" altLang="en-US" sz="4000" dirty="0">
                <a:solidFill>
                  <a:schemeClr val="bg1">
                    <a:lumMod val="50000"/>
                  </a:schemeClr>
                </a:solidFill>
                <a:latin typeface="FangSong" panose="02010609060101010101" pitchFamily="49" charset="-122"/>
                <a:ea typeface="FangSong" panose="02010609060101010101" pitchFamily="49" charset="-122"/>
              </a:rPr>
              <a:t>）</a:t>
            </a:r>
            <a:endParaRPr lang="en-CN" sz="4000" dirty="0">
              <a:solidFill>
                <a:schemeClr val="bg1">
                  <a:lumMod val="50000"/>
                </a:schemeClr>
              </a:solidFill>
              <a:latin typeface="FangSong" panose="02010609060101010101" pitchFamily="49" charset="-122"/>
              <a:ea typeface="FangSong" panose="02010609060101010101" pitchFamily="49" charset="-122"/>
            </a:endParaRPr>
          </a:p>
          <a:p>
            <a:r>
              <a:rPr lang="en-CN" sz="4000" dirty="0">
                <a:latin typeface="FangSong" panose="02010609060101010101" pitchFamily="49" charset="-122"/>
                <a:ea typeface="FangSong" panose="02010609060101010101" pitchFamily="49" charset="-122"/>
              </a:rPr>
              <a:t>Ising模型</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（第十二三周）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041952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0515600" cy="1325563"/>
          </a:xfrm>
        </p:spPr>
        <p:txBody>
          <a:bodyPr>
            <a:normAutofit/>
          </a:bodyPr>
          <a:lstStyle/>
          <a:p>
            <a:r>
              <a:rPr lang="en-CN" dirty="0"/>
              <a:t>Paramagnet</a:t>
            </a:r>
            <a:r>
              <a:rPr lang="zh-CN" altLang="en-US" dirty="0"/>
              <a:t>（顺磁体       </a:t>
            </a:r>
            <a:r>
              <a:rPr lang="en-US" altLang="zh-CN" dirty="0"/>
              <a:t>vs</a:t>
            </a:r>
            <a:r>
              <a:rPr lang="zh-CN" altLang="en-US" dirty="0"/>
              <a:t>        </a:t>
            </a:r>
            <a:r>
              <a:rPr lang="zh-CN" altLang="en-US" dirty="0">
                <a:solidFill>
                  <a:schemeClr val="bg1">
                    <a:lumMod val="65000"/>
                  </a:schemeClr>
                </a:solidFill>
              </a:rPr>
              <a:t>铁磁体</a:t>
            </a:r>
            <a:r>
              <a:rPr lang="zh-CN" altLang="en-US" dirty="0"/>
              <a:t>）</a:t>
            </a:r>
            <a:endParaRPr lang="en-CN" dirty="0"/>
          </a:p>
        </p:txBody>
      </p:sp>
      <p:sp>
        <p:nvSpPr>
          <p:cNvPr id="3" name="TextBox 2">
            <a:extLst>
              <a:ext uri="{FF2B5EF4-FFF2-40B4-BE49-F238E27FC236}">
                <a16:creationId xmlns:a16="http://schemas.microsoft.com/office/drawing/2014/main" id="{44533E8A-38A1-2442-938A-E6BCFD2A991A}"/>
              </a:ext>
            </a:extLst>
          </p:cNvPr>
          <p:cNvSpPr txBox="1"/>
          <p:nvPr/>
        </p:nvSpPr>
        <p:spPr>
          <a:xfrm>
            <a:off x="1214437" y="1457327"/>
            <a:ext cx="10101263" cy="646331"/>
          </a:xfrm>
          <a:prstGeom prst="rect">
            <a:avLst/>
          </a:prstGeom>
          <a:noFill/>
        </p:spPr>
        <p:txBody>
          <a:bodyPr wrap="square" rtlCol="0">
            <a:spAutoFit/>
          </a:bodyPr>
          <a:lstStyle/>
          <a:p>
            <a:r>
              <a:rPr lang="en-CN" dirty="0"/>
              <a:t>…a material in which constituent particles act like tiny compass needles that tend to align pararallel to any externally applied magnetic field.</a:t>
            </a:r>
          </a:p>
        </p:txBody>
      </p:sp>
      <p:pic>
        <p:nvPicPr>
          <p:cNvPr id="2050" name="Picture 2" descr="Paramagnetism">
            <a:extLst>
              <a:ext uri="{FF2B5EF4-FFF2-40B4-BE49-F238E27FC236}">
                <a16:creationId xmlns:a16="http://schemas.microsoft.com/office/drawing/2014/main" id="{961D8F1E-F9B3-C946-ABCA-9BE4E3DF7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2497135"/>
            <a:ext cx="6350000" cy="3175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00BCF861-1972-4D47-9DBB-CC4C3D4104B9}"/>
              </a:ext>
            </a:extLst>
          </p:cNvPr>
          <p:cNvSpPr/>
          <p:nvPr/>
        </p:nvSpPr>
        <p:spPr>
          <a:xfrm>
            <a:off x="6943725" y="3671888"/>
            <a:ext cx="1000125" cy="557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8" name="Straight Arrow Connector 7">
            <a:extLst>
              <a:ext uri="{FF2B5EF4-FFF2-40B4-BE49-F238E27FC236}">
                <a16:creationId xmlns:a16="http://schemas.microsoft.com/office/drawing/2014/main" id="{D0E65758-0C5E-D847-8F87-1B8A2B796ABF}"/>
              </a:ext>
            </a:extLst>
          </p:cNvPr>
          <p:cNvCxnSpPr/>
          <p:nvPr/>
        </p:nvCxnSpPr>
        <p:spPr>
          <a:xfrm flipV="1">
            <a:off x="8915400" y="3429000"/>
            <a:ext cx="0" cy="10144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2D90D17-204E-4C4A-BC77-DAAEC4DD4DBD}"/>
              </a:ext>
            </a:extLst>
          </p:cNvPr>
          <p:cNvCxnSpPr>
            <a:cxnSpLocks/>
          </p:cNvCxnSpPr>
          <p:nvPr/>
        </p:nvCxnSpPr>
        <p:spPr>
          <a:xfrm>
            <a:off x="9353550" y="3429000"/>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1EAEF2A-C62A-3945-BE90-C17567437906}"/>
              </a:ext>
            </a:extLst>
          </p:cNvPr>
          <p:cNvCxnSpPr/>
          <p:nvPr/>
        </p:nvCxnSpPr>
        <p:spPr>
          <a:xfrm flipV="1">
            <a:off x="9729788" y="2986088"/>
            <a:ext cx="700087"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7E5D2D-4EDD-C944-9A88-CE792953EF12}"/>
              </a:ext>
            </a:extLst>
          </p:cNvPr>
          <p:cNvCxnSpPr/>
          <p:nvPr/>
        </p:nvCxnSpPr>
        <p:spPr>
          <a:xfrm>
            <a:off x="9729788" y="3814763"/>
            <a:ext cx="7000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12ADAF-1DDE-8843-8EFC-0A3E9F728CAF}"/>
              </a:ext>
            </a:extLst>
          </p:cNvPr>
          <p:cNvCxnSpPr/>
          <p:nvPr/>
        </p:nvCxnSpPr>
        <p:spPr>
          <a:xfrm>
            <a:off x="9729788" y="3950494"/>
            <a:ext cx="700087" cy="526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D4F83E6-F7BB-D849-B578-57B76A18BAC5}"/>
              </a:ext>
            </a:extLst>
          </p:cNvPr>
          <p:cNvSpPr txBox="1"/>
          <p:nvPr/>
        </p:nvSpPr>
        <p:spPr>
          <a:xfrm>
            <a:off x="10529888" y="2686050"/>
            <a:ext cx="942975" cy="2585323"/>
          </a:xfrm>
          <a:prstGeom prst="rect">
            <a:avLst/>
          </a:prstGeom>
          <a:noFill/>
        </p:spPr>
        <p:txBody>
          <a:bodyPr wrap="square" rtlCol="0">
            <a:spAutoFit/>
          </a:bodyPr>
          <a:lstStyle/>
          <a:p>
            <a:r>
              <a:rPr lang="en-CN" dirty="0"/>
              <a:t>0 or 1</a:t>
            </a:r>
          </a:p>
          <a:p>
            <a:endParaRPr lang="en-CN" dirty="0"/>
          </a:p>
          <a:p>
            <a:endParaRPr lang="en-CN" dirty="0"/>
          </a:p>
          <a:p>
            <a:r>
              <a:rPr lang="en-CN" dirty="0"/>
              <a:t>男女</a:t>
            </a:r>
          </a:p>
          <a:p>
            <a:endParaRPr lang="en-CN" dirty="0"/>
          </a:p>
          <a:p>
            <a:endParaRPr lang="en-CN" dirty="0"/>
          </a:p>
          <a:p>
            <a:r>
              <a:rPr lang="en-CN" dirty="0"/>
              <a:t>占座</a:t>
            </a:r>
          </a:p>
          <a:p>
            <a:endParaRPr lang="en-CN" dirty="0"/>
          </a:p>
          <a:p>
            <a:r>
              <a:rPr lang="en-CN" dirty="0"/>
              <a:t>等等</a:t>
            </a:r>
          </a:p>
        </p:txBody>
      </p:sp>
      <p:sp>
        <p:nvSpPr>
          <p:cNvPr id="20" name="Right Brace 19">
            <a:extLst>
              <a:ext uri="{FF2B5EF4-FFF2-40B4-BE49-F238E27FC236}">
                <a16:creationId xmlns:a16="http://schemas.microsoft.com/office/drawing/2014/main" id="{1CCCF800-A5C7-CE40-BBB1-72320707930B}"/>
              </a:ext>
            </a:extLst>
          </p:cNvPr>
          <p:cNvSpPr/>
          <p:nvPr/>
        </p:nvSpPr>
        <p:spPr>
          <a:xfrm rot="5400000">
            <a:off x="9794080" y="4321260"/>
            <a:ext cx="571500" cy="2471727"/>
          </a:xfrm>
          <a:prstGeom prst="rightBrace">
            <a:avLst>
              <a:gd name="adj1" fmla="val 3000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1" name="TextBox 20">
            <a:extLst>
              <a:ext uri="{FF2B5EF4-FFF2-40B4-BE49-F238E27FC236}">
                <a16:creationId xmlns:a16="http://schemas.microsoft.com/office/drawing/2014/main" id="{1AB5CC5B-C4AA-2F45-9FE3-22E3F51F1D76}"/>
              </a:ext>
            </a:extLst>
          </p:cNvPr>
          <p:cNvSpPr txBox="1"/>
          <p:nvPr/>
        </p:nvSpPr>
        <p:spPr>
          <a:xfrm>
            <a:off x="8529638" y="6000750"/>
            <a:ext cx="3157537" cy="523220"/>
          </a:xfrm>
          <a:prstGeom prst="rect">
            <a:avLst/>
          </a:prstGeom>
          <a:noFill/>
        </p:spPr>
        <p:txBody>
          <a:bodyPr wrap="square" rtlCol="0">
            <a:spAutoFit/>
          </a:bodyPr>
          <a:lstStyle/>
          <a:p>
            <a:pPr algn="ctr"/>
            <a:r>
              <a:rPr lang="en-CN" sz="2800" dirty="0"/>
              <a:t>Binary</a:t>
            </a:r>
            <a:r>
              <a:rPr lang="zh-CN" altLang="en-US" sz="2800" dirty="0"/>
              <a:t> </a:t>
            </a:r>
            <a:r>
              <a:rPr lang="en-US" altLang="zh-CN" sz="2800" dirty="0"/>
              <a:t>model</a:t>
            </a:r>
            <a:endParaRPr lang="en-CN" sz="2800" dirty="0"/>
          </a:p>
        </p:txBody>
      </p:sp>
      <p:sp>
        <p:nvSpPr>
          <p:cNvPr id="7" name="Up Arrow 6">
            <a:extLst>
              <a:ext uri="{FF2B5EF4-FFF2-40B4-BE49-F238E27FC236}">
                <a16:creationId xmlns:a16="http://schemas.microsoft.com/office/drawing/2014/main" id="{C2399935-149F-DB49-97C7-0BDD3C78BC40}"/>
              </a:ext>
            </a:extLst>
          </p:cNvPr>
          <p:cNvSpPr/>
          <p:nvPr/>
        </p:nvSpPr>
        <p:spPr>
          <a:xfrm>
            <a:off x="6324600" y="4800600"/>
            <a:ext cx="152400" cy="871535"/>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24249DBA-9975-144F-997D-019CCC1FACC4}"/>
              </a:ext>
            </a:extLst>
          </p:cNvPr>
          <p:cNvSpPr txBox="1"/>
          <p:nvPr/>
        </p:nvSpPr>
        <p:spPr>
          <a:xfrm>
            <a:off x="1676400" y="6179127"/>
            <a:ext cx="3075709" cy="369332"/>
          </a:xfrm>
          <a:prstGeom prst="rect">
            <a:avLst/>
          </a:prstGeom>
          <a:noFill/>
        </p:spPr>
        <p:txBody>
          <a:bodyPr wrap="square" rtlCol="0">
            <a:spAutoFit/>
          </a:bodyPr>
          <a:lstStyle/>
          <a:p>
            <a:r>
              <a:rPr lang="en-CN" dirty="0"/>
              <a:t>查看第一次课</a:t>
            </a:r>
          </a:p>
        </p:txBody>
      </p:sp>
    </p:spTree>
    <p:extLst>
      <p:ext uri="{BB962C8B-B14F-4D97-AF65-F5344CB8AC3E}">
        <p14:creationId xmlns:p14="http://schemas.microsoft.com/office/powerpoint/2010/main" val="2692433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0515600" cy="1325563"/>
          </a:xfrm>
        </p:spPr>
        <p:txBody>
          <a:bodyPr>
            <a:normAutofit/>
          </a:bodyPr>
          <a:lstStyle/>
          <a:p>
            <a:r>
              <a:rPr lang="en-CN" dirty="0"/>
              <a:t>Paramagnet</a:t>
            </a:r>
            <a:r>
              <a:rPr lang="zh-CN" altLang="en-US" dirty="0"/>
              <a:t>（顺磁体       </a:t>
            </a:r>
            <a:r>
              <a:rPr lang="en-US" altLang="zh-CN" dirty="0"/>
              <a:t>vs</a:t>
            </a:r>
            <a:r>
              <a:rPr lang="zh-CN" altLang="en-US" dirty="0"/>
              <a:t>        </a:t>
            </a:r>
            <a:r>
              <a:rPr lang="zh-CN" altLang="en-US" dirty="0">
                <a:solidFill>
                  <a:schemeClr val="bg1">
                    <a:lumMod val="65000"/>
                  </a:schemeClr>
                </a:solidFill>
              </a:rPr>
              <a:t>铁磁体</a:t>
            </a:r>
            <a:r>
              <a:rPr lang="zh-CN" altLang="en-US" dirty="0"/>
              <a:t>）</a:t>
            </a:r>
            <a:endParaRPr lang="en-CN" dirty="0"/>
          </a:p>
        </p:txBody>
      </p:sp>
      <p:pic>
        <p:nvPicPr>
          <p:cNvPr id="17" name="Picture 16">
            <a:extLst>
              <a:ext uri="{FF2B5EF4-FFF2-40B4-BE49-F238E27FC236}">
                <a16:creationId xmlns:a16="http://schemas.microsoft.com/office/drawing/2014/main" id="{18CA953C-6664-96B1-5DFB-920CA79D872A}"/>
              </a:ext>
            </a:extLst>
          </p:cNvPr>
          <p:cNvPicPr>
            <a:picLocks noChangeAspect="1"/>
          </p:cNvPicPr>
          <p:nvPr/>
        </p:nvPicPr>
        <p:blipFill>
          <a:blip r:embed="rId2"/>
          <a:stretch>
            <a:fillRect/>
          </a:stretch>
        </p:blipFill>
        <p:spPr>
          <a:xfrm>
            <a:off x="0" y="1485901"/>
            <a:ext cx="12192000" cy="3696511"/>
          </a:xfrm>
          <a:prstGeom prst="rect">
            <a:avLst/>
          </a:prstGeom>
        </p:spPr>
      </p:pic>
    </p:spTree>
    <p:extLst>
      <p:ext uri="{BB962C8B-B14F-4D97-AF65-F5344CB8AC3E}">
        <p14:creationId xmlns:p14="http://schemas.microsoft.com/office/powerpoint/2010/main" val="1116461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A9F356-FA60-CE0F-DF4C-D65497BEE277}"/>
              </a:ext>
            </a:extLst>
          </p:cNvPr>
          <p:cNvPicPr>
            <a:picLocks noChangeAspect="1"/>
          </p:cNvPicPr>
          <p:nvPr/>
        </p:nvPicPr>
        <p:blipFill>
          <a:blip r:embed="rId2"/>
          <a:stretch>
            <a:fillRect/>
          </a:stretch>
        </p:blipFill>
        <p:spPr>
          <a:xfrm>
            <a:off x="193965" y="2454916"/>
            <a:ext cx="4935828" cy="3756540"/>
          </a:xfrm>
          <a:prstGeom prst="rect">
            <a:avLst/>
          </a:prstGeom>
        </p:spPr>
      </p:pic>
      <p:pic>
        <p:nvPicPr>
          <p:cNvPr id="5" name="Picture 4">
            <a:extLst>
              <a:ext uri="{FF2B5EF4-FFF2-40B4-BE49-F238E27FC236}">
                <a16:creationId xmlns:a16="http://schemas.microsoft.com/office/drawing/2014/main" id="{AA3228C6-33F9-FA5E-4B62-73BA6F9FEEF7}"/>
              </a:ext>
            </a:extLst>
          </p:cNvPr>
          <p:cNvPicPr>
            <a:picLocks noChangeAspect="1"/>
          </p:cNvPicPr>
          <p:nvPr/>
        </p:nvPicPr>
        <p:blipFill>
          <a:blip r:embed="rId3"/>
          <a:stretch>
            <a:fillRect/>
          </a:stretch>
        </p:blipFill>
        <p:spPr>
          <a:xfrm>
            <a:off x="4935828" y="3103775"/>
            <a:ext cx="7256172" cy="1902691"/>
          </a:xfrm>
          <a:prstGeom prst="rect">
            <a:avLst/>
          </a:prstGeom>
        </p:spPr>
      </p:pic>
      <p:sp>
        <p:nvSpPr>
          <p:cNvPr id="6" name="TextBox 5">
            <a:extLst>
              <a:ext uri="{FF2B5EF4-FFF2-40B4-BE49-F238E27FC236}">
                <a16:creationId xmlns:a16="http://schemas.microsoft.com/office/drawing/2014/main" id="{98224A1B-F666-D225-2D36-4868E3F0E1F1}"/>
              </a:ext>
            </a:extLst>
          </p:cNvPr>
          <p:cNvSpPr txBox="1"/>
          <p:nvPr/>
        </p:nvSpPr>
        <p:spPr>
          <a:xfrm>
            <a:off x="5467423" y="5503570"/>
            <a:ext cx="6192981" cy="707886"/>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一个误解如何成就一个人</a:t>
            </a:r>
            <a:r>
              <a:rPr lang="zh-CN" altLang="en-US"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p:txBody>
      </p:sp>
      <p:pic>
        <p:nvPicPr>
          <p:cNvPr id="7" name="Picture 6">
            <a:extLst>
              <a:ext uri="{FF2B5EF4-FFF2-40B4-BE49-F238E27FC236}">
                <a16:creationId xmlns:a16="http://schemas.microsoft.com/office/drawing/2014/main" id="{730CED93-34D5-10C9-E41C-5769EA2D752B}"/>
              </a:ext>
            </a:extLst>
          </p:cNvPr>
          <p:cNvPicPr>
            <a:picLocks noChangeAspect="1"/>
          </p:cNvPicPr>
          <p:nvPr/>
        </p:nvPicPr>
        <p:blipFill>
          <a:blip r:embed="rId4"/>
          <a:stretch>
            <a:fillRect/>
          </a:stretch>
        </p:blipFill>
        <p:spPr>
          <a:xfrm>
            <a:off x="0" y="0"/>
            <a:ext cx="12192000" cy="2361022"/>
          </a:xfrm>
          <a:prstGeom prst="rect">
            <a:avLst/>
          </a:prstGeom>
        </p:spPr>
      </p:pic>
    </p:spTree>
    <p:extLst>
      <p:ext uri="{BB962C8B-B14F-4D97-AF65-F5344CB8AC3E}">
        <p14:creationId xmlns:p14="http://schemas.microsoft.com/office/powerpoint/2010/main" val="1394653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D1DEEBB-D0CD-2760-7E80-CD2EF36B552F}"/>
                  </a:ext>
                </a:extLst>
              </p:cNvPr>
              <p:cNvSpPr txBox="1"/>
              <p:nvPr/>
            </p:nvSpPr>
            <p:spPr>
              <a:xfrm>
                <a:off x="2119745" y="1260764"/>
                <a:ext cx="7287491" cy="9003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𝑁</m:t>
                          </m:r>
                        </m:sub>
                      </m:s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𝐽</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𝑆</m:t>
                              </m:r>
                            </m:e>
                            <m:sub>
                              <m:r>
                                <a:rPr lang="en-US" b="0" i="1" smtClean="0">
                                  <a:solidFill>
                                    <a:srgbClr val="FF0000"/>
                                  </a:solidFill>
                                  <a:latin typeface="Cambria Math" panose="02040503050406030204" pitchFamily="18" charset="0"/>
                                  <a:ea typeface="Cambria Math" panose="02040503050406030204" pitchFamily="18" charset="0"/>
                                </a:rPr>
                                <m:t>𝑖</m:t>
                              </m:r>
                            </m:sub>
                          </m:sSub>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𝑆</m:t>
                              </m:r>
                            </m:e>
                            <m:sub>
                              <m:r>
                                <a:rPr lang="en-US" b="0" i="1" smtClean="0">
                                  <a:solidFill>
                                    <a:srgbClr val="FF0000"/>
                                  </a:solidFill>
                                  <a:latin typeface="Cambria Math" panose="02040503050406030204" pitchFamily="18" charset="0"/>
                                  <a:ea typeface="Cambria Math" panose="02040503050406030204" pitchFamily="18" charset="0"/>
                                </a:rPr>
                                <m:t>𝑖</m:t>
                              </m:r>
                              <m:r>
                                <a:rPr lang="en-US" b="0" i="1" smtClean="0">
                                  <a:solidFill>
                                    <a:srgbClr val="FF0000"/>
                                  </a:solidFill>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nary>
                    </m:oMath>
                  </m:oMathPara>
                </a14:m>
                <a:endParaRPr lang="en-CN" dirty="0"/>
              </a:p>
            </p:txBody>
          </p:sp>
        </mc:Choice>
        <mc:Fallback xmlns="">
          <p:sp>
            <p:nvSpPr>
              <p:cNvPr id="2" name="TextBox 1">
                <a:extLst>
                  <a:ext uri="{FF2B5EF4-FFF2-40B4-BE49-F238E27FC236}">
                    <a16:creationId xmlns:a16="http://schemas.microsoft.com/office/drawing/2014/main" id="{BD1DEEBB-D0CD-2760-7E80-CD2EF36B552F}"/>
                  </a:ext>
                </a:extLst>
              </p:cNvPr>
              <p:cNvSpPr txBox="1">
                <a:spLocks noRot="1" noChangeAspect="1" noMove="1" noResize="1" noEditPoints="1" noAdjustHandles="1" noChangeArrowheads="1" noChangeShapeType="1" noTextEdit="1"/>
              </p:cNvSpPr>
              <p:nvPr/>
            </p:nvSpPr>
            <p:spPr>
              <a:xfrm>
                <a:off x="2119745" y="1260764"/>
                <a:ext cx="7287491" cy="900375"/>
              </a:xfrm>
              <a:prstGeom prst="rect">
                <a:avLst/>
              </a:prstGeom>
              <a:blipFill>
                <a:blip r:embed="rId2"/>
                <a:stretch>
                  <a:fillRect t="-91667" b="-141667"/>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5056A2A0-4B98-A907-7530-FA07D6302C4C}"/>
              </a:ext>
            </a:extLst>
          </p:cNvPr>
          <p:cNvSpPr txBox="1"/>
          <p:nvPr/>
        </p:nvSpPr>
        <p:spPr>
          <a:xfrm>
            <a:off x="526473" y="471055"/>
            <a:ext cx="6954982" cy="369332"/>
          </a:xfrm>
          <a:prstGeom prst="rect">
            <a:avLst/>
          </a:prstGeom>
          <a:noFill/>
        </p:spPr>
        <p:txBody>
          <a:bodyPr wrap="square" rtlCol="0">
            <a:spAutoFit/>
          </a:bodyPr>
          <a:lstStyle/>
          <a:p>
            <a:r>
              <a:rPr lang="en-CN" dirty="0"/>
              <a:t>Hamiltonian(</a:t>
            </a:r>
            <a:r>
              <a:rPr lang="en-CN" dirty="0">
                <a:latin typeface="FangSong" panose="02010609060101010101" pitchFamily="49" charset="-122"/>
                <a:ea typeface="FangSong" panose="02010609060101010101" pitchFamily="49" charset="-122"/>
              </a:rPr>
              <a:t>考虑相邻两个自旋的相互作用</a:t>
            </a:r>
            <a:r>
              <a:rPr lang="zh-CN" altLang="en-US" dirty="0">
                <a:latin typeface="FangSong" panose="02010609060101010101" pitchFamily="49" charset="-122"/>
                <a:ea typeface="FangSong" panose="02010609060101010101" pitchFamily="49" charset="-122"/>
              </a:rPr>
              <a:t>，统一强度</a:t>
            </a:r>
            <a:r>
              <a:rPr lang="en-US" altLang="zh-CN" dirty="0">
                <a:latin typeface="FangSong" panose="02010609060101010101" pitchFamily="49" charset="-122"/>
                <a:ea typeface="FangSong" panose="02010609060101010101" pitchFamily="49" charset="-122"/>
              </a:rPr>
              <a:t>J</a:t>
            </a:r>
            <a:r>
              <a:rPr lang="zh-CN" altLang="en-US" dirty="0">
                <a:latin typeface="FangSong" panose="02010609060101010101" pitchFamily="49" charset="-122"/>
                <a:ea typeface="FangSong" panose="02010609060101010101" pitchFamily="49" charset="-122"/>
              </a:rPr>
              <a:t>，</a:t>
            </a:r>
            <a:r>
              <a:rPr lang="en-US" altLang="zh-CN" dirty="0">
                <a:latin typeface="FangSong" panose="02010609060101010101" pitchFamily="49" charset="-122"/>
                <a:ea typeface="FangSong" panose="02010609060101010101" pitchFamily="49" charset="-122"/>
              </a:rPr>
              <a:t>B</a:t>
            </a:r>
            <a:r>
              <a:rPr lang="zh-CN" altLang="en-US" dirty="0">
                <a:latin typeface="FangSong" panose="02010609060101010101" pitchFamily="49" charset="-122"/>
                <a:ea typeface="FangSong" panose="02010609060101010101" pitchFamily="49" charset="-122"/>
              </a:rPr>
              <a:t>为外场</a:t>
            </a:r>
            <a:r>
              <a:rPr lang="en-CN" dirty="0"/>
              <a:t>)</a:t>
            </a:r>
          </a:p>
        </p:txBody>
      </p:sp>
      <p:sp>
        <p:nvSpPr>
          <p:cNvPr id="4" name="TextBox 3">
            <a:extLst>
              <a:ext uri="{FF2B5EF4-FFF2-40B4-BE49-F238E27FC236}">
                <a16:creationId xmlns:a16="http://schemas.microsoft.com/office/drawing/2014/main" id="{DFD5F454-279F-E5E2-F15C-66D6C93386A6}"/>
              </a:ext>
            </a:extLst>
          </p:cNvPr>
          <p:cNvSpPr txBox="1"/>
          <p:nvPr/>
        </p:nvSpPr>
        <p:spPr>
          <a:xfrm>
            <a:off x="526473" y="2396835"/>
            <a:ext cx="3491345" cy="369332"/>
          </a:xfrm>
          <a:prstGeom prst="rect">
            <a:avLst/>
          </a:prstGeom>
          <a:noFill/>
        </p:spPr>
        <p:txBody>
          <a:bodyPr wrap="square" rtlCol="0">
            <a:spAutoFit/>
          </a:bodyPr>
          <a:lstStyle/>
          <a:p>
            <a:r>
              <a:rPr lang="en-CN" dirty="0"/>
              <a:t>Partition Function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6676EC-2EA1-CBFD-CC90-A8A52087FBE7}"/>
                  </a:ext>
                </a:extLst>
              </p:cNvPr>
              <p:cNvSpPr txBox="1"/>
              <p:nvPr/>
            </p:nvSpPr>
            <p:spPr>
              <a:xfrm>
                <a:off x="526473" y="2766167"/>
                <a:ext cx="11665527" cy="1211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𝑁</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r>
                                            <a:rPr lang="en-US" i="1">
                                              <a:latin typeface="Cambria Math" panose="02040503050406030204" pitchFamily="18" charset="0"/>
                                            </a:rPr>
                                            <m:t>+1</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nary>
                                </m:sup>
                              </m:sSup>
                            </m:e>
                          </m:nary>
                        </m:e>
                      </m:nary>
                    </m:oMath>
                  </m:oMathPara>
                </a14:m>
                <a:endParaRPr lang="en-US" b="0" dirty="0"/>
              </a:p>
              <a:p>
                <a14:m>
                  <m:oMath xmlns:m="http://schemas.openxmlformats.org/officeDocument/2006/math">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r>
                          <m:rPr>
                            <m:brk m:alnAt="7"/>
                          </m:rP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𝑁</m:t>
                                </m:r>
                              </m:sub>
                            </m:sSub>
                            <m:r>
                              <m:rPr>
                                <m:brk m:alnAt="7"/>
                              </m:rP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sSup>
                              <m:sSupPr>
                                <m:ctrlPr>
                                  <a:rPr lang="en-US" i="1" smtClean="0">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1</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e>
                        </m:nary>
                      </m:e>
                    </m:nary>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sub>
                        </m:sSub>
                        <m:r>
                          <a:rPr lang="en-US" i="1">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up>
                    </m:sSup>
                  </m:oMath>
                </a14:m>
                <a:endParaRPr lang="en-CN" dirty="0"/>
              </a:p>
            </p:txBody>
          </p:sp>
        </mc:Choice>
        <mc:Fallback xmlns="">
          <p:sp>
            <p:nvSpPr>
              <p:cNvPr id="5" name="TextBox 4">
                <a:extLst>
                  <a:ext uri="{FF2B5EF4-FFF2-40B4-BE49-F238E27FC236}">
                    <a16:creationId xmlns:a16="http://schemas.microsoft.com/office/drawing/2014/main" id="{466676EC-2EA1-CBFD-CC90-A8A52087FBE7}"/>
                  </a:ext>
                </a:extLst>
              </p:cNvPr>
              <p:cNvSpPr txBox="1">
                <a:spLocks noRot="1" noChangeAspect="1" noMove="1" noResize="1" noEditPoints="1" noAdjustHandles="1" noChangeArrowheads="1" noChangeShapeType="1" noTextEdit="1"/>
              </p:cNvSpPr>
              <p:nvPr/>
            </p:nvSpPr>
            <p:spPr>
              <a:xfrm>
                <a:off x="526473" y="2766167"/>
                <a:ext cx="11665527" cy="1211998"/>
              </a:xfrm>
              <a:prstGeom prst="rect">
                <a:avLst/>
              </a:prstGeom>
              <a:blipFill>
                <a:blip r:embed="rId3"/>
                <a:stretch>
                  <a:fillRect l="-652" t="-76289" b="-701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9BC44E2-9CB7-BF8C-21B5-C49E3ACF7A36}"/>
                  </a:ext>
                </a:extLst>
              </p:cNvPr>
              <p:cNvSpPr txBox="1"/>
              <p:nvPr/>
            </p:nvSpPr>
            <p:spPr>
              <a:xfrm>
                <a:off x="2272146" y="4402915"/>
                <a:ext cx="23137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𝑁</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altLang="zh-CN" b="0" i="1" smtClean="0">
                              <a:latin typeface="Cambria Math" panose="02040503050406030204" pitchFamily="18" charset="0"/>
                            </a:rPr>
                            <m:t>1</m:t>
                          </m:r>
                        </m:sub>
                      </m:sSub>
                    </m:oMath>
                  </m:oMathPara>
                </a14:m>
                <a:endParaRPr lang="en-CN" dirty="0"/>
              </a:p>
            </p:txBody>
          </p:sp>
        </mc:Choice>
        <mc:Fallback xmlns="">
          <p:sp>
            <p:nvSpPr>
              <p:cNvPr id="6" name="TextBox 5">
                <a:extLst>
                  <a:ext uri="{FF2B5EF4-FFF2-40B4-BE49-F238E27FC236}">
                    <a16:creationId xmlns:a16="http://schemas.microsoft.com/office/drawing/2014/main" id="{09BC44E2-9CB7-BF8C-21B5-C49E3ACF7A36}"/>
                  </a:ext>
                </a:extLst>
              </p:cNvPr>
              <p:cNvSpPr txBox="1">
                <a:spLocks noRot="1" noChangeAspect="1" noMove="1" noResize="1" noEditPoints="1" noAdjustHandles="1" noChangeArrowheads="1" noChangeShapeType="1" noTextEdit="1"/>
              </p:cNvSpPr>
              <p:nvPr/>
            </p:nvSpPr>
            <p:spPr>
              <a:xfrm>
                <a:off x="2272146" y="4402915"/>
                <a:ext cx="2313710" cy="369332"/>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455CB0-1154-4C5D-573E-3AE805960C11}"/>
                  </a:ext>
                </a:extLst>
              </p:cNvPr>
              <p:cNvSpPr txBox="1"/>
              <p:nvPr/>
            </p:nvSpPr>
            <p:spPr>
              <a:xfrm>
                <a:off x="6359235" y="4292075"/>
                <a:ext cx="4696692" cy="4932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up>
                      </m:sSup>
                    </m:oMath>
                  </m:oMathPara>
                </a14:m>
                <a:endParaRPr lang="en-CN" dirty="0"/>
              </a:p>
            </p:txBody>
          </p:sp>
        </mc:Choice>
        <mc:Fallback xmlns="">
          <p:sp>
            <p:nvSpPr>
              <p:cNvPr id="7" name="TextBox 6">
                <a:extLst>
                  <a:ext uri="{FF2B5EF4-FFF2-40B4-BE49-F238E27FC236}">
                    <a16:creationId xmlns:a16="http://schemas.microsoft.com/office/drawing/2014/main" id="{BF455CB0-1154-4C5D-573E-3AE805960C11}"/>
                  </a:ext>
                </a:extLst>
              </p:cNvPr>
              <p:cNvSpPr txBox="1">
                <a:spLocks noRot="1" noChangeAspect="1" noMove="1" noResize="1" noEditPoints="1" noAdjustHandles="1" noChangeArrowheads="1" noChangeShapeType="1" noTextEdit="1"/>
              </p:cNvSpPr>
              <p:nvPr/>
            </p:nvSpPr>
            <p:spPr>
              <a:xfrm>
                <a:off x="6359235" y="4292075"/>
                <a:ext cx="4696692" cy="493277"/>
              </a:xfrm>
              <a:prstGeom prst="rect">
                <a:avLst/>
              </a:prstGeom>
              <a:blipFill>
                <a:blip r:embed="rId5"/>
                <a:stretch>
                  <a:fillRect b="-12500"/>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A5B33CAF-D894-1AC9-C79B-0AA303FE2A74}"/>
              </a:ext>
            </a:extLst>
          </p:cNvPr>
          <p:cNvSpPr/>
          <p:nvPr/>
        </p:nvSpPr>
        <p:spPr>
          <a:xfrm>
            <a:off x="5278582" y="3978165"/>
            <a:ext cx="415636" cy="13419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D5607A-A283-60C3-EF3B-B9F7920DB0EA}"/>
                  </a:ext>
                </a:extLst>
              </p:cNvPr>
              <p:cNvSpPr txBox="1"/>
              <p:nvPr/>
            </p:nvSpPr>
            <p:spPr>
              <a:xfrm>
                <a:off x="2119745" y="5744895"/>
                <a:ext cx="7716981" cy="399597"/>
              </a:xfrm>
              <a:prstGeom prst="rect">
                <a:avLst/>
              </a:prstGeom>
              <a:noFill/>
            </p:spPr>
            <p:txBody>
              <a:bodyPr wrap="square" rtlCol="0">
                <a:spAutoFit/>
              </a:bodyPr>
              <a:lstStyle/>
              <a:p>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r>
                          <m:rPr>
                            <m:brk m:alnAt="7"/>
                          </m:rP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𝑁</m:t>
                                </m:r>
                              </m:sub>
                            </m:sSub>
                            <m:r>
                              <m:rPr>
                                <m:brk m:alnAt="7"/>
                              </m:rP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1</m:t>
                                    </m:r>
                                  </m:sub>
                                </m:sSub>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𝑃</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2</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2</m:t>
                                    </m:r>
                                  </m:sub>
                                </m:sSub>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𝑃</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3</m:t>
                                    </m:r>
                                  </m:sub>
                                </m:sSub>
                              </m:e>
                            </m:d>
                          </m:e>
                        </m:nary>
                      </m:e>
                    </m:nary>
                  </m:oMath>
                </a14:m>
                <a:r>
                  <a:rPr lang="en-U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𝑁</m:t>
                            </m:r>
                            <m:r>
                              <a:rPr lang="en-US" b="0" i="1" smtClean="0">
                                <a:latin typeface="Cambria Math" panose="02040503050406030204" pitchFamily="18" charset="0"/>
                              </a:rPr>
                              <m:t>−1</m:t>
                            </m:r>
                          </m:sub>
                        </m:sSub>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𝑃</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𝑁</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𝑁</m:t>
                            </m:r>
                          </m:sub>
                        </m:sSub>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𝑃</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1</m:t>
                            </m:r>
                          </m:sub>
                        </m:sSub>
                      </m:e>
                    </m:d>
                  </m:oMath>
                </a14:m>
                <a:endParaRPr lang="en-CN" dirty="0"/>
              </a:p>
            </p:txBody>
          </p:sp>
        </mc:Choice>
        <mc:Fallback xmlns="">
          <p:sp>
            <p:nvSpPr>
              <p:cNvPr id="9" name="TextBox 8">
                <a:extLst>
                  <a:ext uri="{FF2B5EF4-FFF2-40B4-BE49-F238E27FC236}">
                    <a16:creationId xmlns:a16="http://schemas.microsoft.com/office/drawing/2014/main" id="{F5D5607A-A283-60C3-EF3B-B9F7920DB0EA}"/>
                  </a:ext>
                </a:extLst>
              </p:cNvPr>
              <p:cNvSpPr txBox="1">
                <a:spLocks noRot="1" noChangeAspect="1" noMove="1" noResize="1" noEditPoints="1" noAdjustHandles="1" noChangeArrowheads="1" noChangeShapeType="1" noTextEdit="1"/>
              </p:cNvSpPr>
              <p:nvPr/>
            </p:nvSpPr>
            <p:spPr>
              <a:xfrm>
                <a:off x="2119745" y="5744895"/>
                <a:ext cx="7716981" cy="399597"/>
              </a:xfrm>
              <a:prstGeom prst="rect">
                <a:avLst/>
              </a:prstGeom>
              <a:blipFill>
                <a:blip r:embed="rId6"/>
                <a:stretch>
                  <a:fillRect t="-103125" b="-150000"/>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3016B8EB-9314-B006-150A-E26825FCD0B0}"/>
              </a:ext>
            </a:extLst>
          </p:cNvPr>
          <p:cNvSpPr txBox="1"/>
          <p:nvPr/>
        </p:nvSpPr>
        <p:spPr>
          <a:xfrm>
            <a:off x="4599709" y="81171"/>
            <a:ext cx="3491346"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一维计算</a:t>
            </a:r>
            <a:r>
              <a:rPr lang="zh-CN" altLang="en-US" dirty="0">
                <a:latin typeface="FangSong" panose="02010609060101010101" pitchFamily="49" charset="-122"/>
                <a:ea typeface="FangSong" panose="02010609060101010101" pitchFamily="49" charset="-122"/>
              </a:rPr>
              <a:t>（对称性边界条件）</a:t>
            </a:r>
            <a:endParaRPr lang="en-CN" dirty="0">
              <a:latin typeface="FangSong" panose="02010609060101010101" pitchFamily="49" charset="-122"/>
              <a:ea typeface="FangSong" panose="02010609060101010101" pitchFamily="49" charset="-122"/>
            </a:endParaRPr>
          </a:p>
        </p:txBody>
      </p:sp>
      <p:pic>
        <p:nvPicPr>
          <p:cNvPr id="11" name="Picture 10">
            <a:extLst>
              <a:ext uri="{FF2B5EF4-FFF2-40B4-BE49-F238E27FC236}">
                <a16:creationId xmlns:a16="http://schemas.microsoft.com/office/drawing/2014/main" id="{7D2A5E0E-C185-C423-F66E-27464DA10A9A}"/>
              </a:ext>
            </a:extLst>
          </p:cNvPr>
          <p:cNvPicPr>
            <a:picLocks noChangeAspect="1"/>
          </p:cNvPicPr>
          <p:nvPr/>
        </p:nvPicPr>
        <p:blipFill>
          <a:blip r:embed="rId7"/>
          <a:stretch>
            <a:fillRect/>
          </a:stretch>
        </p:blipFill>
        <p:spPr>
          <a:xfrm>
            <a:off x="9594774" y="36246"/>
            <a:ext cx="2597226" cy="160828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40C5D53-DF2D-D5AA-ED4C-AD8338391ADE}"/>
                  </a:ext>
                </a:extLst>
              </p:cNvPr>
              <p:cNvSpPr txBox="1"/>
              <p:nvPr/>
            </p:nvSpPr>
            <p:spPr>
              <a:xfrm>
                <a:off x="9757314" y="1550168"/>
                <a:ext cx="2597226" cy="11482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𝑁</m:t>
                          </m:r>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1</m:t>
                          </m:r>
                        </m:sub>
                      </m:sSub>
                    </m:oMath>
                  </m:oMathPara>
                </a14:m>
                <a:endParaRPr lang="en-CN" dirty="0">
                  <a:solidFill>
                    <a:srgbClr val="7030A0"/>
                  </a:solidFill>
                </a:endParaRPr>
              </a:p>
              <a:p>
                <a:pPr/>
                <a14:m>
                  <m:oMathPara xmlns:m="http://schemas.openxmlformats.org/officeDocument/2006/math">
                    <m:oMathParaPr>
                      <m:jc m:val="centerGroup"/>
                    </m:oMathParaPr>
                    <m:oMath xmlns:m="http://schemas.openxmlformats.org/officeDocument/2006/math">
                      <m:nary>
                        <m:naryPr>
                          <m:chr m:val="∑"/>
                          <m:ctrlPr>
                            <a:rPr lang="en-CN" i="1" smtClean="0">
                              <a:solidFill>
                                <a:srgbClr val="7030A0"/>
                              </a:solidFill>
                              <a:latin typeface="Cambria Math" panose="02040503050406030204" pitchFamily="18" charset="0"/>
                            </a:rPr>
                          </m:ctrlPr>
                        </m:naryPr>
                        <m:sub>
                          <m:r>
                            <m:rPr>
                              <m:brk m:alnAt="23"/>
                            </m:rP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up>
                          <m:r>
                            <a:rPr lang="en-US" b="0" i="1" smtClean="0">
                              <a:solidFill>
                                <a:srgbClr val="7030A0"/>
                              </a:solidFill>
                              <a:latin typeface="Cambria Math" panose="02040503050406030204" pitchFamily="18" charset="0"/>
                            </a:rPr>
                            <m:t>𝑁</m:t>
                          </m:r>
                        </m:sup>
                        <m:e>
                          <m:sSub>
                            <m:sSubPr>
                              <m:ctrlPr>
                                <a:rPr lang="en-CN"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𝑖</m:t>
                              </m:r>
                            </m:sub>
                          </m:sSub>
                        </m:e>
                      </m:nary>
                      <m:r>
                        <a:rPr lang="en-US" b="0" i="1" smtClean="0">
                          <a:solidFill>
                            <a:srgbClr val="7030A0"/>
                          </a:solidFill>
                          <a:latin typeface="Cambria Math" panose="02040503050406030204" pitchFamily="18" charset="0"/>
                        </a:rPr>
                        <m:t>=</m:t>
                      </m:r>
                      <m:nary>
                        <m:naryPr>
                          <m:chr m:val="∑"/>
                          <m:ctrlPr>
                            <a:rPr lang="en-US" b="0" i="1" smtClean="0">
                              <a:solidFill>
                                <a:srgbClr val="7030A0"/>
                              </a:solidFill>
                              <a:latin typeface="Cambria Math" panose="02040503050406030204" pitchFamily="18" charset="0"/>
                            </a:rPr>
                          </m:ctrlPr>
                        </m:naryPr>
                        <m:sub>
                          <m:r>
                            <m:rPr>
                              <m:brk m:alnAt="23"/>
                            </m:rP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up>
                          <m:r>
                            <a:rPr lang="en-US" b="0" i="1" smtClean="0">
                              <a:solidFill>
                                <a:srgbClr val="7030A0"/>
                              </a:solidFill>
                              <a:latin typeface="Cambria Math" panose="02040503050406030204" pitchFamily="18" charset="0"/>
                            </a:rPr>
                            <m:t>𝑁</m:t>
                          </m:r>
                        </m:sup>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Sub>
                        </m:e>
                      </m:nary>
                    </m:oMath>
                  </m:oMathPara>
                </a14:m>
                <a:endParaRPr lang="en-CN" dirty="0"/>
              </a:p>
            </p:txBody>
          </p:sp>
        </mc:Choice>
        <mc:Fallback xmlns="">
          <p:sp>
            <p:nvSpPr>
              <p:cNvPr id="12" name="TextBox 11">
                <a:extLst>
                  <a:ext uri="{FF2B5EF4-FFF2-40B4-BE49-F238E27FC236}">
                    <a16:creationId xmlns:a16="http://schemas.microsoft.com/office/drawing/2014/main" id="{F40C5D53-DF2D-D5AA-ED4C-AD8338391ADE}"/>
                  </a:ext>
                </a:extLst>
              </p:cNvPr>
              <p:cNvSpPr txBox="1">
                <a:spLocks noRot="1" noChangeAspect="1" noMove="1" noResize="1" noEditPoints="1" noAdjustHandles="1" noChangeArrowheads="1" noChangeShapeType="1" noTextEdit="1"/>
              </p:cNvSpPr>
              <p:nvPr/>
            </p:nvSpPr>
            <p:spPr>
              <a:xfrm>
                <a:off x="9757314" y="1550168"/>
                <a:ext cx="2597226" cy="1148263"/>
              </a:xfrm>
              <a:prstGeom prst="rect">
                <a:avLst/>
              </a:prstGeom>
              <a:blipFill>
                <a:blip r:embed="rId8"/>
                <a:stretch>
                  <a:fillRect l="-13659" t="-47826" b="-111957"/>
                </a:stretch>
              </a:blipFill>
            </p:spPr>
            <p:txBody>
              <a:bodyPr/>
              <a:lstStyle/>
              <a:p>
                <a:r>
                  <a:rPr lang="en-CN">
                    <a:noFill/>
                  </a:rPr>
                  <a:t> </a:t>
                </a:r>
              </a:p>
            </p:txBody>
          </p:sp>
        </mc:Fallback>
      </mc:AlternateContent>
      <p:sp>
        <p:nvSpPr>
          <p:cNvPr id="13" name="Left Arrow 12">
            <a:extLst>
              <a:ext uri="{FF2B5EF4-FFF2-40B4-BE49-F238E27FC236}">
                <a16:creationId xmlns:a16="http://schemas.microsoft.com/office/drawing/2014/main" id="{C65E14AE-F7F4-932F-FB28-F96AC113ED00}"/>
              </a:ext>
            </a:extLst>
          </p:cNvPr>
          <p:cNvSpPr/>
          <p:nvPr/>
        </p:nvSpPr>
        <p:spPr>
          <a:xfrm rot="811858">
            <a:off x="8340436" y="1967345"/>
            <a:ext cx="1254338" cy="19379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637741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2AA7BB2-A123-BA12-DD7F-9AAAA91C1F53}"/>
                  </a:ext>
                </a:extLst>
              </p:cNvPr>
              <p:cNvSpPr txBox="1"/>
              <p:nvPr/>
            </p:nvSpPr>
            <p:spPr>
              <a:xfrm>
                <a:off x="3186544" y="412803"/>
                <a:ext cx="4696692" cy="5118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up>
                      </m:sSup>
                    </m:oMath>
                  </m:oMathPara>
                </a14:m>
                <a:endParaRPr lang="en-CN" dirty="0"/>
              </a:p>
            </p:txBody>
          </p:sp>
        </mc:Choice>
        <mc:Fallback xmlns="">
          <p:sp>
            <p:nvSpPr>
              <p:cNvPr id="2" name="TextBox 1">
                <a:extLst>
                  <a:ext uri="{FF2B5EF4-FFF2-40B4-BE49-F238E27FC236}">
                    <a16:creationId xmlns:a16="http://schemas.microsoft.com/office/drawing/2014/main" id="{B2AA7BB2-A123-BA12-DD7F-9AAAA91C1F53}"/>
                  </a:ext>
                </a:extLst>
              </p:cNvPr>
              <p:cNvSpPr txBox="1">
                <a:spLocks noRot="1" noChangeAspect="1" noMove="1" noResize="1" noEditPoints="1" noAdjustHandles="1" noChangeArrowheads="1" noChangeShapeType="1" noTextEdit="1"/>
              </p:cNvSpPr>
              <p:nvPr/>
            </p:nvSpPr>
            <p:spPr>
              <a:xfrm>
                <a:off x="3186544" y="412803"/>
                <a:ext cx="4696692" cy="511807"/>
              </a:xfrm>
              <a:prstGeom prst="rect">
                <a:avLst/>
              </a:prstGeom>
              <a:blipFill>
                <a:blip r:embed="rId2"/>
                <a:stretch>
                  <a:fillRect b="-975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3E5E3ED-25A1-058B-6390-DDD7F0629CB3}"/>
                  </a:ext>
                </a:extLst>
              </p:cNvPr>
              <p:cNvSpPr txBox="1"/>
              <p:nvPr/>
            </p:nvSpPr>
            <p:spPr>
              <a:xfrm>
                <a:off x="5136572" y="1070849"/>
                <a:ext cx="4419600" cy="623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up>
                                </m:sSup>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e>
                            </m:m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up>
                                </m:sSup>
                              </m:e>
                            </m:mr>
                          </m:m>
                        </m:e>
                      </m:d>
                    </m:oMath>
                  </m:oMathPara>
                </a14:m>
                <a:endParaRPr lang="en-CN" dirty="0"/>
              </a:p>
            </p:txBody>
          </p:sp>
        </mc:Choice>
        <mc:Fallback xmlns="">
          <p:sp>
            <p:nvSpPr>
              <p:cNvPr id="3" name="TextBox 2">
                <a:extLst>
                  <a:ext uri="{FF2B5EF4-FFF2-40B4-BE49-F238E27FC236}">
                    <a16:creationId xmlns:a16="http://schemas.microsoft.com/office/drawing/2014/main" id="{43E5E3ED-25A1-058B-6390-DDD7F0629CB3}"/>
                  </a:ext>
                </a:extLst>
              </p:cNvPr>
              <p:cNvSpPr txBox="1">
                <a:spLocks noRot="1" noChangeAspect="1" noMove="1" noResize="1" noEditPoints="1" noAdjustHandles="1" noChangeArrowheads="1" noChangeShapeType="1" noTextEdit="1"/>
              </p:cNvSpPr>
              <p:nvPr/>
            </p:nvSpPr>
            <p:spPr>
              <a:xfrm>
                <a:off x="5136572" y="1070849"/>
                <a:ext cx="4419600" cy="623761"/>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BC311AE-C4CF-FD88-84A7-6A5D25EF94F6}"/>
                  </a:ext>
                </a:extLst>
              </p:cNvPr>
              <p:cNvSpPr txBox="1"/>
              <p:nvPr/>
            </p:nvSpPr>
            <p:spPr>
              <a:xfrm>
                <a:off x="3962400" y="2536700"/>
                <a:ext cx="6096000" cy="37317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r>
                        <a:rPr lang="en-US" b="0" i="1" smtClean="0">
                          <a:latin typeface="Cambria Math" panose="02040503050406030204" pitchFamily="18" charset="0"/>
                        </a:rPr>
                        <m:t>𝑇𝑟𝑎𝑐𝑒</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1</m:t>
                          </m:r>
                        </m:sub>
                        <m:sup>
                          <m:r>
                            <a:rPr lang="en-US" b="0" i="1" smtClean="0">
                              <a:latin typeface="Cambria Math" panose="02040503050406030204" pitchFamily="18" charset="0"/>
                            </a:rPr>
                            <m:t>𝑁</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2</m:t>
                          </m:r>
                        </m:sub>
                        <m:sup>
                          <m:r>
                            <a:rPr lang="en-US" b="0" i="1" smtClean="0">
                              <a:latin typeface="Cambria Math" panose="02040503050406030204" pitchFamily="18" charset="0"/>
                            </a:rPr>
                            <m:t>𝑁</m:t>
                          </m:r>
                        </m:sup>
                      </m:sSubSup>
                    </m:oMath>
                  </m:oMathPara>
                </a14:m>
                <a:endParaRPr lang="en-CN" dirty="0"/>
              </a:p>
            </p:txBody>
          </p:sp>
        </mc:Choice>
        <mc:Fallback xmlns="">
          <p:sp>
            <p:nvSpPr>
              <p:cNvPr id="5" name="TextBox 4">
                <a:extLst>
                  <a:ext uri="{FF2B5EF4-FFF2-40B4-BE49-F238E27FC236}">
                    <a16:creationId xmlns:a16="http://schemas.microsoft.com/office/drawing/2014/main" id="{7BC311AE-C4CF-FD88-84A7-6A5D25EF94F6}"/>
                  </a:ext>
                </a:extLst>
              </p:cNvPr>
              <p:cNvSpPr txBox="1">
                <a:spLocks noRot="1" noChangeAspect="1" noMove="1" noResize="1" noEditPoints="1" noAdjustHandles="1" noChangeArrowheads="1" noChangeShapeType="1" noTextEdit="1"/>
              </p:cNvSpPr>
              <p:nvPr/>
            </p:nvSpPr>
            <p:spPr>
              <a:xfrm>
                <a:off x="3962400" y="2536700"/>
                <a:ext cx="6096000" cy="373179"/>
              </a:xfrm>
              <a:prstGeom prst="rect">
                <a:avLst/>
              </a:prstGeom>
              <a:blipFill>
                <a:blip r:embed="rId4"/>
                <a:stretch>
                  <a:fillRect b="-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D30193A-14D2-C1FA-4E45-0D3CBD978582}"/>
                  </a:ext>
                </a:extLst>
              </p:cNvPr>
              <p:cNvSpPr txBox="1"/>
              <p:nvPr/>
            </p:nvSpPr>
            <p:spPr>
              <a:xfrm>
                <a:off x="152400" y="3565005"/>
                <a:ext cx="4419600" cy="714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up>
                                </m:sSup>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e>
                            </m:m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e>
                            </m:mr>
                          </m:m>
                        </m:e>
                      </m:d>
                      <m:r>
                        <a:rPr lang="en-US" b="0" i="1" smtClean="0">
                          <a:latin typeface="Cambria Math" panose="02040503050406030204" pitchFamily="18" charset="0"/>
                        </a:rPr>
                        <m:t>=0</m:t>
                      </m:r>
                    </m:oMath>
                  </m:oMathPara>
                </a14:m>
                <a:endParaRPr lang="en-CN" dirty="0"/>
              </a:p>
            </p:txBody>
          </p:sp>
        </mc:Choice>
        <mc:Fallback xmlns="">
          <p:sp>
            <p:nvSpPr>
              <p:cNvPr id="6" name="TextBox 5">
                <a:extLst>
                  <a:ext uri="{FF2B5EF4-FFF2-40B4-BE49-F238E27FC236}">
                    <a16:creationId xmlns:a16="http://schemas.microsoft.com/office/drawing/2014/main" id="{4D30193A-14D2-C1FA-4E45-0D3CBD978582}"/>
                  </a:ext>
                </a:extLst>
              </p:cNvPr>
              <p:cNvSpPr txBox="1">
                <a:spLocks noRot="1" noChangeAspect="1" noMove="1" noResize="1" noEditPoints="1" noAdjustHandles="1" noChangeArrowheads="1" noChangeShapeType="1" noTextEdit="1"/>
              </p:cNvSpPr>
              <p:nvPr/>
            </p:nvSpPr>
            <p:spPr>
              <a:xfrm>
                <a:off x="152400" y="3565005"/>
                <a:ext cx="4419600" cy="714683"/>
              </a:xfrm>
              <a:prstGeom prst="rect">
                <a:avLst/>
              </a:prstGeom>
              <a:blipFill>
                <a:blip r:embed="rId5"/>
                <a:stretch>
                  <a:fillRect b="-5263"/>
                </a:stretch>
              </a:blipFill>
            </p:spPr>
            <p:txBody>
              <a:bodyPr/>
              <a:lstStyle/>
              <a:p>
                <a:r>
                  <a:rPr lang="en-CN">
                    <a:noFill/>
                  </a:rPr>
                  <a:t> </a:t>
                </a:r>
              </a:p>
            </p:txBody>
          </p:sp>
        </mc:Fallback>
      </mc:AlternateContent>
      <p:sp>
        <p:nvSpPr>
          <p:cNvPr id="7" name="Right Arrow 6">
            <a:extLst>
              <a:ext uri="{FF2B5EF4-FFF2-40B4-BE49-F238E27FC236}">
                <a16:creationId xmlns:a16="http://schemas.microsoft.com/office/drawing/2014/main" id="{330A2A62-E69A-A641-F010-E0EF98CED151}"/>
              </a:ext>
            </a:extLst>
          </p:cNvPr>
          <p:cNvSpPr/>
          <p:nvPr/>
        </p:nvSpPr>
        <p:spPr>
          <a:xfrm>
            <a:off x="4572000" y="3826119"/>
            <a:ext cx="1129145" cy="192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600A1F-7BFD-A9A7-413A-03CC3EB6CCBE}"/>
                  </a:ext>
                </a:extLst>
              </p:cNvPr>
              <p:cNvSpPr txBox="1"/>
              <p:nvPr/>
            </p:nvSpPr>
            <p:spPr>
              <a:xfrm>
                <a:off x="5985163" y="3292590"/>
                <a:ext cx="5680364" cy="12595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CN" i="1" smtClean="0">
                              <a:latin typeface="Cambria Math" panose="02040503050406030204" pitchFamily="18" charset="0"/>
                            </a:rPr>
                          </m:ctrlPr>
                        </m:dPr>
                        <m:e>
                          <m:m>
                            <m:mPr>
                              <m:mcs>
                                <m:mc>
                                  <m:mcPr>
                                    <m:count m:val="1"/>
                                    <m:mcJc m:val="center"/>
                                  </m:mcPr>
                                </m:mc>
                              </m:mcs>
                              <m:ctrlPr>
                                <a:rPr lang="en-CN" i="1" smtClean="0">
                                  <a:latin typeface="Cambria Math" panose="02040503050406030204" pitchFamily="18" charset="0"/>
                                </a:rPr>
                              </m:ctrlPr>
                            </m:mPr>
                            <m:mr>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1</m:t>
                                    </m:r>
                                  </m:sub>
                                </m:sSub>
                              </m:e>
                            </m:mr>
                            <m:mr>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2</m:t>
                                    </m:r>
                                  </m:sub>
                                </m:sSub>
                              </m:e>
                            </m:mr>
                          </m:m>
                        </m:e>
                      </m:d>
                      <m:r>
                        <a:rPr lang="en-US" b="0" i="1" smtClean="0">
                          <a:latin typeface="Cambria Math" panose="02040503050406030204" pitchFamily="18" charset="0"/>
                        </a:rPr>
                        <m:t>=</m:t>
                      </m:r>
                      <m:d>
                        <m:dPr>
                          <m:ctrlPr>
                            <a:rPr lang="en-CN" i="1">
                              <a:latin typeface="Cambria Math" panose="02040503050406030204" pitchFamily="18" charset="0"/>
                            </a:rPr>
                          </m:ctrlPr>
                        </m:dPr>
                        <m:e>
                          <m:m>
                            <m:mPr>
                              <m:mcs>
                                <m:mc>
                                  <m:mcPr>
                                    <m:count m:val="1"/>
                                    <m:mcJc m:val="center"/>
                                  </m:mcPr>
                                </m:mc>
                              </m:mcs>
                              <m:ctrlPr>
                                <a:rPr lang="en-CN" i="1">
                                  <a:latin typeface="Cambria Math" panose="02040503050406030204" pitchFamily="18" charset="0"/>
                                </a:rPr>
                              </m:ctrlPr>
                            </m:mPr>
                            <m:mr>
                              <m:e>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osh</m:t>
                                    </m:r>
                                  </m:fName>
                                  <m:e>
                                    <m:d>
                                      <m:dPr>
                                        <m:ctrlPr>
                                          <a:rPr lang="en-US" b="0" i="1" smtClean="0">
                                            <a:latin typeface="Cambria Math" panose="02040503050406030204" pitchFamily="18" charset="0"/>
                                          </a:rPr>
                                        </m:ctrlPr>
                                      </m:dPr>
                                      <m:e>
                                        <m:r>
                                          <m:rPr>
                                            <m:brk m:alnAt="7"/>
                                          </m:rP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𝐵</m:t>
                                        </m:r>
                                      </m:e>
                                    </m:d>
                                  </m:e>
                                </m:func>
                                <m:r>
                                  <m:rPr>
                                    <m:brk m:alnAt="7"/>
                                  </m:rP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𝑠𝑖𝑛h</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𝛽𝜇</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rPr>
                                      <m:t>)</m:t>
                                    </m:r>
                                  </m:e>
                                </m:rad>
                              </m:e>
                            </m:mr>
                            <m:mr>
                              <m:e>
                                <m:sSup>
                                  <m:sSupPr>
                                    <m:ctrlPr>
                                      <a:rPr lang="en-CN" i="1">
                                        <a:latin typeface="Cambria Math" panose="02040503050406030204" pitchFamily="18" charset="0"/>
                                      </a:rPr>
                                    </m:ctrlPr>
                                  </m:sSupPr>
                                  <m:e>
                                    <m:r>
                                      <a:rPr lang="en-US" i="1">
                                        <a:latin typeface="Cambria Math" panose="02040503050406030204" pitchFamily="18" charset="0"/>
                                      </a:rPr>
                                      <m:t>𝑒</m:t>
                                    </m:r>
                                  </m:e>
                                  <m:sup>
                                    <m:r>
                                      <a:rPr lang="en-CN"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𝐽</m:t>
                                    </m:r>
                                  </m:sup>
                                </m:sSup>
                                <m:func>
                                  <m:funcPr>
                                    <m:ctrlPr>
                                      <a:rPr lang="en-US" i="1">
                                        <a:latin typeface="Cambria Math" panose="02040503050406030204" pitchFamily="18" charset="0"/>
                                      </a:rPr>
                                    </m:ctrlPr>
                                  </m:funcPr>
                                  <m:fName>
                                    <m:r>
                                      <m:rPr>
                                        <m:sty m:val="p"/>
                                        <m:brk m:alnAt="7"/>
                                      </m:rPr>
                                      <a:rPr lang="en-US">
                                        <a:latin typeface="Cambria Math" panose="02040503050406030204" pitchFamily="18" charset="0"/>
                                      </a:rPr>
                                      <m:t>c</m:t>
                                    </m:r>
                                    <m:r>
                                      <m:rPr>
                                        <m:sty m:val="p"/>
                                      </m:rPr>
                                      <a:rPr lang="en-US">
                                        <a:latin typeface="Cambria Math" panose="02040503050406030204" pitchFamily="18" charset="0"/>
                                      </a:rPr>
                                      <m:t>osh</m:t>
                                    </m:r>
                                  </m:fName>
                                  <m:e>
                                    <m:d>
                                      <m:dPr>
                                        <m:ctrlPr>
                                          <a:rPr lang="en-US" i="1">
                                            <a:latin typeface="Cambria Math" panose="02040503050406030204" pitchFamily="18" charset="0"/>
                                          </a:rPr>
                                        </m:ctrlPr>
                                      </m:dPr>
                                      <m:e>
                                        <m:r>
                                          <m:rPr>
                                            <m:brk m:alnAt="7"/>
                                          </m:rP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e>
                                    </m:d>
                                  </m:e>
                                </m:func>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𝐽</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𝐽</m:t>
                                        </m:r>
                                      </m:sup>
                                    </m:sSup>
                                    <m:sSup>
                                      <m:sSupPr>
                                        <m:ctrlPr>
                                          <a:rPr lang="en-US" i="1">
                                            <a:latin typeface="Cambria Math" panose="02040503050406030204" pitchFamily="18" charset="0"/>
                                          </a:rPr>
                                        </m:ctrlPr>
                                      </m:sSupPr>
                                      <m:e>
                                        <m:r>
                                          <a:rPr lang="en-US" i="1">
                                            <a:latin typeface="Cambria Math" panose="02040503050406030204" pitchFamily="18" charset="0"/>
                                          </a:rPr>
                                          <m:t>𝑠𝑖𝑛h</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𝛽𝜇</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rPr>
                                      <m:t>)</m:t>
                                    </m:r>
                                  </m:e>
                                </m:rad>
                              </m:e>
                            </m:mr>
                          </m:m>
                        </m:e>
                      </m:d>
                    </m:oMath>
                  </m:oMathPara>
                </a14:m>
                <a:endParaRPr lang="en-CN" dirty="0"/>
              </a:p>
            </p:txBody>
          </p:sp>
        </mc:Choice>
        <mc:Fallback xmlns="">
          <p:sp>
            <p:nvSpPr>
              <p:cNvPr id="8" name="TextBox 7">
                <a:extLst>
                  <a:ext uri="{FF2B5EF4-FFF2-40B4-BE49-F238E27FC236}">
                    <a16:creationId xmlns:a16="http://schemas.microsoft.com/office/drawing/2014/main" id="{F0600A1F-7BFD-A9A7-413A-03CC3EB6CCBE}"/>
                  </a:ext>
                </a:extLst>
              </p:cNvPr>
              <p:cNvSpPr txBox="1">
                <a:spLocks noRot="1" noChangeAspect="1" noMove="1" noResize="1" noEditPoints="1" noAdjustHandles="1" noChangeArrowheads="1" noChangeShapeType="1" noTextEdit="1"/>
              </p:cNvSpPr>
              <p:nvPr/>
            </p:nvSpPr>
            <p:spPr>
              <a:xfrm>
                <a:off x="5985163" y="3292590"/>
                <a:ext cx="5680364" cy="1259512"/>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D50233-1ACF-9330-A4F6-F7FEF669304D}"/>
                  </a:ext>
                </a:extLst>
              </p:cNvPr>
              <p:cNvSpPr txBox="1"/>
              <p:nvPr/>
            </p:nvSpPr>
            <p:spPr>
              <a:xfrm>
                <a:off x="4578926" y="5535418"/>
                <a:ext cx="2978727" cy="6764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1</m:t>
                          </m:r>
                        </m:sub>
                        <m:sup>
                          <m:r>
                            <a:rPr lang="en-US" b="0" i="1" smtClean="0">
                              <a:latin typeface="Cambria Math" panose="02040503050406030204" pitchFamily="18" charset="0"/>
                            </a:rPr>
                            <m:t>𝑁</m:t>
                          </m:r>
                        </m:sup>
                      </m:sSubSup>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2</m:t>
                                      </m:r>
                                    </m:sub>
                                  </m:sSub>
                                </m:num>
                                <m:den>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Cambria Math" panose="02040503050406030204" pitchFamily="18" charset="0"/>
                                        </a:rPr>
                                        <m:t>1</m:t>
                                      </m:r>
                                    </m:sub>
                                  </m:sSub>
                                </m:den>
                              </m:f>
                            </m:e>
                          </m:d>
                        </m:e>
                        <m:sup>
                          <m:r>
                            <a:rPr lang="en-US" b="0" i="1" smtClean="0">
                              <a:latin typeface="Cambria Math" panose="02040503050406030204" pitchFamily="18" charset="0"/>
                            </a:rPr>
                            <m:t>𝑁</m:t>
                          </m:r>
                        </m:sup>
                      </m:sSup>
                      <m:r>
                        <a:rPr lang="en-US" b="0" i="1" smtClean="0">
                          <a:latin typeface="Cambria Math" panose="02040503050406030204" pitchFamily="18" charset="0"/>
                        </a:rPr>
                        <m:t>)</m:t>
                      </m:r>
                    </m:oMath>
                  </m:oMathPara>
                </a14:m>
                <a:endParaRPr lang="en-CN" dirty="0"/>
              </a:p>
            </p:txBody>
          </p:sp>
        </mc:Choice>
        <mc:Fallback xmlns="">
          <p:sp>
            <p:nvSpPr>
              <p:cNvPr id="9" name="TextBox 8">
                <a:extLst>
                  <a:ext uri="{FF2B5EF4-FFF2-40B4-BE49-F238E27FC236}">
                    <a16:creationId xmlns:a16="http://schemas.microsoft.com/office/drawing/2014/main" id="{54D50233-1ACF-9330-A4F6-F7FEF669304D}"/>
                  </a:ext>
                </a:extLst>
              </p:cNvPr>
              <p:cNvSpPr txBox="1">
                <a:spLocks noRot="1" noChangeAspect="1" noMove="1" noResize="1" noEditPoints="1" noAdjustHandles="1" noChangeArrowheads="1" noChangeShapeType="1" noTextEdit="1"/>
              </p:cNvSpPr>
              <p:nvPr/>
            </p:nvSpPr>
            <p:spPr>
              <a:xfrm>
                <a:off x="4578926" y="5535418"/>
                <a:ext cx="2978727" cy="676404"/>
              </a:xfrm>
              <a:prstGeom prst="rect">
                <a:avLst/>
              </a:prstGeom>
              <a:blipFill>
                <a:blip r:embed="rId7"/>
                <a:stretch>
                  <a:fillRect b="-1818"/>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8569C7D9-5870-541D-7094-E5DC5DDF4E9F}"/>
              </a:ext>
            </a:extLst>
          </p:cNvPr>
          <p:cNvSpPr txBox="1"/>
          <p:nvPr/>
        </p:nvSpPr>
        <p:spPr>
          <a:xfrm>
            <a:off x="429490" y="1939942"/>
            <a:ext cx="11042073"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配分函数可以表示成N个这样的矩阵相乘再求迹</a:t>
            </a:r>
            <a:r>
              <a:rPr lang="zh-CN" altLang="en-US" dirty="0">
                <a:latin typeface="FangSong" panose="02010609060101010101" pitchFamily="49" charset="-122"/>
                <a:ea typeface="FangSong" panose="02010609060101010101" pitchFamily="49" charset="-122"/>
              </a:rPr>
              <a:t>，进而表示成该矩阵本征值</a:t>
            </a:r>
            <a:r>
              <a:rPr lang="en-US" altLang="zh-CN" dirty="0">
                <a:latin typeface="FangSong" panose="02010609060101010101" pitchFamily="49" charset="-122"/>
                <a:ea typeface="FangSong" panose="02010609060101010101" pitchFamily="49" charset="-122"/>
              </a:rPr>
              <a:t>N</a:t>
            </a:r>
            <a:r>
              <a:rPr lang="zh-CN" altLang="en-US" dirty="0">
                <a:latin typeface="FangSong" panose="02010609060101010101" pitchFamily="49" charset="-122"/>
                <a:ea typeface="FangSong" panose="02010609060101010101" pitchFamily="49" charset="-122"/>
              </a:rPr>
              <a:t>次方的和</a:t>
            </a:r>
            <a:endParaRPr lang="en-CN" dirty="0">
              <a:latin typeface="FangSong" panose="02010609060101010101" pitchFamily="49" charset="-122"/>
              <a:ea typeface="FangSong" panose="02010609060101010101" pitchFamily="49" charset="-122"/>
            </a:endParaRPr>
          </a:p>
        </p:txBody>
      </p:sp>
      <p:sp>
        <p:nvSpPr>
          <p:cNvPr id="10" name="TextBox 9">
            <a:extLst>
              <a:ext uri="{FF2B5EF4-FFF2-40B4-BE49-F238E27FC236}">
                <a16:creationId xmlns:a16="http://schemas.microsoft.com/office/drawing/2014/main" id="{4DE94FA6-94E7-16B8-304A-AD6853597644}"/>
              </a:ext>
            </a:extLst>
          </p:cNvPr>
          <p:cNvSpPr txBox="1"/>
          <p:nvPr/>
        </p:nvSpPr>
        <p:spPr>
          <a:xfrm>
            <a:off x="3941617" y="1187899"/>
            <a:ext cx="2008909"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写成矩阵的形式</a:t>
            </a:r>
          </a:p>
        </p:txBody>
      </p:sp>
      <p:sp>
        <p:nvSpPr>
          <p:cNvPr id="11" name="TextBox 10">
            <a:extLst>
              <a:ext uri="{FF2B5EF4-FFF2-40B4-BE49-F238E27FC236}">
                <a16:creationId xmlns:a16="http://schemas.microsoft.com/office/drawing/2014/main" id="{DF1907F4-BC15-18DE-45DE-050789B185E1}"/>
              </a:ext>
            </a:extLst>
          </p:cNvPr>
          <p:cNvSpPr txBox="1"/>
          <p:nvPr/>
        </p:nvSpPr>
        <p:spPr>
          <a:xfrm>
            <a:off x="4357255" y="3374688"/>
            <a:ext cx="173874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本征方程求解</a:t>
            </a:r>
          </a:p>
        </p:txBody>
      </p:sp>
      <p:sp>
        <p:nvSpPr>
          <p:cNvPr id="12" name="Down Arrow 11">
            <a:extLst>
              <a:ext uri="{FF2B5EF4-FFF2-40B4-BE49-F238E27FC236}">
                <a16:creationId xmlns:a16="http://schemas.microsoft.com/office/drawing/2014/main" id="{978B8AA1-FA9C-6DF4-4E64-04A5FABFACE6}"/>
              </a:ext>
            </a:extLst>
          </p:cNvPr>
          <p:cNvSpPr/>
          <p:nvPr/>
        </p:nvSpPr>
        <p:spPr>
          <a:xfrm>
            <a:off x="5555671" y="4555038"/>
            <a:ext cx="394855" cy="6583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376429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D50233-1ACF-9330-A4F6-F7FEF669304D}"/>
                  </a:ext>
                </a:extLst>
              </p:cNvPr>
              <p:cNvSpPr txBox="1"/>
              <p:nvPr/>
            </p:nvSpPr>
            <p:spPr>
              <a:xfrm>
                <a:off x="4343399" y="288323"/>
                <a:ext cx="2978727" cy="6764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1</m:t>
                          </m:r>
                        </m:sub>
                        <m:sup>
                          <m:r>
                            <a:rPr lang="en-US" b="0" i="1" smtClean="0">
                              <a:latin typeface="Cambria Math" panose="02040503050406030204" pitchFamily="18" charset="0"/>
                            </a:rPr>
                            <m:t>𝑁</m:t>
                          </m:r>
                        </m:sup>
                      </m:sSubSup>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2</m:t>
                                      </m:r>
                                    </m:sub>
                                  </m:sSub>
                                </m:num>
                                <m:den>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Cambria Math" panose="02040503050406030204" pitchFamily="18" charset="0"/>
                                        </a:rPr>
                                        <m:t>1</m:t>
                                      </m:r>
                                    </m:sub>
                                  </m:sSub>
                                </m:den>
                              </m:f>
                            </m:e>
                          </m:d>
                        </m:e>
                        <m:sup>
                          <m:r>
                            <a:rPr lang="en-US" b="0" i="1" smtClean="0">
                              <a:latin typeface="Cambria Math" panose="02040503050406030204" pitchFamily="18" charset="0"/>
                            </a:rPr>
                            <m:t>𝑁</m:t>
                          </m:r>
                        </m:sup>
                      </m:sSup>
                      <m:r>
                        <a:rPr lang="en-US" b="0" i="1" smtClean="0">
                          <a:latin typeface="Cambria Math" panose="02040503050406030204" pitchFamily="18" charset="0"/>
                        </a:rPr>
                        <m:t>)</m:t>
                      </m:r>
                    </m:oMath>
                  </m:oMathPara>
                </a14:m>
                <a:endParaRPr lang="en-CN" dirty="0"/>
              </a:p>
            </p:txBody>
          </p:sp>
        </mc:Choice>
        <mc:Fallback xmlns="">
          <p:sp>
            <p:nvSpPr>
              <p:cNvPr id="9" name="TextBox 8">
                <a:extLst>
                  <a:ext uri="{FF2B5EF4-FFF2-40B4-BE49-F238E27FC236}">
                    <a16:creationId xmlns:a16="http://schemas.microsoft.com/office/drawing/2014/main" id="{54D50233-1ACF-9330-A4F6-F7FEF669304D}"/>
                  </a:ext>
                </a:extLst>
              </p:cNvPr>
              <p:cNvSpPr txBox="1">
                <a:spLocks noRot="1" noChangeAspect="1" noMove="1" noResize="1" noEditPoints="1" noAdjustHandles="1" noChangeArrowheads="1" noChangeShapeType="1" noTextEdit="1"/>
              </p:cNvSpPr>
              <p:nvPr/>
            </p:nvSpPr>
            <p:spPr>
              <a:xfrm>
                <a:off x="4343399" y="288323"/>
                <a:ext cx="2978727" cy="676404"/>
              </a:xfrm>
              <a:prstGeom prst="rect">
                <a:avLst/>
              </a:prstGeom>
              <a:blipFill>
                <a:blip r:embed="rId2"/>
                <a:stretch>
                  <a:fillRect b="-3704"/>
                </a:stretch>
              </a:blipFill>
            </p:spPr>
            <p:txBody>
              <a:bodyPr/>
              <a:lstStyle/>
              <a:p>
                <a:r>
                  <a:rPr lang="en-CN">
                    <a:noFill/>
                  </a:rPr>
                  <a:t> </a:t>
                </a:r>
              </a:p>
            </p:txBody>
          </p:sp>
        </mc:Fallback>
      </mc:AlternateContent>
      <p:cxnSp>
        <p:nvCxnSpPr>
          <p:cNvPr id="10" name="Straight Arrow Connector 9">
            <a:extLst>
              <a:ext uri="{FF2B5EF4-FFF2-40B4-BE49-F238E27FC236}">
                <a16:creationId xmlns:a16="http://schemas.microsoft.com/office/drawing/2014/main" id="{AF166A39-CCA8-C0C1-8908-B508F6FC5AB8}"/>
              </a:ext>
            </a:extLst>
          </p:cNvPr>
          <p:cNvCxnSpPr/>
          <p:nvPr/>
        </p:nvCxnSpPr>
        <p:spPr>
          <a:xfrm>
            <a:off x="6096000" y="288323"/>
            <a:ext cx="1039091" cy="847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40D8A4-51D4-D732-DA1F-AB1676A74CDF}"/>
              </a:ext>
            </a:extLst>
          </p:cNvPr>
          <p:cNvSpPr txBox="1"/>
          <p:nvPr/>
        </p:nvSpPr>
        <p:spPr>
          <a:xfrm>
            <a:off x="7135091" y="964727"/>
            <a:ext cx="803564" cy="369332"/>
          </a:xfrm>
          <a:prstGeom prst="rect">
            <a:avLst/>
          </a:prstGeom>
          <a:noFill/>
        </p:spPr>
        <p:txBody>
          <a:bodyPr wrap="square" rtlCol="0">
            <a:spAutoFit/>
          </a:bodyPr>
          <a:lstStyle/>
          <a:p>
            <a:r>
              <a:rPr lang="en-CN" dirty="0"/>
              <a:t>0</a:t>
            </a:r>
          </a:p>
        </p:txBody>
      </p:sp>
      <p:sp>
        <p:nvSpPr>
          <p:cNvPr id="12" name="TextBox 11">
            <a:extLst>
              <a:ext uri="{FF2B5EF4-FFF2-40B4-BE49-F238E27FC236}">
                <a16:creationId xmlns:a16="http://schemas.microsoft.com/office/drawing/2014/main" id="{0536F314-A0F5-B6B6-7970-8C59DC66F718}"/>
              </a:ext>
            </a:extLst>
          </p:cNvPr>
          <p:cNvSpPr txBox="1"/>
          <p:nvPr/>
        </p:nvSpPr>
        <p:spPr>
          <a:xfrm>
            <a:off x="401782" y="1334059"/>
            <a:ext cx="3491345" cy="369332"/>
          </a:xfrm>
          <a:prstGeom prst="rect">
            <a:avLst/>
          </a:prstGeom>
          <a:noFill/>
        </p:spPr>
        <p:txBody>
          <a:bodyPr wrap="square" rtlCol="0">
            <a:spAutoFit/>
          </a:bodyPr>
          <a:lstStyle/>
          <a:p>
            <a:r>
              <a:rPr lang="en-CN" dirty="0"/>
              <a:t>Free Energy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83455E-22E7-EA9E-E03F-03935A5F0BF7}"/>
                  </a:ext>
                </a:extLst>
              </p:cNvPr>
              <p:cNvSpPr txBox="1"/>
              <p:nvPr/>
            </p:nvSpPr>
            <p:spPr>
              <a:xfrm>
                <a:off x="3034145" y="1925782"/>
                <a:ext cx="5472546" cy="6594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𝑁</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𝑁</m:t>
                              </m:r>
                            </m:sub>
                          </m:sSub>
                        </m:e>
                      </m:func>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𝛽</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Cambria Math" panose="02040503050406030204" pitchFamily="18" charset="0"/>
                                </a:rPr>
                                <m:t>1</m:t>
                              </m:r>
                            </m:sub>
                          </m:sSub>
                        </m:e>
                      </m:func>
                    </m:oMath>
                  </m:oMathPara>
                </a14:m>
                <a:endParaRPr lang="en-CN" dirty="0"/>
              </a:p>
            </p:txBody>
          </p:sp>
        </mc:Choice>
        <mc:Fallback xmlns="">
          <p:sp>
            <p:nvSpPr>
              <p:cNvPr id="13" name="TextBox 12">
                <a:extLst>
                  <a:ext uri="{FF2B5EF4-FFF2-40B4-BE49-F238E27FC236}">
                    <a16:creationId xmlns:a16="http://schemas.microsoft.com/office/drawing/2014/main" id="{4983455E-22E7-EA9E-E03F-03935A5F0BF7}"/>
                  </a:ext>
                </a:extLst>
              </p:cNvPr>
              <p:cNvSpPr txBox="1">
                <a:spLocks noRot="1" noChangeAspect="1" noMove="1" noResize="1" noEditPoints="1" noAdjustHandles="1" noChangeArrowheads="1" noChangeShapeType="1" noTextEdit="1"/>
              </p:cNvSpPr>
              <p:nvPr/>
            </p:nvSpPr>
            <p:spPr>
              <a:xfrm>
                <a:off x="3034145" y="1925782"/>
                <a:ext cx="5472546" cy="659411"/>
              </a:xfrm>
              <a:prstGeom prst="rect">
                <a:avLst/>
              </a:prstGeom>
              <a:blipFill>
                <a:blip r:embed="rId3"/>
                <a:stretch>
                  <a:fillRect b="-7547"/>
                </a:stretch>
              </a:blipFill>
            </p:spPr>
            <p:txBody>
              <a:bodyPr/>
              <a:lstStyle/>
              <a:p>
                <a:r>
                  <a:rPr lang="en-CN">
                    <a:noFill/>
                  </a:rPr>
                  <a:t> </a:t>
                </a:r>
              </a:p>
            </p:txBody>
          </p:sp>
        </mc:Fallback>
      </mc:AlternateContent>
      <p:sp>
        <p:nvSpPr>
          <p:cNvPr id="14" name="TextBox 13">
            <a:extLst>
              <a:ext uri="{FF2B5EF4-FFF2-40B4-BE49-F238E27FC236}">
                <a16:creationId xmlns:a16="http://schemas.microsoft.com/office/drawing/2014/main" id="{31A0EDF5-5D92-B1BE-E5E8-50FCEA643A13}"/>
              </a:ext>
            </a:extLst>
          </p:cNvPr>
          <p:cNvSpPr txBox="1"/>
          <p:nvPr/>
        </p:nvSpPr>
        <p:spPr>
          <a:xfrm>
            <a:off x="401782" y="2830018"/>
            <a:ext cx="3491345" cy="369332"/>
          </a:xfrm>
          <a:prstGeom prst="rect">
            <a:avLst/>
          </a:prstGeom>
          <a:noFill/>
        </p:spPr>
        <p:txBody>
          <a:bodyPr wrap="square" rtlCol="0">
            <a:spAutoFit/>
          </a:bodyPr>
          <a:lstStyle/>
          <a:p>
            <a:r>
              <a:rPr lang="en-CN" dirty="0"/>
              <a:t>Average Energy</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7249363-0F81-6679-6CEF-9E729737CE2D}"/>
                  </a:ext>
                </a:extLst>
              </p:cNvPr>
              <p:cNvSpPr txBox="1"/>
              <p:nvPr/>
            </p:nvSpPr>
            <p:spPr>
              <a:xfrm>
                <a:off x="3034145" y="3546248"/>
                <a:ext cx="5472546" cy="6832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den>
                      </m:f>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𝑁</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den>
                      </m:f>
                      <m:r>
                        <a:rPr lang="en-US" b="0" i="1" smtClean="0">
                          <a:latin typeface="Cambria Math" panose="02040503050406030204" pitchFamily="18" charset="0"/>
                          <a:ea typeface="Cambria Math" panose="02040503050406030204" pitchFamily="18" charset="0"/>
                        </a:rPr>
                        <m:t> </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Cambria Math" panose="02040503050406030204" pitchFamily="18" charset="0"/>
                                </a:rPr>
                                <m:t>1</m:t>
                              </m:r>
                            </m:sub>
                          </m:sSub>
                        </m:e>
                      </m:func>
                    </m:oMath>
                  </m:oMathPara>
                </a14:m>
                <a:endParaRPr lang="en-CN" dirty="0"/>
              </a:p>
            </p:txBody>
          </p:sp>
        </mc:Choice>
        <mc:Fallback xmlns="">
          <p:sp>
            <p:nvSpPr>
              <p:cNvPr id="15" name="TextBox 14">
                <a:extLst>
                  <a:ext uri="{FF2B5EF4-FFF2-40B4-BE49-F238E27FC236}">
                    <a16:creationId xmlns:a16="http://schemas.microsoft.com/office/drawing/2014/main" id="{97249363-0F81-6679-6CEF-9E729737CE2D}"/>
                  </a:ext>
                </a:extLst>
              </p:cNvPr>
              <p:cNvSpPr txBox="1">
                <a:spLocks noRot="1" noChangeAspect="1" noMove="1" noResize="1" noEditPoints="1" noAdjustHandles="1" noChangeArrowheads="1" noChangeShapeType="1" noTextEdit="1"/>
              </p:cNvSpPr>
              <p:nvPr/>
            </p:nvSpPr>
            <p:spPr>
              <a:xfrm>
                <a:off x="3034145" y="3546248"/>
                <a:ext cx="5472546" cy="683264"/>
              </a:xfrm>
              <a:prstGeom prst="rect">
                <a:avLst/>
              </a:prstGeom>
              <a:blipFill>
                <a:blip r:embed="rId4"/>
                <a:stretch>
                  <a:fillRect b="-5455"/>
                </a:stretch>
              </a:blipFill>
            </p:spPr>
            <p:txBody>
              <a:bodyPr/>
              <a:lstStyle/>
              <a:p>
                <a:r>
                  <a:rPr lang="en-CN">
                    <a:noFill/>
                  </a:rPr>
                  <a:t> </a:t>
                </a:r>
              </a:p>
            </p:txBody>
          </p:sp>
        </mc:Fallback>
      </mc:AlternateContent>
      <p:sp>
        <p:nvSpPr>
          <p:cNvPr id="16" name="Down Arrow 15">
            <a:extLst>
              <a:ext uri="{FF2B5EF4-FFF2-40B4-BE49-F238E27FC236}">
                <a16:creationId xmlns:a16="http://schemas.microsoft.com/office/drawing/2014/main" id="{95484121-449E-7638-DD6C-FD8954FF6B66}"/>
              </a:ext>
            </a:extLst>
          </p:cNvPr>
          <p:cNvSpPr/>
          <p:nvPr/>
        </p:nvSpPr>
        <p:spPr>
          <a:xfrm>
            <a:off x="5597236" y="4229512"/>
            <a:ext cx="498764" cy="13815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TextBox 16">
            <a:extLst>
              <a:ext uri="{FF2B5EF4-FFF2-40B4-BE49-F238E27FC236}">
                <a16:creationId xmlns:a16="http://schemas.microsoft.com/office/drawing/2014/main" id="{5E473B0A-4230-903B-D736-AC88E5AED2F9}"/>
              </a:ext>
            </a:extLst>
          </p:cNvPr>
          <p:cNvSpPr txBox="1"/>
          <p:nvPr/>
        </p:nvSpPr>
        <p:spPr>
          <a:xfrm>
            <a:off x="6096000" y="4613564"/>
            <a:ext cx="2286000"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外场为零B=0</a:t>
            </a:r>
          </a:p>
        </p:txBody>
      </p:sp>
      <p:pic>
        <p:nvPicPr>
          <p:cNvPr id="19" name="Picture 18">
            <a:extLst>
              <a:ext uri="{FF2B5EF4-FFF2-40B4-BE49-F238E27FC236}">
                <a16:creationId xmlns:a16="http://schemas.microsoft.com/office/drawing/2014/main" id="{65570614-AEB5-5555-3F43-C4EF786E9CC4}"/>
              </a:ext>
            </a:extLst>
          </p:cNvPr>
          <p:cNvPicPr>
            <a:picLocks noChangeAspect="1"/>
          </p:cNvPicPr>
          <p:nvPr/>
        </p:nvPicPr>
        <p:blipFill>
          <a:blip r:embed="rId5"/>
          <a:stretch>
            <a:fillRect/>
          </a:stretch>
        </p:blipFill>
        <p:spPr>
          <a:xfrm>
            <a:off x="7689273" y="3245736"/>
            <a:ext cx="4294909" cy="1204316"/>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62EA839-3A66-7C1A-DF2B-3E0419590BED}"/>
                  </a:ext>
                </a:extLst>
              </p:cNvPr>
              <p:cNvSpPr txBox="1"/>
              <p:nvPr/>
            </p:nvSpPr>
            <p:spPr>
              <a:xfrm>
                <a:off x="3034145" y="5774603"/>
                <a:ext cx="54725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 </m:t>
                      </m:r>
                      <m:r>
                        <m:rPr>
                          <m:sty m:val="p"/>
                        </m:rPr>
                        <a:rPr lang="en-US" b="0" i="0" smtClean="0">
                          <a:latin typeface="Cambria Math" panose="02040503050406030204" pitchFamily="18" charset="0"/>
                        </a:rPr>
                        <m:t>tanh</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rPr>
                        <m:t>)</m:t>
                      </m:r>
                    </m:oMath>
                  </m:oMathPara>
                </a14:m>
                <a:endParaRPr lang="en-CN" dirty="0"/>
              </a:p>
            </p:txBody>
          </p:sp>
        </mc:Choice>
        <mc:Fallback xmlns="">
          <p:sp>
            <p:nvSpPr>
              <p:cNvPr id="20" name="TextBox 19">
                <a:extLst>
                  <a:ext uri="{FF2B5EF4-FFF2-40B4-BE49-F238E27FC236}">
                    <a16:creationId xmlns:a16="http://schemas.microsoft.com/office/drawing/2014/main" id="{D62EA839-3A66-7C1A-DF2B-3E0419590BED}"/>
                  </a:ext>
                </a:extLst>
              </p:cNvPr>
              <p:cNvSpPr txBox="1">
                <a:spLocks noRot="1" noChangeAspect="1" noMove="1" noResize="1" noEditPoints="1" noAdjustHandles="1" noChangeArrowheads="1" noChangeShapeType="1" noTextEdit="1"/>
              </p:cNvSpPr>
              <p:nvPr/>
            </p:nvSpPr>
            <p:spPr>
              <a:xfrm>
                <a:off x="3034145" y="5774603"/>
                <a:ext cx="5472546" cy="369332"/>
              </a:xfrm>
              <a:prstGeom prst="rect">
                <a:avLst/>
              </a:prstGeom>
              <a:blipFill>
                <a:blip r:embed="rId6"/>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5797ADE-8724-FEC9-F0DF-F0EF3B5F6965}"/>
                  </a:ext>
                </a:extLst>
              </p:cNvPr>
              <p:cNvSpPr txBox="1"/>
              <p:nvPr/>
            </p:nvSpPr>
            <p:spPr>
              <a:xfrm>
                <a:off x="7689273" y="443345"/>
                <a:ext cx="3491346"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由于</a:t>
                </a:r>
                <a14:m>
                  <m:oMath xmlns:m="http://schemas.openxmlformats.org/officeDocument/2006/math">
                    <m:sSub>
                      <m:sSubPr>
                        <m:ctrlPr>
                          <a:rPr lang="en-CN" i="1" smtClean="0">
                            <a:latin typeface="Cambria Math" panose="02040503050406030204" pitchFamily="18" charset="0"/>
                            <a:ea typeface="FangSong" panose="02010609060101010101" pitchFamily="49" charset="-122"/>
                          </a:rPr>
                        </m:ctrlPr>
                      </m:sSubPr>
                      <m:e>
                        <m:r>
                          <a:rPr lang="en-CN"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FangSong" panose="02010609060101010101" pitchFamily="49" charset="-122"/>
                          </a:rPr>
                          <m:t>1</m:t>
                        </m:r>
                      </m:sub>
                    </m:sSub>
                    <m:r>
                      <a:rPr lang="en-US" b="0" i="1" smtClean="0">
                        <a:latin typeface="Cambria Math" panose="02040503050406030204" pitchFamily="18" charset="0"/>
                        <a:ea typeface="FangSong" panose="02010609060101010101" pitchFamily="49" charset="-122"/>
                      </a:rPr>
                      <m:t>&gt;</m:t>
                    </m:r>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ea typeface="FangSong" panose="02010609060101010101" pitchFamily="49" charset="-122"/>
                          </a:rPr>
                          <m:t>2</m:t>
                        </m:r>
                      </m:sub>
                    </m:sSub>
                  </m:oMath>
                </a14:m>
                <a:r>
                  <a:rPr lang="zh-CN" altLang="en-US" dirty="0">
                    <a:latin typeface="FangSong" panose="02010609060101010101" pitchFamily="49" charset="-122"/>
                    <a:ea typeface="FangSong" panose="02010609060101010101" pitchFamily="49" charset="-122"/>
                  </a:rPr>
                  <a:t>，当</a:t>
                </a:r>
                <a:r>
                  <a:rPr lang="en-US" altLang="zh-CN" dirty="0">
                    <a:latin typeface="FangSong" panose="02010609060101010101" pitchFamily="49" charset="-122"/>
                    <a:ea typeface="FangSong" panose="02010609060101010101" pitchFamily="49" charset="-122"/>
                  </a:rPr>
                  <a:t>N</a:t>
                </a:r>
                <a:r>
                  <a:rPr lang="zh-CN" altLang="en-US" dirty="0">
                    <a:latin typeface="FangSong" panose="02010609060101010101" pitchFamily="49" charset="-122"/>
                    <a:ea typeface="FangSong" panose="02010609060101010101" pitchFamily="49" charset="-122"/>
                  </a:rPr>
                  <a:t>趋于无穷大</a:t>
                </a:r>
                <a:endParaRPr lang="en-CN" dirty="0">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75797ADE-8724-FEC9-F0DF-F0EF3B5F6965}"/>
                  </a:ext>
                </a:extLst>
              </p:cNvPr>
              <p:cNvSpPr txBox="1">
                <a:spLocks noRot="1" noChangeAspect="1" noMove="1" noResize="1" noEditPoints="1" noAdjustHandles="1" noChangeArrowheads="1" noChangeShapeType="1" noTextEdit="1"/>
              </p:cNvSpPr>
              <p:nvPr/>
            </p:nvSpPr>
            <p:spPr>
              <a:xfrm>
                <a:off x="7689273" y="443345"/>
                <a:ext cx="3491346" cy="369332"/>
              </a:xfrm>
              <a:prstGeom prst="rect">
                <a:avLst/>
              </a:prstGeom>
              <a:blipFill>
                <a:blip r:embed="rId7"/>
                <a:stretch>
                  <a:fillRect l="-1449" t="-13793" b="-24138"/>
                </a:stretch>
              </a:blipFill>
            </p:spPr>
            <p:txBody>
              <a:bodyPr/>
              <a:lstStyle/>
              <a:p>
                <a:r>
                  <a:rPr lang="en-CN">
                    <a:noFill/>
                  </a:rPr>
                  <a:t> </a:t>
                </a:r>
              </a:p>
            </p:txBody>
          </p:sp>
        </mc:Fallback>
      </mc:AlternateContent>
    </p:spTree>
    <p:extLst>
      <p:ext uri="{BB962C8B-B14F-4D97-AF65-F5344CB8AC3E}">
        <p14:creationId xmlns:p14="http://schemas.microsoft.com/office/powerpoint/2010/main" val="3678857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536F314-A0F5-B6B6-7970-8C59DC66F718}"/>
              </a:ext>
            </a:extLst>
          </p:cNvPr>
          <p:cNvSpPr txBox="1"/>
          <p:nvPr/>
        </p:nvSpPr>
        <p:spPr>
          <a:xfrm>
            <a:off x="401782" y="281114"/>
            <a:ext cx="349134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连续过度</a:t>
            </a:r>
            <a:r>
              <a:rPr lang="zh-CN" altLang="en-US" dirty="0">
                <a:latin typeface="FangSong" panose="02010609060101010101" pitchFamily="49" charset="-122"/>
                <a:ea typeface="FangSong" panose="02010609060101010101" pitchFamily="49" charset="-122"/>
              </a:rPr>
              <a:t>，没有</a:t>
            </a:r>
            <a:r>
              <a:rPr lang="en-CN" dirty="0">
                <a:latin typeface="FangSong" panose="02010609060101010101" pitchFamily="49" charset="-122"/>
                <a:ea typeface="FangSong" panose="02010609060101010101" pitchFamily="49" charset="-122"/>
              </a:rPr>
              <a:t>相变信号</a:t>
            </a:r>
            <a:r>
              <a:rPr lang="zh-CN" altLang="en-US" dirty="0">
                <a:latin typeface="FangSong" panose="02010609060101010101" pitchFamily="49" charset="-122"/>
                <a:ea typeface="FangSong" panose="02010609060101010101" pitchFamily="49" charset="-122"/>
              </a:rPr>
              <a:t>？？</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AC1F0AA-DD26-60C6-3667-91A4EB159A1C}"/>
                  </a:ext>
                </a:extLst>
              </p:cNvPr>
              <p:cNvSpPr txBox="1"/>
              <p:nvPr/>
            </p:nvSpPr>
            <p:spPr>
              <a:xfrm>
                <a:off x="3359727" y="996810"/>
                <a:ext cx="5472546"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 </m:t>
                      </m:r>
                      <m:r>
                        <m:rPr>
                          <m:sty m:val="p"/>
                        </m:rPr>
                        <a:rPr lang="en-US" b="0" i="0" smtClean="0">
                          <a:latin typeface="Cambria Math" panose="02040503050406030204" pitchFamily="18" charset="0"/>
                        </a:rPr>
                        <m:t>tanh</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→0</m:t>
                              </m:r>
                            </m:e>
                          </m:eqArr>
                        </m:e>
                      </m:d>
                    </m:oMath>
                  </m:oMathPara>
                </a14:m>
                <a:endParaRPr lang="en-CN" dirty="0"/>
              </a:p>
            </p:txBody>
          </p:sp>
        </mc:Choice>
        <mc:Fallback xmlns="">
          <p:sp>
            <p:nvSpPr>
              <p:cNvPr id="3" name="TextBox 2">
                <a:extLst>
                  <a:ext uri="{FF2B5EF4-FFF2-40B4-BE49-F238E27FC236}">
                    <a16:creationId xmlns:a16="http://schemas.microsoft.com/office/drawing/2014/main" id="{2AC1F0AA-DD26-60C6-3667-91A4EB159A1C}"/>
                  </a:ext>
                </a:extLst>
              </p:cNvPr>
              <p:cNvSpPr txBox="1">
                <a:spLocks noRot="1" noChangeAspect="1" noMove="1" noResize="1" noEditPoints="1" noAdjustHandles="1" noChangeArrowheads="1" noChangeShapeType="1" noTextEdit="1"/>
              </p:cNvSpPr>
              <p:nvPr/>
            </p:nvSpPr>
            <p:spPr>
              <a:xfrm>
                <a:off x="3359727" y="996810"/>
                <a:ext cx="5472546" cy="710194"/>
              </a:xfrm>
              <a:prstGeom prst="rect">
                <a:avLst/>
              </a:prstGeom>
              <a:blipFill>
                <a:blip r:embed="rId2"/>
                <a:stretch>
                  <a:fillRect t="-191228" b="-277193"/>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6C6158C0-5705-5016-F501-F5C2868C4E31}"/>
              </a:ext>
            </a:extLst>
          </p:cNvPr>
          <p:cNvSpPr txBox="1"/>
          <p:nvPr/>
        </p:nvSpPr>
        <p:spPr>
          <a:xfrm>
            <a:off x="2445327" y="1829101"/>
            <a:ext cx="6913418" cy="923330"/>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高温时</a:t>
            </a:r>
            <a:r>
              <a:rPr lang="zh-CN" altLang="en-US" dirty="0">
                <a:latin typeface="FangSong" panose="02010609060101010101" pitchFamily="49" charset="-122"/>
                <a:ea typeface="FangSong" panose="02010609060101010101" pitchFamily="49" charset="-122"/>
              </a:rPr>
              <a:t>、混乱排序；低温时，都朝上</a:t>
            </a:r>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随着温度连续变化</a:t>
            </a:r>
            <a:r>
              <a:rPr lang="zh-CN" altLang="en-US" dirty="0">
                <a:latin typeface="FangSong" panose="02010609060101010101" pitchFamily="49" charset="-122"/>
                <a:ea typeface="FangSong" panose="02010609060101010101" pitchFamily="49" charset="-122"/>
              </a:rPr>
              <a:t>，无相变特征</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和</a:t>
            </a:r>
            <a:r>
              <a:rPr lang="en-US" altLang="zh-CN" dirty="0">
                <a:latin typeface="FangSong" panose="02010609060101010101" pitchFamily="49" charset="-122"/>
                <a:ea typeface="FangSong" panose="02010609060101010101" pitchFamily="49" charset="-122"/>
              </a:rPr>
              <a:t>Binary</a:t>
            </a:r>
            <a:r>
              <a:rPr lang="zh-CN" altLang="en-US" dirty="0">
                <a:latin typeface="FangSong" panose="02010609060101010101" pitchFamily="49" charset="-122"/>
                <a:ea typeface="FangSong" panose="02010609060101010101" pitchFamily="49" charset="-122"/>
              </a:rPr>
              <a:t> </a:t>
            </a:r>
            <a:r>
              <a:rPr lang="en-US" altLang="zh-CN" dirty="0">
                <a:latin typeface="FangSong" panose="02010609060101010101" pitchFamily="49" charset="-122"/>
                <a:ea typeface="FangSong" panose="02010609060101010101" pitchFamily="49" charset="-122"/>
              </a:rPr>
              <a:t>model</a:t>
            </a:r>
            <a:r>
              <a:rPr lang="zh-CN" altLang="en-US" dirty="0">
                <a:latin typeface="FangSong" panose="02010609060101010101" pitchFamily="49" charset="-122"/>
                <a:ea typeface="FangSong" panose="02010609060101010101" pitchFamily="49" charset="-122"/>
              </a:rPr>
              <a:t>的差别？</a:t>
            </a:r>
            <a:endParaRPr lang="en-CN" dirty="0">
              <a:latin typeface="FangSong" panose="02010609060101010101" pitchFamily="49" charset="-122"/>
              <a:ea typeface="FangSong" panose="02010609060101010101" pitchFamily="49" charset="-122"/>
            </a:endParaRPr>
          </a:p>
        </p:txBody>
      </p:sp>
      <p:pic>
        <p:nvPicPr>
          <p:cNvPr id="5" name="Picture 4">
            <a:extLst>
              <a:ext uri="{FF2B5EF4-FFF2-40B4-BE49-F238E27FC236}">
                <a16:creationId xmlns:a16="http://schemas.microsoft.com/office/drawing/2014/main" id="{2693F19A-EF7C-B117-AD22-0A727F2B9944}"/>
              </a:ext>
            </a:extLst>
          </p:cNvPr>
          <p:cNvPicPr>
            <a:picLocks noChangeAspect="1"/>
          </p:cNvPicPr>
          <p:nvPr/>
        </p:nvPicPr>
        <p:blipFill>
          <a:blip r:embed="rId3"/>
          <a:stretch>
            <a:fillRect/>
          </a:stretch>
        </p:blipFill>
        <p:spPr>
          <a:xfrm>
            <a:off x="3519054" y="3134740"/>
            <a:ext cx="4765964" cy="1656315"/>
          </a:xfrm>
          <a:prstGeom prst="rect">
            <a:avLst/>
          </a:prstGeom>
        </p:spPr>
      </p:pic>
      <p:sp>
        <p:nvSpPr>
          <p:cNvPr id="6" name="TextBox 5">
            <a:extLst>
              <a:ext uri="{FF2B5EF4-FFF2-40B4-BE49-F238E27FC236}">
                <a16:creationId xmlns:a16="http://schemas.microsoft.com/office/drawing/2014/main" id="{DB430F50-A9F0-538E-EE94-21277A205355}"/>
              </a:ext>
            </a:extLst>
          </p:cNvPr>
          <p:cNvSpPr txBox="1"/>
          <p:nvPr/>
        </p:nvSpPr>
        <p:spPr>
          <a:xfrm>
            <a:off x="526472" y="5173364"/>
            <a:ext cx="11139055" cy="1477328"/>
          </a:xfrm>
          <a:prstGeom prst="rect">
            <a:avLst/>
          </a:prstGeom>
          <a:noFill/>
        </p:spPr>
        <p:txBody>
          <a:bodyPr wrap="square" rtlCol="0">
            <a:spAutoFit/>
          </a:bodyPr>
          <a:lstStyle/>
          <a:p>
            <a:r>
              <a:rPr lang="en-CN" dirty="0"/>
              <a:t>Suppose, if one of the spins get flipped at a random position because of thermal agitation, there is no force available, which can stop the neighboring spins to flip in the same direction. And this process will go on and on, and completely oredered states will not remain stable at a finite temperature. Thus no phase transition will occur at a finite temperature. Ideally speaking, any ordered state will always remain like a mestastble state at finite temperature and nothing more.</a:t>
            </a:r>
          </a:p>
        </p:txBody>
      </p:sp>
    </p:spTree>
    <p:extLst>
      <p:ext uri="{BB962C8B-B14F-4D97-AF65-F5344CB8AC3E}">
        <p14:creationId xmlns:p14="http://schemas.microsoft.com/office/powerpoint/2010/main" val="1975981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536F314-A0F5-B6B6-7970-8C59DC66F718}"/>
              </a:ext>
            </a:extLst>
          </p:cNvPr>
          <p:cNvSpPr txBox="1"/>
          <p:nvPr/>
        </p:nvSpPr>
        <p:spPr>
          <a:xfrm>
            <a:off x="4862944" y="491"/>
            <a:ext cx="349134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边界条件的影响</a:t>
            </a:r>
            <a:r>
              <a:rPr lang="zh-CN" altLang="en-US" dirty="0">
                <a:latin typeface="FangSong" panose="02010609060101010101" pitchFamily="49" charset="-122"/>
                <a:ea typeface="FangSong" panose="02010609060101010101" pitchFamily="49" charset="-122"/>
              </a:rPr>
              <a:t>（</a:t>
            </a:r>
            <a:r>
              <a:rPr lang="en-US" altLang="zh-CN" dirty="0">
                <a:latin typeface="FangSong" panose="02010609060101010101" pitchFamily="49" charset="-122"/>
                <a:ea typeface="FangSong" panose="02010609060101010101" pitchFamily="49" charset="-122"/>
              </a:rPr>
              <a:t>B=0</a:t>
            </a:r>
            <a:r>
              <a:rPr lang="zh-CN" altLang="en-US" dirty="0">
                <a:latin typeface="FangSong" panose="02010609060101010101" pitchFamily="49" charset="-122"/>
                <a:ea typeface="FangSong" panose="02010609060101010101" pitchFamily="49" charset="-122"/>
              </a:rPr>
              <a:t>）</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EF890B1-5868-1F5B-882A-48551A5B7FDF}"/>
                  </a:ext>
                </a:extLst>
              </p:cNvPr>
              <p:cNvSpPr txBox="1"/>
              <p:nvPr/>
            </p:nvSpPr>
            <p:spPr>
              <a:xfrm>
                <a:off x="277091" y="813606"/>
                <a:ext cx="5541818" cy="7973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𝑁</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p>
                                    <m:e>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nary>
                                </m:sup>
                              </m:sSup>
                            </m:e>
                          </m:nary>
                        </m:e>
                      </m:nary>
                    </m:oMath>
                  </m:oMathPara>
                </a14:m>
                <a:endParaRPr lang="en-CN" dirty="0"/>
              </a:p>
            </p:txBody>
          </p:sp>
        </mc:Choice>
        <mc:Fallback xmlns="">
          <p:sp>
            <p:nvSpPr>
              <p:cNvPr id="4" name="TextBox 3">
                <a:extLst>
                  <a:ext uri="{FF2B5EF4-FFF2-40B4-BE49-F238E27FC236}">
                    <a16:creationId xmlns:a16="http://schemas.microsoft.com/office/drawing/2014/main" id="{0EF890B1-5868-1F5B-882A-48551A5B7FDF}"/>
                  </a:ext>
                </a:extLst>
              </p:cNvPr>
              <p:cNvSpPr txBox="1">
                <a:spLocks noRot="1" noChangeAspect="1" noMove="1" noResize="1" noEditPoints="1" noAdjustHandles="1" noChangeArrowheads="1" noChangeShapeType="1" noTextEdit="1"/>
              </p:cNvSpPr>
              <p:nvPr/>
            </p:nvSpPr>
            <p:spPr>
              <a:xfrm>
                <a:off x="277091" y="813606"/>
                <a:ext cx="5541818" cy="797334"/>
              </a:xfrm>
              <a:prstGeom prst="rect">
                <a:avLst/>
              </a:prstGeom>
              <a:blipFill>
                <a:blip r:embed="rId2"/>
                <a:stretch>
                  <a:fillRect t="-115625" b="-159375"/>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B4B6D460-B4C0-EC61-B04E-7D25C06EBFEF}"/>
              </a:ext>
            </a:extLst>
          </p:cNvPr>
          <p:cNvSpPr txBox="1"/>
          <p:nvPr/>
        </p:nvSpPr>
        <p:spPr>
          <a:xfrm>
            <a:off x="401782" y="1856509"/>
            <a:ext cx="3214254" cy="369332"/>
          </a:xfrm>
          <a:prstGeom prst="rect">
            <a:avLst/>
          </a:prstGeom>
          <a:noFill/>
        </p:spPr>
        <p:txBody>
          <a:bodyPr wrap="square" rtlCol="0">
            <a:spAutoFit/>
          </a:bodyPr>
          <a:lstStyle/>
          <a:p>
            <a:r>
              <a:rPr lang="en-CN" dirty="0"/>
              <a:t>Define a new variable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48FF25-F47C-F8E3-7EA3-897F9A7C30E6}"/>
                  </a:ext>
                </a:extLst>
              </p:cNvPr>
              <p:cNvSpPr txBox="1"/>
              <p:nvPr/>
            </p:nvSpPr>
            <p:spPr>
              <a:xfrm>
                <a:off x="1011381" y="2327564"/>
                <a:ext cx="385156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h𝑒𝑟𝑒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=1,2,…,</m:t>
                      </m:r>
                      <m:r>
                        <a:rPr lang="en-US" b="0" i="1" smtClean="0">
                          <a:latin typeface="Cambria Math" panose="02040503050406030204" pitchFamily="18" charset="0"/>
                        </a:rPr>
                        <m:t>𝑁</m:t>
                      </m:r>
                      <m:r>
                        <a:rPr lang="en-US" b="0" i="1" smtClean="0">
                          <a:latin typeface="Cambria Math" panose="02040503050406030204" pitchFamily="18" charset="0"/>
                        </a:rPr>
                        <m:t>−1</m:t>
                      </m:r>
                    </m:oMath>
                  </m:oMathPara>
                </a14:m>
                <a:endParaRPr lang="en-CN" dirty="0"/>
              </a:p>
            </p:txBody>
          </p:sp>
        </mc:Choice>
        <mc:Fallback xmlns="">
          <p:sp>
            <p:nvSpPr>
              <p:cNvPr id="5" name="TextBox 4">
                <a:extLst>
                  <a:ext uri="{FF2B5EF4-FFF2-40B4-BE49-F238E27FC236}">
                    <a16:creationId xmlns:a16="http://schemas.microsoft.com/office/drawing/2014/main" id="{ED48FF25-F47C-F8E3-7EA3-897F9A7C30E6}"/>
                  </a:ext>
                </a:extLst>
              </p:cNvPr>
              <p:cNvSpPr txBox="1">
                <a:spLocks noRot="1" noChangeAspect="1" noMove="1" noResize="1" noEditPoints="1" noAdjustHandles="1" noChangeArrowheads="1" noChangeShapeType="1" noTextEdit="1"/>
              </p:cNvSpPr>
              <p:nvPr/>
            </p:nvSpPr>
            <p:spPr>
              <a:xfrm>
                <a:off x="1011381" y="2327564"/>
                <a:ext cx="3851563" cy="369332"/>
              </a:xfrm>
              <a:prstGeom prst="rect">
                <a:avLst/>
              </a:prstGeom>
              <a:blipFill>
                <a:blip r:embed="rId3"/>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13F57E-7D8B-9150-9BA0-71039E75A887}"/>
                  </a:ext>
                </a:extLst>
              </p:cNvPr>
              <p:cNvSpPr txBox="1"/>
              <p:nvPr/>
            </p:nvSpPr>
            <p:spPr>
              <a:xfrm>
                <a:off x="401782" y="2840174"/>
                <a:ext cx="4461162"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+1, </m:t>
                              </m:r>
                              <m:r>
                                <a:rPr lang="en-US" b="0" i="1" smtClean="0">
                                  <a:latin typeface="Cambria Math" panose="02040503050406030204" pitchFamily="18" charset="0"/>
                                </a:rPr>
                                <m:t>𝑖𝑓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e>
                              <m:r>
                                <a:rPr lang="en-US" b="0" i="1" smtClean="0">
                                  <a:latin typeface="Cambria Math" panose="02040503050406030204" pitchFamily="18" charset="0"/>
                                </a:rPr>
                                <m:t>−1, </m:t>
                              </m:r>
                              <m:r>
                                <a:rPr lang="en-US" b="0" i="1" smtClean="0">
                                  <a:latin typeface="Cambria Math" panose="02040503050406030204" pitchFamily="18" charset="0"/>
                                </a:rPr>
                                <m:t>𝑖𝑓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eqArr>
                        </m:e>
                      </m:d>
                    </m:oMath>
                  </m:oMathPara>
                </a14:m>
                <a:endParaRPr lang="en-CN" dirty="0"/>
              </a:p>
            </p:txBody>
          </p:sp>
        </mc:Choice>
        <mc:Fallback xmlns="">
          <p:sp>
            <p:nvSpPr>
              <p:cNvPr id="6" name="TextBox 5">
                <a:extLst>
                  <a:ext uri="{FF2B5EF4-FFF2-40B4-BE49-F238E27FC236}">
                    <a16:creationId xmlns:a16="http://schemas.microsoft.com/office/drawing/2014/main" id="{5D13F57E-7D8B-9150-9BA0-71039E75A887}"/>
                  </a:ext>
                </a:extLst>
              </p:cNvPr>
              <p:cNvSpPr txBox="1">
                <a:spLocks noRot="1" noChangeAspect="1" noMove="1" noResize="1" noEditPoints="1" noAdjustHandles="1" noChangeArrowheads="1" noChangeShapeType="1" noTextEdit="1"/>
              </p:cNvSpPr>
              <p:nvPr/>
            </p:nvSpPr>
            <p:spPr>
              <a:xfrm>
                <a:off x="401782" y="2840174"/>
                <a:ext cx="4461162" cy="710194"/>
              </a:xfrm>
              <a:prstGeom prst="rect">
                <a:avLst/>
              </a:prstGeom>
              <a:blipFill>
                <a:blip r:embed="rId4"/>
                <a:stretch>
                  <a:fillRect t="-189474" b="-27719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3E5AD5D-067D-14F0-4301-16AF7D92CEA8}"/>
                  </a:ext>
                </a:extLst>
              </p:cNvPr>
              <p:cNvSpPr txBox="1"/>
              <p:nvPr/>
            </p:nvSpPr>
            <p:spPr>
              <a:xfrm>
                <a:off x="166253" y="4015424"/>
                <a:ext cx="5541818" cy="7973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2</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sub>
                        <m:sup/>
                        <m:e>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𝑁</m:t>
                                  </m:r>
                                  <m:r>
                                    <a:rPr lang="en-US" b="0" i="1" smtClean="0">
                                      <a:latin typeface="Cambria Math" panose="02040503050406030204" pitchFamily="18" charset="0"/>
                                    </a:rPr>
                                    <m:t>−1</m:t>
                                  </m:r>
                                </m:sub>
                              </m:sSub>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𝑁</m:t>
                                          </m:r>
                                          <m:r>
                                            <a:rPr lang="en-US" b="0" i="1" smtClean="0">
                                              <a:latin typeface="Cambria Math" panose="02040503050406030204" pitchFamily="18" charset="0"/>
                                            </a:rPr>
                                            <m:t>−1</m:t>
                                          </m:r>
                                        </m:sub>
                                      </m:sSub>
                                    </m:e>
                                  </m:d>
                                </m:sup>
                              </m:sSup>
                            </m:e>
                          </m:nary>
                        </m:e>
                      </m:nary>
                    </m:oMath>
                  </m:oMathPara>
                </a14:m>
                <a:endParaRPr lang="en-CN" dirty="0"/>
              </a:p>
            </p:txBody>
          </p:sp>
        </mc:Choice>
        <mc:Fallback xmlns="">
          <p:sp>
            <p:nvSpPr>
              <p:cNvPr id="8" name="TextBox 7">
                <a:extLst>
                  <a:ext uri="{FF2B5EF4-FFF2-40B4-BE49-F238E27FC236}">
                    <a16:creationId xmlns:a16="http://schemas.microsoft.com/office/drawing/2014/main" id="{83E5AD5D-067D-14F0-4301-16AF7D92CEA8}"/>
                  </a:ext>
                </a:extLst>
              </p:cNvPr>
              <p:cNvSpPr txBox="1">
                <a:spLocks noRot="1" noChangeAspect="1" noMove="1" noResize="1" noEditPoints="1" noAdjustHandles="1" noChangeArrowheads="1" noChangeShapeType="1" noTextEdit="1"/>
              </p:cNvSpPr>
              <p:nvPr/>
            </p:nvSpPr>
            <p:spPr>
              <a:xfrm>
                <a:off x="166253" y="4015424"/>
                <a:ext cx="5541818" cy="797334"/>
              </a:xfrm>
              <a:prstGeom prst="rect">
                <a:avLst/>
              </a:prstGeom>
              <a:blipFill>
                <a:blip r:embed="rId5"/>
                <a:stretch>
                  <a:fillRect t="-119048" b="-161905"/>
                </a:stretch>
              </a:blipFill>
            </p:spPr>
            <p:txBody>
              <a:bodyPr/>
              <a:lstStyle/>
              <a:p>
                <a:r>
                  <a:rPr lang="en-CN">
                    <a:noFill/>
                  </a:rPr>
                  <a:t> </a:t>
                </a:r>
              </a:p>
            </p:txBody>
          </p:sp>
        </mc:Fallback>
      </mc:AlternateContent>
      <p:sp>
        <p:nvSpPr>
          <p:cNvPr id="7" name="Down Arrow 6">
            <a:extLst>
              <a:ext uri="{FF2B5EF4-FFF2-40B4-BE49-F238E27FC236}">
                <a16:creationId xmlns:a16="http://schemas.microsoft.com/office/drawing/2014/main" id="{A8498FCF-E021-39FC-ECBF-B2E2801DAE5A}"/>
              </a:ext>
            </a:extLst>
          </p:cNvPr>
          <p:cNvSpPr/>
          <p:nvPr/>
        </p:nvSpPr>
        <p:spPr>
          <a:xfrm>
            <a:off x="2466109" y="4812758"/>
            <a:ext cx="346364" cy="5766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5D5531E-8208-EA4E-2370-6FBBCFEB259F}"/>
                  </a:ext>
                </a:extLst>
              </p:cNvPr>
              <p:cNvSpPr txBox="1"/>
              <p:nvPr/>
            </p:nvSpPr>
            <p:spPr>
              <a:xfrm>
                <a:off x="1136073" y="5666501"/>
                <a:ext cx="30757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𝑍</m:t>
                          </m:r>
                        </m:e>
                        <m:sub>
                          <m:r>
                            <a:rPr lang="en-US" b="0" i="1" smtClean="0">
                              <a:solidFill>
                                <a:srgbClr val="C00000"/>
                              </a:solidFill>
                              <a:latin typeface="Cambria Math" panose="02040503050406030204" pitchFamily="18" charset="0"/>
                            </a:rPr>
                            <m:t>𝑁</m:t>
                          </m:r>
                        </m:sub>
                      </m:sSub>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ea typeface="Cambria Math" panose="02040503050406030204" pitchFamily="18" charset="0"/>
                            </a:rPr>
                            <m:t>𝜏</m:t>
                          </m:r>
                        </m:e>
                      </m:d>
                      <m:r>
                        <a:rPr lang="en-US" b="0" i="1" smtClean="0">
                          <a:solidFill>
                            <a:srgbClr val="C00000"/>
                          </a:solidFill>
                          <a:latin typeface="Cambria Math" panose="02040503050406030204" pitchFamily="18" charset="0"/>
                        </a:rPr>
                        <m:t>=2 </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(2</m:t>
                          </m:r>
                          <m:func>
                            <m:funcPr>
                              <m:ctrlPr>
                                <a:rPr lang="en-US" b="0" i="1" smtClean="0">
                                  <a:solidFill>
                                    <a:srgbClr val="C00000"/>
                                  </a:solidFill>
                                  <a:latin typeface="Cambria Math" panose="02040503050406030204" pitchFamily="18" charset="0"/>
                                </a:rPr>
                              </m:ctrlPr>
                            </m:funcPr>
                            <m:fName>
                              <m:r>
                                <m:rPr>
                                  <m:sty m:val="p"/>
                                </m:rPr>
                                <a:rPr lang="en-US" b="0" i="0" smtClean="0">
                                  <a:solidFill>
                                    <a:srgbClr val="C00000"/>
                                  </a:solidFill>
                                  <a:latin typeface="Cambria Math" panose="02040503050406030204" pitchFamily="18" charset="0"/>
                                </a:rPr>
                                <m:t>cosh</m:t>
                              </m:r>
                            </m:fName>
                            <m:e>
                              <m:r>
                                <a:rPr lang="en-US" b="0" i="1" smtClean="0">
                                  <a:solidFill>
                                    <a:srgbClr val="C00000"/>
                                  </a:solidFill>
                                  <a:latin typeface="Cambria Math" panose="02040503050406030204" pitchFamily="18" charset="0"/>
                                </a:rPr>
                                <m:t>𝐾</m:t>
                              </m:r>
                            </m:e>
                          </m:func>
                          <m:r>
                            <a:rPr lang="en-US" b="0" i="1" smtClean="0">
                              <a:solidFill>
                                <a:srgbClr val="C00000"/>
                              </a:solidFill>
                              <a:latin typeface="Cambria Math" panose="02040503050406030204" pitchFamily="18" charset="0"/>
                            </a:rPr>
                            <m:t>)</m:t>
                          </m:r>
                        </m:e>
                        <m:sup>
                          <m:r>
                            <a:rPr lang="en-US" b="0" i="1" smtClean="0">
                              <a:solidFill>
                                <a:srgbClr val="C00000"/>
                              </a:solidFill>
                              <a:latin typeface="Cambria Math" panose="02040503050406030204" pitchFamily="18" charset="0"/>
                            </a:rPr>
                            <m:t>𝑁</m:t>
                          </m:r>
                          <m:r>
                            <a:rPr lang="en-US" b="0" i="1" smtClean="0">
                              <a:solidFill>
                                <a:srgbClr val="C00000"/>
                              </a:solidFill>
                              <a:latin typeface="Cambria Math" panose="02040503050406030204" pitchFamily="18" charset="0"/>
                            </a:rPr>
                            <m:t>−1</m:t>
                          </m:r>
                        </m:sup>
                      </m:sSup>
                    </m:oMath>
                  </m:oMathPara>
                </a14:m>
                <a:endParaRPr lang="en-CN" dirty="0"/>
              </a:p>
            </p:txBody>
          </p:sp>
        </mc:Choice>
        <mc:Fallback xmlns="">
          <p:sp>
            <p:nvSpPr>
              <p:cNvPr id="9" name="TextBox 8">
                <a:extLst>
                  <a:ext uri="{FF2B5EF4-FFF2-40B4-BE49-F238E27FC236}">
                    <a16:creationId xmlns:a16="http://schemas.microsoft.com/office/drawing/2014/main" id="{D5D5531E-8208-EA4E-2370-6FBBCFEB259F}"/>
                  </a:ext>
                </a:extLst>
              </p:cNvPr>
              <p:cNvSpPr txBox="1">
                <a:spLocks noRot="1" noChangeAspect="1" noMove="1" noResize="1" noEditPoints="1" noAdjustHandles="1" noChangeArrowheads="1" noChangeShapeType="1" noTextEdit="1"/>
              </p:cNvSpPr>
              <p:nvPr/>
            </p:nvSpPr>
            <p:spPr>
              <a:xfrm>
                <a:off x="1136073" y="5666501"/>
                <a:ext cx="3075709" cy="369332"/>
              </a:xfrm>
              <a:prstGeom prst="rect">
                <a:avLst/>
              </a:prstGeom>
              <a:blipFill>
                <a:blip r:embed="rId6"/>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6C5EAB-E881-DC6A-EEF1-B6E99DE2949F}"/>
                  </a:ext>
                </a:extLst>
              </p:cNvPr>
              <p:cNvSpPr txBox="1"/>
              <p:nvPr/>
            </p:nvSpPr>
            <p:spPr>
              <a:xfrm>
                <a:off x="6373091" y="834879"/>
                <a:ext cx="5541818" cy="7973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𝑁</m:t>
                                  </m:r>
                                </m:sub>
                              </m:sSub>
                              <m:r>
                                <m:rPr>
                                  <m:brk m:alnAt="7"/>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p>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r>
                                                <a:rPr lang="en-US" i="1">
                                                  <a:latin typeface="Cambria Math" panose="02040503050406030204" pitchFamily="18" charset="0"/>
                                                </a:rPr>
                                                <m:t>+1</m:t>
                                              </m:r>
                                            </m:sub>
                                          </m:sSub>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𝐾</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𝑆</m:t>
                                          </m:r>
                                        </m:e>
                                        <m:sub>
                                          <m:r>
                                            <a:rPr lang="en-US" b="0" i="1" smtClean="0">
                                              <a:solidFill>
                                                <a:srgbClr val="FF0000"/>
                                              </a:solidFill>
                                              <a:latin typeface="Cambria Math" panose="02040503050406030204" pitchFamily="18" charset="0"/>
                                              <a:ea typeface="Cambria Math" panose="02040503050406030204" pitchFamily="18" charset="0"/>
                                            </a:rPr>
                                            <m:t>𝑁</m:t>
                                          </m:r>
                                        </m:sub>
                                      </m:sSub>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𝑆</m:t>
                                          </m:r>
                                        </m:e>
                                        <m:sub>
                                          <m:r>
                                            <a:rPr lang="en-US" b="0" i="1" smtClean="0">
                                              <a:solidFill>
                                                <a:srgbClr val="FF0000"/>
                                              </a:solidFill>
                                              <a:latin typeface="Cambria Math" panose="02040503050406030204" pitchFamily="18" charset="0"/>
                                              <a:ea typeface="Cambria Math" panose="02040503050406030204" pitchFamily="18" charset="0"/>
                                            </a:rPr>
                                            <m:t>1</m:t>
                                          </m:r>
                                        </m:sub>
                                      </m:sSub>
                                    </m:e>
                                  </m:nary>
                                </m:sup>
                              </m:sSup>
                            </m:e>
                          </m:nary>
                        </m:e>
                      </m:nary>
                    </m:oMath>
                  </m:oMathPara>
                </a14:m>
                <a:endParaRPr lang="en-CN" dirty="0"/>
              </a:p>
            </p:txBody>
          </p:sp>
        </mc:Choice>
        <mc:Fallback xmlns="">
          <p:sp>
            <p:nvSpPr>
              <p:cNvPr id="11" name="TextBox 10">
                <a:extLst>
                  <a:ext uri="{FF2B5EF4-FFF2-40B4-BE49-F238E27FC236}">
                    <a16:creationId xmlns:a16="http://schemas.microsoft.com/office/drawing/2014/main" id="{CE6C5EAB-E881-DC6A-EEF1-B6E99DE2949F}"/>
                  </a:ext>
                </a:extLst>
              </p:cNvPr>
              <p:cNvSpPr txBox="1">
                <a:spLocks noRot="1" noChangeAspect="1" noMove="1" noResize="1" noEditPoints="1" noAdjustHandles="1" noChangeArrowheads="1" noChangeShapeType="1" noTextEdit="1"/>
              </p:cNvSpPr>
              <p:nvPr/>
            </p:nvSpPr>
            <p:spPr>
              <a:xfrm>
                <a:off x="6373091" y="834879"/>
                <a:ext cx="5541818" cy="797334"/>
              </a:xfrm>
              <a:prstGeom prst="rect">
                <a:avLst/>
              </a:prstGeom>
              <a:blipFill>
                <a:blip r:embed="rId7"/>
                <a:stretch>
                  <a:fillRect t="-117188" b="-1578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D76D98-2AC4-F82E-6C34-7D90CAC9FE41}"/>
                  </a:ext>
                </a:extLst>
              </p:cNvPr>
              <p:cNvSpPr txBox="1"/>
              <p:nvPr/>
            </p:nvSpPr>
            <p:spPr>
              <a:xfrm>
                <a:off x="7384472" y="1955422"/>
                <a:ext cx="4807528" cy="369332"/>
              </a:xfrm>
              <a:prstGeom prst="rect">
                <a:avLst/>
              </a:prstGeom>
              <a:noFill/>
            </p:spPr>
            <p:txBody>
              <a:bodyPr wrap="square" rtlCol="0">
                <a:spAutoFit/>
              </a:bodyPr>
              <a:lstStyle/>
              <a:p>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sSub>
                      <m:sSubPr>
                        <m:ctrlPr>
                          <a:rPr lang="en-CN"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𝑆</m:t>
                        </m:r>
                      </m:e>
                      <m:sub>
                        <m:r>
                          <a:rPr lang="en-US" b="0" i="1" smtClean="0">
                            <a:solidFill>
                              <a:srgbClr val="C00000"/>
                            </a:solidFill>
                            <a:latin typeface="Cambria Math" panose="02040503050406030204" pitchFamily="18" charset="0"/>
                            <a:ea typeface="Cambria Math" panose="02040503050406030204" pitchFamily="18" charset="0"/>
                          </a:rPr>
                          <m:t>2</m:t>
                        </m:r>
                      </m:sub>
                    </m:sSub>
                    <m:r>
                      <a:rPr lang="en-US" b="0" i="1" smtClean="0">
                        <a:solidFill>
                          <a:srgbClr val="C00000"/>
                        </a:solidFill>
                        <a:latin typeface="Cambria Math" panose="02040503050406030204" pitchFamily="18" charset="0"/>
                        <a:ea typeface="Cambria Math" panose="02040503050406030204" pitchFamily="18" charset="0"/>
                      </a:rPr>
                      <m:t>∙</m:t>
                    </m:r>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𝑆</m:t>
                        </m:r>
                      </m:e>
                      <m:sub>
                        <m:r>
                          <a:rPr lang="en-US" b="0" i="1" smtClean="0">
                            <a:solidFill>
                              <a:srgbClr val="C00000"/>
                            </a:solidFill>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smtClean="0">
                            <a:solidFill>
                              <a:srgbClr val="7030A0"/>
                            </a:solidFill>
                            <a:latin typeface="Cambria Math" panose="02040503050406030204" pitchFamily="18" charset="0"/>
                            <a:ea typeface="Cambria Math" panose="02040503050406030204" pitchFamily="18" charset="0"/>
                          </a:rPr>
                        </m:ctrlPr>
                      </m:sSubPr>
                      <m:e>
                        <m:r>
                          <a:rPr lang="en-US" i="1">
                            <a:solidFill>
                              <a:srgbClr val="7030A0"/>
                            </a:solidFill>
                            <a:latin typeface="Cambria Math" panose="02040503050406030204" pitchFamily="18" charset="0"/>
                            <a:ea typeface="Cambria Math" panose="02040503050406030204" pitchFamily="18" charset="0"/>
                          </a:rPr>
                          <m:t>𝑆</m:t>
                        </m:r>
                      </m:e>
                      <m:sub>
                        <m:r>
                          <a:rPr lang="en-US" b="0" i="1" smtClean="0">
                            <a:solidFill>
                              <a:srgbClr val="7030A0"/>
                            </a:solidFill>
                            <a:latin typeface="Cambria Math" panose="02040503050406030204" pitchFamily="18" charset="0"/>
                            <a:ea typeface="Cambria Math" panose="02040503050406030204" pitchFamily="18" charset="0"/>
                          </a:rPr>
                          <m:t>3</m:t>
                        </m:r>
                      </m:sub>
                    </m:sSub>
                    <m:r>
                      <a:rPr lang="en-US" i="1">
                        <a:solidFill>
                          <a:srgbClr val="7030A0"/>
                        </a:solidFill>
                        <a:latin typeface="Cambria Math" panose="02040503050406030204" pitchFamily="18" charset="0"/>
                        <a:ea typeface="Cambria Math" panose="02040503050406030204" pitchFamily="18" charset="0"/>
                      </a:rPr>
                      <m:t>∙</m:t>
                    </m:r>
                    <m:sSub>
                      <m:sSubPr>
                        <m:ctrlPr>
                          <a:rPr lang="en-US" i="1">
                            <a:solidFill>
                              <a:srgbClr val="7030A0"/>
                            </a:solidFill>
                            <a:latin typeface="Cambria Math" panose="02040503050406030204" pitchFamily="18" charset="0"/>
                            <a:ea typeface="Cambria Math" panose="02040503050406030204" pitchFamily="18" charset="0"/>
                          </a:rPr>
                        </m:ctrlPr>
                      </m:sSubPr>
                      <m:e>
                        <m:r>
                          <a:rPr lang="en-US" i="1">
                            <a:solidFill>
                              <a:srgbClr val="7030A0"/>
                            </a:solidFill>
                            <a:latin typeface="Cambria Math" panose="02040503050406030204" pitchFamily="18" charset="0"/>
                            <a:ea typeface="Cambria Math" panose="02040503050406030204" pitchFamily="18" charset="0"/>
                          </a:rPr>
                          <m:t>𝑆</m:t>
                        </m:r>
                      </m:e>
                      <m:sub>
                        <m:r>
                          <a:rPr lang="en-US" b="0" i="1" smtClean="0">
                            <a:solidFill>
                              <a:srgbClr val="7030A0"/>
                            </a:solidFill>
                            <a:latin typeface="Cambria Math" panose="02040503050406030204" pitchFamily="18" charset="0"/>
                            <a:ea typeface="Cambria Math" panose="02040503050406030204" pitchFamily="18" charset="0"/>
                          </a:rPr>
                          <m:t>3</m:t>
                        </m:r>
                      </m:sub>
                    </m:sSub>
                    <m:r>
                      <a:rPr lang="en-US" i="1" smtClean="0">
                        <a:latin typeface="Cambria Math" panose="02040503050406030204" pitchFamily="18" charset="0"/>
                        <a:ea typeface="Cambria Math" panose="02040503050406030204" pitchFamily="18" charset="0"/>
                      </a:rPr>
                      <m:t>∙∙∙</m:t>
                    </m:r>
                    <m:sSub>
                      <m:sSubPr>
                        <m:ctrlPr>
                          <a:rPr lang="en-US"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i="1">
                            <a:solidFill>
                              <a:schemeClr val="accent6">
                                <a:lumMod val="50000"/>
                              </a:schemeClr>
                            </a:solidFill>
                            <a:latin typeface="Cambria Math" panose="02040503050406030204" pitchFamily="18" charset="0"/>
                            <a:ea typeface="Cambria Math" panose="02040503050406030204" pitchFamily="18" charset="0"/>
                          </a:rPr>
                          <m:t>𝑆</m:t>
                        </m:r>
                      </m:e>
                      <m:sub>
                        <m:r>
                          <a:rPr lang="en-US" b="0" i="1" smtClean="0">
                            <a:solidFill>
                              <a:schemeClr val="accent6">
                                <a:lumMod val="50000"/>
                              </a:schemeClr>
                            </a:solidFill>
                            <a:latin typeface="Cambria Math" panose="02040503050406030204" pitchFamily="18" charset="0"/>
                            <a:ea typeface="Cambria Math" panose="02040503050406030204" pitchFamily="18" charset="0"/>
                          </a:rPr>
                          <m:t>𝑁</m:t>
                        </m:r>
                        <m:r>
                          <a:rPr lang="en-US"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i="1">
                        <a:solidFill>
                          <a:schemeClr val="accent6">
                            <a:lumMod val="50000"/>
                          </a:schemeClr>
                        </a:solidFill>
                        <a:latin typeface="Cambria Math" panose="02040503050406030204" pitchFamily="18" charset="0"/>
                        <a:ea typeface="Cambria Math" panose="02040503050406030204" pitchFamily="18" charset="0"/>
                      </a:rPr>
                      <m:t>∙</m:t>
                    </m:r>
                    <m:sSub>
                      <m:sSubPr>
                        <m:ctrlPr>
                          <a:rPr lang="en-US" i="1">
                            <a:solidFill>
                              <a:schemeClr val="accent6">
                                <a:lumMod val="50000"/>
                              </a:schemeClr>
                            </a:solidFill>
                            <a:latin typeface="Cambria Math" panose="02040503050406030204" pitchFamily="18" charset="0"/>
                            <a:ea typeface="Cambria Math" panose="02040503050406030204" pitchFamily="18" charset="0"/>
                          </a:rPr>
                        </m:ctrlPr>
                      </m:sSubPr>
                      <m:e>
                        <m:r>
                          <a:rPr lang="en-US" i="1">
                            <a:solidFill>
                              <a:schemeClr val="accent6">
                                <a:lumMod val="50000"/>
                              </a:schemeClr>
                            </a:solidFill>
                            <a:latin typeface="Cambria Math" panose="02040503050406030204" pitchFamily="18" charset="0"/>
                            <a:ea typeface="Cambria Math" panose="02040503050406030204" pitchFamily="18" charset="0"/>
                          </a:rPr>
                          <m:t>𝑆</m:t>
                        </m:r>
                      </m:e>
                      <m:sub>
                        <m:r>
                          <a:rPr lang="en-US" b="0" i="1" smtClean="0">
                            <a:solidFill>
                              <a:schemeClr val="accent6">
                                <a:lumMod val="50000"/>
                              </a:schemeClr>
                            </a:solidFill>
                            <a:latin typeface="Cambria Math" panose="02040503050406030204" pitchFamily="18" charset="0"/>
                            <a:ea typeface="Cambria Math" panose="02040503050406030204" pitchFamily="18" charset="0"/>
                          </a:rPr>
                          <m:t>𝑁</m:t>
                        </m:r>
                        <m:r>
                          <a:rPr lang="en-US"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𝑁</m:t>
                        </m:r>
                      </m:sub>
                    </m:sSub>
                  </m:oMath>
                </a14:m>
                <a:endParaRPr lang="en-CN" dirty="0"/>
              </a:p>
            </p:txBody>
          </p:sp>
        </mc:Choice>
        <mc:Fallback xmlns="">
          <p:sp>
            <p:nvSpPr>
              <p:cNvPr id="10" name="TextBox 9">
                <a:extLst>
                  <a:ext uri="{FF2B5EF4-FFF2-40B4-BE49-F238E27FC236}">
                    <a16:creationId xmlns:a16="http://schemas.microsoft.com/office/drawing/2014/main" id="{F7D76D98-2AC4-F82E-6C34-7D90CAC9FE41}"/>
                  </a:ext>
                </a:extLst>
              </p:cNvPr>
              <p:cNvSpPr txBox="1">
                <a:spLocks noRot="1" noChangeAspect="1" noMove="1" noResize="1" noEditPoints="1" noAdjustHandles="1" noChangeArrowheads="1" noChangeShapeType="1" noTextEdit="1"/>
              </p:cNvSpPr>
              <p:nvPr/>
            </p:nvSpPr>
            <p:spPr>
              <a:xfrm>
                <a:off x="7384472" y="1955422"/>
                <a:ext cx="4807528" cy="369332"/>
              </a:xfrm>
              <a:prstGeom prst="rect">
                <a:avLst/>
              </a:prstGeom>
              <a:blipFill>
                <a:blip r:embed="rId8"/>
                <a:stretch>
                  <a:fillRect t="-10345" b="-3103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8EED2A6-35D5-ECDA-0C16-3DE7943F9D0E}"/>
                  </a:ext>
                </a:extLst>
              </p:cNvPr>
              <p:cNvSpPr txBox="1"/>
              <p:nvPr/>
            </p:nvSpPr>
            <p:spPr>
              <a:xfrm>
                <a:off x="5874327" y="2647603"/>
                <a:ext cx="6539345" cy="3477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2</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sub>
                        <m:sup/>
                        <m:e>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𝑁</m:t>
                                  </m:r>
                                  <m:r>
                                    <a:rPr lang="en-US" b="0" i="1" smtClean="0">
                                      <a:latin typeface="Cambria Math" panose="02040503050406030204" pitchFamily="18" charset="0"/>
                                    </a:rPr>
                                    <m:t>−1</m:t>
                                  </m:r>
                                </m:sub>
                              </m:sSub>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𝑁</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𝐾</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𝑁</m:t>
                                      </m:r>
                                      <m:r>
                                        <a:rPr lang="en-US" i="1">
                                          <a:latin typeface="Cambria Math" panose="02040503050406030204" pitchFamily="18" charset="0"/>
                                        </a:rPr>
                                        <m:t>−1</m:t>
                                      </m:r>
                                    </m:sub>
                                  </m:sSub>
                                </m:sup>
                              </m:sSup>
                            </m:e>
                          </m:nary>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solidFill>
                            <a:srgbClr val="C00000"/>
                          </a:solidFill>
                          <a:latin typeface="Cambria Math" panose="02040503050406030204" pitchFamily="18" charset="0"/>
                        </a:rPr>
                        <m:t>2</m:t>
                      </m:r>
                      <m:nary>
                        <m:naryPr>
                          <m:chr m:val="∑"/>
                          <m:supHide m:val="on"/>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sub>
                        <m:sup/>
                        <m:e>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𝑁</m:t>
                                  </m:r>
                                  <m:r>
                                    <a:rPr lang="en-US" i="1">
                                      <a:latin typeface="Cambria Math" panose="02040503050406030204" pitchFamily="18" charset="0"/>
                                    </a:rPr>
                                    <m:t>−1</m:t>
                                  </m:r>
                                </m:sub>
                              </m:sSub>
                            </m:sub>
                            <m:sup/>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𝐾</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𝑁</m:t>
                                          </m:r>
                                          <m:r>
                                            <a:rPr lang="en-US" i="1">
                                              <a:latin typeface="Cambria Math" panose="02040503050406030204" pitchFamily="18" charset="0"/>
                                            </a:rPr>
                                            <m:t>−1</m:t>
                                          </m:r>
                                        </m:sub>
                                      </m:sSub>
                                    </m:e>
                                  </m:d>
                                </m:sup>
                              </m:sSup>
                            </m:e>
                          </m:nary>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m:t>
                              </m:r>
                            </m:sup>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m:t>
                                  </m:r>
                                </m:den>
                              </m:f>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i="1">
                                          <a:latin typeface="Cambria Math" panose="02040503050406030204" pitchFamily="18" charset="0"/>
                                        </a:rPr>
                                        <m:t>𝐾</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𝑁</m:t>
                                          </m:r>
                                          <m:r>
                                            <a:rPr lang="en-US" i="1">
                                              <a:latin typeface="Cambria Math" panose="02040503050406030204" pitchFamily="18" charset="0"/>
                                            </a:rPr>
                                            <m:t>−1</m:t>
                                          </m:r>
                                        </m:sub>
                                      </m:sSub>
                                    </m:e>
                                  </m:d>
                                </m:e>
                                <m:sup>
                                  <m:r>
                                    <a:rPr lang="en-US" b="0" i="1" smtClean="0">
                                      <a:latin typeface="Cambria Math" panose="02040503050406030204" pitchFamily="18" charset="0"/>
                                    </a:rPr>
                                    <m:t>𝑛</m:t>
                                  </m:r>
                                </m:sup>
                              </m:sSup>
                            </m:e>
                          </m:nary>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𝑛</m:t>
                                  </m:r>
                                </m:sup>
                              </m:sSup>
                            </m:num>
                            <m:den>
                              <m:r>
                                <a:rPr lang="en-US" b="0" i="1" smtClean="0">
                                  <a:latin typeface="Cambria Math" panose="02040503050406030204" pitchFamily="18" charset="0"/>
                                </a:rPr>
                                <m:t>𝑛</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𝜎</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𝑛</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𝜎</m:t>
                                          </m:r>
                                        </m:sup>
                                      </m:sSup>
                                    </m:e>
                                  </m:nary>
                                </m:e>
                              </m:d>
                            </m:e>
                            <m:sup>
                              <m:r>
                                <a:rPr lang="en-US" b="0" i="1" smtClean="0">
                                  <a:latin typeface="Cambria Math" panose="02040503050406030204" pitchFamily="18" charset="0"/>
                                </a:rPr>
                                <m:t>𝑁</m:t>
                              </m:r>
                              <m:r>
                                <a:rPr lang="en-US" b="0" i="1" smtClean="0">
                                  <a:latin typeface="Cambria Math" panose="02040503050406030204" pitchFamily="18" charset="0"/>
                                </a:rPr>
                                <m:t>−1</m:t>
                              </m:r>
                            </m:sup>
                          </m:sSup>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𝑛</m:t>
                                  </m:r>
                                </m:sup>
                              </m:sSup>
                            </m:num>
                            <m:den>
                              <m:r>
                                <a:rPr lang="en-US" i="1">
                                  <a:latin typeface="Cambria Math" panose="02040503050406030204" pitchFamily="18" charset="0"/>
                                </a:rPr>
                                <m:t>𝑛</m:t>
                              </m:r>
                              <m:r>
                                <a:rPr lang="en-US" i="1">
                                  <a:latin typeface="Cambria Math" panose="02040503050406030204" pitchFamily="18" charset="0"/>
                                </a:rPr>
                                <m:t>!</m:t>
                              </m:r>
                            </m:den>
                          </m:f>
                        </m:e>
                      </m:nary>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𝐾</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𝑛</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𝐾</m:t>
                                  </m:r>
                                </m:sup>
                              </m:sSup>
                            </m:e>
                          </m:d>
                        </m:e>
                        <m:sup>
                          <m:r>
                            <a:rPr lang="en-US" b="0" i="1" smtClean="0">
                              <a:latin typeface="Cambria Math" panose="02040503050406030204" pitchFamily="18" charset="0"/>
                            </a:rPr>
                            <m:t>𝑁</m:t>
                          </m:r>
                          <m:r>
                            <a:rPr lang="en-US" b="0" i="1" smtClean="0">
                              <a:latin typeface="Cambria Math" panose="02040503050406030204" pitchFamily="18" charset="0"/>
                            </a:rPr>
                            <m:t>−1</m:t>
                          </m:r>
                        </m:sup>
                      </m:sSup>
                    </m:oMath>
                  </m:oMathPara>
                </a14:m>
                <a:endParaRPr lang="en-CN" dirty="0"/>
              </a:p>
              <a:p>
                <a:pPr algn="ctr"/>
                <a14:m>
                  <m:oMath xmlns:m="http://schemas.openxmlformats.org/officeDocument/2006/math">
                    <m:r>
                      <a:rPr lang="en-US" b="0" i="1" smtClean="0">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2</m:t>
                            </m:r>
                            <m:func>
                              <m:funcPr>
                                <m:ctrlPr>
                                  <a:rPr lang="en-US" b="0" i="1" smtClean="0">
                                    <a:solidFill>
                                      <a:srgbClr val="C00000"/>
                                    </a:solidFill>
                                    <a:latin typeface="Cambria Math" panose="02040503050406030204" pitchFamily="18" charset="0"/>
                                  </a:rPr>
                                </m:ctrlPr>
                              </m:funcPr>
                              <m:fName>
                                <m:r>
                                  <m:rPr>
                                    <m:sty m:val="p"/>
                                  </m:rPr>
                                  <a:rPr lang="en-US" b="0" i="0" smtClean="0">
                                    <a:solidFill>
                                      <a:srgbClr val="C00000"/>
                                    </a:solidFill>
                                    <a:latin typeface="Cambria Math" panose="02040503050406030204" pitchFamily="18" charset="0"/>
                                  </a:rPr>
                                  <m:t>cosh</m:t>
                                </m:r>
                              </m:fName>
                              <m:e>
                                <m:r>
                                  <a:rPr lang="en-US" b="0" i="1" smtClean="0">
                                    <a:solidFill>
                                      <a:srgbClr val="C00000"/>
                                    </a:solidFill>
                                    <a:latin typeface="Cambria Math" panose="02040503050406030204" pitchFamily="18" charset="0"/>
                                  </a:rPr>
                                  <m:t>𝐾</m:t>
                                </m:r>
                              </m:e>
                            </m:func>
                          </m:e>
                        </m:d>
                      </m:e>
                      <m:sup>
                        <m:r>
                          <a:rPr lang="en-US" b="0" i="1" smtClean="0">
                            <a:solidFill>
                              <a:srgbClr val="C00000"/>
                            </a:solidFill>
                            <a:latin typeface="Cambria Math" panose="02040503050406030204" pitchFamily="18" charset="0"/>
                          </a:rPr>
                          <m:t>𝑁</m:t>
                        </m:r>
                      </m:sup>
                    </m:sSup>
                    <m:r>
                      <a:rPr lang="en-US" b="0" i="1" smtClean="0">
                        <a:solidFill>
                          <a:srgbClr val="C00000"/>
                        </a:solidFill>
                        <a:latin typeface="Cambria Math" panose="02040503050406030204" pitchFamily="18" charset="0"/>
                      </a:rPr>
                      <m:t>+</m:t>
                    </m:r>
                  </m:oMath>
                </a14:m>
                <a:r>
                  <a:rPr lang="en-US" dirty="0">
                    <a:solidFill>
                      <a:srgbClr val="C00000"/>
                    </a:solidFill>
                  </a:rPr>
                  <a:t> </a:t>
                </a:r>
                <a14:m>
                  <m:oMath xmlns:m="http://schemas.openxmlformats.org/officeDocument/2006/math">
                    <m:sSup>
                      <m:sSupPr>
                        <m:ctrlPr>
                          <a:rPr lang="en-US" i="1">
                            <a:solidFill>
                              <a:srgbClr val="C00000"/>
                            </a:solidFill>
                            <a:latin typeface="Cambria Math" panose="02040503050406030204" pitchFamily="18" charset="0"/>
                          </a:rPr>
                        </m:ctrlPr>
                      </m:sSupPr>
                      <m:e>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2</m:t>
                            </m:r>
                            <m:func>
                              <m:funcPr>
                                <m:ctrlPr>
                                  <a:rPr lang="en-US" i="1">
                                    <a:solidFill>
                                      <a:srgbClr val="C00000"/>
                                    </a:solidFill>
                                    <a:latin typeface="Cambria Math" panose="02040503050406030204" pitchFamily="18" charset="0"/>
                                  </a:rPr>
                                </m:ctrlPr>
                              </m:funcPr>
                              <m:fName>
                                <m:r>
                                  <m:rPr>
                                    <m:sty m:val="p"/>
                                  </m:rPr>
                                  <a:rPr lang="en-US" b="0" i="0" smtClean="0">
                                    <a:solidFill>
                                      <a:srgbClr val="C00000"/>
                                    </a:solidFill>
                                    <a:latin typeface="Cambria Math" panose="02040503050406030204" pitchFamily="18" charset="0"/>
                                  </a:rPr>
                                  <m:t>sinh</m:t>
                                </m:r>
                              </m:fName>
                              <m:e>
                                <m:r>
                                  <a:rPr lang="en-US" i="1">
                                    <a:solidFill>
                                      <a:srgbClr val="C00000"/>
                                    </a:solidFill>
                                    <a:latin typeface="Cambria Math" panose="02040503050406030204" pitchFamily="18" charset="0"/>
                                  </a:rPr>
                                  <m:t>𝐾</m:t>
                                </m:r>
                              </m:e>
                            </m:func>
                          </m:e>
                        </m:d>
                      </m:e>
                      <m:sup>
                        <m:r>
                          <a:rPr lang="en-US" i="1">
                            <a:solidFill>
                              <a:srgbClr val="C00000"/>
                            </a:solidFill>
                            <a:latin typeface="Cambria Math" panose="02040503050406030204" pitchFamily="18" charset="0"/>
                          </a:rPr>
                          <m:t>𝑁</m:t>
                        </m:r>
                      </m:sup>
                    </m:sSup>
                  </m:oMath>
                </a14:m>
                <a:endParaRPr lang="en-CN" dirty="0"/>
              </a:p>
            </p:txBody>
          </p:sp>
        </mc:Choice>
        <mc:Fallback xmlns="">
          <p:sp>
            <p:nvSpPr>
              <p:cNvPr id="13" name="TextBox 12">
                <a:extLst>
                  <a:ext uri="{FF2B5EF4-FFF2-40B4-BE49-F238E27FC236}">
                    <a16:creationId xmlns:a16="http://schemas.microsoft.com/office/drawing/2014/main" id="{D8EED2A6-35D5-ECDA-0C16-3DE7943F9D0E}"/>
                  </a:ext>
                </a:extLst>
              </p:cNvPr>
              <p:cNvSpPr txBox="1">
                <a:spLocks noRot="1" noChangeAspect="1" noMove="1" noResize="1" noEditPoints="1" noAdjustHandles="1" noChangeArrowheads="1" noChangeShapeType="1" noTextEdit="1"/>
              </p:cNvSpPr>
              <p:nvPr/>
            </p:nvSpPr>
            <p:spPr>
              <a:xfrm>
                <a:off x="5874327" y="2647603"/>
                <a:ext cx="6539345" cy="3477555"/>
              </a:xfrm>
              <a:prstGeom prst="rect">
                <a:avLst/>
              </a:prstGeom>
              <a:blipFill>
                <a:blip r:embed="rId9"/>
                <a:stretch>
                  <a:fillRect t="-27273" b="-27273"/>
                </a:stretch>
              </a:blipFill>
            </p:spPr>
            <p:txBody>
              <a:bodyPr/>
              <a:lstStyle/>
              <a:p>
                <a:r>
                  <a:rPr lang="en-CN">
                    <a:noFill/>
                  </a:rPr>
                  <a:t> </a:t>
                </a:r>
              </a:p>
            </p:txBody>
          </p:sp>
        </mc:Fallback>
      </mc:AlternateContent>
      <p:cxnSp>
        <p:nvCxnSpPr>
          <p:cNvPr id="15" name="Straight Connector 14">
            <a:extLst>
              <a:ext uri="{FF2B5EF4-FFF2-40B4-BE49-F238E27FC236}">
                <a16:creationId xmlns:a16="http://schemas.microsoft.com/office/drawing/2014/main" id="{33A185E7-A346-3FB5-11D7-D2234122F67B}"/>
              </a:ext>
            </a:extLst>
          </p:cNvPr>
          <p:cNvCxnSpPr>
            <a:cxnSpLocks/>
          </p:cNvCxnSpPr>
          <p:nvPr/>
        </p:nvCxnSpPr>
        <p:spPr>
          <a:xfrm>
            <a:off x="5846616" y="1210086"/>
            <a:ext cx="0" cy="4428714"/>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ED8D901-8283-7AFF-0F29-0608DEB344BF}"/>
              </a:ext>
            </a:extLst>
          </p:cNvPr>
          <p:cNvSpPr txBox="1"/>
          <p:nvPr/>
        </p:nvSpPr>
        <p:spPr>
          <a:xfrm>
            <a:off x="166253" y="369823"/>
            <a:ext cx="2050474" cy="369332"/>
          </a:xfrm>
          <a:prstGeom prst="rect">
            <a:avLst/>
          </a:prstGeom>
          <a:noFill/>
        </p:spPr>
        <p:txBody>
          <a:bodyPr wrap="square" rtlCol="0">
            <a:spAutoFit/>
          </a:bodyPr>
          <a:lstStyle/>
          <a:p>
            <a:r>
              <a:rPr lang="en-CN" dirty="0">
                <a:solidFill>
                  <a:srgbClr val="C00000"/>
                </a:solidFill>
                <a:latin typeface="FangSong" panose="02010609060101010101" pitchFamily="49" charset="-122"/>
                <a:ea typeface="FangSong" panose="02010609060101010101" pitchFamily="49" charset="-122"/>
              </a:rPr>
              <a:t>自由</a:t>
            </a:r>
          </a:p>
        </p:txBody>
      </p:sp>
      <p:sp>
        <p:nvSpPr>
          <p:cNvPr id="17" name="TextBox 16">
            <a:extLst>
              <a:ext uri="{FF2B5EF4-FFF2-40B4-BE49-F238E27FC236}">
                <a16:creationId xmlns:a16="http://schemas.microsoft.com/office/drawing/2014/main" id="{CB89AD06-5E57-929B-DB7B-1207D8961D4A}"/>
              </a:ext>
            </a:extLst>
          </p:cNvPr>
          <p:cNvSpPr txBox="1"/>
          <p:nvPr/>
        </p:nvSpPr>
        <p:spPr>
          <a:xfrm>
            <a:off x="10113815" y="377355"/>
            <a:ext cx="2050474" cy="369332"/>
          </a:xfrm>
          <a:prstGeom prst="rect">
            <a:avLst/>
          </a:prstGeom>
          <a:noFill/>
        </p:spPr>
        <p:txBody>
          <a:bodyPr wrap="square" rtlCol="0">
            <a:spAutoFit/>
          </a:bodyPr>
          <a:lstStyle/>
          <a:p>
            <a:pPr algn="r"/>
            <a:r>
              <a:rPr lang="en-CN" dirty="0">
                <a:solidFill>
                  <a:srgbClr val="C00000"/>
                </a:solidFill>
                <a:latin typeface="FangSong" panose="02010609060101010101" pitchFamily="49" charset="-122"/>
                <a:ea typeface="FangSong" panose="02010609060101010101" pitchFamily="49" charset="-122"/>
              </a:rPr>
              <a:t>周期</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C87E3C0-A6AA-C417-11CB-32E4131065A0}"/>
                  </a:ext>
                </a:extLst>
              </p:cNvPr>
              <p:cNvSpPr txBox="1"/>
              <p:nvPr/>
            </p:nvSpPr>
            <p:spPr>
              <a:xfrm>
                <a:off x="4682835" y="6276109"/>
                <a:ext cx="3990109"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oMath>
                </a14:m>
                <a:r>
                  <a:rPr lang="zh-CN" altLang="en-US" dirty="0">
                    <a:latin typeface="FangSong" panose="02010609060101010101" pitchFamily="49" charset="-122"/>
                    <a:ea typeface="FangSong" panose="02010609060101010101" pitchFamily="49" charset="-122"/>
                  </a:rPr>
                  <a:t>，和边界无关</a:t>
                </a:r>
                <a:endParaRPr lang="en-CN" dirty="0">
                  <a:latin typeface="FangSong" panose="02010609060101010101" pitchFamily="49" charset="-122"/>
                  <a:ea typeface="FangSong" panose="02010609060101010101" pitchFamily="49" charset="-122"/>
                </a:endParaRPr>
              </a:p>
            </p:txBody>
          </p:sp>
        </mc:Choice>
        <mc:Fallback xmlns="">
          <p:sp>
            <p:nvSpPr>
              <p:cNvPr id="14" name="TextBox 13">
                <a:extLst>
                  <a:ext uri="{FF2B5EF4-FFF2-40B4-BE49-F238E27FC236}">
                    <a16:creationId xmlns:a16="http://schemas.microsoft.com/office/drawing/2014/main" id="{6C87E3C0-A6AA-C417-11CB-32E4131065A0}"/>
                  </a:ext>
                </a:extLst>
              </p:cNvPr>
              <p:cNvSpPr txBox="1">
                <a:spLocks noRot="1" noChangeAspect="1" noMove="1" noResize="1" noEditPoints="1" noAdjustHandles="1" noChangeArrowheads="1" noChangeShapeType="1" noTextEdit="1"/>
              </p:cNvSpPr>
              <p:nvPr/>
            </p:nvSpPr>
            <p:spPr>
              <a:xfrm>
                <a:off x="4682835" y="6276109"/>
                <a:ext cx="3990109" cy="369332"/>
              </a:xfrm>
              <a:prstGeom prst="rect">
                <a:avLst/>
              </a:prstGeom>
              <a:blipFill>
                <a:blip r:embed="rId10"/>
                <a:stretch>
                  <a:fillRect t="-10000" b="-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D62D81-7126-0255-A018-FEDCC140705F}"/>
                  </a:ext>
                </a:extLst>
              </p:cNvPr>
              <p:cNvSpPr txBox="1"/>
              <p:nvPr/>
            </p:nvSpPr>
            <p:spPr>
              <a:xfrm>
                <a:off x="277091" y="3657600"/>
                <a:ext cx="54309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i="1" smtClean="0">
                              <a:solidFill>
                                <a:srgbClr val="7030A0"/>
                              </a:solidFill>
                              <a:latin typeface="Cambria Math" panose="02040503050406030204" pitchFamily="18" charset="0"/>
                            </a:rPr>
                          </m:ctrlPr>
                        </m:dPr>
                        <m:e>
                          <m:sSub>
                            <m:sSubPr>
                              <m:ctrlPr>
                                <a:rPr lang="en-CN"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𝑆</m:t>
                              </m:r>
                            </m:e>
                            <m:sub>
                              <m:r>
                                <a:rPr lang="en-US" b="0" i="1" smtClean="0">
                                  <a:solidFill>
                                    <a:srgbClr val="7030A0"/>
                                  </a:solidFill>
                                  <a:latin typeface="Cambria Math" panose="02040503050406030204" pitchFamily="18" charset="0"/>
                                </a:rPr>
                                <m:t>𝑁</m:t>
                              </m:r>
                            </m:sub>
                          </m:sSub>
                        </m:e>
                      </m:d>
                      <m:r>
                        <a:rPr lang="en-CN" i="1" smtClean="0">
                          <a:solidFill>
                            <a:srgbClr val="7030A0"/>
                          </a:solidFill>
                          <a:latin typeface="Cambria Math" panose="02040503050406030204" pitchFamily="18" charset="0"/>
                          <a:ea typeface="Cambria Math" panose="02040503050406030204" pitchFamily="18" charset="0"/>
                        </a:rPr>
                        <m:t>→</m:t>
                      </m:r>
                      <m:d>
                        <m:dPr>
                          <m:begChr m:val="{"/>
                          <m:endChr m:val="}"/>
                          <m:ctrlPr>
                            <a:rPr lang="en-CN" i="1" smtClean="0">
                              <a:solidFill>
                                <a:srgbClr val="7030A0"/>
                              </a:solidFill>
                              <a:latin typeface="Cambria Math" panose="02040503050406030204" pitchFamily="18" charset="0"/>
                              <a:ea typeface="Cambria Math" panose="02040503050406030204" pitchFamily="18" charset="0"/>
                            </a:rPr>
                          </m:ctrlPr>
                        </m:dPr>
                        <m:e>
                          <m:sSub>
                            <m:sSubPr>
                              <m:ctrlPr>
                                <a:rPr lang="en-CN" i="1" smtClean="0">
                                  <a:solidFill>
                                    <a:srgbClr val="7030A0"/>
                                  </a:solidFill>
                                  <a:latin typeface="Cambria Math" panose="02040503050406030204" pitchFamily="18" charset="0"/>
                                  <a:ea typeface="Cambria Math" panose="02040503050406030204" pitchFamily="18" charset="0"/>
                                </a:rPr>
                              </m:ctrlPr>
                            </m:sSubPr>
                            <m:e>
                              <m:r>
                                <a:rPr lang="en-CN" i="1" smtClean="0">
                                  <a:solidFill>
                                    <a:srgbClr val="7030A0"/>
                                  </a:solidFill>
                                  <a:latin typeface="Cambria Math" panose="02040503050406030204" pitchFamily="18" charset="0"/>
                                  <a:ea typeface="Cambria Math" panose="02040503050406030204" pitchFamily="18" charset="0"/>
                                </a:rPr>
                                <m:t>𝜎</m:t>
                              </m:r>
                            </m:e>
                            <m:sub>
                              <m:r>
                                <a:rPr lang="en-US" b="0" i="1" smtClean="0">
                                  <a:solidFill>
                                    <a:srgbClr val="7030A0"/>
                                  </a:solidFill>
                                  <a:latin typeface="Cambria Math" panose="02040503050406030204" pitchFamily="18" charset="0"/>
                                  <a:ea typeface="Cambria Math" panose="02040503050406030204" pitchFamily="18" charset="0"/>
                                </a:rPr>
                                <m:t>1</m:t>
                              </m:r>
                            </m:sub>
                          </m:sSub>
                          <m:r>
                            <a:rPr lang="en-US" b="0" i="1" smtClean="0">
                              <a:solidFill>
                                <a:srgbClr val="7030A0"/>
                              </a:solidFill>
                              <a:latin typeface="Cambria Math" panose="02040503050406030204" pitchFamily="18" charset="0"/>
                              <a:ea typeface="Cambria Math" panose="02040503050406030204" pitchFamily="18" charset="0"/>
                            </a:rPr>
                            <m:t>,…,</m:t>
                          </m:r>
                          <m:sSub>
                            <m:sSubPr>
                              <m:ctrlPr>
                                <a:rPr lang="en-US" b="0" i="1" smtClean="0">
                                  <a:solidFill>
                                    <a:srgbClr val="7030A0"/>
                                  </a:solidFill>
                                  <a:latin typeface="Cambria Math" panose="02040503050406030204" pitchFamily="18" charset="0"/>
                                  <a:ea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𝜎</m:t>
                              </m:r>
                            </m:e>
                            <m:sub>
                              <m:r>
                                <a:rPr lang="en-US" b="0" i="1" smtClean="0">
                                  <a:solidFill>
                                    <a:srgbClr val="7030A0"/>
                                  </a:solidFill>
                                  <a:latin typeface="Cambria Math" panose="02040503050406030204" pitchFamily="18" charset="0"/>
                                  <a:ea typeface="Cambria Math" panose="02040503050406030204" pitchFamily="18" charset="0"/>
                                </a:rPr>
                                <m:t>𝑁</m:t>
                              </m:r>
                              <m:r>
                                <a:rPr lang="en-US" b="0" i="1" smtClean="0">
                                  <a:solidFill>
                                    <a:srgbClr val="7030A0"/>
                                  </a:solidFill>
                                  <a:latin typeface="Cambria Math" panose="02040503050406030204" pitchFamily="18" charset="0"/>
                                  <a:ea typeface="Cambria Math" panose="02040503050406030204" pitchFamily="18" charset="0"/>
                                </a:rPr>
                                <m:t>−1</m:t>
                              </m:r>
                            </m:sub>
                          </m:sSub>
                        </m:e>
                      </m:d>
                    </m:oMath>
                  </m:oMathPara>
                </a14:m>
                <a:endParaRPr lang="en-CN" dirty="0"/>
              </a:p>
            </p:txBody>
          </p:sp>
        </mc:Choice>
        <mc:Fallback xmlns="">
          <p:sp>
            <p:nvSpPr>
              <p:cNvPr id="18" name="TextBox 17">
                <a:extLst>
                  <a:ext uri="{FF2B5EF4-FFF2-40B4-BE49-F238E27FC236}">
                    <a16:creationId xmlns:a16="http://schemas.microsoft.com/office/drawing/2014/main" id="{3BD62D81-7126-0255-A018-FEDCC140705F}"/>
                  </a:ext>
                </a:extLst>
              </p:cNvPr>
              <p:cNvSpPr txBox="1">
                <a:spLocks noRot="1" noChangeAspect="1" noMove="1" noResize="1" noEditPoints="1" noAdjustHandles="1" noChangeArrowheads="1" noChangeShapeType="1" noTextEdit="1"/>
              </p:cNvSpPr>
              <p:nvPr/>
            </p:nvSpPr>
            <p:spPr>
              <a:xfrm>
                <a:off x="277091" y="3657600"/>
                <a:ext cx="5430980" cy="369332"/>
              </a:xfrm>
              <a:prstGeom prst="rect">
                <a:avLst/>
              </a:prstGeom>
              <a:blipFill>
                <a:blip r:embed="rId11"/>
                <a:stretch>
                  <a:fillRect/>
                </a:stretch>
              </a:blipFill>
            </p:spPr>
            <p:txBody>
              <a:bodyPr/>
              <a:lstStyle/>
              <a:p>
                <a:r>
                  <a:rPr lang="en-CN">
                    <a:noFill/>
                  </a:rPr>
                  <a:t> </a:t>
                </a:r>
              </a:p>
            </p:txBody>
          </p:sp>
        </mc:Fallback>
      </mc:AlternateContent>
      <p:pic>
        <p:nvPicPr>
          <p:cNvPr id="20" name="Picture 19">
            <a:extLst>
              <a:ext uri="{FF2B5EF4-FFF2-40B4-BE49-F238E27FC236}">
                <a16:creationId xmlns:a16="http://schemas.microsoft.com/office/drawing/2014/main" id="{924CB714-CB29-924D-D6EE-7B8BA257A8A1}"/>
              </a:ext>
            </a:extLst>
          </p:cNvPr>
          <p:cNvPicPr>
            <a:picLocks noChangeAspect="1"/>
          </p:cNvPicPr>
          <p:nvPr/>
        </p:nvPicPr>
        <p:blipFill>
          <a:blip r:embed="rId12"/>
          <a:stretch>
            <a:fillRect/>
          </a:stretch>
        </p:blipFill>
        <p:spPr>
          <a:xfrm>
            <a:off x="4520296" y="4480545"/>
            <a:ext cx="2597226" cy="1608282"/>
          </a:xfrm>
          <a:prstGeom prst="rect">
            <a:avLst/>
          </a:prstGeom>
        </p:spPr>
      </p:pic>
      <p:sp>
        <p:nvSpPr>
          <p:cNvPr id="21" name="Oval 20">
            <a:extLst>
              <a:ext uri="{FF2B5EF4-FFF2-40B4-BE49-F238E27FC236}">
                <a16:creationId xmlns:a16="http://schemas.microsoft.com/office/drawing/2014/main" id="{CFD864A9-59A2-76E7-0DD9-61D1FC944329}"/>
              </a:ext>
            </a:extLst>
          </p:cNvPr>
          <p:cNvSpPr/>
          <p:nvPr/>
        </p:nvSpPr>
        <p:spPr>
          <a:xfrm>
            <a:off x="5846616" y="5126182"/>
            <a:ext cx="526475" cy="51261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6BFC3F3-A916-0E9D-F3D3-EE0BE6296F66}"/>
                  </a:ext>
                </a:extLst>
              </p:cNvPr>
              <p:cNvSpPr txBox="1"/>
              <p:nvPr/>
            </p:nvSpPr>
            <p:spPr>
              <a:xfrm>
                <a:off x="5874324" y="1982345"/>
                <a:ext cx="1399310" cy="369332"/>
              </a:xfrm>
              <a:prstGeom prst="rect">
                <a:avLst/>
              </a:prstGeom>
              <a:noFill/>
            </p:spPr>
            <p:txBody>
              <a:bodyPr wrap="square" rtlCol="0">
                <a:spAutoFit/>
              </a:bodyPr>
              <a:lstStyle/>
              <a:p>
                <a:r>
                  <a:rPr lang="en-CN" dirty="0">
                    <a:solidFill>
                      <a:schemeClr val="accent6"/>
                    </a:solidFill>
                    <a:latin typeface="FangSong" panose="02010609060101010101" pitchFamily="49" charset="-122"/>
                    <a:ea typeface="FangSong" panose="02010609060101010101" pitchFamily="49" charset="-122"/>
                  </a:rPr>
                  <a:t>技巧</a:t>
                </a:r>
                <a14:m>
                  <m:oMath xmlns:m="http://schemas.openxmlformats.org/officeDocument/2006/math">
                    <m:sSup>
                      <m:sSupPr>
                        <m:ctrlPr>
                          <a:rPr lang="en-CN" i="1" smtClean="0">
                            <a:solidFill>
                              <a:schemeClr val="accent6"/>
                            </a:solidFill>
                            <a:latin typeface="Cambria Math" panose="02040503050406030204" pitchFamily="18" charset="0"/>
                            <a:ea typeface="FangSong" panose="02010609060101010101" pitchFamily="49" charset="-122"/>
                          </a:rPr>
                        </m:ctrlPr>
                      </m:sSupPr>
                      <m:e>
                        <m:r>
                          <a:rPr lang="en-US" b="0" i="1" smtClean="0">
                            <a:solidFill>
                              <a:schemeClr val="accent6"/>
                            </a:solidFill>
                            <a:latin typeface="Cambria Math" panose="02040503050406030204" pitchFamily="18" charset="0"/>
                            <a:ea typeface="FangSong" panose="02010609060101010101" pitchFamily="49" charset="-122"/>
                          </a:rPr>
                          <m:t>𝑆</m:t>
                        </m:r>
                      </m:e>
                      <m:sup>
                        <m:r>
                          <a:rPr lang="en-US" b="0" i="1" smtClean="0">
                            <a:solidFill>
                              <a:schemeClr val="accent6"/>
                            </a:solidFill>
                            <a:latin typeface="Cambria Math" panose="02040503050406030204" pitchFamily="18" charset="0"/>
                            <a:ea typeface="FangSong" panose="02010609060101010101" pitchFamily="49" charset="-122"/>
                          </a:rPr>
                          <m:t>2</m:t>
                        </m:r>
                      </m:sup>
                    </m:sSup>
                    <m:r>
                      <a:rPr lang="en-US" b="0" i="1" smtClean="0">
                        <a:solidFill>
                          <a:schemeClr val="accent6"/>
                        </a:solidFill>
                        <a:latin typeface="Cambria Math" panose="02040503050406030204" pitchFamily="18" charset="0"/>
                        <a:ea typeface="FangSong" panose="02010609060101010101" pitchFamily="49" charset="-122"/>
                      </a:rPr>
                      <m:t>=1</m:t>
                    </m:r>
                  </m:oMath>
                </a14:m>
                <a:endParaRPr lang="en-CN" dirty="0">
                  <a:solidFill>
                    <a:schemeClr val="accent6"/>
                  </a:solidFill>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16BFC3F3-A916-0E9D-F3D3-EE0BE6296F66}"/>
                  </a:ext>
                </a:extLst>
              </p:cNvPr>
              <p:cNvSpPr txBox="1">
                <a:spLocks noRot="1" noChangeAspect="1" noMove="1" noResize="1" noEditPoints="1" noAdjustHandles="1" noChangeArrowheads="1" noChangeShapeType="1" noTextEdit="1"/>
              </p:cNvSpPr>
              <p:nvPr/>
            </p:nvSpPr>
            <p:spPr>
              <a:xfrm>
                <a:off x="5874324" y="1982345"/>
                <a:ext cx="1399310" cy="369332"/>
              </a:xfrm>
              <a:prstGeom prst="rect">
                <a:avLst/>
              </a:prstGeom>
              <a:blipFill>
                <a:blip r:embed="rId13"/>
                <a:stretch>
                  <a:fillRect l="-3604" t="-10000" b="-20000"/>
                </a:stretch>
              </a:blipFill>
            </p:spPr>
            <p:txBody>
              <a:bodyPr/>
              <a:lstStyle/>
              <a:p>
                <a:r>
                  <a:rPr lang="en-CN">
                    <a:noFill/>
                  </a:rPr>
                  <a:t> </a:t>
                </a:r>
              </a:p>
            </p:txBody>
          </p:sp>
        </mc:Fallback>
      </mc:AlternateContent>
      <p:pic>
        <p:nvPicPr>
          <p:cNvPr id="22" name="Picture 21">
            <a:extLst>
              <a:ext uri="{FF2B5EF4-FFF2-40B4-BE49-F238E27FC236}">
                <a16:creationId xmlns:a16="http://schemas.microsoft.com/office/drawing/2014/main" id="{BAC04032-755C-53E2-49A1-EB17D9A215DF}"/>
              </a:ext>
            </a:extLst>
          </p:cNvPr>
          <p:cNvPicPr>
            <a:picLocks noChangeAspect="1"/>
          </p:cNvPicPr>
          <p:nvPr/>
        </p:nvPicPr>
        <p:blipFill>
          <a:blip r:embed="rId14"/>
          <a:stretch>
            <a:fillRect/>
          </a:stretch>
        </p:blipFill>
        <p:spPr>
          <a:xfrm>
            <a:off x="6992602" y="6143297"/>
            <a:ext cx="2008233" cy="634956"/>
          </a:xfrm>
          <a:prstGeom prst="rect">
            <a:avLst/>
          </a:prstGeom>
        </p:spPr>
      </p:pic>
    </p:spTree>
    <p:extLst>
      <p:ext uri="{BB962C8B-B14F-4D97-AF65-F5344CB8AC3E}">
        <p14:creationId xmlns:p14="http://schemas.microsoft.com/office/powerpoint/2010/main" val="2550222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C1FF35-2945-99D9-B307-C1154ABCDD04}"/>
              </a:ext>
            </a:extLst>
          </p:cNvPr>
          <p:cNvSpPr txBox="1"/>
          <p:nvPr/>
        </p:nvSpPr>
        <p:spPr>
          <a:xfrm>
            <a:off x="3075709" y="193964"/>
            <a:ext cx="5043054" cy="369332"/>
          </a:xfrm>
          <a:prstGeom prst="rect">
            <a:avLst/>
          </a:prstGeom>
          <a:noFill/>
        </p:spPr>
        <p:txBody>
          <a:bodyPr wrap="square" rtlCol="0">
            <a:spAutoFit/>
          </a:bodyPr>
          <a:lstStyle/>
          <a:p>
            <a:pPr algn="ctr"/>
            <a:r>
              <a:rPr lang="en-CN" dirty="0">
                <a:latin typeface="FangSong" panose="02010609060101010101" pitchFamily="49" charset="-122"/>
                <a:ea typeface="FangSong" panose="02010609060101010101" pitchFamily="49" charset="-122"/>
              </a:rPr>
              <a:t>两维严格解</a:t>
            </a:r>
          </a:p>
        </p:txBody>
      </p:sp>
      <p:pic>
        <p:nvPicPr>
          <p:cNvPr id="8" name="Picture 7">
            <a:extLst>
              <a:ext uri="{FF2B5EF4-FFF2-40B4-BE49-F238E27FC236}">
                <a16:creationId xmlns:a16="http://schemas.microsoft.com/office/drawing/2014/main" id="{E6C20382-015C-1957-7D8F-8A84BB60118F}"/>
              </a:ext>
            </a:extLst>
          </p:cNvPr>
          <p:cNvPicPr>
            <a:picLocks noChangeAspect="1"/>
          </p:cNvPicPr>
          <p:nvPr/>
        </p:nvPicPr>
        <p:blipFill>
          <a:blip r:embed="rId2"/>
          <a:stretch>
            <a:fillRect/>
          </a:stretch>
        </p:blipFill>
        <p:spPr>
          <a:xfrm>
            <a:off x="1020040" y="1110095"/>
            <a:ext cx="10401300" cy="5219700"/>
          </a:xfrm>
          <a:prstGeom prst="rect">
            <a:avLst/>
          </a:prstGeom>
        </p:spPr>
      </p:pic>
    </p:spTree>
    <p:extLst>
      <p:ext uri="{BB962C8B-B14F-4D97-AF65-F5344CB8AC3E}">
        <p14:creationId xmlns:p14="http://schemas.microsoft.com/office/powerpoint/2010/main" val="1482428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61C0D5-7AB4-83E0-05A5-FFD33E2A0B7A}"/>
              </a:ext>
            </a:extLst>
          </p:cNvPr>
          <p:cNvSpPr txBox="1"/>
          <p:nvPr/>
        </p:nvSpPr>
        <p:spPr>
          <a:xfrm>
            <a:off x="2879440" y="1981200"/>
            <a:ext cx="6497782" cy="1631216"/>
          </a:xfrm>
          <a:prstGeom prst="rect">
            <a:avLst/>
          </a:prstGeom>
          <a:noFill/>
        </p:spPr>
        <p:txBody>
          <a:bodyPr wrap="square" rtlCol="0">
            <a:spAutoFit/>
          </a:bodyPr>
          <a:lstStyle/>
          <a:p>
            <a:pPr algn="ctr"/>
            <a:r>
              <a:rPr lang="en-CN" sz="6000" dirty="0">
                <a:latin typeface="FangSong" panose="02010609060101010101" pitchFamily="49" charset="-122"/>
                <a:ea typeface="FangSong" panose="02010609060101010101" pitchFamily="49" charset="-122"/>
              </a:rPr>
              <a:t>平均场近似</a:t>
            </a:r>
          </a:p>
          <a:p>
            <a:pPr algn="ctr"/>
            <a:r>
              <a:rPr lang="en-US" altLang="zh-CN" sz="4000" dirty="0">
                <a:latin typeface="FangSong" panose="02010609060101010101" pitchFamily="49" charset="-122"/>
                <a:ea typeface="FangSong" panose="02010609060101010101" pitchFamily="49" charset="-122"/>
              </a:rPr>
              <a:t>——</a:t>
            </a:r>
            <a:r>
              <a:rPr lang="zh-CN" altLang="en-US" sz="4000" dirty="0">
                <a:latin typeface="FangSong" panose="02010609060101010101" pitchFamily="49" charset="-122"/>
                <a:ea typeface="FangSong" panose="02010609060101010101" pitchFamily="49" charset="-122"/>
              </a:rPr>
              <a:t>初探</a:t>
            </a:r>
            <a:endParaRPr lang="en-CN" sz="40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544366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CE34BE-70D2-09EF-4EB5-2404C30C641A}"/>
              </a:ext>
            </a:extLst>
          </p:cNvPr>
          <p:cNvSpPr txBox="1"/>
          <p:nvPr/>
        </p:nvSpPr>
        <p:spPr>
          <a:xfrm>
            <a:off x="789709" y="443345"/>
            <a:ext cx="3435927"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邻居数</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611089-40C3-2286-C8A8-165D2B6AA8EE}"/>
                  </a:ext>
                </a:extLst>
              </p:cNvPr>
              <p:cNvSpPr txBox="1"/>
              <p:nvPr/>
            </p:nvSpPr>
            <p:spPr>
              <a:xfrm>
                <a:off x="2687782" y="628011"/>
                <a:ext cx="6262255" cy="1117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2</m:t>
                              </m:r>
                              <m:r>
                                <a:rPr lang="zh-CN" altLang="en-US" b="0" i="1" smtClean="0">
                                  <a:latin typeface="Cambria Math" panose="02040503050406030204" pitchFamily="18" charset="0"/>
                                </a:rPr>
                                <m:t>，</m:t>
                              </m:r>
                              <m:r>
                                <a:rPr lang="en-US" i="1">
                                  <a:latin typeface="Cambria Math" panose="02040503050406030204" pitchFamily="18" charset="0"/>
                                </a:rPr>
                                <m:t>一维</m:t>
                              </m:r>
                            </m:e>
                            <m:e>
                              <m:r>
                                <a:rPr lang="en-US" b="0" i="1" smtClean="0">
                                  <a:latin typeface="Cambria Math" panose="02040503050406030204" pitchFamily="18" charset="0"/>
                                </a:rPr>
                                <m:t>4</m:t>
                              </m:r>
                              <m:r>
                                <a:rPr lang="zh-CN" altLang="en-US" b="0" i="1" smtClean="0">
                                  <a:latin typeface="Cambria Math" panose="02040503050406030204" pitchFamily="18" charset="0"/>
                                </a:rPr>
                                <m:t>，</m:t>
                              </m:r>
                              <m:r>
                                <a:rPr lang="zh-CN" altLang="en-US" i="1">
                                  <a:latin typeface="Cambria Math" panose="02040503050406030204" pitchFamily="18" charset="0"/>
                                </a:rPr>
                                <m:t>二维</m:t>
                              </m:r>
                            </m:e>
                            <m:e>
                              <m:r>
                                <a:rPr lang="en-US" b="0" i="1" smtClean="0">
                                  <a:latin typeface="Cambria Math" panose="02040503050406030204" pitchFamily="18" charset="0"/>
                                </a:rPr>
                                <m:t>6</m:t>
                              </m:r>
                              <m:r>
                                <a:rPr lang="zh-CN" altLang="en-US" b="0" i="1" smtClean="0">
                                  <a:latin typeface="Cambria Math" panose="02040503050406030204" pitchFamily="18" charset="0"/>
                                </a:rPr>
                                <m:t>，</m:t>
                              </m:r>
                              <m:r>
                                <a:rPr lang="zh-CN" altLang="en-US" i="1">
                                  <a:latin typeface="Cambria Math" panose="02040503050406030204" pitchFamily="18" charset="0"/>
                                </a:rPr>
                                <m:t>三维</m:t>
                              </m:r>
                            </m:e>
                          </m:eqArr>
                        </m:e>
                      </m:d>
                    </m:oMath>
                  </m:oMathPara>
                </a14:m>
                <a:endParaRPr lang="en-CN" dirty="0"/>
              </a:p>
            </p:txBody>
          </p:sp>
        </mc:Choice>
        <mc:Fallback xmlns="">
          <p:sp>
            <p:nvSpPr>
              <p:cNvPr id="3" name="TextBox 2">
                <a:extLst>
                  <a:ext uri="{FF2B5EF4-FFF2-40B4-BE49-F238E27FC236}">
                    <a16:creationId xmlns:a16="http://schemas.microsoft.com/office/drawing/2014/main" id="{77611089-40C3-2286-C8A8-165D2B6AA8EE}"/>
                  </a:ext>
                </a:extLst>
              </p:cNvPr>
              <p:cNvSpPr txBox="1">
                <a:spLocks noRot="1" noChangeAspect="1" noMove="1" noResize="1" noEditPoints="1" noAdjustHandles="1" noChangeArrowheads="1" noChangeShapeType="1" noTextEdit="1"/>
              </p:cNvSpPr>
              <p:nvPr/>
            </p:nvSpPr>
            <p:spPr>
              <a:xfrm>
                <a:off x="2687782" y="628011"/>
                <a:ext cx="6262255" cy="1117998"/>
              </a:xfrm>
              <a:prstGeom prst="rect">
                <a:avLst/>
              </a:prstGeom>
              <a:blipFill>
                <a:blip r:embed="rId2"/>
                <a:stretch>
                  <a:fillRect t="-210112" b="-297753"/>
                </a:stretch>
              </a:blipFill>
            </p:spPr>
            <p:txBody>
              <a:bodyPr/>
              <a:lstStyle/>
              <a:p>
                <a:r>
                  <a:rPr lang="en-CN">
                    <a:noFill/>
                  </a:rPr>
                  <a:t> </a:t>
                </a:r>
              </a:p>
            </p:txBody>
          </p:sp>
        </mc:Fallback>
      </mc:AlternateContent>
      <p:cxnSp>
        <p:nvCxnSpPr>
          <p:cNvPr id="5" name="Straight Connector 4">
            <a:extLst>
              <a:ext uri="{FF2B5EF4-FFF2-40B4-BE49-F238E27FC236}">
                <a16:creationId xmlns:a16="http://schemas.microsoft.com/office/drawing/2014/main" id="{2BA5374D-C49F-1F16-4C3C-2208B5A40820}"/>
              </a:ext>
            </a:extLst>
          </p:cNvPr>
          <p:cNvCxnSpPr/>
          <p:nvPr/>
        </p:nvCxnSpPr>
        <p:spPr>
          <a:xfrm>
            <a:off x="1219200" y="2355273"/>
            <a:ext cx="25215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BFD57E3-F5C6-20AD-46C2-268BB62ACDA0}"/>
              </a:ext>
            </a:extLst>
          </p:cNvPr>
          <p:cNvCxnSpPr/>
          <p:nvPr/>
        </p:nvCxnSpPr>
        <p:spPr>
          <a:xfrm>
            <a:off x="1191491" y="3297382"/>
            <a:ext cx="25769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42DF92-BE79-E3CC-A185-39072AD70E38}"/>
              </a:ext>
            </a:extLst>
          </p:cNvPr>
          <p:cNvCxnSpPr/>
          <p:nvPr/>
        </p:nvCxnSpPr>
        <p:spPr>
          <a:xfrm>
            <a:off x="1884220" y="1746009"/>
            <a:ext cx="0" cy="25073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E67144-A492-F33C-B304-B98DC8B86200}"/>
              </a:ext>
            </a:extLst>
          </p:cNvPr>
          <p:cNvCxnSpPr/>
          <p:nvPr/>
        </p:nvCxnSpPr>
        <p:spPr>
          <a:xfrm>
            <a:off x="2909455" y="1746009"/>
            <a:ext cx="0" cy="2521191"/>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4488EE-2EDB-1B8E-70D9-E583F8492035}"/>
              </a:ext>
            </a:extLst>
          </p:cNvPr>
          <p:cNvSpPr txBox="1"/>
          <p:nvPr/>
        </p:nvSpPr>
        <p:spPr>
          <a:xfrm>
            <a:off x="2687781" y="2964538"/>
            <a:ext cx="237566" cy="369332"/>
          </a:xfrm>
          <a:prstGeom prst="rect">
            <a:avLst/>
          </a:prstGeom>
          <a:noFill/>
        </p:spPr>
        <p:txBody>
          <a:bodyPr wrap="none" rtlCol="0">
            <a:spAutoFit/>
          </a:bodyPr>
          <a:lstStyle/>
          <a:p>
            <a:r>
              <a:rPr lang="en-CN" dirty="0"/>
              <a:t>i</a:t>
            </a:r>
          </a:p>
        </p:txBody>
      </p:sp>
      <p:cxnSp>
        <p:nvCxnSpPr>
          <p:cNvPr id="15" name="Straight Arrow Connector 14">
            <a:extLst>
              <a:ext uri="{FF2B5EF4-FFF2-40B4-BE49-F238E27FC236}">
                <a16:creationId xmlns:a16="http://schemas.microsoft.com/office/drawing/2014/main" id="{DA359C7A-73A9-F0B8-3A53-EDA3FAD3D2C7}"/>
              </a:ext>
            </a:extLst>
          </p:cNvPr>
          <p:cNvCxnSpPr/>
          <p:nvPr/>
        </p:nvCxnSpPr>
        <p:spPr>
          <a:xfrm>
            <a:off x="2327564" y="1746009"/>
            <a:ext cx="0" cy="4568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640CF9D-EE0F-A386-8124-C991CC220A16}"/>
              </a:ext>
            </a:extLst>
          </p:cNvPr>
          <p:cNvCxnSpPr/>
          <p:nvPr/>
        </p:nvCxnSpPr>
        <p:spPr>
          <a:xfrm>
            <a:off x="3380509" y="2618509"/>
            <a:ext cx="0" cy="5306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B79B8FF8-3BE1-EFBC-FA56-02CD4F14F27B}"/>
              </a:ext>
            </a:extLst>
          </p:cNvPr>
          <p:cNvCxnSpPr/>
          <p:nvPr/>
        </p:nvCxnSpPr>
        <p:spPr>
          <a:xfrm flipV="1">
            <a:off x="1385455" y="2604655"/>
            <a:ext cx="0" cy="5445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0BC129AE-96A3-0549-0F10-8483BA6F568E}"/>
              </a:ext>
            </a:extLst>
          </p:cNvPr>
          <p:cNvCxnSpPr/>
          <p:nvPr/>
        </p:nvCxnSpPr>
        <p:spPr>
          <a:xfrm>
            <a:off x="2327564" y="3671455"/>
            <a:ext cx="0" cy="58189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3CFFEFC-9BDF-82B7-6E07-2EF22D680C93}"/>
                  </a:ext>
                </a:extLst>
              </p:cNvPr>
              <p:cNvSpPr txBox="1"/>
              <p:nvPr/>
            </p:nvSpPr>
            <p:spPr>
              <a:xfrm>
                <a:off x="4405745" y="2876929"/>
                <a:ext cx="7038110" cy="2582117"/>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假定在某时刻它的邻居们的自旋排布固定</a:t>
                </a:r>
                <a:r>
                  <a:rPr lang="zh-CN" altLang="en-US" dirty="0">
                    <a:latin typeface="FangSong" panose="02010609060101010101" pitchFamily="49" charset="-122"/>
                    <a:ea typeface="FangSong" panose="02010609060101010101" pitchFamily="49" charset="-122"/>
                  </a:rPr>
                  <a:t>（左图为例）</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周围邻居提供一个平均值</a:t>
                </a:r>
                <a:r>
                  <a:rPr lang="en-US" altLang="zh-CN" dirty="0">
                    <a:latin typeface="FangSong" panose="02010609060101010101" pitchFamily="49" charset="-122"/>
                    <a:ea typeface="FangSong" panose="02010609060101010101" pitchFamily="49" charset="-122"/>
                  </a:rPr>
                  <a:t> </a:t>
                </a:r>
                <a14:m>
                  <m:oMath xmlns:m="http://schemas.openxmlformats.org/officeDocument/2006/math">
                    <m:acc>
                      <m:accPr>
                        <m:chr m:val="̅"/>
                        <m:ctrlPr>
                          <a:rPr lang="en-US" altLang="zh-CN" i="1" smtClean="0">
                            <a:latin typeface="Cambria Math" panose="02040503050406030204" pitchFamily="18" charset="0"/>
                            <a:ea typeface="FangSong" panose="02010609060101010101" pitchFamily="49" charset="-122"/>
                          </a:rPr>
                        </m:ctrlPr>
                      </m:accPr>
                      <m:e>
                        <m:r>
                          <a:rPr lang="en-US" altLang="zh-CN" b="0" i="1" smtClean="0">
                            <a:latin typeface="Cambria Math" panose="02040503050406030204" pitchFamily="18" charset="0"/>
                            <a:ea typeface="FangSong" panose="02010609060101010101" pitchFamily="49" charset="-122"/>
                          </a:rPr>
                          <m:t>𝑠</m:t>
                        </m:r>
                      </m:e>
                    </m:acc>
                    <m:r>
                      <a:rPr lang="en-US" altLang="zh-CN" b="0" i="1" smtClean="0">
                        <a:latin typeface="Cambria Math" panose="02040503050406030204" pitchFamily="18" charset="0"/>
                        <a:ea typeface="FangSong" panose="02010609060101010101" pitchFamily="49" charset="-122"/>
                      </a:rPr>
                      <m:t>=</m:t>
                    </m:r>
                    <m:f>
                      <m:fPr>
                        <m:ctrlPr>
                          <a:rPr lang="en-US" altLang="zh-CN" b="0" i="1" smtClean="0">
                            <a:latin typeface="Cambria Math" panose="02040503050406030204" pitchFamily="18" charset="0"/>
                            <a:ea typeface="FangSong" panose="02010609060101010101" pitchFamily="49" charset="-122"/>
                          </a:rPr>
                        </m:ctrlPr>
                      </m:fPr>
                      <m:num>
                        <m:d>
                          <m:dPr>
                            <m:ctrlPr>
                              <a:rPr lang="en-US" altLang="zh-CN" b="0" i="1" smtClean="0">
                                <a:latin typeface="Cambria Math" panose="02040503050406030204" pitchFamily="18" charset="0"/>
                                <a:ea typeface="FangSong" panose="02010609060101010101" pitchFamily="49" charset="-122"/>
                              </a:rPr>
                            </m:ctrlPr>
                          </m:dPr>
                          <m:e>
                            <m:r>
                              <a:rPr lang="en-US" altLang="zh-CN" b="0" i="1" smtClean="0">
                                <a:latin typeface="Cambria Math" panose="02040503050406030204" pitchFamily="18" charset="0"/>
                                <a:ea typeface="FangSong" panose="02010609060101010101" pitchFamily="49" charset="-122"/>
                              </a:rPr>
                              <m:t>+1+</m:t>
                            </m:r>
                            <m:d>
                              <m:dPr>
                                <m:ctrlPr>
                                  <a:rPr lang="en-US" altLang="zh-CN" b="0" i="1" smtClean="0">
                                    <a:latin typeface="Cambria Math" panose="02040503050406030204" pitchFamily="18" charset="0"/>
                                    <a:ea typeface="FangSong" panose="02010609060101010101" pitchFamily="49" charset="-122"/>
                                  </a:rPr>
                                </m:ctrlPr>
                              </m:dPr>
                              <m:e>
                                <m:r>
                                  <a:rPr lang="en-US" altLang="zh-CN" b="0" i="1" smtClean="0">
                                    <a:latin typeface="Cambria Math" panose="02040503050406030204" pitchFamily="18" charset="0"/>
                                    <a:ea typeface="FangSong" panose="02010609060101010101" pitchFamily="49" charset="-122"/>
                                  </a:rPr>
                                  <m:t>−1</m:t>
                                </m:r>
                              </m:e>
                            </m:d>
                            <m:r>
                              <a:rPr lang="en-US" altLang="zh-CN" b="0" i="1" smtClean="0">
                                <a:latin typeface="Cambria Math" panose="02040503050406030204" pitchFamily="18" charset="0"/>
                                <a:ea typeface="Cambria Math" panose="02040503050406030204" pitchFamily="18" charset="0"/>
                              </a:rPr>
                              <m:t>×3</m:t>
                            </m:r>
                          </m:e>
                        </m:d>
                      </m:num>
                      <m:den>
                        <m:r>
                          <a:rPr lang="en-US" altLang="zh-CN" b="0" i="1" smtClean="0">
                            <a:latin typeface="Cambria Math" panose="02040503050406030204" pitchFamily="18" charset="0"/>
                            <a:ea typeface="FangSong" panose="02010609060101010101" pitchFamily="49" charset="-122"/>
                          </a:rPr>
                          <m:t>4</m:t>
                        </m:r>
                      </m:den>
                    </m:f>
                    <m:r>
                      <a:rPr lang="en-US" altLang="zh-CN" b="0" i="1" smtClean="0">
                        <a:latin typeface="Cambria Math" panose="02040503050406030204" pitchFamily="18" charset="0"/>
                        <a:ea typeface="FangSong" panose="02010609060101010101" pitchFamily="49" charset="-122"/>
                      </a:rPr>
                      <m:t>=−</m:t>
                    </m:r>
                    <m:f>
                      <m:fPr>
                        <m:ctrlPr>
                          <a:rPr lang="en-US" altLang="zh-CN" b="0" i="1" smtClean="0">
                            <a:latin typeface="Cambria Math" panose="02040503050406030204" pitchFamily="18" charset="0"/>
                            <a:ea typeface="FangSong" panose="02010609060101010101" pitchFamily="49" charset="-122"/>
                          </a:rPr>
                        </m:ctrlPr>
                      </m:fPr>
                      <m:num>
                        <m:r>
                          <a:rPr lang="en-US" altLang="zh-CN" b="0" i="1" smtClean="0">
                            <a:latin typeface="Cambria Math" panose="02040503050406030204" pitchFamily="18" charset="0"/>
                            <a:ea typeface="FangSong" panose="02010609060101010101" pitchFamily="49" charset="-122"/>
                          </a:rPr>
                          <m:t>1</m:t>
                        </m:r>
                      </m:num>
                      <m:den>
                        <m:r>
                          <a:rPr lang="en-US" altLang="zh-CN" b="0" i="1" smtClean="0">
                            <a:latin typeface="Cambria Math" panose="02040503050406030204" pitchFamily="18" charset="0"/>
                            <a:ea typeface="FangSong" panose="02010609060101010101" pitchFamily="49" charset="-122"/>
                          </a:rPr>
                          <m:t>2</m:t>
                        </m:r>
                      </m:den>
                    </m:f>
                  </m:oMath>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i处自旋可上可下</a:t>
                </a:r>
                <a:r>
                  <a:rPr lang="zh-CN" altLang="en-US" dirty="0">
                    <a:latin typeface="FangSong" panose="02010609060101010101" pitchFamily="49" charset="-122"/>
                    <a:ea typeface="FangSong" panose="02010609060101010101" pitchFamily="49" charset="-122"/>
                  </a:rPr>
                  <a:t>，计算相应能量</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𝐸</m:t>
                          </m:r>
                        </m:e>
                        <m:sub>
                          <m:r>
                            <a:rPr lang="en-CN"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𝐽</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i="1">
                              <a:latin typeface="Cambria Math" panose="02040503050406030204" pitchFamily="18" charset="0"/>
                              <a:ea typeface="FangSong" panose="02010609060101010101" pitchFamily="49" charset="-122"/>
                            </a:rPr>
                            <m:t>邻</m:t>
                          </m:r>
                          <m:r>
                            <a:rPr lang="en-US" i="1">
                              <a:latin typeface="Cambria Math" panose="02040503050406030204" pitchFamily="18" charset="0"/>
                              <a:ea typeface="FangSong" panose="02010609060101010101" pitchFamily="49" charset="-122"/>
                            </a:rPr>
                            <m:t>居</m:t>
                          </m:r>
                        </m:sub>
                        <m:sup/>
                        <m:e>
                          <m:r>
                            <a:rPr lang="en-US" b="0" i="1" smtClean="0">
                              <a:latin typeface="Cambria Math" panose="02040503050406030204" pitchFamily="18" charset="0"/>
                              <a:ea typeface="FangSong" panose="02010609060101010101" pitchFamily="49" charset="-122"/>
                            </a:rPr>
                            <m:t>𝑠</m:t>
                          </m:r>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𝐽</m:t>
                          </m:r>
                          <m:r>
                            <a:rPr lang="en-US" b="0" i="1" smtClean="0">
                              <a:latin typeface="Cambria Math" panose="02040503050406030204" pitchFamily="18" charset="0"/>
                              <a:ea typeface="FangSong" panose="02010609060101010101" pitchFamily="49" charset="-122"/>
                            </a:rPr>
                            <m:t> </m:t>
                          </m:r>
                          <m:r>
                            <a:rPr lang="en-US" b="0" i="1" smtClean="0">
                              <a:latin typeface="Cambria Math" panose="02040503050406030204" pitchFamily="18" charset="0"/>
                              <a:ea typeface="FangSong" panose="02010609060101010101" pitchFamily="49" charset="-122"/>
                            </a:rPr>
                            <m:t>𝑛</m:t>
                          </m:r>
                          <m:r>
                            <a:rPr lang="en-US" b="0" i="1" smtClean="0">
                              <a:latin typeface="Cambria Math" panose="02040503050406030204" pitchFamily="18" charset="0"/>
                              <a:ea typeface="FangSong" panose="02010609060101010101" pitchFamily="49" charset="-122"/>
                            </a:rPr>
                            <m:t> </m:t>
                          </m:r>
                          <m:acc>
                            <m:accPr>
                              <m:chr m:val="̅"/>
                              <m:ctrlPr>
                                <a:rPr lang="en-US" b="0" i="1" smtClean="0">
                                  <a:latin typeface="Cambria Math" panose="02040503050406030204" pitchFamily="18" charset="0"/>
                                  <a:ea typeface="FangSong" panose="02010609060101010101" pitchFamily="49" charset="-122"/>
                                </a:rPr>
                              </m:ctrlPr>
                            </m:accPr>
                            <m:e>
                              <m:r>
                                <a:rPr lang="en-US" b="0" i="1" smtClean="0">
                                  <a:latin typeface="Cambria Math" panose="02040503050406030204" pitchFamily="18" charset="0"/>
                                  <a:ea typeface="FangSong" panose="02010609060101010101" pitchFamily="49" charset="-122"/>
                                </a:rPr>
                                <m:t>𝑠</m:t>
                              </m:r>
                            </m:e>
                          </m:acc>
                        </m:e>
                      </m:nary>
                    </m:oMath>
                  </m:oMathPara>
                </a14:m>
                <a:endParaRPr lang="en-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a:latin typeface="Cambria Math" panose="02040503050406030204" pitchFamily="18" charset="0"/>
                              <a:ea typeface="FangSong" panose="02010609060101010101" pitchFamily="49" charset="-122"/>
                            </a:rPr>
                          </m:ctrlPr>
                        </m:sSubPr>
                        <m:e>
                          <m:r>
                            <a:rPr lang="en-US" i="1">
                              <a:latin typeface="Cambria Math" panose="02040503050406030204" pitchFamily="18" charset="0"/>
                              <a:ea typeface="FangSong" panose="02010609060101010101" pitchFamily="49" charset="-122"/>
                            </a:rPr>
                            <m:t>𝐸</m:t>
                          </m:r>
                        </m:e>
                        <m:sub>
                          <m:r>
                            <a:rPr lang="en-CN" i="1" smtClean="0">
                              <a:latin typeface="Cambria Math" panose="02040503050406030204" pitchFamily="18" charset="0"/>
                              <a:ea typeface="Cambria Math" panose="02040503050406030204" pitchFamily="18" charset="0"/>
                            </a:rPr>
                            <m:t>↓</m:t>
                          </m:r>
                        </m:sub>
                      </m:sSub>
                      <m:r>
                        <a:rPr lang="en-US" i="1">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m:t>
                      </m:r>
                      <m:r>
                        <a:rPr lang="en-US" i="1">
                          <a:latin typeface="Cambria Math" panose="02040503050406030204" pitchFamily="18" charset="0"/>
                          <a:ea typeface="FangSong" panose="02010609060101010101" pitchFamily="49" charset="-122"/>
                        </a:rPr>
                        <m:t>𝐽</m:t>
                      </m:r>
                      <m:nary>
                        <m:naryPr>
                          <m:chr m:val="∑"/>
                          <m:supHide m:val="on"/>
                          <m:ctrlPr>
                            <a:rPr lang="en-US" i="1">
                              <a:latin typeface="Cambria Math" panose="02040503050406030204" pitchFamily="18" charset="0"/>
                              <a:ea typeface="FangSong" panose="02010609060101010101" pitchFamily="49" charset="-122"/>
                            </a:rPr>
                          </m:ctrlPr>
                        </m:naryPr>
                        <m:sub>
                          <m:r>
                            <m:rPr>
                              <m:brk m:alnAt="7"/>
                            </m:rPr>
                            <a:rPr lang="en-US" i="1">
                              <a:latin typeface="Cambria Math" panose="02040503050406030204" pitchFamily="18" charset="0"/>
                              <a:ea typeface="FangSong" panose="02010609060101010101" pitchFamily="49" charset="-122"/>
                            </a:rPr>
                            <m:t>邻</m:t>
                          </m:r>
                          <m:r>
                            <a:rPr lang="en-US" i="1">
                              <a:latin typeface="Cambria Math" panose="02040503050406030204" pitchFamily="18" charset="0"/>
                              <a:ea typeface="FangSong" panose="02010609060101010101" pitchFamily="49" charset="-122"/>
                            </a:rPr>
                            <m:t>居</m:t>
                          </m:r>
                        </m:sub>
                        <m:sup/>
                        <m:e>
                          <m:r>
                            <a:rPr lang="en-US" i="1">
                              <a:latin typeface="Cambria Math" panose="02040503050406030204" pitchFamily="18" charset="0"/>
                              <a:ea typeface="FangSong" panose="02010609060101010101" pitchFamily="49" charset="-122"/>
                            </a:rPr>
                            <m:t>𝑠</m:t>
                          </m:r>
                          <m:r>
                            <a:rPr lang="en-US" i="1">
                              <a:latin typeface="Cambria Math" panose="02040503050406030204" pitchFamily="18" charset="0"/>
                              <a:ea typeface="FangSong" panose="02010609060101010101" pitchFamily="49" charset="-122"/>
                            </a:rPr>
                            <m:t>=+</m:t>
                          </m:r>
                          <m:r>
                            <a:rPr lang="en-US" i="1">
                              <a:latin typeface="Cambria Math" panose="02040503050406030204" pitchFamily="18" charset="0"/>
                              <a:ea typeface="FangSong" panose="02010609060101010101" pitchFamily="49" charset="-122"/>
                            </a:rPr>
                            <m:t>𝐽</m:t>
                          </m:r>
                          <m:r>
                            <a:rPr lang="en-US" i="1">
                              <a:latin typeface="Cambria Math" panose="02040503050406030204" pitchFamily="18" charset="0"/>
                              <a:ea typeface="FangSong" panose="02010609060101010101" pitchFamily="49" charset="-122"/>
                            </a:rPr>
                            <m:t> </m:t>
                          </m:r>
                          <m:r>
                            <a:rPr lang="en-US" i="1">
                              <a:latin typeface="Cambria Math" panose="02040503050406030204" pitchFamily="18" charset="0"/>
                              <a:ea typeface="FangSong" panose="02010609060101010101" pitchFamily="49" charset="-122"/>
                            </a:rPr>
                            <m:t>𝑛</m:t>
                          </m:r>
                          <m:r>
                            <a:rPr lang="en-US" i="1">
                              <a:latin typeface="Cambria Math" panose="02040503050406030204" pitchFamily="18" charset="0"/>
                              <a:ea typeface="FangSong" panose="02010609060101010101" pitchFamily="49" charset="-122"/>
                            </a:rPr>
                            <m:t> </m:t>
                          </m:r>
                          <m:acc>
                            <m:accPr>
                              <m:chr m:val="̅"/>
                              <m:ctrlPr>
                                <a:rPr lang="en-US" i="1">
                                  <a:latin typeface="Cambria Math" panose="02040503050406030204" pitchFamily="18" charset="0"/>
                                  <a:ea typeface="FangSong" panose="02010609060101010101" pitchFamily="49" charset="-122"/>
                                </a:rPr>
                              </m:ctrlPr>
                            </m:accPr>
                            <m:e>
                              <m:r>
                                <a:rPr lang="en-US" i="1">
                                  <a:latin typeface="Cambria Math" panose="02040503050406030204" pitchFamily="18" charset="0"/>
                                  <a:ea typeface="FangSong" panose="02010609060101010101" pitchFamily="49" charset="-122"/>
                                </a:rPr>
                                <m:t>𝑠</m:t>
                              </m:r>
                            </m:e>
                          </m:acc>
                        </m:e>
                      </m:nary>
                    </m:oMath>
                  </m:oMathPara>
                </a14:m>
                <a:endParaRPr lang="en-CN" dirty="0">
                  <a:latin typeface="FangSong" panose="02010609060101010101" pitchFamily="49" charset="-122"/>
                  <a:ea typeface="FangSong" panose="02010609060101010101" pitchFamily="49" charset="-122"/>
                </a:endParaRPr>
              </a:p>
            </p:txBody>
          </p:sp>
        </mc:Choice>
        <mc:Fallback xmlns="">
          <p:sp>
            <p:nvSpPr>
              <p:cNvPr id="22" name="TextBox 21">
                <a:extLst>
                  <a:ext uri="{FF2B5EF4-FFF2-40B4-BE49-F238E27FC236}">
                    <a16:creationId xmlns:a16="http://schemas.microsoft.com/office/drawing/2014/main" id="{E3CFFEFC-9BDF-82B7-6E07-2EF22D680C93}"/>
                  </a:ext>
                </a:extLst>
              </p:cNvPr>
              <p:cNvSpPr txBox="1">
                <a:spLocks noRot="1" noChangeAspect="1" noMove="1" noResize="1" noEditPoints="1" noAdjustHandles="1" noChangeArrowheads="1" noChangeShapeType="1" noTextEdit="1"/>
              </p:cNvSpPr>
              <p:nvPr/>
            </p:nvSpPr>
            <p:spPr>
              <a:xfrm>
                <a:off x="4405745" y="2876929"/>
                <a:ext cx="7038110" cy="2582117"/>
              </a:xfrm>
              <a:prstGeom prst="rect">
                <a:avLst/>
              </a:prstGeom>
              <a:blipFill>
                <a:blip r:embed="rId3"/>
                <a:stretch>
                  <a:fillRect l="-722" t="-976" b="-46341"/>
                </a:stretch>
              </a:blipFill>
            </p:spPr>
            <p:txBody>
              <a:bodyPr/>
              <a:lstStyle/>
              <a:p>
                <a:r>
                  <a:rPr lang="en-CN">
                    <a:noFill/>
                  </a:rPr>
                  <a:t> </a:t>
                </a:r>
              </a:p>
            </p:txBody>
          </p:sp>
        </mc:Fallback>
      </mc:AlternateContent>
    </p:spTree>
    <p:extLst>
      <p:ext uri="{BB962C8B-B14F-4D97-AF65-F5344CB8AC3E}">
        <p14:creationId xmlns:p14="http://schemas.microsoft.com/office/powerpoint/2010/main" val="10771250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BA5374D-C49F-1F16-4C3C-2208B5A40820}"/>
              </a:ext>
            </a:extLst>
          </p:cNvPr>
          <p:cNvCxnSpPr/>
          <p:nvPr/>
        </p:nvCxnSpPr>
        <p:spPr>
          <a:xfrm>
            <a:off x="1219200" y="692721"/>
            <a:ext cx="25215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BFD57E3-F5C6-20AD-46C2-268BB62ACDA0}"/>
              </a:ext>
            </a:extLst>
          </p:cNvPr>
          <p:cNvCxnSpPr/>
          <p:nvPr/>
        </p:nvCxnSpPr>
        <p:spPr>
          <a:xfrm>
            <a:off x="1191491" y="1634830"/>
            <a:ext cx="25769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42DF92-BE79-E3CC-A185-39072AD70E38}"/>
              </a:ext>
            </a:extLst>
          </p:cNvPr>
          <p:cNvCxnSpPr/>
          <p:nvPr/>
        </p:nvCxnSpPr>
        <p:spPr>
          <a:xfrm>
            <a:off x="1884220" y="83457"/>
            <a:ext cx="0" cy="25073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E67144-A492-F33C-B304-B98DC8B86200}"/>
              </a:ext>
            </a:extLst>
          </p:cNvPr>
          <p:cNvCxnSpPr/>
          <p:nvPr/>
        </p:nvCxnSpPr>
        <p:spPr>
          <a:xfrm>
            <a:off x="2909455" y="83457"/>
            <a:ext cx="0" cy="2521191"/>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4488EE-2EDB-1B8E-70D9-E583F8492035}"/>
              </a:ext>
            </a:extLst>
          </p:cNvPr>
          <p:cNvSpPr txBox="1"/>
          <p:nvPr/>
        </p:nvSpPr>
        <p:spPr>
          <a:xfrm>
            <a:off x="2687781" y="1301986"/>
            <a:ext cx="237566" cy="369332"/>
          </a:xfrm>
          <a:prstGeom prst="rect">
            <a:avLst/>
          </a:prstGeom>
          <a:noFill/>
        </p:spPr>
        <p:txBody>
          <a:bodyPr wrap="none" rtlCol="0">
            <a:spAutoFit/>
          </a:bodyPr>
          <a:lstStyle/>
          <a:p>
            <a:r>
              <a:rPr lang="en-CN" dirty="0"/>
              <a:t>i</a:t>
            </a:r>
          </a:p>
        </p:txBody>
      </p:sp>
      <p:cxnSp>
        <p:nvCxnSpPr>
          <p:cNvPr id="15" name="Straight Arrow Connector 14">
            <a:extLst>
              <a:ext uri="{FF2B5EF4-FFF2-40B4-BE49-F238E27FC236}">
                <a16:creationId xmlns:a16="http://schemas.microsoft.com/office/drawing/2014/main" id="{DA359C7A-73A9-F0B8-3A53-EDA3FAD3D2C7}"/>
              </a:ext>
            </a:extLst>
          </p:cNvPr>
          <p:cNvCxnSpPr/>
          <p:nvPr/>
        </p:nvCxnSpPr>
        <p:spPr>
          <a:xfrm>
            <a:off x="2327564" y="83457"/>
            <a:ext cx="0" cy="4568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640CF9D-EE0F-A386-8124-C991CC220A16}"/>
              </a:ext>
            </a:extLst>
          </p:cNvPr>
          <p:cNvCxnSpPr/>
          <p:nvPr/>
        </p:nvCxnSpPr>
        <p:spPr>
          <a:xfrm>
            <a:off x="3380509" y="955957"/>
            <a:ext cx="0" cy="5306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B79B8FF8-3BE1-EFBC-FA56-02CD4F14F27B}"/>
              </a:ext>
            </a:extLst>
          </p:cNvPr>
          <p:cNvCxnSpPr/>
          <p:nvPr/>
        </p:nvCxnSpPr>
        <p:spPr>
          <a:xfrm flipV="1">
            <a:off x="1385455" y="942103"/>
            <a:ext cx="0" cy="5445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0BC129AE-96A3-0549-0F10-8483BA6F568E}"/>
              </a:ext>
            </a:extLst>
          </p:cNvPr>
          <p:cNvCxnSpPr/>
          <p:nvPr/>
        </p:nvCxnSpPr>
        <p:spPr>
          <a:xfrm>
            <a:off x="2327564" y="2008903"/>
            <a:ext cx="0" cy="58189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3CFFEFC-9BDF-82B7-6E07-2EF22D680C93}"/>
                  </a:ext>
                </a:extLst>
              </p:cNvPr>
              <p:cNvSpPr txBox="1"/>
              <p:nvPr/>
            </p:nvSpPr>
            <p:spPr>
              <a:xfrm>
                <a:off x="4571996" y="195593"/>
                <a:ext cx="7038110" cy="3968522"/>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假定在某时刻它的邻居们的自旋排布固定</a:t>
                </a:r>
                <a:r>
                  <a:rPr lang="zh-CN" altLang="en-US" dirty="0">
                    <a:latin typeface="FangSong" panose="02010609060101010101" pitchFamily="49" charset="-122"/>
                    <a:ea typeface="FangSong" panose="02010609060101010101" pitchFamily="49" charset="-122"/>
                  </a:rPr>
                  <a:t>（左图为例）</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周围邻居提供一个平均值</a:t>
                </a:r>
                <a:r>
                  <a:rPr lang="en-US" altLang="zh-CN" dirty="0">
                    <a:latin typeface="FangSong" panose="02010609060101010101" pitchFamily="49" charset="-122"/>
                    <a:ea typeface="FangSong" panose="02010609060101010101" pitchFamily="49" charset="-122"/>
                  </a:rPr>
                  <a:t> </a:t>
                </a:r>
                <a14:m>
                  <m:oMath xmlns:m="http://schemas.openxmlformats.org/officeDocument/2006/math">
                    <m:acc>
                      <m:accPr>
                        <m:chr m:val="̅"/>
                        <m:ctrlPr>
                          <a:rPr lang="en-US" altLang="zh-CN" i="1" smtClean="0">
                            <a:latin typeface="Cambria Math" panose="02040503050406030204" pitchFamily="18" charset="0"/>
                            <a:ea typeface="FangSong" panose="02010609060101010101" pitchFamily="49" charset="-122"/>
                          </a:rPr>
                        </m:ctrlPr>
                      </m:accPr>
                      <m:e>
                        <m:r>
                          <a:rPr lang="en-US" altLang="zh-CN" b="0" i="1" smtClean="0">
                            <a:latin typeface="Cambria Math" panose="02040503050406030204" pitchFamily="18" charset="0"/>
                            <a:ea typeface="FangSong" panose="02010609060101010101" pitchFamily="49" charset="-122"/>
                          </a:rPr>
                          <m:t>𝑠</m:t>
                        </m:r>
                      </m:e>
                    </m:acc>
                    <m:r>
                      <a:rPr lang="en-US" altLang="zh-CN" b="0" i="1" smtClean="0">
                        <a:latin typeface="Cambria Math" panose="02040503050406030204" pitchFamily="18" charset="0"/>
                        <a:ea typeface="FangSong" panose="02010609060101010101" pitchFamily="49" charset="-122"/>
                      </a:rPr>
                      <m:t>=</m:t>
                    </m:r>
                    <m:f>
                      <m:fPr>
                        <m:ctrlPr>
                          <a:rPr lang="en-US" altLang="zh-CN" b="0" i="1" smtClean="0">
                            <a:latin typeface="Cambria Math" panose="02040503050406030204" pitchFamily="18" charset="0"/>
                            <a:ea typeface="FangSong" panose="02010609060101010101" pitchFamily="49" charset="-122"/>
                          </a:rPr>
                        </m:ctrlPr>
                      </m:fPr>
                      <m:num>
                        <m:d>
                          <m:dPr>
                            <m:ctrlPr>
                              <a:rPr lang="en-US" altLang="zh-CN" b="0" i="1" smtClean="0">
                                <a:latin typeface="Cambria Math" panose="02040503050406030204" pitchFamily="18" charset="0"/>
                                <a:ea typeface="FangSong" panose="02010609060101010101" pitchFamily="49" charset="-122"/>
                              </a:rPr>
                            </m:ctrlPr>
                          </m:dPr>
                          <m:e>
                            <m:r>
                              <a:rPr lang="en-US" altLang="zh-CN" b="0" i="1" smtClean="0">
                                <a:latin typeface="Cambria Math" panose="02040503050406030204" pitchFamily="18" charset="0"/>
                                <a:ea typeface="FangSong" panose="02010609060101010101" pitchFamily="49" charset="-122"/>
                              </a:rPr>
                              <m:t>+1+</m:t>
                            </m:r>
                            <m:d>
                              <m:dPr>
                                <m:ctrlPr>
                                  <a:rPr lang="en-US" altLang="zh-CN" b="0" i="1" smtClean="0">
                                    <a:latin typeface="Cambria Math" panose="02040503050406030204" pitchFamily="18" charset="0"/>
                                    <a:ea typeface="FangSong" panose="02010609060101010101" pitchFamily="49" charset="-122"/>
                                  </a:rPr>
                                </m:ctrlPr>
                              </m:dPr>
                              <m:e>
                                <m:r>
                                  <a:rPr lang="en-US" altLang="zh-CN" b="0" i="1" smtClean="0">
                                    <a:latin typeface="Cambria Math" panose="02040503050406030204" pitchFamily="18" charset="0"/>
                                    <a:ea typeface="FangSong" panose="02010609060101010101" pitchFamily="49" charset="-122"/>
                                  </a:rPr>
                                  <m:t>−1</m:t>
                                </m:r>
                              </m:e>
                            </m:d>
                            <m:r>
                              <a:rPr lang="en-US" altLang="zh-CN" b="0" i="1" smtClean="0">
                                <a:latin typeface="Cambria Math" panose="02040503050406030204" pitchFamily="18" charset="0"/>
                                <a:ea typeface="Cambria Math" panose="02040503050406030204" pitchFamily="18" charset="0"/>
                              </a:rPr>
                              <m:t>×3</m:t>
                            </m:r>
                          </m:e>
                        </m:d>
                      </m:num>
                      <m:den>
                        <m:r>
                          <a:rPr lang="en-US" altLang="zh-CN" b="0" i="1" smtClean="0">
                            <a:latin typeface="Cambria Math" panose="02040503050406030204" pitchFamily="18" charset="0"/>
                            <a:ea typeface="FangSong" panose="02010609060101010101" pitchFamily="49" charset="-122"/>
                          </a:rPr>
                          <m:t>4</m:t>
                        </m:r>
                      </m:den>
                    </m:f>
                    <m:r>
                      <a:rPr lang="en-US" altLang="zh-CN" b="0" i="1" smtClean="0">
                        <a:latin typeface="Cambria Math" panose="02040503050406030204" pitchFamily="18" charset="0"/>
                        <a:ea typeface="FangSong" panose="02010609060101010101" pitchFamily="49" charset="-122"/>
                      </a:rPr>
                      <m:t>=−</m:t>
                    </m:r>
                    <m:f>
                      <m:fPr>
                        <m:ctrlPr>
                          <a:rPr lang="en-US" altLang="zh-CN" b="0" i="1" smtClean="0">
                            <a:latin typeface="Cambria Math" panose="02040503050406030204" pitchFamily="18" charset="0"/>
                            <a:ea typeface="FangSong" panose="02010609060101010101" pitchFamily="49" charset="-122"/>
                          </a:rPr>
                        </m:ctrlPr>
                      </m:fPr>
                      <m:num>
                        <m:r>
                          <a:rPr lang="en-US" altLang="zh-CN" b="0" i="1" smtClean="0">
                            <a:latin typeface="Cambria Math" panose="02040503050406030204" pitchFamily="18" charset="0"/>
                            <a:ea typeface="FangSong" panose="02010609060101010101" pitchFamily="49" charset="-122"/>
                          </a:rPr>
                          <m:t>1</m:t>
                        </m:r>
                      </m:num>
                      <m:den>
                        <m:r>
                          <a:rPr lang="en-US" altLang="zh-CN" b="0" i="1" smtClean="0">
                            <a:latin typeface="Cambria Math" panose="02040503050406030204" pitchFamily="18" charset="0"/>
                            <a:ea typeface="FangSong" panose="02010609060101010101" pitchFamily="49" charset="-122"/>
                          </a:rPr>
                          <m:t>2</m:t>
                        </m:r>
                      </m:den>
                    </m:f>
                  </m:oMath>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i处自旋可上可下</a:t>
                </a:r>
                <a:r>
                  <a:rPr lang="zh-CN" altLang="en-US" dirty="0">
                    <a:latin typeface="FangSong" panose="02010609060101010101" pitchFamily="49" charset="-122"/>
                    <a:ea typeface="FangSong" panose="02010609060101010101" pitchFamily="49" charset="-122"/>
                  </a:rPr>
                  <a:t>，计算相应能量</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𝐸</m:t>
                          </m:r>
                        </m:e>
                        <m:sub>
                          <m:r>
                            <a:rPr lang="en-CN"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𝐽</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i="1">
                              <a:latin typeface="Cambria Math" panose="02040503050406030204" pitchFamily="18" charset="0"/>
                              <a:ea typeface="FangSong" panose="02010609060101010101" pitchFamily="49" charset="-122"/>
                            </a:rPr>
                            <m:t>邻</m:t>
                          </m:r>
                          <m:r>
                            <a:rPr lang="en-US" i="1">
                              <a:latin typeface="Cambria Math" panose="02040503050406030204" pitchFamily="18" charset="0"/>
                              <a:ea typeface="FangSong" panose="02010609060101010101" pitchFamily="49" charset="-122"/>
                            </a:rPr>
                            <m:t>居</m:t>
                          </m:r>
                        </m:sub>
                        <m:sup/>
                        <m:e>
                          <m:r>
                            <a:rPr lang="en-US" b="0" i="1" smtClean="0">
                              <a:latin typeface="Cambria Math" panose="02040503050406030204" pitchFamily="18" charset="0"/>
                              <a:ea typeface="FangSong" panose="02010609060101010101" pitchFamily="49" charset="-122"/>
                            </a:rPr>
                            <m:t>𝑠</m:t>
                          </m:r>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𝐽</m:t>
                          </m:r>
                          <m:r>
                            <a:rPr lang="en-US" b="0" i="1" smtClean="0">
                              <a:latin typeface="Cambria Math" panose="02040503050406030204" pitchFamily="18" charset="0"/>
                              <a:ea typeface="FangSong" panose="02010609060101010101" pitchFamily="49" charset="-122"/>
                            </a:rPr>
                            <m:t> </m:t>
                          </m:r>
                          <m:r>
                            <a:rPr lang="en-US" b="0" i="1" smtClean="0">
                              <a:latin typeface="Cambria Math" panose="02040503050406030204" pitchFamily="18" charset="0"/>
                              <a:ea typeface="FangSong" panose="02010609060101010101" pitchFamily="49" charset="-122"/>
                            </a:rPr>
                            <m:t>𝑛</m:t>
                          </m:r>
                          <m:r>
                            <a:rPr lang="en-US" b="0" i="1" smtClean="0">
                              <a:latin typeface="Cambria Math" panose="02040503050406030204" pitchFamily="18" charset="0"/>
                              <a:ea typeface="FangSong" panose="02010609060101010101" pitchFamily="49" charset="-122"/>
                            </a:rPr>
                            <m:t> </m:t>
                          </m:r>
                          <m:acc>
                            <m:accPr>
                              <m:chr m:val="̅"/>
                              <m:ctrlPr>
                                <a:rPr lang="en-US" b="0" i="1" smtClean="0">
                                  <a:latin typeface="Cambria Math" panose="02040503050406030204" pitchFamily="18" charset="0"/>
                                  <a:ea typeface="FangSong" panose="02010609060101010101" pitchFamily="49" charset="-122"/>
                                </a:rPr>
                              </m:ctrlPr>
                            </m:accPr>
                            <m:e>
                              <m:r>
                                <a:rPr lang="en-US" b="0" i="1" smtClean="0">
                                  <a:latin typeface="Cambria Math" panose="02040503050406030204" pitchFamily="18" charset="0"/>
                                  <a:ea typeface="FangSong" panose="02010609060101010101" pitchFamily="49" charset="-122"/>
                                </a:rPr>
                                <m:t>𝑠</m:t>
                              </m:r>
                            </m:e>
                          </m:acc>
                        </m:e>
                      </m:nary>
                    </m:oMath>
                  </m:oMathPara>
                </a14:m>
                <a:endParaRPr lang="en-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a:latin typeface="Cambria Math" panose="02040503050406030204" pitchFamily="18" charset="0"/>
                              <a:ea typeface="FangSong" panose="02010609060101010101" pitchFamily="49" charset="-122"/>
                            </a:rPr>
                          </m:ctrlPr>
                        </m:sSubPr>
                        <m:e>
                          <m:r>
                            <a:rPr lang="en-US" i="1">
                              <a:latin typeface="Cambria Math" panose="02040503050406030204" pitchFamily="18" charset="0"/>
                              <a:ea typeface="FangSong" panose="02010609060101010101" pitchFamily="49" charset="-122"/>
                            </a:rPr>
                            <m:t>𝐸</m:t>
                          </m:r>
                        </m:e>
                        <m:sub>
                          <m:r>
                            <a:rPr lang="en-CN" i="1" smtClean="0">
                              <a:latin typeface="Cambria Math" panose="02040503050406030204" pitchFamily="18" charset="0"/>
                              <a:ea typeface="Cambria Math" panose="02040503050406030204" pitchFamily="18" charset="0"/>
                            </a:rPr>
                            <m:t>↓</m:t>
                          </m:r>
                        </m:sub>
                      </m:sSub>
                      <m:r>
                        <a:rPr lang="en-US" i="1">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m:t>
                      </m:r>
                      <m:r>
                        <a:rPr lang="en-US" i="1">
                          <a:latin typeface="Cambria Math" panose="02040503050406030204" pitchFamily="18" charset="0"/>
                          <a:ea typeface="FangSong" panose="02010609060101010101" pitchFamily="49" charset="-122"/>
                        </a:rPr>
                        <m:t>𝐽</m:t>
                      </m:r>
                      <m:nary>
                        <m:naryPr>
                          <m:chr m:val="∑"/>
                          <m:supHide m:val="on"/>
                          <m:ctrlPr>
                            <a:rPr lang="en-US" i="1">
                              <a:latin typeface="Cambria Math" panose="02040503050406030204" pitchFamily="18" charset="0"/>
                              <a:ea typeface="FangSong" panose="02010609060101010101" pitchFamily="49" charset="-122"/>
                            </a:rPr>
                          </m:ctrlPr>
                        </m:naryPr>
                        <m:sub>
                          <m:r>
                            <m:rPr>
                              <m:brk m:alnAt="7"/>
                            </m:rPr>
                            <a:rPr lang="en-US" i="1">
                              <a:latin typeface="Cambria Math" panose="02040503050406030204" pitchFamily="18" charset="0"/>
                              <a:ea typeface="FangSong" panose="02010609060101010101" pitchFamily="49" charset="-122"/>
                            </a:rPr>
                            <m:t>邻</m:t>
                          </m:r>
                          <m:r>
                            <a:rPr lang="en-US" i="1">
                              <a:latin typeface="Cambria Math" panose="02040503050406030204" pitchFamily="18" charset="0"/>
                              <a:ea typeface="FangSong" panose="02010609060101010101" pitchFamily="49" charset="-122"/>
                            </a:rPr>
                            <m:t>居</m:t>
                          </m:r>
                        </m:sub>
                        <m:sup/>
                        <m:e>
                          <m:r>
                            <a:rPr lang="en-US" i="1">
                              <a:latin typeface="Cambria Math" panose="02040503050406030204" pitchFamily="18" charset="0"/>
                              <a:ea typeface="FangSong" panose="02010609060101010101" pitchFamily="49" charset="-122"/>
                            </a:rPr>
                            <m:t>𝑠</m:t>
                          </m:r>
                          <m:r>
                            <a:rPr lang="en-US" i="1">
                              <a:latin typeface="Cambria Math" panose="02040503050406030204" pitchFamily="18" charset="0"/>
                              <a:ea typeface="FangSong" panose="02010609060101010101" pitchFamily="49" charset="-122"/>
                            </a:rPr>
                            <m:t>=+</m:t>
                          </m:r>
                          <m:r>
                            <a:rPr lang="en-US" i="1">
                              <a:latin typeface="Cambria Math" panose="02040503050406030204" pitchFamily="18" charset="0"/>
                              <a:ea typeface="FangSong" panose="02010609060101010101" pitchFamily="49" charset="-122"/>
                            </a:rPr>
                            <m:t>𝐽</m:t>
                          </m:r>
                          <m:r>
                            <a:rPr lang="en-US" i="1">
                              <a:latin typeface="Cambria Math" panose="02040503050406030204" pitchFamily="18" charset="0"/>
                              <a:ea typeface="FangSong" panose="02010609060101010101" pitchFamily="49" charset="-122"/>
                            </a:rPr>
                            <m:t> </m:t>
                          </m:r>
                          <m:r>
                            <a:rPr lang="en-US" i="1">
                              <a:latin typeface="Cambria Math" panose="02040503050406030204" pitchFamily="18" charset="0"/>
                              <a:ea typeface="FangSong" panose="02010609060101010101" pitchFamily="49" charset="-122"/>
                            </a:rPr>
                            <m:t>𝑛</m:t>
                          </m:r>
                          <m:r>
                            <a:rPr lang="en-US" i="1">
                              <a:latin typeface="Cambria Math" panose="02040503050406030204" pitchFamily="18" charset="0"/>
                              <a:ea typeface="FangSong" panose="02010609060101010101" pitchFamily="49" charset="-122"/>
                            </a:rPr>
                            <m:t> </m:t>
                          </m:r>
                          <m:acc>
                            <m:accPr>
                              <m:chr m:val="̅"/>
                              <m:ctrlPr>
                                <a:rPr lang="en-US" i="1">
                                  <a:latin typeface="Cambria Math" panose="02040503050406030204" pitchFamily="18" charset="0"/>
                                  <a:ea typeface="FangSong" panose="02010609060101010101" pitchFamily="49" charset="-122"/>
                                </a:rPr>
                              </m:ctrlPr>
                            </m:accPr>
                            <m:e>
                              <m:r>
                                <a:rPr lang="en-US" i="1">
                                  <a:latin typeface="Cambria Math" panose="02040503050406030204" pitchFamily="18" charset="0"/>
                                  <a:ea typeface="FangSong" panose="02010609060101010101" pitchFamily="49" charset="-122"/>
                                </a:rPr>
                                <m:t>𝑠</m:t>
                              </m:r>
                            </m:e>
                          </m:acc>
                        </m:e>
                      </m:nary>
                    </m:oMath>
                  </m:oMathPara>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对i点dipole而言</a:t>
                </a:r>
                <a:r>
                  <a:rPr lang="zh-CN" altLang="en-US" dirty="0">
                    <a:latin typeface="FangSong" panose="02010609060101010101" pitchFamily="49" charset="-122"/>
                    <a:ea typeface="FangSong" panose="02010609060101010101" pitchFamily="49" charset="-122"/>
                  </a:rPr>
                  <a:t>，配分函数</a:t>
                </a:r>
                <a:endParaRPr lang="en-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𝑍</m:t>
                          </m:r>
                        </m:e>
                        <m:sub>
                          <m:r>
                            <a:rPr lang="en-US" b="0" i="1" smtClean="0">
                              <a:latin typeface="Cambria Math" panose="02040503050406030204" pitchFamily="18" charset="0"/>
                              <a:ea typeface="FangSong" panose="02010609060101010101" pitchFamily="49" charset="-122"/>
                            </a:rPr>
                            <m:t>𝑖</m:t>
                          </m:r>
                        </m:sub>
                      </m:sSub>
                      <m:r>
                        <a:rPr lang="en-US" b="0" i="1" smtClean="0">
                          <a:latin typeface="Cambria Math" panose="02040503050406030204" pitchFamily="18" charset="0"/>
                          <a:ea typeface="FangSong" panose="02010609060101010101" pitchFamily="49" charset="-122"/>
                        </a:rPr>
                        <m:t>=</m:t>
                      </m:r>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r>
                        <a:rPr lang="en-US" b="0" i="1" smtClean="0">
                          <a:latin typeface="Cambria Math" panose="02040503050406030204" pitchFamily="18" charset="0"/>
                          <a:ea typeface="FangSong" panose="02010609060101010101" pitchFamily="49" charset="-122"/>
                        </a:rPr>
                        <m:t>+</m:t>
                      </m:r>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r>
                        <a:rPr lang="en-US" b="0" i="1" smtClean="0">
                          <a:latin typeface="Cambria Math" panose="02040503050406030204" pitchFamily="18" charset="0"/>
                          <a:ea typeface="FangSong" panose="02010609060101010101" pitchFamily="49" charset="-122"/>
                        </a:rPr>
                        <m:t>=2</m:t>
                      </m:r>
                      <m:func>
                        <m:funcPr>
                          <m:ctrlPr>
                            <a:rPr lang="en-US" b="0" i="1" smtClean="0">
                              <a:latin typeface="Cambria Math" panose="02040503050406030204" pitchFamily="18" charset="0"/>
                              <a:ea typeface="FangSong" panose="02010609060101010101" pitchFamily="49" charset="-122"/>
                            </a:rPr>
                          </m:ctrlPr>
                        </m:funcPr>
                        <m:fName>
                          <m:r>
                            <m:rPr>
                              <m:sty m:val="p"/>
                            </m:rPr>
                            <a:rPr lang="en-US" b="0" i="0" smtClean="0">
                              <a:latin typeface="Cambria Math" panose="02040503050406030204" pitchFamily="18" charset="0"/>
                              <a:ea typeface="FangSong" panose="02010609060101010101" pitchFamily="49" charset="-122"/>
                            </a:rPr>
                            <m:t>cosh</m:t>
                          </m:r>
                        </m:fName>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e>
                      </m:func>
                    </m:oMath>
                  </m:oMathPara>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相应自旋平均值</a:t>
                </a: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ea typeface="FangSong" panose="02010609060101010101" pitchFamily="49" charset="-122"/>
                            </a:rPr>
                          </m:ctrlPr>
                        </m:accPr>
                        <m:e>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𝑠</m:t>
                              </m:r>
                            </m:e>
                            <m:sub>
                              <m:r>
                                <a:rPr lang="en-US" b="0" i="1" smtClean="0">
                                  <a:latin typeface="Cambria Math" panose="02040503050406030204" pitchFamily="18" charset="0"/>
                                  <a:ea typeface="FangSong" panose="02010609060101010101" pitchFamily="49" charset="-122"/>
                                </a:rPr>
                                <m:t>𝑖</m:t>
                              </m:r>
                            </m:sub>
                          </m:sSub>
                        </m:e>
                      </m:acc>
                      <m:r>
                        <a:rPr lang="en-US" b="0" i="1" smtClean="0">
                          <a:latin typeface="Cambria Math" panose="02040503050406030204" pitchFamily="18" charset="0"/>
                          <a:ea typeface="FangSong" panose="02010609060101010101" pitchFamily="49" charset="-122"/>
                        </a:rPr>
                        <m:t>=</m:t>
                      </m:r>
                      <m:f>
                        <m:fPr>
                          <m:ctrlPr>
                            <a:rPr lang="en-US" b="0" i="1" smtClean="0">
                              <a:latin typeface="Cambria Math" panose="02040503050406030204" pitchFamily="18" charset="0"/>
                              <a:ea typeface="FangSong" panose="02010609060101010101" pitchFamily="49" charset="-122"/>
                            </a:rPr>
                          </m:ctrlPr>
                        </m:fPr>
                        <m:num>
                          <m:r>
                            <a:rPr lang="en-US" b="0" i="1" smtClean="0">
                              <a:latin typeface="Cambria Math" panose="02040503050406030204" pitchFamily="18" charset="0"/>
                              <a:ea typeface="FangSong" panose="02010609060101010101" pitchFamily="49" charset="-122"/>
                            </a:rPr>
                            <m:t>1</m:t>
                          </m:r>
                        </m:num>
                        <m:den>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𝑍</m:t>
                              </m:r>
                            </m:e>
                            <m:sub>
                              <m:r>
                                <a:rPr lang="en-US" b="0" i="1" smtClean="0">
                                  <a:latin typeface="Cambria Math" panose="02040503050406030204" pitchFamily="18" charset="0"/>
                                  <a:ea typeface="FangSong" panose="02010609060101010101" pitchFamily="49" charset="-122"/>
                                </a:rPr>
                                <m:t>𝑖</m:t>
                              </m:r>
                            </m:sub>
                          </m:sSub>
                        </m:den>
                      </m:f>
                      <m:d>
                        <m:dPr>
                          <m:ctrlPr>
                            <a:rPr lang="en-US" b="0" i="1" smtClean="0">
                              <a:latin typeface="Cambria Math" panose="02040503050406030204" pitchFamily="18" charset="0"/>
                              <a:ea typeface="FangSong" panose="02010609060101010101" pitchFamily="49" charset="-122"/>
                            </a:rPr>
                          </m:ctrlPr>
                        </m:dPr>
                        <m:e>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+1</m:t>
                              </m:r>
                            </m:e>
                          </m:d>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r>
                            <a:rPr lang="en-US" b="0" i="1" smtClean="0">
                              <a:latin typeface="Cambria Math" panose="02040503050406030204" pitchFamily="18" charset="0"/>
                              <a:ea typeface="FangSong" panose="02010609060101010101" pitchFamily="49" charset="-122"/>
                            </a:rPr>
                            <m:t>+</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−1</m:t>
                              </m:r>
                            </m:e>
                          </m:d>
                          <m:r>
                            <a:rPr lang="en-US" b="0" i="1" smtClean="0">
                              <a:latin typeface="Cambria Math" panose="02040503050406030204" pitchFamily="18" charset="0"/>
                              <a:ea typeface="FangSong" panose="02010609060101010101" pitchFamily="49" charset="-122"/>
                            </a:rPr>
                            <m:t> </m:t>
                          </m:r>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e>
                      </m:d>
                      <m:r>
                        <a:rPr lang="en-US" b="0" i="1" smtClean="0">
                          <a:latin typeface="Cambria Math" panose="02040503050406030204" pitchFamily="18" charset="0"/>
                          <a:ea typeface="FangSong" panose="02010609060101010101" pitchFamily="49" charset="-122"/>
                        </a:rPr>
                        <m:t>=</m:t>
                      </m:r>
                      <m:func>
                        <m:funcPr>
                          <m:ctrlPr>
                            <a:rPr lang="en-US" b="0" i="1" smtClean="0">
                              <a:latin typeface="Cambria Math" panose="02040503050406030204" pitchFamily="18" charset="0"/>
                              <a:ea typeface="FangSong" panose="02010609060101010101" pitchFamily="49" charset="-122"/>
                            </a:rPr>
                          </m:ctrlPr>
                        </m:funcPr>
                        <m:fName>
                          <m:r>
                            <m:rPr>
                              <m:sty m:val="p"/>
                            </m:rPr>
                            <a:rPr lang="en-US" b="0" i="0" smtClean="0">
                              <a:latin typeface="Cambria Math" panose="02040503050406030204" pitchFamily="18" charset="0"/>
                              <a:ea typeface="FangSong" panose="02010609060101010101" pitchFamily="49" charset="-122"/>
                            </a:rPr>
                            <m:t>tanh</m:t>
                          </m:r>
                        </m:fName>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e>
                      </m:func>
                    </m:oMath>
                  </m:oMathPara>
                </a14:m>
                <a:endParaRPr lang="en-CN" dirty="0">
                  <a:latin typeface="FangSong" panose="02010609060101010101" pitchFamily="49" charset="-122"/>
                  <a:ea typeface="FangSong" panose="02010609060101010101" pitchFamily="49" charset="-122"/>
                </a:endParaRPr>
              </a:p>
            </p:txBody>
          </p:sp>
        </mc:Choice>
        <mc:Fallback xmlns="">
          <p:sp>
            <p:nvSpPr>
              <p:cNvPr id="22" name="TextBox 21">
                <a:extLst>
                  <a:ext uri="{FF2B5EF4-FFF2-40B4-BE49-F238E27FC236}">
                    <a16:creationId xmlns:a16="http://schemas.microsoft.com/office/drawing/2014/main" id="{E3CFFEFC-9BDF-82B7-6E07-2EF22D680C93}"/>
                  </a:ext>
                </a:extLst>
              </p:cNvPr>
              <p:cNvSpPr txBox="1">
                <a:spLocks noRot="1" noChangeAspect="1" noMove="1" noResize="1" noEditPoints="1" noAdjustHandles="1" noChangeArrowheads="1" noChangeShapeType="1" noTextEdit="1"/>
              </p:cNvSpPr>
              <p:nvPr/>
            </p:nvSpPr>
            <p:spPr>
              <a:xfrm>
                <a:off x="4571996" y="195593"/>
                <a:ext cx="7038110" cy="3968522"/>
              </a:xfrm>
              <a:prstGeom prst="rect">
                <a:avLst/>
              </a:prstGeom>
              <a:blipFill>
                <a:blip r:embed="rId2"/>
                <a:stretch>
                  <a:fillRect l="-541" t="-63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5A92FD-E24C-53BA-8308-75680E6C728E}"/>
                  </a:ext>
                </a:extLst>
              </p:cNvPr>
              <p:cNvSpPr txBox="1"/>
              <p:nvPr/>
            </p:nvSpPr>
            <p:spPr>
              <a:xfrm>
                <a:off x="2806564" y="4242684"/>
                <a:ext cx="7750600" cy="670761"/>
              </a:xfrm>
              <a:prstGeom prst="rect">
                <a:avLst/>
              </a:prstGeom>
              <a:noFill/>
            </p:spPr>
            <p:txBody>
              <a:bodyPr wrap="square" rtlCol="0">
                <a:spAutoFit/>
              </a:bodyPr>
              <a:lstStyle/>
              <a:p>
                <a:pPr marL="285750" indent="-285750">
                  <a:buFont typeface="Wingdings" pitchFamily="2" charset="2"/>
                  <a:buChar char="ü"/>
                </a:pPr>
                <a14:m>
                  <m:oMath xmlns:m="http://schemas.openxmlformats.org/officeDocument/2006/math">
                    <m:acc>
                      <m:accPr>
                        <m:chr m:val="̅"/>
                        <m:ctrlPr>
                          <a:rPr lang="en-CN" i="1" smtClean="0">
                            <a:latin typeface="Cambria Math" panose="02040503050406030204" pitchFamily="18" charset="0"/>
                          </a:rPr>
                        </m:ctrlPr>
                      </m:accPr>
                      <m:e>
                        <m:sSub>
                          <m:sSubPr>
                            <m:ctrlPr>
                              <a:rPr lang="en-CN"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e>
                    </m:acc>
                  </m:oMath>
                </a14:m>
                <a:r>
                  <a:rPr lang="en-CN" dirty="0"/>
                  <a:t> the thermal average of the alignment of any typical dipole</a:t>
                </a:r>
              </a:p>
              <a:p>
                <a:pPr marL="285750" indent="-285750">
                  <a:buFont typeface="Wingdings" pitchFamily="2" charset="2"/>
                  <a:buChar char="ü"/>
                </a:pPr>
                <a14:m>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𝑠</m:t>
                        </m:r>
                      </m:e>
                    </m:acc>
                  </m:oMath>
                </a14:m>
                <a:r>
                  <a:rPr lang="en-CN" dirty="0"/>
                  <a:t> the average of the actual instaneous alignments of this dipole’s neighbours </a:t>
                </a:r>
              </a:p>
            </p:txBody>
          </p:sp>
        </mc:Choice>
        <mc:Fallback xmlns="">
          <p:sp>
            <p:nvSpPr>
              <p:cNvPr id="4" name="TextBox 3">
                <a:extLst>
                  <a:ext uri="{FF2B5EF4-FFF2-40B4-BE49-F238E27FC236}">
                    <a16:creationId xmlns:a16="http://schemas.microsoft.com/office/drawing/2014/main" id="{D25A92FD-E24C-53BA-8308-75680E6C728E}"/>
                  </a:ext>
                </a:extLst>
              </p:cNvPr>
              <p:cNvSpPr txBox="1">
                <a:spLocks noRot="1" noChangeAspect="1" noMove="1" noResize="1" noEditPoints="1" noAdjustHandles="1" noChangeArrowheads="1" noChangeShapeType="1" noTextEdit="1"/>
              </p:cNvSpPr>
              <p:nvPr/>
            </p:nvSpPr>
            <p:spPr>
              <a:xfrm>
                <a:off x="2806564" y="4242684"/>
                <a:ext cx="7750600" cy="670761"/>
              </a:xfrm>
              <a:prstGeom prst="rect">
                <a:avLst/>
              </a:prstGeom>
              <a:blipFill>
                <a:blip r:embed="rId3"/>
                <a:stretch>
                  <a:fillRect l="-490" t="-3774" b="-1320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CF54A9D-E64F-18BB-7F74-2CA23357110C}"/>
                  </a:ext>
                </a:extLst>
              </p:cNvPr>
              <p:cNvSpPr txBox="1"/>
              <p:nvPr/>
            </p:nvSpPr>
            <p:spPr>
              <a:xfrm>
                <a:off x="2806564" y="5278582"/>
                <a:ext cx="6212745"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CN" sz="5400" i="1" smtClean="0">
                              <a:solidFill>
                                <a:srgbClr val="C00000"/>
                              </a:solidFill>
                              <a:latin typeface="Cambria Math" panose="02040503050406030204" pitchFamily="18" charset="0"/>
                            </a:rPr>
                          </m:ctrlPr>
                        </m:accPr>
                        <m:e>
                          <m:sSub>
                            <m:sSubPr>
                              <m:ctrlPr>
                                <a:rPr lang="en-CN" sz="5400" i="1">
                                  <a:solidFill>
                                    <a:srgbClr val="C00000"/>
                                  </a:solidFill>
                                  <a:latin typeface="Cambria Math" panose="02040503050406030204" pitchFamily="18" charset="0"/>
                                </a:rPr>
                              </m:ctrlPr>
                            </m:sSubPr>
                            <m:e>
                              <m:r>
                                <a:rPr lang="en-US" sz="5400" i="1">
                                  <a:solidFill>
                                    <a:srgbClr val="C00000"/>
                                  </a:solidFill>
                                  <a:latin typeface="Cambria Math" panose="02040503050406030204" pitchFamily="18" charset="0"/>
                                </a:rPr>
                                <m:t>𝑠</m:t>
                              </m:r>
                            </m:e>
                            <m:sub>
                              <m:r>
                                <a:rPr lang="en-US" sz="5400" i="1">
                                  <a:solidFill>
                                    <a:srgbClr val="C00000"/>
                                  </a:solidFill>
                                  <a:latin typeface="Cambria Math" panose="02040503050406030204" pitchFamily="18" charset="0"/>
                                </a:rPr>
                                <m:t>𝑖</m:t>
                              </m:r>
                            </m:sub>
                          </m:sSub>
                        </m:e>
                      </m:acc>
                      <m:r>
                        <a:rPr lang="en-US" sz="5400" b="0" i="1" smtClean="0">
                          <a:solidFill>
                            <a:srgbClr val="C00000"/>
                          </a:solidFill>
                          <a:latin typeface="Cambria Math" panose="02040503050406030204" pitchFamily="18" charset="0"/>
                        </a:rPr>
                        <m:t>=</m:t>
                      </m:r>
                      <m:acc>
                        <m:accPr>
                          <m:chr m:val="̅"/>
                          <m:ctrlPr>
                            <a:rPr lang="en-CN" sz="5400" i="1">
                              <a:solidFill>
                                <a:srgbClr val="C00000"/>
                              </a:solidFill>
                              <a:latin typeface="Cambria Math" panose="02040503050406030204" pitchFamily="18" charset="0"/>
                            </a:rPr>
                          </m:ctrlPr>
                        </m:accPr>
                        <m:e>
                          <m:r>
                            <a:rPr lang="en-US" sz="5400" i="1">
                              <a:solidFill>
                                <a:srgbClr val="C00000"/>
                              </a:solidFill>
                              <a:latin typeface="Cambria Math" panose="02040503050406030204" pitchFamily="18" charset="0"/>
                            </a:rPr>
                            <m:t>𝑠</m:t>
                          </m:r>
                        </m:e>
                      </m:acc>
                    </m:oMath>
                  </m:oMathPara>
                </a14:m>
                <a:endParaRPr lang="en-CN" sz="5400" dirty="0"/>
              </a:p>
            </p:txBody>
          </p:sp>
        </mc:Choice>
        <mc:Fallback xmlns="">
          <p:sp>
            <p:nvSpPr>
              <p:cNvPr id="6" name="TextBox 5">
                <a:extLst>
                  <a:ext uri="{FF2B5EF4-FFF2-40B4-BE49-F238E27FC236}">
                    <a16:creationId xmlns:a16="http://schemas.microsoft.com/office/drawing/2014/main" id="{CCF54A9D-E64F-18BB-7F74-2CA23357110C}"/>
                  </a:ext>
                </a:extLst>
              </p:cNvPr>
              <p:cNvSpPr txBox="1">
                <a:spLocks noRot="1" noChangeAspect="1" noMove="1" noResize="1" noEditPoints="1" noAdjustHandles="1" noChangeArrowheads="1" noChangeShapeType="1" noTextEdit="1"/>
              </p:cNvSpPr>
              <p:nvPr/>
            </p:nvSpPr>
            <p:spPr>
              <a:xfrm>
                <a:off x="2806564" y="5278582"/>
                <a:ext cx="6212745" cy="923330"/>
              </a:xfrm>
              <a:prstGeom prst="rect">
                <a:avLst/>
              </a:prstGeom>
              <a:blipFill>
                <a:blip r:embed="rId4"/>
                <a:stretch>
                  <a:fillRect b="-8108"/>
                </a:stretch>
              </a:blipFill>
            </p:spPr>
            <p:txBody>
              <a:bodyPr/>
              <a:lstStyle/>
              <a:p>
                <a:r>
                  <a:rPr lang="en-CN">
                    <a:noFill/>
                  </a:rPr>
                  <a:t> </a:t>
                </a:r>
              </a:p>
            </p:txBody>
          </p:sp>
        </mc:Fallback>
      </mc:AlternateContent>
    </p:spTree>
    <p:extLst>
      <p:ext uri="{BB962C8B-B14F-4D97-AF65-F5344CB8AC3E}">
        <p14:creationId xmlns:p14="http://schemas.microsoft.com/office/powerpoint/2010/main" val="3601558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3D00BC2-AA24-72A3-914B-6D2818A00556}"/>
                  </a:ext>
                </a:extLst>
              </p:cNvPr>
              <p:cNvSpPr txBox="1"/>
              <p:nvPr/>
            </p:nvSpPr>
            <p:spPr>
              <a:xfrm>
                <a:off x="2840182" y="300580"/>
                <a:ext cx="6096000" cy="6596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ea typeface="FangSong" panose="02010609060101010101" pitchFamily="49" charset="-122"/>
                            </a:rPr>
                          </m:ctrlPr>
                        </m:accPr>
                        <m:e>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𝑠</m:t>
                              </m:r>
                            </m:e>
                            <m:sub>
                              <m:r>
                                <a:rPr lang="en-US" b="0" i="1" smtClean="0">
                                  <a:latin typeface="Cambria Math" panose="02040503050406030204" pitchFamily="18" charset="0"/>
                                  <a:ea typeface="FangSong" panose="02010609060101010101" pitchFamily="49" charset="-122"/>
                                </a:rPr>
                                <m:t>𝑖</m:t>
                              </m:r>
                            </m:sub>
                          </m:sSub>
                        </m:e>
                      </m:acc>
                      <m:r>
                        <a:rPr lang="en-US" b="0" i="1" smtClean="0">
                          <a:latin typeface="Cambria Math" panose="02040503050406030204" pitchFamily="18" charset="0"/>
                          <a:ea typeface="FangSong" panose="02010609060101010101" pitchFamily="49" charset="-122"/>
                        </a:rPr>
                        <m:t>=</m:t>
                      </m:r>
                      <m:f>
                        <m:fPr>
                          <m:ctrlPr>
                            <a:rPr lang="en-US" b="0" i="1" smtClean="0">
                              <a:latin typeface="Cambria Math" panose="02040503050406030204" pitchFamily="18" charset="0"/>
                              <a:ea typeface="FangSong" panose="02010609060101010101" pitchFamily="49" charset="-122"/>
                            </a:rPr>
                          </m:ctrlPr>
                        </m:fPr>
                        <m:num>
                          <m:r>
                            <a:rPr lang="en-US" b="0" i="1" smtClean="0">
                              <a:latin typeface="Cambria Math" panose="02040503050406030204" pitchFamily="18" charset="0"/>
                              <a:ea typeface="FangSong" panose="02010609060101010101" pitchFamily="49" charset="-122"/>
                            </a:rPr>
                            <m:t>1</m:t>
                          </m:r>
                        </m:num>
                        <m:den>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𝑍</m:t>
                              </m:r>
                            </m:e>
                            <m:sub>
                              <m:r>
                                <a:rPr lang="en-US" b="0" i="1" smtClean="0">
                                  <a:latin typeface="Cambria Math" panose="02040503050406030204" pitchFamily="18" charset="0"/>
                                  <a:ea typeface="FangSong" panose="02010609060101010101" pitchFamily="49" charset="-122"/>
                                </a:rPr>
                                <m:t>𝑖</m:t>
                              </m:r>
                            </m:sub>
                          </m:sSub>
                        </m:den>
                      </m:f>
                      <m:d>
                        <m:dPr>
                          <m:ctrlPr>
                            <a:rPr lang="en-US" b="0" i="1" smtClean="0">
                              <a:latin typeface="Cambria Math" panose="02040503050406030204" pitchFamily="18" charset="0"/>
                              <a:ea typeface="FangSong" panose="02010609060101010101" pitchFamily="49" charset="-122"/>
                            </a:rPr>
                          </m:ctrlPr>
                        </m:dPr>
                        <m:e>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+1</m:t>
                              </m:r>
                            </m:e>
                          </m:d>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r>
                            <a:rPr lang="en-US" b="0" i="1" smtClean="0">
                              <a:latin typeface="Cambria Math" panose="02040503050406030204" pitchFamily="18" charset="0"/>
                              <a:ea typeface="FangSong" panose="02010609060101010101" pitchFamily="49" charset="-122"/>
                            </a:rPr>
                            <m:t>+</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−1</m:t>
                              </m:r>
                            </m:e>
                          </m:d>
                          <m:r>
                            <a:rPr lang="en-US" b="0" i="1" smtClean="0">
                              <a:latin typeface="Cambria Math" panose="02040503050406030204" pitchFamily="18" charset="0"/>
                              <a:ea typeface="FangSong" panose="02010609060101010101" pitchFamily="49" charset="-122"/>
                            </a:rPr>
                            <m:t> </m:t>
                          </m:r>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sup>
                          </m:sSup>
                        </m:e>
                      </m:d>
                      <m:r>
                        <a:rPr lang="en-US" b="0" i="1" smtClean="0">
                          <a:latin typeface="Cambria Math" panose="02040503050406030204" pitchFamily="18" charset="0"/>
                          <a:ea typeface="FangSong" panose="02010609060101010101" pitchFamily="49" charset="-122"/>
                        </a:rPr>
                        <m:t>=</m:t>
                      </m:r>
                      <m:func>
                        <m:funcPr>
                          <m:ctrlPr>
                            <a:rPr lang="en-US" b="0" i="1" smtClean="0">
                              <a:latin typeface="Cambria Math" panose="02040503050406030204" pitchFamily="18" charset="0"/>
                              <a:ea typeface="FangSong" panose="02010609060101010101" pitchFamily="49" charset="-122"/>
                            </a:rPr>
                          </m:ctrlPr>
                        </m:funcPr>
                        <m:fName>
                          <m:r>
                            <m:rPr>
                              <m:sty m:val="p"/>
                            </m:rPr>
                            <a:rPr lang="en-US" b="0" i="0" smtClean="0">
                              <a:latin typeface="Cambria Math" panose="02040503050406030204" pitchFamily="18" charset="0"/>
                              <a:ea typeface="FangSong" panose="02010609060101010101" pitchFamily="49" charset="-122"/>
                            </a:rPr>
                            <m:t>tanh</m:t>
                          </m:r>
                        </m:fName>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e>
                      </m:func>
                    </m:oMath>
                  </m:oMathPara>
                </a14:m>
                <a:endParaRPr lang="en-CN" dirty="0"/>
              </a:p>
            </p:txBody>
          </p:sp>
        </mc:Choice>
        <mc:Fallback xmlns="">
          <p:sp>
            <p:nvSpPr>
              <p:cNvPr id="3" name="TextBox 2">
                <a:extLst>
                  <a:ext uri="{FF2B5EF4-FFF2-40B4-BE49-F238E27FC236}">
                    <a16:creationId xmlns:a16="http://schemas.microsoft.com/office/drawing/2014/main" id="{33D00BC2-AA24-72A3-914B-6D2818A00556}"/>
                  </a:ext>
                </a:extLst>
              </p:cNvPr>
              <p:cNvSpPr txBox="1">
                <a:spLocks noRot="1" noChangeAspect="1" noMove="1" noResize="1" noEditPoints="1" noAdjustHandles="1" noChangeArrowheads="1" noChangeShapeType="1" noTextEdit="1"/>
              </p:cNvSpPr>
              <p:nvPr/>
            </p:nvSpPr>
            <p:spPr>
              <a:xfrm>
                <a:off x="2840182" y="300580"/>
                <a:ext cx="6096000" cy="659604"/>
              </a:xfrm>
              <a:prstGeom prst="rect">
                <a:avLst/>
              </a:prstGeom>
              <a:blipFill>
                <a:blip r:embed="rId2"/>
                <a:stretch>
                  <a:fillRect/>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B3F8083E-E9EC-2647-0A2D-522C0EBEA928}"/>
              </a:ext>
            </a:extLst>
          </p:cNvPr>
          <p:cNvSpPr/>
          <p:nvPr/>
        </p:nvSpPr>
        <p:spPr>
          <a:xfrm>
            <a:off x="5500255" y="893022"/>
            <a:ext cx="387927" cy="6607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4687213-A448-F2C5-17F7-C91312D58079}"/>
                  </a:ext>
                </a:extLst>
              </p:cNvPr>
              <p:cNvSpPr txBox="1"/>
              <p:nvPr/>
            </p:nvSpPr>
            <p:spPr>
              <a:xfrm>
                <a:off x="2646218" y="155262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4000" b="0" i="1" smtClean="0">
                              <a:latin typeface="Cambria Math" panose="02040503050406030204" pitchFamily="18" charset="0"/>
                              <a:ea typeface="FangSong" panose="02010609060101010101" pitchFamily="49" charset="-122"/>
                            </a:rPr>
                          </m:ctrlPr>
                        </m:funcPr>
                        <m:fName>
                          <m:acc>
                            <m:accPr>
                              <m:chr m:val="̅"/>
                              <m:ctrlPr>
                                <a:rPr lang="en-US" sz="4000" b="0" i="1" smtClean="0">
                                  <a:latin typeface="Cambria Math" panose="02040503050406030204" pitchFamily="18" charset="0"/>
                                  <a:ea typeface="FangSong" panose="02010609060101010101" pitchFamily="49" charset="-122"/>
                                </a:rPr>
                              </m:ctrlPr>
                            </m:accPr>
                            <m:e>
                              <m:r>
                                <a:rPr lang="en-US" sz="4000" b="0" i="1" smtClean="0">
                                  <a:latin typeface="Cambria Math" panose="02040503050406030204" pitchFamily="18" charset="0"/>
                                  <a:ea typeface="FangSong" panose="02010609060101010101" pitchFamily="49" charset="-122"/>
                                </a:rPr>
                                <m:t>𝑠</m:t>
                              </m:r>
                            </m:e>
                          </m:acc>
                          <m:r>
                            <a:rPr lang="en-US" sz="4000" b="0" i="0" smtClean="0">
                              <a:latin typeface="Cambria Math" panose="02040503050406030204" pitchFamily="18" charset="0"/>
                              <a:ea typeface="FangSong" panose="02010609060101010101" pitchFamily="49" charset="-122"/>
                            </a:rPr>
                            <m:t>=</m:t>
                          </m:r>
                          <m:r>
                            <m:rPr>
                              <m:sty m:val="p"/>
                            </m:rPr>
                            <a:rPr lang="en-US" sz="4000" b="0" i="0" smtClean="0">
                              <a:latin typeface="Cambria Math" panose="02040503050406030204" pitchFamily="18" charset="0"/>
                              <a:ea typeface="FangSong" panose="02010609060101010101" pitchFamily="49" charset="-122"/>
                            </a:rPr>
                            <m:t>tanh</m:t>
                          </m:r>
                        </m:fName>
                        <m:e>
                          <m:r>
                            <a:rPr lang="en-US" sz="4000" b="0" i="1" smtClean="0">
                              <a:latin typeface="Cambria Math" panose="02040503050406030204" pitchFamily="18" charset="0"/>
                              <a:ea typeface="Cambria Math" panose="02040503050406030204" pitchFamily="18" charset="0"/>
                            </a:rPr>
                            <m:t>𝛽</m:t>
                          </m:r>
                          <m:r>
                            <a:rPr lang="en-US" sz="4000" b="0" i="1" smtClean="0">
                              <a:latin typeface="Cambria Math" panose="02040503050406030204" pitchFamily="18" charset="0"/>
                              <a:ea typeface="Cambria Math" panose="02040503050406030204" pitchFamily="18" charset="0"/>
                            </a:rPr>
                            <m:t>𝐽𝑛</m:t>
                          </m:r>
                          <m:acc>
                            <m:accPr>
                              <m:chr m:val="̅"/>
                              <m:ctrlPr>
                                <a:rPr lang="en-US" sz="4000" b="0" i="1" smtClean="0">
                                  <a:latin typeface="Cambria Math" panose="02040503050406030204" pitchFamily="18" charset="0"/>
                                  <a:ea typeface="Cambria Math" panose="02040503050406030204" pitchFamily="18" charset="0"/>
                                </a:rPr>
                              </m:ctrlPr>
                            </m:accPr>
                            <m:e>
                              <m:r>
                                <a:rPr lang="en-US" sz="4000" b="0" i="1" smtClean="0">
                                  <a:latin typeface="Cambria Math" panose="02040503050406030204" pitchFamily="18" charset="0"/>
                                  <a:ea typeface="Cambria Math" panose="02040503050406030204" pitchFamily="18" charset="0"/>
                                </a:rPr>
                                <m:t>𝑠</m:t>
                              </m:r>
                            </m:e>
                          </m:acc>
                        </m:e>
                      </m:func>
                    </m:oMath>
                  </m:oMathPara>
                </a14:m>
                <a:endParaRPr lang="en-CN" sz="4000" dirty="0"/>
              </a:p>
            </p:txBody>
          </p:sp>
        </mc:Choice>
        <mc:Fallback xmlns="">
          <p:sp>
            <p:nvSpPr>
              <p:cNvPr id="6" name="TextBox 5">
                <a:extLst>
                  <a:ext uri="{FF2B5EF4-FFF2-40B4-BE49-F238E27FC236}">
                    <a16:creationId xmlns:a16="http://schemas.microsoft.com/office/drawing/2014/main" id="{74687213-A448-F2C5-17F7-C91312D58079}"/>
                  </a:ext>
                </a:extLst>
              </p:cNvPr>
              <p:cNvSpPr txBox="1">
                <a:spLocks noRot="1" noChangeAspect="1" noMove="1" noResize="1" noEditPoints="1" noAdjustHandles="1" noChangeArrowheads="1" noChangeShapeType="1" noTextEdit="1"/>
              </p:cNvSpPr>
              <p:nvPr/>
            </p:nvSpPr>
            <p:spPr>
              <a:xfrm>
                <a:off x="2646218" y="1552626"/>
                <a:ext cx="6096000" cy="707886"/>
              </a:xfrm>
              <a:prstGeom prst="rect">
                <a:avLst/>
              </a:prstGeom>
              <a:blipFill>
                <a:blip r:embed="rId3"/>
                <a:stretch>
                  <a:fillRect b="-21053"/>
                </a:stretch>
              </a:blipFill>
            </p:spPr>
            <p:txBody>
              <a:bodyPr/>
              <a:lstStyle/>
              <a:p>
                <a:r>
                  <a:rPr lang="en-CN">
                    <a:noFill/>
                  </a:rPr>
                  <a:t> </a:t>
                </a:r>
              </a:p>
            </p:txBody>
          </p:sp>
        </mc:Fallback>
      </mc:AlternateContent>
      <p:pic>
        <p:nvPicPr>
          <p:cNvPr id="7" name="Picture 6">
            <a:extLst>
              <a:ext uri="{FF2B5EF4-FFF2-40B4-BE49-F238E27FC236}">
                <a16:creationId xmlns:a16="http://schemas.microsoft.com/office/drawing/2014/main" id="{102EF33C-89FE-9CD3-1985-A9AE71B9A183}"/>
              </a:ext>
            </a:extLst>
          </p:cNvPr>
          <p:cNvPicPr>
            <a:picLocks noChangeAspect="1"/>
          </p:cNvPicPr>
          <p:nvPr/>
        </p:nvPicPr>
        <p:blipFill>
          <a:blip r:embed="rId4"/>
          <a:stretch>
            <a:fillRect/>
          </a:stretch>
        </p:blipFill>
        <p:spPr>
          <a:xfrm>
            <a:off x="554182" y="3010477"/>
            <a:ext cx="4572000" cy="2832100"/>
          </a:xfrm>
          <a:prstGeom prst="rect">
            <a:avLst/>
          </a:prstGeom>
        </p:spPr>
      </p:pic>
      <p:pic>
        <p:nvPicPr>
          <p:cNvPr id="8" name="Picture 7">
            <a:extLst>
              <a:ext uri="{FF2B5EF4-FFF2-40B4-BE49-F238E27FC236}">
                <a16:creationId xmlns:a16="http://schemas.microsoft.com/office/drawing/2014/main" id="{3A44F8BD-1B4B-418D-CED1-9A15ECD4467D}"/>
              </a:ext>
            </a:extLst>
          </p:cNvPr>
          <p:cNvPicPr>
            <a:picLocks noChangeAspect="1"/>
          </p:cNvPicPr>
          <p:nvPr/>
        </p:nvPicPr>
        <p:blipFill>
          <a:blip r:embed="rId5"/>
          <a:stretch>
            <a:fillRect/>
          </a:stretch>
        </p:blipFill>
        <p:spPr>
          <a:xfrm>
            <a:off x="7204364" y="3010477"/>
            <a:ext cx="4572000" cy="28321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0E11F10-590F-D2B3-066A-5ADA2E47155F}"/>
                  </a:ext>
                </a:extLst>
              </p:cNvPr>
              <p:cNvSpPr txBox="1"/>
              <p:nvPr/>
            </p:nvSpPr>
            <p:spPr>
              <a:xfrm>
                <a:off x="1205345" y="6151418"/>
                <a:ext cx="3352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r>
                        <a:rPr lang="en-US" b="0" i="1" smtClean="0">
                          <a:latin typeface="Cambria Math" panose="02040503050406030204" pitchFamily="18" charset="0"/>
                          <a:ea typeface="Cambria Math" panose="02040503050406030204" pitchFamily="18" charset="0"/>
                        </a:rPr>
                        <m:t>&lt;1</m:t>
                      </m:r>
                    </m:oMath>
                  </m:oMathPara>
                </a14:m>
                <a:endParaRPr lang="en-CN" dirty="0"/>
              </a:p>
            </p:txBody>
          </p:sp>
        </mc:Choice>
        <mc:Fallback xmlns="">
          <p:sp>
            <p:nvSpPr>
              <p:cNvPr id="9" name="TextBox 8">
                <a:extLst>
                  <a:ext uri="{FF2B5EF4-FFF2-40B4-BE49-F238E27FC236}">
                    <a16:creationId xmlns:a16="http://schemas.microsoft.com/office/drawing/2014/main" id="{E0E11F10-590F-D2B3-066A-5ADA2E47155F}"/>
                  </a:ext>
                </a:extLst>
              </p:cNvPr>
              <p:cNvSpPr txBox="1">
                <a:spLocks noRot="1" noChangeAspect="1" noMove="1" noResize="1" noEditPoints="1" noAdjustHandles="1" noChangeArrowheads="1" noChangeShapeType="1" noTextEdit="1"/>
              </p:cNvSpPr>
              <p:nvPr/>
            </p:nvSpPr>
            <p:spPr>
              <a:xfrm>
                <a:off x="1205345" y="6151418"/>
                <a:ext cx="3352800" cy="369332"/>
              </a:xfrm>
              <a:prstGeom prst="rect">
                <a:avLst/>
              </a:prstGeom>
              <a:blipFill>
                <a:blip r:embed="rId6"/>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158F8D6-20B2-9162-3F10-B14A02BF1CAB}"/>
                  </a:ext>
                </a:extLst>
              </p:cNvPr>
              <p:cNvSpPr txBox="1"/>
              <p:nvPr/>
            </p:nvSpPr>
            <p:spPr>
              <a:xfrm>
                <a:off x="7813964" y="6188088"/>
                <a:ext cx="3352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r>
                        <a:rPr lang="en-US" b="0" i="1" smtClean="0">
                          <a:latin typeface="Cambria Math" panose="02040503050406030204" pitchFamily="18" charset="0"/>
                          <a:ea typeface="Cambria Math" panose="02040503050406030204" pitchFamily="18" charset="0"/>
                        </a:rPr>
                        <m:t>&gt;1</m:t>
                      </m:r>
                    </m:oMath>
                  </m:oMathPara>
                </a14:m>
                <a:endParaRPr lang="en-CN" dirty="0"/>
              </a:p>
            </p:txBody>
          </p:sp>
        </mc:Choice>
        <mc:Fallback xmlns="">
          <p:sp>
            <p:nvSpPr>
              <p:cNvPr id="10" name="TextBox 9">
                <a:extLst>
                  <a:ext uri="{FF2B5EF4-FFF2-40B4-BE49-F238E27FC236}">
                    <a16:creationId xmlns:a16="http://schemas.microsoft.com/office/drawing/2014/main" id="{9158F8D6-20B2-9162-3F10-B14A02BF1CAB}"/>
                  </a:ext>
                </a:extLst>
              </p:cNvPr>
              <p:cNvSpPr txBox="1">
                <a:spLocks noRot="1" noChangeAspect="1" noMove="1" noResize="1" noEditPoints="1" noAdjustHandles="1" noChangeArrowheads="1" noChangeShapeType="1" noTextEdit="1"/>
              </p:cNvSpPr>
              <p:nvPr/>
            </p:nvSpPr>
            <p:spPr>
              <a:xfrm>
                <a:off x="7813964" y="6188088"/>
                <a:ext cx="3352800" cy="369332"/>
              </a:xfrm>
              <a:prstGeom prst="rect">
                <a:avLst/>
              </a:prstGeom>
              <a:blipFill>
                <a:blip r:embed="rId7"/>
                <a:stretch>
                  <a:fillRect b="-13333"/>
                </a:stretch>
              </a:blipFill>
            </p:spPr>
            <p:txBody>
              <a:bodyPr/>
              <a:lstStyle/>
              <a:p>
                <a:r>
                  <a:rPr lang="en-CN">
                    <a:noFill/>
                  </a:rPr>
                  <a:t> </a:t>
                </a:r>
              </a:p>
            </p:txBody>
          </p:sp>
        </mc:Fallback>
      </mc:AlternateContent>
    </p:spTree>
    <p:extLst>
      <p:ext uri="{BB962C8B-B14F-4D97-AF65-F5344CB8AC3E}">
        <p14:creationId xmlns:p14="http://schemas.microsoft.com/office/powerpoint/2010/main" val="850409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9A0517-1BF8-4648-4457-039EB18FD4E8}"/>
              </a:ext>
            </a:extLst>
          </p:cNvPr>
          <p:cNvPicPr>
            <a:picLocks noChangeAspect="1"/>
          </p:cNvPicPr>
          <p:nvPr/>
        </p:nvPicPr>
        <p:blipFill>
          <a:blip r:embed="rId2"/>
          <a:stretch>
            <a:fillRect/>
          </a:stretch>
        </p:blipFill>
        <p:spPr>
          <a:xfrm>
            <a:off x="512619" y="101023"/>
            <a:ext cx="4572000" cy="2832100"/>
          </a:xfrm>
          <a:prstGeom prst="rect">
            <a:avLst/>
          </a:prstGeom>
        </p:spPr>
      </p:pic>
      <p:pic>
        <p:nvPicPr>
          <p:cNvPr id="3" name="Picture 2">
            <a:extLst>
              <a:ext uri="{FF2B5EF4-FFF2-40B4-BE49-F238E27FC236}">
                <a16:creationId xmlns:a16="http://schemas.microsoft.com/office/drawing/2014/main" id="{DF136EDF-AF8A-7D17-16EA-F93ABD0266FD}"/>
              </a:ext>
            </a:extLst>
          </p:cNvPr>
          <p:cNvPicPr>
            <a:picLocks noChangeAspect="1"/>
          </p:cNvPicPr>
          <p:nvPr/>
        </p:nvPicPr>
        <p:blipFill>
          <a:blip r:embed="rId3"/>
          <a:stretch>
            <a:fillRect/>
          </a:stretch>
        </p:blipFill>
        <p:spPr>
          <a:xfrm>
            <a:off x="7162801" y="101023"/>
            <a:ext cx="4572000" cy="28321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07B4831-10A7-C177-237A-0661F229CF81}"/>
                  </a:ext>
                </a:extLst>
              </p:cNvPr>
              <p:cNvSpPr txBox="1"/>
              <p:nvPr/>
            </p:nvSpPr>
            <p:spPr>
              <a:xfrm>
                <a:off x="1163782" y="3241964"/>
                <a:ext cx="3352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r>
                        <a:rPr lang="en-US" b="0" i="1" smtClean="0">
                          <a:latin typeface="Cambria Math" panose="02040503050406030204" pitchFamily="18" charset="0"/>
                          <a:ea typeface="Cambria Math" panose="02040503050406030204" pitchFamily="18" charset="0"/>
                        </a:rPr>
                        <m:t>&lt;1</m:t>
                      </m:r>
                    </m:oMath>
                  </m:oMathPara>
                </a14:m>
                <a:endParaRPr lang="en-CN" dirty="0"/>
              </a:p>
            </p:txBody>
          </p:sp>
        </mc:Choice>
        <mc:Fallback xmlns="">
          <p:sp>
            <p:nvSpPr>
              <p:cNvPr id="4" name="TextBox 3">
                <a:extLst>
                  <a:ext uri="{FF2B5EF4-FFF2-40B4-BE49-F238E27FC236}">
                    <a16:creationId xmlns:a16="http://schemas.microsoft.com/office/drawing/2014/main" id="{F07B4831-10A7-C177-237A-0661F229CF81}"/>
                  </a:ext>
                </a:extLst>
              </p:cNvPr>
              <p:cNvSpPr txBox="1">
                <a:spLocks noRot="1" noChangeAspect="1" noMove="1" noResize="1" noEditPoints="1" noAdjustHandles="1" noChangeArrowheads="1" noChangeShapeType="1" noTextEdit="1"/>
              </p:cNvSpPr>
              <p:nvPr/>
            </p:nvSpPr>
            <p:spPr>
              <a:xfrm>
                <a:off x="1163782" y="3241964"/>
                <a:ext cx="3352800" cy="369332"/>
              </a:xfrm>
              <a:prstGeom prst="rect">
                <a:avLst/>
              </a:prstGeom>
              <a:blipFill>
                <a:blip r:embed="rId4"/>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2401F2A-312A-8440-08CB-075360E820AB}"/>
                  </a:ext>
                </a:extLst>
              </p:cNvPr>
              <p:cNvSpPr txBox="1"/>
              <p:nvPr/>
            </p:nvSpPr>
            <p:spPr>
              <a:xfrm>
                <a:off x="7772401" y="3278634"/>
                <a:ext cx="3352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r>
                        <a:rPr lang="en-US" b="0" i="1" smtClean="0">
                          <a:latin typeface="Cambria Math" panose="02040503050406030204" pitchFamily="18" charset="0"/>
                          <a:ea typeface="Cambria Math" panose="02040503050406030204" pitchFamily="18" charset="0"/>
                        </a:rPr>
                        <m:t>&gt;1</m:t>
                      </m:r>
                    </m:oMath>
                  </m:oMathPara>
                </a14:m>
                <a:endParaRPr lang="en-CN" dirty="0"/>
              </a:p>
            </p:txBody>
          </p:sp>
        </mc:Choice>
        <mc:Fallback xmlns="">
          <p:sp>
            <p:nvSpPr>
              <p:cNvPr id="5" name="TextBox 4">
                <a:extLst>
                  <a:ext uri="{FF2B5EF4-FFF2-40B4-BE49-F238E27FC236}">
                    <a16:creationId xmlns:a16="http://schemas.microsoft.com/office/drawing/2014/main" id="{B2401F2A-312A-8440-08CB-075360E820AB}"/>
                  </a:ext>
                </a:extLst>
              </p:cNvPr>
              <p:cNvSpPr txBox="1">
                <a:spLocks noRot="1" noChangeAspect="1" noMove="1" noResize="1" noEditPoints="1" noAdjustHandles="1" noChangeArrowheads="1" noChangeShapeType="1" noTextEdit="1"/>
              </p:cNvSpPr>
              <p:nvPr/>
            </p:nvSpPr>
            <p:spPr>
              <a:xfrm>
                <a:off x="7772401" y="3278634"/>
                <a:ext cx="3352800" cy="369332"/>
              </a:xfrm>
              <a:prstGeom prst="rect">
                <a:avLst/>
              </a:prstGeom>
              <a:blipFill>
                <a:blip r:embed="rId5"/>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B318EDF-0EFF-AF9B-16F9-41E607AE416D}"/>
                  </a:ext>
                </a:extLst>
              </p:cNvPr>
              <p:cNvSpPr txBox="1"/>
              <p:nvPr/>
            </p:nvSpPr>
            <p:spPr>
              <a:xfrm>
                <a:off x="665018" y="3827317"/>
                <a:ext cx="11069783" cy="947760"/>
              </a:xfrm>
              <a:prstGeom prst="rect">
                <a:avLst/>
              </a:prstGeom>
              <a:noFill/>
            </p:spPr>
            <p:txBody>
              <a:bodyPr wrap="square" rtlCol="0">
                <a:spAutoFit/>
              </a:bodyPr>
              <a:lstStyle/>
              <a:p>
                <a:pPr marL="285750" indent="-285750">
                  <a:buFont typeface="Arial" panose="020B0604020202020204" pitchFamily="34" charset="0"/>
                  <a:buChar char="•"/>
                </a:pPr>
                <a:r>
                  <a:rPr lang="en-CN" dirty="0"/>
                  <a:t>当</a:t>
                </a:r>
                <a14:m>
                  <m:oMath xmlns:m="http://schemas.openxmlformats.org/officeDocument/2006/math">
                    <m:r>
                      <a:rPr lang="en-CN"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𝐽𝑛</m:t>
                    </m:r>
                    <m:r>
                      <a:rPr lang="en-US" i="1">
                        <a:latin typeface="Cambria Math" panose="02040503050406030204" pitchFamily="18" charset="0"/>
                        <a:ea typeface="Cambria Math" panose="02040503050406030204" pitchFamily="18" charset="0"/>
                      </a:rPr>
                      <m:t>&lt;1</m:t>
                    </m:r>
                  </m:oMath>
                </a14:m>
                <a:r>
                  <a:rPr lang="zh-CN" altLang="en-US" dirty="0"/>
                  <a:t>，即</a:t>
                </a:r>
                <a14:m>
                  <m:oMath xmlns:m="http://schemas.openxmlformats.org/officeDocument/2006/math">
                    <m:r>
                      <a:rPr lang="zh-CN" altLang="en-US" i="1" smtClean="0">
                        <a:latin typeface="Cambria Math" panose="02040503050406030204" pitchFamily="18" charset="0"/>
                      </a:rPr>
                      <m:t>𝜏</m:t>
                    </m:r>
                    <m:r>
                      <a:rPr lang="en-US" altLang="zh-CN" b="0" i="1" smtClean="0">
                        <a:latin typeface="Cambria Math" panose="02040503050406030204" pitchFamily="18" charset="0"/>
                      </a:rPr>
                      <m:t>&gt;</m:t>
                    </m:r>
                    <m:r>
                      <a:rPr lang="en-US" altLang="zh-CN" b="0" i="1" smtClean="0">
                        <a:latin typeface="Cambria Math" panose="02040503050406030204" pitchFamily="18" charset="0"/>
                      </a:rPr>
                      <m:t>𝑛𝐽</m:t>
                    </m:r>
                  </m:oMath>
                </a14:m>
                <a:r>
                  <a:rPr lang="en-CN" dirty="0"/>
                  <a:t>, 方程只有一个解</a:t>
                </a:r>
                <a:r>
                  <a:rPr lang="zh-CN" altLang="en-US" dirty="0"/>
                  <a:t>，</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𝑠</m:t>
                        </m:r>
                      </m:e>
                    </m:acc>
                    <m:r>
                      <a:rPr lang="en-US" altLang="zh-CN" b="0" i="1" smtClean="0">
                        <a:latin typeface="Cambria Math" panose="02040503050406030204" pitchFamily="18" charset="0"/>
                      </a:rPr>
                      <m:t>=0</m:t>
                    </m:r>
                  </m:oMath>
                </a14:m>
                <a:endParaRPr lang="en-CN" dirty="0"/>
              </a:p>
              <a:p>
                <a:pPr marL="285750" indent="-285750">
                  <a:buFont typeface="Arial" panose="020B0604020202020204" pitchFamily="34" charset="0"/>
                  <a:buChar char="•"/>
                </a:pPr>
                <a:r>
                  <a:rPr lang="en-CN" dirty="0"/>
                  <a:t>当</a:t>
                </a:r>
                <a14:m>
                  <m:oMath xmlns:m="http://schemas.openxmlformats.org/officeDocument/2006/math">
                    <m:r>
                      <a:rPr lang="en-CN"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𝐽𝑛</m:t>
                    </m:r>
                    <m:r>
                      <a:rPr lang="en-US" altLang="zh-CN" i="1">
                        <a:latin typeface="Cambria Math" panose="02040503050406030204" pitchFamily="18" charset="0"/>
                        <a:ea typeface="Cambria Math" panose="02040503050406030204" pitchFamily="18" charset="0"/>
                      </a:rPr>
                      <m:t>&gt;</m:t>
                    </m:r>
                    <m:r>
                      <a:rPr lang="en-US" i="1">
                        <a:latin typeface="Cambria Math" panose="02040503050406030204" pitchFamily="18" charset="0"/>
                        <a:ea typeface="Cambria Math" panose="02040503050406030204" pitchFamily="18" charset="0"/>
                      </a:rPr>
                      <m:t>1</m:t>
                    </m:r>
                  </m:oMath>
                </a14:m>
                <a:r>
                  <a:rPr lang="zh-CN" altLang="en-US" dirty="0"/>
                  <a:t>，即</a:t>
                </a:r>
                <a14:m>
                  <m:oMath xmlns:m="http://schemas.openxmlformats.org/officeDocument/2006/math">
                    <m:r>
                      <a:rPr lang="zh-CN" altLang="en-US" i="1" smtClean="0">
                        <a:latin typeface="Cambria Math" panose="02040503050406030204" pitchFamily="18" charset="0"/>
                      </a:rPr>
                      <m:t>𝜏</m:t>
                    </m:r>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𝑛𝐽</m:t>
                    </m:r>
                  </m:oMath>
                </a14:m>
                <a:r>
                  <a:rPr lang="zh-CN" altLang="en-US" dirty="0"/>
                  <a:t>，方程有三个解，除了零解外，出现另外两个大小相等，方向相反的解</a:t>
                </a:r>
                <a:endParaRPr lang="en-CN" dirty="0"/>
              </a:p>
              <a:p>
                <a:pPr marL="285750" indent="-285750">
                  <a:buFont typeface="Arial" panose="020B0604020202020204" pitchFamily="34" charset="0"/>
                  <a:buChar char="•"/>
                </a:pPr>
                <a:endParaRPr lang="en-CN" dirty="0"/>
              </a:p>
            </p:txBody>
          </p:sp>
        </mc:Choice>
        <mc:Fallback xmlns="">
          <p:sp>
            <p:nvSpPr>
              <p:cNvPr id="6" name="TextBox 5">
                <a:extLst>
                  <a:ext uri="{FF2B5EF4-FFF2-40B4-BE49-F238E27FC236}">
                    <a16:creationId xmlns:a16="http://schemas.microsoft.com/office/drawing/2014/main" id="{7B318EDF-0EFF-AF9B-16F9-41E607AE416D}"/>
                  </a:ext>
                </a:extLst>
              </p:cNvPr>
              <p:cNvSpPr txBox="1">
                <a:spLocks noRot="1" noChangeAspect="1" noMove="1" noResize="1" noEditPoints="1" noAdjustHandles="1" noChangeArrowheads="1" noChangeShapeType="1" noTextEdit="1"/>
              </p:cNvSpPr>
              <p:nvPr/>
            </p:nvSpPr>
            <p:spPr>
              <a:xfrm>
                <a:off x="665018" y="3827317"/>
                <a:ext cx="11069783" cy="947760"/>
              </a:xfrm>
              <a:prstGeom prst="rect">
                <a:avLst/>
              </a:prstGeom>
              <a:blipFill>
                <a:blip r:embed="rId6"/>
                <a:stretch>
                  <a:fillRect l="-344" t="-2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CB5935-AD56-FB40-BD94-E15F418FAE41}"/>
                  </a:ext>
                </a:extLst>
              </p:cNvPr>
              <p:cNvSpPr txBox="1"/>
              <p:nvPr/>
            </p:nvSpPr>
            <p:spPr>
              <a:xfrm>
                <a:off x="4516582" y="5043055"/>
                <a:ext cx="2549236"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CN" sz="4000" i="1" smtClean="0">
                              <a:latin typeface="Cambria Math" panose="02040503050406030204" pitchFamily="18" charset="0"/>
                              <a:ea typeface="Cambria Math" panose="02040503050406030204" pitchFamily="18" charset="0"/>
                            </a:rPr>
                            <m:t>𝜏</m:t>
                          </m:r>
                        </m:e>
                        <m:sub>
                          <m:r>
                            <a:rPr lang="en-US" sz="4000" b="0" i="1" smtClean="0">
                              <a:latin typeface="Cambria Math" panose="02040503050406030204" pitchFamily="18" charset="0"/>
                            </a:rPr>
                            <m:t>𝑐</m:t>
                          </m:r>
                        </m:sub>
                      </m:sSub>
                      <m:r>
                        <a:rPr lang="en-US" sz="4000" b="0" i="1" smtClean="0">
                          <a:latin typeface="Cambria Math" panose="02040503050406030204" pitchFamily="18" charset="0"/>
                        </a:rPr>
                        <m:t>=</m:t>
                      </m:r>
                      <m:r>
                        <a:rPr lang="en-US" sz="4000" b="0" i="1" smtClean="0">
                          <a:latin typeface="Cambria Math" panose="02040503050406030204" pitchFamily="18" charset="0"/>
                        </a:rPr>
                        <m:t>𝑛𝐽</m:t>
                      </m:r>
                    </m:oMath>
                  </m:oMathPara>
                </a14:m>
                <a:endParaRPr lang="en-CN" sz="4000" dirty="0"/>
              </a:p>
            </p:txBody>
          </p:sp>
        </mc:Choice>
        <mc:Fallback xmlns="">
          <p:sp>
            <p:nvSpPr>
              <p:cNvPr id="7" name="TextBox 6">
                <a:extLst>
                  <a:ext uri="{FF2B5EF4-FFF2-40B4-BE49-F238E27FC236}">
                    <a16:creationId xmlns:a16="http://schemas.microsoft.com/office/drawing/2014/main" id="{F6CB5935-AD56-FB40-BD94-E15F418FAE41}"/>
                  </a:ext>
                </a:extLst>
              </p:cNvPr>
              <p:cNvSpPr txBox="1">
                <a:spLocks noRot="1" noChangeAspect="1" noMove="1" noResize="1" noEditPoints="1" noAdjustHandles="1" noChangeArrowheads="1" noChangeShapeType="1" noTextEdit="1"/>
              </p:cNvSpPr>
              <p:nvPr/>
            </p:nvSpPr>
            <p:spPr>
              <a:xfrm>
                <a:off x="4516582" y="5043055"/>
                <a:ext cx="2549236" cy="707886"/>
              </a:xfrm>
              <a:prstGeom prst="rect">
                <a:avLst/>
              </a:prstGeom>
              <a:blipFill>
                <a:blip r:embed="rId7"/>
                <a:stretch>
                  <a:fillRect b="-21053"/>
                </a:stretch>
              </a:blipFill>
            </p:spPr>
            <p:txBody>
              <a:bodyPr/>
              <a:lstStyle/>
              <a:p>
                <a:r>
                  <a:rPr lang="en-CN">
                    <a:noFill/>
                  </a:rPr>
                  <a:t> </a:t>
                </a:r>
              </a:p>
            </p:txBody>
          </p:sp>
        </mc:Fallback>
      </mc:AlternateContent>
    </p:spTree>
    <p:extLst>
      <p:ext uri="{BB962C8B-B14F-4D97-AF65-F5344CB8AC3E}">
        <p14:creationId xmlns:p14="http://schemas.microsoft.com/office/powerpoint/2010/main" val="1739633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3EC023-CF7B-2E2C-F50C-9A886617328A}"/>
              </a:ext>
            </a:extLst>
          </p:cNvPr>
          <p:cNvPicPr>
            <a:picLocks noChangeAspect="1"/>
          </p:cNvPicPr>
          <p:nvPr/>
        </p:nvPicPr>
        <p:blipFill>
          <a:blip r:embed="rId2"/>
          <a:stretch>
            <a:fillRect/>
          </a:stretch>
        </p:blipFill>
        <p:spPr>
          <a:xfrm>
            <a:off x="3962400" y="96982"/>
            <a:ext cx="3792104" cy="244783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8E24803-8509-C06C-DB09-C0A348181449}"/>
                  </a:ext>
                </a:extLst>
              </p:cNvPr>
              <p:cNvSpPr txBox="1"/>
              <p:nvPr/>
            </p:nvSpPr>
            <p:spPr>
              <a:xfrm>
                <a:off x="858982" y="3200400"/>
                <a:ext cx="10238509" cy="1871025"/>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关于对称性破缺</a:t>
                </a: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系统的哈密顿量或者拉氏量具有某种对称性</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𝐻</m:t>
                          </m:r>
                        </m:e>
                        <m:sub>
                          <m:r>
                            <a:rPr lang="en-US" b="0" i="1" smtClean="0">
                              <a:latin typeface="Cambria Math" panose="02040503050406030204" pitchFamily="18" charset="0"/>
                              <a:ea typeface="FangSong" panose="02010609060101010101" pitchFamily="49" charset="-122"/>
                            </a:rPr>
                            <m:t>𝑠</m:t>
                          </m:r>
                        </m:sub>
                      </m:sSub>
                      <m:r>
                        <a:rPr lang="en-US" b="0" i="1" smtClean="0">
                          <a:latin typeface="Cambria Math" panose="02040503050406030204" pitchFamily="18" charset="0"/>
                          <a:ea typeface="FangSong" panose="02010609060101010101" pitchFamily="49" charset="-122"/>
                        </a:rPr>
                        <m:t>=</m:t>
                      </m:r>
                      <m:nary>
                        <m:naryPr>
                          <m:chr m:val="∑"/>
                          <m:subHide m:val="on"/>
                          <m:supHide m:val="on"/>
                          <m:ctrlPr>
                            <a:rPr lang="en-US" b="0" i="1" smtClean="0">
                              <a:latin typeface="Cambria Math" panose="02040503050406030204" pitchFamily="18" charset="0"/>
                              <a:ea typeface="FangSong" panose="02010609060101010101" pitchFamily="49" charset="-122"/>
                            </a:rPr>
                          </m:ctrlPr>
                        </m:naryPr>
                        <m:sub/>
                        <m:sup/>
                        <m:e>
                          <m:r>
                            <a:rPr lang="en-US" b="0" i="1" smtClean="0">
                              <a:latin typeface="Cambria Math" panose="02040503050406030204" pitchFamily="18" charset="0"/>
                              <a:ea typeface="FangSong" panose="02010609060101010101" pitchFamily="49" charset="-122"/>
                            </a:rPr>
                            <m:t>𝑠𝑠</m:t>
                          </m:r>
                        </m:e>
                      </m:nary>
                      <m:groupChr>
                        <m:groupChrPr>
                          <m:chr m:val="→"/>
                          <m:pos m:val="top"/>
                          <m:ctrlPr>
                            <a:rPr lang="en-US" b="0" i="1" smtClean="0">
                              <a:latin typeface="Cambria Math" panose="02040503050406030204" pitchFamily="18" charset="0"/>
                              <a:ea typeface="FangSong" panose="02010609060101010101" pitchFamily="49" charset="-122"/>
                            </a:rPr>
                          </m:ctrlPr>
                        </m:groupChrPr>
                        <m:e>
                          <m:r>
                            <m:rPr>
                              <m:brk m:alnAt="1"/>
                            </m:rPr>
                            <a:rPr lang="en-US" b="0" i="1" smtClean="0">
                              <a:latin typeface="Cambria Math" panose="02040503050406030204" pitchFamily="18" charset="0"/>
                              <a:ea typeface="FangSong" panose="02010609060101010101" pitchFamily="49" charset="-122"/>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e>
                      </m:groupChr>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𝐻</m:t>
                          </m:r>
                        </m:e>
                        <m:sub>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𝑠</m:t>
                          </m:r>
                        </m:sub>
                      </m:sSub>
                      <m:r>
                        <a:rPr lang="en-US" b="0" i="1" smtClean="0">
                          <a:latin typeface="Cambria Math" panose="02040503050406030204" pitchFamily="18" charset="0"/>
                          <a:ea typeface="FangSong" panose="02010609060101010101" pitchFamily="49" charset="-122"/>
                        </a:rPr>
                        <m:t>=</m:t>
                      </m:r>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FangSong" panose="02010609060101010101" pitchFamily="49" charset="-122"/>
                            </a:rPr>
                            <m:t>𝐻</m:t>
                          </m:r>
                        </m:e>
                        <m:sub>
                          <m:r>
                            <a:rPr lang="en-US" b="0" i="1" smtClean="0">
                              <a:latin typeface="Cambria Math" panose="02040503050406030204" pitchFamily="18" charset="0"/>
                              <a:ea typeface="FangSong" panose="02010609060101010101" pitchFamily="49" charset="-122"/>
                            </a:rPr>
                            <m:t>𝑠</m:t>
                          </m:r>
                        </m:sub>
                      </m:sSub>
                    </m:oMath>
                  </m:oMathPara>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当温度大于临界值时</a:t>
                </a:r>
                <a:r>
                  <a:rPr lang="zh-CN" altLang="en-US" dirty="0">
                    <a:latin typeface="FangSong" panose="02010609060101010101" pitchFamily="49" charset="-122"/>
                    <a:ea typeface="FangSong" panose="02010609060101010101" pitchFamily="49" charset="-122"/>
                  </a:rPr>
                  <a:t>，只有一个解（零），该解代表的态具有和拉氏量同样的对称性，（顺磁相）</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当温度小于临界值时，</a:t>
                </a:r>
                <a:r>
                  <a:rPr lang="zh-CN" altLang="en-US" dirty="0">
                    <a:solidFill>
                      <a:srgbClr val="C00000"/>
                    </a:solidFill>
                    <a:latin typeface="FangSong" panose="02010609060101010101" pitchFamily="49" charset="-122"/>
                    <a:ea typeface="FangSong" panose="02010609060101010101" pitchFamily="49" charset="-122"/>
                  </a:rPr>
                  <a:t>出现不等于零的解</a:t>
                </a:r>
                <a:r>
                  <a:rPr lang="zh-CN" altLang="en-US" dirty="0">
                    <a:latin typeface="FangSong" panose="02010609060101010101" pitchFamily="49" charset="-122"/>
                    <a:ea typeface="FangSong" panose="02010609060101010101" pitchFamily="49" charset="-122"/>
                  </a:rPr>
                  <a:t>，上下不再对称，对称性破缺，（铁磁相）</a:t>
                </a:r>
                <a:endParaRPr lang="en-CN" dirty="0">
                  <a:latin typeface="FangSong" panose="02010609060101010101" pitchFamily="49" charset="-122"/>
                  <a:ea typeface="FangSong" panose="02010609060101010101" pitchFamily="49" charset="-122"/>
                </a:endParaRPr>
              </a:p>
            </p:txBody>
          </p:sp>
        </mc:Choice>
        <mc:Fallback xmlns="">
          <p:sp>
            <p:nvSpPr>
              <p:cNvPr id="3" name="TextBox 2">
                <a:extLst>
                  <a:ext uri="{FF2B5EF4-FFF2-40B4-BE49-F238E27FC236}">
                    <a16:creationId xmlns:a16="http://schemas.microsoft.com/office/drawing/2014/main" id="{A8E24803-8509-C06C-DB09-C0A348181449}"/>
                  </a:ext>
                </a:extLst>
              </p:cNvPr>
              <p:cNvSpPr txBox="1">
                <a:spLocks noRot="1" noChangeAspect="1" noMove="1" noResize="1" noEditPoints="1" noAdjustHandles="1" noChangeArrowheads="1" noChangeShapeType="1" noTextEdit="1"/>
              </p:cNvSpPr>
              <p:nvPr/>
            </p:nvSpPr>
            <p:spPr>
              <a:xfrm>
                <a:off x="858982" y="3200400"/>
                <a:ext cx="10238509" cy="1871025"/>
              </a:xfrm>
              <a:prstGeom prst="rect">
                <a:avLst/>
              </a:prstGeom>
              <a:blipFill>
                <a:blip r:embed="rId3"/>
                <a:stretch>
                  <a:fillRect l="-496" t="-20946" b="-40541"/>
                </a:stretch>
              </a:blipFill>
            </p:spPr>
            <p:txBody>
              <a:bodyPr/>
              <a:lstStyle/>
              <a:p>
                <a:r>
                  <a:rPr lang="en-CN">
                    <a:noFill/>
                  </a:rPr>
                  <a:t> </a:t>
                </a:r>
              </a:p>
            </p:txBody>
          </p:sp>
        </mc:Fallback>
      </mc:AlternateContent>
    </p:spTree>
    <p:extLst>
      <p:ext uri="{BB962C8B-B14F-4D97-AF65-F5344CB8AC3E}">
        <p14:creationId xmlns:p14="http://schemas.microsoft.com/office/powerpoint/2010/main" val="3451724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3EC023-CF7B-2E2C-F50C-9A886617328A}"/>
              </a:ext>
            </a:extLst>
          </p:cNvPr>
          <p:cNvPicPr>
            <a:picLocks noChangeAspect="1"/>
          </p:cNvPicPr>
          <p:nvPr/>
        </p:nvPicPr>
        <p:blipFill>
          <a:blip r:embed="rId2"/>
          <a:stretch>
            <a:fillRect/>
          </a:stretch>
        </p:blipFill>
        <p:spPr>
          <a:xfrm>
            <a:off x="3962400" y="96982"/>
            <a:ext cx="3792104" cy="2447837"/>
          </a:xfrm>
          <a:prstGeom prst="rect">
            <a:avLst/>
          </a:prstGeom>
        </p:spPr>
      </p:pic>
      <p:sp>
        <p:nvSpPr>
          <p:cNvPr id="3" name="TextBox 2">
            <a:extLst>
              <a:ext uri="{FF2B5EF4-FFF2-40B4-BE49-F238E27FC236}">
                <a16:creationId xmlns:a16="http://schemas.microsoft.com/office/drawing/2014/main" id="{A8E24803-8509-C06C-DB09-C0A348181449}"/>
              </a:ext>
            </a:extLst>
          </p:cNvPr>
          <p:cNvSpPr txBox="1"/>
          <p:nvPr/>
        </p:nvSpPr>
        <p:spPr>
          <a:xfrm>
            <a:off x="739197" y="2826327"/>
            <a:ext cx="10238509" cy="369332"/>
          </a:xfrm>
          <a:prstGeom prst="rect">
            <a:avLst/>
          </a:prstGeom>
          <a:noFill/>
        </p:spPr>
        <p:txBody>
          <a:bodyPr wrap="square" rtlCol="0">
            <a:spAutoFit/>
          </a:bodyPr>
          <a:lstStyle/>
          <a:p>
            <a:r>
              <a:rPr lang="zh-CN" altLang="en-US" dirty="0">
                <a:latin typeface="FangSong" panose="02010609060101010101" pitchFamily="49" charset="-122"/>
                <a:ea typeface="FangSong" panose="02010609060101010101" pitchFamily="49" charset="-122"/>
              </a:rPr>
              <a:t>当温度小于临界值时，</a:t>
            </a:r>
            <a:r>
              <a:rPr lang="zh-CN" altLang="en-US" dirty="0">
                <a:solidFill>
                  <a:srgbClr val="C00000"/>
                </a:solidFill>
                <a:latin typeface="FangSong" panose="02010609060101010101" pitchFamily="49" charset="-122"/>
                <a:ea typeface="FangSong" panose="02010609060101010101" pitchFamily="49" charset="-122"/>
              </a:rPr>
              <a:t>出现不等于零的解</a:t>
            </a:r>
            <a:r>
              <a:rPr lang="zh-CN" altLang="en-US" dirty="0">
                <a:latin typeface="FangSong" panose="02010609060101010101" pitchFamily="49" charset="-122"/>
                <a:ea typeface="FangSong" panose="02010609060101010101" pitchFamily="49" charset="-122"/>
              </a:rPr>
              <a:t>，哪个解是物理的？</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839608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3EC023-CF7B-2E2C-F50C-9A886617328A}"/>
              </a:ext>
            </a:extLst>
          </p:cNvPr>
          <p:cNvPicPr>
            <a:picLocks noChangeAspect="1"/>
          </p:cNvPicPr>
          <p:nvPr/>
        </p:nvPicPr>
        <p:blipFill>
          <a:blip r:embed="rId2"/>
          <a:stretch>
            <a:fillRect/>
          </a:stretch>
        </p:blipFill>
        <p:spPr>
          <a:xfrm>
            <a:off x="3962400" y="96982"/>
            <a:ext cx="3792104" cy="2447837"/>
          </a:xfrm>
          <a:prstGeom prst="rect">
            <a:avLst/>
          </a:prstGeom>
        </p:spPr>
      </p:pic>
      <p:sp>
        <p:nvSpPr>
          <p:cNvPr id="3" name="TextBox 2">
            <a:extLst>
              <a:ext uri="{FF2B5EF4-FFF2-40B4-BE49-F238E27FC236}">
                <a16:creationId xmlns:a16="http://schemas.microsoft.com/office/drawing/2014/main" id="{A8E24803-8509-C06C-DB09-C0A348181449}"/>
              </a:ext>
            </a:extLst>
          </p:cNvPr>
          <p:cNvSpPr txBox="1"/>
          <p:nvPr/>
        </p:nvSpPr>
        <p:spPr>
          <a:xfrm>
            <a:off x="739197" y="2826327"/>
            <a:ext cx="10238509" cy="369332"/>
          </a:xfrm>
          <a:prstGeom prst="rect">
            <a:avLst/>
          </a:prstGeom>
          <a:noFill/>
        </p:spPr>
        <p:txBody>
          <a:bodyPr wrap="square" rtlCol="0">
            <a:spAutoFit/>
          </a:bodyPr>
          <a:lstStyle/>
          <a:p>
            <a:r>
              <a:rPr lang="zh-CN" altLang="en-US" dirty="0">
                <a:latin typeface="FangSong" panose="02010609060101010101" pitchFamily="49" charset="-122"/>
                <a:ea typeface="FangSong" panose="02010609060101010101" pitchFamily="49" charset="-122"/>
              </a:rPr>
              <a:t>当温度趋于临界温度时候，自旋平均值以何种方式趋于零？</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70900D-1956-FCEC-D29A-93240FFC1812}"/>
                  </a:ext>
                </a:extLst>
              </p:cNvPr>
              <p:cNvSpPr txBox="1"/>
              <p:nvPr/>
            </p:nvSpPr>
            <p:spPr>
              <a:xfrm>
                <a:off x="3708112" y="5327886"/>
                <a:ext cx="3972213" cy="6874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𝑠</m:t>
                          </m:r>
                        </m:e>
                      </m:acc>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𝑐</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CN" dirty="0"/>
              </a:p>
            </p:txBody>
          </p:sp>
        </mc:Choice>
        <mc:Fallback xmlns="">
          <p:sp>
            <p:nvSpPr>
              <p:cNvPr id="4" name="TextBox 3">
                <a:extLst>
                  <a:ext uri="{FF2B5EF4-FFF2-40B4-BE49-F238E27FC236}">
                    <a16:creationId xmlns:a16="http://schemas.microsoft.com/office/drawing/2014/main" id="{F670900D-1956-FCEC-D29A-93240FFC1812}"/>
                  </a:ext>
                </a:extLst>
              </p:cNvPr>
              <p:cNvSpPr txBox="1">
                <a:spLocks noRot="1" noChangeAspect="1" noMove="1" noResize="1" noEditPoints="1" noAdjustHandles="1" noChangeArrowheads="1" noChangeShapeType="1" noTextEdit="1"/>
              </p:cNvSpPr>
              <p:nvPr/>
            </p:nvSpPr>
            <p:spPr>
              <a:xfrm>
                <a:off x="3708112" y="5327886"/>
                <a:ext cx="3972213" cy="6874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AF756D6-3FDB-1CFB-E3C5-FEBAE1A11531}"/>
                  </a:ext>
                </a:extLst>
              </p:cNvPr>
              <p:cNvSpPr txBox="1"/>
              <p:nvPr/>
            </p:nvSpPr>
            <p:spPr>
              <a:xfrm>
                <a:off x="3449783" y="3348064"/>
                <a:ext cx="4765964" cy="6366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𝑠</m:t>
                              </m:r>
                            </m:e>
                          </m:acc>
                          <m:r>
                            <a:rPr lang="en-US" b="0" i="1" smtClean="0">
                              <a:latin typeface="Cambria Math" panose="02040503050406030204" pitchFamily="18" charset="0"/>
                            </a:rPr>
                            <m:t>=</m:t>
                          </m:r>
                          <m:r>
                            <m:rPr>
                              <m:sty m:val="p"/>
                            </m:rPr>
                            <a:rPr lang="en-US" b="0" i="0" smtClean="0">
                              <a:latin typeface="Cambria Math" panose="02040503050406030204" pitchFamily="18" charset="0"/>
                            </a:rPr>
                            <m:t>tanh</m:t>
                          </m:r>
                        </m:fName>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𝐽𝑛</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𝑠</m:t>
                              </m:r>
                            </m:e>
                          </m:ac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tanh</m:t>
                              </m:r>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𝑐</m:t>
                                      </m:r>
                                    </m:sub>
                                  </m:sSub>
                                </m:num>
                                <m:den>
                                  <m:r>
                                    <a:rPr lang="en-US" b="0" i="1" smtClean="0">
                                      <a:latin typeface="Cambria Math" panose="02040503050406030204" pitchFamily="18" charset="0"/>
                                      <a:ea typeface="Cambria Math" panose="02040503050406030204" pitchFamily="18" charset="0"/>
                                    </a:rPr>
                                    <m:t>𝜏</m:t>
                                  </m:r>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𝑠</m:t>
                                  </m:r>
                                </m:e>
                              </m:acc>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rPr>
                                        <m:t>𝑐</m:t>
                                      </m:r>
                                    </m:sub>
                                  </m:sSub>
                                </m:num>
                                <m:den>
                                  <m:r>
                                    <a:rPr lang="en-US" i="1">
                                      <a:latin typeface="Cambria Math" panose="02040503050406030204" pitchFamily="18" charset="0"/>
                                      <a:ea typeface="Cambria Math" panose="02040503050406030204" pitchFamily="18" charset="0"/>
                                    </a:rPr>
                                    <m:t>𝜏</m:t>
                                  </m:r>
                                </m:den>
                              </m:f>
                              <m:acc>
                                <m:accPr>
                                  <m:chr m:val="̅"/>
                                  <m:ctrlPr>
                                    <a:rPr lang="en-US" i="1">
                                      <a:latin typeface="Cambria Math" panose="02040503050406030204" pitchFamily="18" charset="0"/>
                                    </a:rPr>
                                  </m:ctrlPr>
                                </m:accPr>
                                <m:e>
                                  <m:r>
                                    <a:rPr lang="en-US" i="1">
                                      <a:latin typeface="Cambria Math" panose="02040503050406030204" pitchFamily="18" charset="0"/>
                                    </a:rPr>
                                    <m:t>𝑠</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rPr>
                                                <m:t>𝑐</m:t>
                                              </m:r>
                                            </m:sub>
                                          </m:sSub>
                                        </m:num>
                                        <m:den>
                                          <m:r>
                                            <a:rPr lang="en-US" i="1">
                                              <a:latin typeface="Cambria Math" panose="02040503050406030204" pitchFamily="18" charset="0"/>
                                              <a:ea typeface="Cambria Math" panose="02040503050406030204" pitchFamily="18" charset="0"/>
                                            </a:rPr>
                                            <m:t>𝜏</m:t>
                                          </m:r>
                                        </m:den>
                                      </m:f>
                                      <m:acc>
                                        <m:accPr>
                                          <m:chr m:val="̅"/>
                                          <m:ctrlPr>
                                            <a:rPr lang="en-US" i="1">
                                              <a:latin typeface="Cambria Math" panose="02040503050406030204" pitchFamily="18" charset="0"/>
                                            </a:rPr>
                                          </m:ctrlPr>
                                        </m:accPr>
                                        <m:e>
                                          <m:r>
                                            <a:rPr lang="en-US" i="1">
                                              <a:latin typeface="Cambria Math" panose="02040503050406030204" pitchFamily="18" charset="0"/>
                                            </a:rPr>
                                            <m:t>𝑠</m:t>
                                          </m:r>
                                        </m:e>
                                      </m:acc>
                                    </m:e>
                                  </m:d>
                                </m:e>
                                <m:sup>
                                  <m:r>
                                    <a:rPr lang="en-US" b="0" i="1" smtClean="0">
                                      <a:latin typeface="Cambria Math" panose="02040503050406030204" pitchFamily="18" charset="0"/>
                                    </a:rPr>
                                    <m:t>3</m:t>
                                  </m:r>
                                </m:sup>
                              </m:sSup>
                              <m:r>
                                <a:rPr lang="en-US" b="0" i="1" smtClean="0">
                                  <a:latin typeface="Cambria Math" panose="02040503050406030204" pitchFamily="18" charset="0"/>
                                </a:rPr>
                                <m:t>+…</m:t>
                              </m:r>
                            </m:e>
                          </m:func>
                        </m:e>
                      </m:func>
                    </m:oMath>
                  </m:oMathPara>
                </a14:m>
                <a:endParaRPr lang="en-CN" dirty="0"/>
              </a:p>
            </p:txBody>
          </p:sp>
        </mc:Choice>
        <mc:Fallback xmlns="">
          <p:sp>
            <p:nvSpPr>
              <p:cNvPr id="7" name="TextBox 6">
                <a:extLst>
                  <a:ext uri="{FF2B5EF4-FFF2-40B4-BE49-F238E27FC236}">
                    <a16:creationId xmlns:a16="http://schemas.microsoft.com/office/drawing/2014/main" id="{3AF756D6-3FDB-1CFB-E3C5-FEBAE1A11531}"/>
                  </a:ext>
                </a:extLst>
              </p:cNvPr>
              <p:cNvSpPr txBox="1">
                <a:spLocks noRot="1" noChangeAspect="1" noMove="1" noResize="1" noEditPoints="1" noAdjustHandles="1" noChangeArrowheads="1" noChangeShapeType="1" noTextEdit="1"/>
              </p:cNvSpPr>
              <p:nvPr/>
            </p:nvSpPr>
            <p:spPr>
              <a:xfrm>
                <a:off x="3449783" y="3348064"/>
                <a:ext cx="4765964" cy="636649"/>
              </a:xfrm>
              <a:prstGeom prst="rect">
                <a:avLst/>
              </a:prstGeom>
              <a:blipFill>
                <a:blip r:embed="rId4"/>
                <a:stretch>
                  <a:fillRect r="-2918" b="-1961"/>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87DE2903-B8DC-D2F4-0827-3ABB2C5C5672}"/>
              </a:ext>
            </a:extLst>
          </p:cNvPr>
          <p:cNvSpPr/>
          <p:nvPr/>
        </p:nvSpPr>
        <p:spPr>
          <a:xfrm>
            <a:off x="5458692" y="4168690"/>
            <a:ext cx="471055" cy="9713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9170083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C1FF35-2945-99D9-B307-C1154ABCDD04}"/>
              </a:ext>
            </a:extLst>
          </p:cNvPr>
          <p:cNvSpPr txBox="1"/>
          <p:nvPr/>
        </p:nvSpPr>
        <p:spPr>
          <a:xfrm>
            <a:off x="3075709" y="193964"/>
            <a:ext cx="5043054" cy="369332"/>
          </a:xfrm>
          <a:prstGeom prst="rect">
            <a:avLst/>
          </a:prstGeom>
          <a:noFill/>
        </p:spPr>
        <p:txBody>
          <a:bodyPr wrap="square" rtlCol="0">
            <a:spAutoFit/>
          </a:bodyPr>
          <a:lstStyle/>
          <a:p>
            <a:pPr algn="ctr"/>
            <a:r>
              <a:rPr lang="en-CN" dirty="0">
                <a:latin typeface="FangSong" panose="02010609060101010101" pitchFamily="49" charset="-122"/>
                <a:ea typeface="FangSong" panose="02010609060101010101" pitchFamily="49" charset="-122"/>
              </a:rPr>
              <a:t>关联函数</a:t>
            </a:r>
            <a:r>
              <a:rPr lang="zh-CN" altLang="en-US" dirty="0">
                <a:latin typeface="FangSong" panose="02010609060101010101" pitchFamily="49" charset="-122"/>
                <a:ea typeface="FangSong" panose="02010609060101010101" pitchFamily="49" charset="-122"/>
              </a:rPr>
              <a:t>（抄书）</a:t>
            </a:r>
            <a:endParaRPr lang="en-CN" dirty="0">
              <a:latin typeface="FangSong" panose="02010609060101010101" pitchFamily="49" charset="-122"/>
              <a:ea typeface="FangSong" panose="02010609060101010101" pitchFamily="49" charset="-122"/>
            </a:endParaRPr>
          </a:p>
        </p:txBody>
      </p:sp>
      <p:pic>
        <p:nvPicPr>
          <p:cNvPr id="3" name="Picture 2">
            <a:extLst>
              <a:ext uri="{FF2B5EF4-FFF2-40B4-BE49-F238E27FC236}">
                <a16:creationId xmlns:a16="http://schemas.microsoft.com/office/drawing/2014/main" id="{A236FB28-71DF-8540-ECD9-719B268A1AAB}"/>
              </a:ext>
            </a:extLst>
          </p:cNvPr>
          <p:cNvPicPr>
            <a:picLocks noChangeAspect="1"/>
          </p:cNvPicPr>
          <p:nvPr/>
        </p:nvPicPr>
        <p:blipFill>
          <a:blip r:embed="rId2"/>
          <a:stretch>
            <a:fillRect/>
          </a:stretch>
        </p:blipFill>
        <p:spPr>
          <a:xfrm>
            <a:off x="0" y="563296"/>
            <a:ext cx="6176139" cy="6294704"/>
          </a:xfrm>
          <a:prstGeom prst="rect">
            <a:avLst/>
          </a:prstGeom>
        </p:spPr>
      </p:pic>
      <p:pic>
        <p:nvPicPr>
          <p:cNvPr id="6" name="Picture 5">
            <a:extLst>
              <a:ext uri="{FF2B5EF4-FFF2-40B4-BE49-F238E27FC236}">
                <a16:creationId xmlns:a16="http://schemas.microsoft.com/office/drawing/2014/main" id="{C62F2D29-2891-93C9-7CA0-67C1ADC60D37}"/>
              </a:ext>
            </a:extLst>
          </p:cNvPr>
          <p:cNvPicPr>
            <a:picLocks noChangeAspect="1"/>
          </p:cNvPicPr>
          <p:nvPr/>
        </p:nvPicPr>
        <p:blipFill>
          <a:blip r:embed="rId3"/>
          <a:stretch>
            <a:fillRect/>
          </a:stretch>
        </p:blipFill>
        <p:spPr>
          <a:xfrm>
            <a:off x="6170041" y="641866"/>
            <a:ext cx="6021959" cy="6137564"/>
          </a:xfrm>
          <a:prstGeom prst="rect">
            <a:avLst/>
          </a:prstGeom>
        </p:spPr>
      </p:pic>
    </p:spTree>
    <p:extLst>
      <p:ext uri="{BB962C8B-B14F-4D97-AF65-F5344CB8AC3E}">
        <p14:creationId xmlns:p14="http://schemas.microsoft.com/office/powerpoint/2010/main" val="1627216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33977</TotalTime>
  <Words>1560</Words>
  <Application>Microsoft Macintosh PowerPoint</Application>
  <PresentationFormat>Widescreen</PresentationFormat>
  <Paragraphs>295</Paragraphs>
  <Slides>48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FangSong</vt:lpstr>
      <vt:lpstr>Songti TC</vt:lpstr>
      <vt:lpstr>Arial</vt:lpstr>
      <vt:lpstr>Calibri</vt:lpstr>
      <vt:lpstr>Calibri Light</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Paramagnet（顺磁体       vs        铁磁体）</vt:lpstr>
      <vt:lpstr>Paramagnet（顺磁体       vs        铁磁体）</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356</cp:revision>
  <dcterms:created xsi:type="dcterms:W3CDTF">2022-02-02T22:31:46Z</dcterms:created>
  <dcterms:modified xsi:type="dcterms:W3CDTF">2023-05-09T05:57:21Z</dcterms:modified>
</cp:coreProperties>
</file>