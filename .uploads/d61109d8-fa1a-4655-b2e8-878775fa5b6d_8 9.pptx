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1" r:id="rId2"/>
    <p:sldId id="361" r:id="rId3"/>
    <p:sldId id="303" r:id="rId4"/>
    <p:sldId id="284" r:id="rId5"/>
    <p:sldId id="285" r:id="rId6"/>
    <p:sldId id="287" r:id="rId7"/>
    <p:sldId id="304" r:id="rId8"/>
    <p:sldId id="286" r:id="rId9"/>
    <p:sldId id="310" r:id="rId10"/>
    <p:sldId id="311" r:id="rId11"/>
    <p:sldId id="290" r:id="rId12"/>
    <p:sldId id="320" r:id="rId13"/>
    <p:sldId id="321" r:id="rId14"/>
    <p:sldId id="306" r:id="rId15"/>
    <p:sldId id="309" r:id="rId16"/>
    <p:sldId id="302" r:id="rId17"/>
    <p:sldId id="307" r:id="rId18"/>
    <p:sldId id="312" r:id="rId19"/>
    <p:sldId id="313" r:id="rId20"/>
    <p:sldId id="314" r:id="rId21"/>
    <p:sldId id="288" r:id="rId22"/>
    <p:sldId id="289" r:id="rId23"/>
    <p:sldId id="305" r:id="rId24"/>
    <p:sldId id="291" r:id="rId25"/>
    <p:sldId id="292" r:id="rId26"/>
    <p:sldId id="293" r:id="rId27"/>
    <p:sldId id="294" r:id="rId28"/>
    <p:sldId id="295" r:id="rId29"/>
    <p:sldId id="296" r:id="rId30"/>
    <p:sldId id="298" r:id="rId31"/>
    <p:sldId id="299" r:id="rId32"/>
    <p:sldId id="315" r:id="rId33"/>
    <p:sldId id="316" r:id="rId34"/>
    <p:sldId id="317" r:id="rId35"/>
    <p:sldId id="318" r:id="rId36"/>
    <p:sldId id="300" r:id="rId37"/>
    <p:sldId id="301" r:id="rId38"/>
    <p:sldId id="308" r:id="rId39"/>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90"/>
    <p:restoredTop sz="94697"/>
  </p:normalViewPr>
  <p:slideViewPr>
    <p:cSldViewPr snapToGrid="0" snapToObjects="1">
      <p:cViewPr varScale="1">
        <p:scale>
          <a:sx n="120" d="100"/>
          <a:sy n="120" d="100"/>
        </p:scale>
        <p:origin x="-44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D7C1-D8EB-D547-BCEE-EC505565F5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2089B034-FF72-0842-A5AB-84F0A71076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3FD5C968-918F-8641-AE02-594B5224B66F}"/>
              </a:ext>
            </a:extLst>
          </p:cNvPr>
          <p:cNvSpPr>
            <a:spLocks noGrp="1"/>
          </p:cNvSpPr>
          <p:nvPr>
            <p:ph type="dt" sz="half" idx="10"/>
          </p:nvPr>
        </p:nvSpPr>
        <p:spPr/>
        <p:txBody>
          <a:bodyPr/>
          <a:lstStyle/>
          <a:p>
            <a:fld id="{E800E28F-22DF-9E47-9EC9-E68F8BF2B40B}" type="datetimeFigureOut">
              <a:rPr lang="en-CN" smtClean="0"/>
              <a:t>2023/4/12</a:t>
            </a:fld>
            <a:endParaRPr lang="en-CN"/>
          </a:p>
        </p:txBody>
      </p:sp>
      <p:sp>
        <p:nvSpPr>
          <p:cNvPr id="5" name="Footer Placeholder 4">
            <a:extLst>
              <a:ext uri="{FF2B5EF4-FFF2-40B4-BE49-F238E27FC236}">
                <a16:creationId xmlns:a16="http://schemas.microsoft.com/office/drawing/2014/main" id="{3519C305-E85D-1548-A375-1DBDEDB5978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2873FDED-A1AE-D846-9147-0D1EE8B81396}"/>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54886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013E-BDF0-8C4A-B4ED-0D321223FDC4}"/>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007ABE0F-0622-5C49-AEF9-031610282B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8EF4ABA-C3F7-F04B-B87A-4A9D3D3BA1AF}"/>
              </a:ext>
            </a:extLst>
          </p:cNvPr>
          <p:cNvSpPr>
            <a:spLocks noGrp="1"/>
          </p:cNvSpPr>
          <p:nvPr>
            <p:ph type="dt" sz="half" idx="10"/>
          </p:nvPr>
        </p:nvSpPr>
        <p:spPr/>
        <p:txBody>
          <a:bodyPr/>
          <a:lstStyle/>
          <a:p>
            <a:fld id="{E800E28F-22DF-9E47-9EC9-E68F8BF2B40B}" type="datetimeFigureOut">
              <a:rPr lang="en-CN" smtClean="0"/>
              <a:t>2023/4/12</a:t>
            </a:fld>
            <a:endParaRPr lang="en-CN"/>
          </a:p>
        </p:txBody>
      </p:sp>
      <p:sp>
        <p:nvSpPr>
          <p:cNvPr id="5" name="Footer Placeholder 4">
            <a:extLst>
              <a:ext uri="{FF2B5EF4-FFF2-40B4-BE49-F238E27FC236}">
                <a16:creationId xmlns:a16="http://schemas.microsoft.com/office/drawing/2014/main" id="{FD28897E-B07B-B441-BDAF-727D0E889B1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FA11B97-AE03-0E47-93A0-D14C3D946881}"/>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43825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3D1F-C55B-2F42-AE7E-78E4DC54AD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86FFFBC5-80CC-8C45-9404-C9556920AE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B78CD9-0063-224A-90B2-5B178A6FB8BD}"/>
              </a:ext>
            </a:extLst>
          </p:cNvPr>
          <p:cNvSpPr>
            <a:spLocks noGrp="1"/>
          </p:cNvSpPr>
          <p:nvPr>
            <p:ph type="dt" sz="half" idx="10"/>
          </p:nvPr>
        </p:nvSpPr>
        <p:spPr/>
        <p:txBody>
          <a:bodyPr/>
          <a:lstStyle/>
          <a:p>
            <a:fld id="{E800E28F-22DF-9E47-9EC9-E68F8BF2B40B}" type="datetimeFigureOut">
              <a:rPr lang="en-CN" smtClean="0"/>
              <a:t>2023/4/12</a:t>
            </a:fld>
            <a:endParaRPr lang="en-CN"/>
          </a:p>
        </p:txBody>
      </p:sp>
      <p:sp>
        <p:nvSpPr>
          <p:cNvPr id="5" name="Footer Placeholder 4">
            <a:extLst>
              <a:ext uri="{FF2B5EF4-FFF2-40B4-BE49-F238E27FC236}">
                <a16:creationId xmlns:a16="http://schemas.microsoft.com/office/drawing/2014/main" id="{64A6CE81-9F37-BF4C-BDF3-A9FBC99E240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AF3B8F5E-2051-1745-8C26-13E510972A2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648670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5BE8-2906-8E4F-AF10-6C859962C87A}"/>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5877BC1-205D-ED44-902E-6DC52E37D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86DCF4BC-B5D9-7A46-9CA0-C1833531EB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729A32F2-DC1B-494A-8AB9-039BCA541EDF}"/>
              </a:ext>
            </a:extLst>
          </p:cNvPr>
          <p:cNvSpPr>
            <a:spLocks noGrp="1"/>
          </p:cNvSpPr>
          <p:nvPr>
            <p:ph type="dt" sz="half" idx="10"/>
          </p:nvPr>
        </p:nvSpPr>
        <p:spPr/>
        <p:txBody>
          <a:bodyPr/>
          <a:lstStyle/>
          <a:p>
            <a:fld id="{E800E28F-22DF-9E47-9EC9-E68F8BF2B40B}" type="datetimeFigureOut">
              <a:rPr lang="en-CN" smtClean="0"/>
              <a:t>2023/4/12</a:t>
            </a:fld>
            <a:endParaRPr lang="en-CN"/>
          </a:p>
        </p:txBody>
      </p:sp>
      <p:sp>
        <p:nvSpPr>
          <p:cNvPr id="6" name="Footer Placeholder 5">
            <a:extLst>
              <a:ext uri="{FF2B5EF4-FFF2-40B4-BE49-F238E27FC236}">
                <a16:creationId xmlns:a16="http://schemas.microsoft.com/office/drawing/2014/main" id="{1FC77452-A3E3-4443-92ED-FF9D858C7417}"/>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D6CB1547-4E3B-B44B-81F0-9E977B3EF14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81665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04FC-EB95-6042-A824-3928DD90D352}"/>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F8826F3F-BBDF-4748-B28F-F8C02C1F26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BC1051-699C-4F4F-A964-DE4CCEF3B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A05D3799-BF1A-B544-92F3-A668C8479A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7BDBCE-CA7F-5143-91B1-42C71E89D4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A9D47ACE-B299-B447-AB9F-A7E598DB00BB}"/>
              </a:ext>
            </a:extLst>
          </p:cNvPr>
          <p:cNvSpPr>
            <a:spLocks noGrp="1"/>
          </p:cNvSpPr>
          <p:nvPr>
            <p:ph type="dt" sz="half" idx="10"/>
          </p:nvPr>
        </p:nvSpPr>
        <p:spPr/>
        <p:txBody>
          <a:bodyPr/>
          <a:lstStyle/>
          <a:p>
            <a:fld id="{E800E28F-22DF-9E47-9EC9-E68F8BF2B40B}" type="datetimeFigureOut">
              <a:rPr lang="en-CN" smtClean="0"/>
              <a:t>2023/4/12</a:t>
            </a:fld>
            <a:endParaRPr lang="en-CN"/>
          </a:p>
        </p:txBody>
      </p:sp>
      <p:sp>
        <p:nvSpPr>
          <p:cNvPr id="8" name="Footer Placeholder 7">
            <a:extLst>
              <a:ext uri="{FF2B5EF4-FFF2-40B4-BE49-F238E27FC236}">
                <a16:creationId xmlns:a16="http://schemas.microsoft.com/office/drawing/2014/main" id="{E1CA539D-7612-E848-999B-9D151DFE0F4E}"/>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91C80D14-ED83-5545-8AE2-4469C82031B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86053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444D-3A68-EB45-9015-DA6329C909CA}"/>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EFBB93C-F3ED-3F47-B452-7C28F2091105}"/>
              </a:ext>
            </a:extLst>
          </p:cNvPr>
          <p:cNvSpPr>
            <a:spLocks noGrp="1"/>
          </p:cNvSpPr>
          <p:nvPr>
            <p:ph type="dt" sz="half" idx="10"/>
          </p:nvPr>
        </p:nvSpPr>
        <p:spPr/>
        <p:txBody>
          <a:bodyPr/>
          <a:lstStyle/>
          <a:p>
            <a:fld id="{E800E28F-22DF-9E47-9EC9-E68F8BF2B40B}" type="datetimeFigureOut">
              <a:rPr lang="en-CN" smtClean="0"/>
              <a:t>2023/4/12</a:t>
            </a:fld>
            <a:endParaRPr lang="en-CN"/>
          </a:p>
        </p:txBody>
      </p:sp>
      <p:sp>
        <p:nvSpPr>
          <p:cNvPr id="4" name="Footer Placeholder 3">
            <a:extLst>
              <a:ext uri="{FF2B5EF4-FFF2-40B4-BE49-F238E27FC236}">
                <a16:creationId xmlns:a16="http://schemas.microsoft.com/office/drawing/2014/main" id="{C90FAABE-D364-A94B-BEC5-9C8F70BD57F2}"/>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7DA6D1B4-DA1C-F240-90A2-84B2A717EF7E}"/>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1874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0083D-F5D5-C543-B61F-4094F539E6A7}"/>
              </a:ext>
            </a:extLst>
          </p:cNvPr>
          <p:cNvSpPr>
            <a:spLocks noGrp="1"/>
          </p:cNvSpPr>
          <p:nvPr>
            <p:ph type="dt" sz="half" idx="10"/>
          </p:nvPr>
        </p:nvSpPr>
        <p:spPr/>
        <p:txBody>
          <a:bodyPr/>
          <a:lstStyle/>
          <a:p>
            <a:fld id="{E800E28F-22DF-9E47-9EC9-E68F8BF2B40B}" type="datetimeFigureOut">
              <a:rPr lang="en-CN" smtClean="0"/>
              <a:t>2023/4/12</a:t>
            </a:fld>
            <a:endParaRPr lang="en-CN"/>
          </a:p>
        </p:txBody>
      </p:sp>
      <p:sp>
        <p:nvSpPr>
          <p:cNvPr id="3" name="Footer Placeholder 2">
            <a:extLst>
              <a:ext uri="{FF2B5EF4-FFF2-40B4-BE49-F238E27FC236}">
                <a16:creationId xmlns:a16="http://schemas.microsoft.com/office/drawing/2014/main" id="{E0DDC8BC-428B-BB4D-8AEE-C6B272C6798C}"/>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378B49BB-14D1-1849-B437-37A7A6070E9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147709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422E-2ECF-6E40-B192-F3102DB3C2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56070A34-B607-1742-A5C9-F66E9CB59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688185AD-9C29-CE46-8CE9-E6D8F6BB5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8B05E-F489-3841-AF6F-1A1FE3BB3F71}"/>
              </a:ext>
            </a:extLst>
          </p:cNvPr>
          <p:cNvSpPr>
            <a:spLocks noGrp="1"/>
          </p:cNvSpPr>
          <p:nvPr>
            <p:ph type="dt" sz="half" idx="10"/>
          </p:nvPr>
        </p:nvSpPr>
        <p:spPr/>
        <p:txBody>
          <a:bodyPr/>
          <a:lstStyle/>
          <a:p>
            <a:fld id="{E800E28F-22DF-9E47-9EC9-E68F8BF2B40B}" type="datetimeFigureOut">
              <a:rPr lang="en-CN" smtClean="0"/>
              <a:t>2023/4/12</a:t>
            </a:fld>
            <a:endParaRPr lang="en-CN"/>
          </a:p>
        </p:txBody>
      </p:sp>
      <p:sp>
        <p:nvSpPr>
          <p:cNvPr id="6" name="Footer Placeholder 5">
            <a:extLst>
              <a:ext uri="{FF2B5EF4-FFF2-40B4-BE49-F238E27FC236}">
                <a16:creationId xmlns:a16="http://schemas.microsoft.com/office/drawing/2014/main" id="{D5D58E87-9859-F14A-B389-187843C24D8E}"/>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F152D493-6FBF-EA46-8CFB-E11E167F3225}"/>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50729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3968-37CC-B647-9F46-44E9F86425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0F620B7A-6421-6346-BBFA-BD37AAC93C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508ED188-FEB7-E74E-B65D-281002E7A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4B8C2D-F1DB-C34A-AD60-DF4B2FE59B4C}"/>
              </a:ext>
            </a:extLst>
          </p:cNvPr>
          <p:cNvSpPr>
            <a:spLocks noGrp="1"/>
          </p:cNvSpPr>
          <p:nvPr>
            <p:ph type="dt" sz="half" idx="10"/>
          </p:nvPr>
        </p:nvSpPr>
        <p:spPr/>
        <p:txBody>
          <a:bodyPr/>
          <a:lstStyle/>
          <a:p>
            <a:fld id="{E800E28F-22DF-9E47-9EC9-E68F8BF2B40B}" type="datetimeFigureOut">
              <a:rPr lang="en-CN" smtClean="0"/>
              <a:t>2023/4/12</a:t>
            </a:fld>
            <a:endParaRPr lang="en-CN"/>
          </a:p>
        </p:txBody>
      </p:sp>
      <p:sp>
        <p:nvSpPr>
          <p:cNvPr id="6" name="Footer Placeholder 5">
            <a:extLst>
              <a:ext uri="{FF2B5EF4-FFF2-40B4-BE49-F238E27FC236}">
                <a16:creationId xmlns:a16="http://schemas.microsoft.com/office/drawing/2014/main" id="{2F1817A2-AEE3-244B-8185-A484A6B8C7D4}"/>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97410CD3-341B-C348-B1D4-069400F93D8A}"/>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238695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41A4-A3DA-9C44-A87F-544863819FAD}"/>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00F37D03-3ABB-E94A-A564-7D516299FF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D225D3D3-9B3A-E34D-A7DB-07B8D9C07F2E}"/>
              </a:ext>
            </a:extLst>
          </p:cNvPr>
          <p:cNvSpPr>
            <a:spLocks noGrp="1"/>
          </p:cNvSpPr>
          <p:nvPr>
            <p:ph type="dt" sz="half" idx="10"/>
          </p:nvPr>
        </p:nvSpPr>
        <p:spPr/>
        <p:txBody>
          <a:bodyPr/>
          <a:lstStyle/>
          <a:p>
            <a:fld id="{E800E28F-22DF-9E47-9EC9-E68F8BF2B40B}" type="datetimeFigureOut">
              <a:rPr lang="en-CN" smtClean="0"/>
              <a:t>2023/4/12</a:t>
            </a:fld>
            <a:endParaRPr lang="en-CN"/>
          </a:p>
        </p:txBody>
      </p:sp>
      <p:sp>
        <p:nvSpPr>
          <p:cNvPr id="5" name="Footer Placeholder 4">
            <a:extLst>
              <a:ext uri="{FF2B5EF4-FFF2-40B4-BE49-F238E27FC236}">
                <a16:creationId xmlns:a16="http://schemas.microsoft.com/office/drawing/2014/main" id="{9951226C-2D9F-3E4D-8439-D1417E4DA26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15AA4E6-5819-4C43-8676-2EDC65D0B11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077077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69D237-9FA6-7643-A46C-6BF452F3C3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B0F4148B-28D9-4E4F-98AA-281CE3B51E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59114E8-0490-9844-A6E6-A76C29CB09BF}"/>
              </a:ext>
            </a:extLst>
          </p:cNvPr>
          <p:cNvSpPr>
            <a:spLocks noGrp="1"/>
          </p:cNvSpPr>
          <p:nvPr>
            <p:ph type="dt" sz="half" idx="10"/>
          </p:nvPr>
        </p:nvSpPr>
        <p:spPr/>
        <p:txBody>
          <a:bodyPr/>
          <a:lstStyle/>
          <a:p>
            <a:fld id="{E800E28F-22DF-9E47-9EC9-E68F8BF2B40B}" type="datetimeFigureOut">
              <a:rPr lang="en-CN" smtClean="0"/>
              <a:t>2023/4/12</a:t>
            </a:fld>
            <a:endParaRPr lang="en-CN"/>
          </a:p>
        </p:txBody>
      </p:sp>
      <p:sp>
        <p:nvSpPr>
          <p:cNvPr id="5" name="Footer Placeholder 4">
            <a:extLst>
              <a:ext uri="{FF2B5EF4-FFF2-40B4-BE49-F238E27FC236}">
                <a16:creationId xmlns:a16="http://schemas.microsoft.com/office/drawing/2014/main" id="{70A5F247-BB24-C14C-8BDC-3AEC6E2F44B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209EBDF-B685-F445-BD1C-7044BC30248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70762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7E8360-99FB-314F-8FFC-5DFE14644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0FD170A0-1BBB-7549-88EE-B708486E0C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ED353904-8539-AE42-A677-9B45FCA67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0E28F-22DF-9E47-9EC9-E68F8BF2B40B}" type="datetimeFigureOut">
              <a:rPr lang="en-CN" smtClean="0"/>
              <a:t>2023/4/12</a:t>
            </a:fld>
            <a:endParaRPr lang="en-CN"/>
          </a:p>
        </p:txBody>
      </p:sp>
      <p:sp>
        <p:nvSpPr>
          <p:cNvPr id="5" name="Footer Placeholder 4">
            <a:extLst>
              <a:ext uri="{FF2B5EF4-FFF2-40B4-BE49-F238E27FC236}">
                <a16:creationId xmlns:a16="http://schemas.microsoft.com/office/drawing/2014/main" id="{B3BDB817-6A9E-8D4B-93C6-69B4752E21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23920E11-ECD6-A240-8C4D-4AA249F37A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25E0B1-8A12-D049-82EE-CBBDFA3D597D}" type="slidenum">
              <a:rPr lang="en-CN" smtClean="0"/>
              <a:t>‹#›</a:t>
            </a:fld>
            <a:endParaRPr lang="en-CN"/>
          </a:p>
        </p:txBody>
      </p:sp>
    </p:spTree>
    <p:extLst>
      <p:ext uri="{BB962C8B-B14F-4D97-AF65-F5344CB8AC3E}">
        <p14:creationId xmlns:p14="http://schemas.microsoft.com/office/powerpoint/2010/main" val="52746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10.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10.png"/><Relationship Id="rId7" Type="http://schemas.openxmlformats.org/officeDocument/2006/relationships/image" Target="../media/image71.png"/><Relationship Id="rId2" Type="http://schemas.openxmlformats.org/officeDocument/2006/relationships/image" Target="../media/image51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510.png"/><Relationship Id="rId4" Type="http://schemas.openxmlformats.org/officeDocument/2006/relationships/image" Target="../media/image4100.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6.png"/><Relationship Id="rId4" Type="http://schemas.openxmlformats.org/officeDocument/2006/relationships/image" Target="../media/image12.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0.png"/><Relationship Id="rId7" Type="http://schemas.openxmlformats.org/officeDocument/2006/relationships/image" Target="../media/image250.png"/><Relationship Id="rId2" Type="http://schemas.openxmlformats.org/officeDocument/2006/relationships/image" Target="../media/image200.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230.png"/><Relationship Id="rId4" Type="http://schemas.openxmlformats.org/officeDocument/2006/relationships/image" Target="../media/image220.png"/></Relationships>
</file>

<file path=ppt/slides/_rels/slide23.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12.png"/><Relationship Id="rId5" Type="http://schemas.openxmlformats.org/officeDocument/2006/relationships/image" Target="../media/image300.png"/><Relationship Id="rId4" Type="http://schemas.openxmlformats.org/officeDocument/2006/relationships/image" Target="../media/image290.png"/></Relationships>
</file>

<file path=ppt/slides/_rels/slide25.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340.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0.png"/><Relationship Id="rId1" Type="http://schemas.openxmlformats.org/officeDocument/2006/relationships/slideLayout" Target="../slideLayouts/slideLayout2.xml"/><Relationship Id="rId4" Type="http://schemas.openxmlformats.org/officeDocument/2006/relationships/image" Target="../media/image370.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39.pn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0.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8.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390.png"/><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70.png"/></Relationships>
</file>

<file path=ppt/slides/_rels/slide35.xml.rels><?xml version="1.0" encoding="UTF-8" standalone="yes"?>
<Relationships xmlns="http://schemas.openxmlformats.org/package/2006/relationships"><Relationship Id="rId3" Type="http://schemas.openxmlformats.org/officeDocument/2006/relationships/image" Target="../media/image491.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3" Type="http://schemas.openxmlformats.org/officeDocument/2006/relationships/image" Target="../media/image540.png"/><Relationship Id="rId7" Type="http://schemas.openxmlformats.org/officeDocument/2006/relationships/image" Target="../media/image580.png"/><Relationship Id="rId2" Type="http://schemas.openxmlformats.org/officeDocument/2006/relationships/image" Target="../media/image520.png"/><Relationship Id="rId1" Type="http://schemas.openxmlformats.org/officeDocument/2006/relationships/slideLayout" Target="../slideLayouts/slideLayout2.xml"/><Relationship Id="rId6" Type="http://schemas.openxmlformats.org/officeDocument/2006/relationships/image" Target="../media/image570.png"/><Relationship Id="rId5" Type="http://schemas.openxmlformats.org/officeDocument/2006/relationships/image" Target="../media/image560.png"/><Relationship Id="rId4" Type="http://schemas.openxmlformats.org/officeDocument/2006/relationships/image" Target="../media/image550.png"/></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8.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B4EF1E6A-93E9-E142-9419-9B435DBC58F6}"/>
              </a:ext>
            </a:extLst>
          </p:cNvPr>
          <p:cNvSpPr txBox="1">
            <a:spLocks/>
          </p:cNvSpPr>
          <p:nvPr/>
        </p:nvSpPr>
        <p:spPr>
          <a:xfrm>
            <a:off x="353024" y="1007012"/>
            <a:ext cx="11132394" cy="204954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zh-CN" altLang="en-CN" sz="3600" dirty="0">
                <a:latin typeface="FangSong" panose="02010609060101010101" pitchFamily="49" charset="-122"/>
                <a:ea typeface="FangSong" panose="02010609060101010101" pitchFamily="49" charset="-122"/>
              </a:rPr>
              <a:t>费米</a:t>
            </a:r>
            <a:r>
              <a:rPr lang="zh-CN" altLang="en-US" sz="3600" dirty="0">
                <a:latin typeface="FangSong" panose="02010609060101010101" pitchFamily="49" charset="-122"/>
                <a:ea typeface="FangSong" panose="02010609060101010101" pitchFamily="49" charset="-122"/>
              </a:rPr>
              <a:t>简并气体的基本性质</a:t>
            </a:r>
            <a:endParaRPr lang="en-US" altLang="zh-CN" sz="3600" dirty="0">
              <a:latin typeface="FangSong" panose="02010609060101010101" pitchFamily="49" charset="-122"/>
              <a:ea typeface="FangSong" panose="02010609060101010101" pitchFamily="49" charset="-122"/>
            </a:endParaRPr>
          </a:p>
        </p:txBody>
      </p:sp>
      <p:sp>
        <p:nvSpPr>
          <p:cNvPr id="8" name="Title 1">
            <a:extLst>
              <a:ext uri="{FF2B5EF4-FFF2-40B4-BE49-F238E27FC236}">
                <a16:creationId xmlns:a16="http://schemas.microsoft.com/office/drawing/2014/main" id="{6F6D7691-9579-8243-A6CF-AE72C6A9E7AF}"/>
              </a:ext>
            </a:extLst>
          </p:cNvPr>
          <p:cNvSpPr txBox="1">
            <a:spLocks/>
          </p:cNvSpPr>
          <p:nvPr/>
        </p:nvSpPr>
        <p:spPr>
          <a:xfrm>
            <a:off x="4222620" y="100400"/>
            <a:ext cx="4410741" cy="90661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（第九周）</a:t>
            </a:r>
            <a:endParaRPr lang="en-CN" dirty="0">
              <a:latin typeface="FangSong" panose="02010609060101010101" pitchFamily="49" charset="-122"/>
              <a:ea typeface="FangSong" panose="02010609060101010101" pitchFamily="49" charset="-122"/>
            </a:endParaRPr>
          </a:p>
        </p:txBody>
      </p:sp>
      <p:pic>
        <p:nvPicPr>
          <p:cNvPr id="1026" name="Picture 2" descr="electrons | Gravity and Levity">
            <a:extLst>
              <a:ext uri="{FF2B5EF4-FFF2-40B4-BE49-F238E27FC236}">
                <a16:creationId xmlns:a16="http://schemas.microsoft.com/office/drawing/2014/main" id="{F8EF5505-20D6-5682-D205-8777BFDCDE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024" y="3056556"/>
            <a:ext cx="3870239" cy="279443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F81DF39-EEA5-A2F5-89AD-C62E123D06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4957505" y="2875896"/>
            <a:ext cx="2276989" cy="31801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eutron star - Wikipedia">
            <a:extLst>
              <a:ext uri="{FF2B5EF4-FFF2-40B4-BE49-F238E27FC236}">
                <a16:creationId xmlns:a16="http://schemas.microsoft.com/office/drawing/2014/main" id="{D85EDA90-6E82-9793-186B-EF0891AB1C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842" y="2875896"/>
            <a:ext cx="2710528" cy="3180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559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97A4BF-3AFC-4942-81D5-A8E5E32508CC}"/>
              </a:ext>
            </a:extLst>
          </p:cNvPr>
          <p:cNvSpPr txBox="1"/>
          <p:nvPr/>
        </p:nvSpPr>
        <p:spPr>
          <a:xfrm>
            <a:off x="564204" y="291830"/>
            <a:ext cx="5038928" cy="584775"/>
          </a:xfrm>
          <a:prstGeom prst="rect">
            <a:avLst/>
          </a:prstGeom>
          <a:noFill/>
        </p:spPr>
        <p:txBody>
          <a:bodyPr wrap="square" rtlCol="0">
            <a:spAutoFit/>
          </a:bodyPr>
          <a:lstStyle/>
          <a:p>
            <a:r>
              <a:rPr lang="en-CN" sz="3200" dirty="0"/>
              <a:t>Quantum concentration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670629-D81E-7B43-9542-D6A2502A49E2}"/>
                  </a:ext>
                </a:extLst>
              </p:cNvPr>
              <p:cNvSpPr txBox="1"/>
              <p:nvPr/>
            </p:nvSpPr>
            <p:spPr>
              <a:xfrm>
                <a:off x="1478828" y="1118598"/>
                <a:ext cx="5038928" cy="1173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360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𝑄</m:t>
                          </m:r>
                        </m:sub>
                      </m:sSub>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d>
                            <m:dPr>
                              <m:ctrlPr>
                                <a:rPr lang="en-US" sz="3600" b="0" i="1" smtClean="0">
                                  <a:latin typeface="Cambria Math" panose="02040503050406030204" pitchFamily="18" charset="0"/>
                                </a:rPr>
                              </m:ctrlPr>
                            </m:dPr>
                            <m:e>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𝑚</m:t>
                                  </m:r>
                                  <m:r>
                                    <a:rPr lang="en-US" sz="3600" b="0" i="1" smtClean="0">
                                      <a:latin typeface="Cambria Math" panose="02040503050406030204" pitchFamily="18" charset="0"/>
                                    </a:rPr>
                                    <m:t> </m:t>
                                  </m:r>
                                  <m:r>
                                    <a:rPr lang="en-US" sz="3600" b="0" i="1" smtClean="0">
                                      <a:latin typeface="Cambria Math" panose="02040503050406030204" pitchFamily="18" charset="0"/>
                                      <a:ea typeface="Cambria Math" panose="02040503050406030204" pitchFamily="18" charset="0"/>
                                    </a:rPr>
                                    <m:t>𝜏</m:t>
                                  </m:r>
                                </m:num>
                                <m:den>
                                  <m:r>
                                    <a:rPr lang="en-US" sz="3600" b="0" i="1" smtClean="0">
                                      <a:latin typeface="Cambria Math" panose="02040503050406030204" pitchFamily="18" charset="0"/>
                                    </a:rPr>
                                    <m:t>2</m:t>
                                  </m:r>
                                  <m:r>
                                    <a:rPr lang="en-US" sz="3600" b="0" i="1" smtClean="0">
                                      <a:latin typeface="Cambria Math" panose="02040503050406030204" pitchFamily="18" charset="0"/>
                                      <a:ea typeface="Cambria Math" panose="02040503050406030204" pitchFamily="18" charset="0"/>
                                    </a:rPr>
                                    <m:t>𝜋</m:t>
                                  </m:r>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ℏ</m:t>
                                      </m:r>
                                    </m:e>
                                    <m:sup>
                                      <m:r>
                                        <a:rPr lang="en-US" sz="3600" b="0" i="1" smtClean="0">
                                          <a:latin typeface="Cambria Math" panose="02040503050406030204" pitchFamily="18" charset="0"/>
                                          <a:ea typeface="Cambria Math" panose="02040503050406030204" pitchFamily="18" charset="0"/>
                                        </a:rPr>
                                        <m:t>2</m:t>
                                      </m:r>
                                    </m:sup>
                                  </m:sSup>
                                </m:den>
                              </m:f>
                            </m:e>
                          </m:d>
                        </m:e>
                        <m:sup>
                          <m:r>
                            <a:rPr lang="en-US" sz="3600" b="0" i="1" smtClean="0">
                              <a:latin typeface="Cambria Math" panose="02040503050406030204" pitchFamily="18" charset="0"/>
                            </a:rPr>
                            <m:t>3/2</m:t>
                          </m:r>
                        </m:sup>
                      </m:sSup>
                      <m:r>
                        <a:rPr lang="en-US" sz="3600" b="0" i="1" smtClean="0">
                          <a:latin typeface="Cambria Math" panose="02040503050406030204" pitchFamily="18" charset="0"/>
                          <a:ea typeface="Cambria Math" panose="02040503050406030204" pitchFamily="18" charset="0"/>
                        </a:rPr>
                        <m:t>∝</m:t>
                      </m:r>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𝜏</m:t>
                          </m:r>
                        </m:e>
                        <m:sup>
                          <m:r>
                            <a:rPr lang="en-US" sz="3600" b="0" i="1" smtClean="0">
                              <a:latin typeface="Cambria Math" panose="02040503050406030204" pitchFamily="18" charset="0"/>
                              <a:ea typeface="Cambria Math" panose="02040503050406030204" pitchFamily="18" charset="0"/>
                            </a:rPr>
                            <m:t>3/2</m:t>
                          </m:r>
                        </m:sup>
                      </m:sSup>
                    </m:oMath>
                  </m:oMathPara>
                </a14:m>
                <a:endParaRPr lang="en-CN" sz="3600" dirty="0"/>
              </a:p>
            </p:txBody>
          </p:sp>
        </mc:Choice>
        <mc:Fallback xmlns="">
          <p:sp>
            <p:nvSpPr>
              <p:cNvPr id="6" name="TextBox 5">
                <a:extLst>
                  <a:ext uri="{FF2B5EF4-FFF2-40B4-BE49-F238E27FC236}">
                    <a16:creationId xmlns:a16="http://schemas.microsoft.com/office/drawing/2014/main" id="{0C670629-D81E-7B43-9542-D6A2502A49E2}"/>
                  </a:ext>
                </a:extLst>
              </p:cNvPr>
              <p:cNvSpPr txBox="1">
                <a:spLocks noRot="1" noChangeAspect="1" noMove="1" noResize="1" noEditPoints="1" noAdjustHandles="1" noChangeArrowheads="1" noChangeShapeType="1" noTextEdit="1"/>
              </p:cNvSpPr>
              <p:nvPr/>
            </p:nvSpPr>
            <p:spPr>
              <a:xfrm>
                <a:off x="1478828" y="1118598"/>
                <a:ext cx="5038928" cy="1173013"/>
              </a:xfrm>
              <a:prstGeom prst="rect">
                <a:avLst/>
              </a:prstGeom>
              <a:blipFill>
                <a:blip r:embed="rId2"/>
                <a:stretch>
                  <a:fillRect b="-851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059923C-F1EF-2C45-8C40-E0E406B891E9}"/>
                  </a:ext>
                </a:extLst>
              </p:cNvPr>
              <p:cNvSpPr txBox="1"/>
              <p:nvPr/>
            </p:nvSpPr>
            <p:spPr>
              <a:xfrm>
                <a:off x="6909460" y="1063101"/>
                <a:ext cx="4641273" cy="12840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sz="3600" i="1" smtClean="0">
                              <a:latin typeface="Cambria Math" panose="02040503050406030204" pitchFamily="18" charset="0"/>
                            </a:rPr>
                          </m:ctrlPr>
                        </m:sSubPr>
                        <m:e>
                          <m:r>
                            <a:rPr lang="en-US" sz="3600" b="0" i="1" smtClean="0">
                              <a:latin typeface="Cambria Math" panose="02040503050406030204" pitchFamily="18" charset="0"/>
                            </a:rPr>
                            <m:t>𝑉</m:t>
                          </m:r>
                        </m:e>
                        <m:sub>
                          <m:r>
                            <a:rPr lang="en-US" sz="3600" b="0" i="1" smtClean="0">
                              <a:latin typeface="Cambria Math" panose="02040503050406030204" pitchFamily="18" charset="0"/>
                            </a:rPr>
                            <m:t>𝑄</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num>
                        <m:den>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𝑛</m:t>
                              </m:r>
                            </m:e>
                            <m:sub>
                              <m:r>
                                <a:rPr lang="en-US" sz="3600" b="0" i="1" smtClean="0">
                                  <a:latin typeface="Cambria Math" panose="02040503050406030204" pitchFamily="18" charset="0"/>
                                </a:rPr>
                                <m:t>𝑄</m:t>
                              </m:r>
                            </m:sub>
                          </m:sSub>
                        </m:den>
                      </m:f>
                    </m:oMath>
                  </m:oMathPara>
                </a14:m>
                <a:endParaRPr lang="en-CN" sz="3600" dirty="0"/>
              </a:p>
            </p:txBody>
          </p:sp>
        </mc:Choice>
        <mc:Fallback xmlns="">
          <p:sp>
            <p:nvSpPr>
              <p:cNvPr id="7" name="TextBox 6">
                <a:extLst>
                  <a:ext uri="{FF2B5EF4-FFF2-40B4-BE49-F238E27FC236}">
                    <a16:creationId xmlns:a16="http://schemas.microsoft.com/office/drawing/2014/main" id="{1059923C-F1EF-2C45-8C40-E0E406B891E9}"/>
                  </a:ext>
                </a:extLst>
              </p:cNvPr>
              <p:cNvSpPr txBox="1">
                <a:spLocks noRot="1" noChangeAspect="1" noMove="1" noResize="1" noEditPoints="1" noAdjustHandles="1" noChangeArrowheads="1" noChangeShapeType="1" noTextEdit="1"/>
              </p:cNvSpPr>
              <p:nvPr/>
            </p:nvSpPr>
            <p:spPr>
              <a:xfrm>
                <a:off x="6909460" y="1063101"/>
                <a:ext cx="4641273" cy="1284006"/>
              </a:xfrm>
              <a:prstGeom prst="rect">
                <a:avLst/>
              </a:prstGeom>
              <a:blipFill>
                <a:blip r:embed="rId3"/>
                <a:stretch>
                  <a:fillRect b="-5882"/>
                </a:stretch>
              </a:blipFill>
            </p:spPr>
            <p:txBody>
              <a:bodyPr/>
              <a:lstStyle/>
              <a:p>
                <a:r>
                  <a:rPr lang="en-CN">
                    <a:noFill/>
                  </a:rPr>
                  <a:t> </a:t>
                </a:r>
              </a:p>
            </p:txBody>
          </p:sp>
        </mc:Fallback>
      </mc:AlternateContent>
      <p:pic>
        <p:nvPicPr>
          <p:cNvPr id="23" name="Picture 22">
            <a:extLst>
              <a:ext uri="{FF2B5EF4-FFF2-40B4-BE49-F238E27FC236}">
                <a16:creationId xmlns:a16="http://schemas.microsoft.com/office/drawing/2014/main" id="{ECFEDBD3-B799-DEB3-0A1D-622125FDDFA1}"/>
              </a:ext>
            </a:extLst>
          </p:cNvPr>
          <p:cNvPicPr>
            <a:picLocks noChangeAspect="1"/>
          </p:cNvPicPr>
          <p:nvPr/>
        </p:nvPicPr>
        <p:blipFill>
          <a:blip r:embed="rId4"/>
          <a:stretch>
            <a:fillRect/>
          </a:stretch>
        </p:blipFill>
        <p:spPr>
          <a:xfrm>
            <a:off x="564204" y="2636601"/>
            <a:ext cx="5602761" cy="3412823"/>
          </a:xfrm>
          <a:prstGeom prst="rect">
            <a:avLst/>
          </a:prstGeom>
        </p:spPr>
      </p:pic>
      <p:pic>
        <p:nvPicPr>
          <p:cNvPr id="25" name="Picture 24">
            <a:extLst>
              <a:ext uri="{FF2B5EF4-FFF2-40B4-BE49-F238E27FC236}">
                <a16:creationId xmlns:a16="http://schemas.microsoft.com/office/drawing/2014/main" id="{F307B2B3-7346-0944-DD24-62D34B9CF570}"/>
              </a:ext>
            </a:extLst>
          </p:cNvPr>
          <p:cNvPicPr>
            <a:picLocks noChangeAspect="1"/>
          </p:cNvPicPr>
          <p:nvPr/>
        </p:nvPicPr>
        <p:blipFill>
          <a:blip r:embed="rId5"/>
          <a:stretch>
            <a:fillRect/>
          </a:stretch>
        </p:blipFill>
        <p:spPr>
          <a:xfrm>
            <a:off x="6986523" y="3913117"/>
            <a:ext cx="4641273" cy="859790"/>
          </a:xfrm>
          <a:prstGeom prst="rect">
            <a:avLst/>
          </a:prstGeom>
        </p:spPr>
      </p:pic>
    </p:spTree>
    <p:extLst>
      <p:ext uri="{BB962C8B-B14F-4D97-AF65-F5344CB8AC3E}">
        <p14:creationId xmlns:p14="http://schemas.microsoft.com/office/powerpoint/2010/main" val="49485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1F46BB-C3CB-5C48-8EAA-99BAF86896FF}"/>
              </a:ext>
            </a:extLst>
          </p:cNvPr>
          <p:cNvPicPr>
            <a:picLocks noChangeAspect="1"/>
          </p:cNvPicPr>
          <p:nvPr/>
        </p:nvPicPr>
        <p:blipFill>
          <a:blip r:embed="rId2"/>
          <a:stretch>
            <a:fillRect/>
          </a:stretch>
        </p:blipFill>
        <p:spPr>
          <a:xfrm>
            <a:off x="2632363" y="1027545"/>
            <a:ext cx="6927273" cy="4802909"/>
          </a:xfrm>
          <a:prstGeom prst="rect">
            <a:avLst/>
          </a:prstGeom>
        </p:spPr>
      </p:pic>
      <p:sp>
        <p:nvSpPr>
          <p:cNvPr id="4" name="TextBox 3">
            <a:extLst>
              <a:ext uri="{FF2B5EF4-FFF2-40B4-BE49-F238E27FC236}">
                <a16:creationId xmlns:a16="http://schemas.microsoft.com/office/drawing/2014/main" id="{74B85C36-BBE2-E747-B795-CC6139FE134F}"/>
              </a:ext>
            </a:extLst>
          </p:cNvPr>
          <p:cNvSpPr txBox="1"/>
          <p:nvPr/>
        </p:nvSpPr>
        <p:spPr>
          <a:xfrm>
            <a:off x="1620982" y="1745673"/>
            <a:ext cx="692727" cy="369332"/>
          </a:xfrm>
          <a:prstGeom prst="rect">
            <a:avLst/>
          </a:prstGeom>
          <a:noFill/>
        </p:spPr>
        <p:txBody>
          <a:bodyPr wrap="square" rtlCol="0">
            <a:spAutoFit/>
          </a:bodyPr>
          <a:lstStyle/>
          <a:p>
            <a:pPr algn="ctr"/>
            <a:r>
              <a:rPr lang="en-CN" dirty="0"/>
              <a:t>n</a:t>
            </a:r>
          </a:p>
        </p:txBody>
      </p:sp>
      <p:sp>
        <p:nvSpPr>
          <p:cNvPr id="5" name="TextBox 4">
            <a:extLst>
              <a:ext uri="{FF2B5EF4-FFF2-40B4-BE49-F238E27FC236}">
                <a16:creationId xmlns:a16="http://schemas.microsoft.com/office/drawing/2014/main" id="{C81D5D1A-7B9C-5F44-96B0-41DACB725B08}"/>
              </a:ext>
            </a:extLst>
          </p:cNvPr>
          <p:cNvSpPr txBox="1"/>
          <p:nvPr/>
        </p:nvSpPr>
        <p:spPr>
          <a:xfrm>
            <a:off x="9795164" y="5569527"/>
            <a:ext cx="914400" cy="369332"/>
          </a:xfrm>
          <a:prstGeom prst="rect">
            <a:avLst/>
          </a:prstGeom>
          <a:noFill/>
        </p:spPr>
        <p:txBody>
          <a:bodyPr wrap="square" rtlCol="0">
            <a:spAutoFit/>
          </a:bodyPr>
          <a:lstStyle/>
          <a:p>
            <a:r>
              <a:rPr lang="en-CN" dirty="0"/>
              <a:t>tau</a:t>
            </a:r>
          </a:p>
        </p:txBody>
      </p:sp>
      <p:sp>
        <p:nvSpPr>
          <p:cNvPr id="6" name="Left Arrow 5">
            <a:extLst>
              <a:ext uri="{FF2B5EF4-FFF2-40B4-BE49-F238E27FC236}">
                <a16:creationId xmlns:a16="http://schemas.microsoft.com/office/drawing/2014/main" id="{F10BE40F-67E5-B547-A493-A97DFAEE999B}"/>
              </a:ext>
            </a:extLst>
          </p:cNvPr>
          <p:cNvSpPr/>
          <p:nvPr/>
        </p:nvSpPr>
        <p:spPr>
          <a:xfrm>
            <a:off x="3505200" y="3699164"/>
            <a:ext cx="5306291" cy="48490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6697787-ACDE-9C45-AD46-C7EEE6502A91}"/>
                  </a:ext>
                </a:extLst>
              </p:cNvPr>
              <p:cNvSpPr txBox="1"/>
              <p:nvPr/>
            </p:nvSpPr>
            <p:spPr>
              <a:xfrm>
                <a:off x="8617527" y="1027545"/>
                <a:ext cx="1371600" cy="405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𝑄</m:t>
                          </m:r>
                        </m:sub>
                      </m:sSub>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ea typeface="Cambria Math" panose="02040503050406030204" pitchFamily="18" charset="0"/>
                            </a:rPr>
                            <m:t>3/2</m:t>
                          </m:r>
                        </m:sup>
                      </m:sSup>
                    </m:oMath>
                  </m:oMathPara>
                </a14:m>
                <a:endParaRPr lang="en-CN" dirty="0"/>
              </a:p>
            </p:txBody>
          </p:sp>
        </mc:Choice>
        <mc:Fallback xmlns="">
          <p:sp>
            <p:nvSpPr>
              <p:cNvPr id="2" name="TextBox 1">
                <a:extLst>
                  <a:ext uri="{FF2B5EF4-FFF2-40B4-BE49-F238E27FC236}">
                    <a16:creationId xmlns:a16="http://schemas.microsoft.com/office/drawing/2014/main" id="{36697787-ACDE-9C45-AD46-C7EEE6502A91}"/>
                  </a:ext>
                </a:extLst>
              </p:cNvPr>
              <p:cNvSpPr txBox="1">
                <a:spLocks noRot="1" noChangeAspect="1" noMove="1" noResize="1" noEditPoints="1" noAdjustHandles="1" noChangeArrowheads="1" noChangeShapeType="1" noTextEdit="1"/>
              </p:cNvSpPr>
              <p:nvPr/>
            </p:nvSpPr>
            <p:spPr>
              <a:xfrm>
                <a:off x="8617527" y="1027545"/>
                <a:ext cx="1371600" cy="405560"/>
              </a:xfrm>
              <a:prstGeom prst="rect">
                <a:avLst/>
              </a:prstGeom>
              <a:blipFill>
                <a:blip r:embed="rId3"/>
                <a:stretch>
                  <a:fillRect b="-9375"/>
                </a:stretch>
              </a:blipFill>
            </p:spPr>
            <p:txBody>
              <a:bodyPr/>
              <a:lstStyle/>
              <a:p>
                <a:r>
                  <a:rPr lang="en-CN">
                    <a:noFill/>
                  </a:rPr>
                  <a:t> </a:t>
                </a:r>
              </a:p>
            </p:txBody>
          </p:sp>
        </mc:Fallback>
      </mc:AlternateContent>
      <p:sp>
        <p:nvSpPr>
          <p:cNvPr id="7" name="TextBox 6">
            <a:extLst>
              <a:ext uri="{FF2B5EF4-FFF2-40B4-BE49-F238E27FC236}">
                <a16:creationId xmlns:a16="http://schemas.microsoft.com/office/drawing/2014/main" id="{86E89544-C871-906E-2A96-E1BC6B90F5D2}"/>
              </a:ext>
            </a:extLst>
          </p:cNvPr>
          <p:cNvSpPr txBox="1"/>
          <p:nvPr/>
        </p:nvSpPr>
        <p:spPr>
          <a:xfrm>
            <a:off x="4121331" y="2201091"/>
            <a:ext cx="653143" cy="369332"/>
          </a:xfrm>
          <a:prstGeom prst="rect">
            <a:avLst/>
          </a:prstGeom>
          <a:noFill/>
        </p:spPr>
        <p:txBody>
          <a:bodyPr wrap="square" rtlCol="0">
            <a:spAutoFit/>
          </a:bodyPr>
          <a:lstStyle/>
          <a:p>
            <a:r>
              <a:rPr lang="en-CN" dirty="0"/>
              <a:t>量子</a:t>
            </a:r>
          </a:p>
        </p:txBody>
      </p:sp>
      <p:sp>
        <p:nvSpPr>
          <p:cNvPr id="8" name="TextBox 7">
            <a:extLst>
              <a:ext uri="{FF2B5EF4-FFF2-40B4-BE49-F238E27FC236}">
                <a16:creationId xmlns:a16="http://schemas.microsoft.com/office/drawing/2014/main" id="{D8A7CE91-7D67-5338-3959-639E75DE11AA}"/>
              </a:ext>
            </a:extLst>
          </p:cNvPr>
          <p:cNvSpPr txBox="1"/>
          <p:nvPr/>
        </p:nvSpPr>
        <p:spPr>
          <a:xfrm>
            <a:off x="9468592" y="3059667"/>
            <a:ext cx="653143" cy="369332"/>
          </a:xfrm>
          <a:prstGeom prst="rect">
            <a:avLst/>
          </a:prstGeom>
          <a:noFill/>
        </p:spPr>
        <p:txBody>
          <a:bodyPr wrap="square" rtlCol="0">
            <a:spAutoFit/>
          </a:bodyPr>
          <a:lstStyle/>
          <a:p>
            <a:r>
              <a:rPr lang="en-CN" dirty="0"/>
              <a:t>经典</a:t>
            </a:r>
          </a:p>
        </p:txBody>
      </p:sp>
    </p:spTree>
    <p:extLst>
      <p:ext uri="{BB962C8B-B14F-4D97-AF65-F5344CB8AC3E}">
        <p14:creationId xmlns:p14="http://schemas.microsoft.com/office/powerpoint/2010/main" val="3836454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09F7D5-E441-8F4E-B535-2E8A17049530}"/>
              </a:ext>
            </a:extLst>
          </p:cNvPr>
          <p:cNvSpPr txBox="1"/>
          <p:nvPr/>
        </p:nvSpPr>
        <p:spPr>
          <a:xfrm>
            <a:off x="540327" y="263236"/>
            <a:ext cx="7509164" cy="369332"/>
          </a:xfrm>
          <a:prstGeom prst="rect">
            <a:avLst/>
          </a:prstGeom>
          <a:noFill/>
        </p:spPr>
        <p:txBody>
          <a:bodyPr wrap="square" rtlCol="0">
            <a:spAutoFit/>
          </a:bodyPr>
          <a:lstStyle/>
          <a:p>
            <a:r>
              <a:rPr lang="en-CN" dirty="0"/>
              <a:t>电子气体的费米能</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EC0CF44-FC62-C947-BFB3-1316D915C0CC}"/>
                  </a:ext>
                </a:extLst>
              </p:cNvPr>
              <p:cNvSpPr txBox="1"/>
              <p:nvPr/>
            </p:nvSpPr>
            <p:spPr>
              <a:xfrm>
                <a:off x="0" y="710954"/>
                <a:ext cx="9296400" cy="6032357"/>
              </a:xfrm>
              <a:prstGeom prst="rect">
                <a:avLst/>
              </a:prstGeom>
              <a:noFill/>
            </p:spPr>
            <p:txBody>
              <a:bodyPr wrap="square" rtlCol="0">
                <a:spAutoFit/>
              </a:bodyPr>
              <a:lstStyle/>
              <a:p>
                <a:pPr marL="285750" indent="-285750">
                  <a:buFont typeface="Arial" panose="020B0604020202020204" pitchFamily="34" charset="0"/>
                  <a:buChar char="•"/>
                </a:pPr>
                <a:r>
                  <a:rPr lang="en-CN" dirty="0"/>
                  <a:t>假设电子约束在体积为</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3</m:t>
                        </m:r>
                      </m:sup>
                    </m:sSup>
                  </m:oMath>
                </a14:m>
                <a:r>
                  <a:rPr lang="en-CN" dirty="0"/>
                  <a:t>的方盒子内</a:t>
                </a:r>
                <a:r>
                  <a:rPr lang="zh-CN" altLang="en-US" dirty="0"/>
                  <a:t>，之间无相互作用。</a:t>
                </a:r>
                <a:endParaRPr lang="en-US" altLang="zh-CN" dirty="0"/>
              </a:p>
              <a:p>
                <a:r>
                  <a:rPr lang="en-US" altLang="zh-CN" dirty="0"/>
                  <a:t>     </a:t>
                </a:r>
                <a:r>
                  <a:rPr lang="zh-CN" altLang="en-US" dirty="0"/>
                  <a:t>由量子力学知识知道（非相对论情况）</a:t>
                </a:r>
                <a:endParaRPr lang="en-US" altLang="zh-CN" dirty="0"/>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𝑛</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2</m:t>
                              </m:r>
                            </m:sup>
                          </m:sSup>
                        </m:den>
                      </m:f>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𝑛</m:t>
                              </m:r>
                            </m:e>
                            <m:sub>
                              <m:r>
                                <a:rPr lang="en-US" b="0" i="1" smtClean="0">
                                  <a:latin typeface="Cambria Math" panose="02040503050406030204" pitchFamily="18" charset="0"/>
                                </a:rPr>
                                <m:t>𝑥</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𝑛</m:t>
                              </m:r>
                            </m:e>
                            <m:sub>
                              <m:r>
                                <a:rPr lang="en-US" b="0" i="1" smtClean="0">
                                  <a:latin typeface="Cambria Math" panose="02040503050406030204" pitchFamily="18" charset="0"/>
                                </a:rPr>
                                <m:t>𝑦</m:t>
                              </m:r>
                            </m:sub>
                            <m:sup>
                              <m:r>
                                <a:rPr lang="en-US" i="1">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𝑛</m:t>
                              </m:r>
                            </m:e>
                            <m:sub>
                              <m:r>
                                <a:rPr lang="en-US" b="0" i="1" smtClean="0">
                                  <a:latin typeface="Cambria Math" panose="02040503050406030204" pitchFamily="18" charset="0"/>
                                </a:rPr>
                                <m:t>𝑧</m:t>
                              </m:r>
                            </m:sub>
                            <m:sup>
                              <m:r>
                                <a:rPr lang="en-US" i="1">
                                  <a:latin typeface="Cambria Math" panose="02040503050406030204" pitchFamily="18" charset="0"/>
                                </a:rPr>
                                <m:t>2</m:t>
                              </m:r>
                            </m:sup>
                          </m:sSubSup>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sub>
                      </m:sSub>
                      <m:r>
                        <a:rPr lang="en-US" b="0" i="1" smtClean="0">
                          <a:latin typeface="Cambria Math" panose="02040503050406030204" pitchFamily="18" charset="0"/>
                        </a:rPr>
                        <m:t>=0,1,2,…</m:t>
                      </m:r>
                    </m:oMath>
                  </m:oMathPara>
                </a14:m>
                <a:endParaRPr lang="en-CN" dirty="0"/>
              </a:p>
              <a:p>
                <a:pPr algn="ctr"/>
                <a:endParaRPr lang="en-CN" dirty="0"/>
              </a:p>
              <a:p>
                <a:pPr algn="ctr"/>
                <a:endParaRPr lang="en-CN" dirty="0"/>
              </a:p>
              <a:p>
                <a:pPr algn="ctr"/>
                <a:endParaRPr lang="en-CN" dirty="0"/>
              </a:p>
              <a:p>
                <a:pPr algn="ctr"/>
                <a:endParaRPr lang="en-CN" dirty="0"/>
              </a:p>
              <a:p>
                <a:pPr algn="ctr"/>
                <a:endParaRPr lang="en-CN" dirty="0"/>
              </a:p>
              <a:p>
                <a:pPr algn="ctr"/>
                <a:endParaRPr lang="en-CN" dirty="0"/>
              </a:p>
              <a:p>
                <a:pPr algn="ctr"/>
                <a:endParaRPr lang="en-CN" dirty="0"/>
              </a:p>
              <a:p>
                <a:pPr algn="ctr"/>
                <a:endParaRPr lang="en-CN" dirty="0"/>
              </a:p>
              <a:p>
                <a:pPr algn="ctr"/>
                <a:endParaRPr lang="en-CN" dirty="0"/>
              </a:p>
              <a:p>
                <a:pPr marL="285750" indent="-285750">
                  <a:buFont typeface="Arial" panose="020B0604020202020204" pitchFamily="34" charset="0"/>
                  <a:buChar char="•"/>
                </a:pPr>
                <a:r>
                  <a:rPr lang="en-CN" dirty="0"/>
                  <a:t>在零温下</a:t>
                </a:r>
                <a:r>
                  <a:rPr lang="zh-CN" altLang="en-US" dirty="0"/>
                  <a:t>，一颗一颗的向盒子内注入电子，考虑到不相容，电子会从基态开始一个一个的排布，假设可以排到的最高能级，对应的量子数为</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𝑚𝑎𝑥</m:t>
                        </m:r>
                      </m:sub>
                    </m:sSub>
                  </m:oMath>
                </a14:m>
                <a:r>
                  <a:rPr lang="zh-CN" altLang="en-US" dirty="0"/>
                  <a:t>，那么此时的最大能级为</a:t>
                </a:r>
                <a:endParaRPr lang="en-US" altLang="zh-CN" dirty="0"/>
              </a:p>
              <a:p>
                <a:pPr algn="ctr"/>
                <a14:m>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𝐹</m:t>
                        </m:r>
                      </m:sub>
                    </m:sSub>
                    <m:r>
                      <a:rPr lang="en-US" b="0" i="1" smtClean="0">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rPr>
                              <m:t>2</m:t>
                            </m:r>
                          </m:sup>
                        </m:sSup>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ℏ</m:t>
                            </m:r>
                          </m:e>
                          <m:sup>
                            <m:r>
                              <a:rPr lang="en-US" i="1">
                                <a:latin typeface="Cambria Math" panose="02040503050406030204" pitchFamily="18" charset="0"/>
                              </a:rPr>
                              <m:t>2</m:t>
                            </m:r>
                          </m:sup>
                        </m:sSup>
                      </m:num>
                      <m:den>
                        <m:r>
                          <a:rPr lang="en-US" i="1">
                            <a:latin typeface="Cambria Math" panose="02040503050406030204" pitchFamily="18" charset="0"/>
                          </a:rPr>
                          <m:t>2</m:t>
                        </m:r>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𝑛</m:t>
                        </m:r>
                      </m:e>
                      <m:sub>
                        <m:r>
                          <a:rPr lang="en-US" b="0" i="1" smtClean="0">
                            <a:latin typeface="Cambria Math" panose="02040503050406030204" pitchFamily="18" charset="0"/>
                          </a:rPr>
                          <m:t>𝑚𝑎𝑥</m:t>
                        </m:r>
                      </m:sub>
                      <m:sup>
                        <m:r>
                          <a:rPr lang="en-US" b="0" i="1" smtClean="0">
                            <a:latin typeface="Cambria Math" panose="02040503050406030204" pitchFamily="18" charset="0"/>
                          </a:rPr>
                          <m:t>2</m:t>
                        </m:r>
                      </m:sup>
                    </m:sSubSup>
                  </m:oMath>
                </a14:m>
                <a:endParaRPr lang="en-CN" dirty="0"/>
              </a:p>
              <a:p>
                <a:r>
                  <a:rPr lang="en-CN" dirty="0"/>
                  <a:t>     即为费米能</a:t>
                </a:r>
              </a:p>
              <a:p>
                <a:pPr marL="285750" indent="-285750">
                  <a:buFont typeface="Arial" panose="020B0604020202020204" pitchFamily="34" charset="0"/>
                  <a:buChar char="•"/>
                </a:pPr>
                <a:r>
                  <a:rPr lang="en-CN" dirty="0"/>
                  <a:t>那么多少个微观态被占据了呢</a:t>
                </a:r>
                <a:r>
                  <a:rPr lang="zh-CN" altLang="en-US" dirty="0"/>
                  <a:t>？即有多少个粒子呢？</a:t>
                </a:r>
                <a:r>
                  <a:rPr lang="en-US" altLang="zh-CN" dirty="0"/>
                  <a:t>N</a:t>
                </a:r>
                <a:r>
                  <a:rPr lang="zh-CN" altLang="en-US" dirty="0"/>
                  <a:t>空间的体积（第一象限）</a:t>
                </a:r>
                <a:endParaRPr lang="en-US" altLang="zh-CN"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=2×</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𝑣𝑜𝑙𝑢𝑚𝑒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𝑒𝑖𝑔h𝑡h</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𝑠𝑝h𝑒𝑟𝑒</m:t>
                          </m:r>
                        </m:e>
                      </m:d>
                      <m:r>
                        <a:rPr lang="en-US" b="0" i="1" smtClean="0">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m:t>
                      </m:r>
                      <m:f>
                        <m:fPr>
                          <m:ctrlPr>
                            <a:rPr lang="en-US" b="0" i="1" smtClean="0">
                              <a:solidFill>
                                <a:schemeClr val="accent1"/>
                              </a:solidFill>
                              <a:latin typeface="Cambria Math" panose="02040503050406030204" pitchFamily="18" charset="0"/>
                              <a:ea typeface="Cambria Math" panose="02040503050406030204" pitchFamily="18" charset="0"/>
                            </a:rPr>
                          </m:ctrlPr>
                        </m:fPr>
                        <m:num>
                          <m:r>
                            <a:rPr lang="en-US" b="0" i="1" smtClean="0">
                              <a:solidFill>
                                <a:schemeClr val="accent1"/>
                              </a:solidFill>
                              <a:latin typeface="Cambria Math" panose="02040503050406030204" pitchFamily="18" charset="0"/>
                              <a:ea typeface="Cambria Math" panose="02040503050406030204" pitchFamily="18" charset="0"/>
                            </a:rPr>
                            <m:t>1</m:t>
                          </m:r>
                        </m:num>
                        <m:den>
                          <m:r>
                            <a:rPr lang="en-US" b="0" i="1" smtClean="0">
                              <a:solidFill>
                                <a:schemeClr val="accent1"/>
                              </a:solidFill>
                              <a:latin typeface="Cambria Math" panose="02040503050406030204" pitchFamily="18" charset="0"/>
                              <a:ea typeface="Cambria Math" panose="02040503050406030204" pitchFamily="18" charset="0"/>
                            </a:rPr>
                            <m:t>8</m:t>
                          </m:r>
                        </m:den>
                      </m:f>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𝑚𝑎𝑥</m:t>
                          </m:r>
                        </m:sub>
                        <m:sup>
                          <m:r>
                            <a:rPr lang="en-US" b="0" i="1" smtClean="0">
                              <a:latin typeface="Cambria Math" panose="02040503050406030204" pitchFamily="18" charset="0"/>
                              <a:ea typeface="Cambria Math" panose="02040503050406030204" pitchFamily="18" charset="0"/>
                            </a:rPr>
                            <m:t>3</m:t>
                          </m:r>
                        </m:sup>
                      </m:sSubSup>
                    </m:oMath>
                  </m:oMathPara>
                </a14:m>
                <a:endParaRPr lang="en-CN" dirty="0"/>
              </a:p>
              <a:p>
                <a:pPr marL="285750" indent="-285750">
                  <a:buFont typeface="Arial" panose="020B0604020202020204" pitchFamily="34" charset="0"/>
                  <a:buChar char="•"/>
                </a:pPr>
                <a:r>
                  <a:rPr lang="en-CN" dirty="0"/>
                  <a:t>于是</a:t>
                </a:r>
              </a:p>
            </p:txBody>
          </p:sp>
        </mc:Choice>
        <mc:Fallback xmlns="">
          <p:sp>
            <p:nvSpPr>
              <p:cNvPr id="3" name="TextBox 2">
                <a:extLst>
                  <a:ext uri="{FF2B5EF4-FFF2-40B4-BE49-F238E27FC236}">
                    <a16:creationId xmlns:a16="http://schemas.microsoft.com/office/drawing/2014/main" id="{CEC0CF44-FC62-C947-BFB3-1316D915C0CC}"/>
                  </a:ext>
                </a:extLst>
              </p:cNvPr>
              <p:cNvSpPr txBox="1">
                <a:spLocks noRot="1" noChangeAspect="1" noMove="1" noResize="1" noEditPoints="1" noAdjustHandles="1" noChangeArrowheads="1" noChangeShapeType="1" noTextEdit="1"/>
              </p:cNvSpPr>
              <p:nvPr/>
            </p:nvSpPr>
            <p:spPr>
              <a:xfrm>
                <a:off x="0" y="710954"/>
                <a:ext cx="9296400" cy="6032357"/>
              </a:xfrm>
              <a:prstGeom prst="rect">
                <a:avLst/>
              </a:prstGeom>
              <a:blipFill>
                <a:blip r:embed="rId2"/>
                <a:stretch>
                  <a:fillRect l="-410" t="-632" b="-632"/>
                </a:stretch>
              </a:blipFill>
            </p:spPr>
            <p:txBody>
              <a:bodyPr/>
              <a:lstStyle/>
              <a:p>
                <a:r>
                  <a:rPr lang="en-CN">
                    <a:noFill/>
                  </a:rPr>
                  <a:t> </a:t>
                </a:r>
              </a:p>
            </p:txBody>
          </p:sp>
        </mc:Fallback>
      </mc:AlternateContent>
      <p:cxnSp>
        <p:nvCxnSpPr>
          <p:cNvPr id="5" name="Straight Arrow Connector 4">
            <a:extLst>
              <a:ext uri="{FF2B5EF4-FFF2-40B4-BE49-F238E27FC236}">
                <a16:creationId xmlns:a16="http://schemas.microsoft.com/office/drawing/2014/main" id="{6B0CA85C-1E33-0542-AB4C-13F68BEF5F41}"/>
              </a:ext>
            </a:extLst>
          </p:cNvPr>
          <p:cNvCxnSpPr/>
          <p:nvPr/>
        </p:nvCxnSpPr>
        <p:spPr>
          <a:xfrm flipV="1">
            <a:off x="5500255" y="1787116"/>
            <a:ext cx="0" cy="1191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9B3958C-ADFD-2240-9486-1B84B17CBE4E}"/>
              </a:ext>
            </a:extLst>
          </p:cNvPr>
          <p:cNvCxnSpPr/>
          <p:nvPr/>
        </p:nvCxnSpPr>
        <p:spPr>
          <a:xfrm>
            <a:off x="5514109" y="2992582"/>
            <a:ext cx="15101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BFED819-C595-E945-AC47-E512AE963C00}"/>
              </a:ext>
            </a:extLst>
          </p:cNvPr>
          <p:cNvCxnSpPr/>
          <p:nvPr/>
        </p:nvCxnSpPr>
        <p:spPr>
          <a:xfrm flipH="1">
            <a:off x="4391891" y="2978727"/>
            <a:ext cx="1108364" cy="450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C64BFB6-B512-EF4F-96BD-49687DC43461}"/>
                  </a:ext>
                </a:extLst>
              </p:cNvPr>
              <p:cNvSpPr txBox="1"/>
              <p:nvPr/>
            </p:nvSpPr>
            <p:spPr>
              <a:xfrm>
                <a:off x="4128655" y="3429000"/>
                <a:ext cx="49876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𝑥</m:t>
                          </m:r>
                        </m:sub>
                      </m:sSub>
                    </m:oMath>
                  </m:oMathPara>
                </a14:m>
                <a:endParaRPr lang="en-CN" dirty="0"/>
              </a:p>
            </p:txBody>
          </p:sp>
        </mc:Choice>
        <mc:Fallback xmlns="">
          <p:sp>
            <p:nvSpPr>
              <p:cNvPr id="10" name="TextBox 9">
                <a:extLst>
                  <a:ext uri="{FF2B5EF4-FFF2-40B4-BE49-F238E27FC236}">
                    <a16:creationId xmlns:a16="http://schemas.microsoft.com/office/drawing/2014/main" id="{9C64BFB6-B512-EF4F-96BD-49687DC43461}"/>
                  </a:ext>
                </a:extLst>
              </p:cNvPr>
              <p:cNvSpPr txBox="1">
                <a:spLocks noRot="1" noChangeAspect="1" noMove="1" noResize="1" noEditPoints="1" noAdjustHandles="1" noChangeArrowheads="1" noChangeShapeType="1" noTextEdit="1"/>
              </p:cNvSpPr>
              <p:nvPr/>
            </p:nvSpPr>
            <p:spPr>
              <a:xfrm>
                <a:off x="4128655" y="3429000"/>
                <a:ext cx="498763" cy="369332"/>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2C96474-C5E9-7E4D-9754-13180C72E584}"/>
                  </a:ext>
                </a:extLst>
              </p:cNvPr>
              <p:cNvSpPr txBox="1"/>
              <p:nvPr/>
            </p:nvSpPr>
            <p:spPr>
              <a:xfrm>
                <a:off x="7038109" y="2978727"/>
                <a:ext cx="498763" cy="3912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𝑦</m:t>
                          </m:r>
                        </m:sub>
                      </m:sSub>
                    </m:oMath>
                  </m:oMathPara>
                </a14:m>
                <a:endParaRPr lang="en-CN" dirty="0"/>
              </a:p>
            </p:txBody>
          </p:sp>
        </mc:Choice>
        <mc:Fallback xmlns="">
          <p:sp>
            <p:nvSpPr>
              <p:cNvPr id="11" name="TextBox 10">
                <a:extLst>
                  <a:ext uri="{FF2B5EF4-FFF2-40B4-BE49-F238E27FC236}">
                    <a16:creationId xmlns:a16="http://schemas.microsoft.com/office/drawing/2014/main" id="{22C96474-C5E9-7E4D-9754-13180C72E584}"/>
                  </a:ext>
                </a:extLst>
              </p:cNvPr>
              <p:cNvSpPr txBox="1">
                <a:spLocks noRot="1" noChangeAspect="1" noMove="1" noResize="1" noEditPoints="1" noAdjustHandles="1" noChangeArrowheads="1" noChangeShapeType="1" noTextEdit="1"/>
              </p:cNvSpPr>
              <p:nvPr/>
            </p:nvSpPr>
            <p:spPr>
              <a:xfrm>
                <a:off x="7038109" y="2978727"/>
                <a:ext cx="498763" cy="391261"/>
              </a:xfrm>
              <a:prstGeom prst="rect">
                <a:avLst/>
              </a:prstGeom>
              <a:blipFill>
                <a:blip r:embed="rId4"/>
                <a:stretch>
                  <a:fillRect b="-312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111D5E7-7374-454D-A04A-5EAF9A53C7A6}"/>
                  </a:ext>
                </a:extLst>
              </p:cNvPr>
              <p:cNvSpPr txBox="1"/>
              <p:nvPr/>
            </p:nvSpPr>
            <p:spPr>
              <a:xfrm>
                <a:off x="5521038" y="1683391"/>
                <a:ext cx="49876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𝑧</m:t>
                          </m:r>
                        </m:sub>
                      </m:sSub>
                    </m:oMath>
                  </m:oMathPara>
                </a14:m>
                <a:endParaRPr lang="en-CN" dirty="0"/>
              </a:p>
            </p:txBody>
          </p:sp>
        </mc:Choice>
        <mc:Fallback xmlns="">
          <p:sp>
            <p:nvSpPr>
              <p:cNvPr id="12" name="TextBox 11">
                <a:extLst>
                  <a:ext uri="{FF2B5EF4-FFF2-40B4-BE49-F238E27FC236}">
                    <a16:creationId xmlns:a16="http://schemas.microsoft.com/office/drawing/2014/main" id="{E111D5E7-7374-454D-A04A-5EAF9A53C7A6}"/>
                  </a:ext>
                </a:extLst>
              </p:cNvPr>
              <p:cNvSpPr txBox="1">
                <a:spLocks noRot="1" noChangeAspect="1" noMove="1" noResize="1" noEditPoints="1" noAdjustHandles="1" noChangeArrowheads="1" noChangeShapeType="1" noTextEdit="1"/>
              </p:cNvSpPr>
              <p:nvPr/>
            </p:nvSpPr>
            <p:spPr>
              <a:xfrm>
                <a:off x="5521038" y="1683391"/>
                <a:ext cx="498763" cy="369332"/>
              </a:xfrm>
              <a:prstGeom prst="rect">
                <a:avLst/>
              </a:prstGeom>
              <a:blipFill>
                <a:blip r:embed="rId5"/>
                <a:stretch>
                  <a:fillRect/>
                </a:stretch>
              </a:blipFill>
            </p:spPr>
            <p:txBody>
              <a:bodyPr/>
              <a:lstStyle/>
              <a:p>
                <a:r>
                  <a:rPr lang="en-CN">
                    <a:noFill/>
                  </a:rPr>
                  <a:t> </a:t>
                </a:r>
              </a:p>
            </p:txBody>
          </p:sp>
        </mc:Fallback>
      </mc:AlternateContent>
      <p:pic>
        <p:nvPicPr>
          <p:cNvPr id="14" name="Picture 13">
            <a:extLst>
              <a:ext uri="{FF2B5EF4-FFF2-40B4-BE49-F238E27FC236}">
                <a16:creationId xmlns:a16="http://schemas.microsoft.com/office/drawing/2014/main" id="{E6028450-F725-7F4B-AF82-1480E8694F15}"/>
              </a:ext>
            </a:extLst>
          </p:cNvPr>
          <p:cNvPicPr>
            <a:picLocks noChangeAspect="1"/>
          </p:cNvPicPr>
          <p:nvPr/>
        </p:nvPicPr>
        <p:blipFill>
          <a:blip r:embed="rId6"/>
          <a:stretch>
            <a:fillRect/>
          </a:stretch>
        </p:blipFill>
        <p:spPr>
          <a:xfrm>
            <a:off x="7952524" y="0"/>
            <a:ext cx="4112210" cy="4284449"/>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A0B0C50-164B-3B17-BF47-54A3EF93C5E1}"/>
                  </a:ext>
                </a:extLst>
              </p:cNvPr>
              <p:cNvSpPr txBox="1"/>
              <p:nvPr/>
            </p:nvSpPr>
            <p:spPr>
              <a:xfrm>
                <a:off x="9919855" y="6234546"/>
                <a:ext cx="214487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𝑠𝑝𝑖𝑛</m:t>
                      </m:r>
                      <m:r>
                        <a:rPr lang="zh-CN" altLang="en-US" b="0" i="1" smtClean="0">
                          <a:latin typeface="Cambria Math" panose="02040503050406030204" pitchFamily="18" charset="0"/>
                        </a:rPr>
                        <m:t> </m:t>
                      </m:r>
                      <m:r>
                        <a:rPr lang="en-US" altLang="zh-CN" b="0" i="1" smtClean="0">
                          <a:latin typeface="Cambria Math" panose="02040503050406030204" pitchFamily="18" charset="0"/>
                        </a:rPr>
                        <m:t>𝑓𝑎𝑐𝑡𝑜𝑟</m:t>
                      </m:r>
                      <m:r>
                        <a:rPr lang="en-US" b="0" i="1" smtClean="0">
                          <a:latin typeface="Cambria Math" panose="02040503050406030204" pitchFamily="18" charset="0"/>
                        </a:rPr>
                        <m:t>:2</m:t>
                      </m:r>
                      <m:r>
                        <a:rPr lang="en-US" b="0" i="1" smtClean="0">
                          <a:latin typeface="Cambria Math" panose="02040503050406030204" pitchFamily="18" charset="0"/>
                        </a:rPr>
                        <m:t>𝑠</m:t>
                      </m:r>
                      <m:r>
                        <a:rPr lang="en-US" b="0" i="1" smtClean="0">
                          <a:latin typeface="Cambria Math" panose="02040503050406030204" pitchFamily="18" charset="0"/>
                        </a:rPr>
                        <m:t>+1</m:t>
                      </m:r>
                    </m:oMath>
                  </m:oMathPara>
                </a14:m>
                <a:endParaRPr lang="en-CN" dirty="0"/>
              </a:p>
            </p:txBody>
          </p:sp>
        </mc:Choice>
        <mc:Fallback xmlns="">
          <p:sp>
            <p:nvSpPr>
              <p:cNvPr id="4" name="TextBox 3">
                <a:extLst>
                  <a:ext uri="{FF2B5EF4-FFF2-40B4-BE49-F238E27FC236}">
                    <a16:creationId xmlns:a16="http://schemas.microsoft.com/office/drawing/2014/main" id="{EA0B0C50-164B-3B17-BF47-54A3EF93C5E1}"/>
                  </a:ext>
                </a:extLst>
              </p:cNvPr>
              <p:cNvSpPr txBox="1">
                <a:spLocks noRot="1" noChangeAspect="1" noMove="1" noResize="1" noEditPoints="1" noAdjustHandles="1" noChangeArrowheads="1" noChangeShapeType="1" noTextEdit="1"/>
              </p:cNvSpPr>
              <p:nvPr/>
            </p:nvSpPr>
            <p:spPr>
              <a:xfrm>
                <a:off x="9919855" y="6234546"/>
                <a:ext cx="2144879" cy="369332"/>
              </a:xfrm>
              <a:prstGeom prst="rect">
                <a:avLst/>
              </a:prstGeom>
              <a:blipFill>
                <a:blip r:embed="rId7"/>
                <a:stretch>
                  <a:fillRect b="-17241"/>
                </a:stretch>
              </a:blipFill>
            </p:spPr>
            <p:txBody>
              <a:bodyPr/>
              <a:lstStyle/>
              <a:p>
                <a:r>
                  <a:rPr lang="en-CN">
                    <a:noFill/>
                  </a:rPr>
                  <a:t> </a:t>
                </a:r>
              </a:p>
            </p:txBody>
          </p:sp>
        </mc:Fallback>
      </mc:AlternateContent>
    </p:spTree>
    <p:extLst>
      <p:ext uri="{BB962C8B-B14F-4D97-AF65-F5344CB8AC3E}">
        <p14:creationId xmlns:p14="http://schemas.microsoft.com/office/powerpoint/2010/main" val="3858008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B6A392D-85E4-3B49-8B82-8833C818F63F}"/>
                  </a:ext>
                </a:extLst>
              </p:cNvPr>
              <p:cNvSpPr txBox="1"/>
              <p:nvPr/>
            </p:nvSpPr>
            <p:spPr>
              <a:xfrm>
                <a:off x="914400" y="360218"/>
                <a:ext cx="10571018" cy="10133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CN" sz="2800" i="1" smtClean="0">
                              <a:latin typeface="Cambria Math" panose="02040503050406030204" pitchFamily="18" charset="0"/>
                            </a:rPr>
                          </m:ctrlPr>
                        </m:sSubPr>
                        <m:e>
                          <m:r>
                            <a:rPr lang="en-US" sz="2800" b="0" i="1" smtClean="0">
                              <a:latin typeface="Cambria Math" panose="02040503050406030204" pitchFamily="18" charset="0"/>
                            </a:rPr>
                            <m:t>𝑛</m:t>
                          </m:r>
                        </m:e>
                        <m:sub>
                          <m:r>
                            <a:rPr lang="en-US" sz="2800" b="0" i="1" smtClean="0">
                              <a:latin typeface="Cambria Math" panose="02040503050406030204" pitchFamily="18" charset="0"/>
                            </a:rPr>
                            <m:t>𝑚𝑎𝑥</m:t>
                          </m:r>
                        </m:sub>
                      </m:sSub>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3</m:t>
                                  </m:r>
                                  <m:r>
                                    <a:rPr lang="en-US" sz="2800" b="0" i="1" smtClean="0">
                                      <a:latin typeface="Cambria Math" panose="02040503050406030204" pitchFamily="18" charset="0"/>
                                    </a:rPr>
                                    <m:t>𝑁</m:t>
                                  </m:r>
                                </m:num>
                                <m:den>
                                  <m:r>
                                    <a:rPr lang="en-US" sz="2800" b="0" i="1" smtClean="0">
                                      <a:latin typeface="Cambria Math" panose="02040503050406030204" pitchFamily="18" charset="0"/>
                                      <a:ea typeface="Cambria Math" panose="02040503050406030204" pitchFamily="18" charset="0"/>
                                    </a:rPr>
                                    <m:t>𝜋</m:t>
                                  </m:r>
                                </m:den>
                              </m:f>
                            </m:e>
                          </m:d>
                        </m:e>
                        <m:sup>
                          <m:r>
                            <a:rPr lang="en-US" sz="2800" b="0" i="1" smtClean="0">
                              <a:latin typeface="Cambria Math" panose="02040503050406030204" pitchFamily="18" charset="0"/>
                            </a:rPr>
                            <m:t>1/3</m:t>
                          </m:r>
                        </m:sup>
                      </m:sSup>
                    </m:oMath>
                  </m:oMathPara>
                </a14:m>
                <a:endParaRPr lang="en-CN" sz="2800" dirty="0"/>
              </a:p>
            </p:txBody>
          </p:sp>
        </mc:Choice>
        <mc:Fallback xmlns="">
          <p:sp>
            <p:nvSpPr>
              <p:cNvPr id="2" name="TextBox 1">
                <a:extLst>
                  <a:ext uri="{FF2B5EF4-FFF2-40B4-BE49-F238E27FC236}">
                    <a16:creationId xmlns:a16="http://schemas.microsoft.com/office/drawing/2014/main" id="{6B6A392D-85E4-3B49-8B82-8833C818F63F}"/>
                  </a:ext>
                </a:extLst>
              </p:cNvPr>
              <p:cNvSpPr txBox="1">
                <a:spLocks noRot="1" noChangeAspect="1" noMove="1" noResize="1" noEditPoints="1" noAdjustHandles="1" noChangeArrowheads="1" noChangeShapeType="1" noTextEdit="1"/>
              </p:cNvSpPr>
              <p:nvPr/>
            </p:nvSpPr>
            <p:spPr>
              <a:xfrm>
                <a:off x="914400" y="360218"/>
                <a:ext cx="10571018" cy="1013354"/>
              </a:xfrm>
              <a:prstGeom prst="rect">
                <a:avLst/>
              </a:prstGeom>
              <a:blipFill>
                <a:blip r:embed="rId2"/>
                <a:stretch>
                  <a:fillRect b="-1235"/>
                </a:stretch>
              </a:blipFill>
            </p:spPr>
            <p:txBody>
              <a:bodyPr/>
              <a:lstStyle/>
              <a:p>
                <a:r>
                  <a:rPr lang="en-CN">
                    <a:noFill/>
                  </a:rPr>
                  <a:t> </a:t>
                </a:r>
              </a:p>
            </p:txBody>
          </p:sp>
        </mc:Fallback>
      </mc:AlternateContent>
      <p:sp>
        <p:nvSpPr>
          <p:cNvPr id="3" name="Down Arrow 2">
            <a:extLst>
              <a:ext uri="{FF2B5EF4-FFF2-40B4-BE49-F238E27FC236}">
                <a16:creationId xmlns:a16="http://schemas.microsoft.com/office/drawing/2014/main" id="{5E22FF09-1B8A-D94D-AA84-0EBE0597A326}"/>
              </a:ext>
            </a:extLst>
          </p:cNvPr>
          <p:cNvSpPr/>
          <p:nvPr/>
        </p:nvSpPr>
        <p:spPr>
          <a:xfrm>
            <a:off x="5957454" y="1778992"/>
            <a:ext cx="277091" cy="3961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0D56C2E-8032-D943-9802-DF24C6D1798B}"/>
                  </a:ext>
                </a:extLst>
              </p:cNvPr>
              <p:cNvSpPr txBox="1"/>
              <p:nvPr/>
            </p:nvSpPr>
            <p:spPr>
              <a:xfrm>
                <a:off x="0" y="2102389"/>
                <a:ext cx="12192000" cy="1053302"/>
              </a:xfrm>
              <a:prstGeom prst="rect">
                <a:avLst/>
              </a:prstGeom>
              <a:noFill/>
            </p:spPr>
            <p:txBody>
              <a:bodyPr wrap="square">
                <a:spAutoFit/>
              </a:bodyPr>
              <a:lstStyle/>
              <a:p>
                <a:pPr algn="ctr"/>
                <a14:m>
                  <m:oMath xmlns:m="http://schemas.openxmlformats.org/officeDocument/2006/math">
                    <m:sSub>
                      <m:sSubPr>
                        <m:ctrlPr>
                          <a:rPr lang="en-CN" sz="3600" i="1" smtClean="0">
                            <a:solidFill>
                              <a:srgbClr val="FF0000"/>
                            </a:solidFill>
                            <a:latin typeface="Cambria Math" panose="02040503050406030204" pitchFamily="18" charset="0"/>
                          </a:rPr>
                        </m:ctrlPr>
                      </m:sSubPr>
                      <m:e>
                        <m:r>
                          <a:rPr lang="en-CN" sz="3600" i="1" smtClean="0">
                            <a:solidFill>
                              <a:srgbClr val="FF0000"/>
                            </a:solidFill>
                            <a:latin typeface="Cambria Math" panose="02040503050406030204" pitchFamily="18" charset="0"/>
                            <a:ea typeface="Cambria Math" panose="02040503050406030204" pitchFamily="18" charset="0"/>
                          </a:rPr>
                          <m:t>𝜀</m:t>
                        </m:r>
                      </m:e>
                      <m:sub>
                        <m:r>
                          <a:rPr lang="en-US" sz="3600" b="0" i="1" smtClean="0">
                            <a:solidFill>
                              <a:srgbClr val="FF0000"/>
                            </a:solidFill>
                            <a:latin typeface="Cambria Math" panose="02040503050406030204" pitchFamily="18" charset="0"/>
                          </a:rPr>
                          <m:t>𝐹</m:t>
                        </m:r>
                      </m:sub>
                    </m:sSub>
                    <m:r>
                      <a:rPr lang="en-US" sz="3600" b="0" i="1" smtClean="0">
                        <a:latin typeface="Cambria Math" panose="02040503050406030204" pitchFamily="18" charset="0"/>
                      </a:rPr>
                      <m:t>=</m:t>
                    </m:r>
                  </m:oMath>
                </a14:m>
                <a:r>
                  <a:rPr lang="en-US" sz="3600" dirty="0"/>
                  <a:t> </a:t>
                </a:r>
                <a14:m>
                  <m:oMath xmlns:m="http://schemas.openxmlformats.org/officeDocument/2006/math">
                    <m:f>
                      <m:fPr>
                        <m:ctrlPr>
                          <a:rPr lang="en-US" sz="3600" i="1">
                            <a:latin typeface="Cambria Math" panose="02040503050406030204" pitchFamily="18" charset="0"/>
                          </a:rPr>
                        </m:ctrlPr>
                      </m:fPr>
                      <m:num>
                        <m:sSup>
                          <m:sSupPr>
                            <m:ctrlPr>
                              <a:rPr lang="en-US" sz="3600" i="1">
                                <a:latin typeface="Cambria Math" panose="02040503050406030204" pitchFamily="18" charset="0"/>
                              </a:rPr>
                            </m:ctrlPr>
                          </m:sSupPr>
                          <m:e>
                            <m:r>
                              <a:rPr lang="en-US" sz="3600" i="1">
                                <a:latin typeface="Cambria Math" panose="02040503050406030204" pitchFamily="18" charset="0"/>
                                <a:ea typeface="Cambria Math" panose="02040503050406030204" pitchFamily="18" charset="0"/>
                              </a:rPr>
                              <m:t>𝜋</m:t>
                            </m:r>
                          </m:e>
                          <m:sup>
                            <m:r>
                              <a:rPr lang="en-US" sz="3600" i="1">
                                <a:latin typeface="Cambria Math" panose="02040503050406030204" pitchFamily="18" charset="0"/>
                              </a:rPr>
                              <m:t>2</m:t>
                            </m:r>
                          </m:sup>
                        </m:sSup>
                        <m:sSup>
                          <m:sSupPr>
                            <m:ctrlPr>
                              <a:rPr lang="en-US" sz="3600" i="1">
                                <a:latin typeface="Cambria Math" panose="02040503050406030204" pitchFamily="18" charset="0"/>
                              </a:rPr>
                            </m:ctrlPr>
                          </m:sSupPr>
                          <m:e>
                            <m:r>
                              <a:rPr lang="en-US" sz="3600" i="1">
                                <a:latin typeface="Cambria Math" panose="02040503050406030204" pitchFamily="18" charset="0"/>
                                <a:ea typeface="Cambria Math" panose="02040503050406030204" pitchFamily="18" charset="0"/>
                              </a:rPr>
                              <m:t>ℏ</m:t>
                            </m:r>
                          </m:e>
                          <m:sup>
                            <m:r>
                              <a:rPr lang="en-US" sz="3600" i="1">
                                <a:latin typeface="Cambria Math" panose="02040503050406030204" pitchFamily="18" charset="0"/>
                              </a:rPr>
                              <m:t>2</m:t>
                            </m:r>
                          </m:sup>
                        </m:sSup>
                      </m:num>
                      <m:den>
                        <m:r>
                          <a:rPr lang="en-US" sz="3600" i="1">
                            <a:latin typeface="Cambria Math" panose="02040503050406030204" pitchFamily="18" charset="0"/>
                          </a:rPr>
                          <m:t>2</m:t>
                        </m:r>
                        <m:r>
                          <a:rPr lang="en-US" sz="3600" i="1">
                            <a:latin typeface="Cambria Math" panose="02040503050406030204" pitchFamily="18" charset="0"/>
                          </a:rPr>
                          <m:t>𝑚</m:t>
                        </m:r>
                        <m:sSup>
                          <m:sSupPr>
                            <m:ctrlPr>
                              <a:rPr lang="en-US" sz="3600" i="1">
                                <a:latin typeface="Cambria Math" panose="02040503050406030204" pitchFamily="18" charset="0"/>
                              </a:rPr>
                            </m:ctrlPr>
                          </m:sSupPr>
                          <m:e>
                            <m:r>
                              <a:rPr lang="en-US" sz="3600" i="1">
                                <a:latin typeface="Cambria Math" panose="02040503050406030204" pitchFamily="18" charset="0"/>
                              </a:rPr>
                              <m:t>𝐿</m:t>
                            </m:r>
                          </m:e>
                          <m:sup>
                            <m:r>
                              <a:rPr lang="en-US" sz="3600" i="1">
                                <a:latin typeface="Cambria Math" panose="02040503050406030204" pitchFamily="18" charset="0"/>
                              </a:rPr>
                              <m:t>2</m:t>
                            </m:r>
                          </m:sup>
                        </m:sSup>
                      </m:den>
                    </m:f>
                    <m:sSubSup>
                      <m:sSubSupPr>
                        <m:ctrlPr>
                          <a:rPr lang="en-US" sz="3600" i="1" smtClean="0">
                            <a:latin typeface="Cambria Math" panose="02040503050406030204" pitchFamily="18" charset="0"/>
                          </a:rPr>
                        </m:ctrlPr>
                      </m:sSubSupPr>
                      <m:e>
                        <m:r>
                          <a:rPr lang="en-US" sz="3600" b="0" i="1" smtClean="0">
                            <a:latin typeface="Cambria Math" panose="02040503050406030204" pitchFamily="18" charset="0"/>
                          </a:rPr>
                          <m:t>𝑛</m:t>
                        </m:r>
                      </m:e>
                      <m:sub>
                        <m:r>
                          <a:rPr lang="en-US" sz="3600" b="0" i="1" smtClean="0">
                            <a:latin typeface="Cambria Math" panose="02040503050406030204" pitchFamily="18" charset="0"/>
                          </a:rPr>
                          <m:t>𝑚𝑎𝑥</m:t>
                        </m:r>
                      </m:sub>
                      <m:sup>
                        <m:r>
                          <a:rPr lang="en-US" sz="3600" b="0" i="1" smtClean="0">
                            <a:latin typeface="Cambria Math" panose="02040503050406030204" pitchFamily="18" charset="0"/>
                          </a:rPr>
                          <m:t>2</m:t>
                        </m:r>
                      </m:sup>
                    </m:sSubSup>
                    <m:r>
                      <a:rPr lang="en-US" sz="3600" b="0" i="1" smtClean="0">
                        <a:latin typeface="Cambria Math" panose="02040503050406030204" pitchFamily="18" charset="0"/>
                      </a:rPr>
                      <m:t>=</m:t>
                    </m:r>
                    <m:f>
                      <m:fPr>
                        <m:ctrlPr>
                          <a:rPr lang="en-US" sz="3600" i="1">
                            <a:latin typeface="Cambria Math" panose="02040503050406030204" pitchFamily="18" charset="0"/>
                          </a:rPr>
                        </m:ctrlPr>
                      </m:fPr>
                      <m:num>
                        <m:sSup>
                          <m:sSupPr>
                            <m:ctrlPr>
                              <a:rPr lang="en-US" sz="3600" i="1">
                                <a:latin typeface="Cambria Math" panose="02040503050406030204" pitchFamily="18" charset="0"/>
                              </a:rPr>
                            </m:ctrlPr>
                          </m:sSupPr>
                          <m:e>
                            <m:r>
                              <a:rPr lang="en-US" sz="3600" i="1">
                                <a:latin typeface="Cambria Math" panose="02040503050406030204" pitchFamily="18" charset="0"/>
                                <a:ea typeface="Cambria Math" panose="02040503050406030204" pitchFamily="18" charset="0"/>
                              </a:rPr>
                              <m:t>𝜋</m:t>
                            </m:r>
                          </m:e>
                          <m:sup>
                            <m:r>
                              <a:rPr lang="en-US" sz="3600" i="1">
                                <a:latin typeface="Cambria Math" panose="02040503050406030204" pitchFamily="18" charset="0"/>
                              </a:rPr>
                              <m:t>2</m:t>
                            </m:r>
                          </m:sup>
                        </m:sSup>
                        <m:sSup>
                          <m:sSupPr>
                            <m:ctrlPr>
                              <a:rPr lang="en-US" sz="3600" i="1">
                                <a:latin typeface="Cambria Math" panose="02040503050406030204" pitchFamily="18" charset="0"/>
                              </a:rPr>
                            </m:ctrlPr>
                          </m:sSupPr>
                          <m:e>
                            <m:r>
                              <a:rPr lang="en-US" sz="3600" i="1">
                                <a:latin typeface="Cambria Math" panose="02040503050406030204" pitchFamily="18" charset="0"/>
                                <a:ea typeface="Cambria Math" panose="02040503050406030204" pitchFamily="18" charset="0"/>
                              </a:rPr>
                              <m:t>ℏ</m:t>
                            </m:r>
                          </m:e>
                          <m:sup>
                            <m:r>
                              <a:rPr lang="en-US" sz="3600" i="1">
                                <a:latin typeface="Cambria Math" panose="02040503050406030204" pitchFamily="18" charset="0"/>
                              </a:rPr>
                              <m:t>2</m:t>
                            </m:r>
                          </m:sup>
                        </m:sSup>
                      </m:num>
                      <m:den>
                        <m:r>
                          <a:rPr lang="en-US" sz="3600" i="1">
                            <a:latin typeface="Cambria Math" panose="02040503050406030204" pitchFamily="18" charset="0"/>
                          </a:rPr>
                          <m:t>2</m:t>
                        </m:r>
                        <m:r>
                          <a:rPr lang="en-US" sz="3600" i="1">
                            <a:latin typeface="Cambria Math" panose="02040503050406030204" pitchFamily="18" charset="0"/>
                          </a:rPr>
                          <m:t>𝑚</m:t>
                        </m:r>
                        <m:sSup>
                          <m:sSupPr>
                            <m:ctrlPr>
                              <a:rPr lang="en-US" sz="3600" i="1">
                                <a:latin typeface="Cambria Math" panose="02040503050406030204" pitchFamily="18" charset="0"/>
                              </a:rPr>
                            </m:ctrlPr>
                          </m:sSupPr>
                          <m:e>
                            <m:r>
                              <a:rPr lang="en-US" sz="3600" i="1">
                                <a:latin typeface="Cambria Math" panose="02040503050406030204" pitchFamily="18" charset="0"/>
                              </a:rPr>
                              <m:t>𝐿</m:t>
                            </m:r>
                          </m:e>
                          <m:sup>
                            <m:r>
                              <a:rPr lang="en-US" sz="3600" i="1">
                                <a:latin typeface="Cambria Math" panose="02040503050406030204" pitchFamily="18" charset="0"/>
                              </a:rPr>
                              <m:t>2</m:t>
                            </m:r>
                          </m:sup>
                        </m:sSup>
                      </m:den>
                    </m:f>
                    <m:sSup>
                      <m:sSupPr>
                        <m:ctrlPr>
                          <a:rPr lang="en-US" sz="3600" i="1">
                            <a:latin typeface="Cambria Math" panose="02040503050406030204" pitchFamily="18" charset="0"/>
                          </a:rPr>
                        </m:ctrlPr>
                      </m:sSupPr>
                      <m:e>
                        <m:d>
                          <m:dPr>
                            <m:ctrlPr>
                              <a:rPr lang="en-US" sz="3600" i="1">
                                <a:latin typeface="Cambria Math" panose="02040503050406030204" pitchFamily="18" charset="0"/>
                              </a:rPr>
                            </m:ctrlPr>
                          </m:dPr>
                          <m:e>
                            <m:f>
                              <m:fPr>
                                <m:ctrlPr>
                                  <a:rPr lang="en-US" sz="3600" i="1">
                                    <a:latin typeface="Cambria Math" panose="02040503050406030204" pitchFamily="18" charset="0"/>
                                  </a:rPr>
                                </m:ctrlPr>
                              </m:fPr>
                              <m:num>
                                <m:r>
                                  <a:rPr lang="en-US" sz="3600" i="1">
                                    <a:latin typeface="Cambria Math" panose="02040503050406030204" pitchFamily="18" charset="0"/>
                                  </a:rPr>
                                  <m:t>3</m:t>
                                </m:r>
                                <m:r>
                                  <a:rPr lang="en-US" sz="3600" i="1">
                                    <a:latin typeface="Cambria Math" panose="02040503050406030204" pitchFamily="18" charset="0"/>
                                  </a:rPr>
                                  <m:t>𝑁</m:t>
                                </m:r>
                              </m:num>
                              <m:den>
                                <m:r>
                                  <a:rPr lang="en-US" sz="3600" i="1">
                                    <a:latin typeface="Cambria Math" panose="02040503050406030204" pitchFamily="18" charset="0"/>
                                    <a:ea typeface="Cambria Math" panose="02040503050406030204" pitchFamily="18" charset="0"/>
                                  </a:rPr>
                                  <m:t>𝜋</m:t>
                                </m:r>
                              </m:den>
                            </m:f>
                          </m:e>
                        </m:d>
                      </m:e>
                      <m:sup>
                        <m:r>
                          <a:rPr lang="en-US" altLang="zh-CN" sz="3600" b="0" i="1" smtClean="0">
                            <a:latin typeface="Cambria Math" panose="02040503050406030204" pitchFamily="18" charset="0"/>
                            <a:ea typeface="Cambria Math" panose="02040503050406030204" pitchFamily="18" charset="0"/>
                          </a:rPr>
                          <m:t>2</m:t>
                        </m:r>
                        <m:r>
                          <a:rPr lang="en-US" sz="3600" i="1">
                            <a:latin typeface="Cambria Math" panose="02040503050406030204" pitchFamily="18" charset="0"/>
                          </a:rPr>
                          <m:t>/3</m:t>
                        </m:r>
                      </m:sup>
                    </m:sSup>
                  </m:oMath>
                </a14:m>
                <a:r>
                  <a:rPr lang="en-CN" sz="3600" dirty="0"/>
                  <a:t>=</a:t>
                </a:r>
                <a:r>
                  <a:rPr lang="en-US" sz="3600" dirty="0"/>
                  <a:t> </a:t>
                </a:r>
                <a14:m>
                  <m:oMath xmlns:m="http://schemas.openxmlformats.org/officeDocument/2006/math">
                    <m:f>
                      <m:fPr>
                        <m:ctrlPr>
                          <a:rPr lang="en-US" sz="3600" i="1">
                            <a:latin typeface="Cambria Math" panose="02040503050406030204" pitchFamily="18" charset="0"/>
                          </a:rPr>
                        </m:ctrlPr>
                      </m:fPr>
                      <m:num>
                        <m:sSup>
                          <m:sSupPr>
                            <m:ctrlPr>
                              <a:rPr lang="en-US" sz="3600" i="1">
                                <a:latin typeface="Cambria Math" panose="02040503050406030204" pitchFamily="18" charset="0"/>
                              </a:rPr>
                            </m:ctrlPr>
                          </m:sSupPr>
                          <m:e>
                            <m:r>
                              <a:rPr lang="en-US" sz="3600" i="1">
                                <a:latin typeface="Cambria Math" panose="02040503050406030204" pitchFamily="18" charset="0"/>
                                <a:ea typeface="Cambria Math" panose="02040503050406030204" pitchFamily="18" charset="0"/>
                              </a:rPr>
                              <m:t>𝜋</m:t>
                            </m:r>
                          </m:e>
                          <m:sup>
                            <m:r>
                              <a:rPr lang="en-US" sz="3600" i="1">
                                <a:latin typeface="Cambria Math" panose="02040503050406030204" pitchFamily="18" charset="0"/>
                              </a:rPr>
                              <m:t>2</m:t>
                            </m:r>
                          </m:sup>
                        </m:sSup>
                        <m:sSup>
                          <m:sSupPr>
                            <m:ctrlPr>
                              <a:rPr lang="en-US" sz="3600" i="1">
                                <a:latin typeface="Cambria Math" panose="02040503050406030204" pitchFamily="18" charset="0"/>
                              </a:rPr>
                            </m:ctrlPr>
                          </m:sSupPr>
                          <m:e>
                            <m:r>
                              <a:rPr lang="en-US" sz="3600" i="1">
                                <a:latin typeface="Cambria Math" panose="02040503050406030204" pitchFamily="18" charset="0"/>
                                <a:ea typeface="Cambria Math" panose="02040503050406030204" pitchFamily="18" charset="0"/>
                              </a:rPr>
                              <m:t>ℏ</m:t>
                            </m:r>
                          </m:e>
                          <m:sup>
                            <m:r>
                              <a:rPr lang="en-US" sz="3600" i="1">
                                <a:latin typeface="Cambria Math" panose="02040503050406030204" pitchFamily="18" charset="0"/>
                              </a:rPr>
                              <m:t>2</m:t>
                            </m:r>
                          </m:sup>
                        </m:sSup>
                      </m:num>
                      <m:den>
                        <m:r>
                          <a:rPr lang="en-US" sz="3600" i="1">
                            <a:latin typeface="Cambria Math" panose="02040503050406030204" pitchFamily="18" charset="0"/>
                          </a:rPr>
                          <m:t>2</m:t>
                        </m:r>
                        <m:r>
                          <a:rPr lang="en-US" sz="3600" i="1">
                            <a:latin typeface="Cambria Math" panose="02040503050406030204" pitchFamily="18" charset="0"/>
                          </a:rPr>
                          <m:t>𝑚</m:t>
                        </m:r>
                      </m:den>
                    </m:f>
                    <m:sSup>
                      <m:sSupPr>
                        <m:ctrlPr>
                          <a:rPr lang="en-US" sz="3600" i="1">
                            <a:latin typeface="Cambria Math" panose="02040503050406030204" pitchFamily="18" charset="0"/>
                          </a:rPr>
                        </m:ctrlPr>
                      </m:sSupPr>
                      <m:e>
                        <m:d>
                          <m:dPr>
                            <m:ctrlPr>
                              <a:rPr lang="en-US" sz="3600" i="1">
                                <a:latin typeface="Cambria Math" panose="02040503050406030204" pitchFamily="18" charset="0"/>
                              </a:rPr>
                            </m:ctrlPr>
                          </m:dPr>
                          <m:e>
                            <m:f>
                              <m:fPr>
                                <m:ctrlPr>
                                  <a:rPr lang="en-US" sz="3600" i="1">
                                    <a:latin typeface="Cambria Math" panose="02040503050406030204" pitchFamily="18" charset="0"/>
                                  </a:rPr>
                                </m:ctrlPr>
                              </m:fPr>
                              <m:num>
                                <m:r>
                                  <a:rPr lang="en-US" sz="3600" i="1">
                                    <a:latin typeface="Cambria Math" panose="02040503050406030204" pitchFamily="18" charset="0"/>
                                  </a:rPr>
                                  <m:t>3</m:t>
                                </m:r>
                                <m:r>
                                  <a:rPr lang="en-US" sz="3600" i="1">
                                    <a:latin typeface="Cambria Math" panose="02040503050406030204" pitchFamily="18" charset="0"/>
                                  </a:rPr>
                                  <m:t>𝑁</m:t>
                                </m:r>
                              </m:num>
                              <m:den>
                                <m:r>
                                  <a:rPr lang="en-US" sz="3600" i="1">
                                    <a:latin typeface="Cambria Math" panose="02040503050406030204" pitchFamily="18" charset="0"/>
                                    <a:ea typeface="Cambria Math" panose="02040503050406030204" pitchFamily="18" charset="0"/>
                                  </a:rPr>
                                  <m:t>𝜋</m:t>
                                </m:r>
                                <m:r>
                                  <a:rPr lang="en-US" sz="3600" b="0" i="1" smtClean="0">
                                    <a:latin typeface="Cambria Math" panose="02040503050406030204" pitchFamily="18" charset="0"/>
                                    <a:ea typeface="Cambria Math" panose="02040503050406030204" pitchFamily="18" charset="0"/>
                                  </a:rPr>
                                  <m:t> </m:t>
                                </m:r>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𝐿</m:t>
                                    </m:r>
                                  </m:e>
                                  <m:sup>
                                    <m:r>
                                      <a:rPr lang="en-US" sz="3600" b="0" i="1" smtClean="0">
                                        <a:latin typeface="Cambria Math" panose="02040503050406030204" pitchFamily="18" charset="0"/>
                                        <a:ea typeface="Cambria Math" panose="02040503050406030204" pitchFamily="18" charset="0"/>
                                      </a:rPr>
                                      <m:t>3</m:t>
                                    </m:r>
                                  </m:sup>
                                </m:sSup>
                              </m:den>
                            </m:f>
                          </m:e>
                        </m:d>
                      </m:e>
                      <m:sup>
                        <m:r>
                          <a:rPr lang="en-US" altLang="zh-CN" sz="3600" b="0" i="1" smtClean="0">
                            <a:latin typeface="Cambria Math" panose="02040503050406030204" pitchFamily="18" charset="0"/>
                            <a:ea typeface="Cambria Math" panose="02040503050406030204" pitchFamily="18" charset="0"/>
                          </a:rPr>
                          <m:t>2</m:t>
                        </m:r>
                        <m:r>
                          <a:rPr lang="en-US" sz="3600" i="1">
                            <a:latin typeface="Cambria Math" panose="02040503050406030204" pitchFamily="18" charset="0"/>
                          </a:rPr>
                          <m:t>/3</m:t>
                        </m:r>
                      </m:sup>
                    </m:sSup>
                  </m:oMath>
                </a14:m>
                <a:r>
                  <a:rPr lang="en-CN" sz="3600" dirty="0"/>
                  <a:t> =</a:t>
                </a:r>
                <a:r>
                  <a:rPr lang="en-US" sz="3600" dirty="0"/>
                  <a:t> </a:t>
                </a:r>
                <a14:m>
                  <m:oMath xmlns:m="http://schemas.openxmlformats.org/officeDocument/2006/math">
                    <m:f>
                      <m:fPr>
                        <m:ctrlPr>
                          <a:rPr lang="en-US" sz="3600" i="1">
                            <a:latin typeface="Cambria Math" panose="02040503050406030204" pitchFamily="18" charset="0"/>
                          </a:rPr>
                        </m:ctrlPr>
                      </m:fPr>
                      <m:num>
                        <m:sSup>
                          <m:sSupPr>
                            <m:ctrlPr>
                              <a:rPr lang="en-US" sz="3600" i="1">
                                <a:latin typeface="Cambria Math" panose="02040503050406030204" pitchFamily="18" charset="0"/>
                              </a:rPr>
                            </m:ctrlPr>
                          </m:sSupPr>
                          <m:e>
                            <m:r>
                              <a:rPr lang="en-US" sz="3600" i="1">
                                <a:latin typeface="Cambria Math" panose="02040503050406030204" pitchFamily="18" charset="0"/>
                                <a:ea typeface="Cambria Math" panose="02040503050406030204" pitchFamily="18" charset="0"/>
                              </a:rPr>
                              <m:t>ℏ</m:t>
                            </m:r>
                          </m:e>
                          <m:sup>
                            <m:r>
                              <a:rPr lang="en-US" sz="3600" i="1">
                                <a:latin typeface="Cambria Math" panose="02040503050406030204" pitchFamily="18" charset="0"/>
                              </a:rPr>
                              <m:t>2</m:t>
                            </m:r>
                          </m:sup>
                        </m:sSup>
                      </m:num>
                      <m:den>
                        <m:r>
                          <a:rPr lang="en-US" sz="3600" i="1">
                            <a:latin typeface="Cambria Math" panose="02040503050406030204" pitchFamily="18" charset="0"/>
                          </a:rPr>
                          <m:t>2</m:t>
                        </m:r>
                        <m:r>
                          <a:rPr lang="en-US" sz="3600" i="1">
                            <a:latin typeface="Cambria Math" panose="02040503050406030204" pitchFamily="18" charset="0"/>
                          </a:rPr>
                          <m:t>𝑚</m:t>
                        </m:r>
                      </m:den>
                    </m:f>
                    <m:sSup>
                      <m:sSupPr>
                        <m:ctrlPr>
                          <a:rPr lang="en-US" sz="3600" i="1">
                            <a:latin typeface="Cambria Math" panose="02040503050406030204" pitchFamily="18" charset="0"/>
                          </a:rPr>
                        </m:ctrlPr>
                      </m:sSupPr>
                      <m:e>
                        <m:d>
                          <m:dPr>
                            <m:ctrlPr>
                              <a:rPr lang="en-US" sz="3600" i="1">
                                <a:latin typeface="Cambria Math" panose="02040503050406030204" pitchFamily="18" charset="0"/>
                              </a:rPr>
                            </m:ctrlPr>
                          </m:dPr>
                          <m:e>
                            <m:r>
                              <a:rPr lang="en-US" altLang="zh-CN" sz="3600" b="0" i="1" smtClean="0">
                                <a:latin typeface="Cambria Math" panose="02040503050406030204" pitchFamily="18" charset="0"/>
                              </a:rPr>
                              <m:t>3</m:t>
                            </m:r>
                            <m:sSup>
                              <m:sSupPr>
                                <m:ctrlPr>
                                  <a:rPr lang="en-US" altLang="zh-CN" sz="3600" b="0" i="1" smtClean="0">
                                    <a:latin typeface="Cambria Math" panose="02040503050406030204" pitchFamily="18" charset="0"/>
                                  </a:rPr>
                                </m:ctrlPr>
                              </m:sSupPr>
                              <m:e>
                                <m:r>
                                  <a:rPr lang="en-US" altLang="zh-CN" sz="3600" b="0" i="1" smtClean="0">
                                    <a:latin typeface="Cambria Math" panose="02040503050406030204" pitchFamily="18" charset="0"/>
                                    <a:ea typeface="Cambria Math" panose="02040503050406030204" pitchFamily="18" charset="0"/>
                                  </a:rPr>
                                  <m:t>𝜋</m:t>
                                </m:r>
                              </m:e>
                              <m:sup>
                                <m:r>
                                  <a:rPr lang="en-US" altLang="zh-CN" sz="3600" b="0" i="1" smtClean="0">
                                    <a:latin typeface="Cambria Math" panose="02040503050406030204" pitchFamily="18" charset="0"/>
                                  </a:rPr>
                                  <m:t>2</m:t>
                                </m:r>
                              </m:sup>
                            </m:sSup>
                            <m:r>
                              <a:rPr lang="en-US" sz="3600" b="0" i="1" smtClean="0">
                                <a:solidFill>
                                  <a:srgbClr val="FF0000"/>
                                </a:solidFill>
                                <a:latin typeface="Cambria Math" panose="02040503050406030204" pitchFamily="18" charset="0"/>
                                <a:ea typeface="Cambria Math" panose="02040503050406030204" pitchFamily="18" charset="0"/>
                              </a:rPr>
                              <m:t>𝑛</m:t>
                            </m:r>
                          </m:e>
                        </m:d>
                      </m:e>
                      <m:sup>
                        <m:r>
                          <a:rPr lang="en-US" altLang="zh-CN" sz="3600" b="0" i="1" smtClean="0">
                            <a:solidFill>
                              <a:schemeClr val="tx1"/>
                            </a:solidFill>
                            <a:latin typeface="Cambria Math" panose="02040503050406030204" pitchFamily="18" charset="0"/>
                            <a:ea typeface="Cambria Math" panose="02040503050406030204" pitchFamily="18" charset="0"/>
                          </a:rPr>
                          <m:t>2</m:t>
                        </m:r>
                        <m:r>
                          <a:rPr lang="en-US" sz="3600" i="1">
                            <a:latin typeface="Cambria Math" panose="02040503050406030204" pitchFamily="18" charset="0"/>
                          </a:rPr>
                          <m:t>/3</m:t>
                        </m:r>
                      </m:sup>
                    </m:sSup>
                  </m:oMath>
                </a14:m>
                <a:endParaRPr lang="en-CN" sz="3600" dirty="0"/>
              </a:p>
            </p:txBody>
          </p:sp>
        </mc:Choice>
        <mc:Fallback xmlns="">
          <p:sp>
            <p:nvSpPr>
              <p:cNvPr id="5" name="TextBox 4">
                <a:extLst>
                  <a:ext uri="{FF2B5EF4-FFF2-40B4-BE49-F238E27FC236}">
                    <a16:creationId xmlns:a16="http://schemas.microsoft.com/office/drawing/2014/main" id="{B0D56C2E-8032-D943-9802-DF24C6D1798B}"/>
                  </a:ext>
                </a:extLst>
              </p:cNvPr>
              <p:cNvSpPr txBox="1">
                <a:spLocks noRot="1" noChangeAspect="1" noMove="1" noResize="1" noEditPoints="1" noAdjustHandles="1" noChangeArrowheads="1" noChangeShapeType="1" noTextEdit="1"/>
              </p:cNvSpPr>
              <p:nvPr/>
            </p:nvSpPr>
            <p:spPr>
              <a:xfrm>
                <a:off x="0" y="2102389"/>
                <a:ext cx="12192000" cy="1053302"/>
              </a:xfrm>
              <a:prstGeom prst="rect">
                <a:avLst/>
              </a:prstGeom>
              <a:blipFill>
                <a:blip r:embed="rId3"/>
                <a:stretch>
                  <a:fillRect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7347CB5-173C-7545-998A-5F8B20CE9604}"/>
                  </a:ext>
                </a:extLst>
              </p:cNvPr>
              <p:cNvSpPr txBox="1"/>
              <p:nvPr/>
            </p:nvSpPr>
            <p:spPr>
              <a:xfrm>
                <a:off x="1094509" y="3976840"/>
                <a:ext cx="10390909" cy="923330"/>
              </a:xfrm>
              <a:prstGeom prst="rect">
                <a:avLst/>
              </a:prstGeom>
              <a:noFill/>
            </p:spPr>
            <p:txBody>
              <a:bodyPr wrap="square" rtlCol="0">
                <a:spAutoFit/>
              </a:bodyPr>
              <a:lstStyle/>
              <a:p>
                <a:r>
                  <a:rPr lang="en-CN" dirty="0"/>
                  <a:t>At absolute zero all orbitals with </a:t>
                </a:r>
                <a14:m>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&lt;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𝐹</m:t>
                        </m:r>
                      </m:sub>
                    </m:sSub>
                  </m:oMath>
                </a14:m>
                <a:r>
                  <a:rPr lang="en-CN" dirty="0"/>
                  <a:t> will be occupied with </a:t>
                </a:r>
                <a:r>
                  <a:rPr lang="en-CN" dirty="0">
                    <a:solidFill>
                      <a:srgbClr val="FF0000"/>
                    </a:solidFill>
                  </a:rPr>
                  <a:t>f=1</a:t>
                </a:r>
                <a:r>
                  <a:rPr lang="en-CN" dirty="0"/>
                  <a:t>. Here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𝐹</m:t>
                        </m:r>
                      </m:sub>
                    </m:sSub>
                  </m:oMath>
                </a14:m>
                <a:r>
                  <a:rPr lang="en-CN" dirty="0"/>
                  <a:t> is the energy below which there are just enough orbitals to hod the number of particles assigned to the system. Above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ea typeface="Cambria Math" panose="02040503050406030204" pitchFamily="18" charset="0"/>
                          </a:rPr>
                          <m:t>𝐹</m:t>
                        </m:r>
                      </m:sub>
                    </m:sSub>
                  </m:oMath>
                </a14:m>
                <a:r>
                  <a:rPr lang="en-CN" dirty="0"/>
                  <a:t> all orbitals will have </a:t>
                </a:r>
                <a:r>
                  <a:rPr lang="en-CN" dirty="0">
                    <a:solidFill>
                      <a:srgbClr val="FF0000"/>
                    </a:solidFill>
                  </a:rPr>
                  <a:t>f=0</a:t>
                </a:r>
                <a:r>
                  <a:rPr lang="en-CN" dirty="0"/>
                  <a:t> at tau=0. </a:t>
                </a:r>
              </a:p>
            </p:txBody>
          </p:sp>
        </mc:Choice>
        <mc:Fallback xmlns="">
          <p:sp>
            <p:nvSpPr>
              <p:cNvPr id="7" name="TextBox 6">
                <a:extLst>
                  <a:ext uri="{FF2B5EF4-FFF2-40B4-BE49-F238E27FC236}">
                    <a16:creationId xmlns:a16="http://schemas.microsoft.com/office/drawing/2014/main" id="{07347CB5-173C-7545-998A-5F8B20CE9604}"/>
                  </a:ext>
                </a:extLst>
              </p:cNvPr>
              <p:cNvSpPr txBox="1">
                <a:spLocks noRot="1" noChangeAspect="1" noMove="1" noResize="1" noEditPoints="1" noAdjustHandles="1" noChangeArrowheads="1" noChangeShapeType="1" noTextEdit="1"/>
              </p:cNvSpPr>
              <p:nvPr/>
            </p:nvSpPr>
            <p:spPr>
              <a:xfrm>
                <a:off x="1094509" y="3976840"/>
                <a:ext cx="10390909" cy="923330"/>
              </a:xfrm>
              <a:prstGeom prst="rect">
                <a:avLst/>
              </a:prstGeom>
              <a:blipFill>
                <a:blip r:embed="rId4"/>
                <a:stretch>
                  <a:fillRect l="-488" t="-1351" r="-611" b="-10811"/>
                </a:stretch>
              </a:blipFill>
            </p:spPr>
            <p:txBody>
              <a:bodyPr/>
              <a:lstStyle/>
              <a:p>
                <a:r>
                  <a:rPr lang="en-CN">
                    <a:noFill/>
                  </a:rPr>
                  <a:t> </a:t>
                </a:r>
              </a:p>
            </p:txBody>
          </p:sp>
        </mc:Fallback>
      </mc:AlternateContent>
    </p:spTree>
    <p:extLst>
      <p:ext uri="{BB962C8B-B14F-4D97-AF65-F5344CB8AC3E}">
        <p14:creationId xmlns:p14="http://schemas.microsoft.com/office/powerpoint/2010/main" val="3903107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A96C6EE-4B0A-2E42-A6A5-8B0C0404D872}"/>
                  </a:ext>
                </a:extLst>
              </p:cNvPr>
              <p:cNvSpPr txBox="1"/>
              <p:nvPr/>
            </p:nvSpPr>
            <p:spPr>
              <a:xfrm>
                <a:off x="2660071" y="1579418"/>
                <a:ext cx="8728366" cy="899029"/>
              </a:xfrm>
              <a:prstGeom prst="rect">
                <a:avLst/>
              </a:prstGeom>
              <a:noFill/>
            </p:spPr>
            <p:txBody>
              <a:bodyPr wrap="square" rtlCol="0">
                <a:spAutoFit/>
              </a:bodyPr>
              <a:lstStyle/>
              <a:p>
                <a:r>
                  <a:rPr lang="en-CN" dirty="0"/>
                  <a:t>F-D distribution</a:t>
                </a:r>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+1</m:t>
                          </m:r>
                        </m:den>
                      </m:f>
                    </m:oMath>
                  </m:oMathPara>
                </a14:m>
                <a:endParaRPr lang="en-CN" dirty="0"/>
              </a:p>
            </p:txBody>
          </p:sp>
        </mc:Choice>
        <mc:Fallback xmlns="">
          <p:sp>
            <p:nvSpPr>
              <p:cNvPr id="2" name="TextBox 1">
                <a:extLst>
                  <a:ext uri="{FF2B5EF4-FFF2-40B4-BE49-F238E27FC236}">
                    <a16:creationId xmlns:a16="http://schemas.microsoft.com/office/drawing/2014/main" id="{FA96C6EE-4B0A-2E42-A6A5-8B0C0404D872}"/>
                  </a:ext>
                </a:extLst>
              </p:cNvPr>
              <p:cNvSpPr txBox="1">
                <a:spLocks noRot="1" noChangeAspect="1" noMove="1" noResize="1" noEditPoints="1" noAdjustHandles="1" noChangeArrowheads="1" noChangeShapeType="1" noTextEdit="1"/>
              </p:cNvSpPr>
              <p:nvPr/>
            </p:nvSpPr>
            <p:spPr>
              <a:xfrm>
                <a:off x="2660071" y="1579418"/>
                <a:ext cx="8728366" cy="899029"/>
              </a:xfrm>
              <a:prstGeom prst="rect">
                <a:avLst/>
              </a:prstGeom>
              <a:blipFill>
                <a:blip r:embed="rId2"/>
                <a:stretch>
                  <a:fillRect l="-581" t="-2778" b="-2778"/>
                </a:stretch>
              </a:blipFill>
            </p:spPr>
            <p:txBody>
              <a:bodyPr/>
              <a:lstStyle/>
              <a:p>
                <a:r>
                  <a:rPr lang="en-CN">
                    <a:noFill/>
                  </a:rPr>
                  <a:t> </a:t>
                </a:r>
              </a:p>
            </p:txBody>
          </p:sp>
        </mc:Fallback>
      </mc:AlternateContent>
      <p:sp>
        <p:nvSpPr>
          <p:cNvPr id="3" name="Right Arrow 2">
            <a:extLst>
              <a:ext uri="{FF2B5EF4-FFF2-40B4-BE49-F238E27FC236}">
                <a16:creationId xmlns:a16="http://schemas.microsoft.com/office/drawing/2014/main" id="{7C9D62B4-8653-F442-BE1C-C24DB9A3CB63}"/>
              </a:ext>
            </a:extLst>
          </p:cNvPr>
          <p:cNvSpPr/>
          <p:nvPr/>
        </p:nvSpPr>
        <p:spPr>
          <a:xfrm rot="20175596">
            <a:off x="4760823" y="1687230"/>
            <a:ext cx="1525589" cy="2290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Right Arrow 3">
            <a:extLst>
              <a:ext uri="{FF2B5EF4-FFF2-40B4-BE49-F238E27FC236}">
                <a16:creationId xmlns:a16="http://schemas.microsoft.com/office/drawing/2014/main" id="{5A88D333-CC79-B74A-8526-07357B13B4B5}"/>
              </a:ext>
            </a:extLst>
          </p:cNvPr>
          <p:cNvSpPr/>
          <p:nvPr/>
        </p:nvSpPr>
        <p:spPr>
          <a:xfrm rot="1263306">
            <a:off x="4820249" y="2590218"/>
            <a:ext cx="1525589" cy="2290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8AE4D74-3001-2E43-B64F-1B97065E8228}"/>
                  </a:ext>
                </a:extLst>
              </p:cNvPr>
              <p:cNvSpPr txBox="1"/>
              <p:nvPr/>
            </p:nvSpPr>
            <p:spPr>
              <a:xfrm>
                <a:off x="5361707" y="2102853"/>
                <a:ext cx="9062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solidFill>
                            <a:srgbClr val="FF0000"/>
                          </a:solidFill>
                          <a:latin typeface="Cambria Math" panose="02040503050406030204" pitchFamily="18" charset="0"/>
                          <a:ea typeface="Cambria Math" panose="02040503050406030204" pitchFamily="18" charset="0"/>
                        </a:rPr>
                        <m:t>𝜏</m:t>
                      </m:r>
                      <m:r>
                        <a:rPr lang="en-CN"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0</m:t>
                      </m:r>
                    </m:oMath>
                  </m:oMathPara>
                </a14:m>
                <a:endParaRPr lang="en-CN" dirty="0">
                  <a:solidFill>
                    <a:srgbClr val="FF0000"/>
                  </a:solidFill>
                </a:endParaRPr>
              </a:p>
            </p:txBody>
          </p:sp>
        </mc:Choice>
        <mc:Fallback xmlns="">
          <p:sp>
            <p:nvSpPr>
              <p:cNvPr id="5" name="TextBox 4">
                <a:extLst>
                  <a:ext uri="{FF2B5EF4-FFF2-40B4-BE49-F238E27FC236}">
                    <a16:creationId xmlns:a16="http://schemas.microsoft.com/office/drawing/2014/main" id="{28AE4D74-3001-2E43-B64F-1B97065E8228}"/>
                  </a:ext>
                </a:extLst>
              </p:cNvPr>
              <p:cNvSpPr txBox="1">
                <a:spLocks noRot="1" noChangeAspect="1" noMove="1" noResize="1" noEditPoints="1" noAdjustHandles="1" noChangeArrowheads="1" noChangeShapeType="1" noTextEdit="1"/>
              </p:cNvSpPr>
              <p:nvPr/>
            </p:nvSpPr>
            <p:spPr>
              <a:xfrm>
                <a:off x="5361707" y="2102853"/>
                <a:ext cx="906268" cy="369332"/>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C7F99D-5A8E-3542-9E9C-9274B25D5A35}"/>
                  </a:ext>
                </a:extLst>
              </p:cNvPr>
              <p:cNvSpPr txBox="1"/>
              <p:nvPr/>
            </p:nvSpPr>
            <p:spPr>
              <a:xfrm>
                <a:off x="4876796" y="1254262"/>
                <a:ext cx="10629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𝜀</m:t>
                      </m:r>
                      <m:r>
                        <a:rPr lang="en-CN" i="1" smtClean="0">
                          <a:latin typeface="Cambria Math" panose="02040503050406030204" pitchFamily="18" charset="0"/>
                          <a:ea typeface="Cambria Math" panose="02040503050406030204" pitchFamily="18" charset="0"/>
                        </a:rPr>
                        <m:t>&lt;</m:t>
                      </m:r>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(0)</m:t>
                      </m:r>
                    </m:oMath>
                  </m:oMathPara>
                </a14:m>
                <a:endParaRPr lang="en-CN" dirty="0"/>
              </a:p>
            </p:txBody>
          </p:sp>
        </mc:Choice>
        <mc:Fallback xmlns="">
          <p:sp>
            <p:nvSpPr>
              <p:cNvPr id="6" name="TextBox 5">
                <a:extLst>
                  <a:ext uri="{FF2B5EF4-FFF2-40B4-BE49-F238E27FC236}">
                    <a16:creationId xmlns:a16="http://schemas.microsoft.com/office/drawing/2014/main" id="{8EC7F99D-5A8E-3542-9E9C-9274B25D5A35}"/>
                  </a:ext>
                </a:extLst>
              </p:cNvPr>
              <p:cNvSpPr txBox="1">
                <a:spLocks noRot="1" noChangeAspect="1" noMove="1" noResize="1" noEditPoints="1" noAdjustHandles="1" noChangeArrowheads="1" noChangeShapeType="1" noTextEdit="1"/>
              </p:cNvSpPr>
              <p:nvPr/>
            </p:nvSpPr>
            <p:spPr>
              <a:xfrm>
                <a:off x="4876796" y="1254262"/>
                <a:ext cx="1062910" cy="369332"/>
              </a:xfrm>
              <a:prstGeom prst="rect">
                <a:avLst/>
              </a:prstGeom>
              <a:blipFill>
                <a:blip r:embed="rId4"/>
                <a:stretch>
                  <a:fillRect r="-1190" b="-1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D0A8D06-5A2D-7945-A33D-5FF8A88A22BA}"/>
                  </a:ext>
                </a:extLst>
              </p:cNvPr>
              <p:cNvSpPr txBox="1"/>
              <p:nvPr/>
            </p:nvSpPr>
            <p:spPr>
              <a:xfrm>
                <a:off x="4946071" y="2885631"/>
                <a:ext cx="10629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𝜀</m:t>
                      </m:r>
                      <m:r>
                        <a:rPr lang="en-CN" i="1" smtClean="0">
                          <a:latin typeface="Cambria Math" panose="02040503050406030204" pitchFamily="18" charset="0"/>
                          <a:ea typeface="Cambria Math" panose="02040503050406030204" pitchFamily="18" charset="0"/>
                        </a:rPr>
                        <m:t>&gt;</m:t>
                      </m:r>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(0)</m:t>
                      </m:r>
                    </m:oMath>
                  </m:oMathPara>
                </a14:m>
                <a:endParaRPr lang="en-CN" dirty="0"/>
              </a:p>
            </p:txBody>
          </p:sp>
        </mc:Choice>
        <mc:Fallback xmlns="">
          <p:sp>
            <p:nvSpPr>
              <p:cNvPr id="7" name="TextBox 6">
                <a:extLst>
                  <a:ext uri="{FF2B5EF4-FFF2-40B4-BE49-F238E27FC236}">
                    <a16:creationId xmlns:a16="http://schemas.microsoft.com/office/drawing/2014/main" id="{3D0A8D06-5A2D-7945-A33D-5FF8A88A22BA}"/>
                  </a:ext>
                </a:extLst>
              </p:cNvPr>
              <p:cNvSpPr txBox="1">
                <a:spLocks noRot="1" noChangeAspect="1" noMove="1" noResize="1" noEditPoints="1" noAdjustHandles="1" noChangeArrowheads="1" noChangeShapeType="1" noTextEdit="1"/>
              </p:cNvSpPr>
              <p:nvPr/>
            </p:nvSpPr>
            <p:spPr>
              <a:xfrm>
                <a:off x="4946071" y="2885631"/>
                <a:ext cx="1062910" cy="369332"/>
              </a:xfrm>
              <a:prstGeom prst="rect">
                <a:avLst/>
              </a:prstGeom>
              <a:blipFill>
                <a:blip r:embed="rId5"/>
                <a:stretch>
                  <a:fillRect b="-1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3AED8C6-04C2-9A47-AA2B-5EE88A0D9352}"/>
                  </a:ext>
                </a:extLst>
              </p:cNvPr>
              <p:cNvSpPr txBox="1"/>
              <p:nvPr/>
            </p:nvSpPr>
            <p:spPr>
              <a:xfrm>
                <a:off x="6608616" y="1191494"/>
                <a:ext cx="13755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→1</m:t>
                      </m:r>
                    </m:oMath>
                  </m:oMathPara>
                </a14:m>
                <a:endParaRPr lang="en-CN" dirty="0"/>
              </a:p>
            </p:txBody>
          </p:sp>
        </mc:Choice>
        <mc:Fallback xmlns="">
          <p:sp>
            <p:nvSpPr>
              <p:cNvPr id="8" name="TextBox 7">
                <a:extLst>
                  <a:ext uri="{FF2B5EF4-FFF2-40B4-BE49-F238E27FC236}">
                    <a16:creationId xmlns:a16="http://schemas.microsoft.com/office/drawing/2014/main" id="{B3AED8C6-04C2-9A47-AA2B-5EE88A0D9352}"/>
                  </a:ext>
                </a:extLst>
              </p:cNvPr>
              <p:cNvSpPr txBox="1">
                <a:spLocks noRot="1" noChangeAspect="1" noMove="1" noResize="1" noEditPoints="1" noAdjustHandles="1" noChangeArrowheads="1" noChangeShapeType="1" noTextEdit="1"/>
              </p:cNvSpPr>
              <p:nvPr/>
            </p:nvSpPr>
            <p:spPr>
              <a:xfrm>
                <a:off x="6608616" y="1191494"/>
                <a:ext cx="1375530" cy="369332"/>
              </a:xfrm>
              <a:prstGeom prst="rect">
                <a:avLst/>
              </a:prstGeom>
              <a:blipFill>
                <a:blip r:embed="rId6"/>
                <a:stretch>
                  <a:fillRect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7B851A6-E1F9-F94C-AD00-03BECFE81186}"/>
                  </a:ext>
                </a:extLst>
              </p:cNvPr>
              <p:cNvSpPr txBox="1"/>
              <p:nvPr/>
            </p:nvSpPr>
            <p:spPr>
              <a:xfrm>
                <a:off x="6608616" y="2838281"/>
                <a:ext cx="13755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→0</m:t>
                      </m:r>
                    </m:oMath>
                  </m:oMathPara>
                </a14:m>
                <a:endParaRPr lang="en-CN" dirty="0"/>
              </a:p>
            </p:txBody>
          </p:sp>
        </mc:Choice>
        <mc:Fallback xmlns="">
          <p:sp>
            <p:nvSpPr>
              <p:cNvPr id="9" name="TextBox 8">
                <a:extLst>
                  <a:ext uri="{FF2B5EF4-FFF2-40B4-BE49-F238E27FC236}">
                    <a16:creationId xmlns:a16="http://schemas.microsoft.com/office/drawing/2014/main" id="{27B851A6-E1F9-F94C-AD00-03BECFE81186}"/>
                  </a:ext>
                </a:extLst>
              </p:cNvPr>
              <p:cNvSpPr txBox="1">
                <a:spLocks noRot="1" noChangeAspect="1" noMove="1" noResize="1" noEditPoints="1" noAdjustHandles="1" noChangeArrowheads="1" noChangeShapeType="1" noTextEdit="1"/>
              </p:cNvSpPr>
              <p:nvPr/>
            </p:nvSpPr>
            <p:spPr>
              <a:xfrm>
                <a:off x="6608616" y="2838281"/>
                <a:ext cx="1375530" cy="369332"/>
              </a:xfrm>
              <a:prstGeom prst="rect">
                <a:avLst/>
              </a:prstGeom>
              <a:blipFill>
                <a:blip r:embed="rId7"/>
                <a:stretch>
                  <a:fillRect b="-1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E4D237A-8838-9E44-A1D2-189B67C0D905}"/>
                  </a:ext>
                </a:extLst>
              </p:cNvPr>
              <p:cNvSpPr txBox="1"/>
              <p:nvPr/>
            </p:nvSpPr>
            <p:spPr>
              <a:xfrm>
                <a:off x="3435927" y="4031673"/>
                <a:ext cx="4548219"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CN" sz="2800" i="1" smtClean="0">
                          <a:latin typeface="Cambria Math" panose="02040503050406030204" pitchFamily="18" charset="0"/>
                          <a:ea typeface="Cambria Math" panose="02040503050406030204" pitchFamily="18" charset="0"/>
                        </a:rPr>
                        <m:t>𝜇</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0</m:t>
                          </m:r>
                        </m:e>
                      </m:d>
                      <m:r>
                        <a:rPr lang="en-US" sz="2800" b="0" i="1" smtClean="0">
                          <a:latin typeface="Cambria Math" panose="02040503050406030204" pitchFamily="18" charset="0"/>
                          <a:ea typeface="Cambria Math" panose="02040503050406030204" pitchFamily="18" charset="0"/>
                        </a:rPr>
                        <m:t>=</m:t>
                      </m:r>
                      <m:sSub>
                        <m:sSubPr>
                          <m:ctrlPr>
                            <a:rPr lang="en-US"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𝜀</m:t>
                          </m:r>
                        </m:e>
                        <m:sub>
                          <m:r>
                            <a:rPr lang="en-US" sz="2800" b="0" i="1" smtClean="0">
                              <a:latin typeface="Cambria Math" panose="02040503050406030204" pitchFamily="18" charset="0"/>
                              <a:ea typeface="Cambria Math" panose="02040503050406030204" pitchFamily="18" charset="0"/>
                            </a:rPr>
                            <m:t>𝐹</m:t>
                          </m:r>
                        </m:sub>
                      </m:sSub>
                    </m:oMath>
                  </m:oMathPara>
                </a14:m>
                <a:endParaRPr lang="en-CN" sz="2800" dirty="0"/>
              </a:p>
            </p:txBody>
          </p:sp>
        </mc:Choice>
        <mc:Fallback xmlns="">
          <p:sp>
            <p:nvSpPr>
              <p:cNvPr id="10" name="TextBox 9">
                <a:extLst>
                  <a:ext uri="{FF2B5EF4-FFF2-40B4-BE49-F238E27FC236}">
                    <a16:creationId xmlns:a16="http://schemas.microsoft.com/office/drawing/2014/main" id="{3E4D237A-8838-9E44-A1D2-189B67C0D905}"/>
                  </a:ext>
                </a:extLst>
              </p:cNvPr>
              <p:cNvSpPr txBox="1">
                <a:spLocks noRot="1" noChangeAspect="1" noMove="1" noResize="1" noEditPoints="1" noAdjustHandles="1" noChangeArrowheads="1" noChangeShapeType="1" noTextEdit="1"/>
              </p:cNvSpPr>
              <p:nvPr/>
            </p:nvSpPr>
            <p:spPr>
              <a:xfrm>
                <a:off x="3435927" y="4031673"/>
                <a:ext cx="4548219" cy="523220"/>
              </a:xfrm>
              <a:prstGeom prst="rect">
                <a:avLst/>
              </a:prstGeom>
              <a:blipFill>
                <a:blip r:embed="rId8"/>
                <a:stretch>
                  <a:fillRect b="-7143"/>
                </a:stretch>
              </a:blipFill>
            </p:spPr>
            <p:txBody>
              <a:bodyPr/>
              <a:lstStyle/>
              <a:p>
                <a:r>
                  <a:rPr lang="en-CN">
                    <a:noFill/>
                  </a:rPr>
                  <a:t> </a:t>
                </a:r>
              </a:p>
            </p:txBody>
          </p:sp>
        </mc:Fallback>
      </mc:AlternateContent>
      <p:pic>
        <p:nvPicPr>
          <p:cNvPr id="11" name="Picture 10">
            <a:extLst>
              <a:ext uri="{FF2B5EF4-FFF2-40B4-BE49-F238E27FC236}">
                <a16:creationId xmlns:a16="http://schemas.microsoft.com/office/drawing/2014/main" id="{C0ECC38F-51D7-A245-A4AE-A40943AE9550}"/>
              </a:ext>
            </a:extLst>
          </p:cNvPr>
          <p:cNvPicPr>
            <a:picLocks noChangeAspect="1"/>
          </p:cNvPicPr>
          <p:nvPr/>
        </p:nvPicPr>
        <p:blipFill>
          <a:blip r:embed="rId9"/>
          <a:stretch>
            <a:fillRect/>
          </a:stretch>
        </p:blipFill>
        <p:spPr>
          <a:xfrm>
            <a:off x="7952524" y="0"/>
            <a:ext cx="4112210" cy="4284449"/>
          </a:xfrm>
          <a:prstGeom prst="rect">
            <a:avLst/>
          </a:prstGeom>
        </p:spPr>
      </p:pic>
      <p:sp>
        <p:nvSpPr>
          <p:cNvPr id="12" name="TextBox 11">
            <a:extLst>
              <a:ext uri="{FF2B5EF4-FFF2-40B4-BE49-F238E27FC236}">
                <a16:creationId xmlns:a16="http://schemas.microsoft.com/office/drawing/2014/main" id="{DBA1953F-9946-1146-AB35-F1999C9950D6}"/>
              </a:ext>
            </a:extLst>
          </p:cNvPr>
          <p:cNvSpPr txBox="1"/>
          <p:nvPr/>
        </p:nvSpPr>
        <p:spPr>
          <a:xfrm>
            <a:off x="277091" y="180109"/>
            <a:ext cx="4502169" cy="369332"/>
          </a:xfrm>
          <a:prstGeom prst="rect">
            <a:avLst/>
          </a:prstGeom>
          <a:noFill/>
        </p:spPr>
        <p:txBody>
          <a:bodyPr wrap="square" rtlCol="0">
            <a:spAutoFit/>
          </a:bodyPr>
          <a:lstStyle/>
          <a:p>
            <a:r>
              <a:rPr lang="en-CN" dirty="0"/>
              <a:t>观测FD分布函数</a:t>
            </a:r>
          </a:p>
        </p:txBody>
      </p:sp>
      <p:pic>
        <p:nvPicPr>
          <p:cNvPr id="1026" name="Picture 2" descr="3: Fermi Sphere and Fermi Surface. | Download Scientific Diagram">
            <a:extLst>
              <a:ext uri="{FF2B5EF4-FFF2-40B4-BE49-F238E27FC236}">
                <a16:creationId xmlns:a16="http://schemas.microsoft.com/office/drawing/2014/main" id="{1BD56E43-100C-085D-6A20-77D2522E0D3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1196" y="3476745"/>
            <a:ext cx="3728393" cy="3201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607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3CAFCFC5-B50C-B44A-ADD0-21FC9BD334AA}"/>
              </a:ext>
            </a:extLst>
          </p:cNvPr>
          <p:cNvSpPr txBox="1"/>
          <p:nvPr/>
        </p:nvSpPr>
        <p:spPr>
          <a:xfrm>
            <a:off x="1842654" y="152399"/>
            <a:ext cx="8506691" cy="584775"/>
          </a:xfrm>
          <a:prstGeom prst="rect">
            <a:avLst/>
          </a:prstGeom>
          <a:noFill/>
        </p:spPr>
        <p:txBody>
          <a:bodyPr wrap="square" rtlCol="0">
            <a:spAutoFit/>
          </a:bodyPr>
          <a:lstStyle/>
          <a:p>
            <a:pPr algn="ctr"/>
            <a:r>
              <a:rPr lang="en-CN" sz="3200" dirty="0"/>
              <a:t>The Fermi Gas of Nucleons in a Nucleus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C0F9F2C-6F63-C042-8A44-B9F483553443}"/>
                  </a:ext>
                </a:extLst>
              </p:cNvPr>
              <p:cNvSpPr txBox="1"/>
              <p:nvPr/>
            </p:nvSpPr>
            <p:spPr>
              <a:xfrm>
                <a:off x="498764" y="2016788"/>
                <a:ext cx="11540836" cy="2479012"/>
              </a:xfrm>
              <a:prstGeom prst="rect">
                <a:avLst/>
              </a:prstGeom>
              <a:noFill/>
            </p:spPr>
            <p:txBody>
              <a:bodyPr wrap="square" rtlCol="0">
                <a:spAutoFit/>
              </a:bodyPr>
              <a:lstStyle/>
              <a:p>
                <a:pPr marL="285750" indent="-285750">
                  <a:buFont typeface="Arial" panose="020B0604020202020204" pitchFamily="34" charset="0"/>
                  <a:buChar char="•"/>
                </a:pPr>
                <a:r>
                  <a:rPr lang="en-CN" sz="3200" dirty="0"/>
                  <a:t>拥有A个核子的原子核半径</a:t>
                </a:r>
                <a:r>
                  <a:rPr lang="zh-CN" altLang="en-US" sz="3200" dirty="0"/>
                  <a:t>             </a:t>
                </a:r>
                <a14:m>
                  <m:oMath xmlns:m="http://schemas.openxmlformats.org/officeDocument/2006/math">
                    <m:r>
                      <a:rPr lang="en-US" altLang="zh-CN" sz="3200" b="0" i="1" smtClean="0">
                        <a:latin typeface="Cambria Math" panose="02040503050406030204" pitchFamily="18" charset="0"/>
                      </a:rPr>
                      <m:t>𝑅</m:t>
                    </m:r>
                    <m:r>
                      <a:rPr lang="en-US" altLang="zh-CN" sz="3200" b="0" i="1" smtClean="0">
                        <a:latin typeface="Cambria Math" panose="02040503050406030204" pitchFamily="18" charset="0"/>
                      </a:rPr>
                      <m:t>=</m:t>
                    </m:r>
                    <m:d>
                      <m:dPr>
                        <m:ctrlPr>
                          <a:rPr lang="en-US" altLang="zh-CN" sz="3200" b="0" i="1" smtClean="0">
                            <a:latin typeface="Cambria Math" panose="02040503050406030204" pitchFamily="18" charset="0"/>
                          </a:rPr>
                        </m:ctrlPr>
                      </m:dPr>
                      <m:e>
                        <m:r>
                          <a:rPr lang="en-US" altLang="zh-CN" sz="3200" b="0" i="1" smtClean="0">
                            <a:latin typeface="Cambria Math" panose="02040503050406030204" pitchFamily="18" charset="0"/>
                          </a:rPr>
                          <m:t>1.3</m:t>
                        </m:r>
                        <m:r>
                          <a:rPr lang="en-US" altLang="zh-CN" sz="3200" b="0" i="1" smtClean="0">
                            <a:latin typeface="Cambria Math" panose="02040503050406030204" pitchFamily="18" charset="0"/>
                            <a:ea typeface="Cambria Math" panose="02040503050406030204" pitchFamily="18" charset="0"/>
                          </a:rPr>
                          <m:t>×</m:t>
                        </m:r>
                        <m:sSup>
                          <m:sSupPr>
                            <m:ctrlPr>
                              <a:rPr lang="en-US" altLang="zh-CN" sz="3200" b="0" i="1" smtClean="0">
                                <a:latin typeface="Cambria Math" panose="02040503050406030204" pitchFamily="18" charset="0"/>
                                <a:ea typeface="Cambria Math" panose="02040503050406030204" pitchFamily="18" charset="0"/>
                              </a:rPr>
                            </m:ctrlPr>
                          </m:sSupPr>
                          <m:e>
                            <m:r>
                              <a:rPr lang="en-US" altLang="zh-CN" sz="3200" b="0" i="1" smtClean="0">
                                <a:latin typeface="Cambria Math" panose="02040503050406030204" pitchFamily="18" charset="0"/>
                                <a:ea typeface="Cambria Math" panose="02040503050406030204" pitchFamily="18" charset="0"/>
                              </a:rPr>
                              <m:t>10</m:t>
                            </m:r>
                          </m:e>
                          <m:sup>
                            <m:r>
                              <a:rPr lang="en-US" altLang="zh-CN" sz="3200" b="0" i="1" smtClean="0">
                                <a:latin typeface="Cambria Math" panose="02040503050406030204" pitchFamily="18" charset="0"/>
                                <a:ea typeface="Cambria Math" panose="02040503050406030204" pitchFamily="18" charset="0"/>
                              </a:rPr>
                              <m:t>−15</m:t>
                            </m:r>
                          </m:sup>
                        </m:sSup>
                        <m:r>
                          <a:rPr lang="en-US" altLang="zh-CN" sz="3200" b="0" i="1" smtClean="0">
                            <a:latin typeface="Cambria Math" panose="02040503050406030204" pitchFamily="18" charset="0"/>
                            <a:ea typeface="Cambria Math" panose="02040503050406030204" pitchFamily="18" charset="0"/>
                          </a:rPr>
                          <m:t>𝑚</m:t>
                        </m:r>
                      </m:e>
                    </m:d>
                    <m:r>
                      <a:rPr lang="en-US" altLang="zh-CN" sz="3200" i="1">
                        <a:latin typeface="Cambria Math" panose="02040503050406030204" pitchFamily="18" charset="0"/>
                        <a:ea typeface="Cambria Math" panose="02040503050406030204" pitchFamily="18" charset="0"/>
                      </a:rPr>
                      <m:t>×</m:t>
                    </m:r>
                    <m:sSup>
                      <m:sSupPr>
                        <m:ctrlPr>
                          <a:rPr lang="en-US" altLang="zh-CN" sz="3200" i="1" smtClean="0">
                            <a:latin typeface="Cambria Math" panose="02040503050406030204" pitchFamily="18" charset="0"/>
                            <a:ea typeface="Cambria Math" panose="02040503050406030204" pitchFamily="18" charset="0"/>
                          </a:rPr>
                        </m:ctrlPr>
                      </m:sSupPr>
                      <m:e>
                        <m:r>
                          <a:rPr lang="en-US" altLang="zh-CN" sz="3200" b="0" i="1" smtClean="0">
                            <a:latin typeface="Cambria Math" panose="02040503050406030204" pitchFamily="18" charset="0"/>
                            <a:ea typeface="Cambria Math" panose="02040503050406030204" pitchFamily="18" charset="0"/>
                          </a:rPr>
                          <m:t>𝐴</m:t>
                        </m:r>
                      </m:e>
                      <m:sup>
                        <m:r>
                          <a:rPr lang="en-US" altLang="zh-CN" sz="3200" b="0" i="1" smtClean="0">
                            <a:latin typeface="Cambria Math" panose="02040503050406030204" pitchFamily="18" charset="0"/>
                            <a:ea typeface="Cambria Math" panose="02040503050406030204" pitchFamily="18" charset="0"/>
                          </a:rPr>
                          <m:t>1/3</m:t>
                        </m:r>
                      </m:sup>
                    </m:sSup>
                  </m:oMath>
                </a14:m>
                <a:endParaRPr lang="en-CN" sz="3200" dirty="0"/>
              </a:p>
              <a:p>
                <a:pPr marL="285750" indent="-285750">
                  <a:buFont typeface="Arial" panose="020B0604020202020204" pitchFamily="34" charset="0"/>
                  <a:buChar char="•"/>
                </a:pPr>
                <a:r>
                  <a:rPr lang="en-CN" sz="3200" dirty="0"/>
                  <a:t>那么核子的密度</a:t>
                </a:r>
                <a:r>
                  <a:rPr lang="zh-CN" altLang="en-US" sz="3200" dirty="0"/>
                  <a:t>                             </a:t>
                </a:r>
                <a14:m>
                  <m:oMath xmlns:m="http://schemas.openxmlformats.org/officeDocument/2006/math">
                    <m:r>
                      <a:rPr lang="en-US" altLang="zh-CN" sz="3200" b="0" i="1" smtClean="0">
                        <a:latin typeface="Cambria Math" panose="02040503050406030204" pitchFamily="18" charset="0"/>
                      </a:rPr>
                      <m:t>𝑛</m:t>
                    </m:r>
                    <m:r>
                      <a:rPr lang="en-US" altLang="zh-CN" sz="3200" b="0" i="1" smtClean="0">
                        <a:latin typeface="Cambria Math" panose="02040503050406030204" pitchFamily="18" charset="0"/>
                      </a:rPr>
                      <m:t>=</m:t>
                    </m:r>
                    <m:f>
                      <m:fPr>
                        <m:ctrlPr>
                          <a:rPr lang="en-US" altLang="zh-CN" sz="3200" b="0" i="1" smtClean="0">
                            <a:latin typeface="Cambria Math" panose="02040503050406030204" pitchFamily="18" charset="0"/>
                          </a:rPr>
                        </m:ctrlPr>
                      </m:fPr>
                      <m:num>
                        <m:r>
                          <a:rPr lang="en-US" altLang="zh-CN" sz="3200" b="0" i="1" smtClean="0">
                            <a:latin typeface="Cambria Math" panose="02040503050406030204" pitchFamily="18" charset="0"/>
                          </a:rPr>
                          <m:t>𝐴</m:t>
                        </m:r>
                      </m:num>
                      <m:den>
                        <m:f>
                          <m:fPr>
                            <m:ctrlPr>
                              <a:rPr lang="en-US" altLang="zh-CN" sz="3200" b="0" i="1" smtClean="0">
                                <a:latin typeface="Cambria Math" panose="02040503050406030204" pitchFamily="18" charset="0"/>
                              </a:rPr>
                            </m:ctrlPr>
                          </m:fPr>
                          <m:num>
                            <m:r>
                              <a:rPr lang="en-US" altLang="zh-CN" sz="3200" b="0" i="1" smtClean="0">
                                <a:latin typeface="Cambria Math" panose="02040503050406030204" pitchFamily="18" charset="0"/>
                              </a:rPr>
                              <m:t>4</m:t>
                            </m:r>
                          </m:num>
                          <m:den>
                            <m:r>
                              <a:rPr lang="en-US" altLang="zh-CN" sz="3200" b="0" i="1" smtClean="0">
                                <a:latin typeface="Cambria Math" panose="02040503050406030204" pitchFamily="18" charset="0"/>
                              </a:rPr>
                              <m:t>3</m:t>
                            </m:r>
                          </m:den>
                        </m:f>
                        <m:r>
                          <a:rPr lang="en-US" altLang="zh-CN" sz="3200" b="0" i="1" smtClean="0">
                            <a:latin typeface="Cambria Math" panose="02040503050406030204" pitchFamily="18" charset="0"/>
                            <a:ea typeface="Cambria Math" panose="02040503050406030204" pitchFamily="18" charset="0"/>
                          </a:rPr>
                          <m:t>𝜋</m:t>
                        </m:r>
                        <m:sSup>
                          <m:sSupPr>
                            <m:ctrlPr>
                              <a:rPr lang="en-US" altLang="zh-CN" sz="3200" b="0" i="1" smtClean="0">
                                <a:latin typeface="Cambria Math" panose="02040503050406030204" pitchFamily="18" charset="0"/>
                                <a:ea typeface="Cambria Math" panose="02040503050406030204" pitchFamily="18" charset="0"/>
                              </a:rPr>
                            </m:ctrlPr>
                          </m:sSupPr>
                          <m:e>
                            <m:d>
                              <m:dPr>
                                <m:ctrlPr>
                                  <a:rPr lang="en-US" altLang="zh-CN" sz="3200" b="0" i="1" smtClean="0">
                                    <a:latin typeface="Cambria Math" panose="02040503050406030204" pitchFamily="18" charset="0"/>
                                    <a:ea typeface="Cambria Math" panose="02040503050406030204" pitchFamily="18" charset="0"/>
                                  </a:rPr>
                                </m:ctrlPr>
                              </m:dPr>
                              <m:e>
                                <m:r>
                                  <a:rPr lang="en-US" altLang="zh-CN" sz="3200" i="1">
                                    <a:latin typeface="Cambria Math" panose="02040503050406030204" pitchFamily="18" charset="0"/>
                                  </a:rPr>
                                  <m:t>1.3</m:t>
                                </m:r>
                                <m:r>
                                  <a:rPr lang="en-US" altLang="zh-CN" sz="3200" i="1">
                                    <a:latin typeface="Cambria Math" panose="02040503050406030204" pitchFamily="18" charset="0"/>
                                    <a:ea typeface="Cambria Math" panose="02040503050406030204" pitchFamily="18" charset="0"/>
                                  </a:rPr>
                                  <m:t>×</m:t>
                                </m:r>
                                <m:sSup>
                                  <m:sSupPr>
                                    <m:ctrlPr>
                                      <a:rPr lang="en-US" altLang="zh-CN" sz="3200" i="1">
                                        <a:latin typeface="Cambria Math" panose="02040503050406030204" pitchFamily="18" charset="0"/>
                                        <a:ea typeface="Cambria Math" panose="02040503050406030204" pitchFamily="18" charset="0"/>
                                      </a:rPr>
                                    </m:ctrlPr>
                                  </m:sSupPr>
                                  <m:e>
                                    <m:r>
                                      <a:rPr lang="en-US" altLang="zh-CN" sz="3200" i="1">
                                        <a:latin typeface="Cambria Math" panose="02040503050406030204" pitchFamily="18" charset="0"/>
                                        <a:ea typeface="Cambria Math" panose="02040503050406030204" pitchFamily="18" charset="0"/>
                                      </a:rPr>
                                      <m:t>10</m:t>
                                    </m:r>
                                  </m:e>
                                  <m:sup>
                                    <m:r>
                                      <a:rPr lang="en-US" altLang="zh-CN" sz="3200" i="1">
                                        <a:latin typeface="Cambria Math" panose="02040503050406030204" pitchFamily="18" charset="0"/>
                                        <a:ea typeface="Cambria Math" panose="02040503050406030204" pitchFamily="18" charset="0"/>
                                      </a:rPr>
                                      <m:t>−15</m:t>
                                    </m:r>
                                  </m:sup>
                                </m:sSup>
                                <m:r>
                                  <a:rPr lang="en-US" altLang="zh-CN" sz="3200" i="1">
                                    <a:latin typeface="Cambria Math" panose="02040503050406030204" pitchFamily="18" charset="0"/>
                                    <a:ea typeface="Cambria Math" panose="02040503050406030204" pitchFamily="18" charset="0"/>
                                  </a:rPr>
                                  <m:t>𝑚</m:t>
                                </m:r>
                              </m:e>
                            </m:d>
                          </m:e>
                          <m:sup>
                            <m:r>
                              <a:rPr lang="en-US" altLang="zh-CN" sz="3200" b="0" i="1" smtClean="0">
                                <a:latin typeface="Cambria Math" panose="02040503050406030204" pitchFamily="18" charset="0"/>
                                <a:ea typeface="Cambria Math" panose="02040503050406030204" pitchFamily="18" charset="0"/>
                              </a:rPr>
                              <m:t>3</m:t>
                            </m:r>
                          </m:sup>
                        </m:sSup>
                        <m:r>
                          <a:rPr lang="en-US" altLang="zh-CN" sz="3200" b="0" i="1" smtClean="0">
                            <a:latin typeface="Cambria Math" panose="02040503050406030204" pitchFamily="18" charset="0"/>
                            <a:ea typeface="Cambria Math" panose="02040503050406030204" pitchFamily="18" charset="0"/>
                          </a:rPr>
                          <m:t>𝐴</m:t>
                        </m:r>
                      </m:den>
                    </m:f>
                    <m:r>
                      <a:rPr lang="en-US" altLang="zh-CN" sz="3200" b="0" i="1" smtClean="0">
                        <a:latin typeface="Cambria Math" panose="02040503050406030204" pitchFamily="18" charset="0"/>
                        <a:ea typeface="Cambria Math" panose="02040503050406030204" pitchFamily="18" charset="0"/>
                      </a:rPr>
                      <m:t>≈</m:t>
                    </m:r>
                    <m:sSup>
                      <m:sSupPr>
                        <m:ctrlPr>
                          <a:rPr lang="en-US" altLang="zh-CN" sz="3200" b="0" i="1" smtClean="0">
                            <a:latin typeface="Cambria Math" panose="02040503050406030204" pitchFamily="18" charset="0"/>
                            <a:ea typeface="Cambria Math" panose="02040503050406030204" pitchFamily="18" charset="0"/>
                          </a:rPr>
                        </m:ctrlPr>
                      </m:sSupPr>
                      <m:e>
                        <m:r>
                          <a:rPr lang="en-US" altLang="zh-CN" sz="3200" b="0" i="1" smtClean="0">
                            <a:latin typeface="Cambria Math" panose="02040503050406030204" pitchFamily="18" charset="0"/>
                            <a:ea typeface="Cambria Math" panose="02040503050406030204" pitchFamily="18" charset="0"/>
                          </a:rPr>
                          <m:t>10</m:t>
                        </m:r>
                      </m:e>
                      <m:sup>
                        <m:r>
                          <a:rPr lang="en-US" altLang="zh-CN" sz="3200" b="0" i="1" smtClean="0">
                            <a:latin typeface="Cambria Math" panose="02040503050406030204" pitchFamily="18" charset="0"/>
                            <a:ea typeface="Cambria Math" panose="02040503050406030204" pitchFamily="18" charset="0"/>
                          </a:rPr>
                          <m:t>44</m:t>
                        </m:r>
                      </m:sup>
                    </m:sSup>
                    <m:sSup>
                      <m:sSupPr>
                        <m:ctrlPr>
                          <a:rPr lang="en-US" altLang="zh-CN" sz="3200" b="0" i="1" smtClean="0">
                            <a:latin typeface="Cambria Math" panose="02040503050406030204" pitchFamily="18" charset="0"/>
                            <a:ea typeface="Cambria Math" panose="02040503050406030204" pitchFamily="18" charset="0"/>
                          </a:rPr>
                        </m:ctrlPr>
                      </m:sSupPr>
                      <m:e>
                        <m:r>
                          <a:rPr lang="en-US" altLang="zh-CN" sz="3200" b="0" i="1" smtClean="0">
                            <a:latin typeface="Cambria Math" panose="02040503050406030204" pitchFamily="18" charset="0"/>
                            <a:ea typeface="Cambria Math" panose="02040503050406030204" pitchFamily="18" charset="0"/>
                          </a:rPr>
                          <m:t>𝑚</m:t>
                        </m:r>
                      </m:e>
                      <m:sup>
                        <m:r>
                          <a:rPr lang="en-US" altLang="zh-CN" sz="3200" b="0" i="1" smtClean="0">
                            <a:latin typeface="Cambria Math" panose="02040503050406030204" pitchFamily="18" charset="0"/>
                            <a:ea typeface="Cambria Math" panose="02040503050406030204" pitchFamily="18" charset="0"/>
                          </a:rPr>
                          <m:t>−3</m:t>
                        </m:r>
                      </m:sup>
                    </m:sSup>
                  </m:oMath>
                </a14:m>
                <a:endParaRPr lang="en-CN" sz="3200" dirty="0"/>
              </a:p>
              <a:p>
                <a:pPr marL="285750" indent="-285750">
                  <a:buFont typeface="Arial" panose="020B0604020202020204" pitchFamily="34" charset="0"/>
                  <a:buChar char="•"/>
                </a:pPr>
                <a:r>
                  <a:rPr lang="en-CN" sz="3200" dirty="0"/>
                  <a:t>假设质子和中子数目近似相等</a:t>
                </a:r>
                <a:r>
                  <a:rPr lang="zh-CN" altLang="en-US" sz="3200" dirty="0"/>
                  <a:t>，则其密度各占上核子密度一半</a:t>
                </a:r>
                <a:endParaRPr lang="en-US" altLang="zh-CN" sz="3200" dirty="0"/>
              </a:p>
              <a:p>
                <a:pPr marL="285750" indent="-285750">
                  <a:buFont typeface="Arial" panose="020B0604020202020204" pitchFamily="34" charset="0"/>
                  <a:buChar char="•"/>
                </a:pPr>
                <a:r>
                  <a:rPr lang="zh-CN" altLang="en-US" sz="3200" dirty="0"/>
                  <a:t>根据公式估计费米能量                     </a:t>
                </a:r>
                <a14:m>
                  <m:oMath xmlns:m="http://schemas.openxmlformats.org/officeDocument/2006/math">
                    <m:sSub>
                      <m:sSubPr>
                        <m:ctrlPr>
                          <a:rPr lang="en-US" altLang="zh-CN" sz="3200" i="1" smtClean="0">
                            <a:latin typeface="Cambria Math" panose="02040503050406030204" pitchFamily="18" charset="0"/>
                          </a:rPr>
                        </m:ctrlPr>
                      </m:sSubPr>
                      <m:e>
                        <m:r>
                          <a:rPr lang="en-US" altLang="zh-CN" sz="3200" i="1" smtClean="0">
                            <a:latin typeface="Cambria Math" panose="02040503050406030204" pitchFamily="18" charset="0"/>
                            <a:ea typeface="Cambria Math" panose="02040503050406030204" pitchFamily="18" charset="0"/>
                          </a:rPr>
                          <m:t>𝜀</m:t>
                        </m:r>
                      </m:e>
                      <m:sub>
                        <m:r>
                          <a:rPr lang="en-US" altLang="zh-CN" sz="3200" b="0" i="1" smtClean="0">
                            <a:latin typeface="Cambria Math" panose="02040503050406030204" pitchFamily="18" charset="0"/>
                          </a:rPr>
                          <m:t>𝐹</m:t>
                        </m:r>
                      </m:sub>
                    </m:sSub>
                    <m:r>
                      <a:rPr lang="en-US" altLang="zh-CN" sz="3200" b="0" i="1" smtClean="0">
                        <a:latin typeface="Cambria Math" panose="02040503050406030204" pitchFamily="18" charset="0"/>
                      </a:rPr>
                      <m:t>=4.3 </m:t>
                    </m:r>
                    <m:sSup>
                      <m:sSupPr>
                        <m:ctrlPr>
                          <a:rPr lang="en-US" altLang="zh-CN" sz="3200" b="0" i="1" smtClean="0">
                            <a:latin typeface="Cambria Math" panose="02040503050406030204" pitchFamily="18" charset="0"/>
                          </a:rPr>
                        </m:ctrlPr>
                      </m:sSupPr>
                      <m:e>
                        <m:r>
                          <a:rPr lang="en-US" altLang="zh-CN" sz="3200" b="0" i="1" smtClean="0">
                            <a:latin typeface="Cambria Math" panose="02040503050406030204" pitchFamily="18" charset="0"/>
                          </a:rPr>
                          <m:t>10</m:t>
                        </m:r>
                      </m:e>
                      <m:sup>
                        <m:r>
                          <a:rPr lang="en-US" altLang="zh-CN" sz="3200" b="0" i="1" smtClean="0">
                            <a:latin typeface="Cambria Math" panose="02040503050406030204" pitchFamily="18" charset="0"/>
                          </a:rPr>
                          <m:t>−12</m:t>
                        </m:r>
                      </m:sup>
                    </m:sSup>
                    <m:r>
                      <a:rPr lang="en-US" altLang="zh-CN" sz="3200" b="0" i="1" smtClean="0">
                        <a:latin typeface="Cambria Math" panose="02040503050406030204" pitchFamily="18" charset="0"/>
                      </a:rPr>
                      <m:t>𝐽</m:t>
                    </m:r>
                    <m:r>
                      <a:rPr lang="en-US" altLang="zh-CN" sz="3200" b="0" i="1" smtClean="0">
                        <a:latin typeface="Cambria Math" panose="02040503050406030204" pitchFamily="18" charset="0"/>
                      </a:rPr>
                      <m:t>=27</m:t>
                    </m:r>
                    <m:r>
                      <a:rPr lang="en-US" altLang="zh-CN" sz="3200" b="0" i="1" smtClean="0">
                        <a:latin typeface="Cambria Math" panose="02040503050406030204" pitchFamily="18" charset="0"/>
                      </a:rPr>
                      <m:t>𝑀𝑒𝑉</m:t>
                    </m:r>
                  </m:oMath>
                </a14:m>
                <a:endParaRPr lang="en-CN" sz="3200" dirty="0"/>
              </a:p>
            </p:txBody>
          </p:sp>
        </mc:Choice>
        <mc:Fallback xmlns="">
          <p:sp>
            <p:nvSpPr>
              <p:cNvPr id="12" name="TextBox 11">
                <a:extLst>
                  <a:ext uri="{FF2B5EF4-FFF2-40B4-BE49-F238E27FC236}">
                    <a16:creationId xmlns:a16="http://schemas.microsoft.com/office/drawing/2014/main" id="{6C0F9F2C-6F63-C042-8A44-B9F483553443}"/>
                  </a:ext>
                </a:extLst>
              </p:cNvPr>
              <p:cNvSpPr txBox="1">
                <a:spLocks noRot="1" noChangeAspect="1" noMove="1" noResize="1" noEditPoints="1" noAdjustHandles="1" noChangeArrowheads="1" noChangeShapeType="1" noTextEdit="1"/>
              </p:cNvSpPr>
              <p:nvPr/>
            </p:nvSpPr>
            <p:spPr>
              <a:xfrm>
                <a:off x="498764" y="2016788"/>
                <a:ext cx="11540836" cy="2479012"/>
              </a:xfrm>
              <a:prstGeom prst="rect">
                <a:avLst/>
              </a:prstGeom>
              <a:blipFill>
                <a:blip r:embed="rId2"/>
                <a:stretch>
                  <a:fillRect l="-1209" t="-2538" r="-440" b="-7107"/>
                </a:stretch>
              </a:blipFill>
            </p:spPr>
            <p:txBody>
              <a:bodyPr/>
              <a:lstStyle/>
              <a:p>
                <a:r>
                  <a:rPr lang="en-CN">
                    <a:noFill/>
                  </a:rPr>
                  <a:t> </a:t>
                </a:r>
              </a:p>
            </p:txBody>
          </p:sp>
        </mc:Fallback>
      </mc:AlternateContent>
    </p:spTree>
    <p:extLst>
      <p:ext uri="{BB962C8B-B14F-4D97-AF65-F5344CB8AC3E}">
        <p14:creationId xmlns:p14="http://schemas.microsoft.com/office/powerpoint/2010/main" val="306211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2B2156-6015-974D-9908-1B19D9232654}"/>
              </a:ext>
            </a:extLst>
          </p:cNvPr>
          <p:cNvSpPr txBox="1"/>
          <p:nvPr/>
        </p:nvSpPr>
        <p:spPr>
          <a:xfrm>
            <a:off x="540327" y="263236"/>
            <a:ext cx="7509164" cy="369332"/>
          </a:xfrm>
          <a:prstGeom prst="rect">
            <a:avLst/>
          </a:prstGeom>
          <a:noFill/>
        </p:spPr>
        <p:txBody>
          <a:bodyPr wrap="square" rtlCol="0">
            <a:spAutoFit/>
          </a:bodyPr>
          <a:lstStyle/>
          <a:p>
            <a:r>
              <a:rPr lang="en-CN" dirty="0">
                <a:solidFill>
                  <a:srgbClr val="FF0000"/>
                </a:solidFill>
              </a:rPr>
              <a:t>零温下电子气体的总能量</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FBDD2B-4F97-1149-9FFA-671BB78F3629}"/>
                  </a:ext>
                </a:extLst>
              </p:cNvPr>
              <p:cNvSpPr txBox="1"/>
              <p:nvPr/>
            </p:nvSpPr>
            <p:spPr>
              <a:xfrm>
                <a:off x="1122218" y="886691"/>
                <a:ext cx="9587346" cy="5000536"/>
              </a:xfrm>
              <a:prstGeom prst="rect">
                <a:avLst/>
              </a:prstGeom>
              <a:noFill/>
            </p:spPr>
            <p:txBody>
              <a:bodyPr wrap="square" rtlCol="0">
                <a:spAutoFit/>
              </a:bodyPr>
              <a:lstStyle/>
              <a:p>
                <a:pPr marL="285750" indent="-285750">
                  <a:buFont typeface="Arial" panose="020B0604020202020204" pitchFamily="34" charset="0"/>
                  <a:buChar char="•"/>
                </a:pPr>
                <a:r>
                  <a:rPr lang="en-CN" dirty="0"/>
                  <a:t>我们需要把布局在所有能级上的粒子能量求和</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=2×</m:t>
                      </m:r>
                      <m:nary>
                        <m:naryPr>
                          <m:chr m:val="∑"/>
                          <m:supHide m:val="on"/>
                          <m:ctrlPr>
                            <a:rPr lang="en-US" b="0" i="1" smtClean="0">
                              <a:latin typeface="Cambria Math" panose="02040503050406030204" pitchFamily="18" charset="0"/>
                              <a:ea typeface="Cambria Math" panose="02040503050406030204" pitchFamily="18" charset="0"/>
                            </a:rPr>
                          </m:ctrlPr>
                        </m:naryPr>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𝑥</m:t>
                              </m:r>
                            </m:sub>
                          </m:sSub>
                        </m:sub>
                        <m:sup/>
                        <m:e>
                          <m:nary>
                            <m:naryPr>
                              <m:chr m:val="∑"/>
                              <m:supHide m:val="on"/>
                              <m:ctrlPr>
                                <a:rPr lang="en-US" b="0" i="1" smtClean="0">
                                  <a:latin typeface="Cambria Math" panose="02040503050406030204" pitchFamily="18" charset="0"/>
                                  <a:ea typeface="Cambria Math" panose="02040503050406030204" pitchFamily="18" charset="0"/>
                                </a:rPr>
                              </m:ctrlPr>
                            </m:naryPr>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𝑦</m:t>
                                  </m:r>
                                </m:sub>
                              </m:sSub>
                            </m:sub>
                            <m:sup/>
                            <m:e>
                              <m:nary>
                                <m:naryPr>
                                  <m:chr m:val="∑"/>
                                  <m:supHide m:val="on"/>
                                  <m:ctrlPr>
                                    <a:rPr lang="en-US" b="0" i="1" smtClean="0">
                                      <a:latin typeface="Cambria Math" panose="02040503050406030204" pitchFamily="18" charset="0"/>
                                      <a:ea typeface="Cambria Math" panose="02040503050406030204" pitchFamily="18" charset="0"/>
                                    </a:rPr>
                                  </m:ctrlPr>
                                </m:naryPr>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𝑧</m:t>
                                      </m:r>
                                    </m:sub>
                                  </m:sSub>
                                </m:sub>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𝑛</m:t>
                                      </m:r>
                                    </m:sub>
                                  </m:sSub>
                                </m:e>
                              </m:nary>
                            </m:e>
                          </m:nary>
                        </m:e>
                      </m:nary>
                    </m:oMath>
                  </m:oMathPara>
                </a14:m>
                <a:endParaRPr lang="en-CN" dirty="0"/>
              </a:p>
              <a:p>
                <a:pPr algn="ctr"/>
                <a:endParaRPr lang="en-CN" dirty="0"/>
              </a:p>
              <a:p>
                <a:pPr algn="ctr"/>
                <a:endParaRPr lang="en-CN" dirty="0"/>
              </a:p>
              <a:p>
                <a:pPr algn="ctr"/>
                <a:endParaRPr lang="en-CN"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)=2×</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8</m:t>
                          </m:r>
                        </m:den>
                      </m:f>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𝑚𝑎𝑥</m:t>
                              </m:r>
                            </m:sub>
                          </m:sSub>
                        </m:sup>
                        <m:e>
                          <m:r>
                            <a:rPr lang="en-US" b="0" i="1" smtClean="0">
                              <a:latin typeface="Cambria Math" panose="02040503050406030204" pitchFamily="18" charset="0"/>
                              <a:ea typeface="Cambria Math" panose="02040503050406030204" pitchFamily="18" charset="0"/>
                            </a:rPr>
                            <m:t>𝑑𝑛</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𝑛</m:t>
                              </m:r>
                            </m:sub>
                          </m:sSub>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3</m:t>
                              </m:r>
                            </m:num>
                            <m:den>
                              <m:r>
                                <a:rPr lang="en-US" altLang="zh-CN" b="0" i="1" smtClean="0">
                                  <a:latin typeface="Cambria Math" panose="02040503050406030204" pitchFamily="18" charset="0"/>
                                  <a:ea typeface="Cambria Math" panose="02040503050406030204" pitchFamily="18" charset="0"/>
                                </a:rPr>
                                <m:t>5</m:t>
                              </m:r>
                            </m:den>
                          </m:f>
                          <m:r>
                            <a:rPr lang="en-US" altLang="zh-CN" b="0" i="1" smtClean="0">
                              <a:latin typeface="Cambria Math" panose="02040503050406030204" pitchFamily="18" charset="0"/>
                              <a:ea typeface="Cambria Math" panose="02040503050406030204" pitchFamily="18" charset="0"/>
                            </a:rPr>
                            <m:t>𝑁</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Cambria Math" panose="02040503050406030204" pitchFamily="18" charset="0"/>
                                </a:rPr>
                                <m:t>𝐹</m:t>
                              </m:r>
                            </m:sub>
                          </m:sSub>
                        </m:e>
                      </m:nary>
                    </m:oMath>
                  </m:oMathPara>
                </a14:m>
                <a:endParaRPr lang="en-CN" dirty="0"/>
              </a:p>
              <a:p>
                <a:pPr algn="ctr"/>
                <a:endParaRPr lang="en-CN" dirty="0"/>
              </a:p>
              <a:p>
                <a:pPr algn="ctr"/>
                <a:endParaRPr lang="en-CN" dirty="0"/>
              </a:p>
              <a:p>
                <a:pPr marL="285750" indent="-285750">
                  <a:buFont typeface="Arial" panose="020B0604020202020204" pitchFamily="34" charset="0"/>
                  <a:buChar char="•"/>
                </a:pPr>
                <a:r>
                  <a:rPr lang="en-CN" dirty="0"/>
                  <a:t>在固定熵和粒子数下</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𝑈</m:t>
                          </m:r>
                        </m:num>
                        <m:den>
                          <m:r>
                            <a:rPr lang="en-US" b="0" i="1" smtClean="0">
                              <a:latin typeface="Cambria Math" panose="02040503050406030204" pitchFamily="18" charset="0"/>
                            </a:rPr>
                            <m:t>𝜕</m:t>
                          </m:r>
                          <m:r>
                            <a:rPr lang="en-US" b="0" i="1" smtClean="0">
                              <a:latin typeface="Cambria Math" panose="02040503050406030204" pitchFamily="18" charset="0"/>
                            </a:rPr>
                            <m:t>𝑉</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5</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𝑉</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𝐹</m:t>
                          </m:r>
                        </m:sub>
                      </m:sSub>
                      <m:r>
                        <a:rPr lang="en-US" b="0" i="1" smtClean="0">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2</m:t>
                          </m:r>
                        </m:num>
                        <m:den>
                          <m:r>
                            <a:rPr lang="en-US" b="0" i="1" smtClean="0">
                              <a:solidFill>
                                <a:srgbClr val="FF0000"/>
                              </a:solidFill>
                              <a:latin typeface="Cambria Math" panose="02040503050406030204" pitchFamily="18" charset="0"/>
                            </a:rPr>
                            <m:t>3</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𝑈</m:t>
                          </m:r>
                        </m:num>
                        <m:den>
                          <m:r>
                            <a:rPr lang="en-US" b="0" i="1" smtClean="0">
                              <a:latin typeface="Cambria Math" panose="02040503050406030204" pitchFamily="18" charset="0"/>
                            </a:rPr>
                            <m:t>𝑉</m:t>
                          </m:r>
                        </m:den>
                      </m:f>
                    </m:oMath>
                  </m:oMathPara>
                </a14:m>
                <a:endParaRPr lang="en-CN" dirty="0"/>
              </a:p>
              <a:p>
                <a:r>
                  <a:rPr lang="en-US" dirty="0"/>
                  <a:t>D</a:t>
                </a:r>
                <a:r>
                  <a:rPr lang="en-CN" dirty="0"/>
                  <a:t>egeneracy pressure: It is  positive because when you compress a degenerate electron gas, the wavelengths of all wave functions are reduced, hence the energy of all the wavefunctions increase. Degeneracy pressure is what keeps matter from collapsing under the huge electrostatic forces that try to pull electrons and protons together.</a:t>
                </a:r>
              </a:p>
            </p:txBody>
          </p:sp>
        </mc:Choice>
        <mc:Fallback xmlns="">
          <p:sp>
            <p:nvSpPr>
              <p:cNvPr id="3" name="TextBox 2">
                <a:extLst>
                  <a:ext uri="{FF2B5EF4-FFF2-40B4-BE49-F238E27FC236}">
                    <a16:creationId xmlns:a16="http://schemas.microsoft.com/office/drawing/2014/main" id="{6DFBDD2B-4F97-1149-9FFA-671BB78F3629}"/>
                  </a:ext>
                </a:extLst>
              </p:cNvPr>
              <p:cNvSpPr txBox="1">
                <a:spLocks noRot="1" noChangeAspect="1" noMove="1" noResize="1" noEditPoints="1" noAdjustHandles="1" noChangeArrowheads="1" noChangeShapeType="1" noTextEdit="1"/>
              </p:cNvSpPr>
              <p:nvPr/>
            </p:nvSpPr>
            <p:spPr>
              <a:xfrm>
                <a:off x="1122218" y="886691"/>
                <a:ext cx="9587346" cy="5000536"/>
              </a:xfrm>
              <a:prstGeom prst="rect">
                <a:avLst/>
              </a:prstGeom>
              <a:blipFill>
                <a:blip r:embed="rId2"/>
                <a:stretch>
                  <a:fillRect l="-529" t="-13165" b="-1013"/>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96840118-0FD2-0741-AE48-30A0977DEF4C}"/>
              </a:ext>
            </a:extLst>
          </p:cNvPr>
          <p:cNvSpPr/>
          <p:nvPr/>
        </p:nvSpPr>
        <p:spPr>
          <a:xfrm>
            <a:off x="5902036" y="1990263"/>
            <a:ext cx="332509" cy="6421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 name="TextBox 4">
            <a:extLst>
              <a:ext uri="{FF2B5EF4-FFF2-40B4-BE49-F238E27FC236}">
                <a16:creationId xmlns:a16="http://schemas.microsoft.com/office/drawing/2014/main" id="{6598AB17-30D3-6740-BC8C-438D649207D0}"/>
              </a:ext>
            </a:extLst>
          </p:cNvPr>
          <p:cNvSpPr txBox="1"/>
          <p:nvPr/>
        </p:nvSpPr>
        <p:spPr>
          <a:xfrm>
            <a:off x="540327" y="3466821"/>
            <a:ext cx="7509164" cy="369332"/>
          </a:xfrm>
          <a:prstGeom prst="rect">
            <a:avLst/>
          </a:prstGeom>
          <a:noFill/>
        </p:spPr>
        <p:txBody>
          <a:bodyPr wrap="square" rtlCol="0">
            <a:spAutoFit/>
          </a:bodyPr>
          <a:lstStyle/>
          <a:p>
            <a:r>
              <a:rPr lang="en-CN" dirty="0">
                <a:solidFill>
                  <a:srgbClr val="FF0000"/>
                </a:solidFill>
              </a:rPr>
              <a:t>零温下电子气体的压强</a:t>
            </a:r>
          </a:p>
        </p:txBody>
      </p:sp>
    </p:spTree>
    <p:extLst>
      <p:ext uri="{BB962C8B-B14F-4D97-AF65-F5344CB8AC3E}">
        <p14:creationId xmlns:p14="http://schemas.microsoft.com/office/powerpoint/2010/main" val="3512444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4C3D2C-E6B1-C60E-16EA-BE979FB9CEEB}"/>
              </a:ext>
            </a:extLst>
          </p:cNvPr>
          <p:cNvSpPr txBox="1"/>
          <p:nvPr/>
        </p:nvSpPr>
        <p:spPr>
          <a:xfrm>
            <a:off x="748145" y="1260764"/>
            <a:ext cx="11000510" cy="3416320"/>
          </a:xfrm>
          <a:prstGeom prst="rect">
            <a:avLst/>
          </a:prstGeom>
          <a:noFill/>
        </p:spPr>
        <p:txBody>
          <a:bodyPr wrap="square" rtlCol="0">
            <a:spAutoFit/>
          </a:bodyPr>
          <a:lstStyle/>
          <a:p>
            <a:pPr marL="285750" indent="-285750">
              <a:buFont typeface="Arial" panose="020B0604020202020204" pitchFamily="34" charset="0"/>
              <a:buChar char="•"/>
            </a:pPr>
            <a:r>
              <a:rPr lang="en-CN" sz="3600" dirty="0"/>
              <a:t>The Fermi energy is the highest single-particle energy that a system of electrons at absolute zero temperature will occupy.</a:t>
            </a:r>
          </a:p>
          <a:p>
            <a:pPr marL="285750" indent="-285750">
              <a:buFont typeface="Arial" panose="020B0604020202020204" pitchFamily="34" charset="0"/>
              <a:buChar char="•"/>
            </a:pPr>
            <a:r>
              <a:rPr lang="en-CN" sz="3600" dirty="0"/>
              <a:t>It is normally a very high energy</a:t>
            </a:r>
          </a:p>
          <a:p>
            <a:pPr marL="285750" indent="-285750">
              <a:buFont typeface="Arial" panose="020B0604020202020204" pitchFamily="34" charset="0"/>
              <a:buChar char="•"/>
            </a:pPr>
            <a:r>
              <a:rPr lang="en-CN" sz="3600" dirty="0"/>
              <a:t>The average energy per electron for a free-electron gas is 60% of the Fermi energy</a:t>
            </a:r>
          </a:p>
        </p:txBody>
      </p:sp>
    </p:spTree>
    <p:extLst>
      <p:ext uri="{BB962C8B-B14F-4D97-AF65-F5344CB8AC3E}">
        <p14:creationId xmlns:p14="http://schemas.microsoft.com/office/powerpoint/2010/main" val="3623342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03DF47-FCAC-E342-9C84-0E520F882D24}"/>
              </a:ext>
            </a:extLst>
          </p:cNvPr>
          <p:cNvSpPr txBox="1"/>
          <p:nvPr/>
        </p:nvSpPr>
        <p:spPr>
          <a:xfrm>
            <a:off x="415636" y="235527"/>
            <a:ext cx="4668982" cy="369332"/>
          </a:xfrm>
          <a:prstGeom prst="rect">
            <a:avLst/>
          </a:prstGeom>
          <a:noFill/>
        </p:spPr>
        <p:txBody>
          <a:bodyPr wrap="square" rtlCol="0">
            <a:spAutoFit/>
          </a:bodyPr>
          <a:lstStyle/>
          <a:p>
            <a:r>
              <a:rPr lang="en-CN" dirty="0"/>
              <a:t>另外一种打开方式</a:t>
            </a:r>
          </a:p>
        </p:txBody>
      </p:sp>
      <p:sp>
        <p:nvSpPr>
          <p:cNvPr id="8" name="TextBox 7">
            <a:extLst>
              <a:ext uri="{FF2B5EF4-FFF2-40B4-BE49-F238E27FC236}">
                <a16:creationId xmlns:a16="http://schemas.microsoft.com/office/drawing/2014/main" id="{74E3E6B2-70F2-616A-FCDE-1FF00FAE63C7}"/>
              </a:ext>
            </a:extLst>
          </p:cNvPr>
          <p:cNvSpPr txBox="1"/>
          <p:nvPr/>
        </p:nvSpPr>
        <p:spPr>
          <a:xfrm>
            <a:off x="997527" y="817418"/>
            <a:ext cx="3643746" cy="369332"/>
          </a:xfrm>
          <a:prstGeom prst="rect">
            <a:avLst/>
          </a:prstGeom>
          <a:noFill/>
        </p:spPr>
        <p:txBody>
          <a:bodyPr wrap="square" rtlCol="0">
            <a:spAutoFit/>
          </a:bodyPr>
          <a:lstStyle/>
          <a:p>
            <a:r>
              <a:rPr lang="en-US" dirty="0"/>
              <a:t>W</a:t>
            </a:r>
            <a:r>
              <a:rPr lang="en-CN" dirty="0"/>
              <a:t>avefunctions in a box</a:t>
            </a:r>
          </a:p>
        </p:txBody>
      </p:sp>
      <p:pic>
        <p:nvPicPr>
          <p:cNvPr id="10" name="Picture 9">
            <a:extLst>
              <a:ext uri="{FF2B5EF4-FFF2-40B4-BE49-F238E27FC236}">
                <a16:creationId xmlns:a16="http://schemas.microsoft.com/office/drawing/2014/main" id="{589AF659-B25F-CA10-510F-D586B988F125}"/>
              </a:ext>
            </a:extLst>
          </p:cNvPr>
          <p:cNvPicPr>
            <a:picLocks noChangeAspect="1"/>
          </p:cNvPicPr>
          <p:nvPr/>
        </p:nvPicPr>
        <p:blipFill>
          <a:blip r:embed="rId2"/>
          <a:stretch>
            <a:fillRect/>
          </a:stretch>
        </p:blipFill>
        <p:spPr>
          <a:xfrm>
            <a:off x="415635" y="1295400"/>
            <a:ext cx="5385501" cy="4287982"/>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2276E9B-621A-0F18-5222-7DF38378611D}"/>
                  </a:ext>
                </a:extLst>
              </p:cNvPr>
              <p:cNvSpPr txBox="1"/>
              <p:nvPr/>
            </p:nvSpPr>
            <p:spPr>
              <a:xfrm>
                <a:off x="6054436" y="2065745"/>
                <a:ext cx="6137564" cy="1373646"/>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𝑥</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𝑥</m:t>
                            </m:r>
                          </m:sub>
                        </m:sSub>
                      </m:den>
                    </m:f>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𝑥</m:t>
                        </m:r>
                      </m:sub>
                    </m:sSub>
                  </m:oMath>
                </a14:m>
                <a:endParaRPr lang="en-CN" dirty="0"/>
              </a:p>
              <a:p>
                <a:pPr marL="285750" indent="-285750">
                  <a:buFont typeface="Arial" panose="020B0604020202020204" pitchFamily="34" charset="0"/>
                  <a:buChar char="•"/>
                </a:pPr>
                <a14:m>
                  <m:oMath xmlns:m="http://schemas.openxmlformats.org/officeDocument/2006/math">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e>
                            </m:d>
                          </m:e>
                          <m:sup>
                            <m:r>
                              <a:rPr lang="en-US" b="0" i="1" smtClean="0">
                                <a:latin typeface="Cambria Math" panose="02040503050406030204" pitchFamily="18" charset="0"/>
                                <a:ea typeface="Cambria Math" panose="02040503050406030204" pitchFamily="18" charset="0"/>
                              </a:rPr>
                              <m:t>3</m:t>
                            </m:r>
                          </m:sup>
                        </m:sSup>
                      </m:num>
                      <m:den>
                        <m:r>
                          <a:rPr lang="en-US" b="0" i="1" smtClean="0">
                            <a:latin typeface="Cambria Math" panose="02040503050406030204" pitchFamily="18" charset="0"/>
                            <a:ea typeface="Cambria Math" panose="02040503050406030204" pitchFamily="18" charset="0"/>
                          </a:rPr>
                          <m:t>𝑉</m:t>
                        </m:r>
                      </m:den>
                    </m:f>
                  </m:oMath>
                </a14:m>
                <a:endParaRPr lang="en-CN" dirty="0"/>
              </a:p>
              <a:p>
                <a:pPr marL="285750" indent="-285750">
                  <a:buFont typeface="Arial" panose="020B0604020202020204" pitchFamily="34" charset="0"/>
                  <a:buChar char="•"/>
                </a:pPr>
                <a:r>
                  <a:rPr lang="en-CN" dirty="0"/>
                  <a:t>Sum</a:t>
                </a:r>
                <a14:m>
                  <m:oMath xmlns:m="http://schemas.openxmlformats.org/officeDocument/2006/math">
                    <m:r>
                      <a:rPr lang="en-CN" i="1" smtClean="0">
                        <a:latin typeface="Cambria Math" panose="02040503050406030204" pitchFamily="18" charset="0"/>
                        <a:ea typeface="Cambria Math" panose="02040503050406030204" pitchFamily="18" charset="0"/>
                      </a:rPr>
                      <m:t>→</m:t>
                    </m:r>
                    <m:d>
                      <m:dPr>
                        <m:ctrlPr>
                          <a:rPr lang="en-CN"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+1</m:t>
                        </m:r>
                      </m:e>
                    </m:d>
                    <m:f>
                      <m:fPr>
                        <m:ctrlPr>
                          <a:rPr lang="en-CN"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𝑉</m:t>
                        </m:r>
                      </m:num>
                      <m:den>
                        <m:sSup>
                          <m:sSupPr>
                            <m:ctrlPr>
                              <a:rPr lang="en-CN" i="1" smtClean="0">
                                <a:latin typeface="Cambria Math" panose="02040503050406030204" pitchFamily="18" charset="0"/>
                                <a:ea typeface="Cambria Math" panose="02040503050406030204" pitchFamily="18" charset="0"/>
                              </a:rPr>
                            </m:ctrlPr>
                          </m:sSupPr>
                          <m:e>
                            <m:d>
                              <m:dPr>
                                <m:ctrlPr>
                                  <a:rPr lang="en-CN"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e>
                            </m:d>
                          </m:e>
                          <m:sup>
                            <m:r>
                              <a:rPr lang="en-US" b="0" i="1" smtClean="0">
                                <a:latin typeface="Cambria Math" panose="02040503050406030204" pitchFamily="18" charset="0"/>
                                <a:ea typeface="Cambria Math" panose="02040503050406030204" pitchFamily="18" charset="0"/>
                              </a:rPr>
                              <m:t>3</m:t>
                            </m:r>
                          </m:sup>
                        </m:sSup>
                      </m:den>
                    </m:f>
                    <m:nary>
                      <m:naryPr>
                        <m:limLoc m:val="undOvr"/>
                        <m:subHide m:val="on"/>
                        <m:supHide m:val="on"/>
                        <m:ctrlPr>
                          <a:rPr lang="en-CN" i="1" smtClean="0">
                            <a:latin typeface="Cambria Math" panose="02040503050406030204" pitchFamily="18" charset="0"/>
                            <a:ea typeface="Cambria Math" panose="02040503050406030204" pitchFamily="18" charset="0"/>
                          </a:rPr>
                        </m:ctrlPr>
                      </m:naryPr>
                      <m:sub/>
                      <m:sup/>
                      <m:e>
                        <m:sSup>
                          <m:sSupPr>
                            <m:ctrlPr>
                              <a:rPr lang="en-CN"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𝑑</m:t>
                            </m:r>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d>
                          <m:dPr>
                            <m:ctrlPr>
                              <a:rPr lang="en-CN"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+1</m:t>
                            </m:r>
                          </m:e>
                        </m:d>
                        <m:f>
                          <m:fPr>
                            <m:ctrlPr>
                              <a:rPr lang="en-CN"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𝑉</m:t>
                            </m:r>
                          </m:num>
                          <m:den>
                            <m:sSup>
                              <m:sSupPr>
                                <m:ctrlPr>
                                  <a:rPr lang="en-CN" i="1">
                                    <a:latin typeface="Cambria Math" panose="02040503050406030204" pitchFamily="18" charset="0"/>
                                    <a:ea typeface="Cambria Math" panose="02040503050406030204" pitchFamily="18" charset="0"/>
                                  </a:rPr>
                                </m:ctrlPr>
                              </m:sSupPr>
                              <m:e>
                                <m:d>
                                  <m:dPr>
                                    <m:ctrlPr>
                                      <a:rPr lang="en-CN"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ℏ</m:t>
                                    </m:r>
                                  </m:e>
                                </m:d>
                              </m:e>
                              <m:sup>
                                <m:r>
                                  <a:rPr lang="en-US" i="1">
                                    <a:latin typeface="Cambria Math" panose="02040503050406030204" pitchFamily="18" charset="0"/>
                                    <a:ea typeface="Cambria Math" panose="02040503050406030204" pitchFamily="18" charset="0"/>
                                  </a:rPr>
                                  <m:t>3</m:t>
                                </m:r>
                              </m:sup>
                            </m:sSup>
                          </m:den>
                        </m:f>
                        <m:nary>
                          <m:naryPr>
                            <m:limLoc m:val="undOvr"/>
                            <m:subHide m:val="on"/>
                            <m:supHide m:val="on"/>
                            <m:ctrlPr>
                              <a:rPr lang="en-CN" i="1">
                                <a:latin typeface="Cambria Math" panose="02040503050406030204" pitchFamily="18" charset="0"/>
                                <a:ea typeface="Cambria Math" panose="02040503050406030204" pitchFamily="18" charset="0"/>
                              </a:rPr>
                            </m:ctrlPr>
                          </m:naryPr>
                          <m:sub/>
                          <m:sup/>
                          <m:e>
                            <m:sSup>
                              <m:sSupPr>
                                <m:ctrlPr>
                                  <a:rPr lang="en-CN"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𝑑</m:t>
                                </m:r>
                              </m:e>
                              <m:sup>
                                <m:r>
                                  <a:rPr lang="en-US" i="1">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𝑝</m:t>
                            </m:r>
                          </m:e>
                        </m:nary>
                      </m:e>
                    </m:nary>
                  </m:oMath>
                </a14:m>
                <a:endParaRPr lang="en-CN" dirty="0"/>
              </a:p>
            </p:txBody>
          </p:sp>
        </mc:Choice>
        <mc:Fallback xmlns="">
          <p:sp>
            <p:nvSpPr>
              <p:cNvPr id="11" name="TextBox 10">
                <a:extLst>
                  <a:ext uri="{FF2B5EF4-FFF2-40B4-BE49-F238E27FC236}">
                    <a16:creationId xmlns:a16="http://schemas.microsoft.com/office/drawing/2014/main" id="{C2276E9B-621A-0F18-5222-7DF38378611D}"/>
                  </a:ext>
                </a:extLst>
              </p:cNvPr>
              <p:cNvSpPr txBox="1">
                <a:spLocks noRot="1" noChangeAspect="1" noMove="1" noResize="1" noEditPoints="1" noAdjustHandles="1" noChangeArrowheads="1" noChangeShapeType="1" noTextEdit="1"/>
              </p:cNvSpPr>
              <p:nvPr/>
            </p:nvSpPr>
            <p:spPr>
              <a:xfrm>
                <a:off x="6054436" y="2065745"/>
                <a:ext cx="6137564" cy="1373646"/>
              </a:xfrm>
              <a:prstGeom prst="rect">
                <a:avLst/>
              </a:prstGeom>
              <a:blipFill>
                <a:blip r:embed="rId3"/>
                <a:stretch>
                  <a:fillRect l="-619" b="-51376"/>
                </a:stretch>
              </a:blipFill>
            </p:spPr>
            <p:txBody>
              <a:bodyPr/>
              <a:lstStyle/>
              <a:p>
                <a:r>
                  <a:rPr lang="en-CN">
                    <a:noFill/>
                  </a:rPr>
                  <a:t> </a:t>
                </a:r>
              </a:p>
            </p:txBody>
          </p:sp>
        </mc:Fallback>
      </mc:AlternateContent>
    </p:spTree>
    <p:extLst>
      <p:ext uri="{BB962C8B-B14F-4D97-AF65-F5344CB8AC3E}">
        <p14:creationId xmlns:p14="http://schemas.microsoft.com/office/powerpoint/2010/main" val="657655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03DF47-FCAC-E342-9C84-0E520F882D24}"/>
              </a:ext>
            </a:extLst>
          </p:cNvPr>
          <p:cNvSpPr txBox="1"/>
          <p:nvPr/>
        </p:nvSpPr>
        <p:spPr>
          <a:xfrm>
            <a:off x="415636" y="235527"/>
            <a:ext cx="4668982" cy="369332"/>
          </a:xfrm>
          <a:prstGeom prst="rect">
            <a:avLst/>
          </a:prstGeom>
          <a:noFill/>
        </p:spPr>
        <p:txBody>
          <a:bodyPr wrap="square" rtlCol="0">
            <a:spAutoFit/>
          </a:bodyPr>
          <a:lstStyle/>
          <a:p>
            <a:r>
              <a:rPr lang="en-CN" dirty="0"/>
              <a:t>另外一种打开方式</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10C9799-52AA-D048-87C2-6ADA030BC789}"/>
                  </a:ext>
                </a:extLst>
              </p:cNvPr>
              <p:cNvSpPr txBox="1"/>
              <p:nvPr/>
            </p:nvSpPr>
            <p:spPr>
              <a:xfrm>
                <a:off x="734291" y="900546"/>
                <a:ext cx="11236036" cy="1938736"/>
              </a:xfrm>
              <a:prstGeom prst="rect">
                <a:avLst/>
              </a:prstGeom>
              <a:noFill/>
            </p:spPr>
            <p:txBody>
              <a:bodyPr wrap="square" rtlCol="0">
                <a:spAutoFit/>
              </a:bodyPr>
              <a:lstStyle/>
              <a:p>
                <a:r>
                  <a:rPr lang="en-US" i="1" dirty="0">
                    <a:latin typeface="Cambria Math" panose="02040503050406030204" pitchFamily="18" charset="0"/>
                  </a:rPr>
                  <a:t>For free electrons the number of states </a:t>
                </a:r>
                <a:r>
                  <a:rPr lang="en-US" i="1" dirty="0" err="1">
                    <a:latin typeface="Cambria Math" panose="02040503050406030204" pitchFamily="18" charset="0"/>
                  </a:rPr>
                  <a:t>dn</a:t>
                </a:r>
                <a:r>
                  <a:rPr lang="en-US" i="1" dirty="0">
                    <a:latin typeface="Cambria Math" panose="02040503050406030204" pitchFamily="18" charset="0"/>
                  </a:rPr>
                  <a:t> available between the momentum k and </a:t>
                </a:r>
                <a:r>
                  <a:rPr lang="en-US" i="1" dirty="0" err="1">
                    <a:latin typeface="Cambria Math" panose="02040503050406030204" pitchFamily="18" charset="0"/>
                  </a:rPr>
                  <a:t>k+dk</a:t>
                </a:r>
                <a:r>
                  <a:rPr lang="en-US" i="1" dirty="0">
                    <a:latin typeface="Cambria Math" panose="02040503050406030204" pitchFamily="18" charset="0"/>
                  </a:rPr>
                  <a:t> per unit volume is</a:t>
                </a:r>
                <a:endParaRPr lang="en-US"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𝑑𝑛</m:t>
                      </m:r>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𝑑</m:t>
                              </m:r>
                            </m:e>
                            <m:sup>
                              <m:r>
                                <a:rPr lang="en-US" b="0" i="1" smtClean="0">
                                  <a:solidFill>
                                    <a:srgbClr val="FF0000"/>
                                  </a:solidFill>
                                  <a:latin typeface="Cambria Math" panose="02040503050406030204" pitchFamily="18" charset="0"/>
                                </a:rPr>
                                <m:t>3</m:t>
                              </m:r>
                            </m:sup>
                          </m:sSup>
                          <m:r>
                            <a:rPr lang="en-US" b="0" i="1" smtClean="0">
                              <a:solidFill>
                                <a:srgbClr val="FF0000"/>
                              </a:solidFill>
                              <a:latin typeface="Cambria Math" panose="02040503050406030204" pitchFamily="18" charset="0"/>
                            </a:rPr>
                            <m:t>𝑝</m:t>
                          </m:r>
                        </m:num>
                        <m:den>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(2</m:t>
                              </m:r>
                              <m:r>
                                <a:rPr lang="en-US" b="0" i="1" smtClean="0">
                                  <a:solidFill>
                                    <a:srgbClr val="FF0000"/>
                                  </a:solidFill>
                                  <a:latin typeface="Cambria Math" panose="02040503050406030204" pitchFamily="18" charset="0"/>
                                  <a:ea typeface="Cambria Math" panose="02040503050406030204" pitchFamily="18" charset="0"/>
                                </a:rPr>
                                <m:t>𝜋</m:t>
                              </m:r>
                              <m:r>
                                <a:rPr lang="en-US" b="0" i="1" smtClean="0">
                                  <a:solidFill>
                                    <a:srgbClr val="FF0000"/>
                                  </a:solidFill>
                                  <a:latin typeface="Cambria Math" panose="02040503050406030204" pitchFamily="18" charset="0"/>
                                  <a:ea typeface="Cambria Math" panose="02040503050406030204" pitchFamily="18" charset="0"/>
                                </a:rPr>
                                <m:t>ℏ)</m:t>
                              </m:r>
                            </m:e>
                            <m:sup>
                              <m:r>
                                <a:rPr lang="en-US" b="0" i="1" smtClean="0">
                                  <a:solidFill>
                                    <a:srgbClr val="FF0000"/>
                                  </a:solidFill>
                                  <a:latin typeface="Cambria Math" panose="02040503050406030204" pitchFamily="18" charset="0"/>
                                </a:rPr>
                                <m:t>3</m:t>
                              </m:r>
                            </m:sup>
                          </m:sSup>
                        </m:den>
                      </m:f>
                    </m:oMath>
                  </m:oMathPara>
                </a14:m>
                <a:endParaRPr lang="en-CN" dirty="0"/>
              </a:p>
              <a:p>
                <a:r>
                  <a:rPr lang="en-CN" dirty="0"/>
                  <a:t>The electron number density</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𝑉</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×4</m:t>
                          </m:r>
                          <m:r>
                            <a:rPr lang="en-US" i="1">
                              <a:latin typeface="Cambria Math" panose="02040503050406030204" pitchFamily="18" charset="0"/>
                              <a:ea typeface="Cambria Math" panose="02040503050406030204" pitchFamily="18" charset="0"/>
                            </a:rPr>
                            <m:t>𝜋</m:t>
                          </m:r>
                        </m:num>
                        <m:den>
                          <m:sSup>
                            <m:sSupPr>
                              <m:ctrlPr>
                                <a:rPr lang="en-US" i="1">
                                  <a:latin typeface="Cambria Math" panose="02040503050406030204" pitchFamily="18" charset="0"/>
                                </a:rPr>
                              </m:ctrlPr>
                            </m:sSupPr>
                            <m:e>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𝜋</m:t>
                              </m:r>
                              <m:r>
                                <a:rPr lang="en-US" i="1">
                                  <a:latin typeface="Cambria Math" panose="02040503050406030204" pitchFamily="18" charset="0"/>
                                  <a:ea typeface="Cambria Math" panose="02040503050406030204" pitchFamily="18" charset="0"/>
                                </a:rPr>
                                <m:t>ℏ)</m:t>
                              </m:r>
                            </m:e>
                            <m:sup>
                              <m:r>
                                <a:rPr lang="en-US" i="1">
                                  <a:latin typeface="Cambria Math" panose="02040503050406030204" pitchFamily="18" charset="0"/>
                                </a:rPr>
                                <m:t>3</m:t>
                              </m:r>
                            </m:sup>
                          </m:sSup>
                        </m:den>
                      </m:f>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𝐹</m:t>
                              </m:r>
                            </m:sub>
                          </m:s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2</m:t>
                              </m:r>
                            </m:sup>
                          </m:sSup>
                          <m:r>
                            <a:rPr lang="en-US" b="0" i="1" smtClean="0">
                              <a:latin typeface="Cambria Math" panose="02040503050406030204" pitchFamily="18" charset="0"/>
                            </a:rPr>
                            <m:t>𝑑𝑝</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𝐹</m:t>
                                  </m:r>
                                </m:sub>
                                <m:sup>
                                  <m:r>
                                    <a:rPr lang="en-US" b="0" i="1" smtClean="0">
                                      <a:latin typeface="Cambria Math" panose="02040503050406030204" pitchFamily="18" charset="0"/>
                                    </a:rPr>
                                    <m:t>3</m:t>
                                  </m:r>
                                </m:sup>
                              </m:sSubSup>
                            </m:num>
                            <m:den>
                              <m:r>
                                <a:rPr lang="en-US" b="0" i="1" smtClean="0">
                                  <a:latin typeface="Cambria Math" panose="02040503050406030204" pitchFamily="18" charset="0"/>
                                </a:rPr>
                                <m:t>3</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rPr>
                                    <m:t>3</m:t>
                                  </m:r>
                                </m:sup>
                              </m:sSup>
                            </m:den>
                          </m:f>
                        </m:e>
                      </m:nary>
                    </m:oMath>
                  </m:oMathPara>
                </a14:m>
                <a:endParaRPr lang="en-CN" dirty="0"/>
              </a:p>
            </p:txBody>
          </p:sp>
        </mc:Choice>
        <mc:Fallback xmlns="">
          <p:sp>
            <p:nvSpPr>
              <p:cNvPr id="4" name="TextBox 3">
                <a:extLst>
                  <a:ext uri="{FF2B5EF4-FFF2-40B4-BE49-F238E27FC236}">
                    <a16:creationId xmlns:a16="http://schemas.microsoft.com/office/drawing/2014/main" id="{110C9799-52AA-D048-87C2-6ADA030BC789}"/>
                  </a:ext>
                </a:extLst>
              </p:cNvPr>
              <p:cNvSpPr txBox="1">
                <a:spLocks noRot="1" noChangeAspect="1" noMove="1" noResize="1" noEditPoints="1" noAdjustHandles="1" noChangeArrowheads="1" noChangeShapeType="1" noTextEdit="1"/>
              </p:cNvSpPr>
              <p:nvPr/>
            </p:nvSpPr>
            <p:spPr>
              <a:xfrm>
                <a:off x="734291" y="900546"/>
                <a:ext cx="11236036" cy="1938736"/>
              </a:xfrm>
              <a:prstGeom prst="rect">
                <a:avLst/>
              </a:prstGeom>
              <a:blipFill>
                <a:blip r:embed="rId2"/>
                <a:stretch>
                  <a:fillRect l="-451" t="-1961" b="-8169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7FA5F72-7EFA-E044-A430-35D052F04A71}"/>
                  </a:ext>
                </a:extLst>
              </p:cNvPr>
              <p:cNvSpPr txBox="1"/>
              <p:nvPr/>
            </p:nvSpPr>
            <p:spPr>
              <a:xfrm>
                <a:off x="415636" y="4289503"/>
                <a:ext cx="12192000" cy="977255"/>
              </a:xfrm>
              <a:prstGeom prst="rect">
                <a:avLst/>
              </a:prstGeom>
              <a:noFill/>
            </p:spPr>
            <p:txBody>
              <a:bodyPr wrap="square">
                <a:spAutoFit/>
              </a:bodyPr>
              <a:lstStyle/>
              <a:p>
                <a:pPr algn="ctr"/>
                <a14:m>
                  <m:oMath xmlns:m="http://schemas.openxmlformats.org/officeDocument/2006/math">
                    <m:sSub>
                      <m:sSubPr>
                        <m:ctrlPr>
                          <a:rPr lang="en-CN" sz="3600" i="1" smtClean="0">
                            <a:solidFill>
                              <a:srgbClr val="FF0000"/>
                            </a:solidFill>
                            <a:latin typeface="Cambria Math" panose="02040503050406030204" pitchFamily="18" charset="0"/>
                          </a:rPr>
                        </m:ctrlPr>
                      </m:sSubPr>
                      <m:e>
                        <m:r>
                          <a:rPr lang="en-CN" sz="3600" i="1" smtClean="0">
                            <a:solidFill>
                              <a:srgbClr val="FF0000"/>
                            </a:solidFill>
                            <a:latin typeface="Cambria Math" panose="02040503050406030204" pitchFamily="18" charset="0"/>
                            <a:ea typeface="Cambria Math" panose="02040503050406030204" pitchFamily="18" charset="0"/>
                          </a:rPr>
                          <m:t>𝜀</m:t>
                        </m:r>
                      </m:e>
                      <m:sub>
                        <m:r>
                          <a:rPr lang="en-US" sz="3600" b="0" i="1" smtClean="0">
                            <a:solidFill>
                              <a:srgbClr val="FF0000"/>
                            </a:solidFill>
                            <a:latin typeface="Cambria Math" panose="02040503050406030204" pitchFamily="18" charset="0"/>
                          </a:rPr>
                          <m:t>𝐹</m:t>
                        </m:r>
                      </m:sub>
                    </m:sSub>
                    <m:r>
                      <a:rPr lang="en-US" sz="3600" b="0" i="1" smtClean="0">
                        <a:latin typeface="Cambria Math" panose="02040503050406030204" pitchFamily="18" charset="0"/>
                      </a:rPr>
                      <m:t>=</m:t>
                    </m:r>
                  </m:oMath>
                </a14:m>
                <a:r>
                  <a:rPr lang="en-US" sz="3600" dirty="0"/>
                  <a:t> </a:t>
                </a:r>
                <a14:m>
                  <m:oMath xmlns:m="http://schemas.openxmlformats.org/officeDocument/2006/math">
                    <m:f>
                      <m:fPr>
                        <m:ctrlPr>
                          <a:rPr lang="en-US" sz="3600" i="1">
                            <a:latin typeface="Cambria Math" panose="02040503050406030204" pitchFamily="18" charset="0"/>
                          </a:rPr>
                        </m:ctrlPr>
                      </m:fPr>
                      <m:num>
                        <m:sSup>
                          <m:sSupPr>
                            <m:ctrlPr>
                              <a:rPr lang="en-US" sz="3600" i="1">
                                <a:latin typeface="Cambria Math" panose="02040503050406030204" pitchFamily="18" charset="0"/>
                              </a:rPr>
                            </m:ctrlPr>
                          </m:sSupPr>
                          <m:e>
                            <m:r>
                              <a:rPr lang="en-US" sz="3600" i="1">
                                <a:latin typeface="Cambria Math" panose="02040503050406030204" pitchFamily="18" charset="0"/>
                                <a:ea typeface="Cambria Math" panose="02040503050406030204" pitchFamily="18" charset="0"/>
                              </a:rPr>
                              <m:t>ℏ</m:t>
                            </m:r>
                          </m:e>
                          <m:sup>
                            <m:r>
                              <a:rPr lang="en-US" sz="3600" i="1">
                                <a:latin typeface="Cambria Math" panose="02040503050406030204" pitchFamily="18" charset="0"/>
                              </a:rPr>
                              <m:t>2</m:t>
                            </m:r>
                          </m:sup>
                        </m:sSup>
                      </m:num>
                      <m:den>
                        <m:r>
                          <a:rPr lang="en-US" sz="3600" i="1">
                            <a:latin typeface="Cambria Math" panose="02040503050406030204" pitchFamily="18" charset="0"/>
                          </a:rPr>
                          <m:t>2</m:t>
                        </m:r>
                        <m:r>
                          <a:rPr lang="en-US" sz="3600" i="1">
                            <a:latin typeface="Cambria Math" panose="02040503050406030204" pitchFamily="18" charset="0"/>
                          </a:rPr>
                          <m:t>𝑚</m:t>
                        </m:r>
                      </m:den>
                    </m:f>
                    <m:sSup>
                      <m:sSupPr>
                        <m:ctrlPr>
                          <a:rPr lang="en-US" sz="3600" i="1">
                            <a:latin typeface="Cambria Math" panose="02040503050406030204" pitchFamily="18" charset="0"/>
                          </a:rPr>
                        </m:ctrlPr>
                      </m:sSupPr>
                      <m:e>
                        <m:d>
                          <m:dPr>
                            <m:ctrlPr>
                              <a:rPr lang="en-US" sz="3600" i="1">
                                <a:latin typeface="Cambria Math" panose="02040503050406030204" pitchFamily="18" charset="0"/>
                              </a:rPr>
                            </m:ctrlPr>
                          </m:dPr>
                          <m:e>
                            <m:r>
                              <a:rPr lang="en-US" altLang="zh-CN" sz="3600" b="0" i="1" smtClean="0">
                                <a:latin typeface="Cambria Math" panose="02040503050406030204" pitchFamily="18" charset="0"/>
                              </a:rPr>
                              <m:t>3</m:t>
                            </m:r>
                            <m:sSup>
                              <m:sSupPr>
                                <m:ctrlPr>
                                  <a:rPr lang="en-US" altLang="zh-CN" sz="3600" b="0" i="1" smtClean="0">
                                    <a:latin typeface="Cambria Math" panose="02040503050406030204" pitchFamily="18" charset="0"/>
                                  </a:rPr>
                                </m:ctrlPr>
                              </m:sSupPr>
                              <m:e>
                                <m:r>
                                  <a:rPr lang="en-US" altLang="zh-CN" sz="3600" b="0" i="1" smtClean="0">
                                    <a:latin typeface="Cambria Math" panose="02040503050406030204" pitchFamily="18" charset="0"/>
                                    <a:ea typeface="Cambria Math" panose="02040503050406030204" pitchFamily="18" charset="0"/>
                                  </a:rPr>
                                  <m:t>𝜋</m:t>
                                </m:r>
                              </m:e>
                              <m:sup>
                                <m:r>
                                  <a:rPr lang="en-US" altLang="zh-CN" sz="3600" b="0" i="1" smtClean="0">
                                    <a:latin typeface="Cambria Math" panose="02040503050406030204" pitchFamily="18" charset="0"/>
                                  </a:rPr>
                                  <m:t>2</m:t>
                                </m:r>
                              </m:sup>
                            </m:sSup>
                            <m:r>
                              <a:rPr lang="en-US" sz="3600" b="0" i="1" smtClean="0">
                                <a:solidFill>
                                  <a:srgbClr val="FF0000"/>
                                </a:solidFill>
                                <a:latin typeface="Cambria Math" panose="02040503050406030204" pitchFamily="18" charset="0"/>
                                <a:ea typeface="Cambria Math" panose="02040503050406030204" pitchFamily="18" charset="0"/>
                              </a:rPr>
                              <m:t>𝑛</m:t>
                            </m:r>
                          </m:e>
                        </m:d>
                      </m:e>
                      <m:sup>
                        <m:r>
                          <a:rPr lang="en-US" altLang="zh-CN" sz="3600" b="0" i="1" smtClean="0">
                            <a:latin typeface="Cambria Math" panose="02040503050406030204" pitchFamily="18" charset="0"/>
                          </a:rPr>
                          <m:t>2</m:t>
                        </m:r>
                        <m:r>
                          <a:rPr lang="en-US" sz="3600" i="1">
                            <a:latin typeface="Cambria Math" panose="02040503050406030204" pitchFamily="18" charset="0"/>
                          </a:rPr>
                          <m:t>/3</m:t>
                        </m:r>
                      </m:sup>
                    </m:sSup>
                    <m:r>
                      <a:rPr lang="en-US" altLang="zh-CN" sz="3600" b="0" i="1" smtClean="0">
                        <a:latin typeface="Cambria Math" panose="02040503050406030204" pitchFamily="18" charset="0"/>
                        <a:ea typeface="Cambria Math" panose="02040503050406030204" pitchFamily="18" charset="0"/>
                      </a:rPr>
                      <m:t>⇔</m:t>
                    </m:r>
                    <m:f>
                      <m:fPr>
                        <m:ctrlPr>
                          <a:rPr lang="en-US" altLang="zh-CN" sz="3600" b="0" i="1" smtClean="0">
                            <a:latin typeface="Cambria Math" panose="02040503050406030204" pitchFamily="18" charset="0"/>
                          </a:rPr>
                        </m:ctrlPr>
                      </m:fPr>
                      <m:num>
                        <m:sSubSup>
                          <m:sSubSupPr>
                            <m:ctrlPr>
                              <a:rPr lang="en-US" altLang="zh-CN" sz="3600" b="0" i="1" smtClean="0">
                                <a:latin typeface="Cambria Math" panose="02040503050406030204" pitchFamily="18" charset="0"/>
                              </a:rPr>
                            </m:ctrlPr>
                          </m:sSubSupPr>
                          <m:e>
                            <m:r>
                              <a:rPr lang="en-US" altLang="zh-CN" sz="3600" b="0" i="1" smtClean="0">
                                <a:latin typeface="Cambria Math" panose="02040503050406030204" pitchFamily="18" charset="0"/>
                              </a:rPr>
                              <m:t>𝑝</m:t>
                            </m:r>
                          </m:e>
                          <m:sub>
                            <m:r>
                              <a:rPr lang="en-US" altLang="zh-CN" sz="3600" b="0" i="1" smtClean="0">
                                <a:latin typeface="Cambria Math" panose="02040503050406030204" pitchFamily="18" charset="0"/>
                              </a:rPr>
                              <m:t>𝐹</m:t>
                            </m:r>
                          </m:sub>
                          <m:sup>
                            <m:r>
                              <a:rPr lang="en-US" altLang="zh-CN" sz="3600" b="0" i="1" smtClean="0">
                                <a:latin typeface="Cambria Math" panose="02040503050406030204" pitchFamily="18" charset="0"/>
                              </a:rPr>
                              <m:t>2</m:t>
                            </m:r>
                          </m:sup>
                        </m:sSubSup>
                      </m:num>
                      <m:den>
                        <m:r>
                          <a:rPr lang="en-US" altLang="zh-CN" sz="3600" b="0" i="1" smtClean="0">
                            <a:latin typeface="Cambria Math" panose="02040503050406030204" pitchFamily="18" charset="0"/>
                          </a:rPr>
                          <m:t>2</m:t>
                        </m:r>
                        <m:r>
                          <a:rPr lang="en-US" altLang="zh-CN" sz="3600" b="0" i="1" smtClean="0">
                            <a:latin typeface="Cambria Math" panose="02040503050406030204" pitchFamily="18" charset="0"/>
                          </a:rPr>
                          <m:t>𝑚</m:t>
                        </m:r>
                      </m:den>
                    </m:f>
                  </m:oMath>
                </a14:m>
                <a:endParaRPr lang="en-CN" sz="3600" dirty="0"/>
              </a:p>
            </p:txBody>
          </p:sp>
        </mc:Choice>
        <mc:Fallback xmlns="">
          <p:sp>
            <p:nvSpPr>
              <p:cNvPr id="5" name="TextBox 4">
                <a:extLst>
                  <a:ext uri="{FF2B5EF4-FFF2-40B4-BE49-F238E27FC236}">
                    <a16:creationId xmlns:a16="http://schemas.microsoft.com/office/drawing/2014/main" id="{57FA5F72-7EFA-E044-A430-35D052F04A71}"/>
                  </a:ext>
                </a:extLst>
              </p:cNvPr>
              <p:cNvSpPr txBox="1">
                <a:spLocks noRot="1" noChangeAspect="1" noMove="1" noResize="1" noEditPoints="1" noAdjustHandles="1" noChangeArrowheads="1" noChangeShapeType="1" noTextEdit="1"/>
              </p:cNvSpPr>
              <p:nvPr/>
            </p:nvSpPr>
            <p:spPr>
              <a:xfrm>
                <a:off x="415636" y="4289503"/>
                <a:ext cx="12192000" cy="977255"/>
              </a:xfrm>
              <a:prstGeom prst="rect">
                <a:avLst/>
              </a:prstGeom>
              <a:blipFill>
                <a:blip r:embed="rId3"/>
                <a:stretch>
                  <a:fillRect b="-6410"/>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A3006C58-4F65-9C4C-97F7-0E59D77150BE}"/>
              </a:ext>
            </a:extLst>
          </p:cNvPr>
          <p:cNvSpPr txBox="1"/>
          <p:nvPr/>
        </p:nvSpPr>
        <p:spPr>
          <a:xfrm>
            <a:off x="9213273" y="3244334"/>
            <a:ext cx="2050473" cy="369332"/>
          </a:xfrm>
          <a:prstGeom prst="rect">
            <a:avLst/>
          </a:prstGeom>
          <a:noFill/>
        </p:spPr>
        <p:txBody>
          <a:bodyPr wrap="square" rtlCol="0">
            <a:spAutoFit/>
          </a:bodyPr>
          <a:lstStyle/>
          <a:p>
            <a:r>
              <a:rPr lang="en-CN" dirty="0"/>
              <a:t>费米动量</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A65ECD1-D1CD-4A40-A27B-7C633AF1C09A}"/>
                  </a:ext>
                </a:extLst>
              </p:cNvPr>
              <p:cNvSpPr txBox="1"/>
              <p:nvPr/>
            </p:nvSpPr>
            <p:spPr>
              <a:xfrm>
                <a:off x="858981" y="5509629"/>
                <a:ext cx="10127673" cy="491288"/>
              </a:xfrm>
              <a:prstGeom prst="rect">
                <a:avLst/>
              </a:prstGeom>
              <a:noFill/>
            </p:spPr>
            <p:txBody>
              <a:bodyPr wrap="square" rtlCol="0">
                <a:spAutoFit/>
              </a:bodyPr>
              <a:lstStyle/>
              <a:p>
                <a:r>
                  <a:rPr lang="en-CN" dirty="0"/>
                  <a:t>费米速度</a:t>
                </a:r>
                <a:r>
                  <a:rPr lang="zh-CN" altLang="en-US"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𝐹</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𝐹</m:t>
                            </m:r>
                          </m:sub>
                        </m:sSub>
                      </m:num>
                      <m:den>
                        <m:r>
                          <a:rPr lang="en-US" altLang="zh-CN" b="0" i="1" smtClean="0">
                            <a:latin typeface="Cambria Math" panose="02040503050406030204" pitchFamily="18" charset="0"/>
                          </a:rPr>
                          <m:t>𝑚</m:t>
                        </m:r>
                      </m:den>
                    </m:f>
                  </m:oMath>
                </a14:m>
                <a:r>
                  <a:rPr lang="en-CN" dirty="0"/>
                  <a:t>, The electrons at the Fermi level are moving at a very high velocity, 相对论or非</a:t>
                </a:r>
                <a:r>
                  <a:rPr lang="zh-CN" altLang="en-US" dirty="0"/>
                  <a:t>？</a:t>
                </a:r>
                <a:endParaRPr lang="en-CN" dirty="0"/>
              </a:p>
            </p:txBody>
          </p:sp>
        </mc:Choice>
        <mc:Fallback xmlns="">
          <p:sp>
            <p:nvSpPr>
              <p:cNvPr id="6" name="TextBox 5">
                <a:extLst>
                  <a:ext uri="{FF2B5EF4-FFF2-40B4-BE49-F238E27FC236}">
                    <a16:creationId xmlns:a16="http://schemas.microsoft.com/office/drawing/2014/main" id="{AA65ECD1-D1CD-4A40-A27B-7C633AF1C09A}"/>
                  </a:ext>
                </a:extLst>
              </p:cNvPr>
              <p:cNvSpPr txBox="1">
                <a:spLocks noRot="1" noChangeAspect="1" noMove="1" noResize="1" noEditPoints="1" noAdjustHandles="1" noChangeArrowheads="1" noChangeShapeType="1" noTextEdit="1"/>
              </p:cNvSpPr>
              <p:nvPr/>
            </p:nvSpPr>
            <p:spPr>
              <a:xfrm>
                <a:off x="858981" y="5509629"/>
                <a:ext cx="10127673" cy="491288"/>
              </a:xfrm>
              <a:prstGeom prst="rect">
                <a:avLst/>
              </a:prstGeom>
              <a:blipFill>
                <a:blip r:embed="rId4"/>
                <a:stretch>
                  <a:fillRect l="-501" b="-75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DDFD8A6-2B49-99D1-2C81-2E5976479832}"/>
                  </a:ext>
                </a:extLst>
              </p:cNvPr>
              <p:cNvSpPr txBox="1"/>
              <p:nvPr/>
            </p:nvSpPr>
            <p:spPr>
              <a:xfrm>
                <a:off x="512618" y="2773591"/>
                <a:ext cx="12192000" cy="1273041"/>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CN" sz="3600" i="1" smtClean="0">
                              <a:solidFill>
                                <a:srgbClr val="FF0000"/>
                              </a:solidFill>
                              <a:latin typeface="Cambria Math" panose="02040503050406030204" pitchFamily="18" charset="0"/>
                            </a:rPr>
                          </m:ctrlPr>
                        </m:sSubPr>
                        <m:e>
                          <m:r>
                            <a:rPr lang="en-US" sz="3600" b="0" i="1" smtClean="0">
                              <a:solidFill>
                                <a:srgbClr val="FF0000"/>
                              </a:solidFill>
                              <a:latin typeface="Cambria Math" panose="02040503050406030204" pitchFamily="18" charset="0"/>
                            </a:rPr>
                            <m:t>𝑝</m:t>
                          </m:r>
                        </m:e>
                        <m:sub>
                          <m:r>
                            <a:rPr lang="en-US" sz="3600" b="0" i="1" smtClean="0">
                              <a:solidFill>
                                <a:srgbClr val="FF0000"/>
                              </a:solidFill>
                              <a:latin typeface="Cambria Math" panose="02040503050406030204" pitchFamily="18" charset="0"/>
                            </a:rPr>
                            <m:t>𝐹</m:t>
                          </m:r>
                        </m:sub>
                      </m:sSub>
                      <m:r>
                        <a:rPr lang="en-US" sz="3600" b="0" i="1" smtClean="0">
                          <a:latin typeface="Cambria Math" panose="02040503050406030204" pitchFamily="18" charset="0"/>
                        </a:rPr>
                        <m:t>=</m:t>
                      </m:r>
                      <m:r>
                        <a:rPr lang="en-US" sz="3600" dirty="0">
                          <a:latin typeface="Cambria Math" panose="02040503050406030204" pitchFamily="18" charset="0"/>
                          <a:ea typeface="Cambria Math" panose="02040503050406030204" pitchFamily="18" charset="0"/>
                        </a:rPr>
                        <m:t>ℏ</m:t>
                      </m:r>
                      <m:sSup>
                        <m:sSupPr>
                          <m:ctrlPr>
                            <a:rPr lang="en-US" sz="3600" i="1">
                              <a:latin typeface="Cambria Math" panose="02040503050406030204" pitchFamily="18" charset="0"/>
                            </a:rPr>
                          </m:ctrlPr>
                        </m:sSupPr>
                        <m:e>
                          <m:d>
                            <m:dPr>
                              <m:ctrlPr>
                                <a:rPr lang="en-US" sz="3600" i="1">
                                  <a:latin typeface="Cambria Math" panose="02040503050406030204" pitchFamily="18" charset="0"/>
                                </a:rPr>
                              </m:ctrlPr>
                            </m:dPr>
                            <m:e>
                              <m:r>
                                <a:rPr lang="en-US" altLang="zh-CN" sz="3600" b="0" i="1" smtClean="0">
                                  <a:latin typeface="Cambria Math" panose="02040503050406030204" pitchFamily="18" charset="0"/>
                                </a:rPr>
                                <m:t>3</m:t>
                              </m:r>
                              <m:sSup>
                                <m:sSupPr>
                                  <m:ctrlPr>
                                    <a:rPr lang="en-US" altLang="zh-CN" sz="3600" b="0" i="1" smtClean="0">
                                      <a:latin typeface="Cambria Math" panose="02040503050406030204" pitchFamily="18" charset="0"/>
                                    </a:rPr>
                                  </m:ctrlPr>
                                </m:sSupPr>
                                <m:e>
                                  <m:r>
                                    <a:rPr lang="en-US" altLang="zh-CN" sz="3600" b="0" i="1" smtClean="0">
                                      <a:latin typeface="Cambria Math" panose="02040503050406030204" pitchFamily="18" charset="0"/>
                                      <a:ea typeface="Cambria Math" panose="02040503050406030204" pitchFamily="18" charset="0"/>
                                    </a:rPr>
                                    <m:t>𝜋</m:t>
                                  </m:r>
                                </m:e>
                                <m:sup>
                                  <m:r>
                                    <a:rPr lang="en-US" altLang="zh-CN" sz="3600" b="0" i="1" smtClean="0">
                                      <a:latin typeface="Cambria Math" panose="02040503050406030204" pitchFamily="18" charset="0"/>
                                    </a:rPr>
                                    <m:t>2</m:t>
                                  </m:r>
                                </m:sup>
                              </m:sSup>
                              <m:f>
                                <m:fPr>
                                  <m:ctrlPr>
                                    <a:rPr lang="en-US" altLang="zh-CN" sz="3600" b="0" i="1" smtClean="0">
                                      <a:latin typeface="Cambria Math" panose="02040503050406030204" pitchFamily="18" charset="0"/>
                                    </a:rPr>
                                  </m:ctrlPr>
                                </m:fPr>
                                <m:num>
                                  <m:r>
                                    <a:rPr lang="en-US" altLang="zh-CN" sz="3600" b="0" i="1" smtClean="0">
                                      <a:latin typeface="Cambria Math" panose="02040503050406030204" pitchFamily="18" charset="0"/>
                                    </a:rPr>
                                    <m:t>𝑁</m:t>
                                  </m:r>
                                </m:num>
                                <m:den>
                                  <m:r>
                                    <a:rPr lang="en-US" altLang="zh-CN" sz="3600" b="0" i="1" smtClean="0">
                                      <a:latin typeface="Cambria Math" panose="02040503050406030204" pitchFamily="18" charset="0"/>
                                    </a:rPr>
                                    <m:t>𝑉</m:t>
                                  </m:r>
                                </m:den>
                              </m:f>
                            </m:e>
                          </m:d>
                        </m:e>
                        <m:sup>
                          <m:r>
                            <a:rPr lang="en-US" sz="3600" b="0" i="1" smtClean="0">
                              <a:solidFill>
                                <a:schemeClr val="tx1"/>
                              </a:solidFill>
                              <a:latin typeface="Cambria Math" panose="02040503050406030204" pitchFamily="18" charset="0"/>
                              <a:ea typeface="Cambria Math" panose="02040503050406030204" pitchFamily="18" charset="0"/>
                            </a:rPr>
                            <m:t>1</m:t>
                          </m:r>
                          <m:r>
                            <a:rPr lang="en-US" sz="3600" i="1">
                              <a:latin typeface="Cambria Math" panose="02040503050406030204" pitchFamily="18" charset="0"/>
                            </a:rPr>
                            <m:t>/3</m:t>
                          </m:r>
                        </m:sup>
                      </m:sSup>
                    </m:oMath>
                  </m:oMathPara>
                </a14:m>
                <a:endParaRPr lang="en-CN" sz="3600" dirty="0"/>
              </a:p>
            </p:txBody>
          </p:sp>
        </mc:Choice>
        <mc:Fallback xmlns="">
          <p:sp>
            <p:nvSpPr>
              <p:cNvPr id="7" name="TextBox 6">
                <a:extLst>
                  <a:ext uri="{FF2B5EF4-FFF2-40B4-BE49-F238E27FC236}">
                    <a16:creationId xmlns:a16="http://schemas.microsoft.com/office/drawing/2014/main" id="{6DDFD8A6-2B49-99D1-2C81-2E5976479832}"/>
                  </a:ext>
                </a:extLst>
              </p:cNvPr>
              <p:cNvSpPr txBox="1">
                <a:spLocks noRot="1" noChangeAspect="1" noMove="1" noResize="1" noEditPoints="1" noAdjustHandles="1" noChangeArrowheads="1" noChangeShapeType="1" noTextEdit="1"/>
              </p:cNvSpPr>
              <p:nvPr/>
            </p:nvSpPr>
            <p:spPr>
              <a:xfrm>
                <a:off x="512618" y="2773591"/>
                <a:ext cx="12192000" cy="1273041"/>
              </a:xfrm>
              <a:prstGeom prst="rect">
                <a:avLst/>
              </a:prstGeom>
              <a:blipFill>
                <a:blip r:embed="rId5"/>
                <a:stretch>
                  <a:fillRect b="-6931"/>
                </a:stretch>
              </a:blipFill>
            </p:spPr>
            <p:txBody>
              <a:bodyPr/>
              <a:lstStyle/>
              <a:p>
                <a:r>
                  <a:rPr lang="en-CN">
                    <a:noFill/>
                  </a:rPr>
                  <a:t> </a:t>
                </a:r>
              </a:p>
            </p:txBody>
          </p:sp>
        </mc:Fallback>
      </mc:AlternateContent>
    </p:spTree>
    <p:extLst>
      <p:ext uri="{BB962C8B-B14F-4D97-AF65-F5344CB8AC3E}">
        <p14:creationId xmlns:p14="http://schemas.microsoft.com/office/powerpoint/2010/main" val="1142249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232621-7AC2-E750-108E-0BA5654D9EDF}"/>
              </a:ext>
            </a:extLst>
          </p:cNvPr>
          <p:cNvSpPr txBox="1"/>
          <p:nvPr/>
        </p:nvSpPr>
        <p:spPr>
          <a:xfrm>
            <a:off x="3131127" y="1274618"/>
            <a:ext cx="5929746" cy="646331"/>
          </a:xfrm>
          <a:prstGeom prst="rect">
            <a:avLst/>
          </a:prstGeom>
          <a:noFill/>
        </p:spPr>
        <p:txBody>
          <a:bodyPr wrap="square" rtlCol="0">
            <a:spAutoFit/>
          </a:bodyPr>
          <a:lstStyle/>
          <a:p>
            <a:pPr algn="ctr"/>
            <a:r>
              <a:rPr lang="en-CN" sz="3600" dirty="0"/>
              <a:t>Grand canonical potential</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670D421-B159-083E-0AE2-49B82A01A5E8}"/>
                  </a:ext>
                </a:extLst>
              </p:cNvPr>
              <p:cNvSpPr txBox="1"/>
              <p:nvPr/>
            </p:nvSpPr>
            <p:spPr>
              <a:xfrm>
                <a:off x="1939636" y="2282778"/>
                <a:ext cx="7952509" cy="2201500"/>
              </a:xfrm>
              <a:prstGeom prst="rect">
                <a:avLst/>
              </a:prstGeom>
              <a:noFill/>
            </p:spPr>
            <p:txBody>
              <a:bodyPr wrap="square">
                <a:spAutoFit/>
              </a:bodyPr>
              <a:lstStyle/>
              <a:p>
                <a:pPr algn="ctr"/>
                <a:endParaRPr lang="en-CN" sz="4000" dirty="0"/>
              </a:p>
              <a:p>
                <a:pPr algn="ctr"/>
                <a14:m>
                  <m:oMathPara xmlns:m="http://schemas.openxmlformats.org/officeDocument/2006/math">
                    <m:oMathParaPr>
                      <m:jc m:val="centerGroup"/>
                    </m:oMathParaPr>
                    <m:oMath xmlns:m="http://schemas.openxmlformats.org/officeDocument/2006/math">
                      <m:r>
                        <m:rPr>
                          <m:sty m:val="p"/>
                        </m:rPr>
                        <a:rPr lang="el-GR" sz="4000" i="1" smtClean="0">
                          <a:latin typeface="Cambria Math" panose="02040503050406030204" pitchFamily="18" charset="0"/>
                          <a:ea typeface="Cambria Math" panose="02040503050406030204" pitchFamily="18" charset="0"/>
                        </a:rPr>
                        <m:t>Ω</m:t>
                      </m:r>
                      <m:r>
                        <a:rPr lang="en-US" altLang="zh-CN" sz="4000" b="0" i="1" smtClean="0">
                          <a:latin typeface="Cambria Math" panose="02040503050406030204" pitchFamily="18" charset="0"/>
                          <a:ea typeface="Cambria Math" panose="02040503050406030204" pitchFamily="18" charset="0"/>
                        </a:rPr>
                        <m:t>=−</m:t>
                      </m:r>
                      <m:r>
                        <a:rPr lang="en-US" altLang="zh-CN" sz="4000" b="0" i="1" smtClean="0">
                          <a:latin typeface="Cambria Math" panose="02040503050406030204" pitchFamily="18" charset="0"/>
                          <a:ea typeface="Cambria Math" panose="02040503050406030204" pitchFamily="18" charset="0"/>
                        </a:rPr>
                        <m:t>𝜏</m:t>
                      </m:r>
                      <m:nary>
                        <m:naryPr>
                          <m:chr m:val="∑"/>
                          <m:supHide m:val="on"/>
                          <m:ctrlPr>
                            <a:rPr lang="en-US" altLang="zh-CN" sz="4000" b="0" i="1" smtClean="0">
                              <a:latin typeface="Cambria Math" panose="02040503050406030204" pitchFamily="18" charset="0"/>
                              <a:ea typeface="Cambria Math" panose="02040503050406030204" pitchFamily="18" charset="0"/>
                            </a:rPr>
                          </m:ctrlPr>
                        </m:naryPr>
                        <m:sub>
                          <m:r>
                            <m:rPr>
                              <m:brk m:alnAt="7"/>
                            </m:rPr>
                            <a:rPr lang="en-US" altLang="zh-CN" sz="4000" b="0" i="1" smtClean="0">
                              <a:latin typeface="Cambria Math" panose="02040503050406030204" pitchFamily="18" charset="0"/>
                              <a:ea typeface="Cambria Math" panose="02040503050406030204" pitchFamily="18" charset="0"/>
                            </a:rPr>
                            <m:t>𝑖</m:t>
                          </m:r>
                        </m:sub>
                        <m:sup/>
                        <m:e>
                          <m:func>
                            <m:funcPr>
                              <m:ctrlPr>
                                <a:rPr lang="en-US" altLang="zh-CN" sz="4000" b="0" i="1" smtClean="0">
                                  <a:latin typeface="Cambria Math" panose="02040503050406030204" pitchFamily="18" charset="0"/>
                                  <a:ea typeface="Cambria Math" panose="02040503050406030204" pitchFamily="18" charset="0"/>
                                </a:rPr>
                              </m:ctrlPr>
                            </m:funcPr>
                            <m:fName>
                              <m:r>
                                <m:rPr>
                                  <m:sty m:val="p"/>
                                </m:rPr>
                                <a:rPr lang="en-US" altLang="zh-CN" sz="4000" b="0" i="0" smtClean="0">
                                  <a:latin typeface="Cambria Math" panose="02040503050406030204" pitchFamily="18" charset="0"/>
                                  <a:ea typeface="Cambria Math" panose="02040503050406030204" pitchFamily="18" charset="0"/>
                                </a:rPr>
                                <m:t>log</m:t>
                              </m:r>
                            </m:fName>
                            <m:e>
                              <m:d>
                                <m:dPr>
                                  <m:begChr m:val="["/>
                                  <m:endChr m:val="]"/>
                                  <m:ctrlPr>
                                    <a:rPr lang="en-US" altLang="zh-CN" sz="4000" b="0" i="1" smtClean="0">
                                      <a:latin typeface="Cambria Math" panose="02040503050406030204" pitchFamily="18" charset="0"/>
                                      <a:ea typeface="Cambria Math" panose="02040503050406030204" pitchFamily="18" charset="0"/>
                                    </a:rPr>
                                  </m:ctrlPr>
                                </m:dPr>
                                <m:e>
                                  <m:r>
                                    <a:rPr lang="en-US" altLang="zh-CN" sz="4000" b="0" i="1" smtClean="0">
                                      <a:latin typeface="Cambria Math" panose="02040503050406030204" pitchFamily="18" charset="0"/>
                                      <a:ea typeface="Cambria Math" panose="02040503050406030204" pitchFamily="18" charset="0"/>
                                    </a:rPr>
                                    <m:t>1+</m:t>
                                  </m:r>
                                  <m:r>
                                    <a:rPr lang="en-US" altLang="zh-CN" sz="4000" b="0" i="1" smtClean="0">
                                      <a:latin typeface="Cambria Math" panose="02040503050406030204" pitchFamily="18" charset="0"/>
                                      <a:ea typeface="Cambria Math" panose="02040503050406030204" pitchFamily="18" charset="0"/>
                                    </a:rPr>
                                    <m:t>𝜆</m:t>
                                  </m:r>
                                  <m:sSup>
                                    <m:sSupPr>
                                      <m:ctrlPr>
                                        <a:rPr lang="en-US" altLang="zh-CN" sz="4000" b="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𝑒</m:t>
                                      </m:r>
                                    </m:e>
                                    <m:sup>
                                      <m:r>
                                        <a:rPr lang="en-US" altLang="zh-CN" sz="4000" b="0" i="1" smtClean="0">
                                          <a:latin typeface="Cambria Math" panose="02040503050406030204" pitchFamily="18" charset="0"/>
                                          <a:ea typeface="Cambria Math" panose="02040503050406030204" pitchFamily="18" charset="0"/>
                                        </a:rPr>
                                        <m:t>−</m:t>
                                      </m:r>
                                      <m:sSub>
                                        <m:sSubPr>
                                          <m:ctrlPr>
                                            <a:rPr lang="en-US" altLang="zh-CN" sz="4000" b="0" i="1" smtClean="0">
                                              <a:latin typeface="Cambria Math" panose="02040503050406030204" pitchFamily="18" charset="0"/>
                                              <a:ea typeface="Cambria Math" panose="02040503050406030204" pitchFamily="18" charset="0"/>
                                            </a:rPr>
                                          </m:ctrlPr>
                                        </m:sSubPr>
                                        <m:e>
                                          <m:r>
                                            <a:rPr lang="en-US" altLang="zh-CN" sz="4000" b="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ea typeface="Cambria Math" panose="02040503050406030204" pitchFamily="18" charset="0"/>
                                            </a:rPr>
                                            <m:t>𝑖</m:t>
                                          </m:r>
                                        </m:sub>
                                      </m:sSub>
                                      <m:r>
                                        <a:rPr lang="en-US" altLang="zh-CN" sz="4000" b="0" i="1" smtClean="0">
                                          <a:latin typeface="Cambria Math" panose="02040503050406030204" pitchFamily="18" charset="0"/>
                                          <a:ea typeface="Cambria Math" panose="02040503050406030204" pitchFamily="18" charset="0"/>
                                        </a:rPr>
                                        <m:t>/</m:t>
                                      </m:r>
                                      <m:r>
                                        <a:rPr lang="en-US" altLang="zh-CN" sz="4000" b="0" i="1" smtClean="0">
                                          <a:latin typeface="Cambria Math" panose="02040503050406030204" pitchFamily="18" charset="0"/>
                                          <a:ea typeface="Cambria Math" panose="02040503050406030204" pitchFamily="18" charset="0"/>
                                        </a:rPr>
                                        <m:t>𝜏</m:t>
                                      </m:r>
                                    </m:sup>
                                  </m:sSup>
                                </m:e>
                              </m:d>
                            </m:e>
                          </m:func>
                        </m:e>
                      </m:nary>
                    </m:oMath>
                  </m:oMathPara>
                </a14:m>
                <a:endParaRPr lang="en-CN" sz="4000" dirty="0"/>
              </a:p>
            </p:txBody>
          </p:sp>
        </mc:Choice>
        <mc:Fallback xmlns="">
          <p:sp>
            <p:nvSpPr>
              <p:cNvPr id="5" name="TextBox 4">
                <a:extLst>
                  <a:ext uri="{FF2B5EF4-FFF2-40B4-BE49-F238E27FC236}">
                    <a16:creationId xmlns:a16="http://schemas.microsoft.com/office/drawing/2014/main" id="{0670D421-B159-083E-0AE2-49B82A01A5E8}"/>
                  </a:ext>
                </a:extLst>
              </p:cNvPr>
              <p:cNvSpPr txBox="1">
                <a:spLocks noRot="1" noChangeAspect="1" noMove="1" noResize="1" noEditPoints="1" noAdjustHandles="1" noChangeArrowheads="1" noChangeShapeType="1" noTextEdit="1"/>
              </p:cNvSpPr>
              <p:nvPr/>
            </p:nvSpPr>
            <p:spPr>
              <a:xfrm>
                <a:off x="1939636" y="2282778"/>
                <a:ext cx="7952509" cy="2201500"/>
              </a:xfrm>
              <a:prstGeom prst="rect">
                <a:avLst/>
              </a:prstGeom>
              <a:blipFill>
                <a:blip r:embed="rId2"/>
                <a:stretch>
                  <a:fillRect t="-70286" b="-134286"/>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A8282F6A-A9D1-B96F-9770-DED6CD000BB3}"/>
              </a:ext>
            </a:extLst>
          </p:cNvPr>
          <p:cNvSpPr txBox="1"/>
          <p:nvPr/>
        </p:nvSpPr>
        <p:spPr>
          <a:xfrm>
            <a:off x="415636" y="235527"/>
            <a:ext cx="4668982" cy="369332"/>
          </a:xfrm>
          <a:prstGeom prst="rect">
            <a:avLst/>
          </a:prstGeom>
          <a:noFill/>
        </p:spPr>
        <p:txBody>
          <a:bodyPr wrap="square" rtlCol="0">
            <a:spAutoFit/>
          </a:bodyPr>
          <a:lstStyle/>
          <a:p>
            <a:r>
              <a:rPr lang="en-CN" dirty="0"/>
              <a:t>另外一种打开方式</a:t>
            </a:r>
            <a:r>
              <a:rPr lang="zh-CN" altLang="en-US" dirty="0"/>
              <a:t>（再</a:t>
            </a:r>
            <a:r>
              <a:rPr lang="zh-CN" altLang="en-CN" dirty="0"/>
              <a:t>一般些</a:t>
            </a:r>
            <a:r>
              <a:rPr lang="zh-CN" altLang="en-US" dirty="0"/>
              <a:t>！）</a:t>
            </a:r>
            <a:endParaRPr lang="en-CN" dirty="0"/>
          </a:p>
        </p:txBody>
      </p:sp>
    </p:spTree>
    <p:extLst>
      <p:ext uri="{BB962C8B-B14F-4D97-AF65-F5344CB8AC3E}">
        <p14:creationId xmlns:p14="http://schemas.microsoft.com/office/powerpoint/2010/main" val="1643587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670D421-B159-083E-0AE2-49B82A01A5E8}"/>
                  </a:ext>
                </a:extLst>
              </p:cNvPr>
              <p:cNvSpPr txBox="1"/>
              <p:nvPr/>
            </p:nvSpPr>
            <p:spPr>
              <a:xfrm>
                <a:off x="249383" y="0"/>
                <a:ext cx="11263744" cy="1811201"/>
              </a:xfrm>
              <a:prstGeom prst="rect">
                <a:avLst/>
              </a:prstGeom>
              <a:noFill/>
            </p:spPr>
            <p:txBody>
              <a:bodyPr wrap="square">
                <a:spAutoFit/>
              </a:bodyPr>
              <a:lstStyle/>
              <a:p>
                <a:pPr algn="ctr"/>
                <a:endParaRPr lang="en-CN" sz="4000" dirty="0"/>
              </a:p>
              <a:p>
                <a:pPr algn="ctr"/>
                <a14:m>
                  <m:oMathPara xmlns:m="http://schemas.openxmlformats.org/officeDocument/2006/math">
                    <m:oMathParaPr>
                      <m:jc m:val="centerGroup"/>
                    </m:oMathParaPr>
                    <m:oMath xmlns:m="http://schemas.openxmlformats.org/officeDocument/2006/math">
                      <m:r>
                        <m:rPr>
                          <m:sty m:val="p"/>
                        </m:rPr>
                        <a:rPr lang="el-GR" sz="3200" i="1" smtClean="0">
                          <a:latin typeface="Cambria Math" panose="02040503050406030204" pitchFamily="18" charset="0"/>
                          <a:ea typeface="Cambria Math" panose="02040503050406030204" pitchFamily="18" charset="0"/>
                        </a:rPr>
                        <m:t>Ω</m:t>
                      </m:r>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𝜏</m:t>
                      </m:r>
                      <m:d>
                        <m:dPr>
                          <m:ctrlPr>
                            <a:rPr lang="en-US" altLang="zh-CN" sz="3200" b="0" i="1" smtClean="0">
                              <a:latin typeface="Cambria Math" panose="02040503050406030204" pitchFamily="18" charset="0"/>
                              <a:ea typeface="Cambria Math" panose="02040503050406030204" pitchFamily="18" charset="0"/>
                            </a:rPr>
                          </m:ctrlPr>
                        </m:dPr>
                        <m:e>
                          <m:r>
                            <a:rPr lang="en-US" altLang="zh-CN" sz="3200" b="0" i="1" smtClean="0">
                              <a:latin typeface="Cambria Math" panose="02040503050406030204" pitchFamily="18" charset="0"/>
                              <a:ea typeface="Cambria Math" panose="02040503050406030204" pitchFamily="18" charset="0"/>
                            </a:rPr>
                            <m:t>2</m:t>
                          </m:r>
                          <m:r>
                            <a:rPr lang="en-US" altLang="zh-CN" sz="3200" b="0" i="1" smtClean="0">
                              <a:latin typeface="Cambria Math" panose="02040503050406030204" pitchFamily="18" charset="0"/>
                              <a:ea typeface="Cambria Math" panose="02040503050406030204" pitchFamily="18" charset="0"/>
                            </a:rPr>
                            <m:t>𝑠</m:t>
                          </m:r>
                          <m:r>
                            <a:rPr lang="en-US" altLang="zh-CN" sz="3200" b="0" i="1" smtClean="0">
                              <a:latin typeface="Cambria Math" panose="02040503050406030204" pitchFamily="18" charset="0"/>
                              <a:ea typeface="Cambria Math" panose="02040503050406030204" pitchFamily="18" charset="0"/>
                            </a:rPr>
                            <m:t>+1</m:t>
                          </m:r>
                        </m:e>
                      </m:d>
                      <m:f>
                        <m:fPr>
                          <m:ctrlPr>
                            <a:rPr lang="en-US" altLang="zh-CN" sz="3200" b="0" i="1" smtClean="0">
                              <a:latin typeface="Cambria Math" panose="02040503050406030204" pitchFamily="18" charset="0"/>
                              <a:ea typeface="Cambria Math" panose="02040503050406030204" pitchFamily="18" charset="0"/>
                            </a:rPr>
                          </m:ctrlPr>
                        </m:fPr>
                        <m:num>
                          <m:r>
                            <a:rPr lang="en-US" altLang="zh-CN" sz="3200" b="0" i="1" smtClean="0">
                              <a:latin typeface="Cambria Math" panose="02040503050406030204" pitchFamily="18" charset="0"/>
                              <a:ea typeface="Cambria Math" panose="02040503050406030204" pitchFamily="18" charset="0"/>
                            </a:rPr>
                            <m:t>𝑉</m:t>
                          </m:r>
                        </m:num>
                        <m:den>
                          <m:sSup>
                            <m:sSupPr>
                              <m:ctrlPr>
                                <a:rPr lang="en-US" altLang="zh-CN" sz="3200" b="0" i="1" smtClean="0">
                                  <a:latin typeface="Cambria Math" panose="02040503050406030204" pitchFamily="18" charset="0"/>
                                  <a:ea typeface="Cambria Math" panose="02040503050406030204" pitchFamily="18" charset="0"/>
                                </a:rPr>
                              </m:ctrlPr>
                            </m:sSupPr>
                            <m:e>
                              <m:d>
                                <m:dPr>
                                  <m:ctrlPr>
                                    <a:rPr lang="en-US" altLang="zh-CN" sz="3200" b="0" i="1" smtClean="0">
                                      <a:latin typeface="Cambria Math" panose="02040503050406030204" pitchFamily="18" charset="0"/>
                                      <a:ea typeface="Cambria Math" panose="02040503050406030204" pitchFamily="18" charset="0"/>
                                    </a:rPr>
                                  </m:ctrlPr>
                                </m:dPr>
                                <m:e>
                                  <m:r>
                                    <a:rPr lang="en-US" altLang="zh-CN" sz="3200" b="0" i="1" smtClean="0">
                                      <a:latin typeface="Cambria Math" panose="02040503050406030204" pitchFamily="18" charset="0"/>
                                      <a:ea typeface="Cambria Math" panose="02040503050406030204" pitchFamily="18" charset="0"/>
                                    </a:rPr>
                                    <m:t>2</m:t>
                                  </m:r>
                                  <m:r>
                                    <a:rPr lang="en-US" altLang="zh-CN" sz="3200" b="0" i="1" smtClean="0">
                                      <a:latin typeface="Cambria Math" panose="02040503050406030204" pitchFamily="18" charset="0"/>
                                      <a:ea typeface="Cambria Math" panose="02040503050406030204" pitchFamily="18" charset="0"/>
                                    </a:rPr>
                                    <m:t>𝜋</m:t>
                                  </m:r>
                                  <m:r>
                                    <a:rPr lang="en-US" altLang="zh-CN" sz="3200" b="0" i="1" smtClean="0">
                                      <a:latin typeface="Cambria Math" panose="02040503050406030204" pitchFamily="18" charset="0"/>
                                      <a:ea typeface="Cambria Math" panose="02040503050406030204" pitchFamily="18" charset="0"/>
                                    </a:rPr>
                                    <m:t>ℏ</m:t>
                                  </m:r>
                                </m:e>
                              </m:d>
                            </m:e>
                            <m:sup>
                              <m:r>
                                <a:rPr lang="en-US" altLang="zh-CN" sz="3200" b="0" i="1" smtClean="0">
                                  <a:latin typeface="Cambria Math" panose="02040503050406030204" pitchFamily="18" charset="0"/>
                                  <a:ea typeface="Cambria Math" panose="02040503050406030204" pitchFamily="18" charset="0"/>
                                </a:rPr>
                                <m:t>3</m:t>
                              </m:r>
                            </m:sup>
                          </m:sSup>
                        </m:den>
                      </m:f>
                      <m:r>
                        <a:rPr lang="en-US" altLang="zh-CN" sz="3200" b="0" i="1" smtClean="0">
                          <a:latin typeface="Cambria Math" panose="02040503050406030204" pitchFamily="18" charset="0"/>
                          <a:ea typeface="Cambria Math" panose="02040503050406030204" pitchFamily="18" charset="0"/>
                        </a:rPr>
                        <m:t>4</m:t>
                      </m:r>
                      <m:r>
                        <a:rPr lang="en-US" altLang="zh-CN" sz="3200" b="0" i="1" smtClean="0">
                          <a:latin typeface="Cambria Math" panose="02040503050406030204" pitchFamily="18" charset="0"/>
                          <a:ea typeface="Cambria Math" panose="02040503050406030204" pitchFamily="18" charset="0"/>
                        </a:rPr>
                        <m:t>𝜋</m:t>
                      </m:r>
                      <m:nary>
                        <m:naryPr>
                          <m:ctrlPr>
                            <a:rPr lang="en-US" altLang="zh-CN" sz="3200" b="0" i="1" smtClean="0">
                              <a:latin typeface="Cambria Math" panose="02040503050406030204" pitchFamily="18" charset="0"/>
                              <a:ea typeface="Cambria Math" panose="02040503050406030204" pitchFamily="18" charset="0"/>
                            </a:rPr>
                          </m:ctrlPr>
                        </m:naryPr>
                        <m:sub>
                          <m:r>
                            <m:rPr>
                              <m:brk m:alnAt="23"/>
                            </m:rPr>
                            <a:rPr lang="en-US" altLang="zh-CN" sz="3200" b="0" i="1" smtClean="0">
                              <a:latin typeface="Cambria Math" panose="02040503050406030204" pitchFamily="18" charset="0"/>
                              <a:ea typeface="Cambria Math" panose="02040503050406030204" pitchFamily="18" charset="0"/>
                            </a:rPr>
                            <m:t>0</m:t>
                          </m:r>
                        </m:sub>
                        <m:sup>
                          <m:r>
                            <a:rPr lang="en-US" altLang="zh-CN" sz="3200" b="0" i="1" smtClean="0">
                              <a:latin typeface="Cambria Math" panose="02040503050406030204" pitchFamily="18" charset="0"/>
                              <a:ea typeface="Cambria Math" panose="02040503050406030204" pitchFamily="18" charset="0"/>
                            </a:rPr>
                            <m:t>∞</m:t>
                          </m:r>
                        </m:sup>
                        <m:e>
                          <m:r>
                            <a:rPr lang="en-US" altLang="zh-CN" sz="3200" b="0" i="1" smtClean="0">
                              <a:latin typeface="Cambria Math" panose="02040503050406030204" pitchFamily="18" charset="0"/>
                              <a:ea typeface="Cambria Math" panose="02040503050406030204" pitchFamily="18" charset="0"/>
                            </a:rPr>
                            <m:t>𝑑𝑝</m:t>
                          </m:r>
                          <m:r>
                            <a:rPr lang="en-US" altLang="zh-CN" sz="3200" b="0" i="1" smtClean="0">
                              <a:latin typeface="Cambria Math" panose="02040503050406030204" pitchFamily="18" charset="0"/>
                              <a:ea typeface="Cambria Math" panose="02040503050406030204" pitchFamily="18" charset="0"/>
                            </a:rPr>
                            <m:t> </m:t>
                          </m:r>
                          <m:sSup>
                            <m:sSupPr>
                              <m:ctrlPr>
                                <a:rPr lang="en-US" altLang="zh-CN" sz="3200" b="0" i="1" smtClean="0">
                                  <a:latin typeface="Cambria Math" panose="02040503050406030204" pitchFamily="18" charset="0"/>
                                  <a:ea typeface="Cambria Math" panose="02040503050406030204" pitchFamily="18" charset="0"/>
                                </a:rPr>
                              </m:ctrlPr>
                            </m:sSupPr>
                            <m:e>
                              <m:r>
                                <a:rPr lang="en-US" altLang="zh-CN" sz="3200" b="0" i="1" smtClean="0">
                                  <a:latin typeface="Cambria Math" panose="02040503050406030204" pitchFamily="18" charset="0"/>
                                  <a:ea typeface="Cambria Math" panose="02040503050406030204" pitchFamily="18" charset="0"/>
                                </a:rPr>
                                <m:t>𝑝</m:t>
                              </m:r>
                            </m:e>
                            <m:sup>
                              <m:r>
                                <a:rPr lang="en-US" altLang="zh-CN" sz="3200" b="0" i="1" smtClean="0">
                                  <a:latin typeface="Cambria Math" panose="02040503050406030204" pitchFamily="18" charset="0"/>
                                  <a:ea typeface="Cambria Math" panose="02040503050406030204" pitchFamily="18" charset="0"/>
                                </a:rPr>
                                <m:t>2</m:t>
                              </m:r>
                            </m:sup>
                          </m:sSup>
                        </m:e>
                      </m:nary>
                      <m:r>
                        <a:rPr lang="en-US" altLang="zh-CN" sz="3200" b="0" i="1" smtClean="0">
                          <a:latin typeface="Cambria Math" panose="02040503050406030204" pitchFamily="18" charset="0"/>
                          <a:ea typeface="Cambria Math" panose="02040503050406030204" pitchFamily="18" charset="0"/>
                        </a:rPr>
                        <m:t>𝑙𝑜𝑔</m:t>
                      </m:r>
                      <m:d>
                        <m:dPr>
                          <m:ctrlPr>
                            <a:rPr lang="en-US" altLang="zh-CN" sz="3200" b="0" i="1" smtClean="0">
                              <a:latin typeface="Cambria Math" panose="02040503050406030204" pitchFamily="18" charset="0"/>
                              <a:ea typeface="Cambria Math" panose="02040503050406030204" pitchFamily="18" charset="0"/>
                            </a:rPr>
                          </m:ctrlPr>
                        </m:dPr>
                        <m:e>
                          <m:r>
                            <a:rPr lang="en-US" altLang="zh-CN" sz="3200" b="0" i="1" smtClean="0">
                              <a:latin typeface="Cambria Math" panose="02040503050406030204" pitchFamily="18" charset="0"/>
                              <a:ea typeface="Cambria Math" panose="02040503050406030204" pitchFamily="18" charset="0"/>
                            </a:rPr>
                            <m:t>1+</m:t>
                          </m:r>
                          <m:sSup>
                            <m:sSupPr>
                              <m:ctrlPr>
                                <a:rPr lang="en-US" altLang="zh-CN" sz="3200" b="0" i="1" smtClean="0">
                                  <a:latin typeface="Cambria Math" panose="02040503050406030204" pitchFamily="18" charset="0"/>
                                  <a:ea typeface="Cambria Math" panose="02040503050406030204" pitchFamily="18" charset="0"/>
                                </a:rPr>
                              </m:ctrlPr>
                            </m:sSupPr>
                            <m:e>
                              <m:r>
                                <a:rPr lang="en-US" altLang="zh-CN" sz="3200" b="0" i="1" smtClean="0">
                                  <a:latin typeface="Cambria Math" panose="02040503050406030204" pitchFamily="18" charset="0"/>
                                  <a:ea typeface="Cambria Math" panose="02040503050406030204" pitchFamily="18" charset="0"/>
                                </a:rPr>
                                <m:t>𝑒</m:t>
                              </m:r>
                            </m:e>
                            <m:sup>
                              <m:r>
                                <a:rPr lang="en-US" altLang="zh-CN" sz="3200" b="0" i="1" smtClean="0">
                                  <a:latin typeface="Cambria Math" panose="02040503050406030204" pitchFamily="18" charset="0"/>
                                  <a:ea typeface="Cambria Math" panose="02040503050406030204" pitchFamily="18" charset="0"/>
                                </a:rPr>
                                <m:t>−</m:t>
                              </m:r>
                              <m:f>
                                <m:fPr>
                                  <m:ctrlPr>
                                    <a:rPr lang="en-US" altLang="zh-CN" sz="3200" b="0" i="1" smtClean="0">
                                      <a:latin typeface="Cambria Math" panose="02040503050406030204" pitchFamily="18" charset="0"/>
                                      <a:ea typeface="Cambria Math" panose="02040503050406030204" pitchFamily="18" charset="0"/>
                                    </a:rPr>
                                  </m:ctrlPr>
                                </m:fPr>
                                <m:num>
                                  <m:r>
                                    <a:rPr lang="en-US" altLang="zh-CN" sz="3200" b="0" i="1" smtClean="0">
                                      <a:latin typeface="Cambria Math" panose="02040503050406030204" pitchFamily="18" charset="0"/>
                                      <a:ea typeface="Cambria Math" panose="02040503050406030204" pitchFamily="18" charset="0"/>
                                    </a:rPr>
                                    <m:t>𝜀</m:t>
                                  </m:r>
                                  <m:d>
                                    <m:dPr>
                                      <m:ctrlPr>
                                        <a:rPr lang="en-US" altLang="zh-CN" sz="3200" b="0" i="1" smtClean="0">
                                          <a:latin typeface="Cambria Math" panose="02040503050406030204" pitchFamily="18" charset="0"/>
                                          <a:ea typeface="Cambria Math" panose="02040503050406030204" pitchFamily="18" charset="0"/>
                                        </a:rPr>
                                      </m:ctrlPr>
                                    </m:dPr>
                                    <m:e>
                                      <m:r>
                                        <a:rPr lang="en-US" altLang="zh-CN" sz="3200" b="0" i="1" smtClean="0">
                                          <a:latin typeface="Cambria Math" panose="02040503050406030204" pitchFamily="18" charset="0"/>
                                          <a:ea typeface="Cambria Math" panose="02040503050406030204" pitchFamily="18" charset="0"/>
                                        </a:rPr>
                                        <m:t>𝑝</m:t>
                                      </m:r>
                                    </m:e>
                                  </m:d>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𝜇</m:t>
                                  </m:r>
                                </m:num>
                                <m:den>
                                  <m:r>
                                    <a:rPr lang="en-US" altLang="zh-CN" sz="3200" b="0" i="1" smtClean="0">
                                      <a:latin typeface="Cambria Math" panose="02040503050406030204" pitchFamily="18" charset="0"/>
                                      <a:ea typeface="Cambria Math" panose="02040503050406030204" pitchFamily="18" charset="0"/>
                                    </a:rPr>
                                    <m:t>𝜏</m:t>
                                  </m:r>
                                </m:den>
                              </m:f>
                            </m:sup>
                          </m:sSup>
                        </m:e>
                      </m:d>
                    </m:oMath>
                  </m:oMathPara>
                </a14:m>
                <a:endParaRPr lang="en-CN" sz="3200" dirty="0"/>
              </a:p>
            </p:txBody>
          </p:sp>
        </mc:Choice>
        <mc:Fallback xmlns="">
          <p:sp>
            <p:nvSpPr>
              <p:cNvPr id="5" name="TextBox 4">
                <a:extLst>
                  <a:ext uri="{FF2B5EF4-FFF2-40B4-BE49-F238E27FC236}">
                    <a16:creationId xmlns:a16="http://schemas.microsoft.com/office/drawing/2014/main" id="{0670D421-B159-083E-0AE2-49B82A01A5E8}"/>
                  </a:ext>
                </a:extLst>
              </p:cNvPr>
              <p:cNvSpPr txBox="1">
                <a:spLocks noRot="1" noChangeAspect="1" noMove="1" noResize="1" noEditPoints="1" noAdjustHandles="1" noChangeArrowheads="1" noChangeShapeType="1" noTextEdit="1"/>
              </p:cNvSpPr>
              <p:nvPr/>
            </p:nvSpPr>
            <p:spPr>
              <a:xfrm>
                <a:off x="249383" y="0"/>
                <a:ext cx="11263744" cy="1811201"/>
              </a:xfrm>
              <a:prstGeom prst="rect">
                <a:avLst/>
              </a:prstGeom>
              <a:blipFill>
                <a:blip r:embed="rId2"/>
                <a:stretch>
                  <a:fillRect t="-75524" b="-16293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6261B30-83F1-DEB2-607E-65DDC9F0BC3B}"/>
                  </a:ext>
                </a:extLst>
              </p:cNvPr>
              <p:cNvSpPr txBox="1"/>
              <p:nvPr/>
            </p:nvSpPr>
            <p:spPr>
              <a:xfrm>
                <a:off x="928255" y="2230582"/>
                <a:ext cx="6248400" cy="12990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𝜀</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𝑝</m:t>
                          </m:r>
                        </m:e>
                      </m:d>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𝑚</m:t>
                              </m:r>
                            </m:e>
                            <m:sup>
                              <m:r>
                                <a:rPr lang="en-US" b="0" i="1" smtClean="0">
                                  <a:latin typeface="Cambria Math" panose="02040503050406030204" pitchFamily="18" charset="0"/>
                                  <a:ea typeface="Cambria Math" panose="02040503050406030204" pitchFamily="18" charset="0"/>
                                </a:rPr>
                                <m:t>2</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4</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𝑝</m:t>
                              </m:r>
                            </m:e>
                            <m:sup>
                              <m:r>
                                <a:rPr lang="en-US" b="0" i="1" smtClean="0">
                                  <a:latin typeface="Cambria Math" panose="02040503050406030204" pitchFamily="18" charset="0"/>
                                  <a:ea typeface="Cambria Math" panose="02040503050406030204" pitchFamily="18" charset="0"/>
                                </a:rPr>
                                <m:t>2</m:t>
                              </m:r>
                            </m:sup>
                          </m:sSup>
                        </m:e>
                      </m:rad>
                    </m:oMath>
                  </m:oMathPara>
                </a14:m>
                <a:endParaRPr lang="en-CN" dirty="0"/>
              </a:p>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num>
                        <m:den>
                          <m:r>
                            <a:rPr lang="en-US" b="0" i="1" smtClean="0">
                              <a:latin typeface="Cambria Math" panose="02040503050406030204" pitchFamily="18" charset="0"/>
                            </a:rPr>
                            <m:t>𝜕</m:t>
                          </m:r>
                          <m:r>
                            <a:rPr lang="en-US" b="0" i="1" smtClean="0">
                              <a:latin typeface="Cambria Math" panose="02040503050406030204" pitchFamily="18" charset="0"/>
                            </a:rPr>
                            <m:t>𝑝</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num>
                        <m:den>
                          <m:r>
                            <a:rPr lang="en-US" b="0" i="1" smtClean="0">
                              <a:latin typeface="Cambria Math" panose="02040503050406030204" pitchFamily="18" charset="0"/>
                            </a:rPr>
                            <m:t>𝑚</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e>
                          </m:rad>
                        </m:den>
                      </m:f>
                    </m:oMath>
                  </m:oMathPara>
                </a14:m>
                <a:endParaRPr lang="en-CN" dirty="0"/>
              </a:p>
            </p:txBody>
          </p:sp>
        </mc:Choice>
        <mc:Fallback xmlns="">
          <p:sp>
            <p:nvSpPr>
              <p:cNvPr id="3" name="TextBox 2">
                <a:extLst>
                  <a:ext uri="{FF2B5EF4-FFF2-40B4-BE49-F238E27FC236}">
                    <a16:creationId xmlns:a16="http://schemas.microsoft.com/office/drawing/2014/main" id="{B6261B30-83F1-DEB2-607E-65DDC9F0BC3B}"/>
                  </a:ext>
                </a:extLst>
              </p:cNvPr>
              <p:cNvSpPr txBox="1">
                <a:spLocks noRot="1" noChangeAspect="1" noMove="1" noResize="1" noEditPoints="1" noAdjustHandles="1" noChangeArrowheads="1" noChangeShapeType="1" noTextEdit="1"/>
              </p:cNvSpPr>
              <p:nvPr/>
            </p:nvSpPr>
            <p:spPr>
              <a:xfrm>
                <a:off x="928255" y="2230582"/>
                <a:ext cx="6248400" cy="1299010"/>
              </a:xfrm>
              <a:prstGeom prst="rect">
                <a:avLst/>
              </a:prstGeom>
              <a:blipFill>
                <a:blip r:embed="rId3"/>
                <a:stretch>
                  <a:fillRect/>
                </a:stretch>
              </a:blipFill>
            </p:spPr>
            <p:txBody>
              <a:bodyPr/>
              <a:lstStyle/>
              <a:p>
                <a:r>
                  <a:rPr lang="en-CN">
                    <a:noFill/>
                  </a:rPr>
                  <a:t> </a:t>
                </a:r>
              </a:p>
            </p:txBody>
          </p:sp>
        </mc:Fallback>
      </mc:AlternateContent>
      <p:sp>
        <p:nvSpPr>
          <p:cNvPr id="6" name="Down Arrow 5">
            <a:extLst>
              <a:ext uri="{FF2B5EF4-FFF2-40B4-BE49-F238E27FC236}">
                <a16:creationId xmlns:a16="http://schemas.microsoft.com/office/drawing/2014/main" id="{6D67349C-8141-6F5C-E7E7-402B308B9BAA}"/>
              </a:ext>
            </a:extLst>
          </p:cNvPr>
          <p:cNvSpPr/>
          <p:nvPr/>
        </p:nvSpPr>
        <p:spPr>
          <a:xfrm>
            <a:off x="6096000" y="1901678"/>
            <a:ext cx="484632" cy="18112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2D08417-108D-1BD1-2237-E8EB055664CB}"/>
                  </a:ext>
                </a:extLst>
              </p:cNvPr>
              <p:cNvSpPr txBox="1"/>
              <p:nvPr/>
            </p:nvSpPr>
            <p:spPr>
              <a:xfrm>
                <a:off x="464128" y="4159969"/>
                <a:ext cx="11263744" cy="1831335"/>
              </a:xfrm>
              <a:prstGeom prst="rect">
                <a:avLst/>
              </a:prstGeom>
              <a:noFill/>
            </p:spPr>
            <p:txBody>
              <a:bodyPr wrap="square">
                <a:spAutoFit/>
              </a:bodyPr>
              <a:lstStyle/>
              <a:p>
                <a:pPr algn="ctr"/>
                <a:endParaRPr lang="en-CN" sz="4000" dirty="0"/>
              </a:p>
              <a:p>
                <a:pPr algn="ctr"/>
                <a14:m>
                  <m:oMathPara xmlns:m="http://schemas.openxmlformats.org/officeDocument/2006/math">
                    <m:oMathParaPr>
                      <m:jc m:val="centerGroup"/>
                    </m:oMathParaPr>
                    <m:oMath xmlns:m="http://schemas.openxmlformats.org/officeDocument/2006/math">
                      <m:r>
                        <m:rPr>
                          <m:sty m:val="p"/>
                        </m:rPr>
                        <a:rPr lang="el-GR" sz="3200" i="1" smtClean="0">
                          <a:latin typeface="Cambria Math" panose="02040503050406030204" pitchFamily="18" charset="0"/>
                          <a:ea typeface="Cambria Math" panose="02040503050406030204" pitchFamily="18" charset="0"/>
                        </a:rPr>
                        <m:t>Ω</m:t>
                      </m:r>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𝜏</m:t>
                      </m:r>
                      <m:d>
                        <m:dPr>
                          <m:ctrlPr>
                            <a:rPr lang="en-US" altLang="zh-CN" sz="3200" b="0" i="1" smtClean="0">
                              <a:latin typeface="Cambria Math" panose="02040503050406030204" pitchFamily="18" charset="0"/>
                              <a:ea typeface="Cambria Math" panose="02040503050406030204" pitchFamily="18" charset="0"/>
                            </a:rPr>
                          </m:ctrlPr>
                        </m:dPr>
                        <m:e>
                          <m:r>
                            <a:rPr lang="en-US" altLang="zh-CN" sz="3200" b="0" i="1" smtClean="0">
                              <a:latin typeface="Cambria Math" panose="02040503050406030204" pitchFamily="18" charset="0"/>
                              <a:ea typeface="Cambria Math" panose="02040503050406030204" pitchFamily="18" charset="0"/>
                            </a:rPr>
                            <m:t>2</m:t>
                          </m:r>
                          <m:r>
                            <a:rPr lang="en-US" altLang="zh-CN" sz="3200" b="0" i="1" smtClean="0">
                              <a:latin typeface="Cambria Math" panose="02040503050406030204" pitchFamily="18" charset="0"/>
                              <a:ea typeface="Cambria Math" panose="02040503050406030204" pitchFamily="18" charset="0"/>
                            </a:rPr>
                            <m:t>𝑠</m:t>
                          </m:r>
                          <m:r>
                            <a:rPr lang="en-US" altLang="zh-CN" sz="3200" b="0" i="1" smtClean="0">
                              <a:latin typeface="Cambria Math" panose="02040503050406030204" pitchFamily="18" charset="0"/>
                              <a:ea typeface="Cambria Math" panose="02040503050406030204" pitchFamily="18" charset="0"/>
                            </a:rPr>
                            <m:t>+1</m:t>
                          </m:r>
                        </m:e>
                      </m:d>
                      <m:f>
                        <m:fPr>
                          <m:ctrlPr>
                            <a:rPr lang="en-US" altLang="zh-CN" sz="3200" b="0" i="1" smtClean="0">
                              <a:latin typeface="Cambria Math" panose="02040503050406030204" pitchFamily="18" charset="0"/>
                              <a:ea typeface="Cambria Math" panose="02040503050406030204" pitchFamily="18" charset="0"/>
                            </a:rPr>
                          </m:ctrlPr>
                        </m:fPr>
                        <m:num>
                          <m:r>
                            <a:rPr lang="en-US" altLang="zh-CN" sz="3200" b="0" i="1" smtClean="0">
                              <a:latin typeface="Cambria Math" panose="02040503050406030204" pitchFamily="18" charset="0"/>
                              <a:ea typeface="Cambria Math" panose="02040503050406030204" pitchFamily="18" charset="0"/>
                            </a:rPr>
                            <m:t>𝑉</m:t>
                          </m:r>
                        </m:num>
                        <m:den>
                          <m:sSup>
                            <m:sSupPr>
                              <m:ctrlPr>
                                <a:rPr lang="en-US" altLang="zh-CN" sz="3200" b="0" i="1" smtClean="0">
                                  <a:latin typeface="Cambria Math" panose="02040503050406030204" pitchFamily="18" charset="0"/>
                                  <a:ea typeface="Cambria Math" panose="02040503050406030204" pitchFamily="18" charset="0"/>
                                </a:rPr>
                              </m:ctrlPr>
                            </m:sSupPr>
                            <m:e>
                              <m:r>
                                <a:rPr lang="en-US" altLang="zh-CN" sz="3200" b="0" i="1" smtClean="0">
                                  <a:latin typeface="Cambria Math" panose="02040503050406030204" pitchFamily="18" charset="0"/>
                                  <a:ea typeface="Cambria Math" panose="02040503050406030204" pitchFamily="18" charset="0"/>
                                </a:rPr>
                                <m:t>6</m:t>
                              </m:r>
                              <m:sSup>
                                <m:sSupPr>
                                  <m:ctrlPr>
                                    <a:rPr lang="en-US" altLang="zh-CN" sz="3200" b="0" i="1" smtClean="0">
                                      <a:latin typeface="Cambria Math" panose="02040503050406030204" pitchFamily="18" charset="0"/>
                                      <a:ea typeface="Cambria Math" panose="02040503050406030204" pitchFamily="18" charset="0"/>
                                    </a:rPr>
                                  </m:ctrlPr>
                                </m:sSupPr>
                                <m:e>
                                  <m:r>
                                    <a:rPr lang="en-US" altLang="zh-CN" sz="3200" b="0" i="1" smtClean="0">
                                      <a:latin typeface="Cambria Math" panose="02040503050406030204" pitchFamily="18" charset="0"/>
                                      <a:ea typeface="Cambria Math" panose="02040503050406030204" pitchFamily="18" charset="0"/>
                                    </a:rPr>
                                    <m:t>𝜋</m:t>
                                  </m:r>
                                </m:e>
                                <m:sup>
                                  <m:r>
                                    <a:rPr lang="en-US" altLang="zh-CN" sz="3200" b="0" i="1" smtClean="0">
                                      <a:latin typeface="Cambria Math" panose="02040503050406030204" pitchFamily="18" charset="0"/>
                                      <a:ea typeface="Cambria Math" panose="02040503050406030204" pitchFamily="18" charset="0"/>
                                    </a:rPr>
                                    <m:t>2</m:t>
                                  </m:r>
                                </m:sup>
                              </m:sSup>
                              <m:r>
                                <a:rPr lang="en-US" altLang="zh-CN" sz="3200" b="0" i="1" smtClean="0">
                                  <a:latin typeface="Cambria Math" panose="02040503050406030204" pitchFamily="18" charset="0"/>
                                  <a:ea typeface="Cambria Math" panose="02040503050406030204" pitchFamily="18" charset="0"/>
                                </a:rPr>
                                <m:t>ℏ</m:t>
                              </m:r>
                            </m:e>
                            <m:sup>
                              <m:r>
                                <a:rPr lang="en-US" altLang="zh-CN" sz="3200" b="0" i="1" smtClean="0">
                                  <a:latin typeface="Cambria Math" panose="02040503050406030204" pitchFamily="18" charset="0"/>
                                  <a:ea typeface="Cambria Math" panose="02040503050406030204" pitchFamily="18" charset="0"/>
                                </a:rPr>
                                <m:t>3</m:t>
                              </m:r>
                            </m:sup>
                          </m:sSup>
                        </m:den>
                      </m:f>
                      <m:nary>
                        <m:naryPr>
                          <m:ctrlPr>
                            <a:rPr lang="en-US" altLang="zh-CN" sz="3200" b="0" i="1" smtClean="0">
                              <a:latin typeface="Cambria Math" panose="02040503050406030204" pitchFamily="18" charset="0"/>
                              <a:ea typeface="Cambria Math" panose="02040503050406030204" pitchFamily="18" charset="0"/>
                            </a:rPr>
                          </m:ctrlPr>
                        </m:naryPr>
                        <m:sub>
                          <m:r>
                            <m:rPr>
                              <m:brk m:alnAt="23"/>
                            </m:rPr>
                            <a:rPr lang="en-US" altLang="zh-CN" sz="3200" b="0" i="1" smtClean="0">
                              <a:latin typeface="Cambria Math" panose="02040503050406030204" pitchFamily="18" charset="0"/>
                              <a:ea typeface="Cambria Math" panose="02040503050406030204" pitchFamily="18" charset="0"/>
                            </a:rPr>
                            <m:t>0</m:t>
                          </m:r>
                        </m:sub>
                        <m:sup>
                          <m:r>
                            <a:rPr lang="en-US" altLang="zh-CN" sz="3200" b="0" i="1" smtClean="0">
                              <a:latin typeface="Cambria Math" panose="02040503050406030204" pitchFamily="18" charset="0"/>
                              <a:ea typeface="Cambria Math" panose="02040503050406030204" pitchFamily="18" charset="0"/>
                            </a:rPr>
                            <m:t>∞</m:t>
                          </m:r>
                        </m:sup>
                        <m:e>
                          <m:r>
                            <a:rPr lang="en-US" altLang="zh-CN" sz="3200" b="0" i="1" smtClean="0">
                              <a:latin typeface="Cambria Math" panose="02040503050406030204" pitchFamily="18" charset="0"/>
                              <a:ea typeface="Cambria Math" panose="02040503050406030204" pitchFamily="18" charset="0"/>
                            </a:rPr>
                            <m:t>𝑑𝑝</m:t>
                          </m:r>
                          <m:r>
                            <a:rPr lang="en-US" altLang="zh-CN" sz="3200" b="0" i="1" smtClean="0">
                              <a:latin typeface="Cambria Math" panose="02040503050406030204" pitchFamily="18" charset="0"/>
                              <a:ea typeface="Cambria Math" panose="02040503050406030204" pitchFamily="18" charset="0"/>
                            </a:rPr>
                            <m:t> </m:t>
                          </m:r>
                          <m:sSup>
                            <m:sSupPr>
                              <m:ctrlPr>
                                <a:rPr lang="en-US" altLang="zh-CN" sz="3200" b="0" i="1" smtClean="0">
                                  <a:solidFill>
                                    <a:schemeClr val="accent6"/>
                                  </a:solidFill>
                                  <a:latin typeface="Cambria Math" panose="02040503050406030204" pitchFamily="18" charset="0"/>
                                  <a:ea typeface="Cambria Math" panose="02040503050406030204" pitchFamily="18" charset="0"/>
                                </a:rPr>
                              </m:ctrlPr>
                            </m:sSupPr>
                            <m:e>
                              <m:r>
                                <a:rPr lang="en-US" altLang="zh-CN" sz="3200" b="0" i="1" smtClean="0">
                                  <a:solidFill>
                                    <a:schemeClr val="accent6"/>
                                  </a:solidFill>
                                  <a:latin typeface="Cambria Math" panose="02040503050406030204" pitchFamily="18" charset="0"/>
                                  <a:ea typeface="Cambria Math" panose="02040503050406030204" pitchFamily="18" charset="0"/>
                                </a:rPr>
                                <m:t>𝑝</m:t>
                              </m:r>
                            </m:e>
                            <m:sup>
                              <m:r>
                                <a:rPr lang="en-US" altLang="zh-CN" sz="3200" b="0" i="1" smtClean="0">
                                  <a:solidFill>
                                    <a:schemeClr val="accent6"/>
                                  </a:solidFill>
                                  <a:latin typeface="Cambria Math" panose="02040503050406030204" pitchFamily="18" charset="0"/>
                                  <a:ea typeface="Cambria Math" panose="02040503050406030204" pitchFamily="18" charset="0"/>
                                </a:rPr>
                                <m:t>3</m:t>
                              </m:r>
                            </m:sup>
                          </m:sSup>
                        </m:e>
                      </m:nary>
                      <m:r>
                        <a:rPr lang="en-US" altLang="zh-CN" sz="3200" b="0" i="1" smtClean="0">
                          <a:solidFill>
                            <a:srgbClr val="7030A0"/>
                          </a:solidFill>
                          <a:latin typeface="Cambria Math" panose="02040503050406030204" pitchFamily="18" charset="0"/>
                          <a:ea typeface="Cambria Math" panose="02040503050406030204" pitchFamily="18" charset="0"/>
                        </a:rPr>
                        <m:t>𝑓</m:t>
                      </m:r>
                      <m:d>
                        <m:dPr>
                          <m:ctrlPr>
                            <a:rPr lang="en-US" altLang="zh-CN" sz="3200" b="0" i="1" smtClean="0">
                              <a:solidFill>
                                <a:srgbClr val="7030A0"/>
                              </a:solidFill>
                              <a:latin typeface="Cambria Math" panose="02040503050406030204" pitchFamily="18" charset="0"/>
                              <a:ea typeface="Cambria Math" panose="02040503050406030204" pitchFamily="18" charset="0"/>
                            </a:rPr>
                          </m:ctrlPr>
                        </m:dPr>
                        <m:e>
                          <m:r>
                            <a:rPr lang="en-US" altLang="zh-CN" sz="3200" b="0" i="1" smtClean="0">
                              <a:solidFill>
                                <a:srgbClr val="7030A0"/>
                              </a:solidFill>
                              <a:latin typeface="Cambria Math" panose="02040503050406030204" pitchFamily="18" charset="0"/>
                              <a:ea typeface="Cambria Math" panose="02040503050406030204" pitchFamily="18" charset="0"/>
                            </a:rPr>
                            <m:t>𝑝</m:t>
                          </m:r>
                        </m:e>
                      </m:d>
                      <m:sSub>
                        <m:sSubPr>
                          <m:ctrlPr>
                            <a:rPr lang="en-US" altLang="zh-CN" sz="3200" b="0" i="1" smtClean="0">
                              <a:solidFill>
                                <a:srgbClr val="FF0000"/>
                              </a:solidFill>
                              <a:latin typeface="Cambria Math" panose="02040503050406030204" pitchFamily="18" charset="0"/>
                              <a:ea typeface="Cambria Math" panose="02040503050406030204" pitchFamily="18" charset="0"/>
                            </a:rPr>
                          </m:ctrlPr>
                        </m:sSubPr>
                        <m:e>
                          <m:r>
                            <a:rPr lang="en-US" altLang="zh-CN" sz="3200" b="0" i="1" smtClean="0">
                              <a:solidFill>
                                <a:srgbClr val="FF0000"/>
                              </a:solidFill>
                              <a:latin typeface="Cambria Math" panose="02040503050406030204" pitchFamily="18" charset="0"/>
                              <a:ea typeface="Cambria Math" panose="02040503050406030204" pitchFamily="18" charset="0"/>
                            </a:rPr>
                            <m:t>𝑢</m:t>
                          </m:r>
                        </m:e>
                        <m:sub>
                          <m:r>
                            <a:rPr lang="en-US" altLang="zh-CN" sz="3200" b="0" i="1" smtClean="0">
                              <a:solidFill>
                                <a:srgbClr val="FF0000"/>
                              </a:solidFill>
                              <a:latin typeface="Cambria Math" panose="02040503050406030204" pitchFamily="18" charset="0"/>
                              <a:ea typeface="Cambria Math" panose="02040503050406030204" pitchFamily="18" charset="0"/>
                            </a:rPr>
                            <m:t>𝑝</m:t>
                          </m:r>
                        </m:sub>
                      </m:sSub>
                    </m:oMath>
                  </m:oMathPara>
                </a14:m>
                <a:endParaRPr lang="en-CN" sz="3200" dirty="0"/>
              </a:p>
            </p:txBody>
          </p:sp>
        </mc:Choice>
        <mc:Fallback xmlns="">
          <p:sp>
            <p:nvSpPr>
              <p:cNvPr id="8" name="TextBox 7">
                <a:extLst>
                  <a:ext uri="{FF2B5EF4-FFF2-40B4-BE49-F238E27FC236}">
                    <a16:creationId xmlns:a16="http://schemas.microsoft.com/office/drawing/2014/main" id="{D2D08417-108D-1BD1-2237-E8EB055664CB}"/>
                  </a:ext>
                </a:extLst>
              </p:cNvPr>
              <p:cNvSpPr txBox="1">
                <a:spLocks noRot="1" noChangeAspect="1" noMove="1" noResize="1" noEditPoints="1" noAdjustHandles="1" noChangeArrowheads="1" noChangeShapeType="1" noTextEdit="1"/>
              </p:cNvSpPr>
              <p:nvPr/>
            </p:nvSpPr>
            <p:spPr>
              <a:xfrm>
                <a:off x="464128" y="4159969"/>
                <a:ext cx="11263744" cy="1831335"/>
              </a:xfrm>
              <a:prstGeom prst="rect">
                <a:avLst/>
              </a:prstGeom>
              <a:blipFill>
                <a:blip r:embed="rId4"/>
                <a:stretch>
                  <a:fillRect t="-76552" b="-157931"/>
                </a:stretch>
              </a:blipFill>
            </p:spPr>
            <p:txBody>
              <a:bodyPr/>
              <a:lstStyle/>
              <a:p>
                <a:r>
                  <a:rPr lang="en-CN">
                    <a:noFill/>
                  </a:rPr>
                  <a:t> </a:t>
                </a:r>
              </a:p>
            </p:txBody>
          </p:sp>
        </mc:Fallback>
      </mc:AlternateContent>
    </p:spTree>
    <p:extLst>
      <p:ext uri="{BB962C8B-B14F-4D97-AF65-F5344CB8AC3E}">
        <p14:creationId xmlns:p14="http://schemas.microsoft.com/office/powerpoint/2010/main" val="2588927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03DF47-FCAC-E342-9C84-0E520F882D24}"/>
              </a:ext>
            </a:extLst>
          </p:cNvPr>
          <p:cNvSpPr txBox="1"/>
          <p:nvPr/>
        </p:nvSpPr>
        <p:spPr>
          <a:xfrm>
            <a:off x="415636" y="235527"/>
            <a:ext cx="4668982" cy="369332"/>
          </a:xfrm>
          <a:prstGeom prst="rect">
            <a:avLst/>
          </a:prstGeom>
          <a:noFill/>
        </p:spPr>
        <p:txBody>
          <a:bodyPr wrap="square" rtlCol="0">
            <a:spAutoFit/>
          </a:bodyPr>
          <a:lstStyle/>
          <a:p>
            <a:r>
              <a:rPr lang="en-CN" dirty="0"/>
              <a:t>另外一种打开方式</a:t>
            </a:r>
          </a:p>
        </p:txBody>
      </p:sp>
      <p:pic>
        <p:nvPicPr>
          <p:cNvPr id="6" name="Picture 5">
            <a:extLst>
              <a:ext uri="{FF2B5EF4-FFF2-40B4-BE49-F238E27FC236}">
                <a16:creationId xmlns:a16="http://schemas.microsoft.com/office/drawing/2014/main" id="{69331082-AC07-174A-9406-DB56BAD28597}"/>
              </a:ext>
            </a:extLst>
          </p:cNvPr>
          <p:cNvPicPr>
            <a:picLocks noChangeAspect="1"/>
          </p:cNvPicPr>
          <p:nvPr/>
        </p:nvPicPr>
        <p:blipFill>
          <a:blip r:embed="rId2"/>
          <a:stretch>
            <a:fillRect/>
          </a:stretch>
        </p:blipFill>
        <p:spPr>
          <a:xfrm>
            <a:off x="7107384" y="117763"/>
            <a:ext cx="3479747" cy="6622473"/>
          </a:xfrm>
          <a:prstGeom prst="rect">
            <a:avLst/>
          </a:prstGeom>
        </p:spPr>
      </p:pic>
      <p:pic>
        <p:nvPicPr>
          <p:cNvPr id="8" name="Picture 7">
            <a:extLst>
              <a:ext uri="{FF2B5EF4-FFF2-40B4-BE49-F238E27FC236}">
                <a16:creationId xmlns:a16="http://schemas.microsoft.com/office/drawing/2014/main" id="{AFE456C3-EB92-714F-84A7-56E00581563C}"/>
              </a:ext>
            </a:extLst>
          </p:cNvPr>
          <p:cNvPicPr>
            <a:picLocks noChangeAspect="1"/>
          </p:cNvPicPr>
          <p:nvPr/>
        </p:nvPicPr>
        <p:blipFill>
          <a:blip r:embed="rId3"/>
          <a:stretch>
            <a:fillRect/>
          </a:stretch>
        </p:blipFill>
        <p:spPr>
          <a:xfrm>
            <a:off x="19628" y="1621533"/>
            <a:ext cx="7047651" cy="2617958"/>
          </a:xfrm>
          <a:prstGeom prst="rect">
            <a:avLst/>
          </a:prstGeom>
        </p:spPr>
      </p:pic>
    </p:spTree>
    <p:extLst>
      <p:ext uri="{BB962C8B-B14F-4D97-AF65-F5344CB8AC3E}">
        <p14:creationId xmlns:p14="http://schemas.microsoft.com/office/powerpoint/2010/main" val="3024876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3F6FF4-AF96-4825-903C-39C092B9F2B4}"/>
              </a:ext>
            </a:extLst>
          </p:cNvPr>
          <p:cNvPicPr>
            <a:picLocks noChangeAspect="1"/>
          </p:cNvPicPr>
          <p:nvPr/>
        </p:nvPicPr>
        <p:blipFill>
          <a:blip r:embed="rId2"/>
          <a:stretch>
            <a:fillRect/>
          </a:stretch>
        </p:blipFill>
        <p:spPr>
          <a:xfrm>
            <a:off x="1762125" y="70848"/>
            <a:ext cx="8795038" cy="6591201"/>
          </a:xfrm>
          <a:prstGeom prst="rect">
            <a:avLst/>
          </a:prstGeom>
        </p:spPr>
      </p:pic>
    </p:spTree>
    <p:extLst>
      <p:ext uri="{BB962C8B-B14F-4D97-AF65-F5344CB8AC3E}">
        <p14:creationId xmlns:p14="http://schemas.microsoft.com/office/powerpoint/2010/main" val="1581901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6567FB-2B92-4247-9A0E-360150FE4994}"/>
              </a:ext>
            </a:extLst>
          </p:cNvPr>
          <p:cNvSpPr txBox="1"/>
          <p:nvPr/>
        </p:nvSpPr>
        <p:spPr>
          <a:xfrm>
            <a:off x="10363200" y="6262255"/>
            <a:ext cx="1510145" cy="369332"/>
          </a:xfrm>
          <a:prstGeom prst="rect">
            <a:avLst/>
          </a:prstGeom>
          <a:noFill/>
        </p:spPr>
        <p:txBody>
          <a:bodyPr wrap="square" rtlCol="0">
            <a:spAutoFit/>
          </a:bodyPr>
          <a:lstStyle/>
          <a:p>
            <a:r>
              <a:rPr lang="en-US" altLang="zh-CN" dirty="0"/>
              <a:t>2022.03.10</a:t>
            </a:r>
            <a:endParaRPr lang="en-C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48DC18D-AD76-2441-AF1A-39D4CE0A9C8A}"/>
                  </a:ext>
                </a:extLst>
              </p:cNvPr>
              <p:cNvSpPr txBox="1"/>
              <p:nvPr/>
            </p:nvSpPr>
            <p:spPr>
              <a:xfrm>
                <a:off x="318655" y="215472"/>
                <a:ext cx="11319163" cy="6231449"/>
              </a:xfrm>
              <a:prstGeom prst="rect">
                <a:avLst/>
              </a:prstGeom>
              <a:noFill/>
            </p:spPr>
            <p:txBody>
              <a:bodyPr wrap="square" rtlCol="0">
                <a:spAutoFit/>
              </a:bodyPr>
              <a:lstStyle/>
              <a:p>
                <a:pPr marL="285750" indent="-285750">
                  <a:buFont typeface="Arial" panose="020B0604020202020204" pitchFamily="34" charset="0"/>
                  <a:buChar char="•"/>
                </a:pPr>
                <a:r>
                  <a:rPr lang="en-CN" dirty="0"/>
                  <a:t>星体的体积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rPr>
                          <m:t>3</m:t>
                        </m:r>
                      </m:den>
                    </m:f>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3</m:t>
                        </m:r>
                      </m:sup>
                    </m:sSup>
                    <m:r>
                      <a:rPr lang="en-US" b="0" i="1" smtClean="0">
                        <a:latin typeface="Cambria Math" panose="02040503050406030204" pitchFamily="18" charset="0"/>
                      </a:rPr>
                      <m:t>,</m:t>
                    </m:r>
                  </m:oMath>
                </a14:m>
                <a:r>
                  <a:rPr lang="en-CN" dirty="0"/>
                  <a:t> N个电子</a:t>
                </a:r>
                <a:r>
                  <a:rPr lang="zh-CN" altLang="en-US" dirty="0"/>
                  <a:t>，质子和中子的数目</a:t>
                </a:r>
                <a:r>
                  <a:rPr lang="en-US" altLang="zh-CN" dirty="0"/>
                  <a:t>2N(?)</a:t>
                </a:r>
                <a:r>
                  <a:rPr lang="zh-CN" altLang="en-US" dirty="0"/>
                  <a:t>，星体的质量</a:t>
                </a:r>
                <a:r>
                  <a:rPr lang="en-US" altLang="zh-CN" dirty="0"/>
                  <a:t> </a:t>
                </a:r>
                <a14:m>
                  <m:oMath xmlns:m="http://schemas.openxmlformats.org/officeDocument/2006/math">
                    <m:r>
                      <a:rPr lang="en-US" altLang="zh-CN" b="0" i="1" smtClean="0">
                        <a:latin typeface="Cambria Math" panose="02040503050406030204" pitchFamily="18" charset="0"/>
                      </a:rPr>
                      <m:t>2</m:t>
                    </m:r>
                    <m:r>
                      <a:rPr lang="en-US" altLang="zh-CN" b="0" i="1" smtClean="0">
                        <a:latin typeface="Cambria Math" panose="02040503050406030204" pitchFamily="18" charset="0"/>
                      </a:rPr>
                      <m:t>𝑁</m:t>
                    </m:r>
                    <m:sSub>
                      <m:sSubPr>
                        <m:ctrlPr>
                          <a:rPr lang="en-US" altLang="zh-CN" b="0" i="1" smtClean="0">
                            <a:solidFill>
                              <a:srgbClr val="FF0000"/>
                            </a:solidFill>
                            <a:latin typeface="Cambria Math" panose="02040503050406030204" pitchFamily="18" charset="0"/>
                          </a:rPr>
                        </m:ctrlPr>
                      </m:sSubPr>
                      <m:e>
                        <m:r>
                          <a:rPr lang="en-US" altLang="zh-CN" b="0" i="1" smtClean="0">
                            <a:solidFill>
                              <a:srgbClr val="FF0000"/>
                            </a:solidFill>
                            <a:latin typeface="Cambria Math" panose="02040503050406030204" pitchFamily="18" charset="0"/>
                          </a:rPr>
                          <m:t>𝑚</m:t>
                        </m:r>
                      </m:e>
                      <m:sub>
                        <m:r>
                          <a:rPr lang="en-US" altLang="zh-CN" b="0" i="1" smtClean="0">
                            <a:solidFill>
                              <a:srgbClr val="FF0000"/>
                            </a:solidFill>
                            <a:latin typeface="Cambria Math" panose="02040503050406030204" pitchFamily="18" charset="0"/>
                          </a:rPr>
                          <m:t>𝑝</m:t>
                        </m:r>
                      </m:sub>
                    </m:sSub>
                  </m:oMath>
                </a14:m>
                <a:endParaRPr lang="en-CN" dirty="0"/>
              </a:p>
              <a:p>
                <a:pPr marL="285750" indent="-285750">
                  <a:buFont typeface="Arial" panose="020B0604020202020204" pitchFamily="34" charset="0"/>
                  <a:buChar char="•"/>
                </a:pPr>
                <a:r>
                  <a:rPr lang="en-CN" dirty="0"/>
                  <a:t>假设电子气体是高度简并的</a:t>
                </a:r>
                <a:r>
                  <a:rPr lang="zh-CN" altLang="en-US" dirty="0"/>
                  <a:t>，前面已经告诉我们费米动量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𝐹</m:t>
                        </m:r>
                      </m:sub>
                    </m:sSub>
                    <m:r>
                      <a:rPr lang="en-US" altLang="zh-CN" b="0" i="1" smtClean="0">
                        <a:latin typeface="Cambria Math" panose="02040503050406030204" pitchFamily="18" charset="0"/>
                      </a:rPr>
                      <m:t>=</m:t>
                    </m:r>
                    <m:r>
                      <a:rPr lang="en-US" altLang="zh-CN" b="0" i="1" smtClean="0">
                        <a:solidFill>
                          <a:schemeClr val="accent1"/>
                        </a:solidFill>
                        <a:latin typeface="Cambria Math" panose="02040503050406030204" pitchFamily="18" charset="0"/>
                        <a:ea typeface="Cambria Math" panose="02040503050406030204" pitchFamily="18" charset="0"/>
                      </a:rPr>
                      <m:t>ℏ</m:t>
                    </m:r>
                    <m:sSup>
                      <m:sSupPr>
                        <m:ctrlPr>
                          <a:rPr lang="en-US" altLang="zh-CN" b="0" i="1" smtClean="0">
                            <a:solidFill>
                              <a:schemeClr val="accent1"/>
                            </a:solidFill>
                            <a:latin typeface="Cambria Math" panose="02040503050406030204" pitchFamily="18" charset="0"/>
                            <a:ea typeface="Cambria Math" panose="02040503050406030204" pitchFamily="18" charset="0"/>
                          </a:rPr>
                        </m:ctrlPr>
                      </m:sSupPr>
                      <m:e>
                        <m:d>
                          <m:dPr>
                            <m:ctrlPr>
                              <a:rPr lang="en-US" altLang="zh-CN" b="0" i="1" smtClean="0">
                                <a:solidFill>
                                  <a:schemeClr val="accent1"/>
                                </a:solidFill>
                                <a:latin typeface="Cambria Math" panose="02040503050406030204" pitchFamily="18" charset="0"/>
                                <a:ea typeface="Cambria Math" panose="02040503050406030204" pitchFamily="18" charset="0"/>
                              </a:rPr>
                            </m:ctrlPr>
                          </m:dPr>
                          <m:e>
                            <m:r>
                              <a:rPr lang="en-US" altLang="zh-CN" b="0" i="1" smtClean="0">
                                <a:solidFill>
                                  <a:schemeClr val="accent1"/>
                                </a:solidFill>
                                <a:latin typeface="Cambria Math" panose="02040503050406030204" pitchFamily="18" charset="0"/>
                                <a:ea typeface="Cambria Math" panose="02040503050406030204" pitchFamily="18" charset="0"/>
                              </a:rPr>
                              <m:t>3</m:t>
                            </m:r>
                            <m:sSup>
                              <m:sSupPr>
                                <m:ctrlPr>
                                  <a:rPr lang="en-US" altLang="zh-CN" b="0" i="1" smtClean="0">
                                    <a:solidFill>
                                      <a:schemeClr val="accent1"/>
                                    </a:solidFill>
                                    <a:latin typeface="Cambria Math" panose="02040503050406030204" pitchFamily="18" charset="0"/>
                                    <a:ea typeface="Cambria Math" panose="02040503050406030204" pitchFamily="18" charset="0"/>
                                  </a:rPr>
                                </m:ctrlPr>
                              </m:sSupPr>
                              <m:e>
                                <m:r>
                                  <a:rPr lang="en-US" altLang="zh-CN" b="0" i="1" smtClean="0">
                                    <a:solidFill>
                                      <a:schemeClr val="accent1"/>
                                    </a:solidFill>
                                    <a:latin typeface="Cambria Math" panose="02040503050406030204" pitchFamily="18" charset="0"/>
                                    <a:ea typeface="Cambria Math" panose="02040503050406030204" pitchFamily="18" charset="0"/>
                                  </a:rPr>
                                  <m:t>𝜋</m:t>
                                </m:r>
                              </m:e>
                              <m:sup>
                                <m:r>
                                  <a:rPr lang="en-US" altLang="zh-CN" b="0" i="1" smtClean="0">
                                    <a:solidFill>
                                      <a:schemeClr val="accent1"/>
                                    </a:solidFill>
                                    <a:latin typeface="Cambria Math" panose="02040503050406030204" pitchFamily="18" charset="0"/>
                                    <a:ea typeface="Cambria Math" panose="02040503050406030204" pitchFamily="18" charset="0"/>
                                  </a:rPr>
                                  <m:t>2</m:t>
                                </m:r>
                              </m:sup>
                            </m:sSup>
                          </m:e>
                        </m:d>
                      </m:e>
                      <m:sup>
                        <m:r>
                          <a:rPr lang="en-US" altLang="zh-CN" b="0" i="1" smtClean="0">
                            <a:solidFill>
                              <a:schemeClr val="accent1"/>
                            </a:solidFill>
                            <a:latin typeface="Cambria Math" panose="02040503050406030204" pitchFamily="18" charset="0"/>
                            <a:ea typeface="Cambria Math" panose="02040503050406030204" pitchFamily="18" charset="0"/>
                          </a:rPr>
                          <m:t>1/3</m:t>
                        </m:r>
                      </m:sup>
                    </m:sSup>
                    <m:sSup>
                      <m:sSupPr>
                        <m:ctrlPr>
                          <a:rPr lang="en-US" altLang="zh-CN" b="0" i="1" smtClean="0">
                            <a:latin typeface="Cambria Math" panose="02040503050406030204" pitchFamily="18" charset="0"/>
                            <a:ea typeface="Cambria Math" panose="02040503050406030204" pitchFamily="18" charset="0"/>
                          </a:rPr>
                        </m:ctrlPr>
                      </m:sSupPr>
                      <m:e>
                        <m:d>
                          <m:dPr>
                            <m:ctrlPr>
                              <a:rPr lang="en-US" altLang="zh-CN" b="0" i="1" smtClean="0">
                                <a:latin typeface="Cambria Math" panose="02040503050406030204" pitchFamily="18" charset="0"/>
                                <a:ea typeface="Cambria Math" panose="02040503050406030204" pitchFamily="18" charset="0"/>
                              </a:rPr>
                            </m:ctrlPr>
                          </m:dPr>
                          <m:e>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𝑁</m:t>
                                </m:r>
                              </m:num>
                              <m:den>
                                <m:r>
                                  <a:rPr lang="en-US" altLang="zh-CN" b="0" i="1" smtClean="0">
                                    <a:latin typeface="Cambria Math" panose="02040503050406030204" pitchFamily="18" charset="0"/>
                                    <a:ea typeface="Cambria Math" panose="02040503050406030204" pitchFamily="18" charset="0"/>
                                  </a:rPr>
                                  <m:t>𝑉</m:t>
                                </m:r>
                              </m:den>
                            </m:f>
                          </m:e>
                        </m:d>
                      </m:e>
                      <m:sup>
                        <m:r>
                          <a:rPr lang="en-US" altLang="zh-CN" b="0" i="1" smtClean="0">
                            <a:latin typeface="Cambria Math" panose="02040503050406030204" pitchFamily="18" charset="0"/>
                            <a:ea typeface="Cambria Math" panose="02040503050406030204" pitchFamily="18" charset="0"/>
                          </a:rPr>
                          <m:t>1/3</m:t>
                        </m:r>
                      </m:sup>
                    </m:sSup>
                    <m:r>
                      <a:rPr lang="en-US" altLang="zh-CN" b="0" i="1" smtClean="0">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m:rPr>
                            <m:sty m:val="p"/>
                          </m:rPr>
                          <a:rPr lang="el-GR" altLang="zh-CN" i="1" smtClean="0">
                            <a:solidFill>
                              <a:schemeClr val="accent1"/>
                            </a:solidFill>
                            <a:latin typeface="Cambria Math" panose="02040503050406030204" pitchFamily="18" charset="0"/>
                            <a:ea typeface="Cambria Math" panose="02040503050406030204" pitchFamily="18" charset="0"/>
                          </a:rPr>
                          <m:t>Λ</m:t>
                        </m:r>
                        <m:d>
                          <m:dPr>
                            <m:ctrlPr>
                              <a:rPr lang="en-US" altLang="zh-CN" i="1">
                                <a:latin typeface="Cambria Math" panose="02040503050406030204" pitchFamily="18" charset="0"/>
                                <a:ea typeface="Cambria Math" panose="02040503050406030204" pitchFamily="18" charset="0"/>
                              </a:rPr>
                            </m:ctrlPr>
                          </m:dPr>
                          <m:e>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𝑁</m:t>
                                </m:r>
                              </m:num>
                              <m:den>
                                <m:r>
                                  <a:rPr lang="en-US" altLang="zh-CN" i="1">
                                    <a:latin typeface="Cambria Math" panose="02040503050406030204" pitchFamily="18" charset="0"/>
                                    <a:ea typeface="Cambria Math" panose="02040503050406030204" pitchFamily="18" charset="0"/>
                                  </a:rPr>
                                  <m:t>𝑉</m:t>
                                </m:r>
                              </m:den>
                            </m:f>
                          </m:e>
                        </m:d>
                      </m:e>
                      <m:sup>
                        <m:r>
                          <a:rPr lang="en-US" altLang="zh-CN" i="1">
                            <a:latin typeface="Cambria Math" panose="02040503050406030204" pitchFamily="18" charset="0"/>
                            <a:ea typeface="Cambria Math" panose="02040503050406030204" pitchFamily="18" charset="0"/>
                          </a:rPr>
                          <m:t>1/3</m:t>
                        </m:r>
                      </m:sup>
                    </m:sSup>
                  </m:oMath>
                </a14:m>
                <a:endParaRPr lang="en-CN" dirty="0"/>
              </a:p>
              <a:p>
                <a:pPr marL="285750" indent="-285750">
                  <a:buFont typeface="Arial" panose="020B0604020202020204" pitchFamily="34" charset="0"/>
                  <a:buChar char="•"/>
                </a:pPr>
                <a:r>
                  <a:rPr lang="en-CN" dirty="0"/>
                  <a:t>电子气体的总动能为</a:t>
                </a:r>
                <a14:m>
                  <m:oMath xmlns:m="http://schemas.openxmlformats.org/officeDocument/2006/math">
                    <m:r>
                      <a:rPr lang="en-US" b="0" i="1" smtClean="0">
                        <a:solidFill>
                          <a:srgbClr val="FF0000"/>
                        </a:solidFill>
                        <a:latin typeface="Cambria Math" panose="02040503050406030204" pitchFamily="18" charset="0"/>
                      </a:rPr>
                      <m:t>𝐾</m:t>
                    </m:r>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3</m:t>
                        </m:r>
                        <m:r>
                          <a:rPr lang="en-US" b="0" i="1" smtClean="0">
                            <a:solidFill>
                              <a:srgbClr val="FF0000"/>
                            </a:solidFill>
                            <a:latin typeface="Cambria Math" panose="02040503050406030204" pitchFamily="18" charset="0"/>
                          </a:rPr>
                          <m:t>𝑉</m:t>
                        </m:r>
                      </m:num>
                      <m:den>
                        <m:sSup>
                          <m:sSupPr>
                            <m:ctrlPr>
                              <a:rPr lang="en-US" b="0" i="1" smtClean="0">
                                <a:solidFill>
                                  <a:srgbClr val="FF0000"/>
                                </a:solidFill>
                                <a:latin typeface="Cambria Math" panose="02040503050406030204" pitchFamily="18" charset="0"/>
                              </a:rPr>
                            </m:ctrlPr>
                          </m:sSupPr>
                          <m:e>
                            <m:r>
                              <m:rPr>
                                <m:sty m:val="p"/>
                              </m:rPr>
                              <a:rPr lang="el-GR" b="0" i="1" smtClean="0">
                                <a:solidFill>
                                  <a:srgbClr val="FF0000"/>
                                </a:solidFill>
                                <a:latin typeface="Cambria Math" panose="02040503050406030204" pitchFamily="18" charset="0"/>
                                <a:ea typeface="Cambria Math" panose="02040503050406030204" pitchFamily="18" charset="0"/>
                              </a:rPr>
                              <m:t>Λ</m:t>
                            </m:r>
                          </m:e>
                          <m:sup>
                            <m:r>
                              <a:rPr lang="en-US" b="0" i="1" smtClean="0">
                                <a:solidFill>
                                  <a:srgbClr val="FF0000"/>
                                </a:solidFill>
                                <a:latin typeface="Cambria Math" panose="02040503050406030204" pitchFamily="18" charset="0"/>
                              </a:rPr>
                              <m:t>3</m:t>
                            </m:r>
                          </m:sup>
                        </m:sSup>
                      </m:den>
                    </m:f>
                    <m:nary>
                      <m:naryPr>
                        <m:ctrlPr>
                          <a:rPr lang="en-US" b="0" i="1" smtClean="0">
                            <a:solidFill>
                              <a:srgbClr val="FF0000"/>
                            </a:solidFill>
                            <a:latin typeface="Cambria Math" panose="02040503050406030204" pitchFamily="18" charset="0"/>
                          </a:rPr>
                        </m:ctrlPr>
                      </m:naryPr>
                      <m:sub>
                        <m:r>
                          <m:rPr>
                            <m:brk m:alnAt="23"/>
                          </m:rPr>
                          <a:rPr lang="en-US" b="0" i="1" smtClean="0">
                            <a:solidFill>
                              <a:srgbClr val="FF0000"/>
                            </a:solidFill>
                            <a:latin typeface="Cambria Math" panose="02040503050406030204" pitchFamily="18" charset="0"/>
                          </a:rPr>
                          <m:t>0</m:t>
                        </m:r>
                      </m:sub>
                      <m:sup>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𝑘</m:t>
                            </m:r>
                          </m:e>
                          <m:sub>
                            <m:r>
                              <a:rPr lang="en-US" b="0" i="1" smtClean="0">
                                <a:solidFill>
                                  <a:srgbClr val="FF0000"/>
                                </a:solidFill>
                                <a:latin typeface="Cambria Math" panose="02040503050406030204" pitchFamily="18" charset="0"/>
                              </a:rPr>
                              <m:t>𝐹</m:t>
                            </m:r>
                          </m:sub>
                        </m:sSub>
                      </m:sup>
                      <m:e>
                        <m:f>
                          <m:fPr>
                            <m:ctrlPr>
                              <a:rPr lang="en-US" b="0" i="1" smtClean="0">
                                <a:solidFill>
                                  <a:srgbClr val="FF0000"/>
                                </a:solidFill>
                                <a:latin typeface="Cambria Math" panose="02040503050406030204" pitchFamily="18" charset="0"/>
                              </a:rPr>
                            </m:ctrlPr>
                          </m:fPr>
                          <m:num>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𝑝</m:t>
                                </m:r>
                              </m:e>
                              <m:sup>
                                <m:r>
                                  <a:rPr lang="en-US" b="0" i="1" smtClean="0">
                                    <a:solidFill>
                                      <a:srgbClr val="FF0000"/>
                                    </a:solidFill>
                                    <a:latin typeface="Cambria Math" panose="02040503050406030204" pitchFamily="18" charset="0"/>
                                  </a:rPr>
                                  <m:t>2</m:t>
                                </m:r>
                              </m:sup>
                            </m:sSup>
                          </m:num>
                          <m:den>
                            <m:r>
                              <a:rPr lang="en-US" b="0" i="1" smtClean="0">
                                <a:solidFill>
                                  <a:srgbClr val="FF0000"/>
                                </a:solidFill>
                                <a:latin typeface="Cambria Math" panose="02040503050406030204" pitchFamily="18" charset="0"/>
                              </a:rPr>
                              <m:t>2</m:t>
                            </m:r>
                            <m:r>
                              <a:rPr lang="en-US" b="0" i="1" smtClean="0">
                                <a:solidFill>
                                  <a:srgbClr val="FF0000"/>
                                </a:solidFill>
                                <a:latin typeface="Cambria Math" panose="02040503050406030204" pitchFamily="18" charset="0"/>
                              </a:rPr>
                              <m:t>𝑚</m:t>
                            </m:r>
                          </m:den>
                        </m:f>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𝑝</m:t>
                            </m:r>
                          </m:e>
                          <m:sup>
                            <m:r>
                              <a:rPr lang="en-US" b="0" i="1" smtClean="0">
                                <a:solidFill>
                                  <a:srgbClr val="FF0000"/>
                                </a:solidFill>
                                <a:latin typeface="Cambria Math" panose="02040503050406030204" pitchFamily="18" charset="0"/>
                              </a:rPr>
                              <m:t>2</m:t>
                            </m:r>
                          </m:sup>
                        </m:sSup>
                        <m:r>
                          <a:rPr lang="en-US" b="0" i="1" smtClean="0">
                            <a:solidFill>
                              <a:srgbClr val="FF0000"/>
                            </a:solidFill>
                            <a:latin typeface="Cambria Math" panose="02040503050406030204" pitchFamily="18" charset="0"/>
                          </a:rPr>
                          <m:t>𝑑𝑝</m:t>
                        </m:r>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3</m:t>
                            </m:r>
                          </m:num>
                          <m:den>
                            <m:r>
                              <a:rPr lang="en-US" b="0" i="1" smtClean="0">
                                <a:solidFill>
                                  <a:srgbClr val="FF0000"/>
                                </a:solidFill>
                                <a:latin typeface="Cambria Math" panose="02040503050406030204" pitchFamily="18" charset="0"/>
                              </a:rPr>
                              <m:t>5</m:t>
                            </m:r>
                          </m:den>
                        </m:f>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𝑁</m:t>
                        </m:r>
                        <m:f>
                          <m:fPr>
                            <m:ctrlPr>
                              <a:rPr lang="en-US" b="0" i="1" smtClean="0">
                                <a:solidFill>
                                  <a:srgbClr val="FF0000"/>
                                </a:solidFill>
                                <a:latin typeface="Cambria Math" panose="02040503050406030204" pitchFamily="18" charset="0"/>
                              </a:rPr>
                            </m:ctrlPr>
                          </m:fPr>
                          <m:num>
                            <m:sSup>
                              <m:sSupPr>
                                <m:ctrlPr>
                                  <a:rPr lang="en-US" b="0" i="1" smtClean="0">
                                    <a:solidFill>
                                      <a:srgbClr val="FF0000"/>
                                    </a:solidFill>
                                    <a:latin typeface="Cambria Math" panose="02040503050406030204" pitchFamily="18" charset="0"/>
                                  </a:rPr>
                                </m:ctrlPr>
                              </m:sSupPr>
                              <m:e>
                                <m:r>
                                  <m:rPr>
                                    <m:sty m:val="p"/>
                                  </m:rPr>
                                  <a:rPr lang="el-GR" b="0" i="1" smtClean="0">
                                    <a:solidFill>
                                      <a:srgbClr val="FF0000"/>
                                    </a:solidFill>
                                    <a:latin typeface="Cambria Math" panose="02040503050406030204" pitchFamily="18" charset="0"/>
                                    <a:ea typeface="Cambria Math" panose="02040503050406030204" pitchFamily="18" charset="0"/>
                                  </a:rPr>
                                  <m:t>Λ</m:t>
                                </m:r>
                              </m:e>
                              <m:sup>
                                <m:r>
                                  <a:rPr lang="en-US" b="0" i="1" smtClean="0">
                                    <a:solidFill>
                                      <a:srgbClr val="FF0000"/>
                                    </a:solidFill>
                                    <a:latin typeface="Cambria Math" panose="02040503050406030204" pitchFamily="18" charset="0"/>
                                  </a:rPr>
                                  <m:t>2</m:t>
                                </m:r>
                              </m:sup>
                            </m:sSup>
                          </m:num>
                          <m:den>
                            <m:r>
                              <a:rPr lang="en-US" b="0" i="1" smtClean="0">
                                <a:solidFill>
                                  <a:srgbClr val="FF0000"/>
                                </a:solidFill>
                                <a:latin typeface="Cambria Math" panose="02040503050406030204" pitchFamily="18" charset="0"/>
                              </a:rPr>
                              <m:t>2</m:t>
                            </m:r>
                            <m:r>
                              <a:rPr lang="en-US" b="0" i="1" smtClean="0">
                                <a:solidFill>
                                  <a:srgbClr val="FF0000"/>
                                </a:solidFill>
                                <a:latin typeface="Cambria Math" panose="02040503050406030204" pitchFamily="18" charset="0"/>
                              </a:rPr>
                              <m:t>𝑚</m:t>
                            </m:r>
                          </m:den>
                        </m:f>
                        <m:sSup>
                          <m:sSupPr>
                            <m:ctrlPr>
                              <a:rPr lang="en-US" b="0" i="1" smtClean="0">
                                <a:solidFill>
                                  <a:srgbClr val="FF0000"/>
                                </a:solidFill>
                                <a:latin typeface="Cambria Math" panose="02040503050406030204" pitchFamily="18" charset="0"/>
                              </a:rPr>
                            </m:ctrlPr>
                          </m:sSupPr>
                          <m:e>
                            <m:d>
                              <m:dPr>
                                <m:ctrlPr>
                                  <a:rPr lang="en-US" b="0" i="1" smtClean="0">
                                    <a:solidFill>
                                      <a:srgbClr val="FF0000"/>
                                    </a:solidFill>
                                    <a:latin typeface="Cambria Math" panose="02040503050406030204" pitchFamily="18" charset="0"/>
                                  </a:rPr>
                                </m:ctrlPr>
                              </m:dPr>
                              <m:e>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𝑁</m:t>
                                    </m:r>
                                  </m:num>
                                  <m:den>
                                    <m:r>
                                      <a:rPr lang="en-US" b="0" i="1" smtClean="0">
                                        <a:solidFill>
                                          <a:srgbClr val="FF0000"/>
                                        </a:solidFill>
                                        <a:latin typeface="Cambria Math" panose="02040503050406030204" pitchFamily="18" charset="0"/>
                                      </a:rPr>
                                      <m:t>𝑉</m:t>
                                    </m:r>
                                  </m:den>
                                </m:f>
                              </m:e>
                            </m:d>
                          </m:e>
                          <m:sup>
                            <m:r>
                              <a:rPr lang="en-US" b="0" i="1" smtClean="0">
                                <a:solidFill>
                                  <a:srgbClr val="FF0000"/>
                                </a:solidFill>
                                <a:latin typeface="Cambria Math" panose="02040503050406030204" pitchFamily="18" charset="0"/>
                              </a:rPr>
                              <m:t>2/3</m:t>
                            </m:r>
                          </m:sup>
                        </m:sSup>
                      </m:e>
                    </m:nary>
                  </m:oMath>
                </a14:m>
                <a:endParaRPr lang="en-CN" dirty="0"/>
              </a:p>
              <a:p>
                <a:pPr marL="285750" indent="-285750">
                  <a:buFont typeface="Arial" panose="020B0604020202020204" pitchFamily="34" charset="0"/>
                  <a:buChar char="•"/>
                </a:pPr>
                <a:r>
                  <a:rPr lang="en-CN" dirty="0"/>
                  <a:t>假设星体的密度是个常数</a:t>
                </a:r>
                <a:r>
                  <a:rPr lang="zh-CN" altLang="en-US" dirty="0"/>
                  <a:t>，则引力势能</a:t>
                </a:r>
                <a:r>
                  <a:rPr lang="en-US" altLang="zh-CN" dirty="0"/>
                  <a:t> </a:t>
                </a:r>
                <a14:m>
                  <m:oMath xmlns:m="http://schemas.openxmlformats.org/officeDocument/2006/math">
                    <m:r>
                      <a:rPr lang="en-US" altLang="zh-CN" b="0" i="1" smtClean="0">
                        <a:latin typeface="Cambria Math" panose="02040503050406030204" pitchFamily="18" charset="0"/>
                      </a:rPr>
                      <m:t>𝑈</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3</m:t>
                        </m:r>
                      </m:num>
                      <m:den>
                        <m:r>
                          <a:rPr lang="en-US" altLang="zh-CN" b="0" i="1" smtClean="0">
                            <a:latin typeface="Cambria Math" panose="02040503050406030204" pitchFamily="18" charset="0"/>
                          </a:rPr>
                          <m:t>5</m:t>
                        </m:r>
                      </m:den>
                    </m:f>
                    <m:r>
                      <a:rPr lang="en-US" altLang="zh-CN" b="0" i="1" smtClean="0">
                        <a:latin typeface="Cambria Math" panose="02040503050406030204" pitchFamily="18" charset="0"/>
                      </a:rPr>
                      <m:t>𝐺</m:t>
                    </m:r>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𝑀</m:t>
                            </m:r>
                          </m:e>
                          <m:sup>
                            <m:r>
                              <a:rPr lang="en-US" altLang="zh-CN" b="0" i="1" smtClean="0">
                                <a:latin typeface="Cambria Math" panose="02040503050406030204" pitchFamily="18" charset="0"/>
                              </a:rPr>
                              <m:t>2</m:t>
                            </m:r>
                          </m:sup>
                        </m:sSup>
                      </m:num>
                      <m:den>
                        <m:r>
                          <a:rPr lang="en-US" altLang="zh-CN" b="0" i="1" smtClean="0">
                            <a:latin typeface="Cambria Math" panose="02040503050406030204" pitchFamily="18" charset="0"/>
                          </a:rPr>
                          <m:t>𝑅</m:t>
                        </m:r>
                      </m:den>
                    </m:f>
                  </m:oMath>
                </a14:m>
                <a:endParaRPr lang="en-CN" dirty="0"/>
              </a:p>
              <a:p>
                <a:pPr marL="285750" indent="-285750">
                  <a:buFont typeface="Arial" panose="020B0604020202020204" pitchFamily="34" charset="0"/>
                  <a:buChar char="•"/>
                </a:pPr>
                <a:r>
                  <a:rPr lang="en-CN" dirty="0"/>
                  <a:t>星体总能量</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𝐴</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𝐵</m:t>
                        </m:r>
                      </m:num>
                      <m:den>
                        <m:r>
                          <a:rPr lang="en-US" b="0" i="1" smtClean="0">
                            <a:latin typeface="Cambria Math" panose="02040503050406030204" pitchFamily="18" charset="0"/>
                          </a:rPr>
                          <m:t>𝑅</m:t>
                        </m:r>
                      </m:den>
                    </m:f>
                  </m:oMath>
                </a14:m>
                <a:endParaRPr lang="en-CN" dirty="0"/>
              </a:p>
              <a:p>
                <a:pPr marL="285750" indent="-285750">
                  <a:buFont typeface="Arial" panose="020B0604020202020204" pitchFamily="34" charset="0"/>
                  <a:buChar char="•"/>
                </a:pPr>
                <a:r>
                  <a:rPr lang="en-CN" dirty="0"/>
                  <a:t>平衡点</a:t>
                </a:r>
                <a:r>
                  <a:rPr lang="zh-CN" altLang="en-US"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r>
                          <a:rPr lang="en-US" altLang="zh-CN" b="0" i="1" smtClean="0">
                            <a:latin typeface="Cambria Math" panose="02040503050406030204" pitchFamily="18" charset="0"/>
                          </a:rPr>
                          <m:t>𝐴</m:t>
                        </m:r>
                      </m:num>
                      <m:den>
                        <m:r>
                          <a:rPr lang="en-US" altLang="zh-CN" b="0" i="1" smtClean="0">
                            <a:latin typeface="Cambria Math" panose="02040503050406030204" pitchFamily="18" charset="0"/>
                          </a:rPr>
                          <m:t>𝐵</m:t>
                        </m:r>
                      </m:den>
                    </m:f>
                  </m:oMath>
                </a14:m>
                <a:endParaRPr lang="en-CN" dirty="0"/>
              </a:p>
              <a:p>
                <a:pPr marL="285750" indent="-285750">
                  <a:buFont typeface="Arial" panose="020B0604020202020204" pitchFamily="34" charset="0"/>
                  <a:buChar char="•"/>
                </a:pPr>
                <a14:m>
                  <m:oMath xmlns:m="http://schemas.openxmlformats.org/officeDocument/2006/math">
                    <m:f>
                      <m:fPr>
                        <m:ctrlPr>
                          <a:rPr lang="en-CN" i="1" smtClean="0">
                            <a:latin typeface="Cambria Math" panose="02040503050406030204" pitchFamily="18" charset="0"/>
                          </a:rPr>
                        </m:ctrlPr>
                      </m:fPr>
                      <m:num>
                        <m:sSub>
                          <m:sSubPr>
                            <m:ctrlPr>
                              <a:rPr lang="en-CN"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m:t>
                            </m:r>
                          </m:sub>
                        </m:sSub>
                      </m:num>
                      <m:den>
                        <m:sSub>
                          <m:sSubPr>
                            <m:ctrlPr>
                              <a:rPr lang="en-CN" i="1" smtClean="0">
                                <a:latin typeface="Cambria Math" panose="02040503050406030204" pitchFamily="18" charset="0"/>
                              </a:rPr>
                            </m:ctrlPr>
                          </m:sSubPr>
                          <m:e>
                            <m:r>
                              <a:rPr lang="en-US" b="0" i="1" smtClean="0">
                                <a:latin typeface="Cambria Math" panose="02040503050406030204" pitchFamily="18" charset="0"/>
                              </a:rPr>
                              <m:t>𝑅</m:t>
                            </m:r>
                          </m:e>
                          <m:sub>
                            <m:r>
                              <a:rPr lang="en-CN" i="1" smtClean="0">
                                <a:latin typeface="Cambria Math" panose="02040503050406030204" pitchFamily="18" charset="0"/>
                                <a:ea typeface="Cambria Math" panose="02040503050406030204" pitchFamily="18" charset="0"/>
                              </a:rPr>
                              <m:t>⨀</m:t>
                            </m:r>
                          </m:sub>
                        </m:sSub>
                      </m:den>
                    </m:f>
                    <m:r>
                      <a:rPr lang="en-US" b="0" i="1" smtClean="0">
                        <a:latin typeface="Cambria Math" panose="02040503050406030204" pitchFamily="18" charset="0"/>
                      </a:rPr>
                      <m:t>=0.010</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ea typeface="Cambria Math" panose="02040503050406030204" pitchFamily="18" charset="0"/>
                                      </a:rPr>
                                      <m:t>⨀</m:t>
                                    </m:r>
                                  </m:sub>
                                </m:sSub>
                              </m:num>
                              <m:den>
                                <m:r>
                                  <a:rPr lang="en-US" b="0" i="1" smtClean="0">
                                    <a:latin typeface="Cambria Math" panose="02040503050406030204" pitchFamily="18" charset="0"/>
                                  </a:rPr>
                                  <m:t>𝑀</m:t>
                                </m:r>
                              </m:den>
                            </m:f>
                          </m:e>
                        </m:d>
                      </m:e>
                      <m:sup>
                        <m:r>
                          <a:rPr lang="en-US" b="0" i="1" smtClean="0">
                            <a:latin typeface="Cambria Math" panose="02040503050406030204" pitchFamily="18" charset="0"/>
                          </a:rPr>
                          <m:t>1/3</m:t>
                        </m:r>
                      </m:sup>
                    </m:sSup>
                  </m:oMath>
                </a14:m>
                <a:r>
                  <a:rPr lang="en-CN" dirty="0"/>
                  <a:t>, 太阳质量和半径</a:t>
                </a:r>
                <a14:m>
                  <m:oMath xmlns:m="http://schemas.openxmlformats.org/officeDocument/2006/math">
                    <m:sSub>
                      <m:sSubPr>
                        <m:ctrlPr>
                          <a:rPr lang="en-CN" i="1" smtClean="0">
                            <a:latin typeface="Cambria Math" panose="02040503050406030204" pitchFamily="18" charset="0"/>
                          </a:rPr>
                        </m:ctrlPr>
                      </m:sSubPr>
                      <m:e>
                        <m:r>
                          <a:rPr lang="en-US" b="0" i="1" smtClean="0">
                            <a:latin typeface="Cambria Math" panose="02040503050406030204" pitchFamily="18" charset="0"/>
                          </a:rPr>
                          <m:t>𝑀</m:t>
                        </m:r>
                      </m:e>
                      <m:sub>
                        <m:r>
                          <a:rPr lang="en-CN"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30</m:t>
                        </m:r>
                      </m:sup>
                    </m:sSup>
                    <m:r>
                      <a:rPr lang="en-US" b="0" i="1" smtClean="0">
                        <a:latin typeface="Cambria Math" panose="02040503050406030204" pitchFamily="18" charset="0"/>
                        <a:ea typeface="Cambria Math" panose="02040503050406030204" pitchFamily="18" charset="0"/>
                      </a:rPr>
                      <m:t>𝑘𝑔</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=7×</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5</m:t>
                        </m:r>
                      </m:sup>
                    </m:sSup>
                    <m:r>
                      <a:rPr lang="en-US" b="0" i="1" smtClean="0">
                        <a:latin typeface="Cambria Math" panose="02040503050406030204" pitchFamily="18" charset="0"/>
                        <a:ea typeface="Cambria Math" panose="02040503050406030204" pitchFamily="18" charset="0"/>
                      </a:rPr>
                      <m:t>𝑘𝑚</m:t>
                    </m:r>
                  </m:oMath>
                </a14:m>
                <a:r>
                  <a:rPr lang="en-CN" dirty="0"/>
                  <a:t>.</a:t>
                </a:r>
              </a:p>
              <a:p>
                <a:pPr marL="285750" indent="-285750">
                  <a:buFont typeface="Arial" panose="020B0604020202020204" pitchFamily="34" charset="0"/>
                  <a:buChar char="•"/>
                </a:pPr>
                <a:r>
                  <a:rPr lang="en-US" dirty="0"/>
                  <a:t> It follows that the radius of a typical solar mass white-dwarf is about 7000km: </a:t>
                </a:r>
                <a:r>
                  <a:rPr lang="en-US" i="1" dirty="0"/>
                  <a:t>i.e.</a:t>
                </a:r>
                <a:r>
                  <a:rPr lang="en-US" dirty="0"/>
                  <a:t>, about the same as the radius of the Earth. The first white-dwarf to be discovered (in 1862) was the companion of Sirius. Nowadays, thousands of white-dwarfs have been observed, all with properties similar to those.</a:t>
                </a:r>
              </a:p>
              <a:p>
                <a:pPr marL="285750" indent="-285750">
                  <a:buFont typeface="Arial" panose="020B0604020202020204" pitchFamily="34" charset="0"/>
                  <a:buChar char="•"/>
                </a:pPr>
                <a:r>
                  <a:rPr lang="en-US" dirty="0" err="1"/>
                  <a:t>质量增加半径减小</a:t>
                </a:r>
                <a:r>
                  <a:rPr lang="zh-CN" altLang="en-US" dirty="0"/>
                  <a:t>，考虑到电子动能正比于质量的</a:t>
                </a:r>
                <a:r>
                  <a:rPr lang="en-US" altLang="zh-CN" dirty="0"/>
                  <a:t>4/3</a:t>
                </a:r>
                <a:r>
                  <a:rPr lang="zh-CN" altLang="en-US" dirty="0"/>
                  <a:t>次方，以上推导只适用于星体质量较小情况，当质量增加到一定程度后，需要考虑相对论情况</a:t>
                </a:r>
                <a:endParaRPr lang="en-US" altLang="zh-CN" dirty="0"/>
              </a:p>
              <a:p>
                <a:pPr marL="285750" indent="-285750">
                  <a:buFont typeface="Arial" panose="020B0604020202020204" pitchFamily="34" charset="0"/>
                  <a:buChar char="•"/>
                </a:pPr>
                <a:r>
                  <a:rPr lang="zh-CN" altLang="en-US" dirty="0"/>
                  <a:t>考虑极端相对论，电子动能</a:t>
                </a:r>
                <a14:m>
                  <m:oMath xmlns:m="http://schemas.openxmlformats.org/officeDocument/2006/math">
                    <m:r>
                      <a:rPr lang="en-US" i="1" smtClean="0">
                        <a:solidFill>
                          <a:srgbClr val="FF0000"/>
                        </a:solidFill>
                        <a:latin typeface="Cambria Math" panose="02040503050406030204" pitchFamily="18" charset="0"/>
                      </a:rPr>
                      <m:t>𝐾</m:t>
                    </m:r>
                    <m:r>
                      <a:rPr lang="en-US" i="1" smtClean="0">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3</m:t>
                        </m:r>
                        <m:r>
                          <a:rPr lang="en-US" i="1">
                            <a:solidFill>
                              <a:srgbClr val="FF0000"/>
                            </a:solidFill>
                            <a:latin typeface="Cambria Math" panose="02040503050406030204" pitchFamily="18" charset="0"/>
                          </a:rPr>
                          <m:t>𝑉</m:t>
                        </m:r>
                      </m:num>
                      <m:den>
                        <m:sSup>
                          <m:sSupPr>
                            <m:ctrlPr>
                              <a:rPr lang="en-US" i="1">
                                <a:solidFill>
                                  <a:srgbClr val="FF0000"/>
                                </a:solidFill>
                                <a:latin typeface="Cambria Math" panose="02040503050406030204" pitchFamily="18" charset="0"/>
                              </a:rPr>
                            </m:ctrlPr>
                          </m:sSupPr>
                          <m:e>
                            <m:r>
                              <m:rPr>
                                <m:sty m:val="p"/>
                              </m:rPr>
                              <a:rPr lang="el-GR" i="1">
                                <a:solidFill>
                                  <a:srgbClr val="FF0000"/>
                                </a:solidFill>
                                <a:latin typeface="Cambria Math" panose="02040503050406030204" pitchFamily="18" charset="0"/>
                                <a:ea typeface="Cambria Math" panose="02040503050406030204" pitchFamily="18" charset="0"/>
                              </a:rPr>
                              <m:t>Λ</m:t>
                            </m:r>
                          </m:e>
                          <m:sup>
                            <m:r>
                              <a:rPr lang="en-US" i="1">
                                <a:solidFill>
                                  <a:srgbClr val="FF0000"/>
                                </a:solidFill>
                                <a:latin typeface="Cambria Math" panose="02040503050406030204" pitchFamily="18" charset="0"/>
                              </a:rPr>
                              <m:t>3</m:t>
                            </m:r>
                          </m:sup>
                        </m:sSup>
                      </m:den>
                    </m:f>
                    <m:nary>
                      <m:naryPr>
                        <m:ctrlPr>
                          <a:rPr lang="en-US" i="1">
                            <a:solidFill>
                              <a:srgbClr val="FF0000"/>
                            </a:solidFill>
                            <a:latin typeface="Cambria Math" panose="02040503050406030204" pitchFamily="18" charset="0"/>
                          </a:rPr>
                        </m:ctrlPr>
                      </m:naryPr>
                      <m:sub>
                        <m:r>
                          <m:rPr>
                            <m:brk m:alnAt="23"/>
                          </m:rPr>
                          <a:rPr lang="en-US" i="1">
                            <a:solidFill>
                              <a:srgbClr val="FF0000"/>
                            </a:solidFill>
                            <a:latin typeface="Cambria Math" panose="02040503050406030204" pitchFamily="18" charset="0"/>
                          </a:rPr>
                          <m:t>0</m:t>
                        </m:r>
                      </m:sub>
                      <m:sup>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𝑘</m:t>
                            </m:r>
                          </m:e>
                          <m:sub>
                            <m:r>
                              <a:rPr lang="en-US" i="1">
                                <a:solidFill>
                                  <a:srgbClr val="FF0000"/>
                                </a:solidFill>
                                <a:latin typeface="Cambria Math" panose="02040503050406030204" pitchFamily="18" charset="0"/>
                              </a:rPr>
                              <m:t>𝐹</m:t>
                            </m:r>
                          </m:sub>
                        </m:sSub>
                      </m:sup>
                      <m:e>
                        <m:sSup>
                          <m:sSupPr>
                            <m:ctrlPr>
                              <a:rPr lang="en-US" i="1" smtClean="0">
                                <a:solidFill>
                                  <a:srgbClr val="FF0000"/>
                                </a:solidFill>
                                <a:latin typeface="Cambria Math" panose="02040503050406030204" pitchFamily="18" charset="0"/>
                              </a:rPr>
                            </m:ctrlPr>
                          </m:sSupPr>
                          <m:e>
                            <m:d>
                              <m:dPr>
                                <m:ctrlPr>
                                  <a:rPr lang="en-US" i="1" smtClean="0">
                                    <a:solidFill>
                                      <a:srgbClr val="FF0000"/>
                                    </a:solidFill>
                                    <a:latin typeface="Cambria Math" panose="02040503050406030204" pitchFamily="18" charset="0"/>
                                  </a:rPr>
                                </m:ctrlPr>
                              </m:dPr>
                              <m:e>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𝑝</m:t>
                                    </m:r>
                                  </m:e>
                                  <m:sup>
                                    <m:r>
                                      <a:rPr lang="en-US" b="0" i="1" smtClean="0">
                                        <a:solidFill>
                                          <a:srgbClr val="FF0000"/>
                                        </a:solidFill>
                                        <a:latin typeface="Cambria Math" panose="02040503050406030204" pitchFamily="18" charset="0"/>
                                      </a:rPr>
                                      <m:t>2</m:t>
                                    </m:r>
                                  </m:sup>
                                </m:sSup>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𝑐</m:t>
                                    </m:r>
                                  </m:e>
                                  <m:sup>
                                    <m:r>
                                      <a:rPr lang="en-US" b="0" i="1" smtClean="0">
                                        <a:solidFill>
                                          <a:srgbClr val="FF0000"/>
                                        </a:solidFill>
                                        <a:latin typeface="Cambria Math" panose="02040503050406030204" pitchFamily="18" charset="0"/>
                                      </a:rPr>
                                      <m:t>2</m:t>
                                    </m:r>
                                  </m:sup>
                                </m:sSup>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𝑚</m:t>
                                    </m:r>
                                  </m:e>
                                  <m:sup>
                                    <m:r>
                                      <a:rPr lang="en-US" b="0" i="1" smtClean="0">
                                        <a:solidFill>
                                          <a:srgbClr val="FF0000"/>
                                        </a:solidFill>
                                        <a:latin typeface="Cambria Math" panose="02040503050406030204" pitchFamily="18" charset="0"/>
                                      </a:rPr>
                                      <m:t>2</m:t>
                                    </m:r>
                                  </m:sup>
                                </m:sSup>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𝑐</m:t>
                                    </m:r>
                                  </m:e>
                                  <m:sup>
                                    <m:r>
                                      <a:rPr lang="en-US" b="0" i="1" smtClean="0">
                                        <a:solidFill>
                                          <a:srgbClr val="FF0000"/>
                                        </a:solidFill>
                                        <a:latin typeface="Cambria Math" panose="02040503050406030204" pitchFamily="18" charset="0"/>
                                      </a:rPr>
                                      <m:t>4</m:t>
                                    </m:r>
                                  </m:sup>
                                </m:sSup>
                              </m:e>
                            </m:d>
                          </m:e>
                          <m:sup>
                            <m:r>
                              <a:rPr lang="en-US" b="0" i="1" smtClean="0">
                                <a:solidFill>
                                  <a:srgbClr val="FF0000"/>
                                </a:solidFill>
                                <a:latin typeface="Cambria Math" panose="02040503050406030204" pitchFamily="18" charset="0"/>
                              </a:rPr>
                              <m:t>1/2</m:t>
                            </m:r>
                          </m:sup>
                        </m:sSup>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𝑝</m:t>
                            </m:r>
                          </m:e>
                          <m:sup>
                            <m:r>
                              <a:rPr lang="en-US" i="1">
                                <a:solidFill>
                                  <a:srgbClr val="FF0000"/>
                                </a:solidFill>
                                <a:latin typeface="Cambria Math" panose="02040503050406030204" pitchFamily="18" charset="0"/>
                              </a:rPr>
                              <m:t>2</m:t>
                            </m:r>
                          </m:sup>
                        </m:sSup>
                        <m:r>
                          <a:rPr lang="en-US" i="1">
                            <a:solidFill>
                              <a:srgbClr val="FF0000"/>
                            </a:solidFill>
                            <a:latin typeface="Cambria Math" panose="02040503050406030204" pitchFamily="18" charset="0"/>
                          </a:rPr>
                          <m:t>𝑑𝑝</m:t>
                        </m:r>
                        <m:r>
                          <a:rPr lang="en-US" i="1" smtClean="0">
                            <a:solidFill>
                              <a:srgbClr val="FF0000"/>
                            </a:solidFill>
                            <a:latin typeface="Cambria Math" panose="02040503050406030204" pitchFamily="18" charset="0"/>
                            <a:ea typeface="Cambria Math" panose="02040503050406030204" pitchFamily="18" charset="0"/>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3</m:t>
                            </m:r>
                            <m:r>
                              <a:rPr lang="en-US" i="1">
                                <a:solidFill>
                                  <a:srgbClr val="FF0000"/>
                                </a:solidFill>
                                <a:latin typeface="Cambria Math" panose="02040503050406030204" pitchFamily="18" charset="0"/>
                              </a:rPr>
                              <m:t>𝑉𝑐</m:t>
                            </m:r>
                          </m:num>
                          <m:den>
                            <m:sSup>
                              <m:sSupPr>
                                <m:ctrlPr>
                                  <a:rPr lang="en-US" i="1">
                                    <a:solidFill>
                                      <a:srgbClr val="FF0000"/>
                                    </a:solidFill>
                                    <a:latin typeface="Cambria Math" panose="02040503050406030204" pitchFamily="18" charset="0"/>
                                  </a:rPr>
                                </m:ctrlPr>
                              </m:sSupPr>
                              <m:e>
                                <m:r>
                                  <m:rPr>
                                    <m:sty m:val="p"/>
                                  </m:rPr>
                                  <a:rPr lang="el-GR" i="1">
                                    <a:solidFill>
                                      <a:srgbClr val="FF0000"/>
                                    </a:solidFill>
                                    <a:latin typeface="Cambria Math" panose="02040503050406030204" pitchFamily="18" charset="0"/>
                                    <a:ea typeface="Cambria Math" panose="02040503050406030204" pitchFamily="18" charset="0"/>
                                  </a:rPr>
                                  <m:t>Λ</m:t>
                                </m:r>
                              </m:e>
                              <m:sup>
                                <m:r>
                                  <a:rPr lang="en-US" i="1">
                                    <a:solidFill>
                                      <a:srgbClr val="FF0000"/>
                                    </a:solidFill>
                                    <a:latin typeface="Cambria Math" panose="02040503050406030204" pitchFamily="18" charset="0"/>
                                  </a:rPr>
                                  <m:t>3</m:t>
                                </m:r>
                              </m:sup>
                            </m:sSup>
                          </m:den>
                        </m:f>
                        <m:nary>
                          <m:naryPr>
                            <m:ctrlPr>
                              <a:rPr lang="en-US" i="1">
                                <a:solidFill>
                                  <a:srgbClr val="FF0000"/>
                                </a:solidFill>
                                <a:latin typeface="Cambria Math" panose="02040503050406030204" pitchFamily="18" charset="0"/>
                              </a:rPr>
                            </m:ctrlPr>
                          </m:naryPr>
                          <m:sub>
                            <m:r>
                              <m:rPr>
                                <m:brk m:alnAt="23"/>
                              </m:rPr>
                              <a:rPr lang="en-US" i="1">
                                <a:solidFill>
                                  <a:srgbClr val="FF0000"/>
                                </a:solidFill>
                                <a:latin typeface="Cambria Math" panose="02040503050406030204" pitchFamily="18" charset="0"/>
                              </a:rPr>
                              <m:t>0</m:t>
                            </m:r>
                          </m:sub>
                          <m:sup>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𝑘</m:t>
                                </m:r>
                              </m:e>
                              <m:sub>
                                <m:r>
                                  <a:rPr lang="en-US" i="1">
                                    <a:solidFill>
                                      <a:srgbClr val="FF0000"/>
                                    </a:solidFill>
                                    <a:latin typeface="Cambria Math" panose="02040503050406030204" pitchFamily="18" charset="0"/>
                                  </a:rPr>
                                  <m:t>𝐹</m:t>
                                </m:r>
                              </m:sub>
                            </m:sSub>
                          </m:sup>
                          <m:e>
                            <m:d>
                              <m:dPr>
                                <m:ctrlPr>
                                  <a:rPr lang="en-US" i="1" smtClean="0">
                                    <a:solidFill>
                                      <a:srgbClr val="FF0000"/>
                                    </a:solidFill>
                                    <a:latin typeface="Cambria Math" panose="02040503050406030204" pitchFamily="18" charset="0"/>
                                  </a:rPr>
                                </m:ctrlPr>
                              </m:dPr>
                              <m:e>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𝑝</m:t>
                                    </m:r>
                                  </m:e>
                                  <m:sup>
                                    <m:r>
                                      <a:rPr lang="en-US" b="0" i="1" smtClean="0">
                                        <a:solidFill>
                                          <a:srgbClr val="FF0000"/>
                                        </a:solidFill>
                                        <a:latin typeface="Cambria Math" panose="02040503050406030204" pitchFamily="18" charset="0"/>
                                      </a:rPr>
                                      <m:t>3</m:t>
                                    </m:r>
                                  </m:sup>
                                </m:sSup>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𝑚</m:t>
                                        </m:r>
                                      </m:e>
                                      <m:sup>
                                        <m:r>
                                          <a:rPr lang="en-US" b="0" i="1" smtClean="0">
                                            <a:solidFill>
                                              <a:srgbClr val="FF0000"/>
                                            </a:solidFill>
                                            <a:latin typeface="Cambria Math" panose="02040503050406030204" pitchFamily="18" charset="0"/>
                                          </a:rPr>
                                          <m:t>2</m:t>
                                        </m:r>
                                      </m:sup>
                                    </m:sSup>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𝑐</m:t>
                                        </m:r>
                                      </m:e>
                                      <m:sup>
                                        <m:r>
                                          <a:rPr lang="en-US" b="0" i="1" smtClean="0">
                                            <a:solidFill>
                                              <a:srgbClr val="FF0000"/>
                                            </a:solidFill>
                                            <a:latin typeface="Cambria Math" panose="02040503050406030204" pitchFamily="18" charset="0"/>
                                          </a:rPr>
                                          <m:t>2</m:t>
                                        </m:r>
                                      </m:sup>
                                    </m:sSup>
                                  </m:num>
                                  <m:den>
                                    <m:r>
                                      <a:rPr lang="en-US" b="0" i="1" smtClean="0">
                                        <a:solidFill>
                                          <a:srgbClr val="FF0000"/>
                                        </a:solidFill>
                                        <a:latin typeface="Cambria Math" panose="02040503050406030204" pitchFamily="18" charset="0"/>
                                      </a:rPr>
                                      <m:t>2</m:t>
                                    </m:r>
                                  </m:den>
                                </m:f>
                                <m:r>
                                  <a:rPr lang="en-US" b="0" i="1" smtClean="0">
                                    <a:solidFill>
                                      <a:srgbClr val="FF0000"/>
                                    </a:solidFill>
                                    <a:latin typeface="Cambria Math" panose="02040503050406030204" pitchFamily="18" charset="0"/>
                                  </a:rPr>
                                  <m:t>𝑝</m:t>
                                </m:r>
                              </m:e>
                            </m:d>
                            <m:r>
                              <a:rPr lang="en-US" i="1">
                                <a:solidFill>
                                  <a:srgbClr val="FF0000"/>
                                </a:solidFill>
                                <a:latin typeface="Cambria Math" panose="02040503050406030204" pitchFamily="18" charset="0"/>
                              </a:rPr>
                              <m:t>𝑑𝑝</m:t>
                            </m:r>
                          </m:e>
                        </m:nary>
                        <m:r>
                          <a:rPr lang="en-US" i="1" smtClean="0">
                            <a:solidFill>
                              <a:srgbClr val="FF0000"/>
                            </a:solidFill>
                            <a:latin typeface="Cambria Math" panose="02040503050406030204" pitchFamily="18" charset="0"/>
                            <a:ea typeface="Cambria Math" panose="02040503050406030204" pitchFamily="18" charset="0"/>
                          </a:rPr>
                          <m:t>≈</m:t>
                        </m:r>
                      </m:e>
                    </m:nary>
                  </m:oMath>
                </a14:m>
                <a:endParaRPr lang="en-US" dirty="0">
                  <a:solidFill>
                    <a:srgbClr val="FF0000"/>
                  </a:solidFill>
                </a:endParaRPr>
              </a:p>
              <a:p>
                <a:pPr marL="285750" indent="-285750">
                  <a:buFont typeface="Arial" panose="020B0604020202020204" pitchFamily="34" charset="0"/>
                  <a:buChar char="•"/>
                </a:pPr>
                <a:r>
                  <a:rPr lang="en-CN" dirty="0"/>
                  <a:t>星体总能量</a:t>
                </a:r>
                <a14:m>
                  <m:oMath xmlns:m="http://schemas.openxmlformats.org/officeDocument/2006/math">
                    <m:r>
                      <a:rPr lang="en-US" i="1">
                        <a:latin typeface="Cambria Math" panose="02040503050406030204" pitchFamily="18" charset="0"/>
                      </a:rPr>
                      <m:t>𝐸</m:t>
                    </m:r>
                    <m:r>
                      <a:rPr lang="en-US" i="1">
                        <a:latin typeface="Cambria Math" panose="02040503050406030204" pitchFamily="18" charset="0"/>
                      </a:rPr>
                      <m:t>=</m:t>
                    </m:r>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𝑈</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num>
                      <m:den>
                        <m:r>
                          <a:rPr lang="en-US" b="0" i="1" smtClean="0">
                            <a:latin typeface="Cambria Math" panose="02040503050406030204" pitchFamily="18" charset="0"/>
                          </a:rPr>
                          <m:t>𝑅</m:t>
                        </m:r>
                      </m:den>
                    </m:f>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𝑅</m:t>
                    </m:r>
                  </m:oMath>
                </a14:m>
                <a:endParaRPr lang="en-CN" dirty="0"/>
              </a:p>
              <a:p>
                <a:pPr marL="285750" indent="-285750">
                  <a:buFont typeface="Arial" panose="020B0604020202020204" pitchFamily="34" charset="0"/>
                  <a:buChar char="•"/>
                </a:pPr>
                <a:r>
                  <a:rPr lang="en-CN" dirty="0"/>
                  <a:t>平衡条件</a:t>
                </a:r>
                <a:r>
                  <a:rPr lang="zh-CN" altLang="en-US" dirty="0"/>
                  <a:t>，非零解要求</a:t>
                </a:r>
                <a:r>
                  <a:rPr lang="en-US" altLang="zh-CN" dirty="0"/>
                  <a:t>A&gt;B</a:t>
                </a:r>
              </a:p>
              <a:p>
                <a:pPr marL="285750" indent="-285750">
                  <a:buFont typeface="Arial" panose="020B0604020202020204" pitchFamily="34" charset="0"/>
                  <a:buChar char="•"/>
                </a:pPr>
                <a:r>
                  <a:rPr lang="en-US" dirty="0" err="1"/>
                  <a:t>可以推出M</a:t>
                </a:r>
                <a:r>
                  <a:rPr lang="en-US" dirty="0"/>
                  <a:t>&lt;1.72M</a:t>
                </a:r>
                <a:r>
                  <a:rPr lang="en-US" baseline="-25000" dirty="0"/>
                  <a:t>taiyang</a:t>
                </a:r>
                <a:r>
                  <a:rPr lang="zh-CN" altLang="en-US" baseline="-25000" dirty="0"/>
                  <a:t>，</a:t>
                </a:r>
                <a:r>
                  <a:rPr lang="en-US" dirty="0"/>
                  <a:t> is known as the </a:t>
                </a:r>
                <a:r>
                  <a:rPr lang="en-US" i="1" dirty="0"/>
                  <a:t>Chandrasekhar limit</a:t>
                </a:r>
                <a:r>
                  <a:rPr lang="en-US" dirty="0"/>
                  <a:t>, after A. Chandrasekhar who first derived it in 1931</a:t>
                </a:r>
              </a:p>
              <a:p>
                <a:pPr marL="285750" indent="-285750">
                  <a:buFont typeface="Arial" panose="020B0604020202020204" pitchFamily="34" charset="0"/>
                  <a:buChar char="•"/>
                </a:pPr>
                <a:r>
                  <a:rPr lang="en-US" dirty="0"/>
                  <a:t>更严格的计算是</a:t>
                </a:r>
                <a:r>
                  <a:rPr lang="en-US" altLang="zh-CN" dirty="0"/>
                  <a:t>1.4</a:t>
                </a:r>
                <a:r>
                  <a:rPr lang="zh-CN" altLang="en-US" dirty="0"/>
                  <a:t>倍太阳质量。</a:t>
                </a:r>
                <a:endParaRPr lang="en-CN" dirty="0"/>
              </a:p>
            </p:txBody>
          </p:sp>
        </mc:Choice>
        <mc:Fallback xmlns="">
          <p:sp>
            <p:nvSpPr>
              <p:cNvPr id="3" name="TextBox 2">
                <a:extLst>
                  <a:ext uri="{FF2B5EF4-FFF2-40B4-BE49-F238E27FC236}">
                    <a16:creationId xmlns:a16="http://schemas.microsoft.com/office/drawing/2014/main" id="{048DC18D-AD76-2441-AF1A-39D4CE0A9C8A}"/>
                  </a:ext>
                </a:extLst>
              </p:cNvPr>
              <p:cNvSpPr txBox="1">
                <a:spLocks noRot="1" noChangeAspect="1" noMove="1" noResize="1" noEditPoints="1" noAdjustHandles="1" noChangeArrowheads="1" noChangeShapeType="1" noTextEdit="1"/>
              </p:cNvSpPr>
              <p:nvPr/>
            </p:nvSpPr>
            <p:spPr>
              <a:xfrm>
                <a:off x="318655" y="215472"/>
                <a:ext cx="11319163" cy="6231449"/>
              </a:xfrm>
              <a:prstGeom prst="rect">
                <a:avLst/>
              </a:prstGeom>
              <a:blipFill>
                <a:blip r:embed="rId2"/>
                <a:stretch>
                  <a:fillRect l="-224" r="-336" b="-610"/>
                </a:stretch>
              </a:blipFill>
            </p:spPr>
            <p:txBody>
              <a:bodyPr/>
              <a:lstStyle/>
              <a:p>
                <a:r>
                  <a:rPr lang="en-CN">
                    <a:noFill/>
                  </a:rPr>
                  <a:t> </a:t>
                </a:r>
              </a:p>
            </p:txBody>
          </p:sp>
        </mc:Fallback>
      </mc:AlternateContent>
    </p:spTree>
    <p:extLst>
      <p:ext uri="{BB962C8B-B14F-4D97-AF65-F5344CB8AC3E}">
        <p14:creationId xmlns:p14="http://schemas.microsoft.com/office/powerpoint/2010/main" val="751105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03DF47-FCAC-E342-9C84-0E520F882D24}"/>
              </a:ext>
            </a:extLst>
          </p:cNvPr>
          <p:cNvSpPr txBox="1"/>
          <p:nvPr/>
        </p:nvSpPr>
        <p:spPr>
          <a:xfrm>
            <a:off x="3679767" y="1886988"/>
            <a:ext cx="4668982" cy="707886"/>
          </a:xfrm>
          <a:prstGeom prst="rect">
            <a:avLst/>
          </a:prstGeom>
          <a:noFill/>
        </p:spPr>
        <p:txBody>
          <a:bodyPr wrap="square" rtlCol="0">
            <a:spAutoFit/>
          </a:bodyPr>
          <a:lstStyle/>
          <a:p>
            <a:pPr algn="ctr"/>
            <a:r>
              <a:rPr lang="en-CN" sz="4000" dirty="0">
                <a:latin typeface="FangSong" panose="02010609060101010101" pitchFamily="49" charset="-122"/>
                <a:ea typeface="FangSong" panose="02010609060101010101" pitchFamily="49" charset="-122"/>
              </a:rPr>
              <a:t>有限温</a:t>
            </a:r>
          </a:p>
        </p:txBody>
      </p:sp>
      <p:sp>
        <p:nvSpPr>
          <p:cNvPr id="2" name="TextBox 1">
            <a:extLst>
              <a:ext uri="{FF2B5EF4-FFF2-40B4-BE49-F238E27FC236}">
                <a16:creationId xmlns:a16="http://schemas.microsoft.com/office/drawing/2014/main" id="{412E72E9-A093-EB44-8DF6-D86F5B36E336}"/>
              </a:ext>
            </a:extLst>
          </p:cNvPr>
          <p:cNvSpPr txBox="1"/>
          <p:nvPr/>
        </p:nvSpPr>
        <p:spPr>
          <a:xfrm>
            <a:off x="2640676" y="3154680"/>
            <a:ext cx="7232073" cy="923330"/>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高温极限</a:t>
            </a:r>
          </a:p>
          <a:p>
            <a:pPr marL="285750" indent="-285750">
              <a:buFont typeface="Arial" panose="020B0604020202020204" pitchFamily="34" charset="0"/>
              <a:buChar char="•"/>
            </a:pPr>
            <a:r>
              <a:rPr lang="en-CN" dirty="0">
                <a:solidFill>
                  <a:srgbClr val="FF0000"/>
                </a:solidFill>
                <a:latin typeface="FangSong" panose="02010609060101010101" pitchFamily="49" charset="-122"/>
                <a:ea typeface="FangSong" panose="02010609060101010101" pitchFamily="49" charset="-122"/>
              </a:rPr>
              <a:t>低温极限</a:t>
            </a:r>
          </a:p>
          <a:p>
            <a:pPr marL="285750" indent="-285750">
              <a:buFont typeface="Arial" panose="020B0604020202020204" pitchFamily="34" charset="0"/>
              <a:buChar char="•"/>
            </a:pPr>
            <a:r>
              <a:rPr lang="en-CN" dirty="0">
                <a:solidFill>
                  <a:srgbClr val="FF0000"/>
                </a:solidFill>
                <a:latin typeface="FangSong" panose="02010609060101010101" pitchFamily="49" charset="-122"/>
                <a:ea typeface="FangSong" panose="02010609060101010101" pitchFamily="49" charset="-122"/>
              </a:rPr>
              <a:t>一般情况</a:t>
            </a:r>
          </a:p>
        </p:txBody>
      </p:sp>
    </p:spTree>
    <p:extLst>
      <p:ext uri="{BB962C8B-B14F-4D97-AF65-F5344CB8AC3E}">
        <p14:creationId xmlns:p14="http://schemas.microsoft.com/office/powerpoint/2010/main" val="2015825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A96C6EE-4B0A-2E42-A6A5-8B0C0404D872}"/>
                  </a:ext>
                </a:extLst>
              </p:cNvPr>
              <p:cNvSpPr txBox="1"/>
              <p:nvPr/>
            </p:nvSpPr>
            <p:spPr>
              <a:xfrm>
                <a:off x="2660071" y="1579418"/>
                <a:ext cx="8728366" cy="899029"/>
              </a:xfrm>
              <a:prstGeom prst="rect">
                <a:avLst/>
              </a:prstGeom>
              <a:noFill/>
            </p:spPr>
            <p:txBody>
              <a:bodyPr wrap="square" rtlCol="0">
                <a:spAutoFit/>
              </a:bodyPr>
              <a:lstStyle/>
              <a:p>
                <a:r>
                  <a:rPr lang="en-CN" dirty="0"/>
                  <a:t>F-D distribution</a:t>
                </a:r>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sup>
                          </m:sSup>
                          <m:r>
                            <a:rPr lang="en-US" b="0" i="1" smtClean="0">
                              <a:latin typeface="Cambria Math" panose="02040503050406030204" pitchFamily="18" charset="0"/>
                            </a:rPr>
                            <m:t>+1</m:t>
                          </m:r>
                        </m:den>
                      </m:f>
                    </m:oMath>
                  </m:oMathPara>
                </a14:m>
                <a:endParaRPr lang="en-CN" dirty="0"/>
              </a:p>
            </p:txBody>
          </p:sp>
        </mc:Choice>
        <mc:Fallback xmlns="">
          <p:sp>
            <p:nvSpPr>
              <p:cNvPr id="2" name="TextBox 1">
                <a:extLst>
                  <a:ext uri="{FF2B5EF4-FFF2-40B4-BE49-F238E27FC236}">
                    <a16:creationId xmlns:a16="http://schemas.microsoft.com/office/drawing/2014/main" id="{FA96C6EE-4B0A-2E42-A6A5-8B0C0404D872}"/>
                  </a:ext>
                </a:extLst>
              </p:cNvPr>
              <p:cNvSpPr txBox="1">
                <a:spLocks noRot="1" noChangeAspect="1" noMove="1" noResize="1" noEditPoints="1" noAdjustHandles="1" noChangeArrowheads="1" noChangeShapeType="1" noTextEdit="1"/>
              </p:cNvSpPr>
              <p:nvPr/>
            </p:nvSpPr>
            <p:spPr>
              <a:xfrm>
                <a:off x="2660071" y="1579418"/>
                <a:ext cx="8728366" cy="899029"/>
              </a:xfrm>
              <a:prstGeom prst="rect">
                <a:avLst/>
              </a:prstGeom>
              <a:blipFill>
                <a:blip r:embed="rId2"/>
                <a:stretch>
                  <a:fillRect l="-581" t="-2778" b="-2778"/>
                </a:stretch>
              </a:blipFill>
            </p:spPr>
            <p:txBody>
              <a:bodyPr/>
              <a:lstStyle/>
              <a:p>
                <a:r>
                  <a:rPr lang="en-CN">
                    <a:noFill/>
                  </a:rPr>
                  <a:t> </a:t>
                </a:r>
              </a:p>
            </p:txBody>
          </p:sp>
        </mc:Fallback>
      </mc:AlternateContent>
      <p:sp>
        <p:nvSpPr>
          <p:cNvPr id="3" name="Right Arrow 2">
            <a:extLst>
              <a:ext uri="{FF2B5EF4-FFF2-40B4-BE49-F238E27FC236}">
                <a16:creationId xmlns:a16="http://schemas.microsoft.com/office/drawing/2014/main" id="{7C9D62B4-8653-F442-BE1C-C24DB9A3CB63}"/>
              </a:ext>
            </a:extLst>
          </p:cNvPr>
          <p:cNvSpPr/>
          <p:nvPr/>
        </p:nvSpPr>
        <p:spPr>
          <a:xfrm rot="20175596">
            <a:off x="4760823" y="1687230"/>
            <a:ext cx="1525589" cy="2290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Right Arrow 3">
            <a:extLst>
              <a:ext uri="{FF2B5EF4-FFF2-40B4-BE49-F238E27FC236}">
                <a16:creationId xmlns:a16="http://schemas.microsoft.com/office/drawing/2014/main" id="{5A88D333-CC79-B74A-8526-07357B13B4B5}"/>
              </a:ext>
            </a:extLst>
          </p:cNvPr>
          <p:cNvSpPr/>
          <p:nvPr/>
        </p:nvSpPr>
        <p:spPr>
          <a:xfrm rot="1263306">
            <a:off x="4820249" y="2590218"/>
            <a:ext cx="1525589" cy="2290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8AE4D74-3001-2E43-B64F-1B97065E8228}"/>
                  </a:ext>
                </a:extLst>
              </p:cNvPr>
              <p:cNvSpPr txBox="1"/>
              <p:nvPr/>
            </p:nvSpPr>
            <p:spPr>
              <a:xfrm>
                <a:off x="5361707" y="2102853"/>
                <a:ext cx="9062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solidFill>
                            <a:srgbClr val="FF0000"/>
                          </a:solidFill>
                          <a:latin typeface="Cambria Math" panose="02040503050406030204" pitchFamily="18" charset="0"/>
                          <a:ea typeface="Cambria Math" panose="02040503050406030204" pitchFamily="18" charset="0"/>
                        </a:rPr>
                        <m:t>𝜏</m:t>
                      </m:r>
                      <m:r>
                        <a:rPr lang="en-CN"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0</m:t>
                      </m:r>
                    </m:oMath>
                  </m:oMathPara>
                </a14:m>
                <a:endParaRPr lang="en-CN" dirty="0">
                  <a:solidFill>
                    <a:srgbClr val="FF0000"/>
                  </a:solidFill>
                </a:endParaRPr>
              </a:p>
            </p:txBody>
          </p:sp>
        </mc:Choice>
        <mc:Fallback xmlns="">
          <p:sp>
            <p:nvSpPr>
              <p:cNvPr id="5" name="TextBox 4">
                <a:extLst>
                  <a:ext uri="{FF2B5EF4-FFF2-40B4-BE49-F238E27FC236}">
                    <a16:creationId xmlns:a16="http://schemas.microsoft.com/office/drawing/2014/main" id="{28AE4D74-3001-2E43-B64F-1B97065E8228}"/>
                  </a:ext>
                </a:extLst>
              </p:cNvPr>
              <p:cNvSpPr txBox="1">
                <a:spLocks noRot="1" noChangeAspect="1" noMove="1" noResize="1" noEditPoints="1" noAdjustHandles="1" noChangeArrowheads="1" noChangeShapeType="1" noTextEdit="1"/>
              </p:cNvSpPr>
              <p:nvPr/>
            </p:nvSpPr>
            <p:spPr>
              <a:xfrm>
                <a:off x="5361707" y="2102853"/>
                <a:ext cx="906268" cy="369332"/>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C7F99D-5A8E-3542-9E9C-9274B25D5A35}"/>
                  </a:ext>
                </a:extLst>
              </p:cNvPr>
              <p:cNvSpPr txBox="1"/>
              <p:nvPr/>
            </p:nvSpPr>
            <p:spPr>
              <a:xfrm>
                <a:off x="4876796" y="1254262"/>
                <a:ext cx="10629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𝜀</m:t>
                      </m:r>
                      <m:r>
                        <a:rPr lang="en-CN" i="1" smtClean="0">
                          <a:latin typeface="Cambria Math" panose="02040503050406030204" pitchFamily="18" charset="0"/>
                          <a:ea typeface="Cambria Math" panose="02040503050406030204" pitchFamily="18" charset="0"/>
                        </a:rPr>
                        <m:t>&lt;</m:t>
                      </m:r>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(0)</m:t>
                      </m:r>
                    </m:oMath>
                  </m:oMathPara>
                </a14:m>
                <a:endParaRPr lang="en-CN" dirty="0"/>
              </a:p>
            </p:txBody>
          </p:sp>
        </mc:Choice>
        <mc:Fallback xmlns="">
          <p:sp>
            <p:nvSpPr>
              <p:cNvPr id="6" name="TextBox 5">
                <a:extLst>
                  <a:ext uri="{FF2B5EF4-FFF2-40B4-BE49-F238E27FC236}">
                    <a16:creationId xmlns:a16="http://schemas.microsoft.com/office/drawing/2014/main" id="{8EC7F99D-5A8E-3542-9E9C-9274B25D5A35}"/>
                  </a:ext>
                </a:extLst>
              </p:cNvPr>
              <p:cNvSpPr txBox="1">
                <a:spLocks noRot="1" noChangeAspect="1" noMove="1" noResize="1" noEditPoints="1" noAdjustHandles="1" noChangeArrowheads="1" noChangeShapeType="1" noTextEdit="1"/>
              </p:cNvSpPr>
              <p:nvPr/>
            </p:nvSpPr>
            <p:spPr>
              <a:xfrm>
                <a:off x="4876796" y="1254262"/>
                <a:ext cx="1062910" cy="369332"/>
              </a:xfrm>
              <a:prstGeom prst="rect">
                <a:avLst/>
              </a:prstGeom>
              <a:blipFill>
                <a:blip r:embed="rId4"/>
                <a:stretch>
                  <a:fillRect r="-1190" b="-1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D0A8D06-5A2D-7945-A33D-5FF8A88A22BA}"/>
                  </a:ext>
                </a:extLst>
              </p:cNvPr>
              <p:cNvSpPr txBox="1"/>
              <p:nvPr/>
            </p:nvSpPr>
            <p:spPr>
              <a:xfrm>
                <a:off x="4946071" y="2885631"/>
                <a:ext cx="106291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ea typeface="Cambria Math" panose="02040503050406030204" pitchFamily="18" charset="0"/>
                        </a:rPr>
                        <m:t>𝜀</m:t>
                      </m:r>
                      <m:r>
                        <a:rPr lang="en-CN" i="1" smtClean="0">
                          <a:latin typeface="Cambria Math" panose="02040503050406030204" pitchFamily="18" charset="0"/>
                          <a:ea typeface="Cambria Math" panose="02040503050406030204" pitchFamily="18" charset="0"/>
                        </a:rPr>
                        <m:t>&gt;</m:t>
                      </m:r>
                      <m:r>
                        <a:rPr lang="en-CN"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(0)</m:t>
                      </m:r>
                    </m:oMath>
                  </m:oMathPara>
                </a14:m>
                <a:endParaRPr lang="en-CN" dirty="0"/>
              </a:p>
            </p:txBody>
          </p:sp>
        </mc:Choice>
        <mc:Fallback xmlns="">
          <p:sp>
            <p:nvSpPr>
              <p:cNvPr id="7" name="TextBox 6">
                <a:extLst>
                  <a:ext uri="{FF2B5EF4-FFF2-40B4-BE49-F238E27FC236}">
                    <a16:creationId xmlns:a16="http://schemas.microsoft.com/office/drawing/2014/main" id="{3D0A8D06-5A2D-7945-A33D-5FF8A88A22BA}"/>
                  </a:ext>
                </a:extLst>
              </p:cNvPr>
              <p:cNvSpPr txBox="1">
                <a:spLocks noRot="1" noChangeAspect="1" noMove="1" noResize="1" noEditPoints="1" noAdjustHandles="1" noChangeArrowheads="1" noChangeShapeType="1" noTextEdit="1"/>
              </p:cNvSpPr>
              <p:nvPr/>
            </p:nvSpPr>
            <p:spPr>
              <a:xfrm>
                <a:off x="4946071" y="2885631"/>
                <a:ext cx="1062910" cy="369332"/>
              </a:xfrm>
              <a:prstGeom prst="rect">
                <a:avLst/>
              </a:prstGeom>
              <a:blipFill>
                <a:blip r:embed="rId5"/>
                <a:stretch>
                  <a:fillRect b="-1333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3AED8C6-04C2-9A47-AA2B-5EE88A0D9352}"/>
                  </a:ext>
                </a:extLst>
              </p:cNvPr>
              <p:cNvSpPr txBox="1"/>
              <p:nvPr/>
            </p:nvSpPr>
            <p:spPr>
              <a:xfrm>
                <a:off x="6608616" y="1191494"/>
                <a:ext cx="13755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→1</m:t>
                      </m:r>
                    </m:oMath>
                  </m:oMathPara>
                </a14:m>
                <a:endParaRPr lang="en-CN" dirty="0"/>
              </a:p>
            </p:txBody>
          </p:sp>
        </mc:Choice>
        <mc:Fallback xmlns="">
          <p:sp>
            <p:nvSpPr>
              <p:cNvPr id="8" name="TextBox 7">
                <a:extLst>
                  <a:ext uri="{FF2B5EF4-FFF2-40B4-BE49-F238E27FC236}">
                    <a16:creationId xmlns:a16="http://schemas.microsoft.com/office/drawing/2014/main" id="{B3AED8C6-04C2-9A47-AA2B-5EE88A0D9352}"/>
                  </a:ext>
                </a:extLst>
              </p:cNvPr>
              <p:cNvSpPr txBox="1">
                <a:spLocks noRot="1" noChangeAspect="1" noMove="1" noResize="1" noEditPoints="1" noAdjustHandles="1" noChangeArrowheads="1" noChangeShapeType="1" noTextEdit="1"/>
              </p:cNvSpPr>
              <p:nvPr/>
            </p:nvSpPr>
            <p:spPr>
              <a:xfrm>
                <a:off x="6608616" y="1191494"/>
                <a:ext cx="1375530" cy="369332"/>
              </a:xfrm>
              <a:prstGeom prst="rect">
                <a:avLst/>
              </a:prstGeom>
              <a:blipFill>
                <a:blip r:embed="rId6"/>
                <a:stretch>
                  <a:fillRect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7B851A6-E1F9-F94C-AD00-03BECFE81186}"/>
                  </a:ext>
                </a:extLst>
              </p:cNvPr>
              <p:cNvSpPr txBox="1"/>
              <p:nvPr/>
            </p:nvSpPr>
            <p:spPr>
              <a:xfrm>
                <a:off x="6608616" y="2838281"/>
                <a:ext cx="13755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→0</m:t>
                      </m:r>
                    </m:oMath>
                  </m:oMathPara>
                </a14:m>
                <a:endParaRPr lang="en-CN" dirty="0"/>
              </a:p>
            </p:txBody>
          </p:sp>
        </mc:Choice>
        <mc:Fallback xmlns="">
          <p:sp>
            <p:nvSpPr>
              <p:cNvPr id="9" name="TextBox 8">
                <a:extLst>
                  <a:ext uri="{FF2B5EF4-FFF2-40B4-BE49-F238E27FC236}">
                    <a16:creationId xmlns:a16="http://schemas.microsoft.com/office/drawing/2014/main" id="{27B851A6-E1F9-F94C-AD00-03BECFE81186}"/>
                  </a:ext>
                </a:extLst>
              </p:cNvPr>
              <p:cNvSpPr txBox="1">
                <a:spLocks noRot="1" noChangeAspect="1" noMove="1" noResize="1" noEditPoints="1" noAdjustHandles="1" noChangeArrowheads="1" noChangeShapeType="1" noTextEdit="1"/>
              </p:cNvSpPr>
              <p:nvPr/>
            </p:nvSpPr>
            <p:spPr>
              <a:xfrm>
                <a:off x="6608616" y="2838281"/>
                <a:ext cx="1375530" cy="369332"/>
              </a:xfrm>
              <a:prstGeom prst="rect">
                <a:avLst/>
              </a:prstGeom>
              <a:blipFill>
                <a:blip r:embed="rId7"/>
                <a:stretch>
                  <a:fillRect b="-13333"/>
                </a:stretch>
              </a:blipFill>
            </p:spPr>
            <p:txBody>
              <a:bodyPr/>
              <a:lstStyle/>
              <a:p>
                <a:r>
                  <a:rPr lang="en-CN">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E4D237A-8838-9E44-A1D2-189B67C0D905}"/>
                  </a:ext>
                </a:extLst>
              </p:cNvPr>
              <p:cNvSpPr txBox="1"/>
              <p:nvPr/>
            </p:nvSpPr>
            <p:spPr>
              <a:xfrm>
                <a:off x="3540731" y="5114228"/>
                <a:ext cx="4548219" cy="70788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CN" sz="4000" i="1" smtClean="0">
                          <a:latin typeface="Cambria Math" panose="02040503050406030204" pitchFamily="18" charset="0"/>
                          <a:ea typeface="Cambria Math" panose="02040503050406030204" pitchFamily="18" charset="0"/>
                        </a:rPr>
                        <m:t>𝜇</m:t>
                      </m:r>
                      <m:d>
                        <m:dPr>
                          <m:ctrlPr>
                            <a:rPr lang="en-US" sz="4000" b="0" i="1" smtClean="0">
                              <a:latin typeface="Cambria Math" panose="02040503050406030204" pitchFamily="18" charset="0"/>
                              <a:ea typeface="Cambria Math" panose="02040503050406030204" pitchFamily="18" charset="0"/>
                            </a:rPr>
                          </m:ctrlPr>
                        </m:dPr>
                        <m:e>
                          <m:r>
                            <a:rPr lang="en-US" sz="4000" b="0" i="1" smtClean="0">
                              <a:latin typeface="Cambria Math" panose="02040503050406030204" pitchFamily="18" charset="0"/>
                              <a:ea typeface="Cambria Math" panose="02040503050406030204" pitchFamily="18" charset="0"/>
                            </a:rPr>
                            <m:t>0</m:t>
                          </m:r>
                        </m:e>
                      </m:d>
                      <m:r>
                        <a:rPr lang="en-US" sz="4000" b="0" i="1" smtClean="0">
                          <a:latin typeface="Cambria Math" panose="02040503050406030204" pitchFamily="18" charset="0"/>
                          <a:ea typeface="Cambria Math" panose="02040503050406030204" pitchFamily="18" charset="0"/>
                        </a:rPr>
                        <m:t>=</m:t>
                      </m:r>
                      <m:sSub>
                        <m:sSubPr>
                          <m:ctrlPr>
                            <a:rPr lang="en-US" sz="4000" b="0" i="1" smtClean="0">
                              <a:solidFill>
                                <a:srgbClr val="7030A0"/>
                              </a:solidFill>
                              <a:latin typeface="Cambria Math" panose="02040503050406030204" pitchFamily="18" charset="0"/>
                              <a:ea typeface="Cambria Math" panose="02040503050406030204" pitchFamily="18" charset="0"/>
                            </a:rPr>
                          </m:ctrlPr>
                        </m:sSubPr>
                        <m:e>
                          <m:r>
                            <a:rPr lang="en-US" sz="4000" b="0" i="1" smtClean="0">
                              <a:solidFill>
                                <a:srgbClr val="7030A0"/>
                              </a:solidFill>
                              <a:latin typeface="Cambria Math" panose="02040503050406030204" pitchFamily="18" charset="0"/>
                              <a:ea typeface="Cambria Math" panose="02040503050406030204" pitchFamily="18" charset="0"/>
                            </a:rPr>
                            <m:t>𝜀</m:t>
                          </m:r>
                        </m:e>
                        <m:sub>
                          <m:r>
                            <a:rPr lang="en-US" sz="4000" b="0" i="1" smtClean="0">
                              <a:solidFill>
                                <a:srgbClr val="7030A0"/>
                              </a:solidFill>
                              <a:latin typeface="Cambria Math" panose="02040503050406030204" pitchFamily="18" charset="0"/>
                              <a:ea typeface="Cambria Math" panose="02040503050406030204" pitchFamily="18" charset="0"/>
                            </a:rPr>
                            <m:t>𝐹</m:t>
                          </m:r>
                        </m:sub>
                      </m:sSub>
                      <m:r>
                        <a:rPr lang="en-US" sz="4000" b="0" i="1" smtClean="0">
                          <a:latin typeface="Cambria Math" panose="02040503050406030204" pitchFamily="18" charset="0"/>
                          <a:ea typeface="Cambria Math" panose="02040503050406030204" pitchFamily="18" charset="0"/>
                        </a:rPr>
                        <m:t>=</m:t>
                      </m:r>
                      <m:sSub>
                        <m:sSubPr>
                          <m:ctrlPr>
                            <a:rPr lang="en-US" sz="4000" b="0" i="1" smtClean="0">
                              <a:solidFill>
                                <a:srgbClr val="FF0000"/>
                              </a:solidFill>
                              <a:latin typeface="Cambria Math" panose="02040503050406030204" pitchFamily="18" charset="0"/>
                              <a:ea typeface="Cambria Math" panose="02040503050406030204" pitchFamily="18" charset="0"/>
                            </a:rPr>
                          </m:ctrlPr>
                        </m:sSubPr>
                        <m:e>
                          <m:r>
                            <a:rPr lang="en-US" sz="4000" b="0" i="1" smtClean="0">
                              <a:solidFill>
                                <a:srgbClr val="FF0000"/>
                              </a:solidFill>
                              <a:latin typeface="Cambria Math" panose="02040503050406030204" pitchFamily="18" charset="0"/>
                              <a:ea typeface="Cambria Math" panose="02040503050406030204" pitchFamily="18" charset="0"/>
                            </a:rPr>
                            <m:t>𝜏</m:t>
                          </m:r>
                        </m:e>
                        <m:sub>
                          <m:r>
                            <a:rPr lang="en-US" sz="4000" b="0" i="1" smtClean="0">
                              <a:solidFill>
                                <a:srgbClr val="FF0000"/>
                              </a:solidFill>
                              <a:latin typeface="Cambria Math" panose="02040503050406030204" pitchFamily="18" charset="0"/>
                              <a:ea typeface="Cambria Math" panose="02040503050406030204" pitchFamily="18" charset="0"/>
                            </a:rPr>
                            <m:t>𝐹</m:t>
                          </m:r>
                        </m:sub>
                      </m:sSub>
                    </m:oMath>
                  </m:oMathPara>
                </a14:m>
                <a:endParaRPr lang="en-CN" sz="4000" dirty="0"/>
              </a:p>
            </p:txBody>
          </p:sp>
        </mc:Choice>
        <mc:Fallback>
          <p:sp>
            <p:nvSpPr>
              <p:cNvPr id="10" name="TextBox 9">
                <a:extLst>
                  <a:ext uri="{FF2B5EF4-FFF2-40B4-BE49-F238E27FC236}">
                    <a16:creationId xmlns:a16="http://schemas.microsoft.com/office/drawing/2014/main" id="{3E4D237A-8838-9E44-A1D2-189B67C0D905}"/>
                  </a:ext>
                </a:extLst>
              </p:cNvPr>
              <p:cNvSpPr txBox="1">
                <a:spLocks noRot="1" noChangeAspect="1" noMove="1" noResize="1" noEditPoints="1" noAdjustHandles="1" noChangeArrowheads="1" noChangeShapeType="1" noTextEdit="1"/>
              </p:cNvSpPr>
              <p:nvPr/>
            </p:nvSpPr>
            <p:spPr>
              <a:xfrm>
                <a:off x="3540731" y="5114228"/>
                <a:ext cx="4548219" cy="707886"/>
              </a:xfrm>
              <a:prstGeom prst="rect">
                <a:avLst/>
              </a:prstGeom>
              <a:blipFill>
                <a:blip r:embed="rId8"/>
                <a:stretch>
                  <a:fillRect b="-14035"/>
                </a:stretch>
              </a:blipFill>
            </p:spPr>
            <p:txBody>
              <a:bodyPr/>
              <a:lstStyle/>
              <a:p>
                <a:r>
                  <a:rPr lang="en-CN">
                    <a:noFill/>
                  </a:rPr>
                  <a:t> </a:t>
                </a:r>
              </a:p>
            </p:txBody>
          </p:sp>
        </mc:Fallback>
      </mc:AlternateContent>
      <p:pic>
        <p:nvPicPr>
          <p:cNvPr id="11" name="Picture 10">
            <a:extLst>
              <a:ext uri="{FF2B5EF4-FFF2-40B4-BE49-F238E27FC236}">
                <a16:creationId xmlns:a16="http://schemas.microsoft.com/office/drawing/2014/main" id="{C0ECC38F-51D7-A245-A4AE-A40943AE9550}"/>
              </a:ext>
            </a:extLst>
          </p:cNvPr>
          <p:cNvPicPr>
            <a:picLocks noChangeAspect="1"/>
          </p:cNvPicPr>
          <p:nvPr/>
        </p:nvPicPr>
        <p:blipFill>
          <a:blip r:embed="rId9"/>
          <a:stretch>
            <a:fillRect/>
          </a:stretch>
        </p:blipFill>
        <p:spPr>
          <a:xfrm>
            <a:off x="7952524" y="0"/>
            <a:ext cx="4112210" cy="4284449"/>
          </a:xfrm>
          <a:prstGeom prst="rect">
            <a:avLst/>
          </a:prstGeom>
        </p:spPr>
      </p:pic>
      <p:sp>
        <p:nvSpPr>
          <p:cNvPr id="12" name="TextBox 11">
            <a:extLst>
              <a:ext uri="{FF2B5EF4-FFF2-40B4-BE49-F238E27FC236}">
                <a16:creationId xmlns:a16="http://schemas.microsoft.com/office/drawing/2014/main" id="{DBA1953F-9946-1146-AB35-F1999C9950D6}"/>
              </a:ext>
            </a:extLst>
          </p:cNvPr>
          <p:cNvSpPr txBox="1"/>
          <p:nvPr/>
        </p:nvSpPr>
        <p:spPr>
          <a:xfrm>
            <a:off x="277091" y="180109"/>
            <a:ext cx="4502169" cy="369332"/>
          </a:xfrm>
          <a:prstGeom prst="rect">
            <a:avLst/>
          </a:prstGeom>
          <a:noFill/>
        </p:spPr>
        <p:txBody>
          <a:bodyPr wrap="square" rtlCol="0">
            <a:spAutoFit/>
          </a:bodyPr>
          <a:lstStyle/>
          <a:p>
            <a:r>
              <a:rPr lang="en-CN" dirty="0"/>
              <a:t>观测FD分布函数</a:t>
            </a:r>
          </a:p>
        </p:txBody>
      </p:sp>
    </p:spTree>
    <p:extLst>
      <p:ext uri="{BB962C8B-B14F-4D97-AF65-F5344CB8AC3E}">
        <p14:creationId xmlns:p14="http://schemas.microsoft.com/office/powerpoint/2010/main" val="4059465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B6959E-14E1-CC7E-AD25-561A7131AF0B}"/>
              </a:ext>
            </a:extLst>
          </p:cNvPr>
          <p:cNvSpPr txBox="1"/>
          <p:nvPr/>
        </p:nvSpPr>
        <p:spPr>
          <a:xfrm>
            <a:off x="277091" y="180109"/>
            <a:ext cx="4502169" cy="369332"/>
          </a:xfrm>
          <a:prstGeom prst="rect">
            <a:avLst/>
          </a:prstGeom>
          <a:noFill/>
        </p:spPr>
        <p:txBody>
          <a:bodyPr wrap="square" rtlCol="0">
            <a:spAutoFit/>
          </a:bodyPr>
          <a:lstStyle/>
          <a:p>
            <a:r>
              <a:rPr lang="en-CN" dirty="0"/>
              <a:t>Fermi temperature</a:t>
            </a:r>
          </a:p>
        </p:txBody>
      </p:sp>
      <p:pic>
        <p:nvPicPr>
          <p:cNvPr id="6" name="Picture 5">
            <a:extLst>
              <a:ext uri="{FF2B5EF4-FFF2-40B4-BE49-F238E27FC236}">
                <a16:creationId xmlns:a16="http://schemas.microsoft.com/office/drawing/2014/main" id="{34462A35-81B6-8E94-AC5F-9DFEB1130410}"/>
              </a:ext>
            </a:extLst>
          </p:cNvPr>
          <p:cNvPicPr>
            <a:picLocks noChangeAspect="1"/>
          </p:cNvPicPr>
          <p:nvPr/>
        </p:nvPicPr>
        <p:blipFill>
          <a:blip r:embed="rId2"/>
          <a:stretch>
            <a:fillRect/>
          </a:stretch>
        </p:blipFill>
        <p:spPr>
          <a:xfrm>
            <a:off x="2628992" y="803563"/>
            <a:ext cx="5951590" cy="2014105"/>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5897AB5-C543-91B2-6DC6-9AA835E9CAA3}"/>
                  </a:ext>
                </a:extLst>
              </p:cNvPr>
              <p:cNvSpPr txBox="1"/>
              <p:nvPr/>
            </p:nvSpPr>
            <p:spPr>
              <a:xfrm>
                <a:off x="720436" y="3103418"/>
                <a:ext cx="10668000" cy="3108543"/>
              </a:xfrm>
              <a:prstGeom prst="rect">
                <a:avLst/>
              </a:prstGeom>
              <a:noFill/>
            </p:spPr>
            <p:txBody>
              <a:bodyPr wrap="square" rtlCol="0">
                <a:spAutoFit/>
              </a:bodyPr>
              <a:lstStyle/>
              <a:p>
                <a:pPr marL="285750" indent="-285750">
                  <a:buFont typeface="Arial" panose="020B0604020202020204" pitchFamily="34" charset="0"/>
                  <a:buChar char="•"/>
                </a:pPr>
                <a:r>
                  <a:rPr lang="en-CN" sz="2800" dirty="0"/>
                  <a:t>For low temperature </a:t>
                </a:r>
                <a14:m>
                  <m:oMath xmlns:m="http://schemas.openxmlformats.org/officeDocument/2006/math">
                    <m:r>
                      <a:rPr lang="en-CN" sz="2800" i="1" smtClean="0">
                        <a:latin typeface="Cambria Math" panose="02040503050406030204" pitchFamily="18" charset="0"/>
                        <a:ea typeface="Cambria Math" panose="02040503050406030204" pitchFamily="18" charset="0"/>
                      </a:rPr>
                      <m:t>𝜏</m:t>
                    </m:r>
                    <m:r>
                      <a:rPr lang="en-CN" sz="2800" i="1" smtClean="0">
                        <a:latin typeface="Cambria Math" panose="02040503050406030204" pitchFamily="18" charset="0"/>
                        <a:ea typeface="Cambria Math" panose="02040503050406030204" pitchFamily="18" charset="0"/>
                      </a:rPr>
                      <m:t>≪</m:t>
                    </m:r>
                    <m:sSub>
                      <m:sSubPr>
                        <m:ctrlPr>
                          <a:rPr lang="en-CN" sz="2800" i="1" smtClean="0">
                            <a:latin typeface="Cambria Math" panose="02040503050406030204" pitchFamily="18" charset="0"/>
                            <a:ea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𝜏</m:t>
                        </m:r>
                      </m:e>
                      <m:sub>
                        <m:r>
                          <a:rPr lang="en-US" sz="2800" b="0" i="1" smtClean="0">
                            <a:latin typeface="Cambria Math" panose="02040503050406030204" pitchFamily="18" charset="0"/>
                            <a:ea typeface="Cambria Math" panose="02040503050406030204" pitchFamily="18" charset="0"/>
                          </a:rPr>
                          <m:t>𝐹</m:t>
                        </m:r>
                      </m:sub>
                    </m:sSub>
                  </m:oMath>
                </a14:m>
                <a:r>
                  <a:rPr lang="en-CN" sz="2800" dirty="0"/>
                  <a:t>, the Fermi distribution deviates from that at </a:t>
                </a:r>
                <a14:m>
                  <m:oMath xmlns:m="http://schemas.openxmlformats.org/officeDocument/2006/math">
                    <m:r>
                      <a:rPr lang="en-CN" sz="2800" i="1" smtClean="0">
                        <a:latin typeface="Cambria Math" panose="02040503050406030204" pitchFamily="18" charset="0"/>
                        <a:ea typeface="Cambria Math" panose="02040503050406030204" pitchFamily="18" charset="0"/>
                      </a:rPr>
                      <m:t>𝜏</m:t>
                    </m:r>
                    <m:r>
                      <a:rPr lang="en-US" sz="2800" b="0" i="1" smtClean="0">
                        <a:latin typeface="Cambria Math" panose="02040503050406030204" pitchFamily="18" charset="0"/>
                        <a:ea typeface="Cambria Math" panose="02040503050406030204" pitchFamily="18" charset="0"/>
                      </a:rPr>
                      <m:t>=0</m:t>
                    </m:r>
                  </m:oMath>
                </a14:m>
                <a:r>
                  <a:rPr lang="en-CN" sz="2800" dirty="0"/>
                  <a:t> mainly in the neighborhood of Fermi energy </a:t>
                </a:r>
                <a:r>
                  <a:rPr lang="en-CN" sz="2800" dirty="0">
                    <a:solidFill>
                      <a:srgbClr val="FF0000"/>
                    </a:solidFill>
                  </a:rPr>
                  <a:t>in a layer of thickness </a:t>
                </a:r>
                <a14:m>
                  <m:oMath xmlns:m="http://schemas.openxmlformats.org/officeDocument/2006/math">
                    <m:r>
                      <a:rPr lang="en-CN" sz="2800" i="1" smtClean="0">
                        <a:solidFill>
                          <a:srgbClr val="FF0000"/>
                        </a:solidFill>
                        <a:latin typeface="Cambria Math" panose="02040503050406030204" pitchFamily="18" charset="0"/>
                        <a:ea typeface="Cambria Math" panose="02040503050406030204" pitchFamily="18" charset="0"/>
                      </a:rPr>
                      <m:t>𝜏</m:t>
                    </m:r>
                  </m:oMath>
                </a14:m>
                <a:r>
                  <a:rPr lang="en-CN" sz="2800" dirty="0"/>
                  <a:t>. Particles at energies of order </a:t>
                </a:r>
                <a14:m>
                  <m:oMath xmlns:m="http://schemas.openxmlformats.org/officeDocument/2006/math">
                    <m:r>
                      <a:rPr lang="en-CN" sz="2800" i="1" smtClean="0">
                        <a:latin typeface="Cambria Math" panose="02040503050406030204" pitchFamily="18" charset="0"/>
                        <a:ea typeface="Cambria Math" panose="02040503050406030204" pitchFamily="18" charset="0"/>
                      </a:rPr>
                      <m:t>𝜏</m:t>
                    </m:r>
                  </m:oMath>
                </a14:m>
                <a:r>
                  <a:rPr lang="en-CN" sz="2800" dirty="0"/>
                  <a:t> below the Fermi energy are excited to energies of order </a:t>
                </a:r>
                <a14:m>
                  <m:oMath xmlns:m="http://schemas.openxmlformats.org/officeDocument/2006/math">
                    <m:r>
                      <a:rPr lang="en-CN" sz="2800" i="1">
                        <a:latin typeface="Cambria Math" panose="02040503050406030204" pitchFamily="18" charset="0"/>
                        <a:ea typeface="Cambria Math" panose="02040503050406030204" pitchFamily="18" charset="0"/>
                      </a:rPr>
                      <m:t>𝜏</m:t>
                    </m:r>
                  </m:oMath>
                </a14:m>
                <a:r>
                  <a:rPr lang="en-CN" sz="2800" dirty="0"/>
                  <a:t> above the Fermi energy.</a:t>
                </a:r>
              </a:p>
              <a:p>
                <a:pPr marL="285750" indent="-285750">
                  <a:buFont typeface="Arial" panose="020B0604020202020204" pitchFamily="34" charset="0"/>
                  <a:buChar char="•"/>
                </a:pPr>
                <a:r>
                  <a:rPr lang="en-CN" sz="2800" dirty="0"/>
                  <a:t>For </a:t>
                </a:r>
                <a14:m>
                  <m:oMath xmlns:m="http://schemas.openxmlformats.org/officeDocument/2006/math">
                    <m:r>
                      <a:rPr lang="en-CN" sz="2800" i="1" smtClean="0">
                        <a:latin typeface="Cambria Math" panose="02040503050406030204" pitchFamily="18" charset="0"/>
                        <a:ea typeface="Cambria Math" panose="02040503050406030204" pitchFamily="18" charset="0"/>
                      </a:rPr>
                      <m:t>𝜏</m:t>
                    </m:r>
                    <m:r>
                      <a:rPr lang="en-CN" sz="2800" i="1" smtClean="0">
                        <a:latin typeface="Cambria Math" panose="02040503050406030204" pitchFamily="18" charset="0"/>
                        <a:ea typeface="Cambria Math" panose="02040503050406030204" pitchFamily="18" charset="0"/>
                      </a:rPr>
                      <m:t>≫</m:t>
                    </m:r>
                    <m:sSub>
                      <m:sSubPr>
                        <m:ctrlPr>
                          <a:rPr lang="en-CN" sz="2800" i="1" smtClean="0">
                            <a:latin typeface="Cambria Math" panose="02040503050406030204" pitchFamily="18" charset="0"/>
                            <a:ea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𝜏</m:t>
                        </m:r>
                      </m:e>
                      <m:sub>
                        <m:r>
                          <a:rPr lang="en-US" sz="2800" b="0" i="1" smtClean="0">
                            <a:latin typeface="Cambria Math" panose="02040503050406030204" pitchFamily="18" charset="0"/>
                            <a:ea typeface="Cambria Math" panose="02040503050406030204" pitchFamily="18" charset="0"/>
                          </a:rPr>
                          <m:t>𝐹</m:t>
                        </m:r>
                      </m:sub>
                    </m:sSub>
                  </m:oMath>
                </a14:m>
                <a:r>
                  <a:rPr lang="en-CN" sz="2800" dirty="0"/>
                  <a:t>, the Fermi distribution approaches the Boltzmann distribution. The quantum nature of the constituent particles becomes irrelevant.</a:t>
                </a:r>
              </a:p>
            </p:txBody>
          </p:sp>
        </mc:Choice>
        <mc:Fallback xmlns="">
          <p:sp>
            <p:nvSpPr>
              <p:cNvPr id="7" name="TextBox 6">
                <a:extLst>
                  <a:ext uri="{FF2B5EF4-FFF2-40B4-BE49-F238E27FC236}">
                    <a16:creationId xmlns:a16="http://schemas.microsoft.com/office/drawing/2014/main" id="{E5897AB5-C543-91B2-6DC6-9AA835E9CAA3}"/>
                  </a:ext>
                </a:extLst>
              </p:cNvPr>
              <p:cNvSpPr txBox="1">
                <a:spLocks noRot="1" noChangeAspect="1" noMove="1" noResize="1" noEditPoints="1" noAdjustHandles="1" noChangeArrowheads="1" noChangeShapeType="1" noTextEdit="1"/>
              </p:cNvSpPr>
              <p:nvPr/>
            </p:nvSpPr>
            <p:spPr>
              <a:xfrm>
                <a:off x="720436" y="3103418"/>
                <a:ext cx="10668000" cy="3108543"/>
              </a:xfrm>
              <a:prstGeom prst="rect">
                <a:avLst/>
              </a:prstGeom>
              <a:blipFill>
                <a:blip r:embed="rId3"/>
                <a:stretch>
                  <a:fillRect l="-951" t="-2033" r="-1784" b="-4472"/>
                </a:stretch>
              </a:blipFill>
            </p:spPr>
            <p:txBody>
              <a:bodyPr/>
              <a:lstStyle/>
              <a:p>
                <a:r>
                  <a:rPr lang="en-CN">
                    <a:noFill/>
                  </a:rPr>
                  <a:t> </a:t>
                </a:r>
              </a:p>
            </p:txBody>
          </p:sp>
        </mc:Fallback>
      </mc:AlternateContent>
    </p:spTree>
    <p:extLst>
      <p:ext uri="{BB962C8B-B14F-4D97-AF65-F5344CB8AC3E}">
        <p14:creationId xmlns:p14="http://schemas.microsoft.com/office/powerpoint/2010/main" val="4281039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B6959E-14E1-CC7E-AD25-561A7131AF0B}"/>
              </a:ext>
            </a:extLst>
          </p:cNvPr>
          <p:cNvSpPr txBox="1"/>
          <p:nvPr/>
        </p:nvSpPr>
        <p:spPr>
          <a:xfrm>
            <a:off x="277091" y="180109"/>
            <a:ext cx="4502169" cy="369332"/>
          </a:xfrm>
          <a:prstGeom prst="rect">
            <a:avLst/>
          </a:prstGeom>
          <a:noFill/>
        </p:spPr>
        <p:txBody>
          <a:bodyPr wrap="square" rtlCol="0">
            <a:spAutoFit/>
          </a:bodyPr>
          <a:lstStyle/>
          <a:p>
            <a:r>
              <a:rPr lang="en-CN" dirty="0"/>
              <a:t>Frozen vs. active electrons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5897AB5-C543-91B2-6DC6-9AA835E9CAA3}"/>
                  </a:ext>
                </a:extLst>
              </p:cNvPr>
              <p:cNvSpPr txBox="1"/>
              <p:nvPr/>
            </p:nvSpPr>
            <p:spPr>
              <a:xfrm>
                <a:off x="762000" y="2126861"/>
                <a:ext cx="10668000" cy="2009909"/>
              </a:xfrm>
              <a:prstGeom prst="rect">
                <a:avLst/>
              </a:prstGeom>
              <a:noFill/>
            </p:spPr>
            <p:txBody>
              <a:bodyPr wrap="square" rtlCol="0">
                <a:spAutoFit/>
              </a:bodyPr>
              <a:lstStyle/>
              <a:p>
                <a:pPr marL="285750" indent="-285750">
                  <a:buFont typeface="Arial" panose="020B0604020202020204" pitchFamily="34" charset="0"/>
                  <a:buChar char="•"/>
                </a:pPr>
                <a:r>
                  <a:rPr lang="en-CN" sz="2800" dirty="0"/>
                  <a:t>The Fermi temperature in metals implies that room temperature electrons are frozen mostly below the Fermi level.</a:t>
                </a:r>
              </a:p>
              <a:p>
                <a:pPr marL="285750" indent="-285750">
                  <a:buFont typeface="Arial" panose="020B0604020202020204" pitchFamily="34" charset="0"/>
                  <a:buChar char="•"/>
                </a:pPr>
                <a:r>
                  <a:rPr lang="en-CN" sz="2800" dirty="0"/>
                  <a:t>Only a fraction of the order of </a:t>
                </a:r>
                <a14:m>
                  <m:oMath xmlns:m="http://schemas.openxmlformats.org/officeDocument/2006/math">
                    <m:f>
                      <m:fPr>
                        <m:ctrlPr>
                          <a:rPr lang="en-CN" sz="2800" i="1" smtClean="0">
                            <a:latin typeface="Cambria Math" panose="02040503050406030204" pitchFamily="18" charset="0"/>
                          </a:rPr>
                        </m:ctrlPr>
                      </m:fPr>
                      <m:num>
                        <m:r>
                          <a:rPr lang="en-CN" sz="2800" i="1" smtClean="0">
                            <a:latin typeface="Cambria Math" panose="02040503050406030204" pitchFamily="18" charset="0"/>
                            <a:ea typeface="Cambria Math" panose="02040503050406030204" pitchFamily="18" charset="0"/>
                          </a:rPr>
                          <m:t>𝜏</m:t>
                        </m:r>
                      </m:num>
                      <m:den>
                        <m:sSub>
                          <m:sSubPr>
                            <m:ctrlPr>
                              <a:rPr lang="en-CN" sz="2800" i="1" smtClean="0">
                                <a:latin typeface="Cambria Math" panose="02040503050406030204" pitchFamily="18" charset="0"/>
                              </a:rPr>
                            </m:ctrlPr>
                          </m:sSubPr>
                          <m:e>
                            <m:r>
                              <a:rPr lang="en-CN" sz="2800" i="1" smtClean="0">
                                <a:latin typeface="Cambria Math" panose="02040503050406030204" pitchFamily="18" charset="0"/>
                                <a:ea typeface="Cambria Math" panose="02040503050406030204" pitchFamily="18" charset="0"/>
                              </a:rPr>
                              <m:t>𝜏</m:t>
                            </m:r>
                          </m:e>
                          <m:sub>
                            <m:r>
                              <a:rPr lang="en-US" sz="2800" b="0" i="1" smtClean="0">
                                <a:latin typeface="Cambria Math" panose="02040503050406030204" pitchFamily="18" charset="0"/>
                              </a:rPr>
                              <m:t>𝐹</m:t>
                            </m:r>
                          </m:sub>
                        </m:sSub>
                      </m:den>
                    </m:f>
                    <m:r>
                      <a:rPr lang="en-CN"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0.015</m:t>
                    </m:r>
                  </m:oMath>
                </a14:m>
                <a:r>
                  <a:rPr lang="en-CN" sz="2800" dirty="0"/>
                  <a:t> of the electrons contributs to thermodynamic properties involving excited states.</a:t>
                </a:r>
              </a:p>
            </p:txBody>
          </p:sp>
        </mc:Choice>
        <mc:Fallback xmlns="">
          <p:sp>
            <p:nvSpPr>
              <p:cNvPr id="7" name="TextBox 6">
                <a:extLst>
                  <a:ext uri="{FF2B5EF4-FFF2-40B4-BE49-F238E27FC236}">
                    <a16:creationId xmlns:a16="http://schemas.microsoft.com/office/drawing/2014/main" id="{E5897AB5-C543-91B2-6DC6-9AA835E9CAA3}"/>
                  </a:ext>
                </a:extLst>
              </p:cNvPr>
              <p:cNvSpPr txBox="1">
                <a:spLocks noRot="1" noChangeAspect="1" noMove="1" noResize="1" noEditPoints="1" noAdjustHandles="1" noChangeArrowheads="1" noChangeShapeType="1" noTextEdit="1"/>
              </p:cNvSpPr>
              <p:nvPr/>
            </p:nvSpPr>
            <p:spPr>
              <a:xfrm>
                <a:off x="762000" y="2126861"/>
                <a:ext cx="10668000" cy="2009909"/>
              </a:xfrm>
              <a:prstGeom prst="rect">
                <a:avLst/>
              </a:prstGeom>
              <a:blipFill>
                <a:blip r:embed="rId2"/>
                <a:stretch>
                  <a:fillRect l="-1070" t="-3145" b="-7547"/>
                </a:stretch>
              </a:blipFill>
            </p:spPr>
            <p:txBody>
              <a:bodyPr/>
              <a:lstStyle/>
              <a:p>
                <a:r>
                  <a:rPr lang="en-CN">
                    <a:noFill/>
                  </a:rPr>
                  <a:t> </a:t>
                </a:r>
              </a:p>
            </p:txBody>
          </p:sp>
        </mc:Fallback>
      </mc:AlternateContent>
    </p:spTree>
    <p:extLst>
      <p:ext uri="{BB962C8B-B14F-4D97-AF65-F5344CB8AC3E}">
        <p14:creationId xmlns:p14="http://schemas.microsoft.com/office/powerpoint/2010/main" val="116277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07B682-1E48-B641-9945-9123EF1A74AC}"/>
              </a:ext>
            </a:extLst>
          </p:cNvPr>
          <p:cNvSpPr txBox="1"/>
          <p:nvPr/>
        </p:nvSpPr>
        <p:spPr>
          <a:xfrm>
            <a:off x="623454" y="4627419"/>
            <a:ext cx="10681855" cy="369332"/>
          </a:xfrm>
          <a:prstGeom prst="rect">
            <a:avLst/>
          </a:prstGeom>
          <a:noFill/>
        </p:spPr>
        <p:txBody>
          <a:bodyPr wrap="square" rtlCol="0">
            <a:spAutoFit/>
          </a:bodyPr>
          <a:lstStyle/>
          <a:p>
            <a:pPr marL="285750" indent="-285750">
              <a:buFont typeface="Arial" panose="020B0604020202020204" pitchFamily="34" charset="0"/>
              <a:buChar char="•"/>
            </a:pPr>
            <a:r>
              <a:rPr lang="en-CN" dirty="0"/>
              <a:t>The density of states (the number of single-particle’s state per unit energy)</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F53CCE8-229E-314C-90EA-9A75BB1BDFE2}"/>
                  </a:ext>
                </a:extLst>
              </p:cNvPr>
              <p:cNvSpPr txBox="1"/>
              <p:nvPr/>
            </p:nvSpPr>
            <p:spPr>
              <a:xfrm>
                <a:off x="3803073" y="5093733"/>
                <a:ext cx="4585854" cy="6182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𝑑𝑁</m:t>
                          </m:r>
                        </m:num>
                        <m:den>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𝜀</m:t>
                          </m:r>
                        </m:den>
                      </m:f>
                    </m:oMath>
                  </m:oMathPara>
                </a14:m>
                <a:endParaRPr lang="en-CN" dirty="0"/>
              </a:p>
            </p:txBody>
          </p:sp>
        </mc:Choice>
        <mc:Fallback xmlns="">
          <p:sp>
            <p:nvSpPr>
              <p:cNvPr id="3" name="TextBox 2">
                <a:extLst>
                  <a:ext uri="{FF2B5EF4-FFF2-40B4-BE49-F238E27FC236}">
                    <a16:creationId xmlns:a16="http://schemas.microsoft.com/office/drawing/2014/main" id="{4F53CCE8-229E-314C-90EA-9A75BB1BDFE2}"/>
                  </a:ext>
                </a:extLst>
              </p:cNvPr>
              <p:cNvSpPr txBox="1">
                <a:spLocks noRot="1" noChangeAspect="1" noMove="1" noResize="1" noEditPoints="1" noAdjustHandles="1" noChangeArrowheads="1" noChangeShapeType="1" noTextEdit="1"/>
              </p:cNvSpPr>
              <p:nvPr/>
            </p:nvSpPr>
            <p:spPr>
              <a:xfrm>
                <a:off x="3803073" y="5093733"/>
                <a:ext cx="4585854" cy="618246"/>
              </a:xfrm>
              <a:prstGeom prst="rect">
                <a:avLst/>
              </a:prstGeom>
              <a:blipFill>
                <a:blip r:embed="rId2"/>
                <a:stretch>
                  <a:fillRect b="-612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39F2332-94CE-3642-A32A-E29825E23482}"/>
                  </a:ext>
                </a:extLst>
              </p:cNvPr>
              <p:cNvSpPr txBox="1"/>
              <p:nvPr/>
            </p:nvSpPr>
            <p:spPr>
              <a:xfrm>
                <a:off x="623454" y="927976"/>
                <a:ext cx="10681855" cy="3602461"/>
              </a:xfrm>
              <a:prstGeom prst="rect">
                <a:avLst/>
              </a:prstGeom>
              <a:noFill/>
            </p:spPr>
            <p:txBody>
              <a:bodyPr wrap="square" rtlCol="0">
                <a:spAutoFit/>
              </a:bodyPr>
              <a:lstStyle/>
              <a:p>
                <a:pPr marL="285750" indent="-285750">
                  <a:buFont typeface="Arial" panose="020B0604020202020204" pitchFamily="34" charset="0"/>
                  <a:buChar char="•"/>
                </a:pPr>
                <a:r>
                  <a:rPr lang="en-CN" dirty="0"/>
                  <a:t>Thermal averages for independent particle problems have the form</a:t>
                </a:r>
              </a:p>
              <a:p>
                <a:pPr algn="ctr"/>
                <a14:m>
                  <m:oMathPara xmlns:m="http://schemas.openxmlformats.org/officeDocument/2006/math">
                    <m:oMathParaPr>
                      <m:jc m:val="centerGroup"/>
                    </m:oMathParaPr>
                    <m:oMath xmlns:m="http://schemas.openxmlformats.org/officeDocument/2006/math">
                      <m:d>
                        <m:dPr>
                          <m:begChr m:val="⟨"/>
                          <m:endChr m:val="⟩"/>
                          <m:ctrlPr>
                            <a:rPr lang="en-CN"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𝑛</m:t>
                          </m:r>
                        </m:sub>
                        <m:sup/>
                        <m:e>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e>
                      </m:nary>
                    </m:oMath>
                  </m:oMathPara>
                </a14:m>
                <a:endParaRPr lang="en-CN" dirty="0"/>
              </a:p>
              <a:p>
                <a:r>
                  <a:rPr lang="en-US" dirty="0"/>
                  <a:t>Where n denotes the quantum orbital; </a:t>
                </a:r>
                <a:r>
                  <a:rPr lang="en-US" dirty="0" err="1"/>
                  <a:t>Xn</a:t>
                </a:r>
                <a:r>
                  <a:rPr lang="en-US" dirty="0"/>
                  <a:t> is the value of the quantity X in the orbital n; and f is the thermal average occupancy(distribution function)</a:t>
                </a:r>
              </a:p>
              <a:p>
                <a:endParaRPr lang="en-US" dirty="0"/>
              </a:p>
              <a:p>
                <a:pPr marL="285750" indent="-285750">
                  <a:buFont typeface="Arial" panose="020B0604020202020204" pitchFamily="34" charset="0"/>
                  <a:buChar char="•"/>
                </a:pPr>
                <a:r>
                  <a:rPr lang="en-CN" dirty="0"/>
                  <a:t>变量代换到能量变量</a:t>
                </a:r>
              </a:p>
              <a:p>
                <a:pPr algn="ctr"/>
                <a14:m>
                  <m:oMathPara xmlns:m="http://schemas.openxmlformats.org/officeDocument/2006/math">
                    <m:oMathParaPr>
                      <m:jc m:val="centerGroup"/>
                    </m:oMathParaPr>
                    <m:oMath xmlns:m="http://schemas.openxmlformats.org/officeDocument/2006/math">
                      <m:d>
                        <m:dPr>
                          <m:begChr m:val="⟨"/>
                          <m:endChr m:val="⟩"/>
                          <m:ctrlPr>
                            <a:rPr lang="en-CN"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nary>
                        <m:naryPr>
                          <m:limLoc m:val="undOv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𝐷</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e>
                          </m:d>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e>
                          </m:d>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e>
                      </m:nary>
                    </m:oMath>
                  </m:oMathPara>
                </a14:m>
                <a:endParaRPr lang="en-CN" dirty="0"/>
              </a:p>
              <a:p>
                <a:pPr algn="ctr"/>
                <a14:m>
                  <m:oMathPara xmlns:m="http://schemas.openxmlformats.org/officeDocument/2006/math">
                    <m:oMathParaPr>
                      <m:jc m:val="centerGroup"/>
                    </m:oMathParaPr>
                    <m:oMath xmlns:m="http://schemas.openxmlformats.org/officeDocument/2006/math">
                      <m:nary>
                        <m:naryPr>
                          <m:chr m:val="∑"/>
                          <m:supHide m:val="on"/>
                          <m:ctrlPr>
                            <a:rPr lang="en-CN" i="1" smtClean="0">
                              <a:latin typeface="Cambria Math" panose="02040503050406030204" pitchFamily="18" charset="0"/>
                            </a:rPr>
                          </m:ctrlPr>
                        </m:naryPr>
                        <m:sub>
                          <m:r>
                            <m:rPr>
                              <m:brk m:alnAt="7"/>
                            </m:rPr>
                            <a:rPr lang="en-US" b="0" i="1" smtClean="0">
                              <a:latin typeface="Cambria Math" panose="02040503050406030204" pitchFamily="18" charset="0"/>
                            </a:rPr>
                            <m:t>𝑛</m:t>
                          </m:r>
                        </m:sub>
                        <m:sup/>
                        <m:e>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nary>
                            <m:naryPr>
                              <m:limLoc m:val="undOvr"/>
                              <m:subHide m:val="on"/>
                              <m:supHide m:val="on"/>
                              <m:ctrlPr>
                                <a:rPr lang="en-US" b="0" i="1" smtClean="0">
                                  <a:latin typeface="Cambria Math" panose="02040503050406030204" pitchFamily="18" charset="0"/>
                                  <a:ea typeface="Cambria Math" panose="02040503050406030204" pitchFamily="18" charset="0"/>
                                </a:rPr>
                              </m:ctrlPr>
                            </m:naryPr>
                            <m:sub/>
                            <m:sup/>
                            <m:e>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e>
                          </m:nary>
                        </m:e>
                      </m:nary>
                    </m:oMath>
                  </m:oMathPara>
                </a14:m>
                <a:endParaRPr lang="en-CN" dirty="0"/>
              </a:p>
            </p:txBody>
          </p:sp>
        </mc:Choice>
        <mc:Fallback xmlns="">
          <p:sp>
            <p:nvSpPr>
              <p:cNvPr id="5" name="TextBox 4">
                <a:extLst>
                  <a:ext uri="{FF2B5EF4-FFF2-40B4-BE49-F238E27FC236}">
                    <a16:creationId xmlns:a16="http://schemas.microsoft.com/office/drawing/2014/main" id="{839F2332-94CE-3642-A32A-E29825E23482}"/>
                  </a:ext>
                </a:extLst>
              </p:cNvPr>
              <p:cNvSpPr txBox="1">
                <a:spLocks noRot="1" noChangeAspect="1" noMove="1" noResize="1" noEditPoints="1" noAdjustHandles="1" noChangeArrowheads="1" noChangeShapeType="1" noTextEdit="1"/>
              </p:cNvSpPr>
              <p:nvPr/>
            </p:nvSpPr>
            <p:spPr>
              <a:xfrm>
                <a:off x="623454" y="927976"/>
                <a:ext cx="10681855" cy="3602461"/>
              </a:xfrm>
              <a:prstGeom prst="rect">
                <a:avLst/>
              </a:prstGeom>
              <a:blipFill>
                <a:blip r:embed="rId3"/>
                <a:stretch>
                  <a:fillRect l="-356" t="-18246" b="-42807"/>
                </a:stretch>
              </a:blipFill>
            </p:spPr>
            <p:txBody>
              <a:bodyPr/>
              <a:lstStyle/>
              <a:p>
                <a:r>
                  <a:rPr lang="en-CN">
                    <a:noFill/>
                  </a:rPr>
                  <a:t> </a:t>
                </a:r>
              </a:p>
            </p:txBody>
          </p:sp>
        </mc:Fallback>
      </mc:AlternateContent>
    </p:spTree>
    <p:extLst>
      <p:ext uri="{BB962C8B-B14F-4D97-AF65-F5344CB8AC3E}">
        <p14:creationId xmlns:p14="http://schemas.microsoft.com/office/powerpoint/2010/main" val="1003679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AA6788-1F22-D84E-B770-AA1CAF714795}"/>
                  </a:ext>
                </a:extLst>
              </p:cNvPr>
              <p:cNvSpPr txBox="1"/>
              <p:nvPr/>
            </p:nvSpPr>
            <p:spPr>
              <a:xfrm>
                <a:off x="595745" y="498764"/>
                <a:ext cx="11069782" cy="1007392"/>
              </a:xfrm>
              <a:prstGeom prst="rect">
                <a:avLst/>
              </a:prstGeom>
              <a:noFill/>
            </p:spPr>
            <p:txBody>
              <a:bodyPr wrap="square" rtlCol="0">
                <a:spAutoFit/>
              </a:bodyPr>
              <a:lstStyle/>
              <a:p>
                <a:r>
                  <a:rPr lang="en-CN" dirty="0"/>
                  <a:t>For example,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ε</m:t>
                    </m:r>
                    <m:r>
                      <a:rPr lang="en-US" i="1">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rPr>
                              <m:t>2</m:t>
                            </m:r>
                          </m:sup>
                        </m:sSup>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ℏ</m:t>
                            </m:r>
                          </m:e>
                          <m:sup>
                            <m:r>
                              <a:rPr lang="en-US" i="1">
                                <a:latin typeface="Cambria Math" panose="02040503050406030204" pitchFamily="18" charset="0"/>
                              </a:rPr>
                              <m:t>2</m:t>
                            </m:r>
                          </m:sup>
                        </m:sSup>
                      </m:num>
                      <m:den>
                        <m:r>
                          <a:rPr lang="en-US" i="1">
                            <a:latin typeface="Cambria Math" panose="02040503050406030204" pitchFamily="18" charset="0"/>
                          </a:rPr>
                          <m:t>2</m:t>
                        </m:r>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𝑚</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𝐿</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ea typeface="Cambria Math" panose="02040503050406030204" pitchFamily="18" charset="0"/>
                                      </a:rPr>
                                      <m:t>2</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ea typeface="Cambria Math" panose="02040503050406030204" pitchFamily="18" charset="0"/>
                                      </a:rPr>
                                      <m:t>2</m:t>
                                    </m:r>
                                  </m:sup>
                                </m:sSup>
                              </m:den>
                            </m:f>
                          </m:e>
                        </m:d>
                      </m:e>
                      <m:sup>
                        <m:r>
                          <a:rPr lang="en-US" b="0" i="1" smtClean="0">
                            <a:latin typeface="Cambria Math" panose="02040503050406030204" pitchFamily="18" charset="0"/>
                            <a:ea typeface="Cambria Math" panose="02040503050406030204" pitchFamily="18" charset="0"/>
                          </a:rPr>
                          <m:t>1/2</m:t>
                        </m:r>
                      </m:sup>
                    </m:sSup>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𝜀</m:t>
                        </m:r>
                      </m:e>
                    </m:rad>
                  </m:oMath>
                </a14:m>
                <a:endParaRPr lang="en-CN" dirty="0"/>
              </a:p>
              <a:p>
                <a:r>
                  <a:rPr lang="en-US" dirty="0"/>
                  <a:t>A</a:t>
                </a:r>
                <a:r>
                  <a:rPr lang="en-CN" dirty="0"/>
                  <a:t>nd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N</m:t>
                    </m:r>
                    <m:r>
                      <a:rPr lang="en-US" b="0" i="0"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2×</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8</m:t>
                        </m:r>
                      </m:den>
                    </m:f>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3</m:t>
                        </m:r>
                      </m:den>
                    </m:f>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𝜋</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3</m:t>
                        </m:r>
                      </m:sup>
                    </m:sSup>
                  </m:oMath>
                </a14:m>
                <a:endParaRPr lang="en-CN" dirty="0"/>
              </a:p>
            </p:txBody>
          </p:sp>
        </mc:Choice>
        <mc:Fallback xmlns="">
          <p:sp>
            <p:nvSpPr>
              <p:cNvPr id="2" name="TextBox 1">
                <a:extLst>
                  <a:ext uri="{FF2B5EF4-FFF2-40B4-BE49-F238E27FC236}">
                    <a16:creationId xmlns:a16="http://schemas.microsoft.com/office/drawing/2014/main" id="{CAAA6788-1F22-D84E-B770-AA1CAF714795}"/>
                  </a:ext>
                </a:extLst>
              </p:cNvPr>
              <p:cNvSpPr txBox="1">
                <a:spLocks noRot="1" noChangeAspect="1" noMove="1" noResize="1" noEditPoints="1" noAdjustHandles="1" noChangeArrowheads="1" noChangeShapeType="1" noTextEdit="1"/>
              </p:cNvSpPr>
              <p:nvPr/>
            </p:nvSpPr>
            <p:spPr>
              <a:xfrm>
                <a:off x="595745" y="498764"/>
                <a:ext cx="11069782" cy="1007392"/>
              </a:xfrm>
              <a:prstGeom prst="rect">
                <a:avLst/>
              </a:prstGeom>
              <a:blipFill>
                <a:blip r:embed="rId2"/>
                <a:stretch>
                  <a:fillRect l="-573" b="-2500"/>
                </a:stretch>
              </a:blipFill>
            </p:spPr>
            <p:txBody>
              <a:bodyPr/>
              <a:lstStyle/>
              <a:p>
                <a:r>
                  <a:rPr lang="en-CN">
                    <a:noFill/>
                  </a:rPr>
                  <a:t> </a:t>
                </a:r>
              </a:p>
            </p:txBody>
          </p:sp>
        </mc:Fallback>
      </mc:AlternateContent>
      <p:sp>
        <p:nvSpPr>
          <p:cNvPr id="3" name="Right Brace 2">
            <a:extLst>
              <a:ext uri="{FF2B5EF4-FFF2-40B4-BE49-F238E27FC236}">
                <a16:creationId xmlns:a16="http://schemas.microsoft.com/office/drawing/2014/main" id="{7C5543BC-8223-4341-8F13-F13645CD526A}"/>
              </a:ext>
            </a:extLst>
          </p:cNvPr>
          <p:cNvSpPr/>
          <p:nvPr/>
        </p:nvSpPr>
        <p:spPr>
          <a:xfrm>
            <a:off x="5361709" y="720436"/>
            <a:ext cx="540327" cy="56803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D7872D1-4D02-0745-A9EE-3F3D70EDF72D}"/>
                  </a:ext>
                </a:extLst>
              </p:cNvPr>
              <p:cNvSpPr txBox="1"/>
              <p:nvPr/>
            </p:nvSpPr>
            <p:spPr>
              <a:xfrm>
                <a:off x="6096000" y="609371"/>
                <a:ext cx="3976255"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𝜋</m:t>
                      </m:r>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𝑚</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𝐿</m:t>
                                      </m:r>
                                    </m:e>
                                    <m:sup>
                                      <m:r>
                                        <a:rPr lang="en-US" i="1">
                                          <a:latin typeface="Cambria Math" panose="02040503050406030204" pitchFamily="18" charset="0"/>
                                          <a:ea typeface="Cambria Math" panose="02040503050406030204" pitchFamily="18" charset="0"/>
                                        </a:rPr>
                                        <m:t>2</m:t>
                                      </m:r>
                                    </m:sup>
                                  </m:sSup>
                                </m:num>
                                <m:den>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ea typeface="Cambria Math" panose="02040503050406030204" pitchFamily="18" charset="0"/>
                                        </a:rPr>
                                        <m:t>2</m:t>
                                      </m:r>
                                    </m:sup>
                                  </m:s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ℏ</m:t>
                                      </m:r>
                                    </m:e>
                                    <m:sup>
                                      <m:r>
                                        <a:rPr lang="en-US" i="1">
                                          <a:latin typeface="Cambria Math" panose="02040503050406030204" pitchFamily="18" charset="0"/>
                                          <a:ea typeface="Cambria Math" panose="02040503050406030204" pitchFamily="18" charset="0"/>
                                        </a:rPr>
                                        <m:t>2</m:t>
                                      </m:r>
                                    </m:sup>
                                  </m:sSup>
                                </m:den>
                              </m:f>
                            </m:e>
                          </m:d>
                        </m:e>
                        <m:sup>
                          <m:r>
                            <a:rPr lang="en-US" b="0" i="1" smtClean="0">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/2</m:t>
                          </m:r>
                        </m:sup>
                      </m:sSup>
                      <m:sSup>
                        <m:sSupPr>
                          <m:ctrlPr>
                            <a:rPr lang="en-US"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ea typeface="Cambria Math" panose="02040503050406030204" pitchFamily="18" charset="0"/>
                            </a:rPr>
                            <m:t>3/2</m:t>
                          </m:r>
                        </m:sup>
                      </m:sSup>
                    </m:oMath>
                  </m:oMathPara>
                </a14:m>
                <a:endParaRPr lang="en-CN" dirty="0"/>
              </a:p>
            </p:txBody>
          </p:sp>
        </mc:Choice>
        <mc:Fallback xmlns="">
          <p:sp>
            <p:nvSpPr>
              <p:cNvPr id="4" name="TextBox 3">
                <a:extLst>
                  <a:ext uri="{FF2B5EF4-FFF2-40B4-BE49-F238E27FC236}">
                    <a16:creationId xmlns:a16="http://schemas.microsoft.com/office/drawing/2014/main" id="{3D7872D1-4D02-0745-A9EE-3F3D70EDF72D}"/>
                  </a:ext>
                </a:extLst>
              </p:cNvPr>
              <p:cNvSpPr txBox="1">
                <a:spLocks noRot="1" noChangeAspect="1" noMove="1" noResize="1" noEditPoints="1" noAdjustHandles="1" noChangeArrowheads="1" noChangeShapeType="1" noTextEdit="1"/>
              </p:cNvSpPr>
              <p:nvPr/>
            </p:nvSpPr>
            <p:spPr>
              <a:xfrm>
                <a:off x="6096000" y="609371"/>
                <a:ext cx="3976255" cy="786177"/>
              </a:xfrm>
              <a:prstGeom prst="rect">
                <a:avLst/>
              </a:prstGeom>
              <a:blipFill>
                <a:blip r:embed="rId3"/>
                <a:stretch>
                  <a:fillRect/>
                </a:stretch>
              </a:blipFill>
            </p:spPr>
            <p:txBody>
              <a:bodyPr/>
              <a:lstStyle/>
              <a:p>
                <a:r>
                  <a:rPr lang="en-CN">
                    <a:noFill/>
                  </a:rPr>
                  <a:t> </a:t>
                </a:r>
              </a:p>
            </p:txBody>
          </p:sp>
        </mc:Fallback>
      </mc:AlternateContent>
      <p:sp>
        <p:nvSpPr>
          <p:cNvPr id="5" name="Down Arrow 4">
            <a:extLst>
              <a:ext uri="{FF2B5EF4-FFF2-40B4-BE49-F238E27FC236}">
                <a16:creationId xmlns:a16="http://schemas.microsoft.com/office/drawing/2014/main" id="{583874E8-088E-0B40-A088-1CD40F4FFCEF}"/>
              </a:ext>
            </a:extLst>
          </p:cNvPr>
          <p:cNvSpPr/>
          <p:nvPr/>
        </p:nvSpPr>
        <p:spPr>
          <a:xfrm>
            <a:off x="7516090" y="1506155"/>
            <a:ext cx="1205346" cy="4611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923470D-52C4-314B-987B-959A0B40F6C7}"/>
                  </a:ext>
                </a:extLst>
              </p:cNvPr>
              <p:cNvSpPr txBox="1"/>
              <p:nvPr/>
            </p:nvSpPr>
            <p:spPr>
              <a:xfrm>
                <a:off x="5902036" y="2166851"/>
                <a:ext cx="4585854" cy="8217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𝑑𝑁</m:t>
                          </m:r>
                        </m:num>
                        <m:den>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𝜀</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2</m:t>
                              </m:r>
                            </m:sup>
                          </m:sSup>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𝑚</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rPr>
                                        <m:t>2</m:t>
                                      </m:r>
                                    </m:sup>
                                  </m:sSup>
                                </m:den>
                              </m:f>
                            </m:e>
                          </m:d>
                        </m:e>
                        <m:sup>
                          <m:r>
                            <a:rPr lang="en-US" b="0" i="1" smtClean="0">
                              <a:latin typeface="Cambria Math" panose="02040503050406030204" pitchFamily="18" charset="0"/>
                            </a:rPr>
                            <m:t>3/2</m:t>
                          </m:r>
                        </m:sup>
                      </m:sSup>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𝜀</m:t>
                          </m:r>
                        </m:e>
                      </m:ra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𝐹</m:t>
                              </m:r>
                            </m:sub>
                            <m:sup>
                              <m:r>
                                <a:rPr lang="en-US" b="0" i="1" smtClean="0">
                                  <a:latin typeface="Cambria Math" panose="02040503050406030204" pitchFamily="18" charset="0"/>
                                </a:rPr>
                                <m:t>3/2</m:t>
                              </m:r>
                            </m:sup>
                          </m:sSubSup>
                        </m:den>
                      </m:f>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𝜀</m:t>
                          </m:r>
                        </m:e>
                      </m:rad>
                    </m:oMath>
                  </m:oMathPara>
                </a14:m>
                <a:endParaRPr lang="en-CN" dirty="0"/>
              </a:p>
            </p:txBody>
          </p:sp>
        </mc:Choice>
        <mc:Fallback xmlns="">
          <p:sp>
            <p:nvSpPr>
              <p:cNvPr id="6" name="TextBox 5">
                <a:extLst>
                  <a:ext uri="{FF2B5EF4-FFF2-40B4-BE49-F238E27FC236}">
                    <a16:creationId xmlns:a16="http://schemas.microsoft.com/office/drawing/2014/main" id="{7923470D-52C4-314B-987B-959A0B40F6C7}"/>
                  </a:ext>
                </a:extLst>
              </p:cNvPr>
              <p:cNvSpPr txBox="1">
                <a:spLocks noRot="1" noChangeAspect="1" noMove="1" noResize="1" noEditPoints="1" noAdjustHandles="1" noChangeArrowheads="1" noChangeShapeType="1" noTextEdit="1"/>
              </p:cNvSpPr>
              <p:nvPr/>
            </p:nvSpPr>
            <p:spPr>
              <a:xfrm>
                <a:off x="5902036" y="2166851"/>
                <a:ext cx="4585854" cy="821700"/>
              </a:xfrm>
              <a:prstGeom prst="rect">
                <a:avLst/>
              </a:prstGeom>
              <a:blipFill>
                <a:blip r:embed="rId4"/>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3D0BD66-5654-E14B-8542-4AC78FBA6EEE}"/>
                  </a:ext>
                </a:extLst>
              </p:cNvPr>
              <p:cNvSpPr txBox="1"/>
              <p:nvPr/>
            </p:nvSpPr>
            <p:spPr>
              <a:xfrm>
                <a:off x="1350818" y="4709091"/>
                <a:ext cx="10093037" cy="524567"/>
              </a:xfrm>
              <a:prstGeom prst="rect">
                <a:avLst/>
              </a:prstGeom>
              <a:noFill/>
            </p:spPr>
            <p:txBody>
              <a:bodyPr wrap="square">
                <a:spAutoFit/>
              </a:bodyPr>
              <a:lstStyle/>
              <a:p>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)=2×</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8</m:t>
                        </m:r>
                      </m:den>
                    </m:f>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𝜋</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0</m:t>
                        </m:r>
                      </m:sub>
                      <m: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𝑛</m:t>
                            </m:r>
                          </m:e>
                          <m:sub>
                            <m:r>
                              <a:rPr lang="en-US" b="0" i="1" smtClean="0">
                                <a:latin typeface="Cambria Math" panose="02040503050406030204" pitchFamily="18" charset="0"/>
                                <a:ea typeface="Cambria Math" panose="02040503050406030204" pitchFamily="18" charset="0"/>
                              </a:rPr>
                              <m:t>𝑚𝑎𝑥</m:t>
                            </m:r>
                          </m:sub>
                        </m:sSub>
                      </m:sup>
                      <m:e>
                        <m:r>
                          <a:rPr lang="en-US" b="0" i="1" smtClean="0">
                            <a:latin typeface="Cambria Math" panose="02040503050406030204" pitchFamily="18" charset="0"/>
                            <a:ea typeface="Cambria Math" panose="02040503050406030204" pitchFamily="18" charset="0"/>
                          </a:rPr>
                          <m:t>𝑑𝑛</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𝑛</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rPr>
                                  <m:t>2</m:t>
                                </m:r>
                              </m:sup>
                            </m:sSup>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ℏ</m:t>
                                </m:r>
                              </m:e>
                              <m:sup>
                                <m:r>
                                  <a:rPr lang="en-US" i="1">
                                    <a:latin typeface="Cambria Math" panose="02040503050406030204" pitchFamily="18" charset="0"/>
                                  </a:rPr>
                                  <m:t>2</m:t>
                                </m:r>
                              </m:sup>
                            </m:sSup>
                          </m:num>
                          <m:den>
                            <m:r>
                              <a:rPr lang="en-US" i="1">
                                <a:latin typeface="Cambria Math" panose="02040503050406030204" pitchFamily="18" charset="0"/>
                              </a:rPr>
                              <m:t>2</m:t>
                            </m:r>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nary>
                          <m:naryPr>
                            <m:limLoc m:val="undOvr"/>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𝑑𝑛</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4</m:t>
                                </m:r>
                              </m:sup>
                            </m:sSup>
                          </m:e>
                        </m:nary>
                        <m:r>
                          <a:rPr lang="en-US" b="0" i="1" smtClean="0">
                            <a:latin typeface="Cambria Math" panose="02040503050406030204" pitchFamily="18" charset="0"/>
                          </a:rPr>
                          <m:t> </m:t>
                        </m:r>
                      </m:e>
                    </m:nary>
                  </m:oMath>
                </a14:m>
                <a:r>
                  <a:rPr lang="en-CN" dirty="0"/>
                  <a:t>                                              </a:t>
                </a:r>
                <a14:m>
                  <m:oMath xmlns:m="http://schemas.openxmlformats.org/officeDocument/2006/math">
                    <m:nary>
                      <m:naryPr>
                        <m:ctrlPr>
                          <a:rPr lang="en-CN" i="1" dirty="0" smtClean="0">
                            <a:latin typeface="Cambria Math" panose="02040503050406030204" pitchFamily="18" charset="0"/>
                          </a:rPr>
                        </m:ctrlPr>
                      </m:naryPr>
                      <m:sub>
                        <m:r>
                          <m:rPr>
                            <m:brk m:alnAt="23"/>
                          </m:rPr>
                          <a:rPr lang="en-US" b="0" i="1" dirty="0" smtClean="0">
                            <a:latin typeface="Cambria Math" panose="02040503050406030204" pitchFamily="18" charset="0"/>
                          </a:rPr>
                          <m:t>0</m:t>
                        </m:r>
                      </m:sub>
                      <m:sup>
                        <m:sSub>
                          <m:sSubPr>
                            <m:ctrlPr>
                              <a:rPr lang="en-CN" i="1" dirty="0" smtClean="0">
                                <a:latin typeface="Cambria Math" panose="02040503050406030204" pitchFamily="18" charset="0"/>
                              </a:rPr>
                            </m:ctrlPr>
                          </m:sSubPr>
                          <m:e>
                            <m:r>
                              <a:rPr lang="en-CN" i="1" dirty="0" smtClean="0">
                                <a:latin typeface="Cambria Math" panose="02040503050406030204" pitchFamily="18" charset="0"/>
                                <a:ea typeface="Cambria Math" panose="02040503050406030204" pitchFamily="18" charset="0"/>
                              </a:rPr>
                              <m:t>𝜀</m:t>
                            </m:r>
                          </m:e>
                          <m:sub>
                            <m:r>
                              <a:rPr lang="en-US" b="0" i="1" dirty="0" smtClean="0">
                                <a:latin typeface="Cambria Math" panose="02040503050406030204" pitchFamily="18" charset="0"/>
                              </a:rPr>
                              <m:t>𝐹</m:t>
                            </m:r>
                          </m:sub>
                        </m:sSub>
                      </m:sup>
                      <m:e>
                        <m:r>
                          <a:rPr lang="en-US" b="0" i="1" dirty="0" smtClean="0">
                            <a:latin typeface="Cambria Math" panose="02040503050406030204" pitchFamily="18" charset="0"/>
                          </a:rPr>
                          <m:t>𝑑</m:t>
                        </m:r>
                        <m:r>
                          <a:rPr lang="en-US" b="0" i="1" dirty="0" smtClean="0">
                            <a:latin typeface="Cambria Math" panose="02040503050406030204" pitchFamily="18" charset="0"/>
                            <a:ea typeface="Cambria Math" panose="02040503050406030204" pitchFamily="18" charset="0"/>
                          </a:rPr>
                          <m:t>𝜀</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𝜀</m:t>
                        </m:r>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𝐷</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𝜀</m:t>
                        </m:r>
                        <m:r>
                          <a:rPr lang="en-US" b="0" i="1" dirty="0" smtClean="0">
                            <a:latin typeface="Cambria Math" panose="02040503050406030204" pitchFamily="18" charset="0"/>
                            <a:ea typeface="Cambria Math" panose="02040503050406030204" pitchFamily="18" charset="0"/>
                          </a:rPr>
                          <m:t>)</m:t>
                        </m:r>
                      </m:e>
                    </m:nary>
                  </m:oMath>
                </a14:m>
                <a:endParaRPr lang="en-CN" dirty="0"/>
              </a:p>
            </p:txBody>
          </p:sp>
        </mc:Choice>
        <mc:Fallback xmlns="">
          <p:sp>
            <p:nvSpPr>
              <p:cNvPr id="8" name="TextBox 7">
                <a:extLst>
                  <a:ext uri="{FF2B5EF4-FFF2-40B4-BE49-F238E27FC236}">
                    <a16:creationId xmlns:a16="http://schemas.microsoft.com/office/drawing/2014/main" id="{03D0BD66-5654-E14B-8542-4AC78FBA6EEE}"/>
                  </a:ext>
                </a:extLst>
              </p:cNvPr>
              <p:cNvSpPr txBox="1">
                <a:spLocks noRot="1" noChangeAspect="1" noMove="1" noResize="1" noEditPoints="1" noAdjustHandles="1" noChangeArrowheads="1" noChangeShapeType="1" noTextEdit="1"/>
              </p:cNvSpPr>
              <p:nvPr/>
            </p:nvSpPr>
            <p:spPr>
              <a:xfrm>
                <a:off x="1350818" y="4709091"/>
                <a:ext cx="10093037" cy="524567"/>
              </a:xfrm>
              <a:prstGeom prst="rect">
                <a:avLst/>
              </a:prstGeom>
              <a:blipFill>
                <a:blip r:embed="rId5"/>
                <a:stretch>
                  <a:fillRect t="-79070" b="-134884"/>
                </a:stretch>
              </a:blipFill>
            </p:spPr>
            <p:txBody>
              <a:bodyPr/>
              <a:lstStyle/>
              <a:p>
                <a:r>
                  <a:rPr lang="en-CN">
                    <a:noFill/>
                  </a:rPr>
                  <a:t> </a:t>
                </a:r>
              </a:p>
            </p:txBody>
          </p:sp>
        </mc:Fallback>
      </mc:AlternateContent>
      <p:sp>
        <p:nvSpPr>
          <p:cNvPr id="9" name="Right Arrow 8">
            <a:extLst>
              <a:ext uri="{FF2B5EF4-FFF2-40B4-BE49-F238E27FC236}">
                <a16:creationId xmlns:a16="http://schemas.microsoft.com/office/drawing/2014/main" id="{BF610435-DC0E-CD4C-94A6-3090E83E5910}"/>
              </a:ext>
            </a:extLst>
          </p:cNvPr>
          <p:cNvSpPr/>
          <p:nvPr/>
        </p:nvSpPr>
        <p:spPr>
          <a:xfrm>
            <a:off x="6982691" y="4885161"/>
            <a:ext cx="1614054" cy="1724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 name="Up Arrow 9">
            <a:extLst>
              <a:ext uri="{FF2B5EF4-FFF2-40B4-BE49-F238E27FC236}">
                <a16:creationId xmlns:a16="http://schemas.microsoft.com/office/drawing/2014/main" id="{4D4C5F09-E317-4842-9DB1-CE20984FC7C8}"/>
              </a:ext>
            </a:extLst>
          </p:cNvPr>
          <p:cNvSpPr/>
          <p:nvPr/>
        </p:nvSpPr>
        <p:spPr>
          <a:xfrm rot="19173619">
            <a:off x="8624454" y="3008772"/>
            <a:ext cx="193964" cy="151014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12" name="Picture 11">
            <a:extLst>
              <a:ext uri="{FF2B5EF4-FFF2-40B4-BE49-F238E27FC236}">
                <a16:creationId xmlns:a16="http://schemas.microsoft.com/office/drawing/2014/main" id="{138FD657-D59F-8C4A-9273-36EB86EDAD6E}"/>
              </a:ext>
            </a:extLst>
          </p:cNvPr>
          <p:cNvPicPr>
            <a:picLocks noChangeAspect="1"/>
          </p:cNvPicPr>
          <p:nvPr/>
        </p:nvPicPr>
        <p:blipFill>
          <a:blip r:embed="rId6"/>
          <a:stretch>
            <a:fillRect/>
          </a:stretch>
        </p:blipFill>
        <p:spPr>
          <a:xfrm>
            <a:off x="1232739" y="1966174"/>
            <a:ext cx="3787802" cy="2280511"/>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883732B-DBFD-B147-9B26-CA85366DF468}"/>
                  </a:ext>
                </a:extLst>
              </p:cNvPr>
              <p:cNvSpPr txBox="1"/>
              <p:nvPr/>
            </p:nvSpPr>
            <p:spPr>
              <a:xfrm>
                <a:off x="8596745" y="5696987"/>
                <a:ext cx="704487" cy="6163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
                        </m:e>
                      </m:d>
                    </m:oMath>
                  </m:oMathPara>
                </a14:m>
                <a:endParaRPr lang="en-CN" dirty="0"/>
              </a:p>
            </p:txBody>
          </p:sp>
        </mc:Choice>
        <mc:Fallback xmlns="">
          <p:sp>
            <p:nvSpPr>
              <p:cNvPr id="13" name="TextBox 12">
                <a:extLst>
                  <a:ext uri="{FF2B5EF4-FFF2-40B4-BE49-F238E27FC236}">
                    <a16:creationId xmlns:a16="http://schemas.microsoft.com/office/drawing/2014/main" id="{3883732B-DBFD-B147-9B26-CA85366DF468}"/>
                  </a:ext>
                </a:extLst>
              </p:cNvPr>
              <p:cNvSpPr txBox="1">
                <a:spLocks noRot="1" noChangeAspect="1" noMove="1" noResize="1" noEditPoints="1" noAdjustHandles="1" noChangeArrowheads="1" noChangeShapeType="1" noTextEdit="1"/>
              </p:cNvSpPr>
              <p:nvPr/>
            </p:nvSpPr>
            <p:spPr>
              <a:xfrm>
                <a:off x="8596745" y="5696987"/>
                <a:ext cx="704487" cy="616387"/>
              </a:xfrm>
              <a:prstGeom prst="rect">
                <a:avLst/>
              </a:prstGeom>
              <a:blipFill>
                <a:blip r:embed="rId7"/>
                <a:stretch>
                  <a:fillRect l="-92982" t="-220000" r="-124561" b="-312000"/>
                </a:stretch>
              </a:blipFill>
            </p:spPr>
            <p:txBody>
              <a:bodyPr/>
              <a:lstStyle/>
              <a:p>
                <a:r>
                  <a:rPr lang="en-CN">
                    <a:noFill/>
                  </a:rPr>
                  <a:t> </a:t>
                </a:r>
              </a:p>
            </p:txBody>
          </p:sp>
        </mc:Fallback>
      </mc:AlternateContent>
    </p:spTree>
    <p:extLst>
      <p:ext uri="{BB962C8B-B14F-4D97-AF65-F5344CB8AC3E}">
        <p14:creationId xmlns:p14="http://schemas.microsoft.com/office/powerpoint/2010/main" val="2731760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D81546-FE38-D44C-959B-6B9C191A16C4}"/>
                  </a:ext>
                </a:extLst>
              </p:cNvPr>
              <p:cNvSpPr txBox="1"/>
              <p:nvPr/>
            </p:nvSpPr>
            <p:spPr>
              <a:xfrm>
                <a:off x="2147454" y="1413163"/>
                <a:ext cx="8146473" cy="275613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𝑁</m:t>
                      </m:r>
                      <m:r>
                        <a:rPr lang="en-US" sz="4000" b="0" i="1" smtClean="0">
                          <a:latin typeface="Cambria Math" panose="02040503050406030204" pitchFamily="18" charset="0"/>
                        </a:rPr>
                        <m:t>=</m:t>
                      </m:r>
                      <m:nary>
                        <m:naryPr>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0</m:t>
                          </m:r>
                        </m:sub>
                        <m:sup>
                          <m:r>
                            <a:rPr lang="en-US" sz="4000" b="0" i="1" smtClean="0">
                              <a:latin typeface="Cambria Math" panose="02040503050406030204" pitchFamily="18" charset="0"/>
                              <a:ea typeface="Cambria Math" panose="02040503050406030204" pitchFamily="18" charset="0"/>
                            </a:rPr>
                            <m:t>∞</m:t>
                          </m:r>
                        </m:sup>
                        <m:e>
                          <m:r>
                            <a:rPr lang="en-US" sz="4000" b="0" i="1" smtClean="0">
                              <a:latin typeface="Cambria Math" panose="02040503050406030204" pitchFamily="18" charset="0"/>
                            </a:rPr>
                            <m:t>𝑑</m:t>
                          </m:r>
                          <m:r>
                            <a:rPr lang="en-US" sz="4000" b="0" i="1" smtClean="0">
                              <a:latin typeface="Cambria Math" panose="02040503050406030204" pitchFamily="18" charset="0"/>
                              <a:ea typeface="Cambria Math" panose="02040503050406030204" pitchFamily="18" charset="0"/>
                            </a:rPr>
                            <m:t>𝜀</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𝐷</m:t>
                          </m:r>
                          <m:d>
                            <m:dPr>
                              <m:ctrlPr>
                                <a:rPr lang="en-US" sz="4000" b="0" i="1" smtClean="0">
                                  <a:latin typeface="Cambria Math" panose="02040503050406030204" pitchFamily="18" charset="0"/>
                                  <a:ea typeface="Cambria Math" panose="02040503050406030204" pitchFamily="18" charset="0"/>
                                </a:rPr>
                              </m:ctrlPr>
                            </m:dPr>
                            <m:e>
                              <m:r>
                                <a:rPr lang="en-US" sz="4000" b="0" i="1" smtClean="0">
                                  <a:latin typeface="Cambria Math" panose="02040503050406030204" pitchFamily="18" charset="0"/>
                                  <a:ea typeface="Cambria Math" panose="02040503050406030204" pitchFamily="18" charset="0"/>
                                </a:rPr>
                                <m:t>𝜀</m:t>
                              </m:r>
                            </m:e>
                          </m:d>
                          <m:r>
                            <a:rPr lang="en-US" sz="4000" b="0" i="1" smtClean="0">
                              <a:latin typeface="Cambria Math" panose="02040503050406030204" pitchFamily="18" charset="0"/>
                              <a:ea typeface="Cambria Math" panose="02040503050406030204" pitchFamily="18" charset="0"/>
                            </a:rPr>
                            <m:t>𝑓</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𝜀</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e>
                      </m:nary>
                    </m:oMath>
                  </m:oMathPara>
                </a14:m>
                <a:endParaRPr lang="en-CN" sz="4000" dirty="0"/>
              </a:p>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𝑈</m:t>
                      </m:r>
                      <m:r>
                        <a:rPr lang="en-US" sz="4000" b="0" i="1" smtClean="0">
                          <a:latin typeface="Cambria Math" panose="02040503050406030204" pitchFamily="18" charset="0"/>
                        </a:rPr>
                        <m:t>=</m:t>
                      </m:r>
                      <m:nary>
                        <m:naryPr>
                          <m:ctrlPr>
                            <a:rPr lang="en-US" sz="4000" b="0" i="1" smtClean="0">
                              <a:latin typeface="Cambria Math" panose="02040503050406030204" pitchFamily="18" charset="0"/>
                            </a:rPr>
                          </m:ctrlPr>
                        </m:naryPr>
                        <m:sub>
                          <m:r>
                            <m:rPr>
                              <m:brk m:alnAt="23"/>
                            </m:rPr>
                            <a:rPr lang="en-US" sz="4000" b="0" i="1" smtClean="0">
                              <a:latin typeface="Cambria Math" panose="02040503050406030204" pitchFamily="18" charset="0"/>
                            </a:rPr>
                            <m:t>0</m:t>
                          </m:r>
                        </m:sub>
                        <m:sup>
                          <m:r>
                            <a:rPr lang="en-US" sz="4000" b="0" i="1" smtClean="0">
                              <a:latin typeface="Cambria Math" panose="02040503050406030204" pitchFamily="18" charset="0"/>
                              <a:ea typeface="Cambria Math" panose="02040503050406030204" pitchFamily="18" charset="0"/>
                            </a:rPr>
                            <m:t>∞</m:t>
                          </m:r>
                        </m:sup>
                        <m:e>
                          <m:r>
                            <a:rPr lang="en-US" sz="4000" b="0" i="1" smtClean="0">
                              <a:latin typeface="Cambria Math" panose="02040503050406030204" pitchFamily="18" charset="0"/>
                            </a:rPr>
                            <m:t>𝑑</m:t>
                          </m:r>
                          <m:r>
                            <a:rPr lang="en-US" sz="4000" b="0" i="1" smtClean="0">
                              <a:latin typeface="Cambria Math" panose="02040503050406030204" pitchFamily="18" charset="0"/>
                              <a:ea typeface="Cambria Math" panose="02040503050406030204" pitchFamily="18" charset="0"/>
                            </a:rPr>
                            <m:t>𝜀</m:t>
                          </m:r>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𝐷</m:t>
                          </m:r>
                          <m:d>
                            <m:dPr>
                              <m:ctrlPr>
                                <a:rPr lang="en-US" sz="4000" b="0" i="1" smtClean="0">
                                  <a:latin typeface="Cambria Math" panose="02040503050406030204" pitchFamily="18" charset="0"/>
                                  <a:ea typeface="Cambria Math" panose="02040503050406030204" pitchFamily="18" charset="0"/>
                                </a:rPr>
                              </m:ctrlPr>
                            </m:dPr>
                            <m:e>
                              <m:r>
                                <a:rPr lang="en-US" sz="4000" b="0" i="1" smtClean="0">
                                  <a:latin typeface="Cambria Math" panose="02040503050406030204" pitchFamily="18" charset="0"/>
                                  <a:ea typeface="Cambria Math" panose="02040503050406030204" pitchFamily="18" charset="0"/>
                                </a:rPr>
                                <m:t>𝜀</m:t>
                              </m:r>
                            </m:e>
                          </m:d>
                          <m:r>
                            <a:rPr lang="en-US" sz="4000" b="0" i="1" smtClean="0">
                              <a:latin typeface="Cambria Math" panose="02040503050406030204" pitchFamily="18" charset="0"/>
                              <a:ea typeface="Cambria Math" panose="02040503050406030204" pitchFamily="18" charset="0"/>
                            </a:rPr>
                            <m:t>𝑓</m:t>
                          </m:r>
                          <m:d>
                            <m:dPr>
                              <m:ctrlPr>
                                <a:rPr lang="en-US" sz="4000" b="0" i="1" smtClean="0">
                                  <a:latin typeface="Cambria Math" panose="02040503050406030204" pitchFamily="18" charset="0"/>
                                  <a:ea typeface="Cambria Math" panose="02040503050406030204" pitchFamily="18" charset="0"/>
                                </a:rPr>
                              </m:ctrlPr>
                            </m:dPr>
                            <m:e>
                              <m:r>
                                <a:rPr lang="en-US" sz="4000" b="0" i="1" smtClean="0">
                                  <a:latin typeface="Cambria Math" panose="02040503050406030204" pitchFamily="18" charset="0"/>
                                  <a:ea typeface="Cambria Math" panose="02040503050406030204" pitchFamily="18" charset="0"/>
                                </a:rPr>
                                <m:t>𝜀</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𝜇</m:t>
                              </m:r>
                            </m:e>
                          </m:d>
                          <m:r>
                            <a:rPr lang="en-US" sz="4000" b="0" i="1" smtClean="0">
                              <a:latin typeface="Cambria Math" panose="02040503050406030204" pitchFamily="18" charset="0"/>
                              <a:ea typeface="Cambria Math" panose="02040503050406030204" pitchFamily="18" charset="0"/>
                            </a:rPr>
                            <m:t> </m:t>
                          </m:r>
                          <m:r>
                            <a:rPr lang="en-US" sz="4000" b="0" i="1" smtClean="0">
                              <a:latin typeface="Cambria Math" panose="02040503050406030204" pitchFamily="18" charset="0"/>
                              <a:ea typeface="Cambria Math" panose="02040503050406030204" pitchFamily="18" charset="0"/>
                            </a:rPr>
                            <m:t>𝜀</m:t>
                          </m:r>
                        </m:e>
                      </m:nary>
                    </m:oMath>
                  </m:oMathPara>
                </a14:m>
                <a:endParaRPr lang="en-CN" sz="4000" dirty="0"/>
              </a:p>
            </p:txBody>
          </p:sp>
        </mc:Choice>
        <mc:Fallback xmlns="">
          <p:sp>
            <p:nvSpPr>
              <p:cNvPr id="2" name="TextBox 1">
                <a:extLst>
                  <a:ext uri="{FF2B5EF4-FFF2-40B4-BE49-F238E27FC236}">
                    <a16:creationId xmlns:a16="http://schemas.microsoft.com/office/drawing/2014/main" id="{43D81546-FE38-D44C-959B-6B9C191A16C4}"/>
                  </a:ext>
                </a:extLst>
              </p:cNvPr>
              <p:cNvSpPr txBox="1">
                <a:spLocks noRot="1" noChangeAspect="1" noMove="1" noResize="1" noEditPoints="1" noAdjustHandles="1" noChangeArrowheads="1" noChangeShapeType="1" noTextEdit="1"/>
              </p:cNvSpPr>
              <p:nvPr/>
            </p:nvSpPr>
            <p:spPr>
              <a:xfrm>
                <a:off x="2147454" y="1413163"/>
                <a:ext cx="8146473" cy="2756139"/>
              </a:xfrm>
              <a:prstGeom prst="rect">
                <a:avLst/>
              </a:prstGeom>
              <a:blipFill>
                <a:blip r:embed="rId2"/>
                <a:stretch>
                  <a:fillRect t="-91743" b="-133028"/>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34034EA1-2924-D244-9D25-0AA86B75301A}"/>
              </a:ext>
            </a:extLst>
          </p:cNvPr>
          <p:cNvSpPr txBox="1"/>
          <p:nvPr/>
        </p:nvSpPr>
        <p:spPr>
          <a:xfrm>
            <a:off x="415636" y="290945"/>
            <a:ext cx="3879273" cy="369332"/>
          </a:xfrm>
          <a:prstGeom prst="rect">
            <a:avLst/>
          </a:prstGeom>
          <a:noFill/>
        </p:spPr>
        <p:txBody>
          <a:bodyPr wrap="square" rtlCol="0">
            <a:spAutoFit/>
          </a:bodyPr>
          <a:lstStyle/>
          <a:p>
            <a:r>
              <a:rPr lang="en-CN" dirty="0"/>
              <a:t>推广到一般温度下</a:t>
            </a:r>
          </a:p>
        </p:txBody>
      </p:sp>
      <p:sp>
        <p:nvSpPr>
          <p:cNvPr id="4" name="TextBox 3">
            <a:extLst>
              <a:ext uri="{FF2B5EF4-FFF2-40B4-BE49-F238E27FC236}">
                <a16:creationId xmlns:a16="http://schemas.microsoft.com/office/drawing/2014/main" id="{EF6C2CB5-D9AC-266E-C7DC-2EAF2C18E6D0}"/>
              </a:ext>
            </a:extLst>
          </p:cNvPr>
          <p:cNvSpPr txBox="1"/>
          <p:nvPr/>
        </p:nvSpPr>
        <p:spPr>
          <a:xfrm>
            <a:off x="717665" y="4939867"/>
            <a:ext cx="3879273" cy="369332"/>
          </a:xfrm>
          <a:prstGeom prst="rect">
            <a:avLst/>
          </a:prstGeom>
          <a:noFill/>
        </p:spPr>
        <p:txBody>
          <a:bodyPr wrap="square" rtlCol="0">
            <a:spAutoFit/>
          </a:bodyPr>
          <a:lstStyle/>
          <a:p>
            <a:r>
              <a:rPr lang="en-CN" dirty="0"/>
              <a:t>接下来玩玩儿数学</a:t>
            </a:r>
          </a:p>
        </p:txBody>
      </p:sp>
    </p:spTree>
    <p:extLst>
      <p:ext uri="{BB962C8B-B14F-4D97-AF65-F5344CB8AC3E}">
        <p14:creationId xmlns:p14="http://schemas.microsoft.com/office/powerpoint/2010/main" val="33204514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250EB00-1AEE-DD40-B5F8-A99D9CE94CE0}"/>
                  </a:ext>
                </a:extLst>
              </p:cNvPr>
              <p:cNvSpPr txBox="1"/>
              <p:nvPr/>
            </p:nvSpPr>
            <p:spPr>
              <a:xfrm>
                <a:off x="595745" y="290945"/>
                <a:ext cx="5985164" cy="369332"/>
              </a:xfrm>
              <a:prstGeom prst="rect">
                <a:avLst/>
              </a:prstGeom>
              <a:noFill/>
            </p:spPr>
            <p:txBody>
              <a:bodyPr wrap="square" rtlCol="0">
                <a:spAutoFit/>
              </a:bodyPr>
              <a:lstStyle/>
              <a:p>
                <a:r>
                  <a:rPr lang="en-CN" dirty="0"/>
                  <a:t>Case-I: </a:t>
                </a:r>
                <a14:m>
                  <m:oMath xmlns:m="http://schemas.openxmlformats.org/officeDocument/2006/math">
                    <m:r>
                      <a:rPr lang="en-CN" i="1" smtClean="0">
                        <a:latin typeface="Cambria Math" panose="02040503050406030204" pitchFamily="18" charset="0"/>
                        <a:ea typeface="Cambria Math" panose="02040503050406030204" pitchFamily="18" charset="0"/>
                      </a:rPr>
                      <m:t>𝜏</m:t>
                    </m:r>
                    <m:r>
                      <a:rPr lang="en-CN" i="1" smtClean="0">
                        <a:latin typeface="Cambria Math" panose="02040503050406030204" pitchFamily="18" charset="0"/>
                        <a:ea typeface="Cambria Math" panose="02040503050406030204" pitchFamily="18" charset="0"/>
                      </a:rPr>
                      <m:t>≪</m:t>
                    </m:r>
                    <m:sSub>
                      <m:sSubPr>
                        <m:ctrlPr>
                          <a:rPr lang="en-CN" i="1" smtClean="0">
                            <a:latin typeface="Cambria Math" panose="02040503050406030204" pitchFamily="18" charset="0"/>
                            <a:ea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𝐹</m:t>
                        </m:r>
                      </m:sub>
                    </m:sSub>
                  </m:oMath>
                </a14:m>
                <a:endParaRPr lang="en-CN" dirty="0"/>
              </a:p>
            </p:txBody>
          </p:sp>
        </mc:Choice>
        <mc:Fallback xmlns="">
          <p:sp>
            <p:nvSpPr>
              <p:cNvPr id="2" name="TextBox 1">
                <a:extLst>
                  <a:ext uri="{FF2B5EF4-FFF2-40B4-BE49-F238E27FC236}">
                    <a16:creationId xmlns:a16="http://schemas.microsoft.com/office/drawing/2014/main" id="{3250EB00-1AEE-DD40-B5F8-A99D9CE94CE0}"/>
                  </a:ext>
                </a:extLst>
              </p:cNvPr>
              <p:cNvSpPr txBox="1">
                <a:spLocks noRot="1" noChangeAspect="1" noMove="1" noResize="1" noEditPoints="1" noAdjustHandles="1" noChangeArrowheads="1" noChangeShapeType="1" noTextEdit="1"/>
              </p:cNvSpPr>
              <p:nvPr/>
            </p:nvSpPr>
            <p:spPr>
              <a:xfrm>
                <a:off x="595745" y="290945"/>
                <a:ext cx="5985164" cy="369332"/>
              </a:xfrm>
              <a:prstGeom prst="rect">
                <a:avLst/>
              </a:prstGeom>
              <a:blipFill>
                <a:blip r:embed="rId2"/>
                <a:stretch>
                  <a:fillRect l="-1059" t="-10345" b="-2758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13454AC-0A00-1343-975A-23470957D0B1}"/>
                  </a:ext>
                </a:extLst>
              </p:cNvPr>
              <p:cNvSpPr txBox="1"/>
              <p:nvPr/>
            </p:nvSpPr>
            <p:spPr>
              <a:xfrm>
                <a:off x="2493819" y="660277"/>
                <a:ext cx="6096000" cy="13372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𝑁</m:t>
                      </m:r>
                      <m:r>
                        <a:rPr lang="en-US" sz="1800" b="0" i="1" smtClean="0">
                          <a:latin typeface="Cambria Math" panose="02040503050406030204" pitchFamily="18" charset="0"/>
                        </a:rPr>
                        <m:t>=</m:t>
                      </m:r>
                      <m:nary>
                        <m:naryPr>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m:t>
                          </m:r>
                        </m:sup>
                        <m:e>
                          <m:r>
                            <a:rPr lang="en-US" sz="1800" b="0" i="1" smtClean="0">
                              <a:latin typeface="Cambria Math" panose="02040503050406030204" pitchFamily="18" charset="0"/>
                            </a:rPr>
                            <m:t>𝑑</m:t>
                          </m:r>
                          <m:r>
                            <a:rPr lang="en-US" sz="1800" b="0" i="1" smtClean="0">
                              <a:latin typeface="Cambria Math" panose="02040503050406030204" pitchFamily="18" charset="0"/>
                              <a:ea typeface="Cambria Math" panose="02040503050406030204" pitchFamily="18" charset="0"/>
                            </a:rPr>
                            <m:t>𝜀</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𝐷</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𝜀</m:t>
                              </m:r>
                            </m:e>
                          </m:d>
                          <m:r>
                            <a:rPr lang="en-US" sz="1800" b="0" i="1" smtClean="0">
                              <a:latin typeface="Cambria Math" panose="02040503050406030204" pitchFamily="18" charset="0"/>
                              <a:ea typeface="Cambria Math" panose="02040503050406030204" pitchFamily="18" charset="0"/>
                            </a:rPr>
                            <m:t>𝑓</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𝜀</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𝜇</m:t>
                          </m:r>
                          <m:r>
                            <a:rPr lang="en-US" sz="1800" b="0" i="1" smtClean="0">
                              <a:latin typeface="Cambria Math" panose="02040503050406030204" pitchFamily="18" charset="0"/>
                              <a:ea typeface="Cambria Math" panose="02040503050406030204" pitchFamily="18" charset="0"/>
                            </a:rPr>
                            <m:t>)</m:t>
                          </m:r>
                        </m:e>
                      </m:nary>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𝐷</m:t>
                          </m:r>
                        </m:e>
                        <m:sub>
                          <m:r>
                            <a:rPr lang="en-US" sz="1800" b="0" i="1" smtClean="0">
                              <a:latin typeface="Cambria Math" panose="02040503050406030204" pitchFamily="18" charset="0"/>
                              <a:ea typeface="Cambria Math" panose="02040503050406030204" pitchFamily="18" charset="0"/>
                            </a:rPr>
                            <m:t>0</m:t>
                          </m:r>
                        </m:sub>
                      </m:sSub>
                      <m:nary>
                        <m:naryPr>
                          <m:ctrlPr>
                            <a:rPr lang="en-US" sz="1800" b="0" i="1" smtClean="0">
                              <a:latin typeface="Cambria Math" panose="02040503050406030204" pitchFamily="18" charset="0"/>
                              <a:ea typeface="Cambria Math" panose="02040503050406030204" pitchFamily="18" charset="0"/>
                            </a:rPr>
                          </m:ctrlPr>
                        </m:naryPr>
                        <m:sub>
                          <m:r>
                            <m:rPr>
                              <m:brk m:alnAt="23"/>
                            </m:rP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m:t>
                          </m:r>
                        </m:sup>
                        <m:e>
                          <m:r>
                            <a:rPr lang="en-US" sz="1800" b="0" i="1" smtClean="0">
                              <a:latin typeface="Cambria Math" panose="02040503050406030204" pitchFamily="18" charset="0"/>
                              <a:ea typeface="Cambria Math" panose="02040503050406030204" pitchFamily="18" charset="0"/>
                            </a:rPr>
                            <m:t>𝑑</m:t>
                          </m:r>
                          <m:r>
                            <a:rPr lang="en-US" sz="1800" b="0" i="1" smtClean="0">
                              <a:latin typeface="Cambria Math" panose="02040503050406030204" pitchFamily="18" charset="0"/>
                              <a:ea typeface="Cambria Math" panose="02040503050406030204" pitchFamily="18" charset="0"/>
                            </a:rPr>
                            <m:t>𝜀</m:t>
                          </m:r>
                          <m:r>
                            <a:rPr lang="en-US" sz="1800" b="0" i="1" smtClean="0">
                              <a:latin typeface="Cambria Math" panose="02040503050406030204" pitchFamily="18" charset="0"/>
                              <a:ea typeface="Cambria Math" panose="02040503050406030204" pitchFamily="18" charset="0"/>
                            </a:rPr>
                            <m:t> </m:t>
                          </m:r>
                          <m:rad>
                            <m:radPr>
                              <m:degHide m:val="on"/>
                              <m:ctrlPr>
                                <a:rPr lang="en-US" sz="1800" b="0" i="1" smtClean="0">
                                  <a:latin typeface="Cambria Math" panose="02040503050406030204" pitchFamily="18" charset="0"/>
                                  <a:ea typeface="Cambria Math" panose="02040503050406030204" pitchFamily="18" charset="0"/>
                                </a:rPr>
                              </m:ctrlPr>
                            </m:radPr>
                            <m:deg/>
                            <m:e>
                              <m:r>
                                <a:rPr lang="en-US" sz="1800" b="0" i="1" smtClean="0">
                                  <a:latin typeface="Cambria Math" panose="02040503050406030204" pitchFamily="18" charset="0"/>
                                  <a:ea typeface="Cambria Math" panose="02040503050406030204" pitchFamily="18" charset="0"/>
                                </a:rPr>
                                <m:t>𝜀</m:t>
                              </m:r>
                            </m:e>
                          </m:rad>
                          <m:r>
                            <a:rPr lang="en-US" sz="1800" b="0" i="1" smtClean="0">
                              <a:latin typeface="Cambria Math" panose="02040503050406030204" pitchFamily="18" charset="0"/>
                              <a:ea typeface="Cambria Math" panose="02040503050406030204" pitchFamily="18" charset="0"/>
                            </a:rPr>
                            <m:t>𝑓</m:t>
                          </m:r>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𝐷</m:t>
                              </m:r>
                            </m:e>
                            <m:sub>
                              <m:r>
                                <a:rPr lang="en-US" sz="1800" b="0" i="1" smtClean="0">
                                  <a:latin typeface="Cambria Math" panose="02040503050406030204" pitchFamily="18" charset="0"/>
                                  <a:ea typeface="Cambria Math" panose="02040503050406030204" pitchFamily="18" charset="0"/>
                                </a:rPr>
                                <m:t>0</m:t>
                              </m:r>
                            </m:sub>
                          </m:sSub>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2</m:t>
                              </m:r>
                            </m:num>
                            <m:den>
                              <m:r>
                                <a:rPr lang="en-US" sz="1800" b="0" i="1" smtClean="0">
                                  <a:latin typeface="Cambria Math" panose="02040503050406030204" pitchFamily="18" charset="0"/>
                                  <a:ea typeface="Cambria Math" panose="02040503050406030204" pitchFamily="18" charset="0"/>
                                </a:rPr>
                                <m:t>3</m:t>
                              </m:r>
                            </m:den>
                          </m:f>
                          <m:r>
                            <a:rPr lang="en-US" sz="1800" b="0" i="1" smtClean="0">
                              <a:latin typeface="Cambria Math" panose="02040503050406030204" pitchFamily="18" charset="0"/>
                              <a:ea typeface="Cambria Math" panose="02040503050406030204" pitchFamily="18" charset="0"/>
                            </a:rPr>
                            <m:t> </m:t>
                          </m:r>
                          <m:nary>
                            <m:naryPr>
                              <m:ctrlPr>
                                <a:rPr lang="en-US" sz="1800" b="0" i="1" smtClean="0">
                                  <a:latin typeface="Cambria Math" panose="02040503050406030204" pitchFamily="18" charset="0"/>
                                  <a:ea typeface="Cambria Math" panose="02040503050406030204" pitchFamily="18" charset="0"/>
                                </a:rPr>
                              </m:ctrlPr>
                            </m:naryPr>
                            <m:sub>
                              <m:r>
                                <m:rPr>
                                  <m:brk m:alnAt="23"/>
                                </m:rP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m:t>
                              </m:r>
                            </m:sup>
                            <m:e>
                              <m:r>
                                <a:rPr lang="en-US" sz="1800" b="0" i="1" smtClean="0">
                                  <a:latin typeface="Cambria Math" panose="02040503050406030204" pitchFamily="18" charset="0"/>
                                  <a:ea typeface="Cambria Math" panose="02040503050406030204" pitchFamily="18" charset="0"/>
                                </a:rPr>
                                <m:t>𝑓𝑑</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𝜀</m:t>
                                  </m:r>
                                </m:e>
                                <m:sup>
                                  <m:r>
                                    <a:rPr lang="en-US" sz="1800" b="0" i="1" smtClean="0">
                                      <a:latin typeface="Cambria Math" panose="02040503050406030204" pitchFamily="18" charset="0"/>
                                      <a:ea typeface="Cambria Math" panose="02040503050406030204" pitchFamily="18" charset="0"/>
                                    </a:rPr>
                                    <m:t>3/2</m:t>
                                  </m:r>
                                </m:sup>
                              </m:sSup>
                            </m:e>
                          </m:nary>
                        </m:e>
                      </m:nary>
                    </m:oMath>
                  </m:oMathPara>
                </a14:m>
                <a:endParaRPr lang="en-CN" dirty="0"/>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0</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rPr>
                            <m:t>3/2</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𝑓</m:t>
                          </m:r>
                          <m:r>
                            <a:rPr lang="en-US" b="0" i="1" smtClean="0">
                              <a:latin typeface="Cambria Math" panose="02040503050406030204" pitchFamily="18" charset="0"/>
                            </a:rPr>
                            <m:t>|</m:t>
                          </m:r>
                        </m:e>
                        <m:sub>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0</m:t>
                          </m:r>
                        </m:sub>
                      </m:sSub>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ea typeface="Cambria Math" panose="02040503050406030204" pitchFamily="18" charset="0"/>
                                </a:rPr>
                                <m:t>3/2</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𝑑𝑓</m:t>
                                  </m:r>
                                </m:num>
                                <m:den>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𝜀</m:t>
                                  </m:r>
                                </m:den>
                              </m:f>
                            </m:e>
                          </m:d>
                        </m:e>
                      </m:nary>
                    </m:oMath>
                  </m:oMathPara>
                </a14:m>
                <a:endParaRPr lang="en-CN" dirty="0"/>
              </a:p>
            </p:txBody>
          </p:sp>
        </mc:Choice>
        <mc:Fallback xmlns="">
          <p:sp>
            <p:nvSpPr>
              <p:cNvPr id="5" name="TextBox 4">
                <a:extLst>
                  <a:ext uri="{FF2B5EF4-FFF2-40B4-BE49-F238E27FC236}">
                    <a16:creationId xmlns:a16="http://schemas.microsoft.com/office/drawing/2014/main" id="{D13454AC-0A00-1343-975A-23470957D0B1}"/>
                  </a:ext>
                </a:extLst>
              </p:cNvPr>
              <p:cNvSpPr txBox="1">
                <a:spLocks noRot="1" noChangeAspect="1" noMove="1" noResize="1" noEditPoints="1" noAdjustHandles="1" noChangeArrowheads="1" noChangeShapeType="1" noTextEdit="1"/>
              </p:cNvSpPr>
              <p:nvPr/>
            </p:nvSpPr>
            <p:spPr>
              <a:xfrm>
                <a:off x="2493819" y="660277"/>
                <a:ext cx="6096000" cy="1337226"/>
              </a:xfrm>
              <a:prstGeom prst="rect">
                <a:avLst/>
              </a:prstGeom>
              <a:blipFill>
                <a:blip r:embed="rId3"/>
                <a:stretch>
                  <a:fillRect l="-6861" t="-81308" b="-11775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4A3E182-C621-4544-AB28-8012E1CECA9D}"/>
                  </a:ext>
                </a:extLst>
              </p:cNvPr>
              <p:cNvSpPr txBox="1"/>
              <p:nvPr/>
            </p:nvSpPr>
            <p:spPr>
              <a:xfrm>
                <a:off x="706582" y="2175164"/>
                <a:ext cx="4502727" cy="462947"/>
              </a:xfrm>
              <a:prstGeom prst="rect">
                <a:avLst/>
              </a:prstGeom>
              <a:noFill/>
            </p:spPr>
            <p:txBody>
              <a:bodyPr wrap="square" rtlCol="0">
                <a:spAutoFit/>
              </a:bodyPr>
              <a:lstStyle/>
              <a:p>
                <a:r>
                  <a:rPr lang="en-US" b="0" dirty="0"/>
                  <a:t>Define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num>
                      <m:den>
                        <m:r>
                          <a:rPr lang="en-US" b="0" i="1" smtClean="0">
                            <a:latin typeface="Cambria Math" panose="02040503050406030204" pitchFamily="18" charset="0"/>
                            <a:ea typeface="Cambria Math" panose="02040503050406030204" pitchFamily="18" charset="0"/>
                          </a:rPr>
                          <m:t>𝜏</m:t>
                        </m:r>
                      </m:den>
                    </m:f>
                  </m:oMath>
                </a14:m>
                <a:endParaRPr lang="en-CN" dirty="0"/>
              </a:p>
            </p:txBody>
          </p:sp>
        </mc:Choice>
        <mc:Fallback xmlns="">
          <p:sp>
            <p:nvSpPr>
              <p:cNvPr id="6" name="TextBox 5">
                <a:extLst>
                  <a:ext uri="{FF2B5EF4-FFF2-40B4-BE49-F238E27FC236}">
                    <a16:creationId xmlns:a16="http://schemas.microsoft.com/office/drawing/2014/main" id="{A4A3E182-C621-4544-AB28-8012E1CECA9D}"/>
                  </a:ext>
                </a:extLst>
              </p:cNvPr>
              <p:cNvSpPr txBox="1">
                <a:spLocks noRot="1" noChangeAspect="1" noMove="1" noResize="1" noEditPoints="1" noAdjustHandles="1" noChangeArrowheads="1" noChangeShapeType="1" noTextEdit="1"/>
              </p:cNvSpPr>
              <p:nvPr/>
            </p:nvSpPr>
            <p:spPr>
              <a:xfrm>
                <a:off x="706582" y="2175164"/>
                <a:ext cx="4502727" cy="462947"/>
              </a:xfrm>
              <a:prstGeom prst="rect">
                <a:avLst/>
              </a:prstGeom>
              <a:blipFill>
                <a:blip r:embed="rId4"/>
                <a:stretch>
                  <a:fillRect l="-1124" b="-1081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7DB62AB-03D5-164F-ACC1-C15497E2E107}"/>
                  </a:ext>
                </a:extLst>
              </p:cNvPr>
              <p:cNvSpPr txBox="1"/>
              <p:nvPr/>
            </p:nvSpPr>
            <p:spPr>
              <a:xfrm>
                <a:off x="2189018" y="2638111"/>
                <a:ext cx="4156363" cy="13483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𝑑𝑓</m:t>
                          </m:r>
                        </m:num>
                        <m:den>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𝜀</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𝜏</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𝑑𝑓</m:t>
                          </m:r>
                        </m:num>
                        <m:den>
                          <m:r>
                            <a:rPr lang="en-US" b="0" i="1" smtClean="0">
                              <a:latin typeface="Cambria Math" panose="02040503050406030204" pitchFamily="18" charset="0"/>
                            </a:rPr>
                            <m:t>𝑑𝑥</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𝜏</m:t>
                          </m:r>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𝑥</m:t>
                              </m:r>
                            </m:sup>
                          </m:sSup>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𝑥</m:t>
                                      </m:r>
                                    </m:sup>
                                  </m:sSup>
                                  <m:r>
                                    <a:rPr lang="en-US" b="0" i="1" smtClean="0">
                                      <a:latin typeface="Cambria Math" panose="02040503050406030204" pitchFamily="18" charset="0"/>
                                    </a:rPr>
                                    <m:t>+1</m:t>
                                  </m:r>
                                </m:e>
                              </m:d>
                            </m:e>
                            <m:sup>
                              <m:r>
                                <a:rPr lang="en-US" b="0" i="1" smtClean="0">
                                  <a:latin typeface="Cambria Math" panose="02040503050406030204" pitchFamily="18" charset="0"/>
                                </a:rPr>
                                <m:t>2</m:t>
                              </m:r>
                            </m:sup>
                          </m:sSup>
                        </m:den>
                      </m:f>
                    </m:oMath>
                  </m:oMathPara>
                </a14:m>
                <a:endParaRPr lang="en-CN" dirty="0"/>
              </a:p>
              <a:p>
                <a:pPr algn="ctr"/>
                <a14:m>
                  <m:oMathPara xmlns:m="http://schemas.openxmlformats.org/officeDocument/2006/math">
                    <m:oMathParaPr>
                      <m:jc m:val="centerGroup"/>
                    </m:oMathParaPr>
                    <m:oMath xmlns:m="http://schemas.openxmlformats.org/officeDocument/2006/math">
                      <m:nary>
                        <m:naryPr>
                          <m:ctrlPr>
                            <a:rPr lang="en-CN"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CN"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ea typeface="Cambria Math" panose="02040503050406030204" pitchFamily="18" charset="0"/>
                                </a:rPr>
                                <m:t>3/2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𝜇</m:t>
                                  </m:r>
                                </m:num>
                                <m:den>
                                  <m:r>
                                    <a:rPr lang="en-US" b="0" i="1" smtClean="0">
                                      <a:latin typeface="Cambria Math" panose="02040503050406030204" pitchFamily="18" charset="0"/>
                                      <a:ea typeface="Cambria Math" panose="02040503050406030204" pitchFamily="18" charset="0"/>
                                    </a:rPr>
                                    <m:t>𝜏</m:t>
                                  </m:r>
                                </m:den>
                              </m:f>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𝑑𝑥</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ea typeface="Cambria Math" panose="02040503050406030204" pitchFamily="18" charset="0"/>
                                    </a:rPr>
                                    <m:t>3/2</m:t>
                                  </m:r>
                                </m:sup>
                              </m:sSup>
                            </m:e>
                          </m:nary>
                        </m:e>
                      </m:nary>
                    </m:oMath>
                  </m:oMathPara>
                </a14:m>
                <a:endParaRPr lang="en-CN" dirty="0"/>
              </a:p>
            </p:txBody>
          </p:sp>
        </mc:Choice>
        <mc:Fallback xmlns="">
          <p:sp>
            <p:nvSpPr>
              <p:cNvPr id="7" name="TextBox 6">
                <a:extLst>
                  <a:ext uri="{FF2B5EF4-FFF2-40B4-BE49-F238E27FC236}">
                    <a16:creationId xmlns:a16="http://schemas.microsoft.com/office/drawing/2014/main" id="{57DB62AB-03D5-164F-ACC1-C15497E2E107}"/>
                  </a:ext>
                </a:extLst>
              </p:cNvPr>
              <p:cNvSpPr txBox="1">
                <a:spLocks noRot="1" noChangeAspect="1" noMove="1" noResize="1" noEditPoints="1" noAdjustHandles="1" noChangeArrowheads="1" noChangeShapeType="1" noTextEdit="1"/>
              </p:cNvSpPr>
              <p:nvPr/>
            </p:nvSpPr>
            <p:spPr>
              <a:xfrm>
                <a:off x="2189018" y="2638111"/>
                <a:ext cx="4156363" cy="1348382"/>
              </a:xfrm>
              <a:prstGeom prst="rect">
                <a:avLst/>
              </a:prstGeom>
              <a:blipFill>
                <a:blip r:embed="rId5"/>
                <a:stretch>
                  <a:fillRect l="-4878" t="-40187" b="-115888"/>
                </a:stretch>
              </a:blipFill>
            </p:spPr>
            <p:txBody>
              <a:bodyPr/>
              <a:lstStyle/>
              <a:p>
                <a:r>
                  <a:rPr lang="en-CN">
                    <a:noFill/>
                  </a:rPr>
                  <a:t> </a:t>
                </a:r>
              </a:p>
            </p:txBody>
          </p:sp>
        </mc:Fallback>
      </mc:AlternateContent>
      <p:sp>
        <p:nvSpPr>
          <p:cNvPr id="8" name="Down Arrow 7">
            <a:extLst>
              <a:ext uri="{FF2B5EF4-FFF2-40B4-BE49-F238E27FC236}">
                <a16:creationId xmlns:a16="http://schemas.microsoft.com/office/drawing/2014/main" id="{B973DCB7-7AA4-C245-9CB5-66875644EAD8}"/>
              </a:ext>
            </a:extLst>
          </p:cNvPr>
          <p:cNvSpPr/>
          <p:nvPr/>
        </p:nvSpPr>
        <p:spPr>
          <a:xfrm>
            <a:off x="5818909" y="2175164"/>
            <a:ext cx="124691" cy="216130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58C00C3-D50D-3D43-A01B-18F42CEE4BDA}"/>
                  </a:ext>
                </a:extLst>
              </p:cNvPr>
              <p:cNvSpPr txBox="1"/>
              <p:nvPr/>
            </p:nvSpPr>
            <p:spPr>
              <a:xfrm>
                <a:off x="2105890" y="4824682"/>
                <a:ext cx="8950037" cy="1166088"/>
              </a:xfrm>
              <a:prstGeom prst="rect">
                <a:avLst/>
              </a:prstGeom>
              <a:noFill/>
            </p:spPr>
            <p:txBody>
              <a:bodyPr wrap="square">
                <a:spAutoFit/>
              </a:bodyPr>
              <a:lstStyle/>
              <a:p>
                <a14:m>
                  <m:oMath xmlns:m="http://schemas.openxmlformats.org/officeDocument/2006/math">
                    <m:r>
                      <a:rPr lang="en-US" sz="4000" b="0" i="1" smtClean="0">
                        <a:latin typeface="Cambria Math" panose="02040503050406030204" pitchFamily="18" charset="0"/>
                      </a:rPr>
                      <m:t>𝑁</m:t>
                    </m:r>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2</m:t>
                        </m:r>
                      </m:num>
                      <m:den>
                        <m:r>
                          <a:rPr lang="en-US" sz="4000" b="0" i="1" smtClean="0">
                            <a:latin typeface="Cambria Math" panose="02040503050406030204" pitchFamily="18" charset="0"/>
                          </a:rPr>
                          <m:t>3</m:t>
                        </m:r>
                      </m:den>
                    </m:f>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𝐷</m:t>
                        </m:r>
                      </m:e>
                      <m:sub>
                        <m:r>
                          <a:rPr lang="en-US" sz="4000" b="0" i="1" smtClean="0">
                            <a:latin typeface="Cambria Math" panose="02040503050406030204" pitchFamily="18" charset="0"/>
                          </a:rPr>
                          <m:t>0</m:t>
                        </m:r>
                      </m:sub>
                    </m:sSub>
                  </m:oMath>
                </a14:m>
                <a:r>
                  <a:rPr lang="en-US" sz="4000" dirty="0">
                    <a:ea typeface="Cambria Math" panose="02040503050406030204" pitchFamily="18" charset="0"/>
                  </a:rPr>
                  <a:t> </a:t>
                </a:r>
                <a14:m>
                  <m:oMath xmlns:m="http://schemas.openxmlformats.org/officeDocument/2006/math">
                    <m:nary>
                      <m:naryPr>
                        <m:ctrlPr>
                          <a:rPr lang="en-US" sz="4000" i="1">
                            <a:latin typeface="Cambria Math" panose="02040503050406030204" pitchFamily="18" charset="0"/>
                            <a:ea typeface="Cambria Math" panose="02040503050406030204" pitchFamily="18" charset="0"/>
                          </a:rPr>
                        </m:ctrlPr>
                      </m:naryPr>
                      <m:sub>
                        <m:r>
                          <m:rPr>
                            <m:brk m:alnAt="23"/>
                          </m:rPr>
                          <a:rPr lang="en-US" sz="4000" i="1">
                            <a:latin typeface="Cambria Math" panose="02040503050406030204" pitchFamily="18" charset="0"/>
                            <a:ea typeface="Cambria Math" panose="02040503050406030204" pitchFamily="18" charset="0"/>
                          </a:rPr>
                          <m:t>−</m:t>
                        </m:r>
                        <m:f>
                          <m:fPr>
                            <m:ctrlPr>
                              <a:rPr lang="en-US" sz="4000" i="1">
                                <a:latin typeface="Cambria Math" panose="02040503050406030204" pitchFamily="18" charset="0"/>
                                <a:ea typeface="Cambria Math" panose="02040503050406030204" pitchFamily="18" charset="0"/>
                              </a:rPr>
                            </m:ctrlPr>
                          </m:fPr>
                          <m:num>
                            <m:r>
                              <a:rPr lang="en-US" sz="4000" i="1">
                                <a:latin typeface="Cambria Math" panose="02040503050406030204" pitchFamily="18" charset="0"/>
                                <a:ea typeface="Cambria Math" panose="02040503050406030204" pitchFamily="18" charset="0"/>
                              </a:rPr>
                              <m:t>𝜇</m:t>
                            </m:r>
                          </m:num>
                          <m:den>
                            <m:r>
                              <a:rPr lang="en-US" sz="4000" i="1">
                                <a:latin typeface="Cambria Math" panose="02040503050406030204" pitchFamily="18" charset="0"/>
                                <a:ea typeface="Cambria Math" panose="02040503050406030204" pitchFamily="18" charset="0"/>
                              </a:rPr>
                              <m:t>𝜏</m:t>
                            </m:r>
                          </m:den>
                        </m:f>
                      </m:sub>
                      <m:sup>
                        <m:r>
                          <a:rPr lang="en-US" sz="4000" i="1">
                            <a:latin typeface="Cambria Math" panose="02040503050406030204" pitchFamily="18" charset="0"/>
                            <a:ea typeface="Cambria Math" panose="02040503050406030204" pitchFamily="18" charset="0"/>
                          </a:rPr>
                          <m:t>∞</m:t>
                        </m:r>
                      </m:sup>
                      <m:e>
                        <m:r>
                          <a:rPr lang="en-US" sz="4000" i="1">
                            <a:latin typeface="Cambria Math" panose="02040503050406030204" pitchFamily="18" charset="0"/>
                            <a:ea typeface="Cambria Math" panose="02040503050406030204" pitchFamily="18" charset="0"/>
                          </a:rPr>
                          <m:t>𝑑𝑥</m:t>
                        </m:r>
                        <m:r>
                          <a:rPr lang="en-US" sz="4000" i="1">
                            <a:latin typeface="Cambria Math" panose="02040503050406030204" pitchFamily="18" charset="0"/>
                            <a:ea typeface="Cambria Math" panose="02040503050406030204" pitchFamily="18" charset="0"/>
                          </a:rPr>
                          <m:t> </m:t>
                        </m:r>
                        <m:sSup>
                          <m:sSupPr>
                            <m:ctrlPr>
                              <a:rPr lang="en-US" sz="4000" i="1">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𝑥</m:t>
                            </m:r>
                            <m:r>
                              <a:rPr lang="en-US" sz="4000" b="0" i="1" smtClean="0">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e>
                          <m:sup>
                            <m:r>
                              <a:rPr lang="en-US" sz="4000" i="1">
                                <a:latin typeface="Cambria Math" panose="02040503050406030204" pitchFamily="18" charset="0"/>
                                <a:ea typeface="Cambria Math" panose="02040503050406030204" pitchFamily="18" charset="0"/>
                              </a:rPr>
                              <m:t>3/2</m:t>
                            </m:r>
                          </m:sup>
                        </m:sSup>
                        <m:f>
                          <m:fPr>
                            <m:ctrlPr>
                              <a:rPr lang="en-US" sz="4000" i="1">
                                <a:latin typeface="Cambria Math" panose="02040503050406030204" pitchFamily="18" charset="0"/>
                              </a:rPr>
                            </m:ctrlPr>
                          </m:fPr>
                          <m:num>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𝑥</m:t>
                                </m:r>
                              </m:sup>
                            </m:sSup>
                          </m:num>
                          <m:den>
                            <m:sSup>
                              <m:sSupPr>
                                <m:ctrlPr>
                                  <a:rPr lang="en-US" sz="4000" i="1">
                                    <a:latin typeface="Cambria Math" panose="02040503050406030204" pitchFamily="18" charset="0"/>
                                  </a:rPr>
                                </m:ctrlPr>
                              </m:sSupPr>
                              <m:e>
                                <m:d>
                                  <m:dPr>
                                    <m:ctrlPr>
                                      <a:rPr lang="en-US" sz="4000" i="1">
                                        <a:latin typeface="Cambria Math" panose="02040503050406030204" pitchFamily="18" charset="0"/>
                                      </a:rPr>
                                    </m:ctrlPr>
                                  </m:dPr>
                                  <m:e>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𝑥</m:t>
                                        </m:r>
                                      </m:sup>
                                    </m:sSup>
                                    <m:r>
                                      <a:rPr lang="en-US" sz="4000" i="1">
                                        <a:latin typeface="Cambria Math" panose="02040503050406030204" pitchFamily="18" charset="0"/>
                                      </a:rPr>
                                      <m:t>+1</m:t>
                                    </m:r>
                                  </m:e>
                                </m:d>
                              </m:e>
                              <m:sup>
                                <m:r>
                                  <a:rPr lang="en-US" sz="4000" i="1">
                                    <a:latin typeface="Cambria Math" panose="02040503050406030204" pitchFamily="18" charset="0"/>
                                  </a:rPr>
                                  <m:t>2</m:t>
                                </m:r>
                              </m:sup>
                            </m:sSup>
                          </m:den>
                        </m:f>
                      </m:e>
                    </m:nary>
                  </m:oMath>
                </a14:m>
                <a:endParaRPr lang="en-CN" sz="4000" dirty="0"/>
              </a:p>
            </p:txBody>
          </p:sp>
        </mc:Choice>
        <mc:Fallback xmlns="">
          <p:sp>
            <p:nvSpPr>
              <p:cNvPr id="10" name="TextBox 9">
                <a:extLst>
                  <a:ext uri="{FF2B5EF4-FFF2-40B4-BE49-F238E27FC236}">
                    <a16:creationId xmlns:a16="http://schemas.microsoft.com/office/drawing/2014/main" id="{B58C00C3-D50D-3D43-A01B-18F42CEE4BDA}"/>
                  </a:ext>
                </a:extLst>
              </p:cNvPr>
              <p:cNvSpPr txBox="1">
                <a:spLocks noRot="1" noChangeAspect="1" noMove="1" noResize="1" noEditPoints="1" noAdjustHandles="1" noChangeArrowheads="1" noChangeShapeType="1" noTextEdit="1"/>
              </p:cNvSpPr>
              <p:nvPr/>
            </p:nvSpPr>
            <p:spPr>
              <a:xfrm>
                <a:off x="2105890" y="4824682"/>
                <a:ext cx="8950037" cy="1166088"/>
              </a:xfrm>
              <a:prstGeom prst="rect">
                <a:avLst/>
              </a:prstGeom>
              <a:blipFill>
                <a:blip r:embed="rId6"/>
                <a:stretch>
                  <a:fillRect l="-850" t="-90323" b="-134409"/>
                </a:stretch>
              </a:blipFill>
            </p:spPr>
            <p:txBody>
              <a:bodyPr/>
              <a:lstStyle/>
              <a:p>
                <a:r>
                  <a:rPr lang="en-CN">
                    <a:noFill/>
                  </a:rPr>
                  <a:t> </a:t>
                </a:r>
              </a:p>
            </p:txBody>
          </p:sp>
        </mc:Fallback>
      </mc:AlternateContent>
    </p:spTree>
    <p:extLst>
      <p:ext uri="{BB962C8B-B14F-4D97-AF65-F5344CB8AC3E}">
        <p14:creationId xmlns:p14="http://schemas.microsoft.com/office/powerpoint/2010/main" val="2491602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4A131C0-4935-934A-9C68-6000DC5BD5A4}"/>
                  </a:ext>
                </a:extLst>
              </p:cNvPr>
              <p:cNvSpPr txBox="1"/>
              <p:nvPr/>
            </p:nvSpPr>
            <p:spPr>
              <a:xfrm>
                <a:off x="2078181" y="169555"/>
                <a:ext cx="8950037" cy="1166088"/>
              </a:xfrm>
              <a:prstGeom prst="rect">
                <a:avLst/>
              </a:prstGeom>
              <a:noFill/>
            </p:spPr>
            <p:txBody>
              <a:bodyPr wrap="square">
                <a:spAutoFit/>
              </a:bodyPr>
              <a:lstStyle/>
              <a:p>
                <a14:m>
                  <m:oMath xmlns:m="http://schemas.openxmlformats.org/officeDocument/2006/math">
                    <m:r>
                      <a:rPr lang="en-US" sz="4000" b="0" i="1" smtClean="0">
                        <a:latin typeface="Cambria Math" panose="02040503050406030204" pitchFamily="18" charset="0"/>
                      </a:rPr>
                      <m:t>𝑁</m:t>
                    </m:r>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2</m:t>
                        </m:r>
                      </m:num>
                      <m:den>
                        <m:r>
                          <a:rPr lang="en-US" sz="4000" b="0" i="1" smtClean="0">
                            <a:latin typeface="Cambria Math" panose="02040503050406030204" pitchFamily="18" charset="0"/>
                          </a:rPr>
                          <m:t>3</m:t>
                        </m:r>
                      </m:den>
                    </m:f>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𝐷</m:t>
                        </m:r>
                      </m:e>
                      <m:sub>
                        <m:r>
                          <a:rPr lang="en-US" sz="4000" b="0" i="1" smtClean="0">
                            <a:latin typeface="Cambria Math" panose="02040503050406030204" pitchFamily="18" charset="0"/>
                          </a:rPr>
                          <m:t>0</m:t>
                        </m:r>
                      </m:sub>
                    </m:sSub>
                  </m:oMath>
                </a14:m>
                <a:r>
                  <a:rPr lang="en-US" sz="4000" dirty="0">
                    <a:ea typeface="Cambria Math" panose="02040503050406030204" pitchFamily="18" charset="0"/>
                  </a:rPr>
                  <a:t> </a:t>
                </a:r>
                <a14:m>
                  <m:oMath xmlns:m="http://schemas.openxmlformats.org/officeDocument/2006/math">
                    <m:nary>
                      <m:naryPr>
                        <m:ctrlPr>
                          <a:rPr lang="en-US" sz="4000" i="1">
                            <a:latin typeface="Cambria Math" panose="02040503050406030204" pitchFamily="18" charset="0"/>
                            <a:ea typeface="Cambria Math" panose="02040503050406030204" pitchFamily="18" charset="0"/>
                          </a:rPr>
                        </m:ctrlPr>
                      </m:naryPr>
                      <m:sub>
                        <m:r>
                          <m:rPr>
                            <m:brk m:alnAt="23"/>
                          </m:rPr>
                          <a:rPr lang="en-US" sz="4000" i="1">
                            <a:latin typeface="Cambria Math" panose="02040503050406030204" pitchFamily="18" charset="0"/>
                            <a:ea typeface="Cambria Math" panose="02040503050406030204" pitchFamily="18" charset="0"/>
                          </a:rPr>
                          <m:t>−</m:t>
                        </m:r>
                        <m:f>
                          <m:fPr>
                            <m:ctrlPr>
                              <a:rPr lang="en-US" sz="4000" i="1">
                                <a:latin typeface="Cambria Math" panose="02040503050406030204" pitchFamily="18" charset="0"/>
                                <a:ea typeface="Cambria Math" panose="02040503050406030204" pitchFamily="18" charset="0"/>
                              </a:rPr>
                            </m:ctrlPr>
                          </m:fPr>
                          <m:num>
                            <m:r>
                              <a:rPr lang="en-US" sz="4000" i="1">
                                <a:latin typeface="Cambria Math" panose="02040503050406030204" pitchFamily="18" charset="0"/>
                                <a:ea typeface="Cambria Math" panose="02040503050406030204" pitchFamily="18" charset="0"/>
                              </a:rPr>
                              <m:t>𝜇</m:t>
                            </m:r>
                          </m:num>
                          <m:den>
                            <m:r>
                              <a:rPr lang="en-US" sz="4000" i="1">
                                <a:latin typeface="Cambria Math" panose="02040503050406030204" pitchFamily="18" charset="0"/>
                                <a:ea typeface="Cambria Math" panose="02040503050406030204" pitchFamily="18" charset="0"/>
                              </a:rPr>
                              <m:t>𝜏</m:t>
                            </m:r>
                          </m:den>
                        </m:f>
                      </m:sub>
                      <m:sup>
                        <m:r>
                          <a:rPr lang="en-US" sz="4000" i="1">
                            <a:latin typeface="Cambria Math" panose="02040503050406030204" pitchFamily="18" charset="0"/>
                            <a:ea typeface="Cambria Math" panose="02040503050406030204" pitchFamily="18" charset="0"/>
                          </a:rPr>
                          <m:t>∞</m:t>
                        </m:r>
                      </m:sup>
                      <m:e>
                        <m:r>
                          <a:rPr lang="en-US" sz="4000" i="1">
                            <a:latin typeface="Cambria Math" panose="02040503050406030204" pitchFamily="18" charset="0"/>
                            <a:ea typeface="Cambria Math" panose="02040503050406030204" pitchFamily="18" charset="0"/>
                          </a:rPr>
                          <m:t>𝑑𝑥</m:t>
                        </m:r>
                        <m:r>
                          <a:rPr lang="en-US" sz="4000" i="1">
                            <a:latin typeface="Cambria Math" panose="02040503050406030204" pitchFamily="18" charset="0"/>
                            <a:ea typeface="Cambria Math" panose="02040503050406030204" pitchFamily="18" charset="0"/>
                          </a:rPr>
                          <m:t> </m:t>
                        </m:r>
                        <m:sSup>
                          <m:sSupPr>
                            <m:ctrlPr>
                              <a:rPr lang="en-US" sz="4000" i="1">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𝑥</m:t>
                            </m:r>
                            <m:r>
                              <a:rPr lang="en-US" sz="4000" b="0" i="1" smtClean="0">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e>
                          <m:sup>
                            <m:r>
                              <a:rPr lang="en-US" sz="4000" i="1">
                                <a:latin typeface="Cambria Math" panose="02040503050406030204" pitchFamily="18" charset="0"/>
                                <a:ea typeface="Cambria Math" panose="02040503050406030204" pitchFamily="18" charset="0"/>
                              </a:rPr>
                              <m:t>3/2</m:t>
                            </m:r>
                          </m:sup>
                        </m:sSup>
                        <m:f>
                          <m:fPr>
                            <m:ctrlPr>
                              <a:rPr lang="en-US" sz="4000" i="1">
                                <a:latin typeface="Cambria Math" panose="02040503050406030204" pitchFamily="18" charset="0"/>
                              </a:rPr>
                            </m:ctrlPr>
                          </m:fPr>
                          <m:num>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𝑥</m:t>
                                </m:r>
                              </m:sup>
                            </m:sSup>
                          </m:num>
                          <m:den>
                            <m:sSup>
                              <m:sSupPr>
                                <m:ctrlPr>
                                  <a:rPr lang="en-US" sz="4000" i="1">
                                    <a:latin typeface="Cambria Math" panose="02040503050406030204" pitchFamily="18" charset="0"/>
                                  </a:rPr>
                                </m:ctrlPr>
                              </m:sSupPr>
                              <m:e>
                                <m:d>
                                  <m:dPr>
                                    <m:ctrlPr>
                                      <a:rPr lang="en-US" sz="4000" i="1">
                                        <a:latin typeface="Cambria Math" panose="02040503050406030204" pitchFamily="18" charset="0"/>
                                      </a:rPr>
                                    </m:ctrlPr>
                                  </m:dPr>
                                  <m:e>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𝑥</m:t>
                                        </m:r>
                                      </m:sup>
                                    </m:sSup>
                                    <m:r>
                                      <a:rPr lang="en-US" sz="4000" i="1">
                                        <a:latin typeface="Cambria Math" panose="02040503050406030204" pitchFamily="18" charset="0"/>
                                      </a:rPr>
                                      <m:t>+1</m:t>
                                    </m:r>
                                  </m:e>
                                </m:d>
                              </m:e>
                              <m:sup>
                                <m:r>
                                  <a:rPr lang="en-US" sz="4000" i="1">
                                    <a:latin typeface="Cambria Math" panose="02040503050406030204" pitchFamily="18" charset="0"/>
                                  </a:rPr>
                                  <m:t>2</m:t>
                                </m:r>
                              </m:sup>
                            </m:sSup>
                          </m:den>
                        </m:f>
                      </m:e>
                    </m:nary>
                  </m:oMath>
                </a14:m>
                <a:endParaRPr lang="en-CN" sz="4000" dirty="0"/>
              </a:p>
            </p:txBody>
          </p:sp>
        </mc:Choice>
        <mc:Fallback xmlns="">
          <p:sp>
            <p:nvSpPr>
              <p:cNvPr id="2" name="TextBox 1">
                <a:extLst>
                  <a:ext uri="{FF2B5EF4-FFF2-40B4-BE49-F238E27FC236}">
                    <a16:creationId xmlns:a16="http://schemas.microsoft.com/office/drawing/2014/main" id="{74A131C0-4935-934A-9C68-6000DC5BD5A4}"/>
                  </a:ext>
                </a:extLst>
              </p:cNvPr>
              <p:cNvSpPr txBox="1">
                <a:spLocks noRot="1" noChangeAspect="1" noMove="1" noResize="1" noEditPoints="1" noAdjustHandles="1" noChangeArrowheads="1" noChangeShapeType="1" noTextEdit="1"/>
              </p:cNvSpPr>
              <p:nvPr/>
            </p:nvSpPr>
            <p:spPr>
              <a:xfrm>
                <a:off x="2078181" y="169555"/>
                <a:ext cx="8950037" cy="1166088"/>
              </a:xfrm>
              <a:prstGeom prst="rect">
                <a:avLst/>
              </a:prstGeom>
              <a:blipFill>
                <a:blip r:embed="rId2"/>
                <a:stretch>
                  <a:fillRect l="-992" t="-91398" b="-13440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6AD30D2-B2C3-5E43-9EE6-99E29AF00F11}"/>
                  </a:ext>
                </a:extLst>
              </p:cNvPr>
              <p:cNvSpPr txBox="1"/>
              <p:nvPr/>
            </p:nvSpPr>
            <p:spPr>
              <a:xfrm>
                <a:off x="2078180" y="3328390"/>
                <a:ext cx="8950037" cy="1087798"/>
              </a:xfrm>
              <a:prstGeom prst="rect">
                <a:avLst/>
              </a:prstGeom>
              <a:noFill/>
            </p:spPr>
            <p:txBody>
              <a:bodyPr wrap="square">
                <a:spAutoFit/>
              </a:bodyPr>
              <a:lstStyle/>
              <a:p>
                <a14:m>
                  <m:oMath xmlns:m="http://schemas.openxmlformats.org/officeDocument/2006/math">
                    <m:r>
                      <a:rPr lang="en-US" sz="4000" b="0" i="1" smtClean="0">
                        <a:latin typeface="Cambria Math" panose="02040503050406030204" pitchFamily="18" charset="0"/>
                      </a:rPr>
                      <m:t>𝑁</m:t>
                    </m:r>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2</m:t>
                        </m:r>
                      </m:num>
                      <m:den>
                        <m:r>
                          <a:rPr lang="en-US" sz="4000" b="0" i="1" smtClean="0">
                            <a:latin typeface="Cambria Math" panose="02040503050406030204" pitchFamily="18" charset="0"/>
                          </a:rPr>
                          <m:t>3</m:t>
                        </m:r>
                      </m:den>
                    </m:f>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𝐷</m:t>
                        </m:r>
                      </m:e>
                      <m:sub>
                        <m:r>
                          <a:rPr lang="en-US" sz="4000" b="0" i="1" smtClean="0">
                            <a:latin typeface="Cambria Math" panose="02040503050406030204" pitchFamily="18" charset="0"/>
                          </a:rPr>
                          <m:t>0</m:t>
                        </m:r>
                      </m:sub>
                    </m:sSub>
                  </m:oMath>
                </a14:m>
                <a:r>
                  <a:rPr lang="en-US" sz="4000" dirty="0">
                    <a:ea typeface="Cambria Math" panose="02040503050406030204" pitchFamily="18" charset="0"/>
                  </a:rPr>
                  <a:t> </a:t>
                </a:r>
                <a14:m>
                  <m:oMath xmlns:m="http://schemas.openxmlformats.org/officeDocument/2006/math">
                    <m:nary>
                      <m:naryPr>
                        <m:ctrlPr>
                          <a:rPr lang="en-US" sz="4000" i="1">
                            <a:latin typeface="Cambria Math" panose="02040503050406030204" pitchFamily="18" charset="0"/>
                            <a:ea typeface="Cambria Math" panose="02040503050406030204" pitchFamily="18" charset="0"/>
                          </a:rPr>
                        </m:ctrlPr>
                      </m:naryPr>
                      <m:sub>
                        <m:r>
                          <m:rPr>
                            <m:brk m:alnAt="23"/>
                          </m:rPr>
                          <a:rPr lang="en-US" sz="4000" i="1">
                            <a:latin typeface="Cambria Math" panose="02040503050406030204" pitchFamily="18" charset="0"/>
                            <a:ea typeface="Cambria Math" panose="02040503050406030204" pitchFamily="18" charset="0"/>
                          </a:rPr>
                          <m:t>−</m:t>
                        </m:r>
                        <m:r>
                          <a:rPr lang="en-US" sz="4000" i="1" smtClean="0">
                            <a:latin typeface="Cambria Math" panose="02040503050406030204" pitchFamily="18" charset="0"/>
                            <a:ea typeface="Cambria Math" panose="02040503050406030204" pitchFamily="18" charset="0"/>
                          </a:rPr>
                          <m:t>∞</m:t>
                        </m:r>
                      </m:sub>
                      <m:sup>
                        <m:r>
                          <a:rPr lang="en-US" sz="4000" i="1">
                            <a:latin typeface="Cambria Math" panose="02040503050406030204" pitchFamily="18" charset="0"/>
                            <a:ea typeface="Cambria Math" panose="02040503050406030204" pitchFamily="18" charset="0"/>
                          </a:rPr>
                          <m:t>∞</m:t>
                        </m:r>
                      </m:sup>
                      <m:e>
                        <m:r>
                          <a:rPr lang="en-US" sz="4000" i="1">
                            <a:latin typeface="Cambria Math" panose="02040503050406030204" pitchFamily="18" charset="0"/>
                            <a:ea typeface="Cambria Math" panose="02040503050406030204" pitchFamily="18" charset="0"/>
                          </a:rPr>
                          <m:t>𝑑𝑥</m:t>
                        </m:r>
                        <m:r>
                          <a:rPr lang="en-US" sz="4000" i="1">
                            <a:latin typeface="Cambria Math" panose="02040503050406030204" pitchFamily="18" charset="0"/>
                            <a:ea typeface="Cambria Math" panose="02040503050406030204" pitchFamily="18" charset="0"/>
                          </a:rPr>
                          <m:t> </m:t>
                        </m:r>
                        <m:sSup>
                          <m:sSupPr>
                            <m:ctrlPr>
                              <a:rPr lang="en-US" sz="4000" i="1">
                                <a:latin typeface="Cambria Math" panose="02040503050406030204" pitchFamily="18" charset="0"/>
                                <a:ea typeface="Cambria Math" panose="02040503050406030204" pitchFamily="18" charset="0"/>
                              </a:rPr>
                            </m:ctrlPr>
                          </m:sSupPr>
                          <m:e>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𝑥</m:t>
                            </m:r>
                            <m:r>
                              <a:rPr lang="en-US" sz="4000" b="0" i="1" smtClean="0">
                                <a:latin typeface="Cambria Math" panose="02040503050406030204" pitchFamily="18" charset="0"/>
                                <a:ea typeface="Cambria Math" panose="02040503050406030204" pitchFamily="18" charset="0"/>
                              </a:rPr>
                              <m:t>𝜏</m:t>
                            </m:r>
                            <m:r>
                              <a:rPr lang="en-US" sz="4000" b="0" i="1" smtClean="0">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𝜇</m:t>
                            </m:r>
                            <m:r>
                              <a:rPr lang="en-US" sz="4000" b="0" i="1" smtClean="0">
                                <a:latin typeface="Cambria Math" panose="02040503050406030204" pitchFamily="18" charset="0"/>
                                <a:ea typeface="Cambria Math" panose="02040503050406030204" pitchFamily="18" charset="0"/>
                              </a:rPr>
                              <m:t>)</m:t>
                            </m:r>
                          </m:e>
                          <m:sup>
                            <m:r>
                              <a:rPr lang="en-US" sz="4000" i="1">
                                <a:latin typeface="Cambria Math" panose="02040503050406030204" pitchFamily="18" charset="0"/>
                                <a:ea typeface="Cambria Math" panose="02040503050406030204" pitchFamily="18" charset="0"/>
                              </a:rPr>
                              <m:t>3/2</m:t>
                            </m:r>
                          </m:sup>
                        </m:sSup>
                        <m:f>
                          <m:fPr>
                            <m:ctrlPr>
                              <a:rPr lang="en-US" sz="4000" i="1">
                                <a:latin typeface="Cambria Math" panose="02040503050406030204" pitchFamily="18" charset="0"/>
                              </a:rPr>
                            </m:ctrlPr>
                          </m:fPr>
                          <m:num>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𝑥</m:t>
                                </m:r>
                              </m:sup>
                            </m:sSup>
                          </m:num>
                          <m:den>
                            <m:sSup>
                              <m:sSupPr>
                                <m:ctrlPr>
                                  <a:rPr lang="en-US" sz="4000" i="1">
                                    <a:latin typeface="Cambria Math" panose="02040503050406030204" pitchFamily="18" charset="0"/>
                                  </a:rPr>
                                </m:ctrlPr>
                              </m:sSupPr>
                              <m:e>
                                <m:d>
                                  <m:dPr>
                                    <m:ctrlPr>
                                      <a:rPr lang="en-US" sz="4000" i="1">
                                        <a:latin typeface="Cambria Math" panose="02040503050406030204" pitchFamily="18" charset="0"/>
                                      </a:rPr>
                                    </m:ctrlPr>
                                  </m:dPr>
                                  <m:e>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𝑥</m:t>
                                        </m:r>
                                      </m:sup>
                                    </m:sSup>
                                    <m:r>
                                      <a:rPr lang="en-US" sz="4000" i="1">
                                        <a:latin typeface="Cambria Math" panose="02040503050406030204" pitchFamily="18" charset="0"/>
                                      </a:rPr>
                                      <m:t>+1</m:t>
                                    </m:r>
                                  </m:e>
                                </m:d>
                              </m:e>
                              <m:sup>
                                <m:r>
                                  <a:rPr lang="en-US" sz="4000" i="1">
                                    <a:latin typeface="Cambria Math" panose="02040503050406030204" pitchFamily="18" charset="0"/>
                                  </a:rPr>
                                  <m:t>2</m:t>
                                </m:r>
                              </m:sup>
                            </m:sSup>
                          </m:den>
                        </m:f>
                      </m:e>
                    </m:nary>
                  </m:oMath>
                </a14:m>
                <a:endParaRPr lang="en-CN" sz="4000" dirty="0"/>
              </a:p>
            </p:txBody>
          </p:sp>
        </mc:Choice>
        <mc:Fallback xmlns="">
          <p:sp>
            <p:nvSpPr>
              <p:cNvPr id="3" name="TextBox 2">
                <a:extLst>
                  <a:ext uri="{FF2B5EF4-FFF2-40B4-BE49-F238E27FC236}">
                    <a16:creationId xmlns:a16="http://schemas.microsoft.com/office/drawing/2014/main" id="{76AD30D2-B2C3-5E43-9EE6-99E29AF00F11}"/>
                  </a:ext>
                </a:extLst>
              </p:cNvPr>
              <p:cNvSpPr txBox="1">
                <a:spLocks noRot="1" noChangeAspect="1" noMove="1" noResize="1" noEditPoints="1" noAdjustHandles="1" noChangeArrowheads="1" noChangeShapeType="1" noTextEdit="1"/>
              </p:cNvSpPr>
              <p:nvPr/>
            </p:nvSpPr>
            <p:spPr>
              <a:xfrm>
                <a:off x="2078180" y="3328390"/>
                <a:ext cx="8950037" cy="1087798"/>
              </a:xfrm>
              <a:prstGeom prst="rect">
                <a:avLst/>
              </a:prstGeom>
              <a:blipFill>
                <a:blip r:embed="rId3"/>
                <a:stretch>
                  <a:fillRect l="-992" t="-98837" b="-153488"/>
                </a:stretch>
              </a:blipFill>
            </p:spPr>
            <p:txBody>
              <a:bodyPr/>
              <a:lstStyle/>
              <a:p>
                <a:r>
                  <a:rPr lang="en-CN">
                    <a:noFill/>
                  </a:rPr>
                  <a:t> </a:t>
                </a:r>
              </a:p>
            </p:txBody>
          </p:sp>
        </mc:Fallback>
      </mc:AlternateContent>
      <p:sp>
        <p:nvSpPr>
          <p:cNvPr id="4" name="Down Arrow 3">
            <a:extLst>
              <a:ext uri="{FF2B5EF4-FFF2-40B4-BE49-F238E27FC236}">
                <a16:creationId xmlns:a16="http://schemas.microsoft.com/office/drawing/2014/main" id="{E89322FB-B887-1145-A007-06F3EB9587E1}"/>
              </a:ext>
            </a:extLst>
          </p:cNvPr>
          <p:cNvSpPr/>
          <p:nvPr/>
        </p:nvSpPr>
        <p:spPr>
          <a:xfrm>
            <a:off x="5417127" y="1335643"/>
            <a:ext cx="401782" cy="18231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C1347F-B647-2540-A741-D8E8D6133068}"/>
                  </a:ext>
                </a:extLst>
              </p:cNvPr>
              <p:cNvSpPr txBox="1"/>
              <p:nvPr/>
            </p:nvSpPr>
            <p:spPr>
              <a:xfrm>
                <a:off x="5971309" y="1965752"/>
                <a:ext cx="3796146" cy="5629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𝜇</m:t>
                          </m:r>
                        </m:num>
                        <m:den>
                          <m:r>
                            <a:rPr lang="en-US" b="0" i="1" smtClean="0">
                              <a:solidFill>
                                <a:srgbClr val="FF0000"/>
                              </a:solidFill>
                              <a:latin typeface="Cambria Math" panose="02040503050406030204" pitchFamily="18" charset="0"/>
                              <a:ea typeface="Cambria Math" panose="02040503050406030204" pitchFamily="18" charset="0"/>
                            </a:rPr>
                            <m:t>𝜏</m:t>
                          </m:r>
                        </m:den>
                      </m:f>
                      <m:r>
                        <a:rPr lang="en-US" b="0" i="1" smtClean="0">
                          <a:solidFill>
                            <a:srgbClr val="FF0000"/>
                          </a:solidFill>
                          <a:latin typeface="Cambria Math" panose="02040503050406030204" pitchFamily="18" charset="0"/>
                          <a:ea typeface="Cambria Math" panose="02040503050406030204" pitchFamily="18" charset="0"/>
                        </a:rPr>
                        <m:t>→−∞</m:t>
                      </m:r>
                    </m:oMath>
                  </m:oMathPara>
                </a14:m>
                <a:endParaRPr lang="en-CN" dirty="0">
                  <a:solidFill>
                    <a:srgbClr val="FF0000"/>
                  </a:solidFill>
                </a:endParaRPr>
              </a:p>
            </p:txBody>
          </p:sp>
        </mc:Choice>
        <mc:Fallback xmlns="">
          <p:sp>
            <p:nvSpPr>
              <p:cNvPr id="5" name="TextBox 4">
                <a:extLst>
                  <a:ext uri="{FF2B5EF4-FFF2-40B4-BE49-F238E27FC236}">
                    <a16:creationId xmlns:a16="http://schemas.microsoft.com/office/drawing/2014/main" id="{B7C1347F-B647-2540-A741-D8E8D6133068}"/>
                  </a:ext>
                </a:extLst>
              </p:cNvPr>
              <p:cNvSpPr txBox="1">
                <a:spLocks noRot="1" noChangeAspect="1" noMove="1" noResize="1" noEditPoints="1" noAdjustHandles="1" noChangeArrowheads="1" noChangeShapeType="1" noTextEdit="1"/>
              </p:cNvSpPr>
              <p:nvPr/>
            </p:nvSpPr>
            <p:spPr>
              <a:xfrm>
                <a:off x="5971309" y="1965752"/>
                <a:ext cx="3796146" cy="562975"/>
              </a:xfrm>
              <a:prstGeom prst="rect">
                <a:avLst/>
              </a:prstGeom>
              <a:blipFill>
                <a:blip r:embed="rId4"/>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175808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8B52AA2-A2EB-E743-9DB8-DE95826BAE64}"/>
                  </a:ext>
                </a:extLst>
              </p:cNvPr>
              <p:cNvSpPr txBox="1"/>
              <p:nvPr/>
            </p:nvSpPr>
            <p:spPr>
              <a:xfrm>
                <a:off x="872837" y="242565"/>
                <a:ext cx="3380509" cy="6647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i="1" smtClean="0">
                              <a:solidFill>
                                <a:srgbClr val="FF0000"/>
                              </a:solidFill>
                              <a:latin typeface="Cambria Math" panose="02040503050406030204" pitchFamily="18" charset="0"/>
                            </a:rPr>
                          </m:ctrlPr>
                        </m:fPr>
                        <m:num>
                          <m:sSup>
                            <m:sSupPr>
                              <m:ctrlPr>
                                <a:rPr lang="en-US" sz="1800" i="1">
                                  <a:solidFill>
                                    <a:srgbClr val="FF0000"/>
                                  </a:solidFill>
                                  <a:latin typeface="Cambria Math" panose="02040503050406030204" pitchFamily="18" charset="0"/>
                                </a:rPr>
                              </m:ctrlPr>
                            </m:sSupPr>
                            <m:e>
                              <m:r>
                                <a:rPr lang="en-US" sz="1800" i="1">
                                  <a:solidFill>
                                    <a:srgbClr val="FF0000"/>
                                  </a:solidFill>
                                  <a:latin typeface="Cambria Math" panose="02040503050406030204" pitchFamily="18" charset="0"/>
                                </a:rPr>
                                <m:t>𝑒</m:t>
                              </m:r>
                            </m:e>
                            <m:sup>
                              <m:r>
                                <a:rPr lang="en-US" sz="1800" i="1">
                                  <a:solidFill>
                                    <a:srgbClr val="FF0000"/>
                                  </a:solidFill>
                                  <a:latin typeface="Cambria Math" panose="02040503050406030204" pitchFamily="18" charset="0"/>
                                </a:rPr>
                                <m:t>𝑥</m:t>
                              </m:r>
                            </m:sup>
                          </m:sSup>
                        </m:num>
                        <m:den>
                          <m:sSup>
                            <m:sSupPr>
                              <m:ctrlPr>
                                <a:rPr lang="en-US" sz="1800" i="1">
                                  <a:solidFill>
                                    <a:srgbClr val="FF0000"/>
                                  </a:solidFill>
                                  <a:latin typeface="Cambria Math" panose="02040503050406030204" pitchFamily="18" charset="0"/>
                                </a:rPr>
                              </m:ctrlPr>
                            </m:sSupPr>
                            <m:e>
                              <m:d>
                                <m:dPr>
                                  <m:ctrlPr>
                                    <a:rPr lang="en-US" sz="1800" i="1">
                                      <a:solidFill>
                                        <a:srgbClr val="FF0000"/>
                                      </a:solidFill>
                                      <a:latin typeface="Cambria Math" panose="02040503050406030204" pitchFamily="18" charset="0"/>
                                    </a:rPr>
                                  </m:ctrlPr>
                                </m:dPr>
                                <m:e>
                                  <m:sSup>
                                    <m:sSupPr>
                                      <m:ctrlPr>
                                        <a:rPr lang="en-US" sz="1800" i="1">
                                          <a:solidFill>
                                            <a:srgbClr val="FF0000"/>
                                          </a:solidFill>
                                          <a:latin typeface="Cambria Math" panose="02040503050406030204" pitchFamily="18" charset="0"/>
                                        </a:rPr>
                                      </m:ctrlPr>
                                    </m:sSupPr>
                                    <m:e>
                                      <m:r>
                                        <a:rPr lang="en-US" sz="1800" i="1">
                                          <a:solidFill>
                                            <a:srgbClr val="FF0000"/>
                                          </a:solidFill>
                                          <a:latin typeface="Cambria Math" panose="02040503050406030204" pitchFamily="18" charset="0"/>
                                        </a:rPr>
                                        <m:t>𝑒</m:t>
                                      </m:r>
                                    </m:e>
                                    <m:sup>
                                      <m:r>
                                        <a:rPr lang="en-US" sz="1800" i="1">
                                          <a:solidFill>
                                            <a:srgbClr val="FF0000"/>
                                          </a:solidFill>
                                          <a:latin typeface="Cambria Math" panose="02040503050406030204" pitchFamily="18" charset="0"/>
                                        </a:rPr>
                                        <m:t>𝑥</m:t>
                                      </m:r>
                                    </m:sup>
                                  </m:sSup>
                                  <m:r>
                                    <a:rPr lang="en-US" sz="1800" i="1">
                                      <a:solidFill>
                                        <a:srgbClr val="FF0000"/>
                                      </a:solidFill>
                                      <a:latin typeface="Cambria Math" panose="02040503050406030204" pitchFamily="18" charset="0"/>
                                    </a:rPr>
                                    <m:t>+1</m:t>
                                  </m:r>
                                </m:e>
                              </m:d>
                            </m:e>
                            <m:sup>
                              <m:r>
                                <a:rPr lang="en-US" sz="1800" i="1">
                                  <a:solidFill>
                                    <a:srgbClr val="FF0000"/>
                                  </a:solidFill>
                                  <a:latin typeface="Cambria Math" panose="02040503050406030204" pitchFamily="18" charset="0"/>
                                </a:rPr>
                                <m:t>2</m:t>
                              </m:r>
                            </m:sup>
                          </m:sSup>
                        </m:den>
                      </m:f>
                    </m:oMath>
                  </m:oMathPara>
                </a14:m>
                <a:endParaRPr lang="en-CN" dirty="0"/>
              </a:p>
            </p:txBody>
          </p:sp>
        </mc:Choice>
        <mc:Fallback xmlns="">
          <p:sp>
            <p:nvSpPr>
              <p:cNvPr id="3" name="TextBox 2">
                <a:extLst>
                  <a:ext uri="{FF2B5EF4-FFF2-40B4-BE49-F238E27FC236}">
                    <a16:creationId xmlns:a16="http://schemas.microsoft.com/office/drawing/2014/main" id="{38B52AA2-A2EB-E743-9DB8-DE95826BAE64}"/>
                  </a:ext>
                </a:extLst>
              </p:cNvPr>
              <p:cNvSpPr txBox="1">
                <a:spLocks noRot="1" noChangeAspect="1" noMove="1" noResize="1" noEditPoints="1" noAdjustHandles="1" noChangeArrowheads="1" noChangeShapeType="1" noTextEdit="1"/>
              </p:cNvSpPr>
              <p:nvPr/>
            </p:nvSpPr>
            <p:spPr>
              <a:xfrm>
                <a:off x="872837" y="242565"/>
                <a:ext cx="3380509" cy="664797"/>
              </a:xfrm>
              <a:prstGeom prst="rect">
                <a:avLst/>
              </a:prstGeom>
              <a:blipFill>
                <a:blip r:embed="rId2"/>
                <a:stretch>
                  <a:fillRect/>
                </a:stretch>
              </a:blipFill>
            </p:spPr>
            <p:txBody>
              <a:bodyPr/>
              <a:lstStyle/>
              <a:p>
                <a:r>
                  <a:rPr lang="en-CN">
                    <a:noFill/>
                  </a:rPr>
                  <a:t> </a:t>
                </a:r>
              </a:p>
            </p:txBody>
          </p:sp>
        </mc:Fallback>
      </mc:AlternateContent>
      <p:pic>
        <p:nvPicPr>
          <p:cNvPr id="5" name="Picture 4">
            <a:extLst>
              <a:ext uri="{FF2B5EF4-FFF2-40B4-BE49-F238E27FC236}">
                <a16:creationId xmlns:a16="http://schemas.microsoft.com/office/drawing/2014/main" id="{3BA51304-123A-8045-873E-1A79F04D482D}"/>
              </a:ext>
            </a:extLst>
          </p:cNvPr>
          <p:cNvPicPr>
            <a:picLocks noChangeAspect="1"/>
          </p:cNvPicPr>
          <p:nvPr/>
        </p:nvPicPr>
        <p:blipFill>
          <a:blip r:embed="rId3"/>
          <a:stretch>
            <a:fillRect/>
          </a:stretch>
        </p:blipFill>
        <p:spPr>
          <a:xfrm>
            <a:off x="689264" y="1376443"/>
            <a:ext cx="5406736" cy="4105114"/>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C275193-AD42-A249-9445-530F27184D88}"/>
                  </a:ext>
                </a:extLst>
              </p:cNvPr>
              <p:cNvSpPr txBox="1"/>
              <p:nvPr/>
            </p:nvSpPr>
            <p:spPr>
              <a:xfrm>
                <a:off x="6858000" y="2380190"/>
                <a:ext cx="4391891" cy="9000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180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𝑥</m:t>
                          </m:r>
                          <m:r>
                            <a:rPr lang="en-US" sz="1800" b="0" i="1" smtClean="0">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𝜇</m:t>
                          </m:r>
                          <m:r>
                            <a:rPr lang="en-US" sz="1800" b="0" i="1" smtClean="0">
                              <a:latin typeface="Cambria Math" panose="02040503050406030204" pitchFamily="18" charset="0"/>
                              <a:ea typeface="Cambria Math" panose="02040503050406030204" pitchFamily="18" charset="0"/>
                            </a:rPr>
                            <m:t>)</m:t>
                          </m:r>
                        </m:e>
                        <m:sup>
                          <m:r>
                            <a:rPr lang="en-US" sz="1800" i="1">
                              <a:latin typeface="Cambria Math" panose="02040503050406030204" pitchFamily="18" charset="0"/>
                              <a:ea typeface="Cambria Math" panose="02040503050406030204" pitchFamily="18" charset="0"/>
                            </a:rPr>
                            <m:t>3/2</m:t>
                          </m:r>
                        </m:sup>
                      </m:sSup>
                      <m:r>
                        <a:rPr lang="en-US" sz="1800" i="1" smtClean="0">
                          <a:latin typeface="Cambria Math" panose="02040503050406030204" pitchFamily="18" charset="0"/>
                          <a:ea typeface="Cambria Math" panose="02040503050406030204" pitchFamily="18" charset="0"/>
                        </a:rPr>
                        <m:t>≈</m:t>
                      </m:r>
                      <m:sSup>
                        <m:sSupPr>
                          <m:ctrlPr>
                            <a:rPr lang="en-US" sz="1800" i="1" smtClean="0">
                              <a:latin typeface="Cambria Math" panose="02040503050406030204" pitchFamily="18" charset="0"/>
                              <a:ea typeface="Cambria Math" panose="02040503050406030204" pitchFamily="18" charset="0"/>
                            </a:rPr>
                          </m:ctrlPr>
                        </m:sSupPr>
                        <m:e>
                          <m:r>
                            <a:rPr lang="en-US" sz="1800" i="1" smtClean="0">
                              <a:latin typeface="Cambria Math" panose="02040503050406030204" pitchFamily="18" charset="0"/>
                              <a:ea typeface="Cambria Math" panose="02040503050406030204" pitchFamily="18" charset="0"/>
                            </a:rPr>
                            <m:t>𝜇</m:t>
                          </m:r>
                        </m:e>
                        <m:sup>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3</m:t>
                              </m:r>
                            </m:num>
                            <m:den>
                              <m:r>
                                <a:rPr lang="en-US" sz="1800" b="0" i="1" smtClean="0">
                                  <a:latin typeface="Cambria Math" panose="02040503050406030204" pitchFamily="18" charset="0"/>
                                  <a:ea typeface="Cambria Math" panose="02040503050406030204" pitchFamily="18" charset="0"/>
                                </a:rPr>
                                <m:t>2</m:t>
                              </m:r>
                            </m:den>
                          </m:f>
                        </m:sup>
                      </m:sSup>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3</m:t>
                          </m:r>
                        </m:num>
                        <m:den>
                          <m:r>
                            <a:rPr lang="en-US" sz="1800" b="0" i="1" smtClean="0">
                              <a:latin typeface="Cambria Math" panose="02040503050406030204" pitchFamily="18" charset="0"/>
                              <a:ea typeface="Cambria Math" panose="02040503050406030204" pitchFamily="18" charset="0"/>
                            </a:rPr>
                            <m:t>2</m:t>
                          </m:r>
                        </m:den>
                      </m:f>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𝜇</m:t>
                          </m:r>
                        </m:e>
                        <m:sup>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m:t>
                              </m:r>
                            </m:num>
                            <m:den>
                              <m:r>
                                <a:rPr lang="en-US" sz="1800" b="0" i="1" smtClean="0">
                                  <a:latin typeface="Cambria Math" panose="02040503050406030204" pitchFamily="18" charset="0"/>
                                  <a:ea typeface="Cambria Math" panose="02040503050406030204" pitchFamily="18" charset="0"/>
                                </a:rPr>
                                <m:t>2</m:t>
                              </m:r>
                            </m:den>
                          </m:f>
                        </m:sup>
                      </m:sSup>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𝑥</m:t>
                      </m:r>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3</m:t>
                          </m:r>
                        </m:num>
                        <m:den>
                          <m:r>
                            <a:rPr lang="en-US" sz="1800" b="0" i="1" smtClean="0">
                              <a:latin typeface="Cambria Math" panose="02040503050406030204" pitchFamily="18" charset="0"/>
                              <a:ea typeface="Cambria Math" panose="02040503050406030204" pitchFamily="18" charset="0"/>
                            </a:rPr>
                            <m:t>8</m:t>
                          </m:r>
                        </m:den>
                      </m:f>
                      <m:r>
                        <a:rPr lang="en-US" sz="1800" b="0" i="1" smtClean="0">
                          <a:latin typeface="Cambria Math" panose="02040503050406030204" pitchFamily="18" charset="0"/>
                          <a:ea typeface="Cambria Math" panose="02040503050406030204" pitchFamily="18" charset="0"/>
                        </a:rPr>
                        <m:t> </m:t>
                      </m:r>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𝜇</m:t>
                          </m:r>
                        </m:e>
                        <m:sup>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m:t>
                              </m:r>
                            </m:num>
                            <m:den>
                              <m:r>
                                <a:rPr lang="en-US" sz="1800" b="0" i="1" smtClean="0">
                                  <a:latin typeface="Cambria Math" panose="02040503050406030204" pitchFamily="18" charset="0"/>
                                  <a:ea typeface="Cambria Math" panose="02040503050406030204" pitchFamily="18" charset="0"/>
                                </a:rPr>
                                <m:t>2</m:t>
                              </m:r>
                            </m:den>
                          </m:f>
                        </m:sup>
                      </m:sSup>
                      <m:r>
                        <a:rPr lang="en-US" sz="1800" b="0" i="1" smtClean="0">
                          <a:latin typeface="Cambria Math" panose="02040503050406030204" pitchFamily="18" charset="0"/>
                          <a:ea typeface="Cambria Math" panose="02040503050406030204" pitchFamily="18" charset="0"/>
                        </a:rPr>
                        <m:t> </m:t>
                      </m:r>
                      <m:sSup>
                        <m:sSupPr>
                          <m:ctrlPr>
                            <a:rPr lang="en-US" sz="1800" b="0" i="1" smtClean="0">
                              <a:latin typeface="Cambria Math" panose="02040503050406030204" pitchFamily="18" charset="0"/>
                              <a:ea typeface="Cambria Math" panose="02040503050406030204" pitchFamily="18" charset="0"/>
                            </a:rPr>
                          </m:ctrlPr>
                        </m:sSupPr>
                        <m:e>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𝑥</m:t>
                              </m:r>
                            </m:e>
                          </m:d>
                        </m:e>
                        <m:sup>
                          <m:r>
                            <a:rPr lang="en-US" sz="1800" b="0" i="1" smtClean="0">
                              <a:latin typeface="Cambria Math" panose="02040503050406030204" pitchFamily="18" charset="0"/>
                              <a:ea typeface="Cambria Math" panose="02040503050406030204" pitchFamily="18" charset="0"/>
                            </a:rPr>
                            <m:t>2</m:t>
                          </m:r>
                        </m:sup>
                      </m:sSup>
                      <m:r>
                        <a:rPr lang="en-US" sz="1800" b="0" i="1" smtClean="0">
                          <a:latin typeface="Cambria Math" panose="02040503050406030204" pitchFamily="18" charset="0"/>
                          <a:ea typeface="Cambria Math" panose="02040503050406030204" pitchFamily="18" charset="0"/>
                        </a:rPr>
                        <m:t>+…</m:t>
                      </m:r>
                    </m:oMath>
                  </m:oMathPara>
                </a14:m>
                <a:endParaRPr lang="en-CN" dirty="0"/>
              </a:p>
            </p:txBody>
          </p:sp>
        </mc:Choice>
        <mc:Fallback xmlns="">
          <p:sp>
            <p:nvSpPr>
              <p:cNvPr id="7" name="TextBox 6">
                <a:extLst>
                  <a:ext uri="{FF2B5EF4-FFF2-40B4-BE49-F238E27FC236}">
                    <a16:creationId xmlns:a16="http://schemas.microsoft.com/office/drawing/2014/main" id="{6C275193-AD42-A249-9445-530F27184D88}"/>
                  </a:ext>
                </a:extLst>
              </p:cNvPr>
              <p:cNvSpPr txBox="1">
                <a:spLocks noRot="1" noChangeAspect="1" noMove="1" noResize="1" noEditPoints="1" noAdjustHandles="1" noChangeArrowheads="1" noChangeShapeType="1" noTextEdit="1"/>
              </p:cNvSpPr>
              <p:nvPr/>
            </p:nvSpPr>
            <p:spPr>
              <a:xfrm>
                <a:off x="6858000" y="2380190"/>
                <a:ext cx="4391891" cy="900055"/>
              </a:xfrm>
              <a:prstGeom prst="rect">
                <a:avLst/>
              </a:prstGeom>
              <a:blipFill>
                <a:blip r:embed="rId4"/>
                <a:stretch>
                  <a:fillRect b="-2778"/>
                </a:stretch>
              </a:blipFill>
            </p:spPr>
            <p:txBody>
              <a:bodyPr/>
              <a:lstStyle/>
              <a:p>
                <a:r>
                  <a:rPr lang="en-CN">
                    <a:noFill/>
                  </a:rPr>
                  <a:t> </a:t>
                </a:r>
              </a:p>
            </p:txBody>
          </p:sp>
        </mc:Fallback>
      </mc:AlternateContent>
    </p:spTree>
    <p:extLst>
      <p:ext uri="{BB962C8B-B14F-4D97-AF65-F5344CB8AC3E}">
        <p14:creationId xmlns:p14="http://schemas.microsoft.com/office/powerpoint/2010/main" val="634295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33EAB53-22B7-8749-8097-3AE4A2288423}"/>
                  </a:ext>
                </a:extLst>
              </p:cNvPr>
              <p:cNvSpPr txBox="1"/>
              <p:nvPr/>
            </p:nvSpPr>
            <p:spPr>
              <a:xfrm>
                <a:off x="-1" y="1264063"/>
                <a:ext cx="12095019" cy="934871"/>
              </a:xfrm>
              <a:prstGeom prst="rect">
                <a:avLst/>
              </a:prstGeom>
              <a:noFill/>
            </p:spPr>
            <p:txBody>
              <a:bodyPr wrap="square">
                <a:spAutoFit/>
              </a:bodyPr>
              <a:lstStyle/>
              <a:p>
                <a:pPr algn="ctr"/>
                <a14:m>
                  <m:oMath xmlns:m="http://schemas.openxmlformats.org/officeDocument/2006/math">
                    <m:r>
                      <a:rPr lang="en-US" sz="3200" b="0" i="1" smtClean="0">
                        <a:latin typeface="Cambria Math" panose="02040503050406030204" pitchFamily="18" charset="0"/>
                      </a:rPr>
                      <m:t>𝑁</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2</m:t>
                        </m:r>
                      </m:num>
                      <m:den>
                        <m:r>
                          <a:rPr lang="en-US" sz="3200" b="0" i="1" smtClean="0">
                            <a:latin typeface="Cambria Math" panose="02040503050406030204" pitchFamily="18" charset="0"/>
                          </a:rPr>
                          <m:t>3</m:t>
                        </m:r>
                      </m:den>
                    </m:f>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𝐷</m:t>
                        </m:r>
                      </m:e>
                      <m:sub>
                        <m:r>
                          <a:rPr lang="en-US" sz="3200" b="0" i="1" smtClean="0">
                            <a:latin typeface="Cambria Math" panose="02040503050406030204" pitchFamily="18" charset="0"/>
                          </a:rPr>
                          <m:t>0</m:t>
                        </m:r>
                      </m:sub>
                    </m:sSub>
                  </m:oMath>
                </a14:m>
                <a:r>
                  <a:rPr lang="en-US" sz="3200" dirty="0">
                    <a:ea typeface="Cambria Math" panose="02040503050406030204" pitchFamily="18" charset="0"/>
                  </a:rPr>
                  <a:t> </a:t>
                </a:r>
                <a14:m>
                  <m:oMath xmlns:m="http://schemas.openxmlformats.org/officeDocument/2006/math">
                    <m:nary>
                      <m:naryPr>
                        <m:ctrlPr>
                          <a:rPr lang="en-US" sz="3200" i="1">
                            <a:latin typeface="Cambria Math" panose="02040503050406030204" pitchFamily="18" charset="0"/>
                            <a:ea typeface="Cambria Math" panose="02040503050406030204" pitchFamily="18" charset="0"/>
                          </a:rPr>
                        </m:ctrlPr>
                      </m:naryPr>
                      <m:sub>
                        <m:r>
                          <m:rPr>
                            <m:brk m:alnAt="23"/>
                          </m:rPr>
                          <a:rPr lang="en-US" sz="3200" i="1">
                            <a:latin typeface="Cambria Math" panose="02040503050406030204" pitchFamily="18" charset="0"/>
                            <a:ea typeface="Cambria Math" panose="02040503050406030204" pitchFamily="18" charset="0"/>
                          </a:rPr>
                          <m:t>−</m:t>
                        </m:r>
                        <m:r>
                          <a:rPr lang="en-US" sz="3200" i="1" smtClean="0">
                            <a:latin typeface="Cambria Math" panose="02040503050406030204" pitchFamily="18" charset="0"/>
                            <a:ea typeface="Cambria Math" panose="02040503050406030204" pitchFamily="18" charset="0"/>
                          </a:rPr>
                          <m:t>∞</m:t>
                        </m:r>
                      </m:sub>
                      <m:sup>
                        <m:r>
                          <a:rPr lang="en-US" sz="3200" i="1">
                            <a:latin typeface="Cambria Math" panose="02040503050406030204" pitchFamily="18" charset="0"/>
                            <a:ea typeface="Cambria Math" panose="02040503050406030204" pitchFamily="18" charset="0"/>
                          </a:rPr>
                          <m:t>∞</m:t>
                        </m:r>
                      </m:sup>
                      <m:e>
                        <m:r>
                          <a:rPr lang="en-US" sz="3200" i="1">
                            <a:latin typeface="Cambria Math" panose="02040503050406030204" pitchFamily="18" charset="0"/>
                            <a:ea typeface="Cambria Math" panose="02040503050406030204" pitchFamily="18" charset="0"/>
                          </a:rPr>
                          <m:t>𝑑𝑥</m:t>
                        </m:r>
                        <m:r>
                          <a:rPr lang="en-US" sz="3200" i="1">
                            <a:latin typeface="Cambria Math" panose="02040503050406030204" pitchFamily="18" charset="0"/>
                            <a:ea typeface="Cambria Math" panose="02040503050406030204" pitchFamily="18" charset="0"/>
                          </a:rPr>
                          <m:t> </m:t>
                        </m:r>
                        <m:f>
                          <m:fPr>
                            <m:ctrlPr>
                              <a:rPr lang="en-US" sz="3200" i="1">
                                <a:latin typeface="Cambria Math" panose="02040503050406030204" pitchFamily="18" charset="0"/>
                              </a:rPr>
                            </m:ctrlPr>
                          </m:fPr>
                          <m:num>
                            <m:sSup>
                              <m:sSupPr>
                                <m:ctrlPr>
                                  <a:rPr lang="en-US" sz="3200" i="1">
                                    <a:latin typeface="Cambria Math" panose="02040503050406030204" pitchFamily="18" charset="0"/>
                                  </a:rPr>
                                </m:ctrlPr>
                              </m:sSupPr>
                              <m:e>
                                <m:r>
                                  <a:rPr lang="en-US" sz="3200" i="1">
                                    <a:latin typeface="Cambria Math" panose="02040503050406030204" pitchFamily="18" charset="0"/>
                                  </a:rPr>
                                  <m:t>𝑒</m:t>
                                </m:r>
                              </m:e>
                              <m:sup>
                                <m:r>
                                  <a:rPr lang="en-US" sz="3200" i="1">
                                    <a:latin typeface="Cambria Math" panose="02040503050406030204" pitchFamily="18" charset="0"/>
                                  </a:rPr>
                                  <m:t>𝑥</m:t>
                                </m:r>
                              </m:sup>
                            </m:sSup>
                          </m:num>
                          <m:den>
                            <m:sSup>
                              <m:sSupPr>
                                <m:ctrlPr>
                                  <a:rPr lang="en-US" sz="3200" i="1">
                                    <a:latin typeface="Cambria Math" panose="02040503050406030204" pitchFamily="18" charset="0"/>
                                  </a:rPr>
                                </m:ctrlPr>
                              </m:sSupPr>
                              <m:e>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𝑒</m:t>
                                        </m:r>
                                      </m:e>
                                      <m:sup>
                                        <m:r>
                                          <a:rPr lang="en-US" sz="3200" i="1">
                                            <a:latin typeface="Cambria Math" panose="02040503050406030204" pitchFamily="18" charset="0"/>
                                          </a:rPr>
                                          <m:t>𝑥</m:t>
                                        </m:r>
                                      </m:sup>
                                    </m:sSup>
                                    <m:r>
                                      <a:rPr lang="en-US" sz="3200" i="1">
                                        <a:latin typeface="Cambria Math" panose="02040503050406030204" pitchFamily="18" charset="0"/>
                                      </a:rPr>
                                      <m:t>+1</m:t>
                                    </m:r>
                                  </m:e>
                                </m:d>
                              </m:e>
                              <m:sup>
                                <m:r>
                                  <a:rPr lang="en-US" sz="3200" i="1">
                                    <a:latin typeface="Cambria Math" panose="02040503050406030204" pitchFamily="18" charset="0"/>
                                  </a:rPr>
                                  <m:t>2</m:t>
                                </m:r>
                              </m:sup>
                            </m:sSup>
                          </m:den>
                        </m:f>
                        <m:d>
                          <m:dPr>
                            <m:ctrlPr>
                              <a:rPr lang="en-US" sz="3200" i="1" smtClean="0">
                                <a:latin typeface="Cambria Math" panose="02040503050406030204" pitchFamily="18" charset="0"/>
                              </a:rPr>
                            </m:ctrlPr>
                          </m:dPr>
                          <m:e>
                            <m:sSup>
                              <m:sSupPr>
                                <m:ctrlPr>
                                  <a:rPr lang="en-US" sz="3200" i="1">
                                    <a:latin typeface="Cambria Math" panose="02040503050406030204" pitchFamily="18" charset="0"/>
                                    <a:ea typeface="Cambria Math" panose="02040503050406030204" pitchFamily="18" charset="0"/>
                                  </a:rPr>
                                </m:ctrlPr>
                              </m:sSupPr>
                              <m:e>
                                <m:r>
                                  <a:rPr lang="en-US" sz="3200" i="1">
                                    <a:latin typeface="Cambria Math" panose="02040503050406030204" pitchFamily="18" charset="0"/>
                                    <a:ea typeface="Cambria Math" panose="02040503050406030204" pitchFamily="18" charset="0"/>
                                  </a:rPr>
                                  <m:t>𝜇</m:t>
                                </m:r>
                              </m:e>
                              <m:sup>
                                <m:f>
                                  <m:fPr>
                                    <m:ctrlPr>
                                      <a:rPr lang="en-US" sz="3200" i="1">
                                        <a:latin typeface="Cambria Math" panose="02040503050406030204" pitchFamily="18" charset="0"/>
                                        <a:ea typeface="Cambria Math" panose="02040503050406030204" pitchFamily="18" charset="0"/>
                                      </a:rPr>
                                    </m:ctrlPr>
                                  </m:fPr>
                                  <m:num>
                                    <m:r>
                                      <a:rPr lang="en-US" sz="3200" i="1">
                                        <a:latin typeface="Cambria Math" panose="02040503050406030204" pitchFamily="18" charset="0"/>
                                        <a:ea typeface="Cambria Math" panose="02040503050406030204" pitchFamily="18" charset="0"/>
                                      </a:rPr>
                                      <m:t>3</m:t>
                                    </m:r>
                                  </m:num>
                                  <m:den>
                                    <m:r>
                                      <a:rPr lang="en-US" sz="3200" i="1">
                                        <a:latin typeface="Cambria Math" panose="02040503050406030204" pitchFamily="18" charset="0"/>
                                        <a:ea typeface="Cambria Math" panose="02040503050406030204" pitchFamily="18" charset="0"/>
                                      </a:rPr>
                                      <m:t>2</m:t>
                                    </m:r>
                                  </m:den>
                                </m:f>
                              </m:sup>
                            </m:sSup>
                            <m:r>
                              <a:rPr lang="en-US" sz="3200" i="1">
                                <a:latin typeface="Cambria Math" panose="02040503050406030204" pitchFamily="18" charset="0"/>
                                <a:ea typeface="Cambria Math" panose="02040503050406030204" pitchFamily="18" charset="0"/>
                              </a:rPr>
                              <m:t>+</m:t>
                            </m:r>
                            <m:f>
                              <m:fPr>
                                <m:ctrlPr>
                                  <a:rPr lang="en-US" sz="3200" i="1">
                                    <a:latin typeface="Cambria Math" panose="02040503050406030204" pitchFamily="18" charset="0"/>
                                    <a:ea typeface="Cambria Math" panose="02040503050406030204" pitchFamily="18" charset="0"/>
                                  </a:rPr>
                                </m:ctrlPr>
                              </m:fPr>
                              <m:num>
                                <m:r>
                                  <a:rPr lang="en-US" sz="3200" i="1">
                                    <a:latin typeface="Cambria Math" panose="02040503050406030204" pitchFamily="18" charset="0"/>
                                    <a:ea typeface="Cambria Math" panose="02040503050406030204" pitchFamily="18" charset="0"/>
                                  </a:rPr>
                                  <m:t>3</m:t>
                                </m:r>
                              </m:num>
                              <m:den>
                                <m:r>
                                  <a:rPr lang="en-US" sz="3200" i="1">
                                    <a:latin typeface="Cambria Math" panose="02040503050406030204" pitchFamily="18" charset="0"/>
                                    <a:ea typeface="Cambria Math" panose="02040503050406030204" pitchFamily="18" charset="0"/>
                                  </a:rPr>
                                  <m:t>2</m:t>
                                </m:r>
                              </m:den>
                            </m:f>
                            <m:sSup>
                              <m:sSupPr>
                                <m:ctrlPr>
                                  <a:rPr lang="en-US" sz="3200" i="1">
                                    <a:latin typeface="Cambria Math" panose="02040503050406030204" pitchFamily="18" charset="0"/>
                                    <a:ea typeface="Cambria Math" panose="02040503050406030204" pitchFamily="18" charset="0"/>
                                  </a:rPr>
                                </m:ctrlPr>
                              </m:sSupPr>
                              <m:e>
                                <m:r>
                                  <a:rPr lang="en-US" sz="3200" i="1">
                                    <a:latin typeface="Cambria Math" panose="02040503050406030204" pitchFamily="18" charset="0"/>
                                    <a:ea typeface="Cambria Math" panose="02040503050406030204" pitchFamily="18" charset="0"/>
                                  </a:rPr>
                                  <m:t>𝜇</m:t>
                                </m:r>
                              </m:e>
                              <m:sup>
                                <m:f>
                                  <m:fPr>
                                    <m:ctrlPr>
                                      <a:rPr lang="en-US" sz="3200" i="1">
                                        <a:latin typeface="Cambria Math" panose="02040503050406030204" pitchFamily="18" charset="0"/>
                                        <a:ea typeface="Cambria Math" panose="02040503050406030204" pitchFamily="18" charset="0"/>
                                      </a:rPr>
                                    </m:ctrlPr>
                                  </m:fPr>
                                  <m:num>
                                    <m:r>
                                      <a:rPr lang="en-US" sz="3200" i="1">
                                        <a:latin typeface="Cambria Math" panose="02040503050406030204" pitchFamily="18" charset="0"/>
                                        <a:ea typeface="Cambria Math" panose="02040503050406030204" pitchFamily="18" charset="0"/>
                                      </a:rPr>
                                      <m:t>1</m:t>
                                    </m:r>
                                  </m:num>
                                  <m:den>
                                    <m:r>
                                      <a:rPr lang="en-US" sz="3200" i="1">
                                        <a:latin typeface="Cambria Math" panose="02040503050406030204" pitchFamily="18" charset="0"/>
                                        <a:ea typeface="Cambria Math" panose="02040503050406030204" pitchFamily="18" charset="0"/>
                                      </a:rPr>
                                      <m:t>2</m:t>
                                    </m:r>
                                  </m:den>
                                </m:f>
                              </m:sup>
                            </m:sSup>
                            <m:r>
                              <a:rPr lang="en-US" sz="3200" i="1">
                                <a:latin typeface="Cambria Math" panose="02040503050406030204" pitchFamily="18" charset="0"/>
                                <a:ea typeface="Cambria Math" panose="02040503050406030204" pitchFamily="18" charset="0"/>
                              </a:rPr>
                              <m:t> </m:t>
                            </m:r>
                            <m:r>
                              <a:rPr lang="en-US" sz="3200" i="1">
                                <a:latin typeface="Cambria Math" panose="02040503050406030204" pitchFamily="18" charset="0"/>
                                <a:ea typeface="Cambria Math" panose="02040503050406030204" pitchFamily="18" charset="0"/>
                              </a:rPr>
                              <m:t>𝜏</m:t>
                            </m:r>
                            <m:r>
                              <a:rPr lang="en-US" sz="3200" i="1">
                                <a:latin typeface="Cambria Math" panose="02040503050406030204" pitchFamily="18" charset="0"/>
                                <a:ea typeface="Cambria Math" panose="02040503050406030204" pitchFamily="18" charset="0"/>
                              </a:rPr>
                              <m:t>𝑥</m:t>
                            </m:r>
                            <m:r>
                              <a:rPr lang="en-US" sz="3200" i="1">
                                <a:latin typeface="Cambria Math" panose="02040503050406030204" pitchFamily="18" charset="0"/>
                                <a:ea typeface="Cambria Math" panose="02040503050406030204" pitchFamily="18" charset="0"/>
                              </a:rPr>
                              <m:t>+</m:t>
                            </m:r>
                            <m:f>
                              <m:fPr>
                                <m:ctrlPr>
                                  <a:rPr lang="en-US" sz="3200" i="1">
                                    <a:latin typeface="Cambria Math" panose="02040503050406030204" pitchFamily="18" charset="0"/>
                                    <a:ea typeface="Cambria Math" panose="02040503050406030204" pitchFamily="18" charset="0"/>
                                  </a:rPr>
                                </m:ctrlPr>
                              </m:fPr>
                              <m:num>
                                <m:r>
                                  <a:rPr lang="en-US" sz="3200" i="1">
                                    <a:latin typeface="Cambria Math" panose="02040503050406030204" pitchFamily="18" charset="0"/>
                                    <a:ea typeface="Cambria Math" panose="02040503050406030204" pitchFamily="18" charset="0"/>
                                  </a:rPr>
                                  <m:t>3</m:t>
                                </m:r>
                              </m:num>
                              <m:den>
                                <m:r>
                                  <a:rPr lang="en-US" sz="3200" i="1">
                                    <a:latin typeface="Cambria Math" panose="02040503050406030204" pitchFamily="18" charset="0"/>
                                    <a:ea typeface="Cambria Math" panose="02040503050406030204" pitchFamily="18" charset="0"/>
                                  </a:rPr>
                                  <m:t>8</m:t>
                                </m:r>
                              </m:den>
                            </m:f>
                            <m:r>
                              <a:rPr lang="en-US" sz="3200" i="1">
                                <a:latin typeface="Cambria Math" panose="02040503050406030204" pitchFamily="18" charset="0"/>
                                <a:ea typeface="Cambria Math" panose="02040503050406030204" pitchFamily="18" charset="0"/>
                              </a:rPr>
                              <m:t> </m:t>
                            </m:r>
                            <m:sSup>
                              <m:sSupPr>
                                <m:ctrlPr>
                                  <a:rPr lang="en-US" sz="3200" i="1">
                                    <a:latin typeface="Cambria Math" panose="02040503050406030204" pitchFamily="18" charset="0"/>
                                    <a:ea typeface="Cambria Math" panose="02040503050406030204" pitchFamily="18" charset="0"/>
                                  </a:rPr>
                                </m:ctrlPr>
                              </m:sSupPr>
                              <m:e>
                                <m:r>
                                  <a:rPr lang="en-US" sz="3200" i="1">
                                    <a:latin typeface="Cambria Math" panose="02040503050406030204" pitchFamily="18" charset="0"/>
                                    <a:ea typeface="Cambria Math" panose="02040503050406030204" pitchFamily="18" charset="0"/>
                                  </a:rPr>
                                  <m:t>𝜇</m:t>
                                </m:r>
                              </m:e>
                              <m:sup>
                                <m:r>
                                  <a:rPr lang="en-US" sz="3200" i="1">
                                    <a:latin typeface="Cambria Math" panose="02040503050406030204" pitchFamily="18" charset="0"/>
                                    <a:ea typeface="Cambria Math" panose="02040503050406030204" pitchFamily="18" charset="0"/>
                                  </a:rPr>
                                  <m:t>−</m:t>
                                </m:r>
                                <m:f>
                                  <m:fPr>
                                    <m:ctrlPr>
                                      <a:rPr lang="en-US" sz="3200" i="1">
                                        <a:latin typeface="Cambria Math" panose="02040503050406030204" pitchFamily="18" charset="0"/>
                                        <a:ea typeface="Cambria Math" panose="02040503050406030204" pitchFamily="18" charset="0"/>
                                      </a:rPr>
                                    </m:ctrlPr>
                                  </m:fPr>
                                  <m:num>
                                    <m:r>
                                      <a:rPr lang="en-US" sz="3200" i="1">
                                        <a:latin typeface="Cambria Math" panose="02040503050406030204" pitchFamily="18" charset="0"/>
                                        <a:ea typeface="Cambria Math" panose="02040503050406030204" pitchFamily="18" charset="0"/>
                                      </a:rPr>
                                      <m:t>1</m:t>
                                    </m:r>
                                  </m:num>
                                  <m:den>
                                    <m:r>
                                      <a:rPr lang="en-US" sz="3200" i="1">
                                        <a:latin typeface="Cambria Math" panose="02040503050406030204" pitchFamily="18" charset="0"/>
                                        <a:ea typeface="Cambria Math" panose="02040503050406030204" pitchFamily="18" charset="0"/>
                                      </a:rPr>
                                      <m:t>2</m:t>
                                    </m:r>
                                  </m:den>
                                </m:f>
                              </m:sup>
                            </m:sSup>
                            <m:r>
                              <a:rPr lang="en-US" sz="3200" i="1">
                                <a:latin typeface="Cambria Math" panose="02040503050406030204" pitchFamily="18" charset="0"/>
                                <a:ea typeface="Cambria Math" panose="02040503050406030204" pitchFamily="18" charset="0"/>
                              </a:rPr>
                              <m:t> </m:t>
                            </m:r>
                            <m:sSup>
                              <m:sSupPr>
                                <m:ctrlPr>
                                  <a:rPr lang="en-US" sz="3200" i="1">
                                    <a:latin typeface="Cambria Math" panose="02040503050406030204" pitchFamily="18" charset="0"/>
                                    <a:ea typeface="Cambria Math" panose="02040503050406030204" pitchFamily="18" charset="0"/>
                                  </a:rPr>
                                </m:ctrlPr>
                              </m:sSupPr>
                              <m:e>
                                <m:d>
                                  <m:dPr>
                                    <m:ctrlPr>
                                      <a:rPr lang="en-US" sz="3200" i="1">
                                        <a:latin typeface="Cambria Math" panose="02040503050406030204" pitchFamily="18" charset="0"/>
                                        <a:ea typeface="Cambria Math" panose="02040503050406030204" pitchFamily="18" charset="0"/>
                                      </a:rPr>
                                    </m:ctrlPr>
                                  </m:dPr>
                                  <m:e>
                                    <m:r>
                                      <a:rPr lang="en-US" sz="3200" i="1">
                                        <a:latin typeface="Cambria Math" panose="02040503050406030204" pitchFamily="18" charset="0"/>
                                        <a:ea typeface="Cambria Math" panose="02040503050406030204" pitchFamily="18" charset="0"/>
                                      </a:rPr>
                                      <m:t>𝜏</m:t>
                                    </m:r>
                                    <m:r>
                                      <a:rPr lang="en-US" sz="3200" i="1">
                                        <a:latin typeface="Cambria Math" panose="02040503050406030204" pitchFamily="18" charset="0"/>
                                        <a:ea typeface="Cambria Math" panose="02040503050406030204" pitchFamily="18" charset="0"/>
                                      </a:rPr>
                                      <m:t>𝑥</m:t>
                                    </m:r>
                                  </m:e>
                                </m:d>
                              </m:e>
                              <m:sup>
                                <m:r>
                                  <a:rPr lang="en-US" sz="3200" i="1">
                                    <a:latin typeface="Cambria Math" panose="02040503050406030204" pitchFamily="18" charset="0"/>
                                    <a:ea typeface="Cambria Math" panose="02040503050406030204" pitchFamily="18" charset="0"/>
                                  </a:rPr>
                                  <m:t>2</m:t>
                                </m:r>
                              </m:sup>
                            </m:sSup>
                            <m:r>
                              <a:rPr lang="en-US" sz="3200" b="0" i="1" smtClean="0">
                                <a:latin typeface="Cambria Math" panose="02040503050406030204" pitchFamily="18" charset="0"/>
                                <a:ea typeface="Cambria Math" panose="02040503050406030204" pitchFamily="18" charset="0"/>
                              </a:rPr>
                              <m:t>+…</m:t>
                            </m:r>
                          </m:e>
                        </m:d>
                      </m:e>
                    </m:nary>
                  </m:oMath>
                </a14:m>
                <a:endParaRPr lang="en-CN" sz="3200" dirty="0"/>
              </a:p>
            </p:txBody>
          </p:sp>
        </mc:Choice>
        <mc:Fallback xmlns="">
          <p:sp>
            <p:nvSpPr>
              <p:cNvPr id="2" name="TextBox 1">
                <a:extLst>
                  <a:ext uri="{FF2B5EF4-FFF2-40B4-BE49-F238E27FC236}">
                    <a16:creationId xmlns:a16="http://schemas.microsoft.com/office/drawing/2014/main" id="{633EAB53-22B7-8749-8097-3AE4A2288423}"/>
                  </a:ext>
                </a:extLst>
              </p:cNvPr>
              <p:cNvSpPr txBox="1">
                <a:spLocks noRot="1" noChangeAspect="1" noMove="1" noResize="1" noEditPoints="1" noAdjustHandles="1" noChangeArrowheads="1" noChangeShapeType="1" noTextEdit="1"/>
              </p:cNvSpPr>
              <p:nvPr/>
            </p:nvSpPr>
            <p:spPr>
              <a:xfrm>
                <a:off x="-1" y="1264063"/>
                <a:ext cx="12095019" cy="934871"/>
              </a:xfrm>
              <a:prstGeom prst="rect">
                <a:avLst/>
              </a:prstGeom>
              <a:blipFill>
                <a:blip r:embed="rId2"/>
                <a:stretch>
                  <a:fillRect t="-86667" b="-141333"/>
                </a:stretch>
              </a:blipFill>
            </p:spPr>
            <p:txBody>
              <a:bodyPr/>
              <a:lstStyle/>
              <a:p>
                <a:r>
                  <a:rPr lang="en-CN">
                    <a:noFill/>
                  </a:rPr>
                  <a:t> </a:t>
                </a:r>
              </a:p>
            </p:txBody>
          </p:sp>
        </mc:Fallback>
      </mc:AlternateContent>
      <p:sp>
        <p:nvSpPr>
          <p:cNvPr id="3" name="Right Arrow 2">
            <a:extLst>
              <a:ext uri="{FF2B5EF4-FFF2-40B4-BE49-F238E27FC236}">
                <a16:creationId xmlns:a16="http://schemas.microsoft.com/office/drawing/2014/main" id="{6DAD2312-8FC0-0744-9A23-921595EAF24C}"/>
              </a:ext>
            </a:extLst>
          </p:cNvPr>
          <p:cNvSpPr/>
          <p:nvPr/>
        </p:nvSpPr>
        <p:spPr>
          <a:xfrm>
            <a:off x="678873" y="471055"/>
            <a:ext cx="1676400" cy="7930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5" name="Picture 4">
            <a:extLst>
              <a:ext uri="{FF2B5EF4-FFF2-40B4-BE49-F238E27FC236}">
                <a16:creationId xmlns:a16="http://schemas.microsoft.com/office/drawing/2014/main" id="{A96A153D-8123-DA43-B0F6-55D97C03E6DF}"/>
              </a:ext>
            </a:extLst>
          </p:cNvPr>
          <p:cNvPicPr>
            <a:picLocks noChangeAspect="1"/>
          </p:cNvPicPr>
          <p:nvPr/>
        </p:nvPicPr>
        <p:blipFill>
          <a:blip r:embed="rId3"/>
          <a:stretch>
            <a:fillRect/>
          </a:stretch>
        </p:blipFill>
        <p:spPr>
          <a:xfrm>
            <a:off x="3255818" y="2318560"/>
            <a:ext cx="4067464" cy="277702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E9766C2-F041-DD43-A4FB-4DCC689B072B}"/>
                  </a:ext>
                </a:extLst>
              </p:cNvPr>
              <p:cNvSpPr txBox="1"/>
              <p:nvPr/>
            </p:nvSpPr>
            <p:spPr>
              <a:xfrm>
                <a:off x="-2" y="4907808"/>
                <a:ext cx="12095019" cy="131318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𝑁</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2</m:t>
                          </m:r>
                        </m:num>
                        <m:den>
                          <m:r>
                            <a:rPr lang="en-US" sz="3200" b="0" i="1" smtClean="0">
                              <a:latin typeface="Cambria Math" panose="02040503050406030204" pitchFamily="18" charset="0"/>
                            </a:rPr>
                            <m:t>3</m:t>
                          </m:r>
                        </m:den>
                      </m:f>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𝐷</m:t>
                          </m:r>
                        </m:e>
                        <m:sub>
                          <m:r>
                            <a:rPr lang="en-US" sz="3200" b="0" i="1" smtClean="0">
                              <a:latin typeface="Cambria Math" panose="02040503050406030204" pitchFamily="18" charset="0"/>
                            </a:rPr>
                            <m:t>0</m:t>
                          </m:r>
                        </m:sub>
                      </m:sSub>
                      <m:d>
                        <m:dPr>
                          <m:ctrlPr>
                            <a:rPr lang="en-US" sz="3200" b="0" i="1" smtClean="0">
                              <a:latin typeface="Cambria Math" panose="02040503050406030204" pitchFamily="18" charset="0"/>
                            </a:rPr>
                          </m:ctrlPr>
                        </m:dPr>
                        <m:e>
                          <m:sSup>
                            <m:sSupPr>
                              <m:ctrlPr>
                                <a:rPr lang="en-US" sz="3200" i="1">
                                  <a:latin typeface="Cambria Math" panose="02040503050406030204" pitchFamily="18" charset="0"/>
                                  <a:ea typeface="Cambria Math" panose="02040503050406030204" pitchFamily="18" charset="0"/>
                                </a:rPr>
                              </m:ctrlPr>
                            </m:sSupPr>
                            <m:e>
                              <m:r>
                                <a:rPr lang="en-US" sz="3200" i="1">
                                  <a:latin typeface="Cambria Math" panose="02040503050406030204" pitchFamily="18" charset="0"/>
                                  <a:ea typeface="Cambria Math" panose="02040503050406030204" pitchFamily="18" charset="0"/>
                                </a:rPr>
                                <m:t>𝜇</m:t>
                              </m:r>
                            </m:e>
                            <m:sup>
                              <m:f>
                                <m:fPr>
                                  <m:ctrlPr>
                                    <a:rPr lang="en-US" sz="3200" i="1">
                                      <a:latin typeface="Cambria Math" panose="02040503050406030204" pitchFamily="18" charset="0"/>
                                      <a:ea typeface="Cambria Math" panose="02040503050406030204" pitchFamily="18" charset="0"/>
                                    </a:rPr>
                                  </m:ctrlPr>
                                </m:fPr>
                                <m:num>
                                  <m:r>
                                    <a:rPr lang="en-US" sz="3200" i="1">
                                      <a:latin typeface="Cambria Math" panose="02040503050406030204" pitchFamily="18" charset="0"/>
                                      <a:ea typeface="Cambria Math" panose="02040503050406030204" pitchFamily="18" charset="0"/>
                                    </a:rPr>
                                    <m:t>3</m:t>
                                  </m:r>
                                </m:num>
                                <m:den>
                                  <m:r>
                                    <a:rPr lang="en-US" sz="3200" i="1">
                                      <a:latin typeface="Cambria Math" panose="02040503050406030204" pitchFamily="18" charset="0"/>
                                      <a:ea typeface="Cambria Math" panose="02040503050406030204" pitchFamily="18" charset="0"/>
                                    </a:rPr>
                                    <m:t>2</m:t>
                                  </m:r>
                                </m:den>
                              </m:f>
                            </m:sup>
                          </m:sSup>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sSup>
                                <m:sSupPr>
                                  <m:ctrlPr>
                                    <a:rPr lang="en-US" sz="3200" b="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𝜋</m:t>
                                  </m:r>
                                </m:e>
                                <m:sup>
                                  <m:r>
                                    <a:rPr lang="en-US" sz="3200" b="0" i="1" smtClean="0">
                                      <a:latin typeface="Cambria Math" panose="02040503050406030204" pitchFamily="18" charset="0"/>
                                      <a:ea typeface="Cambria Math" panose="02040503050406030204" pitchFamily="18" charset="0"/>
                                    </a:rPr>
                                    <m:t>2</m:t>
                                  </m:r>
                                </m:sup>
                              </m:sSup>
                            </m:num>
                            <m:den>
                              <m:r>
                                <a:rPr lang="en-US" sz="3200" b="0" i="1" smtClean="0">
                                  <a:latin typeface="Cambria Math" panose="02040503050406030204" pitchFamily="18" charset="0"/>
                                  <a:ea typeface="Cambria Math" panose="02040503050406030204" pitchFamily="18" charset="0"/>
                                </a:rPr>
                                <m:t>8</m:t>
                              </m:r>
                            </m:den>
                          </m:f>
                          <m:sSup>
                            <m:sSupPr>
                              <m:ctrlPr>
                                <a:rPr lang="en-US" sz="3200" b="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𝜇</m:t>
                              </m:r>
                            </m:e>
                            <m:sup>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1</m:t>
                                  </m:r>
                                </m:num>
                                <m:den>
                                  <m:r>
                                    <a:rPr lang="en-US" sz="3200" b="0" i="1" smtClean="0">
                                      <a:latin typeface="Cambria Math" panose="02040503050406030204" pitchFamily="18" charset="0"/>
                                      <a:ea typeface="Cambria Math" panose="02040503050406030204" pitchFamily="18" charset="0"/>
                                    </a:rPr>
                                    <m:t>2</m:t>
                                  </m:r>
                                </m:den>
                              </m:f>
                            </m:sup>
                          </m:sSup>
                          <m:sSup>
                            <m:sSupPr>
                              <m:ctrlPr>
                                <a:rPr lang="en-US" sz="3200" b="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𝜏</m:t>
                              </m:r>
                            </m:e>
                            <m:sup>
                              <m:r>
                                <a:rPr lang="en-US" sz="3200" b="0" i="1" smtClean="0">
                                  <a:latin typeface="Cambria Math" panose="02040503050406030204" pitchFamily="18" charset="0"/>
                                  <a:ea typeface="Cambria Math" panose="02040503050406030204" pitchFamily="18" charset="0"/>
                                </a:rPr>
                                <m:t>2</m:t>
                              </m:r>
                            </m:sup>
                          </m:sSup>
                          <m:r>
                            <a:rPr lang="en-US" sz="3200" b="0" i="1" smtClean="0">
                              <a:latin typeface="Cambria Math" panose="02040503050406030204" pitchFamily="18" charset="0"/>
                              <a:ea typeface="Cambria Math" panose="02040503050406030204" pitchFamily="18" charset="0"/>
                            </a:rPr>
                            <m:t>+…</m:t>
                          </m:r>
                        </m:e>
                      </m:d>
                      <m:r>
                        <a:rPr lang="en-US" sz="3200" b="0" i="1" smtClean="0">
                          <a:latin typeface="Cambria Math" panose="02040503050406030204" pitchFamily="18" charset="0"/>
                        </a:rPr>
                        <m:t>=</m:t>
                      </m:r>
                      <m:r>
                        <a:rPr lang="en-US" sz="3200" b="0" i="1" smtClean="0">
                          <a:latin typeface="Cambria Math" panose="02040503050406030204" pitchFamily="18" charset="0"/>
                        </a:rPr>
                        <m:t>𝑁</m:t>
                      </m:r>
                      <m:sSup>
                        <m:sSupPr>
                          <m:ctrlPr>
                            <a:rPr lang="en-US" sz="3200" b="0" i="1" smtClean="0">
                              <a:latin typeface="Cambria Math" panose="02040503050406030204" pitchFamily="18" charset="0"/>
                            </a:rPr>
                          </m:ctrlPr>
                        </m:sSupPr>
                        <m:e>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𝜇</m:t>
                                  </m:r>
                                </m:num>
                                <m:den>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𝜀</m:t>
                                      </m:r>
                                    </m:e>
                                    <m:sub>
                                      <m:r>
                                        <a:rPr lang="en-US" sz="3200" b="0" i="1" smtClean="0">
                                          <a:latin typeface="Cambria Math" panose="02040503050406030204" pitchFamily="18" charset="0"/>
                                        </a:rPr>
                                        <m:t>𝐹</m:t>
                                      </m:r>
                                    </m:sub>
                                  </m:sSub>
                                </m:den>
                              </m:f>
                            </m:e>
                          </m:d>
                        </m:e>
                        <m:sup>
                          <m:r>
                            <a:rPr lang="en-US" sz="3200" b="0" i="1" smtClean="0">
                              <a:latin typeface="Cambria Math" panose="02040503050406030204" pitchFamily="18" charset="0"/>
                            </a:rPr>
                            <m:t>3/2</m:t>
                          </m:r>
                        </m:sup>
                      </m:sSup>
                      <m:r>
                        <a:rPr lang="en-US" sz="3200" b="0" i="1" smtClean="0">
                          <a:latin typeface="Cambria Math" panose="02040503050406030204" pitchFamily="18" charset="0"/>
                        </a:rPr>
                        <m:t>+</m:t>
                      </m:r>
                      <m:r>
                        <a:rPr lang="en-US" sz="3200" b="0" i="1" smtClean="0">
                          <a:latin typeface="Cambria Math" panose="02040503050406030204" pitchFamily="18" charset="0"/>
                        </a:rPr>
                        <m:t>𝑁</m:t>
                      </m:r>
                      <m:f>
                        <m:fPr>
                          <m:ctrlPr>
                            <a:rPr lang="en-US" sz="3200" i="1">
                              <a:latin typeface="Cambria Math" panose="02040503050406030204" pitchFamily="18" charset="0"/>
                              <a:ea typeface="Cambria Math" panose="02040503050406030204" pitchFamily="18" charset="0"/>
                            </a:rPr>
                          </m:ctrlPr>
                        </m:fPr>
                        <m:num>
                          <m:sSup>
                            <m:sSupPr>
                              <m:ctrlPr>
                                <a:rPr lang="en-US" sz="3200" i="1">
                                  <a:latin typeface="Cambria Math" panose="02040503050406030204" pitchFamily="18" charset="0"/>
                                  <a:ea typeface="Cambria Math" panose="02040503050406030204" pitchFamily="18" charset="0"/>
                                </a:rPr>
                              </m:ctrlPr>
                            </m:sSupPr>
                            <m:e>
                              <m:r>
                                <a:rPr lang="en-US" sz="3200" i="1">
                                  <a:latin typeface="Cambria Math" panose="02040503050406030204" pitchFamily="18" charset="0"/>
                                  <a:ea typeface="Cambria Math" panose="02040503050406030204" pitchFamily="18" charset="0"/>
                                </a:rPr>
                                <m:t>𝜋</m:t>
                              </m:r>
                            </m:e>
                            <m:sup>
                              <m:r>
                                <a:rPr lang="en-US" sz="3200" i="1">
                                  <a:latin typeface="Cambria Math" panose="02040503050406030204" pitchFamily="18" charset="0"/>
                                  <a:ea typeface="Cambria Math" panose="02040503050406030204" pitchFamily="18" charset="0"/>
                                </a:rPr>
                                <m:t>2</m:t>
                              </m:r>
                            </m:sup>
                          </m:sSup>
                        </m:num>
                        <m:den>
                          <m:r>
                            <a:rPr lang="en-US" sz="3200" i="1">
                              <a:latin typeface="Cambria Math" panose="02040503050406030204" pitchFamily="18" charset="0"/>
                              <a:ea typeface="Cambria Math" panose="02040503050406030204" pitchFamily="18" charset="0"/>
                            </a:rPr>
                            <m:t>8</m:t>
                          </m:r>
                        </m:den>
                      </m:f>
                      <m:f>
                        <m:fPr>
                          <m:ctrlPr>
                            <a:rPr lang="en-US" sz="3200" i="1" smtClean="0">
                              <a:latin typeface="Cambria Math" panose="02040503050406030204" pitchFamily="18" charset="0"/>
                              <a:ea typeface="Cambria Math" panose="02040503050406030204" pitchFamily="18" charset="0"/>
                            </a:rPr>
                          </m:ctrlPr>
                        </m:fPr>
                        <m:num>
                          <m:sSup>
                            <m:sSupPr>
                              <m:ctrlPr>
                                <a:rPr lang="en-US" sz="3200" i="1" smtClean="0">
                                  <a:latin typeface="Cambria Math" panose="02040503050406030204" pitchFamily="18" charset="0"/>
                                  <a:ea typeface="Cambria Math" panose="02040503050406030204" pitchFamily="18" charset="0"/>
                                </a:rPr>
                              </m:ctrlPr>
                            </m:sSupPr>
                            <m:e>
                              <m:r>
                                <a:rPr lang="en-US" sz="3200" i="1" smtClean="0">
                                  <a:latin typeface="Cambria Math" panose="02040503050406030204" pitchFamily="18" charset="0"/>
                                  <a:ea typeface="Cambria Math" panose="02040503050406030204" pitchFamily="18" charset="0"/>
                                </a:rPr>
                                <m:t>𝜏</m:t>
                              </m:r>
                            </m:e>
                            <m:sup>
                              <m:r>
                                <a:rPr lang="en-US" sz="3200" b="0" i="1" smtClean="0">
                                  <a:latin typeface="Cambria Math" panose="02040503050406030204" pitchFamily="18" charset="0"/>
                                  <a:ea typeface="Cambria Math" panose="02040503050406030204" pitchFamily="18" charset="0"/>
                                </a:rPr>
                                <m:t>2</m:t>
                              </m:r>
                            </m:sup>
                          </m:sSup>
                        </m:num>
                        <m:den>
                          <m:sSup>
                            <m:sSupPr>
                              <m:ctrlPr>
                                <a:rPr lang="en-US" sz="3200" i="1" smtClean="0">
                                  <a:latin typeface="Cambria Math" panose="02040503050406030204" pitchFamily="18" charset="0"/>
                                  <a:ea typeface="Cambria Math" panose="02040503050406030204" pitchFamily="18" charset="0"/>
                                </a:rPr>
                              </m:ctrlPr>
                            </m:sSupPr>
                            <m:e>
                              <m:r>
                                <a:rPr lang="en-US" sz="3200" i="1" smtClean="0">
                                  <a:latin typeface="Cambria Math" panose="02040503050406030204" pitchFamily="18" charset="0"/>
                                  <a:ea typeface="Cambria Math" panose="02040503050406030204" pitchFamily="18" charset="0"/>
                                </a:rPr>
                                <m:t>𝜇</m:t>
                              </m:r>
                            </m:e>
                            <m:sup>
                              <m:r>
                                <a:rPr lang="en-US" sz="3200" b="0" i="1" smtClean="0">
                                  <a:latin typeface="Cambria Math" panose="02040503050406030204" pitchFamily="18" charset="0"/>
                                  <a:ea typeface="Cambria Math" panose="02040503050406030204" pitchFamily="18" charset="0"/>
                                </a:rPr>
                                <m:t>1/2</m:t>
                              </m:r>
                            </m:sup>
                          </m:sSup>
                          <m:sSubSup>
                            <m:sSubSupPr>
                              <m:ctrlPr>
                                <a:rPr lang="en-US" sz="3200" i="1" smtClean="0">
                                  <a:latin typeface="Cambria Math" panose="02040503050406030204" pitchFamily="18" charset="0"/>
                                  <a:ea typeface="Cambria Math" panose="02040503050406030204" pitchFamily="18" charset="0"/>
                                </a:rPr>
                              </m:ctrlPr>
                            </m:sSubSupPr>
                            <m:e>
                              <m:r>
                                <a:rPr lang="en-US" sz="3200" i="1" smtClean="0">
                                  <a:latin typeface="Cambria Math" panose="02040503050406030204" pitchFamily="18" charset="0"/>
                                  <a:ea typeface="Cambria Math" panose="02040503050406030204" pitchFamily="18" charset="0"/>
                                </a:rPr>
                                <m:t>𝜀</m:t>
                              </m:r>
                            </m:e>
                            <m:sub>
                              <m:r>
                                <a:rPr lang="en-US" sz="3200" b="0" i="1" smtClean="0">
                                  <a:latin typeface="Cambria Math" panose="02040503050406030204" pitchFamily="18" charset="0"/>
                                  <a:ea typeface="Cambria Math" panose="02040503050406030204" pitchFamily="18" charset="0"/>
                                </a:rPr>
                                <m:t>𝐹</m:t>
                              </m:r>
                            </m:sub>
                            <m:sup>
                              <m:r>
                                <a:rPr lang="en-US" sz="3200" b="0" i="1" smtClean="0">
                                  <a:latin typeface="Cambria Math" panose="02040503050406030204" pitchFamily="18" charset="0"/>
                                  <a:ea typeface="Cambria Math" panose="02040503050406030204" pitchFamily="18" charset="0"/>
                                </a:rPr>
                                <m:t>3/2</m:t>
                              </m:r>
                            </m:sup>
                          </m:sSubSup>
                        </m:den>
                      </m:f>
                      <m:r>
                        <a:rPr lang="en-US" sz="3200" b="0" i="1" smtClean="0">
                          <a:latin typeface="Cambria Math" panose="02040503050406030204" pitchFamily="18" charset="0"/>
                          <a:ea typeface="Cambria Math" panose="02040503050406030204" pitchFamily="18" charset="0"/>
                        </a:rPr>
                        <m:t>+…</m:t>
                      </m:r>
                    </m:oMath>
                  </m:oMathPara>
                </a14:m>
                <a:endParaRPr lang="en-CN" sz="3200" dirty="0"/>
              </a:p>
            </p:txBody>
          </p:sp>
        </mc:Choice>
        <mc:Fallback xmlns="">
          <p:sp>
            <p:nvSpPr>
              <p:cNvPr id="6" name="TextBox 5">
                <a:extLst>
                  <a:ext uri="{FF2B5EF4-FFF2-40B4-BE49-F238E27FC236}">
                    <a16:creationId xmlns:a16="http://schemas.microsoft.com/office/drawing/2014/main" id="{CE9766C2-F041-DD43-A4FB-4DCC689B072B}"/>
                  </a:ext>
                </a:extLst>
              </p:cNvPr>
              <p:cNvSpPr txBox="1">
                <a:spLocks noRot="1" noChangeAspect="1" noMove="1" noResize="1" noEditPoints="1" noAdjustHandles="1" noChangeArrowheads="1" noChangeShapeType="1" noTextEdit="1"/>
              </p:cNvSpPr>
              <p:nvPr/>
            </p:nvSpPr>
            <p:spPr>
              <a:xfrm>
                <a:off x="-2" y="4907808"/>
                <a:ext cx="12095019" cy="1313180"/>
              </a:xfrm>
              <a:prstGeom prst="rect">
                <a:avLst/>
              </a:prstGeom>
              <a:blipFill>
                <a:blip r:embed="rId4"/>
                <a:stretch>
                  <a:fillRect b="-1905"/>
                </a:stretch>
              </a:blipFill>
            </p:spPr>
            <p:txBody>
              <a:bodyPr/>
              <a:lstStyle/>
              <a:p>
                <a:r>
                  <a:rPr lang="en-CN">
                    <a:noFill/>
                  </a:rPr>
                  <a:t> </a:t>
                </a:r>
              </a:p>
            </p:txBody>
          </p:sp>
        </mc:Fallback>
      </mc:AlternateContent>
      <p:sp>
        <p:nvSpPr>
          <p:cNvPr id="7" name="Down Arrow 6">
            <a:extLst>
              <a:ext uri="{FF2B5EF4-FFF2-40B4-BE49-F238E27FC236}">
                <a16:creationId xmlns:a16="http://schemas.microsoft.com/office/drawing/2014/main" id="{497AEB9B-E79F-2F45-8E48-136BEF1386D5}"/>
              </a:ext>
            </a:extLst>
          </p:cNvPr>
          <p:cNvSpPr/>
          <p:nvPr/>
        </p:nvSpPr>
        <p:spPr>
          <a:xfrm>
            <a:off x="7323282" y="2258746"/>
            <a:ext cx="360219" cy="27770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3415232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0382EC9-217E-6F4C-AD65-B07478010221}"/>
                  </a:ext>
                </a:extLst>
              </p:cNvPr>
              <p:cNvSpPr txBox="1"/>
              <p:nvPr/>
            </p:nvSpPr>
            <p:spPr>
              <a:xfrm>
                <a:off x="48490" y="903844"/>
                <a:ext cx="12095019" cy="131318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𝑁</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2</m:t>
                          </m:r>
                        </m:num>
                        <m:den>
                          <m:r>
                            <a:rPr lang="en-US" sz="3200" b="0" i="1" smtClean="0">
                              <a:latin typeface="Cambria Math" panose="02040503050406030204" pitchFamily="18" charset="0"/>
                            </a:rPr>
                            <m:t>3</m:t>
                          </m:r>
                        </m:den>
                      </m:f>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𝐷</m:t>
                          </m:r>
                        </m:e>
                        <m:sub>
                          <m:r>
                            <a:rPr lang="en-US" sz="3200" b="0" i="1" smtClean="0">
                              <a:latin typeface="Cambria Math" panose="02040503050406030204" pitchFamily="18" charset="0"/>
                            </a:rPr>
                            <m:t>0</m:t>
                          </m:r>
                        </m:sub>
                      </m:sSub>
                      <m:d>
                        <m:dPr>
                          <m:ctrlPr>
                            <a:rPr lang="en-US" sz="3200" b="0" i="1" smtClean="0">
                              <a:latin typeface="Cambria Math" panose="02040503050406030204" pitchFamily="18" charset="0"/>
                            </a:rPr>
                          </m:ctrlPr>
                        </m:dPr>
                        <m:e>
                          <m:sSup>
                            <m:sSupPr>
                              <m:ctrlPr>
                                <a:rPr lang="en-US" sz="3200" i="1">
                                  <a:latin typeface="Cambria Math" panose="02040503050406030204" pitchFamily="18" charset="0"/>
                                  <a:ea typeface="Cambria Math" panose="02040503050406030204" pitchFamily="18" charset="0"/>
                                </a:rPr>
                              </m:ctrlPr>
                            </m:sSupPr>
                            <m:e>
                              <m:r>
                                <a:rPr lang="en-US" sz="3200" i="1">
                                  <a:latin typeface="Cambria Math" panose="02040503050406030204" pitchFamily="18" charset="0"/>
                                  <a:ea typeface="Cambria Math" panose="02040503050406030204" pitchFamily="18" charset="0"/>
                                </a:rPr>
                                <m:t>𝜇</m:t>
                              </m:r>
                            </m:e>
                            <m:sup>
                              <m:f>
                                <m:fPr>
                                  <m:ctrlPr>
                                    <a:rPr lang="en-US" sz="3200" i="1">
                                      <a:latin typeface="Cambria Math" panose="02040503050406030204" pitchFamily="18" charset="0"/>
                                      <a:ea typeface="Cambria Math" panose="02040503050406030204" pitchFamily="18" charset="0"/>
                                    </a:rPr>
                                  </m:ctrlPr>
                                </m:fPr>
                                <m:num>
                                  <m:r>
                                    <a:rPr lang="en-US" sz="3200" i="1">
                                      <a:latin typeface="Cambria Math" panose="02040503050406030204" pitchFamily="18" charset="0"/>
                                      <a:ea typeface="Cambria Math" panose="02040503050406030204" pitchFamily="18" charset="0"/>
                                    </a:rPr>
                                    <m:t>3</m:t>
                                  </m:r>
                                </m:num>
                                <m:den>
                                  <m:r>
                                    <a:rPr lang="en-US" sz="3200" i="1">
                                      <a:latin typeface="Cambria Math" panose="02040503050406030204" pitchFamily="18" charset="0"/>
                                      <a:ea typeface="Cambria Math" panose="02040503050406030204" pitchFamily="18" charset="0"/>
                                    </a:rPr>
                                    <m:t>2</m:t>
                                  </m:r>
                                </m:den>
                              </m:f>
                            </m:sup>
                          </m:sSup>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sSup>
                                <m:sSupPr>
                                  <m:ctrlPr>
                                    <a:rPr lang="en-US" sz="3200" b="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𝜋</m:t>
                                  </m:r>
                                </m:e>
                                <m:sup>
                                  <m:r>
                                    <a:rPr lang="en-US" sz="3200" b="0" i="1" smtClean="0">
                                      <a:latin typeface="Cambria Math" panose="02040503050406030204" pitchFamily="18" charset="0"/>
                                      <a:ea typeface="Cambria Math" panose="02040503050406030204" pitchFamily="18" charset="0"/>
                                    </a:rPr>
                                    <m:t>2</m:t>
                                  </m:r>
                                </m:sup>
                              </m:sSup>
                            </m:num>
                            <m:den>
                              <m:r>
                                <a:rPr lang="en-US" sz="3200" b="0" i="1" smtClean="0">
                                  <a:latin typeface="Cambria Math" panose="02040503050406030204" pitchFamily="18" charset="0"/>
                                  <a:ea typeface="Cambria Math" panose="02040503050406030204" pitchFamily="18" charset="0"/>
                                </a:rPr>
                                <m:t>8</m:t>
                              </m:r>
                            </m:den>
                          </m:f>
                          <m:sSup>
                            <m:sSupPr>
                              <m:ctrlPr>
                                <a:rPr lang="en-US" sz="3200" b="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𝜇</m:t>
                              </m:r>
                            </m:e>
                            <m:sup>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1</m:t>
                                  </m:r>
                                </m:num>
                                <m:den>
                                  <m:r>
                                    <a:rPr lang="en-US" sz="3200" b="0" i="1" smtClean="0">
                                      <a:latin typeface="Cambria Math" panose="02040503050406030204" pitchFamily="18" charset="0"/>
                                      <a:ea typeface="Cambria Math" panose="02040503050406030204" pitchFamily="18" charset="0"/>
                                    </a:rPr>
                                    <m:t>2</m:t>
                                  </m:r>
                                </m:den>
                              </m:f>
                            </m:sup>
                          </m:sSup>
                          <m:sSup>
                            <m:sSupPr>
                              <m:ctrlPr>
                                <a:rPr lang="en-US" sz="3200" b="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𝜏</m:t>
                              </m:r>
                            </m:e>
                            <m:sup>
                              <m:r>
                                <a:rPr lang="en-US" sz="3200" b="0" i="1" smtClean="0">
                                  <a:latin typeface="Cambria Math" panose="02040503050406030204" pitchFamily="18" charset="0"/>
                                  <a:ea typeface="Cambria Math" panose="02040503050406030204" pitchFamily="18" charset="0"/>
                                </a:rPr>
                                <m:t>2</m:t>
                              </m:r>
                            </m:sup>
                          </m:sSup>
                          <m:r>
                            <a:rPr lang="en-US" sz="3200" b="0" i="1" smtClean="0">
                              <a:latin typeface="Cambria Math" panose="02040503050406030204" pitchFamily="18" charset="0"/>
                              <a:ea typeface="Cambria Math" panose="02040503050406030204" pitchFamily="18" charset="0"/>
                            </a:rPr>
                            <m:t>+…</m:t>
                          </m:r>
                        </m:e>
                      </m:d>
                      <m:r>
                        <a:rPr lang="en-US" sz="3200" b="0" i="1" smtClean="0">
                          <a:latin typeface="Cambria Math" panose="02040503050406030204" pitchFamily="18" charset="0"/>
                        </a:rPr>
                        <m:t>=</m:t>
                      </m:r>
                      <m:r>
                        <a:rPr lang="en-US" sz="3200" b="0" i="1" smtClean="0">
                          <a:latin typeface="Cambria Math" panose="02040503050406030204" pitchFamily="18" charset="0"/>
                        </a:rPr>
                        <m:t>𝑁</m:t>
                      </m:r>
                      <m:sSup>
                        <m:sSupPr>
                          <m:ctrlPr>
                            <a:rPr lang="en-US" sz="3200" b="0" i="1" smtClean="0">
                              <a:latin typeface="Cambria Math" panose="02040503050406030204" pitchFamily="18" charset="0"/>
                            </a:rPr>
                          </m:ctrlPr>
                        </m:sSupPr>
                        <m:e>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𝜇</m:t>
                                  </m:r>
                                </m:num>
                                <m:den>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ea typeface="Cambria Math" panose="02040503050406030204" pitchFamily="18" charset="0"/>
                                        </a:rPr>
                                        <m:t>𝜀</m:t>
                                      </m:r>
                                    </m:e>
                                    <m:sub>
                                      <m:r>
                                        <a:rPr lang="en-US" sz="3200" b="0" i="1" smtClean="0">
                                          <a:latin typeface="Cambria Math" panose="02040503050406030204" pitchFamily="18" charset="0"/>
                                        </a:rPr>
                                        <m:t>𝐹</m:t>
                                      </m:r>
                                    </m:sub>
                                  </m:sSub>
                                </m:den>
                              </m:f>
                            </m:e>
                          </m:d>
                        </m:e>
                        <m:sup>
                          <m:r>
                            <a:rPr lang="en-US" sz="3200" b="0" i="1" smtClean="0">
                              <a:latin typeface="Cambria Math" panose="02040503050406030204" pitchFamily="18" charset="0"/>
                            </a:rPr>
                            <m:t>3/2</m:t>
                          </m:r>
                        </m:sup>
                      </m:sSup>
                      <m:r>
                        <a:rPr lang="en-US" sz="3200" b="0" i="1" smtClean="0">
                          <a:latin typeface="Cambria Math" panose="02040503050406030204" pitchFamily="18" charset="0"/>
                        </a:rPr>
                        <m:t>+</m:t>
                      </m:r>
                      <m:r>
                        <a:rPr lang="en-US" sz="3200" b="0" i="1" smtClean="0">
                          <a:solidFill>
                            <a:srgbClr val="FF0000"/>
                          </a:solidFill>
                          <a:latin typeface="Cambria Math" panose="02040503050406030204" pitchFamily="18" charset="0"/>
                        </a:rPr>
                        <m:t>𝑁</m:t>
                      </m:r>
                      <m:f>
                        <m:fPr>
                          <m:ctrlPr>
                            <a:rPr lang="en-US" sz="3200" i="1">
                              <a:solidFill>
                                <a:srgbClr val="FF0000"/>
                              </a:solidFill>
                              <a:latin typeface="Cambria Math" panose="02040503050406030204" pitchFamily="18" charset="0"/>
                              <a:ea typeface="Cambria Math" panose="02040503050406030204" pitchFamily="18" charset="0"/>
                            </a:rPr>
                          </m:ctrlPr>
                        </m:fPr>
                        <m:num>
                          <m:sSup>
                            <m:sSupPr>
                              <m:ctrlPr>
                                <a:rPr lang="en-US" sz="3200" i="1">
                                  <a:solidFill>
                                    <a:srgbClr val="FF0000"/>
                                  </a:solidFill>
                                  <a:latin typeface="Cambria Math" panose="02040503050406030204" pitchFamily="18" charset="0"/>
                                  <a:ea typeface="Cambria Math" panose="02040503050406030204" pitchFamily="18" charset="0"/>
                                </a:rPr>
                              </m:ctrlPr>
                            </m:sSupPr>
                            <m:e>
                              <m:r>
                                <a:rPr lang="en-US" sz="3200" i="1">
                                  <a:solidFill>
                                    <a:srgbClr val="FF0000"/>
                                  </a:solidFill>
                                  <a:latin typeface="Cambria Math" panose="02040503050406030204" pitchFamily="18" charset="0"/>
                                  <a:ea typeface="Cambria Math" panose="02040503050406030204" pitchFamily="18" charset="0"/>
                                </a:rPr>
                                <m:t>𝜋</m:t>
                              </m:r>
                            </m:e>
                            <m:sup>
                              <m:r>
                                <a:rPr lang="en-US" sz="3200" i="1">
                                  <a:solidFill>
                                    <a:srgbClr val="FF0000"/>
                                  </a:solidFill>
                                  <a:latin typeface="Cambria Math" panose="02040503050406030204" pitchFamily="18" charset="0"/>
                                  <a:ea typeface="Cambria Math" panose="02040503050406030204" pitchFamily="18" charset="0"/>
                                </a:rPr>
                                <m:t>2</m:t>
                              </m:r>
                            </m:sup>
                          </m:sSup>
                        </m:num>
                        <m:den>
                          <m:r>
                            <a:rPr lang="en-US" sz="3200" i="1">
                              <a:solidFill>
                                <a:srgbClr val="FF0000"/>
                              </a:solidFill>
                              <a:latin typeface="Cambria Math" panose="02040503050406030204" pitchFamily="18" charset="0"/>
                              <a:ea typeface="Cambria Math" panose="02040503050406030204" pitchFamily="18" charset="0"/>
                            </a:rPr>
                            <m:t>8</m:t>
                          </m:r>
                        </m:den>
                      </m:f>
                      <m:f>
                        <m:fPr>
                          <m:ctrlPr>
                            <a:rPr lang="en-US" sz="3200" i="1" smtClean="0">
                              <a:solidFill>
                                <a:srgbClr val="FF0000"/>
                              </a:solidFill>
                              <a:latin typeface="Cambria Math" panose="02040503050406030204" pitchFamily="18" charset="0"/>
                              <a:ea typeface="Cambria Math" panose="02040503050406030204" pitchFamily="18" charset="0"/>
                            </a:rPr>
                          </m:ctrlPr>
                        </m:fPr>
                        <m:num>
                          <m:sSup>
                            <m:sSupPr>
                              <m:ctrlPr>
                                <a:rPr lang="en-US" sz="3200" i="1" smtClean="0">
                                  <a:solidFill>
                                    <a:srgbClr val="FF0000"/>
                                  </a:solidFill>
                                  <a:latin typeface="Cambria Math" panose="02040503050406030204" pitchFamily="18" charset="0"/>
                                  <a:ea typeface="Cambria Math" panose="02040503050406030204" pitchFamily="18" charset="0"/>
                                </a:rPr>
                              </m:ctrlPr>
                            </m:sSupPr>
                            <m:e>
                              <m:r>
                                <a:rPr lang="en-US" sz="3200" i="1" smtClean="0">
                                  <a:solidFill>
                                    <a:srgbClr val="FF0000"/>
                                  </a:solidFill>
                                  <a:latin typeface="Cambria Math" panose="02040503050406030204" pitchFamily="18" charset="0"/>
                                  <a:ea typeface="Cambria Math" panose="02040503050406030204" pitchFamily="18" charset="0"/>
                                </a:rPr>
                                <m:t>𝜏</m:t>
                              </m:r>
                            </m:e>
                            <m:sup>
                              <m:r>
                                <a:rPr lang="en-US" sz="3200" b="0" i="1" smtClean="0">
                                  <a:solidFill>
                                    <a:srgbClr val="FF0000"/>
                                  </a:solidFill>
                                  <a:latin typeface="Cambria Math" panose="02040503050406030204" pitchFamily="18" charset="0"/>
                                  <a:ea typeface="Cambria Math" panose="02040503050406030204" pitchFamily="18" charset="0"/>
                                </a:rPr>
                                <m:t>2</m:t>
                              </m:r>
                            </m:sup>
                          </m:sSup>
                        </m:num>
                        <m:den>
                          <m:sSup>
                            <m:sSupPr>
                              <m:ctrlPr>
                                <a:rPr lang="en-US" sz="3200" i="1" smtClean="0">
                                  <a:solidFill>
                                    <a:srgbClr val="FF0000"/>
                                  </a:solidFill>
                                  <a:latin typeface="Cambria Math" panose="02040503050406030204" pitchFamily="18" charset="0"/>
                                  <a:ea typeface="Cambria Math" panose="02040503050406030204" pitchFamily="18" charset="0"/>
                                </a:rPr>
                              </m:ctrlPr>
                            </m:sSupPr>
                            <m:e>
                              <m:r>
                                <a:rPr lang="en-US" sz="3200" i="1" smtClean="0">
                                  <a:solidFill>
                                    <a:srgbClr val="FF0000"/>
                                  </a:solidFill>
                                  <a:latin typeface="Cambria Math" panose="02040503050406030204" pitchFamily="18" charset="0"/>
                                  <a:ea typeface="Cambria Math" panose="02040503050406030204" pitchFamily="18" charset="0"/>
                                </a:rPr>
                                <m:t>𝜇</m:t>
                              </m:r>
                            </m:e>
                            <m:sup>
                              <m:r>
                                <a:rPr lang="en-US" sz="3200" b="0" i="1" smtClean="0">
                                  <a:solidFill>
                                    <a:srgbClr val="FF0000"/>
                                  </a:solidFill>
                                  <a:latin typeface="Cambria Math" panose="02040503050406030204" pitchFamily="18" charset="0"/>
                                  <a:ea typeface="Cambria Math" panose="02040503050406030204" pitchFamily="18" charset="0"/>
                                </a:rPr>
                                <m:t>1/2</m:t>
                              </m:r>
                            </m:sup>
                          </m:sSup>
                          <m:sSubSup>
                            <m:sSubSupPr>
                              <m:ctrlPr>
                                <a:rPr lang="en-US" sz="3200" i="1" smtClean="0">
                                  <a:solidFill>
                                    <a:srgbClr val="FF0000"/>
                                  </a:solidFill>
                                  <a:latin typeface="Cambria Math" panose="02040503050406030204" pitchFamily="18" charset="0"/>
                                  <a:ea typeface="Cambria Math" panose="02040503050406030204" pitchFamily="18" charset="0"/>
                                </a:rPr>
                              </m:ctrlPr>
                            </m:sSubSupPr>
                            <m:e>
                              <m:r>
                                <a:rPr lang="en-US" sz="3200" i="1" smtClean="0">
                                  <a:solidFill>
                                    <a:srgbClr val="FF0000"/>
                                  </a:solidFill>
                                  <a:latin typeface="Cambria Math" panose="02040503050406030204" pitchFamily="18" charset="0"/>
                                  <a:ea typeface="Cambria Math" panose="02040503050406030204" pitchFamily="18" charset="0"/>
                                </a:rPr>
                                <m:t>𝜀</m:t>
                              </m:r>
                            </m:e>
                            <m:sub>
                              <m:r>
                                <a:rPr lang="en-US" sz="3200" b="0" i="1" smtClean="0">
                                  <a:solidFill>
                                    <a:srgbClr val="FF0000"/>
                                  </a:solidFill>
                                  <a:latin typeface="Cambria Math" panose="02040503050406030204" pitchFamily="18" charset="0"/>
                                  <a:ea typeface="Cambria Math" panose="02040503050406030204" pitchFamily="18" charset="0"/>
                                </a:rPr>
                                <m:t>𝐹</m:t>
                              </m:r>
                            </m:sub>
                            <m:sup>
                              <m:r>
                                <a:rPr lang="en-US" sz="3200" b="0" i="1" smtClean="0">
                                  <a:solidFill>
                                    <a:srgbClr val="FF0000"/>
                                  </a:solidFill>
                                  <a:latin typeface="Cambria Math" panose="02040503050406030204" pitchFamily="18" charset="0"/>
                                  <a:ea typeface="Cambria Math" panose="02040503050406030204" pitchFamily="18" charset="0"/>
                                </a:rPr>
                                <m:t>3/2</m:t>
                              </m:r>
                            </m:sup>
                          </m:sSubSup>
                        </m:den>
                      </m:f>
                      <m:r>
                        <a:rPr lang="en-US" sz="3200" b="0" i="1" smtClean="0">
                          <a:latin typeface="Cambria Math" panose="02040503050406030204" pitchFamily="18" charset="0"/>
                          <a:ea typeface="Cambria Math" panose="02040503050406030204" pitchFamily="18" charset="0"/>
                        </a:rPr>
                        <m:t>+…</m:t>
                      </m:r>
                    </m:oMath>
                  </m:oMathPara>
                </a14:m>
                <a:endParaRPr lang="en-CN" sz="3200" dirty="0"/>
              </a:p>
            </p:txBody>
          </p:sp>
        </mc:Choice>
        <mc:Fallback xmlns="">
          <p:sp>
            <p:nvSpPr>
              <p:cNvPr id="2" name="TextBox 1">
                <a:extLst>
                  <a:ext uri="{FF2B5EF4-FFF2-40B4-BE49-F238E27FC236}">
                    <a16:creationId xmlns:a16="http://schemas.microsoft.com/office/drawing/2014/main" id="{D0382EC9-217E-6F4C-AD65-B07478010221}"/>
                  </a:ext>
                </a:extLst>
              </p:cNvPr>
              <p:cNvSpPr txBox="1">
                <a:spLocks noRot="1" noChangeAspect="1" noMove="1" noResize="1" noEditPoints="1" noAdjustHandles="1" noChangeArrowheads="1" noChangeShapeType="1" noTextEdit="1"/>
              </p:cNvSpPr>
              <p:nvPr/>
            </p:nvSpPr>
            <p:spPr>
              <a:xfrm>
                <a:off x="48490" y="903844"/>
                <a:ext cx="12095019" cy="1313180"/>
              </a:xfrm>
              <a:prstGeom prst="rect">
                <a:avLst/>
              </a:prstGeom>
              <a:blipFill>
                <a:blip r:embed="rId2"/>
                <a:stretch>
                  <a:fillRect b="-288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702D067-4F64-C44E-BA29-637E0004DA81}"/>
                  </a:ext>
                </a:extLst>
              </p:cNvPr>
              <p:cNvSpPr txBox="1"/>
              <p:nvPr/>
            </p:nvSpPr>
            <p:spPr>
              <a:xfrm>
                <a:off x="6525491" y="3081035"/>
                <a:ext cx="6096000" cy="10754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rgbClr val="FF0000"/>
                          </a:solidFill>
                          <a:latin typeface="Cambria Math" panose="02040503050406030204" pitchFamily="18" charset="0"/>
                          <a:ea typeface="Cambria Math" panose="02040503050406030204" pitchFamily="18" charset="0"/>
                        </a:rPr>
                        <m:t>≈</m:t>
                      </m:r>
                      <m:r>
                        <a:rPr lang="en-US" sz="1800" b="0" i="1" smtClean="0">
                          <a:solidFill>
                            <a:srgbClr val="FF0000"/>
                          </a:solidFill>
                          <a:latin typeface="Cambria Math" panose="02040503050406030204" pitchFamily="18" charset="0"/>
                        </a:rPr>
                        <m:t>𝑁</m:t>
                      </m:r>
                      <m:f>
                        <m:fPr>
                          <m:ctrlPr>
                            <a:rPr lang="en-US" sz="1800" i="1">
                              <a:solidFill>
                                <a:srgbClr val="FF0000"/>
                              </a:solidFill>
                              <a:latin typeface="Cambria Math" panose="02040503050406030204" pitchFamily="18" charset="0"/>
                              <a:ea typeface="Cambria Math" panose="02040503050406030204" pitchFamily="18" charset="0"/>
                            </a:rPr>
                          </m:ctrlPr>
                        </m:fPr>
                        <m:num>
                          <m:sSup>
                            <m:sSupPr>
                              <m:ctrlPr>
                                <a:rPr lang="en-US" sz="1800" i="1">
                                  <a:solidFill>
                                    <a:srgbClr val="FF0000"/>
                                  </a:solidFill>
                                  <a:latin typeface="Cambria Math" panose="02040503050406030204" pitchFamily="18" charset="0"/>
                                  <a:ea typeface="Cambria Math" panose="02040503050406030204" pitchFamily="18" charset="0"/>
                                </a:rPr>
                              </m:ctrlPr>
                            </m:sSupPr>
                            <m:e>
                              <m:r>
                                <a:rPr lang="en-US" sz="1800" i="1">
                                  <a:solidFill>
                                    <a:srgbClr val="FF0000"/>
                                  </a:solidFill>
                                  <a:latin typeface="Cambria Math" panose="02040503050406030204" pitchFamily="18" charset="0"/>
                                  <a:ea typeface="Cambria Math" panose="02040503050406030204" pitchFamily="18" charset="0"/>
                                </a:rPr>
                                <m:t>𝜋</m:t>
                              </m:r>
                            </m:e>
                            <m:sup>
                              <m:r>
                                <a:rPr lang="en-US" sz="1800" i="1">
                                  <a:solidFill>
                                    <a:srgbClr val="FF0000"/>
                                  </a:solidFill>
                                  <a:latin typeface="Cambria Math" panose="02040503050406030204" pitchFamily="18" charset="0"/>
                                  <a:ea typeface="Cambria Math" panose="02040503050406030204" pitchFamily="18" charset="0"/>
                                </a:rPr>
                                <m:t>2</m:t>
                              </m:r>
                            </m:sup>
                          </m:sSup>
                        </m:num>
                        <m:den>
                          <m:r>
                            <a:rPr lang="en-US" sz="1800" i="1">
                              <a:solidFill>
                                <a:srgbClr val="FF0000"/>
                              </a:solidFill>
                              <a:latin typeface="Cambria Math" panose="02040503050406030204" pitchFamily="18" charset="0"/>
                              <a:ea typeface="Cambria Math" panose="02040503050406030204" pitchFamily="18" charset="0"/>
                            </a:rPr>
                            <m:t>8</m:t>
                          </m:r>
                        </m:den>
                      </m:f>
                      <m:f>
                        <m:fPr>
                          <m:ctrlPr>
                            <a:rPr lang="en-US" sz="1800" i="1" smtClean="0">
                              <a:solidFill>
                                <a:srgbClr val="FF0000"/>
                              </a:solidFill>
                              <a:latin typeface="Cambria Math" panose="02040503050406030204" pitchFamily="18" charset="0"/>
                              <a:ea typeface="Cambria Math" panose="02040503050406030204" pitchFamily="18" charset="0"/>
                            </a:rPr>
                          </m:ctrlPr>
                        </m:fPr>
                        <m:num>
                          <m:sSup>
                            <m:sSupPr>
                              <m:ctrlPr>
                                <a:rPr lang="en-US" sz="1800" i="1" smtClean="0">
                                  <a:solidFill>
                                    <a:srgbClr val="FF0000"/>
                                  </a:solidFill>
                                  <a:latin typeface="Cambria Math" panose="02040503050406030204" pitchFamily="18" charset="0"/>
                                  <a:ea typeface="Cambria Math" panose="02040503050406030204" pitchFamily="18" charset="0"/>
                                </a:rPr>
                              </m:ctrlPr>
                            </m:sSupPr>
                            <m:e>
                              <m:r>
                                <a:rPr lang="en-US" sz="1800" i="1" smtClean="0">
                                  <a:solidFill>
                                    <a:srgbClr val="FF0000"/>
                                  </a:solidFill>
                                  <a:latin typeface="Cambria Math" panose="02040503050406030204" pitchFamily="18" charset="0"/>
                                  <a:ea typeface="Cambria Math" panose="02040503050406030204" pitchFamily="18" charset="0"/>
                                </a:rPr>
                                <m:t>𝜏</m:t>
                              </m:r>
                            </m:e>
                            <m:sup>
                              <m:r>
                                <a:rPr lang="en-US" sz="1800" b="0" i="1" smtClean="0">
                                  <a:solidFill>
                                    <a:srgbClr val="FF0000"/>
                                  </a:solidFill>
                                  <a:latin typeface="Cambria Math" panose="02040503050406030204" pitchFamily="18" charset="0"/>
                                  <a:ea typeface="Cambria Math" panose="02040503050406030204" pitchFamily="18" charset="0"/>
                                </a:rPr>
                                <m:t>2</m:t>
                              </m:r>
                            </m:sup>
                          </m:sSup>
                        </m:num>
                        <m:den>
                          <m:sSup>
                            <m:sSupPr>
                              <m:ctrlPr>
                                <a:rPr lang="en-US" sz="1800" i="1" smtClean="0">
                                  <a:solidFill>
                                    <a:srgbClr val="FF0000"/>
                                  </a:solidFill>
                                  <a:latin typeface="Cambria Math" panose="02040503050406030204" pitchFamily="18" charset="0"/>
                                  <a:ea typeface="Cambria Math" panose="02040503050406030204" pitchFamily="18" charset="0"/>
                                </a:rPr>
                              </m:ctrlPr>
                            </m:sSupPr>
                            <m:e>
                              <m:r>
                                <a:rPr lang="en-US" sz="1800" i="1" smtClean="0">
                                  <a:solidFill>
                                    <a:srgbClr val="FF0000"/>
                                  </a:solidFill>
                                  <a:latin typeface="Cambria Math" panose="02040503050406030204" pitchFamily="18" charset="0"/>
                                  <a:ea typeface="Cambria Math" panose="02040503050406030204" pitchFamily="18" charset="0"/>
                                </a:rPr>
                                <m:t>𝜇</m:t>
                              </m:r>
                              <m:r>
                                <a:rPr lang="en-US" sz="1800" b="0" i="1" smtClean="0">
                                  <a:solidFill>
                                    <a:srgbClr val="FF0000"/>
                                  </a:solidFill>
                                  <a:latin typeface="Cambria Math" panose="02040503050406030204" pitchFamily="18" charset="0"/>
                                  <a:ea typeface="Cambria Math" panose="02040503050406030204" pitchFamily="18" charset="0"/>
                                </a:rPr>
                                <m:t>(0)</m:t>
                              </m:r>
                            </m:e>
                            <m:sup>
                              <m:r>
                                <a:rPr lang="en-US" sz="1800" b="0" i="1" smtClean="0">
                                  <a:solidFill>
                                    <a:srgbClr val="FF0000"/>
                                  </a:solidFill>
                                  <a:latin typeface="Cambria Math" panose="02040503050406030204" pitchFamily="18" charset="0"/>
                                  <a:ea typeface="Cambria Math" panose="02040503050406030204" pitchFamily="18" charset="0"/>
                                </a:rPr>
                                <m:t>1/2</m:t>
                              </m:r>
                            </m:sup>
                          </m:sSup>
                          <m:sSubSup>
                            <m:sSubSupPr>
                              <m:ctrlPr>
                                <a:rPr lang="en-US" sz="1800" i="1" smtClean="0">
                                  <a:solidFill>
                                    <a:srgbClr val="FF0000"/>
                                  </a:solidFill>
                                  <a:latin typeface="Cambria Math" panose="02040503050406030204" pitchFamily="18" charset="0"/>
                                  <a:ea typeface="Cambria Math" panose="02040503050406030204" pitchFamily="18" charset="0"/>
                                </a:rPr>
                              </m:ctrlPr>
                            </m:sSubSupPr>
                            <m:e>
                              <m:r>
                                <a:rPr lang="en-US" sz="1800" i="1" smtClean="0">
                                  <a:solidFill>
                                    <a:srgbClr val="FF0000"/>
                                  </a:solidFill>
                                  <a:latin typeface="Cambria Math" panose="02040503050406030204" pitchFamily="18" charset="0"/>
                                  <a:ea typeface="Cambria Math" panose="02040503050406030204" pitchFamily="18" charset="0"/>
                                </a:rPr>
                                <m:t>𝜀</m:t>
                              </m:r>
                            </m:e>
                            <m:sub>
                              <m:r>
                                <a:rPr lang="en-US" sz="1800" b="0" i="1" smtClean="0">
                                  <a:solidFill>
                                    <a:srgbClr val="FF0000"/>
                                  </a:solidFill>
                                  <a:latin typeface="Cambria Math" panose="02040503050406030204" pitchFamily="18" charset="0"/>
                                  <a:ea typeface="Cambria Math" panose="02040503050406030204" pitchFamily="18" charset="0"/>
                                </a:rPr>
                                <m:t>𝐹</m:t>
                              </m:r>
                            </m:sub>
                            <m:sup>
                              <m:r>
                                <a:rPr lang="en-US" sz="1800" b="0" i="1" smtClean="0">
                                  <a:solidFill>
                                    <a:srgbClr val="FF0000"/>
                                  </a:solidFill>
                                  <a:latin typeface="Cambria Math" panose="02040503050406030204" pitchFamily="18" charset="0"/>
                                  <a:ea typeface="Cambria Math" panose="02040503050406030204" pitchFamily="18" charset="0"/>
                                </a:rPr>
                                <m:t>3/2</m:t>
                              </m:r>
                            </m:sup>
                          </m:sSubSup>
                        </m:den>
                      </m:f>
                      <m:r>
                        <a:rPr lang="en-US" sz="1800" b="0" i="1" smtClean="0">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rPr>
                        <m:t>𝑁</m:t>
                      </m:r>
                      <m:f>
                        <m:fPr>
                          <m:ctrlPr>
                            <a:rPr lang="en-US" i="1">
                              <a:solidFill>
                                <a:srgbClr val="FF0000"/>
                              </a:solidFill>
                              <a:latin typeface="Cambria Math" panose="02040503050406030204" pitchFamily="18" charset="0"/>
                              <a:ea typeface="Cambria Math" panose="02040503050406030204" pitchFamily="18" charset="0"/>
                            </a:rPr>
                          </m:ctrlPr>
                        </m:fPr>
                        <m:num>
                          <m:sSup>
                            <m:sSupPr>
                              <m:ctrlPr>
                                <a:rPr lang="en-US" i="1">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𝜋</m:t>
                              </m:r>
                            </m:e>
                            <m:sup>
                              <m:r>
                                <a:rPr lang="en-US" i="1">
                                  <a:solidFill>
                                    <a:srgbClr val="FF0000"/>
                                  </a:solidFill>
                                  <a:latin typeface="Cambria Math" panose="02040503050406030204" pitchFamily="18" charset="0"/>
                                  <a:ea typeface="Cambria Math" panose="02040503050406030204" pitchFamily="18" charset="0"/>
                                </a:rPr>
                                <m:t>2</m:t>
                              </m:r>
                            </m:sup>
                          </m:sSup>
                        </m:num>
                        <m:den>
                          <m:r>
                            <a:rPr lang="en-US" i="1">
                              <a:solidFill>
                                <a:srgbClr val="FF0000"/>
                              </a:solidFill>
                              <a:latin typeface="Cambria Math" panose="02040503050406030204" pitchFamily="18" charset="0"/>
                              <a:ea typeface="Cambria Math" panose="02040503050406030204" pitchFamily="18" charset="0"/>
                            </a:rPr>
                            <m:t>8</m:t>
                          </m:r>
                        </m:den>
                      </m:f>
                      <m:f>
                        <m:fPr>
                          <m:ctrlPr>
                            <a:rPr lang="en-US" i="1">
                              <a:solidFill>
                                <a:srgbClr val="FF0000"/>
                              </a:solidFill>
                              <a:latin typeface="Cambria Math" panose="02040503050406030204" pitchFamily="18" charset="0"/>
                              <a:ea typeface="Cambria Math" panose="02040503050406030204" pitchFamily="18" charset="0"/>
                            </a:rPr>
                          </m:ctrlPr>
                        </m:fPr>
                        <m:num>
                          <m:sSup>
                            <m:sSupPr>
                              <m:ctrlPr>
                                <a:rPr lang="en-US" i="1">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𝜏</m:t>
                              </m:r>
                            </m:e>
                            <m:sup>
                              <m:r>
                                <a:rPr lang="en-US" i="1">
                                  <a:solidFill>
                                    <a:srgbClr val="FF0000"/>
                                  </a:solidFill>
                                  <a:latin typeface="Cambria Math" panose="02040503050406030204" pitchFamily="18" charset="0"/>
                                  <a:ea typeface="Cambria Math" panose="02040503050406030204" pitchFamily="18" charset="0"/>
                                </a:rPr>
                                <m:t>2</m:t>
                              </m:r>
                            </m:sup>
                          </m:sSup>
                        </m:num>
                        <m:den>
                          <m:sSubSup>
                            <m:sSubSupPr>
                              <m:ctrlPr>
                                <a:rPr lang="en-US" i="1" smtClean="0">
                                  <a:solidFill>
                                    <a:srgbClr val="FF0000"/>
                                  </a:solidFill>
                                  <a:latin typeface="Cambria Math" panose="02040503050406030204" pitchFamily="18" charset="0"/>
                                  <a:ea typeface="Cambria Math" panose="02040503050406030204" pitchFamily="18" charset="0"/>
                                </a:rPr>
                              </m:ctrlPr>
                            </m:sSubSupPr>
                            <m:e>
                              <m:r>
                                <a:rPr lang="en-US" i="1" smtClean="0">
                                  <a:solidFill>
                                    <a:srgbClr val="FF0000"/>
                                  </a:solidFill>
                                  <a:latin typeface="Cambria Math" panose="02040503050406030204" pitchFamily="18" charset="0"/>
                                  <a:ea typeface="Cambria Math" panose="02040503050406030204" pitchFamily="18" charset="0"/>
                                </a:rPr>
                                <m:t>𝜀</m:t>
                              </m:r>
                            </m:e>
                            <m:sub>
                              <m:r>
                                <a:rPr lang="en-US" b="0" i="1" smtClean="0">
                                  <a:solidFill>
                                    <a:srgbClr val="FF0000"/>
                                  </a:solidFill>
                                  <a:latin typeface="Cambria Math" panose="02040503050406030204" pitchFamily="18" charset="0"/>
                                  <a:ea typeface="Cambria Math" panose="02040503050406030204" pitchFamily="18" charset="0"/>
                                </a:rPr>
                                <m:t>𝐹</m:t>
                              </m:r>
                            </m:sub>
                            <m:sup>
                              <m:r>
                                <a:rPr lang="en-US" b="0" i="1" smtClean="0">
                                  <a:solidFill>
                                    <a:srgbClr val="FF0000"/>
                                  </a:solidFill>
                                  <a:latin typeface="Cambria Math" panose="02040503050406030204" pitchFamily="18" charset="0"/>
                                  <a:ea typeface="Cambria Math" panose="02040503050406030204" pitchFamily="18" charset="0"/>
                                </a:rPr>
                                <m:t>1/2</m:t>
                              </m:r>
                            </m:sup>
                          </m:sSubSup>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𝜀</m:t>
                              </m:r>
                            </m:e>
                            <m:sub>
                              <m:r>
                                <a:rPr lang="en-US" i="1">
                                  <a:solidFill>
                                    <a:srgbClr val="FF0000"/>
                                  </a:solidFill>
                                  <a:latin typeface="Cambria Math" panose="02040503050406030204" pitchFamily="18" charset="0"/>
                                  <a:ea typeface="Cambria Math" panose="02040503050406030204" pitchFamily="18" charset="0"/>
                                </a:rPr>
                                <m:t>𝐹</m:t>
                              </m:r>
                            </m:sub>
                            <m:sup>
                              <m:r>
                                <a:rPr lang="en-US" i="1">
                                  <a:solidFill>
                                    <a:srgbClr val="FF0000"/>
                                  </a:solidFill>
                                  <a:latin typeface="Cambria Math" panose="02040503050406030204" pitchFamily="18" charset="0"/>
                                  <a:ea typeface="Cambria Math" panose="02040503050406030204" pitchFamily="18" charset="0"/>
                                </a:rPr>
                                <m:t>3/2</m:t>
                              </m:r>
                            </m:sup>
                          </m:sSubSup>
                        </m:den>
                      </m:f>
                      <m:r>
                        <a:rPr lang="en-US" b="0" i="1" smtClean="0">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rPr>
                        <m:t>𝑁</m:t>
                      </m:r>
                      <m:f>
                        <m:fPr>
                          <m:ctrlPr>
                            <a:rPr lang="en-US" i="1">
                              <a:solidFill>
                                <a:srgbClr val="FF0000"/>
                              </a:solidFill>
                              <a:latin typeface="Cambria Math" panose="02040503050406030204" pitchFamily="18" charset="0"/>
                              <a:ea typeface="Cambria Math" panose="02040503050406030204" pitchFamily="18" charset="0"/>
                            </a:rPr>
                          </m:ctrlPr>
                        </m:fPr>
                        <m:num>
                          <m:sSup>
                            <m:sSupPr>
                              <m:ctrlPr>
                                <a:rPr lang="en-US" i="1">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𝜋</m:t>
                              </m:r>
                            </m:e>
                            <m:sup>
                              <m:r>
                                <a:rPr lang="en-US" i="1">
                                  <a:solidFill>
                                    <a:srgbClr val="FF0000"/>
                                  </a:solidFill>
                                  <a:latin typeface="Cambria Math" panose="02040503050406030204" pitchFamily="18" charset="0"/>
                                  <a:ea typeface="Cambria Math" panose="02040503050406030204" pitchFamily="18" charset="0"/>
                                </a:rPr>
                                <m:t>2</m:t>
                              </m:r>
                            </m:sup>
                          </m:sSup>
                        </m:num>
                        <m:den>
                          <m:r>
                            <a:rPr lang="en-US" i="1">
                              <a:solidFill>
                                <a:srgbClr val="FF0000"/>
                              </a:solidFill>
                              <a:latin typeface="Cambria Math" panose="02040503050406030204" pitchFamily="18" charset="0"/>
                              <a:ea typeface="Cambria Math" panose="02040503050406030204" pitchFamily="18" charset="0"/>
                            </a:rPr>
                            <m:t>8</m:t>
                          </m:r>
                        </m:den>
                      </m:f>
                      <m:f>
                        <m:fPr>
                          <m:ctrlPr>
                            <a:rPr lang="en-US" i="1">
                              <a:solidFill>
                                <a:srgbClr val="FF0000"/>
                              </a:solidFill>
                              <a:latin typeface="Cambria Math" panose="02040503050406030204" pitchFamily="18" charset="0"/>
                              <a:ea typeface="Cambria Math" panose="02040503050406030204" pitchFamily="18" charset="0"/>
                            </a:rPr>
                          </m:ctrlPr>
                        </m:fPr>
                        <m:num>
                          <m:sSup>
                            <m:sSupPr>
                              <m:ctrlPr>
                                <a:rPr lang="en-US" i="1">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𝜏</m:t>
                              </m:r>
                            </m:e>
                            <m:sup>
                              <m:r>
                                <a:rPr lang="en-US" i="1">
                                  <a:solidFill>
                                    <a:srgbClr val="FF0000"/>
                                  </a:solidFill>
                                  <a:latin typeface="Cambria Math" panose="02040503050406030204" pitchFamily="18" charset="0"/>
                                  <a:ea typeface="Cambria Math" panose="02040503050406030204" pitchFamily="18" charset="0"/>
                                </a:rPr>
                                <m:t>2</m:t>
                              </m:r>
                            </m:sup>
                          </m:sSup>
                        </m:num>
                        <m:den>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𝜀</m:t>
                              </m:r>
                            </m:e>
                            <m:sub>
                              <m:r>
                                <a:rPr lang="en-US" i="1">
                                  <a:solidFill>
                                    <a:srgbClr val="FF0000"/>
                                  </a:solidFill>
                                  <a:latin typeface="Cambria Math" panose="02040503050406030204" pitchFamily="18" charset="0"/>
                                  <a:ea typeface="Cambria Math" panose="02040503050406030204" pitchFamily="18" charset="0"/>
                                </a:rPr>
                                <m:t>𝐹</m:t>
                              </m:r>
                            </m:sub>
                            <m:sup>
                              <m:r>
                                <a:rPr lang="en-US" b="0" i="1" smtClean="0">
                                  <a:solidFill>
                                    <a:srgbClr val="FF0000"/>
                                  </a:solidFill>
                                  <a:latin typeface="Cambria Math" panose="02040503050406030204" pitchFamily="18" charset="0"/>
                                  <a:ea typeface="Cambria Math" panose="02040503050406030204" pitchFamily="18" charset="0"/>
                                </a:rPr>
                                <m:t>2</m:t>
                              </m:r>
                            </m:sup>
                          </m:sSubSup>
                        </m:den>
                      </m:f>
                    </m:oMath>
                  </m:oMathPara>
                </a14:m>
                <a:endParaRPr lang="en-CN" dirty="0"/>
              </a:p>
              <a:p>
                <a:endParaRPr lang="en-CN" dirty="0"/>
              </a:p>
            </p:txBody>
          </p:sp>
        </mc:Choice>
        <mc:Fallback xmlns="">
          <p:sp>
            <p:nvSpPr>
              <p:cNvPr id="4" name="TextBox 3">
                <a:extLst>
                  <a:ext uri="{FF2B5EF4-FFF2-40B4-BE49-F238E27FC236}">
                    <a16:creationId xmlns:a16="http://schemas.microsoft.com/office/drawing/2014/main" id="{B702D067-4F64-C44E-BA29-637E0004DA81}"/>
                  </a:ext>
                </a:extLst>
              </p:cNvPr>
              <p:cNvSpPr txBox="1">
                <a:spLocks noRot="1" noChangeAspect="1" noMove="1" noResize="1" noEditPoints="1" noAdjustHandles="1" noChangeArrowheads="1" noChangeShapeType="1" noTextEdit="1"/>
              </p:cNvSpPr>
              <p:nvPr/>
            </p:nvSpPr>
            <p:spPr>
              <a:xfrm>
                <a:off x="6525491" y="3081035"/>
                <a:ext cx="6096000" cy="1075423"/>
              </a:xfrm>
              <a:prstGeom prst="rect">
                <a:avLst/>
              </a:prstGeom>
              <a:blipFill>
                <a:blip r:embed="rId3"/>
                <a:stretch>
                  <a:fillRect/>
                </a:stretch>
              </a:blipFill>
            </p:spPr>
            <p:txBody>
              <a:bodyPr/>
              <a:lstStyle/>
              <a:p>
                <a:r>
                  <a:rPr lang="en-CN">
                    <a:noFill/>
                  </a:rPr>
                  <a:t> </a:t>
                </a:r>
              </a:p>
            </p:txBody>
          </p:sp>
        </mc:Fallback>
      </mc:AlternateContent>
      <p:sp>
        <p:nvSpPr>
          <p:cNvPr id="5" name="Down Arrow 4">
            <a:extLst>
              <a:ext uri="{FF2B5EF4-FFF2-40B4-BE49-F238E27FC236}">
                <a16:creationId xmlns:a16="http://schemas.microsoft.com/office/drawing/2014/main" id="{A5B5CF01-1C7F-624B-A58D-812305AD97C8}"/>
              </a:ext>
            </a:extLst>
          </p:cNvPr>
          <p:cNvSpPr/>
          <p:nvPr/>
        </p:nvSpPr>
        <p:spPr>
          <a:xfrm>
            <a:off x="9088582" y="2217024"/>
            <a:ext cx="609600" cy="76170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646B100-BF49-924B-8B53-B650F45B4998}"/>
                  </a:ext>
                </a:extLst>
              </p:cNvPr>
              <p:cNvSpPr txBox="1"/>
              <p:nvPr/>
            </p:nvSpPr>
            <p:spPr>
              <a:xfrm>
                <a:off x="2687782" y="4336473"/>
                <a:ext cx="6262254" cy="11610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3200" i="1" smtClean="0">
                              <a:solidFill>
                                <a:srgbClr val="7030A0"/>
                              </a:solidFill>
                              <a:latin typeface="Cambria Math" panose="02040503050406030204" pitchFamily="18" charset="0"/>
                              <a:ea typeface="Cambria Math" panose="02040503050406030204" pitchFamily="18" charset="0"/>
                            </a:rPr>
                          </m:ctrlPr>
                        </m:fPr>
                        <m:num>
                          <m:r>
                            <a:rPr lang="en-US" sz="3200" i="1" smtClean="0">
                              <a:solidFill>
                                <a:srgbClr val="7030A0"/>
                              </a:solidFill>
                              <a:latin typeface="Cambria Math" panose="02040503050406030204" pitchFamily="18" charset="0"/>
                              <a:ea typeface="Cambria Math" panose="02040503050406030204" pitchFamily="18" charset="0"/>
                            </a:rPr>
                            <m:t>𝜇</m:t>
                          </m:r>
                        </m:num>
                        <m:den>
                          <m:sSub>
                            <m:sSubPr>
                              <m:ctrlPr>
                                <a:rPr lang="en-US" sz="3200" i="1" smtClean="0">
                                  <a:solidFill>
                                    <a:srgbClr val="7030A0"/>
                                  </a:solidFill>
                                  <a:latin typeface="Cambria Math" panose="02040503050406030204" pitchFamily="18" charset="0"/>
                                  <a:ea typeface="Cambria Math" panose="02040503050406030204" pitchFamily="18" charset="0"/>
                                </a:rPr>
                              </m:ctrlPr>
                            </m:sSubPr>
                            <m:e>
                              <m:r>
                                <a:rPr lang="en-US" sz="3200" i="1" smtClean="0">
                                  <a:solidFill>
                                    <a:srgbClr val="7030A0"/>
                                  </a:solidFill>
                                  <a:latin typeface="Cambria Math" panose="02040503050406030204" pitchFamily="18" charset="0"/>
                                  <a:ea typeface="Cambria Math" panose="02040503050406030204" pitchFamily="18" charset="0"/>
                                </a:rPr>
                                <m:t>𝜀</m:t>
                              </m:r>
                            </m:e>
                            <m:sub>
                              <m:r>
                                <a:rPr lang="en-US" sz="3200" b="0" i="1" smtClean="0">
                                  <a:solidFill>
                                    <a:srgbClr val="7030A0"/>
                                  </a:solidFill>
                                  <a:latin typeface="Cambria Math" panose="02040503050406030204" pitchFamily="18" charset="0"/>
                                  <a:ea typeface="Cambria Math" panose="02040503050406030204" pitchFamily="18" charset="0"/>
                                </a:rPr>
                                <m:t>𝐹</m:t>
                              </m:r>
                            </m:sub>
                          </m:sSub>
                        </m:den>
                      </m:f>
                      <m:r>
                        <a:rPr lang="en-US" sz="3200" i="1">
                          <a:solidFill>
                            <a:srgbClr val="7030A0"/>
                          </a:solidFill>
                          <a:latin typeface="Cambria Math" panose="02040503050406030204" pitchFamily="18" charset="0"/>
                          <a:ea typeface="Cambria Math" panose="02040503050406030204" pitchFamily="18" charset="0"/>
                        </a:rPr>
                        <m:t>≈</m:t>
                      </m:r>
                      <m:r>
                        <a:rPr lang="en-US" sz="3200" b="0" i="1" smtClean="0">
                          <a:solidFill>
                            <a:srgbClr val="7030A0"/>
                          </a:solidFill>
                          <a:latin typeface="Cambria Math" panose="02040503050406030204" pitchFamily="18" charset="0"/>
                          <a:ea typeface="Cambria Math" panose="02040503050406030204" pitchFamily="18" charset="0"/>
                        </a:rPr>
                        <m:t>1−</m:t>
                      </m:r>
                      <m:f>
                        <m:fPr>
                          <m:ctrlPr>
                            <a:rPr lang="en-US" sz="3200" b="0" i="1" smtClean="0">
                              <a:solidFill>
                                <a:srgbClr val="7030A0"/>
                              </a:solidFill>
                              <a:latin typeface="Cambria Math" panose="02040503050406030204" pitchFamily="18" charset="0"/>
                              <a:ea typeface="Cambria Math" panose="02040503050406030204" pitchFamily="18" charset="0"/>
                            </a:rPr>
                          </m:ctrlPr>
                        </m:fPr>
                        <m:num>
                          <m:sSup>
                            <m:sSupPr>
                              <m:ctrlPr>
                                <a:rPr lang="en-US" sz="3200" b="0" i="1" smtClean="0">
                                  <a:solidFill>
                                    <a:srgbClr val="7030A0"/>
                                  </a:solidFill>
                                  <a:latin typeface="Cambria Math" panose="02040503050406030204" pitchFamily="18" charset="0"/>
                                  <a:ea typeface="Cambria Math" panose="02040503050406030204" pitchFamily="18" charset="0"/>
                                </a:rPr>
                              </m:ctrlPr>
                            </m:sSupPr>
                            <m:e>
                              <m:r>
                                <a:rPr lang="en-US" sz="3200" b="0" i="1" smtClean="0">
                                  <a:solidFill>
                                    <a:srgbClr val="7030A0"/>
                                  </a:solidFill>
                                  <a:latin typeface="Cambria Math" panose="02040503050406030204" pitchFamily="18" charset="0"/>
                                  <a:ea typeface="Cambria Math" panose="02040503050406030204" pitchFamily="18" charset="0"/>
                                </a:rPr>
                                <m:t>𝜋</m:t>
                              </m:r>
                            </m:e>
                            <m:sup>
                              <m:r>
                                <a:rPr lang="en-US" sz="3200" b="0" i="1" smtClean="0">
                                  <a:solidFill>
                                    <a:srgbClr val="7030A0"/>
                                  </a:solidFill>
                                  <a:latin typeface="Cambria Math" panose="02040503050406030204" pitchFamily="18" charset="0"/>
                                  <a:ea typeface="Cambria Math" panose="02040503050406030204" pitchFamily="18" charset="0"/>
                                </a:rPr>
                                <m:t>2</m:t>
                              </m:r>
                            </m:sup>
                          </m:sSup>
                        </m:num>
                        <m:den>
                          <m:r>
                            <a:rPr lang="en-US" sz="3200" b="0" i="1" smtClean="0">
                              <a:solidFill>
                                <a:srgbClr val="7030A0"/>
                              </a:solidFill>
                              <a:latin typeface="Cambria Math" panose="02040503050406030204" pitchFamily="18" charset="0"/>
                              <a:ea typeface="Cambria Math" panose="02040503050406030204" pitchFamily="18" charset="0"/>
                            </a:rPr>
                            <m:t>12</m:t>
                          </m:r>
                        </m:den>
                      </m:f>
                      <m:sSup>
                        <m:sSupPr>
                          <m:ctrlPr>
                            <a:rPr lang="en-US" sz="3200" b="0" i="1" smtClean="0">
                              <a:solidFill>
                                <a:srgbClr val="7030A0"/>
                              </a:solidFill>
                              <a:latin typeface="Cambria Math" panose="02040503050406030204" pitchFamily="18" charset="0"/>
                              <a:ea typeface="Cambria Math" panose="02040503050406030204" pitchFamily="18" charset="0"/>
                            </a:rPr>
                          </m:ctrlPr>
                        </m:sSupPr>
                        <m:e>
                          <m:d>
                            <m:dPr>
                              <m:ctrlPr>
                                <a:rPr lang="en-US" sz="3200" b="0" i="1" smtClean="0">
                                  <a:solidFill>
                                    <a:srgbClr val="7030A0"/>
                                  </a:solidFill>
                                  <a:latin typeface="Cambria Math" panose="02040503050406030204" pitchFamily="18" charset="0"/>
                                  <a:ea typeface="Cambria Math" panose="02040503050406030204" pitchFamily="18" charset="0"/>
                                </a:rPr>
                              </m:ctrlPr>
                            </m:dPr>
                            <m:e>
                              <m:f>
                                <m:fPr>
                                  <m:ctrlPr>
                                    <a:rPr lang="en-US" sz="3200" b="0" i="1" smtClean="0">
                                      <a:solidFill>
                                        <a:srgbClr val="7030A0"/>
                                      </a:solidFill>
                                      <a:latin typeface="Cambria Math" panose="02040503050406030204" pitchFamily="18" charset="0"/>
                                      <a:ea typeface="Cambria Math" panose="02040503050406030204" pitchFamily="18" charset="0"/>
                                    </a:rPr>
                                  </m:ctrlPr>
                                </m:fPr>
                                <m:num>
                                  <m:r>
                                    <a:rPr lang="en-US" sz="3200" b="0" i="1" smtClean="0">
                                      <a:solidFill>
                                        <a:srgbClr val="7030A0"/>
                                      </a:solidFill>
                                      <a:latin typeface="Cambria Math" panose="02040503050406030204" pitchFamily="18" charset="0"/>
                                      <a:ea typeface="Cambria Math" panose="02040503050406030204" pitchFamily="18" charset="0"/>
                                    </a:rPr>
                                    <m:t>𝜏</m:t>
                                  </m:r>
                                </m:num>
                                <m:den>
                                  <m:sSub>
                                    <m:sSubPr>
                                      <m:ctrlPr>
                                        <a:rPr lang="en-US" sz="3200" b="0" i="1" smtClean="0">
                                          <a:solidFill>
                                            <a:srgbClr val="7030A0"/>
                                          </a:solidFill>
                                          <a:latin typeface="Cambria Math" panose="02040503050406030204" pitchFamily="18" charset="0"/>
                                          <a:ea typeface="Cambria Math" panose="02040503050406030204" pitchFamily="18" charset="0"/>
                                        </a:rPr>
                                      </m:ctrlPr>
                                    </m:sSubPr>
                                    <m:e>
                                      <m:r>
                                        <a:rPr lang="en-US" sz="3200" b="0" i="1" smtClean="0">
                                          <a:solidFill>
                                            <a:srgbClr val="7030A0"/>
                                          </a:solidFill>
                                          <a:latin typeface="Cambria Math" panose="02040503050406030204" pitchFamily="18" charset="0"/>
                                          <a:ea typeface="Cambria Math" panose="02040503050406030204" pitchFamily="18" charset="0"/>
                                        </a:rPr>
                                        <m:t>𝜀</m:t>
                                      </m:r>
                                    </m:e>
                                    <m:sub>
                                      <m:r>
                                        <a:rPr lang="en-US" sz="3200" b="0" i="1" smtClean="0">
                                          <a:solidFill>
                                            <a:srgbClr val="7030A0"/>
                                          </a:solidFill>
                                          <a:latin typeface="Cambria Math" panose="02040503050406030204" pitchFamily="18" charset="0"/>
                                          <a:ea typeface="Cambria Math" panose="02040503050406030204" pitchFamily="18" charset="0"/>
                                        </a:rPr>
                                        <m:t>𝐹</m:t>
                                      </m:r>
                                    </m:sub>
                                  </m:sSub>
                                </m:den>
                              </m:f>
                            </m:e>
                          </m:d>
                        </m:e>
                        <m:sup>
                          <m:r>
                            <a:rPr lang="en-US" sz="3200" b="0" i="1" smtClean="0">
                              <a:solidFill>
                                <a:srgbClr val="7030A0"/>
                              </a:solidFill>
                              <a:latin typeface="Cambria Math" panose="02040503050406030204" pitchFamily="18" charset="0"/>
                              <a:ea typeface="Cambria Math" panose="02040503050406030204" pitchFamily="18" charset="0"/>
                            </a:rPr>
                            <m:t>2</m:t>
                          </m:r>
                        </m:sup>
                      </m:sSup>
                      <m:r>
                        <a:rPr lang="en-US" sz="3200" b="0" i="1" smtClean="0">
                          <a:solidFill>
                            <a:srgbClr val="7030A0"/>
                          </a:solidFill>
                          <a:latin typeface="Cambria Math" panose="02040503050406030204" pitchFamily="18" charset="0"/>
                          <a:ea typeface="Cambria Math" panose="02040503050406030204" pitchFamily="18" charset="0"/>
                        </a:rPr>
                        <m:t>+…</m:t>
                      </m:r>
                    </m:oMath>
                  </m:oMathPara>
                </a14:m>
                <a:endParaRPr lang="en-CN" sz="3200" dirty="0"/>
              </a:p>
            </p:txBody>
          </p:sp>
        </mc:Choice>
        <mc:Fallback xmlns="">
          <p:sp>
            <p:nvSpPr>
              <p:cNvPr id="6" name="TextBox 5">
                <a:extLst>
                  <a:ext uri="{FF2B5EF4-FFF2-40B4-BE49-F238E27FC236}">
                    <a16:creationId xmlns:a16="http://schemas.microsoft.com/office/drawing/2014/main" id="{E646B100-BF49-924B-8B53-B650F45B4998}"/>
                  </a:ext>
                </a:extLst>
              </p:cNvPr>
              <p:cNvSpPr txBox="1">
                <a:spLocks noRot="1" noChangeAspect="1" noMove="1" noResize="1" noEditPoints="1" noAdjustHandles="1" noChangeArrowheads="1" noChangeShapeType="1" noTextEdit="1"/>
              </p:cNvSpPr>
              <p:nvPr/>
            </p:nvSpPr>
            <p:spPr>
              <a:xfrm>
                <a:off x="2687782" y="4336473"/>
                <a:ext cx="6262254" cy="1161023"/>
              </a:xfrm>
              <a:prstGeom prst="rect">
                <a:avLst/>
              </a:prstGeom>
              <a:blipFill>
                <a:blip r:embed="rId4"/>
                <a:stretch>
                  <a:fillRect b="-3261"/>
                </a:stretch>
              </a:blipFill>
            </p:spPr>
            <p:txBody>
              <a:bodyPr/>
              <a:lstStyle/>
              <a:p>
                <a:r>
                  <a:rPr lang="en-CN">
                    <a:noFill/>
                  </a:rPr>
                  <a:t> </a:t>
                </a:r>
              </a:p>
            </p:txBody>
          </p:sp>
        </mc:Fallback>
      </mc:AlternateContent>
    </p:spTree>
    <p:extLst>
      <p:ext uri="{BB962C8B-B14F-4D97-AF65-F5344CB8AC3E}">
        <p14:creationId xmlns:p14="http://schemas.microsoft.com/office/powerpoint/2010/main" val="33413713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9F3F175-94EF-4C48-A158-B574FD9FE59F}"/>
                  </a:ext>
                </a:extLst>
              </p:cNvPr>
              <p:cNvSpPr txBox="1"/>
              <p:nvPr/>
            </p:nvSpPr>
            <p:spPr>
              <a:xfrm>
                <a:off x="3048000" y="533932"/>
                <a:ext cx="6096000" cy="69166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𝑈</m:t>
                      </m:r>
                      <m:r>
                        <a:rPr lang="en-US" sz="1800" b="0" i="1" smtClean="0">
                          <a:latin typeface="Cambria Math" panose="02040503050406030204" pitchFamily="18" charset="0"/>
                        </a:rPr>
                        <m:t>=</m:t>
                      </m:r>
                      <m:nary>
                        <m:naryPr>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m:t>
                          </m:r>
                        </m:sup>
                        <m:e>
                          <m:r>
                            <a:rPr lang="en-US" sz="1800" b="0" i="1" smtClean="0">
                              <a:latin typeface="Cambria Math" panose="02040503050406030204" pitchFamily="18" charset="0"/>
                            </a:rPr>
                            <m:t>𝑑</m:t>
                          </m:r>
                          <m:r>
                            <a:rPr lang="en-US" sz="1800" b="0" i="1" smtClean="0">
                              <a:latin typeface="Cambria Math" panose="02040503050406030204" pitchFamily="18" charset="0"/>
                              <a:ea typeface="Cambria Math" panose="02040503050406030204" pitchFamily="18" charset="0"/>
                            </a:rPr>
                            <m:t>𝜀</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𝐷</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𝜀</m:t>
                              </m:r>
                            </m:e>
                          </m:d>
                          <m:r>
                            <a:rPr lang="en-US" sz="1800" b="0" i="1" smtClean="0">
                              <a:latin typeface="Cambria Math" panose="02040503050406030204" pitchFamily="18" charset="0"/>
                              <a:ea typeface="Cambria Math" panose="02040503050406030204" pitchFamily="18" charset="0"/>
                            </a:rPr>
                            <m:t>𝑓</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𝜀</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𝜇</m:t>
                              </m:r>
                            </m:e>
                          </m:d>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𝜀</m:t>
                          </m:r>
                        </m:e>
                      </m:nary>
                    </m:oMath>
                  </m:oMathPara>
                </a14:m>
                <a:endParaRPr lang="en-CN" sz="1800" dirty="0"/>
              </a:p>
            </p:txBody>
          </p:sp>
        </mc:Choice>
        <mc:Fallback xmlns="">
          <p:sp>
            <p:nvSpPr>
              <p:cNvPr id="3" name="TextBox 2">
                <a:extLst>
                  <a:ext uri="{FF2B5EF4-FFF2-40B4-BE49-F238E27FC236}">
                    <a16:creationId xmlns:a16="http://schemas.microsoft.com/office/drawing/2014/main" id="{99F3F175-94EF-4C48-A158-B574FD9FE59F}"/>
                  </a:ext>
                </a:extLst>
              </p:cNvPr>
              <p:cNvSpPr txBox="1">
                <a:spLocks noRot="1" noChangeAspect="1" noMove="1" noResize="1" noEditPoints="1" noAdjustHandles="1" noChangeArrowheads="1" noChangeShapeType="1" noTextEdit="1"/>
              </p:cNvSpPr>
              <p:nvPr/>
            </p:nvSpPr>
            <p:spPr>
              <a:xfrm>
                <a:off x="3048000" y="533932"/>
                <a:ext cx="6096000" cy="691664"/>
              </a:xfrm>
              <a:prstGeom prst="rect">
                <a:avLst/>
              </a:prstGeom>
              <a:blipFill>
                <a:blip r:embed="rId2"/>
                <a:stretch>
                  <a:fillRect t="-160000" b="-240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D9F8489-F6BA-DF4F-8CAE-4BB89FE6AB54}"/>
                  </a:ext>
                </a:extLst>
              </p:cNvPr>
              <p:cNvSpPr txBox="1"/>
              <p:nvPr/>
            </p:nvSpPr>
            <p:spPr>
              <a:xfrm>
                <a:off x="-1" y="1264063"/>
                <a:ext cx="12095019" cy="940322"/>
              </a:xfrm>
              <a:prstGeom prst="rect">
                <a:avLst/>
              </a:prstGeom>
              <a:noFill/>
            </p:spPr>
            <p:txBody>
              <a:bodyPr wrap="square">
                <a:spAutoFit/>
              </a:bodyPr>
              <a:lstStyle/>
              <a:p>
                <a:pPr algn="ctr"/>
                <a14:m>
                  <m:oMath xmlns:m="http://schemas.openxmlformats.org/officeDocument/2006/math">
                    <m:r>
                      <a:rPr lang="en-US" sz="3200" b="0" i="1" smtClean="0">
                        <a:latin typeface="Cambria Math" panose="02040503050406030204" pitchFamily="18" charset="0"/>
                      </a:rPr>
                      <m:t>𝑈</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2</m:t>
                        </m:r>
                      </m:num>
                      <m:den>
                        <m:r>
                          <a:rPr lang="en-US" sz="3200" b="0" i="1" smtClean="0">
                            <a:latin typeface="Cambria Math" panose="02040503050406030204" pitchFamily="18" charset="0"/>
                          </a:rPr>
                          <m:t>5</m:t>
                        </m:r>
                      </m:den>
                    </m:f>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𝐷</m:t>
                        </m:r>
                      </m:e>
                      <m:sub>
                        <m:r>
                          <a:rPr lang="en-US" sz="3200" b="0" i="1" smtClean="0">
                            <a:latin typeface="Cambria Math" panose="02040503050406030204" pitchFamily="18" charset="0"/>
                          </a:rPr>
                          <m:t>0</m:t>
                        </m:r>
                      </m:sub>
                    </m:sSub>
                  </m:oMath>
                </a14:m>
                <a:r>
                  <a:rPr lang="en-US" sz="3200" dirty="0">
                    <a:ea typeface="Cambria Math" panose="02040503050406030204" pitchFamily="18" charset="0"/>
                  </a:rPr>
                  <a:t> </a:t>
                </a:r>
                <a14:m>
                  <m:oMath xmlns:m="http://schemas.openxmlformats.org/officeDocument/2006/math">
                    <m:nary>
                      <m:naryPr>
                        <m:ctrlPr>
                          <a:rPr lang="en-US" sz="3200" i="1">
                            <a:latin typeface="Cambria Math" panose="02040503050406030204" pitchFamily="18" charset="0"/>
                            <a:ea typeface="Cambria Math" panose="02040503050406030204" pitchFamily="18" charset="0"/>
                          </a:rPr>
                        </m:ctrlPr>
                      </m:naryPr>
                      <m:sub>
                        <m:r>
                          <m:rPr>
                            <m:brk m:alnAt="23"/>
                          </m:rPr>
                          <a:rPr lang="en-US" sz="3200" i="1">
                            <a:latin typeface="Cambria Math" panose="02040503050406030204" pitchFamily="18" charset="0"/>
                            <a:ea typeface="Cambria Math" panose="02040503050406030204" pitchFamily="18" charset="0"/>
                          </a:rPr>
                          <m:t>−</m:t>
                        </m:r>
                        <m:r>
                          <a:rPr lang="en-US" sz="3200" i="1" smtClean="0">
                            <a:latin typeface="Cambria Math" panose="02040503050406030204" pitchFamily="18" charset="0"/>
                            <a:ea typeface="Cambria Math" panose="02040503050406030204" pitchFamily="18" charset="0"/>
                          </a:rPr>
                          <m:t>∞</m:t>
                        </m:r>
                      </m:sub>
                      <m:sup>
                        <m:r>
                          <a:rPr lang="en-US" sz="3200" i="1">
                            <a:latin typeface="Cambria Math" panose="02040503050406030204" pitchFamily="18" charset="0"/>
                            <a:ea typeface="Cambria Math" panose="02040503050406030204" pitchFamily="18" charset="0"/>
                          </a:rPr>
                          <m:t>∞</m:t>
                        </m:r>
                      </m:sup>
                      <m:e>
                        <m:r>
                          <a:rPr lang="en-US" sz="3200" i="1">
                            <a:latin typeface="Cambria Math" panose="02040503050406030204" pitchFamily="18" charset="0"/>
                            <a:ea typeface="Cambria Math" panose="02040503050406030204" pitchFamily="18" charset="0"/>
                          </a:rPr>
                          <m:t>𝑑𝑥</m:t>
                        </m:r>
                        <m:r>
                          <a:rPr lang="en-US" sz="3200" i="1">
                            <a:latin typeface="Cambria Math" panose="02040503050406030204" pitchFamily="18" charset="0"/>
                            <a:ea typeface="Cambria Math" panose="02040503050406030204" pitchFamily="18" charset="0"/>
                          </a:rPr>
                          <m:t> </m:t>
                        </m:r>
                        <m:f>
                          <m:fPr>
                            <m:ctrlPr>
                              <a:rPr lang="en-US" sz="3200" i="1">
                                <a:latin typeface="Cambria Math" panose="02040503050406030204" pitchFamily="18" charset="0"/>
                              </a:rPr>
                            </m:ctrlPr>
                          </m:fPr>
                          <m:num>
                            <m:sSup>
                              <m:sSupPr>
                                <m:ctrlPr>
                                  <a:rPr lang="en-US" sz="3200" i="1">
                                    <a:latin typeface="Cambria Math" panose="02040503050406030204" pitchFamily="18" charset="0"/>
                                  </a:rPr>
                                </m:ctrlPr>
                              </m:sSupPr>
                              <m:e>
                                <m:r>
                                  <a:rPr lang="en-US" sz="3200" i="1">
                                    <a:latin typeface="Cambria Math" panose="02040503050406030204" pitchFamily="18" charset="0"/>
                                  </a:rPr>
                                  <m:t>𝑒</m:t>
                                </m:r>
                              </m:e>
                              <m:sup>
                                <m:r>
                                  <a:rPr lang="en-US" sz="3200" i="1">
                                    <a:latin typeface="Cambria Math" panose="02040503050406030204" pitchFamily="18" charset="0"/>
                                  </a:rPr>
                                  <m:t>𝑥</m:t>
                                </m:r>
                              </m:sup>
                            </m:sSup>
                          </m:num>
                          <m:den>
                            <m:sSup>
                              <m:sSupPr>
                                <m:ctrlPr>
                                  <a:rPr lang="en-US" sz="3200" i="1">
                                    <a:latin typeface="Cambria Math" panose="02040503050406030204" pitchFamily="18" charset="0"/>
                                  </a:rPr>
                                </m:ctrlPr>
                              </m:sSupPr>
                              <m:e>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𝑒</m:t>
                                        </m:r>
                                      </m:e>
                                      <m:sup>
                                        <m:r>
                                          <a:rPr lang="en-US" sz="3200" i="1">
                                            <a:latin typeface="Cambria Math" panose="02040503050406030204" pitchFamily="18" charset="0"/>
                                          </a:rPr>
                                          <m:t>𝑥</m:t>
                                        </m:r>
                                      </m:sup>
                                    </m:sSup>
                                    <m:r>
                                      <a:rPr lang="en-US" sz="3200" i="1">
                                        <a:latin typeface="Cambria Math" panose="02040503050406030204" pitchFamily="18" charset="0"/>
                                      </a:rPr>
                                      <m:t>+1</m:t>
                                    </m:r>
                                  </m:e>
                                </m:d>
                              </m:e>
                              <m:sup>
                                <m:r>
                                  <a:rPr lang="en-US" sz="3200" i="1">
                                    <a:latin typeface="Cambria Math" panose="02040503050406030204" pitchFamily="18" charset="0"/>
                                  </a:rPr>
                                  <m:t>2</m:t>
                                </m:r>
                              </m:sup>
                            </m:sSup>
                          </m:den>
                        </m:f>
                        <m:d>
                          <m:dPr>
                            <m:ctrlPr>
                              <a:rPr lang="en-US" sz="3200" i="1" smtClean="0">
                                <a:latin typeface="Cambria Math" panose="02040503050406030204" pitchFamily="18" charset="0"/>
                              </a:rPr>
                            </m:ctrlPr>
                          </m:dPr>
                          <m:e>
                            <m:sSup>
                              <m:sSupPr>
                                <m:ctrlPr>
                                  <a:rPr lang="en-US" sz="3200" i="1">
                                    <a:latin typeface="Cambria Math" panose="02040503050406030204" pitchFamily="18" charset="0"/>
                                    <a:ea typeface="Cambria Math" panose="02040503050406030204" pitchFamily="18" charset="0"/>
                                  </a:rPr>
                                </m:ctrlPr>
                              </m:sSupPr>
                              <m:e>
                                <m:r>
                                  <a:rPr lang="en-US" sz="3200" i="1">
                                    <a:latin typeface="Cambria Math" panose="02040503050406030204" pitchFamily="18" charset="0"/>
                                    <a:ea typeface="Cambria Math" panose="02040503050406030204" pitchFamily="18" charset="0"/>
                                  </a:rPr>
                                  <m:t>𝜇</m:t>
                                </m:r>
                              </m:e>
                              <m:sup>
                                <m:f>
                                  <m:fPr>
                                    <m:ctrlPr>
                                      <a:rPr lang="en-US" sz="3200" i="1">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5</m:t>
                                    </m:r>
                                  </m:num>
                                  <m:den>
                                    <m:r>
                                      <a:rPr lang="en-US" sz="3200" i="1">
                                        <a:latin typeface="Cambria Math" panose="02040503050406030204" pitchFamily="18" charset="0"/>
                                        <a:ea typeface="Cambria Math" panose="02040503050406030204" pitchFamily="18" charset="0"/>
                                      </a:rPr>
                                      <m:t>2</m:t>
                                    </m:r>
                                  </m:den>
                                </m:f>
                              </m:sup>
                            </m:sSup>
                            <m:r>
                              <a:rPr lang="en-US" sz="3200" i="1">
                                <a:latin typeface="Cambria Math" panose="02040503050406030204" pitchFamily="18" charset="0"/>
                                <a:ea typeface="Cambria Math" panose="02040503050406030204" pitchFamily="18" charset="0"/>
                              </a:rPr>
                              <m:t>+</m:t>
                            </m:r>
                            <m:f>
                              <m:fPr>
                                <m:ctrlPr>
                                  <a:rPr lang="en-US" sz="3200" i="1">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5</m:t>
                                </m:r>
                              </m:num>
                              <m:den>
                                <m:r>
                                  <a:rPr lang="en-US" sz="3200" i="1">
                                    <a:latin typeface="Cambria Math" panose="02040503050406030204" pitchFamily="18" charset="0"/>
                                    <a:ea typeface="Cambria Math" panose="02040503050406030204" pitchFamily="18" charset="0"/>
                                  </a:rPr>
                                  <m:t>2</m:t>
                                </m:r>
                              </m:den>
                            </m:f>
                            <m:sSup>
                              <m:sSupPr>
                                <m:ctrlPr>
                                  <a:rPr lang="en-US" sz="3200" i="1">
                                    <a:latin typeface="Cambria Math" panose="02040503050406030204" pitchFamily="18" charset="0"/>
                                    <a:ea typeface="Cambria Math" panose="02040503050406030204" pitchFamily="18" charset="0"/>
                                  </a:rPr>
                                </m:ctrlPr>
                              </m:sSupPr>
                              <m:e>
                                <m:r>
                                  <a:rPr lang="en-US" sz="3200" i="1">
                                    <a:latin typeface="Cambria Math" panose="02040503050406030204" pitchFamily="18" charset="0"/>
                                    <a:ea typeface="Cambria Math" panose="02040503050406030204" pitchFamily="18" charset="0"/>
                                  </a:rPr>
                                  <m:t>𝜇</m:t>
                                </m:r>
                              </m:e>
                              <m:sup>
                                <m:f>
                                  <m:fPr>
                                    <m:ctrlPr>
                                      <a:rPr lang="en-US" sz="320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3</m:t>
                                    </m:r>
                                  </m:num>
                                  <m:den>
                                    <m:r>
                                      <a:rPr lang="en-US" sz="3200" i="1">
                                        <a:latin typeface="Cambria Math" panose="02040503050406030204" pitchFamily="18" charset="0"/>
                                        <a:ea typeface="Cambria Math" panose="02040503050406030204" pitchFamily="18" charset="0"/>
                                      </a:rPr>
                                      <m:t>2</m:t>
                                    </m:r>
                                  </m:den>
                                </m:f>
                              </m:sup>
                            </m:sSup>
                            <m:r>
                              <a:rPr lang="en-US" sz="3200" i="1">
                                <a:latin typeface="Cambria Math" panose="02040503050406030204" pitchFamily="18" charset="0"/>
                                <a:ea typeface="Cambria Math" panose="02040503050406030204" pitchFamily="18" charset="0"/>
                              </a:rPr>
                              <m:t> </m:t>
                            </m:r>
                            <m:r>
                              <a:rPr lang="en-US" sz="3200" i="1">
                                <a:latin typeface="Cambria Math" panose="02040503050406030204" pitchFamily="18" charset="0"/>
                                <a:ea typeface="Cambria Math" panose="02040503050406030204" pitchFamily="18" charset="0"/>
                              </a:rPr>
                              <m:t>𝜏</m:t>
                            </m:r>
                            <m:r>
                              <a:rPr lang="en-US" sz="3200" i="1">
                                <a:latin typeface="Cambria Math" panose="02040503050406030204" pitchFamily="18" charset="0"/>
                                <a:ea typeface="Cambria Math" panose="02040503050406030204" pitchFamily="18" charset="0"/>
                              </a:rPr>
                              <m:t>𝑥</m:t>
                            </m:r>
                            <m:r>
                              <a:rPr lang="en-US" sz="3200" i="1">
                                <a:latin typeface="Cambria Math" panose="02040503050406030204" pitchFamily="18" charset="0"/>
                                <a:ea typeface="Cambria Math" panose="02040503050406030204" pitchFamily="18" charset="0"/>
                              </a:rPr>
                              <m:t>+</m:t>
                            </m:r>
                            <m:f>
                              <m:fPr>
                                <m:ctrlPr>
                                  <a:rPr lang="en-US" sz="3200" i="1">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15</m:t>
                                </m:r>
                              </m:num>
                              <m:den>
                                <m:r>
                                  <a:rPr lang="en-US" sz="3200" i="1">
                                    <a:latin typeface="Cambria Math" panose="02040503050406030204" pitchFamily="18" charset="0"/>
                                    <a:ea typeface="Cambria Math" panose="02040503050406030204" pitchFamily="18" charset="0"/>
                                  </a:rPr>
                                  <m:t>8</m:t>
                                </m:r>
                              </m:den>
                            </m:f>
                            <m:r>
                              <a:rPr lang="en-US" sz="3200" i="1">
                                <a:latin typeface="Cambria Math" panose="02040503050406030204" pitchFamily="18" charset="0"/>
                                <a:ea typeface="Cambria Math" panose="02040503050406030204" pitchFamily="18" charset="0"/>
                              </a:rPr>
                              <m:t> </m:t>
                            </m:r>
                            <m:sSup>
                              <m:sSupPr>
                                <m:ctrlPr>
                                  <a:rPr lang="en-US" sz="3200" i="1">
                                    <a:latin typeface="Cambria Math" panose="02040503050406030204" pitchFamily="18" charset="0"/>
                                    <a:ea typeface="Cambria Math" panose="02040503050406030204" pitchFamily="18" charset="0"/>
                                  </a:rPr>
                                </m:ctrlPr>
                              </m:sSupPr>
                              <m:e>
                                <m:r>
                                  <a:rPr lang="en-US" sz="3200" i="1">
                                    <a:latin typeface="Cambria Math" panose="02040503050406030204" pitchFamily="18" charset="0"/>
                                    <a:ea typeface="Cambria Math" panose="02040503050406030204" pitchFamily="18" charset="0"/>
                                  </a:rPr>
                                  <m:t>𝜇</m:t>
                                </m:r>
                              </m:e>
                              <m:sup>
                                <m:f>
                                  <m:fPr>
                                    <m:ctrlPr>
                                      <a:rPr lang="en-US" sz="3200" i="1">
                                        <a:latin typeface="Cambria Math" panose="02040503050406030204" pitchFamily="18" charset="0"/>
                                        <a:ea typeface="Cambria Math" panose="02040503050406030204" pitchFamily="18" charset="0"/>
                                      </a:rPr>
                                    </m:ctrlPr>
                                  </m:fPr>
                                  <m:num>
                                    <m:r>
                                      <a:rPr lang="en-US" sz="3200" i="1">
                                        <a:latin typeface="Cambria Math" panose="02040503050406030204" pitchFamily="18" charset="0"/>
                                        <a:ea typeface="Cambria Math" panose="02040503050406030204" pitchFamily="18" charset="0"/>
                                      </a:rPr>
                                      <m:t>1</m:t>
                                    </m:r>
                                  </m:num>
                                  <m:den>
                                    <m:r>
                                      <a:rPr lang="en-US" sz="3200" i="1">
                                        <a:latin typeface="Cambria Math" panose="02040503050406030204" pitchFamily="18" charset="0"/>
                                        <a:ea typeface="Cambria Math" panose="02040503050406030204" pitchFamily="18" charset="0"/>
                                      </a:rPr>
                                      <m:t>2</m:t>
                                    </m:r>
                                  </m:den>
                                </m:f>
                              </m:sup>
                            </m:sSup>
                            <m:r>
                              <a:rPr lang="en-US" sz="3200" i="1">
                                <a:latin typeface="Cambria Math" panose="02040503050406030204" pitchFamily="18" charset="0"/>
                                <a:ea typeface="Cambria Math" panose="02040503050406030204" pitchFamily="18" charset="0"/>
                              </a:rPr>
                              <m:t> </m:t>
                            </m:r>
                            <m:sSup>
                              <m:sSupPr>
                                <m:ctrlPr>
                                  <a:rPr lang="en-US" sz="3200" i="1">
                                    <a:latin typeface="Cambria Math" panose="02040503050406030204" pitchFamily="18" charset="0"/>
                                    <a:ea typeface="Cambria Math" panose="02040503050406030204" pitchFamily="18" charset="0"/>
                                  </a:rPr>
                                </m:ctrlPr>
                              </m:sSupPr>
                              <m:e>
                                <m:d>
                                  <m:dPr>
                                    <m:ctrlPr>
                                      <a:rPr lang="en-US" sz="3200" i="1">
                                        <a:latin typeface="Cambria Math" panose="02040503050406030204" pitchFamily="18" charset="0"/>
                                        <a:ea typeface="Cambria Math" panose="02040503050406030204" pitchFamily="18" charset="0"/>
                                      </a:rPr>
                                    </m:ctrlPr>
                                  </m:dPr>
                                  <m:e>
                                    <m:r>
                                      <a:rPr lang="en-US" sz="3200" i="1">
                                        <a:latin typeface="Cambria Math" panose="02040503050406030204" pitchFamily="18" charset="0"/>
                                        <a:ea typeface="Cambria Math" panose="02040503050406030204" pitchFamily="18" charset="0"/>
                                      </a:rPr>
                                      <m:t>𝜏</m:t>
                                    </m:r>
                                    <m:r>
                                      <a:rPr lang="en-US" sz="3200" i="1">
                                        <a:latin typeface="Cambria Math" panose="02040503050406030204" pitchFamily="18" charset="0"/>
                                        <a:ea typeface="Cambria Math" panose="02040503050406030204" pitchFamily="18" charset="0"/>
                                      </a:rPr>
                                      <m:t>𝑥</m:t>
                                    </m:r>
                                  </m:e>
                                </m:d>
                              </m:e>
                              <m:sup>
                                <m:r>
                                  <a:rPr lang="en-US" sz="3200" i="1">
                                    <a:latin typeface="Cambria Math" panose="02040503050406030204" pitchFamily="18" charset="0"/>
                                    <a:ea typeface="Cambria Math" panose="02040503050406030204" pitchFamily="18" charset="0"/>
                                  </a:rPr>
                                  <m:t>2</m:t>
                                </m:r>
                              </m:sup>
                            </m:sSup>
                            <m:r>
                              <a:rPr lang="en-US" sz="3200" b="0" i="1" smtClean="0">
                                <a:latin typeface="Cambria Math" panose="02040503050406030204" pitchFamily="18" charset="0"/>
                                <a:ea typeface="Cambria Math" panose="02040503050406030204" pitchFamily="18" charset="0"/>
                              </a:rPr>
                              <m:t>+…</m:t>
                            </m:r>
                          </m:e>
                        </m:d>
                      </m:e>
                    </m:nary>
                  </m:oMath>
                </a14:m>
                <a:endParaRPr lang="en-CN" sz="3200" dirty="0"/>
              </a:p>
            </p:txBody>
          </p:sp>
        </mc:Choice>
        <mc:Fallback xmlns="">
          <p:sp>
            <p:nvSpPr>
              <p:cNvPr id="4" name="TextBox 3">
                <a:extLst>
                  <a:ext uri="{FF2B5EF4-FFF2-40B4-BE49-F238E27FC236}">
                    <a16:creationId xmlns:a16="http://schemas.microsoft.com/office/drawing/2014/main" id="{FD9F8489-F6BA-DF4F-8CAE-4BB89FE6AB54}"/>
                  </a:ext>
                </a:extLst>
              </p:cNvPr>
              <p:cNvSpPr txBox="1">
                <a:spLocks noRot="1" noChangeAspect="1" noMove="1" noResize="1" noEditPoints="1" noAdjustHandles="1" noChangeArrowheads="1" noChangeShapeType="1" noTextEdit="1"/>
              </p:cNvSpPr>
              <p:nvPr/>
            </p:nvSpPr>
            <p:spPr>
              <a:xfrm>
                <a:off x="-1" y="1264063"/>
                <a:ext cx="12095019" cy="940322"/>
              </a:xfrm>
              <a:prstGeom prst="rect">
                <a:avLst/>
              </a:prstGeom>
              <a:blipFill>
                <a:blip r:embed="rId3"/>
                <a:stretch>
                  <a:fillRect t="-85333" b="-142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AC8799A-14D0-1645-B435-A5FCF7648454}"/>
                  </a:ext>
                </a:extLst>
              </p:cNvPr>
              <p:cNvSpPr txBox="1"/>
              <p:nvPr/>
            </p:nvSpPr>
            <p:spPr>
              <a:xfrm>
                <a:off x="1302328" y="2801674"/>
                <a:ext cx="8589818" cy="126598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𝑈</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2</m:t>
                          </m:r>
                        </m:num>
                        <m:den>
                          <m:r>
                            <a:rPr lang="en-US" sz="1800" b="0" i="1" smtClean="0">
                              <a:latin typeface="Cambria Math" panose="02040503050406030204" pitchFamily="18" charset="0"/>
                            </a:rPr>
                            <m:t>5</m:t>
                          </m:r>
                        </m:den>
                      </m:f>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𝐷</m:t>
                          </m:r>
                        </m:e>
                        <m:sub>
                          <m:r>
                            <a:rPr lang="en-US" sz="1800" b="0" i="1" smtClean="0">
                              <a:latin typeface="Cambria Math" panose="02040503050406030204" pitchFamily="18" charset="0"/>
                            </a:rPr>
                            <m:t>0</m:t>
                          </m:r>
                        </m:sub>
                      </m:sSub>
                      <m:d>
                        <m:dPr>
                          <m:ctrlPr>
                            <a:rPr lang="en-US" sz="1800" b="0" i="1" smtClean="0">
                              <a:latin typeface="Cambria Math" panose="02040503050406030204" pitchFamily="18" charset="0"/>
                            </a:rPr>
                          </m:ctrlPr>
                        </m:dPr>
                        <m:e>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𝜇</m:t>
                              </m:r>
                            </m:e>
                            <m:sup>
                              <m:f>
                                <m:fPr>
                                  <m:ctrlPr>
                                    <a:rPr lang="en-US" sz="1800" i="1">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5</m:t>
                                  </m:r>
                                </m:num>
                                <m:den>
                                  <m:r>
                                    <a:rPr lang="en-US" sz="1800" i="1">
                                      <a:latin typeface="Cambria Math" panose="02040503050406030204" pitchFamily="18" charset="0"/>
                                      <a:ea typeface="Cambria Math" panose="02040503050406030204" pitchFamily="18" charset="0"/>
                                    </a:rPr>
                                    <m:t>2</m:t>
                                  </m:r>
                                </m:den>
                              </m:f>
                            </m:sup>
                          </m:sSup>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5 </m:t>
                                  </m:r>
                                  <m:r>
                                    <a:rPr lang="en-US" sz="1800" b="0" i="1" smtClean="0">
                                      <a:latin typeface="Cambria Math" panose="02040503050406030204" pitchFamily="18" charset="0"/>
                                      <a:ea typeface="Cambria Math" panose="02040503050406030204" pitchFamily="18" charset="0"/>
                                    </a:rPr>
                                    <m:t>𝜋</m:t>
                                  </m:r>
                                </m:e>
                                <m:sup>
                                  <m:r>
                                    <a:rPr lang="en-US" sz="1800" b="0" i="1" smtClean="0">
                                      <a:latin typeface="Cambria Math" panose="02040503050406030204" pitchFamily="18" charset="0"/>
                                      <a:ea typeface="Cambria Math" panose="02040503050406030204" pitchFamily="18" charset="0"/>
                                    </a:rPr>
                                    <m:t>2</m:t>
                                  </m:r>
                                </m:sup>
                              </m:sSup>
                            </m:num>
                            <m:den>
                              <m:r>
                                <a:rPr lang="en-US" sz="1800" b="0" i="1" smtClean="0">
                                  <a:latin typeface="Cambria Math" panose="02040503050406030204" pitchFamily="18" charset="0"/>
                                  <a:ea typeface="Cambria Math" panose="02040503050406030204" pitchFamily="18" charset="0"/>
                                </a:rPr>
                                <m:t>8</m:t>
                              </m:r>
                            </m:den>
                          </m:f>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𝜇</m:t>
                              </m:r>
                            </m:e>
                            <m:sup>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m:t>
                                  </m:r>
                                </m:num>
                                <m:den>
                                  <m:r>
                                    <a:rPr lang="en-US" sz="1800" b="0" i="1" smtClean="0">
                                      <a:latin typeface="Cambria Math" panose="02040503050406030204" pitchFamily="18" charset="0"/>
                                      <a:ea typeface="Cambria Math" panose="02040503050406030204" pitchFamily="18" charset="0"/>
                                    </a:rPr>
                                    <m:t>2</m:t>
                                  </m:r>
                                </m:den>
                              </m:f>
                            </m:sup>
                          </m:sSup>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𝜏</m:t>
                              </m:r>
                            </m:e>
                            <m:sup>
                              <m:r>
                                <a:rPr lang="en-US" sz="1800" b="0" i="1" smtClean="0">
                                  <a:latin typeface="Cambria Math" panose="02040503050406030204" pitchFamily="18" charset="0"/>
                                  <a:ea typeface="Cambria Math" panose="02040503050406030204" pitchFamily="18" charset="0"/>
                                </a:rPr>
                                <m:t>2</m:t>
                              </m:r>
                            </m:sup>
                          </m:sSup>
                          <m:r>
                            <a:rPr lang="en-US" sz="1800" b="0" i="1" smtClean="0">
                              <a:latin typeface="Cambria Math" panose="02040503050406030204" pitchFamily="18" charset="0"/>
                              <a:ea typeface="Cambria Math" panose="02040503050406030204" pitchFamily="18" charset="0"/>
                            </a:rPr>
                            <m:t>+…</m:t>
                          </m:r>
                        </m:e>
                      </m:d>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3</m:t>
                          </m:r>
                        </m:num>
                        <m:den>
                          <m:r>
                            <a:rPr lang="en-US" sz="1800" b="0" i="1" smtClean="0">
                              <a:latin typeface="Cambria Math" panose="02040503050406030204" pitchFamily="18" charset="0"/>
                            </a:rPr>
                            <m:t>5</m:t>
                          </m:r>
                        </m:den>
                      </m:f>
                      <m:r>
                        <a:rPr lang="en-US" sz="1800" b="0" i="1" smtClean="0">
                          <a:latin typeface="Cambria Math" panose="02040503050406030204" pitchFamily="18" charset="0"/>
                        </a:rPr>
                        <m:t>𝑁</m:t>
                      </m:r>
                      <m:f>
                        <m:fPr>
                          <m:ctrlPr>
                            <a:rPr lang="en-US" sz="1800" b="0" i="1" smtClean="0">
                              <a:latin typeface="Cambria Math" panose="02040503050406030204" pitchFamily="18" charset="0"/>
                            </a:rPr>
                          </m:ctrlPr>
                        </m:fPr>
                        <m:num>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𝜇</m:t>
                              </m:r>
                            </m:e>
                            <m:sup>
                              <m:r>
                                <a:rPr lang="en-US" sz="1800" b="0" i="1" smtClean="0">
                                  <a:latin typeface="Cambria Math" panose="02040503050406030204" pitchFamily="18" charset="0"/>
                                </a:rPr>
                                <m:t>5/2</m:t>
                              </m:r>
                            </m:sup>
                          </m:sSup>
                        </m:num>
                        <m:den>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ea typeface="Cambria Math" panose="02040503050406030204" pitchFamily="18" charset="0"/>
                                </a:rPr>
                                <m:t>𝜀</m:t>
                              </m:r>
                            </m:e>
                            <m:sub>
                              <m:r>
                                <a:rPr lang="en-US" sz="1800" b="0" i="1" smtClean="0">
                                  <a:latin typeface="Cambria Math" panose="02040503050406030204" pitchFamily="18" charset="0"/>
                                </a:rPr>
                                <m:t>𝐹</m:t>
                              </m:r>
                            </m:sub>
                            <m:sup>
                              <m:r>
                                <a:rPr lang="en-US" sz="1800" b="0" i="1" smtClean="0">
                                  <a:latin typeface="Cambria Math" panose="02040503050406030204" pitchFamily="18" charset="0"/>
                                </a:rPr>
                                <m:t>3/2</m:t>
                              </m:r>
                            </m:sup>
                          </m:sSubSup>
                        </m:den>
                      </m:f>
                      <m:r>
                        <a:rPr lang="en-US" sz="1800" b="0" i="1" smtClean="0">
                          <a:latin typeface="Cambria Math" panose="02040503050406030204" pitchFamily="18" charset="0"/>
                        </a:rPr>
                        <m:t>+</m:t>
                      </m:r>
                      <m:r>
                        <a:rPr lang="en-US" sz="1800" b="0" i="1" smtClean="0">
                          <a:solidFill>
                            <a:srgbClr val="FF0000"/>
                          </a:solidFill>
                          <a:latin typeface="Cambria Math" panose="02040503050406030204" pitchFamily="18" charset="0"/>
                        </a:rPr>
                        <m:t>𝑁</m:t>
                      </m:r>
                      <m:f>
                        <m:fPr>
                          <m:ctrlPr>
                            <a:rPr lang="en-US" sz="1800" i="1">
                              <a:solidFill>
                                <a:srgbClr val="FF0000"/>
                              </a:solidFill>
                              <a:latin typeface="Cambria Math" panose="02040503050406030204" pitchFamily="18" charset="0"/>
                              <a:ea typeface="Cambria Math" panose="02040503050406030204" pitchFamily="18" charset="0"/>
                            </a:rPr>
                          </m:ctrlPr>
                        </m:fPr>
                        <m:num>
                          <m:sSup>
                            <m:sSupPr>
                              <m:ctrlPr>
                                <a:rPr lang="en-US" sz="1800" i="1">
                                  <a:solidFill>
                                    <a:srgbClr val="FF0000"/>
                                  </a:solidFill>
                                  <a:latin typeface="Cambria Math" panose="02040503050406030204" pitchFamily="18" charset="0"/>
                                  <a:ea typeface="Cambria Math" panose="02040503050406030204" pitchFamily="18" charset="0"/>
                                </a:rPr>
                              </m:ctrlPr>
                            </m:sSupPr>
                            <m:e>
                              <m:r>
                                <a:rPr lang="en-US" sz="1800" b="0" i="1" smtClean="0">
                                  <a:solidFill>
                                    <a:srgbClr val="FF0000"/>
                                  </a:solidFill>
                                  <a:latin typeface="Cambria Math" panose="02040503050406030204" pitchFamily="18" charset="0"/>
                                  <a:ea typeface="Cambria Math" panose="02040503050406030204" pitchFamily="18" charset="0"/>
                                </a:rPr>
                                <m:t>2 </m:t>
                              </m:r>
                              <m:r>
                                <a:rPr lang="en-US" sz="1800" i="1">
                                  <a:solidFill>
                                    <a:srgbClr val="FF0000"/>
                                  </a:solidFill>
                                  <a:latin typeface="Cambria Math" panose="02040503050406030204" pitchFamily="18" charset="0"/>
                                  <a:ea typeface="Cambria Math" panose="02040503050406030204" pitchFamily="18" charset="0"/>
                                </a:rPr>
                                <m:t>𝜋</m:t>
                              </m:r>
                            </m:e>
                            <m:sup>
                              <m:r>
                                <a:rPr lang="en-US" sz="1800" i="1">
                                  <a:solidFill>
                                    <a:srgbClr val="FF0000"/>
                                  </a:solidFill>
                                  <a:latin typeface="Cambria Math" panose="02040503050406030204" pitchFamily="18" charset="0"/>
                                  <a:ea typeface="Cambria Math" panose="02040503050406030204" pitchFamily="18" charset="0"/>
                                </a:rPr>
                                <m:t>2</m:t>
                              </m:r>
                            </m:sup>
                          </m:sSup>
                        </m:num>
                        <m:den>
                          <m:r>
                            <a:rPr lang="en-US" sz="1800" i="1">
                              <a:solidFill>
                                <a:srgbClr val="FF0000"/>
                              </a:solidFill>
                              <a:latin typeface="Cambria Math" panose="02040503050406030204" pitchFamily="18" charset="0"/>
                              <a:ea typeface="Cambria Math" panose="02040503050406030204" pitchFamily="18" charset="0"/>
                            </a:rPr>
                            <m:t>8</m:t>
                          </m:r>
                        </m:den>
                      </m:f>
                      <m:f>
                        <m:fPr>
                          <m:ctrlPr>
                            <a:rPr lang="en-US" sz="1800" i="1" smtClean="0">
                              <a:solidFill>
                                <a:srgbClr val="FF0000"/>
                              </a:solidFill>
                              <a:latin typeface="Cambria Math" panose="02040503050406030204" pitchFamily="18" charset="0"/>
                              <a:ea typeface="Cambria Math" panose="02040503050406030204" pitchFamily="18" charset="0"/>
                            </a:rPr>
                          </m:ctrlPr>
                        </m:fPr>
                        <m:num>
                          <m:sSup>
                            <m:sSupPr>
                              <m:ctrlPr>
                                <a:rPr lang="en-US" sz="1800" i="1" smtClean="0">
                                  <a:solidFill>
                                    <a:srgbClr val="FF0000"/>
                                  </a:solidFill>
                                  <a:latin typeface="Cambria Math" panose="02040503050406030204" pitchFamily="18" charset="0"/>
                                  <a:ea typeface="Cambria Math" panose="02040503050406030204" pitchFamily="18" charset="0"/>
                                </a:rPr>
                              </m:ctrlPr>
                            </m:sSupPr>
                            <m:e>
                              <m:r>
                                <a:rPr lang="en-US" sz="1800" i="1" smtClean="0">
                                  <a:solidFill>
                                    <a:srgbClr val="FF0000"/>
                                  </a:solidFill>
                                  <a:latin typeface="Cambria Math" panose="02040503050406030204" pitchFamily="18" charset="0"/>
                                  <a:ea typeface="Cambria Math" panose="02040503050406030204" pitchFamily="18" charset="0"/>
                                </a:rPr>
                                <m:t>𝜏</m:t>
                              </m:r>
                            </m:e>
                            <m:sup>
                              <m:r>
                                <a:rPr lang="en-US" sz="1800" b="0" i="1" smtClean="0">
                                  <a:solidFill>
                                    <a:srgbClr val="FF0000"/>
                                  </a:solidFill>
                                  <a:latin typeface="Cambria Math" panose="02040503050406030204" pitchFamily="18" charset="0"/>
                                  <a:ea typeface="Cambria Math" panose="02040503050406030204" pitchFamily="18" charset="0"/>
                                </a:rPr>
                                <m:t>2</m:t>
                              </m:r>
                            </m:sup>
                          </m:sSup>
                        </m:num>
                        <m:den>
                          <m:sSup>
                            <m:sSupPr>
                              <m:ctrlPr>
                                <a:rPr lang="en-US" sz="1800" i="1" smtClean="0">
                                  <a:solidFill>
                                    <a:srgbClr val="FF0000"/>
                                  </a:solidFill>
                                  <a:latin typeface="Cambria Math" panose="02040503050406030204" pitchFamily="18" charset="0"/>
                                  <a:ea typeface="Cambria Math" panose="02040503050406030204" pitchFamily="18" charset="0"/>
                                </a:rPr>
                              </m:ctrlPr>
                            </m:sSupPr>
                            <m:e>
                              <m:r>
                                <a:rPr lang="en-US" sz="1800" i="1" smtClean="0">
                                  <a:solidFill>
                                    <a:srgbClr val="FF0000"/>
                                  </a:solidFill>
                                  <a:latin typeface="Cambria Math" panose="02040503050406030204" pitchFamily="18" charset="0"/>
                                  <a:ea typeface="Cambria Math" panose="02040503050406030204" pitchFamily="18" charset="0"/>
                                </a:rPr>
                                <m:t>𝜇</m:t>
                              </m:r>
                            </m:e>
                            <m:sup>
                              <m:r>
                                <a:rPr lang="en-US" sz="1800" b="0" i="1" smtClean="0">
                                  <a:solidFill>
                                    <a:srgbClr val="FF0000"/>
                                  </a:solidFill>
                                  <a:latin typeface="Cambria Math" panose="02040503050406030204" pitchFamily="18" charset="0"/>
                                  <a:ea typeface="Cambria Math" panose="02040503050406030204" pitchFamily="18" charset="0"/>
                                </a:rPr>
                                <m:t>−1/2</m:t>
                              </m:r>
                            </m:sup>
                          </m:sSup>
                          <m:sSubSup>
                            <m:sSubSupPr>
                              <m:ctrlPr>
                                <a:rPr lang="en-US" sz="1800" i="1" smtClean="0">
                                  <a:solidFill>
                                    <a:srgbClr val="FF0000"/>
                                  </a:solidFill>
                                  <a:latin typeface="Cambria Math" panose="02040503050406030204" pitchFamily="18" charset="0"/>
                                  <a:ea typeface="Cambria Math" panose="02040503050406030204" pitchFamily="18" charset="0"/>
                                </a:rPr>
                              </m:ctrlPr>
                            </m:sSubSupPr>
                            <m:e>
                              <m:r>
                                <a:rPr lang="en-US" sz="1800" i="1" smtClean="0">
                                  <a:solidFill>
                                    <a:srgbClr val="FF0000"/>
                                  </a:solidFill>
                                  <a:latin typeface="Cambria Math" panose="02040503050406030204" pitchFamily="18" charset="0"/>
                                  <a:ea typeface="Cambria Math" panose="02040503050406030204" pitchFamily="18" charset="0"/>
                                </a:rPr>
                                <m:t>𝜀</m:t>
                              </m:r>
                            </m:e>
                            <m:sub>
                              <m:r>
                                <a:rPr lang="en-US" sz="1800" b="0" i="1" smtClean="0">
                                  <a:solidFill>
                                    <a:srgbClr val="FF0000"/>
                                  </a:solidFill>
                                  <a:latin typeface="Cambria Math" panose="02040503050406030204" pitchFamily="18" charset="0"/>
                                  <a:ea typeface="Cambria Math" panose="02040503050406030204" pitchFamily="18" charset="0"/>
                                </a:rPr>
                                <m:t>𝐹</m:t>
                              </m:r>
                            </m:sub>
                            <m:sup>
                              <m:r>
                                <a:rPr lang="en-US" sz="1800" b="0" i="1" smtClean="0">
                                  <a:solidFill>
                                    <a:srgbClr val="FF0000"/>
                                  </a:solidFill>
                                  <a:latin typeface="Cambria Math" panose="02040503050406030204" pitchFamily="18" charset="0"/>
                                  <a:ea typeface="Cambria Math" panose="02040503050406030204" pitchFamily="18" charset="0"/>
                                </a:rPr>
                                <m:t>3/2</m:t>
                              </m:r>
                            </m:sup>
                          </m:sSubSup>
                        </m:den>
                      </m:f>
                      <m:r>
                        <a:rPr lang="en-US" sz="1800" b="0" i="1" smtClean="0">
                          <a:latin typeface="Cambria Math" panose="02040503050406030204" pitchFamily="18" charset="0"/>
                          <a:ea typeface="Cambria Math" panose="02040503050406030204" pitchFamily="18" charset="0"/>
                        </a:rPr>
                        <m:t>+…</m:t>
                      </m:r>
                    </m:oMath>
                  </m:oMathPara>
                </a14:m>
                <a:endParaRPr lang="en-CN" sz="1800" dirty="0"/>
              </a:p>
              <a:p>
                <a:pPr algn="ctr"/>
                <a14:m>
                  <m:oMath xmlns:m="http://schemas.openxmlformats.org/officeDocument/2006/math">
                    <m:r>
                      <a:rPr lang="en-US" sz="1800" b="0" i="1" smtClean="0">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3</m:t>
                        </m:r>
                      </m:num>
                      <m:den>
                        <m:r>
                          <a:rPr lang="en-US" i="1">
                            <a:latin typeface="Cambria Math" panose="02040503050406030204" pitchFamily="18" charset="0"/>
                          </a:rPr>
                          <m:t>5</m:t>
                        </m:r>
                      </m:den>
                    </m:f>
                    <m:r>
                      <a:rPr lang="en-US" i="1">
                        <a:latin typeface="Cambria Math" panose="02040503050406030204" pitchFamily="18" charset="0"/>
                      </a:rPr>
                      <m:t>𝑁</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𝐹</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2</m:t>
                            </m:r>
                          </m:sup>
                        </m:sSup>
                      </m:num>
                      <m:den>
                        <m:r>
                          <a:rPr lang="en-US" b="0" i="1" smtClean="0">
                            <a:latin typeface="Cambria Math" panose="02040503050406030204" pitchFamily="18" charset="0"/>
                          </a:rPr>
                          <m:t>4</m:t>
                        </m:r>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𝜏</m:t>
                            </m:r>
                          </m:e>
                          <m:sup>
                            <m:r>
                              <a:rPr lang="en-US" b="0" i="1" smtClean="0">
                                <a:latin typeface="Cambria Math" panose="02040503050406030204" pitchFamily="18" charset="0"/>
                              </a:rPr>
                              <m:t>2</m:t>
                            </m:r>
                          </m:sup>
                        </m:sSup>
                      </m:num>
                      <m:den>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𝐹</m:t>
                            </m:r>
                          </m:sub>
                        </m:sSub>
                      </m:den>
                    </m:f>
                    <m:r>
                      <a:rPr lang="en-US" b="0" i="1" smtClean="0">
                        <a:latin typeface="Cambria Math" panose="02040503050406030204" pitchFamily="18" charset="0"/>
                      </a:rPr>
                      <m:t>+…</m:t>
                    </m:r>
                  </m:oMath>
                </a14:m>
                <a:endParaRPr lang="en-CN" sz="1800" dirty="0"/>
              </a:p>
            </p:txBody>
          </p:sp>
        </mc:Choice>
        <mc:Fallback xmlns="">
          <p:sp>
            <p:nvSpPr>
              <p:cNvPr id="6" name="TextBox 5">
                <a:extLst>
                  <a:ext uri="{FF2B5EF4-FFF2-40B4-BE49-F238E27FC236}">
                    <a16:creationId xmlns:a16="http://schemas.microsoft.com/office/drawing/2014/main" id="{8AC8799A-14D0-1645-B435-A5FCF7648454}"/>
                  </a:ext>
                </a:extLst>
              </p:cNvPr>
              <p:cNvSpPr txBox="1">
                <a:spLocks noRot="1" noChangeAspect="1" noMove="1" noResize="1" noEditPoints="1" noAdjustHandles="1" noChangeArrowheads="1" noChangeShapeType="1" noTextEdit="1"/>
              </p:cNvSpPr>
              <p:nvPr/>
            </p:nvSpPr>
            <p:spPr>
              <a:xfrm>
                <a:off x="1302328" y="2801674"/>
                <a:ext cx="8589818" cy="1265988"/>
              </a:xfrm>
              <a:prstGeom prst="rect">
                <a:avLst/>
              </a:prstGeom>
              <a:blipFill>
                <a:blip r:embed="rId4"/>
                <a:stretch>
                  <a:fillRect/>
                </a:stretch>
              </a:blipFill>
            </p:spPr>
            <p:txBody>
              <a:bodyPr/>
              <a:lstStyle/>
              <a:p>
                <a:r>
                  <a:rPr lang="en-CN">
                    <a:noFill/>
                  </a:rPr>
                  <a:t> </a:t>
                </a:r>
              </a:p>
            </p:txBody>
          </p:sp>
        </mc:Fallback>
      </mc:AlternateContent>
      <p:pic>
        <p:nvPicPr>
          <p:cNvPr id="2" name="Picture 1">
            <a:extLst>
              <a:ext uri="{FF2B5EF4-FFF2-40B4-BE49-F238E27FC236}">
                <a16:creationId xmlns:a16="http://schemas.microsoft.com/office/drawing/2014/main" id="{18E7CA9F-E13F-B2D2-87D9-CBADD15AEDAF}"/>
              </a:ext>
            </a:extLst>
          </p:cNvPr>
          <p:cNvPicPr>
            <a:picLocks noChangeAspect="1"/>
          </p:cNvPicPr>
          <p:nvPr/>
        </p:nvPicPr>
        <p:blipFill>
          <a:blip r:embed="rId5"/>
          <a:stretch>
            <a:fillRect/>
          </a:stretch>
        </p:blipFill>
        <p:spPr>
          <a:xfrm>
            <a:off x="7456516" y="3918308"/>
            <a:ext cx="4401012" cy="2736492"/>
          </a:xfrm>
          <a:prstGeom prst="rect">
            <a:avLst/>
          </a:prstGeom>
        </p:spPr>
      </p:pic>
      <p:pic>
        <p:nvPicPr>
          <p:cNvPr id="5" name="Picture 4">
            <a:extLst>
              <a:ext uri="{FF2B5EF4-FFF2-40B4-BE49-F238E27FC236}">
                <a16:creationId xmlns:a16="http://schemas.microsoft.com/office/drawing/2014/main" id="{F459B7DC-09FB-AEAB-EF2C-DDE737789262}"/>
              </a:ext>
            </a:extLst>
          </p:cNvPr>
          <p:cNvPicPr>
            <a:picLocks noChangeAspect="1"/>
          </p:cNvPicPr>
          <p:nvPr/>
        </p:nvPicPr>
        <p:blipFill>
          <a:blip r:embed="rId6"/>
          <a:stretch>
            <a:fillRect/>
          </a:stretch>
        </p:blipFill>
        <p:spPr>
          <a:xfrm>
            <a:off x="334472" y="4937760"/>
            <a:ext cx="7156079" cy="1657006"/>
          </a:xfrm>
          <a:prstGeom prst="rect">
            <a:avLst/>
          </a:prstGeom>
        </p:spPr>
      </p:pic>
    </p:spTree>
    <p:extLst>
      <p:ext uri="{BB962C8B-B14F-4D97-AF65-F5344CB8AC3E}">
        <p14:creationId xmlns:p14="http://schemas.microsoft.com/office/powerpoint/2010/main" val="1547313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B3E6DC5-B954-D441-8E74-7F29D6D3062E}"/>
                  </a:ext>
                </a:extLst>
              </p:cNvPr>
              <p:cNvSpPr txBox="1"/>
              <p:nvPr/>
            </p:nvSpPr>
            <p:spPr>
              <a:xfrm>
                <a:off x="2715490" y="312259"/>
                <a:ext cx="6096000" cy="7829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𝑁</m:t>
                      </m:r>
                      <m:r>
                        <a:rPr lang="en-US" sz="1800" b="0" i="1" smtClean="0">
                          <a:latin typeface="Cambria Math" panose="02040503050406030204" pitchFamily="18" charset="0"/>
                        </a:rPr>
                        <m:t>=</m:t>
                      </m:r>
                      <m:nary>
                        <m:naryPr>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m:t>
                          </m:r>
                        </m:sup>
                        <m:e>
                          <m:r>
                            <a:rPr lang="en-US" sz="1800" b="0" i="1" smtClean="0">
                              <a:latin typeface="Cambria Math" panose="02040503050406030204" pitchFamily="18" charset="0"/>
                            </a:rPr>
                            <m:t>𝑑</m:t>
                          </m:r>
                          <m:r>
                            <a:rPr lang="en-US" sz="1800" b="0" i="1" smtClean="0">
                              <a:latin typeface="Cambria Math" panose="02040503050406030204" pitchFamily="18" charset="0"/>
                              <a:ea typeface="Cambria Math" panose="02040503050406030204" pitchFamily="18" charset="0"/>
                            </a:rPr>
                            <m:t>𝜀</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𝐷</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𝜀</m:t>
                              </m:r>
                            </m:e>
                          </m:d>
                          <m:r>
                            <a:rPr lang="en-US" sz="1800" b="0" i="1" smtClean="0">
                              <a:latin typeface="Cambria Math" panose="02040503050406030204" pitchFamily="18" charset="0"/>
                              <a:ea typeface="Cambria Math" panose="02040503050406030204" pitchFamily="18" charset="0"/>
                            </a:rPr>
                            <m:t>𝑓</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𝜀</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𝜇</m:t>
                          </m:r>
                          <m:r>
                            <a:rPr lang="en-US" sz="1800" b="0" i="1" smtClean="0">
                              <a:latin typeface="Cambria Math" panose="02040503050406030204" pitchFamily="18" charset="0"/>
                              <a:ea typeface="Cambria Math" panose="02040503050406030204" pitchFamily="18" charset="0"/>
                            </a:rPr>
                            <m:t>)</m:t>
                          </m:r>
                        </m:e>
                      </m:nary>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2</m:t>
                          </m:r>
                        </m:num>
                        <m:den>
                          <m:r>
                            <a:rPr lang="en-US" sz="1800" b="0" i="1" smtClean="0">
                              <a:latin typeface="Cambria Math" panose="02040503050406030204" pitchFamily="18" charset="0"/>
                              <a:ea typeface="Cambria Math" panose="02040503050406030204" pitchFamily="18" charset="0"/>
                            </a:rPr>
                            <m:t>3</m:t>
                          </m:r>
                        </m:den>
                      </m:f>
                      <m:r>
                        <a:rPr lang="en-US" sz="1800" b="0" i="1" smtClean="0">
                          <a:latin typeface="Cambria Math" panose="02040503050406030204" pitchFamily="18" charset="0"/>
                          <a:ea typeface="Cambria Math" panose="02040503050406030204" pitchFamily="18" charset="0"/>
                        </a:rPr>
                        <m:t>𝑁</m:t>
                      </m:r>
                      <m:nary>
                        <m:naryPr>
                          <m:ctrlPr>
                            <a:rPr lang="en-US" sz="1800" b="0" i="1" smtClean="0">
                              <a:latin typeface="Cambria Math" panose="02040503050406030204" pitchFamily="18" charset="0"/>
                              <a:ea typeface="Cambria Math" panose="02040503050406030204" pitchFamily="18" charset="0"/>
                            </a:rPr>
                          </m:ctrlPr>
                        </m:naryPr>
                        <m:sub>
                          <m:r>
                            <m:rPr>
                              <m:brk m:alnAt="23"/>
                            </m:rP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m:t>
                          </m:r>
                        </m:sup>
                        <m:e>
                          <m:r>
                            <a:rPr lang="en-US" sz="1800" b="0" i="1" smtClean="0">
                              <a:latin typeface="Cambria Math" panose="02040503050406030204" pitchFamily="18" charset="0"/>
                              <a:ea typeface="Cambria Math" panose="02040503050406030204" pitchFamily="18" charset="0"/>
                            </a:rPr>
                            <m:t>𝑑</m:t>
                          </m:r>
                          <m:r>
                            <a:rPr lang="en-US" sz="1800" b="0" i="1" smtClean="0">
                              <a:latin typeface="Cambria Math" panose="02040503050406030204" pitchFamily="18" charset="0"/>
                              <a:ea typeface="Cambria Math" panose="02040503050406030204" pitchFamily="18" charset="0"/>
                            </a:rPr>
                            <m:t>𝜀</m:t>
                          </m:r>
                          <m:r>
                            <a:rPr lang="en-US" sz="1800" b="0" i="1" smtClean="0">
                              <a:latin typeface="Cambria Math" panose="02040503050406030204" pitchFamily="18" charset="0"/>
                              <a:ea typeface="Cambria Math" panose="02040503050406030204" pitchFamily="18" charset="0"/>
                            </a:rPr>
                            <m:t> </m:t>
                          </m:r>
                          <m:f>
                            <m:fPr>
                              <m:ctrlPr>
                                <a:rPr lang="en-US" sz="1800" b="0" i="1" smtClean="0">
                                  <a:latin typeface="Cambria Math" panose="02040503050406030204" pitchFamily="18" charset="0"/>
                                  <a:ea typeface="Cambria Math" panose="02040503050406030204" pitchFamily="18" charset="0"/>
                                </a:rPr>
                              </m:ctrlPr>
                            </m:fPr>
                            <m:num>
                              <m:rad>
                                <m:radPr>
                                  <m:degHide m:val="on"/>
                                  <m:ctrlPr>
                                    <a:rPr lang="en-US" sz="1800" b="0" i="1" smtClean="0">
                                      <a:latin typeface="Cambria Math" panose="02040503050406030204" pitchFamily="18" charset="0"/>
                                      <a:ea typeface="Cambria Math" panose="02040503050406030204" pitchFamily="18" charset="0"/>
                                    </a:rPr>
                                  </m:ctrlPr>
                                </m:radPr>
                                <m:deg/>
                                <m:e>
                                  <m:r>
                                    <a:rPr lang="en-US" sz="1800" b="0" i="1" smtClean="0">
                                      <a:latin typeface="Cambria Math" panose="02040503050406030204" pitchFamily="18" charset="0"/>
                                      <a:ea typeface="Cambria Math" panose="02040503050406030204" pitchFamily="18" charset="0"/>
                                    </a:rPr>
                                    <m:t>𝜀</m:t>
                                  </m:r>
                                </m:e>
                              </m:rad>
                            </m:num>
                            <m:den>
                              <m:sSubSup>
                                <m:sSubSupPr>
                                  <m:ctrlPr>
                                    <a:rPr lang="en-US" sz="1800" b="0" i="1" smtClean="0">
                                      <a:latin typeface="Cambria Math" panose="02040503050406030204" pitchFamily="18" charset="0"/>
                                      <a:ea typeface="Cambria Math" panose="02040503050406030204" pitchFamily="18" charset="0"/>
                                    </a:rPr>
                                  </m:ctrlPr>
                                </m:sSubSupPr>
                                <m:e>
                                  <m:r>
                                    <a:rPr lang="en-US" sz="1800" b="0" i="1" smtClean="0">
                                      <a:latin typeface="Cambria Math" panose="02040503050406030204" pitchFamily="18" charset="0"/>
                                      <a:ea typeface="Cambria Math" panose="02040503050406030204" pitchFamily="18" charset="0"/>
                                    </a:rPr>
                                    <m:t>𝜀</m:t>
                                  </m:r>
                                </m:e>
                                <m:sub>
                                  <m:r>
                                    <a:rPr lang="en-US" sz="1800" b="0" i="1" smtClean="0">
                                      <a:latin typeface="Cambria Math" panose="02040503050406030204" pitchFamily="18" charset="0"/>
                                      <a:ea typeface="Cambria Math" panose="02040503050406030204" pitchFamily="18" charset="0"/>
                                    </a:rPr>
                                    <m:t>𝐹</m:t>
                                  </m:r>
                                </m:sub>
                                <m:sup>
                                  <m:r>
                                    <a:rPr lang="en-US" sz="1800" b="0" i="1" smtClean="0">
                                      <a:latin typeface="Cambria Math" panose="02040503050406030204" pitchFamily="18" charset="0"/>
                                      <a:ea typeface="Cambria Math" panose="02040503050406030204" pitchFamily="18" charset="0"/>
                                    </a:rPr>
                                    <m:t>3/2</m:t>
                                  </m:r>
                                </m:sup>
                              </m:sSubSup>
                            </m:den>
                          </m:f>
                          <m:r>
                            <a:rPr lang="en-US" sz="1800" b="0" i="1" smtClean="0">
                              <a:latin typeface="Cambria Math" panose="02040503050406030204" pitchFamily="18" charset="0"/>
                              <a:ea typeface="Cambria Math" panose="02040503050406030204" pitchFamily="18" charset="0"/>
                            </a:rPr>
                            <m:t> </m:t>
                          </m:r>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m:t>
                              </m:r>
                            </m:num>
                            <m:den>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𝑒</m:t>
                                  </m:r>
                                </m:e>
                                <m:sup>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𝜀</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𝜇</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𝜏</m:t>
                                  </m:r>
                                </m:sup>
                              </m:sSup>
                              <m:r>
                                <a:rPr lang="en-US" sz="1800" b="0" i="1" smtClean="0">
                                  <a:latin typeface="Cambria Math" panose="02040503050406030204" pitchFamily="18" charset="0"/>
                                  <a:ea typeface="Cambria Math" panose="02040503050406030204" pitchFamily="18" charset="0"/>
                                </a:rPr>
                                <m:t>+1</m:t>
                              </m:r>
                            </m:den>
                          </m:f>
                        </m:e>
                      </m:nary>
                    </m:oMath>
                  </m:oMathPara>
                </a14:m>
                <a:endParaRPr lang="en-CN" dirty="0"/>
              </a:p>
            </p:txBody>
          </p:sp>
        </mc:Choice>
        <mc:Fallback xmlns="">
          <p:sp>
            <p:nvSpPr>
              <p:cNvPr id="3" name="TextBox 2">
                <a:extLst>
                  <a:ext uri="{FF2B5EF4-FFF2-40B4-BE49-F238E27FC236}">
                    <a16:creationId xmlns:a16="http://schemas.microsoft.com/office/drawing/2014/main" id="{3B3E6DC5-B954-D441-8E74-7F29D6D3062E}"/>
                  </a:ext>
                </a:extLst>
              </p:cNvPr>
              <p:cNvSpPr txBox="1">
                <a:spLocks noRot="1" noChangeAspect="1" noMove="1" noResize="1" noEditPoints="1" noAdjustHandles="1" noChangeArrowheads="1" noChangeShapeType="1" noTextEdit="1"/>
              </p:cNvSpPr>
              <p:nvPr/>
            </p:nvSpPr>
            <p:spPr>
              <a:xfrm>
                <a:off x="2715490" y="312259"/>
                <a:ext cx="6096000" cy="782971"/>
              </a:xfrm>
              <a:prstGeom prst="rect">
                <a:avLst/>
              </a:prstGeom>
              <a:blipFill>
                <a:blip r:embed="rId2"/>
                <a:stretch>
                  <a:fillRect l="-3326" t="-136508" b="-19841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19CA24D-E6FE-FE48-BBF4-B855CF812A25}"/>
                  </a:ext>
                </a:extLst>
              </p:cNvPr>
              <p:cNvSpPr txBox="1"/>
              <p:nvPr/>
            </p:nvSpPr>
            <p:spPr>
              <a:xfrm>
                <a:off x="775855" y="1399309"/>
                <a:ext cx="9698181" cy="3195747"/>
              </a:xfrm>
              <a:prstGeom prst="rect">
                <a:avLst/>
              </a:prstGeom>
              <a:noFill/>
            </p:spPr>
            <p:txBody>
              <a:bodyPr wrap="square" rtlCol="0">
                <a:spAutoFit/>
              </a:bodyPr>
              <a:lstStyle/>
              <a:p>
                <a:r>
                  <a:rPr lang="en-CN" dirty="0"/>
                  <a:t>Normalize temperature and chemical potential by fermi energy</a:t>
                </a:r>
              </a:p>
              <a:p>
                <a:pPr algn="ctr"/>
                <a14:m>
                  <m:oMathPara xmlns:m="http://schemas.openxmlformats.org/officeDocument/2006/math">
                    <m:oMathParaPr>
                      <m:jc m:val="centerGroup"/>
                    </m:oMathParaPr>
                    <m:oMath xmlns:m="http://schemas.openxmlformats.org/officeDocument/2006/math">
                      <m:acc>
                        <m:accPr>
                          <m:chr m:val="̅"/>
                          <m:ctrlPr>
                            <a:rPr lang="en-CN" i="1" smtClean="0">
                              <a:latin typeface="Cambria Math" panose="02040503050406030204" pitchFamily="18" charset="0"/>
                            </a:rPr>
                          </m:ctrlPr>
                        </m:accPr>
                        <m:e>
                          <m:r>
                            <a:rPr lang="en-CN" i="1" smtClean="0">
                              <a:latin typeface="Cambria Math" panose="02040503050406030204" pitchFamily="18" charset="0"/>
                              <a:ea typeface="Cambria Math" panose="02040503050406030204" pitchFamily="18" charset="0"/>
                            </a:rPr>
                            <m:t>𝜏</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𝐹</m:t>
                              </m:r>
                            </m:sub>
                          </m:sSub>
                        </m:den>
                      </m:f>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𝜇</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𝜇</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𝐹</m:t>
                              </m:r>
                            </m:sub>
                          </m:sSub>
                        </m:den>
                      </m:f>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𝜀</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𝜀</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𝐹</m:t>
                              </m:r>
                            </m:sub>
                          </m:sSub>
                        </m:den>
                      </m:f>
                    </m:oMath>
                  </m:oMathPara>
                </a14:m>
                <a:endParaRPr lang="en-CN" dirty="0"/>
              </a:p>
              <a:p>
                <a:r>
                  <a:rPr lang="en-CN" dirty="0"/>
                  <a:t>We get the following equation</a:t>
                </a:r>
              </a:p>
              <a:p>
                <a:endParaRPr lang="en-CN" dirty="0"/>
              </a:p>
              <a:p>
                <a:pPr algn="ct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1=</m:t>
                      </m:r>
                      <m:nary>
                        <m:naryPr>
                          <m:ctrlPr>
                            <a:rPr lang="en-US" sz="3600" b="0" i="1" smtClean="0">
                              <a:latin typeface="Cambria Math" panose="02040503050406030204" pitchFamily="18" charset="0"/>
                            </a:rPr>
                          </m:ctrlPr>
                        </m:naryPr>
                        <m:sub>
                          <m:r>
                            <m:rPr>
                              <m:brk m:alnAt="23"/>
                            </m:rPr>
                            <a:rPr lang="en-US" sz="3600" b="0" i="1" smtClean="0">
                              <a:latin typeface="Cambria Math" panose="02040503050406030204" pitchFamily="18" charset="0"/>
                            </a:rPr>
                            <m:t>0</m:t>
                          </m:r>
                        </m:sub>
                        <m:sup>
                          <m:r>
                            <a:rPr lang="en-US" sz="3600" b="0" i="1" smtClean="0">
                              <a:latin typeface="Cambria Math" panose="02040503050406030204" pitchFamily="18" charset="0"/>
                              <a:ea typeface="Cambria Math" panose="02040503050406030204" pitchFamily="18" charset="0"/>
                            </a:rPr>
                            <m:t>∞</m:t>
                          </m:r>
                        </m:sup>
                        <m:e>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3</m:t>
                              </m:r>
                            </m:num>
                            <m:den>
                              <m:r>
                                <a:rPr lang="en-US" sz="3600" b="0" i="1" smtClean="0">
                                  <a:latin typeface="Cambria Math" panose="02040503050406030204" pitchFamily="18" charset="0"/>
                                </a:rPr>
                                <m:t>2</m:t>
                              </m:r>
                            </m:den>
                          </m:f>
                          <m:r>
                            <a:rPr lang="en-US" sz="3600" b="0" i="1" smtClean="0">
                              <a:latin typeface="Cambria Math" panose="02040503050406030204" pitchFamily="18" charset="0"/>
                            </a:rPr>
                            <m:t> </m:t>
                          </m:r>
                          <m:rad>
                            <m:radPr>
                              <m:degHide m:val="on"/>
                              <m:ctrlPr>
                                <a:rPr lang="en-US" sz="3600" b="0" i="1" smtClean="0">
                                  <a:latin typeface="Cambria Math" panose="02040503050406030204" pitchFamily="18" charset="0"/>
                                </a:rPr>
                              </m:ctrlPr>
                            </m:radPr>
                            <m:deg/>
                            <m:e>
                              <m:acc>
                                <m:accPr>
                                  <m:chr m:val="̅"/>
                                  <m:ctrlPr>
                                    <a:rPr lang="en-US" sz="3600" b="0" i="1" smtClean="0">
                                      <a:latin typeface="Cambria Math" panose="02040503050406030204" pitchFamily="18" charset="0"/>
                                    </a:rPr>
                                  </m:ctrlPr>
                                </m:accPr>
                                <m:e>
                                  <m:r>
                                    <a:rPr lang="en-US" sz="3600" b="0" i="1" smtClean="0">
                                      <a:latin typeface="Cambria Math" panose="02040503050406030204" pitchFamily="18" charset="0"/>
                                      <a:ea typeface="Cambria Math" panose="02040503050406030204" pitchFamily="18" charset="0"/>
                                    </a:rPr>
                                    <m:t>𝜀</m:t>
                                  </m:r>
                                </m:e>
                              </m:acc>
                            </m:e>
                          </m:rad>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num>
                            <m:den>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𝑒</m:t>
                                  </m:r>
                                </m:e>
                                <m:sup>
                                  <m:r>
                                    <a:rPr lang="en-US" sz="3600" b="0" i="1" smtClean="0">
                                      <a:latin typeface="Cambria Math" panose="02040503050406030204" pitchFamily="18" charset="0"/>
                                    </a:rPr>
                                    <m:t>(</m:t>
                                  </m:r>
                                  <m:acc>
                                    <m:accPr>
                                      <m:chr m:val="̅"/>
                                      <m:ctrlPr>
                                        <a:rPr lang="en-US" sz="3600" b="0" i="1" smtClean="0">
                                          <a:latin typeface="Cambria Math" panose="02040503050406030204" pitchFamily="18" charset="0"/>
                                        </a:rPr>
                                      </m:ctrlPr>
                                    </m:accPr>
                                    <m:e>
                                      <m:r>
                                        <a:rPr lang="en-US" sz="3600" b="0" i="1" smtClean="0">
                                          <a:latin typeface="Cambria Math" panose="02040503050406030204" pitchFamily="18" charset="0"/>
                                          <a:ea typeface="Cambria Math" panose="02040503050406030204" pitchFamily="18" charset="0"/>
                                        </a:rPr>
                                        <m:t>𝜀</m:t>
                                      </m:r>
                                    </m:e>
                                  </m:acc>
                                  <m:r>
                                    <a:rPr lang="en-US" sz="3600" b="0" i="1" smtClean="0">
                                      <a:latin typeface="Cambria Math" panose="02040503050406030204" pitchFamily="18" charset="0"/>
                                    </a:rPr>
                                    <m:t>−</m:t>
                                  </m:r>
                                  <m:acc>
                                    <m:accPr>
                                      <m:chr m:val="̅"/>
                                      <m:ctrlPr>
                                        <a:rPr lang="en-US" sz="3600" b="0" i="1" smtClean="0">
                                          <a:latin typeface="Cambria Math" panose="02040503050406030204" pitchFamily="18" charset="0"/>
                                        </a:rPr>
                                      </m:ctrlPr>
                                    </m:accPr>
                                    <m:e>
                                      <m:r>
                                        <a:rPr lang="en-US" sz="3600" b="0" i="1" smtClean="0">
                                          <a:latin typeface="Cambria Math" panose="02040503050406030204" pitchFamily="18" charset="0"/>
                                          <a:ea typeface="Cambria Math" panose="02040503050406030204" pitchFamily="18" charset="0"/>
                                        </a:rPr>
                                        <m:t>𝜇</m:t>
                                      </m:r>
                                    </m:e>
                                  </m:acc>
                                  <m:r>
                                    <a:rPr lang="en-US" sz="3600" b="0" i="1" smtClean="0">
                                      <a:latin typeface="Cambria Math" panose="02040503050406030204" pitchFamily="18" charset="0"/>
                                    </a:rPr>
                                    <m:t>)/</m:t>
                                  </m:r>
                                  <m:acc>
                                    <m:accPr>
                                      <m:chr m:val="̅"/>
                                      <m:ctrlPr>
                                        <a:rPr lang="en-US" sz="3600" b="0" i="1" smtClean="0">
                                          <a:latin typeface="Cambria Math" panose="02040503050406030204" pitchFamily="18" charset="0"/>
                                        </a:rPr>
                                      </m:ctrlPr>
                                    </m:accPr>
                                    <m:e>
                                      <m:r>
                                        <a:rPr lang="en-US" sz="3600" b="0" i="1" smtClean="0">
                                          <a:latin typeface="Cambria Math" panose="02040503050406030204" pitchFamily="18" charset="0"/>
                                          <a:ea typeface="Cambria Math" panose="02040503050406030204" pitchFamily="18" charset="0"/>
                                        </a:rPr>
                                        <m:t>𝜏</m:t>
                                      </m:r>
                                    </m:e>
                                  </m:acc>
                                </m:sup>
                              </m:sSup>
                              <m:r>
                                <a:rPr lang="en-US" sz="3600" b="0" i="1" smtClean="0">
                                  <a:latin typeface="Cambria Math" panose="02040503050406030204" pitchFamily="18" charset="0"/>
                                </a:rPr>
                                <m:t>+1</m:t>
                              </m:r>
                            </m:den>
                          </m:f>
                          <m:r>
                            <a:rPr lang="en-US" sz="3600" b="0" i="1" smtClean="0">
                              <a:latin typeface="Cambria Math" panose="02040503050406030204" pitchFamily="18" charset="0"/>
                            </a:rPr>
                            <m:t>𝑑</m:t>
                          </m:r>
                          <m:acc>
                            <m:accPr>
                              <m:chr m:val="̅"/>
                              <m:ctrlPr>
                                <a:rPr lang="en-US" sz="3600" b="0" i="1" smtClean="0">
                                  <a:latin typeface="Cambria Math" panose="02040503050406030204" pitchFamily="18" charset="0"/>
                                </a:rPr>
                              </m:ctrlPr>
                            </m:accPr>
                            <m:e>
                              <m:r>
                                <a:rPr lang="en-US" sz="3600" b="0" i="1" smtClean="0">
                                  <a:latin typeface="Cambria Math" panose="02040503050406030204" pitchFamily="18" charset="0"/>
                                  <a:ea typeface="Cambria Math" panose="02040503050406030204" pitchFamily="18" charset="0"/>
                                </a:rPr>
                                <m:t>𝜀</m:t>
                              </m:r>
                            </m:e>
                          </m:acc>
                        </m:e>
                      </m:nary>
                    </m:oMath>
                  </m:oMathPara>
                </a14:m>
                <a:endParaRPr lang="en-CN" sz="3600" dirty="0"/>
              </a:p>
              <a:p>
                <a:pPr algn="ctr"/>
                <a:endParaRPr lang="en-CN" dirty="0"/>
              </a:p>
              <a:p>
                <a:pPr algn="ctr"/>
                <a:endParaRPr lang="en-CN" dirty="0"/>
              </a:p>
            </p:txBody>
          </p:sp>
        </mc:Choice>
        <mc:Fallback xmlns="">
          <p:sp>
            <p:nvSpPr>
              <p:cNvPr id="4" name="TextBox 3">
                <a:extLst>
                  <a:ext uri="{FF2B5EF4-FFF2-40B4-BE49-F238E27FC236}">
                    <a16:creationId xmlns:a16="http://schemas.microsoft.com/office/drawing/2014/main" id="{B19CA24D-E6FE-FE48-BBF4-B855CF812A25}"/>
                  </a:ext>
                </a:extLst>
              </p:cNvPr>
              <p:cNvSpPr txBox="1">
                <a:spLocks noRot="1" noChangeAspect="1" noMove="1" noResize="1" noEditPoints="1" noAdjustHandles="1" noChangeArrowheads="1" noChangeShapeType="1" noTextEdit="1"/>
              </p:cNvSpPr>
              <p:nvPr/>
            </p:nvSpPr>
            <p:spPr>
              <a:xfrm>
                <a:off x="775855" y="1399309"/>
                <a:ext cx="9698181" cy="3195747"/>
              </a:xfrm>
              <a:prstGeom prst="rect">
                <a:avLst/>
              </a:prstGeom>
              <a:blipFill>
                <a:blip r:embed="rId3"/>
                <a:stretch>
                  <a:fillRect l="-392" t="-29365" b="-84921"/>
                </a:stretch>
              </a:blipFill>
            </p:spPr>
            <p:txBody>
              <a:bodyPr/>
              <a:lstStyle/>
              <a:p>
                <a:r>
                  <a:rPr lang="en-CN">
                    <a:noFill/>
                  </a:rPr>
                  <a:t> </a:t>
                </a:r>
              </a:p>
            </p:txBody>
          </p:sp>
        </mc:Fallback>
      </mc:AlternateContent>
      <p:sp>
        <p:nvSpPr>
          <p:cNvPr id="5" name="Down Arrow 4">
            <a:extLst>
              <a:ext uri="{FF2B5EF4-FFF2-40B4-BE49-F238E27FC236}">
                <a16:creationId xmlns:a16="http://schemas.microsoft.com/office/drawing/2014/main" id="{DD38F965-DD46-C942-9E81-3C3E14DD8B94}"/>
              </a:ext>
            </a:extLst>
          </p:cNvPr>
          <p:cNvSpPr/>
          <p:nvPr/>
        </p:nvSpPr>
        <p:spPr>
          <a:xfrm>
            <a:off x="5444836" y="4114800"/>
            <a:ext cx="318655" cy="9559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1BF0FB9-1E5D-EB46-B770-023B7BB8BB82}"/>
                  </a:ext>
                </a:extLst>
              </p:cNvPr>
              <p:cNvSpPr txBox="1"/>
              <p:nvPr/>
            </p:nvSpPr>
            <p:spPr>
              <a:xfrm>
                <a:off x="4225636" y="5237018"/>
                <a:ext cx="2729346"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CN" sz="3600" i="1" smtClean="0">
                              <a:latin typeface="Cambria Math" panose="02040503050406030204" pitchFamily="18" charset="0"/>
                            </a:rPr>
                          </m:ctrlPr>
                        </m:accPr>
                        <m:e>
                          <m:r>
                            <a:rPr lang="en-CN" sz="3600" i="1" smtClean="0">
                              <a:latin typeface="Cambria Math" panose="02040503050406030204" pitchFamily="18" charset="0"/>
                              <a:ea typeface="Cambria Math" panose="02040503050406030204" pitchFamily="18" charset="0"/>
                            </a:rPr>
                            <m:t>𝜇</m:t>
                          </m:r>
                        </m:e>
                      </m:acc>
                      <m:r>
                        <a:rPr lang="en-US" sz="3600" b="0" i="1" smtClean="0">
                          <a:latin typeface="Cambria Math" panose="02040503050406030204" pitchFamily="18" charset="0"/>
                        </a:rPr>
                        <m:t>(</m:t>
                      </m:r>
                      <m:acc>
                        <m:accPr>
                          <m:chr m:val="̅"/>
                          <m:ctrlPr>
                            <a:rPr lang="en-US" sz="3600" b="0" i="1" smtClean="0">
                              <a:latin typeface="Cambria Math" panose="02040503050406030204" pitchFamily="18" charset="0"/>
                            </a:rPr>
                          </m:ctrlPr>
                        </m:accPr>
                        <m:e>
                          <m:r>
                            <a:rPr lang="en-US" sz="3600" b="0" i="1" smtClean="0">
                              <a:latin typeface="Cambria Math" panose="02040503050406030204" pitchFamily="18" charset="0"/>
                              <a:ea typeface="Cambria Math" panose="02040503050406030204" pitchFamily="18" charset="0"/>
                            </a:rPr>
                            <m:t>𝜏</m:t>
                          </m:r>
                        </m:e>
                      </m:acc>
                      <m:r>
                        <a:rPr lang="en-US" sz="3600" b="0" i="1" smtClean="0">
                          <a:latin typeface="Cambria Math" panose="02040503050406030204" pitchFamily="18" charset="0"/>
                        </a:rPr>
                        <m:t>)</m:t>
                      </m:r>
                    </m:oMath>
                  </m:oMathPara>
                </a14:m>
                <a:endParaRPr lang="en-CN" sz="3600" dirty="0"/>
              </a:p>
            </p:txBody>
          </p:sp>
        </mc:Choice>
        <mc:Fallback xmlns="">
          <p:sp>
            <p:nvSpPr>
              <p:cNvPr id="6" name="TextBox 5">
                <a:extLst>
                  <a:ext uri="{FF2B5EF4-FFF2-40B4-BE49-F238E27FC236}">
                    <a16:creationId xmlns:a16="http://schemas.microsoft.com/office/drawing/2014/main" id="{01BF0FB9-1E5D-EB46-B770-023B7BB8BB82}"/>
                  </a:ext>
                </a:extLst>
              </p:cNvPr>
              <p:cNvSpPr txBox="1">
                <a:spLocks noRot="1" noChangeAspect="1" noMove="1" noResize="1" noEditPoints="1" noAdjustHandles="1" noChangeArrowheads="1" noChangeShapeType="1" noTextEdit="1"/>
              </p:cNvSpPr>
              <p:nvPr/>
            </p:nvSpPr>
            <p:spPr>
              <a:xfrm>
                <a:off x="4225636" y="5237018"/>
                <a:ext cx="2729346" cy="646331"/>
              </a:xfrm>
              <a:prstGeom prst="rect">
                <a:avLst/>
              </a:prstGeom>
              <a:blipFill>
                <a:blip r:embed="rId4"/>
                <a:stretch>
                  <a:fillRect b="-2115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DDAD745-3B06-3E44-A637-44FBD90959F4}"/>
                  </a:ext>
                </a:extLst>
              </p:cNvPr>
              <p:cNvSpPr txBox="1"/>
              <p:nvPr/>
            </p:nvSpPr>
            <p:spPr>
              <a:xfrm>
                <a:off x="249381" y="127593"/>
                <a:ext cx="5985164" cy="369332"/>
              </a:xfrm>
              <a:prstGeom prst="rect">
                <a:avLst/>
              </a:prstGeom>
              <a:noFill/>
            </p:spPr>
            <p:txBody>
              <a:bodyPr wrap="square" rtlCol="0">
                <a:spAutoFit/>
              </a:bodyPr>
              <a:lstStyle/>
              <a:p>
                <a:r>
                  <a:rPr lang="en-CN" dirty="0"/>
                  <a:t>Case-II: </a:t>
                </a:r>
                <a14:m>
                  <m:oMath xmlns:m="http://schemas.openxmlformats.org/officeDocument/2006/math">
                    <m:r>
                      <a:rPr lang="en-CN" i="1" smtClean="0">
                        <a:latin typeface="Cambria Math" panose="02040503050406030204" pitchFamily="18" charset="0"/>
                        <a:ea typeface="Cambria Math" panose="02040503050406030204" pitchFamily="18" charset="0"/>
                      </a:rPr>
                      <m:t>𝜏</m:t>
                    </m:r>
                  </m:oMath>
                </a14:m>
                <a:endParaRPr lang="en-CN" dirty="0"/>
              </a:p>
            </p:txBody>
          </p:sp>
        </mc:Choice>
        <mc:Fallback xmlns="">
          <p:sp>
            <p:nvSpPr>
              <p:cNvPr id="7" name="TextBox 6">
                <a:extLst>
                  <a:ext uri="{FF2B5EF4-FFF2-40B4-BE49-F238E27FC236}">
                    <a16:creationId xmlns:a16="http://schemas.microsoft.com/office/drawing/2014/main" id="{3DDAD745-3B06-3E44-A637-44FBD90959F4}"/>
                  </a:ext>
                </a:extLst>
              </p:cNvPr>
              <p:cNvSpPr txBox="1">
                <a:spLocks noRot="1" noChangeAspect="1" noMove="1" noResize="1" noEditPoints="1" noAdjustHandles="1" noChangeArrowheads="1" noChangeShapeType="1" noTextEdit="1"/>
              </p:cNvSpPr>
              <p:nvPr/>
            </p:nvSpPr>
            <p:spPr>
              <a:xfrm>
                <a:off x="249381" y="127593"/>
                <a:ext cx="5985164" cy="369332"/>
              </a:xfrm>
              <a:prstGeom prst="rect">
                <a:avLst/>
              </a:prstGeom>
              <a:blipFill>
                <a:blip r:embed="rId5"/>
                <a:stretch>
                  <a:fillRect l="-846" t="-10000" b="-26667"/>
                </a:stretch>
              </a:blipFill>
            </p:spPr>
            <p:txBody>
              <a:bodyPr/>
              <a:lstStyle/>
              <a:p>
                <a:r>
                  <a:rPr lang="en-CN">
                    <a:noFill/>
                  </a:rPr>
                  <a:t> </a:t>
                </a:r>
              </a:p>
            </p:txBody>
          </p:sp>
        </mc:Fallback>
      </mc:AlternateContent>
    </p:spTree>
    <p:extLst>
      <p:ext uri="{BB962C8B-B14F-4D97-AF65-F5344CB8AC3E}">
        <p14:creationId xmlns:p14="http://schemas.microsoft.com/office/powerpoint/2010/main" val="3946957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8E8E20-FD69-1D40-8E8A-28EC2C30D7A0}"/>
              </a:ext>
            </a:extLst>
          </p:cNvPr>
          <p:cNvPicPr>
            <a:picLocks noChangeAspect="1"/>
          </p:cNvPicPr>
          <p:nvPr/>
        </p:nvPicPr>
        <p:blipFill>
          <a:blip r:embed="rId2"/>
          <a:stretch>
            <a:fillRect/>
          </a:stretch>
        </p:blipFill>
        <p:spPr>
          <a:xfrm>
            <a:off x="2927350" y="252845"/>
            <a:ext cx="6337300" cy="388620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EC0BD59-F373-9B4B-864E-B180D432587F}"/>
                  </a:ext>
                </a:extLst>
              </p:cNvPr>
              <p:cNvSpPr txBox="1"/>
              <p:nvPr/>
            </p:nvSpPr>
            <p:spPr>
              <a:xfrm>
                <a:off x="2286000" y="4704150"/>
                <a:ext cx="6096000" cy="137390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sz="1800" b="0" i="1" smtClean="0">
                        <a:latin typeface="Cambria Math" panose="02040503050406030204" pitchFamily="18" charset="0"/>
                      </a:rPr>
                      <m:t>𝐷𝑜𝑡</m:t>
                    </m:r>
                    <m:r>
                      <a:rPr lang="en-US" sz="1800" b="0" i="1" smtClean="0">
                        <a:latin typeface="Cambria Math" panose="02040503050406030204" pitchFamily="18" charset="0"/>
                      </a:rPr>
                      <m:t>: 1=</m:t>
                    </m:r>
                    <m:nary>
                      <m:naryPr>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m:t>
                        </m:r>
                      </m:sup>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3</m:t>
                            </m:r>
                          </m:num>
                          <m:den>
                            <m:r>
                              <a:rPr lang="en-US" sz="1800" b="0" i="1" smtClean="0">
                                <a:latin typeface="Cambria Math" panose="02040503050406030204" pitchFamily="18" charset="0"/>
                              </a:rPr>
                              <m:t>2</m:t>
                            </m:r>
                          </m:den>
                        </m:f>
                        <m:r>
                          <a:rPr lang="en-US" sz="1800" b="0" i="1" smtClean="0">
                            <a:latin typeface="Cambria Math" panose="02040503050406030204" pitchFamily="18" charset="0"/>
                          </a:rPr>
                          <m:t> </m:t>
                        </m:r>
                        <m:rad>
                          <m:radPr>
                            <m:degHide m:val="on"/>
                            <m:ctrlPr>
                              <a:rPr lang="en-US" sz="1800" b="0" i="1" smtClean="0">
                                <a:latin typeface="Cambria Math" panose="02040503050406030204" pitchFamily="18" charset="0"/>
                              </a:rPr>
                            </m:ctrlPr>
                          </m:radPr>
                          <m:deg/>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𝜀</m:t>
                                </m:r>
                              </m:e>
                            </m:acc>
                          </m:e>
                        </m:rad>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𝑒</m:t>
                                </m:r>
                              </m:e>
                              <m:sup>
                                <m:r>
                                  <a:rPr lang="en-US" sz="1800" b="0" i="1" smtClean="0">
                                    <a:latin typeface="Cambria Math" panose="02040503050406030204" pitchFamily="18" charset="0"/>
                                  </a:rPr>
                                  <m:t>(</m:t>
                                </m:r>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𝜀</m:t>
                                    </m:r>
                                  </m:e>
                                </m:acc>
                                <m:r>
                                  <a:rPr lang="en-US" sz="1800" b="0" i="1" smtClean="0">
                                    <a:latin typeface="Cambria Math" panose="02040503050406030204" pitchFamily="18" charset="0"/>
                                  </a:rPr>
                                  <m:t>−</m:t>
                                </m:r>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𝜇</m:t>
                                    </m:r>
                                  </m:e>
                                </m:acc>
                                <m:r>
                                  <a:rPr lang="en-US" sz="1800" b="0" i="1" smtClean="0">
                                    <a:latin typeface="Cambria Math" panose="02040503050406030204" pitchFamily="18" charset="0"/>
                                  </a:rPr>
                                  <m:t>)/</m:t>
                                </m:r>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𝜏</m:t>
                                    </m:r>
                                  </m:e>
                                </m:acc>
                              </m:sup>
                            </m:sSup>
                            <m:r>
                              <a:rPr lang="en-US" sz="1800" b="0" i="1" smtClean="0">
                                <a:latin typeface="Cambria Math" panose="02040503050406030204" pitchFamily="18" charset="0"/>
                              </a:rPr>
                              <m:t>+1</m:t>
                            </m:r>
                          </m:den>
                        </m:f>
                        <m:r>
                          <a:rPr lang="en-US" sz="1800" b="0" i="1" smtClean="0">
                            <a:latin typeface="Cambria Math" panose="02040503050406030204" pitchFamily="18" charset="0"/>
                          </a:rPr>
                          <m:t>𝑑</m:t>
                        </m:r>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ea typeface="Cambria Math" panose="02040503050406030204" pitchFamily="18" charset="0"/>
                              </a:rPr>
                              <m:t>𝜀</m:t>
                            </m:r>
                          </m:e>
                        </m:acc>
                      </m:e>
                    </m:nary>
                  </m:oMath>
                </a14:m>
                <a:endParaRPr lang="en-CN" dirty="0"/>
              </a:p>
              <a:p>
                <a:pPr marL="285750" indent="-285750">
                  <a:buFont typeface="Arial" panose="020B0604020202020204" pitchFamily="34" charset="0"/>
                  <a:buChar char="•"/>
                </a:pPr>
                <a:r>
                  <a:rPr lang="en-CN" dirty="0">
                    <a:solidFill>
                      <a:srgbClr val="FF0000"/>
                    </a:solidFill>
                  </a:rPr>
                  <a:t>Red line: </a:t>
                </a:r>
                <a14:m>
                  <m:oMath xmlns:m="http://schemas.openxmlformats.org/officeDocument/2006/math">
                    <m:r>
                      <a:rPr lang="en-US" i="1">
                        <a:solidFill>
                          <a:srgbClr val="FF0000"/>
                        </a:solidFill>
                        <a:latin typeface="Cambria Math" panose="02040503050406030204" pitchFamily="18" charset="0"/>
                      </a:rPr>
                      <m:t>1=</m:t>
                    </m:r>
                    <m:nary>
                      <m:naryPr>
                        <m:ctrlPr>
                          <a:rPr lang="en-US" i="1">
                            <a:solidFill>
                              <a:srgbClr val="FF0000"/>
                            </a:solidFill>
                            <a:latin typeface="Cambria Math" panose="02040503050406030204" pitchFamily="18" charset="0"/>
                          </a:rPr>
                        </m:ctrlPr>
                      </m:naryPr>
                      <m:sub>
                        <m:r>
                          <m:rPr>
                            <m:brk m:alnAt="23"/>
                          </m:rPr>
                          <a:rPr lang="en-US" i="1">
                            <a:solidFill>
                              <a:srgbClr val="FF0000"/>
                            </a:solidFill>
                            <a:latin typeface="Cambria Math" panose="02040503050406030204" pitchFamily="18" charset="0"/>
                          </a:rPr>
                          <m:t>0</m:t>
                        </m:r>
                      </m:sub>
                      <m:sup>
                        <m:r>
                          <a:rPr lang="en-US" i="1">
                            <a:solidFill>
                              <a:srgbClr val="FF0000"/>
                            </a:solidFill>
                            <a:latin typeface="Cambria Math" panose="02040503050406030204" pitchFamily="18" charset="0"/>
                            <a:ea typeface="Cambria Math" panose="02040503050406030204" pitchFamily="18" charset="0"/>
                          </a:rPr>
                          <m:t>∞</m:t>
                        </m:r>
                      </m:sup>
                      <m:e>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3</m:t>
                            </m:r>
                          </m:num>
                          <m:den>
                            <m:r>
                              <a:rPr lang="en-US" i="1">
                                <a:solidFill>
                                  <a:srgbClr val="FF0000"/>
                                </a:solidFill>
                                <a:latin typeface="Cambria Math" panose="02040503050406030204" pitchFamily="18" charset="0"/>
                              </a:rPr>
                              <m:t>2</m:t>
                            </m:r>
                          </m:den>
                        </m:f>
                        <m:r>
                          <a:rPr lang="en-US" i="1">
                            <a:solidFill>
                              <a:srgbClr val="FF0000"/>
                            </a:solidFill>
                            <a:latin typeface="Cambria Math" panose="02040503050406030204" pitchFamily="18" charset="0"/>
                          </a:rPr>
                          <m:t> </m:t>
                        </m:r>
                        <m:rad>
                          <m:radPr>
                            <m:degHide m:val="on"/>
                            <m:ctrlPr>
                              <a:rPr lang="en-US" i="1">
                                <a:solidFill>
                                  <a:srgbClr val="FF0000"/>
                                </a:solidFill>
                                <a:latin typeface="Cambria Math" panose="02040503050406030204" pitchFamily="18" charset="0"/>
                              </a:rPr>
                            </m:ctrlPr>
                          </m:radPr>
                          <m:deg/>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ea typeface="Cambria Math" panose="02040503050406030204" pitchFamily="18" charset="0"/>
                                  </a:rPr>
                                  <m:t>𝜀</m:t>
                                </m:r>
                              </m:e>
                            </m:acc>
                          </m:e>
                        </m:rad>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1</m:t>
                            </m:r>
                          </m:num>
                          <m:den>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𝑒</m:t>
                                </m:r>
                              </m:e>
                              <m:sup>
                                <m:r>
                                  <a:rPr lang="en-US" i="1">
                                    <a:solidFill>
                                      <a:srgbClr val="FF0000"/>
                                    </a:solidFill>
                                    <a:latin typeface="Cambria Math" panose="02040503050406030204" pitchFamily="18" charset="0"/>
                                  </a:rPr>
                                  <m:t>(</m:t>
                                </m:r>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ea typeface="Cambria Math" panose="02040503050406030204" pitchFamily="18" charset="0"/>
                                      </a:rPr>
                                      <m:t>𝜀</m:t>
                                    </m:r>
                                  </m:e>
                                </m:acc>
                                <m:r>
                                  <a:rPr lang="en-US" i="1">
                                    <a:solidFill>
                                      <a:srgbClr val="FF0000"/>
                                    </a:solidFill>
                                    <a:latin typeface="Cambria Math" panose="02040503050406030204" pitchFamily="18" charset="0"/>
                                  </a:rPr>
                                  <m:t>−</m:t>
                                </m:r>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ea typeface="Cambria Math" panose="02040503050406030204" pitchFamily="18" charset="0"/>
                                      </a:rPr>
                                      <m:t>𝜇</m:t>
                                    </m:r>
                                  </m:e>
                                </m:acc>
                                <m:r>
                                  <a:rPr lang="en-US" i="1">
                                    <a:solidFill>
                                      <a:srgbClr val="FF0000"/>
                                    </a:solidFill>
                                    <a:latin typeface="Cambria Math" panose="02040503050406030204" pitchFamily="18" charset="0"/>
                                  </a:rPr>
                                  <m:t>)/</m:t>
                                </m:r>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ea typeface="Cambria Math" panose="02040503050406030204" pitchFamily="18" charset="0"/>
                                      </a:rPr>
                                      <m:t>𝜏</m:t>
                                    </m:r>
                                  </m:e>
                                </m:acc>
                              </m:sup>
                            </m:sSup>
                          </m:den>
                        </m:f>
                        <m:r>
                          <a:rPr lang="en-US" i="1">
                            <a:solidFill>
                              <a:srgbClr val="FF0000"/>
                            </a:solidFill>
                            <a:latin typeface="Cambria Math" panose="02040503050406030204" pitchFamily="18" charset="0"/>
                          </a:rPr>
                          <m:t>𝑑</m:t>
                        </m:r>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ea typeface="Cambria Math" panose="02040503050406030204" pitchFamily="18" charset="0"/>
                              </a:rPr>
                              <m:t>𝜀</m:t>
                            </m:r>
                          </m:e>
                        </m:acc>
                      </m:e>
                    </m:nary>
                  </m:oMath>
                </a14:m>
                <a:endParaRPr lang="en-CN" dirty="0"/>
              </a:p>
              <a:p>
                <a:pPr marL="285750" indent="-285750">
                  <a:buFont typeface="Arial" panose="020B0604020202020204" pitchFamily="34" charset="0"/>
                  <a:buChar char="•"/>
                </a:pPr>
                <a:r>
                  <a:rPr lang="en-CN" dirty="0">
                    <a:solidFill>
                      <a:schemeClr val="accent1"/>
                    </a:solidFill>
                  </a:rPr>
                  <a:t>Blue line: </a:t>
                </a:r>
                <a14:m>
                  <m:oMath xmlns:m="http://schemas.openxmlformats.org/officeDocument/2006/math">
                    <m:r>
                      <a:rPr lang="en-US" i="1" smtClean="0">
                        <a:solidFill>
                          <a:schemeClr val="accent1"/>
                        </a:solidFill>
                        <a:latin typeface="Cambria Math" panose="02040503050406030204" pitchFamily="18" charset="0"/>
                        <a:ea typeface="Cambria Math" panose="02040503050406030204" pitchFamily="18" charset="0"/>
                      </a:rPr>
                      <m:t>1−</m:t>
                    </m:r>
                    <m:f>
                      <m:fPr>
                        <m:ctrlPr>
                          <a:rPr lang="en-US" i="1">
                            <a:solidFill>
                              <a:schemeClr val="accent1"/>
                            </a:solidFill>
                            <a:latin typeface="Cambria Math" panose="02040503050406030204" pitchFamily="18" charset="0"/>
                            <a:ea typeface="Cambria Math" panose="02040503050406030204" pitchFamily="18" charset="0"/>
                          </a:rPr>
                        </m:ctrlPr>
                      </m:fPr>
                      <m:num>
                        <m:sSup>
                          <m:sSupPr>
                            <m:ctrlPr>
                              <a:rPr lang="en-US" i="1">
                                <a:solidFill>
                                  <a:schemeClr val="accent1"/>
                                </a:solidFill>
                                <a:latin typeface="Cambria Math" panose="02040503050406030204" pitchFamily="18" charset="0"/>
                                <a:ea typeface="Cambria Math" panose="02040503050406030204" pitchFamily="18" charset="0"/>
                              </a:rPr>
                            </m:ctrlPr>
                          </m:sSupPr>
                          <m:e>
                            <m:r>
                              <a:rPr lang="en-US" i="1">
                                <a:solidFill>
                                  <a:schemeClr val="accent1"/>
                                </a:solidFill>
                                <a:latin typeface="Cambria Math" panose="02040503050406030204" pitchFamily="18" charset="0"/>
                                <a:ea typeface="Cambria Math" panose="02040503050406030204" pitchFamily="18" charset="0"/>
                              </a:rPr>
                              <m:t>𝜋</m:t>
                            </m:r>
                          </m:e>
                          <m:sup>
                            <m:r>
                              <a:rPr lang="en-US" i="1">
                                <a:solidFill>
                                  <a:schemeClr val="accent1"/>
                                </a:solidFill>
                                <a:latin typeface="Cambria Math" panose="02040503050406030204" pitchFamily="18" charset="0"/>
                                <a:ea typeface="Cambria Math" panose="02040503050406030204" pitchFamily="18" charset="0"/>
                              </a:rPr>
                              <m:t>2</m:t>
                            </m:r>
                          </m:sup>
                        </m:sSup>
                      </m:num>
                      <m:den>
                        <m:r>
                          <a:rPr lang="en-US" i="1">
                            <a:solidFill>
                              <a:schemeClr val="accent1"/>
                            </a:solidFill>
                            <a:latin typeface="Cambria Math" panose="02040503050406030204" pitchFamily="18" charset="0"/>
                            <a:ea typeface="Cambria Math" panose="02040503050406030204" pitchFamily="18" charset="0"/>
                          </a:rPr>
                          <m:t>12</m:t>
                        </m:r>
                      </m:den>
                    </m:f>
                    <m:sSup>
                      <m:sSupPr>
                        <m:ctrlPr>
                          <a:rPr lang="en-US" i="1">
                            <a:solidFill>
                              <a:schemeClr val="accent1"/>
                            </a:solidFill>
                            <a:latin typeface="Cambria Math" panose="02040503050406030204" pitchFamily="18" charset="0"/>
                            <a:ea typeface="Cambria Math" panose="02040503050406030204" pitchFamily="18" charset="0"/>
                          </a:rPr>
                        </m:ctrlPr>
                      </m:sSupPr>
                      <m:e>
                        <m:d>
                          <m:dPr>
                            <m:ctrlPr>
                              <a:rPr lang="en-US" i="1">
                                <a:solidFill>
                                  <a:schemeClr val="accent1"/>
                                </a:solidFill>
                                <a:latin typeface="Cambria Math" panose="02040503050406030204" pitchFamily="18" charset="0"/>
                                <a:ea typeface="Cambria Math" panose="02040503050406030204" pitchFamily="18" charset="0"/>
                              </a:rPr>
                            </m:ctrlPr>
                          </m:dPr>
                          <m:e>
                            <m:f>
                              <m:fPr>
                                <m:ctrlPr>
                                  <a:rPr lang="en-US" i="1">
                                    <a:solidFill>
                                      <a:schemeClr val="accent1"/>
                                    </a:solidFill>
                                    <a:latin typeface="Cambria Math" panose="02040503050406030204" pitchFamily="18" charset="0"/>
                                    <a:ea typeface="Cambria Math" panose="02040503050406030204" pitchFamily="18" charset="0"/>
                                  </a:rPr>
                                </m:ctrlPr>
                              </m:fPr>
                              <m:num>
                                <m:r>
                                  <a:rPr lang="en-US" i="1">
                                    <a:solidFill>
                                      <a:schemeClr val="accent1"/>
                                    </a:solidFill>
                                    <a:latin typeface="Cambria Math" panose="02040503050406030204" pitchFamily="18" charset="0"/>
                                    <a:ea typeface="Cambria Math" panose="02040503050406030204" pitchFamily="18" charset="0"/>
                                  </a:rPr>
                                  <m:t>𝜏</m:t>
                                </m:r>
                              </m:num>
                              <m:den>
                                <m:sSub>
                                  <m:sSubPr>
                                    <m:ctrlPr>
                                      <a:rPr lang="en-US" i="1">
                                        <a:solidFill>
                                          <a:schemeClr val="accent1"/>
                                        </a:solidFill>
                                        <a:latin typeface="Cambria Math" panose="02040503050406030204" pitchFamily="18" charset="0"/>
                                        <a:ea typeface="Cambria Math" panose="02040503050406030204" pitchFamily="18" charset="0"/>
                                      </a:rPr>
                                    </m:ctrlPr>
                                  </m:sSubPr>
                                  <m:e>
                                    <m:r>
                                      <a:rPr lang="en-US" i="1">
                                        <a:solidFill>
                                          <a:schemeClr val="accent1"/>
                                        </a:solidFill>
                                        <a:latin typeface="Cambria Math" panose="02040503050406030204" pitchFamily="18" charset="0"/>
                                        <a:ea typeface="Cambria Math" panose="02040503050406030204" pitchFamily="18" charset="0"/>
                                      </a:rPr>
                                      <m:t>𝜀</m:t>
                                    </m:r>
                                  </m:e>
                                  <m:sub>
                                    <m:r>
                                      <a:rPr lang="en-US" i="1">
                                        <a:solidFill>
                                          <a:schemeClr val="accent1"/>
                                        </a:solidFill>
                                        <a:latin typeface="Cambria Math" panose="02040503050406030204" pitchFamily="18" charset="0"/>
                                        <a:ea typeface="Cambria Math" panose="02040503050406030204" pitchFamily="18" charset="0"/>
                                      </a:rPr>
                                      <m:t>𝐹</m:t>
                                    </m:r>
                                  </m:sub>
                                </m:sSub>
                              </m:den>
                            </m:f>
                          </m:e>
                        </m:d>
                      </m:e>
                      <m:sup>
                        <m:r>
                          <a:rPr lang="en-US" i="1">
                            <a:solidFill>
                              <a:schemeClr val="accent1"/>
                            </a:solidFill>
                            <a:latin typeface="Cambria Math" panose="02040503050406030204" pitchFamily="18" charset="0"/>
                            <a:ea typeface="Cambria Math" panose="02040503050406030204" pitchFamily="18" charset="0"/>
                          </a:rPr>
                          <m:t>2</m:t>
                        </m:r>
                      </m:sup>
                    </m:sSup>
                  </m:oMath>
                </a14:m>
                <a:endParaRPr lang="en-CN" dirty="0"/>
              </a:p>
            </p:txBody>
          </p:sp>
        </mc:Choice>
        <mc:Fallback xmlns="">
          <p:sp>
            <p:nvSpPr>
              <p:cNvPr id="4" name="TextBox 3">
                <a:extLst>
                  <a:ext uri="{FF2B5EF4-FFF2-40B4-BE49-F238E27FC236}">
                    <a16:creationId xmlns:a16="http://schemas.microsoft.com/office/drawing/2014/main" id="{FEC0BD59-F373-9B4B-864E-B180D432587F}"/>
                  </a:ext>
                </a:extLst>
              </p:cNvPr>
              <p:cNvSpPr txBox="1">
                <a:spLocks noRot="1" noChangeAspect="1" noMove="1" noResize="1" noEditPoints="1" noAdjustHandles="1" noChangeArrowheads="1" noChangeShapeType="1" noTextEdit="1"/>
              </p:cNvSpPr>
              <p:nvPr/>
            </p:nvSpPr>
            <p:spPr>
              <a:xfrm>
                <a:off x="2286000" y="4704150"/>
                <a:ext cx="6096000" cy="1373902"/>
              </a:xfrm>
              <a:prstGeom prst="rect">
                <a:avLst/>
              </a:prstGeom>
              <a:blipFill>
                <a:blip r:embed="rId3"/>
                <a:stretch>
                  <a:fillRect l="-625" t="-34862" b="-17431"/>
                </a:stretch>
              </a:blipFill>
            </p:spPr>
            <p:txBody>
              <a:bodyPr/>
              <a:lstStyle/>
              <a:p>
                <a:r>
                  <a:rPr lang="en-CN">
                    <a:noFill/>
                  </a:rPr>
                  <a:t> </a:t>
                </a:r>
              </a:p>
            </p:txBody>
          </p:sp>
        </mc:Fallback>
      </mc:AlternateContent>
    </p:spTree>
    <p:extLst>
      <p:ext uri="{BB962C8B-B14F-4D97-AF65-F5344CB8AC3E}">
        <p14:creationId xmlns:p14="http://schemas.microsoft.com/office/powerpoint/2010/main" val="1185126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232621-7AC2-E750-108E-0BA5654D9EDF}"/>
              </a:ext>
            </a:extLst>
          </p:cNvPr>
          <p:cNvSpPr txBox="1"/>
          <p:nvPr/>
        </p:nvSpPr>
        <p:spPr>
          <a:xfrm>
            <a:off x="3131127" y="1274618"/>
            <a:ext cx="5929746" cy="646331"/>
          </a:xfrm>
          <a:prstGeom prst="rect">
            <a:avLst/>
          </a:prstGeom>
          <a:noFill/>
        </p:spPr>
        <p:txBody>
          <a:bodyPr wrap="square" rtlCol="0">
            <a:spAutoFit/>
          </a:bodyPr>
          <a:lstStyle/>
          <a:p>
            <a:pPr algn="ctr"/>
            <a:r>
              <a:rPr lang="en-CN" sz="3600" dirty="0"/>
              <a:t>Grand canonical potential</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670D421-B159-083E-0AE2-49B82A01A5E8}"/>
                  </a:ext>
                </a:extLst>
              </p:cNvPr>
              <p:cNvSpPr txBox="1"/>
              <p:nvPr/>
            </p:nvSpPr>
            <p:spPr>
              <a:xfrm>
                <a:off x="1939636" y="2282778"/>
                <a:ext cx="7952509" cy="2201500"/>
              </a:xfrm>
              <a:prstGeom prst="rect">
                <a:avLst/>
              </a:prstGeom>
              <a:noFill/>
            </p:spPr>
            <p:txBody>
              <a:bodyPr wrap="square">
                <a:spAutoFit/>
              </a:bodyPr>
              <a:lstStyle/>
              <a:p>
                <a:pPr algn="ctr"/>
                <a:endParaRPr lang="en-CN" sz="4000" dirty="0"/>
              </a:p>
              <a:p>
                <a:pPr algn="ctr"/>
                <a14:m>
                  <m:oMathPara xmlns:m="http://schemas.openxmlformats.org/officeDocument/2006/math">
                    <m:oMathParaPr>
                      <m:jc m:val="centerGroup"/>
                    </m:oMathParaPr>
                    <m:oMath xmlns:m="http://schemas.openxmlformats.org/officeDocument/2006/math">
                      <m:r>
                        <m:rPr>
                          <m:sty m:val="p"/>
                        </m:rPr>
                        <a:rPr lang="el-GR" sz="4000" i="1" smtClean="0">
                          <a:latin typeface="Cambria Math" panose="02040503050406030204" pitchFamily="18" charset="0"/>
                          <a:ea typeface="Cambria Math" panose="02040503050406030204" pitchFamily="18" charset="0"/>
                        </a:rPr>
                        <m:t>Ω</m:t>
                      </m:r>
                      <m:r>
                        <a:rPr lang="en-US" altLang="zh-CN" sz="4000" b="0" i="1" smtClean="0">
                          <a:latin typeface="Cambria Math" panose="02040503050406030204" pitchFamily="18" charset="0"/>
                          <a:ea typeface="Cambria Math" panose="02040503050406030204" pitchFamily="18" charset="0"/>
                        </a:rPr>
                        <m:t>=−</m:t>
                      </m:r>
                      <m:r>
                        <a:rPr lang="en-US" altLang="zh-CN" sz="4000" b="0" i="1" smtClean="0">
                          <a:latin typeface="Cambria Math" panose="02040503050406030204" pitchFamily="18" charset="0"/>
                          <a:ea typeface="Cambria Math" panose="02040503050406030204" pitchFamily="18" charset="0"/>
                        </a:rPr>
                        <m:t>𝜏</m:t>
                      </m:r>
                      <m:nary>
                        <m:naryPr>
                          <m:chr m:val="∑"/>
                          <m:supHide m:val="on"/>
                          <m:ctrlPr>
                            <a:rPr lang="en-US" altLang="zh-CN" sz="4000" b="0" i="1" smtClean="0">
                              <a:latin typeface="Cambria Math" panose="02040503050406030204" pitchFamily="18" charset="0"/>
                              <a:ea typeface="Cambria Math" panose="02040503050406030204" pitchFamily="18" charset="0"/>
                            </a:rPr>
                          </m:ctrlPr>
                        </m:naryPr>
                        <m:sub>
                          <m:r>
                            <m:rPr>
                              <m:brk m:alnAt="7"/>
                            </m:rPr>
                            <a:rPr lang="en-US" altLang="zh-CN" sz="4000" b="0" i="1" smtClean="0">
                              <a:latin typeface="Cambria Math" panose="02040503050406030204" pitchFamily="18" charset="0"/>
                              <a:ea typeface="Cambria Math" panose="02040503050406030204" pitchFamily="18" charset="0"/>
                            </a:rPr>
                            <m:t>𝑖</m:t>
                          </m:r>
                        </m:sub>
                        <m:sup/>
                        <m:e>
                          <m:func>
                            <m:funcPr>
                              <m:ctrlPr>
                                <a:rPr lang="en-US" altLang="zh-CN" sz="4000" b="0" i="1" smtClean="0">
                                  <a:latin typeface="Cambria Math" panose="02040503050406030204" pitchFamily="18" charset="0"/>
                                  <a:ea typeface="Cambria Math" panose="02040503050406030204" pitchFamily="18" charset="0"/>
                                </a:rPr>
                              </m:ctrlPr>
                            </m:funcPr>
                            <m:fName>
                              <m:r>
                                <m:rPr>
                                  <m:sty m:val="p"/>
                                </m:rPr>
                                <a:rPr lang="en-US" altLang="zh-CN" sz="4000" b="0" i="0" smtClean="0">
                                  <a:latin typeface="Cambria Math" panose="02040503050406030204" pitchFamily="18" charset="0"/>
                                  <a:ea typeface="Cambria Math" panose="02040503050406030204" pitchFamily="18" charset="0"/>
                                </a:rPr>
                                <m:t>log</m:t>
                              </m:r>
                            </m:fName>
                            <m:e>
                              <m:d>
                                <m:dPr>
                                  <m:begChr m:val="["/>
                                  <m:endChr m:val="]"/>
                                  <m:ctrlPr>
                                    <a:rPr lang="en-US" altLang="zh-CN" sz="4000" b="0" i="1" smtClean="0">
                                      <a:latin typeface="Cambria Math" panose="02040503050406030204" pitchFamily="18" charset="0"/>
                                      <a:ea typeface="Cambria Math" panose="02040503050406030204" pitchFamily="18" charset="0"/>
                                    </a:rPr>
                                  </m:ctrlPr>
                                </m:dPr>
                                <m:e>
                                  <m:r>
                                    <a:rPr lang="en-US" altLang="zh-CN" sz="4000" b="0" i="1" smtClean="0">
                                      <a:latin typeface="Cambria Math" panose="02040503050406030204" pitchFamily="18" charset="0"/>
                                      <a:ea typeface="Cambria Math" panose="02040503050406030204" pitchFamily="18" charset="0"/>
                                    </a:rPr>
                                    <m:t>1+</m:t>
                                  </m:r>
                                  <m:r>
                                    <a:rPr lang="en-US" altLang="zh-CN" sz="4000" b="0" i="1" smtClean="0">
                                      <a:latin typeface="Cambria Math" panose="02040503050406030204" pitchFamily="18" charset="0"/>
                                      <a:ea typeface="Cambria Math" panose="02040503050406030204" pitchFamily="18" charset="0"/>
                                    </a:rPr>
                                    <m:t>𝜆</m:t>
                                  </m:r>
                                  <m:sSup>
                                    <m:sSupPr>
                                      <m:ctrlPr>
                                        <a:rPr lang="en-US" altLang="zh-CN" sz="4000" b="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𝑒</m:t>
                                      </m:r>
                                    </m:e>
                                    <m:sup>
                                      <m:r>
                                        <a:rPr lang="en-US" altLang="zh-CN" sz="4000" b="0" i="1" smtClean="0">
                                          <a:latin typeface="Cambria Math" panose="02040503050406030204" pitchFamily="18" charset="0"/>
                                          <a:ea typeface="Cambria Math" panose="02040503050406030204" pitchFamily="18" charset="0"/>
                                        </a:rPr>
                                        <m:t>−</m:t>
                                      </m:r>
                                      <m:sSub>
                                        <m:sSubPr>
                                          <m:ctrlPr>
                                            <a:rPr lang="en-US" altLang="zh-CN" sz="4000" b="0" i="1" smtClean="0">
                                              <a:latin typeface="Cambria Math" panose="02040503050406030204" pitchFamily="18" charset="0"/>
                                              <a:ea typeface="Cambria Math" panose="02040503050406030204" pitchFamily="18" charset="0"/>
                                            </a:rPr>
                                          </m:ctrlPr>
                                        </m:sSubPr>
                                        <m:e>
                                          <m:r>
                                            <a:rPr lang="en-US" altLang="zh-CN" sz="4000" b="0" i="1" smtClean="0">
                                              <a:latin typeface="Cambria Math" panose="02040503050406030204" pitchFamily="18" charset="0"/>
                                              <a:ea typeface="Cambria Math" panose="02040503050406030204" pitchFamily="18" charset="0"/>
                                            </a:rPr>
                                            <m:t>𝜀</m:t>
                                          </m:r>
                                        </m:e>
                                        <m:sub>
                                          <m:r>
                                            <a:rPr lang="en-US" altLang="zh-CN" sz="4000" b="0" i="1" smtClean="0">
                                              <a:latin typeface="Cambria Math" panose="02040503050406030204" pitchFamily="18" charset="0"/>
                                              <a:ea typeface="Cambria Math" panose="02040503050406030204" pitchFamily="18" charset="0"/>
                                            </a:rPr>
                                            <m:t>𝑖</m:t>
                                          </m:r>
                                        </m:sub>
                                      </m:sSub>
                                      <m:r>
                                        <a:rPr lang="en-US" altLang="zh-CN" sz="4000" b="0" i="1" smtClean="0">
                                          <a:latin typeface="Cambria Math" panose="02040503050406030204" pitchFamily="18" charset="0"/>
                                          <a:ea typeface="Cambria Math" panose="02040503050406030204" pitchFamily="18" charset="0"/>
                                        </a:rPr>
                                        <m:t>/</m:t>
                                      </m:r>
                                      <m:r>
                                        <a:rPr lang="en-US" altLang="zh-CN" sz="4000" b="0" i="1" smtClean="0">
                                          <a:latin typeface="Cambria Math" panose="02040503050406030204" pitchFamily="18" charset="0"/>
                                          <a:ea typeface="Cambria Math" panose="02040503050406030204" pitchFamily="18" charset="0"/>
                                        </a:rPr>
                                        <m:t>𝜏</m:t>
                                      </m:r>
                                    </m:sup>
                                  </m:sSup>
                                </m:e>
                              </m:d>
                            </m:e>
                          </m:func>
                        </m:e>
                      </m:nary>
                    </m:oMath>
                  </m:oMathPara>
                </a14:m>
                <a:endParaRPr lang="en-CN" sz="4000" dirty="0"/>
              </a:p>
            </p:txBody>
          </p:sp>
        </mc:Choice>
        <mc:Fallback xmlns="">
          <p:sp>
            <p:nvSpPr>
              <p:cNvPr id="5" name="TextBox 4">
                <a:extLst>
                  <a:ext uri="{FF2B5EF4-FFF2-40B4-BE49-F238E27FC236}">
                    <a16:creationId xmlns:a16="http://schemas.microsoft.com/office/drawing/2014/main" id="{0670D421-B159-083E-0AE2-49B82A01A5E8}"/>
                  </a:ext>
                </a:extLst>
              </p:cNvPr>
              <p:cNvSpPr txBox="1">
                <a:spLocks noRot="1" noChangeAspect="1" noMove="1" noResize="1" noEditPoints="1" noAdjustHandles="1" noChangeArrowheads="1" noChangeShapeType="1" noTextEdit="1"/>
              </p:cNvSpPr>
              <p:nvPr/>
            </p:nvSpPr>
            <p:spPr>
              <a:xfrm>
                <a:off x="1939636" y="2282778"/>
                <a:ext cx="7952509" cy="2201500"/>
              </a:xfrm>
              <a:prstGeom prst="rect">
                <a:avLst/>
              </a:prstGeom>
              <a:blipFill>
                <a:blip r:embed="rId2"/>
                <a:stretch>
                  <a:fillRect t="-70286" b="-134286"/>
                </a:stretch>
              </a:blipFill>
            </p:spPr>
            <p:txBody>
              <a:bodyPr/>
              <a:lstStyle/>
              <a:p>
                <a:r>
                  <a:rPr lang="en-CN">
                    <a:noFill/>
                  </a:rPr>
                  <a:t> </a:t>
                </a:r>
              </a:p>
            </p:txBody>
          </p:sp>
        </mc:Fallback>
      </mc:AlternateContent>
    </p:spTree>
    <p:extLst>
      <p:ext uri="{BB962C8B-B14F-4D97-AF65-F5344CB8AC3E}">
        <p14:creationId xmlns:p14="http://schemas.microsoft.com/office/powerpoint/2010/main" val="2525932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670D421-B159-083E-0AE2-49B82A01A5E8}"/>
                  </a:ext>
                </a:extLst>
              </p:cNvPr>
              <p:cNvSpPr txBox="1"/>
              <p:nvPr/>
            </p:nvSpPr>
            <p:spPr>
              <a:xfrm>
                <a:off x="249383" y="0"/>
                <a:ext cx="11263744" cy="3305457"/>
              </a:xfrm>
              <a:prstGeom prst="rect">
                <a:avLst/>
              </a:prstGeom>
              <a:noFill/>
            </p:spPr>
            <p:txBody>
              <a:bodyPr wrap="square">
                <a:spAutoFit/>
              </a:bodyPr>
              <a:lstStyle/>
              <a:p>
                <a:pPr algn="ctr"/>
                <a:endParaRPr lang="en-CN" sz="4000" dirty="0"/>
              </a:p>
              <a:p>
                <a:pPr algn="ct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ea typeface="Cambria Math" panose="02040503050406030204" pitchFamily="18" charset="0"/>
                        </a:rPr>
                        <m:t>−</m:t>
                      </m:r>
                      <m:f>
                        <m:fPr>
                          <m:ctrlPr>
                            <a:rPr lang="en-US" sz="4000" b="0" i="1" smtClean="0">
                              <a:latin typeface="Cambria Math" panose="02040503050406030204" pitchFamily="18" charset="0"/>
                              <a:ea typeface="Cambria Math" panose="02040503050406030204" pitchFamily="18" charset="0"/>
                            </a:rPr>
                          </m:ctrlPr>
                        </m:fPr>
                        <m:num>
                          <m:r>
                            <a:rPr lang="en-US" sz="4000" b="0" i="1" smtClean="0">
                              <a:latin typeface="Cambria Math" panose="02040503050406030204" pitchFamily="18" charset="0"/>
                              <a:ea typeface="Cambria Math" panose="02040503050406030204" pitchFamily="18" charset="0"/>
                            </a:rPr>
                            <m:t>1</m:t>
                          </m:r>
                        </m:num>
                        <m:den>
                          <m:r>
                            <a:rPr lang="en-US" sz="4000" b="0" i="1" smtClean="0">
                              <a:latin typeface="Cambria Math" panose="02040503050406030204" pitchFamily="18" charset="0"/>
                              <a:ea typeface="Cambria Math" panose="02040503050406030204" pitchFamily="18" charset="0"/>
                            </a:rPr>
                            <m:t>𝜏</m:t>
                          </m:r>
                        </m:den>
                      </m:f>
                      <m:r>
                        <m:rPr>
                          <m:sty m:val="p"/>
                        </m:rPr>
                        <a:rPr lang="el-GR" sz="4000" i="1" smtClean="0">
                          <a:latin typeface="Cambria Math" panose="02040503050406030204" pitchFamily="18" charset="0"/>
                          <a:ea typeface="Cambria Math" panose="02040503050406030204" pitchFamily="18" charset="0"/>
                        </a:rPr>
                        <m:t>Ω</m:t>
                      </m:r>
                      <m:r>
                        <a:rPr lang="en-US" altLang="zh-CN" sz="4000" b="0" i="1" smtClean="0">
                          <a:latin typeface="Cambria Math" panose="02040503050406030204" pitchFamily="18" charset="0"/>
                          <a:ea typeface="Cambria Math" panose="02040503050406030204" pitchFamily="18" charset="0"/>
                        </a:rPr>
                        <m:t>=</m:t>
                      </m:r>
                      <m:d>
                        <m:dPr>
                          <m:ctrlPr>
                            <a:rPr lang="en-US" altLang="zh-CN" sz="4000" b="0" i="1" smtClean="0">
                              <a:latin typeface="Cambria Math" panose="02040503050406030204" pitchFamily="18" charset="0"/>
                              <a:ea typeface="Cambria Math" panose="02040503050406030204" pitchFamily="18" charset="0"/>
                            </a:rPr>
                          </m:ctrlPr>
                        </m:dPr>
                        <m:e>
                          <m:r>
                            <a:rPr lang="en-US" altLang="zh-CN" sz="4000" b="0" i="1" smtClean="0">
                              <a:latin typeface="Cambria Math" panose="02040503050406030204" pitchFamily="18" charset="0"/>
                              <a:ea typeface="Cambria Math" panose="02040503050406030204" pitchFamily="18" charset="0"/>
                            </a:rPr>
                            <m:t>2</m:t>
                          </m:r>
                          <m:r>
                            <a:rPr lang="en-US" altLang="zh-CN" sz="4000" b="0" i="1" smtClean="0">
                              <a:latin typeface="Cambria Math" panose="02040503050406030204" pitchFamily="18" charset="0"/>
                              <a:ea typeface="Cambria Math" panose="02040503050406030204" pitchFamily="18" charset="0"/>
                            </a:rPr>
                            <m:t>𝑠</m:t>
                          </m:r>
                          <m:r>
                            <a:rPr lang="en-US" altLang="zh-CN" sz="4000" b="0" i="1" smtClean="0">
                              <a:latin typeface="Cambria Math" panose="02040503050406030204" pitchFamily="18" charset="0"/>
                              <a:ea typeface="Cambria Math" panose="02040503050406030204" pitchFamily="18" charset="0"/>
                            </a:rPr>
                            <m:t>+1</m:t>
                          </m:r>
                        </m:e>
                      </m:d>
                      <m:f>
                        <m:fPr>
                          <m:ctrlPr>
                            <a:rPr lang="en-US" altLang="zh-CN" sz="4000" b="0" i="1" smtClean="0">
                              <a:latin typeface="Cambria Math" panose="02040503050406030204" pitchFamily="18" charset="0"/>
                              <a:ea typeface="Cambria Math" panose="02040503050406030204" pitchFamily="18" charset="0"/>
                            </a:rPr>
                          </m:ctrlPr>
                        </m:fPr>
                        <m:num>
                          <m:r>
                            <a:rPr lang="en-US" altLang="zh-CN" sz="4000" b="0" i="1" smtClean="0">
                              <a:latin typeface="Cambria Math" panose="02040503050406030204" pitchFamily="18" charset="0"/>
                              <a:ea typeface="Cambria Math" panose="02040503050406030204" pitchFamily="18" charset="0"/>
                            </a:rPr>
                            <m:t>𝑉</m:t>
                          </m:r>
                        </m:num>
                        <m:den>
                          <m:sSup>
                            <m:sSupPr>
                              <m:ctrlPr>
                                <a:rPr lang="en-US" altLang="zh-CN" sz="4000" b="0" i="1" smtClean="0">
                                  <a:latin typeface="Cambria Math" panose="02040503050406030204" pitchFamily="18" charset="0"/>
                                  <a:ea typeface="Cambria Math" panose="02040503050406030204" pitchFamily="18" charset="0"/>
                                </a:rPr>
                              </m:ctrlPr>
                            </m:sSupPr>
                            <m:e>
                              <m:d>
                                <m:dPr>
                                  <m:ctrlPr>
                                    <a:rPr lang="en-US" altLang="zh-CN" sz="4000" b="0" i="1" smtClean="0">
                                      <a:latin typeface="Cambria Math" panose="02040503050406030204" pitchFamily="18" charset="0"/>
                                      <a:ea typeface="Cambria Math" panose="02040503050406030204" pitchFamily="18" charset="0"/>
                                    </a:rPr>
                                  </m:ctrlPr>
                                </m:dPr>
                                <m:e>
                                  <m:r>
                                    <a:rPr lang="en-US" altLang="zh-CN" sz="4000" b="0" i="1" smtClean="0">
                                      <a:latin typeface="Cambria Math" panose="02040503050406030204" pitchFamily="18" charset="0"/>
                                      <a:ea typeface="Cambria Math" panose="02040503050406030204" pitchFamily="18" charset="0"/>
                                    </a:rPr>
                                    <m:t>2</m:t>
                                  </m:r>
                                  <m:r>
                                    <a:rPr lang="en-US" altLang="zh-CN" sz="4000" b="0" i="1" smtClean="0">
                                      <a:latin typeface="Cambria Math" panose="02040503050406030204" pitchFamily="18" charset="0"/>
                                      <a:ea typeface="Cambria Math" panose="02040503050406030204" pitchFamily="18" charset="0"/>
                                    </a:rPr>
                                    <m:t>𝜋</m:t>
                                  </m:r>
                                </m:e>
                              </m:d>
                            </m:e>
                            <m:sup>
                              <m:r>
                                <a:rPr lang="en-US" altLang="zh-CN" sz="4000" b="0" i="1" smtClean="0">
                                  <a:latin typeface="Cambria Math" panose="02040503050406030204" pitchFamily="18" charset="0"/>
                                  <a:ea typeface="Cambria Math" panose="02040503050406030204" pitchFamily="18" charset="0"/>
                                </a:rPr>
                                <m:t>3</m:t>
                              </m:r>
                            </m:sup>
                          </m:sSup>
                        </m:den>
                      </m:f>
                      <m:r>
                        <a:rPr lang="en-US" altLang="zh-CN" sz="4000" b="0" i="1" smtClean="0">
                          <a:latin typeface="Cambria Math" panose="02040503050406030204" pitchFamily="18" charset="0"/>
                          <a:ea typeface="Cambria Math" panose="02040503050406030204" pitchFamily="18" charset="0"/>
                        </a:rPr>
                        <m:t>4</m:t>
                      </m:r>
                      <m:r>
                        <a:rPr lang="en-US" altLang="zh-CN" sz="4000" b="0" i="1" smtClean="0">
                          <a:latin typeface="Cambria Math" panose="02040503050406030204" pitchFamily="18" charset="0"/>
                          <a:ea typeface="Cambria Math" panose="02040503050406030204" pitchFamily="18" charset="0"/>
                        </a:rPr>
                        <m:t>𝜋</m:t>
                      </m:r>
                      <m:nary>
                        <m:naryPr>
                          <m:ctrlPr>
                            <a:rPr lang="en-US" altLang="zh-CN" sz="4000" b="0" i="1" smtClean="0">
                              <a:latin typeface="Cambria Math" panose="02040503050406030204" pitchFamily="18" charset="0"/>
                              <a:ea typeface="Cambria Math" panose="02040503050406030204" pitchFamily="18" charset="0"/>
                            </a:rPr>
                          </m:ctrlPr>
                        </m:naryPr>
                        <m:sub>
                          <m:r>
                            <m:rPr>
                              <m:brk m:alnAt="23"/>
                            </m:rPr>
                            <a:rPr lang="en-US" altLang="zh-CN" sz="4000" b="0" i="1" smtClean="0">
                              <a:latin typeface="Cambria Math" panose="02040503050406030204" pitchFamily="18" charset="0"/>
                              <a:ea typeface="Cambria Math" panose="02040503050406030204" pitchFamily="18" charset="0"/>
                            </a:rPr>
                            <m:t>0</m:t>
                          </m:r>
                        </m:sub>
                        <m:sup>
                          <m:r>
                            <a:rPr lang="en-US" altLang="zh-CN" sz="4000" b="0" i="1" smtClean="0">
                              <a:latin typeface="Cambria Math" panose="02040503050406030204" pitchFamily="18" charset="0"/>
                              <a:ea typeface="Cambria Math" panose="02040503050406030204" pitchFamily="18" charset="0"/>
                            </a:rPr>
                            <m:t>∞</m:t>
                          </m:r>
                        </m:sup>
                        <m:e>
                          <m:r>
                            <a:rPr lang="en-US" altLang="zh-CN" sz="4000" b="0" i="1" smtClean="0">
                              <a:latin typeface="Cambria Math" panose="02040503050406030204" pitchFamily="18" charset="0"/>
                              <a:ea typeface="Cambria Math" panose="02040503050406030204" pitchFamily="18" charset="0"/>
                            </a:rPr>
                            <m:t>𝑑𝑘</m:t>
                          </m:r>
                        </m:e>
                      </m:nary>
                      <m:sSup>
                        <m:sSupPr>
                          <m:ctrlPr>
                            <a:rPr lang="en-US" altLang="zh-CN" sz="4000" b="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𝑘</m:t>
                          </m:r>
                        </m:e>
                        <m:sup>
                          <m:r>
                            <a:rPr lang="en-US" altLang="zh-CN" sz="4000" b="0" i="1" smtClean="0">
                              <a:latin typeface="Cambria Math" panose="02040503050406030204" pitchFamily="18" charset="0"/>
                              <a:ea typeface="Cambria Math" panose="02040503050406030204" pitchFamily="18" charset="0"/>
                            </a:rPr>
                            <m:t>2</m:t>
                          </m:r>
                        </m:sup>
                      </m:sSup>
                      <m:r>
                        <a:rPr lang="en-US" altLang="zh-CN" sz="4000" b="0" i="1" smtClean="0">
                          <a:latin typeface="Cambria Math" panose="02040503050406030204" pitchFamily="18" charset="0"/>
                          <a:ea typeface="Cambria Math" panose="02040503050406030204" pitchFamily="18" charset="0"/>
                        </a:rPr>
                        <m:t>𝑙𝑜𝑔</m:t>
                      </m:r>
                      <m:d>
                        <m:dPr>
                          <m:ctrlPr>
                            <a:rPr lang="en-US" altLang="zh-CN" sz="4000" b="0" i="1" smtClean="0">
                              <a:latin typeface="Cambria Math" panose="02040503050406030204" pitchFamily="18" charset="0"/>
                              <a:ea typeface="Cambria Math" panose="02040503050406030204" pitchFamily="18" charset="0"/>
                            </a:rPr>
                          </m:ctrlPr>
                        </m:dPr>
                        <m:e>
                          <m:r>
                            <a:rPr lang="en-US" altLang="zh-CN" sz="4000" b="0" i="1" smtClean="0">
                              <a:latin typeface="Cambria Math" panose="02040503050406030204" pitchFamily="18" charset="0"/>
                              <a:ea typeface="Cambria Math" panose="02040503050406030204" pitchFamily="18" charset="0"/>
                            </a:rPr>
                            <m:t>1+</m:t>
                          </m:r>
                          <m:r>
                            <a:rPr lang="en-US" altLang="zh-CN" sz="4000" b="0" i="1" smtClean="0">
                              <a:latin typeface="Cambria Math" panose="02040503050406030204" pitchFamily="18" charset="0"/>
                              <a:ea typeface="Cambria Math" panose="02040503050406030204" pitchFamily="18" charset="0"/>
                            </a:rPr>
                            <m:t>𝜆</m:t>
                          </m:r>
                          <m:sSup>
                            <m:sSupPr>
                              <m:ctrlPr>
                                <a:rPr lang="en-US" altLang="zh-CN" sz="4000" b="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𝑒</m:t>
                              </m:r>
                            </m:e>
                            <m:sup>
                              <m:r>
                                <a:rPr lang="en-US" altLang="zh-CN" sz="4000" b="0" i="1" smtClean="0">
                                  <a:latin typeface="Cambria Math" panose="02040503050406030204" pitchFamily="18" charset="0"/>
                                  <a:ea typeface="Cambria Math" panose="02040503050406030204" pitchFamily="18" charset="0"/>
                                </a:rPr>
                                <m:t>−</m:t>
                              </m:r>
                              <m:f>
                                <m:fPr>
                                  <m:ctrlPr>
                                    <a:rPr lang="en-US" altLang="zh-CN" sz="4000" b="0" i="1" smtClean="0">
                                      <a:latin typeface="Cambria Math" panose="02040503050406030204" pitchFamily="18" charset="0"/>
                                      <a:ea typeface="Cambria Math" panose="02040503050406030204" pitchFamily="18" charset="0"/>
                                    </a:rPr>
                                  </m:ctrlPr>
                                </m:fPr>
                                <m:num>
                                  <m:sSup>
                                    <m:sSupPr>
                                      <m:ctrlPr>
                                        <a:rPr lang="en-US" altLang="zh-CN" sz="4000" b="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ℏ</m:t>
                                      </m:r>
                                    </m:e>
                                    <m:sup>
                                      <m:r>
                                        <a:rPr lang="en-US" altLang="zh-CN" sz="4000" b="0" i="1" smtClean="0">
                                          <a:latin typeface="Cambria Math" panose="02040503050406030204" pitchFamily="18" charset="0"/>
                                          <a:ea typeface="Cambria Math" panose="02040503050406030204" pitchFamily="18" charset="0"/>
                                        </a:rPr>
                                        <m:t>2</m:t>
                                      </m:r>
                                    </m:sup>
                                  </m:sSup>
                                  <m:sSup>
                                    <m:sSupPr>
                                      <m:ctrlPr>
                                        <a:rPr lang="en-US" altLang="zh-CN" sz="4000" b="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𝑘</m:t>
                                      </m:r>
                                    </m:e>
                                    <m:sup>
                                      <m:r>
                                        <a:rPr lang="en-US" altLang="zh-CN" sz="4000" b="0" i="1" smtClean="0">
                                          <a:latin typeface="Cambria Math" panose="02040503050406030204" pitchFamily="18" charset="0"/>
                                          <a:ea typeface="Cambria Math" panose="02040503050406030204" pitchFamily="18" charset="0"/>
                                        </a:rPr>
                                        <m:t>2</m:t>
                                      </m:r>
                                    </m:sup>
                                  </m:sSup>
                                </m:num>
                                <m:den>
                                  <m:r>
                                    <a:rPr lang="en-US" altLang="zh-CN" sz="4000" b="0" i="1" smtClean="0">
                                      <a:latin typeface="Cambria Math" panose="02040503050406030204" pitchFamily="18" charset="0"/>
                                      <a:ea typeface="Cambria Math" panose="02040503050406030204" pitchFamily="18" charset="0"/>
                                    </a:rPr>
                                    <m:t>2</m:t>
                                  </m:r>
                                  <m:r>
                                    <a:rPr lang="en-US" altLang="zh-CN" sz="4000" b="0" i="1" smtClean="0">
                                      <a:latin typeface="Cambria Math" panose="02040503050406030204" pitchFamily="18" charset="0"/>
                                      <a:ea typeface="Cambria Math" panose="02040503050406030204" pitchFamily="18" charset="0"/>
                                    </a:rPr>
                                    <m:t>𝑚</m:t>
                                  </m:r>
                                  <m:r>
                                    <a:rPr lang="en-US" altLang="zh-CN" sz="4000" b="0" i="1" smtClean="0">
                                      <a:latin typeface="Cambria Math" panose="02040503050406030204" pitchFamily="18" charset="0"/>
                                      <a:ea typeface="Cambria Math" panose="02040503050406030204" pitchFamily="18" charset="0"/>
                                    </a:rPr>
                                    <m:t>𝜏</m:t>
                                  </m:r>
                                </m:den>
                              </m:f>
                            </m:sup>
                          </m:sSup>
                        </m:e>
                      </m:d>
                    </m:oMath>
                  </m:oMathPara>
                </a14:m>
                <a:endParaRPr lang="en-CN" sz="4000" dirty="0"/>
              </a:p>
            </p:txBody>
          </p:sp>
        </mc:Choice>
        <mc:Fallback xmlns="">
          <p:sp>
            <p:nvSpPr>
              <p:cNvPr id="5" name="TextBox 4">
                <a:extLst>
                  <a:ext uri="{FF2B5EF4-FFF2-40B4-BE49-F238E27FC236}">
                    <a16:creationId xmlns:a16="http://schemas.microsoft.com/office/drawing/2014/main" id="{0670D421-B159-083E-0AE2-49B82A01A5E8}"/>
                  </a:ext>
                </a:extLst>
              </p:cNvPr>
              <p:cNvSpPr txBox="1">
                <a:spLocks noRot="1" noChangeAspect="1" noMove="1" noResize="1" noEditPoints="1" noAdjustHandles="1" noChangeArrowheads="1" noChangeShapeType="1" noTextEdit="1"/>
              </p:cNvSpPr>
              <p:nvPr/>
            </p:nvSpPr>
            <p:spPr>
              <a:xfrm>
                <a:off x="249383" y="0"/>
                <a:ext cx="11263744" cy="3305457"/>
              </a:xfrm>
              <a:prstGeom prst="rect">
                <a:avLst/>
              </a:prstGeom>
              <a:blipFill>
                <a:blip r:embed="rId2"/>
                <a:stretch>
                  <a:fillRect t="-22222" b="-108812"/>
                </a:stretch>
              </a:blipFill>
            </p:spPr>
            <p:txBody>
              <a:bodyPr/>
              <a:lstStyle/>
              <a:p>
                <a:r>
                  <a:rPr lang="en-CN">
                    <a:noFill/>
                  </a:rPr>
                  <a:t> </a:t>
                </a:r>
              </a:p>
            </p:txBody>
          </p:sp>
        </mc:Fallback>
      </mc:AlternateContent>
      <p:sp>
        <p:nvSpPr>
          <p:cNvPr id="2" name="Down Arrow 1">
            <a:extLst>
              <a:ext uri="{FF2B5EF4-FFF2-40B4-BE49-F238E27FC236}">
                <a16:creationId xmlns:a16="http://schemas.microsoft.com/office/drawing/2014/main" id="{2322AF61-B013-B374-9091-AF741FC49BD0}"/>
              </a:ext>
            </a:extLst>
          </p:cNvPr>
          <p:cNvSpPr/>
          <p:nvPr/>
        </p:nvSpPr>
        <p:spPr>
          <a:xfrm>
            <a:off x="5486400" y="3429000"/>
            <a:ext cx="484909" cy="10460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8632BA6-69FB-855C-9484-63C1906D2E25}"/>
                  </a:ext>
                </a:extLst>
              </p:cNvPr>
              <p:cNvSpPr txBox="1"/>
              <p:nvPr/>
            </p:nvSpPr>
            <p:spPr>
              <a:xfrm>
                <a:off x="5728854" y="3572179"/>
                <a:ext cx="2105891" cy="6481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sz="1800" b="0" i="1" smtClean="0">
                              <a:solidFill>
                                <a:srgbClr val="FF0000"/>
                              </a:solidFill>
                              <a:latin typeface="Cambria Math" panose="02040503050406030204" pitchFamily="18" charset="0"/>
                              <a:ea typeface="Cambria Math" panose="02040503050406030204" pitchFamily="18" charset="0"/>
                            </a:rPr>
                          </m:ctrlPr>
                        </m:fPr>
                        <m:num>
                          <m:sSup>
                            <m:sSupPr>
                              <m:ctrlPr>
                                <a:rPr lang="en-US" altLang="zh-CN" sz="1800" b="0" i="1" smtClean="0">
                                  <a:solidFill>
                                    <a:srgbClr val="FF0000"/>
                                  </a:solidFill>
                                  <a:latin typeface="Cambria Math" panose="02040503050406030204" pitchFamily="18" charset="0"/>
                                  <a:ea typeface="Cambria Math" panose="02040503050406030204" pitchFamily="18" charset="0"/>
                                </a:rPr>
                              </m:ctrlPr>
                            </m:sSupPr>
                            <m:e>
                              <m:r>
                                <a:rPr lang="en-US" altLang="zh-CN" sz="1800" b="0" i="1" smtClean="0">
                                  <a:solidFill>
                                    <a:srgbClr val="FF0000"/>
                                  </a:solidFill>
                                  <a:latin typeface="Cambria Math" panose="02040503050406030204" pitchFamily="18" charset="0"/>
                                  <a:ea typeface="Cambria Math" panose="02040503050406030204" pitchFamily="18" charset="0"/>
                                </a:rPr>
                                <m:t>ℏ</m:t>
                              </m:r>
                            </m:e>
                            <m:sup>
                              <m:r>
                                <a:rPr lang="en-US" altLang="zh-CN" sz="1800" b="0" i="1" smtClean="0">
                                  <a:solidFill>
                                    <a:srgbClr val="FF0000"/>
                                  </a:solidFill>
                                  <a:latin typeface="Cambria Math" panose="02040503050406030204" pitchFamily="18" charset="0"/>
                                  <a:ea typeface="Cambria Math" panose="02040503050406030204" pitchFamily="18" charset="0"/>
                                </a:rPr>
                                <m:t>2</m:t>
                              </m:r>
                            </m:sup>
                          </m:sSup>
                          <m:sSup>
                            <m:sSupPr>
                              <m:ctrlPr>
                                <a:rPr lang="en-US" altLang="zh-CN" sz="1800" b="0" i="1" smtClean="0">
                                  <a:solidFill>
                                    <a:srgbClr val="FF0000"/>
                                  </a:solidFill>
                                  <a:latin typeface="Cambria Math" panose="02040503050406030204" pitchFamily="18" charset="0"/>
                                  <a:ea typeface="Cambria Math" panose="02040503050406030204" pitchFamily="18" charset="0"/>
                                </a:rPr>
                              </m:ctrlPr>
                            </m:sSupPr>
                            <m:e>
                              <m:r>
                                <a:rPr lang="en-US" altLang="zh-CN" sz="1800" b="0" i="1" smtClean="0">
                                  <a:solidFill>
                                    <a:srgbClr val="FF0000"/>
                                  </a:solidFill>
                                  <a:latin typeface="Cambria Math" panose="02040503050406030204" pitchFamily="18" charset="0"/>
                                  <a:ea typeface="Cambria Math" panose="02040503050406030204" pitchFamily="18" charset="0"/>
                                </a:rPr>
                                <m:t>𝑘</m:t>
                              </m:r>
                            </m:e>
                            <m:sup>
                              <m:r>
                                <a:rPr lang="en-US" altLang="zh-CN" sz="1800" b="0" i="1" smtClean="0">
                                  <a:solidFill>
                                    <a:srgbClr val="FF0000"/>
                                  </a:solidFill>
                                  <a:latin typeface="Cambria Math" panose="02040503050406030204" pitchFamily="18" charset="0"/>
                                  <a:ea typeface="Cambria Math" panose="02040503050406030204" pitchFamily="18" charset="0"/>
                                </a:rPr>
                                <m:t>2</m:t>
                              </m:r>
                            </m:sup>
                          </m:sSup>
                        </m:num>
                        <m:den>
                          <m:r>
                            <a:rPr lang="en-US" altLang="zh-CN" sz="1800" b="0" i="1" smtClean="0">
                              <a:solidFill>
                                <a:srgbClr val="FF0000"/>
                              </a:solidFill>
                              <a:latin typeface="Cambria Math" panose="02040503050406030204" pitchFamily="18" charset="0"/>
                              <a:ea typeface="Cambria Math" panose="02040503050406030204" pitchFamily="18" charset="0"/>
                            </a:rPr>
                            <m:t>2</m:t>
                          </m:r>
                          <m:r>
                            <a:rPr lang="en-US" altLang="zh-CN" sz="1800" b="0" i="1" smtClean="0">
                              <a:solidFill>
                                <a:srgbClr val="FF0000"/>
                              </a:solidFill>
                              <a:latin typeface="Cambria Math" panose="02040503050406030204" pitchFamily="18" charset="0"/>
                              <a:ea typeface="Cambria Math" panose="02040503050406030204" pitchFamily="18" charset="0"/>
                            </a:rPr>
                            <m:t>𝑚</m:t>
                          </m:r>
                          <m:r>
                            <a:rPr lang="en-US" altLang="zh-CN" sz="1800" b="0" i="1" smtClean="0">
                              <a:solidFill>
                                <a:srgbClr val="FF0000"/>
                              </a:solidFill>
                              <a:latin typeface="Cambria Math" panose="02040503050406030204" pitchFamily="18" charset="0"/>
                              <a:ea typeface="Cambria Math" panose="02040503050406030204" pitchFamily="18" charset="0"/>
                            </a:rPr>
                            <m:t>𝜏</m:t>
                          </m:r>
                        </m:den>
                      </m:f>
                      <m:r>
                        <a:rPr lang="en-US" altLang="zh-CN" sz="1800" b="0" i="0" smtClean="0">
                          <a:solidFill>
                            <a:srgbClr val="FF0000"/>
                          </a:solidFill>
                          <a:latin typeface="Cambria Math" panose="02040503050406030204" pitchFamily="18" charset="0"/>
                          <a:ea typeface="Cambria Math" panose="02040503050406030204" pitchFamily="18" charset="0"/>
                        </a:rPr>
                        <m:t>=</m:t>
                      </m:r>
                      <m:sSup>
                        <m:sSupPr>
                          <m:ctrlPr>
                            <a:rPr lang="en-US" altLang="zh-CN" sz="1800" b="0" i="1" smtClean="0">
                              <a:solidFill>
                                <a:srgbClr val="FF0000"/>
                              </a:solidFill>
                              <a:latin typeface="Cambria Math" panose="02040503050406030204" pitchFamily="18" charset="0"/>
                              <a:ea typeface="Cambria Math" panose="02040503050406030204" pitchFamily="18" charset="0"/>
                            </a:rPr>
                          </m:ctrlPr>
                        </m:sSupPr>
                        <m:e>
                          <m:r>
                            <a:rPr lang="en-US" altLang="zh-CN" sz="1800" b="0" i="1" smtClean="0">
                              <a:solidFill>
                                <a:srgbClr val="FF0000"/>
                              </a:solidFill>
                              <a:latin typeface="Cambria Math" panose="02040503050406030204" pitchFamily="18" charset="0"/>
                              <a:ea typeface="Cambria Math" panose="02040503050406030204" pitchFamily="18" charset="0"/>
                            </a:rPr>
                            <m:t>𝑥</m:t>
                          </m:r>
                        </m:e>
                        <m:sup>
                          <m:r>
                            <a:rPr lang="en-US" altLang="zh-CN" sz="1800" b="0" i="1" smtClean="0">
                              <a:solidFill>
                                <a:srgbClr val="FF0000"/>
                              </a:solidFill>
                              <a:latin typeface="Cambria Math" panose="02040503050406030204" pitchFamily="18" charset="0"/>
                              <a:ea typeface="Cambria Math" panose="02040503050406030204" pitchFamily="18" charset="0"/>
                            </a:rPr>
                            <m:t>2</m:t>
                          </m:r>
                        </m:sup>
                      </m:sSup>
                    </m:oMath>
                  </m:oMathPara>
                </a14:m>
                <a:endParaRPr lang="en-CN" dirty="0"/>
              </a:p>
            </p:txBody>
          </p:sp>
        </mc:Choice>
        <mc:Fallback xmlns="">
          <p:sp>
            <p:nvSpPr>
              <p:cNvPr id="4" name="TextBox 3">
                <a:extLst>
                  <a:ext uri="{FF2B5EF4-FFF2-40B4-BE49-F238E27FC236}">
                    <a16:creationId xmlns:a16="http://schemas.microsoft.com/office/drawing/2014/main" id="{18632BA6-69FB-855C-9484-63C1906D2E25}"/>
                  </a:ext>
                </a:extLst>
              </p:cNvPr>
              <p:cNvSpPr txBox="1">
                <a:spLocks noRot="1" noChangeAspect="1" noMove="1" noResize="1" noEditPoints="1" noAdjustHandles="1" noChangeArrowheads="1" noChangeShapeType="1" noTextEdit="1"/>
              </p:cNvSpPr>
              <p:nvPr/>
            </p:nvSpPr>
            <p:spPr>
              <a:xfrm>
                <a:off x="5728854" y="3572179"/>
                <a:ext cx="2105891" cy="648191"/>
              </a:xfrm>
              <a:prstGeom prst="rect">
                <a:avLst/>
              </a:prstGeom>
              <a:blipFill>
                <a:blip r:embed="rId3"/>
                <a:stretch>
                  <a:fillRect b="-384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55E00C8-D651-B47C-FCD1-2060BA93F166}"/>
                  </a:ext>
                </a:extLst>
              </p:cNvPr>
              <p:cNvSpPr txBox="1"/>
              <p:nvPr/>
            </p:nvSpPr>
            <p:spPr>
              <a:xfrm>
                <a:off x="2292927" y="4741740"/>
                <a:ext cx="7606145" cy="10383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2</m:t>
                          </m:r>
                          <m:r>
                            <a:rPr lang="en-US" altLang="zh-CN" sz="2800" b="0" i="1" smtClean="0">
                              <a:latin typeface="Cambria Math" panose="02040503050406030204" pitchFamily="18" charset="0"/>
                              <a:ea typeface="Cambria Math" panose="02040503050406030204" pitchFamily="18" charset="0"/>
                            </a:rPr>
                            <m:t>𝑠</m:t>
                          </m:r>
                          <m:r>
                            <a:rPr lang="en-US" altLang="zh-CN" sz="2800" b="0" i="1" smtClean="0">
                              <a:latin typeface="Cambria Math" panose="02040503050406030204" pitchFamily="18" charset="0"/>
                              <a:ea typeface="Cambria Math" panose="02040503050406030204" pitchFamily="18" charset="0"/>
                            </a:rPr>
                            <m:t>+1</m:t>
                          </m:r>
                        </m:num>
                        <m:den>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𝑑</m:t>
                              </m:r>
                            </m:e>
                            <m:sup>
                              <m:r>
                                <a:rPr lang="en-US" altLang="zh-CN" sz="2800" b="0" i="1" smtClean="0">
                                  <a:latin typeface="Cambria Math" panose="02040503050406030204" pitchFamily="18" charset="0"/>
                                  <a:ea typeface="Cambria Math" panose="02040503050406030204" pitchFamily="18" charset="0"/>
                                </a:rPr>
                                <m:t>3</m:t>
                              </m:r>
                            </m:sup>
                          </m:sSup>
                        </m:den>
                      </m:f>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4</m:t>
                          </m:r>
                          <m:r>
                            <a:rPr lang="en-US" altLang="zh-CN" sz="2800" b="0" i="1" smtClean="0">
                              <a:latin typeface="Cambria Math" panose="02040503050406030204" pitchFamily="18" charset="0"/>
                              <a:ea typeface="Cambria Math" panose="02040503050406030204" pitchFamily="18" charset="0"/>
                            </a:rPr>
                            <m:t>𝑉</m:t>
                          </m:r>
                        </m:num>
                        <m:den>
                          <m:rad>
                            <m:radPr>
                              <m:degHide m:val="on"/>
                              <m:ctrlPr>
                                <a:rPr lang="en-US" altLang="zh-CN" sz="2800" b="0" i="1" smtClean="0">
                                  <a:latin typeface="Cambria Math" panose="02040503050406030204" pitchFamily="18" charset="0"/>
                                  <a:ea typeface="Cambria Math" panose="02040503050406030204" pitchFamily="18" charset="0"/>
                                </a:rPr>
                              </m:ctrlPr>
                            </m:radPr>
                            <m:deg/>
                            <m:e>
                              <m:r>
                                <a:rPr lang="en-US" altLang="zh-CN" sz="2800" b="0" i="1" smtClean="0">
                                  <a:latin typeface="Cambria Math" panose="02040503050406030204" pitchFamily="18" charset="0"/>
                                  <a:ea typeface="Cambria Math" panose="02040503050406030204" pitchFamily="18" charset="0"/>
                                </a:rPr>
                                <m:t>𝜋</m:t>
                              </m:r>
                            </m:e>
                          </m:rad>
                        </m:den>
                      </m:f>
                      <m:nary>
                        <m:naryPr>
                          <m:ctrlPr>
                            <a:rPr lang="en-US" altLang="zh-CN" sz="2800" b="0" i="1" smtClean="0">
                              <a:latin typeface="Cambria Math" panose="02040503050406030204" pitchFamily="18" charset="0"/>
                              <a:ea typeface="Cambria Math" panose="02040503050406030204" pitchFamily="18" charset="0"/>
                            </a:rPr>
                          </m:ctrlPr>
                        </m:naryPr>
                        <m:sub>
                          <m:r>
                            <m:rPr>
                              <m:brk m:alnAt="23"/>
                            </m:rPr>
                            <a:rPr lang="en-US" altLang="zh-CN" sz="2800" b="0" i="1" smtClean="0">
                              <a:latin typeface="Cambria Math" panose="02040503050406030204" pitchFamily="18" charset="0"/>
                              <a:ea typeface="Cambria Math" panose="02040503050406030204" pitchFamily="18" charset="0"/>
                            </a:rPr>
                            <m:t>0</m:t>
                          </m:r>
                        </m:sub>
                        <m:sup>
                          <m:r>
                            <a:rPr lang="en-US" altLang="zh-CN" sz="2800" b="0" i="1" smtClean="0">
                              <a:latin typeface="Cambria Math" panose="02040503050406030204" pitchFamily="18" charset="0"/>
                              <a:ea typeface="Cambria Math" panose="02040503050406030204" pitchFamily="18" charset="0"/>
                            </a:rPr>
                            <m:t>∞</m:t>
                          </m:r>
                        </m:sup>
                        <m:e>
                          <m:r>
                            <a:rPr lang="en-US" altLang="zh-CN" sz="2800" b="0" i="1" smtClean="0">
                              <a:latin typeface="Cambria Math" panose="02040503050406030204" pitchFamily="18" charset="0"/>
                              <a:ea typeface="Cambria Math" panose="02040503050406030204" pitchFamily="18" charset="0"/>
                            </a:rPr>
                            <m:t>𝑑𝑥</m:t>
                          </m:r>
                        </m:e>
                      </m:nary>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𝑥</m:t>
                          </m:r>
                        </m:e>
                        <m:sup>
                          <m:r>
                            <a:rPr lang="en-US" altLang="zh-CN" sz="2800" b="0" i="1" smtClean="0">
                              <a:latin typeface="Cambria Math" panose="02040503050406030204" pitchFamily="18" charset="0"/>
                              <a:ea typeface="Cambria Math" panose="02040503050406030204" pitchFamily="18" charset="0"/>
                            </a:rPr>
                            <m:t>2</m:t>
                          </m:r>
                        </m:sup>
                      </m:sSup>
                      <m:r>
                        <a:rPr lang="en-US" altLang="zh-CN" sz="2800" b="0" i="1" smtClean="0">
                          <a:latin typeface="Cambria Math" panose="02040503050406030204" pitchFamily="18" charset="0"/>
                          <a:ea typeface="Cambria Math" panose="02040503050406030204" pitchFamily="18" charset="0"/>
                        </a:rPr>
                        <m:t>𝑙𝑜𝑔</m:t>
                      </m:r>
                      <m:d>
                        <m:dPr>
                          <m:ctrlPr>
                            <a:rPr lang="en-US" altLang="zh-CN" sz="2800" b="0" i="1" smtClean="0">
                              <a:latin typeface="Cambria Math" panose="02040503050406030204" pitchFamily="18" charset="0"/>
                              <a:ea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1+</m:t>
                          </m:r>
                          <m:r>
                            <a:rPr lang="en-US" altLang="zh-CN" sz="2800" b="0" i="1" smtClean="0">
                              <a:latin typeface="Cambria Math" panose="02040503050406030204" pitchFamily="18" charset="0"/>
                              <a:ea typeface="Cambria Math" panose="02040503050406030204" pitchFamily="18" charset="0"/>
                            </a:rPr>
                            <m:t>𝜆</m:t>
                          </m:r>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𝑒</m:t>
                              </m:r>
                            </m:e>
                            <m:sup>
                              <m:r>
                                <a:rPr lang="en-US" altLang="zh-CN" sz="2800" b="0" i="1" smtClean="0">
                                  <a:latin typeface="Cambria Math" panose="02040503050406030204" pitchFamily="18" charset="0"/>
                                  <a:ea typeface="Cambria Math" panose="02040503050406030204" pitchFamily="18" charset="0"/>
                                </a:rPr>
                                <m:t>−</m:t>
                              </m:r>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𝑥</m:t>
                                  </m:r>
                                </m:e>
                                <m:sup>
                                  <m:r>
                                    <a:rPr lang="en-US" altLang="zh-CN" sz="2800" b="0" i="1" smtClean="0">
                                      <a:latin typeface="Cambria Math" panose="02040503050406030204" pitchFamily="18" charset="0"/>
                                      <a:ea typeface="Cambria Math" panose="02040503050406030204" pitchFamily="18" charset="0"/>
                                    </a:rPr>
                                    <m:t>2</m:t>
                                  </m:r>
                                </m:sup>
                              </m:sSup>
                            </m:sup>
                          </m:sSup>
                        </m:e>
                      </m:d>
                    </m:oMath>
                  </m:oMathPara>
                </a14:m>
                <a:endParaRPr lang="en-CN" sz="2800" dirty="0"/>
              </a:p>
            </p:txBody>
          </p:sp>
        </mc:Choice>
        <mc:Fallback xmlns="">
          <p:sp>
            <p:nvSpPr>
              <p:cNvPr id="7" name="TextBox 6">
                <a:extLst>
                  <a:ext uri="{FF2B5EF4-FFF2-40B4-BE49-F238E27FC236}">
                    <a16:creationId xmlns:a16="http://schemas.microsoft.com/office/drawing/2014/main" id="{D55E00C8-D651-B47C-FCD1-2060BA93F166}"/>
                  </a:ext>
                </a:extLst>
              </p:cNvPr>
              <p:cNvSpPr txBox="1">
                <a:spLocks noRot="1" noChangeAspect="1" noMove="1" noResize="1" noEditPoints="1" noAdjustHandles="1" noChangeArrowheads="1" noChangeShapeType="1" noTextEdit="1"/>
              </p:cNvSpPr>
              <p:nvPr/>
            </p:nvSpPr>
            <p:spPr>
              <a:xfrm>
                <a:off x="2292927" y="4741740"/>
                <a:ext cx="7606145" cy="1038361"/>
              </a:xfrm>
              <a:prstGeom prst="rect">
                <a:avLst/>
              </a:prstGeom>
              <a:blipFill>
                <a:blip r:embed="rId4"/>
                <a:stretch>
                  <a:fillRect t="-167470" b="-24096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54B48F1-FF1C-6797-B769-5E3212CAB6A3}"/>
                  </a:ext>
                </a:extLst>
              </p:cNvPr>
              <p:cNvSpPr txBox="1"/>
              <p:nvPr/>
            </p:nvSpPr>
            <p:spPr>
              <a:xfrm>
                <a:off x="8723870" y="5780101"/>
                <a:ext cx="2286749" cy="9106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ea typeface="Cambria Math" panose="02040503050406030204" pitchFamily="18" charset="0"/>
                        </a:rPr>
                        <m:t>𝑑</m:t>
                      </m:r>
                      <m:r>
                        <a:rPr lang="en-US" altLang="zh-CN" sz="1800" b="0" i="1" smtClean="0">
                          <a:latin typeface="Cambria Math" panose="02040503050406030204" pitchFamily="18" charset="0"/>
                          <a:ea typeface="Cambria Math" panose="02040503050406030204" pitchFamily="18" charset="0"/>
                        </a:rPr>
                        <m:t>=</m:t>
                      </m:r>
                      <m:rad>
                        <m:radPr>
                          <m:degHide m:val="on"/>
                          <m:ctrlPr>
                            <a:rPr lang="en-US" altLang="zh-CN" sz="1800" b="0" i="1" smtClean="0">
                              <a:latin typeface="Cambria Math" panose="02040503050406030204" pitchFamily="18" charset="0"/>
                              <a:ea typeface="Cambria Math" panose="02040503050406030204" pitchFamily="18" charset="0"/>
                            </a:rPr>
                          </m:ctrlPr>
                        </m:radPr>
                        <m:deg/>
                        <m:e>
                          <m:f>
                            <m:fPr>
                              <m:ctrlPr>
                                <a:rPr lang="en-US" altLang="zh-CN" sz="1800" b="0" i="1" smtClean="0">
                                  <a:latin typeface="Cambria Math" panose="02040503050406030204" pitchFamily="18" charset="0"/>
                                  <a:ea typeface="Cambria Math" panose="02040503050406030204" pitchFamily="18" charset="0"/>
                                </a:rPr>
                              </m:ctrlPr>
                            </m:fPr>
                            <m:num>
                              <m:r>
                                <a:rPr lang="en-US" altLang="zh-CN" sz="1800" b="0" i="1" smtClean="0">
                                  <a:latin typeface="Cambria Math" panose="02040503050406030204" pitchFamily="18" charset="0"/>
                                  <a:ea typeface="Cambria Math" panose="02040503050406030204" pitchFamily="18" charset="0"/>
                                </a:rPr>
                                <m:t>2</m:t>
                              </m:r>
                              <m:r>
                                <a:rPr lang="en-US" altLang="zh-CN" sz="1800" b="0" i="1" smtClean="0">
                                  <a:latin typeface="Cambria Math" panose="02040503050406030204" pitchFamily="18" charset="0"/>
                                  <a:ea typeface="Cambria Math" panose="02040503050406030204" pitchFamily="18" charset="0"/>
                                </a:rPr>
                                <m:t>𝜋</m:t>
                              </m:r>
                              <m:sSup>
                                <m:sSupPr>
                                  <m:ctrlPr>
                                    <a:rPr lang="en-US" altLang="zh-CN" sz="1800" b="0" i="1" smtClean="0">
                                      <a:latin typeface="Cambria Math" panose="02040503050406030204" pitchFamily="18" charset="0"/>
                                      <a:ea typeface="Cambria Math" panose="02040503050406030204" pitchFamily="18" charset="0"/>
                                    </a:rPr>
                                  </m:ctrlPr>
                                </m:sSupPr>
                                <m:e>
                                  <m:r>
                                    <a:rPr lang="en-US" altLang="zh-CN" sz="1800" b="0" i="1" smtClean="0">
                                      <a:latin typeface="Cambria Math" panose="02040503050406030204" pitchFamily="18" charset="0"/>
                                      <a:ea typeface="Cambria Math" panose="02040503050406030204" pitchFamily="18" charset="0"/>
                                    </a:rPr>
                                    <m:t>ℏ</m:t>
                                  </m:r>
                                </m:e>
                                <m:sup>
                                  <m:r>
                                    <a:rPr lang="en-US" altLang="zh-CN" sz="1800" b="0" i="1" smtClean="0">
                                      <a:latin typeface="Cambria Math" panose="02040503050406030204" pitchFamily="18" charset="0"/>
                                      <a:ea typeface="Cambria Math" panose="02040503050406030204" pitchFamily="18" charset="0"/>
                                    </a:rPr>
                                    <m:t>2</m:t>
                                  </m:r>
                                </m:sup>
                              </m:sSup>
                            </m:num>
                            <m:den>
                              <m:r>
                                <a:rPr lang="en-US" altLang="zh-CN" sz="1800" b="0" i="1" smtClean="0">
                                  <a:latin typeface="Cambria Math" panose="02040503050406030204" pitchFamily="18" charset="0"/>
                                  <a:ea typeface="Cambria Math" panose="02040503050406030204" pitchFamily="18" charset="0"/>
                                </a:rPr>
                                <m:t>𝑚</m:t>
                              </m:r>
                              <m:r>
                                <a:rPr lang="en-US" altLang="zh-CN" sz="1800" b="0" i="1" smtClean="0">
                                  <a:latin typeface="Cambria Math" panose="02040503050406030204" pitchFamily="18" charset="0"/>
                                  <a:ea typeface="Cambria Math" panose="02040503050406030204" pitchFamily="18" charset="0"/>
                                </a:rPr>
                                <m:t>𝜏</m:t>
                              </m:r>
                            </m:den>
                          </m:f>
                        </m:e>
                      </m:rad>
                      <m:r>
                        <a:rPr lang="en-US" altLang="zh-CN" sz="1800" b="0" i="1" smtClean="0">
                          <a:latin typeface="Cambria Math" panose="02040503050406030204" pitchFamily="18" charset="0"/>
                          <a:ea typeface="Cambria Math" panose="02040503050406030204" pitchFamily="18" charset="0"/>
                        </a:rPr>
                        <m:t>=</m:t>
                      </m:r>
                      <m:f>
                        <m:fPr>
                          <m:ctrlPr>
                            <a:rPr lang="en-US" altLang="zh-CN" sz="1800" b="0" i="1" smtClean="0">
                              <a:latin typeface="Cambria Math" panose="02040503050406030204" pitchFamily="18" charset="0"/>
                              <a:ea typeface="Cambria Math" panose="02040503050406030204" pitchFamily="18" charset="0"/>
                            </a:rPr>
                          </m:ctrlPr>
                        </m:fPr>
                        <m:num>
                          <m:r>
                            <a:rPr lang="en-US" altLang="zh-CN" sz="1800" b="0" i="1" smtClean="0">
                              <a:latin typeface="Cambria Math" panose="02040503050406030204" pitchFamily="18" charset="0"/>
                              <a:ea typeface="Cambria Math" panose="02040503050406030204" pitchFamily="18" charset="0"/>
                            </a:rPr>
                            <m:t>1</m:t>
                          </m:r>
                        </m:num>
                        <m:den>
                          <m:rad>
                            <m:radPr>
                              <m:ctrlPr>
                                <a:rPr lang="en-US" altLang="zh-CN" sz="1800" b="0" i="1" smtClean="0">
                                  <a:latin typeface="Cambria Math" panose="02040503050406030204" pitchFamily="18" charset="0"/>
                                  <a:ea typeface="Cambria Math" panose="02040503050406030204" pitchFamily="18" charset="0"/>
                                </a:rPr>
                              </m:ctrlPr>
                            </m:radPr>
                            <m:deg>
                              <m:r>
                                <a:rPr lang="en-US" altLang="zh-CN" sz="1800" b="0" i="1" smtClean="0">
                                  <a:latin typeface="Cambria Math" panose="02040503050406030204" pitchFamily="18" charset="0"/>
                                  <a:ea typeface="Cambria Math" panose="02040503050406030204" pitchFamily="18" charset="0"/>
                                </a:rPr>
                                <m:t>3</m:t>
                              </m:r>
                            </m:deg>
                            <m:e>
                              <m:sSub>
                                <m:sSubPr>
                                  <m:ctrlPr>
                                    <a:rPr lang="en-US" altLang="zh-CN" sz="1800" b="0" i="1" smtClean="0">
                                      <a:latin typeface="Cambria Math" panose="02040503050406030204" pitchFamily="18" charset="0"/>
                                      <a:ea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𝑛</m:t>
                                  </m:r>
                                </m:e>
                                <m:sub>
                                  <m:r>
                                    <a:rPr lang="en-US" altLang="zh-CN" sz="1800" b="0" i="1" smtClean="0">
                                      <a:latin typeface="Cambria Math" panose="02040503050406030204" pitchFamily="18" charset="0"/>
                                      <a:ea typeface="Cambria Math" panose="02040503050406030204" pitchFamily="18" charset="0"/>
                                    </a:rPr>
                                    <m:t>𝑄</m:t>
                                  </m:r>
                                </m:sub>
                              </m:sSub>
                            </m:e>
                          </m:rad>
                        </m:den>
                      </m:f>
                    </m:oMath>
                  </m:oMathPara>
                </a14:m>
                <a:endParaRPr lang="en-CN" dirty="0"/>
              </a:p>
            </p:txBody>
          </p:sp>
        </mc:Choice>
        <mc:Fallback xmlns="">
          <p:sp>
            <p:nvSpPr>
              <p:cNvPr id="9" name="TextBox 8">
                <a:extLst>
                  <a:ext uri="{FF2B5EF4-FFF2-40B4-BE49-F238E27FC236}">
                    <a16:creationId xmlns:a16="http://schemas.microsoft.com/office/drawing/2014/main" id="{D54B48F1-FF1C-6797-B769-5E3212CAB6A3}"/>
                  </a:ext>
                </a:extLst>
              </p:cNvPr>
              <p:cNvSpPr txBox="1">
                <a:spLocks noRot="1" noChangeAspect="1" noMove="1" noResize="1" noEditPoints="1" noAdjustHandles="1" noChangeArrowheads="1" noChangeShapeType="1" noTextEdit="1"/>
              </p:cNvSpPr>
              <p:nvPr/>
            </p:nvSpPr>
            <p:spPr>
              <a:xfrm>
                <a:off x="8723870" y="5780101"/>
                <a:ext cx="2286749" cy="910699"/>
              </a:xfrm>
              <a:prstGeom prst="rect">
                <a:avLst/>
              </a:prstGeom>
              <a:blipFill>
                <a:blip r:embed="rId5"/>
                <a:stretch>
                  <a:fillRect/>
                </a:stretch>
              </a:blipFill>
            </p:spPr>
            <p:txBody>
              <a:bodyPr/>
              <a:lstStyle/>
              <a:p>
                <a:r>
                  <a:rPr lang="en-CN">
                    <a:noFill/>
                  </a:rPr>
                  <a:t> </a:t>
                </a:r>
              </a:p>
            </p:txBody>
          </p:sp>
        </mc:Fallback>
      </mc:AlternateContent>
    </p:spTree>
    <p:extLst>
      <p:ext uri="{BB962C8B-B14F-4D97-AF65-F5344CB8AC3E}">
        <p14:creationId xmlns:p14="http://schemas.microsoft.com/office/powerpoint/2010/main" val="32595531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C68CE6E-51B6-0763-908B-CE728700F79A}"/>
                  </a:ext>
                </a:extLst>
              </p:cNvPr>
              <p:cNvSpPr txBox="1"/>
              <p:nvPr/>
            </p:nvSpPr>
            <p:spPr>
              <a:xfrm>
                <a:off x="2085109" y="419122"/>
                <a:ext cx="7606145" cy="10383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2</m:t>
                          </m:r>
                          <m:r>
                            <a:rPr lang="en-US" altLang="zh-CN" sz="2800" b="0" i="1" smtClean="0">
                              <a:latin typeface="Cambria Math" panose="02040503050406030204" pitchFamily="18" charset="0"/>
                              <a:ea typeface="Cambria Math" panose="02040503050406030204" pitchFamily="18" charset="0"/>
                            </a:rPr>
                            <m:t>𝑠</m:t>
                          </m:r>
                          <m:r>
                            <a:rPr lang="en-US" altLang="zh-CN" sz="2800" b="0" i="1" smtClean="0">
                              <a:latin typeface="Cambria Math" panose="02040503050406030204" pitchFamily="18" charset="0"/>
                              <a:ea typeface="Cambria Math" panose="02040503050406030204" pitchFamily="18" charset="0"/>
                            </a:rPr>
                            <m:t>+1</m:t>
                          </m:r>
                        </m:num>
                        <m:den>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𝑑</m:t>
                              </m:r>
                            </m:e>
                            <m:sup>
                              <m:r>
                                <a:rPr lang="en-US" altLang="zh-CN" sz="2800" b="0" i="1" smtClean="0">
                                  <a:latin typeface="Cambria Math" panose="02040503050406030204" pitchFamily="18" charset="0"/>
                                  <a:ea typeface="Cambria Math" panose="02040503050406030204" pitchFamily="18" charset="0"/>
                                </a:rPr>
                                <m:t>3</m:t>
                              </m:r>
                            </m:sup>
                          </m:sSup>
                        </m:den>
                      </m:f>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4</m:t>
                          </m:r>
                          <m:r>
                            <a:rPr lang="en-US" altLang="zh-CN" sz="2800" b="0" i="1" smtClean="0">
                              <a:latin typeface="Cambria Math" panose="02040503050406030204" pitchFamily="18" charset="0"/>
                              <a:ea typeface="Cambria Math" panose="02040503050406030204" pitchFamily="18" charset="0"/>
                            </a:rPr>
                            <m:t>𝑉</m:t>
                          </m:r>
                        </m:num>
                        <m:den>
                          <m:rad>
                            <m:radPr>
                              <m:degHide m:val="on"/>
                              <m:ctrlPr>
                                <a:rPr lang="en-US" altLang="zh-CN" sz="2800" b="0" i="1" smtClean="0">
                                  <a:latin typeface="Cambria Math" panose="02040503050406030204" pitchFamily="18" charset="0"/>
                                  <a:ea typeface="Cambria Math" panose="02040503050406030204" pitchFamily="18" charset="0"/>
                                </a:rPr>
                              </m:ctrlPr>
                            </m:radPr>
                            <m:deg/>
                            <m:e>
                              <m:r>
                                <a:rPr lang="en-US" altLang="zh-CN" sz="2800" b="0" i="1" smtClean="0">
                                  <a:latin typeface="Cambria Math" panose="02040503050406030204" pitchFamily="18" charset="0"/>
                                  <a:ea typeface="Cambria Math" panose="02040503050406030204" pitchFamily="18" charset="0"/>
                                </a:rPr>
                                <m:t>𝜋</m:t>
                              </m:r>
                            </m:e>
                          </m:rad>
                        </m:den>
                      </m:f>
                      <m:nary>
                        <m:naryPr>
                          <m:ctrlPr>
                            <a:rPr lang="en-US" altLang="zh-CN" sz="2800" b="0" i="1" smtClean="0">
                              <a:latin typeface="Cambria Math" panose="02040503050406030204" pitchFamily="18" charset="0"/>
                              <a:ea typeface="Cambria Math" panose="02040503050406030204" pitchFamily="18" charset="0"/>
                            </a:rPr>
                          </m:ctrlPr>
                        </m:naryPr>
                        <m:sub>
                          <m:r>
                            <m:rPr>
                              <m:brk m:alnAt="23"/>
                            </m:rPr>
                            <a:rPr lang="en-US" altLang="zh-CN" sz="2800" b="0" i="1" smtClean="0">
                              <a:latin typeface="Cambria Math" panose="02040503050406030204" pitchFamily="18" charset="0"/>
                              <a:ea typeface="Cambria Math" panose="02040503050406030204" pitchFamily="18" charset="0"/>
                            </a:rPr>
                            <m:t>0</m:t>
                          </m:r>
                        </m:sub>
                        <m:sup>
                          <m:r>
                            <a:rPr lang="en-US" altLang="zh-CN" sz="2800" b="0" i="1" smtClean="0">
                              <a:latin typeface="Cambria Math" panose="02040503050406030204" pitchFamily="18" charset="0"/>
                              <a:ea typeface="Cambria Math" panose="02040503050406030204" pitchFamily="18" charset="0"/>
                            </a:rPr>
                            <m:t>∞</m:t>
                          </m:r>
                        </m:sup>
                        <m:e>
                          <m:r>
                            <a:rPr lang="en-US" altLang="zh-CN" sz="2800" b="0" i="1" smtClean="0">
                              <a:latin typeface="Cambria Math" panose="02040503050406030204" pitchFamily="18" charset="0"/>
                              <a:ea typeface="Cambria Math" panose="02040503050406030204" pitchFamily="18" charset="0"/>
                            </a:rPr>
                            <m:t>𝑑𝑥</m:t>
                          </m:r>
                        </m:e>
                      </m:nary>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𝑥</m:t>
                          </m:r>
                        </m:e>
                        <m:sup>
                          <m:r>
                            <a:rPr lang="en-US" altLang="zh-CN" sz="2800" b="0" i="1" smtClean="0">
                              <a:latin typeface="Cambria Math" panose="02040503050406030204" pitchFamily="18" charset="0"/>
                              <a:ea typeface="Cambria Math" panose="02040503050406030204" pitchFamily="18" charset="0"/>
                            </a:rPr>
                            <m:t>2</m:t>
                          </m:r>
                        </m:sup>
                      </m:sSup>
                      <m:r>
                        <a:rPr lang="en-US" altLang="zh-CN" sz="2800" b="0" i="1" smtClean="0">
                          <a:latin typeface="Cambria Math" panose="02040503050406030204" pitchFamily="18" charset="0"/>
                          <a:ea typeface="Cambria Math" panose="02040503050406030204" pitchFamily="18" charset="0"/>
                        </a:rPr>
                        <m:t>𝑙𝑜𝑔</m:t>
                      </m:r>
                      <m:d>
                        <m:dPr>
                          <m:ctrlPr>
                            <a:rPr lang="en-US" altLang="zh-CN" sz="2800" b="0" i="1" smtClean="0">
                              <a:latin typeface="Cambria Math" panose="02040503050406030204" pitchFamily="18" charset="0"/>
                              <a:ea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1+</m:t>
                          </m:r>
                          <m:r>
                            <a:rPr lang="en-US" altLang="zh-CN" sz="2800" b="0" i="1" smtClean="0">
                              <a:latin typeface="Cambria Math" panose="02040503050406030204" pitchFamily="18" charset="0"/>
                              <a:ea typeface="Cambria Math" panose="02040503050406030204" pitchFamily="18" charset="0"/>
                            </a:rPr>
                            <m:t>𝜆</m:t>
                          </m:r>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𝑒</m:t>
                              </m:r>
                            </m:e>
                            <m:sup>
                              <m:r>
                                <a:rPr lang="en-US" altLang="zh-CN" sz="2800" b="0" i="1" smtClean="0">
                                  <a:latin typeface="Cambria Math" panose="02040503050406030204" pitchFamily="18" charset="0"/>
                                  <a:ea typeface="Cambria Math" panose="02040503050406030204" pitchFamily="18" charset="0"/>
                                </a:rPr>
                                <m:t>−</m:t>
                              </m:r>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𝑥</m:t>
                                  </m:r>
                                </m:e>
                                <m:sup>
                                  <m:r>
                                    <a:rPr lang="en-US" altLang="zh-CN" sz="2800" b="0" i="1" smtClean="0">
                                      <a:latin typeface="Cambria Math" panose="02040503050406030204" pitchFamily="18" charset="0"/>
                                      <a:ea typeface="Cambria Math" panose="02040503050406030204" pitchFamily="18" charset="0"/>
                                    </a:rPr>
                                    <m:t>2</m:t>
                                  </m:r>
                                </m:sup>
                              </m:sSup>
                            </m:sup>
                          </m:sSup>
                        </m:e>
                      </m:d>
                    </m:oMath>
                  </m:oMathPara>
                </a14:m>
                <a:endParaRPr lang="en-CN" sz="2800" dirty="0"/>
              </a:p>
            </p:txBody>
          </p:sp>
        </mc:Choice>
        <mc:Fallback xmlns="">
          <p:sp>
            <p:nvSpPr>
              <p:cNvPr id="3" name="TextBox 2">
                <a:extLst>
                  <a:ext uri="{FF2B5EF4-FFF2-40B4-BE49-F238E27FC236}">
                    <a16:creationId xmlns:a16="http://schemas.microsoft.com/office/drawing/2014/main" id="{4C68CE6E-51B6-0763-908B-CE728700F79A}"/>
                  </a:ext>
                </a:extLst>
              </p:cNvPr>
              <p:cNvSpPr txBox="1">
                <a:spLocks noRot="1" noChangeAspect="1" noMove="1" noResize="1" noEditPoints="1" noAdjustHandles="1" noChangeArrowheads="1" noChangeShapeType="1" noTextEdit="1"/>
              </p:cNvSpPr>
              <p:nvPr/>
            </p:nvSpPr>
            <p:spPr>
              <a:xfrm>
                <a:off x="2085109" y="419122"/>
                <a:ext cx="7606145" cy="1038361"/>
              </a:xfrm>
              <a:prstGeom prst="rect">
                <a:avLst/>
              </a:prstGeom>
              <a:blipFill>
                <a:blip r:embed="rId2"/>
                <a:stretch>
                  <a:fillRect t="-169512" b="-24390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96C47EA-90BD-9435-5122-4CC4DECF5BC2}"/>
                  </a:ext>
                </a:extLst>
              </p:cNvPr>
              <p:cNvSpPr txBox="1"/>
              <p:nvPr/>
            </p:nvSpPr>
            <p:spPr>
              <a:xfrm>
                <a:off x="6276109" y="2042130"/>
                <a:ext cx="3920836" cy="788614"/>
              </a:xfrm>
              <a:prstGeom prst="rect">
                <a:avLst/>
              </a:prstGeom>
              <a:noFill/>
            </p:spPr>
            <p:txBody>
              <a:bodyPr wrap="square" rtlCol="0">
                <a:spAutoFit/>
              </a:bodyPr>
              <a:lstStyle/>
              <a:p>
                <a:pPr marL="285750" indent="-285750">
                  <a:buFont typeface="Arial" panose="020B0604020202020204" pitchFamily="34" charset="0"/>
                  <a:buChar char="•"/>
                </a:pPr>
                <a:r>
                  <a:rPr lang="en-CN" dirty="0"/>
                  <a:t>Taylor expansion of the logarithm</a:t>
                </a:r>
              </a:p>
              <a:p>
                <a:pPr marL="285750" indent="-285750">
                  <a:buFont typeface="Arial" panose="020B0604020202020204" pitchFamily="34" charset="0"/>
                  <a:buChar char="•"/>
                </a:pPr>
                <a14:m>
                  <m:oMath xmlns:m="http://schemas.openxmlformats.org/officeDocument/2006/math">
                    <m:sSub>
                      <m:sSubPr>
                        <m:ctrlPr>
                          <a:rPr lang="en-CN"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𝑓</m:t>
                        </m:r>
                      </m:e>
                      <m:sub>
                        <m:r>
                          <a:rPr lang="en-US" b="0" i="1" smtClean="0">
                            <a:solidFill>
                              <a:srgbClr val="7030A0"/>
                            </a:solidFill>
                            <a:latin typeface="Cambria Math" panose="02040503050406030204" pitchFamily="18" charset="0"/>
                          </a:rPr>
                          <m:t>5/2</m:t>
                        </m:r>
                      </m:sub>
                    </m:sSub>
                    <m:d>
                      <m:dPr>
                        <m:ctrlPr>
                          <a:rPr lang="en-CN" i="1" smtClean="0">
                            <a:solidFill>
                              <a:srgbClr val="7030A0"/>
                            </a:solidFill>
                            <a:latin typeface="Cambria Math" panose="02040503050406030204" pitchFamily="18" charset="0"/>
                          </a:rPr>
                        </m:ctrlPr>
                      </m:dPr>
                      <m:e>
                        <m:r>
                          <a:rPr lang="en-CN" i="1" smtClean="0">
                            <a:solidFill>
                              <a:srgbClr val="7030A0"/>
                            </a:solidFill>
                            <a:latin typeface="Cambria Math" panose="02040503050406030204" pitchFamily="18" charset="0"/>
                            <a:ea typeface="Cambria Math" panose="02040503050406030204" pitchFamily="18" charset="0"/>
                          </a:rPr>
                          <m:t>𝜆</m:t>
                        </m:r>
                      </m:e>
                    </m:d>
                    <m:r>
                      <a:rPr lang="en-US" b="0" i="1" smtClean="0">
                        <a:solidFill>
                          <a:srgbClr val="7030A0"/>
                        </a:solidFill>
                        <a:latin typeface="Cambria Math" panose="02040503050406030204" pitchFamily="18" charset="0"/>
                      </a:rPr>
                      <m:t>=</m:t>
                    </m:r>
                    <m:nary>
                      <m:naryPr>
                        <m:chr m:val="∑"/>
                        <m:ctrlPr>
                          <a:rPr lang="en-US" b="0" i="1" smtClean="0">
                            <a:solidFill>
                              <a:srgbClr val="7030A0"/>
                            </a:solidFill>
                            <a:latin typeface="Cambria Math" panose="02040503050406030204" pitchFamily="18" charset="0"/>
                          </a:rPr>
                        </m:ctrlPr>
                      </m:naryPr>
                      <m:sub>
                        <m:r>
                          <m:rPr>
                            <m:brk m:alnAt="23"/>
                          </m:rPr>
                          <a:rPr lang="en-US" b="0" i="1" smtClean="0">
                            <a:solidFill>
                              <a:srgbClr val="7030A0"/>
                            </a:solidFill>
                            <a:latin typeface="Cambria Math" panose="02040503050406030204" pitchFamily="18" charset="0"/>
                          </a:rPr>
                          <m:t>𝑛</m:t>
                        </m:r>
                        <m:r>
                          <a:rPr lang="en-US" b="0" i="1" smtClean="0">
                            <a:solidFill>
                              <a:srgbClr val="7030A0"/>
                            </a:solidFill>
                            <a:latin typeface="Cambria Math" panose="02040503050406030204" pitchFamily="18" charset="0"/>
                          </a:rPr>
                          <m:t>=1</m:t>
                        </m:r>
                      </m:sub>
                      <m:sup>
                        <m:r>
                          <a:rPr lang="en-US" b="0" i="1" smtClean="0">
                            <a:solidFill>
                              <a:srgbClr val="7030A0"/>
                            </a:solidFill>
                            <a:latin typeface="Cambria Math" panose="02040503050406030204" pitchFamily="18" charset="0"/>
                            <a:ea typeface="Cambria Math" panose="02040503050406030204" pitchFamily="18" charset="0"/>
                          </a:rPr>
                          <m:t>∞</m:t>
                        </m:r>
                      </m:sup>
                      <m:e>
                        <m:sSup>
                          <m:sSupPr>
                            <m:ctrlPr>
                              <a:rPr lang="en-US" b="0" i="1" smtClean="0">
                                <a:solidFill>
                                  <a:srgbClr val="7030A0"/>
                                </a:solidFill>
                                <a:latin typeface="Cambria Math" panose="02040503050406030204" pitchFamily="18" charset="0"/>
                              </a:rPr>
                            </m:ctrlPr>
                          </m:sSupPr>
                          <m:e>
                            <m:r>
                              <a:rPr lang="en-US" b="0" i="1" smtClean="0">
                                <a:solidFill>
                                  <a:srgbClr val="7030A0"/>
                                </a:solidFill>
                                <a:latin typeface="Cambria Math" panose="02040503050406030204" pitchFamily="18" charset="0"/>
                              </a:rPr>
                              <m:t>(−1)</m:t>
                            </m:r>
                          </m:e>
                          <m:sup>
                            <m:r>
                              <a:rPr lang="en-US" b="0" i="1" smtClean="0">
                                <a:solidFill>
                                  <a:srgbClr val="7030A0"/>
                                </a:solidFill>
                                <a:latin typeface="Cambria Math" panose="02040503050406030204" pitchFamily="18" charset="0"/>
                              </a:rPr>
                              <m:t>𝑛</m:t>
                            </m:r>
                            <m:r>
                              <a:rPr lang="en-US" b="0" i="1" smtClean="0">
                                <a:solidFill>
                                  <a:srgbClr val="7030A0"/>
                                </a:solidFill>
                                <a:latin typeface="Cambria Math" panose="02040503050406030204" pitchFamily="18" charset="0"/>
                              </a:rPr>
                              <m:t>+1</m:t>
                            </m:r>
                          </m:sup>
                        </m:sSup>
                        <m:f>
                          <m:fPr>
                            <m:ctrlPr>
                              <a:rPr lang="en-US" b="0" i="1" smtClean="0">
                                <a:solidFill>
                                  <a:srgbClr val="7030A0"/>
                                </a:solidFill>
                                <a:latin typeface="Cambria Math" panose="02040503050406030204" pitchFamily="18" charset="0"/>
                              </a:rPr>
                            </m:ctrlPr>
                          </m:fPr>
                          <m:num>
                            <m:sSup>
                              <m:sSupPr>
                                <m:ctrlPr>
                                  <a:rPr lang="en-US" b="0" i="1" smtClean="0">
                                    <a:solidFill>
                                      <a:srgbClr val="7030A0"/>
                                    </a:solidFill>
                                    <a:latin typeface="Cambria Math" panose="02040503050406030204" pitchFamily="18" charset="0"/>
                                  </a:rPr>
                                </m:ctrlPr>
                              </m:sSupPr>
                              <m:e>
                                <m:r>
                                  <a:rPr lang="en-US" b="0" i="1" smtClean="0">
                                    <a:solidFill>
                                      <a:srgbClr val="7030A0"/>
                                    </a:solidFill>
                                    <a:latin typeface="Cambria Math" panose="02040503050406030204" pitchFamily="18" charset="0"/>
                                    <a:ea typeface="Cambria Math" panose="02040503050406030204" pitchFamily="18" charset="0"/>
                                  </a:rPr>
                                  <m:t>𝜆</m:t>
                                </m:r>
                              </m:e>
                              <m:sup>
                                <m:r>
                                  <a:rPr lang="en-US" b="0" i="1" smtClean="0">
                                    <a:solidFill>
                                      <a:srgbClr val="7030A0"/>
                                    </a:solidFill>
                                    <a:latin typeface="Cambria Math" panose="02040503050406030204" pitchFamily="18" charset="0"/>
                                  </a:rPr>
                                  <m:t>𝑛</m:t>
                                </m:r>
                              </m:sup>
                            </m:sSup>
                          </m:num>
                          <m:den>
                            <m:sSup>
                              <m:sSupPr>
                                <m:ctrlPr>
                                  <a:rPr lang="en-US" b="0" i="1" smtClean="0">
                                    <a:solidFill>
                                      <a:srgbClr val="7030A0"/>
                                    </a:solidFill>
                                    <a:latin typeface="Cambria Math" panose="02040503050406030204" pitchFamily="18" charset="0"/>
                                  </a:rPr>
                                </m:ctrlPr>
                              </m:sSupPr>
                              <m:e>
                                <m:r>
                                  <a:rPr lang="en-US" b="0" i="1" smtClean="0">
                                    <a:solidFill>
                                      <a:srgbClr val="7030A0"/>
                                    </a:solidFill>
                                    <a:latin typeface="Cambria Math" panose="02040503050406030204" pitchFamily="18" charset="0"/>
                                  </a:rPr>
                                  <m:t>𝑛</m:t>
                                </m:r>
                              </m:e>
                              <m:sup>
                                <m:r>
                                  <a:rPr lang="en-US" b="0" i="1" smtClean="0">
                                    <a:solidFill>
                                      <a:srgbClr val="7030A0"/>
                                    </a:solidFill>
                                    <a:latin typeface="Cambria Math" panose="02040503050406030204" pitchFamily="18" charset="0"/>
                                  </a:rPr>
                                  <m:t>5/2</m:t>
                                </m:r>
                              </m:sup>
                            </m:sSup>
                          </m:den>
                        </m:f>
                      </m:e>
                    </m:nary>
                  </m:oMath>
                </a14:m>
                <a:endParaRPr lang="en-CN" dirty="0"/>
              </a:p>
            </p:txBody>
          </p:sp>
        </mc:Choice>
        <mc:Fallback xmlns="">
          <p:sp>
            <p:nvSpPr>
              <p:cNvPr id="6" name="TextBox 5">
                <a:extLst>
                  <a:ext uri="{FF2B5EF4-FFF2-40B4-BE49-F238E27FC236}">
                    <a16:creationId xmlns:a16="http://schemas.microsoft.com/office/drawing/2014/main" id="{F96C47EA-90BD-9435-5122-4CC4DECF5BC2}"/>
                  </a:ext>
                </a:extLst>
              </p:cNvPr>
              <p:cNvSpPr txBox="1">
                <a:spLocks noRot="1" noChangeAspect="1" noMove="1" noResize="1" noEditPoints="1" noAdjustHandles="1" noChangeArrowheads="1" noChangeShapeType="1" noTextEdit="1"/>
              </p:cNvSpPr>
              <p:nvPr/>
            </p:nvSpPr>
            <p:spPr>
              <a:xfrm>
                <a:off x="6276109" y="2042130"/>
                <a:ext cx="3920836" cy="788614"/>
              </a:xfrm>
              <a:prstGeom prst="rect">
                <a:avLst/>
              </a:prstGeom>
              <a:blipFill>
                <a:blip r:embed="rId3"/>
                <a:stretch>
                  <a:fillRect l="-968" t="-7937" b="-7142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2B36DC6-C368-F99A-90C5-80AAE37126C3}"/>
                  </a:ext>
                </a:extLst>
              </p:cNvPr>
              <p:cNvSpPr txBox="1"/>
              <p:nvPr/>
            </p:nvSpPr>
            <p:spPr>
              <a:xfrm>
                <a:off x="2313709" y="3881642"/>
                <a:ext cx="7924800" cy="12488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l-GR" sz="4000" i="1" smtClean="0">
                          <a:solidFill>
                            <a:srgbClr val="FF0000"/>
                          </a:solidFill>
                          <a:latin typeface="Cambria Math" panose="02040503050406030204" pitchFamily="18" charset="0"/>
                          <a:ea typeface="Cambria Math" panose="02040503050406030204" pitchFamily="18" charset="0"/>
                        </a:rPr>
                        <m:t>Ω</m:t>
                      </m:r>
                      <m:d>
                        <m:dPr>
                          <m:ctrlPr>
                            <a:rPr lang="el-GR" sz="4000" i="1" smtClean="0">
                              <a:solidFill>
                                <a:srgbClr val="FF0000"/>
                              </a:solidFill>
                              <a:latin typeface="Cambria Math" panose="02040503050406030204" pitchFamily="18" charset="0"/>
                              <a:ea typeface="Cambria Math" panose="02040503050406030204" pitchFamily="18" charset="0"/>
                            </a:rPr>
                          </m:ctrlPr>
                        </m:dPr>
                        <m:e>
                          <m:r>
                            <a:rPr lang="el-GR" sz="4000" i="1" smtClean="0">
                              <a:solidFill>
                                <a:srgbClr val="FF0000"/>
                              </a:solidFill>
                              <a:latin typeface="Cambria Math" panose="02040503050406030204" pitchFamily="18" charset="0"/>
                              <a:ea typeface="Cambria Math" panose="02040503050406030204" pitchFamily="18" charset="0"/>
                            </a:rPr>
                            <m:t>𝜏</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𝑉</m:t>
                          </m:r>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𝜇</m:t>
                          </m:r>
                        </m:e>
                      </m:d>
                      <m:r>
                        <a:rPr lang="en-US" sz="4000" b="0" i="1" smtClean="0">
                          <a:solidFill>
                            <a:srgbClr val="FF0000"/>
                          </a:solidFill>
                          <a:latin typeface="Cambria Math" panose="02040503050406030204" pitchFamily="18" charset="0"/>
                          <a:ea typeface="Cambria Math" panose="02040503050406030204" pitchFamily="18" charset="0"/>
                        </a:rPr>
                        <m:t>=−</m:t>
                      </m:r>
                      <m:r>
                        <a:rPr lang="en-US" sz="4000" b="0" i="1" smtClean="0">
                          <a:solidFill>
                            <a:srgbClr val="FF0000"/>
                          </a:solidFill>
                          <a:latin typeface="Cambria Math" panose="02040503050406030204" pitchFamily="18" charset="0"/>
                          <a:ea typeface="Cambria Math" panose="02040503050406030204" pitchFamily="18" charset="0"/>
                        </a:rPr>
                        <m:t>𝜏</m:t>
                      </m:r>
                      <m:f>
                        <m:fPr>
                          <m:ctrlPr>
                            <a:rPr lang="en-US" sz="4000" b="0" i="1" smtClean="0">
                              <a:solidFill>
                                <a:srgbClr val="FF0000"/>
                              </a:solidFill>
                              <a:latin typeface="Cambria Math" panose="02040503050406030204" pitchFamily="18" charset="0"/>
                              <a:ea typeface="Cambria Math" panose="02040503050406030204" pitchFamily="18" charset="0"/>
                            </a:rPr>
                          </m:ctrlPr>
                        </m:fPr>
                        <m:num>
                          <m:r>
                            <a:rPr lang="en-US" sz="4000" b="0" i="1" smtClean="0">
                              <a:solidFill>
                                <a:srgbClr val="FF0000"/>
                              </a:solidFill>
                              <a:latin typeface="Cambria Math" panose="02040503050406030204" pitchFamily="18" charset="0"/>
                              <a:ea typeface="Cambria Math" panose="02040503050406030204" pitchFamily="18" charset="0"/>
                            </a:rPr>
                            <m:t>2</m:t>
                          </m:r>
                          <m:r>
                            <a:rPr lang="en-US" sz="4000" b="0" i="1" smtClean="0">
                              <a:solidFill>
                                <a:srgbClr val="FF0000"/>
                              </a:solidFill>
                              <a:latin typeface="Cambria Math" panose="02040503050406030204" pitchFamily="18" charset="0"/>
                              <a:ea typeface="Cambria Math" panose="02040503050406030204" pitchFamily="18" charset="0"/>
                            </a:rPr>
                            <m:t>𝑠</m:t>
                          </m:r>
                          <m:r>
                            <a:rPr lang="en-US" sz="4000" b="0" i="1" smtClean="0">
                              <a:solidFill>
                                <a:srgbClr val="FF0000"/>
                              </a:solidFill>
                              <a:latin typeface="Cambria Math" panose="02040503050406030204" pitchFamily="18" charset="0"/>
                              <a:ea typeface="Cambria Math" panose="02040503050406030204" pitchFamily="18" charset="0"/>
                            </a:rPr>
                            <m:t>+1</m:t>
                          </m:r>
                        </m:num>
                        <m:den>
                          <m:sSup>
                            <m:sSupPr>
                              <m:ctrlPr>
                                <a:rPr lang="en-US" sz="4000" b="0" i="1" smtClean="0">
                                  <a:solidFill>
                                    <a:srgbClr val="FF0000"/>
                                  </a:solidFill>
                                  <a:latin typeface="Cambria Math" panose="02040503050406030204" pitchFamily="18" charset="0"/>
                                  <a:ea typeface="Cambria Math" panose="02040503050406030204" pitchFamily="18" charset="0"/>
                                </a:rPr>
                              </m:ctrlPr>
                            </m:sSupPr>
                            <m:e>
                              <m:r>
                                <a:rPr lang="en-US" sz="4000" b="0" i="1" smtClean="0">
                                  <a:solidFill>
                                    <a:srgbClr val="FF0000"/>
                                  </a:solidFill>
                                  <a:latin typeface="Cambria Math" panose="02040503050406030204" pitchFamily="18" charset="0"/>
                                  <a:ea typeface="Cambria Math" panose="02040503050406030204" pitchFamily="18" charset="0"/>
                                </a:rPr>
                                <m:t>𝑑</m:t>
                              </m:r>
                            </m:e>
                            <m:sup>
                              <m:r>
                                <a:rPr lang="en-US" sz="4000" b="0" i="1" smtClean="0">
                                  <a:solidFill>
                                    <a:srgbClr val="FF0000"/>
                                  </a:solidFill>
                                  <a:latin typeface="Cambria Math" panose="02040503050406030204" pitchFamily="18" charset="0"/>
                                  <a:ea typeface="Cambria Math" panose="02040503050406030204" pitchFamily="18" charset="0"/>
                                </a:rPr>
                                <m:t>3</m:t>
                              </m:r>
                            </m:sup>
                          </m:sSup>
                        </m:den>
                      </m:f>
                      <m:r>
                        <a:rPr lang="en-US" sz="4000" b="0" i="1" smtClean="0">
                          <a:solidFill>
                            <a:srgbClr val="FF0000"/>
                          </a:solidFill>
                          <a:latin typeface="Cambria Math" panose="02040503050406030204" pitchFamily="18" charset="0"/>
                          <a:ea typeface="Cambria Math" panose="02040503050406030204" pitchFamily="18" charset="0"/>
                        </a:rPr>
                        <m:t>𝑉</m:t>
                      </m:r>
                      <m:sSub>
                        <m:sSubPr>
                          <m:ctrlPr>
                            <a:rPr lang="en-US" sz="4000" b="0" i="1" smtClean="0">
                              <a:solidFill>
                                <a:srgbClr val="7030A0"/>
                              </a:solidFill>
                              <a:latin typeface="Cambria Math" panose="02040503050406030204" pitchFamily="18" charset="0"/>
                              <a:ea typeface="Cambria Math" panose="02040503050406030204" pitchFamily="18" charset="0"/>
                            </a:rPr>
                          </m:ctrlPr>
                        </m:sSubPr>
                        <m:e>
                          <m:r>
                            <a:rPr lang="en-US" sz="4000" b="0" i="1" smtClean="0">
                              <a:solidFill>
                                <a:srgbClr val="7030A0"/>
                              </a:solidFill>
                              <a:latin typeface="Cambria Math" panose="02040503050406030204" pitchFamily="18" charset="0"/>
                              <a:ea typeface="Cambria Math" panose="02040503050406030204" pitchFamily="18" charset="0"/>
                            </a:rPr>
                            <m:t>𝑓</m:t>
                          </m:r>
                        </m:e>
                        <m:sub>
                          <m:r>
                            <a:rPr lang="en-US" sz="4000" b="0" i="1" smtClean="0">
                              <a:solidFill>
                                <a:srgbClr val="7030A0"/>
                              </a:solidFill>
                              <a:latin typeface="Cambria Math" panose="02040503050406030204" pitchFamily="18" charset="0"/>
                              <a:ea typeface="Cambria Math" panose="02040503050406030204" pitchFamily="18" charset="0"/>
                            </a:rPr>
                            <m:t>5/2</m:t>
                          </m:r>
                        </m:sub>
                      </m:sSub>
                      <m:d>
                        <m:dPr>
                          <m:ctrlPr>
                            <a:rPr lang="en-US" sz="4000" b="0" i="1" smtClean="0">
                              <a:solidFill>
                                <a:srgbClr val="7030A0"/>
                              </a:solidFill>
                              <a:latin typeface="Cambria Math" panose="02040503050406030204" pitchFamily="18" charset="0"/>
                              <a:ea typeface="Cambria Math" panose="02040503050406030204" pitchFamily="18" charset="0"/>
                            </a:rPr>
                          </m:ctrlPr>
                        </m:dPr>
                        <m:e>
                          <m:r>
                            <a:rPr lang="en-US" sz="4000" b="0" i="1" smtClean="0">
                              <a:solidFill>
                                <a:srgbClr val="7030A0"/>
                              </a:solidFill>
                              <a:latin typeface="Cambria Math" panose="02040503050406030204" pitchFamily="18" charset="0"/>
                              <a:ea typeface="Cambria Math" panose="02040503050406030204" pitchFamily="18" charset="0"/>
                            </a:rPr>
                            <m:t>𝜆</m:t>
                          </m:r>
                        </m:e>
                      </m:d>
                    </m:oMath>
                  </m:oMathPara>
                </a14:m>
                <a:endParaRPr lang="en-CN" sz="4000" dirty="0">
                  <a:solidFill>
                    <a:srgbClr val="FF0000"/>
                  </a:solidFill>
                </a:endParaRPr>
              </a:p>
            </p:txBody>
          </p:sp>
        </mc:Choice>
        <mc:Fallback xmlns="">
          <p:sp>
            <p:nvSpPr>
              <p:cNvPr id="9" name="TextBox 8">
                <a:extLst>
                  <a:ext uri="{FF2B5EF4-FFF2-40B4-BE49-F238E27FC236}">
                    <a16:creationId xmlns:a16="http://schemas.microsoft.com/office/drawing/2014/main" id="{62B36DC6-C368-F99A-90C5-80AAE37126C3}"/>
                  </a:ext>
                </a:extLst>
              </p:cNvPr>
              <p:cNvSpPr txBox="1">
                <a:spLocks noRot="1" noChangeAspect="1" noMove="1" noResize="1" noEditPoints="1" noAdjustHandles="1" noChangeArrowheads="1" noChangeShapeType="1" noTextEdit="1"/>
              </p:cNvSpPr>
              <p:nvPr/>
            </p:nvSpPr>
            <p:spPr>
              <a:xfrm>
                <a:off x="2313709" y="3881642"/>
                <a:ext cx="7924800" cy="1248803"/>
              </a:xfrm>
              <a:prstGeom prst="rect">
                <a:avLst/>
              </a:prstGeom>
              <a:blipFill>
                <a:blip r:embed="rId4"/>
                <a:stretch>
                  <a:fillRect b="-10000"/>
                </a:stretch>
              </a:blipFill>
            </p:spPr>
            <p:txBody>
              <a:bodyPr/>
              <a:lstStyle/>
              <a:p>
                <a:r>
                  <a:rPr lang="en-CN">
                    <a:noFill/>
                  </a:rPr>
                  <a:t> </a:t>
                </a:r>
              </a:p>
            </p:txBody>
          </p:sp>
        </mc:Fallback>
      </mc:AlternateContent>
      <p:sp>
        <p:nvSpPr>
          <p:cNvPr id="10" name="Down Arrow 9">
            <a:extLst>
              <a:ext uri="{FF2B5EF4-FFF2-40B4-BE49-F238E27FC236}">
                <a16:creationId xmlns:a16="http://schemas.microsoft.com/office/drawing/2014/main" id="{1C64661F-0B67-5EE9-F0FF-FD257FBC9923}"/>
              </a:ext>
            </a:extLst>
          </p:cNvPr>
          <p:cNvSpPr/>
          <p:nvPr/>
        </p:nvSpPr>
        <p:spPr>
          <a:xfrm>
            <a:off x="5735782" y="1457483"/>
            <a:ext cx="360218" cy="215855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12" name="Picture 11">
            <a:extLst>
              <a:ext uri="{FF2B5EF4-FFF2-40B4-BE49-F238E27FC236}">
                <a16:creationId xmlns:a16="http://schemas.microsoft.com/office/drawing/2014/main" id="{13877E0F-2E8F-FFDD-13DF-1B184031F322}"/>
              </a:ext>
            </a:extLst>
          </p:cNvPr>
          <p:cNvPicPr>
            <a:picLocks noChangeAspect="1"/>
          </p:cNvPicPr>
          <p:nvPr/>
        </p:nvPicPr>
        <p:blipFill>
          <a:blip r:embed="rId5"/>
          <a:stretch>
            <a:fillRect/>
          </a:stretch>
        </p:blipFill>
        <p:spPr>
          <a:xfrm>
            <a:off x="735445" y="2238309"/>
            <a:ext cx="1854200" cy="596900"/>
          </a:xfrm>
          <a:prstGeom prst="rect">
            <a:avLst/>
          </a:prstGeom>
        </p:spPr>
      </p:pic>
    </p:spTree>
    <p:extLst>
      <p:ext uri="{BB962C8B-B14F-4D97-AF65-F5344CB8AC3E}">
        <p14:creationId xmlns:p14="http://schemas.microsoft.com/office/powerpoint/2010/main" val="30509066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B0BC4D8-8836-1F9E-CC03-8B5FDD7BBCC7}"/>
                  </a:ext>
                </a:extLst>
              </p:cNvPr>
              <p:cNvSpPr txBox="1"/>
              <p:nvPr/>
            </p:nvSpPr>
            <p:spPr>
              <a:xfrm>
                <a:off x="498763" y="341706"/>
                <a:ext cx="10972800" cy="2534733"/>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3200" b="0" i="1" smtClean="0">
                          <a:solidFill>
                            <a:srgbClr val="7030A0"/>
                          </a:solidFill>
                          <a:latin typeface="Cambria Math" panose="02040503050406030204" pitchFamily="18" charset="0"/>
                        </a:rPr>
                        <m:t>𝑁</m:t>
                      </m:r>
                      <m:r>
                        <a:rPr lang="en-US" sz="3200" b="0" i="1" smtClean="0">
                          <a:solidFill>
                            <a:srgbClr val="7030A0"/>
                          </a:solidFill>
                          <a:latin typeface="Cambria Math" panose="02040503050406030204" pitchFamily="18" charset="0"/>
                        </a:rPr>
                        <m:t>=−</m:t>
                      </m:r>
                      <m:f>
                        <m:fPr>
                          <m:ctrlPr>
                            <a:rPr lang="en-US" sz="3200" b="0" i="1" smtClean="0">
                              <a:solidFill>
                                <a:srgbClr val="7030A0"/>
                              </a:solidFill>
                              <a:latin typeface="Cambria Math" panose="02040503050406030204" pitchFamily="18" charset="0"/>
                            </a:rPr>
                          </m:ctrlPr>
                        </m:fPr>
                        <m:num>
                          <m:r>
                            <a:rPr lang="en-US" sz="3200" b="0" i="1" smtClean="0">
                              <a:solidFill>
                                <a:srgbClr val="7030A0"/>
                              </a:solidFill>
                              <a:latin typeface="Cambria Math" panose="02040503050406030204" pitchFamily="18" charset="0"/>
                              <a:ea typeface="Cambria Math" panose="02040503050406030204" pitchFamily="18" charset="0"/>
                            </a:rPr>
                            <m:t>𝜕</m:t>
                          </m:r>
                          <m:r>
                            <m:rPr>
                              <m:sty m:val="p"/>
                            </m:rPr>
                            <a:rPr lang="el-GR" sz="3200" i="1">
                              <a:solidFill>
                                <a:srgbClr val="7030A0"/>
                              </a:solidFill>
                              <a:latin typeface="Cambria Math" panose="02040503050406030204" pitchFamily="18" charset="0"/>
                              <a:ea typeface="Cambria Math" panose="02040503050406030204" pitchFamily="18" charset="0"/>
                            </a:rPr>
                            <m:t>Ω</m:t>
                          </m:r>
                        </m:num>
                        <m:den>
                          <m:r>
                            <a:rPr lang="en-US" sz="3200" b="0" i="1" smtClean="0">
                              <a:solidFill>
                                <a:srgbClr val="7030A0"/>
                              </a:solidFill>
                              <a:latin typeface="Cambria Math" panose="02040503050406030204" pitchFamily="18" charset="0"/>
                              <a:ea typeface="Cambria Math" panose="02040503050406030204" pitchFamily="18" charset="0"/>
                            </a:rPr>
                            <m:t>𝜕𝜇</m:t>
                          </m:r>
                        </m:den>
                      </m:f>
                      <m:r>
                        <a:rPr lang="en-US" sz="3200" b="0" i="1" smtClean="0">
                          <a:solidFill>
                            <a:srgbClr val="7030A0"/>
                          </a:solidFill>
                          <a:latin typeface="Cambria Math" panose="02040503050406030204" pitchFamily="18" charset="0"/>
                          <a:ea typeface="Cambria Math" panose="02040503050406030204" pitchFamily="18" charset="0"/>
                        </a:rPr>
                        <m:t>=−</m:t>
                      </m:r>
                      <m:f>
                        <m:fPr>
                          <m:ctrlPr>
                            <a:rPr lang="en-US" sz="3200" b="0" i="1" smtClean="0">
                              <a:solidFill>
                                <a:srgbClr val="7030A0"/>
                              </a:solidFill>
                              <a:latin typeface="Cambria Math" panose="02040503050406030204" pitchFamily="18" charset="0"/>
                              <a:ea typeface="Cambria Math" panose="02040503050406030204" pitchFamily="18" charset="0"/>
                            </a:rPr>
                          </m:ctrlPr>
                        </m:fPr>
                        <m:num>
                          <m:r>
                            <a:rPr lang="en-US" sz="3200" b="0" i="1" smtClean="0">
                              <a:solidFill>
                                <a:srgbClr val="7030A0"/>
                              </a:solidFill>
                              <a:latin typeface="Cambria Math" panose="02040503050406030204" pitchFamily="18" charset="0"/>
                              <a:ea typeface="Cambria Math" panose="02040503050406030204" pitchFamily="18" charset="0"/>
                            </a:rPr>
                            <m:t>𝜕𝜆</m:t>
                          </m:r>
                        </m:num>
                        <m:den>
                          <m:r>
                            <a:rPr lang="en-US" sz="3200" b="0" i="1" smtClean="0">
                              <a:solidFill>
                                <a:srgbClr val="7030A0"/>
                              </a:solidFill>
                              <a:latin typeface="Cambria Math" panose="02040503050406030204" pitchFamily="18" charset="0"/>
                              <a:ea typeface="Cambria Math" panose="02040503050406030204" pitchFamily="18" charset="0"/>
                            </a:rPr>
                            <m:t>𝜕𝜇</m:t>
                          </m:r>
                        </m:den>
                      </m:f>
                      <m:f>
                        <m:fPr>
                          <m:ctrlPr>
                            <a:rPr lang="en-US" sz="3200" b="0" i="1" smtClean="0">
                              <a:solidFill>
                                <a:srgbClr val="7030A0"/>
                              </a:solidFill>
                              <a:latin typeface="Cambria Math" panose="02040503050406030204" pitchFamily="18" charset="0"/>
                              <a:ea typeface="Cambria Math" panose="02040503050406030204" pitchFamily="18" charset="0"/>
                            </a:rPr>
                          </m:ctrlPr>
                        </m:fPr>
                        <m:num>
                          <m:r>
                            <a:rPr lang="en-US" sz="3200" b="0" i="1" smtClean="0">
                              <a:solidFill>
                                <a:srgbClr val="7030A0"/>
                              </a:solidFill>
                              <a:latin typeface="Cambria Math" panose="02040503050406030204" pitchFamily="18" charset="0"/>
                              <a:ea typeface="Cambria Math" panose="02040503050406030204" pitchFamily="18" charset="0"/>
                            </a:rPr>
                            <m:t>𝜕</m:t>
                          </m:r>
                          <m:r>
                            <m:rPr>
                              <m:sty m:val="p"/>
                            </m:rPr>
                            <a:rPr lang="el-GR" sz="3200" b="0" i="1" smtClean="0">
                              <a:solidFill>
                                <a:srgbClr val="7030A0"/>
                              </a:solidFill>
                              <a:latin typeface="Cambria Math" panose="02040503050406030204" pitchFamily="18" charset="0"/>
                              <a:ea typeface="Cambria Math" panose="02040503050406030204" pitchFamily="18" charset="0"/>
                            </a:rPr>
                            <m:t>Ω</m:t>
                          </m:r>
                        </m:num>
                        <m:den>
                          <m:r>
                            <a:rPr lang="en-US" sz="3200" b="0" i="1" smtClean="0">
                              <a:solidFill>
                                <a:srgbClr val="7030A0"/>
                              </a:solidFill>
                              <a:latin typeface="Cambria Math" panose="02040503050406030204" pitchFamily="18" charset="0"/>
                              <a:ea typeface="Cambria Math" panose="02040503050406030204" pitchFamily="18" charset="0"/>
                            </a:rPr>
                            <m:t>𝜕𝜆</m:t>
                          </m:r>
                        </m:den>
                      </m:f>
                      <m:r>
                        <a:rPr lang="en-US" sz="3200" b="0" i="1" smtClean="0">
                          <a:solidFill>
                            <a:srgbClr val="7030A0"/>
                          </a:solidFill>
                          <a:latin typeface="Cambria Math" panose="02040503050406030204" pitchFamily="18" charset="0"/>
                          <a:ea typeface="Cambria Math" panose="02040503050406030204" pitchFamily="18" charset="0"/>
                        </a:rPr>
                        <m:t>=</m:t>
                      </m:r>
                      <m:f>
                        <m:fPr>
                          <m:ctrlPr>
                            <a:rPr lang="en-US" sz="3200" b="0" i="1" smtClean="0">
                              <a:solidFill>
                                <a:srgbClr val="7030A0"/>
                              </a:solidFill>
                              <a:latin typeface="Cambria Math" panose="02040503050406030204" pitchFamily="18" charset="0"/>
                              <a:ea typeface="Cambria Math" panose="02040503050406030204" pitchFamily="18" charset="0"/>
                            </a:rPr>
                          </m:ctrlPr>
                        </m:fPr>
                        <m:num>
                          <m:r>
                            <a:rPr lang="en-US" sz="3200" b="0" i="1" smtClean="0">
                              <a:solidFill>
                                <a:srgbClr val="7030A0"/>
                              </a:solidFill>
                              <a:latin typeface="Cambria Math" panose="02040503050406030204" pitchFamily="18" charset="0"/>
                              <a:ea typeface="Cambria Math" panose="02040503050406030204" pitchFamily="18" charset="0"/>
                            </a:rPr>
                            <m:t>2</m:t>
                          </m:r>
                          <m:r>
                            <a:rPr lang="en-US" sz="3200" b="0" i="1" smtClean="0">
                              <a:solidFill>
                                <a:srgbClr val="7030A0"/>
                              </a:solidFill>
                              <a:latin typeface="Cambria Math" panose="02040503050406030204" pitchFamily="18" charset="0"/>
                              <a:ea typeface="Cambria Math" panose="02040503050406030204" pitchFamily="18" charset="0"/>
                            </a:rPr>
                            <m:t>𝑠</m:t>
                          </m:r>
                          <m:r>
                            <a:rPr lang="en-US" sz="3200" b="0" i="1" smtClean="0">
                              <a:solidFill>
                                <a:srgbClr val="7030A0"/>
                              </a:solidFill>
                              <a:latin typeface="Cambria Math" panose="02040503050406030204" pitchFamily="18" charset="0"/>
                              <a:ea typeface="Cambria Math" panose="02040503050406030204" pitchFamily="18" charset="0"/>
                            </a:rPr>
                            <m:t>+1</m:t>
                          </m:r>
                        </m:num>
                        <m:den>
                          <m:sSup>
                            <m:sSupPr>
                              <m:ctrlPr>
                                <a:rPr lang="en-US" sz="3200" b="0" i="1" smtClean="0">
                                  <a:solidFill>
                                    <a:srgbClr val="7030A0"/>
                                  </a:solidFill>
                                  <a:latin typeface="Cambria Math" panose="02040503050406030204" pitchFamily="18" charset="0"/>
                                  <a:ea typeface="Cambria Math" panose="02040503050406030204" pitchFamily="18" charset="0"/>
                                </a:rPr>
                              </m:ctrlPr>
                            </m:sSupPr>
                            <m:e>
                              <m:r>
                                <a:rPr lang="en-US" sz="3200" b="0" i="1" smtClean="0">
                                  <a:solidFill>
                                    <a:srgbClr val="7030A0"/>
                                  </a:solidFill>
                                  <a:latin typeface="Cambria Math" panose="02040503050406030204" pitchFamily="18" charset="0"/>
                                  <a:ea typeface="Cambria Math" panose="02040503050406030204" pitchFamily="18" charset="0"/>
                                </a:rPr>
                                <m:t>𝑑</m:t>
                              </m:r>
                            </m:e>
                            <m:sup>
                              <m:r>
                                <a:rPr lang="en-US" sz="3200" b="0" i="1" smtClean="0">
                                  <a:solidFill>
                                    <a:srgbClr val="7030A0"/>
                                  </a:solidFill>
                                  <a:latin typeface="Cambria Math" panose="02040503050406030204" pitchFamily="18" charset="0"/>
                                  <a:ea typeface="Cambria Math" panose="02040503050406030204" pitchFamily="18" charset="0"/>
                                </a:rPr>
                                <m:t>3</m:t>
                              </m:r>
                            </m:sup>
                          </m:sSup>
                        </m:den>
                      </m:f>
                      <m:r>
                        <a:rPr lang="en-US" sz="3200" b="0" i="1" smtClean="0">
                          <a:solidFill>
                            <a:srgbClr val="7030A0"/>
                          </a:solidFill>
                          <a:latin typeface="Cambria Math" panose="02040503050406030204" pitchFamily="18" charset="0"/>
                          <a:ea typeface="Cambria Math" panose="02040503050406030204" pitchFamily="18" charset="0"/>
                        </a:rPr>
                        <m:t>𝑉</m:t>
                      </m:r>
                      <m:sSub>
                        <m:sSubPr>
                          <m:ctrlPr>
                            <a:rPr lang="en-US" sz="3200" b="0" i="1" smtClean="0">
                              <a:solidFill>
                                <a:srgbClr val="7030A0"/>
                              </a:solidFill>
                              <a:latin typeface="Cambria Math" panose="02040503050406030204" pitchFamily="18" charset="0"/>
                              <a:ea typeface="Cambria Math" panose="02040503050406030204" pitchFamily="18" charset="0"/>
                            </a:rPr>
                          </m:ctrlPr>
                        </m:sSubPr>
                        <m:e>
                          <m:r>
                            <a:rPr lang="en-US" sz="3200" b="0" i="1" smtClean="0">
                              <a:solidFill>
                                <a:srgbClr val="7030A0"/>
                              </a:solidFill>
                              <a:latin typeface="Cambria Math" panose="02040503050406030204" pitchFamily="18" charset="0"/>
                              <a:ea typeface="Cambria Math" panose="02040503050406030204" pitchFamily="18" charset="0"/>
                            </a:rPr>
                            <m:t>𝑓</m:t>
                          </m:r>
                        </m:e>
                        <m:sub>
                          <m:r>
                            <a:rPr lang="en-US" sz="3200" b="0" i="1" smtClean="0">
                              <a:solidFill>
                                <a:srgbClr val="7030A0"/>
                              </a:solidFill>
                              <a:latin typeface="Cambria Math" panose="02040503050406030204" pitchFamily="18" charset="0"/>
                              <a:ea typeface="Cambria Math" panose="02040503050406030204" pitchFamily="18" charset="0"/>
                            </a:rPr>
                            <m:t>3/2</m:t>
                          </m:r>
                        </m:sub>
                      </m:sSub>
                      <m:r>
                        <a:rPr lang="en-US" sz="3200" b="0" i="1" smtClean="0">
                          <a:solidFill>
                            <a:srgbClr val="7030A0"/>
                          </a:solidFill>
                          <a:latin typeface="Cambria Math" panose="02040503050406030204" pitchFamily="18" charset="0"/>
                          <a:ea typeface="Cambria Math" panose="02040503050406030204" pitchFamily="18" charset="0"/>
                        </a:rPr>
                        <m:t>(</m:t>
                      </m:r>
                      <m:r>
                        <a:rPr lang="en-US" sz="3200" b="0" i="1" smtClean="0">
                          <a:solidFill>
                            <a:srgbClr val="7030A0"/>
                          </a:solidFill>
                          <a:latin typeface="Cambria Math" panose="02040503050406030204" pitchFamily="18" charset="0"/>
                          <a:ea typeface="Cambria Math" panose="02040503050406030204" pitchFamily="18" charset="0"/>
                        </a:rPr>
                        <m:t>𝜆</m:t>
                      </m:r>
                      <m:r>
                        <a:rPr lang="en-US" sz="3200" b="0" i="1" smtClean="0">
                          <a:solidFill>
                            <a:srgbClr val="7030A0"/>
                          </a:solidFill>
                          <a:latin typeface="Cambria Math" panose="02040503050406030204" pitchFamily="18" charset="0"/>
                          <a:ea typeface="Cambria Math" panose="02040503050406030204" pitchFamily="18" charset="0"/>
                        </a:rPr>
                        <m:t>)</m:t>
                      </m:r>
                    </m:oMath>
                  </m:oMathPara>
                </a14:m>
                <a:endParaRPr lang="en-US" sz="3200" b="0" dirty="0">
                  <a:solidFill>
                    <a:srgbClr val="7030A0"/>
                  </a:solidFill>
                  <a:ea typeface="Cambria Math" panose="02040503050406030204" pitchFamily="18" charset="0"/>
                </a:endParaRPr>
              </a:p>
              <a:p>
                <a:pPr algn="ctr"/>
                <a:endParaRPr lang="en-CN" sz="3200" dirty="0"/>
              </a:p>
              <a:p>
                <a:pPr algn="ctr"/>
                <a14:m>
                  <m:oMathPara xmlns:m="http://schemas.openxmlformats.org/officeDocument/2006/math">
                    <m:oMathParaPr>
                      <m:jc m:val="centerGroup"/>
                    </m:oMathParaPr>
                    <m:oMath xmlns:m="http://schemas.openxmlformats.org/officeDocument/2006/math">
                      <m:r>
                        <a:rPr lang="en-US" sz="3200" b="0" i="1" smtClean="0">
                          <a:solidFill>
                            <a:srgbClr val="7030A0"/>
                          </a:solidFill>
                          <a:latin typeface="Cambria Math" panose="02040503050406030204" pitchFamily="18" charset="0"/>
                        </a:rPr>
                        <m:t>𝑝</m:t>
                      </m:r>
                      <m:r>
                        <a:rPr lang="en-US" sz="3200" b="0" i="1" smtClean="0">
                          <a:solidFill>
                            <a:srgbClr val="7030A0"/>
                          </a:solidFill>
                          <a:latin typeface="Cambria Math" panose="02040503050406030204" pitchFamily="18" charset="0"/>
                        </a:rPr>
                        <m:t>=−</m:t>
                      </m:r>
                      <m:f>
                        <m:fPr>
                          <m:ctrlPr>
                            <a:rPr lang="en-US" sz="3200" b="0" i="1" smtClean="0">
                              <a:solidFill>
                                <a:srgbClr val="7030A0"/>
                              </a:solidFill>
                              <a:latin typeface="Cambria Math" panose="02040503050406030204" pitchFamily="18" charset="0"/>
                            </a:rPr>
                          </m:ctrlPr>
                        </m:fPr>
                        <m:num>
                          <m:r>
                            <a:rPr lang="en-US" sz="3200" b="0" i="1" smtClean="0">
                              <a:solidFill>
                                <a:srgbClr val="7030A0"/>
                              </a:solidFill>
                              <a:latin typeface="Cambria Math" panose="02040503050406030204" pitchFamily="18" charset="0"/>
                            </a:rPr>
                            <m:t>𝜕</m:t>
                          </m:r>
                          <m:r>
                            <m:rPr>
                              <m:sty m:val="p"/>
                            </m:rPr>
                            <a:rPr lang="el-GR" sz="3200" i="1">
                              <a:solidFill>
                                <a:srgbClr val="7030A0"/>
                              </a:solidFill>
                              <a:latin typeface="Cambria Math" panose="02040503050406030204" pitchFamily="18" charset="0"/>
                              <a:ea typeface="Cambria Math" panose="02040503050406030204" pitchFamily="18" charset="0"/>
                            </a:rPr>
                            <m:t>Ω</m:t>
                          </m:r>
                        </m:num>
                        <m:den>
                          <m:r>
                            <a:rPr lang="en-US" sz="3200" b="0" i="1" smtClean="0">
                              <a:solidFill>
                                <a:srgbClr val="7030A0"/>
                              </a:solidFill>
                              <a:latin typeface="Cambria Math" panose="02040503050406030204" pitchFamily="18" charset="0"/>
                            </a:rPr>
                            <m:t>𝜕</m:t>
                          </m:r>
                          <m:r>
                            <a:rPr lang="en-US" sz="3200" b="0" i="1" smtClean="0">
                              <a:solidFill>
                                <a:srgbClr val="7030A0"/>
                              </a:solidFill>
                              <a:latin typeface="Cambria Math" panose="02040503050406030204" pitchFamily="18" charset="0"/>
                            </a:rPr>
                            <m:t>𝑉</m:t>
                          </m:r>
                        </m:den>
                      </m:f>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𝜏</m:t>
                      </m:r>
                      <m:f>
                        <m:fPr>
                          <m:ctrlPr>
                            <a:rPr lang="en-US" sz="3200" i="1">
                              <a:solidFill>
                                <a:srgbClr val="7030A0"/>
                              </a:solidFill>
                              <a:latin typeface="Cambria Math" panose="02040503050406030204" pitchFamily="18" charset="0"/>
                              <a:ea typeface="Cambria Math" panose="02040503050406030204" pitchFamily="18" charset="0"/>
                            </a:rPr>
                          </m:ctrlPr>
                        </m:fPr>
                        <m:num>
                          <m:r>
                            <a:rPr lang="en-US" sz="3200" i="1">
                              <a:solidFill>
                                <a:srgbClr val="7030A0"/>
                              </a:solidFill>
                              <a:latin typeface="Cambria Math" panose="02040503050406030204" pitchFamily="18" charset="0"/>
                              <a:ea typeface="Cambria Math" panose="02040503050406030204" pitchFamily="18" charset="0"/>
                            </a:rPr>
                            <m:t>2</m:t>
                          </m:r>
                          <m:r>
                            <a:rPr lang="en-US" sz="3200" i="1">
                              <a:solidFill>
                                <a:srgbClr val="7030A0"/>
                              </a:solidFill>
                              <a:latin typeface="Cambria Math" panose="02040503050406030204" pitchFamily="18" charset="0"/>
                              <a:ea typeface="Cambria Math" panose="02040503050406030204" pitchFamily="18" charset="0"/>
                            </a:rPr>
                            <m:t>𝑠</m:t>
                          </m:r>
                          <m:r>
                            <a:rPr lang="en-US" sz="3200" i="1">
                              <a:solidFill>
                                <a:srgbClr val="7030A0"/>
                              </a:solidFill>
                              <a:latin typeface="Cambria Math" panose="02040503050406030204" pitchFamily="18" charset="0"/>
                              <a:ea typeface="Cambria Math" panose="02040503050406030204" pitchFamily="18" charset="0"/>
                            </a:rPr>
                            <m:t>+1</m:t>
                          </m:r>
                        </m:num>
                        <m:den>
                          <m:sSup>
                            <m:sSupPr>
                              <m:ctrlPr>
                                <a:rPr lang="en-US" sz="3200" i="1">
                                  <a:solidFill>
                                    <a:srgbClr val="7030A0"/>
                                  </a:solidFill>
                                  <a:latin typeface="Cambria Math" panose="02040503050406030204" pitchFamily="18" charset="0"/>
                                  <a:ea typeface="Cambria Math" panose="02040503050406030204" pitchFamily="18" charset="0"/>
                                </a:rPr>
                              </m:ctrlPr>
                            </m:sSupPr>
                            <m:e>
                              <m:r>
                                <a:rPr lang="en-US" sz="3200" i="1">
                                  <a:solidFill>
                                    <a:srgbClr val="7030A0"/>
                                  </a:solidFill>
                                  <a:latin typeface="Cambria Math" panose="02040503050406030204" pitchFamily="18" charset="0"/>
                                  <a:ea typeface="Cambria Math" panose="02040503050406030204" pitchFamily="18" charset="0"/>
                                </a:rPr>
                                <m:t>𝑑</m:t>
                              </m:r>
                            </m:e>
                            <m:sup>
                              <m:r>
                                <a:rPr lang="en-US" sz="3200" i="1">
                                  <a:solidFill>
                                    <a:srgbClr val="7030A0"/>
                                  </a:solidFill>
                                  <a:latin typeface="Cambria Math" panose="02040503050406030204" pitchFamily="18" charset="0"/>
                                  <a:ea typeface="Cambria Math" panose="02040503050406030204" pitchFamily="18" charset="0"/>
                                </a:rPr>
                                <m:t>3</m:t>
                              </m:r>
                            </m:sup>
                          </m:sSup>
                        </m:den>
                      </m:f>
                      <m:sSub>
                        <m:sSubPr>
                          <m:ctrlPr>
                            <a:rPr lang="en-US" sz="3200" i="1">
                              <a:solidFill>
                                <a:srgbClr val="7030A0"/>
                              </a:solidFill>
                              <a:latin typeface="Cambria Math" panose="02040503050406030204" pitchFamily="18" charset="0"/>
                              <a:ea typeface="Cambria Math" panose="02040503050406030204" pitchFamily="18" charset="0"/>
                            </a:rPr>
                          </m:ctrlPr>
                        </m:sSubPr>
                        <m:e>
                          <m:r>
                            <a:rPr lang="en-US" sz="3200" i="1">
                              <a:solidFill>
                                <a:srgbClr val="7030A0"/>
                              </a:solidFill>
                              <a:latin typeface="Cambria Math" panose="02040503050406030204" pitchFamily="18" charset="0"/>
                              <a:ea typeface="Cambria Math" panose="02040503050406030204" pitchFamily="18" charset="0"/>
                            </a:rPr>
                            <m:t>𝑓</m:t>
                          </m:r>
                        </m:e>
                        <m:sub>
                          <m:r>
                            <a:rPr lang="en-US" sz="3200" b="0" i="1" smtClean="0">
                              <a:solidFill>
                                <a:srgbClr val="7030A0"/>
                              </a:solidFill>
                              <a:latin typeface="Cambria Math" panose="02040503050406030204" pitchFamily="18" charset="0"/>
                              <a:ea typeface="Cambria Math" panose="02040503050406030204" pitchFamily="18" charset="0"/>
                            </a:rPr>
                            <m:t>5</m:t>
                          </m:r>
                          <m:r>
                            <a:rPr lang="en-US" sz="3200" i="1">
                              <a:solidFill>
                                <a:srgbClr val="7030A0"/>
                              </a:solidFill>
                              <a:latin typeface="Cambria Math" panose="02040503050406030204" pitchFamily="18" charset="0"/>
                              <a:ea typeface="Cambria Math" panose="02040503050406030204" pitchFamily="18" charset="0"/>
                            </a:rPr>
                            <m:t>/2</m:t>
                          </m:r>
                        </m:sub>
                      </m:sSub>
                      <m:r>
                        <a:rPr lang="en-US" sz="3200" i="1">
                          <a:solidFill>
                            <a:srgbClr val="7030A0"/>
                          </a:solidFill>
                          <a:latin typeface="Cambria Math" panose="02040503050406030204" pitchFamily="18" charset="0"/>
                          <a:ea typeface="Cambria Math" panose="02040503050406030204" pitchFamily="18" charset="0"/>
                        </a:rPr>
                        <m:t>(</m:t>
                      </m:r>
                      <m:r>
                        <a:rPr lang="en-US" sz="3200" i="1">
                          <a:solidFill>
                            <a:srgbClr val="7030A0"/>
                          </a:solidFill>
                          <a:latin typeface="Cambria Math" panose="02040503050406030204" pitchFamily="18" charset="0"/>
                          <a:ea typeface="Cambria Math" panose="02040503050406030204" pitchFamily="18" charset="0"/>
                        </a:rPr>
                        <m:t>𝜆</m:t>
                      </m:r>
                      <m:r>
                        <a:rPr lang="en-US" sz="3200" i="1">
                          <a:solidFill>
                            <a:srgbClr val="7030A0"/>
                          </a:solidFill>
                          <a:latin typeface="Cambria Math" panose="02040503050406030204" pitchFamily="18" charset="0"/>
                          <a:ea typeface="Cambria Math" panose="02040503050406030204" pitchFamily="18" charset="0"/>
                        </a:rPr>
                        <m:t>)</m:t>
                      </m:r>
                    </m:oMath>
                  </m:oMathPara>
                </a14:m>
                <a:endParaRPr lang="en-US" sz="3200" dirty="0">
                  <a:solidFill>
                    <a:srgbClr val="7030A0"/>
                  </a:solidFill>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FB0BC4D8-8836-1F9E-CC03-8B5FDD7BBCC7}"/>
                  </a:ext>
                </a:extLst>
              </p:cNvPr>
              <p:cNvSpPr txBox="1">
                <a:spLocks noRot="1" noChangeAspect="1" noMove="1" noResize="1" noEditPoints="1" noAdjustHandles="1" noChangeArrowheads="1" noChangeShapeType="1" noTextEdit="1"/>
              </p:cNvSpPr>
              <p:nvPr/>
            </p:nvSpPr>
            <p:spPr>
              <a:xfrm>
                <a:off x="498763" y="341706"/>
                <a:ext cx="10972800" cy="2534733"/>
              </a:xfrm>
              <a:prstGeom prst="rect">
                <a:avLst/>
              </a:prstGeom>
              <a:blipFill>
                <a:blip r:embed="rId2"/>
                <a:stretch>
                  <a:fillRect b="-2985"/>
                </a:stretch>
              </a:blipFill>
            </p:spPr>
            <p:txBody>
              <a:bodyPr/>
              <a:lstStyle/>
              <a:p>
                <a:r>
                  <a:rPr lang="en-CN">
                    <a:noFill/>
                  </a:rPr>
                  <a:t> </a:t>
                </a:r>
              </a:p>
            </p:txBody>
          </p:sp>
        </mc:Fallback>
      </mc:AlternateContent>
      <p:sp>
        <p:nvSpPr>
          <p:cNvPr id="5" name="TextBox 4">
            <a:extLst>
              <a:ext uri="{FF2B5EF4-FFF2-40B4-BE49-F238E27FC236}">
                <a16:creationId xmlns:a16="http://schemas.microsoft.com/office/drawing/2014/main" id="{D1D3E453-D44C-E714-A6A0-92679951C791}"/>
              </a:ext>
            </a:extLst>
          </p:cNvPr>
          <p:cNvSpPr txBox="1"/>
          <p:nvPr/>
        </p:nvSpPr>
        <p:spPr>
          <a:xfrm>
            <a:off x="1080655" y="3934691"/>
            <a:ext cx="10044545" cy="369332"/>
          </a:xfrm>
          <a:prstGeom prst="rect">
            <a:avLst/>
          </a:prstGeom>
          <a:noFill/>
        </p:spPr>
        <p:txBody>
          <a:bodyPr wrap="square" rtlCol="0">
            <a:spAutoFit/>
          </a:bodyPr>
          <a:lstStyle/>
          <a:p>
            <a:r>
              <a:rPr lang="en-CN" dirty="0"/>
              <a:t>试着证明</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CFDA08E-3B1A-A9E1-5DB8-0F69C96A3181}"/>
                  </a:ext>
                </a:extLst>
              </p:cNvPr>
              <p:cNvSpPr txBox="1"/>
              <p:nvPr/>
            </p:nvSpPr>
            <p:spPr>
              <a:xfrm>
                <a:off x="2701636" y="3679589"/>
                <a:ext cx="6096000" cy="12488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4000" i="1" smtClean="0">
                          <a:solidFill>
                            <a:srgbClr val="FF0000"/>
                          </a:solidFill>
                          <a:latin typeface="Cambria Math" panose="02040503050406030204" pitchFamily="18" charset="0"/>
                        </a:rPr>
                        <m:t>𝑝</m:t>
                      </m:r>
                      <m:r>
                        <a:rPr lang="en-US" sz="4000" i="1">
                          <a:solidFill>
                            <a:srgbClr val="FF0000"/>
                          </a:solidFill>
                          <a:latin typeface="Cambria Math" panose="02040503050406030204" pitchFamily="18" charset="0"/>
                        </a:rPr>
                        <m:t>=</m:t>
                      </m:r>
                      <m:f>
                        <m:fPr>
                          <m:ctrlPr>
                            <a:rPr lang="en-US" sz="4000" i="1">
                              <a:solidFill>
                                <a:srgbClr val="FF0000"/>
                              </a:solidFill>
                              <a:latin typeface="Cambria Math" panose="02040503050406030204" pitchFamily="18" charset="0"/>
                            </a:rPr>
                          </m:ctrlPr>
                        </m:fPr>
                        <m:num>
                          <m:r>
                            <a:rPr lang="en-US" altLang="zh-CN" sz="4000" b="0" i="1" smtClean="0">
                              <a:solidFill>
                                <a:srgbClr val="FF0000"/>
                              </a:solidFill>
                              <a:latin typeface="Cambria Math" panose="02040503050406030204" pitchFamily="18" charset="0"/>
                              <a:ea typeface="Cambria Math" panose="02040503050406030204" pitchFamily="18" charset="0"/>
                            </a:rPr>
                            <m:t>2</m:t>
                          </m:r>
                        </m:num>
                        <m:den>
                          <m:r>
                            <a:rPr lang="en-US" sz="4000" i="1">
                              <a:solidFill>
                                <a:srgbClr val="FF0000"/>
                              </a:solidFill>
                              <a:latin typeface="Cambria Math" panose="02040503050406030204" pitchFamily="18" charset="0"/>
                            </a:rPr>
                            <m:t>3</m:t>
                          </m:r>
                        </m:den>
                      </m:f>
                      <m:r>
                        <a:rPr lang="en-US" sz="4000" i="1">
                          <a:solidFill>
                            <a:srgbClr val="FF0000"/>
                          </a:solidFill>
                          <a:latin typeface="Cambria Math" panose="02040503050406030204" pitchFamily="18" charset="0"/>
                        </a:rPr>
                        <m:t> </m:t>
                      </m:r>
                      <m:f>
                        <m:fPr>
                          <m:ctrlPr>
                            <a:rPr lang="en-US" sz="4000" i="1">
                              <a:solidFill>
                                <a:srgbClr val="FF0000"/>
                              </a:solidFill>
                              <a:latin typeface="Cambria Math" panose="02040503050406030204" pitchFamily="18" charset="0"/>
                            </a:rPr>
                          </m:ctrlPr>
                        </m:fPr>
                        <m:num>
                          <m:r>
                            <a:rPr lang="en-US" sz="4000" b="0" i="1" smtClean="0">
                              <a:solidFill>
                                <a:srgbClr val="FF0000"/>
                              </a:solidFill>
                              <a:latin typeface="Cambria Math" panose="02040503050406030204" pitchFamily="18" charset="0"/>
                            </a:rPr>
                            <m:t>𝑈</m:t>
                          </m:r>
                        </m:num>
                        <m:den>
                          <m:r>
                            <a:rPr lang="en-US" sz="4000" i="1">
                              <a:solidFill>
                                <a:srgbClr val="FF0000"/>
                              </a:solidFill>
                              <a:latin typeface="Cambria Math" panose="02040503050406030204" pitchFamily="18" charset="0"/>
                            </a:rPr>
                            <m:t>𝑉</m:t>
                          </m:r>
                        </m:den>
                      </m:f>
                    </m:oMath>
                  </m:oMathPara>
                </a14:m>
                <a:endParaRPr lang="en-CN" sz="4000" dirty="0">
                  <a:solidFill>
                    <a:srgbClr val="FF0000"/>
                  </a:solidFill>
                </a:endParaRPr>
              </a:p>
            </p:txBody>
          </p:sp>
        </mc:Choice>
        <mc:Fallback xmlns="">
          <p:sp>
            <p:nvSpPr>
              <p:cNvPr id="8" name="TextBox 7">
                <a:extLst>
                  <a:ext uri="{FF2B5EF4-FFF2-40B4-BE49-F238E27FC236}">
                    <a16:creationId xmlns:a16="http://schemas.microsoft.com/office/drawing/2014/main" id="{5CFDA08E-3B1A-A9E1-5DB8-0F69C96A3181}"/>
                  </a:ext>
                </a:extLst>
              </p:cNvPr>
              <p:cNvSpPr txBox="1">
                <a:spLocks noRot="1" noChangeAspect="1" noMove="1" noResize="1" noEditPoints="1" noAdjustHandles="1" noChangeArrowheads="1" noChangeShapeType="1" noTextEdit="1"/>
              </p:cNvSpPr>
              <p:nvPr/>
            </p:nvSpPr>
            <p:spPr>
              <a:xfrm>
                <a:off x="2701636" y="3679589"/>
                <a:ext cx="6096000" cy="1248868"/>
              </a:xfrm>
              <a:prstGeom prst="rect">
                <a:avLst/>
              </a:prstGeom>
              <a:blipFill>
                <a:blip r:embed="rId3"/>
                <a:stretch>
                  <a:fillRect b="-1111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3B121E8-C277-4787-461D-09F5801DE056}"/>
                  </a:ext>
                </a:extLst>
              </p:cNvPr>
              <p:cNvSpPr txBox="1"/>
              <p:nvPr/>
            </p:nvSpPr>
            <p:spPr>
              <a:xfrm>
                <a:off x="807308" y="5468651"/>
                <a:ext cx="10577383" cy="1239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600" i="1" smtClean="0">
                          <a:solidFill>
                            <a:srgbClr val="7030A0"/>
                          </a:solidFill>
                          <a:latin typeface="Cambria Math" panose="02040503050406030204" pitchFamily="18" charset="0"/>
                        </a:rPr>
                        <m:t>𝑈</m:t>
                      </m:r>
                      <m:r>
                        <a:rPr lang="en-US" sz="3600" i="1" smtClean="0">
                          <a:solidFill>
                            <a:srgbClr val="7030A0"/>
                          </a:solidFill>
                          <a:latin typeface="Cambria Math" panose="02040503050406030204" pitchFamily="18" charset="0"/>
                        </a:rPr>
                        <m:t>=</m:t>
                      </m:r>
                      <m:d>
                        <m:dPr>
                          <m:ctrlPr>
                            <a:rPr lang="en-US" sz="3600" i="1">
                              <a:solidFill>
                                <a:srgbClr val="7030A0"/>
                              </a:solidFill>
                              <a:latin typeface="Cambria Math" panose="02040503050406030204" pitchFamily="18" charset="0"/>
                            </a:rPr>
                          </m:ctrlPr>
                        </m:dPr>
                        <m:e>
                          <m:f>
                            <m:fPr>
                              <m:ctrlPr>
                                <a:rPr lang="en-US" sz="3600" i="1">
                                  <a:solidFill>
                                    <a:srgbClr val="7030A0"/>
                                  </a:solidFill>
                                  <a:latin typeface="Cambria Math" panose="02040503050406030204" pitchFamily="18" charset="0"/>
                                </a:rPr>
                              </m:ctrlPr>
                            </m:fPr>
                            <m:num>
                              <m:r>
                                <a:rPr lang="en-US" sz="3600" i="1">
                                  <a:solidFill>
                                    <a:srgbClr val="7030A0"/>
                                  </a:solidFill>
                                  <a:latin typeface="Cambria Math" panose="02040503050406030204" pitchFamily="18" charset="0"/>
                                  <a:ea typeface="Cambria Math" panose="02040503050406030204" pitchFamily="18" charset="0"/>
                                </a:rPr>
                                <m:t>𝜇</m:t>
                              </m:r>
                            </m:num>
                            <m:den>
                              <m:r>
                                <a:rPr lang="en-US" sz="3600" i="1">
                                  <a:solidFill>
                                    <a:srgbClr val="7030A0"/>
                                  </a:solidFill>
                                  <a:latin typeface="Cambria Math" panose="02040503050406030204" pitchFamily="18" charset="0"/>
                                  <a:ea typeface="Cambria Math" panose="02040503050406030204" pitchFamily="18" charset="0"/>
                                </a:rPr>
                                <m:t>𝛽</m:t>
                              </m:r>
                            </m:den>
                          </m:f>
                          <m:f>
                            <m:fPr>
                              <m:ctrlPr>
                                <a:rPr lang="en-US" sz="3600" i="1">
                                  <a:solidFill>
                                    <a:srgbClr val="7030A0"/>
                                  </a:solidFill>
                                  <a:latin typeface="Cambria Math" panose="02040503050406030204" pitchFamily="18" charset="0"/>
                                </a:rPr>
                              </m:ctrlPr>
                            </m:fPr>
                            <m:num>
                              <m:r>
                                <a:rPr lang="en-US" sz="3600" i="1">
                                  <a:solidFill>
                                    <a:srgbClr val="7030A0"/>
                                  </a:solidFill>
                                  <a:latin typeface="Cambria Math" panose="02040503050406030204" pitchFamily="18" charset="0"/>
                                  <a:ea typeface="Cambria Math" panose="02040503050406030204" pitchFamily="18" charset="0"/>
                                </a:rPr>
                                <m:t>𝜕</m:t>
                              </m:r>
                            </m:num>
                            <m:den>
                              <m:r>
                                <a:rPr lang="en-US" sz="3600" i="1">
                                  <a:solidFill>
                                    <a:srgbClr val="7030A0"/>
                                  </a:solidFill>
                                  <a:latin typeface="Cambria Math" panose="02040503050406030204" pitchFamily="18" charset="0"/>
                                  <a:ea typeface="Cambria Math" panose="02040503050406030204" pitchFamily="18" charset="0"/>
                                </a:rPr>
                                <m:t>𝜕</m:t>
                              </m:r>
                              <m:r>
                                <a:rPr lang="en-US" sz="3600" i="1">
                                  <a:solidFill>
                                    <a:srgbClr val="7030A0"/>
                                  </a:solidFill>
                                  <a:latin typeface="Cambria Math" panose="02040503050406030204" pitchFamily="18" charset="0"/>
                                  <a:ea typeface="Cambria Math" panose="02040503050406030204" pitchFamily="18" charset="0"/>
                                </a:rPr>
                                <m:t> </m:t>
                              </m:r>
                              <m:r>
                                <a:rPr lang="en-US" sz="3600" i="1">
                                  <a:solidFill>
                                    <a:srgbClr val="7030A0"/>
                                  </a:solidFill>
                                  <a:latin typeface="Cambria Math" panose="02040503050406030204" pitchFamily="18" charset="0"/>
                                  <a:ea typeface="Cambria Math" panose="02040503050406030204" pitchFamily="18" charset="0"/>
                                </a:rPr>
                                <m:t>𝜇</m:t>
                              </m:r>
                            </m:den>
                          </m:f>
                          <m:r>
                            <a:rPr lang="en-US" sz="3600" i="1">
                              <a:solidFill>
                                <a:srgbClr val="7030A0"/>
                              </a:solidFill>
                              <a:latin typeface="Cambria Math" panose="02040503050406030204" pitchFamily="18" charset="0"/>
                            </a:rPr>
                            <m:t>−</m:t>
                          </m:r>
                          <m:f>
                            <m:fPr>
                              <m:ctrlPr>
                                <a:rPr lang="en-US" sz="3600" i="1">
                                  <a:solidFill>
                                    <a:srgbClr val="7030A0"/>
                                  </a:solidFill>
                                  <a:latin typeface="Cambria Math" panose="02040503050406030204" pitchFamily="18" charset="0"/>
                                </a:rPr>
                              </m:ctrlPr>
                            </m:fPr>
                            <m:num>
                              <m:r>
                                <a:rPr lang="en-US" sz="3600" i="1">
                                  <a:solidFill>
                                    <a:srgbClr val="7030A0"/>
                                  </a:solidFill>
                                  <a:latin typeface="Cambria Math" panose="02040503050406030204" pitchFamily="18" charset="0"/>
                                  <a:ea typeface="Cambria Math" panose="02040503050406030204" pitchFamily="18" charset="0"/>
                                </a:rPr>
                                <m:t>𝜕</m:t>
                              </m:r>
                            </m:num>
                            <m:den>
                              <m:r>
                                <a:rPr lang="en-US" sz="3600" i="1">
                                  <a:solidFill>
                                    <a:srgbClr val="7030A0"/>
                                  </a:solidFill>
                                  <a:latin typeface="Cambria Math" panose="02040503050406030204" pitchFamily="18" charset="0"/>
                                  <a:ea typeface="Cambria Math" panose="02040503050406030204" pitchFamily="18" charset="0"/>
                                </a:rPr>
                                <m:t>𝜕</m:t>
                              </m:r>
                              <m:r>
                                <a:rPr lang="en-US" sz="3600" i="1">
                                  <a:solidFill>
                                    <a:srgbClr val="7030A0"/>
                                  </a:solidFill>
                                  <a:latin typeface="Cambria Math" panose="02040503050406030204" pitchFamily="18" charset="0"/>
                                  <a:ea typeface="Cambria Math" panose="02040503050406030204" pitchFamily="18" charset="0"/>
                                </a:rPr>
                                <m:t> </m:t>
                              </m:r>
                              <m:r>
                                <a:rPr lang="en-US" sz="3600" i="1">
                                  <a:solidFill>
                                    <a:srgbClr val="7030A0"/>
                                  </a:solidFill>
                                  <a:latin typeface="Cambria Math" panose="02040503050406030204" pitchFamily="18" charset="0"/>
                                  <a:ea typeface="Cambria Math" panose="02040503050406030204" pitchFamily="18" charset="0"/>
                                </a:rPr>
                                <m:t>𝛽</m:t>
                              </m:r>
                            </m:den>
                          </m:f>
                        </m:e>
                      </m:d>
                      <m:func>
                        <m:funcPr>
                          <m:ctrlPr>
                            <a:rPr lang="en-US" sz="3600" i="1">
                              <a:solidFill>
                                <a:srgbClr val="7030A0"/>
                              </a:solidFill>
                              <a:latin typeface="Cambria Math" panose="02040503050406030204" pitchFamily="18" charset="0"/>
                            </a:rPr>
                          </m:ctrlPr>
                        </m:funcPr>
                        <m:fName>
                          <m:r>
                            <m:rPr>
                              <m:sty m:val="p"/>
                            </m:rPr>
                            <a:rPr lang="en-US" sz="3600">
                              <a:solidFill>
                                <a:srgbClr val="7030A0"/>
                              </a:solidFill>
                              <a:latin typeface="Cambria Math" panose="02040503050406030204" pitchFamily="18" charset="0"/>
                            </a:rPr>
                            <m:t>log</m:t>
                          </m:r>
                        </m:fName>
                        <m:e>
                          <m:r>
                            <a:rPr lang="en-US" sz="3600" i="1">
                              <a:solidFill>
                                <a:srgbClr val="7030A0"/>
                              </a:solidFill>
                              <a:latin typeface="Cambria Math" panose="02040503050406030204" pitchFamily="18" charset="0"/>
                              <a:ea typeface="Cambria Math" panose="02040503050406030204" pitchFamily="18" charset="0"/>
                            </a:rPr>
                            <m:t>𝒵</m:t>
                          </m:r>
                        </m:e>
                      </m:func>
                    </m:oMath>
                  </m:oMathPara>
                </a14:m>
                <a:endParaRPr lang="en-CN" sz="3600" dirty="0">
                  <a:solidFill>
                    <a:srgbClr val="7030A0"/>
                  </a:solidFill>
                </a:endParaRPr>
              </a:p>
            </p:txBody>
          </p:sp>
        </mc:Choice>
        <mc:Fallback xmlns="">
          <p:sp>
            <p:nvSpPr>
              <p:cNvPr id="2" name="TextBox 1">
                <a:extLst>
                  <a:ext uri="{FF2B5EF4-FFF2-40B4-BE49-F238E27FC236}">
                    <a16:creationId xmlns:a16="http://schemas.microsoft.com/office/drawing/2014/main" id="{B3B121E8-C277-4787-461D-09F5801DE056}"/>
                  </a:ext>
                </a:extLst>
              </p:cNvPr>
              <p:cNvSpPr txBox="1">
                <a:spLocks noRot="1" noChangeAspect="1" noMove="1" noResize="1" noEditPoints="1" noAdjustHandles="1" noChangeArrowheads="1" noChangeShapeType="1" noTextEdit="1"/>
              </p:cNvSpPr>
              <p:nvPr/>
            </p:nvSpPr>
            <p:spPr>
              <a:xfrm>
                <a:off x="807308" y="5468651"/>
                <a:ext cx="10577383" cy="1239057"/>
              </a:xfrm>
              <a:prstGeom prst="rect">
                <a:avLst/>
              </a:prstGeom>
              <a:blipFill>
                <a:blip r:embed="rId4"/>
                <a:stretch>
                  <a:fillRect b="-15306"/>
                </a:stretch>
              </a:blipFill>
            </p:spPr>
            <p:txBody>
              <a:bodyPr/>
              <a:lstStyle/>
              <a:p>
                <a:r>
                  <a:rPr lang="en-CN">
                    <a:noFill/>
                  </a:rPr>
                  <a:t> </a:t>
                </a:r>
              </a:p>
            </p:txBody>
          </p:sp>
        </mc:Fallback>
      </mc:AlternateContent>
    </p:spTree>
    <p:extLst>
      <p:ext uri="{BB962C8B-B14F-4D97-AF65-F5344CB8AC3E}">
        <p14:creationId xmlns:p14="http://schemas.microsoft.com/office/powerpoint/2010/main" val="14832855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AA1260-7177-454D-AAA2-9290AF2FD1A2}"/>
              </a:ext>
            </a:extLst>
          </p:cNvPr>
          <p:cNvSpPr txBox="1"/>
          <p:nvPr/>
        </p:nvSpPr>
        <p:spPr>
          <a:xfrm>
            <a:off x="3311236" y="180109"/>
            <a:ext cx="4281055" cy="369332"/>
          </a:xfrm>
          <a:prstGeom prst="rect">
            <a:avLst/>
          </a:prstGeom>
          <a:noFill/>
        </p:spPr>
        <p:txBody>
          <a:bodyPr wrap="square" rtlCol="0">
            <a:spAutoFit/>
          </a:bodyPr>
          <a:lstStyle/>
          <a:p>
            <a:pPr algn="ctr"/>
            <a:r>
              <a:rPr lang="en-CN" dirty="0"/>
              <a:t>Equation of State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39BEEA9-1F72-F240-85E8-755EB2AC04F1}"/>
                  </a:ext>
                </a:extLst>
              </p:cNvPr>
              <p:cNvSpPr txBox="1"/>
              <p:nvPr/>
            </p:nvSpPr>
            <p:spPr>
              <a:xfrm>
                <a:off x="2092037" y="1011381"/>
                <a:ext cx="5500254" cy="1323311"/>
              </a:xfrm>
              <a:prstGeom prst="rect">
                <a:avLst/>
              </a:prstGeom>
              <a:noFill/>
            </p:spPr>
            <p:txBody>
              <a:bodyPr wrap="square" rtlCol="0">
                <a:spAutoFit/>
              </a:bodyPr>
              <a:lstStyle/>
              <a:p>
                <a:r>
                  <a:rPr lang="en-CN" dirty="0"/>
                  <a:t>Pressure</a:t>
                </a:r>
              </a:p>
              <a:p>
                <a:endParaRPr lang="en-CN"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𝑈</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den>
                              </m:f>
                            </m:e>
                          </m:d>
                        </m:e>
                        <m:sub>
                          <m:r>
                            <a:rPr lang="en-US" b="0" i="1" smtClean="0">
                              <a:latin typeface="Cambria Math" panose="02040503050406030204" pitchFamily="18" charset="0"/>
                              <a:ea typeface="Cambria Math" panose="02040503050406030204" pitchFamily="18" charset="0"/>
                            </a:rPr>
                            <m:t>𝜎</m:t>
                          </m:r>
                        </m:sub>
                      </m:sSub>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ea typeface="Cambria Math" panose="02040503050406030204" pitchFamily="18" charset="0"/>
                                    </a:rPr>
                                    <m:t>𝑖</m:t>
                                  </m:r>
                                </m:sub>
                              </m:sSub>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den>
                          </m:f>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e>
                      </m:nary>
                    </m:oMath>
                  </m:oMathPara>
                </a14:m>
                <a:endParaRPr lang="en-CN" dirty="0"/>
              </a:p>
            </p:txBody>
          </p:sp>
        </mc:Choice>
        <mc:Fallback xmlns="">
          <p:sp>
            <p:nvSpPr>
              <p:cNvPr id="3" name="TextBox 2">
                <a:extLst>
                  <a:ext uri="{FF2B5EF4-FFF2-40B4-BE49-F238E27FC236}">
                    <a16:creationId xmlns:a16="http://schemas.microsoft.com/office/drawing/2014/main" id="{039BEEA9-1F72-F240-85E8-755EB2AC04F1}"/>
                  </a:ext>
                </a:extLst>
              </p:cNvPr>
              <p:cNvSpPr txBox="1">
                <a:spLocks noRot="1" noChangeAspect="1" noMove="1" noResize="1" noEditPoints="1" noAdjustHandles="1" noChangeArrowheads="1" noChangeShapeType="1" noTextEdit="1"/>
              </p:cNvSpPr>
              <p:nvPr/>
            </p:nvSpPr>
            <p:spPr>
              <a:xfrm>
                <a:off x="2092037" y="1011381"/>
                <a:ext cx="5500254" cy="1323311"/>
              </a:xfrm>
              <a:prstGeom prst="rect">
                <a:avLst/>
              </a:prstGeom>
              <a:blipFill>
                <a:blip r:embed="rId2"/>
                <a:stretch>
                  <a:fillRect l="-922" t="-29524" b="-99048"/>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72D3AD70-12D4-F34D-B9D0-BCAAB228E083}"/>
              </a:ext>
            </a:extLst>
          </p:cNvPr>
          <p:cNvSpPr txBox="1"/>
          <p:nvPr/>
        </p:nvSpPr>
        <p:spPr>
          <a:xfrm>
            <a:off x="6525491" y="1411362"/>
            <a:ext cx="5347854" cy="923330"/>
          </a:xfrm>
          <a:prstGeom prst="rect">
            <a:avLst/>
          </a:prstGeom>
          <a:noFill/>
        </p:spPr>
        <p:txBody>
          <a:bodyPr wrap="square" rtlCol="0">
            <a:spAutoFit/>
          </a:bodyPr>
          <a:lstStyle/>
          <a:p>
            <a:r>
              <a:rPr lang="en-US" dirty="0"/>
              <a:t>T</a:t>
            </a:r>
            <a:r>
              <a:rPr lang="en-CN" dirty="0"/>
              <a:t>he entropy depends on the number of accessible microstates, the populations n are constant at constant entropy</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F4E913B-A0C3-0A4D-9489-B7AC39F3DCCA}"/>
                  </a:ext>
                </a:extLst>
              </p:cNvPr>
              <p:cNvSpPr txBox="1"/>
              <p:nvPr/>
            </p:nvSpPr>
            <p:spPr>
              <a:xfrm>
                <a:off x="0" y="2462873"/>
                <a:ext cx="5029200" cy="2060436"/>
              </a:xfrm>
              <a:prstGeom prst="rect">
                <a:avLst/>
              </a:prstGeom>
              <a:noFill/>
            </p:spPr>
            <p:txBody>
              <a:bodyPr wrap="square" rtlCol="0">
                <a:spAutoFit/>
              </a:bodyPr>
              <a:lstStyle/>
              <a:p>
                <a:r>
                  <a:rPr lang="en-CN" dirty="0"/>
                  <a:t>Recall that, for particles bounded in a box, the single-particle energy levels are related to</a:t>
                </a:r>
                <a:r>
                  <a:rPr lang="en-US" dirty="0"/>
                  <a:t> t</a:t>
                </a:r>
                <a:r>
                  <a:rPr lang="en-CN" dirty="0"/>
                  <a:t>he volume by</a:t>
                </a:r>
              </a:p>
              <a:p>
                <a:pPr algn="ct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𝑖</m:t>
                          </m:r>
                        </m:sub>
                      </m:sSub>
                      <m:r>
                        <a:rPr lang="en-CN" i="1" smtClean="0">
                          <a:latin typeface="Cambria Math" panose="02040503050406030204" pitchFamily="18" charset="0"/>
                          <a:ea typeface="Cambria Math" panose="02040503050406030204" pitchFamily="18" charset="0"/>
                        </a:rPr>
                        <m:t>∝</m:t>
                      </m:r>
                      <m:sSup>
                        <m:sSupPr>
                          <m:ctrlPr>
                            <a:rPr lang="en-CN"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−2/3</m:t>
                          </m:r>
                        </m:sup>
                      </m:sSup>
                    </m:oMath>
                  </m:oMathPara>
                </a14:m>
                <a:endParaRPr lang="en-CN" dirty="0"/>
              </a:p>
              <a:p>
                <a:r>
                  <a:rPr lang="en-CN" dirty="0"/>
                  <a:t>Hence,</a:t>
                </a:r>
              </a:p>
              <a:p>
                <a:pPr algn="ctr"/>
                <a14:m>
                  <m:oMathPara xmlns:m="http://schemas.openxmlformats.org/officeDocument/2006/math">
                    <m:oMathParaPr>
                      <m:jc m:val="centerGroup"/>
                    </m:oMathParaPr>
                    <m:oMath xmlns:m="http://schemas.openxmlformats.org/officeDocument/2006/math">
                      <m:f>
                        <m:fPr>
                          <m:ctrlPr>
                            <a:rPr lang="en-CN"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𝑖</m:t>
                              </m:r>
                            </m:sub>
                          </m:sSub>
                        </m:num>
                        <m:den>
                          <m:sSub>
                            <m:sSubPr>
                              <m:ctrlPr>
                                <a:rPr lang="en-CN" i="1" smtClean="0">
                                  <a:latin typeface="Cambria Math" panose="02040503050406030204" pitchFamily="18" charset="0"/>
                                </a:rPr>
                              </m:ctrlPr>
                            </m:sSubPr>
                            <m:e>
                              <m:r>
                                <a:rPr lang="en-CN"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𝑑𝑉</m:t>
                          </m:r>
                        </m:num>
                        <m:den>
                          <m:r>
                            <a:rPr lang="en-US" b="0" i="1" smtClean="0">
                              <a:latin typeface="Cambria Math" panose="02040503050406030204" pitchFamily="18" charset="0"/>
                            </a:rPr>
                            <m:t>𝑉</m:t>
                          </m:r>
                        </m:den>
                      </m:f>
                    </m:oMath>
                  </m:oMathPara>
                </a14:m>
                <a:endParaRPr lang="en-CN" dirty="0"/>
              </a:p>
            </p:txBody>
          </p:sp>
        </mc:Choice>
        <mc:Fallback xmlns="">
          <p:sp>
            <p:nvSpPr>
              <p:cNvPr id="5" name="TextBox 4">
                <a:extLst>
                  <a:ext uri="{FF2B5EF4-FFF2-40B4-BE49-F238E27FC236}">
                    <a16:creationId xmlns:a16="http://schemas.microsoft.com/office/drawing/2014/main" id="{9F4E913B-A0C3-0A4D-9489-B7AC39F3DCCA}"/>
                  </a:ext>
                </a:extLst>
              </p:cNvPr>
              <p:cNvSpPr txBox="1">
                <a:spLocks noRot="1" noChangeAspect="1" noMove="1" noResize="1" noEditPoints="1" noAdjustHandles="1" noChangeArrowheads="1" noChangeShapeType="1" noTextEdit="1"/>
              </p:cNvSpPr>
              <p:nvPr/>
            </p:nvSpPr>
            <p:spPr>
              <a:xfrm>
                <a:off x="0" y="2462873"/>
                <a:ext cx="5029200" cy="2060436"/>
              </a:xfrm>
              <a:prstGeom prst="rect">
                <a:avLst/>
              </a:prstGeom>
              <a:blipFill>
                <a:blip r:embed="rId3"/>
                <a:stretch>
                  <a:fillRect l="-1010" t="-610"/>
                </a:stretch>
              </a:blipFill>
            </p:spPr>
            <p:txBody>
              <a:bodyPr/>
              <a:lstStyle/>
              <a:p>
                <a:r>
                  <a:rPr lang="en-CN">
                    <a:noFill/>
                  </a:rPr>
                  <a:t> </a:t>
                </a:r>
              </a:p>
            </p:txBody>
          </p:sp>
        </mc:Fallback>
      </mc:AlternateContent>
      <p:sp>
        <p:nvSpPr>
          <p:cNvPr id="6" name="Down Arrow 5">
            <a:extLst>
              <a:ext uri="{FF2B5EF4-FFF2-40B4-BE49-F238E27FC236}">
                <a16:creationId xmlns:a16="http://schemas.microsoft.com/office/drawing/2014/main" id="{AE45925B-A794-064C-AF87-22D4D794B5B8}"/>
              </a:ext>
            </a:extLst>
          </p:cNvPr>
          <p:cNvSpPr/>
          <p:nvPr/>
        </p:nvSpPr>
        <p:spPr>
          <a:xfrm>
            <a:off x="4842164" y="2334692"/>
            <a:ext cx="187036" cy="23065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73E3174-7890-D748-90E3-92D7F258AA73}"/>
                  </a:ext>
                </a:extLst>
              </p:cNvPr>
              <p:cNvSpPr txBox="1"/>
              <p:nvPr/>
            </p:nvSpPr>
            <p:spPr>
              <a:xfrm>
                <a:off x="3311236" y="4904509"/>
                <a:ext cx="3214255" cy="7820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𝑉</m:t>
                                  </m:r>
                                </m:den>
                              </m:f>
                            </m:e>
                          </m:d>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𝑈</m:t>
                          </m:r>
                        </m:num>
                        <m:den>
                          <m:r>
                            <a:rPr lang="en-US" b="0" i="1" smtClean="0">
                              <a:latin typeface="Cambria Math" panose="02040503050406030204" pitchFamily="18" charset="0"/>
                            </a:rPr>
                            <m:t>𝑉</m:t>
                          </m:r>
                        </m:den>
                      </m:f>
                    </m:oMath>
                  </m:oMathPara>
                </a14:m>
                <a:endParaRPr lang="en-CN" dirty="0"/>
              </a:p>
            </p:txBody>
          </p:sp>
        </mc:Choice>
        <mc:Fallback xmlns="">
          <p:sp>
            <p:nvSpPr>
              <p:cNvPr id="7" name="TextBox 6">
                <a:extLst>
                  <a:ext uri="{FF2B5EF4-FFF2-40B4-BE49-F238E27FC236}">
                    <a16:creationId xmlns:a16="http://schemas.microsoft.com/office/drawing/2014/main" id="{273E3174-7890-D748-90E3-92D7F258AA73}"/>
                  </a:ext>
                </a:extLst>
              </p:cNvPr>
              <p:cNvSpPr txBox="1">
                <a:spLocks noRot="1" noChangeAspect="1" noMove="1" noResize="1" noEditPoints="1" noAdjustHandles="1" noChangeArrowheads="1" noChangeShapeType="1" noTextEdit="1"/>
              </p:cNvSpPr>
              <p:nvPr/>
            </p:nvSpPr>
            <p:spPr>
              <a:xfrm>
                <a:off x="3311236" y="4904509"/>
                <a:ext cx="3214255" cy="782074"/>
              </a:xfrm>
              <a:prstGeom prst="rect">
                <a:avLst/>
              </a:prstGeom>
              <a:blipFill>
                <a:blip r:embed="rId4"/>
                <a:stretch>
                  <a:fillRect t="-120968" b="-166129"/>
                </a:stretch>
              </a:blipFill>
            </p:spPr>
            <p:txBody>
              <a:bodyPr/>
              <a:lstStyle/>
              <a:p>
                <a:r>
                  <a:rPr lang="en-CN">
                    <a:noFill/>
                  </a:rPr>
                  <a:t> </a:t>
                </a:r>
              </a:p>
            </p:txBody>
          </p:sp>
        </mc:Fallback>
      </mc:AlternateContent>
      <p:sp>
        <p:nvSpPr>
          <p:cNvPr id="8" name="Right Arrow 7">
            <a:extLst>
              <a:ext uri="{FF2B5EF4-FFF2-40B4-BE49-F238E27FC236}">
                <a16:creationId xmlns:a16="http://schemas.microsoft.com/office/drawing/2014/main" id="{04CD711E-3861-5E49-B0BC-76A159E21F82}"/>
              </a:ext>
            </a:extLst>
          </p:cNvPr>
          <p:cNvSpPr/>
          <p:nvPr/>
        </p:nvSpPr>
        <p:spPr>
          <a:xfrm>
            <a:off x="6525491" y="5126180"/>
            <a:ext cx="554182" cy="2493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0533E47-3CEF-E14F-9D7D-40236E362155}"/>
                  </a:ext>
                </a:extLst>
              </p:cNvPr>
              <p:cNvSpPr txBox="1"/>
              <p:nvPr/>
            </p:nvSpPr>
            <p:spPr>
              <a:xfrm>
                <a:off x="7079673" y="4904509"/>
                <a:ext cx="1745673"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𝑝𝑉</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 </m:t>
                      </m:r>
                      <m:r>
                        <a:rPr lang="en-US" b="0" i="1" smtClean="0">
                          <a:latin typeface="Cambria Math" panose="02040503050406030204" pitchFamily="18" charset="0"/>
                        </a:rPr>
                        <m:t>𝑈</m:t>
                      </m:r>
                    </m:oMath>
                  </m:oMathPara>
                </a14:m>
                <a:endParaRPr lang="en-CN" dirty="0"/>
              </a:p>
            </p:txBody>
          </p:sp>
        </mc:Choice>
        <mc:Fallback xmlns="">
          <p:sp>
            <p:nvSpPr>
              <p:cNvPr id="9" name="TextBox 8">
                <a:extLst>
                  <a:ext uri="{FF2B5EF4-FFF2-40B4-BE49-F238E27FC236}">
                    <a16:creationId xmlns:a16="http://schemas.microsoft.com/office/drawing/2014/main" id="{70533E47-3CEF-E14F-9D7D-40236E362155}"/>
                  </a:ext>
                </a:extLst>
              </p:cNvPr>
              <p:cNvSpPr txBox="1">
                <a:spLocks noRot="1" noChangeAspect="1" noMove="1" noResize="1" noEditPoints="1" noAdjustHandles="1" noChangeArrowheads="1" noChangeShapeType="1" noTextEdit="1"/>
              </p:cNvSpPr>
              <p:nvPr/>
            </p:nvSpPr>
            <p:spPr>
              <a:xfrm>
                <a:off x="7079673" y="4904509"/>
                <a:ext cx="1745673" cy="634789"/>
              </a:xfrm>
              <a:prstGeom prst="rect">
                <a:avLst/>
              </a:prstGeom>
              <a:blipFill>
                <a:blip r:embed="rId5"/>
                <a:stretch>
                  <a:fillRect/>
                </a:stretch>
              </a:blipFill>
            </p:spPr>
            <p:txBody>
              <a:bodyPr/>
              <a:lstStyle/>
              <a:p>
                <a:r>
                  <a:rPr lang="en-CN">
                    <a:noFill/>
                  </a:rPr>
                  <a:t> </a:t>
                </a:r>
              </a:p>
            </p:txBody>
          </p:sp>
        </mc:Fallback>
      </mc:AlternateContent>
      <p:sp>
        <p:nvSpPr>
          <p:cNvPr id="10" name="Left Brace 9">
            <a:extLst>
              <a:ext uri="{FF2B5EF4-FFF2-40B4-BE49-F238E27FC236}">
                <a16:creationId xmlns:a16="http://schemas.microsoft.com/office/drawing/2014/main" id="{4A886D58-F7B0-D346-B120-E59D4066AB9B}"/>
              </a:ext>
            </a:extLst>
          </p:cNvPr>
          <p:cNvSpPr/>
          <p:nvPr/>
        </p:nvSpPr>
        <p:spPr>
          <a:xfrm>
            <a:off x="8465127" y="4148175"/>
            <a:ext cx="360219" cy="21474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213E8A9-D9FB-5B4C-B7A9-AF20909BB203}"/>
                  </a:ext>
                </a:extLst>
              </p:cNvPr>
              <p:cNvSpPr txBox="1"/>
              <p:nvPr/>
            </p:nvSpPr>
            <p:spPr>
              <a:xfrm>
                <a:off x="8825346" y="4148175"/>
                <a:ext cx="3532909" cy="557012"/>
              </a:xfrm>
              <a:prstGeom prst="rect">
                <a:avLst/>
              </a:prstGeom>
              <a:noFill/>
            </p:spPr>
            <p:txBody>
              <a:bodyPr wrap="square" rtlCol="0">
                <a:spAutoFit/>
              </a:bodyPr>
              <a:lstStyle/>
              <a:p>
                <a14:m>
                  <m:oMath xmlns:m="http://schemas.openxmlformats.org/officeDocument/2006/math">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3</m:t>
                        </m:r>
                      </m:num>
                      <m:den>
                        <m:r>
                          <a:rPr lang="en-US" i="1">
                            <a:latin typeface="Cambria Math" panose="02040503050406030204" pitchFamily="18" charset="0"/>
                          </a:rPr>
                          <m:t>5</m:t>
                        </m:r>
                      </m:den>
                    </m:f>
                    <m:r>
                      <a:rPr lang="en-US" i="1">
                        <a:latin typeface="Cambria Math" panose="02040503050406030204" pitchFamily="18" charset="0"/>
                      </a:rPr>
                      <m:t>𝑁</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rPr>
                          <m:t>𝐹</m:t>
                        </m:r>
                      </m:sub>
                    </m:sSub>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𝜋</m:t>
                            </m:r>
                          </m:e>
                          <m:sup>
                            <m:r>
                              <a:rPr lang="en-US" i="1">
                                <a:latin typeface="Cambria Math" panose="02040503050406030204" pitchFamily="18" charset="0"/>
                              </a:rPr>
                              <m:t>2</m:t>
                            </m:r>
                          </m:sup>
                        </m:sSup>
                      </m:num>
                      <m:den>
                        <m:r>
                          <a:rPr lang="en-US" i="1">
                            <a:latin typeface="Cambria Math" panose="02040503050406030204" pitchFamily="18" charset="0"/>
                          </a:rPr>
                          <m:t>4</m:t>
                        </m:r>
                      </m:den>
                    </m:f>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𝜏</m:t>
                            </m:r>
                          </m:e>
                          <m:sup>
                            <m:r>
                              <a:rPr lang="en-US" i="1">
                                <a:latin typeface="Cambria Math" panose="02040503050406030204" pitchFamily="18" charset="0"/>
                              </a:rPr>
                              <m:t>2</m:t>
                            </m:r>
                          </m:sup>
                        </m:sSup>
                      </m:num>
                      <m:den>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𝜀</m:t>
                            </m:r>
                          </m:e>
                          <m:sub>
                            <m:r>
                              <a:rPr lang="en-US" i="1">
                                <a:latin typeface="Cambria Math" panose="02040503050406030204" pitchFamily="18" charset="0"/>
                              </a:rPr>
                              <m:t>𝐹</m:t>
                            </m:r>
                          </m:sub>
                        </m:sSub>
                      </m:den>
                    </m:f>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𝑙𝑜𝑤</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oMath>
                </a14:m>
                <a:endParaRPr lang="en-CN" dirty="0"/>
              </a:p>
            </p:txBody>
          </p:sp>
        </mc:Choice>
        <mc:Fallback xmlns="">
          <p:sp>
            <p:nvSpPr>
              <p:cNvPr id="11" name="TextBox 10">
                <a:extLst>
                  <a:ext uri="{FF2B5EF4-FFF2-40B4-BE49-F238E27FC236}">
                    <a16:creationId xmlns:a16="http://schemas.microsoft.com/office/drawing/2014/main" id="{8213E8A9-D9FB-5B4C-B7A9-AF20909BB203}"/>
                  </a:ext>
                </a:extLst>
              </p:cNvPr>
              <p:cNvSpPr txBox="1">
                <a:spLocks noRot="1" noChangeAspect="1" noMove="1" noResize="1" noEditPoints="1" noAdjustHandles="1" noChangeArrowheads="1" noChangeShapeType="1" noTextEdit="1"/>
              </p:cNvSpPr>
              <p:nvPr/>
            </p:nvSpPr>
            <p:spPr>
              <a:xfrm>
                <a:off x="8825346" y="4148175"/>
                <a:ext cx="3532909" cy="557012"/>
              </a:xfrm>
              <a:prstGeom prst="rect">
                <a:avLst/>
              </a:prstGeom>
              <a:blipFill>
                <a:blip r:embed="rId6"/>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95093F0-424A-E84F-9A80-342E99CA01ED}"/>
                  </a:ext>
                </a:extLst>
              </p:cNvPr>
              <p:cNvSpPr txBox="1"/>
              <p:nvPr/>
            </p:nvSpPr>
            <p:spPr>
              <a:xfrm>
                <a:off x="8894618" y="5686583"/>
                <a:ext cx="213359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r>
                        <a:rPr lang="en-US" i="1" smtClean="0">
                          <a:latin typeface="Cambria Math" panose="02040503050406030204" pitchFamily="18" charset="0"/>
                        </a:rPr>
                        <m:t>𝑁</m:t>
                      </m:r>
                      <m:r>
                        <a:rPr lang="en-US"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𝑓𝑜𝑟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h𝑖𝑔h</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oMath>
                  </m:oMathPara>
                </a14:m>
                <a:endParaRPr lang="en-CN" dirty="0"/>
              </a:p>
            </p:txBody>
          </p:sp>
        </mc:Choice>
        <mc:Fallback xmlns="">
          <p:sp>
            <p:nvSpPr>
              <p:cNvPr id="12" name="TextBox 11">
                <a:extLst>
                  <a:ext uri="{FF2B5EF4-FFF2-40B4-BE49-F238E27FC236}">
                    <a16:creationId xmlns:a16="http://schemas.microsoft.com/office/drawing/2014/main" id="{395093F0-424A-E84F-9A80-342E99CA01ED}"/>
                  </a:ext>
                </a:extLst>
              </p:cNvPr>
              <p:cNvSpPr txBox="1">
                <a:spLocks noRot="1" noChangeAspect="1" noMove="1" noResize="1" noEditPoints="1" noAdjustHandles="1" noChangeArrowheads="1" noChangeShapeType="1" noTextEdit="1"/>
              </p:cNvSpPr>
              <p:nvPr/>
            </p:nvSpPr>
            <p:spPr>
              <a:xfrm>
                <a:off x="8894618" y="5686583"/>
                <a:ext cx="2133599" cy="369332"/>
              </a:xfrm>
              <a:prstGeom prst="rect">
                <a:avLst/>
              </a:prstGeom>
              <a:blipFill>
                <a:blip r:embed="rId7"/>
                <a:stretch>
                  <a:fillRect b="-16667"/>
                </a:stretch>
              </a:blipFill>
            </p:spPr>
            <p:txBody>
              <a:bodyPr/>
              <a:lstStyle/>
              <a:p>
                <a:r>
                  <a:rPr lang="en-CN">
                    <a:noFill/>
                  </a:rPr>
                  <a:t> </a:t>
                </a:r>
              </a:p>
            </p:txBody>
          </p:sp>
        </mc:Fallback>
      </mc:AlternateContent>
    </p:spTree>
    <p:extLst>
      <p:ext uri="{BB962C8B-B14F-4D97-AF65-F5344CB8AC3E}">
        <p14:creationId xmlns:p14="http://schemas.microsoft.com/office/powerpoint/2010/main" val="13946539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F83889-5387-3D47-8318-8BB7F063F9DB}"/>
              </a:ext>
            </a:extLst>
          </p:cNvPr>
          <p:cNvPicPr>
            <a:picLocks noChangeAspect="1"/>
          </p:cNvPicPr>
          <p:nvPr/>
        </p:nvPicPr>
        <p:blipFill>
          <a:blip r:embed="rId2"/>
          <a:stretch>
            <a:fillRect/>
          </a:stretch>
        </p:blipFill>
        <p:spPr>
          <a:xfrm>
            <a:off x="2180359" y="622300"/>
            <a:ext cx="7581900" cy="1041400"/>
          </a:xfrm>
          <a:prstGeom prst="rect">
            <a:avLst/>
          </a:prstGeom>
        </p:spPr>
      </p:pic>
      <p:sp>
        <p:nvSpPr>
          <p:cNvPr id="4" name="TextBox 3">
            <a:extLst>
              <a:ext uri="{FF2B5EF4-FFF2-40B4-BE49-F238E27FC236}">
                <a16:creationId xmlns:a16="http://schemas.microsoft.com/office/drawing/2014/main" id="{8DFB89F4-E595-B44D-B875-889CA54BBCBC}"/>
              </a:ext>
            </a:extLst>
          </p:cNvPr>
          <p:cNvSpPr txBox="1"/>
          <p:nvPr/>
        </p:nvSpPr>
        <p:spPr>
          <a:xfrm>
            <a:off x="249382" y="180109"/>
            <a:ext cx="2673927" cy="369332"/>
          </a:xfrm>
          <a:prstGeom prst="rect">
            <a:avLst/>
          </a:prstGeom>
          <a:noFill/>
        </p:spPr>
        <p:txBody>
          <a:bodyPr wrap="square" rtlCol="0">
            <a:spAutoFit/>
          </a:bodyPr>
          <a:lstStyle/>
          <a:p>
            <a:r>
              <a:rPr lang="en-CN" dirty="0"/>
              <a:t>孔老师给的一个题目</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A7AF1EB-15EA-F6DE-11BF-B27049CD337E}"/>
                  </a:ext>
                </a:extLst>
              </p:cNvPr>
              <p:cNvSpPr txBox="1"/>
              <p:nvPr/>
            </p:nvSpPr>
            <p:spPr>
              <a:xfrm>
                <a:off x="944356" y="1368243"/>
                <a:ext cx="10303288" cy="2060757"/>
              </a:xfrm>
              <a:prstGeom prst="rect">
                <a:avLst/>
              </a:prstGeom>
              <a:noFill/>
            </p:spPr>
            <p:txBody>
              <a:bodyPr wrap="square">
                <a:spAutoFit/>
              </a:bodyPr>
              <a:lstStyle/>
              <a:p>
                <a:pPr algn="ctr"/>
                <a:endParaRPr lang="en-CN" sz="4000" dirty="0"/>
              </a:p>
              <a:p>
                <a:pPr algn="ctr"/>
                <a14:m>
                  <m:oMathPara xmlns:m="http://schemas.openxmlformats.org/officeDocument/2006/math">
                    <m:oMathParaPr>
                      <m:jc m:val="centerGroup"/>
                    </m:oMathParaPr>
                    <m:oMath xmlns:m="http://schemas.openxmlformats.org/officeDocument/2006/math">
                      <m:r>
                        <m:rPr>
                          <m:sty m:val="p"/>
                        </m:rPr>
                        <a:rPr lang="el-GR" sz="4000" i="1" smtClean="0">
                          <a:latin typeface="Cambria Math" panose="02040503050406030204" pitchFamily="18" charset="0"/>
                          <a:ea typeface="Cambria Math" panose="02040503050406030204" pitchFamily="18" charset="0"/>
                        </a:rPr>
                        <m:t>Ω</m:t>
                      </m:r>
                      <m:r>
                        <a:rPr lang="en-US" altLang="zh-CN" sz="4000" b="0" i="1" smtClean="0">
                          <a:latin typeface="Cambria Math" panose="02040503050406030204" pitchFamily="18" charset="0"/>
                          <a:ea typeface="Cambria Math" panose="02040503050406030204" pitchFamily="18" charset="0"/>
                        </a:rPr>
                        <m:t>=</m:t>
                      </m:r>
                      <m:sSub>
                        <m:sSubPr>
                          <m:ctrlPr>
                            <a:rPr lang="en-US" altLang="zh-CN" sz="4000" b="0" i="1" smtClean="0">
                              <a:latin typeface="Cambria Math" panose="02040503050406030204" pitchFamily="18" charset="0"/>
                              <a:ea typeface="Cambria Math" panose="02040503050406030204" pitchFamily="18" charset="0"/>
                            </a:rPr>
                          </m:ctrlPr>
                        </m:sSubPr>
                        <m:e>
                          <m:r>
                            <a:rPr lang="en-US" altLang="zh-CN" sz="4000" b="0" i="1" smtClean="0">
                              <a:latin typeface="Cambria Math" panose="02040503050406030204" pitchFamily="18" charset="0"/>
                              <a:ea typeface="Cambria Math" panose="02040503050406030204" pitchFamily="18" charset="0"/>
                            </a:rPr>
                            <m:t>∓</m:t>
                          </m:r>
                          <m:r>
                            <a:rPr lang="en-US" altLang="zh-CN" sz="4000" b="0" i="1" smtClean="0">
                              <a:latin typeface="Cambria Math" panose="02040503050406030204" pitchFamily="18" charset="0"/>
                              <a:ea typeface="Cambria Math" panose="02040503050406030204" pitchFamily="18" charset="0"/>
                            </a:rPr>
                            <m:t>𝑔</m:t>
                          </m:r>
                        </m:e>
                        <m:sub>
                          <m:r>
                            <a:rPr lang="en-US" altLang="zh-CN" sz="4000" b="0" i="1" smtClean="0">
                              <a:latin typeface="Cambria Math" panose="02040503050406030204" pitchFamily="18" charset="0"/>
                              <a:ea typeface="Cambria Math" panose="02040503050406030204" pitchFamily="18" charset="0"/>
                            </a:rPr>
                            <m:t>𝑠</m:t>
                          </m:r>
                        </m:sub>
                      </m:sSub>
                      <m:f>
                        <m:fPr>
                          <m:ctrlPr>
                            <a:rPr lang="en-US" altLang="zh-CN" sz="4000" b="0" i="1" smtClean="0">
                              <a:latin typeface="Cambria Math" panose="02040503050406030204" pitchFamily="18" charset="0"/>
                              <a:ea typeface="Cambria Math" panose="02040503050406030204" pitchFamily="18" charset="0"/>
                            </a:rPr>
                          </m:ctrlPr>
                        </m:fPr>
                        <m:num>
                          <m:r>
                            <a:rPr lang="en-US" altLang="zh-CN" sz="4000" b="0" i="1" smtClean="0">
                              <a:latin typeface="Cambria Math" panose="02040503050406030204" pitchFamily="18" charset="0"/>
                              <a:ea typeface="Cambria Math" panose="02040503050406030204" pitchFamily="18" charset="0"/>
                            </a:rPr>
                            <m:t>𝑉</m:t>
                          </m:r>
                        </m:num>
                        <m:den>
                          <m:sSup>
                            <m:sSupPr>
                              <m:ctrlPr>
                                <a:rPr lang="en-US" altLang="zh-CN" sz="4000" b="0" i="1" smtClean="0">
                                  <a:latin typeface="Cambria Math" panose="02040503050406030204" pitchFamily="18" charset="0"/>
                                  <a:ea typeface="Cambria Math" panose="02040503050406030204" pitchFamily="18" charset="0"/>
                                </a:rPr>
                              </m:ctrlPr>
                            </m:sSupPr>
                            <m:e>
                              <m:d>
                                <m:dPr>
                                  <m:ctrlPr>
                                    <a:rPr lang="en-US" altLang="zh-CN" sz="4000" b="0" i="1" smtClean="0">
                                      <a:latin typeface="Cambria Math" panose="02040503050406030204" pitchFamily="18" charset="0"/>
                                      <a:ea typeface="Cambria Math" panose="02040503050406030204" pitchFamily="18" charset="0"/>
                                    </a:rPr>
                                  </m:ctrlPr>
                                </m:dPr>
                                <m:e>
                                  <m:r>
                                    <a:rPr lang="en-US" altLang="zh-CN" sz="4000" b="0" i="1" smtClean="0">
                                      <a:latin typeface="Cambria Math" panose="02040503050406030204" pitchFamily="18" charset="0"/>
                                      <a:ea typeface="Cambria Math" panose="02040503050406030204" pitchFamily="18" charset="0"/>
                                    </a:rPr>
                                    <m:t>2</m:t>
                                  </m:r>
                                  <m:r>
                                    <a:rPr lang="en-US" altLang="zh-CN" sz="4000" b="0" i="1" smtClean="0">
                                      <a:latin typeface="Cambria Math" panose="02040503050406030204" pitchFamily="18" charset="0"/>
                                      <a:ea typeface="Cambria Math" panose="02040503050406030204" pitchFamily="18" charset="0"/>
                                    </a:rPr>
                                    <m:t>𝜋</m:t>
                                  </m:r>
                                </m:e>
                              </m:d>
                            </m:e>
                            <m:sup>
                              <m:r>
                                <a:rPr lang="en-US" altLang="zh-CN" sz="4000" b="0" i="1" smtClean="0">
                                  <a:latin typeface="Cambria Math" panose="02040503050406030204" pitchFamily="18" charset="0"/>
                                  <a:ea typeface="Cambria Math" panose="02040503050406030204" pitchFamily="18" charset="0"/>
                                </a:rPr>
                                <m:t>3</m:t>
                              </m:r>
                            </m:sup>
                          </m:sSup>
                        </m:den>
                      </m:f>
                      <m:r>
                        <a:rPr lang="en-US" altLang="zh-CN" sz="4000" b="0" i="1" smtClean="0">
                          <a:latin typeface="Cambria Math" panose="02040503050406030204" pitchFamily="18" charset="0"/>
                          <a:ea typeface="Cambria Math" panose="02040503050406030204" pitchFamily="18" charset="0"/>
                        </a:rPr>
                        <m:t>4</m:t>
                      </m:r>
                      <m:r>
                        <a:rPr lang="en-US" altLang="zh-CN" sz="4000" b="0" i="1" smtClean="0">
                          <a:latin typeface="Cambria Math" panose="02040503050406030204" pitchFamily="18" charset="0"/>
                          <a:ea typeface="Cambria Math" panose="02040503050406030204" pitchFamily="18" charset="0"/>
                        </a:rPr>
                        <m:t>𝜋</m:t>
                      </m:r>
                      <m:nary>
                        <m:naryPr>
                          <m:ctrlPr>
                            <a:rPr lang="en-US" altLang="zh-CN" sz="4000" b="0" i="1" smtClean="0">
                              <a:latin typeface="Cambria Math" panose="02040503050406030204" pitchFamily="18" charset="0"/>
                              <a:ea typeface="Cambria Math" panose="02040503050406030204" pitchFamily="18" charset="0"/>
                            </a:rPr>
                          </m:ctrlPr>
                        </m:naryPr>
                        <m:sub>
                          <m:r>
                            <m:rPr>
                              <m:brk m:alnAt="23"/>
                            </m:rPr>
                            <a:rPr lang="en-US" altLang="zh-CN" sz="4000" b="0" i="1" smtClean="0">
                              <a:latin typeface="Cambria Math" panose="02040503050406030204" pitchFamily="18" charset="0"/>
                              <a:ea typeface="Cambria Math" panose="02040503050406030204" pitchFamily="18" charset="0"/>
                            </a:rPr>
                            <m:t>0</m:t>
                          </m:r>
                        </m:sub>
                        <m:sup>
                          <m:r>
                            <a:rPr lang="en-US" altLang="zh-CN" sz="4000" b="0" i="1" smtClean="0">
                              <a:latin typeface="Cambria Math" panose="02040503050406030204" pitchFamily="18" charset="0"/>
                              <a:ea typeface="Cambria Math" panose="02040503050406030204" pitchFamily="18" charset="0"/>
                            </a:rPr>
                            <m:t>∞</m:t>
                          </m:r>
                        </m:sup>
                        <m:e>
                          <m:r>
                            <a:rPr lang="en-US" altLang="zh-CN" sz="4000" b="0" i="1" smtClean="0">
                              <a:latin typeface="Cambria Math" panose="02040503050406030204" pitchFamily="18" charset="0"/>
                              <a:ea typeface="Cambria Math" panose="02040503050406030204" pitchFamily="18" charset="0"/>
                            </a:rPr>
                            <m:t>𝑑𝑘</m:t>
                          </m:r>
                        </m:e>
                      </m:nary>
                      <m:sSup>
                        <m:sSupPr>
                          <m:ctrlPr>
                            <a:rPr lang="en-US" altLang="zh-CN" sz="4000" b="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𝑘</m:t>
                          </m:r>
                        </m:e>
                        <m:sup>
                          <m:r>
                            <a:rPr lang="en-US" altLang="zh-CN" sz="4000" b="0" i="1" smtClean="0">
                              <a:latin typeface="Cambria Math" panose="02040503050406030204" pitchFamily="18" charset="0"/>
                              <a:ea typeface="Cambria Math" panose="02040503050406030204" pitchFamily="18" charset="0"/>
                            </a:rPr>
                            <m:t>2</m:t>
                          </m:r>
                        </m:sup>
                      </m:sSup>
                      <m:r>
                        <a:rPr lang="en-US" altLang="zh-CN" sz="4000" b="0" i="1" smtClean="0">
                          <a:latin typeface="Cambria Math" panose="02040503050406030204" pitchFamily="18" charset="0"/>
                          <a:ea typeface="Cambria Math" panose="02040503050406030204" pitchFamily="18" charset="0"/>
                        </a:rPr>
                        <m:t>𝑙𝑜𝑔</m:t>
                      </m:r>
                      <m:d>
                        <m:dPr>
                          <m:ctrlPr>
                            <a:rPr lang="en-US" altLang="zh-CN" sz="4000" b="0" i="1" smtClean="0">
                              <a:latin typeface="Cambria Math" panose="02040503050406030204" pitchFamily="18" charset="0"/>
                              <a:ea typeface="Cambria Math" panose="02040503050406030204" pitchFamily="18" charset="0"/>
                            </a:rPr>
                          </m:ctrlPr>
                        </m:dPr>
                        <m:e>
                          <m:r>
                            <a:rPr lang="en-US" altLang="zh-CN" sz="4000" b="0" i="1" smtClean="0">
                              <a:latin typeface="Cambria Math" panose="02040503050406030204" pitchFamily="18" charset="0"/>
                              <a:ea typeface="Cambria Math" panose="02040503050406030204" pitchFamily="18" charset="0"/>
                            </a:rPr>
                            <m:t>1±</m:t>
                          </m:r>
                          <m:sSup>
                            <m:sSupPr>
                              <m:ctrlPr>
                                <a:rPr lang="en-US" altLang="zh-CN" sz="4000" b="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𝑒</m:t>
                              </m:r>
                            </m:e>
                            <m:sup>
                              <m:f>
                                <m:fPr>
                                  <m:ctrlPr>
                                    <a:rPr lang="en-US" altLang="zh-CN" sz="4000" b="0" i="1" smtClean="0">
                                      <a:latin typeface="Cambria Math" panose="02040503050406030204" pitchFamily="18" charset="0"/>
                                      <a:ea typeface="Cambria Math" panose="02040503050406030204" pitchFamily="18" charset="0"/>
                                    </a:rPr>
                                  </m:ctrlPr>
                                </m:fPr>
                                <m:num>
                                  <m:r>
                                    <a:rPr lang="en-US" altLang="zh-CN" sz="4000" b="0" i="1" smtClean="0">
                                      <a:latin typeface="Cambria Math" panose="02040503050406030204" pitchFamily="18" charset="0"/>
                                      <a:ea typeface="Cambria Math" panose="02040503050406030204" pitchFamily="18" charset="0"/>
                                    </a:rPr>
                                    <m:t>𝜇</m:t>
                                  </m:r>
                                </m:num>
                                <m:den>
                                  <m:r>
                                    <a:rPr lang="en-US" altLang="zh-CN" sz="4000" b="0" i="1" smtClean="0">
                                      <a:latin typeface="Cambria Math" panose="02040503050406030204" pitchFamily="18" charset="0"/>
                                      <a:ea typeface="Cambria Math" panose="02040503050406030204" pitchFamily="18" charset="0"/>
                                    </a:rPr>
                                    <m:t>𝜏</m:t>
                                  </m:r>
                                </m:den>
                              </m:f>
                            </m:sup>
                          </m:sSup>
                          <m:sSup>
                            <m:sSupPr>
                              <m:ctrlPr>
                                <a:rPr lang="en-US" altLang="zh-CN" sz="4000" b="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𝑒</m:t>
                              </m:r>
                            </m:e>
                            <m:sup>
                              <m:r>
                                <a:rPr lang="en-US" altLang="zh-CN" sz="4000" b="0" i="1" smtClean="0">
                                  <a:latin typeface="Cambria Math" panose="02040503050406030204" pitchFamily="18" charset="0"/>
                                  <a:ea typeface="Cambria Math" panose="02040503050406030204" pitchFamily="18" charset="0"/>
                                </a:rPr>
                                <m:t>−</m:t>
                              </m:r>
                              <m:f>
                                <m:fPr>
                                  <m:ctrlPr>
                                    <a:rPr lang="en-US" altLang="zh-CN" sz="4000" b="0" i="1" smtClean="0">
                                      <a:latin typeface="Cambria Math" panose="02040503050406030204" pitchFamily="18" charset="0"/>
                                      <a:ea typeface="Cambria Math" panose="02040503050406030204" pitchFamily="18" charset="0"/>
                                    </a:rPr>
                                  </m:ctrlPr>
                                </m:fPr>
                                <m:num>
                                  <m:r>
                                    <a:rPr lang="en-US" altLang="zh-CN" sz="4000" b="0" i="1" smtClean="0">
                                      <a:latin typeface="Cambria Math" panose="02040503050406030204" pitchFamily="18" charset="0"/>
                                      <a:ea typeface="Cambria Math" panose="02040503050406030204" pitchFamily="18" charset="0"/>
                                    </a:rPr>
                                    <m:t>𝛽</m:t>
                                  </m:r>
                                  <m:sSup>
                                    <m:sSupPr>
                                      <m:ctrlPr>
                                        <a:rPr lang="en-US" altLang="zh-CN" sz="4000" b="0" i="1" smtClean="0">
                                          <a:latin typeface="Cambria Math" panose="02040503050406030204" pitchFamily="18" charset="0"/>
                                          <a:ea typeface="Cambria Math" panose="02040503050406030204" pitchFamily="18" charset="0"/>
                                        </a:rPr>
                                      </m:ctrlPr>
                                    </m:sSupPr>
                                    <m:e>
                                      <m:r>
                                        <a:rPr lang="en-US" altLang="zh-CN" sz="4000" b="0" i="1" smtClean="0">
                                          <a:latin typeface="Cambria Math" panose="02040503050406030204" pitchFamily="18" charset="0"/>
                                          <a:ea typeface="Cambria Math" panose="02040503050406030204" pitchFamily="18" charset="0"/>
                                        </a:rPr>
                                        <m:t>𝑘</m:t>
                                      </m:r>
                                    </m:e>
                                    <m:sup>
                                      <m:r>
                                        <a:rPr lang="en-US" altLang="zh-CN" sz="4000" b="0" i="1" smtClean="0">
                                          <a:latin typeface="Cambria Math" panose="02040503050406030204" pitchFamily="18" charset="0"/>
                                          <a:ea typeface="Cambria Math" panose="02040503050406030204" pitchFamily="18" charset="0"/>
                                        </a:rPr>
                                        <m:t>𝛼</m:t>
                                      </m:r>
                                    </m:sup>
                                  </m:sSup>
                                </m:num>
                                <m:den>
                                  <m:r>
                                    <a:rPr lang="en-US" altLang="zh-CN" sz="4000" b="0" i="1" smtClean="0">
                                      <a:latin typeface="Cambria Math" panose="02040503050406030204" pitchFamily="18" charset="0"/>
                                      <a:ea typeface="Cambria Math" panose="02040503050406030204" pitchFamily="18" charset="0"/>
                                    </a:rPr>
                                    <m:t>𝜏</m:t>
                                  </m:r>
                                </m:den>
                              </m:f>
                            </m:sup>
                          </m:sSup>
                        </m:e>
                      </m:d>
                    </m:oMath>
                  </m:oMathPara>
                </a14:m>
                <a:endParaRPr lang="en-CN" sz="4000" dirty="0"/>
              </a:p>
            </p:txBody>
          </p:sp>
        </mc:Choice>
        <mc:Fallback xmlns="">
          <p:sp>
            <p:nvSpPr>
              <p:cNvPr id="7" name="TextBox 6">
                <a:extLst>
                  <a:ext uri="{FF2B5EF4-FFF2-40B4-BE49-F238E27FC236}">
                    <a16:creationId xmlns:a16="http://schemas.microsoft.com/office/drawing/2014/main" id="{8A7AF1EB-15EA-F6DE-11BF-B27049CD337E}"/>
                  </a:ext>
                </a:extLst>
              </p:cNvPr>
              <p:cNvSpPr txBox="1">
                <a:spLocks noRot="1" noChangeAspect="1" noMove="1" noResize="1" noEditPoints="1" noAdjustHandles="1" noChangeArrowheads="1" noChangeShapeType="1" noTextEdit="1"/>
              </p:cNvSpPr>
              <p:nvPr/>
            </p:nvSpPr>
            <p:spPr>
              <a:xfrm>
                <a:off x="944356" y="1368243"/>
                <a:ext cx="10303288" cy="2060757"/>
              </a:xfrm>
              <a:prstGeom prst="rect">
                <a:avLst/>
              </a:prstGeom>
              <a:blipFill>
                <a:blip r:embed="rId3"/>
                <a:stretch>
                  <a:fillRect l="-369" t="-92073" b="-17622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CC4A1A9-0675-35B5-B71F-8E2683996FB5}"/>
                  </a:ext>
                </a:extLst>
              </p:cNvPr>
              <p:cNvSpPr txBox="1"/>
              <p:nvPr/>
            </p:nvSpPr>
            <p:spPr>
              <a:xfrm>
                <a:off x="150528" y="3797306"/>
                <a:ext cx="5088737" cy="231928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3200" b="0" i="1" smtClean="0">
                          <a:solidFill>
                            <a:srgbClr val="7030A0"/>
                          </a:solidFill>
                          <a:latin typeface="Cambria Math" panose="02040503050406030204" pitchFamily="18" charset="0"/>
                        </a:rPr>
                        <m:t>𝑃</m:t>
                      </m:r>
                      <m:r>
                        <a:rPr lang="en-US" sz="3200" b="0" i="1" smtClean="0">
                          <a:solidFill>
                            <a:srgbClr val="7030A0"/>
                          </a:solidFill>
                          <a:latin typeface="Cambria Math" panose="02040503050406030204" pitchFamily="18" charset="0"/>
                        </a:rPr>
                        <m:t>=−</m:t>
                      </m:r>
                      <m:f>
                        <m:fPr>
                          <m:ctrlPr>
                            <a:rPr lang="en-US" sz="3200" b="0" i="1" smtClean="0">
                              <a:solidFill>
                                <a:srgbClr val="7030A0"/>
                              </a:solidFill>
                              <a:latin typeface="Cambria Math" panose="02040503050406030204" pitchFamily="18" charset="0"/>
                            </a:rPr>
                          </m:ctrlPr>
                        </m:fPr>
                        <m:num>
                          <m:r>
                            <a:rPr lang="en-US" sz="3200" b="0" i="1" smtClean="0">
                              <a:solidFill>
                                <a:srgbClr val="7030A0"/>
                              </a:solidFill>
                              <a:latin typeface="Cambria Math" panose="02040503050406030204" pitchFamily="18" charset="0"/>
                            </a:rPr>
                            <m:t>𝜕</m:t>
                          </m:r>
                          <m:r>
                            <m:rPr>
                              <m:sty m:val="p"/>
                            </m:rPr>
                            <a:rPr lang="el-GR" sz="3200" i="1">
                              <a:solidFill>
                                <a:srgbClr val="7030A0"/>
                              </a:solidFill>
                              <a:latin typeface="Cambria Math" panose="02040503050406030204" pitchFamily="18" charset="0"/>
                              <a:ea typeface="Cambria Math" panose="02040503050406030204" pitchFamily="18" charset="0"/>
                            </a:rPr>
                            <m:t>Ω</m:t>
                          </m:r>
                        </m:num>
                        <m:den>
                          <m:r>
                            <a:rPr lang="en-US" sz="3200" b="0" i="1" smtClean="0">
                              <a:solidFill>
                                <a:srgbClr val="7030A0"/>
                              </a:solidFill>
                              <a:latin typeface="Cambria Math" panose="02040503050406030204" pitchFamily="18" charset="0"/>
                            </a:rPr>
                            <m:t>𝜕</m:t>
                          </m:r>
                          <m:r>
                            <a:rPr lang="en-US" sz="3200" b="0" i="1" smtClean="0">
                              <a:solidFill>
                                <a:srgbClr val="7030A0"/>
                              </a:solidFill>
                              <a:latin typeface="Cambria Math" panose="02040503050406030204" pitchFamily="18" charset="0"/>
                            </a:rPr>
                            <m:t>𝑉</m:t>
                          </m:r>
                        </m:den>
                      </m:f>
                    </m:oMath>
                  </m:oMathPara>
                </a14:m>
                <a:endParaRPr lang="en-CN" sz="3200" dirty="0"/>
              </a:p>
              <a:p>
                <a:pPr/>
                <a14:m>
                  <m:oMathPara xmlns:m="http://schemas.openxmlformats.org/officeDocument/2006/math">
                    <m:oMathParaPr>
                      <m:jc m:val="left"/>
                    </m:oMathParaPr>
                    <m:oMath xmlns:m="http://schemas.openxmlformats.org/officeDocument/2006/math">
                      <m:r>
                        <a:rPr lang="en-US" sz="3200" i="1" smtClean="0">
                          <a:solidFill>
                            <a:srgbClr val="7030A0"/>
                          </a:solidFill>
                          <a:latin typeface="Cambria Math" panose="02040503050406030204" pitchFamily="18" charset="0"/>
                        </a:rPr>
                        <m:t>𝑈</m:t>
                      </m:r>
                      <m:r>
                        <a:rPr lang="en-US" sz="3200" i="1" smtClean="0">
                          <a:solidFill>
                            <a:srgbClr val="7030A0"/>
                          </a:solidFill>
                          <a:latin typeface="Cambria Math" panose="02040503050406030204" pitchFamily="18" charset="0"/>
                        </a:rPr>
                        <m:t>=</m:t>
                      </m:r>
                      <m:d>
                        <m:dPr>
                          <m:ctrlPr>
                            <a:rPr lang="en-US" sz="3200" i="1">
                              <a:solidFill>
                                <a:srgbClr val="7030A0"/>
                              </a:solidFill>
                              <a:latin typeface="Cambria Math" panose="02040503050406030204" pitchFamily="18" charset="0"/>
                            </a:rPr>
                          </m:ctrlPr>
                        </m:dPr>
                        <m:e>
                          <m:r>
                            <a:rPr lang="en-US" sz="3200" i="1" smtClean="0">
                              <a:solidFill>
                                <a:srgbClr val="7030A0"/>
                              </a:solidFill>
                              <a:latin typeface="Cambria Math" panose="02040503050406030204" pitchFamily="18" charset="0"/>
                              <a:ea typeface="Cambria Math" panose="02040503050406030204" pitchFamily="18" charset="0"/>
                            </a:rPr>
                            <m:t>𝜇𝜏</m:t>
                          </m:r>
                          <m:f>
                            <m:fPr>
                              <m:ctrlPr>
                                <a:rPr lang="en-US" sz="3200" i="1">
                                  <a:solidFill>
                                    <a:srgbClr val="7030A0"/>
                                  </a:solidFill>
                                  <a:latin typeface="Cambria Math" panose="02040503050406030204" pitchFamily="18" charset="0"/>
                                </a:rPr>
                              </m:ctrlPr>
                            </m:fPr>
                            <m:num>
                              <m:r>
                                <a:rPr lang="en-US" sz="3200" i="1">
                                  <a:solidFill>
                                    <a:srgbClr val="7030A0"/>
                                  </a:solidFill>
                                  <a:latin typeface="Cambria Math" panose="02040503050406030204" pitchFamily="18" charset="0"/>
                                  <a:ea typeface="Cambria Math" panose="02040503050406030204" pitchFamily="18" charset="0"/>
                                </a:rPr>
                                <m:t>𝜕</m:t>
                              </m:r>
                            </m:num>
                            <m:den>
                              <m:r>
                                <a:rPr lang="en-US" sz="3200" i="1">
                                  <a:solidFill>
                                    <a:srgbClr val="7030A0"/>
                                  </a:solidFill>
                                  <a:latin typeface="Cambria Math" panose="02040503050406030204" pitchFamily="18" charset="0"/>
                                  <a:ea typeface="Cambria Math" panose="02040503050406030204" pitchFamily="18" charset="0"/>
                                </a:rPr>
                                <m:t>𝜕</m:t>
                              </m:r>
                              <m:r>
                                <a:rPr lang="en-US" sz="3200" i="1">
                                  <a:solidFill>
                                    <a:srgbClr val="7030A0"/>
                                  </a:solidFill>
                                  <a:latin typeface="Cambria Math" panose="02040503050406030204" pitchFamily="18" charset="0"/>
                                  <a:ea typeface="Cambria Math" panose="02040503050406030204" pitchFamily="18" charset="0"/>
                                </a:rPr>
                                <m:t> </m:t>
                              </m:r>
                              <m:r>
                                <a:rPr lang="en-US" sz="3200" i="1">
                                  <a:solidFill>
                                    <a:srgbClr val="7030A0"/>
                                  </a:solidFill>
                                  <a:latin typeface="Cambria Math" panose="02040503050406030204" pitchFamily="18" charset="0"/>
                                  <a:ea typeface="Cambria Math" panose="02040503050406030204" pitchFamily="18" charset="0"/>
                                </a:rPr>
                                <m:t>𝜇</m:t>
                              </m:r>
                            </m:den>
                          </m:f>
                          <m:r>
                            <a:rPr lang="en-US" sz="3200" b="0" i="1" smtClean="0">
                              <a:solidFill>
                                <a:srgbClr val="7030A0"/>
                              </a:solidFill>
                              <a:latin typeface="Cambria Math" panose="02040503050406030204" pitchFamily="18" charset="0"/>
                            </a:rPr>
                            <m:t>+</m:t>
                          </m:r>
                          <m:sSup>
                            <m:sSupPr>
                              <m:ctrlPr>
                                <a:rPr lang="en-US" sz="3200" b="0" i="1" smtClean="0">
                                  <a:solidFill>
                                    <a:srgbClr val="7030A0"/>
                                  </a:solidFill>
                                  <a:latin typeface="Cambria Math" panose="02040503050406030204" pitchFamily="18" charset="0"/>
                                </a:rPr>
                              </m:ctrlPr>
                            </m:sSupPr>
                            <m:e>
                              <m:r>
                                <a:rPr lang="en-US" sz="3200" b="0" i="1" smtClean="0">
                                  <a:solidFill>
                                    <a:srgbClr val="7030A0"/>
                                  </a:solidFill>
                                  <a:latin typeface="Cambria Math" panose="02040503050406030204" pitchFamily="18" charset="0"/>
                                  <a:ea typeface="Cambria Math" panose="02040503050406030204" pitchFamily="18" charset="0"/>
                                </a:rPr>
                                <m:t>𝜏</m:t>
                              </m:r>
                            </m:e>
                            <m:sup>
                              <m:r>
                                <a:rPr lang="en-US" sz="3200" b="0" i="1" smtClean="0">
                                  <a:solidFill>
                                    <a:srgbClr val="7030A0"/>
                                  </a:solidFill>
                                  <a:latin typeface="Cambria Math" panose="02040503050406030204" pitchFamily="18" charset="0"/>
                                </a:rPr>
                                <m:t>2</m:t>
                              </m:r>
                            </m:sup>
                          </m:sSup>
                          <m:f>
                            <m:fPr>
                              <m:ctrlPr>
                                <a:rPr lang="en-US" sz="3200" i="1">
                                  <a:solidFill>
                                    <a:srgbClr val="7030A0"/>
                                  </a:solidFill>
                                  <a:latin typeface="Cambria Math" panose="02040503050406030204" pitchFamily="18" charset="0"/>
                                </a:rPr>
                              </m:ctrlPr>
                            </m:fPr>
                            <m:num>
                              <m:r>
                                <a:rPr lang="en-US" sz="3200" i="1">
                                  <a:solidFill>
                                    <a:srgbClr val="7030A0"/>
                                  </a:solidFill>
                                  <a:latin typeface="Cambria Math" panose="02040503050406030204" pitchFamily="18" charset="0"/>
                                  <a:ea typeface="Cambria Math" panose="02040503050406030204" pitchFamily="18" charset="0"/>
                                </a:rPr>
                                <m:t>𝜕</m:t>
                              </m:r>
                            </m:num>
                            <m:den>
                              <m:r>
                                <a:rPr lang="en-US" sz="3200" i="1">
                                  <a:solidFill>
                                    <a:srgbClr val="7030A0"/>
                                  </a:solidFill>
                                  <a:latin typeface="Cambria Math" panose="02040503050406030204" pitchFamily="18" charset="0"/>
                                  <a:ea typeface="Cambria Math" panose="02040503050406030204" pitchFamily="18" charset="0"/>
                                </a:rPr>
                                <m:t>𝜕</m:t>
                              </m:r>
                              <m:r>
                                <a:rPr lang="en-US" sz="3200" i="1">
                                  <a:solidFill>
                                    <a:srgbClr val="7030A0"/>
                                  </a:solidFill>
                                  <a:latin typeface="Cambria Math" panose="02040503050406030204" pitchFamily="18" charset="0"/>
                                  <a:ea typeface="Cambria Math" panose="02040503050406030204" pitchFamily="18" charset="0"/>
                                </a:rPr>
                                <m:t> </m:t>
                              </m:r>
                              <m:r>
                                <a:rPr lang="en-US" sz="3200" i="1" smtClean="0">
                                  <a:solidFill>
                                    <a:srgbClr val="7030A0"/>
                                  </a:solidFill>
                                  <a:latin typeface="Cambria Math" panose="02040503050406030204" pitchFamily="18" charset="0"/>
                                  <a:ea typeface="Cambria Math" panose="02040503050406030204" pitchFamily="18" charset="0"/>
                                </a:rPr>
                                <m:t>𝜏</m:t>
                              </m:r>
                            </m:den>
                          </m:f>
                        </m:e>
                      </m:d>
                      <m:func>
                        <m:funcPr>
                          <m:ctrlPr>
                            <a:rPr lang="en-US" sz="3200" i="1">
                              <a:solidFill>
                                <a:srgbClr val="7030A0"/>
                              </a:solidFill>
                              <a:latin typeface="Cambria Math" panose="02040503050406030204" pitchFamily="18" charset="0"/>
                            </a:rPr>
                          </m:ctrlPr>
                        </m:funcPr>
                        <m:fName>
                          <m:r>
                            <m:rPr>
                              <m:sty m:val="p"/>
                            </m:rPr>
                            <a:rPr lang="en-US" sz="3200">
                              <a:solidFill>
                                <a:srgbClr val="7030A0"/>
                              </a:solidFill>
                              <a:latin typeface="Cambria Math" panose="02040503050406030204" pitchFamily="18" charset="0"/>
                            </a:rPr>
                            <m:t>log</m:t>
                          </m:r>
                        </m:fName>
                        <m:e>
                          <m:r>
                            <a:rPr lang="en-US" sz="3200" i="1">
                              <a:solidFill>
                                <a:srgbClr val="7030A0"/>
                              </a:solidFill>
                              <a:latin typeface="Cambria Math" panose="02040503050406030204" pitchFamily="18" charset="0"/>
                              <a:ea typeface="Cambria Math" panose="02040503050406030204" pitchFamily="18" charset="0"/>
                            </a:rPr>
                            <m:t>𝒵</m:t>
                          </m:r>
                        </m:e>
                      </m:func>
                    </m:oMath>
                  </m:oMathPara>
                </a14:m>
                <a:endParaRPr lang="en-CN" sz="3200" dirty="0">
                  <a:solidFill>
                    <a:srgbClr val="7030A0"/>
                  </a:solidFill>
                </a:endParaRPr>
              </a:p>
              <a:p>
                <a:endParaRPr lang="en-CN" dirty="0"/>
              </a:p>
            </p:txBody>
          </p:sp>
        </mc:Choice>
        <mc:Fallback xmlns="">
          <p:sp>
            <p:nvSpPr>
              <p:cNvPr id="9" name="TextBox 8">
                <a:extLst>
                  <a:ext uri="{FF2B5EF4-FFF2-40B4-BE49-F238E27FC236}">
                    <a16:creationId xmlns:a16="http://schemas.microsoft.com/office/drawing/2014/main" id="{7CC4A1A9-0675-35B5-B71F-8E2683996FB5}"/>
                  </a:ext>
                </a:extLst>
              </p:cNvPr>
              <p:cNvSpPr txBox="1">
                <a:spLocks noRot="1" noChangeAspect="1" noMove="1" noResize="1" noEditPoints="1" noAdjustHandles="1" noChangeArrowheads="1" noChangeShapeType="1" noTextEdit="1"/>
              </p:cNvSpPr>
              <p:nvPr/>
            </p:nvSpPr>
            <p:spPr>
              <a:xfrm>
                <a:off x="150528" y="3797306"/>
                <a:ext cx="5088737" cy="2319289"/>
              </a:xfrm>
              <a:prstGeom prst="rect">
                <a:avLst/>
              </a:prstGeom>
              <a:blipFill>
                <a:blip r:embed="rId4"/>
                <a:stretch>
                  <a:fillRect l="-998"/>
                </a:stretch>
              </a:blipFill>
            </p:spPr>
            <p:txBody>
              <a:bodyPr/>
              <a:lstStyle/>
              <a:p>
                <a:r>
                  <a:rPr lang="en-CN">
                    <a:noFill/>
                  </a:rPr>
                  <a:t> </a:t>
                </a:r>
              </a:p>
            </p:txBody>
          </p:sp>
        </mc:Fallback>
      </mc:AlternateContent>
    </p:spTree>
    <p:extLst>
      <p:ext uri="{BB962C8B-B14F-4D97-AF65-F5344CB8AC3E}">
        <p14:creationId xmlns:p14="http://schemas.microsoft.com/office/powerpoint/2010/main" val="36377413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F5584D-9F40-CF4B-8936-C2C609BA0524}"/>
              </a:ext>
            </a:extLst>
          </p:cNvPr>
          <p:cNvSpPr txBox="1"/>
          <p:nvPr/>
        </p:nvSpPr>
        <p:spPr>
          <a:xfrm>
            <a:off x="374073" y="263236"/>
            <a:ext cx="5417127" cy="369332"/>
          </a:xfrm>
          <a:prstGeom prst="rect">
            <a:avLst/>
          </a:prstGeom>
          <a:noFill/>
        </p:spPr>
        <p:txBody>
          <a:bodyPr wrap="square" rtlCol="0">
            <a:spAutoFit/>
          </a:bodyPr>
          <a:lstStyle/>
          <a:p>
            <a:r>
              <a:rPr lang="en-CN" dirty="0"/>
              <a:t>色散关系</a:t>
            </a:r>
            <a:r>
              <a:rPr lang="zh-CN" altLang="en-US" dirty="0"/>
              <a:t>实际上就是能量</a:t>
            </a:r>
            <a:r>
              <a:rPr lang="en-US" altLang="zh-CN" dirty="0"/>
              <a:t>-</a:t>
            </a:r>
            <a:r>
              <a:rPr lang="zh-CN" altLang="en-US" dirty="0"/>
              <a:t>动量之间的关系</a:t>
            </a:r>
            <a:endParaRPr lang="en-CN" dirty="0"/>
          </a:p>
        </p:txBody>
      </p:sp>
      <p:pic>
        <p:nvPicPr>
          <p:cNvPr id="5" name="Picture 4">
            <a:extLst>
              <a:ext uri="{FF2B5EF4-FFF2-40B4-BE49-F238E27FC236}">
                <a16:creationId xmlns:a16="http://schemas.microsoft.com/office/drawing/2014/main" id="{D0F73667-744D-514E-9680-540A77462AD9}"/>
              </a:ext>
            </a:extLst>
          </p:cNvPr>
          <p:cNvPicPr>
            <a:picLocks noChangeAspect="1"/>
          </p:cNvPicPr>
          <p:nvPr/>
        </p:nvPicPr>
        <p:blipFill>
          <a:blip r:embed="rId2"/>
          <a:stretch>
            <a:fillRect/>
          </a:stretch>
        </p:blipFill>
        <p:spPr>
          <a:xfrm>
            <a:off x="4156363" y="597932"/>
            <a:ext cx="3048000" cy="247650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D7F5FFB-2894-C847-A876-33452C99077C}"/>
                  </a:ext>
                </a:extLst>
              </p:cNvPr>
              <p:cNvSpPr txBox="1"/>
              <p:nvPr/>
            </p:nvSpPr>
            <p:spPr>
              <a:xfrm>
                <a:off x="3498273" y="4231178"/>
                <a:ext cx="4585854" cy="8217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𝐷</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𝑑𝑁</m:t>
                          </m:r>
                        </m:num>
                        <m:den>
                          <m:r>
                            <a:rPr lang="en-US" b="0" i="1" smtClean="0">
                              <a:latin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𝜀</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2</m:t>
                              </m:r>
                            </m:sup>
                          </m:sSup>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𝑚</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ℏ</m:t>
                                      </m:r>
                                    </m:e>
                                    <m:sup>
                                      <m:r>
                                        <a:rPr lang="en-US" b="0" i="1" smtClean="0">
                                          <a:latin typeface="Cambria Math" panose="02040503050406030204" pitchFamily="18" charset="0"/>
                                        </a:rPr>
                                        <m:t>2</m:t>
                                      </m:r>
                                    </m:sup>
                                  </m:sSup>
                                </m:den>
                              </m:f>
                            </m:e>
                          </m:d>
                        </m:e>
                        <m:sup>
                          <m:r>
                            <a:rPr lang="en-US" b="0" i="1" smtClean="0">
                              <a:latin typeface="Cambria Math" panose="02040503050406030204" pitchFamily="18" charset="0"/>
                            </a:rPr>
                            <m:t>3/2</m:t>
                          </m:r>
                        </m:sup>
                      </m:sSup>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𝜀</m:t>
                          </m:r>
                        </m:e>
                      </m:ra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𝜀</m:t>
                              </m:r>
                            </m:e>
                            <m:sub>
                              <m:r>
                                <a:rPr lang="en-US" b="0" i="1" smtClean="0">
                                  <a:latin typeface="Cambria Math" panose="02040503050406030204" pitchFamily="18" charset="0"/>
                                </a:rPr>
                                <m:t>𝐹</m:t>
                              </m:r>
                            </m:sub>
                            <m:sup>
                              <m:r>
                                <a:rPr lang="en-US" b="0" i="1" smtClean="0">
                                  <a:latin typeface="Cambria Math" panose="02040503050406030204" pitchFamily="18" charset="0"/>
                                </a:rPr>
                                <m:t>3/2</m:t>
                              </m:r>
                            </m:sup>
                          </m:sSubSup>
                        </m:den>
                      </m:f>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𝜀</m:t>
                          </m:r>
                        </m:e>
                      </m:rad>
                    </m:oMath>
                  </m:oMathPara>
                </a14:m>
                <a:endParaRPr lang="en-CN" dirty="0"/>
              </a:p>
            </p:txBody>
          </p:sp>
        </mc:Choice>
        <mc:Fallback xmlns="">
          <p:sp>
            <p:nvSpPr>
              <p:cNvPr id="6" name="TextBox 5">
                <a:extLst>
                  <a:ext uri="{FF2B5EF4-FFF2-40B4-BE49-F238E27FC236}">
                    <a16:creationId xmlns:a16="http://schemas.microsoft.com/office/drawing/2014/main" id="{3D7F5FFB-2894-C847-A876-33452C99077C}"/>
                  </a:ext>
                </a:extLst>
              </p:cNvPr>
              <p:cNvSpPr txBox="1">
                <a:spLocks noRot="1" noChangeAspect="1" noMove="1" noResize="1" noEditPoints="1" noAdjustHandles="1" noChangeArrowheads="1" noChangeShapeType="1" noTextEdit="1"/>
              </p:cNvSpPr>
              <p:nvPr/>
            </p:nvSpPr>
            <p:spPr>
              <a:xfrm>
                <a:off x="3498273" y="4231178"/>
                <a:ext cx="4585854" cy="821700"/>
              </a:xfrm>
              <a:prstGeom prst="rect">
                <a:avLst/>
              </a:prstGeom>
              <a:blipFill>
                <a:blip r:embed="rId3"/>
                <a:stretch>
                  <a:fillRect/>
                </a:stretch>
              </a:blipFill>
            </p:spPr>
            <p:txBody>
              <a:bodyPr/>
              <a:lstStyle/>
              <a:p>
                <a:r>
                  <a:rPr lang="en-CN">
                    <a:noFill/>
                  </a:rPr>
                  <a:t> </a:t>
                </a:r>
              </a:p>
            </p:txBody>
          </p:sp>
        </mc:Fallback>
      </mc:AlternateContent>
      <p:sp>
        <p:nvSpPr>
          <p:cNvPr id="7" name="TextBox 6">
            <a:extLst>
              <a:ext uri="{FF2B5EF4-FFF2-40B4-BE49-F238E27FC236}">
                <a16:creationId xmlns:a16="http://schemas.microsoft.com/office/drawing/2014/main" id="{6EDF6888-4E0B-E141-B157-9FD9F944F7E5}"/>
              </a:ext>
            </a:extLst>
          </p:cNvPr>
          <p:cNvSpPr txBox="1"/>
          <p:nvPr/>
        </p:nvSpPr>
        <p:spPr>
          <a:xfrm>
            <a:off x="498763" y="3851564"/>
            <a:ext cx="4585853" cy="369332"/>
          </a:xfrm>
          <a:prstGeom prst="rect">
            <a:avLst/>
          </a:prstGeom>
          <a:noFill/>
        </p:spPr>
        <p:txBody>
          <a:bodyPr wrap="square" rtlCol="0">
            <a:spAutoFit/>
          </a:bodyPr>
          <a:lstStyle/>
          <a:p>
            <a:r>
              <a:rPr lang="en-CN" dirty="0"/>
              <a:t>态密度</a:t>
            </a:r>
            <a:r>
              <a:rPr lang="zh-CN" altLang="en-US" dirty="0"/>
              <a:t>（留意前面的第二种打开方式）</a:t>
            </a:r>
            <a:endParaRPr lang="en-CN" dirty="0"/>
          </a:p>
        </p:txBody>
      </p:sp>
    </p:spTree>
    <p:extLst>
      <p:ext uri="{BB962C8B-B14F-4D97-AF65-F5344CB8AC3E}">
        <p14:creationId xmlns:p14="http://schemas.microsoft.com/office/powerpoint/2010/main" val="21429625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25433</TotalTime>
  <Words>1560</Words>
  <Application>Microsoft Macintosh PowerPoint</Application>
  <PresentationFormat>Widescreen</PresentationFormat>
  <Paragraphs>215</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FangSong</vt: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330</cp:revision>
  <dcterms:created xsi:type="dcterms:W3CDTF">2022-02-02T22:31:46Z</dcterms:created>
  <dcterms:modified xsi:type="dcterms:W3CDTF">2023-04-12T03:45:01Z</dcterms:modified>
</cp:coreProperties>
</file>