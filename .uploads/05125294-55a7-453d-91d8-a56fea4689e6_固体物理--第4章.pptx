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gif" ContentType="image/gif"/>
  <Default Extension="emf" ContentType="image/x-em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72" r:id="rId3"/>
    <p:sldId id="288" r:id="rId4"/>
    <p:sldId id="273" r:id="rId5"/>
    <p:sldId id="274" r:id="rId6"/>
    <p:sldId id="290" r:id="rId7"/>
    <p:sldId id="275" r:id="rId8"/>
    <p:sldId id="276" r:id="rId9"/>
    <p:sldId id="291" r:id="rId10"/>
    <p:sldId id="277" r:id="rId11"/>
    <p:sldId id="292" r:id="rId12"/>
    <p:sldId id="278" r:id="rId13"/>
    <p:sldId id="279" r:id="rId14"/>
    <p:sldId id="293" r:id="rId15"/>
    <p:sldId id="280" r:id="rId16"/>
    <p:sldId id="281" r:id="rId17"/>
    <p:sldId id="294" r:id="rId18"/>
    <p:sldId id="282" r:id="rId19"/>
    <p:sldId id="283" r:id="rId20"/>
    <p:sldId id="295" r:id="rId21"/>
    <p:sldId id="284" r:id="rId22"/>
    <p:sldId id="285" r:id="rId23"/>
    <p:sldId id="296" r:id="rId24"/>
    <p:sldId id="286" r:id="rId25"/>
    <p:sldId id="287" r:id="rId26"/>
    <p:sldId id="271" r:id="rId27"/>
    <p:sldId id="289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45" autoAdjust="0"/>
    <p:restoredTop sz="94660"/>
  </p:normalViewPr>
  <p:slideViewPr>
    <p:cSldViewPr snapToGrid="0">
      <p:cViewPr varScale="1">
        <p:scale>
          <a:sx n="95" d="100"/>
          <a:sy n="95" d="100"/>
        </p:scale>
        <p:origin x="1024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28601"/>
            <a:ext cx="103632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4800600"/>
            <a:ext cx="9144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A45F7-A393-4B30-BE52-12DC8BD57766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Rectangle 8"/>
          <p:cNvSpPr/>
          <p:nvPr/>
        </p:nvSpPr>
        <p:spPr>
          <a:xfrm>
            <a:off x="12001499" y="4846320"/>
            <a:ext cx="190501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2001499" y="0"/>
            <a:ext cx="190501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07314-F5FC-4C67-930C-FE0F8510F4B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A45F7-A393-4B30-BE52-12DC8BD57766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07314-F5FC-4C67-930C-FE0F8510F4B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1"/>
            <a:ext cx="103632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28601"/>
            <a:ext cx="103632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A45F7-A393-4B30-BE52-12DC8BD57766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007314-F5FC-4C67-930C-FE0F8510F4B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74240" y="1574800"/>
            <a:ext cx="438912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86880" y="1574800"/>
            <a:ext cx="438912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A45F7-A393-4B30-BE52-12DC8BD57766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07314-F5FC-4C67-930C-FE0F8510F4B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70176" y="1572768"/>
            <a:ext cx="438912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70176" y="2259366"/>
            <a:ext cx="438912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90944" y="1572768"/>
            <a:ext cx="438912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90944" y="2259366"/>
            <a:ext cx="438912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A45F7-A393-4B30-BE52-12DC8BD57766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07314-F5FC-4C67-930C-FE0F8510F4B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A45F7-A393-4B30-BE52-12DC8BD57766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07314-F5FC-4C67-930C-FE0F8510F4B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A45F7-A393-4B30-BE52-12DC8BD57766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07314-F5FC-4C67-930C-FE0F8510F4B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600200"/>
            <a:ext cx="6815667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600200"/>
            <a:ext cx="4011084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A45F7-A393-4B30-BE52-12DC8BD57766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07314-F5FC-4C67-930C-FE0F8510F4B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2001499" y="4846320"/>
            <a:ext cx="190501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12001169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5715000"/>
            <a:ext cx="108712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A45F7-A393-4B30-BE52-12DC8BD57766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07314-F5FC-4C67-930C-FE0F8510F4B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4953000"/>
            <a:ext cx="108712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2001499" y="0"/>
            <a:ext cx="190501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A45F7-A393-4B30-BE52-12DC8BD57766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07314-F5FC-4C67-930C-FE0F8510F4B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A45F7-A393-4B30-BE52-12DC8BD57766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07314-F5FC-4C67-930C-FE0F8510F4B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152718"/>
            <a:ext cx="77216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52601"/>
            <a:ext cx="1016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172201"/>
            <a:ext cx="4572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0BA45F7-A393-4B30-BE52-12DC8BD57766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492876"/>
            <a:ext cx="4572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11189124" y="5824644"/>
            <a:ext cx="1315721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E1007314-F5FC-4C67-930C-FE0F8510F4B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12001499" y="0"/>
            <a:ext cx="190501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2001499" y="1371600"/>
            <a:ext cx="190501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emf"/><Relationship Id="rId3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emf"/><Relationship Id="rId3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4" Type="http://schemas.openxmlformats.org/officeDocument/2006/relationships/image" Target="../media/image90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9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4" Type="http://schemas.openxmlformats.org/officeDocument/2006/relationships/image" Target="../media/image90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emf"/><Relationship Id="rId3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4" Type="http://schemas.openxmlformats.org/officeDocument/2006/relationships/image" Target="../media/image6.emf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emf"/><Relationship Id="rId3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4" Type="http://schemas.openxmlformats.org/officeDocument/2006/relationships/image" Target="../media/image8.emf"/><Relationship Id="rId5" Type="http://schemas.openxmlformats.org/officeDocument/2006/relationships/image" Target="../media/image5.emf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4" Type="http://schemas.openxmlformats.org/officeDocument/2006/relationships/image" Target="../media/image39.jpeg"/><Relationship Id="rId5" Type="http://schemas.openxmlformats.org/officeDocument/2006/relationships/image" Target="../media/image40.gif"/><Relationship Id="rId6" Type="http://schemas.openxmlformats.org/officeDocument/2006/relationships/image" Target="../media/image43.png"/><Relationship Id="rId7" Type="http://schemas.openxmlformats.org/officeDocument/2006/relationships/image" Target="../media/image44.jpe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/>
          <a:srcRect l="6134" r="7756"/>
          <a:stretch/>
        </p:blipFill>
        <p:spPr>
          <a:xfrm>
            <a:off x="8229600" y="3482706"/>
            <a:ext cx="3717561" cy="332513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724538" y="402314"/>
            <a:ext cx="6699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</a:t>
            </a:r>
            <a:r>
              <a:rPr lang="zh-CN" altLang="en-US" sz="3200" dirty="0"/>
              <a:t>四</a:t>
            </a:r>
            <a:r>
              <a:rPr lang="zh-CN" altLang="en-US" sz="3200" dirty="0" smtClean="0"/>
              <a:t>章  晶格振动和晶体的热学性质</a:t>
            </a:r>
            <a:endParaRPr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352937" y="1125180"/>
                <a:ext cx="9957142" cy="17322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den>
                    </m:f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		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d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~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  <m: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𝑑𝑈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𝑑𝑟</m:t>
                        </m:r>
                      </m:den>
                    </m:f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~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  <m: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𝛽</m:t>
                    </m:r>
                    <m: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表明，晶体中的原子会偏离平衡位置，发生振动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振动对固体的热、电、光等性质影响很大</a:t>
                </a:r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2937" y="1125180"/>
                <a:ext cx="9957142" cy="1732269"/>
              </a:xfrm>
              <a:prstGeom prst="rect">
                <a:avLst/>
              </a:prstGeom>
              <a:blipFill rotWithShape="1">
                <a:blip r:embed="rId3"/>
                <a:stretch>
                  <a:fillRect l="-980" b="-63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4168227" y="3126251"/>
            <a:ext cx="33802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§ 4.1 </a:t>
            </a:r>
            <a:r>
              <a:rPr lang="zh-CN" altLang="en-US" sz="2800" dirty="0" smtClean="0"/>
              <a:t>一维单原子链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509666" y="3747805"/>
                <a:ext cx="9346367" cy="27949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4.1.1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运动方程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endParaRPr lang="en-US" altLang="zh-CN" sz="1000" dirty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总势能：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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𝛽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𝑛</m:t>
                        </m:r>
                      </m:sub>
                      <m:sup/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zh-CN" alt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zh-CN" alt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𝑛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−1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>
                    <a:solidFill>
                      <a:schemeClr val="tx1"/>
                    </a:solidFill>
                  </a:rPr>
                  <a:t>第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个原子受力：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𝑛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=−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𝜕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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zh-CN" alt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=−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𝛽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(2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𝜇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𝑛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𝜇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−1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𝜇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𝑛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+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r>
                  <a:rPr lang="zh-CN" altLang="en-US" sz="2400" dirty="0">
                    <a:solidFill>
                      <a:schemeClr val="tx1"/>
                    </a:solidFill>
                  </a:rPr>
                  <a:t>第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𝑛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</a:rPr>
                  <a:t>个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原子的运动方程：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M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d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d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𝑡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=−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𝛽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(2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𝜇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𝑛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𝜇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−1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𝜇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)</a:t>
                </a: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(</a:t>
                </a:r>
                <a:r>
                  <a:rPr lang="zh-CN" altLang="en-US" sz="2400" i="1" dirty="0" smtClean="0">
                    <a:solidFill>
                      <a:srgbClr val="FF0000"/>
                    </a:solidFill>
                  </a:rPr>
                  <a:t>我们得到了有</a:t>
                </a:r>
                <a:r>
                  <a:rPr lang="en-US" altLang="zh-CN" sz="2400" i="1" dirty="0" smtClean="0">
                    <a:solidFill>
                      <a:srgbClr val="FF0000"/>
                    </a:solidFill>
                  </a:rPr>
                  <a:t>N</a:t>
                </a:r>
                <a:r>
                  <a:rPr lang="zh-CN" altLang="en-US" sz="2400" i="1" dirty="0" smtClean="0">
                    <a:solidFill>
                      <a:srgbClr val="FF0000"/>
                    </a:solidFill>
                  </a:rPr>
                  <a:t>个方程的</a:t>
                </a:r>
                <a:r>
                  <a:rPr lang="zh-CN" altLang="en-US" sz="2400" i="1" dirty="0">
                    <a:solidFill>
                      <a:srgbClr val="FF0000"/>
                    </a:solidFill>
                  </a:rPr>
                  <a:t>耦合</a:t>
                </a:r>
                <a:r>
                  <a:rPr lang="zh-CN" altLang="en-US" sz="2400" i="1" dirty="0" smtClean="0">
                    <a:solidFill>
                      <a:srgbClr val="FF0000"/>
                    </a:solidFill>
                  </a:rPr>
                  <a:t>方程组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)</a:t>
                </a:r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666" y="3747805"/>
                <a:ext cx="9346367" cy="2794932"/>
              </a:xfrm>
              <a:prstGeom prst="rect">
                <a:avLst/>
              </a:prstGeom>
              <a:blipFill rotWithShape="1">
                <a:blip r:embed="rId4"/>
                <a:stretch>
                  <a:fillRect l="-1370" t="-2838" b="-43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8731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t="5398" b="5286"/>
          <a:stretch/>
        </p:blipFill>
        <p:spPr>
          <a:xfrm>
            <a:off x="7176710" y="3410261"/>
            <a:ext cx="4800429" cy="337278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724538" y="402314"/>
            <a:ext cx="6699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</a:t>
            </a:r>
            <a:r>
              <a:rPr lang="zh-CN" altLang="en-US" sz="3200" dirty="0"/>
              <a:t>四</a:t>
            </a:r>
            <a:r>
              <a:rPr lang="zh-CN" altLang="en-US" sz="3200" dirty="0" smtClean="0"/>
              <a:t>章  晶格振动和晶体的热学性质</a:t>
            </a:r>
            <a:endParaRPr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812239" y="1313218"/>
                <a:ext cx="8644255" cy="51026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4.1.2 </a:t>
                </a:r>
                <a:r>
                  <a:rPr lang="zh-CN" altLang="en-US" sz="2800" dirty="0">
                    <a:solidFill>
                      <a:schemeClr val="tx1"/>
                    </a:solidFill>
                  </a:rPr>
                  <a:t>格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波频率</a:t>
                </a:r>
                <a:r>
                  <a:rPr lang="en-US" altLang="zh-CN" sz="2800" dirty="0" smtClean="0">
                    <a:solidFill>
                      <a:schemeClr val="tx1"/>
                    </a:solidFill>
                  </a:rPr>
                  <a:t>-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波矢关系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endParaRPr lang="en-US" altLang="zh-CN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假设：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𝜇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𝑛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𝐴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(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𝑞𝑛𝑎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−</m:t>
                        </m:r>
                        <m:r>
                          <a:rPr lang="zh-CN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𝜔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𝑡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, 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𝑞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为波矢，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𝜔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为频率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代入，得：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zh-CN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(2−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−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𝑖𝑞𝑎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−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𝑖𝑞𝑎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)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  <a:sym typeface="Symbol" panose="05050102010706020507" pitchFamily="18" charset="2"/>
                  </a:rPr>
                  <a:t> 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zh-CN" alt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𝜔</m:t>
                        </m:r>
                      </m:e>
                      <m:sup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p>
                    </m:sSup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4</m:t>
                        </m:r>
                        <m:r>
                          <a:rPr lang="zh-CN" alt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𝛽</m:t>
                        </m:r>
                      </m:num>
                      <m:den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𝑀</m:t>
                        </m:r>
                      </m:den>
                    </m:f>
                    <m:sSup>
                      <m:sSupPr>
                        <m:ctrlP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𝑠𝑖𝑛</m:t>
                        </m:r>
                      </m:e>
                      <m:sup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𝑞𝑎</m:t>
                            </m:r>
                          </m:num>
                          <m:den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  <a:sym typeface="Symbol" panose="05050102010706020507" pitchFamily="18" charset="2"/>
                  </a:rPr>
                  <a:t> </a:t>
                </a: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  <a:sym typeface="Symbol" panose="05050102010706020507" pitchFamily="18" charset="2"/>
                  </a:rPr>
                  <a:t> 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𝜔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=2</m:t>
                    </m:r>
                    <m:rad>
                      <m:radPr>
                        <m:degHide m:val="on"/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a:rPr lang="zh-CN" alt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𝛽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𝑀</m:t>
                            </m:r>
                          </m:den>
                        </m:f>
                      </m:e>
                    </m:rad>
                    <m:d>
                      <m:dPr>
                        <m:begChr m:val="|"/>
                        <m:endChr m:val="|"/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𝑠𝑖𝑛</m:t>
                        </m:r>
                        <m:f>
                          <m:f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𝑞𝑎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最后得到：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𝜇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𝑛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𝐴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(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𝑞𝑛𝑎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−</m:t>
                        </m:r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𝜔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𝑡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 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（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=1, 2, 3, ······, </m:t>
                    </m:r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）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𝜔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=2</m:t>
                    </m:r>
                    <m:rad>
                      <m:radPr>
                        <m:degHide m:val="on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𝛽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𝑀</m:t>
                            </m:r>
                          </m:den>
                        </m:f>
                      </m:e>
                    </m:rad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𝑠𝑖𝑛</m:t>
                        </m:r>
                        <m:f>
                          <m:f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𝑞𝑎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239" y="1313218"/>
                <a:ext cx="8644255" cy="5102679"/>
              </a:xfrm>
              <a:prstGeom prst="rect">
                <a:avLst/>
              </a:prstGeom>
              <a:blipFill rotWithShape="1">
                <a:blip r:embed="rId3"/>
                <a:stretch>
                  <a:fillRect l="-1410" t="-15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6556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l="6853" t="5398" r="2589" b="5286"/>
          <a:stretch/>
        </p:blipFill>
        <p:spPr>
          <a:xfrm>
            <a:off x="7644983" y="1761345"/>
            <a:ext cx="4347148" cy="337278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724538" y="402314"/>
            <a:ext cx="6699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</a:t>
            </a:r>
            <a:r>
              <a:rPr lang="zh-CN" altLang="en-US" sz="3200" dirty="0"/>
              <a:t>四</a:t>
            </a:r>
            <a:r>
              <a:rPr lang="zh-CN" altLang="en-US" sz="3200" dirty="0" smtClean="0"/>
              <a:t>章  晶格振动和晶体的热学性质</a:t>
            </a:r>
            <a:endParaRPr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924670" y="1331167"/>
                <a:ext cx="6517946" cy="41130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4.1.2 </a:t>
                </a:r>
                <a:r>
                  <a:rPr lang="zh-CN" altLang="en-US" sz="2800" dirty="0">
                    <a:solidFill>
                      <a:schemeClr val="tx1"/>
                    </a:solidFill>
                  </a:rPr>
                  <a:t>格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波频率</a:t>
                </a:r>
                <a:r>
                  <a:rPr lang="en-US" altLang="zh-CN" sz="2800" dirty="0" smtClean="0">
                    <a:solidFill>
                      <a:schemeClr val="tx1"/>
                    </a:solidFill>
                  </a:rPr>
                  <a:t>-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波矢关系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endParaRPr lang="en-US" altLang="zh-CN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如何理解？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* 与波的方程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µ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)=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𝐴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(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𝑞𝑥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−</m:t>
                        </m:r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𝜔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𝑡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)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相似，称为</a:t>
                </a:r>
                <a:r>
                  <a:rPr lang="zh-CN" altLang="en-US" sz="2400" b="1" dirty="0" smtClean="0">
                    <a:solidFill>
                      <a:schemeClr val="tx1"/>
                    </a:solidFill>
                  </a:rPr>
                  <a:t>格波</a:t>
                </a:r>
                <a:endParaRPr lang="en-US" altLang="zh-CN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*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𝜇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𝑛</m:t>
                        </m:r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‘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𝜇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</a:t>
                </a:r>
                <a:endParaRPr lang="en-US" altLang="zh-CN" sz="2400" dirty="0" smtClean="0">
                  <a:solidFill>
                    <a:schemeClr val="tx1"/>
                  </a:solidFill>
                  <a:sym typeface="Symbol" panose="05050102010706020507" pitchFamily="18" charset="2"/>
                </a:endParaRPr>
              </a:p>
              <a:p>
                <a:pPr lvl="1"/>
                <a:r>
                  <a:rPr lang="en-US" altLang="zh-CN" sz="2400" dirty="0" smtClean="0">
                    <a:solidFill>
                      <a:schemeClr val="tx1"/>
                    </a:solidFill>
                    <a:sym typeface="Symbol" panose="05050102010706020507" pitchFamily="18" charset="2"/>
                  </a:rPr>
                  <a:t></a:t>
                </a:r>
                <a:r>
                  <a:rPr lang="zh-CN" altLang="en-US" sz="2400" dirty="0" smtClean="0">
                    <a:solidFill>
                      <a:schemeClr val="tx1"/>
                    </a:solidFill>
                    <a:sym typeface="Symbol" panose="05050102010706020507" pitchFamily="18" charset="2"/>
                  </a:rPr>
                  <a:t>限定：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−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zh-CN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𝜋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𝑎</m:t>
                        </m:r>
                      </m:den>
                    </m:f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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𝑞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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𝜋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𝑎</m:t>
                        </m:r>
                      </m:den>
                    </m:f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*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𝜔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=2</m:t>
                    </m:r>
                    <m:rad>
                      <m:radPr>
                        <m:degHide m:val="on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𝛽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𝑀</m:t>
                            </m:r>
                          </m:den>
                        </m:f>
                      </m:e>
                    </m:rad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𝑠𝑖𝑛</m:t>
                        </m:r>
                        <m:f>
                          <m:f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𝑞𝑎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</a:t>
                </a:r>
                <a:r>
                  <a:rPr lang="zh-CN" altLang="en-US" sz="2400" dirty="0" smtClean="0">
                    <a:solidFill>
                      <a:schemeClr val="tx1"/>
                    </a:solidFill>
                    <a:sym typeface="Symbol" panose="05050102010706020507" pitchFamily="18" charset="2"/>
                  </a:rPr>
                  <a:t>，与声波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𝜔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𝑣𝑞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不同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>
                    <a:solidFill>
                      <a:schemeClr val="tx1"/>
                    </a:solidFill>
                  </a:rPr>
                  <a:t>*</a:t>
                </a:r>
                <a14:m>
                  <m:oMath xmlns:m="http://schemas.openxmlformats.org/officeDocument/2006/math"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𝑖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(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𝑞𝑛𝑎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−</m:t>
                            </m:r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𝜔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𝑡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)</m:t>
                            </m:r>
                          </m:sup>
                        </m:sSup>
                      </m:e>
                    </m:nary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也是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方程的解</a:t>
                </a:r>
                <a:endParaRPr lang="en-US" altLang="zh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670" y="1331167"/>
                <a:ext cx="6517946" cy="4113049"/>
              </a:xfrm>
              <a:prstGeom prst="rect">
                <a:avLst/>
              </a:prstGeom>
              <a:blipFill rotWithShape="1">
                <a:blip r:embed="rId3"/>
                <a:stretch>
                  <a:fillRect l="-1964" t="-1926" b="-16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1046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24538" y="402314"/>
            <a:ext cx="6699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</a:t>
            </a:r>
            <a:r>
              <a:rPr lang="zh-CN" altLang="en-US" sz="3200" dirty="0"/>
              <a:t>四</a:t>
            </a:r>
            <a:r>
              <a:rPr lang="zh-CN" altLang="en-US" sz="3200" dirty="0" smtClean="0"/>
              <a:t>章  晶格振动和晶体的热学性质</a:t>
            </a:r>
            <a:endParaRPr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917175" y="1331167"/>
                <a:ext cx="10692707" cy="53495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4.1.3 </a:t>
                </a:r>
                <a:r>
                  <a:rPr lang="zh-CN" altLang="en-US" sz="2800" dirty="0">
                    <a:solidFill>
                      <a:schemeClr val="tx1"/>
                    </a:solidFill>
                  </a:rPr>
                  <a:t>格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波的波速与群速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波速：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群速：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>
                    <a:solidFill>
                      <a:schemeClr val="tx1"/>
                    </a:solidFill>
                  </a:rPr>
                  <a:t>格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波的波速与群速：一般依赖于波矢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*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𝜔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=2</m:t>
                    </m:r>
                    <m:rad>
                      <m:radPr>
                        <m:degHide m:val="on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𝛽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𝑀</m:t>
                            </m:r>
                          </m:den>
                        </m:f>
                      </m:e>
                    </m:rad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𝑞𝑎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𝛽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𝑀</m:t>
                            </m:r>
                          </m:den>
                        </m:f>
                      </m:e>
                    </m:rad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𝑞𝑎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, 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所以：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ad>
                      <m:radPr>
                        <m:degHide m:val="on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𝛽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𝑀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 , 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故该支格波称为声频支格波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*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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𝜋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𝑎</m:t>
                        </m:r>
                      </m:den>
                    </m:f>
                    <m:r>
                      <a:rPr lang="en-US" altLang="zh-CN" sz="24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 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,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𝑑𝑞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=0,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0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，此时晶格振动类似驻波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4.1.4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周期性边界条件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波矢：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−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𝜋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𝑎</m:t>
                        </m:r>
                      </m:den>
                    </m:f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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𝑞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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𝜋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𝑎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，</a:t>
                </a:r>
                <a:r>
                  <a:rPr lang="en-US" altLang="zh-CN" sz="24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𝑞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是连续的吗？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波恩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-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卡门边界条件：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𝜇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𝜇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𝑁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+1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𝐴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(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𝑞𝑎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−</m:t>
                        </m:r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𝜔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𝑡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𝐴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[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(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𝑁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+1)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𝑎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−</m:t>
                        </m:r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𝜔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𝑡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]</m:t>
                        </m:r>
                      </m:sup>
                    </m:sSup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𝑖𝑞𝑁𝑎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=1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𝑞𝑁𝑎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</m:t>
                    </m:r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𝑙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  <a:sym typeface="Symbol" panose="05050102010706020507" pitchFamily="18" charset="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𝑙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  <a:sym typeface="Symbol" panose="05050102010706020507" pitchFamily="18" charset="2"/>
                  </a:rPr>
                  <a:t>为整数</a:t>
                </a:r>
                <a:r>
                  <a:rPr lang="en-US" altLang="zh-CN" sz="2400" dirty="0">
                    <a:sym typeface="Symbol" panose="05050102010706020507" pitchFamily="18" charset="2"/>
                  </a:rPr>
                  <a:t>	</a:t>
                </a:r>
                <a:r>
                  <a:rPr lang="en-US" altLang="zh-CN" sz="2400" dirty="0" smtClean="0">
                    <a:sym typeface="Symbol" panose="05050102010706020507" pitchFamily="18" charset="2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𝑞</m:t>
                    </m:r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𝑙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𝑁</m:t>
                        </m:r>
                      </m:den>
                    </m:f>
                    <m:f>
                      <m:f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  <m: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𝜋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, </a:t>
                </a:r>
                <a:r>
                  <a:rPr lang="en-US" altLang="zh-CN" sz="2400" dirty="0" smtClean="0">
                    <a:solidFill>
                      <a:schemeClr val="tx1"/>
                    </a:solidFill>
                    <a:sym typeface="Symbol" panose="05050102010706020507" pitchFamily="18" charset="2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𝑙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为</a:t>
                </a:r>
                <a:r>
                  <a:rPr lang="zh-CN" altLang="en-US" sz="2400" dirty="0" smtClean="0">
                    <a:solidFill>
                      <a:schemeClr val="tx1"/>
                    </a:solidFill>
                    <a:sym typeface="Symbol" panose="05050102010706020507" pitchFamily="18" charset="2"/>
                  </a:rPr>
                  <a:t>整数</a:t>
                </a:r>
                <a:endParaRPr lang="en-US" altLang="zh-CN" sz="2400" dirty="0" smtClean="0">
                  <a:solidFill>
                    <a:schemeClr val="tx1"/>
                  </a:solidFill>
                  <a:sym typeface="Symbol" panose="05050102010706020507" pitchFamily="18" charset="2"/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  <a:sym typeface="Symbol" panose="05050102010706020507" pitchFamily="18" charset="2"/>
                  </a:rPr>
                  <a:t>得到：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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𝑞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𝜋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𝑁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	</a:t>
                </a:r>
                <a:r>
                  <a:rPr lang="en-US" altLang="zh-CN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简约布里渊区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𝑞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的个数：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𝜋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𝑎</m:t>
                        </m:r>
                      </m:den>
                    </m:f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/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𝜋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𝑁𝑎</m:t>
                        </m:r>
                      </m:den>
                    </m:f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𝑁</m:t>
                    </m:r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175" y="1331167"/>
                <a:ext cx="10692707" cy="5349541"/>
              </a:xfrm>
              <a:prstGeom prst="rect">
                <a:avLst/>
              </a:prstGeom>
              <a:blipFill rotWithShape="1">
                <a:blip r:embed="rId2"/>
                <a:stretch>
                  <a:fillRect l="-1140" t="-14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4116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24538" y="402314"/>
            <a:ext cx="6699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</a:t>
            </a:r>
            <a:r>
              <a:rPr lang="zh-CN" altLang="en-US" sz="3200" dirty="0"/>
              <a:t>四</a:t>
            </a:r>
            <a:r>
              <a:rPr lang="zh-CN" altLang="en-US" sz="3200" dirty="0" smtClean="0"/>
              <a:t>章  晶格振动和晶体的热学性质</a:t>
            </a:r>
            <a:endParaRPr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023035" y="1757281"/>
                <a:ext cx="10239789" cy="50342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4.2.1 </a:t>
                </a:r>
                <a:r>
                  <a:rPr lang="zh-CN" altLang="en-US" sz="2800" dirty="0">
                    <a:solidFill>
                      <a:schemeClr val="tx1"/>
                    </a:solidFill>
                  </a:rPr>
                  <a:t>格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波频谱分支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endParaRPr lang="en-US" altLang="zh-CN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 ,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为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原胞</m:t>
                    </m:r>
                    <m:r>
                      <a:rPr lang="zh-CN" alt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序数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为原子序数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个原胞的势能：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  <a:sym typeface="Symbol" panose="05050102010706020507" pitchFamily="18" charset="2"/>
                  </a:rPr>
                  <a:t>	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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𝛽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𝑛</m:t>
                        </m:r>
                      </m:sub>
                      <m:sup/>
                      <m:e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{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[</m:t>
                        </m:r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,1</m:t>
                            </m:r>
                          </m:e>
                        </m:d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nary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,2</m:t>
                        </m:r>
                      </m:e>
                    </m:d>
                    <m:sSup>
                      <m:sSup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+[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,2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}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,1)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原子受力： 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  <a:sym typeface="Symbol" panose="05050102010706020507" pitchFamily="18" charset="2"/>
                  </a:rPr>
                  <a:t>	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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[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−1,2</m:t>
                        </m:r>
                      </m:e>
                    </m:d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,1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]−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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[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,1</m:t>
                        </m:r>
                      </m:e>
                    </m:d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,2</m:t>
                        </m:r>
                      </m:e>
                    </m:d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         (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左侧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+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右侧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运动方程：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  <a:sym typeface="Symbol" panose="05050102010706020507" pitchFamily="18" charset="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𝑀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  <m:acc>
                      <m:accPr>
                        <m:chr m:val="̈"/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acc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acc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（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𝑛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,1）=[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,2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−1,2</m:t>
                        </m:r>
                      </m:e>
                    </m:d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,1</m:t>
                        </m:r>
                      </m:e>
                    </m:d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同理：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  <a:sym typeface="Symbol" panose="05050102010706020507" pitchFamily="18" charset="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𝑀</m:t>
                        </m:r>
                      </m:e>
                      <m:sub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b>
                    </m:sSub>
                    <m:acc>
                      <m:accPr>
                        <m:chr m:val="̈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acc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acc>
                    <m:d>
                      <m:dPr>
                        <m:begChr m:val="（"/>
                        <m:endChr m:val="）"/>
                        <m:ctrlP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,2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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[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,1</m:t>
                        </m:r>
                      </m:e>
                    </m:d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,2</m:t>
                        </m:r>
                      </m:e>
                    </m:d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		(2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𝑁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个耦合</a:t>
                </a:r>
                <a:r>
                  <a:rPr lang="zh-CN" altLang="en-US" sz="2400" dirty="0"/>
                  <a:t>的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方程组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035" y="1757281"/>
                <a:ext cx="10239789" cy="5034263"/>
              </a:xfrm>
              <a:prstGeom prst="rect">
                <a:avLst/>
              </a:prstGeom>
              <a:blipFill rotWithShape="1">
                <a:blip r:embed="rId2"/>
                <a:stretch>
                  <a:fillRect l="-1250" t="-1574" b="-19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4158897" y="1261964"/>
            <a:ext cx="3968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§ 4.2 </a:t>
            </a:r>
            <a:r>
              <a:rPr lang="zh-CN" altLang="en-US" sz="2400" dirty="0" smtClean="0"/>
              <a:t>一维双原子链的振动</a:t>
            </a:r>
            <a:endParaRPr lang="zh-CN" altLang="en-US" sz="2400" dirty="0"/>
          </a:p>
        </p:txBody>
      </p:sp>
      <p:grpSp>
        <p:nvGrpSpPr>
          <p:cNvPr id="14" name="组合 13"/>
          <p:cNvGrpSpPr/>
          <p:nvPr/>
        </p:nvGrpSpPr>
        <p:grpSpPr>
          <a:xfrm>
            <a:off x="7274530" y="1929747"/>
            <a:ext cx="4619175" cy="1646742"/>
            <a:chOff x="7192085" y="1959727"/>
            <a:chExt cx="4619175" cy="1646742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92085" y="2052536"/>
              <a:ext cx="4619175" cy="155393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/>
                <p:cNvSpPr/>
                <p:nvPr/>
              </p:nvSpPr>
              <p:spPr>
                <a:xfrm>
                  <a:off x="9039708" y="2171222"/>
                  <a:ext cx="38420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矩形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708" y="2171222"/>
                  <a:ext cx="38420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直接连接符 6"/>
            <p:cNvCxnSpPr/>
            <p:nvPr/>
          </p:nvCxnSpPr>
          <p:spPr>
            <a:xfrm>
              <a:off x="9153331" y="2540554"/>
              <a:ext cx="14928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矩形 9"/>
                <p:cNvSpPr/>
                <p:nvPr/>
              </p:nvSpPr>
              <p:spPr>
                <a:xfrm>
                  <a:off x="10153158" y="2165001"/>
                  <a:ext cx="59740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US" altLang="zh-CN" dirty="0" smtClean="0">
                      <a:solidFill>
                        <a:schemeClr val="tx1"/>
                      </a:solidFill>
                    </a:rPr>
                    <a:t>+1</a:t>
                  </a:r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矩形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3158" y="2165001"/>
                  <a:ext cx="597408" cy="369332"/>
                </a:xfrm>
                <a:prstGeom prst="rect">
                  <a:avLst/>
                </a:prstGeom>
                <a:blipFill>
                  <a:blip r:embed="rId5"/>
                  <a:stretch>
                    <a:fillRect t="-8197" r="-7143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直接连接符 10"/>
            <p:cNvCxnSpPr/>
            <p:nvPr/>
          </p:nvCxnSpPr>
          <p:spPr>
            <a:xfrm>
              <a:off x="10322767" y="2534327"/>
              <a:ext cx="14928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矩形 11"/>
                <p:cNvSpPr/>
                <p:nvPr/>
              </p:nvSpPr>
              <p:spPr>
                <a:xfrm>
                  <a:off x="7773850" y="1959727"/>
                  <a:ext cx="52687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US" altLang="zh-CN" dirty="0" smtClean="0">
                      <a:solidFill>
                        <a:schemeClr val="tx1"/>
                      </a:solidFill>
                    </a:rPr>
                    <a:t>-1</a:t>
                  </a:r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矩形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3850" y="1959727"/>
                  <a:ext cx="558936" cy="369332"/>
                </a:xfrm>
                <a:prstGeom prst="rect">
                  <a:avLst/>
                </a:prstGeom>
                <a:blipFill>
                  <a:blip r:embed="rId6"/>
                  <a:stretch>
                    <a:fillRect t="-8197" r="-8696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直接连接符 12"/>
            <p:cNvCxnSpPr/>
            <p:nvPr/>
          </p:nvCxnSpPr>
          <p:spPr>
            <a:xfrm>
              <a:off x="7915467" y="2291735"/>
              <a:ext cx="14928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8826687" y="2592224"/>
                <a:ext cx="508473" cy="3629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b="0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6687" y="2592224"/>
                <a:ext cx="508473" cy="362984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9445617" y="2651314"/>
                <a:ext cx="508473" cy="3629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b="0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5617" y="2651314"/>
                <a:ext cx="508473" cy="362984"/>
              </a:xfrm>
              <a:prstGeom prst="rect">
                <a:avLst/>
              </a:prstGeom>
              <a:blipFill rotWithShape="1">
                <a:blip r:embed="rId8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7856295" y="2906914"/>
                <a:ext cx="3936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𝛽</m:t>
                      </m:r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6295" y="2906914"/>
                <a:ext cx="393634" cy="369332"/>
              </a:xfrm>
              <a:prstGeom prst="rect">
                <a:avLst/>
              </a:prstGeom>
              <a:blipFill rotWithShape="1">
                <a:blip r:embed="rId9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8424330" y="2901376"/>
                <a:ext cx="3936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𝛽</m:t>
                      </m:r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4330" y="2901376"/>
                <a:ext cx="393634" cy="369332"/>
              </a:xfrm>
              <a:prstGeom prst="rect">
                <a:avLst/>
              </a:prstGeom>
              <a:blipFill rotWithShape="1">
                <a:blip r:embed="rId10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8157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24538" y="402314"/>
            <a:ext cx="6699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</a:t>
            </a:r>
            <a:r>
              <a:rPr lang="zh-CN" altLang="en-US" sz="3200" dirty="0"/>
              <a:t>四</a:t>
            </a:r>
            <a:r>
              <a:rPr lang="zh-CN" altLang="en-US" sz="3200" dirty="0" smtClean="0"/>
              <a:t>章  晶格振动和晶体的热学性质</a:t>
            </a:r>
            <a:endParaRPr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138468" y="1839967"/>
                <a:ext cx="10239789" cy="53092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4.2.1 </a:t>
                </a:r>
                <a:r>
                  <a:rPr lang="zh-CN" altLang="en-US" sz="2800" dirty="0">
                    <a:solidFill>
                      <a:schemeClr val="tx1"/>
                    </a:solidFill>
                  </a:rPr>
                  <a:t>格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波频谱分支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endParaRPr lang="en-US" altLang="zh-CN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试解：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e>
                      </m:d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40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𝐴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𝑖</m:t>
                          </m:r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(</m:t>
                          </m:r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𝑞𝑛𝑎</m:t>
                          </m:r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−</m:t>
                          </m:r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𝜔</m:t>
                          </m:r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𝑡</m:t>
                          </m:r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,2</m:t>
                        </m:r>
                      </m:e>
                    </m:d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rad>
                      </m:den>
                    </m:f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𝐵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[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(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𝑛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)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𝑎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−</m:t>
                        </m:r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𝜔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𝑡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]</m:t>
                        </m:r>
                      </m:sup>
                    </m:sSup>
                    <m: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  	</a:t>
                </a: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代入方程组，得</a:t>
                </a:r>
                <a:r>
                  <a:rPr lang="zh-CN" altLang="en-US" sz="2400" dirty="0" smtClean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：</a:t>
                </a:r>
                <a:endParaRPr lang="en-US" altLang="zh-CN" sz="2400" dirty="0" smtClean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       		            </a:t>
                </a:r>
                <a14:m>
                  <m:oMath xmlns:m="http://schemas.openxmlformats.org/officeDocument/2006/math">
                    <m:d>
                      <m:dPr>
                        <m:begChr m:val="（"/>
                        <m:endChr m:val="）"/>
                        <m:ctrlPr>
                          <a:rPr lang="zh-CN" altLang="en-US" sz="2400" i="1" dirty="0" smtClean="0">
                            <a:solidFill>
                              <a:schemeClr val="tx1"/>
                            </a:solidFill>
                            <a:latin typeface="Cambria Math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400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zh-CN" altLang="en-US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𝜔</m:t>
                            </m:r>
                          </m:e>
                          <m:sup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400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  <m:r>
                              <a:rPr lang="zh-CN" altLang="en-US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𝛽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en-US" altLang="zh-CN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    −</m:t>
                    </m:r>
                    <m:f>
                      <m:fPr>
                        <m:ctrlP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  <m:r>
                          <a:rPr lang="zh-CN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𝛽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40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rad>
                      </m:den>
                    </m:f>
                    <m:func>
                      <m:funcPr>
                        <m:ctrlP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  <a:sym typeface="Wingdings" panose="05000000000000000000" pitchFamily="2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 dirty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sym typeface="Symbol" panose="05050102010706020507" pitchFamily="18" charset="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𝑞𝑎</m:t>
                                </m:r>
                              </m:num>
                              <m:den>
                                <m:r>
                                  <a:rPr lang="en-US" altLang="zh-CN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=0</m:t>
                    </m:r>
                  </m:oMath>
                </a14:m>
                <a:endParaRPr lang="en-US" altLang="zh-CN" sz="2400" b="0" i="1" dirty="0" smtClean="0">
                  <a:solidFill>
                    <a:schemeClr val="tx1"/>
                  </a:solidFill>
                  <a:latin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 dirty="0">
                              <a:solidFill>
                                <a:schemeClr val="tx1"/>
                              </a:solidFill>
                              <a:latin typeface="Cambria Math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altLang="zh-CN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  <m:r>
                            <a:rPr lang="zh-CN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𝛽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func>
                        <m:funcPr>
                          <m:ctrlPr>
                            <a:rPr lang="en-US" altLang="zh-CN" sz="2400" i="1" dirty="0">
                              <a:solidFill>
                                <a:schemeClr val="tx1"/>
                              </a:solidFill>
                              <a:latin typeface="Cambria Math" charset="0"/>
                              <a:sym typeface="Wingdings" panose="05000000000000000000" pitchFamily="2" charset="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400" i="1" dirty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400" i="1" dirty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sym typeface="Symbol" panose="05050102010706020507" pitchFamily="18" charset="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𝑞𝑎</m:t>
                                  </m:r>
                                </m:num>
                                <m:den>
                                  <m:r>
                                    <a:rPr lang="en-US" altLang="zh-CN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altLang="zh-CN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𝐴</m:t>
                      </m:r>
                      <m:r>
                        <a:rPr lang="en-US" altLang="zh-CN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         +</m:t>
                      </m:r>
                      <m:d>
                        <m:dPr>
                          <m:begChr m:val="（"/>
                          <m:endChr m:val="）"/>
                          <m:ctrlPr>
                            <a:rPr lang="zh-CN" altLang="en-US" sz="2400" i="1" dirty="0">
                              <a:solidFill>
                                <a:schemeClr val="tx1"/>
                              </a:solidFill>
                              <a:latin typeface="Cambria Math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400" i="1" dirty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altLang="zh-CN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2400" i="1" dirty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sym typeface="Wingdings" panose="05000000000000000000" pitchFamily="2" charset="2"/>
                                </a:rPr>
                              </m:ctrlPr>
                            </m:fPr>
                            <m:num>
                              <m:r>
                                <a:rPr lang="en-US" altLang="zh-CN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2</m:t>
                              </m:r>
                              <m:r>
                                <a:rPr lang="zh-CN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𝛽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2400" i="1" dirty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M</m:t>
                                  </m:r>
                                </m:e>
                                <m:sub>
                                  <m:r>
                                    <a:rPr lang="en-US" altLang="zh-CN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altLang="zh-CN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=0</m:t>
                      </m:r>
                    </m:oMath>
                  </m:oMathPara>
                </a14:m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468" y="1839967"/>
                <a:ext cx="10239789" cy="5309274"/>
              </a:xfrm>
              <a:prstGeom prst="rect">
                <a:avLst/>
              </a:prstGeom>
              <a:blipFill rotWithShape="1">
                <a:blip r:embed="rId2"/>
                <a:stretch>
                  <a:fillRect l="-1250" t="-14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4158897" y="1261964"/>
            <a:ext cx="3968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§ 4.2 </a:t>
            </a:r>
            <a:r>
              <a:rPr lang="zh-CN" altLang="en-US" sz="2400" dirty="0" smtClean="0"/>
              <a:t>一维双原子链的振动</a:t>
            </a:r>
            <a:endParaRPr lang="zh-CN" altLang="en-US" sz="2400" dirty="0"/>
          </a:p>
        </p:txBody>
      </p:sp>
      <p:grpSp>
        <p:nvGrpSpPr>
          <p:cNvPr id="14" name="组合 13"/>
          <p:cNvGrpSpPr/>
          <p:nvPr/>
        </p:nvGrpSpPr>
        <p:grpSpPr>
          <a:xfrm>
            <a:off x="7297015" y="1982212"/>
            <a:ext cx="4619175" cy="1646742"/>
            <a:chOff x="7192085" y="1959727"/>
            <a:chExt cx="4619175" cy="1646742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92085" y="2052536"/>
              <a:ext cx="4619175" cy="155393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/>
                <p:cNvSpPr/>
                <p:nvPr/>
              </p:nvSpPr>
              <p:spPr>
                <a:xfrm>
                  <a:off x="9039708" y="2171222"/>
                  <a:ext cx="38420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矩形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9708" y="2171222"/>
                  <a:ext cx="38420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直接连接符 6"/>
            <p:cNvCxnSpPr/>
            <p:nvPr/>
          </p:nvCxnSpPr>
          <p:spPr>
            <a:xfrm>
              <a:off x="9153331" y="2540554"/>
              <a:ext cx="14928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矩形 9"/>
                <p:cNvSpPr/>
                <p:nvPr/>
              </p:nvSpPr>
              <p:spPr>
                <a:xfrm>
                  <a:off x="10153158" y="2165001"/>
                  <a:ext cx="59740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US" altLang="zh-CN" dirty="0" smtClean="0">
                      <a:solidFill>
                        <a:schemeClr val="tx1"/>
                      </a:solidFill>
                    </a:rPr>
                    <a:t>+1</a:t>
                  </a:r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矩形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3158" y="2165001"/>
                  <a:ext cx="597408" cy="369332"/>
                </a:xfrm>
                <a:prstGeom prst="rect">
                  <a:avLst/>
                </a:prstGeom>
                <a:blipFill>
                  <a:blip r:embed="rId5"/>
                  <a:stretch>
                    <a:fillRect t="-8197" r="-7143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直接连接符 10"/>
            <p:cNvCxnSpPr/>
            <p:nvPr/>
          </p:nvCxnSpPr>
          <p:spPr>
            <a:xfrm>
              <a:off x="10322767" y="2534327"/>
              <a:ext cx="14928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矩形 11"/>
                <p:cNvSpPr/>
                <p:nvPr/>
              </p:nvSpPr>
              <p:spPr>
                <a:xfrm>
                  <a:off x="7773850" y="1959727"/>
                  <a:ext cx="52687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US" altLang="zh-CN" dirty="0" smtClean="0">
                      <a:solidFill>
                        <a:schemeClr val="tx1"/>
                      </a:solidFill>
                    </a:rPr>
                    <a:t>-1</a:t>
                  </a:r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矩形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3850" y="1959727"/>
                  <a:ext cx="558936" cy="369332"/>
                </a:xfrm>
                <a:prstGeom prst="rect">
                  <a:avLst/>
                </a:prstGeom>
                <a:blipFill>
                  <a:blip r:embed="rId6"/>
                  <a:stretch>
                    <a:fillRect t="-8197" r="-8696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直接连接符 12"/>
            <p:cNvCxnSpPr/>
            <p:nvPr/>
          </p:nvCxnSpPr>
          <p:spPr>
            <a:xfrm>
              <a:off x="7915467" y="2291735"/>
              <a:ext cx="14928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8849172" y="2644689"/>
                <a:ext cx="508473" cy="3629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b="0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172" y="2644689"/>
                <a:ext cx="508473" cy="362984"/>
              </a:xfrm>
              <a:prstGeom prst="rect">
                <a:avLst/>
              </a:prstGeom>
              <a:blipFill rotWithShape="1">
                <a:blip r:embed="rId7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9468102" y="2703779"/>
                <a:ext cx="508473" cy="3629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b="0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8102" y="2703779"/>
                <a:ext cx="508473" cy="362984"/>
              </a:xfrm>
              <a:prstGeom prst="rect">
                <a:avLst/>
              </a:prstGeom>
              <a:blipFill rotWithShape="1">
                <a:blip r:embed="rId8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7878780" y="2959379"/>
                <a:ext cx="3936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𝛽</m:t>
                      </m:r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8780" y="2959379"/>
                <a:ext cx="393634" cy="369332"/>
              </a:xfrm>
              <a:prstGeom prst="rect">
                <a:avLst/>
              </a:prstGeom>
              <a:blipFill rotWithShape="1">
                <a:blip r:embed="rId9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8446815" y="2953841"/>
                <a:ext cx="3936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𝛽</m:t>
                      </m:r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815" y="2953841"/>
                <a:ext cx="393634" cy="369332"/>
              </a:xfrm>
              <a:prstGeom prst="rect">
                <a:avLst/>
              </a:prstGeom>
              <a:blipFill rotWithShape="1">
                <a:blip r:embed="rId10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3050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l="6405" r="11776" b="3129"/>
          <a:stretch/>
        </p:blipFill>
        <p:spPr>
          <a:xfrm>
            <a:off x="7287968" y="1452936"/>
            <a:ext cx="4669673" cy="371117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724538" y="402314"/>
            <a:ext cx="6699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</a:t>
            </a:r>
            <a:r>
              <a:rPr lang="zh-CN" altLang="en-US" sz="3200" dirty="0"/>
              <a:t>四</a:t>
            </a:r>
            <a:r>
              <a:rPr lang="zh-CN" altLang="en-US" sz="3200" dirty="0" smtClean="0"/>
              <a:t>章  晶格振动和晶体的热学性质</a:t>
            </a:r>
            <a:endParaRPr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946297" y="1794841"/>
                <a:ext cx="9441889" cy="6570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4.2.1 </a:t>
                </a:r>
                <a:r>
                  <a:rPr lang="zh-CN" altLang="en-US" sz="2800" dirty="0">
                    <a:solidFill>
                      <a:schemeClr val="tx1"/>
                    </a:solidFill>
                  </a:rPr>
                  <a:t>格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波频谱分支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endParaRPr lang="en-US" altLang="zh-CN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和</a:t>
                </a:r>
                <a:r>
                  <a:rPr lang="en-US" altLang="zh-CN" sz="2400" dirty="0" smtClean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有解的条件：</a:t>
                </a:r>
                <a:endParaRPr lang="en-US" altLang="zh-CN" sz="2400" dirty="0" smtClean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sym typeface="Wingdings" panose="05000000000000000000" pitchFamily="2" charset="2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zh-CN" sz="2400" i="1" dirty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𝜔</m:t>
                                    </m:r>
                                  </m:e>
                                  <m:sup>
                                    <m:r>
                                      <a:rPr lang="en-US" altLang="zh-CN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zh-CN" sz="2400" i="1" dirty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  <a:sym typeface="Wingdings" panose="05000000000000000000" pitchFamily="2" charset="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2</m:t>
                                    </m:r>
                                    <m:r>
                                      <a:rPr lang="zh-CN" altLang="en-US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𝛽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  <a:sym typeface="Wingdings" panose="05000000000000000000" pitchFamily="2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M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altLang="zh-CN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2400" i="1" dirty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  <a:sym typeface="Wingdings" panose="05000000000000000000" pitchFamily="2" charset="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2</m:t>
                                    </m:r>
                                    <m:r>
                                      <a:rPr lang="zh-CN" altLang="en-US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𝛽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CN" sz="2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M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𝑀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rad>
                                  </m:den>
                                </m:f>
                                <m:func>
                                  <m:funcPr>
                                    <m:ctrlPr>
                                      <a:rPr lang="en-US" altLang="zh-CN" sz="2400" i="1" dirty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  <a:sym typeface="Wingdings" panose="05000000000000000000" pitchFamily="2" charset="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cos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zh-CN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  <a:sym typeface="Wingdings" panose="05000000000000000000" pitchFamily="2" charset="2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altLang="zh-CN" sz="24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charset="0"/>
                                                <a:sym typeface="Symbol" panose="05050102010706020507" pitchFamily="18" charset="2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altLang="zh-CN" sz="24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sym typeface="Symbol" panose="05050102010706020507" pitchFamily="18" charset="2"/>
                                              </a:rPr>
                                              <m:t>𝑞𝑎</m:t>
                                            </m:r>
                                          </m:num>
                                          <m:den>
                                            <m:r>
                                              <a:rPr lang="en-US" altLang="zh-CN" sz="24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sym typeface="Symbol" panose="05050102010706020507" pitchFamily="18" charset="2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US" altLang="zh-CN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2400" i="1" dirty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  <a:sym typeface="Wingdings" panose="05000000000000000000" pitchFamily="2" charset="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2</m:t>
                                    </m:r>
                                    <m:r>
                                      <a:rPr lang="zh-CN" altLang="en-US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𝛽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CN" sz="2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M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𝑀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rad>
                                  </m:den>
                                </m:f>
                                <m:func>
                                  <m:funcPr>
                                    <m:ctrlPr>
                                      <a:rPr lang="en-US" altLang="zh-CN" sz="2400" i="1" dirty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  <a:sym typeface="Wingdings" panose="05000000000000000000" pitchFamily="2" charset="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cos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zh-CN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  <a:sym typeface="Wingdings" panose="05000000000000000000" pitchFamily="2" charset="2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altLang="zh-CN" sz="24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charset="0"/>
                                                <a:sym typeface="Symbol" panose="05050102010706020507" pitchFamily="18" charset="2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altLang="zh-CN" sz="24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sym typeface="Symbol" panose="05050102010706020507" pitchFamily="18" charset="2"/>
                                              </a:rPr>
                                              <m:t>𝑞𝑎</m:t>
                                            </m:r>
                                          </m:num>
                                          <m:den>
                                            <m:r>
                                              <a:rPr lang="en-US" altLang="zh-CN" sz="24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sym typeface="Symbol" panose="05050102010706020507" pitchFamily="18" charset="2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</m:func>
                              </m:e>
                              <m:e>
                                <m:r>
                                  <a:rPr lang="en-US" altLang="zh-CN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zh-CN" sz="2400" i="1" dirty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𝜔</m:t>
                                    </m:r>
                                  </m:e>
                                  <m:sup>
                                    <m:r>
                                      <a:rPr lang="en-US" altLang="zh-CN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zh-CN" sz="2400" i="1" dirty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  <a:sym typeface="Wingdings" panose="05000000000000000000" pitchFamily="2" charset="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2</m:t>
                                    </m:r>
                                    <m:r>
                                      <a:rPr lang="zh-CN" altLang="en-US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𝛽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  <a:sym typeface="Wingdings" panose="05000000000000000000" pitchFamily="2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M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altLang="zh-CN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0</m:t>
                      </m:r>
                    </m:oMath>
                  </m:oMathPara>
                </a14:m>
                <a:endParaRPr lang="en-US" altLang="zh-CN" sz="2400" dirty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  <a:sym typeface="Symbol" panose="05050102010706020507" pitchFamily="18" charset="2"/>
                  </a:rPr>
                  <a:t>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𝜔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+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p>
                    </m:sSub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zh-CN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𝛽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{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+[</m:t>
                    </m:r>
                    <m:sSubSup>
                      <m:sSubSup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𝑀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p>
                    </m:sSub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+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𝑀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p>
                    </m:sSub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+2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𝑞𝑎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1/2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}</m:t>
                    </m:r>
                  </m:oMath>
                </a14:m>
                <a:endParaRPr lang="en-US" altLang="zh-CN" sz="2400" dirty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  <a:p>
                <a:r>
                  <a:rPr lang="en-US" altLang="zh-CN" sz="24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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𝜔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−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p>
                    </m:sSubSup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𝛽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{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−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[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𝑀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p>
                    </m:sSubSup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+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𝑀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p>
                    </m:sSubSup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+2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𝑞𝑎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1/2</m:t>
                        </m:r>
                      </m:sup>
                    </m:sSup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}</m:t>
                    </m:r>
                  </m:oMath>
                </a14:m>
                <a:endParaRPr lang="en-US" altLang="zh-CN" sz="2400" dirty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  <a:p>
                <a:endParaRPr lang="en-US" altLang="zh-CN" sz="2400" dirty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  <a:p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297" y="1794841"/>
                <a:ext cx="9441889" cy="6570581"/>
              </a:xfrm>
              <a:prstGeom prst="rect">
                <a:avLst/>
              </a:prstGeom>
              <a:blipFill rotWithShape="1">
                <a:blip r:embed="rId3"/>
                <a:stretch>
                  <a:fillRect l="-1291" t="-12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4158897" y="1261964"/>
            <a:ext cx="3968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§ 4.2 </a:t>
            </a:r>
            <a:r>
              <a:rPr lang="zh-CN" altLang="en-US" sz="2400" dirty="0" smtClean="0"/>
              <a:t>一维双原子链的振动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567212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24538" y="402314"/>
            <a:ext cx="6699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</a:t>
            </a:r>
            <a:r>
              <a:rPr lang="zh-CN" altLang="en-US" sz="3200" dirty="0"/>
              <a:t>四</a:t>
            </a:r>
            <a:r>
              <a:rPr lang="zh-CN" altLang="en-US" sz="3200" dirty="0" smtClean="0"/>
              <a:t>章  晶格振动和晶体的热学性质</a:t>
            </a:r>
            <a:endParaRPr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106236" y="1912571"/>
                <a:ext cx="7372746" cy="45458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4.2.2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两支格波的特性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将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zh-CN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𝜔</m:t>
                        </m:r>
                      </m:e>
                      <m:sup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的解代入原方程组，可求得</a:t>
                </a:r>
                <a:r>
                  <a:rPr lang="en-US" altLang="zh-CN" sz="2400" dirty="0" smtClean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A</a:t>
                </a:r>
                <a:r>
                  <a:rPr lang="zh-CN" altLang="en-US" sz="2400" dirty="0" smtClean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和</a:t>
                </a:r>
                <a:r>
                  <a:rPr lang="en-US" altLang="zh-CN" sz="2400" dirty="0" smtClean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B (</a:t>
                </a:r>
                <a:r>
                  <a:rPr lang="zh-CN" altLang="en-US" sz="2400" dirty="0" smtClean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)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𝜔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−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:</a:t>
                </a: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f>
                              <m:fPr>
                                <m:ctrlP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⁡(</m:t>
                        </m:r>
                        <m:f>
                          <m:fPr>
                            <m:ctrlP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𝑞𝑎</m:t>
                            </m:r>
                          </m:num>
                          <m:den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bSupPr>
                          <m:e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−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>
                    <a:solidFill>
                      <a:schemeClr val="tx1"/>
                    </a:solidFill>
                  </a:rPr>
                  <a:t>因为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𝜔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−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p>
                    </m:sSubSup>
                    <m: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&lt;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 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以及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f>
                      <m:f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𝑞𝑎</m:t>
                        </m:r>
                      </m:num>
                      <m:den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den>
                    </m:f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&gt;0,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&gt;0, 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代表同向运动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*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𝜔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−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 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,1</m:t>
                            </m:r>
                          </m:e>
                        </m:d>
                      </m:num>
                      <m:den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,2</m:t>
                            </m:r>
                          </m:e>
                        </m:d>
                      </m:den>
                    </m:f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1</a:t>
                </a:r>
              </a:p>
              <a:p>
                <a:r>
                  <a:rPr lang="zh-CN" altLang="en-US" sz="2400" dirty="0">
                    <a:solidFill>
                      <a:schemeClr val="tx1"/>
                    </a:solidFill>
                  </a:rPr>
                  <a:t>*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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𝜋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𝑎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，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𝜔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−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f>
                      <m:f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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，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=0</a:t>
                </a:r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endParaRPr lang="en-US" altLang="zh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236" y="1912571"/>
                <a:ext cx="7372746" cy="4545860"/>
              </a:xfrm>
              <a:prstGeom prst="rect">
                <a:avLst/>
              </a:prstGeom>
              <a:blipFill rotWithShape="1">
                <a:blip r:embed="rId2"/>
                <a:stretch>
                  <a:fillRect l="-1653" t="-17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4158897" y="1261964"/>
            <a:ext cx="3968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§ 4.2 </a:t>
            </a:r>
            <a:r>
              <a:rPr lang="zh-CN" altLang="en-US" sz="2400" dirty="0" smtClean="0"/>
              <a:t>一维双原子链的振动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"/>
              <p:cNvSpPr txBox="1"/>
              <p:nvPr/>
            </p:nvSpPr>
            <p:spPr>
              <a:xfrm>
                <a:off x="8395417" y="4174266"/>
                <a:ext cx="3465330" cy="189577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  <a:prstDash val="sysDot"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 smtClean="0">
                    <a:solidFill>
                      <a:schemeClr val="tx1"/>
                    </a:solidFill>
                  </a:rPr>
                  <a:t>** 周期性边界条件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𝑞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𝑙</m:t>
                        </m:r>
                      </m:num>
                      <m:den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𝑁</m:t>
                        </m:r>
                      </m:den>
                    </m:f>
                    <m:f>
                      <m:f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  <m: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𝜋</m:t>
                        </m:r>
                      </m:num>
                      <m:den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,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𝑙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为</a:t>
                </a:r>
                <a:r>
                  <a:rPr lang="zh-CN" altLang="en-US" sz="2000" dirty="0" smtClean="0">
                    <a:solidFill>
                      <a:schemeClr val="tx1"/>
                    </a:solidFill>
                    <a:sym typeface="Symbol" panose="05050102010706020507" pitchFamily="18" charset="2"/>
                  </a:rPr>
                  <a:t>整数，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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𝑞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  <m: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𝜋</m:t>
                        </m:r>
                      </m:num>
                      <m:den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𝑁𝑎</m:t>
                        </m:r>
                      </m:den>
                    </m:f>
                  </m:oMath>
                </a14:m>
                <a:r>
                  <a:rPr lang="zh-CN" altLang="en-US" sz="2000" dirty="0" smtClean="0">
                    <a:solidFill>
                      <a:schemeClr val="tx1"/>
                    </a:solidFill>
                    <a:sym typeface="Symbol" panose="05050102010706020507" pitchFamily="18" charset="2"/>
                  </a:rPr>
                  <a:t> </a:t>
                </a:r>
                <a:endParaRPr lang="en-US" altLang="zh-CN" sz="2000" dirty="0">
                  <a:solidFill>
                    <a:schemeClr val="tx1"/>
                  </a:solidFill>
                  <a:sym typeface="Symbol" panose="05050102010706020507" pitchFamily="18" charset="2"/>
                </a:endParaRPr>
              </a:p>
              <a:p>
                <a:endParaRPr lang="en-US" altLang="zh-CN" sz="20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000" dirty="0" smtClean="0">
                    <a:solidFill>
                      <a:schemeClr val="tx1"/>
                    </a:solidFill>
                  </a:rPr>
                  <a:t>但是，频谱支数等于原胞中原子的自由度数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5417" y="4174266"/>
                <a:ext cx="3465330" cy="1895775"/>
              </a:xfrm>
              <a:prstGeom prst="rect">
                <a:avLst/>
              </a:prstGeom>
              <a:blipFill rotWithShape="1">
                <a:blip r:embed="rId3"/>
                <a:stretch>
                  <a:fillRect l="-1576" r="-5604" b="-3834"/>
                </a:stretch>
              </a:blipFill>
              <a:ln>
                <a:solidFill>
                  <a:srgbClr val="FF0000"/>
                </a:solidFill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接连接符 21"/>
          <p:cNvCxnSpPr/>
          <p:nvPr/>
        </p:nvCxnSpPr>
        <p:spPr>
          <a:xfrm>
            <a:off x="8793772" y="2803696"/>
            <a:ext cx="2294313" cy="0"/>
          </a:xfrm>
          <a:prstGeom prst="line">
            <a:avLst/>
          </a:prstGeom>
          <a:ln w="222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8793772" y="2741116"/>
            <a:ext cx="0" cy="1224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11091165" y="2739688"/>
            <a:ext cx="0" cy="1224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10005849" y="2739688"/>
            <a:ext cx="0" cy="1224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/>
              <p:cNvSpPr/>
              <p:nvPr/>
            </p:nvSpPr>
            <p:spPr>
              <a:xfrm>
                <a:off x="10899694" y="2898789"/>
                <a:ext cx="388375" cy="5647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charset="0"/>
                              <a:sym typeface="Symbol" panose="05050102010706020507" pitchFamily="18" charset="2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𝜋</m:t>
                          </m:r>
                        </m:num>
                        <m:den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矩形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9694" y="2898789"/>
                <a:ext cx="388375" cy="56477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/>
              <p:cNvSpPr/>
              <p:nvPr/>
            </p:nvSpPr>
            <p:spPr>
              <a:xfrm>
                <a:off x="8496899" y="2905907"/>
                <a:ext cx="599972" cy="5647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−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charset="0"/>
                              <a:sym typeface="Symbol" panose="05050102010706020507" pitchFamily="18" charset="2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𝜋</m:t>
                          </m:r>
                        </m:num>
                        <m:den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矩形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899" y="2905907"/>
                <a:ext cx="599972" cy="56477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矩形 31"/>
          <p:cNvSpPr/>
          <p:nvPr/>
        </p:nvSpPr>
        <p:spPr>
          <a:xfrm>
            <a:off x="9812945" y="2905907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0</a:t>
            </a:r>
            <a:endParaRPr lang="zh-CN" altLang="en-US" dirty="0"/>
          </a:p>
        </p:txBody>
      </p:sp>
      <p:cxnSp>
        <p:nvCxnSpPr>
          <p:cNvPr id="33" name="直接连接符 32"/>
          <p:cNvCxnSpPr/>
          <p:nvPr/>
        </p:nvCxnSpPr>
        <p:spPr>
          <a:xfrm>
            <a:off x="10320620" y="2746811"/>
            <a:ext cx="0" cy="122402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10379014" y="2745383"/>
            <a:ext cx="0" cy="122402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矩形 34"/>
              <p:cNvSpPr/>
              <p:nvPr/>
            </p:nvSpPr>
            <p:spPr>
              <a:xfrm>
                <a:off x="9823511" y="1940564"/>
                <a:ext cx="609141" cy="5013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400" i="1" smtClean="0">
                              <a:solidFill>
                                <a:schemeClr val="tx1"/>
                              </a:solidFill>
                              <a:latin typeface="Cambria Math" charset="0"/>
                              <a:sym typeface="Symbol" panose="05050102010706020507" pitchFamily="18" charset="2"/>
                            </a:rPr>
                          </m:ctrlPr>
                        </m:fPr>
                        <m:num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𝑙</m:t>
                          </m:r>
                        </m:num>
                        <m:den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𝑁</m:t>
                          </m:r>
                        </m:den>
                      </m:f>
                      <m:f>
                        <m:fPr>
                          <m:ctrlP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charset="0"/>
                              <a:sym typeface="Symbol" panose="05050102010706020507" pitchFamily="18" charset="2"/>
                            </a:rPr>
                          </m:ctrlPr>
                        </m:fPr>
                        <m:num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2</m:t>
                          </m:r>
                          <m:r>
                            <a:rPr lang="zh-CN" alt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𝜋</m:t>
                          </m:r>
                        </m:num>
                        <m:den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矩形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3511" y="1940564"/>
                <a:ext cx="609141" cy="501356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/>
              <p:cNvSpPr/>
              <p:nvPr/>
            </p:nvSpPr>
            <p:spPr>
              <a:xfrm>
                <a:off x="10437383" y="1939136"/>
                <a:ext cx="848950" cy="5013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400" i="1" smtClean="0">
                              <a:solidFill>
                                <a:schemeClr val="tx1"/>
                              </a:solidFill>
                              <a:latin typeface="Cambria Math" charset="0"/>
                              <a:sym typeface="Symbol" panose="05050102010706020507" pitchFamily="18" charset="2"/>
                            </a:rPr>
                          </m:ctrlPr>
                        </m:fPr>
                        <m:num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𝑙</m:t>
                          </m:r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+1</m:t>
                          </m:r>
                        </m:num>
                        <m:den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𝑁</m:t>
                          </m:r>
                        </m:den>
                      </m:f>
                      <m:f>
                        <m:fPr>
                          <m:ctrlP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charset="0"/>
                              <a:sym typeface="Symbol" panose="05050102010706020507" pitchFamily="18" charset="2"/>
                            </a:rPr>
                          </m:ctrlPr>
                        </m:fPr>
                        <m:num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2</m:t>
                          </m:r>
                          <m:r>
                            <a:rPr lang="zh-CN" alt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𝜋</m:t>
                          </m:r>
                        </m:num>
                        <m:den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矩形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7383" y="1939136"/>
                <a:ext cx="848950" cy="501356"/>
              </a:xfrm>
              <a:prstGeom prst="rect">
                <a:avLst/>
              </a:prstGeom>
              <a:blipFill rotWithShape="1">
                <a:blip r:embed="rId7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直接箭头连接符 36"/>
          <p:cNvCxnSpPr/>
          <p:nvPr/>
        </p:nvCxnSpPr>
        <p:spPr>
          <a:xfrm>
            <a:off x="10128082" y="2433374"/>
            <a:ext cx="192538" cy="2393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 flipH="1">
            <a:off x="10398468" y="2433374"/>
            <a:ext cx="220615" cy="2393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9180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24538" y="402314"/>
            <a:ext cx="6699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</a:t>
            </a:r>
            <a:r>
              <a:rPr lang="zh-CN" altLang="en-US" sz="3200" dirty="0"/>
              <a:t>四</a:t>
            </a:r>
            <a:r>
              <a:rPr lang="zh-CN" altLang="en-US" sz="3200" dirty="0" smtClean="0"/>
              <a:t>章  晶格振动和晶体的热学性质</a:t>
            </a:r>
            <a:endParaRPr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106236" y="1912571"/>
                <a:ext cx="6958472" cy="45563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4.2.2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两支格波的特性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𝜔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+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:</a:t>
                </a:r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bSupPr>
                          <m:e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+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f>
                              <m:f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⁡(</m:t>
                        </m:r>
                        <m:f>
                          <m:fPr>
                            <m:ctrlP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𝑞𝑎</m:t>
                            </m:r>
                          </m:num>
                          <m:den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pPr marL="342900" indent="-342900"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𝜔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+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p>
                    </m:sSubSup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𝛽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𝛽</m:t>
                        </m:r>
                      </m:num>
                      <m:den>
                        <m:bar>
                          <m:barPr>
                            <m:pos m:val="top"/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bar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bar>
                      </m:den>
                    </m:f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 ,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 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,1</m:t>
                            </m:r>
                          </m:e>
                        </m:d>
                      </m:num>
                      <m:den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,2</m:t>
                            </m:r>
                          </m:e>
                        </m:d>
                      </m:den>
                    </m:f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  </a:t>
                </a: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（质心不动）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pPr marL="342900" indent="-342900"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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𝜋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𝑎</m:t>
                        </m:r>
                      </m:den>
                    </m:f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</a:rPr>
                  <a:t>，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𝜔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+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 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0 </a:t>
                </a: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(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重的原子不动，相邻轻原子运动方向相反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)</a:t>
                </a:r>
                <a:endParaRPr lang="en-US" altLang="zh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236" y="1912571"/>
                <a:ext cx="6958472" cy="4556312"/>
              </a:xfrm>
              <a:prstGeom prst="rect">
                <a:avLst/>
              </a:prstGeom>
              <a:blipFill rotWithShape="1">
                <a:blip r:embed="rId2"/>
                <a:stretch>
                  <a:fillRect l="-1751" t="-1740" r="-438" b="-22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4158897" y="1261964"/>
            <a:ext cx="3968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§ 4.2 </a:t>
            </a:r>
            <a:r>
              <a:rPr lang="zh-CN" altLang="en-US" sz="2400" dirty="0" smtClean="0"/>
              <a:t>一维双原子链的振动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8395417" y="4174266"/>
                <a:ext cx="3465330" cy="189577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  <a:prstDash val="sysDot"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 smtClean="0">
                    <a:solidFill>
                      <a:schemeClr val="tx1"/>
                    </a:solidFill>
                  </a:rPr>
                  <a:t>** 周期性边界条件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𝑞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𝑙</m:t>
                        </m:r>
                      </m:num>
                      <m:den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𝑁</m:t>
                        </m:r>
                      </m:den>
                    </m:f>
                    <m:f>
                      <m:f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  <m: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𝜋</m:t>
                        </m:r>
                      </m:num>
                      <m:den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,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𝑙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为</a:t>
                </a:r>
                <a:r>
                  <a:rPr lang="zh-CN" altLang="en-US" sz="2000" dirty="0" smtClean="0">
                    <a:solidFill>
                      <a:schemeClr val="tx1"/>
                    </a:solidFill>
                    <a:sym typeface="Symbol" panose="05050102010706020507" pitchFamily="18" charset="2"/>
                  </a:rPr>
                  <a:t>整数，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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𝑞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  <m: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𝜋</m:t>
                        </m:r>
                      </m:num>
                      <m:den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𝑁𝑎</m:t>
                        </m:r>
                      </m:den>
                    </m:f>
                  </m:oMath>
                </a14:m>
                <a:r>
                  <a:rPr lang="zh-CN" altLang="en-US" sz="2000" dirty="0" smtClean="0">
                    <a:solidFill>
                      <a:schemeClr val="tx1"/>
                    </a:solidFill>
                    <a:sym typeface="Symbol" panose="05050102010706020507" pitchFamily="18" charset="2"/>
                  </a:rPr>
                  <a:t> </a:t>
                </a:r>
                <a:endParaRPr lang="en-US" altLang="zh-CN" sz="2000" dirty="0">
                  <a:solidFill>
                    <a:schemeClr val="tx1"/>
                  </a:solidFill>
                  <a:sym typeface="Symbol" panose="05050102010706020507" pitchFamily="18" charset="2"/>
                </a:endParaRPr>
              </a:p>
              <a:p>
                <a:endParaRPr lang="en-US" altLang="zh-CN" sz="20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000" dirty="0" smtClean="0">
                    <a:solidFill>
                      <a:schemeClr val="tx1"/>
                    </a:solidFill>
                  </a:rPr>
                  <a:t>但是，频谱支数等于原胞中原子的自由度数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5417" y="4174266"/>
                <a:ext cx="3465330" cy="1895775"/>
              </a:xfrm>
              <a:prstGeom prst="rect">
                <a:avLst/>
              </a:prstGeom>
              <a:blipFill rotWithShape="1">
                <a:blip r:embed="rId3"/>
                <a:stretch>
                  <a:fillRect l="-1576" r="-5604" b="-3834"/>
                </a:stretch>
              </a:blipFill>
              <a:ln>
                <a:solidFill>
                  <a:srgbClr val="FF0000"/>
                </a:solidFill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接连接符 5"/>
          <p:cNvCxnSpPr/>
          <p:nvPr/>
        </p:nvCxnSpPr>
        <p:spPr>
          <a:xfrm>
            <a:off x="8793772" y="2803696"/>
            <a:ext cx="2294313" cy="0"/>
          </a:xfrm>
          <a:prstGeom prst="line">
            <a:avLst/>
          </a:prstGeom>
          <a:ln w="222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8793772" y="2741116"/>
            <a:ext cx="0" cy="1224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11091165" y="2739688"/>
            <a:ext cx="0" cy="1224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10005849" y="2739688"/>
            <a:ext cx="0" cy="1224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10899694" y="2898789"/>
                <a:ext cx="388375" cy="5647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charset="0"/>
                              <a:sym typeface="Symbol" panose="05050102010706020507" pitchFamily="18" charset="2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𝜋</m:t>
                          </m:r>
                        </m:num>
                        <m:den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9694" y="2898789"/>
                <a:ext cx="388375" cy="56477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8496899" y="2905907"/>
                <a:ext cx="599972" cy="5647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−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charset="0"/>
                              <a:sym typeface="Symbol" panose="05050102010706020507" pitchFamily="18" charset="2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𝜋</m:t>
                          </m:r>
                        </m:num>
                        <m:den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899" y="2905907"/>
                <a:ext cx="599972" cy="56477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17"/>
          <p:cNvSpPr/>
          <p:nvPr/>
        </p:nvSpPr>
        <p:spPr>
          <a:xfrm>
            <a:off x="9812945" y="2905907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0</a:t>
            </a:r>
            <a:endParaRPr lang="zh-CN" altLang="en-US" dirty="0"/>
          </a:p>
        </p:txBody>
      </p:sp>
      <p:cxnSp>
        <p:nvCxnSpPr>
          <p:cNvPr id="19" name="直接连接符 18"/>
          <p:cNvCxnSpPr/>
          <p:nvPr/>
        </p:nvCxnSpPr>
        <p:spPr>
          <a:xfrm>
            <a:off x="10320620" y="2746811"/>
            <a:ext cx="0" cy="122402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0379014" y="2745383"/>
            <a:ext cx="0" cy="122402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/>
              <p:cNvSpPr/>
              <p:nvPr/>
            </p:nvSpPr>
            <p:spPr>
              <a:xfrm>
                <a:off x="9823511" y="1940564"/>
                <a:ext cx="609141" cy="5013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400" i="1" smtClean="0">
                              <a:solidFill>
                                <a:schemeClr val="tx1"/>
                              </a:solidFill>
                              <a:latin typeface="Cambria Math" charset="0"/>
                              <a:sym typeface="Symbol" panose="05050102010706020507" pitchFamily="18" charset="2"/>
                            </a:rPr>
                          </m:ctrlPr>
                        </m:fPr>
                        <m:num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𝑙</m:t>
                          </m:r>
                        </m:num>
                        <m:den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𝑁</m:t>
                          </m:r>
                        </m:den>
                      </m:f>
                      <m:f>
                        <m:fPr>
                          <m:ctrlP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charset="0"/>
                              <a:sym typeface="Symbol" panose="05050102010706020507" pitchFamily="18" charset="2"/>
                            </a:rPr>
                          </m:ctrlPr>
                        </m:fPr>
                        <m:num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2</m:t>
                          </m:r>
                          <m:r>
                            <a:rPr lang="zh-CN" alt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𝜋</m:t>
                          </m:r>
                        </m:num>
                        <m:den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3511" y="1940564"/>
                <a:ext cx="609141" cy="501356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/>
              <p:cNvSpPr/>
              <p:nvPr/>
            </p:nvSpPr>
            <p:spPr>
              <a:xfrm>
                <a:off x="10437383" y="1939136"/>
                <a:ext cx="848950" cy="5013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400" i="1" smtClean="0">
                              <a:solidFill>
                                <a:schemeClr val="tx1"/>
                              </a:solidFill>
                              <a:latin typeface="Cambria Math" charset="0"/>
                              <a:sym typeface="Symbol" panose="05050102010706020507" pitchFamily="18" charset="2"/>
                            </a:rPr>
                          </m:ctrlPr>
                        </m:fPr>
                        <m:num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𝑙</m:t>
                          </m:r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+1</m:t>
                          </m:r>
                        </m:num>
                        <m:den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𝑁</m:t>
                          </m:r>
                        </m:den>
                      </m:f>
                      <m:f>
                        <m:fPr>
                          <m:ctrlP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charset="0"/>
                              <a:sym typeface="Symbol" panose="05050102010706020507" pitchFamily="18" charset="2"/>
                            </a:rPr>
                          </m:ctrlPr>
                        </m:fPr>
                        <m:num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2</m:t>
                          </m:r>
                          <m:r>
                            <a:rPr lang="zh-CN" alt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𝜋</m:t>
                          </m:r>
                        </m:num>
                        <m:den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7383" y="1939136"/>
                <a:ext cx="848950" cy="501356"/>
              </a:xfrm>
              <a:prstGeom prst="rect">
                <a:avLst/>
              </a:prstGeom>
              <a:blipFill rotWithShape="1">
                <a:blip r:embed="rId7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直接箭头连接符 25"/>
          <p:cNvCxnSpPr/>
          <p:nvPr/>
        </p:nvCxnSpPr>
        <p:spPr>
          <a:xfrm>
            <a:off x="10128082" y="2433374"/>
            <a:ext cx="192538" cy="2393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flipH="1">
            <a:off x="10398468" y="2433374"/>
            <a:ext cx="220615" cy="2393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4823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24538" y="402314"/>
            <a:ext cx="6699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</a:t>
            </a:r>
            <a:r>
              <a:rPr lang="zh-CN" altLang="en-US" sz="3200" dirty="0"/>
              <a:t>四</a:t>
            </a:r>
            <a:r>
              <a:rPr lang="zh-CN" altLang="en-US" sz="3200" dirty="0" smtClean="0"/>
              <a:t>章  晶格振动和晶体的热学性质</a:t>
            </a:r>
            <a:endParaRPr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106235" y="1800079"/>
                <a:ext cx="9956505" cy="45336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晶格振动的能量是多少？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4.3.1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格波坐标（以一维单原子链为例）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endParaRPr lang="en-US" altLang="zh-CN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𝜇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𝑛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  <m:sup/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[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𝑖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(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𝑞𝑛𝑎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sym typeface="Symbol" panose="05050102010706020507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𝑞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𝑡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)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+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𝐴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∗</m:t>
                        </m:r>
                      </m:sup>
                    </m:sSubSup>
                    <m:sSup>
                      <m:sSup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−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(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𝑞𝑛𝑎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𝑡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]=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  <m:sup/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[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𝑖𝑞𝑛𝑎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+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∗</m:t>
                        </m:r>
                      </m:sup>
                    </m:sSubSup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−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𝑖𝑞𝑛𝑎</m:t>
                        </m:r>
                      </m:sup>
                    </m:sSup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]</a:t>
                </a:r>
              </a:p>
              <a:p>
                <a:r>
                  <a:rPr lang="zh-CN" altLang="en-US" sz="2400" dirty="0">
                    <a:solidFill>
                      <a:schemeClr val="tx1"/>
                    </a:solidFill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𝐴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−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𝑡</m:t>
                        </m:r>
                      </m:sup>
                    </m:sSup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acc>
                          <m:accPr>
                            <m:chr m:val="̇"/>
                            <m:ctrlP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sym typeface="Symbol" panose="05050102010706020507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𝑛</m:t>
                                </m:r>
                              </m:sub>
                            </m:sSub>
                          </m:e>
                        </m:acc>
                        <m:acc>
                          <m:accPr>
                            <m:chr m:val="̇"/>
                            <m:ctrlPr>
                              <a:rPr lang="en-US" altLang="zh-CN" sz="2400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sym typeface="Symbol" panose="05050102010706020507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𝑛</m:t>
                                </m:r>
                              </m:sub>
                            </m:sSub>
                          </m:e>
                        </m:acc>
                      </m:e>
                    </m:nary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  <m:sup/>
                          <m:e>
                            <m:acc>
                              <m:accPr>
                                <m:chr m:val="̇"/>
                                <m:ctrlPr>
                                  <a:rPr lang="en-US" altLang="zh-CN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  <a:sym typeface="Symbol" panose="05050102010706020507" pitchFamily="18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Symbol" panose="05050102010706020507" pitchFamily="18" charset="2"/>
                                      </a:rPr>
                                      <m:t>[</m:t>
                                    </m:r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Symbol" panose="05050102010706020507" pitchFamily="18" charset="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Symbol" panose="05050102010706020507" pitchFamily="18" charset="2"/>
                                      </a:rPr>
                                      <m:t>𝑞</m:t>
                                    </m:r>
                                  </m:sub>
                                </m:sSub>
                              </m:e>
                            </m:acc>
                          </m:e>
                        </m:nary>
                      </m:e>
                    </m:nary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𝑖𝑞𝑛𝑎</m:t>
                        </m:r>
                      </m:sup>
                    </m:sSup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∗</m:t>
                            </m:r>
                          </m:sup>
                        </m:sSubSup>
                      </m:e>
                    </m:acc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−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𝑖𝑞𝑛𝑎</m:t>
                        </m:r>
                      </m:sup>
                    </m:sSup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]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acc>
                              <m:accPr>
                                <m:chr m:val="̇"/>
                                <m:ctrlP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sym typeface="Symbol" panose="05050102010706020507" pitchFamily="18" charset="2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  <a:sym typeface="Symbol" panose="05050102010706020507" pitchFamily="18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Symbol" panose="05050102010706020507" pitchFamily="18" charset="2"/>
                                      </a:rPr>
                                      <m:t>[</m:t>
                                    </m:r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Symbol" panose="05050102010706020507" pitchFamily="18" charset="2"/>
                                      </a:rPr>
                                      <m:t>𝑎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  <a:sym typeface="Symbol" panose="05050102010706020507" pitchFamily="18" charset="2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Symbol" panose="05050102010706020507" pitchFamily="18" charset="2"/>
                                          </a:rPr>
                                          <m:t>𝑞</m:t>
                                        </m:r>
                                      </m:e>
                                      <m:sup>
                                        <m:r>
                                          <a:rPr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Symbol" panose="05050102010706020507" pitchFamily="18" charset="2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</m:sSub>
                              </m:e>
                            </m:acc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𝑖𝑞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′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𝑛𝑎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zh-CN" sz="2400" dirty="0">
                            <a:solidFill>
                              <a:schemeClr val="tx1"/>
                            </a:solidFill>
                          </a:rPr>
                          <m:t>+</m:t>
                        </m:r>
                        <m:acc>
                          <m:accPr>
                            <m:chr m:val="̇"/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accPr>
                          <m:e>
                            <m:sSubSup>
                              <m:sSubSup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sym typeface="Symbol" panose="05050102010706020507" pitchFamily="18" charset="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𝑎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  <a:sym typeface="Symbol" panose="05050102010706020507" pitchFamily="18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Symbol" panose="05050102010706020507" pitchFamily="18" charset="2"/>
                                      </a:rPr>
                                      <m:t>𝑞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Symbol" panose="05050102010706020507" pitchFamily="18" charset="2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  <m:sup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∗</m:t>
                                </m:r>
                              </m:sup>
                            </m:sSubSup>
                          </m:e>
                        </m:acc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−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𝑖𝑞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′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𝑛𝑎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zh-CN" sz="2400" dirty="0">
                            <a:solidFill>
                              <a:schemeClr val="tx1"/>
                            </a:solidFill>
                          </a:rPr>
                          <m:t>]</m:t>
                        </m:r>
                      </m:e>
                    </m:nary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altLang="zh-CN" sz="2400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zh-CN" altLang="en-US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  <m:sup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[2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∗</m:t>
                            </m:r>
                          </m:sup>
                        </m:sSub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−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∗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−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∗</m:t>
                            </m:r>
                          </m:sup>
                        </m:sSubSup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  <a:p>
                <a:r>
                  <a:rPr lang="en-US" altLang="zh-CN" sz="2400" dirty="0">
                    <a:sym typeface="Wingdings" panose="05000000000000000000" pitchFamily="2" charset="2"/>
                  </a:rPr>
                  <a:t>*</a:t>
                </a:r>
                <a:r>
                  <a:rPr lang="zh-CN" altLang="en-US" sz="2400" i="1" dirty="0" smtClean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为什么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/>
                      <m:e>
                        <m:r>
                          <a:rPr lang="zh-CN" alt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和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  <m:sup/>
                          <m:e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nary>
                      </m:e>
                    </m:nary>
                  </m:oMath>
                </a14:m>
                <a:r>
                  <a:rPr lang="zh-CN" altLang="en-US" sz="2400" i="1" dirty="0" smtClean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消失了？</a:t>
                </a:r>
                <a:r>
                  <a:rPr lang="en-US" altLang="zh-CN" sz="2400" i="1" dirty="0" smtClean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	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Wingdings" panose="05000000000000000000" pitchFamily="2" charset="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𝑖𝑞𝑛𝑎</m:t>
                            </m:r>
                          </m:sup>
                        </m:s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={</m:t>
                        </m:r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0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 ,  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𝑞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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𝑁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 , 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𝑞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=0</m:t>
                              </m:r>
                            </m:e>
                          </m:mr>
                        </m:m>
                      </m:e>
                    </m:nary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	</a:t>
                </a: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235" y="1800079"/>
                <a:ext cx="9956505" cy="4533613"/>
              </a:xfrm>
              <a:prstGeom prst="rect">
                <a:avLst/>
              </a:prstGeom>
              <a:blipFill rotWithShape="1">
                <a:blip r:embed="rId2"/>
                <a:stretch>
                  <a:fillRect l="-1224" t="-14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4158897" y="1261964"/>
            <a:ext cx="3968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§ 4.3 </a:t>
            </a:r>
            <a:r>
              <a:rPr lang="zh-CN" altLang="en-US" sz="2400" dirty="0" smtClean="0"/>
              <a:t>简正坐标和格波量子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28717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24538" y="402314"/>
            <a:ext cx="6699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</a:t>
            </a:r>
            <a:r>
              <a:rPr lang="zh-CN" altLang="en-US" sz="3200" dirty="0"/>
              <a:t>四</a:t>
            </a:r>
            <a:r>
              <a:rPr lang="zh-CN" altLang="en-US" sz="3200" dirty="0" smtClean="0"/>
              <a:t>章  晶格振动和晶体的热学性质</a:t>
            </a:r>
            <a:endParaRPr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106235" y="1800079"/>
                <a:ext cx="10706014" cy="4935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晶格振动的能量是多少？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4.3.1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格波坐标（以一维单原子链为例）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endParaRPr lang="en-US" altLang="zh-CN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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sym typeface="Symbol" panose="05050102010706020507" pitchFamily="18" charset="2"/>
                            </a:rPr>
                          </m:ctrlPr>
                        </m:fPr>
                        <m:num>
                          <m:r>
                            <a:rPr lang="zh-CN" alt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𝛽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sym typeface="Symbol" panose="05050102010706020507" pitchFamily="18" charset="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𝑛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𝑁</m:t>
                          </m:r>
                        </m:sup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  <a:sym typeface="Symbol" panose="05050102010706020507" pitchFamily="18" charset="2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  <a:sym typeface="Symbol" panose="05050102010706020507" pitchFamily="18" charset="2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𝑛</m:t>
                              </m:r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)(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  <a:sym typeface="Symbol" panose="05050102010706020507" pitchFamily="18" charset="2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  <a:sym typeface="Symbol" panose="05050102010706020507" pitchFamily="18" charset="2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𝑛</m:t>
                              </m:r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)</m:t>
                          </m:r>
                        </m:e>
                      </m:nary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/>
                          <a:sym typeface="Symbol" panose="05050102010706020507" pitchFamily="18" charset="2"/>
                        </a:rPr>
                        <m:t>…=</m:t>
                      </m:r>
                      <m:f>
                        <m:fPr>
                          <m:ctrlPr>
                            <a:rPr lang="en-US" altLang="zh-CN" sz="2400" i="1" dirty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 altLang="zh-CN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sz="2400" i="1" dirty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  <m:sup>
                              <m:r>
                                <a:rPr lang="en-US" altLang="zh-CN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  <a:sym typeface="Symbol" panose="05050102010706020507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𝑞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  <a:sym typeface="Symbol" panose="05050102010706020507" pitchFamily="18" charset="2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𝑞</m:t>
                              </m:r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  <a:sym typeface="Symbol" panose="05050102010706020507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𝑞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  <a:sym typeface="Symbol" panose="05050102010706020507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𝑞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  <a:sym typeface="Symbol" panose="05050102010706020507" pitchFamily="18" charset="2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𝑞</m:t>
                              </m:r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∗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  <a:sym typeface="Symbol" panose="05050102010706020507" pitchFamily="18" charset="2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𝑞</m:t>
                              </m:r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altLang="zh-CN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altLang="zh-CN" sz="2400" dirty="0" smtClean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所以，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𝐻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𝑇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+=2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𝑀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zh-CN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  <m:sup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∗</m:t>
                            </m:r>
                          </m:sup>
                        </m:sSubSup>
                      </m:e>
                    </m:nary>
                  </m:oMath>
                </a14:m>
                <a:endParaRPr lang="en-US" altLang="zh-CN" sz="2400" dirty="0" smtClean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做变换：</a:t>
                </a:r>
                <a:endParaRPr lang="en-US" altLang="zh-CN" sz="2400" dirty="0" smtClean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𝑞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𝑞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charset="0"/>
                              <a:sym typeface="Symbol" panose="05050102010706020507" pitchFamily="18" charset="2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𝑞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altLang="zh-CN" sz="2400" dirty="0" smtClean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𝑀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zh-CN" alt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sub>
                        </m:sSub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</m:den>
                    </m:f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(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−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∗</m:t>
                        </m:r>
                      </m:sup>
                    </m:sSub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)=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𝑀</m:t>
                    </m:r>
                    <m:acc>
                      <m:accPr>
                        <m:chr m:val="̇"/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	</a:t>
                </a:r>
                <a:r>
                  <a:rPr lang="en-US" altLang="zh-CN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𝐻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Wingdings" panose="05000000000000000000" pitchFamily="2" charset="2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𝑞</m:t>
                        </m:r>
                      </m:sub>
                      <m:sup/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[</m:t>
                        </m:r>
                        <m:f>
                          <m:f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𝑀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sym typeface="Symbol" panose="05050102010706020507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𝑞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𝑀</m:t>
                        </m:r>
                        <m:sSubSup>
                          <m:sSubSupPr>
                            <m:ctrlP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zh-CN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  <m:sup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p>
                          <m:sSupPr>
                            <m:ctrlPr>
                              <a:rPr lang="en-US" altLang="zh-CN" sz="2400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sym typeface="Symbol" panose="05050102010706020507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𝑞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]</m:t>
                        </m:r>
                      </m:e>
                    </m:nary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Wingdings" panose="05000000000000000000" pitchFamily="2" charset="2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𝑞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𝑞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𝑀</m:t>
                          </m:r>
                        </m:den>
                      </m:f>
                      <m:sSup>
                        <m:sSup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  <a:sym typeface="Symbol" panose="05050102010706020507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𝑞</m:t>
                              </m:r>
                            </m:sub>
                          </m:sSub>
                        </m:e>
                        <m:sup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sup>
                      </m:sSup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+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den>
                      </m:f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𝑀</m:t>
                      </m:r>
                      <m:sSubSup>
                        <m:sSubSupPr>
                          <m:ctrlPr>
                            <a:rPr lang="en-US" altLang="zh-CN" sz="2400" i="1" dirty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zh-CN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  <m:sup>
                          <m:r>
                            <a:rPr lang="en-US" altLang="zh-CN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p>
                        <m:sSupPr>
                          <m:ctrlPr>
                            <a:rPr lang="en-US" altLang="zh-CN" sz="2400" i="1" dirty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  <a:sym typeface="Symbol" panose="05050102010706020507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𝑞</m:t>
                              </m:r>
                            </m:sub>
                          </m:sSub>
                        </m:e>
                        <m:sup>
                          <m:r>
                            <a:rPr lang="en-US" altLang="zh-CN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2400" dirty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235" y="1800079"/>
                <a:ext cx="10706014" cy="4935775"/>
              </a:xfrm>
              <a:prstGeom prst="rect">
                <a:avLst/>
              </a:prstGeom>
              <a:blipFill rotWithShape="1">
                <a:blip r:embed="rId2"/>
                <a:stretch>
                  <a:fillRect l="-1138" t="-13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4158897" y="1261964"/>
            <a:ext cx="3968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§ 4.3 </a:t>
            </a:r>
            <a:r>
              <a:rPr lang="zh-CN" altLang="en-US" sz="2400" dirty="0" smtClean="0"/>
              <a:t>简正坐标和格波量子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30688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24538" y="402314"/>
            <a:ext cx="6699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</a:t>
            </a:r>
            <a:r>
              <a:rPr lang="zh-CN" altLang="en-US" sz="3200" dirty="0"/>
              <a:t>四</a:t>
            </a:r>
            <a:r>
              <a:rPr lang="zh-CN" altLang="en-US" sz="3200" dirty="0" smtClean="0"/>
              <a:t>章  晶格振动和晶体的热学性质</a:t>
            </a:r>
            <a:endParaRPr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106235" y="1874727"/>
                <a:ext cx="9956505" cy="43341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格波的能量相当于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个谐振子的能量之和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4.3.2 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格波的量子理论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𝐻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𝑀</m:t>
                        </m:r>
                      </m:den>
                    </m:f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sub>
                        </m:sSub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den>
                    </m:f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𝑀</m:t>
                    </m:r>
                    <m:sSubSup>
                      <m:sSubSup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zh-CN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p>
                      <m:sSup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sub>
                        </m:sSub>
                      </m:e>
                      <m:sup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	</a:t>
                </a:r>
                <a:r>
                  <a:rPr lang="zh-CN" altLang="en-US" sz="2400" dirty="0" smtClean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量子化：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</m:t>
                    </m:r>
                    <m:f>
                      <m:f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ℏ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</m:den>
                    </m:f>
                    <m:f>
                      <m:f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𝜕</m:t>
                        </m:r>
                      </m:num>
                      <m:den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sz="2400" dirty="0" smtClean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  <a:p>
                <a:r>
                  <a:rPr lang="en-US" altLang="zh-CN" sz="24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</a:t>
                </a:r>
                <a:r>
                  <a:rPr lang="zh-CN" altLang="en-US" sz="2400" dirty="0" smtClean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薛定谔方程：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ℏ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𝑀</m:t>
                            </m:r>
                          </m:den>
                        </m:f>
                        <m:f>
                          <m:f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𝑑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lang="en-US" altLang="zh-CN" sz="2400" i="1" dirty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  <a:sym typeface="Symbol" panose="05050102010706020507" pitchFamily="18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Symbol" panose="05050102010706020507" pitchFamily="18" charset="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Symbol" panose="05050102010706020507" pitchFamily="18" charset="2"/>
                                      </a:rPr>
                                      <m:t>𝑞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altLang="zh-CN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𝑀</m:t>
                        </m:r>
                        <m:sSubSup>
                          <m:sSubSupPr>
                            <m:ctrlP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zh-CN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  <m:sup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p>
                          <m:sSupPr>
                            <m:ctrlP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sym typeface="Symbol" panose="05050102010706020507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𝑞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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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400" dirty="0" smtClean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解：</a:t>
                </a:r>
                <a:r>
                  <a:rPr lang="en-US" altLang="zh-CN" sz="2400" dirty="0">
                    <a:sym typeface="Wingdings" panose="05000000000000000000" pitchFamily="2" charset="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sub>
                        </m:sSub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ℏ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𝜔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 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𝑛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=0,  1,  2,  3</m:t>
                    </m:r>
                  </m:oMath>
                </a14:m>
                <a:endParaRPr lang="en-US" altLang="zh-CN" sz="2400" dirty="0" smtClean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*能量量子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ℏ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𝜔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称为声子，可产生和湮灭，是玻色子，满足：</a:t>
                </a:r>
                <a:endParaRPr lang="en-US" altLang="zh-CN" sz="2400" dirty="0" smtClean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charset="0"/>
                              <a:sym typeface="Wingdings" panose="05000000000000000000" pitchFamily="2" charset="2"/>
                            </a:rPr>
                          </m:ctrlPr>
                        </m:bar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𝑛</m:t>
                          </m:r>
                        </m:e>
                      </m:ba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𝑞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ℏ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sym typeface="Symbol" panose="05050102010706020507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𝑞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sym typeface="Symbol" panose="05050102010706020507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altLang="zh-CN" sz="2400" dirty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235" y="1874727"/>
                <a:ext cx="9956505" cy="4334135"/>
              </a:xfrm>
              <a:prstGeom prst="rect">
                <a:avLst/>
              </a:prstGeom>
              <a:blipFill rotWithShape="1">
                <a:blip r:embed="rId2"/>
                <a:stretch>
                  <a:fillRect l="-918" t="-15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4158897" y="1261964"/>
            <a:ext cx="3968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§ 4.3 </a:t>
            </a:r>
            <a:r>
              <a:rPr lang="zh-CN" altLang="en-US" sz="2400" dirty="0" smtClean="0"/>
              <a:t>简正坐标和格波量子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35823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24538" y="402314"/>
            <a:ext cx="6699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</a:t>
            </a:r>
            <a:r>
              <a:rPr lang="zh-CN" altLang="en-US" sz="3200" dirty="0"/>
              <a:t>四</a:t>
            </a:r>
            <a:r>
              <a:rPr lang="zh-CN" altLang="en-US" sz="3200" dirty="0" smtClean="0"/>
              <a:t>章  晶格振动和晶体的热学性质</a:t>
            </a:r>
            <a:endParaRPr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106235" y="1857272"/>
                <a:ext cx="10788459" cy="479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三维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复式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晶格有何不同？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4.4.1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动力学矩阵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acc>
                      <m:accPr>
                        <m:chr m:val="⃗"/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</m:acc>
                    <m:d>
                      <m:d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𝑙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</m:e>
                    </m:d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2400" i="1" dirty="0" smtClean="0">
                    <a:solidFill>
                      <a:schemeClr val="tx1"/>
                    </a:solidFill>
                    <a:latin typeface="Cambria Math" charset="0"/>
                    <a:ea typeface="Cambria Math" charset="0"/>
                    <a:cs typeface="Cambria Math" charset="0"/>
                  </a:rPr>
                  <a:t>l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400" dirty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=1</m:t>
                    </m:r>
                    <m:r>
                      <m:rPr>
                        <m:nor/>
                      </m:rPr>
                      <a:rPr lang="en-US" altLang="zh-CN" sz="2400" b="0" i="0" dirty="0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, 2, 3</m:t>
                    </m:r>
                    <m:r>
                      <m:rPr>
                        <m:nor/>
                      </m:rPr>
                      <a:rPr lang="zh-CN" altLang="en-US" sz="2400" dirty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  <a:sym typeface="Symbol" panose="05050102010706020507" pitchFamily="18" charset="2"/>
                      </a:rPr>
                      <m:t></m:t>
                    </m:r>
                    <m:r>
                      <m:rPr>
                        <m:nor/>
                      </m:rPr>
                      <a:rPr lang="en-US" altLang="zh-CN" sz="2400" b="0" i="0" dirty="0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  <a:sym typeface="Symbol" panose="05050102010706020507" pitchFamily="18" charset="2"/>
                      </a:rPr>
                      <m:t>N</m:t>
                    </m:r>
                    <m:r>
                      <m:rPr>
                        <m:nor/>
                      </m:rPr>
                      <a:rPr lang="en-US" altLang="zh-CN" sz="2400" b="0" i="0" dirty="0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  <a:sym typeface="Symbol" panose="05050102010706020507" pitchFamily="18" charset="2"/>
                      </a:rPr>
                      <m:t>; </m:t>
                    </m:r>
                    <m:r>
                      <m:rPr>
                        <m:nor/>
                      </m:rPr>
                      <a:rPr lang="en-US" altLang="zh-CN" sz="2400" b="0" i="0" dirty="0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  <a:sym typeface="Symbol" panose="05050102010706020507" pitchFamily="18" charset="2"/>
                      </a:rPr>
                      <m:t>s</m:t>
                    </m:r>
                    <m:r>
                      <m:rPr>
                        <m:nor/>
                      </m:rPr>
                      <a:rPr lang="en-US" altLang="zh-CN" sz="2400" b="0" i="0" dirty="0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  <a:sym typeface="Symbol" panose="05050102010706020507" pitchFamily="18" charset="2"/>
                      </a:rPr>
                      <m:t>=1, 2, 3</m:t>
                    </m:r>
                    <m:r>
                      <m:rPr>
                        <m:nor/>
                      </m:rPr>
                      <a:rPr lang="zh-CN" altLang="en-US" sz="2400" dirty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  <a:sym typeface="Symbol" panose="05050102010706020507" pitchFamily="18" charset="2"/>
                      </a:rPr>
                      <m:t></m:t>
                    </m:r>
                    <m:r>
                      <m:rPr>
                        <m:nor/>
                      </m:rPr>
                      <a:rPr lang="en-US" altLang="zh-CN" sz="2400" b="0" i="0" dirty="0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  <a:sym typeface="Symbol" panose="05050102010706020507" pitchFamily="18" charset="2"/>
                      </a:rPr>
                      <m:t>r</m:t>
                    </m:r>
                  </m:oMath>
                </a14:m>
                <a:endParaRPr lang="en-US" altLang="zh-CN" sz="2400" b="0" dirty="0" smtClean="0">
                  <a:solidFill>
                    <a:schemeClr val="tx1"/>
                  </a:solidFill>
                  <a:latin typeface="Cambria Math" charset="0"/>
                  <a:ea typeface="Cambria Math" charset="0"/>
                  <a:cs typeface="Cambria Math" charset="0"/>
                  <a:sym typeface="Symbol" panose="05050102010706020507" pitchFamily="18" charset="2"/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运动方程：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f>
                      <m:f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zh-CN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den>
                            </m:f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m:rPr>
                                <m:brk m:alnAt="7"/>
                              </m:r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m:rPr>
                                <m:brk m:alnAt="7"/>
                              </m:r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brk m:alnAt="7"/>
                          </m:rPr>
                          <a:rPr lang="zh-CN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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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den>
                            </m:f>
                          </m:e>
                        </m:d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zh-CN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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  <m:sup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endParaRPr lang="en-US" altLang="zh-CN" sz="2400" b="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试探解：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d>
                        <m:d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num>
                            <m:den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</m:e>
                      </m: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acc>
                        <m:accPr>
                          <m:chr m:val="⃑"/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</m:e>
                      </m:acc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⃗"/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  <m: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acc>
                            <m:accPr>
                              <m:chr m:val="⃗"/>
                              <m:ctrlPr>
                                <a:rPr lang="en-US" altLang="zh-CN" sz="240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代入运动方程，得：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m:rPr>
                                <m:brk m:alnAt="7"/>
                              </m:r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brk m:alnAt="7"/>
                          </m:r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  <m:sup/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zh-CN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𝛼𝛽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sSup>
                              <m:sSupPr>
                                <m:ctrlP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zh-CN" alt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𝛼𝛽</m:t>
                            </m:r>
                          </m:sub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sSup>
                              <m:sSupPr>
                                <m:ctrlP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p>
                        </m:sSub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)]</m:t>
                        </m:r>
                        <m:sSubSup>
                          <m:sSubSup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zh-CN" alt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sub>
                          <m:sup>
                            <m:sSup>
                              <m:sSupPr>
                                <m:ctrlP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p>
                        </m:sSub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acc>
                      <m:accPr>
                        <m:chr m:val="⃗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,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其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𝛼𝛽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bSup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</m:e>
                    </m:d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m:rPr>
                                <m:brk m:alnAt="7"/>
                              </m:r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/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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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nary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acc>
                          <m:accPr>
                            <m:chr m:val="⃗"/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d>
                          <m:d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⃗"/>
                                <m:ctrlPr>
                                  <a:rPr lang="en-US" altLang="zh-CN" sz="240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e>
                                      <m:sup>
                                        <m:r>
                                          <a:rPr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</m:sSub>
                              </m:e>
                            </m:acc>
                          </m:e>
                        </m:d>
                      </m:sup>
                    </m:sSup>
                  </m:oMath>
                </a14:m>
                <a:endParaRPr lang="en-US" altLang="zh-CN" sz="2400" dirty="0" smtClean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235" y="1857272"/>
                <a:ext cx="10788459" cy="4796249"/>
              </a:xfrm>
              <a:prstGeom prst="rect">
                <a:avLst/>
              </a:prstGeom>
              <a:blipFill rotWithShape="0">
                <a:blip r:embed="rId2"/>
                <a:stretch>
                  <a:fillRect l="-1130" t="-13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4158897" y="1261964"/>
            <a:ext cx="3968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§ 4.4 </a:t>
            </a:r>
            <a:r>
              <a:rPr lang="zh-CN" altLang="en-US" sz="2400" dirty="0" smtClean="0"/>
              <a:t>三维晶格的振动模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33882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24538" y="402314"/>
            <a:ext cx="6699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</a:t>
            </a:r>
            <a:r>
              <a:rPr lang="zh-CN" altLang="en-US" sz="3200" dirty="0"/>
              <a:t>四</a:t>
            </a:r>
            <a:r>
              <a:rPr lang="zh-CN" altLang="en-US" sz="3200" dirty="0" smtClean="0"/>
              <a:t>章  晶格振动和晶体的热学性质</a:t>
            </a:r>
            <a:endParaRPr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106235" y="1857272"/>
                <a:ext cx="10788459" cy="45261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三维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复式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晶格有何不同？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4.4.1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动力学矩阵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altLang="zh-CN" sz="2400" i="1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m:rPr>
                                <m:brk m:alnAt="7"/>
                              </m:r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brk m:alnAt="7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  <m:sup/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2400" i="1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altLang="zh-CN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𝛼𝛽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zh-CN" sz="2400" i="1"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𝛼𝛽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p>
                        </m:sSub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US" altLang="zh-CN" sz="2400" i="1"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)]</m:t>
                        </m:r>
                        <m:sSubSup>
                          <m:sSubSupPr>
                            <m:ctrlPr>
                              <a:rPr lang="en-US" altLang="zh-CN" sz="2400" i="1"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sub>
                          <m:sup>
                            <m:sSup>
                              <m:sSupPr>
                                <m:ctrlPr>
                                  <a:rPr lang="en-US" altLang="zh-CN" sz="2400" i="1"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p>
                        </m:sSub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acc>
                      <m:accPr>
                        <m:chr m:val="⃗"/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r>
                  <a:rPr lang="en-US" altLang="zh-CN" sz="2400" dirty="0"/>
                  <a:t>	,</a:t>
                </a:r>
                <a:r>
                  <a:rPr lang="zh-CN" altLang="en-US" sz="2400" dirty="0"/>
                  <a:t>其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𝛼𝛽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bSup>
                    <m:d>
                      <m:d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2400" i="1"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altLang="zh-CN" sz="2400" i="1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m:rPr>
                                <m:brk m:alnAt="7"/>
                              </m:r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/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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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i="1">
                                <a:latin typeface="Cambria Math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altLang="zh-CN" sz="2400" i="1">
                                    <a:latin typeface="Cambria Math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nary>
                    <m:sSup>
                      <m:sSupPr>
                        <m:ctrlPr>
                          <a:rPr lang="en-US" altLang="zh-CN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acc>
                          <m:accPr>
                            <m:chr m:val="⃗"/>
                            <m:ctrlPr>
                              <a:rPr lang="en-US" altLang="zh-CN" sz="2400" i="1">
                                <a:latin typeface="Cambria Math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altLang="zh-CN" sz="2400" i="1">
                                    <a:latin typeface="Cambria Math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⃗"/>
                                <m:ctrlPr>
                                  <a:rPr lang="en-US" altLang="zh-CN" sz="2400" i="1">
                                    <a:latin typeface="Cambria Math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altLang="zh-CN" sz="2400" i="1">
                                            <a:latin typeface="Cambria Math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e>
                                      <m:sup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</m:sSub>
                              </m:e>
                            </m:acc>
                          </m:e>
                        </m:d>
                      </m:sup>
                    </m:sSup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以双原子复式晶格为例，上式代表：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1 1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  <m:sup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1 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1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altLang="zh-CN" sz="24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</m:mr>
                          <m:m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altLang="zh-CN" sz="2400" i="1">
                                          <a:solidFill>
                                            <a:schemeClr val="tx1"/>
                                          </a:solidFill>
                                          <a:latin typeface="Cambria Math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acc>
                            </m:e>
                          </m:mr>
                        </m:m>
                      </m:e>
                    </m:d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0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或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：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mPr>
                                <m:mr>
                                  <m:e/>
                                  <m:e/>
                                  <m:e/>
                                </m:mr>
                                <m:mr>
                                  <m:e/>
                                  <m:e/>
                                  <m:e/>
                                </m:mr>
                                <m:mr>
                                  <m:e/>
                                  <m:e/>
                                  <m:e/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mPr>
                                <m:mr>
                                  <m:e/>
                                  <m:e/>
                                  <m:e/>
                                </m:mr>
                                <m:mr>
                                  <m:e/>
                                  <m:e/>
                                  <m:e/>
                                </m:mr>
                                <m:mr>
                                  <m:e/>
                                  <m:e/>
                                  <m:e/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mPr>
                                <m:mr>
                                  <m:e/>
                                  <m:e/>
                                  <m:e/>
                                </m:mr>
                                <m:mr>
                                  <m:e/>
                                  <m:e/>
                                  <m:e/>
                                </m:mr>
                                <m:mr>
                                  <m:e/>
                                  <m:e/>
                                  <m:e/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mPr>
                                <m:mr>
                                  <m:e/>
                                  <m:e/>
                                  <m:e/>
                                </m:mr>
                                <m:mr>
                                  <m:e/>
                                  <m:e/>
                                  <m:e/>
                                </m:mr>
                                <m:mr>
                                  <m:e/>
                                  <m:e/>
                                  <m:e/>
                                </m:mr>
                              </m:m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mPr>
                                <m:mr>
                                  <m:e/>
                                </m:mr>
                                <m:mr>
                                  <m:e/>
                                </m:mr>
                                <m:mr>
                                  <m:e/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mPr>
                                <m:mr>
                                  <m:e/>
                                </m:mr>
                                <m:mr>
                                  <m:e/>
                                </m:mr>
                                <m:mr>
                                  <m:e/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zh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235" y="1857272"/>
                <a:ext cx="10788459" cy="4526175"/>
              </a:xfrm>
              <a:prstGeom prst="rect">
                <a:avLst/>
              </a:prstGeom>
              <a:blipFill rotWithShape="1">
                <a:blip r:embed="rId2"/>
                <a:stretch>
                  <a:fillRect l="-1130" t="-14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4158897" y="1261964"/>
            <a:ext cx="3968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§ 4.4 </a:t>
            </a:r>
            <a:r>
              <a:rPr lang="zh-CN" altLang="en-US" sz="2400" dirty="0" smtClean="0"/>
              <a:t>三维晶格的振动模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37664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24538" y="402314"/>
            <a:ext cx="6699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</a:t>
            </a:r>
            <a:r>
              <a:rPr lang="zh-CN" altLang="en-US" sz="3200" dirty="0"/>
              <a:t>四</a:t>
            </a:r>
            <a:r>
              <a:rPr lang="zh-CN" altLang="en-US" sz="3200" dirty="0" smtClean="0"/>
              <a:t>章  晶格振动和晶体的热学性质</a:t>
            </a:r>
            <a:endParaRPr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106235" y="1874727"/>
                <a:ext cx="10743490" cy="47450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4.4.1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动力学矩阵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endParaRPr lang="en-US" altLang="zh-CN" dirty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令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，可得：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3r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个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的解。其中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3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个声频支，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3r-3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个光频支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4.4.2 </a:t>
                </a:r>
                <a:r>
                  <a:rPr lang="zh-CN" altLang="en-US" sz="2800" dirty="0">
                    <a:solidFill>
                      <a:schemeClr val="tx1"/>
                    </a:solidFill>
                  </a:rPr>
                  <a:t>格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波的模式数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endParaRPr lang="en-US" altLang="zh-CN" dirty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由波恩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-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卡门边界条件，得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acc>
                          <m:accPr>
                            <m:chr m:val="⃗"/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  <a:sym typeface="Symbol" panose="05050102010706020507" pitchFamily="18" charset="2"/>
                  </a:rPr>
                  <a:t>	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acc>
                      <m:accPr>
                        <m:chr m:val="⃗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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𝑛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,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𝑛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为整数</a:t>
                </a:r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		</a:t>
                </a:r>
                <a:r>
                  <a:rPr lang="en-US" altLang="zh-CN" sz="2400" dirty="0" smtClean="0">
                    <a:solidFill>
                      <a:schemeClr val="tx1"/>
                    </a:solidFill>
                    <a:sym typeface="Symbol" panose="05050102010706020507" pitchFamily="18" charset="2"/>
                  </a:rPr>
                  <a:t>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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acc>
                          <m:accPr>
                            <m:chr m:val="⃗"/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|</m:t>
                    </m:r>
                    <m:acc>
                      <m:accPr>
                        <m:chr m:val="⃗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|</m:t>
                    </m:r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>
                    <a:solidFill>
                      <a:schemeClr val="tx1"/>
                    </a:solidFill>
                  </a:rPr>
                  <a:t>		</a:t>
                </a:r>
                <a:r>
                  <a:rPr lang="en-US" altLang="zh-CN" sz="2400" dirty="0" smtClean="0">
                    <a:solidFill>
                      <a:schemeClr val="tx1"/>
                    </a:solidFill>
                    <a:sym typeface="Symbol" panose="05050102010706020507" pitchFamily="18" charset="2"/>
                  </a:rPr>
                  <a:t></a:t>
                </a:r>
                <a:r>
                  <a:rPr lang="en-US" altLang="zh-CN" sz="24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	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acc>
                      <m:accPr>
                        <m:chr m:val="⃗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acc>
                      <m:accPr>
                        <m:chr m:val="⃗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acc>
                      <m:accPr>
                        <m:chr m:val="⃗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,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共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个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在布里渊区中的密度：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acc>
                          <m:accPr>
                            <m:chr m:val="⃗"/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（</m:t>
                        </m:r>
                        <m:acc>
                          <m:accPr>
                            <m:chr m:val="⃗"/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  <m:r>
                          <m:rPr>
                            <m:sty m:val="p"/>
                          </m:r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acc>
                          <m:accPr>
                            <m:chr m:val="⃗"/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acc>
                        <m: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）</m:t>
                        </m:r>
                      </m:den>
                    </m:f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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(2</m:t>
                            </m:r>
                            <m:r>
                              <a:rPr lang="zh-CN" alt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(2</m:t>
                            </m:r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/>
                      </a:rPr>
                      <m:t>    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  <a:sym typeface="Symbol" panose="05050102010706020507" pitchFamily="18" charset="2"/>
                  </a:rPr>
                  <a:t>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naryPr>
                      <m:sub>
                        <m:acc>
                          <m:accPr>
                            <m:chr m:val="⃗"/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</m:sub>
                      <m:sup/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( )</m:t>
                        </m:r>
                      </m:e>
                    </m:nary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(2</m:t>
                            </m:r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</m:e>
                    </m:nary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235" y="1874727"/>
                <a:ext cx="10743490" cy="4745017"/>
              </a:xfrm>
              <a:prstGeom prst="rect">
                <a:avLst/>
              </a:prstGeom>
              <a:blipFill rotWithShape="1">
                <a:blip r:embed="rId2"/>
                <a:stretch>
                  <a:fillRect l="-1134" t="-16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4158897" y="1261964"/>
            <a:ext cx="3968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§ 4.4 </a:t>
            </a:r>
            <a:r>
              <a:rPr lang="zh-CN" altLang="en-US" sz="2400" dirty="0" smtClean="0"/>
              <a:t>三维晶格的振动模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24068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24538" y="402314"/>
            <a:ext cx="6699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</a:t>
            </a:r>
            <a:r>
              <a:rPr lang="zh-CN" altLang="en-US" sz="3200" dirty="0"/>
              <a:t>四</a:t>
            </a:r>
            <a:r>
              <a:rPr lang="zh-CN" altLang="en-US" sz="3200" dirty="0" smtClean="0"/>
              <a:t>章  晶格振动和晶体的热学性质</a:t>
            </a:r>
            <a:endParaRPr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757102" y="1865496"/>
                <a:ext cx="8037763" cy="4457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4.4.3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格波频谱密度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endParaRPr lang="en-US" altLang="zh-CN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zh-CN" alt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和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zh-CN" alt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之间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简正模式的个数：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)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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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𝑞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) 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sz="24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 =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1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，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2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，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3……3r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）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zh-CN" alt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nary>
                      <m:nary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zh-CN" alt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zh-CN" alt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m:rPr>
                            <m:nor/>
                          </m:rPr>
                          <a:rPr lang="en-US" altLang="zh-CN" sz="2400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sup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⃑"/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</m:e>
                    </m:nary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/>
                      <m:sup/>
                      <m:e>
                        <m:acc>
                          <m:accPr>
                            <m:chr m:val="⃑"/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e>
                    </m:nary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acc>
                      <m:accPr>
                        <m:chr m:val="⃑"/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</m:acc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𝑑𝑆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m:rPr>
                                <m:nor/>
                              </m:rPr>
                              <a:rPr lang="en-US" altLang="zh-CN" sz="2400" dirty="0">
                                <a:solidFill>
                                  <a:schemeClr val="tx1"/>
                                </a:solidFill>
                              </a:rPr>
                              <m:t> 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𝑔𝑟𝑎𝑑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e>
                    </m:nary>
                  </m:oMath>
                </a14:m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𝑑𝑆</m:t>
                            </m:r>
                            <m:r>
                              <m:rPr>
                                <m:nor/>
                              </m:rPr>
                              <a:rPr lang="en-US" altLang="zh-CN" sz="2400" dirty="0">
                                <a:solidFill>
                                  <a:schemeClr val="tx1"/>
                                </a:solidFill>
                              </a:rPr>
                              <m:t> 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𝑔𝑟𝑎𝑑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)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满足：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m:rPr>
                            <m:nor/>
                          </m:rPr>
                          <a:rPr lang="en-US" altLang="zh-CN" sz="2400" dirty="0">
                            <a:solidFill>
                              <a:schemeClr val="tx1"/>
                            </a:solidFill>
                          </a:rPr>
                          <m:t>)</m:t>
                        </m:r>
                      </m:e>
                    </m:nary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𝑟𝑁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</m:oMath>
                </a14:m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102" y="1865496"/>
                <a:ext cx="8037763" cy="4457246"/>
              </a:xfrm>
              <a:prstGeom prst="rect">
                <a:avLst/>
              </a:prstGeom>
              <a:blipFill rotWithShape="1">
                <a:blip r:embed="rId2"/>
                <a:stretch>
                  <a:fillRect l="-1516" t="-1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4158897" y="1261964"/>
            <a:ext cx="3968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§ 4.4 </a:t>
            </a:r>
            <a:r>
              <a:rPr lang="zh-CN" altLang="en-US" sz="2400" dirty="0" smtClean="0"/>
              <a:t>三维晶格的振动模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9363172" y="2681294"/>
                <a:ext cx="508473" cy="3629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b="0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3172" y="2681294"/>
                <a:ext cx="508473" cy="362984"/>
              </a:xfrm>
              <a:prstGeom prst="rect">
                <a:avLst/>
              </a:prstGeom>
              <a:blipFill rotWithShape="1">
                <a:blip r:embed="rId3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4"/>
          <a:srcRect l="11415" r="6117"/>
          <a:stretch/>
        </p:blipFill>
        <p:spPr>
          <a:xfrm>
            <a:off x="8611849" y="1071672"/>
            <a:ext cx="3267856" cy="338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552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035" y="1633148"/>
            <a:ext cx="3579452" cy="3765526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724538" y="402314"/>
            <a:ext cx="6699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</a:t>
            </a:r>
            <a:r>
              <a:rPr lang="zh-CN" altLang="en-US" sz="3200" dirty="0"/>
              <a:t>四</a:t>
            </a:r>
            <a:r>
              <a:rPr lang="zh-CN" altLang="en-US" sz="3200" dirty="0" smtClean="0"/>
              <a:t>章  晶格振动和晶体的热学性质</a:t>
            </a:r>
            <a:endParaRPr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472190" y="1865496"/>
                <a:ext cx="8322675" cy="4668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4.4.3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格波频谱密度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endParaRPr lang="en-US" altLang="zh-CN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𝑑𝑆</m:t>
                            </m:r>
                            <m:r>
                              <m:rPr>
                                <m:nor/>
                              </m:rPr>
                              <a:rPr lang="en-US" altLang="zh-CN" sz="2400" dirty="0">
                                <a:solidFill>
                                  <a:schemeClr val="tx1"/>
                                </a:solidFill>
                              </a:rPr>
                              <m:t> 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𝑔𝑟𝑎𝑑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:r>
                  <a:rPr lang="en-US" altLang="zh-CN" sz="2400" dirty="0" smtClean="0">
                    <a:solidFill>
                      <a:schemeClr val="tx1"/>
                    </a:solidFill>
                    <a:sym typeface="Symbol" panose="05050102010706020507" pitchFamily="18" charset="2"/>
                  </a:rPr>
                  <a:t>	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</m:t>
                        </m:r>
                      </m:sub>
                      <m:sup/>
                      <m:e>
                        <m:nary>
                          <m:naryPr>
                            <m:limLoc m:val="undOvr"/>
                            <m:subHide m:val="on"/>
                            <m:supHide m:val="on"/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naryPr>
                          <m:sub/>
                          <m:sup/>
                          <m:e>
                            <m:f>
                              <m:f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𝑑𝑆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dirty="0">
                                    <a:solidFill>
                                      <a:schemeClr val="tx1"/>
                                    </a:solidFill>
                                  </a:rPr>
                                  <m:t> 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𝑔𝑟𝑎𝑑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Symbol" panose="05050102010706020507" pitchFamily="18" charset="2"/>
                                      </a:rPr>
                                      <m:t>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den>
                            </m:f>
                          </m:e>
                        </m:nary>
                      </m:e>
                    </m:nary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爱因斯坦模型：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(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𝑞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)=</m:t>
                    </m:r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,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(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)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𝑑𝑞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,      				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𝑟𝑁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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(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)</m:t>
                    </m:r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徳拜模型：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(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𝑞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)=</m:t>
                    </m:r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𝑠</m:t>
                        </m:r>
                      </m:sub>
                    </m:sSub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∙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𝑞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  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，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/>
                  <a:t>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𝑑𝑆</m:t>
                            </m:r>
                            <m:r>
                              <m:rPr>
                                <m:nor/>
                              </m:rPr>
                              <a:rPr lang="en-US" altLang="zh-CN" sz="2400" dirty="0">
                                <a:solidFill>
                                  <a:schemeClr val="tx1"/>
                                </a:solidFill>
                              </a:rPr>
                              <m:t> 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𝑔𝑟𝑎𝑑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e>
                    </m:nary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𝑑𝑆</m:t>
                            </m:r>
                            <m:r>
                              <m:rPr>
                                <m:nor/>
                              </m:rPr>
                              <a:rPr lang="en-US" altLang="zh-CN" sz="2400" dirty="0">
                                <a:solidFill>
                                  <a:schemeClr val="tx1"/>
                                </a:solidFill>
                              </a:rPr>
                              <m:t> 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sym typeface="Symbol" panose="05050102010706020507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𝑠</m:t>
                                </m:r>
                              </m:sub>
                            </m:sSub>
                          </m:den>
                        </m:f>
                      </m:e>
                    </m:nary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sSup>
                          <m:sSup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𝑠</m:t>
                            </m:r>
                          </m:sub>
                        </m:sSub>
                      </m:den>
                    </m:f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zh-CN" alt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sym typeface="Symbol" panose="05050102010706020507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𝑠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i="1" dirty="0" smtClean="0">
                  <a:solidFill>
                    <a:schemeClr val="tx1"/>
                  </a:solidFill>
                </a:endParaRPr>
              </a:p>
              <a:p>
                <a:endParaRPr lang="en-US" altLang="zh-CN" sz="1600" i="1" dirty="0"/>
              </a:p>
              <a:p>
                <a:r>
                  <a:rPr lang="en-US" altLang="zh-CN" sz="1600" i="1" dirty="0" smtClean="0">
                    <a:solidFill>
                      <a:schemeClr val="tx1"/>
                    </a:solidFill>
                  </a:rPr>
                  <a:t>***</a:t>
                </a:r>
                <a:r>
                  <a:rPr lang="zh-CN" altLang="en-US" sz="1600" i="1" dirty="0" smtClean="0">
                    <a:solidFill>
                      <a:schemeClr val="tx1"/>
                    </a:solidFill>
                  </a:rPr>
                  <a:t>作业：计算一维单原子链的</a:t>
                </a:r>
                <a:r>
                  <a:rPr lang="zh-CN" altLang="en-US" sz="1600" i="1" dirty="0">
                    <a:solidFill>
                      <a:schemeClr val="tx1"/>
                    </a:solidFill>
                  </a:rPr>
                  <a:t>频谱</a:t>
                </a:r>
                <a:r>
                  <a:rPr lang="zh-CN" altLang="en-US" sz="1600" i="1" dirty="0" smtClean="0">
                    <a:solidFill>
                      <a:schemeClr val="tx1"/>
                    </a:solidFill>
                  </a:rPr>
                  <a:t>密度</a:t>
                </a:r>
                <a:endParaRPr lang="en-US" altLang="zh-CN" sz="16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190" y="1865496"/>
                <a:ext cx="8322675" cy="4668650"/>
              </a:xfrm>
              <a:prstGeom prst="rect">
                <a:avLst/>
              </a:prstGeom>
              <a:blipFill rotWithShape="1">
                <a:blip r:embed="rId3"/>
                <a:stretch>
                  <a:fillRect l="-1464" t="-1697" b="-7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4158897" y="1261964"/>
            <a:ext cx="3968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§ 4.4 </a:t>
            </a:r>
            <a:r>
              <a:rPr lang="zh-CN" altLang="en-US" sz="2400" dirty="0" smtClean="0"/>
              <a:t>三维晶格的振动模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57873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24538" y="402314"/>
            <a:ext cx="6699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</a:t>
            </a:r>
            <a:r>
              <a:rPr lang="zh-CN" altLang="en-US" sz="3200" dirty="0"/>
              <a:t>四</a:t>
            </a:r>
            <a:r>
              <a:rPr lang="zh-CN" altLang="en-US" sz="3200" dirty="0" smtClean="0"/>
              <a:t>章  晶格振动和晶体的热学性质</a:t>
            </a:r>
            <a:endParaRPr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757102" y="1865496"/>
                <a:ext cx="8037763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4.4.4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范霍夫奇性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endParaRPr lang="en-US" altLang="zh-CN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𝑔𝑟𝑎𝑑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=0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处（高对称点），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)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会发生奇性</a:t>
                </a:r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endParaRPr lang="en-US" altLang="zh-C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102" y="1865496"/>
                <a:ext cx="8037763" cy="1446550"/>
              </a:xfrm>
              <a:prstGeom prst="rect">
                <a:avLst/>
              </a:prstGeom>
              <a:blipFill rotWithShape="1">
                <a:blip r:embed="rId2"/>
                <a:stretch>
                  <a:fillRect l="-1516" t="-54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4158897" y="1261964"/>
            <a:ext cx="3968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§ 4.4 </a:t>
            </a:r>
            <a:r>
              <a:rPr lang="zh-CN" altLang="en-US" sz="2400" dirty="0" smtClean="0"/>
              <a:t>三维晶格的振动模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9363172" y="2681294"/>
                <a:ext cx="508473" cy="3629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b="0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3172" y="2681294"/>
                <a:ext cx="508473" cy="362984"/>
              </a:xfrm>
              <a:prstGeom prst="rect">
                <a:avLst/>
              </a:prstGeom>
              <a:blipFill rotWithShape="1">
                <a:blip r:embed="rId3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9930" y="1998504"/>
            <a:ext cx="4966483" cy="377107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5"/>
          <a:srcRect l="6405" r="11776" b="3129"/>
          <a:stretch/>
        </p:blipFill>
        <p:spPr>
          <a:xfrm>
            <a:off x="1557977" y="3312046"/>
            <a:ext cx="4157023" cy="3303752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674659" y="6346226"/>
            <a:ext cx="6485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§ 4.5 </a:t>
            </a:r>
            <a:r>
              <a:rPr lang="zh-CN" altLang="en-US" sz="2400" dirty="0" smtClean="0"/>
              <a:t>离子晶体的光频模与电磁波的耦合（略）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24210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24538" y="402314"/>
            <a:ext cx="6699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</a:t>
            </a:r>
            <a:r>
              <a:rPr lang="zh-CN" altLang="en-US" sz="3200" dirty="0"/>
              <a:t>四</a:t>
            </a:r>
            <a:r>
              <a:rPr lang="zh-CN" altLang="en-US" sz="3200" dirty="0" smtClean="0"/>
              <a:t>章  晶格振动和晶体的热学性质</a:t>
            </a:r>
            <a:endParaRPr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658666" y="1669149"/>
                <a:ext cx="6241933" cy="32498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4.6.1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中子非弹性散射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endParaRPr lang="en-US" altLang="zh-CN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晶体中原子位置：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en-US" altLang="zh-CN" sz="240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⃑"/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en-US" altLang="zh-CN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cos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⁡(</m:t>
                      </m:r>
                      <m:acc>
                        <m:accPr>
                          <m:chr m:val="⃑"/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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𝑡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中子：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=ℏ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波矢</a:t>
                </a:r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acc>
                      <m:accPr>
                        <m:chr m:val="⃑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acc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动量转移：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ℏ</m:t>
                    </m:r>
                    <m:acc>
                      <m:accPr>
                        <m:chr m:val="⃑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ℏ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acc>
                      <m:accPr>
                        <m:chr m:val="⃑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⃑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acc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晶体的总散射振幅：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666" y="1669149"/>
                <a:ext cx="6241933" cy="3249800"/>
              </a:xfrm>
              <a:prstGeom prst="rect">
                <a:avLst/>
              </a:prstGeom>
              <a:blipFill rotWithShape="1">
                <a:blip r:embed="rId2"/>
                <a:stretch>
                  <a:fillRect l="-1953" t="-2439" r="-1563" b="-28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3665913" y="1259554"/>
            <a:ext cx="530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§ 4.6 </a:t>
            </a:r>
            <a:r>
              <a:rPr lang="zh-CN" altLang="en-US" sz="2400" dirty="0" smtClean="0"/>
              <a:t>声子谱的中子散射实验测定</a:t>
            </a:r>
            <a:endParaRPr lang="zh-CN" altLang="en-US" sz="2400" dirty="0"/>
          </a:p>
        </p:txBody>
      </p:sp>
      <p:grpSp>
        <p:nvGrpSpPr>
          <p:cNvPr id="11" name="组合 10"/>
          <p:cNvGrpSpPr/>
          <p:nvPr/>
        </p:nvGrpSpPr>
        <p:grpSpPr>
          <a:xfrm>
            <a:off x="6960560" y="1794014"/>
            <a:ext cx="4709235" cy="2875422"/>
            <a:chOff x="6960560" y="1794014"/>
            <a:chExt cx="4709235" cy="2875422"/>
          </a:xfrm>
        </p:grpSpPr>
        <p:grpSp>
          <p:nvGrpSpPr>
            <p:cNvPr id="9" name="组合 8"/>
            <p:cNvGrpSpPr/>
            <p:nvPr/>
          </p:nvGrpSpPr>
          <p:grpSpPr>
            <a:xfrm>
              <a:off x="6960560" y="1794014"/>
              <a:ext cx="4709235" cy="2875422"/>
              <a:chOff x="6960560" y="1794014"/>
              <a:chExt cx="4709235" cy="2875422"/>
            </a:xfrm>
          </p:grpSpPr>
          <p:pic>
            <p:nvPicPr>
              <p:cNvPr id="6" name="图片 5"/>
              <p:cNvPicPr>
                <a:picLocks noChangeAspect="1"/>
              </p:cNvPicPr>
              <p:nvPr/>
            </p:nvPicPr>
            <p:blipFill rotWithShape="1">
              <a:blip r:embed="rId3"/>
              <a:srcRect l="11515" r="15338"/>
              <a:stretch/>
            </p:blipFill>
            <p:spPr>
              <a:xfrm>
                <a:off x="6960560" y="1794014"/>
                <a:ext cx="4709235" cy="2875422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" name="矩形 2"/>
                  <p:cNvSpPr/>
                  <p:nvPr/>
                </p:nvSpPr>
                <p:spPr>
                  <a:xfrm>
                    <a:off x="7467594" y="2297887"/>
                    <a:ext cx="449162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′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3" name="矩形 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67594" y="2297887"/>
                    <a:ext cx="449162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" name="直接连接符 6"/>
              <p:cNvCxnSpPr/>
              <p:nvPr/>
            </p:nvCxnSpPr>
            <p:spPr>
              <a:xfrm>
                <a:off x="7467594" y="2728210"/>
                <a:ext cx="334786" cy="11992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矩形 9"/>
                <p:cNvSpPr/>
                <p:nvPr/>
              </p:nvSpPr>
              <p:spPr>
                <a:xfrm>
                  <a:off x="9490800" y="2848131"/>
                  <a:ext cx="465640" cy="43159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en-US" altLang="zh-CN" i="1">
                                    <a:latin typeface="Cambria Math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0" name="矩形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0800" y="2848131"/>
                  <a:ext cx="465640" cy="431593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b="-563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2" name="直接连接符 11"/>
          <p:cNvCxnSpPr/>
          <p:nvPr/>
        </p:nvCxnSpPr>
        <p:spPr>
          <a:xfrm>
            <a:off x="9323407" y="3231725"/>
            <a:ext cx="334786" cy="1199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804598" y="4861042"/>
                <a:ext cx="10932699" cy="19683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sz="2400" i="1">
                                  <a:latin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acc>
                                <m:accPr>
                                  <m:chr m:val="⃑"/>
                                  <m:ctrlPr>
                                    <a:rPr lang="en-US" altLang="zh-CN" sz="2400" i="1">
                                      <a:latin typeface="Cambria Math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  <m:r>
                                <a:rPr lang="en-US" altLang="zh-CN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⃑"/>
                                      <m:ctrlPr>
                                        <a:rPr lang="en-US" altLang="zh-CN" sz="2400" i="1">
                                          <a:latin typeface="Cambria Math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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𝑡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sz="2400" i="1">
                                  <a:latin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acc>
                                <m:accPr>
                                  <m:chr m:val="⃑"/>
                                  <m:ctrlPr>
                                    <a:rPr lang="en-US" altLang="zh-CN" sz="2400" i="1">
                                      <a:latin typeface="Cambria Math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  <m:r>
                                <a:rPr lang="en-US" altLang="zh-CN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⃑"/>
                                      <m:ctrlPr>
                                        <a:rPr lang="en-US" altLang="zh-CN" sz="2400" i="1">
                                          <a:latin typeface="Cambria Math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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𝑡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  <m:r>
                        <a:rPr lang="en-US" altLang="zh-CN" sz="2400" i="1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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⃑"/>
                              <m:ctrlPr>
                                <a:rPr lang="en-US" altLang="zh-CN" sz="2400" i="1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acc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∙</m:t>
                          </m:r>
                          <m:acc>
                            <m:accPr>
                              <m:chr m:val="⃑"/>
                              <m:ctrlPr>
                                <a:rPr lang="en-US" altLang="zh-CN" sz="2400" i="1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⁡(</m:t>
                          </m:r>
                          <m:acc>
                            <m:accPr>
                              <m:chr m:val="⃑"/>
                              <m:ctrlPr>
                                <a:rPr lang="en-US" altLang="zh-CN" sz="2400" i="1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en-US" altLang="zh-CN" sz="2400" i="1">
                                      <a:latin typeface="Cambria Math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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𝑡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2400" dirty="0"/>
                            <m:t> 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sz="2400" i="1">
                                  <a:latin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acc>
                                <m:accPr>
                                  <m:chr m:val="⃑"/>
                                  <m:ctrlPr>
                                    <a:rPr lang="en-US" altLang="zh-CN" sz="2400" i="1">
                                      <a:latin typeface="Cambria Math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  <m:r>
                                <a:rPr lang="en-US" altLang="zh-CN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⃑"/>
                                      <m:ctrlPr>
                                        <a:rPr lang="en-US" altLang="zh-CN" sz="2400" i="1">
                                          <a:latin typeface="Cambria Math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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𝑡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  <m:r>
                        <a:rPr lang="en-US" altLang="zh-CN" sz="2400" i="1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{1+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𝑖</m:t>
                      </m:r>
                      <m:acc>
                        <m:accPr>
                          <m:chr m:val="⃑"/>
                          <m:ctrlPr>
                            <a:rPr lang="en-US" altLang="zh-CN" sz="2400" i="1"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  <m:r>
                        <a:rPr lang="en-US" altLang="zh-CN" sz="240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∙</m:t>
                      </m:r>
                      <m:acc>
                        <m:accPr>
                          <m:chr m:val="⃑"/>
                          <m:ctrlPr>
                            <a:rPr lang="en-US" altLang="zh-CN" sz="2400" i="1"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400" i="1">
                                  <a:latin typeface="Cambria Math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lang="en-US" altLang="zh-CN" sz="2400" i="1">
                                      <a:latin typeface="Cambria Math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acc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⃑"/>
                                      <m:ctrlPr>
                                        <a:rPr lang="en-US" altLang="zh-CN" sz="2400" i="1">
                                          <a:latin typeface="Cambria Math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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}</m:t>
                      </m:r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598" y="4861042"/>
                <a:ext cx="10932699" cy="1968359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3365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24538" y="402314"/>
            <a:ext cx="6699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</a:t>
            </a:r>
            <a:r>
              <a:rPr lang="zh-CN" altLang="en-US" sz="3200" dirty="0"/>
              <a:t>四</a:t>
            </a:r>
            <a:r>
              <a:rPr lang="zh-CN" altLang="en-US" sz="3200" dirty="0" smtClean="0"/>
              <a:t>章  晶格振动和晶体的热学性质</a:t>
            </a:r>
            <a:endParaRPr lang="zh-CN" alt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658667" y="2082207"/>
                <a:ext cx="11063595" cy="47193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4.6.1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中子非弹性散射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endParaRPr lang="en-US" altLang="zh-CN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acc>
                              <m:accPr>
                                <m:chr m:val="⃑"/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</m:acc>
                            <m: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⃑"/>
                                    <m:ctrlP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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𝑡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nary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{1+</m:t>
                    </m:r>
                    <m:f>
                      <m:f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den>
                    </m:f>
                    <m:acc>
                      <m:accPr>
                        <m:chr m:val="⃑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∙</m:t>
                    </m:r>
                    <m:acc>
                      <m:accPr>
                        <m:chr m:val="⃑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⃑"/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acc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⃑"/>
                                    <m:ctrlP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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⃑"/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acc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⃑"/>
                                    <m:ctrlP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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}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 =</a:t>
                </a:r>
              </a:p>
              <a:p>
                <a:r>
                  <a:rPr lang="en-US" altLang="zh-CN" sz="2400" dirty="0" smtClean="0"/>
                  <a:t>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acc>
                              <m:accPr>
                                <m:chr m:val="⃑"/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</m:acc>
                            <m: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⃑"/>
                                    <m:ctrlP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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𝑡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zh-CN" sz="2400" dirty="0" smtClean="0">
                    <a:solidFill>
                      <a:srgbClr val="FF0000"/>
                    </a:solidFill>
                  </a:rPr>
                  <a:t>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den>
                    </m:f>
                    <m:acc>
                      <m:accPr>
                        <m:chr m:val="⃑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∙</m:t>
                    </m:r>
                    <m:acc>
                      <m:accPr>
                        <m:chr m:val="⃑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nary>
                      <m:naryPr>
                        <m:chr m:val="∑"/>
                        <m:supHide m:val="on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ctrlP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</m:acc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acc>
                                      <m:accPr>
                                        <m:chr m:val="⃑"/>
                                        <m:ctrlP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</m:acc>
                                  </m:e>
                                </m:d>
                                <m:r>
                                  <a:rPr lang="en-US" altLang="zh-CN" sz="2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Symbol" panose="05050102010706020507" pitchFamily="18" charset="2"/>
                                      </a:rPr>
                                      <m:t></m:t>
                                    </m:r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Symbol" panose="05050102010706020507" pitchFamily="18" charset="2"/>
                                      </a:rPr>
                                      <m:t>+</m:t>
                                    </m:r>
                                    <m:r>
                                      <a:rPr lang="zh-CN" alt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Symbol" panose="05050102010706020507" pitchFamily="18" charset="2"/>
                                      </a:rPr>
                                      <m:t>𝜔</m:t>
                                    </m:r>
                                  </m:e>
                                </m:d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𝑡</m:t>
                                </m:r>
                              </m:e>
                            </m:d>
                          </m:sup>
                        </m:sSup>
                      </m:e>
                    </m:nary>
                  </m:oMath>
                </a14:m>
                <a:r>
                  <a:rPr lang="en-US" altLang="zh-CN" sz="2400" dirty="0" smtClean="0">
                    <a:solidFill>
                      <a:srgbClr val="FF0000"/>
                    </a:solidFill>
                    <a:sym typeface="Symbol" panose="05050102010706020507" pitchFamily="18" charset="2"/>
                  </a:rPr>
                  <a:t>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den>
                    </m:f>
                    <m:acc>
                      <m:accPr>
                        <m:chr m:val="⃑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∙</m:t>
                    </m:r>
                    <m:acc>
                      <m:accPr>
                        <m:chr m:val="⃑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nary>
                      <m:naryPr>
                        <m:chr m:val="∑"/>
                        <m:supHide m:val="on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ctrlP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</m:acc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⃑"/>
                                        <m:ctrlP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</m:acc>
                                  </m:e>
                                </m:d>
                                <m:r>
                                  <a:rPr lang="en-US" altLang="zh-CN" sz="2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Symbol" panose="05050102010706020507" pitchFamily="18" charset="2"/>
                                      </a:rPr>
                                      <m:t></m:t>
                                    </m:r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Symbol" panose="05050102010706020507" pitchFamily="18" charset="2"/>
                                      </a:rPr>
                                      <m:t>−</m:t>
                                    </m:r>
                                    <m:r>
                                      <a:rPr lang="zh-CN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Symbol" panose="05050102010706020507" pitchFamily="18" charset="2"/>
                                      </a:rPr>
                                      <m:t>𝜔</m:t>
                                    </m:r>
                                  </m:e>
                                </m:d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𝑡</m:t>
                                </m:r>
                              </m:e>
                            </m:d>
                          </m:sup>
                        </m:sSup>
                      </m:e>
                    </m:nary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散射极大条件：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1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）</a:t>
                </a:r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acc>
                          <m:accPr>
                            <m:chr m:val="⃑"/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acc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即布拉格反射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2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）</a:t>
                </a:r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⃑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acc>
                          <m:accPr>
                            <m:chr m:val="⃑"/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acc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即</a:t>
                </a:r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acc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⃑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⃑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acc>
                          <m:accPr>
                            <m:chr m:val="⃑"/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acc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吸收声子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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′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+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𝜔</m:t>
                    </m:r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3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）</a:t>
                </a:r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⃑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acc>
                          <m:accPr>
                            <m:chr m:val="⃑"/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acc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即</a:t>
                </a:r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acc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⃑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⃑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acc>
                          <m:accPr>
                            <m:chr m:val="⃑"/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acc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发射声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子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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=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−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𝜔</m:t>
                    </m:r>
                  </m:oMath>
                </a14:m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4.6.2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三轴中子谱仪（略）</a:t>
                </a:r>
                <a:endParaRPr lang="en-US" altLang="zh-CN" sz="2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667" y="2082207"/>
                <a:ext cx="11063595" cy="4719369"/>
              </a:xfrm>
              <a:prstGeom prst="rect">
                <a:avLst/>
              </a:prstGeom>
              <a:blipFill rotWithShape="0">
                <a:blip r:embed="rId2"/>
                <a:stretch>
                  <a:fillRect l="-1102" t="-1809" b="-27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3665913" y="1259554"/>
            <a:ext cx="530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§ 4.6 </a:t>
            </a:r>
            <a:r>
              <a:rPr lang="zh-CN" altLang="en-US" sz="2400" dirty="0" smtClean="0"/>
              <a:t>声子谱的中子散射实验测定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02745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24538" y="402314"/>
            <a:ext cx="6699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</a:t>
            </a:r>
            <a:r>
              <a:rPr lang="zh-CN" altLang="en-US" sz="3200" dirty="0"/>
              <a:t>四</a:t>
            </a:r>
            <a:r>
              <a:rPr lang="zh-CN" altLang="en-US" sz="3200" dirty="0" smtClean="0"/>
              <a:t>章  晶格振动和晶体的热学性质</a:t>
            </a:r>
            <a:endParaRPr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704060" y="1913627"/>
                <a:ext cx="11063595" cy="47300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比热定义：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=(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为内能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晶体的比热与晶格振动、电子运动有关 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4.7.1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高温下晶体的晶格比热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晶体中原子的运动（振动）用经典力学和统计物理处理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晶格的运动可看成是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(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𝑞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的谐振子运动之和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>
                    <a:solidFill>
                      <a:schemeClr val="tx1"/>
                    </a:solidFill>
                  </a:rPr>
                  <a:t>一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个谐振子：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func>
                      <m:func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zh-CN" alt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endParaRPr lang="en-US" altLang="zh-CN" sz="2400" b="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𝑘𝑖𝑛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acc>
                          <m:accPr>
                            <m:chr m:val="̇"/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sSup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𝑐𝑜𝑠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𝑝𝑜𝑡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𝑠𝑖𝑛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根据能量均分定理，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𝑘𝑖𝑛</m:t>
                            </m:r>
                          </m:sub>
                        </m:sSub>
                      </m:e>
                    </m:acc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𝑝𝑜𝑡</m:t>
                            </m:r>
                          </m:sub>
                        </m:sSub>
                      </m:e>
                    </m:acc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060" y="1913627"/>
                <a:ext cx="11063595" cy="4730077"/>
              </a:xfrm>
              <a:prstGeom prst="rect">
                <a:avLst/>
              </a:prstGeom>
              <a:blipFill rotWithShape="1">
                <a:blip r:embed="rId2"/>
                <a:stretch>
                  <a:fillRect l="-1102" b="-9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3665913" y="1253651"/>
            <a:ext cx="530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§ 4.7 </a:t>
            </a:r>
            <a:r>
              <a:rPr lang="zh-CN" altLang="en-US" sz="2400" dirty="0" smtClean="0"/>
              <a:t>晶格比热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8792057" y="1564510"/>
                <a:ext cx="2975598" cy="4857227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 smtClean="0"/>
                  <a:t>晶体</a:t>
                </a:r>
                <a:r>
                  <a:rPr lang="zh-CN" altLang="en-US" sz="2400" dirty="0" smtClean="0"/>
                  <a:t>：</a:t>
                </a:r>
                <a:endParaRPr lang="en-US" altLang="zh-CN" sz="2400" dirty="0" smtClean="0"/>
              </a:p>
              <a:p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sz="2400" dirty="0"/>
                  <a:t>个原胞，每原胞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sz="2400" dirty="0"/>
                  <a:t>个原子，则有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𝑟𝑁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个</m:t>
                    </m:r>
                  </m:oMath>
                </a14:m>
                <a:r>
                  <a:rPr lang="zh-CN" altLang="en-US" sz="2400" dirty="0"/>
                  <a:t>简正模式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𝑟𝑁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altLang="zh-CN" sz="240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=(</m:t>
                      </m:r>
                      <m:f>
                        <m:fPr>
                          <m:ctrlPr>
                            <a:rPr lang="en-US" altLang="zh-CN" sz="2400" i="1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sSub>
                        <m:sSubPr>
                          <m:ctrlPr>
                            <a:rPr lang="en-US" altLang="zh-CN" sz="24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𝑟𝑁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altLang="zh-CN" sz="2400" dirty="0"/>
              </a:p>
              <a:p>
                <a:r>
                  <a:rPr lang="zh-CN" altLang="en-US" sz="2400" dirty="0"/>
                  <a:t>如果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𝑟𝑁</m:t>
                    </m:r>
                  </m:oMath>
                </a14:m>
                <a:r>
                  <a:rPr lang="zh-CN" altLang="en-US" sz="2400" dirty="0"/>
                  <a:t>取一摩尔，则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=3</m:t>
                    </m:r>
                    <m:sSub>
                      <m:sSub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=24</m:t>
                    </m:r>
                  </m:oMath>
                </a14:m>
                <a:r>
                  <a:rPr lang="en-US" altLang="zh-CN" sz="2400" dirty="0"/>
                  <a:t>.9 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/(</m:t>
                    </m:r>
                    <m:r>
                      <a:rPr lang="en-US" altLang="zh-CN" sz="2400" i="1" dirty="0" err="1">
                        <a:latin typeface="Cambria Math" panose="02040503050406030204" pitchFamily="18" charset="0"/>
                      </a:rPr>
                      <m:t>𝑚𝑜𝑙</m:t>
                    </m:r>
                    <m:r>
                      <a:rPr lang="en-US" altLang="zh-CN" sz="2400" i="1" dirty="0" err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</m:t>
                    </m:r>
                    <m:r>
                      <a:rPr lang="en-US" altLang="zh-CN" sz="2400" i="1" dirty="0" err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𝑘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/>
              </a:p>
              <a:p>
                <a:r>
                  <a:rPr lang="zh-CN" altLang="en-US" sz="2400" dirty="0"/>
                  <a:t>这就是杜隆</a:t>
                </a:r>
                <a:r>
                  <a:rPr lang="en-US" altLang="zh-CN" sz="2400" dirty="0"/>
                  <a:t>-</a:t>
                </a:r>
                <a:r>
                  <a:rPr lang="zh-CN" altLang="en-US" sz="2400" dirty="0"/>
                  <a:t>珀蒂定律  </a:t>
                </a:r>
                <a:endParaRPr lang="en-US" altLang="zh-CN" sz="2400" dirty="0" smtClean="0"/>
              </a:p>
              <a:p>
                <a:r>
                  <a:rPr lang="zh-CN" altLang="en-US" sz="2400" dirty="0" smtClean="0"/>
                  <a:t>（</a:t>
                </a:r>
                <a:r>
                  <a:rPr lang="zh-CN" altLang="en-US" sz="2400" dirty="0"/>
                  <a:t>与原子轻重无关）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2057" y="1564510"/>
                <a:ext cx="2975598" cy="4857227"/>
              </a:xfrm>
              <a:prstGeom prst="rect">
                <a:avLst/>
              </a:prstGeom>
              <a:blipFill rotWithShape="1">
                <a:blip r:embed="rId3"/>
                <a:stretch>
                  <a:fillRect l="-2857" t="-1253" r="-1429" b="-150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0957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24538" y="402314"/>
            <a:ext cx="6699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</a:t>
            </a:r>
            <a:r>
              <a:rPr lang="zh-CN" altLang="en-US" sz="3200" dirty="0"/>
              <a:t>四</a:t>
            </a:r>
            <a:r>
              <a:rPr lang="zh-CN" altLang="en-US" sz="3200" dirty="0" smtClean="0"/>
              <a:t>章  晶格振动和晶体的热学性质</a:t>
            </a:r>
            <a:endParaRPr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694435" y="1865500"/>
                <a:ext cx="11063595" cy="47255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4.7.2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低温晶格振动的内能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每个谐振子能量：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ℏ</m:t>
                    </m:r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𝜔</m:t>
                    </m:r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zh-CN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f>
                          <m:f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dirty="0">
                                    <a:solidFill>
                                      <a:schemeClr val="tx1"/>
                                    </a:solidFill>
                                  </a:rPr>
                                  <m:t> </m:t>
                                </m:r>
                              </m:sup>
                            </m:sSup>
                          </m:num>
                          <m:den>
                            <m:nary>
                              <m:naryPr>
                                <m:chr m:val="∑"/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sSub>
                                      <m:sSubPr>
                                        <m:ctrlP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sub>
                                    </m:sSub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CN" sz="2400" dirty="0">
                                        <a:solidFill>
                                          <a:schemeClr val="tx1"/>
                                        </a:solidFill>
                                      </a:rPr>
                                      <m:t> </m:t>
                                    </m:r>
                                  </m:sup>
                                </m:sSup>
                              </m:e>
                            </m:nary>
                          </m:den>
                        </m:f>
                      </m:e>
                    </m:nary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=…    =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ℏ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𝜔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(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+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ℏ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𝜔</m:t>
                            </m:r>
                            <m:r>
                              <m:rPr>
                                <m:nor/>
                              </m:rPr>
                              <a:rPr lang="en-US" altLang="zh-CN" sz="2400" dirty="0">
                                <a:solidFill>
                                  <a:schemeClr val="tx1"/>
                                </a:solidFill>
                              </a:rPr>
                              <m:t> </m:t>
                            </m:r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−1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)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(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玻色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-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爱因斯坦统计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endParaRPr lang="en-US" altLang="zh-CN" sz="240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smtClean="0">
                    <a:solidFill>
                      <a:schemeClr val="tx1"/>
                    </a:solidFill>
                  </a:rPr>
                  <a:t>所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有谐振子求和：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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=1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naryPr>
                          <m:sub>
                            <m:acc>
                              <m:accPr>
                                <m:chr m:val="⃑"/>
                                <m:ctrlP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acc>
                          </m:sub>
                          <m:sup/>
                          <m:e>
                            <m:f>
                              <m:fPr>
                                <m:ctrlP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ℏ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Symbol" panose="05050102010706020507" pitchFamily="18" charset="2"/>
                                      </a:rPr>
                                      <m:t>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(</m:t>
                                </m:r>
                                <m:acc>
                                  <m:accPr>
                                    <m:chr m:val="⃑"/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  <a:sym typeface="Symbol" panose="05050102010706020507" pitchFamily="18" charset="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Symbol" panose="05050102010706020507" pitchFamily="18" charset="2"/>
                                      </a:rPr>
                                      <m:t>𝑞</m:t>
                                    </m:r>
                                  </m:e>
                                </m:acc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)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ℏ</m:t>
                                    </m:r>
                                    <m:sSub>
                                      <m:sSubPr>
                                        <m:ctrlP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Symbol" panose="05050102010706020507" pitchFamily="18" charset="2"/>
                                          </a:rPr>
                                          <m:t></m:t>
                                        </m:r>
                                      </m:sub>
                                    </m:sSub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Symbol" panose="05050102010706020507" pitchFamily="18" charset="2"/>
                                      </a:rPr>
                                      <m:t>(</m:t>
                                    </m:r>
                                    <m:acc>
                                      <m:accPr>
                                        <m:chr m:val="⃑"/>
                                        <m:ctrlPr>
                                          <a:rPr lang="en-US" altLang="zh-CN" sz="24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  <a:sym typeface="Symbol" panose="05050102010706020507" pitchFamily="18" charset="2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Symbol" panose="05050102010706020507" pitchFamily="18" charset="2"/>
                                          </a:rPr>
                                          <m:t>𝑞</m:t>
                                        </m:r>
                                      </m:e>
                                    </m:acc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Symbol" panose="05050102010706020507" pitchFamily="18" charset="2"/>
                                      </a:rPr>
                                      <m:t>)</m:t>
                                    </m:r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Symbol" panose="05050102010706020507" pitchFamily="18" charset="2"/>
                                      </a:rPr>
                                      <m:t>/</m:t>
                                    </m:r>
                                    <m:sSub>
                                      <m:sSubPr>
                                        <m:ctrlP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sub>
                                    </m:sSub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den>
                            </m:f>
                          </m:e>
                        </m:nary>
                      </m:e>
                    </m:nary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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=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4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naryPr>
                          <m:sub>
                            <m:acc>
                              <m:accPr>
                                <m:chr m:val="⃑"/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acc>
                          </m:sub>
                          <m:sup/>
                          <m:e>
                            <m:f>
                              <m:f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ℏ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Symbol" panose="05050102010706020507" pitchFamily="18" charset="2"/>
                                      </a:rPr>
                                      <m:t>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(</m:t>
                                </m:r>
                                <m:acc>
                                  <m:accPr>
                                    <m:chr m:val="⃑"/>
                                    <m:ctrlP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  <a:sym typeface="Symbol" panose="05050102010706020507" pitchFamily="18" charset="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Symbol" panose="05050102010706020507" pitchFamily="18" charset="2"/>
                                      </a:rPr>
                                      <m:t>𝑞</m:t>
                                    </m:r>
                                  </m:e>
                                </m:acc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)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ℏ</m:t>
                                    </m:r>
                                    <m:sSub>
                                      <m:sSubPr>
                                        <m:ctrlP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Symbol" panose="05050102010706020507" pitchFamily="18" charset="2"/>
                                          </a:rPr>
                                          <m:t></m:t>
                                        </m:r>
                                      </m:sub>
                                    </m:sSub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Symbol" panose="05050102010706020507" pitchFamily="18" charset="2"/>
                                      </a:rPr>
                                      <m:t>(</m:t>
                                    </m:r>
                                    <m:acc>
                                      <m:accPr>
                                        <m:chr m:val="⃑"/>
                                        <m:ctrlP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  <a:sym typeface="Symbol" panose="05050102010706020507" pitchFamily="18" charset="2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Symbol" panose="05050102010706020507" pitchFamily="18" charset="2"/>
                                          </a:rPr>
                                          <m:t>𝑞</m:t>
                                        </m:r>
                                      </m:e>
                                    </m:acc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Symbol" panose="05050102010706020507" pitchFamily="18" charset="2"/>
                                      </a:rPr>
                                      <m:t>)/</m:t>
                                    </m:r>
                                    <m:sSub>
                                      <m:sSubPr>
                                        <m:ctrlP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sub>
                                    </m:sSub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den>
                            </m:f>
                          </m:e>
                        </m:nary>
                      </m:e>
                    </m:nary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	</a:t>
                </a: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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=1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naryPr>
                          <m:sub>
                            <m:acc>
                              <m:accPr>
                                <m:chr m:val="⃑"/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acc>
                          </m:sub>
                          <m:sup/>
                          <m:e>
                            <m:f>
                              <m:fPr>
                                <m:ctrlPr>
                                  <a:rPr lang="en-US" altLang="zh-CN" sz="240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ℏ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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(</m:t>
                            </m:r>
                            <m:acc>
                              <m:accPr>
                                <m:chr m:val="⃑"/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sym typeface="Symbol" panose="05050102010706020507" pitchFamily="18" charset="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𝑞</m:t>
                                </m:r>
                              </m:e>
                            </m:acc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)</m:t>
                            </m:r>
                          </m:e>
                        </m:nary>
                      </m:e>
                    </m:nary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,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与温度无关</a:t>
                </a:r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如何求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？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435" y="1865500"/>
                <a:ext cx="11063595" cy="4725589"/>
              </a:xfrm>
              <a:prstGeom prst="rect">
                <a:avLst/>
              </a:prstGeom>
              <a:blipFill rotWithShape="1">
                <a:blip r:embed="rId2"/>
                <a:stretch>
                  <a:fillRect l="-1157" t="-16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3665913" y="1253651"/>
            <a:ext cx="530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§ 4.7 </a:t>
            </a:r>
            <a:r>
              <a:rPr lang="zh-CN" altLang="en-US" sz="2400" dirty="0" smtClean="0"/>
              <a:t>晶格比热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44592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24538" y="402314"/>
            <a:ext cx="6699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</a:t>
            </a:r>
            <a:r>
              <a:rPr lang="zh-CN" altLang="en-US" sz="3200" dirty="0"/>
              <a:t>四</a:t>
            </a:r>
            <a:r>
              <a:rPr lang="zh-CN" altLang="en-US" sz="3200" dirty="0" smtClean="0"/>
              <a:t>章  晶格振动和晶体的热学性质</a:t>
            </a:r>
            <a:endParaRPr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694435" y="1865500"/>
                <a:ext cx="11063595" cy="51164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4.7.3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爱因斯坦模型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e>
                    </m:d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sub>
                    </m:sSub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𝑐𝑜𝑛𝑠𝑡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.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ℏ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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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为爱因斯坦温度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简单晶格：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ℏ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𝐸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ℏ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=(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sym typeface="Symbol" panose="05050102010706020507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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𝐸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sym typeface="Symbol" panose="05050102010706020507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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𝐸</m:t>
                                </m:r>
                              </m:sub>
                            </m:sSub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ea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𝑒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lang="en-US" altLang="zh-CN" sz="2400" i="1" dirty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  <a:sym typeface="Symbol" panose="05050102010706020507" pitchFamily="18" charset="2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  <a:sym typeface="Symbol" panose="05050102010706020507" pitchFamily="18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Symbol" panose="05050102010706020507" pitchFamily="18" charset="2"/>
                                          </a:rPr>
                                          <m:t>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Symbol" panose="05050102010706020507" pitchFamily="18" charset="2"/>
                                          </a:rPr>
                                          <m:t>𝐸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sup>
                            </m:s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−1]</m:t>
                            </m:r>
                          </m:e>
                          <m:sup>
                            <m: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eqArr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≫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sym typeface="Symbol" panose="05050102010706020507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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𝐸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                                                    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~</m:t>
                            </m:r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≪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sym typeface="Symbol" panose="05050102010706020507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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𝐸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       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r>
                              <a:rPr lang="en-US" altLang="zh-CN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~</m:t>
                            </m:r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f>
                                  <m:fPr>
                                    <m:ctrlP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  <a:sym typeface="Symbol" panose="05050102010706020507" pitchFamily="18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Symbol" panose="05050102010706020507" pitchFamily="18" charset="2"/>
                                          </a:rPr>
                                          <m:t>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Symbol" panose="05050102010706020507" pitchFamily="18" charset="2"/>
                                          </a:rPr>
                                          <m:t>𝐸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ea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𝑒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lang="en-US" altLang="zh-CN" sz="2400" i="1" dirty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  <a:sym typeface="Symbol" panose="05050102010706020507" pitchFamily="18" charset="2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  <a:sym typeface="Symbol" panose="05050102010706020507" pitchFamily="18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Symbol" panose="05050102010706020507" pitchFamily="18" charset="2"/>
                                          </a:rPr>
                                          <m:t>−</m:t>
                                        </m:r>
                                        <m:r>
                                          <a:rPr lang="zh-CN" altLang="en-US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Symbol" panose="05050102010706020507" pitchFamily="18" charset="2"/>
                                          </a:rPr>
                                          <m:t>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Symbol" panose="05050102010706020507" pitchFamily="18" charset="2"/>
                                          </a:rPr>
                                          <m:t>𝐸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sup>
                            </m:s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 (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m:rPr>
                                <m:nor/>
                              </m:rPr>
                              <a:rPr lang="en-US" altLang="zh-CN" sz="2400" dirty="0">
                                <a:solidFill>
                                  <a:schemeClr val="tx1"/>
                                </a:solidFill>
                                <a:sym typeface="Symbol" panose="05050102010706020507" pitchFamily="18" charset="2"/>
                              </a:rPr>
                              <m:t></m:t>
                            </m:r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0,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~0)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435" y="1865500"/>
                <a:ext cx="11063595" cy="5116401"/>
              </a:xfrm>
              <a:prstGeom prst="rect">
                <a:avLst/>
              </a:prstGeom>
              <a:blipFill rotWithShape="1">
                <a:blip r:embed="rId2"/>
                <a:stretch>
                  <a:fillRect l="-11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3665913" y="1253651"/>
            <a:ext cx="530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§ 4.7 </a:t>
            </a:r>
            <a:r>
              <a:rPr lang="zh-CN" altLang="en-US" sz="2400" dirty="0" smtClean="0"/>
              <a:t>晶格比热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69184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24538" y="402314"/>
            <a:ext cx="6699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</a:t>
            </a:r>
            <a:r>
              <a:rPr lang="zh-CN" altLang="en-US" sz="3200" dirty="0"/>
              <a:t>四</a:t>
            </a:r>
            <a:r>
              <a:rPr lang="zh-CN" altLang="en-US" sz="3200" dirty="0" smtClean="0"/>
              <a:t>章  晶格振动和晶体的热学性质</a:t>
            </a:r>
            <a:endParaRPr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694435" y="1865500"/>
                <a:ext cx="11063595" cy="4921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4.7.4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徳拜模型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(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𝑞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)=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𝑣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𝑠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𝑞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     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sym typeface="Symbol" panose="05050102010706020507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𝑠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		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zh-CN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𝐷</m:t>
                            </m:r>
                          </m:sub>
                        </m:sSub>
                      </m:sup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m:rPr>
                            <m:nor/>
                          </m:rPr>
                          <a:rPr lang="en-US" altLang="zh-CN" sz="2400" dirty="0">
                            <a:solidFill>
                              <a:schemeClr val="tx1"/>
                            </a:solidFill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nary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有：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𝜔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𝐷</m:t>
                        </m:r>
                      </m:sub>
                    </m:sSub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sSup>
                      <m:sSup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（</m:t>
                        </m:r>
                        <m:f>
                          <m:f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6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𝑉</m:t>
                            </m:r>
                          </m:den>
                        </m:f>
                        <m: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）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3</m:t>
                            </m:r>
                          </m:den>
                        </m:f>
                      </m:sup>
                    </m:sSup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𝑣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zh-CN" alt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sym typeface="Symbol" panose="05050102010706020507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𝐷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𝜔</m:t>
                    </m:r>
                    <m:r>
                      <a:rPr lang="zh-CN" alt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≤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𝜔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ℏ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𝜔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𝐷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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 dirty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400" i="1" dirty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sym typeface="Symbol" panose="05050102010706020507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𝐷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zh-CN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nary>
                        <m:nary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  <a:sym typeface="Symbol" panose="05050102010706020507" pitchFamily="18" charset="2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𝐷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ℏ</m:t>
                              </m:r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𝜔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ℏ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𝜔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CN" sz="2400" dirty="0">
                                      <a:solidFill>
                                        <a:schemeClr val="tx1"/>
                                      </a:solidFill>
                                    </a:rPr>
                                    <m:t> </m:t>
                                  </m:r>
                                  <m:r>
                                    <a:rPr lang="en-US" altLang="zh-CN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tx1"/>
                                          </a:solidFill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−1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nary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altLang="zh-CN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sSup>
                        <m:sSup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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nary>
                        <m:nary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240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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40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>
                    <a:solidFill>
                      <a:schemeClr val="tx1"/>
                    </a:solidFill>
                  </a:rPr>
                  <a:t>	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≫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sym typeface="Symbol" panose="05050102010706020507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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𝐷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                                                    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  <m:r>
                                <a:rPr lang="en-US" altLang="zh-CN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altLang="zh-CN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≪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sym typeface="Symbol" panose="05050102010706020507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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𝐷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     </m:t>
                              </m:r>
                              <m:r>
                                <a:rPr lang="en-US" altLang="zh-CN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                     </m:t>
                              </m:r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  <m:f>
                                <m:fPr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  <m:sSup>
                                    <m:sSupPr>
                                      <m:ctrlPr>
                                        <a:rPr lang="en-US" altLang="zh-CN" sz="2400" i="1">
                                          <a:solidFill>
                                            <a:schemeClr val="tx1"/>
                                          </a:solidFill>
                                          <a:latin typeface="Cambria Math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  <m:r>
                                <a:rPr lang="en-US" altLang="zh-CN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sSupPr>
                                <m:e>
                                  <m:f>
                                    <m:fPr>
                                      <m:ctrlPr>
                                        <a:rPr lang="en-US" altLang="zh-CN" sz="2400" i="1">
                                          <a:solidFill>
                                            <a:schemeClr val="tx1"/>
                                          </a:solidFill>
                                          <a:latin typeface="Cambria Math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sym typeface="Symbol" panose="05050102010706020507" pitchFamily="18" charset="2"/>
                                        </a:rPr>
                                        <m:t>𝑇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charset="0"/>
                                              <a:sym typeface="Symbol" panose="05050102010706020507" pitchFamily="18" charset="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sym typeface="Symbol" panose="05050102010706020507" pitchFamily="18" charset="2"/>
                                            </a:rPr>
                                            <m:t>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sym typeface="Symbol" panose="05050102010706020507" pitchFamily="18" charset="2"/>
                                            </a:rPr>
                                            <m:t>𝐷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dirty="0" smtClean="0">
                    <a:solidFill>
                      <a:schemeClr val="tx1"/>
                    </a:solidFill>
                  </a:rPr>
                  <a:t>		 </a:t>
                </a:r>
                <a:r>
                  <a:rPr lang="zh-CN" altLang="en-US" sz="2000" dirty="0" smtClean="0">
                    <a:solidFill>
                      <a:srgbClr val="00B050"/>
                    </a:solidFill>
                  </a:rPr>
                  <a:t>（</a:t>
                </a:r>
                <a:r>
                  <a:rPr lang="en-US" altLang="zh-CN" sz="2000" dirty="0" smtClean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00B05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altLang="zh-CN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sz="2000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000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rgbClr val="00B05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CN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000" i="1">
                            <a:solidFill>
                              <a:srgbClr val="00B050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US" altLang="zh-CN" sz="2000" i="1">
                                <a:solidFill>
                                  <a:srgbClr val="00B050"/>
                                </a:solidFill>
                                <a:latin typeface="Cambria Math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000" i="1">
                                    <a:solidFill>
                                      <a:srgbClr val="00B050"/>
                                    </a:solidFill>
                                    <a:latin typeface="Cambria Math" charset="0"/>
                                    <a:sym typeface="Symbol" panose="05050102010706020507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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𝐸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  <m:r>
                          <a:rPr lang="en-US" altLang="zh-CN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sz="2000" i="1">
                            <a:solidFill>
                              <a:srgbClr val="00B050"/>
                            </a:solidFill>
                            <a:latin typeface="Cambria Math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altLang="zh-CN" sz="2000" i="1" dirty="0">
                                <a:solidFill>
                                  <a:srgbClr val="00B050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000" i="1">
                                    <a:solidFill>
                                      <a:srgbClr val="00B050"/>
                                    </a:solidFill>
                                    <a:latin typeface="Cambria Math" charset="0"/>
                                    <a:sym typeface="Symbol" panose="05050102010706020507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−</m:t>
                                </m:r>
                                <m:r>
                                  <a:rPr lang="zh-CN" altLang="en-US" sz="20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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𝐸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zh-CN" sz="2000" dirty="0" smtClean="0">
                    <a:solidFill>
                      <a:srgbClr val="00B050"/>
                    </a:solidFill>
                  </a:rPr>
                  <a:t>    ,   </a:t>
                </a:r>
                <a:r>
                  <a:rPr lang="zh-CN" altLang="en-US" sz="2000" dirty="0" smtClean="0">
                    <a:solidFill>
                      <a:srgbClr val="00B050"/>
                    </a:solidFill>
                  </a:rPr>
                  <a:t>爱因斯坦模型）</a:t>
                </a:r>
                <a:endParaRPr lang="en-US" altLang="zh-CN" sz="20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435" y="1865500"/>
                <a:ext cx="11063595" cy="4921219"/>
              </a:xfrm>
              <a:prstGeom prst="rect">
                <a:avLst/>
              </a:prstGeom>
              <a:blipFill rotWithShape="1">
                <a:blip r:embed="rId2"/>
                <a:stretch>
                  <a:fillRect l="-1157" t="-16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3665913" y="1253651"/>
            <a:ext cx="530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§ 4.7 </a:t>
            </a:r>
            <a:r>
              <a:rPr lang="zh-CN" altLang="en-US" sz="2400" dirty="0" smtClean="0"/>
              <a:t>晶格比热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4297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24538" y="402314"/>
            <a:ext cx="6699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/>
              <a:t>第</a:t>
            </a:r>
            <a:r>
              <a:rPr lang="zh-CN" altLang="en-US" sz="3200" dirty="0"/>
              <a:t>四</a:t>
            </a:r>
            <a:r>
              <a:rPr lang="zh-CN" altLang="en-US" sz="3200" dirty="0" smtClean="0"/>
              <a:t>章  晶格振动和晶体的热学性质</a:t>
            </a:r>
            <a:endParaRPr lang="zh-CN" altLang="en-US" sz="3200" dirty="0"/>
          </a:p>
        </p:txBody>
      </p:sp>
      <p:sp>
        <p:nvSpPr>
          <p:cNvPr id="4" name="文本框 3"/>
          <p:cNvSpPr txBox="1"/>
          <p:nvPr/>
        </p:nvSpPr>
        <p:spPr>
          <a:xfrm>
            <a:off x="3665913" y="1253651"/>
            <a:ext cx="53035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§ 4.8 </a:t>
            </a:r>
            <a:r>
              <a:rPr lang="zh-CN" altLang="en-US" sz="2400" dirty="0" smtClean="0"/>
              <a:t>晶体物态方程</a:t>
            </a:r>
            <a:r>
              <a:rPr lang="zh-CN" altLang="en-US" sz="2400" dirty="0"/>
              <a:t>和热膨胀（略）</a:t>
            </a:r>
          </a:p>
          <a:p>
            <a:endParaRPr lang="en-US" altLang="zh-CN" sz="2400" dirty="0" smtClean="0"/>
          </a:p>
          <a:p>
            <a:r>
              <a:rPr lang="en-US" altLang="zh-CN" sz="2400" dirty="0"/>
              <a:t>§ </a:t>
            </a:r>
            <a:r>
              <a:rPr lang="en-US" altLang="zh-CN" sz="2400" dirty="0" smtClean="0"/>
              <a:t>4.9 </a:t>
            </a:r>
            <a:r>
              <a:rPr lang="zh-CN" altLang="en-US" sz="2400" dirty="0" smtClean="0"/>
              <a:t>晶格热传导</a:t>
            </a:r>
            <a:r>
              <a:rPr lang="zh-CN" altLang="en-US" sz="2400" dirty="0"/>
              <a:t>（略）</a:t>
            </a:r>
          </a:p>
          <a:p>
            <a:endParaRPr lang="en-US" altLang="zh-CN" sz="2400" dirty="0" smtClean="0"/>
          </a:p>
          <a:p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9363172" y="2681294"/>
                <a:ext cx="508473" cy="3629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b="0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3172" y="2681294"/>
                <a:ext cx="508473" cy="362984"/>
              </a:xfrm>
              <a:prstGeom prst="rect">
                <a:avLst/>
              </a:prstGeom>
              <a:blipFill rotWithShape="1">
                <a:blip r:embed="rId2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3453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12920" y="2426681"/>
            <a:ext cx="3185160" cy="1325563"/>
          </a:xfrm>
        </p:spPr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The    End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9473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ttp://img66.chem17.com/9/20200405/63721717780629997641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789" y="3031578"/>
            <a:ext cx="3959225" cy="362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p3.ssl.qhimgs1.com/sdr/400__/t01d7c8e7a819cdd2a3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88" t="14714" r="13654" b="16437"/>
          <a:stretch/>
        </p:blipFill>
        <p:spPr bwMode="auto">
          <a:xfrm>
            <a:off x="8509754" y="3450334"/>
            <a:ext cx="3095469" cy="2949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s://p1.ssl.qhimg.com/t017acd1441bf8afae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834" y="4099263"/>
            <a:ext cx="2790825" cy="2095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ttp://www.hxzxs.cn/uploads/image/20160508/1462702106390427.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5714" y="0"/>
            <a:ext cx="2864995" cy="282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https://img.wendangxiazai.com/pic/305908f13a3567ec102de2bd960590c69ec3d890/1-254-png_6_0_0_375_429_142_137_892.979_1262.879-262-0-158-262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9948" y="319243"/>
            <a:ext cx="2495550" cy="241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https://ss2.bdstatic.com/70cFvnSh_Q1YnxGkpoWK1HF6hhy/it/u=3521204771,1369375345&amp;fm=26&amp;gp=0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686" y="242517"/>
            <a:ext cx="3328103" cy="2496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537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基本">
  <a:themeElements>
    <a:clrScheme name="基本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基本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3266</TotalTime>
  <Words>2833</Words>
  <Application>Microsoft Macintosh PowerPoint</Application>
  <PresentationFormat>宽屏</PresentationFormat>
  <Paragraphs>310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5" baseType="lpstr">
      <vt:lpstr>Arial Black</vt:lpstr>
      <vt:lpstr>Cambria Math</vt:lpstr>
      <vt:lpstr>Symbol</vt:lpstr>
      <vt:lpstr>Wingdings</vt:lpstr>
      <vt:lpstr>黑体</vt:lpstr>
      <vt:lpstr>微软雅黑</vt:lpstr>
      <vt:lpstr>Arial</vt:lpstr>
      <vt:lpstr>基本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The    End</vt:lpstr>
      <vt:lpstr>PowerPoint 演示文稿</vt:lpstr>
    </vt:vector>
  </TitlesOfParts>
  <LinksUpToDate>false</LinksUpToDate>
  <SharedDoc>false</SharedDoc>
  <HyperlinksChanged>false</HyperlinksChanged>
  <AppVersion>15.0037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zhanglixin</dc:creator>
  <cp:lastModifiedBy>Microsoft Office 用户</cp:lastModifiedBy>
  <cp:revision>263</cp:revision>
  <dcterms:created xsi:type="dcterms:W3CDTF">2020-03-04T12:39:26Z</dcterms:created>
  <dcterms:modified xsi:type="dcterms:W3CDTF">2023-03-30T00:39:57Z</dcterms:modified>
</cp:coreProperties>
</file>