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3"/>
    <p:sldId id="272" r:id="rId4"/>
    <p:sldId id="256" r:id="rId5"/>
    <p:sldId id="257" r:id="rId6"/>
    <p:sldId id="263" r:id="rId7"/>
    <p:sldId id="258" r:id="rId8"/>
    <p:sldId id="259" r:id="rId9"/>
    <p:sldId id="264" r:id="rId10"/>
    <p:sldId id="260" r:id="rId11"/>
    <p:sldId id="265" r:id="rId12"/>
    <p:sldId id="261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5" d="100"/>
          <a:sy n="95" d="100"/>
        </p:scale>
        <p:origin x="608" y="192"/>
      </p:cViewPr>
      <p:guideLst>
        <p:guide orient="horz" pos="2160"/>
        <p:guide pos="38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BDA0-EBD8-4E1A-90D6-6101AEB83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CBC7-F7D9-4068-B988-CC094E96F0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BDA0-EBD8-4E1A-90D6-6101AEB83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CBC7-F7D9-4068-B988-CC094E96F0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BDA0-EBD8-4E1A-90D6-6101AEB83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CBC7-F7D9-4068-B988-CC094E96F0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BDA0-EBD8-4E1A-90D6-6101AEB83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CBC7-F7D9-4068-B988-CC094E96F0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BDA0-EBD8-4E1A-90D6-6101AEB83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CBC7-F7D9-4068-B988-CC094E96F0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BDA0-EBD8-4E1A-90D6-6101AEB83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CBC7-F7D9-4068-B988-CC094E96F0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BDA0-EBD8-4E1A-90D6-6101AEB83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CBC7-F7D9-4068-B988-CC094E96F0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BDA0-EBD8-4E1A-90D6-6101AEB83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CBC7-F7D9-4068-B988-CC094E96F0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BDA0-EBD8-4E1A-90D6-6101AEB83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CBC7-F7D9-4068-B988-CC094E96F0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BDA0-EBD8-4E1A-90D6-6101AEB83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CBC7-F7D9-4068-B988-CC094E96F0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BDA0-EBD8-4E1A-90D6-6101AEB83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CBC7-F7D9-4068-B988-CC094E96F0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1DBDA0-EBD8-4E1A-90D6-6101AEB839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4CBC7-F7D9-4068-B988-CC094E96F05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emf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667760" y="274320"/>
            <a:ext cx="4257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tx1"/>
                </a:solidFill>
              </a:rPr>
              <a:t>第五章 晶体中的缺陷</a:t>
            </a:r>
            <a:endParaRPr lang="zh-CN" altLang="en-US" sz="3200" dirty="0" smtClean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1344654" y="1205948"/>
                <a:ext cx="10281920" cy="49618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理想的晶体只在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0K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下存在，实际晶体中都存在缺陷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按缺陷的几何尺度分类：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eqArrPr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点</m:t>
                            </m:r>
                            <m:r>
                              <a:rPr lang="zh-CN" altLang="en-US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缺陷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    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   </m:t>
                            </m:r>
                            <m:r>
                              <a:rPr lang="zh-CN" altLang="en-US" sz="2400" b="1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空位</m:t>
                            </m:r>
                            <m:r>
                              <a:rPr lang="zh-CN" altLang="en-US" sz="2400" b="1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、</m:t>
                            </m:r>
                            <m:r>
                              <a:rPr lang="zh-CN" altLang="en-US" sz="2400" b="1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填</m:t>
                            </m:r>
                            <m:r>
                              <a:rPr lang="zh-CN" altLang="en-US" sz="2400" b="1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隙</m:t>
                            </m:r>
                            <m:r>
                              <a:rPr lang="zh-CN" altLang="en-US" sz="2400" b="1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原子</m:t>
                            </m:r>
                            <m:r>
                              <a:rPr lang="zh-CN" altLang="en-US" sz="2400" b="1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、</m:t>
                            </m:r>
                            <m:r>
                              <a:rPr lang="zh-CN" altLang="en-US" sz="2400" b="1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杂质</m:t>
                            </m:r>
                            <m:r>
                              <a:rPr lang="zh-CN" altLang="en-US" sz="2400" b="1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原子</m:t>
                            </m:r>
                          </m:e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线</m:t>
                            </m:r>
                            <m:r>
                              <a:rPr lang="zh-CN" altLang="en-US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缺陷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                   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       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  </m:t>
                            </m:r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位错</m:t>
                            </m:r>
                            <m:r>
                              <a:rPr lang="zh-CN" altLang="en-US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、</m:t>
                            </m:r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点缺陷</m:t>
                            </m:r>
                            <m:r>
                              <a:rPr lang="zh-CN" altLang="en-US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链</m:t>
                            </m:r>
                          </m:e>
                          <m:e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面</m:t>
                            </m:r>
                            <m:r>
                              <a:rPr lang="zh-CN" altLang="en-US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缺陷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                  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  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                </m:t>
                            </m:r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层</m:t>
                            </m:r>
                            <m:r>
                              <a:rPr lang="zh-CN" altLang="en-US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错</m:t>
                            </m:r>
                            <m:r>
                              <a:rPr lang="zh-CN" altLang="en-US" sz="2400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、</m:t>
                            </m:r>
                            <m:r>
                              <a:rPr lang="zh-CN" altLang="en-US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晶界</m:t>
                            </m:r>
                          </m:e>
                        </m:eqArr>
                      </m:e>
                    </m:d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缺陷与晶体的物理、化学性质有密切关系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钢材：力学、抗腐蚀性依赖于杂质种类和浓度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半导体：电学、光学性质决定于掺入的杂质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高温氧化物超导体：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高浓度缺陷引起超导转变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本章介绍一些通用的规律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654" y="1205948"/>
                <a:ext cx="10281920" cy="4961890"/>
              </a:xfrm>
              <a:prstGeom prst="rect">
                <a:avLst/>
              </a:prstGeom>
              <a:blipFill rotWithShape="1">
                <a:blip r:embed="rId1"/>
                <a:stretch>
                  <a:fillRect l="-3" t="-2" r="3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19806" r="50021" b="14981"/>
          <a:stretch>
            <a:fillRect/>
          </a:stretch>
        </p:blipFill>
        <p:spPr>
          <a:xfrm>
            <a:off x="3136900" y="940435"/>
            <a:ext cx="2785110" cy="23469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3672205" y="3336290"/>
                <a:ext cx="1590040" cy="39116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chemeClr val="tx1"/>
                          </a:solidFill>
                          <a:latin typeface="Cambria Math" charset="0"/>
                        </a:rPr>
                        <m:t>位错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205" y="3336290"/>
                <a:ext cx="1590040" cy="39116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l="7922" r="2744" b="14222"/>
          <a:stretch>
            <a:fillRect/>
          </a:stretch>
        </p:blipFill>
        <p:spPr>
          <a:xfrm>
            <a:off x="6216650" y="1077595"/>
            <a:ext cx="3020695" cy="217614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6912610" y="3319145"/>
                <a:ext cx="1590040" cy="39116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晶界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2610" y="3319145"/>
                <a:ext cx="1590040" cy="39116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rcRect b="10531"/>
          <a:stretch>
            <a:fillRect/>
          </a:stretch>
        </p:blipFill>
        <p:spPr>
          <a:xfrm>
            <a:off x="3449320" y="4048125"/>
            <a:ext cx="5638800" cy="25139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667760" y="274320"/>
            <a:ext cx="4257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tx1"/>
                </a:solidFill>
              </a:rPr>
              <a:t>第五章 晶体中的缺陷</a:t>
            </a:r>
            <a:endParaRPr lang="zh-CN" altLang="en-US" sz="3200" dirty="0" smtClean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4617720" y="1305054"/>
                <a:ext cx="38404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§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charset="0"/>
                      </a:rPr>
                      <m:t>5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.1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点缺陷</a:t>
                </a:r>
                <a:endParaRPr lang="zh-CN" altLang="en-US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720" y="1305054"/>
                <a:ext cx="3840480" cy="461665"/>
              </a:xfrm>
              <a:prstGeom prst="rect">
                <a:avLst/>
              </a:prstGeom>
              <a:blipFill rotWithShape="1">
                <a:blip r:embed="rId1"/>
                <a:stretch>
                  <a:fillRect t="-28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866692" y="2311621"/>
                <a:ext cx="5176299" cy="4031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有空位、填隙原子、杂质原子、二元化合物中的反位原子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dirty="0">
                  <a:solidFill>
                    <a:schemeClr val="tx1"/>
                  </a:solidFill>
                </a:endParaRPr>
              </a:p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5.5.1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金属中的空位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一定温度下，原子由于涨落而离开格点，迁移至晶体表面，形成空位 （也称肖特基缺陷）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热平衡下的个数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𝑛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=?</m:t>
                    </m:r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692" y="2311621"/>
                <a:ext cx="5176299" cy="4031873"/>
              </a:xfrm>
              <a:prstGeom prst="rect">
                <a:avLst/>
              </a:prstGeom>
              <a:blipFill rotWithShape="1">
                <a:blip r:embed="rId2"/>
                <a:stretch>
                  <a:fillRect l="-11" t="-5" r="6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4553" y="2711466"/>
            <a:ext cx="5991225" cy="287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667760" y="274320"/>
            <a:ext cx="4257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tx1"/>
                </a:solidFill>
              </a:rPr>
              <a:t>第五章 晶体中的缺陷</a:t>
            </a:r>
            <a:endParaRPr lang="zh-CN" altLang="en-US" sz="3200" dirty="0" smtClean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4617720" y="953871"/>
                <a:ext cx="38404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§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charset="0"/>
                      </a:rPr>
                      <m:t>5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.1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点缺陷</a:t>
                </a:r>
                <a:endParaRPr lang="zh-CN" altLang="en-US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720" y="953871"/>
                <a:ext cx="3840480" cy="461665"/>
              </a:xfrm>
              <a:prstGeom prst="rect">
                <a:avLst/>
              </a:prstGeom>
              <a:blipFill rotWithShape="1">
                <a:blip r:embed="rId1"/>
                <a:stretch>
                  <a:fillRect t="-22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178560" y="1296952"/>
                <a:ext cx="10373360" cy="5153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5.1.1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金属中的空位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设晶体有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𝑁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个原子，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个空位的分布方式数：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b="0" i="1" dirty="0" smtClean="0">
                  <a:solidFill>
                    <a:schemeClr val="tx1"/>
                  </a:solidFill>
                  <a:latin typeface="Cambria Math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𝑃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𝑁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p>
                    </m:sSub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𝑁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!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!</m:t>
                        </m:r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𝑁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e>
                        </m:d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	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 </a:t>
                </a:r>
                <a:r>
                  <a:rPr lang="zh-CN" altLang="en-US" sz="24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</a:t>
                </a:r>
                <a:r>
                  <a:rPr lang="en-US" altLang="zh-CN" sz="2400" dirty="0" smtClean="0">
                    <a:solidFill>
                      <a:schemeClr val="tx1"/>
                    </a:solidFill>
                    <a:sym typeface="Symbol" panose="05050102010706020507" pitchFamily="18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sym typeface="Symbol" panose="05050102010706020507" pitchFamily="18" charset="2"/>
                      </a:rPr>
                      <m:t>∆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sym typeface="Symbol" panose="05050102010706020507" pitchFamily="18" charset="2"/>
                      </a:rPr>
                      <m:t>𝑆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sym typeface="Symbol" panose="05050102010706020507" pitchFamily="18" charset="2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  <a:sym typeface="Symbol" panose="05050102010706020507" pitchFamily="18" charset="2"/>
                          </a:rPr>
                          <m:t>𝑘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  <a:sym typeface="Symbol" panose="05050102010706020507" pitchFamily="18" charset="2"/>
                          </a:rPr>
                          <m:t>𝐵</m:t>
                        </m:r>
                      </m:sub>
                    </m:sSub>
                    <m:func>
                      <m:func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  <a:sym typeface="Symbol" panose="05050102010706020507" pitchFamily="18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  <a:sym typeface="Symbol" panose="05050102010706020507" pitchFamily="18" charset="2"/>
                          </a:rPr>
                          <m:t>ln</m:t>
                        </m:r>
                      </m:fName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  <a:sym typeface="Symbol" panose="05050102010706020507" pitchFamily="18" charset="2"/>
                          </a:rPr>
                          <m:t>𝑃</m:t>
                        </m:r>
                      </m:e>
                    </m:func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若产生一个空位的能量为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V</m:t>
                        </m:r>
                      </m:sub>
                    </m:sSub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charset="0"/>
                      </a:rPr>
                      <m:t>，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则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sym typeface="Symbol" panose="05050102010706020507" pitchFamily="18" charset="2"/>
                      </a:rPr>
                      <m:t>∆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sym typeface="Symbol" panose="05050102010706020507" pitchFamily="18" charset="2"/>
                      </a:rPr>
                      <m:t>𝐹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sym typeface="Symbol" panose="05050102010706020507" pitchFamily="18" charset="2"/>
                      </a:rPr>
                      <m:t>𝑛</m:t>
                    </m:r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V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−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𝑇</m:t>
                    </m:r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sym typeface="Symbol" panose="05050102010706020507" pitchFamily="18" charset="2"/>
                      </a:rPr>
                      <m:t>∆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sym typeface="Symbol" panose="05050102010706020507" pitchFamily="18" charset="2"/>
                      </a:rPr>
                      <m:t>𝑆</m:t>
                    </m:r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令：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𝜕</m:t>
                        </m:r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  <a:sym typeface="Symbol" panose="05050102010706020507" pitchFamily="18" charset="2"/>
                          </a:rPr>
                          <m:t>∆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  <a:sym typeface="Symbol" panose="05050102010706020507" pitchFamily="18" charset="2"/>
                          </a:rPr>
                          <m:t>𝐹</m:t>
                        </m:r>
                      </m:num>
                      <m:den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0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,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FF0000"/>
                        </a:solidFill>
                        <a:latin typeface="Cambria Math" charset="0"/>
                      </a:rPr>
                      <m:t>𝑛</m:t>
                    </m:r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charset="0"/>
                      </a:rPr>
                      <m:t>=</m:t>
                    </m:r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charset="0"/>
                      </a:rPr>
                      <m:t>𝑁</m:t>
                    </m:r>
                    <m:sSup>
                      <m:sSupPr>
                        <m:ctrlP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400" b="0" i="1" dirty="0" smtClean="0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</a:rPr>
                                  <m:t>V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400" b="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  <a:ea typeface="Cambria Math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  <a:ea typeface="Cambria Math" charset="0"/>
                                    <a:sym typeface="Symbol" panose="05050102010706020507" pitchFamily="18" charset="2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rgbClr val="FF0000"/>
                                    </a:solidFill>
                                    <a:latin typeface="Cambria Math" charset="0"/>
                                    <a:ea typeface="Cambria Math" charset="0"/>
                                    <a:sym typeface="Symbol" panose="05050102010706020507" pitchFamily="18" charset="2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charset="0"/>
                                <a:ea typeface="Cambria Math" charset="0"/>
                                <a:sym typeface="Symbol" panose="05050102010706020507" pitchFamily="18" charset="2"/>
                              </a:rPr>
                              <m:t>𝑇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	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charset="0"/>
                      </a:rPr>
                      <m:t>ln</m:t>
                    </m:r>
                    <m:r>
                      <a:rPr lang="en-US" altLang="zh-CN" sz="2400" b="0" i="0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𝑁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!~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𝑁𝑙𝑛𝑁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−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𝑁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,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斯特令近似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)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（测出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𝑛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，可确定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V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）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:endParaRPr lang="en-US" altLang="zh-CN" dirty="0" smtClean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560" y="1296952"/>
                <a:ext cx="10373360" cy="5153719"/>
              </a:xfrm>
              <a:prstGeom prst="rect">
                <a:avLst/>
              </a:prstGeom>
              <a:blipFill rotWithShape="1">
                <a:blip r:embed="rId2"/>
                <a:stretch>
                  <a:fillRect t="-5" b="-24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667760" y="274320"/>
            <a:ext cx="4257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tx1"/>
                </a:solidFill>
              </a:rPr>
              <a:t>第五章 晶体中的缺陷</a:t>
            </a:r>
            <a:endParaRPr lang="zh-CN" altLang="en-US" sz="3200" dirty="0" smtClean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4617720" y="953871"/>
                <a:ext cx="38404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§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charset="0"/>
                      </a:rPr>
                      <m:t>5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.1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点缺陷</a:t>
                </a:r>
                <a:endParaRPr lang="zh-CN" altLang="en-US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720" y="953871"/>
                <a:ext cx="3840480" cy="461665"/>
              </a:xfrm>
              <a:prstGeom prst="rect">
                <a:avLst/>
              </a:prstGeom>
              <a:blipFill rotWithShape="1">
                <a:blip r:embed="rId1"/>
                <a:stretch>
                  <a:fillRect t="-22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178560" y="1296952"/>
                <a:ext cx="10373360" cy="5358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5.1.2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空位浓度测定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sz="10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射入金属的高能正电子，发生慢化（产生电子、空穴对，放出声子），最终与电子一起湮灭，放出</a:t>
                </a:r>
                <a14:m>
                  <m:oMath xmlns:m="http://schemas.openxmlformats.org/officeDocument/2006/math">
                    <m:r>
                      <a:rPr lang="zh-CN" altLang="en-US" sz="24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sym typeface="Symbol" panose="05050102010706020507" pitchFamily="18" charset="2"/>
                      </a:rPr>
                      <m:t>𝛾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光子。其寿命长短依赖于路径上的电子密度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结果：元素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V</m:t>
                        </m:r>
                      </m:sub>
                    </m:sSub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	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Au	0.97 eV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	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Ag	1.16 eV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	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Cu	1.29 eV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	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Si	2.79 eV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dirty="0">
                  <a:solidFill>
                    <a:schemeClr val="tx1"/>
                  </a:solidFill>
                </a:endParaRPr>
              </a:p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5.1.3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弗伦克尔缺陷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sz="10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由于热运动的能量涨落，原子脱离格点进入间隙位置，形成缺陷对，称为弗伦克尔缺陷。在金属、离子晶体中都存在。</a:t>
                </a:r>
                <a:endParaRPr lang="zh-CN" altLang="en-US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560" y="1296952"/>
                <a:ext cx="10373360" cy="5358130"/>
              </a:xfrm>
              <a:prstGeom prst="rect">
                <a:avLst/>
              </a:prstGeom>
              <a:blipFill rotWithShape="1">
                <a:blip r:embed="rId2"/>
                <a:stretch>
                  <a:fillRect t="-5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667760" y="274320"/>
            <a:ext cx="4257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tx1"/>
                </a:solidFill>
              </a:rPr>
              <a:t>第五章 晶体中的缺陷</a:t>
            </a:r>
            <a:endParaRPr lang="zh-CN" altLang="en-US" sz="3200" dirty="0" smtClean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4617720" y="953871"/>
                <a:ext cx="38404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§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charset="0"/>
                      </a:rPr>
                      <m:t>5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.1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点缺陷</a:t>
                </a:r>
                <a:endParaRPr lang="zh-CN" altLang="en-US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720" y="953871"/>
                <a:ext cx="3840480" cy="461665"/>
              </a:xfrm>
              <a:prstGeom prst="rect">
                <a:avLst/>
              </a:prstGeom>
              <a:blipFill rotWithShape="1">
                <a:blip r:embed="rId1"/>
                <a:stretch>
                  <a:fillRect t="-22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757141" y="1378231"/>
                <a:ext cx="10373360" cy="5404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5.1.3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弗伦克尔缺陷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温度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𝑇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下，空位和间隙原子都会扩散，达到平衡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设晶体有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𝑁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个原子，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𝑁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’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个间隙位置，则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个弗伦克尔缺陷的分布方式数：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𝑃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𝑁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𝑛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𝐶</m:t>
                          </m:r>
                        </m:e>
                        <m:sub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′</m:t>
                              </m:r>
                            </m:sup>
                          </m:sSup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𝑛</m:t>
                          </m:r>
                        </m:sup>
                      </m:sSubSup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𝑁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!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𝑁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!</m:t>
                          </m:r>
                        </m:den>
                      </m:f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!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𝑁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sym typeface="Symbol" panose="05050102010706020507" pitchFamily="18" charset="2"/>
                        </a:rPr>
                        <m:t>∆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sym typeface="Symbol" panose="05050102010706020507" pitchFamily="18" charset="2"/>
                        </a:rPr>
                        <m:t>𝐹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sym typeface="Symbol" panose="05050102010706020507" pitchFamily="18" charset="2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sym typeface="Symbol" panose="05050102010706020507" pitchFamily="18" charset="2"/>
                        </a:rPr>
                        <m:t>𝑛</m:t>
                      </m:r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zh-CN" altLang="en-US" sz="240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 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−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𝑇</m:t>
                      </m:r>
                      <m:r>
                        <a:rPr lang="en-US" altLang="zh-CN" sz="240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sym typeface="Symbol" panose="05050102010706020507" pitchFamily="18" charset="2"/>
                        </a:rPr>
                        <m:t>∆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sym typeface="Symbol" panose="05050102010706020507" pitchFamily="18" charset="2"/>
                        </a:rPr>
                        <m:t>𝑆</m:t>
                      </m:r>
                    </m:oMath>
                  </m:oMathPara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>
                    <a:solidFill>
                      <a:schemeClr val="tx1"/>
                    </a:solidFill>
                  </a:rPr>
                  <a:t>利用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𝜕</m:t>
                        </m:r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  <a:sym typeface="Symbol" panose="05050102010706020507" pitchFamily="18" charset="2"/>
                          </a:rPr>
                          <m:t>∆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  <a:sym typeface="Symbol" panose="05050102010706020507" pitchFamily="18" charset="2"/>
                          </a:rPr>
                          <m:t>𝐹</m:t>
                        </m:r>
                      </m:num>
                      <m:den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0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,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𝑛</m:t>
                    </m:r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zh-CN" altLang="en-US" sz="2400" i="1" dirty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（</m:t>
                        </m:r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𝑁𝑁</m:t>
                        </m:r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′）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/</m:t>
                        </m:r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  <m:t> 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charset="0"/>
                                    <a:sym typeface="Symbol" panose="05050102010706020507" pitchFamily="18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charset="0"/>
                                    <a:sym typeface="Symbol" panose="05050102010706020507" pitchFamily="18" charset="2"/>
                                  </a:rPr>
                                  <m:t>2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charset="0"/>
                                    <a:sym typeface="Symbol" panose="05050102010706020507" pitchFamily="18" charset="2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charset="0"/>
                                    <a:sym typeface="Symbol" panose="05050102010706020507" pitchFamily="18" charset="2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charset="0"/>
                                <a:sym typeface="Symbol" panose="05050102010706020507" pitchFamily="18" charset="2"/>
                              </a:rPr>
                              <m:t>𝑇</m:t>
                            </m:r>
                          </m:den>
                        </m:f>
                      </m:sup>
                    </m:sSup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5.1.4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杂质原子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有替位杂质和间隙杂质之分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性质完全不同，如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𝑆𝑖</m:t>
                        </m:r>
                      </m:sub>
                    </m:sSub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charset="0"/>
                      </a:rPr>
                      <m:t>和</m:t>
                    </m:r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，前者是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P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型杂质，后者不是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141" y="1378231"/>
                <a:ext cx="10373360" cy="5404043"/>
              </a:xfrm>
              <a:prstGeom prst="rect">
                <a:avLst/>
              </a:prstGeom>
              <a:blipFill rotWithShape="1">
                <a:blip r:embed="rId2"/>
                <a:stretch>
                  <a:fillRect l="-2" t="-5" r="2" b="-70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9067137" y="3833839"/>
                <a:ext cx="3124863" cy="3016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>
                    <a:solidFill>
                      <a:schemeClr val="tx1"/>
                    </a:solidFill>
                  </a:rPr>
                  <a:t>5.1.5 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反位缺陷</a:t>
                </a:r>
                <a:endParaRPr lang="en-US" altLang="zh-CN" sz="2800" dirty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比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如，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𝐶𝑙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𝑁𝑎</m:t>
                        </m:r>
                      </m:sub>
                    </m:sSub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charset="0"/>
                      </a:rPr>
                      <m:t>或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𝑁𝑎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𝐶𝑙</m:t>
                        </m:r>
                      </m:sub>
                    </m:sSub>
                  </m:oMath>
                </a14:m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>
                    <a:solidFill>
                      <a:schemeClr val="tx1"/>
                    </a:solidFill>
                  </a:rPr>
                  <a:t>* </a:t>
                </a:r>
                <a:r>
                  <a:rPr lang="zh-CN" altLang="en-US" sz="2400" i="1" dirty="0">
                    <a:solidFill>
                      <a:schemeClr val="tx1"/>
                    </a:solidFill>
                  </a:rPr>
                  <a:t>很多材料学的研究工作都是围绕缺陷控制展开的</a:t>
                </a:r>
                <a:endParaRPr lang="zh-CN" altLang="en-US" sz="2400" i="1" dirty="0">
                  <a:solidFill>
                    <a:schemeClr val="tx1"/>
                  </a:solidFill>
                </a:endParaRPr>
              </a:p>
              <a:p>
                <a:endParaRPr lang="zh-CN" alt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7137" y="3833839"/>
                <a:ext cx="3124863" cy="3016210"/>
              </a:xfrm>
              <a:prstGeom prst="rect">
                <a:avLst/>
              </a:prstGeom>
              <a:blipFill rotWithShape="1">
                <a:blip r:embed="rId3"/>
                <a:stretch>
                  <a:fillRect l="-19" t="-11" b="-26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667760" y="274320"/>
            <a:ext cx="4257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tx1"/>
                </a:solidFill>
              </a:rPr>
              <a:t>第五章 晶体中的缺陷</a:t>
            </a:r>
            <a:endParaRPr lang="zh-CN" altLang="en-US" sz="3200" dirty="0" smtClean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4211320" y="953871"/>
                <a:ext cx="38404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§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charset="0"/>
                      </a:rPr>
                      <m:t>5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.2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晶体中的原子扩散</a:t>
                </a:r>
                <a:endParaRPr lang="zh-CN" altLang="en-US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320" y="953871"/>
                <a:ext cx="3840480" cy="461665"/>
              </a:xfrm>
              <a:prstGeom prst="rect">
                <a:avLst/>
              </a:prstGeom>
              <a:blipFill rotWithShape="1">
                <a:blip r:embed="rId1"/>
                <a:stretch>
                  <a:fillRect t="-22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209040" y="1380152"/>
                <a:ext cx="10373360" cy="5297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故事：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en-US" altLang="zh-CN" sz="2400" dirty="0" err="1" smtClean="0">
                    <a:solidFill>
                      <a:schemeClr val="tx1"/>
                    </a:solidFill>
                  </a:rPr>
                  <a:t>CdTe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中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Cu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的作用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>
                    <a:solidFill>
                      <a:schemeClr val="tx1"/>
                    </a:solidFill>
                  </a:rPr>
                  <a:t>	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	CuInSe</a:t>
                </a:r>
                <a:r>
                  <a:rPr lang="en-US" altLang="zh-CN" sz="2400" baseline="-25000" dirty="0" smtClean="0">
                    <a:solidFill>
                      <a:schemeClr val="tx1"/>
                    </a:solidFill>
                  </a:rPr>
                  <a:t>2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中的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Na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扩散：粒子浓度梯度引起的粒子定向漂移现象。在固体中一般指杂质和缺陷的扩散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宏观规律：菲克定律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微观机制：各不相同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应用：在冶金、半导体工业中有广泛的应用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5.2.1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扩散系数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𝐽</m:t>
                        </m:r>
                      </m:e>
                    </m:acc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=−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𝐷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</a:rPr>
                      <m:t>𝛻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</a:rPr>
                      <m:t>𝑛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charset="0"/>
                              </a:rPr>
                              <m:t>𝑟</m:t>
                            </m:r>
                          </m:e>
                        </m:acc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CN" sz="2400" i="1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菲克第一定律，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𝐽</m:t>
                        </m:r>
                      </m:e>
                    </m:acc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是粒子流密度，</a:t>
                </a:r>
                <a:r>
                  <a:rPr lang="en-US" altLang="zh-CN" sz="2400" b="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𝐷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是扩散系数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𝐽</m:t>
                        </m:r>
                      </m:e>
                    </m:acc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还满足：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</a:rPr>
                          <m:t>𝑛</m:t>
                        </m:r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charset="0"/>
                                  </a:rPr>
                                  <m:t>𝑟</m:t>
                                </m:r>
                              </m:e>
                            </m:acc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,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</a:rPr>
                      <m:t>𝛻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𝐽</m:t>
                        </m:r>
                      </m:e>
                    </m:acc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0</m:t>
                    </m:r>
                  </m:oMath>
                </a14:m>
                <a:endParaRPr lang="en-US" altLang="zh-CN" sz="2400" b="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所以：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</a:rPr>
                          <m:t>𝑛</m:t>
                        </m:r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Cambria Math" charset="0"/>
                                  </a:rPr>
                                  <m:t>𝑟</m:t>
                                </m:r>
                              </m:e>
                            </m:acc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,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𝜕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den>
                    </m:f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𝐷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</a:rPr>
                          <m:t>𝛻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</a:rPr>
                      <m:t>𝑛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charset="0"/>
                              </a:rPr>
                              <m:t>𝑟</m:t>
                            </m:r>
                          </m:e>
                        </m:acc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菲克第二定律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应用举例：</a:t>
                </a:r>
                <a:endParaRPr lang="zh-CN" altLang="en-US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040" y="1380152"/>
                <a:ext cx="10373360" cy="5297219"/>
              </a:xfrm>
              <a:prstGeom prst="rect">
                <a:avLst/>
              </a:prstGeom>
              <a:blipFill rotWithShape="1">
                <a:blip r:embed="rId2"/>
                <a:stretch>
                  <a:fillRect t="-6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667760" y="274320"/>
            <a:ext cx="4257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tx1"/>
                </a:solidFill>
              </a:rPr>
              <a:t>第五章 晶体中的缺陷</a:t>
            </a:r>
            <a:endParaRPr lang="zh-CN" altLang="en-US" sz="3200" dirty="0" smtClean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4211320" y="953871"/>
                <a:ext cx="38404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§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charset="0"/>
                      </a:rPr>
                      <m:t>5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.2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晶体中的原子扩散</a:t>
                </a:r>
                <a:endParaRPr lang="zh-CN" altLang="en-US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320" y="953871"/>
                <a:ext cx="3840480" cy="461665"/>
              </a:xfrm>
              <a:prstGeom prst="rect">
                <a:avLst/>
              </a:prstGeom>
              <a:blipFill rotWithShape="1">
                <a:blip r:embed="rId1"/>
                <a:stretch>
                  <a:fillRect t="-22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005204" y="1510312"/>
                <a:ext cx="8219477" cy="47629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5.2.1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扩散系数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应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用举例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：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t=0,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𝑁</m:t>
                        </m:r>
                      </m:e>
                      <m:sub>
                        <m: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  <m:r>
                          <m:rPr>
                            <m:nor/>
                          </m:rPr>
                          <a:rPr lang="zh-CN" altLang="en-US" sz="2400" dirty="0">
                            <a:solidFill>
                              <a:schemeClr val="tx1"/>
                            </a:solidFill>
                            <a:latin typeface="DejaVu Math TeX Gyre" panose="02000503000000000000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个杂质位于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𝑥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0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,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𝑡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时刻分布。已知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𝐷</m:t>
                    </m:r>
                    <m:r>
                      <a:rPr lang="zh-CN" altLang="en-US" sz="2400" i="1" dirty="0">
                        <a:solidFill>
                          <a:schemeClr val="tx1"/>
                        </a:solidFill>
                        <a:latin typeface="Cambria Math" charset="0"/>
                      </a:rPr>
                      <m:t>。</m:t>
                    </m:r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解：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𝑡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时刻：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0</m:t>
                        </m:r>
                      </m:sub>
                      <m:sup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</a:rPr>
                          <m:t>∞</m:t>
                        </m:r>
                      </m:sup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𝑥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,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𝑑𝑥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=</m:t>
                        </m:r>
                      </m:e>
                    </m:nary>
                    <m:sSub>
                      <m:sSub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𝑁</m:t>
                        </m:r>
                      </m:e>
                      <m:sub>
                        <m: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  <m:r>
                          <m:rPr>
                            <m:nor/>
                          </m:rPr>
                          <a:rPr lang="zh-CN" altLang="en-US" sz="2400" dirty="0">
                            <a:solidFill>
                              <a:schemeClr val="tx1"/>
                            </a:solidFill>
                            <a:latin typeface="DejaVu Math TeX Gyre" panose="02000503000000000000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,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𝑛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满足：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𝜕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,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𝜕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400" i="1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𝐷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</a:rPr>
                            <m:t>𝛻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</a:rPr>
                        <m:t>𝑛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解可以是：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</a:rPr>
                      <m:t>𝑛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𝑖</m:t>
                            </m:r>
                            <m:r>
                              <m:rPr>
                                <m:nor/>
                              </m:rPr>
                              <a:rPr lang="zh-CN" altLang="en-US" sz="2400" dirty="0">
                                <a:solidFill>
                                  <a:schemeClr val="tx1"/>
                                </a:solidFill>
                                <a:latin typeface="DejaVu Math TeX Gyre" panose="02000503000000000000" charset="0"/>
                              </a:rPr>
                              <m:t> 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radPr>
                          <m:deg/>
                          <m:e>
                            <m:r>
                              <a:rPr lang="zh-CN" altLang="en-US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𝜋</m:t>
                            </m:r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𝐷𝑡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/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4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𝐷𝑡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	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(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为一宽度随时间增大的高斯分布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)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*实验上测出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</a:rPr>
                      <m:t>𝑛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，可得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𝐷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。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	 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𝐷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charset="0"/>
                                <a:sym typeface="Symbol" panose="05050102010706020507" pitchFamily="18" charset="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charset="0"/>
                                <a:sym typeface="Symbol" panose="05050102010706020507" pitchFamily="18" charset="2"/>
                              </a:rPr>
                              <m:t>𝐵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  <a:sym typeface="Symbol" panose="05050102010706020507" pitchFamily="18" charset="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称为扩散激活能</a:t>
                </a:r>
                <a:endParaRPr lang="zh-CN" altLang="en-US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204" y="1510312"/>
                <a:ext cx="8219477" cy="4762971"/>
              </a:xfrm>
              <a:prstGeom prst="rect">
                <a:avLst/>
              </a:prstGeom>
              <a:blipFill rotWithShape="1">
                <a:blip r:embed="rId2"/>
                <a:stretch>
                  <a:fillRect l="-8" t="-6" b="-12408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椭圆 1"/>
          <p:cNvSpPr/>
          <p:nvPr/>
        </p:nvSpPr>
        <p:spPr>
          <a:xfrm>
            <a:off x="9601144" y="4597637"/>
            <a:ext cx="213360" cy="731520"/>
          </a:xfrm>
          <a:prstGeom prst="ellipse">
            <a:avLst/>
          </a:prstGeom>
          <a:noFill/>
          <a:ln w="2857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" name="直接连接符 3"/>
          <p:cNvCxnSpPr>
            <a:stCxn id="2" idx="0"/>
          </p:cNvCxnSpPr>
          <p:nvPr/>
        </p:nvCxnSpPr>
        <p:spPr>
          <a:xfrm>
            <a:off x="9707824" y="4597637"/>
            <a:ext cx="2047240" cy="0"/>
          </a:xfrm>
          <a:prstGeom prst="line">
            <a:avLst/>
          </a:prstGeom>
          <a:ln w="28575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9717984" y="5329157"/>
            <a:ext cx="2047240" cy="0"/>
          </a:xfrm>
          <a:prstGeom prst="line">
            <a:avLst/>
          </a:prstGeom>
          <a:ln w="28575" cmpd="sng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9717984" y="4973557"/>
            <a:ext cx="2047240" cy="0"/>
          </a:xfrm>
          <a:prstGeom prst="line">
            <a:avLst/>
          </a:prstGeom>
          <a:ln w="28575" cmpd="sng">
            <a:solidFill>
              <a:schemeClr val="accent1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565584" y="4902437"/>
            <a:ext cx="309880" cy="369332"/>
          </a:xfrm>
          <a:prstGeom prst="rect">
            <a:avLst/>
          </a:prstGeom>
          <a:noFill/>
          <a:ln w="28575" cmpd="sng">
            <a:noFill/>
            <a:prstDash val="solid"/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577264" y="4912597"/>
            <a:ext cx="309880" cy="369332"/>
          </a:xfrm>
          <a:prstGeom prst="rect">
            <a:avLst/>
          </a:prstGeom>
          <a:noFill/>
          <a:ln w="28575" cmpd="sng">
            <a:noFill/>
            <a:prstDash val="solid"/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</a:rPr>
              <a:t>x</a:t>
            </a:r>
            <a:endParaRPr lang="en-US" altLang="zh-CN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9448855" y="3686310"/>
                <a:ext cx="980440" cy="369332"/>
              </a:xfrm>
              <a:prstGeom prst="rect">
                <a:avLst/>
              </a:prstGeom>
              <a:noFill/>
              <a:ln w="28575" cmpd="sng">
                <a:noFill/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tx1"/>
                    </a:solidFill>
                  </a:rPr>
                  <a:t>t=0,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𝑁</m:t>
                        </m:r>
                      </m:e>
                      <m:sub>
                        <m: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  <m:r>
                          <m:rPr>
                            <m:nor/>
                          </m:rPr>
                          <a:rPr lang="zh-CN" altLang="en-US" dirty="0">
                            <a:solidFill>
                              <a:schemeClr val="tx1"/>
                            </a:solidFill>
                            <a:latin typeface="DejaVu Math TeX Gyre" panose="02000503000000000000" charset="0"/>
                          </a:rPr>
                          <m:t> </m:t>
                        </m:r>
                      </m:sub>
                    </m:sSub>
                  </m:oMath>
                </a14:m>
                <a:endParaRPr lang="zh-CN" altLang="en-US" dirty="0">
                  <a:solidFill>
                    <a:schemeClr val="tx1"/>
                  </a:solidFill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855" y="3686310"/>
                <a:ext cx="980440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6" t="-37" r="6" b="-3775999"/>
                </a:stretch>
              </a:blipFill>
              <a:ln w="28575" cmpd="sng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箭头连接符 13"/>
          <p:cNvCxnSpPr/>
          <p:nvPr/>
        </p:nvCxnSpPr>
        <p:spPr>
          <a:xfrm flipH="1">
            <a:off x="9717984" y="4367529"/>
            <a:ext cx="0" cy="230108"/>
          </a:xfrm>
          <a:prstGeom prst="straightConnector1">
            <a:avLst/>
          </a:prstGeom>
          <a:ln w="28575" cmpd="sng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667760" y="274320"/>
            <a:ext cx="4257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tx1"/>
                </a:solidFill>
              </a:rPr>
              <a:t>第五章 晶体中的缺陷</a:t>
            </a:r>
            <a:endParaRPr lang="zh-CN" altLang="en-US" sz="3200" dirty="0" smtClean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4211320" y="953871"/>
                <a:ext cx="38404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bg1"/>
                        </a:solidFill>
                        <a:latin typeface="Cambria Math" charset="0"/>
                      </a:rPr>
                      <m:t>§</m:t>
                    </m:r>
                    <m:r>
                      <a:rPr lang="en-US" altLang="zh-CN" sz="2400" i="1">
                        <a:solidFill>
                          <a:schemeClr val="bg1"/>
                        </a:solidFill>
                        <a:latin typeface="Cambria Math" charset="0"/>
                      </a:rPr>
                      <m:t>5</m:t>
                    </m:r>
                  </m:oMath>
                </a14:m>
                <a:r>
                  <a:rPr lang="en-US" altLang="zh-CN" sz="2400" dirty="0" smtClean="0">
                    <a:solidFill>
                      <a:schemeClr val="bg1"/>
                    </a:solidFill>
                  </a:rPr>
                  <a:t>.2 </a:t>
                </a:r>
                <a:r>
                  <a:rPr lang="zh-CN" altLang="en-US" sz="2400" dirty="0" smtClean="0">
                    <a:solidFill>
                      <a:schemeClr val="bg1"/>
                    </a:solidFill>
                  </a:rPr>
                  <a:t>晶体中的原子扩散</a:t>
                </a:r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320" y="953871"/>
                <a:ext cx="3840480" cy="461665"/>
              </a:xfrm>
              <a:prstGeom prst="rect">
                <a:avLst/>
              </a:prstGeom>
              <a:blipFill rotWithShape="1">
                <a:blip r:embed="rId1"/>
                <a:stretch>
                  <a:fillRect t="-22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209040" y="1380152"/>
                <a:ext cx="10373360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5.2.2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扩散机制 （略）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1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、换位机制 （激活能大）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2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、填隙机制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3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、空位机制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4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、扩展缺陷机制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dirty="0">
                  <a:solidFill>
                    <a:schemeClr val="tx1"/>
                  </a:solidFill>
                </a:endParaRPr>
              </a:p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5.2.3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无规行走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扩散现象的本质是粒子的无规行走（布朗运动）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考虑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x=0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处粒子的无规行走：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𝑁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步后，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𝑑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𝑑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𝑑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3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</a:rPr>
                      <m:t>∙∙∙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𝑑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𝑚𝑑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−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𝑁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𝑚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𝑑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𝑚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𝑁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𝑑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  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  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(|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𝑑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|=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charset="0"/>
                      </a:rPr>
                      <m:t>𝑑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𝑚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为前行步数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)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040" y="1380152"/>
                <a:ext cx="10373360" cy="4832092"/>
              </a:xfrm>
              <a:prstGeom prst="rect">
                <a:avLst/>
              </a:prstGeom>
              <a:blipFill rotWithShape="1">
                <a:blip r:embed="rId2"/>
                <a:stretch>
                  <a:fillRect t="-6" b="-6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901" y="1471195"/>
            <a:ext cx="4584600" cy="31151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667760" y="274320"/>
            <a:ext cx="4257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tx1"/>
                </a:solidFill>
              </a:rPr>
              <a:t>第五章 晶体中的缺陷</a:t>
            </a:r>
            <a:endParaRPr lang="zh-CN" altLang="en-US" sz="3200" dirty="0" smtClean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4211320" y="953871"/>
                <a:ext cx="38404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§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charset="0"/>
                      </a:rPr>
                      <m:t>5</m:t>
                    </m:r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.2 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晶体中的原子扩散</a:t>
                </a:r>
                <a:endParaRPr lang="zh-CN" altLang="en-US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320" y="953871"/>
                <a:ext cx="3840480" cy="461665"/>
              </a:xfrm>
              <a:prstGeom prst="rect">
                <a:avLst/>
              </a:prstGeom>
              <a:blipFill rotWithShape="1">
                <a:blip r:embed="rId1"/>
                <a:stretch>
                  <a:fillRect t="-22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209040" y="1380152"/>
                <a:ext cx="10373360" cy="4578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 smtClean="0">
                    <a:solidFill>
                      <a:schemeClr val="tx1"/>
                    </a:solidFill>
                  </a:rPr>
                  <a:t>5.2.3 </a:t>
                </a:r>
                <a:r>
                  <a:rPr lang="zh-CN" altLang="en-US" sz="2800" dirty="0" smtClean="0">
                    <a:solidFill>
                      <a:schemeClr val="tx1"/>
                    </a:solidFill>
                  </a:rPr>
                  <a:t>无规行走</a:t>
                </a:r>
                <a:endParaRPr lang="en-US" altLang="zh-CN" sz="2800" dirty="0" smtClean="0">
                  <a:solidFill>
                    <a:schemeClr val="tx1"/>
                  </a:solidFill>
                </a:endParaRPr>
              </a:p>
              <a:p>
                <a:endParaRPr lang="en-US" altLang="zh-CN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在原点以外的几率，用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bSup>
                      </m:e>
                    </m:acc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40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en-US" altLang="zh-CN" sz="240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p>
                          </m:sSubSup>
                        </m:e>
                      </m:acc>
                      <m:r>
                        <a:rPr lang="en-US" altLang="zh-CN" sz="2400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altLang="zh-CN" sz="2400" dirty="0" smtClean="0">
                                  <a:solidFill>
                                    <a:schemeClr val="tx1"/>
                                  </a:solidFill>
                                  <a:latin typeface="DejaVu Math TeX Gyre" panose="02000503000000000000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+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  <a:ea typeface="Cambria Math" charset="0"/>
                                </a:rPr>
                                <m:t>∙∙∙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acc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=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𝑁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&lt;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acc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𝑁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𝑑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            (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𝑁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→∞)</m:t>
                      </m:r>
                    </m:oMath>
                  </m:oMathPara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三维：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,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3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𝑁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𝑑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3</m:t>
                        </m:r>
                      </m:den>
                    </m:f>
                    <m:r>
                      <a:rPr lang="zh-CN" altLang="en-US" sz="24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𝛾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𝑡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𝑑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	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𝛾</m:t>
                    </m:r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为跃迁频率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由</a:t>
                </a:r>
                <a:r>
                  <a:rPr lang="en-US" altLang="zh-CN" sz="2400" dirty="0" smtClean="0">
                    <a:solidFill>
                      <a:schemeClr val="tx1"/>
                    </a:solidFill>
                  </a:rPr>
                  <a:t>5.2.1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得到的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𝑛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算得：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240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𝑖</m:t>
                            </m:r>
                            <m:r>
                              <m:rPr>
                                <m:nor/>
                              </m:rPr>
                              <a:rPr lang="zh-CN" altLang="en-US" sz="2400" dirty="0">
                                <a:solidFill>
                                  <a:schemeClr val="tx1"/>
                                </a:solidFill>
                                <a:latin typeface="DejaVu Math TeX Gyre" panose="02000503000000000000" charset="0"/>
                              </a:rPr>
                              <m:t> </m:t>
                            </m:r>
                          </m:sub>
                        </m:sSub>
                      </m:den>
                    </m:f>
                    <m:nary>
                      <m:nary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0</m:t>
                        </m:r>
                      </m:sub>
                      <m:sup>
                        <m: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240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𝑛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𝑑𝑥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2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𝐷𝑡</m:t>
                    </m:r>
                  </m:oMath>
                </a14:m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zh-CN" altLang="en-US" sz="2400" dirty="0" smtClean="0">
                    <a:solidFill>
                      <a:schemeClr val="tx1"/>
                    </a:solidFill>
                  </a:rPr>
                  <a:t>所以，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𝐷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6</m:t>
                        </m:r>
                      </m:den>
                    </m:f>
                    <m:r>
                      <a:rPr lang="zh-CN" altLang="en-US" sz="24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𝛾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𝑑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charset="0"/>
                                <a:sym typeface="Symbol" panose="05050102010706020507" pitchFamily="18" charset="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charset="0"/>
                                <a:sym typeface="Symbol" panose="05050102010706020507" pitchFamily="18" charset="2"/>
                              </a:rPr>
                              <m:t>𝐵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  <a:sym typeface="Symbol" panose="05050102010706020507" pitchFamily="18" charset="2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6</m:t>
                        </m:r>
                      </m:den>
                    </m:f>
                    <m:sSup>
                      <m:sSup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𝑑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𝛾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charset="0"/>
                                <a:sym typeface="Symbol" panose="05050102010706020507" pitchFamily="18" charset="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charset="0"/>
                                <a:sym typeface="Symbol" panose="05050102010706020507" pitchFamily="18" charset="2"/>
                              </a:rPr>
                              <m:t>𝐵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  <a:sym typeface="Symbol" panose="05050102010706020507" pitchFamily="18" charset="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	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endParaRPr lang="en-US" altLang="zh-CN" sz="2400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CN" sz="2400" dirty="0" smtClean="0">
                    <a:solidFill>
                      <a:schemeClr val="tx1"/>
                    </a:solidFill>
                  </a:rPr>
                  <a:t>(</a:t>
                </a:r>
                <a:r>
                  <a:rPr lang="zh-CN" altLang="en-US" sz="2400" dirty="0" smtClean="0">
                    <a:solidFill>
                      <a:schemeClr val="tx1"/>
                    </a:solidFill>
                  </a:rPr>
                  <a:t>必须有：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𝛾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zh-CN" altLang="en-US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𝛾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charset="0"/>
                                <a:sym typeface="Symbol" panose="05050102010706020507" pitchFamily="18" charset="2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charset="0"/>
                                <a:sym typeface="Symbol" panose="05050102010706020507" pitchFamily="18" charset="2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Cambria Math" charset="0"/>
                                <a:sym typeface="Symbol" panose="05050102010706020507" pitchFamily="18" charset="2"/>
                              </a:rPr>
                              <m:t>𝐵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  <a:sym typeface="Symbol" panose="05050102010706020507" pitchFamily="18" charset="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solidFill>
                      <a:schemeClr val="tx1"/>
                    </a:solidFill>
                  </a:rPr>
                  <a:t>      一般，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𝐸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10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solidFill>
                      <a:schemeClr val="tx1"/>
                    </a:solidFill>
                  </a:rPr>
                  <a:t> eV)</a:t>
                </a:r>
                <a:endParaRPr lang="en-US" altLang="zh-CN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9040" y="1380152"/>
                <a:ext cx="10373360" cy="4578305"/>
              </a:xfrm>
              <a:prstGeom prst="rect">
                <a:avLst/>
              </a:prstGeom>
              <a:blipFill rotWithShape="1">
                <a:blip r:embed="rId2"/>
                <a:stretch>
                  <a:fillRect t="-6" b="-3940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97120" y="2428240"/>
            <a:ext cx="5201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smtClean="0">
                <a:solidFill>
                  <a:schemeClr val="tx1"/>
                </a:solidFill>
              </a:rPr>
              <a:t>The End</a:t>
            </a:r>
            <a:endParaRPr lang="en-US" altLang="zh-CN" sz="40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2460</Words>
  <Application>WPS 演示</Application>
  <PresentationFormat>宽屏</PresentationFormat>
  <Paragraphs>163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1" baseType="lpstr">
      <vt:lpstr>Arial</vt:lpstr>
      <vt:lpstr>宋体</vt:lpstr>
      <vt:lpstr>Wingdings</vt:lpstr>
      <vt:lpstr>Cambria Math</vt:lpstr>
      <vt:lpstr>Kingsoft Math</vt:lpstr>
      <vt:lpstr>Cambria Math</vt:lpstr>
      <vt:lpstr>Symbol</vt:lpstr>
      <vt:lpstr>DejaVu Math TeX Gyre</vt:lpstr>
      <vt:lpstr>等线</vt:lpstr>
      <vt:lpstr>汉仪中等线KW</vt:lpstr>
      <vt:lpstr>微软雅黑</vt:lpstr>
      <vt:lpstr>汉仪旗黑</vt:lpstr>
      <vt:lpstr>宋体</vt:lpstr>
      <vt:lpstr>Arial Unicode MS</vt:lpstr>
      <vt:lpstr>等线 Light</vt:lpstr>
      <vt:lpstr>Calibri</vt:lpstr>
      <vt:lpstr>Helvetica Neue</vt:lpstr>
      <vt:lpstr>汉仪书宋二KW</vt:lpstr>
      <vt:lpstr>Kingsoft Sign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zhanglixin</dc:creator>
  <cp:lastModifiedBy>张立新</cp:lastModifiedBy>
  <cp:revision>53</cp:revision>
  <dcterms:created xsi:type="dcterms:W3CDTF">2024-04-22T01:42:53Z</dcterms:created>
  <dcterms:modified xsi:type="dcterms:W3CDTF">2024-04-22T01:42:53Z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79F0CEECA601E9BE9CC02566A07B0090</vt:lpwstr>
  </property>
  <property fmtid="{D5CDD505-2E9C-101B-9397-08002B2CF9AE}" pid="3" name="KSOProductBuildVer">
    <vt:lpwstr>2052-5.1.1.7662</vt:lpwstr>
  </property>
</Properties>
</file>