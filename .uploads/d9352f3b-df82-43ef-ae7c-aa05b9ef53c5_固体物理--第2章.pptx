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1" r:id="rId7"/>
    <p:sldId id="263" r:id="rId8"/>
    <p:sldId id="264" r:id="rId9"/>
    <p:sldId id="266" r:id="rId10"/>
    <p:sldId id="269" r:id="rId11"/>
    <p:sldId id="265"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98" autoAdjust="0"/>
    <p:restoredTop sz="94660"/>
  </p:normalViewPr>
  <p:slideViewPr>
    <p:cSldViewPr snapToGrid="0">
      <p:cViewPr>
        <p:scale>
          <a:sx n="63" d="100"/>
          <a:sy n="63" d="100"/>
        </p:scale>
        <p:origin x="1824" y="1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7E072D05-15D9-4AA7-8F76-EC6181629277}" type="datetimeFigureOut">
              <a:rPr lang="zh-CN" altLang="en-US" smtClean="0"/>
              <a:t>2024/3/11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3060502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E072D05-15D9-4AA7-8F76-EC6181629277}" type="datetimeFigureOut">
              <a:rPr lang="zh-CN" altLang="en-US" smtClean="0"/>
              <a:t>2024/3/11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2702686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7E072D05-15D9-4AA7-8F76-EC6181629277}" type="datetimeFigureOut">
              <a:rPr lang="zh-CN" altLang="en-US" smtClean="0"/>
              <a:t>2024/3/11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2122726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E072D05-15D9-4AA7-8F76-EC6181629277}" type="datetimeFigureOut">
              <a:rPr lang="zh-CN" altLang="en-US" smtClean="0"/>
              <a:t>2024/3/11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2851485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E072D05-15D9-4AA7-8F76-EC6181629277}" type="datetimeFigureOut">
              <a:rPr lang="zh-CN" altLang="en-US" smtClean="0"/>
              <a:t>2024/3/11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3835726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E072D05-15D9-4AA7-8F76-EC6181629277}" type="datetimeFigureOut">
              <a:rPr lang="zh-CN" altLang="en-US" smtClean="0"/>
              <a:t>2024/3/11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265249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E072D05-15D9-4AA7-8F76-EC6181629277}" type="datetimeFigureOut">
              <a:rPr lang="zh-CN" altLang="en-US" smtClean="0"/>
              <a:t>2024/3/11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1685657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7E072D05-15D9-4AA7-8F76-EC6181629277}" type="datetimeFigureOut">
              <a:rPr lang="zh-CN" altLang="en-US" smtClean="0"/>
              <a:t>2024/3/11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49148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7E072D05-15D9-4AA7-8F76-EC6181629277}" type="datetimeFigureOut">
              <a:rPr lang="zh-CN" altLang="en-US" smtClean="0"/>
              <a:t>2024/3/11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3121718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E072D05-15D9-4AA7-8F76-EC6181629277}" type="datetimeFigureOut">
              <a:rPr lang="zh-CN" altLang="en-US" smtClean="0"/>
              <a:t>2024/3/11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2148967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E072D05-15D9-4AA7-8F76-EC6181629277}" type="datetimeFigureOut">
              <a:rPr lang="zh-CN" altLang="en-US" smtClean="0"/>
              <a:t>2024/3/11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344853896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072D05-15D9-4AA7-8F76-EC6181629277}" type="datetimeFigureOut">
              <a:rPr lang="zh-CN" altLang="en-US" smtClean="0"/>
              <a:t>2024/3/11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B9499A-5494-4572-809D-8857A939B9C0}" type="slidenum">
              <a:rPr lang="zh-CN" altLang="en-US" smtClean="0"/>
              <a:t>‹#›</a:t>
            </a:fld>
            <a:endParaRPr lang="zh-CN" altLang="en-US"/>
          </a:p>
        </p:txBody>
      </p:sp>
    </p:spTree>
    <p:extLst>
      <p:ext uri="{BB962C8B-B14F-4D97-AF65-F5344CB8AC3E}">
        <p14:creationId xmlns:p14="http://schemas.microsoft.com/office/powerpoint/2010/main" val="39671859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4" Type="http://schemas.openxmlformats.org/officeDocument/2006/relationships/image" Target="../media/image5.emf"/><Relationship Id="rId5" Type="http://schemas.openxmlformats.org/officeDocument/2006/relationships/image" Target="../media/image6.emf"/><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a:spLocks noGrp="1"/>
          </p:cNvSpPr>
          <p:nvPr>
            <p:ph type="subTitle" idx="1"/>
          </p:nvPr>
        </p:nvSpPr>
        <p:spPr>
          <a:xfrm>
            <a:off x="1751012" y="1713086"/>
            <a:ext cx="9018588" cy="4513971"/>
          </a:xfrm>
        </p:spPr>
        <p:txBody>
          <a:bodyPr>
            <a:normAutofit/>
          </a:bodyPr>
          <a:lstStyle/>
          <a:p>
            <a:pPr algn="l"/>
            <a:r>
              <a:rPr kumimoji="1" lang="en-US" altLang="zh-CN" dirty="0" smtClean="0"/>
              <a:t>§2.1</a:t>
            </a:r>
            <a:r>
              <a:rPr kumimoji="1" lang="zh-CN" altLang="en-US" dirty="0" smtClean="0"/>
              <a:t> 概述</a:t>
            </a:r>
            <a:endParaRPr kumimoji="1" lang="en-US" altLang="zh-CN" dirty="0" smtClean="0"/>
          </a:p>
          <a:p>
            <a:pPr algn="l"/>
            <a:r>
              <a:rPr kumimoji="1" lang="zh-CN" altLang="en-US" dirty="0" smtClean="0"/>
              <a:t>晶体具有周期性结构，是一种天然的衍射光栅。</a:t>
            </a:r>
            <a:endParaRPr kumimoji="1" lang="en-US" altLang="zh-CN" dirty="0" smtClean="0"/>
          </a:p>
          <a:p>
            <a:pPr algn="l"/>
            <a:endParaRPr kumimoji="1" lang="en-US" altLang="zh-CN" dirty="0" smtClean="0"/>
          </a:p>
          <a:p>
            <a:pPr algn="l"/>
            <a:r>
              <a:rPr kumimoji="1" lang="en-US" altLang="zh-CN" dirty="0" smtClean="0"/>
              <a:t>2.1.1 </a:t>
            </a:r>
            <a:r>
              <a:rPr kumimoji="1" lang="zh-CN" altLang="en-US" dirty="0" smtClean="0"/>
              <a:t>波长与晶格常数同量级的几种粒子束</a:t>
            </a:r>
          </a:p>
          <a:p>
            <a:pPr algn="l"/>
            <a:r>
              <a:rPr kumimoji="1" lang="en-US" altLang="zh-CN" b="1" dirty="0" smtClean="0"/>
              <a:t>X</a:t>
            </a:r>
            <a:r>
              <a:rPr kumimoji="1" lang="zh-CN" altLang="en-US" b="1" dirty="0" smtClean="0"/>
              <a:t>射线</a:t>
            </a:r>
            <a:r>
              <a:rPr kumimoji="1" lang="en-US" altLang="zh-CN" dirty="0" smtClean="0"/>
              <a:t>------</a:t>
            </a:r>
            <a:r>
              <a:rPr kumimoji="1" lang="zh-CN" altLang="en-US" dirty="0" smtClean="0"/>
              <a:t>伦琴，</a:t>
            </a:r>
            <a:r>
              <a:rPr kumimoji="1" lang="en-US" altLang="zh-CN" dirty="0" smtClean="0"/>
              <a:t>1895</a:t>
            </a:r>
            <a:r>
              <a:rPr kumimoji="1" lang="zh-CN" altLang="en-US" dirty="0" smtClean="0"/>
              <a:t>年；波长：</a:t>
            </a:r>
            <a:r>
              <a:rPr kumimoji="1" lang="en-US" altLang="zh-CN" dirty="0" smtClean="0"/>
              <a:t>0.1</a:t>
            </a:r>
            <a:r>
              <a:rPr kumimoji="1" lang="en-US" altLang="zh-CN" cap="none" dirty="0" smtClean="0">
                <a:effectLst/>
                <a:latin typeface="宋体" panose="02010600030101010101" pitchFamily="2" charset="-122"/>
                <a:ea typeface="宋体" panose="02010600030101010101" pitchFamily="2" charset="-122"/>
              </a:rPr>
              <a:t>nm</a:t>
            </a:r>
            <a:r>
              <a:rPr kumimoji="1" lang="zh-CN" altLang="en-US" dirty="0"/>
              <a:t>；</a:t>
            </a:r>
            <a:r>
              <a:rPr kumimoji="1" lang="zh-CN" altLang="en-US" dirty="0" smtClean="0"/>
              <a:t>劳厄（</a:t>
            </a:r>
            <a:r>
              <a:rPr kumimoji="1" lang="en-US" altLang="zh-CN" dirty="0" smtClean="0"/>
              <a:t>LAUE</a:t>
            </a:r>
            <a:r>
              <a:rPr kumimoji="1" lang="zh-CN" altLang="en-US" dirty="0" smtClean="0"/>
              <a:t>）；</a:t>
            </a:r>
            <a:r>
              <a:rPr kumimoji="1" lang="en-US" altLang="zh-CN" dirty="0" smtClean="0"/>
              <a:t>XRD</a:t>
            </a:r>
            <a:endParaRPr kumimoji="1" lang="zh-CN" altLang="en-US" dirty="0" smtClean="0"/>
          </a:p>
          <a:p>
            <a:pPr algn="l"/>
            <a:r>
              <a:rPr kumimoji="1" lang="zh-CN" altLang="en-US" b="1" dirty="0" smtClean="0"/>
              <a:t>电子</a:t>
            </a:r>
            <a:r>
              <a:rPr kumimoji="1" lang="en-US" altLang="zh-CN" dirty="0"/>
              <a:t>------</a:t>
            </a:r>
            <a:r>
              <a:rPr kumimoji="1" lang="zh-CN" altLang="en-US" dirty="0" smtClean="0"/>
              <a:t> 波长由加速电压调节；穿透力弱，表面研究，</a:t>
            </a:r>
            <a:r>
              <a:rPr kumimoji="1" lang="en-US" altLang="zh-CN" dirty="0" smtClean="0"/>
              <a:t>LEED</a:t>
            </a:r>
            <a:endParaRPr kumimoji="1" lang="zh-CN" altLang="en-US" dirty="0" smtClean="0"/>
          </a:p>
          <a:p>
            <a:pPr algn="l"/>
            <a:r>
              <a:rPr kumimoji="1" lang="zh-CN" altLang="en-US" b="1" dirty="0" smtClean="0"/>
              <a:t>中子</a:t>
            </a:r>
            <a:r>
              <a:rPr kumimoji="1" lang="en-US" altLang="zh-CN" dirty="0"/>
              <a:t>------</a:t>
            </a:r>
            <a:r>
              <a:rPr kumimoji="1" lang="zh-CN" altLang="en-US" dirty="0" smtClean="0"/>
              <a:t> 通过核反应获得；中子磁矩与电子自旋作用，用于磁性材料</a:t>
            </a:r>
            <a:endParaRPr kumimoji="1" lang="en-US" altLang="zh-CN" dirty="0" smtClean="0"/>
          </a:p>
          <a:p>
            <a:pPr algn="l"/>
            <a:endParaRPr kumimoji="1" lang="zh-CN" altLang="en-US" dirty="0" smtClean="0"/>
          </a:p>
        </p:txBody>
      </p:sp>
      <p:sp>
        <p:nvSpPr>
          <p:cNvPr id="3" name="矩形 2"/>
          <p:cNvSpPr/>
          <p:nvPr/>
        </p:nvSpPr>
        <p:spPr>
          <a:xfrm>
            <a:off x="3549536" y="484509"/>
            <a:ext cx="5228704" cy="584775"/>
          </a:xfrm>
          <a:prstGeom prst="rect">
            <a:avLst/>
          </a:prstGeom>
        </p:spPr>
        <p:txBody>
          <a:bodyPr wrap="square">
            <a:spAutoFit/>
          </a:bodyPr>
          <a:lstStyle/>
          <a:p>
            <a:r>
              <a:rPr kumimoji="1" lang="zh-CN" altLang="en-US" sz="3200" smtClean="0"/>
              <a:t>第二章 晶体中的衍射</a:t>
            </a:r>
            <a:endParaRPr lang="zh-CN" altLang="en-US" sz="3200" dirty="0"/>
          </a:p>
        </p:txBody>
      </p:sp>
    </p:spTree>
    <p:extLst>
      <p:ext uri="{BB962C8B-B14F-4D97-AF65-F5344CB8AC3E}">
        <p14:creationId xmlns:p14="http://schemas.microsoft.com/office/powerpoint/2010/main" val="386490490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49536" y="484509"/>
            <a:ext cx="5228704" cy="584775"/>
          </a:xfrm>
          <a:prstGeom prst="rect">
            <a:avLst/>
          </a:prstGeom>
        </p:spPr>
        <p:txBody>
          <a:bodyPr wrap="square">
            <a:spAutoFit/>
          </a:bodyPr>
          <a:lstStyle/>
          <a:p>
            <a:r>
              <a:rPr kumimoji="1" lang="zh-CN" altLang="en-US" sz="3200" dirty="0" smtClean="0"/>
              <a:t>第二章 晶体中的衍射</a:t>
            </a:r>
            <a:endParaRPr lang="zh-CN" altLang="en-US" sz="3200" dirty="0"/>
          </a:p>
        </p:txBody>
      </p:sp>
      <mc:AlternateContent xmlns:mc="http://schemas.openxmlformats.org/markup-compatibility/2006" xmlns:a14="http://schemas.microsoft.com/office/drawing/2010/main">
        <mc:Choice Requires="a14">
          <p:sp>
            <p:nvSpPr>
              <p:cNvPr id="3" name="副标题 2"/>
              <p:cNvSpPr txBox="1">
                <a:spLocks/>
              </p:cNvSpPr>
              <p:nvPr/>
            </p:nvSpPr>
            <p:spPr>
              <a:xfrm>
                <a:off x="382385" y="1623047"/>
                <a:ext cx="6970914" cy="491745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en-US" altLang="zh-CN" dirty="0" smtClean="0">
                    <a:solidFill>
                      <a:schemeClr val="tx1"/>
                    </a:solidFill>
                  </a:rPr>
                  <a:t>2.1.2 </a:t>
                </a:r>
                <a:r>
                  <a:rPr kumimoji="1" lang="zh-CN" altLang="en-US" dirty="0" smtClean="0">
                    <a:solidFill>
                      <a:schemeClr val="tx1"/>
                    </a:solidFill>
                  </a:rPr>
                  <a:t>衍射波的波幅与强度</a:t>
                </a:r>
              </a:p>
              <a:p>
                <a:endParaRPr kumimoji="1" lang="zh-CN" altLang="en-US" dirty="0">
                  <a:solidFill>
                    <a:schemeClr val="tx1"/>
                  </a:solidFill>
                </a:endParaRPr>
              </a:p>
              <a:p>
                <a:pPr marL="0" indent="0">
                  <a:buNone/>
                </a:pPr>
                <a14:m>
                  <m:oMath xmlns:m="http://schemas.openxmlformats.org/officeDocument/2006/math">
                    <m:r>
                      <a:rPr kumimoji="1" lang="zh-CN" altLang="en-US" sz="2400" i="1" smtClean="0">
                        <a:solidFill>
                          <a:schemeClr val="tx1"/>
                        </a:solidFill>
                        <a:latin typeface="Cambria Math" charset="0"/>
                        <a:ea typeface="Cambria Math" charset="0"/>
                        <a:cs typeface="Cambria Math" charset="0"/>
                      </a:rPr>
                      <m:t>∆</m:t>
                    </m:r>
                    <m:r>
                      <a:rPr kumimoji="1" lang="zh-CN" altLang="en-US" sz="2400" i="1" smtClean="0">
                        <a:solidFill>
                          <a:schemeClr val="tx1"/>
                        </a:solidFill>
                        <a:latin typeface="Cambria Math" charset="0"/>
                        <a:ea typeface="Cambria Math" charset="0"/>
                        <a:cs typeface="Cambria Math" charset="0"/>
                      </a:rPr>
                      <m:t>𝜙</m:t>
                    </m:r>
                    <m:r>
                      <a:rPr kumimoji="1" lang="en-US" altLang="zh-CN" sz="2400" i="1" smtClean="0">
                        <a:solidFill>
                          <a:schemeClr val="tx1"/>
                        </a:solidFill>
                        <a:latin typeface="Cambria Math" charset="0"/>
                      </a:rPr>
                      <m:t>= </m:t>
                    </m:r>
                    <m:f>
                      <m:fPr>
                        <m:ctrlPr>
                          <a:rPr kumimoji="1" lang="bg-BG" altLang="zh-CN" sz="2400" i="1" smtClean="0">
                            <a:solidFill>
                              <a:schemeClr val="tx1"/>
                            </a:solidFill>
                            <a:latin typeface="Cambria Math" charset="0"/>
                          </a:rPr>
                        </m:ctrlPr>
                      </m:fPr>
                      <m:num>
                        <m:r>
                          <a:rPr kumimoji="1" lang="en-US" altLang="zh-CN" sz="2400" i="1" smtClean="0">
                            <a:solidFill>
                              <a:schemeClr val="tx1"/>
                            </a:solidFill>
                            <a:latin typeface="Cambria Math" charset="0"/>
                          </a:rPr>
                          <m:t>2</m:t>
                        </m:r>
                        <m:r>
                          <a:rPr kumimoji="1" lang="en-US" altLang="zh-CN" sz="2400" i="1" smtClean="0">
                            <a:solidFill>
                              <a:schemeClr val="tx1"/>
                            </a:solidFill>
                            <a:latin typeface="Cambria Math" charset="0"/>
                            <a:ea typeface="Cambria Math" charset="0"/>
                            <a:cs typeface="Cambria Math" charset="0"/>
                          </a:rPr>
                          <m:t>𝜋</m:t>
                        </m:r>
                      </m:num>
                      <m:den>
                        <m:r>
                          <a:rPr kumimoji="1" lang="bg-BG" altLang="zh-CN" sz="2400" i="1" smtClean="0">
                            <a:solidFill>
                              <a:schemeClr val="tx1"/>
                            </a:solidFill>
                            <a:latin typeface="Cambria Math" charset="0"/>
                            <a:ea typeface="Cambria Math" charset="0"/>
                            <a:cs typeface="Cambria Math" charset="0"/>
                          </a:rPr>
                          <m:t>𝜆</m:t>
                        </m:r>
                      </m:den>
                    </m:f>
                    <m:d>
                      <m:dPr>
                        <m:ctrlPr>
                          <a:rPr kumimoji="1" lang="en-US" altLang="zh-CN" sz="2400" i="1" smtClean="0">
                            <a:solidFill>
                              <a:schemeClr val="tx1"/>
                            </a:solidFill>
                            <a:latin typeface="Cambria Math" charset="0"/>
                          </a:rPr>
                        </m:ctrlPr>
                      </m:dPr>
                      <m:e>
                        <m:r>
                          <a:rPr kumimoji="1" lang="en-US" altLang="zh-CN" sz="2400" i="1" smtClean="0">
                            <a:solidFill>
                              <a:schemeClr val="tx1"/>
                            </a:solidFill>
                            <a:latin typeface="Cambria Math" charset="0"/>
                          </a:rPr>
                          <m:t>𝐴𝐶</m:t>
                        </m:r>
                        <m:r>
                          <a:rPr kumimoji="1" lang="en-US" altLang="zh-CN" sz="2400" i="1" smtClean="0">
                            <a:solidFill>
                              <a:schemeClr val="tx1"/>
                            </a:solidFill>
                            <a:latin typeface="Cambria Math" charset="0"/>
                          </a:rPr>
                          <m:t>−</m:t>
                        </m:r>
                        <m:r>
                          <a:rPr kumimoji="1" lang="en-US" altLang="zh-CN" sz="2400" i="1" smtClean="0">
                            <a:solidFill>
                              <a:schemeClr val="tx1"/>
                            </a:solidFill>
                            <a:latin typeface="Cambria Math" charset="0"/>
                          </a:rPr>
                          <m:t>𝐵𝐷</m:t>
                        </m:r>
                      </m:e>
                    </m:d>
                    <m:r>
                      <a:rPr kumimoji="1" lang="en-US" altLang="zh-CN" sz="2400" i="1" smtClean="0">
                        <a:solidFill>
                          <a:schemeClr val="tx1"/>
                        </a:solidFill>
                        <a:latin typeface="Cambria Math" charset="0"/>
                      </a:rPr>
                      <m:t>=</m:t>
                    </m:r>
                    <m:d>
                      <m:dPr>
                        <m:ctrlPr>
                          <a:rPr kumimoji="1" lang="en-US" altLang="zh-CN" sz="2400" i="1" smtClean="0">
                            <a:solidFill>
                              <a:schemeClr val="tx1"/>
                            </a:solidFill>
                            <a:latin typeface="Cambria Math" charset="0"/>
                          </a:rPr>
                        </m:ctrlPr>
                      </m:dPr>
                      <m:e>
                        <m:r>
                          <a:rPr kumimoji="1" lang="en-US" altLang="zh-CN" sz="2400" b="1" i="1" smtClean="0">
                            <a:solidFill>
                              <a:schemeClr val="tx1"/>
                            </a:solidFill>
                            <a:latin typeface="Cambria Math" charset="0"/>
                          </a:rPr>
                          <m:t>𝒌</m:t>
                        </m:r>
                        <m:r>
                          <a:rPr kumimoji="1" lang="en-US" altLang="zh-CN" sz="2400" i="1" smtClean="0">
                            <a:solidFill>
                              <a:schemeClr val="tx1"/>
                            </a:solidFill>
                            <a:latin typeface="Cambria Math" charset="0"/>
                          </a:rPr>
                          <m:t>−</m:t>
                        </m:r>
                        <m:r>
                          <a:rPr kumimoji="1" lang="en-US" altLang="zh-CN" sz="2400" b="1" i="1" smtClean="0">
                            <a:solidFill>
                              <a:schemeClr val="tx1"/>
                            </a:solidFill>
                            <a:latin typeface="Cambria Math" charset="0"/>
                          </a:rPr>
                          <m:t>𝒌</m:t>
                        </m:r>
                        <m:r>
                          <a:rPr kumimoji="1" lang="en-US" altLang="zh-CN" sz="2400" i="1" baseline="-25000" smtClean="0">
                            <a:solidFill>
                              <a:schemeClr val="tx1"/>
                            </a:solidFill>
                            <a:latin typeface="Cambria Math" charset="0"/>
                          </a:rPr>
                          <m:t>0</m:t>
                        </m:r>
                      </m:e>
                    </m:d>
                    <m:r>
                      <a:rPr kumimoji="1" lang="en-US" altLang="zh-CN" sz="2400" i="1" smtClean="0">
                        <a:solidFill>
                          <a:schemeClr val="tx1"/>
                        </a:solidFill>
                        <a:latin typeface="Cambria Math" charset="0"/>
                        <a:ea typeface="Cambria Math" charset="0"/>
                        <a:cs typeface="Cambria Math" charset="0"/>
                      </a:rPr>
                      <m:t>∙</m:t>
                    </m:r>
                    <m:r>
                      <a:rPr kumimoji="1" lang="en-US" altLang="zh-CN" sz="2400" b="1" i="1" smtClean="0">
                        <a:solidFill>
                          <a:schemeClr val="tx1"/>
                        </a:solidFill>
                        <a:latin typeface="Cambria Math" charset="0"/>
                        <a:ea typeface="Cambria Math" charset="0"/>
                        <a:cs typeface="Cambria Math" charset="0"/>
                      </a:rPr>
                      <m:t>𝑹</m:t>
                    </m:r>
                    <m:r>
                      <a:rPr kumimoji="1" lang="en-US" altLang="zh-CN" sz="2400" b="1" i="1" baseline="-25000" smtClean="0">
                        <a:solidFill>
                          <a:schemeClr val="tx1"/>
                        </a:solidFill>
                        <a:latin typeface="Cambria Math" charset="0"/>
                        <a:ea typeface="Cambria Math" charset="0"/>
                        <a:cs typeface="Cambria Math" charset="0"/>
                      </a:rPr>
                      <m:t>𝒍</m:t>
                    </m:r>
                  </m:oMath>
                </a14:m>
                <a:r>
                  <a:rPr kumimoji="1" lang="en-US" altLang="zh-CN" sz="2400" dirty="0" smtClean="0">
                    <a:solidFill>
                      <a:schemeClr val="tx1"/>
                    </a:solidFill>
                  </a:rPr>
                  <a:t>	(2.1.1)</a:t>
                </a:r>
                <a:endParaRPr kumimoji="1" lang="en-US" altLang="zh-CN" sz="2400" dirty="0">
                  <a:solidFill>
                    <a:schemeClr val="tx1"/>
                  </a:solidFill>
                </a:endParaRPr>
              </a:p>
              <a:p>
                <a:pPr marL="0" indent="0">
                  <a:buNone/>
                </a:pPr>
                <a14:m>
                  <m:oMath xmlns:m="http://schemas.openxmlformats.org/officeDocument/2006/math">
                    <m:r>
                      <a:rPr kumimoji="1" lang="en-US" altLang="zh-CN" sz="2400" i="1" smtClean="0">
                        <a:solidFill>
                          <a:schemeClr val="tx1"/>
                        </a:solidFill>
                        <a:latin typeface="Cambria Math" charset="0"/>
                      </a:rPr>
                      <m:t>𝐴</m:t>
                    </m:r>
                    <m:d>
                      <m:dPr>
                        <m:ctrlPr>
                          <a:rPr kumimoji="1" lang="en-US" altLang="zh-CN" sz="2400" i="1" smtClean="0">
                            <a:solidFill>
                              <a:schemeClr val="tx1"/>
                            </a:solidFill>
                            <a:latin typeface="Cambria Math" charset="0"/>
                          </a:rPr>
                        </m:ctrlPr>
                      </m:dPr>
                      <m:e>
                        <m:r>
                          <a:rPr kumimoji="1" lang="en-US" altLang="zh-CN" sz="2400" b="1" i="1" smtClean="0">
                            <a:solidFill>
                              <a:schemeClr val="tx1"/>
                            </a:solidFill>
                            <a:latin typeface="Cambria Math" charset="0"/>
                          </a:rPr>
                          <m:t>𝒌</m:t>
                        </m:r>
                      </m:e>
                    </m:d>
                    <m:r>
                      <a:rPr kumimoji="1" lang="en-US" altLang="zh-CN" sz="2400" i="1" smtClean="0">
                        <a:solidFill>
                          <a:schemeClr val="tx1"/>
                        </a:solidFill>
                        <a:latin typeface="Cambria Math" charset="0"/>
                      </a:rPr>
                      <m:t>=</m:t>
                    </m:r>
                    <m:sSub>
                      <m:sSubPr>
                        <m:ctrlPr>
                          <a:rPr kumimoji="1" lang="en-US" altLang="zh-CN" sz="2400" i="1" smtClean="0">
                            <a:solidFill>
                              <a:schemeClr val="tx1"/>
                            </a:solidFill>
                            <a:latin typeface="Cambria Math" charset="0"/>
                          </a:rPr>
                        </m:ctrlPr>
                      </m:sSubPr>
                      <m:e>
                        <m:r>
                          <a:rPr kumimoji="1" lang="en-US" altLang="zh-CN" sz="2400" i="1" smtClean="0">
                            <a:solidFill>
                              <a:schemeClr val="tx1"/>
                            </a:solidFill>
                            <a:latin typeface="Cambria Math" panose="02040503050406030204" pitchFamily="18" charset="0"/>
                          </a:rPr>
                          <m:t>𝑎</m:t>
                        </m:r>
                      </m:e>
                      <m:sub>
                        <m:r>
                          <a:rPr kumimoji="1" lang="en-US" altLang="zh-CN" sz="2400" i="1" smtClean="0">
                            <a:solidFill>
                              <a:schemeClr val="tx1"/>
                            </a:solidFill>
                            <a:latin typeface="Cambria Math" panose="02040503050406030204" pitchFamily="18" charset="0"/>
                          </a:rPr>
                          <m:t>𝐴</m:t>
                        </m:r>
                      </m:sub>
                    </m:sSub>
                    <m:r>
                      <a:rPr kumimoji="1" lang="en-US" altLang="zh-CN" sz="2400" i="1" smtClean="0">
                        <a:solidFill>
                          <a:schemeClr val="tx1"/>
                        </a:solidFill>
                        <a:latin typeface="Cambria Math" charset="0"/>
                      </a:rPr>
                      <m:t>+</m:t>
                    </m:r>
                    <m:sSub>
                      <m:sSubPr>
                        <m:ctrlPr>
                          <a:rPr kumimoji="1" lang="en-US" altLang="zh-CN" sz="2400" i="1">
                            <a:solidFill>
                              <a:schemeClr val="tx1"/>
                            </a:solidFill>
                            <a:latin typeface="Cambria Math" charset="0"/>
                          </a:rPr>
                        </m:ctrlPr>
                      </m:sSubPr>
                      <m:e>
                        <m:r>
                          <a:rPr kumimoji="1" lang="en-US" altLang="zh-CN" sz="2400" i="1">
                            <a:solidFill>
                              <a:schemeClr val="tx1"/>
                            </a:solidFill>
                            <a:latin typeface="Cambria Math" panose="02040503050406030204" pitchFamily="18" charset="0"/>
                          </a:rPr>
                          <m:t>𝑎</m:t>
                        </m:r>
                      </m:e>
                      <m:sub>
                        <m:r>
                          <a:rPr kumimoji="1" lang="en-US" altLang="zh-CN" sz="2400" i="1" smtClean="0">
                            <a:solidFill>
                              <a:schemeClr val="tx1"/>
                            </a:solidFill>
                            <a:latin typeface="Cambria Math" panose="02040503050406030204" pitchFamily="18" charset="0"/>
                          </a:rPr>
                          <m:t>𝐵</m:t>
                        </m:r>
                      </m:sub>
                    </m:sSub>
                    <m:sSup>
                      <m:sSupPr>
                        <m:ctrlPr>
                          <a:rPr kumimoji="1" lang="el-GR" altLang="zh-CN" sz="2400" i="1" smtClean="0">
                            <a:solidFill>
                              <a:schemeClr val="tx1"/>
                            </a:solidFill>
                            <a:latin typeface="Cambria Math" charset="0"/>
                          </a:rPr>
                        </m:ctrlPr>
                      </m:sSupPr>
                      <m:e>
                        <m:r>
                          <a:rPr kumimoji="1" lang="el-GR" altLang="zh-CN" sz="2400" i="1" smtClean="0">
                            <a:solidFill>
                              <a:schemeClr val="tx1"/>
                            </a:solidFill>
                            <a:latin typeface="Cambria Math" charset="0"/>
                          </a:rPr>
                          <m:t>𝑒</m:t>
                        </m:r>
                      </m:e>
                      <m:sup>
                        <m:r>
                          <a:rPr kumimoji="1" lang="el-GR" altLang="zh-CN" sz="2400" i="1" smtClean="0">
                            <a:solidFill>
                              <a:schemeClr val="tx1"/>
                            </a:solidFill>
                            <a:latin typeface="Cambria Math" charset="0"/>
                          </a:rPr>
                          <m:t>𝑖</m:t>
                        </m:r>
                        <m:r>
                          <a:rPr kumimoji="1" lang="en-US" altLang="zh-CN" sz="2400" i="1" smtClean="0">
                            <a:solidFill>
                              <a:schemeClr val="tx1"/>
                            </a:solidFill>
                            <a:latin typeface="Cambria Math" charset="0"/>
                          </a:rPr>
                          <m:t>(</m:t>
                        </m:r>
                        <m:r>
                          <a:rPr kumimoji="1" lang="en-US" altLang="zh-CN" sz="2400" b="1" i="1" smtClean="0">
                            <a:solidFill>
                              <a:schemeClr val="tx1"/>
                            </a:solidFill>
                            <a:latin typeface="Cambria Math" charset="0"/>
                          </a:rPr>
                          <m:t>𝒌</m:t>
                        </m:r>
                        <m:r>
                          <a:rPr kumimoji="1" lang="en-US" altLang="zh-CN" sz="2400" b="1" i="1" smtClean="0">
                            <a:solidFill>
                              <a:schemeClr val="tx1"/>
                            </a:solidFill>
                            <a:latin typeface="Cambria Math" charset="0"/>
                          </a:rPr>
                          <m:t>−</m:t>
                        </m:r>
                        <m:r>
                          <a:rPr kumimoji="1" lang="en-US" altLang="zh-CN" sz="2400" b="1" i="1" smtClean="0">
                            <a:solidFill>
                              <a:schemeClr val="tx1"/>
                            </a:solidFill>
                            <a:latin typeface="Cambria Math" charset="0"/>
                          </a:rPr>
                          <m:t>𝒌</m:t>
                        </m:r>
                        <m:r>
                          <a:rPr kumimoji="1" lang="en-US" altLang="zh-CN" sz="2400" i="1" baseline="-25000" smtClean="0">
                            <a:solidFill>
                              <a:schemeClr val="tx1"/>
                            </a:solidFill>
                            <a:latin typeface="Cambria Math" charset="0"/>
                          </a:rPr>
                          <m:t>0</m:t>
                        </m:r>
                        <m:r>
                          <a:rPr kumimoji="1" lang="en-US" altLang="zh-CN" sz="2400" i="1" smtClean="0">
                            <a:solidFill>
                              <a:schemeClr val="tx1"/>
                            </a:solidFill>
                            <a:latin typeface="Cambria Math" charset="0"/>
                          </a:rPr>
                          <m:t>)</m:t>
                        </m:r>
                        <m:r>
                          <a:rPr kumimoji="1" lang="en-US" altLang="zh-CN" sz="2400" i="1" smtClean="0">
                            <a:solidFill>
                              <a:schemeClr val="tx1"/>
                            </a:solidFill>
                            <a:latin typeface="Cambria Math" charset="0"/>
                            <a:ea typeface="Cambria Math" charset="0"/>
                            <a:cs typeface="Cambria Math" charset="0"/>
                          </a:rPr>
                          <m:t>∙</m:t>
                        </m:r>
                        <m:r>
                          <a:rPr kumimoji="1" lang="en-US" altLang="zh-CN" sz="2400" b="1" i="1" smtClean="0">
                            <a:solidFill>
                              <a:schemeClr val="tx1"/>
                            </a:solidFill>
                            <a:latin typeface="Cambria Math" charset="0"/>
                            <a:ea typeface="Cambria Math" charset="0"/>
                            <a:cs typeface="Cambria Math" charset="0"/>
                          </a:rPr>
                          <m:t>𝑹</m:t>
                        </m:r>
                        <m:r>
                          <a:rPr kumimoji="1" lang="en-US" altLang="zh-CN" sz="2400" b="1" i="1" baseline="-25000" smtClean="0">
                            <a:solidFill>
                              <a:schemeClr val="tx1"/>
                            </a:solidFill>
                            <a:latin typeface="Cambria Math" charset="0"/>
                            <a:ea typeface="Cambria Math" charset="0"/>
                            <a:cs typeface="Cambria Math" charset="0"/>
                          </a:rPr>
                          <m:t>𝒍</m:t>
                        </m:r>
                      </m:sup>
                    </m:sSup>
                  </m:oMath>
                </a14:m>
                <a:r>
                  <a:rPr kumimoji="1" lang="en-US" altLang="zh-CN" sz="2400" dirty="0" smtClean="0">
                    <a:solidFill>
                      <a:schemeClr val="tx1"/>
                    </a:solidFill>
                  </a:rPr>
                  <a:t>  , </a:t>
                </a:r>
                <a14:m>
                  <m:oMath xmlns:m="http://schemas.openxmlformats.org/officeDocument/2006/math">
                    <m:r>
                      <a:rPr kumimoji="1" lang="en-US" altLang="zh-CN" sz="2400" i="1">
                        <a:solidFill>
                          <a:schemeClr val="tx1"/>
                        </a:solidFill>
                        <a:latin typeface="Cambria Math" charset="0"/>
                      </a:rPr>
                      <m:t>𝑎</m:t>
                    </m:r>
                    <m:r>
                      <a:rPr kumimoji="1" lang="en-US" altLang="zh-CN" sz="2400" i="1" baseline="-25000">
                        <a:solidFill>
                          <a:schemeClr val="tx1"/>
                        </a:solidFill>
                        <a:latin typeface="Cambria Math" charset="0"/>
                      </a:rPr>
                      <m:t>𝐴</m:t>
                    </m:r>
                    <m:r>
                      <a:rPr kumimoji="1" lang="en-US" altLang="zh-CN" sz="2400" i="1" smtClean="0">
                        <a:solidFill>
                          <a:schemeClr val="tx1"/>
                        </a:solidFill>
                        <a:latin typeface="Cambria Math" charset="0"/>
                      </a:rPr>
                      <m:t>=</m:t>
                    </m:r>
                    <m:r>
                      <a:rPr kumimoji="1" lang="en-US" altLang="zh-CN" sz="2400" i="1">
                        <a:solidFill>
                          <a:schemeClr val="tx1"/>
                        </a:solidFill>
                        <a:latin typeface="Cambria Math" charset="0"/>
                      </a:rPr>
                      <m:t>𝑎</m:t>
                    </m:r>
                    <m:r>
                      <a:rPr kumimoji="1" lang="en-US" altLang="zh-CN" sz="2400" i="1" baseline="-25000">
                        <a:solidFill>
                          <a:schemeClr val="tx1"/>
                        </a:solidFill>
                        <a:latin typeface="Cambria Math" charset="0"/>
                      </a:rPr>
                      <m:t>𝐵</m:t>
                    </m:r>
                    <m:r>
                      <a:rPr kumimoji="1" lang="en-US" altLang="zh-CN" sz="2400" i="1" smtClean="0">
                        <a:solidFill>
                          <a:schemeClr val="tx1"/>
                        </a:solidFill>
                        <a:latin typeface="Cambria Math" charset="0"/>
                      </a:rPr>
                      <m:t>=</m:t>
                    </m:r>
                    <m:sSub>
                      <m:sSubPr>
                        <m:ctrlPr>
                          <a:rPr kumimoji="1" lang="en-US" altLang="zh-CN" sz="2400" i="1">
                            <a:solidFill>
                              <a:schemeClr val="tx1"/>
                            </a:solidFill>
                            <a:latin typeface="Cambria Math" charset="0"/>
                          </a:rPr>
                        </m:ctrlPr>
                      </m:sSubPr>
                      <m:e>
                        <m:r>
                          <a:rPr kumimoji="1" lang="en-US" altLang="zh-CN" sz="2400" i="1">
                            <a:solidFill>
                              <a:schemeClr val="tx1"/>
                            </a:solidFill>
                            <a:latin typeface="Cambria Math" panose="02040503050406030204" pitchFamily="18" charset="0"/>
                          </a:rPr>
                          <m:t>𝑎</m:t>
                        </m:r>
                      </m:e>
                      <m:sub>
                        <m:r>
                          <a:rPr kumimoji="1" lang="en-US" altLang="zh-CN" sz="2400" i="1" smtClean="0">
                            <a:solidFill>
                              <a:schemeClr val="tx1"/>
                            </a:solidFill>
                            <a:latin typeface="Cambria Math" panose="02040503050406030204" pitchFamily="18" charset="0"/>
                          </a:rPr>
                          <m:t>𝑙</m:t>
                        </m:r>
                      </m:sub>
                    </m:sSub>
                  </m:oMath>
                </a14:m>
                <a:r>
                  <a:rPr kumimoji="1" lang="en-US" altLang="zh-CN" sz="2400" dirty="0" smtClean="0">
                    <a:solidFill>
                      <a:schemeClr val="tx1"/>
                    </a:solidFill>
                  </a:rPr>
                  <a:t>  → </a:t>
                </a:r>
              </a:p>
              <a:p>
                <a:pPr marL="0" indent="0">
                  <a:buNone/>
                </a:pPr>
                <a:r>
                  <a:rPr kumimoji="1" lang="en-US" altLang="zh-CN" sz="2400" dirty="0" smtClean="0">
                    <a:solidFill>
                      <a:schemeClr val="tx1"/>
                    </a:solidFill>
                  </a:rPr>
                  <a:t>           </a:t>
                </a:r>
                <a:endParaRPr kumimoji="1" lang="en-US" altLang="zh-CN" sz="2400" i="1" dirty="0" smtClean="0">
                  <a:solidFill>
                    <a:schemeClr val="tx1"/>
                  </a:solidFill>
                  <a:latin typeface="Cambria Math" charset="0"/>
                </a:endParaRPr>
              </a:p>
              <a:p>
                <a:pPr marL="0" indent="0">
                  <a:buNone/>
                </a:pPr>
                <a14:m>
                  <m:oMath xmlns:m="http://schemas.openxmlformats.org/officeDocument/2006/math">
                    <m:r>
                      <a:rPr kumimoji="1" lang="en-US" altLang="zh-CN" sz="2400" i="1">
                        <a:solidFill>
                          <a:schemeClr val="tx1"/>
                        </a:solidFill>
                        <a:latin typeface="Cambria Math" charset="0"/>
                      </a:rPr>
                      <m:t>𝐴</m:t>
                    </m:r>
                    <m:d>
                      <m:dPr>
                        <m:ctrlPr>
                          <a:rPr kumimoji="1" lang="en-US" altLang="zh-CN" sz="2400" i="1">
                            <a:solidFill>
                              <a:schemeClr val="tx1"/>
                            </a:solidFill>
                            <a:latin typeface="Cambria Math" charset="0"/>
                          </a:rPr>
                        </m:ctrlPr>
                      </m:dPr>
                      <m:e>
                        <m:r>
                          <a:rPr kumimoji="1" lang="en-US" altLang="zh-CN" sz="2400" b="1" i="1">
                            <a:solidFill>
                              <a:schemeClr val="tx1"/>
                            </a:solidFill>
                            <a:latin typeface="Cambria Math" charset="0"/>
                          </a:rPr>
                          <m:t>𝒌</m:t>
                        </m:r>
                      </m:e>
                    </m:d>
                    <m:r>
                      <a:rPr kumimoji="1" lang="en-US" altLang="zh-CN" sz="2400" i="1">
                        <a:solidFill>
                          <a:schemeClr val="tx1"/>
                        </a:solidFill>
                        <a:latin typeface="Cambria Math" charset="0"/>
                      </a:rPr>
                      <m:t>=</m:t>
                    </m:r>
                    <m:nary>
                      <m:naryPr>
                        <m:chr m:val="∑"/>
                        <m:ctrlPr>
                          <a:rPr kumimoji="1" lang="is-IS" altLang="zh-CN" sz="2400" i="1" smtClean="0">
                            <a:solidFill>
                              <a:schemeClr val="tx1"/>
                            </a:solidFill>
                            <a:latin typeface="Cambria Math" charset="0"/>
                          </a:rPr>
                        </m:ctrlPr>
                      </m:naryPr>
                      <m:sub>
                        <m:r>
                          <m:rPr>
                            <m:brk m:alnAt="23"/>
                          </m:rPr>
                          <a:rPr kumimoji="1" lang="en-US" altLang="zh-CN" sz="2400" i="1" smtClean="0">
                            <a:solidFill>
                              <a:schemeClr val="tx1"/>
                            </a:solidFill>
                            <a:latin typeface="Cambria Math" panose="02040503050406030204" pitchFamily="18" charset="0"/>
                          </a:rPr>
                          <m:t>𝑙</m:t>
                        </m:r>
                        <m:r>
                          <a:rPr kumimoji="1" lang="en-US" altLang="zh-CN" sz="2400" i="1" smtClean="0">
                            <a:solidFill>
                              <a:schemeClr val="tx1"/>
                            </a:solidFill>
                            <a:latin typeface="Cambria Math" charset="0"/>
                          </a:rPr>
                          <m:t>=1</m:t>
                        </m:r>
                      </m:sub>
                      <m:sup>
                        <m:r>
                          <a:rPr kumimoji="1" lang="en-US" altLang="zh-CN" sz="2400" i="1" smtClean="0">
                            <a:solidFill>
                              <a:schemeClr val="tx1"/>
                            </a:solidFill>
                            <a:latin typeface="Cambria Math" charset="0"/>
                          </a:rPr>
                          <m:t>𝑁</m:t>
                        </m:r>
                      </m:sup>
                      <m:e>
                        <m:r>
                          <a:rPr kumimoji="1" lang="en-US" altLang="zh-CN" sz="2400" i="1">
                            <a:solidFill>
                              <a:schemeClr val="tx1"/>
                            </a:solidFill>
                            <a:latin typeface="Cambria Math" charset="0"/>
                          </a:rPr>
                          <m:t>𝑎</m:t>
                        </m:r>
                        <m:r>
                          <a:rPr kumimoji="1" lang="en-US" altLang="zh-CN" sz="2400" i="1" baseline="-25000" smtClean="0">
                            <a:solidFill>
                              <a:schemeClr val="tx1"/>
                            </a:solidFill>
                            <a:latin typeface="Cambria Math" panose="02040503050406030204" pitchFamily="18" charset="0"/>
                          </a:rPr>
                          <m:t>𝑙</m:t>
                        </m:r>
                        <m:sSup>
                          <m:sSupPr>
                            <m:ctrlPr>
                              <a:rPr kumimoji="1" lang="el-GR" altLang="zh-CN" sz="2400" i="1">
                                <a:solidFill>
                                  <a:schemeClr val="tx1"/>
                                </a:solidFill>
                                <a:latin typeface="Cambria Math" charset="0"/>
                              </a:rPr>
                            </m:ctrlPr>
                          </m:sSupPr>
                          <m:e>
                            <m:r>
                              <a:rPr kumimoji="1" lang="el-GR" altLang="zh-CN" sz="2400" i="1">
                                <a:solidFill>
                                  <a:schemeClr val="tx1"/>
                                </a:solidFill>
                                <a:latin typeface="Cambria Math" charset="0"/>
                              </a:rPr>
                              <m:t>𝑒</m:t>
                            </m:r>
                          </m:e>
                          <m:sup>
                            <m:r>
                              <a:rPr kumimoji="1" lang="el-GR" altLang="zh-CN" sz="2400" i="1">
                                <a:solidFill>
                                  <a:schemeClr val="tx1"/>
                                </a:solidFill>
                                <a:latin typeface="Cambria Math" charset="0"/>
                              </a:rPr>
                              <m:t>𝑖</m:t>
                            </m:r>
                            <m:r>
                              <a:rPr kumimoji="1" lang="en-US" altLang="zh-CN" sz="2400" i="1">
                                <a:solidFill>
                                  <a:schemeClr val="tx1"/>
                                </a:solidFill>
                                <a:latin typeface="Cambria Math" charset="0"/>
                              </a:rPr>
                              <m:t>(</m:t>
                            </m:r>
                            <m:r>
                              <a:rPr kumimoji="1" lang="en-US" altLang="zh-CN" sz="2400" b="1" i="1">
                                <a:solidFill>
                                  <a:schemeClr val="tx1"/>
                                </a:solidFill>
                                <a:latin typeface="Cambria Math" charset="0"/>
                              </a:rPr>
                              <m:t>𝒌</m:t>
                            </m:r>
                            <m:r>
                              <a:rPr kumimoji="1" lang="en-US" altLang="zh-CN" sz="2400" b="1" i="1">
                                <a:solidFill>
                                  <a:schemeClr val="tx1"/>
                                </a:solidFill>
                                <a:latin typeface="Cambria Math" charset="0"/>
                              </a:rPr>
                              <m:t>−</m:t>
                            </m:r>
                            <m:r>
                              <a:rPr kumimoji="1" lang="en-US" altLang="zh-CN" sz="2400" b="1" i="1">
                                <a:solidFill>
                                  <a:schemeClr val="tx1"/>
                                </a:solidFill>
                                <a:latin typeface="Cambria Math" charset="0"/>
                              </a:rPr>
                              <m:t>𝒌</m:t>
                            </m:r>
                            <m:r>
                              <a:rPr kumimoji="1" lang="en-US" altLang="zh-CN" sz="2400" i="1" baseline="-25000">
                                <a:solidFill>
                                  <a:schemeClr val="tx1"/>
                                </a:solidFill>
                                <a:latin typeface="Cambria Math" charset="0"/>
                              </a:rPr>
                              <m:t>0</m:t>
                            </m:r>
                            <m:r>
                              <a:rPr kumimoji="1" lang="en-US" altLang="zh-CN" sz="2400" i="1">
                                <a:solidFill>
                                  <a:schemeClr val="tx1"/>
                                </a:solidFill>
                                <a:latin typeface="Cambria Math" charset="0"/>
                              </a:rPr>
                              <m:t>)</m:t>
                            </m:r>
                            <m:r>
                              <a:rPr kumimoji="1" lang="en-US" altLang="zh-CN" sz="2400" i="1">
                                <a:solidFill>
                                  <a:schemeClr val="tx1"/>
                                </a:solidFill>
                                <a:latin typeface="Cambria Math" charset="0"/>
                                <a:ea typeface="Cambria Math" charset="0"/>
                                <a:cs typeface="Cambria Math" charset="0"/>
                              </a:rPr>
                              <m:t>∙</m:t>
                            </m:r>
                            <m:r>
                              <a:rPr kumimoji="1" lang="en-US" altLang="zh-CN" sz="2400" b="1" i="1">
                                <a:solidFill>
                                  <a:schemeClr val="tx1"/>
                                </a:solidFill>
                                <a:latin typeface="Cambria Math" charset="0"/>
                                <a:ea typeface="Cambria Math" charset="0"/>
                                <a:cs typeface="Cambria Math" charset="0"/>
                              </a:rPr>
                              <m:t>𝑹</m:t>
                            </m:r>
                            <m:r>
                              <a:rPr kumimoji="1" lang="en-US" altLang="zh-CN" sz="2400" i="1" baseline="-25000">
                                <a:solidFill>
                                  <a:schemeClr val="tx1"/>
                                </a:solidFill>
                                <a:latin typeface="Cambria Math" charset="0"/>
                                <a:ea typeface="Cambria Math" charset="0"/>
                                <a:cs typeface="Cambria Math" charset="0"/>
                              </a:rPr>
                              <m:t>𝑙</m:t>
                            </m:r>
                          </m:sup>
                        </m:sSup>
                      </m:e>
                    </m:nary>
                  </m:oMath>
                </a14:m>
                <a:r>
                  <a:rPr kumimoji="1" lang="en-US" altLang="zh-CN" sz="2400" dirty="0" smtClean="0">
                    <a:solidFill>
                      <a:schemeClr val="tx1"/>
                    </a:solidFill>
                  </a:rPr>
                  <a:t>      		(2.1.2)</a:t>
                </a:r>
              </a:p>
              <a:p>
                <a:pPr marL="0" indent="0">
                  <a:buNone/>
                </a:pPr>
                <a:endParaRPr kumimoji="1" lang="en-US" altLang="zh-CN" sz="2400" dirty="0" smtClean="0">
                  <a:solidFill>
                    <a:schemeClr val="tx1"/>
                  </a:solidFill>
                </a:endParaRPr>
              </a:p>
              <a:p>
                <a:pPr marL="0" indent="0">
                  <a:buNone/>
                </a:pPr>
                <a:r>
                  <a:rPr kumimoji="1" lang="en-US" altLang="zh-CN" sz="2400" dirty="0" smtClean="0">
                    <a:solidFill>
                      <a:schemeClr val="tx1"/>
                    </a:solidFill>
                  </a:rPr>
                  <a:t>I</a:t>
                </a:r>
                <a14:m>
                  <m:oMath xmlns:m="http://schemas.openxmlformats.org/officeDocument/2006/math">
                    <m:d>
                      <m:dPr>
                        <m:ctrlPr>
                          <a:rPr kumimoji="1" lang="en-US" altLang="zh-CN" sz="2400" i="1">
                            <a:solidFill>
                              <a:schemeClr val="tx1"/>
                            </a:solidFill>
                            <a:latin typeface="Cambria Math" charset="0"/>
                          </a:rPr>
                        </m:ctrlPr>
                      </m:dPr>
                      <m:e>
                        <m:r>
                          <a:rPr kumimoji="1" lang="en-US" altLang="zh-CN" sz="2400" b="1" i="1">
                            <a:solidFill>
                              <a:schemeClr val="tx1"/>
                            </a:solidFill>
                            <a:latin typeface="Cambria Math" charset="0"/>
                          </a:rPr>
                          <m:t>𝒌</m:t>
                        </m:r>
                      </m:e>
                    </m:d>
                    <m:r>
                      <a:rPr kumimoji="1" lang="en-US" altLang="zh-CN" sz="2400" i="1">
                        <a:solidFill>
                          <a:schemeClr val="tx1"/>
                        </a:solidFill>
                        <a:latin typeface="Cambria Math" charset="0"/>
                      </a:rPr>
                      <m:t>=</m:t>
                    </m:r>
                    <m:nary>
                      <m:naryPr>
                        <m:chr m:val="∑"/>
                        <m:supHide m:val="on"/>
                        <m:ctrlPr>
                          <a:rPr kumimoji="1" lang="is-IS" altLang="zh-CN" sz="2400" i="1">
                            <a:solidFill>
                              <a:schemeClr val="tx1"/>
                            </a:solidFill>
                            <a:latin typeface="Cambria Math" charset="0"/>
                          </a:rPr>
                        </m:ctrlPr>
                      </m:naryPr>
                      <m:sub>
                        <m:r>
                          <a:rPr kumimoji="1" lang="en-US" altLang="zh-CN" sz="2400" i="1" smtClean="0">
                            <a:solidFill>
                              <a:schemeClr val="tx1"/>
                            </a:solidFill>
                            <a:latin typeface="Cambria Math" panose="02040503050406030204" pitchFamily="18" charset="0"/>
                          </a:rPr>
                          <m:t>𝑙</m:t>
                        </m:r>
                        <m:r>
                          <a:rPr kumimoji="1" lang="en-US" altLang="zh-CN" sz="2400" i="1" smtClean="0">
                            <a:solidFill>
                              <a:schemeClr val="tx1"/>
                            </a:solidFill>
                            <a:latin typeface="Cambria Math" charset="0"/>
                          </a:rPr>
                          <m:t>,</m:t>
                        </m:r>
                        <m:r>
                          <a:rPr kumimoji="1" lang="en-US" altLang="zh-CN" sz="2400" i="1" smtClean="0">
                            <a:solidFill>
                              <a:schemeClr val="tx1"/>
                            </a:solidFill>
                            <a:latin typeface="Cambria Math" panose="02040503050406030204" pitchFamily="18" charset="0"/>
                          </a:rPr>
                          <m:t>𝑙</m:t>
                        </m:r>
                        <m:r>
                          <a:rPr kumimoji="1" lang="en-US" altLang="zh-CN" sz="2400" i="1" baseline="30000" smtClean="0">
                            <a:solidFill>
                              <a:schemeClr val="tx1"/>
                            </a:solidFill>
                            <a:latin typeface="Cambria Math" charset="0"/>
                          </a:rPr>
                          <m:t>′</m:t>
                        </m:r>
                      </m:sub>
                      <m:sup/>
                      <m:e>
                        <m:r>
                          <a:rPr kumimoji="1" lang="en-US" altLang="zh-CN" sz="2400" i="1">
                            <a:solidFill>
                              <a:schemeClr val="tx1"/>
                            </a:solidFill>
                            <a:latin typeface="Cambria Math" charset="0"/>
                          </a:rPr>
                          <m:t>𝑎</m:t>
                        </m:r>
                        <m:r>
                          <a:rPr kumimoji="1" lang="en-US" altLang="zh-CN" sz="2400" i="1" baseline="-25000" smtClean="0">
                            <a:solidFill>
                              <a:schemeClr val="tx1"/>
                            </a:solidFill>
                            <a:latin typeface="Cambria Math" panose="02040503050406030204" pitchFamily="18" charset="0"/>
                          </a:rPr>
                          <m:t>𝑙</m:t>
                        </m:r>
                        <m:sSup>
                          <m:sSupPr>
                            <m:ctrlPr>
                              <a:rPr kumimoji="1" lang="el-GR" altLang="zh-CN" sz="2400" i="1">
                                <a:solidFill>
                                  <a:schemeClr val="tx1"/>
                                </a:solidFill>
                                <a:latin typeface="Cambria Math" charset="0"/>
                              </a:rPr>
                            </m:ctrlPr>
                          </m:sSupPr>
                          <m:e>
                            <m:r>
                              <a:rPr kumimoji="1" lang="en-US" altLang="zh-CN" sz="2400" i="1" smtClean="0">
                                <a:solidFill>
                                  <a:schemeClr val="tx1"/>
                                </a:solidFill>
                                <a:latin typeface="Cambria Math" charset="0"/>
                              </a:rPr>
                              <m:t>𝑎</m:t>
                            </m:r>
                            <m:sSup>
                              <m:sSupPr>
                                <m:ctrlPr>
                                  <a:rPr kumimoji="1" lang="en-US" altLang="zh-CN" sz="2400" i="1" baseline="-25000" smtClean="0">
                                    <a:solidFill>
                                      <a:schemeClr val="tx1"/>
                                    </a:solidFill>
                                    <a:latin typeface="Cambria Math" charset="0"/>
                                  </a:rPr>
                                </m:ctrlPr>
                              </m:sSupPr>
                              <m:e>
                                <m:r>
                                  <a:rPr kumimoji="1" lang="en-US" altLang="zh-CN" sz="2400" i="1" baseline="-25000" smtClean="0">
                                    <a:solidFill>
                                      <a:schemeClr val="tx1"/>
                                    </a:solidFill>
                                    <a:latin typeface="Cambria Math" panose="02040503050406030204" pitchFamily="18" charset="0"/>
                                  </a:rPr>
                                  <m:t>𝑙</m:t>
                                </m:r>
                              </m:e>
                              <m:sup>
                                <m:r>
                                  <a:rPr kumimoji="1" lang="en-US" altLang="zh-CN" sz="2400" i="1" baseline="-25000" smtClean="0">
                                    <a:solidFill>
                                      <a:schemeClr val="tx1"/>
                                    </a:solidFill>
                                    <a:latin typeface="Cambria Math" charset="0"/>
                                  </a:rPr>
                                  <m:t>′</m:t>
                                </m:r>
                              </m:sup>
                            </m:sSup>
                            <m:r>
                              <a:rPr kumimoji="1" lang="en-US" altLang="zh-CN" sz="2400" i="1" baseline="30000" smtClean="0">
                                <a:solidFill>
                                  <a:schemeClr val="tx1"/>
                                </a:solidFill>
                                <a:latin typeface="Cambria Math" charset="0"/>
                              </a:rPr>
                              <m:t>∗</m:t>
                            </m:r>
                            <m:r>
                              <a:rPr kumimoji="1" lang="el-GR" altLang="zh-CN" sz="2400" i="1">
                                <a:solidFill>
                                  <a:schemeClr val="tx1"/>
                                </a:solidFill>
                                <a:latin typeface="Cambria Math" charset="0"/>
                              </a:rPr>
                              <m:t>𝑒</m:t>
                            </m:r>
                          </m:e>
                          <m:sup>
                            <m:r>
                              <a:rPr kumimoji="1" lang="el-GR" altLang="zh-CN" sz="2400" i="1">
                                <a:solidFill>
                                  <a:schemeClr val="tx1"/>
                                </a:solidFill>
                                <a:latin typeface="Cambria Math" charset="0"/>
                              </a:rPr>
                              <m:t>𝑖</m:t>
                            </m:r>
                            <m:r>
                              <a:rPr kumimoji="1" lang="en-US" altLang="zh-CN" sz="2400" b="1" i="1">
                                <a:solidFill>
                                  <a:schemeClr val="tx1"/>
                                </a:solidFill>
                                <a:latin typeface="Cambria Math" charset="0"/>
                              </a:rPr>
                              <m:t>(</m:t>
                            </m:r>
                            <m:r>
                              <a:rPr kumimoji="1" lang="en-US" altLang="zh-CN" sz="2400" b="1" i="1">
                                <a:solidFill>
                                  <a:schemeClr val="tx1"/>
                                </a:solidFill>
                                <a:latin typeface="Cambria Math" charset="0"/>
                              </a:rPr>
                              <m:t>𝒌</m:t>
                            </m:r>
                            <m:r>
                              <a:rPr kumimoji="1" lang="en-US" altLang="zh-CN" sz="2400" b="1" i="1">
                                <a:solidFill>
                                  <a:schemeClr val="tx1"/>
                                </a:solidFill>
                                <a:latin typeface="Cambria Math" charset="0"/>
                              </a:rPr>
                              <m:t>−</m:t>
                            </m:r>
                            <m:r>
                              <a:rPr kumimoji="1" lang="en-US" altLang="zh-CN" sz="2400" b="1" i="1">
                                <a:solidFill>
                                  <a:schemeClr val="tx1"/>
                                </a:solidFill>
                                <a:latin typeface="Cambria Math" charset="0"/>
                              </a:rPr>
                              <m:t>𝒌</m:t>
                            </m:r>
                            <m:r>
                              <a:rPr kumimoji="1" lang="en-US" altLang="zh-CN" sz="2400" i="1" baseline="-25000">
                                <a:solidFill>
                                  <a:schemeClr val="tx1"/>
                                </a:solidFill>
                                <a:latin typeface="Cambria Math" charset="0"/>
                              </a:rPr>
                              <m:t>0</m:t>
                            </m:r>
                            <m:r>
                              <a:rPr kumimoji="1" lang="en-US" altLang="zh-CN" sz="2400" i="1">
                                <a:solidFill>
                                  <a:schemeClr val="tx1"/>
                                </a:solidFill>
                                <a:latin typeface="Cambria Math" charset="0"/>
                              </a:rPr>
                              <m:t>)</m:t>
                            </m:r>
                            <m:r>
                              <a:rPr kumimoji="1" lang="en-US" altLang="zh-CN" sz="2400" i="1">
                                <a:solidFill>
                                  <a:schemeClr val="tx1"/>
                                </a:solidFill>
                                <a:latin typeface="Cambria Math" charset="0"/>
                                <a:ea typeface="Cambria Math" charset="0"/>
                                <a:cs typeface="Cambria Math" charset="0"/>
                              </a:rPr>
                              <m:t>∙</m:t>
                            </m:r>
                            <m:r>
                              <a:rPr kumimoji="1" lang="en-US" altLang="zh-CN" sz="2400" i="1" smtClean="0">
                                <a:solidFill>
                                  <a:schemeClr val="tx1"/>
                                </a:solidFill>
                                <a:latin typeface="Cambria Math" charset="0"/>
                                <a:ea typeface="Cambria Math" charset="0"/>
                                <a:cs typeface="Cambria Math" charset="0"/>
                              </a:rPr>
                              <m:t>(</m:t>
                            </m:r>
                            <m:r>
                              <a:rPr kumimoji="1" lang="en-US" altLang="zh-CN" sz="2400" b="1" i="1">
                                <a:solidFill>
                                  <a:schemeClr val="tx1"/>
                                </a:solidFill>
                                <a:latin typeface="Cambria Math" charset="0"/>
                                <a:ea typeface="Cambria Math" charset="0"/>
                                <a:cs typeface="Cambria Math" charset="0"/>
                              </a:rPr>
                              <m:t>𝑹</m:t>
                            </m:r>
                            <m:r>
                              <a:rPr kumimoji="1" lang="en-US" altLang="zh-CN" sz="2400" b="1" i="1" baseline="-25000">
                                <a:solidFill>
                                  <a:schemeClr val="tx1"/>
                                </a:solidFill>
                                <a:latin typeface="Cambria Math" charset="0"/>
                                <a:ea typeface="Cambria Math" charset="0"/>
                                <a:cs typeface="Cambria Math" charset="0"/>
                              </a:rPr>
                              <m:t>𝒍</m:t>
                            </m:r>
                            <m:r>
                              <a:rPr kumimoji="1" lang="en-US" altLang="zh-CN" sz="2400" b="1" i="1" smtClean="0">
                                <a:solidFill>
                                  <a:schemeClr val="tx1"/>
                                </a:solidFill>
                                <a:latin typeface="Cambria Math" charset="0"/>
                                <a:ea typeface="Cambria Math" charset="0"/>
                                <a:cs typeface="Cambria Math" charset="0"/>
                              </a:rPr>
                              <m:t>−</m:t>
                            </m:r>
                            <m:r>
                              <a:rPr kumimoji="1" lang="en-US" altLang="zh-CN" sz="2400" b="1" i="1">
                                <a:solidFill>
                                  <a:schemeClr val="tx1"/>
                                </a:solidFill>
                                <a:latin typeface="Cambria Math" charset="0"/>
                                <a:ea typeface="Cambria Math" charset="0"/>
                                <a:cs typeface="Cambria Math" charset="0"/>
                              </a:rPr>
                              <m:t>𝑹</m:t>
                            </m:r>
                            <m:r>
                              <a:rPr kumimoji="1" lang="en-US" altLang="zh-CN" sz="2400" b="1" i="1" baseline="-25000">
                                <a:solidFill>
                                  <a:schemeClr val="tx1"/>
                                </a:solidFill>
                                <a:latin typeface="Cambria Math" charset="0"/>
                                <a:ea typeface="Cambria Math" charset="0"/>
                                <a:cs typeface="Cambria Math" charset="0"/>
                              </a:rPr>
                              <m:t>𝒍</m:t>
                            </m:r>
                            <m:r>
                              <a:rPr kumimoji="1" lang="en-US" altLang="zh-CN" sz="2400" i="1" baseline="-25000" smtClean="0">
                                <a:solidFill>
                                  <a:schemeClr val="tx1"/>
                                </a:solidFill>
                                <a:latin typeface="Cambria Math" charset="0"/>
                                <a:ea typeface="Cambria Math" charset="0"/>
                                <a:cs typeface="Cambria Math" charset="0"/>
                              </a:rPr>
                              <m:t>′</m:t>
                            </m:r>
                            <m:r>
                              <a:rPr kumimoji="1" lang="en-US" altLang="zh-CN" sz="2400" i="1" smtClean="0">
                                <a:solidFill>
                                  <a:schemeClr val="tx1"/>
                                </a:solidFill>
                                <a:latin typeface="Cambria Math" charset="0"/>
                                <a:ea typeface="Cambria Math" charset="0"/>
                                <a:cs typeface="Cambria Math" charset="0"/>
                              </a:rPr>
                              <m:t>)</m:t>
                            </m:r>
                          </m:sup>
                        </m:sSup>
                      </m:e>
                    </m:nary>
                  </m:oMath>
                </a14:m>
                <a:r>
                  <a:rPr kumimoji="1" lang="en-US" altLang="zh-CN" sz="2400" dirty="0" smtClean="0">
                    <a:solidFill>
                      <a:schemeClr val="tx1"/>
                    </a:solidFill>
                  </a:rPr>
                  <a:t>    	(2.1.3)</a:t>
                </a:r>
                <a:endParaRPr kumimoji="1" lang="zh-CN" altLang="en-US" sz="2400" dirty="0" smtClean="0">
                  <a:solidFill>
                    <a:schemeClr val="tx1"/>
                  </a:solidFill>
                </a:endParaRPr>
              </a:p>
            </p:txBody>
          </p:sp>
        </mc:Choice>
        <mc:Fallback xmlns="">
          <p:sp>
            <p:nvSpPr>
              <p:cNvPr id="3" name="副标题 2"/>
              <p:cNvSpPr txBox="1">
                <a:spLocks noRot="1" noChangeAspect="1" noMove="1" noResize="1" noEditPoints="1" noAdjustHandles="1" noChangeArrowheads="1" noChangeShapeType="1" noTextEdit="1"/>
              </p:cNvSpPr>
              <p:nvPr/>
            </p:nvSpPr>
            <p:spPr>
              <a:xfrm>
                <a:off x="382385" y="1623047"/>
                <a:ext cx="6970914" cy="4917453"/>
              </a:xfrm>
              <a:prstGeom prst="rect">
                <a:avLst/>
              </a:prstGeom>
              <a:blipFill rotWithShape="0">
                <a:blip r:embed="rId2"/>
                <a:stretch>
                  <a:fillRect l="-1837" t="-2230"/>
                </a:stretch>
              </a:blipFill>
            </p:spPr>
            <p:txBody>
              <a:bodyPr/>
              <a:lstStyle/>
              <a:p>
                <a:r>
                  <a:rPr lang="zh-CN" altLang="en-US">
                    <a:noFill/>
                  </a:rPr>
                  <a:t> </a:t>
                </a:r>
              </a:p>
            </p:txBody>
          </p:sp>
        </mc:Fallback>
      </mc:AlternateContent>
      <p:pic>
        <p:nvPicPr>
          <p:cNvPr id="4" name="图片 3"/>
          <p:cNvPicPr>
            <a:picLocks noChangeAspect="1"/>
          </p:cNvPicPr>
          <p:nvPr/>
        </p:nvPicPr>
        <p:blipFill rotWithShape="1">
          <a:blip r:embed="rId3"/>
          <a:srcRect l="11515" r="15338"/>
          <a:stretch/>
        </p:blipFill>
        <p:spPr>
          <a:xfrm>
            <a:off x="7353299" y="2639046"/>
            <a:ext cx="4767263" cy="2910853"/>
          </a:xfrm>
          <a:prstGeom prst="rect">
            <a:avLst/>
          </a:prstGeom>
        </p:spPr>
      </p:pic>
    </p:spTree>
    <p:extLst>
      <p:ext uri="{BB962C8B-B14F-4D97-AF65-F5344CB8AC3E}">
        <p14:creationId xmlns:p14="http://schemas.microsoft.com/office/powerpoint/2010/main" val="171995045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49536" y="484509"/>
            <a:ext cx="5228704" cy="584775"/>
          </a:xfrm>
          <a:prstGeom prst="rect">
            <a:avLst/>
          </a:prstGeom>
        </p:spPr>
        <p:txBody>
          <a:bodyPr wrap="square">
            <a:spAutoFit/>
          </a:bodyPr>
          <a:lstStyle/>
          <a:p>
            <a:r>
              <a:rPr kumimoji="1" lang="zh-CN" altLang="en-US" sz="3200" dirty="0" smtClean="0"/>
              <a:t>第二章 晶体中的衍射</a:t>
            </a:r>
            <a:endParaRPr lang="zh-CN" altLang="en-US" sz="3200" dirty="0"/>
          </a:p>
        </p:txBody>
      </p:sp>
      <mc:AlternateContent xmlns:mc="http://schemas.openxmlformats.org/markup-compatibility/2006" xmlns:a14="http://schemas.microsoft.com/office/drawing/2010/main">
        <mc:Choice Requires="a14">
          <p:sp>
            <p:nvSpPr>
              <p:cNvPr id="3" name="副标题 2"/>
              <p:cNvSpPr txBox="1">
                <a:spLocks/>
              </p:cNvSpPr>
              <p:nvPr/>
            </p:nvSpPr>
            <p:spPr>
              <a:xfrm>
                <a:off x="381001" y="1392157"/>
                <a:ext cx="11206942" cy="474194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en-US" altLang="zh-CN" dirty="0" smtClean="0">
                    <a:solidFill>
                      <a:schemeClr val="tx1"/>
                    </a:solidFill>
                  </a:rPr>
                  <a:t>§ 2.2</a:t>
                </a:r>
                <a:r>
                  <a:rPr kumimoji="1" lang="zh-CN" altLang="en-US" dirty="0" smtClean="0">
                    <a:solidFill>
                      <a:schemeClr val="tx1"/>
                    </a:solidFill>
                  </a:rPr>
                  <a:t> 晶体的倒格子和布里渊区</a:t>
                </a:r>
                <a:endParaRPr kumimoji="1" lang="en-US" altLang="zh-CN" dirty="0" smtClean="0">
                  <a:solidFill>
                    <a:schemeClr val="tx1"/>
                  </a:solidFill>
                </a:endParaRPr>
              </a:p>
              <a:p>
                <a:pPr marL="0" indent="0">
                  <a:buNone/>
                </a:pPr>
                <a:r>
                  <a:rPr kumimoji="1" lang="en-US" altLang="zh-CN" dirty="0" smtClean="0">
                    <a:solidFill>
                      <a:schemeClr val="tx1"/>
                    </a:solidFill>
                  </a:rPr>
                  <a:t>2.2.1 </a:t>
                </a:r>
                <a:r>
                  <a:rPr kumimoji="1" lang="zh-CN" altLang="en-US" dirty="0" smtClean="0">
                    <a:solidFill>
                      <a:schemeClr val="tx1"/>
                    </a:solidFill>
                  </a:rPr>
                  <a:t>倒格子基矢</a:t>
                </a:r>
                <a:endParaRPr kumimoji="1" lang="en-US" altLang="zh-CN" dirty="0" smtClean="0">
                  <a:solidFill>
                    <a:schemeClr val="tx1"/>
                  </a:solidFill>
                </a:endParaRPr>
              </a:p>
              <a:p>
                <a:pPr marL="0" indent="0">
                  <a:buNone/>
                </a:pPr>
                <a:r>
                  <a:rPr kumimoji="1" lang="zh-CN" altLang="en-US" sz="2000" dirty="0" smtClean="0">
                    <a:solidFill>
                      <a:schemeClr val="tx1"/>
                    </a:solidFill>
                  </a:rPr>
                  <a:t>定义：</a:t>
                </a:r>
                <a:r>
                  <a:rPr kumimoji="1" lang="en-US" altLang="zh-CN" sz="2000" dirty="0">
                    <a:solidFill>
                      <a:schemeClr val="tx1"/>
                    </a:solidFill>
                  </a:rPr>
                  <a:t>	</a:t>
                </a:r>
                <a14:m>
                  <m:oMath xmlns:m="http://schemas.openxmlformats.org/officeDocument/2006/math">
                    <m:r>
                      <a:rPr kumimoji="1" lang="en-US" altLang="zh-CN" sz="2000" b="1" i="1">
                        <a:solidFill>
                          <a:schemeClr val="tx1"/>
                        </a:solidFill>
                        <a:latin typeface="Cambria Math" charset="0"/>
                      </a:rPr>
                      <m:t>𝒃</m:t>
                    </m:r>
                    <m:r>
                      <a:rPr kumimoji="1" lang="en-US" altLang="zh-CN" sz="2000" i="1" baseline="-25000">
                        <a:solidFill>
                          <a:schemeClr val="tx1"/>
                        </a:solidFill>
                        <a:latin typeface="Cambria Math" charset="0"/>
                      </a:rPr>
                      <m:t>1</m:t>
                    </m:r>
                    <m:r>
                      <a:rPr kumimoji="1" lang="zh-CN" altLang="en-US" sz="2000" i="1" smtClean="0">
                        <a:solidFill>
                          <a:schemeClr val="tx1"/>
                        </a:solidFill>
                        <a:latin typeface="Cambria Math" charset="0"/>
                      </a:rPr>
                      <m:t>＝</m:t>
                    </m:r>
                    <m:r>
                      <a:rPr kumimoji="1" lang="en-US" altLang="zh-CN" sz="2000" i="1" smtClean="0">
                        <a:solidFill>
                          <a:schemeClr val="tx1"/>
                        </a:solidFill>
                        <a:latin typeface="Cambria Math" charset="0"/>
                      </a:rPr>
                      <m:t>2</m:t>
                    </m:r>
                    <m:r>
                      <a:rPr kumimoji="1" lang="en-US" altLang="zh-CN" sz="2000" i="1" smtClean="0">
                        <a:solidFill>
                          <a:schemeClr val="tx1"/>
                        </a:solidFill>
                        <a:latin typeface="Cambria Math" charset="0"/>
                        <a:ea typeface="Cambria Math" charset="0"/>
                        <a:cs typeface="Cambria Math" charset="0"/>
                      </a:rPr>
                      <m:t>𝜋</m:t>
                    </m:r>
                    <m:r>
                      <a:rPr kumimoji="1" lang="zh-CN" altLang="en-US" sz="2000" i="1" smtClean="0">
                        <a:solidFill>
                          <a:schemeClr val="tx1"/>
                        </a:solidFill>
                        <a:latin typeface="Cambria Math" charset="0"/>
                        <a:ea typeface="Cambria Math" charset="0"/>
                        <a:cs typeface="Cambria Math" charset="0"/>
                      </a:rPr>
                      <m:t>（</m:t>
                    </m:r>
                    <m:r>
                      <a:rPr kumimoji="1" lang="en-US" altLang="zh-CN" sz="2000" b="1" i="1" smtClean="0">
                        <a:solidFill>
                          <a:schemeClr val="tx1"/>
                        </a:solidFill>
                        <a:latin typeface="Cambria Math" charset="0"/>
                      </a:rPr>
                      <m:t>𝒂</m:t>
                    </m:r>
                    <m:r>
                      <a:rPr kumimoji="1" lang="en-US" altLang="zh-CN" sz="2000" i="1" baseline="-25000">
                        <a:solidFill>
                          <a:schemeClr val="tx1"/>
                        </a:solidFill>
                        <a:latin typeface="Cambria Math" charset="0"/>
                      </a:rPr>
                      <m:t>2</m:t>
                    </m:r>
                    <m:r>
                      <a:rPr kumimoji="1" lang="en-US" altLang="zh-CN" sz="2000" b="1" i="1" smtClean="0">
                        <a:solidFill>
                          <a:schemeClr val="tx1"/>
                        </a:solidFill>
                        <a:latin typeface="Cambria Math" charset="0"/>
                      </a:rPr>
                      <m:t> </m:t>
                    </m:r>
                    <m:r>
                      <a:rPr kumimoji="1" lang="en-US" altLang="zh-CN" sz="2000" b="1" i="1" smtClean="0">
                        <a:solidFill>
                          <a:schemeClr val="tx1"/>
                        </a:solidFill>
                        <a:latin typeface="Cambria Math" charset="0"/>
                        <a:ea typeface="Cambria Math" charset="0"/>
                        <a:cs typeface="Cambria Math" charset="0"/>
                      </a:rPr>
                      <m:t>× </m:t>
                    </m:r>
                    <m:r>
                      <a:rPr kumimoji="1" lang="en-US" altLang="zh-CN" sz="2000" b="1" i="1" smtClean="0">
                        <a:solidFill>
                          <a:schemeClr val="tx1"/>
                        </a:solidFill>
                        <a:latin typeface="Cambria Math" charset="0"/>
                      </a:rPr>
                      <m:t>𝒂</m:t>
                    </m:r>
                    <m:r>
                      <a:rPr kumimoji="1" lang="en-US" altLang="zh-CN" sz="2000" i="1" baseline="-25000">
                        <a:solidFill>
                          <a:schemeClr val="tx1"/>
                        </a:solidFill>
                        <a:latin typeface="Cambria Math" charset="0"/>
                      </a:rPr>
                      <m:t>3</m:t>
                    </m:r>
                    <m:r>
                      <a:rPr kumimoji="1" lang="en-US" altLang="zh-CN" sz="2000" smtClean="0">
                        <a:solidFill>
                          <a:schemeClr val="tx1"/>
                        </a:solidFill>
                        <a:latin typeface="Cambria Math" charset="0"/>
                      </a:rPr>
                      <m:t>)/</m:t>
                    </m:r>
                    <m:r>
                      <m:rPr>
                        <m:sty m:val="p"/>
                      </m:rPr>
                      <a:rPr kumimoji="1" lang="el-GR" altLang="zh-CN" sz="2000" i="1" smtClean="0">
                        <a:solidFill>
                          <a:schemeClr val="tx1"/>
                        </a:solidFill>
                        <a:latin typeface="Cambria Math" charset="0"/>
                        <a:ea typeface="Cambria Math" charset="0"/>
                        <a:cs typeface="Cambria Math" charset="0"/>
                      </a:rPr>
                      <m:t>Ω</m:t>
                    </m:r>
                  </m:oMath>
                </a14:m>
                <a:endParaRPr kumimoji="1" lang="en-US" altLang="zh-CN" sz="2000" b="1" i="1" dirty="0" smtClean="0">
                  <a:solidFill>
                    <a:schemeClr val="tx1"/>
                  </a:solidFill>
                  <a:latin typeface="Cambria Math" charset="0"/>
                </a:endParaRPr>
              </a:p>
              <a:p>
                <a:pPr marL="0" indent="0">
                  <a:buNone/>
                </a:pPr>
                <a:r>
                  <a:rPr kumimoji="1" lang="en-US" altLang="zh-CN" sz="2000" b="1" dirty="0" smtClean="0">
                    <a:solidFill>
                      <a:schemeClr val="tx1"/>
                    </a:solidFill>
                  </a:rPr>
                  <a:t>	</a:t>
                </a:r>
                <a14:m>
                  <m:oMath xmlns:m="http://schemas.openxmlformats.org/officeDocument/2006/math">
                    <m:r>
                      <a:rPr kumimoji="1" lang="en-US" altLang="zh-CN" sz="2000" b="1" i="1">
                        <a:solidFill>
                          <a:schemeClr val="tx1"/>
                        </a:solidFill>
                        <a:latin typeface="Cambria Math" charset="0"/>
                      </a:rPr>
                      <m:t>𝒃</m:t>
                    </m:r>
                    <m:r>
                      <a:rPr kumimoji="1" lang="en-US" altLang="zh-CN" sz="2000" i="1" baseline="-25000" smtClean="0">
                        <a:solidFill>
                          <a:schemeClr val="tx1"/>
                        </a:solidFill>
                        <a:latin typeface="Cambria Math" charset="0"/>
                      </a:rPr>
                      <m:t>2</m:t>
                    </m:r>
                    <m:r>
                      <a:rPr kumimoji="1" lang="zh-CN" altLang="en-US" sz="2000" i="1">
                        <a:solidFill>
                          <a:schemeClr val="tx1"/>
                        </a:solidFill>
                        <a:latin typeface="Cambria Math" charset="0"/>
                      </a:rPr>
                      <m:t>＝</m:t>
                    </m:r>
                    <m:r>
                      <a:rPr kumimoji="1" lang="en-US" altLang="zh-CN" sz="2000" i="1">
                        <a:solidFill>
                          <a:schemeClr val="tx1"/>
                        </a:solidFill>
                        <a:latin typeface="Cambria Math" charset="0"/>
                      </a:rPr>
                      <m:t>2</m:t>
                    </m:r>
                    <m:r>
                      <a:rPr kumimoji="1" lang="en-US" altLang="zh-CN" sz="2000" i="1">
                        <a:solidFill>
                          <a:schemeClr val="tx1"/>
                        </a:solidFill>
                        <a:latin typeface="Cambria Math" charset="0"/>
                        <a:ea typeface="Cambria Math" charset="0"/>
                        <a:cs typeface="Cambria Math" charset="0"/>
                      </a:rPr>
                      <m:t>𝜋</m:t>
                    </m:r>
                    <m:r>
                      <a:rPr kumimoji="1" lang="zh-CN" altLang="en-US" sz="2000" i="1">
                        <a:solidFill>
                          <a:schemeClr val="tx1"/>
                        </a:solidFill>
                        <a:latin typeface="Cambria Math" charset="0"/>
                        <a:ea typeface="Cambria Math" charset="0"/>
                        <a:cs typeface="Cambria Math" charset="0"/>
                      </a:rPr>
                      <m:t>（</m:t>
                    </m:r>
                    <m:r>
                      <a:rPr kumimoji="1" lang="en-US" altLang="zh-CN" sz="2000" b="1" i="1">
                        <a:solidFill>
                          <a:schemeClr val="tx1"/>
                        </a:solidFill>
                        <a:latin typeface="Cambria Math" charset="0"/>
                      </a:rPr>
                      <m:t>𝒂</m:t>
                    </m:r>
                    <m:r>
                      <a:rPr kumimoji="1" lang="en-US" altLang="zh-CN" sz="2000" i="1" baseline="-25000" smtClean="0">
                        <a:solidFill>
                          <a:schemeClr val="tx1"/>
                        </a:solidFill>
                        <a:latin typeface="Cambria Math" charset="0"/>
                      </a:rPr>
                      <m:t>3</m:t>
                    </m:r>
                    <m:r>
                      <a:rPr kumimoji="1" lang="en-US" altLang="zh-CN" sz="2000" b="1" i="1">
                        <a:solidFill>
                          <a:schemeClr val="tx1"/>
                        </a:solidFill>
                        <a:latin typeface="Cambria Math" charset="0"/>
                      </a:rPr>
                      <m:t> </m:t>
                    </m:r>
                    <m:r>
                      <a:rPr kumimoji="1" lang="en-US" altLang="zh-CN" sz="2000" b="1" i="1">
                        <a:solidFill>
                          <a:schemeClr val="tx1"/>
                        </a:solidFill>
                        <a:latin typeface="Cambria Math" charset="0"/>
                        <a:ea typeface="Cambria Math" charset="0"/>
                        <a:cs typeface="Cambria Math" charset="0"/>
                      </a:rPr>
                      <m:t>× </m:t>
                    </m:r>
                    <m:r>
                      <a:rPr kumimoji="1" lang="en-US" altLang="zh-CN" sz="2000" b="1" i="1">
                        <a:solidFill>
                          <a:schemeClr val="tx1"/>
                        </a:solidFill>
                        <a:latin typeface="Cambria Math" charset="0"/>
                      </a:rPr>
                      <m:t>𝒂</m:t>
                    </m:r>
                    <m:r>
                      <a:rPr kumimoji="1" lang="en-US" altLang="zh-CN" sz="2000" i="1" baseline="-25000" smtClean="0">
                        <a:solidFill>
                          <a:schemeClr val="tx1"/>
                        </a:solidFill>
                        <a:latin typeface="Cambria Math" charset="0"/>
                      </a:rPr>
                      <m:t>1</m:t>
                    </m:r>
                    <m:r>
                      <a:rPr kumimoji="1" lang="en-US" altLang="zh-CN" sz="2000">
                        <a:solidFill>
                          <a:schemeClr val="tx1"/>
                        </a:solidFill>
                        <a:latin typeface="Cambria Math" charset="0"/>
                      </a:rPr>
                      <m:t>)</m:t>
                    </m:r>
                    <m:r>
                      <a:rPr kumimoji="1" lang="en-US" altLang="zh-CN" sz="2000" smtClean="0">
                        <a:solidFill>
                          <a:schemeClr val="tx1"/>
                        </a:solidFill>
                        <a:latin typeface="Cambria Math" charset="0"/>
                      </a:rPr>
                      <m:t>/</m:t>
                    </m:r>
                    <m:r>
                      <m:rPr>
                        <m:sty m:val="p"/>
                      </m:rPr>
                      <a:rPr kumimoji="1" lang="el-GR" altLang="zh-CN" sz="2000" i="1" smtClean="0">
                        <a:solidFill>
                          <a:schemeClr val="tx1"/>
                        </a:solidFill>
                        <a:latin typeface="Cambria Math" charset="0"/>
                        <a:ea typeface="Cambria Math" charset="0"/>
                        <a:cs typeface="Cambria Math" charset="0"/>
                      </a:rPr>
                      <m:t>Ω</m:t>
                    </m:r>
                  </m:oMath>
                </a14:m>
                <a:r>
                  <a:rPr kumimoji="1" lang="en-US" altLang="zh-CN" sz="2000" dirty="0">
                    <a:solidFill>
                      <a:schemeClr val="tx1"/>
                    </a:solidFill>
                  </a:rPr>
                  <a:t> </a:t>
                </a:r>
                <a:endParaRPr kumimoji="1" lang="en-US" altLang="zh-CN" sz="2000" b="1" i="1" dirty="0" smtClean="0">
                  <a:solidFill>
                    <a:schemeClr val="tx1"/>
                  </a:solidFill>
                  <a:latin typeface="Cambria Math" charset="0"/>
                </a:endParaRPr>
              </a:p>
              <a:p>
                <a:pPr marL="0" indent="0">
                  <a:buNone/>
                </a:pPr>
                <a:r>
                  <a:rPr kumimoji="1" lang="en-US" altLang="zh-CN" sz="2000" b="1" dirty="0">
                    <a:solidFill>
                      <a:schemeClr val="tx1"/>
                    </a:solidFill>
                  </a:rPr>
                  <a:t>	</a:t>
                </a:r>
                <a14:m>
                  <m:oMath xmlns:m="http://schemas.openxmlformats.org/officeDocument/2006/math">
                    <m:r>
                      <a:rPr kumimoji="1" lang="en-US" altLang="zh-CN" sz="2000" b="1" i="1">
                        <a:solidFill>
                          <a:schemeClr val="tx1"/>
                        </a:solidFill>
                        <a:latin typeface="Cambria Math" charset="0"/>
                      </a:rPr>
                      <m:t>𝒃</m:t>
                    </m:r>
                    <m:r>
                      <a:rPr kumimoji="1" lang="en-US" altLang="zh-CN" sz="2000" i="1" baseline="-25000" smtClean="0">
                        <a:solidFill>
                          <a:schemeClr val="tx1"/>
                        </a:solidFill>
                        <a:latin typeface="Cambria Math" charset="0"/>
                      </a:rPr>
                      <m:t>3</m:t>
                    </m:r>
                    <m:r>
                      <a:rPr kumimoji="1" lang="zh-CN" altLang="en-US" sz="2000" i="1">
                        <a:solidFill>
                          <a:schemeClr val="tx1"/>
                        </a:solidFill>
                        <a:latin typeface="Cambria Math" charset="0"/>
                      </a:rPr>
                      <m:t>＝</m:t>
                    </m:r>
                    <m:r>
                      <a:rPr kumimoji="1" lang="en-US" altLang="zh-CN" sz="2000" i="1">
                        <a:solidFill>
                          <a:schemeClr val="tx1"/>
                        </a:solidFill>
                        <a:latin typeface="Cambria Math" charset="0"/>
                      </a:rPr>
                      <m:t>2</m:t>
                    </m:r>
                    <m:r>
                      <a:rPr kumimoji="1" lang="en-US" altLang="zh-CN" sz="2000" i="1">
                        <a:solidFill>
                          <a:schemeClr val="tx1"/>
                        </a:solidFill>
                        <a:latin typeface="Cambria Math" charset="0"/>
                        <a:ea typeface="Cambria Math" charset="0"/>
                        <a:cs typeface="Cambria Math" charset="0"/>
                      </a:rPr>
                      <m:t>𝜋</m:t>
                    </m:r>
                    <m:r>
                      <a:rPr kumimoji="1" lang="zh-CN" altLang="en-US" sz="2000" i="1">
                        <a:solidFill>
                          <a:schemeClr val="tx1"/>
                        </a:solidFill>
                        <a:latin typeface="Cambria Math" charset="0"/>
                        <a:ea typeface="Cambria Math" charset="0"/>
                        <a:cs typeface="Cambria Math" charset="0"/>
                      </a:rPr>
                      <m:t>（</m:t>
                    </m:r>
                    <m:r>
                      <a:rPr kumimoji="1" lang="en-US" altLang="zh-CN" sz="2000" b="1" i="1">
                        <a:solidFill>
                          <a:schemeClr val="tx1"/>
                        </a:solidFill>
                        <a:latin typeface="Cambria Math" charset="0"/>
                      </a:rPr>
                      <m:t>𝒂</m:t>
                    </m:r>
                    <m:r>
                      <a:rPr kumimoji="1" lang="en-US" altLang="zh-CN" sz="2000" i="1" baseline="-25000" smtClean="0">
                        <a:solidFill>
                          <a:schemeClr val="tx1"/>
                        </a:solidFill>
                        <a:latin typeface="Cambria Math" charset="0"/>
                      </a:rPr>
                      <m:t>1</m:t>
                    </m:r>
                    <m:r>
                      <a:rPr kumimoji="1" lang="en-US" altLang="zh-CN" sz="2000" b="1" i="1">
                        <a:solidFill>
                          <a:schemeClr val="tx1"/>
                        </a:solidFill>
                        <a:latin typeface="Cambria Math" charset="0"/>
                      </a:rPr>
                      <m:t> </m:t>
                    </m:r>
                    <m:r>
                      <a:rPr kumimoji="1" lang="en-US" altLang="zh-CN" sz="2000" b="1" i="1">
                        <a:solidFill>
                          <a:schemeClr val="tx1"/>
                        </a:solidFill>
                        <a:latin typeface="Cambria Math" charset="0"/>
                        <a:ea typeface="Cambria Math" charset="0"/>
                        <a:cs typeface="Cambria Math" charset="0"/>
                      </a:rPr>
                      <m:t>× </m:t>
                    </m:r>
                    <m:r>
                      <a:rPr kumimoji="1" lang="en-US" altLang="zh-CN" sz="2000" b="1" i="1">
                        <a:solidFill>
                          <a:schemeClr val="tx1"/>
                        </a:solidFill>
                        <a:latin typeface="Cambria Math" charset="0"/>
                      </a:rPr>
                      <m:t>𝒂</m:t>
                    </m:r>
                    <m:r>
                      <a:rPr kumimoji="1" lang="en-US" altLang="zh-CN" sz="2000" i="1" baseline="-25000" smtClean="0">
                        <a:solidFill>
                          <a:schemeClr val="tx1"/>
                        </a:solidFill>
                        <a:latin typeface="Cambria Math" charset="0"/>
                      </a:rPr>
                      <m:t>2</m:t>
                    </m:r>
                    <m:r>
                      <a:rPr kumimoji="1" lang="en-US" altLang="zh-CN" sz="2000">
                        <a:solidFill>
                          <a:schemeClr val="tx1"/>
                        </a:solidFill>
                        <a:latin typeface="Cambria Math" charset="0"/>
                      </a:rPr>
                      <m:t>)</m:t>
                    </m:r>
                    <m:r>
                      <a:rPr kumimoji="1" lang="en-US" altLang="zh-CN" sz="2000" smtClean="0">
                        <a:solidFill>
                          <a:schemeClr val="tx1"/>
                        </a:solidFill>
                        <a:latin typeface="Cambria Math" charset="0"/>
                      </a:rPr>
                      <m:t>/</m:t>
                    </m:r>
                    <m:r>
                      <m:rPr>
                        <m:sty m:val="p"/>
                      </m:rPr>
                      <a:rPr kumimoji="1" lang="el-GR" altLang="zh-CN" sz="2000" i="1" smtClean="0">
                        <a:solidFill>
                          <a:schemeClr val="tx1"/>
                        </a:solidFill>
                        <a:latin typeface="Cambria Math" charset="0"/>
                        <a:ea typeface="Cambria Math" charset="0"/>
                        <a:cs typeface="Cambria Math" charset="0"/>
                      </a:rPr>
                      <m:t>Ω</m:t>
                    </m:r>
                  </m:oMath>
                </a14:m>
                <a:r>
                  <a:rPr kumimoji="1" lang="zh-CN" altLang="en-US" sz="2000" dirty="0" smtClean="0">
                    <a:solidFill>
                      <a:schemeClr val="tx1"/>
                    </a:solidFill>
                  </a:rPr>
                  <a:t> </a:t>
                </a:r>
                <a:r>
                  <a:rPr kumimoji="1" lang="en-US" altLang="zh-CN" sz="2000" dirty="0" smtClean="0">
                    <a:solidFill>
                      <a:schemeClr val="tx1"/>
                    </a:solidFill>
                  </a:rPr>
                  <a:t>	</a:t>
                </a:r>
                <a:r>
                  <a:rPr kumimoji="1" lang="zh-CN" altLang="en-US" sz="2000" dirty="0" smtClean="0">
                    <a:solidFill>
                      <a:schemeClr val="tx1"/>
                    </a:solidFill>
                  </a:rPr>
                  <a:t>为倒格子基矢</a:t>
                </a:r>
                <a:endParaRPr kumimoji="1" lang="en-US" altLang="zh-CN" sz="2000" dirty="0" smtClean="0">
                  <a:solidFill>
                    <a:schemeClr val="tx1"/>
                  </a:solidFill>
                </a:endParaRPr>
              </a:p>
              <a:p>
                <a:pPr marL="0" indent="0">
                  <a:buNone/>
                </a:pPr>
                <a:r>
                  <a:rPr kumimoji="1" lang="zh-CN" altLang="en-US" sz="2000" dirty="0" smtClean="0">
                    <a:solidFill>
                      <a:schemeClr val="tx1"/>
                    </a:solidFill>
                  </a:rPr>
                  <a:t>其中</a:t>
                </a:r>
                <a14:m>
                  <m:oMath xmlns:m="http://schemas.openxmlformats.org/officeDocument/2006/math">
                    <m:r>
                      <m:rPr>
                        <m:sty m:val="p"/>
                      </m:rPr>
                      <a:rPr kumimoji="1" lang="el-GR" altLang="zh-CN" sz="2000" i="1" smtClean="0">
                        <a:solidFill>
                          <a:schemeClr val="tx1"/>
                        </a:solidFill>
                        <a:latin typeface="Cambria Math" charset="0"/>
                        <a:ea typeface="Cambria Math" charset="0"/>
                        <a:cs typeface="Cambria Math" charset="0"/>
                      </a:rPr>
                      <m:t>Ω</m:t>
                    </m:r>
                    <m:r>
                      <a:rPr kumimoji="1" lang="zh-CN" altLang="en-US" sz="2000" i="1">
                        <a:solidFill>
                          <a:schemeClr val="tx1"/>
                        </a:solidFill>
                        <a:latin typeface="Cambria Math" charset="0"/>
                      </a:rPr>
                      <m:t>＝</m:t>
                    </m:r>
                    <m:r>
                      <a:rPr kumimoji="1" lang="en-US" altLang="zh-CN" sz="2000" b="1" i="1" smtClean="0">
                        <a:solidFill>
                          <a:schemeClr val="tx1"/>
                        </a:solidFill>
                        <a:latin typeface="Cambria Math" charset="0"/>
                      </a:rPr>
                      <m:t>𝒂</m:t>
                    </m:r>
                    <m:r>
                      <a:rPr kumimoji="1" lang="en-US" altLang="zh-CN" sz="2000" b="1" i="1" baseline="-25000" smtClean="0">
                        <a:solidFill>
                          <a:schemeClr val="tx1"/>
                        </a:solidFill>
                        <a:latin typeface="Cambria Math" charset="0"/>
                      </a:rPr>
                      <m:t>𝟏</m:t>
                    </m:r>
                    <m:r>
                      <a:rPr kumimoji="1" lang="en-US" altLang="zh-CN" sz="2000" b="1" i="1" smtClean="0">
                        <a:solidFill>
                          <a:schemeClr val="tx1"/>
                        </a:solidFill>
                        <a:latin typeface="Cambria Math" charset="0"/>
                        <a:ea typeface="Cambria Math" charset="0"/>
                        <a:cs typeface="Cambria Math" charset="0"/>
                      </a:rPr>
                      <m:t>∙(</m:t>
                    </m:r>
                    <m:r>
                      <a:rPr kumimoji="1" lang="en-US" altLang="zh-CN" sz="2000" b="1" i="1">
                        <a:solidFill>
                          <a:schemeClr val="tx1"/>
                        </a:solidFill>
                        <a:latin typeface="Cambria Math" charset="0"/>
                      </a:rPr>
                      <m:t>𝒂</m:t>
                    </m:r>
                    <m:r>
                      <a:rPr kumimoji="1" lang="en-US" altLang="zh-CN" sz="2000" i="1" baseline="-25000">
                        <a:solidFill>
                          <a:schemeClr val="tx1"/>
                        </a:solidFill>
                        <a:latin typeface="Cambria Math" charset="0"/>
                      </a:rPr>
                      <m:t>2</m:t>
                    </m:r>
                    <m:r>
                      <a:rPr kumimoji="1" lang="en-US" altLang="zh-CN" sz="2000" b="1" i="1">
                        <a:solidFill>
                          <a:schemeClr val="tx1"/>
                        </a:solidFill>
                        <a:latin typeface="Cambria Math" charset="0"/>
                      </a:rPr>
                      <m:t> </m:t>
                    </m:r>
                    <m:r>
                      <a:rPr kumimoji="1" lang="en-US" altLang="zh-CN" sz="2000" b="1" i="1">
                        <a:solidFill>
                          <a:schemeClr val="tx1"/>
                        </a:solidFill>
                        <a:latin typeface="Cambria Math" charset="0"/>
                        <a:ea typeface="Cambria Math" charset="0"/>
                        <a:cs typeface="Cambria Math" charset="0"/>
                      </a:rPr>
                      <m:t>× </m:t>
                    </m:r>
                    <m:r>
                      <a:rPr kumimoji="1" lang="en-US" altLang="zh-CN" sz="2000" b="1" i="1">
                        <a:solidFill>
                          <a:schemeClr val="tx1"/>
                        </a:solidFill>
                        <a:latin typeface="Cambria Math" charset="0"/>
                      </a:rPr>
                      <m:t>𝒂</m:t>
                    </m:r>
                    <m:r>
                      <a:rPr kumimoji="1" lang="en-US" altLang="zh-CN" sz="2000" i="1" baseline="-25000">
                        <a:solidFill>
                          <a:schemeClr val="tx1"/>
                        </a:solidFill>
                        <a:latin typeface="Cambria Math" charset="0"/>
                      </a:rPr>
                      <m:t>3</m:t>
                    </m:r>
                    <m:r>
                      <a:rPr kumimoji="1" lang="en-US" altLang="zh-CN" sz="2000">
                        <a:solidFill>
                          <a:schemeClr val="tx1"/>
                        </a:solidFill>
                        <a:latin typeface="Cambria Math" charset="0"/>
                      </a:rPr>
                      <m:t>)</m:t>
                    </m:r>
                  </m:oMath>
                </a14:m>
                <a:r>
                  <a:rPr kumimoji="1" lang="zh-CN" altLang="en-US" sz="2000" b="1" i="1" dirty="0" smtClean="0">
                    <a:solidFill>
                      <a:schemeClr val="tx1"/>
                    </a:solidFill>
                    <a:latin typeface="Cambria Math" charset="0"/>
                  </a:rPr>
                  <a:t>，</a:t>
                </a:r>
                <a:r>
                  <a:rPr kumimoji="1" lang="en-US" altLang="zh-CN" sz="2000" b="1" dirty="0">
                    <a:solidFill>
                      <a:schemeClr val="tx1"/>
                    </a:solidFill>
                  </a:rPr>
                  <a:t> </a:t>
                </a:r>
                <a14:m>
                  <m:oMath xmlns:m="http://schemas.openxmlformats.org/officeDocument/2006/math">
                    <m:r>
                      <a:rPr kumimoji="1" lang="en-US" altLang="zh-CN" sz="2000" b="1" i="1">
                        <a:solidFill>
                          <a:schemeClr val="tx1"/>
                        </a:solidFill>
                        <a:latin typeface="Cambria Math" charset="0"/>
                      </a:rPr>
                      <m:t>𝒂</m:t>
                    </m:r>
                    <m:r>
                      <a:rPr kumimoji="1" lang="en-US" altLang="zh-CN" sz="2000" b="1" i="1" baseline="-25000">
                        <a:solidFill>
                          <a:schemeClr val="tx1"/>
                        </a:solidFill>
                        <a:latin typeface="Cambria Math" charset="0"/>
                      </a:rPr>
                      <m:t>𝟏</m:t>
                    </m:r>
                  </m:oMath>
                </a14:m>
                <a:r>
                  <a:rPr kumimoji="1" lang="zh-CN" altLang="en-US" sz="2000" dirty="0" smtClean="0">
                    <a:solidFill>
                      <a:schemeClr val="tx1"/>
                    </a:solidFill>
                    <a:latin typeface="Cambria Math" charset="0"/>
                  </a:rPr>
                  <a:t>、</a:t>
                </a:r>
                <a:r>
                  <a:rPr kumimoji="1" lang="en-US" altLang="zh-CN" sz="2000" b="1" dirty="0">
                    <a:solidFill>
                      <a:schemeClr val="tx1"/>
                    </a:solidFill>
                  </a:rPr>
                  <a:t> </a:t>
                </a:r>
                <a14:m>
                  <m:oMath xmlns:m="http://schemas.openxmlformats.org/officeDocument/2006/math">
                    <m:r>
                      <a:rPr kumimoji="1" lang="en-US" altLang="zh-CN" sz="2000" b="1" i="1">
                        <a:solidFill>
                          <a:schemeClr val="tx1"/>
                        </a:solidFill>
                        <a:latin typeface="Cambria Math" charset="0"/>
                      </a:rPr>
                      <m:t>𝒂</m:t>
                    </m:r>
                    <m:r>
                      <a:rPr kumimoji="1" lang="en-US" altLang="zh-CN" sz="2000" b="1" i="1" baseline="-25000" smtClean="0">
                        <a:solidFill>
                          <a:schemeClr val="tx1"/>
                        </a:solidFill>
                        <a:latin typeface="Cambria Math" charset="0"/>
                      </a:rPr>
                      <m:t>𝟐</m:t>
                    </m:r>
                  </m:oMath>
                </a14:m>
                <a:r>
                  <a:rPr kumimoji="1" lang="zh-CN" altLang="en-US" sz="2000" dirty="0" smtClean="0">
                    <a:solidFill>
                      <a:schemeClr val="tx1"/>
                    </a:solidFill>
                    <a:latin typeface="Cambria Math" charset="0"/>
                  </a:rPr>
                  <a:t>、</a:t>
                </a:r>
                <a:r>
                  <a:rPr kumimoji="1" lang="en-US" altLang="zh-CN" sz="2000" b="1" dirty="0">
                    <a:solidFill>
                      <a:schemeClr val="tx1"/>
                    </a:solidFill>
                  </a:rPr>
                  <a:t> </a:t>
                </a:r>
                <a14:m>
                  <m:oMath xmlns:m="http://schemas.openxmlformats.org/officeDocument/2006/math">
                    <m:r>
                      <a:rPr kumimoji="1" lang="en-US" altLang="zh-CN" sz="2000" b="1" i="1">
                        <a:solidFill>
                          <a:schemeClr val="tx1"/>
                        </a:solidFill>
                        <a:latin typeface="Cambria Math" charset="0"/>
                      </a:rPr>
                      <m:t>𝒂</m:t>
                    </m:r>
                    <m:r>
                      <a:rPr kumimoji="1" lang="en-US" altLang="zh-CN" sz="2000" b="1" i="1" baseline="-25000" smtClean="0">
                        <a:solidFill>
                          <a:schemeClr val="tx1"/>
                        </a:solidFill>
                        <a:latin typeface="Cambria Math" charset="0"/>
                      </a:rPr>
                      <m:t>𝟑</m:t>
                    </m:r>
                  </m:oMath>
                </a14:m>
                <a:r>
                  <a:rPr kumimoji="1" lang="zh-CN" altLang="en-US" sz="2000" dirty="0" smtClean="0">
                    <a:solidFill>
                      <a:schemeClr val="tx1"/>
                    </a:solidFill>
                    <a:latin typeface="Cambria Math" charset="0"/>
                  </a:rPr>
                  <a:t>为正格子基矢</a:t>
                </a:r>
                <a:endParaRPr kumimoji="1" lang="en-US" altLang="zh-CN" sz="2000" b="1" i="1" dirty="0">
                  <a:solidFill>
                    <a:schemeClr val="tx1"/>
                  </a:solidFill>
                  <a:latin typeface="Cambria Math" charset="0"/>
                </a:endParaRPr>
              </a:p>
              <a:p>
                <a:pPr marL="0" indent="0">
                  <a:buNone/>
                </a:pPr>
                <a:r>
                  <a:rPr kumimoji="1" lang="zh-CN" altLang="en-US" sz="2000" dirty="0" smtClean="0">
                    <a:solidFill>
                      <a:schemeClr val="tx1"/>
                    </a:solidFill>
                  </a:rPr>
                  <a:t>则</a:t>
                </a:r>
                <a:r>
                  <a:rPr kumimoji="1" lang="en-US" altLang="zh-CN" sz="2000" dirty="0">
                    <a:solidFill>
                      <a:schemeClr val="tx1"/>
                    </a:solidFill>
                  </a:rPr>
                  <a:t> </a:t>
                </a:r>
                <a14:m>
                  <m:oMath xmlns:m="http://schemas.openxmlformats.org/officeDocument/2006/math">
                    <m:r>
                      <a:rPr kumimoji="1" lang="en-US" altLang="zh-CN" sz="2000" b="1" i="1" smtClean="0">
                        <a:solidFill>
                          <a:schemeClr val="tx1"/>
                        </a:solidFill>
                        <a:latin typeface="Cambria Math" charset="0"/>
                      </a:rPr>
                      <m:t>𝑲</m:t>
                    </m:r>
                    <m:r>
                      <a:rPr kumimoji="1" lang="en-US" altLang="zh-CN" sz="2000" i="1" baseline="-25000" smtClean="0">
                        <a:solidFill>
                          <a:schemeClr val="tx1"/>
                        </a:solidFill>
                        <a:latin typeface="Cambria Math" charset="0"/>
                      </a:rPr>
                      <m:t>h</m:t>
                    </m:r>
                    <m:r>
                      <a:rPr kumimoji="1" lang="en-US" altLang="zh-CN" sz="2000" i="1">
                        <a:solidFill>
                          <a:schemeClr val="tx1"/>
                        </a:solidFill>
                        <a:latin typeface="Cambria Math" charset="0"/>
                      </a:rPr>
                      <m:t>=</m:t>
                    </m:r>
                    <m:r>
                      <a:rPr kumimoji="1" lang="en-US" altLang="zh-CN" sz="2000" i="1" smtClean="0">
                        <a:solidFill>
                          <a:schemeClr val="tx1"/>
                        </a:solidFill>
                        <a:latin typeface="Cambria Math" charset="0"/>
                      </a:rPr>
                      <m:t>h</m:t>
                    </m:r>
                    <m:r>
                      <a:rPr kumimoji="1" lang="en-US" altLang="zh-CN" sz="2000" b="1" i="1" smtClean="0">
                        <a:solidFill>
                          <a:schemeClr val="tx1"/>
                        </a:solidFill>
                        <a:latin typeface="Cambria Math" charset="0"/>
                      </a:rPr>
                      <m:t>𝒃</m:t>
                    </m:r>
                    <m:r>
                      <a:rPr kumimoji="1" lang="en-US" altLang="zh-CN" sz="2000" i="1" baseline="-25000">
                        <a:solidFill>
                          <a:schemeClr val="tx1"/>
                        </a:solidFill>
                        <a:latin typeface="Cambria Math" charset="0"/>
                      </a:rPr>
                      <m:t>1</m:t>
                    </m:r>
                    <m:r>
                      <a:rPr kumimoji="1" lang="en-US" altLang="zh-CN" sz="2000" i="1">
                        <a:solidFill>
                          <a:schemeClr val="tx1"/>
                        </a:solidFill>
                        <a:latin typeface="Cambria Math" charset="0"/>
                      </a:rPr>
                      <m:t>+</m:t>
                    </m:r>
                    <m:r>
                      <a:rPr kumimoji="1" lang="en-US" altLang="zh-CN" sz="2000" b="0" i="1" smtClean="0">
                        <a:solidFill>
                          <a:schemeClr val="tx1"/>
                        </a:solidFill>
                        <a:latin typeface="Cambria Math" panose="02040503050406030204" pitchFamily="18" charset="0"/>
                      </a:rPr>
                      <m:t>𝑘</m:t>
                    </m:r>
                    <m:r>
                      <a:rPr kumimoji="1" lang="en-US" altLang="zh-CN" sz="2000" b="1" i="1" smtClean="0">
                        <a:solidFill>
                          <a:schemeClr val="tx1"/>
                        </a:solidFill>
                        <a:latin typeface="Cambria Math" charset="0"/>
                      </a:rPr>
                      <m:t>𝒃</m:t>
                    </m:r>
                    <m:r>
                      <a:rPr kumimoji="1" lang="en-US" altLang="zh-CN" sz="2000" i="1" baseline="-25000">
                        <a:solidFill>
                          <a:schemeClr val="tx1"/>
                        </a:solidFill>
                        <a:latin typeface="Cambria Math" charset="0"/>
                      </a:rPr>
                      <m:t>2</m:t>
                    </m:r>
                    <m:r>
                      <a:rPr kumimoji="1" lang="en-US" altLang="zh-CN" sz="2000" i="1">
                        <a:solidFill>
                          <a:schemeClr val="tx1"/>
                        </a:solidFill>
                        <a:latin typeface="Cambria Math" charset="0"/>
                      </a:rPr>
                      <m:t>+</m:t>
                    </m:r>
                    <m:r>
                      <a:rPr kumimoji="1" lang="en-US" altLang="zh-CN" sz="2000" b="0" i="1" smtClean="0">
                        <a:solidFill>
                          <a:schemeClr val="tx1"/>
                        </a:solidFill>
                        <a:latin typeface="Cambria Math" panose="02040503050406030204" pitchFamily="18" charset="0"/>
                      </a:rPr>
                      <m:t>𝑙</m:t>
                    </m:r>
                    <m:r>
                      <a:rPr kumimoji="1" lang="en-US" altLang="zh-CN" sz="2000" b="1" i="1" smtClean="0">
                        <a:solidFill>
                          <a:schemeClr val="tx1"/>
                        </a:solidFill>
                        <a:latin typeface="Cambria Math" charset="0"/>
                      </a:rPr>
                      <m:t>𝒃</m:t>
                    </m:r>
                    <m:r>
                      <a:rPr kumimoji="1" lang="en-US" altLang="zh-CN" sz="2000" i="1" baseline="-25000">
                        <a:solidFill>
                          <a:schemeClr val="tx1"/>
                        </a:solidFill>
                        <a:latin typeface="Cambria Math" charset="0"/>
                      </a:rPr>
                      <m:t>3</m:t>
                    </m:r>
                  </m:oMath>
                </a14:m>
                <a:r>
                  <a:rPr kumimoji="1" lang="en-US" altLang="zh-CN" sz="2000" dirty="0" smtClean="0">
                    <a:solidFill>
                      <a:schemeClr val="tx1"/>
                    </a:solidFill>
                  </a:rPr>
                  <a:t>  </a:t>
                </a:r>
                <a:r>
                  <a:rPr kumimoji="1" lang="zh-CN" altLang="en-US" sz="2000" dirty="0" smtClean="0">
                    <a:solidFill>
                      <a:schemeClr val="tx1"/>
                    </a:solidFill>
                  </a:rPr>
                  <a:t>表示倒格子点阵中的倒格矢，其中</a:t>
                </a:r>
                <a:r>
                  <a:rPr kumimoji="1" lang="en-US" altLang="zh-CN" sz="2000" dirty="0" smtClean="0">
                    <a:solidFill>
                      <a:schemeClr val="tx1"/>
                    </a:solidFill>
                  </a:rPr>
                  <a:t>h, k, l</a:t>
                </a:r>
                <a:r>
                  <a:rPr kumimoji="1" lang="zh-CN" altLang="en-US" sz="2000" dirty="0" smtClean="0">
                    <a:solidFill>
                      <a:schemeClr val="tx1"/>
                    </a:solidFill>
                  </a:rPr>
                  <a:t>为整数</a:t>
                </a:r>
                <a:endParaRPr kumimoji="1" lang="en-US" altLang="zh-CN" sz="2000" dirty="0" smtClean="0">
                  <a:solidFill>
                    <a:schemeClr val="tx1"/>
                  </a:solidFill>
                </a:endParaRPr>
              </a:p>
              <a:p>
                <a:pPr marL="0" indent="0">
                  <a:buNone/>
                </a:pPr>
                <a:endParaRPr kumimoji="1" lang="en-US" altLang="zh-CN" sz="2000" dirty="0"/>
              </a:p>
              <a:p>
                <a:pPr marL="0" indent="0">
                  <a:buNone/>
                </a:pPr>
                <a:r>
                  <a:rPr kumimoji="1" lang="zh-CN" altLang="en-US" sz="2000" dirty="0" smtClean="0">
                    <a:solidFill>
                      <a:schemeClr val="tx1"/>
                    </a:solidFill>
                  </a:rPr>
                  <a:t>什么是倒格子？</a:t>
                </a:r>
                <a:endParaRPr kumimoji="1" lang="en-US" altLang="zh-CN" sz="2000" dirty="0"/>
              </a:p>
              <a:p>
                <a:pPr marL="0" indent="0">
                  <a:buNone/>
                </a:pPr>
                <a:r>
                  <a:rPr kumimoji="1" lang="zh-CN" altLang="en-US" sz="2000" dirty="0" smtClean="0">
                    <a:solidFill>
                      <a:schemeClr val="tx1"/>
                    </a:solidFill>
                  </a:rPr>
                  <a:t>倒格子是什么？</a:t>
                </a:r>
                <a:endParaRPr kumimoji="1" lang="en-US" altLang="zh-CN" sz="2000" dirty="0" smtClean="0">
                  <a:solidFill>
                    <a:schemeClr val="tx1"/>
                  </a:solidFill>
                </a:endParaRPr>
              </a:p>
            </p:txBody>
          </p:sp>
        </mc:Choice>
        <mc:Fallback xmlns="">
          <p:sp>
            <p:nvSpPr>
              <p:cNvPr id="3" name="副标题 2"/>
              <p:cNvSpPr txBox="1">
                <a:spLocks noRot="1" noChangeAspect="1" noMove="1" noResize="1" noEditPoints="1" noAdjustHandles="1" noChangeArrowheads="1" noChangeShapeType="1" noTextEdit="1"/>
              </p:cNvSpPr>
              <p:nvPr/>
            </p:nvSpPr>
            <p:spPr>
              <a:xfrm>
                <a:off x="381001" y="1392157"/>
                <a:ext cx="11206942" cy="4741943"/>
              </a:xfrm>
              <a:prstGeom prst="rect">
                <a:avLst/>
              </a:prstGeom>
              <a:blipFill rotWithShape="0">
                <a:blip r:embed="rId2"/>
                <a:stretch>
                  <a:fillRect l="-1143" t="-23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8168646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49536" y="484509"/>
            <a:ext cx="5228704" cy="584775"/>
          </a:xfrm>
          <a:prstGeom prst="rect">
            <a:avLst/>
          </a:prstGeom>
        </p:spPr>
        <p:txBody>
          <a:bodyPr wrap="square">
            <a:spAutoFit/>
          </a:bodyPr>
          <a:lstStyle/>
          <a:p>
            <a:r>
              <a:rPr kumimoji="1" lang="zh-CN" altLang="en-US" sz="3200" dirty="0" smtClean="0"/>
              <a:t>第二章 晶体中的衍射</a:t>
            </a:r>
            <a:endParaRPr lang="zh-CN" altLang="en-US" sz="3200" dirty="0"/>
          </a:p>
        </p:txBody>
      </p:sp>
      <p:sp>
        <p:nvSpPr>
          <p:cNvPr id="3" name="副标题 2"/>
          <p:cNvSpPr txBox="1">
            <a:spLocks/>
          </p:cNvSpPr>
          <p:nvPr/>
        </p:nvSpPr>
        <p:spPr>
          <a:xfrm>
            <a:off x="1736022" y="1404410"/>
            <a:ext cx="6405680" cy="134893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en-US" altLang="zh-CN" dirty="0" smtClean="0"/>
              <a:t>2.2.2 </a:t>
            </a:r>
            <a:r>
              <a:rPr kumimoji="1" lang="zh-CN" altLang="en-US" dirty="0" smtClean="0"/>
              <a:t>布里渊区</a:t>
            </a:r>
            <a:endParaRPr kumimoji="1" lang="en-US" altLang="zh-CN" dirty="0" smtClean="0"/>
          </a:p>
          <a:p>
            <a:pPr marL="0" indent="0">
              <a:buNone/>
            </a:pPr>
            <a:r>
              <a:rPr kumimoji="1" lang="zh-CN" altLang="en-US" sz="2400" dirty="0" smtClean="0"/>
              <a:t>一维正格子和一维倒格子，布里渊区</a:t>
            </a:r>
          </a:p>
          <a:p>
            <a:endParaRPr kumimoji="1" lang="en-US" altLang="zh-CN" dirty="0" smtClean="0"/>
          </a:p>
          <a:p>
            <a:endParaRPr kumimoji="1" lang="en-US" altLang="zh-CN" dirty="0" smtClean="0"/>
          </a:p>
          <a:p>
            <a:endParaRPr kumimoji="1" lang="en-US" altLang="zh-CN" dirty="0" smtClean="0"/>
          </a:p>
          <a:p>
            <a:endParaRPr kumimoji="1" lang="zh-CN" altLang="en-US" dirty="0" smtClean="0"/>
          </a:p>
          <a:p>
            <a:endParaRPr kumimoji="1" lang="zh-CN" altLang="en-US" dirty="0" smtClean="0"/>
          </a:p>
        </p:txBody>
      </p:sp>
      <p:sp>
        <p:nvSpPr>
          <p:cNvPr id="4" name="椭圆 3"/>
          <p:cNvSpPr/>
          <p:nvPr/>
        </p:nvSpPr>
        <p:spPr>
          <a:xfrm>
            <a:off x="2435654" y="3087035"/>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椭圆 4"/>
          <p:cNvSpPr/>
          <p:nvPr/>
        </p:nvSpPr>
        <p:spPr>
          <a:xfrm>
            <a:off x="3514978" y="3089123"/>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椭圆 5"/>
          <p:cNvSpPr/>
          <p:nvPr/>
        </p:nvSpPr>
        <p:spPr>
          <a:xfrm>
            <a:off x="4592214" y="3089123"/>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椭圆 6"/>
          <p:cNvSpPr/>
          <p:nvPr/>
        </p:nvSpPr>
        <p:spPr>
          <a:xfrm>
            <a:off x="5671538" y="3091211"/>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8" name="直接箭头连接符 7"/>
          <p:cNvCxnSpPr/>
          <p:nvPr/>
        </p:nvCxnSpPr>
        <p:spPr>
          <a:xfrm>
            <a:off x="3616322" y="3177611"/>
            <a:ext cx="1080000" cy="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矩形 8"/>
              <p:cNvSpPr/>
              <p:nvPr/>
            </p:nvSpPr>
            <p:spPr>
              <a:xfrm flipH="1">
                <a:off x="3669688" y="3234502"/>
                <a:ext cx="98313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𝑎</m:t>
                      </m:r>
                      <m:r>
                        <a:rPr lang="en-US" altLang="zh-CN" b="0" i="1" smtClean="0">
                          <a:solidFill>
                            <a:schemeClr val="tx1"/>
                          </a:solidFill>
                          <a:latin typeface="Cambria Math"/>
                        </a:rPr>
                        <m:t> </m:t>
                      </m:r>
                      <m:r>
                        <a:rPr lang="en-US" altLang="zh-CN" b="1" i="1" smtClean="0">
                          <a:solidFill>
                            <a:schemeClr val="tx1"/>
                          </a:solidFill>
                          <a:latin typeface="Cambria Math" panose="02040503050406030204" pitchFamily="18" charset="0"/>
                        </a:rPr>
                        <m:t>𝒊</m:t>
                      </m:r>
                    </m:oMath>
                  </m:oMathPara>
                </a14:m>
                <a:endParaRPr lang="en-US" altLang="zh-CN" b="1" dirty="0" smtClean="0">
                  <a:solidFill>
                    <a:schemeClr val="tx1"/>
                  </a:solidFill>
                </a:endParaRPr>
              </a:p>
            </p:txBody>
          </p:sp>
        </mc:Choice>
        <mc:Fallback xmlns="">
          <p:sp>
            <p:nvSpPr>
              <p:cNvPr id="9" name="矩形 8"/>
              <p:cNvSpPr>
                <a:spLocks noRot="1" noChangeAspect="1" noMove="1" noResize="1" noEditPoints="1" noAdjustHandles="1" noChangeArrowheads="1" noChangeShapeType="1" noTextEdit="1"/>
              </p:cNvSpPr>
              <p:nvPr/>
            </p:nvSpPr>
            <p:spPr>
              <a:xfrm flipH="1">
                <a:off x="3669688" y="3234502"/>
                <a:ext cx="983131" cy="369332"/>
              </a:xfrm>
              <a:prstGeom prst="rect">
                <a:avLst/>
              </a:prstGeom>
              <a:blipFill rotWithShape="0">
                <a:blip r:embed="rId2"/>
                <a:stretch>
                  <a:fillRect t="-98333" b="-123333"/>
                </a:stretch>
              </a:blipFill>
            </p:spPr>
            <p:txBody>
              <a:bodyPr/>
              <a:lstStyle/>
              <a:p>
                <a:r>
                  <a:rPr lang="zh-CN" altLang="en-US">
                    <a:noFill/>
                  </a:rPr>
                  <a:t> </a:t>
                </a:r>
              </a:p>
            </p:txBody>
          </p:sp>
        </mc:Fallback>
      </mc:AlternateContent>
      <p:sp>
        <p:nvSpPr>
          <p:cNvPr id="10" name="文本框 9"/>
          <p:cNvSpPr txBox="1"/>
          <p:nvPr/>
        </p:nvSpPr>
        <p:spPr>
          <a:xfrm>
            <a:off x="1178492" y="2995499"/>
            <a:ext cx="1206923" cy="369332"/>
          </a:xfrm>
          <a:prstGeom prst="rect">
            <a:avLst/>
          </a:prstGeom>
          <a:noFill/>
        </p:spPr>
        <p:txBody>
          <a:bodyPr wrap="square" rtlCol="0">
            <a:spAutoFit/>
          </a:bodyPr>
          <a:lstStyle/>
          <a:p>
            <a:r>
              <a:rPr lang="zh-CN" altLang="en-US" dirty="0" smtClean="0"/>
              <a:t>正格子：</a:t>
            </a:r>
            <a:endParaRPr lang="zh-CN" altLang="en-US" dirty="0"/>
          </a:p>
        </p:txBody>
      </p:sp>
      <p:sp>
        <p:nvSpPr>
          <p:cNvPr id="11" name="椭圆 10"/>
          <p:cNvSpPr/>
          <p:nvPr/>
        </p:nvSpPr>
        <p:spPr>
          <a:xfrm>
            <a:off x="2440574" y="4473234"/>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椭圆 11"/>
          <p:cNvSpPr/>
          <p:nvPr/>
        </p:nvSpPr>
        <p:spPr>
          <a:xfrm>
            <a:off x="3519898" y="4475322"/>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4597134" y="4475322"/>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椭圆 13"/>
          <p:cNvSpPr/>
          <p:nvPr/>
        </p:nvSpPr>
        <p:spPr>
          <a:xfrm>
            <a:off x="5676458" y="4477410"/>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5" name="直接箭头连接符 14"/>
          <p:cNvCxnSpPr/>
          <p:nvPr/>
        </p:nvCxnSpPr>
        <p:spPr>
          <a:xfrm>
            <a:off x="3621242" y="4580743"/>
            <a:ext cx="1080000" cy="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矩形 15"/>
              <p:cNvSpPr/>
              <p:nvPr/>
            </p:nvSpPr>
            <p:spPr>
              <a:xfrm>
                <a:off x="3748918" y="4179278"/>
                <a:ext cx="894031" cy="369332"/>
              </a:xfrm>
              <a:prstGeom prst="rect">
                <a:avLst/>
              </a:prstGeom>
            </p:spPr>
            <p:txBody>
              <a:bodyPr wrap="square">
                <a:spAutoFit/>
              </a:bodyPr>
              <a:lstStyle/>
              <a:p>
                <a:r>
                  <a:rPr lang="en-US" altLang="zh-CN" dirty="0" smtClean="0">
                    <a:solidFill>
                      <a:schemeClr val="tx1"/>
                    </a:solidFill>
                  </a:rPr>
                  <a:t>2</a:t>
                </a:r>
                <a:r>
                  <a:rPr lang="en-US" altLang="zh-CN" dirty="0">
                    <a:solidFill>
                      <a:schemeClr val="tx1"/>
                    </a:solidFill>
                    <a:sym typeface="Symbol" panose="05050102010706020507" pitchFamily="18" charset="2"/>
                  </a:rPr>
                  <a:t>/a</a:t>
                </a:r>
                <a14:m>
                  <m:oMath xmlns:m="http://schemas.openxmlformats.org/officeDocument/2006/math">
                    <m:r>
                      <a:rPr lang="en-US" altLang="zh-CN" b="0" i="0" smtClean="0">
                        <a:solidFill>
                          <a:schemeClr val="tx1"/>
                        </a:solidFill>
                        <a:latin typeface="Cambria Math"/>
                      </a:rPr>
                      <m:t> </m:t>
                    </m:r>
                    <m:r>
                      <a:rPr lang="en-US" altLang="zh-CN" b="1" i="1">
                        <a:solidFill>
                          <a:schemeClr val="tx1"/>
                        </a:solidFill>
                        <a:latin typeface="Cambria Math" panose="02040503050406030204" pitchFamily="18" charset="0"/>
                      </a:rPr>
                      <m:t>𝒊</m:t>
                    </m:r>
                  </m:oMath>
                </a14:m>
                <a:endParaRPr lang="zh-CN" altLang="en-US" b="1" dirty="0">
                  <a:solidFill>
                    <a:schemeClr val="tx1"/>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3748918" y="4179278"/>
                <a:ext cx="894031" cy="369332"/>
              </a:xfrm>
              <a:prstGeom prst="rect">
                <a:avLst/>
              </a:prstGeom>
              <a:blipFill rotWithShape="0">
                <a:blip r:embed="rId3"/>
                <a:stretch>
                  <a:fillRect l="-6122" t="-98333" b="-123333"/>
                </a:stretch>
              </a:blipFill>
            </p:spPr>
            <p:txBody>
              <a:bodyPr/>
              <a:lstStyle/>
              <a:p>
                <a:r>
                  <a:rPr lang="zh-CN" altLang="en-US">
                    <a:noFill/>
                  </a:rPr>
                  <a:t> </a:t>
                </a:r>
              </a:p>
            </p:txBody>
          </p:sp>
        </mc:Fallback>
      </mc:AlternateContent>
      <p:sp>
        <p:nvSpPr>
          <p:cNvPr id="17" name="文本框 16"/>
          <p:cNvSpPr txBox="1"/>
          <p:nvPr/>
        </p:nvSpPr>
        <p:spPr>
          <a:xfrm>
            <a:off x="1183412" y="4362036"/>
            <a:ext cx="1206923" cy="369332"/>
          </a:xfrm>
          <a:prstGeom prst="rect">
            <a:avLst/>
          </a:prstGeom>
          <a:noFill/>
        </p:spPr>
        <p:txBody>
          <a:bodyPr wrap="square" rtlCol="0">
            <a:spAutoFit/>
          </a:bodyPr>
          <a:lstStyle/>
          <a:p>
            <a:r>
              <a:rPr lang="zh-CN" altLang="en-US" dirty="0"/>
              <a:t>倒</a:t>
            </a:r>
            <a:r>
              <a:rPr lang="zh-CN" altLang="en-US" dirty="0" smtClean="0"/>
              <a:t>格子：</a:t>
            </a:r>
            <a:endParaRPr lang="zh-CN" altLang="en-US" dirty="0"/>
          </a:p>
        </p:txBody>
      </p:sp>
      <p:sp>
        <p:nvSpPr>
          <p:cNvPr id="18" name="椭圆 17"/>
          <p:cNvSpPr/>
          <p:nvPr/>
        </p:nvSpPr>
        <p:spPr>
          <a:xfrm>
            <a:off x="6838892" y="3103875"/>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椭圆 18"/>
          <p:cNvSpPr/>
          <p:nvPr/>
        </p:nvSpPr>
        <p:spPr>
          <a:xfrm>
            <a:off x="7918216" y="3105963"/>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6843812" y="4490074"/>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椭圆 20"/>
          <p:cNvSpPr/>
          <p:nvPr/>
        </p:nvSpPr>
        <p:spPr>
          <a:xfrm>
            <a:off x="7923136" y="4492162"/>
            <a:ext cx="180000" cy="1808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22" name="矩形 21"/>
              <p:cNvSpPr/>
              <p:nvPr/>
            </p:nvSpPr>
            <p:spPr>
              <a:xfrm>
                <a:off x="8055033" y="5405737"/>
                <a:ext cx="4136967" cy="92333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b="1" i="1" smtClean="0">
                          <a:solidFill>
                            <a:schemeClr val="tx1"/>
                          </a:solidFill>
                          <a:latin typeface="Cambria Math" charset="0"/>
                        </a:rPr>
                        <m:t>𝒃</m:t>
                      </m:r>
                      <m:r>
                        <a:rPr kumimoji="1" lang="en-US" altLang="zh-CN" i="1" baseline="-25000">
                          <a:solidFill>
                            <a:schemeClr val="tx1"/>
                          </a:solidFill>
                          <a:latin typeface="Cambria Math" charset="0"/>
                        </a:rPr>
                        <m:t>1</m:t>
                      </m:r>
                      <m:r>
                        <a:rPr kumimoji="1" lang="zh-CN" altLang="en-US" i="1">
                          <a:solidFill>
                            <a:schemeClr val="tx1"/>
                          </a:solidFill>
                          <a:latin typeface="Cambria Math" charset="0"/>
                        </a:rPr>
                        <m:t>＝</m:t>
                      </m:r>
                      <m:r>
                        <a:rPr kumimoji="1" lang="en-US" altLang="zh-CN" i="1">
                          <a:solidFill>
                            <a:schemeClr val="tx1"/>
                          </a:solidFill>
                          <a:latin typeface="Cambria Math" charset="0"/>
                        </a:rPr>
                        <m:t>2</m:t>
                      </m:r>
                      <m:r>
                        <a:rPr kumimoji="1" lang="en-US" altLang="zh-CN" i="1">
                          <a:solidFill>
                            <a:schemeClr val="tx1"/>
                          </a:solidFill>
                          <a:latin typeface="Cambria Math" charset="0"/>
                          <a:ea typeface="Cambria Math" charset="0"/>
                          <a:cs typeface="Cambria Math" charset="0"/>
                        </a:rPr>
                        <m:t>𝜋</m:t>
                      </m:r>
                      <m:r>
                        <a:rPr kumimoji="1" lang="zh-CN" altLang="en-US" i="1">
                          <a:solidFill>
                            <a:schemeClr val="tx1"/>
                          </a:solidFill>
                          <a:latin typeface="Cambria Math" charset="0"/>
                          <a:ea typeface="Cambria Math" charset="0"/>
                          <a:cs typeface="Cambria Math" charset="0"/>
                        </a:rPr>
                        <m:t>（</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2</m:t>
                      </m:r>
                      <m:r>
                        <a:rPr kumimoji="1" lang="en-US" altLang="zh-CN" b="1" i="1">
                          <a:solidFill>
                            <a:schemeClr val="tx1"/>
                          </a:solidFill>
                          <a:latin typeface="Cambria Math" charset="0"/>
                        </a:rPr>
                        <m:t> </m:t>
                      </m:r>
                      <m:r>
                        <a:rPr kumimoji="1" lang="en-US" altLang="zh-CN" b="1" i="1">
                          <a:solidFill>
                            <a:schemeClr val="tx1"/>
                          </a:solidFill>
                          <a:latin typeface="Cambria Math" charset="0"/>
                          <a:ea typeface="Cambria Math" charset="0"/>
                          <a:cs typeface="Cambria Math" charset="0"/>
                        </a:rPr>
                        <m:t>× </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3</m:t>
                      </m:r>
                      <m:r>
                        <a:rPr kumimoji="1" lang="en-US" altLang="zh-CN">
                          <a:solidFill>
                            <a:schemeClr val="tx1"/>
                          </a:solidFill>
                          <a:latin typeface="Cambria Math" charset="0"/>
                        </a:rPr>
                        <m:t>)/</m:t>
                      </m:r>
                      <m:r>
                        <m:rPr>
                          <m:sty m:val="p"/>
                        </m:rPr>
                        <a:rPr kumimoji="1" lang="el-GR" altLang="zh-CN" i="1">
                          <a:solidFill>
                            <a:schemeClr val="tx1"/>
                          </a:solidFill>
                          <a:latin typeface="Cambria Math" charset="0"/>
                          <a:ea typeface="Cambria Math" charset="0"/>
                          <a:cs typeface="Cambria Math" charset="0"/>
                        </a:rPr>
                        <m:t>Ω</m:t>
                      </m:r>
                    </m:oMath>
                  </m:oMathPara>
                </a14:m>
                <a:endParaRPr kumimoji="1" lang="en-US" altLang="zh-CN" b="1" i="1" dirty="0">
                  <a:solidFill>
                    <a:schemeClr val="tx1"/>
                  </a:solidFill>
                  <a:latin typeface="Cambria Math" charset="0"/>
                </a:endParaRPr>
              </a:p>
              <a:p>
                <a:r>
                  <a:rPr kumimoji="1" lang="en-US" altLang="zh-CN" b="1" dirty="0">
                    <a:solidFill>
                      <a:schemeClr val="tx1"/>
                    </a:solidFill>
                  </a:rPr>
                  <a:t>	</a:t>
                </a:r>
                <a14:m>
                  <m:oMath xmlns:m="http://schemas.openxmlformats.org/officeDocument/2006/math">
                    <m:r>
                      <a:rPr kumimoji="1" lang="en-US" altLang="zh-CN" b="1" i="1">
                        <a:solidFill>
                          <a:schemeClr val="tx1"/>
                        </a:solidFill>
                        <a:latin typeface="Cambria Math" charset="0"/>
                      </a:rPr>
                      <m:t>𝒃</m:t>
                    </m:r>
                    <m:r>
                      <a:rPr kumimoji="1" lang="en-US" altLang="zh-CN" i="1" baseline="-25000">
                        <a:solidFill>
                          <a:schemeClr val="tx1"/>
                        </a:solidFill>
                        <a:latin typeface="Cambria Math" charset="0"/>
                      </a:rPr>
                      <m:t>2</m:t>
                    </m:r>
                    <m:r>
                      <a:rPr kumimoji="1" lang="zh-CN" altLang="en-US" i="1">
                        <a:solidFill>
                          <a:schemeClr val="tx1"/>
                        </a:solidFill>
                        <a:latin typeface="Cambria Math" charset="0"/>
                      </a:rPr>
                      <m:t>＝</m:t>
                    </m:r>
                    <m:r>
                      <a:rPr kumimoji="1" lang="en-US" altLang="zh-CN" i="1">
                        <a:solidFill>
                          <a:schemeClr val="tx1"/>
                        </a:solidFill>
                        <a:latin typeface="Cambria Math" charset="0"/>
                      </a:rPr>
                      <m:t>2</m:t>
                    </m:r>
                    <m:r>
                      <a:rPr kumimoji="1" lang="en-US" altLang="zh-CN" i="1">
                        <a:solidFill>
                          <a:schemeClr val="tx1"/>
                        </a:solidFill>
                        <a:latin typeface="Cambria Math" charset="0"/>
                        <a:ea typeface="Cambria Math" charset="0"/>
                        <a:cs typeface="Cambria Math" charset="0"/>
                      </a:rPr>
                      <m:t>𝜋</m:t>
                    </m:r>
                    <m:r>
                      <a:rPr kumimoji="1" lang="zh-CN" altLang="en-US" i="1">
                        <a:solidFill>
                          <a:schemeClr val="tx1"/>
                        </a:solidFill>
                        <a:latin typeface="Cambria Math" charset="0"/>
                        <a:ea typeface="Cambria Math" charset="0"/>
                        <a:cs typeface="Cambria Math" charset="0"/>
                      </a:rPr>
                      <m:t>（</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3</m:t>
                    </m:r>
                    <m:r>
                      <a:rPr kumimoji="1" lang="en-US" altLang="zh-CN" b="1" i="1">
                        <a:solidFill>
                          <a:schemeClr val="tx1"/>
                        </a:solidFill>
                        <a:latin typeface="Cambria Math" charset="0"/>
                      </a:rPr>
                      <m:t> </m:t>
                    </m:r>
                    <m:r>
                      <a:rPr kumimoji="1" lang="en-US" altLang="zh-CN" b="1" i="1">
                        <a:solidFill>
                          <a:schemeClr val="tx1"/>
                        </a:solidFill>
                        <a:latin typeface="Cambria Math" charset="0"/>
                        <a:ea typeface="Cambria Math" charset="0"/>
                        <a:cs typeface="Cambria Math" charset="0"/>
                      </a:rPr>
                      <m:t>× </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1</m:t>
                    </m:r>
                    <m:r>
                      <a:rPr kumimoji="1" lang="en-US" altLang="zh-CN">
                        <a:solidFill>
                          <a:schemeClr val="tx1"/>
                        </a:solidFill>
                        <a:latin typeface="Cambria Math" charset="0"/>
                      </a:rPr>
                      <m:t>)/</m:t>
                    </m:r>
                    <m:r>
                      <m:rPr>
                        <m:sty m:val="p"/>
                      </m:rPr>
                      <a:rPr kumimoji="1" lang="el-GR" altLang="zh-CN" i="1">
                        <a:solidFill>
                          <a:schemeClr val="tx1"/>
                        </a:solidFill>
                        <a:latin typeface="Cambria Math" charset="0"/>
                        <a:ea typeface="Cambria Math" charset="0"/>
                        <a:cs typeface="Cambria Math" charset="0"/>
                      </a:rPr>
                      <m:t>Ω</m:t>
                    </m:r>
                  </m:oMath>
                </a14:m>
                <a:r>
                  <a:rPr kumimoji="1" lang="en-US" altLang="zh-CN" dirty="0">
                    <a:solidFill>
                      <a:schemeClr val="tx1"/>
                    </a:solidFill>
                  </a:rPr>
                  <a:t> </a:t>
                </a:r>
                <a:endParaRPr kumimoji="1" lang="en-US" altLang="zh-CN" b="1" i="1" dirty="0">
                  <a:solidFill>
                    <a:schemeClr val="tx1"/>
                  </a:solidFill>
                  <a:latin typeface="Cambria Math" charset="0"/>
                </a:endParaRPr>
              </a:p>
              <a:p>
                <a:r>
                  <a:rPr kumimoji="1" lang="en-US" altLang="zh-CN" b="1" dirty="0">
                    <a:solidFill>
                      <a:schemeClr val="tx1"/>
                    </a:solidFill>
                  </a:rPr>
                  <a:t>	</a:t>
                </a:r>
                <a14:m>
                  <m:oMath xmlns:m="http://schemas.openxmlformats.org/officeDocument/2006/math">
                    <m:r>
                      <a:rPr kumimoji="1" lang="en-US" altLang="zh-CN" b="1" i="1">
                        <a:solidFill>
                          <a:schemeClr val="tx1"/>
                        </a:solidFill>
                        <a:latin typeface="Cambria Math" charset="0"/>
                      </a:rPr>
                      <m:t>𝒃</m:t>
                    </m:r>
                    <m:r>
                      <a:rPr kumimoji="1" lang="en-US" altLang="zh-CN" i="1" baseline="-25000">
                        <a:solidFill>
                          <a:schemeClr val="tx1"/>
                        </a:solidFill>
                        <a:latin typeface="Cambria Math" charset="0"/>
                      </a:rPr>
                      <m:t>3</m:t>
                    </m:r>
                    <m:r>
                      <a:rPr kumimoji="1" lang="zh-CN" altLang="en-US" i="1">
                        <a:solidFill>
                          <a:schemeClr val="tx1"/>
                        </a:solidFill>
                        <a:latin typeface="Cambria Math" charset="0"/>
                      </a:rPr>
                      <m:t>＝</m:t>
                    </m:r>
                    <m:r>
                      <a:rPr kumimoji="1" lang="en-US" altLang="zh-CN" i="1">
                        <a:solidFill>
                          <a:schemeClr val="tx1"/>
                        </a:solidFill>
                        <a:latin typeface="Cambria Math" charset="0"/>
                      </a:rPr>
                      <m:t>2</m:t>
                    </m:r>
                    <m:r>
                      <a:rPr kumimoji="1" lang="en-US" altLang="zh-CN" i="1">
                        <a:solidFill>
                          <a:schemeClr val="tx1"/>
                        </a:solidFill>
                        <a:latin typeface="Cambria Math" charset="0"/>
                        <a:ea typeface="Cambria Math" charset="0"/>
                        <a:cs typeface="Cambria Math" charset="0"/>
                      </a:rPr>
                      <m:t>𝜋</m:t>
                    </m:r>
                    <m:r>
                      <a:rPr kumimoji="1" lang="zh-CN" altLang="en-US" i="1">
                        <a:solidFill>
                          <a:schemeClr val="tx1"/>
                        </a:solidFill>
                        <a:latin typeface="Cambria Math" charset="0"/>
                        <a:ea typeface="Cambria Math" charset="0"/>
                        <a:cs typeface="Cambria Math" charset="0"/>
                      </a:rPr>
                      <m:t>（</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1</m:t>
                    </m:r>
                    <m:r>
                      <a:rPr kumimoji="1" lang="en-US" altLang="zh-CN" b="1" i="1">
                        <a:solidFill>
                          <a:schemeClr val="tx1"/>
                        </a:solidFill>
                        <a:latin typeface="Cambria Math" charset="0"/>
                      </a:rPr>
                      <m:t> </m:t>
                    </m:r>
                    <m:r>
                      <a:rPr kumimoji="1" lang="en-US" altLang="zh-CN" b="1" i="1">
                        <a:solidFill>
                          <a:schemeClr val="tx1"/>
                        </a:solidFill>
                        <a:latin typeface="Cambria Math" charset="0"/>
                        <a:ea typeface="Cambria Math" charset="0"/>
                        <a:cs typeface="Cambria Math" charset="0"/>
                      </a:rPr>
                      <m:t>× </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2</m:t>
                    </m:r>
                    <m:r>
                      <a:rPr kumimoji="1" lang="en-US" altLang="zh-CN">
                        <a:solidFill>
                          <a:schemeClr val="tx1"/>
                        </a:solidFill>
                        <a:latin typeface="Cambria Math" charset="0"/>
                      </a:rPr>
                      <m:t>)/</m:t>
                    </m:r>
                    <m:r>
                      <m:rPr>
                        <m:sty m:val="p"/>
                      </m:rPr>
                      <a:rPr kumimoji="1" lang="el-GR" altLang="zh-CN" i="1">
                        <a:solidFill>
                          <a:schemeClr val="tx1"/>
                        </a:solidFill>
                        <a:latin typeface="Cambria Math" charset="0"/>
                        <a:ea typeface="Cambria Math" charset="0"/>
                        <a:cs typeface="Cambria Math" charset="0"/>
                      </a:rPr>
                      <m:t>Ω</m:t>
                    </m:r>
                  </m:oMath>
                </a14:m>
                <a:r>
                  <a:rPr kumimoji="1" lang="zh-CN" altLang="en-US" dirty="0">
                    <a:solidFill>
                      <a:schemeClr val="tx1"/>
                    </a:solidFill>
                  </a:rPr>
                  <a:t> </a:t>
                </a:r>
                <a:endParaRPr lang="zh-CN" altLang="en-US" dirty="0">
                  <a:solidFill>
                    <a:schemeClr val="tx1"/>
                  </a:solidFill>
                </a:endParaRPr>
              </a:p>
            </p:txBody>
          </p:sp>
        </mc:Choice>
        <mc:Fallback xmlns="">
          <p:sp>
            <p:nvSpPr>
              <p:cNvPr id="22" name="矩形 21"/>
              <p:cNvSpPr>
                <a:spLocks noRot="1" noChangeAspect="1" noMove="1" noResize="1" noEditPoints="1" noAdjustHandles="1" noChangeArrowheads="1" noChangeShapeType="1" noTextEdit="1"/>
              </p:cNvSpPr>
              <p:nvPr/>
            </p:nvSpPr>
            <p:spPr>
              <a:xfrm>
                <a:off x="8055033" y="5405737"/>
                <a:ext cx="4136967" cy="923330"/>
              </a:xfrm>
              <a:prstGeom prst="rect">
                <a:avLst/>
              </a:prstGeom>
              <a:blipFill rotWithShape="0">
                <a:blip r:embed="rId4"/>
                <a:stretch>
                  <a:fillRect t="-38411" b="-48344"/>
                </a:stretch>
              </a:blipFill>
            </p:spPr>
            <p:txBody>
              <a:bodyPr/>
              <a:lstStyle/>
              <a:p>
                <a:r>
                  <a:rPr lang="zh-CN" altLang="en-US">
                    <a:noFill/>
                  </a:rPr>
                  <a:t> </a:t>
                </a:r>
              </a:p>
            </p:txBody>
          </p:sp>
        </mc:Fallback>
      </mc:AlternateContent>
      <p:cxnSp>
        <p:nvCxnSpPr>
          <p:cNvPr id="23" name="直接箭头连接符 22"/>
          <p:cNvCxnSpPr/>
          <p:nvPr/>
        </p:nvCxnSpPr>
        <p:spPr>
          <a:xfrm>
            <a:off x="3076183" y="4566583"/>
            <a:ext cx="1007452" cy="0"/>
          </a:xfrm>
          <a:prstGeom prst="straightConnector1">
            <a:avLst/>
          </a:prstGeom>
          <a:ln w="38100" cmpd="sng">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097385" y="4709238"/>
            <a:ext cx="1375678" cy="369332"/>
          </a:xfrm>
          <a:prstGeom prst="rect">
            <a:avLst/>
          </a:prstGeom>
        </p:spPr>
        <p:txBody>
          <a:bodyPr wrap="square">
            <a:spAutoFit/>
          </a:bodyPr>
          <a:lstStyle/>
          <a:p>
            <a:r>
              <a:rPr kumimoji="1" lang="zh-CN" altLang="en-US" dirty="0"/>
              <a:t>布里渊区</a:t>
            </a:r>
            <a:endParaRPr lang="zh-CN" altLang="en-US" dirty="0"/>
          </a:p>
        </p:txBody>
      </p:sp>
    </p:spTree>
    <p:extLst>
      <p:ext uri="{BB962C8B-B14F-4D97-AF65-F5344CB8AC3E}">
        <p14:creationId xmlns:p14="http://schemas.microsoft.com/office/powerpoint/2010/main" val="406932817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213658" y="1404410"/>
            <a:ext cx="5401746" cy="4424032"/>
          </a:xfrm>
        </p:spPr>
        <p:txBody>
          <a:bodyPr>
            <a:normAutofit/>
          </a:bodyPr>
          <a:lstStyle/>
          <a:p>
            <a:pPr algn="l"/>
            <a:r>
              <a:rPr kumimoji="1" lang="en-US" altLang="zh-CN" dirty="0" smtClean="0">
                <a:effectLst/>
              </a:rPr>
              <a:t>2.2.2 </a:t>
            </a:r>
            <a:r>
              <a:rPr kumimoji="1" lang="zh-CN" altLang="en-US" dirty="0" smtClean="0">
                <a:effectLst/>
              </a:rPr>
              <a:t>布里渊区</a:t>
            </a:r>
            <a:endParaRPr kumimoji="1" lang="en-US" altLang="zh-CN" dirty="0" smtClean="0">
              <a:effectLst/>
            </a:endParaRPr>
          </a:p>
          <a:p>
            <a:pPr algn="l"/>
            <a:r>
              <a:rPr kumimoji="1" lang="zh-CN" altLang="en-US" dirty="0" smtClean="0">
                <a:effectLst/>
              </a:rPr>
              <a:t>二维正格子和二维倒格子，布里渊区</a:t>
            </a:r>
          </a:p>
          <a:p>
            <a:pPr algn="l"/>
            <a:endParaRPr kumimoji="1" lang="zh-CN" altLang="en-US" dirty="0" smtClean="0">
              <a:effectLst/>
            </a:endParaRPr>
          </a:p>
          <a:p>
            <a:pPr algn="l"/>
            <a:endParaRPr kumimoji="1" lang="zh-CN" altLang="en-US" dirty="0" smtClean="0">
              <a:effectLst/>
            </a:endParaRPr>
          </a:p>
        </p:txBody>
      </p:sp>
      <p:sp>
        <p:nvSpPr>
          <p:cNvPr id="39" name="文本框 38"/>
          <p:cNvSpPr txBox="1"/>
          <p:nvPr/>
        </p:nvSpPr>
        <p:spPr>
          <a:xfrm>
            <a:off x="834364" y="2484221"/>
            <a:ext cx="972078" cy="369332"/>
          </a:xfrm>
          <a:prstGeom prst="rect">
            <a:avLst/>
          </a:prstGeom>
          <a:noFill/>
        </p:spPr>
        <p:txBody>
          <a:bodyPr wrap="square" rtlCol="0">
            <a:spAutoFit/>
          </a:bodyPr>
          <a:lstStyle/>
          <a:p>
            <a:r>
              <a:rPr lang="zh-CN" altLang="en-US" dirty="0" smtClean="0"/>
              <a:t>正格子：</a:t>
            </a:r>
            <a:endParaRPr lang="zh-CN" altLang="en-US" dirty="0"/>
          </a:p>
        </p:txBody>
      </p:sp>
      <p:sp>
        <p:nvSpPr>
          <p:cNvPr id="46" name="文本框 45"/>
          <p:cNvSpPr txBox="1"/>
          <p:nvPr/>
        </p:nvSpPr>
        <p:spPr>
          <a:xfrm>
            <a:off x="6502684" y="2498971"/>
            <a:ext cx="972078" cy="369332"/>
          </a:xfrm>
          <a:prstGeom prst="rect">
            <a:avLst/>
          </a:prstGeom>
          <a:noFill/>
        </p:spPr>
        <p:txBody>
          <a:bodyPr wrap="square" rtlCol="0">
            <a:spAutoFit/>
          </a:bodyPr>
          <a:lstStyle/>
          <a:p>
            <a:r>
              <a:rPr lang="zh-CN" altLang="en-US" dirty="0"/>
              <a:t>倒</a:t>
            </a:r>
            <a:r>
              <a:rPr lang="zh-CN" altLang="en-US" dirty="0" smtClean="0"/>
              <a:t>格子：</a:t>
            </a:r>
            <a:endParaRPr lang="zh-CN" altLang="en-US" dirty="0"/>
          </a:p>
        </p:txBody>
      </p:sp>
      <p:grpSp>
        <p:nvGrpSpPr>
          <p:cNvPr id="25" name="组合 24"/>
          <p:cNvGrpSpPr/>
          <p:nvPr/>
        </p:nvGrpSpPr>
        <p:grpSpPr>
          <a:xfrm>
            <a:off x="2221273" y="2915733"/>
            <a:ext cx="3420796" cy="2569371"/>
            <a:chOff x="2221273" y="2915733"/>
            <a:chExt cx="3420796" cy="2569371"/>
          </a:xfrm>
          <a:solidFill>
            <a:schemeClr val="tx1"/>
          </a:solidFill>
        </p:grpSpPr>
        <p:sp>
          <p:nvSpPr>
            <p:cNvPr id="4" name="矩形 3"/>
            <p:cNvSpPr/>
            <p:nvPr/>
          </p:nvSpPr>
          <p:spPr>
            <a:xfrm>
              <a:off x="3395881" y="3792664"/>
              <a:ext cx="1080000" cy="823158"/>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椭圆 8"/>
            <p:cNvSpPr/>
            <p:nvPr/>
          </p:nvSpPr>
          <p:spPr>
            <a:xfrm>
              <a:off x="2224097" y="3701252"/>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椭圆 9"/>
            <p:cNvSpPr/>
            <p:nvPr/>
          </p:nvSpPr>
          <p:spPr>
            <a:xfrm>
              <a:off x="3303421" y="3703340"/>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椭圆 10"/>
            <p:cNvSpPr/>
            <p:nvPr/>
          </p:nvSpPr>
          <p:spPr>
            <a:xfrm>
              <a:off x="4380657" y="3703340"/>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椭圆 11"/>
            <p:cNvSpPr/>
            <p:nvPr/>
          </p:nvSpPr>
          <p:spPr>
            <a:xfrm>
              <a:off x="5459981" y="3705428"/>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2224097" y="4522856"/>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椭圆 13"/>
            <p:cNvSpPr/>
            <p:nvPr/>
          </p:nvSpPr>
          <p:spPr>
            <a:xfrm>
              <a:off x="3303421" y="4524944"/>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椭圆 14"/>
            <p:cNvSpPr/>
            <p:nvPr/>
          </p:nvSpPr>
          <p:spPr>
            <a:xfrm>
              <a:off x="4380657" y="4524944"/>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椭圆 15"/>
            <p:cNvSpPr/>
            <p:nvPr/>
          </p:nvSpPr>
          <p:spPr>
            <a:xfrm>
              <a:off x="5459981" y="4527032"/>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椭圆 16"/>
            <p:cNvSpPr/>
            <p:nvPr/>
          </p:nvSpPr>
          <p:spPr>
            <a:xfrm>
              <a:off x="2226185" y="5300058"/>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椭圆 17"/>
            <p:cNvSpPr/>
            <p:nvPr/>
          </p:nvSpPr>
          <p:spPr>
            <a:xfrm>
              <a:off x="3305509" y="5302146"/>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椭圆 18"/>
            <p:cNvSpPr/>
            <p:nvPr/>
          </p:nvSpPr>
          <p:spPr>
            <a:xfrm>
              <a:off x="4382745" y="5302146"/>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5462069" y="5304234"/>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1" name="直接箭头连接符 20"/>
            <p:cNvCxnSpPr/>
            <p:nvPr/>
          </p:nvCxnSpPr>
          <p:spPr>
            <a:xfrm flipV="1">
              <a:off x="3412075" y="4615379"/>
              <a:ext cx="1080000" cy="0"/>
            </a:xfrm>
            <a:prstGeom prst="straightConnector1">
              <a:avLst/>
            </a:prstGeom>
            <a:grpFill/>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flipV="1">
              <a:off x="3393421" y="3772164"/>
              <a:ext cx="305" cy="828000"/>
            </a:xfrm>
            <a:prstGeom prst="straightConnector1">
              <a:avLst/>
            </a:prstGeom>
            <a:grpFill/>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矩形 22"/>
                <p:cNvSpPr/>
                <p:nvPr/>
              </p:nvSpPr>
              <p:spPr>
                <a:xfrm flipH="1">
                  <a:off x="3583766" y="4669251"/>
                  <a:ext cx="79183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𝑎</m:t>
                        </m:r>
                        <m:r>
                          <a:rPr lang="en-US" altLang="zh-CN" b="0" i="1" smtClean="0">
                            <a:solidFill>
                              <a:schemeClr val="tx1"/>
                            </a:solidFill>
                            <a:latin typeface="Cambria Math"/>
                          </a:rPr>
                          <m:t> </m:t>
                        </m:r>
                        <m:r>
                          <a:rPr lang="en-US" altLang="zh-CN" b="1" i="1" smtClean="0">
                            <a:solidFill>
                              <a:schemeClr val="tx1"/>
                            </a:solidFill>
                            <a:latin typeface="Cambria Math" panose="02040503050406030204" pitchFamily="18" charset="0"/>
                          </a:rPr>
                          <m:t>𝒊</m:t>
                        </m:r>
                      </m:oMath>
                    </m:oMathPara>
                  </a14:m>
                  <a:endParaRPr lang="en-US" altLang="zh-CN" b="1" dirty="0" smtClean="0">
                    <a:solidFill>
                      <a:schemeClr val="tx1"/>
                    </a:solidFill>
                  </a:endParaRPr>
                </a:p>
              </p:txBody>
            </p:sp>
          </mc:Choice>
          <mc:Fallback xmlns="">
            <p:sp>
              <p:nvSpPr>
                <p:cNvPr id="23" name="矩形 22"/>
                <p:cNvSpPr>
                  <a:spLocks noRot="1" noChangeAspect="1" noMove="1" noResize="1" noEditPoints="1" noAdjustHandles="1" noChangeArrowheads="1" noChangeShapeType="1" noTextEdit="1"/>
                </p:cNvSpPr>
                <p:nvPr/>
              </p:nvSpPr>
              <p:spPr>
                <a:xfrm flipH="1">
                  <a:off x="3583766" y="4669251"/>
                  <a:ext cx="791832" cy="369332"/>
                </a:xfrm>
                <a:prstGeom prst="rect">
                  <a:avLst/>
                </a:prstGeom>
                <a:blipFill rotWithShape="0">
                  <a:blip r:embed="rId2"/>
                  <a:stretch>
                    <a:fillRect t="-96721" b="-1196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rot="16200000" flipH="1">
                  <a:off x="2666274" y="4096228"/>
                  <a:ext cx="846313" cy="369332"/>
                </a:xfrm>
                <a:prstGeom prst="rect">
                  <a:avLst/>
                </a:prstGeom>
                <a:noFill/>
              </p:spPr>
              <p:txBody>
                <a:bodyPr wrap="square">
                  <a:spAutoFit/>
                </a:bodyPr>
                <a:lstStyle/>
                <a:p>
                  <a:pPr algn="ctr"/>
                  <a:r>
                    <a:rPr lang="en-US" altLang="zh-CN" b="1" dirty="0" smtClean="0">
                      <a:solidFill>
                        <a:schemeClr val="tx1"/>
                      </a:solidFill>
                    </a:rPr>
                    <a:t>b </a:t>
                  </a:r>
                  <a14:m>
                    <m:oMath xmlns:m="http://schemas.openxmlformats.org/officeDocument/2006/math">
                      <m:r>
                        <a:rPr lang="en-US" altLang="zh-CN" b="1" i="1" smtClean="0">
                          <a:solidFill>
                            <a:schemeClr val="tx1"/>
                          </a:solidFill>
                          <a:latin typeface="Cambria Math" panose="02040503050406030204" pitchFamily="18" charset="0"/>
                        </a:rPr>
                        <m:t>𝒋</m:t>
                      </m:r>
                    </m:oMath>
                  </a14:m>
                  <a:endParaRPr lang="en-US" altLang="zh-CN" b="1" dirty="0" smtClean="0">
                    <a:solidFill>
                      <a:schemeClr val="tx1"/>
                    </a:solidFill>
                  </a:endParaRPr>
                </a:p>
              </p:txBody>
            </p:sp>
          </mc:Choice>
          <mc:Fallback xmlns="">
            <p:sp>
              <p:nvSpPr>
                <p:cNvPr id="24" name="矩形 23"/>
                <p:cNvSpPr>
                  <a:spLocks noRot="1" noChangeAspect="1" noMove="1" noResize="1" noEditPoints="1" noAdjustHandles="1" noChangeArrowheads="1" noChangeShapeType="1" noTextEdit="1"/>
                </p:cNvSpPr>
                <p:nvPr/>
              </p:nvSpPr>
              <p:spPr>
                <a:xfrm rot="16200000" flipH="1">
                  <a:off x="2666274" y="4096228"/>
                  <a:ext cx="846313" cy="369332"/>
                </a:xfrm>
                <a:prstGeom prst="rect">
                  <a:avLst/>
                </a:prstGeom>
                <a:blipFill rotWithShape="0">
                  <a:blip r:embed="rId3"/>
                  <a:stretch>
                    <a:fillRect l="-10000" r="-26667"/>
                  </a:stretch>
                </a:blipFill>
              </p:spPr>
              <p:txBody>
                <a:bodyPr/>
                <a:lstStyle/>
                <a:p>
                  <a:r>
                    <a:rPr lang="zh-CN" altLang="en-US">
                      <a:noFill/>
                    </a:rPr>
                    <a:t> </a:t>
                  </a:r>
                </a:p>
              </p:txBody>
            </p:sp>
          </mc:Fallback>
        </mc:AlternateContent>
        <p:sp>
          <p:nvSpPr>
            <p:cNvPr id="69" name="椭圆 68"/>
            <p:cNvSpPr/>
            <p:nvPr/>
          </p:nvSpPr>
          <p:spPr>
            <a:xfrm>
              <a:off x="2221273" y="2915733"/>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0" name="椭圆 69"/>
            <p:cNvSpPr/>
            <p:nvPr/>
          </p:nvSpPr>
          <p:spPr>
            <a:xfrm>
              <a:off x="3300597" y="2917821"/>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2" name="椭圆 71"/>
            <p:cNvSpPr/>
            <p:nvPr/>
          </p:nvSpPr>
          <p:spPr>
            <a:xfrm>
              <a:off x="4377833" y="2917821"/>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3" name="椭圆 72"/>
            <p:cNvSpPr/>
            <p:nvPr/>
          </p:nvSpPr>
          <p:spPr>
            <a:xfrm>
              <a:off x="5457157" y="2919909"/>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74" name="组合 73"/>
          <p:cNvGrpSpPr/>
          <p:nvPr/>
        </p:nvGrpSpPr>
        <p:grpSpPr>
          <a:xfrm rot="5400000">
            <a:off x="7673278" y="2920653"/>
            <a:ext cx="3420796" cy="2569371"/>
            <a:chOff x="2221273" y="2915733"/>
            <a:chExt cx="3420796" cy="2569371"/>
          </a:xfrm>
          <a:solidFill>
            <a:schemeClr val="tx1"/>
          </a:solidFill>
        </p:grpSpPr>
        <p:sp>
          <p:nvSpPr>
            <p:cNvPr id="75" name="矩形 74"/>
            <p:cNvSpPr/>
            <p:nvPr/>
          </p:nvSpPr>
          <p:spPr>
            <a:xfrm>
              <a:off x="3937090" y="4212540"/>
              <a:ext cx="1080000" cy="823158"/>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6" name="椭圆 75"/>
            <p:cNvSpPr/>
            <p:nvPr/>
          </p:nvSpPr>
          <p:spPr>
            <a:xfrm>
              <a:off x="2224097" y="3701252"/>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7" name="椭圆 76"/>
            <p:cNvSpPr/>
            <p:nvPr/>
          </p:nvSpPr>
          <p:spPr>
            <a:xfrm>
              <a:off x="3303421" y="3703340"/>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8" name="椭圆 77"/>
            <p:cNvSpPr/>
            <p:nvPr/>
          </p:nvSpPr>
          <p:spPr>
            <a:xfrm>
              <a:off x="4380657" y="3703340"/>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9" name="椭圆 78"/>
            <p:cNvSpPr/>
            <p:nvPr/>
          </p:nvSpPr>
          <p:spPr>
            <a:xfrm>
              <a:off x="5459981" y="3705428"/>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椭圆 79"/>
            <p:cNvSpPr/>
            <p:nvPr/>
          </p:nvSpPr>
          <p:spPr>
            <a:xfrm>
              <a:off x="2224097" y="4522856"/>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1" name="椭圆 80"/>
            <p:cNvSpPr/>
            <p:nvPr/>
          </p:nvSpPr>
          <p:spPr>
            <a:xfrm>
              <a:off x="3303421" y="4524944"/>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2" name="椭圆 81"/>
            <p:cNvSpPr/>
            <p:nvPr/>
          </p:nvSpPr>
          <p:spPr>
            <a:xfrm>
              <a:off x="4380657" y="4524944"/>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3" name="椭圆 82"/>
            <p:cNvSpPr/>
            <p:nvPr/>
          </p:nvSpPr>
          <p:spPr>
            <a:xfrm>
              <a:off x="5459981" y="4527032"/>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4" name="椭圆 83"/>
            <p:cNvSpPr/>
            <p:nvPr/>
          </p:nvSpPr>
          <p:spPr>
            <a:xfrm>
              <a:off x="2226185" y="5300058"/>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5" name="椭圆 84"/>
            <p:cNvSpPr/>
            <p:nvPr/>
          </p:nvSpPr>
          <p:spPr>
            <a:xfrm>
              <a:off x="3305509" y="5302146"/>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6" name="椭圆 85"/>
            <p:cNvSpPr/>
            <p:nvPr/>
          </p:nvSpPr>
          <p:spPr>
            <a:xfrm>
              <a:off x="4382745" y="5302146"/>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7" name="椭圆 86"/>
            <p:cNvSpPr/>
            <p:nvPr/>
          </p:nvSpPr>
          <p:spPr>
            <a:xfrm>
              <a:off x="5462069" y="5304234"/>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88" name="直接箭头连接符 87"/>
            <p:cNvCxnSpPr/>
            <p:nvPr/>
          </p:nvCxnSpPr>
          <p:spPr>
            <a:xfrm rot="10800000" flipV="1">
              <a:off x="3412076" y="4615379"/>
              <a:ext cx="1080000" cy="0"/>
            </a:xfrm>
            <a:prstGeom prst="straightConnector1">
              <a:avLst/>
            </a:prstGeom>
            <a:grpFill/>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flipH="1" flipV="1">
              <a:off x="4464833" y="3772164"/>
              <a:ext cx="305" cy="828000"/>
            </a:xfrm>
            <a:prstGeom prst="straightConnector1">
              <a:avLst/>
            </a:prstGeom>
            <a:grpFill/>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矩形 90"/>
                <p:cNvSpPr/>
                <p:nvPr/>
              </p:nvSpPr>
              <p:spPr>
                <a:xfrm rot="16200000" flipH="1">
                  <a:off x="4423375" y="3368325"/>
                  <a:ext cx="846313" cy="6127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f>
                          <m:fPr>
                            <m:ctrlPr>
                              <a:rPr lang="en-US" altLang="zh-CN" b="0" i="1" smtClean="0">
                                <a:solidFill>
                                  <a:schemeClr val="tx1"/>
                                </a:solidFill>
                                <a:latin typeface="Cambria Math" charset="0"/>
                                <a:sym typeface="Symbol" panose="05050102010706020507" pitchFamily="18" charset="2"/>
                              </a:rPr>
                            </m:ctrlPr>
                          </m:fPr>
                          <m:num>
                            <m:r>
                              <a:rPr lang="en-US" altLang="zh-CN" b="0" i="1" smtClean="0">
                                <a:solidFill>
                                  <a:schemeClr val="tx1"/>
                                </a:solidFill>
                                <a:latin typeface="Cambria Math"/>
                                <a:sym typeface="Symbol" panose="05050102010706020507" pitchFamily="18" charset="2"/>
                              </a:rPr>
                              <m:t>2</m:t>
                            </m:r>
                            <m:r>
                              <m:rPr>
                                <m:sty m:val="p"/>
                              </m:rPr>
                              <a:rPr lang="el-GR" altLang="zh-CN" b="0" i="1" smtClean="0">
                                <a:solidFill>
                                  <a:schemeClr val="tx1"/>
                                </a:solidFill>
                                <a:latin typeface="Cambria Math"/>
                                <a:sym typeface="Symbol" panose="05050102010706020507" pitchFamily="18" charset="2"/>
                              </a:rPr>
                              <m:t>π</m:t>
                            </m:r>
                          </m:num>
                          <m:den>
                            <m:r>
                              <a:rPr lang="en-US" altLang="zh-CN" b="0" i="1" smtClean="0">
                                <a:solidFill>
                                  <a:schemeClr val="tx1"/>
                                </a:solidFill>
                                <a:latin typeface="Cambria Math" panose="02040503050406030204" pitchFamily="18" charset="0"/>
                                <a:sym typeface="Symbol" panose="05050102010706020507" pitchFamily="18" charset="2"/>
                              </a:rPr>
                              <m:t>𝑎</m:t>
                            </m:r>
                          </m:den>
                        </m:f>
                        <m:r>
                          <a:rPr lang="en-US" altLang="zh-CN" b="1" i="1" smtClean="0">
                            <a:solidFill>
                              <a:schemeClr val="tx1"/>
                            </a:solidFill>
                            <a:latin typeface="Cambria Math" panose="02040503050406030204" pitchFamily="18" charset="0"/>
                          </a:rPr>
                          <m:t>𝒊</m:t>
                        </m:r>
                      </m:oMath>
                    </m:oMathPara>
                  </a14:m>
                  <a:endParaRPr lang="en-US" altLang="zh-CN" b="1" dirty="0" smtClean="0">
                    <a:solidFill>
                      <a:schemeClr val="tx1"/>
                    </a:solidFill>
                  </a:endParaRPr>
                </a:p>
              </p:txBody>
            </p:sp>
          </mc:Choice>
          <mc:Fallback xmlns="">
            <p:sp>
              <p:nvSpPr>
                <p:cNvPr id="91" name="矩形 90"/>
                <p:cNvSpPr>
                  <a:spLocks noRot="1" noChangeAspect="1" noMove="1" noResize="1" noEditPoints="1" noAdjustHandles="1" noChangeArrowheads="1" noChangeShapeType="1" noTextEdit="1"/>
                </p:cNvSpPr>
                <p:nvPr/>
              </p:nvSpPr>
              <p:spPr>
                <a:xfrm rot="16200000" flipH="1">
                  <a:off x="4423375" y="3368325"/>
                  <a:ext cx="846313" cy="612732"/>
                </a:xfrm>
                <a:prstGeom prst="rect">
                  <a:avLst/>
                </a:prstGeom>
                <a:blipFill rotWithShape="0">
                  <a:blip r:embed="rId4"/>
                  <a:stretch>
                    <a:fillRect/>
                  </a:stretch>
                </a:blipFill>
              </p:spPr>
              <p:txBody>
                <a:bodyPr/>
                <a:lstStyle/>
                <a:p>
                  <a:r>
                    <a:rPr lang="zh-CN" altLang="en-US">
                      <a:noFill/>
                    </a:rPr>
                    <a:t> </a:t>
                  </a:r>
                </a:p>
              </p:txBody>
            </p:sp>
          </mc:Fallback>
        </mc:AlternateContent>
        <p:sp>
          <p:nvSpPr>
            <p:cNvPr id="92" name="椭圆 91"/>
            <p:cNvSpPr/>
            <p:nvPr/>
          </p:nvSpPr>
          <p:spPr>
            <a:xfrm>
              <a:off x="2221273" y="2915733"/>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3" name="椭圆 92"/>
            <p:cNvSpPr/>
            <p:nvPr/>
          </p:nvSpPr>
          <p:spPr>
            <a:xfrm>
              <a:off x="3300597" y="2917821"/>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4" name="椭圆 93"/>
            <p:cNvSpPr/>
            <p:nvPr/>
          </p:nvSpPr>
          <p:spPr>
            <a:xfrm>
              <a:off x="4377833" y="2917821"/>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5" name="椭圆 94"/>
            <p:cNvSpPr/>
            <p:nvPr/>
          </p:nvSpPr>
          <p:spPr>
            <a:xfrm>
              <a:off x="5457157" y="2919909"/>
              <a:ext cx="180000" cy="18087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mc:AlternateContent xmlns:mc="http://schemas.openxmlformats.org/markup-compatibility/2006" xmlns:a14="http://schemas.microsoft.com/office/drawing/2010/main">
        <mc:Choice Requires="a14">
          <p:sp>
            <p:nvSpPr>
              <p:cNvPr id="96" name="矩形 95"/>
              <p:cNvSpPr/>
              <p:nvPr/>
            </p:nvSpPr>
            <p:spPr>
              <a:xfrm flipH="1">
                <a:off x="8135198" y="3752501"/>
                <a:ext cx="846313" cy="6127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f>
                        <m:fPr>
                          <m:ctrlPr>
                            <a:rPr lang="en-US" altLang="zh-CN" b="0" i="1" smtClean="0">
                              <a:solidFill>
                                <a:schemeClr val="tx1"/>
                              </a:solidFill>
                              <a:latin typeface="Cambria Math" charset="0"/>
                              <a:sym typeface="Symbol" panose="05050102010706020507" pitchFamily="18" charset="2"/>
                            </a:rPr>
                          </m:ctrlPr>
                        </m:fPr>
                        <m:num>
                          <m:r>
                            <a:rPr lang="en-US" altLang="zh-CN" b="1" i="1" smtClean="0">
                              <a:solidFill>
                                <a:schemeClr val="tx1"/>
                              </a:solidFill>
                              <a:latin typeface="Cambria Math"/>
                              <a:sym typeface="Symbol" panose="05050102010706020507" pitchFamily="18" charset="2"/>
                            </a:rPr>
                            <m:t>𝟐</m:t>
                          </m:r>
                          <m:r>
                            <m:rPr>
                              <m:sty m:val="p"/>
                            </m:rPr>
                            <a:rPr lang="el-GR" altLang="zh-CN" b="1" i="1" smtClean="0">
                              <a:solidFill>
                                <a:schemeClr val="tx1"/>
                              </a:solidFill>
                              <a:latin typeface="Cambria Math"/>
                              <a:sym typeface="Symbol" panose="05050102010706020507" pitchFamily="18" charset="2"/>
                            </a:rPr>
                            <m:t>π</m:t>
                          </m:r>
                        </m:num>
                        <m:den>
                          <m:r>
                            <a:rPr lang="en-US" altLang="zh-CN" b="1" i="1" smtClean="0">
                              <a:solidFill>
                                <a:schemeClr val="tx1"/>
                              </a:solidFill>
                              <a:latin typeface="Cambria Math" panose="02040503050406030204" pitchFamily="18" charset="0"/>
                              <a:sym typeface="Symbol" panose="05050102010706020507" pitchFamily="18" charset="2"/>
                            </a:rPr>
                            <m:t>𝒃</m:t>
                          </m:r>
                        </m:den>
                      </m:f>
                      <m:r>
                        <a:rPr lang="en-US" altLang="zh-CN" b="1" i="1" smtClean="0">
                          <a:solidFill>
                            <a:schemeClr val="tx1"/>
                          </a:solidFill>
                          <a:latin typeface="Cambria Math" panose="02040503050406030204" pitchFamily="18" charset="0"/>
                        </a:rPr>
                        <m:t>𝒋</m:t>
                      </m:r>
                    </m:oMath>
                  </m:oMathPara>
                </a14:m>
                <a:endParaRPr lang="en-US" altLang="zh-CN" b="1" dirty="0" smtClean="0">
                  <a:solidFill>
                    <a:schemeClr val="tx1"/>
                  </a:solidFill>
                </a:endParaRPr>
              </a:p>
            </p:txBody>
          </p:sp>
        </mc:Choice>
        <mc:Fallback xmlns="">
          <p:sp>
            <p:nvSpPr>
              <p:cNvPr id="96" name="矩形 95"/>
              <p:cNvSpPr>
                <a:spLocks noRot="1" noChangeAspect="1" noMove="1" noResize="1" noEditPoints="1" noAdjustHandles="1" noChangeArrowheads="1" noChangeShapeType="1" noTextEdit="1"/>
              </p:cNvSpPr>
              <p:nvPr/>
            </p:nvSpPr>
            <p:spPr>
              <a:xfrm flipH="1">
                <a:off x="8135198" y="3752501"/>
                <a:ext cx="846313" cy="612732"/>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矩形 96"/>
              <p:cNvSpPr/>
              <p:nvPr/>
            </p:nvSpPr>
            <p:spPr>
              <a:xfrm>
                <a:off x="8279863" y="376343"/>
                <a:ext cx="4142156" cy="92333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b="1" i="1" smtClean="0">
                          <a:solidFill>
                            <a:schemeClr val="tx1"/>
                          </a:solidFill>
                          <a:latin typeface="Cambria Math" charset="0"/>
                        </a:rPr>
                        <m:t>𝒃</m:t>
                      </m:r>
                      <m:r>
                        <a:rPr kumimoji="1" lang="en-US" altLang="zh-CN" i="1" baseline="-25000">
                          <a:solidFill>
                            <a:schemeClr val="tx1"/>
                          </a:solidFill>
                          <a:latin typeface="Cambria Math" charset="0"/>
                        </a:rPr>
                        <m:t>1</m:t>
                      </m:r>
                      <m:r>
                        <a:rPr kumimoji="1" lang="zh-CN" altLang="en-US" i="1">
                          <a:solidFill>
                            <a:schemeClr val="tx1"/>
                          </a:solidFill>
                          <a:latin typeface="Cambria Math" charset="0"/>
                        </a:rPr>
                        <m:t>＝</m:t>
                      </m:r>
                      <m:r>
                        <a:rPr kumimoji="1" lang="en-US" altLang="zh-CN" i="1">
                          <a:solidFill>
                            <a:schemeClr val="tx1"/>
                          </a:solidFill>
                          <a:latin typeface="Cambria Math" charset="0"/>
                        </a:rPr>
                        <m:t>2</m:t>
                      </m:r>
                      <m:r>
                        <a:rPr kumimoji="1" lang="en-US" altLang="zh-CN" i="1">
                          <a:solidFill>
                            <a:schemeClr val="tx1"/>
                          </a:solidFill>
                          <a:latin typeface="Cambria Math" charset="0"/>
                          <a:ea typeface="Cambria Math" charset="0"/>
                          <a:cs typeface="Cambria Math" charset="0"/>
                        </a:rPr>
                        <m:t>𝜋</m:t>
                      </m:r>
                      <m:r>
                        <a:rPr kumimoji="1" lang="zh-CN" altLang="en-US" i="1">
                          <a:solidFill>
                            <a:schemeClr val="tx1"/>
                          </a:solidFill>
                          <a:latin typeface="Cambria Math" charset="0"/>
                          <a:ea typeface="Cambria Math" charset="0"/>
                          <a:cs typeface="Cambria Math" charset="0"/>
                        </a:rPr>
                        <m:t>（</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2</m:t>
                      </m:r>
                      <m:r>
                        <a:rPr kumimoji="1" lang="en-US" altLang="zh-CN" b="1" i="1">
                          <a:solidFill>
                            <a:schemeClr val="tx1"/>
                          </a:solidFill>
                          <a:latin typeface="Cambria Math" charset="0"/>
                        </a:rPr>
                        <m:t> </m:t>
                      </m:r>
                      <m:r>
                        <a:rPr kumimoji="1" lang="en-US" altLang="zh-CN" b="1" i="1">
                          <a:solidFill>
                            <a:schemeClr val="tx1"/>
                          </a:solidFill>
                          <a:latin typeface="Cambria Math" charset="0"/>
                          <a:ea typeface="Cambria Math" charset="0"/>
                          <a:cs typeface="Cambria Math" charset="0"/>
                        </a:rPr>
                        <m:t>× </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3</m:t>
                      </m:r>
                      <m:r>
                        <a:rPr kumimoji="1" lang="en-US" altLang="zh-CN">
                          <a:solidFill>
                            <a:schemeClr val="tx1"/>
                          </a:solidFill>
                          <a:latin typeface="Cambria Math" charset="0"/>
                        </a:rPr>
                        <m:t>)/</m:t>
                      </m:r>
                      <m:r>
                        <m:rPr>
                          <m:sty m:val="p"/>
                        </m:rPr>
                        <a:rPr kumimoji="1" lang="el-GR" altLang="zh-CN" i="1">
                          <a:solidFill>
                            <a:schemeClr val="tx1"/>
                          </a:solidFill>
                          <a:latin typeface="Cambria Math" charset="0"/>
                          <a:ea typeface="Cambria Math" charset="0"/>
                          <a:cs typeface="Cambria Math" charset="0"/>
                        </a:rPr>
                        <m:t>Ω</m:t>
                      </m:r>
                    </m:oMath>
                  </m:oMathPara>
                </a14:m>
                <a:endParaRPr kumimoji="1" lang="en-US" altLang="zh-CN" b="1" i="1" dirty="0">
                  <a:solidFill>
                    <a:schemeClr val="tx1"/>
                  </a:solidFill>
                  <a:latin typeface="Cambria Math" charset="0"/>
                </a:endParaRPr>
              </a:p>
              <a:p>
                <a:r>
                  <a:rPr kumimoji="1" lang="en-US" altLang="zh-CN" b="1" dirty="0">
                    <a:solidFill>
                      <a:schemeClr val="tx1"/>
                    </a:solidFill>
                  </a:rPr>
                  <a:t>	</a:t>
                </a:r>
                <a14:m>
                  <m:oMath xmlns:m="http://schemas.openxmlformats.org/officeDocument/2006/math">
                    <m:r>
                      <a:rPr kumimoji="1" lang="en-US" altLang="zh-CN" b="1" i="1">
                        <a:solidFill>
                          <a:schemeClr val="tx1"/>
                        </a:solidFill>
                        <a:latin typeface="Cambria Math" charset="0"/>
                      </a:rPr>
                      <m:t>𝒃</m:t>
                    </m:r>
                    <m:r>
                      <a:rPr kumimoji="1" lang="en-US" altLang="zh-CN" i="1" baseline="-25000">
                        <a:solidFill>
                          <a:schemeClr val="tx1"/>
                        </a:solidFill>
                        <a:latin typeface="Cambria Math" charset="0"/>
                      </a:rPr>
                      <m:t>2</m:t>
                    </m:r>
                    <m:r>
                      <a:rPr kumimoji="1" lang="zh-CN" altLang="en-US" i="1">
                        <a:solidFill>
                          <a:schemeClr val="tx1"/>
                        </a:solidFill>
                        <a:latin typeface="Cambria Math" charset="0"/>
                      </a:rPr>
                      <m:t>＝</m:t>
                    </m:r>
                    <m:r>
                      <a:rPr kumimoji="1" lang="en-US" altLang="zh-CN" i="1">
                        <a:solidFill>
                          <a:schemeClr val="tx1"/>
                        </a:solidFill>
                        <a:latin typeface="Cambria Math" charset="0"/>
                      </a:rPr>
                      <m:t>2</m:t>
                    </m:r>
                    <m:r>
                      <a:rPr kumimoji="1" lang="en-US" altLang="zh-CN" i="1">
                        <a:solidFill>
                          <a:schemeClr val="tx1"/>
                        </a:solidFill>
                        <a:latin typeface="Cambria Math" charset="0"/>
                        <a:ea typeface="Cambria Math" charset="0"/>
                        <a:cs typeface="Cambria Math" charset="0"/>
                      </a:rPr>
                      <m:t>𝜋</m:t>
                    </m:r>
                    <m:r>
                      <a:rPr kumimoji="1" lang="zh-CN" altLang="en-US" i="1">
                        <a:solidFill>
                          <a:schemeClr val="tx1"/>
                        </a:solidFill>
                        <a:latin typeface="Cambria Math" charset="0"/>
                        <a:ea typeface="Cambria Math" charset="0"/>
                        <a:cs typeface="Cambria Math" charset="0"/>
                      </a:rPr>
                      <m:t>（</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3</m:t>
                    </m:r>
                    <m:r>
                      <a:rPr kumimoji="1" lang="en-US" altLang="zh-CN" b="1" i="1">
                        <a:solidFill>
                          <a:schemeClr val="tx1"/>
                        </a:solidFill>
                        <a:latin typeface="Cambria Math" charset="0"/>
                      </a:rPr>
                      <m:t> </m:t>
                    </m:r>
                    <m:r>
                      <a:rPr kumimoji="1" lang="en-US" altLang="zh-CN" b="1" i="1">
                        <a:solidFill>
                          <a:schemeClr val="tx1"/>
                        </a:solidFill>
                        <a:latin typeface="Cambria Math" charset="0"/>
                        <a:ea typeface="Cambria Math" charset="0"/>
                        <a:cs typeface="Cambria Math" charset="0"/>
                      </a:rPr>
                      <m:t>× </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1</m:t>
                    </m:r>
                    <m:r>
                      <a:rPr kumimoji="1" lang="en-US" altLang="zh-CN">
                        <a:solidFill>
                          <a:schemeClr val="tx1"/>
                        </a:solidFill>
                        <a:latin typeface="Cambria Math" charset="0"/>
                      </a:rPr>
                      <m:t>)/</m:t>
                    </m:r>
                    <m:r>
                      <m:rPr>
                        <m:sty m:val="p"/>
                      </m:rPr>
                      <a:rPr kumimoji="1" lang="el-GR" altLang="zh-CN" i="1">
                        <a:solidFill>
                          <a:schemeClr val="tx1"/>
                        </a:solidFill>
                        <a:latin typeface="Cambria Math" charset="0"/>
                        <a:ea typeface="Cambria Math" charset="0"/>
                        <a:cs typeface="Cambria Math" charset="0"/>
                      </a:rPr>
                      <m:t>Ω</m:t>
                    </m:r>
                  </m:oMath>
                </a14:m>
                <a:r>
                  <a:rPr kumimoji="1" lang="en-US" altLang="zh-CN" dirty="0">
                    <a:solidFill>
                      <a:schemeClr val="tx1"/>
                    </a:solidFill>
                  </a:rPr>
                  <a:t> </a:t>
                </a:r>
                <a:endParaRPr kumimoji="1" lang="en-US" altLang="zh-CN" b="1" i="1" dirty="0">
                  <a:solidFill>
                    <a:schemeClr val="tx1"/>
                  </a:solidFill>
                  <a:latin typeface="Cambria Math" charset="0"/>
                </a:endParaRPr>
              </a:p>
              <a:p>
                <a:r>
                  <a:rPr kumimoji="1" lang="en-US" altLang="zh-CN" b="1" dirty="0">
                    <a:solidFill>
                      <a:schemeClr val="tx1"/>
                    </a:solidFill>
                  </a:rPr>
                  <a:t>	</a:t>
                </a:r>
                <a14:m>
                  <m:oMath xmlns:m="http://schemas.openxmlformats.org/officeDocument/2006/math">
                    <m:r>
                      <a:rPr kumimoji="1" lang="en-US" altLang="zh-CN" b="1" i="1">
                        <a:solidFill>
                          <a:schemeClr val="tx1"/>
                        </a:solidFill>
                        <a:latin typeface="Cambria Math" charset="0"/>
                      </a:rPr>
                      <m:t>𝒃</m:t>
                    </m:r>
                    <m:r>
                      <a:rPr kumimoji="1" lang="en-US" altLang="zh-CN" i="1" baseline="-25000">
                        <a:solidFill>
                          <a:schemeClr val="tx1"/>
                        </a:solidFill>
                        <a:latin typeface="Cambria Math" charset="0"/>
                      </a:rPr>
                      <m:t>3</m:t>
                    </m:r>
                    <m:r>
                      <a:rPr kumimoji="1" lang="zh-CN" altLang="en-US" i="1">
                        <a:solidFill>
                          <a:schemeClr val="tx1"/>
                        </a:solidFill>
                        <a:latin typeface="Cambria Math" charset="0"/>
                      </a:rPr>
                      <m:t>＝</m:t>
                    </m:r>
                    <m:r>
                      <a:rPr kumimoji="1" lang="en-US" altLang="zh-CN" i="1">
                        <a:solidFill>
                          <a:schemeClr val="tx1"/>
                        </a:solidFill>
                        <a:latin typeface="Cambria Math" charset="0"/>
                      </a:rPr>
                      <m:t>2</m:t>
                    </m:r>
                    <m:r>
                      <a:rPr kumimoji="1" lang="en-US" altLang="zh-CN" i="1">
                        <a:solidFill>
                          <a:schemeClr val="tx1"/>
                        </a:solidFill>
                        <a:latin typeface="Cambria Math" charset="0"/>
                        <a:ea typeface="Cambria Math" charset="0"/>
                        <a:cs typeface="Cambria Math" charset="0"/>
                      </a:rPr>
                      <m:t>𝜋</m:t>
                    </m:r>
                    <m:r>
                      <a:rPr kumimoji="1" lang="zh-CN" altLang="en-US" i="1">
                        <a:solidFill>
                          <a:schemeClr val="tx1"/>
                        </a:solidFill>
                        <a:latin typeface="Cambria Math" charset="0"/>
                        <a:ea typeface="Cambria Math" charset="0"/>
                        <a:cs typeface="Cambria Math" charset="0"/>
                      </a:rPr>
                      <m:t>（</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1</m:t>
                    </m:r>
                    <m:r>
                      <a:rPr kumimoji="1" lang="en-US" altLang="zh-CN" b="1" i="1">
                        <a:solidFill>
                          <a:schemeClr val="tx1"/>
                        </a:solidFill>
                        <a:latin typeface="Cambria Math" charset="0"/>
                      </a:rPr>
                      <m:t> </m:t>
                    </m:r>
                    <m:r>
                      <a:rPr kumimoji="1" lang="en-US" altLang="zh-CN" b="1" i="1">
                        <a:solidFill>
                          <a:schemeClr val="tx1"/>
                        </a:solidFill>
                        <a:latin typeface="Cambria Math" charset="0"/>
                        <a:ea typeface="Cambria Math" charset="0"/>
                        <a:cs typeface="Cambria Math" charset="0"/>
                      </a:rPr>
                      <m:t>× </m:t>
                    </m:r>
                    <m:r>
                      <a:rPr kumimoji="1" lang="en-US" altLang="zh-CN" b="1" i="1">
                        <a:solidFill>
                          <a:schemeClr val="tx1"/>
                        </a:solidFill>
                        <a:latin typeface="Cambria Math" charset="0"/>
                      </a:rPr>
                      <m:t>𝒂</m:t>
                    </m:r>
                    <m:r>
                      <a:rPr kumimoji="1" lang="en-US" altLang="zh-CN" i="1" baseline="-25000">
                        <a:solidFill>
                          <a:schemeClr val="tx1"/>
                        </a:solidFill>
                        <a:latin typeface="Cambria Math" charset="0"/>
                      </a:rPr>
                      <m:t>2</m:t>
                    </m:r>
                    <m:r>
                      <a:rPr kumimoji="1" lang="en-US" altLang="zh-CN">
                        <a:solidFill>
                          <a:schemeClr val="tx1"/>
                        </a:solidFill>
                        <a:latin typeface="Cambria Math" charset="0"/>
                      </a:rPr>
                      <m:t>)/</m:t>
                    </m:r>
                    <m:r>
                      <m:rPr>
                        <m:sty m:val="p"/>
                      </m:rPr>
                      <a:rPr kumimoji="1" lang="el-GR" altLang="zh-CN" i="1">
                        <a:solidFill>
                          <a:schemeClr val="tx1"/>
                        </a:solidFill>
                        <a:latin typeface="Cambria Math" charset="0"/>
                        <a:ea typeface="Cambria Math" charset="0"/>
                        <a:cs typeface="Cambria Math" charset="0"/>
                      </a:rPr>
                      <m:t>Ω</m:t>
                    </m:r>
                  </m:oMath>
                </a14:m>
                <a:r>
                  <a:rPr kumimoji="1" lang="zh-CN" altLang="en-US" dirty="0">
                    <a:solidFill>
                      <a:schemeClr val="tx1"/>
                    </a:solidFill>
                  </a:rPr>
                  <a:t> </a:t>
                </a:r>
                <a:endParaRPr lang="zh-CN" altLang="en-US" dirty="0">
                  <a:solidFill>
                    <a:schemeClr val="tx1"/>
                  </a:solidFill>
                </a:endParaRPr>
              </a:p>
            </p:txBody>
          </p:sp>
        </mc:Choice>
        <mc:Fallback xmlns="">
          <p:sp>
            <p:nvSpPr>
              <p:cNvPr id="97" name="矩形 96"/>
              <p:cNvSpPr>
                <a:spLocks noRot="1" noChangeAspect="1" noMove="1" noResize="1" noEditPoints="1" noAdjustHandles="1" noChangeArrowheads="1" noChangeShapeType="1" noTextEdit="1"/>
              </p:cNvSpPr>
              <p:nvPr/>
            </p:nvSpPr>
            <p:spPr>
              <a:xfrm>
                <a:off x="8279863" y="376343"/>
                <a:ext cx="4142156" cy="923330"/>
              </a:xfrm>
              <a:prstGeom prst="rect">
                <a:avLst/>
              </a:prstGeom>
              <a:blipFill rotWithShape="0">
                <a:blip r:embed="rId6"/>
                <a:stretch>
                  <a:fillRect t="-38411" b="-48344"/>
                </a:stretch>
              </a:blipFill>
            </p:spPr>
            <p:txBody>
              <a:bodyPr/>
              <a:lstStyle/>
              <a:p>
                <a:r>
                  <a:rPr lang="zh-CN" altLang="en-US">
                    <a:noFill/>
                  </a:rPr>
                  <a:t> </a:t>
                </a:r>
              </a:p>
            </p:txBody>
          </p:sp>
        </mc:Fallback>
      </mc:AlternateContent>
      <p:sp>
        <p:nvSpPr>
          <p:cNvPr id="51" name="矩形 50"/>
          <p:cNvSpPr/>
          <p:nvPr/>
        </p:nvSpPr>
        <p:spPr>
          <a:xfrm>
            <a:off x="8430657" y="5397170"/>
            <a:ext cx="1107996" cy="369332"/>
          </a:xfrm>
          <a:prstGeom prst="rect">
            <a:avLst/>
          </a:prstGeom>
        </p:spPr>
        <p:txBody>
          <a:bodyPr wrap="none">
            <a:spAutoFit/>
          </a:bodyPr>
          <a:lstStyle/>
          <a:p>
            <a:r>
              <a:rPr kumimoji="1" lang="zh-CN" altLang="en-US" dirty="0"/>
              <a:t>布里渊区</a:t>
            </a:r>
            <a:endParaRPr lang="zh-CN" altLang="en-US" dirty="0"/>
          </a:p>
        </p:txBody>
      </p:sp>
      <p:sp>
        <p:nvSpPr>
          <p:cNvPr id="52" name="矩形 51"/>
          <p:cNvSpPr/>
          <p:nvPr/>
        </p:nvSpPr>
        <p:spPr>
          <a:xfrm rot="5400000">
            <a:off x="8432419" y="4323621"/>
            <a:ext cx="1080000" cy="823158"/>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4" name="矩形 53"/>
          <p:cNvSpPr/>
          <p:nvPr/>
        </p:nvSpPr>
        <p:spPr>
          <a:xfrm>
            <a:off x="3549536" y="484509"/>
            <a:ext cx="5228704" cy="584775"/>
          </a:xfrm>
          <a:prstGeom prst="rect">
            <a:avLst/>
          </a:prstGeom>
        </p:spPr>
        <p:txBody>
          <a:bodyPr wrap="square">
            <a:spAutoFit/>
          </a:bodyPr>
          <a:lstStyle/>
          <a:p>
            <a:r>
              <a:rPr kumimoji="1" lang="zh-CN" altLang="en-US" sz="3200" dirty="0" smtClean="0"/>
              <a:t>第二章 晶体中的衍射</a:t>
            </a:r>
            <a:endParaRPr lang="zh-CN" altLang="en-US" sz="3200" dirty="0"/>
          </a:p>
        </p:txBody>
      </p:sp>
    </p:spTree>
    <p:extLst>
      <p:ext uri="{BB962C8B-B14F-4D97-AF65-F5344CB8AC3E}">
        <p14:creationId xmlns:p14="http://schemas.microsoft.com/office/powerpoint/2010/main" val="190733010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49536" y="484509"/>
            <a:ext cx="5228704" cy="584775"/>
          </a:xfrm>
          <a:prstGeom prst="rect">
            <a:avLst/>
          </a:prstGeom>
        </p:spPr>
        <p:txBody>
          <a:bodyPr wrap="square">
            <a:spAutoFit/>
          </a:bodyPr>
          <a:lstStyle/>
          <a:p>
            <a:r>
              <a:rPr kumimoji="1" lang="zh-CN" altLang="en-US" sz="3200" dirty="0" smtClean="0"/>
              <a:t>第二章 晶体中的衍射</a:t>
            </a:r>
            <a:endParaRPr lang="zh-CN" altLang="en-US" sz="3200" dirty="0"/>
          </a:p>
        </p:txBody>
      </p:sp>
      <mc:AlternateContent xmlns:mc="http://schemas.openxmlformats.org/markup-compatibility/2006">
        <mc:Choice xmlns:a14="http://schemas.microsoft.com/office/drawing/2010/main" Requires="a14">
          <p:sp>
            <p:nvSpPr>
              <p:cNvPr id="3" name="副标题 2"/>
              <p:cNvSpPr txBox="1">
                <a:spLocks/>
              </p:cNvSpPr>
              <p:nvPr/>
            </p:nvSpPr>
            <p:spPr>
              <a:xfrm>
                <a:off x="386080" y="1514350"/>
                <a:ext cx="5314927" cy="5237432"/>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en-US" altLang="zh-CN" dirty="0" smtClean="0"/>
                  <a:t>2.2.2 </a:t>
                </a:r>
                <a:r>
                  <a:rPr kumimoji="1" lang="zh-CN" altLang="en-US" dirty="0" smtClean="0"/>
                  <a:t>布里渊区</a:t>
                </a:r>
                <a:endParaRPr kumimoji="1" lang="en-US" altLang="zh-CN" dirty="0" smtClean="0"/>
              </a:p>
              <a:p>
                <a:pPr marL="0" indent="0">
                  <a:buNone/>
                </a:pPr>
                <a:r>
                  <a:rPr kumimoji="1" lang="zh-CN" altLang="en-US" sz="2400" dirty="0" smtClean="0"/>
                  <a:t>面心立方和体心立方的布里渊区</a:t>
                </a:r>
              </a:p>
              <a:p>
                <a:pPr marL="0" indent="0">
                  <a:buNone/>
                </a:pPr>
                <a:endParaRPr kumimoji="1" lang="en-US" altLang="zh-CN" sz="1800" dirty="0" smtClean="0"/>
              </a:p>
              <a:p>
                <a:pPr marL="0" indent="0">
                  <a:buNone/>
                </a:pPr>
                <a:r>
                  <a:rPr kumimoji="1" lang="zh-CN" altLang="en-US" sz="1800" dirty="0" smtClean="0"/>
                  <a:t>面心立方正格子</a:t>
                </a:r>
                <a:r>
                  <a:rPr kumimoji="1" lang="en-US" altLang="zh-CN" sz="1800" dirty="0" smtClean="0"/>
                  <a:t>:</a:t>
                </a:r>
              </a:p>
              <a:p>
                <a:endParaRPr kumimoji="1" lang="en-US" altLang="zh-CN" sz="1800" dirty="0" smtClean="0"/>
              </a:p>
              <a:p>
                <a:endParaRPr kumimoji="1" lang="en-US" altLang="zh-CN" sz="1800" dirty="0" smtClean="0"/>
              </a:p>
              <a:p>
                <a:endParaRPr kumimoji="1" lang="en-US" altLang="zh-CN" sz="1800" dirty="0" smtClean="0"/>
              </a:p>
              <a:p>
                <a:pPr marL="0" indent="0">
                  <a:buNone/>
                </a:pPr>
                <a:r>
                  <a:rPr lang="zh-CN" altLang="en-US" sz="1800" dirty="0" smtClean="0"/>
                  <a:t>倒格子：</a:t>
                </a:r>
                <a:endParaRPr lang="en-US" altLang="zh-CN" sz="1800" dirty="0" smtClean="0"/>
              </a:p>
              <a:p>
                <a:pPr marL="0" indent="0">
                  <a:buNone/>
                </a:pPr>
                <a:endParaRPr lang="en-US" altLang="zh-CN" sz="1800" dirty="0"/>
              </a:p>
              <a:p>
                <a:pPr marL="0" indent="0">
                  <a:buNone/>
                </a:pPr>
                <a:endParaRPr lang="en-US" altLang="zh-CN" sz="1800" dirty="0" smtClean="0"/>
              </a:p>
              <a:p>
                <a:pPr marL="0" indent="0">
                  <a:buNone/>
                </a:pPr>
                <a:endParaRPr lang="en-US" altLang="zh-CN" sz="1800" dirty="0"/>
              </a:p>
              <a:p>
                <a:pPr marL="0" indent="0">
                  <a:buNone/>
                </a:pPr>
                <a:endParaRPr kumimoji="1" lang="en-US" altLang="zh-CN" sz="1800" b="1" dirty="0" smtClean="0"/>
              </a:p>
              <a:p>
                <a:pPr marL="0" indent="0">
                  <a:buNone/>
                </a:pPr>
                <a:endParaRPr kumimoji="1" lang="en-US" altLang="zh-CN" sz="1800" b="1" dirty="0"/>
              </a:p>
              <a:p>
                <a:pPr marL="0" indent="0">
                  <a:buNone/>
                </a:pPr>
                <a:r>
                  <a:rPr kumimoji="1" lang="zh-CN" altLang="en-US" sz="1800" b="1" dirty="0" smtClean="0"/>
                  <a:t>结论</a:t>
                </a:r>
                <a:r>
                  <a:rPr kumimoji="1" lang="zh-CN" altLang="en-US" sz="1800" dirty="0" smtClean="0"/>
                  <a:t>：</a:t>
                </a:r>
                <a:r>
                  <a:rPr kumimoji="1" lang="zh-CN" altLang="en-US" sz="1800" dirty="0"/>
                  <a:t>	</a:t>
                </a:r>
                <a:r>
                  <a:rPr kumimoji="1" lang="en-US" altLang="zh-CN" sz="1800" dirty="0" smtClean="0"/>
                  <a:t>1</a:t>
                </a:r>
                <a:r>
                  <a:rPr kumimoji="1" lang="zh-CN" altLang="en-US" sz="1800" dirty="0" smtClean="0"/>
                  <a:t>、</a:t>
                </a:r>
                <a:r>
                  <a:rPr kumimoji="1" lang="zh-CN" altLang="en-US" sz="1800" dirty="0"/>
                  <a:t>面心立方的倒格子是体心立方	</a:t>
                </a:r>
                <a:endParaRPr kumimoji="1" lang="en-US" altLang="zh-CN" sz="1800" dirty="0"/>
              </a:p>
              <a:p>
                <a:pPr marL="0" indent="0">
                  <a:buNone/>
                </a:pPr>
                <a:r>
                  <a:rPr kumimoji="1" lang="en-US" altLang="zh-CN" sz="1800" dirty="0"/>
                  <a:t>	</a:t>
                </a:r>
                <a:r>
                  <a:rPr kumimoji="1" lang="en-US" altLang="zh-CN" sz="1800" dirty="0" smtClean="0"/>
                  <a:t>2</a:t>
                </a:r>
                <a:r>
                  <a:rPr kumimoji="1" lang="zh-CN" altLang="en-US" sz="1800" dirty="0" smtClean="0"/>
                  <a:t>、</a:t>
                </a:r>
                <a:r>
                  <a:rPr kumimoji="1" lang="zh-CN" altLang="en-US" sz="1800" dirty="0"/>
                  <a:t>简立方，</a:t>
                </a:r>
                <a:r>
                  <a:rPr kumimoji="1" lang="en-US" altLang="zh-CN" sz="1800" b="1" dirty="0"/>
                  <a:t> </a:t>
                </a:r>
                <a14:m>
                  <m:oMath xmlns:m="http://schemas.openxmlformats.org/officeDocument/2006/math">
                    <m:r>
                      <a:rPr kumimoji="1" lang="en-US" altLang="zh-CN" sz="1800" b="1" i="1">
                        <a:latin typeface="Cambria Math" charset="0"/>
                      </a:rPr>
                      <m:t>𝒂</m:t>
                    </m:r>
                    <m:r>
                      <a:rPr kumimoji="1" lang="en-US" altLang="zh-CN" sz="1800" b="1" i="1" baseline="-25000">
                        <a:latin typeface="Cambria Math" charset="0"/>
                      </a:rPr>
                      <m:t>𝟏</m:t>
                    </m:r>
                    <m:r>
                      <a:rPr kumimoji="1" lang="zh-CN" altLang="en-US" sz="1800" b="1" i="1">
                        <a:latin typeface="Cambria Math" charset="0"/>
                      </a:rPr>
                      <m:t>＝</m:t>
                    </m:r>
                    <m:r>
                      <a:rPr kumimoji="1" lang="en-US" altLang="zh-CN" sz="1800" i="1">
                        <a:latin typeface="Cambria Math" charset="0"/>
                      </a:rPr>
                      <m:t>𝑎</m:t>
                    </m:r>
                    <m:r>
                      <a:rPr kumimoji="1" lang="en-US" altLang="zh-CN" sz="1800" b="1" i="1">
                        <a:latin typeface="Cambria Math" charset="0"/>
                      </a:rPr>
                      <m:t>𝒊</m:t>
                    </m:r>
                    <m:r>
                      <a:rPr kumimoji="1" lang="zh-CN" altLang="en-US" sz="1800">
                        <a:latin typeface="Cambria Math" charset="0"/>
                      </a:rPr>
                      <m:t>，</m:t>
                    </m:r>
                    <m:r>
                      <a:rPr kumimoji="1" lang="en-US" altLang="zh-CN" sz="1800" b="1" i="1">
                        <a:latin typeface="Cambria Math" charset="0"/>
                      </a:rPr>
                      <m:t>𝒃</m:t>
                    </m:r>
                    <m:r>
                      <a:rPr kumimoji="1" lang="en-US" altLang="zh-CN" sz="1800" i="1" baseline="-25000">
                        <a:latin typeface="Cambria Math" charset="0"/>
                      </a:rPr>
                      <m:t>1</m:t>
                    </m:r>
                    <m:r>
                      <a:rPr kumimoji="1" lang="zh-CN" altLang="en-US" sz="1800" i="1">
                        <a:latin typeface="Cambria Math" charset="0"/>
                      </a:rPr>
                      <m:t>＝</m:t>
                    </m:r>
                    <m:r>
                      <a:rPr kumimoji="1" lang="en-US" altLang="zh-CN" sz="1800" i="1">
                        <a:latin typeface="Cambria Math" charset="0"/>
                      </a:rPr>
                      <m:t>2</m:t>
                    </m:r>
                    <m:r>
                      <a:rPr kumimoji="1" lang="en-US" altLang="zh-CN" sz="1800" i="1">
                        <a:latin typeface="Cambria Math" charset="0"/>
                        <a:ea typeface="Cambria Math" charset="0"/>
                        <a:cs typeface="Cambria Math" charset="0"/>
                      </a:rPr>
                      <m:t>𝜋</m:t>
                    </m:r>
                    <m:r>
                      <a:rPr kumimoji="1" lang="en-US" altLang="zh-CN" sz="1800" b="1" i="1">
                        <a:latin typeface="Cambria Math" charset="0"/>
                      </a:rPr>
                      <m:t>𝒊</m:t>
                    </m:r>
                    <m:r>
                      <a:rPr kumimoji="1" lang="en-US" altLang="zh-CN" sz="1800">
                        <a:latin typeface="Cambria Math" charset="0"/>
                      </a:rPr>
                      <m:t>/</m:t>
                    </m:r>
                    <m:r>
                      <a:rPr kumimoji="1" lang="en-US" altLang="zh-CN" sz="1800" i="1">
                        <a:latin typeface="Cambria Math" charset="0"/>
                      </a:rPr>
                      <m:t>𝑎</m:t>
                    </m:r>
                  </m:oMath>
                </a14:m>
                <a:endParaRPr kumimoji="1" lang="en-US" altLang="zh-CN" sz="1800" dirty="0" smtClean="0"/>
              </a:p>
              <a:p>
                <a:pPr marL="0" indent="0">
                  <a:buNone/>
                </a:pPr>
                <a:r>
                  <a:rPr kumimoji="1" lang="en-US" altLang="zh-CN" sz="1800" dirty="0" smtClean="0"/>
                  <a:t>	3</a:t>
                </a:r>
                <a:r>
                  <a:rPr kumimoji="1" lang="zh-CN" altLang="en-US" sz="1800" dirty="0" smtClean="0"/>
                  <a:t>、</a:t>
                </a:r>
                <a14:m>
                  <m:oMath xmlns:m="http://schemas.openxmlformats.org/officeDocument/2006/math">
                    <m:r>
                      <a:rPr kumimoji="1" lang="en-US" altLang="zh-CN" sz="1800" b="1" i="1">
                        <a:latin typeface="Cambria Math" charset="0"/>
                      </a:rPr>
                      <m:t>𝒂</m:t>
                    </m:r>
                    <m:r>
                      <a:rPr kumimoji="1" lang="en-US" altLang="zh-CN" sz="1800" i="1" baseline="-25000">
                        <a:latin typeface="Cambria Math" charset="0"/>
                      </a:rPr>
                      <m:t>𝑖</m:t>
                    </m:r>
                    <m:r>
                      <a:rPr kumimoji="1" lang="en-US" altLang="zh-CN" sz="1800" b="1" i="1">
                        <a:latin typeface="Cambria Math" charset="0"/>
                      </a:rPr>
                      <m:t> </m:t>
                    </m:r>
                    <m:r>
                      <a:rPr kumimoji="1" lang="en-US" altLang="zh-CN" sz="1800" b="1" i="1">
                        <a:latin typeface="Cambria Math" charset="0"/>
                        <a:ea typeface="Cambria Math" charset="0"/>
                        <a:cs typeface="Cambria Math" charset="0"/>
                      </a:rPr>
                      <m:t>∙ </m:t>
                    </m:r>
                    <m:r>
                      <a:rPr kumimoji="1" lang="en-US" altLang="zh-CN" sz="1800" b="1" i="1">
                        <a:latin typeface="Cambria Math" charset="0"/>
                      </a:rPr>
                      <m:t>𝒃</m:t>
                    </m:r>
                    <m:r>
                      <a:rPr kumimoji="1" lang="en-US" altLang="zh-CN" sz="1800" i="1" baseline="-25000">
                        <a:latin typeface="Cambria Math" charset="0"/>
                      </a:rPr>
                      <m:t>𝑗</m:t>
                    </m:r>
                    <m:r>
                      <a:rPr kumimoji="1" lang="en-US" altLang="zh-CN" sz="1800">
                        <a:latin typeface="Cambria Math" charset="0"/>
                      </a:rPr>
                      <m:t>=2</m:t>
                    </m:r>
                    <m:r>
                      <a:rPr kumimoji="1" lang="el-GR" altLang="zh-CN" sz="1800" i="1">
                        <a:latin typeface="Cambria Math" charset="0"/>
                        <a:ea typeface="Cambria Math" charset="0"/>
                        <a:cs typeface="Cambria Math" charset="0"/>
                      </a:rPr>
                      <m:t>𝜋𝛿</m:t>
                    </m:r>
                    <m:r>
                      <a:rPr kumimoji="1" lang="en-US" altLang="zh-CN" sz="1800" i="1" baseline="-25000">
                        <a:latin typeface="Cambria Math" charset="0"/>
                        <a:ea typeface="Cambria Math" charset="0"/>
                        <a:cs typeface="Cambria Math" charset="0"/>
                      </a:rPr>
                      <m:t>𝑖𝑗</m:t>
                    </m:r>
                  </m:oMath>
                </a14:m>
                <a:r>
                  <a:rPr kumimoji="1" lang="zh-CN" altLang="en-US" sz="1800" b="1" i="1" baseline="-25000" dirty="0">
                    <a:latin typeface="Cambria Math" charset="0"/>
                  </a:rPr>
                  <a:t> </a:t>
                </a:r>
                <a:r>
                  <a:rPr kumimoji="1" lang="zh-CN" altLang="en-US" sz="1800" b="1" i="1" dirty="0">
                    <a:latin typeface="Cambria Math" charset="0"/>
                  </a:rPr>
                  <a:t>          		</a:t>
                </a:r>
                <a:r>
                  <a:rPr kumimoji="1" lang="en-US" altLang="zh-CN" sz="1800" b="1" i="1" dirty="0">
                    <a:latin typeface="Cambria Math" charset="0"/>
                  </a:rPr>
                  <a:t>	</a:t>
                </a:r>
                <a:endParaRPr kumimoji="1" lang="en-US" altLang="zh-CN" sz="1800" b="1" i="1" dirty="0" smtClean="0">
                  <a:latin typeface="Cambria Math" charset="0"/>
                </a:endParaRPr>
              </a:p>
              <a:p>
                <a:pPr marL="0" indent="0">
                  <a:buNone/>
                </a:pPr>
                <a:r>
                  <a:rPr kumimoji="1" lang="en-US" altLang="zh-CN" sz="1800" b="1" i="1" dirty="0">
                    <a:latin typeface="Cambria Math" charset="0"/>
                  </a:rPr>
                  <a:t>	</a:t>
                </a:r>
                <a:r>
                  <a:rPr kumimoji="1" lang="en-US" altLang="zh-CN" sz="1800" dirty="0">
                    <a:latin typeface="Cambria Math" charset="0"/>
                  </a:rPr>
                  <a:t>4</a:t>
                </a:r>
                <a:r>
                  <a:rPr kumimoji="1" lang="zh-CN" altLang="en-US" sz="1800" dirty="0" smtClean="0">
                    <a:latin typeface="Cambria Math" charset="0"/>
                  </a:rPr>
                  <a:t>、</a:t>
                </a:r>
                <a:r>
                  <a:rPr kumimoji="1" lang="en-US" altLang="zh-CN" sz="1800" b="1" dirty="0" smtClean="0"/>
                  <a:t> </a:t>
                </a:r>
                <a14:m>
                  <m:oMath xmlns:m="http://schemas.openxmlformats.org/officeDocument/2006/math">
                    <m:r>
                      <m:rPr>
                        <m:sty m:val="p"/>
                      </m:rPr>
                      <a:rPr kumimoji="1" lang="el-GR" altLang="zh-CN" sz="1800" i="1">
                        <a:latin typeface="Cambria Math" charset="0"/>
                        <a:ea typeface="Cambria Math" charset="0"/>
                        <a:cs typeface="Cambria Math" charset="0"/>
                      </a:rPr>
                      <m:t>Ω</m:t>
                    </m:r>
                    <m:r>
                      <a:rPr kumimoji="1" lang="en-US" altLang="zh-CN" sz="1800" i="1" baseline="30000">
                        <a:latin typeface="Cambria Math" charset="0"/>
                        <a:ea typeface="Cambria Math" charset="0"/>
                        <a:cs typeface="Cambria Math" charset="0"/>
                      </a:rPr>
                      <m:t>∗</m:t>
                    </m:r>
                    <m:r>
                      <a:rPr kumimoji="1" lang="en-US" altLang="zh-CN" sz="1800" b="1" i="1">
                        <a:latin typeface="Cambria Math" charset="0"/>
                        <a:ea typeface="Cambria Math" charset="0"/>
                        <a:cs typeface="Cambria Math" charset="0"/>
                      </a:rPr>
                      <m:t>=</m:t>
                    </m:r>
                    <m:r>
                      <a:rPr kumimoji="1" lang="en-US" altLang="zh-CN" sz="1800" b="1" i="1">
                        <a:latin typeface="Cambria Math" charset="0"/>
                      </a:rPr>
                      <m:t>𝒃</m:t>
                    </m:r>
                    <m:r>
                      <a:rPr kumimoji="1" lang="en-US" altLang="zh-CN" sz="1800" b="1" i="1" baseline="-25000">
                        <a:latin typeface="Cambria Math" charset="0"/>
                      </a:rPr>
                      <m:t>𝟏</m:t>
                    </m:r>
                    <m:r>
                      <a:rPr kumimoji="1" lang="en-US" altLang="zh-CN" sz="1800" b="1" i="1">
                        <a:latin typeface="Cambria Math" charset="0"/>
                        <a:ea typeface="Cambria Math" charset="0"/>
                        <a:cs typeface="Cambria Math" charset="0"/>
                      </a:rPr>
                      <m:t>∙(</m:t>
                    </m:r>
                    <m:r>
                      <a:rPr kumimoji="1" lang="en-US" altLang="zh-CN" sz="1800" b="1" i="1">
                        <a:latin typeface="Cambria Math" charset="0"/>
                      </a:rPr>
                      <m:t>𝒃</m:t>
                    </m:r>
                    <m:r>
                      <a:rPr kumimoji="1" lang="en-US" altLang="zh-CN" sz="1800" i="1" baseline="-25000">
                        <a:latin typeface="Cambria Math" charset="0"/>
                      </a:rPr>
                      <m:t>2</m:t>
                    </m:r>
                    <m:r>
                      <a:rPr kumimoji="1" lang="en-US" altLang="zh-CN" sz="1800" b="1" i="1">
                        <a:latin typeface="Cambria Math" charset="0"/>
                      </a:rPr>
                      <m:t> </m:t>
                    </m:r>
                    <m:r>
                      <a:rPr kumimoji="1" lang="en-US" altLang="zh-CN" sz="1800" b="1" i="1">
                        <a:latin typeface="Cambria Math" charset="0"/>
                        <a:ea typeface="Cambria Math" charset="0"/>
                        <a:cs typeface="Cambria Math" charset="0"/>
                      </a:rPr>
                      <m:t>× </m:t>
                    </m:r>
                    <m:r>
                      <a:rPr kumimoji="1" lang="en-US" altLang="zh-CN" sz="1800" b="1" i="1">
                        <a:latin typeface="Cambria Math" charset="0"/>
                      </a:rPr>
                      <m:t>𝒃</m:t>
                    </m:r>
                    <m:r>
                      <a:rPr kumimoji="1" lang="en-US" altLang="zh-CN" sz="1800" i="1" baseline="-25000">
                        <a:latin typeface="Cambria Math" charset="0"/>
                      </a:rPr>
                      <m:t>3</m:t>
                    </m:r>
                    <m:r>
                      <a:rPr kumimoji="1" lang="en-US" altLang="zh-CN" sz="1800">
                        <a:latin typeface="Cambria Math" charset="0"/>
                      </a:rPr>
                      <m:t>)</m:t>
                    </m:r>
                    <m:r>
                      <a:rPr kumimoji="1" lang="en-US" altLang="zh-CN" sz="1800" i="1">
                        <a:latin typeface="Cambria Math" charset="0"/>
                        <a:ea typeface="Cambria Math" charset="0"/>
                        <a:cs typeface="Cambria Math" charset="0"/>
                      </a:rPr>
                      <m:t>=</m:t>
                    </m:r>
                    <m:d>
                      <m:dPr>
                        <m:ctrlPr>
                          <a:rPr kumimoji="1" lang="en-US" altLang="zh-CN" sz="1800" i="1">
                            <a:latin typeface="Cambria Math" charset="0"/>
                            <a:ea typeface="Cambria Math" charset="0"/>
                            <a:cs typeface="Cambria Math" charset="0"/>
                          </a:rPr>
                        </m:ctrlPr>
                      </m:dPr>
                      <m:e>
                        <m:r>
                          <a:rPr kumimoji="1" lang="en-US" altLang="zh-CN" sz="1800" i="1">
                            <a:latin typeface="Cambria Math" charset="0"/>
                            <a:ea typeface="Cambria Math" charset="0"/>
                            <a:cs typeface="Cambria Math" charset="0"/>
                          </a:rPr>
                          <m:t>2</m:t>
                        </m:r>
                        <m:r>
                          <a:rPr kumimoji="1" lang="en-US" altLang="zh-CN" sz="1800" i="1">
                            <a:latin typeface="Cambria Math" charset="0"/>
                            <a:ea typeface="Cambria Math" charset="0"/>
                            <a:cs typeface="Cambria Math" charset="0"/>
                          </a:rPr>
                          <m:t>𝜋</m:t>
                        </m:r>
                      </m:e>
                    </m:d>
                    <m:r>
                      <a:rPr kumimoji="1" lang="en-US" altLang="zh-CN" sz="1800" i="1" baseline="30000">
                        <a:latin typeface="Cambria Math" charset="0"/>
                        <a:ea typeface="Cambria Math" charset="0"/>
                        <a:cs typeface="Cambria Math" charset="0"/>
                      </a:rPr>
                      <m:t>3</m:t>
                    </m:r>
                    <m:r>
                      <a:rPr kumimoji="1" lang="en-US" altLang="zh-CN" sz="1800" i="1">
                        <a:latin typeface="Cambria Math" charset="0"/>
                        <a:ea typeface="Cambria Math" charset="0"/>
                        <a:cs typeface="Cambria Math" charset="0"/>
                      </a:rPr>
                      <m:t>/</m:t>
                    </m:r>
                    <m:r>
                      <m:rPr>
                        <m:sty m:val="p"/>
                      </m:rPr>
                      <a:rPr kumimoji="1" lang="el-GR" altLang="zh-CN" sz="1800" i="1">
                        <a:latin typeface="Cambria Math" charset="0"/>
                        <a:ea typeface="Cambria Math" charset="0"/>
                        <a:cs typeface="Cambria Math" charset="0"/>
                      </a:rPr>
                      <m:t>Ω</m:t>
                    </m:r>
                  </m:oMath>
                </a14:m>
                <a:endParaRPr kumimoji="1" lang="en-US" altLang="zh-CN" sz="1800" baseline="-25000" dirty="0">
                  <a:latin typeface="Cambria Math" charset="0"/>
                </a:endParaRPr>
              </a:p>
              <a:p>
                <a:pPr marL="0" indent="0">
                  <a:buNone/>
                </a:pPr>
                <a:r>
                  <a:rPr kumimoji="1" lang="en-US" altLang="zh-CN" sz="1800" dirty="0"/>
                  <a:t>	</a:t>
                </a:r>
                <a:r>
                  <a:rPr kumimoji="1" lang="en-US" altLang="zh-CN" sz="1800" dirty="0" smtClean="0">
                    <a:latin typeface="Cambria Math" charset="0"/>
                  </a:rPr>
                  <a:t>5</a:t>
                </a:r>
                <a:r>
                  <a:rPr kumimoji="1" lang="zh-CN" altLang="en-US" sz="1800" dirty="0">
                    <a:latin typeface="Cambria Math" charset="0"/>
                  </a:rPr>
                  <a:t>、</a:t>
                </a:r>
                <a:r>
                  <a:rPr kumimoji="1" lang="en-US" altLang="zh-CN" sz="1800" b="1" dirty="0"/>
                  <a:t> </a:t>
                </a:r>
                <a14:m>
                  <m:oMath xmlns:m="http://schemas.openxmlformats.org/officeDocument/2006/math">
                    <m:r>
                      <a:rPr kumimoji="1" lang="en-US" altLang="zh-CN" sz="1800" b="1">
                        <a:latin typeface="Cambria Math" charset="0"/>
                      </a:rPr>
                      <m:t>𝐑</m:t>
                    </m:r>
                    <m:r>
                      <a:rPr kumimoji="1" lang="en-US" altLang="zh-CN" sz="1800" b="1" baseline="-25000">
                        <a:latin typeface="Cambria Math" charset="0"/>
                      </a:rPr>
                      <m:t>𝐥</m:t>
                    </m:r>
                    <m:r>
                      <a:rPr kumimoji="1" lang="en-US" altLang="zh-CN" sz="1800" b="1" i="1">
                        <a:latin typeface="Cambria Math" charset="0"/>
                        <a:ea typeface="Cambria Math" charset="0"/>
                        <a:cs typeface="Cambria Math" charset="0"/>
                      </a:rPr>
                      <m:t>∙</m:t>
                    </m:r>
                    <m:r>
                      <a:rPr kumimoji="1" lang="en-US" altLang="zh-CN" sz="1800" b="1" i="1">
                        <a:latin typeface="Cambria Math" charset="0"/>
                      </a:rPr>
                      <m:t>𝑲</m:t>
                    </m:r>
                    <m:r>
                      <a:rPr kumimoji="1" lang="en-US" altLang="zh-CN" sz="1800" i="1" baseline="-25000">
                        <a:latin typeface="Cambria Math" charset="0"/>
                      </a:rPr>
                      <m:t>h</m:t>
                    </m:r>
                    <m:r>
                      <a:rPr kumimoji="1" lang="en-US" altLang="zh-CN" sz="1800" i="1">
                        <a:latin typeface="Cambria Math" charset="0"/>
                      </a:rPr>
                      <m:t>=2</m:t>
                    </m:r>
                    <m:r>
                      <a:rPr kumimoji="1" lang="en-US" altLang="zh-CN" sz="1800" i="1">
                        <a:latin typeface="Cambria Math" charset="0"/>
                        <a:ea typeface="Cambria Math" charset="0"/>
                        <a:cs typeface="Cambria Math" charset="0"/>
                      </a:rPr>
                      <m:t>𝜋</m:t>
                    </m:r>
                    <m:r>
                      <a:rPr kumimoji="1" lang="en-US" altLang="zh-CN" sz="1800" i="1">
                        <a:latin typeface="Cambria Math" charset="0"/>
                        <a:ea typeface="Cambria Math" charset="0"/>
                        <a:cs typeface="Cambria Math" charset="0"/>
                      </a:rPr>
                      <m:t>𝑆</m:t>
                    </m:r>
                    <m:r>
                      <a:rPr kumimoji="1" lang="en-US" altLang="zh-CN" sz="1800" i="1">
                        <a:latin typeface="Cambria Math" charset="0"/>
                        <a:ea typeface="Cambria Math" charset="0"/>
                        <a:cs typeface="Cambria Math" charset="0"/>
                      </a:rPr>
                      <m:t>,  </m:t>
                    </m:r>
                    <m:r>
                      <a:rPr kumimoji="1" lang="en-US" altLang="zh-CN" sz="1800" i="1">
                        <a:latin typeface="Cambria Math" charset="0"/>
                        <a:ea typeface="Cambria Math" charset="0"/>
                        <a:cs typeface="Cambria Math" charset="0"/>
                      </a:rPr>
                      <m:t>𝑆</m:t>
                    </m:r>
                    <m:r>
                      <a:rPr kumimoji="1" lang="zh-CN" altLang="en-US" sz="1800" i="1">
                        <a:latin typeface="Cambria Math" charset="0"/>
                        <a:ea typeface="Cambria Math" charset="0"/>
                        <a:cs typeface="Cambria Math" charset="0"/>
                      </a:rPr>
                      <m:t>为整数</m:t>
                    </m:r>
                  </m:oMath>
                </a14:m>
                <a:r>
                  <a:rPr kumimoji="1" lang="zh-CN" altLang="en-US" sz="1800" dirty="0">
                    <a:latin typeface="Cambria Math" charset="0"/>
                  </a:rPr>
                  <a:t>		</a:t>
                </a:r>
                <a:endParaRPr kumimoji="1" lang="en-US" altLang="zh-CN" sz="1800" dirty="0" smtClean="0">
                  <a:latin typeface="Cambria Math" charset="0"/>
                </a:endParaRPr>
              </a:p>
              <a:p>
                <a:pPr marL="0" indent="0">
                  <a:buNone/>
                </a:pPr>
                <a:r>
                  <a:rPr kumimoji="1" lang="en-US" altLang="zh-CN" sz="1800" dirty="0">
                    <a:latin typeface="Cambria Math" charset="0"/>
                  </a:rPr>
                  <a:t>	</a:t>
                </a:r>
                <a:r>
                  <a:rPr kumimoji="1" lang="en-US" altLang="zh-CN" sz="1800" dirty="0" smtClean="0">
                    <a:latin typeface="Cambria Math" charset="0"/>
                  </a:rPr>
                  <a:t>6</a:t>
                </a:r>
                <a:r>
                  <a:rPr kumimoji="1" lang="zh-CN" altLang="en-US" sz="1800" dirty="0">
                    <a:latin typeface="Cambria Math" charset="0"/>
                  </a:rPr>
                  <a:t>、</a:t>
                </a:r>
                <a:r>
                  <a:rPr kumimoji="1" lang="en-US" altLang="zh-CN" sz="1800" b="1" dirty="0"/>
                  <a:t> </a:t>
                </a:r>
                <a14:m>
                  <m:oMath xmlns:m="http://schemas.openxmlformats.org/officeDocument/2006/math">
                    <m:r>
                      <a:rPr kumimoji="1" lang="en-US" altLang="zh-CN" sz="1800" b="1" i="1">
                        <a:latin typeface="Cambria Math" charset="0"/>
                      </a:rPr>
                      <m:t>𝑲</m:t>
                    </m:r>
                    <m:r>
                      <a:rPr kumimoji="1" lang="en-US" altLang="zh-CN" sz="1800" i="1" baseline="-25000">
                        <a:latin typeface="Cambria Math" charset="0"/>
                      </a:rPr>
                      <m:t>h</m:t>
                    </m:r>
                  </m:oMath>
                </a14:m>
                <a:r>
                  <a:rPr kumimoji="1" lang="zh-CN" altLang="en-US" sz="1800" dirty="0">
                    <a:latin typeface="Cambria Math" charset="0"/>
                  </a:rPr>
                  <a:t>沿</a:t>
                </a:r>
                <a:r>
                  <a:rPr kumimoji="1" lang="en-US" altLang="zh-CN" sz="1800" dirty="0">
                    <a:latin typeface="Cambria Math" charset="0"/>
                  </a:rPr>
                  <a:t>(</a:t>
                </a:r>
                <a14:m>
                  <m:oMath xmlns:m="http://schemas.openxmlformats.org/officeDocument/2006/math">
                    <m:r>
                      <a:rPr kumimoji="1" lang="en-US" altLang="zh-CN" sz="1800" i="1">
                        <a:latin typeface="Cambria Math" charset="0"/>
                      </a:rPr>
                      <m:t>h</m:t>
                    </m:r>
                    <m:r>
                      <a:rPr kumimoji="1" lang="en-US" altLang="zh-CN" sz="1800" i="1">
                        <a:latin typeface="Cambria Math" panose="02040503050406030204" pitchFamily="18" charset="0"/>
                      </a:rPr>
                      <m:t>𝑘𝑙</m:t>
                    </m:r>
                  </m:oMath>
                </a14:m>
                <a:r>
                  <a:rPr kumimoji="1" lang="en-US" altLang="zh-CN" sz="1800" dirty="0">
                    <a:latin typeface="Cambria Math" charset="0"/>
                  </a:rPr>
                  <a:t>)</a:t>
                </a:r>
                <a:r>
                  <a:rPr kumimoji="1" lang="zh-CN" altLang="en-US" sz="1800" dirty="0">
                    <a:latin typeface="Cambria Math" charset="0"/>
                  </a:rPr>
                  <a:t>晶面族法线</a:t>
                </a:r>
                <a:r>
                  <a:rPr kumimoji="1" lang="zh-CN" altLang="en-US" sz="1800" dirty="0" smtClean="0">
                    <a:latin typeface="Cambria Math" charset="0"/>
                  </a:rPr>
                  <a:t>方向</a:t>
                </a:r>
                <a:r>
                  <a:rPr kumimoji="1" lang="en-US" altLang="zh-CN" sz="1800" dirty="0" smtClean="0">
                    <a:latin typeface="Cambria Math" charset="0"/>
                  </a:rPr>
                  <a:t>,</a:t>
                </a:r>
                <a:r>
                  <a:rPr kumimoji="1" lang="zh-CN" altLang="en-US" sz="1800" dirty="0"/>
                  <a:t>且</a:t>
                </a:r>
                <a14:m>
                  <m:oMath xmlns:m="http://schemas.openxmlformats.org/officeDocument/2006/math">
                    <m:d>
                      <m:dPr>
                        <m:begChr m:val="|"/>
                        <m:endChr m:val="|"/>
                        <m:ctrlPr>
                          <a:rPr kumimoji="1" lang="en-US" altLang="zh-CN" sz="1800" i="1">
                            <a:latin typeface="Cambria Math" charset="0"/>
                          </a:rPr>
                        </m:ctrlPr>
                      </m:dPr>
                      <m:e>
                        <m:sSub>
                          <m:sSubPr>
                            <m:ctrlPr>
                              <a:rPr kumimoji="1" lang="en-US" altLang="zh-CN" sz="1800" i="1">
                                <a:latin typeface="Cambria Math" charset="0"/>
                              </a:rPr>
                            </m:ctrlPr>
                          </m:sSubPr>
                          <m:e>
                            <m:r>
                              <a:rPr kumimoji="1" lang="en-US" altLang="zh-CN" sz="1800" i="1">
                                <a:latin typeface="Cambria Math" panose="02040503050406030204" pitchFamily="18" charset="0"/>
                              </a:rPr>
                              <m:t>𝐾</m:t>
                            </m:r>
                          </m:e>
                          <m:sub>
                            <m:r>
                              <a:rPr kumimoji="1" lang="en-US" altLang="zh-CN" sz="1800" i="1">
                                <a:latin typeface="Cambria Math" panose="02040503050406030204" pitchFamily="18" charset="0"/>
                              </a:rPr>
                              <m:t>h</m:t>
                            </m:r>
                          </m:sub>
                        </m:sSub>
                      </m:e>
                    </m:d>
                    <m:r>
                      <a:rPr kumimoji="1" lang="en-US" altLang="zh-CN" sz="1800" i="1">
                        <a:latin typeface="Cambria Math" panose="02040503050406030204" pitchFamily="18" charset="0"/>
                      </a:rPr>
                      <m:t>=</m:t>
                    </m:r>
                    <m:f>
                      <m:fPr>
                        <m:ctrlPr>
                          <a:rPr kumimoji="1" lang="en-US" altLang="zh-CN" sz="1800" i="1">
                            <a:latin typeface="Cambria Math" charset="0"/>
                          </a:rPr>
                        </m:ctrlPr>
                      </m:fPr>
                      <m:num>
                        <m:r>
                          <a:rPr kumimoji="1" lang="en-US" altLang="zh-CN" sz="1800" i="1">
                            <a:latin typeface="Cambria Math" panose="02040503050406030204" pitchFamily="18" charset="0"/>
                          </a:rPr>
                          <m:t>2</m:t>
                        </m:r>
                        <m:r>
                          <a:rPr kumimoji="1" lang="en-US" altLang="zh-CN" sz="1800" i="1">
                            <a:latin typeface="Cambria Math" panose="02040503050406030204" pitchFamily="18" charset="0"/>
                            <a:sym typeface="Symbol" panose="05050102010706020507" pitchFamily="18" charset="2"/>
                          </a:rPr>
                          <m:t></m:t>
                        </m:r>
                      </m:num>
                      <m:den>
                        <m:sSub>
                          <m:sSubPr>
                            <m:ctrlPr>
                              <a:rPr kumimoji="1" lang="en-US" altLang="zh-CN" sz="1800" i="1">
                                <a:latin typeface="Cambria Math" charset="0"/>
                              </a:rPr>
                            </m:ctrlPr>
                          </m:sSubPr>
                          <m:e>
                            <m:r>
                              <a:rPr kumimoji="1" lang="en-US" altLang="zh-CN" sz="1800" i="1">
                                <a:latin typeface="Cambria Math" panose="02040503050406030204" pitchFamily="18" charset="0"/>
                              </a:rPr>
                              <m:t>𝑑</m:t>
                            </m:r>
                          </m:e>
                          <m:sub>
                            <m:r>
                              <a:rPr kumimoji="1" lang="en-US" altLang="zh-CN" sz="1800" i="1">
                                <a:latin typeface="Cambria Math" panose="02040503050406030204" pitchFamily="18" charset="0"/>
                              </a:rPr>
                              <m:t>h𝑘𝑙</m:t>
                            </m:r>
                          </m:sub>
                        </m:sSub>
                      </m:den>
                    </m:f>
                  </m:oMath>
                </a14:m>
                <a:r>
                  <a:rPr kumimoji="1" lang="en-US" altLang="zh-CN" sz="1800" dirty="0"/>
                  <a:t> </a:t>
                </a:r>
                <a:endParaRPr kumimoji="1" lang="en-US" altLang="zh-CN" sz="1800" dirty="0">
                  <a:latin typeface="Cambria Math" charset="0"/>
                </a:endParaRPr>
              </a:p>
              <a:p>
                <a:pPr marL="0" indent="0">
                  <a:buNone/>
                </a:pPr>
                <a:endParaRPr lang="zh-CN" altLang="en-US" sz="1800" dirty="0" smtClean="0"/>
              </a:p>
              <a:p>
                <a:endParaRPr kumimoji="1" lang="en-US" altLang="zh-CN" sz="1800" dirty="0" smtClean="0"/>
              </a:p>
              <a:p>
                <a:endParaRPr kumimoji="1" lang="zh-CN" altLang="en-US" sz="1800" dirty="0" smtClean="0"/>
              </a:p>
            </p:txBody>
          </p:sp>
        </mc:Choice>
        <mc:Fallback>
          <p:sp>
            <p:nvSpPr>
              <p:cNvPr id="3" name="副标题 2"/>
              <p:cNvSpPr txBox="1">
                <a:spLocks noRot="1" noChangeAspect="1" noMove="1" noResize="1" noEditPoints="1" noAdjustHandles="1" noChangeArrowheads="1" noChangeShapeType="1" noTextEdit="1"/>
              </p:cNvSpPr>
              <p:nvPr/>
            </p:nvSpPr>
            <p:spPr>
              <a:xfrm>
                <a:off x="386080" y="1514350"/>
                <a:ext cx="5314927" cy="5237432"/>
              </a:xfrm>
              <a:prstGeom prst="rect">
                <a:avLst/>
              </a:prstGeom>
              <a:blipFill rotWithShape="0">
                <a:blip r:embed="rId2"/>
                <a:stretch>
                  <a:fillRect l="-1147" t="-2093"/>
                </a:stretch>
              </a:blipFill>
            </p:spPr>
            <p:txBody>
              <a:bodyPr/>
              <a:lstStyle/>
              <a:p>
                <a:r>
                  <a:rPr lang="zh-CN" altLang="en-US">
                    <a:noFill/>
                  </a:rPr>
                  <a:t> </a:t>
                </a:r>
              </a:p>
            </p:txBody>
          </p:sp>
        </mc:Fallback>
      </mc:AlternateContent>
      <p:sp>
        <p:nvSpPr>
          <p:cNvPr id="4" name="矩形 3"/>
          <p:cNvSpPr/>
          <p:nvPr/>
        </p:nvSpPr>
        <p:spPr>
          <a:xfrm>
            <a:off x="1850881" y="2257982"/>
            <a:ext cx="2854123" cy="923330"/>
          </a:xfrm>
          <a:prstGeom prst="rect">
            <a:avLst/>
          </a:prstGeom>
        </p:spPr>
        <p:txBody>
          <a:bodyPr wrap="square">
            <a:spAutoFit/>
          </a:bodyPr>
          <a:lstStyle/>
          <a:p>
            <a:r>
              <a:rPr kumimoji="1" lang="en-US" altLang="zh-CN" dirty="0"/>
              <a:t>	</a:t>
            </a:r>
            <a:r>
              <a:rPr kumimoji="1" lang="en-US" altLang="zh-CN" b="1" dirty="0" smtClean="0">
                <a:latin typeface="+mj-ea"/>
                <a:ea typeface="+mj-ea"/>
              </a:rPr>
              <a:t>a</a:t>
            </a:r>
            <a:r>
              <a:rPr kumimoji="1" lang="en-US" altLang="zh-CN" baseline="-25000" dirty="0" smtClean="0">
                <a:latin typeface="+mj-ea"/>
                <a:ea typeface="+mj-ea"/>
              </a:rPr>
              <a:t>1</a:t>
            </a:r>
            <a:r>
              <a:rPr kumimoji="1" lang="en-US" altLang="zh-CN" dirty="0" smtClean="0">
                <a:latin typeface="+mj-ea"/>
                <a:ea typeface="+mj-ea"/>
              </a:rPr>
              <a:t>=a/2</a:t>
            </a:r>
            <a:r>
              <a:rPr kumimoji="1" lang="en-US" altLang="zh-CN" b="1" dirty="0" smtClean="0">
                <a:latin typeface="+mj-ea"/>
                <a:ea typeface="+mj-ea"/>
              </a:rPr>
              <a:t> </a:t>
            </a:r>
            <a:r>
              <a:rPr kumimoji="1" lang="en-US" altLang="zh-CN" dirty="0">
                <a:latin typeface="+mj-ea"/>
                <a:ea typeface="+mj-ea"/>
              </a:rPr>
              <a:t>(</a:t>
            </a:r>
            <a:r>
              <a:rPr kumimoji="1" lang="en-US" altLang="zh-CN" b="1" dirty="0">
                <a:latin typeface="+mj-ea"/>
                <a:ea typeface="+mj-ea"/>
              </a:rPr>
              <a:t>j</a:t>
            </a:r>
            <a:r>
              <a:rPr kumimoji="1" lang="en-US" altLang="zh-CN" dirty="0" smtClean="0">
                <a:latin typeface="+mj-ea"/>
                <a:ea typeface="+mj-ea"/>
              </a:rPr>
              <a:t>+ </a:t>
            </a:r>
            <a:r>
              <a:rPr kumimoji="1" lang="en-US" altLang="zh-CN" b="1" dirty="0" smtClean="0">
                <a:latin typeface="+mj-ea"/>
                <a:ea typeface="+mj-ea"/>
              </a:rPr>
              <a:t>k</a:t>
            </a:r>
            <a:r>
              <a:rPr kumimoji="1" lang="en-US" altLang="zh-CN" dirty="0">
                <a:latin typeface="+mj-ea"/>
                <a:ea typeface="+mj-ea"/>
              </a:rPr>
              <a:t>)</a:t>
            </a:r>
          </a:p>
          <a:p>
            <a:r>
              <a:rPr kumimoji="1" lang="en-US" altLang="zh-CN" dirty="0">
                <a:latin typeface="+mj-ea"/>
                <a:ea typeface="+mj-ea"/>
              </a:rPr>
              <a:t>	</a:t>
            </a:r>
            <a:r>
              <a:rPr kumimoji="1" lang="en-US" altLang="zh-CN" b="1" dirty="0" smtClean="0">
                <a:latin typeface="+mj-ea"/>
                <a:ea typeface="+mj-ea"/>
              </a:rPr>
              <a:t>a</a:t>
            </a:r>
            <a:r>
              <a:rPr kumimoji="1" lang="en-US" altLang="zh-CN" baseline="-25000" dirty="0" smtClean="0">
                <a:latin typeface="+mj-ea"/>
                <a:ea typeface="+mj-ea"/>
              </a:rPr>
              <a:t>2</a:t>
            </a:r>
            <a:r>
              <a:rPr kumimoji="1" lang="en-US" altLang="zh-CN" dirty="0" smtClean="0">
                <a:latin typeface="+mj-ea"/>
                <a:ea typeface="+mj-ea"/>
              </a:rPr>
              <a:t>=a/2(</a:t>
            </a:r>
            <a:r>
              <a:rPr kumimoji="1" lang="en-US" altLang="zh-CN" b="1" dirty="0" smtClean="0">
                <a:latin typeface="+mj-ea"/>
                <a:ea typeface="+mj-ea"/>
              </a:rPr>
              <a:t>k </a:t>
            </a:r>
            <a:r>
              <a:rPr kumimoji="1" lang="en-US" altLang="zh-CN" dirty="0" smtClean="0">
                <a:latin typeface="+mj-ea"/>
                <a:ea typeface="+mj-ea"/>
              </a:rPr>
              <a:t>+ </a:t>
            </a:r>
            <a:r>
              <a:rPr kumimoji="1" lang="en-US" altLang="zh-CN" b="1" dirty="0" err="1" smtClean="0">
                <a:latin typeface="+mj-ea"/>
                <a:ea typeface="+mj-ea"/>
              </a:rPr>
              <a:t>i</a:t>
            </a:r>
            <a:r>
              <a:rPr kumimoji="1" lang="en-US" altLang="zh-CN" dirty="0">
                <a:latin typeface="+mj-ea"/>
                <a:ea typeface="+mj-ea"/>
              </a:rPr>
              <a:t>)</a:t>
            </a:r>
          </a:p>
          <a:p>
            <a:r>
              <a:rPr kumimoji="1" lang="en-US" altLang="zh-CN" dirty="0">
                <a:latin typeface="+mj-ea"/>
                <a:ea typeface="+mj-ea"/>
              </a:rPr>
              <a:t>	</a:t>
            </a:r>
            <a:r>
              <a:rPr kumimoji="1" lang="en-US" altLang="zh-CN" b="1" dirty="0" smtClean="0">
                <a:latin typeface="+mj-ea"/>
                <a:ea typeface="+mj-ea"/>
              </a:rPr>
              <a:t>a</a:t>
            </a:r>
            <a:r>
              <a:rPr kumimoji="1" lang="en-US" altLang="zh-CN" baseline="-25000" dirty="0" smtClean="0">
                <a:latin typeface="+mj-ea"/>
                <a:ea typeface="+mj-ea"/>
              </a:rPr>
              <a:t>3</a:t>
            </a:r>
            <a:r>
              <a:rPr kumimoji="1" lang="en-US" altLang="zh-CN" dirty="0" smtClean="0">
                <a:latin typeface="+mj-ea"/>
                <a:ea typeface="+mj-ea"/>
              </a:rPr>
              <a:t>=a/2(</a:t>
            </a:r>
            <a:r>
              <a:rPr kumimoji="1" lang="en-US" altLang="zh-CN" b="1" dirty="0" err="1" smtClean="0">
                <a:latin typeface="+mj-ea"/>
                <a:ea typeface="+mj-ea"/>
              </a:rPr>
              <a:t>i</a:t>
            </a:r>
            <a:r>
              <a:rPr kumimoji="1" lang="en-US" altLang="zh-CN" b="1" dirty="0" smtClean="0">
                <a:latin typeface="+mj-ea"/>
                <a:ea typeface="+mj-ea"/>
              </a:rPr>
              <a:t> </a:t>
            </a:r>
            <a:r>
              <a:rPr kumimoji="1" lang="en-US" altLang="zh-CN" dirty="0" smtClean="0">
                <a:latin typeface="+mj-ea"/>
                <a:ea typeface="+mj-ea"/>
              </a:rPr>
              <a:t>+ </a:t>
            </a:r>
            <a:r>
              <a:rPr kumimoji="1" lang="en-US" altLang="zh-CN" b="1" dirty="0" smtClean="0">
                <a:latin typeface="+mj-ea"/>
                <a:ea typeface="+mj-ea"/>
              </a:rPr>
              <a:t>j</a:t>
            </a:r>
            <a:r>
              <a:rPr kumimoji="1" lang="en-US" altLang="zh-CN" dirty="0">
                <a:latin typeface="+mj-ea"/>
                <a:ea typeface="+mj-ea"/>
              </a:rPr>
              <a:t>)</a:t>
            </a:r>
          </a:p>
        </p:txBody>
      </p:sp>
      <p:sp>
        <p:nvSpPr>
          <p:cNvPr id="5" name="矩形 4"/>
          <p:cNvSpPr/>
          <p:nvPr/>
        </p:nvSpPr>
        <p:spPr>
          <a:xfrm>
            <a:off x="2532935" y="3488896"/>
            <a:ext cx="3651734" cy="1200329"/>
          </a:xfrm>
          <a:prstGeom prst="rect">
            <a:avLst/>
          </a:prstGeom>
        </p:spPr>
        <p:txBody>
          <a:bodyPr wrap="square">
            <a:spAutoFit/>
          </a:bodyPr>
          <a:lstStyle/>
          <a:p>
            <a:r>
              <a:rPr kumimoji="1" lang="en-US" altLang="zh-CN" b="1" dirty="0" smtClean="0">
                <a:latin typeface="+mj-ea"/>
                <a:ea typeface="+mj-ea"/>
              </a:rPr>
              <a:t>b</a:t>
            </a:r>
            <a:r>
              <a:rPr kumimoji="1" lang="en-US" altLang="zh-CN" baseline="-25000" dirty="0" smtClean="0">
                <a:latin typeface="+mj-ea"/>
                <a:ea typeface="+mj-ea"/>
              </a:rPr>
              <a:t>1</a:t>
            </a:r>
            <a:r>
              <a:rPr kumimoji="1" lang="en-US" altLang="zh-CN" dirty="0" smtClean="0">
                <a:latin typeface="+mj-ea"/>
                <a:ea typeface="+mj-ea"/>
              </a:rPr>
              <a:t>=2</a:t>
            </a:r>
            <a:r>
              <a:rPr kumimoji="1" lang="en-US" altLang="zh-CN" dirty="0" smtClean="0">
                <a:latin typeface="+mj-ea"/>
                <a:ea typeface="+mj-ea"/>
                <a:sym typeface="Symbol" panose="05050102010706020507" pitchFamily="18" charset="2"/>
              </a:rPr>
              <a:t></a:t>
            </a:r>
            <a:r>
              <a:rPr kumimoji="1" lang="en-US" altLang="zh-CN" dirty="0" smtClean="0">
                <a:latin typeface="+mj-ea"/>
                <a:ea typeface="+mj-ea"/>
              </a:rPr>
              <a:t>/a(-</a:t>
            </a:r>
            <a:r>
              <a:rPr kumimoji="1" lang="en-US" altLang="zh-CN" b="1" dirty="0" err="1" smtClean="0">
                <a:latin typeface="+mj-ea"/>
                <a:ea typeface="+mj-ea"/>
              </a:rPr>
              <a:t>i</a:t>
            </a:r>
            <a:r>
              <a:rPr kumimoji="1" lang="en-US" altLang="zh-CN" b="1" dirty="0" smtClean="0">
                <a:latin typeface="+mj-ea"/>
                <a:ea typeface="+mj-ea"/>
              </a:rPr>
              <a:t> </a:t>
            </a:r>
            <a:r>
              <a:rPr kumimoji="1" lang="en-US" altLang="zh-CN" dirty="0" smtClean="0">
                <a:latin typeface="+mj-ea"/>
                <a:ea typeface="+mj-ea"/>
              </a:rPr>
              <a:t>+ </a:t>
            </a:r>
            <a:r>
              <a:rPr kumimoji="1" lang="en-US" altLang="zh-CN" b="1" dirty="0" smtClean="0">
                <a:latin typeface="+mj-ea"/>
                <a:ea typeface="+mj-ea"/>
              </a:rPr>
              <a:t>j </a:t>
            </a:r>
            <a:r>
              <a:rPr kumimoji="1" lang="en-US" altLang="zh-CN" dirty="0" smtClean="0">
                <a:latin typeface="+mj-ea"/>
                <a:ea typeface="+mj-ea"/>
              </a:rPr>
              <a:t>+ </a:t>
            </a:r>
            <a:r>
              <a:rPr kumimoji="1" lang="en-US" altLang="zh-CN" b="1" dirty="0" smtClean="0">
                <a:latin typeface="+mj-ea"/>
                <a:ea typeface="+mj-ea"/>
              </a:rPr>
              <a:t>k</a:t>
            </a:r>
            <a:r>
              <a:rPr kumimoji="1" lang="en-US" altLang="zh-CN" dirty="0">
                <a:latin typeface="+mj-ea"/>
                <a:ea typeface="+mj-ea"/>
              </a:rPr>
              <a:t>)</a:t>
            </a:r>
          </a:p>
          <a:p>
            <a:r>
              <a:rPr kumimoji="1" lang="en-US" altLang="zh-CN" b="1" dirty="0" smtClean="0">
                <a:latin typeface="+mj-ea"/>
                <a:ea typeface="+mj-ea"/>
              </a:rPr>
              <a:t>b</a:t>
            </a:r>
            <a:r>
              <a:rPr kumimoji="1" lang="en-US" altLang="zh-CN" baseline="-25000" dirty="0" smtClean="0">
                <a:latin typeface="+mj-ea"/>
                <a:ea typeface="+mj-ea"/>
              </a:rPr>
              <a:t>2</a:t>
            </a:r>
            <a:r>
              <a:rPr kumimoji="1" lang="en-US" altLang="zh-CN" dirty="0" smtClean="0">
                <a:latin typeface="+mj-ea"/>
                <a:ea typeface="+mj-ea"/>
              </a:rPr>
              <a:t>=2</a:t>
            </a:r>
            <a:r>
              <a:rPr kumimoji="1" lang="en-US" altLang="zh-CN" dirty="0">
                <a:latin typeface="+mj-ea"/>
                <a:ea typeface="+mj-ea"/>
                <a:sym typeface="Symbol" panose="05050102010706020507" pitchFamily="18" charset="2"/>
              </a:rPr>
              <a:t></a:t>
            </a:r>
            <a:r>
              <a:rPr kumimoji="1" lang="en-US" altLang="zh-CN" dirty="0" smtClean="0">
                <a:latin typeface="+mj-ea"/>
                <a:ea typeface="+mj-ea"/>
              </a:rPr>
              <a:t>/a(</a:t>
            </a:r>
            <a:r>
              <a:rPr kumimoji="1" lang="en-US" altLang="zh-CN" b="1" dirty="0" err="1" smtClean="0">
                <a:latin typeface="+mj-ea"/>
                <a:ea typeface="+mj-ea"/>
              </a:rPr>
              <a:t>i</a:t>
            </a:r>
            <a:r>
              <a:rPr kumimoji="1" lang="en-US" altLang="zh-CN" b="1" dirty="0" smtClean="0">
                <a:latin typeface="+mj-ea"/>
                <a:ea typeface="+mj-ea"/>
              </a:rPr>
              <a:t> – j </a:t>
            </a:r>
            <a:r>
              <a:rPr kumimoji="1" lang="en-US" altLang="zh-CN" dirty="0" smtClean="0">
                <a:latin typeface="+mj-ea"/>
                <a:ea typeface="+mj-ea"/>
              </a:rPr>
              <a:t>+ </a:t>
            </a:r>
            <a:r>
              <a:rPr kumimoji="1" lang="en-US" altLang="zh-CN" b="1" dirty="0" smtClean="0">
                <a:latin typeface="+mj-ea"/>
                <a:ea typeface="+mj-ea"/>
              </a:rPr>
              <a:t>k</a:t>
            </a:r>
            <a:r>
              <a:rPr kumimoji="1" lang="en-US" altLang="zh-CN" dirty="0" smtClean="0">
                <a:latin typeface="+mj-ea"/>
                <a:ea typeface="+mj-ea"/>
              </a:rPr>
              <a:t>)</a:t>
            </a:r>
            <a:endParaRPr kumimoji="1" lang="en-US" altLang="zh-CN" dirty="0">
              <a:latin typeface="+mj-ea"/>
              <a:ea typeface="+mj-ea"/>
            </a:endParaRPr>
          </a:p>
          <a:p>
            <a:r>
              <a:rPr kumimoji="1" lang="en-US" altLang="zh-CN" b="1" dirty="0" smtClean="0">
                <a:latin typeface="+mj-ea"/>
                <a:ea typeface="+mj-ea"/>
              </a:rPr>
              <a:t>b</a:t>
            </a:r>
            <a:r>
              <a:rPr kumimoji="1" lang="en-US" altLang="zh-CN" baseline="-25000" dirty="0" smtClean="0">
                <a:latin typeface="+mj-ea"/>
                <a:ea typeface="+mj-ea"/>
              </a:rPr>
              <a:t>3</a:t>
            </a:r>
            <a:r>
              <a:rPr kumimoji="1" lang="en-US" altLang="zh-CN" dirty="0" smtClean="0">
                <a:latin typeface="+mj-ea"/>
                <a:ea typeface="+mj-ea"/>
              </a:rPr>
              <a:t>=2</a:t>
            </a:r>
            <a:r>
              <a:rPr kumimoji="1" lang="en-US" altLang="zh-CN" dirty="0">
                <a:latin typeface="+mj-ea"/>
                <a:ea typeface="+mj-ea"/>
                <a:sym typeface="Symbol" panose="05050102010706020507" pitchFamily="18" charset="2"/>
              </a:rPr>
              <a:t></a:t>
            </a:r>
            <a:r>
              <a:rPr kumimoji="1" lang="en-US" altLang="zh-CN" dirty="0">
                <a:latin typeface="+mj-ea"/>
                <a:ea typeface="+mj-ea"/>
              </a:rPr>
              <a:t>/</a:t>
            </a:r>
            <a:r>
              <a:rPr kumimoji="1" lang="en-US" altLang="zh-CN" dirty="0" smtClean="0">
                <a:latin typeface="+mj-ea"/>
                <a:ea typeface="+mj-ea"/>
              </a:rPr>
              <a:t>a(</a:t>
            </a:r>
            <a:r>
              <a:rPr kumimoji="1" lang="en-US" altLang="zh-CN" b="1" dirty="0" err="1" smtClean="0">
                <a:latin typeface="+mj-ea"/>
                <a:ea typeface="+mj-ea"/>
              </a:rPr>
              <a:t>i</a:t>
            </a:r>
            <a:r>
              <a:rPr kumimoji="1" lang="en-US" altLang="zh-CN" b="1" dirty="0" smtClean="0">
                <a:latin typeface="+mj-ea"/>
                <a:ea typeface="+mj-ea"/>
              </a:rPr>
              <a:t> + j </a:t>
            </a:r>
            <a:r>
              <a:rPr kumimoji="1" lang="en-US" altLang="zh-CN" dirty="0" smtClean="0">
                <a:latin typeface="+mj-ea"/>
                <a:ea typeface="+mj-ea"/>
              </a:rPr>
              <a:t>- </a:t>
            </a:r>
            <a:r>
              <a:rPr kumimoji="1" lang="en-US" altLang="zh-CN" b="1" dirty="0" smtClean="0">
                <a:latin typeface="+mj-ea"/>
                <a:ea typeface="+mj-ea"/>
              </a:rPr>
              <a:t>k</a:t>
            </a:r>
            <a:r>
              <a:rPr kumimoji="1" lang="en-US" altLang="zh-CN" dirty="0">
                <a:latin typeface="+mj-ea"/>
                <a:ea typeface="+mj-ea"/>
              </a:rPr>
              <a:t>)</a:t>
            </a:r>
          </a:p>
          <a:p>
            <a:endParaRPr kumimoji="1" lang="en-US" altLang="zh-CN" dirty="0">
              <a:latin typeface="+mj-ea"/>
              <a:ea typeface="+mj-ea"/>
            </a:endParaRPr>
          </a:p>
        </p:txBody>
      </p:sp>
      <p:pic>
        <p:nvPicPr>
          <p:cNvPr id="6" name="图片 5"/>
          <p:cNvPicPr>
            <a:picLocks noChangeAspect="1"/>
          </p:cNvPicPr>
          <p:nvPr/>
        </p:nvPicPr>
        <p:blipFill rotWithShape="1">
          <a:blip r:embed="rId3"/>
          <a:srcRect l="3153" t="3809" r="4310" b="5402"/>
          <a:stretch/>
        </p:blipFill>
        <p:spPr>
          <a:xfrm>
            <a:off x="6096000" y="3556000"/>
            <a:ext cx="5357091" cy="3195782"/>
          </a:xfrm>
          <a:prstGeom prst="rect">
            <a:avLst/>
          </a:prstGeom>
        </p:spPr>
      </p:pic>
      <p:pic>
        <p:nvPicPr>
          <p:cNvPr id="7" name="图片 6"/>
          <p:cNvPicPr>
            <a:picLocks noChangeAspect="1"/>
          </p:cNvPicPr>
          <p:nvPr/>
        </p:nvPicPr>
        <p:blipFill rotWithShape="1">
          <a:blip r:embed="rId4"/>
          <a:srcRect l="20967" t="13946" r="12498" b="12529"/>
          <a:stretch/>
        </p:blipFill>
        <p:spPr>
          <a:xfrm>
            <a:off x="8981209" y="1330036"/>
            <a:ext cx="2450285" cy="2138430"/>
          </a:xfrm>
          <a:prstGeom prst="rect">
            <a:avLst/>
          </a:prstGeom>
        </p:spPr>
      </p:pic>
      <p:pic>
        <p:nvPicPr>
          <p:cNvPr id="8" name="图片 7"/>
          <p:cNvPicPr>
            <a:picLocks noChangeAspect="1"/>
          </p:cNvPicPr>
          <p:nvPr/>
        </p:nvPicPr>
        <p:blipFill rotWithShape="1">
          <a:blip r:embed="rId5"/>
          <a:srcRect l="7958" t="2896"/>
          <a:stretch/>
        </p:blipFill>
        <p:spPr>
          <a:xfrm>
            <a:off x="6096007" y="1330036"/>
            <a:ext cx="2670391" cy="2138430"/>
          </a:xfrm>
          <a:prstGeom prst="rect">
            <a:avLst/>
          </a:prstGeom>
        </p:spPr>
      </p:pic>
      <p:sp>
        <p:nvSpPr>
          <p:cNvPr id="9" name="矩形 8"/>
          <p:cNvSpPr/>
          <p:nvPr/>
        </p:nvSpPr>
        <p:spPr>
          <a:xfrm>
            <a:off x="6040584" y="1060413"/>
            <a:ext cx="1107996" cy="369332"/>
          </a:xfrm>
          <a:prstGeom prst="rect">
            <a:avLst/>
          </a:prstGeom>
        </p:spPr>
        <p:txBody>
          <a:bodyPr wrap="none">
            <a:spAutoFit/>
          </a:bodyPr>
          <a:lstStyle/>
          <a:p>
            <a:r>
              <a:rPr kumimoji="1" lang="zh-CN" altLang="en-US" dirty="0"/>
              <a:t>面心立方</a:t>
            </a:r>
            <a:endParaRPr lang="zh-CN" altLang="en-US" dirty="0"/>
          </a:p>
        </p:txBody>
      </p:sp>
      <p:sp>
        <p:nvSpPr>
          <p:cNvPr id="10" name="矩形 9"/>
          <p:cNvSpPr/>
          <p:nvPr/>
        </p:nvSpPr>
        <p:spPr>
          <a:xfrm>
            <a:off x="8899241" y="1046565"/>
            <a:ext cx="1107996" cy="369332"/>
          </a:xfrm>
          <a:prstGeom prst="rect">
            <a:avLst/>
          </a:prstGeom>
        </p:spPr>
        <p:txBody>
          <a:bodyPr wrap="none">
            <a:spAutoFit/>
          </a:bodyPr>
          <a:lstStyle/>
          <a:p>
            <a:r>
              <a:rPr kumimoji="1" lang="zh-CN" altLang="en-US" dirty="0"/>
              <a:t>体</a:t>
            </a:r>
            <a:r>
              <a:rPr kumimoji="1" lang="zh-CN" altLang="en-US" dirty="0" smtClean="0"/>
              <a:t>心</a:t>
            </a:r>
            <a:r>
              <a:rPr kumimoji="1" lang="zh-CN" altLang="en-US" dirty="0"/>
              <a:t>立方</a:t>
            </a:r>
            <a:endParaRPr lang="zh-CN" altLang="en-US" dirty="0"/>
          </a:p>
        </p:txBody>
      </p:sp>
    </p:spTree>
    <p:extLst>
      <p:ext uri="{BB962C8B-B14F-4D97-AF65-F5344CB8AC3E}">
        <p14:creationId xmlns:p14="http://schemas.microsoft.com/office/powerpoint/2010/main" val="171267035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49536" y="484509"/>
            <a:ext cx="5228704" cy="584775"/>
          </a:xfrm>
          <a:prstGeom prst="rect">
            <a:avLst/>
          </a:prstGeom>
        </p:spPr>
        <p:txBody>
          <a:bodyPr wrap="square">
            <a:spAutoFit/>
          </a:bodyPr>
          <a:lstStyle/>
          <a:p>
            <a:r>
              <a:rPr kumimoji="1" lang="zh-CN" altLang="en-US" sz="3200" dirty="0" smtClean="0"/>
              <a:t>第二章 晶体中的衍射</a:t>
            </a:r>
            <a:endParaRPr lang="zh-CN" altLang="en-US" sz="3200" dirty="0"/>
          </a:p>
        </p:txBody>
      </p:sp>
      <mc:AlternateContent xmlns:mc="http://schemas.openxmlformats.org/markup-compatibility/2006" xmlns:a14="http://schemas.microsoft.com/office/drawing/2010/main">
        <mc:Choice Requires="a14">
          <p:sp>
            <p:nvSpPr>
              <p:cNvPr id="11" name="副标题 2"/>
              <p:cNvSpPr txBox="1">
                <a:spLocks/>
              </p:cNvSpPr>
              <p:nvPr/>
            </p:nvSpPr>
            <p:spPr>
              <a:xfrm>
                <a:off x="509666" y="1602017"/>
                <a:ext cx="11167672" cy="493369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en-US" altLang="zh-CN" dirty="0" smtClean="0">
                    <a:solidFill>
                      <a:schemeClr val="tx1"/>
                    </a:solidFill>
                  </a:rPr>
                  <a:t>§2.3</a:t>
                </a:r>
                <a:r>
                  <a:rPr kumimoji="1" lang="zh-CN" altLang="en-US" dirty="0" smtClean="0">
                    <a:solidFill>
                      <a:schemeClr val="tx1"/>
                    </a:solidFill>
                  </a:rPr>
                  <a:t> 晶体的衍射条件</a:t>
                </a:r>
                <a:endParaRPr kumimoji="1" lang="en-US" altLang="zh-CN" dirty="0" smtClean="0">
                  <a:solidFill>
                    <a:schemeClr val="tx1"/>
                  </a:solidFill>
                </a:endParaRPr>
              </a:p>
              <a:p>
                <a:pPr marL="0" indent="0">
                  <a:buNone/>
                </a:pPr>
                <a:r>
                  <a:rPr kumimoji="1" lang="en-US" altLang="zh-CN" dirty="0" smtClean="0">
                    <a:solidFill>
                      <a:schemeClr val="tx1"/>
                    </a:solidFill>
                  </a:rPr>
                  <a:t>2.3.1</a:t>
                </a:r>
                <a:r>
                  <a:rPr kumimoji="1" lang="zh-CN" altLang="en-US" dirty="0" smtClean="0">
                    <a:solidFill>
                      <a:schemeClr val="tx1"/>
                    </a:solidFill>
                  </a:rPr>
                  <a:t> 劳厄方程</a:t>
                </a:r>
              </a:p>
              <a:p>
                <a:pPr marL="0" indent="0">
                  <a:buNone/>
                </a:pPr>
                <a:r>
                  <a:rPr kumimoji="1" lang="zh-CN" altLang="en-US" sz="2400" dirty="0" smtClean="0">
                    <a:solidFill>
                      <a:schemeClr val="tx1"/>
                    </a:solidFill>
                  </a:rPr>
                  <a:t>方程 </a:t>
                </a:r>
                <a14:m>
                  <m:oMath xmlns:m="http://schemas.openxmlformats.org/officeDocument/2006/math">
                    <m:r>
                      <a:rPr kumimoji="1" lang="en-US" altLang="zh-CN" sz="2400" i="1">
                        <a:solidFill>
                          <a:schemeClr val="tx1"/>
                        </a:solidFill>
                        <a:latin typeface="Cambria Math" charset="0"/>
                      </a:rPr>
                      <m:t>𝐴</m:t>
                    </m:r>
                    <m:d>
                      <m:dPr>
                        <m:ctrlPr>
                          <a:rPr kumimoji="1" lang="en-US" altLang="zh-CN" sz="2400" i="1">
                            <a:solidFill>
                              <a:schemeClr val="tx1"/>
                            </a:solidFill>
                            <a:latin typeface="Cambria Math" charset="0"/>
                          </a:rPr>
                        </m:ctrlPr>
                      </m:dPr>
                      <m:e>
                        <m:r>
                          <a:rPr kumimoji="1" lang="en-US" altLang="zh-CN" sz="2400" b="1" i="1">
                            <a:solidFill>
                              <a:schemeClr val="tx1"/>
                            </a:solidFill>
                            <a:latin typeface="Cambria Math" charset="0"/>
                          </a:rPr>
                          <m:t>𝒌</m:t>
                        </m:r>
                      </m:e>
                    </m:d>
                    <m:r>
                      <a:rPr kumimoji="1" lang="en-US" altLang="zh-CN" sz="2400" i="1">
                        <a:solidFill>
                          <a:schemeClr val="tx1"/>
                        </a:solidFill>
                        <a:latin typeface="Cambria Math" charset="0"/>
                      </a:rPr>
                      <m:t>=</m:t>
                    </m:r>
                    <m:nary>
                      <m:naryPr>
                        <m:chr m:val="∑"/>
                        <m:ctrlPr>
                          <a:rPr kumimoji="1" lang="is-IS" altLang="zh-CN" sz="2400" i="1">
                            <a:solidFill>
                              <a:schemeClr val="tx1"/>
                            </a:solidFill>
                            <a:latin typeface="Cambria Math" charset="0"/>
                          </a:rPr>
                        </m:ctrlPr>
                      </m:naryPr>
                      <m:sub>
                        <m:r>
                          <m:rPr>
                            <m:brk m:alnAt="23"/>
                          </m:rPr>
                          <a:rPr kumimoji="1" lang="en-US" altLang="zh-CN" sz="2400" i="1">
                            <a:solidFill>
                              <a:schemeClr val="tx1"/>
                            </a:solidFill>
                            <a:latin typeface="Cambria Math" charset="0"/>
                          </a:rPr>
                          <m:t>𝑗</m:t>
                        </m:r>
                        <m:r>
                          <a:rPr kumimoji="1" lang="en-US" altLang="zh-CN" sz="2400" i="1">
                            <a:solidFill>
                              <a:schemeClr val="tx1"/>
                            </a:solidFill>
                            <a:latin typeface="Cambria Math" charset="0"/>
                          </a:rPr>
                          <m:t>=1</m:t>
                        </m:r>
                      </m:sub>
                      <m:sup>
                        <m:r>
                          <a:rPr kumimoji="1" lang="en-US" altLang="zh-CN" sz="2400" i="1">
                            <a:solidFill>
                              <a:schemeClr val="tx1"/>
                            </a:solidFill>
                            <a:latin typeface="Cambria Math" charset="0"/>
                          </a:rPr>
                          <m:t>𝑁</m:t>
                        </m:r>
                      </m:sup>
                      <m:e>
                        <m:r>
                          <a:rPr kumimoji="1" lang="en-US" altLang="zh-CN" sz="2400" i="1">
                            <a:solidFill>
                              <a:schemeClr val="tx1"/>
                            </a:solidFill>
                            <a:latin typeface="Cambria Math" charset="0"/>
                          </a:rPr>
                          <m:t>𝑎</m:t>
                        </m:r>
                        <m:r>
                          <a:rPr kumimoji="1" lang="en-US" altLang="zh-CN" sz="2400" i="1" baseline="-25000">
                            <a:solidFill>
                              <a:schemeClr val="tx1"/>
                            </a:solidFill>
                            <a:latin typeface="Cambria Math" charset="0"/>
                          </a:rPr>
                          <m:t>𝑗</m:t>
                        </m:r>
                        <m:sSup>
                          <m:sSupPr>
                            <m:ctrlPr>
                              <a:rPr kumimoji="1" lang="el-GR" altLang="zh-CN" sz="2400" i="1">
                                <a:solidFill>
                                  <a:schemeClr val="tx1"/>
                                </a:solidFill>
                                <a:latin typeface="Cambria Math" charset="0"/>
                              </a:rPr>
                            </m:ctrlPr>
                          </m:sSupPr>
                          <m:e>
                            <m:r>
                              <a:rPr kumimoji="1" lang="el-GR" altLang="zh-CN" sz="2400" i="1">
                                <a:solidFill>
                                  <a:schemeClr val="tx1"/>
                                </a:solidFill>
                                <a:latin typeface="Cambria Math" charset="0"/>
                              </a:rPr>
                              <m:t>𝑒</m:t>
                            </m:r>
                          </m:e>
                          <m:sup>
                            <m:r>
                              <a:rPr kumimoji="1" lang="el-GR" altLang="zh-CN" sz="2400" i="1">
                                <a:solidFill>
                                  <a:schemeClr val="tx1"/>
                                </a:solidFill>
                                <a:latin typeface="Cambria Math" charset="0"/>
                              </a:rPr>
                              <m:t>𝑖</m:t>
                            </m:r>
                            <m:r>
                              <a:rPr kumimoji="1" lang="en-US" altLang="zh-CN" sz="2400" i="1">
                                <a:solidFill>
                                  <a:schemeClr val="tx1"/>
                                </a:solidFill>
                                <a:latin typeface="Cambria Math" charset="0"/>
                              </a:rPr>
                              <m:t>(</m:t>
                            </m:r>
                            <m:r>
                              <a:rPr kumimoji="1" lang="en-US" altLang="zh-CN" sz="2400" b="1" i="1">
                                <a:solidFill>
                                  <a:schemeClr val="tx1"/>
                                </a:solidFill>
                                <a:latin typeface="Cambria Math" charset="0"/>
                              </a:rPr>
                              <m:t>𝒌</m:t>
                            </m:r>
                            <m:r>
                              <a:rPr kumimoji="1" lang="en-US" altLang="zh-CN" sz="2400" b="1" i="1">
                                <a:solidFill>
                                  <a:schemeClr val="tx1"/>
                                </a:solidFill>
                                <a:latin typeface="Cambria Math" charset="0"/>
                              </a:rPr>
                              <m:t>−</m:t>
                            </m:r>
                            <m:r>
                              <a:rPr kumimoji="1" lang="en-US" altLang="zh-CN" sz="2400" b="1" i="1">
                                <a:solidFill>
                                  <a:schemeClr val="tx1"/>
                                </a:solidFill>
                                <a:latin typeface="Cambria Math" charset="0"/>
                              </a:rPr>
                              <m:t>𝒌</m:t>
                            </m:r>
                            <m:r>
                              <a:rPr kumimoji="1" lang="en-US" altLang="zh-CN" sz="2400" i="1" baseline="-25000">
                                <a:solidFill>
                                  <a:schemeClr val="tx1"/>
                                </a:solidFill>
                                <a:latin typeface="Cambria Math" charset="0"/>
                              </a:rPr>
                              <m:t>0</m:t>
                            </m:r>
                            <m:r>
                              <a:rPr kumimoji="1" lang="en-US" altLang="zh-CN" sz="2400" i="1">
                                <a:solidFill>
                                  <a:schemeClr val="tx1"/>
                                </a:solidFill>
                                <a:latin typeface="Cambria Math" charset="0"/>
                              </a:rPr>
                              <m:t>)</m:t>
                            </m:r>
                            <m:r>
                              <a:rPr kumimoji="1" lang="en-US" altLang="zh-CN" sz="2400" i="1">
                                <a:solidFill>
                                  <a:schemeClr val="tx1"/>
                                </a:solidFill>
                                <a:latin typeface="Cambria Math" charset="0"/>
                                <a:ea typeface="Cambria Math" charset="0"/>
                                <a:cs typeface="Cambria Math" charset="0"/>
                              </a:rPr>
                              <m:t>∙</m:t>
                            </m:r>
                            <m:r>
                              <a:rPr kumimoji="1" lang="en-US" altLang="zh-CN" sz="2400" b="1" i="1">
                                <a:solidFill>
                                  <a:schemeClr val="tx1"/>
                                </a:solidFill>
                                <a:latin typeface="Cambria Math" charset="0"/>
                                <a:ea typeface="Cambria Math" charset="0"/>
                                <a:cs typeface="Cambria Math" charset="0"/>
                              </a:rPr>
                              <m:t>𝑹</m:t>
                            </m:r>
                            <m:r>
                              <a:rPr kumimoji="1" lang="en-US" altLang="zh-CN" sz="2400" i="1" baseline="-25000">
                                <a:solidFill>
                                  <a:schemeClr val="tx1"/>
                                </a:solidFill>
                                <a:latin typeface="Cambria Math" charset="0"/>
                                <a:ea typeface="Cambria Math" charset="0"/>
                                <a:cs typeface="Cambria Math" charset="0"/>
                              </a:rPr>
                              <m:t>𝑙</m:t>
                            </m:r>
                          </m:sup>
                        </m:sSup>
                      </m:e>
                    </m:nary>
                  </m:oMath>
                </a14:m>
                <a:r>
                  <a:rPr kumimoji="1" lang="zh-CN" altLang="en-US" sz="2400" dirty="0" smtClean="0">
                    <a:solidFill>
                      <a:schemeClr val="tx1"/>
                    </a:solidFill>
                  </a:rPr>
                  <a:t> 中，如果</a:t>
                </a:r>
                <a:endParaRPr kumimoji="1" lang="en-US" altLang="zh-CN" sz="2400" dirty="0" smtClean="0">
                  <a:solidFill>
                    <a:schemeClr val="tx1"/>
                  </a:solidFill>
                </a:endParaRPr>
              </a:p>
              <a:p>
                <a:endParaRPr kumimoji="1" lang="en-US" altLang="zh-CN" sz="2400" dirty="0" smtClean="0">
                  <a:solidFill>
                    <a:schemeClr val="tx1"/>
                  </a:solidFill>
                </a:endParaRPr>
              </a:p>
              <a:p>
                <a:pPr marL="0" indent="0">
                  <a:buNone/>
                </a:pPr>
                <a:r>
                  <a:rPr kumimoji="1" lang="en-US" altLang="zh-CN" sz="2400" b="1" dirty="0" smtClean="0">
                    <a:solidFill>
                      <a:schemeClr val="tx1"/>
                    </a:solidFill>
                  </a:rPr>
                  <a:t>     </a:t>
                </a:r>
                <a14:m>
                  <m:oMath xmlns:m="http://schemas.openxmlformats.org/officeDocument/2006/math">
                    <m:d>
                      <m:dPr>
                        <m:ctrlPr>
                          <a:rPr kumimoji="1" lang="en-US" altLang="zh-CN" sz="2400" b="1" i="1">
                            <a:solidFill>
                              <a:schemeClr val="tx1"/>
                            </a:solidFill>
                            <a:latin typeface="Cambria Math" charset="0"/>
                          </a:rPr>
                        </m:ctrlPr>
                      </m:dPr>
                      <m:e>
                        <m:r>
                          <a:rPr kumimoji="1" lang="en-US" altLang="zh-CN" sz="2400" b="1" i="1">
                            <a:solidFill>
                              <a:schemeClr val="tx1"/>
                            </a:solidFill>
                            <a:latin typeface="Cambria Math" charset="0"/>
                          </a:rPr>
                          <m:t>𝒌</m:t>
                        </m:r>
                        <m:r>
                          <a:rPr kumimoji="1" lang="en-US" altLang="zh-CN" sz="2400" b="1" i="1">
                            <a:solidFill>
                              <a:schemeClr val="tx1"/>
                            </a:solidFill>
                            <a:latin typeface="Cambria Math" charset="0"/>
                          </a:rPr>
                          <m:t>−</m:t>
                        </m:r>
                        <m:r>
                          <a:rPr kumimoji="1" lang="en-US" altLang="zh-CN" sz="2400" b="1" i="1">
                            <a:solidFill>
                              <a:schemeClr val="tx1"/>
                            </a:solidFill>
                            <a:latin typeface="Cambria Math" charset="0"/>
                          </a:rPr>
                          <m:t>𝒌</m:t>
                        </m:r>
                        <m:r>
                          <a:rPr kumimoji="1" lang="en-US" altLang="zh-CN" sz="2400" i="1" baseline="-25000">
                            <a:solidFill>
                              <a:schemeClr val="tx1"/>
                            </a:solidFill>
                            <a:latin typeface="Cambria Math" charset="0"/>
                          </a:rPr>
                          <m:t>0</m:t>
                        </m:r>
                      </m:e>
                    </m:d>
                    <m:r>
                      <a:rPr kumimoji="1" lang="en-US" altLang="zh-CN" sz="2400" i="1">
                        <a:solidFill>
                          <a:schemeClr val="tx1"/>
                        </a:solidFill>
                        <a:latin typeface="Cambria Math" charset="0"/>
                        <a:ea typeface="Cambria Math" charset="0"/>
                        <a:cs typeface="Cambria Math" charset="0"/>
                      </a:rPr>
                      <m:t>∙</m:t>
                    </m:r>
                    <m:r>
                      <a:rPr kumimoji="1" lang="en-US" altLang="zh-CN" sz="2400" b="1" i="1">
                        <a:solidFill>
                          <a:schemeClr val="tx1"/>
                        </a:solidFill>
                        <a:latin typeface="Cambria Math" charset="0"/>
                        <a:ea typeface="Cambria Math" charset="0"/>
                        <a:cs typeface="Cambria Math" charset="0"/>
                      </a:rPr>
                      <m:t>𝑹</m:t>
                    </m:r>
                    <m:r>
                      <a:rPr kumimoji="1" lang="en-US" altLang="zh-CN" sz="2400" i="1" baseline="-25000">
                        <a:solidFill>
                          <a:schemeClr val="tx1"/>
                        </a:solidFill>
                        <a:latin typeface="Cambria Math" charset="0"/>
                        <a:ea typeface="Cambria Math" charset="0"/>
                        <a:cs typeface="Cambria Math" charset="0"/>
                      </a:rPr>
                      <m:t>𝑙</m:t>
                    </m:r>
                    <m:r>
                      <a:rPr kumimoji="1" lang="zh-CN" altLang="en-US" sz="2400" i="1" smtClean="0">
                        <a:solidFill>
                          <a:schemeClr val="tx1"/>
                        </a:solidFill>
                        <a:latin typeface="Cambria Math" charset="0"/>
                        <a:ea typeface="Cambria Math" charset="0"/>
                        <a:cs typeface="Cambria Math" charset="0"/>
                      </a:rPr>
                      <m:t>＝</m:t>
                    </m:r>
                    <m:r>
                      <a:rPr kumimoji="1" lang="en-US" altLang="zh-CN" sz="2400" i="1" smtClean="0">
                        <a:solidFill>
                          <a:schemeClr val="tx1"/>
                        </a:solidFill>
                        <a:latin typeface="Cambria Math" charset="0"/>
                        <a:ea typeface="Cambria Math" charset="0"/>
                        <a:cs typeface="Cambria Math" charset="0"/>
                      </a:rPr>
                      <m:t>2</m:t>
                    </m:r>
                    <m:r>
                      <a:rPr kumimoji="1" lang="en-US" altLang="zh-CN" sz="2400" i="1" smtClean="0">
                        <a:solidFill>
                          <a:schemeClr val="tx1"/>
                        </a:solidFill>
                        <a:latin typeface="Cambria Math" charset="0"/>
                        <a:ea typeface="Cambria Math" charset="0"/>
                        <a:cs typeface="Cambria Math" charset="0"/>
                      </a:rPr>
                      <m:t>𝜋</m:t>
                    </m:r>
                    <m:sSub>
                      <m:sSubPr>
                        <m:ctrlPr>
                          <a:rPr kumimoji="1" lang="en-US" altLang="zh-CN" sz="2400" i="1" smtClean="0">
                            <a:solidFill>
                              <a:schemeClr val="tx1"/>
                            </a:solidFill>
                            <a:latin typeface="Cambria Math" charset="0"/>
                            <a:ea typeface="Cambria Math" charset="0"/>
                          </a:rPr>
                        </m:ctrlPr>
                      </m:sSubPr>
                      <m:e>
                        <m:r>
                          <m:rPr>
                            <m:sty m:val="p"/>
                          </m:rPr>
                          <a:rPr kumimoji="1" lang="en-US" altLang="zh-CN" sz="2400" i="1">
                            <a:solidFill>
                              <a:schemeClr val="tx1"/>
                            </a:solidFill>
                            <a:latin typeface="Cambria Math" panose="02040503050406030204" pitchFamily="18" charset="0"/>
                            <a:ea typeface="Cambria Math" charset="0"/>
                          </a:rPr>
                          <m:t>S</m:t>
                        </m:r>
                      </m:e>
                      <m:sub>
                        <m:r>
                          <a:rPr kumimoji="1" lang="en-US" altLang="zh-CN" sz="2400" b="0" i="1" smtClean="0">
                            <a:solidFill>
                              <a:schemeClr val="tx1"/>
                            </a:solidFill>
                            <a:latin typeface="Cambria Math" panose="02040503050406030204" pitchFamily="18" charset="0"/>
                            <a:ea typeface="Cambria Math" charset="0"/>
                          </a:rPr>
                          <m:t>𝑙</m:t>
                        </m:r>
                      </m:sub>
                    </m:sSub>
                  </m:oMath>
                </a14:m>
                <a:r>
                  <a:rPr kumimoji="1" lang="zh-CN" altLang="en-US" sz="2400" baseline="-25000" dirty="0" smtClean="0">
                    <a:solidFill>
                      <a:schemeClr val="tx1"/>
                    </a:solidFill>
                    <a:ea typeface="Cambria Math" charset="0"/>
                    <a:cs typeface="Cambria Math" charset="0"/>
                  </a:rPr>
                  <a:t> </a:t>
                </a:r>
                <a:r>
                  <a:rPr kumimoji="1" lang="zh-CN" altLang="en-US" sz="2400" dirty="0" smtClean="0">
                    <a:solidFill>
                      <a:schemeClr val="tx1"/>
                    </a:solidFill>
                    <a:ea typeface="Cambria Math" charset="0"/>
                    <a:cs typeface="Cambria Math" charset="0"/>
                  </a:rPr>
                  <a:t>， </a:t>
                </a:r>
                <a14:m>
                  <m:oMath xmlns:m="http://schemas.openxmlformats.org/officeDocument/2006/math">
                    <m:r>
                      <a:rPr kumimoji="1" lang="en-US" altLang="zh-CN" sz="2400" i="1">
                        <a:solidFill>
                          <a:schemeClr val="tx1"/>
                        </a:solidFill>
                        <a:latin typeface="Cambria Math" charset="0"/>
                        <a:ea typeface="Cambria Math" charset="0"/>
                        <a:cs typeface="Cambria Math" charset="0"/>
                      </a:rPr>
                      <m:t>𝑆</m:t>
                    </m:r>
                    <m:r>
                      <a:rPr kumimoji="1" lang="en-US" altLang="zh-CN" sz="2400" i="1" baseline="-25000">
                        <a:solidFill>
                          <a:schemeClr val="tx1"/>
                        </a:solidFill>
                        <a:latin typeface="Cambria Math" charset="0"/>
                        <a:ea typeface="Cambria Math" charset="0"/>
                        <a:cs typeface="Cambria Math" charset="0"/>
                      </a:rPr>
                      <m:t>𝑙</m:t>
                    </m:r>
                  </m:oMath>
                </a14:m>
                <a:r>
                  <a:rPr kumimoji="1" lang="zh-CN" altLang="en-US" sz="2400" dirty="0" smtClean="0">
                    <a:solidFill>
                      <a:schemeClr val="tx1"/>
                    </a:solidFill>
                    <a:ea typeface="Cambria Math" charset="0"/>
                    <a:cs typeface="Cambria Math" charset="0"/>
                  </a:rPr>
                  <a:t>为整数</a:t>
                </a:r>
              </a:p>
              <a:p>
                <a:pPr marL="0" indent="0">
                  <a:buNone/>
                </a:pPr>
                <a:r>
                  <a:rPr kumimoji="1" lang="zh-CN" altLang="en-US" sz="2400" dirty="0" smtClean="0">
                    <a:solidFill>
                      <a:schemeClr val="tx1"/>
                    </a:solidFill>
                    <a:ea typeface="Cambria Math" charset="0"/>
                    <a:cs typeface="Cambria Math" charset="0"/>
                  </a:rPr>
                  <a:t>或 </a:t>
                </a:r>
                <a14:m>
                  <m:oMath xmlns:m="http://schemas.openxmlformats.org/officeDocument/2006/math">
                    <m:d>
                      <m:dPr>
                        <m:ctrlPr>
                          <a:rPr kumimoji="1" lang="en-US" altLang="zh-CN" sz="2400" b="1" i="1">
                            <a:solidFill>
                              <a:schemeClr val="tx1"/>
                            </a:solidFill>
                            <a:latin typeface="Cambria Math" charset="0"/>
                          </a:rPr>
                        </m:ctrlPr>
                      </m:dPr>
                      <m:e>
                        <m:r>
                          <a:rPr kumimoji="1" lang="en-US" altLang="zh-CN" sz="2400" b="1" i="1" smtClean="0">
                            <a:solidFill>
                              <a:schemeClr val="tx1"/>
                            </a:solidFill>
                            <a:latin typeface="Cambria Math" charset="0"/>
                          </a:rPr>
                          <m:t>𝒔</m:t>
                        </m:r>
                        <m:r>
                          <a:rPr kumimoji="1" lang="en-US" altLang="zh-CN" sz="2400" b="1" i="1">
                            <a:solidFill>
                              <a:schemeClr val="tx1"/>
                            </a:solidFill>
                            <a:latin typeface="Cambria Math" charset="0"/>
                          </a:rPr>
                          <m:t>−</m:t>
                        </m:r>
                        <m:r>
                          <a:rPr kumimoji="1" lang="en-US" altLang="zh-CN" sz="2400" b="1" i="1" smtClean="0">
                            <a:solidFill>
                              <a:schemeClr val="tx1"/>
                            </a:solidFill>
                            <a:latin typeface="Cambria Math" charset="0"/>
                          </a:rPr>
                          <m:t>𝒔</m:t>
                        </m:r>
                        <m:r>
                          <a:rPr kumimoji="1" lang="en-US" altLang="zh-CN" sz="2400" i="1" baseline="-25000">
                            <a:solidFill>
                              <a:schemeClr val="tx1"/>
                            </a:solidFill>
                            <a:latin typeface="Cambria Math" charset="0"/>
                          </a:rPr>
                          <m:t>0</m:t>
                        </m:r>
                      </m:e>
                    </m:d>
                    <m:r>
                      <a:rPr kumimoji="1" lang="en-US" altLang="zh-CN" sz="2400" i="1">
                        <a:solidFill>
                          <a:schemeClr val="tx1"/>
                        </a:solidFill>
                        <a:latin typeface="Cambria Math" charset="0"/>
                        <a:ea typeface="Cambria Math" charset="0"/>
                        <a:cs typeface="Cambria Math" charset="0"/>
                      </a:rPr>
                      <m:t>∙</m:t>
                    </m:r>
                    <m:r>
                      <a:rPr kumimoji="1" lang="en-US" altLang="zh-CN" sz="2400" b="1" i="1">
                        <a:solidFill>
                          <a:schemeClr val="tx1"/>
                        </a:solidFill>
                        <a:latin typeface="Cambria Math" charset="0"/>
                        <a:ea typeface="Cambria Math" charset="0"/>
                        <a:cs typeface="Cambria Math" charset="0"/>
                      </a:rPr>
                      <m:t>𝑹</m:t>
                    </m:r>
                    <m:r>
                      <a:rPr kumimoji="1" lang="en-US" altLang="zh-CN" sz="2400" i="1" baseline="-25000">
                        <a:solidFill>
                          <a:schemeClr val="tx1"/>
                        </a:solidFill>
                        <a:latin typeface="Cambria Math" charset="0"/>
                        <a:ea typeface="Cambria Math" charset="0"/>
                        <a:cs typeface="Cambria Math" charset="0"/>
                      </a:rPr>
                      <m:t>𝑙</m:t>
                    </m:r>
                    <m:r>
                      <a:rPr kumimoji="1" lang="zh-CN" altLang="en-US" sz="2400" i="1">
                        <a:solidFill>
                          <a:schemeClr val="tx1"/>
                        </a:solidFill>
                        <a:latin typeface="Cambria Math" charset="0"/>
                        <a:ea typeface="Cambria Math" charset="0"/>
                        <a:cs typeface="Cambria Math" charset="0"/>
                      </a:rPr>
                      <m:t>＝</m:t>
                    </m:r>
                    <m:r>
                      <a:rPr kumimoji="1" lang="en-US" altLang="zh-CN" sz="2400" i="1" smtClean="0">
                        <a:solidFill>
                          <a:schemeClr val="tx1"/>
                        </a:solidFill>
                        <a:latin typeface="Cambria Math" charset="0"/>
                        <a:ea typeface="Cambria Math" charset="0"/>
                        <a:cs typeface="Cambria Math" charset="0"/>
                      </a:rPr>
                      <m:t>𝜆</m:t>
                    </m:r>
                    <m:r>
                      <a:rPr kumimoji="1" lang="en-US" altLang="zh-CN" sz="2400" i="1" smtClean="0">
                        <a:solidFill>
                          <a:schemeClr val="tx1"/>
                        </a:solidFill>
                        <a:latin typeface="Cambria Math" charset="0"/>
                        <a:ea typeface="Cambria Math" charset="0"/>
                        <a:cs typeface="Cambria Math" charset="0"/>
                      </a:rPr>
                      <m:t>∙</m:t>
                    </m:r>
                    <m:r>
                      <a:rPr kumimoji="1" lang="en-US" altLang="zh-CN" sz="2400" i="1">
                        <a:solidFill>
                          <a:schemeClr val="tx1"/>
                        </a:solidFill>
                        <a:latin typeface="Cambria Math" charset="0"/>
                        <a:ea typeface="Cambria Math" charset="0"/>
                        <a:cs typeface="Cambria Math" charset="0"/>
                      </a:rPr>
                      <m:t>𝑆</m:t>
                    </m:r>
                    <m:r>
                      <a:rPr kumimoji="1" lang="en-US" altLang="zh-CN" sz="2400" i="1" baseline="-25000">
                        <a:solidFill>
                          <a:schemeClr val="tx1"/>
                        </a:solidFill>
                        <a:latin typeface="Cambria Math" charset="0"/>
                        <a:ea typeface="Cambria Math" charset="0"/>
                        <a:cs typeface="Cambria Math" charset="0"/>
                      </a:rPr>
                      <m:t>𝑙</m:t>
                    </m:r>
                  </m:oMath>
                </a14:m>
                <a:r>
                  <a:rPr kumimoji="1" lang="zh-CN" altLang="en-US" sz="2400" dirty="0" smtClean="0">
                    <a:solidFill>
                      <a:schemeClr val="tx1"/>
                    </a:solidFill>
                    <a:ea typeface="Cambria Math" charset="0"/>
                    <a:cs typeface="Cambria Math" charset="0"/>
                  </a:rPr>
                  <a:t> ，</a:t>
                </a:r>
                <a:r>
                  <a:rPr kumimoji="1" lang="en-US" altLang="zh-CN" sz="2400" b="1" dirty="0">
                    <a:solidFill>
                      <a:schemeClr val="tx1"/>
                    </a:solidFill>
                  </a:rPr>
                  <a:t> </a:t>
                </a:r>
                <a14:m>
                  <m:oMath xmlns:m="http://schemas.openxmlformats.org/officeDocument/2006/math">
                    <m:r>
                      <a:rPr kumimoji="1" lang="en-US" altLang="zh-CN" sz="2400" b="1" i="1">
                        <a:solidFill>
                          <a:schemeClr val="tx1"/>
                        </a:solidFill>
                        <a:latin typeface="Cambria Math" charset="0"/>
                      </a:rPr>
                      <m:t>𝒌</m:t>
                    </m:r>
                    <m:r>
                      <a:rPr kumimoji="1" lang="en-US" altLang="zh-CN" sz="2400" b="1" i="1" smtClean="0">
                        <a:solidFill>
                          <a:schemeClr val="tx1"/>
                        </a:solidFill>
                        <a:latin typeface="Cambria Math" panose="02040503050406030204" pitchFamily="18" charset="0"/>
                      </a:rPr>
                      <m:t>=</m:t>
                    </m:r>
                    <m:f>
                      <m:fPr>
                        <m:ctrlPr>
                          <a:rPr kumimoji="1" lang="en-US" altLang="zh-CN" sz="2400" b="1" i="1" smtClean="0">
                            <a:solidFill>
                              <a:schemeClr val="tx1"/>
                            </a:solidFill>
                            <a:latin typeface="Cambria Math" charset="0"/>
                          </a:rPr>
                        </m:ctrlPr>
                      </m:fPr>
                      <m:num>
                        <m:r>
                          <a:rPr kumimoji="1" lang="en-US" altLang="zh-CN" sz="2400" b="1" i="1" smtClean="0">
                            <a:solidFill>
                              <a:schemeClr val="tx1"/>
                            </a:solidFill>
                            <a:latin typeface="Cambria Math" panose="02040503050406030204" pitchFamily="18" charset="0"/>
                          </a:rPr>
                          <m:t>𝟐</m:t>
                        </m:r>
                        <m:r>
                          <a:rPr kumimoji="1" lang="en-US" altLang="zh-CN" sz="2400" b="1" i="1" smtClean="0">
                            <a:solidFill>
                              <a:schemeClr val="tx1"/>
                            </a:solidFill>
                            <a:latin typeface="Cambria Math" panose="02040503050406030204" pitchFamily="18" charset="0"/>
                            <a:sym typeface="Symbol" panose="05050102010706020507" pitchFamily="18" charset="2"/>
                          </a:rPr>
                          <m:t></m:t>
                        </m:r>
                      </m:num>
                      <m:den>
                        <m:r>
                          <a:rPr kumimoji="1" lang="en-US" altLang="zh-CN" sz="2400" b="1" i="1" smtClean="0">
                            <a:solidFill>
                              <a:schemeClr val="tx1"/>
                            </a:solidFill>
                            <a:latin typeface="Cambria Math" panose="02040503050406030204" pitchFamily="18" charset="0"/>
                            <a:sym typeface="Symbol" panose="05050102010706020507" pitchFamily="18" charset="2"/>
                          </a:rPr>
                          <m:t></m:t>
                        </m:r>
                      </m:den>
                    </m:f>
                    <m:r>
                      <a:rPr kumimoji="1" lang="en-US" altLang="zh-CN" sz="2400" b="1" smtClean="0">
                        <a:solidFill>
                          <a:schemeClr val="tx1"/>
                        </a:solidFill>
                        <a:latin typeface="Cambria Math" panose="02040503050406030204" pitchFamily="18" charset="0"/>
                      </a:rPr>
                      <m:t>𝐬</m:t>
                    </m:r>
                    <m:r>
                      <a:rPr kumimoji="1" lang="zh-CN" altLang="en-US" sz="2400" b="1" i="1">
                        <a:solidFill>
                          <a:schemeClr val="tx1"/>
                        </a:solidFill>
                        <a:latin typeface="Cambria Math" panose="02040503050406030204" pitchFamily="18" charset="0"/>
                      </a:rPr>
                      <m:t>，</m:t>
                    </m:r>
                  </m:oMath>
                </a14:m>
                <a:r>
                  <a:rPr kumimoji="1" lang="en-US" altLang="zh-CN" sz="2400" b="1" dirty="0">
                    <a:solidFill>
                      <a:schemeClr val="tx1"/>
                    </a:solidFill>
                  </a:rPr>
                  <a:t> </a:t>
                </a:r>
                <a14:m>
                  <m:oMath xmlns:m="http://schemas.openxmlformats.org/officeDocument/2006/math">
                    <m:r>
                      <a:rPr kumimoji="1" lang="en-US" altLang="zh-CN" sz="2400" b="1">
                        <a:solidFill>
                          <a:schemeClr val="tx1"/>
                        </a:solidFill>
                        <a:latin typeface="Cambria Math" panose="02040503050406030204" pitchFamily="18" charset="0"/>
                      </a:rPr>
                      <m:t>𝐬</m:t>
                    </m:r>
                    <m:r>
                      <a:rPr kumimoji="1" lang="en-US" altLang="zh-CN" sz="2400" b="1" i="1">
                        <a:solidFill>
                          <a:schemeClr val="tx1"/>
                        </a:solidFill>
                        <a:latin typeface="Cambria Math" panose="02040503050406030204" pitchFamily="18" charset="0"/>
                      </a:rPr>
                      <m:t> </m:t>
                    </m:r>
                  </m:oMath>
                </a14:m>
                <a:r>
                  <a:rPr kumimoji="1" lang="zh-CN" altLang="en-US" sz="2400" dirty="0" smtClean="0">
                    <a:solidFill>
                      <a:schemeClr val="tx1"/>
                    </a:solidFill>
                    <a:ea typeface="Cambria Math" charset="0"/>
                    <a:cs typeface="Cambria Math" charset="0"/>
                  </a:rPr>
                  <a:t>为方向矢量（劳厄方程）</a:t>
                </a:r>
                <a:endParaRPr kumimoji="1" lang="en-US" altLang="zh-CN" sz="2400" baseline="-25000" dirty="0" smtClean="0">
                  <a:solidFill>
                    <a:schemeClr val="tx1"/>
                  </a:solidFill>
                  <a:ea typeface="Cambria Math" charset="0"/>
                  <a:cs typeface="Cambria Math" charset="0"/>
                </a:endParaRPr>
              </a:p>
              <a:p>
                <a:pPr marL="0" indent="0">
                  <a:buNone/>
                </a:pPr>
                <a:r>
                  <a:rPr kumimoji="1" lang="zh-CN" altLang="en-US" sz="2400" b="1" dirty="0" smtClean="0">
                    <a:solidFill>
                      <a:schemeClr val="tx1"/>
                    </a:solidFill>
                  </a:rPr>
                  <a:t>或 </a:t>
                </a:r>
                <a14:m>
                  <m:oMath xmlns:m="http://schemas.openxmlformats.org/officeDocument/2006/math">
                    <m:d>
                      <m:dPr>
                        <m:ctrlPr>
                          <a:rPr kumimoji="1" lang="en-US" altLang="zh-CN" sz="2400" b="1" i="1">
                            <a:solidFill>
                              <a:schemeClr val="tx1"/>
                            </a:solidFill>
                            <a:latin typeface="Cambria Math" charset="0"/>
                          </a:rPr>
                        </m:ctrlPr>
                      </m:dPr>
                      <m:e>
                        <m:r>
                          <a:rPr kumimoji="1" lang="en-US" altLang="zh-CN" sz="2400" b="1" i="1">
                            <a:solidFill>
                              <a:schemeClr val="tx1"/>
                            </a:solidFill>
                            <a:latin typeface="Cambria Math" charset="0"/>
                          </a:rPr>
                          <m:t>𝒌</m:t>
                        </m:r>
                        <m:r>
                          <a:rPr kumimoji="1" lang="en-US" altLang="zh-CN" sz="2400" b="1" i="1">
                            <a:solidFill>
                              <a:schemeClr val="tx1"/>
                            </a:solidFill>
                            <a:latin typeface="Cambria Math" charset="0"/>
                          </a:rPr>
                          <m:t>−</m:t>
                        </m:r>
                        <m:r>
                          <a:rPr kumimoji="1" lang="en-US" altLang="zh-CN" sz="2400" b="1" i="1">
                            <a:solidFill>
                              <a:schemeClr val="tx1"/>
                            </a:solidFill>
                            <a:latin typeface="Cambria Math" charset="0"/>
                          </a:rPr>
                          <m:t>𝒌</m:t>
                        </m:r>
                        <m:r>
                          <a:rPr kumimoji="1" lang="en-US" altLang="zh-CN" sz="2400" i="1" baseline="-25000">
                            <a:solidFill>
                              <a:schemeClr val="tx1"/>
                            </a:solidFill>
                            <a:latin typeface="Cambria Math" charset="0"/>
                          </a:rPr>
                          <m:t>0</m:t>
                        </m:r>
                      </m:e>
                    </m:d>
                    <m:r>
                      <a:rPr kumimoji="1" lang="zh-CN" altLang="en-US" sz="2400" b="1" i="1" smtClean="0">
                        <a:solidFill>
                          <a:schemeClr val="tx1"/>
                        </a:solidFill>
                        <a:latin typeface="Cambria Math" charset="0"/>
                      </a:rPr>
                      <m:t>＝</m:t>
                    </m:r>
                    <m:r>
                      <m:rPr>
                        <m:sty m:val="p"/>
                      </m:rPr>
                      <a:rPr kumimoji="1" lang="en-US" altLang="zh-CN" sz="2400" b="1" i="1" smtClean="0">
                        <a:solidFill>
                          <a:schemeClr val="tx1"/>
                        </a:solidFill>
                        <a:latin typeface="Cambria Math" charset="0"/>
                      </a:rPr>
                      <m:t>K</m:t>
                    </m:r>
                    <m:r>
                      <a:rPr kumimoji="1" lang="en-US" altLang="zh-CN" sz="2400" i="1" baseline="-25000" smtClean="0">
                        <a:solidFill>
                          <a:schemeClr val="tx1"/>
                        </a:solidFill>
                        <a:latin typeface="Cambria Math" charset="0"/>
                      </a:rPr>
                      <m:t>h</m:t>
                    </m:r>
                    <m:r>
                      <a:rPr kumimoji="1" lang="en-US" altLang="zh-CN" sz="2400" i="1" baseline="-25000" smtClean="0">
                        <a:solidFill>
                          <a:schemeClr val="tx1"/>
                        </a:solidFill>
                        <a:latin typeface="Cambria Math" panose="02040503050406030204" pitchFamily="18" charset="0"/>
                      </a:rPr>
                      <m:t>′</m:t>
                    </m:r>
                  </m:oMath>
                </a14:m>
                <a:endParaRPr kumimoji="1" lang="en-US" altLang="zh-CN" sz="2400" dirty="0" smtClean="0">
                  <a:solidFill>
                    <a:schemeClr val="tx1"/>
                  </a:solidFill>
                </a:endParaRPr>
              </a:p>
              <a:p>
                <a:endParaRPr kumimoji="1" lang="en-US" altLang="zh-CN" sz="2400" dirty="0" smtClean="0">
                  <a:solidFill>
                    <a:schemeClr val="tx1"/>
                  </a:solidFill>
                </a:endParaRPr>
              </a:p>
              <a:p>
                <a:pPr marL="0" indent="0">
                  <a:buNone/>
                </a:pPr>
                <a:r>
                  <a:rPr kumimoji="1" lang="zh-CN" altLang="en-US" sz="2400" dirty="0" smtClean="0">
                    <a:solidFill>
                      <a:schemeClr val="tx1"/>
                    </a:solidFill>
                  </a:rPr>
                  <a:t>得到衍射极大</a:t>
                </a:r>
                <a:endParaRPr kumimoji="1" lang="en-US" altLang="zh-CN" sz="2400" dirty="0" smtClean="0">
                  <a:solidFill>
                    <a:schemeClr val="tx1"/>
                  </a:solidFill>
                </a:endParaRPr>
              </a:p>
              <a:p>
                <a:endParaRPr kumimoji="1" lang="zh-CN" altLang="en-US" dirty="0" smtClean="0">
                  <a:solidFill>
                    <a:schemeClr val="tx1"/>
                  </a:solidFill>
                </a:endParaRPr>
              </a:p>
              <a:p>
                <a:endParaRPr kumimoji="1" lang="zh-CN" altLang="en-US" dirty="0" smtClean="0">
                  <a:solidFill>
                    <a:schemeClr val="tx1"/>
                  </a:solidFill>
                </a:endParaRPr>
              </a:p>
            </p:txBody>
          </p:sp>
        </mc:Choice>
        <mc:Fallback xmlns="">
          <p:sp>
            <p:nvSpPr>
              <p:cNvPr id="11" name="副标题 2"/>
              <p:cNvSpPr txBox="1">
                <a:spLocks noRot="1" noChangeAspect="1" noMove="1" noResize="1" noEditPoints="1" noAdjustHandles="1" noChangeArrowheads="1" noChangeShapeType="1" noTextEdit="1"/>
              </p:cNvSpPr>
              <p:nvPr/>
            </p:nvSpPr>
            <p:spPr>
              <a:xfrm>
                <a:off x="509666" y="1602017"/>
                <a:ext cx="11167672" cy="4933693"/>
              </a:xfrm>
              <a:prstGeom prst="rect">
                <a:avLst/>
              </a:prstGeom>
              <a:blipFill rotWithShape="0">
                <a:blip r:embed="rId2"/>
                <a:stretch>
                  <a:fillRect l="-1146" t="-23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2076418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549536" y="484509"/>
            <a:ext cx="5228704" cy="584775"/>
          </a:xfrm>
          <a:prstGeom prst="rect">
            <a:avLst/>
          </a:prstGeom>
        </p:spPr>
        <p:txBody>
          <a:bodyPr wrap="square">
            <a:spAutoFit/>
          </a:bodyPr>
          <a:lstStyle/>
          <a:p>
            <a:r>
              <a:rPr kumimoji="1" lang="zh-CN" altLang="en-US" sz="3200" dirty="0" smtClean="0"/>
              <a:t>第二章 晶体中的衍射</a:t>
            </a:r>
            <a:endParaRPr lang="zh-CN" altLang="en-US" sz="3200" dirty="0"/>
          </a:p>
        </p:txBody>
      </p:sp>
      <mc:AlternateContent xmlns:mc="http://schemas.openxmlformats.org/markup-compatibility/2006">
        <mc:Choice xmlns:a14="http://schemas.microsoft.com/office/drawing/2010/main" Requires="a14">
          <p:sp>
            <p:nvSpPr>
              <p:cNvPr id="5" name="矩形 4"/>
              <p:cNvSpPr/>
              <p:nvPr/>
            </p:nvSpPr>
            <p:spPr>
              <a:xfrm>
                <a:off x="510541" y="1214328"/>
                <a:ext cx="5869939" cy="5635389"/>
              </a:xfrm>
              <a:prstGeom prst="rect">
                <a:avLst/>
              </a:prstGeom>
            </p:spPr>
            <p:txBody>
              <a:bodyPr wrap="square">
                <a:spAutoFit/>
              </a:bodyPr>
              <a:lstStyle/>
              <a:p>
                <a:r>
                  <a:rPr kumimoji="1" lang="en-US" altLang="zh-CN" sz="2800" dirty="0" smtClean="0">
                    <a:solidFill>
                      <a:schemeClr val="tx1"/>
                    </a:solidFill>
                  </a:rPr>
                  <a:t>§2.3</a:t>
                </a:r>
                <a:r>
                  <a:rPr kumimoji="1" lang="zh-CN" altLang="en-US" sz="2800" dirty="0" smtClean="0">
                    <a:solidFill>
                      <a:schemeClr val="tx1"/>
                    </a:solidFill>
                  </a:rPr>
                  <a:t> </a:t>
                </a:r>
                <a:r>
                  <a:rPr kumimoji="1" lang="zh-CN" altLang="en-US" sz="2800" dirty="0">
                    <a:solidFill>
                      <a:schemeClr val="tx1"/>
                    </a:solidFill>
                  </a:rPr>
                  <a:t>晶体的衍射</a:t>
                </a:r>
                <a:r>
                  <a:rPr kumimoji="1" lang="zh-CN" altLang="en-US" sz="2800" dirty="0" smtClean="0">
                    <a:solidFill>
                      <a:schemeClr val="tx1"/>
                    </a:solidFill>
                  </a:rPr>
                  <a:t>条件</a:t>
                </a:r>
                <a:endParaRPr kumimoji="1" lang="en-US" altLang="zh-CN" sz="2800" dirty="0" smtClean="0">
                  <a:solidFill>
                    <a:schemeClr val="tx1"/>
                  </a:solidFill>
                </a:endParaRPr>
              </a:p>
              <a:p>
                <a:endParaRPr kumimoji="1" lang="en-US" altLang="zh-CN" sz="900" dirty="0">
                  <a:solidFill>
                    <a:schemeClr val="tx1"/>
                  </a:solidFill>
                </a:endParaRPr>
              </a:p>
              <a:p>
                <a:r>
                  <a:rPr kumimoji="1" lang="en-US" altLang="zh-CN" sz="2400" dirty="0">
                    <a:solidFill>
                      <a:schemeClr val="tx1"/>
                    </a:solidFill>
                  </a:rPr>
                  <a:t>2.3.2</a:t>
                </a:r>
                <a:r>
                  <a:rPr kumimoji="1" lang="zh-CN" altLang="en-US" sz="2400" dirty="0">
                    <a:solidFill>
                      <a:schemeClr val="tx1"/>
                    </a:solidFill>
                  </a:rPr>
                  <a:t> 布拉格</a:t>
                </a:r>
                <a:r>
                  <a:rPr kumimoji="1" lang="zh-CN" altLang="en-US" sz="2400" dirty="0" smtClean="0">
                    <a:solidFill>
                      <a:schemeClr val="tx1"/>
                    </a:solidFill>
                  </a:rPr>
                  <a:t>反射</a:t>
                </a:r>
                <a:endParaRPr kumimoji="1" lang="en-US" altLang="zh-CN" sz="2400" dirty="0" smtClean="0">
                  <a:solidFill>
                    <a:schemeClr val="tx1"/>
                  </a:solidFill>
                </a:endParaRPr>
              </a:p>
              <a:p>
                <a:endParaRPr kumimoji="1" lang="zh-CN" altLang="en-US" sz="900" dirty="0">
                  <a:solidFill>
                    <a:schemeClr val="tx1"/>
                  </a:solidFill>
                </a:endParaRPr>
              </a:p>
              <a:p>
                <a:r>
                  <a:rPr kumimoji="1" lang="zh-CN" altLang="en-US" sz="2400" dirty="0">
                    <a:solidFill>
                      <a:schemeClr val="tx1"/>
                    </a:solidFill>
                  </a:rPr>
                  <a:t>衍射极大条件还可以在实空间表示</a:t>
                </a:r>
                <a:r>
                  <a:rPr kumimoji="1" lang="zh-CN" altLang="en-US" sz="2400" dirty="0" smtClean="0">
                    <a:solidFill>
                      <a:schemeClr val="tx1"/>
                    </a:solidFill>
                  </a:rPr>
                  <a:t>：</a:t>
                </a:r>
                <a:endParaRPr kumimoji="1" lang="en-US" altLang="zh-CN" sz="2400" dirty="0" smtClean="0">
                  <a:solidFill>
                    <a:schemeClr val="tx1"/>
                  </a:solidFill>
                </a:endParaRPr>
              </a:p>
              <a:p>
                <a14:m>
                  <m:oMath xmlns:m="http://schemas.openxmlformats.org/officeDocument/2006/math">
                    <m:d>
                      <m:dPr>
                        <m:begChr m:val="|"/>
                        <m:endChr m:val="|"/>
                        <m:ctrlPr>
                          <a:rPr kumimoji="1" lang="en-US" altLang="zh-CN" sz="2400" b="0" i="1" smtClean="0">
                            <a:solidFill>
                              <a:schemeClr val="tx1"/>
                            </a:solidFill>
                            <a:latin typeface="Cambria Math" charset="0"/>
                          </a:rPr>
                        </m:ctrlPr>
                      </m:dPr>
                      <m:e>
                        <m:sSub>
                          <m:sSubPr>
                            <m:ctrlPr>
                              <a:rPr kumimoji="1" lang="en-US" altLang="zh-CN" sz="2400" b="0" i="1" smtClean="0">
                                <a:solidFill>
                                  <a:schemeClr val="tx1"/>
                                </a:solidFill>
                                <a:latin typeface="Cambria Math" charset="0"/>
                              </a:rPr>
                            </m:ctrlPr>
                          </m:sSubPr>
                          <m:e>
                            <m:r>
                              <a:rPr kumimoji="1" lang="en-US" altLang="zh-CN" sz="2400" b="0" i="1" smtClean="0">
                                <a:solidFill>
                                  <a:schemeClr val="tx1"/>
                                </a:solidFill>
                                <a:latin typeface="Cambria Math" panose="02040503050406030204" pitchFamily="18" charset="0"/>
                              </a:rPr>
                              <m:t>𝐾</m:t>
                            </m:r>
                          </m:e>
                          <m:sub>
                            <m:r>
                              <a:rPr kumimoji="1" lang="en-US" altLang="zh-CN" sz="2400" b="0" i="1" smtClean="0">
                                <a:solidFill>
                                  <a:schemeClr val="tx1"/>
                                </a:solidFill>
                                <a:latin typeface="Cambria Math" panose="02040503050406030204" pitchFamily="18" charset="0"/>
                              </a:rPr>
                              <m:t>h</m:t>
                            </m:r>
                            <m:r>
                              <a:rPr kumimoji="1" lang="en-US" altLang="zh-CN" sz="2400" b="0" i="1" smtClean="0">
                                <a:solidFill>
                                  <a:schemeClr val="tx1"/>
                                </a:solidFill>
                                <a:latin typeface="Cambria Math" panose="02040503050406030204" pitchFamily="18" charset="0"/>
                              </a:rPr>
                              <m:t>′</m:t>
                            </m:r>
                          </m:sub>
                        </m:sSub>
                      </m:e>
                    </m:d>
                    <m:r>
                      <a:rPr kumimoji="1" lang="en-US" altLang="zh-CN" sz="2400" b="0" i="1" smtClean="0">
                        <a:solidFill>
                          <a:schemeClr val="tx1"/>
                        </a:solidFill>
                        <a:latin typeface="Cambria Math" panose="02040503050406030204" pitchFamily="18" charset="0"/>
                      </a:rPr>
                      <m:t>=</m:t>
                    </m:r>
                    <m:r>
                      <a:rPr kumimoji="1" lang="en-US" altLang="zh-CN" sz="2400" b="0" i="1" smtClean="0">
                        <a:solidFill>
                          <a:schemeClr val="tx1"/>
                        </a:solidFill>
                        <a:latin typeface="Cambria Math" panose="02040503050406030204" pitchFamily="18" charset="0"/>
                      </a:rPr>
                      <m:t>𝑚</m:t>
                    </m:r>
                    <m:r>
                      <a:rPr kumimoji="1" lang="en-US" altLang="zh-CN" sz="2400" b="0" i="1" smtClean="0">
                        <a:solidFill>
                          <a:schemeClr val="tx1"/>
                        </a:solidFill>
                        <a:latin typeface="Cambria Math" panose="02040503050406030204" pitchFamily="18" charset="0"/>
                      </a:rPr>
                      <m:t>·</m:t>
                    </m:r>
                    <m:sSub>
                      <m:sSubPr>
                        <m:ctrlPr>
                          <a:rPr kumimoji="1" lang="en-US" altLang="zh-CN" sz="2400" i="1">
                            <a:solidFill>
                              <a:schemeClr val="tx1"/>
                            </a:solidFill>
                            <a:latin typeface="Cambria Math" charset="0"/>
                          </a:rPr>
                        </m:ctrlPr>
                      </m:sSubPr>
                      <m:e>
                        <m:r>
                          <a:rPr kumimoji="1" lang="en-US" altLang="zh-CN" sz="2400" i="1">
                            <a:solidFill>
                              <a:schemeClr val="tx1"/>
                            </a:solidFill>
                            <a:latin typeface="Cambria Math" panose="02040503050406030204" pitchFamily="18" charset="0"/>
                          </a:rPr>
                          <m:t>𝐾</m:t>
                        </m:r>
                      </m:e>
                      <m:sub>
                        <m:r>
                          <a:rPr kumimoji="1" lang="en-US" altLang="zh-CN" sz="2400" i="1">
                            <a:solidFill>
                              <a:schemeClr val="tx1"/>
                            </a:solidFill>
                            <a:latin typeface="Cambria Math" panose="02040503050406030204" pitchFamily="18" charset="0"/>
                          </a:rPr>
                          <m:t>h</m:t>
                        </m:r>
                      </m:sub>
                    </m:sSub>
                  </m:oMath>
                </a14:m>
                <a:r>
                  <a:rPr kumimoji="1" lang="en-US" altLang="zh-CN" sz="2400" dirty="0" smtClean="0">
                    <a:solidFill>
                      <a:schemeClr val="tx1"/>
                    </a:solidFill>
                  </a:rPr>
                  <a:t> , </a:t>
                </a:r>
                <a:r>
                  <a:rPr kumimoji="1" lang="zh-CN" altLang="en-US" sz="2400" dirty="0" smtClean="0">
                    <a:solidFill>
                      <a:schemeClr val="tx1"/>
                    </a:solidFill>
                  </a:rPr>
                  <a:t>其中</a:t>
                </a:r>
                <a14:m>
                  <m:oMath xmlns:m="http://schemas.openxmlformats.org/officeDocument/2006/math">
                    <m:sSub>
                      <m:sSubPr>
                        <m:ctrlPr>
                          <a:rPr kumimoji="1" lang="en-US" altLang="zh-CN" sz="2400" i="1">
                            <a:solidFill>
                              <a:schemeClr val="tx1"/>
                            </a:solidFill>
                            <a:latin typeface="Cambria Math" charset="0"/>
                          </a:rPr>
                        </m:ctrlPr>
                      </m:sSubPr>
                      <m:e>
                        <m:r>
                          <a:rPr kumimoji="1" lang="en-US" altLang="zh-CN" sz="2400" i="1">
                            <a:solidFill>
                              <a:schemeClr val="tx1"/>
                            </a:solidFill>
                            <a:latin typeface="Cambria Math" panose="02040503050406030204" pitchFamily="18" charset="0"/>
                          </a:rPr>
                          <m:t>𝐾</m:t>
                        </m:r>
                      </m:e>
                      <m:sub>
                        <m:r>
                          <a:rPr kumimoji="1" lang="en-US" altLang="zh-CN" sz="2400" i="1">
                            <a:solidFill>
                              <a:schemeClr val="tx1"/>
                            </a:solidFill>
                            <a:latin typeface="Cambria Math" panose="02040503050406030204" pitchFamily="18" charset="0"/>
                          </a:rPr>
                          <m:t>h</m:t>
                        </m:r>
                      </m:sub>
                    </m:sSub>
                    <m:r>
                      <a:rPr kumimoji="1" lang="en-US" altLang="zh-CN" sz="2400" b="0" i="1" smtClean="0">
                        <a:solidFill>
                          <a:schemeClr val="tx1"/>
                        </a:solidFill>
                        <a:latin typeface="Cambria Math" panose="02040503050406030204" pitchFamily="18" charset="0"/>
                      </a:rPr>
                      <m:t>=</m:t>
                    </m:r>
                    <m:r>
                      <a:rPr kumimoji="1" lang="en-US" altLang="zh-CN" sz="2400" b="0" i="1" smtClean="0">
                        <a:solidFill>
                          <a:schemeClr val="tx1"/>
                        </a:solidFill>
                        <a:latin typeface="Cambria Math" panose="02040503050406030204" pitchFamily="18" charset="0"/>
                      </a:rPr>
                      <m:t>h</m:t>
                    </m:r>
                    <m:sSub>
                      <m:sSubPr>
                        <m:ctrlPr>
                          <a:rPr kumimoji="1" lang="en-US" altLang="zh-CN" sz="2400" b="0" i="1" smtClean="0">
                            <a:solidFill>
                              <a:schemeClr val="tx1"/>
                            </a:solidFill>
                            <a:latin typeface="Cambria Math" charset="0"/>
                          </a:rPr>
                        </m:ctrlPr>
                      </m:sSubPr>
                      <m:e>
                        <m:r>
                          <a:rPr kumimoji="1" lang="en-US" altLang="zh-CN" sz="2400" b="1" i="1" smtClean="0">
                            <a:solidFill>
                              <a:schemeClr val="tx1"/>
                            </a:solidFill>
                            <a:latin typeface="Cambria Math" panose="02040503050406030204" pitchFamily="18" charset="0"/>
                          </a:rPr>
                          <m:t>𝒃</m:t>
                        </m:r>
                      </m:e>
                      <m:sub>
                        <m:r>
                          <a:rPr kumimoji="1" lang="en-US" altLang="zh-CN" sz="2400" b="0" i="1" smtClean="0">
                            <a:solidFill>
                              <a:schemeClr val="tx1"/>
                            </a:solidFill>
                            <a:latin typeface="Cambria Math" panose="02040503050406030204" pitchFamily="18" charset="0"/>
                          </a:rPr>
                          <m:t>1</m:t>
                        </m:r>
                      </m:sub>
                    </m:sSub>
                    <m:r>
                      <a:rPr kumimoji="1" lang="en-US" altLang="zh-CN" sz="2400" b="0" i="1" smtClean="0">
                        <a:solidFill>
                          <a:schemeClr val="tx1"/>
                        </a:solidFill>
                        <a:latin typeface="Cambria Math" panose="02040503050406030204" pitchFamily="18" charset="0"/>
                      </a:rPr>
                      <m:t>+</m:t>
                    </m:r>
                    <m:r>
                      <a:rPr kumimoji="1" lang="en-US" altLang="zh-CN" sz="2400" b="0" i="1" smtClean="0">
                        <a:solidFill>
                          <a:schemeClr val="tx1"/>
                        </a:solidFill>
                        <a:latin typeface="Cambria Math" panose="02040503050406030204" pitchFamily="18" charset="0"/>
                      </a:rPr>
                      <m:t>𝑘</m:t>
                    </m:r>
                    <m:sSub>
                      <m:sSubPr>
                        <m:ctrlPr>
                          <a:rPr kumimoji="1" lang="en-US" altLang="zh-CN" sz="2400" i="1">
                            <a:solidFill>
                              <a:schemeClr val="tx1"/>
                            </a:solidFill>
                            <a:latin typeface="Cambria Math" charset="0"/>
                          </a:rPr>
                        </m:ctrlPr>
                      </m:sSubPr>
                      <m:e>
                        <m:r>
                          <a:rPr kumimoji="1" lang="en-US" altLang="zh-CN" sz="2400" b="1" i="1">
                            <a:solidFill>
                              <a:schemeClr val="tx1"/>
                            </a:solidFill>
                            <a:latin typeface="Cambria Math" panose="02040503050406030204" pitchFamily="18" charset="0"/>
                          </a:rPr>
                          <m:t>𝒃</m:t>
                        </m:r>
                      </m:e>
                      <m:sub>
                        <m:r>
                          <a:rPr kumimoji="1" lang="en-US" altLang="zh-CN" sz="2400" b="0" i="1" smtClean="0">
                            <a:solidFill>
                              <a:schemeClr val="tx1"/>
                            </a:solidFill>
                            <a:latin typeface="Cambria Math" panose="02040503050406030204" pitchFamily="18" charset="0"/>
                          </a:rPr>
                          <m:t>2</m:t>
                        </m:r>
                      </m:sub>
                    </m:sSub>
                    <m:r>
                      <a:rPr kumimoji="1" lang="en-US" altLang="zh-CN" sz="2400" b="0" i="1" smtClean="0">
                        <a:solidFill>
                          <a:schemeClr val="tx1"/>
                        </a:solidFill>
                        <a:latin typeface="Cambria Math" panose="02040503050406030204" pitchFamily="18" charset="0"/>
                      </a:rPr>
                      <m:t>+</m:t>
                    </m:r>
                    <m:r>
                      <a:rPr kumimoji="1" lang="en-US" altLang="zh-CN" sz="2400" b="0" i="1" smtClean="0">
                        <a:solidFill>
                          <a:schemeClr val="tx1"/>
                        </a:solidFill>
                        <a:latin typeface="Cambria Math" panose="02040503050406030204" pitchFamily="18" charset="0"/>
                      </a:rPr>
                      <m:t>𝑙</m:t>
                    </m:r>
                    <m:sSub>
                      <m:sSubPr>
                        <m:ctrlPr>
                          <a:rPr kumimoji="1" lang="en-US" altLang="zh-CN" sz="2400" b="1" i="1">
                            <a:solidFill>
                              <a:schemeClr val="tx1"/>
                            </a:solidFill>
                            <a:latin typeface="Cambria Math" charset="0"/>
                          </a:rPr>
                        </m:ctrlPr>
                      </m:sSubPr>
                      <m:e>
                        <m:r>
                          <a:rPr kumimoji="1" lang="en-US" altLang="zh-CN" sz="2400" b="1" i="1">
                            <a:solidFill>
                              <a:schemeClr val="tx1"/>
                            </a:solidFill>
                            <a:latin typeface="Cambria Math" panose="02040503050406030204" pitchFamily="18" charset="0"/>
                          </a:rPr>
                          <m:t>𝒃</m:t>
                        </m:r>
                      </m:e>
                      <m:sub>
                        <m:r>
                          <a:rPr kumimoji="1" lang="en-US" altLang="zh-CN" sz="2400" b="1" i="1" smtClean="0">
                            <a:solidFill>
                              <a:schemeClr val="tx1"/>
                            </a:solidFill>
                            <a:latin typeface="Cambria Math" panose="02040503050406030204" pitchFamily="18" charset="0"/>
                          </a:rPr>
                          <m:t>𝟑</m:t>
                        </m:r>
                      </m:sub>
                    </m:sSub>
                  </m:oMath>
                </a14:m>
                <a:endParaRPr kumimoji="1" lang="en-US" altLang="zh-CN" sz="2400" b="1" dirty="0" smtClean="0">
                  <a:solidFill>
                    <a:schemeClr val="tx1"/>
                  </a:solidFill>
                </a:endParaRPr>
              </a:p>
              <a:p>
                <a:r>
                  <a:rPr kumimoji="1" lang="zh-CN" altLang="en-US" sz="2400" dirty="0">
                    <a:solidFill>
                      <a:schemeClr val="tx1"/>
                    </a:solidFill>
                  </a:rPr>
                  <a:t>为最小倒格矢，它沿晶面族</a:t>
                </a:r>
                <a:r>
                  <a:rPr kumimoji="1" lang="en-US" altLang="zh-CN" sz="2400" dirty="0">
                    <a:solidFill>
                      <a:schemeClr val="tx1"/>
                    </a:solidFill>
                  </a:rPr>
                  <a:t>(</a:t>
                </a:r>
                <a14:m>
                  <m:oMath xmlns:m="http://schemas.openxmlformats.org/officeDocument/2006/math">
                    <m:r>
                      <a:rPr kumimoji="1" lang="en-US" altLang="zh-CN" sz="2400" i="1">
                        <a:solidFill>
                          <a:schemeClr val="tx1"/>
                        </a:solidFill>
                        <a:latin typeface="Cambria Math" charset="0"/>
                      </a:rPr>
                      <m:t>h𝑘𝑙</m:t>
                    </m:r>
                  </m:oMath>
                </a14:m>
                <a:r>
                  <a:rPr kumimoji="1" lang="en-US" altLang="zh-CN" sz="2400" dirty="0">
                    <a:solidFill>
                      <a:schemeClr val="tx1"/>
                    </a:solidFill>
                  </a:rPr>
                  <a:t>)</a:t>
                </a:r>
                <a:r>
                  <a:rPr kumimoji="1" lang="zh-CN" altLang="en-US" sz="2400" dirty="0">
                    <a:solidFill>
                      <a:schemeClr val="tx1"/>
                    </a:solidFill>
                  </a:rPr>
                  <a:t>的法线方向，</a:t>
                </a:r>
                <a:r>
                  <a:rPr kumimoji="1" lang="zh-CN" altLang="en-US" sz="2400" dirty="0" smtClean="0">
                    <a:solidFill>
                      <a:schemeClr val="tx1"/>
                    </a:solidFill>
                  </a:rPr>
                  <a:t>且</a:t>
                </a:r>
                <a14:m>
                  <m:oMath xmlns:m="http://schemas.openxmlformats.org/officeDocument/2006/math">
                    <m:d>
                      <m:dPr>
                        <m:begChr m:val="|"/>
                        <m:endChr m:val="|"/>
                        <m:ctrlPr>
                          <a:rPr kumimoji="1" lang="en-US" altLang="zh-CN" sz="2400" i="1">
                            <a:solidFill>
                              <a:schemeClr val="tx1"/>
                            </a:solidFill>
                            <a:latin typeface="Cambria Math" charset="0"/>
                          </a:rPr>
                        </m:ctrlPr>
                      </m:dPr>
                      <m:e>
                        <m:sSub>
                          <m:sSubPr>
                            <m:ctrlPr>
                              <a:rPr kumimoji="1" lang="en-US" altLang="zh-CN" sz="2400" i="1">
                                <a:solidFill>
                                  <a:schemeClr val="tx1"/>
                                </a:solidFill>
                                <a:latin typeface="Cambria Math" charset="0"/>
                              </a:rPr>
                            </m:ctrlPr>
                          </m:sSubPr>
                          <m:e>
                            <m:r>
                              <a:rPr kumimoji="1" lang="en-US" altLang="zh-CN" sz="2400" i="1">
                                <a:solidFill>
                                  <a:schemeClr val="tx1"/>
                                </a:solidFill>
                                <a:latin typeface="Cambria Math" panose="02040503050406030204" pitchFamily="18" charset="0"/>
                              </a:rPr>
                              <m:t>𝐾</m:t>
                            </m:r>
                          </m:e>
                          <m:sub>
                            <m:r>
                              <a:rPr kumimoji="1" lang="en-US" altLang="zh-CN" sz="2400" i="1">
                                <a:solidFill>
                                  <a:schemeClr val="tx1"/>
                                </a:solidFill>
                                <a:latin typeface="Cambria Math" panose="02040503050406030204" pitchFamily="18" charset="0"/>
                              </a:rPr>
                              <m:t>h</m:t>
                            </m:r>
                          </m:sub>
                        </m:sSub>
                      </m:e>
                    </m:d>
                    <m:r>
                      <a:rPr kumimoji="1" lang="en-US" altLang="zh-CN" sz="2400" b="0" i="1" smtClean="0">
                        <a:solidFill>
                          <a:schemeClr val="tx1"/>
                        </a:solidFill>
                        <a:latin typeface="Cambria Math" panose="02040503050406030204" pitchFamily="18" charset="0"/>
                      </a:rPr>
                      <m:t>=</m:t>
                    </m:r>
                    <m:f>
                      <m:fPr>
                        <m:ctrlPr>
                          <a:rPr kumimoji="1" lang="en-US" altLang="zh-CN" sz="2400" b="0" i="1" smtClean="0">
                            <a:solidFill>
                              <a:schemeClr val="tx1"/>
                            </a:solidFill>
                            <a:latin typeface="Cambria Math" charset="0"/>
                          </a:rPr>
                        </m:ctrlPr>
                      </m:fPr>
                      <m:num>
                        <m:r>
                          <a:rPr kumimoji="1" lang="en-US" altLang="zh-CN" sz="2400" b="0" i="1" smtClean="0">
                            <a:solidFill>
                              <a:schemeClr val="tx1"/>
                            </a:solidFill>
                            <a:latin typeface="Cambria Math" panose="02040503050406030204" pitchFamily="18" charset="0"/>
                          </a:rPr>
                          <m:t>2</m:t>
                        </m:r>
                        <m:r>
                          <a:rPr kumimoji="1" lang="en-US" altLang="zh-CN" sz="2400" b="0" i="1" smtClean="0">
                            <a:solidFill>
                              <a:schemeClr val="tx1"/>
                            </a:solidFill>
                            <a:latin typeface="Cambria Math" panose="02040503050406030204" pitchFamily="18" charset="0"/>
                            <a:sym typeface="Symbol" panose="05050102010706020507" pitchFamily="18" charset="2"/>
                          </a:rPr>
                          <m:t></m:t>
                        </m:r>
                      </m:num>
                      <m:den>
                        <m:sSub>
                          <m:sSubPr>
                            <m:ctrlPr>
                              <a:rPr kumimoji="1" lang="en-US" altLang="zh-CN" sz="2400" b="0" i="1" smtClean="0">
                                <a:solidFill>
                                  <a:schemeClr val="tx1"/>
                                </a:solidFill>
                                <a:latin typeface="Cambria Math" charset="0"/>
                              </a:rPr>
                            </m:ctrlPr>
                          </m:sSubPr>
                          <m:e>
                            <m:r>
                              <a:rPr kumimoji="1" lang="en-US" altLang="zh-CN" sz="2400" b="0" i="1" smtClean="0">
                                <a:solidFill>
                                  <a:schemeClr val="tx1"/>
                                </a:solidFill>
                                <a:latin typeface="Cambria Math" panose="02040503050406030204" pitchFamily="18" charset="0"/>
                              </a:rPr>
                              <m:t>𝑑</m:t>
                            </m:r>
                          </m:e>
                          <m:sub>
                            <m:r>
                              <a:rPr kumimoji="1" lang="en-US" altLang="zh-CN" sz="2400" b="0" i="1" smtClean="0">
                                <a:solidFill>
                                  <a:schemeClr val="tx1"/>
                                </a:solidFill>
                                <a:latin typeface="Cambria Math" panose="02040503050406030204" pitchFamily="18" charset="0"/>
                              </a:rPr>
                              <m:t>h𝑘𝑙</m:t>
                            </m:r>
                          </m:sub>
                        </m:sSub>
                      </m:den>
                    </m:f>
                  </m:oMath>
                </a14:m>
                <a:r>
                  <a:rPr kumimoji="1" lang="en-US" altLang="zh-CN" sz="2400" dirty="0" smtClean="0">
                    <a:solidFill>
                      <a:schemeClr val="tx1"/>
                    </a:solidFill>
                  </a:rPr>
                  <a:t> </a:t>
                </a:r>
              </a:p>
              <a:p>
                <a:r>
                  <a:rPr kumimoji="1" lang="zh-CN" altLang="en-US" sz="2400" dirty="0" smtClean="0">
                    <a:solidFill>
                      <a:schemeClr val="tx1"/>
                    </a:solidFill>
                  </a:rPr>
                  <a:t>则</a:t>
                </a:r>
                <a:r>
                  <a:rPr kumimoji="1" lang="zh-CN" altLang="en-US" sz="2400" b="1" dirty="0" smtClean="0">
                    <a:solidFill>
                      <a:schemeClr val="tx1"/>
                    </a:solidFill>
                  </a:rPr>
                  <a:t> </a:t>
                </a:r>
                <a14:m>
                  <m:oMath xmlns:m="http://schemas.openxmlformats.org/officeDocument/2006/math">
                    <m:d>
                      <m:dPr>
                        <m:ctrlPr>
                          <a:rPr kumimoji="1" lang="en-US" altLang="zh-CN" sz="2400" b="1" i="1">
                            <a:solidFill>
                              <a:schemeClr val="tx1"/>
                            </a:solidFill>
                            <a:latin typeface="Cambria Math" charset="0"/>
                          </a:rPr>
                        </m:ctrlPr>
                      </m:dPr>
                      <m:e>
                        <m:r>
                          <a:rPr kumimoji="1" lang="en-US" altLang="zh-CN" sz="2400" b="1" i="1">
                            <a:solidFill>
                              <a:schemeClr val="tx1"/>
                            </a:solidFill>
                            <a:latin typeface="Cambria Math" charset="0"/>
                          </a:rPr>
                          <m:t>𝒌</m:t>
                        </m:r>
                        <m:r>
                          <a:rPr kumimoji="1" lang="en-US" altLang="zh-CN" sz="2400" b="1" i="1">
                            <a:solidFill>
                              <a:schemeClr val="tx1"/>
                            </a:solidFill>
                            <a:latin typeface="Cambria Math" charset="0"/>
                          </a:rPr>
                          <m:t>−</m:t>
                        </m:r>
                        <m:r>
                          <a:rPr kumimoji="1" lang="en-US" altLang="zh-CN" sz="2400" b="1" i="1">
                            <a:solidFill>
                              <a:schemeClr val="tx1"/>
                            </a:solidFill>
                            <a:latin typeface="Cambria Math" charset="0"/>
                          </a:rPr>
                          <m:t>𝒌</m:t>
                        </m:r>
                        <m:r>
                          <a:rPr kumimoji="1" lang="en-US" altLang="zh-CN" sz="2400" i="1" baseline="-25000">
                            <a:solidFill>
                              <a:schemeClr val="tx1"/>
                            </a:solidFill>
                            <a:latin typeface="Cambria Math" charset="0"/>
                          </a:rPr>
                          <m:t>0</m:t>
                        </m:r>
                      </m:e>
                    </m:d>
                    <m:r>
                      <a:rPr kumimoji="1" lang="zh-CN" altLang="en-US" sz="2400" b="1" i="1">
                        <a:solidFill>
                          <a:schemeClr val="tx1"/>
                        </a:solidFill>
                        <a:latin typeface="Cambria Math" charset="0"/>
                      </a:rPr>
                      <m:t>＝</m:t>
                    </m:r>
                    <m:r>
                      <m:rPr>
                        <m:sty m:val="p"/>
                      </m:rPr>
                      <a:rPr kumimoji="1" lang="en-US" altLang="zh-CN" sz="2400" b="1" i="1">
                        <a:solidFill>
                          <a:schemeClr val="tx1"/>
                        </a:solidFill>
                        <a:latin typeface="Cambria Math" charset="0"/>
                      </a:rPr>
                      <m:t>K</m:t>
                    </m:r>
                    <m:r>
                      <a:rPr kumimoji="1" lang="en-US" altLang="zh-CN" sz="2400" i="1" baseline="-25000">
                        <a:solidFill>
                          <a:schemeClr val="tx1"/>
                        </a:solidFill>
                        <a:latin typeface="Cambria Math" charset="0"/>
                      </a:rPr>
                      <m:t>h</m:t>
                    </m:r>
                    <m:r>
                      <a:rPr kumimoji="1" lang="en-US" altLang="zh-CN" sz="2400" i="1" baseline="-25000">
                        <a:solidFill>
                          <a:schemeClr val="tx1"/>
                        </a:solidFill>
                        <a:latin typeface="Cambria Math" panose="02040503050406030204" pitchFamily="18" charset="0"/>
                      </a:rPr>
                      <m:t>′</m:t>
                    </m:r>
                  </m:oMath>
                </a14:m>
                <a:r>
                  <a:rPr kumimoji="1" lang="en-US" altLang="zh-CN" sz="2400" dirty="0" smtClean="0">
                    <a:solidFill>
                      <a:schemeClr val="tx1"/>
                    </a:solidFill>
                    <a:sym typeface="Symbol" panose="05050102010706020507" pitchFamily="18" charset="2"/>
                  </a:rPr>
                  <a:t> </a:t>
                </a:r>
                <a14:m>
                  <m:oMath xmlns:m="http://schemas.openxmlformats.org/officeDocument/2006/math">
                    <m:r>
                      <a:rPr kumimoji="1" lang="en-US" altLang="zh-CN" sz="2400" i="1">
                        <a:solidFill>
                          <a:schemeClr val="tx1"/>
                        </a:solidFill>
                        <a:latin typeface="Cambria Math" panose="02040503050406030204" pitchFamily="18" charset="0"/>
                      </a:rPr>
                      <m:t>2</m:t>
                    </m:r>
                    <m:r>
                      <a:rPr kumimoji="1" lang="en-US" altLang="zh-CN" sz="2400" i="1">
                        <a:solidFill>
                          <a:schemeClr val="tx1"/>
                        </a:solidFill>
                        <a:latin typeface="Cambria Math" panose="02040503050406030204" pitchFamily="18" charset="0"/>
                      </a:rPr>
                      <m:t>𝑘𝑠𝑖𝑛</m:t>
                    </m:r>
                    <m:r>
                      <a:rPr kumimoji="1" lang="en-US" altLang="zh-CN" sz="2400" i="1">
                        <a:solidFill>
                          <a:schemeClr val="tx1"/>
                        </a:solidFill>
                        <a:latin typeface="Cambria Math" panose="02040503050406030204" pitchFamily="18" charset="0"/>
                        <a:sym typeface="Symbol" panose="05050102010706020507" pitchFamily="18" charset="2"/>
                      </a:rPr>
                      <m:t></m:t>
                    </m:r>
                    <m:r>
                      <a:rPr kumimoji="1" lang="en-US" altLang="zh-CN" sz="2400" i="1" smtClean="0">
                        <a:solidFill>
                          <a:schemeClr val="tx1"/>
                        </a:solidFill>
                        <a:latin typeface="Cambria Math" panose="02040503050406030204" pitchFamily="18" charset="0"/>
                        <a:sym typeface="Symbol" panose="05050102010706020507" pitchFamily="18" charset="2"/>
                      </a:rPr>
                      <m:t>=</m:t>
                    </m:r>
                    <m:f>
                      <m:fPr>
                        <m:ctrlPr>
                          <a:rPr kumimoji="1" lang="en-US" altLang="zh-CN" sz="2400" i="1">
                            <a:solidFill>
                              <a:schemeClr val="tx1"/>
                            </a:solidFill>
                            <a:latin typeface="Cambria Math" charset="0"/>
                          </a:rPr>
                        </m:ctrlPr>
                      </m:fPr>
                      <m:num>
                        <m:r>
                          <a:rPr kumimoji="1" lang="en-US" altLang="zh-CN" sz="2400" i="1">
                            <a:solidFill>
                              <a:schemeClr val="tx1"/>
                            </a:solidFill>
                            <a:latin typeface="Cambria Math" panose="02040503050406030204" pitchFamily="18" charset="0"/>
                          </a:rPr>
                          <m:t>2</m:t>
                        </m:r>
                        <m:r>
                          <a:rPr kumimoji="1" lang="en-US" altLang="zh-CN" sz="2400" i="1">
                            <a:solidFill>
                              <a:schemeClr val="tx1"/>
                            </a:solidFill>
                            <a:latin typeface="Cambria Math" panose="02040503050406030204" pitchFamily="18" charset="0"/>
                            <a:sym typeface="Symbol" panose="05050102010706020507" pitchFamily="18" charset="2"/>
                          </a:rPr>
                          <m:t></m:t>
                        </m:r>
                      </m:num>
                      <m:den>
                        <m:sSub>
                          <m:sSubPr>
                            <m:ctrlPr>
                              <a:rPr kumimoji="1" lang="en-US" altLang="zh-CN" sz="2400" i="1">
                                <a:solidFill>
                                  <a:schemeClr val="tx1"/>
                                </a:solidFill>
                                <a:latin typeface="Cambria Math" charset="0"/>
                              </a:rPr>
                            </m:ctrlPr>
                          </m:sSubPr>
                          <m:e>
                            <m:r>
                              <a:rPr kumimoji="1" lang="en-US" altLang="zh-CN" sz="2400" i="1">
                                <a:solidFill>
                                  <a:schemeClr val="tx1"/>
                                </a:solidFill>
                                <a:latin typeface="Cambria Math" panose="02040503050406030204" pitchFamily="18" charset="0"/>
                              </a:rPr>
                              <m:t>𝑑</m:t>
                            </m:r>
                          </m:e>
                          <m:sub>
                            <m:r>
                              <a:rPr kumimoji="1" lang="en-US" altLang="zh-CN" sz="2400" i="1">
                                <a:solidFill>
                                  <a:schemeClr val="tx1"/>
                                </a:solidFill>
                                <a:latin typeface="Cambria Math" panose="02040503050406030204" pitchFamily="18" charset="0"/>
                              </a:rPr>
                              <m:t>h𝑘𝑙</m:t>
                            </m:r>
                          </m:sub>
                        </m:sSub>
                      </m:den>
                    </m:f>
                    <m:r>
                      <a:rPr kumimoji="1" lang="en-US" altLang="zh-CN" sz="2400" i="1" smtClean="0">
                        <a:solidFill>
                          <a:schemeClr val="tx1"/>
                        </a:solidFill>
                        <a:latin typeface="Cambria Math" panose="02040503050406030204" pitchFamily="18" charset="0"/>
                      </a:rPr>
                      <m:t>·</m:t>
                    </m:r>
                    <m:r>
                      <a:rPr kumimoji="1" lang="en-US" altLang="zh-CN" sz="2400" b="0" i="1" smtClean="0">
                        <a:solidFill>
                          <a:schemeClr val="tx1"/>
                        </a:solidFill>
                        <a:latin typeface="Cambria Math" panose="02040503050406030204" pitchFamily="18" charset="0"/>
                      </a:rPr>
                      <m:t>𝑚</m:t>
                    </m:r>
                  </m:oMath>
                </a14:m>
                <a:r>
                  <a:rPr kumimoji="1" lang="en-US" altLang="zh-CN" sz="2400" dirty="0" smtClean="0">
                    <a:solidFill>
                      <a:schemeClr val="tx1"/>
                    </a:solidFill>
                    <a:sym typeface="Symbol" panose="05050102010706020507" pitchFamily="18" charset="2"/>
                  </a:rPr>
                  <a:t> </a:t>
                </a:r>
              </a:p>
              <a:p>
                <a14:m>
                  <m:oMath xmlns:m="http://schemas.openxmlformats.org/officeDocument/2006/math">
                    <m:r>
                      <a:rPr kumimoji="1" lang="en-US" altLang="zh-CN" sz="2400" b="0" i="1" dirty="0" smtClean="0">
                        <a:solidFill>
                          <a:schemeClr val="tx1"/>
                        </a:solidFill>
                        <a:latin typeface="Cambria Math" panose="02040503050406030204" pitchFamily="18" charset="0"/>
                        <a:sym typeface="Symbol" panose="05050102010706020507" pitchFamily="18" charset="2"/>
                      </a:rPr>
                      <m:t>2</m:t>
                    </m:r>
                    <m:sSub>
                      <m:sSubPr>
                        <m:ctrlPr>
                          <a:rPr kumimoji="1" lang="en-US" altLang="zh-CN" sz="2400" b="0" i="1" dirty="0" smtClean="0">
                            <a:solidFill>
                              <a:schemeClr val="tx1"/>
                            </a:solidFill>
                            <a:latin typeface="Cambria Math" charset="0"/>
                            <a:sym typeface="Symbol" panose="05050102010706020507" pitchFamily="18" charset="2"/>
                          </a:rPr>
                        </m:ctrlPr>
                      </m:sSubPr>
                      <m:e>
                        <m:r>
                          <a:rPr kumimoji="1" lang="en-US" altLang="zh-CN" sz="2400" b="0" i="1" dirty="0" smtClean="0">
                            <a:solidFill>
                              <a:schemeClr val="tx1"/>
                            </a:solidFill>
                            <a:latin typeface="Cambria Math" panose="02040503050406030204" pitchFamily="18" charset="0"/>
                            <a:sym typeface="Symbol" panose="05050102010706020507" pitchFamily="18" charset="2"/>
                          </a:rPr>
                          <m:t>𝑑</m:t>
                        </m:r>
                      </m:e>
                      <m:sub>
                        <m:r>
                          <a:rPr kumimoji="1" lang="en-US" altLang="zh-CN" sz="2400" b="0" i="1" dirty="0" smtClean="0">
                            <a:solidFill>
                              <a:schemeClr val="tx1"/>
                            </a:solidFill>
                            <a:latin typeface="Cambria Math" panose="02040503050406030204" pitchFamily="18" charset="0"/>
                            <a:sym typeface="Symbol" panose="05050102010706020507" pitchFamily="18" charset="2"/>
                          </a:rPr>
                          <m:t>h𝑘𝑙</m:t>
                        </m:r>
                      </m:sub>
                    </m:sSub>
                    <m:r>
                      <a:rPr kumimoji="1" lang="en-US" altLang="zh-CN" sz="2400" b="0" i="1" dirty="0" smtClean="0">
                        <a:solidFill>
                          <a:schemeClr val="tx1"/>
                        </a:solidFill>
                        <a:latin typeface="Cambria Math" panose="02040503050406030204" pitchFamily="18" charset="0"/>
                        <a:sym typeface="Symbol" panose="05050102010706020507" pitchFamily="18" charset="2"/>
                      </a:rPr>
                      <m:t>𝑠𝑖𝑛</m:t>
                    </m:r>
                    <m:r>
                      <a:rPr kumimoji="1" lang="zh-CN" altLang="en-US" sz="2400" b="0" i="1" dirty="0" smtClean="0">
                        <a:solidFill>
                          <a:schemeClr val="tx1"/>
                        </a:solidFill>
                        <a:latin typeface="Cambria Math" panose="02040503050406030204" pitchFamily="18" charset="0"/>
                        <a:sym typeface="Symbol" panose="05050102010706020507" pitchFamily="18" charset="2"/>
                      </a:rPr>
                      <m:t>𝜃</m:t>
                    </m:r>
                    <m:r>
                      <a:rPr kumimoji="1" lang="en-US" altLang="zh-CN" sz="2400" i="1" dirty="0">
                        <a:solidFill>
                          <a:schemeClr val="tx1"/>
                        </a:solidFill>
                        <a:latin typeface="Cambria Math" panose="02040503050406030204" pitchFamily="18" charset="0"/>
                        <a:sym typeface="Symbol" panose="05050102010706020507" pitchFamily="18" charset="2"/>
                      </a:rPr>
                      <m:t>=</m:t>
                    </m:r>
                  </m:oMath>
                </a14:m>
                <a:r>
                  <a:rPr kumimoji="1" lang="en-US" altLang="zh-CN" sz="2400" dirty="0">
                    <a:solidFill>
                      <a:schemeClr val="tx1"/>
                    </a:solidFill>
                    <a:sym typeface="Symbol" panose="05050102010706020507" pitchFamily="18" charset="2"/>
                  </a:rPr>
                  <a:t> </a:t>
                </a:r>
                <a14:m>
                  <m:oMath xmlns:m="http://schemas.openxmlformats.org/officeDocument/2006/math">
                    <m:r>
                      <a:rPr kumimoji="1" lang="en-US" altLang="zh-CN" sz="2400" i="1" dirty="0">
                        <a:solidFill>
                          <a:schemeClr val="tx1"/>
                        </a:solidFill>
                        <a:latin typeface="Cambria Math" panose="02040503050406030204" pitchFamily="18" charset="0"/>
                        <a:sym typeface="Symbol" panose="05050102010706020507" pitchFamily="18" charset="2"/>
                      </a:rPr>
                      <m:t>𝑚</m:t>
                    </m:r>
                    <m:r>
                      <a:rPr kumimoji="1" lang="en-US" altLang="zh-CN" sz="2400" i="1" dirty="0">
                        <a:solidFill>
                          <a:schemeClr val="tx1"/>
                        </a:solidFill>
                        <a:latin typeface="Cambria Math" panose="02040503050406030204" pitchFamily="18" charset="0"/>
                        <a:sym typeface="Symbol" panose="05050102010706020507" pitchFamily="18" charset="2"/>
                      </a:rPr>
                      <m:t></m:t>
                    </m:r>
                  </m:oMath>
                </a14:m>
                <a:endParaRPr kumimoji="1" lang="en-US" altLang="zh-CN" sz="2400" dirty="0">
                  <a:solidFill>
                    <a:schemeClr val="tx1"/>
                  </a:solidFill>
                </a:endParaRPr>
              </a:p>
              <a:p>
                <a:endParaRPr kumimoji="1" lang="en-US" altLang="zh-CN" sz="2400" dirty="0" smtClean="0">
                  <a:solidFill>
                    <a:schemeClr val="tx1"/>
                  </a:solidFill>
                </a:endParaRPr>
              </a:p>
              <a:p>
                <a:r>
                  <a:rPr kumimoji="1" lang="zh-CN" altLang="en-US" sz="2400" dirty="0" smtClean="0"/>
                  <a:t>假设</a:t>
                </a:r>
                <a:r>
                  <a:rPr kumimoji="1" lang="zh-CN" altLang="en-US" sz="2400" dirty="0" smtClean="0">
                    <a:solidFill>
                      <a:schemeClr val="tx1"/>
                    </a:solidFill>
                  </a:rPr>
                  <a:t>晶面全反射</a:t>
                </a:r>
                <a:r>
                  <a:rPr kumimoji="1" lang="en-US" altLang="zh-CN" sz="2400" dirty="0" smtClean="0"/>
                  <a:t>, </a:t>
                </a:r>
                <a:r>
                  <a:rPr kumimoji="1" lang="zh-CN" altLang="en-US" sz="2400" dirty="0" smtClean="0"/>
                  <a:t>衍射</a:t>
                </a:r>
                <a:r>
                  <a:rPr kumimoji="1" lang="zh-CN" altLang="en-US" sz="2400" dirty="0"/>
                  <a:t>极大条件</a:t>
                </a:r>
                <a:r>
                  <a:rPr kumimoji="1" lang="zh-CN" altLang="en-US" sz="2400" dirty="0" smtClean="0">
                    <a:solidFill>
                      <a:schemeClr val="tx1"/>
                    </a:solidFill>
                  </a:rPr>
                  <a:t>： </a:t>
                </a:r>
                <a14:m>
                  <m:oMath xmlns:m="http://schemas.openxmlformats.org/officeDocument/2006/math">
                    <m:r>
                      <a:rPr kumimoji="1" lang="en-US" altLang="zh-CN" sz="2400" i="1" dirty="0">
                        <a:solidFill>
                          <a:schemeClr val="tx1"/>
                        </a:solidFill>
                        <a:latin typeface="Cambria Math" panose="02040503050406030204" pitchFamily="18" charset="0"/>
                        <a:sym typeface="Symbol" panose="05050102010706020507" pitchFamily="18" charset="2"/>
                      </a:rPr>
                      <m:t>2</m:t>
                    </m:r>
                    <m:sSub>
                      <m:sSubPr>
                        <m:ctrlPr>
                          <a:rPr kumimoji="1" lang="en-US" altLang="zh-CN" sz="2400" i="1" dirty="0">
                            <a:solidFill>
                              <a:schemeClr val="tx1"/>
                            </a:solidFill>
                            <a:latin typeface="Cambria Math" charset="0"/>
                            <a:sym typeface="Symbol" panose="05050102010706020507" pitchFamily="18" charset="2"/>
                          </a:rPr>
                        </m:ctrlPr>
                      </m:sSubPr>
                      <m:e>
                        <m:r>
                          <a:rPr kumimoji="1" lang="en-US" altLang="zh-CN" sz="2400" i="1" dirty="0">
                            <a:solidFill>
                              <a:schemeClr val="tx1"/>
                            </a:solidFill>
                            <a:latin typeface="Cambria Math" panose="02040503050406030204" pitchFamily="18" charset="0"/>
                            <a:sym typeface="Symbol" panose="05050102010706020507" pitchFamily="18" charset="2"/>
                          </a:rPr>
                          <m:t>𝑑</m:t>
                        </m:r>
                      </m:e>
                      <m:sub>
                        <m:r>
                          <a:rPr kumimoji="1" lang="en-US" altLang="zh-CN" sz="2400" i="1" dirty="0">
                            <a:solidFill>
                              <a:schemeClr val="tx1"/>
                            </a:solidFill>
                            <a:latin typeface="Cambria Math" panose="02040503050406030204" pitchFamily="18" charset="0"/>
                            <a:sym typeface="Symbol" panose="05050102010706020507" pitchFamily="18" charset="2"/>
                          </a:rPr>
                          <m:t>h𝑘𝑙</m:t>
                        </m:r>
                      </m:sub>
                    </m:sSub>
                    <m:r>
                      <a:rPr kumimoji="1" lang="en-US" altLang="zh-CN" sz="2400" i="1" dirty="0">
                        <a:solidFill>
                          <a:schemeClr val="tx1"/>
                        </a:solidFill>
                        <a:latin typeface="Cambria Math" panose="02040503050406030204" pitchFamily="18" charset="0"/>
                        <a:sym typeface="Symbol" panose="05050102010706020507" pitchFamily="18" charset="2"/>
                      </a:rPr>
                      <m:t>𝑠𝑖𝑛</m:t>
                    </m:r>
                    <m:r>
                      <a:rPr kumimoji="1" lang="zh-CN" altLang="en-US" sz="2400" i="1" dirty="0">
                        <a:solidFill>
                          <a:schemeClr val="tx1"/>
                        </a:solidFill>
                        <a:latin typeface="Cambria Math" panose="02040503050406030204" pitchFamily="18" charset="0"/>
                        <a:sym typeface="Symbol" panose="05050102010706020507" pitchFamily="18" charset="2"/>
                      </a:rPr>
                      <m:t>𝜃</m:t>
                    </m:r>
                    <m:r>
                      <a:rPr kumimoji="1" lang="en-US" altLang="zh-CN" sz="2400" b="0" i="1" dirty="0" smtClean="0">
                        <a:solidFill>
                          <a:schemeClr val="tx1"/>
                        </a:solidFill>
                        <a:latin typeface="Cambria Math" panose="02040503050406030204" pitchFamily="18" charset="0"/>
                        <a:sym typeface="Symbol" panose="05050102010706020507" pitchFamily="18" charset="2"/>
                      </a:rPr>
                      <m:t>=</m:t>
                    </m:r>
                    <m:r>
                      <a:rPr kumimoji="1" lang="en-US" altLang="zh-CN" sz="2400" i="1" dirty="0">
                        <a:solidFill>
                          <a:schemeClr val="tx1"/>
                        </a:solidFill>
                        <a:latin typeface="Cambria Math" panose="02040503050406030204" pitchFamily="18" charset="0"/>
                        <a:sym typeface="Symbol" panose="05050102010706020507" pitchFamily="18" charset="2"/>
                      </a:rPr>
                      <m:t>𝑚</m:t>
                    </m:r>
                    <m:r>
                      <a:rPr kumimoji="1" lang="en-US" altLang="zh-CN" sz="2400" i="1" dirty="0">
                        <a:solidFill>
                          <a:schemeClr val="tx1"/>
                        </a:solidFill>
                        <a:latin typeface="Cambria Math" panose="02040503050406030204" pitchFamily="18" charset="0"/>
                        <a:sym typeface="Symbol" panose="05050102010706020507" pitchFamily="18" charset="2"/>
                      </a:rPr>
                      <m:t>    </m:t>
                    </m:r>
                    <m:r>
                      <a:rPr kumimoji="1" lang="en-US" altLang="zh-CN" sz="2400" b="0" i="1" dirty="0" smtClean="0">
                        <a:solidFill>
                          <a:schemeClr val="tx1"/>
                        </a:solidFill>
                        <a:latin typeface="Cambria Math" charset="0"/>
                        <a:sym typeface="Symbol" panose="05050102010706020507" pitchFamily="18" charset="2"/>
                      </a:rPr>
                      <m:t>                 </m:t>
                    </m:r>
                    <m:r>
                      <a:rPr kumimoji="1" lang="en-US" altLang="zh-CN" sz="2400" i="1" dirty="0" smtClean="0">
                        <a:solidFill>
                          <a:schemeClr val="tx1"/>
                        </a:solidFill>
                        <a:latin typeface="Cambria Math" panose="02040503050406030204" pitchFamily="18" charset="0"/>
                        <a:sym typeface="Symbol" panose="05050102010706020507" pitchFamily="18" charset="2"/>
                      </a:rPr>
                      <m:t>𝑚</m:t>
                    </m:r>
                  </m:oMath>
                </a14:m>
                <a:r>
                  <a:rPr kumimoji="1" lang="zh-CN" altLang="en-US" sz="2400" dirty="0" smtClean="0">
                    <a:solidFill>
                      <a:schemeClr val="tx1"/>
                    </a:solidFill>
                  </a:rPr>
                  <a:t>为正</a:t>
                </a:r>
                <a:r>
                  <a:rPr kumimoji="1" lang="zh-CN" altLang="en-US" sz="2400" dirty="0" smtClean="0">
                    <a:solidFill>
                      <a:schemeClr val="tx1"/>
                    </a:solidFill>
                  </a:rPr>
                  <a:t>整数</a:t>
                </a:r>
                <a:endParaRPr kumimoji="1" lang="en-US" altLang="zh-CN" sz="2400" dirty="0" smtClean="0">
                  <a:solidFill>
                    <a:schemeClr val="tx1"/>
                  </a:solidFill>
                </a:endParaRPr>
              </a:p>
              <a:p>
                <a:endParaRPr kumimoji="1" lang="en-US" altLang="zh-CN" sz="2400" dirty="0"/>
              </a:p>
              <a:p>
                <a:r>
                  <a:rPr kumimoji="1" lang="zh-CN" altLang="en-US" sz="2400" dirty="0" smtClean="0">
                    <a:solidFill>
                      <a:schemeClr val="tx1"/>
                    </a:solidFill>
                  </a:rPr>
                  <a:t>一样的！         </a:t>
                </a:r>
                <a:endParaRPr kumimoji="1" lang="zh-CN" altLang="en-US" sz="2400" dirty="0">
                  <a:solidFill>
                    <a:schemeClr val="tx1"/>
                  </a:solidFill>
                </a:endParaRPr>
              </a:p>
            </p:txBody>
          </p:sp>
        </mc:Choice>
        <mc:Fallback>
          <p:sp>
            <p:nvSpPr>
              <p:cNvPr id="5" name="矩形 4"/>
              <p:cNvSpPr>
                <a:spLocks noRot="1" noChangeAspect="1" noMove="1" noResize="1" noEditPoints="1" noAdjustHandles="1" noChangeArrowheads="1" noChangeShapeType="1" noTextEdit="1"/>
              </p:cNvSpPr>
              <p:nvPr/>
            </p:nvSpPr>
            <p:spPr>
              <a:xfrm>
                <a:off x="510541" y="1214328"/>
                <a:ext cx="5869939" cy="5635389"/>
              </a:xfrm>
              <a:prstGeom prst="rect">
                <a:avLst/>
              </a:prstGeom>
              <a:blipFill rotWithShape="0">
                <a:blip r:embed="rId2"/>
                <a:stretch>
                  <a:fillRect l="-2181" t="-1189" b="-1514"/>
                </a:stretch>
              </a:blipFill>
            </p:spPr>
            <p:txBody>
              <a:bodyPr/>
              <a:lstStyle/>
              <a:p>
                <a:r>
                  <a:rPr lang="zh-CN" altLang="en-US">
                    <a:noFill/>
                  </a:rPr>
                  <a:t> </a:t>
                </a:r>
              </a:p>
            </p:txBody>
          </p:sp>
        </mc:Fallback>
      </mc:AlternateContent>
      <p:pic>
        <p:nvPicPr>
          <p:cNvPr id="2" name="图片 1"/>
          <p:cNvPicPr>
            <a:picLocks noChangeAspect="1"/>
          </p:cNvPicPr>
          <p:nvPr/>
        </p:nvPicPr>
        <p:blipFill rotWithShape="1">
          <a:blip r:embed="rId3"/>
          <a:srcRect l="13430"/>
          <a:stretch/>
        </p:blipFill>
        <p:spPr>
          <a:xfrm>
            <a:off x="6262986" y="1526179"/>
            <a:ext cx="5816460" cy="33080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609600" y="1472915"/>
                <a:ext cx="6745941" cy="5730415"/>
              </a:xfrm>
              <a:prstGeom prst="rect">
                <a:avLst/>
              </a:prstGeom>
            </p:spPr>
            <p:txBody>
              <a:bodyPr wrap="square">
                <a:spAutoFit/>
              </a:bodyPr>
              <a:lstStyle/>
              <a:p>
                <a:r>
                  <a:rPr kumimoji="1" lang="en-US" altLang="zh-CN" sz="2800" dirty="0" smtClean="0"/>
                  <a:t>§2.4</a:t>
                </a:r>
                <a:r>
                  <a:rPr kumimoji="1" lang="zh-CN" altLang="en-US" sz="2800" dirty="0" smtClean="0"/>
                  <a:t> 原子散射因子和几何结构因子</a:t>
                </a:r>
                <a:endParaRPr kumimoji="1" lang="en-US" altLang="zh-CN" sz="2800" dirty="0"/>
              </a:p>
              <a:p>
                <a:endParaRPr kumimoji="1" lang="en-US" altLang="zh-CN" sz="800" dirty="0"/>
              </a:p>
              <a:p>
                <a:r>
                  <a:rPr kumimoji="1" lang="en-US" altLang="zh-CN" sz="2400" dirty="0" smtClean="0"/>
                  <a:t>2.4.1</a:t>
                </a:r>
                <a:r>
                  <a:rPr kumimoji="1" lang="zh-CN" altLang="en-US" sz="2400" dirty="0" smtClean="0"/>
                  <a:t> 原子散射</a:t>
                </a:r>
                <a:r>
                  <a:rPr kumimoji="1" lang="en-US" altLang="zh-CN" sz="2400" dirty="0" smtClean="0"/>
                  <a:t>X</a:t>
                </a:r>
                <a:r>
                  <a:rPr kumimoji="1" lang="zh-CN" altLang="en-US" sz="2400" dirty="0" smtClean="0"/>
                  <a:t>射线的本领</a:t>
                </a:r>
                <a:endParaRPr kumimoji="1" lang="en-US" altLang="zh-CN" sz="2400" dirty="0" smtClean="0"/>
              </a:p>
              <a:p>
                <a:endParaRPr kumimoji="1" lang="en-US" altLang="zh-CN" sz="1600" dirty="0" smtClean="0"/>
              </a:p>
              <a:p>
                <a:r>
                  <a:rPr kumimoji="1" lang="zh-CN" altLang="en-US" sz="2400" dirty="0" smtClean="0"/>
                  <a:t>衍射斑的强度有区别吗？</a:t>
                </a:r>
                <a:endParaRPr kumimoji="1" lang="en-US" altLang="zh-CN" sz="2400" dirty="0" smtClean="0"/>
              </a:p>
              <a:p>
                <a:r>
                  <a:rPr kumimoji="1" lang="zh-CN" altLang="en-US" sz="2400" dirty="0" smtClean="0"/>
                  <a:t>原子散射因子：整个原子对入射波的散射幅度与一个假想的原子核处的电子的散射幅度的比值</a:t>
                </a:r>
                <a:endParaRPr kumimoji="1" lang="en-US" altLang="zh-CN" sz="2400" dirty="0"/>
              </a:p>
              <a:p>
                <a:r>
                  <a:rPr kumimoji="1" lang="zh-CN" altLang="en-US" sz="2400" dirty="0" smtClean="0"/>
                  <a:t>任意电子（</a:t>
                </a:r>
                <a:r>
                  <a:rPr kumimoji="1" lang="en-US" altLang="zh-CN" sz="2400" b="1" dirty="0" err="1" smtClean="0"/>
                  <a:t>r</a:t>
                </a:r>
                <a:r>
                  <a:rPr kumimoji="1" lang="en-US" altLang="zh-CN" sz="2400" baseline="-25000" dirty="0" err="1" smtClean="0"/>
                  <a:t>j</a:t>
                </a:r>
                <a:r>
                  <a:rPr kumimoji="1" lang="zh-CN" altLang="en-US" sz="2400" dirty="0" smtClean="0"/>
                  <a:t>）与原子核处电子</a:t>
                </a:r>
                <a:r>
                  <a:rPr kumimoji="1" lang="zh-CN" altLang="en-US" sz="2400" dirty="0"/>
                  <a:t>（</a:t>
                </a:r>
                <a:r>
                  <a:rPr kumimoji="1" lang="en-US" altLang="zh-CN" sz="2400" b="1" dirty="0" smtClean="0"/>
                  <a:t>r</a:t>
                </a:r>
                <a:r>
                  <a:rPr kumimoji="1" lang="en-US" altLang="zh-CN" sz="2400" dirty="0" smtClean="0"/>
                  <a:t>=0</a:t>
                </a:r>
                <a:r>
                  <a:rPr kumimoji="1" lang="zh-CN" altLang="en-US" sz="2400" dirty="0" smtClean="0"/>
                  <a:t>）的位相差</a:t>
                </a:r>
                <a:r>
                  <a:rPr kumimoji="1" lang="en-US" altLang="zh-CN" sz="2400" dirty="0" smtClean="0"/>
                  <a:t>:</a:t>
                </a:r>
              </a:p>
              <a:p>
                <a14:m>
                  <m:oMath xmlns:m="http://schemas.openxmlformats.org/officeDocument/2006/math">
                    <m:r>
                      <a:rPr kumimoji="1" lang="en-US" altLang="zh-CN" sz="2400" b="1" i="1" smtClean="0">
                        <a:latin typeface="Cambria Math" charset="0"/>
                        <a:ea typeface="Cambria Math" charset="0"/>
                        <a:cs typeface="Cambria Math" charset="0"/>
                      </a:rPr>
                      <m:t>𝜹</m:t>
                    </m:r>
                    <m:r>
                      <a:rPr kumimoji="1" lang="en-US" altLang="zh-CN" sz="2400" b="1" i="1" smtClean="0">
                        <a:latin typeface="Cambria Math" charset="0"/>
                        <a:ea typeface="Symbol" charset="2"/>
                        <a:cs typeface="Symbol" charset="2"/>
                      </a:rPr>
                      <m:t>=</m:t>
                    </m:r>
                    <m:d>
                      <m:dPr>
                        <m:ctrlPr>
                          <a:rPr kumimoji="1" lang="en-US" altLang="zh-CN" sz="2400" b="1" i="1">
                            <a:latin typeface="Cambria Math" charset="0"/>
                          </a:rPr>
                        </m:ctrlPr>
                      </m:dPr>
                      <m:e>
                        <m:r>
                          <a:rPr kumimoji="1" lang="en-US" altLang="zh-CN" sz="2400" b="1" i="1">
                            <a:latin typeface="Cambria Math" charset="0"/>
                          </a:rPr>
                          <m:t>𝒌</m:t>
                        </m:r>
                        <m:r>
                          <a:rPr kumimoji="1" lang="en-US" altLang="zh-CN" sz="2400" b="1" i="1">
                            <a:latin typeface="Cambria Math" charset="0"/>
                          </a:rPr>
                          <m:t>−</m:t>
                        </m:r>
                        <m:r>
                          <a:rPr kumimoji="1" lang="en-US" altLang="zh-CN" sz="2400" b="1" i="1">
                            <a:latin typeface="Cambria Math" charset="0"/>
                          </a:rPr>
                          <m:t>𝒌</m:t>
                        </m:r>
                        <m:r>
                          <a:rPr kumimoji="1" lang="en-US" altLang="zh-CN" sz="2400" i="1" baseline="-25000">
                            <a:latin typeface="Cambria Math" charset="0"/>
                          </a:rPr>
                          <m:t>0</m:t>
                        </m:r>
                      </m:e>
                    </m:d>
                    <m:r>
                      <a:rPr kumimoji="1" lang="en-US" altLang="zh-CN" sz="2400" i="1">
                        <a:latin typeface="Cambria Math" charset="0"/>
                        <a:ea typeface="Cambria Math" charset="0"/>
                        <a:cs typeface="Cambria Math" charset="0"/>
                      </a:rPr>
                      <m:t>∙</m:t>
                    </m:r>
                    <m:r>
                      <a:rPr kumimoji="1" lang="en-US" altLang="zh-CN" sz="2400" b="1" i="1" smtClean="0">
                        <a:latin typeface="Cambria Math" charset="0"/>
                        <a:ea typeface="Cambria Math" charset="0"/>
                        <a:cs typeface="Cambria Math" charset="0"/>
                      </a:rPr>
                      <m:t>𝒓</m:t>
                    </m:r>
                  </m:oMath>
                </a14:m>
                <a:r>
                  <a:rPr kumimoji="1" lang="en-US" altLang="zh-CN" sz="2400" baseline="-25000" dirty="0" smtClean="0"/>
                  <a:t>j</a:t>
                </a:r>
                <a:r>
                  <a:rPr kumimoji="1" lang="en-US" altLang="zh-CN" sz="2400" dirty="0"/>
                  <a:t>	</a:t>
                </a:r>
                <a:endParaRPr kumimoji="1" lang="en-US" altLang="zh-CN" sz="2400" dirty="0" smtClean="0"/>
              </a:p>
              <a:p>
                <a:r>
                  <a:rPr kumimoji="1" lang="zh-CN" altLang="en-US" sz="2400" dirty="0" smtClean="0"/>
                  <a:t>可得原子散射因子：</a:t>
                </a:r>
                <a:endParaRPr kumimoji="1" lang="en-US" altLang="zh-CN" sz="2400" dirty="0" smtClean="0"/>
              </a:p>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charset="0"/>
                        </a:rPr>
                        <m:t>𝑓</m:t>
                      </m:r>
                      <m:r>
                        <a:rPr kumimoji="1" lang="en-US" altLang="zh-CN" sz="2400" b="0" i="1" smtClean="0">
                          <a:latin typeface="Cambria Math" charset="0"/>
                        </a:rPr>
                        <m:t>(</m:t>
                      </m:r>
                      <m:r>
                        <a:rPr kumimoji="1" lang="en-US" altLang="zh-CN" sz="2400" b="1" i="1" smtClean="0">
                          <a:latin typeface="Cambria Math" charset="0"/>
                        </a:rPr>
                        <m:t>𝒌</m:t>
                      </m:r>
                      <m:r>
                        <a:rPr kumimoji="1" lang="en-US" altLang="zh-CN" sz="2400" b="0" i="1" smtClean="0">
                          <a:latin typeface="Cambria Math" charset="0"/>
                        </a:rPr>
                        <m:t>)</m:t>
                      </m:r>
                      <m:r>
                        <a:rPr kumimoji="1" lang="en-US" altLang="zh-CN" sz="2400" i="1">
                          <a:latin typeface="Cambria Math" charset="0"/>
                        </a:rPr>
                        <m:t>=</m:t>
                      </m:r>
                      <m:nary>
                        <m:naryPr>
                          <m:chr m:val="∑"/>
                          <m:supHide m:val="on"/>
                          <m:ctrlPr>
                            <a:rPr kumimoji="1" lang="is-IS" altLang="zh-CN" sz="2400" i="1">
                              <a:latin typeface="Cambria Math" charset="0"/>
                            </a:rPr>
                          </m:ctrlPr>
                        </m:naryPr>
                        <m:sub>
                          <m:r>
                            <m:rPr>
                              <m:brk m:alnAt="23"/>
                            </m:rPr>
                            <a:rPr kumimoji="1" lang="en-US" altLang="zh-CN" sz="2400" i="1">
                              <a:latin typeface="Cambria Math" charset="0"/>
                            </a:rPr>
                            <m:t>𝑗</m:t>
                          </m:r>
                        </m:sub>
                        <m:sup/>
                        <m:e>
                          <m:r>
                            <a:rPr kumimoji="1" lang="en-US" altLang="zh-CN" sz="2400" i="1">
                              <a:latin typeface="Cambria Math" charset="0"/>
                            </a:rPr>
                            <m:t>𝑎</m:t>
                          </m:r>
                          <m:sSup>
                            <m:sSupPr>
                              <m:ctrlPr>
                                <a:rPr kumimoji="1" lang="el-GR" altLang="zh-CN" sz="2400" i="1">
                                  <a:latin typeface="Cambria Math" charset="0"/>
                                </a:rPr>
                              </m:ctrlPr>
                            </m:sSupPr>
                            <m:e>
                              <m:r>
                                <a:rPr kumimoji="1" lang="el-GR" altLang="zh-CN" sz="2400" i="1">
                                  <a:latin typeface="Cambria Math" charset="0"/>
                                </a:rPr>
                                <m:t>𝑒</m:t>
                              </m:r>
                            </m:e>
                            <m:sup>
                              <m:r>
                                <a:rPr kumimoji="1" lang="el-GR" altLang="zh-CN" sz="2400" i="1">
                                  <a:latin typeface="Cambria Math" charset="0"/>
                                </a:rPr>
                                <m:t>𝑖</m:t>
                              </m:r>
                              <m:r>
                                <a:rPr kumimoji="1" lang="en-US" altLang="zh-CN" sz="2400" i="1">
                                  <a:latin typeface="Cambria Math" charset="0"/>
                                </a:rPr>
                                <m:t>(</m:t>
                              </m:r>
                              <m:r>
                                <a:rPr kumimoji="1" lang="en-US" altLang="zh-CN" sz="2400" b="1" i="1">
                                  <a:latin typeface="Cambria Math" charset="0"/>
                                </a:rPr>
                                <m:t>𝒌</m:t>
                              </m:r>
                              <m:r>
                                <a:rPr kumimoji="1" lang="en-US" altLang="zh-CN" sz="2400" b="1" i="1">
                                  <a:latin typeface="Cambria Math" charset="0"/>
                                </a:rPr>
                                <m:t>−</m:t>
                              </m:r>
                              <m:r>
                                <a:rPr kumimoji="1" lang="en-US" altLang="zh-CN" sz="2400" b="1" i="1">
                                  <a:latin typeface="Cambria Math" charset="0"/>
                                </a:rPr>
                                <m:t>𝒌</m:t>
                              </m:r>
                              <m:r>
                                <a:rPr kumimoji="1" lang="en-US" altLang="zh-CN" sz="2400" i="1" baseline="-25000">
                                  <a:latin typeface="Cambria Math" charset="0"/>
                                </a:rPr>
                                <m:t>0</m:t>
                              </m:r>
                              <m:r>
                                <a:rPr kumimoji="1" lang="en-US" altLang="zh-CN" sz="2400" i="1">
                                  <a:latin typeface="Cambria Math" charset="0"/>
                                </a:rPr>
                                <m:t>)</m:t>
                              </m:r>
                              <m:r>
                                <a:rPr kumimoji="1" lang="en-US" altLang="zh-CN" sz="2400" i="1">
                                  <a:latin typeface="Cambria Math" charset="0"/>
                                  <a:ea typeface="Cambria Math" charset="0"/>
                                  <a:cs typeface="Cambria Math" charset="0"/>
                                </a:rPr>
                                <m:t>∙</m:t>
                              </m:r>
                              <m:r>
                                <a:rPr kumimoji="1" lang="en-US" altLang="zh-CN" sz="2400" b="1" i="1" smtClean="0">
                                  <a:latin typeface="Cambria Math" charset="0"/>
                                  <a:ea typeface="Cambria Math" charset="0"/>
                                  <a:cs typeface="Cambria Math" charset="0"/>
                                </a:rPr>
                                <m:t>𝒓</m:t>
                              </m:r>
                            </m:sup>
                          </m:sSup>
                          <m:r>
                            <a:rPr kumimoji="1" lang="en-US" altLang="zh-CN" sz="2400" b="0" i="1" smtClean="0">
                              <a:latin typeface="Cambria Math" charset="0"/>
                              <a:ea typeface="Cambria Math" charset="0"/>
                              <a:cs typeface="Cambria Math" charset="0"/>
                            </a:rPr>
                            <m:t>𝑗</m:t>
                          </m:r>
                          <m:r>
                            <a:rPr kumimoji="1" lang="en-US" altLang="zh-CN" sz="2400" b="0" i="1" smtClean="0">
                              <a:latin typeface="Cambria Math" charset="0"/>
                              <a:ea typeface="Cambria Math" charset="0"/>
                              <a:cs typeface="Cambria Math" charset="0"/>
                            </a:rPr>
                            <m:t>/</m:t>
                          </m:r>
                          <m:r>
                            <a:rPr kumimoji="1" lang="en-US" altLang="zh-CN" sz="2400" b="0" i="1" smtClean="0">
                              <a:latin typeface="Cambria Math" charset="0"/>
                              <a:ea typeface="Cambria Math" charset="0"/>
                              <a:cs typeface="Cambria Math" charset="0"/>
                            </a:rPr>
                            <m:t>𝑎</m:t>
                          </m:r>
                        </m:e>
                      </m:nary>
                      <m:r>
                        <a:rPr kumimoji="1" lang="en-US" altLang="zh-CN" sz="2400" b="0" i="1" baseline="-25000" smtClean="0">
                          <a:latin typeface="Cambria Math" charset="0"/>
                          <a:ea typeface="Cambria Math" charset="0"/>
                          <a:cs typeface="Cambria Math" charset="0"/>
                        </a:rPr>
                        <m:t>=</m:t>
                      </m:r>
                      <m:nary>
                        <m:naryPr>
                          <m:chr m:val="∑"/>
                          <m:supHide m:val="on"/>
                          <m:ctrlPr>
                            <a:rPr kumimoji="1" lang="is-IS" altLang="zh-CN" sz="2400" i="1">
                              <a:latin typeface="Cambria Math" charset="0"/>
                            </a:rPr>
                          </m:ctrlPr>
                        </m:naryPr>
                        <m:sub>
                          <m:r>
                            <m:rPr>
                              <m:brk m:alnAt="23"/>
                            </m:rPr>
                            <a:rPr kumimoji="1" lang="en-US" altLang="zh-CN" sz="2400" i="1">
                              <a:latin typeface="Cambria Math" charset="0"/>
                            </a:rPr>
                            <m:t>𝑗</m:t>
                          </m:r>
                        </m:sub>
                        <m:sup/>
                        <m:e>
                          <m:sSup>
                            <m:sSupPr>
                              <m:ctrlPr>
                                <a:rPr kumimoji="1" lang="el-GR" altLang="zh-CN" sz="2400" i="1">
                                  <a:latin typeface="Cambria Math" charset="0"/>
                                </a:rPr>
                              </m:ctrlPr>
                            </m:sSupPr>
                            <m:e>
                              <m:r>
                                <a:rPr kumimoji="1" lang="el-GR" altLang="zh-CN" sz="2400" i="1">
                                  <a:latin typeface="Cambria Math" charset="0"/>
                                </a:rPr>
                                <m:t>𝑒</m:t>
                              </m:r>
                            </m:e>
                            <m:sup>
                              <m:r>
                                <a:rPr kumimoji="1" lang="el-GR" altLang="zh-CN" sz="2400" i="1">
                                  <a:latin typeface="Cambria Math" charset="0"/>
                                </a:rPr>
                                <m:t>𝑖</m:t>
                              </m:r>
                              <m:r>
                                <a:rPr kumimoji="1" lang="en-US" altLang="zh-CN" sz="2400" i="1">
                                  <a:latin typeface="Cambria Math" charset="0"/>
                                </a:rPr>
                                <m:t>(</m:t>
                              </m:r>
                              <m:r>
                                <a:rPr kumimoji="1" lang="en-US" altLang="zh-CN" sz="2400" b="1" i="1">
                                  <a:latin typeface="Cambria Math" charset="0"/>
                                </a:rPr>
                                <m:t>𝒌</m:t>
                              </m:r>
                              <m:r>
                                <a:rPr kumimoji="1" lang="en-US" altLang="zh-CN" sz="2400" b="1" i="1">
                                  <a:latin typeface="Cambria Math" charset="0"/>
                                </a:rPr>
                                <m:t>−</m:t>
                              </m:r>
                              <m:r>
                                <a:rPr kumimoji="1" lang="en-US" altLang="zh-CN" sz="2400" b="1" i="1">
                                  <a:latin typeface="Cambria Math" charset="0"/>
                                </a:rPr>
                                <m:t>𝒌</m:t>
                              </m:r>
                              <m:r>
                                <a:rPr kumimoji="1" lang="en-US" altLang="zh-CN" sz="2400" i="1" baseline="-25000">
                                  <a:latin typeface="Cambria Math" charset="0"/>
                                </a:rPr>
                                <m:t>0</m:t>
                              </m:r>
                              <m:r>
                                <a:rPr kumimoji="1" lang="en-US" altLang="zh-CN" sz="2400" i="1">
                                  <a:latin typeface="Cambria Math" charset="0"/>
                                </a:rPr>
                                <m:t>)</m:t>
                              </m:r>
                              <m:r>
                                <a:rPr kumimoji="1" lang="en-US" altLang="zh-CN" sz="2400" i="1">
                                  <a:latin typeface="Cambria Math" charset="0"/>
                                  <a:ea typeface="Cambria Math" charset="0"/>
                                  <a:cs typeface="Cambria Math" charset="0"/>
                                </a:rPr>
                                <m:t>∙</m:t>
                              </m:r>
                              <m:r>
                                <a:rPr kumimoji="1" lang="en-US" altLang="zh-CN" sz="2400" b="1" i="1">
                                  <a:latin typeface="Cambria Math" charset="0"/>
                                  <a:ea typeface="Cambria Math" charset="0"/>
                                  <a:cs typeface="Cambria Math" charset="0"/>
                                </a:rPr>
                                <m:t>𝒓</m:t>
                              </m:r>
                            </m:sup>
                          </m:sSup>
                          <m:r>
                            <a:rPr kumimoji="1" lang="en-US" altLang="zh-CN" sz="2400" i="1">
                              <a:latin typeface="Cambria Math" charset="0"/>
                              <a:ea typeface="Cambria Math" charset="0"/>
                              <a:cs typeface="Cambria Math" charset="0"/>
                            </a:rPr>
                            <m:t>𝑗</m:t>
                          </m:r>
                        </m:e>
                      </m:nary>
                    </m:oMath>
                  </m:oMathPara>
                </a14:m>
                <a:endParaRPr kumimoji="1" lang="en-US" altLang="zh-CN" sz="2400" dirty="0" smtClean="0"/>
              </a:p>
              <a:p>
                <a:r>
                  <a:rPr kumimoji="1" lang="zh-CN" altLang="en-US" sz="2400" dirty="0" smtClean="0"/>
                  <a:t>或：</a:t>
                </a:r>
                <a14:m>
                  <m:oMath xmlns:m="http://schemas.openxmlformats.org/officeDocument/2006/math">
                    <m:r>
                      <a:rPr kumimoji="1" lang="en-US" altLang="zh-CN" sz="2400" i="1">
                        <a:latin typeface="Cambria Math" charset="0"/>
                      </a:rPr>
                      <m:t>𝑓</m:t>
                    </m:r>
                    <m:r>
                      <a:rPr kumimoji="1" lang="en-US" altLang="zh-CN" sz="2400" b="0" i="1" smtClean="0">
                        <a:latin typeface="Cambria Math" charset="0"/>
                      </a:rPr>
                      <m:t>(</m:t>
                    </m:r>
                    <m:r>
                      <a:rPr kumimoji="1" lang="en-US" altLang="zh-CN" sz="2400" b="1" i="1" smtClean="0">
                        <a:latin typeface="Cambria Math" charset="0"/>
                      </a:rPr>
                      <m:t>𝑲</m:t>
                    </m:r>
                    <m:r>
                      <a:rPr kumimoji="1" lang="en-US" altLang="zh-CN" sz="2400" b="0" i="1" smtClean="0">
                        <a:latin typeface="Cambria Math" charset="0"/>
                      </a:rPr>
                      <m:t>)</m:t>
                    </m:r>
                    <m:r>
                      <a:rPr kumimoji="1" lang="en-US" altLang="zh-CN" sz="2400" i="1">
                        <a:latin typeface="Cambria Math" charset="0"/>
                      </a:rPr>
                      <m:t>=</m:t>
                    </m:r>
                    <m:nary>
                      <m:naryPr>
                        <m:limLoc m:val="undOvr"/>
                        <m:subHide m:val="on"/>
                        <m:supHide m:val="on"/>
                        <m:ctrlPr>
                          <a:rPr kumimoji="1" lang="en-US" altLang="zh-CN" sz="2400" i="1" smtClean="0">
                            <a:latin typeface="Cambria Math" charset="0"/>
                          </a:rPr>
                        </m:ctrlPr>
                      </m:naryPr>
                      <m:sub/>
                      <m:sup/>
                      <m:e>
                        <m:sSup>
                          <m:sSupPr>
                            <m:ctrlPr>
                              <a:rPr kumimoji="1" lang="el-GR" altLang="zh-CN" sz="2400" i="1">
                                <a:latin typeface="Cambria Math" charset="0"/>
                              </a:rPr>
                            </m:ctrlPr>
                          </m:sSupPr>
                          <m:e>
                            <m:r>
                              <a:rPr kumimoji="1" lang="el-GR" altLang="zh-CN" sz="2400" i="1">
                                <a:latin typeface="Cambria Math" charset="0"/>
                              </a:rPr>
                              <m:t>𝑒</m:t>
                            </m:r>
                          </m:e>
                          <m:sup>
                            <m:r>
                              <a:rPr kumimoji="1" lang="el-GR" altLang="zh-CN" sz="2400" i="1">
                                <a:latin typeface="Cambria Math" charset="0"/>
                              </a:rPr>
                              <m:t>𝑖</m:t>
                            </m:r>
                            <m:d>
                              <m:dPr>
                                <m:ctrlPr>
                                  <a:rPr kumimoji="1" lang="en-US" altLang="zh-CN" sz="2400" i="1">
                                    <a:latin typeface="Cambria Math" charset="0"/>
                                  </a:rPr>
                                </m:ctrlPr>
                              </m:dPr>
                              <m:e>
                                <m:r>
                                  <a:rPr kumimoji="1" lang="en-US" altLang="zh-CN" sz="2400" b="1" i="1">
                                    <a:latin typeface="Cambria Math" charset="0"/>
                                  </a:rPr>
                                  <m:t>𝒌</m:t>
                                </m:r>
                                <m:r>
                                  <a:rPr kumimoji="1" lang="en-US" altLang="zh-CN" sz="2400" b="1" i="1">
                                    <a:latin typeface="Cambria Math" charset="0"/>
                                  </a:rPr>
                                  <m:t>−</m:t>
                                </m:r>
                                <m:r>
                                  <a:rPr kumimoji="1" lang="en-US" altLang="zh-CN" sz="2400" b="1" i="1">
                                    <a:latin typeface="Cambria Math" charset="0"/>
                                  </a:rPr>
                                  <m:t>𝒌</m:t>
                                </m:r>
                                <m:r>
                                  <a:rPr kumimoji="1" lang="en-US" altLang="zh-CN" sz="2400" i="1" baseline="-25000">
                                    <a:latin typeface="Cambria Math" charset="0"/>
                                  </a:rPr>
                                  <m:t>0</m:t>
                                </m:r>
                              </m:e>
                            </m:d>
                            <m:r>
                              <a:rPr kumimoji="1" lang="en-US" altLang="zh-CN" sz="2400" i="1">
                                <a:latin typeface="Cambria Math" charset="0"/>
                                <a:ea typeface="Cambria Math" charset="0"/>
                                <a:cs typeface="Cambria Math" charset="0"/>
                              </a:rPr>
                              <m:t>∙</m:t>
                            </m:r>
                            <m:r>
                              <a:rPr kumimoji="1" lang="en-US" altLang="zh-CN" sz="2400" b="1" i="1">
                                <a:latin typeface="Cambria Math" charset="0"/>
                                <a:ea typeface="Cambria Math" charset="0"/>
                                <a:cs typeface="Cambria Math" charset="0"/>
                              </a:rPr>
                              <m:t>𝒓</m:t>
                            </m:r>
                          </m:sup>
                        </m:sSup>
                        <m:r>
                          <a:rPr kumimoji="1" lang="en-US" altLang="zh-CN" sz="2400" i="1" smtClean="0">
                            <a:latin typeface="Cambria Math" charset="0"/>
                            <a:ea typeface="Cambria Math" charset="0"/>
                            <a:cs typeface="Cambria Math" charset="0"/>
                          </a:rPr>
                          <m:t>𝜌</m:t>
                        </m:r>
                        <m:d>
                          <m:dPr>
                            <m:ctrlPr>
                              <a:rPr kumimoji="1" lang="en-US" altLang="zh-CN" sz="2400" b="0" i="1" smtClean="0">
                                <a:latin typeface="Cambria Math" charset="0"/>
                                <a:ea typeface="Cambria Math" charset="0"/>
                                <a:cs typeface="Cambria Math" charset="0"/>
                              </a:rPr>
                            </m:ctrlPr>
                          </m:dPr>
                          <m:e>
                            <m:r>
                              <a:rPr kumimoji="1" lang="en-US" altLang="zh-CN" sz="2400" b="1" i="1" smtClean="0">
                                <a:latin typeface="Cambria Math" charset="0"/>
                                <a:ea typeface="Cambria Math" charset="0"/>
                                <a:cs typeface="Cambria Math" charset="0"/>
                              </a:rPr>
                              <m:t>𝒓</m:t>
                            </m:r>
                          </m:e>
                        </m:d>
                        <m:r>
                          <a:rPr kumimoji="1" lang="en-US" altLang="zh-CN" sz="2400" b="0" i="1" smtClean="0">
                            <a:latin typeface="Cambria Math" charset="0"/>
                            <a:ea typeface="Cambria Math" charset="0"/>
                            <a:cs typeface="Cambria Math" charset="0"/>
                          </a:rPr>
                          <m:t>𝑑</m:t>
                        </m:r>
                        <m:r>
                          <a:rPr kumimoji="1" lang="en-US" altLang="zh-CN" sz="2400" b="1" i="1" smtClean="0">
                            <a:latin typeface="Cambria Math" charset="0"/>
                            <a:ea typeface="Cambria Math" charset="0"/>
                            <a:cs typeface="Cambria Math" charset="0"/>
                          </a:rPr>
                          <m:t>𝒓</m:t>
                        </m:r>
                      </m:e>
                    </m:nary>
                    <m:r>
                      <a:rPr kumimoji="1" lang="en-US" altLang="zh-CN" sz="2400" b="0" i="1" smtClean="0">
                        <a:latin typeface="Cambria Math" charset="0"/>
                      </a:rPr>
                      <m:t>=</m:t>
                    </m:r>
                    <m:nary>
                      <m:naryPr>
                        <m:limLoc m:val="undOvr"/>
                        <m:subHide m:val="on"/>
                        <m:supHide m:val="on"/>
                        <m:ctrlPr>
                          <a:rPr kumimoji="1" lang="en-US" altLang="zh-CN" sz="2400" i="1">
                            <a:latin typeface="Cambria Math" charset="0"/>
                          </a:rPr>
                        </m:ctrlPr>
                      </m:naryPr>
                      <m:sub/>
                      <m:sup/>
                      <m:e>
                        <m:sSup>
                          <m:sSupPr>
                            <m:ctrlPr>
                              <a:rPr kumimoji="1" lang="el-GR" altLang="zh-CN" sz="2400" i="1">
                                <a:latin typeface="Cambria Math" charset="0"/>
                              </a:rPr>
                            </m:ctrlPr>
                          </m:sSupPr>
                          <m:e>
                            <m:r>
                              <a:rPr kumimoji="1" lang="el-GR" altLang="zh-CN" sz="2400" i="1">
                                <a:latin typeface="Cambria Math" charset="0"/>
                              </a:rPr>
                              <m:t>𝑒</m:t>
                            </m:r>
                          </m:e>
                          <m:sup>
                            <m:r>
                              <a:rPr kumimoji="1" lang="el-GR" altLang="zh-CN" sz="2400" i="1">
                                <a:latin typeface="Cambria Math" charset="0"/>
                              </a:rPr>
                              <m:t>𝑖</m:t>
                            </m:r>
                            <m:r>
                              <a:rPr kumimoji="1" lang="en-US" altLang="zh-CN" sz="2400" b="1" i="1" smtClean="0">
                                <a:latin typeface="Cambria Math" charset="0"/>
                              </a:rPr>
                              <m:t>𝑲</m:t>
                            </m:r>
                            <m:r>
                              <a:rPr kumimoji="1" lang="en-US" altLang="zh-CN" sz="2400" i="1">
                                <a:latin typeface="Cambria Math" charset="0"/>
                                <a:ea typeface="Cambria Math" charset="0"/>
                                <a:cs typeface="Cambria Math" charset="0"/>
                              </a:rPr>
                              <m:t>∙</m:t>
                            </m:r>
                            <m:r>
                              <a:rPr kumimoji="1" lang="en-US" altLang="zh-CN" sz="2400" b="1" i="1">
                                <a:latin typeface="Cambria Math" charset="0"/>
                                <a:ea typeface="Cambria Math" charset="0"/>
                                <a:cs typeface="Cambria Math" charset="0"/>
                              </a:rPr>
                              <m:t>𝒓</m:t>
                            </m:r>
                          </m:sup>
                        </m:sSup>
                        <m:r>
                          <a:rPr kumimoji="1" lang="en-US" altLang="zh-CN" sz="2400" i="1">
                            <a:latin typeface="Cambria Math" charset="0"/>
                            <a:ea typeface="Cambria Math" charset="0"/>
                            <a:cs typeface="Cambria Math" charset="0"/>
                          </a:rPr>
                          <m:t>𝜌</m:t>
                        </m:r>
                        <m:d>
                          <m:dPr>
                            <m:ctrlPr>
                              <a:rPr kumimoji="1" lang="en-US" altLang="zh-CN" sz="2400" i="1">
                                <a:latin typeface="Cambria Math" charset="0"/>
                                <a:ea typeface="Cambria Math" charset="0"/>
                                <a:cs typeface="Cambria Math" charset="0"/>
                              </a:rPr>
                            </m:ctrlPr>
                          </m:dPr>
                          <m:e>
                            <m:r>
                              <a:rPr kumimoji="1" lang="en-US" altLang="zh-CN" sz="2400" b="1" i="1">
                                <a:latin typeface="Cambria Math" charset="0"/>
                                <a:ea typeface="Cambria Math" charset="0"/>
                                <a:cs typeface="Cambria Math" charset="0"/>
                              </a:rPr>
                              <m:t>𝒓</m:t>
                            </m:r>
                          </m:e>
                        </m:d>
                        <m:r>
                          <a:rPr kumimoji="1" lang="en-US" altLang="zh-CN" sz="2400" i="1">
                            <a:latin typeface="Cambria Math" charset="0"/>
                            <a:ea typeface="Cambria Math" charset="0"/>
                            <a:cs typeface="Cambria Math" charset="0"/>
                          </a:rPr>
                          <m:t>𝑑</m:t>
                        </m:r>
                        <m:r>
                          <a:rPr kumimoji="1" lang="en-US" altLang="zh-CN" sz="2400" b="1" i="1">
                            <a:latin typeface="Cambria Math" charset="0"/>
                            <a:ea typeface="Cambria Math" charset="0"/>
                            <a:cs typeface="Cambria Math" charset="0"/>
                          </a:rPr>
                          <m:t>𝒓</m:t>
                        </m:r>
                      </m:e>
                    </m:nary>
                  </m:oMath>
                </a14:m>
                <a:endParaRPr kumimoji="1" lang="en-US" altLang="zh-CN" sz="2400" dirty="0" smtClean="0"/>
              </a:p>
              <a:p>
                <a:r>
                  <a:rPr kumimoji="1" lang="zh-CN" altLang="en-US" sz="2400" dirty="0" smtClean="0"/>
                  <a:t>可见，</a:t>
                </a:r>
                <a:r>
                  <a:rPr kumimoji="1" lang="en-US" altLang="zh-CN" sz="2400" dirty="0"/>
                  <a:t> </a:t>
                </a:r>
                <a14:m>
                  <m:oMath xmlns:m="http://schemas.openxmlformats.org/officeDocument/2006/math">
                    <m:r>
                      <a:rPr kumimoji="1" lang="en-US" altLang="zh-CN" sz="2400" i="1">
                        <a:latin typeface="Cambria Math" charset="0"/>
                      </a:rPr>
                      <m:t>𝑓</m:t>
                    </m:r>
                  </m:oMath>
                </a14:m>
                <a:r>
                  <a:rPr kumimoji="1" lang="zh-CN" altLang="en-US" sz="2400" dirty="0" smtClean="0"/>
                  <a:t>与原子中电子分布和散射方向相关。</a:t>
                </a:r>
                <a:endParaRPr kumimoji="1" lang="en-US" altLang="zh-CN" sz="2400" dirty="0" smtClean="0"/>
              </a:p>
              <a:p>
                <a:endParaRPr kumimoji="1" lang="en-US" altLang="zh-CN" sz="1600" dirty="0" smtClean="0"/>
              </a:p>
              <a:p>
                <a:endParaRPr kumimoji="1" lang="en-US" altLang="zh-CN" sz="1600" dirty="0"/>
              </a:p>
            </p:txBody>
          </p:sp>
        </mc:Choice>
        <mc:Fallback>
          <p:sp>
            <p:nvSpPr>
              <p:cNvPr id="2" name="矩形 1"/>
              <p:cNvSpPr>
                <a:spLocks noRot="1" noChangeAspect="1" noMove="1" noResize="1" noEditPoints="1" noAdjustHandles="1" noChangeArrowheads="1" noChangeShapeType="1" noTextEdit="1"/>
              </p:cNvSpPr>
              <p:nvPr/>
            </p:nvSpPr>
            <p:spPr>
              <a:xfrm>
                <a:off x="609600" y="1472915"/>
                <a:ext cx="6745941" cy="5730415"/>
              </a:xfrm>
              <a:prstGeom prst="rect">
                <a:avLst/>
              </a:prstGeom>
              <a:blipFill rotWithShape="0">
                <a:blip r:embed="rId2"/>
                <a:stretch>
                  <a:fillRect l="-1807" t="-1277" r="-271"/>
                </a:stretch>
              </a:blipFill>
            </p:spPr>
            <p:txBody>
              <a:bodyPr/>
              <a:lstStyle/>
              <a:p>
                <a:r>
                  <a:rPr lang="zh-CN" altLang="en-US">
                    <a:noFill/>
                  </a:rPr>
                  <a:t> </a:t>
                </a:r>
              </a:p>
            </p:txBody>
          </p:sp>
        </mc:Fallback>
      </mc:AlternateContent>
      <p:sp>
        <p:nvSpPr>
          <p:cNvPr id="3" name="矩形 2"/>
          <p:cNvSpPr/>
          <p:nvPr/>
        </p:nvSpPr>
        <p:spPr>
          <a:xfrm>
            <a:off x="3549536" y="484509"/>
            <a:ext cx="5228704" cy="584775"/>
          </a:xfrm>
          <a:prstGeom prst="rect">
            <a:avLst/>
          </a:prstGeom>
        </p:spPr>
        <p:txBody>
          <a:bodyPr wrap="square">
            <a:spAutoFit/>
          </a:bodyPr>
          <a:lstStyle/>
          <a:p>
            <a:r>
              <a:rPr kumimoji="1" lang="zh-CN" altLang="en-US" sz="3200" dirty="0" smtClean="0"/>
              <a:t>第二章 晶体中的衍射</a:t>
            </a:r>
            <a:endParaRPr lang="zh-CN" altLang="en-US" sz="3200" dirty="0"/>
          </a:p>
        </p:txBody>
      </p:sp>
      <p:pic>
        <p:nvPicPr>
          <p:cNvPr id="4" name="图片 3"/>
          <p:cNvPicPr>
            <a:picLocks noChangeAspect="1"/>
          </p:cNvPicPr>
          <p:nvPr/>
        </p:nvPicPr>
        <p:blipFill rotWithShape="1">
          <a:blip r:embed="rId3"/>
          <a:srcRect l="11515" r="15338"/>
          <a:stretch/>
        </p:blipFill>
        <p:spPr>
          <a:xfrm>
            <a:off x="6801970" y="3710647"/>
            <a:ext cx="4767263" cy="2910853"/>
          </a:xfrm>
          <a:prstGeom prst="rect">
            <a:avLst/>
          </a:prstGeom>
        </p:spPr>
      </p:pic>
      <p:sp>
        <p:nvSpPr>
          <p:cNvPr id="5" name="矩形 4"/>
          <p:cNvSpPr/>
          <p:nvPr/>
        </p:nvSpPr>
        <p:spPr>
          <a:xfrm>
            <a:off x="9507064" y="3913090"/>
            <a:ext cx="443754" cy="369332"/>
          </a:xfrm>
          <a:prstGeom prst="rect">
            <a:avLst/>
          </a:prstGeom>
        </p:spPr>
        <p:txBody>
          <a:bodyPr wrap="square">
            <a:spAutoFit/>
          </a:bodyPr>
          <a:lstStyle/>
          <a:p>
            <a:r>
              <a:rPr kumimoji="1" lang="en-US" altLang="zh-CN" b="1"/>
              <a:t>r</a:t>
            </a:r>
            <a:r>
              <a:rPr kumimoji="1" lang="en-US" altLang="zh-CN" baseline="-25000"/>
              <a:t>j</a:t>
            </a:r>
            <a:endParaRPr lang="zh-CN" altLang="en-US" dirty="0"/>
          </a:p>
        </p:txBody>
      </p:sp>
      <p:sp>
        <p:nvSpPr>
          <p:cNvPr id="6" name="矩形 5"/>
          <p:cNvSpPr/>
          <p:nvPr/>
        </p:nvSpPr>
        <p:spPr>
          <a:xfrm>
            <a:off x="8230347" y="5974083"/>
            <a:ext cx="545342" cy="369332"/>
          </a:xfrm>
          <a:prstGeom prst="rect">
            <a:avLst/>
          </a:prstGeom>
        </p:spPr>
        <p:txBody>
          <a:bodyPr wrap="none">
            <a:spAutoFit/>
          </a:bodyPr>
          <a:lstStyle/>
          <a:p>
            <a:r>
              <a:rPr kumimoji="1" lang="en-US" altLang="zh-CN" b="1"/>
              <a:t>r</a:t>
            </a:r>
            <a:r>
              <a:rPr kumimoji="1" lang="en-US" altLang="zh-CN"/>
              <a:t>=0</a:t>
            </a:r>
            <a:endParaRPr lang="zh-CN" altLang="en-US" dirty="0"/>
          </a:p>
        </p:txBody>
      </p:sp>
    </p:spTree>
    <p:extLst>
      <p:ext uri="{BB962C8B-B14F-4D97-AF65-F5344CB8AC3E}">
        <p14:creationId xmlns:p14="http://schemas.microsoft.com/office/powerpoint/2010/main" val="366382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856128" y="1472915"/>
                <a:ext cx="10299552" cy="5151603"/>
              </a:xfrm>
              <a:prstGeom prst="rect">
                <a:avLst/>
              </a:prstGeom>
            </p:spPr>
            <p:txBody>
              <a:bodyPr wrap="square">
                <a:spAutoFit/>
              </a:bodyPr>
              <a:lstStyle/>
              <a:p>
                <a:r>
                  <a:rPr kumimoji="1" lang="en-US" altLang="zh-CN" sz="2800" dirty="0" smtClean="0"/>
                  <a:t>§2.4</a:t>
                </a:r>
                <a:r>
                  <a:rPr kumimoji="1" lang="zh-CN" altLang="en-US" sz="2800" dirty="0" smtClean="0"/>
                  <a:t> 原子散射因子和几何结构因子</a:t>
                </a:r>
                <a:endParaRPr kumimoji="1" lang="en-US" altLang="zh-CN" sz="2800" dirty="0"/>
              </a:p>
              <a:p>
                <a:endParaRPr kumimoji="1" lang="en-US" altLang="zh-CN" sz="1600" dirty="0" smtClean="0"/>
              </a:p>
              <a:p>
                <a:r>
                  <a:rPr kumimoji="1" lang="en-US" altLang="zh-CN" sz="2400" dirty="0" smtClean="0"/>
                  <a:t>2.4.2</a:t>
                </a:r>
                <a:r>
                  <a:rPr kumimoji="1" lang="zh-CN" altLang="en-US" sz="2400" dirty="0" smtClean="0"/>
                  <a:t> 晶体结构在衍射中的作用</a:t>
                </a:r>
                <a:endParaRPr kumimoji="1" lang="en-US" altLang="zh-CN" sz="2400" dirty="0" smtClean="0"/>
              </a:p>
              <a:p>
                <a:endParaRPr kumimoji="1" lang="en-US" altLang="zh-CN" sz="1600" dirty="0"/>
              </a:p>
              <a:p>
                <a:r>
                  <a:rPr kumimoji="1" lang="zh-CN" altLang="en-US" sz="2400" dirty="0" smtClean="0"/>
                  <a:t>几何结构因子：</a:t>
                </a:r>
                <a:r>
                  <a:rPr kumimoji="1" lang="en-US" altLang="zh-CN" sz="2400" dirty="0"/>
                  <a:t> </a:t>
                </a:r>
                <a14:m>
                  <m:oMath xmlns:m="http://schemas.openxmlformats.org/officeDocument/2006/math">
                    <m:r>
                      <m:rPr>
                        <m:sty m:val="p"/>
                      </m:rPr>
                      <a:rPr kumimoji="1" lang="en-US" altLang="zh-CN" sz="2400" b="0" i="0" smtClean="0">
                        <a:latin typeface="Cambria Math" charset="0"/>
                      </a:rPr>
                      <m:t>F</m:t>
                    </m:r>
                    <m:r>
                      <a:rPr kumimoji="1" lang="en-US" altLang="zh-CN" sz="2400" b="0" i="0" smtClean="0">
                        <a:latin typeface="Cambria Math" charset="0"/>
                      </a:rPr>
                      <m:t>(</m:t>
                    </m:r>
                    <m:r>
                      <a:rPr kumimoji="1" lang="en-US" altLang="zh-CN" sz="2400" b="1" i="0" smtClean="0">
                        <a:latin typeface="Cambria Math" charset="0"/>
                      </a:rPr>
                      <m:t>𝐊</m:t>
                    </m:r>
                    <m:r>
                      <a:rPr kumimoji="1" lang="en-US" altLang="zh-CN" sz="2400" b="0" i="0" smtClean="0">
                        <a:latin typeface="Cambria Math" charset="0"/>
                      </a:rPr>
                      <m:t>)</m:t>
                    </m:r>
                    <m:r>
                      <a:rPr kumimoji="1" lang="zh-CN" altLang="en-US" sz="2400" b="0" i="0" smtClean="0">
                        <a:latin typeface="Cambria Math" charset="0"/>
                      </a:rPr>
                      <m:t> </m:t>
                    </m:r>
                    <m:r>
                      <a:rPr kumimoji="1" lang="en-US" altLang="zh-CN" sz="2400" i="1">
                        <a:latin typeface="Cambria Math" charset="0"/>
                      </a:rPr>
                      <m:t>=</m:t>
                    </m:r>
                    <m:nary>
                      <m:naryPr>
                        <m:chr m:val="∑"/>
                        <m:supHide m:val="on"/>
                        <m:ctrlPr>
                          <a:rPr kumimoji="1" lang="is-IS" altLang="zh-CN" sz="2400" i="1">
                            <a:latin typeface="Cambria Math" charset="0"/>
                          </a:rPr>
                        </m:ctrlPr>
                      </m:naryPr>
                      <m:sub>
                        <m:r>
                          <m:rPr>
                            <m:brk m:alnAt="23"/>
                          </m:rPr>
                          <a:rPr kumimoji="1" lang="en-US" altLang="zh-CN" sz="2400" i="1">
                            <a:latin typeface="Cambria Math" charset="0"/>
                          </a:rPr>
                          <m:t>𝑗</m:t>
                        </m:r>
                      </m:sub>
                      <m:sup/>
                      <m:e>
                        <m:sSup>
                          <m:sSupPr>
                            <m:ctrlPr>
                              <a:rPr kumimoji="1" lang="el-GR" altLang="zh-CN" sz="2400" i="1">
                                <a:latin typeface="Cambria Math" charset="0"/>
                              </a:rPr>
                            </m:ctrlPr>
                          </m:sSupPr>
                          <m:e>
                            <m:r>
                              <a:rPr kumimoji="1" lang="en-US" altLang="zh-CN" sz="2400" b="0" i="1" smtClean="0">
                                <a:latin typeface="Cambria Math" charset="0"/>
                              </a:rPr>
                              <m:t>𝑓</m:t>
                            </m:r>
                            <m:r>
                              <a:rPr kumimoji="1" lang="en-US" altLang="zh-CN" sz="2400" b="0" i="1" baseline="-25000" smtClean="0">
                                <a:latin typeface="Cambria Math" charset="0"/>
                              </a:rPr>
                              <m:t>𝑗</m:t>
                            </m:r>
                            <m:r>
                              <a:rPr kumimoji="1" lang="el-GR" altLang="zh-CN" sz="2400" i="1">
                                <a:latin typeface="Cambria Math" charset="0"/>
                              </a:rPr>
                              <m:t>𝑒</m:t>
                            </m:r>
                          </m:e>
                          <m:sup>
                            <m:r>
                              <a:rPr kumimoji="1" lang="el-GR" altLang="zh-CN" sz="2400" i="1">
                                <a:latin typeface="Cambria Math" charset="0"/>
                              </a:rPr>
                              <m:t>𝑖</m:t>
                            </m:r>
                            <m:r>
                              <a:rPr kumimoji="1" lang="en-US" altLang="zh-CN" sz="2400" b="1" i="1" smtClean="0">
                                <a:latin typeface="Cambria Math" charset="0"/>
                              </a:rPr>
                              <m:t>𝑲</m:t>
                            </m:r>
                            <m:r>
                              <a:rPr kumimoji="1" lang="en-US" altLang="zh-CN" sz="2400" i="1">
                                <a:latin typeface="Cambria Math" charset="0"/>
                                <a:ea typeface="Cambria Math" charset="0"/>
                                <a:cs typeface="Cambria Math" charset="0"/>
                              </a:rPr>
                              <m:t>∙</m:t>
                            </m:r>
                            <m:r>
                              <a:rPr kumimoji="1" lang="en-US" altLang="zh-CN" sz="2400" b="1" i="1">
                                <a:latin typeface="Cambria Math" charset="0"/>
                                <a:ea typeface="Cambria Math" charset="0"/>
                                <a:cs typeface="Cambria Math" charset="0"/>
                              </a:rPr>
                              <m:t>𝒓</m:t>
                            </m:r>
                          </m:sup>
                        </m:sSup>
                        <m:r>
                          <a:rPr kumimoji="1" lang="en-US" altLang="zh-CN" sz="2400" i="1">
                            <a:latin typeface="Cambria Math" charset="0"/>
                            <a:ea typeface="Cambria Math" charset="0"/>
                            <a:cs typeface="Cambria Math" charset="0"/>
                          </a:rPr>
                          <m:t>𝑗</m:t>
                        </m:r>
                      </m:e>
                    </m:nary>
                  </m:oMath>
                </a14:m>
                <a:endParaRPr kumimoji="1" lang="en-US" altLang="zh-CN" sz="2400" dirty="0" smtClean="0"/>
              </a:p>
              <a:p>
                <a:endParaRPr kumimoji="1" lang="en-US" altLang="zh-CN" sz="2400" dirty="0" smtClean="0"/>
              </a:p>
              <a:p>
                <a:r>
                  <a:rPr kumimoji="1" lang="en-US" altLang="zh-CN" sz="2400" dirty="0" smtClean="0"/>
                  <a:t>j</a:t>
                </a:r>
                <a:r>
                  <a:rPr kumimoji="1" lang="zh-CN" altLang="en-US" sz="2400" dirty="0" smtClean="0"/>
                  <a:t>是</a:t>
                </a:r>
                <a:r>
                  <a:rPr kumimoji="1" lang="zh-CN" altLang="en-US" sz="2400" dirty="0" smtClean="0"/>
                  <a:t>晶</a:t>
                </a:r>
                <a:r>
                  <a:rPr kumimoji="1" lang="zh-CN" altLang="en-US" sz="2400" dirty="0" smtClean="0"/>
                  <a:t>胞或原胞内的</a:t>
                </a:r>
                <a:r>
                  <a:rPr kumimoji="1" lang="zh-CN" altLang="en-US" sz="2400" dirty="0" smtClean="0"/>
                  <a:t>原子</a:t>
                </a:r>
                <a:r>
                  <a:rPr kumimoji="1" lang="zh-CN" altLang="en-US" sz="2400" dirty="0" smtClean="0"/>
                  <a:t>序数</a:t>
                </a:r>
                <a:r>
                  <a:rPr kumimoji="1" lang="en-US" altLang="zh-CN" sz="2400" dirty="0" smtClean="0"/>
                  <a:t>,  </a:t>
                </a:r>
                <a14:m>
                  <m:oMath xmlns:m="http://schemas.openxmlformats.org/officeDocument/2006/math">
                    <m:sSub>
                      <m:sSubPr>
                        <m:ctrlPr>
                          <a:rPr kumimoji="1" lang="en-US" altLang="zh-CN" sz="2400" i="1">
                            <a:latin typeface="Cambria Math" charset="0"/>
                          </a:rPr>
                        </m:ctrlPr>
                      </m:sSubPr>
                      <m:e>
                        <m:r>
                          <m:rPr>
                            <m:sty m:val="p"/>
                          </m:rPr>
                          <a:rPr kumimoji="1" lang="en-US" altLang="zh-CN" sz="2400" i="1">
                            <a:latin typeface="Cambria Math" charset="0"/>
                          </a:rPr>
                          <m:t>r</m:t>
                        </m:r>
                      </m:e>
                      <m:sub>
                        <m:r>
                          <a:rPr kumimoji="1" lang="en-US" altLang="zh-CN" sz="2400" b="0" i="1" smtClean="0">
                            <a:latin typeface="Cambria Math" charset="0"/>
                          </a:rPr>
                          <m:t>𝑗</m:t>
                        </m:r>
                      </m:sub>
                    </m:sSub>
                    <m:r>
                      <a:rPr kumimoji="1" lang="en-US" altLang="zh-CN" sz="2400" i="1">
                        <a:latin typeface="Cambria Math" panose="02040503050406030204" pitchFamily="18" charset="0"/>
                      </a:rPr>
                      <m:t>=</m:t>
                    </m:r>
                    <m:r>
                      <a:rPr kumimoji="1" lang="en-US" altLang="zh-CN" sz="2400" b="0" i="1" smtClean="0">
                        <a:latin typeface="Cambria Math" charset="0"/>
                      </a:rPr>
                      <m:t>𝑢</m:t>
                    </m:r>
                    <m:r>
                      <a:rPr kumimoji="1" lang="en-US" altLang="zh-CN" sz="2400" b="0" i="1" baseline="-25000" smtClean="0">
                        <a:latin typeface="Cambria Math" charset="0"/>
                      </a:rPr>
                      <m:t>𝑗</m:t>
                    </m:r>
                    <m:r>
                      <a:rPr kumimoji="1" lang="en-US" altLang="zh-CN" sz="2400" b="1" i="1" smtClean="0">
                        <a:latin typeface="Cambria Math" charset="0"/>
                      </a:rPr>
                      <m:t>𝒂</m:t>
                    </m:r>
                    <m:r>
                      <a:rPr kumimoji="1" lang="en-US" altLang="zh-CN" sz="2400" i="1">
                        <a:latin typeface="Cambria Math" panose="02040503050406030204" pitchFamily="18" charset="0"/>
                      </a:rPr>
                      <m:t>+</m:t>
                    </m:r>
                    <m:r>
                      <a:rPr kumimoji="1" lang="en-US" altLang="zh-CN" sz="2400" b="0" i="1" smtClean="0">
                        <a:latin typeface="Cambria Math" charset="0"/>
                      </a:rPr>
                      <m:t>𝑣</m:t>
                    </m:r>
                    <m:r>
                      <a:rPr kumimoji="1" lang="en-US" altLang="zh-CN" sz="2400" b="0" i="1" baseline="-25000" smtClean="0">
                        <a:latin typeface="Cambria Math" charset="0"/>
                      </a:rPr>
                      <m:t>𝑗</m:t>
                    </m:r>
                    <m:r>
                      <a:rPr kumimoji="1" lang="en-US" altLang="zh-CN" sz="2400" b="1" i="1" smtClean="0">
                        <a:latin typeface="Cambria Math" charset="0"/>
                      </a:rPr>
                      <m:t>𝒃</m:t>
                    </m:r>
                    <m:r>
                      <a:rPr kumimoji="1" lang="en-US" altLang="zh-CN" sz="2400" i="1">
                        <a:latin typeface="Cambria Math" panose="02040503050406030204" pitchFamily="18" charset="0"/>
                      </a:rPr>
                      <m:t>+</m:t>
                    </m:r>
                    <m:r>
                      <a:rPr kumimoji="1" lang="en-US" altLang="zh-CN" sz="2400" b="0" i="1" smtClean="0">
                        <a:latin typeface="Cambria Math" charset="0"/>
                      </a:rPr>
                      <m:t>𝑤</m:t>
                    </m:r>
                    <m:r>
                      <a:rPr kumimoji="1" lang="en-US" altLang="zh-CN" sz="2400" b="0" i="1" baseline="-25000" smtClean="0">
                        <a:latin typeface="Cambria Math" charset="0"/>
                      </a:rPr>
                      <m:t>𝑗</m:t>
                    </m:r>
                    <m:r>
                      <a:rPr kumimoji="1" lang="en-US" altLang="zh-CN" sz="2400" b="1" i="1" smtClean="0">
                        <a:latin typeface="Cambria Math" charset="0"/>
                      </a:rPr>
                      <m:t>𝒄</m:t>
                    </m:r>
                  </m:oMath>
                </a14:m>
                <a:endParaRPr kumimoji="1" lang="en-US" altLang="zh-CN" sz="2400" b="1" i="1" dirty="0" smtClean="0">
                  <a:latin typeface="Cambria Math" charset="0"/>
                </a:endParaRPr>
              </a:p>
              <a:p>
                <a:endParaRPr kumimoji="1" lang="en-US" altLang="zh-CN" sz="2400" i="1" dirty="0" smtClean="0">
                  <a:latin typeface="Cambria Math" charset="0"/>
                </a:endParaRPr>
              </a:p>
              <a:p>
                <a14:m>
                  <m:oMath xmlns:m="http://schemas.openxmlformats.org/officeDocument/2006/math">
                    <m:r>
                      <a:rPr kumimoji="1" lang="en-US" altLang="zh-CN" sz="2400" i="1">
                        <a:latin typeface="Cambria Math" charset="0"/>
                      </a:rPr>
                      <m:t>𝐴</m:t>
                    </m:r>
                    <m:d>
                      <m:dPr>
                        <m:ctrlPr>
                          <a:rPr kumimoji="1" lang="en-US" altLang="zh-CN" sz="2400" i="1">
                            <a:latin typeface="Cambria Math" charset="0"/>
                          </a:rPr>
                        </m:ctrlPr>
                      </m:dPr>
                      <m:e>
                        <m:r>
                          <a:rPr kumimoji="1" lang="en-US" altLang="zh-CN" sz="2400" b="1" i="1">
                            <a:latin typeface="Cambria Math" charset="0"/>
                          </a:rPr>
                          <m:t>𝒌</m:t>
                        </m:r>
                      </m:e>
                    </m:d>
                    <m:r>
                      <a:rPr kumimoji="1" lang="en-US" altLang="zh-CN" sz="2400" i="1">
                        <a:latin typeface="Cambria Math" charset="0"/>
                      </a:rPr>
                      <m:t>=</m:t>
                    </m:r>
                    <m:nary>
                      <m:naryPr>
                        <m:chr m:val="∑"/>
                        <m:ctrlPr>
                          <a:rPr kumimoji="1" lang="is-IS" altLang="zh-CN" sz="2400" i="1">
                            <a:latin typeface="Cambria Math" charset="0"/>
                          </a:rPr>
                        </m:ctrlPr>
                      </m:naryPr>
                      <m:sub>
                        <m:r>
                          <m:rPr>
                            <m:brk m:alnAt="23"/>
                          </m:rPr>
                          <a:rPr kumimoji="1" lang="en-US" altLang="zh-CN" sz="2400" i="1">
                            <a:latin typeface="Cambria Math" panose="02040503050406030204" pitchFamily="18" charset="0"/>
                          </a:rPr>
                          <m:t>𝑙</m:t>
                        </m:r>
                        <m:r>
                          <a:rPr kumimoji="1" lang="en-US" altLang="zh-CN" sz="2400" i="1">
                            <a:latin typeface="Cambria Math" charset="0"/>
                          </a:rPr>
                          <m:t>=1</m:t>
                        </m:r>
                      </m:sub>
                      <m:sup>
                        <m:r>
                          <a:rPr kumimoji="1" lang="en-US" altLang="zh-CN" sz="2400" i="1">
                            <a:latin typeface="Cambria Math" charset="0"/>
                          </a:rPr>
                          <m:t>𝑁</m:t>
                        </m:r>
                      </m:sup>
                      <m:e>
                        <m:r>
                          <a:rPr kumimoji="1" lang="en-US" altLang="zh-CN" sz="2400" i="1">
                            <a:latin typeface="Cambria Math" charset="0"/>
                          </a:rPr>
                          <m:t>𝑎</m:t>
                        </m:r>
                        <m:r>
                          <a:rPr kumimoji="1" lang="en-US" altLang="zh-CN" sz="2400" i="1" baseline="-25000">
                            <a:latin typeface="Cambria Math" panose="02040503050406030204" pitchFamily="18" charset="0"/>
                          </a:rPr>
                          <m:t>𝑙</m:t>
                        </m:r>
                        <m:sSup>
                          <m:sSupPr>
                            <m:ctrlPr>
                              <a:rPr kumimoji="1" lang="el-GR" altLang="zh-CN" sz="2400" i="1">
                                <a:latin typeface="Cambria Math" charset="0"/>
                              </a:rPr>
                            </m:ctrlPr>
                          </m:sSupPr>
                          <m:e>
                            <m:r>
                              <a:rPr kumimoji="1" lang="el-GR" altLang="zh-CN" sz="2400" i="1">
                                <a:latin typeface="Cambria Math" charset="0"/>
                              </a:rPr>
                              <m:t>𝑒</m:t>
                            </m:r>
                          </m:e>
                          <m:sup>
                            <m:r>
                              <a:rPr kumimoji="1" lang="el-GR" altLang="zh-CN" sz="2400" i="1">
                                <a:latin typeface="Cambria Math" charset="0"/>
                              </a:rPr>
                              <m:t>𝑖</m:t>
                            </m:r>
                            <m:r>
                              <a:rPr kumimoji="1" lang="en-US" altLang="zh-CN" sz="2400" i="1">
                                <a:latin typeface="Cambria Math" charset="0"/>
                              </a:rPr>
                              <m:t>(</m:t>
                            </m:r>
                            <m:r>
                              <a:rPr kumimoji="1" lang="en-US" altLang="zh-CN" sz="2400" b="1" i="1">
                                <a:latin typeface="Cambria Math" charset="0"/>
                              </a:rPr>
                              <m:t>𝒌</m:t>
                            </m:r>
                            <m:r>
                              <a:rPr kumimoji="1" lang="en-US" altLang="zh-CN" sz="2400" b="1" i="1">
                                <a:latin typeface="Cambria Math" charset="0"/>
                              </a:rPr>
                              <m:t>−</m:t>
                            </m:r>
                            <m:r>
                              <a:rPr kumimoji="1" lang="en-US" altLang="zh-CN" sz="2400" b="1" i="1">
                                <a:latin typeface="Cambria Math" charset="0"/>
                              </a:rPr>
                              <m:t>𝒌</m:t>
                            </m:r>
                            <m:r>
                              <a:rPr kumimoji="1" lang="en-US" altLang="zh-CN" sz="2400" i="1" baseline="-25000">
                                <a:latin typeface="Cambria Math" charset="0"/>
                              </a:rPr>
                              <m:t>0</m:t>
                            </m:r>
                            <m:r>
                              <a:rPr kumimoji="1" lang="en-US" altLang="zh-CN" sz="2400" i="1">
                                <a:latin typeface="Cambria Math" charset="0"/>
                              </a:rPr>
                              <m:t>)</m:t>
                            </m:r>
                            <m:r>
                              <a:rPr kumimoji="1" lang="en-US" altLang="zh-CN" sz="2400" i="1">
                                <a:latin typeface="Cambria Math" charset="0"/>
                                <a:ea typeface="Cambria Math" charset="0"/>
                                <a:cs typeface="Cambria Math" charset="0"/>
                              </a:rPr>
                              <m:t>∙</m:t>
                            </m:r>
                            <m:r>
                              <a:rPr kumimoji="1" lang="en-US" altLang="zh-CN" sz="2400" b="1" i="1">
                                <a:latin typeface="Cambria Math" charset="0"/>
                                <a:ea typeface="Cambria Math" charset="0"/>
                                <a:cs typeface="Cambria Math" charset="0"/>
                              </a:rPr>
                              <m:t>𝑹</m:t>
                            </m:r>
                            <m:r>
                              <a:rPr kumimoji="1" lang="en-US" altLang="zh-CN" sz="2400" i="1" baseline="-25000">
                                <a:latin typeface="Cambria Math" charset="0"/>
                                <a:ea typeface="Cambria Math" charset="0"/>
                                <a:cs typeface="Cambria Math" charset="0"/>
                              </a:rPr>
                              <m:t>𝑙</m:t>
                            </m:r>
                          </m:sup>
                        </m:sSup>
                      </m:e>
                    </m:nary>
                  </m:oMath>
                </a14:m>
                <a:r>
                  <a:rPr kumimoji="1" lang="en-US" altLang="zh-CN" sz="2400" b="1" dirty="0" smtClean="0"/>
                  <a:t>  =&gt;&gt;&gt;&gt; </a:t>
                </a:r>
                <a14:m>
                  <m:oMath xmlns:m="http://schemas.openxmlformats.org/officeDocument/2006/math">
                    <m:r>
                      <a:rPr kumimoji="1" lang="en-US" altLang="zh-CN" sz="2400" i="1">
                        <a:latin typeface="Cambria Math" charset="0"/>
                      </a:rPr>
                      <m:t>𝐴</m:t>
                    </m:r>
                    <m:d>
                      <m:dPr>
                        <m:ctrlPr>
                          <a:rPr kumimoji="1" lang="en-US" altLang="zh-CN" sz="2400" i="1">
                            <a:latin typeface="Cambria Math" charset="0"/>
                          </a:rPr>
                        </m:ctrlPr>
                      </m:dPr>
                      <m:e>
                        <m:r>
                          <a:rPr kumimoji="1" lang="en-US" altLang="zh-CN" sz="2400" b="1" i="1">
                            <a:latin typeface="Cambria Math" charset="0"/>
                          </a:rPr>
                          <m:t>𝒌</m:t>
                        </m:r>
                      </m:e>
                    </m:d>
                    <m:r>
                      <a:rPr kumimoji="1" lang="en-US" altLang="zh-CN" sz="2400" i="1">
                        <a:latin typeface="Cambria Math" charset="0"/>
                      </a:rPr>
                      <m:t>=</m:t>
                    </m:r>
                    <m:nary>
                      <m:naryPr>
                        <m:chr m:val="∑"/>
                        <m:ctrlPr>
                          <a:rPr kumimoji="1" lang="is-IS" altLang="zh-CN" sz="2400" i="1">
                            <a:latin typeface="Cambria Math" charset="0"/>
                          </a:rPr>
                        </m:ctrlPr>
                      </m:naryPr>
                      <m:sub>
                        <m:r>
                          <a:rPr kumimoji="1" lang="en-US" altLang="zh-CN" sz="2400" b="0" i="1" smtClean="0">
                            <a:latin typeface="Cambria Math" charset="0"/>
                          </a:rPr>
                          <m:t>𝑝</m:t>
                        </m:r>
                        <m:r>
                          <a:rPr kumimoji="1" lang="en-US" altLang="zh-CN" sz="2400" i="1">
                            <a:latin typeface="Cambria Math" charset="0"/>
                          </a:rPr>
                          <m:t>=1</m:t>
                        </m:r>
                      </m:sub>
                      <m:sup>
                        <m:r>
                          <a:rPr kumimoji="1" lang="en-US" altLang="zh-CN" sz="2400" i="1">
                            <a:latin typeface="Cambria Math" charset="0"/>
                          </a:rPr>
                          <m:t>𝑁</m:t>
                        </m:r>
                      </m:sup>
                      <m:e>
                        <m:r>
                          <a:rPr kumimoji="1" lang="en-US" altLang="zh-CN" sz="2400" b="0" i="1" smtClean="0">
                            <a:latin typeface="Cambria Math" charset="0"/>
                          </a:rPr>
                          <m:t>𝐹</m:t>
                        </m:r>
                        <m:r>
                          <a:rPr kumimoji="1" lang="en-US" altLang="zh-CN" sz="2400" b="0" i="1" baseline="-25000" smtClean="0">
                            <a:latin typeface="Cambria Math" charset="0"/>
                          </a:rPr>
                          <m:t>𝑝</m:t>
                        </m:r>
                        <m:sSup>
                          <m:sSupPr>
                            <m:ctrlPr>
                              <a:rPr kumimoji="1" lang="el-GR" altLang="zh-CN" sz="2400" i="1">
                                <a:latin typeface="Cambria Math" charset="0"/>
                              </a:rPr>
                            </m:ctrlPr>
                          </m:sSupPr>
                          <m:e>
                            <m:r>
                              <a:rPr kumimoji="1" lang="el-GR" altLang="zh-CN" sz="2400" i="1">
                                <a:latin typeface="Cambria Math" charset="0"/>
                              </a:rPr>
                              <m:t>𝑒</m:t>
                            </m:r>
                          </m:e>
                          <m:sup>
                            <m:r>
                              <a:rPr kumimoji="1" lang="el-GR" altLang="zh-CN" sz="2400" i="1">
                                <a:latin typeface="Cambria Math" charset="0"/>
                              </a:rPr>
                              <m:t>𝑖</m:t>
                            </m:r>
                            <m:r>
                              <a:rPr kumimoji="1" lang="en-US" altLang="zh-CN" sz="2400" b="0" i="1" smtClean="0">
                                <a:latin typeface="Cambria Math" charset="0"/>
                              </a:rPr>
                              <m:t>𝐾</m:t>
                            </m:r>
                            <m:r>
                              <a:rPr kumimoji="1" lang="en-US" altLang="zh-CN" sz="2400" b="0" i="1" baseline="-25000" smtClean="0">
                                <a:latin typeface="Cambria Math" charset="0"/>
                              </a:rPr>
                              <m:t>h</m:t>
                            </m:r>
                            <m:r>
                              <a:rPr kumimoji="1" lang="en-US" altLang="zh-CN" sz="2400" b="0" i="1" baseline="-25000" smtClean="0">
                                <a:latin typeface="Cambria Math" charset="0"/>
                              </a:rPr>
                              <m:t>′</m:t>
                            </m:r>
                            <m:r>
                              <a:rPr kumimoji="1" lang="en-US" altLang="zh-CN" sz="2400" b="0" i="1" baseline="-25000" smtClean="0">
                                <a:latin typeface="Cambria Math" charset="0"/>
                              </a:rPr>
                              <m:t>𝑘</m:t>
                            </m:r>
                            <m:r>
                              <a:rPr kumimoji="1" lang="en-US" altLang="zh-CN" sz="2400" b="0" i="1" baseline="-25000" smtClean="0">
                                <a:latin typeface="Cambria Math" charset="0"/>
                              </a:rPr>
                              <m:t>′</m:t>
                            </m:r>
                            <m:r>
                              <a:rPr kumimoji="1" lang="en-US" altLang="zh-CN" sz="2400" b="0" i="1" baseline="-25000" smtClean="0">
                                <a:latin typeface="Cambria Math" charset="0"/>
                              </a:rPr>
                              <m:t>𝑙</m:t>
                            </m:r>
                            <m:r>
                              <a:rPr kumimoji="1" lang="en-US" altLang="zh-CN" sz="2400" b="0" i="1" baseline="-25000" smtClean="0">
                                <a:latin typeface="Cambria Math" charset="0"/>
                              </a:rPr>
                              <m:t>′∙</m:t>
                            </m:r>
                            <m:r>
                              <a:rPr kumimoji="1" lang="en-US" altLang="zh-CN" sz="2400" b="1" i="1">
                                <a:latin typeface="Cambria Math" charset="0"/>
                                <a:ea typeface="Cambria Math" charset="0"/>
                                <a:cs typeface="Cambria Math" charset="0"/>
                              </a:rPr>
                              <m:t>𝑹</m:t>
                            </m:r>
                            <m:r>
                              <a:rPr kumimoji="1" lang="en-US" altLang="zh-CN" sz="2400" b="0" i="1" baseline="-25000" smtClean="0">
                                <a:latin typeface="Cambria Math" charset="0"/>
                                <a:ea typeface="Cambria Math" charset="0"/>
                                <a:cs typeface="Cambria Math" charset="0"/>
                              </a:rPr>
                              <m:t>𝑝</m:t>
                            </m:r>
                          </m:sup>
                        </m:sSup>
                      </m:e>
                    </m:nary>
                  </m:oMath>
                </a14:m>
                <a:endParaRPr kumimoji="1" lang="en-US" altLang="zh-CN" sz="2400" b="1" dirty="0" smtClean="0"/>
              </a:p>
              <a:p>
                <a:endParaRPr kumimoji="1" lang="en-US" altLang="zh-CN" sz="2400" b="1" dirty="0"/>
              </a:p>
              <a:p>
                <a:r>
                  <a:rPr kumimoji="1" lang="en-US" altLang="zh-CN" sz="2400" dirty="0"/>
                  <a:t>I</a:t>
                </a:r>
                <a14:m>
                  <m:oMath xmlns:m="http://schemas.openxmlformats.org/officeDocument/2006/math">
                    <m:d>
                      <m:dPr>
                        <m:ctrlPr>
                          <a:rPr kumimoji="1" lang="en-US" altLang="zh-CN" sz="2400" i="1">
                            <a:latin typeface="Cambria Math" charset="0"/>
                          </a:rPr>
                        </m:ctrlPr>
                      </m:dPr>
                      <m:e>
                        <m:r>
                          <a:rPr kumimoji="1" lang="en-US" altLang="zh-CN" sz="2400" b="1" i="1">
                            <a:latin typeface="Cambria Math" charset="0"/>
                          </a:rPr>
                          <m:t>𝒌</m:t>
                        </m:r>
                      </m:e>
                    </m:d>
                    <m:r>
                      <a:rPr kumimoji="1" lang="en-US" altLang="zh-CN" sz="2400" i="1" smtClean="0">
                        <a:latin typeface="Cambria Math" charset="0"/>
                        <a:ea typeface="Cambria Math" charset="0"/>
                        <a:cs typeface="Cambria Math" charset="0"/>
                      </a:rPr>
                      <m:t>∝</m:t>
                    </m:r>
                    <m:nary>
                      <m:naryPr>
                        <m:chr m:val="∑"/>
                        <m:supHide m:val="on"/>
                        <m:ctrlPr>
                          <a:rPr kumimoji="1" lang="is-IS" altLang="zh-CN" sz="2400" i="1">
                            <a:latin typeface="Cambria Math" charset="0"/>
                          </a:rPr>
                        </m:ctrlPr>
                      </m:naryPr>
                      <m:sub>
                        <m:r>
                          <a:rPr kumimoji="1" lang="en-US" altLang="zh-CN" sz="2400" i="1">
                            <a:latin typeface="Cambria Math" panose="02040503050406030204" pitchFamily="18" charset="0"/>
                          </a:rPr>
                          <m:t>𝑙</m:t>
                        </m:r>
                        <m:r>
                          <a:rPr kumimoji="1" lang="en-US" altLang="zh-CN" sz="2400" i="1">
                            <a:latin typeface="Cambria Math" charset="0"/>
                          </a:rPr>
                          <m:t>,</m:t>
                        </m:r>
                        <m:r>
                          <a:rPr kumimoji="1" lang="en-US" altLang="zh-CN" sz="2400" i="1">
                            <a:latin typeface="Cambria Math" panose="02040503050406030204" pitchFamily="18" charset="0"/>
                          </a:rPr>
                          <m:t>𝑙</m:t>
                        </m:r>
                        <m:r>
                          <a:rPr kumimoji="1" lang="en-US" altLang="zh-CN" sz="2400" i="1" baseline="30000">
                            <a:latin typeface="Cambria Math" charset="0"/>
                          </a:rPr>
                          <m:t>′</m:t>
                        </m:r>
                      </m:sub>
                      <m:sup/>
                      <m:e>
                        <m:r>
                          <a:rPr kumimoji="1" lang="en-US" altLang="zh-CN" sz="2400" i="1">
                            <a:latin typeface="Cambria Math" charset="0"/>
                          </a:rPr>
                          <m:t>𝑎</m:t>
                        </m:r>
                        <m:r>
                          <a:rPr kumimoji="1" lang="en-US" altLang="zh-CN" sz="2400" i="1" baseline="-25000">
                            <a:latin typeface="Cambria Math" panose="02040503050406030204" pitchFamily="18" charset="0"/>
                          </a:rPr>
                          <m:t>𝑙</m:t>
                        </m:r>
                        <m:sSup>
                          <m:sSupPr>
                            <m:ctrlPr>
                              <a:rPr kumimoji="1" lang="el-GR" altLang="zh-CN" sz="2400" i="1">
                                <a:latin typeface="Cambria Math" charset="0"/>
                              </a:rPr>
                            </m:ctrlPr>
                          </m:sSupPr>
                          <m:e>
                            <m:r>
                              <a:rPr kumimoji="1" lang="en-US" altLang="zh-CN" sz="2400" i="1">
                                <a:latin typeface="Cambria Math" charset="0"/>
                              </a:rPr>
                              <m:t>𝑎</m:t>
                            </m:r>
                            <m:sSup>
                              <m:sSupPr>
                                <m:ctrlPr>
                                  <a:rPr kumimoji="1" lang="en-US" altLang="zh-CN" sz="2400" i="1" baseline="-25000">
                                    <a:latin typeface="Cambria Math" charset="0"/>
                                  </a:rPr>
                                </m:ctrlPr>
                              </m:sSupPr>
                              <m:e>
                                <m:r>
                                  <a:rPr kumimoji="1" lang="en-US" altLang="zh-CN" sz="2400" i="1" baseline="-25000">
                                    <a:latin typeface="Cambria Math" panose="02040503050406030204" pitchFamily="18" charset="0"/>
                                  </a:rPr>
                                  <m:t>𝑙</m:t>
                                </m:r>
                              </m:e>
                              <m:sup>
                                <m:r>
                                  <a:rPr kumimoji="1" lang="en-US" altLang="zh-CN" sz="2400" i="1" baseline="-25000">
                                    <a:latin typeface="Cambria Math" charset="0"/>
                                  </a:rPr>
                                  <m:t>′</m:t>
                                </m:r>
                              </m:sup>
                            </m:sSup>
                            <m:r>
                              <a:rPr kumimoji="1" lang="en-US" altLang="zh-CN" sz="2400" i="1" baseline="30000">
                                <a:latin typeface="Cambria Math" charset="0"/>
                              </a:rPr>
                              <m:t>∗</m:t>
                            </m:r>
                            <m:r>
                              <a:rPr kumimoji="1" lang="el-GR" altLang="zh-CN" sz="2400" i="1">
                                <a:latin typeface="Cambria Math" charset="0"/>
                              </a:rPr>
                              <m:t>𝑒</m:t>
                            </m:r>
                          </m:e>
                          <m:sup>
                            <m:r>
                              <a:rPr kumimoji="1" lang="el-GR" altLang="zh-CN" sz="2400" i="1">
                                <a:latin typeface="Cambria Math" charset="0"/>
                              </a:rPr>
                              <m:t>𝑖</m:t>
                            </m:r>
                            <m:r>
                              <a:rPr kumimoji="1" lang="en-US" altLang="zh-CN" sz="2400" b="1" i="1">
                                <a:latin typeface="Cambria Math" charset="0"/>
                              </a:rPr>
                              <m:t>(</m:t>
                            </m:r>
                            <m:r>
                              <a:rPr kumimoji="1" lang="en-US" altLang="zh-CN" sz="2400" b="1" i="1">
                                <a:latin typeface="Cambria Math" charset="0"/>
                              </a:rPr>
                              <m:t>𝒌</m:t>
                            </m:r>
                            <m:r>
                              <a:rPr kumimoji="1" lang="en-US" altLang="zh-CN" sz="2400" b="1" i="1">
                                <a:latin typeface="Cambria Math" charset="0"/>
                              </a:rPr>
                              <m:t>−</m:t>
                            </m:r>
                            <m:r>
                              <a:rPr kumimoji="1" lang="en-US" altLang="zh-CN" sz="2400" b="1" i="1">
                                <a:latin typeface="Cambria Math" charset="0"/>
                              </a:rPr>
                              <m:t>𝒌</m:t>
                            </m:r>
                            <m:r>
                              <a:rPr kumimoji="1" lang="en-US" altLang="zh-CN" sz="2400" i="1" baseline="-25000">
                                <a:latin typeface="Cambria Math" charset="0"/>
                              </a:rPr>
                              <m:t>0</m:t>
                            </m:r>
                            <m:r>
                              <a:rPr kumimoji="1" lang="en-US" altLang="zh-CN" sz="2400" i="1">
                                <a:latin typeface="Cambria Math" charset="0"/>
                              </a:rPr>
                              <m:t>)</m:t>
                            </m:r>
                            <m:r>
                              <a:rPr kumimoji="1" lang="en-US" altLang="zh-CN" sz="2400" i="1">
                                <a:latin typeface="Cambria Math" charset="0"/>
                                <a:ea typeface="Cambria Math" charset="0"/>
                                <a:cs typeface="Cambria Math" charset="0"/>
                              </a:rPr>
                              <m:t>∙(</m:t>
                            </m:r>
                            <m:r>
                              <a:rPr kumimoji="1" lang="en-US" altLang="zh-CN" sz="2400" b="1" i="1">
                                <a:latin typeface="Cambria Math" charset="0"/>
                                <a:ea typeface="Cambria Math" charset="0"/>
                                <a:cs typeface="Cambria Math" charset="0"/>
                              </a:rPr>
                              <m:t>𝑹</m:t>
                            </m:r>
                            <m:r>
                              <a:rPr kumimoji="1" lang="en-US" altLang="zh-CN" sz="2400" b="1" i="1" baseline="-25000">
                                <a:latin typeface="Cambria Math" charset="0"/>
                                <a:ea typeface="Cambria Math" charset="0"/>
                                <a:cs typeface="Cambria Math" charset="0"/>
                              </a:rPr>
                              <m:t>𝒍</m:t>
                            </m:r>
                            <m:r>
                              <a:rPr kumimoji="1" lang="en-US" altLang="zh-CN" sz="2400" b="1" i="1">
                                <a:latin typeface="Cambria Math" charset="0"/>
                                <a:ea typeface="Cambria Math" charset="0"/>
                                <a:cs typeface="Cambria Math" charset="0"/>
                              </a:rPr>
                              <m:t>−</m:t>
                            </m:r>
                            <m:r>
                              <a:rPr kumimoji="1" lang="en-US" altLang="zh-CN" sz="2400" b="1" i="1">
                                <a:latin typeface="Cambria Math" charset="0"/>
                                <a:ea typeface="Cambria Math" charset="0"/>
                                <a:cs typeface="Cambria Math" charset="0"/>
                              </a:rPr>
                              <m:t>𝑹𝒍</m:t>
                            </m:r>
                            <m:r>
                              <a:rPr kumimoji="1" lang="en-US" altLang="zh-CN" sz="2400" i="1" baseline="-25000">
                                <a:latin typeface="Cambria Math" charset="0"/>
                                <a:ea typeface="Cambria Math" charset="0"/>
                                <a:cs typeface="Cambria Math" charset="0"/>
                              </a:rPr>
                              <m:t>′</m:t>
                            </m:r>
                            <m:r>
                              <a:rPr kumimoji="1" lang="en-US" altLang="zh-CN" sz="2400" i="1">
                                <a:latin typeface="Cambria Math" charset="0"/>
                                <a:ea typeface="Cambria Math" charset="0"/>
                                <a:cs typeface="Cambria Math" charset="0"/>
                              </a:rPr>
                              <m:t>)</m:t>
                            </m:r>
                          </m:sup>
                        </m:sSup>
                      </m:e>
                    </m:nary>
                  </m:oMath>
                </a14:m>
                <a:r>
                  <a:rPr kumimoji="1" lang="en-US" altLang="zh-CN" sz="2400" b="1" dirty="0" smtClean="0"/>
                  <a:t> =&gt;&gt;&gt;&gt; </a:t>
                </a:r>
                <a:r>
                  <a:rPr kumimoji="1" lang="en-US" altLang="zh-CN" sz="2400" dirty="0"/>
                  <a:t>I</a:t>
                </a:r>
                <a:r>
                  <a:rPr kumimoji="1" lang="en-US" altLang="zh-CN" sz="2400" baseline="-25000" dirty="0"/>
                  <a:t> </a:t>
                </a:r>
                <a14:m>
                  <m:oMath xmlns:m="http://schemas.openxmlformats.org/officeDocument/2006/math">
                    <m:r>
                      <a:rPr kumimoji="1" lang="en-US" altLang="zh-CN" sz="2400" i="1" baseline="-25000">
                        <a:latin typeface="Cambria Math" charset="0"/>
                      </a:rPr>
                      <m:t>h</m:t>
                    </m:r>
                    <m:r>
                      <a:rPr kumimoji="1" lang="en-US" altLang="zh-CN" sz="2400" i="1" baseline="-25000">
                        <a:latin typeface="Cambria Math" charset="0"/>
                      </a:rPr>
                      <m:t>′</m:t>
                    </m:r>
                    <m:r>
                      <a:rPr kumimoji="1" lang="en-US" altLang="zh-CN" sz="2400" i="1" baseline="-25000">
                        <a:latin typeface="Cambria Math" charset="0"/>
                      </a:rPr>
                      <m:t>𝑘</m:t>
                    </m:r>
                    <m:r>
                      <a:rPr kumimoji="1" lang="en-US" altLang="zh-CN" sz="2400" i="1" baseline="-25000">
                        <a:latin typeface="Cambria Math" charset="0"/>
                      </a:rPr>
                      <m:t>′</m:t>
                    </m:r>
                    <m:r>
                      <a:rPr kumimoji="1" lang="en-US" altLang="zh-CN" sz="2400" i="1" baseline="-25000">
                        <a:latin typeface="Cambria Math" charset="0"/>
                      </a:rPr>
                      <m:t>𝑙</m:t>
                    </m:r>
                    <m:r>
                      <a:rPr kumimoji="1" lang="en-US" altLang="zh-CN" sz="2400" i="1" baseline="-25000">
                        <a:latin typeface="Cambria Math" charset="0"/>
                      </a:rPr>
                      <m:t>′ ∝</m:t>
                    </m:r>
                    <m:nary>
                      <m:naryPr>
                        <m:chr m:val="∑"/>
                        <m:supHide m:val="on"/>
                        <m:ctrlPr>
                          <a:rPr kumimoji="1" lang="is-IS" altLang="zh-CN" sz="2400" i="1">
                            <a:latin typeface="Cambria Math" charset="0"/>
                          </a:rPr>
                        </m:ctrlPr>
                      </m:naryPr>
                      <m:sub>
                        <m:r>
                          <a:rPr kumimoji="1" lang="en-US" altLang="zh-CN" sz="2400" b="0" i="1" smtClean="0">
                            <a:latin typeface="Cambria Math" charset="0"/>
                          </a:rPr>
                          <m:t>𝑝</m:t>
                        </m:r>
                        <m:r>
                          <a:rPr kumimoji="1" lang="en-US" altLang="zh-CN" sz="2400" i="1">
                            <a:latin typeface="Cambria Math" charset="0"/>
                          </a:rPr>
                          <m:t>,</m:t>
                        </m:r>
                        <m:r>
                          <a:rPr kumimoji="1" lang="en-US" altLang="zh-CN" sz="2400" b="0" i="1" smtClean="0">
                            <a:latin typeface="Cambria Math" charset="0"/>
                          </a:rPr>
                          <m:t>𝑝</m:t>
                        </m:r>
                        <m:r>
                          <a:rPr kumimoji="1" lang="en-US" altLang="zh-CN" sz="2400" i="1" baseline="30000">
                            <a:latin typeface="Cambria Math" charset="0"/>
                          </a:rPr>
                          <m:t>′</m:t>
                        </m:r>
                      </m:sub>
                      <m:sup/>
                      <m:e>
                        <m:r>
                          <a:rPr kumimoji="1" lang="en-US" altLang="zh-CN" sz="2400" b="0" i="1" smtClean="0">
                            <a:latin typeface="Cambria Math" charset="0"/>
                          </a:rPr>
                          <m:t>𝐹</m:t>
                        </m:r>
                        <m:r>
                          <a:rPr kumimoji="1" lang="en-US" altLang="zh-CN" sz="2400" b="0" i="1" baseline="-25000" smtClean="0">
                            <a:latin typeface="Cambria Math" charset="0"/>
                          </a:rPr>
                          <m:t>𝑝</m:t>
                        </m:r>
                      </m:e>
                    </m:nary>
                  </m:oMath>
                </a14:m>
                <a:r>
                  <a:rPr kumimoji="1" lang="en-US" altLang="zh-CN" sz="2400" dirty="0"/>
                  <a:t> </a:t>
                </a:r>
                <a14:m>
                  <m:oMath xmlns:m="http://schemas.openxmlformats.org/officeDocument/2006/math">
                    <m:r>
                      <a:rPr kumimoji="1" lang="en-US" altLang="zh-CN" sz="2400" i="1">
                        <a:latin typeface="Cambria Math" charset="0"/>
                      </a:rPr>
                      <m:t>𝐹</m:t>
                    </m:r>
                    <m:sSup>
                      <m:sSupPr>
                        <m:ctrlPr>
                          <a:rPr kumimoji="1" lang="en-US" altLang="zh-CN" sz="2400" b="0" i="1" baseline="-25000" smtClean="0">
                            <a:latin typeface="Cambria Math" charset="0"/>
                          </a:rPr>
                        </m:ctrlPr>
                      </m:sSupPr>
                      <m:e>
                        <m:r>
                          <a:rPr kumimoji="1" lang="en-US" altLang="zh-CN" sz="2400" i="1" baseline="-25000">
                            <a:latin typeface="Cambria Math" charset="0"/>
                          </a:rPr>
                          <m:t>𝑝</m:t>
                        </m:r>
                      </m:e>
                      <m:sup>
                        <m:r>
                          <a:rPr kumimoji="1" lang="en-US" altLang="zh-CN" sz="2400" b="0" i="1" baseline="-25000" smtClean="0">
                            <a:latin typeface="Cambria Math" charset="0"/>
                          </a:rPr>
                          <m:t>′</m:t>
                        </m:r>
                      </m:sup>
                    </m:sSup>
                    <m:r>
                      <a:rPr kumimoji="1" lang="en-US" altLang="zh-CN" sz="2400" b="0" i="1" baseline="30000" smtClean="0">
                        <a:latin typeface="Cambria Math" charset="0"/>
                      </a:rPr>
                      <m:t>∗</m:t>
                    </m:r>
                    <m:r>
                      <a:rPr kumimoji="1" lang="en-US" altLang="zh-CN" sz="2400" i="1">
                        <a:latin typeface="Cambria Math" charset="0"/>
                        <a:ea typeface="Cambria Math" charset="0"/>
                        <a:cs typeface="Cambria Math" charset="0"/>
                      </a:rPr>
                      <m:t>∝</m:t>
                    </m:r>
                  </m:oMath>
                </a14:m>
                <a:r>
                  <a:rPr kumimoji="1" lang="en-US" altLang="zh-CN" sz="2400" dirty="0" smtClean="0"/>
                  <a:t>(Re F)</a:t>
                </a:r>
                <a:r>
                  <a:rPr kumimoji="1" lang="en-US" altLang="zh-CN" sz="2400" baseline="30000" dirty="0" smtClean="0"/>
                  <a:t>2</a:t>
                </a:r>
                <a:r>
                  <a:rPr kumimoji="1" lang="en-US" altLang="zh-CN" sz="2400" dirty="0" smtClean="0"/>
                  <a:t>+(</a:t>
                </a:r>
                <a:r>
                  <a:rPr kumimoji="1" lang="en-US" altLang="zh-CN" sz="2400" dirty="0" err="1" smtClean="0"/>
                  <a:t>Im</a:t>
                </a:r>
                <a:r>
                  <a:rPr kumimoji="1" lang="en-US" altLang="zh-CN" sz="2400" dirty="0" smtClean="0"/>
                  <a:t> </a:t>
                </a:r>
                <a:r>
                  <a:rPr kumimoji="1" lang="en-US" altLang="zh-CN" sz="2400" dirty="0" smtClean="0"/>
                  <a:t>F)</a:t>
                </a:r>
                <a:r>
                  <a:rPr kumimoji="1" lang="en-US" altLang="zh-CN" sz="2400" baseline="30000" dirty="0" smtClean="0"/>
                  <a:t>2</a:t>
                </a:r>
              </a:p>
              <a:p>
                <a:endParaRPr kumimoji="1" lang="en-US" altLang="zh-CN" sz="2400" baseline="30000" dirty="0"/>
              </a:p>
              <a:p>
                <a:endParaRPr kumimoji="1" lang="en-US" altLang="zh-CN" sz="2400" baseline="30000" dirty="0" smtClean="0"/>
              </a:p>
              <a:p>
                <a:endParaRPr kumimoji="1" lang="en-US" altLang="zh-CN" sz="2400" baseline="30000" dirty="0"/>
              </a:p>
              <a:p>
                <a:r>
                  <a:rPr kumimoji="1" lang="zh-CN" altLang="en-US" sz="2400" baseline="30000" dirty="0" smtClean="0"/>
                  <a:t>作业： </a:t>
                </a:r>
                <a:r>
                  <a:rPr kumimoji="1" lang="en-US" altLang="zh-CN" sz="2400" baseline="30000" dirty="0" smtClean="0"/>
                  <a:t>6</a:t>
                </a:r>
                <a:r>
                  <a:rPr kumimoji="1" lang="zh-CN" altLang="en-US" sz="2400" baseline="30000" dirty="0" smtClean="0"/>
                  <a:t> ， </a:t>
                </a:r>
                <a:r>
                  <a:rPr kumimoji="1" lang="en-US" altLang="zh-CN" sz="2400" baseline="30000" dirty="0" smtClean="0"/>
                  <a:t>8</a:t>
                </a:r>
                <a:endParaRPr kumimoji="1" lang="en-US" altLang="zh-CN" sz="2400" baseline="30000" dirty="0"/>
              </a:p>
            </p:txBody>
          </p:sp>
        </mc:Choice>
        <mc:Fallback>
          <p:sp>
            <p:nvSpPr>
              <p:cNvPr id="2" name="矩形 1"/>
              <p:cNvSpPr>
                <a:spLocks noRot="1" noChangeAspect="1" noMove="1" noResize="1" noEditPoints="1" noAdjustHandles="1" noChangeArrowheads="1" noChangeShapeType="1" noTextEdit="1"/>
              </p:cNvSpPr>
              <p:nvPr/>
            </p:nvSpPr>
            <p:spPr>
              <a:xfrm>
                <a:off x="856128" y="1472915"/>
                <a:ext cx="10299552" cy="5151603"/>
              </a:xfrm>
              <a:prstGeom prst="rect">
                <a:avLst/>
              </a:prstGeom>
              <a:blipFill rotWithShape="0">
                <a:blip r:embed="rId2"/>
                <a:stretch>
                  <a:fillRect l="-1183" t="-1420"/>
                </a:stretch>
              </a:blipFill>
            </p:spPr>
            <p:txBody>
              <a:bodyPr/>
              <a:lstStyle/>
              <a:p>
                <a:r>
                  <a:rPr lang="zh-CN" altLang="en-US">
                    <a:noFill/>
                  </a:rPr>
                  <a:t> </a:t>
                </a:r>
              </a:p>
            </p:txBody>
          </p:sp>
        </mc:Fallback>
      </mc:AlternateContent>
      <p:sp>
        <p:nvSpPr>
          <p:cNvPr id="3" name="矩形 2"/>
          <p:cNvSpPr/>
          <p:nvPr/>
        </p:nvSpPr>
        <p:spPr>
          <a:xfrm>
            <a:off x="3549536" y="484509"/>
            <a:ext cx="5228704" cy="584775"/>
          </a:xfrm>
          <a:prstGeom prst="rect">
            <a:avLst/>
          </a:prstGeom>
        </p:spPr>
        <p:txBody>
          <a:bodyPr wrap="square">
            <a:spAutoFit/>
          </a:bodyPr>
          <a:lstStyle/>
          <a:p>
            <a:r>
              <a:rPr kumimoji="1" lang="zh-CN" altLang="en-US" sz="3200" dirty="0" smtClean="0"/>
              <a:t>第二章 晶体中的衍射</a:t>
            </a:r>
            <a:endParaRPr lang="zh-CN" altLang="en-US" sz="3200" dirty="0"/>
          </a:p>
        </p:txBody>
      </p:sp>
    </p:spTree>
    <p:extLst>
      <p:ext uri="{BB962C8B-B14F-4D97-AF65-F5344CB8AC3E}">
        <p14:creationId xmlns:p14="http://schemas.microsoft.com/office/powerpoint/2010/main" val="2044696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178393" y="2290812"/>
            <a:ext cx="4196614" cy="523220"/>
          </a:xfrm>
          <a:prstGeom prst="rect">
            <a:avLst/>
          </a:prstGeom>
          <a:noFill/>
        </p:spPr>
        <p:txBody>
          <a:bodyPr wrap="square" rtlCol="0">
            <a:spAutoFit/>
          </a:bodyPr>
          <a:lstStyle/>
          <a:p>
            <a:r>
              <a:rPr lang="en-US" altLang="zh-CN" sz="2800" dirty="0" smtClean="0"/>
              <a:t>The end</a:t>
            </a:r>
            <a:endParaRPr lang="zh-CN" altLang="en-US" sz="2800" dirty="0"/>
          </a:p>
        </p:txBody>
      </p:sp>
    </p:spTree>
    <p:extLst>
      <p:ext uri="{BB962C8B-B14F-4D97-AF65-F5344CB8AC3E}">
        <p14:creationId xmlns:p14="http://schemas.microsoft.com/office/powerpoint/2010/main" val="261972967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TotalTime>
  <Words>877</Words>
  <Application>Microsoft Macintosh PowerPoint</Application>
  <PresentationFormat>宽屏</PresentationFormat>
  <Paragraphs>140</Paragraphs>
  <Slides>11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Cambria Math</vt:lpstr>
      <vt:lpstr>Symbol</vt:lpstr>
      <vt:lpstr>等线</vt:lpstr>
      <vt:lpstr>等线 Light</vt:lpstr>
      <vt:lpstr>宋体</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15.0037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晶体中的衍射</dc:title>
  <dc:creator>zhanglixin</dc:creator>
  <cp:lastModifiedBy>Microsoft Office 用户</cp:lastModifiedBy>
  <cp:revision>57</cp:revision>
  <dcterms:created xsi:type="dcterms:W3CDTF">2020-03-03T02:47:13Z</dcterms:created>
  <dcterms:modified xsi:type="dcterms:W3CDTF">2024-03-11T03:27:48Z</dcterms:modified>
</cp:coreProperties>
</file>