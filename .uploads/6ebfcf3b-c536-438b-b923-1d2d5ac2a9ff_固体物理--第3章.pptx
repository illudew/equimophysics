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77" r:id="rId5"/>
    <p:sldId id="261" r:id="rId6"/>
    <p:sldId id="262" r:id="rId7"/>
    <p:sldId id="278" r:id="rId8"/>
    <p:sldId id="263" r:id="rId9"/>
    <p:sldId id="279" r:id="rId10"/>
    <p:sldId id="264" r:id="rId11"/>
    <p:sldId id="265" r:id="rId12"/>
    <p:sldId id="276" r:id="rId13"/>
    <p:sldId id="275" r:id="rId14"/>
    <p:sldId id="269" r:id="rId15"/>
    <p:sldId id="270" r:id="rId16"/>
    <p:sldId id="274" r:id="rId17"/>
    <p:sldId id="266" r:id="rId18"/>
    <p:sldId id="273" r:id="rId19"/>
    <p:sldId id="268" r:id="rId20"/>
    <p:sldId id="272" r:id="rId21"/>
    <p:sldId id="257" r:id="rId22"/>
    <p:sldId id="271" r:id="rId23"/>
    <p:sldId id="296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980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36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A45F7-A393-4B30-BE52-12DC8BD57766}" type="datetimeFigureOut">
              <a:rPr lang="zh-CN" altLang="en-US" smtClean="0"/>
              <a:t>2025/3/16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07314-F5FC-4C67-930C-FE0F8510F4B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A45F7-A393-4B30-BE52-12DC8BD57766}" type="datetimeFigureOut">
              <a:rPr lang="zh-CN" altLang="en-US" smtClean="0"/>
              <a:t>2025/3/16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07314-F5FC-4C67-930C-FE0F8510F4B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A45F7-A393-4B30-BE52-12DC8BD57766}" type="datetimeFigureOut">
              <a:rPr lang="zh-CN" altLang="en-US" smtClean="0"/>
              <a:t>2025/3/16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07314-F5FC-4C67-930C-FE0F8510F4B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12800" y="1600203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229600" y="1600203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A45F7-A393-4B30-BE52-12DC8BD57766}" type="datetimeFigureOut">
              <a:rPr lang="zh-CN" altLang="en-US" smtClean="0"/>
              <a:t>2025/3/16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07314-F5FC-4C67-930C-FE0F8510F4B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A45F7-A393-4B30-BE52-12DC8BD57766}" type="datetimeFigureOut">
              <a:rPr lang="zh-CN" altLang="en-US" smtClean="0"/>
              <a:t>2025/3/16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07314-F5FC-4C67-930C-FE0F8510F4B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A45F7-A393-4B30-BE52-12DC8BD57766}" type="datetimeFigureOut">
              <a:rPr lang="zh-CN" altLang="en-US" smtClean="0"/>
              <a:t>2025/3/16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07314-F5FC-4C67-930C-FE0F8510F4B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A45F7-A393-4B30-BE52-12DC8BD57766}" type="datetimeFigureOut">
              <a:rPr lang="zh-CN" altLang="en-US" smtClean="0"/>
              <a:t>2025/3/16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07314-F5FC-4C67-930C-FE0F8510F4B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A45F7-A393-4B30-BE52-12DC8BD57766}" type="datetimeFigureOut">
              <a:rPr lang="zh-CN" altLang="en-US" smtClean="0"/>
              <a:t>2025/3/16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07314-F5FC-4C67-930C-FE0F8510F4B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A45F7-A393-4B30-BE52-12DC8BD57766}" type="datetimeFigureOut">
              <a:rPr lang="zh-CN" altLang="en-US" smtClean="0"/>
              <a:t>2025/3/16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07314-F5FC-4C67-930C-FE0F8510F4B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A45F7-A393-4B30-BE52-12DC8BD57766}" type="datetimeFigureOut">
              <a:rPr lang="zh-CN" altLang="en-US" smtClean="0"/>
              <a:t>2025/3/16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07314-F5FC-4C67-930C-FE0F8510F4B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1785600" y="274641"/>
            <a:ext cx="36576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12800" y="274641"/>
            <a:ext cx="107696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A45F7-A393-4B30-BE52-12DC8BD57766}" type="datetimeFigureOut">
              <a:rPr lang="zh-CN" altLang="en-US" smtClean="0"/>
              <a:t>2025/3/16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07314-F5FC-4C67-930C-FE0F8510F4B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BA45F7-A393-4B30-BE52-12DC8BD57766}" type="datetimeFigureOut">
              <a:rPr lang="zh-CN" altLang="en-US" smtClean="0"/>
              <a:t>2025/3/16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007314-F5FC-4C67-930C-FE0F8510F4B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0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4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/>
          <a:srcRect l="7813" r="7464" b="10687"/>
          <a:stretch>
            <a:fillRect/>
          </a:stretch>
        </p:blipFill>
        <p:spPr>
          <a:xfrm>
            <a:off x="55906" y="2745384"/>
            <a:ext cx="5467969" cy="4097757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920967" y="402315"/>
            <a:ext cx="4463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/>
              <a:t>第三章  晶体的结合</a:t>
            </a:r>
            <a:endParaRPr lang="zh-CN" altLang="en-US" sz="3200" dirty="0"/>
          </a:p>
        </p:txBody>
      </p:sp>
      <p:sp>
        <p:nvSpPr>
          <p:cNvPr id="5" name="文本框 4"/>
          <p:cNvSpPr txBox="1"/>
          <p:nvPr/>
        </p:nvSpPr>
        <p:spPr>
          <a:xfrm>
            <a:off x="1352938" y="1604866"/>
            <a:ext cx="63074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/>
              <a:t>为什么大量原子、分子聚合在一起形成晶体？</a:t>
            </a:r>
            <a:endParaRPr lang="zh-CN" altLang="en-US" sz="2400" dirty="0"/>
          </a:p>
        </p:txBody>
      </p:sp>
      <p:sp>
        <p:nvSpPr>
          <p:cNvPr id="6" name="文本框 5"/>
          <p:cNvSpPr txBox="1"/>
          <p:nvPr/>
        </p:nvSpPr>
        <p:spPr>
          <a:xfrm>
            <a:off x="7744447" y="1174622"/>
            <a:ext cx="34335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/>
              <a:t>原子之间存在吸引力</a:t>
            </a:r>
            <a:endParaRPr lang="en-US" altLang="zh-CN" sz="2400" dirty="0" smtClean="0"/>
          </a:p>
          <a:p>
            <a:endParaRPr lang="en-US" altLang="zh-CN" sz="2400" dirty="0"/>
          </a:p>
          <a:p>
            <a:r>
              <a:rPr lang="zh-CN" altLang="en-US" sz="2400" dirty="0" smtClean="0"/>
              <a:t>聚合的体系能量最低</a:t>
            </a:r>
            <a:endParaRPr lang="zh-CN" altLang="en-US" sz="2400" dirty="0"/>
          </a:p>
        </p:txBody>
      </p:sp>
      <p:sp>
        <p:nvSpPr>
          <p:cNvPr id="7" name="文本框 6"/>
          <p:cNvSpPr txBox="1"/>
          <p:nvPr/>
        </p:nvSpPr>
        <p:spPr>
          <a:xfrm>
            <a:off x="3645714" y="2615692"/>
            <a:ext cx="58155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/>
              <a:t>§ 3.1 </a:t>
            </a:r>
            <a:r>
              <a:rPr lang="zh-CN" altLang="en-US" sz="2400" dirty="0" smtClean="0"/>
              <a:t>内聚能与晶体的力学、热学性质</a:t>
            </a:r>
            <a:endParaRPr lang="zh-CN" altLang="en-US" sz="2400" dirty="0"/>
          </a:p>
        </p:txBody>
      </p:sp>
      <p:sp>
        <p:nvSpPr>
          <p:cNvPr id="8" name="文本框 7"/>
          <p:cNvSpPr txBox="1"/>
          <p:nvPr/>
        </p:nvSpPr>
        <p:spPr>
          <a:xfrm>
            <a:off x="6276619" y="3359822"/>
            <a:ext cx="24101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/>
              <a:t>3.1.1 </a:t>
            </a:r>
            <a:r>
              <a:rPr lang="zh-CN" altLang="en-US" sz="2800" dirty="0" smtClean="0"/>
              <a:t>内聚能</a:t>
            </a:r>
            <a:endParaRPr lang="zh-CN" altLang="en-US" sz="2800" dirty="0"/>
          </a:p>
        </p:txBody>
      </p:sp>
      <p:sp>
        <p:nvSpPr>
          <p:cNvPr id="10" name="文本框 9"/>
          <p:cNvSpPr txBox="1"/>
          <p:nvPr/>
        </p:nvSpPr>
        <p:spPr>
          <a:xfrm>
            <a:off x="6227856" y="3895810"/>
            <a:ext cx="58786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晶体的特点</a:t>
            </a:r>
            <a:r>
              <a:rPr lang="zh-CN" altLang="en-US" sz="2400" dirty="0" smtClean="0"/>
              <a:t>：原子处于平衡位置，偏离平衡位置（拉伸、压缩）都需要外界做功</a:t>
            </a:r>
            <a:endParaRPr lang="zh-CN" altLang="en-US" sz="2400" dirty="0"/>
          </a:p>
        </p:txBody>
      </p:sp>
      <p:sp>
        <p:nvSpPr>
          <p:cNvPr id="11" name="文本框 10"/>
          <p:cNvSpPr txBox="1"/>
          <p:nvPr/>
        </p:nvSpPr>
        <p:spPr>
          <a:xfrm>
            <a:off x="6216121" y="4644483"/>
            <a:ext cx="27093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晶体的内能特点</a:t>
            </a:r>
            <a:r>
              <a:rPr lang="zh-CN" altLang="en-US" sz="2400" dirty="0" smtClean="0"/>
              <a:t>：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/>
              <p:cNvSpPr txBox="1"/>
              <p:nvPr/>
            </p:nvSpPr>
            <p:spPr>
              <a:xfrm>
                <a:off x="6224742" y="5109499"/>
                <a:ext cx="1176732" cy="3989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num>
                      <m:den>
                        <m: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sSub>
                      <m:sSubPr>
                        <m:ctrlP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dirty="0" smtClean="0">
                    <a:solidFill>
                      <a:schemeClr val="tx1"/>
                    </a:solidFill>
                  </a:rPr>
                  <a:t>=0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4742" y="5109499"/>
                <a:ext cx="1176732" cy="398955"/>
              </a:xfrm>
              <a:prstGeom prst="rect">
                <a:avLst/>
              </a:prstGeom>
              <a:blipFill rotWithShape="1">
                <a:blip r:embed="rId3"/>
                <a:stretch>
                  <a:fillRect l="-40" t="-72" r="-4162" b="1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/>
              <p:cNvSpPr txBox="1"/>
              <p:nvPr/>
            </p:nvSpPr>
            <p:spPr>
              <a:xfrm>
                <a:off x="6227855" y="5756422"/>
                <a:ext cx="2308324" cy="3989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num>
                      <m:den>
                        <m: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sSub>
                      <m:sSubPr>
                        <m:ctrlP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</m:sSub>
                    <m:r>
                      <a:rPr lang="en-US" altLang="zh-CN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altLang="zh-CN" dirty="0" smtClean="0">
                    <a:solidFill>
                      <a:schemeClr val="tx1"/>
                    </a:solidFill>
                  </a:rPr>
                  <a:t>0	</a:t>
                </a:r>
                <a:r>
                  <a:rPr lang="zh-CN" altLang="en-US" dirty="0" smtClean="0">
                    <a:solidFill>
                      <a:schemeClr val="tx1"/>
                    </a:solidFill>
                  </a:rPr>
                  <a:t>引力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7855" y="5756422"/>
                <a:ext cx="2308324" cy="398955"/>
              </a:xfrm>
              <a:prstGeom prst="rect">
                <a:avLst/>
              </a:prstGeom>
              <a:blipFill rotWithShape="1">
                <a:blip r:embed="rId4"/>
                <a:stretch>
                  <a:fillRect l="-18" t="-37" r="-1216" b="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/>
              <p:cNvSpPr txBox="1"/>
              <p:nvPr/>
            </p:nvSpPr>
            <p:spPr>
              <a:xfrm>
                <a:off x="6230959" y="6376731"/>
                <a:ext cx="2308324" cy="3989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num>
                      <m:den>
                        <m: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sSub>
                      <m:sSubPr>
                        <m:ctrlP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</m:sSub>
                    <m:r>
                      <a:rPr lang="en-US" altLang="zh-CN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altLang="zh-CN" dirty="0" smtClean="0">
                    <a:solidFill>
                      <a:schemeClr val="tx1"/>
                    </a:solidFill>
                  </a:rPr>
                  <a:t>0	</a:t>
                </a:r>
                <a:r>
                  <a:rPr lang="zh-CN" altLang="en-US" dirty="0" smtClean="0">
                    <a:solidFill>
                      <a:schemeClr val="tx1"/>
                    </a:solidFill>
                  </a:rPr>
                  <a:t>斥力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0959" y="6376731"/>
                <a:ext cx="2308324" cy="398955"/>
              </a:xfrm>
              <a:prstGeom prst="rect">
                <a:avLst/>
              </a:prstGeom>
              <a:blipFill rotWithShape="1">
                <a:blip r:embed="rId5"/>
                <a:stretch>
                  <a:fillRect l="-15" t="-15" r="-1219" b="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20967" y="402315"/>
            <a:ext cx="4463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/>
              <a:t>第三章  晶体的结合</a:t>
            </a:r>
            <a:endParaRPr lang="zh-CN" alt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1967865" y="2772988"/>
                <a:ext cx="8961497" cy="30598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其中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A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、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B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、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m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、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n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都是参数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2400" dirty="0">
                    <a:solidFill>
                      <a:schemeClr val="tx1"/>
                    </a:solidFill>
                  </a:rPr>
                  <a:t>	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i="1" dirty="0" smtClean="0">
                    <a:solidFill>
                      <a:schemeClr val="tx1"/>
                    </a:solidFill>
                  </a:rPr>
                  <a:t>问题：</a:t>
                </a:r>
                <a:r>
                  <a:rPr lang="en-US" altLang="zh-CN" sz="2400" i="1" dirty="0" smtClean="0">
                    <a:solidFill>
                      <a:schemeClr val="tx1"/>
                    </a:solidFill>
                  </a:rPr>
                  <a:t> m</a:t>
                </a:r>
                <a:r>
                  <a:rPr lang="zh-CN" altLang="en-US" sz="2400" i="1" dirty="0" smtClean="0">
                    <a:solidFill>
                      <a:schemeClr val="tx1"/>
                    </a:solidFill>
                  </a:rPr>
                  <a:t>、</a:t>
                </a:r>
                <a:r>
                  <a:rPr lang="en-US" altLang="zh-CN" sz="2400" i="1" dirty="0" smtClean="0">
                    <a:solidFill>
                      <a:schemeClr val="tx1"/>
                    </a:solidFill>
                  </a:rPr>
                  <a:t>n</a:t>
                </a:r>
                <a:r>
                  <a:rPr lang="zh-CN" altLang="en-US" sz="2400" i="1" dirty="0" smtClean="0">
                    <a:solidFill>
                      <a:schemeClr val="tx1"/>
                    </a:solidFill>
                  </a:rPr>
                  <a:t>哪个大？</a:t>
                </a:r>
                <a:endParaRPr lang="en-US" altLang="zh-CN" sz="2400" i="1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2400" dirty="0">
                    <a:solidFill>
                      <a:schemeClr val="tx1"/>
                    </a:solidFill>
                  </a:rPr>
                  <a:t>	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由：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num>
                      <m:den>
                        <m: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=0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	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		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得：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g>
                      <m:e>
                        <m:f>
                          <m:f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rad>
                  </m:oMath>
                </a14:m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endParaRPr lang="en-US" altLang="zh-CN" sz="2400" dirty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又有：</a:t>
                </a:r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865" y="2772988"/>
                <a:ext cx="8961497" cy="3059877"/>
              </a:xfrm>
              <a:prstGeom prst="rect">
                <a:avLst/>
              </a:prstGeom>
              <a:blipFill rotWithShape="1">
                <a:blip r:embed="rId2"/>
                <a:stretch>
                  <a:fillRect t="-19" r="4" b="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/>
          <p:cNvSpPr/>
          <p:nvPr/>
        </p:nvSpPr>
        <p:spPr>
          <a:xfrm>
            <a:off x="1376878" y="1257537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/>
              <a:t>习惯</a:t>
            </a:r>
            <a:r>
              <a:rPr lang="zh-CN" altLang="en-US" sz="2800" dirty="0" smtClean="0"/>
              <a:t>上：</a:t>
            </a:r>
            <a:endParaRPr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1385595" y="1721497"/>
                <a:ext cx="5714385" cy="6914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吸引</m:t>
                          </m:r>
                        </m:sub>
                      </m:sSub>
                      <m:d>
                        <m:d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排斥</m:t>
                          </m:r>
                        </m:sub>
                      </m:sSub>
                      <m:d>
                        <m:d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altLang="zh-CN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</m:den>
                      </m:f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5595" y="1721497"/>
                <a:ext cx="5714385" cy="691471"/>
              </a:xfrm>
              <a:prstGeom prst="rect">
                <a:avLst/>
              </a:prstGeom>
              <a:blipFill rotWithShape="1">
                <a:blip r:embed="rId3"/>
                <a:stretch>
                  <a:fillRect t="-2" r="1" b="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/>
              <p:cNvSpPr txBox="1"/>
              <p:nvPr/>
            </p:nvSpPr>
            <p:spPr>
              <a:xfrm>
                <a:off x="3606168" y="5937746"/>
                <a:ext cx="3698641" cy="7736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sSubSup>
                            <m:sSubSupPr>
                              <m:ctrlP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</m:den>
                      </m:f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(1−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6168" y="5937746"/>
                <a:ext cx="3698641" cy="773610"/>
              </a:xfrm>
              <a:prstGeom prst="rect">
                <a:avLst/>
              </a:prstGeom>
              <a:blipFill rotWithShape="1">
                <a:blip r:embed="rId4"/>
                <a:stretch>
                  <a:fillRect t="-64" r="11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20967" y="402315"/>
            <a:ext cx="4463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/>
              <a:t>第三章  晶体的结合</a:t>
            </a:r>
            <a:endParaRPr lang="zh-CN" altLang="en-US" sz="3200" dirty="0"/>
          </a:p>
        </p:txBody>
      </p:sp>
      <p:sp>
        <p:nvSpPr>
          <p:cNvPr id="13" name="文本框 12"/>
          <p:cNvSpPr txBox="1"/>
          <p:nvPr/>
        </p:nvSpPr>
        <p:spPr>
          <a:xfrm>
            <a:off x="898975" y="975089"/>
            <a:ext cx="52239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/>
              <a:t>3.1.2 </a:t>
            </a:r>
            <a:r>
              <a:rPr lang="zh-CN" altLang="en-US" sz="2800" dirty="0" smtClean="0"/>
              <a:t>晶体</a:t>
            </a:r>
            <a:r>
              <a:rPr lang="zh-CN" altLang="en-US" sz="2800" dirty="0"/>
              <a:t>的力学、热学性质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1385596" y="1661624"/>
            <a:ext cx="28491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/>
              <a:t>（</a:t>
            </a:r>
            <a:r>
              <a:rPr lang="en-US" altLang="zh-CN" sz="2400" dirty="0" smtClean="0"/>
              <a:t>1</a:t>
            </a:r>
            <a:r>
              <a:rPr lang="zh-CN" altLang="en-US" sz="2400" dirty="0" smtClean="0"/>
              <a:t>）体积弹性模量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/>
              <p:cNvSpPr txBox="1"/>
              <p:nvPr/>
            </p:nvSpPr>
            <p:spPr>
              <a:xfrm>
                <a:off x="1648389" y="2131489"/>
                <a:ext cx="2100447" cy="7023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den>
                      </m:f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8389" y="2131489"/>
                <a:ext cx="2100447" cy="702308"/>
              </a:xfrm>
              <a:prstGeom prst="rect">
                <a:avLst/>
              </a:prstGeom>
              <a:blipFill rotWithShape="1">
                <a:blip r:embed="rId2"/>
                <a:stretch>
                  <a:fillRect l="-27" t="-61" r="-2156" b="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1598973" y="2932257"/>
                <a:ext cx="10385661" cy="3358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num>
                      <m:den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num>
                      <m:den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f>
                      <m:f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	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则：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</m:e>
                              <m:sup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𝑈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p>
                              <m:sSupPr>
                                <m:ctrlP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p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</m:e>
                              <m:sup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𝑈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p>
                              <m:sSupPr>
                                <m:ctrlP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sSup>
                      <m:sSup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(</m:t>
                        </m:r>
                        <m:f>
                          <m:f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den>
                        </m:f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)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f>
                      <m:f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num>
                      <m:den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f>
                      <m:f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endParaRPr lang="en-US" altLang="zh-CN" sz="2400" dirty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考虑：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altLang="zh-CN" sz="24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</m:t>
                    </m:r>
                    <m:sSup>
                      <m:sSupPr>
                        <m:ctrlP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𝑟</m:t>
                        </m:r>
                      </m:e>
                      <m:sup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3</m:t>
                        </m:r>
                      </m:sup>
                    </m:sSup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  和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altLang="zh-CN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sSup>
                          <m:sSup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</m:den>
                    </m:f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sSup>
                          <m:sSup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endParaRPr lang="en-US" altLang="zh-CN" sz="2400" dirty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平衡位置时，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zh-CN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d>
                      <m:d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</m:e>
                              <m:sup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𝑈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p>
                              <m:sSupPr>
                                <m:ctrlP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</m:sSub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d>
                          <m:d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zh-CN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  <m:sSubSup>
                          <m:sSubSup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Sup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+3</m:t>
                            </m:r>
                          </m:sup>
                        </m:sSubSup>
                      </m:den>
                    </m:f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𝑚𝑛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zh-CN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  <m:sSubSup>
                          <m:sSubSup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Sup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bSup>
                      </m:den>
                    </m:f>
                  </m:oMath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  <a:p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b="1" dirty="0" smtClean="0">
                    <a:solidFill>
                      <a:schemeClr val="tx1"/>
                    </a:solidFill>
                  </a:rPr>
                  <a:t>思考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zh-CN" altLang="en-US" sz="2400" i="1" dirty="0" smtClean="0">
                    <a:solidFill>
                      <a:schemeClr val="tx1"/>
                    </a:solidFill>
                  </a:rPr>
                  <a:t>与</a:t>
                </a:r>
                <a:r>
                  <a:rPr lang="en-US" altLang="zh-CN" sz="2400" i="1" dirty="0" smtClean="0">
                    <a:solidFill>
                      <a:schemeClr val="tx1"/>
                    </a:solidFill>
                  </a:rPr>
                  <a:t>N</a:t>
                </a:r>
                <a:r>
                  <a:rPr lang="zh-CN" altLang="en-US" sz="2400" i="1" dirty="0" smtClean="0">
                    <a:solidFill>
                      <a:schemeClr val="tx1"/>
                    </a:solidFill>
                  </a:rPr>
                  <a:t>有关吗？什么晶体的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zh-CN" altLang="en-US" sz="2400" i="1" dirty="0" smtClean="0">
                    <a:solidFill>
                      <a:schemeClr val="tx1"/>
                    </a:solidFill>
                  </a:rPr>
                  <a:t>比较大？</a:t>
                </a:r>
                <a:endParaRPr lang="zh-CN" altLang="en-US" sz="2400" i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8973" y="2932257"/>
                <a:ext cx="10385661" cy="3358483"/>
              </a:xfrm>
              <a:prstGeom prst="rect">
                <a:avLst/>
              </a:prstGeom>
              <a:blipFill rotWithShape="0">
                <a:blip r:embed="rId3"/>
                <a:stretch>
                  <a:fillRect l="-880" b="-21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20967" y="402315"/>
            <a:ext cx="4463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/>
              <a:t>第三章  晶体的结合</a:t>
            </a:r>
            <a:endParaRPr lang="zh-CN" altLang="en-US" sz="3200" dirty="0"/>
          </a:p>
        </p:txBody>
      </p:sp>
      <p:sp>
        <p:nvSpPr>
          <p:cNvPr id="13" name="文本框 12"/>
          <p:cNvSpPr txBox="1"/>
          <p:nvPr/>
        </p:nvSpPr>
        <p:spPr>
          <a:xfrm>
            <a:off x="898975" y="1072524"/>
            <a:ext cx="52239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/>
              <a:t>3.1.2 </a:t>
            </a:r>
            <a:r>
              <a:rPr lang="zh-CN" altLang="en-US" sz="2800" dirty="0" smtClean="0"/>
              <a:t>晶体</a:t>
            </a:r>
            <a:r>
              <a:rPr lang="zh-CN" altLang="en-US" sz="2800" dirty="0"/>
              <a:t>的力学、热学性质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1398031" y="2051005"/>
            <a:ext cx="38110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/>
              <a:t>（</a:t>
            </a:r>
            <a:r>
              <a:rPr lang="en-US" altLang="zh-CN" sz="2400" dirty="0"/>
              <a:t>2</a:t>
            </a:r>
            <a:r>
              <a:rPr lang="zh-CN" altLang="en-US" sz="2400" dirty="0" smtClean="0"/>
              <a:t>）熔点及挥发性</a:t>
            </a:r>
            <a:endParaRPr lang="zh-CN" altLang="en-US" sz="2400" dirty="0"/>
          </a:p>
        </p:txBody>
      </p:sp>
      <p:sp>
        <p:nvSpPr>
          <p:cNvPr id="18" name="文本框 17"/>
          <p:cNvSpPr txBox="1"/>
          <p:nvPr/>
        </p:nvSpPr>
        <p:spPr>
          <a:xfrm>
            <a:off x="2198631" y="2758676"/>
            <a:ext cx="2154436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2400" dirty="0" smtClean="0"/>
              <a:t>与内聚能有关！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20967" y="402315"/>
            <a:ext cx="4463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/>
              <a:t>第三章  晶体的结合</a:t>
            </a:r>
            <a:endParaRPr lang="zh-CN" altLang="en-US" sz="3200" dirty="0"/>
          </a:p>
        </p:txBody>
      </p:sp>
      <p:sp>
        <p:nvSpPr>
          <p:cNvPr id="13" name="文本框 12"/>
          <p:cNvSpPr txBox="1"/>
          <p:nvPr/>
        </p:nvSpPr>
        <p:spPr>
          <a:xfrm>
            <a:off x="928955" y="952604"/>
            <a:ext cx="4549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/>
              <a:t>3.1.3 </a:t>
            </a:r>
            <a:r>
              <a:rPr lang="zh-CN" altLang="en-US" sz="2800" dirty="0" smtClean="0"/>
              <a:t>原子间的互作用力</a:t>
            </a:r>
            <a:endParaRPr lang="zh-CN" altLang="en-US" sz="2800" dirty="0"/>
          </a:p>
        </p:txBody>
      </p:sp>
      <p:sp>
        <p:nvSpPr>
          <p:cNvPr id="9" name="文本框 8"/>
          <p:cNvSpPr txBox="1"/>
          <p:nvPr/>
        </p:nvSpPr>
        <p:spPr>
          <a:xfrm>
            <a:off x="1340983" y="1613804"/>
            <a:ext cx="7043829" cy="4801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400" b="1" dirty="0" smtClean="0"/>
              <a:t>结合类型</a:t>
            </a:r>
            <a:r>
              <a:rPr lang="zh-CN" altLang="en-US" sz="2400" dirty="0" smtClean="0"/>
              <a:t>：</a:t>
            </a:r>
            <a:endParaRPr lang="en-US" altLang="zh-CN" sz="2400" dirty="0" smtClean="0"/>
          </a:p>
          <a:p>
            <a:r>
              <a:rPr lang="en-US" altLang="zh-CN" sz="2400" dirty="0"/>
              <a:t>	</a:t>
            </a:r>
            <a:r>
              <a:rPr lang="zh-CN" altLang="en-US" sz="2400" dirty="0" smtClean="0"/>
              <a:t>离子结合</a:t>
            </a:r>
            <a:r>
              <a:rPr lang="en-US" altLang="zh-CN" sz="2400" dirty="0" smtClean="0"/>
              <a:t>		</a:t>
            </a:r>
            <a:r>
              <a:rPr lang="zh-CN" altLang="en-US" sz="2400" dirty="0" smtClean="0"/>
              <a:t>离子键</a:t>
            </a:r>
            <a:endParaRPr lang="en-US" altLang="zh-CN" sz="2400" dirty="0" smtClean="0"/>
          </a:p>
          <a:p>
            <a:r>
              <a:rPr lang="en-US" altLang="zh-CN" sz="2400" dirty="0"/>
              <a:t>	</a:t>
            </a:r>
            <a:r>
              <a:rPr lang="zh-CN" altLang="en-US" sz="2400" dirty="0" smtClean="0"/>
              <a:t>共价结合</a:t>
            </a:r>
            <a:r>
              <a:rPr lang="en-US" altLang="zh-CN" sz="2400" dirty="0" smtClean="0"/>
              <a:t>		</a:t>
            </a:r>
            <a:r>
              <a:rPr lang="zh-CN" altLang="en-US" sz="2400" dirty="0" smtClean="0"/>
              <a:t>共价键</a:t>
            </a:r>
            <a:endParaRPr lang="en-US" altLang="zh-CN" sz="2400" dirty="0" smtClean="0"/>
          </a:p>
          <a:p>
            <a:r>
              <a:rPr lang="en-US" altLang="zh-CN" sz="2400" dirty="0"/>
              <a:t>	</a:t>
            </a:r>
            <a:r>
              <a:rPr lang="zh-CN" altLang="en-US" sz="2400" dirty="0" smtClean="0"/>
              <a:t>金属结合</a:t>
            </a:r>
            <a:r>
              <a:rPr lang="en-US" altLang="zh-CN" sz="2400" dirty="0" smtClean="0"/>
              <a:t>		</a:t>
            </a:r>
            <a:r>
              <a:rPr lang="zh-CN" altLang="en-US" sz="2400" dirty="0" smtClean="0"/>
              <a:t>金属键</a:t>
            </a:r>
            <a:endParaRPr lang="en-US" altLang="zh-CN" sz="2400" dirty="0" smtClean="0"/>
          </a:p>
          <a:p>
            <a:r>
              <a:rPr lang="en-US" altLang="zh-CN" sz="2400" dirty="0"/>
              <a:t>	</a:t>
            </a:r>
            <a:r>
              <a:rPr lang="zh-CN" altLang="en-US" sz="2400" dirty="0" smtClean="0"/>
              <a:t>范德瓦尔斯结合</a:t>
            </a:r>
            <a:r>
              <a:rPr lang="en-US" altLang="zh-CN" sz="2400" dirty="0" smtClean="0"/>
              <a:t>	</a:t>
            </a:r>
            <a:r>
              <a:rPr lang="zh-CN" altLang="en-US" sz="2400" dirty="0" smtClean="0"/>
              <a:t>范德瓦尔斯键</a:t>
            </a:r>
            <a:endParaRPr lang="en-US" altLang="zh-CN" sz="2400" dirty="0" smtClean="0"/>
          </a:p>
          <a:p>
            <a:r>
              <a:rPr lang="en-US" altLang="zh-CN" sz="2400" dirty="0"/>
              <a:t>	</a:t>
            </a:r>
            <a:r>
              <a:rPr lang="zh-CN" altLang="en-US" sz="2400" dirty="0" smtClean="0"/>
              <a:t>氢键结合</a:t>
            </a:r>
            <a:r>
              <a:rPr lang="en-US" altLang="zh-CN" sz="2400" dirty="0" smtClean="0"/>
              <a:t>		</a:t>
            </a:r>
            <a:r>
              <a:rPr lang="zh-CN" altLang="en-US" sz="2400" dirty="0" smtClean="0"/>
              <a:t>氢键</a:t>
            </a:r>
            <a:endParaRPr lang="en-US" altLang="zh-CN" sz="2400" dirty="0" smtClean="0"/>
          </a:p>
          <a:p>
            <a:endParaRPr lang="en-US" altLang="zh-CN" sz="2400" dirty="0"/>
          </a:p>
          <a:p>
            <a:endParaRPr lang="en-US" altLang="zh-CN" sz="2400" dirty="0" smtClean="0"/>
          </a:p>
          <a:p>
            <a:endParaRPr lang="en-US" altLang="zh-CN" sz="2400" dirty="0"/>
          </a:p>
          <a:p>
            <a:endParaRPr lang="en-US" altLang="zh-CN" sz="2400" dirty="0" smtClean="0"/>
          </a:p>
          <a:p>
            <a:r>
              <a:rPr lang="zh-CN" altLang="en-US" sz="2400" b="1" dirty="0" smtClean="0"/>
              <a:t>思考</a:t>
            </a:r>
            <a:r>
              <a:rPr lang="zh-CN" altLang="en-US" sz="2400" dirty="0" smtClean="0"/>
              <a:t>：</a:t>
            </a:r>
            <a:r>
              <a:rPr lang="en-US" altLang="zh-CN" sz="2400" dirty="0" smtClean="0"/>
              <a:t>	</a:t>
            </a:r>
            <a:r>
              <a:rPr lang="zh-CN" altLang="en-US" sz="2400" dirty="0" smtClean="0"/>
              <a:t>键的物理本质是什么？</a:t>
            </a:r>
            <a:endParaRPr lang="en-US" altLang="zh-CN" sz="2400" dirty="0" smtClean="0"/>
          </a:p>
          <a:p>
            <a:r>
              <a:rPr lang="en-US" altLang="zh-CN" sz="2400" dirty="0"/>
              <a:t>	</a:t>
            </a:r>
            <a:r>
              <a:rPr lang="en-US" altLang="zh-CN" sz="2400" dirty="0" smtClean="0"/>
              <a:t>	</a:t>
            </a:r>
            <a:r>
              <a:rPr lang="zh-CN" altLang="en-US" sz="2400" dirty="0" smtClean="0"/>
              <a:t>原子间的力是一种新的相互作用吗？</a:t>
            </a:r>
            <a:endParaRPr lang="en-US" altLang="zh-CN" sz="2400" dirty="0" smtClean="0"/>
          </a:p>
          <a:p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20967" y="402315"/>
            <a:ext cx="4463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/>
              <a:t>第三章  晶体的结合</a:t>
            </a:r>
            <a:endParaRPr lang="zh-CN" altLang="en-US" sz="3200" dirty="0"/>
          </a:p>
        </p:txBody>
      </p:sp>
      <p:sp>
        <p:nvSpPr>
          <p:cNvPr id="3" name="文本框 2"/>
          <p:cNvSpPr txBox="1"/>
          <p:nvPr/>
        </p:nvSpPr>
        <p:spPr>
          <a:xfrm>
            <a:off x="3645714" y="1122330"/>
            <a:ext cx="58155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/>
              <a:t>§ 3.2 </a:t>
            </a:r>
            <a:r>
              <a:rPr lang="zh-CN" altLang="en-US" sz="2400" dirty="0" smtClean="0"/>
              <a:t>离子结合与离子晶体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905069" y="1696420"/>
                <a:ext cx="10487609" cy="52020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 smtClean="0">
                    <a:solidFill>
                      <a:schemeClr val="tx1"/>
                    </a:solidFill>
                  </a:rPr>
                  <a:t>NaCl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晶体是如何形成的？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endParaRPr lang="en-US" altLang="zh-CN" dirty="0">
                  <a:solidFill>
                    <a:schemeClr val="tx1"/>
                  </a:solidFill>
                </a:endParaRPr>
              </a:p>
              <a:p>
                <a:r>
                  <a:rPr lang="en-US" altLang="zh-CN" sz="2800" dirty="0" smtClean="0">
                    <a:solidFill>
                      <a:schemeClr val="tx1"/>
                    </a:solidFill>
                  </a:rPr>
                  <a:t>3.2.1  </a:t>
                </a:r>
                <a:r>
                  <a:rPr lang="zh-CN" altLang="en-US" sz="2800" dirty="0" smtClean="0">
                    <a:solidFill>
                      <a:schemeClr val="tx1"/>
                    </a:solidFill>
                  </a:rPr>
                  <a:t>原子的电离能、亲合能及电负性</a:t>
                </a:r>
                <a:endParaRPr lang="en-US" altLang="zh-CN" sz="2800" dirty="0" smtClean="0">
                  <a:solidFill>
                    <a:schemeClr val="tx1"/>
                  </a:solidFill>
                </a:endParaRPr>
              </a:p>
              <a:p>
                <a:endParaRPr lang="en-US" altLang="zh-CN" dirty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电离能：从原子拿走一个电子，外界做的功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2400" dirty="0">
                    <a:solidFill>
                      <a:schemeClr val="tx1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</m:t>
                    </m:r>
                    <m:sSup>
                      <m:sSup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𝐴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+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+(−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𝑒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)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	</a:t>
                </a:r>
              </a:p>
              <a:p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亲</a:t>
                </a:r>
                <a:r>
                  <a:rPr lang="zh-CN" altLang="en-US" sz="2400" dirty="0">
                    <a:solidFill>
                      <a:schemeClr val="tx1"/>
                    </a:solidFill>
                  </a:rPr>
                  <a:t>合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能：从外界获得一个电子，对外界</a:t>
                </a:r>
                <a:r>
                  <a:rPr lang="zh-CN" altLang="en-US" sz="2400" dirty="0">
                    <a:solidFill>
                      <a:schemeClr val="tx1"/>
                    </a:solidFill>
                  </a:rPr>
                  <a:t>做的功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2400" dirty="0">
                    <a:solidFill>
                      <a:schemeClr val="tx1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+(−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𝑒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)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𝐴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−</m:t>
                        </m:r>
                      </m:sup>
                    </m:sSup>
                    <m:r>
                      <a:rPr lang="en-US" altLang="zh-CN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</a:rPr>
                  <a:t>	</a:t>
                </a:r>
              </a:p>
              <a:p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电负性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(</a:t>
                </a:r>
                <a:r>
                  <a:rPr lang="en-US" altLang="zh-CN" sz="2400" dirty="0" err="1" smtClean="0">
                    <a:solidFill>
                      <a:schemeClr val="tx1"/>
                    </a:solidFill>
                  </a:rPr>
                  <a:t>Mulliken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的定义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)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：</a:t>
                </a:r>
                <a14:m>
                  <m:oMath xmlns:m="http://schemas.openxmlformats.org/officeDocument/2006/math">
                    <m:r>
                      <a:rPr lang="zh-CN" alt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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f>
                      <m:f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1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6</m:t>
                        </m:r>
                        <m: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.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3</m:t>
                        </m:r>
                      </m:den>
                    </m:f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（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）</a:t>
                </a:r>
                <a:endParaRPr lang="en-US" altLang="zh-CN" sz="2400" dirty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一般，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较大的，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也</m:t>
                    </m:r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较大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endParaRPr lang="en-US" altLang="zh-CN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i="1" dirty="0" smtClean="0">
                    <a:solidFill>
                      <a:schemeClr val="tx1"/>
                    </a:solidFill>
                  </a:rPr>
                  <a:t>问题：</a:t>
                </a:r>
                <a:r>
                  <a:rPr lang="en-US" altLang="zh-CN" sz="2400" i="1" dirty="0">
                    <a:solidFill>
                      <a:schemeClr val="tx1"/>
                    </a:solidFill>
                  </a:rPr>
                  <a:t> </a:t>
                </a:r>
                <a:r>
                  <a:rPr lang="zh-CN" altLang="en-US" sz="2400" i="1" dirty="0" smtClean="0">
                    <a:solidFill>
                      <a:schemeClr val="tx1"/>
                    </a:solidFill>
                  </a:rPr>
                  <a:t>从</a:t>
                </a:r>
                <a:r>
                  <a:rPr lang="en-US" altLang="zh-CN" sz="2400" i="1" dirty="0" smtClean="0">
                    <a:solidFill>
                      <a:schemeClr val="tx1"/>
                    </a:solidFill>
                  </a:rPr>
                  <a:t>Na</a:t>
                </a:r>
                <a:r>
                  <a:rPr lang="zh-CN" altLang="en-US" sz="2400" i="1" dirty="0" smtClean="0">
                    <a:solidFill>
                      <a:schemeClr val="tx1"/>
                    </a:solidFill>
                  </a:rPr>
                  <a:t>上拿走一个电子，放到</a:t>
                </a:r>
                <a:r>
                  <a:rPr lang="en-US" altLang="zh-CN" sz="2400" i="1" dirty="0" smtClean="0">
                    <a:solidFill>
                      <a:schemeClr val="tx1"/>
                    </a:solidFill>
                  </a:rPr>
                  <a:t>Cl</a:t>
                </a:r>
                <a:r>
                  <a:rPr lang="zh-CN" altLang="en-US" sz="2400" i="1" dirty="0" smtClean="0">
                    <a:solidFill>
                      <a:schemeClr val="tx1"/>
                    </a:solidFill>
                  </a:rPr>
                  <a:t>上，会发生什么？</a:t>
                </a:r>
                <a:endParaRPr lang="en-US" altLang="zh-CN" sz="2400" i="1" dirty="0" smtClean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069" y="1696420"/>
                <a:ext cx="10487609" cy="5202065"/>
              </a:xfrm>
              <a:prstGeom prst="rect">
                <a:avLst/>
              </a:prstGeom>
              <a:blipFill rotWithShape="1">
                <a:blip r:embed="rId2"/>
                <a:stretch>
                  <a:fillRect l="-2" t="-6" r="1" b="-4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20967" y="402315"/>
            <a:ext cx="4463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/>
              <a:t>第三章  晶体的结合</a:t>
            </a:r>
            <a:endParaRPr lang="zh-CN" altLang="en-US" sz="3200" dirty="0"/>
          </a:p>
        </p:txBody>
      </p:sp>
      <p:sp>
        <p:nvSpPr>
          <p:cNvPr id="3" name="文本框 2"/>
          <p:cNvSpPr txBox="1"/>
          <p:nvPr/>
        </p:nvSpPr>
        <p:spPr>
          <a:xfrm>
            <a:off x="3645714" y="1122330"/>
            <a:ext cx="58155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/>
              <a:t>§ 3.2 </a:t>
            </a:r>
            <a:r>
              <a:rPr lang="zh-CN" altLang="en-US" sz="2400" dirty="0" smtClean="0"/>
              <a:t>离子结合与离子晶体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905069" y="1696420"/>
                <a:ext cx="10487609" cy="323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 smtClean="0">
                    <a:solidFill>
                      <a:schemeClr val="tx1"/>
                    </a:solidFill>
                  </a:rPr>
                  <a:t>NaCl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晶体是如何形成的？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endParaRPr lang="en-US" altLang="zh-CN" dirty="0">
                  <a:solidFill>
                    <a:schemeClr val="tx1"/>
                  </a:solidFill>
                </a:endParaRPr>
              </a:p>
              <a:p>
                <a:r>
                  <a:rPr lang="en-US" altLang="zh-CN" sz="2800" dirty="0" smtClean="0"/>
                  <a:t>3.2.2  </a:t>
                </a:r>
                <a:r>
                  <a:rPr lang="zh-CN" altLang="en-US" sz="2800" dirty="0"/>
                  <a:t>离子对的形成</a:t>
                </a:r>
                <a:endParaRPr lang="en-US" altLang="zh-CN" sz="2800" dirty="0"/>
              </a:p>
              <a:p>
                <a:endParaRPr lang="en-US" altLang="zh-CN" sz="2800" dirty="0" smtClean="0"/>
              </a:p>
              <a:p>
                <a:r>
                  <a:rPr lang="zh-CN" altLang="en-US" sz="2400" dirty="0" smtClean="0"/>
                  <a:t>库</a:t>
                </a:r>
                <a:r>
                  <a:rPr lang="zh-CN" altLang="en-US" sz="2400" dirty="0"/>
                  <a:t>仑吸引作用会使系统能量进一步降低，从而发生凝</a:t>
                </a:r>
                <a:r>
                  <a:rPr lang="zh-CN" altLang="en-US" sz="2400" dirty="0" smtClean="0"/>
                  <a:t>聚</a:t>
                </a:r>
                <a:endParaRPr lang="en-US" altLang="zh-CN" sz="2400" dirty="0" smtClean="0"/>
              </a:p>
              <a:p>
                <a:endParaRPr lang="en-US" altLang="zh-CN" sz="240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2400" i="1">
                              <a:latin typeface="Cambria Math" charset="0"/>
                            </a:rPr>
                          </m:ctrlPr>
                        </m:sSub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zh-CN" sz="2400" i="1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sup>
                      </m:sSubSup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altLang="zh-CN" sz="2400" i="1">
                              <a:latin typeface="Cambria Math" charset="0"/>
                            </a:rPr>
                          </m:ctrlPr>
                        </m:sSub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zh-CN" sz="2400" i="1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sup>
                      </m:sSubSup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吸引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排斥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&lt;0</m:t>
                      </m:r>
                    </m:oMath>
                  </m:oMathPara>
                </a14:m>
                <a:endParaRPr lang="en-US" altLang="zh-CN" sz="2400" dirty="0"/>
              </a:p>
              <a:p>
                <a:endParaRPr lang="en-US" altLang="zh-C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069" y="1696420"/>
                <a:ext cx="10487609" cy="3234283"/>
              </a:xfrm>
              <a:prstGeom prst="rect">
                <a:avLst/>
              </a:prstGeom>
              <a:blipFill rotWithShape="1">
                <a:blip r:embed="rId2"/>
                <a:stretch>
                  <a:fillRect l="-2" t="-10" r="1" b="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20967" y="402315"/>
            <a:ext cx="4463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/>
              <a:t>第三章  晶体的结合</a:t>
            </a:r>
            <a:endParaRPr lang="zh-CN" altLang="en-US" sz="3200" dirty="0"/>
          </a:p>
        </p:txBody>
      </p:sp>
      <p:sp>
        <p:nvSpPr>
          <p:cNvPr id="3" name="文本框 2"/>
          <p:cNvSpPr txBox="1"/>
          <p:nvPr/>
        </p:nvSpPr>
        <p:spPr>
          <a:xfrm>
            <a:off x="4290291" y="1084133"/>
            <a:ext cx="58155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/>
              <a:t>§ 3.2 </a:t>
            </a:r>
            <a:r>
              <a:rPr lang="zh-CN" altLang="en-US" sz="2400" dirty="0" smtClean="0"/>
              <a:t>离子结合与离子晶体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1297261" y="1645493"/>
                <a:ext cx="9535887" cy="50856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 smtClean="0">
                    <a:solidFill>
                      <a:schemeClr val="tx1"/>
                    </a:solidFill>
                  </a:rPr>
                  <a:t>3.2.3  </a:t>
                </a:r>
                <a:r>
                  <a:rPr lang="zh-CN" altLang="en-US" sz="2800" dirty="0" smtClean="0">
                    <a:solidFill>
                      <a:schemeClr val="tx1"/>
                    </a:solidFill>
                  </a:rPr>
                  <a:t>离子晶体的几何结构</a:t>
                </a:r>
                <a:endParaRPr lang="en-US" altLang="zh-CN" sz="2800" dirty="0" smtClean="0">
                  <a:solidFill>
                    <a:schemeClr val="tx1"/>
                  </a:solidFill>
                </a:endParaRPr>
              </a:p>
              <a:p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氯化铯、氯化钠、闪锌矿结构等</a:t>
                </a:r>
                <a:endParaRPr lang="en-US" altLang="zh-CN" sz="2400" dirty="0">
                  <a:solidFill>
                    <a:schemeClr val="tx1"/>
                  </a:solidFill>
                </a:endParaRPr>
              </a:p>
              <a:p>
                <a:endParaRPr lang="en-US" altLang="zh-CN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2800" dirty="0" smtClean="0">
                    <a:solidFill>
                      <a:schemeClr val="tx1"/>
                    </a:solidFill>
                  </a:rPr>
                  <a:t>3.2.4  </a:t>
                </a:r>
                <a:r>
                  <a:rPr lang="zh-CN" altLang="en-US" sz="2800" dirty="0" smtClean="0">
                    <a:solidFill>
                      <a:schemeClr val="tx1"/>
                    </a:solidFill>
                  </a:rPr>
                  <a:t>离子晶体的内聚能</a:t>
                </a:r>
                <a:endParaRPr lang="en-US" altLang="zh-CN" sz="2800" dirty="0" smtClean="0">
                  <a:solidFill>
                    <a:schemeClr val="tx1"/>
                  </a:solidFill>
                </a:endParaRPr>
              </a:p>
              <a:p>
                <a:endParaRPr lang="en-US" altLang="zh-CN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zh-C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sSubSupPr>
                        <m:e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sup>
                      </m:sSubSup>
                      <m:r>
                        <a:rPr lang="en-US" altLang="zh-C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sSubSupPr>
                        <m:e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sup>
                      </m:sSubSup>
                      <m:r>
                        <a:rPr lang="en-US" altLang="zh-C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zh-CN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库仑</m:t>
                          </m:r>
                        </m:sub>
                      </m:sSub>
                      <m:r>
                        <a:rPr lang="en-US" altLang="zh-C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排斥</m:t>
                          </m:r>
                        </m:sub>
                      </m:sSub>
                    </m:oMath>
                  </m:oMathPara>
                </a14:m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库仑</m:t>
                          </m:r>
                        </m:sub>
                      </m:sSub>
                      <m:r>
                        <a:rPr lang="en-US" altLang="zh-CN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40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40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zh-CN" alt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−·····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为最近邻、次近邻、再次近邻的粒子数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2400" dirty="0" smtClean="0">
                    <a:solidFill>
                      <a:schemeClr val="tx1"/>
                    </a:solidFill>
                  </a:rPr>
                  <a:t>       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</a:rPr>
                  <a:t> 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、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是最近邻、</a:t>
                </a:r>
                <a:r>
                  <a:rPr lang="zh-CN" altLang="en-US" sz="2400" dirty="0">
                    <a:solidFill>
                      <a:schemeClr val="tx1"/>
                    </a:solidFill>
                  </a:rPr>
                  <a:t>次近邻、再次近邻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的间距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24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为马德龙常数，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=1.748(</a:t>
                </a:r>
                <a:r>
                  <a:rPr lang="en-US" altLang="zh-CN" sz="2400" dirty="0" err="1" smtClean="0">
                    <a:solidFill>
                      <a:schemeClr val="tx1"/>
                    </a:solidFill>
                  </a:rPr>
                  <a:t>NaCl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)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，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1.763(</a:t>
                </a:r>
                <a:r>
                  <a:rPr lang="en-US" altLang="zh-CN" sz="2400" dirty="0" err="1" smtClean="0">
                    <a:solidFill>
                      <a:schemeClr val="tx1"/>
                    </a:solidFill>
                  </a:rPr>
                  <a:t>CsCl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)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，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1.638(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闪锌矿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7261" y="1645493"/>
                <a:ext cx="9535887" cy="5085623"/>
              </a:xfrm>
              <a:prstGeom prst="rect">
                <a:avLst/>
              </a:prstGeom>
              <a:blipFill rotWithShape="1">
                <a:blip r:embed="rId2"/>
                <a:stretch>
                  <a:fillRect l="-6" t="-4" r="1" b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20967" y="402315"/>
            <a:ext cx="4463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/>
              <a:t>第三章  晶体的结合</a:t>
            </a:r>
            <a:endParaRPr lang="zh-CN" altLang="en-US" sz="3200" dirty="0"/>
          </a:p>
        </p:txBody>
      </p:sp>
      <p:sp>
        <p:nvSpPr>
          <p:cNvPr id="3" name="文本框 2"/>
          <p:cNvSpPr txBox="1"/>
          <p:nvPr/>
        </p:nvSpPr>
        <p:spPr>
          <a:xfrm>
            <a:off x="4348187" y="1076636"/>
            <a:ext cx="58155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/>
              <a:t>§ 3.2 </a:t>
            </a:r>
            <a:r>
              <a:rPr lang="zh-CN" altLang="en-US" sz="2400" dirty="0" smtClean="0"/>
              <a:t>离子结合与离子晶体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1124873" y="2005256"/>
                <a:ext cx="10335107" cy="35213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 smtClean="0">
                    <a:solidFill>
                      <a:schemeClr val="tx1"/>
                    </a:solidFill>
                  </a:rPr>
                  <a:t>3.2.4  </a:t>
                </a:r>
                <a:r>
                  <a:rPr lang="zh-CN" altLang="en-US" sz="2800" dirty="0" smtClean="0">
                    <a:solidFill>
                      <a:schemeClr val="tx1"/>
                    </a:solidFill>
                  </a:rPr>
                  <a:t>离子晶体的内聚能</a:t>
                </a:r>
                <a:endParaRPr lang="en-US" altLang="zh-CN" sz="2800" dirty="0" smtClean="0">
                  <a:solidFill>
                    <a:schemeClr val="tx1"/>
                  </a:solidFill>
                </a:endParaRPr>
              </a:p>
              <a:p>
                <a:endParaRPr lang="en-US" altLang="zh-CN" dirty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则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f>
                      <m:f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zh-CN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zh-CN" alt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sSup>
                          <m:sSup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 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，即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 , m=1</a:t>
                </a:r>
              </a:p>
              <a:p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sup>
                    </m:sSubSup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sup>
                    </m:sSubSup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sSubSup>
                          <m:sSubSup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Sup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(1-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)  =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sup>
                    </m:sSubSup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sup>
                    </m:sSubSup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altLang="zh-CN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CN" sz="2400" dirty="0">
                        <a:solidFill>
                          <a:schemeClr val="tx1"/>
                        </a:solidFill>
                        <a:latin typeface="DejaVu Math TeX Gyre" panose="02000503000000000000" charset="0"/>
                      </a:rPr>
                      <m:t>(1−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dirty="0">
                        <a:solidFill>
                          <a:schemeClr val="tx1"/>
                        </a:solidFill>
                        <a:latin typeface="DejaVu Math TeX Gyre" panose="02000503000000000000" charset="0"/>
                      </a:rPr>
                      <m:t>)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	</a:t>
                </a:r>
              </a:p>
              <a:p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2400" dirty="0" err="1" smtClean="0">
                    <a:solidFill>
                      <a:schemeClr val="tx1"/>
                    </a:solidFill>
                  </a:rPr>
                  <a:t>NaCl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0.282nm, n=7.77,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-1.25x10-18J(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计算值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)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；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-1.27x10-18J (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实验值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)</a:t>
                </a:r>
                <a:endParaRPr lang="en-US" altLang="zh-CN" sz="2400" dirty="0">
                  <a:solidFill>
                    <a:schemeClr val="tx1"/>
                  </a:solidFill>
                </a:endParaRPr>
              </a:p>
              <a:p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873" y="2005256"/>
                <a:ext cx="10335107" cy="3521349"/>
              </a:xfrm>
              <a:prstGeom prst="rect">
                <a:avLst/>
              </a:prstGeom>
              <a:blipFill rotWithShape="1">
                <a:blip r:embed="rId2"/>
                <a:stretch>
                  <a:fillRect l="-3" t="-16" r="1" b="-122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20967" y="402315"/>
            <a:ext cx="4463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/>
              <a:t>第三章  晶体的结合</a:t>
            </a:r>
            <a:endParaRPr lang="zh-CN" altLang="en-US" sz="3200" dirty="0"/>
          </a:p>
        </p:txBody>
      </p:sp>
      <p:sp>
        <p:nvSpPr>
          <p:cNvPr id="3" name="文本框 2"/>
          <p:cNvSpPr txBox="1"/>
          <p:nvPr/>
        </p:nvSpPr>
        <p:spPr>
          <a:xfrm>
            <a:off x="4335261" y="1076637"/>
            <a:ext cx="58155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/>
              <a:t>§ 3.2 </a:t>
            </a:r>
            <a:r>
              <a:rPr lang="zh-CN" altLang="en-US" sz="2400" dirty="0" smtClean="0"/>
              <a:t>离子结合与离子晶体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979714" y="1589513"/>
                <a:ext cx="9535887" cy="31127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 smtClean="0">
                    <a:solidFill>
                      <a:schemeClr val="tx1"/>
                    </a:solidFill>
                  </a:rPr>
                  <a:t>3.2.5  </a:t>
                </a:r>
                <a:r>
                  <a:rPr lang="zh-CN" altLang="en-US" sz="2800" dirty="0" smtClean="0">
                    <a:solidFill>
                      <a:schemeClr val="tx1"/>
                    </a:solidFill>
                  </a:rPr>
                  <a:t>离子晶体的体积弹性模量</a:t>
                </a:r>
                <a:endParaRPr lang="en-US" altLang="zh-CN" sz="2800" dirty="0" smtClean="0">
                  <a:solidFill>
                    <a:schemeClr val="tx1"/>
                  </a:solidFill>
                </a:endParaRPr>
              </a:p>
              <a:p>
                <a:endParaRPr lang="en-US" altLang="zh-CN" dirty="0" smtClean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altLang="zh-C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  <m:sSubSup>
                            <m:sSubSupPr>
                              <m:ctrlP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+3</m:t>
                              </m:r>
                            </m:sup>
                          </m:sSubSup>
                        </m:den>
                      </m:f>
                      <m:r>
                        <a:rPr lang="en-US" altLang="zh-CN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sSup>
                            <m:sSupPr>
                              <m:ctrlP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36</m:t>
                          </m:r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</m:t>
                          </m:r>
                          <m:sSubSup>
                            <m:sSubSupPr>
                              <m:ctrlPr>
                                <a:rPr lang="en-US" altLang="zh-CN" sz="240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endParaRPr lang="en-US" altLang="zh-CN" sz="2400" dirty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一般，测出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，可确定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n</a:t>
                </a:r>
              </a:p>
              <a:p>
                <a:endParaRPr lang="en-US" altLang="zh-CN" sz="2400" dirty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一般离子晶体，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 ~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Pa , n ~ 8</a:t>
                </a:r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714" y="1589513"/>
                <a:ext cx="9535887" cy="3112712"/>
              </a:xfrm>
              <a:prstGeom prst="rect">
                <a:avLst/>
              </a:prstGeom>
              <a:blipFill rotWithShape="1">
                <a:blip r:embed="rId2"/>
                <a:stretch>
                  <a:fillRect l="-6" t="-3" b="-21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20967" y="402315"/>
            <a:ext cx="4463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/>
              <a:t>第三章  晶体的结合</a:t>
            </a:r>
            <a:endParaRPr lang="zh-CN" altLang="en-US" sz="3200" dirty="0"/>
          </a:p>
        </p:txBody>
      </p:sp>
      <p:sp>
        <p:nvSpPr>
          <p:cNvPr id="3" name="文本框 2"/>
          <p:cNvSpPr txBox="1"/>
          <p:nvPr/>
        </p:nvSpPr>
        <p:spPr>
          <a:xfrm>
            <a:off x="3645714" y="1085460"/>
            <a:ext cx="58155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/>
              <a:t>§ 3.3 </a:t>
            </a:r>
            <a:r>
              <a:rPr lang="zh-CN" altLang="en-US" sz="2400" dirty="0"/>
              <a:t>范德瓦尔斯</a:t>
            </a:r>
            <a:r>
              <a:rPr lang="zh-CN" altLang="en-US" sz="2400" dirty="0" smtClean="0"/>
              <a:t>结合与分子晶体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951722" y="1645492"/>
                <a:ext cx="5081819" cy="4832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 smtClean="0">
                    <a:solidFill>
                      <a:schemeClr val="tx1"/>
                    </a:solidFill>
                  </a:rPr>
                  <a:t>3.3.1 </a:t>
                </a:r>
                <a:r>
                  <a:rPr lang="zh-CN" altLang="en-US" sz="2800" dirty="0" smtClean="0">
                    <a:solidFill>
                      <a:schemeClr val="tx1"/>
                    </a:solidFill>
                  </a:rPr>
                  <a:t>范德瓦尔斯力</a:t>
                </a:r>
                <a:endParaRPr lang="en-US" altLang="zh-CN" sz="28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b="1" dirty="0" smtClean="0">
                    <a:solidFill>
                      <a:schemeClr val="tx1"/>
                    </a:solidFill>
                  </a:rPr>
                  <a:t>举例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𝐶𝑙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, 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𝑆𝑂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,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𝐻𝐶𝑙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,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,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,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𝐻𝑒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,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𝑁𝑒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,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𝐴𝑟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,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𝑋𝑒</m:t>
                    </m:r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等</m:t>
                    </m:r>
                  </m:oMath>
                </a14:m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低温下，形成分子晶体。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吸引力较弱，为范德瓦尔斯力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b="1" dirty="0" smtClean="0">
                    <a:solidFill>
                      <a:schemeClr val="tx1"/>
                    </a:solidFill>
                  </a:rPr>
                  <a:t>来源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：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b="1" dirty="0" smtClean="0">
                    <a:solidFill>
                      <a:schemeClr val="tx1"/>
                    </a:solidFill>
                  </a:rPr>
                  <a:t>弥散力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，电偶极矩为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0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的分子或原子，存在瞬时电偶极矩吸引作用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b="1" dirty="0" smtClean="0">
                    <a:solidFill>
                      <a:schemeClr val="tx1"/>
                    </a:solidFill>
                  </a:rPr>
                  <a:t>取向力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，极性分子，存在电偶极矩，该力依赖于取向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b="1" dirty="0" smtClean="0">
                    <a:solidFill>
                      <a:schemeClr val="tx1"/>
                    </a:solidFill>
                  </a:rPr>
                  <a:t>感应力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，极性分子，相互感应，引起的附加吸引作用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722" y="1645492"/>
                <a:ext cx="5081819" cy="4832092"/>
              </a:xfrm>
              <a:prstGeom prst="rect">
                <a:avLst/>
              </a:prstGeom>
              <a:blipFill rotWithShape="1">
                <a:blip r:embed="rId2"/>
                <a:stretch>
                  <a:fillRect l="-10" t="-4" r="-18111" b="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/>
          <a:srcRect l="8799" r="10652"/>
          <a:stretch>
            <a:fillRect/>
          </a:stretch>
        </p:blipFill>
        <p:spPr>
          <a:xfrm>
            <a:off x="6098498" y="1874659"/>
            <a:ext cx="6093502" cy="43737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20967" y="402315"/>
            <a:ext cx="4463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/>
              <a:t>第三章  晶体的结合</a:t>
            </a:r>
            <a:endParaRPr lang="zh-CN" altLang="en-US" sz="3200" dirty="0"/>
          </a:p>
        </p:txBody>
      </p:sp>
      <p:sp>
        <p:nvSpPr>
          <p:cNvPr id="3" name="文本框 2"/>
          <p:cNvSpPr txBox="1"/>
          <p:nvPr/>
        </p:nvSpPr>
        <p:spPr>
          <a:xfrm>
            <a:off x="3645714" y="1085460"/>
            <a:ext cx="58155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/>
              <a:t>§ 3.3 </a:t>
            </a:r>
            <a:r>
              <a:rPr lang="zh-CN" altLang="en-US" sz="2400" dirty="0"/>
              <a:t>范德瓦尔斯</a:t>
            </a:r>
            <a:r>
              <a:rPr lang="zh-CN" altLang="en-US" sz="2400" dirty="0" smtClean="0"/>
              <a:t>结合与分子晶体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951722" y="1645492"/>
                <a:ext cx="9535887" cy="5155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 smtClean="0">
                    <a:solidFill>
                      <a:schemeClr val="tx1"/>
                    </a:solidFill>
                  </a:rPr>
                  <a:t>3.3.1 </a:t>
                </a:r>
                <a:r>
                  <a:rPr lang="zh-CN" altLang="en-US" sz="2800" dirty="0" smtClean="0">
                    <a:solidFill>
                      <a:schemeClr val="tx1"/>
                    </a:solidFill>
                  </a:rPr>
                  <a:t>范德瓦尔斯力</a:t>
                </a:r>
                <a:endParaRPr lang="en-US" altLang="zh-CN" sz="28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/>
                  <a:t>吸引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力 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~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sSup>
                          <m:sSup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	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排斥力（实验）：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~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sSup>
                          <m:sSup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	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所以，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altLang="zh-C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40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</m:den>
                      </m:f>
                      <m:r>
                        <a:rPr lang="en-US" altLang="zh-C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p>
                          </m:sSup>
                        </m:den>
                      </m:f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=4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[</m:t>
                      </m:r>
                      <m:sSup>
                        <m:sSup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(</m:t>
                          </m:r>
                          <m:f>
                            <m:fPr>
                              <m:ctrlP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  <a:sym typeface="Symbol" panose="05050102010706020507" pitchFamily="18" charset="2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</m:t>
                              </m:r>
                            </m:num>
                            <m:den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𝑟</m:t>
                              </m:r>
                            </m:den>
                          </m:f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)</m:t>
                          </m:r>
                        </m:e>
                        <m:sup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12</m:t>
                          </m:r>
                        </m:sup>
                      </m:sSup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−</m:t>
                      </m:r>
                      <m:sSup>
                        <m:sSupPr>
                          <m:ctrlP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charset="0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(</m:t>
                          </m:r>
                          <m:f>
                            <m:fPr>
                              <m:ctrlP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  <a:sym typeface="Symbol" panose="05050102010706020507" pitchFamily="18" charset="2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</m:t>
                              </m:r>
                            </m:num>
                            <m:den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𝑟</m:t>
                              </m:r>
                            </m:den>
                          </m:f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)</m:t>
                          </m:r>
                        </m:e>
                        <m:sup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6</m:t>
                          </m:r>
                        </m:sup>
                      </m:sSup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]</m:t>
                      </m:r>
                    </m:oMath>
                  </m:oMathPara>
                </a14:m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2400" dirty="0" smtClean="0">
                    <a:solidFill>
                      <a:schemeClr val="tx1"/>
                    </a:solidFill>
                  </a:rPr>
                  <a:t>(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惰性气体，</a:t>
                </a:r>
                <a:r>
                  <a:rPr lang="en-US" altLang="zh-CN" sz="24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</m:t>
                    </m:r>
                    <m:r>
                      <a:rPr lang="en-US" altLang="zh-CN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~</m:t>
                    </m:r>
                    <m:sSup>
                      <m:sSup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1</m:t>
                        </m:r>
                        <m: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0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−</m:t>
                        </m:r>
                        <m: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eV, </a:t>
                </a:r>
                <a:r>
                  <a:rPr lang="en-US" altLang="zh-CN" sz="2400" dirty="0" smtClean="0">
                    <a:solidFill>
                      <a:schemeClr val="tx1"/>
                    </a:solidFill>
                    <a:sym typeface="Symbol" panose="05050102010706020507" pitchFamily="18" charset="2"/>
                  </a:rPr>
                  <a:t>~2-3nm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)  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（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Lennard-Jones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势）（长程力）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2800" dirty="0" smtClean="0">
                    <a:solidFill>
                      <a:schemeClr val="tx1"/>
                    </a:solidFill>
                  </a:rPr>
                  <a:t>3.3.2 </a:t>
                </a:r>
                <a:r>
                  <a:rPr lang="zh-CN" altLang="en-US" sz="2800" dirty="0" smtClean="0">
                    <a:solidFill>
                      <a:schemeClr val="tx1"/>
                    </a:solidFill>
                  </a:rPr>
                  <a:t>分子晶体的晶体结构</a:t>
                </a:r>
                <a:endParaRPr lang="zh-CN" altLang="en-US" sz="2800" dirty="0">
                  <a:solidFill>
                    <a:schemeClr val="tx1"/>
                  </a:solidFill>
                </a:endParaRPr>
              </a:p>
              <a:p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倾向于最大配位数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	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惰性气体：面心立方  （</a:t>
                </a:r>
                <a:r>
                  <a:rPr lang="zh-CN" altLang="en-US" sz="2400" i="1" dirty="0" smtClean="0">
                    <a:solidFill>
                      <a:schemeClr val="tx1"/>
                    </a:solidFill>
                  </a:rPr>
                  <a:t>为什么不是六角结构？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）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endParaRPr lang="en-US" altLang="zh-CN" sz="28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2800" dirty="0" smtClean="0">
                    <a:solidFill>
                      <a:schemeClr val="tx1"/>
                    </a:solidFill>
                  </a:rPr>
                  <a:t>3.3.3 </a:t>
                </a:r>
                <a:r>
                  <a:rPr lang="zh-CN" altLang="en-US" sz="2800" dirty="0" smtClean="0">
                    <a:solidFill>
                      <a:schemeClr val="tx1"/>
                    </a:solidFill>
                  </a:rPr>
                  <a:t>分子晶体的内聚能</a:t>
                </a:r>
                <a:endParaRPr lang="en-US" altLang="zh-CN" sz="2800" dirty="0" smtClean="0">
                  <a:solidFill>
                    <a:schemeClr val="tx1"/>
                  </a:solidFill>
                </a:endParaRPr>
              </a:p>
              <a:p>
                <a:endParaRPr lang="en-US" altLang="zh-C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722" y="1645492"/>
                <a:ext cx="9535887" cy="5155386"/>
              </a:xfrm>
              <a:prstGeom prst="rect">
                <a:avLst/>
              </a:prstGeom>
              <a:blipFill rotWithShape="1">
                <a:blip r:embed="rId2"/>
                <a:stretch>
                  <a:fillRect l="-5" t="-4" r="6" b="-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20967" y="402315"/>
            <a:ext cx="4463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/>
              <a:t>第三章  晶体的结合</a:t>
            </a:r>
            <a:endParaRPr lang="zh-CN" altLang="en-US" sz="3200" dirty="0"/>
          </a:p>
        </p:txBody>
      </p:sp>
      <p:sp>
        <p:nvSpPr>
          <p:cNvPr id="3" name="文本框 2"/>
          <p:cNvSpPr txBox="1"/>
          <p:nvPr/>
        </p:nvSpPr>
        <p:spPr>
          <a:xfrm>
            <a:off x="3645714" y="1085460"/>
            <a:ext cx="58155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/>
              <a:t>§ 3.3 </a:t>
            </a:r>
            <a:r>
              <a:rPr lang="zh-CN" altLang="en-US" sz="2400" dirty="0"/>
              <a:t>范德瓦尔斯</a:t>
            </a:r>
            <a:r>
              <a:rPr lang="zh-CN" altLang="en-US" sz="2400" dirty="0" smtClean="0"/>
              <a:t>结合与分子晶体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951723" y="1645493"/>
                <a:ext cx="10571584" cy="49471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 smtClean="0">
                    <a:solidFill>
                      <a:schemeClr val="tx1"/>
                    </a:solidFill>
                  </a:rPr>
                  <a:t>3.3.3 </a:t>
                </a:r>
                <a:r>
                  <a:rPr lang="zh-CN" altLang="en-US" sz="2800" dirty="0" smtClean="0">
                    <a:solidFill>
                      <a:schemeClr val="tx1"/>
                    </a:solidFill>
                  </a:rPr>
                  <a:t>分子晶体的内聚能</a:t>
                </a:r>
                <a:endParaRPr lang="en-US" altLang="zh-CN" sz="2800" dirty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惰性气体的分子晶体，计算一个原子和另外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N-1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个原子间的作用能 ：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+·····</m:t>
                    </m:r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其中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CN" alt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和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的意义同前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2400" dirty="0">
                    <a:solidFill>
                      <a:schemeClr val="tx1"/>
                    </a:solidFill>
                  </a:rPr>
                  <a:t>	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				</a:t>
                </a:r>
              </a:p>
              <a:p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 =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[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(</m:t>
                        </m:r>
                        <m:f>
                          <m:f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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</m:sub>
                            </m:s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𝑟</m:t>
                            </m:r>
                          </m:den>
                        </m:f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)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12</m:t>
                        </m:r>
                      </m:sup>
                    </m:sSup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−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(</m:t>
                        </m:r>
                        <m:f>
                          <m:f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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</m:sub>
                            </m:s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𝑟</m:t>
                            </m:r>
                          </m:den>
                        </m:f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)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6</m:t>
                        </m:r>
                      </m:sup>
                    </m:sSup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]</m:t>
                    </m:r>
                    <m:r>
                      <a:rPr lang="en-US" altLang="zh-CN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sSup>
                      <m:sSup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e>
                      <m:sup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−</m:t>
                        </m:r>
                        <m: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1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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(</m:t>
                        </m:r>
                        <m:f>
                          <m:f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</m:t>
                            </m:r>
                          </m:num>
                          <m:den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𝑟</m:t>
                            </m:r>
                          </m:den>
                        </m:f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)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12</m:t>
                        </m:r>
                      </m:sup>
                    </m:sSup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−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e>
                      <m:sup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−6</m:t>
                        </m:r>
                      </m:sup>
                    </m:sSup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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(</m:t>
                        </m:r>
                        <m:f>
                          <m:f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</m:t>
                            </m:r>
                          </m:num>
                          <m:den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𝑟</m:t>
                            </m:r>
                          </m:den>
                        </m:f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)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6</m:t>
                        </m:r>
                      </m:sup>
                    </m:sSup>
                  </m:oMath>
                </a14:m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endParaRPr lang="en-US" altLang="zh-CN" sz="2400" dirty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>
                    <a:solidFill>
                      <a:schemeClr val="tx1"/>
                    </a:solidFill>
                  </a:rPr>
                  <a:t>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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(</m:t>
                        </m:r>
                        <m:f>
                          <m:f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</m:t>
                            </m:r>
                          </m:num>
                          <m:den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𝑟</m:t>
                            </m:r>
                          </m:den>
                        </m:f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)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12</m:t>
                        </m:r>
                      </m:sup>
                    </m:sSup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−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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(</m:t>
                        </m:r>
                        <m:f>
                          <m:f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</m:t>
                            </m:r>
                          </m:num>
                          <m:den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𝑟</m:t>
                            </m:r>
                          </m:den>
                        </m:f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)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6</m:t>
                        </m:r>
                      </m:sup>
                    </m:sSup>
                  </m:oMath>
                </a14:m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其中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Sup>
                      <m:sSubSup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SupPr>
                      <m:e>
                        <m:r>
                          <a:rPr lang="zh-CN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Sup>
                      <m:sSubSup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SupPr>
                      <m:e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−12</m:t>
                        </m:r>
                      </m:sup>
                    </m:sSubSup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+·····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	~12.13 		(~12) (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面心立方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)</a:t>
                </a:r>
                <a:endParaRPr lang="en-US" altLang="zh-CN" sz="2400" dirty="0">
                  <a:solidFill>
                    <a:schemeClr val="tx1"/>
                  </a:solidFill>
                </a:endParaRPr>
              </a:p>
              <a:p>
                <a:r>
                  <a:rPr lang="en-US" altLang="zh-CN" sz="2400" dirty="0" smtClean="0">
                    <a:solidFill>
                      <a:schemeClr val="tx1"/>
                    </a:solidFill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</a:rPr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Sup>
                      <m:sSubSup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SupPr>
                      <m:e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−6</m:t>
                        </m:r>
                      </m:sup>
                    </m:sSubSup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Sup>
                      <m:sSubSup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SupPr>
                      <m:e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−6</m:t>
                        </m:r>
                      </m:sup>
                    </m:sSubSup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+·····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	~14.45 		(~12) 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(</a:t>
                </a:r>
                <a:r>
                  <a:rPr lang="zh-CN" altLang="en-US" sz="2400" dirty="0">
                    <a:solidFill>
                      <a:schemeClr val="tx1"/>
                    </a:solidFill>
                  </a:rPr>
                  <a:t>面心立方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)</a:t>
                </a:r>
              </a:p>
              <a:p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endParaRPr lang="en-US" altLang="zh-CN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723" y="1645493"/>
                <a:ext cx="10571584" cy="4947188"/>
              </a:xfrm>
              <a:prstGeom prst="rect">
                <a:avLst/>
              </a:prstGeom>
              <a:blipFill rotWithShape="1">
                <a:blip r:embed="rId2"/>
                <a:stretch>
                  <a:fillRect l="-5" t="-4" r="6" b="-12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20967" y="402315"/>
            <a:ext cx="4463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/>
              <a:t>第三章  晶体的结合</a:t>
            </a:r>
            <a:endParaRPr lang="zh-CN" altLang="en-US" sz="3200" dirty="0"/>
          </a:p>
        </p:txBody>
      </p:sp>
      <p:sp>
        <p:nvSpPr>
          <p:cNvPr id="3" name="文本框 2"/>
          <p:cNvSpPr txBox="1"/>
          <p:nvPr/>
        </p:nvSpPr>
        <p:spPr>
          <a:xfrm>
            <a:off x="3645714" y="1085460"/>
            <a:ext cx="58155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/>
              <a:t>§ 3.3 </a:t>
            </a:r>
            <a:r>
              <a:rPr lang="zh-CN" altLang="en-US" sz="2400" dirty="0"/>
              <a:t>范德瓦尔斯</a:t>
            </a:r>
            <a:r>
              <a:rPr lang="zh-CN" altLang="en-US" sz="2400" dirty="0" smtClean="0"/>
              <a:t>结合与分子晶体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951723" y="1645493"/>
                <a:ext cx="10571584" cy="29854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 smtClean="0">
                    <a:solidFill>
                      <a:schemeClr val="tx1"/>
                    </a:solidFill>
                  </a:rPr>
                  <a:t>3.3.3 </a:t>
                </a:r>
                <a:r>
                  <a:rPr lang="zh-CN" altLang="en-US" sz="2800" dirty="0" smtClean="0">
                    <a:solidFill>
                      <a:schemeClr val="tx1"/>
                    </a:solidFill>
                  </a:rPr>
                  <a:t>分子晶体的内聚能</a:t>
                </a:r>
                <a:endParaRPr lang="en-US" altLang="zh-CN" sz="2800" dirty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利用第一节相关公式，可得：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endParaRPr lang="en-US" altLang="zh-CN" sz="2400" dirty="0">
                  <a:solidFill>
                    <a:schemeClr val="tx1"/>
                  </a:solidFill>
                </a:endParaRPr>
              </a:p>
              <a:p>
                <a:r>
                  <a:rPr lang="en-US" altLang="zh-CN" sz="2400" dirty="0" smtClean="0">
                    <a:solidFill>
                      <a:schemeClr val="tx1"/>
                    </a:solidFill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=····</m:t>
                    </m:r>
                    <m:r>
                      <a:rPr lang="en-US" altLang="zh-CN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~1.09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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     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（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~0.2-0.4 nm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）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2400" dirty="0">
                    <a:solidFill>
                      <a:schemeClr val="tx1"/>
                    </a:solidFill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=····</m:t>
                    </m:r>
                    <m:r>
                      <a:rPr lang="en-US" altLang="zh-CN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altLang="zh-CN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−8.6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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   (~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</m:sSup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𝑒𝑉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)</a:t>
                </a:r>
                <a:endParaRPr lang="en-US" altLang="zh-CN" sz="2400" dirty="0">
                  <a:solidFill>
                    <a:schemeClr val="tx1"/>
                  </a:solidFill>
                </a:endParaRPr>
              </a:p>
              <a:p>
                <a:r>
                  <a:rPr lang="en-US" altLang="zh-CN" sz="2400" dirty="0">
                    <a:solidFill>
                      <a:schemeClr val="tx1"/>
                    </a:solidFill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=····</m:t>
                    </m:r>
                    <m:r>
                      <a:rPr lang="en-US" altLang="zh-CN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75</m:t>
                    </m:r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</m:t>
                    </m:r>
                    <m:sSup>
                      <m:sSup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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−3</m:t>
                        </m:r>
                      </m:sup>
                    </m:sSup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    (~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𝑃𝑎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)</a:t>
                </a:r>
                <a:endParaRPr lang="en-US" altLang="zh-CN" sz="2400" dirty="0">
                  <a:solidFill>
                    <a:schemeClr val="tx1"/>
                  </a:solidFill>
                </a:endParaRPr>
              </a:p>
              <a:p>
                <a:endParaRPr lang="en-US" altLang="zh-C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723" y="1645493"/>
                <a:ext cx="10571584" cy="2985433"/>
              </a:xfrm>
              <a:prstGeom prst="rect">
                <a:avLst/>
              </a:prstGeom>
              <a:blipFill rotWithShape="1">
                <a:blip r:embed="rId2"/>
                <a:stretch>
                  <a:fillRect l="-5" t="-7" r="6" b="-44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/>
          <a:srcRect b="1369"/>
          <a:stretch>
            <a:fillRect/>
          </a:stretch>
        </p:blipFill>
        <p:spPr>
          <a:xfrm>
            <a:off x="6653134" y="537226"/>
            <a:ext cx="5538866" cy="6320774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920967" y="402315"/>
            <a:ext cx="4463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/>
              <a:t>第三章  晶体的结合</a:t>
            </a:r>
            <a:endParaRPr lang="zh-CN" altLang="en-US" sz="3200" dirty="0"/>
          </a:p>
        </p:txBody>
      </p:sp>
      <p:sp>
        <p:nvSpPr>
          <p:cNvPr id="3" name="文本框 2"/>
          <p:cNvSpPr txBox="1"/>
          <p:nvPr/>
        </p:nvSpPr>
        <p:spPr>
          <a:xfrm>
            <a:off x="2386540" y="963278"/>
            <a:ext cx="58155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/>
              <a:t>§ 3.4 </a:t>
            </a:r>
            <a:r>
              <a:rPr lang="zh-CN" altLang="en-US" sz="2400" dirty="0"/>
              <a:t>共价结合与共价晶体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54833" y="1547125"/>
            <a:ext cx="514162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>
                <a:solidFill>
                  <a:schemeClr val="tx1"/>
                </a:solidFill>
              </a:rPr>
              <a:t>3.4.1 </a:t>
            </a:r>
            <a:r>
              <a:rPr lang="zh-CN" altLang="en-US" sz="2800" dirty="0" smtClean="0">
                <a:solidFill>
                  <a:schemeClr val="tx1"/>
                </a:solidFill>
              </a:rPr>
              <a:t>氢分子中的共价键</a:t>
            </a:r>
            <a:endParaRPr lang="en-US" altLang="zh-CN" sz="2800" dirty="0" smtClean="0">
              <a:solidFill>
                <a:schemeClr val="tx1"/>
              </a:solidFill>
            </a:endParaRPr>
          </a:p>
          <a:p>
            <a:endParaRPr lang="en-US" altLang="zh-CN" sz="2400" dirty="0" smtClean="0">
              <a:solidFill>
                <a:schemeClr val="tx1"/>
              </a:solidFill>
            </a:endParaRPr>
          </a:p>
          <a:p>
            <a:r>
              <a:rPr lang="en-US" altLang="zh-CN" sz="2400" dirty="0" smtClean="0">
                <a:solidFill>
                  <a:schemeClr val="tx1"/>
                </a:solidFill>
              </a:rPr>
              <a:t>(</a:t>
            </a:r>
            <a:r>
              <a:rPr lang="zh-CN" altLang="en-US" sz="2400" dirty="0" smtClean="0">
                <a:solidFill>
                  <a:schemeClr val="tx1"/>
                </a:solidFill>
              </a:rPr>
              <a:t>氢原子间有没有范德瓦尔斯力？</a:t>
            </a:r>
            <a:r>
              <a:rPr lang="en-US" altLang="zh-CN" sz="2400" dirty="0" smtClean="0">
                <a:solidFill>
                  <a:schemeClr val="tx1"/>
                </a:solidFill>
              </a:rPr>
              <a:t>)</a:t>
            </a:r>
            <a:endParaRPr lang="en-US" altLang="zh-CN" sz="2400" dirty="0">
              <a:solidFill>
                <a:schemeClr val="tx1"/>
              </a:solidFill>
            </a:endParaRPr>
          </a:p>
          <a:p>
            <a:endParaRPr lang="en-US" altLang="zh-CN" sz="2400" dirty="0" smtClean="0">
              <a:solidFill>
                <a:schemeClr val="tx1"/>
              </a:solidFill>
            </a:endParaRPr>
          </a:p>
          <a:p>
            <a:r>
              <a:rPr lang="zh-CN" altLang="en-US" sz="2400" dirty="0" smtClean="0">
                <a:solidFill>
                  <a:schemeClr val="tx1"/>
                </a:solidFill>
              </a:rPr>
              <a:t>人们认为，在两个</a:t>
            </a:r>
            <a:r>
              <a:rPr lang="en-US" altLang="zh-CN" sz="2400" dirty="0" smtClean="0">
                <a:solidFill>
                  <a:schemeClr val="tx1"/>
                </a:solidFill>
              </a:rPr>
              <a:t>H</a:t>
            </a:r>
            <a:r>
              <a:rPr lang="zh-CN" altLang="en-US" sz="2400" dirty="0" smtClean="0">
                <a:solidFill>
                  <a:schemeClr val="tx1"/>
                </a:solidFill>
              </a:rPr>
              <a:t>原子之间形成一个键，叫</a:t>
            </a:r>
            <a:r>
              <a:rPr lang="zh-CN" altLang="en-US" sz="2400" b="1" dirty="0" smtClean="0">
                <a:solidFill>
                  <a:schemeClr val="tx1"/>
                </a:solidFill>
              </a:rPr>
              <a:t>共价键</a:t>
            </a:r>
            <a:endParaRPr lang="en-US" altLang="zh-CN" sz="2400" b="1" dirty="0" smtClean="0">
              <a:solidFill>
                <a:schemeClr val="tx1"/>
              </a:solidFill>
            </a:endParaRPr>
          </a:p>
          <a:p>
            <a:r>
              <a:rPr lang="zh-CN" altLang="en-US" sz="2400" dirty="0" smtClean="0">
                <a:solidFill>
                  <a:schemeClr val="tx1"/>
                </a:solidFill>
              </a:rPr>
              <a:t>（有未成对电子的原子间；电负性相近的原子间）</a:t>
            </a:r>
            <a:endParaRPr lang="en-US" altLang="zh-CN" sz="2400" dirty="0" smtClean="0">
              <a:solidFill>
                <a:schemeClr val="tx1"/>
              </a:solidFill>
            </a:endParaRPr>
          </a:p>
          <a:p>
            <a:endParaRPr lang="en-US" altLang="zh-CN" sz="2400" dirty="0" smtClean="0">
              <a:solidFill>
                <a:schemeClr val="tx1"/>
              </a:solidFill>
            </a:endParaRPr>
          </a:p>
          <a:p>
            <a:r>
              <a:rPr lang="zh-CN" altLang="en-US" sz="2400" dirty="0" smtClean="0">
                <a:solidFill>
                  <a:schemeClr val="tx1"/>
                </a:solidFill>
              </a:rPr>
              <a:t>键的形成完全是</a:t>
            </a:r>
            <a:r>
              <a:rPr lang="zh-CN" altLang="en-US" sz="2400" b="1" dirty="0" smtClean="0">
                <a:solidFill>
                  <a:schemeClr val="tx1"/>
                </a:solidFill>
              </a:rPr>
              <a:t>量子效应</a:t>
            </a:r>
            <a:endParaRPr lang="en-US" altLang="zh-CN" sz="2400" b="1" dirty="0">
              <a:solidFill>
                <a:schemeClr val="tx1"/>
              </a:solidFill>
            </a:endParaRPr>
          </a:p>
          <a:p>
            <a:endParaRPr lang="en-US" altLang="zh-CN" dirty="0" smtClean="0">
              <a:solidFill>
                <a:schemeClr val="tx1"/>
              </a:solidFill>
            </a:endParaRPr>
          </a:p>
          <a:p>
            <a:r>
              <a:rPr lang="en-US" altLang="zh-CN" sz="2800" dirty="0" smtClean="0">
                <a:solidFill>
                  <a:schemeClr val="tx1"/>
                </a:solidFill>
              </a:rPr>
              <a:t>3.4.2 </a:t>
            </a:r>
            <a:r>
              <a:rPr lang="zh-CN" altLang="en-US" sz="2800" dirty="0" smtClean="0">
                <a:solidFill>
                  <a:schemeClr val="tx1"/>
                </a:solidFill>
              </a:rPr>
              <a:t>共价键的饱和性和方向性</a:t>
            </a:r>
            <a:endParaRPr lang="en-US" altLang="zh-CN" sz="2800" dirty="0">
              <a:solidFill>
                <a:schemeClr val="tx1"/>
              </a:solidFill>
            </a:endParaRPr>
          </a:p>
          <a:p>
            <a:endParaRPr lang="en-US" altLang="zh-CN" sz="1600" i="1" dirty="0" smtClean="0">
              <a:solidFill>
                <a:schemeClr val="tx1"/>
              </a:solidFill>
              <a:latin typeface="Cambria Math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/>
          <a:srcRect l="-4919" r="40924"/>
          <a:stretch>
            <a:fillRect/>
          </a:stretch>
        </p:blipFill>
        <p:spPr>
          <a:xfrm>
            <a:off x="7287383" y="3216081"/>
            <a:ext cx="4601162" cy="326716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920967" y="402315"/>
            <a:ext cx="4463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/>
              <a:t>第三章  晶体的结合</a:t>
            </a:r>
            <a:endParaRPr lang="zh-CN" altLang="en-US" sz="3200" dirty="0"/>
          </a:p>
        </p:txBody>
      </p:sp>
      <p:sp>
        <p:nvSpPr>
          <p:cNvPr id="3" name="文本框 2"/>
          <p:cNvSpPr txBox="1"/>
          <p:nvPr/>
        </p:nvSpPr>
        <p:spPr>
          <a:xfrm>
            <a:off x="3645714" y="1085460"/>
            <a:ext cx="58155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/>
              <a:t>§ 3.4 </a:t>
            </a:r>
            <a:r>
              <a:rPr lang="zh-CN" altLang="en-US" sz="2400" dirty="0"/>
              <a:t>共价结合与共价晶体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547142" y="1564022"/>
                <a:ext cx="9912476" cy="21236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 smtClean="0">
                    <a:solidFill>
                      <a:schemeClr val="tx1"/>
                    </a:solidFill>
                  </a:rPr>
                  <a:t>3.4.2 </a:t>
                </a:r>
                <a:r>
                  <a:rPr lang="zh-CN" altLang="en-US" sz="2800" dirty="0" smtClean="0">
                    <a:solidFill>
                      <a:schemeClr val="tx1"/>
                    </a:solidFill>
                  </a:rPr>
                  <a:t>共价键的饱和性和方向性</a:t>
                </a:r>
                <a:endParaRPr lang="en-US" altLang="zh-CN" sz="2800" dirty="0">
                  <a:solidFill>
                    <a:schemeClr val="tx1"/>
                  </a:solidFill>
                </a:endParaRPr>
              </a:p>
              <a:p>
                <a:endParaRPr lang="en-US" altLang="zh-CN" sz="1600" i="1" dirty="0" smtClean="0">
                  <a:solidFill>
                    <a:schemeClr val="tx1"/>
                  </a:solidFill>
                  <a:latin typeface="Cambria Math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便如此</a:t>
                </a:r>
                <a:r>
                  <a:rPr lang="en-US" altLang="zh-CN" sz="2400" dirty="0"/>
                  <a:t> </a:t>
                </a:r>
                <a:r>
                  <a:rPr lang="en-US" altLang="zh-CN" sz="2400" dirty="0" smtClean="0"/>
                  <a:t>              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其它例子：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  <a:p>
                <a:r>
                  <a:rPr lang="zh-CN" altLang="en-US" sz="2400" b="1" dirty="0" smtClean="0">
                    <a:solidFill>
                      <a:schemeClr val="tx1"/>
                    </a:solidFill>
                  </a:rPr>
                  <a:t>氮气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，有三个未配对电子，在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中将形成三个共价键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b="1" dirty="0" smtClean="0">
                    <a:solidFill>
                      <a:schemeClr val="tx1"/>
                    </a:solidFill>
                  </a:rPr>
                  <a:t>甲烷</a:t>
                </a:r>
                <a14:m>
                  <m:oMath xmlns:m="http://schemas.openxmlformats.org/officeDocument/2006/math">
                    <m:r>
                      <a:rPr lang="en-US" altLang="zh-CN" sz="24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𝑪𝑯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：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C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</a:rPr>
                  <a:t>，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有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2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或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4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个</a:t>
                </a:r>
                <a:r>
                  <a:rPr lang="zh-CN" altLang="en-US" sz="2400" dirty="0">
                    <a:solidFill>
                      <a:schemeClr val="tx1"/>
                    </a:solidFill>
                  </a:rPr>
                  <a:t>未配对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电子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142" y="1564022"/>
                <a:ext cx="9912476" cy="2123658"/>
              </a:xfrm>
              <a:prstGeom prst="rect">
                <a:avLst/>
              </a:prstGeom>
              <a:blipFill rotWithShape="1">
                <a:blip r:embed="rId3"/>
                <a:stretch>
                  <a:fillRect l="-4" t="-1" r="5" b="-57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547142" y="3416758"/>
                <a:ext cx="7045376" cy="33319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altLang="zh-CN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2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的杂化：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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（</m:t>
                    </m:r>
                    <m:r>
                      <a:rPr lang="en-US" altLang="zh-CN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）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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（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</a:rPr>
                  <a:t>）</a:t>
                </a:r>
                <a:endParaRPr lang="en-US" altLang="zh-CN" sz="240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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3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（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</a:rPr>
                  <a:t>）</a:t>
                </a:r>
                <a:endParaRPr lang="en-US" altLang="zh-CN" sz="240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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4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（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</a:rPr>
                  <a:t>）</a:t>
                </a:r>
                <a:endParaRPr lang="en-US" altLang="zh-CN" sz="2400" dirty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很容易证明，它们相互正交，夹角为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sup>
                    </m:sSup>
                    <m:sSup>
                      <m:sSup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‘</m:t>
                        </m:r>
                      </m:sup>
                    </m:sSup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，分别与四个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H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的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1s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轨道形成</a:t>
                </a:r>
                <a:r>
                  <a:rPr lang="zh-CN" altLang="en-US" sz="2400" dirty="0" smtClean="0">
                    <a:solidFill>
                      <a:schemeClr val="tx1"/>
                    </a:solidFill>
                    <a:sym typeface="Symbol" panose="05050102010706020507" pitchFamily="18" charset="2"/>
                  </a:rPr>
                  <a:t>键，构成正四面体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142" y="3416758"/>
                <a:ext cx="7045376" cy="3331938"/>
              </a:xfrm>
              <a:prstGeom prst="rect">
                <a:avLst/>
              </a:prstGeom>
              <a:blipFill rotWithShape="1">
                <a:blip r:embed="rId4"/>
                <a:stretch>
                  <a:fillRect l="-6" t="-14" r="7" b="-21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20967" y="402315"/>
            <a:ext cx="4463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/>
              <a:t>第三章  晶体的结合</a:t>
            </a:r>
            <a:endParaRPr lang="zh-CN" altLang="en-US" sz="3200" dirty="0"/>
          </a:p>
        </p:txBody>
      </p:sp>
      <p:sp>
        <p:nvSpPr>
          <p:cNvPr id="3" name="文本框 2"/>
          <p:cNvSpPr txBox="1"/>
          <p:nvPr/>
        </p:nvSpPr>
        <p:spPr>
          <a:xfrm>
            <a:off x="4335261" y="1088974"/>
            <a:ext cx="58155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/>
              <a:t>§ 3.4 </a:t>
            </a:r>
            <a:r>
              <a:rPr lang="zh-CN" altLang="en-US" sz="2400" dirty="0"/>
              <a:t>共价结合与共价晶体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961205" y="1436607"/>
                <a:ext cx="9535887" cy="51398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2800" dirty="0" smtClean="0">
                    <a:solidFill>
                      <a:schemeClr val="tx1"/>
                    </a:solidFill>
                  </a:rPr>
                  <a:t>3.4.3 </a:t>
                </a:r>
                <a:r>
                  <a:rPr lang="zh-CN" altLang="en-US" sz="2800" dirty="0" smtClean="0">
                    <a:solidFill>
                      <a:schemeClr val="tx1"/>
                    </a:solidFill>
                  </a:rPr>
                  <a:t>共价晶体的结构</a:t>
                </a:r>
                <a:endParaRPr lang="en-US" altLang="zh-CN" sz="28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2400" dirty="0" smtClean="0">
                    <a:solidFill>
                      <a:schemeClr val="tx1"/>
                    </a:solidFill>
                  </a:rPr>
                  <a:t>	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金刚石结构，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C, Si, </a:t>
                </a:r>
                <a:r>
                  <a:rPr lang="en-US" altLang="zh-CN" sz="2400" dirty="0" err="1" smtClean="0">
                    <a:solidFill>
                      <a:schemeClr val="tx1"/>
                    </a:solidFill>
                  </a:rPr>
                  <a:t>Ge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等</a:t>
                </a:r>
                <a:r>
                  <a:rPr lang="en-US" altLang="zh-CN" sz="2400" dirty="0"/>
                  <a:t> </a:t>
                </a:r>
                <a:r>
                  <a:rPr lang="en-US" altLang="zh-CN" sz="2400" dirty="0" smtClean="0"/>
                  <a:t>      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闪锌矿结构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,   GaAs, </a:t>
                </a:r>
                <a:r>
                  <a:rPr lang="en-US" altLang="zh-CN" sz="2400" dirty="0" err="1" smtClean="0">
                    <a:solidFill>
                      <a:schemeClr val="tx1"/>
                    </a:solidFill>
                  </a:rPr>
                  <a:t>ZnS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等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2400" dirty="0" smtClean="0">
                    <a:solidFill>
                      <a:schemeClr val="tx1"/>
                    </a:solidFill>
                  </a:rPr>
                  <a:t>	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六角结构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,       </a:t>
                </a:r>
                <a:r>
                  <a:rPr lang="en-US" altLang="zh-CN" sz="2400" dirty="0" err="1" smtClean="0">
                    <a:solidFill>
                      <a:schemeClr val="tx1"/>
                    </a:solidFill>
                  </a:rPr>
                  <a:t>GaN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等</a:t>
                </a:r>
                <a:endParaRPr lang="en-US" altLang="zh-CN" sz="2400" dirty="0">
                  <a:solidFill>
                    <a:schemeClr val="tx1"/>
                  </a:solidFill>
                </a:endParaRPr>
              </a:p>
              <a:p>
                <a:endParaRPr lang="zh-CN" altLang="en-US" sz="2000" dirty="0">
                  <a:solidFill>
                    <a:schemeClr val="tx1"/>
                  </a:solidFill>
                </a:endParaRPr>
              </a:p>
              <a:p>
                <a:r>
                  <a:rPr lang="en-US" altLang="zh-CN" sz="2800" dirty="0" smtClean="0">
                    <a:solidFill>
                      <a:schemeClr val="tx1"/>
                    </a:solidFill>
                  </a:rPr>
                  <a:t>3.4.4 </a:t>
                </a:r>
                <a:r>
                  <a:rPr lang="zh-CN" altLang="en-US" sz="2800" dirty="0" smtClean="0">
                    <a:solidFill>
                      <a:schemeClr val="tx1"/>
                    </a:solidFill>
                  </a:rPr>
                  <a:t>极性键及非极性键</a:t>
                </a:r>
                <a:endParaRPr lang="en-US" altLang="zh-CN" sz="28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2400" dirty="0" smtClean="0">
                    <a:solidFill>
                      <a:schemeClr val="tx1"/>
                    </a:solidFill>
                  </a:rPr>
                  <a:t>	</a:t>
                </a:r>
                <a:r>
                  <a:rPr lang="en-US" altLang="zh-CN" sz="2400" dirty="0" err="1" smtClean="0">
                    <a:solidFill>
                      <a:schemeClr val="tx1"/>
                    </a:solidFill>
                  </a:rPr>
                  <a:t>GaN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就是极性键的例子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r>
                  <a:rPr lang="en-US" altLang="zh-CN" sz="2800" dirty="0" smtClean="0">
                    <a:solidFill>
                      <a:schemeClr val="tx1"/>
                    </a:solidFill>
                  </a:rPr>
                  <a:t>3.4.5 </a:t>
                </a:r>
                <a:r>
                  <a:rPr lang="zh-CN" altLang="en-US" sz="2800" dirty="0" smtClean="0">
                    <a:solidFill>
                      <a:schemeClr val="tx1"/>
                    </a:solidFill>
                  </a:rPr>
                  <a:t>共价晶体的内聚能</a:t>
                </a:r>
                <a:endParaRPr lang="en-US" altLang="zh-CN" sz="28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2400" dirty="0" smtClean="0">
                    <a:solidFill>
                      <a:schemeClr val="tx1"/>
                    </a:solidFill>
                  </a:rPr>
                  <a:t>	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半经典公式不再适用了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2400" dirty="0" smtClean="0">
                    <a:solidFill>
                      <a:schemeClr val="tx1"/>
                    </a:solidFill>
                  </a:rPr>
                  <a:t>	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使用量子力学方法计算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2400" dirty="0" smtClean="0">
                    <a:solidFill>
                      <a:schemeClr val="tx1"/>
                    </a:solidFill>
                  </a:rPr>
                  <a:t>	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典型数值：每对原子内聚能，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~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eV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,   ~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𝑃𝑎</m:t>
                    </m:r>
                  </m:oMath>
                </a14:m>
                <a:endParaRPr lang="en-US" altLang="zh-C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205" y="1436607"/>
                <a:ext cx="9535887" cy="5139869"/>
              </a:xfrm>
              <a:prstGeom prst="rect">
                <a:avLst/>
              </a:prstGeom>
              <a:blipFill rotWithShape="1">
                <a:blip r:embed="rId2"/>
                <a:stretch>
                  <a:fillRect l="-5" t="-5" r="6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20967" y="402315"/>
            <a:ext cx="4463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/>
              <a:t>第三章  晶体的结合</a:t>
            </a:r>
            <a:endParaRPr lang="zh-CN" altLang="en-US" sz="3200" dirty="0"/>
          </a:p>
        </p:txBody>
      </p:sp>
      <p:sp>
        <p:nvSpPr>
          <p:cNvPr id="3" name="文本框 2"/>
          <p:cNvSpPr txBox="1"/>
          <p:nvPr/>
        </p:nvSpPr>
        <p:spPr>
          <a:xfrm>
            <a:off x="4312777" y="987090"/>
            <a:ext cx="58155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/>
              <a:t>§ 3.5 </a:t>
            </a:r>
            <a:r>
              <a:rPr lang="zh-CN" altLang="en-US" sz="2400" dirty="0" smtClean="0"/>
              <a:t>金属结合与</a:t>
            </a:r>
            <a:r>
              <a:rPr lang="zh-CN" altLang="en-US" sz="2400" dirty="0"/>
              <a:t>金属</a:t>
            </a:r>
            <a:r>
              <a:rPr lang="zh-CN" altLang="en-US" sz="2400" dirty="0" smtClean="0"/>
              <a:t>晶体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979714" y="1559531"/>
                <a:ext cx="9535887" cy="51398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 smtClean="0">
                    <a:solidFill>
                      <a:schemeClr val="tx1"/>
                    </a:solidFill>
                  </a:rPr>
                  <a:t>3.5.1 </a:t>
                </a:r>
                <a:r>
                  <a:rPr lang="zh-CN" altLang="en-US" sz="2800" dirty="0" smtClean="0">
                    <a:solidFill>
                      <a:schemeClr val="tx1"/>
                    </a:solidFill>
                  </a:rPr>
                  <a:t>金属结合</a:t>
                </a:r>
                <a:endParaRPr lang="en-US" altLang="zh-CN" sz="28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2400" dirty="0" smtClean="0">
                    <a:solidFill>
                      <a:schemeClr val="tx1"/>
                    </a:solidFill>
                  </a:rPr>
                  <a:t>	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电子共有（价电子）</a:t>
                </a:r>
                <a:r>
                  <a:rPr lang="en-US" altLang="zh-CN" sz="2400" dirty="0"/>
                  <a:t> </a:t>
                </a:r>
                <a:r>
                  <a:rPr lang="en-US" altLang="zh-CN" sz="2400" dirty="0" smtClean="0"/>
                  <a:t>     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自由运动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2400" dirty="0" smtClean="0">
                    <a:solidFill>
                      <a:schemeClr val="tx1"/>
                    </a:solidFill>
                  </a:rPr>
                  <a:t>	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电子与原子核间库仑作用为凝聚纽带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2400" dirty="0" smtClean="0">
                    <a:solidFill>
                      <a:schemeClr val="tx1"/>
                    </a:solidFill>
                  </a:rPr>
                  <a:t>	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金属特征：导电、导热、有光泽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endParaRPr lang="en-US" altLang="zh-CN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2800" dirty="0" smtClean="0">
                    <a:solidFill>
                      <a:schemeClr val="tx1"/>
                    </a:solidFill>
                  </a:rPr>
                  <a:t>3.5.2 </a:t>
                </a:r>
                <a:r>
                  <a:rPr lang="zh-CN" altLang="en-US" sz="2800" dirty="0" smtClean="0">
                    <a:solidFill>
                      <a:schemeClr val="tx1"/>
                    </a:solidFill>
                  </a:rPr>
                  <a:t>金属的</a:t>
                </a:r>
                <a:r>
                  <a:rPr lang="zh-CN" altLang="en-US" sz="2800" dirty="0">
                    <a:solidFill>
                      <a:schemeClr val="tx1"/>
                    </a:solidFill>
                  </a:rPr>
                  <a:t>晶体</a:t>
                </a:r>
                <a:r>
                  <a:rPr lang="zh-CN" altLang="en-US" sz="2800" dirty="0" smtClean="0">
                    <a:solidFill>
                      <a:schemeClr val="tx1"/>
                    </a:solidFill>
                  </a:rPr>
                  <a:t>结构</a:t>
                </a:r>
                <a:endParaRPr lang="en-US" altLang="zh-CN" sz="2800" dirty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2400" dirty="0" smtClean="0">
                    <a:solidFill>
                      <a:schemeClr val="tx1"/>
                    </a:solidFill>
                  </a:rPr>
                  <a:t>	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密集型结构（</a:t>
                </a:r>
                <a:r>
                  <a:rPr lang="en-US" altLang="zh-CN" sz="2400" dirty="0" err="1" smtClean="0">
                    <a:solidFill>
                      <a:schemeClr val="tx1"/>
                    </a:solidFill>
                  </a:rPr>
                  <a:t>fcc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, hcp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），或体心立方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endParaRPr lang="en-US" altLang="zh-CN" dirty="0">
                  <a:solidFill>
                    <a:schemeClr val="tx1"/>
                  </a:solidFill>
                </a:endParaRPr>
              </a:p>
              <a:p>
                <a:r>
                  <a:rPr lang="en-US" altLang="zh-CN" sz="2800" dirty="0" smtClean="0">
                    <a:solidFill>
                      <a:schemeClr val="tx1"/>
                    </a:solidFill>
                  </a:rPr>
                  <a:t>3.5.3 </a:t>
                </a:r>
                <a:r>
                  <a:rPr lang="zh-CN" altLang="en-US" sz="2800" dirty="0" smtClean="0">
                    <a:solidFill>
                      <a:schemeClr val="tx1"/>
                    </a:solidFill>
                  </a:rPr>
                  <a:t>金属的内聚能</a:t>
                </a:r>
                <a:endParaRPr lang="en-US" altLang="zh-CN" sz="28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2400" dirty="0" smtClean="0">
                    <a:solidFill>
                      <a:schemeClr val="tx1"/>
                    </a:solidFill>
                  </a:rPr>
                  <a:t>	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用量子力学方法计算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2400" dirty="0" smtClean="0">
                    <a:solidFill>
                      <a:schemeClr val="tx1"/>
                    </a:solidFill>
                  </a:rPr>
                  <a:t>	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每</a:t>
                </a:r>
                <a:r>
                  <a:rPr lang="zh-CN" altLang="en-US" sz="2400" dirty="0">
                    <a:solidFill>
                      <a:schemeClr val="tx1"/>
                    </a:solidFill>
                  </a:rPr>
                  <a:t>原子内聚能，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~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</a:rPr>
                  <a:t>eV</a:t>
                </a:r>
                <a:r>
                  <a:rPr lang="zh-CN" altLang="en-US" sz="2400" dirty="0">
                    <a:solidFill>
                      <a:schemeClr val="tx1"/>
                    </a:solidFill>
                  </a:rPr>
                  <a:t>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</a:rPr>
                  <a:t> ,   ~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𝑃𝑎</m:t>
                    </m:r>
                  </m:oMath>
                </a14:m>
                <a:endParaRPr lang="en-US" altLang="zh-CN" sz="2400" dirty="0">
                  <a:solidFill>
                    <a:schemeClr val="tx1"/>
                  </a:solidFill>
                </a:endParaRPr>
              </a:p>
              <a:p>
                <a:endParaRPr lang="en-US" altLang="zh-CN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714" y="1559531"/>
                <a:ext cx="9535887" cy="5139869"/>
              </a:xfrm>
              <a:prstGeom prst="rect">
                <a:avLst/>
              </a:prstGeom>
              <a:blipFill rotWithShape="1">
                <a:blip r:embed="rId2"/>
                <a:stretch>
                  <a:fillRect l="-6" t="-12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20967" y="402315"/>
            <a:ext cx="4463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/>
              <a:t>第三章  晶体的结合</a:t>
            </a:r>
            <a:endParaRPr lang="zh-CN" altLang="en-US" sz="3200" dirty="0"/>
          </a:p>
        </p:txBody>
      </p:sp>
      <p:sp>
        <p:nvSpPr>
          <p:cNvPr id="3" name="文本框 2"/>
          <p:cNvSpPr txBox="1"/>
          <p:nvPr/>
        </p:nvSpPr>
        <p:spPr>
          <a:xfrm>
            <a:off x="4260310" y="1106618"/>
            <a:ext cx="58155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/>
              <a:t>§ 3.6 </a:t>
            </a:r>
            <a:r>
              <a:rPr lang="zh-CN" altLang="en-US" sz="2400" dirty="0" smtClean="0"/>
              <a:t>氢键结合与</a:t>
            </a:r>
            <a:r>
              <a:rPr lang="zh-CN" altLang="en-US" sz="2400" dirty="0"/>
              <a:t>氢键</a:t>
            </a:r>
            <a:r>
              <a:rPr lang="zh-CN" altLang="en-US" sz="2400" dirty="0" smtClean="0"/>
              <a:t>晶体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961053" y="1645109"/>
                <a:ext cx="3741577" cy="46166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 smtClean="0">
                    <a:solidFill>
                      <a:schemeClr val="tx1"/>
                    </a:solidFill>
                  </a:rPr>
                  <a:t>3.6.1 </a:t>
                </a:r>
                <a:r>
                  <a:rPr lang="zh-CN" altLang="en-US" sz="2800" dirty="0" smtClean="0">
                    <a:solidFill>
                      <a:schemeClr val="tx1"/>
                    </a:solidFill>
                  </a:rPr>
                  <a:t>氢键结合</a:t>
                </a:r>
                <a:endParaRPr lang="en-US" altLang="zh-CN" sz="28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2400" dirty="0" smtClean="0">
                    <a:solidFill>
                      <a:schemeClr val="tx1"/>
                    </a:solidFill>
                  </a:rPr>
                  <a:t>	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特点：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2400" dirty="0">
                    <a:solidFill>
                      <a:schemeClr val="tx1"/>
                    </a:solidFill>
                  </a:rPr>
                  <a:t>	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	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有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H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参与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2400" dirty="0">
                    <a:solidFill>
                      <a:schemeClr val="tx1"/>
                    </a:solidFill>
                  </a:rPr>
                  <a:t>	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	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键长较长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2400" dirty="0">
                    <a:solidFill>
                      <a:schemeClr val="tx1"/>
                    </a:solidFill>
                  </a:rPr>
                  <a:t>	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~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𝑒𝑉</m:t>
                    </m:r>
                  </m:oMath>
                </a14:m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endParaRPr lang="en-US" altLang="zh-CN" sz="2000" dirty="0">
                  <a:solidFill>
                    <a:schemeClr val="tx1"/>
                  </a:solidFill>
                </a:endParaRPr>
              </a:p>
              <a:p>
                <a:endParaRPr lang="en-US" altLang="zh-CN" sz="2000" dirty="0" smtClean="0">
                  <a:solidFill>
                    <a:schemeClr val="tx1"/>
                  </a:solidFill>
                </a:endParaRPr>
              </a:p>
              <a:p>
                <a:endParaRPr lang="en-US" altLang="zh-CN" sz="2000" dirty="0">
                  <a:solidFill>
                    <a:schemeClr val="tx1"/>
                  </a:solidFill>
                </a:endParaRPr>
              </a:p>
              <a:p>
                <a:r>
                  <a:rPr lang="en-US" altLang="zh-CN" sz="2800" dirty="0" smtClean="0">
                    <a:solidFill>
                      <a:schemeClr val="tx1"/>
                    </a:solidFill>
                  </a:rPr>
                  <a:t>3.6.2 </a:t>
                </a:r>
                <a:r>
                  <a:rPr lang="zh-CN" altLang="en-US" sz="2800" dirty="0" smtClean="0">
                    <a:solidFill>
                      <a:schemeClr val="tx1"/>
                    </a:solidFill>
                  </a:rPr>
                  <a:t>氢键晶体</a:t>
                </a:r>
                <a:r>
                  <a:rPr lang="en-US" altLang="zh-CN" sz="2800" dirty="0" smtClean="0">
                    <a:solidFill>
                      <a:schemeClr val="tx1"/>
                    </a:solidFill>
                  </a:rPr>
                  <a:t>---</a:t>
                </a:r>
                <a:r>
                  <a:rPr lang="zh-CN" altLang="en-US" sz="2800" dirty="0" smtClean="0">
                    <a:solidFill>
                      <a:schemeClr val="tx1"/>
                    </a:solidFill>
                  </a:rPr>
                  <a:t>冰</a:t>
                </a:r>
                <a:endParaRPr lang="zh-CN" altLang="en-US" sz="2800" dirty="0">
                  <a:solidFill>
                    <a:schemeClr val="tx1"/>
                  </a:solidFill>
                </a:endParaRPr>
              </a:p>
              <a:p>
                <a:endParaRPr lang="en-US" altLang="zh-C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053" y="1645109"/>
                <a:ext cx="3741577" cy="4616648"/>
              </a:xfrm>
              <a:prstGeom prst="rect">
                <a:avLst/>
              </a:prstGeom>
              <a:blipFill rotWithShape="1">
                <a:blip r:embed="rId2"/>
                <a:stretch>
                  <a:fillRect l="-8" t="-10" r="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/>
          <a:srcRect t="5245" b="7259"/>
          <a:stretch>
            <a:fillRect/>
          </a:stretch>
        </p:blipFill>
        <p:spPr>
          <a:xfrm>
            <a:off x="5329723" y="1645109"/>
            <a:ext cx="4991005" cy="51164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20967" y="402315"/>
            <a:ext cx="4463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/>
              <a:t>第三章  晶体的结合</a:t>
            </a:r>
            <a:endParaRPr lang="zh-CN" altLang="en-US" sz="3200" dirty="0"/>
          </a:p>
        </p:txBody>
      </p:sp>
      <p:sp>
        <p:nvSpPr>
          <p:cNvPr id="3" name="文本框 2"/>
          <p:cNvSpPr txBox="1"/>
          <p:nvPr/>
        </p:nvSpPr>
        <p:spPr>
          <a:xfrm>
            <a:off x="3645714" y="1085460"/>
            <a:ext cx="58155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/>
              <a:t>§ 3.6 </a:t>
            </a:r>
            <a:r>
              <a:rPr lang="zh-CN" altLang="en-US" sz="2400" dirty="0" smtClean="0"/>
              <a:t>氢键结合与</a:t>
            </a:r>
            <a:r>
              <a:rPr lang="zh-CN" altLang="en-US" sz="2400" dirty="0"/>
              <a:t>氢键</a:t>
            </a:r>
            <a:r>
              <a:rPr lang="zh-CN" altLang="en-US" sz="2400" dirty="0" smtClean="0"/>
              <a:t>晶体</a:t>
            </a:r>
            <a:endParaRPr lang="zh-CN" altLang="en-US" sz="2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/>
          <a:srcRect r="29218"/>
          <a:stretch>
            <a:fillRect/>
          </a:stretch>
        </p:blipFill>
        <p:spPr>
          <a:xfrm rot="16200000">
            <a:off x="2987866" y="1573667"/>
            <a:ext cx="2180796" cy="2323057"/>
          </a:xfrm>
          <a:prstGeom prst="rect">
            <a:avLst/>
          </a:prstGeom>
        </p:spPr>
      </p:pic>
      <p:pic>
        <p:nvPicPr>
          <p:cNvPr id="5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6279818" y="1099596"/>
            <a:ext cx="2180796" cy="3271195"/>
          </a:xfrm>
          <a:prstGeom prst="rect">
            <a:avLst/>
          </a:prstGeom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6736" y="3893360"/>
            <a:ext cx="6106708" cy="28654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46185" y="364617"/>
            <a:ext cx="3185160" cy="1325563"/>
          </a:xfrm>
        </p:spPr>
        <p:txBody>
          <a:bodyPr/>
          <a:lstStyle/>
          <a:p>
            <a:r>
              <a:rPr lang="zh-CN" altLang="en-US" dirty="0" smtClean="0"/>
              <a:t>实践课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1754157" y="1690179"/>
            <a:ext cx="879876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 smtClean="0"/>
              <a:t>由同学们备课、主讲 ，教师讲评，同学们讨论</a:t>
            </a:r>
            <a:endParaRPr lang="en-US" altLang="zh-CN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 smtClean="0"/>
              <a:t>第</a:t>
            </a:r>
            <a:r>
              <a:rPr lang="en-US" altLang="zh-CN" sz="2800" dirty="0" smtClean="0"/>
              <a:t>11-14</a:t>
            </a:r>
            <a:r>
              <a:rPr lang="zh-CN" altLang="en-US" sz="2800" dirty="0" smtClean="0"/>
              <a:t>周周五各安排一次，主讲的同学依效果计入平时成绩</a:t>
            </a:r>
            <a:endParaRPr lang="en-US" altLang="zh-CN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 smtClean="0"/>
              <a:t>每人</a:t>
            </a:r>
            <a:r>
              <a:rPr lang="en-US" altLang="zh-CN" sz="2800" dirty="0" smtClean="0"/>
              <a:t>5</a:t>
            </a:r>
            <a:r>
              <a:rPr lang="zh-CN" altLang="en-US" sz="2800" dirty="0" smtClean="0"/>
              <a:t>分钟</a:t>
            </a:r>
            <a:endParaRPr lang="en-US" altLang="zh-CN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/>
              <a:t>主题</a:t>
            </a:r>
            <a:r>
              <a:rPr lang="zh-CN" altLang="en-US" sz="2800" dirty="0" smtClean="0"/>
              <a:t>：与本课内容相关，来源于实习、课外学习、实践，有一定理论深度，有趣味</a:t>
            </a:r>
            <a:endParaRPr lang="en-US" altLang="zh-CN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 smtClean="0"/>
              <a:t>目的：增长见闻、引起思考、学以致用</a:t>
            </a:r>
            <a:endParaRPr lang="zh-CN" altLang="en-US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24635" y="2426683"/>
            <a:ext cx="6817659" cy="1325563"/>
          </a:xfrm>
        </p:spPr>
        <p:txBody>
          <a:bodyPr>
            <a:normAutofit fontScale="90000"/>
          </a:bodyPr>
          <a:lstStyle/>
          <a:p>
            <a:r>
              <a:rPr lang="zh-CN" altLang="en-US" dirty="0" smtClean="0"/>
              <a:t>本周作业：</a:t>
            </a:r>
            <a:r>
              <a:rPr lang="en-US" altLang="zh-CN" dirty="0" smtClean="0"/>
              <a:t>2</a:t>
            </a:r>
            <a:r>
              <a:rPr lang="zh-CN" altLang="en-US" dirty="0" smtClean="0"/>
              <a:t>，</a:t>
            </a:r>
            <a:r>
              <a:rPr lang="en-US" altLang="zh-CN" dirty="0" smtClean="0"/>
              <a:t>5</a:t>
            </a:r>
            <a:r>
              <a:rPr lang="zh-CN" altLang="en-US" dirty="0" smtClean="0"/>
              <a:t>，</a:t>
            </a:r>
            <a:r>
              <a:rPr lang="en-US" altLang="zh-CN" dirty="0" smtClean="0"/>
              <a:t>6</a:t>
            </a:r>
            <a:br>
              <a:rPr lang="en-US" altLang="zh-CN" dirty="0" smtClean="0"/>
            </a:b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 smtClean="0"/>
              <a:t>The    End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WechatIMG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1558</TotalTime>
  <Words>1697</Words>
  <Application>Microsoft Macintosh PowerPoint</Application>
  <PresentationFormat>宽屏</PresentationFormat>
  <Paragraphs>238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0" baseType="lpstr">
      <vt:lpstr>Arial</vt:lpstr>
      <vt:lpstr>Calibri</vt:lpstr>
      <vt:lpstr>Cambria Math</vt:lpstr>
      <vt:lpstr>DejaVu Math TeX Gyre</vt:lpstr>
      <vt:lpstr>Symbol</vt:lpstr>
      <vt:lpstr>宋体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实践课</vt:lpstr>
      <vt:lpstr>本周作业：2，5，6      The    End</vt:lpstr>
      <vt:lpstr>PowerPoint 演示文稿</vt:lpstr>
    </vt:vector>
  </TitlesOfParts>
  <LinksUpToDate>false</LinksUpToDate>
  <SharedDoc>false</SharedDoc>
  <HyperlinksChanged>false</HyperlinksChanged>
  <AppVersion>15.0037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zhanglixin</dc:creator>
  <cp:lastModifiedBy>Microsoft Office 用户</cp:lastModifiedBy>
  <cp:revision>118</cp:revision>
  <dcterms:created xsi:type="dcterms:W3CDTF">2024-03-21T22:56:36Z</dcterms:created>
  <dcterms:modified xsi:type="dcterms:W3CDTF">2025-03-17T10:03:51Z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6AA5BD68DA382ACC23BBFC6522B49F9C</vt:lpwstr>
  </property>
  <property fmtid="{D5CDD505-2E9C-101B-9397-08002B2CF9AE}" pid="3" name="KSOProductBuildVer">
    <vt:lpwstr>2052-5.1.1.7662</vt:lpwstr>
  </property>
</Properties>
</file>