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376" r:id="rId3"/>
    <p:sldId id="258" r:id="rId4"/>
    <p:sldId id="259" r:id="rId5"/>
    <p:sldId id="283" r:id="rId6"/>
    <p:sldId id="260" r:id="rId7"/>
    <p:sldId id="285" r:id="rId8"/>
    <p:sldId id="286" r:id="rId9"/>
    <p:sldId id="289" r:id="rId10"/>
    <p:sldId id="290" r:id="rId11"/>
    <p:sldId id="377" r:id="rId12"/>
    <p:sldId id="287" r:id="rId13"/>
    <p:sldId id="378" r:id="rId14"/>
    <p:sldId id="291" r:id="rId15"/>
    <p:sldId id="354" r:id="rId16"/>
    <p:sldId id="292" r:id="rId17"/>
    <p:sldId id="293" r:id="rId18"/>
    <p:sldId id="355" r:id="rId19"/>
    <p:sldId id="294" r:id="rId20"/>
    <p:sldId id="357" r:id="rId21"/>
    <p:sldId id="356" r:id="rId22"/>
    <p:sldId id="296" r:id="rId23"/>
    <p:sldId id="358" r:id="rId24"/>
    <p:sldId id="297" r:id="rId25"/>
    <p:sldId id="359" r:id="rId26"/>
    <p:sldId id="298" r:id="rId27"/>
    <p:sldId id="299" r:id="rId28"/>
    <p:sldId id="300" r:id="rId29"/>
    <p:sldId id="301" r:id="rId30"/>
    <p:sldId id="304" r:id="rId31"/>
    <p:sldId id="302" r:id="rId32"/>
    <p:sldId id="360" r:id="rId33"/>
    <p:sldId id="305" r:id="rId34"/>
    <p:sldId id="306" r:id="rId35"/>
    <p:sldId id="328" r:id="rId36"/>
    <p:sldId id="303" r:id="rId37"/>
    <p:sldId id="361" r:id="rId38"/>
    <p:sldId id="307" r:id="rId39"/>
    <p:sldId id="362" r:id="rId40"/>
    <p:sldId id="329" r:id="rId41"/>
    <p:sldId id="308" r:id="rId42"/>
    <p:sldId id="309" r:id="rId43"/>
    <p:sldId id="330" r:id="rId44"/>
    <p:sldId id="363" r:id="rId45"/>
    <p:sldId id="310" r:id="rId46"/>
    <p:sldId id="311" r:id="rId47"/>
    <p:sldId id="314" r:id="rId48"/>
    <p:sldId id="312" r:id="rId49"/>
    <p:sldId id="331" r:id="rId50"/>
    <p:sldId id="332" r:id="rId51"/>
    <p:sldId id="333" r:id="rId52"/>
    <p:sldId id="390" r:id="rId53"/>
    <p:sldId id="346" r:id="rId54"/>
    <p:sldId id="389" r:id="rId55"/>
    <p:sldId id="364" r:id="rId56"/>
    <p:sldId id="365" r:id="rId57"/>
    <p:sldId id="367" r:id="rId58"/>
    <p:sldId id="347" r:id="rId59"/>
    <p:sldId id="368" r:id="rId60"/>
    <p:sldId id="317" r:id="rId61"/>
    <p:sldId id="369" r:id="rId62"/>
    <p:sldId id="372" r:id="rId63"/>
    <p:sldId id="319" r:id="rId64"/>
    <p:sldId id="373" r:id="rId65"/>
    <p:sldId id="349" r:id="rId66"/>
    <p:sldId id="320" r:id="rId67"/>
    <p:sldId id="321" r:id="rId68"/>
    <p:sldId id="379" r:id="rId69"/>
    <p:sldId id="322" r:id="rId70"/>
    <p:sldId id="323" r:id="rId71"/>
    <p:sldId id="380" r:id="rId72"/>
    <p:sldId id="324" r:id="rId73"/>
    <p:sldId id="325" r:id="rId74"/>
    <p:sldId id="327" r:id="rId75"/>
    <p:sldId id="352" r:id="rId76"/>
    <p:sldId id="351" r:id="rId77"/>
    <p:sldId id="353" r:id="rId78"/>
    <p:sldId id="383" r:id="rId79"/>
    <p:sldId id="478" r:id="rId80"/>
    <p:sldId id="479" r:id="rId81"/>
    <p:sldId id="480" r:id="rId82"/>
    <p:sldId id="481" r:id="rId83"/>
    <p:sldId id="335" r:id="rId84"/>
    <p:sldId id="484" r:id="rId85"/>
    <p:sldId id="483" r:id="rId86"/>
    <p:sldId id="344" r:id="rId87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  <a:srgbClr val="FFCC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7655"/>
    <p:restoredTop sz="94660"/>
  </p:normalViewPr>
  <p:slideViewPr>
    <p:cSldViewPr showGuides="1">
      <p:cViewPr varScale="1">
        <p:scale>
          <a:sx n="63" d="100"/>
          <a:sy n="63" d="100"/>
        </p:scale>
        <p:origin x="1300" y="48"/>
      </p:cViewPr>
      <p:guideLst>
        <p:guide orient="horz" pos="213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1" Type="http://schemas.openxmlformats.org/officeDocument/2006/relationships/tableStyles" Target="tableStyles.xml"/><Relationship Id="rId90" Type="http://schemas.openxmlformats.org/officeDocument/2006/relationships/viewProps" Target="viewProps.xml"/><Relationship Id="rId9" Type="http://schemas.openxmlformats.org/officeDocument/2006/relationships/slide" Target="slides/slide7.xml"/><Relationship Id="rId89" Type="http://schemas.openxmlformats.org/officeDocument/2006/relationships/presProps" Target="presProps.xml"/><Relationship Id="rId88" Type="http://schemas.openxmlformats.org/officeDocument/2006/relationships/notesMaster" Target="notesMasters/notesMaster1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8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5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png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wmf"/><Relationship Id="rId1" Type="http://schemas.openxmlformats.org/officeDocument/2006/relationships/image" Target="../media/image157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image" Target="../media/image165.png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4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6.png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wmf"/><Relationship Id="rId1" Type="http://schemas.openxmlformats.org/officeDocument/2006/relationships/image" Target="../media/image208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wmf"/><Relationship Id="rId1" Type="http://schemas.openxmlformats.org/officeDocument/2006/relationships/image" Target="../media/image210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5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/Relationships>
</file>

<file path=ppt/drawings/_rels/vmlDrawing19.vml.rels><?xml version="1.0" encoding="UTF-8" standalone="yes"?>
<Relationships xmlns="http://schemas.openxmlformats.org/package/2006/relationships"><Relationship Id="rId5" Type="http://schemas.openxmlformats.org/officeDocument/2006/relationships/image" Target="../media/image229.wmf"/><Relationship Id="rId4" Type="http://schemas.openxmlformats.org/officeDocument/2006/relationships/image" Target="../media/image228.wmf"/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2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3.wmf"/><Relationship Id="rId3" Type="http://schemas.openxmlformats.org/officeDocument/2006/relationships/image" Target="../media/image232.wmf"/><Relationship Id="rId2" Type="http://schemas.openxmlformats.org/officeDocument/2006/relationships/image" Target="../media/image231.wmf"/><Relationship Id="rId1" Type="http://schemas.openxmlformats.org/officeDocument/2006/relationships/image" Target="../media/image230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7.wmf"/><Relationship Id="rId3" Type="http://schemas.openxmlformats.org/officeDocument/2006/relationships/image" Target="../media/image236.wmf"/><Relationship Id="rId2" Type="http://schemas.openxmlformats.org/officeDocument/2006/relationships/image" Target="../media/image235.wmf"/><Relationship Id="rId1" Type="http://schemas.openxmlformats.org/officeDocument/2006/relationships/image" Target="../media/image23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wmf"/><Relationship Id="rId2" Type="http://schemas.openxmlformats.org/officeDocument/2006/relationships/image" Target="../media/image239.wmf"/><Relationship Id="rId1" Type="http://schemas.openxmlformats.org/officeDocument/2006/relationships/image" Target="../media/image238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247.wmf"/><Relationship Id="rId3" Type="http://schemas.openxmlformats.org/officeDocument/2006/relationships/image" Target="../media/image246.wmf"/><Relationship Id="rId2" Type="http://schemas.openxmlformats.org/officeDocument/2006/relationships/image" Target="../media/image245.wmf"/><Relationship Id="rId1" Type="http://schemas.openxmlformats.org/officeDocument/2006/relationships/image" Target="../media/image244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251.wmf"/><Relationship Id="rId3" Type="http://schemas.openxmlformats.org/officeDocument/2006/relationships/image" Target="../media/image250.wmf"/><Relationship Id="rId2" Type="http://schemas.openxmlformats.org/officeDocument/2006/relationships/image" Target="../media/image249.wmf"/><Relationship Id="rId1" Type="http://schemas.openxmlformats.org/officeDocument/2006/relationships/image" Target="../media/image24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2"/>
          <p:cNvSpPr/>
          <p:nvPr/>
        </p:nvSpPr>
        <p:spPr>
          <a:xfrm>
            <a:off x="20638" y="12700"/>
            <a:ext cx="8896350" cy="6780213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3985" h="3619">
                <a:moveTo>
                  <a:pt x="2822" y="0"/>
                </a:moveTo>
                <a:lnTo>
                  <a:pt x="0" y="975"/>
                </a:lnTo>
                <a:lnTo>
                  <a:pt x="2169" y="3619"/>
                </a:lnTo>
                <a:lnTo>
                  <a:pt x="3985" y="1125"/>
                </a:lnTo>
                <a:lnTo>
                  <a:pt x="2822" y="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2051" name="Group 8"/>
          <p:cNvGrpSpPr/>
          <p:nvPr/>
        </p:nvGrpSpPr>
        <p:grpSpPr>
          <a:xfrm>
            <a:off x="195263" y="234950"/>
            <a:ext cx="3787775" cy="1778000"/>
            <a:chOff x="123" y="148"/>
            <a:chExt cx="2386" cy="1120"/>
          </a:xfrm>
        </p:grpSpPr>
        <p:sp>
          <p:nvSpPr>
            <p:cNvPr id="2070" name="Freeform 9"/>
            <p:cNvSpPr/>
            <p:nvPr userDrawn="1"/>
          </p:nvSpPr>
          <p:spPr>
            <a:xfrm>
              <a:off x="177" y="177"/>
              <a:ext cx="2250" cy="1017"/>
            </a:xfrm>
            <a:custGeom>
              <a:avLst/>
              <a:gdLst/>
              <a:ahLst/>
              <a:cxnLst>
                <a:cxn ang="0">
                  <a:pos x="18068" y="5854"/>
                </a:cxn>
                <a:cxn ang="0">
                  <a:pos x="16158" y="4714"/>
                </a:cxn>
                <a:cxn ang="0">
                  <a:pos x="12656" y="3115"/>
                </a:cxn>
                <a:cxn ang="0">
                  <a:pos x="1615" y="0"/>
                </a:cxn>
                <a:cxn ang="0">
                  <a:pos x="521" y="295"/>
                </a:cxn>
                <a:cxn ang="0">
                  <a:pos x="0" y="1231"/>
                </a:cxn>
                <a:cxn ang="0">
                  <a:pos x="635" y="2299"/>
                </a:cxn>
                <a:cxn ang="0">
                  <a:pos x="12970" y="6065"/>
                </a:cxn>
                <a:cxn ang="0">
                  <a:pos x="15673" y="5824"/>
                </a:cxn>
                <a:cxn ang="0">
                  <a:pos x="17858" y="6136"/>
                </a:cxn>
                <a:cxn ang="0">
                  <a:pos x="18068" y="5854"/>
                </a:cxn>
                <a:cxn ang="0">
                  <a:pos x="18068" y="5854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1" name="Freeform 10"/>
            <p:cNvSpPr/>
            <p:nvPr userDrawn="1"/>
          </p:nvSpPr>
          <p:spPr>
            <a:xfrm>
              <a:off x="166" y="261"/>
              <a:ext cx="2244" cy="1007"/>
            </a:xfrm>
            <a:custGeom>
              <a:avLst/>
              <a:gdLst/>
              <a:ahLst/>
              <a:cxnLst>
                <a:cxn ang="0">
                  <a:pos x="388" y="0"/>
                </a:cxn>
                <a:cxn ang="0">
                  <a:pos x="3769" y="958"/>
                </a:cxn>
                <a:cxn ang="0">
                  <a:pos x="4044" y="1177"/>
                </a:cxn>
                <a:cxn ang="0">
                  <a:pos x="4492" y="1461"/>
                </a:cxn>
                <a:cxn ang="0">
                  <a:pos x="4433" y="1515"/>
                </a:cxn>
                <a:cxn ang="0">
                  <a:pos x="3823" y="1452"/>
                </a:cxn>
                <a:cxn ang="0">
                  <a:pos x="3243" y="1496"/>
                </a:cxn>
                <a:cxn ang="0">
                  <a:pos x="117" y="551"/>
                </a:cxn>
                <a:cxn ang="0">
                  <a:pos x="0" y="277"/>
                </a:cxn>
                <a:cxn ang="0">
                  <a:pos x="130" y="59"/>
                </a:cxn>
                <a:cxn ang="0">
                  <a:pos x="388" y="0"/>
                </a:cxn>
                <a:cxn ang="0">
                  <a:pos x="388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72" name="Freeform 11"/>
            <p:cNvSpPr/>
            <p:nvPr userDrawn="1"/>
          </p:nvSpPr>
          <p:spPr>
            <a:xfrm>
              <a:off x="474" y="344"/>
              <a:ext cx="1488" cy="919"/>
            </a:xfrm>
            <a:custGeom>
              <a:avLst/>
              <a:gdLst/>
              <a:ahLst/>
              <a:cxnLst>
                <a:cxn ang="0">
                  <a:pos x="0" y="605"/>
                </a:cxn>
                <a:cxn ang="0">
                  <a:pos x="2631" y="1391"/>
                </a:cxn>
                <a:cxn ang="0">
                  <a:pos x="2680" y="994"/>
                </a:cxn>
                <a:cxn ang="0">
                  <a:pos x="2994" y="786"/>
                </a:cxn>
                <a:cxn ang="0">
                  <a:pos x="223" y="0"/>
                </a:cxn>
                <a:cxn ang="0">
                  <a:pos x="0" y="236"/>
                </a:cxn>
                <a:cxn ang="0">
                  <a:pos x="0" y="605"/>
                </a:cxn>
                <a:cxn ang="0">
                  <a:pos x="0" y="605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73" name="Group 12"/>
            <p:cNvGrpSpPr/>
            <p:nvPr userDrawn="1"/>
          </p:nvGrpSpPr>
          <p:grpSpPr>
            <a:xfrm>
              <a:off x="123" y="148"/>
              <a:ext cx="2386" cy="1081"/>
              <a:chOff x="123" y="148"/>
              <a:chExt cx="2386" cy="1081"/>
            </a:xfrm>
          </p:grpSpPr>
          <p:sp>
            <p:nvSpPr>
              <p:cNvPr id="2074" name="Freeform 13"/>
              <p:cNvSpPr/>
              <p:nvPr userDrawn="1"/>
            </p:nvSpPr>
            <p:spPr>
              <a:xfrm>
                <a:off x="2005" y="934"/>
                <a:ext cx="212" cy="214"/>
              </a:xfrm>
              <a:custGeom>
                <a:avLst/>
                <a:gdLst/>
                <a:ahLst/>
                <a:cxnLst>
                  <a:cxn ang="0">
                    <a:pos x="310" y="0"/>
                  </a:cxn>
                  <a:cxn ang="0">
                    <a:pos x="114" y="125"/>
                  </a:cxn>
                  <a:cxn ang="0">
                    <a:pos x="0" y="328"/>
                  </a:cxn>
                  <a:cxn ang="0">
                    <a:pos x="226" y="303"/>
                  </a:cxn>
                  <a:cxn ang="0">
                    <a:pos x="291" y="160"/>
                  </a:cxn>
                  <a:cxn ang="0">
                    <a:pos x="424" y="51"/>
                  </a:cxn>
                  <a:cxn ang="0">
                    <a:pos x="310" y="0"/>
                  </a:cxn>
                  <a:cxn ang="0">
                    <a:pos x="310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5" name="Freeform 14"/>
              <p:cNvSpPr/>
              <p:nvPr userDrawn="1"/>
            </p:nvSpPr>
            <p:spPr>
              <a:xfrm>
                <a:off x="123" y="148"/>
                <a:ext cx="2386" cy="1081"/>
              </a:xfrm>
              <a:custGeom>
                <a:avLst/>
                <a:gdLst/>
                <a:ahLst/>
                <a:cxnLst>
                  <a:cxn ang="0">
                    <a:pos x="443" y="0"/>
                  </a:cxn>
                  <a:cxn ang="0">
                    <a:pos x="179" y="97"/>
                  </a:cxn>
                  <a:cxn ang="0">
                    <a:pos x="0" y="386"/>
                  </a:cxn>
                  <a:cxn ang="0">
                    <a:pos x="191" y="665"/>
                  </a:cxn>
                  <a:cxn ang="0">
                    <a:pos x="3362" y="1607"/>
                  </a:cxn>
                  <a:cxn ang="0">
                    <a:pos x="4045" y="1548"/>
                  </a:cxn>
                  <a:cxn ang="0">
                    <a:pos x="4598" y="1631"/>
                  </a:cxn>
                  <a:cxn ang="0">
                    <a:pos x="4790" y="1499"/>
                  </a:cxn>
                  <a:cxn ang="0">
                    <a:pos x="4272" y="1231"/>
                  </a:cxn>
                  <a:cxn ang="0">
                    <a:pos x="4061" y="950"/>
                  </a:cxn>
                  <a:cxn ang="0">
                    <a:pos x="3895" y="977"/>
                  </a:cxn>
                  <a:cxn ang="0">
                    <a:pos x="4093" y="1231"/>
                  </a:cxn>
                  <a:cxn ang="0">
                    <a:pos x="4489" y="1501"/>
                  </a:cxn>
                  <a:cxn ang="0">
                    <a:pos x="4020" y="1459"/>
                  </a:cxn>
                  <a:cxn ang="0">
                    <a:pos x="3467" y="1508"/>
                  </a:cxn>
                  <a:cxn ang="0">
                    <a:pos x="3569" y="1204"/>
                  </a:cxn>
                  <a:cxn ang="0">
                    <a:pos x="3806" y="997"/>
                  </a:cxn>
                  <a:cxn ang="0">
                    <a:pos x="3529" y="1023"/>
                  </a:cxn>
                  <a:cxn ang="0">
                    <a:pos x="3314" y="1220"/>
                  </a:cxn>
                  <a:cxn ang="0">
                    <a:pos x="3240" y="1467"/>
                  </a:cxn>
                  <a:cxn ang="0">
                    <a:pos x="305" y="575"/>
                  </a:cxn>
                  <a:cxn ang="0">
                    <a:pos x="227" y="398"/>
                  </a:cxn>
                  <a:cxn ang="0">
                    <a:pos x="293" y="177"/>
                  </a:cxn>
                  <a:cxn ang="0">
                    <a:pos x="616" y="0"/>
                  </a:cxn>
                  <a:cxn ang="0">
                    <a:pos x="443" y="0"/>
                  </a:cxn>
                  <a:cxn ang="0">
                    <a:pos x="443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6" name="Freeform 15"/>
              <p:cNvSpPr/>
              <p:nvPr userDrawn="1"/>
            </p:nvSpPr>
            <p:spPr>
              <a:xfrm>
                <a:off x="324" y="158"/>
                <a:ext cx="1686" cy="614"/>
              </a:xfrm>
              <a:custGeom>
                <a:avLst/>
                <a:gdLst/>
                <a:ahLst/>
                <a:cxnLst>
                  <a:cxn ang="0">
                    <a:pos x="285" y="0"/>
                  </a:cxn>
                  <a:cxn ang="0">
                    <a:pos x="3385" y="907"/>
                  </a:cxn>
                  <a:cxn ang="0">
                    <a:pos x="3059" y="926"/>
                  </a:cxn>
                  <a:cxn ang="0">
                    <a:pos x="0" y="50"/>
                  </a:cxn>
                  <a:cxn ang="0">
                    <a:pos x="285" y="0"/>
                  </a:cxn>
                  <a:cxn ang="0">
                    <a:pos x="285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7" name="Freeform 16"/>
              <p:cNvSpPr/>
              <p:nvPr userDrawn="1"/>
            </p:nvSpPr>
            <p:spPr>
              <a:xfrm>
                <a:off x="409" y="251"/>
                <a:ext cx="227" cy="410"/>
              </a:xfrm>
              <a:custGeom>
                <a:avLst/>
                <a:gdLst/>
                <a:ahLst/>
                <a:cxnLst>
                  <a:cxn ang="0">
                    <a:pos x="332" y="0"/>
                  </a:cxn>
                  <a:cxn ang="0">
                    <a:pos x="54" y="195"/>
                  </a:cxn>
                  <a:cxn ang="0">
                    <a:pos x="0" y="421"/>
                  </a:cxn>
                  <a:cxn ang="0">
                    <a:pos x="95" y="575"/>
                  </a:cxn>
                  <a:cxn ang="0">
                    <a:pos x="268" y="614"/>
                  </a:cxn>
                  <a:cxn ang="0">
                    <a:pos x="217" y="281"/>
                  </a:cxn>
                  <a:cxn ang="0">
                    <a:pos x="457" y="32"/>
                  </a:cxn>
                  <a:cxn ang="0">
                    <a:pos x="332" y="0"/>
                  </a:cxn>
                  <a:cxn ang="0">
                    <a:pos x="332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78" name="Freeform 17"/>
              <p:cNvSpPr/>
              <p:nvPr userDrawn="1"/>
            </p:nvSpPr>
            <p:spPr>
              <a:xfrm>
                <a:off x="846" y="536"/>
                <a:ext cx="691" cy="364"/>
              </a:xfrm>
              <a:custGeom>
                <a:avLst/>
                <a:gdLst/>
                <a:ahLst/>
                <a:cxnLst>
                  <a:cxn ang="0">
                    <a:pos x="40" y="64"/>
                  </a:cxn>
                  <a:cxn ang="0">
                    <a:pos x="451" y="123"/>
                  </a:cxn>
                  <a:cxn ang="0">
                    <a:pos x="914" y="255"/>
                  </a:cxn>
                  <a:cxn ang="0">
                    <a:pos x="1242" y="453"/>
                  </a:cxn>
                  <a:cxn ang="0">
                    <a:pos x="920" y="428"/>
                  </a:cxn>
                  <a:cxn ang="0">
                    <a:pos x="391" y="272"/>
                  </a:cxn>
                  <a:cxn ang="0">
                    <a:pos x="141" y="149"/>
                  </a:cxn>
                  <a:cxn ang="0">
                    <a:pos x="301" y="303"/>
                  </a:cxn>
                  <a:cxn ang="0">
                    <a:pos x="767" y="502"/>
                  </a:cxn>
                  <a:cxn ang="0">
                    <a:pos x="1314" y="551"/>
                  </a:cxn>
                  <a:cxn ang="0">
                    <a:pos x="1379" y="416"/>
                  </a:cxn>
                  <a:cxn ang="0">
                    <a:pos x="1112" y="224"/>
                  </a:cxn>
                  <a:cxn ang="0">
                    <a:pos x="479" y="32"/>
                  </a:cxn>
                  <a:cxn ang="0">
                    <a:pos x="0" y="0"/>
                  </a:cxn>
                  <a:cxn ang="0">
                    <a:pos x="40" y="64"/>
                  </a:cxn>
                  <a:cxn ang="0">
                    <a:pos x="40" y="64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2052" name="Group 18"/>
          <p:cNvGrpSpPr/>
          <p:nvPr/>
        </p:nvGrpSpPr>
        <p:grpSpPr>
          <a:xfrm>
            <a:off x="7915275" y="4368800"/>
            <a:ext cx="742950" cy="1058863"/>
            <a:chOff x="4986" y="2752"/>
            <a:chExt cx="468" cy="667"/>
          </a:xfrm>
        </p:grpSpPr>
        <p:sp>
          <p:nvSpPr>
            <p:cNvPr id="2061" name="Freeform 19"/>
            <p:cNvSpPr/>
            <p:nvPr userDrawn="1"/>
          </p:nvSpPr>
          <p:spPr>
            <a:xfrm rot="7320404">
              <a:off x="4909" y="2936"/>
              <a:ext cx="629" cy="293"/>
            </a:xfrm>
            <a:custGeom>
              <a:avLst/>
              <a:gdLst/>
              <a:ahLst/>
              <a:cxnLst>
                <a:cxn ang="0">
                  <a:pos x="395" y="140"/>
                </a:cxn>
                <a:cxn ang="0">
                  <a:pos x="353" y="113"/>
                </a:cxn>
                <a:cxn ang="0">
                  <a:pos x="276" y="74"/>
                </a:cxn>
                <a:cxn ang="0">
                  <a:pos x="35" y="0"/>
                </a:cxn>
                <a:cxn ang="0">
                  <a:pos x="11" y="7"/>
                </a:cxn>
                <a:cxn ang="0">
                  <a:pos x="0" y="30"/>
                </a:cxn>
                <a:cxn ang="0">
                  <a:pos x="13" y="55"/>
                </a:cxn>
                <a:cxn ang="0">
                  <a:pos x="284" y="145"/>
                </a:cxn>
                <a:cxn ang="0">
                  <a:pos x="343" y="139"/>
                </a:cxn>
                <a:cxn ang="0">
                  <a:pos x="391" y="147"/>
                </a:cxn>
                <a:cxn ang="0">
                  <a:pos x="395" y="140"/>
                </a:cxn>
                <a:cxn ang="0">
                  <a:pos x="395" y="140"/>
                </a:cxn>
              </a:cxnLst>
              <a:pathLst>
                <a:path w="794" h="414">
                  <a:moveTo>
                    <a:pt x="794" y="395"/>
                  </a:moveTo>
                  <a:lnTo>
                    <a:pt x="710" y="318"/>
                  </a:lnTo>
                  <a:lnTo>
                    <a:pt x="556" y="210"/>
                  </a:lnTo>
                  <a:lnTo>
                    <a:pt x="71" y="0"/>
                  </a:lnTo>
                  <a:lnTo>
                    <a:pt x="23" y="20"/>
                  </a:lnTo>
                  <a:lnTo>
                    <a:pt x="0" y="83"/>
                  </a:lnTo>
                  <a:lnTo>
                    <a:pt x="28" y="155"/>
                  </a:lnTo>
                  <a:lnTo>
                    <a:pt x="570" y="409"/>
                  </a:lnTo>
                  <a:lnTo>
                    <a:pt x="689" y="393"/>
                  </a:lnTo>
                  <a:lnTo>
                    <a:pt x="785" y="414"/>
                  </a:lnTo>
                  <a:lnTo>
                    <a:pt x="794" y="395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2" name="Freeform 20"/>
            <p:cNvSpPr/>
            <p:nvPr userDrawn="1"/>
          </p:nvSpPr>
          <p:spPr>
            <a:xfrm rot="7320404">
              <a:off x="4893" y="2922"/>
              <a:ext cx="627" cy="290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82" y="23"/>
                </a:cxn>
                <a:cxn ang="0">
                  <a:pos x="88" y="28"/>
                </a:cxn>
                <a:cxn ang="0">
                  <a:pos x="98" y="35"/>
                </a:cxn>
                <a:cxn ang="0">
                  <a:pos x="97" y="36"/>
                </a:cxn>
                <a:cxn ang="0">
                  <a:pos x="83" y="35"/>
                </a:cxn>
                <a:cxn ang="0">
                  <a:pos x="71" y="36"/>
                </a:cxn>
                <a:cxn ang="0">
                  <a:pos x="3" y="13"/>
                </a:cxn>
                <a:cxn ang="0">
                  <a:pos x="0" y="7"/>
                </a:cxn>
                <a:cxn ang="0">
                  <a:pos x="3" y="1"/>
                </a:cxn>
                <a:cxn ang="0">
                  <a:pos x="8" y="0"/>
                </a:cxn>
                <a:cxn ang="0">
                  <a:pos x="8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63" name="Freeform 21"/>
            <p:cNvSpPr/>
            <p:nvPr userDrawn="1"/>
          </p:nvSpPr>
          <p:spPr>
            <a:xfrm rot="7320404">
              <a:off x="4999" y="2912"/>
              <a:ext cx="416" cy="265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58" y="33"/>
                </a:cxn>
                <a:cxn ang="0">
                  <a:pos x="59" y="24"/>
                </a:cxn>
                <a:cxn ang="0">
                  <a:pos x="65" y="19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0" y="15"/>
                </a:cxn>
                <a:cxn ang="0">
                  <a:pos x="0" y="15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2064" name="Group 22"/>
            <p:cNvGrpSpPr/>
            <p:nvPr userDrawn="1"/>
          </p:nvGrpSpPr>
          <p:grpSpPr>
            <a:xfrm>
              <a:off x="4986" y="2752"/>
              <a:ext cx="468" cy="667"/>
              <a:chOff x="4986" y="2752"/>
              <a:chExt cx="468" cy="667"/>
            </a:xfrm>
          </p:grpSpPr>
          <p:sp>
            <p:nvSpPr>
              <p:cNvPr id="2065" name="Freeform 23"/>
              <p:cNvSpPr/>
              <p:nvPr userDrawn="1"/>
            </p:nvSpPr>
            <p:spPr>
              <a:xfrm rot="7320404">
                <a:off x="4987" y="3190"/>
                <a:ext cx="59" cy="6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3"/>
                  </a:cxn>
                  <a:cxn ang="0">
                    <a:pos x="0" y="8"/>
                  </a:cxn>
                  <a:cxn ang="0">
                    <a:pos x="5" y="7"/>
                  </a:cxn>
                  <a:cxn ang="0">
                    <a:pos x="6" y="4"/>
                  </a:cxn>
                  <a:cxn ang="0">
                    <a:pos x="9" y="1"/>
                  </a:cxn>
                  <a:cxn ang="0">
                    <a:pos x="7" y="0"/>
                  </a:cxn>
                  <a:cxn ang="0">
                    <a:pos x="7" y="0"/>
                  </a:cxn>
                </a:cxnLst>
                <a:pathLst>
                  <a:path w="150" h="173">
                    <a:moveTo>
                      <a:pt x="110" y="0"/>
                    </a:moveTo>
                    <a:lnTo>
                      <a:pt x="40" y="66"/>
                    </a:lnTo>
                    <a:lnTo>
                      <a:pt x="0" y="173"/>
                    </a:lnTo>
                    <a:lnTo>
                      <a:pt x="80" y="160"/>
                    </a:lnTo>
                    <a:lnTo>
                      <a:pt x="103" y="84"/>
                    </a:lnTo>
                    <a:lnTo>
                      <a:pt x="150" y="27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6" name="Freeform 24"/>
              <p:cNvSpPr/>
              <p:nvPr userDrawn="1"/>
            </p:nvSpPr>
            <p:spPr>
              <a:xfrm rot="7320404">
                <a:off x="4887" y="2930"/>
                <a:ext cx="667" cy="311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4" y="2"/>
                  </a:cxn>
                  <a:cxn ang="0">
                    <a:pos x="0" y="9"/>
                  </a:cxn>
                  <a:cxn ang="0">
                    <a:pos x="4" y="16"/>
                  </a:cxn>
                  <a:cxn ang="0">
                    <a:pos x="73" y="38"/>
                  </a:cxn>
                  <a:cxn ang="0">
                    <a:pos x="88" y="37"/>
                  </a:cxn>
                  <a:cxn ang="0">
                    <a:pos x="100" y="39"/>
                  </a:cxn>
                  <a:cxn ang="0">
                    <a:pos x="105" y="36"/>
                  </a:cxn>
                  <a:cxn ang="0">
                    <a:pos x="93" y="29"/>
                  </a:cxn>
                  <a:cxn ang="0">
                    <a:pos x="89" y="23"/>
                  </a:cxn>
                  <a:cxn ang="0">
                    <a:pos x="85" y="23"/>
                  </a:cxn>
                  <a:cxn ang="0">
                    <a:pos x="90" y="29"/>
                  </a:cxn>
                  <a:cxn ang="0">
                    <a:pos x="98" y="36"/>
                  </a:cxn>
                  <a:cxn ang="0">
                    <a:pos x="88" y="35"/>
                  </a:cxn>
                  <a:cxn ang="0">
                    <a:pos x="76" y="36"/>
                  </a:cxn>
                  <a:cxn ang="0">
                    <a:pos x="78" y="29"/>
                  </a:cxn>
                  <a:cxn ang="0">
                    <a:pos x="83" y="24"/>
                  </a:cxn>
                  <a:cxn ang="0">
                    <a:pos x="77" y="24"/>
                  </a:cxn>
                  <a:cxn ang="0">
                    <a:pos x="72" y="29"/>
                  </a:cxn>
                  <a:cxn ang="0">
                    <a:pos x="71" y="35"/>
                  </a:cxn>
                  <a:cxn ang="0">
                    <a:pos x="7" y="14"/>
                  </a:cxn>
                  <a:cxn ang="0">
                    <a:pos x="5" y="10"/>
                  </a:cxn>
                  <a:cxn ang="0">
                    <a:pos x="6" y="4"/>
                  </a:cxn>
                  <a:cxn ang="0">
                    <a:pos x="13" y="0"/>
                  </a:cxn>
                  <a:cxn ang="0">
                    <a:pos x="10" y="0"/>
                  </a:cxn>
                  <a:cxn ang="0">
                    <a:pos x="10" y="0"/>
                  </a:cxn>
                </a:cxnLst>
                <a:pathLst>
                  <a:path w="1684" h="880">
                    <a:moveTo>
                      <a:pt x="156" y="0"/>
                    </a:moveTo>
                    <a:lnTo>
                      <a:pt x="63" y="52"/>
                    </a:lnTo>
                    <a:lnTo>
                      <a:pt x="0" y="208"/>
                    </a:lnTo>
                    <a:lnTo>
                      <a:pt x="67" y="358"/>
                    </a:lnTo>
                    <a:lnTo>
                      <a:pt x="1182" y="867"/>
                    </a:lnTo>
                    <a:lnTo>
                      <a:pt x="1422" y="835"/>
                    </a:lnTo>
                    <a:lnTo>
                      <a:pt x="1616" y="880"/>
                    </a:lnTo>
                    <a:lnTo>
                      <a:pt x="1684" y="808"/>
                    </a:lnTo>
                    <a:lnTo>
                      <a:pt x="1502" y="664"/>
                    </a:lnTo>
                    <a:lnTo>
                      <a:pt x="1428" y="512"/>
                    </a:lnTo>
                    <a:lnTo>
                      <a:pt x="1369" y="527"/>
                    </a:lnTo>
                    <a:lnTo>
                      <a:pt x="1439" y="664"/>
                    </a:lnTo>
                    <a:lnTo>
                      <a:pt x="1578" y="810"/>
                    </a:lnTo>
                    <a:lnTo>
                      <a:pt x="1413" y="787"/>
                    </a:lnTo>
                    <a:lnTo>
                      <a:pt x="1219" y="814"/>
                    </a:lnTo>
                    <a:lnTo>
                      <a:pt x="1255" y="650"/>
                    </a:lnTo>
                    <a:lnTo>
                      <a:pt x="1338" y="538"/>
                    </a:lnTo>
                    <a:lnTo>
                      <a:pt x="1241" y="552"/>
                    </a:lnTo>
                    <a:lnTo>
                      <a:pt x="1165" y="658"/>
                    </a:lnTo>
                    <a:lnTo>
                      <a:pt x="1139" y="791"/>
                    </a:lnTo>
                    <a:lnTo>
                      <a:pt x="107" y="310"/>
                    </a:lnTo>
                    <a:lnTo>
                      <a:pt x="80" y="215"/>
                    </a:lnTo>
                    <a:lnTo>
                      <a:pt x="103" y="95"/>
                    </a:lnTo>
                    <a:lnTo>
                      <a:pt x="217" y="0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7" name="Freeform 25"/>
              <p:cNvSpPr/>
              <p:nvPr userDrawn="1"/>
            </p:nvSpPr>
            <p:spPr>
              <a:xfrm rot="7320404">
                <a:off x="5062" y="2997"/>
                <a:ext cx="472" cy="176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74" y="21"/>
                  </a:cxn>
                  <a:cxn ang="0">
                    <a:pos x="67" y="22"/>
                  </a:cxn>
                  <a:cxn ang="0">
                    <a:pos x="0" y="1"/>
                  </a:cxn>
                  <a:cxn ang="0">
                    <a:pos x="6" y="0"/>
                  </a:cxn>
                  <a:cxn ang="0">
                    <a:pos x="6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8" name="Freeform 26"/>
              <p:cNvSpPr/>
              <p:nvPr userDrawn="1"/>
            </p:nvSpPr>
            <p:spPr>
              <a:xfrm rot="7320404">
                <a:off x="5363" y="2873"/>
                <a:ext cx="63" cy="118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1" y="5"/>
                  </a:cxn>
                  <a:cxn ang="0">
                    <a:pos x="0" y="10"/>
                  </a:cxn>
                  <a:cxn ang="0">
                    <a:pos x="2" y="14"/>
                  </a:cxn>
                  <a:cxn ang="0">
                    <a:pos x="6" y="15"/>
                  </a:cxn>
                  <a:cxn ang="0">
                    <a:pos x="5" y="7"/>
                  </a:cxn>
                  <a:cxn ang="0">
                    <a:pos x="10" y="1"/>
                  </a:cxn>
                  <a:cxn ang="0">
                    <a:pos x="7" y="0"/>
                  </a:cxn>
                  <a:cxn ang="0">
                    <a:pos x="7" y="0"/>
                  </a:cxn>
                </a:cxnLst>
                <a:pathLst>
                  <a:path w="160" h="335">
                    <a:moveTo>
                      <a:pt x="116" y="0"/>
                    </a:moveTo>
                    <a:lnTo>
                      <a:pt x="19" y="106"/>
                    </a:lnTo>
                    <a:lnTo>
                      <a:pt x="0" y="230"/>
                    </a:lnTo>
                    <a:lnTo>
                      <a:pt x="33" y="314"/>
                    </a:lnTo>
                    <a:lnTo>
                      <a:pt x="94" y="335"/>
                    </a:lnTo>
                    <a:lnTo>
                      <a:pt x="76" y="154"/>
                    </a:lnTo>
                    <a:lnTo>
                      <a:pt x="160" y="17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069" name="Freeform 27"/>
              <p:cNvSpPr/>
              <p:nvPr userDrawn="1"/>
            </p:nvSpPr>
            <p:spPr>
              <a:xfrm rot="7320404">
                <a:off x="5136" y="2999"/>
                <a:ext cx="193" cy="104"/>
              </a:xfrm>
              <a:custGeom>
                <a:avLst/>
                <a:gdLst/>
                <a:ahLst/>
                <a:cxnLst>
                  <a:cxn ang="0">
                    <a:pos x="1" y="1"/>
                  </a:cxn>
                  <a:cxn ang="0">
                    <a:pos x="10" y="3"/>
                  </a:cxn>
                  <a:cxn ang="0">
                    <a:pos x="20" y="6"/>
                  </a:cxn>
                  <a:cxn ang="0">
                    <a:pos x="27" y="11"/>
                  </a:cxn>
                  <a:cxn ang="0">
                    <a:pos x="20" y="10"/>
                  </a:cxn>
                  <a:cxn ang="0">
                    <a:pos x="9" y="6"/>
                  </a:cxn>
                  <a:cxn ang="0">
                    <a:pos x="3" y="4"/>
                  </a:cxn>
                  <a:cxn ang="0">
                    <a:pos x="7" y="7"/>
                  </a:cxn>
                  <a:cxn ang="0">
                    <a:pos x="17" y="12"/>
                  </a:cxn>
                  <a:cxn ang="0">
                    <a:pos x="29" y="13"/>
                  </a:cxn>
                  <a:cxn ang="0">
                    <a:pos x="30" y="10"/>
                  </a:cxn>
                  <a:cxn ang="0">
                    <a:pos x="24" y="5"/>
                  </a:cxn>
                  <a:cxn ang="0">
                    <a:pos x="10" y="1"/>
                  </a:cxn>
                  <a:cxn ang="0">
                    <a:pos x="0" y="0"/>
                  </a:cxn>
                  <a:cxn ang="0">
                    <a:pos x="1" y="1"/>
                  </a:cxn>
                  <a:cxn ang="0">
                    <a:pos x="1" y="1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053" name="Freeform 28"/>
          <p:cNvSpPr/>
          <p:nvPr/>
        </p:nvSpPr>
        <p:spPr>
          <a:xfrm>
            <a:off x="901700" y="5054600"/>
            <a:ext cx="6807200" cy="728663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4288" h="459">
                <a:moveTo>
                  <a:pt x="0" y="0"/>
                </a:moveTo>
                <a:cubicBezTo>
                  <a:pt x="136" y="43"/>
                  <a:pt x="556" y="232"/>
                  <a:pt x="816" y="256"/>
                </a:cubicBezTo>
                <a:cubicBezTo>
                  <a:pt x="1076" y="280"/>
                  <a:pt x="1387" y="124"/>
                  <a:pt x="1560" y="144"/>
                </a:cubicBezTo>
                <a:cubicBezTo>
                  <a:pt x="1733" y="164"/>
                  <a:pt x="1725" y="375"/>
                  <a:pt x="1856" y="376"/>
                </a:cubicBezTo>
                <a:cubicBezTo>
                  <a:pt x="1987" y="377"/>
                  <a:pt x="2064" y="139"/>
                  <a:pt x="2344" y="152"/>
                </a:cubicBezTo>
                <a:cubicBezTo>
                  <a:pt x="2624" y="165"/>
                  <a:pt x="3212" y="459"/>
                  <a:pt x="3536" y="456"/>
                </a:cubicBezTo>
                <a:cubicBezTo>
                  <a:pt x="3860" y="453"/>
                  <a:pt x="4165" y="188"/>
                  <a:pt x="4288" y="136"/>
                </a:cubicBezTo>
              </a:path>
            </a:pathLst>
          </a:custGeom>
          <a:noFill/>
          <a:ln w="7620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2054" name="Freeform 29"/>
          <p:cNvSpPr/>
          <p:nvPr/>
        </p:nvSpPr>
        <p:spPr>
          <a:xfrm>
            <a:off x="4076700" y="1930400"/>
            <a:ext cx="889000" cy="3810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60" h="240">
                <a:moveTo>
                  <a:pt x="0" y="32"/>
                </a:moveTo>
                <a:cubicBezTo>
                  <a:pt x="102" y="89"/>
                  <a:pt x="205" y="147"/>
                  <a:pt x="280" y="144"/>
                </a:cubicBezTo>
                <a:cubicBezTo>
                  <a:pt x="355" y="141"/>
                  <a:pt x="401" y="0"/>
                  <a:pt x="448" y="16"/>
                </a:cubicBezTo>
                <a:cubicBezTo>
                  <a:pt x="495" y="32"/>
                  <a:pt x="541" y="201"/>
                  <a:pt x="560" y="240"/>
                </a:cubicBezTo>
              </a:path>
            </a:pathLst>
          </a:custGeom>
          <a:noFill/>
          <a:ln w="114300" cap="flat" cmpd="sng">
            <a:solidFill>
              <a:schemeClr val="tx2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77" name="Text Box 30"/>
          <p:cNvSpPr txBox="1">
            <a:spLocks noChangeArrowheads="1"/>
          </p:cNvSpPr>
          <p:nvPr/>
        </p:nvSpPr>
        <p:spPr bwMode="auto">
          <a:xfrm>
            <a:off x="49213" y="6575425"/>
            <a:ext cx="8853488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School of Microelectronics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371600" y="1511300"/>
            <a:ext cx="6400800" cy="2273300"/>
          </a:xfrm>
          <a:effectLst>
            <a:outerShdw dist="45791" dir="2021404" algn="ctr" rotWithShape="0">
              <a:schemeClr val="bg2"/>
            </a:outerShdw>
          </a:effectLst>
        </p:spPr>
        <p:txBody>
          <a:bodyPr/>
          <a:lstStyle>
            <a:lvl1pPr>
              <a:defRPr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7408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9400" y="4051300"/>
            <a:ext cx="6032500" cy="1003300"/>
          </a:xfrm>
        </p:spPr>
        <p:txBody>
          <a:bodyPr/>
          <a:lstStyle>
            <a:lvl1pPr marL="0" indent="0" algn="ctr">
              <a:buFontTx/>
              <a:buNone/>
              <a:defRPr sz="2800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8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9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0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p>
            <a:pPr algn="r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57950" y="152400"/>
            <a:ext cx="1924050" cy="5334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5800" y="152400"/>
            <a:ext cx="5619750" cy="53340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 hasCustomPrompt="1"/>
          </p:nvPr>
        </p:nvSpPr>
        <p:spPr>
          <a:xfrm>
            <a:off x="4610100" y="1828800"/>
            <a:ext cx="3771900" cy="1752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 hasCustomPrompt="1"/>
          </p:nvPr>
        </p:nvSpPr>
        <p:spPr>
          <a:xfrm>
            <a:off x="4610100" y="3733800"/>
            <a:ext cx="3771900" cy="1752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6858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10100" y="1828800"/>
            <a:ext cx="3771900" cy="36576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Freeform 2"/>
          <p:cNvSpPr/>
          <p:nvPr/>
        </p:nvSpPr>
        <p:spPr>
          <a:xfrm rot="-3172564">
            <a:off x="7777163" y="-14287"/>
            <a:ext cx="1162050" cy="2084387"/>
          </a:xfrm>
          <a:custGeom>
            <a:avLst/>
            <a:gdLst/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2903" h="3686">
                <a:moveTo>
                  <a:pt x="2903" y="433"/>
                </a:moveTo>
                <a:lnTo>
                  <a:pt x="2565" y="80"/>
                </a:lnTo>
                <a:lnTo>
                  <a:pt x="2241" y="0"/>
                </a:lnTo>
                <a:lnTo>
                  <a:pt x="110" y="2811"/>
                </a:lnTo>
                <a:lnTo>
                  <a:pt x="110" y="3228"/>
                </a:lnTo>
                <a:lnTo>
                  <a:pt x="0" y="3631"/>
                </a:lnTo>
                <a:lnTo>
                  <a:pt x="72" y="3686"/>
                </a:lnTo>
                <a:lnTo>
                  <a:pt x="441" y="3355"/>
                </a:lnTo>
                <a:lnTo>
                  <a:pt x="740" y="3228"/>
                </a:lnTo>
                <a:lnTo>
                  <a:pt x="2903" y="433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85800" y="152400"/>
            <a:ext cx="6870700" cy="1600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71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56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32" name="Freeform 8"/>
          <p:cNvSpPr/>
          <p:nvPr/>
        </p:nvSpPr>
        <p:spPr>
          <a:xfrm rot="-3172564">
            <a:off x="7864475" y="23813"/>
            <a:ext cx="1165225" cy="20970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911" h="3703">
                <a:moveTo>
                  <a:pt x="2293" y="0"/>
                </a:moveTo>
                <a:lnTo>
                  <a:pt x="130" y="2835"/>
                </a:lnTo>
                <a:lnTo>
                  <a:pt x="131" y="3201"/>
                </a:lnTo>
                <a:lnTo>
                  <a:pt x="0" y="3633"/>
                </a:lnTo>
                <a:lnTo>
                  <a:pt x="50" y="3703"/>
                </a:lnTo>
                <a:lnTo>
                  <a:pt x="422" y="3352"/>
                </a:lnTo>
                <a:lnTo>
                  <a:pt x="763" y="3220"/>
                </a:lnTo>
                <a:lnTo>
                  <a:pt x="2911" y="428"/>
                </a:lnTo>
                <a:lnTo>
                  <a:pt x="2589" y="96"/>
                </a:lnTo>
                <a:lnTo>
                  <a:pt x="2293" y="0"/>
                </a:lnTo>
                <a:close/>
              </a:path>
            </a:pathLst>
          </a:custGeom>
          <a:solidFill>
            <a:schemeClr val="folHlink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033" name="Freeform 9"/>
          <p:cNvSpPr/>
          <p:nvPr/>
        </p:nvSpPr>
        <p:spPr>
          <a:xfrm rot="-3172564">
            <a:off x="7831138" y="192088"/>
            <a:ext cx="1025525" cy="1571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0" y="2147483646"/>
              </a:cxn>
              <a:cxn ang="0">
                <a:pos x="0" y="2147483646"/>
              </a:cxn>
            </a:cxnLst>
            <a:pathLst>
              <a:path w="2561" h="2777">
                <a:moveTo>
                  <a:pt x="0" y="2485"/>
                </a:moveTo>
                <a:lnTo>
                  <a:pt x="432" y="2553"/>
                </a:lnTo>
                <a:lnTo>
                  <a:pt x="736" y="2777"/>
                </a:lnTo>
                <a:lnTo>
                  <a:pt x="2561" y="399"/>
                </a:lnTo>
                <a:lnTo>
                  <a:pt x="2118" y="82"/>
                </a:lnTo>
                <a:lnTo>
                  <a:pt x="1898" y="0"/>
                </a:lnTo>
                <a:lnTo>
                  <a:pt x="0" y="2485"/>
                </a:lnTo>
                <a:close/>
              </a:path>
            </a:pathLst>
          </a:custGeom>
          <a:solidFill>
            <a:schemeClr val="bg2">
              <a:alpha val="100000"/>
            </a:scheme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grpSp>
        <p:nvGrpSpPr>
          <p:cNvPr id="1034" name="Group 10"/>
          <p:cNvGrpSpPr/>
          <p:nvPr/>
        </p:nvGrpSpPr>
        <p:grpSpPr>
          <a:xfrm>
            <a:off x="7938" y="5540375"/>
            <a:ext cx="1784350" cy="1246188"/>
            <a:chOff x="5" y="3490"/>
            <a:chExt cx="1124" cy="785"/>
          </a:xfrm>
        </p:grpSpPr>
        <p:sp>
          <p:nvSpPr>
            <p:cNvPr id="1052" name="Freeform 11"/>
            <p:cNvSpPr/>
            <p:nvPr userDrawn="1"/>
          </p:nvSpPr>
          <p:spPr>
            <a:xfrm>
              <a:off x="24" y="3505"/>
              <a:ext cx="1089" cy="649"/>
            </a:xfrm>
            <a:custGeom>
              <a:avLst/>
              <a:gdLst/>
              <a:ahLst/>
              <a:cxnLst>
                <a:cxn ang="0">
                  <a:pos x="199" y="158"/>
                </a:cxn>
                <a:cxn ang="0">
                  <a:pos x="178" y="139"/>
                </a:cxn>
                <a:cxn ang="0">
                  <a:pos x="167" y="60"/>
                </a:cxn>
                <a:cxn ang="0">
                  <a:pos x="268" y="42"/>
                </a:cxn>
                <a:cxn ang="0">
                  <a:pos x="273" y="26"/>
                </a:cxn>
                <a:cxn ang="0">
                  <a:pos x="263" y="13"/>
                </a:cxn>
                <a:cxn ang="0">
                  <a:pos x="160" y="27"/>
                </a:cxn>
                <a:cxn ang="0">
                  <a:pos x="153" y="4"/>
                </a:cxn>
                <a:cxn ang="0">
                  <a:pos x="136" y="0"/>
                </a:cxn>
                <a:cxn ang="0">
                  <a:pos x="120" y="4"/>
                </a:cxn>
                <a:cxn ang="0">
                  <a:pos x="111" y="14"/>
                </a:cxn>
                <a:cxn ang="0">
                  <a:pos x="118" y="36"/>
                </a:cxn>
                <a:cxn ang="0">
                  <a:pos x="83" y="56"/>
                </a:cxn>
                <a:cxn ang="0">
                  <a:pos x="123" y="60"/>
                </a:cxn>
                <a:cxn ang="0">
                  <a:pos x="139" y="112"/>
                </a:cxn>
                <a:cxn ang="0">
                  <a:pos x="18" y="59"/>
                </a:cxn>
                <a:cxn ang="0">
                  <a:pos x="6" y="64"/>
                </a:cxn>
                <a:cxn ang="0">
                  <a:pos x="0" y="80"/>
                </a:cxn>
                <a:cxn ang="0">
                  <a:pos x="7" y="98"/>
                </a:cxn>
                <a:cxn ang="0">
                  <a:pos x="143" y="161"/>
                </a:cxn>
                <a:cxn ang="0">
                  <a:pos x="173" y="157"/>
                </a:cxn>
                <a:cxn ang="0">
                  <a:pos x="197" y="163"/>
                </a:cxn>
                <a:cxn ang="0">
                  <a:pos x="199" y="158"/>
                </a:cxn>
                <a:cxn ang="0">
                  <a:pos x="199" y="158"/>
                </a:cxn>
              </a:cxnLst>
              <a:pathLst>
                <a:path w="2177" h="1298">
                  <a:moveTo>
                    <a:pt x="1587" y="1260"/>
                  </a:moveTo>
                  <a:lnTo>
                    <a:pt x="1420" y="1106"/>
                  </a:lnTo>
                  <a:lnTo>
                    <a:pt x="1331" y="477"/>
                  </a:lnTo>
                  <a:lnTo>
                    <a:pt x="2139" y="330"/>
                  </a:lnTo>
                  <a:lnTo>
                    <a:pt x="2177" y="203"/>
                  </a:lnTo>
                  <a:lnTo>
                    <a:pt x="2099" y="100"/>
                  </a:lnTo>
                  <a:lnTo>
                    <a:pt x="1276" y="211"/>
                  </a:lnTo>
                  <a:lnTo>
                    <a:pt x="1219" y="32"/>
                  </a:lnTo>
                  <a:lnTo>
                    <a:pt x="1085" y="0"/>
                  </a:lnTo>
                  <a:lnTo>
                    <a:pt x="958" y="28"/>
                  </a:lnTo>
                  <a:lnTo>
                    <a:pt x="888" y="106"/>
                  </a:lnTo>
                  <a:lnTo>
                    <a:pt x="937" y="285"/>
                  </a:lnTo>
                  <a:lnTo>
                    <a:pt x="660" y="441"/>
                  </a:lnTo>
                  <a:lnTo>
                    <a:pt x="983" y="473"/>
                  </a:lnTo>
                  <a:lnTo>
                    <a:pt x="1112" y="889"/>
                  </a:lnTo>
                  <a:lnTo>
                    <a:pt x="141" y="469"/>
                  </a:lnTo>
                  <a:lnTo>
                    <a:pt x="46" y="509"/>
                  </a:lnTo>
                  <a:lnTo>
                    <a:pt x="0" y="636"/>
                  </a:lnTo>
                  <a:lnTo>
                    <a:pt x="55" y="779"/>
                  </a:lnTo>
                  <a:lnTo>
                    <a:pt x="1139" y="1288"/>
                  </a:lnTo>
                  <a:lnTo>
                    <a:pt x="1378" y="1256"/>
                  </a:lnTo>
                  <a:lnTo>
                    <a:pt x="1570" y="1298"/>
                  </a:lnTo>
                  <a:lnTo>
                    <a:pt x="1587" y="1260"/>
                  </a:lnTo>
                  <a:close/>
                </a:path>
              </a:pathLst>
            </a:custGeom>
            <a:solidFill>
              <a:srgbClr val="F8F8F8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3" name="Freeform 12"/>
            <p:cNvSpPr/>
            <p:nvPr userDrawn="1"/>
          </p:nvSpPr>
          <p:spPr>
            <a:xfrm>
              <a:off x="1022" y="3582"/>
              <a:ext cx="71" cy="12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5" y="0"/>
                </a:cxn>
                <a:cxn ang="0">
                  <a:pos x="17" y="30"/>
                </a:cxn>
                <a:cxn ang="0">
                  <a:pos x="1" y="33"/>
                </a:cxn>
                <a:cxn ang="0">
                  <a:pos x="0" y="1"/>
                </a:cxn>
                <a:cxn ang="0">
                  <a:pos x="0" y="1"/>
                </a:cxn>
              </a:cxnLst>
              <a:pathLst>
                <a:path w="143" h="258">
                  <a:moveTo>
                    <a:pt x="0" y="7"/>
                  </a:moveTo>
                  <a:lnTo>
                    <a:pt x="120" y="0"/>
                  </a:lnTo>
                  <a:lnTo>
                    <a:pt x="143" y="233"/>
                  </a:lnTo>
                  <a:lnTo>
                    <a:pt x="8" y="258"/>
                  </a:lnTo>
                  <a:lnTo>
                    <a:pt x="0" y="7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4" name="Freeform 13"/>
            <p:cNvSpPr/>
            <p:nvPr userDrawn="1"/>
          </p:nvSpPr>
          <p:spPr>
            <a:xfrm>
              <a:off x="20" y="3774"/>
              <a:ext cx="792" cy="410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166" y="64"/>
                </a:cxn>
                <a:cxn ang="0">
                  <a:pos x="178" y="79"/>
                </a:cxn>
                <a:cxn ang="0">
                  <a:pos x="198" y="99"/>
                </a:cxn>
                <a:cxn ang="0">
                  <a:pos x="195" y="102"/>
                </a:cxn>
                <a:cxn ang="0">
                  <a:pos x="168" y="98"/>
                </a:cxn>
                <a:cxn ang="0">
                  <a:pos x="143" y="101"/>
                </a:cxn>
                <a:cxn ang="0">
                  <a:pos x="5" y="37"/>
                </a:cxn>
                <a:cxn ang="0">
                  <a:pos x="0" y="18"/>
                </a:cxn>
                <a:cxn ang="0">
                  <a:pos x="5" y="4"/>
                </a:cxn>
                <a:cxn ang="0">
                  <a:pos x="17" y="0"/>
                </a:cxn>
                <a:cxn ang="0">
                  <a:pos x="17" y="0"/>
                </a:cxn>
              </a:cxnLst>
              <a:pathLst>
                <a:path w="1586" h="821">
                  <a:moveTo>
                    <a:pt x="137" y="0"/>
                  </a:moveTo>
                  <a:lnTo>
                    <a:pt x="1331" y="519"/>
                  </a:lnTo>
                  <a:lnTo>
                    <a:pt x="1428" y="638"/>
                  </a:lnTo>
                  <a:lnTo>
                    <a:pt x="1586" y="792"/>
                  </a:lnTo>
                  <a:lnTo>
                    <a:pt x="1565" y="821"/>
                  </a:lnTo>
                  <a:lnTo>
                    <a:pt x="1350" y="787"/>
                  </a:lnTo>
                  <a:lnTo>
                    <a:pt x="1145" y="811"/>
                  </a:lnTo>
                  <a:lnTo>
                    <a:pt x="42" y="298"/>
                  </a:lnTo>
                  <a:lnTo>
                    <a:pt x="0" y="150"/>
                  </a:lnTo>
                  <a:lnTo>
                    <a:pt x="46" y="32"/>
                  </a:lnTo>
                  <a:lnTo>
                    <a:pt x="137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5" name="Freeform 14"/>
            <p:cNvSpPr/>
            <p:nvPr userDrawn="1"/>
          </p:nvSpPr>
          <p:spPr>
            <a:xfrm>
              <a:off x="129" y="3808"/>
              <a:ext cx="525" cy="374"/>
            </a:xfrm>
            <a:custGeom>
              <a:avLst/>
              <a:gdLst/>
              <a:ahLst/>
              <a:cxnLst>
                <a:cxn ang="0">
                  <a:pos x="0" y="41"/>
                </a:cxn>
                <a:cxn ang="0">
                  <a:pos x="116" y="94"/>
                </a:cxn>
                <a:cxn ang="0">
                  <a:pos x="118" y="67"/>
                </a:cxn>
                <a:cxn ang="0">
                  <a:pos x="132" y="53"/>
                </a:cxn>
                <a:cxn ang="0">
                  <a:pos x="10" y="0"/>
                </a:cxn>
                <a:cxn ang="0">
                  <a:pos x="0" y="16"/>
                </a:cxn>
                <a:cxn ang="0">
                  <a:pos x="0" y="41"/>
                </a:cxn>
                <a:cxn ang="0">
                  <a:pos x="0" y="41"/>
                </a:cxn>
              </a:cxnLst>
              <a:pathLst>
                <a:path w="1049" h="747">
                  <a:moveTo>
                    <a:pt x="0" y="325"/>
                  </a:moveTo>
                  <a:lnTo>
                    <a:pt x="922" y="747"/>
                  </a:lnTo>
                  <a:lnTo>
                    <a:pt x="939" y="534"/>
                  </a:lnTo>
                  <a:lnTo>
                    <a:pt x="1049" y="422"/>
                  </a:lnTo>
                  <a:lnTo>
                    <a:pt x="78" y="0"/>
                  </a:lnTo>
                  <a:lnTo>
                    <a:pt x="0" y="127"/>
                  </a:lnTo>
                  <a:lnTo>
                    <a:pt x="0" y="325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6" name="Freeform 15"/>
            <p:cNvSpPr/>
            <p:nvPr userDrawn="1"/>
          </p:nvSpPr>
          <p:spPr>
            <a:xfrm>
              <a:off x="485" y="3532"/>
              <a:ext cx="135" cy="121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19" y="0"/>
                </a:cxn>
                <a:cxn ang="0">
                  <a:pos x="31" y="5"/>
                </a:cxn>
                <a:cxn ang="0">
                  <a:pos x="33" y="18"/>
                </a:cxn>
                <a:cxn ang="0">
                  <a:pos x="20" y="19"/>
                </a:cxn>
                <a:cxn ang="0">
                  <a:pos x="4" y="31"/>
                </a:cxn>
                <a:cxn ang="0">
                  <a:pos x="0" y="4"/>
                </a:cxn>
                <a:cxn ang="0">
                  <a:pos x="0" y="4"/>
                </a:cxn>
              </a:cxnLst>
              <a:pathLst>
                <a:path w="272" h="241">
                  <a:moveTo>
                    <a:pt x="0" y="28"/>
                  </a:moveTo>
                  <a:lnTo>
                    <a:pt x="160" y="0"/>
                  </a:lnTo>
                  <a:lnTo>
                    <a:pt x="251" y="36"/>
                  </a:lnTo>
                  <a:lnTo>
                    <a:pt x="272" y="139"/>
                  </a:lnTo>
                  <a:lnTo>
                    <a:pt x="164" y="146"/>
                  </a:lnTo>
                  <a:lnTo>
                    <a:pt x="32" y="24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7" name="Freeform 16"/>
            <p:cNvSpPr/>
            <p:nvPr userDrawn="1"/>
          </p:nvSpPr>
          <p:spPr>
            <a:xfrm>
              <a:off x="641" y="4163"/>
              <a:ext cx="76" cy="112"/>
            </a:xfrm>
            <a:custGeom>
              <a:avLst/>
              <a:gdLst/>
              <a:ahLst/>
              <a:cxnLst>
                <a:cxn ang="0">
                  <a:pos x="19" y="1"/>
                </a:cxn>
                <a:cxn ang="0">
                  <a:pos x="19" y="28"/>
                </a:cxn>
                <a:cxn ang="0">
                  <a:pos x="0" y="1"/>
                </a:cxn>
                <a:cxn ang="0">
                  <a:pos x="9" y="0"/>
                </a:cxn>
                <a:cxn ang="0">
                  <a:pos x="19" y="1"/>
                </a:cxn>
                <a:cxn ang="0">
                  <a:pos x="19" y="1"/>
                </a:cxn>
              </a:cxnLst>
              <a:pathLst>
                <a:path w="152" h="224">
                  <a:moveTo>
                    <a:pt x="152" y="4"/>
                  </a:moveTo>
                  <a:lnTo>
                    <a:pt x="152" y="224"/>
                  </a:lnTo>
                  <a:lnTo>
                    <a:pt x="0" y="8"/>
                  </a:lnTo>
                  <a:lnTo>
                    <a:pt x="72" y="0"/>
                  </a:lnTo>
                  <a:lnTo>
                    <a:pt x="152" y="4"/>
                  </a:lnTo>
                  <a:close/>
                </a:path>
              </a:pathLst>
            </a:custGeom>
            <a:solidFill>
              <a:schemeClr val="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8" name="Freeform 17"/>
            <p:cNvSpPr/>
            <p:nvPr userDrawn="1"/>
          </p:nvSpPr>
          <p:spPr>
            <a:xfrm>
              <a:off x="504" y="3607"/>
              <a:ext cx="193" cy="383"/>
            </a:xfrm>
            <a:custGeom>
              <a:avLst/>
              <a:gdLst/>
              <a:ahLst/>
              <a:cxnLst>
                <a:cxn ang="0">
                  <a:pos x="0" y="10"/>
                </a:cxn>
                <a:cxn ang="0">
                  <a:pos x="11" y="0"/>
                </a:cxn>
                <a:cxn ang="0">
                  <a:pos x="29" y="1"/>
                </a:cxn>
                <a:cxn ang="0">
                  <a:pos x="49" y="96"/>
                </a:cxn>
                <a:cxn ang="0">
                  <a:pos x="35" y="91"/>
                </a:cxn>
                <a:cxn ang="0">
                  <a:pos x="19" y="85"/>
                </a:cxn>
                <a:cxn ang="0">
                  <a:pos x="0" y="10"/>
                </a:cxn>
                <a:cxn ang="0">
                  <a:pos x="0" y="10"/>
                </a:cxn>
              </a:cxnLst>
              <a:pathLst>
                <a:path w="386" h="764">
                  <a:moveTo>
                    <a:pt x="0" y="80"/>
                  </a:moveTo>
                  <a:lnTo>
                    <a:pt x="87" y="0"/>
                  </a:lnTo>
                  <a:lnTo>
                    <a:pt x="232" y="6"/>
                  </a:lnTo>
                  <a:lnTo>
                    <a:pt x="386" y="764"/>
                  </a:lnTo>
                  <a:lnTo>
                    <a:pt x="279" y="720"/>
                  </a:lnTo>
                  <a:lnTo>
                    <a:pt x="152" y="677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9" name="Freeform 18"/>
            <p:cNvSpPr/>
            <p:nvPr userDrawn="1"/>
          </p:nvSpPr>
          <p:spPr>
            <a:xfrm>
              <a:off x="668" y="3590"/>
              <a:ext cx="364" cy="174"/>
            </a:xfrm>
            <a:custGeom>
              <a:avLst/>
              <a:gdLst/>
              <a:ahLst/>
              <a:cxnLst>
                <a:cxn ang="0">
                  <a:pos x="87" y="0"/>
                </a:cxn>
                <a:cxn ang="0">
                  <a:pos x="0" y="14"/>
                </a:cxn>
                <a:cxn ang="0">
                  <a:pos x="4" y="44"/>
                </a:cxn>
                <a:cxn ang="0">
                  <a:pos x="90" y="30"/>
                </a:cxn>
                <a:cxn ang="0">
                  <a:pos x="91" y="6"/>
                </a:cxn>
                <a:cxn ang="0">
                  <a:pos x="87" y="0"/>
                </a:cxn>
                <a:cxn ang="0">
                  <a:pos x="87" y="0"/>
                </a:cxn>
              </a:cxnLst>
              <a:pathLst>
                <a:path w="728" h="348">
                  <a:moveTo>
                    <a:pt x="692" y="0"/>
                  </a:moveTo>
                  <a:lnTo>
                    <a:pt x="0" y="106"/>
                  </a:lnTo>
                  <a:lnTo>
                    <a:pt x="28" y="348"/>
                  </a:lnTo>
                  <a:lnTo>
                    <a:pt x="715" y="237"/>
                  </a:lnTo>
                  <a:lnTo>
                    <a:pt x="728" y="43"/>
                  </a:lnTo>
                  <a:lnTo>
                    <a:pt x="692" y="0"/>
                  </a:lnTo>
                  <a:close/>
                </a:path>
              </a:pathLst>
            </a:custGeom>
            <a:solidFill>
              <a:schemeClr val="bg2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60" name="Freeform 19"/>
            <p:cNvSpPr/>
            <p:nvPr userDrawn="1"/>
          </p:nvSpPr>
          <p:spPr>
            <a:xfrm>
              <a:off x="347" y="3693"/>
              <a:ext cx="156" cy="67"/>
            </a:xfrm>
            <a:custGeom>
              <a:avLst/>
              <a:gdLst/>
              <a:ahLst/>
              <a:cxnLst>
                <a:cxn ang="0">
                  <a:pos x="34" y="0"/>
                </a:cxn>
                <a:cxn ang="0">
                  <a:pos x="0" y="9"/>
                </a:cxn>
                <a:cxn ang="0">
                  <a:pos x="39" y="16"/>
                </a:cxn>
                <a:cxn ang="0">
                  <a:pos x="34" y="0"/>
                </a:cxn>
                <a:cxn ang="0">
                  <a:pos x="34" y="0"/>
                </a:cxn>
              </a:cxnLst>
              <a:pathLst>
                <a:path w="312" h="135">
                  <a:moveTo>
                    <a:pt x="272" y="0"/>
                  </a:moveTo>
                  <a:lnTo>
                    <a:pt x="0" y="78"/>
                  </a:lnTo>
                  <a:lnTo>
                    <a:pt x="312" y="135"/>
                  </a:lnTo>
                  <a:lnTo>
                    <a:pt x="272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1061" name="Group 20"/>
            <p:cNvGrpSpPr/>
            <p:nvPr userDrawn="1"/>
          </p:nvGrpSpPr>
          <p:grpSpPr>
            <a:xfrm>
              <a:off x="5" y="3490"/>
              <a:ext cx="1124" cy="780"/>
              <a:chOff x="5" y="3490"/>
              <a:chExt cx="1124" cy="780"/>
            </a:xfrm>
          </p:grpSpPr>
          <p:grpSp>
            <p:nvGrpSpPr>
              <p:cNvPr id="1062" name="Group 21"/>
              <p:cNvGrpSpPr/>
              <p:nvPr userDrawn="1"/>
            </p:nvGrpSpPr>
            <p:grpSpPr>
              <a:xfrm>
                <a:off x="499" y="3562"/>
                <a:ext cx="548" cy="708"/>
                <a:chOff x="499" y="3562"/>
                <a:chExt cx="548" cy="708"/>
              </a:xfrm>
            </p:grpSpPr>
            <p:sp>
              <p:nvSpPr>
                <p:cNvPr id="1075" name="Freeform 22"/>
                <p:cNvSpPr/>
                <p:nvPr userDrawn="1"/>
              </p:nvSpPr>
              <p:spPr>
                <a:xfrm>
                  <a:off x="499" y="3587"/>
                  <a:ext cx="157" cy="87"/>
                </a:xfrm>
                <a:custGeom>
                  <a:avLst/>
                  <a:gdLst/>
                  <a:ahLst/>
                  <a:cxnLst>
                    <a:cxn ang="0">
                      <a:pos x="0" y="13"/>
                    </a:cxn>
                    <a:cxn ang="0">
                      <a:pos x="15" y="1"/>
                    </a:cxn>
                    <a:cxn ang="0">
                      <a:pos x="27" y="0"/>
                    </a:cxn>
                    <a:cxn ang="0">
                      <a:pos x="37" y="3"/>
                    </a:cxn>
                    <a:cxn ang="0">
                      <a:pos x="40" y="11"/>
                    </a:cxn>
                    <a:cxn ang="0">
                      <a:pos x="21" y="8"/>
                    </a:cxn>
                    <a:cxn ang="0">
                      <a:pos x="10" y="12"/>
                    </a:cxn>
                    <a:cxn ang="0">
                      <a:pos x="2" y="21"/>
                    </a:cxn>
                    <a:cxn ang="0">
                      <a:pos x="0" y="13"/>
                    </a:cxn>
                    <a:cxn ang="0">
                      <a:pos x="0" y="13"/>
                    </a:cxn>
                  </a:cxnLst>
                  <a:pathLst>
                    <a:path w="313" h="175">
                      <a:moveTo>
                        <a:pt x="0" y="107"/>
                      </a:moveTo>
                      <a:lnTo>
                        <a:pt x="114" y="10"/>
                      </a:lnTo>
                      <a:lnTo>
                        <a:pt x="213" y="0"/>
                      </a:lnTo>
                      <a:lnTo>
                        <a:pt x="292" y="27"/>
                      </a:lnTo>
                      <a:lnTo>
                        <a:pt x="313" y="91"/>
                      </a:lnTo>
                      <a:lnTo>
                        <a:pt x="167" y="67"/>
                      </a:lnTo>
                      <a:lnTo>
                        <a:pt x="74" y="101"/>
                      </a:lnTo>
                      <a:lnTo>
                        <a:pt x="13" y="175"/>
                      </a:lnTo>
                      <a:lnTo>
                        <a:pt x="0" y="10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6" name="Freeform 23"/>
                <p:cNvSpPr/>
                <p:nvPr userDrawn="1"/>
              </p:nvSpPr>
              <p:spPr>
                <a:xfrm>
                  <a:off x="636" y="4137"/>
                  <a:ext cx="115" cy="133"/>
                </a:xfrm>
                <a:custGeom>
                  <a:avLst/>
                  <a:gdLst/>
                  <a:ahLst/>
                  <a:cxnLst>
                    <a:cxn ang="0">
                      <a:pos x="0" y="5"/>
                    </a:cxn>
                    <a:cxn ang="0">
                      <a:pos x="20" y="34"/>
                    </a:cxn>
                    <a:cxn ang="0">
                      <a:pos x="29" y="32"/>
                    </a:cxn>
                    <a:cxn ang="0">
                      <a:pos x="28" y="3"/>
                    </a:cxn>
                    <a:cxn ang="0">
                      <a:pos x="21" y="0"/>
                    </a:cxn>
                    <a:cxn ang="0">
                      <a:pos x="23" y="25"/>
                    </a:cxn>
                    <a:cxn ang="0">
                      <a:pos x="9" y="1"/>
                    </a:cxn>
                    <a:cxn ang="0">
                      <a:pos x="0" y="5"/>
                    </a:cxn>
                    <a:cxn ang="0">
                      <a:pos x="0" y="5"/>
                    </a:cxn>
                  </a:cxnLst>
                  <a:pathLst>
                    <a:path w="230" h="266">
                      <a:moveTo>
                        <a:pt x="0" y="40"/>
                      </a:moveTo>
                      <a:lnTo>
                        <a:pt x="160" y="266"/>
                      </a:lnTo>
                      <a:lnTo>
                        <a:pt x="230" y="251"/>
                      </a:lnTo>
                      <a:lnTo>
                        <a:pt x="223" y="17"/>
                      </a:lnTo>
                      <a:lnTo>
                        <a:pt x="166" y="0"/>
                      </a:lnTo>
                      <a:lnTo>
                        <a:pt x="179" y="197"/>
                      </a:lnTo>
                      <a:lnTo>
                        <a:pt x="71" y="4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7" name="Freeform 24"/>
                <p:cNvSpPr/>
                <p:nvPr userDrawn="1"/>
              </p:nvSpPr>
              <p:spPr>
                <a:xfrm>
                  <a:off x="1004" y="3562"/>
                  <a:ext cx="43" cy="117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4" y="12"/>
                    </a:cxn>
                    <a:cxn ang="0">
                      <a:pos x="5" y="20"/>
                    </a:cxn>
                    <a:cxn ang="0">
                      <a:pos x="3" y="30"/>
                    </a:cxn>
                    <a:cxn ang="0">
                      <a:pos x="10" y="28"/>
                    </a:cxn>
                    <a:cxn ang="0">
                      <a:pos x="10" y="15"/>
                    </a:cxn>
                    <a:cxn ang="0">
                      <a:pos x="5" y="0"/>
                    </a:cxn>
                    <a:cxn ang="0">
                      <a:pos x="0" y="3"/>
                    </a:cxn>
                    <a:cxn ang="0">
                      <a:pos x="0" y="3"/>
                    </a:cxn>
                  </a:cxnLst>
                  <a:pathLst>
                    <a:path w="87" h="234">
                      <a:moveTo>
                        <a:pt x="0" y="19"/>
                      </a:moveTo>
                      <a:lnTo>
                        <a:pt x="36" y="93"/>
                      </a:lnTo>
                      <a:lnTo>
                        <a:pt x="44" y="154"/>
                      </a:lnTo>
                      <a:lnTo>
                        <a:pt x="27" y="234"/>
                      </a:lnTo>
                      <a:lnTo>
                        <a:pt x="80" y="220"/>
                      </a:lnTo>
                      <a:lnTo>
                        <a:pt x="87" y="116"/>
                      </a:lnTo>
                      <a:lnTo>
                        <a:pt x="46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1063" name="Freeform 25"/>
              <p:cNvSpPr/>
              <p:nvPr userDrawn="1"/>
            </p:nvSpPr>
            <p:spPr>
              <a:xfrm>
                <a:off x="76" y="3732"/>
                <a:ext cx="595" cy="250"/>
              </a:xfrm>
              <a:custGeom>
                <a:avLst/>
                <a:gdLst/>
                <a:ahLst/>
                <a:cxnLst>
                  <a:cxn ang="0">
                    <a:pos x="13" y="0"/>
                  </a:cxn>
                  <a:cxn ang="0">
                    <a:pos x="149" y="62"/>
                  </a:cxn>
                  <a:cxn ang="0">
                    <a:pos x="135" y="63"/>
                  </a:cxn>
                  <a:cxn ang="0">
                    <a:pos x="0" y="4"/>
                  </a:cxn>
                  <a:cxn ang="0">
                    <a:pos x="13" y="0"/>
                  </a:cxn>
                  <a:cxn ang="0">
                    <a:pos x="13" y="0"/>
                  </a:cxn>
                </a:cxnLst>
                <a:pathLst>
                  <a:path w="1190" h="500">
                    <a:moveTo>
                      <a:pt x="100" y="0"/>
                    </a:moveTo>
                    <a:lnTo>
                      <a:pt x="1190" y="490"/>
                    </a:lnTo>
                    <a:lnTo>
                      <a:pt x="1076" y="500"/>
                    </a:lnTo>
                    <a:lnTo>
                      <a:pt x="0" y="27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4" name="Freeform 26"/>
              <p:cNvSpPr/>
              <p:nvPr userDrawn="1"/>
            </p:nvSpPr>
            <p:spPr>
              <a:xfrm>
                <a:off x="260" y="3886"/>
                <a:ext cx="244" cy="148"/>
              </a:xfrm>
              <a:custGeom>
                <a:avLst/>
                <a:gdLst/>
                <a:ahLst/>
                <a:cxnLst>
                  <a:cxn ang="0">
                    <a:pos x="1" y="5"/>
                  </a:cxn>
                  <a:cxn ang="0">
                    <a:pos x="20" y="9"/>
                  </a:cxn>
                  <a:cxn ang="0">
                    <a:pos x="40" y="18"/>
                  </a:cxn>
                  <a:cxn ang="0">
                    <a:pos x="55" y="31"/>
                  </a:cxn>
                  <a:cxn ang="0">
                    <a:pos x="40" y="29"/>
                  </a:cxn>
                  <a:cxn ang="0">
                    <a:pos x="17" y="19"/>
                  </a:cxn>
                  <a:cxn ang="0">
                    <a:pos x="6" y="10"/>
                  </a:cxn>
                  <a:cxn ang="0">
                    <a:pos x="13" y="21"/>
                  </a:cxn>
                  <a:cxn ang="0">
                    <a:pos x="34" y="34"/>
                  </a:cxn>
                  <a:cxn ang="0">
                    <a:pos x="58" y="37"/>
                  </a:cxn>
                  <a:cxn ang="0">
                    <a:pos x="61" y="28"/>
                  </a:cxn>
                  <a:cxn ang="0">
                    <a:pos x="49" y="15"/>
                  </a:cxn>
                  <a:cxn ang="0">
                    <a:pos x="21" y="3"/>
                  </a:cxn>
                  <a:cxn ang="0">
                    <a:pos x="0" y="0"/>
                  </a:cxn>
                  <a:cxn ang="0">
                    <a:pos x="1" y="5"/>
                  </a:cxn>
                  <a:cxn ang="0">
                    <a:pos x="1" y="5"/>
                  </a:cxn>
                </a:cxnLst>
                <a:pathLst>
                  <a:path w="489" h="296">
                    <a:moveTo>
                      <a:pt x="14" y="34"/>
                    </a:moveTo>
                    <a:lnTo>
                      <a:pt x="160" y="66"/>
                    </a:lnTo>
                    <a:lnTo>
                      <a:pt x="324" y="137"/>
                    </a:lnTo>
                    <a:lnTo>
                      <a:pt x="440" y="243"/>
                    </a:lnTo>
                    <a:lnTo>
                      <a:pt x="326" y="230"/>
                    </a:lnTo>
                    <a:lnTo>
                      <a:pt x="139" y="146"/>
                    </a:lnTo>
                    <a:lnTo>
                      <a:pt x="50" y="80"/>
                    </a:lnTo>
                    <a:lnTo>
                      <a:pt x="107" y="163"/>
                    </a:lnTo>
                    <a:lnTo>
                      <a:pt x="272" y="270"/>
                    </a:lnTo>
                    <a:lnTo>
                      <a:pt x="466" y="296"/>
                    </a:lnTo>
                    <a:lnTo>
                      <a:pt x="489" y="224"/>
                    </a:lnTo>
                    <a:lnTo>
                      <a:pt x="394" y="120"/>
                    </a:lnTo>
                    <a:lnTo>
                      <a:pt x="170" y="17"/>
                    </a:lnTo>
                    <a:lnTo>
                      <a:pt x="0" y="0"/>
                    </a:lnTo>
                    <a:lnTo>
                      <a:pt x="14" y="34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065" name="Freeform 27"/>
              <p:cNvSpPr/>
              <p:nvPr userDrawn="1"/>
            </p:nvSpPr>
            <p:spPr>
              <a:xfrm>
                <a:off x="565" y="3680"/>
                <a:ext cx="107" cy="238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12" y="3"/>
                  </a:cxn>
                  <a:cxn ang="0">
                    <a:pos x="10" y="24"/>
                  </a:cxn>
                  <a:cxn ang="0">
                    <a:pos x="14" y="40"/>
                  </a:cxn>
                  <a:cxn ang="0">
                    <a:pos x="27" y="56"/>
                  </a:cxn>
                  <a:cxn ang="0">
                    <a:pos x="13" y="59"/>
                  </a:cxn>
                  <a:cxn ang="0">
                    <a:pos x="4" y="42"/>
                  </a:cxn>
                  <a:cxn ang="0">
                    <a:pos x="0" y="7"/>
                  </a:cxn>
                  <a:cxn ang="0">
                    <a:pos x="3" y="0"/>
                  </a:cxn>
                  <a:cxn ang="0">
                    <a:pos x="3" y="0"/>
                  </a:cxn>
                </a:cxnLst>
                <a:pathLst>
                  <a:path w="213" h="478">
                    <a:moveTo>
                      <a:pt x="24" y="0"/>
                    </a:moveTo>
                    <a:lnTo>
                      <a:pt x="91" y="25"/>
                    </a:lnTo>
                    <a:lnTo>
                      <a:pt x="80" y="192"/>
                    </a:lnTo>
                    <a:lnTo>
                      <a:pt x="106" y="327"/>
                    </a:lnTo>
                    <a:lnTo>
                      <a:pt x="213" y="451"/>
                    </a:lnTo>
                    <a:lnTo>
                      <a:pt x="97" y="478"/>
                    </a:lnTo>
                    <a:lnTo>
                      <a:pt x="30" y="344"/>
                    </a:lnTo>
                    <a:lnTo>
                      <a:pt x="0" y="57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66" name="Group 28"/>
              <p:cNvGrpSpPr/>
              <p:nvPr userDrawn="1"/>
            </p:nvGrpSpPr>
            <p:grpSpPr>
              <a:xfrm>
                <a:off x="5" y="3490"/>
                <a:ext cx="1124" cy="678"/>
                <a:chOff x="5" y="3490"/>
                <a:chExt cx="1124" cy="678"/>
              </a:xfrm>
            </p:grpSpPr>
            <p:sp>
              <p:nvSpPr>
                <p:cNvPr id="1067" name="Freeform 29"/>
                <p:cNvSpPr/>
                <p:nvPr userDrawn="1"/>
              </p:nvSpPr>
              <p:spPr>
                <a:xfrm>
                  <a:off x="669" y="4048"/>
                  <a:ext cx="75" cy="87"/>
                </a:xfrm>
                <a:custGeom>
                  <a:avLst/>
                  <a:gdLst/>
                  <a:ahLst/>
                  <a:cxnLst>
                    <a:cxn ang="0">
                      <a:pos x="14" y="0"/>
                    </a:cxn>
                    <a:cxn ang="0">
                      <a:pos x="5" y="9"/>
                    </a:cxn>
                    <a:cxn ang="0">
                      <a:pos x="0" y="22"/>
                    </a:cxn>
                    <a:cxn ang="0">
                      <a:pos x="10" y="20"/>
                    </a:cxn>
                    <a:cxn ang="0">
                      <a:pos x="13" y="11"/>
                    </a:cxn>
                    <a:cxn ang="0">
                      <a:pos x="19" y="4"/>
                    </a:cxn>
                    <a:cxn ang="0">
                      <a:pos x="14" y="0"/>
                    </a:cxn>
                    <a:cxn ang="0">
                      <a:pos x="14" y="0"/>
                    </a:cxn>
                  </a:cxnLst>
                  <a:pathLst>
                    <a:path w="150" h="173">
                      <a:moveTo>
                        <a:pt x="110" y="0"/>
                      </a:moveTo>
                      <a:lnTo>
                        <a:pt x="40" y="66"/>
                      </a:lnTo>
                      <a:lnTo>
                        <a:pt x="0" y="173"/>
                      </a:lnTo>
                      <a:lnTo>
                        <a:pt x="80" y="160"/>
                      </a:lnTo>
                      <a:lnTo>
                        <a:pt x="103" y="84"/>
                      </a:lnTo>
                      <a:lnTo>
                        <a:pt x="150" y="27"/>
                      </a:lnTo>
                      <a:lnTo>
                        <a:pt x="11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8" name="Freeform 30"/>
                <p:cNvSpPr/>
                <p:nvPr userDrawn="1"/>
              </p:nvSpPr>
              <p:spPr>
                <a:xfrm>
                  <a:off x="5" y="3728"/>
                  <a:ext cx="842" cy="440"/>
                </a:xfrm>
                <a:custGeom>
                  <a:avLst/>
                  <a:gdLst/>
                  <a:ahLst/>
                  <a:cxnLst>
                    <a:cxn ang="0">
                      <a:pos x="20" y="0"/>
                    </a:cxn>
                    <a:cxn ang="0">
                      <a:pos x="8" y="7"/>
                    </a:cxn>
                    <a:cxn ang="0">
                      <a:pos x="0" y="26"/>
                    </a:cxn>
                    <a:cxn ang="0">
                      <a:pos x="9" y="45"/>
                    </a:cxn>
                    <a:cxn ang="0">
                      <a:pos x="148" y="109"/>
                    </a:cxn>
                    <a:cxn ang="0">
                      <a:pos x="178" y="105"/>
                    </a:cxn>
                    <a:cxn ang="0">
                      <a:pos x="202" y="110"/>
                    </a:cxn>
                    <a:cxn ang="0">
                      <a:pos x="211" y="101"/>
                    </a:cxn>
                    <a:cxn ang="0">
                      <a:pos x="188" y="83"/>
                    </a:cxn>
                    <a:cxn ang="0">
                      <a:pos x="179" y="64"/>
                    </a:cxn>
                    <a:cxn ang="0">
                      <a:pos x="172" y="66"/>
                    </a:cxn>
                    <a:cxn ang="0">
                      <a:pos x="180" y="83"/>
                    </a:cxn>
                    <a:cxn ang="0">
                      <a:pos x="198" y="102"/>
                    </a:cxn>
                    <a:cxn ang="0">
                      <a:pos x="177" y="99"/>
                    </a:cxn>
                    <a:cxn ang="0">
                      <a:pos x="153" y="102"/>
                    </a:cxn>
                    <a:cxn ang="0">
                      <a:pos x="157" y="82"/>
                    </a:cxn>
                    <a:cxn ang="0">
                      <a:pos x="168" y="68"/>
                    </a:cxn>
                    <a:cxn ang="0">
                      <a:pos x="156" y="69"/>
                    </a:cxn>
                    <a:cxn ang="0">
                      <a:pos x="146" y="83"/>
                    </a:cxn>
                    <a:cxn ang="0">
                      <a:pos x="143" y="99"/>
                    </a:cxn>
                    <a:cxn ang="0">
                      <a:pos x="14" y="39"/>
                    </a:cxn>
                    <a:cxn ang="0">
                      <a:pos x="10" y="27"/>
                    </a:cxn>
                    <a:cxn ang="0">
                      <a:pos x="13" y="12"/>
                    </a:cxn>
                    <a:cxn ang="0">
                      <a:pos x="28" y="0"/>
                    </a:cxn>
                    <a:cxn ang="0">
                      <a:pos x="20" y="0"/>
                    </a:cxn>
                    <a:cxn ang="0">
                      <a:pos x="20" y="0"/>
                    </a:cxn>
                  </a:cxnLst>
                  <a:pathLst>
                    <a:path w="1684" h="880">
                      <a:moveTo>
                        <a:pt x="156" y="0"/>
                      </a:moveTo>
                      <a:lnTo>
                        <a:pt x="63" y="52"/>
                      </a:lnTo>
                      <a:lnTo>
                        <a:pt x="0" y="208"/>
                      </a:lnTo>
                      <a:lnTo>
                        <a:pt x="67" y="358"/>
                      </a:lnTo>
                      <a:lnTo>
                        <a:pt x="1182" y="867"/>
                      </a:lnTo>
                      <a:lnTo>
                        <a:pt x="1422" y="835"/>
                      </a:lnTo>
                      <a:lnTo>
                        <a:pt x="1616" y="880"/>
                      </a:lnTo>
                      <a:lnTo>
                        <a:pt x="1684" y="808"/>
                      </a:lnTo>
                      <a:lnTo>
                        <a:pt x="1502" y="664"/>
                      </a:lnTo>
                      <a:lnTo>
                        <a:pt x="1428" y="512"/>
                      </a:lnTo>
                      <a:lnTo>
                        <a:pt x="1369" y="527"/>
                      </a:lnTo>
                      <a:lnTo>
                        <a:pt x="1439" y="664"/>
                      </a:lnTo>
                      <a:lnTo>
                        <a:pt x="1578" y="810"/>
                      </a:lnTo>
                      <a:lnTo>
                        <a:pt x="1413" y="787"/>
                      </a:lnTo>
                      <a:lnTo>
                        <a:pt x="1219" y="814"/>
                      </a:lnTo>
                      <a:lnTo>
                        <a:pt x="1255" y="650"/>
                      </a:lnTo>
                      <a:lnTo>
                        <a:pt x="1338" y="538"/>
                      </a:lnTo>
                      <a:lnTo>
                        <a:pt x="1241" y="552"/>
                      </a:lnTo>
                      <a:lnTo>
                        <a:pt x="1165" y="658"/>
                      </a:lnTo>
                      <a:lnTo>
                        <a:pt x="1139" y="791"/>
                      </a:lnTo>
                      <a:lnTo>
                        <a:pt x="107" y="310"/>
                      </a:lnTo>
                      <a:lnTo>
                        <a:pt x="80" y="215"/>
                      </a:lnTo>
                      <a:lnTo>
                        <a:pt x="103" y="95"/>
                      </a:lnTo>
                      <a:lnTo>
                        <a:pt x="217" y="0"/>
                      </a:lnTo>
                      <a:lnTo>
                        <a:pt x="15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69" name="Freeform 31"/>
                <p:cNvSpPr/>
                <p:nvPr userDrawn="1"/>
              </p:nvSpPr>
              <p:spPr>
                <a:xfrm>
                  <a:off x="106" y="3770"/>
                  <a:ext cx="80" cy="167"/>
                </a:xfrm>
                <a:custGeom>
                  <a:avLst/>
                  <a:gdLst/>
                  <a:ahLst/>
                  <a:cxnLst>
                    <a:cxn ang="0">
                      <a:pos x="15" y="0"/>
                    </a:cxn>
                    <a:cxn ang="0">
                      <a:pos x="3" y="13"/>
                    </a:cxn>
                    <a:cxn ang="0">
                      <a:pos x="0" y="28"/>
                    </a:cxn>
                    <a:cxn ang="0">
                      <a:pos x="5" y="39"/>
                    </a:cxn>
                    <a:cxn ang="0">
                      <a:pos x="12" y="41"/>
                    </a:cxn>
                    <a:cxn ang="0">
                      <a:pos x="10" y="19"/>
                    </a:cxn>
                    <a:cxn ang="0">
                      <a:pos x="20" y="2"/>
                    </a:cxn>
                    <a:cxn ang="0">
                      <a:pos x="15" y="0"/>
                    </a:cxn>
                    <a:cxn ang="0">
                      <a:pos x="15" y="0"/>
                    </a:cxn>
                  </a:cxnLst>
                  <a:pathLst>
                    <a:path w="160" h="335">
                      <a:moveTo>
                        <a:pt x="116" y="0"/>
                      </a:moveTo>
                      <a:lnTo>
                        <a:pt x="19" y="106"/>
                      </a:lnTo>
                      <a:lnTo>
                        <a:pt x="0" y="230"/>
                      </a:lnTo>
                      <a:lnTo>
                        <a:pt x="33" y="314"/>
                      </a:lnTo>
                      <a:lnTo>
                        <a:pt x="94" y="335"/>
                      </a:lnTo>
                      <a:lnTo>
                        <a:pt x="76" y="154"/>
                      </a:lnTo>
                      <a:lnTo>
                        <a:pt x="160" y="17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0" name="Freeform 32"/>
                <p:cNvSpPr/>
                <p:nvPr userDrawn="1"/>
              </p:nvSpPr>
              <p:spPr>
                <a:xfrm>
                  <a:off x="449" y="3490"/>
                  <a:ext cx="322" cy="594"/>
                </a:xfrm>
                <a:custGeom>
                  <a:avLst/>
                  <a:gdLst/>
                  <a:ahLst/>
                  <a:cxnLst>
                    <a:cxn ang="0">
                      <a:pos x="28" y="112"/>
                    </a:cxn>
                    <a:cxn ang="0">
                      <a:pos x="0" y="16"/>
                    </a:cxn>
                    <a:cxn ang="0">
                      <a:pos x="11" y="5"/>
                    </a:cxn>
                    <a:cxn ang="0">
                      <a:pos x="33" y="0"/>
                    </a:cxn>
                    <a:cxn ang="0">
                      <a:pos x="50" y="8"/>
                    </a:cxn>
                    <a:cxn ang="0">
                      <a:pos x="81" y="149"/>
                    </a:cxn>
                    <a:cxn ang="0">
                      <a:pos x="70" y="137"/>
                    </a:cxn>
                    <a:cxn ang="0">
                      <a:pos x="45" y="13"/>
                    </a:cxn>
                    <a:cxn ang="0">
                      <a:pos x="29" y="8"/>
                    </a:cxn>
                    <a:cxn ang="0">
                      <a:pos x="15" y="10"/>
                    </a:cxn>
                    <a:cxn ang="0">
                      <a:pos x="10" y="18"/>
                    </a:cxn>
                    <a:cxn ang="0">
                      <a:pos x="39" y="116"/>
                    </a:cxn>
                    <a:cxn ang="0">
                      <a:pos x="28" y="112"/>
                    </a:cxn>
                    <a:cxn ang="0">
                      <a:pos x="28" y="112"/>
                    </a:cxn>
                  </a:cxnLst>
                  <a:pathLst>
                    <a:path w="642" h="1188">
                      <a:moveTo>
                        <a:pt x="218" y="896"/>
                      </a:moveTo>
                      <a:lnTo>
                        <a:pt x="0" y="124"/>
                      </a:lnTo>
                      <a:lnTo>
                        <a:pt x="81" y="38"/>
                      </a:lnTo>
                      <a:lnTo>
                        <a:pt x="258" y="0"/>
                      </a:lnTo>
                      <a:lnTo>
                        <a:pt x="399" y="57"/>
                      </a:lnTo>
                      <a:lnTo>
                        <a:pt x="642" y="1188"/>
                      </a:lnTo>
                      <a:lnTo>
                        <a:pt x="555" y="1091"/>
                      </a:lnTo>
                      <a:lnTo>
                        <a:pt x="355" y="97"/>
                      </a:lnTo>
                      <a:lnTo>
                        <a:pt x="226" y="61"/>
                      </a:lnTo>
                      <a:lnTo>
                        <a:pt x="119" y="74"/>
                      </a:lnTo>
                      <a:lnTo>
                        <a:pt x="76" y="141"/>
                      </a:lnTo>
                      <a:lnTo>
                        <a:pt x="306" y="924"/>
                      </a:lnTo>
                      <a:lnTo>
                        <a:pt x="218" y="89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1" name="Freeform 33"/>
                <p:cNvSpPr/>
                <p:nvPr userDrawn="1"/>
              </p:nvSpPr>
              <p:spPr>
                <a:xfrm>
                  <a:off x="578" y="3650"/>
                  <a:ext cx="96" cy="252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10" y="25"/>
                    </a:cxn>
                    <a:cxn ang="0">
                      <a:pos x="15" y="40"/>
                    </a:cxn>
                    <a:cxn ang="0">
                      <a:pos x="15" y="63"/>
                    </a:cxn>
                    <a:cxn ang="0">
                      <a:pos x="24" y="63"/>
                    </a:cxn>
                    <a:cxn ang="0">
                      <a:pos x="24" y="45"/>
                    </a:cxn>
                    <a:cxn ang="0">
                      <a:pos x="21" y="26"/>
                    </a:cxn>
                    <a:cxn ang="0">
                      <a:pos x="13" y="8"/>
                    </a:cxn>
                    <a:cxn ang="0">
                      <a:pos x="8" y="0"/>
                    </a:cxn>
                    <a:cxn ang="0">
                      <a:pos x="0" y="4"/>
                    </a:cxn>
                    <a:cxn ang="0">
                      <a:pos x="0" y="4"/>
                    </a:cxn>
                  </a:cxnLst>
                  <a:pathLst>
                    <a:path w="192" h="504">
                      <a:moveTo>
                        <a:pt x="0" y="27"/>
                      </a:moveTo>
                      <a:lnTo>
                        <a:pt x="76" y="194"/>
                      </a:lnTo>
                      <a:lnTo>
                        <a:pt x="113" y="318"/>
                      </a:lnTo>
                      <a:lnTo>
                        <a:pt x="116" y="504"/>
                      </a:lnTo>
                      <a:lnTo>
                        <a:pt x="192" y="504"/>
                      </a:lnTo>
                      <a:lnTo>
                        <a:pt x="187" y="360"/>
                      </a:lnTo>
                      <a:lnTo>
                        <a:pt x="162" y="208"/>
                      </a:lnTo>
                      <a:lnTo>
                        <a:pt x="99" y="59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2" name="Freeform 34"/>
                <p:cNvSpPr/>
                <p:nvPr userDrawn="1"/>
              </p:nvSpPr>
              <p:spPr>
                <a:xfrm>
                  <a:off x="328" y="3630"/>
                  <a:ext cx="195" cy="135"/>
                </a:xfrm>
                <a:custGeom>
                  <a:avLst/>
                  <a:gdLst/>
                  <a:ahLst/>
                  <a:cxnLst>
                    <a:cxn ang="0">
                      <a:pos x="38" y="0"/>
                    </a:cxn>
                    <a:cxn ang="0">
                      <a:pos x="33" y="3"/>
                    </a:cxn>
                    <a:cxn ang="0">
                      <a:pos x="32" y="9"/>
                    </a:cxn>
                    <a:cxn ang="0">
                      <a:pos x="0" y="22"/>
                    </a:cxn>
                    <a:cxn ang="0">
                      <a:pos x="0" y="28"/>
                    </a:cxn>
                    <a:cxn ang="0">
                      <a:pos x="36" y="29"/>
                    </a:cxn>
                    <a:cxn ang="0">
                      <a:pos x="40" y="34"/>
                    </a:cxn>
                    <a:cxn ang="0">
                      <a:pos x="49" y="34"/>
                    </a:cxn>
                    <a:cxn ang="0">
                      <a:pos x="48" y="24"/>
                    </a:cxn>
                    <a:cxn ang="0">
                      <a:pos x="15" y="22"/>
                    </a:cxn>
                    <a:cxn ang="0">
                      <a:pos x="42" y="12"/>
                    </a:cxn>
                    <a:cxn ang="0">
                      <a:pos x="38" y="0"/>
                    </a:cxn>
                    <a:cxn ang="0">
                      <a:pos x="38" y="0"/>
                    </a:cxn>
                  </a:cxnLst>
                  <a:pathLst>
                    <a:path w="390" h="269">
                      <a:moveTo>
                        <a:pt x="297" y="0"/>
                      </a:moveTo>
                      <a:lnTo>
                        <a:pt x="257" y="17"/>
                      </a:lnTo>
                      <a:lnTo>
                        <a:pt x="253" y="66"/>
                      </a:lnTo>
                      <a:lnTo>
                        <a:pt x="0" y="169"/>
                      </a:lnTo>
                      <a:lnTo>
                        <a:pt x="0" y="222"/>
                      </a:lnTo>
                      <a:lnTo>
                        <a:pt x="284" y="226"/>
                      </a:lnTo>
                      <a:lnTo>
                        <a:pt x="320" y="269"/>
                      </a:lnTo>
                      <a:lnTo>
                        <a:pt x="390" y="266"/>
                      </a:lnTo>
                      <a:lnTo>
                        <a:pt x="383" y="190"/>
                      </a:lnTo>
                      <a:lnTo>
                        <a:pt x="116" y="176"/>
                      </a:lnTo>
                      <a:lnTo>
                        <a:pt x="333" y="89"/>
                      </a:lnTo>
                      <a:lnTo>
                        <a:pt x="297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3" name="Freeform 35"/>
                <p:cNvSpPr/>
                <p:nvPr userDrawn="1"/>
              </p:nvSpPr>
              <p:spPr>
                <a:xfrm>
                  <a:off x="658" y="3538"/>
                  <a:ext cx="471" cy="212"/>
                </a:xfrm>
                <a:custGeom>
                  <a:avLst/>
                  <a:gdLst/>
                  <a:ahLst/>
                  <a:cxnLst>
                    <a:cxn ang="0">
                      <a:pos x="0" y="17"/>
                    </a:cxn>
                    <a:cxn ang="0">
                      <a:pos x="108" y="0"/>
                    </a:cxn>
                    <a:cxn ang="0">
                      <a:pos x="116" y="10"/>
                    </a:cxn>
                    <a:cxn ang="0">
                      <a:pos x="118" y="23"/>
                    </a:cxn>
                    <a:cxn ang="0">
                      <a:pos x="113" y="36"/>
                    </a:cxn>
                    <a:cxn ang="0">
                      <a:pos x="8" y="53"/>
                    </a:cxn>
                    <a:cxn ang="0">
                      <a:pos x="7" y="48"/>
                    </a:cxn>
                    <a:cxn ang="0">
                      <a:pos x="108" y="31"/>
                    </a:cxn>
                    <a:cxn ang="0">
                      <a:pos x="112" y="19"/>
                    </a:cxn>
                    <a:cxn ang="0">
                      <a:pos x="105" y="8"/>
                    </a:cxn>
                    <a:cxn ang="0">
                      <a:pos x="0" y="24"/>
                    </a:cxn>
                    <a:cxn ang="0">
                      <a:pos x="0" y="17"/>
                    </a:cxn>
                    <a:cxn ang="0">
                      <a:pos x="0" y="17"/>
                    </a:cxn>
                  </a:cxnLst>
                  <a:pathLst>
                    <a:path w="941" h="424">
                      <a:moveTo>
                        <a:pt x="0" y="131"/>
                      </a:moveTo>
                      <a:lnTo>
                        <a:pt x="863" y="0"/>
                      </a:lnTo>
                      <a:lnTo>
                        <a:pt x="926" y="78"/>
                      </a:lnTo>
                      <a:lnTo>
                        <a:pt x="941" y="181"/>
                      </a:lnTo>
                      <a:lnTo>
                        <a:pt x="903" y="282"/>
                      </a:lnTo>
                      <a:lnTo>
                        <a:pt x="57" y="424"/>
                      </a:lnTo>
                      <a:lnTo>
                        <a:pt x="53" y="384"/>
                      </a:lnTo>
                      <a:lnTo>
                        <a:pt x="863" y="242"/>
                      </a:lnTo>
                      <a:lnTo>
                        <a:pt x="893" y="145"/>
                      </a:lnTo>
                      <a:lnTo>
                        <a:pt x="840" y="57"/>
                      </a:lnTo>
                      <a:lnTo>
                        <a:pt x="0" y="185"/>
                      </a:lnTo>
                      <a:lnTo>
                        <a:pt x="0" y="131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74" name="Freeform 36"/>
                <p:cNvSpPr/>
                <p:nvPr userDrawn="1"/>
              </p:nvSpPr>
              <p:spPr>
                <a:xfrm>
                  <a:off x="717" y="3606"/>
                  <a:ext cx="245" cy="86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9" y="21"/>
                    </a:cxn>
                    <a:cxn ang="0">
                      <a:pos x="28" y="20"/>
                    </a:cxn>
                    <a:cxn ang="0">
                      <a:pos x="53" y="14"/>
                    </a:cxn>
                    <a:cxn ang="0">
                      <a:pos x="62" y="5"/>
                    </a:cxn>
                    <a:cxn ang="0">
                      <a:pos x="56" y="0"/>
                    </a:cxn>
                    <a:cxn ang="0">
                      <a:pos x="32" y="0"/>
                    </a:cxn>
                    <a:cxn ang="0">
                      <a:pos x="14" y="1"/>
                    </a:cxn>
                    <a:cxn ang="0">
                      <a:pos x="2" y="9"/>
                    </a:cxn>
                    <a:cxn ang="0">
                      <a:pos x="14" y="11"/>
                    </a:cxn>
                    <a:cxn ang="0">
                      <a:pos x="35" y="6"/>
                    </a:cxn>
                    <a:cxn ang="0">
                      <a:pos x="53" y="6"/>
                    </a:cxn>
                    <a:cxn ang="0">
                      <a:pos x="34" y="13"/>
                    </a:cxn>
                    <a:cxn ang="0">
                      <a:pos x="18" y="15"/>
                    </a:cxn>
                    <a:cxn ang="0">
                      <a:pos x="0" y="15"/>
                    </a:cxn>
                    <a:cxn ang="0">
                      <a:pos x="0" y="15"/>
                    </a:cxn>
                  </a:cxnLst>
                  <a:pathLst>
                    <a:path w="488" h="173">
                      <a:moveTo>
                        <a:pt x="0" y="126"/>
                      </a:moveTo>
                      <a:lnTo>
                        <a:pt x="66" y="173"/>
                      </a:lnTo>
                      <a:lnTo>
                        <a:pt x="222" y="166"/>
                      </a:lnTo>
                      <a:lnTo>
                        <a:pt x="418" y="116"/>
                      </a:lnTo>
                      <a:lnTo>
                        <a:pt x="488" y="42"/>
                      </a:lnTo>
                      <a:lnTo>
                        <a:pt x="443" y="2"/>
                      </a:lnTo>
                      <a:lnTo>
                        <a:pt x="253" y="0"/>
                      </a:lnTo>
                      <a:lnTo>
                        <a:pt x="110" y="12"/>
                      </a:lnTo>
                      <a:lnTo>
                        <a:pt x="15" y="76"/>
                      </a:lnTo>
                      <a:lnTo>
                        <a:pt x="112" y="95"/>
                      </a:lnTo>
                      <a:lnTo>
                        <a:pt x="275" y="53"/>
                      </a:lnTo>
                      <a:lnTo>
                        <a:pt x="416" y="53"/>
                      </a:lnTo>
                      <a:lnTo>
                        <a:pt x="268" y="110"/>
                      </a:lnTo>
                      <a:lnTo>
                        <a:pt x="142" y="126"/>
                      </a:lnTo>
                      <a:lnTo>
                        <a:pt x="0" y="126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grpSp>
        <p:nvGrpSpPr>
          <p:cNvPr id="1035" name="Group 37"/>
          <p:cNvGrpSpPr/>
          <p:nvPr/>
        </p:nvGrpSpPr>
        <p:grpSpPr>
          <a:xfrm>
            <a:off x="8680450" y="2116138"/>
            <a:ext cx="385763" cy="4308475"/>
            <a:chOff x="5468" y="1333"/>
            <a:chExt cx="243" cy="2714"/>
          </a:xfrm>
        </p:grpSpPr>
        <p:sp>
          <p:nvSpPr>
            <p:cNvPr id="1050" name="Freeform 38"/>
            <p:cNvSpPr/>
            <p:nvPr userDrawn="1"/>
          </p:nvSpPr>
          <p:spPr>
            <a:xfrm flipH="1">
              <a:off x="5468" y="2620"/>
              <a:ext cx="205" cy="1427"/>
            </a:xfrm>
            <a:custGeom>
              <a:avLst/>
              <a:gdLst/>
              <a:ahLst/>
              <a:cxnLst>
                <a:cxn ang="0">
                  <a:pos x="13" y="263"/>
                </a:cxn>
                <a:cxn ang="0">
                  <a:pos x="7" y="246"/>
                </a:cxn>
                <a:cxn ang="0">
                  <a:pos x="6" y="232"/>
                </a:cxn>
                <a:cxn ang="0">
                  <a:pos x="7" y="212"/>
                </a:cxn>
                <a:cxn ang="0">
                  <a:pos x="11" y="188"/>
                </a:cxn>
                <a:cxn ang="0">
                  <a:pos x="12" y="173"/>
                </a:cxn>
                <a:cxn ang="0">
                  <a:pos x="11" y="163"/>
                </a:cxn>
                <a:cxn ang="0">
                  <a:pos x="7" y="155"/>
                </a:cxn>
                <a:cxn ang="0">
                  <a:pos x="7" y="145"/>
                </a:cxn>
                <a:cxn ang="0">
                  <a:pos x="8" y="132"/>
                </a:cxn>
                <a:cxn ang="0">
                  <a:pos x="14" y="97"/>
                </a:cxn>
                <a:cxn ang="0">
                  <a:pos x="14" y="79"/>
                </a:cxn>
                <a:cxn ang="0">
                  <a:pos x="13" y="59"/>
                </a:cxn>
                <a:cxn ang="0">
                  <a:pos x="8" y="50"/>
                </a:cxn>
                <a:cxn ang="0">
                  <a:pos x="4" y="35"/>
                </a:cxn>
                <a:cxn ang="0">
                  <a:pos x="0" y="0"/>
                </a:cxn>
                <a:cxn ang="0">
                  <a:pos x="1" y="32"/>
                </a:cxn>
                <a:cxn ang="0">
                  <a:pos x="3" y="51"/>
                </a:cxn>
                <a:cxn ang="0">
                  <a:pos x="7" y="63"/>
                </a:cxn>
                <a:cxn ang="0">
                  <a:pos x="11" y="69"/>
                </a:cxn>
                <a:cxn ang="0">
                  <a:pos x="11" y="87"/>
                </a:cxn>
                <a:cxn ang="0">
                  <a:pos x="9" y="106"/>
                </a:cxn>
                <a:cxn ang="0">
                  <a:pos x="5" y="138"/>
                </a:cxn>
                <a:cxn ang="0">
                  <a:pos x="4" y="159"/>
                </a:cxn>
                <a:cxn ang="0">
                  <a:pos x="9" y="171"/>
                </a:cxn>
                <a:cxn ang="0">
                  <a:pos x="8" y="182"/>
                </a:cxn>
                <a:cxn ang="0">
                  <a:pos x="5" y="204"/>
                </a:cxn>
                <a:cxn ang="0">
                  <a:pos x="3" y="226"/>
                </a:cxn>
                <a:cxn ang="0">
                  <a:pos x="5" y="249"/>
                </a:cxn>
                <a:cxn ang="0">
                  <a:pos x="8" y="262"/>
                </a:cxn>
                <a:cxn ang="0">
                  <a:pos x="12" y="272"/>
                </a:cxn>
                <a:cxn ang="0">
                  <a:pos x="13" y="263"/>
                </a:cxn>
                <a:cxn ang="0">
                  <a:pos x="13" y="263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051" name="Freeform 39"/>
            <p:cNvSpPr/>
            <p:nvPr userDrawn="1"/>
          </p:nvSpPr>
          <p:spPr>
            <a:xfrm flipH="1">
              <a:off x="5506" y="1333"/>
              <a:ext cx="205" cy="1633"/>
            </a:xfrm>
            <a:custGeom>
              <a:avLst/>
              <a:gdLst/>
              <a:ahLst/>
              <a:cxnLst>
                <a:cxn ang="0">
                  <a:pos x="13" y="395"/>
                </a:cxn>
                <a:cxn ang="0">
                  <a:pos x="7" y="369"/>
                </a:cxn>
                <a:cxn ang="0">
                  <a:pos x="6" y="348"/>
                </a:cxn>
                <a:cxn ang="0">
                  <a:pos x="7" y="318"/>
                </a:cxn>
                <a:cxn ang="0">
                  <a:pos x="11" y="282"/>
                </a:cxn>
                <a:cxn ang="0">
                  <a:pos x="12" y="259"/>
                </a:cxn>
                <a:cxn ang="0">
                  <a:pos x="11" y="244"/>
                </a:cxn>
                <a:cxn ang="0">
                  <a:pos x="7" y="233"/>
                </a:cxn>
                <a:cxn ang="0">
                  <a:pos x="7" y="219"/>
                </a:cxn>
                <a:cxn ang="0">
                  <a:pos x="8" y="199"/>
                </a:cxn>
                <a:cxn ang="0">
                  <a:pos x="14" y="145"/>
                </a:cxn>
                <a:cxn ang="0">
                  <a:pos x="14" y="119"/>
                </a:cxn>
                <a:cxn ang="0">
                  <a:pos x="13" y="90"/>
                </a:cxn>
                <a:cxn ang="0">
                  <a:pos x="8" y="76"/>
                </a:cxn>
                <a:cxn ang="0">
                  <a:pos x="4" y="53"/>
                </a:cxn>
                <a:cxn ang="0">
                  <a:pos x="0" y="0"/>
                </a:cxn>
                <a:cxn ang="0">
                  <a:pos x="1" y="48"/>
                </a:cxn>
                <a:cxn ang="0">
                  <a:pos x="3" y="77"/>
                </a:cxn>
                <a:cxn ang="0">
                  <a:pos x="7" y="95"/>
                </a:cxn>
                <a:cxn ang="0">
                  <a:pos x="11" y="105"/>
                </a:cxn>
                <a:cxn ang="0">
                  <a:pos x="11" y="131"/>
                </a:cxn>
                <a:cxn ang="0">
                  <a:pos x="9" y="159"/>
                </a:cxn>
                <a:cxn ang="0">
                  <a:pos x="5" y="208"/>
                </a:cxn>
                <a:cxn ang="0">
                  <a:pos x="4" y="239"/>
                </a:cxn>
                <a:cxn ang="0">
                  <a:pos x="9" y="257"/>
                </a:cxn>
                <a:cxn ang="0">
                  <a:pos x="8" y="273"/>
                </a:cxn>
                <a:cxn ang="0">
                  <a:pos x="5" y="307"/>
                </a:cxn>
                <a:cxn ang="0">
                  <a:pos x="3" y="340"/>
                </a:cxn>
                <a:cxn ang="0">
                  <a:pos x="5" y="375"/>
                </a:cxn>
                <a:cxn ang="0">
                  <a:pos x="8" y="393"/>
                </a:cxn>
                <a:cxn ang="0">
                  <a:pos x="12" y="409"/>
                </a:cxn>
                <a:cxn ang="0">
                  <a:pos x="13" y="395"/>
                </a:cxn>
                <a:cxn ang="0">
                  <a:pos x="13" y="395"/>
                </a:cxn>
              </a:cxnLst>
              <a:pathLst>
                <a:path w="772" h="3266">
                  <a:moveTo>
                    <a:pt x="692" y="3156"/>
                  </a:moveTo>
                  <a:lnTo>
                    <a:pt x="380" y="2945"/>
                  </a:lnTo>
                  <a:lnTo>
                    <a:pt x="319" y="2783"/>
                  </a:lnTo>
                  <a:lnTo>
                    <a:pt x="371" y="2542"/>
                  </a:lnTo>
                  <a:lnTo>
                    <a:pt x="591" y="2251"/>
                  </a:lnTo>
                  <a:lnTo>
                    <a:pt x="641" y="2070"/>
                  </a:lnTo>
                  <a:lnTo>
                    <a:pt x="591" y="1948"/>
                  </a:lnTo>
                  <a:lnTo>
                    <a:pt x="401" y="1859"/>
                  </a:lnTo>
                  <a:lnTo>
                    <a:pt x="361" y="1747"/>
                  </a:lnTo>
                  <a:lnTo>
                    <a:pt x="430" y="1587"/>
                  </a:lnTo>
                  <a:lnTo>
                    <a:pt x="741" y="1156"/>
                  </a:lnTo>
                  <a:lnTo>
                    <a:pt x="772" y="945"/>
                  </a:lnTo>
                  <a:lnTo>
                    <a:pt x="692" y="713"/>
                  </a:lnTo>
                  <a:lnTo>
                    <a:pt x="430" y="603"/>
                  </a:lnTo>
                  <a:lnTo>
                    <a:pt x="200" y="422"/>
                  </a:lnTo>
                  <a:lnTo>
                    <a:pt x="0" y="0"/>
                  </a:lnTo>
                  <a:lnTo>
                    <a:pt x="29" y="382"/>
                  </a:lnTo>
                  <a:lnTo>
                    <a:pt x="179" y="612"/>
                  </a:lnTo>
                  <a:lnTo>
                    <a:pt x="380" y="753"/>
                  </a:lnTo>
                  <a:lnTo>
                    <a:pt x="601" y="833"/>
                  </a:lnTo>
                  <a:lnTo>
                    <a:pt x="612" y="1044"/>
                  </a:lnTo>
                  <a:lnTo>
                    <a:pt x="500" y="1266"/>
                  </a:lnTo>
                  <a:lnTo>
                    <a:pt x="240" y="1658"/>
                  </a:lnTo>
                  <a:lnTo>
                    <a:pt x="230" y="1909"/>
                  </a:lnTo>
                  <a:lnTo>
                    <a:pt x="471" y="2049"/>
                  </a:lnTo>
                  <a:lnTo>
                    <a:pt x="460" y="2180"/>
                  </a:lnTo>
                  <a:lnTo>
                    <a:pt x="249" y="2452"/>
                  </a:lnTo>
                  <a:lnTo>
                    <a:pt x="160" y="2713"/>
                  </a:lnTo>
                  <a:lnTo>
                    <a:pt x="240" y="2994"/>
                  </a:lnTo>
                  <a:lnTo>
                    <a:pt x="430" y="3144"/>
                  </a:lnTo>
                  <a:lnTo>
                    <a:pt x="671" y="3266"/>
                  </a:lnTo>
                  <a:lnTo>
                    <a:pt x="692" y="3156"/>
                  </a:lnTo>
                  <a:close/>
                </a:path>
              </a:pathLst>
            </a:custGeom>
            <a:solidFill>
              <a:schemeClr val="folHlink">
                <a:alpha val="100000"/>
              </a:scheme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1036" name="Group 40"/>
          <p:cNvGrpSpPr/>
          <p:nvPr/>
        </p:nvGrpSpPr>
        <p:grpSpPr>
          <a:xfrm>
            <a:off x="7318375" y="90488"/>
            <a:ext cx="2133600" cy="1911350"/>
            <a:chOff x="4610" y="57"/>
            <a:chExt cx="1344" cy="1204"/>
          </a:xfrm>
        </p:grpSpPr>
        <p:grpSp>
          <p:nvGrpSpPr>
            <p:cNvPr id="1038" name="Group 41"/>
            <p:cNvGrpSpPr/>
            <p:nvPr userDrawn="1"/>
          </p:nvGrpSpPr>
          <p:grpSpPr>
            <a:xfrm>
              <a:off x="4610" y="57"/>
              <a:ext cx="1344" cy="1204"/>
              <a:chOff x="4610" y="57"/>
              <a:chExt cx="1344" cy="1204"/>
            </a:xfrm>
          </p:grpSpPr>
          <p:sp>
            <p:nvSpPr>
              <p:cNvPr id="1040" name="Freeform 42"/>
              <p:cNvSpPr/>
              <p:nvPr userDrawn="1"/>
            </p:nvSpPr>
            <p:spPr>
              <a:xfrm rot="-3172564">
                <a:off x="5430" y="1086"/>
                <a:ext cx="62" cy="28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2" y="16"/>
                  </a:cxn>
                  <a:cxn ang="0">
                    <a:pos x="0" y="37"/>
                  </a:cxn>
                  <a:cxn ang="0">
                    <a:pos x="1" y="36"/>
                  </a:cxn>
                  <a:cxn ang="0">
                    <a:pos x="4" y="17"/>
                  </a:cxn>
                  <a:cxn ang="0">
                    <a:pos x="4" y="0"/>
                  </a:cxn>
                  <a:cxn ang="0">
                    <a:pos x="2" y="0"/>
                  </a:cxn>
                  <a:cxn ang="0">
                    <a:pos x="2" y="0"/>
                  </a:cxn>
                </a:cxnLst>
                <a:pathLst>
                  <a:path w="245" h="806">
                    <a:moveTo>
                      <a:pt x="123" y="9"/>
                    </a:moveTo>
                    <a:lnTo>
                      <a:pt x="131" y="342"/>
                    </a:lnTo>
                    <a:lnTo>
                      <a:pt x="0" y="806"/>
                    </a:lnTo>
                    <a:lnTo>
                      <a:pt x="79" y="789"/>
                    </a:lnTo>
                    <a:lnTo>
                      <a:pt x="218" y="376"/>
                    </a:lnTo>
                    <a:lnTo>
                      <a:pt x="245" y="0"/>
                    </a:lnTo>
                    <a:lnTo>
                      <a:pt x="123" y="9"/>
                    </a:lnTo>
                    <a:close/>
                  </a:path>
                </a:pathLst>
              </a:custGeom>
              <a:solidFill>
                <a:schemeClr val="accent2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1041" name="Group 43"/>
              <p:cNvGrpSpPr/>
              <p:nvPr userDrawn="1"/>
            </p:nvGrpSpPr>
            <p:grpSpPr>
              <a:xfrm>
                <a:off x="4610" y="57"/>
                <a:ext cx="1344" cy="985"/>
                <a:chOff x="4610" y="57"/>
                <a:chExt cx="1344" cy="985"/>
              </a:xfrm>
            </p:grpSpPr>
            <p:sp>
              <p:nvSpPr>
                <p:cNvPr id="1042" name="Freeform 44"/>
                <p:cNvSpPr/>
                <p:nvPr userDrawn="1"/>
              </p:nvSpPr>
              <p:spPr>
                <a:xfrm rot="-3172564">
                  <a:off x="4966" y="71"/>
                  <a:ext cx="153" cy="12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" y="9"/>
                    </a:cxn>
                    <a:cxn ang="0">
                      <a:pos x="8" y="16"/>
                    </a:cxn>
                    <a:cxn ang="0">
                      <a:pos x="10" y="6"/>
                    </a:cxn>
                    <a:cxn ang="0">
                      <a:pos x="6" y="0"/>
                    </a:cxn>
                    <a:cxn ang="0">
                      <a:pos x="8" y="9"/>
                    </a:cxn>
                    <a:cxn ang="0">
                      <a:pos x="2" y="1"/>
                    </a:cxn>
                    <a:cxn ang="0">
                      <a:pos x="0" y="0"/>
                    </a:cxn>
                    <a:cxn ang="0">
                      <a:pos x="0" y="0"/>
                    </a:cxn>
                  </a:cxnLst>
                  <a:pathLst>
                    <a:path w="604" h="349">
                      <a:moveTo>
                        <a:pt x="0" y="0"/>
                      </a:moveTo>
                      <a:lnTo>
                        <a:pt x="298" y="184"/>
                      </a:lnTo>
                      <a:lnTo>
                        <a:pt x="500" y="349"/>
                      </a:lnTo>
                      <a:lnTo>
                        <a:pt x="604" y="140"/>
                      </a:lnTo>
                      <a:lnTo>
                        <a:pt x="359" y="9"/>
                      </a:lnTo>
                      <a:lnTo>
                        <a:pt x="464" y="184"/>
                      </a:lnTo>
                      <a:lnTo>
                        <a:pt x="131" y="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3" name="Freeform 45"/>
                <p:cNvSpPr/>
                <p:nvPr userDrawn="1"/>
              </p:nvSpPr>
              <p:spPr>
                <a:xfrm rot="-3172564">
                  <a:off x="5048" y="331"/>
                  <a:ext cx="269" cy="438"/>
                </a:xfrm>
                <a:custGeom>
                  <a:avLst/>
                  <a:gdLst/>
                  <a:ahLst/>
                  <a:cxnLst>
                    <a:cxn ang="0">
                      <a:pos x="12" y="6"/>
                    </a:cxn>
                    <a:cxn ang="0">
                      <a:pos x="8" y="16"/>
                    </a:cxn>
                    <a:cxn ang="0">
                      <a:pos x="3" y="35"/>
                    </a:cxn>
                    <a:cxn ang="0">
                      <a:pos x="0" y="50"/>
                    </a:cxn>
                    <a:cxn ang="0">
                      <a:pos x="1" y="56"/>
                    </a:cxn>
                    <a:cxn ang="0">
                      <a:pos x="4" y="54"/>
                    </a:cxn>
                    <a:cxn ang="0">
                      <a:pos x="9" y="41"/>
                    </a:cxn>
                    <a:cxn ang="0">
                      <a:pos x="14" y="24"/>
                    </a:cxn>
                    <a:cxn ang="0">
                      <a:pos x="17" y="12"/>
                    </a:cxn>
                    <a:cxn ang="0">
                      <a:pos x="17" y="4"/>
                    </a:cxn>
                    <a:cxn ang="0">
                      <a:pos x="16" y="0"/>
                    </a:cxn>
                    <a:cxn ang="0">
                      <a:pos x="13" y="3"/>
                    </a:cxn>
                    <a:cxn ang="0">
                      <a:pos x="16" y="5"/>
                    </a:cxn>
                    <a:cxn ang="0">
                      <a:pos x="14" y="16"/>
                    </a:cxn>
                    <a:cxn ang="0">
                      <a:pos x="11" y="30"/>
                    </a:cxn>
                    <a:cxn ang="0">
                      <a:pos x="6" y="46"/>
                    </a:cxn>
                    <a:cxn ang="0">
                      <a:pos x="2" y="50"/>
                    </a:cxn>
                    <a:cxn ang="0">
                      <a:pos x="2" y="43"/>
                    </a:cxn>
                    <a:cxn ang="0">
                      <a:pos x="7" y="23"/>
                    </a:cxn>
                    <a:cxn ang="0">
                      <a:pos x="13" y="5"/>
                    </a:cxn>
                    <a:cxn ang="0">
                      <a:pos x="12" y="6"/>
                    </a:cxn>
                    <a:cxn ang="0">
                      <a:pos x="12" y="6"/>
                    </a:cxn>
                  </a:cxnLst>
                  <a:pathLst>
                    <a:path w="1064" h="1230">
                      <a:moveTo>
                        <a:pt x="741" y="129"/>
                      </a:moveTo>
                      <a:lnTo>
                        <a:pt x="485" y="352"/>
                      </a:lnTo>
                      <a:lnTo>
                        <a:pt x="163" y="762"/>
                      </a:lnTo>
                      <a:lnTo>
                        <a:pt x="0" y="1101"/>
                      </a:lnTo>
                      <a:lnTo>
                        <a:pt x="59" y="1230"/>
                      </a:lnTo>
                      <a:lnTo>
                        <a:pt x="262" y="1201"/>
                      </a:lnTo>
                      <a:lnTo>
                        <a:pt x="578" y="914"/>
                      </a:lnTo>
                      <a:lnTo>
                        <a:pt x="876" y="534"/>
                      </a:lnTo>
                      <a:lnTo>
                        <a:pt x="1034" y="270"/>
                      </a:lnTo>
                      <a:lnTo>
                        <a:pt x="1064" y="84"/>
                      </a:lnTo>
                      <a:lnTo>
                        <a:pt x="977" y="0"/>
                      </a:lnTo>
                      <a:lnTo>
                        <a:pt x="836" y="65"/>
                      </a:lnTo>
                      <a:lnTo>
                        <a:pt x="969" y="107"/>
                      </a:lnTo>
                      <a:lnTo>
                        <a:pt x="876" y="352"/>
                      </a:lnTo>
                      <a:lnTo>
                        <a:pt x="690" y="656"/>
                      </a:lnTo>
                      <a:lnTo>
                        <a:pt x="350" y="1008"/>
                      </a:lnTo>
                      <a:lnTo>
                        <a:pt x="116" y="1114"/>
                      </a:lnTo>
                      <a:lnTo>
                        <a:pt x="135" y="943"/>
                      </a:lnTo>
                      <a:lnTo>
                        <a:pt x="437" y="504"/>
                      </a:lnTo>
                      <a:lnTo>
                        <a:pt x="831" y="118"/>
                      </a:lnTo>
                      <a:lnTo>
                        <a:pt x="741" y="129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4" name="Freeform 46"/>
                <p:cNvSpPr/>
                <p:nvPr userDrawn="1"/>
              </p:nvSpPr>
              <p:spPr>
                <a:xfrm rot="-3172564">
                  <a:off x="4858" y="181"/>
                  <a:ext cx="505" cy="898"/>
                </a:xfrm>
                <a:custGeom>
                  <a:avLst/>
                  <a:gdLst/>
                  <a:ahLst/>
                  <a:cxnLst>
                    <a:cxn ang="0">
                      <a:pos x="31" y="0"/>
                    </a:cxn>
                    <a:cxn ang="0">
                      <a:pos x="0" y="114"/>
                    </a:cxn>
                    <a:cxn ang="0">
                      <a:pos x="3" y="111"/>
                    </a:cxn>
                    <a:cxn ang="0">
                      <a:pos x="32" y="3"/>
                    </a:cxn>
                    <a:cxn ang="0">
                      <a:pos x="31" y="0"/>
                    </a:cxn>
                    <a:cxn ang="0">
                      <a:pos x="31" y="0"/>
                    </a:cxn>
                  </a:cxnLst>
                  <a:pathLst>
                    <a:path w="2002" h="2521">
                      <a:moveTo>
                        <a:pt x="1941" y="0"/>
                      </a:moveTo>
                      <a:lnTo>
                        <a:pt x="0" y="2521"/>
                      </a:lnTo>
                      <a:lnTo>
                        <a:pt x="192" y="2450"/>
                      </a:lnTo>
                      <a:lnTo>
                        <a:pt x="2002" y="61"/>
                      </a:lnTo>
                      <a:lnTo>
                        <a:pt x="1941" y="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5" name="Freeform 47"/>
                <p:cNvSpPr/>
                <p:nvPr userDrawn="1"/>
              </p:nvSpPr>
              <p:spPr>
                <a:xfrm rot="-3172564">
                  <a:off x="4903" y="-19"/>
                  <a:ext cx="758" cy="1344"/>
                </a:xfrm>
                <a:custGeom>
                  <a:avLst/>
                  <a:gdLst/>
                  <a:ahLst/>
                  <a:cxnLst>
                    <a:cxn ang="0">
                      <a:pos x="2" y="129"/>
                    </a:cxn>
                    <a:cxn ang="0">
                      <a:pos x="6" y="128"/>
                    </a:cxn>
                    <a:cxn ang="0">
                      <a:pos x="13" y="136"/>
                    </a:cxn>
                    <a:cxn ang="0">
                      <a:pos x="11" y="128"/>
                    </a:cxn>
                    <a:cxn ang="0">
                      <a:pos x="6" y="122"/>
                    </a:cxn>
                    <a:cxn ang="0">
                      <a:pos x="10" y="123"/>
                    </a:cxn>
                    <a:cxn ang="0">
                      <a:pos x="16" y="130"/>
                    </a:cxn>
                    <a:cxn ang="0">
                      <a:pos x="46" y="19"/>
                    </a:cxn>
                    <a:cxn ang="0">
                      <a:pos x="41" y="7"/>
                    </a:cxn>
                    <a:cxn ang="0">
                      <a:pos x="37" y="0"/>
                    </a:cxn>
                    <a:cxn ang="0">
                      <a:pos x="43" y="4"/>
                    </a:cxn>
                    <a:cxn ang="0">
                      <a:pos x="48" y="20"/>
                    </a:cxn>
                    <a:cxn ang="0">
                      <a:pos x="13" y="148"/>
                    </a:cxn>
                    <a:cxn ang="0">
                      <a:pos x="8" y="154"/>
                    </a:cxn>
                    <a:cxn ang="0">
                      <a:pos x="2" y="171"/>
                    </a:cxn>
                    <a:cxn ang="0">
                      <a:pos x="0" y="166"/>
                    </a:cxn>
                    <a:cxn ang="0">
                      <a:pos x="2" y="164"/>
                    </a:cxn>
                    <a:cxn ang="0">
                      <a:pos x="6" y="153"/>
                    </a:cxn>
                    <a:cxn ang="0">
                      <a:pos x="3" y="148"/>
                    </a:cxn>
                    <a:cxn ang="0">
                      <a:pos x="3" y="144"/>
                    </a:cxn>
                    <a:cxn ang="0">
                      <a:pos x="7" y="149"/>
                    </a:cxn>
                    <a:cxn ang="0">
                      <a:pos x="7" y="144"/>
                    </a:cxn>
                    <a:cxn ang="0">
                      <a:pos x="10" y="146"/>
                    </a:cxn>
                    <a:cxn ang="0">
                      <a:pos x="7" y="139"/>
                    </a:cxn>
                    <a:cxn ang="0">
                      <a:pos x="10" y="139"/>
                    </a:cxn>
                    <a:cxn ang="0">
                      <a:pos x="2" y="129"/>
                    </a:cxn>
                    <a:cxn ang="0">
                      <a:pos x="2" y="129"/>
                    </a:cxn>
                  </a:cxnLst>
                  <a:pathLst>
                    <a:path w="3007" h="3771">
                      <a:moveTo>
                        <a:pt x="95" y="2844"/>
                      </a:moveTo>
                      <a:lnTo>
                        <a:pt x="394" y="2834"/>
                      </a:lnTo>
                      <a:lnTo>
                        <a:pt x="821" y="3009"/>
                      </a:lnTo>
                      <a:lnTo>
                        <a:pt x="681" y="2817"/>
                      </a:lnTo>
                      <a:lnTo>
                        <a:pt x="367" y="2703"/>
                      </a:lnTo>
                      <a:lnTo>
                        <a:pt x="637" y="2720"/>
                      </a:lnTo>
                      <a:lnTo>
                        <a:pt x="979" y="2870"/>
                      </a:lnTo>
                      <a:lnTo>
                        <a:pt x="2859" y="420"/>
                      </a:lnTo>
                      <a:lnTo>
                        <a:pt x="2578" y="148"/>
                      </a:lnTo>
                      <a:lnTo>
                        <a:pt x="2308" y="0"/>
                      </a:lnTo>
                      <a:lnTo>
                        <a:pt x="2692" y="78"/>
                      </a:lnTo>
                      <a:lnTo>
                        <a:pt x="3007" y="428"/>
                      </a:lnTo>
                      <a:lnTo>
                        <a:pt x="831" y="3273"/>
                      </a:lnTo>
                      <a:lnTo>
                        <a:pt x="481" y="3412"/>
                      </a:lnTo>
                      <a:lnTo>
                        <a:pt x="105" y="3771"/>
                      </a:lnTo>
                      <a:lnTo>
                        <a:pt x="0" y="3667"/>
                      </a:lnTo>
                      <a:lnTo>
                        <a:pt x="131" y="3631"/>
                      </a:lnTo>
                      <a:lnTo>
                        <a:pt x="376" y="3385"/>
                      </a:lnTo>
                      <a:lnTo>
                        <a:pt x="165" y="3273"/>
                      </a:lnTo>
                      <a:lnTo>
                        <a:pt x="165" y="3176"/>
                      </a:lnTo>
                      <a:lnTo>
                        <a:pt x="411" y="3298"/>
                      </a:lnTo>
                      <a:lnTo>
                        <a:pt x="411" y="3186"/>
                      </a:lnTo>
                      <a:lnTo>
                        <a:pt x="603" y="3220"/>
                      </a:lnTo>
                      <a:lnTo>
                        <a:pt x="428" y="3079"/>
                      </a:lnTo>
                      <a:lnTo>
                        <a:pt x="629" y="3062"/>
                      </a:lnTo>
                      <a:lnTo>
                        <a:pt x="95" y="2844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6" name="Freeform 48"/>
                <p:cNvSpPr/>
                <p:nvPr userDrawn="1"/>
              </p:nvSpPr>
              <p:spPr>
                <a:xfrm rot="-3172564">
                  <a:off x="5297" y="896"/>
                  <a:ext cx="169" cy="122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4" y="5"/>
                    </a:cxn>
                    <a:cxn ang="0">
                      <a:pos x="10" y="16"/>
                    </a:cxn>
                    <a:cxn ang="0">
                      <a:pos x="11" y="13"/>
                    </a:cxn>
                    <a:cxn ang="0">
                      <a:pos x="7" y="5"/>
                    </a:cxn>
                    <a:cxn ang="0">
                      <a:pos x="1" y="0"/>
                    </a:cxn>
                    <a:cxn ang="0">
                      <a:pos x="0" y="4"/>
                    </a:cxn>
                    <a:cxn ang="0">
                      <a:pos x="0" y="4"/>
                    </a:cxn>
                  </a:cxnLst>
                  <a:pathLst>
                    <a:path w="673" h="342">
                      <a:moveTo>
                        <a:pt x="0" y="80"/>
                      </a:moveTo>
                      <a:lnTo>
                        <a:pt x="255" y="106"/>
                      </a:lnTo>
                      <a:lnTo>
                        <a:pt x="639" y="342"/>
                      </a:lnTo>
                      <a:lnTo>
                        <a:pt x="673" y="289"/>
                      </a:lnTo>
                      <a:lnTo>
                        <a:pt x="447" y="114"/>
                      </a:lnTo>
                      <a:lnTo>
                        <a:pt x="26" y="0"/>
                      </a:lnTo>
                      <a:lnTo>
                        <a:pt x="0" y="80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7" name="Freeform 49"/>
                <p:cNvSpPr/>
                <p:nvPr userDrawn="1"/>
              </p:nvSpPr>
              <p:spPr>
                <a:xfrm rot="-3172564">
                  <a:off x="5253" y="805"/>
                  <a:ext cx="181" cy="144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6" y="7"/>
                    </a:cxn>
                    <a:cxn ang="0">
                      <a:pos x="10" y="18"/>
                    </a:cxn>
                    <a:cxn ang="0">
                      <a:pos x="12" y="14"/>
                    </a:cxn>
                    <a:cxn ang="0">
                      <a:pos x="7" y="5"/>
                    </a:cxn>
                    <a:cxn ang="0">
                      <a:pos x="1" y="0"/>
                    </a:cxn>
                    <a:cxn ang="0">
                      <a:pos x="0" y="4"/>
                    </a:cxn>
                    <a:cxn ang="0">
                      <a:pos x="0" y="4"/>
                    </a:cxn>
                  </a:cxnLst>
                  <a:pathLst>
                    <a:path w="716" h="403">
                      <a:moveTo>
                        <a:pt x="0" y="78"/>
                      </a:moveTo>
                      <a:lnTo>
                        <a:pt x="340" y="148"/>
                      </a:lnTo>
                      <a:lnTo>
                        <a:pt x="638" y="403"/>
                      </a:lnTo>
                      <a:lnTo>
                        <a:pt x="716" y="296"/>
                      </a:lnTo>
                      <a:lnTo>
                        <a:pt x="420" y="114"/>
                      </a:lnTo>
                      <a:lnTo>
                        <a:pt x="70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8" name="Freeform 50"/>
                <p:cNvSpPr/>
                <p:nvPr userDrawn="1"/>
              </p:nvSpPr>
              <p:spPr>
                <a:xfrm rot="-3172564">
                  <a:off x="4985" y="210"/>
                  <a:ext cx="181" cy="147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5" y="6"/>
                    </a:cxn>
                    <a:cxn ang="0">
                      <a:pos x="10" y="19"/>
                    </a:cxn>
                    <a:cxn ang="0">
                      <a:pos x="12" y="14"/>
                    </a:cxn>
                    <a:cxn ang="0">
                      <a:pos x="6" y="4"/>
                    </a:cxn>
                    <a:cxn ang="0">
                      <a:pos x="1" y="0"/>
                    </a:cxn>
                    <a:cxn ang="0">
                      <a:pos x="0" y="4"/>
                    </a:cxn>
                    <a:cxn ang="0">
                      <a:pos x="0" y="4"/>
                    </a:cxn>
                  </a:cxnLst>
                  <a:pathLst>
                    <a:path w="717" h="411">
                      <a:moveTo>
                        <a:pt x="0" y="78"/>
                      </a:moveTo>
                      <a:lnTo>
                        <a:pt x="316" y="139"/>
                      </a:lnTo>
                      <a:lnTo>
                        <a:pt x="649" y="411"/>
                      </a:lnTo>
                      <a:lnTo>
                        <a:pt x="717" y="314"/>
                      </a:lnTo>
                      <a:lnTo>
                        <a:pt x="394" y="87"/>
                      </a:lnTo>
                      <a:lnTo>
                        <a:pt x="54" y="0"/>
                      </a:lnTo>
                      <a:lnTo>
                        <a:pt x="0" y="7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1049" name="Freeform 51"/>
                <p:cNvSpPr/>
                <p:nvPr userDrawn="1"/>
              </p:nvSpPr>
              <p:spPr>
                <a:xfrm rot="-3172564">
                  <a:off x="4948" y="141"/>
                  <a:ext cx="179" cy="138"/>
                </a:xfrm>
                <a:custGeom>
                  <a:avLst/>
                  <a:gdLst/>
                  <a:ahLst/>
                  <a:cxnLst>
                    <a:cxn ang="0">
                      <a:pos x="0" y="4"/>
                    </a:cxn>
                    <a:cxn ang="0">
                      <a:pos x="4" y="6"/>
                    </a:cxn>
                    <a:cxn ang="0">
                      <a:pos x="11" y="18"/>
                    </a:cxn>
                    <a:cxn ang="0">
                      <a:pos x="11" y="14"/>
                    </a:cxn>
                    <a:cxn ang="0">
                      <a:pos x="5" y="3"/>
                    </a:cxn>
                    <a:cxn ang="0">
                      <a:pos x="1" y="0"/>
                    </a:cxn>
                    <a:cxn ang="0">
                      <a:pos x="0" y="4"/>
                    </a:cxn>
                    <a:cxn ang="0">
                      <a:pos x="0" y="4"/>
                    </a:cxn>
                  </a:cxnLst>
                  <a:pathLst>
                    <a:path w="709" h="386">
                      <a:moveTo>
                        <a:pt x="0" y="88"/>
                      </a:moveTo>
                      <a:lnTo>
                        <a:pt x="272" y="131"/>
                      </a:lnTo>
                      <a:lnTo>
                        <a:pt x="665" y="386"/>
                      </a:lnTo>
                      <a:lnTo>
                        <a:pt x="709" y="308"/>
                      </a:lnTo>
                      <a:lnTo>
                        <a:pt x="306" y="53"/>
                      </a:lnTo>
                      <a:lnTo>
                        <a:pt x="43" y="0"/>
                      </a:lnTo>
                      <a:lnTo>
                        <a:pt x="0" y="88"/>
                      </a:lnTo>
                      <a:close/>
                    </a:path>
                  </a:pathLst>
                </a:custGeom>
                <a:solidFill>
                  <a:schemeClr val="accent2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  <p:sp>
          <p:nvSpPr>
            <p:cNvPr id="1039" name="Line 52"/>
            <p:cNvSpPr/>
            <p:nvPr userDrawn="1"/>
          </p:nvSpPr>
          <p:spPr>
            <a:xfrm>
              <a:off x="4870" y="84"/>
              <a:ext cx="42" cy="96"/>
            </a:xfrm>
            <a:prstGeom prst="line">
              <a:avLst/>
            </a:prstGeom>
            <a:ln w="38100" cap="flat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037" name="Text Box 53"/>
          <p:cNvSpPr txBox="1">
            <a:spLocks noChangeArrowheads="1"/>
          </p:cNvSpPr>
          <p:nvPr/>
        </p:nvSpPr>
        <p:spPr bwMode="auto">
          <a:xfrm>
            <a:off x="49213" y="6575425"/>
            <a:ext cx="8853488" cy="2746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School of Microelectronics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omic Sans MS" panose="030F0702030302020204" pitchFamily="66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wmf"/><Relationship Id="rId8" Type="http://schemas.openxmlformats.org/officeDocument/2006/relationships/oleObject" Target="../embeddings/oleObject2.bin"/><Relationship Id="rId7" Type="http://schemas.openxmlformats.org/officeDocument/2006/relationships/image" Target="../media/image18.wmf"/><Relationship Id="rId6" Type="http://schemas.openxmlformats.org/officeDocument/2006/relationships/oleObject" Target="../embeddings/oleObject1.bin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1" Type="http://schemas.openxmlformats.org/officeDocument/2006/relationships/vmlDrawing" Target="../drawings/vmlDrawing1.v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7.bin"/><Relationship Id="rId3" Type="http://schemas.openxmlformats.org/officeDocument/2006/relationships/image" Target="../media/image27.wmf"/><Relationship Id="rId2" Type="http://schemas.openxmlformats.org/officeDocument/2006/relationships/oleObject" Target="../embeddings/oleObject6.bin"/><Relationship Id="rId1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4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33.wmf"/><Relationship Id="rId1" Type="http://schemas.openxmlformats.org/officeDocument/2006/relationships/oleObject" Target="../embeddings/oleObject8.bin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6.wmf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5.wmf"/><Relationship Id="rId1" Type="http://schemas.openxmlformats.org/officeDocument/2006/relationships/oleObject" Target="../embeddings/oleObject10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1.png"/><Relationship Id="rId7" Type="http://schemas.openxmlformats.org/officeDocument/2006/relationships/image" Target="../media/image60.png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5.png"/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8.jpeg"/><Relationship Id="rId1" Type="http://schemas.openxmlformats.org/officeDocument/2006/relationships/image" Target="../media/image6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9.jpe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8.jpeg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4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13.bin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79.png"/><Relationship Id="rId13" Type="http://schemas.openxmlformats.org/officeDocument/2006/relationships/vmlDrawing" Target="../drawings/vmlDrawing6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85.png"/><Relationship Id="rId10" Type="http://schemas.openxmlformats.org/officeDocument/2006/relationships/image" Target="../media/image84.wmf"/><Relationship Id="rId1" Type="http://schemas.openxmlformats.org/officeDocument/2006/relationships/image" Target="../media/image7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image" Target="../media/image88.png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4.png"/><Relationship Id="rId4" Type="http://schemas.openxmlformats.org/officeDocument/2006/relationships/image" Target="../media/image92.png"/><Relationship Id="rId3" Type="http://schemas.openxmlformats.org/officeDocument/2006/relationships/image" Target="../media/image93.png"/><Relationship Id="rId2" Type="http://schemas.openxmlformats.org/officeDocument/2006/relationships/image" Target="../media/image91.png"/><Relationship Id="rId1" Type="http://schemas.openxmlformats.org/officeDocument/2006/relationships/image" Target="../media/image9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1" Type="http://schemas.openxmlformats.org/officeDocument/2006/relationships/image" Target="../media/image97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05.png"/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4.png"/><Relationship Id="rId8" Type="http://schemas.openxmlformats.org/officeDocument/2006/relationships/image" Target="../media/image113.png"/><Relationship Id="rId7" Type="http://schemas.openxmlformats.org/officeDocument/2006/relationships/image" Target="../media/image112.png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06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oleObject" Target="../embeddings/oleObject15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9.png"/><Relationship Id="rId1" Type="http://schemas.openxmlformats.org/officeDocument/2006/relationships/image" Target="../media/image118.png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6.png"/><Relationship Id="rId8" Type="http://schemas.openxmlformats.org/officeDocument/2006/relationships/image" Target="../media/image126.png"/><Relationship Id="rId7" Type="http://schemas.openxmlformats.org/officeDocument/2006/relationships/image" Target="../media/image125.png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17.png"/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31.png"/><Relationship Id="rId14" Type="http://schemas.openxmlformats.org/officeDocument/2006/relationships/image" Target="../media/image130.png"/><Relationship Id="rId13" Type="http://schemas.openxmlformats.org/officeDocument/2006/relationships/image" Target="../media/image129.png"/><Relationship Id="rId12" Type="http://schemas.openxmlformats.org/officeDocument/2006/relationships/image" Target="../media/image128.png"/><Relationship Id="rId11" Type="http://schemas.openxmlformats.org/officeDocument/2006/relationships/image" Target="../media/image127.png"/><Relationship Id="rId10" Type="http://schemas.openxmlformats.org/officeDocument/2006/relationships/image" Target="../media/image119.png"/><Relationship Id="rId1" Type="http://schemas.openxmlformats.org/officeDocument/2006/relationships/image" Target="../media/image120.png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4.png"/><Relationship Id="rId7" Type="http://schemas.openxmlformats.org/officeDocument/2006/relationships/image" Target="../media/image143.png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1" Type="http://schemas.openxmlformats.org/officeDocument/2006/relationships/image" Target="../media/image1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1" Type="http://schemas.openxmlformats.org/officeDocument/2006/relationships/image" Target="../media/image145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7.wmf"/><Relationship Id="rId1" Type="http://schemas.openxmlformats.org/officeDocument/2006/relationships/oleObject" Target="../embeddings/oleObject16.bin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8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9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1" Type="http://schemas.openxmlformats.org/officeDocument/2006/relationships/image" Target="../media/image15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5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6.wmf"/><Relationship Id="rId4" Type="http://schemas.openxmlformats.org/officeDocument/2006/relationships/oleObject" Target="../embeddings/oleObject18.bin"/><Relationship Id="rId3" Type="http://schemas.openxmlformats.org/officeDocument/2006/relationships/image" Target="../media/image155.png"/><Relationship Id="rId2" Type="http://schemas.openxmlformats.org/officeDocument/2006/relationships/oleObject" Target="../embeddings/oleObject17.bin"/><Relationship Id="rId1" Type="http://schemas.openxmlformats.org/officeDocument/2006/relationships/image" Target="../media/image154.png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0.v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59.wmf"/><Relationship Id="rId4" Type="http://schemas.openxmlformats.org/officeDocument/2006/relationships/oleObject" Target="../embeddings/oleObject20.bin"/><Relationship Id="rId3" Type="http://schemas.openxmlformats.org/officeDocument/2006/relationships/image" Target="../media/image158.png"/><Relationship Id="rId2" Type="http://schemas.openxmlformats.org/officeDocument/2006/relationships/image" Target="../media/image157.wmf"/><Relationship Id="rId1" Type="http://schemas.openxmlformats.org/officeDocument/2006/relationships/oleObject" Target="../embeddings/oleObject19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64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63.png"/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image" Target="../media/image160.pn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6.png"/><Relationship Id="rId3" Type="http://schemas.openxmlformats.org/officeDocument/2006/relationships/oleObject" Target="../embeddings/oleObject23.bin"/><Relationship Id="rId2" Type="http://schemas.openxmlformats.org/officeDocument/2006/relationships/image" Target="../media/image165.png"/><Relationship Id="rId1" Type="http://schemas.openxmlformats.org/officeDocument/2006/relationships/oleObject" Target="../embeddings/oleObject22.bin"/></Relationships>
</file>

<file path=ppt/slides/_rels/slide6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image" Target="../media/image167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Relationship Id="rId3" Type="http://schemas.openxmlformats.org/officeDocument/2006/relationships/oleObject" Target="../embeddings/oleObject24.bin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9.png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image" Target="../media/image175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image" Target="../media/image180.png"/></Relationships>
</file>

<file path=ppt/slides/_rels/slide6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6.png"/><Relationship Id="rId3" Type="http://schemas.openxmlformats.org/officeDocument/2006/relationships/oleObject" Target="../embeddings/oleObject25.bin"/><Relationship Id="rId2" Type="http://schemas.openxmlformats.org/officeDocument/2006/relationships/image" Target="../media/image184.png"/><Relationship Id="rId1" Type="http://schemas.openxmlformats.org/officeDocument/2006/relationships/image" Target="../media/image183.png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8.png"/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image" Target="../media/image185.png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2.png"/><Relationship Id="rId3" Type="http://schemas.openxmlformats.org/officeDocument/2006/relationships/image" Target="../media/image191.png"/><Relationship Id="rId2" Type="http://schemas.openxmlformats.org/officeDocument/2006/relationships/image" Target="../media/image190.png"/><Relationship Id="rId1" Type="http://schemas.openxmlformats.org/officeDocument/2006/relationships/image" Target="../media/image189.png"/></Relationships>
</file>

<file path=ppt/slides/_rels/slide7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00.png"/><Relationship Id="rId7" Type="http://schemas.openxmlformats.org/officeDocument/2006/relationships/image" Target="../media/image199.png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image" Target="../media/image193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07.png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image" Target="../media/image201.png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9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08.wmf"/><Relationship Id="rId1" Type="http://schemas.openxmlformats.org/officeDocument/2006/relationships/oleObject" Target="../embeddings/oleObject26.bin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11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10.wmf"/><Relationship Id="rId1" Type="http://schemas.openxmlformats.org/officeDocument/2006/relationships/oleObject" Target="../embeddings/oleObject28.bin"/></Relationships>
</file>

<file path=ppt/slides/_rels/slide7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7.v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5.wmf"/><Relationship Id="rId4" Type="http://schemas.openxmlformats.org/officeDocument/2006/relationships/oleObject" Target="../embeddings/oleObject30.bin"/><Relationship Id="rId3" Type="http://schemas.openxmlformats.org/officeDocument/2006/relationships/image" Target="../media/image214.png"/><Relationship Id="rId2" Type="http://schemas.openxmlformats.org/officeDocument/2006/relationships/image" Target="../media/image213.png"/><Relationship Id="rId1" Type="http://schemas.openxmlformats.org/officeDocument/2006/relationships/image" Target="../media/image212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8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18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217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216.wmf"/><Relationship Id="rId1" Type="http://schemas.openxmlformats.org/officeDocument/2006/relationships/oleObject" Target="../embeddings/oleObject31.bin"/></Relationships>
</file>

<file path=ppt/slides/_rels/slide7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openxmlformats.org/officeDocument/2006/relationships/image" Target="../media/image222.png"/><Relationship Id="rId3" Type="http://schemas.openxmlformats.org/officeDocument/2006/relationships/image" Target="../media/image221.png"/><Relationship Id="rId2" Type="http://schemas.openxmlformats.org/officeDocument/2006/relationships/image" Target="../media/image220.png"/><Relationship Id="rId1" Type="http://schemas.openxmlformats.org/officeDocument/2006/relationships/image" Target="../media/image219.png"/></Relationships>
</file>

<file path=ppt/slides/_rels/slide7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228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22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26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225.wmf"/><Relationship Id="rId12" Type="http://schemas.openxmlformats.org/officeDocument/2006/relationships/vmlDrawing" Target="../drawings/vmlDrawing1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29.wmf"/><Relationship Id="rId1" Type="http://schemas.openxmlformats.org/officeDocument/2006/relationships/oleObject" Target="../embeddings/oleObject34.bin"/></Relationships>
</file>

<file path=ppt/slides/_rels/slide7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3.wmf"/><Relationship Id="rId7" Type="http://schemas.openxmlformats.org/officeDocument/2006/relationships/oleObject" Target="../embeddings/oleObject42.bin"/><Relationship Id="rId6" Type="http://schemas.openxmlformats.org/officeDocument/2006/relationships/image" Target="../media/image232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231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230.wmf"/><Relationship Id="rId10" Type="http://schemas.openxmlformats.org/officeDocument/2006/relationships/vmlDrawing" Target="../drawings/vmlDrawing20.vml"/><Relationship Id="rId1" Type="http://schemas.openxmlformats.org/officeDocument/2006/relationships/oleObject" Target="../embeddings/oleObject39.bin"/></Relationships>
</file>

<file path=ppt/slides/_rels/slide8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37.wmf"/><Relationship Id="rId7" Type="http://schemas.openxmlformats.org/officeDocument/2006/relationships/oleObject" Target="../embeddings/oleObject46.bin"/><Relationship Id="rId6" Type="http://schemas.openxmlformats.org/officeDocument/2006/relationships/image" Target="../media/image236.wmf"/><Relationship Id="rId5" Type="http://schemas.openxmlformats.org/officeDocument/2006/relationships/oleObject" Target="../embeddings/oleObject45.bin"/><Relationship Id="rId4" Type="http://schemas.openxmlformats.org/officeDocument/2006/relationships/image" Target="../media/image235.wmf"/><Relationship Id="rId3" Type="http://schemas.openxmlformats.org/officeDocument/2006/relationships/oleObject" Target="../embeddings/oleObject44.bin"/><Relationship Id="rId2" Type="http://schemas.openxmlformats.org/officeDocument/2006/relationships/image" Target="../media/image234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43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40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239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238.wmf"/><Relationship Id="rId1" Type="http://schemas.openxmlformats.org/officeDocument/2006/relationships/oleObject" Target="../embeddings/oleObject47.bin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image" Target="../media/image241.png"/></Relationships>
</file>

<file path=ppt/slides/_rels/slide8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7.wmf"/><Relationship Id="rId7" Type="http://schemas.openxmlformats.org/officeDocument/2006/relationships/oleObject" Target="../embeddings/oleObject53.bin"/><Relationship Id="rId6" Type="http://schemas.openxmlformats.org/officeDocument/2006/relationships/image" Target="../media/image246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245.wmf"/><Relationship Id="rId3" Type="http://schemas.openxmlformats.org/officeDocument/2006/relationships/oleObject" Target="../embeddings/oleObject51.bin"/><Relationship Id="rId2" Type="http://schemas.openxmlformats.org/officeDocument/2006/relationships/image" Target="../media/image244.wmf"/><Relationship Id="rId10" Type="http://schemas.openxmlformats.org/officeDocument/2006/relationships/vmlDrawing" Target="../drawings/vmlDrawing23.vml"/><Relationship Id="rId1" Type="http://schemas.openxmlformats.org/officeDocument/2006/relationships/oleObject" Target="../embeddings/oleObject50.bin"/></Relationships>
</file>

<file path=ppt/slides/_rels/slide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51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250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249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248.wmf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54.bin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2.png"/><Relationship Id="rId1" Type="http://schemas.openxmlformats.org/officeDocument/2006/relationships/oleObject" Target="../embeddings/oleObject5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Text Box 4"/>
          <p:cNvSpPr txBox="1"/>
          <p:nvPr/>
        </p:nvSpPr>
        <p:spPr>
          <a:xfrm>
            <a:off x="1476375" y="1989138"/>
            <a:ext cx="5976938" cy="8239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None/>
            </a:pPr>
            <a:r>
              <a:rPr lang="zh-CN" altLang="en-US" sz="4800" b="1" dirty="0">
                <a:solidFill>
                  <a:schemeClr val="folHlink"/>
                </a:solidFill>
              </a:rPr>
              <a:t>第五章 非平衡载流子</a:t>
            </a:r>
            <a:endParaRPr lang="zh-CN" altLang="en-US" sz="48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3"/>
          <p:cNvSpPr>
            <a:spLocks noGrp="1"/>
          </p:cNvSpPr>
          <p:nvPr>
            <p:ph idx="1" hasCustomPrompt="1"/>
          </p:nvPr>
        </p:nvSpPr>
        <p:spPr>
          <a:xfrm>
            <a:off x="900113" y="1052513"/>
            <a:ext cx="7070725" cy="5084762"/>
          </a:xfrm>
          <a:solidFill>
            <a:srgbClr val="CCECFF">
              <a:alpha val="100000"/>
            </a:srgbClr>
          </a:solidFill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5.1  </a:t>
            </a:r>
            <a:r>
              <a:rPr lang="zh-CN" altLang="en-US" sz="2400" b="1" dirty="0">
                <a:latin typeface="Times New Roman" panose="02020603050405020304" pitchFamily="18" charset="0"/>
              </a:rPr>
              <a:t>非平衡载流子的注入与复合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5.2  </a:t>
            </a:r>
            <a:r>
              <a:rPr lang="zh-CN" altLang="en-US" sz="2400" b="1" dirty="0">
                <a:latin typeface="Times New Roman" panose="02020603050405020304" pitchFamily="18" charset="0"/>
              </a:rPr>
              <a:t>非平衡载流子的寿命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5.3  </a:t>
            </a:r>
            <a:r>
              <a:rPr lang="zh-CN" altLang="en-US" sz="2400" b="1" dirty="0">
                <a:latin typeface="Times New Roman" panose="02020603050405020304" pitchFamily="18" charset="0"/>
              </a:rPr>
              <a:t>准费米能级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5.4  </a:t>
            </a:r>
            <a:r>
              <a:rPr lang="zh-CN" altLang="en-US" sz="2400" b="1" dirty="0">
                <a:latin typeface="Times New Roman" panose="02020603050405020304" pitchFamily="18" charset="0"/>
              </a:rPr>
              <a:t>复合理论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5.5  </a:t>
            </a:r>
            <a:r>
              <a:rPr lang="zh-CN" altLang="en-US" sz="2400" b="1" dirty="0">
                <a:latin typeface="Times New Roman" panose="02020603050405020304" pitchFamily="18" charset="0"/>
              </a:rPr>
              <a:t>陷阱效应 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5.6  </a:t>
            </a:r>
            <a:r>
              <a:rPr lang="zh-CN" altLang="en-US" sz="2400" b="1" dirty="0">
                <a:latin typeface="Times New Roman" panose="02020603050405020304" pitchFamily="18" charset="0"/>
              </a:rPr>
              <a:t>载流子的扩散运动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5.7  </a:t>
            </a:r>
            <a:r>
              <a:rPr lang="zh-CN" altLang="en-US" sz="2400" b="1" dirty="0">
                <a:latin typeface="Times New Roman" panose="02020603050405020304" pitchFamily="18" charset="0"/>
              </a:rPr>
              <a:t>漂移运动</a:t>
            </a:r>
            <a:endParaRPr lang="zh-CN" altLang="en-US" sz="24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5.8  </a:t>
            </a:r>
            <a:r>
              <a:rPr lang="zh-CN" altLang="en-US" sz="2400" b="1" dirty="0">
                <a:latin typeface="Times New Roman" panose="02020603050405020304" pitchFamily="18" charset="0"/>
              </a:rPr>
              <a:t>连续性方程</a:t>
            </a: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4099" name="Rectangle 8"/>
          <p:cNvSpPr/>
          <p:nvPr/>
        </p:nvSpPr>
        <p:spPr>
          <a:xfrm>
            <a:off x="179388" y="333375"/>
            <a:ext cx="82296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742950" lvl="1" indent="-285750" eaLnBrk="1" hangingPunct="1"/>
            <a:r>
              <a:rPr lang="zh-CN" altLang="en-US" b="1" dirty="0">
                <a:solidFill>
                  <a:srgbClr val="FF0000"/>
                </a:solidFill>
              </a:rPr>
              <a:t>本章主要内容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250825" y="333375"/>
            <a:ext cx="7058025" cy="89058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5.1</a:t>
            </a:r>
            <a:r>
              <a:rPr lang="zh-CN" altLang="en-US" sz="4000" b="1" dirty="0">
                <a:solidFill>
                  <a:srgbClr val="0000FF"/>
                </a:solidFill>
              </a:rPr>
              <a:t>非平衡载流子的注入与复合</a:t>
            </a:r>
            <a:endParaRPr lang="zh-CN" altLang="en-US" sz="4000" b="1" dirty="0">
              <a:solidFill>
                <a:srgbClr val="0000FF"/>
              </a:solidFill>
            </a:endParaRPr>
          </a:p>
        </p:txBody>
      </p:sp>
      <p:sp>
        <p:nvSpPr>
          <p:cNvPr id="20483" name="Rectangle 3"/>
          <p:cNvSpPr>
            <a:spLocks noGrp="1" noRot="1" noChangeAspect="1" noMove="1" noResize="1" noEditPoints="1" noAdjustHandles="1" noChangeArrowheads="1" noChangeShapeType="1" noTextEdit="1"/>
          </p:cNvSpPr>
          <p:nvPr>
            <p:ph idx="1" hasCustomPrompt="1"/>
          </p:nvPr>
        </p:nvSpPr>
        <p:spPr bwMode="auto">
          <a:xfrm>
            <a:off x="323850" y="2781300"/>
            <a:ext cx="8353425" cy="3529013"/>
          </a:xfrm>
          <a:blipFill>
            <a:blip r:embed="rId1"/>
            <a:stretch>
              <a:fillRect l="-1020"/>
            </a:stretch>
          </a:blipFill>
          <a:ln>
            <a:solidFill>
              <a:srgbClr val="CCECFF"/>
            </a:solidFill>
            <a:miter lim="800000"/>
          </a:ln>
          <a:effectLst/>
          <a:scene3d>
            <a:camera prst="orthographicFront"/>
            <a:lightRig rig="balanced" dir="t"/>
          </a:scene3d>
          <a:sp3d prstMaterial="plastic"/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32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4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323850" y="1341438"/>
            <a:ext cx="8281988" cy="1295400"/>
          </a:xfrm>
          <a:prstGeom prst="rect">
            <a:avLst/>
          </a:prstGeom>
          <a:blipFill>
            <a:blip r:embed="rId2"/>
            <a:stretch>
              <a:fillRect l="-1104" r="-3385" b="-7981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483">
                                            <p:txEl>
                                              <p:char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animBg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146" name="Picture 4" descr="hw0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260350"/>
            <a:ext cx="7273925" cy="2151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7637" name="Rectangle 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250825" y="2708275"/>
            <a:ext cx="8640763" cy="2592388"/>
          </a:xfrm>
          <a:prstGeom prst="rect">
            <a:avLst/>
          </a:prstGeom>
          <a:blipFill>
            <a:blip r:embed="rId2"/>
            <a:stretch>
              <a:fillRect t="-235"/>
            </a:stretch>
          </a:blip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7638" name="Rectangle 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11560" y="5085184"/>
            <a:ext cx="8228535" cy="830997"/>
          </a:xfrm>
          <a:prstGeom prst="rect">
            <a:avLst/>
          </a:prstGeom>
          <a:blipFill>
            <a:blip r:embed="rId3"/>
            <a:stretch>
              <a:fillRect l="-1111" t="-8759" r="-444" b="-5109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7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3"/>
          <p:cNvSpPr>
            <a:spLocks noGrp="1"/>
          </p:cNvSpPr>
          <p:nvPr>
            <p:ph idx="1" hasCustomPrompt="1"/>
          </p:nvPr>
        </p:nvSpPr>
        <p:spPr>
          <a:xfrm>
            <a:off x="684213" y="404813"/>
            <a:ext cx="7696200" cy="597693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70000"/>
              </a:lnSpc>
              <a:buNone/>
            </a:pPr>
            <a:r>
              <a:rPr lang="en-US" altLang="zh-CN" sz="2400" b="1" dirty="0">
                <a:latin typeface="Times New Roman" panose="02020603050405020304" pitchFamily="18" charset="0"/>
              </a:rPr>
              <a:t>     </a:t>
            </a:r>
            <a:endParaRPr lang="en-US" altLang="zh-CN" sz="2200" dirty="0">
              <a:latin typeface="Times New Roman" panose="02020603050405020304" pitchFamily="18" charset="0"/>
            </a:endParaRPr>
          </a:p>
        </p:txBody>
      </p:sp>
      <p:sp>
        <p:nvSpPr>
          <p:cNvPr id="150539" name="Rectangle 1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39750" y="307975"/>
            <a:ext cx="7272338" cy="1938991"/>
          </a:xfrm>
          <a:prstGeom prst="rect">
            <a:avLst/>
          </a:prstGeom>
          <a:blipFill>
            <a:blip r:embed="rId1"/>
            <a:stretch>
              <a:fillRect l="-1341" t="-3774" b="-5031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0540" name="Rectangle 12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468313" y="2420938"/>
            <a:ext cx="7559674" cy="1200329"/>
          </a:xfrm>
          <a:prstGeom prst="rect">
            <a:avLst/>
          </a:prstGeom>
          <a:blipFill>
            <a:blip r:embed="rId2"/>
            <a:stretch>
              <a:fillRect l="-1290" t="-6091" r="-1129" b="-8629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150541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" y="3860800"/>
            <a:ext cx="4464050" cy="1458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50542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1138" y="3875088"/>
            <a:ext cx="1296987" cy="9572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19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" y="549275"/>
            <a:ext cx="6624638" cy="1252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968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2060575"/>
            <a:ext cx="7199312" cy="55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968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2997200"/>
            <a:ext cx="8208962" cy="13382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9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9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ext Box 6"/>
          <p:cNvSpPr txBox="1"/>
          <p:nvPr/>
        </p:nvSpPr>
        <p:spPr>
          <a:xfrm>
            <a:off x="395288" y="404813"/>
            <a:ext cx="28813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3.</a:t>
            </a:r>
            <a:r>
              <a:rPr lang="zh-CN" altLang="en-US" sz="2400" b="1" dirty="0">
                <a:solidFill>
                  <a:srgbClr val="0000FF"/>
                </a:solidFill>
              </a:rPr>
              <a:t>附加光电导现象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9219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0725" y="0"/>
            <a:ext cx="4613275" cy="2492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20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1052513"/>
            <a:ext cx="3960812" cy="1720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071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313" y="4862513"/>
            <a:ext cx="2808287" cy="94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0715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538" y="4800600"/>
            <a:ext cx="2592387" cy="1004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0716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7538" y="5949950"/>
            <a:ext cx="2592387" cy="682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0717" name="Text Box 13"/>
          <p:cNvSpPr txBox="1"/>
          <p:nvPr/>
        </p:nvSpPr>
        <p:spPr>
          <a:xfrm>
            <a:off x="395288" y="2852738"/>
            <a:ext cx="2951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chemeClr val="folHlink"/>
                </a:solidFill>
              </a:rPr>
              <a:t>小注入时， </a:t>
            </a:r>
            <a:r>
              <a:rPr lang="zh-CN" altLang="en-US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olidFill>
                  <a:schemeClr val="folHlink"/>
                </a:solidFill>
                <a:sym typeface="Symbol" panose="05050102010706020507" pitchFamily="18" charset="2"/>
              </a:rPr>
              <a:t>0</a:t>
            </a:r>
            <a:r>
              <a:rPr lang="en-US" altLang="zh-CN" sz="2400" b="1" dirty="0">
                <a:solidFill>
                  <a:schemeClr val="folHlink"/>
                </a:solidFill>
                <a:sym typeface="Symbol" panose="05050102010706020507" pitchFamily="18" charset="2"/>
              </a:rPr>
              <a:t>+</a:t>
            </a:r>
            <a:r>
              <a:rPr lang="en-US" altLang="zh-CN" sz="2400" b="1" baseline="-25000" dirty="0">
                <a:solidFill>
                  <a:schemeClr val="folHlink"/>
                </a:solidFill>
                <a:sym typeface="Symbol" panose="05050102010706020507" pitchFamily="18" charset="2"/>
              </a:rPr>
              <a:t>0</a:t>
            </a:r>
            <a:endParaRPr lang="en-US" altLang="zh-CN" sz="2400" b="1" baseline="-25000" dirty="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00718" name="Object 14"/>
          <p:cNvGraphicFramePr>
            <a:graphicFrameLocks noChangeAspect="1"/>
          </p:cNvGraphicFramePr>
          <p:nvPr/>
        </p:nvGraphicFramePr>
        <p:xfrm>
          <a:off x="3851275" y="2636838"/>
          <a:ext cx="2303463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6" imgW="1333500" imgH="444500" progId="Equation.3">
                  <p:embed/>
                </p:oleObj>
              </mc:Choice>
              <mc:Fallback>
                <p:oleObj name="" r:id="rId6" imgW="1333500" imgH="4445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851275" y="2636838"/>
                        <a:ext cx="2303463" cy="768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0719" name="Object 15"/>
          <p:cNvGraphicFramePr>
            <a:graphicFrameLocks noChangeAspect="1"/>
          </p:cNvGraphicFramePr>
          <p:nvPr/>
        </p:nvGraphicFramePr>
        <p:xfrm>
          <a:off x="2771775" y="3789363"/>
          <a:ext cx="388778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8" imgW="2120900" imgH="444500" progId="Equation.3">
                  <p:embed/>
                </p:oleObj>
              </mc:Choice>
              <mc:Fallback>
                <p:oleObj name="" r:id="rId8" imgW="2120900" imgH="4445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71775" y="3789363"/>
                        <a:ext cx="3887788" cy="8159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0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0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0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0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0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0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7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ext Box 4"/>
          <p:cNvSpPr txBox="1"/>
          <p:nvPr/>
        </p:nvSpPr>
        <p:spPr>
          <a:xfrm>
            <a:off x="539750" y="333375"/>
            <a:ext cx="698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</a:t>
            </a:r>
            <a:r>
              <a:rPr lang="zh-CN" altLang="en-US" sz="2400" b="1" dirty="0"/>
              <a:t>非平衡载流子的</a:t>
            </a:r>
            <a:r>
              <a:rPr lang="zh-CN" altLang="en-US" sz="2400" b="1" dirty="0">
                <a:solidFill>
                  <a:schemeClr val="tx2"/>
                </a:solidFill>
              </a:rPr>
              <a:t>电注入</a:t>
            </a:r>
            <a:r>
              <a:rPr lang="zh-CN" altLang="en-US" sz="2400" b="1" dirty="0"/>
              <a:t>：给</a:t>
            </a:r>
            <a:r>
              <a:rPr lang="en-US" altLang="zh-CN" sz="2400" b="1" dirty="0"/>
              <a:t>pn</a:t>
            </a:r>
            <a:r>
              <a:rPr lang="zh-CN" altLang="en-US" sz="2400" b="1" dirty="0"/>
              <a:t>结加正向电场。</a:t>
            </a:r>
            <a:endParaRPr lang="zh-CN" altLang="en-US" sz="2400" b="1" dirty="0"/>
          </a:p>
        </p:txBody>
      </p:sp>
      <p:sp>
        <p:nvSpPr>
          <p:cNvPr id="10243" name="Text Box 5"/>
          <p:cNvSpPr txBox="1"/>
          <p:nvPr/>
        </p:nvSpPr>
        <p:spPr>
          <a:xfrm>
            <a:off x="684213" y="981075"/>
            <a:ext cx="69850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外作用撤销后，如光照停止后，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ym typeface="Symbol" panose="05050102010706020507" pitchFamily="18" charset="2"/>
              </a:rPr>
              <a:t>在毫秒或微秒量级内很快趋于</a:t>
            </a:r>
            <a:r>
              <a:rPr lang="en-US" altLang="zh-CN" sz="2400" b="1" dirty="0">
                <a:sym typeface="Symbol" panose="05050102010706020507" pitchFamily="18" charset="2"/>
              </a:rPr>
              <a:t>0</a:t>
            </a:r>
            <a:r>
              <a:rPr lang="zh-CN" altLang="en-US" sz="2400" b="1" dirty="0">
                <a:sym typeface="Symbol" panose="05050102010706020507" pitchFamily="18" charset="2"/>
              </a:rPr>
              <a:t>，说明注入的非平衡载流子不能一直存在下去。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sp>
        <p:nvSpPr>
          <p:cNvPr id="203782" name="Text Box 6"/>
          <p:cNvSpPr txBox="1"/>
          <p:nvPr/>
        </p:nvSpPr>
        <p:spPr>
          <a:xfrm>
            <a:off x="684213" y="2276475"/>
            <a:ext cx="7488237" cy="1735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外部作用撤销后，导带电子回到价带，电子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空穴对成对消失。载流子浓度恢复到</a:t>
            </a:r>
            <a:r>
              <a:rPr lang="zh-CN" altLang="en-US" sz="2400" b="1" dirty="0">
                <a:solidFill>
                  <a:schemeClr val="tx2"/>
                </a:solidFill>
              </a:rPr>
              <a:t>平衡态载流子浓度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非平衡载流子的复合：</a:t>
            </a:r>
            <a:r>
              <a:rPr lang="zh-CN" altLang="en-US" sz="2400" b="1" dirty="0">
                <a:solidFill>
                  <a:schemeClr val="accent2"/>
                </a:solidFill>
              </a:rPr>
              <a:t>非平衡态恢复到平衡态，过剩载流子消失，这一过程为</a:t>
            </a:r>
            <a:r>
              <a:rPr lang="zh-CN" altLang="en-US" sz="2400" b="1" dirty="0">
                <a:solidFill>
                  <a:schemeClr val="tx2"/>
                </a:solidFill>
              </a:rPr>
              <a:t>非平衡载流子的复合。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03783" name="Text Box 7"/>
          <p:cNvSpPr txBox="1"/>
          <p:nvPr/>
        </p:nvSpPr>
        <p:spPr>
          <a:xfrm>
            <a:off x="827088" y="4508500"/>
            <a:ext cx="6985000" cy="822325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热平衡是一种相对静止状态。电子和空穴总是不断产生与复合。热平衡下，产生与复合达到相对平衡。</a:t>
            </a:r>
            <a:endParaRPr lang="zh-CN" altLang="en-US" sz="24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3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3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782" grpId="0"/>
      <p:bldP spid="20378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ext Box 4"/>
          <p:cNvSpPr txBox="1"/>
          <p:nvPr/>
        </p:nvSpPr>
        <p:spPr>
          <a:xfrm>
            <a:off x="468313" y="549275"/>
            <a:ext cx="3743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5.2 </a:t>
            </a:r>
            <a:r>
              <a:rPr lang="zh-CN" altLang="en-US" sz="2400" b="1" dirty="0">
                <a:solidFill>
                  <a:srgbClr val="0000FF"/>
                </a:solidFill>
              </a:rPr>
              <a:t>非平衡载流子的寿命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1126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1412875"/>
            <a:ext cx="4321175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26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3" y="2492375"/>
            <a:ext cx="7345362" cy="793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07" name="Text 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84213" y="3860800"/>
            <a:ext cx="7632700" cy="830997"/>
          </a:xfrm>
          <a:prstGeom prst="rect">
            <a:avLst/>
          </a:prstGeom>
          <a:blipFill>
            <a:blip r:embed="rId3"/>
            <a:stretch>
              <a:fillRect l="-1198" t="-8759" b="-14599"/>
            </a:stretch>
          </a:blipFill>
          <a:ln>
            <a:noFill/>
          </a:ln>
          <a:effectLst/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228" name="Rectangle 4"/>
          <p:cNvSpPr/>
          <p:nvPr/>
        </p:nvSpPr>
        <p:spPr>
          <a:xfrm>
            <a:off x="468313" y="765175"/>
            <a:ext cx="7272337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    </a:t>
            </a:r>
            <a:r>
              <a:rPr lang="zh-CN" altLang="en-US" sz="2400" b="1" dirty="0">
                <a:sym typeface="Symbol" panose="05050102010706020507" pitchFamily="18" charset="2"/>
              </a:rPr>
              <a:t>设</a:t>
            </a:r>
            <a:r>
              <a:rPr lang="en-US" altLang="zh-CN" sz="2400" b="1" dirty="0"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ym typeface="Symbol" panose="05050102010706020507" pitchFamily="18" charset="2"/>
              </a:rPr>
              <a:t>型硅材料内产生非平衡载流子： </a:t>
            </a:r>
            <a:r>
              <a:rPr lang="en-US" altLang="zh-CN" sz="2400" b="1" dirty="0"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ym typeface="Symbol" panose="05050102010706020507" pitchFamily="18" charset="2"/>
              </a:rPr>
              <a:t>，</a:t>
            </a:r>
            <a:r>
              <a:rPr lang="en-US" altLang="zh-CN" sz="2400" b="1" dirty="0">
                <a:sym typeface="Symbol" panose="05050102010706020507" pitchFamily="18" charset="2"/>
              </a:rPr>
              <a:t>p </a:t>
            </a:r>
            <a:r>
              <a:rPr lang="zh-CN" altLang="en-US" sz="2400" b="1" dirty="0">
                <a:sym typeface="Symbol" panose="05050102010706020507" pitchFamily="18" charset="2"/>
              </a:rPr>
              <a:t>显然， 光照停止后， </a:t>
            </a:r>
            <a:r>
              <a:rPr lang="en-US" altLang="zh-CN" sz="2400" b="1" dirty="0">
                <a:sym typeface="Symbol" panose="05050102010706020507" pitchFamily="18" charset="2"/>
              </a:rPr>
              <a:t>p(t)</a:t>
            </a:r>
            <a:r>
              <a:rPr lang="zh-CN" altLang="en-US" sz="2400" b="1" dirty="0">
                <a:sym typeface="Symbol" panose="05050102010706020507" pitchFamily="18" charset="2"/>
              </a:rPr>
              <a:t>随时间减少，单位时间内减少</a:t>
            </a:r>
            <a:r>
              <a:rPr lang="en-US" altLang="zh-CN" sz="1800" b="1" dirty="0">
                <a:solidFill>
                  <a:schemeClr val="tx2"/>
                </a:solidFill>
                <a:sym typeface="Symbol" panose="05050102010706020507" pitchFamily="18" charset="2"/>
              </a:rPr>
              <a:t>-d(p(t))/dt</a:t>
            </a:r>
            <a:r>
              <a:rPr lang="en-US" altLang="zh-CN" sz="1800" dirty="0">
                <a:solidFill>
                  <a:schemeClr val="tx2"/>
                </a:solidFill>
                <a:sym typeface="Symbol" panose="05050102010706020507" pitchFamily="18" charset="2"/>
              </a:rPr>
              <a:t> , </a:t>
            </a:r>
            <a:r>
              <a:rPr lang="zh-CN" altLang="en-US" sz="2400" b="1" dirty="0">
                <a:sym typeface="Symbol" panose="05050102010706020507" pitchFamily="18" charset="2"/>
              </a:rPr>
              <a:t>应等于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单位时间内的复合率</a:t>
            </a:r>
            <a:endParaRPr lang="zh-CN" altLang="en-US" sz="24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308229" name="Object 5"/>
          <p:cNvGraphicFramePr>
            <a:graphicFrameLocks noChangeAspect="1"/>
          </p:cNvGraphicFramePr>
          <p:nvPr>
            <p:ph sz="half" idx="1" hasCustomPrompt="1"/>
          </p:nvPr>
        </p:nvGraphicFramePr>
        <p:xfrm>
          <a:off x="2555875" y="2133600"/>
          <a:ext cx="3097213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054100" imgH="393700" progId="Equation.3">
                  <p:embed/>
                </p:oleObj>
              </mc:Choice>
              <mc:Fallback>
                <p:oleObj name="" r:id="rId1" imgW="1054100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555875" y="2133600"/>
                        <a:ext cx="3097213" cy="10810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232" name="Object 8"/>
          <p:cNvGraphicFramePr>
            <a:graphicFrameLocks noChangeAspect="1"/>
          </p:cNvGraphicFramePr>
          <p:nvPr>
            <p:ph sz="quarter" idx="2" hasCustomPrompt="1"/>
          </p:nvPr>
        </p:nvGraphicFramePr>
        <p:xfrm>
          <a:off x="4356100" y="3500438"/>
          <a:ext cx="29527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333500" imgH="228600" progId="Equation.3">
                  <p:embed/>
                </p:oleObj>
              </mc:Choice>
              <mc:Fallback>
                <p:oleObj name="" r:id="rId3" imgW="1333500" imgH="2286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4356100" y="3500438"/>
                        <a:ext cx="2952750" cy="5048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31" name="Text Box 7"/>
          <p:cNvSpPr txBox="1"/>
          <p:nvPr/>
        </p:nvSpPr>
        <p:spPr>
          <a:xfrm>
            <a:off x="1042988" y="3500438"/>
            <a:ext cx="32416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小注时， </a:t>
            </a:r>
            <a:r>
              <a:rPr lang="zh-CN" altLang="en-US" sz="2400" b="1" dirty="0">
                <a:sym typeface="Symbol" panose="05050102010706020507" pitchFamily="18" charset="2"/>
              </a:rPr>
              <a:t>为一个衡量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sp>
        <p:nvSpPr>
          <p:cNvPr id="308235" name="Text Box 11"/>
          <p:cNvSpPr txBox="1"/>
          <p:nvPr/>
        </p:nvSpPr>
        <p:spPr>
          <a:xfrm>
            <a:off x="1042988" y="4508500"/>
            <a:ext cx="4176712" cy="829945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t=0</a:t>
            </a:r>
            <a:r>
              <a:rPr lang="zh-CN" altLang="en-US" sz="2400" b="1" dirty="0">
                <a:solidFill>
                  <a:schemeClr val="tx2"/>
                </a:solidFill>
              </a:rPr>
              <a:t>时</a:t>
            </a:r>
            <a:r>
              <a:rPr lang="en-US" altLang="zh-CN" sz="2400" b="1" dirty="0">
                <a:solidFill>
                  <a:schemeClr val="tx2"/>
                </a:solidFill>
              </a:rPr>
              <a:t>, 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p(0)=(p)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0</a:t>
            </a:r>
            <a:r>
              <a:rPr lang="zh-CN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代入得非平衡载流子的衰减规律</a:t>
            </a:r>
            <a:endParaRPr lang="zh-CN" altLang="en-US" sz="24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308236" name="Object 12"/>
          <p:cNvGraphicFramePr>
            <a:graphicFrameLocks noChangeAspect="1"/>
          </p:cNvGraphicFramePr>
          <p:nvPr>
            <p:ph sz="quarter" idx="3" hasCustomPrompt="1"/>
          </p:nvPr>
        </p:nvGraphicFramePr>
        <p:xfrm>
          <a:off x="5580063" y="4724400"/>
          <a:ext cx="24479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5" imgW="1129665" imgH="241300" progId="Equation.3">
                  <p:embed/>
                </p:oleObj>
              </mc:Choice>
              <mc:Fallback>
                <p:oleObj name="" r:id="rId5" imgW="1129665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>
                      <a:xfrm>
                        <a:off x="5580063" y="4724400"/>
                        <a:ext cx="2447925" cy="57626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8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8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8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8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8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8" grpId="0"/>
      <p:bldP spid="308231" grpId="0"/>
      <p:bldP spid="308235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314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1050" y="3573463"/>
            <a:ext cx="3744913" cy="2590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315" name="Text Box 16"/>
          <p:cNvSpPr txBox="1"/>
          <p:nvPr/>
        </p:nvSpPr>
        <p:spPr>
          <a:xfrm>
            <a:off x="1258888" y="260350"/>
            <a:ext cx="4321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非平衡载流子的平均生存时间</a:t>
            </a:r>
            <a:endParaRPr lang="zh-CN" altLang="en-US" sz="2400" b="1" dirty="0"/>
          </a:p>
        </p:txBody>
      </p:sp>
      <p:graphicFrame>
        <p:nvGraphicFramePr>
          <p:cNvPr id="13316" name="Object 18"/>
          <p:cNvGraphicFramePr>
            <a:graphicFrameLocks noChangeAspect="1"/>
          </p:cNvGraphicFramePr>
          <p:nvPr/>
        </p:nvGraphicFramePr>
        <p:xfrm>
          <a:off x="1763713" y="836613"/>
          <a:ext cx="2935287" cy="171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2" imgW="1498600" imgH="876300" progId="Equation.3">
                  <p:embed/>
                </p:oleObj>
              </mc:Choice>
              <mc:Fallback>
                <p:oleObj name="" r:id="rId2" imgW="1498600" imgH="8763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63713" y="836613"/>
                        <a:ext cx="2935287" cy="1717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1752" name="Group 24"/>
          <p:cNvGrpSpPr/>
          <p:nvPr/>
        </p:nvGrpSpPr>
        <p:grpSpPr>
          <a:xfrm>
            <a:off x="1331913" y="2565400"/>
            <a:ext cx="4438650" cy="604838"/>
            <a:chOff x="295" y="1626"/>
            <a:chExt cx="2796" cy="381"/>
          </a:xfrm>
        </p:grpSpPr>
        <p:sp>
          <p:nvSpPr>
            <p:cNvPr id="13318" name="Text Box 19"/>
            <p:cNvSpPr txBox="1"/>
            <p:nvPr/>
          </p:nvSpPr>
          <p:spPr>
            <a:xfrm>
              <a:off x="295" y="1706"/>
              <a:ext cx="10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dirty="0"/>
                <a:t>当</a:t>
              </a:r>
              <a:r>
                <a:rPr lang="en-US" altLang="zh-CN" sz="2400" dirty="0"/>
                <a:t>t=</a:t>
              </a:r>
              <a:r>
                <a:rPr lang="en-US" altLang="zh-CN" sz="2400" dirty="0">
                  <a:sym typeface="Symbol" panose="05050102010706020507" pitchFamily="18" charset="2"/>
                </a:rPr>
                <a:t></a:t>
              </a:r>
              <a:r>
                <a:rPr lang="zh-CN" altLang="en-US" sz="2400" dirty="0">
                  <a:sym typeface="Symbol" panose="05050102010706020507" pitchFamily="18" charset="2"/>
                </a:rPr>
                <a:t>时，</a:t>
              </a:r>
              <a:r>
                <a:rPr lang="zh-CN" altLang="en-US" sz="1800" dirty="0">
                  <a:sym typeface="Symbol" panose="05050102010706020507" pitchFamily="18" charset="2"/>
                </a:rPr>
                <a:t> </a:t>
              </a:r>
              <a:endParaRPr lang="zh-CN" altLang="en-US" sz="1800" dirty="0">
                <a:sym typeface="Symbol" panose="05050102010706020507" pitchFamily="18" charset="2"/>
              </a:endParaRPr>
            </a:p>
          </p:txBody>
        </p:sp>
        <p:graphicFrame>
          <p:nvGraphicFramePr>
            <p:cNvPr id="13319" name="Object 20"/>
            <p:cNvGraphicFramePr>
              <a:graphicFrameLocks noChangeAspect="1"/>
            </p:cNvGraphicFramePr>
            <p:nvPr/>
          </p:nvGraphicFramePr>
          <p:xfrm>
            <a:off x="1376" y="1626"/>
            <a:ext cx="1715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4" imgW="1028700" imgH="228600" progId="Equation.3">
                    <p:embed/>
                  </p:oleObj>
                </mc:Choice>
                <mc:Fallback>
                  <p:oleObj name="" r:id="rId4" imgW="1028700" imgH="22860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76" y="1626"/>
                          <a:ext cx="1715" cy="381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1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1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324" name="Text Box 4"/>
          <p:cNvSpPr txBox="1"/>
          <p:nvPr/>
        </p:nvSpPr>
        <p:spPr>
          <a:xfrm>
            <a:off x="611188" y="476250"/>
            <a:ext cx="7129462" cy="19177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寿命表示非平衡载流子的浓度减小到原值的</a:t>
            </a:r>
            <a:r>
              <a:rPr lang="en-US" altLang="zh-CN" sz="2400" b="1" dirty="0"/>
              <a:t>1/e</a:t>
            </a:r>
            <a:r>
              <a:rPr lang="zh-CN" altLang="en-US" sz="2400" b="1" dirty="0"/>
              <a:t>所经历的时间。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寿命不同，非平衡载流子衰减的快慢不同；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寿命越短，衰减越快。</a:t>
            </a:r>
            <a:endParaRPr lang="zh-CN" altLang="en-US" sz="2400" b="1" dirty="0"/>
          </a:p>
        </p:txBody>
      </p:sp>
      <p:sp>
        <p:nvSpPr>
          <p:cNvPr id="312325" name="Text Box 5"/>
          <p:cNvSpPr txBox="1"/>
          <p:nvPr/>
        </p:nvSpPr>
        <p:spPr>
          <a:xfrm>
            <a:off x="684213" y="2852738"/>
            <a:ext cx="4175125" cy="86995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测量方法： 光注入或电注入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endParaRPr lang="en-US" altLang="zh-CN" sz="1800" dirty="0">
              <a:solidFill>
                <a:srgbClr val="FFCCCC"/>
              </a:solidFill>
              <a:sym typeface="Symbol" panose="05050102010706020507" pitchFamily="18" charset="2"/>
            </a:endParaRPr>
          </a:p>
        </p:txBody>
      </p:sp>
      <p:pic>
        <p:nvPicPr>
          <p:cNvPr id="31232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4076700"/>
            <a:ext cx="4103687" cy="12049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2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2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2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4" grpId="0"/>
      <p:bldP spid="3123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4"/>
          <p:cNvSpPr/>
          <p:nvPr/>
        </p:nvSpPr>
        <p:spPr>
          <a:xfrm>
            <a:off x="468313" y="207963"/>
            <a:ext cx="2343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5.3 </a:t>
            </a:r>
            <a:r>
              <a:rPr lang="zh-CN" altLang="en-US" sz="2400" b="1" dirty="0">
                <a:solidFill>
                  <a:srgbClr val="0000FF"/>
                </a:solidFill>
              </a:rPr>
              <a:t>准费米能级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205829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13" y="836613"/>
            <a:ext cx="7704137" cy="1362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830" name="Text Box 6"/>
          <p:cNvSpPr txBox="1"/>
          <p:nvPr/>
        </p:nvSpPr>
        <p:spPr>
          <a:xfrm>
            <a:off x="755650" y="2349500"/>
            <a:ext cx="5543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统一费米能级是热平衡状态的标志。</a:t>
            </a:r>
            <a:endParaRPr lang="zh-CN" altLang="en-US" sz="2400" b="1" dirty="0"/>
          </a:p>
        </p:txBody>
      </p:sp>
      <p:sp>
        <p:nvSpPr>
          <p:cNvPr id="205832" name="Text Box 8"/>
          <p:cNvSpPr txBox="1"/>
          <p:nvPr/>
        </p:nvSpPr>
        <p:spPr>
          <a:xfrm>
            <a:off x="755650" y="3141663"/>
            <a:ext cx="727233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外场作用下，半导体处于非平衡状态，就不存在统一的费米能级。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05833" name="Rectangle 9"/>
          <p:cNvSpPr/>
          <p:nvPr/>
        </p:nvSpPr>
        <p:spPr>
          <a:xfrm>
            <a:off x="684213" y="4292600"/>
            <a:ext cx="72739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非平衡的含义： －指数量上的非平衡，而在能量分布上还是平衡的（严格地说，准平衡）。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30" grpId="0"/>
      <p:bldP spid="205832" grpId="0"/>
      <p:bldP spid="20583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3"/>
          <p:cNvSpPr>
            <a:spLocks noGrp="1"/>
          </p:cNvSpPr>
          <p:nvPr>
            <p:ph idx="1" hasCustomPrompt="1"/>
          </p:nvPr>
        </p:nvSpPr>
        <p:spPr>
          <a:xfrm>
            <a:off x="539750" y="908050"/>
            <a:ext cx="7696200" cy="4176713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en-US" altLang="zh-CN" sz="2400" b="1" dirty="0"/>
              <a:t>   </a:t>
            </a:r>
            <a:r>
              <a:rPr lang="zh-CN" altLang="en-US" sz="2400" b="1" dirty="0"/>
              <a:t>在一个能带范围内，热跃迁十分频繁，极短时间就能达到带内平衡。所以分别就导带和价带，各自很快处于热平衡。</a:t>
            </a:r>
            <a:endParaRPr lang="zh-CN" altLang="en-US" sz="2400" b="1" dirty="0"/>
          </a:p>
          <a:p>
            <a:pPr eaLnBrk="1" hangingPunct="1">
              <a:buNone/>
            </a:pPr>
            <a:r>
              <a:rPr lang="zh-CN" altLang="en-US" sz="2400" b="1" dirty="0"/>
              <a:t>   费米能级和统计分布函数各自仍适用。</a:t>
            </a:r>
            <a:endParaRPr lang="zh-CN" altLang="en-US" sz="2400" b="1" dirty="0"/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2400" b="1" dirty="0">
              <a:solidFill>
                <a:schemeClr val="tx2"/>
              </a:solidFill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   准费米能级</a:t>
            </a:r>
            <a:r>
              <a:rPr lang="zh-CN" altLang="en-US" sz="2400" b="1" dirty="0"/>
              <a:t>：导带费米能级和价带费米能级都是局部的费米能级，称为</a:t>
            </a:r>
            <a:r>
              <a:rPr lang="zh-CN" altLang="en-US" sz="2400" b="1" dirty="0">
                <a:solidFill>
                  <a:schemeClr val="tx2"/>
                </a:solidFill>
              </a:rPr>
              <a:t>准费米能级</a:t>
            </a:r>
            <a:r>
              <a:rPr lang="zh-CN" altLang="en-US" sz="2400" b="1" dirty="0"/>
              <a:t>。</a:t>
            </a:r>
            <a:endParaRPr lang="zh-CN" altLang="en-US" sz="2400" b="1" dirty="0"/>
          </a:p>
          <a:p>
            <a:pPr eaLnBrk="1" hangingPunct="1"/>
            <a:endParaRPr lang="en-US" altLang="zh-CN" sz="2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4"/>
          <p:cNvSpPr/>
          <p:nvPr/>
        </p:nvSpPr>
        <p:spPr>
          <a:xfrm>
            <a:off x="684213" y="404813"/>
            <a:ext cx="7834312" cy="1516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导带费米能级称为电子费米能寄，</a:t>
            </a:r>
            <a:r>
              <a:rPr lang="en-US" altLang="zh-CN" sz="2400" b="1" dirty="0">
                <a:solidFill>
                  <a:schemeClr val="folHlink"/>
                </a:solidFill>
              </a:rPr>
              <a:t>E</a:t>
            </a:r>
            <a:r>
              <a:rPr lang="en-US" altLang="zh-CN" sz="2400" b="1" baseline="-25000" dirty="0">
                <a:solidFill>
                  <a:schemeClr val="folHlink"/>
                </a:solidFill>
              </a:rPr>
              <a:t>Fn</a:t>
            </a:r>
            <a:r>
              <a:rPr lang="en-US" altLang="zh-CN" sz="2400" b="1" dirty="0">
                <a:solidFill>
                  <a:schemeClr val="folHlink"/>
                </a:solidFill>
              </a:rPr>
              <a:t>,</a:t>
            </a:r>
            <a:endParaRPr lang="en-US" altLang="zh-CN" sz="2400" b="1" dirty="0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价带费米能级称为空穴费米能寄，</a:t>
            </a:r>
            <a:r>
              <a:rPr lang="en-US" altLang="zh-CN" sz="2400" b="1" dirty="0">
                <a:solidFill>
                  <a:schemeClr val="folHlink"/>
                </a:solidFill>
              </a:rPr>
              <a:t>E</a:t>
            </a:r>
            <a:r>
              <a:rPr lang="en-US" altLang="zh-CN" sz="2400" b="1" baseline="-25000" dirty="0">
                <a:solidFill>
                  <a:schemeClr val="folHlink"/>
                </a:solidFill>
              </a:rPr>
              <a:t>Fp</a:t>
            </a:r>
            <a:r>
              <a:rPr lang="en-US" altLang="zh-CN" sz="2400" b="1" dirty="0">
                <a:solidFill>
                  <a:schemeClr val="folHlink"/>
                </a:solidFill>
              </a:rPr>
              <a:t>,</a:t>
            </a:r>
            <a:endParaRPr lang="en-US" altLang="zh-CN" sz="2400" b="1" dirty="0">
              <a:solidFill>
                <a:schemeClr val="folHlink"/>
              </a:solidFill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导带和价带的不平衡就表现为它们费米能级不重合。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06853" name="Rectangle 5"/>
          <p:cNvSpPr/>
          <p:nvPr/>
        </p:nvSpPr>
        <p:spPr>
          <a:xfrm>
            <a:off x="684213" y="2420938"/>
            <a:ext cx="294163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非平衡载流子浓度为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206854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2997200"/>
            <a:ext cx="3914775" cy="1438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685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4652963"/>
            <a:ext cx="3895725" cy="13525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6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6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4"/>
          <p:cNvSpPr/>
          <p:nvPr/>
        </p:nvSpPr>
        <p:spPr>
          <a:xfrm>
            <a:off x="971550" y="765175"/>
            <a:ext cx="37449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</a:rPr>
              <a:t>、</a:t>
            </a:r>
            <a:r>
              <a:rPr lang="en-US" altLang="zh-CN" sz="2400" b="1" dirty="0">
                <a:solidFill>
                  <a:schemeClr val="tx2"/>
                </a:solidFill>
              </a:rPr>
              <a:t>n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</a:rPr>
              <a:t>间的关系为：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18435" name="Object 5"/>
          <p:cNvGraphicFramePr>
            <a:graphicFrameLocks noChangeAspect="1"/>
          </p:cNvGraphicFramePr>
          <p:nvPr/>
        </p:nvGraphicFramePr>
        <p:xfrm>
          <a:off x="1042988" y="1557338"/>
          <a:ext cx="6985000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730500" imgH="431800" progId="Equation.3">
                  <p:embed/>
                </p:oleObj>
              </mc:Choice>
              <mc:Fallback>
                <p:oleObj name="" r:id="rId1" imgW="2730500" imgH="431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42988" y="1557338"/>
                        <a:ext cx="6985000" cy="1181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882" name="Object 10"/>
          <p:cNvGraphicFramePr>
            <a:graphicFrameLocks noChangeAspect="1"/>
          </p:cNvGraphicFramePr>
          <p:nvPr/>
        </p:nvGraphicFramePr>
        <p:xfrm>
          <a:off x="1116013" y="2924175"/>
          <a:ext cx="4506912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358265" imgH="431800" progId="Equation.3">
                  <p:embed/>
                </p:oleObj>
              </mc:Choice>
              <mc:Fallback>
                <p:oleObj name="" r:id="rId3" imgW="1358265" imgH="431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2924175"/>
                        <a:ext cx="4506912" cy="1225550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7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4436" name="Object 4"/>
          <p:cNvGraphicFramePr>
            <a:graphicFrameLocks noChangeAspect="1"/>
          </p:cNvGraphicFramePr>
          <p:nvPr>
            <p:ph type="title"/>
          </p:nvPr>
        </p:nvGraphicFramePr>
        <p:xfrm>
          <a:off x="1116013" y="2708275"/>
          <a:ext cx="4824412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384300" imgH="457200" progId="Equation.3">
                  <p:embed/>
                </p:oleObj>
              </mc:Choice>
              <mc:Fallback>
                <p:oleObj name="" r:id="rId1" imgW="1384300" imgH="457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116013" y="2708275"/>
                        <a:ext cx="4824412" cy="115252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59" name="Rectangle 3"/>
          <p:cNvSpPr>
            <a:spLocks noGrp="1"/>
          </p:cNvSpPr>
          <p:nvPr>
            <p:ph type="body" sz="half" idx="1" hasCustomPrompt="1"/>
          </p:nvPr>
        </p:nvSpPr>
        <p:spPr>
          <a:xfrm>
            <a:off x="539750" y="4149725"/>
            <a:ext cx="7989888" cy="1584325"/>
          </a:xfrm>
        </p:spPr>
        <p:txBody>
          <a:bodyPr vert="horz" wrap="square" lIns="91440" tIns="45720" rIns="91440" bIns="45720" anchor="t" anchorCtr="0"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 b="1" dirty="0"/>
              <a:t>  </a:t>
            </a:r>
            <a:r>
              <a:rPr lang="zh-CN" altLang="en-US" sz="2800" b="1" dirty="0"/>
              <a:t>无论是电子还是空穴，非平衡载流子越多，准费米能级偏离</a:t>
            </a:r>
            <a:r>
              <a:rPr lang="en-US" altLang="zh-CN" sz="2800" b="1" dirty="0"/>
              <a:t>E</a:t>
            </a:r>
            <a:r>
              <a:rPr lang="en-US" altLang="zh-CN" sz="2800" b="1" baseline="-25000" dirty="0"/>
              <a:t>F</a:t>
            </a:r>
            <a:r>
              <a:rPr lang="zh-CN" altLang="en-US" sz="2800" b="1" dirty="0"/>
              <a:t>就越远。但两者的偏离是有差别的。</a:t>
            </a:r>
            <a:endParaRPr lang="zh-CN" altLang="en-US" sz="2800" b="1" dirty="0"/>
          </a:p>
          <a:p>
            <a:pPr eaLnBrk="1" hangingPunct="1">
              <a:buClrTx/>
              <a:buSzTx/>
              <a:buFontTx/>
            </a:pPr>
            <a:endParaRPr lang="en-US" altLang="zh-CN" sz="2800" dirty="0"/>
          </a:p>
        </p:txBody>
      </p:sp>
      <p:graphicFrame>
        <p:nvGraphicFramePr>
          <p:cNvPr id="274437" name="Object 5"/>
          <p:cNvGraphicFramePr>
            <a:graphicFrameLocks noChangeAspect="1"/>
          </p:cNvGraphicFramePr>
          <p:nvPr>
            <p:ph sz="half" idx="2" hasCustomPrompt="1"/>
          </p:nvPr>
        </p:nvGraphicFramePr>
        <p:xfrm>
          <a:off x="1042988" y="1125538"/>
          <a:ext cx="5976937" cy="129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2755900" imgH="457200" progId="Equation.3">
                  <p:embed/>
                </p:oleObj>
              </mc:Choice>
              <mc:Fallback>
                <p:oleObj name="" r:id="rId3" imgW="2755900" imgH="4572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>
                      <a:xfrm>
                        <a:off x="1042988" y="1125538"/>
                        <a:ext cx="5976937" cy="1296987"/>
                      </a:xfrm>
                      <a:prstGeom prst="rect">
                        <a:avLst/>
                      </a:prstGeom>
                      <a:solidFill>
                        <a:srgbClr val="CCECFF">
                          <a:alpha val="100000"/>
                        </a:srgb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4439" name="Rectangle 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971550" y="476250"/>
            <a:ext cx="3313113" cy="457200"/>
          </a:xfrm>
          <a:prstGeom prst="rect">
            <a:avLst/>
          </a:prstGeom>
          <a:blipFill>
            <a:blip r:embed="rId5"/>
            <a:stretch>
              <a:fillRect l="-551" t="-16000" b="-25333"/>
            </a:stretch>
          </a:blip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noFill/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48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5963" y="2492375"/>
            <a:ext cx="2476500" cy="3009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48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476250"/>
            <a:ext cx="6172200" cy="473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902" name="Text Box 6"/>
          <p:cNvSpPr txBox="1"/>
          <p:nvPr/>
        </p:nvSpPr>
        <p:spPr>
          <a:xfrm>
            <a:off x="684213" y="1125538"/>
            <a:ext cx="59436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有</a:t>
            </a:r>
            <a:r>
              <a:rPr lang="en-US" altLang="zh-CN" sz="2800" b="1" dirty="0">
                <a:solidFill>
                  <a:schemeClr val="tx2"/>
                </a:solidFill>
              </a:rPr>
              <a:t>n&gt;n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0</a:t>
            </a:r>
            <a:r>
              <a:rPr lang="en-US" altLang="zh-CN" sz="2800" b="1" dirty="0">
                <a:solidFill>
                  <a:schemeClr val="tx2"/>
                </a:solidFill>
              </a:rPr>
              <a:t>, n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</a:t>
            </a:r>
            <a:r>
              <a:rPr lang="en-US" altLang="zh-CN" sz="2800" b="1" dirty="0">
                <a:solidFill>
                  <a:schemeClr val="tx2"/>
                </a:solidFill>
              </a:rPr>
              <a:t>n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0</a:t>
            </a:r>
            <a:endParaRPr lang="en-US" altLang="zh-CN" sz="2800" b="1" baseline="-25000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E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Fn</a:t>
            </a:r>
            <a:r>
              <a:rPr lang="en-US" altLang="zh-CN" sz="2800" b="1" dirty="0"/>
              <a:t> </a:t>
            </a:r>
            <a:r>
              <a:rPr lang="zh-CN" altLang="en-US" sz="2800" b="1" dirty="0"/>
              <a:t>比</a:t>
            </a:r>
            <a:r>
              <a:rPr lang="en-US" altLang="zh-CN" sz="2800" b="1" dirty="0"/>
              <a:t>E</a:t>
            </a:r>
            <a:r>
              <a:rPr lang="en-US" altLang="zh-CN" sz="2800" b="1" baseline="-25000" dirty="0"/>
              <a:t>F</a:t>
            </a:r>
            <a:r>
              <a:rPr lang="zh-CN" altLang="en-US" sz="2800" b="1" dirty="0"/>
              <a:t>更靠近导带，偏离</a:t>
            </a:r>
            <a:r>
              <a:rPr lang="en-US" altLang="zh-CN" sz="2800" b="1" dirty="0"/>
              <a:t>E</a:t>
            </a:r>
            <a:r>
              <a:rPr lang="en-US" altLang="zh-CN" sz="2800" b="1" baseline="-25000" dirty="0"/>
              <a:t>F</a:t>
            </a:r>
            <a:r>
              <a:rPr lang="zh-CN" altLang="en-US" sz="2800" b="1" dirty="0"/>
              <a:t>较小。</a:t>
            </a:r>
            <a:endParaRPr lang="zh-CN" altLang="en-US" sz="2800" b="1" baseline="-25000" dirty="0"/>
          </a:p>
        </p:txBody>
      </p:sp>
      <p:sp>
        <p:nvSpPr>
          <p:cNvPr id="208903" name="Text Box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827088" y="2852738"/>
            <a:ext cx="4414837" cy="1373187"/>
          </a:xfrm>
          <a:prstGeom prst="rect">
            <a:avLst/>
          </a:prstGeom>
          <a:blipFill>
            <a:blip r:embed="rId3"/>
            <a:stretch>
              <a:fillRect l="-2901" t="-6667" r="-7459" b="-12889"/>
            </a:stretch>
          </a:blipFill>
          <a:ln>
            <a:noFill/>
          </a:ln>
          <a:effectLst/>
        </p:spPr>
        <p:txBody>
          <a:bodyPr/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zh-CN" altLang="en-US" kern="1200" cap="none" spc="0" normalizeH="0" baseline="0" noProof="0">
                <a:noFill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 </a:t>
            </a:r>
            <a:endParaRPr kumimoji="0" lang="zh-CN" altLang="en-US" kern="1200" cap="none" spc="0" normalizeH="0" baseline="0" noProof="0">
              <a:noFill/>
              <a:latin typeface="Comic Sans MS" panose="030F0702030302020204" pitchFamily="66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8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8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90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9557" name="Text Box 5"/>
          <p:cNvSpPr txBox="1"/>
          <p:nvPr/>
        </p:nvSpPr>
        <p:spPr>
          <a:xfrm>
            <a:off x="684213" y="692150"/>
            <a:ext cx="8281987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所以，在非平衡状态时，多数载流子和平衡费米能级的偏离不多；而少数载流子的准费米能级则偏离较大</a:t>
            </a:r>
            <a:endParaRPr lang="zh-CN" altLang="en-US" sz="2400" b="1" dirty="0"/>
          </a:p>
        </p:txBody>
      </p:sp>
      <p:pic>
        <p:nvPicPr>
          <p:cNvPr id="279558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484313"/>
            <a:ext cx="7458075" cy="1276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955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2781300"/>
            <a:ext cx="2924175" cy="628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9" name="Text Box 9"/>
          <p:cNvSpPr txBox="1"/>
          <p:nvPr/>
        </p:nvSpPr>
        <p:spPr>
          <a:xfrm>
            <a:off x="3948113" y="2936875"/>
            <a:ext cx="43195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反映了系统偏离热平衡的程度</a:t>
            </a:r>
            <a:endParaRPr lang="zh-CN" altLang="en-US" sz="2400" b="1" dirty="0">
              <a:solidFill>
                <a:schemeClr val="folHlink"/>
              </a:solidFill>
            </a:endParaRPr>
          </a:p>
        </p:txBody>
      </p:sp>
      <p:sp>
        <p:nvSpPr>
          <p:cNvPr id="21510" name="Text Box 10"/>
          <p:cNvSpPr txBox="1"/>
          <p:nvPr/>
        </p:nvSpPr>
        <p:spPr>
          <a:xfrm>
            <a:off x="755650" y="3644900"/>
            <a:ext cx="619283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E</a:t>
            </a:r>
            <a:r>
              <a:rPr lang="en-US" altLang="zh-CN" sz="2400" b="1" baseline="-25000" dirty="0"/>
              <a:t>Fn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Fp</a:t>
            </a:r>
            <a:r>
              <a:rPr lang="zh-CN" altLang="en-US" sz="2400" b="1" dirty="0"/>
              <a:t>的差反映了</a:t>
            </a:r>
            <a:r>
              <a:rPr lang="en-US" altLang="zh-CN" sz="2400" b="1" dirty="0"/>
              <a:t>np</a:t>
            </a:r>
            <a:r>
              <a:rPr lang="zh-CN" altLang="en-US" sz="2400" b="1" dirty="0"/>
              <a:t>和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i</a:t>
            </a:r>
            <a:r>
              <a:rPr lang="en-US" altLang="zh-CN" sz="2400" b="1" baseline="30000" dirty="0"/>
              <a:t>2</a:t>
            </a:r>
            <a:r>
              <a:rPr lang="zh-CN" altLang="en-US" sz="2400" b="1" dirty="0"/>
              <a:t>的偏离程度，偏离越大，不平衡越显著。</a:t>
            </a:r>
            <a:endParaRPr lang="zh-CN" altLang="en-US" sz="2400" b="1" dirty="0"/>
          </a:p>
        </p:txBody>
      </p:sp>
      <p:sp>
        <p:nvSpPr>
          <p:cNvPr id="279563" name="Rectangle 11"/>
          <p:cNvSpPr/>
          <p:nvPr/>
        </p:nvSpPr>
        <p:spPr>
          <a:xfrm>
            <a:off x="755650" y="4652963"/>
            <a:ext cx="648017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两者偏离越小，越接近平衡态；重合时，半导体处于平衡态。</a:t>
            </a:r>
            <a:endParaRPr lang="zh-CN" altLang="en-US" sz="2400" b="1" dirty="0">
              <a:solidFill>
                <a:schemeClr val="folHlink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9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9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9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7" grpId="0"/>
      <p:bldP spid="27956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53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765175"/>
            <a:ext cx="885825" cy="419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8533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3" y="1809750"/>
            <a:ext cx="8172450" cy="5222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8534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5" y="2924175"/>
            <a:ext cx="3476625" cy="110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8535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975" y="4652963"/>
            <a:ext cx="4276725" cy="108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8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013" y="188913"/>
            <a:ext cx="1368425" cy="407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Text Box 5"/>
          <p:cNvSpPr txBox="1"/>
          <p:nvPr/>
        </p:nvSpPr>
        <p:spPr>
          <a:xfrm>
            <a:off x="179388" y="188913"/>
            <a:ext cx="1225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5. 4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pic>
        <p:nvPicPr>
          <p:cNvPr id="2355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8" y="1109663"/>
            <a:ext cx="4572000" cy="981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51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88" y="2636838"/>
            <a:ext cx="4610100" cy="1066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52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8" y="4221163"/>
            <a:ext cx="8316912" cy="1427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09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09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4" descr="QQ截图未命名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1700213"/>
            <a:ext cx="5907088" cy="4000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Text Box 5"/>
          <p:cNvSpPr txBox="1"/>
          <p:nvPr/>
        </p:nvSpPr>
        <p:spPr>
          <a:xfrm>
            <a:off x="2051050" y="765175"/>
            <a:ext cx="53292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载流子的各种复合机制如下</a:t>
            </a:r>
            <a:r>
              <a:rPr lang="zh-CN" altLang="en-US" sz="1800" dirty="0"/>
              <a:t>：</a:t>
            </a:r>
            <a:endParaRPr lang="zh-CN" alt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560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333375"/>
            <a:ext cx="1579562" cy="450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3" name="Text Box 5"/>
          <p:cNvSpPr txBox="1"/>
          <p:nvPr/>
        </p:nvSpPr>
        <p:spPr>
          <a:xfrm>
            <a:off x="1258888" y="260350"/>
            <a:ext cx="5048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1.</a:t>
            </a:r>
            <a:endParaRPr lang="en-US" altLang="zh-CN" dirty="0">
              <a:solidFill>
                <a:srgbClr val="0000FF"/>
              </a:solidFill>
            </a:endParaRPr>
          </a:p>
        </p:txBody>
      </p:sp>
      <p:pic>
        <p:nvPicPr>
          <p:cNvPr id="2560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613" y="2708275"/>
            <a:ext cx="3905250" cy="2352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5" name="Text Box 7"/>
          <p:cNvSpPr txBox="1"/>
          <p:nvPr/>
        </p:nvSpPr>
        <p:spPr>
          <a:xfrm>
            <a:off x="1187450" y="981075"/>
            <a:ext cx="4968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电子的导带和价带之间的直接跃迁。</a:t>
            </a:r>
            <a:endParaRPr lang="zh-CN" altLang="en-US" sz="2400" b="1" dirty="0"/>
          </a:p>
        </p:txBody>
      </p:sp>
      <p:sp>
        <p:nvSpPr>
          <p:cNvPr id="211977" name="Rectangle 9"/>
          <p:cNvSpPr/>
          <p:nvPr/>
        </p:nvSpPr>
        <p:spPr>
          <a:xfrm>
            <a:off x="1258888" y="1557338"/>
            <a:ext cx="54864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载流子复合时，要放出能量，释放能量的三种方法：</a:t>
            </a:r>
            <a:endParaRPr lang="zh-CN" altLang="en-US" sz="2400" b="1" dirty="0"/>
          </a:p>
        </p:txBody>
      </p:sp>
      <p:sp>
        <p:nvSpPr>
          <p:cNvPr id="25607" name="Text Box 12"/>
          <p:cNvSpPr txBox="1"/>
          <p:nvPr/>
        </p:nvSpPr>
        <p:spPr>
          <a:xfrm>
            <a:off x="1908175" y="5445125"/>
            <a:ext cx="352901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图</a:t>
            </a:r>
            <a:r>
              <a:rPr lang="en-US" altLang="zh-CN" sz="2400" b="1" dirty="0"/>
              <a:t>5.6 </a:t>
            </a:r>
            <a:r>
              <a:rPr lang="zh-CN" altLang="en-US" sz="2400" b="1" dirty="0"/>
              <a:t>直接复合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19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2628" name="Text Box 4"/>
          <p:cNvSpPr txBox="1"/>
          <p:nvPr/>
        </p:nvSpPr>
        <p:spPr>
          <a:xfrm>
            <a:off x="539750" y="981075"/>
            <a:ext cx="6911975" cy="1570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1). </a:t>
            </a:r>
            <a:r>
              <a:rPr lang="zh-CN" altLang="en-US" sz="2400" b="1" dirty="0">
                <a:solidFill>
                  <a:schemeClr val="tx2"/>
                </a:solidFill>
              </a:rPr>
              <a:t>发射光子：称为发光复合或辐射复合；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2). </a:t>
            </a:r>
            <a:r>
              <a:rPr lang="zh-CN" altLang="en-US" sz="2400" b="1" dirty="0">
                <a:solidFill>
                  <a:schemeClr val="tx2"/>
                </a:solidFill>
              </a:rPr>
              <a:t>发射声子：载流子将多余的能量传递给晶格；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3). </a:t>
            </a:r>
            <a:r>
              <a:rPr lang="zh-CN" altLang="en-US" sz="2400" b="1" dirty="0">
                <a:solidFill>
                  <a:schemeClr val="tx2"/>
                </a:solidFill>
              </a:rPr>
              <a:t>俄歇复合：将能量传给其他载流子。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82629" name="Text Box 5"/>
          <p:cNvSpPr txBox="1"/>
          <p:nvPr/>
        </p:nvSpPr>
        <p:spPr>
          <a:xfrm>
            <a:off x="539750" y="3357563"/>
            <a:ext cx="741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产生率</a:t>
            </a:r>
            <a:r>
              <a:rPr lang="en-US" altLang="zh-CN" sz="2400" b="1" dirty="0">
                <a:solidFill>
                  <a:srgbClr val="0000FF"/>
                </a:solidFill>
              </a:rPr>
              <a:t>G</a:t>
            </a:r>
            <a:r>
              <a:rPr lang="zh-CN" altLang="en-US" sz="2400" b="1" dirty="0">
                <a:solidFill>
                  <a:srgbClr val="0000FF"/>
                </a:solidFill>
              </a:rPr>
              <a:t>：单位时间、单位体积内产生的电子</a:t>
            </a:r>
            <a:r>
              <a:rPr lang="en-US" altLang="zh-CN" sz="2400" b="1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空穴对。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82630" name="Text Box 6"/>
          <p:cNvSpPr txBox="1"/>
          <p:nvPr/>
        </p:nvSpPr>
        <p:spPr>
          <a:xfrm>
            <a:off x="468313" y="4005263"/>
            <a:ext cx="8208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复合率</a:t>
            </a:r>
            <a:r>
              <a:rPr lang="en-US" altLang="zh-CN" sz="2400" b="1" dirty="0">
                <a:solidFill>
                  <a:srgbClr val="0000FF"/>
                </a:solidFill>
              </a:rPr>
              <a:t>R</a:t>
            </a:r>
            <a:r>
              <a:rPr lang="zh-CN" altLang="en-US" sz="2400" b="1" dirty="0">
                <a:solidFill>
                  <a:srgbClr val="0000FF"/>
                </a:solidFill>
              </a:rPr>
              <a:t>：单位时间、单位体积内复合掉的电子</a:t>
            </a:r>
            <a:r>
              <a:rPr lang="en-US" altLang="zh-CN" sz="2400" b="1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空穴对。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6629" name="Text Box 7"/>
          <p:cNvSpPr txBox="1"/>
          <p:nvPr/>
        </p:nvSpPr>
        <p:spPr>
          <a:xfrm>
            <a:off x="539750" y="2708275"/>
            <a:ext cx="49688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载流子产生率和复合率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8" grpId="0"/>
      <p:bldP spid="282629" grpId="0"/>
      <p:bldP spid="28263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ext Box 4"/>
          <p:cNvSpPr txBox="1"/>
          <p:nvPr/>
        </p:nvSpPr>
        <p:spPr>
          <a:xfrm>
            <a:off x="539750" y="260350"/>
            <a:ext cx="6911975" cy="13700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单位体积内，每一个电子在单位时间都有一定的概率</a:t>
            </a:r>
            <a:r>
              <a:rPr lang="en-US" altLang="zh-CN" sz="2400" b="1" dirty="0">
                <a:solidFill>
                  <a:srgbClr val="0000FF"/>
                </a:solidFill>
              </a:rPr>
              <a:t>(r)</a:t>
            </a:r>
            <a:r>
              <a:rPr lang="zh-CN" altLang="en-US" sz="2400" b="1" dirty="0">
                <a:solidFill>
                  <a:srgbClr val="0000FF"/>
                </a:solidFill>
              </a:rPr>
              <a:t>和空穴相复合，显然，与空穴浓度成正比。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0000FF"/>
                </a:solidFill>
              </a:rPr>
              <a:t>                               </a:t>
            </a:r>
            <a:r>
              <a:rPr lang="en-US" altLang="zh-CN" sz="2400" b="1" dirty="0">
                <a:solidFill>
                  <a:srgbClr val="0000FF"/>
                </a:solidFill>
              </a:rPr>
              <a:t>R=rnp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12997" name="Text Box 5"/>
          <p:cNvSpPr txBox="1"/>
          <p:nvPr/>
        </p:nvSpPr>
        <p:spPr>
          <a:xfrm>
            <a:off x="304800" y="1600200"/>
            <a:ext cx="6840538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r</a:t>
            </a:r>
            <a:r>
              <a:rPr lang="zh-CN" altLang="en-US" sz="2400" b="1" dirty="0"/>
              <a:t>为比例系数，称为</a:t>
            </a:r>
            <a:r>
              <a:rPr lang="zh-CN" altLang="en-US" sz="2400" b="1" dirty="0">
                <a:solidFill>
                  <a:schemeClr val="tx2"/>
                </a:solidFill>
              </a:rPr>
              <a:t>电子</a:t>
            </a:r>
            <a:r>
              <a:rPr lang="en-US" altLang="zh-CN" sz="2400" b="1" dirty="0">
                <a:solidFill>
                  <a:schemeClr val="tx2"/>
                </a:solidFill>
              </a:rPr>
              <a:t>-</a:t>
            </a:r>
            <a:r>
              <a:rPr lang="zh-CN" altLang="en-US" sz="2400" b="1" dirty="0">
                <a:solidFill>
                  <a:schemeClr val="tx2"/>
                </a:solidFill>
              </a:rPr>
              <a:t>空穴的复合概率</a:t>
            </a:r>
            <a:r>
              <a:rPr lang="en-US" altLang="zh-CN" sz="2400" b="1" dirty="0"/>
              <a:t>.</a:t>
            </a:r>
            <a:endParaRPr lang="en-US" altLang="zh-CN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通常，复合概率与电子、空穴的运动速率有关。</a:t>
            </a:r>
            <a:endParaRPr lang="zh-CN" altLang="en-US" sz="2400" b="1" dirty="0"/>
          </a:p>
        </p:txBody>
      </p:sp>
      <p:sp>
        <p:nvSpPr>
          <p:cNvPr id="212998" name="Text Box 6"/>
          <p:cNvSpPr txBox="1"/>
          <p:nvPr/>
        </p:nvSpPr>
        <p:spPr>
          <a:xfrm>
            <a:off x="3348038" y="3573463"/>
            <a:ext cx="1584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产生率</a:t>
            </a:r>
            <a:r>
              <a:rPr lang="en-US" altLang="zh-CN" sz="2400" b="1" dirty="0"/>
              <a:t>=G</a:t>
            </a:r>
            <a:endParaRPr lang="en-US" altLang="zh-CN" sz="2400" b="1" dirty="0"/>
          </a:p>
        </p:txBody>
      </p:sp>
      <p:sp>
        <p:nvSpPr>
          <p:cNvPr id="212999" name="Text Box 7"/>
          <p:cNvSpPr txBox="1"/>
          <p:nvPr/>
        </p:nvSpPr>
        <p:spPr>
          <a:xfrm>
            <a:off x="228600" y="2743200"/>
            <a:ext cx="748823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一定温度下，价带中的电子都有一定的概率被激发到导带，产生一对电子</a:t>
            </a:r>
            <a:r>
              <a:rPr lang="en-US" altLang="zh-CN" sz="2400" b="1" dirty="0">
                <a:solidFill>
                  <a:schemeClr val="tx2"/>
                </a:solidFill>
              </a:rPr>
              <a:t>-</a:t>
            </a:r>
            <a:r>
              <a:rPr lang="zh-CN" altLang="en-US" sz="2400" b="1" dirty="0">
                <a:solidFill>
                  <a:schemeClr val="tx2"/>
                </a:solidFill>
              </a:rPr>
              <a:t>空穴对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13000" name="Text Box 8"/>
          <p:cNvSpPr txBox="1"/>
          <p:nvPr/>
        </p:nvSpPr>
        <p:spPr>
          <a:xfrm>
            <a:off x="2411413" y="4221163"/>
            <a:ext cx="4321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热平衡下，产生率</a:t>
            </a:r>
            <a:r>
              <a:rPr lang="en-US" altLang="zh-CN" sz="1800" b="1" dirty="0">
                <a:solidFill>
                  <a:schemeClr val="tx2"/>
                </a:solidFill>
              </a:rPr>
              <a:t>G</a:t>
            </a:r>
            <a:r>
              <a:rPr lang="en-US" altLang="zh-CN" sz="1800" dirty="0"/>
              <a:t> </a:t>
            </a:r>
            <a:r>
              <a:rPr lang="en-US" altLang="zh-CN" sz="2400" b="1" dirty="0">
                <a:solidFill>
                  <a:schemeClr val="folHlink"/>
                </a:solidFill>
              </a:rPr>
              <a:t>=</a:t>
            </a:r>
            <a:r>
              <a:rPr lang="zh-CN" altLang="en-US" sz="2400" b="1" dirty="0">
                <a:solidFill>
                  <a:schemeClr val="folHlink"/>
                </a:solidFill>
              </a:rPr>
              <a:t>复合率</a:t>
            </a:r>
            <a:r>
              <a:rPr lang="en-US" altLang="zh-CN" sz="1800" b="1" dirty="0">
                <a:solidFill>
                  <a:schemeClr val="tx2"/>
                </a:solidFill>
              </a:rPr>
              <a:t>R</a:t>
            </a:r>
            <a:endParaRPr lang="en-US" altLang="zh-CN" sz="1800" b="1" dirty="0">
              <a:solidFill>
                <a:schemeClr val="tx2"/>
              </a:solidFill>
            </a:endParaRPr>
          </a:p>
        </p:txBody>
      </p:sp>
      <p:sp>
        <p:nvSpPr>
          <p:cNvPr id="213001" name="Rectangle 9"/>
          <p:cNvSpPr/>
          <p:nvPr/>
        </p:nvSpPr>
        <p:spPr>
          <a:xfrm>
            <a:off x="2916238" y="5516563"/>
            <a:ext cx="3024187" cy="7318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2400" dirty="0">
                <a:solidFill>
                  <a:srgbClr val="0000FF"/>
                </a:solidFill>
              </a:rPr>
              <a:t>G=</a:t>
            </a:r>
            <a:r>
              <a:rPr lang="en-US" altLang="zh-CN" sz="2400" b="1" dirty="0">
                <a:solidFill>
                  <a:srgbClr val="0000FF"/>
                </a:solidFill>
              </a:rPr>
              <a:t>R=rnp=rn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</a:rPr>
              <a:t>=rn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i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2</a:t>
            </a:r>
            <a:endParaRPr lang="en-US" altLang="zh-CN" sz="2400" b="1" baseline="30000" dirty="0">
              <a:solidFill>
                <a:srgbClr val="0000FF"/>
              </a:solidFill>
            </a:endParaRPr>
          </a:p>
        </p:txBody>
      </p:sp>
      <p:sp>
        <p:nvSpPr>
          <p:cNvPr id="213002" name="Rectangle 10"/>
          <p:cNvSpPr/>
          <p:nvPr/>
        </p:nvSpPr>
        <p:spPr>
          <a:xfrm>
            <a:off x="3059113" y="4868863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n=n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</a:rPr>
              <a:t>, p=p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</a:rPr>
              <a:t>,</a:t>
            </a:r>
            <a:r>
              <a:rPr lang="en-US" altLang="zh-CN" sz="1800" b="1" dirty="0">
                <a:solidFill>
                  <a:srgbClr val="0000FF"/>
                </a:solidFill>
              </a:rPr>
              <a:t> </a:t>
            </a:r>
            <a:endParaRPr lang="en-US" altLang="zh-CN" sz="1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2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2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3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7" grpId="0"/>
      <p:bldP spid="212998" grpId="0"/>
      <p:bldP spid="212999" grpId="0"/>
      <p:bldP spid="213000" grpId="0"/>
      <p:bldP spid="213001" grpId="0"/>
      <p:bldP spid="21300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4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404813"/>
            <a:ext cx="5829300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268413"/>
            <a:ext cx="4829175" cy="561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975" y="2060575"/>
            <a:ext cx="6486525" cy="495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4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150" y="2060575"/>
            <a:ext cx="51435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5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88" y="2852738"/>
            <a:ext cx="3867150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7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988" y="3644900"/>
            <a:ext cx="4057650" cy="1038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8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825" y="5229225"/>
            <a:ext cx="3743325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4029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7538" y="4652963"/>
            <a:ext cx="4333875" cy="1743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4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4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4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4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4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4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4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69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613" y="333375"/>
            <a:ext cx="3857625" cy="590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4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196975"/>
            <a:ext cx="1562100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4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2205038"/>
            <a:ext cx="4476750" cy="2600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504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3800" y="2708275"/>
            <a:ext cx="4029075" cy="2162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50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0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4"/>
          <p:cNvSpPr txBox="1"/>
          <p:nvPr/>
        </p:nvSpPr>
        <p:spPr>
          <a:xfrm>
            <a:off x="381000" y="381000"/>
            <a:ext cx="7543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举例：室温时本征锗、硅的复合概率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和寿命</a:t>
            </a:r>
            <a:r>
              <a:rPr lang="zh-CN" altLang="en-US" sz="2800" b="1" dirty="0">
                <a:sym typeface="Symbol" panose="05050102010706020507" pitchFamily="18" charset="2"/>
              </a:rPr>
              <a:t></a:t>
            </a:r>
            <a:endParaRPr lang="zh-CN" altLang="en-US" sz="2800" b="1" dirty="0"/>
          </a:p>
        </p:txBody>
      </p:sp>
      <p:sp>
        <p:nvSpPr>
          <p:cNvPr id="216069" name="Text Box 5"/>
          <p:cNvSpPr txBox="1"/>
          <p:nvPr/>
        </p:nvSpPr>
        <p:spPr>
          <a:xfrm>
            <a:off x="228600" y="1066800"/>
            <a:ext cx="75438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锗： </a:t>
            </a:r>
            <a:r>
              <a:rPr lang="en-US" altLang="zh-CN" sz="2800" b="1" dirty="0"/>
              <a:t>r =6.5</a:t>
            </a:r>
            <a:r>
              <a:rPr lang="en-US" altLang="zh-CN" sz="2800" b="1" dirty="0">
                <a:sym typeface="Symbol" panose="05050102010706020507" pitchFamily="18" charset="2"/>
              </a:rPr>
              <a:t>10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-15</a:t>
            </a:r>
            <a:r>
              <a:rPr lang="en-US" altLang="zh-CN" sz="2800" b="1" dirty="0">
                <a:sym typeface="Symbol" panose="05050102010706020507" pitchFamily="18" charset="2"/>
              </a:rPr>
              <a:t>cm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ym typeface="Symbol" panose="05050102010706020507" pitchFamily="18" charset="2"/>
              </a:rPr>
              <a:t>/s, =0.3s </a:t>
            </a:r>
            <a:endParaRPr lang="en-US" altLang="zh-CN" sz="2800" b="1" dirty="0"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硅</a:t>
            </a:r>
            <a:r>
              <a:rPr lang="en-US" altLang="zh-CN" sz="2800" b="1" dirty="0"/>
              <a:t>: r =</a:t>
            </a:r>
            <a:r>
              <a:rPr lang="en-US" altLang="zh-CN" sz="2800" b="1" dirty="0">
                <a:sym typeface="Symbol" panose="05050102010706020507" pitchFamily="18" charset="2"/>
              </a:rPr>
              <a:t>10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-11</a:t>
            </a:r>
            <a:r>
              <a:rPr lang="en-US" altLang="zh-CN" sz="2800" b="1" dirty="0">
                <a:sym typeface="Symbol" panose="05050102010706020507" pitchFamily="18" charset="2"/>
              </a:rPr>
              <a:t>cm</a:t>
            </a:r>
            <a:r>
              <a:rPr lang="en-US" altLang="zh-CN" sz="2800" b="1" baseline="30000" dirty="0">
                <a:sym typeface="Symbol" panose="05050102010706020507" pitchFamily="18" charset="2"/>
              </a:rPr>
              <a:t>3</a:t>
            </a:r>
            <a:r>
              <a:rPr lang="en-US" altLang="zh-CN" sz="2800" b="1" dirty="0">
                <a:sym typeface="Symbol" panose="05050102010706020507" pitchFamily="18" charset="2"/>
              </a:rPr>
              <a:t>/s, =3.5s </a:t>
            </a:r>
            <a:endParaRPr lang="en-US" altLang="zh-CN" sz="2800" b="1" dirty="0">
              <a:sym typeface="Symbol" panose="05050102010706020507" pitchFamily="18" charset="2"/>
            </a:endParaRPr>
          </a:p>
        </p:txBody>
      </p:sp>
      <p:sp>
        <p:nvSpPr>
          <p:cNvPr id="216070" name="Text Box 6"/>
          <p:cNvSpPr txBox="1"/>
          <p:nvPr/>
        </p:nvSpPr>
        <p:spPr>
          <a:xfrm>
            <a:off x="228600" y="2286000"/>
            <a:ext cx="8305800" cy="1587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实际上，锗、硅材料的寿命</a:t>
            </a:r>
            <a:r>
              <a:rPr lang="zh-CN" altLang="en-US" sz="2800" b="1" dirty="0">
                <a:sym typeface="Symbol" panose="05050102010706020507" pitchFamily="18" charset="2"/>
              </a:rPr>
              <a:t>更低，最大不过几毫秒。</a:t>
            </a:r>
            <a:endParaRPr lang="zh-CN" altLang="en-US" sz="2800" b="1" dirty="0"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  <a:sym typeface="Symbol" panose="05050102010706020507" pitchFamily="18" charset="2"/>
              </a:rPr>
              <a:t>理论与实际偏离，说明</a:t>
            </a:r>
            <a:r>
              <a:rPr lang="zh-CN" altLang="en-US" sz="2800" b="1" dirty="0">
                <a:solidFill>
                  <a:schemeClr val="tx2"/>
                </a:solidFill>
              </a:rPr>
              <a:t>锗、硅材料的寿命不是由直接复合过程决定的。由其他复合机构起主要作用。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sp>
        <p:nvSpPr>
          <p:cNvPr id="216071" name="Text Box 7"/>
          <p:cNvSpPr txBox="1"/>
          <p:nvPr/>
        </p:nvSpPr>
        <p:spPr>
          <a:xfrm>
            <a:off x="304800" y="4191000"/>
            <a:ext cx="75438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一般地，禁带越窄，直接复合概率越大，</a:t>
            </a:r>
            <a:endParaRPr lang="zh-CN" altLang="en-US" sz="28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如锑化铟，</a:t>
            </a:r>
            <a:r>
              <a:rPr lang="en-US" altLang="zh-CN" sz="2800" b="1" dirty="0">
                <a:solidFill>
                  <a:schemeClr val="tx2"/>
                </a:solidFill>
              </a:rPr>
              <a:t>Eg=0.18eV, </a:t>
            </a:r>
            <a:r>
              <a:rPr lang="zh-CN" altLang="en-US" sz="2800" b="1" dirty="0">
                <a:solidFill>
                  <a:schemeClr val="tx2"/>
                </a:solidFill>
              </a:rPr>
              <a:t>直接复合占优势。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60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6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60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069" grpId="0"/>
      <p:bldP spid="216070" grpId="0"/>
      <p:bldP spid="21607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260350"/>
            <a:ext cx="1885950" cy="495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Text Box 3"/>
          <p:cNvSpPr txBox="1"/>
          <p:nvPr/>
        </p:nvSpPr>
        <p:spPr>
          <a:xfrm>
            <a:off x="323850" y="260350"/>
            <a:ext cx="11525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5.4.2</a:t>
            </a:r>
            <a:endParaRPr lang="en-US" altLang="zh-CN" sz="2800" dirty="0">
              <a:solidFill>
                <a:srgbClr val="0000FF"/>
              </a:solidFill>
            </a:endParaRPr>
          </a:p>
        </p:txBody>
      </p:sp>
      <p:sp>
        <p:nvSpPr>
          <p:cNvPr id="219140" name="Text Box 4"/>
          <p:cNvSpPr txBox="1"/>
          <p:nvPr/>
        </p:nvSpPr>
        <p:spPr>
          <a:xfrm>
            <a:off x="381000" y="990600"/>
            <a:ext cx="7848600" cy="2228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半导体中的杂质和缺陷在禁带中引入能级，具有促进复合的作用。杂质和缺陷越多，寿命越短。</a:t>
            </a:r>
            <a:endParaRPr lang="zh-CN" altLang="en-US" sz="28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复合中心</a:t>
            </a:r>
            <a:r>
              <a:rPr lang="zh-CN" altLang="en-US" sz="2800" b="1" dirty="0"/>
              <a:t>：促进复合过程的杂质和缺陷中心。</a:t>
            </a:r>
            <a:endParaRPr lang="zh-CN" altLang="en-US" sz="28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间接复合</a:t>
            </a:r>
            <a:r>
              <a:rPr lang="zh-CN" altLang="en-US" sz="2800" b="1" dirty="0"/>
              <a:t>：非平衡载流子通过复合中心的复合</a:t>
            </a:r>
            <a:endParaRPr lang="zh-CN" altLang="en-US" sz="2800" b="1" dirty="0"/>
          </a:p>
        </p:txBody>
      </p:sp>
      <p:sp>
        <p:nvSpPr>
          <p:cNvPr id="219142" name="Text Box 6"/>
          <p:cNvSpPr txBox="1"/>
          <p:nvPr/>
        </p:nvSpPr>
        <p:spPr>
          <a:xfrm>
            <a:off x="533400" y="3429000"/>
            <a:ext cx="7315200" cy="210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电子</a:t>
            </a:r>
            <a:r>
              <a:rPr lang="en-US" altLang="zh-CN" sz="2400" b="1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空穴的复合分两步：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）  导带电子落入复合中心能级；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2</a:t>
            </a:r>
            <a:r>
              <a:rPr lang="zh-CN" altLang="en-US" sz="2400" b="1" dirty="0">
                <a:solidFill>
                  <a:srgbClr val="0000FF"/>
                </a:solidFill>
              </a:rPr>
              <a:t>）  电子再落入价带与空穴复合。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     </a:t>
            </a:r>
            <a:r>
              <a:rPr lang="zh-CN" altLang="en-US" sz="2400" b="1" dirty="0">
                <a:solidFill>
                  <a:schemeClr val="tx2"/>
                </a:solidFill>
              </a:rPr>
              <a:t>同样存在以上两个过程的逆过程。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9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9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140" grpId="0"/>
      <p:bldP spid="2191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70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4667250" cy="428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101" name="Text Box 13"/>
          <p:cNvSpPr txBox="1"/>
          <p:nvPr/>
        </p:nvSpPr>
        <p:spPr>
          <a:xfrm>
            <a:off x="684213" y="4292600"/>
            <a:ext cx="7467600" cy="210026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甲：复合中心</a:t>
            </a:r>
            <a:r>
              <a:rPr lang="zh-CN" altLang="en-US" sz="2400" b="1" dirty="0">
                <a:solidFill>
                  <a:schemeClr val="tx2"/>
                </a:solidFill>
              </a:rPr>
              <a:t>俘获</a:t>
            </a:r>
            <a:r>
              <a:rPr lang="zh-CN" altLang="en-US" sz="2400" b="1" dirty="0"/>
              <a:t>电子过程；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乙：复合中心</a:t>
            </a:r>
            <a:r>
              <a:rPr lang="zh-CN" altLang="en-US" sz="2400" b="1" dirty="0">
                <a:solidFill>
                  <a:schemeClr val="tx2"/>
                </a:solidFill>
              </a:rPr>
              <a:t>发射</a:t>
            </a:r>
            <a:r>
              <a:rPr lang="zh-CN" altLang="en-US" sz="2400" b="1" dirty="0"/>
              <a:t>电子过程；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丙：复合中心俘获空穴</a:t>
            </a:r>
            <a:r>
              <a:rPr lang="en-US" altLang="zh-CN" sz="2400" b="1" dirty="0"/>
              <a:t>(E</a:t>
            </a:r>
            <a:r>
              <a:rPr lang="en-US" altLang="zh-CN" sz="2400" b="1" baseline="-25000" dirty="0"/>
              <a:t>t</a:t>
            </a:r>
            <a:r>
              <a:rPr lang="zh-CN" altLang="en-US" sz="2400" b="1" dirty="0"/>
              <a:t>上电子落入价带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过程；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丁：复合中心发射空穴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价带电子发射到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t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过程；</a:t>
            </a:r>
            <a:endParaRPr lang="zh-CN" altLang="en-US" sz="2400" b="1" dirty="0"/>
          </a:p>
        </p:txBody>
      </p:sp>
      <p:pic>
        <p:nvPicPr>
          <p:cNvPr id="32772" name="Picture 14" descr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765175"/>
            <a:ext cx="4968875" cy="2519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Text Box 15"/>
          <p:cNvSpPr txBox="1"/>
          <p:nvPr/>
        </p:nvSpPr>
        <p:spPr>
          <a:xfrm>
            <a:off x="1187450" y="3500438"/>
            <a:ext cx="3816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(a) </a:t>
            </a:r>
            <a:r>
              <a:rPr lang="zh-CN" altLang="en-US" sz="2400" b="1" dirty="0"/>
              <a:t>复合过程前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7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10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3794" name="Picture 4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913" y="188913"/>
            <a:ext cx="4391025" cy="2952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5" name="Text Box 5"/>
          <p:cNvSpPr txBox="1"/>
          <p:nvPr/>
        </p:nvSpPr>
        <p:spPr>
          <a:xfrm>
            <a:off x="1692275" y="3213100"/>
            <a:ext cx="5184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(b) </a:t>
            </a:r>
            <a:r>
              <a:rPr lang="zh-CN" altLang="en-US" sz="2400" b="1" dirty="0"/>
              <a:t>复合过程后</a:t>
            </a:r>
            <a:endParaRPr lang="zh-CN" altLang="en-US" sz="2400" b="1" dirty="0"/>
          </a:p>
        </p:txBody>
      </p:sp>
      <p:sp>
        <p:nvSpPr>
          <p:cNvPr id="33796" name="Text Box 6"/>
          <p:cNvSpPr txBox="1"/>
          <p:nvPr/>
        </p:nvSpPr>
        <p:spPr>
          <a:xfrm>
            <a:off x="1331913" y="4076700"/>
            <a:ext cx="7056437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设导带、价带电子、空穴浓度为</a:t>
            </a:r>
            <a:r>
              <a:rPr lang="en-US" altLang="zh-CN" sz="2400" b="1" dirty="0"/>
              <a:t>n,p</a:t>
            </a:r>
            <a:r>
              <a:rPr lang="zh-CN" altLang="en-US" sz="2400" b="1" dirty="0"/>
              <a:t>复合中心浓度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t</a:t>
            </a:r>
            <a:r>
              <a:rPr lang="en-US" altLang="zh-CN" sz="2400" b="1" dirty="0"/>
              <a:t>, n</a:t>
            </a:r>
            <a:r>
              <a:rPr lang="en-US" altLang="zh-CN" sz="2400" b="1" baseline="-25000" dirty="0"/>
              <a:t>t</a:t>
            </a:r>
            <a:r>
              <a:rPr lang="zh-CN" altLang="en-US" sz="2400" b="1" dirty="0"/>
              <a:t>为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t</a:t>
            </a:r>
            <a:r>
              <a:rPr lang="zh-CN" altLang="en-US" sz="2400" b="1" dirty="0"/>
              <a:t>能级上的电子数，</a:t>
            </a:r>
            <a:r>
              <a:rPr lang="en-US" altLang="zh-CN" sz="2400" b="1" dirty="0">
                <a:solidFill>
                  <a:schemeClr val="tx2"/>
                </a:solidFill>
              </a:rPr>
              <a:t>N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t</a:t>
            </a:r>
            <a:r>
              <a:rPr lang="en-US" altLang="zh-CN" sz="2400" b="1" dirty="0">
                <a:solidFill>
                  <a:schemeClr val="tx2"/>
                </a:solidFill>
              </a:rPr>
              <a:t>-n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t</a:t>
            </a:r>
            <a:r>
              <a:rPr lang="zh-CN" altLang="en-US" sz="2400" b="1" dirty="0"/>
              <a:t>为未被电子占据的复合中心浓度。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2016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3789363"/>
            <a:ext cx="7527925" cy="784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016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13" y="4797425"/>
            <a:ext cx="6958012" cy="717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820" name="Text Box 8"/>
          <p:cNvSpPr txBox="1"/>
          <p:nvPr/>
        </p:nvSpPr>
        <p:spPr>
          <a:xfrm>
            <a:off x="755650" y="2852738"/>
            <a:ext cx="7011988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显然，导带电子越多，空的复合中心越多，越容易俘获电子。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34821" name="Rectangle 9"/>
          <p:cNvSpPr/>
          <p:nvPr/>
        </p:nvSpPr>
        <p:spPr>
          <a:xfrm>
            <a:off x="827088" y="1989138"/>
            <a:ext cx="6781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电子俘获率：单位时间、单位体积被复合中心俘获的电子数。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34822" name="Picture 10" descr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5" y="188913"/>
            <a:ext cx="3619500" cy="1781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0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ext Box 2"/>
          <p:cNvSpPr txBox="1"/>
          <p:nvPr/>
        </p:nvSpPr>
        <p:spPr>
          <a:xfrm>
            <a:off x="755650" y="1916113"/>
            <a:ext cx="6715125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平衡时，</a:t>
            </a:r>
            <a:r>
              <a:rPr lang="zh-CN" altLang="en-US" sz="2400" b="1" dirty="0">
                <a:solidFill>
                  <a:srgbClr val="0000FF"/>
                </a:solidFill>
              </a:rPr>
              <a:t>电子的产生率</a:t>
            </a:r>
            <a:r>
              <a:rPr lang="en-US" altLang="zh-CN" sz="2400" b="1" dirty="0">
                <a:solidFill>
                  <a:srgbClr val="0000FF"/>
                </a:solidFill>
              </a:rPr>
              <a:t>=</a:t>
            </a:r>
            <a:r>
              <a:rPr lang="zh-CN" altLang="en-US" sz="2400" b="1" dirty="0">
                <a:solidFill>
                  <a:srgbClr val="0000FF"/>
                </a:solidFill>
              </a:rPr>
              <a:t>电子的俘获率</a:t>
            </a:r>
            <a:r>
              <a:rPr lang="zh-CN" altLang="en-US" sz="2400" b="1" dirty="0"/>
              <a:t>，两过程相互抵消。</a:t>
            </a:r>
            <a:endParaRPr lang="zh-CN" altLang="en-US" sz="2400" b="1" dirty="0"/>
          </a:p>
        </p:txBody>
      </p:sp>
      <p:grpSp>
        <p:nvGrpSpPr>
          <p:cNvPr id="221206" name="Group 22"/>
          <p:cNvGrpSpPr/>
          <p:nvPr/>
        </p:nvGrpSpPr>
        <p:grpSpPr>
          <a:xfrm>
            <a:off x="2268538" y="3213100"/>
            <a:ext cx="3200400" cy="565150"/>
            <a:chOff x="1632" y="864"/>
            <a:chExt cx="2016" cy="356"/>
          </a:xfrm>
        </p:grpSpPr>
        <p:pic>
          <p:nvPicPr>
            <p:cNvPr id="35850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32" y="912"/>
              <a:ext cx="1182" cy="3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5851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84" y="864"/>
              <a:ext cx="864" cy="349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21189" name="Text Box 5"/>
          <p:cNvSpPr txBox="1"/>
          <p:nvPr/>
        </p:nvSpPr>
        <p:spPr>
          <a:xfrm>
            <a:off x="539750" y="4221163"/>
            <a:ext cx="647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  </a:t>
            </a:r>
            <a:r>
              <a:rPr lang="zh-CN" altLang="en-US" sz="2400" b="1" dirty="0">
                <a:solidFill>
                  <a:schemeClr val="tx2"/>
                </a:solidFill>
              </a:rPr>
              <a:t>空穴的产生率</a:t>
            </a:r>
            <a:r>
              <a:rPr lang="en-US" altLang="zh-CN" sz="2400" b="1" dirty="0">
                <a:solidFill>
                  <a:schemeClr val="tx2"/>
                </a:solidFill>
              </a:rPr>
              <a:t>=</a:t>
            </a:r>
            <a:r>
              <a:rPr lang="zh-CN" altLang="en-US" sz="2400" b="1" dirty="0">
                <a:solidFill>
                  <a:schemeClr val="tx2"/>
                </a:solidFill>
              </a:rPr>
              <a:t>空穴的俘获率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pSp>
        <p:nvGrpSpPr>
          <p:cNvPr id="221207" name="Group 23"/>
          <p:cNvGrpSpPr/>
          <p:nvPr/>
        </p:nvGrpSpPr>
        <p:grpSpPr>
          <a:xfrm>
            <a:off x="1979613" y="4868863"/>
            <a:ext cx="3971925" cy="666750"/>
            <a:chOff x="1519" y="2024"/>
            <a:chExt cx="2502" cy="420"/>
          </a:xfrm>
        </p:grpSpPr>
        <p:pic>
          <p:nvPicPr>
            <p:cNvPr id="35848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19" y="2024"/>
              <a:ext cx="1632" cy="36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5849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061" y="2115"/>
              <a:ext cx="960" cy="329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21208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7450" y="260350"/>
            <a:ext cx="4181475" cy="523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1209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8888" y="908050"/>
            <a:ext cx="4991100" cy="41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1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12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18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4741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5157788"/>
            <a:ext cx="6219825" cy="828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474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8" y="1341438"/>
            <a:ext cx="2105025" cy="99060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44743" name="Object 7"/>
          <p:cNvGraphicFramePr>
            <a:graphicFrameLocks noChangeAspect="1"/>
          </p:cNvGraphicFramePr>
          <p:nvPr/>
        </p:nvGraphicFramePr>
        <p:xfrm>
          <a:off x="1116013" y="1268413"/>
          <a:ext cx="2808287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3" imgW="838200" imgH="228600" progId="Equation.3">
                  <p:embed/>
                </p:oleObj>
              </mc:Choice>
              <mc:Fallback>
                <p:oleObj name="" r:id="rId3" imgW="838200" imgH="2286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6013" y="1268413"/>
                        <a:ext cx="2808287" cy="7651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86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8388" y="476250"/>
            <a:ext cx="1876425" cy="488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7175" y="476250"/>
            <a:ext cx="1371600" cy="55403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44746" name="Object 10"/>
          <p:cNvGraphicFramePr>
            <a:graphicFrameLocks noChangeAspect="1"/>
          </p:cNvGraphicFramePr>
          <p:nvPr/>
        </p:nvGraphicFramePr>
        <p:xfrm>
          <a:off x="1187450" y="2205038"/>
          <a:ext cx="24479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7" imgW="1295400" imgH="457200" progId="Equation.3">
                  <p:embed/>
                </p:oleObj>
              </mc:Choice>
              <mc:Fallback>
                <p:oleObj name="" r:id="rId7" imgW="1295400" imgH="4572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187450" y="2205038"/>
                        <a:ext cx="2447925" cy="86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4748" name="Object 12"/>
          <p:cNvGraphicFramePr>
            <a:graphicFrameLocks noChangeAspect="1"/>
          </p:cNvGraphicFramePr>
          <p:nvPr/>
        </p:nvGraphicFramePr>
        <p:xfrm>
          <a:off x="1979613" y="3141663"/>
          <a:ext cx="41179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9" imgW="1765300" imgH="431800" progId="Equation.3">
                  <p:embed/>
                </p:oleObj>
              </mc:Choice>
              <mc:Fallback>
                <p:oleObj name="" r:id="rId9" imgW="1765300" imgH="431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79613" y="3141663"/>
                        <a:ext cx="4117975" cy="10064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4749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55875" y="4365625"/>
            <a:ext cx="3486150" cy="752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4750" name="Text Box 14"/>
          <p:cNvSpPr txBox="1"/>
          <p:nvPr/>
        </p:nvSpPr>
        <p:spPr>
          <a:xfrm>
            <a:off x="0" y="5949950"/>
            <a:ext cx="8748713" cy="457200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n </a:t>
            </a:r>
            <a:r>
              <a:rPr lang="en-US" altLang="zh-CN" sz="2400" b="1" baseline="-25000" dirty="0"/>
              <a:t>1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刚好等于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F</a:t>
            </a:r>
            <a:r>
              <a:rPr lang="zh-CN" altLang="en-US" sz="2400" b="1" dirty="0"/>
              <a:t>与复合中心能级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t</a:t>
            </a:r>
            <a:r>
              <a:rPr lang="zh-CN" altLang="en-US" sz="2400" b="1" dirty="0"/>
              <a:t>重合时导带的平衡电子浓度。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4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4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4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4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4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4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4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5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7890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3713" y="2276475"/>
            <a:ext cx="4010025" cy="2305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1" name="Text Box 8"/>
          <p:cNvSpPr txBox="1"/>
          <p:nvPr/>
        </p:nvSpPr>
        <p:spPr>
          <a:xfrm>
            <a:off x="755650" y="476250"/>
            <a:ext cx="7345363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稳定情况下</a:t>
            </a:r>
            <a:r>
              <a:rPr lang="zh-CN" altLang="en-US" sz="2400" b="1" dirty="0"/>
              <a:t>，四个过程必须保持复合中心上的电子数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t</a:t>
            </a:r>
            <a:r>
              <a:rPr lang="zh-CN" altLang="en-US" sz="2400" b="1" dirty="0"/>
              <a:t>保持不变。其中，甲、丁过程使复合中心能级上</a:t>
            </a:r>
            <a:r>
              <a:rPr lang="zh-CN" altLang="en-US" sz="2400" b="1" dirty="0">
                <a:solidFill>
                  <a:schemeClr val="tx2"/>
                </a:solidFill>
              </a:rPr>
              <a:t>积累电子</a:t>
            </a:r>
            <a:r>
              <a:rPr lang="zh-CN" altLang="en-US" sz="2400" b="1" dirty="0"/>
              <a:t>，而乙、丙过程使复合中心能级上</a:t>
            </a:r>
            <a:r>
              <a:rPr lang="zh-CN" altLang="en-US" sz="2400" b="1" dirty="0">
                <a:solidFill>
                  <a:schemeClr val="tx2"/>
                </a:solidFill>
              </a:rPr>
              <a:t>电子数减少</a:t>
            </a:r>
            <a:r>
              <a:rPr lang="zh-CN" altLang="en-US" sz="2400" b="1" dirty="0"/>
              <a:t>，则</a:t>
            </a:r>
            <a:endParaRPr lang="zh-CN" altLang="en-US" sz="2400" b="1" dirty="0"/>
          </a:p>
        </p:txBody>
      </p:sp>
      <p:grpSp>
        <p:nvGrpSpPr>
          <p:cNvPr id="218133" name="Group 21"/>
          <p:cNvGrpSpPr/>
          <p:nvPr/>
        </p:nvGrpSpPr>
        <p:grpSpPr>
          <a:xfrm>
            <a:off x="900113" y="4941888"/>
            <a:ext cx="7723187" cy="488950"/>
            <a:chOff x="192" y="1480"/>
            <a:chExt cx="4865" cy="308"/>
          </a:xfrm>
        </p:grpSpPr>
        <p:pic>
          <p:nvPicPr>
            <p:cNvPr id="37893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2" y="1488"/>
              <a:ext cx="2880" cy="30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7894" name="Text Box 12"/>
            <p:cNvSpPr txBox="1"/>
            <p:nvPr/>
          </p:nvSpPr>
          <p:spPr>
            <a:xfrm>
              <a:off x="3334" y="1480"/>
              <a:ext cx="17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zh-CN" altLang="en-US" sz="2400" b="1" dirty="0">
                  <a:solidFill>
                    <a:schemeClr val="tx2"/>
                  </a:solidFill>
                </a:rPr>
                <a:t>维持</a:t>
              </a:r>
              <a:r>
                <a:rPr lang="en-US" altLang="zh-CN" sz="2400" b="1" dirty="0">
                  <a:solidFill>
                    <a:schemeClr val="tx2"/>
                  </a:solidFill>
                </a:rPr>
                <a:t>n</a:t>
              </a:r>
              <a:r>
                <a:rPr lang="en-US" altLang="zh-CN" sz="2400" b="1" baseline="-25000" dirty="0">
                  <a:solidFill>
                    <a:schemeClr val="tx2"/>
                  </a:solidFill>
                </a:rPr>
                <a:t>t</a:t>
              </a:r>
              <a:r>
                <a:rPr lang="zh-CN" altLang="en-US" sz="2400" b="1" dirty="0">
                  <a:solidFill>
                    <a:schemeClr val="tx2"/>
                  </a:solidFill>
                </a:rPr>
                <a:t>不变的条件</a:t>
              </a:r>
              <a:endParaRPr lang="zh-CN" altLang="en-US" sz="2400" b="1" dirty="0">
                <a:solidFill>
                  <a:schemeClr val="tx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8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8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467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88" y="3644900"/>
            <a:ext cx="78867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467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4221163"/>
            <a:ext cx="4238625" cy="933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4684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13" y="2276475"/>
            <a:ext cx="5029200" cy="5508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84685" name="Group 13"/>
          <p:cNvGrpSpPr/>
          <p:nvPr/>
        </p:nvGrpSpPr>
        <p:grpSpPr>
          <a:xfrm>
            <a:off x="539750" y="1052513"/>
            <a:ext cx="8029575" cy="904875"/>
            <a:chOff x="249" y="1933"/>
            <a:chExt cx="5058" cy="570"/>
          </a:xfrm>
        </p:grpSpPr>
        <p:pic>
          <p:nvPicPr>
            <p:cNvPr id="38918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9" y="1933"/>
              <a:ext cx="2568" cy="24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19" name="Picture 1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9" y="2296"/>
              <a:ext cx="2675" cy="2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20" name="Picture 1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198" y="1933"/>
              <a:ext cx="1974" cy="21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8921" name="Picture 1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43" y="2251"/>
              <a:ext cx="2064" cy="219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4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4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4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4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993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304800"/>
            <a:ext cx="1628775" cy="45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39" name="Text Box 8"/>
          <p:cNvSpPr txBox="1"/>
          <p:nvPr/>
        </p:nvSpPr>
        <p:spPr>
          <a:xfrm>
            <a:off x="2209800" y="304800"/>
            <a:ext cx="33115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稳定条件还可以写为：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3994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908050"/>
            <a:ext cx="4248150" cy="504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788" y="1393825"/>
            <a:ext cx="3816350" cy="43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338" y="2439988"/>
            <a:ext cx="4387850" cy="431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994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3350" y="1882775"/>
            <a:ext cx="4032250" cy="4333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3245" name="Text Box 13"/>
          <p:cNvSpPr txBox="1"/>
          <p:nvPr/>
        </p:nvSpPr>
        <p:spPr>
          <a:xfrm>
            <a:off x="468313" y="4292600"/>
            <a:ext cx="80645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即单位体积、单位时间导带减少的电子数</a:t>
            </a:r>
            <a:r>
              <a:rPr lang="en-US" altLang="zh-CN" sz="2400" b="1" dirty="0">
                <a:solidFill>
                  <a:schemeClr val="tx2"/>
                </a:solidFill>
              </a:rPr>
              <a:t>=</a:t>
            </a:r>
            <a:r>
              <a:rPr lang="zh-CN" altLang="en-US" sz="2400" b="1" dirty="0">
                <a:solidFill>
                  <a:schemeClr val="tx2"/>
                </a:solidFill>
              </a:rPr>
              <a:t>价带空穴减少数。</a:t>
            </a:r>
            <a:endParaRPr lang="zh-CN" altLang="en-US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电子和空穴通过复合中心成对消失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3994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5575" y="3163888"/>
            <a:ext cx="2771775" cy="4476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3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4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570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2138" y="1700213"/>
            <a:ext cx="4495800" cy="1508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570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8" y="1125538"/>
            <a:ext cx="5181600" cy="504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5702" name="Text Box 6"/>
          <p:cNvSpPr txBox="1"/>
          <p:nvPr/>
        </p:nvSpPr>
        <p:spPr>
          <a:xfrm>
            <a:off x="684213" y="4005263"/>
            <a:ext cx="7775575" cy="457200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热平衡下， </a:t>
            </a:r>
            <a:r>
              <a:rPr lang="en-US" altLang="zh-CN" sz="2400" b="1" dirty="0"/>
              <a:t>np=n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=n</a:t>
            </a:r>
            <a:r>
              <a:rPr lang="en-US" altLang="zh-CN" sz="2400" b="1" baseline="-25000" dirty="0"/>
              <a:t>i</a:t>
            </a:r>
            <a:r>
              <a:rPr lang="en-US" altLang="zh-CN" sz="2400" b="1" baseline="30000" dirty="0"/>
              <a:t>2</a:t>
            </a:r>
            <a:r>
              <a:rPr lang="en-US" altLang="zh-CN" sz="2400" b="1" dirty="0"/>
              <a:t>,  </a:t>
            </a:r>
            <a:r>
              <a:rPr lang="zh-CN" altLang="en-US" sz="2400" b="1" dirty="0"/>
              <a:t>所以   </a:t>
            </a:r>
            <a:r>
              <a:rPr lang="en-US" altLang="zh-CN" sz="2400" b="1" dirty="0"/>
              <a:t>U=0</a:t>
            </a:r>
            <a:endParaRPr lang="en-US" altLang="zh-CN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5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5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6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3500438"/>
            <a:ext cx="4495800" cy="13890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7" name="Text Box 7"/>
          <p:cNvSpPr txBox="1"/>
          <p:nvPr/>
        </p:nvSpPr>
        <p:spPr>
          <a:xfrm>
            <a:off x="684213" y="333375"/>
            <a:ext cx="770413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当半导体中注入非平衡载流子： </a:t>
            </a:r>
            <a:r>
              <a:rPr lang="en-US" altLang="zh-CN" sz="2400" b="1" dirty="0">
                <a:solidFill>
                  <a:schemeClr val="tx2"/>
                </a:solidFill>
              </a:rPr>
              <a:t>np&gt;n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i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2</a:t>
            </a:r>
            <a:r>
              <a:rPr lang="en-US" altLang="zh-CN" sz="2400" b="1" dirty="0">
                <a:solidFill>
                  <a:schemeClr val="tx2"/>
                </a:solidFill>
              </a:rPr>
              <a:t>,   U&gt;0</a:t>
            </a:r>
            <a:endParaRPr lang="en-US" altLang="zh-CN" sz="2400" b="1" baseline="30000" dirty="0">
              <a:solidFill>
                <a:schemeClr val="tx2"/>
              </a:solidFill>
            </a:endParaRPr>
          </a:p>
        </p:txBody>
      </p:sp>
      <p:pic>
        <p:nvPicPr>
          <p:cNvPr id="4198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981075"/>
            <a:ext cx="4552950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89" name="Text Box 9"/>
          <p:cNvSpPr txBox="1"/>
          <p:nvPr/>
        </p:nvSpPr>
        <p:spPr>
          <a:xfrm>
            <a:off x="5508625" y="1052513"/>
            <a:ext cx="2087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代入</a:t>
            </a:r>
            <a:r>
              <a:rPr lang="en-US" altLang="zh-CN" sz="2400" b="1" dirty="0"/>
              <a:t>U </a:t>
            </a:r>
            <a:r>
              <a:rPr lang="zh-CN" altLang="en-US" sz="2400" b="1" dirty="0"/>
              <a:t>表达式</a:t>
            </a:r>
            <a:endParaRPr lang="zh-CN" altLang="en-US" sz="2400" b="1" dirty="0"/>
          </a:p>
        </p:txBody>
      </p:sp>
      <p:pic>
        <p:nvPicPr>
          <p:cNvPr id="24577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13" y="1773238"/>
            <a:ext cx="6840537" cy="13001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71" name="Text Box 11"/>
          <p:cNvSpPr txBox="1"/>
          <p:nvPr/>
        </p:nvSpPr>
        <p:spPr>
          <a:xfrm>
            <a:off x="6478588" y="3357563"/>
            <a:ext cx="2665412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小注入，</a:t>
            </a:r>
            <a:r>
              <a:rPr lang="zh-CN" altLang="en-US" sz="2400" b="1" dirty="0"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ym typeface="Symbol" panose="05050102010706020507" pitchFamily="18" charset="2"/>
              </a:rPr>
              <a:t>、</a:t>
            </a:r>
            <a:r>
              <a:rPr lang="en-US" altLang="zh-CN" sz="2400" b="1" dirty="0"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ym typeface="Symbol" panose="05050102010706020507" pitchFamily="18" charset="2"/>
              </a:rPr>
              <a:t>可忽略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5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7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3010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115888"/>
            <a:ext cx="6934200" cy="13763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4259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2133600"/>
            <a:ext cx="6019800" cy="1377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426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875" y="3500438"/>
            <a:ext cx="5105400" cy="2740025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rgbClr val="FFCCCC"/>
            </a:solidFill>
            <a:prstDash val="solid"/>
            <a:miter/>
            <a:headEnd type="none" w="med" len="med"/>
            <a:tailEnd type="none" w="med" len="med"/>
          </a:ln>
        </p:spPr>
      </p:pic>
      <p:pic>
        <p:nvPicPr>
          <p:cNvPr id="224261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1628775"/>
            <a:ext cx="3816350" cy="377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263" name="Text Box 7"/>
          <p:cNvSpPr txBox="1"/>
          <p:nvPr/>
        </p:nvSpPr>
        <p:spPr>
          <a:xfrm>
            <a:off x="250825" y="6092825"/>
            <a:ext cx="8713788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小注入时只与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0</a:t>
            </a:r>
            <a:r>
              <a:rPr lang="zh-CN" altLang="en-US" sz="2400" b="1" baseline="-25000" dirty="0"/>
              <a:t>、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有关，与非平衡载流子浓度无关。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4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4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4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403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850" y="260350"/>
            <a:ext cx="4924425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0" y="836613"/>
            <a:ext cx="4762500" cy="44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8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1628775"/>
            <a:ext cx="4343400" cy="1038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8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124200"/>
            <a:ext cx="1543050" cy="838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8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2971800"/>
            <a:ext cx="3943350" cy="111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8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763" y="3068638"/>
            <a:ext cx="561975" cy="542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9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50" y="4365625"/>
            <a:ext cx="1600200" cy="847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9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2488" y="4365625"/>
            <a:ext cx="1362075" cy="923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529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3938" y="4365625"/>
            <a:ext cx="1009650" cy="8953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Text Box 2"/>
          <p:cNvSpPr txBox="1"/>
          <p:nvPr/>
        </p:nvSpPr>
        <p:spPr>
          <a:xfrm>
            <a:off x="304800" y="228600"/>
            <a:ext cx="6172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</a:t>
            </a:r>
            <a:r>
              <a:rPr lang="zh-CN" altLang="en-US" sz="2400" b="1" dirty="0"/>
              <a:t>对强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型半导体</a:t>
            </a:r>
            <a:r>
              <a:rPr lang="en-US" altLang="zh-CN" sz="2400" b="1" dirty="0"/>
              <a:t>(E</a:t>
            </a:r>
            <a:r>
              <a:rPr lang="en-US" altLang="zh-CN" sz="2400" b="1" baseline="-25000" dirty="0"/>
              <a:t>t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F</a:t>
            </a:r>
            <a:r>
              <a:rPr lang="zh-CN" altLang="en-US" sz="2400" b="1" dirty="0"/>
              <a:t>之下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：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p</a:t>
            </a:r>
            <a:r>
              <a:rPr lang="en-US" altLang="zh-CN" sz="2400" b="1" baseline="-25000" dirty="0"/>
              <a:t>1</a:t>
            </a:r>
            <a:r>
              <a:rPr lang="zh-CN" altLang="en-US" sz="2400" b="1" dirty="0"/>
              <a:t>中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0</a:t>
            </a:r>
            <a:r>
              <a:rPr lang="zh-CN" altLang="en-US" sz="2400" b="1" dirty="0"/>
              <a:t>最大，即</a:t>
            </a:r>
            <a:r>
              <a:rPr lang="en-US" altLang="zh-CN" sz="2400" b="1" dirty="0"/>
              <a:t>n</a:t>
            </a:r>
            <a:r>
              <a:rPr lang="en-US" altLang="zh-CN" sz="2400" b="1" baseline="-25000" dirty="0"/>
              <a:t>0</a:t>
            </a:r>
            <a:r>
              <a:rPr lang="en-US" altLang="zh-CN" sz="2400" b="1" dirty="0"/>
              <a:t>&gt;&gt;p</a:t>
            </a:r>
            <a:r>
              <a:rPr lang="en-US" altLang="zh-CN" sz="2400" b="1" baseline="-25000" dirty="0"/>
              <a:t>0 </a:t>
            </a:r>
            <a:r>
              <a:rPr lang="zh-CN" altLang="en-US" sz="2400" b="1" dirty="0"/>
              <a:t>寿命简化为</a:t>
            </a:r>
            <a:endParaRPr lang="zh-CN" altLang="en-US" sz="2400" b="1" baseline="-25000" dirty="0"/>
          </a:p>
        </p:txBody>
      </p:sp>
      <p:graphicFrame>
        <p:nvGraphicFramePr>
          <p:cNvPr id="246788" name="Object 4"/>
          <p:cNvGraphicFramePr>
            <a:graphicFrameLocks noChangeAspect="1"/>
          </p:cNvGraphicFramePr>
          <p:nvPr/>
        </p:nvGraphicFramePr>
        <p:xfrm>
          <a:off x="1476375" y="1484313"/>
          <a:ext cx="36766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676650" imgH="952500" progId="Paint.Picture">
                  <p:embed/>
                </p:oleObj>
              </mc:Choice>
              <mc:Fallback>
                <p:oleObj name="" r:id="rId1" imgW="3676650" imgH="952500" progId="Paint.Picture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6375" y="1484313"/>
                        <a:ext cx="3676650" cy="952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679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2565400"/>
            <a:ext cx="2095500" cy="1095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791" name="Text Box 7"/>
          <p:cNvSpPr txBox="1"/>
          <p:nvPr/>
        </p:nvSpPr>
        <p:spPr>
          <a:xfrm>
            <a:off x="755650" y="4365625"/>
            <a:ext cx="6769100" cy="1187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1800" dirty="0"/>
              <a:t> </a:t>
            </a:r>
            <a:r>
              <a:rPr lang="zh-CN" altLang="en-US" sz="2400" b="1" dirty="0">
                <a:solidFill>
                  <a:schemeClr val="folHlink"/>
                </a:solidFill>
              </a:rPr>
              <a:t>对</a:t>
            </a:r>
            <a:r>
              <a:rPr lang="en-US" altLang="zh-CN" sz="2400" b="1" dirty="0">
                <a:solidFill>
                  <a:schemeClr val="folHlink"/>
                </a:solidFill>
              </a:rPr>
              <a:t>n</a:t>
            </a:r>
            <a:r>
              <a:rPr lang="zh-CN" altLang="en-US" sz="2400" b="1" dirty="0">
                <a:solidFill>
                  <a:schemeClr val="folHlink"/>
                </a:solidFill>
              </a:rPr>
              <a:t>型较重掺杂半导体，对寿命起主要作用的是复合中心对少数载流子空穴的俘获系数</a:t>
            </a:r>
            <a:r>
              <a:rPr lang="en-US" altLang="zh-CN" sz="2400" b="1" dirty="0">
                <a:solidFill>
                  <a:schemeClr val="folHlink"/>
                </a:solidFill>
              </a:rPr>
              <a:t>r</a:t>
            </a:r>
            <a:r>
              <a:rPr lang="en-US" altLang="zh-CN" sz="2400" b="1" baseline="-25000" dirty="0">
                <a:solidFill>
                  <a:schemeClr val="folHlink"/>
                </a:solidFill>
              </a:rPr>
              <a:t>p</a:t>
            </a:r>
            <a:r>
              <a:rPr lang="en-US" altLang="zh-CN" sz="2400" b="1" dirty="0">
                <a:solidFill>
                  <a:schemeClr val="folHlink"/>
                </a:solidFill>
              </a:rPr>
              <a:t>, </a:t>
            </a:r>
            <a:r>
              <a:rPr lang="zh-CN" altLang="en-US" sz="2400" b="1" dirty="0">
                <a:solidFill>
                  <a:schemeClr val="folHlink"/>
                </a:solidFill>
              </a:rPr>
              <a:t>而与电子俘获系数</a:t>
            </a:r>
            <a:r>
              <a:rPr lang="en-US" altLang="zh-CN" sz="2400" b="1" dirty="0">
                <a:solidFill>
                  <a:schemeClr val="folHlink"/>
                </a:solidFill>
              </a:rPr>
              <a:t>r</a:t>
            </a:r>
            <a:r>
              <a:rPr lang="en-US" altLang="zh-CN" sz="2400" b="1" baseline="-25000" dirty="0">
                <a:solidFill>
                  <a:schemeClr val="folHlink"/>
                </a:solidFill>
              </a:rPr>
              <a:t>n</a:t>
            </a:r>
            <a:r>
              <a:rPr lang="zh-CN" altLang="en-US" sz="2400" b="1" dirty="0">
                <a:solidFill>
                  <a:schemeClr val="folHlink"/>
                </a:solidFill>
              </a:rPr>
              <a:t>无关</a:t>
            </a:r>
            <a:r>
              <a:rPr lang="zh-CN" altLang="en-US" sz="2400" b="1" dirty="0"/>
              <a:t>。</a:t>
            </a:r>
            <a:endParaRPr lang="zh-CN" altLang="en-US" sz="2400" b="1" baseline="-25000" dirty="0"/>
          </a:p>
        </p:txBody>
      </p:sp>
      <p:pic>
        <p:nvPicPr>
          <p:cNvPr id="45062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88" y="404813"/>
            <a:ext cx="2530475" cy="23352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9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24" name="Text Box 4"/>
          <p:cNvSpPr txBox="1"/>
          <p:nvPr/>
        </p:nvSpPr>
        <p:spPr>
          <a:xfrm>
            <a:off x="900113" y="908050"/>
            <a:ext cx="58674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对高阻半导体， 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F</a:t>
            </a:r>
            <a:r>
              <a:rPr lang="zh-CN" altLang="en-US" sz="2400" b="1" dirty="0">
                <a:solidFill>
                  <a:srgbClr val="0000FF"/>
                </a:solidFill>
              </a:rPr>
              <a:t>在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t </a:t>
            </a:r>
            <a:r>
              <a:rPr lang="zh-CN" altLang="en-US" sz="2400" b="1" dirty="0">
                <a:solidFill>
                  <a:srgbClr val="0000FF"/>
                </a:solidFill>
              </a:rPr>
              <a:t>与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i</a:t>
            </a:r>
            <a:r>
              <a:rPr lang="zh-CN" altLang="en-US" sz="2400" b="1" dirty="0">
                <a:solidFill>
                  <a:srgbClr val="0000FF"/>
                </a:solidFill>
              </a:rPr>
              <a:t>之间， </a:t>
            </a: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中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最大，即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</a:rPr>
              <a:t> &gt;&gt; 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</a:rPr>
              <a:t>， </a:t>
            </a:r>
            <a:r>
              <a:rPr lang="en-US" altLang="zh-CN" sz="2400" b="1" dirty="0">
                <a:solidFill>
                  <a:srgbClr val="0000FF"/>
                </a:solidFill>
              </a:rPr>
              <a:t>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1</a:t>
            </a:r>
            <a:r>
              <a:rPr lang="zh-CN" altLang="en-US" sz="2400" b="1" dirty="0">
                <a:solidFill>
                  <a:srgbClr val="0000FF"/>
                </a:solidFill>
              </a:rPr>
              <a:t>，</a:t>
            </a:r>
            <a:r>
              <a:rPr lang="zh-CN" altLang="en-US" sz="2400" b="1" baseline="-25000" dirty="0">
                <a:solidFill>
                  <a:srgbClr val="0000FF"/>
                </a:solidFill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</a:rPr>
              <a:t>并且 </a:t>
            </a: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r>
              <a:rPr lang="en-US" altLang="zh-CN" sz="2400" b="1" dirty="0">
                <a:solidFill>
                  <a:srgbClr val="0000FF"/>
                </a:solidFill>
              </a:rPr>
              <a:t> &gt;&gt; p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0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pic>
        <p:nvPicPr>
          <p:cNvPr id="28672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492375"/>
            <a:ext cx="2266950" cy="19796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2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13" y="2924175"/>
            <a:ext cx="1724025" cy="10572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10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260350"/>
            <a:ext cx="3524250" cy="48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638" y="333375"/>
            <a:ext cx="4086225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8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388" y="908050"/>
            <a:ext cx="1571625" cy="590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631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825" y="1557338"/>
            <a:ext cx="2530475" cy="2335212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6324" name="Group 20"/>
          <p:cNvGrpSpPr/>
          <p:nvPr/>
        </p:nvGrpSpPr>
        <p:grpSpPr>
          <a:xfrm>
            <a:off x="3059113" y="1484313"/>
            <a:ext cx="3086100" cy="2484437"/>
            <a:chOff x="1927" y="935"/>
            <a:chExt cx="1944" cy="1565"/>
          </a:xfrm>
        </p:grpSpPr>
        <p:pic>
          <p:nvPicPr>
            <p:cNvPr id="47122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27" y="935"/>
              <a:ext cx="1944" cy="2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23" name="Pictur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109" y="1253"/>
              <a:ext cx="1428" cy="1247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26325" name="Group 21"/>
          <p:cNvGrpSpPr/>
          <p:nvPr/>
        </p:nvGrpSpPr>
        <p:grpSpPr>
          <a:xfrm>
            <a:off x="6516688" y="1484313"/>
            <a:ext cx="2074862" cy="2479675"/>
            <a:chOff x="4105" y="935"/>
            <a:chExt cx="1307" cy="1562"/>
          </a:xfrm>
        </p:grpSpPr>
        <p:pic>
          <p:nvPicPr>
            <p:cNvPr id="47120" name="Picture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41" y="935"/>
              <a:ext cx="756" cy="26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21" name="Picture 1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105" y="1291"/>
              <a:ext cx="1307" cy="1206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26317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953000"/>
            <a:ext cx="2095500" cy="1095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6318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08400" y="5013325"/>
            <a:ext cx="1724025" cy="10572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6326" name="Group 22"/>
          <p:cNvGrpSpPr/>
          <p:nvPr/>
        </p:nvGrpSpPr>
        <p:grpSpPr>
          <a:xfrm>
            <a:off x="152400" y="3962400"/>
            <a:ext cx="7813675" cy="1076325"/>
            <a:chOff x="96" y="2496"/>
            <a:chExt cx="4922" cy="678"/>
          </a:xfrm>
        </p:grpSpPr>
        <p:pic>
          <p:nvPicPr>
            <p:cNvPr id="47116" name="Picture 1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6" y="2496"/>
              <a:ext cx="1776" cy="30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17" name="Picture 1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68" y="2832"/>
              <a:ext cx="654" cy="34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18" name="Picture 1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789" y="2795"/>
              <a:ext cx="282" cy="27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7119" name="Picture 1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94" y="2795"/>
              <a:ext cx="324" cy="240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26322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8125" y="5013325"/>
            <a:ext cx="2047875" cy="9239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6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6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6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6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6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6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6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6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6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26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6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813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304800"/>
            <a:ext cx="1609725" cy="5048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27341" name="Group 13"/>
          <p:cNvGrpSpPr/>
          <p:nvPr/>
        </p:nvGrpSpPr>
        <p:grpSpPr>
          <a:xfrm>
            <a:off x="1116013" y="981075"/>
            <a:ext cx="4117975" cy="981075"/>
            <a:chOff x="703" y="618"/>
            <a:chExt cx="2594" cy="618"/>
          </a:xfrm>
        </p:grpSpPr>
        <p:pic>
          <p:nvPicPr>
            <p:cNvPr id="48138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3" y="618"/>
              <a:ext cx="1386" cy="61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8139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9" y="663"/>
              <a:ext cx="1188" cy="558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27335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133600"/>
            <a:ext cx="1495425" cy="1009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27336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0" y="2133600"/>
            <a:ext cx="1333500" cy="1019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7337" name="Text Box 9"/>
          <p:cNvSpPr txBox="1"/>
          <p:nvPr/>
        </p:nvSpPr>
        <p:spPr>
          <a:xfrm>
            <a:off x="533400" y="3505200"/>
            <a:ext cx="8001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强</a:t>
            </a:r>
            <a:r>
              <a:rPr lang="en-US" altLang="zh-CN" sz="2400" b="1" dirty="0">
                <a:solidFill>
                  <a:schemeClr val="tx2"/>
                </a:solidFill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</a:rPr>
              <a:t>型、强</a:t>
            </a:r>
            <a:r>
              <a:rPr lang="en-US" altLang="zh-CN" sz="2400" b="1" dirty="0">
                <a:solidFill>
                  <a:schemeClr val="tx2"/>
                </a:solidFill>
              </a:rPr>
              <a:t>p</a:t>
            </a:r>
            <a:r>
              <a:rPr lang="zh-CN" altLang="en-US" sz="2400" b="1" dirty="0">
                <a:solidFill>
                  <a:schemeClr val="tx2"/>
                </a:solidFill>
              </a:rPr>
              <a:t>型、及高阻区是相对的，与复合中心能级</a:t>
            </a:r>
            <a:r>
              <a:rPr lang="en-US" altLang="zh-CN" sz="2400" b="1" dirty="0">
                <a:solidFill>
                  <a:schemeClr val="tx2"/>
                </a:solidFill>
              </a:rPr>
              <a:t>E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t</a:t>
            </a:r>
            <a:r>
              <a:rPr lang="zh-CN" altLang="en-US" sz="2400" b="1" dirty="0">
                <a:solidFill>
                  <a:schemeClr val="tx2"/>
                </a:solidFill>
              </a:rPr>
              <a:t>的位置有关。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sp>
        <p:nvSpPr>
          <p:cNvPr id="227338" name="Text Box 10"/>
          <p:cNvSpPr txBox="1"/>
          <p:nvPr/>
        </p:nvSpPr>
        <p:spPr>
          <a:xfrm>
            <a:off x="228600" y="4419600"/>
            <a:ext cx="8353425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一般地，禁带中央附近的深能级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t</a:t>
            </a:r>
            <a:r>
              <a:rPr lang="zh-CN" altLang="en-US" sz="2400" b="1" dirty="0">
                <a:solidFill>
                  <a:srgbClr val="0000FF"/>
                </a:solidFill>
              </a:rPr>
              <a:t>是最有效的复合中心。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如</a:t>
            </a:r>
            <a:r>
              <a:rPr lang="en-US" altLang="zh-CN" sz="2400" b="1" dirty="0">
                <a:solidFill>
                  <a:srgbClr val="0000FF"/>
                </a:solidFill>
              </a:rPr>
              <a:t>C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U</a:t>
            </a:r>
            <a:r>
              <a:rPr lang="en-US" altLang="zh-CN" sz="2400" b="1" dirty="0">
                <a:solidFill>
                  <a:srgbClr val="0000FF"/>
                </a:solidFill>
              </a:rPr>
              <a:t>, Fe, Au</a:t>
            </a:r>
            <a:r>
              <a:rPr lang="zh-CN" altLang="en-US" sz="2400" b="1" dirty="0">
                <a:solidFill>
                  <a:srgbClr val="0000FF"/>
                </a:solidFill>
              </a:rPr>
              <a:t>等杂质在</a:t>
            </a:r>
            <a:r>
              <a:rPr lang="en-US" altLang="zh-CN" sz="2400" b="1" dirty="0">
                <a:solidFill>
                  <a:srgbClr val="0000FF"/>
                </a:solidFill>
              </a:rPr>
              <a:t>Si</a:t>
            </a:r>
            <a:r>
              <a:rPr lang="zh-CN" altLang="en-US" sz="2400" b="1" dirty="0">
                <a:solidFill>
                  <a:srgbClr val="0000FF"/>
                </a:solidFill>
              </a:rPr>
              <a:t>中形成深能级，是有效的复合中心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27339" name="Rectangle 11"/>
          <p:cNvSpPr/>
          <p:nvPr/>
        </p:nvSpPr>
        <p:spPr>
          <a:xfrm>
            <a:off x="533400" y="5486400"/>
            <a:ext cx="6858000" cy="11874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浅能级，不是有效的复合中心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48137" name="Text Box 12"/>
          <p:cNvSpPr txBox="1"/>
          <p:nvPr/>
        </p:nvSpPr>
        <p:spPr>
          <a:xfrm>
            <a:off x="304800" y="304800"/>
            <a:ext cx="1371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总结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7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7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7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7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7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7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7" grpId="0"/>
      <p:bldP spid="227338" grpId="0"/>
      <p:bldP spid="22733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91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28600"/>
            <a:ext cx="1571625" cy="44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40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563" y="3140075"/>
            <a:ext cx="1600200" cy="55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40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538" y="4005263"/>
            <a:ext cx="1581150" cy="56197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30416" name="Group 16"/>
          <p:cNvGrpSpPr/>
          <p:nvPr/>
        </p:nvGrpSpPr>
        <p:grpSpPr>
          <a:xfrm>
            <a:off x="1042988" y="4681538"/>
            <a:ext cx="2762250" cy="457200"/>
            <a:chOff x="567" y="2931"/>
            <a:chExt cx="1740" cy="288"/>
          </a:xfrm>
        </p:grpSpPr>
        <p:pic>
          <p:nvPicPr>
            <p:cNvPr id="49165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7" y="2931"/>
              <a:ext cx="924" cy="270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9166" name="Pictur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701" y="2931"/>
              <a:ext cx="606" cy="288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3040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676400"/>
            <a:ext cx="4352925" cy="819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4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2200" y="2514600"/>
            <a:ext cx="2400300" cy="48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04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4438" y="5373688"/>
            <a:ext cx="3857625" cy="609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161" name="Text Box 12"/>
          <p:cNvSpPr txBox="1"/>
          <p:nvPr/>
        </p:nvSpPr>
        <p:spPr>
          <a:xfrm>
            <a:off x="2209800" y="228600"/>
            <a:ext cx="6934200" cy="1370013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假设复合中心是具有一定半径的球体，其截面积为</a:t>
            </a:r>
            <a:r>
              <a:rPr lang="zh-CN" altLang="en-US" sz="2400" b="1" dirty="0">
                <a:sym typeface="Symbol" panose="05050102010706020507" pitchFamily="18" charset="2"/>
              </a:rPr>
              <a:t></a:t>
            </a:r>
            <a:r>
              <a:rPr lang="en-US" altLang="zh-CN" sz="2400" b="1" dirty="0">
                <a:sym typeface="Symbol" panose="05050102010706020507" pitchFamily="18" charset="2"/>
              </a:rPr>
              <a:t>,</a:t>
            </a:r>
            <a:r>
              <a:rPr lang="zh-CN" altLang="en-US" sz="2400" b="1" dirty="0">
                <a:sym typeface="Symbol" panose="05050102010706020507" pitchFamily="18" charset="2"/>
              </a:rPr>
              <a:t>截面积越大，俘获载流子的概率越大。</a:t>
            </a:r>
            <a:endParaRPr lang="zh-CN" altLang="en-US" sz="2400" b="1" dirty="0"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ym typeface="Symbol" panose="05050102010706020507" pitchFamily="18" charset="2"/>
              </a:rPr>
              <a:t>描述了复合中心俘获载流子的本领。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sp>
        <p:nvSpPr>
          <p:cNvPr id="230413" name="Rectangle 13"/>
          <p:cNvSpPr/>
          <p:nvPr/>
        </p:nvSpPr>
        <p:spPr>
          <a:xfrm>
            <a:off x="4572000" y="3124200"/>
            <a:ext cx="4572000" cy="822325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-</a:t>
            </a:r>
            <a:r>
              <a:rPr lang="zh-CN" altLang="en-US" sz="2400" b="1" dirty="0">
                <a:sym typeface="Symbol" panose="05050102010706020507" pitchFamily="18" charset="2"/>
              </a:rPr>
              <a:t>描述电子俘获截面，</a:t>
            </a:r>
            <a:r>
              <a:rPr lang="zh-CN" altLang="en-US" sz="2400" b="1" i="1" dirty="0">
                <a:sym typeface="Symbol" panose="05050102010706020507" pitchFamily="18" charset="2"/>
              </a:rPr>
              <a:t>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T</a:t>
            </a:r>
            <a:r>
              <a:rPr lang="zh-CN" altLang="en-US" sz="2400" b="1" dirty="0">
                <a:sym typeface="Symbol" panose="05050102010706020507" pitchFamily="18" charset="2"/>
              </a:rPr>
              <a:t>载流子热运动速度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sp>
        <p:nvSpPr>
          <p:cNvPr id="230414" name="Rectangle 14"/>
          <p:cNvSpPr/>
          <p:nvPr/>
        </p:nvSpPr>
        <p:spPr>
          <a:xfrm>
            <a:off x="4648200" y="4038600"/>
            <a:ext cx="2943225" cy="4572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ym typeface="Symbol" panose="05050102010706020507" pitchFamily="18" charset="2"/>
              </a:rPr>
              <a:t></a:t>
            </a:r>
            <a:r>
              <a:rPr lang="en-US" altLang="zh-CN" sz="2400" b="1" baseline="-25000" dirty="0">
                <a:sym typeface="Symbol" panose="05050102010706020507" pitchFamily="18" charset="2"/>
              </a:rPr>
              <a:t>+</a:t>
            </a:r>
            <a:r>
              <a:rPr lang="zh-CN" altLang="en-US" sz="2400" b="1" dirty="0">
                <a:sym typeface="Symbol" panose="05050102010706020507" pitchFamily="18" charset="2"/>
              </a:rPr>
              <a:t>描述空穴俘获截面</a:t>
            </a:r>
            <a:endParaRPr lang="zh-CN" altLang="en-US" sz="2400" b="1" dirty="0">
              <a:sym typeface="Symbol" panose="05050102010706020507" pitchFamily="18" charset="2"/>
            </a:endParaRPr>
          </a:p>
        </p:txBody>
      </p:sp>
      <p:sp>
        <p:nvSpPr>
          <p:cNvPr id="230415" name="Rectangle 15"/>
          <p:cNvSpPr/>
          <p:nvPr/>
        </p:nvSpPr>
        <p:spPr>
          <a:xfrm>
            <a:off x="609600" y="3124200"/>
            <a:ext cx="1447800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电子、空穴的俘获系数</a:t>
            </a:r>
            <a:endParaRPr lang="zh-CN" altLang="en-US" sz="2400" b="1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0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0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0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0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04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04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0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0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0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13" grpId="0" animBg="1"/>
      <p:bldP spid="230414" grpId="0" animBg="1"/>
      <p:bldP spid="2304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Text Box 4"/>
          <p:cNvSpPr txBox="1"/>
          <p:nvPr/>
        </p:nvSpPr>
        <p:spPr>
          <a:xfrm>
            <a:off x="323850" y="333375"/>
            <a:ext cx="43195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深能级复合中心举例</a:t>
            </a:r>
            <a:endParaRPr lang="zh-CN" altLang="en-US" sz="2400" b="1" dirty="0"/>
          </a:p>
        </p:txBody>
      </p:sp>
      <p:sp>
        <p:nvSpPr>
          <p:cNvPr id="228357" name="Text Box 5"/>
          <p:cNvSpPr txBox="1"/>
          <p:nvPr/>
        </p:nvSpPr>
        <p:spPr>
          <a:xfrm>
            <a:off x="609600" y="1066800"/>
            <a:ext cx="7315200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Au</a:t>
            </a:r>
            <a:r>
              <a:rPr lang="zh-CN" altLang="en-US" sz="2400" b="1" dirty="0"/>
              <a:t>在</a:t>
            </a:r>
            <a:r>
              <a:rPr lang="en-US" altLang="zh-CN" sz="2400" b="1" dirty="0"/>
              <a:t>Si</a:t>
            </a:r>
            <a:r>
              <a:rPr lang="zh-CN" altLang="en-US" sz="2400" b="1" dirty="0"/>
              <a:t>中为深能级， 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双重能级：受主能级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At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距导带</a:t>
            </a:r>
            <a:r>
              <a:rPr lang="en-US" altLang="zh-CN" sz="2400" b="1" dirty="0"/>
              <a:t>0.54eV;</a:t>
            </a:r>
            <a:endParaRPr lang="en-US" altLang="zh-CN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        </a:t>
            </a:r>
            <a:r>
              <a:rPr lang="zh-CN" altLang="en-US" sz="2400" b="1" dirty="0"/>
              <a:t>施主能级</a:t>
            </a:r>
            <a:r>
              <a:rPr lang="en-US" altLang="zh-CN" sz="2400" b="1" dirty="0"/>
              <a:t>E</a:t>
            </a:r>
            <a:r>
              <a:rPr lang="en-US" altLang="zh-CN" sz="2400" b="1" baseline="-25000" dirty="0"/>
              <a:t>Dt</a:t>
            </a:r>
            <a:r>
              <a:rPr lang="en-US" altLang="zh-CN" sz="2400" b="1" dirty="0"/>
              <a:t>, </a:t>
            </a:r>
            <a:r>
              <a:rPr lang="zh-CN" altLang="en-US" sz="2400" b="1" dirty="0"/>
              <a:t>距价带</a:t>
            </a:r>
            <a:r>
              <a:rPr lang="en-US" altLang="zh-CN" sz="2400" b="1" dirty="0"/>
              <a:t>0.35eV;</a:t>
            </a:r>
            <a:endParaRPr lang="en-US" altLang="zh-CN" sz="2400" b="1" dirty="0"/>
          </a:p>
        </p:txBody>
      </p:sp>
      <p:sp>
        <p:nvSpPr>
          <p:cNvPr id="228358" name="Text Box 6"/>
          <p:cNvSpPr txBox="1"/>
          <p:nvPr/>
        </p:nvSpPr>
        <p:spPr>
          <a:xfrm>
            <a:off x="228600" y="2819400"/>
            <a:ext cx="8229600" cy="2282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两能级其主要作用不同 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</a:rPr>
              <a:t>型</a:t>
            </a:r>
            <a:r>
              <a:rPr lang="en-US" altLang="zh-CN" sz="2400" b="1" dirty="0">
                <a:solidFill>
                  <a:schemeClr val="tx2"/>
                </a:solidFill>
              </a:rPr>
              <a:t>Si</a:t>
            </a:r>
            <a:r>
              <a:rPr lang="zh-CN" altLang="en-US" sz="2400" b="1" dirty="0"/>
              <a:t>：</a:t>
            </a:r>
            <a:r>
              <a:rPr lang="zh-CN" altLang="en-US" sz="2400" b="1" dirty="0">
                <a:solidFill>
                  <a:srgbClr val="0000FF"/>
                </a:solidFill>
              </a:rPr>
              <a:t>若浅施主不少，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F</a:t>
            </a:r>
            <a:r>
              <a:rPr lang="zh-CN" altLang="en-US" sz="2400" b="1" dirty="0">
                <a:solidFill>
                  <a:srgbClr val="0000FF"/>
                </a:solidFill>
              </a:rPr>
              <a:t>接近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C</a:t>
            </a:r>
            <a:r>
              <a:rPr lang="zh-CN" altLang="en-US" sz="2400" b="1" dirty="0">
                <a:solidFill>
                  <a:srgbClr val="0000FF"/>
                </a:solidFill>
              </a:rPr>
              <a:t>， </a:t>
            </a:r>
            <a:r>
              <a:rPr lang="en-US" altLang="zh-CN" sz="2400" b="1" dirty="0">
                <a:solidFill>
                  <a:srgbClr val="0000FF"/>
                </a:solidFill>
              </a:rPr>
              <a:t>Au</a:t>
            </a:r>
            <a:r>
              <a:rPr lang="zh-CN" altLang="en-US" sz="2400" b="1" dirty="0">
                <a:solidFill>
                  <a:srgbClr val="0000FF"/>
                </a:solidFill>
              </a:rPr>
              <a:t>接受电子成为</a:t>
            </a:r>
            <a:r>
              <a:rPr lang="en-US" altLang="zh-CN" sz="2400" b="1" dirty="0">
                <a:solidFill>
                  <a:srgbClr val="0000FF"/>
                </a:solidFill>
              </a:rPr>
              <a:t>Au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，只有受主能级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At</a:t>
            </a:r>
            <a:r>
              <a:rPr lang="zh-CN" altLang="en-US" sz="2400" b="1" dirty="0">
                <a:solidFill>
                  <a:srgbClr val="0000FF"/>
                </a:solidFill>
              </a:rPr>
              <a:t>起作用</a:t>
            </a:r>
            <a:r>
              <a:rPr lang="en-US" altLang="zh-CN" sz="2400" b="1" dirty="0">
                <a:solidFill>
                  <a:srgbClr val="0000FF"/>
                </a:solidFill>
              </a:rPr>
              <a:t>.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p</a:t>
            </a:r>
            <a:r>
              <a:rPr lang="zh-CN" altLang="en-US" sz="2400" b="1" dirty="0">
                <a:solidFill>
                  <a:schemeClr val="tx2"/>
                </a:solidFill>
              </a:rPr>
              <a:t>型</a:t>
            </a:r>
            <a:r>
              <a:rPr lang="en-US" altLang="zh-CN" sz="2400" b="1" dirty="0">
                <a:solidFill>
                  <a:schemeClr val="tx2"/>
                </a:solidFill>
              </a:rPr>
              <a:t>Si</a:t>
            </a:r>
            <a:r>
              <a:rPr lang="zh-CN" altLang="en-US" sz="2400" b="1" dirty="0"/>
              <a:t>： </a:t>
            </a:r>
            <a:r>
              <a:rPr lang="en-US" altLang="zh-CN" sz="2400" b="1" dirty="0">
                <a:solidFill>
                  <a:srgbClr val="0000FF"/>
                </a:solidFill>
              </a:rPr>
              <a:t>Au</a:t>
            </a:r>
            <a:r>
              <a:rPr lang="zh-CN" altLang="en-US" sz="2400" b="1" dirty="0">
                <a:solidFill>
                  <a:srgbClr val="0000FF"/>
                </a:solidFill>
              </a:rPr>
              <a:t>基本上为空，释放电子为</a:t>
            </a:r>
            <a:r>
              <a:rPr lang="en-US" altLang="zh-CN" sz="2400" b="1" dirty="0">
                <a:solidFill>
                  <a:srgbClr val="0000FF"/>
                </a:solidFill>
              </a:rPr>
              <a:t>Au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+</a:t>
            </a:r>
            <a:r>
              <a:rPr lang="zh-CN" altLang="en-US" sz="2400" b="1" dirty="0">
                <a:solidFill>
                  <a:srgbClr val="0000FF"/>
                </a:solidFill>
              </a:rPr>
              <a:t>，只存在施能级</a:t>
            </a:r>
            <a:r>
              <a:rPr lang="en-US" altLang="zh-CN" sz="2400" b="1" dirty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Dt</a:t>
            </a:r>
            <a:r>
              <a:rPr lang="zh-CN" altLang="en-US" sz="2400" b="1" dirty="0">
                <a:solidFill>
                  <a:srgbClr val="0000FF"/>
                </a:solidFill>
              </a:rPr>
              <a:t>起作用</a:t>
            </a:r>
            <a:r>
              <a:rPr lang="en-US" altLang="zh-CN" sz="2400" b="1" dirty="0">
                <a:solidFill>
                  <a:srgbClr val="0000FF"/>
                </a:solidFill>
              </a:rPr>
              <a:t>.</a:t>
            </a:r>
            <a:endParaRPr lang="en-US" altLang="zh-CN" sz="2400" b="1" dirty="0">
              <a:solidFill>
                <a:srgbClr val="0000FF"/>
              </a:solidFill>
            </a:endParaRPr>
          </a:p>
        </p:txBody>
      </p:sp>
      <p:sp>
        <p:nvSpPr>
          <p:cNvPr id="228359" name="Rectangle 7"/>
          <p:cNvSpPr/>
          <p:nvPr/>
        </p:nvSpPr>
        <p:spPr>
          <a:xfrm>
            <a:off x="228600" y="5229225"/>
            <a:ext cx="8382000" cy="822325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N</a:t>
            </a:r>
            <a:r>
              <a:rPr lang="zh-CN" altLang="en-US" sz="2400" b="1" dirty="0">
                <a:solidFill>
                  <a:schemeClr val="tx2"/>
                </a:solidFill>
              </a:rPr>
              <a:t>或</a:t>
            </a:r>
            <a:r>
              <a:rPr lang="en-US" altLang="zh-CN" sz="2400" b="1" dirty="0">
                <a:solidFill>
                  <a:schemeClr val="tx2"/>
                </a:solidFill>
              </a:rPr>
              <a:t>p</a:t>
            </a:r>
            <a:r>
              <a:rPr lang="zh-CN" altLang="en-US" sz="2400" b="1" dirty="0">
                <a:solidFill>
                  <a:schemeClr val="tx2"/>
                </a:solidFill>
              </a:rPr>
              <a:t>型</a:t>
            </a:r>
            <a:r>
              <a:rPr lang="en-US" altLang="zh-CN" sz="2400" b="1" dirty="0">
                <a:solidFill>
                  <a:schemeClr val="tx2"/>
                </a:solidFill>
              </a:rPr>
              <a:t>Si</a:t>
            </a:r>
            <a:r>
              <a:rPr lang="zh-CN" altLang="en-US" sz="2400" b="1" dirty="0"/>
              <a:t>，</a:t>
            </a:r>
            <a:r>
              <a:rPr lang="en-US" altLang="zh-CN" sz="2400" b="1" dirty="0">
                <a:solidFill>
                  <a:srgbClr val="0000FF"/>
                </a:solidFill>
              </a:rPr>
              <a:t>Au</a:t>
            </a:r>
            <a:r>
              <a:rPr lang="zh-CN" altLang="en-US" sz="2400" b="1" dirty="0">
                <a:solidFill>
                  <a:srgbClr val="0000FF"/>
                </a:solidFill>
              </a:rPr>
              <a:t>为有效复合中心，对少数载流子寿命产生极大的影响。</a:t>
            </a:r>
            <a:endParaRPr lang="zh-CN" altLang="en-US" sz="2400" b="1" baseline="-250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83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8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8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357" grpId="0"/>
      <p:bldP spid="228358" grpId="0"/>
      <p:bldP spid="22835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2"/>
          <p:cNvSpPr/>
          <p:nvPr/>
        </p:nvSpPr>
        <p:spPr>
          <a:xfrm>
            <a:off x="381000" y="457200"/>
            <a:ext cx="4595813" cy="8223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室温下，若</a:t>
            </a:r>
            <a:r>
              <a:rPr lang="en-US" altLang="zh-CN" sz="2400" b="1" dirty="0">
                <a:solidFill>
                  <a:schemeClr val="tx2"/>
                </a:solidFill>
              </a:rPr>
              <a:t>r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p</a:t>
            </a:r>
            <a:r>
              <a:rPr lang="en-US" altLang="zh-CN" sz="2400" b="1" dirty="0">
                <a:solidFill>
                  <a:schemeClr val="tx2"/>
                </a:solidFill>
              </a:rPr>
              <a:t>=1.15x10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-7</a:t>
            </a:r>
            <a:r>
              <a:rPr lang="en-US" altLang="zh-CN" sz="2400" b="1" dirty="0">
                <a:solidFill>
                  <a:schemeClr val="tx2"/>
                </a:solidFill>
              </a:rPr>
              <a:t>cm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3</a:t>
            </a:r>
            <a:r>
              <a:rPr lang="en-US" altLang="zh-CN" sz="2400" b="1" dirty="0">
                <a:solidFill>
                  <a:schemeClr val="tx2"/>
                </a:solidFill>
              </a:rPr>
              <a:t>/s;</a:t>
            </a:r>
            <a:endParaRPr lang="en-US" altLang="zh-CN" sz="2400" b="1" dirty="0">
              <a:solidFill>
                <a:schemeClr val="tx2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            r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</a:rPr>
              <a:t>=6.3x10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-8</a:t>
            </a:r>
            <a:r>
              <a:rPr lang="en-US" altLang="zh-CN" sz="2400" b="1" dirty="0">
                <a:solidFill>
                  <a:schemeClr val="tx2"/>
                </a:solidFill>
              </a:rPr>
              <a:t>cm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3</a:t>
            </a:r>
            <a:r>
              <a:rPr lang="en-US" altLang="zh-CN" sz="2400" b="1" dirty="0">
                <a:solidFill>
                  <a:schemeClr val="tx2"/>
                </a:solidFill>
              </a:rPr>
              <a:t>/s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248835" name="Rectangle 3"/>
          <p:cNvSpPr/>
          <p:nvPr/>
        </p:nvSpPr>
        <p:spPr>
          <a:xfrm>
            <a:off x="304800" y="1676400"/>
            <a:ext cx="48006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Si</a:t>
            </a:r>
            <a:r>
              <a:rPr lang="zh-CN" altLang="en-US" sz="2400" b="1" dirty="0">
                <a:solidFill>
                  <a:srgbClr val="0000FF"/>
                </a:solidFill>
              </a:rPr>
              <a:t>中金浓度为：</a:t>
            </a:r>
            <a:r>
              <a:rPr lang="en-US" altLang="zh-CN" sz="2400" b="1" dirty="0">
                <a:solidFill>
                  <a:srgbClr val="0000FF"/>
                </a:solidFill>
              </a:rPr>
              <a:t>5 x10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15</a:t>
            </a:r>
            <a:r>
              <a:rPr lang="en-US" altLang="zh-CN" sz="2400" b="1" dirty="0">
                <a:solidFill>
                  <a:srgbClr val="0000FF"/>
                </a:solidFill>
              </a:rPr>
              <a:t>cm</a:t>
            </a:r>
            <a:r>
              <a:rPr lang="en-US" altLang="zh-CN" sz="2400" b="1" baseline="30000" dirty="0">
                <a:solidFill>
                  <a:srgbClr val="0000FF"/>
                </a:solidFill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</a:rPr>
              <a:t>/s;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</a:rPr>
              <a:t>p Si</a:t>
            </a:r>
            <a:r>
              <a:rPr lang="zh-CN" altLang="en-US" sz="2400" b="1" dirty="0">
                <a:solidFill>
                  <a:srgbClr val="0000FF"/>
                </a:solidFill>
              </a:rPr>
              <a:t>中少数载流子寿命； 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24883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6400" y="2667000"/>
            <a:ext cx="1495425" cy="1009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8837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3962400"/>
            <a:ext cx="1333500" cy="1019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8838" name="Rectangle 6"/>
          <p:cNvSpPr/>
          <p:nvPr/>
        </p:nvSpPr>
        <p:spPr>
          <a:xfrm>
            <a:off x="3276600" y="28829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=1.7x10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-9</a:t>
            </a:r>
            <a:r>
              <a:rPr lang="en-US" altLang="zh-CN" sz="2400" b="1" dirty="0">
                <a:solidFill>
                  <a:schemeClr val="tx2"/>
                </a:solidFill>
              </a:rPr>
              <a:t>s            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248840" name="Rectangle 8"/>
          <p:cNvSpPr/>
          <p:nvPr/>
        </p:nvSpPr>
        <p:spPr>
          <a:xfrm>
            <a:off x="3276600" y="4191000"/>
            <a:ext cx="2667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chemeClr val="tx2"/>
                </a:solidFill>
              </a:rPr>
              <a:t>=3.2x10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-9</a:t>
            </a:r>
            <a:r>
              <a:rPr lang="en-US" altLang="zh-CN" sz="2400" b="1" dirty="0">
                <a:solidFill>
                  <a:schemeClr val="tx2"/>
                </a:solidFill>
              </a:rPr>
              <a:t>s            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  <p:sp>
        <p:nvSpPr>
          <p:cNvPr id="248841" name="Rectangle 9"/>
          <p:cNvSpPr/>
          <p:nvPr/>
        </p:nvSpPr>
        <p:spPr>
          <a:xfrm>
            <a:off x="381000" y="5029200"/>
            <a:ext cx="8077200" cy="4572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p Si</a:t>
            </a:r>
            <a:r>
              <a:rPr lang="zh-CN" altLang="en-US" sz="2400" b="1" dirty="0">
                <a:solidFill>
                  <a:srgbClr val="0000FF"/>
                </a:solidFill>
              </a:rPr>
              <a:t>中少数载流子寿命是</a:t>
            </a:r>
            <a:r>
              <a:rPr lang="en-US" altLang="zh-CN" sz="2400" b="1" dirty="0">
                <a:solidFill>
                  <a:srgbClr val="0000FF"/>
                </a:solidFill>
              </a:rPr>
              <a:t>n Si</a:t>
            </a:r>
            <a:r>
              <a:rPr lang="zh-CN" altLang="en-US" sz="2400" b="1" dirty="0">
                <a:solidFill>
                  <a:srgbClr val="0000FF"/>
                </a:solidFill>
              </a:rPr>
              <a:t>中少子寿命的</a:t>
            </a:r>
            <a:r>
              <a:rPr lang="en-US" altLang="zh-CN" sz="2400" b="1" dirty="0">
                <a:solidFill>
                  <a:srgbClr val="0000FF"/>
                </a:solidFill>
              </a:rPr>
              <a:t>1.9</a:t>
            </a:r>
            <a:r>
              <a:rPr lang="zh-CN" altLang="en-US" sz="2400" b="1" dirty="0">
                <a:solidFill>
                  <a:srgbClr val="0000FF"/>
                </a:solidFill>
              </a:rPr>
              <a:t>倍。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8842" name="Rectangle 10"/>
          <p:cNvSpPr/>
          <p:nvPr/>
        </p:nvSpPr>
        <p:spPr>
          <a:xfrm>
            <a:off x="381000" y="5567363"/>
            <a:ext cx="8382000" cy="822325"/>
          </a:xfrm>
          <a:prstGeom prst="rect">
            <a:avLst/>
          </a:prstGeom>
          <a:solidFill>
            <a:srgbClr val="FFCCCC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掺金的</a:t>
            </a:r>
            <a:r>
              <a:rPr lang="en-US" altLang="zh-CN" sz="2400" b="1" dirty="0">
                <a:solidFill>
                  <a:srgbClr val="0000FF"/>
                </a:solidFill>
              </a:rPr>
              <a:t>Si</a:t>
            </a:r>
            <a:r>
              <a:rPr lang="zh-CN" altLang="en-US" sz="2400" b="1" dirty="0">
                <a:solidFill>
                  <a:srgbClr val="0000FF"/>
                </a:solidFill>
              </a:rPr>
              <a:t>中，少数载流子寿命与金浓度</a:t>
            </a: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t</a:t>
            </a:r>
            <a:r>
              <a:rPr lang="zh-CN" altLang="en-US" sz="2400" b="1" dirty="0">
                <a:solidFill>
                  <a:srgbClr val="0000FF"/>
                </a:solidFill>
              </a:rPr>
              <a:t>成反比，当</a:t>
            </a:r>
            <a:r>
              <a:rPr lang="en-US" altLang="zh-CN" sz="2400" b="1" dirty="0">
                <a:solidFill>
                  <a:srgbClr val="0000FF"/>
                </a:solidFill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t</a:t>
            </a:r>
            <a:r>
              <a:rPr lang="en-US" altLang="zh-CN" sz="2400" b="1" dirty="0">
                <a:solidFill>
                  <a:srgbClr val="0000FF"/>
                </a:solidFill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</a:rPr>
              <a:t>从</a:t>
            </a: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14</a:t>
            </a:r>
            <a:r>
              <a:rPr lang="en-US" altLang="zh-CN" sz="2400" b="1" dirty="0">
                <a:solidFill>
                  <a:schemeClr val="tx2"/>
                </a:solidFill>
              </a:rPr>
              <a:t>cm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-3</a:t>
            </a:r>
            <a:r>
              <a:rPr lang="zh-CN" altLang="en-US" sz="2400" b="1" dirty="0">
                <a:solidFill>
                  <a:schemeClr val="tx2"/>
                </a:solidFill>
              </a:rPr>
              <a:t>增加到</a:t>
            </a: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17</a:t>
            </a:r>
            <a:r>
              <a:rPr lang="en-US" altLang="zh-CN" sz="2400" b="1" dirty="0">
                <a:solidFill>
                  <a:schemeClr val="tx2"/>
                </a:solidFill>
              </a:rPr>
              <a:t>cm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-3</a:t>
            </a:r>
            <a:r>
              <a:rPr lang="zh-CN" altLang="en-US" sz="2400" b="1" dirty="0">
                <a:solidFill>
                  <a:schemeClr val="tx2"/>
                </a:solidFill>
              </a:rPr>
              <a:t>，少子寿命从</a:t>
            </a: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-7</a:t>
            </a:r>
            <a:r>
              <a:rPr lang="en-US" altLang="zh-CN" sz="2400" b="1" dirty="0">
                <a:solidFill>
                  <a:schemeClr val="tx2"/>
                </a:solidFill>
              </a:rPr>
              <a:t>s</a:t>
            </a:r>
            <a:r>
              <a:rPr lang="zh-CN" altLang="en-US" sz="2400" b="1" dirty="0">
                <a:solidFill>
                  <a:schemeClr val="tx2"/>
                </a:solidFill>
              </a:rPr>
              <a:t>减小到</a:t>
            </a:r>
            <a:r>
              <a:rPr lang="en-US" altLang="zh-CN" sz="2400" b="1" dirty="0">
                <a:solidFill>
                  <a:schemeClr val="tx2"/>
                </a:solidFill>
              </a:rPr>
              <a:t>10</a:t>
            </a:r>
            <a:r>
              <a:rPr lang="en-US" altLang="zh-CN" sz="2400" b="1" baseline="30000" dirty="0">
                <a:solidFill>
                  <a:schemeClr val="tx2"/>
                </a:solidFill>
              </a:rPr>
              <a:t>-10</a:t>
            </a:r>
            <a:r>
              <a:rPr lang="en-US" altLang="zh-CN" sz="2400" b="1" dirty="0">
                <a:solidFill>
                  <a:schemeClr val="tx2"/>
                </a:solidFill>
              </a:rPr>
              <a:t>s</a:t>
            </a:r>
            <a:endParaRPr lang="en-US" altLang="zh-CN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88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8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8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5" grpId="0"/>
      <p:bldP spid="248838" grpId="0"/>
      <p:bldP spid="248840" grpId="0"/>
      <p:bldP spid="248841" grpId="0" animBg="1"/>
      <p:bldP spid="24884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22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188913"/>
            <a:ext cx="1838325" cy="523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227" name="Text Box 3"/>
          <p:cNvSpPr txBox="1"/>
          <p:nvPr/>
        </p:nvSpPr>
        <p:spPr>
          <a:xfrm>
            <a:off x="228600" y="228600"/>
            <a:ext cx="160655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>
                <a:solidFill>
                  <a:srgbClr val="0000FF"/>
                </a:solidFill>
              </a:rPr>
              <a:t>5.4.3</a:t>
            </a:r>
            <a:endParaRPr lang="en-US" altLang="zh-CN" b="1" dirty="0">
              <a:solidFill>
                <a:srgbClr val="0000FF"/>
              </a:solidFill>
            </a:endParaRPr>
          </a:p>
        </p:txBody>
      </p:sp>
      <p:sp>
        <p:nvSpPr>
          <p:cNvPr id="52228" name="Text Box 4"/>
          <p:cNvSpPr txBox="1"/>
          <p:nvPr/>
        </p:nvSpPr>
        <p:spPr>
          <a:xfrm>
            <a:off x="534988" y="984250"/>
            <a:ext cx="7010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少数载流子寿命</a:t>
            </a:r>
            <a:r>
              <a:rPr lang="zh-CN" altLang="en-US" sz="2400" b="1" dirty="0"/>
              <a:t>还受样品</a:t>
            </a:r>
            <a:r>
              <a:rPr lang="zh-CN" altLang="en-US" sz="2400" b="1" dirty="0">
                <a:solidFill>
                  <a:srgbClr val="0000FF"/>
                </a:solidFill>
                <a:ea typeface="华文新魏" panose="02010800040101010101" pitchFamily="2" charset="-122"/>
              </a:rPr>
              <a:t>形状和表面态</a:t>
            </a:r>
            <a:r>
              <a:rPr lang="zh-CN" altLang="en-US" sz="2400" b="1" dirty="0"/>
              <a:t>的影响：</a:t>
            </a:r>
            <a:endParaRPr lang="zh-CN" altLang="en-US" sz="2400" b="1" dirty="0"/>
          </a:p>
        </p:txBody>
      </p:sp>
      <p:sp>
        <p:nvSpPr>
          <p:cNvPr id="249861" name="Text Box 5"/>
          <p:cNvSpPr txBox="1"/>
          <p:nvPr/>
        </p:nvSpPr>
        <p:spPr>
          <a:xfrm>
            <a:off x="533400" y="1600200"/>
            <a:ext cx="70104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样品表面经金刚砂粗磨，寿命很短。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细磨后再经化学腐蚀，寿命变长；</a:t>
            </a:r>
            <a:endParaRPr lang="zh-CN" altLang="en-US" sz="2400" b="1" dirty="0"/>
          </a:p>
        </p:txBody>
      </p:sp>
      <p:sp>
        <p:nvSpPr>
          <p:cNvPr id="249862" name="Text Box 6"/>
          <p:cNvSpPr txBox="1"/>
          <p:nvPr/>
        </p:nvSpPr>
        <p:spPr>
          <a:xfrm>
            <a:off x="533400" y="2781300"/>
            <a:ext cx="8686800" cy="1004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样品表面相同，样品越小，寿命越短</a:t>
            </a:r>
            <a:r>
              <a:rPr lang="en-US" altLang="zh-CN" sz="2400" b="1" dirty="0">
                <a:solidFill>
                  <a:schemeClr val="tx2"/>
                </a:solidFill>
              </a:rPr>
              <a:t>,</a:t>
            </a:r>
            <a:r>
              <a:rPr lang="zh-CN" altLang="en-US" sz="2400" b="1" dirty="0">
                <a:solidFill>
                  <a:schemeClr val="tx2"/>
                </a:solidFill>
              </a:rPr>
              <a:t>说明</a:t>
            </a:r>
            <a:r>
              <a:rPr lang="zh-CN" altLang="en-US" sz="2400" b="1" dirty="0"/>
              <a:t>表面有复合的作用，</a:t>
            </a:r>
            <a:endParaRPr lang="zh-CN" altLang="en-US" sz="2400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表面复合</a:t>
            </a:r>
            <a:r>
              <a:rPr lang="zh-CN" altLang="en-US" sz="2400" b="1" dirty="0">
                <a:solidFill>
                  <a:srgbClr val="0000FF"/>
                </a:solidFill>
              </a:rPr>
              <a:t>：半导体表面发生的复合。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sp>
        <p:nvSpPr>
          <p:cNvPr id="249863" name="Rectangle 7"/>
          <p:cNvSpPr/>
          <p:nvPr/>
        </p:nvSpPr>
        <p:spPr>
          <a:xfrm>
            <a:off x="533400" y="4191000"/>
            <a:ext cx="35544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表面复合仍是间接复合。</a:t>
            </a:r>
            <a:endParaRPr lang="zh-CN" altLang="en-US" sz="2400" b="1" dirty="0">
              <a:solidFill>
                <a:srgbClr val="0000FF"/>
              </a:solidFill>
            </a:endParaRPr>
          </a:p>
        </p:txBody>
      </p:sp>
      <p:pic>
        <p:nvPicPr>
          <p:cNvPr id="249864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967288"/>
            <a:ext cx="6819900" cy="952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9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9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9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1" grpId="0"/>
      <p:bldP spid="249862" grpId="0"/>
      <p:bldP spid="24986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2"/>
          <p:cNvSpPr/>
          <p:nvPr/>
        </p:nvSpPr>
        <p:spPr>
          <a:xfrm>
            <a:off x="457200" y="406400"/>
            <a:ext cx="57054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有效寿命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=</a:t>
            </a:r>
            <a:r>
              <a:rPr lang="zh-CN" altLang="en-US" sz="2400" b="1" dirty="0">
                <a:solidFill>
                  <a:srgbClr val="0000FF"/>
                </a:solidFill>
              </a:rPr>
              <a:t>体内复合寿命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v</a:t>
            </a:r>
            <a:r>
              <a:rPr lang="en-US" altLang="zh-CN" sz="2400" b="1" dirty="0">
                <a:solidFill>
                  <a:srgbClr val="0000FF"/>
                </a:solidFill>
              </a:rPr>
              <a:t> + </a:t>
            </a:r>
            <a:r>
              <a:rPr lang="zh-CN" altLang="en-US" sz="2400" b="1" dirty="0">
                <a:solidFill>
                  <a:srgbClr val="0000FF"/>
                </a:solidFill>
              </a:rPr>
              <a:t>表面复合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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endParaRPr lang="en-US" altLang="zh-CN" sz="2400" b="1" baseline="-25000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53251" name="Rectangle 3"/>
          <p:cNvSpPr/>
          <p:nvPr/>
        </p:nvSpPr>
        <p:spPr>
          <a:xfrm>
            <a:off x="755650" y="1052513"/>
            <a:ext cx="232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总的复合概率为</a:t>
            </a:r>
            <a:endParaRPr lang="zh-CN" altLang="en-US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250885" name="Rectangle 5"/>
          <p:cNvSpPr/>
          <p:nvPr/>
        </p:nvSpPr>
        <p:spPr>
          <a:xfrm>
            <a:off x="395288" y="3068638"/>
            <a:ext cx="8064500" cy="146367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表面复合率</a:t>
            </a:r>
            <a:r>
              <a:rPr lang="en-US" altLang="zh-CN" sz="2400" b="1" dirty="0">
                <a:solidFill>
                  <a:schemeClr val="tx2"/>
                </a:solidFill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</a:rPr>
              <a:t>：单位时间内通过单位面积复合掉的电子</a:t>
            </a:r>
            <a:r>
              <a:rPr lang="en-US" altLang="zh-CN" sz="2400" b="1" dirty="0">
                <a:solidFill>
                  <a:srgbClr val="0000FF"/>
                </a:solidFill>
              </a:rPr>
              <a:t>-</a:t>
            </a:r>
            <a:r>
              <a:rPr lang="zh-CN" altLang="en-US" sz="2400" b="1" dirty="0">
                <a:solidFill>
                  <a:srgbClr val="0000FF"/>
                </a:solidFill>
              </a:rPr>
              <a:t>空穴对数</a:t>
            </a:r>
            <a:r>
              <a:rPr lang="en-US" altLang="zh-CN" sz="2400" b="1" dirty="0">
                <a:solidFill>
                  <a:srgbClr val="0000FF"/>
                </a:solidFill>
              </a:rPr>
              <a:t>.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实验发现， </a:t>
            </a:r>
            <a:r>
              <a:rPr lang="en-US" altLang="zh-CN" sz="2400" b="1" dirty="0">
                <a:solidFill>
                  <a:srgbClr val="0000FF"/>
                </a:solidFill>
              </a:rPr>
              <a:t>U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s 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 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表面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非平衡载流子浓度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(p)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endParaRPr lang="en-US" altLang="zh-CN" sz="2400" b="1" baseline="-25000" dirty="0">
              <a:solidFill>
                <a:srgbClr val="0000FF"/>
              </a:solidFill>
            </a:endParaRPr>
          </a:p>
        </p:txBody>
      </p:sp>
      <p:grpSp>
        <p:nvGrpSpPr>
          <p:cNvPr id="250896" name="Group 16"/>
          <p:cNvGrpSpPr/>
          <p:nvPr/>
        </p:nvGrpSpPr>
        <p:grpSpPr>
          <a:xfrm>
            <a:off x="1692275" y="1773238"/>
            <a:ext cx="3816350" cy="1109662"/>
            <a:chOff x="2208" y="816"/>
            <a:chExt cx="2404" cy="699"/>
          </a:xfrm>
        </p:grpSpPr>
        <p:graphicFrame>
          <p:nvGraphicFramePr>
            <p:cNvPr id="53258" name="Object 4"/>
            <p:cNvGraphicFramePr>
              <a:graphicFrameLocks noChangeAspect="1"/>
            </p:cNvGraphicFramePr>
            <p:nvPr/>
          </p:nvGraphicFramePr>
          <p:xfrm>
            <a:off x="2208" y="816"/>
            <a:ext cx="1192" cy="6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" imgW="736600" imgH="431800" progId="Equation.3">
                    <p:embed/>
                  </p:oleObj>
                </mc:Choice>
                <mc:Fallback>
                  <p:oleObj name="" r:id="rId1" imgW="736600" imgH="431800" progId="Equation.3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08" y="816"/>
                          <a:ext cx="1192" cy="6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9" name="Rectangle 11"/>
            <p:cNvSpPr/>
            <p:nvPr/>
          </p:nvSpPr>
          <p:spPr>
            <a:xfrm>
              <a:off x="3888" y="960"/>
              <a:ext cx="7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sym typeface="Symbol" panose="05050102010706020507" pitchFamily="18" charset="2"/>
                </a:rPr>
                <a:t>(5-47)</a:t>
              </a:r>
              <a:endPara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250895" name="Group 15"/>
          <p:cNvGrpSpPr/>
          <p:nvPr/>
        </p:nvGrpSpPr>
        <p:grpSpPr>
          <a:xfrm>
            <a:off x="468313" y="4868863"/>
            <a:ext cx="7854950" cy="533400"/>
            <a:chOff x="432" y="2304"/>
            <a:chExt cx="4948" cy="336"/>
          </a:xfrm>
        </p:grpSpPr>
        <p:sp>
          <p:nvSpPr>
            <p:cNvPr id="53255" name="Rectangle 6"/>
            <p:cNvSpPr/>
            <p:nvPr/>
          </p:nvSpPr>
          <p:spPr>
            <a:xfrm>
              <a:off x="432" y="2304"/>
              <a:ext cx="10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</a:rPr>
                <a:t>U</a:t>
              </a:r>
              <a:r>
                <a:rPr lang="en-US" altLang="zh-CN" sz="2400" b="1" baseline="-25000" dirty="0">
                  <a:solidFill>
                    <a:srgbClr val="0000FF"/>
                  </a:solidFill>
                </a:rPr>
                <a:t>s</a:t>
              </a:r>
              <a:r>
                <a:rPr lang="en-US" altLang="zh-CN" sz="2400" b="1" dirty="0">
                  <a:solidFill>
                    <a:srgbClr val="0000FF"/>
                  </a:solidFill>
                  <a:sym typeface="Symbol" panose="05050102010706020507" pitchFamily="18" charset="2"/>
                </a:rPr>
                <a:t>=s(p)</a:t>
              </a:r>
              <a:r>
                <a:rPr lang="en-US" altLang="zh-CN" sz="2400" b="1" baseline="-25000" dirty="0">
                  <a:solidFill>
                    <a:srgbClr val="0000FF"/>
                  </a:solidFill>
                  <a:sym typeface="Symbol" panose="05050102010706020507" pitchFamily="18" charset="2"/>
                </a:rPr>
                <a:t>s</a:t>
              </a:r>
              <a:endPara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53256" name="Rectangle 7"/>
            <p:cNvSpPr/>
            <p:nvPr/>
          </p:nvSpPr>
          <p:spPr>
            <a:xfrm>
              <a:off x="1536" y="2352"/>
              <a:ext cx="30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sym typeface="Symbol" panose="05050102010706020507" pitchFamily="18" charset="2"/>
                </a:rPr>
                <a:t>s</a:t>
              </a:r>
              <a:r>
                <a:rPr lang="zh-CN" altLang="en-US" sz="2400" b="1" dirty="0">
                  <a:solidFill>
                    <a:srgbClr val="0000FF"/>
                  </a:solidFill>
                  <a:sym typeface="Symbol" panose="05050102010706020507" pitchFamily="18" charset="2"/>
                </a:rPr>
                <a:t>为表面复合速度，具有速度量纲</a:t>
              </a:r>
              <a:endPara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endParaRPr>
            </a:p>
          </p:txBody>
        </p:sp>
        <p:sp>
          <p:nvSpPr>
            <p:cNvPr id="53257" name="Rectangle 12"/>
            <p:cNvSpPr/>
            <p:nvPr/>
          </p:nvSpPr>
          <p:spPr>
            <a:xfrm>
              <a:off x="4656" y="2304"/>
              <a:ext cx="7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en-US" altLang="zh-CN" sz="2400" b="1" dirty="0">
                  <a:solidFill>
                    <a:srgbClr val="0000FF"/>
                  </a:solidFill>
                  <a:sym typeface="Symbol" panose="05050102010706020507" pitchFamily="18" charset="2"/>
                </a:rPr>
                <a:t>(5-48)</a:t>
              </a:r>
              <a:endPara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08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5636" name="Rectangle 4"/>
          <p:cNvSpPr/>
          <p:nvPr/>
        </p:nvSpPr>
        <p:spPr>
          <a:xfrm>
            <a:off x="684213" y="620713"/>
            <a:ext cx="7127875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意义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：非平衡载流子浓度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(p)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以速率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s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从表面逸出。</a:t>
            </a:r>
            <a:endParaRPr lang="zh-CN" altLang="en-US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325637" name="Rectangle 5"/>
          <p:cNvSpPr/>
          <p:nvPr/>
        </p:nvSpPr>
        <p:spPr>
          <a:xfrm>
            <a:off x="684213" y="1773238"/>
            <a:ext cx="67691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对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型半导体，若单位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比表面积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的复合中心为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st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,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则</a:t>
            </a:r>
            <a:endParaRPr lang="zh-CN" altLang="en-US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325638" name="Rectangle 6"/>
          <p:cNvSpPr/>
          <p:nvPr/>
        </p:nvSpPr>
        <p:spPr>
          <a:xfrm>
            <a:off x="1619250" y="2852738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U</a:t>
            </a:r>
            <a:r>
              <a:rPr lang="en-US" altLang="zh-CN" sz="2400" b="1" baseline="-25000" dirty="0">
                <a:solidFill>
                  <a:srgbClr val="0000FF"/>
                </a:solidFill>
              </a:rPr>
              <a:t>s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=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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T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st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(p)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          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 (5-49)</a:t>
            </a:r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325639" name="Rectangle 7"/>
          <p:cNvSpPr/>
          <p:nvPr/>
        </p:nvSpPr>
        <p:spPr>
          <a:xfrm>
            <a:off x="755650" y="3789363"/>
            <a:ext cx="2941638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空穴表面复合速度为</a:t>
            </a:r>
            <a:endParaRPr lang="zh-CN" altLang="en-US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325640" name="Rectangle 8"/>
          <p:cNvSpPr/>
          <p:nvPr/>
        </p:nvSpPr>
        <p:spPr>
          <a:xfrm>
            <a:off x="1692275" y="4652963"/>
            <a:ext cx="4343400" cy="519112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s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=</a:t>
            </a:r>
            <a:r>
              <a:rPr lang="en-US" altLang="zh-CN" sz="2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</a:t>
            </a:r>
            <a:r>
              <a:rPr lang="en-US" altLang="zh-CN" sz="2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T </a:t>
            </a:r>
            <a:r>
              <a:rPr lang="en-US" altLang="zh-CN" sz="2800" b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CN" sz="28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st</a:t>
            </a:r>
            <a:r>
              <a:rPr lang="en-US" altLang="zh-CN" sz="2400" b="1" baseline="-25000" dirty="0">
                <a:solidFill>
                  <a:srgbClr val="0000FF"/>
                </a:solidFill>
                <a:sym typeface="Symbol" panose="05050102010706020507" pitchFamily="18" charset="2"/>
              </a:rPr>
              <a:t>               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(5-50)</a:t>
            </a:r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5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6" grpId="0"/>
      <p:bldP spid="325637" grpId="0"/>
      <p:bldP spid="325638" grpId="0"/>
      <p:bldP spid="325639" grpId="0" animBg="1"/>
      <p:bldP spid="32564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/>
          <p:nvPr/>
        </p:nvSpPr>
        <p:spPr>
          <a:xfrm>
            <a:off x="395288" y="260350"/>
            <a:ext cx="8458200" cy="37861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影响表面复合的因素</a:t>
            </a:r>
            <a:r>
              <a:rPr lang="zh-CN" altLang="en-US" sz="2400" b="1" dirty="0">
                <a:solidFill>
                  <a:srgbClr val="0000FF"/>
                </a:solidFill>
              </a:rPr>
              <a:t>：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1.</a:t>
            </a:r>
            <a:r>
              <a:rPr lang="zh-CN" altLang="en-US" sz="2400" b="1" dirty="0">
                <a:solidFill>
                  <a:srgbClr val="0000FF"/>
                </a:solidFill>
              </a:rPr>
              <a:t>表面粗糙度；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2.</a:t>
            </a:r>
            <a:r>
              <a:rPr lang="zh-CN" altLang="en-US" sz="2400" b="1" dirty="0">
                <a:solidFill>
                  <a:srgbClr val="0000FF"/>
                </a:solidFill>
              </a:rPr>
              <a:t>表面积与总体积的比例；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</a:rPr>
              <a:t>3.</a:t>
            </a:r>
            <a:r>
              <a:rPr lang="zh-CN" altLang="en-US" sz="2400" b="1" dirty="0">
                <a:solidFill>
                  <a:srgbClr val="0000FF"/>
                </a:solidFill>
              </a:rPr>
              <a:t>与表面清洁度、化学气氛有关。</a:t>
            </a:r>
            <a:endParaRPr lang="en-US" altLang="zh-CN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rgbClr val="0000FF"/>
                </a:solidFill>
              </a:rPr>
              <a:t>受表面物理性质和外界气氛的影响，</a:t>
            </a:r>
            <a:endParaRPr lang="zh-CN" altLang="en-US" sz="2400" b="1" dirty="0">
              <a:solidFill>
                <a:srgbClr val="0000FF"/>
              </a:solidFill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Ge: s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大约为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-10</a:t>
            </a:r>
            <a:r>
              <a:rPr lang="en-US" altLang="zh-CN" sz="2400" b="1" baseline="30000" dirty="0">
                <a:solidFill>
                  <a:srgbClr val="0000FF"/>
                </a:solidFill>
                <a:sym typeface="Symbol" panose="05050102010706020507" pitchFamily="18" charset="2"/>
              </a:rPr>
              <a:t>6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cm/s</a:t>
            </a:r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Si:       </a:t>
            </a:r>
            <a:r>
              <a:rPr lang="zh-CN" alt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为 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10</a:t>
            </a:r>
            <a:r>
              <a:rPr lang="en-US" altLang="zh-CN" sz="2400" b="1" baseline="30000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-510</a:t>
            </a:r>
            <a:r>
              <a:rPr lang="en-US" altLang="zh-CN" sz="2400" b="1" baseline="30000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CN" sz="2400" b="1" dirty="0">
                <a:solidFill>
                  <a:srgbClr val="0000FF"/>
                </a:solidFill>
                <a:sym typeface="Symbol" panose="05050102010706020507" pitchFamily="18" charset="2"/>
              </a:rPr>
              <a:t>cm/s</a:t>
            </a:r>
            <a:endParaRPr lang="en-US" altLang="zh-CN" sz="2400" b="1" dirty="0">
              <a:solidFill>
                <a:srgbClr val="0000FF"/>
              </a:solidFill>
              <a:sym typeface="Symbol" panose="05050102010706020507" pitchFamily="18" charset="2"/>
            </a:endParaRPr>
          </a:p>
        </p:txBody>
      </p:sp>
      <p:sp>
        <p:nvSpPr>
          <p:cNvPr id="264195" name="Rectangle 3"/>
          <p:cNvSpPr/>
          <p:nvPr/>
        </p:nvSpPr>
        <p:spPr>
          <a:xfrm>
            <a:off x="579438" y="4289425"/>
            <a:ext cx="7985125" cy="2308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mic Sans MS" panose="030F0702030302020204" pitchFamily="66" charset="0"/>
              </a:rPr>
              <a:t>表面复合的实际意义：</a:t>
            </a:r>
            <a:endParaRPr lang="zh-CN" altLang="en-US" sz="2400" b="1" dirty="0">
              <a:solidFill>
                <a:srgbClr val="0000FF"/>
              </a:solidFill>
              <a:latin typeface="Comic Sans MS" panose="030F0702030302020204" pitchFamily="66" charset="0"/>
            </a:endParaRPr>
          </a:p>
          <a:p>
            <a:pPr marL="342900" indent="-342900" eaLnBrk="1" hangingPunct="1">
              <a:buAutoNum type="arabicPeriod"/>
            </a:pPr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表面复合速度高，注入的载流子在表面很快复合掉，严重影响器件性能，降低</a:t>
            </a:r>
            <a:r>
              <a:rPr lang="en-US" altLang="zh-CN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U</a:t>
            </a:r>
            <a:r>
              <a:rPr lang="en-US" altLang="zh-CN" sz="2400" b="1" baseline="-25000" dirty="0">
                <a:solidFill>
                  <a:schemeClr val="tx2"/>
                </a:solidFill>
                <a:latin typeface="Comic Sans MS" panose="030F0702030302020204" pitchFamily="66" charset="0"/>
              </a:rPr>
              <a:t>s</a:t>
            </a:r>
            <a:r>
              <a:rPr lang="en-US" altLang="zh-CN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,</a:t>
            </a:r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可改善器件性能。</a:t>
            </a:r>
            <a:endParaRPr lang="en-US" altLang="zh-CN" sz="2400" b="1" dirty="0">
              <a:solidFill>
                <a:schemeClr val="tx2"/>
              </a:solidFill>
              <a:latin typeface="Comic Sans MS" panose="030F0702030302020204" pitchFamily="66" charset="0"/>
            </a:endParaRPr>
          </a:p>
          <a:p>
            <a:pPr marL="342900" indent="-342900" eaLnBrk="1" hangingPunct="1">
              <a:buAutoNum type="arabicPeriod"/>
            </a:pPr>
            <a:endParaRPr lang="zh-CN" altLang="en-US" sz="2400" b="1" dirty="0">
              <a:solidFill>
                <a:schemeClr val="tx2"/>
              </a:solidFill>
              <a:latin typeface="Comic Sans MS" panose="030F0702030302020204" pitchFamily="66" charset="0"/>
            </a:endParaRPr>
          </a:p>
          <a:p>
            <a:pPr marL="342900" indent="-342900" eaLnBrk="1" hangingPunct="1">
              <a:buAutoNum type="arabicPeriod"/>
            </a:pPr>
            <a:r>
              <a:rPr lang="zh-CN" altLang="en-US" sz="2400" b="1" dirty="0">
                <a:solidFill>
                  <a:schemeClr val="tx2"/>
                </a:solidFill>
                <a:latin typeface="Comic Sans MS" panose="030F0702030302020204" pitchFamily="66" charset="0"/>
              </a:rPr>
              <a:t> 在金属探针注入时，较大的表面复合会减小探针效应，测量更准确。</a:t>
            </a:r>
            <a:endParaRPr lang="zh-CN" altLang="en-US" sz="2400" b="1" dirty="0">
              <a:solidFill>
                <a:schemeClr val="tx2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4612" name="Rectangle 4"/>
          <p:cNvSpPr/>
          <p:nvPr/>
        </p:nvSpPr>
        <p:spPr>
          <a:xfrm>
            <a:off x="539750" y="908050"/>
            <a:ext cx="6719888" cy="33782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非平衡载流子寿命 </a:t>
            </a:r>
            <a:r>
              <a:rPr lang="zh-CN" altLang="en-US" sz="2400" b="1" dirty="0">
                <a:solidFill>
                  <a:schemeClr val="tx2"/>
                </a:solidFill>
              </a:rPr>
              <a:t>小结</a:t>
            </a:r>
            <a:r>
              <a:rPr lang="zh-CN" altLang="en-US" sz="2400" b="1" dirty="0"/>
              <a:t>：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1</a:t>
            </a:r>
            <a:r>
              <a:rPr lang="zh-CN" altLang="en-US" sz="2400" b="1" dirty="0"/>
              <a:t>）与材料种类有关；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）与</a:t>
            </a:r>
            <a:r>
              <a:rPr lang="zh-CN" altLang="en-US" sz="2400" b="1" dirty="0">
                <a:solidFill>
                  <a:schemeClr val="tx2"/>
                </a:solidFill>
              </a:rPr>
              <a:t>深能级杂质</a:t>
            </a:r>
            <a:r>
              <a:rPr lang="zh-CN" altLang="en-US" sz="2400" b="1" dirty="0"/>
              <a:t>的有效复合中心有关；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3</a:t>
            </a:r>
            <a:r>
              <a:rPr lang="zh-CN" altLang="en-US" sz="2400" b="1" dirty="0"/>
              <a:t>）与表面状态有关；</a:t>
            </a: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4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2400" b="1" dirty="0"/>
              <a:t>4</a:t>
            </a:r>
            <a:r>
              <a:rPr lang="zh-CN" altLang="en-US" sz="2400" b="1" dirty="0"/>
              <a:t>）与晶体中的缺陷也有关</a:t>
            </a:r>
            <a:r>
              <a:rPr lang="en-US" altLang="zh-CN" sz="2400" b="1" dirty="0"/>
              <a:t>(</a:t>
            </a:r>
            <a:r>
              <a:rPr lang="zh-CN" altLang="en-US" sz="2400" b="1" dirty="0"/>
              <a:t>形成复合中心能级</a:t>
            </a:r>
            <a:r>
              <a:rPr lang="en-US" altLang="zh-CN" sz="2400" b="1" dirty="0"/>
              <a:t>)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Text Box 5"/>
          <p:cNvSpPr txBox="1"/>
          <p:nvPr/>
        </p:nvSpPr>
        <p:spPr>
          <a:xfrm>
            <a:off x="1042988" y="692150"/>
            <a:ext cx="5545137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5.4.4 </a:t>
            </a:r>
            <a:r>
              <a:rPr lang="zh-CN" altLang="en-US" b="1" dirty="0">
                <a:solidFill>
                  <a:srgbClr val="0000FF"/>
                </a:solidFill>
              </a:rPr>
              <a:t>俄歇复合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57347" name="Text Box 6"/>
          <p:cNvSpPr txBox="1"/>
          <p:nvPr/>
        </p:nvSpPr>
        <p:spPr>
          <a:xfrm>
            <a:off x="611188" y="1628775"/>
            <a:ext cx="7345362" cy="2241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载流子从高能级向低能级跃迁，发生电子空穴复合时，把多余的能量传给另一个载流子，使这个载流子被激发到高能级，当它重新回到低能级时，多余能量以声子形式放出，这种复合称为</a:t>
            </a:r>
            <a:r>
              <a:rPr lang="zh-CN" altLang="en-US" sz="2400" b="1" dirty="0">
                <a:solidFill>
                  <a:srgbClr val="0000FF"/>
                </a:solidFill>
              </a:rPr>
              <a:t>俄歇复合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8370" name="Picture 5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3" y="1628775"/>
            <a:ext cx="5689600" cy="4972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371" name="Text Box 6"/>
          <p:cNvSpPr txBox="1"/>
          <p:nvPr/>
        </p:nvSpPr>
        <p:spPr>
          <a:xfrm>
            <a:off x="1042988" y="404813"/>
            <a:ext cx="69119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各种俄歇复合过程如下图所示，其中图</a:t>
            </a:r>
            <a:r>
              <a:rPr lang="en-US" altLang="zh-CN" sz="2400" b="1" dirty="0"/>
              <a:t>(a)</a:t>
            </a:r>
            <a:r>
              <a:rPr lang="zh-CN" altLang="en-US" sz="2400" b="1" dirty="0"/>
              <a:t>及图</a:t>
            </a:r>
            <a:r>
              <a:rPr lang="en-US" altLang="zh-CN" sz="2400" b="1" dirty="0"/>
              <a:t>(d)</a:t>
            </a:r>
            <a:r>
              <a:rPr lang="zh-CN" altLang="en-US" sz="2400" b="1" dirty="0"/>
              <a:t>为带间俄歇复合，其余各图为与杂质和缺陷有关的俄歇复合。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ext Box 2"/>
          <p:cNvSpPr txBox="1"/>
          <p:nvPr/>
        </p:nvSpPr>
        <p:spPr>
          <a:xfrm>
            <a:off x="900113" y="692150"/>
            <a:ext cx="6913562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可见，这时的净复合率正比于非平衡载流子浓度。由上式得非平衡载流子寿命</a:t>
            </a:r>
            <a:r>
              <a:rPr lang="en-US" altLang="zh-CN" sz="2400" b="1" dirty="0"/>
              <a:t>τ</a:t>
            </a:r>
            <a:r>
              <a:rPr lang="zh-CN" altLang="en-US" sz="2400" b="1" dirty="0"/>
              <a:t>为</a:t>
            </a:r>
            <a:endParaRPr lang="zh-CN" altLang="en-US" sz="2400" b="1" dirty="0"/>
          </a:p>
        </p:txBody>
      </p:sp>
      <p:pic>
        <p:nvPicPr>
          <p:cNvPr id="59395" name="Picture 3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773238"/>
            <a:ext cx="4032250" cy="1152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396" name="Text Box 4"/>
          <p:cNvSpPr txBox="1"/>
          <p:nvPr/>
        </p:nvSpPr>
        <p:spPr>
          <a:xfrm>
            <a:off x="1042988" y="3251200"/>
            <a:ext cx="7202487" cy="2241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5000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一般而言，带间俄歇复合在窄禁带半导体中及高温情况下起着重要作用，而与杂质和缺陷有关的俄歇复合过程，则常常是影响半导体发光器件的发光效率的重要原因。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0418" name="Picture 1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2400"/>
            <a:ext cx="1800225" cy="542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0419" name="Text Box 1027"/>
          <p:cNvSpPr txBox="1"/>
          <p:nvPr/>
        </p:nvSpPr>
        <p:spPr>
          <a:xfrm>
            <a:off x="152400" y="152400"/>
            <a:ext cx="914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5.5</a:t>
            </a:r>
            <a:endParaRPr lang="en-US" altLang="zh-CN" dirty="0">
              <a:solidFill>
                <a:srgbClr val="0000FF"/>
              </a:solidFill>
            </a:endParaRPr>
          </a:p>
        </p:txBody>
      </p:sp>
      <p:pic>
        <p:nvPicPr>
          <p:cNvPr id="265220" name="Picture 10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538" y="3284538"/>
            <a:ext cx="3162300" cy="28860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5221" name="Text Box 1029"/>
          <p:cNvSpPr txBox="1"/>
          <p:nvPr/>
        </p:nvSpPr>
        <p:spPr>
          <a:xfrm>
            <a:off x="457200" y="914400"/>
            <a:ext cx="706755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陷阱效应</a:t>
            </a:r>
            <a:r>
              <a:rPr lang="zh-CN" altLang="en-US" sz="2800" b="1" dirty="0"/>
              <a:t>：杂质或缺陷能级上具有</a:t>
            </a:r>
            <a:r>
              <a:rPr lang="zh-CN" altLang="en-US" sz="2800" b="1" dirty="0">
                <a:solidFill>
                  <a:srgbClr val="0000FF"/>
                </a:solidFill>
              </a:rPr>
              <a:t>积聚</a:t>
            </a:r>
            <a:r>
              <a:rPr lang="zh-CN" altLang="en-US" sz="2800" b="1" dirty="0"/>
              <a:t>非平衡载流子的效应，这样能级称为缺陷。</a:t>
            </a:r>
            <a:endParaRPr lang="zh-CN" altLang="en-US" sz="2800" b="1" dirty="0"/>
          </a:p>
        </p:txBody>
      </p:sp>
      <p:sp>
        <p:nvSpPr>
          <p:cNvPr id="265222" name="Text Box 1030"/>
          <p:cNvSpPr txBox="1"/>
          <p:nvPr/>
        </p:nvSpPr>
        <p:spPr>
          <a:xfrm>
            <a:off x="468313" y="2133600"/>
            <a:ext cx="7056437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实际中，陷阱对电子、空穴的俘获概率差别很大。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1" grpId="0"/>
      <p:bldP spid="2652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3890" name="Rectangle 2"/>
          <p:cNvSpPr/>
          <p:nvPr/>
        </p:nvSpPr>
        <p:spPr>
          <a:xfrm>
            <a:off x="684213" y="692150"/>
            <a:ext cx="7704137" cy="2246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chemeClr val="tx2"/>
                </a:solidFill>
              </a:rPr>
              <a:t>若</a:t>
            </a:r>
            <a:r>
              <a:rPr lang="en-US" altLang="zh-CN" sz="2800" b="1" dirty="0">
                <a:solidFill>
                  <a:schemeClr val="tx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n</a:t>
            </a:r>
            <a:r>
              <a:rPr lang="en-US" altLang="zh-CN" sz="2800" b="1" dirty="0">
                <a:solidFill>
                  <a:schemeClr val="tx2"/>
                </a:solidFill>
              </a:rPr>
              <a:t>&gt;&gt;r</a:t>
            </a:r>
            <a:r>
              <a:rPr lang="en-US" altLang="zh-CN" sz="2800" b="1" baseline="-25000" dirty="0">
                <a:solidFill>
                  <a:schemeClr val="tx2"/>
                </a:solidFill>
              </a:rPr>
              <a:t>p</a:t>
            </a:r>
            <a:r>
              <a:rPr lang="zh-CN" altLang="en-US" sz="2800" b="1" dirty="0"/>
              <a:t>的杂质，俘获电子的能力远大于捕获空穴能力，称为</a:t>
            </a:r>
            <a:r>
              <a:rPr lang="zh-CN" altLang="en-US" sz="2800" b="1" dirty="0">
                <a:solidFill>
                  <a:schemeClr val="tx2"/>
                </a:solidFill>
              </a:rPr>
              <a:t>电子陷阱</a:t>
            </a:r>
            <a:r>
              <a:rPr lang="zh-CN" altLang="en-US" sz="2800" b="1" dirty="0"/>
              <a:t>。</a:t>
            </a:r>
            <a:endParaRPr lang="zh-CN" altLang="en-US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    </a:t>
            </a:r>
            <a:endParaRPr lang="en-US" altLang="zh-CN" sz="2800" b="1" dirty="0"/>
          </a:p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b="1" dirty="0"/>
              <a:t>若</a:t>
            </a:r>
            <a:r>
              <a:rPr lang="en-US" altLang="zh-CN" sz="2800" b="1" dirty="0">
                <a:solidFill>
                  <a:srgbClr val="FF0000"/>
                </a:solidFill>
              </a:rPr>
              <a:t>r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p</a:t>
            </a:r>
            <a:r>
              <a:rPr lang="en-US" altLang="zh-CN" sz="2800" b="1" dirty="0">
                <a:solidFill>
                  <a:srgbClr val="FF0000"/>
                </a:solidFill>
              </a:rPr>
              <a:t>&gt;&gt;r</a:t>
            </a:r>
            <a:r>
              <a:rPr lang="en-US" altLang="zh-CN" sz="2800" b="1" baseline="-25000" dirty="0">
                <a:solidFill>
                  <a:srgbClr val="FF0000"/>
                </a:solidFill>
              </a:rPr>
              <a:t>n</a:t>
            </a:r>
            <a:r>
              <a:rPr lang="zh-CN" altLang="en-US" sz="2800" b="1" dirty="0"/>
              <a:t>的杂质，俘获空穴的能力远大于捕获电子能力，称为</a:t>
            </a:r>
            <a:r>
              <a:rPr lang="zh-CN" altLang="en-US" sz="2800" b="1" dirty="0">
                <a:solidFill>
                  <a:srgbClr val="FF0000"/>
                </a:solidFill>
              </a:rPr>
              <a:t>空穴</a:t>
            </a:r>
            <a:r>
              <a:rPr lang="zh-CN" altLang="en-US" sz="2800" b="1" dirty="0">
                <a:solidFill>
                  <a:schemeClr val="tx2"/>
                </a:solidFill>
              </a:rPr>
              <a:t>陷阱</a:t>
            </a:r>
            <a:r>
              <a:rPr lang="zh-CN" altLang="en-US" sz="2800" b="1" dirty="0"/>
              <a:t>。</a:t>
            </a:r>
            <a:endParaRPr lang="zh-CN" altLang="en-US" sz="2800" b="1" dirty="0">
              <a:solidFill>
                <a:schemeClr val="tx2"/>
              </a:solidFill>
            </a:endParaRPr>
          </a:p>
        </p:txBody>
      </p:sp>
      <p:pic>
        <p:nvPicPr>
          <p:cNvPr id="293891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375" y="3773488"/>
            <a:ext cx="4467225" cy="47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389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75" y="4652963"/>
            <a:ext cx="4419600" cy="41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3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3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3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0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347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113" y="1773238"/>
            <a:ext cx="3990975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67" name="Text Box 11"/>
          <p:cNvSpPr txBox="1"/>
          <p:nvPr/>
        </p:nvSpPr>
        <p:spPr>
          <a:xfrm>
            <a:off x="611188" y="1125538"/>
            <a:ext cx="5400675" cy="461962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小注入时，杂质能级上的电子积累为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233484" name="Object 12"/>
          <p:cNvGraphicFramePr>
            <a:graphicFrameLocks noChangeAspect="1"/>
          </p:cNvGraphicFramePr>
          <p:nvPr/>
        </p:nvGraphicFramePr>
        <p:xfrm>
          <a:off x="2124075" y="3419475"/>
          <a:ext cx="4343400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2" imgW="3028950" imgH="809625" progId="Paint.Picture">
                  <p:embed/>
                </p:oleObj>
              </mc:Choice>
              <mc:Fallback>
                <p:oleObj name="" r:id="rId2" imgW="3028950" imgH="809625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24075" y="3419475"/>
                        <a:ext cx="4343400" cy="1160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87" name="Object 15"/>
          <p:cNvGraphicFramePr>
            <a:graphicFrameLocks noChangeAspect="1"/>
          </p:cNvGraphicFramePr>
          <p:nvPr/>
        </p:nvGraphicFramePr>
        <p:xfrm>
          <a:off x="1835150" y="5191125"/>
          <a:ext cx="5715000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4" imgW="2184400" imgH="469900" progId="Equation.3">
                  <p:embed/>
                </p:oleObj>
              </mc:Choice>
              <mc:Fallback>
                <p:oleObj name="" r:id="rId4" imgW="2184400" imgH="4699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35150" y="5191125"/>
                        <a:ext cx="5715000" cy="12287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2"/>
          <p:cNvSpPr/>
          <p:nvPr/>
        </p:nvSpPr>
        <p:spPr>
          <a:xfrm>
            <a:off x="719138" y="287338"/>
            <a:ext cx="7704137" cy="708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4000" b="1" dirty="0"/>
              <a:t>有效陷阱效应</a:t>
            </a:r>
            <a:endParaRPr lang="zh-CN" altLang="en-US" sz="4000" b="1" dirty="0"/>
          </a:p>
        </p:txBody>
      </p:sp>
      <p:sp>
        <p:nvSpPr>
          <p:cNvPr id="9" name="Rectangle 2"/>
          <p:cNvSpPr/>
          <p:nvPr/>
        </p:nvSpPr>
        <p:spPr>
          <a:xfrm>
            <a:off x="841375" y="2973388"/>
            <a:ext cx="7704138" cy="4619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只考虑电子影响，而稳态时陷阱上的电子浓度为</a:t>
            </a:r>
            <a:endParaRPr lang="zh-CN" altLang="en-US" sz="2400" b="1" dirty="0"/>
          </a:p>
        </p:txBody>
      </p:sp>
      <p:sp>
        <p:nvSpPr>
          <p:cNvPr id="10" name="Rectangle 2"/>
          <p:cNvSpPr/>
          <p:nvPr/>
        </p:nvSpPr>
        <p:spPr>
          <a:xfrm>
            <a:off x="939800" y="4559300"/>
            <a:ext cx="7704138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则能级上的电子积累为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3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3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3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4914" name="Text Box 2"/>
          <p:cNvSpPr txBox="1"/>
          <p:nvPr/>
        </p:nvSpPr>
        <p:spPr>
          <a:xfrm>
            <a:off x="900113" y="549275"/>
            <a:ext cx="4319587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若</a:t>
            </a:r>
            <a:r>
              <a:rPr lang="en-US" altLang="zh-CN" sz="2400" b="1" dirty="0">
                <a:solidFill>
                  <a:schemeClr val="tx2"/>
                </a:solidFill>
              </a:rPr>
              <a:t>r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n</a:t>
            </a:r>
            <a:r>
              <a:rPr lang="en-US" altLang="zh-CN" sz="2400" b="1" dirty="0">
                <a:solidFill>
                  <a:schemeClr val="tx2"/>
                </a:solidFill>
              </a:rPr>
              <a:t>&gt;&gt;r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p</a:t>
            </a:r>
            <a:r>
              <a:rPr lang="zh-CN" altLang="en-US" sz="2400" b="1" baseline="-25000" dirty="0">
                <a:solidFill>
                  <a:schemeClr val="tx2"/>
                </a:solidFill>
              </a:rPr>
              <a:t>， </a:t>
            </a:r>
            <a:r>
              <a:rPr lang="zh-CN" altLang="en-US" sz="2400" b="1" dirty="0">
                <a:solidFill>
                  <a:schemeClr val="tx2"/>
                </a:solidFill>
              </a:rPr>
              <a:t>以电子陷阱为例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294915" name="Object 3"/>
          <p:cNvGraphicFramePr>
            <a:graphicFrameLocks noChangeAspect="1"/>
          </p:cNvGraphicFramePr>
          <p:nvPr>
            <p:ph sz="half" idx="1" hasCustomPrompt="1"/>
          </p:nvPr>
        </p:nvGraphicFramePr>
        <p:xfrm>
          <a:off x="1331913" y="1125538"/>
          <a:ext cx="31686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371600" imgH="431800" progId="Equation.3">
                  <p:embed/>
                </p:oleObj>
              </mc:Choice>
              <mc:Fallback>
                <p:oleObj name="" r:id="rId1" imgW="1371600" imgH="431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1331913" y="1125538"/>
                        <a:ext cx="3168650" cy="935037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4917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50" y="2205038"/>
            <a:ext cx="6296025" cy="105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3" name="Text Box 6"/>
          <p:cNvSpPr txBox="1"/>
          <p:nvPr/>
        </p:nvSpPr>
        <p:spPr>
          <a:xfrm>
            <a:off x="611188" y="3357563"/>
            <a:ext cx="6934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使</a:t>
            </a:r>
            <a:r>
              <a:rPr lang="zh-CN" altLang="en-US" sz="2800" b="1" dirty="0">
                <a:sym typeface="Symbol" panose="05050102010706020507" pitchFamily="18" charset="2"/>
              </a:rPr>
              <a:t></a:t>
            </a:r>
            <a:r>
              <a:rPr lang="en-US" altLang="zh-CN" sz="2800" b="1" dirty="0">
                <a:sym typeface="Symbol" panose="05050102010706020507" pitchFamily="18" charset="2"/>
              </a:rPr>
              <a:t>n</a:t>
            </a:r>
            <a:r>
              <a:rPr lang="zh-CN" altLang="en-US" sz="2800" b="1" dirty="0">
                <a:sym typeface="Symbol" panose="05050102010706020507" pitchFamily="18" charset="2"/>
              </a:rPr>
              <a:t>最大的</a:t>
            </a:r>
            <a:r>
              <a:rPr lang="en-US" altLang="zh-CN" sz="2800" b="1" dirty="0">
                <a:sym typeface="Symbol" panose="05050102010706020507" pitchFamily="18" charset="2"/>
              </a:rPr>
              <a:t>n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1</a:t>
            </a:r>
            <a:r>
              <a:rPr lang="zh-CN" altLang="en-US" sz="2800" b="1" dirty="0">
                <a:sym typeface="Symbol" panose="05050102010706020507" pitchFamily="18" charset="2"/>
              </a:rPr>
              <a:t>值是 </a:t>
            </a:r>
            <a:r>
              <a:rPr lang="en-US" altLang="zh-CN" sz="2800" b="1" dirty="0">
                <a:sym typeface="Symbol" panose="05050102010706020507" pitchFamily="18" charset="2"/>
              </a:rPr>
              <a:t>n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1</a:t>
            </a:r>
            <a:r>
              <a:rPr lang="en-US" altLang="zh-CN" sz="2800" b="1" dirty="0">
                <a:sym typeface="Symbol" panose="05050102010706020507" pitchFamily="18" charset="2"/>
              </a:rPr>
              <a:t>= n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0</a:t>
            </a:r>
            <a:endParaRPr lang="en-US" altLang="zh-CN" sz="2800" b="1" baseline="-25000" dirty="0">
              <a:sym typeface="Symbol" panose="05050102010706020507" pitchFamily="18" charset="2"/>
            </a:endParaRPr>
          </a:p>
        </p:txBody>
      </p:sp>
      <p:graphicFrame>
        <p:nvGraphicFramePr>
          <p:cNvPr id="294925" name="Object 13"/>
          <p:cNvGraphicFramePr>
            <a:graphicFrameLocks noChangeAspect="1"/>
          </p:cNvGraphicFramePr>
          <p:nvPr>
            <p:ph sz="half" idx="2" hasCustomPrompt="1"/>
          </p:nvPr>
        </p:nvGraphicFramePr>
        <p:xfrm>
          <a:off x="1331913" y="4005263"/>
          <a:ext cx="29527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4" imgW="1129665" imgH="431800" progId="Equation.3">
                  <p:embed/>
                </p:oleObj>
              </mc:Choice>
              <mc:Fallback>
                <p:oleObj name="" r:id="rId4" imgW="1129665" imgH="431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>
                      <a:xfrm>
                        <a:off x="1331913" y="4005263"/>
                        <a:ext cx="2952750" cy="1079500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100000"/>
                        </a:schemeClr>
                      </a:solidFill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4928" name="Text Box 16"/>
          <p:cNvSpPr txBox="1"/>
          <p:nvPr/>
        </p:nvSpPr>
        <p:spPr>
          <a:xfrm>
            <a:off x="1763713" y="5229225"/>
            <a:ext cx="65532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800" b="1" dirty="0"/>
              <a:t>若电子是多数载流子，当</a:t>
            </a:r>
            <a:r>
              <a:rPr lang="en-US" altLang="zh-CN" sz="2800" b="1" dirty="0"/>
              <a:t>N</a:t>
            </a:r>
            <a:r>
              <a:rPr lang="en-US" altLang="zh-CN" sz="2800" b="1" baseline="-25000" dirty="0"/>
              <a:t>t</a:t>
            </a:r>
            <a:r>
              <a:rPr lang="zh-CN" altLang="en-US" sz="2800" b="1" dirty="0"/>
              <a:t>与</a:t>
            </a:r>
            <a:r>
              <a:rPr lang="en-US" altLang="zh-CN" sz="2800" b="1" dirty="0"/>
              <a:t>n</a:t>
            </a:r>
            <a:r>
              <a:rPr lang="en-US" altLang="zh-CN" sz="2800" b="1" baseline="-25000" dirty="0"/>
              <a:t>0</a:t>
            </a:r>
            <a:r>
              <a:rPr lang="zh-CN" altLang="en-US" sz="2800" b="1" dirty="0"/>
              <a:t>差不多或更大，陷阱效应不明显，不能成为多数载流子陷阱效应。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4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4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4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94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4" grpId="0"/>
      <p:bldP spid="294928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2084" name="Text Box 4"/>
          <p:cNvSpPr txBox="1"/>
          <p:nvPr/>
        </p:nvSpPr>
        <p:spPr>
          <a:xfrm>
            <a:off x="468313" y="836613"/>
            <a:ext cx="45720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b="1" dirty="0">
                <a:solidFill>
                  <a:schemeClr val="tx2"/>
                </a:solidFill>
              </a:rPr>
              <a:t>陷阱效应</a:t>
            </a:r>
            <a:r>
              <a:rPr lang="zh-CN" altLang="en-US" b="1" dirty="0">
                <a:solidFill>
                  <a:srgbClr val="FF0000"/>
                </a:solidFill>
              </a:rPr>
              <a:t>小结：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302085" name="Text Box 5"/>
          <p:cNvSpPr txBox="1"/>
          <p:nvPr/>
        </p:nvSpPr>
        <p:spPr>
          <a:xfrm>
            <a:off x="395288" y="2205038"/>
            <a:ext cx="8001000" cy="1798637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/>
              <a:t>1</a:t>
            </a:r>
            <a:r>
              <a:rPr lang="zh-CN" altLang="en-US" b="1" dirty="0"/>
              <a:t>）与杂质能级位置有关，</a:t>
            </a:r>
            <a:r>
              <a:rPr lang="en-US" altLang="zh-CN" b="1" dirty="0"/>
              <a:t>E</a:t>
            </a:r>
            <a:r>
              <a:rPr lang="en-US" altLang="zh-CN" b="1" baseline="-25000" dirty="0"/>
              <a:t>F</a:t>
            </a:r>
            <a:r>
              <a:rPr lang="zh-CN" altLang="en-US" b="1" dirty="0"/>
              <a:t>以上能级，越接近</a:t>
            </a:r>
            <a:r>
              <a:rPr lang="en-US" altLang="zh-CN" b="1" dirty="0"/>
              <a:t>E</a:t>
            </a:r>
            <a:r>
              <a:rPr lang="en-US" altLang="zh-CN" b="1" baseline="-25000" dirty="0"/>
              <a:t>F</a:t>
            </a:r>
            <a:r>
              <a:rPr lang="zh-CN" altLang="en-US" b="1" dirty="0"/>
              <a:t>，陷阱效应越显著；</a:t>
            </a:r>
            <a:endParaRPr lang="zh-CN" altLang="en-US" b="1" dirty="0"/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b="1" dirty="0"/>
              <a:t>2</a:t>
            </a:r>
            <a:r>
              <a:rPr lang="zh-CN" altLang="en-US" b="1" dirty="0"/>
              <a:t>）通常对</a:t>
            </a:r>
            <a:r>
              <a:rPr lang="zh-CN" altLang="en-US" b="1" dirty="0">
                <a:solidFill>
                  <a:schemeClr val="tx2"/>
                </a:solidFill>
              </a:rPr>
              <a:t>少数载流子起陷阱作用。</a:t>
            </a:r>
            <a:endParaRPr lang="zh-CN" altLang="en-US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/>
      <p:bldP spid="30208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553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60350"/>
            <a:ext cx="4392613" cy="504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3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88" y="981075"/>
            <a:ext cx="2952750" cy="552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2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513" y="3933825"/>
            <a:ext cx="3581400" cy="2400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552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1773238"/>
            <a:ext cx="4800600" cy="5238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35532" name="Object 12"/>
          <p:cNvGraphicFramePr>
            <a:graphicFrameLocks noChangeAspect="1"/>
          </p:cNvGraphicFramePr>
          <p:nvPr/>
        </p:nvGraphicFramePr>
        <p:xfrm>
          <a:off x="1619250" y="2492375"/>
          <a:ext cx="32004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1256665" imgH="393700" progId="Equation.3">
                  <p:embed/>
                </p:oleObj>
              </mc:Choice>
              <mc:Fallback>
                <p:oleObj name="" r:id="rId5" imgW="1256665" imgH="3937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19250" y="2492375"/>
                        <a:ext cx="3200400" cy="100171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3" name="Text Box 19"/>
          <p:cNvSpPr txBox="1"/>
          <p:nvPr/>
        </p:nvSpPr>
        <p:spPr>
          <a:xfrm>
            <a:off x="179388" y="260350"/>
            <a:ext cx="863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dirty="0">
                <a:solidFill>
                  <a:srgbClr val="0000FF"/>
                </a:solidFill>
              </a:rPr>
              <a:t>5.6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5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3108" name="Text Box 4"/>
          <p:cNvSpPr txBox="1"/>
          <p:nvPr/>
        </p:nvSpPr>
        <p:spPr>
          <a:xfrm>
            <a:off x="611188" y="333375"/>
            <a:ext cx="7129462" cy="83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单位时间通过扩散流过垂直的单位截面积的粒子数称为扩散流密度。它与浓度梯度成正比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303109" name="Object 5"/>
          <p:cNvGraphicFramePr>
            <a:graphicFrameLocks noChangeAspect="1"/>
          </p:cNvGraphicFramePr>
          <p:nvPr/>
        </p:nvGraphicFramePr>
        <p:xfrm>
          <a:off x="1979613" y="2276475"/>
          <a:ext cx="2428875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428875" imgH="819150" progId="Paint.Picture">
                  <p:embed/>
                </p:oleObj>
              </mc:Choice>
              <mc:Fallback>
                <p:oleObj name="" r:id="rId1" imgW="2428875" imgH="819150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613" y="2276475"/>
                        <a:ext cx="2428875" cy="819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0" name="Object 6"/>
          <p:cNvGraphicFramePr>
            <a:graphicFrameLocks noChangeAspect="1"/>
          </p:cNvGraphicFramePr>
          <p:nvPr/>
        </p:nvGraphicFramePr>
        <p:xfrm>
          <a:off x="900113" y="1052513"/>
          <a:ext cx="49530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4229100" imgH="819150" progId="Paint.Picture">
                  <p:embed/>
                </p:oleObj>
              </mc:Choice>
              <mc:Fallback>
                <p:oleObj name="" r:id="rId3" imgW="4229100" imgH="819150" progId="Paint.Picture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0113" y="1052513"/>
                        <a:ext cx="495300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Rectangle 7"/>
          <p:cNvSpPr/>
          <p:nvPr/>
        </p:nvSpPr>
        <p:spPr>
          <a:xfrm>
            <a:off x="684213" y="3284538"/>
            <a:ext cx="5670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folHlink"/>
                </a:solidFill>
              </a:rPr>
              <a:t>扩散定律：非平衡少数载流子的扩散规律</a:t>
            </a:r>
            <a:endParaRPr lang="zh-CN" altLang="en-US" sz="2400" b="1" dirty="0">
              <a:solidFill>
                <a:schemeClr val="folHlink"/>
              </a:solidFill>
            </a:endParaRPr>
          </a:p>
        </p:txBody>
      </p:sp>
      <p:sp>
        <p:nvSpPr>
          <p:cNvPr id="303112" name="Rectangle 8"/>
          <p:cNvSpPr/>
          <p:nvPr/>
        </p:nvSpPr>
        <p:spPr>
          <a:xfrm>
            <a:off x="684213" y="4221163"/>
            <a:ext cx="7705725" cy="822325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稳定扩散：恒定</a:t>
            </a:r>
            <a:r>
              <a:rPr lang="en-US" altLang="zh-CN" sz="2400" b="1" dirty="0">
                <a:solidFill>
                  <a:schemeClr val="tx2"/>
                </a:solidFill>
              </a:rPr>
              <a:t>(</a:t>
            </a:r>
            <a:r>
              <a:rPr lang="zh-CN" altLang="en-US" sz="2400" b="1" dirty="0">
                <a:solidFill>
                  <a:schemeClr val="tx2"/>
                </a:solidFill>
              </a:rPr>
              <a:t>光</a:t>
            </a:r>
            <a:r>
              <a:rPr lang="en-US" altLang="zh-CN" sz="2400" b="1" dirty="0">
                <a:solidFill>
                  <a:schemeClr val="tx2"/>
                </a:solidFill>
              </a:rPr>
              <a:t>)</a:t>
            </a:r>
            <a:r>
              <a:rPr lang="zh-CN" altLang="en-US" sz="2400" b="1" dirty="0">
                <a:solidFill>
                  <a:schemeClr val="tx2"/>
                </a:solidFill>
              </a:rPr>
              <a:t>注入条件下，表面保持（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</a:t>
            </a:r>
            <a:r>
              <a:rPr lang="en-US" altLang="zh-CN" sz="2400" b="1" dirty="0">
                <a:solidFill>
                  <a:schemeClr val="tx2"/>
                </a:solidFill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）</a:t>
            </a:r>
            <a:r>
              <a:rPr lang="en-US" altLang="zh-CN" sz="24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0</a:t>
            </a:r>
            <a:r>
              <a:rPr lang="zh-CN" altLang="en-US" sz="2400" b="1" dirty="0">
                <a:solidFill>
                  <a:schemeClr val="tx2"/>
                </a:solidFill>
                <a:sym typeface="Symbol" panose="05050102010706020507" pitchFamily="18" charset="2"/>
              </a:rPr>
              <a:t>，内部各点浓度均保持不变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8" grpId="0"/>
      <p:bldP spid="303111" grpId="0"/>
      <p:bldP spid="303112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6726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549275"/>
            <a:ext cx="8105775" cy="4381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271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3789363"/>
            <a:ext cx="1685925" cy="10858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273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3789363"/>
            <a:ext cx="1762125" cy="1009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274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9700" y="3789363"/>
            <a:ext cx="2276475" cy="990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7275" name="Text Box 11"/>
          <p:cNvSpPr txBox="1"/>
          <p:nvPr/>
        </p:nvSpPr>
        <p:spPr>
          <a:xfrm>
            <a:off x="827088" y="2565400"/>
            <a:ext cx="73437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应等于单位时间单位体积内由于复合而消失的空穴数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267276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863" y="5373688"/>
            <a:ext cx="2476500" cy="419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7277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175" y="1196975"/>
            <a:ext cx="1685925" cy="1085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7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67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67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36562" name="Group 18"/>
          <p:cNvGrpSpPr/>
          <p:nvPr/>
        </p:nvGrpSpPr>
        <p:grpSpPr>
          <a:xfrm>
            <a:off x="1835150" y="549275"/>
            <a:ext cx="4124325" cy="1162050"/>
            <a:chOff x="884" y="482"/>
            <a:chExt cx="2598" cy="732"/>
          </a:xfrm>
        </p:grpSpPr>
        <p:pic>
          <p:nvPicPr>
            <p:cNvPr id="68615" name="Picture 1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4" y="482"/>
              <a:ext cx="1302" cy="73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8616" name="Pictur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6" y="572"/>
              <a:ext cx="1056" cy="606"/>
            </a:xfrm>
            <a:prstGeom prst="rect">
              <a:avLst/>
            </a:prstGeom>
            <a:noFill/>
            <a:ln w="9525">
              <a:noFill/>
            </a:ln>
          </p:spPr>
        </p:pic>
      </p:grpSp>
      <p:graphicFrame>
        <p:nvGraphicFramePr>
          <p:cNvPr id="236560" name="Object 16"/>
          <p:cNvGraphicFramePr>
            <a:graphicFrameLocks noChangeAspect="1"/>
          </p:cNvGraphicFramePr>
          <p:nvPr/>
        </p:nvGraphicFramePr>
        <p:xfrm>
          <a:off x="2843213" y="2133600"/>
          <a:ext cx="292417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2924175" imgH="876300" progId="Paint.Picture">
                  <p:embed/>
                </p:oleObj>
              </mc:Choice>
              <mc:Fallback>
                <p:oleObj name="" r:id="rId3" imgW="2924175" imgH="876300" progId="Paint.Picture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43213" y="2133600"/>
                        <a:ext cx="2924175" cy="87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6561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188" y="4221163"/>
            <a:ext cx="6962775" cy="647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6563" name="Text Box 19"/>
          <p:cNvSpPr txBox="1"/>
          <p:nvPr/>
        </p:nvSpPr>
        <p:spPr>
          <a:xfrm>
            <a:off x="1187450" y="3357563"/>
            <a:ext cx="63373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一维稳态扩散情况下非平衡少数载流子的扩散方程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pic>
        <p:nvPicPr>
          <p:cNvPr id="236564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5084763"/>
            <a:ext cx="2828925" cy="1504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6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6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6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6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6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6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963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333375"/>
            <a:ext cx="6962775" cy="647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963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268413"/>
            <a:ext cx="3524250" cy="428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7576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2781300"/>
            <a:ext cx="4305300" cy="1019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7577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221163"/>
            <a:ext cx="4219575" cy="723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8" name="Text Box 12"/>
          <p:cNvSpPr txBox="1"/>
          <p:nvPr/>
        </p:nvSpPr>
        <p:spPr>
          <a:xfrm>
            <a:off x="900113" y="1989138"/>
            <a:ext cx="48244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载流子未到达另一端就已消失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7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75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334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750" y="620713"/>
            <a:ext cx="2305050" cy="4476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334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341438"/>
            <a:ext cx="3305175" cy="1352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335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7538" y="692150"/>
            <a:ext cx="3563937" cy="2574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3351" name="Text Box 7"/>
          <p:cNvSpPr txBox="1"/>
          <p:nvPr/>
        </p:nvSpPr>
        <p:spPr>
          <a:xfrm>
            <a:off x="611188" y="3933825"/>
            <a:ext cx="8066087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扩散长度</a:t>
            </a:r>
            <a:r>
              <a:rPr lang="en-US" altLang="zh-CN" sz="2400" b="1" dirty="0">
                <a:solidFill>
                  <a:schemeClr val="tx2"/>
                </a:solidFill>
              </a:rPr>
              <a:t>L</a:t>
            </a:r>
            <a:r>
              <a:rPr lang="en-US" altLang="zh-CN" sz="2400" b="1" baseline="-25000" dirty="0">
                <a:solidFill>
                  <a:schemeClr val="tx2"/>
                </a:solidFill>
              </a:rPr>
              <a:t>p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：标志非平衡载流子深入样品的平均距离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3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5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8597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088" y="1916113"/>
            <a:ext cx="4476750" cy="10572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859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150" y="3500438"/>
            <a:ext cx="4019550" cy="132397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1684" name="Object 8"/>
          <p:cNvGraphicFramePr>
            <a:graphicFrameLocks noChangeAspect="1"/>
          </p:cNvGraphicFramePr>
          <p:nvPr/>
        </p:nvGraphicFramePr>
        <p:xfrm>
          <a:off x="755650" y="260350"/>
          <a:ext cx="49530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4229100" imgH="819150" progId="Paint.Picture">
                  <p:embed/>
                </p:oleObj>
              </mc:Choice>
              <mc:Fallback>
                <p:oleObj name="" r:id="rId3" imgW="4229100" imgH="819150" progId="Paint.Picture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55650" y="260350"/>
                        <a:ext cx="4953000" cy="958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270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25" y="908050"/>
            <a:ext cx="6905625" cy="476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621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412875"/>
            <a:ext cx="4095750" cy="1638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3962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113" y="3213100"/>
            <a:ext cx="4067175" cy="1057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9627" name="Text Box 11"/>
          <p:cNvSpPr txBox="1"/>
          <p:nvPr/>
        </p:nvSpPr>
        <p:spPr>
          <a:xfrm>
            <a:off x="971550" y="4868863"/>
            <a:ext cx="23574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chemeClr val="tx2"/>
                </a:solidFill>
              </a:rPr>
              <a:t>A+B=(</a:t>
            </a:r>
            <a:r>
              <a:rPr lang="en-US" altLang="zh-CN" sz="2800" b="1" dirty="0">
                <a:solidFill>
                  <a:schemeClr val="tx2"/>
                </a:solidFill>
                <a:sym typeface="Symbol" panose="05050102010706020507" pitchFamily="18" charset="2"/>
              </a:rPr>
              <a:t>P</a:t>
            </a:r>
            <a:r>
              <a:rPr lang="en-US" altLang="zh-CN" sz="2800" b="1" dirty="0">
                <a:solidFill>
                  <a:schemeClr val="tx2"/>
                </a:solidFill>
              </a:rPr>
              <a:t>) </a:t>
            </a:r>
            <a:r>
              <a:rPr lang="en-US" altLang="zh-CN" sz="2800" b="1" baseline="-25000" dirty="0">
                <a:solidFill>
                  <a:schemeClr val="tx2"/>
                </a:solidFill>
                <a:sym typeface="Symbol" panose="05050102010706020507" pitchFamily="18" charset="2"/>
              </a:rPr>
              <a:t>0</a:t>
            </a:r>
            <a:endParaRPr lang="en-US" altLang="zh-CN" sz="2800" b="1" baseline="-25000" dirty="0">
              <a:solidFill>
                <a:schemeClr val="tx2"/>
              </a:solidFill>
              <a:sym typeface="Symbol" panose="05050102010706020507" pitchFamily="18" charset="2"/>
            </a:endParaRPr>
          </a:p>
        </p:txBody>
      </p:sp>
      <p:pic>
        <p:nvPicPr>
          <p:cNvPr id="72710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50" y="0"/>
            <a:ext cx="6924675" cy="552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9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9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9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27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437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260350"/>
            <a:ext cx="4714875" cy="12287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14373" name="Group 5"/>
          <p:cNvGrpSpPr/>
          <p:nvPr/>
        </p:nvGrpSpPr>
        <p:grpSpPr>
          <a:xfrm>
            <a:off x="971550" y="1628775"/>
            <a:ext cx="3681413" cy="1114425"/>
            <a:chOff x="1020" y="3385"/>
            <a:chExt cx="2319" cy="702"/>
          </a:xfrm>
        </p:grpSpPr>
        <p:pic>
          <p:nvPicPr>
            <p:cNvPr id="73733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01" y="3385"/>
              <a:ext cx="1638" cy="702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3734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" y="3657"/>
              <a:ext cx="636" cy="288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314376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313" y="3429000"/>
            <a:ext cx="4124325" cy="2000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43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4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475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60350"/>
            <a:ext cx="1800225" cy="4857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4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975" y="0"/>
            <a:ext cx="4010025" cy="314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4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1196975"/>
            <a:ext cx="2105025" cy="18859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4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4438" y="981075"/>
            <a:ext cx="2324100" cy="962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4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1413" y="2420938"/>
            <a:ext cx="2333625" cy="914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4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88" y="3644900"/>
            <a:ext cx="1839912" cy="1584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5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4438" y="4437063"/>
            <a:ext cx="2619375" cy="885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065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68538" y="3500438"/>
            <a:ext cx="2990850" cy="94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0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0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0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0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0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0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0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0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0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0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166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988" y="3213100"/>
            <a:ext cx="3952875" cy="12668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577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5175"/>
            <a:ext cx="3362325" cy="1390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670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57200"/>
            <a:ext cx="304800" cy="2047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671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3800" y="304800"/>
            <a:ext cx="4476750" cy="9239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672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5375" y="1628775"/>
            <a:ext cx="4391025" cy="962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673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2800" y="990600"/>
            <a:ext cx="1666875" cy="523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41674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388" y="2349500"/>
            <a:ext cx="1504950" cy="466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Text Box 4"/>
          <p:cNvSpPr txBox="1"/>
          <p:nvPr/>
        </p:nvSpPr>
        <p:spPr>
          <a:xfrm>
            <a:off x="304800" y="228600"/>
            <a:ext cx="750728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5.7 </a:t>
            </a:r>
            <a:r>
              <a:rPr lang="zh-CN" altLang="en-US" sz="2800" b="1" dirty="0">
                <a:solidFill>
                  <a:srgbClr val="0000FF"/>
                </a:solidFill>
              </a:rPr>
              <a:t>载流子的漂移运动，爱因斯坦关系式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79875" name="Text Box 14"/>
          <p:cNvSpPr txBox="1"/>
          <p:nvPr/>
        </p:nvSpPr>
        <p:spPr>
          <a:xfrm>
            <a:off x="684213" y="836613"/>
            <a:ext cx="5410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若存在非平衡载流子，在外电场作用下也会做漂移运动</a:t>
            </a:r>
            <a:endParaRPr lang="zh-CN" altLang="en-US" sz="2400" b="1" dirty="0"/>
          </a:p>
        </p:txBody>
      </p:sp>
      <p:sp>
        <p:nvSpPr>
          <p:cNvPr id="243729" name="Text Box 17"/>
          <p:cNvSpPr txBox="1"/>
          <p:nvPr/>
        </p:nvSpPr>
        <p:spPr>
          <a:xfrm>
            <a:off x="755650" y="4076700"/>
            <a:ext cx="54102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若非平衡载流子浓度不均匀，还会做扩散运动， 对</a:t>
            </a:r>
            <a:r>
              <a:rPr lang="en-US" altLang="zh-CN" sz="2400" b="1" dirty="0"/>
              <a:t>n</a:t>
            </a:r>
            <a:r>
              <a:rPr lang="zh-CN" altLang="en-US" sz="2400" b="1" dirty="0"/>
              <a:t>型半导体</a:t>
            </a:r>
            <a:endParaRPr lang="zh-CN" altLang="en-US" sz="2400" b="1" dirty="0"/>
          </a:p>
        </p:txBody>
      </p:sp>
      <p:graphicFrame>
        <p:nvGraphicFramePr>
          <p:cNvPr id="243732" name="Object 20"/>
          <p:cNvGraphicFramePr>
            <a:graphicFrameLocks noChangeAspect="1"/>
          </p:cNvGraphicFramePr>
          <p:nvPr/>
        </p:nvGraphicFramePr>
        <p:xfrm>
          <a:off x="971550" y="2781300"/>
          <a:ext cx="526573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1" imgW="2184400" imgH="254000" progId="Equation.3">
                  <p:embed/>
                </p:oleObj>
              </mc:Choice>
              <mc:Fallback>
                <p:oleObj name="" r:id="rId1" imgW="2184400" imgH="254000" progId="Equation.3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2781300"/>
                        <a:ext cx="5265738" cy="61277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3734" name="Object 22"/>
          <p:cNvGraphicFramePr>
            <a:graphicFrameLocks noChangeAspect="1"/>
          </p:cNvGraphicFramePr>
          <p:nvPr/>
        </p:nvGraphicFramePr>
        <p:xfrm>
          <a:off x="971550" y="1773238"/>
          <a:ext cx="511333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" r:id="rId3" imgW="2120900" imgH="254000" progId="Equation.3">
                  <p:embed/>
                </p:oleObj>
              </mc:Choice>
              <mc:Fallback>
                <p:oleObj name="" r:id="rId3" imgW="2120900" imgH="25400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71550" y="1773238"/>
                        <a:ext cx="5113338" cy="612775"/>
                      </a:xfrm>
                      <a:prstGeom prst="rect">
                        <a:avLst/>
                      </a:prstGeom>
                      <a:solidFill>
                        <a:srgbClr val="FFCCCC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3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2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0338" name="Rectangle 2"/>
          <p:cNvSpPr/>
          <p:nvPr/>
        </p:nvSpPr>
        <p:spPr>
          <a:xfrm>
            <a:off x="611188" y="3068638"/>
            <a:ext cx="2635250" cy="4572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电子的电流密度为</a:t>
            </a:r>
            <a:endParaRPr lang="zh-CN" altLang="en-US" sz="2400" b="1" dirty="0"/>
          </a:p>
        </p:txBody>
      </p:sp>
      <p:graphicFrame>
        <p:nvGraphicFramePr>
          <p:cNvPr id="270339" name="Object 3"/>
          <p:cNvGraphicFramePr>
            <a:graphicFrameLocks noChangeAspect="1"/>
          </p:cNvGraphicFramePr>
          <p:nvPr/>
        </p:nvGraphicFramePr>
        <p:xfrm>
          <a:off x="1371600" y="4038600"/>
          <a:ext cx="54498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" r:id="rId1" imgW="2260600" imgH="393700" progId="Equation.3">
                  <p:embed/>
                </p:oleObj>
              </mc:Choice>
              <mc:Fallback>
                <p:oleObj name="" r:id="rId1" imgW="2260600" imgH="393700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1600" y="4038600"/>
                        <a:ext cx="5449888" cy="9493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4" name="Rectangle 4"/>
          <p:cNvSpPr/>
          <p:nvPr/>
        </p:nvSpPr>
        <p:spPr>
          <a:xfrm>
            <a:off x="457200" y="533400"/>
            <a:ext cx="4167188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400" b="1" dirty="0"/>
              <a:t>少数载流子空穴的电流密度为</a:t>
            </a:r>
            <a:endParaRPr lang="zh-CN" altLang="en-US" sz="2400" b="1" dirty="0"/>
          </a:p>
        </p:txBody>
      </p:sp>
      <p:graphicFrame>
        <p:nvGraphicFramePr>
          <p:cNvPr id="270341" name="Object 5"/>
          <p:cNvGraphicFramePr>
            <a:graphicFrameLocks noChangeAspect="1"/>
          </p:cNvGraphicFramePr>
          <p:nvPr/>
        </p:nvGraphicFramePr>
        <p:xfrm>
          <a:off x="1905000" y="1371600"/>
          <a:ext cx="5602288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" r:id="rId3" imgW="2324100" imgH="393700" progId="Equation.3">
                  <p:embed/>
                </p:oleObj>
              </mc:Choice>
              <mc:Fallback>
                <p:oleObj name="" r:id="rId3" imgW="2324100" imgH="393700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000" y="1371600"/>
                        <a:ext cx="5602288" cy="94932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0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0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3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294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228600"/>
            <a:ext cx="4419600" cy="1093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9320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2852738"/>
            <a:ext cx="2971800" cy="1095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948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0"/>
            <a:ext cx="4019550" cy="26479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9" name="Text Box 11"/>
          <p:cNvSpPr txBox="1"/>
          <p:nvPr/>
        </p:nvSpPr>
        <p:spPr>
          <a:xfrm>
            <a:off x="395288" y="1773238"/>
            <a:ext cx="45720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/>
              <a:t>引起扩散，电子的扩散电流密度为</a:t>
            </a:r>
            <a:endParaRPr lang="zh-CN" altLang="en-US" sz="2400" b="1" dirty="0"/>
          </a:p>
        </p:txBody>
      </p:sp>
      <p:grpSp>
        <p:nvGrpSpPr>
          <p:cNvPr id="269329" name="Group 17"/>
          <p:cNvGrpSpPr/>
          <p:nvPr/>
        </p:nvGrpSpPr>
        <p:grpSpPr>
          <a:xfrm>
            <a:off x="684213" y="4292600"/>
            <a:ext cx="5864225" cy="949325"/>
            <a:chOff x="144" y="1968"/>
            <a:chExt cx="3694" cy="598"/>
          </a:xfrm>
        </p:grpSpPr>
        <p:sp>
          <p:nvSpPr>
            <p:cNvPr id="82951" name="Rectangle 12"/>
            <p:cNvSpPr/>
            <p:nvPr/>
          </p:nvSpPr>
          <p:spPr>
            <a:xfrm>
              <a:off x="144" y="2112"/>
              <a:ext cx="1853" cy="288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r>
                <a:rPr lang="zh-CN" altLang="en-US" sz="2400" b="1" dirty="0"/>
                <a:t>空穴扩散电流密度为</a:t>
              </a:r>
              <a:endParaRPr lang="zh-CN" altLang="en-US" sz="2400" b="1" dirty="0"/>
            </a:p>
          </p:txBody>
        </p:sp>
        <p:graphicFrame>
          <p:nvGraphicFramePr>
            <p:cNvPr id="82952" name="Object 13"/>
            <p:cNvGraphicFramePr>
              <a:graphicFrameLocks noChangeAspect="1"/>
            </p:cNvGraphicFramePr>
            <p:nvPr/>
          </p:nvGraphicFramePr>
          <p:xfrm>
            <a:off x="2160" y="1968"/>
            <a:ext cx="1678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4" imgW="1104900" imgH="393700" progId="Equation.3">
                    <p:embed/>
                  </p:oleObj>
                </mc:Choice>
                <mc:Fallback>
                  <p:oleObj name="" r:id="rId4" imgW="1104900" imgH="3937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160" y="1968"/>
                          <a:ext cx="1678" cy="598"/>
                        </a:xfrm>
                        <a:prstGeom prst="rect">
                          <a:avLst/>
                        </a:prstGeom>
                        <a:solidFill>
                          <a:schemeClr val="accent1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9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Text Box 4"/>
          <p:cNvSpPr txBox="1"/>
          <p:nvPr/>
        </p:nvSpPr>
        <p:spPr>
          <a:xfrm>
            <a:off x="684213" y="620713"/>
            <a:ext cx="55626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zh-CN" altLang="en-US" sz="2400" b="1" dirty="0">
                <a:solidFill>
                  <a:schemeClr val="tx2"/>
                </a:solidFill>
              </a:rPr>
              <a:t>热平衡状态下，无宏观电流</a:t>
            </a:r>
            <a:endParaRPr lang="zh-CN" altLang="en-US" sz="2400" b="1" dirty="0">
              <a:solidFill>
                <a:schemeClr val="tx2"/>
              </a:solidFill>
            </a:endParaRPr>
          </a:p>
        </p:txBody>
      </p:sp>
      <p:graphicFrame>
        <p:nvGraphicFramePr>
          <p:cNvPr id="271365" name="Object 5"/>
          <p:cNvGraphicFramePr>
            <a:graphicFrameLocks noChangeAspect="1"/>
          </p:cNvGraphicFramePr>
          <p:nvPr/>
        </p:nvGraphicFramePr>
        <p:xfrm>
          <a:off x="2268538" y="2636838"/>
          <a:ext cx="30003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1244600" imgH="254000" progId="Equation.3">
                  <p:embed/>
                </p:oleObj>
              </mc:Choice>
              <mc:Fallback>
                <p:oleObj name="" r:id="rId1" imgW="1244600" imgH="2540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538" y="2636838"/>
                        <a:ext cx="3000375" cy="612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6" name="Object 6"/>
          <p:cNvGraphicFramePr>
            <a:graphicFrameLocks noChangeAspect="1"/>
          </p:cNvGraphicFramePr>
          <p:nvPr/>
        </p:nvGraphicFramePr>
        <p:xfrm>
          <a:off x="2268538" y="1557338"/>
          <a:ext cx="2908300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1206500" imgH="241300" progId="Equation.3">
                  <p:embed/>
                </p:oleObj>
              </mc:Choice>
              <mc:Fallback>
                <p:oleObj name="" r:id="rId3" imgW="1206500" imgH="2413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68538" y="1557338"/>
                        <a:ext cx="2908300" cy="5810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1367" name="Object 7"/>
          <p:cNvGraphicFramePr>
            <a:graphicFrameLocks noChangeAspect="1"/>
          </p:cNvGraphicFramePr>
          <p:nvPr/>
        </p:nvGraphicFramePr>
        <p:xfrm>
          <a:off x="1116013" y="3789363"/>
          <a:ext cx="4071937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5" imgW="1688465" imgH="393700" progId="Equation.3">
                  <p:embed/>
                </p:oleObj>
              </mc:Choice>
              <mc:Fallback>
                <p:oleObj name="" r:id="rId5" imgW="1688465" imgH="3937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6013" y="3789363"/>
                        <a:ext cx="4071937" cy="949325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1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71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4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38" y="3822700"/>
            <a:ext cx="2209800" cy="4587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4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138" y="3213100"/>
            <a:ext cx="1704975" cy="16573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4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38" y="3441700"/>
            <a:ext cx="2381250" cy="1333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4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913" y="989013"/>
            <a:ext cx="962025" cy="352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4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713" y="836613"/>
            <a:ext cx="3524250" cy="1028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7047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913" y="1979613"/>
            <a:ext cx="4676775" cy="819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7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7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7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7" name="文本占位符 47106"/>
          <p:cNvSpPr>
            <a:spLocks noGrp="1"/>
          </p:cNvSpPr>
          <p:nvPr/>
        </p:nvSpPr>
        <p:spPr>
          <a:xfrm>
            <a:off x="611505" y="260985"/>
            <a:ext cx="8229600" cy="597693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二、爱因斯坦关系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半导体中载流子的扩散运动必然伴随扩散电流的出现。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9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空穴扩散电流密度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1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电子扩散电流密度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7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如果载流子扩散系数是各向同性的，对于三维情况，则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而扩散流密度的散度的负值恰好为单位体积内空穴的积累率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稳态时，</a:t>
            </a:r>
            <a:r>
              <a:rPr lang="en-US" altLang="zh-CN" sz="2200">
                <a:latin typeface="Times New Roman" panose="02020603050405020304" pitchFamily="18" charset="0"/>
              </a:rPr>
              <a:t>-▽</a:t>
            </a:r>
            <a:r>
              <a:rPr lang="en-US" altLang="zh-CN" sz="2200"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</a:rPr>
              <a:t>等于单位时间单位体积内因复合而消失的空穴数，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稳态扩散方程为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pSp>
        <p:nvGrpSpPr>
          <p:cNvPr id="47118" name="组合 47117"/>
          <p:cNvGrpSpPr/>
          <p:nvPr/>
        </p:nvGrpSpPr>
        <p:grpSpPr>
          <a:xfrm>
            <a:off x="3563303" y="1628775"/>
            <a:ext cx="2952750" cy="1404938"/>
            <a:chOff x="2199" y="1162"/>
            <a:chExt cx="1860" cy="885"/>
          </a:xfrm>
        </p:grpSpPr>
        <p:graphicFrame>
          <p:nvGraphicFramePr>
            <p:cNvPr id="47108" name="对象 47107"/>
            <p:cNvGraphicFramePr/>
            <p:nvPr/>
          </p:nvGraphicFramePr>
          <p:xfrm>
            <a:off x="2200" y="1162"/>
            <a:ext cx="1769" cy="4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3" name="" r:id="rId1" imgW="1524000" imgH="355600" progId="Equation.3">
                    <p:embed/>
                  </p:oleObj>
                </mc:Choice>
                <mc:Fallback>
                  <p:oleObj name="" r:id="rId1" imgW="1524000" imgH="355600" progId="Equation.3">
                    <p:embed/>
                    <p:pic>
                      <p:nvPicPr>
                        <p:cNvPr id="0" name="图片 312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200" y="1162"/>
                          <a:ext cx="1769" cy="41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10" name="对象 47109"/>
            <p:cNvGraphicFramePr/>
            <p:nvPr/>
          </p:nvGraphicFramePr>
          <p:xfrm>
            <a:off x="2199" y="1616"/>
            <a:ext cx="1860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3" imgW="1485265" imgH="355600" progId="Equation.3">
                    <p:embed/>
                  </p:oleObj>
                </mc:Choice>
                <mc:Fallback>
                  <p:oleObj name="" r:id="rId3" imgW="1485265" imgH="355600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199" y="1616"/>
                          <a:ext cx="1860" cy="43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7112" name="对象 47111"/>
          <p:cNvGraphicFramePr/>
          <p:nvPr/>
        </p:nvGraphicFramePr>
        <p:xfrm>
          <a:off x="3635693" y="3644900"/>
          <a:ext cx="18002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5" imgW="862965" imgH="215900" progId="Equation.3">
                  <p:embed/>
                </p:oleObj>
              </mc:Choice>
              <mc:Fallback>
                <p:oleObj name="" r:id="rId5" imgW="862965" imgH="2159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635693" y="3644900"/>
                        <a:ext cx="1800225" cy="4381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4" name="对象 47113"/>
          <p:cNvGraphicFramePr/>
          <p:nvPr/>
        </p:nvGraphicFramePr>
        <p:xfrm>
          <a:off x="3527108" y="4652963"/>
          <a:ext cx="2017712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7" imgW="1104265" imgH="215900" progId="Equation.3">
                  <p:embed/>
                </p:oleObj>
              </mc:Choice>
              <mc:Fallback>
                <p:oleObj name="" r:id="rId7" imgW="1104265" imgH="2159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27108" y="4652963"/>
                        <a:ext cx="2017712" cy="427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16" name="对象 47115"/>
          <p:cNvGraphicFramePr/>
          <p:nvPr/>
        </p:nvGraphicFramePr>
        <p:xfrm>
          <a:off x="3635375" y="5804218"/>
          <a:ext cx="1728788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9" imgW="888365" imgH="393700" progId="Equation.3">
                  <p:embed/>
                </p:oleObj>
              </mc:Choice>
              <mc:Fallback>
                <p:oleObj name="" r:id="rId9" imgW="888365" imgH="3937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35375" y="5804218"/>
                        <a:ext cx="1728788" cy="77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1" name="文本占位符 48130"/>
          <p:cNvSpPr>
            <a:spLocks noGrp="1"/>
          </p:cNvSpPr>
          <p:nvPr/>
        </p:nvSpPr>
        <p:spPr>
          <a:xfrm>
            <a:off x="683260" y="188278"/>
            <a:ext cx="8229600" cy="58324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空穴的扩散电流密度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电子的扩散电流密度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       对均匀掺杂的一维半导体，如果存在外加电场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|E|</a:t>
            </a:r>
            <a:r>
              <a:rPr lang="zh-CN" altLang="en-US" sz="2200" dirty="0">
                <a:latin typeface="Times New Roman" panose="02020603050405020304" pitchFamily="18" charset="0"/>
              </a:rPr>
              <a:t>的同时还存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在非平衡载流子浓度的不均匀，那么平衡和非平衡载流子都要作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漂移运动，非平衡载流子还要作扩散运动，因此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2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       非均匀掺杂的一维半导体在同时存在外加电场</a:t>
            </a:r>
            <a:r>
              <a:rPr lang="en-US" altLang="zh-CN" sz="2200">
                <a:latin typeface="Times New Roman" panose="02020603050405020304" pitchFamily="18" charset="0"/>
                <a:cs typeface="Times New Roman" panose="02020603050405020304" pitchFamily="18" charset="0"/>
              </a:rPr>
              <a:t>|E|</a:t>
            </a:r>
            <a:r>
              <a:rPr lang="zh-CN" altLang="en-US" sz="2200" dirty="0">
                <a:latin typeface="Times New Roman" panose="02020603050405020304" pitchFamily="18" charset="0"/>
              </a:rPr>
              <a:t>和非平衡载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流子浓度的不均匀时，由于平衡载流子浓度也是位置的函数，平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衡载流子也要扩散，因此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pSp>
        <p:nvGrpSpPr>
          <p:cNvPr id="48141" name="组合 48140"/>
          <p:cNvGrpSpPr/>
          <p:nvPr/>
        </p:nvGrpSpPr>
        <p:grpSpPr>
          <a:xfrm>
            <a:off x="3851910" y="332423"/>
            <a:ext cx="2954338" cy="933450"/>
            <a:chOff x="2380" y="527"/>
            <a:chExt cx="1861" cy="588"/>
          </a:xfrm>
        </p:grpSpPr>
        <p:graphicFrame>
          <p:nvGraphicFramePr>
            <p:cNvPr id="48132" name="对象 48131"/>
            <p:cNvGraphicFramePr/>
            <p:nvPr/>
          </p:nvGraphicFramePr>
          <p:xfrm>
            <a:off x="2380" y="527"/>
            <a:ext cx="1679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7" name="" r:id="rId1" imgW="1459865" imgH="241300" progId="Equation.3">
                    <p:embed/>
                  </p:oleObj>
                </mc:Choice>
                <mc:Fallback>
                  <p:oleObj name="" r:id="rId1" imgW="1459865" imgH="241300" progId="Equation.3">
                    <p:embed/>
                    <p:pic>
                      <p:nvPicPr>
                        <p:cNvPr id="0" name="图片 312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380" y="527"/>
                          <a:ext cx="1679" cy="2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4" name="对象 48133"/>
            <p:cNvGraphicFramePr/>
            <p:nvPr/>
          </p:nvGraphicFramePr>
          <p:xfrm>
            <a:off x="2381" y="845"/>
            <a:ext cx="1860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5" name="" r:id="rId3" imgW="1447165" imgH="215900" progId="Equation.3">
                    <p:embed/>
                  </p:oleObj>
                </mc:Choice>
                <mc:Fallback>
                  <p:oleObj name="" r:id="rId3" imgW="1447165" imgH="215900" progId="Equation.3">
                    <p:embed/>
                    <p:pic>
                      <p:nvPicPr>
                        <p:cNvPr id="0" name="图片 3134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81" y="845"/>
                          <a:ext cx="1860" cy="27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8140" name="组合 48139"/>
          <p:cNvGrpSpPr/>
          <p:nvPr/>
        </p:nvGrpSpPr>
        <p:grpSpPr>
          <a:xfrm>
            <a:off x="1978660" y="3101658"/>
            <a:ext cx="5256213" cy="1333500"/>
            <a:chOff x="1927" y="2227"/>
            <a:chExt cx="3311" cy="840"/>
          </a:xfrm>
        </p:grpSpPr>
        <p:graphicFrame>
          <p:nvGraphicFramePr>
            <p:cNvPr id="48136" name="对象 48135"/>
            <p:cNvGraphicFramePr/>
            <p:nvPr/>
          </p:nvGraphicFramePr>
          <p:xfrm>
            <a:off x="1973" y="2227"/>
            <a:ext cx="3130" cy="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4" name="" r:id="rId5" imgW="2578100" imgH="330200" progId="Equation.3">
                    <p:embed/>
                  </p:oleObj>
                </mc:Choice>
                <mc:Fallback>
                  <p:oleObj name="" r:id="rId5" imgW="2578100" imgH="330200" progId="Equation.3">
                    <p:embed/>
                    <p:pic>
                      <p:nvPicPr>
                        <p:cNvPr id="0" name="图片 313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73" y="2227"/>
                          <a:ext cx="3130" cy="4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8138" name="对象 48137"/>
            <p:cNvGraphicFramePr/>
            <p:nvPr/>
          </p:nvGraphicFramePr>
          <p:xfrm>
            <a:off x="1927" y="2661"/>
            <a:ext cx="3311" cy="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6" name="" r:id="rId7" imgW="2667000" imgH="330200" progId="Equation.3">
                    <p:embed/>
                  </p:oleObj>
                </mc:Choice>
                <mc:Fallback>
                  <p:oleObj name="" r:id="rId7" imgW="2667000" imgH="330200" progId="Equation.3">
                    <p:embed/>
                    <p:pic>
                      <p:nvPicPr>
                        <p:cNvPr id="0" name="图片 313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927" y="2661"/>
                          <a:ext cx="3311" cy="4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5" name="文本占位符 49154"/>
          <p:cNvSpPr>
            <a:spLocks noGrp="1"/>
          </p:cNvSpPr>
          <p:nvPr/>
        </p:nvSpPr>
        <p:spPr>
          <a:xfrm>
            <a:off x="323215" y="404178"/>
            <a:ext cx="8229600" cy="58324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endParaRPr lang="en-US" altLang="zh-CN" sz="2200" dirty="0">
              <a:latin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en-US" altLang="zh-CN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       </a:t>
            </a:r>
            <a:r>
              <a:rPr lang="zh-CN" altLang="en-US" sz="2200" dirty="0">
                <a:latin typeface="Times New Roman" panose="02020603050405020304" pitchFamily="18" charset="0"/>
              </a:rPr>
              <a:t>引起载流子漂移运动和扩散运动的原因虽然不同，但这两种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运动的过程中都要遭到散射的作用，</a:t>
            </a:r>
            <a:r>
              <a:rPr lang="el-GR" altLang="zh-CN" sz="2200" i="1" dirty="0">
                <a:latin typeface="Times New Roman" panose="02020603050405020304" pitchFamily="18" charset="0"/>
                <a:cs typeface="Arial" panose="020B0604020202020204" pitchFamily="34" charset="0"/>
              </a:rPr>
              <a:t>μ</a:t>
            </a:r>
            <a:r>
              <a:rPr lang="zh-CN" altLang="en-US" sz="2200" dirty="0">
                <a:latin typeface="Times New Roman" panose="02020603050405020304" pitchFamily="18" charset="0"/>
              </a:rPr>
              <a:t>和</a:t>
            </a:r>
            <a:r>
              <a:rPr lang="en-US" altLang="zh-CN" sz="2200" i="1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</a:rPr>
              <a:t>之间也存在内在联系。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载流子的</a:t>
            </a:r>
            <a:r>
              <a:rPr lang="el-GR" altLang="zh-CN" sz="2200" i="1" dirty="0">
                <a:latin typeface="Times New Roman" panose="02020603050405020304" pitchFamily="18" charset="0"/>
                <a:cs typeface="Arial" panose="020B0604020202020204" pitchFamily="34" charset="0"/>
              </a:rPr>
              <a:t>μ</a:t>
            </a:r>
            <a:r>
              <a:rPr lang="zh-CN" altLang="en-US" sz="2200" dirty="0">
                <a:latin typeface="Times New Roman" panose="02020603050405020304" pitchFamily="18" charset="0"/>
              </a:rPr>
              <a:t>和</a:t>
            </a:r>
            <a:r>
              <a:rPr lang="en-US" altLang="zh-CN" sz="2200" i="1">
                <a:latin typeface="Times New Roman" panose="02020603050405020304" pitchFamily="18" charset="0"/>
              </a:rPr>
              <a:t>D</a:t>
            </a:r>
            <a:r>
              <a:rPr lang="zh-CN" altLang="en-US" sz="2200" dirty="0">
                <a:latin typeface="Times New Roman" panose="02020603050405020304" pitchFamily="18" charset="0"/>
              </a:rPr>
              <a:t>之间有如下的爱因斯坦关系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1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因此由已知的</a:t>
            </a:r>
            <a:r>
              <a:rPr lang="el-GR" altLang="zh-CN" sz="2200" i="1" dirty="0">
                <a:latin typeface="Times New Roman" panose="02020603050405020304" pitchFamily="18" charset="0"/>
                <a:cs typeface="Arial" panose="020B0604020202020204" pitchFamily="34" charset="0"/>
              </a:rPr>
              <a:t>μ</a:t>
            </a:r>
            <a:r>
              <a:rPr lang="en-US" altLang="zh-CN" sz="2200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n</a:t>
            </a:r>
            <a:r>
              <a:rPr lang="zh-CN" altLang="en-US" sz="2200" i="1" dirty="0">
                <a:latin typeface="Times New Roman" panose="02020603050405020304" pitchFamily="18" charset="0"/>
              </a:rPr>
              <a:t>、</a:t>
            </a:r>
            <a:r>
              <a:rPr lang="el-GR" altLang="zh-CN" sz="2200" i="1" dirty="0">
                <a:latin typeface="Times New Roman" panose="02020603050405020304" pitchFamily="18" charset="0"/>
                <a:cs typeface="Arial" panose="020B0604020202020204" pitchFamily="34" charset="0"/>
              </a:rPr>
              <a:t>μ</a:t>
            </a:r>
            <a:r>
              <a:rPr lang="en-US" altLang="zh-CN" sz="2200" i="1" baseline="-25000">
                <a:latin typeface="Times New Roman" panose="02020603050405020304" pitchFamily="18" charset="0"/>
                <a:cs typeface="Arial" panose="020B0604020202020204" pitchFamily="34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</a:rPr>
              <a:t>就可以得到</a:t>
            </a:r>
            <a:r>
              <a:rPr lang="en-US" altLang="zh-CN" sz="2200" i="1" err="1">
                <a:latin typeface="Times New Roman" panose="02020603050405020304" pitchFamily="18" charset="0"/>
              </a:rPr>
              <a:t>D</a:t>
            </a:r>
            <a:r>
              <a:rPr lang="en-US" altLang="zh-CN" sz="2200" i="1" baseline="-25000" err="1">
                <a:latin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Times New Roman" panose="02020603050405020304" pitchFamily="18" charset="0"/>
              </a:rPr>
              <a:t>和</a:t>
            </a:r>
            <a:r>
              <a:rPr lang="en-US" altLang="zh-CN" sz="2200" i="1" err="1">
                <a:latin typeface="Times New Roman" panose="02020603050405020304" pitchFamily="18" charset="0"/>
              </a:rPr>
              <a:t>D</a:t>
            </a:r>
            <a:r>
              <a:rPr lang="en-US" altLang="zh-CN" sz="2200" i="1" baseline="-25000" err="1">
                <a:latin typeface="Times New Roman" panose="02020603050405020304" pitchFamily="18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</a:rPr>
              <a:t>。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pSp>
        <p:nvGrpSpPr>
          <p:cNvPr id="49164" name="组合 49163"/>
          <p:cNvGrpSpPr/>
          <p:nvPr/>
        </p:nvGrpSpPr>
        <p:grpSpPr>
          <a:xfrm>
            <a:off x="1547178" y="404495"/>
            <a:ext cx="5903912" cy="1506538"/>
            <a:chOff x="1247" y="436"/>
            <a:chExt cx="3674" cy="904"/>
          </a:xfrm>
        </p:grpSpPr>
        <p:graphicFrame>
          <p:nvGraphicFramePr>
            <p:cNvPr id="49156" name="对象 49155"/>
            <p:cNvGraphicFramePr/>
            <p:nvPr/>
          </p:nvGraphicFramePr>
          <p:xfrm>
            <a:off x="1247" y="436"/>
            <a:ext cx="3674" cy="4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1" imgW="3175000" imgH="355600" progId="Equation.3">
                    <p:embed/>
                  </p:oleObj>
                </mc:Choice>
                <mc:Fallback>
                  <p:oleObj name="" r:id="rId1" imgW="3175000" imgH="355600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47" y="436"/>
                          <a:ext cx="3674" cy="4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58" name="对象 49157"/>
            <p:cNvGraphicFramePr/>
            <p:nvPr/>
          </p:nvGraphicFramePr>
          <p:xfrm>
            <a:off x="1247" y="935"/>
            <a:ext cx="3629" cy="4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3" imgW="3175000" imgH="355600" progId="Equation.3">
                    <p:embed/>
                  </p:oleObj>
                </mc:Choice>
                <mc:Fallback>
                  <p:oleObj name="" r:id="rId3" imgW="3175000" imgH="355600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247" y="935"/>
                          <a:ext cx="3629" cy="40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165" name="组合 49164"/>
          <p:cNvGrpSpPr/>
          <p:nvPr/>
        </p:nvGrpSpPr>
        <p:grpSpPr>
          <a:xfrm>
            <a:off x="3419475" y="3861118"/>
            <a:ext cx="1944688" cy="1087437"/>
            <a:chOff x="2653" y="2533"/>
            <a:chExt cx="1225" cy="685"/>
          </a:xfrm>
        </p:grpSpPr>
        <p:graphicFrame>
          <p:nvGraphicFramePr>
            <p:cNvPr id="49160" name="对象 49159"/>
            <p:cNvGraphicFramePr/>
            <p:nvPr/>
          </p:nvGraphicFramePr>
          <p:xfrm>
            <a:off x="2653" y="2533"/>
            <a:ext cx="1225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5" imgW="888365" imgH="203200" progId="Equation.3">
                    <p:embed/>
                  </p:oleObj>
                </mc:Choice>
                <mc:Fallback>
                  <p:oleObj name="" r:id="rId5" imgW="888365" imgH="20320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653" y="2533"/>
                          <a:ext cx="1225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9162" name="对象 49161"/>
            <p:cNvGraphicFramePr/>
            <p:nvPr/>
          </p:nvGraphicFramePr>
          <p:xfrm>
            <a:off x="2654" y="2920"/>
            <a:ext cx="1224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7" imgW="913765" imgH="215900" progId="Equation.3">
                    <p:embed/>
                  </p:oleObj>
                </mc:Choice>
                <mc:Fallback>
                  <p:oleObj name="" r:id="rId7" imgW="913765" imgH="215900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654" y="2920"/>
                          <a:ext cx="1224" cy="2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9" name="文本占位符 50178"/>
          <p:cNvSpPr>
            <a:spLocks noGrp="1"/>
          </p:cNvSpPr>
          <p:nvPr/>
        </p:nvSpPr>
        <p:spPr>
          <a:xfrm>
            <a:off x="395605" y="332740"/>
            <a:ext cx="8229600" cy="5473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8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       </a:t>
            </a:r>
            <a:r>
              <a:rPr lang="zh-CN" altLang="en-US" sz="2200" dirty="0">
                <a:latin typeface="Times New Roman" panose="02020603050405020304" pitchFamily="18" charset="0"/>
              </a:rPr>
              <a:t>非均匀掺杂半导体同时存在扩散运动和漂移运动时，利用爱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8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因斯坦关系，可将电子和空穴的</a:t>
            </a:r>
            <a:r>
              <a:rPr lang="zh-CN" altLang="en-US" sz="2200" dirty="0"/>
              <a:t>电流密度</a:t>
            </a:r>
            <a:r>
              <a:rPr lang="zh-CN" altLang="en-US" sz="2200" dirty="0">
                <a:latin typeface="Times New Roman" panose="02020603050405020304" pitchFamily="18" charset="0"/>
              </a:rPr>
              <a:t>改写为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8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8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80000"/>
              </a:lnSpc>
              <a:buNone/>
            </a:pPr>
            <a:endParaRPr lang="zh-CN" altLang="en-US" sz="2200" dirty="0"/>
          </a:p>
          <a:p>
            <a:pPr>
              <a:lnSpc>
                <a:spcPct val="220000"/>
              </a:lnSpc>
              <a:buNone/>
            </a:pPr>
            <a:r>
              <a:rPr lang="zh-CN" altLang="en-US" sz="2200" dirty="0"/>
              <a:t>半导体中的总电流密度为</a:t>
            </a:r>
            <a:endParaRPr lang="zh-CN" altLang="en-US" sz="2200" dirty="0"/>
          </a:p>
          <a:p>
            <a:pPr>
              <a:lnSpc>
                <a:spcPct val="18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80000"/>
              </a:lnSpc>
            </a:pPr>
            <a:endParaRPr lang="zh-CN" altLang="en-US" sz="2200" dirty="0"/>
          </a:p>
        </p:txBody>
      </p:sp>
      <p:grpSp>
        <p:nvGrpSpPr>
          <p:cNvPr id="50186" name="组合 50185"/>
          <p:cNvGrpSpPr/>
          <p:nvPr/>
        </p:nvGrpSpPr>
        <p:grpSpPr>
          <a:xfrm>
            <a:off x="1115378" y="1701165"/>
            <a:ext cx="6913562" cy="1797050"/>
            <a:chOff x="1020" y="1338"/>
            <a:chExt cx="4355" cy="1132"/>
          </a:xfrm>
        </p:grpSpPr>
        <p:graphicFrame>
          <p:nvGraphicFramePr>
            <p:cNvPr id="50180" name="对象 50179"/>
            <p:cNvGraphicFramePr/>
            <p:nvPr/>
          </p:nvGraphicFramePr>
          <p:xfrm>
            <a:off x="1020" y="1338"/>
            <a:ext cx="4355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" imgW="3225800" imgH="393700" progId="Equation.3">
                    <p:embed/>
                  </p:oleObj>
                </mc:Choice>
                <mc:Fallback>
                  <p:oleObj name="" r:id="rId1" imgW="3225800" imgH="3937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20" y="1338"/>
                          <a:ext cx="4355" cy="5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182" name="对象 50181"/>
            <p:cNvGraphicFramePr/>
            <p:nvPr/>
          </p:nvGraphicFramePr>
          <p:xfrm>
            <a:off x="1021" y="1979"/>
            <a:ext cx="4354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3" imgW="3238500" imgH="393700" progId="Equation.3">
                    <p:embed/>
                  </p:oleObj>
                </mc:Choice>
                <mc:Fallback>
                  <p:oleObj name="" r:id="rId3" imgW="3238500" imgH="3937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021" y="1979"/>
                          <a:ext cx="4354" cy="49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184" name="对象 50183"/>
          <p:cNvGraphicFramePr/>
          <p:nvPr/>
        </p:nvGraphicFramePr>
        <p:xfrm>
          <a:off x="1584643" y="4725035"/>
          <a:ext cx="5976937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5" imgW="2921000" imgH="393700" progId="Equation.3">
                  <p:embed/>
                </p:oleObj>
              </mc:Choice>
              <mc:Fallback>
                <p:oleObj name="" r:id="rId5" imgW="2921000" imgH="3937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4643" y="4725035"/>
                        <a:ext cx="5976937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806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3141663"/>
            <a:ext cx="3048000" cy="6000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6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663" y="3213100"/>
            <a:ext cx="1538287" cy="6826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806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988" y="4076700"/>
            <a:ext cx="3962400" cy="82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8069" name="Text Box 6"/>
          <p:cNvSpPr txBox="1"/>
          <p:nvPr/>
        </p:nvSpPr>
        <p:spPr>
          <a:xfrm>
            <a:off x="539750" y="692150"/>
            <a:ext cx="7056438" cy="155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zh-CN" sz="2400" b="1" dirty="0"/>
              <a:t>    </a:t>
            </a:r>
            <a:r>
              <a:rPr lang="zh-CN" altLang="en-US" sz="2400" b="1" dirty="0"/>
              <a:t>上述爱因斯坦关系式表明，非简并情况下，载流子迁移率和扩散系数之间的关系。虽然是从平衡载流子推导出来，但实验证明，这个关系式可直接用于</a:t>
            </a:r>
            <a:r>
              <a:rPr lang="zh-CN" altLang="en-US" sz="2400" b="1" dirty="0">
                <a:solidFill>
                  <a:srgbClr val="0000FF"/>
                </a:solidFill>
              </a:rPr>
              <a:t>非平衡载流子</a:t>
            </a:r>
            <a:r>
              <a:rPr lang="zh-CN" altLang="en-US" sz="2400" b="1" dirty="0"/>
              <a:t>。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3" name="文本占位符 51202"/>
          <p:cNvSpPr>
            <a:spLocks noGrp="1"/>
          </p:cNvSpPr>
          <p:nvPr/>
        </p:nvSpPr>
        <p:spPr>
          <a:xfrm>
            <a:off x="251460" y="1124268"/>
            <a:ext cx="8229600" cy="540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       </a:t>
            </a:r>
            <a:r>
              <a:rPr lang="zh-CN" altLang="en-US" sz="2200" dirty="0">
                <a:latin typeface="Times New Roman" panose="02020603050405020304" pitchFamily="18" charset="0"/>
              </a:rPr>
              <a:t>以一维</a:t>
            </a:r>
            <a:r>
              <a:rPr lang="en-US" altLang="zh-CN" sz="2200">
                <a:latin typeface="Times New Roman" panose="02020603050405020304" pitchFamily="18" charset="0"/>
              </a:rPr>
              <a:t>n</a:t>
            </a:r>
            <a:r>
              <a:rPr lang="zh-CN" altLang="en-US" sz="2200" dirty="0">
                <a:latin typeface="Times New Roman" panose="02020603050405020304" pitchFamily="18" charset="0"/>
              </a:rPr>
              <a:t>型半导体为例，更普遍的情况是载流子浓度既与位置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200" i="1">
                <a:latin typeface="Times New Roman" panose="02020603050405020304" pitchFamily="18" charset="0"/>
              </a:rPr>
              <a:t>x</a:t>
            </a:r>
            <a:r>
              <a:rPr lang="zh-CN" altLang="en-US" sz="2200" dirty="0">
                <a:latin typeface="Times New Roman" panose="02020603050405020304" pitchFamily="18" charset="0"/>
              </a:rPr>
              <a:t>有关，又与时间</a:t>
            </a:r>
            <a:r>
              <a:rPr lang="en-US" altLang="zh-CN" sz="2200">
                <a:latin typeface="Times New Roman" panose="02020603050405020304" pitchFamily="18" charset="0"/>
              </a:rPr>
              <a:t>t</a:t>
            </a:r>
            <a:r>
              <a:rPr lang="zh-CN" altLang="en-US" sz="2200" dirty="0">
                <a:latin typeface="Times New Roman" panose="02020603050405020304" pitchFamily="18" charset="0"/>
              </a:rPr>
              <a:t>有关，那么少子空穴的扩散流密度</a:t>
            </a:r>
            <a:r>
              <a:rPr lang="en-US" altLang="zh-CN" sz="2200" i="1">
                <a:latin typeface="Times New Roman" panose="02020603050405020304" pitchFamily="18" charset="0"/>
              </a:rPr>
              <a:t>S</a:t>
            </a:r>
            <a:r>
              <a:rPr lang="en-US" altLang="zh-CN" sz="2200" i="1" baseline="-25000">
                <a:latin typeface="Times New Roman" panose="02020603050405020304" pitchFamily="18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</a:rPr>
              <a:t>和扩散电流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密度</a:t>
            </a:r>
            <a:r>
              <a:rPr lang="en-US" altLang="zh-CN" sz="2200" i="1">
                <a:latin typeface="Times New Roman" panose="02020603050405020304" pitchFamily="18" charset="0"/>
              </a:rPr>
              <a:t>(</a:t>
            </a:r>
            <a:r>
              <a:rPr lang="en-US" altLang="zh-CN" sz="2200" i="1" err="1">
                <a:latin typeface="Times New Roman" panose="02020603050405020304" pitchFamily="18" charset="0"/>
              </a:rPr>
              <a:t>J</a:t>
            </a:r>
            <a:r>
              <a:rPr lang="en-US" altLang="zh-CN" sz="2200" i="1" baseline="-25000" err="1">
                <a:latin typeface="Times New Roman" panose="02020603050405020304" pitchFamily="18" charset="0"/>
              </a:rPr>
              <a:t>p</a:t>
            </a:r>
            <a:r>
              <a:rPr lang="en-US" altLang="zh-CN" sz="2200" i="1" err="1">
                <a:latin typeface="Times New Roman" panose="02020603050405020304" pitchFamily="18" charset="0"/>
              </a:rPr>
              <a:t>)</a:t>
            </a:r>
            <a:r>
              <a:rPr lang="en-US" altLang="zh-CN" sz="2200" i="1" baseline="-25000" err="1">
                <a:latin typeface="Times New Roman" panose="02020603050405020304" pitchFamily="18" charset="0"/>
              </a:rPr>
              <a:t>Dif</a:t>
            </a:r>
            <a:r>
              <a:rPr lang="zh-CN" altLang="en-US" sz="2200" dirty="0">
                <a:latin typeface="Times New Roman" panose="02020603050405020304" pitchFamily="18" charset="0"/>
              </a:rPr>
              <a:t>分别为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单位时间单位体积中因扩散积累的空穴数为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2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单位时间单位体积中因漂移积累的空穴数为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51202" name="标题 51201"/>
          <p:cNvSpPr>
            <a:spLocks noGrp="1"/>
          </p:cNvSpPr>
          <p:nvPr/>
        </p:nvSpPr>
        <p:spPr>
          <a:xfrm>
            <a:off x="539750" y="188595"/>
            <a:ext cx="8229600" cy="8112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3600" b="1">
                <a:solidFill>
                  <a:srgbClr val="0000FF"/>
                </a:solidFill>
                <a:latin typeface="Times New Roman" panose="02020603050405020304" pitchFamily="18" charset="0"/>
              </a:rPr>
              <a:t>4.5  </a:t>
            </a:r>
            <a:r>
              <a:rPr lang="zh-CN" altLang="en-US" sz="36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连续性方程</a:t>
            </a:r>
            <a:endParaRPr lang="zh-CN" altLang="en-US" sz="36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1212" name="组合 51211"/>
          <p:cNvGrpSpPr/>
          <p:nvPr/>
        </p:nvGrpSpPr>
        <p:grpSpPr>
          <a:xfrm>
            <a:off x="3274695" y="2348865"/>
            <a:ext cx="2016125" cy="1295400"/>
            <a:chOff x="1973" y="1616"/>
            <a:chExt cx="1270" cy="816"/>
          </a:xfrm>
        </p:grpSpPr>
        <p:graphicFrame>
          <p:nvGraphicFramePr>
            <p:cNvPr id="51204" name="对象 51203"/>
            <p:cNvGraphicFramePr/>
            <p:nvPr/>
          </p:nvGraphicFramePr>
          <p:xfrm>
            <a:off x="2064" y="1616"/>
            <a:ext cx="862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8" name="" r:id="rId1" imgW="799465" imgH="330200" progId="Equation.3">
                    <p:embed/>
                  </p:oleObj>
                </mc:Choice>
                <mc:Fallback>
                  <p:oleObj name="" r:id="rId1" imgW="799465" imgH="330200" progId="Equation.3">
                    <p:embed/>
                    <p:pic>
                      <p:nvPicPr>
                        <p:cNvPr id="0" name="图片 313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64" y="1616"/>
                          <a:ext cx="862" cy="35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06" name="对象 51205"/>
            <p:cNvGraphicFramePr/>
            <p:nvPr/>
          </p:nvGraphicFramePr>
          <p:xfrm>
            <a:off x="1973" y="1999"/>
            <a:ext cx="1270" cy="4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3" imgW="1040765" imgH="355600" progId="Equation.3">
                    <p:embed/>
                  </p:oleObj>
                </mc:Choice>
                <mc:Fallback>
                  <p:oleObj name="" r:id="rId3" imgW="1040765" imgH="3556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73" y="1999"/>
                          <a:ext cx="1270" cy="43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1208" name="对象 51207"/>
          <p:cNvGraphicFramePr/>
          <p:nvPr/>
        </p:nvGraphicFramePr>
        <p:xfrm>
          <a:off x="3142298" y="4221480"/>
          <a:ext cx="244792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5" imgW="1282700" imgH="419100" progId="Equation.3">
                  <p:embed/>
                </p:oleObj>
              </mc:Choice>
              <mc:Fallback>
                <p:oleObj name="" r:id="rId5" imgW="1282700" imgH="4191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42298" y="4221480"/>
                        <a:ext cx="2447925" cy="822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10" name="对象 51209"/>
          <p:cNvGraphicFramePr/>
          <p:nvPr/>
        </p:nvGraphicFramePr>
        <p:xfrm>
          <a:off x="2483168" y="5661660"/>
          <a:ext cx="381635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2" name="" r:id="rId7" imgW="1866265" imgH="444500" progId="Equation.3">
                  <p:embed/>
                </p:oleObj>
              </mc:Choice>
              <mc:Fallback>
                <p:oleObj name="" r:id="rId7" imgW="1866265" imgH="444500" progId="Equation.3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83168" y="5661660"/>
                        <a:ext cx="3816350" cy="841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7" name="文本占位符 52226"/>
          <p:cNvSpPr>
            <a:spLocks noGrp="1"/>
          </p:cNvSpPr>
          <p:nvPr/>
        </p:nvSpPr>
        <p:spPr>
          <a:xfrm>
            <a:off x="122555" y="404178"/>
            <a:ext cx="8229600" cy="5976937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Tx/>
              <a:buFont typeface="Wingdings" panose="05000000000000000000" pitchFamily="2" charset="2"/>
              <a:buChar char="§"/>
              <a:defRPr sz="2000" b="0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      </a:t>
            </a:r>
            <a:r>
              <a:rPr lang="zh-CN" altLang="en-US" sz="2200" dirty="0">
                <a:latin typeface="Times New Roman" panose="02020603050405020304" pitchFamily="18" charset="0"/>
              </a:rPr>
              <a:t>小注入条件下，单位体积中复合消失的空穴数是</a:t>
            </a:r>
            <a:r>
              <a:rPr lang="el-GR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altLang="zh-CN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p/</a:t>
            </a:r>
            <a:r>
              <a:rPr lang="el-GR" altLang="zh-C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altLang="zh-CN" sz="22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dirty="0">
                <a:latin typeface="Times New Roman" panose="02020603050405020304" pitchFamily="18" charset="0"/>
              </a:rPr>
              <a:t>，用</a:t>
            </a:r>
            <a:r>
              <a:rPr lang="en-US" altLang="zh-CN" sz="2200" i="1" err="1">
                <a:latin typeface="Times New Roman" panose="02020603050405020304" pitchFamily="18" charset="0"/>
              </a:rPr>
              <a:t>g</a:t>
            </a:r>
            <a:r>
              <a:rPr lang="en-US" altLang="zh-CN" sz="2200" i="1" baseline="-25000" err="1">
                <a:latin typeface="Times New Roman" panose="02020603050405020304" pitchFamily="18" charset="0"/>
              </a:rPr>
              <a:t>p</a:t>
            </a:r>
            <a:endParaRPr lang="en-US" altLang="zh-CN" sz="2200" i="1" baseline="-2500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表示生产率，则可列出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上式称为空穴的连续性方程。它反映了漂移和扩散运动同时存在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时少子空穴遵守的运动方程，类似可得电子的连续性方程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200000"/>
              </a:lnSpc>
              <a:buNone/>
            </a:pP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90000"/>
              </a:lnSpc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三维情况下电子和空穴的连续性方程分别是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52228" name="对象 52227"/>
          <p:cNvGraphicFramePr/>
          <p:nvPr/>
        </p:nvGraphicFramePr>
        <p:xfrm>
          <a:off x="467043" y="1628775"/>
          <a:ext cx="752475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1" imgW="3416300" imgH="444500" progId="Equation.3">
                  <p:embed/>
                </p:oleObj>
              </mc:Choice>
              <mc:Fallback>
                <p:oleObj name="" r:id="rId1" imgW="3416300" imgH="4445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7043" y="1628775"/>
                        <a:ext cx="7524750" cy="88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0" name="对象 52229"/>
          <p:cNvGraphicFramePr/>
          <p:nvPr/>
        </p:nvGraphicFramePr>
        <p:xfrm>
          <a:off x="1331913" y="3659188"/>
          <a:ext cx="6732587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3340100" imgH="444500" progId="Equation.3">
                  <p:embed/>
                </p:oleObj>
              </mc:Choice>
              <mc:Fallback>
                <p:oleObj name="" r:id="rId3" imgW="3340100" imgH="4445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31913" y="3659188"/>
                        <a:ext cx="6732587" cy="8493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2236" name="组合 52235"/>
          <p:cNvGrpSpPr/>
          <p:nvPr/>
        </p:nvGrpSpPr>
        <p:grpSpPr>
          <a:xfrm>
            <a:off x="1908175" y="5013325"/>
            <a:ext cx="5329238" cy="1630363"/>
            <a:chOff x="1338" y="3091"/>
            <a:chExt cx="3357" cy="1027"/>
          </a:xfrm>
        </p:grpSpPr>
        <p:graphicFrame>
          <p:nvGraphicFramePr>
            <p:cNvPr id="52232" name="对象 52231"/>
            <p:cNvGraphicFramePr/>
            <p:nvPr/>
          </p:nvGraphicFramePr>
          <p:xfrm>
            <a:off x="1383" y="3091"/>
            <a:ext cx="3266" cy="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3" name="" r:id="rId5" imgW="2476500" imgH="381000" progId="Equation.3">
                    <p:embed/>
                  </p:oleObj>
                </mc:Choice>
                <mc:Fallback>
                  <p:oleObj name="" r:id="rId5" imgW="2476500" imgH="381000" progId="Equation.3">
                    <p:embed/>
                    <p:pic>
                      <p:nvPicPr>
                        <p:cNvPr id="0" name="图片 3142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383" y="3091"/>
                          <a:ext cx="3266" cy="47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234" name="对象 52233"/>
            <p:cNvGraphicFramePr/>
            <p:nvPr/>
          </p:nvGraphicFramePr>
          <p:xfrm>
            <a:off x="1338" y="3612"/>
            <a:ext cx="3357" cy="5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8" name="" r:id="rId7" imgW="2590800" imgH="393700" progId="Equation.3">
                    <p:embed/>
                  </p:oleObj>
                </mc:Choice>
                <mc:Fallback>
                  <p:oleObj name="" r:id="rId7" imgW="2590800" imgH="393700" progId="Equation.3">
                    <p:embed/>
                    <p:pic>
                      <p:nvPicPr>
                        <p:cNvPr id="0" name="图片 3147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338" y="3612"/>
                          <a:ext cx="3357" cy="50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2402" name="Object 2"/>
          <p:cNvGraphicFramePr>
            <a:graphicFrameLocks noChangeAspect="1"/>
          </p:cNvGraphicFramePr>
          <p:nvPr/>
        </p:nvGraphicFramePr>
        <p:xfrm>
          <a:off x="952500" y="457200"/>
          <a:ext cx="8191500" cy="588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6781800" imgH="4867275" progId="Paint.Picture">
                  <p:embed/>
                </p:oleObj>
              </mc:Choice>
              <mc:Fallback>
                <p:oleObj name="" r:id="rId1" imgW="6781800" imgH="4867275" progId="Paint.Picture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52500" y="457200"/>
                        <a:ext cx="8191500" cy="58801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rayons">
  <a:themeElements>
    <a:clrScheme name="Crayons 1">
      <a:dk1>
        <a:srgbClr val="000000"/>
      </a:dk1>
      <a:lt1>
        <a:srgbClr val="FFFFFF"/>
      </a:lt1>
      <a:dk2>
        <a:srgbClr val="FF0000"/>
      </a:dk2>
      <a:lt2>
        <a:srgbClr val="FFB800"/>
      </a:lt2>
      <a:accent1>
        <a:srgbClr val="FFEF66"/>
      </a:accent1>
      <a:accent2>
        <a:srgbClr val="000000"/>
      </a:accent2>
      <a:accent3>
        <a:srgbClr val="FFFFFF"/>
      </a:accent3>
      <a:accent4>
        <a:srgbClr val="000000"/>
      </a:accent4>
      <a:accent5>
        <a:srgbClr val="FFF6B8"/>
      </a:accent5>
      <a:accent6>
        <a:srgbClr val="000000"/>
      </a:accent6>
      <a:hlink>
        <a:srgbClr val="00B200"/>
      </a:hlink>
      <a:folHlink>
        <a:srgbClr val="703DFF"/>
      </a:folHlink>
    </a:clrScheme>
    <a:fontScheme name="Crayons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Crayons 1">
        <a:dk1>
          <a:srgbClr val="000000"/>
        </a:dk1>
        <a:lt1>
          <a:srgbClr val="FFFFFF"/>
        </a:lt1>
        <a:dk2>
          <a:srgbClr val="FF0000"/>
        </a:dk2>
        <a:lt2>
          <a:srgbClr val="FFB800"/>
        </a:lt2>
        <a:accent1>
          <a:srgbClr val="FFEF66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FFF6B8"/>
        </a:accent5>
        <a:accent6>
          <a:srgbClr val="000000"/>
        </a:accent6>
        <a:hlink>
          <a:srgbClr val="00B200"/>
        </a:hlink>
        <a:folHlink>
          <a:srgbClr val="703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2">
        <a:dk1>
          <a:srgbClr val="000000"/>
        </a:dk1>
        <a:lt1>
          <a:srgbClr val="FFFFFF"/>
        </a:lt1>
        <a:dk2>
          <a:srgbClr val="000000"/>
        </a:dk2>
        <a:lt2>
          <a:srgbClr val="99CCFF"/>
        </a:lt2>
        <a:accent1>
          <a:srgbClr val="CCCCFF"/>
        </a:accent1>
        <a:accent2>
          <a:srgbClr val="000066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00005C"/>
        </a:accent6>
        <a:hlink>
          <a:srgbClr val="00B200"/>
        </a:hlink>
        <a:folHlink>
          <a:srgbClr val="CCFF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3">
        <a:dk1>
          <a:srgbClr val="000000"/>
        </a:dk1>
        <a:lt1>
          <a:srgbClr val="FFFFFF"/>
        </a:lt1>
        <a:dk2>
          <a:srgbClr val="000000"/>
        </a:dk2>
        <a:lt2>
          <a:srgbClr val="3399FF"/>
        </a:lt2>
        <a:accent1>
          <a:srgbClr val="CCECFF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007373"/>
        </a:accent6>
        <a:hlink>
          <a:srgbClr val="009999"/>
        </a:hlink>
        <a:folHlink>
          <a:srgbClr val="3366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yons 4">
        <a:dk1>
          <a:srgbClr val="808000"/>
        </a:dk1>
        <a:lt1>
          <a:srgbClr val="FFFFFF"/>
        </a:lt1>
        <a:dk2>
          <a:srgbClr val="336600"/>
        </a:dk2>
        <a:lt2>
          <a:srgbClr val="FFFFFF"/>
        </a:lt2>
        <a:accent1>
          <a:srgbClr val="99CC00"/>
        </a:accent1>
        <a:accent2>
          <a:srgbClr val="003300"/>
        </a:accent2>
        <a:accent3>
          <a:srgbClr val="ADB8AA"/>
        </a:accent3>
        <a:accent4>
          <a:srgbClr val="DADADA"/>
        </a:accent4>
        <a:accent5>
          <a:srgbClr val="CAE2AA"/>
        </a:accent5>
        <a:accent6>
          <a:srgbClr val="002D00"/>
        </a:accent6>
        <a:hlink>
          <a:srgbClr val="CCCC00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5">
        <a:dk1>
          <a:srgbClr val="808080"/>
        </a:dk1>
        <a:lt1>
          <a:srgbClr val="FFFFFF"/>
        </a:lt1>
        <a:dk2>
          <a:srgbClr val="003366"/>
        </a:dk2>
        <a:lt2>
          <a:srgbClr val="CCECFF"/>
        </a:lt2>
        <a:accent1>
          <a:srgbClr val="33CCCC"/>
        </a:accent1>
        <a:accent2>
          <a:srgbClr val="006699"/>
        </a:accent2>
        <a:accent3>
          <a:srgbClr val="AAADB8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00FFFF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6">
        <a:dk1>
          <a:srgbClr val="6666FF"/>
        </a:dk1>
        <a:lt1>
          <a:srgbClr val="FFFFFF"/>
        </a:lt1>
        <a:dk2>
          <a:srgbClr val="000066"/>
        </a:dk2>
        <a:lt2>
          <a:srgbClr val="FFFFFF"/>
        </a:lt2>
        <a:accent1>
          <a:srgbClr val="33CCFF"/>
        </a:accent1>
        <a:accent2>
          <a:srgbClr val="0000FF"/>
        </a:accent2>
        <a:accent3>
          <a:srgbClr val="AAAAB8"/>
        </a:accent3>
        <a:accent4>
          <a:srgbClr val="DADADA"/>
        </a:accent4>
        <a:accent5>
          <a:srgbClr val="ADE2FF"/>
        </a:accent5>
        <a:accent6>
          <a:srgbClr val="0000E7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7">
        <a:dk1>
          <a:srgbClr val="000000"/>
        </a:dk1>
        <a:lt1>
          <a:srgbClr val="FFFFFF"/>
        </a:lt1>
        <a:dk2>
          <a:srgbClr val="800080"/>
        </a:dk2>
        <a:lt2>
          <a:srgbClr val="FFFFFF"/>
        </a:lt2>
        <a:accent1>
          <a:srgbClr val="CC66FF"/>
        </a:accent1>
        <a:accent2>
          <a:srgbClr val="990099"/>
        </a:accent2>
        <a:accent3>
          <a:srgbClr val="C0AAC0"/>
        </a:accent3>
        <a:accent4>
          <a:srgbClr val="DADADA"/>
        </a:accent4>
        <a:accent5>
          <a:srgbClr val="E2B8FF"/>
        </a:accent5>
        <a:accent6>
          <a:srgbClr val="8A008A"/>
        </a:accent6>
        <a:hlink>
          <a:srgbClr val="FF99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yons 8">
        <a:dk1>
          <a:srgbClr val="FF3300"/>
        </a:dk1>
        <a:lt1>
          <a:srgbClr val="FFFFFF"/>
        </a:lt1>
        <a:dk2>
          <a:srgbClr val="800000"/>
        </a:dk2>
        <a:lt2>
          <a:srgbClr val="FFFFCC"/>
        </a:lt2>
        <a:accent1>
          <a:srgbClr val="FF7C80"/>
        </a:accent1>
        <a:accent2>
          <a:srgbClr val="990000"/>
        </a:accent2>
        <a:accent3>
          <a:srgbClr val="C0AAAA"/>
        </a:accent3>
        <a:accent4>
          <a:srgbClr val="DADADA"/>
        </a:accent4>
        <a:accent5>
          <a:srgbClr val="FFBFC0"/>
        </a:accent5>
        <a:accent6>
          <a:srgbClr val="8A0000"/>
        </a:accent6>
        <a:hlink>
          <a:srgbClr val="FF66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Crayons</Template>
  <TotalTime>0</TotalTime>
  <Words>5511</Words>
  <Application>WPS 演示</Application>
  <PresentationFormat>全屏显示(4:3)</PresentationFormat>
  <Paragraphs>448</Paragraphs>
  <Slides>85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58</vt:i4>
      </vt:variant>
      <vt:variant>
        <vt:lpstr>幻灯片标题</vt:lpstr>
      </vt:variant>
      <vt:variant>
        <vt:i4>85</vt:i4>
      </vt:variant>
    </vt:vector>
  </HeadingPairs>
  <TitlesOfParts>
    <vt:vector size="154" baseType="lpstr">
      <vt:lpstr>Arial</vt:lpstr>
      <vt:lpstr>宋体</vt:lpstr>
      <vt:lpstr>Wingdings</vt:lpstr>
      <vt:lpstr>Comic Sans MS</vt:lpstr>
      <vt:lpstr>Times New Roman</vt:lpstr>
      <vt:lpstr>Symbol</vt:lpstr>
      <vt:lpstr>微软雅黑</vt:lpstr>
      <vt:lpstr>Arial Unicode MS</vt:lpstr>
      <vt:lpstr>Calibri</vt:lpstr>
      <vt:lpstr>华文新魏</vt:lpstr>
      <vt:lpstr>Crayons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Paint.Picture</vt:lpstr>
      <vt:lpstr>Equation.3</vt:lpstr>
      <vt:lpstr>Equation.3</vt:lpstr>
      <vt:lpstr>Equation.3</vt:lpstr>
      <vt:lpstr>Equation.3</vt:lpstr>
      <vt:lpstr>Equation.3</vt:lpstr>
      <vt:lpstr>Paint.Picture</vt:lpstr>
      <vt:lpstr>Paint.Picture</vt:lpstr>
      <vt:lpstr>Paint.Picture</vt:lpstr>
      <vt:lpstr>Paint.Picture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Paint.Picture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5.1非平衡载流子的注入与复合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陕西瑞力科技实业有限责任公司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半导体物理 SEMICONDUCTOR PHYSICS</dc:title>
  <dc:creator>MC SYSTEM</dc:creator>
  <cp:lastModifiedBy>Admin</cp:lastModifiedBy>
  <cp:revision>126</cp:revision>
  <dcterms:created xsi:type="dcterms:W3CDTF">2006-04-27T02:23:00Z</dcterms:created>
  <dcterms:modified xsi:type="dcterms:W3CDTF">2021-11-18T08:16:56Z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E7BE8A5AEF5C41699FA93F12478DF29C</vt:lpwstr>
  </property>
  <property fmtid="{D5CDD505-2E9C-101B-9397-08002B2CF9AE}" pid="3" name="KSOProductBuildVer">
    <vt:lpwstr>2052-11.1.0.11045</vt:lpwstr>
  </property>
</Properties>
</file>