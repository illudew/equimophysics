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0"/>
  </p:notesMasterIdLst>
  <p:sldIdLst>
    <p:sldId id="315" r:id="rId2"/>
    <p:sldId id="261" r:id="rId3"/>
    <p:sldId id="311" r:id="rId4"/>
    <p:sldId id="312" r:id="rId5"/>
    <p:sldId id="262" r:id="rId6"/>
    <p:sldId id="284" r:id="rId7"/>
    <p:sldId id="309" r:id="rId8"/>
    <p:sldId id="310" r:id="rId9"/>
    <p:sldId id="283" r:id="rId10"/>
    <p:sldId id="264" r:id="rId11"/>
    <p:sldId id="285" r:id="rId12"/>
    <p:sldId id="286" r:id="rId13"/>
    <p:sldId id="287" r:id="rId14"/>
    <p:sldId id="288" r:id="rId15"/>
    <p:sldId id="289" r:id="rId16"/>
    <p:sldId id="291" r:id="rId17"/>
    <p:sldId id="292" r:id="rId18"/>
    <p:sldId id="290" r:id="rId19"/>
    <p:sldId id="293" r:id="rId20"/>
    <p:sldId id="313" r:id="rId21"/>
    <p:sldId id="294" r:id="rId22"/>
    <p:sldId id="281" r:id="rId23"/>
    <p:sldId id="317" r:id="rId24"/>
    <p:sldId id="295" r:id="rId25"/>
    <p:sldId id="296" r:id="rId26"/>
    <p:sldId id="297" r:id="rId27"/>
    <p:sldId id="320" r:id="rId28"/>
    <p:sldId id="298" r:id="rId29"/>
    <p:sldId id="282" r:id="rId30"/>
    <p:sldId id="299" r:id="rId31"/>
    <p:sldId id="318" r:id="rId32"/>
    <p:sldId id="316" r:id="rId33"/>
    <p:sldId id="300" r:id="rId34"/>
    <p:sldId id="265" r:id="rId35"/>
    <p:sldId id="266" r:id="rId36"/>
    <p:sldId id="267" r:id="rId37"/>
    <p:sldId id="268" r:id="rId38"/>
    <p:sldId id="269" r:id="rId39"/>
    <p:sldId id="270" r:id="rId40"/>
    <p:sldId id="271" r:id="rId41"/>
    <p:sldId id="274" r:id="rId42"/>
    <p:sldId id="301" r:id="rId43"/>
    <p:sldId id="302" r:id="rId44"/>
    <p:sldId id="275" r:id="rId45"/>
    <p:sldId id="303" r:id="rId46"/>
    <p:sldId id="319" r:id="rId47"/>
    <p:sldId id="304" r:id="rId48"/>
    <p:sldId id="272" r:id="rId49"/>
    <p:sldId id="349" r:id="rId50"/>
    <p:sldId id="277" r:id="rId51"/>
    <p:sldId id="278" r:id="rId52"/>
    <p:sldId id="350" r:id="rId53"/>
    <p:sldId id="273" r:id="rId54"/>
    <p:sldId id="279" r:id="rId55"/>
    <p:sldId id="345" r:id="rId56"/>
    <p:sldId id="346" r:id="rId57"/>
    <p:sldId id="348" r:id="rId58"/>
    <p:sldId id="280" r:id="rId59"/>
    <p:sldId id="314" r:id="rId60"/>
    <p:sldId id="305" r:id="rId61"/>
    <p:sldId id="306" r:id="rId62"/>
    <p:sldId id="307" r:id="rId63"/>
    <p:sldId id="324" r:id="rId64"/>
    <p:sldId id="321" r:id="rId65"/>
    <p:sldId id="263" r:id="rId66"/>
    <p:sldId id="322" r:id="rId67"/>
    <p:sldId id="323" r:id="rId68"/>
    <p:sldId id="326" r:id="rId69"/>
    <p:sldId id="351" r:id="rId70"/>
    <p:sldId id="325" r:id="rId71"/>
    <p:sldId id="327" r:id="rId72"/>
    <p:sldId id="328" r:id="rId73"/>
    <p:sldId id="329" r:id="rId74"/>
    <p:sldId id="330" r:id="rId75"/>
    <p:sldId id="331" r:id="rId76"/>
    <p:sldId id="352" r:id="rId77"/>
    <p:sldId id="332" r:id="rId78"/>
    <p:sldId id="333" r:id="rId79"/>
    <p:sldId id="334" r:id="rId80"/>
    <p:sldId id="276" r:id="rId81"/>
    <p:sldId id="335" r:id="rId82"/>
    <p:sldId id="336" r:id="rId83"/>
    <p:sldId id="337" r:id="rId84"/>
    <p:sldId id="308" r:id="rId85"/>
    <p:sldId id="338" r:id="rId86"/>
    <p:sldId id="339" r:id="rId87"/>
    <p:sldId id="340" r:id="rId88"/>
    <p:sldId id="341" r:id="rId89"/>
    <p:sldId id="342" r:id="rId90"/>
    <p:sldId id="343" r:id="rId91"/>
    <p:sldId id="344" r:id="rId92"/>
    <p:sldId id="353" r:id="rId93"/>
    <p:sldId id="354" r:id="rId94"/>
    <p:sldId id="355" r:id="rId95"/>
    <p:sldId id="356" r:id="rId96"/>
    <p:sldId id="376" r:id="rId97"/>
    <p:sldId id="375" r:id="rId98"/>
    <p:sldId id="379"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7" r:id="rId118"/>
    <p:sldId id="378" r:id="rId119"/>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19"/>
    <p:restoredTop sz="94737"/>
  </p:normalViewPr>
  <p:slideViewPr>
    <p:cSldViewPr snapToGrid="0" snapToObjects="1">
      <p:cViewPr varScale="1">
        <p:scale>
          <a:sx n="166" d="100"/>
          <a:sy n="166" d="100"/>
        </p:scale>
        <p:origin x="200"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F065B2-E07A-5849-9D36-F24A1B98775F}" type="datetimeFigureOut">
              <a:rPr lang="en-CN" smtClean="0"/>
              <a:t>2023/3/13</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0FE8DC-3310-3547-AB8C-071C25AC9E0A}" type="slidenum">
              <a:rPr lang="en-CN" smtClean="0"/>
              <a:t>‹#›</a:t>
            </a:fld>
            <a:endParaRPr lang="en-CN"/>
          </a:p>
        </p:txBody>
      </p:sp>
    </p:spTree>
    <p:extLst>
      <p:ext uri="{BB962C8B-B14F-4D97-AF65-F5344CB8AC3E}">
        <p14:creationId xmlns:p14="http://schemas.microsoft.com/office/powerpoint/2010/main" val="358262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90FE8DC-3310-3547-AB8C-071C25AC9E0A}" type="slidenum">
              <a:rPr lang="en-CN" smtClean="0"/>
              <a:t>1</a:t>
            </a:fld>
            <a:endParaRPr lang="en-CN"/>
          </a:p>
        </p:txBody>
      </p:sp>
    </p:spTree>
    <p:extLst>
      <p:ext uri="{BB962C8B-B14F-4D97-AF65-F5344CB8AC3E}">
        <p14:creationId xmlns:p14="http://schemas.microsoft.com/office/powerpoint/2010/main" val="368751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90FE8DC-3310-3547-AB8C-071C25AC9E0A}" type="slidenum">
              <a:rPr lang="en-CN" smtClean="0"/>
              <a:t>2</a:t>
            </a:fld>
            <a:endParaRPr lang="en-CN"/>
          </a:p>
        </p:txBody>
      </p:sp>
    </p:spTree>
    <p:extLst>
      <p:ext uri="{BB962C8B-B14F-4D97-AF65-F5344CB8AC3E}">
        <p14:creationId xmlns:p14="http://schemas.microsoft.com/office/powerpoint/2010/main" val="3693300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90FE8DC-3310-3547-AB8C-071C25AC9E0A}" type="slidenum">
              <a:rPr lang="en-CN" smtClean="0"/>
              <a:t>6</a:t>
            </a:fld>
            <a:endParaRPr lang="en-CN"/>
          </a:p>
        </p:txBody>
      </p:sp>
    </p:spTree>
    <p:extLst>
      <p:ext uri="{BB962C8B-B14F-4D97-AF65-F5344CB8AC3E}">
        <p14:creationId xmlns:p14="http://schemas.microsoft.com/office/powerpoint/2010/main" val="629163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90FE8DC-3310-3547-AB8C-071C25AC9E0A}" type="slidenum">
              <a:rPr lang="en-CN" smtClean="0"/>
              <a:t>37</a:t>
            </a:fld>
            <a:endParaRPr lang="en-CN"/>
          </a:p>
        </p:txBody>
      </p:sp>
    </p:spTree>
    <p:extLst>
      <p:ext uri="{BB962C8B-B14F-4D97-AF65-F5344CB8AC3E}">
        <p14:creationId xmlns:p14="http://schemas.microsoft.com/office/powerpoint/2010/main" val="1417062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	</a:t>
            </a:r>
          </a:p>
        </p:txBody>
      </p:sp>
      <p:sp>
        <p:nvSpPr>
          <p:cNvPr id="4" name="Slide Number Placeholder 3"/>
          <p:cNvSpPr>
            <a:spLocks noGrp="1"/>
          </p:cNvSpPr>
          <p:nvPr>
            <p:ph type="sldNum" sz="quarter" idx="5"/>
          </p:nvPr>
        </p:nvSpPr>
        <p:spPr/>
        <p:txBody>
          <a:bodyPr/>
          <a:lstStyle/>
          <a:p>
            <a:fld id="{290FE8DC-3310-3547-AB8C-071C25AC9E0A}" type="slidenum">
              <a:rPr lang="en-CN" smtClean="0"/>
              <a:t>43</a:t>
            </a:fld>
            <a:endParaRPr lang="en-CN"/>
          </a:p>
        </p:txBody>
      </p:sp>
    </p:spTree>
    <p:extLst>
      <p:ext uri="{BB962C8B-B14F-4D97-AF65-F5344CB8AC3E}">
        <p14:creationId xmlns:p14="http://schemas.microsoft.com/office/powerpoint/2010/main" val="741884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2023/3/13</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2023/3/13</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shicimingju.com/chaxun/zuozhe/91.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2.png"/><Relationship Id="rId7" Type="http://schemas.openxmlformats.org/officeDocument/2006/relationships/image" Target="../media/image15.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1.png"/><Relationship Id="rId10" Type="http://schemas.openxmlformats.org/officeDocument/2006/relationships/image" Target="../media/image18.png"/><Relationship Id="rId4" Type="http://schemas.openxmlformats.org/officeDocument/2006/relationships/image" Target="../media/image121.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51.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3.jpeg"/></Relationships>
</file>

<file path=ppt/slides/_rels/slide32.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0.png"/><Relationship Id="rId1" Type="http://schemas.openxmlformats.org/officeDocument/2006/relationships/slideLayout" Target="../slideLayouts/slideLayout2.xml"/><Relationship Id="rId5" Type="http://schemas.openxmlformats.org/officeDocument/2006/relationships/image" Target="../media/image900.png"/><Relationship Id="rId4" Type="http://schemas.openxmlformats.org/officeDocument/2006/relationships/image" Target="../media/image80.png"/></Relationships>
</file>

<file path=ppt/slides/_rels/slide36.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image" Target="../media/image600.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2.xml"/><Relationship Id="rId5" Type="http://schemas.openxmlformats.org/officeDocument/2006/relationships/image" Target="../media/image491.png"/><Relationship Id="rId4" Type="http://schemas.openxmlformats.org/officeDocument/2006/relationships/image" Target="../media/image190.png"/></Relationships>
</file>

<file path=ppt/slides/_rels/slide3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57.gif"/><Relationship Id="rId7" Type="http://schemas.openxmlformats.org/officeDocument/2006/relationships/image" Target="../media/image320.png"/><Relationship Id="rId2" Type="http://schemas.openxmlformats.org/officeDocument/2006/relationships/image" Target="../media/image56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58.gif"/></Relationships>
</file>

<file path=ppt/slides/_rels/slide46.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57.gif"/><Relationship Id="rId7" Type="http://schemas.openxmlformats.org/officeDocument/2006/relationships/image" Target="../media/image320.png"/><Relationship Id="rId2" Type="http://schemas.openxmlformats.org/officeDocument/2006/relationships/image" Target="../media/image56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58.gif"/><Relationship Id="rId9"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58.gif"/><Relationship Id="rId7" Type="http://schemas.openxmlformats.org/officeDocument/2006/relationships/image" Target="../media/image370.png"/><Relationship Id="rId2" Type="http://schemas.openxmlformats.org/officeDocument/2006/relationships/image" Target="../media/image57.gif"/><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0.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7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450.png"/><Relationship Id="rId5" Type="http://schemas.openxmlformats.org/officeDocument/2006/relationships/image" Target="../media/image72.png"/><Relationship Id="rId4" Type="http://schemas.openxmlformats.org/officeDocument/2006/relationships/image" Target="../media/image71.png"/></Relationships>
</file>

<file path=ppt/slides/_rels/slide60.xml.rels><?xml version="1.0" encoding="UTF-8" standalone="yes"?>
<Relationships xmlns="http://schemas.openxmlformats.org/package/2006/relationships"><Relationship Id="rId3" Type="http://schemas.openxmlformats.org/officeDocument/2006/relationships/image" Target="../media/image74.gif"/><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image" Target="../media/image480.png"/><Relationship Id="rId1" Type="http://schemas.openxmlformats.org/officeDocument/2006/relationships/slideLayout" Target="../slideLayouts/slideLayout2.xml"/><Relationship Id="rId4" Type="http://schemas.openxmlformats.org/officeDocument/2006/relationships/image" Target="../media/image74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2100.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3" Type="http://schemas.openxmlformats.org/officeDocument/2006/relationships/image" Target="../media/image601.png"/><Relationship Id="rId2" Type="http://schemas.openxmlformats.org/officeDocument/2006/relationships/image" Target="../media/image50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141.png"/><Relationship Id="rId2" Type="http://schemas.openxmlformats.org/officeDocument/2006/relationships/image" Target="../media/image901.png"/><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22.png"/><Relationship Id="rId4" Type="http://schemas.openxmlformats.org/officeDocument/2006/relationships/image" Target="../media/image113.png"/></Relationships>
</file>

<file path=ppt/slides/_rels/slide7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8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0.png"/><Relationship Id="rId1" Type="http://schemas.openxmlformats.org/officeDocument/2006/relationships/slideLayout" Target="../slideLayouts/slideLayout2.xml"/><Relationship Id="rId4" Type="http://schemas.openxmlformats.org/officeDocument/2006/relationships/image" Target="../media/image212.png"/></Relationships>
</file>

<file path=ppt/slides/_rels/slide82.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110.png"/><Relationship Id="rId7" Type="http://schemas.openxmlformats.org/officeDocument/2006/relationships/image" Target="../media/image250.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231.png"/><Relationship Id="rId4" Type="http://schemas.openxmlformats.org/officeDocument/2006/relationships/image" Target="../media/image2200.png"/></Relationships>
</file>

<file path=ppt/slides/_rels/slide83.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image" Target="../media/image271.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84.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11.png"/><Relationship Id="rId1" Type="http://schemas.openxmlformats.org/officeDocument/2006/relationships/slideLayout" Target="../slideLayouts/slideLayout2.xml"/><Relationship Id="rId5" Type="http://schemas.openxmlformats.org/officeDocument/2006/relationships/image" Target="../media/image341.png"/><Relationship Id="rId4" Type="http://schemas.openxmlformats.org/officeDocument/2006/relationships/image" Target="../media/image331.png"/></Relationships>
</file>

<file path=ppt/slides/_rels/slide8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310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30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98.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99.png"/></Relationships>
</file>

<file path=ppt/slides/_rels/slide91.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420.png"/><Relationship Id="rId1" Type="http://schemas.openxmlformats.org/officeDocument/2006/relationships/slideLayout" Target="../slideLayouts/slideLayout2.xml"/><Relationship Id="rId5" Type="http://schemas.openxmlformats.org/officeDocument/2006/relationships/image" Target="../media/image451.png"/><Relationship Id="rId4" Type="http://schemas.openxmlformats.org/officeDocument/2006/relationships/image" Target="../media/image440.png"/></Relationships>
</file>

<file path=ppt/slides/_rels/slide92.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95.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312.png"/><Relationship Id="rId2" Type="http://schemas.openxmlformats.org/officeDocument/2006/relationships/image" Target="../media/image1101.png"/><Relationship Id="rId1" Type="http://schemas.openxmlformats.org/officeDocument/2006/relationships/slideLayout" Target="../slideLayouts/slideLayout2.xml"/><Relationship Id="rId6" Type="http://schemas.openxmlformats.org/officeDocument/2006/relationships/image" Target="../media/image213.png"/><Relationship Id="rId5" Type="http://schemas.openxmlformats.org/officeDocument/2006/relationships/image" Target="NULL"/><Relationship Id="rId4" Type="http://schemas.openxmlformats.org/officeDocument/2006/relationships/image" Target="NULL"/></Relationships>
</file>

<file path=ppt/slides/_rels/slide9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52.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98.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11.png"/><Relationship Id="rId1" Type="http://schemas.openxmlformats.org/officeDocument/2006/relationships/slideLayout" Target="../slideLayouts/slideLayout2.xml"/><Relationship Id="rId5" Type="http://schemas.openxmlformats.org/officeDocument/2006/relationships/image" Target="../media/image341.png"/><Relationship Id="rId4" Type="http://schemas.openxmlformats.org/officeDocument/2006/relationships/image" Target="../media/image331.png"/></Relationships>
</file>

<file path=ppt/slides/_rels/slide9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10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10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10.pn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0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10.png"/><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8.png"/></Relationships>
</file>

<file path=ppt/slides/_rels/slide10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105.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02.png"/><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1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11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400.png"/><Relationship Id="rId5" Type="http://schemas.openxmlformats.org/officeDocument/2006/relationships/image" Target="NULL"/><Relationship Id="rId4" Type="http://schemas.openxmlformats.org/officeDocument/2006/relationships/image" Target="NULL"/></Relationships>
</file>

<file path=ppt/slides/_rels/slide1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117.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1837875" y="1767647"/>
            <a:ext cx="7172309" cy="550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800" b="1" dirty="0"/>
              <a:t>Temperature</a:t>
            </a:r>
          </a:p>
          <a:p>
            <a:pPr marL="342900" indent="-342900"/>
            <a:r>
              <a:rPr lang="en-CN" sz="4800" b="1" dirty="0"/>
              <a:t>Heat</a:t>
            </a:r>
            <a:r>
              <a:rPr lang="zh-CN" altLang="en-US" sz="4800" b="1" dirty="0"/>
              <a:t> </a:t>
            </a:r>
            <a:r>
              <a:rPr lang="en-US" altLang="zh-CN" sz="4800" b="1" dirty="0"/>
              <a:t>Capacity</a:t>
            </a:r>
            <a:endParaRPr lang="en-CN" sz="4800" b="1" dirty="0"/>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302101" cy="9066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（第三四五周）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2149787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15C2C7-FA83-0F44-93E5-2296F0880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633" y="161860"/>
            <a:ext cx="2059122" cy="35285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9D9D921-39BC-0C4F-A093-E3BDCC36C0BB}"/>
              </a:ext>
            </a:extLst>
          </p:cNvPr>
          <p:cNvSpPr txBox="1"/>
          <p:nvPr/>
        </p:nvSpPr>
        <p:spPr>
          <a:xfrm>
            <a:off x="469674" y="415812"/>
            <a:ext cx="6458185" cy="5262979"/>
          </a:xfrm>
          <a:prstGeom prst="rect">
            <a:avLst/>
          </a:prstGeom>
          <a:noFill/>
        </p:spPr>
        <p:txBody>
          <a:bodyPr wrap="square">
            <a:spAutoFit/>
          </a:bodyPr>
          <a:lstStyle/>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念奴娇</a:t>
            </a:r>
            <a:r>
              <a:rPr lang="en-US" altLang="zh-CN" sz="2800" b="1" i="0" u="none" strike="noStrike" dirty="0">
                <a:solidFill>
                  <a:srgbClr val="000000"/>
                </a:solidFill>
                <a:effectLst/>
                <a:latin typeface="FangSong" panose="02010609060101010101" pitchFamily="49" charset="-122"/>
                <a:ea typeface="FangSong" panose="02010609060101010101" pitchFamily="49" charset="-122"/>
              </a:rPr>
              <a:t>·</a:t>
            </a: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昆仑</a:t>
            </a:r>
          </a:p>
          <a:p>
            <a:pPr algn="ctr"/>
            <a:r>
              <a:rPr lang="zh-CN" altLang="en-US" sz="2800" b="0" i="0" u="none" strike="noStrike" dirty="0">
                <a:solidFill>
                  <a:srgbClr val="000000"/>
                </a:solidFill>
                <a:effectLst/>
                <a:latin typeface="FangSong" panose="02010609060101010101" pitchFamily="49" charset="-122"/>
                <a:ea typeface="FangSong" panose="02010609060101010101" pitchFamily="49" charset="-122"/>
                <a:hlinkClick r:id="rId4"/>
              </a:rPr>
              <a:t>毛泽东</a:t>
            </a:r>
            <a:endParaRPr lang="zh-CN" altLang="en-US" sz="2800" b="0" i="0" u="none" strike="noStrike" dirty="0">
              <a:solidFill>
                <a:srgbClr val="333333"/>
              </a:solidFill>
              <a:effectLst/>
              <a:latin typeface="FangSong" panose="02010609060101010101" pitchFamily="49" charset="-122"/>
              <a:ea typeface="FangSong" panose="02010609060101010101" pitchFamily="49" charset="-122"/>
            </a:endParaRP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横空出世，莽昆仑，阅尽人间春色。</a:t>
            </a: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飞起玉龙三百万，搅得周天</a:t>
            </a:r>
            <a:r>
              <a:rPr lang="zh-CN" altLang="en-US" sz="2800" b="1" i="0" u="none" strike="noStrike" dirty="0">
                <a:solidFill>
                  <a:srgbClr val="FF0000"/>
                </a:solidFill>
                <a:effectLst/>
                <a:latin typeface="FangSong" panose="02010609060101010101" pitchFamily="49" charset="-122"/>
                <a:ea typeface="FangSong" panose="02010609060101010101" pitchFamily="49" charset="-122"/>
              </a:rPr>
              <a:t>寒彻</a:t>
            </a: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a:t>
            </a: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夏日消溶，江河横溢，人或为鱼鳖。</a:t>
            </a: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千秋功罪，谁人曾与评说？</a:t>
            </a:r>
          </a:p>
          <a:p>
            <a:pPr algn="ctr"/>
            <a:br>
              <a:rPr lang="zh-CN" altLang="en-US" sz="2800" b="1" i="0" u="none" strike="noStrike" dirty="0">
                <a:solidFill>
                  <a:srgbClr val="000000"/>
                </a:solidFill>
                <a:effectLst/>
                <a:latin typeface="FangSong" panose="02010609060101010101" pitchFamily="49" charset="-122"/>
                <a:ea typeface="FangSong" panose="02010609060101010101" pitchFamily="49" charset="-122"/>
              </a:rPr>
            </a:br>
            <a:endParaRPr lang="zh-CN" altLang="en-US" sz="2800" b="1" i="0" u="none" strike="noStrike" dirty="0">
              <a:solidFill>
                <a:srgbClr val="000000"/>
              </a:solidFill>
              <a:effectLst/>
              <a:latin typeface="FangSong" panose="02010609060101010101" pitchFamily="49" charset="-122"/>
              <a:ea typeface="FangSong" panose="02010609060101010101" pitchFamily="49" charset="-122"/>
            </a:endParaRP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而今我谓昆仑：不要这高，不要这多雪。</a:t>
            </a: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安得倚天抽宝剑，把汝裁为三截？</a:t>
            </a: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一截遗欧，一截赠美，一截还东国。</a:t>
            </a:r>
          </a:p>
          <a:p>
            <a:pPr algn="ct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太平世界，环球同此</a:t>
            </a:r>
            <a:r>
              <a:rPr lang="zh-CN" altLang="en-US" sz="2800" b="1" i="0" u="none" strike="noStrike" dirty="0">
                <a:solidFill>
                  <a:srgbClr val="FF0000"/>
                </a:solidFill>
                <a:effectLst/>
                <a:latin typeface="FangSong" panose="02010609060101010101" pitchFamily="49" charset="-122"/>
                <a:ea typeface="FangSong" panose="02010609060101010101" pitchFamily="49" charset="-122"/>
              </a:rPr>
              <a:t>凉热</a:t>
            </a:r>
            <a:r>
              <a:rPr lang="zh-CN" altLang="en-US" sz="2800" b="1" i="0" u="none" strike="noStrike" dirty="0">
                <a:solidFill>
                  <a:srgbClr val="000000"/>
                </a:solidFill>
                <a:effectLst/>
                <a:latin typeface="FangSong" panose="02010609060101010101" pitchFamily="49" charset="-122"/>
                <a:ea typeface="FangSong" panose="02010609060101010101" pitchFamily="49" charset="-122"/>
              </a:rPr>
              <a:t>。</a:t>
            </a:r>
          </a:p>
        </p:txBody>
      </p:sp>
      <p:pic>
        <p:nvPicPr>
          <p:cNvPr id="5" name="Picture 4">
            <a:extLst>
              <a:ext uri="{FF2B5EF4-FFF2-40B4-BE49-F238E27FC236}">
                <a16:creationId xmlns:a16="http://schemas.microsoft.com/office/drawing/2014/main" id="{D874C3A5-4F2F-BD49-863D-D77BF628733D}"/>
              </a:ext>
            </a:extLst>
          </p:cNvPr>
          <p:cNvPicPr>
            <a:picLocks noChangeAspect="1"/>
          </p:cNvPicPr>
          <p:nvPr/>
        </p:nvPicPr>
        <p:blipFill>
          <a:blip r:embed="rId5"/>
          <a:stretch>
            <a:fillRect/>
          </a:stretch>
        </p:blipFill>
        <p:spPr>
          <a:xfrm>
            <a:off x="7205983" y="3690446"/>
            <a:ext cx="4198422" cy="3099661"/>
          </a:xfrm>
          <a:prstGeom prst="rect">
            <a:avLst/>
          </a:prstGeom>
        </p:spPr>
      </p:pic>
    </p:spTree>
    <p:extLst>
      <p:ext uri="{BB962C8B-B14F-4D97-AF65-F5344CB8AC3E}">
        <p14:creationId xmlns:p14="http://schemas.microsoft.com/office/powerpoint/2010/main" val="4208559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ED9F4EF2-5ABB-2DE2-0E75-AF4D8BA45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3850" y="161860"/>
            <a:ext cx="2059122" cy="35285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1F3DD7E-7211-A93F-A370-355EDFC45835}"/>
                  </a:ext>
                </a:extLst>
              </p:cNvPr>
              <p:cNvSpPr txBox="1"/>
              <p:nvPr/>
            </p:nvSpPr>
            <p:spPr>
              <a:xfrm>
                <a:off x="2890377" y="973409"/>
                <a:ext cx="6411245" cy="1971052"/>
              </a:xfrm>
              <a:prstGeom prst="rect">
                <a:avLst/>
              </a:prstGeom>
              <a:noFill/>
            </p:spPr>
            <p:txBody>
              <a:bodyPr wrap="square" rtlCol="0">
                <a:spAutoFit/>
              </a:bodyPr>
              <a:lstStyle/>
              <a:p>
                <a:pPr marL="457200" indent="-457200">
                  <a:buFont typeface="Arial" panose="020B0604020202020204" pitchFamily="34" charset="0"/>
                  <a:buChar char="•"/>
                </a:pPr>
                <a:r>
                  <a:rPr lang="en-CN" sz="4000" dirty="0"/>
                  <a:t>Celsius scale(</a:t>
                </a:r>
                <a14:m>
                  <m:oMath xmlns:m="http://schemas.openxmlformats.org/officeDocument/2006/math">
                    <m:sPre>
                      <m:sPrePr>
                        <m:ctrlPr>
                          <a:rPr lang="en-CN" sz="4000" i="1" smtClean="0">
                            <a:latin typeface="Cambria Math" panose="02040503050406030204" pitchFamily="18" charset="0"/>
                          </a:rPr>
                        </m:ctrlPr>
                      </m:sPrePr>
                      <m:sub/>
                      <m:sup>
                        <m:r>
                          <a:rPr lang="en-US" sz="4000" b="0" i="1" smtClean="0">
                            <a:latin typeface="Cambria Math" panose="02040503050406030204" pitchFamily="18" charset="0"/>
                          </a:rPr>
                          <m:t>𝑜</m:t>
                        </m:r>
                      </m:sup>
                      <m:e>
                        <m:r>
                          <a:rPr lang="en-US" sz="4000" b="0" i="1" smtClean="0">
                            <a:latin typeface="Cambria Math" panose="02040503050406030204" pitchFamily="18" charset="0"/>
                          </a:rPr>
                          <m:t>𝐶</m:t>
                        </m:r>
                      </m:e>
                    </m:sPre>
                  </m:oMath>
                </a14:m>
                <a:r>
                  <a:rPr lang="en-CN" sz="4000" dirty="0"/>
                  <a:t>)                  </a:t>
                </a:r>
              </a:p>
              <a:p>
                <a:pPr marL="457200" indent="-457200">
                  <a:buFont typeface="Arial" panose="020B0604020202020204" pitchFamily="34" charset="0"/>
                  <a:buChar char="•"/>
                </a:pPr>
                <a:r>
                  <a:rPr lang="en-CN" sz="4000" dirty="0"/>
                  <a:t>Fahrenheit scale(</a:t>
                </a:r>
                <a14:m>
                  <m:oMath xmlns:m="http://schemas.openxmlformats.org/officeDocument/2006/math">
                    <m:sPre>
                      <m:sPrePr>
                        <m:ctrlPr>
                          <a:rPr lang="en-CN" sz="4000" i="1" smtClean="0">
                            <a:latin typeface="Cambria Math" panose="02040503050406030204" pitchFamily="18" charset="0"/>
                          </a:rPr>
                        </m:ctrlPr>
                      </m:sPrePr>
                      <m:sub/>
                      <m:sup>
                        <m:r>
                          <a:rPr lang="en-US" sz="4000" b="0" i="1" smtClean="0">
                            <a:latin typeface="Cambria Math" panose="02040503050406030204" pitchFamily="18" charset="0"/>
                          </a:rPr>
                          <m:t>𝑜</m:t>
                        </m:r>
                      </m:sup>
                      <m:e>
                        <m:r>
                          <a:rPr lang="en-US" sz="4000" b="0" i="1" smtClean="0">
                            <a:latin typeface="Cambria Math" panose="02040503050406030204" pitchFamily="18" charset="0"/>
                          </a:rPr>
                          <m:t>𝐹</m:t>
                        </m:r>
                      </m:e>
                    </m:sPre>
                  </m:oMath>
                </a14:m>
                <a:r>
                  <a:rPr lang="en-CN" sz="4000" dirty="0"/>
                  <a:t>)</a:t>
                </a:r>
              </a:p>
              <a:p>
                <a:pPr marL="457200" indent="-457200">
                  <a:buFont typeface="Arial" panose="020B0604020202020204" pitchFamily="34" charset="0"/>
                  <a:buChar char="•"/>
                </a:pPr>
                <a:r>
                  <a:rPr lang="en-CN" sz="4000" dirty="0">
                    <a:solidFill>
                      <a:srgbClr val="FF0000"/>
                    </a:solidFill>
                  </a:rPr>
                  <a:t>Kelvin scale (K) </a:t>
                </a:r>
              </a:p>
            </p:txBody>
          </p:sp>
        </mc:Choice>
        <mc:Fallback xmlns="">
          <p:sp>
            <p:nvSpPr>
              <p:cNvPr id="7" name="TextBox 6">
                <a:extLst>
                  <a:ext uri="{FF2B5EF4-FFF2-40B4-BE49-F238E27FC236}">
                    <a16:creationId xmlns:a16="http://schemas.microsoft.com/office/drawing/2014/main" id="{21F3DD7E-7211-A93F-A370-355EDFC45835}"/>
                  </a:ext>
                </a:extLst>
              </p:cNvPr>
              <p:cNvSpPr txBox="1">
                <a:spLocks noRot="1" noChangeAspect="1" noMove="1" noResize="1" noEditPoints="1" noAdjustHandles="1" noChangeArrowheads="1" noChangeShapeType="1" noTextEdit="1"/>
              </p:cNvSpPr>
              <p:nvPr/>
            </p:nvSpPr>
            <p:spPr>
              <a:xfrm>
                <a:off x="2890377" y="973409"/>
                <a:ext cx="6411245" cy="1971052"/>
              </a:xfrm>
              <a:prstGeom prst="rect">
                <a:avLst/>
              </a:prstGeom>
              <a:blipFill>
                <a:blip r:embed="rId3"/>
                <a:stretch>
                  <a:fillRect l="-2964" t="-4487" r="-791" b="-12821"/>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2A150566-92DF-68CA-18DA-2797925FC1DE}"/>
              </a:ext>
            </a:extLst>
          </p:cNvPr>
          <p:cNvSpPr txBox="1"/>
          <p:nvPr/>
        </p:nvSpPr>
        <p:spPr>
          <a:xfrm>
            <a:off x="2152826" y="3913539"/>
            <a:ext cx="8879350" cy="707886"/>
          </a:xfrm>
          <a:prstGeom prst="rect">
            <a:avLst/>
          </a:prstGeom>
          <a:noFill/>
        </p:spPr>
        <p:txBody>
          <a:bodyPr wrap="square" rtlCol="0">
            <a:spAutoFit/>
          </a:bodyPr>
          <a:lstStyle/>
          <a:p>
            <a:r>
              <a:rPr lang="en-CN" sz="4000" dirty="0">
                <a:solidFill>
                  <a:srgbClr val="FF0000"/>
                </a:solidFill>
              </a:rPr>
              <a:t>0 K</a:t>
            </a:r>
            <a:r>
              <a:rPr lang="en-CN" sz="4000" dirty="0"/>
              <a:t>            -273.15 C               -459.67 F</a:t>
            </a:r>
          </a:p>
        </p:txBody>
      </p:sp>
      <p:sp>
        <p:nvSpPr>
          <p:cNvPr id="9" name="TextBox 8">
            <a:extLst>
              <a:ext uri="{FF2B5EF4-FFF2-40B4-BE49-F238E27FC236}">
                <a16:creationId xmlns:a16="http://schemas.microsoft.com/office/drawing/2014/main" id="{3767A204-F705-E376-BB68-C2C313C4FC86}"/>
              </a:ext>
            </a:extLst>
          </p:cNvPr>
          <p:cNvSpPr txBox="1"/>
          <p:nvPr/>
        </p:nvSpPr>
        <p:spPr>
          <a:xfrm>
            <a:off x="1238426" y="5699925"/>
            <a:ext cx="1828800" cy="369332"/>
          </a:xfrm>
          <a:prstGeom prst="rect">
            <a:avLst/>
          </a:prstGeom>
          <a:noFill/>
        </p:spPr>
        <p:txBody>
          <a:bodyPr wrap="square" rtlCol="0">
            <a:spAutoFit/>
          </a:bodyPr>
          <a:lstStyle/>
          <a:p>
            <a:r>
              <a:rPr lang="en-CN" dirty="0">
                <a:solidFill>
                  <a:srgbClr val="FF0000"/>
                </a:solidFill>
              </a:rPr>
              <a:t>Absoulte Zero!!!</a:t>
            </a:r>
          </a:p>
        </p:txBody>
      </p:sp>
      <p:sp>
        <p:nvSpPr>
          <p:cNvPr id="3" name="TextBox 2">
            <a:extLst>
              <a:ext uri="{FF2B5EF4-FFF2-40B4-BE49-F238E27FC236}">
                <a16:creationId xmlns:a16="http://schemas.microsoft.com/office/drawing/2014/main" id="{336CE35F-F193-5355-DC7C-773816E9328E}"/>
              </a:ext>
            </a:extLst>
          </p:cNvPr>
          <p:cNvSpPr txBox="1"/>
          <p:nvPr/>
        </p:nvSpPr>
        <p:spPr>
          <a:xfrm>
            <a:off x="4427034" y="5238260"/>
            <a:ext cx="7123456" cy="1200329"/>
          </a:xfrm>
          <a:prstGeom prst="rect">
            <a:avLst/>
          </a:prstGeom>
          <a:noFill/>
        </p:spPr>
        <p:txBody>
          <a:bodyPr wrap="square">
            <a:spAutoFit/>
          </a:bodyPr>
          <a:lstStyle/>
          <a:p>
            <a:pPr lvl="0"/>
            <a:r>
              <a:rPr lang="zh-CN" altLang="en-US" sz="1800" dirty="0">
                <a:effectLst/>
                <a:latin typeface="Calibri" panose="020F0502020204030204" pitchFamily="34" charset="0"/>
                <a:ea typeface="DengXian" panose="02010600030101010101" pitchFamily="2" charset="-122"/>
                <a:cs typeface="Times New Roman" panose="02020603050405020304" pitchFamily="18" charset="0"/>
              </a:rPr>
              <a:t>第三个大作业</a:t>
            </a:r>
            <a:endParaRPr lang="en-US" altLang="zh-CN" sz="1800" dirty="0">
              <a:effectLst/>
              <a:latin typeface="Calibri" panose="020F0502020204030204" pitchFamily="34" charset="0"/>
              <a:ea typeface="DengXian" panose="02010600030101010101" pitchFamily="2" charset="-122"/>
              <a:cs typeface="Times New Roman" panose="02020603050405020304" pitchFamily="18" charset="0"/>
            </a:endParaRPr>
          </a:p>
          <a:p>
            <a:pPr marL="285750" lvl="0" indent="-285750">
              <a:buFont typeface="Arial" panose="020B0604020202020204" pitchFamily="34" charset="0"/>
              <a:buChar char="•"/>
            </a:pPr>
            <a:r>
              <a:rPr lang="zh-CN" sz="1800" dirty="0">
                <a:effectLst/>
                <a:latin typeface="Calibri" panose="020F0502020204030204" pitchFamily="34" charset="0"/>
                <a:ea typeface="DengXian" panose="02010600030101010101" pitchFamily="2" charset="-122"/>
                <a:cs typeface="Times New Roman" panose="02020603050405020304" pitchFamily="18" charset="0"/>
              </a:rPr>
              <a:t>物理上严格的温度是通过热力学温标定义的，请给出这一定义；现行的国际温标为了便于实现，采用了分段的定义方法，请具体总结每一段的实现方法。</a:t>
            </a:r>
            <a:endParaRPr lang="en-CN" sz="18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42C9482E-66C4-6668-F930-4E519CC404C5}"/>
              </a:ext>
            </a:extLst>
          </p:cNvPr>
          <p:cNvSpPr txBox="1"/>
          <p:nvPr/>
        </p:nvSpPr>
        <p:spPr>
          <a:xfrm>
            <a:off x="646771" y="278780"/>
            <a:ext cx="3780263" cy="369332"/>
          </a:xfrm>
          <a:prstGeom prst="rect">
            <a:avLst/>
          </a:prstGeom>
          <a:noFill/>
        </p:spPr>
        <p:txBody>
          <a:bodyPr wrap="square" rtlCol="0">
            <a:spAutoFit/>
          </a:bodyPr>
          <a:lstStyle/>
          <a:p>
            <a:r>
              <a:rPr lang="en-CN" dirty="0"/>
              <a:t>温标</a:t>
            </a:r>
          </a:p>
        </p:txBody>
      </p:sp>
    </p:spTree>
    <p:extLst>
      <p:ext uri="{BB962C8B-B14F-4D97-AF65-F5344CB8AC3E}">
        <p14:creationId xmlns:p14="http://schemas.microsoft.com/office/powerpoint/2010/main" val="2182617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76DC82-4FF5-05E1-15DD-387BE54AC4D9}"/>
              </a:ext>
            </a:extLst>
          </p:cNvPr>
          <p:cNvPicPr>
            <a:picLocks noChangeAspect="1"/>
          </p:cNvPicPr>
          <p:nvPr/>
        </p:nvPicPr>
        <p:blipFill>
          <a:blip r:embed="rId2"/>
          <a:stretch>
            <a:fillRect/>
          </a:stretch>
        </p:blipFill>
        <p:spPr>
          <a:xfrm>
            <a:off x="0" y="0"/>
            <a:ext cx="5745282" cy="6656119"/>
          </a:xfrm>
          <a:prstGeom prst="rect">
            <a:avLst/>
          </a:prstGeom>
        </p:spPr>
      </p:pic>
      <p:pic>
        <p:nvPicPr>
          <p:cNvPr id="5" name="Picture 4">
            <a:extLst>
              <a:ext uri="{FF2B5EF4-FFF2-40B4-BE49-F238E27FC236}">
                <a16:creationId xmlns:a16="http://schemas.microsoft.com/office/drawing/2014/main" id="{AB4DE06A-3F65-7703-947C-35CC1B68BAE3}"/>
              </a:ext>
            </a:extLst>
          </p:cNvPr>
          <p:cNvPicPr>
            <a:picLocks noChangeAspect="1"/>
          </p:cNvPicPr>
          <p:nvPr/>
        </p:nvPicPr>
        <p:blipFill>
          <a:blip r:embed="rId3"/>
          <a:stretch>
            <a:fillRect/>
          </a:stretch>
        </p:blipFill>
        <p:spPr>
          <a:xfrm>
            <a:off x="5745283" y="1827893"/>
            <a:ext cx="6121300" cy="3348586"/>
          </a:xfrm>
          <a:prstGeom prst="rect">
            <a:avLst/>
          </a:prstGeom>
        </p:spPr>
      </p:pic>
    </p:spTree>
    <p:extLst>
      <p:ext uri="{BB962C8B-B14F-4D97-AF65-F5344CB8AC3E}">
        <p14:creationId xmlns:p14="http://schemas.microsoft.com/office/powerpoint/2010/main" val="372307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AF8637-6A92-4B43-AB1A-76C052ED50E9}"/>
              </a:ext>
            </a:extLst>
          </p:cNvPr>
          <p:cNvSpPr txBox="1"/>
          <p:nvPr/>
        </p:nvSpPr>
        <p:spPr>
          <a:xfrm>
            <a:off x="360218" y="5913267"/>
            <a:ext cx="5031179" cy="584775"/>
          </a:xfrm>
          <a:prstGeom prst="rect">
            <a:avLst/>
          </a:prstGeom>
          <a:noFill/>
        </p:spPr>
        <p:txBody>
          <a:bodyPr wrap="square" rtlCol="0">
            <a:spAutoFit/>
          </a:bodyPr>
          <a:lstStyle/>
          <a:p>
            <a:r>
              <a:rPr lang="en-CN" sz="3200" b="1" dirty="0">
                <a:latin typeface="FangSong" panose="02010609060101010101" pitchFamily="49" charset="-122"/>
                <a:ea typeface="FangSong" panose="02010609060101010101" pitchFamily="49" charset="-122"/>
              </a:rPr>
              <a:t>能量量纲</a:t>
            </a:r>
          </a:p>
        </p:txBody>
      </p:sp>
      <p:sp>
        <p:nvSpPr>
          <p:cNvPr id="5" name="TextBox 4">
            <a:extLst>
              <a:ext uri="{FF2B5EF4-FFF2-40B4-BE49-F238E27FC236}">
                <a16:creationId xmlns:a16="http://schemas.microsoft.com/office/drawing/2014/main" id="{C810BD23-2A82-AF42-9B00-88F49CF41481}"/>
              </a:ext>
            </a:extLst>
          </p:cNvPr>
          <p:cNvSpPr txBox="1"/>
          <p:nvPr/>
        </p:nvSpPr>
        <p:spPr>
          <a:xfrm>
            <a:off x="360218" y="857650"/>
            <a:ext cx="2636322" cy="523220"/>
          </a:xfrm>
          <a:prstGeom prst="rect">
            <a:avLst/>
          </a:prstGeom>
          <a:noFill/>
        </p:spPr>
        <p:txBody>
          <a:bodyPr wrap="square" rtlCol="0">
            <a:spAutoFit/>
          </a:bodyPr>
          <a:lstStyle/>
          <a:p>
            <a:r>
              <a:rPr lang="en-CN" sz="2800" dirty="0">
                <a:latin typeface="FangSong" panose="02010609060101010101" pitchFamily="49" charset="-122"/>
                <a:ea typeface="FangSong" panose="02010609060101010101" pitchFamily="49" charset="-122"/>
              </a:rPr>
              <a:t>定义</a:t>
            </a:r>
          </a:p>
        </p:txBody>
      </p:sp>
      <p:sp>
        <p:nvSpPr>
          <p:cNvPr id="4" name="TextBox 3">
            <a:extLst>
              <a:ext uri="{FF2B5EF4-FFF2-40B4-BE49-F238E27FC236}">
                <a16:creationId xmlns:a16="http://schemas.microsoft.com/office/drawing/2014/main" id="{7A06EA1D-9713-8B45-AD59-26D7ECC25786}"/>
              </a:ext>
            </a:extLst>
          </p:cNvPr>
          <p:cNvSpPr txBox="1"/>
          <p:nvPr/>
        </p:nvSpPr>
        <p:spPr>
          <a:xfrm>
            <a:off x="2560320" y="257391"/>
            <a:ext cx="7278623" cy="461665"/>
          </a:xfrm>
          <a:prstGeom prst="rect">
            <a:avLst/>
          </a:prstGeom>
          <a:noFill/>
        </p:spPr>
        <p:txBody>
          <a:bodyPr wrap="square" rtlCol="0">
            <a:spAutoFit/>
          </a:bodyPr>
          <a:lstStyle/>
          <a:p>
            <a:r>
              <a:rPr lang="en-CN" sz="2400" b="1" dirty="0">
                <a:latin typeface="FangSong" panose="02010609060101010101" pitchFamily="49" charset="-122"/>
                <a:ea typeface="FangSong" panose="02010609060101010101" pitchFamily="49" charset="-122"/>
              </a:rPr>
              <a:t>等概率原理</a:t>
            </a:r>
            <a:r>
              <a:rPr lang="zh-CN" altLang="en-US" sz="2400" b="1" dirty="0">
                <a:latin typeface="FangSong" panose="02010609060101010101" pitchFamily="49" charset="-122"/>
                <a:ea typeface="FangSong" panose="02010609060101010101" pitchFamily="49" charset="-122"/>
              </a:rPr>
              <a:t>、热接触、热平衡、最概然组态。。。</a:t>
            </a:r>
            <a:endParaRPr lang="en-CN" sz="2400" b="1"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26222F-E8F6-53A4-A1CB-CAA0B7518805}"/>
                  </a:ext>
                </a:extLst>
              </p:cNvPr>
              <p:cNvSpPr txBox="1"/>
              <p:nvPr/>
            </p:nvSpPr>
            <p:spPr>
              <a:xfrm>
                <a:off x="2668980" y="1282143"/>
                <a:ext cx="6097978" cy="1356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N" sz="4000" i="1" smtClean="0">
                              <a:latin typeface="Cambria Math" panose="02040503050406030204" pitchFamily="18" charset="0"/>
                            </a:rPr>
                          </m:ctrlPr>
                        </m:fPr>
                        <m:num>
                          <m:r>
                            <a:rPr lang="en-US" sz="4000" b="0" i="1" smtClean="0">
                              <a:latin typeface="Cambria Math" panose="02040503050406030204" pitchFamily="18" charset="0"/>
                            </a:rPr>
                            <m:t>1</m:t>
                          </m:r>
                        </m:num>
                        <m:den>
                          <m:r>
                            <a:rPr lang="en-CN" sz="4000" i="1" smtClean="0">
                              <a:latin typeface="Cambria Math" panose="02040503050406030204" pitchFamily="18" charset="0"/>
                              <a:ea typeface="Cambria Math" panose="02040503050406030204" pitchFamily="18" charset="0"/>
                            </a:rPr>
                            <m:t>𝜏</m:t>
                          </m:r>
                        </m:den>
                      </m:f>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d>
                            <m:dPr>
                              <m:ctrlPr>
                                <a:rPr lang="en-US" sz="4000" b="0" i="1" smtClean="0">
                                  <a:latin typeface="Cambria Math" panose="02040503050406030204" pitchFamily="18" charset="0"/>
                                </a:rPr>
                              </m:ctrlPr>
                            </m:dPr>
                            <m:e>
                              <m:f>
                                <m:fPr>
                                  <m:ctrlPr>
                                    <a:rPr lang="en-US" sz="4000" b="0" i="1" smtClean="0">
                                      <a:latin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𝜎</m:t>
                                  </m:r>
                                </m:num>
                                <m:den>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𝑈</m:t>
                                  </m:r>
                                </m:den>
                              </m:f>
                            </m:e>
                          </m:d>
                        </m:e>
                        <m:sub>
                          <m:r>
                            <a:rPr lang="en-US" sz="4000" b="0" i="1" smtClean="0">
                              <a:latin typeface="Cambria Math" panose="02040503050406030204" pitchFamily="18" charset="0"/>
                            </a:rPr>
                            <m:t>𝑁</m:t>
                          </m:r>
                        </m:sub>
                      </m:sSub>
                    </m:oMath>
                  </m:oMathPara>
                </a14:m>
                <a:endParaRPr lang="en-CN" sz="4000" dirty="0"/>
              </a:p>
            </p:txBody>
          </p:sp>
        </mc:Choice>
        <mc:Fallback xmlns="">
          <p:sp>
            <p:nvSpPr>
              <p:cNvPr id="7" name="TextBox 6">
                <a:extLst>
                  <a:ext uri="{FF2B5EF4-FFF2-40B4-BE49-F238E27FC236}">
                    <a16:creationId xmlns:a16="http://schemas.microsoft.com/office/drawing/2014/main" id="{6026222F-E8F6-53A4-A1CB-CAA0B7518805}"/>
                  </a:ext>
                </a:extLst>
              </p:cNvPr>
              <p:cNvSpPr txBox="1">
                <a:spLocks noRot="1" noChangeAspect="1" noMove="1" noResize="1" noEditPoints="1" noAdjustHandles="1" noChangeArrowheads="1" noChangeShapeType="1" noTextEdit="1"/>
              </p:cNvSpPr>
              <p:nvPr/>
            </p:nvSpPr>
            <p:spPr>
              <a:xfrm>
                <a:off x="2668980" y="1282143"/>
                <a:ext cx="6097978" cy="1356012"/>
              </a:xfrm>
              <a:prstGeom prst="rect">
                <a:avLst/>
              </a:prstGeom>
              <a:blipFill>
                <a:blip r:embed="rId2"/>
                <a:stretch>
                  <a:fillRect t="-3704" b="-1574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D1295E-E501-A043-6E9A-3A848BB21A88}"/>
                  </a:ext>
                </a:extLst>
              </p:cNvPr>
              <p:cNvSpPr txBox="1"/>
              <p:nvPr/>
            </p:nvSpPr>
            <p:spPr>
              <a:xfrm>
                <a:off x="239484" y="3323903"/>
                <a:ext cx="5272645"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3600" i="1" smtClean="0">
                          <a:latin typeface="Cambria Math" panose="02040503050406030204" pitchFamily="18" charset="0"/>
                          <a:ea typeface="Cambria Math" panose="02040503050406030204" pitchFamily="18" charset="0"/>
                        </a:rPr>
                        <m:t>𝜏</m:t>
                      </m:r>
                      <m:r>
                        <a:rPr lang="en-US" sz="3600" b="0" i="1" smtClean="0">
                          <a:latin typeface="Cambria Math" panose="02040503050406030204" pitchFamily="18" charset="0"/>
                          <a:ea typeface="Cambria Math" panose="02040503050406030204" pitchFamily="18" charset="0"/>
                        </a:rPr>
                        <m:t>=</m:t>
                      </m:r>
                      <m:sSub>
                        <m:sSubPr>
                          <m:ctrlPr>
                            <a:rPr lang="en-US" sz="3600" b="0" i="1" smtClean="0">
                              <a:solidFill>
                                <a:srgbClr val="FF0000"/>
                              </a:solidFill>
                              <a:latin typeface="Cambria Math" panose="02040503050406030204" pitchFamily="18" charset="0"/>
                              <a:ea typeface="Cambria Math" panose="02040503050406030204" pitchFamily="18" charset="0"/>
                            </a:rPr>
                          </m:ctrlPr>
                        </m:sSubPr>
                        <m:e>
                          <m:r>
                            <a:rPr lang="en-US" sz="3600" b="0" i="1" smtClean="0">
                              <a:solidFill>
                                <a:srgbClr val="FF0000"/>
                              </a:solidFill>
                              <a:latin typeface="Cambria Math" panose="02040503050406030204" pitchFamily="18" charset="0"/>
                              <a:ea typeface="Cambria Math" panose="02040503050406030204" pitchFamily="18" charset="0"/>
                            </a:rPr>
                            <m:t>𝑘</m:t>
                          </m:r>
                        </m:e>
                        <m:sub>
                          <m:r>
                            <a:rPr lang="en-US" sz="3600" b="0" i="1" smtClean="0">
                              <a:solidFill>
                                <a:srgbClr val="FF0000"/>
                              </a:solidFill>
                              <a:latin typeface="Cambria Math" panose="02040503050406030204" pitchFamily="18" charset="0"/>
                              <a:ea typeface="Cambria Math" panose="02040503050406030204" pitchFamily="18" charset="0"/>
                            </a:rPr>
                            <m:t>𝐵</m:t>
                          </m:r>
                        </m:sub>
                      </m:sSub>
                      <m:r>
                        <a:rPr lang="en-US" sz="3600" b="0" i="1" smtClean="0">
                          <a:solidFill>
                            <a:srgbClr val="FF0000"/>
                          </a:solidFill>
                          <a:latin typeface="Cambria Math" panose="02040503050406030204" pitchFamily="18" charset="0"/>
                          <a:ea typeface="Cambria Math" panose="02040503050406030204" pitchFamily="18" charset="0"/>
                        </a:rPr>
                        <m:t> </m:t>
                      </m:r>
                      <m:r>
                        <a:rPr lang="en-US" sz="3600" b="0" i="1" smtClean="0">
                          <a:latin typeface="Cambria Math" panose="02040503050406030204" pitchFamily="18" charset="0"/>
                          <a:ea typeface="Cambria Math" panose="02040503050406030204" pitchFamily="18" charset="0"/>
                        </a:rPr>
                        <m:t>𝑇</m:t>
                      </m:r>
                    </m:oMath>
                  </m:oMathPara>
                </a14:m>
                <a:endParaRPr lang="en-CN" sz="3600" dirty="0"/>
              </a:p>
            </p:txBody>
          </p:sp>
        </mc:Choice>
        <mc:Fallback xmlns="">
          <p:sp>
            <p:nvSpPr>
              <p:cNvPr id="8" name="TextBox 7">
                <a:extLst>
                  <a:ext uri="{FF2B5EF4-FFF2-40B4-BE49-F238E27FC236}">
                    <a16:creationId xmlns:a16="http://schemas.microsoft.com/office/drawing/2014/main" id="{1AD1295E-E501-A043-6E9A-3A848BB21A88}"/>
                  </a:ext>
                </a:extLst>
              </p:cNvPr>
              <p:cNvSpPr txBox="1">
                <a:spLocks noRot="1" noChangeAspect="1" noMove="1" noResize="1" noEditPoints="1" noAdjustHandles="1" noChangeArrowheads="1" noChangeShapeType="1" noTextEdit="1"/>
              </p:cNvSpPr>
              <p:nvPr/>
            </p:nvSpPr>
            <p:spPr>
              <a:xfrm>
                <a:off x="239484" y="3323903"/>
                <a:ext cx="5272645" cy="646331"/>
              </a:xfrm>
              <a:prstGeom prst="rect">
                <a:avLst/>
              </a:prstGeom>
              <a:blipFill>
                <a:blip r:embed="rId3"/>
                <a:stretch>
                  <a:fillRect b="-25000"/>
                </a:stretch>
              </a:blipFill>
            </p:spPr>
            <p:txBody>
              <a:bodyPr/>
              <a:lstStyle/>
              <a:p>
                <a:r>
                  <a:rPr lang="en-CN">
                    <a:noFill/>
                  </a:rPr>
                  <a:t> </a:t>
                </a:r>
              </a:p>
            </p:txBody>
          </p:sp>
        </mc:Fallback>
      </mc:AlternateContent>
      <p:pic>
        <p:nvPicPr>
          <p:cNvPr id="10" name="Picture 9">
            <a:extLst>
              <a:ext uri="{FF2B5EF4-FFF2-40B4-BE49-F238E27FC236}">
                <a16:creationId xmlns:a16="http://schemas.microsoft.com/office/drawing/2014/main" id="{7F40A910-B6BA-9228-0B1B-C4116DCB6144}"/>
              </a:ext>
            </a:extLst>
          </p:cNvPr>
          <p:cNvPicPr>
            <a:picLocks noChangeAspect="1"/>
          </p:cNvPicPr>
          <p:nvPr/>
        </p:nvPicPr>
        <p:blipFill>
          <a:blip r:embed="rId4"/>
          <a:stretch>
            <a:fillRect/>
          </a:stretch>
        </p:blipFill>
        <p:spPr>
          <a:xfrm>
            <a:off x="7251700" y="5219700"/>
            <a:ext cx="4940300" cy="1638300"/>
          </a:xfrm>
          <a:prstGeom prst="rect">
            <a:avLst/>
          </a:prstGeom>
        </p:spPr>
      </p:pic>
      <p:pic>
        <p:nvPicPr>
          <p:cNvPr id="11" name="Picture 10">
            <a:extLst>
              <a:ext uri="{FF2B5EF4-FFF2-40B4-BE49-F238E27FC236}">
                <a16:creationId xmlns:a16="http://schemas.microsoft.com/office/drawing/2014/main" id="{6E162416-4E9F-F38A-5221-38278A249C1C}"/>
              </a:ext>
            </a:extLst>
          </p:cNvPr>
          <p:cNvPicPr>
            <a:picLocks noChangeAspect="1"/>
          </p:cNvPicPr>
          <p:nvPr/>
        </p:nvPicPr>
        <p:blipFill>
          <a:blip r:embed="rId5"/>
          <a:stretch>
            <a:fillRect/>
          </a:stretch>
        </p:blipFill>
        <p:spPr>
          <a:xfrm>
            <a:off x="4643583" y="3431474"/>
            <a:ext cx="2608117" cy="3426526"/>
          </a:xfrm>
          <a:prstGeom prst="rect">
            <a:avLst/>
          </a:prstGeom>
        </p:spPr>
      </p:pic>
      <p:sp>
        <p:nvSpPr>
          <p:cNvPr id="13" name="TextBox 12">
            <a:extLst>
              <a:ext uri="{FF2B5EF4-FFF2-40B4-BE49-F238E27FC236}">
                <a16:creationId xmlns:a16="http://schemas.microsoft.com/office/drawing/2014/main" id="{5E6AFC61-7D7C-B8FC-7F67-500369C0D109}"/>
              </a:ext>
            </a:extLst>
          </p:cNvPr>
          <p:cNvSpPr txBox="1"/>
          <p:nvPr/>
        </p:nvSpPr>
        <p:spPr>
          <a:xfrm>
            <a:off x="7837714" y="1698171"/>
            <a:ext cx="3978234" cy="369332"/>
          </a:xfrm>
          <a:prstGeom prst="rect">
            <a:avLst/>
          </a:prstGeom>
          <a:noFill/>
        </p:spPr>
        <p:txBody>
          <a:bodyPr wrap="square" rtlCol="0">
            <a:spAutoFit/>
          </a:bodyPr>
          <a:lstStyle/>
          <a:p>
            <a:r>
              <a:rPr lang="en-US" dirty="0"/>
              <a:t>F</a:t>
            </a:r>
            <a:r>
              <a:rPr lang="en-CN" dirty="0"/>
              <a:t>undamental temperature</a:t>
            </a:r>
          </a:p>
        </p:txBody>
      </p:sp>
    </p:spTree>
    <p:extLst>
      <p:ext uri="{BB962C8B-B14F-4D97-AF65-F5344CB8AC3E}">
        <p14:creationId xmlns:p14="http://schemas.microsoft.com/office/powerpoint/2010/main" val="165215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1B603FB-AB49-7644-AFD5-74C33DFF85DB}"/>
                  </a:ext>
                </a:extLst>
              </p:cNvPr>
              <p:cNvSpPr txBox="1"/>
              <p:nvPr/>
            </p:nvSpPr>
            <p:spPr>
              <a:xfrm>
                <a:off x="864919" y="586048"/>
                <a:ext cx="10462161" cy="1093697"/>
              </a:xfrm>
              <a:prstGeom prst="rect">
                <a:avLst/>
              </a:prstGeom>
              <a:noFill/>
            </p:spPr>
            <p:txBody>
              <a:bodyPr wrap="square" rtlCol="0">
                <a:spAutoFit/>
              </a:bodyPr>
              <a:lstStyle/>
              <a:p>
                <a:pPr algn="ctr"/>
                <a14:m>
                  <m:oMath xmlns:m="http://schemas.openxmlformats.org/officeDocument/2006/math">
                    <m:f>
                      <m:fPr>
                        <m:ctrlPr>
                          <a:rPr lang="en-CN" sz="4000" i="1" smtClean="0">
                            <a:latin typeface="Cambria Math" panose="02040503050406030204" pitchFamily="18" charset="0"/>
                          </a:rPr>
                        </m:ctrlPr>
                      </m:fPr>
                      <m:num>
                        <m:r>
                          <a:rPr lang="en-US" sz="4000" b="0" i="1" smtClean="0">
                            <a:latin typeface="Cambria Math" panose="02040503050406030204" pitchFamily="18" charset="0"/>
                          </a:rPr>
                          <m:t>1</m:t>
                        </m:r>
                      </m:num>
                      <m:den>
                        <m:r>
                          <a:rPr lang="en-CN" sz="4000" i="1" smtClean="0">
                            <a:latin typeface="Cambria Math" panose="02040503050406030204" pitchFamily="18" charset="0"/>
                            <a:ea typeface="Cambria Math" panose="02040503050406030204" pitchFamily="18" charset="0"/>
                          </a:rPr>
                          <m:t>𝜏</m:t>
                        </m:r>
                      </m:den>
                    </m:f>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d>
                          <m:dPr>
                            <m:ctrlPr>
                              <a:rPr lang="en-US" sz="4000" b="0" i="1" smtClean="0">
                                <a:latin typeface="Cambria Math" panose="02040503050406030204" pitchFamily="18" charset="0"/>
                              </a:rPr>
                            </m:ctrlPr>
                          </m:dPr>
                          <m:e>
                            <m:f>
                              <m:fPr>
                                <m:ctrlPr>
                                  <a:rPr lang="en-US" sz="4000" b="0" i="1" smtClean="0">
                                    <a:latin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𝜎</m:t>
                                </m:r>
                              </m:num>
                              <m:den>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𝑈</m:t>
                                </m:r>
                              </m:den>
                            </m:f>
                          </m:e>
                        </m:d>
                      </m:e>
                      <m:sub>
                        <m:r>
                          <a:rPr lang="en-US" sz="4000" b="0" i="1" smtClean="0">
                            <a:latin typeface="Cambria Math" panose="02040503050406030204" pitchFamily="18" charset="0"/>
                          </a:rPr>
                          <m:t>𝑁</m:t>
                        </m:r>
                      </m:sub>
                    </m:sSub>
                  </m:oMath>
                </a14:m>
                <a:r>
                  <a:rPr lang="en-CN" sz="4000" dirty="0"/>
                  <a:t>                   </a:t>
                </a:r>
                <a:r>
                  <a:rPr lang="en-US" sz="4000" dirty="0"/>
                  <a:t>vs                  </a:t>
                </a:r>
                <a14:m>
                  <m:oMath xmlns:m="http://schemas.openxmlformats.org/officeDocument/2006/math">
                    <m:r>
                      <m:rPr>
                        <m:sty m:val="p"/>
                      </m:rPr>
                      <a:rPr lang="el-GR" sz="4000" i="1" smtClean="0">
                        <a:latin typeface="Cambria Math" panose="02040503050406030204" pitchFamily="18" charset="0"/>
                        <a:ea typeface="Cambria Math" panose="02040503050406030204" pitchFamily="18" charset="0"/>
                      </a:rPr>
                      <m:t>τ</m:t>
                    </m:r>
                    <m:r>
                      <a:rPr lang="en-US" sz="4000" i="1">
                        <a:latin typeface="Cambria Math" panose="02040503050406030204" pitchFamily="18" charset="0"/>
                      </a:rPr>
                      <m:t>=</m:t>
                    </m:r>
                    <m:sSub>
                      <m:sSubPr>
                        <m:ctrlPr>
                          <a:rPr lang="en-US" sz="4000" i="1">
                            <a:latin typeface="Cambria Math" panose="02040503050406030204" pitchFamily="18" charset="0"/>
                          </a:rPr>
                        </m:ctrlPr>
                      </m:sSubPr>
                      <m:e>
                        <m:d>
                          <m:dPr>
                            <m:ctrlPr>
                              <a:rPr lang="en-US" sz="4000" i="1">
                                <a:latin typeface="Cambria Math" panose="02040503050406030204" pitchFamily="18" charset="0"/>
                              </a:rPr>
                            </m:ctrlPr>
                          </m:dPr>
                          <m:e>
                            <m:f>
                              <m:fPr>
                                <m:ctrlPr>
                                  <a:rPr lang="en-US" sz="4000" i="1">
                                    <a:latin typeface="Cambria Math" panose="02040503050406030204" pitchFamily="18" charset="0"/>
                                  </a:rPr>
                                </m:ctrlPr>
                              </m:fPr>
                              <m:num>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𝑈</m:t>
                                </m:r>
                              </m:num>
                              <m:den>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 </m:t>
                                </m:r>
                                <m:r>
                                  <a:rPr lang="en-US" sz="4000" i="1" smtClean="0">
                                    <a:latin typeface="Cambria Math" panose="02040503050406030204" pitchFamily="18" charset="0"/>
                                    <a:ea typeface="Cambria Math" panose="02040503050406030204" pitchFamily="18" charset="0"/>
                                  </a:rPr>
                                  <m:t>𝜎</m:t>
                                </m:r>
                              </m:den>
                            </m:f>
                          </m:e>
                        </m:d>
                      </m:e>
                      <m:sub>
                        <m:r>
                          <a:rPr lang="en-US" sz="4000" i="1">
                            <a:latin typeface="Cambria Math" panose="02040503050406030204" pitchFamily="18" charset="0"/>
                          </a:rPr>
                          <m:t>𝑁</m:t>
                        </m:r>
                      </m:sub>
                    </m:sSub>
                  </m:oMath>
                </a14:m>
                <a:endParaRPr lang="en-CN" sz="4000" dirty="0"/>
              </a:p>
            </p:txBody>
          </p:sp>
        </mc:Choice>
        <mc:Fallback xmlns="">
          <p:sp>
            <p:nvSpPr>
              <p:cNvPr id="4" name="TextBox 3">
                <a:extLst>
                  <a:ext uri="{FF2B5EF4-FFF2-40B4-BE49-F238E27FC236}">
                    <a16:creationId xmlns:a16="http://schemas.microsoft.com/office/drawing/2014/main" id="{71B603FB-AB49-7644-AFD5-74C33DFF85DB}"/>
                  </a:ext>
                </a:extLst>
              </p:cNvPr>
              <p:cNvSpPr txBox="1">
                <a:spLocks noRot="1" noChangeAspect="1" noMove="1" noResize="1" noEditPoints="1" noAdjustHandles="1" noChangeArrowheads="1" noChangeShapeType="1" noTextEdit="1"/>
              </p:cNvSpPr>
              <p:nvPr/>
            </p:nvSpPr>
            <p:spPr>
              <a:xfrm>
                <a:off x="864919" y="586048"/>
                <a:ext cx="10462161" cy="1093697"/>
              </a:xfrm>
              <a:prstGeom prst="rect">
                <a:avLst/>
              </a:prstGeom>
              <a:blipFill>
                <a:blip r:embed="rId3"/>
                <a:stretch>
                  <a:fillRect b="-1034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959C5E2-8A24-0844-85C5-3BB74716E495}"/>
                  </a:ext>
                </a:extLst>
              </p:cNvPr>
              <p:cNvSpPr txBox="1"/>
              <p:nvPr/>
            </p:nvSpPr>
            <p:spPr>
              <a:xfrm>
                <a:off x="548640" y="2091225"/>
                <a:ext cx="10890504" cy="1938992"/>
              </a:xfrm>
              <a:prstGeom prst="rect">
                <a:avLst/>
              </a:prstGeom>
              <a:noFill/>
            </p:spPr>
            <p:txBody>
              <a:bodyPr wrap="square" rtlCol="0">
                <a:spAutoFit/>
              </a:bodyPr>
              <a:lstStyle/>
              <a:p>
                <a:r>
                  <a:rPr lang="en-CN" sz="4000" dirty="0">
                    <a:latin typeface="FangSong" panose="02010609060101010101" pitchFamily="49" charset="-122"/>
                    <a:ea typeface="FangSong" panose="02010609060101010101" pitchFamily="49" charset="-122"/>
                  </a:rPr>
                  <a:t>自变量</a:t>
                </a:r>
                <a:r>
                  <a:rPr lang="zh-CN" altLang="en-US" sz="4000" dirty="0"/>
                  <a:t> </a:t>
                </a:r>
                <a:r>
                  <a:rPr lang="en-US" altLang="zh-CN" sz="4000" dirty="0"/>
                  <a:t> </a:t>
                </a:r>
                <a:r>
                  <a:rPr lang="zh-CN" altLang="en-US" sz="4000" dirty="0"/>
                  <a:t> </a:t>
                </a:r>
                <a:r>
                  <a:rPr lang="en-US" altLang="zh-CN" sz="4000" dirty="0"/>
                  <a:t>(U,N)                                               (</a:t>
                </a:r>
                <a14:m>
                  <m:oMath xmlns:m="http://schemas.openxmlformats.org/officeDocument/2006/math">
                    <m:r>
                      <a:rPr lang="en-US" altLang="zh-CN" sz="4000" i="1" smtClean="0">
                        <a:latin typeface="Cambria Math" panose="02040503050406030204" pitchFamily="18" charset="0"/>
                        <a:ea typeface="Cambria Math" panose="02040503050406030204" pitchFamily="18" charset="0"/>
                      </a:rPr>
                      <m:t>𝜎</m:t>
                    </m:r>
                  </m:oMath>
                </a14:m>
                <a:r>
                  <a:rPr lang="en-US" altLang="zh-CN" sz="4000" dirty="0"/>
                  <a:t>,N)</a:t>
                </a:r>
              </a:p>
              <a:p>
                <a:r>
                  <a:rPr lang="en-US" altLang="zh-CN" sz="4000" dirty="0"/>
                  <a:t>                       </a:t>
                </a:r>
              </a:p>
              <a:p>
                <a:r>
                  <a:rPr lang="en-US" sz="4000" dirty="0" err="1">
                    <a:latin typeface="FangSong" panose="02010609060101010101" pitchFamily="49" charset="-122"/>
                    <a:ea typeface="FangSong" panose="02010609060101010101" pitchFamily="49" charset="-122"/>
                  </a:rPr>
                  <a:t>变</a:t>
                </a:r>
                <a:r>
                  <a:rPr lang="en-US" sz="4000" dirty="0">
                    <a:latin typeface="FangSong" panose="02010609060101010101" pitchFamily="49" charset="-122"/>
                    <a:ea typeface="FangSong" panose="02010609060101010101" pitchFamily="49" charset="-122"/>
                  </a:rPr>
                  <a:t>  </a:t>
                </a:r>
                <a:r>
                  <a:rPr lang="en-US" sz="4000" dirty="0" err="1">
                    <a:latin typeface="FangSong" panose="02010609060101010101" pitchFamily="49" charset="-122"/>
                    <a:ea typeface="FangSong" panose="02010609060101010101" pitchFamily="49" charset="-122"/>
                  </a:rPr>
                  <a:t>量</a:t>
                </a:r>
                <a:r>
                  <a:rPr lang="en-US" altLang="zh-CN" sz="4000" dirty="0">
                    <a:latin typeface="FangSong" panose="02010609060101010101" pitchFamily="49" charset="-122"/>
                    <a:ea typeface="FangSong" panose="02010609060101010101" pitchFamily="49" charset="-122"/>
                  </a:rPr>
                  <a:t> </a:t>
                </a:r>
                <a14:m>
                  <m:oMath xmlns:m="http://schemas.openxmlformats.org/officeDocument/2006/math">
                    <m:r>
                      <a:rPr lang="zh-CN" altLang="en-US" sz="4000" i="1" smtClean="0">
                        <a:latin typeface="Cambria Math" panose="02040503050406030204" pitchFamily="18" charset="0"/>
                      </a:rPr>
                      <m:t>𝜎</m:t>
                    </m:r>
                    <m:r>
                      <a:rPr lang="en-US" altLang="zh-CN" sz="4000" b="0" i="1" smtClean="0">
                        <a:latin typeface="Cambria Math" panose="02040503050406030204" pitchFamily="18" charset="0"/>
                      </a:rPr>
                      <m:t>[</m:t>
                    </m:r>
                    <m:r>
                      <a:rPr lang="en-US" altLang="zh-CN" sz="4000" b="0" i="1" smtClean="0">
                        <a:latin typeface="Cambria Math" panose="02040503050406030204" pitchFamily="18" charset="0"/>
                      </a:rPr>
                      <m:t>𝑈</m:t>
                    </m:r>
                    <m:r>
                      <a:rPr lang="en-US" altLang="zh-CN" sz="4000" b="0" i="1" smtClean="0">
                        <a:latin typeface="Cambria Math" panose="02040503050406030204" pitchFamily="18" charset="0"/>
                      </a:rPr>
                      <m:t>,</m:t>
                    </m:r>
                    <m:r>
                      <a:rPr lang="en-US" altLang="zh-CN" sz="4000" b="0" i="1" smtClean="0">
                        <a:latin typeface="Cambria Math" panose="02040503050406030204" pitchFamily="18" charset="0"/>
                      </a:rPr>
                      <m:t>𝑁</m:t>
                    </m:r>
                    <m:r>
                      <a:rPr lang="en-US" altLang="zh-CN" sz="4000" b="0" i="1" smtClean="0">
                        <a:latin typeface="Cambria Math" panose="02040503050406030204" pitchFamily="18" charset="0"/>
                      </a:rPr>
                      <m:t>]</m:t>
                    </m:r>
                  </m:oMath>
                </a14:m>
                <a:r>
                  <a:rPr lang="en-CN" sz="4000" dirty="0"/>
                  <a:t> </a:t>
                </a:r>
                <a14:m>
                  <m:oMath xmlns:m="http://schemas.openxmlformats.org/officeDocument/2006/math">
                    <m:r>
                      <a:rPr lang="en-US" sz="4000" b="0" i="0" dirty="0" smtClean="0">
                        <a:latin typeface="Cambria Math" panose="02040503050406030204" pitchFamily="18" charset="0"/>
                      </a:rPr>
                      <m:t>                                           </m:t>
                    </m:r>
                    <m:r>
                      <a:rPr lang="en-US" sz="4000" i="1" dirty="0">
                        <a:latin typeface="Cambria Math" panose="02040503050406030204" pitchFamily="18" charset="0"/>
                      </a:rPr>
                      <m:t>𝑈</m:t>
                    </m:r>
                    <m:r>
                      <a:rPr lang="en-US" sz="4000" i="1" dirty="0">
                        <a:latin typeface="Cambria Math" panose="02040503050406030204" pitchFamily="18" charset="0"/>
                      </a:rPr>
                      <m:t>[</m:t>
                    </m:r>
                    <m:r>
                      <a:rPr lang="en-US" sz="4000" i="1" dirty="0">
                        <a:latin typeface="Cambria Math" panose="02040503050406030204" pitchFamily="18" charset="0"/>
                        <a:ea typeface="Cambria Math" panose="02040503050406030204" pitchFamily="18" charset="0"/>
                      </a:rPr>
                      <m:t>𝜎</m:t>
                    </m:r>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ea typeface="Cambria Math" panose="02040503050406030204" pitchFamily="18" charset="0"/>
                      </a:rPr>
                      <m:t>𝑁</m:t>
                    </m:r>
                    <m:r>
                      <a:rPr lang="en-US" sz="4000" i="1" dirty="0">
                        <a:latin typeface="Cambria Math" panose="02040503050406030204" pitchFamily="18" charset="0"/>
                      </a:rPr>
                      <m:t>]</m:t>
                    </m:r>
                  </m:oMath>
                </a14:m>
                <a:endParaRPr lang="en-CN" sz="4000" dirty="0"/>
              </a:p>
            </p:txBody>
          </p:sp>
        </mc:Choice>
        <mc:Fallback xmlns="">
          <p:sp>
            <p:nvSpPr>
              <p:cNvPr id="6" name="TextBox 5">
                <a:extLst>
                  <a:ext uri="{FF2B5EF4-FFF2-40B4-BE49-F238E27FC236}">
                    <a16:creationId xmlns:a16="http://schemas.microsoft.com/office/drawing/2014/main" id="{0959C5E2-8A24-0844-85C5-3BB74716E495}"/>
                  </a:ext>
                </a:extLst>
              </p:cNvPr>
              <p:cNvSpPr txBox="1">
                <a:spLocks noRot="1" noChangeAspect="1" noMove="1" noResize="1" noEditPoints="1" noAdjustHandles="1" noChangeArrowheads="1" noChangeShapeType="1" noTextEdit="1"/>
              </p:cNvSpPr>
              <p:nvPr/>
            </p:nvSpPr>
            <p:spPr>
              <a:xfrm>
                <a:off x="548640" y="2091225"/>
                <a:ext cx="10890504" cy="1938992"/>
              </a:xfrm>
              <a:prstGeom prst="rect">
                <a:avLst/>
              </a:prstGeom>
              <a:blipFill>
                <a:blip r:embed="rId4"/>
                <a:stretch>
                  <a:fillRect l="-1981" t="-7143" b="-10390"/>
                </a:stretch>
              </a:blipFill>
            </p:spPr>
            <p:txBody>
              <a:bodyPr/>
              <a:lstStyle/>
              <a:p>
                <a:r>
                  <a:rPr lang="en-CN">
                    <a:noFill/>
                  </a:rPr>
                  <a:t> </a:t>
                </a:r>
              </a:p>
            </p:txBody>
          </p:sp>
        </mc:Fallback>
      </mc:AlternateContent>
      <p:sp>
        <p:nvSpPr>
          <p:cNvPr id="7" name="TextBox 6">
            <a:extLst>
              <a:ext uri="{FF2B5EF4-FFF2-40B4-BE49-F238E27FC236}">
                <a16:creationId xmlns:a16="http://schemas.microsoft.com/office/drawing/2014/main" id="{C7E68E92-BF81-2B45-9F86-A97E6439C1D4}"/>
              </a:ext>
            </a:extLst>
          </p:cNvPr>
          <p:cNvSpPr txBox="1"/>
          <p:nvPr/>
        </p:nvSpPr>
        <p:spPr>
          <a:xfrm>
            <a:off x="1440595" y="4574942"/>
            <a:ext cx="9464633" cy="1815882"/>
          </a:xfrm>
          <a:prstGeom prst="rect">
            <a:avLst/>
          </a:prstGeom>
          <a:noFill/>
        </p:spPr>
        <p:txBody>
          <a:bodyPr wrap="square" rtlCol="0">
            <a:spAutoFit/>
          </a:bodyPr>
          <a:lstStyle/>
          <a:p>
            <a:pPr marL="457200" indent="-457200">
              <a:buFont typeface="Arial" panose="020B0604020202020204" pitchFamily="34" charset="0"/>
              <a:buChar char="•"/>
            </a:pPr>
            <a:r>
              <a:rPr lang="en-CN" sz="2800" dirty="0"/>
              <a:t>The question “what are the independent variables?” arises frequently in thermal physics because in some experiments we control some variables, and in other experiments we control other variables.</a:t>
            </a:r>
          </a:p>
        </p:txBody>
      </p:sp>
    </p:spTree>
    <p:extLst>
      <p:ext uri="{BB962C8B-B14F-4D97-AF65-F5344CB8AC3E}">
        <p14:creationId xmlns:p14="http://schemas.microsoft.com/office/powerpoint/2010/main" val="625875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65486C-73D6-B041-8043-13C6E26BC4B1}"/>
              </a:ext>
            </a:extLst>
          </p:cNvPr>
          <p:cNvSpPr txBox="1"/>
          <p:nvPr/>
        </p:nvSpPr>
        <p:spPr>
          <a:xfrm>
            <a:off x="3846181" y="166255"/>
            <a:ext cx="4358244" cy="646331"/>
          </a:xfrm>
          <a:prstGeom prst="rect">
            <a:avLst/>
          </a:prstGeom>
          <a:noFill/>
        </p:spPr>
        <p:txBody>
          <a:bodyPr wrap="square" rtlCol="0">
            <a:spAutoFit/>
          </a:bodyPr>
          <a:lstStyle/>
          <a:p>
            <a:pPr algn="ctr"/>
            <a:r>
              <a:rPr lang="en-US" sz="3600" dirty="0"/>
              <a:t>Exponential decay</a:t>
            </a:r>
            <a:endParaRPr lang="en-CN" sz="36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325952F-CACF-1140-9F05-844880B881C2}"/>
                  </a:ext>
                </a:extLst>
              </p:cNvPr>
              <p:cNvSpPr txBox="1"/>
              <p:nvPr/>
            </p:nvSpPr>
            <p:spPr>
              <a:xfrm>
                <a:off x="725741" y="1495707"/>
                <a:ext cx="10909464" cy="409156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sz="4000" b="0" i="1" smtClean="0">
                          <a:latin typeface="Cambria Math" panose="02040503050406030204" pitchFamily="18" charset="0"/>
                        </a:rPr>
                        <m:t>𝑁</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𝑡</m:t>
                          </m:r>
                        </m:e>
                      </m:d>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𝑁</m:t>
                          </m:r>
                        </m:e>
                        <m:sub>
                          <m:r>
                            <a:rPr lang="en-US" sz="4000" b="0" i="1" smtClean="0">
                              <a:latin typeface="Cambria Math" panose="02040503050406030204" pitchFamily="18" charset="0"/>
                            </a:rPr>
                            <m:t>0</m:t>
                          </m:r>
                        </m:sub>
                      </m:sSub>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𝑒</m:t>
                          </m:r>
                        </m:e>
                        <m:sup>
                          <m:r>
                            <a:rPr lang="en-US" sz="4000" b="0" i="1" smtClean="0">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𝜆</m:t>
                          </m:r>
                          <m:r>
                            <a:rPr lang="en-US" sz="4000" b="0" i="1" smtClean="0">
                              <a:latin typeface="Cambria Math" panose="02040503050406030204" pitchFamily="18" charset="0"/>
                              <a:ea typeface="Cambria Math" panose="02040503050406030204" pitchFamily="18" charset="0"/>
                            </a:rPr>
                            <m:t>𝑡</m:t>
                          </m:r>
                        </m:sup>
                      </m:sSup>
                    </m:oMath>
                  </m:oMathPara>
                </a14:m>
                <a:endParaRPr lang="en-CN" sz="4000" dirty="0"/>
              </a:p>
              <a:p>
                <a:endParaRPr lang="en-CN" sz="4000" dirty="0"/>
              </a:p>
              <a:p>
                <a:r>
                  <a:rPr lang="en-US" sz="4000" dirty="0"/>
                  <a:t>W</a:t>
                </a:r>
                <a:r>
                  <a:rPr lang="en-CN" sz="4000" dirty="0"/>
                  <a:t>here N(t) is the quantity at time t, N</a:t>
                </a:r>
                <a:r>
                  <a:rPr lang="en-CN" sz="4000" baseline="-25000" dirty="0"/>
                  <a:t>0</a:t>
                </a:r>
                <a:r>
                  <a:rPr lang="en-CN" sz="4000" dirty="0"/>
                  <a:t> is the initial quantity, that is , the quantity at time t=0, and the constant </a:t>
                </a:r>
                <a14:m>
                  <m:oMath xmlns:m="http://schemas.openxmlformats.org/officeDocument/2006/math">
                    <m:r>
                      <a:rPr lang="en-CN" sz="4000" i="1" smtClean="0">
                        <a:latin typeface="Cambria Math" panose="02040503050406030204" pitchFamily="18" charset="0"/>
                        <a:ea typeface="Cambria Math" panose="02040503050406030204" pitchFamily="18" charset="0"/>
                      </a:rPr>
                      <m:t>𝜆</m:t>
                    </m:r>
                  </m:oMath>
                </a14:m>
                <a:r>
                  <a:rPr lang="en-CN" sz="4000" dirty="0"/>
                  <a:t> is called the </a:t>
                </a:r>
                <a:r>
                  <a:rPr lang="en-CN" sz="4000" dirty="0">
                    <a:solidFill>
                      <a:srgbClr val="FF0000"/>
                    </a:solidFill>
                  </a:rPr>
                  <a:t>decay constant</a:t>
                </a:r>
                <a:r>
                  <a:rPr lang="en-CN" sz="4000" dirty="0"/>
                  <a:t>…many meanings.</a:t>
                </a:r>
              </a:p>
              <a:p>
                <a:r>
                  <a:rPr lang="en-CN" dirty="0"/>
                  <a:t> </a:t>
                </a:r>
              </a:p>
            </p:txBody>
          </p:sp>
        </mc:Choice>
        <mc:Fallback xmlns="">
          <p:sp>
            <p:nvSpPr>
              <p:cNvPr id="4" name="TextBox 3">
                <a:extLst>
                  <a:ext uri="{FF2B5EF4-FFF2-40B4-BE49-F238E27FC236}">
                    <a16:creationId xmlns:a16="http://schemas.microsoft.com/office/drawing/2014/main" id="{F325952F-CACF-1140-9F05-844880B881C2}"/>
                  </a:ext>
                </a:extLst>
              </p:cNvPr>
              <p:cNvSpPr txBox="1">
                <a:spLocks noRot="1" noChangeAspect="1" noMove="1" noResize="1" noEditPoints="1" noAdjustHandles="1" noChangeArrowheads="1" noChangeShapeType="1" noTextEdit="1"/>
              </p:cNvSpPr>
              <p:nvPr/>
            </p:nvSpPr>
            <p:spPr>
              <a:xfrm>
                <a:off x="725741" y="1495707"/>
                <a:ext cx="10909464" cy="4091569"/>
              </a:xfrm>
              <a:prstGeom prst="rect">
                <a:avLst/>
              </a:prstGeom>
              <a:blipFill>
                <a:blip r:embed="rId2"/>
                <a:stretch>
                  <a:fillRect l="-1977" r="-814"/>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ED7F7A11-A829-A146-B06A-B7171ACAB0BB}"/>
              </a:ext>
            </a:extLst>
          </p:cNvPr>
          <p:cNvSpPr txBox="1"/>
          <p:nvPr/>
        </p:nvSpPr>
        <p:spPr>
          <a:xfrm>
            <a:off x="190005" y="166255"/>
            <a:ext cx="2161309"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补遗</a:t>
            </a:r>
          </a:p>
        </p:txBody>
      </p:sp>
    </p:spTree>
    <p:extLst>
      <p:ext uri="{BB962C8B-B14F-4D97-AF65-F5344CB8AC3E}">
        <p14:creationId xmlns:p14="http://schemas.microsoft.com/office/powerpoint/2010/main" val="4252013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4E2893-E17E-DA41-BE40-7A18BE40D27C}"/>
                  </a:ext>
                </a:extLst>
              </p:cNvPr>
              <p:cNvSpPr txBox="1"/>
              <p:nvPr/>
            </p:nvSpPr>
            <p:spPr>
              <a:xfrm>
                <a:off x="0" y="0"/>
                <a:ext cx="12124944" cy="4160563"/>
              </a:xfrm>
              <a:prstGeom prst="rect">
                <a:avLst/>
              </a:prstGeom>
              <a:noFill/>
            </p:spPr>
            <p:txBody>
              <a:bodyPr wrap="square" rtlCol="0">
                <a:spAutoFit/>
              </a:bodyPr>
              <a:lstStyle/>
              <a:p>
                <a:r>
                  <a:rPr lang="en-CN" sz="2400" dirty="0">
                    <a:solidFill>
                      <a:srgbClr val="FF0000"/>
                    </a:solidFill>
                  </a:rPr>
                  <a:t>Mean lifetime</a:t>
                </a:r>
              </a:p>
              <a:p>
                <a:pPr algn="ct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ea typeface="Cambria Math" panose="02040503050406030204" pitchFamily="18" charset="0"/>
                        </a:rPr>
                        <m:t>𝜏</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𝜆</m:t>
                          </m:r>
                        </m:den>
                      </m:f>
                    </m:oMath>
                  </m:oMathPara>
                </a14:m>
                <a:endParaRPr lang="en-CN" sz="2400" dirty="0"/>
              </a:p>
              <a:p>
                <a:pPr marL="285750" indent="-285750">
                  <a:buFont typeface="Arial" panose="020B0604020202020204" pitchFamily="34" charset="0"/>
                  <a:buChar char="•"/>
                </a:pPr>
                <a:r>
                  <a:rPr lang="en-CN" sz="2400" dirty="0"/>
                  <a:t>     </a:t>
                </a:r>
                <a14:m>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1</m:t>
                        </m:r>
                      </m:num>
                      <m:den>
                        <m:r>
                          <a:rPr lang="en-CN" sz="2400" i="1" smtClean="0">
                            <a:latin typeface="Cambria Math" panose="02040503050406030204" pitchFamily="18" charset="0"/>
                            <a:ea typeface="Cambria Math" panose="02040503050406030204" pitchFamily="18" charset="0"/>
                          </a:rPr>
                          <m:t>𝜏</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r>
                          <a:rPr lang="en-US" sz="2400" b="0" i="1" smtClean="0">
                            <a:latin typeface="Cambria Math" panose="02040503050406030204" pitchFamily="18" charset="0"/>
                          </a:rPr>
                          <m:t> </m:t>
                        </m:r>
                        <m:r>
                          <a:rPr lang="en-US" sz="2400" b="0" i="1" smtClean="0">
                            <a:latin typeface="Cambria Math" panose="02040503050406030204" pitchFamily="18" charset="0"/>
                          </a:rPr>
                          <m:t>𝐿𝑜𝑔</m:t>
                        </m:r>
                        <m:r>
                          <a:rPr lang="en-US" sz="2400" b="0" i="1" smtClean="0">
                            <a:latin typeface="Cambria Math" panose="02040503050406030204" pitchFamily="18" charset="0"/>
                          </a:rPr>
                          <m:t> </m:t>
                        </m:r>
                        <m:r>
                          <a:rPr lang="en-US" sz="2400" b="0" i="1" smtClean="0">
                            <a:latin typeface="Cambria Math" panose="02040503050406030204" pitchFamily="18" charset="0"/>
                          </a:rPr>
                          <m:t>𝑁</m:t>
                        </m:r>
                      </m:num>
                      <m:den>
                        <m:r>
                          <a:rPr lang="en-US" sz="2400" b="0" i="1" smtClean="0">
                            <a:latin typeface="Cambria Math" panose="02040503050406030204" pitchFamily="18" charset="0"/>
                          </a:rPr>
                          <m:t>𝑑</m:t>
                        </m:r>
                        <m:r>
                          <a:rPr lang="en-US" sz="2400" b="0" i="1" smtClean="0">
                            <a:latin typeface="Cambria Math" panose="02040503050406030204" pitchFamily="18" charset="0"/>
                          </a:rPr>
                          <m:t> </m:t>
                        </m:r>
                        <m:r>
                          <a:rPr lang="en-US" sz="2400" b="0" i="1" smtClean="0">
                            <a:latin typeface="Cambria Math" panose="02040503050406030204" pitchFamily="18" charset="0"/>
                          </a:rPr>
                          <m:t>𝑡</m:t>
                        </m:r>
                      </m:den>
                    </m:f>
                  </m:oMath>
                </a14:m>
                <a:endParaRPr lang="en-CN" sz="2400" dirty="0"/>
              </a:p>
              <a:p>
                <a:r>
                  <a:rPr lang="en-CN" sz="2400" dirty="0"/>
                  <a:t>          </a:t>
                </a:r>
                <a14:m>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1</m:t>
                        </m:r>
                      </m:num>
                      <m:den>
                        <m:r>
                          <a:rPr lang="en-CN" sz="2400" i="1" smtClean="0">
                            <a:latin typeface="Cambria Math" panose="02040503050406030204" pitchFamily="18" charset="0"/>
                            <a:ea typeface="Cambria Math" panose="02040503050406030204" pitchFamily="18" charset="0"/>
                          </a:rPr>
                          <m:t>𝜏</m:t>
                        </m:r>
                      </m:den>
                    </m:f>
                    <m:r>
                      <a:rPr lang="en-CN"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𝑁</m:t>
                                    </m:r>
                                  </m:e>
                                </m:func>
                              </m:e>
                            </m:func>
                          </m:e>
                        </m:d>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𝑁</m:t>
                                </m:r>
                              </m:num>
                              <m:den>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den>
                            </m:f>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num>
                                  <m:den>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den>
                                </m:f>
                              </m:e>
                            </m:func>
                          </m:e>
                        </m:func>
                      </m:e>
                    </m:func>
                  </m:oMath>
                </a14:m>
                <a:endParaRPr lang="en-CN" sz="2400" dirty="0"/>
              </a:p>
              <a:p>
                <a:r>
                  <a:rPr lang="en-CN" sz="2400" dirty="0"/>
                  <a:t>          </a:t>
                </a:r>
                <a14:m>
                  <m:oMath xmlns:m="http://schemas.openxmlformats.org/officeDocument/2006/math">
                    <m:r>
                      <a:rPr lang="en-US" sz="2400" b="0" i="1" smtClean="0">
                        <a:latin typeface="Cambria Math" panose="02040503050406030204" pitchFamily="18" charset="0"/>
                      </a:rPr>
                      <m:t>𝑁</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e>
                    </m:d>
                    <m:r>
                      <a:rPr lang="en-US" sz="2400" b="0" i="1"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𝜏</m:t>
                        </m:r>
                      </m:sup>
                    </m:sSup>
                  </m:oMath>
                </a14:m>
                <a:endParaRPr lang="en-CN" sz="2400" dirty="0"/>
              </a:p>
              <a:p>
                <a:r>
                  <a:rPr lang="en-CN" sz="2400" dirty="0"/>
                  <a:t> </a:t>
                </a:r>
                <a14:m>
                  <m:oMath xmlns:m="http://schemas.openxmlformats.org/officeDocument/2006/math">
                    <m:r>
                      <a:rPr lang="en-US" sz="2400" b="0" i="0" smtClean="0">
                        <a:latin typeface="Cambria Math" panose="02040503050406030204" pitchFamily="18" charset="0"/>
                        <a:ea typeface="Cambria Math" panose="02040503050406030204" pitchFamily="18" charset="0"/>
                      </a:rPr>
                      <m:t>         </m:t>
                    </m:r>
                    <m:r>
                      <a:rPr lang="en-CN" sz="2400" i="1" smtClean="0">
                        <a:latin typeface="Cambria Math" panose="02040503050406030204" pitchFamily="18" charset="0"/>
                        <a:ea typeface="Cambria Math" panose="02040503050406030204" pitchFamily="18" charset="0"/>
                      </a:rPr>
                      <m:t>𝜏</m:t>
                    </m:r>
                  </m:oMath>
                </a14:m>
                <a:r>
                  <a:rPr lang="en-CN" sz="2400" dirty="0"/>
                  <a:t> is the time at which the N is reduced to </a:t>
                </a:r>
                <a:r>
                  <a:rPr lang="en-CN" sz="2400" dirty="0">
                    <a:solidFill>
                      <a:srgbClr val="FF0000"/>
                    </a:solidFill>
                  </a:rPr>
                  <a:t>1/e</a:t>
                </a:r>
                <a:r>
                  <a:rPr lang="en-CN" sz="2400" dirty="0"/>
                  <a:t> times its initial value.</a:t>
                </a:r>
              </a:p>
              <a:p>
                <a:pPr marL="285750" indent="-285750">
                  <a:buFont typeface="Arial" panose="020B0604020202020204" pitchFamily="34" charset="0"/>
                  <a:buChar char="•"/>
                </a:pPr>
                <a:r>
                  <a:rPr lang="en-CN" sz="2400" dirty="0"/>
                  <a:t>    </a:t>
                </a:r>
                <a14:m>
                  <m:oMath xmlns:m="http://schemas.openxmlformats.org/officeDocument/2006/math">
                    <m:r>
                      <a:rPr lang="en-CN" sz="2400" i="1" smtClean="0">
                        <a:solidFill>
                          <a:srgbClr val="FF0000"/>
                        </a:solidFill>
                        <a:latin typeface="Cambria Math" panose="02040503050406030204" pitchFamily="18" charset="0"/>
                        <a:ea typeface="Cambria Math" panose="02040503050406030204" pitchFamily="18" charset="0"/>
                      </a:rPr>
                      <m:t>𝜏</m:t>
                    </m:r>
                    <m:r>
                      <a:rPr lang="en-US" sz="2400" b="0" i="1" smtClean="0">
                        <a:solidFill>
                          <a:srgbClr val="FF0000"/>
                        </a:solidFill>
                        <a:latin typeface="Cambria Math" panose="02040503050406030204" pitchFamily="18" charset="0"/>
                        <a:ea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ea typeface="Cambria Math" panose="02040503050406030204" pitchFamily="18" charset="0"/>
                          </a:rPr>
                        </m:ctrlPr>
                      </m:dPr>
                      <m:e>
                        <m:r>
                          <a:rPr lang="en-US" sz="2400" b="0" i="1" smtClean="0">
                            <a:solidFill>
                              <a:srgbClr val="FF0000"/>
                            </a:solidFill>
                            <a:latin typeface="Cambria Math" panose="02040503050406030204" pitchFamily="18" charset="0"/>
                            <a:ea typeface="Cambria Math" panose="02040503050406030204" pitchFamily="18" charset="0"/>
                          </a:rPr>
                          <m:t>𝑡</m:t>
                        </m:r>
                      </m:e>
                    </m:d>
                    <m:r>
                      <a:rPr lang="en-US" sz="2400" b="0" i="1" smtClean="0">
                        <a:solidFill>
                          <a:srgbClr val="FF0000"/>
                        </a:solidFill>
                        <a:latin typeface="Cambria Math" panose="02040503050406030204" pitchFamily="18" charset="0"/>
                        <a:ea typeface="Cambria Math" panose="02040503050406030204" pitchFamily="18" charset="0"/>
                      </a:rPr>
                      <m:t>=</m:t>
                    </m:r>
                    <m:f>
                      <m:fPr>
                        <m:ctrlPr>
                          <a:rPr lang="en-US" sz="2400" b="0" i="1" smtClean="0">
                            <a:solidFill>
                              <a:srgbClr val="FF0000"/>
                            </a:solidFill>
                            <a:latin typeface="Cambria Math" panose="02040503050406030204" pitchFamily="18" charset="0"/>
                            <a:ea typeface="Cambria Math" panose="02040503050406030204" pitchFamily="18" charset="0"/>
                          </a:rPr>
                        </m:ctrlPr>
                      </m:fPr>
                      <m:num>
                        <m:nary>
                          <m:naryPr>
                            <m:ctrlPr>
                              <a:rPr lang="en-US" sz="2400" b="0" i="1" smtClean="0">
                                <a:solidFill>
                                  <a:srgbClr val="FF0000"/>
                                </a:solidFill>
                                <a:latin typeface="Cambria Math" panose="02040503050406030204" pitchFamily="18" charset="0"/>
                                <a:ea typeface="Cambria Math" panose="02040503050406030204" pitchFamily="18" charset="0"/>
                              </a:rPr>
                            </m:ctrlPr>
                          </m:naryPr>
                          <m:sub>
                            <m:r>
                              <m:rPr>
                                <m:brk m:alnAt="23"/>
                              </m:rPr>
                              <a:rPr lang="en-US" sz="2400" b="0" i="1" smtClean="0">
                                <a:solidFill>
                                  <a:srgbClr val="FF0000"/>
                                </a:solidFill>
                                <a:latin typeface="Cambria Math" panose="02040503050406030204" pitchFamily="18" charset="0"/>
                                <a:ea typeface="Cambria Math" panose="02040503050406030204" pitchFamily="18" charset="0"/>
                              </a:rPr>
                              <m:t>0</m:t>
                            </m:r>
                          </m:sub>
                          <m:sup>
                            <m:r>
                              <a:rPr lang="en-US" sz="2400" b="0" i="1" smtClean="0">
                                <a:solidFill>
                                  <a:srgbClr val="FF0000"/>
                                </a:solidFill>
                                <a:latin typeface="Cambria Math" panose="02040503050406030204" pitchFamily="18" charset="0"/>
                                <a:ea typeface="Cambria Math" panose="02040503050406030204" pitchFamily="18" charset="0"/>
                              </a:rPr>
                              <m:t>∞</m:t>
                            </m:r>
                          </m:sup>
                          <m:e>
                            <m:r>
                              <a:rPr lang="en-US" sz="2400" b="0" i="1" smtClean="0">
                                <a:solidFill>
                                  <a:srgbClr val="FF0000"/>
                                </a:solidFill>
                                <a:latin typeface="Cambria Math" panose="02040503050406030204" pitchFamily="18" charset="0"/>
                                <a:ea typeface="Cambria Math" panose="02040503050406030204" pitchFamily="18" charset="0"/>
                              </a:rPr>
                              <m:t>𝑑𝑡</m:t>
                            </m:r>
                            <m:r>
                              <a:rPr lang="en-US" sz="2400" b="0" i="1" smtClean="0">
                                <a:solidFill>
                                  <a:srgbClr val="FF0000"/>
                                </a:solidFill>
                                <a:latin typeface="Cambria Math" panose="02040503050406030204" pitchFamily="18" charset="0"/>
                                <a:ea typeface="Cambria Math" panose="02040503050406030204" pitchFamily="18" charset="0"/>
                              </a:rPr>
                              <m:t> </m:t>
                            </m:r>
                            <m:r>
                              <a:rPr lang="en-US" sz="2400" b="0" i="1" smtClean="0">
                                <a:solidFill>
                                  <a:srgbClr val="FF0000"/>
                                </a:solidFill>
                                <a:latin typeface="Cambria Math" panose="02040503050406030204" pitchFamily="18" charset="0"/>
                                <a:ea typeface="Cambria Math" panose="02040503050406030204" pitchFamily="18" charset="0"/>
                              </a:rPr>
                              <m:t>𝑡</m:t>
                            </m:r>
                            <m:r>
                              <a:rPr lang="en-US" sz="2400" b="0" i="1" smtClean="0">
                                <a:solidFill>
                                  <a:srgbClr val="FF0000"/>
                                </a:solidFill>
                                <a:latin typeface="Cambria Math" panose="02040503050406030204" pitchFamily="18" charset="0"/>
                                <a:ea typeface="Cambria Math" panose="02040503050406030204" pitchFamily="18" charset="0"/>
                              </a:rPr>
                              <m:t> </m:t>
                            </m:r>
                            <m:sSup>
                              <m:sSupPr>
                                <m:ctrlPr>
                                  <a:rPr lang="en-US" sz="2400" b="0" i="1" smtClean="0">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𝑒</m:t>
                                </m:r>
                              </m:e>
                              <m:sup>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𝜆</m:t>
                                </m:r>
                                <m:r>
                                  <a:rPr lang="en-US" sz="2400" b="0" i="1" smtClean="0">
                                    <a:solidFill>
                                      <a:srgbClr val="FF0000"/>
                                    </a:solidFill>
                                    <a:latin typeface="Cambria Math" panose="02040503050406030204" pitchFamily="18" charset="0"/>
                                    <a:ea typeface="Cambria Math" panose="02040503050406030204" pitchFamily="18" charset="0"/>
                                  </a:rPr>
                                  <m:t>𝑡</m:t>
                                </m:r>
                              </m:sup>
                            </m:sSup>
                          </m:e>
                        </m:nary>
                      </m:num>
                      <m:den>
                        <m:nary>
                          <m:naryPr>
                            <m:ctrlPr>
                              <a:rPr lang="en-US" sz="2400" b="0" i="1" smtClean="0">
                                <a:solidFill>
                                  <a:srgbClr val="FF0000"/>
                                </a:solidFill>
                                <a:latin typeface="Cambria Math" panose="02040503050406030204" pitchFamily="18" charset="0"/>
                                <a:ea typeface="Cambria Math" panose="02040503050406030204" pitchFamily="18" charset="0"/>
                              </a:rPr>
                            </m:ctrlPr>
                          </m:naryPr>
                          <m:sub>
                            <m:r>
                              <m:rPr>
                                <m:brk m:alnAt="23"/>
                              </m:rPr>
                              <a:rPr lang="en-US" sz="2400" b="0" i="1" smtClean="0">
                                <a:solidFill>
                                  <a:srgbClr val="FF0000"/>
                                </a:solidFill>
                                <a:latin typeface="Cambria Math" panose="02040503050406030204" pitchFamily="18" charset="0"/>
                                <a:ea typeface="Cambria Math" panose="02040503050406030204" pitchFamily="18" charset="0"/>
                              </a:rPr>
                              <m:t>0</m:t>
                            </m:r>
                          </m:sub>
                          <m:sup>
                            <m:r>
                              <a:rPr lang="en-US" sz="2400" b="0" i="1" smtClean="0">
                                <a:solidFill>
                                  <a:srgbClr val="FF0000"/>
                                </a:solidFill>
                                <a:latin typeface="Cambria Math" panose="02040503050406030204" pitchFamily="18" charset="0"/>
                                <a:ea typeface="Cambria Math" panose="02040503050406030204" pitchFamily="18" charset="0"/>
                              </a:rPr>
                              <m:t>∞</m:t>
                            </m:r>
                          </m:sup>
                          <m:e>
                            <m:r>
                              <a:rPr lang="en-US" sz="2400" b="0" i="1" smtClean="0">
                                <a:solidFill>
                                  <a:srgbClr val="FF0000"/>
                                </a:solidFill>
                                <a:latin typeface="Cambria Math" panose="02040503050406030204" pitchFamily="18" charset="0"/>
                                <a:ea typeface="Cambria Math" panose="02040503050406030204" pitchFamily="18" charset="0"/>
                              </a:rPr>
                              <m:t>𝑑𝑡</m:t>
                            </m:r>
                            <m:r>
                              <a:rPr lang="en-US" sz="2400" b="0" i="1" smtClean="0">
                                <a:solidFill>
                                  <a:srgbClr val="FF0000"/>
                                </a:solidFill>
                                <a:latin typeface="Cambria Math" panose="02040503050406030204" pitchFamily="18" charset="0"/>
                                <a:ea typeface="Cambria Math" panose="02040503050406030204" pitchFamily="18" charset="0"/>
                              </a:rPr>
                              <m:t> </m:t>
                            </m:r>
                            <m:sSup>
                              <m:sSupPr>
                                <m:ctrlPr>
                                  <a:rPr lang="en-US" sz="2400" b="0" i="1" smtClean="0">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𝑒</m:t>
                                </m:r>
                              </m:e>
                              <m:sup>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𝜆</m:t>
                                </m:r>
                                <m:r>
                                  <a:rPr lang="en-US" sz="2400" b="0" i="1" smtClean="0">
                                    <a:solidFill>
                                      <a:srgbClr val="FF0000"/>
                                    </a:solidFill>
                                    <a:latin typeface="Cambria Math" panose="02040503050406030204" pitchFamily="18" charset="0"/>
                                    <a:ea typeface="Cambria Math" panose="02040503050406030204" pitchFamily="18" charset="0"/>
                                  </a:rPr>
                                  <m:t>𝑡</m:t>
                                </m:r>
                              </m:sup>
                            </m:sSup>
                          </m:e>
                        </m:nary>
                      </m:den>
                    </m:f>
                    <m:r>
                      <a:rPr lang="en-US" sz="2400" b="0" i="1" smtClean="0">
                        <a:solidFill>
                          <a:srgbClr val="FF0000"/>
                        </a:solidFill>
                        <a:latin typeface="Cambria Math" panose="02040503050406030204" pitchFamily="18" charset="0"/>
                        <a:ea typeface="Cambria Math" panose="02040503050406030204" pitchFamily="18" charset="0"/>
                      </a:rPr>
                      <m:t>=</m:t>
                    </m:r>
                    <m:f>
                      <m:fPr>
                        <m:ctrlPr>
                          <a:rPr lang="en-US" sz="2400" i="1">
                            <a:solidFill>
                              <a:srgbClr val="FF0000"/>
                            </a:solidFill>
                            <a:latin typeface="Cambria Math" panose="02040503050406030204" pitchFamily="18" charset="0"/>
                            <a:ea typeface="Cambria Math" panose="02040503050406030204" pitchFamily="18" charset="0"/>
                          </a:rPr>
                        </m:ctrlPr>
                      </m:fPr>
                      <m:num>
                        <m:nary>
                          <m:naryPr>
                            <m:ctrlPr>
                              <a:rPr lang="en-US" sz="2400" i="1">
                                <a:solidFill>
                                  <a:srgbClr val="FF0000"/>
                                </a:solidFill>
                                <a:latin typeface="Cambria Math" panose="02040503050406030204" pitchFamily="18" charset="0"/>
                                <a:ea typeface="Cambria Math" panose="02040503050406030204" pitchFamily="18" charset="0"/>
                              </a:rPr>
                            </m:ctrlPr>
                          </m:naryPr>
                          <m:sub>
                            <m:r>
                              <m:rPr>
                                <m:brk m:alnAt="23"/>
                              </m:rPr>
                              <a:rPr lang="en-US" sz="2400" i="1">
                                <a:solidFill>
                                  <a:srgbClr val="FF0000"/>
                                </a:solidFill>
                                <a:latin typeface="Cambria Math" panose="02040503050406030204" pitchFamily="18" charset="0"/>
                                <a:ea typeface="Cambria Math" panose="02040503050406030204" pitchFamily="18" charset="0"/>
                              </a:rPr>
                              <m:t>0</m:t>
                            </m:r>
                          </m:sub>
                          <m:sup>
                            <m:r>
                              <a:rPr lang="en-US" sz="2400" i="1">
                                <a:solidFill>
                                  <a:srgbClr val="FF0000"/>
                                </a:solidFill>
                                <a:latin typeface="Cambria Math" panose="02040503050406030204" pitchFamily="18" charset="0"/>
                                <a:ea typeface="Cambria Math" panose="02040503050406030204" pitchFamily="18" charset="0"/>
                              </a:rPr>
                              <m:t>∞</m:t>
                            </m:r>
                          </m:sup>
                          <m:e>
                            <m:r>
                              <a:rPr lang="en-US" sz="2400" i="1">
                                <a:solidFill>
                                  <a:srgbClr val="FF0000"/>
                                </a:solidFill>
                                <a:latin typeface="Cambria Math" panose="02040503050406030204" pitchFamily="18" charset="0"/>
                                <a:ea typeface="Cambria Math" panose="02040503050406030204" pitchFamily="18" charset="0"/>
                              </a:rPr>
                              <m:t>𝑑</m:t>
                            </m:r>
                            <m:r>
                              <a:rPr lang="en-US" sz="2400" i="1" smtClean="0">
                                <a:solidFill>
                                  <a:schemeClr val="tx1"/>
                                </a:solidFill>
                                <a:latin typeface="Cambria Math" panose="02040503050406030204" pitchFamily="18" charset="0"/>
                                <a:ea typeface="Cambria Math" panose="02040503050406030204" pitchFamily="18" charset="0"/>
                              </a:rPr>
                              <m:t>𝜆</m:t>
                            </m:r>
                            <m:r>
                              <a:rPr lang="en-US" sz="2400" i="1" smtClean="0">
                                <a:solidFill>
                                  <a:schemeClr val="tx1"/>
                                </a:solidFill>
                                <a:latin typeface="Cambria Math" panose="02040503050406030204" pitchFamily="18" charset="0"/>
                                <a:ea typeface="Cambria Math" panose="02040503050406030204" pitchFamily="18" charset="0"/>
                              </a:rPr>
                              <m:t>𝑡</m:t>
                            </m:r>
                            <m:r>
                              <a:rPr lang="en-US" sz="2400" b="0" i="1" smtClean="0">
                                <a:solidFill>
                                  <a:srgbClr val="FF0000"/>
                                </a:solidFill>
                                <a:latin typeface="Cambria Math" panose="02040503050406030204" pitchFamily="18" charset="0"/>
                                <a:ea typeface="Cambria Math" panose="02040503050406030204" pitchFamily="18" charset="0"/>
                              </a:rPr>
                              <m:t> </m:t>
                            </m:r>
                            <m:r>
                              <a:rPr lang="en-US" sz="2400" i="1" smtClean="0">
                                <a:solidFill>
                                  <a:schemeClr val="tx1"/>
                                </a:solidFill>
                                <a:latin typeface="Cambria Math" panose="02040503050406030204" pitchFamily="18" charset="0"/>
                                <a:ea typeface="Cambria Math" panose="02040503050406030204" pitchFamily="18" charset="0"/>
                              </a:rPr>
                              <m:t>𝜆</m:t>
                            </m:r>
                            <m:r>
                              <a:rPr lang="en-US" sz="2400" i="1" smtClean="0">
                                <a:solidFill>
                                  <a:schemeClr val="tx1"/>
                                </a:solidFill>
                                <a:latin typeface="Cambria Math" panose="02040503050406030204" pitchFamily="18" charset="0"/>
                                <a:ea typeface="Cambria Math" panose="02040503050406030204" pitchFamily="18" charset="0"/>
                              </a:rPr>
                              <m:t>𝑡</m:t>
                            </m:r>
                            <m:r>
                              <a:rPr lang="en-US" sz="2400" i="1">
                                <a:solidFill>
                                  <a:srgbClr val="FF0000"/>
                                </a:solidFill>
                                <a:latin typeface="Cambria Math" panose="02040503050406030204" pitchFamily="18" charset="0"/>
                                <a:ea typeface="Cambria Math" panose="02040503050406030204" pitchFamily="18" charset="0"/>
                              </a:rPr>
                              <m:t> </m:t>
                            </m:r>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𝑒</m:t>
                                </m:r>
                              </m:e>
                              <m:sup>
                                <m:r>
                                  <a:rPr lang="en-US" sz="2400" i="1">
                                    <a:solidFill>
                                      <a:srgbClr val="FF0000"/>
                                    </a:solidFill>
                                    <a:latin typeface="Cambria Math" panose="02040503050406030204" pitchFamily="18" charset="0"/>
                                    <a:ea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rPr>
                                  <m:t>𝜆</m:t>
                                </m:r>
                                <m:r>
                                  <a:rPr lang="en-US" sz="2400" i="1" smtClean="0">
                                    <a:solidFill>
                                      <a:schemeClr val="tx1"/>
                                    </a:solidFill>
                                    <a:latin typeface="Cambria Math" panose="02040503050406030204" pitchFamily="18" charset="0"/>
                                    <a:ea typeface="Cambria Math" panose="02040503050406030204" pitchFamily="18" charset="0"/>
                                  </a:rPr>
                                  <m:t>𝑡</m:t>
                                </m:r>
                              </m:sup>
                            </m:sSup>
                          </m:e>
                        </m:nary>
                      </m:num>
                      <m:den>
                        <m:r>
                          <a:rPr lang="en-US" sz="2400" i="1">
                            <a:solidFill>
                              <a:srgbClr val="FF0000"/>
                            </a:solidFill>
                            <a:latin typeface="Cambria Math" panose="02040503050406030204" pitchFamily="18" charset="0"/>
                            <a:ea typeface="Cambria Math" panose="02040503050406030204" pitchFamily="18" charset="0"/>
                          </a:rPr>
                          <m:t>𝜆</m:t>
                        </m:r>
                        <m:nary>
                          <m:naryPr>
                            <m:ctrlPr>
                              <a:rPr lang="en-US" sz="2400" i="1">
                                <a:solidFill>
                                  <a:srgbClr val="FF0000"/>
                                </a:solidFill>
                                <a:latin typeface="Cambria Math" panose="02040503050406030204" pitchFamily="18" charset="0"/>
                                <a:ea typeface="Cambria Math" panose="02040503050406030204" pitchFamily="18" charset="0"/>
                              </a:rPr>
                            </m:ctrlPr>
                          </m:naryPr>
                          <m:sub>
                            <m:r>
                              <m:rPr>
                                <m:brk m:alnAt="23"/>
                              </m:rPr>
                              <a:rPr lang="en-US" sz="2400" i="1">
                                <a:solidFill>
                                  <a:srgbClr val="FF0000"/>
                                </a:solidFill>
                                <a:latin typeface="Cambria Math" panose="02040503050406030204" pitchFamily="18" charset="0"/>
                                <a:ea typeface="Cambria Math" panose="02040503050406030204" pitchFamily="18" charset="0"/>
                              </a:rPr>
                              <m:t>0</m:t>
                            </m:r>
                          </m:sub>
                          <m:sup>
                            <m:r>
                              <a:rPr lang="en-US" sz="2400" i="1">
                                <a:solidFill>
                                  <a:srgbClr val="FF0000"/>
                                </a:solidFill>
                                <a:latin typeface="Cambria Math" panose="02040503050406030204" pitchFamily="18" charset="0"/>
                                <a:ea typeface="Cambria Math" panose="02040503050406030204" pitchFamily="18" charset="0"/>
                              </a:rPr>
                              <m:t>∞</m:t>
                            </m:r>
                          </m:sup>
                          <m:e>
                            <m:r>
                              <a:rPr lang="en-US" sz="2400" i="1">
                                <a:solidFill>
                                  <a:srgbClr val="FF0000"/>
                                </a:solidFill>
                                <a:latin typeface="Cambria Math" panose="02040503050406030204" pitchFamily="18" charset="0"/>
                                <a:ea typeface="Cambria Math" panose="02040503050406030204" pitchFamily="18" charset="0"/>
                              </a:rPr>
                              <m:t>𝑑</m:t>
                            </m:r>
                            <m:r>
                              <a:rPr lang="en-US" sz="2400" i="1" smtClean="0">
                                <a:solidFill>
                                  <a:schemeClr val="tx1"/>
                                </a:solidFill>
                                <a:latin typeface="Cambria Math" panose="02040503050406030204" pitchFamily="18" charset="0"/>
                                <a:ea typeface="Cambria Math" panose="02040503050406030204" pitchFamily="18" charset="0"/>
                              </a:rPr>
                              <m:t>𝜆</m:t>
                            </m:r>
                            <m:r>
                              <a:rPr lang="en-US" sz="2400" i="1" smtClean="0">
                                <a:solidFill>
                                  <a:schemeClr val="tx1"/>
                                </a:solidFill>
                                <a:latin typeface="Cambria Math" panose="02040503050406030204" pitchFamily="18" charset="0"/>
                                <a:ea typeface="Cambria Math" panose="02040503050406030204" pitchFamily="18" charset="0"/>
                              </a:rPr>
                              <m:t>𝑡</m:t>
                            </m:r>
                            <m:r>
                              <a:rPr lang="en-US" sz="2400" i="1">
                                <a:solidFill>
                                  <a:srgbClr val="FF0000"/>
                                </a:solidFill>
                                <a:latin typeface="Cambria Math" panose="02040503050406030204" pitchFamily="18" charset="0"/>
                                <a:ea typeface="Cambria Math" panose="02040503050406030204" pitchFamily="18" charset="0"/>
                              </a:rPr>
                              <m:t> </m:t>
                            </m:r>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𝑒</m:t>
                                </m:r>
                              </m:e>
                              <m:sup>
                                <m:r>
                                  <a:rPr lang="en-US" sz="2400" i="1">
                                    <a:solidFill>
                                      <a:srgbClr val="FF0000"/>
                                    </a:solidFill>
                                    <a:latin typeface="Cambria Math" panose="02040503050406030204" pitchFamily="18" charset="0"/>
                                    <a:ea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rPr>
                                  <m:t>𝜆</m:t>
                                </m:r>
                                <m:r>
                                  <a:rPr lang="en-US" sz="2400" i="1" smtClean="0">
                                    <a:solidFill>
                                      <a:schemeClr val="tx1"/>
                                    </a:solidFill>
                                    <a:latin typeface="Cambria Math" panose="02040503050406030204" pitchFamily="18" charset="0"/>
                                    <a:ea typeface="Cambria Math" panose="02040503050406030204" pitchFamily="18" charset="0"/>
                                  </a:rPr>
                                  <m:t>𝑡</m:t>
                                </m:r>
                              </m:sup>
                            </m:sSup>
                          </m:e>
                        </m:nary>
                      </m:den>
                    </m:f>
                    <m:r>
                      <a:rPr lang="en-US" sz="2400" b="0" i="1" smtClean="0">
                        <a:solidFill>
                          <a:srgbClr val="FF0000"/>
                        </a:solidFill>
                        <a:latin typeface="Cambria Math" panose="02040503050406030204" pitchFamily="18" charset="0"/>
                        <a:ea typeface="Cambria Math" panose="02040503050406030204" pitchFamily="18" charset="0"/>
                      </a:rPr>
                      <m:t>=</m:t>
                    </m:r>
                    <m:f>
                      <m:fPr>
                        <m:ctrlPr>
                          <a:rPr lang="en-US" sz="2400" b="0" i="1" smtClean="0">
                            <a:solidFill>
                              <a:srgbClr val="FF0000"/>
                            </a:solidFill>
                            <a:latin typeface="Cambria Math" panose="02040503050406030204" pitchFamily="18" charset="0"/>
                            <a:ea typeface="Cambria Math" panose="02040503050406030204" pitchFamily="18" charset="0"/>
                          </a:rPr>
                        </m:ctrlPr>
                      </m:fPr>
                      <m:num>
                        <m:r>
                          <a:rPr lang="en-US" sz="2400" b="0" i="1" smtClean="0">
                            <a:solidFill>
                              <a:srgbClr val="FF0000"/>
                            </a:solidFill>
                            <a:latin typeface="Cambria Math" panose="02040503050406030204" pitchFamily="18" charset="0"/>
                            <a:ea typeface="Cambria Math" panose="02040503050406030204" pitchFamily="18" charset="0"/>
                          </a:rPr>
                          <m:t>1</m:t>
                        </m:r>
                      </m:num>
                      <m:den>
                        <m:r>
                          <a:rPr lang="en-US" sz="2400" b="0" i="1" smtClean="0">
                            <a:solidFill>
                              <a:srgbClr val="FF0000"/>
                            </a:solidFill>
                            <a:latin typeface="Cambria Math" panose="02040503050406030204" pitchFamily="18" charset="0"/>
                            <a:ea typeface="Cambria Math" panose="02040503050406030204" pitchFamily="18" charset="0"/>
                          </a:rPr>
                          <m:t>𝜆</m:t>
                        </m:r>
                      </m:den>
                    </m:f>
                  </m:oMath>
                </a14:m>
                <a:endParaRPr lang="en-CN" sz="2400" dirty="0"/>
              </a:p>
              <a:p>
                <a:endParaRPr lang="en-CN" sz="2400" dirty="0"/>
              </a:p>
            </p:txBody>
          </p:sp>
        </mc:Choice>
        <mc:Fallback xmlns="">
          <p:sp>
            <p:nvSpPr>
              <p:cNvPr id="5" name="TextBox 4">
                <a:extLst>
                  <a:ext uri="{FF2B5EF4-FFF2-40B4-BE49-F238E27FC236}">
                    <a16:creationId xmlns:a16="http://schemas.microsoft.com/office/drawing/2014/main" id="{384E2893-E17E-DA41-BE40-7A18BE40D27C}"/>
                  </a:ext>
                </a:extLst>
              </p:cNvPr>
              <p:cNvSpPr txBox="1">
                <a:spLocks noRot="1" noChangeAspect="1" noMove="1" noResize="1" noEditPoints="1" noAdjustHandles="1" noChangeArrowheads="1" noChangeShapeType="1" noTextEdit="1"/>
              </p:cNvSpPr>
              <p:nvPr/>
            </p:nvSpPr>
            <p:spPr>
              <a:xfrm>
                <a:off x="0" y="0"/>
                <a:ext cx="12124944" cy="4160563"/>
              </a:xfrm>
              <a:prstGeom prst="rect">
                <a:avLst/>
              </a:prstGeom>
              <a:blipFill>
                <a:blip r:embed="rId2"/>
                <a:stretch>
                  <a:fillRect l="-838" t="-1220" b="-853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48A2365-61E3-D44C-8B79-E53DCAEBD353}"/>
                  </a:ext>
                </a:extLst>
              </p:cNvPr>
              <p:cNvSpPr txBox="1"/>
              <p:nvPr/>
            </p:nvSpPr>
            <p:spPr>
              <a:xfrm>
                <a:off x="1613975" y="5779820"/>
                <a:ext cx="10724724" cy="1078180"/>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rPr>
                  <a:t>Yukawa potential</a:t>
                </a:r>
                <a:r>
                  <a:rPr lang="en-CN" dirty="0"/>
                  <a:t>: If two fermions interact through a Yukawa interaction mediated by a Yukawa particle of mass </a:t>
                </a:r>
                <a14:m>
                  <m:oMath xmlns:m="http://schemas.openxmlformats.org/officeDocument/2006/math">
                    <m:r>
                      <a:rPr lang="en-CN" i="1" smtClean="0">
                        <a:latin typeface="Cambria Math" panose="02040503050406030204" pitchFamily="18" charset="0"/>
                        <a:ea typeface="Cambria Math" panose="02040503050406030204" pitchFamily="18" charset="0"/>
                      </a:rPr>
                      <m:t>𝜇</m:t>
                    </m:r>
                  </m:oMath>
                </a14:m>
                <a:r>
                  <a:rPr lang="en-CN" dirty="0"/>
                  <a:t>, the potential between the two particles, k</a:t>
                </a:r>
                <a:r>
                  <a:rPr lang="en-US" dirty="0"/>
                  <a:t>no</a:t>
                </a:r>
                <a:r>
                  <a:rPr lang="en-CN" dirty="0"/>
                  <a:t>wn as the Yukawa potential, will be:</a:t>
                </a:r>
              </a:p>
              <a:p>
                <a:pPr algn="ct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2</m:t>
                            </m:r>
                          </m:sup>
                        </m:sSup>
                      </m:num>
                      <m:den>
                        <m:r>
                          <a:rPr lang="en-US" b="0" i="1" smtClean="0">
                            <a:latin typeface="Cambria Math" panose="02040503050406030204" pitchFamily="18" charset="0"/>
                          </a:rPr>
                          <m:t>4 </m:t>
                        </m:r>
                        <m:r>
                          <a:rPr lang="en-US" b="0" i="1" smtClean="0">
                            <a:latin typeface="Cambria Math" panose="02040503050406030204" pitchFamily="18" charset="0"/>
                            <a:ea typeface="Cambria Math" panose="02040503050406030204" pitchFamily="18" charset="0"/>
                          </a:rPr>
                          <m:t>𝜋</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𝑟</m:t>
                        </m:r>
                      </m:den>
                    </m:f>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𝑟</m:t>
                        </m:r>
                      </m:sup>
                    </m:sSup>
                  </m:oMath>
                </a14:m>
                <a:r>
                  <a:rPr lang="en-CN" dirty="0"/>
                  <a:t> </a:t>
                </a:r>
              </a:p>
            </p:txBody>
          </p:sp>
        </mc:Choice>
        <mc:Fallback xmlns="">
          <p:sp>
            <p:nvSpPr>
              <p:cNvPr id="10" name="TextBox 9">
                <a:extLst>
                  <a:ext uri="{FF2B5EF4-FFF2-40B4-BE49-F238E27FC236}">
                    <a16:creationId xmlns:a16="http://schemas.microsoft.com/office/drawing/2014/main" id="{F48A2365-61E3-D44C-8B79-E53DCAEBD353}"/>
                  </a:ext>
                </a:extLst>
              </p:cNvPr>
              <p:cNvSpPr txBox="1">
                <a:spLocks noRot="1" noChangeAspect="1" noMove="1" noResize="1" noEditPoints="1" noAdjustHandles="1" noChangeArrowheads="1" noChangeShapeType="1" noTextEdit="1"/>
              </p:cNvSpPr>
              <p:nvPr/>
            </p:nvSpPr>
            <p:spPr>
              <a:xfrm>
                <a:off x="1613975" y="5779820"/>
                <a:ext cx="10724724" cy="1078180"/>
              </a:xfrm>
              <a:prstGeom prst="rect">
                <a:avLst/>
              </a:prstGeom>
              <a:blipFill>
                <a:blip r:embed="rId3"/>
                <a:stretch>
                  <a:fillRect l="-473" t="-2353" b="-7059"/>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929E5732-8E50-3A2C-C8AA-831C0084F925}"/>
              </a:ext>
            </a:extLst>
          </p:cNvPr>
          <p:cNvSpPr txBox="1"/>
          <p:nvPr/>
        </p:nvSpPr>
        <p:spPr>
          <a:xfrm>
            <a:off x="10744200" y="2551176"/>
            <a:ext cx="1207008" cy="369332"/>
          </a:xfrm>
          <a:prstGeom prst="rect">
            <a:avLst/>
          </a:prstGeom>
          <a:noFill/>
        </p:spPr>
        <p:txBody>
          <a:bodyPr wrap="square" rtlCol="0">
            <a:spAutoFit/>
          </a:bodyPr>
          <a:lstStyle/>
          <a:p>
            <a:r>
              <a:rPr lang="en-US" dirty="0"/>
              <a:t>e</a:t>
            </a:r>
            <a:r>
              <a:rPr lang="en-CN" dirty="0"/>
              <a:t>=2.72</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65D1012-06B0-877A-F7AF-7655D38A9F22}"/>
                  </a:ext>
                </a:extLst>
              </p:cNvPr>
              <p:cNvSpPr txBox="1"/>
              <p:nvPr/>
            </p:nvSpPr>
            <p:spPr>
              <a:xfrm>
                <a:off x="1613975" y="3960508"/>
                <a:ext cx="9453828" cy="1043171"/>
              </a:xfrm>
              <a:prstGeom prst="rect">
                <a:avLst/>
              </a:prstGeom>
              <a:noFill/>
            </p:spPr>
            <p:txBody>
              <a:bodyPr wrap="square">
                <a:spAutoFit/>
              </a:bodyPr>
              <a:lstStyle/>
              <a:p>
                <a:pPr marL="342900" indent="-342900">
                  <a:buFont typeface="Arial" panose="020B0604020202020204" pitchFamily="34" charset="0"/>
                  <a:buChar char="•"/>
                </a:pPr>
                <a:r>
                  <a:rPr lang="en-CN" sz="2000" dirty="0">
                    <a:solidFill>
                      <a:schemeClr val="tx1"/>
                    </a:solidFill>
                  </a:rPr>
                  <a:t>Half-life: The time required for the decaying quantity to fall to one half of its initial value.</a:t>
                </a:r>
              </a:p>
              <a:p>
                <a:pPr algn="ctr"/>
                <a14:m>
                  <m:oMath xmlns:m="http://schemas.openxmlformats.org/officeDocument/2006/math">
                    <m:sSub>
                      <m:sSubPr>
                        <m:ctrlPr>
                          <a:rPr lang="en-CN"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𝑡</m:t>
                        </m:r>
                      </m:e>
                      <m:sub>
                        <m:r>
                          <a:rPr lang="en-US" sz="2000" b="0" i="1" smtClean="0">
                            <a:solidFill>
                              <a:schemeClr val="tx1"/>
                            </a:solidFill>
                            <a:latin typeface="Cambria Math" panose="02040503050406030204" pitchFamily="18" charset="0"/>
                          </a:rPr>
                          <m:t>1/2</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𝜏</m:t>
                    </m:r>
                    <m:r>
                      <a:rPr lang="en-US" sz="2000" b="0" i="1" smtClean="0">
                        <a:solidFill>
                          <a:schemeClr val="tx1"/>
                        </a:solidFill>
                        <a:latin typeface="Cambria Math" panose="02040503050406030204" pitchFamily="18" charset="0"/>
                        <a:ea typeface="Cambria Math" panose="02040503050406030204" pitchFamily="18" charset="0"/>
                      </a:rPr>
                      <m:t> </m:t>
                    </m:r>
                    <m:r>
                      <m:rPr>
                        <m:sty m:val="p"/>
                      </m:rPr>
                      <a:rPr lang="en-US" sz="2000" b="0" i="0" smtClean="0">
                        <a:solidFill>
                          <a:schemeClr val="tx1"/>
                        </a:solidFill>
                        <a:latin typeface="Cambria Math" panose="02040503050406030204" pitchFamily="18" charset="0"/>
                        <a:ea typeface="Cambria Math" panose="02040503050406030204" pitchFamily="18" charset="0"/>
                      </a:rPr>
                      <m:t>log</m:t>
                    </m:r>
                    <m:r>
                      <a:rPr lang="en-US" sz="2000" b="0" i="1" smtClean="0">
                        <a:solidFill>
                          <a:schemeClr val="tx1"/>
                        </a:solidFill>
                        <a:latin typeface="Cambria Math" panose="02040503050406030204" pitchFamily="18" charset="0"/>
                        <a:ea typeface="Cambria Math" panose="02040503050406030204" pitchFamily="18" charset="0"/>
                      </a:rPr>
                      <m:t>⁡[2]</m:t>
                    </m:r>
                  </m:oMath>
                </a14:m>
                <a:r>
                  <a:rPr lang="en-CN" sz="2000" dirty="0">
                    <a:solidFill>
                      <a:schemeClr val="tx1"/>
                    </a:solidFill>
                  </a:rPr>
                  <a:t> </a:t>
                </a:r>
              </a:p>
            </p:txBody>
          </p:sp>
        </mc:Choice>
        <mc:Fallback xmlns="">
          <p:sp>
            <p:nvSpPr>
              <p:cNvPr id="3" name="TextBox 2">
                <a:extLst>
                  <a:ext uri="{FF2B5EF4-FFF2-40B4-BE49-F238E27FC236}">
                    <a16:creationId xmlns:a16="http://schemas.microsoft.com/office/drawing/2014/main" id="{565D1012-06B0-877A-F7AF-7655D38A9F22}"/>
                  </a:ext>
                </a:extLst>
              </p:cNvPr>
              <p:cNvSpPr txBox="1">
                <a:spLocks noRot="1" noChangeAspect="1" noMove="1" noResize="1" noEditPoints="1" noAdjustHandles="1" noChangeArrowheads="1" noChangeShapeType="1" noTextEdit="1"/>
              </p:cNvSpPr>
              <p:nvPr/>
            </p:nvSpPr>
            <p:spPr>
              <a:xfrm>
                <a:off x="1613975" y="3960508"/>
                <a:ext cx="9453828" cy="1043171"/>
              </a:xfrm>
              <a:prstGeom prst="rect">
                <a:avLst/>
              </a:prstGeom>
              <a:blipFill>
                <a:blip r:embed="rId4"/>
                <a:stretch>
                  <a:fillRect l="-671" t="-3614" b="-2410"/>
                </a:stretch>
              </a:blipFill>
            </p:spPr>
            <p:txBody>
              <a:bodyPr/>
              <a:lstStyle/>
              <a:p>
                <a:r>
                  <a:rPr lang="en-CN">
                    <a:noFill/>
                  </a:rPr>
                  <a:t> </a:t>
                </a:r>
              </a:p>
            </p:txBody>
          </p:sp>
        </mc:Fallback>
      </mc:AlternateContent>
    </p:spTree>
    <p:extLst>
      <p:ext uri="{BB962C8B-B14F-4D97-AF65-F5344CB8AC3E}">
        <p14:creationId xmlns:p14="http://schemas.microsoft.com/office/powerpoint/2010/main" val="4274964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BC37328-780D-6948-B560-DED3C7FE940D}"/>
                  </a:ext>
                </a:extLst>
              </p:cNvPr>
              <p:cNvSpPr txBox="1"/>
              <p:nvPr/>
            </p:nvSpPr>
            <p:spPr>
              <a:xfrm>
                <a:off x="2818410" y="2094768"/>
                <a:ext cx="6555179" cy="79566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400" b="0" i="1" smtClean="0">
                          <a:solidFill>
                            <a:srgbClr val="FF0000"/>
                          </a:solidFill>
                          <a:latin typeface="Cambria Math" panose="02040503050406030204" pitchFamily="18" charset="0"/>
                        </a:rPr>
                        <m:t>𝑔</m:t>
                      </m:r>
                      <m:d>
                        <m:dPr>
                          <m:begChr m:val="["/>
                          <m:endChr m:val="]"/>
                          <m:ctrlPr>
                            <a:rPr lang="en-US" sz="4400" b="0" i="1" smtClean="0">
                              <a:solidFill>
                                <a:srgbClr val="FF0000"/>
                              </a:solidFill>
                              <a:latin typeface="Cambria Math" panose="02040503050406030204" pitchFamily="18" charset="0"/>
                            </a:rPr>
                          </m:ctrlPr>
                        </m:dPr>
                        <m:e>
                          <m:r>
                            <a:rPr lang="en-US" sz="4400" b="0" i="1" smtClean="0">
                              <a:solidFill>
                                <a:srgbClr val="FF0000"/>
                              </a:solidFill>
                              <a:latin typeface="Cambria Math" panose="02040503050406030204" pitchFamily="18" charset="0"/>
                            </a:rPr>
                            <m:t>𝑈</m:t>
                          </m:r>
                          <m:r>
                            <a:rPr lang="en-US" sz="4400" b="0" i="1" smtClean="0">
                              <a:solidFill>
                                <a:srgbClr val="FF0000"/>
                              </a:solidFill>
                              <a:latin typeface="Cambria Math" panose="02040503050406030204" pitchFamily="18" charset="0"/>
                            </a:rPr>
                            <m:t>+∆</m:t>
                          </m:r>
                          <m:r>
                            <a:rPr lang="en-US" sz="4400" b="0" i="1" smtClean="0">
                              <a:solidFill>
                                <a:srgbClr val="FF0000"/>
                              </a:solidFill>
                              <a:latin typeface="Cambria Math" panose="02040503050406030204" pitchFamily="18" charset="0"/>
                              <a:ea typeface="Cambria Math" panose="02040503050406030204" pitchFamily="18" charset="0"/>
                            </a:rPr>
                            <m:t>𝑈</m:t>
                          </m:r>
                        </m:e>
                      </m:d>
                      <m:r>
                        <a:rPr lang="en-US" sz="4400" b="0" i="1" smtClean="0">
                          <a:solidFill>
                            <a:srgbClr val="FF0000"/>
                          </a:solidFill>
                          <a:latin typeface="Cambria Math" panose="02040503050406030204" pitchFamily="18" charset="0"/>
                        </a:rPr>
                        <m:t>=</m:t>
                      </m:r>
                      <m:r>
                        <a:rPr lang="en-US" sz="4400" b="0" i="1" smtClean="0">
                          <a:solidFill>
                            <a:srgbClr val="FF0000"/>
                          </a:solidFill>
                          <a:latin typeface="Cambria Math" panose="02040503050406030204" pitchFamily="18" charset="0"/>
                        </a:rPr>
                        <m:t>𝑔</m:t>
                      </m:r>
                      <m:r>
                        <a:rPr lang="en-US" sz="4400" b="0" i="1" smtClean="0">
                          <a:solidFill>
                            <a:srgbClr val="FF0000"/>
                          </a:solidFill>
                          <a:latin typeface="Cambria Math" panose="02040503050406030204" pitchFamily="18" charset="0"/>
                        </a:rPr>
                        <m:t>[</m:t>
                      </m:r>
                      <m:r>
                        <a:rPr lang="en-US" sz="4400" b="0" i="1" smtClean="0">
                          <a:solidFill>
                            <a:srgbClr val="FF0000"/>
                          </a:solidFill>
                          <a:latin typeface="Cambria Math" panose="02040503050406030204" pitchFamily="18" charset="0"/>
                        </a:rPr>
                        <m:t>𝑈</m:t>
                      </m:r>
                      <m:r>
                        <a:rPr lang="en-US" sz="4400" b="0" i="1" smtClean="0">
                          <a:solidFill>
                            <a:srgbClr val="FF0000"/>
                          </a:solidFill>
                          <a:latin typeface="Cambria Math" panose="02040503050406030204" pitchFamily="18" charset="0"/>
                        </a:rPr>
                        <m:t>]</m:t>
                      </m:r>
                      <m:sSup>
                        <m:sSupPr>
                          <m:ctrlPr>
                            <a:rPr lang="en-US" sz="4400" b="0" i="1" smtClean="0">
                              <a:solidFill>
                                <a:srgbClr val="FF0000"/>
                              </a:solidFill>
                              <a:latin typeface="Cambria Math" panose="02040503050406030204" pitchFamily="18" charset="0"/>
                            </a:rPr>
                          </m:ctrlPr>
                        </m:sSupPr>
                        <m:e>
                          <m:r>
                            <a:rPr lang="en-US" sz="4400" b="0" i="1" smtClean="0">
                              <a:solidFill>
                                <a:srgbClr val="FF0000"/>
                              </a:solidFill>
                              <a:latin typeface="Cambria Math" panose="02040503050406030204" pitchFamily="18" charset="0"/>
                            </a:rPr>
                            <m:t>𝑒</m:t>
                          </m:r>
                        </m:e>
                        <m:sup>
                          <m:r>
                            <a:rPr lang="en-US" sz="4400" b="0" i="1" smtClean="0">
                              <a:solidFill>
                                <a:srgbClr val="FF0000"/>
                              </a:solidFill>
                              <a:latin typeface="Cambria Math" panose="02040503050406030204" pitchFamily="18" charset="0"/>
                              <a:ea typeface="Cambria Math" panose="02040503050406030204" pitchFamily="18" charset="0"/>
                            </a:rPr>
                            <m:t>∆</m:t>
                          </m:r>
                          <m:r>
                            <a:rPr lang="en-US" sz="4400" b="0" i="1" smtClean="0">
                              <a:solidFill>
                                <a:srgbClr val="FF0000"/>
                              </a:solidFill>
                              <a:latin typeface="Cambria Math" panose="02040503050406030204" pitchFamily="18" charset="0"/>
                              <a:ea typeface="Cambria Math" panose="02040503050406030204" pitchFamily="18" charset="0"/>
                            </a:rPr>
                            <m:t>𝑈</m:t>
                          </m:r>
                          <m:r>
                            <a:rPr lang="en-US" sz="4400" b="0" i="1" smtClean="0">
                              <a:solidFill>
                                <a:srgbClr val="FF0000"/>
                              </a:solidFill>
                              <a:latin typeface="Cambria Math" panose="02040503050406030204" pitchFamily="18" charset="0"/>
                              <a:ea typeface="Cambria Math" panose="02040503050406030204" pitchFamily="18" charset="0"/>
                            </a:rPr>
                            <m:t>/</m:t>
                          </m:r>
                          <m:r>
                            <a:rPr lang="en-US" sz="4400" b="0" i="1" smtClean="0">
                              <a:solidFill>
                                <a:srgbClr val="FF0000"/>
                              </a:solidFill>
                              <a:latin typeface="Cambria Math" panose="02040503050406030204" pitchFamily="18" charset="0"/>
                              <a:ea typeface="Cambria Math" panose="02040503050406030204" pitchFamily="18" charset="0"/>
                            </a:rPr>
                            <m:t>𝜏</m:t>
                          </m:r>
                        </m:sup>
                      </m:sSup>
                    </m:oMath>
                  </m:oMathPara>
                </a14:m>
                <a:endParaRPr lang="en-CN" sz="4400" dirty="0"/>
              </a:p>
            </p:txBody>
          </p:sp>
        </mc:Choice>
        <mc:Fallback xmlns="">
          <p:sp>
            <p:nvSpPr>
              <p:cNvPr id="2" name="TextBox 1">
                <a:extLst>
                  <a:ext uri="{FF2B5EF4-FFF2-40B4-BE49-F238E27FC236}">
                    <a16:creationId xmlns:a16="http://schemas.microsoft.com/office/drawing/2014/main" id="{BBC37328-780D-6948-B560-DED3C7FE940D}"/>
                  </a:ext>
                </a:extLst>
              </p:cNvPr>
              <p:cNvSpPr txBox="1">
                <a:spLocks noRot="1" noChangeAspect="1" noMove="1" noResize="1" noEditPoints="1" noAdjustHandles="1" noChangeArrowheads="1" noChangeShapeType="1" noTextEdit="1"/>
              </p:cNvSpPr>
              <p:nvPr/>
            </p:nvSpPr>
            <p:spPr>
              <a:xfrm>
                <a:off x="2818410" y="2094768"/>
                <a:ext cx="6555179" cy="795667"/>
              </a:xfrm>
              <a:prstGeom prst="rect">
                <a:avLst/>
              </a:prstGeom>
              <a:blipFill>
                <a:blip r:embed="rId2"/>
                <a:stretch>
                  <a:fillRect b="-25397"/>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E41DF195-1C83-0144-9C18-4D0F51D1E9C9}"/>
              </a:ext>
            </a:extLst>
          </p:cNvPr>
          <p:cNvSpPr txBox="1"/>
          <p:nvPr/>
        </p:nvSpPr>
        <p:spPr>
          <a:xfrm>
            <a:off x="641268" y="950026"/>
            <a:ext cx="1816924"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简单推导</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D96FE40-ECF0-4E47-AC62-903B9D46FC8F}"/>
                  </a:ext>
                </a:extLst>
              </p:cNvPr>
              <p:cNvSpPr txBox="1"/>
              <p:nvPr/>
            </p:nvSpPr>
            <p:spPr>
              <a:xfrm>
                <a:off x="1549730" y="937965"/>
                <a:ext cx="2710542" cy="3796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oMath>
                  </m:oMathPara>
                </a14:m>
                <a:endParaRPr lang="en-CN" dirty="0"/>
              </a:p>
            </p:txBody>
          </p:sp>
        </mc:Choice>
        <mc:Fallback xmlns="">
          <p:sp>
            <p:nvSpPr>
              <p:cNvPr id="5" name="TextBox 4">
                <a:extLst>
                  <a:ext uri="{FF2B5EF4-FFF2-40B4-BE49-F238E27FC236}">
                    <a16:creationId xmlns:a16="http://schemas.microsoft.com/office/drawing/2014/main" id="{3D96FE40-ECF0-4E47-AC62-903B9D46FC8F}"/>
                  </a:ext>
                </a:extLst>
              </p:cNvPr>
              <p:cNvSpPr txBox="1">
                <a:spLocks noRot="1" noChangeAspect="1" noMove="1" noResize="1" noEditPoints="1" noAdjustHandles="1" noChangeArrowheads="1" noChangeShapeType="1" noTextEdit="1"/>
              </p:cNvSpPr>
              <p:nvPr/>
            </p:nvSpPr>
            <p:spPr>
              <a:xfrm>
                <a:off x="1549730" y="937965"/>
                <a:ext cx="2710542" cy="379656"/>
              </a:xfrm>
              <a:prstGeom prst="rect">
                <a:avLst/>
              </a:prstGeom>
              <a:blipFill>
                <a:blip r:embed="rId3"/>
                <a:stretch>
                  <a:fillRect b="-16129"/>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6F7B32C8-5839-0347-AE2E-2490738E298A}"/>
              </a:ext>
            </a:extLst>
          </p:cNvPr>
          <p:cNvSpPr txBox="1"/>
          <p:nvPr/>
        </p:nvSpPr>
        <p:spPr>
          <a:xfrm>
            <a:off x="641268" y="3967565"/>
            <a:ext cx="11237976" cy="769441"/>
          </a:xfrm>
          <a:prstGeom prst="rect">
            <a:avLst/>
          </a:prstGeom>
          <a:noFill/>
        </p:spPr>
        <p:txBody>
          <a:bodyPr wrap="square" rtlCol="0">
            <a:spAutoFit/>
          </a:bodyPr>
          <a:lstStyle/>
          <a:p>
            <a:r>
              <a:rPr lang="en-US" sz="4400" dirty="0" err="1">
                <a:latin typeface="FangSong" panose="02010609060101010101" pitchFamily="49" charset="-122"/>
                <a:ea typeface="FangSong" panose="02010609060101010101" pitchFamily="49" charset="-122"/>
              </a:rPr>
              <a:t>温度</a:t>
            </a:r>
            <a:r>
              <a:rPr lang="en-CN" sz="4400" dirty="0">
                <a:latin typeface="FangSong" panose="02010609060101010101" pitchFamily="49" charset="-122"/>
                <a:ea typeface="FangSong" panose="02010609060101010101" pitchFamily="49" charset="-122"/>
              </a:rPr>
              <a:t>: 使Multiplicity增加e倍所需要的能量</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415A354-DCE6-B940-BCB3-81FA3287C196}"/>
                  </a:ext>
                </a:extLst>
              </p:cNvPr>
              <p:cNvSpPr txBox="1"/>
              <p:nvPr/>
            </p:nvSpPr>
            <p:spPr>
              <a:xfrm>
                <a:off x="2588823" y="118041"/>
                <a:ext cx="6097978" cy="6610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N" sz="1800" i="1" smtClean="0">
                              <a:latin typeface="Cambria Math" panose="02040503050406030204" pitchFamily="18" charset="0"/>
                            </a:rPr>
                          </m:ctrlPr>
                        </m:fPr>
                        <m:num>
                          <m:r>
                            <a:rPr lang="en-US" sz="1800" b="0" i="1" smtClean="0">
                              <a:latin typeface="Cambria Math" panose="02040503050406030204" pitchFamily="18" charset="0"/>
                            </a:rPr>
                            <m:t>1</m:t>
                          </m:r>
                        </m:num>
                        <m:den>
                          <m:r>
                            <a:rPr lang="en-CN" sz="1800" i="1" smtClean="0">
                              <a:latin typeface="Cambria Math" panose="02040503050406030204" pitchFamily="18" charset="0"/>
                              <a:ea typeface="Cambria Math" panose="02040503050406030204" pitchFamily="18" charset="0"/>
                            </a:rPr>
                            <m:t>𝜏</m:t>
                          </m:r>
                        </m:den>
                      </m:f>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d>
                            <m:dPr>
                              <m:ctrlPr>
                                <a:rPr lang="en-US" sz="1800" b="0" i="1" smtClean="0">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𝜎</m:t>
                                  </m:r>
                                </m:num>
                                <m:den>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𝑈</m:t>
                                  </m:r>
                                </m:den>
                              </m:f>
                            </m:e>
                          </m:d>
                        </m:e>
                        <m:sub>
                          <m:r>
                            <a:rPr lang="en-US" sz="1800" b="0" i="1" smtClean="0">
                              <a:latin typeface="Cambria Math" panose="02040503050406030204" pitchFamily="18" charset="0"/>
                            </a:rPr>
                            <m:t>𝑁</m:t>
                          </m:r>
                        </m:sub>
                      </m:sSub>
                    </m:oMath>
                  </m:oMathPara>
                </a14:m>
                <a:endParaRPr lang="en-CN" dirty="0"/>
              </a:p>
            </p:txBody>
          </p:sp>
        </mc:Choice>
        <mc:Fallback xmlns="">
          <p:sp>
            <p:nvSpPr>
              <p:cNvPr id="7" name="TextBox 6">
                <a:extLst>
                  <a:ext uri="{FF2B5EF4-FFF2-40B4-BE49-F238E27FC236}">
                    <a16:creationId xmlns:a16="http://schemas.microsoft.com/office/drawing/2014/main" id="{9415A354-DCE6-B940-BCB3-81FA3287C196}"/>
                  </a:ext>
                </a:extLst>
              </p:cNvPr>
              <p:cNvSpPr txBox="1">
                <a:spLocks noRot="1" noChangeAspect="1" noMove="1" noResize="1" noEditPoints="1" noAdjustHandles="1" noChangeArrowheads="1" noChangeShapeType="1" noTextEdit="1"/>
              </p:cNvSpPr>
              <p:nvPr/>
            </p:nvSpPr>
            <p:spPr>
              <a:xfrm>
                <a:off x="2588823" y="118041"/>
                <a:ext cx="6097978" cy="661015"/>
              </a:xfrm>
              <a:prstGeom prst="rect">
                <a:avLst/>
              </a:prstGeom>
              <a:blipFill>
                <a:blip r:embed="rId4"/>
                <a:stretch>
                  <a:fillRect b="-11321"/>
                </a:stretch>
              </a:blipFill>
            </p:spPr>
            <p:txBody>
              <a:bodyPr/>
              <a:lstStyle/>
              <a:p>
                <a:r>
                  <a:rPr lang="en-CN">
                    <a:noFill/>
                  </a:rPr>
                  <a:t> </a:t>
                </a:r>
              </a:p>
            </p:txBody>
          </p:sp>
        </mc:Fallback>
      </mc:AlternateContent>
    </p:spTree>
    <p:extLst>
      <p:ext uri="{BB962C8B-B14F-4D97-AF65-F5344CB8AC3E}">
        <p14:creationId xmlns:p14="http://schemas.microsoft.com/office/powerpoint/2010/main" val="1371173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A184FD-215F-C745-8F06-21D9EECB5682}"/>
              </a:ext>
            </a:extLst>
          </p:cNvPr>
          <p:cNvPicPr>
            <a:picLocks noChangeAspect="1"/>
          </p:cNvPicPr>
          <p:nvPr/>
        </p:nvPicPr>
        <p:blipFill>
          <a:blip r:embed="rId2"/>
          <a:stretch>
            <a:fillRect/>
          </a:stretch>
        </p:blipFill>
        <p:spPr>
          <a:xfrm>
            <a:off x="1195043" y="53439"/>
            <a:ext cx="6034585" cy="6751122"/>
          </a:xfrm>
          <a:prstGeom prst="rect">
            <a:avLst/>
          </a:prstGeom>
        </p:spPr>
      </p:pic>
      <p:sp>
        <p:nvSpPr>
          <p:cNvPr id="3" name="TextBox 2">
            <a:extLst>
              <a:ext uri="{FF2B5EF4-FFF2-40B4-BE49-F238E27FC236}">
                <a16:creationId xmlns:a16="http://schemas.microsoft.com/office/drawing/2014/main" id="{F91BD957-3D68-2E47-53FB-1211B7EBADA4}"/>
              </a:ext>
            </a:extLst>
          </p:cNvPr>
          <p:cNvSpPr txBox="1"/>
          <p:nvPr/>
        </p:nvSpPr>
        <p:spPr>
          <a:xfrm>
            <a:off x="7909560" y="2560320"/>
            <a:ext cx="1709928" cy="707886"/>
          </a:xfrm>
          <a:prstGeom prst="rect">
            <a:avLst/>
          </a:prstGeom>
          <a:noFill/>
        </p:spPr>
        <p:txBody>
          <a:bodyPr wrap="square" rtlCol="0">
            <a:spAutoFit/>
          </a:bodyPr>
          <a:lstStyle/>
          <a:p>
            <a:r>
              <a:rPr lang="en-CN" sz="4000" dirty="0"/>
              <a:t>板书</a:t>
            </a:r>
            <a:r>
              <a:rPr lang="zh-CN" altLang="en-US" sz="4000" dirty="0"/>
              <a:t>！</a:t>
            </a:r>
            <a:endParaRPr lang="en-CN" sz="4000" dirty="0"/>
          </a:p>
        </p:txBody>
      </p:sp>
    </p:spTree>
    <p:extLst>
      <p:ext uri="{BB962C8B-B14F-4D97-AF65-F5344CB8AC3E}">
        <p14:creationId xmlns:p14="http://schemas.microsoft.com/office/powerpoint/2010/main" val="2955224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D3AA3-DFFD-C141-8B48-AA02B05234D8}"/>
              </a:ext>
            </a:extLst>
          </p:cNvPr>
          <p:cNvSpPr txBox="1"/>
          <p:nvPr/>
        </p:nvSpPr>
        <p:spPr>
          <a:xfrm>
            <a:off x="344385" y="178130"/>
            <a:ext cx="2149434" cy="369332"/>
          </a:xfrm>
          <a:prstGeom prst="rect">
            <a:avLst/>
          </a:prstGeom>
          <a:noFill/>
        </p:spPr>
        <p:txBody>
          <a:bodyPr wrap="square" rtlCol="0">
            <a:spAutoFit/>
          </a:bodyPr>
          <a:lstStyle/>
          <a:p>
            <a:r>
              <a:rPr lang="en-CN" dirty="0"/>
              <a:t>Real-world Example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D63571-E9CE-1C49-9317-6A437B5E62F7}"/>
                  </a:ext>
                </a:extLst>
              </p:cNvPr>
              <p:cNvSpPr txBox="1"/>
              <p:nvPr/>
            </p:nvSpPr>
            <p:spPr>
              <a:xfrm>
                <a:off x="2683823" y="547462"/>
                <a:ext cx="60920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4" name="TextBox 3">
                <a:extLst>
                  <a:ext uri="{FF2B5EF4-FFF2-40B4-BE49-F238E27FC236}">
                    <a16:creationId xmlns:a16="http://schemas.microsoft.com/office/drawing/2014/main" id="{6BD63571-E9CE-1C49-9317-6A437B5E62F7}"/>
                  </a:ext>
                </a:extLst>
              </p:cNvPr>
              <p:cNvSpPr txBox="1">
                <a:spLocks noRot="1" noChangeAspect="1" noMove="1" noResize="1" noEditPoints="1" noAdjustHandles="1" noChangeArrowheads="1" noChangeShapeType="1" noTextEdit="1"/>
              </p:cNvSpPr>
              <p:nvPr/>
            </p:nvSpPr>
            <p:spPr>
              <a:xfrm>
                <a:off x="2683823" y="547462"/>
                <a:ext cx="6092042" cy="369332"/>
              </a:xfrm>
              <a:prstGeom prst="rect">
                <a:avLst/>
              </a:prstGeom>
              <a:blipFill>
                <a:blip r:embed="rId2"/>
                <a:stretch>
                  <a:fillRect b="-17241"/>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F0C79DE1-9CC9-7642-83C8-996AE31A996F}"/>
              </a:ext>
            </a:extLst>
          </p:cNvPr>
          <p:cNvSpPr txBox="1"/>
          <p:nvPr/>
        </p:nvSpPr>
        <p:spPr>
          <a:xfrm>
            <a:off x="427512" y="1235034"/>
            <a:ext cx="7968343" cy="369332"/>
          </a:xfrm>
          <a:prstGeom prst="rect">
            <a:avLst/>
          </a:prstGeom>
          <a:noFill/>
        </p:spPr>
        <p:txBody>
          <a:bodyPr wrap="square" rtlCol="0">
            <a:spAutoFit/>
          </a:bodyPr>
          <a:lstStyle/>
          <a:p>
            <a:r>
              <a:rPr lang="en-CN" dirty="0"/>
              <a:t>考虑爱因斯坦固体:</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6DC64CC-5591-DB46-BD00-A76B1DDB7488}"/>
                  </a:ext>
                </a:extLst>
              </p:cNvPr>
              <p:cNvSpPr txBox="1"/>
              <p:nvPr/>
            </p:nvSpPr>
            <p:spPr>
              <a:xfrm>
                <a:off x="-35620" y="1876301"/>
                <a:ext cx="6305791" cy="6594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𝑞</m:t>
                                      </m:r>
                                    </m:num>
                                    <m:den>
                                      <m:r>
                                        <a:rPr lang="en-US" b="0" i="1" smtClean="0">
                                          <a:latin typeface="Cambria Math" panose="02040503050406030204" pitchFamily="18" charset="0"/>
                                          <a:ea typeface="Cambria Math" panose="02040503050406030204" pitchFamily="18" charset="0"/>
                                        </a:rPr>
                                        <m:t>𝑁</m:t>
                                      </m:r>
                                    </m:den>
                                  </m:f>
                                </m:e>
                              </m:fun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h𝑓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fun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e>
                          </m:func>
                        </m:e>
                      </m:func>
                    </m:oMath>
                  </m:oMathPara>
                </a14:m>
                <a:endParaRPr lang="en-CN" dirty="0"/>
              </a:p>
            </p:txBody>
          </p:sp>
        </mc:Choice>
        <mc:Fallback xmlns="">
          <p:sp>
            <p:nvSpPr>
              <p:cNvPr id="6" name="TextBox 5">
                <a:extLst>
                  <a:ext uri="{FF2B5EF4-FFF2-40B4-BE49-F238E27FC236}">
                    <a16:creationId xmlns:a16="http://schemas.microsoft.com/office/drawing/2014/main" id="{C6DC64CC-5591-DB46-BD00-A76B1DDB7488}"/>
                  </a:ext>
                </a:extLst>
              </p:cNvPr>
              <p:cNvSpPr txBox="1">
                <a:spLocks noRot="1" noChangeAspect="1" noMove="1" noResize="1" noEditPoints="1" noAdjustHandles="1" noChangeArrowheads="1" noChangeShapeType="1" noTextEdit="1"/>
              </p:cNvSpPr>
              <p:nvPr/>
            </p:nvSpPr>
            <p:spPr>
              <a:xfrm>
                <a:off x="-35620" y="1876301"/>
                <a:ext cx="6305791" cy="659476"/>
              </a:xfrm>
              <a:prstGeom prst="rect">
                <a:avLst/>
              </a:prstGeom>
              <a:blipFill>
                <a:blip r:embed="rId3"/>
                <a:stretch>
                  <a:fillRect b="-943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4A8333-3808-3E43-8408-71E69632EF7E}"/>
                  </a:ext>
                </a:extLst>
              </p:cNvPr>
              <p:cNvSpPr txBox="1"/>
              <p:nvPr/>
            </p:nvSpPr>
            <p:spPr>
              <a:xfrm>
                <a:off x="1095426" y="1062636"/>
                <a:ext cx="3746810" cy="6197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𝑔</m:t>
                      </m:r>
                      <m:r>
                        <a:rPr lang="en-US" b="0" i="1" smtClean="0">
                          <a:solidFill>
                            <a:srgbClr val="FF0000"/>
                          </a:solidFill>
                          <a:latin typeface="Cambria Math" panose="02040503050406030204" pitchFamily="18" charset="0"/>
                          <a:ea typeface="Cambria Math" panose="02040503050406030204" pitchFamily="18" charset="0"/>
                        </a:rPr>
                        <m:t>=</m:t>
                      </m:r>
                      <m:sSup>
                        <m:sSupPr>
                          <m:ctrlPr>
                            <a:rPr lang="en-US" b="0" i="1" smtClean="0">
                              <a:solidFill>
                                <a:srgbClr val="FF0000"/>
                              </a:solidFill>
                              <a:latin typeface="Cambria Math" panose="02040503050406030204" pitchFamily="18" charset="0"/>
                              <a:ea typeface="Cambria Math" panose="02040503050406030204" pitchFamily="18" charset="0"/>
                            </a:rPr>
                          </m:ctrlPr>
                        </m:sSupPr>
                        <m:e>
                          <m:d>
                            <m:dPr>
                              <m:ctrlPr>
                                <a:rPr lang="en-US" b="0" i="1" smtClean="0">
                                  <a:solidFill>
                                    <a:srgbClr val="FF0000"/>
                                  </a:solidFill>
                                  <a:latin typeface="Cambria Math" panose="02040503050406030204" pitchFamily="18" charset="0"/>
                                  <a:ea typeface="Cambria Math" panose="02040503050406030204" pitchFamily="18" charset="0"/>
                                </a:rPr>
                              </m:ctrlPr>
                            </m:dPr>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𝑒𝑞</m:t>
                                  </m:r>
                                </m:num>
                                <m:den>
                                  <m:r>
                                    <a:rPr lang="en-US" b="0" i="1" smtClean="0">
                                      <a:solidFill>
                                        <a:srgbClr val="FF0000"/>
                                      </a:solidFill>
                                      <a:latin typeface="Cambria Math" panose="02040503050406030204" pitchFamily="18" charset="0"/>
                                      <a:ea typeface="Cambria Math" panose="02040503050406030204" pitchFamily="18" charset="0"/>
                                    </a:rPr>
                                    <m:t>𝑁</m:t>
                                  </m:r>
                                </m:den>
                              </m:f>
                            </m:e>
                          </m:d>
                        </m:e>
                        <m:sup>
                          <m:r>
                            <a:rPr lang="en-US" b="0" i="1" smtClean="0">
                              <a:solidFill>
                                <a:srgbClr val="FF0000"/>
                              </a:solidFill>
                              <a:latin typeface="Cambria Math" panose="02040503050406030204" pitchFamily="18" charset="0"/>
                              <a:ea typeface="Cambria Math" panose="02040503050406030204" pitchFamily="18" charset="0"/>
                            </a:rPr>
                            <m:t>𝑁</m:t>
                          </m:r>
                        </m:sup>
                      </m:sSup>
                    </m:oMath>
                  </m:oMathPara>
                </a14:m>
                <a:endParaRPr lang="en-CN" dirty="0">
                  <a:solidFill>
                    <a:srgbClr val="FF0000"/>
                  </a:solidFill>
                </a:endParaRPr>
              </a:p>
            </p:txBody>
          </p:sp>
        </mc:Choice>
        <mc:Fallback xmlns="">
          <p:sp>
            <p:nvSpPr>
              <p:cNvPr id="7" name="TextBox 6">
                <a:extLst>
                  <a:ext uri="{FF2B5EF4-FFF2-40B4-BE49-F238E27FC236}">
                    <a16:creationId xmlns:a16="http://schemas.microsoft.com/office/drawing/2014/main" id="{DB4A8333-3808-3E43-8408-71E69632EF7E}"/>
                  </a:ext>
                </a:extLst>
              </p:cNvPr>
              <p:cNvSpPr txBox="1">
                <a:spLocks noRot="1" noChangeAspect="1" noMove="1" noResize="1" noEditPoints="1" noAdjustHandles="1" noChangeArrowheads="1" noChangeShapeType="1" noTextEdit="1"/>
              </p:cNvSpPr>
              <p:nvPr/>
            </p:nvSpPr>
            <p:spPr>
              <a:xfrm>
                <a:off x="1095426" y="1062636"/>
                <a:ext cx="3746810" cy="619721"/>
              </a:xfrm>
              <a:prstGeom prst="rect">
                <a:avLst/>
              </a:prstGeom>
              <a:blipFill>
                <a:blip r:embed="rId4"/>
                <a:stretch>
                  <a:fillRect b="-4000"/>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E5782449-EAA8-8C43-8AEC-5DFA48BEE925}"/>
              </a:ext>
            </a:extLst>
          </p:cNvPr>
          <p:cNvSpPr/>
          <p:nvPr/>
        </p:nvSpPr>
        <p:spPr>
          <a:xfrm>
            <a:off x="2945087" y="2576945"/>
            <a:ext cx="295406" cy="4631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EAF6490-79FE-A645-9A96-33CF71DBDDBA}"/>
                  </a:ext>
                </a:extLst>
              </p:cNvPr>
              <p:cNvSpPr txBox="1"/>
              <p:nvPr/>
            </p:nvSpPr>
            <p:spPr>
              <a:xfrm>
                <a:off x="1448796" y="3301340"/>
                <a:ext cx="3431259" cy="6785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den>
                              </m:f>
                            </m:e>
                          </m:d>
                        </m:e>
                        <m:sub>
                          <m:r>
                            <a:rPr lang="en-US" b="0" i="1" smtClean="0">
                              <a:latin typeface="Cambria Math" panose="02040503050406030204" pitchFamily="18" charset="0"/>
                            </a:rPr>
                            <m:t>𝑁</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𝑈</m:t>
                          </m:r>
                        </m:den>
                      </m:f>
                    </m:oMath>
                  </m:oMathPara>
                </a14:m>
                <a:endParaRPr lang="en-CN" dirty="0"/>
              </a:p>
            </p:txBody>
          </p:sp>
        </mc:Choice>
        <mc:Fallback xmlns="">
          <p:sp>
            <p:nvSpPr>
              <p:cNvPr id="9" name="TextBox 8">
                <a:extLst>
                  <a:ext uri="{FF2B5EF4-FFF2-40B4-BE49-F238E27FC236}">
                    <a16:creationId xmlns:a16="http://schemas.microsoft.com/office/drawing/2014/main" id="{2EAF6490-79FE-A645-9A96-33CF71DBDDBA}"/>
                  </a:ext>
                </a:extLst>
              </p:cNvPr>
              <p:cNvSpPr txBox="1">
                <a:spLocks noRot="1" noChangeAspect="1" noMove="1" noResize="1" noEditPoints="1" noAdjustHandles="1" noChangeArrowheads="1" noChangeShapeType="1" noTextEdit="1"/>
              </p:cNvSpPr>
              <p:nvPr/>
            </p:nvSpPr>
            <p:spPr>
              <a:xfrm>
                <a:off x="1448796" y="3301340"/>
                <a:ext cx="3431259" cy="678584"/>
              </a:xfrm>
              <a:prstGeom prst="rect">
                <a:avLst/>
              </a:prstGeom>
              <a:blipFill>
                <a:blip r:embed="rId5"/>
                <a:stretch>
                  <a:fillRect b="-740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0D3C6BD-1A57-C84D-BF39-6033D95463CD}"/>
                  </a:ext>
                </a:extLst>
              </p:cNvPr>
              <p:cNvSpPr txBox="1"/>
              <p:nvPr/>
            </p:nvSpPr>
            <p:spPr>
              <a:xfrm>
                <a:off x="427512" y="5504266"/>
                <a:ext cx="11364685" cy="1320939"/>
              </a:xfrm>
              <a:prstGeom prst="rect">
                <a:avLst/>
              </a:prstGeom>
              <a:noFill/>
            </p:spPr>
            <p:txBody>
              <a:bodyPr wrap="square" rtlCol="0">
                <a:spAutoFit/>
              </a:bodyPr>
              <a:lstStyle/>
              <a:p>
                <a:pPr marL="342900" indent="-342900">
                  <a:buFont typeface="Arial" panose="020B0604020202020204" pitchFamily="34" charset="0"/>
                  <a:buChar char="•"/>
                </a:pPr>
                <a:r>
                  <a:rPr lang="en-US" sz="2400" dirty="0"/>
                  <a:t>T</a:t>
                </a:r>
                <a:r>
                  <a:rPr lang="en-CN" sz="2400" dirty="0"/>
                  <a:t>he equipartition theorem: The toal energy should be </a:t>
                </a:r>
                <a14:m>
                  <m:oMath xmlns:m="http://schemas.openxmlformats.org/officeDocument/2006/math">
                    <m:f>
                      <m:fPr>
                        <m:ctrlPr>
                          <a:rPr lang="en-CN" sz="2400" i="1" smtClean="0">
                            <a:latin typeface="Cambria Math" panose="02040503050406030204" pitchFamily="18" charset="0"/>
                          </a:rPr>
                        </m:ctrlPr>
                      </m:fPr>
                      <m:num>
                        <m:r>
                          <a:rPr lang="en-CN" sz="2400" i="1" smtClean="0">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den>
                    </m:f>
                  </m:oMath>
                </a14:m>
                <a:r>
                  <a:rPr lang="en-CN" sz="2400" dirty="0"/>
                  <a:t> times the number of degrees of freedom.</a:t>
                </a:r>
              </a:p>
              <a:p>
                <a:pPr marL="342900" indent="-342900">
                  <a:buFont typeface="Arial" panose="020B0604020202020204" pitchFamily="34" charset="0"/>
                  <a:buChar char="•"/>
                </a:pPr>
                <a:r>
                  <a:rPr lang="en-CN" sz="2400" dirty="0">
                    <a:solidFill>
                      <a:srgbClr val="FF0000"/>
                    </a:solidFill>
                  </a:rPr>
                  <a:t>Heat Capacities</a:t>
                </a:r>
              </a:p>
            </p:txBody>
          </p:sp>
        </mc:Choice>
        <mc:Fallback xmlns="">
          <p:sp>
            <p:nvSpPr>
              <p:cNvPr id="11" name="TextBox 10">
                <a:extLst>
                  <a:ext uri="{FF2B5EF4-FFF2-40B4-BE49-F238E27FC236}">
                    <a16:creationId xmlns:a16="http://schemas.microsoft.com/office/drawing/2014/main" id="{10D3C6BD-1A57-C84D-BF39-6033D95463CD}"/>
                  </a:ext>
                </a:extLst>
              </p:cNvPr>
              <p:cNvSpPr txBox="1">
                <a:spLocks noRot="1" noChangeAspect="1" noMove="1" noResize="1" noEditPoints="1" noAdjustHandles="1" noChangeArrowheads="1" noChangeShapeType="1" noTextEdit="1"/>
              </p:cNvSpPr>
              <p:nvPr/>
            </p:nvSpPr>
            <p:spPr>
              <a:xfrm>
                <a:off x="427512" y="5504266"/>
                <a:ext cx="11364685" cy="1320939"/>
              </a:xfrm>
              <a:prstGeom prst="rect">
                <a:avLst/>
              </a:prstGeom>
              <a:blipFill>
                <a:blip r:embed="rId6"/>
                <a:stretch>
                  <a:fillRect l="-670" r="-1228" b="-8571"/>
                </a:stretch>
              </a:blipFill>
            </p:spPr>
            <p:txBody>
              <a:bodyPr/>
              <a:lstStyle/>
              <a:p>
                <a:r>
                  <a:rPr lang="en-CN">
                    <a:noFill/>
                  </a:rPr>
                  <a:t> </a:t>
                </a:r>
              </a:p>
            </p:txBody>
          </p:sp>
        </mc:Fallback>
      </mc:AlternateContent>
      <p:sp>
        <p:nvSpPr>
          <p:cNvPr id="13" name="TextBox 12">
            <a:extLst>
              <a:ext uri="{FF2B5EF4-FFF2-40B4-BE49-F238E27FC236}">
                <a16:creationId xmlns:a16="http://schemas.microsoft.com/office/drawing/2014/main" id="{8999A81E-AB9B-6F4C-A9D0-85A154184D90}"/>
              </a:ext>
            </a:extLst>
          </p:cNvPr>
          <p:cNvSpPr txBox="1"/>
          <p:nvPr/>
        </p:nvSpPr>
        <p:spPr>
          <a:xfrm>
            <a:off x="7211217" y="1314577"/>
            <a:ext cx="1852552" cy="369332"/>
          </a:xfrm>
          <a:prstGeom prst="rect">
            <a:avLst/>
          </a:prstGeom>
          <a:noFill/>
        </p:spPr>
        <p:txBody>
          <a:bodyPr wrap="square" rtlCol="0">
            <a:spAutoFit/>
          </a:bodyPr>
          <a:lstStyle/>
          <a:p>
            <a:r>
              <a:rPr lang="en-CN" dirty="0"/>
              <a:t>   考虑理想气体</a:t>
            </a:r>
            <a:r>
              <a:rPr lang="en-US" dirty="0"/>
              <a:t>:</a:t>
            </a:r>
            <a:endParaRPr lang="en-CN"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CFA63EE-F73B-534E-8471-43BD3AB3804C}"/>
                  </a:ext>
                </a:extLst>
              </p:cNvPr>
              <p:cNvSpPr txBox="1"/>
              <p:nvPr/>
            </p:nvSpPr>
            <p:spPr>
              <a:xfrm>
                <a:off x="5640777" y="1876301"/>
                <a:ext cx="6590805"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num>
                            <m:den>
                              <m:r>
                                <a:rPr lang="en-US" b="0" i="1" smtClean="0">
                                  <a:latin typeface="Cambria Math" panose="02040503050406030204" pitchFamily="18" charset="0"/>
                                  <a:ea typeface="Cambria Math" panose="02040503050406030204" pitchFamily="18" charset="0"/>
                                </a:rPr>
                                <m:t>2</m:t>
                              </m:r>
                            </m:den>
                          </m:f>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e>
                          </m:func>
                        </m:e>
                      </m:func>
                    </m:oMath>
                  </m:oMathPara>
                </a14:m>
                <a:endParaRPr lang="en-CN" dirty="0"/>
              </a:p>
            </p:txBody>
          </p:sp>
        </mc:Choice>
        <mc:Fallback xmlns="">
          <p:sp>
            <p:nvSpPr>
              <p:cNvPr id="14" name="TextBox 13">
                <a:extLst>
                  <a:ext uri="{FF2B5EF4-FFF2-40B4-BE49-F238E27FC236}">
                    <a16:creationId xmlns:a16="http://schemas.microsoft.com/office/drawing/2014/main" id="{DCFA63EE-F73B-534E-8471-43BD3AB3804C}"/>
                  </a:ext>
                </a:extLst>
              </p:cNvPr>
              <p:cNvSpPr txBox="1">
                <a:spLocks noRot="1" noChangeAspect="1" noMove="1" noResize="1" noEditPoints="1" noAdjustHandles="1" noChangeArrowheads="1" noChangeShapeType="1" noTextEdit="1"/>
              </p:cNvSpPr>
              <p:nvPr/>
            </p:nvSpPr>
            <p:spPr>
              <a:xfrm>
                <a:off x="5640777" y="1876301"/>
                <a:ext cx="6590805" cy="610936"/>
              </a:xfrm>
              <a:prstGeom prst="rect">
                <a:avLst/>
              </a:prstGeom>
              <a:blipFill>
                <a:blip r:embed="rId7"/>
                <a:stretch>
                  <a:fillRect b="-408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3DC1DFF-9200-544E-A5F8-A66C560A3CE4}"/>
                  </a:ext>
                </a:extLst>
              </p:cNvPr>
              <p:cNvSpPr txBox="1"/>
              <p:nvPr/>
            </p:nvSpPr>
            <p:spPr>
              <a:xfrm>
                <a:off x="8445190" y="1245054"/>
                <a:ext cx="3746810" cy="3796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𝑔</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𝑓</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𝑁</m:t>
                      </m:r>
                      <m:r>
                        <a:rPr lang="en-US" b="0" i="1" smtClean="0">
                          <a:solidFill>
                            <a:srgbClr val="FF0000"/>
                          </a:solidFill>
                          <a:latin typeface="Cambria Math" panose="02040503050406030204" pitchFamily="18" charset="0"/>
                          <a:ea typeface="Cambria Math" panose="02040503050406030204" pitchFamily="18" charset="0"/>
                        </a:rPr>
                        <m:t>)</m:t>
                      </m:r>
                      <m:sSup>
                        <m:sSupPr>
                          <m:ctrlPr>
                            <a:rPr lang="en-US" b="0" i="1" smtClean="0">
                              <a:solidFill>
                                <a:srgbClr val="FF0000"/>
                              </a:solidFill>
                              <a:latin typeface="Cambria Math" panose="02040503050406030204" pitchFamily="18" charset="0"/>
                              <a:ea typeface="Cambria Math" panose="02040503050406030204" pitchFamily="18" charset="0"/>
                            </a:rPr>
                          </m:ctrlPr>
                        </m:sSupPr>
                        <m:e>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𝑉</m:t>
                              </m:r>
                            </m:e>
                          </m:d>
                        </m:e>
                        <m:sup>
                          <m:r>
                            <a:rPr lang="en-US" b="0" i="1" smtClean="0">
                              <a:solidFill>
                                <a:srgbClr val="FF0000"/>
                              </a:solidFill>
                              <a:latin typeface="Cambria Math" panose="02040503050406030204" pitchFamily="18" charset="0"/>
                              <a:ea typeface="Cambria Math" panose="02040503050406030204" pitchFamily="18" charset="0"/>
                            </a:rPr>
                            <m:t>𝑁</m:t>
                          </m:r>
                        </m:sup>
                      </m:sSup>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𝑈</m:t>
                          </m:r>
                        </m:e>
                        <m:sup>
                          <m:r>
                            <a:rPr lang="en-US" b="0" i="1" smtClean="0">
                              <a:solidFill>
                                <a:srgbClr val="FF0000"/>
                              </a:solidFill>
                              <a:latin typeface="Cambria Math" panose="02040503050406030204" pitchFamily="18" charset="0"/>
                              <a:ea typeface="Cambria Math" panose="02040503050406030204" pitchFamily="18" charset="0"/>
                            </a:rPr>
                            <m:t>3</m:t>
                          </m:r>
                          <m:r>
                            <a:rPr lang="en-US" b="0" i="1" smtClean="0">
                              <a:solidFill>
                                <a:srgbClr val="FF0000"/>
                              </a:solidFill>
                              <a:latin typeface="Cambria Math" panose="02040503050406030204" pitchFamily="18" charset="0"/>
                              <a:ea typeface="Cambria Math" panose="02040503050406030204" pitchFamily="18" charset="0"/>
                            </a:rPr>
                            <m:t>𝑁</m:t>
                          </m:r>
                          <m:r>
                            <a:rPr lang="en-US" b="0" i="1" smtClean="0">
                              <a:solidFill>
                                <a:srgbClr val="FF0000"/>
                              </a:solidFill>
                              <a:latin typeface="Cambria Math" panose="02040503050406030204" pitchFamily="18" charset="0"/>
                              <a:ea typeface="Cambria Math" panose="02040503050406030204" pitchFamily="18" charset="0"/>
                            </a:rPr>
                            <m:t>/2</m:t>
                          </m:r>
                        </m:sup>
                      </m:sSup>
                    </m:oMath>
                  </m:oMathPara>
                </a14:m>
                <a:endParaRPr lang="en-CN" dirty="0">
                  <a:solidFill>
                    <a:srgbClr val="FF0000"/>
                  </a:solidFill>
                </a:endParaRPr>
              </a:p>
            </p:txBody>
          </p:sp>
        </mc:Choice>
        <mc:Fallback xmlns="">
          <p:sp>
            <p:nvSpPr>
              <p:cNvPr id="15" name="TextBox 14">
                <a:extLst>
                  <a:ext uri="{FF2B5EF4-FFF2-40B4-BE49-F238E27FC236}">
                    <a16:creationId xmlns:a16="http://schemas.microsoft.com/office/drawing/2014/main" id="{03DC1DFF-9200-544E-A5F8-A66C560A3CE4}"/>
                  </a:ext>
                </a:extLst>
              </p:cNvPr>
              <p:cNvSpPr txBox="1">
                <a:spLocks noRot="1" noChangeAspect="1" noMove="1" noResize="1" noEditPoints="1" noAdjustHandles="1" noChangeArrowheads="1" noChangeShapeType="1" noTextEdit="1"/>
              </p:cNvSpPr>
              <p:nvPr/>
            </p:nvSpPr>
            <p:spPr>
              <a:xfrm>
                <a:off x="8445190" y="1245054"/>
                <a:ext cx="3746810" cy="379656"/>
              </a:xfrm>
              <a:prstGeom prst="rect">
                <a:avLst/>
              </a:prstGeom>
              <a:blipFill>
                <a:blip r:embed="rId8"/>
                <a:stretch>
                  <a:fillRect b="-12500"/>
                </a:stretch>
              </a:blipFill>
            </p:spPr>
            <p:txBody>
              <a:bodyPr/>
              <a:lstStyle/>
              <a:p>
                <a:r>
                  <a:rPr lang="en-CN">
                    <a:noFill/>
                  </a:rPr>
                  <a:t> </a:t>
                </a:r>
              </a:p>
            </p:txBody>
          </p:sp>
        </mc:Fallback>
      </mc:AlternateContent>
      <p:sp>
        <p:nvSpPr>
          <p:cNvPr id="16" name="Down Arrow 15">
            <a:extLst>
              <a:ext uri="{FF2B5EF4-FFF2-40B4-BE49-F238E27FC236}">
                <a16:creationId xmlns:a16="http://schemas.microsoft.com/office/drawing/2014/main" id="{075E0075-4CAB-0F4C-A052-531A2960225B}"/>
              </a:ext>
            </a:extLst>
          </p:cNvPr>
          <p:cNvSpPr/>
          <p:nvPr/>
        </p:nvSpPr>
        <p:spPr>
          <a:xfrm>
            <a:off x="8621484" y="2576945"/>
            <a:ext cx="308758" cy="4631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C04DF40-1098-AD47-8CC8-4C64F2AD3795}"/>
                  </a:ext>
                </a:extLst>
              </p:cNvPr>
              <p:cNvSpPr txBox="1"/>
              <p:nvPr/>
            </p:nvSpPr>
            <p:spPr>
              <a:xfrm>
                <a:off x="7125193" y="3301340"/>
                <a:ext cx="3586348" cy="8340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den>
                              </m:f>
                            </m:e>
                          </m:d>
                        </m:e>
                        <m:sub>
                          <m:r>
                            <a:rPr lang="en-US" b="0" i="1" smtClean="0">
                              <a:latin typeface="Cambria Math" panose="02040503050406030204" pitchFamily="18" charset="0"/>
                            </a:rPr>
                            <m:t>𝑁</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𝑁</m:t>
                          </m:r>
                        </m:num>
                        <m:den>
                          <m:r>
                            <a:rPr lang="en-US" b="0" i="1" smtClean="0">
                              <a:latin typeface="Cambria Math" panose="02040503050406030204" pitchFamily="18" charset="0"/>
                            </a:rPr>
                            <m:t>𝑈</m:t>
                          </m:r>
                        </m:den>
                      </m:f>
                    </m:oMath>
                  </m:oMathPara>
                </a14:m>
                <a:endParaRPr lang="en-CN" dirty="0"/>
              </a:p>
            </p:txBody>
          </p:sp>
        </mc:Choice>
        <mc:Fallback xmlns="">
          <p:sp>
            <p:nvSpPr>
              <p:cNvPr id="17" name="TextBox 16">
                <a:extLst>
                  <a:ext uri="{FF2B5EF4-FFF2-40B4-BE49-F238E27FC236}">
                    <a16:creationId xmlns:a16="http://schemas.microsoft.com/office/drawing/2014/main" id="{AC04DF40-1098-AD47-8CC8-4C64F2AD3795}"/>
                  </a:ext>
                </a:extLst>
              </p:cNvPr>
              <p:cNvSpPr txBox="1">
                <a:spLocks noRot="1" noChangeAspect="1" noMove="1" noResize="1" noEditPoints="1" noAdjustHandles="1" noChangeArrowheads="1" noChangeShapeType="1" noTextEdit="1"/>
              </p:cNvSpPr>
              <p:nvPr/>
            </p:nvSpPr>
            <p:spPr>
              <a:xfrm>
                <a:off x="7125193" y="3301340"/>
                <a:ext cx="3586348" cy="834074"/>
              </a:xfrm>
              <a:prstGeom prst="rect">
                <a:avLst/>
              </a:prstGeom>
              <a:blipFill>
                <a:blip r:embed="rId9"/>
                <a:stretch>
                  <a:fillRect b="-7576"/>
                </a:stretch>
              </a:blipFill>
            </p:spPr>
            <p:txBody>
              <a:bodyPr/>
              <a:lstStyle/>
              <a:p>
                <a:r>
                  <a:rPr lang="en-CN">
                    <a:noFill/>
                  </a:rPr>
                  <a:t> </a:t>
                </a:r>
              </a:p>
            </p:txBody>
          </p:sp>
        </mc:Fallback>
      </mc:AlternateContent>
      <p:cxnSp>
        <p:nvCxnSpPr>
          <p:cNvPr id="19" name="Straight Connector 18">
            <a:extLst>
              <a:ext uri="{FF2B5EF4-FFF2-40B4-BE49-F238E27FC236}">
                <a16:creationId xmlns:a16="http://schemas.microsoft.com/office/drawing/2014/main" id="{D78EA7CB-9A76-3B45-8D55-D46B94F6A9E2}"/>
              </a:ext>
            </a:extLst>
          </p:cNvPr>
          <p:cNvCxnSpPr>
            <a:cxnSpLocks/>
          </p:cNvCxnSpPr>
          <p:nvPr/>
        </p:nvCxnSpPr>
        <p:spPr>
          <a:xfrm>
            <a:off x="6377049" y="1314577"/>
            <a:ext cx="0" cy="266534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E72736E-A319-3D4E-9B82-D6F6279C684C}"/>
                  </a:ext>
                </a:extLst>
              </p:cNvPr>
              <p:cNvSpPr txBox="1"/>
              <p:nvPr/>
            </p:nvSpPr>
            <p:spPr>
              <a:xfrm>
                <a:off x="136567" y="4703932"/>
                <a:ext cx="61336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22" name="TextBox 21">
                <a:extLst>
                  <a:ext uri="{FF2B5EF4-FFF2-40B4-BE49-F238E27FC236}">
                    <a16:creationId xmlns:a16="http://schemas.microsoft.com/office/drawing/2014/main" id="{4E72736E-A319-3D4E-9B82-D6F6279C684C}"/>
                  </a:ext>
                </a:extLst>
              </p:cNvPr>
              <p:cNvSpPr txBox="1">
                <a:spLocks noRot="1" noChangeAspect="1" noMove="1" noResize="1" noEditPoints="1" noAdjustHandles="1" noChangeArrowheads="1" noChangeShapeType="1" noTextEdit="1"/>
              </p:cNvSpPr>
              <p:nvPr/>
            </p:nvSpPr>
            <p:spPr>
              <a:xfrm>
                <a:off x="136567" y="4703932"/>
                <a:ext cx="6133604" cy="369332"/>
              </a:xfrm>
              <a:prstGeom prst="rect">
                <a:avLst/>
              </a:prstGeom>
              <a:blipFill>
                <a:blip r:embed="rId10"/>
                <a:stretch>
                  <a:fillRect/>
                </a:stretch>
              </a:blipFill>
            </p:spPr>
            <p:txBody>
              <a:bodyPr/>
              <a:lstStyle/>
              <a:p>
                <a:r>
                  <a:rPr lang="en-CN">
                    <a:noFill/>
                  </a:rPr>
                  <a:t> </a:t>
                </a:r>
              </a:p>
            </p:txBody>
          </p:sp>
        </mc:Fallback>
      </mc:AlternateContent>
      <p:sp>
        <p:nvSpPr>
          <p:cNvPr id="23" name="Down Arrow 22">
            <a:extLst>
              <a:ext uri="{FF2B5EF4-FFF2-40B4-BE49-F238E27FC236}">
                <a16:creationId xmlns:a16="http://schemas.microsoft.com/office/drawing/2014/main" id="{A1C26F4D-6C5B-084D-9667-9C0B244A7501}"/>
              </a:ext>
            </a:extLst>
          </p:cNvPr>
          <p:cNvSpPr/>
          <p:nvPr/>
        </p:nvSpPr>
        <p:spPr>
          <a:xfrm>
            <a:off x="2990612" y="4237512"/>
            <a:ext cx="295406" cy="463138"/>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solidFill>
                <a:srgbClr val="FF0000"/>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9D0B060-2B43-8044-B896-F7019F772818}"/>
                  </a:ext>
                </a:extLst>
              </p:cNvPr>
              <p:cNvSpPr txBox="1"/>
              <p:nvPr/>
            </p:nvSpPr>
            <p:spPr>
              <a:xfrm>
                <a:off x="5921829" y="4519860"/>
                <a:ext cx="6133604"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25" name="TextBox 24">
                <a:extLst>
                  <a:ext uri="{FF2B5EF4-FFF2-40B4-BE49-F238E27FC236}">
                    <a16:creationId xmlns:a16="http://schemas.microsoft.com/office/drawing/2014/main" id="{99D0B060-2B43-8044-B896-F7019F772818}"/>
                  </a:ext>
                </a:extLst>
              </p:cNvPr>
              <p:cNvSpPr txBox="1">
                <a:spLocks noRot="1" noChangeAspect="1" noMove="1" noResize="1" noEditPoints="1" noAdjustHandles="1" noChangeArrowheads="1" noChangeShapeType="1" noTextEdit="1"/>
              </p:cNvSpPr>
              <p:nvPr/>
            </p:nvSpPr>
            <p:spPr>
              <a:xfrm>
                <a:off x="5921829" y="4519860"/>
                <a:ext cx="6133604" cy="610936"/>
              </a:xfrm>
              <a:prstGeom prst="rect">
                <a:avLst/>
              </a:prstGeom>
              <a:blipFill>
                <a:blip r:embed="rId11"/>
                <a:stretch>
                  <a:fillRect b="-2000"/>
                </a:stretch>
              </a:blipFill>
            </p:spPr>
            <p:txBody>
              <a:bodyPr/>
              <a:lstStyle/>
              <a:p>
                <a:r>
                  <a:rPr lang="en-CN">
                    <a:noFill/>
                  </a:rPr>
                  <a:t> </a:t>
                </a:r>
              </a:p>
            </p:txBody>
          </p:sp>
        </mc:Fallback>
      </mc:AlternateContent>
      <p:sp>
        <p:nvSpPr>
          <p:cNvPr id="26" name="Down Arrow 25">
            <a:extLst>
              <a:ext uri="{FF2B5EF4-FFF2-40B4-BE49-F238E27FC236}">
                <a16:creationId xmlns:a16="http://schemas.microsoft.com/office/drawing/2014/main" id="{ACD957CC-9F05-6D46-A6F1-7E5186A98C18}"/>
              </a:ext>
            </a:extLst>
          </p:cNvPr>
          <p:cNvSpPr/>
          <p:nvPr/>
        </p:nvSpPr>
        <p:spPr>
          <a:xfrm>
            <a:off x="8679871" y="4096068"/>
            <a:ext cx="308758" cy="463138"/>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rgbClr val="FF0000"/>
              </a:solidFill>
            </a:endParaRPr>
          </a:p>
        </p:txBody>
      </p:sp>
    </p:spTree>
    <p:extLst>
      <p:ext uri="{BB962C8B-B14F-4D97-AF65-F5344CB8AC3E}">
        <p14:creationId xmlns:p14="http://schemas.microsoft.com/office/powerpoint/2010/main" val="1230536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C6BB81-96F2-1A49-9661-6CEAABFAC9D1}"/>
              </a:ext>
            </a:extLst>
          </p:cNvPr>
          <p:cNvSpPr txBox="1"/>
          <p:nvPr/>
        </p:nvSpPr>
        <p:spPr>
          <a:xfrm>
            <a:off x="1231722" y="672685"/>
            <a:ext cx="5474524" cy="523220"/>
          </a:xfrm>
          <a:prstGeom prst="rect">
            <a:avLst/>
          </a:prstGeom>
          <a:noFill/>
        </p:spPr>
        <p:txBody>
          <a:bodyPr wrap="square" rtlCol="0">
            <a:spAutoFit/>
          </a:bodyPr>
          <a:lstStyle/>
          <a:p>
            <a:pPr algn="ctr"/>
            <a:r>
              <a:rPr lang="en-CN" sz="2800" dirty="0"/>
              <a:t>热容</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5F7B36-4341-EF45-AE71-456FFCC7B61F}"/>
                  </a:ext>
                </a:extLst>
              </p:cNvPr>
              <p:cNvSpPr txBox="1"/>
              <p:nvPr/>
            </p:nvSpPr>
            <p:spPr>
              <a:xfrm>
                <a:off x="5823439" y="420671"/>
                <a:ext cx="2455148" cy="10121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𝑉</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𝑈</m:t>
                                  </m:r>
                                </m:num>
                                <m:den>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𝜏</m:t>
                                  </m:r>
                                </m:den>
                              </m:f>
                            </m:e>
                          </m:d>
                        </m:e>
                        <m:sub>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𝑉</m:t>
                          </m:r>
                        </m:sub>
                      </m:sSub>
                    </m:oMath>
                  </m:oMathPara>
                </a14:m>
                <a:endParaRPr lang="en-CN" sz="2800" dirty="0"/>
              </a:p>
            </p:txBody>
          </p:sp>
        </mc:Choice>
        <mc:Fallback xmlns="">
          <p:sp>
            <p:nvSpPr>
              <p:cNvPr id="5" name="TextBox 4">
                <a:extLst>
                  <a:ext uri="{FF2B5EF4-FFF2-40B4-BE49-F238E27FC236}">
                    <a16:creationId xmlns:a16="http://schemas.microsoft.com/office/drawing/2014/main" id="{5D5F7B36-4341-EF45-AE71-456FFCC7B61F}"/>
                  </a:ext>
                </a:extLst>
              </p:cNvPr>
              <p:cNvSpPr txBox="1">
                <a:spLocks noRot="1" noChangeAspect="1" noMove="1" noResize="1" noEditPoints="1" noAdjustHandles="1" noChangeArrowheads="1" noChangeShapeType="1" noTextEdit="1"/>
              </p:cNvSpPr>
              <p:nvPr/>
            </p:nvSpPr>
            <p:spPr>
              <a:xfrm>
                <a:off x="5823439" y="420671"/>
                <a:ext cx="2455148" cy="1012137"/>
              </a:xfrm>
              <a:prstGeom prst="rect">
                <a:avLst/>
              </a:prstGeom>
              <a:blipFill>
                <a:blip r:embed="rId2"/>
                <a:stretch>
                  <a:fillRect t="-2500" b="-10000"/>
                </a:stretch>
              </a:blipFill>
            </p:spPr>
            <p:txBody>
              <a:bodyPr/>
              <a:lstStyle/>
              <a:p>
                <a:r>
                  <a:rPr lang="en-CN">
                    <a:noFill/>
                  </a:rPr>
                  <a:t> </a:t>
                </a:r>
              </a:p>
            </p:txBody>
          </p:sp>
        </mc:Fallback>
      </mc:AlternateContent>
      <p:pic>
        <p:nvPicPr>
          <p:cNvPr id="6" name="Picture 5">
            <a:extLst>
              <a:ext uri="{FF2B5EF4-FFF2-40B4-BE49-F238E27FC236}">
                <a16:creationId xmlns:a16="http://schemas.microsoft.com/office/drawing/2014/main" id="{EAAE3533-6818-754E-AAC2-4207FC60B8EB}"/>
              </a:ext>
            </a:extLst>
          </p:cNvPr>
          <p:cNvPicPr>
            <a:picLocks noChangeAspect="1"/>
          </p:cNvPicPr>
          <p:nvPr/>
        </p:nvPicPr>
        <p:blipFill>
          <a:blip r:embed="rId3"/>
          <a:stretch>
            <a:fillRect/>
          </a:stretch>
        </p:blipFill>
        <p:spPr>
          <a:xfrm>
            <a:off x="509533" y="1522870"/>
            <a:ext cx="11443855" cy="381226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83F7D23-EB37-874C-8A4E-337906740540}"/>
                  </a:ext>
                </a:extLst>
              </p:cNvPr>
              <p:cNvSpPr txBox="1"/>
              <p:nvPr/>
            </p:nvSpPr>
            <p:spPr>
              <a:xfrm>
                <a:off x="746166" y="5384544"/>
                <a:ext cx="7968343" cy="369332"/>
              </a:xfrm>
              <a:prstGeom prst="rect">
                <a:avLst/>
              </a:prstGeom>
              <a:noFill/>
            </p:spPr>
            <p:txBody>
              <a:bodyPr wrap="square" rtlCol="0">
                <a:spAutoFit/>
              </a:bodyPr>
              <a:lstStyle/>
              <a:p>
                <a:r>
                  <a:rPr lang="en-CN" dirty="0"/>
                  <a:t>爱因斯坦固体: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𝑉</m:t>
                        </m:r>
                      </m:sub>
                    </m:sSub>
                    <m:r>
                      <a:rPr lang="en-US" b="0" i="1" smtClean="0">
                        <a:latin typeface="Cambria Math" panose="02040503050406030204" pitchFamily="18" charset="0"/>
                      </a:rPr>
                      <m:t>=</m:t>
                    </m:r>
                    <m:r>
                      <a:rPr lang="en-US" b="0" i="1" smtClean="0">
                        <a:latin typeface="Cambria Math" panose="02040503050406030204" pitchFamily="18" charset="0"/>
                      </a:rPr>
                      <m:t>𝑁</m:t>
                    </m:r>
                  </m:oMath>
                </a14:m>
                <a:endParaRPr lang="en-CN" dirty="0"/>
              </a:p>
            </p:txBody>
          </p:sp>
        </mc:Choice>
        <mc:Fallback xmlns="">
          <p:sp>
            <p:nvSpPr>
              <p:cNvPr id="7" name="TextBox 6">
                <a:extLst>
                  <a:ext uri="{FF2B5EF4-FFF2-40B4-BE49-F238E27FC236}">
                    <a16:creationId xmlns:a16="http://schemas.microsoft.com/office/drawing/2014/main" id="{D83F7D23-EB37-874C-8A4E-337906740540}"/>
                  </a:ext>
                </a:extLst>
              </p:cNvPr>
              <p:cNvSpPr txBox="1">
                <a:spLocks noRot="1" noChangeAspect="1" noMove="1" noResize="1" noEditPoints="1" noAdjustHandles="1" noChangeArrowheads="1" noChangeShapeType="1" noTextEdit="1"/>
              </p:cNvSpPr>
              <p:nvPr/>
            </p:nvSpPr>
            <p:spPr>
              <a:xfrm>
                <a:off x="746166" y="5384544"/>
                <a:ext cx="7968343" cy="369332"/>
              </a:xfrm>
              <a:prstGeom prst="rect">
                <a:avLst/>
              </a:prstGeom>
              <a:blipFill>
                <a:blip r:embed="rId4"/>
                <a:stretch>
                  <a:fillRect l="-636" t="-6452" b="-2258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71EDDFE-3DAF-AA4F-BCBB-39ED3211C2A3}"/>
                  </a:ext>
                </a:extLst>
              </p:cNvPr>
              <p:cNvSpPr txBox="1"/>
              <p:nvPr/>
            </p:nvSpPr>
            <p:spPr>
              <a:xfrm>
                <a:off x="8551148" y="5425192"/>
                <a:ext cx="2635407" cy="484043"/>
              </a:xfrm>
              <a:prstGeom prst="rect">
                <a:avLst/>
              </a:prstGeom>
              <a:noFill/>
            </p:spPr>
            <p:txBody>
              <a:bodyPr wrap="square" rtlCol="0">
                <a:spAutoFit/>
              </a:bodyPr>
              <a:lstStyle/>
              <a:p>
                <a:r>
                  <a:rPr lang="en-CN" dirty="0"/>
                  <a:t>   理想气体</a:t>
                </a:r>
                <a:r>
                  <a:rPr lang="en-US" dirty="0"/>
                  <a:t>:</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𝑉</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𝑁</m:t>
                    </m:r>
                  </m:oMath>
                </a14:m>
                <a:endParaRPr lang="en-CN" dirty="0"/>
              </a:p>
            </p:txBody>
          </p:sp>
        </mc:Choice>
        <mc:Fallback xmlns="">
          <p:sp>
            <p:nvSpPr>
              <p:cNvPr id="8" name="TextBox 7">
                <a:extLst>
                  <a:ext uri="{FF2B5EF4-FFF2-40B4-BE49-F238E27FC236}">
                    <a16:creationId xmlns:a16="http://schemas.microsoft.com/office/drawing/2014/main" id="{971EDDFE-3DAF-AA4F-BCBB-39ED3211C2A3}"/>
                  </a:ext>
                </a:extLst>
              </p:cNvPr>
              <p:cNvSpPr txBox="1">
                <a:spLocks noRot="1" noChangeAspect="1" noMove="1" noResize="1" noEditPoints="1" noAdjustHandles="1" noChangeArrowheads="1" noChangeShapeType="1" noTextEdit="1"/>
              </p:cNvSpPr>
              <p:nvPr/>
            </p:nvSpPr>
            <p:spPr>
              <a:xfrm>
                <a:off x="8551148" y="5425192"/>
                <a:ext cx="2635407" cy="484043"/>
              </a:xfrm>
              <a:prstGeom prst="rect">
                <a:avLst/>
              </a:prstGeom>
              <a:blipFill>
                <a:blip r:embed="rId5"/>
                <a:stretch>
                  <a:fillRect b="-7692"/>
                </a:stretch>
              </a:blipFill>
            </p:spPr>
            <p:txBody>
              <a:bodyPr/>
              <a:lstStyle/>
              <a:p>
                <a:r>
                  <a:rPr lang="en-CN">
                    <a:noFill/>
                  </a:rPr>
                  <a:t> </a:t>
                </a:r>
              </a:p>
            </p:txBody>
          </p:sp>
        </mc:Fallback>
      </mc:AlternateContent>
    </p:spTree>
    <p:extLst>
      <p:ext uri="{BB962C8B-B14F-4D97-AF65-F5344CB8AC3E}">
        <p14:creationId xmlns:p14="http://schemas.microsoft.com/office/powerpoint/2010/main" val="1901981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B7F4B3-A4CB-D24C-9F20-3D9F566BA993}"/>
              </a:ext>
            </a:extLst>
          </p:cNvPr>
          <p:cNvSpPr txBox="1"/>
          <p:nvPr/>
        </p:nvSpPr>
        <p:spPr>
          <a:xfrm>
            <a:off x="2260194" y="2164391"/>
            <a:ext cx="8217724" cy="1200329"/>
          </a:xfrm>
          <a:prstGeom prst="rect">
            <a:avLst/>
          </a:prstGeom>
          <a:noFill/>
        </p:spPr>
        <p:txBody>
          <a:bodyPr wrap="square" rtlCol="0">
            <a:spAutoFit/>
          </a:bodyPr>
          <a:lstStyle/>
          <a:p>
            <a:r>
              <a:rPr lang="en-CN" sz="3600" dirty="0"/>
              <a:t>我们举一个例子走一遍step</a:t>
            </a:r>
            <a:r>
              <a:rPr lang="en-US" altLang="zh-CN" sz="3600" dirty="0"/>
              <a:t>1</a:t>
            </a:r>
            <a:r>
              <a:rPr lang="zh-CN" altLang="en-US" sz="3600" dirty="0"/>
              <a:t> 到 </a:t>
            </a:r>
            <a:r>
              <a:rPr lang="en-US" altLang="zh-CN" sz="3600" dirty="0"/>
              <a:t>step5</a:t>
            </a:r>
          </a:p>
          <a:p>
            <a:r>
              <a:rPr lang="en-US" sz="3600" dirty="0" err="1"/>
              <a:t>见Mathematica文件热容.nb</a:t>
            </a:r>
            <a:endParaRPr lang="en-CN" sz="3600" dirty="0"/>
          </a:p>
        </p:txBody>
      </p:sp>
    </p:spTree>
    <p:extLst>
      <p:ext uri="{BB962C8B-B14F-4D97-AF65-F5344CB8AC3E}">
        <p14:creationId xmlns:p14="http://schemas.microsoft.com/office/powerpoint/2010/main" val="2157823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8B0A57-E9D7-DC40-8734-D7D7A484A51E}"/>
              </a:ext>
            </a:extLst>
          </p:cNvPr>
          <p:cNvPicPr>
            <a:picLocks noChangeAspect="1"/>
          </p:cNvPicPr>
          <p:nvPr/>
        </p:nvPicPr>
        <p:blipFill>
          <a:blip r:embed="rId2"/>
          <a:stretch>
            <a:fillRect/>
          </a:stretch>
        </p:blipFill>
        <p:spPr>
          <a:xfrm>
            <a:off x="453390" y="12700"/>
            <a:ext cx="7810500" cy="6845300"/>
          </a:xfrm>
          <a:prstGeom prst="rect">
            <a:avLst/>
          </a:prstGeom>
        </p:spPr>
      </p:pic>
      <p:sp>
        <p:nvSpPr>
          <p:cNvPr id="3" name="TextBox 2">
            <a:extLst>
              <a:ext uri="{FF2B5EF4-FFF2-40B4-BE49-F238E27FC236}">
                <a16:creationId xmlns:a16="http://schemas.microsoft.com/office/drawing/2014/main" id="{7675B5F4-F46E-2AD2-E6B2-436C9D2D1F2D}"/>
              </a:ext>
            </a:extLst>
          </p:cNvPr>
          <p:cNvSpPr txBox="1"/>
          <p:nvPr/>
        </p:nvSpPr>
        <p:spPr>
          <a:xfrm>
            <a:off x="9162288" y="2578608"/>
            <a:ext cx="1709928" cy="707886"/>
          </a:xfrm>
          <a:prstGeom prst="rect">
            <a:avLst/>
          </a:prstGeom>
          <a:noFill/>
        </p:spPr>
        <p:txBody>
          <a:bodyPr wrap="square" rtlCol="0">
            <a:spAutoFit/>
          </a:bodyPr>
          <a:lstStyle/>
          <a:p>
            <a:r>
              <a:rPr lang="en-CN" sz="4000" dirty="0"/>
              <a:t>板书</a:t>
            </a:r>
            <a:r>
              <a:rPr lang="zh-CN" altLang="en-US" sz="4000" dirty="0"/>
              <a:t>！</a:t>
            </a:r>
            <a:endParaRPr lang="en-CN" sz="4000" dirty="0"/>
          </a:p>
        </p:txBody>
      </p:sp>
    </p:spTree>
    <p:extLst>
      <p:ext uri="{BB962C8B-B14F-4D97-AF65-F5344CB8AC3E}">
        <p14:creationId xmlns:p14="http://schemas.microsoft.com/office/powerpoint/2010/main" val="2184083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332D1F-D6C7-0F4B-AAC1-7A6D4B7C85C5}"/>
              </a:ext>
            </a:extLst>
          </p:cNvPr>
          <p:cNvPicPr>
            <a:picLocks noChangeAspect="1"/>
          </p:cNvPicPr>
          <p:nvPr/>
        </p:nvPicPr>
        <p:blipFill>
          <a:blip r:embed="rId2"/>
          <a:stretch>
            <a:fillRect/>
          </a:stretch>
        </p:blipFill>
        <p:spPr>
          <a:xfrm>
            <a:off x="534389" y="1606579"/>
            <a:ext cx="10941287" cy="3644841"/>
          </a:xfrm>
          <a:prstGeom prst="rect">
            <a:avLst/>
          </a:prstGeom>
        </p:spPr>
      </p:pic>
      <p:sp>
        <p:nvSpPr>
          <p:cNvPr id="5" name="Curved Left Arrow 4">
            <a:extLst>
              <a:ext uri="{FF2B5EF4-FFF2-40B4-BE49-F238E27FC236}">
                <a16:creationId xmlns:a16="http://schemas.microsoft.com/office/drawing/2014/main" id="{A1CFB709-5891-D445-8014-382FA3DF67C1}"/>
              </a:ext>
            </a:extLst>
          </p:cNvPr>
          <p:cNvSpPr/>
          <p:nvPr/>
        </p:nvSpPr>
        <p:spPr>
          <a:xfrm rot="10612298" flipH="1">
            <a:off x="8461506" y="2721535"/>
            <a:ext cx="592367" cy="1414926"/>
          </a:xfrm>
          <a:prstGeom prst="curvedLeftArrow">
            <a:avLst>
              <a:gd name="adj1" fmla="val 25000"/>
              <a:gd name="adj2" fmla="val 62168"/>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6" name="TextBox 5">
            <a:extLst>
              <a:ext uri="{FF2B5EF4-FFF2-40B4-BE49-F238E27FC236}">
                <a16:creationId xmlns:a16="http://schemas.microsoft.com/office/drawing/2014/main" id="{431F0F1B-0451-4748-B619-ED6236D8144C}"/>
              </a:ext>
            </a:extLst>
          </p:cNvPr>
          <p:cNvSpPr txBox="1"/>
          <p:nvPr/>
        </p:nvSpPr>
        <p:spPr>
          <a:xfrm>
            <a:off x="3693226" y="137398"/>
            <a:ext cx="5260769" cy="369332"/>
          </a:xfrm>
          <a:prstGeom prst="rect">
            <a:avLst/>
          </a:prstGeom>
          <a:noFill/>
        </p:spPr>
        <p:txBody>
          <a:bodyPr wrap="square" rtlCol="0">
            <a:spAutoFit/>
          </a:bodyPr>
          <a:lstStyle/>
          <a:p>
            <a:pPr algn="ctr"/>
            <a:r>
              <a:rPr lang="en-CN" dirty="0"/>
              <a:t>Mesure Entropy</a:t>
            </a:r>
          </a:p>
        </p:txBody>
      </p:sp>
      <p:sp>
        <p:nvSpPr>
          <p:cNvPr id="7" name="TextBox 6">
            <a:extLst>
              <a:ext uri="{FF2B5EF4-FFF2-40B4-BE49-F238E27FC236}">
                <a16:creationId xmlns:a16="http://schemas.microsoft.com/office/drawing/2014/main" id="{2185FF3B-703F-2249-907A-2FE9E1B87F6C}"/>
              </a:ext>
            </a:extLst>
          </p:cNvPr>
          <p:cNvSpPr txBox="1"/>
          <p:nvPr/>
        </p:nvSpPr>
        <p:spPr>
          <a:xfrm>
            <a:off x="534389" y="920908"/>
            <a:ext cx="10569040" cy="461665"/>
          </a:xfrm>
          <a:prstGeom prst="rect">
            <a:avLst/>
          </a:prstGeom>
          <a:noFill/>
        </p:spPr>
        <p:txBody>
          <a:bodyPr wrap="square" rtlCol="0">
            <a:spAutoFit/>
          </a:bodyPr>
          <a:lstStyle/>
          <a:p>
            <a:r>
              <a:rPr lang="en-CN" sz="2400" dirty="0">
                <a:latin typeface="FangSong" panose="02010609060101010101" pitchFamily="49" charset="-122"/>
                <a:ea typeface="FangSong" panose="02010609060101010101" pitchFamily="49" charset="-122"/>
              </a:rPr>
              <a:t>热容量是用宏观方法探究微观奥秘的探针</a:t>
            </a:r>
            <a:r>
              <a:rPr lang="en-US" altLang="zh-CN" sz="2400" dirty="0"/>
              <a:t>——</a:t>
            </a:r>
            <a:r>
              <a:rPr lang="zh-CN" altLang="en-US" sz="2400" dirty="0"/>
              <a:t>赵柳书后记</a:t>
            </a:r>
            <a:endParaRPr lang="en-CN" sz="2400" dirty="0"/>
          </a:p>
        </p:txBody>
      </p:sp>
    </p:spTree>
    <p:extLst>
      <p:ext uri="{BB962C8B-B14F-4D97-AF65-F5344CB8AC3E}">
        <p14:creationId xmlns:p14="http://schemas.microsoft.com/office/powerpoint/2010/main" val="2182562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31F0F1B-0451-4748-B619-ED6236D8144C}"/>
              </a:ext>
            </a:extLst>
          </p:cNvPr>
          <p:cNvSpPr txBox="1"/>
          <p:nvPr/>
        </p:nvSpPr>
        <p:spPr>
          <a:xfrm>
            <a:off x="3693226" y="137398"/>
            <a:ext cx="5260769" cy="369332"/>
          </a:xfrm>
          <a:prstGeom prst="rect">
            <a:avLst/>
          </a:prstGeom>
          <a:noFill/>
        </p:spPr>
        <p:txBody>
          <a:bodyPr wrap="square" rtlCol="0">
            <a:spAutoFit/>
          </a:bodyPr>
          <a:lstStyle/>
          <a:p>
            <a:pPr algn="ctr"/>
            <a:r>
              <a:rPr lang="en-CN" dirty="0"/>
              <a:t>Mesure Entropy</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3D8BEE-21C8-EA40-81E3-2B947071AE68}"/>
                  </a:ext>
                </a:extLst>
              </p:cNvPr>
              <p:cNvSpPr txBox="1"/>
              <p:nvPr/>
            </p:nvSpPr>
            <p:spPr>
              <a:xfrm>
                <a:off x="629392" y="866899"/>
                <a:ext cx="10949050" cy="5378011"/>
              </a:xfrm>
              <a:prstGeom prst="rect">
                <a:avLst/>
              </a:prstGeom>
              <a:noFill/>
            </p:spPr>
            <p:txBody>
              <a:bodyPr wrap="square" rtlCol="0">
                <a:spAutoFit/>
              </a:bodyPr>
              <a:lstStyle/>
              <a:p>
                <a:r>
                  <a:rPr lang="en-CN" dirty="0"/>
                  <a:t>If you add a bit of heat Q to a system while holding its volume constant and doing no other forms of work, its entropy changes by</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𝑑</m:t>
                      </m:r>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𝑑𝑈</m:t>
                          </m:r>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𝑄</m:t>
                          </m:r>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𝑐𝑜𝑛𝑠𝑡𝑎𝑛𝑡</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𝑣𝑜𝑙𝑢𝑚𝑒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𝑛𝑜</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𝑤𝑜𝑟𝑘</m:t>
                      </m:r>
                      <m:r>
                        <a:rPr lang="en-US" b="0" i="1" smtClean="0">
                          <a:latin typeface="Cambria Math" panose="02040503050406030204" pitchFamily="18" charset="0"/>
                          <a:ea typeface="Cambria Math" panose="02040503050406030204" pitchFamily="18" charset="0"/>
                        </a:rPr>
                        <m:t>)</m:t>
                      </m:r>
                    </m:oMath>
                  </m:oMathPara>
                </a14:m>
                <a:endParaRPr lang="en-CN" dirty="0"/>
              </a:p>
              <a:p>
                <a:r>
                  <a:rPr lang="en-CN" dirty="0"/>
                  <a:t>When tau is changing, however, it’s usually more convenient to write the relation in terms of the heat capacity at constant volume:</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𝑉</m:t>
                              </m:r>
                            </m:sub>
                          </m:sSub>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𝜏</m:t>
                          </m:r>
                        </m:den>
                      </m:f>
                    </m:oMath>
                  </m:oMathPara>
                </a14:m>
                <a:endParaRPr lang="en-CN" dirty="0"/>
              </a:p>
              <a:p>
                <a:r>
                  <a:rPr lang="en-CN" dirty="0"/>
                  <a:t>Imagine the process as a sequence of tiny steps, compute d\sigma each step, and add them up to ge the total change in entropy</a:t>
                </a: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nary>
                        <m:naryPr>
                          <m:limLoc m:val="undOvr"/>
                          <m:ctrlPr>
                            <a:rPr lang="en-US" b="0" i="1" smtClean="0">
                              <a:latin typeface="Cambria Math" panose="02040503050406030204" pitchFamily="18" charset="0"/>
                              <a:ea typeface="Cambria Math" panose="02040503050406030204" pitchFamily="18" charset="0"/>
                            </a:rPr>
                          </m:ctrlPr>
                        </m:naryPr>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𝑖</m:t>
                              </m:r>
                            </m:sub>
                          </m:sSub>
                        </m:sub>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𝑓</m:t>
                              </m:r>
                            </m:sub>
                          </m:sSub>
                        </m:sup>
                        <m:e>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𝑉</m:t>
                                  </m:r>
                                </m:sub>
                              </m:sSub>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𝜏</m:t>
                          </m:r>
                        </m:e>
                      </m:nary>
                    </m:oMath>
                  </m:oMathPara>
                </a14:m>
                <a:endParaRPr lang="en-CN" dirty="0"/>
              </a:p>
              <a:p>
                <a:r>
                  <a:rPr lang="en-CN" dirty="0"/>
                  <a:t>If you are lucky enough to know heat capacity all the way down to absolute zero, you can calculate a system’s total entropy simply by taking zero as the lower limit of the integral:</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𝑓</m:t>
                          </m:r>
                        </m:sub>
                      </m:sSub>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nary>
                        <m:naryPr>
                          <m:limLoc m:val="undOvr"/>
                          <m:ctrlPr>
                            <a:rPr lang="en-US" i="1">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0</m:t>
                          </m:r>
                        </m:sub>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𝜏</m:t>
                              </m:r>
                            </m:e>
                            <m:sub>
                              <m:r>
                                <a:rPr lang="en-US" i="1">
                                  <a:latin typeface="Cambria Math" panose="02040503050406030204" pitchFamily="18" charset="0"/>
                                  <a:ea typeface="Cambria Math" panose="02040503050406030204" pitchFamily="18" charset="0"/>
                                </a:rPr>
                                <m:t>𝑓</m:t>
                              </m:r>
                            </m:sub>
                          </m:sSub>
                        </m:sup>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𝑉</m:t>
                                  </m:r>
                                </m:sub>
                              </m:sSub>
                            </m:num>
                            <m:den>
                              <m:r>
                                <a:rPr lang="en-US" i="1">
                                  <a:latin typeface="Cambria Math" panose="02040503050406030204" pitchFamily="18" charset="0"/>
                                  <a:ea typeface="Cambria Math" panose="02040503050406030204" pitchFamily="18" charset="0"/>
                                </a:rPr>
                                <m:t>𝜏</m:t>
                              </m:r>
                            </m:den>
                          </m:f>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𝜏</m:t>
                          </m:r>
                        </m:e>
                      </m:nary>
                    </m:oMath>
                  </m:oMathPara>
                </a14:m>
                <a:endParaRPr lang="en-CN" dirty="0"/>
              </a:p>
              <a:p>
                <a:endParaRPr lang="en-CN" dirty="0"/>
              </a:p>
            </p:txBody>
          </p:sp>
        </mc:Choice>
        <mc:Fallback xmlns="">
          <p:sp>
            <p:nvSpPr>
              <p:cNvPr id="2" name="TextBox 1">
                <a:extLst>
                  <a:ext uri="{FF2B5EF4-FFF2-40B4-BE49-F238E27FC236}">
                    <a16:creationId xmlns:a16="http://schemas.microsoft.com/office/drawing/2014/main" id="{A83D8BEE-21C8-EA40-81E3-2B947071AE68}"/>
                  </a:ext>
                </a:extLst>
              </p:cNvPr>
              <p:cNvSpPr txBox="1">
                <a:spLocks noRot="1" noChangeAspect="1" noMove="1" noResize="1" noEditPoints="1" noAdjustHandles="1" noChangeArrowheads="1" noChangeShapeType="1" noTextEdit="1"/>
              </p:cNvSpPr>
              <p:nvPr/>
            </p:nvSpPr>
            <p:spPr>
              <a:xfrm>
                <a:off x="629392" y="866899"/>
                <a:ext cx="10949050" cy="5378011"/>
              </a:xfrm>
              <a:prstGeom prst="rect">
                <a:avLst/>
              </a:prstGeom>
              <a:blipFill>
                <a:blip r:embed="rId2"/>
                <a:stretch>
                  <a:fillRect l="-463" t="-472" b="-22642"/>
                </a:stretch>
              </a:blipFill>
            </p:spPr>
            <p:txBody>
              <a:bodyPr/>
              <a:lstStyle/>
              <a:p>
                <a:r>
                  <a:rPr lang="en-CN">
                    <a:noFill/>
                  </a:rPr>
                  <a:t> </a:t>
                </a:r>
              </a:p>
            </p:txBody>
          </p:sp>
        </mc:Fallback>
      </mc:AlternateContent>
    </p:spTree>
    <p:extLst>
      <p:ext uri="{BB962C8B-B14F-4D97-AF65-F5344CB8AC3E}">
        <p14:creationId xmlns:p14="http://schemas.microsoft.com/office/powerpoint/2010/main" val="2175453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C45852E-F086-9B47-BA49-CF1401B91110}"/>
                  </a:ext>
                </a:extLst>
              </p:cNvPr>
              <p:cNvSpPr txBox="1"/>
              <p:nvPr/>
            </p:nvSpPr>
            <p:spPr>
              <a:xfrm>
                <a:off x="2894611" y="118527"/>
                <a:ext cx="6097978" cy="9267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𝑓</m:t>
                          </m:r>
                        </m:sub>
                      </m:sSub>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nary>
                        <m:naryPr>
                          <m:limLoc m:val="undOvr"/>
                          <m:ctrlPr>
                            <a:rPr lang="en-US" i="1">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0</m:t>
                          </m:r>
                        </m:sub>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𝜏</m:t>
                              </m:r>
                            </m:e>
                            <m:sub>
                              <m:r>
                                <a:rPr lang="en-US" i="1">
                                  <a:latin typeface="Cambria Math" panose="02040503050406030204" pitchFamily="18" charset="0"/>
                                  <a:ea typeface="Cambria Math" panose="02040503050406030204" pitchFamily="18" charset="0"/>
                                </a:rPr>
                                <m:t>𝑓</m:t>
                              </m:r>
                            </m:sub>
                          </m:sSub>
                        </m:sup>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𝑉</m:t>
                                  </m:r>
                                </m:sub>
                              </m:sSub>
                            </m:num>
                            <m:den>
                              <m:r>
                                <a:rPr lang="en-US" i="1">
                                  <a:latin typeface="Cambria Math" panose="02040503050406030204" pitchFamily="18" charset="0"/>
                                  <a:ea typeface="Cambria Math" panose="02040503050406030204" pitchFamily="18" charset="0"/>
                                </a:rPr>
                                <m:t>𝜏</m:t>
                              </m:r>
                            </m:den>
                          </m:f>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𝜏</m:t>
                          </m:r>
                        </m:e>
                      </m:nary>
                    </m:oMath>
                  </m:oMathPara>
                </a14:m>
                <a:endParaRPr lang="en-CN" dirty="0"/>
              </a:p>
            </p:txBody>
          </p:sp>
        </mc:Choice>
        <mc:Fallback xmlns="">
          <p:sp>
            <p:nvSpPr>
              <p:cNvPr id="8" name="TextBox 7">
                <a:extLst>
                  <a:ext uri="{FF2B5EF4-FFF2-40B4-BE49-F238E27FC236}">
                    <a16:creationId xmlns:a16="http://schemas.microsoft.com/office/drawing/2014/main" id="{EC45852E-F086-9B47-BA49-CF1401B91110}"/>
                  </a:ext>
                </a:extLst>
              </p:cNvPr>
              <p:cNvSpPr txBox="1">
                <a:spLocks noRot="1" noChangeAspect="1" noMove="1" noResize="1" noEditPoints="1" noAdjustHandles="1" noChangeArrowheads="1" noChangeShapeType="1" noTextEdit="1"/>
              </p:cNvSpPr>
              <p:nvPr/>
            </p:nvSpPr>
            <p:spPr>
              <a:xfrm>
                <a:off x="2894611" y="118527"/>
                <a:ext cx="6097978" cy="926729"/>
              </a:xfrm>
              <a:prstGeom prst="rect">
                <a:avLst/>
              </a:prstGeom>
              <a:blipFill>
                <a:blip r:embed="rId2"/>
                <a:stretch>
                  <a:fillRect t="-105405" b="-16486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8786E6-7114-B64F-A2D3-980B560F97A1}"/>
                  </a:ext>
                </a:extLst>
              </p:cNvPr>
              <p:cNvSpPr txBox="1"/>
              <p:nvPr/>
            </p:nvSpPr>
            <p:spPr>
              <a:xfrm>
                <a:off x="736270" y="1151906"/>
                <a:ext cx="10854047" cy="646331"/>
              </a:xfrm>
              <a:prstGeom prst="rect">
                <a:avLst/>
              </a:prstGeom>
              <a:noFill/>
            </p:spPr>
            <p:txBody>
              <a:bodyPr wrap="square" rtlCol="0">
                <a:spAutoFit/>
              </a:bodyPr>
              <a:lstStyle/>
              <a:p>
                <a:pPr marL="285750" indent="-285750">
                  <a:buFont typeface="Arial" panose="020B0604020202020204" pitchFamily="34" charset="0"/>
                  <a:buChar char="•"/>
                </a:pPr>
                <a:r>
                  <a:rPr lang="en-CN" dirty="0"/>
                  <a:t>At zero temperature a system should settle into its unique lowest-energy state, g=0, and then </a:t>
                </a:r>
                <a14:m>
                  <m:oMath xmlns:m="http://schemas.openxmlformats.org/officeDocument/2006/math">
                    <m:r>
                      <a:rPr lang="en-CN"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=0</m:t>
                    </m:r>
                  </m:oMath>
                </a14:m>
                <a:r>
                  <a:rPr lang="en-CN" dirty="0">
                    <a:solidFill>
                      <a:srgbClr val="FF0000"/>
                    </a:solidFill>
                  </a:rPr>
                  <a:t>;???</a:t>
                </a:r>
              </a:p>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𝑉</m:t>
                        </m:r>
                      </m:sub>
                    </m:sSub>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𝑎𝑠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→0</m:t>
                    </m:r>
                  </m:oMath>
                </a14:m>
                <a:endParaRPr lang="en-CN" dirty="0"/>
              </a:p>
            </p:txBody>
          </p:sp>
        </mc:Choice>
        <mc:Fallback xmlns="">
          <p:sp>
            <p:nvSpPr>
              <p:cNvPr id="3" name="TextBox 2">
                <a:extLst>
                  <a:ext uri="{FF2B5EF4-FFF2-40B4-BE49-F238E27FC236}">
                    <a16:creationId xmlns:a16="http://schemas.microsoft.com/office/drawing/2014/main" id="{B38786E6-7114-B64F-A2D3-980B560F97A1}"/>
                  </a:ext>
                </a:extLst>
              </p:cNvPr>
              <p:cNvSpPr txBox="1">
                <a:spLocks noRot="1" noChangeAspect="1" noMove="1" noResize="1" noEditPoints="1" noAdjustHandles="1" noChangeArrowheads="1" noChangeShapeType="1" noTextEdit="1"/>
              </p:cNvSpPr>
              <p:nvPr/>
            </p:nvSpPr>
            <p:spPr>
              <a:xfrm>
                <a:off x="736270" y="1151906"/>
                <a:ext cx="10854047" cy="646331"/>
              </a:xfrm>
              <a:prstGeom prst="rect">
                <a:avLst/>
              </a:prstGeom>
              <a:blipFill>
                <a:blip r:embed="rId3"/>
                <a:stretch>
                  <a:fillRect l="-468" t="-3846" b="-11538"/>
                </a:stretch>
              </a:blipFill>
            </p:spPr>
            <p:txBody>
              <a:bodyPr/>
              <a:lstStyle/>
              <a:p>
                <a:r>
                  <a:rPr lang="en-CN">
                    <a:noFill/>
                  </a:rPr>
                  <a:t> </a:t>
                </a:r>
              </a:p>
            </p:txBody>
          </p:sp>
        </mc:Fallback>
      </mc:AlternateContent>
      <p:pic>
        <p:nvPicPr>
          <p:cNvPr id="10" name="Picture 9">
            <a:extLst>
              <a:ext uri="{FF2B5EF4-FFF2-40B4-BE49-F238E27FC236}">
                <a16:creationId xmlns:a16="http://schemas.microsoft.com/office/drawing/2014/main" id="{56B57116-52E0-E54A-890F-350E5EEA8544}"/>
              </a:ext>
            </a:extLst>
          </p:cNvPr>
          <p:cNvPicPr>
            <a:picLocks noChangeAspect="1"/>
          </p:cNvPicPr>
          <p:nvPr/>
        </p:nvPicPr>
        <p:blipFill>
          <a:blip r:embed="rId4"/>
          <a:stretch>
            <a:fillRect/>
          </a:stretch>
        </p:blipFill>
        <p:spPr>
          <a:xfrm>
            <a:off x="2505692" y="2117971"/>
            <a:ext cx="7393627" cy="4372884"/>
          </a:xfrm>
          <a:prstGeom prst="rect">
            <a:avLst/>
          </a:prstGeom>
        </p:spPr>
      </p:pic>
    </p:spTree>
    <p:extLst>
      <p:ext uri="{BB962C8B-B14F-4D97-AF65-F5344CB8AC3E}">
        <p14:creationId xmlns:p14="http://schemas.microsoft.com/office/powerpoint/2010/main" val="442044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1674B0-40BF-C840-A52C-4A550962DB9E}"/>
              </a:ext>
            </a:extLst>
          </p:cNvPr>
          <p:cNvSpPr txBox="1"/>
          <p:nvPr/>
        </p:nvSpPr>
        <p:spPr>
          <a:xfrm>
            <a:off x="9429008" y="6127668"/>
            <a:ext cx="2541319" cy="369332"/>
          </a:xfrm>
          <a:prstGeom prst="rect">
            <a:avLst/>
          </a:prstGeom>
          <a:noFill/>
        </p:spPr>
        <p:txBody>
          <a:bodyPr wrap="square" rtlCol="0">
            <a:spAutoFit/>
          </a:bodyPr>
          <a:lstStyle/>
          <a:p>
            <a:r>
              <a:rPr lang="en-US" altLang="zh-CN" dirty="0"/>
              <a:t>2022.02.27</a:t>
            </a:r>
            <a:endParaRPr lang="en-C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F02033D-429F-7EF1-9323-F1EAD8946317}"/>
                  </a:ext>
                </a:extLst>
              </p:cNvPr>
              <p:cNvSpPr txBox="1"/>
              <p:nvPr/>
            </p:nvSpPr>
            <p:spPr>
              <a:xfrm>
                <a:off x="2824273" y="1657182"/>
                <a:ext cx="6097978" cy="19462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𝜎</m:t>
                          </m:r>
                        </m:e>
                        <m:sub>
                          <m:r>
                            <a:rPr lang="en-US" sz="4000" i="1">
                              <a:latin typeface="Cambria Math" panose="02040503050406030204" pitchFamily="18" charset="0"/>
                              <a:ea typeface="Cambria Math" panose="02040503050406030204" pitchFamily="18" charset="0"/>
                            </a:rPr>
                            <m:t>𝑓</m:t>
                          </m:r>
                        </m:sub>
                      </m:sSub>
                      <m:r>
                        <a:rPr lang="en-US" sz="4000" i="1">
                          <a:latin typeface="Cambria Math" panose="02040503050406030204" pitchFamily="18" charset="0"/>
                          <a:ea typeface="Cambria Math" panose="02040503050406030204" pitchFamily="18" charset="0"/>
                        </a:rPr>
                        <m:t>−</m:t>
                      </m:r>
                      <m:r>
                        <a:rPr lang="en-US" sz="400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(0)</m:t>
                      </m:r>
                      <m:r>
                        <a:rPr lang="en-US" sz="4000" i="1">
                          <a:latin typeface="Cambria Math" panose="02040503050406030204" pitchFamily="18" charset="0"/>
                          <a:ea typeface="Cambria Math" panose="02040503050406030204" pitchFamily="18" charset="0"/>
                        </a:rPr>
                        <m:t>=</m:t>
                      </m:r>
                      <m:nary>
                        <m:naryPr>
                          <m:limLoc m:val="undOvr"/>
                          <m:ctrlPr>
                            <a:rPr lang="en-US" sz="4000" i="1">
                              <a:latin typeface="Cambria Math" panose="02040503050406030204" pitchFamily="18" charset="0"/>
                              <a:ea typeface="Cambria Math" panose="02040503050406030204" pitchFamily="18" charset="0"/>
                            </a:rPr>
                          </m:ctrlPr>
                        </m:naryPr>
                        <m:sub>
                          <m:r>
                            <a:rPr lang="en-US" sz="4000" b="0" i="1" smtClean="0">
                              <a:latin typeface="Cambria Math" panose="02040503050406030204" pitchFamily="18" charset="0"/>
                              <a:ea typeface="Cambria Math" panose="02040503050406030204" pitchFamily="18" charset="0"/>
                            </a:rPr>
                            <m:t>0</m:t>
                          </m:r>
                        </m:sub>
                        <m:sup>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𝜏</m:t>
                              </m:r>
                            </m:e>
                            <m:sub>
                              <m:r>
                                <a:rPr lang="en-US" sz="4000" i="1">
                                  <a:latin typeface="Cambria Math" panose="02040503050406030204" pitchFamily="18" charset="0"/>
                                  <a:ea typeface="Cambria Math" panose="02040503050406030204" pitchFamily="18" charset="0"/>
                                </a:rPr>
                                <m:t>𝑓</m:t>
                              </m:r>
                            </m:sub>
                          </m:sSub>
                        </m:sup>
                        <m:e>
                          <m:f>
                            <m:fPr>
                              <m:ctrlPr>
                                <a:rPr lang="en-US" sz="4000" i="1">
                                  <a:latin typeface="Cambria Math" panose="02040503050406030204" pitchFamily="18" charset="0"/>
                                  <a:ea typeface="Cambria Math" panose="02040503050406030204" pitchFamily="18" charset="0"/>
                                </a:rPr>
                              </m:ctrlPr>
                            </m:fPr>
                            <m:num>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𝐶</m:t>
                                  </m:r>
                                </m:e>
                                <m:sub>
                                  <m:r>
                                    <a:rPr lang="en-US" sz="4000" i="1">
                                      <a:latin typeface="Cambria Math" panose="02040503050406030204" pitchFamily="18" charset="0"/>
                                      <a:ea typeface="Cambria Math" panose="02040503050406030204" pitchFamily="18" charset="0"/>
                                    </a:rPr>
                                    <m:t>𝑉</m:t>
                                  </m:r>
                                </m:sub>
                              </m:sSub>
                            </m:num>
                            <m:den>
                              <m:r>
                                <a:rPr lang="en-US" sz="4000" i="1">
                                  <a:latin typeface="Cambria Math" panose="02040503050406030204" pitchFamily="18" charset="0"/>
                                  <a:ea typeface="Cambria Math" panose="02040503050406030204" pitchFamily="18" charset="0"/>
                                </a:rPr>
                                <m:t>𝜏</m:t>
                              </m:r>
                            </m:den>
                          </m:f>
                          <m:r>
                            <a:rPr lang="en-US" sz="4000" i="1">
                              <a:latin typeface="Cambria Math" panose="02040503050406030204" pitchFamily="18" charset="0"/>
                              <a:ea typeface="Cambria Math" panose="02040503050406030204" pitchFamily="18" charset="0"/>
                            </a:rPr>
                            <m:t>𝑑</m:t>
                          </m:r>
                          <m:r>
                            <a:rPr lang="en-US" sz="4000" i="1">
                              <a:latin typeface="Cambria Math" panose="02040503050406030204" pitchFamily="18" charset="0"/>
                              <a:ea typeface="Cambria Math" panose="02040503050406030204" pitchFamily="18" charset="0"/>
                            </a:rPr>
                            <m:t>𝜏</m:t>
                          </m:r>
                        </m:e>
                      </m:nary>
                    </m:oMath>
                  </m:oMathPara>
                </a14:m>
                <a:endParaRPr lang="en-CN" sz="4000" dirty="0"/>
              </a:p>
            </p:txBody>
          </p:sp>
        </mc:Choice>
        <mc:Fallback xmlns="">
          <p:sp>
            <p:nvSpPr>
              <p:cNvPr id="3" name="TextBox 2">
                <a:extLst>
                  <a:ext uri="{FF2B5EF4-FFF2-40B4-BE49-F238E27FC236}">
                    <a16:creationId xmlns:a16="http://schemas.microsoft.com/office/drawing/2014/main" id="{2F02033D-429F-7EF1-9323-F1EAD8946317}"/>
                  </a:ext>
                </a:extLst>
              </p:cNvPr>
              <p:cNvSpPr txBox="1">
                <a:spLocks noRot="1" noChangeAspect="1" noMove="1" noResize="1" noEditPoints="1" noAdjustHandles="1" noChangeArrowheads="1" noChangeShapeType="1" noTextEdit="1"/>
              </p:cNvSpPr>
              <p:nvPr/>
            </p:nvSpPr>
            <p:spPr>
              <a:xfrm>
                <a:off x="2824273" y="1657182"/>
                <a:ext cx="6097978" cy="1946238"/>
              </a:xfrm>
              <a:prstGeom prst="rect">
                <a:avLst/>
              </a:prstGeom>
              <a:blipFill>
                <a:blip r:embed="rId2"/>
                <a:stretch>
                  <a:fillRect t="-115584" b="-176623"/>
                </a:stretch>
              </a:blipFill>
            </p:spPr>
            <p:txBody>
              <a:bodyPr/>
              <a:lstStyle/>
              <a:p>
                <a:r>
                  <a:rPr lang="en-CN">
                    <a:noFill/>
                  </a:rPr>
                  <a:t> </a:t>
                </a:r>
              </a:p>
            </p:txBody>
          </p:sp>
        </mc:Fallback>
      </mc:AlternateContent>
    </p:spTree>
    <p:extLst>
      <p:ext uri="{BB962C8B-B14F-4D97-AF65-F5344CB8AC3E}">
        <p14:creationId xmlns:p14="http://schemas.microsoft.com/office/powerpoint/2010/main" val="3332176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5" y="1007013"/>
            <a:ext cx="4540515" cy="550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t>Boltzman</a:t>
            </a:r>
            <a:r>
              <a:rPr lang="zh-CN" altLang="en-US" sz="4000" dirty="0"/>
              <a:t> </a:t>
            </a:r>
            <a:r>
              <a:rPr lang="en-US" altLang="zh-CN" sz="4000" dirty="0"/>
              <a:t>Factor</a:t>
            </a:r>
          </a:p>
          <a:p>
            <a:pPr marL="342900" indent="-342900"/>
            <a:endParaRPr lang="en-CN" sz="4000" dirty="0"/>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（第三四周）</a:t>
            </a:r>
            <a:endParaRPr lang="en-CN"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8D9622B-1B81-334D-B479-C4050C3D67FD}"/>
                  </a:ext>
                </a:extLst>
              </p:cNvPr>
              <p:cNvSpPr txBox="1"/>
              <p:nvPr/>
            </p:nvSpPr>
            <p:spPr>
              <a:xfrm>
                <a:off x="2006930" y="2256312"/>
                <a:ext cx="840773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𝑔</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𝜎</m:t>
                      </m:r>
                      <m:r>
                        <a:rPr lang="en-US" sz="3200" b="0" i="1" smtClean="0">
                          <a:latin typeface="Cambria Math" panose="02040503050406030204" pitchFamily="18" charset="0"/>
                          <a:ea typeface="Cambria Math" panose="02040503050406030204" pitchFamily="18" charset="0"/>
                        </a:rPr>
                        <m:t>→</m:t>
                      </m:r>
                      <m:r>
                        <a:rPr lang="en-US" sz="3200" b="0" i="1" smtClean="0">
                          <a:solidFill>
                            <a:srgbClr val="FF0000"/>
                          </a:solidFill>
                          <a:latin typeface="Cambria Math" panose="02040503050406030204" pitchFamily="18" charset="0"/>
                          <a:ea typeface="Cambria Math" panose="02040503050406030204" pitchFamily="18" charset="0"/>
                        </a:rPr>
                        <m:t>𝜏</m:t>
                      </m:r>
                      <m:r>
                        <a:rPr lang="en-US" sz="3200" b="0" i="1" smtClean="0">
                          <a:latin typeface="Cambria Math" panose="02040503050406030204" pitchFamily="18" charset="0"/>
                          <a:ea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𝐶</m:t>
                          </m:r>
                        </m:e>
                        <m:sub>
                          <m:r>
                            <a:rPr lang="en-US" sz="3200" b="0" i="1" smtClean="0">
                              <a:latin typeface="Cambria Math" panose="02040503050406030204" pitchFamily="18" charset="0"/>
                              <a:ea typeface="Cambria Math" panose="02040503050406030204" pitchFamily="18" charset="0"/>
                            </a:rPr>
                            <m:t>𝑉</m:t>
                          </m:r>
                        </m:sub>
                      </m:sSub>
                    </m:oMath>
                  </m:oMathPara>
                </a14:m>
                <a:endParaRPr lang="en-CN" sz="3200" dirty="0"/>
              </a:p>
            </p:txBody>
          </p:sp>
        </mc:Choice>
        <mc:Fallback xmlns="">
          <p:sp>
            <p:nvSpPr>
              <p:cNvPr id="2" name="TextBox 1">
                <a:extLst>
                  <a:ext uri="{FF2B5EF4-FFF2-40B4-BE49-F238E27FC236}">
                    <a16:creationId xmlns:a16="http://schemas.microsoft.com/office/drawing/2014/main" id="{88D9622B-1B81-334D-B479-C4050C3D67FD}"/>
                  </a:ext>
                </a:extLst>
              </p:cNvPr>
              <p:cNvSpPr txBox="1">
                <a:spLocks noRot="1" noChangeAspect="1" noMove="1" noResize="1" noEditPoints="1" noAdjustHandles="1" noChangeArrowheads="1" noChangeShapeType="1" noTextEdit="1"/>
              </p:cNvSpPr>
              <p:nvPr/>
            </p:nvSpPr>
            <p:spPr>
              <a:xfrm>
                <a:off x="2006930" y="2256312"/>
                <a:ext cx="8407730" cy="584775"/>
              </a:xfrm>
              <a:prstGeom prst="rect">
                <a:avLst/>
              </a:prstGeom>
              <a:blipFill>
                <a:blip r:embed="rId2"/>
                <a:stretch>
                  <a:fillRect b="-12766"/>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DAA58ED6-AA51-BA48-8DC0-70275F21AB19}"/>
              </a:ext>
            </a:extLst>
          </p:cNvPr>
          <p:cNvSpPr txBox="1"/>
          <p:nvPr/>
        </p:nvSpPr>
        <p:spPr>
          <a:xfrm>
            <a:off x="2006930" y="3429000"/>
            <a:ext cx="8668987" cy="1384995"/>
          </a:xfrm>
          <a:prstGeom prst="rect">
            <a:avLst/>
          </a:prstGeom>
          <a:noFill/>
        </p:spPr>
        <p:txBody>
          <a:bodyPr wrap="square" rtlCol="0">
            <a:spAutoFit/>
          </a:bodyPr>
          <a:lstStyle/>
          <a:p>
            <a:r>
              <a:rPr lang="en-CN" sz="2800" dirty="0">
                <a:latin typeface="FangSong" panose="02010609060101010101" pitchFamily="49" charset="-122"/>
                <a:ea typeface="FangSong" panose="02010609060101010101" pitchFamily="49" charset="-122"/>
              </a:rPr>
              <a:t>本次课关注一个这样的系统</a:t>
            </a:r>
            <a:r>
              <a:rPr lang="zh-CN" altLang="en-US" sz="2800" dirty="0">
                <a:latin typeface="FangSong" panose="02010609060101010101" pitchFamily="49" charset="-122"/>
                <a:ea typeface="FangSong" panose="02010609060101010101" pitchFamily="49" charset="-122"/>
              </a:rPr>
              <a:t>，它和热库进行热接触达到热平衡，获得固定的温度后，如何考量系统处于某特定微观态的概率。</a:t>
            </a:r>
            <a:endParaRPr lang="en-CN" sz="2800" dirty="0">
              <a:latin typeface="FangSong" panose="02010609060101010101" pitchFamily="49" charset="-122"/>
              <a:ea typeface="FangSong" panose="02010609060101010101" pitchFamily="49" charset="-122"/>
            </a:endParaRPr>
          </a:p>
        </p:txBody>
      </p:sp>
      <p:sp>
        <p:nvSpPr>
          <p:cNvPr id="4" name="Curved Down Arrow 3">
            <a:extLst>
              <a:ext uri="{FF2B5EF4-FFF2-40B4-BE49-F238E27FC236}">
                <a16:creationId xmlns:a16="http://schemas.microsoft.com/office/drawing/2014/main" id="{9CD20B4C-481E-EF41-A826-D7A88F0F86D1}"/>
              </a:ext>
            </a:extLst>
          </p:cNvPr>
          <p:cNvSpPr/>
          <p:nvPr/>
        </p:nvSpPr>
        <p:spPr>
          <a:xfrm flipH="1">
            <a:off x="5639056" y="1706244"/>
            <a:ext cx="1795413" cy="46382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Tree>
    <p:extLst>
      <p:ext uri="{BB962C8B-B14F-4D97-AF65-F5344CB8AC3E}">
        <p14:creationId xmlns:p14="http://schemas.microsoft.com/office/powerpoint/2010/main" val="1648251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486888" y="320634"/>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一个游戏(林秀豪视频课)</a:t>
            </a:r>
          </a:p>
        </p:txBody>
      </p:sp>
      <p:pic>
        <p:nvPicPr>
          <p:cNvPr id="3" name="Picture 2">
            <a:extLst>
              <a:ext uri="{FF2B5EF4-FFF2-40B4-BE49-F238E27FC236}">
                <a16:creationId xmlns:a16="http://schemas.microsoft.com/office/drawing/2014/main" id="{5C4F63A3-949E-20A4-6EEB-05748B183AB2}"/>
              </a:ext>
            </a:extLst>
          </p:cNvPr>
          <p:cNvPicPr>
            <a:picLocks noChangeAspect="1"/>
          </p:cNvPicPr>
          <p:nvPr/>
        </p:nvPicPr>
        <p:blipFill>
          <a:blip r:embed="rId2"/>
          <a:stretch>
            <a:fillRect/>
          </a:stretch>
        </p:blipFill>
        <p:spPr>
          <a:xfrm>
            <a:off x="1689100" y="1014046"/>
            <a:ext cx="7772400" cy="2254850"/>
          </a:xfrm>
          <a:prstGeom prst="rect">
            <a:avLst/>
          </a:prstGeom>
        </p:spPr>
      </p:pic>
      <p:pic>
        <p:nvPicPr>
          <p:cNvPr id="8" name="Picture 7">
            <a:extLst>
              <a:ext uri="{FF2B5EF4-FFF2-40B4-BE49-F238E27FC236}">
                <a16:creationId xmlns:a16="http://schemas.microsoft.com/office/drawing/2014/main" id="{4005BD3A-0FD1-645E-3E08-0773D24183D5}"/>
              </a:ext>
            </a:extLst>
          </p:cNvPr>
          <p:cNvPicPr>
            <a:picLocks noChangeAspect="1"/>
          </p:cNvPicPr>
          <p:nvPr/>
        </p:nvPicPr>
        <p:blipFill>
          <a:blip r:embed="rId3"/>
          <a:stretch>
            <a:fillRect/>
          </a:stretch>
        </p:blipFill>
        <p:spPr>
          <a:xfrm>
            <a:off x="4018084" y="3872806"/>
            <a:ext cx="4558323" cy="2907528"/>
          </a:xfrm>
          <a:prstGeom prst="rect">
            <a:avLst/>
          </a:prstGeom>
        </p:spPr>
      </p:pic>
    </p:spTree>
    <p:extLst>
      <p:ext uri="{BB962C8B-B14F-4D97-AF65-F5344CB8AC3E}">
        <p14:creationId xmlns:p14="http://schemas.microsoft.com/office/powerpoint/2010/main" val="1375575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486888" y="320634"/>
            <a:ext cx="5074816"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一个游戏(林秀豪视频课</a:t>
            </a:r>
            <a:r>
              <a:rPr lang="zh-CN" altLang="en-US" dirty="0">
                <a:latin typeface="FangSong" panose="02010609060101010101" pitchFamily="49" charset="-122"/>
                <a:ea typeface="FangSong" panose="02010609060101010101" pitchFamily="49" charset="-122"/>
              </a:rPr>
              <a:t>，</a:t>
            </a:r>
            <a:r>
              <a:rPr lang="zh-CN" altLang="en-US" dirty="0">
                <a:solidFill>
                  <a:srgbClr val="FF0000"/>
                </a:solidFill>
                <a:latin typeface="FangSong" panose="02010609060101010101" pitchFamily="49" charset="-122"/>
                <a:ea typeface="FangSong" panose="02010609060101010101" pitchFamily="49" charset="-122"/>
              </a:rPr>
              <a:t>孟祥谦同学讲解</a:t>
            </a:r>
            <a:r>
              <a:rPr lang="en-CN" dirty="0">
                <a:latin typeface="FangSong" panose="02010609060101010101" pitchFamily="49" charset="-122"/>
                <a:ea typeface="FangSong" panose="02010609060101010101" pitchFamily="49" charset="-122"/>
              </a:rPr>
              <a:t>)</a:t>
            </a:r>
          </a:p>
        </p:txBody>
      </p:sp>
      <p:sp>
        <p:nvSpPr>
          <p:cNvPr id="7" name="TextBox 6">
            <a:extLst>
              <a:ext uri="{FF2B5EF4-FFF2-40B4-BE49-F238E27FC236}">
                <a16:creationId xmlns:a16="http://schemas.microsoft.com/office/drawing/2014/main" id="{80F5A931-9F7F-C044-B6B2-DCCBE0DC9BF2}"/>
              </a:ext>
            </a:extLst>
          </p:cNvPr>
          <p:cNvSpPr txBox="1"/>
          <p:nvPr/>
        </p:nvSpPr>
        <p:spPr>
          <a:xfrm>
            <a:off x="1388533" y="931333"/>
            <a:ext cx="9906000" cy="646331"/>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初始状态</a:t>
            </a:r>
            <a:r>
              <a:rPr lang="zh-CN" altLang="en-US" dirty="0">
                <a:latin typeface="FangSong" panose="02010609060101010101" pitchFamily="49" charset="-122"/>
                <a:ea typeface="FangSong" panose="02010609060101010101" pitchFamily="49" charset="-122"/>
              </a:rPr>
              <a:t>：多少人，每人多少钱</a:t>
            </a:r>
            <a:endParaRPr lang="en-CN" dirty="0">
              <a:latin typeface="FangSong" panose="02010609060101010101" pitchFamily="49" charset="-122"/>
              <a:ea typeface="FangSong" panose="02010609060101010101" pitchFamily="49" charset="-122"/>
            </a:endParaRPr>
          </a:p>
          <a:p>
            <a:r>
              <a:rPr lang="en-CN" dirty="0">
                <a:latin typeface="FangSong" panose="02010609060101010101" pitchFamily="49" charset="-122"/>
                <a:ea typeface="FangSong" panose="02010609060101010101" pitchFamily="49" charset="-122"/>
              </a:rPr>
              <a:t>猜结果</a:t>
            </a:r>
            <a:r>
              <a:rPr lang="zh-CN" altLang="en-US" dirty="0">
                <a:latin typeface="FangSong" panose="02010609060101010101" pitchFamily="49" charset="-122"/>
                <a:ea typeface="FangSong" panose="02010609060101010101" pitchFamily="49" charset="-122"/>
              </a:rPr>
              <a:t>：</a:t>
            </a:r>
            <a:endParaRPr lang="en-CN" dirty="0">
              <a:latin typeface="FangSong" panose="02010609060101010101" pitchFamily="49" charset="-122"/>
              <a:ea typeface="FangSong" panose="02010609060101010101" pitchFamily="49" charset="-122"/>
            </a:endParaRPr>
          </a:p>
        </p:txBody>
      </p:sp>
      <p:pic>
        <p:nvPicPr>
          <p:cNvPr id="9" name="Picture 8">
            <a:extLst>
              <a:ext uri="{FF2B5EF4-FFF2-40B4-BE49-F238E27FC236}">
                <a16:creationId xmlns:a16="http://schemas.microsoft.com/office/drawing/2014/main" id="{FEB82E88-4015-0F43-B366-132F33800F4C}"/>
              </a:ext>
            </a:extLst>
          </p:cNvPr>
          <p:cNvPicPr>
            <a:picLocks noChangeAspect="1"/>
          </p:cNvPicPr>
          <p:nvPr/>
        </p:nvPicPr>
        <p:blipFill>
          <a:blip r:embed="rId2"/>
          <a:stretch>
            <a:fillRect/>
          </a:stretch>
        </p:blipFill>
        <p:spPr>
          <a:xfrm>
            <a:off x="3380509" y="1530101"/>
            <a:ext cx="5909733" cy="3644335"/>
          </a:xfrm>
          <a:prstGeom prst="rect">
            <a:avLst/>
          </a:prstGeom>
        </p:spPr>
      </p:pic>
      <p:sp>
        <p:nvSpPr>
          <p:cNvPr id="10" name="TextBox 9">
            <a:extLst>
              <a:ext uri="{FF2B5EF4-FFF2-40B4-BE49-F238E27FC236}">
                <a16:creationId xmlns:a16="http://schemas.microsoft.com/office/drawing/2014/main" id="{71DDAA87-F2A2-E94B-BBA4-F95DE6983954}"/>
              </a:ext>
            </a:extLst>
          </p:cNvPr>
          <p:cNvSpPr txBox="1"/>
          <p:nvPr/>
        </p:nvSpPr>
        <p:spPr>
          <a:xfrm>
            <a:off x="1551709" y="2496459"/>
            <a:ext cx="1473200" cy="1323439"/>
          </a:xfrm>
          <a:prstGeom prst="rect">
            <a:avLst/>
          </a:prstGeom>
          <a:noFill/>
        </p:spPr>
        <p:txBody>
          <a:bodyPr wrap="square" rtlCol="0">
            <a:spAutoFit/>
          </a:bodyPr>
          <a:lstStyle/>
          <a:p>
            <a:pPr algn="ctr"/>
            <a:r>
              <a:rPr lang="en-CN" sz="8000" dirty="0"/>
              <a:t>?</a:t>
            </a:r>
          </a:p>
        </p:txBody>
      </p:sp>
    </p:spTree>
    <p:extLst>
      <p:ext uri="{BB962C8B-B14F-4D97-AF65-F5344CB8AC3E}">
        <p14:creationId xmlns:p14="http://schemas.microsoft.com/office/powerpoint/2010/main" val="3199849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0" y="11780"/>
            <a:ext cx="4595446"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解释游戏</a:t>
            </a:r>
            <a:r>
              <a:rPr lang="zh-CN" altLang="en-US" dirty="0">
                <a:latin typeface="FangSong" panose="02010609060101010101" pitchFamily="49" charset="-122"/>
                <a:ea typeface="FangSong" panose="02010609060101010101" pitchFamily="49" charset="-122"/>
              </a:rPr>
              <a:t>（不讲）</a:t>
            </a:r>
            <a:endParaRPr lang="en-CN" dirty="0">
              <a:latin typeface="FangSong" panose="02010609060101010101" pitchFamily="49" charset="-122"/>
              <a:ea typeface="FangSong" panose="02010609060101010101" pitchFamily="49" charset="-122"/>
            </a:endParaRPr>
          </a:p>
        </p:txBody>
      </p:sp>
      <p:sp>
        <p:nvSpPr>
          <p:cNvPr id="2" name="TextBox 1">
            <a:extLst>
              <a:ext uri="{FF2B5EF4-FFF2-40B4-BE49-F238E27FC236}">
                <a16:creationId xmlns:a16="http://schemas.microsoft.com/office/drawing/2014/main" id="{5BF5F3F6-E5FE-9143-80F5-CA66CEC908AF}"/>
              </a:ext>
            </a:extLst>
          </p:cNvPr>
          <p:cNvSpPr txBox="1"/>
          <p:nvPr/>
        </p:nvSpPr>
        <p:spPr>
          <a:xfrm>
            <a:off x="1142629" y="571451"/>
            <a:ext cx="8669867" cy="369332"/>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细致平衡</a:t>
            </a:r>
          </a:p>
        </p:txBody>
      </p:sp>
      <p:pic>
        <p:nvPicPr>
          <p:cNvPr id="3" name="Picture 2">
            <a:extLst>
              <a:ext uri="{FF2B5EF4-FFF2-40B4-BE49-F238E27FC236}">
                <a16:creationId xmlns:a16="http://schemas.microsoft.com/office/drawing/2014/main" id="{9AC0A074-3B30-1C4C-B79D-4669A7DC5E67}"/>
              </a:ext>
            </a:extLst>
          </p:cNvPr>
          <p:cNvPicPr>
            <a:picLocks noChangeAspect="1"/>
          </p:cNvPicPr>
          <p:nvPr/>
        </p:nvPicPr>
        <p:blipFill>
          <a:blip r:embed="rId2"/>
          <a:stretch>
            <a:fillRect/>
          </a:stretch>
        </p:blipFill>
        <p:spPr>
          <a:xfrm>
            <a:off x="1142629" y="1104809"/>
            <a:ext cx="7116798" cy="173683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01D041F-772B-9042-BB4D-49275CFC856E}"/>
                  </a:ext>
                </a:extLst>
              </p:cNvPr>
              <p:cNvSpPr txBox="1"/>
              <p:nvPr/>
            </p:nvSpPr>
            <p:spPr>
              <a:xfrm>
                <a:off x="2065867" y="3105428"/>
                <a:ext cx="6146800" cy="369332"/>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e>
                    </m:d>
                    <m:r>
                      <a:rPr lang="en-US" b="0" i="1" smtClean="0">
                        <a:latin typeface="Cambria Math" panose="02040503050406030204" pitchFamily="18" charset="0"/>
                      </a:rPr>
                      <m:t>𝑃</m:t>
                    </m:r>
                    <m:r>
                      <a:rPr lang="en-US" b="0" i="1" smtClean="0">
                        <a:latin typeface="Cambria Math" panose="02040503050406030204" pitchFamily="18" charset="0"/>
                      </a:rPr>
                      <m:t>(</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𝑚</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e>
                    </m:d>
                    <m:r>
                      <a:rPr lang="en-US" b="0" i="1" smtClean="0">
                        <a:latin typeface="Cambria Math" panose="02040503050406030204" pitchFamily="18" charset="0"/>
                      </a:rPr>
                      <m:t>𝑃</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𝑚</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oMath>
                </a14:m>
                <a:endParaRPr lang="en-CN" dirty="0"/>
              </a:p>
            </p:txBody>
          </p:sp>
        </mc:Choice>
        <mc:Fallback xmlns="">
          <p:sp>
            <p:nvSpPr>
              <p:cNvPr id="5" name="TextBox 4">
                <a:extLst>
                  <a:ext uri="{FF2B5EF4-FFF2-40B4-BE49-F238E27FC236}">
                    <a16:creationId xmlns:a16="http://schemas.microsoft.com/office/drawing/2014/main" id="{D01D041F-772B-9042-BB4D-49275CFC856E}"/>
                  </a:ext>
                </a:extLst>
              </p:cNvPr>
              <p:cNvSpPr txBox="1">
                <a:spLocks noRot="1" noChangeAspect="1" noMove="1" noResize="1" noEditPoints="1" noAdjustHandles="1" noChangeArrowheads="1" noChangeShapeType="1" noTextEdit="1"/>
              </p:cNvSpPr>
              <p:nvPr/>
            </p:nvSpPr>
            <p:spPr>
              <a:xfrm>
                <a:off x="2065867" y="3105428"/>
                <a:ext cx="6146800" cy="369332"/>
              </a:xfrm>
              <a:prstGeom prst="rect">
                <a:avLst/>
              </a:prstGeom>
              <a:blipFill>
                <a:blip r:embed="rId3"/>
                <a:stretch>
                  <a:fillRect b="-16667"/>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DD710E19-D323-A141-8E4D-40C51485B205}"/>
              </a:ext>
            </a:extLst>
          </p:cNvPr>
          <p:cNvSpPr txBox="1"/>
          <p:nvPr/>
        </p:nvSpPr>
        <p:spPr>
          <a:xfrm>
            <a:off x="8449734" y="3105428"/>
            <a:ext cx="2286000" cy="369332"/>
          </a:xfrm>
          <a:prstGeom prst="rect">
            <a:avLst/>
          </a:prstGeom>
          <a:noFill/>
        </p:spPr>
        <p:txBody>
          <a:bodyPr wrap="square" rtlCol="0">
            <a:spAutoFit/>
          </a:bodyPr>
          <a:lstStyle/>
          <a:p>
            <a:r>
              <a:rPr lang="en-CN" dirty="0"/>
              <a:t>指数</a:t>
            </a:r>
            <a:r>
              <a:rPr lang="zh-CN" altLang="en-US" dirty="0"/>
              <a:t>！！！</a:t>
            </a:r>
            <a:endParaRPr lang="en-CN" dirty="0"/>
          </a:p>
        </p:txBody>
      </p:sp>
      <p:sp>
        <p:nvSpPr>
          <p:cNvPr id="7" name="Right Arrow 6">
            <a:extLst>
              <a:ext uri="{FF2B5EF4-FFF2-40B4-BE49-F238E27FC236}">
                <a16:creationId xmlns:a16="http://schemas.microsoft.com/office/drawing/2014/main" id="{CBA629C3-6ED7-CD40-843B-A23FFC2364B9}"/>
              </a:ext>
            </a:extLst>
          </p:cNvPr>
          <p:cNvSpPr/>
          <p:nvPr/>
        </p:nvSpPr>
        <p:spPr>
          <a:xfrm>
            <a:off x="6874934" y="3290094"/>
            <a:ext cx="133773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TextBox 9">
            <a:extLst>
              <a:ext uri="{FF2B5EF4-FFF2-40B4-BE49-F238E27FC236}">
                <a16:creationId xmlns:a16="http://schemas.microsoft.com/office/drawing/2014/main" id="{A8DB2A6D-4990-7B42-80C7-67E6601D7228}"/>
              </a:ext>
            </a:extLst>
          </p:cNvPr>
          <p:cNvSpPr txBox="1"/>
          <p:nvPr/>
        </p:nvSpPr>
        <p:spPr>
          <a:xfrm>
            <a:off x="8560904" y="1653773"/>
            <a:ext cx="3207026" cy="369332"/>
          </a:xfrm>
          <a:prstGeom prst="rect">
            <a:avLst/>
          </a:prstGeom>
          <a:noFill/>
        </p:spPr>
        <p:txBody>
          <a:bodyPr wrap="square" rtlCol="0">
            <a:spAutoFit/>
          </a:bodyPr>
          <a:lstStyle/>
          <a:p>
            <a:r>
              <a:rPr lang="en-CN" dirty="0">
                <a:solidFill>
                  <a:srgbClr val="FF0000"/>
                </a:solidFill>
                <a:latin typeface="FangSong" panose="02010609060101010101" pitchFamily="49" charset="-122"/>
                <a:ea typeface="FangSong" panose="02010609060101010101" pitchFamily="49" charset="-122"/>
              </a:rPr>
              <a:t>微观随机过程的可逆性</a:t>
            </a:r>
          </a:p>
        </p:txBody>
      </p:sp>
      <p:sp>
        <p:nvSpPr>
          <p:cNvPr id="11" name="TextBox 10">
            <a:extLst>
              <a:ext uri="{FF2B5EF4-FFF2-40B4-BE49-F238E27FC236}">
                <a16:creationId xmlns:a16="http://schemas.microsoft.com/office/drawing/2014/main" id="{4A4CD724-44E0-C84C-8181-6EB46E9C3D2A}"/>
              </a:ext>
            </a:extLst>
          </p:cNvPr>
          <p:cNvSpPr txBox="1"/>
          <p:nvPr/>
        </p:nvSpPr>
        <p:spPr>
          <a:xfrm>
            <a:off x="943398" y="3738541"/>
            <a:ext cx="10482469" cy="2677656"/>
          </a:xfrm>
          <a:prstGeom prst="rect">
            <a:avLst/>
          </a:prstGeom>
          <a:noFill/>
        </p:spPr>
        <p:txBody>
          <a:bodyPr wrap="square" rtlCol="0">
            <a:spAutoFit/>
          </a:bodyPr>
          <a:lstStyle/>
          <a:p>
            <a:pPr marL="285750" indent="-285750">
              <a:buFont typeface="Arial" panose="020B0604020202020204" pitchFamily="34" charset="0"/>
              <a:buChar char="•"/>
            </a:pPr>
            <a:r>
              <a:rPr lang="en-CN" sz="2800" dirty="0"/>
              <a:t>The principle of detailed balance was explicitly introduced for collisions by L. Boltzmann.</a:t>
            </a:r>
          </a:p>
          <a:p>
            <a:pPr marL="285750" indent="-285750">
              <a:buFont typeface="Arial" panose="020B0604020202020204" pitchFamily="34" charset="0"/>
              <a:buChar char="•"/>
            </a:pPr>
            <a:r>
              <a:rPr lang="en-CN" sz="2800" dirty="0"/>
              <a:t>Einstein in 1916 used the principle of detailed balance in a background for this quantum theory of emission and absorption of radiation.</a:t>
            </a:r>
          </a:p>
          <a:p>
            <a:pPr marL="285750" indent="-285750">
              <a:buFont typeface="Arial" panose="020B0604020202020204" pitchFamily="34" charset="0"/>
              <a:buChar char="•"/>
            </a:pPr>
            <a:r>
              <a:rPr lang="en-CN" sz="2800" dirty="0"/>
              <a:t>…</a:t>
            </a:r>
          </a:p>
        </p:txBody>
      </p:sp>
      <p:sp>
        <p:nvSpPr>
          <p:cNvPr id="8" name="TextBox 7">
            <a:extLst>
              <a:ext uri="{FF2B5EF4-FFF2-40B4-BE49-F238E27FC236}">
                <a16:creationId xmlns:a16="http://schemas.microsoft.com/office/drawing/2014/main" id="{E4524C80-CFA9-1182-B10D-267FF067BB7A}"/>
              </a:ext>
            </a:extLst>
          </p:cNvPr>
          <p:cNvSpPr txBox="1"/>
          <p:nvPr/>
        </p:nvSpPr>
        <p:spPr>
          <a:xfrm>
            <a:off x="3328696" y="-93943"/>
            <a:ext cx="4883971" cy="1323439"/>
          </a:xfrm>
          <a:prstGeom prst="rect">
            <a:avLst/>
          </a:prstGeom>
          <a:noFill/>
        </p:spPr>
        <p:txBody>
          <a:bodyPr wrap="square" rtlCol="0">
            <a:spAutoFit/>
          </a:bodyPr>
          <a:lstStyle/>
          <a:p>
            <a:pPr algn="ctr"/>
            <a:r>
              <a:rPr lang="en-CN" sz="8000" dirty="0">
                <a:solidFill>
                  <a:srgbClr val="FF0000"/>
                </a:solidFill>
              </a:rPr>
              <a:t>Why</a:t>
            </a:r>
          </a:p>
        </p:txBody>
      </p:sp>
    </p:spTree>
    <p:extLst>
      <p:ext uri="{BB962C8B-B14F-4D97-AF65-F5344CB8AC3E}">
        <p14:creationId xmlns:p14="http://schemas.microsoft.com/office/powerpoint/2010/main" val="2707464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EAEC2B-2BF6-96F5-E982-694199AF644A}"/>
              </a:ext>
            </a:extLst>
          </p:cNvPr>
          <p:cNvSpPr txBox="1"/>
          <p:nvPr/>
        </p:nvSpPr>
        <p:spPr>
          <a:xfrm>
            <a:off x="2769140" y="3429000"/>
            <a:ext cx="6653719" cy="830997"/>
          </a:xfrm>
          <a:prstGeom prst="rect">
            <a:avLst/>
          </a:prstGeom>
          <a:noFill/>
        </p:spPr>
        <p:txBody>
          <a:bodyPr wrap="square" rtlCol="0">
            <a:spAutoFit/>
          </a:bodyPr>
          <a:lstStyle/>
          <a:p>
            <a:pPr algn="ctr"/>
            <a:r>
              <a:rPr lang="en-CN" sz="4800" dirty="0">
                <a:latin typeface="FangSong" panose="02010609060101010101" pitchFamily="49" charset="-122"/>
                <a:ea typeface="FangSong" panose="02010609060101010101" pitchFamily="49" charset="-122"/>
              </a:rPr>
              <a:t>编外</a:t>
            </a:r>
            <a:r>
              <a:rPr lang="zh-CN" altLang="en-US" sz="4800" dirty="0">
                <a:latin typeface="FangSong" panose="02010609060101010101" pitchFamily="49" charset="-122"/>
                <a:ea typeface="FangSong" panose="02010609060101010101" pitchFamily="49" charset="-122"/>
              </a:rPr>
              <a:t>：</a:t>
            </a:r>
            <a:r>
              <a:rPr lang="en-CN" sz="4800" dirty="0">
                <a:latin typeface="FangSong" panose="02010609060101010101" pitchFamily="49" charset="-122"/>
                <a:ea typeface="FangSong" panose="02010609060101010101" pitchFamily="49" charset="-122"/>
              </a:rPr>
              <a:t>信息熵初探</a:t>
            </a:r>
          </a:p>
        </p:txBody>
      </p:sp>
      <p:sp>
        <p:nvSpPr>
          <p:cNvPr id="2" name="TextBox 1">
            <a:extLst>
              <a:ext uri="{FF2B5EF4-FFF2-40B4-BE49-F238E27FC236}">
                <a16:creationId xmlns:a16="http://schemas.microsoft.com/office/drawing/2014/main" id="{8D50C770-AEE3-9342-2AEF-D8E2345981CC}"/>
              </a:ext>
            </a:extLst>
          </p:cNvPr>
          <p:cNvSpPr txBox="1"/>
          <p:nvPr/>
        </p:nvSpPr>
        <p:spPr>
          <a:xfrm>
            <a:off x="3517751" y="774551"/>
            <a:ext cx="4883971" cy="1323439"/>
          </a:xfrm>
          <a:prstGeom prst="rect">
            <a:avLst/>
          </a:prstGeom>
          <a:noFill/>
        </p:spPr>
        <p:txBody>
          <a:bodyPr wrap="square" rtlCol="0">
            <a:spAutoFit/>
          </a:bodyPr>
          <a:lstStyle/>
          <a:p>
            <a:pPr algn="ctr"/>
            <a:r>
              <a:rPr lang="en-CN" sz="8000" dirty="0">
                <a:solidFill>
                  <a:srgbClr val="FF0000"/>
                </a:solidFill>
              </a:rPr>
              <a:t>Why</a:t>
            </a:r>
          </a:p>
        </p:txBody>
      </p:sp>
    </p:spTree>
    <p:extLst>
      <p:ext uri="{BB962C8B-B14F-4D97-AF65-F5344CB8AC3E}">
        <p14:creationId xmlns:p14="http://schemas.microsoft.com/office/powerpoint/2010/main" val="3268518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4B9848-272A-234F-ACD2-826221FD662B}"/>
              </a:ext>
            </a:extLst>
          </p:cNvPr>
          <p:cNvPicPr>
            <a:picLocks noChangeAspect="1"/>
          </p:cNvPicPr>
          <p:nvPr/>
        </p:nvPicPr>
        <p:blipFill>
          <a:blip r:embed="rId2"/>
          <a:stretch>
            <a:fillRect/>
          </a:stretch>
        </p:blipFill>
        <p:spPr>
          <a:xfrm>
            <a:off x="0" y="1995853"/>
            <a:ext cx="4649204" cy="1123878"/>
          </a:xfrm>
          <a:prstGeom prst="rect">
            <a:avLst/>
          </a:prstGeom>
        </p:spPr>
      </p:pic>
      <p:pic>
        <p:nvPicPr>
          <p:cNvPr id="9" name="Picture 8">
            <a:extLst>
              <a:ext uri="{FF2B5EF4-FFF2-40B4-BE49-F238E27FC236}">
                <a16:creationId xmlns:a16="http://schemas.microsoft.com/office/drawing/2014/main" id="{94787FCA-8F6D-BE42-9438-EC3C8DC7E8D7}"/>
              </a:ext>
            </a:extLst>
          </p:cNvPr>
          <p:cNvPicPr>
            <a:picLocks noChangeAspect="1"/>
          </p:cNvPicPr>
          <p:nvPr/>
        </p:nvPicPr>
        <p:blipFill>
          <a:blip r:embed="rId3"/>
          <a:stretch>
            <a:fillRect/>
          </a:stretch>
        </p:blipFill>
        <p:spPr>
          <a:xfrm>
            <a:off x="-23855" y="3289618"/>
            <a:ext cx="6191733" cy="852274"/>
          </a:xfrm>
          <a:prstGeom prst="rect">
            <a:avLst/>
          </a:prstGeom>
        </p:spPr>
      </p:pic>
      <p:pic>
        <p:nvPicPr>
          <p:cNvPr id="11" name="Picture 10">
            <a:extLst>
              <a:ext uri="{FF2B5EF4-FFF2-40B4-BE49-F238E27FC236}">
                <a16:creationId xmlns:a16="http://schemas.microsoft.com/office/drawing/2014/main" id="{75441A70-0AD3-9945-AD56-2BB4A3F8EC8A}"/>
              </a:ext>
            </a:extLst>
          </p:cNvPr>
          <p:cNvPicPr>
            <a:picLocks noChangeAspect="1"/>
          </p:cNvPicPr>
          <p:nvPr/>
        </p:nvPicPr>
        <p:blipFill>
          <a:blip r:embed="rId4"/>
          <a:stretch>
            <a:fillRect/>
          </a:stretch>
        </p:blipFill>
        <p:spPr>
          <a:xfrm>
            <a:off x="4186997" y="4743989"/>
            <a:ext cx="4169518" cy="623031"/>
          </a:xfrm>
          <a:prstGeom prst="rect">
            <a:avLst/>
          </a:prstGeom>
        </p:spPr>
      </p:pic>
      <p:sp>
        <p:nvSpPr>
          <p:cNvPr id="12" name="Down Arrow 11">
            <a:extLst>
              <a:ext uri="{FF2B5EF4-FFF2-40B4-BE49-F238E27FC236}">
                <a16:creationId xmlns:a16="http://schemas.microsoft.com/office/drawing/2014/main" id="{714766B3-8E1F-5848-BAB9-5EE9F8AA73CA}"/>
              </a:ext>
            </a:extLst>
          </p:cNvPr>
          <p:cNvSpPr/>
          <p:nvPr/>
        </p:nvSpPr>
        <p:spPr>
          <a:xfrm>
            <a:off x="6096000" y="2225592"/>
            <a:ext cx="351513" cy="5391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4" name="Picture 13">
            <a:extLst>
              <a:ext uri="{FF2B5EF4-FFF2-40B4-BE49-F238E27FC236}">
                <a16:creationId xmlns:a16="http://schemas.microsoft.com/office/drawing/2014/main" id="{79437FD3-49C6-9F41-BFB7-B4641E35F5CC}"/>
              </a:ext>
            </a:extLst>
          </p:cNvPr>
          <p:cNvPicPr>
            <a:picLocks noChangeAspect="1"/>
          </p:cNvPicPr>
          <p:nvPr/>
        </p:nvPicPr>
        <p:blipFill>
          <a:blip r:embed="rId5"/>
          <a:stretch>
            <a:fillRect/>
          </a:stretch>
        </p:blipFill>
        <p:spPr>
          <a:xfrm>
            <a:off x="6096000" y="1995853"/>
            <a:ext cx="6073572" cy="1203432"/>
          </a:xfrm>
          <a:prstGeom prst="rect">
            <a:avLst/>
          </a:prstGeom>
        </p:spPr>
      </p:pic>
      <p:pic>
        <p:nvPicPr>
          <p:cNvPr id="17" name="Picture 16">
            <a:extLst>
              <a:ext uri="{FF2B5EF4-FFF2-40B4-BE49-F238E27FC236}">
                <a16:creationId xmlns:a16="http://schemas.microsoft.com/office/drawing/2014/main" id="{24A78695-E090-C448-9FA3-C511DEB837D5}"/>
              </a:ext>
            </a:extLst>
          </p:cNvPr>
          <p:cNvPicPr>
            <a:picLocks noChangeAspect="1"/>
          </p:cNvPicPr>
          <p:nvPr/>
        </p:nvPicPr>
        <p:blipFill>
          <a:blip r:embed="rId6"/>
          <a:stretch>
            <a:fillRect/>
          </a:stretch>
        </p:blipFill>
        <p:spPr>
          <a:xfrm>
            <a:off x="6447513" y="3397007"/>
            <a:ext cx="5809438" cy="626715"/>
          </a:xfrm>
          <a:prstGeom prst="rect">
            <a:avLst/>
          </a:prstGeom>
        </p:spPr>
      </p:pic>
      <p:cxnSp>
        <p:nvCxnSpPr>
          <p:cNvPr id="19" name="Straight Connector 18">
            <a:extLst>
              <a:ext uri="{FF2B5EF4-FFF2-40B4-BE49-F238E27FC236}">
                <a16:creationId xmlns:a16="http://schemas.microsoft.com/office/drawing/2014/main" id="{17E0A727-5525-FC4D-A77A-B99D98F4B381}"/>
              </a:ext>
            </a:extLst>
          </p:cNvPr>
          <p:cNvCxnSpPr/>
          <p:nvPr/>
        </p:nvCxnSpPr>
        <p:spPr>
          <a:xfrm flipV="1">
            <a:off x="544749" y="5383583"/>
            <a:ext cx="11381362" cy="4127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BDB3A02-6E6B-7347-B69F-541F5608F7B0}"/>
              </a:ext>
            </a:extLst>
          </p:cNvPr>
          <p:cNvSpPr txBox="1"/>
          <p:nvPr/>
        </p:nvSpPr>
        <p:spPr>
          <a:xfrm>
            <a:off x="3232763" y="5717619"/>
            <a:ext cx="6653719" cy="830997"/>
          </a:xfrm>
          <a:prstGeom prst="rect">
            <a:avLst/>
          </a:prstGeom>
          <a:noFill/>
        </p:spPr>
        <p:txBody>
          <a:bodyPr wrap="square" rtlCol="0">
            <a:spAutoFit/>
          </a:bodyPr>
          <a:lstStyle/>
          <a:p>
            <a:pPr algn="ctr"/>
            <a:r>
              <a:rPr lang="en-CN" sz="4800" dirty="0">
                <a:latin typeface="FangSong" panose="02010609060101010101" pitchFamily="49" charset="-122"/>
                <a:ea typeface="FangSong" panose="02010609060101010101" pitchFamily="49" charset="-122"/>
              </a:rPr>
              <a:t>观测几个特殊分布</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BEAEC2B-2BF6-96F5-E982-694199AF644A}"/>
                  </a:ext>
                </a:extLst>
              </p:cNvPr>
              <p:cNvSpPr txBox="1"/>
              <p:nvPr/>
            </p:nvSpPr>
            <p:spPr>
              <a:xfrm>
                <a:off x="2698513" y="35490"/>
                <a:ext cx="6653719" cy="188077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4800" i="1" dirty="0" smtClean="0">
                          <a:latin typeface="Cambria Math" panose="02040503050406030204" pitchFamily="18" charset="0"/>
                          <a:ea typeface="Cambria Math" panose="02040503050406030204" pitchFamily="18" charset="0"/>
                        </a:rPr>
                        <m:t>𝜎</m:t>
                      </m:r>
                      <m:r>
                        <a:rPr lang="en-US" sz="4800" b="0" i="1" dirty="0" smtClean="0">
                          <a:latin typeface="Cambria Math" panose="02040503050406030204" pitchFamily="18" charset="0"/>
                          <a:ea typeface="Cambria Math" panose="02040503050406030204" pitchFamily="18" charset="0"/>
                        </a:rPr>
                        <m:t>=−</m:t>
                      </m:r>
                      <m:nary>
                        <m:naryPr>
                          <m:chr m:val="∑"/>
                          <m:subHide m:val="on"/>
                          <m:supHide m:val="on"/>
                          <m:ctrlPr>
                            <a:rPr lang="en-US" sz="4800" b="0" i="1" dirty="0" smtClean="0">
                              <a:latin typeface="Cambria Math" panose="02040503050406030204" pitchFamily="18" charset="0"/>
                              <a:ea typeface="Cambria Math" panose="02040503050406030204" pitchFamily="18" charset="0"/>
                            </a:rPr>
                          </m:ctrlPr>
                        </m:naryPr>
                        <m:sub/>
                        <m:sup/>
                        <m:e>
                          <m:sSub>
                            <m:sSubPr>
                              <m:ctrlPr>
                                <a:rPr lang="en-US" sz="4800" b="0" i="1" dirty="0" smtClean="0">
                                  <a:latin typeface="Cambria Math" panose="02040503050406030204" pitchFamily="18" charset="0"/>
                                  <a:ea typeface="Cambria Math" panose="02040503050406030204" pitchFamily="18" charset="0"/>
                                </a:rPr>
                              </m:ctrlPr>
                            </m:sSubPr>
                            <m:e>
                              <m:r>
                                <a:rPr lang="en-US" sz="4800" b="0" i="1" dirty="0" smtClean="0">
                                  <a:latin typeface="Cambria Math" panose="02040503050406030204" pitchFamily="18" charset="0"/>
                                  <a:ea typeface="Cambria Math" panose="02040503050406030204" pitchFamily="18" charset="0"/>
                                </a:rPr>
                                <m:t>𝑃</m:t>
                              </m:r>
                            </m:e>
                            <m:sub>
                              <m:r>
                                <a:rPr lang="en-US" sz="4800" b="0" i="1" dirty="0" smtClean="0">
                                  <a:latin typeface="Cambria Math" panose="02040503050406030204" pitchFamily="18" charset="0"/>
                                  <a:ea typeface="Cambria Math" panose="02040503050406030204" pitchFamily="18" charset="0"/>
                                </a:rPr>
                                <m:t>𝑖</m:t>
                              </m:r>
                            </m:sub>
                          </m:sSub>
                          <m:r>
                            <a:rPr lang="en-US" sz="4800" b="0" i="1" dirty="0" smtClean="0">
                              <a:latin typeface="Cambria Math" panose="02040503050406030204" pitchFamily="18" charset="0"/>
                              <a:ea typeface="Cambria Math" panose="02040503050406030204" pitchFamily="18" charset="0"/>
                            </a:rPr>
                            <m:t>𝑙𝑜𝑔</m:t>
                          </m:r>
                          <m:r>
                            <a:rPr lang="en-US" sz="4800" b="0" i="1" dirty="0" smtClean="0">
                              <a:latin typeface="Cambria Math" panose="02040503050406030204" pitchFamily="18" charset="0"/>
                              <a:ea typeface="Cambria Math" panose="02040503050406030204" pitchFamily="18" charset="0"/>
                            </a:rPr>
                            <m:t>[</m:t>
                          </m:r>
                          <m:sSub>
                            <m:sSubPr>
                              <m:ctrlPr>
                                <a:rPr lang="en-US" sz="4800" b="0" i="1" dirty="0" smtClean="0">
                                  <a:latin typeface="Cambria Math" panose="02040503050406030204" pitchFamily="18" charset="0"/>
                                  <a:ea typeface="Cambria Math" panose="02040503050406030204" pitchFamily="18" charset="0"/>
                                </a:rPr>
                              </m:ctrlPr>
                            </m:sSubPr>
                            <m:e>
                              <m:r>
                                <a:rPr lang="en-US" sz="4800" b="0" i="1" dirty="0" smtClean="0">
                                  <a:latin typeface="Cambria Math" panose="02040503050406030204" pitchFamily="18" charset="0"/>
                                  <a:ea typeface="Cambria Math" panose="02040503050406030204" pitchFamily="18" charset="0"/>
                                </a:rPr>
                                <m:t>𝑃</m:t>
                              </m:r>
                            </m:e>
                            <m:sub>
                              <m:r>
                                <a:rPr lang="en-US" sz="4800" b="0" i="1" dirty="0" smtClean="0">
                                  <a:latin typeface="Cambria Math" panose="02040503050406030204" pitchFamily="18" charset="0"/>
                                  <a:ea typeface="Cambria Math" panose="02040503050406030204" pitchFamily="18" charset="0"/>
                                </a:rPr>
                                <m:t>𝑖</m:t>
                              </m:r>
                            </m:sub>
                          </m:sSub>
                          <m:r>
                            <a:rPr lang="en-US" sz="4800" b="0" i="1" dirty="0" smtClean="0">
                              <a:latin typeface="Cambria Math" panose="02040503050406030204" pitchFamily="18" charset="0"/>
                              <a:ea typeface="Cambria Math" panose="02040503050406030204" pitchFamily="18" charset="0"/>
                            </a:rPr>
                            <m:t>]</m:t>
                          </m:r>
                        </m:e>
                      </m:nary>
                    </m:oMath>
                  </m:oMathPara>
                </a14:m>
                <a:endParaRPr lang="en-CN" sz="4800" dirty="0">
                  <a:latin typeface="FangSong" panose="02010609060101010101" pitchFamily="49" charset="-122"/>
                  <a:ea typeface="FangSong" panose="02010609060101010101" pitchFamily="49" charset="-122"/>
                </a:endParaRPr>
              </a:p>
            </p:txBody>
          </p:sp>
        </mc:Choice>
        <mc:Fallback xmlns="">
          <p:sp>
            <p:nvSpPr>
              <p:cNvPr id="3" name="TextBox 2">
                <a:extLst>
                  <a:ext uri="{FF2B5EF4-FFF2-40B4-BE49-F238E27FC236}">
                    <a16:creationId xmlns:a16="http://schemas.microsoft.com/office/drawing/2014/main" id="{7BEAEC2B-2BF6-96F5-E982-694199AF644A}"/>
                  </a:ext>
                </a:extLst>
              </p:cNvPr>
              <p:cNvSpPr txBox="1">
                <a:spLocks noRot="1" noChangeAspect="1" noMove="1" noResize="1" noEditPoints="1" noAdjustHandles="1" noChangeArrowheads="1" noChangeShapeType="1" noTextEdit="1"/>
              </p:cNvSpPr>
              <p:nvPr/>
            </p:nvSpPr>
            <p:spPr>
              <a:xfrm>
                <a:off x="2698513" y="35490"/>
                <a:ext cx="6653719" cy="1880771"/>
              </a:xfrm>
              <a:prstGeom prst="rect">
                <a:avLst/>
              </a:prstGeom>
              <a:blipFill>
                <a:blip r:embed="rId7"/>
                <a:stretch>
                  <a:fillRect t="-139597" b="-193289"/>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FBFE65E9-4466-E750-E472-61FBCE61C5DE}"/>
              </a:ext>
            </a:extLst>
          </p:cNvPr>
          <p:cNvSpPr txBox="1"/>
          <p:nvPr/>
        </p:nvSpPr>
        <p:spPr>
          <a:xfrm>
            <a:off x="4127769" y="4081891"/>
            <a:ext cx="5295090" cy="369332"/>
          </a:xfrm>
          <a:prstGeom prst="rect">
            <a:avLst/>
          </a:prstGeom>
          <a:noFill/>
        </p:spPr>
        <p:txBody>
          <a:bodyPr wrap="square" rtlCol="0">
            <a:spAutoFit/>
          </a:bodyPr>
          <a:lstStyle/>
          <a:p>
            <a:r>
              <a:rPr lang="en-CN" dirty="0"/>
              <a:t>拉格朗日乘数法</a:t>
            </a:r>
            <a:r>
              <a:rPr lang="zh-CN" altLang="en-US" dirty="0"/>
              <a:t>（约束条件下的极值问题）</a:t>
            </a:r>
            <a:endParaRPr lang="en-CN" dirty="0"/>
          </a:p>
        </p:txBody>
      </p:sp>
      <p:sp>
        <p:nvSpPr>
          <p:cNvPr id="2" name="TextBox 1">
            <a:extLst>
              <a:ext uri="{FF2B5EF4-FFF2-40B4-BE49-F238E27FC236}">
                <a16:creationId xmlns:a16="http://schemas.microsoft.com/office/drawing/2014/main" id="{19217920-3FAE-1622-D775-E2BA49D946EC}"/>
              </a:ext>
            </a:extLst>
          </p:cNvPr>
          <p:cNvSpPr txBox="1"/>
          <p:nvPr/>
        </p:nvSpPr>
        <p:spPr>
          <a:xfrm>
            <a:off x="9327085" y="3839056"/>
            <a:ext cx="559397" cy="369332"/>
          </a:xfrm>
          <a:prstGeom prst="rect">
            <a:avLst/>
          </a:prstGeom>
          <a:noFill/>
        </p:spPr>
        <p:txBody>
          <a:bodyPr wrap="square" rtlCol="0">
            <a:spAutoFit/>
          </a:bodyPr>
          <a:lstStyle/>
          <a:p>
            <a:r>
              <a:rPr lang="en-CN" dirty="0"/>
              <a:t>-1</a:t>
            </a:r>
          </a:p>
        </p:txBody>
      </p:sp>
    </p:spTree>
    <p:extLst>
      <p:ext uri="{BB962C8B-B14F-4D97-AF65-F5344CB8AC3E}">
        <p14:creationId xmlns:p14="http://schemas.microsoft.com/office/powerpoint/2010/main" val="4206108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6DB4A7-83EB-DA44-9B4D-F1A698891C3E}"/>
              </a:ext>
            </a:extLst>
          </p:cNvPr>
          <p:cNvPicPr>
            <a:picLocks noChangeAspect="1"/>
          </p:cNvPicPr>
          <p:nvPr/>
        </p:nvPicPr>
        <p:blipFill>
          <a:blip r:embed="rId2"/>
          <a:stretch>
            <a:fillRect/>
          </a:stretch>
        </p:blipFill>
        <p:spPr>
          <a:xfrm>
            <a:off x="1302327" y="244046"/>
            <a:ext cx="9587346" cy="6216348"/>
          </a:xfrm>
          <a:prstGeom prst="rect">
            <a:avLst/>
          </a:prstGeom>
        </p:spPr>
      </p:pic>
    </p:spTree>
    <p:extLst>
      <p:ext uri="{BB962C8B-B14F-4D97-AF65-F5344CB8AC3E}">
        <p14:creationId xmlns:p14="http://schemas.microsoft.com/office/powerpoint/2010/main" val="1399616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67283-25FA-AD48-99CF-C33375B02C75}"/>
              </a:ext>
            </a:extLst>
          </p:cNvPr>
          <p:cNvPicPr>
            <a:picLocks noChangeAspect="1"/>
          </p:cNvPicPr>
          <p:nvPr/>
        </p:nvPicPr>
        <p:blipFill>
          <a:blip r:embed="rId2"/>
          <a:stretch>
            <a:fillRect/>
          </a:stretch>
        </p:blipFill>
        <p:spPr>
          <a:xfrm>
            <a:off x="1226372" y="136015"/>
            <a:ext cx="9911996" cy="6585970"/>
          </a:xfrm>
          <a:prstGeom prst="rect">
            <a:avLst/>
          </a:prstGeom>
        </p:spPr>
      </p:pic>
    </p:spTree>
    <p:extLst>
      <p:ext uri="{BB962C8B-B14F-4D97-AF65-F5344CB8AC3E}">
        <p14:creationId xmlns:p14="http://schemas.microsoft.com/office/powerpoint/2010/main" val="2047542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84CF80-FEC3-C866-A133-7385D07C612A}"/>
              </a:ext>
            </a:extLst>
          </p:cNvPr>
          <p:cNvPicPr>
            <a:picLocks noChangeAspect="1"/>
          </p:cNvPicPr>
          <p:nvPr/>
        </p:nvPicPr>
        <p:blipFill>
          <a:blip r:embed="rId2"/>
          <a:stretch>
            <a:fillRect/>
          </a:stretch>
        </p:blipFill>
        <p:spPr>
          <a:xfrm>
            <a:off x="466927" y="223737"/>
            <a:ext cx="6455610" cy="5992238"/>
          </a:xfrm>
          <a:prstGeom prst="rect">
            <a:avLst/>
          </a:prstGeom>
        </p:spPr>
      </p:pic>
      <p:pic>
        <p:nvPicPr>
          <p:cNvPr id="6" name="Picture 5">
            <a:extLst>
              <a:ext uri="{FF2B5EF4-FFF2-40B4-BE49-F238E27FC236}">
                <a16:creationId xmlns:a16="http://schemas.microsoft.com/office/drawing/2014/main" id="{5B75F79D-055A-493F-0F55-80A4471EA99E}"/>
              </a:ext>
            </a:extLst>
          </p:cNvPr>
          <p:cNvPicPr>
            <a:picLocks noChangeAspect="1"/>
          </p:cNvPicPr>
          <p:nvPr/>
        </p:nvPicPr>
        <p:blipFill>
          <a:blip r:embed="rId3"/>
          <a:stretch>
            <a:fillRect/>
          </a:stretch>
        </p:blipFill>
        <p:spPr>
          <a:xfrm>
            <a:off x="6997534" y="1967023"/>
            <a:ext cx="5194466" cy="2173980"/>
          </a:xfrm>
          <a:prstGeom prst="rect">
            <a:avLst/>
          </a:prstGeom>
        </p:spPr>
      </p:pic>
      <p:cxnSp>
        <p:nvCxnSpPr>
          <p:cNvPr id="8" name="Straight Connector 7">
            <a:extLst>
              <a:ext uri="{FF2B5EF4-FFF2-40B4-BE49-F238E27FC236}">
                <a16:creationId xmlns:a16="http://schemas.microsoft.com/office/drawing/2014/main" id="{657D6840-C3B0-5047-5419-44478BB4BD70}"/>
              </a:ext>
            </a:extLst>
          </p:cNvPr>
          <p:cNvCxnSpPr/>
          <p:nvPr/>
        </p:nvCxnSpPr>
        <p:spPr>
          <a:xfrm>
            <a:off x="6922537" y="223737"/>
            <a:ext cx="0" cy="627275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956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102575" y="109128"/>
            <a:ext cx="4417621" cy="369332"/>
          </a:xfrm>
          <a:prstGeom prst="rect">
            <a:avLst/>
          </a:prstGeom>
          <a:noFill/>
        </p:spPr>
        <p:txBody>
          <a:bodyPr wrap="square" rtlCol="0">
            <a:spAutoFit/>
          </a:bodyPr>
          <a:lstStyle/>
          <a:p>
            <a:r>
              <a:rPr lang="en-CN" dirty="0">
                <a:solidFill>
                  <a:srgbClr val="FF0000"/>
                </a:solidFill>
                <a:latin typeface="FangSong" panose="02010609060101010101" pitchFamily="49" charset="-122"/>
                <a:ea typeface="FangSong" panose="02010609060101010101" pitchFamily="49" charset="-122"/>
              </a:rPr>
              <a:t>解释游戏</a:t>
            </a:r>
          </a:p>
        </p:txBody>
      </p:sp>
      <p:sp>
        <p:nvSpPr>
          <p:cNvPr id="8" name="TextBox 7">
            <a:extLst>
              <a:ext uri="{FF2B5EF4-FFF2-40B4-BE49-F238E27FC236}">
                <a16:creationId xmlns:a16="http://schemas.microsoft.com/office/drawing/2014/main" id="{03E5C6A0-74A4-5449-8D15-5F465DEF20AC}"/>
              </a:ext>
            </a:extLst>
          </p:cNvPr>
          <p:cNvSpPr txBox="1"/>
          <p:nvPr/>
        </p:nvSpPr>
        <p:spPr>
          <a:xfrm>
            <a:off x="1198585" y="478460"/>
            <a:ext cx="8669867" cy="707886"/>
          </a:xfrm>
          <a:prstGeom prst="rect">
            <a:avLst/>
          </a:prstGeom>
          <a:noFill/>
        </p:spPr>
        <p:txBody>
          <a:bodyPr wrap="square" rtlCol="0">
            <a:spAutoFit/>
          </a:bodyPr>
          <a:lstStyle/>
          <a:p>
            <a:pPr marL="285750" indent="-285750">
              <a:buFont typeface="Arial" panose="020B0604020202020204" pitchFamily="34" charset="0"/>
              <a:buChar char="•"/>
            </a:pPr>
            <a:r>
              <a:rPr lang="en-CN" sz="4000" dirty="0">
                <a:solidFill>
                  <a:srgbClr val="FF0000"/>
                </a:solidFill>
                <a:latin typeface="FangSong" panose="02010609060101010101" pitchFamily="49" charset="-122"/>
                <a:ea typeface="FangSong" panose="02010609060101010101" pitchFamily="49" charset="-122"/>
              </a:rPr>
              <a:t>约束条件</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693D1E7-9DD8-94EE-FDB7-8D6BF76BA6B4}"/>
                  </a:ext>
                </a:extLst>
              </p:cNvPr>
              <p:cNvSpPr txBox="1"/>
              <p:nvPr/>
            </p:nvSpPr>
            <p:spPr>
              <a:xfrm>
                <a:off x="2431229" y="967332"/>
                <a:ext cx="6497618" cy="30730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CN" sz="4000" i="1" smtClean="0">
                              <a:latin typeface="Cambria Math" panose="02040503050406030204" pitchFamily="18" charset="0"/>
                            </a:rPr>
                          </m:ctrlPr>
                        </m:naryPr>
                        <m:sub/>
                        <m:sup/>
                        <m:e>
                          <m:r>
                            <a:rPr lang="en-US" sz="4000" b="0" i="1" smtClean="0">
                              <a:latin typeface="Cambria Math" panose="02040503050406030204" pitchFamily="18" charset="0"/>
                            </a:rPr>
                            <m:t>𝑃</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𝑚</m:t>
                              </m:r>
                            </m:e>
                          </m:d>
                          <m:r>
                            <a:rPr lang="en-US" sz="4000" b="0" i="1" smtClean="0">
                              <a:latin typeface="Cambria Math" panose="02040503050406030204" pitchFamily="18" charset="0"/>
                            </a:rPr>
                            <m:t>=1</m:t>
                          </m:r>
                        </m:e>
                      </m:nary>
                    </m:oMath>
                  </m:oMathPara>
                </a14:m>
                <a:endParaRPr lang="en-CN" sz="4000" dirty="0"/>
              </a:p>
              <a:p>
                <a:pPr/>
                <a14:m>
                  <m:oMathPara xmlns:m="http://schemas.openxmlformats.org/officeDocument/2006/math">
                    <m:oMathParaPr>
                      <m:jc m:val="centerGroup"/>
                    </m:oMathParaPr>
                    <m:oMath xmlns:m="http://schemas.openxmlformats.org/officeDocument/2006/math">
                      <m:nary>
                        <m:naryPr>
                          <m:chr m:val="∑"/>
                          <m:subHide m:val="on"/>
                          <m:supHide m:val="on"/>
                          <m:ctrlPr>
                            <a:rPr lang="en-CN" sz="4000" i="1" smtClean="0">
                              <a:latin typeface="Cambria Math" panose="02040503050406030204" pitchFamily="18" charset="0"/>
                            </a:rPr>
                          </m:ctrlPr>
                        </m:naryPr>
                        <m:sub/>
                        <m:sup/>
                        <m:e>
                          <m:r>
                            <a:rPr lang="en-US" sz="4000" b="0" i="1" smtClean="0">
                              <a:latin typeface="Cambria Math" panose="02040503050406030204" pitchFamily="18" charset="0"/>
                            </a:rPr>
                            <m:t>𝑚</m:t>
                          </m:r>
                          <m:r>
                            <a:rPr lang="en-US" sz="4000" b="0" i="1" smtClean="0">
                              <a:latin typeface="Cambria Math" panose="02040503050406030204" pitchFamily="18" charset="0"/>
                            </a:rPr>
                            <m:t> </m:t>
                          </m:r>
                          <m:r>
                            <a:rPr lang="en-US" sz="4000" b="0" i="1" smtClean="0">
                              <a:latin typeface="Cambria Math" panose="02040503050406030204" pitchFamily="18" charset="0"/>
                            </a:rPr>
                            <m:t>𝑃</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𝑚</m:t>
                              </m:r>
                            </m:e>
                          </m:d>
                          <m:r>
                            <a:rPr lang="en-US" sz="4000" b="0" i="1" smtClean="0">
                              <a:latin typeface="Cambria Math" panose="02040503050406030204" pitchFamily="18" charset="0"/>
                            </a:rPr>
                            <m:t>=</m:t>
                          </m:r>
                          <m:r>
                            <a:rPr lang="en-US" sz="4000" b="0" i="1" smtClean="0">
                              <a:latin typeface="Cambria Math" panose="02040503050406030204" pitchFamily="18" charset="0"/>
                            </a:rPr>
                            <m:t>𝑈</m:t>
                          </m:r>
                        </m:e>
                      </m:nary>
                    </m:oMath>
                  </m:oMathPara>
                </a14:m>
                <a:endParaRPr lang="en-CN" sz="4000" dirty="0"/>
              </a:p>
            </p:txBody>
          </p:sp>
        </mc:Choice>
        <mc:Fallback xmlns="">
          <p:sp>
            <p:nvSpPr>
              <p:cNvPr id="2" name="TextBox 1">
                <a:extLst>
                  <a:ext uri="{FF2B5EF4-FFF2-40B4-BE49-F238E27FC236}">
                    <a16:creationId xmlns:a16="http://schemas.microsoft.com/office/drawing/2014/main" id="{3693D1E7-9DD8-94EE-FDB7-8D6BF76BA6B4}"/>
                  </a:ext>
                </a:extLst>
              </p:cNvPr>
              <p:cNvSpPr txBox="1">
                <a:spLocks noRot="1" noChangeAspect="1" noMove="1" noResize="1" noEditPoints="1" noAdjustHandles="1" noChangeArrowheads="1" noChangeShapeType="1" noTextEdit="1"/>
              </p:cNvSpPr>
              <p:nvPr/>
            </p:nvSpPr>
            <p:spPr>
              <a:xfrm>
                <a:off x="2431229" y="967332"/>
                <a:ext cx="6497618" cy="3073021"/>
              </a:xfrm>
              <a:prstGeom prst="rect">
                <a:avLst/>
              </a:prstGeom>
              <a:blipFill>
                <a:blip r:embed="rId2"/>
                <a:stretch>
                  <a:fillRect l="-6823" t="-70782" b="-96296"/>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1D57B036-B7B2-4EA2-D135-1850EE06D923}"/>
              </a:ext>
            </a:extLst>
          </p:cNvPr>
          <p:cNvSpPr txBox="1"/>
          <p:nvPr/>
        </p:nvSpPr>
        <p:spPr>
          <a:xfrm>
            <a:off x="1198584" y="4040353"/>
            <a:ext cx="8669867" cy="707886"/>
          </a:xfrm>
          <a:prstGeom prst="rect">
            <a:avLst/>
          </a:prstGeom>
          <a:noFill/>
        </p:spPr>
        <p:txBody>
          <a:bodyPr wrap="square" rtlCol="0">
            <a:spAutoFit/>
          </a:bodyPr>
          <a:lstStyle/>
          <a:p>
            <a:pPr marL="285750" indent="-285750">
              <a:buFont typeface="Arial" panose="020B0604020202020204" pitchFamily="34" charset="0"/>
              <a:buChar char="•"/>
            </a:pPr>
            <a:r>
              <a:rPr lang="en-CN" sz="4000" dirty="0">
                <a:latin typeface="FangSong" panose="02010609060101010101" pitchFamily="49" charset="-122"/>
                <a:ea typeface="FangSong" panose="02010609060101010101" pitchFamily="49" charset="-122"/>
              </a:rPr>
              <a:t>高斯</a:t>
            </a:r>
            <a:r>
              <a:rPr lang="zh-CN" altLang="en-US" sz="4000" dirty="0">
                <a:latin typeface="FangSong" panose="02010609060101010101" pitchFamily="49" charset="-122"/>
                <a:ea typeface="FangSong" panose="02010609060101010101" pitchFamily="49" charset="-122"/>
              </a:rPr>
              <a:t>（钱少的人多？？？）</a:t>
            </a:r>
            <a:endParaRPr lang="en-CN" sz="4000"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1901938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102575" y="109128"/>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关于信息熵的一个例子</a:t>
            </a:r>
            <a:r>
              <a:rPr lang="zh-CN" altLang="en-US" dirty="0">
                <a:latin typeface="FangSong" panose="02010609060101010101" pitchFamily="49" charset="-122"/>
                <a:ea typeface="FangSong" panose="02010609060101010101" pitchFamily="49" charset="-122"/>
              </a:rPr>
              <a:t>（自设）</a:t>
            </a:r>
            <a:endParaRPr lang="en-CN" dirty="0">
              <a:latin typeface="FangSong" panose="02010609060101010101" pitchFamily="49" charset="-122"/>
              <a:ea typeface="FangSong" panose="02010609060101010101" pitchFamily="49" charset="-122"/>
            </a:endParaRPr>
          </a:p>
        </p:txBody>
      </p:sp>
      <p:sp>
        <p:nvSpPr>
          <p:cNvPr id="8" name="TextBox 7">
            <a:extLst>
              <a:ext uri="{FF2B5EF4-FFF2-40B4-BE49-F238E27FC236}">
                <a16:creationId xmlns:a16="http://schemas.microsoft.com/office/drawing/2014/main" id="{03E5C6A0-74A4-5449-8D15-5F465DEF20AC}"/>
              </a:ext>
            </a:extLst>
          </p:cNvPr>
          <p:cNvSpPr txBox="1"/>
          <p:nvPr/>
        </p:nvSpPr>
        <p:spPr>
          <a:xfrm>
            <a:off x="1198585" y="478460"/>
            <a:ext cx="8669867" cy="369332"/>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信息熵极大</a:t>
            </a:r>
          </a:p>
        </p:txBody>
      </p:sp>
      <p:pic>
        <p:nvPicPr>
          <p:cNvPr id="6" name="Picture 5">
            <a:extLst>
              <a:ext uri="{FF2B5EF4-FFF2-40B4-BE49-F238E27FC236}">
                <a16:creationId xmlns:a16="http://schemas.microsoft.com/office/drawing/2014/main" id="{2E1CA67B-33C5-E549-9359-E1C1A9EF5937}"/>
              </a:ext>
            </a:extLst>
          </p:cNvPr>
          <p:cNvPicPr>
            <a:picLocks noChangeAspect="1"/>
          </p:cNvPicPr>
          <p:nvPr/>
        </p:nvPicPr>
        <p:blipFill>
          <a:blip r:embed="rId2"/>
          <a:stretch>
            <a:fillRect/>
          </a:stretch>
        </p:blipFill>
        <p:spPr>
          <a:xfrm>
            <a:off x="6096000" y="4379670"/>
            <a:ext cx="6045200" cy="1790700"/>
          </a:xfrm>
          <a:prstGeom prst="rect">
            <a:avLst/>
          </a:prstGeom>
        </p:spPr>
      </p:pic>
      <p:pic>
        <p:nvPicPr>
          <p:cNvPr id="1026" name="Picture 2">
            <a:extLst>
              <a:ext uri="{FF2B5EF4-FFF2-40B4-BE49-F238E27FC236}">
                <a16:creationId xmlns:a16="http://schemas.microsoft.com/office/drawing/2014/main" id="{A68F89FA-2883-6A48-8EE2-07B71B8AA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5708" y="478460"/>
            <a:ext cx="2113597" cy="32004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88C3987-9138-804E-9747-2DE3E74FB375}"/>
              </a:ext>
            </a:extLst>
          </p:cNvPr>
          <p:cNvPicPr>
            <a:picLocks noChangeAspect="1"/>
          </p:cNvPicPr>
          <p:nvPr/>
        </p:nvPicPr>
        <p:blipFill>
          <a:blip r:embed="rId4"/>
          <a:stretch>
            <a:fillRect/>
          </a:stretch>
        </p:blipFill>
        <p:spPr>
          <a:xfrm>
            <a:off x="797547" y="0"/>
            <a:ext cx="5097600" cy="6858000"/>
          </a:xfrm>
          <a:prstGeom prst="rect">
            <a:avLst/>
          </a:prstGeom>
        </p:spPr>
      </p:pic>
    </p:spTree>
    <p:extLst>
      <p:ext uri="{BB962C8B-B14F-4D97-AF65-F5344CB8AC3E}">
        <p14:creationId xmlns:p14="http://schemas.microsoft.com/office/powerpoint/2010/main" val="1652063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102575" y="109128"/>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另外一个畅想</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4D46D86-7F9D-CA48-A3FF-BC2610A622FD}"/>
                  </a:ext>
                </a:extLst>
              </p:cNvPr>
              <p:cNvSpPr txBox="1"/>
              <p:nvPr/>
            </p:nvSpPr>
            <p:spPr>
              <a:xfrm>
                <a:off x="2431915" y="739302"/>
                <a:ext cx="731520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0,1</m:t>
                          </m:r>
                        </m:e>
                      </m:d>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𝑥</m:t>
                          </m:r>
                        </m:e>
                      </m:d>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𝑃</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r>
                        <a:rPr lang="en-US" b="0" i="1" smtClean="0">
                          <a:solidFill>
                            <a:srgbClr val="FF0000"/>
                          </a:solidFill>
                          <a:latin typeface="Cambria Math" panose="02040503050406030204" pitchFamily="18" charset="0"/>
                          <a:ea typeface="Cambria Math" panose="02040503050406030204" pitchFamily="18" charset="0"/>
                        </a:rPr>
                        <m:t>→</m:t>
                      </m:r>
                      <m:sSup>
                        <m:sSupPr>
                          <m:ctrlPr>
                            <a:rPr lang="en-US" b="0" i="1" smtClean="0">
                              <a:solidFill>
                                <a:srgbClr val="FF0000"/>
                              </a:solidFill>
                              <a:latin typeface="Cambria Math" panose="02040503050406030204" pitchFamily="18" charset="0"/>
                              <a:ea typeface="Cambria Math" panose="02040503050406030204" pitchFamily="18" charset="0"/>
                            </a:rPr>
                          </m:ctrlPr>
                        </m:sSupPr>
                        <m:e>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1−</m:t>
                              </m:r>
                              <m:r>
                                <a:rPr lang="en-US" b="0" i="1" smtClean="0">
                                  <a:solidFill>
                                    <a:srgbClr val="FF0000"/>
                                  </a:solidFill>
                                  <a:latin typeface="Cambria Math" panose="02040503050406030204" pitchFamily="18" charset="0"/>
                                  <a:ea typeface="Cambria Math" panose="02040503050406030204" pitchFamily="18" charset="0"/>
                                </a:rPr>
                                <m:t>𝑥</m:t>
                              </m:r>
                            </m:e>
                          </m:d>
                        </m:e>
                        <m:sup>
                          <m:r>
                            <a:rPr lang="en-US" b="0" i="1" smtClean="0">
                              <a:solidFill>
                                <a:srgbClr val="FF0000"/>
                              </a:solidFill>
                              <a:latin typeface="Cambria Math" panose="02040503050406030204" pitchFamily="18" charset="0"/>
                              <a:ea typeface="Cambria Math" panose="02040503050406030204" pitchFamily="18" charset="0"/>
                            </a:rPr>
                            <m:t>2</m:t>
                          </m:r>
                        </m:sup>
                      </m:sSup>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𝑤h𝑒𝑛</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𝑥</m:t>
                      </m:r>
                      <m:r>
                        <a:rPr lang="en-US" b="0" i="1" smtClean="0">
                          <a:solidFill>
                            <a:srgbClr val="FF0000"/>
                          </a:solidFill>
                          <a:latin typeface="Cambria Math" panose="02040503050406030204" pitchFamily="18" charset="0"/>
                          <a:ea typeface="Cambria Math" panose="02040503050406030204" pitchFamily="18" charset="0"/>
                        </a:rPr>
                        <m:t>→1</m:t>
                      </m:r>
                    </m:oMath>
                  </m:oMathPara>
                </a14:m>
                <a:endParaRPr lang="en-CN" dirty="0">
                  <a:solidFill>
                    <a:srgbClr val="FF0000"/>
                  </a:solidFill>
                </a:endParaRPr>
              </a:p>
            </p:txBody>
          </p:sp>
        </mc:Choice>
        <mc:Fallback xmlns="">
          <p:sp>
            <p:nvSpPr>
              <p:cNvPr id="2" name="TextBox 1">
                <a:extLst>
                  <a:ext uri="{FF2B5EF4-FFF2-40B4-BE49-F238E27FC236}">
                    <a16:creationId xmlns:a16="http://schemas.microsoft.com/office/drawing/2014/main" id="{74D46D86-7F9D-CA48-A3FF-BC2610A622FD}"/>
                  </a:ext>
                </a:extLst>
              </p:cNvPr>
              <p:cNvSpPr txBox="1">
                <a:spLocks noRot="1" noChangeAspect="1" noMove="1" noResize="1" noEditPoints="1" noAdjustHandles="1" noChangeArrowheads="1" noChangeShapeType="1" noTextEdit="1"/>
              </p:cNvSpPr>
              <p:nvPr/>
            </p:nvSpPr>
            <p:spPr>
              <a:xfrm>
                <a:off x="2431915" y="739302"/>
                <a:ext cx="7315200" cy="923330"/>
              </a:xfrm>
              <a:prstGeom prst="rect">
                <a:avLst/>
              </a:prstGeom>
              <a:blipFill>
                <a:blip r:embed="rId2"/>
                <a:stretch>
                  <a:fillRect b="-4054"/>
                </a:stretch>
              </a:blipFill>
            </p:spPr>
            <p:txBody>
              <a:bodyPr/>
              <a:lstStyle/>
              <a:p>
                <a:r>
                  <a:rPr lang="en-CN">
                    <a:noFill/>
                  </a:rPr>
                  <a:t> </a:t>
                </a:r>
              </a:p>
            </p:txBody>
          </p:sp>
        </mc:Fallback>
      </mc:AlternateContent>
      <p:pic>
        <p:nvPicPr>
          <p:cNvPr id="7" name="Picture 6">
            <a:extLst>
              <a:ext uri="{FF2B5EF4-FFF2-40B4-BE49-F238E27FC236}">
                <a16:creationId xmlns:a16="http://schemas.microsoft.com/office/drawing/2014/main" id="{1EDF973C-74A7-AB4B-92DE-852D3D4B9C7A}"/>
              </a:ext>
            </a:extLst>
          </p:cNvPr>
          <p:cNvPicPr>
            <a:picLocks noChangeAspect="1"/>
          </p:cNvPicPr>
          <p:nvPr/>
        </p:nvPicPr>
        <p:blipFill>
          <a:blip r:embed="rId3"/>
          <a:stretch>
            <a:fillRect/>
          </a:stretch>
        </p:blipFill>
        <p:spPr>
          <a:xfrm>
            <a:off x="825365" y="4406900"/>
            <a:ext cx="10528300" cy="2451100"/>
          </a:xfrm>
          <a:prstGeom prst="rect">
            <a:avLst/>
          </a:prstGeom>
        </p:spPr>
      </p:pic>
      <p:pic>
        <p:nvPicPr>
          <p:cNvPr id="10" name="Picture 9">
            <a:extLst>
              <a:ext uri="{FF2B5EF4-FFF2-40B4-BE49-F238E27FC236}">
                <a16:creationId xmlns:a16="http://schemas.microsoft.com/office/drawing/2014/main" id="{A4DFA0B2-1582-6143-B426-1D47E8A6976B}"/>
              </a:ext>
            </a:extLst>
          </p:cNvPr>
          <p:cNvPicPr>
            <a:picLocks noChangeAspect="1"/>
          </p:cNvPicPr>
          <p:nvPr/>
        </p:nvPicPr>
        <p:blipFill>
          <a:blip r:embed="rId4"/>
          <a:stretch>
            <a:fillRect/>
          </a:stretch>
        </p:blipFill>
        <p:spPr>
          <a:xfrm>
            <a:off x="838335" y="2235200"/>
            <a:ext cx="10528300" cy="2171700"/>
          </a:xfrm>
          <a:prstGeom prst="rect">
            <a:avLst/>
          </a:prstGeom>
        </p:spPr>
      </p:pic>
    </p:spTree>
    <p:extLst>
      <p:ext uri="{BB962C8B-B14F-4D97-AF65-F5344CB8AC3E}">
        <p14:creationId xmlns:p14="http://schemas.microsoft.com/office/powerpoint/2010/main" val="3265401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102575" y="109128"/>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另外一个畅想</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4D46D86-7F9D-CA48-A3FF-BC2610A622FD}"/>
                  </a:ext>
                </a:extLst>
              </p:cNvPr>
              <p:cNvSpPr txBox="1"/>
              <p:nvPr/>
            </p:nvSpPr>
            <p:spPr>
              <a:xfrm>
                <a:off x="2431915" y="109128"/>
                <a:ext cx="731520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0,1</m:t>
                          </m:r>
                        </m:e>
                      </m:d>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𝑃</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𝑃</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r>
                            <a:rPr lang="en-US" b="0" i="1" smtClean="0">
                              <a:solidFill>
                                <a:srgbClr val="FF0000"/>
                              </a:solidFill>
                              <a:latin typeface="Cambria Math" panose="02040503050406030204" pitchFamily="18" charset="0"/>
                            </a:rPr>
                            <m:t>𝑥</m:t>
                          </m:r>
                        </m:e>
                      </m:d>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𝑃</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r>
                        <a:rPr lang="en-US" b="0" i="1" smtClean="0">
                          <a:solidFill>
                            <a:srgbClr val="FF0000"/>
                          </a:solidFill>
                          <a:latin typeface="Cambria Math" panose="02040503050406030204" pitchFamily="18" charset="0"/>
                          <a:ea typeface="Cambria Math" panose="02040503050406030204" pitchFamily="18" charset="0"/>
                        </a:rPr>
                        <m:t>→</m:t>
                      </m:r>
                      <m:sSup>
                        <m:sSupPr>
                          <m:ctrlPr>
                            <a:rPr lang="en-US" b="0" i="1" smtClean="0">
                              <a:solidFill>
                                <a:srgbClr val="FF0000"/>
                              </a:solidFill>
                              <a:latin typeface="Cambria Math" panose="02040503050406030204" pitchFamily="18" charset="0"/>
                              <a:ea typeface="Cambria Math" panose="02040503050406030204" pitchFamily="18" charset="0"/>
                            </a:rPr>
                          </m:ctrlPr>
                        </m:sSupPr>
                        <m:e>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1−</m:t>
                              </m:r>
                              <m:r>
                                <a:rPr lang="en-US" b="0" i="1" smtClean="0">
                                  <a:solidFill>
                                    <a:srgbClr val="FF0000"/>
                                  </a:solidFill>
                                  <a:latin typeface="Cambria Math" panose="02040503050406030204" pitchFamily="18" charset="0"/>
                                  <a:ea typeface="Cambria Math" panose="02040503050406030204" pitchFamily="18" charset="0"/>
                                </a:rPr>
                                <m:t>𝑥</m:t>
                              </m:r>
                            </m:e>
                          </m:d>
                        </m:e>
                        <m:sup>
                          <m:r>
                            <a:rPr lang="en-US" b="0" i="1" smtClean="0">
                              <a:solidFill>
                                <a:srgbClr val="FF0000"/>
                              </a:solidFill>
                              <a:latin typeface="Cambria Math" panose="02040503050406030204" pitchFamily="18" charset="0"/>
                              <a:ea typeface="Cambria Math" panose="02040503050406030204" pitchFamily="18" charset="0"/>
                            </a:rPr>
                            <m:t>2</m:t>
                          </m:r>
                        </m:sup>
                      </m:sSup>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𝑤h𝑒𝑛</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𝑥</m:t>
                      </m:r>
                      <m:r>
                        <a:rPr lang="en-US" b="0" i="1" smtClean="0">
                          <a:solidFill>
                            <a:srgbClr val="FF0000"/>
                          </a:solidFill>
                          <a:latin typeface="Cambria Math" panose="02040503050406030204" pitchFamily="18" charset="0"/>
                          <a:ea typeface="Cambria Math" panose="02040503050406030204" pitchFamily="18" charset="0"/>
                        </a:rPr>
                        <m:t>→1</m:t>
                      </m:r>
                    </m:oMath>
                  </m:oMathPara>
                </a14:m>
                <a:endParaRPr lang="en-CN" dirty="0">
                  <a:solidFill>
                    <a:srgbClr val="FF0000"/>
                  </a:solidFill>
                </a:endParaRPr>
              </a:p>
            </p:txBody>
          </p:sp>
        </mc:Choice>
        <mc:Fallback xmlns="">
          <p:sp>
            <p:nvSpPr>
              <p:cNvPr id="2" name="TextBox 1">
                <a:extLst>
                  <a:ext uri="{FF2B5EF4-FFF2-40B4-BE49-F238E27FC236}">
                    <a16:creationId xmlns:a16="http://schemas.microsoft.com/office/drawing/2014/main" id="{74D46D86-7F9D-CA48-A3FF-BC2610A622FD}"/>
                  </a:ext>
                </a:extLst>
              </p:cNvPr>
              <p:cNvSpPr txBox="1">
                <a:spLocks noRot="1" noChangeAspect="1" noMove="1" noResize="1" noEditPoints="1" noAdjustHandles="1" noChangeArrowheads="1" noChangeShapeType="1" noTextEdit="1"/>
              </p:cNvSpPr>
              <p:nvPr/>
            </p:nvSpPr>
            <p:spPr>
              <a:xfrm>
                <a:off x="2431915" y="109128"/>
                <a:ext cx="7315200" cy="923330"/>
              </a:xfrm>
              <a:prstGeom prst="rect">
                <a:avLst/>
              </a:prstGeom>
              <a:blipFill>
                <a:blip r:embed="rId2"/>
                <a:stretch>
                  <a:fillRect b="-5405"/>
                </a:stretch>
              </a:blipFill>
            </p:spPr>
            <p:txBody>
              <a:bodyPr/>
              <a:lstStyle/>
              <a:p>
                <a:r>
                  <a:rPr lang="en-CN">
                    <a:noFill/>
                  </a:rPr>
                  <a:t> </a:t>
                </a:r>
              </a:p>
            </p:txBody>
          </p:sp>
        </mc:Fallback>
      </mc:AlternateContent>
      <p:pic>
        <p:nvPicPr>
          <p:cNvPr id="7" name="Picture 6">
            <a:extLst>
              <a:ext uri="{FF2B5EF4-FFF2-40B4-BE49-F238E27FC236}">
                <a16:creationId xmlns:a16="http://schemas.microsoft.com/office/drawing/2014/main" id="{1EDF973C-74A7-AB4B-92DE-852D3D4B9C7A}"/>
              </a:ext>
            </a:extLst>
          </p:cNvPr>
          <p:cNvPicPr>
            <a:picLocks noChangeAspect="1"/>
          </p:cNvPicPr>
          <p:nvPr/>
        </p:nvPicPr>
        <p:blipFill>
          <a:blip r:embed="rId3"/>
          <a:stretch>
            <a:fillRect/>
          </a:stretch>
        </p:blipFill>
        <p:spPr>
          <a:xfrm>
            <a:off x="513394" y="977900"/>
            <a:ext cx="10528300" cy="2451100"/>
          </a:xfrm>
          <a:prstGeom prst="rect">
            <a:avLst/>
          </a:prstGeom>
        </p:spPr>
      </p:pic>
      <p:pic>
        <p:nvPicPr>
          <p:cNvPr id="5" name="Picture 2">
            <a:extLst>
              <a:ext uri="{FF2B5EF4-FFF2-40B4-BE49-F238E27FC236}">
                <a16:creationId xmlns:a16="http://schemas.microsoft.com/office/drawing/2014/main" id="{DBAB2216-9333-F540-F78A-4F61237C19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415" y="3429000"/>
            <a:ext cx="2113597" cy="32004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6EAA2E-3410-5D8E-A1B6-129CD3DC0A15}"/>
                  </a:ext>
                </a:extLst>
              </p:cNvPr>
              <p:cNvSpPr txBox="1"/>
              <p:nvPr/>
            </p:nvSpPr>
            <p:spPr>
              <a:xfrm>
                <a:off x="5357308" y="3926541"/>
                <a:ext cx="4604273" cy="7378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trlPr>
                            <a:rPr lang="en-CN"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1</m:t>
                          </m:r>
                        </m:sup>
                        <m:e>
                          <m:sSup>
                            <m:sSupPr>
                              <m:ctrlPr>
                                <a:rPr lang="en-CN"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𝑚</m:t>
                              </m:r>
                            </m:sup>
                          </m:sSup>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e>
                          </m:groupCh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𝛽</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𝑚</m:t>
                                  </m:r>
                                </m:e>
                                <m:sup>
                                  <m:r>
                                    <a:rPr lang="en-US" b="0" i="1" smtClean="0">
                                      <a:latin typeface="Cambria Math" panose="02040503050406030204" pitchFamily="18" charset="0"/>
                                      <a:ea typeface="Cambria Math" panose="02040503050406030204" pitchFamily="18" charset="0"/>
                                    </a:rPr>
                                    <m:t>3</m:t>
                                  </m:r>
                                </m:sup>
                              </m:sSup>
                            </m:den>
                          </m:f>
                        </m:e>
                      </m:nary>
                    </m:oMath>
                  </m:oMathPara>
                </a14:m>
                <a:endParaRPr lang="en-CN" dirty="0"/>
              </a:p>
            </p:txBody>
          </p:sp>
        </mc:Choice>
        <mc:Fallback xmlns="">
          <p:sp>
            <p:nvSpPr>
              <p:cNvPr id="6" name="TextBox 5">
                <a:extLst>
                  <a:ext uri="{FF2B5EF4-FFF2-40B4-BE49-F238E27FC236}">
                    <a16:creationId xmlns:a16="http://schemas.microsoft.com/office/drawing/2014/main" id="{4A6EAA2E-3410-5D8E-A1B6-129CD3DC0A15}"/>
                  </a:ext>
                </a:extLst>
              </p:cNvPr>
              <p:cNvSpPr txBox="1">
                <a:spLocks noRot="1" noChangeAspect="1" noMove="1" noResize="1" noEditPoints="1" noAdjustHandles="1" noChangeArrowheads="1" noChangeShapeType="1" noTextEdit="1"/>
              </p:cNvSpPr>
              <p:nvPr/>
            </p:nvSpPr>
            <p:spPr>
              <a:xfrm>
                <a:off x="5357308" y="3926541"/>
                <a:ext cx="4604273" cy="737894"/>
              </a:xfrm>
              <a:prstGeom prst="rect">
                <a:avLst/>
              </a:prstGeom>
              <a:blipFill>
                <a:blip r:embed="rId5"/>
                <a:stretch>
                  <a:fillRect t="-147458" b="-21694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1768579-CAA5-5882-BAA9-C23C8DBD0C24}"/>
                  </a:ext>
                </a:extLst>
              </p:cNvPr>
              <p:cNvSpPr txBox="1"/>
              <p:nvPr/>
            </p:nvSpPr>
            <p:spPr>
              <a:xfrm>
                <a:off x="5625905" y="4897801"/>
                <a:ext cx="4067077" cy="3945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0</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𝑚</m:t>
                              </m:r>
                            </m:sub>
                          </m:sSub>
                          <m:sSup>
                            <m:sSupPr>
                              <m:ctrlPr>
                                <a:rPr lang="en-CN"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𝑚</m:t>
                              </m:r>
                            </m:sup>
                          </m:sSup>
                        </m:sup>
                      </m:sSup>
                    </m:oMath>
                  </m:oMathPara>
                </a14:m>
                <a:endParaRPr lang="en-CN" dirty="0"/>
              </a:p>
            </p:txBody>
          </p:sp>
        </mc:Choice>
        <mc:Fallback xmlns="">
          <p:sp>
            <p:nvSpPr>
              <p:cNvPr id="8" name="TextBox 7">
                <a:extLst>
                  <a:ext uri="{FF2B5EF4-FFF2-40B4-BE49-F238E27FC236}">
                    <a16:creationId xmlns:a16="http://schemas.microsoft.com/office/drawing/2014/main" id="{F1768579-CAA5-5882-BAA9-C23C8DBD0C24}"/>
                  </a:ext>
                </a:extLst>
              </p:cNvPr>
              <p:cNvSpPr txBox="1">
                <a:spLocks noRot="1" noChangeAspect="1" noMove="1" noResize="1" noEditPoints="1" noAdjustHandles="1" noChangeArrowheads="1" noChangeShapeType="1" noTextEdit="1"/>
              </p:cNvSpPr>
              <p:nvPr/>
            </p:nvSpPr>
            <p:spPr>
              <a:xfrm>
                <a:off x="5625905" y="4897801"/>
                <a:ext cx="4067077" cy="394595"/>
              </a:xfrm>
              <a:prstGeom prst="rect">
                <a:avLst/>
              </a:prstGeom>
              <a:blipFill>
                <a:blip r:embed="rId6"/>
                <a:stretch>
                  <a:fillRect/>
                </a:stretch>
              </a:blipFill>
            </p:spPr>
            <p:txBody>
              <a:bodyPr/>
              <a:lstStyle/>
              <a:p>
                <a:r>
                  <a:rPr lang="en-CN">
                    <a:noFill/>
                  </a:rPr>
                  <a:t> </a:t>
                </a:r>
              </a:p>
            </p:txBody>
          </p:sp>
        </mc:Fallback>
      </mc:AlternateContent>
      <p:sp>
        <p:nvSpPr>
          <p:cNvPr id="10" name="TextBox 9">
            <a:extLst>
              <a:ext uri="{FF2B5EF4-FFF2-40B4-BE49-F238E27FC236}">
                <a16:creationId xmlns:a16="http://schemas.microsoft.com/office/drawing/2014/main" id="{9A33D87E-C76E-C63C-24DB-49C1F534CF1A}"/>
              </a:ext>
            </a:extLst>
          </p:cNvPr>
          <p:cNvSpPr txBox="1"/>
          <p:nvPr/>
        </p:nvSpPr>
        <p:spPr>
          <a:xfrm>
            <a:off x="6602644" y="5695434"/>
            <a:ext cx="2113597" cy="369332"/>
          </a:xfrm>
          <a:prstGeom prst="rect">
            <a:avLst/>
          </a:prstGeom>
          <a:noFill/>
        </p:spPr>
        <p:txBody>
          <a:bodyPr wrap="square" rtlCol="0">
            <a:spAutoFit/>
          </a:bodyPr>
          <a:lstStyle/>
          <a:p>
            <a:r>
              <a:rPr lang="en-CN" dirty="0"/>
              <a:t>需要更进一步思考</a:t>
            </a:r>
          </a:p>
        </p:txBody>
      </p:sp>
    </p:spTree>
    <p:extLst>
      <p:ext uri="{BB962C8B-B14F-4D97-AF65-F5344CB8AC3E}">
        <p14:creationId xmlns:p14="http://schemas.microsoft.com/office/powerpoint/2010/main" val="1428327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3253344" y="2112690"/>
            <a:ext cx="5685312" cy="1015663"/>
          </a:xfrm>
          <a:prstGeom prst="rect">
            <a:avLst/>
          </a:prstGeom>
          <a:noFill/>
        </p:spPr>
        <p:txBody>
          <a:bodyPr wrap="square" rtlCol="0">
            <a:spAutoFit/>
          </a:bodyPr>
          <a:lstStyle/>
          <a:p>
            <a:pPr algn="ctr"/>
            <a:r>
              <a:rPr lang="en-CN" sz="6000" dirty="0">
                <a:latin typeface="FangSong" panose="02010609060101010101" pitchFamily="49" charset="-122"/>
                <a:ea typeface="FangSong" panose="02010609060101010101" pitchFamily="49" charset="-122"/>
              </a:rPr>
              <a:t>回到热物</a:t>
            </a:r>
            <a:r>
              <a:rPr lang="zh-CN" altLang="en-US" sz="6000" dirty="0">
                <a:latin typeface="FangSong" panose="02010609060101010101" pitchFamily="49" charset="-122"/>
                <a:ea typeface="FangSong" panose="02010609060101010101" pitchFamily="49" charset="-122"/>
              </a:rPr>
              <a:t>！</a:t>
            </a:r>
            <a:endParaRPr lang="en-CN" sz="6000"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A013FB-CE0C-7247-9BFA-A064E1C03BCA}"/>
                  </a:ext>
                </a:extLst>
              </p:cNvPr>
              <p:cNvSpPr txBox="1"/>
              <p:nvPr/>
            </p:nvSpPr>
            <p:spPr>
              <a:xfrm>
                <a:off x="4335524" y="3454706"/>
                <a:ext cx="2850497" cy="369332"/>
              </a:xfrm>
              <a:prstGeom prst="rect">
                <a:avLst/>
              </a:prstGeom>
              <a:noFill/>
            </p:spPr>
            <p:txBody>
              <a:bodyPr wrap="square" rtlCol="0">
                <a:spAutoFit/>
              </a:bodyPr>
              <a:lstStyle/>
              <a:p>
                <a:r>
                  <a:rPr lang="en-CN" dirty="0">
                    <a:solidFill>
                      <a:schemeClr val="bg1"/>
                    </a:solidFill>
                  </a:rPr>
                  <a:t>热库</a:t>
                </a:r>
                <a:r>
                  <a:rPr lang="zh-CN" altLang="en-US" dirty="0">
                    <a:solidFill>
                      <a:schemeClr val="bg1"/>
                    </a:solidFill>
                  </a:rPr>
                  <a:t>，</a:t>
                </a:r>
                <a14:m>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𝑈</m:t>
                        </m:r>
                      </m:e>
                      <m:sub>
                        <m:r>
                          <a:rPr lang="en-US" altLang="zh-CN" b="0" i="1" smtClean="0">
                            <a:solidFill>
                              <a:schemeClr val="bg1"/>
                            </a:solidFill>
                            <a:latin typeface="Cambria Math" panose="02040503050406030204" pitchFamily="18" charset="0"/>
                          </a:rPr>
                          <m:t>𝑅</m:t>
                        </m:r>
                      </m:sub>
                    </m:sSub>
                  </m:oMath>
                </a14:m>
                <a:endParaRPr lang="en-CN" dirty="0">
                  <a:solidFill>
                    <a:schemeClr val="bg1"/>
                  </a:solidFill>
                </a:endParaRPr>
              </a:p>
            </p:txBody>
          </p:sp>
        </mc:Choice>
        <mc:Fallback xmlns="">
          <p:sp>
            <p:nvSpPr>
              <p:cNvPr id="7" name="TextBox 6">
                <a:extLst>
                  <a:ext uri="{FF2B5EF4-FFF2-40B4-BE49-F238E27FC236}">
                    <a16:creationId xmlns:a16="http://schemas.microsoft.com/office/drawing/2014/main" id="{7BA013FB-CE0C-7247-9BFA-A064E1C03BCA}"/>
                  </a:ext>
                </a:extLst>
              </p:cNvPr>
              <p:cNvSpPr txBox="1">
                <a:spLocks noRot="1" noChangeAspect="1" noMove="1" noResize="1" noEditPoints="1" noAdjustHandles="1" noChangeArrowheads="1" noChangeShapeType="1" noTextEdit="1"/>
              </p:cNvSpPr>
              <p:nvPr/>
            </p:nvSpPr>
            <p:spPr>
              <a:xfrm>
                <a:off x="4335524" y="3454706"/>
                <a:ext cx="2850497" cy="369332"/>
              </a:xfrm>
              <a:prstGeom prst="rect">
                <a:avLst/>
              </a:prstGeom>
              <a:blipFill>
                <a:blip r:embed="rId2"/>
                <a:stretch>
                  <a:fillRect l="-1778" t="-10345" b="-27586"/>
                </a:stretch>
              </a:blipFill>
            </p:spPr>
            <p:txBody>
              <a:bodyPr/>
              <a:lstStyle/>
              <a:p>
                <a:r>
                  <a:rPr lang="en-CN">
                    <a:noFill/>
                  </a:rPr>
                  <a:t> </a:t>
                </a:r>
              </a:p>
            </p:txBody>
          </p:sp>
        </mc:Fallback>
      </mc:AlternateContent>
    </p:spTree>
    <p:extLst>
      <p:ext uri="{BB962C8B-B14F-4D97-AF65-F5344CB8AC3E}">
        <p14:creationId xmlns:p14="http://schemas.microsoft.com/office/powerpoint/2010/main" val="3644382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486888" y="320634"/>
            <a:ext cx="5685312" cy="584775"/>
          </a:xfrm>
          <a:prstGeom prst="rect">
            <a:avLst/>
          </a:prstGeom>
          <a:noFill/>
        </p:spPr>
        <p:txBody>
          <a:bodyPr wrap="square" rtlCol="0">
            <a:spAutoFit/>
          </a:bodyPr>
          <a:lstStyle/>
          <a:p>
            <a:r>
              <a:rPr lang="en-CN" sz="3200" dirty="0">
                <a:latin typeface="FangSong" panose="02010609060101010101" pitchFamily="49" charset="-122"/>
                <a:ea typeface="FangSong" panose="02010609060101010101" pitchFamily="49" charset="-122"/>
              </a:rPr>
              <a:t>回到热物</a:t>
            </a:r>
            <a:r>
              <a:rPr lang="zh-CN" altLang="en-US" sz="3200" dirty="0">
                <a:latin typeface="FangSong" panose="02010609060101010101" pitchFamily="49" charset="-122"/>
                <a:ea typeface="FangSong" panose="02010609060101010101" pitchFamily="49" charset="-122"/>
              </a:rPr>
              <a:t>，从基本假设出发</a:t>
            </a:r>
            <a:endParaRPr lang="en-CN" sz="3200" dirty="0">
              <a:latin typeface="FangSong" panose="02010609060101010101" pitchFamily="49" charset="-122"/>
              <a:ea typeface="FangSong" panose="02010609060101010101" pitchFamily="49" charset="-122"/>
            </a:endParaRPr>
          </a:p>
        </p:txBody>
      </p:sp>
      <p:sp>
        <p:nvSpPr>
          <p:cNvPr id="5" name="Rectangle 4">
            <a:extLst>
              <a:ext uri="{FF2B5EF4-FFF2-40B4-BE49-F238E27FC236}">
                <a16:creationId xmlns:a16="http://schemas.microsoft.com/office/drawing/2014/main" id="{02EA8CD4-5297-6049-9029-DE68240D5F79}"/>
              </a:ext>
            </a:extLst>
          </p:cNvPr>
          <p:cNvSpPr/>
          <p:nvPr/>
        </p:nvSpPr>
        <p:spPr>
          <a:xfrm>
            <a:off x="3194462" y="1270660"/>
            <a:ext cx="4940135" cy="41801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N"/>
          </a:p>
        </p:txBody>
      </p:sp>
      <p:sp>
        <p:nvSpPr>
          <p:cNvPr id="6" name="Rectangle 5">
            <a:extLst>
              <a:ext uri="{FF2B5EF4-FFF2-40B4-BE49-F238E27FC236}">
                <a16:creationId xmlns:a16="http://schemas.microsoft.com/office/drawing/2014/main" id="{9E383C4F-2E47-6C43-93C6-89A2C81207B1}"/>
              </a:ext>
            </a:extLst>
          </p:cNvPr>
          <p:cNvSpPr/>
          <p:nvPr/>
        </p:nvSpPr>
        <p:spPr>
          <a:xfrm>
            <a:off x="2196935" y="4239491"/>
            <a:ext cx="997527" cy="12112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A013FB-CE0C-7247-9BFA-A064E1C03BCA}"/>
                  </a:ext>
                </a:extLst>
              </p:cNvPr>
              <p:cNvSpPr txBox="1"/>
              <p:nvPr/>
            </p:nvSpPr>
            <p:spPr>
              <a:xfrm>
                <a:off x="4346369" y="2101932"/>
                <a:ext cx="2422566" cy="707886"/>
              </a:xfrm>
              <a:prstGeom prst="rect">
                <a:avLst/>
              </a:prstGeom>
              <a:noFill/>
            </p:spPr>
            <p:txBody>
              <a:bodyPr wrap="square" rtlCol="0">
                <a:spAutoFit/>
              </a:bodyPr>
              <a:lstStyle/>
              <a:p>
                <a:r>
                  <a:rPr lang="en-CN" sz="4000" dirty="0">
                    <a:solidFill>
                      <a:schemeClr val="bg1"/>
                    </a:solidFill>
                  </a:rPr>
                  <a:t>热库</a:t>
                </a:r>
                <a:r>
                  <a:rPr lang="zh-CN" altLang="en-US" sz="4000" dirty="0">
                    <a:solidFill>
                      <a:schemeClr val="bg1"/>
                    </a:solidFill>
                  </a:rPr>
                  <a:t>，</a:t>
                </a:r>
                <a14:m>
                  <m:oMath xmlns:m="http://schemas.openxmlformats.org/officeDocument/2006/math">
                    <m:sSub>
                      <m:sSubPr>
                        <m:ctrlPr>
                          <a:rPr lang="en-US" altLang="zh-CN" sz="4000" i="1" smtClean="0">
                            <a:solidFill>
                              <a:schemeClr val="bg1"/>
                            </a:solidFill>
                            <a:latin typeface="Cambria Math" panose="02040503050406030204" pitchFamily="18" charset="0"/>
                          </a:rPr>
                        </m:ctrlPr>
                      </m:sSubPr>
                      <m:e>
                        <m:r>
                          <a:rPr lang="en-US" altLang="zh-CN" sz="4000" b="0" i="1" smtClean="0">
                            <a:solidFill>
                              <a:schemeClr val="bg1"/>
                            </a:solidFill>
                            <a:latin typeface="Cambria Math" panose="02040503050406030204" pitchFamily="18" charset="0"/>
                          </a:rPr>
                          <m:t>𝑈</m:t>
                        </m:r>
                      </m:e>
                      <m:sub>
                        <m:r>
                          <a:rPr lang="en-US" altLang="zh-CN" sz="4000" b="0" i="1" smtClean="0">
                            <a:solidFill>
                              <a:schemeClr val="bg1"/>
                            </a:solidFill>
                            <a:latin typeface="Cambria Math" panose="02040503050406030204" pitchFamily="18" charset="0"/>
                          </a:rPr>
                          <m:t>𝑅</m:t>
                        </m:r>
                      </m:sub>
                    </m:sSub>
                  </m:oMath>
                </a14:m>
                <a:endParaRPr lang="en-CN" sz="4000" dirty="0">
                  <a:solidFill>
                    <a:schemeClr val="bg1"/>
                  </a:solidFill>
                </a:endParaRPr>
              </a:p>
            </p:txBody>
          </p:sp>
        </mc:Choice>
        <mc:Fallback xmlns="">
          <p:sp>
            <p:nvSpPr>
              <p:cNvPr id="7" name="TextBox 6">
                <a:extLst>
                  <a:ext uri="{FF2B5EF4-FFF2-40B4-BE49-F238E27FC236}">
                    <a16:creationId xmlns:a16="http://schemas.microsoft.com/office/drawing/2014/main" id="{7BA013FB-CE0C-7247-9BFA-A064E1C03BCA}"/>
                  </a:ext>
                </a:extLst>
              </p:cNvPr>
              <p:cNvSpPr txBox="1">
                <a:spLocks noRot="1" noChangeAspect="1" noMove="1" noResize="1" noEditPoints="1" noAdjustHandles="1" noChangeArrowheads="1" noChangeShapeType="1" noTextEdit="1"/>
              </p:cNvSpPr>
              <p:nvPr/>
            </p:nvSpPr>
            <p:spPr>
              <a:xfrm>
                <a:off x="4346369" y="2101932"/>
                <a:ext cx="2422566" cy="707886"/>
              </a:xfrm>
              <a:prstGeom prst="rect">
                <a:avLst/>
              </a:prstGeom>
              <a:blipFill>
                <a:blip r:embed="rId2"/>
                <a:stretch>
                  <a:fillRect l="-9424" t="-15789" b="-36842"/>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4CC99B0C-06FD-DA4F-A5D7-6DA77240B0AE}"/>
              </a:ext>
            </a:extLst>
          </p:cNvPr>
          <p:cNvSpPr txBox="1"/>
          <p:nvPr/>
        </p:nvSpPr>
        <p:spPr>
          <a:xfrm>
            <a:off x="2398816" y="4512623"/>
            <a:ext cx="795646" cy="646331"/>
          </a:xfrm>
          <a:prstGeom prst="rect">
            <a:avLst/>
          </a:prstGeom>
          <a:noFill/>
        </p:spPr>
        <p:txBody>
          <a:bodyPr wrap="square" rtlCol="0">
            <a:spAutoFit/>
          </a:bodyPr>
          <a:lstStyle/>
          <a:p>
            <a:r>
              <a:rPr lang="en-CN" dirty="0"/>
              <a:t>系统</a:t>
            </a:r>
          </a:p>
          <a:p>
            <a:r>
              <a:rPr lang="en-CN" dirty="0"/>
              <a:t>E</a:t>
            </a:r>
          </a:p>
        </p:txBody>
      </p:sp>
      <p:sp>
        <p:nvSpPr>
          <p:cNvPr id="2" name="TextBox 1">
            <a:extLst>
              <a:ext uri="{FF2B5EF4-FFF2-40B4-BE49-F238E27FC236}">
                <a16:creationId xmlns:a16="http://schemas.microsoft.com/office/drawing/2014/main" id="{221B5374-F84F-5AC7-FA21-776325F70B37}"/>
              </a:ext>
            </a:extLst>
          </p:cNvPr>
          <p:cNvSpPr txBox="1"/>
          <p:nvPr/>
        </p:nvSpPr>
        <p:spPr>
          <a:xfrm>
            <a:off x="8423238" y="1613647"/>
            <a:ext cx="3420931" cy="2062103"/>
          </a:xfrm>
          <a:prstGeom prst="rect">
            <a:avLst/>
          </a:prstGeom>
          <a:noFill/>
        </p:spPr>
        <p:txBody>
          <a:bodyPr wrap="square" rtlCol="0">
            <a:spAutoFit/>
          </a:bodyPr>
          <a:lstStyle/>
          <a:p>
            <a:r>
              <a:rPr lang="en-CN" sz="3200" dirty="0"/>
              <a:t>什么是热库</a:t>
            </a:r>
            <a:r>
              <a:rPr lang="zh-CN" altLang="en-US" sz="3200" dirty="0"/>
              <a:t>？</a:t>
            </a:r>
            <a:endParaRPr lang="en-US" altLang="zh-CN" sz="3200" dirty="0"/>
          </a:p>
          <a:p>
            <a:endParaRPr lang="en-US" altLang="zh-CN" sz="3200" dirty="0"/>
          </a:p>
          <a:p>
            <a:r>
              <a:rPr lang="zh-CN" altLang="en-US" sz="3200" dirty="0"/>
              <a:t>一个毫无特色的家伙</a:t>
            </a:r>
            <a:endParaRPr lang="en-CN" sz="3200" dirty="0"/>
          </a:p>
        </p:txBody>
      </p:sp>
    </p:spTree>
    <p:extLst>
      <p:ext uri="{BB962C8B-B14F-4D97-AF65-F5344CB8AC3E}">
        <p14:creationId xmlns:p14="http://schemas.microsoft.com/office/powerpoint/2010/main" val="2126354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233328" y="81271"/>
            <a:ext cx="4417621" cy="461665"/>
          </a:xfrm>
          <a:prstGeom prst="rect">
            <a:avLst/>
          </a:prstGeom>
          <a:noFill/>
        </p:spPr>
        <p:txBody>
          <a:bodyPr wrap="square" rtlCol="0">
            <a:spAutoFit/>
          </a:bodyPr>
          <a:lstStyle/>
          <a:p>
            <a:r>
              <a:rPr lang="en-CN" sz="2400" dirty="0">
                <a:solidFill>
                  <a:srgbClr val="FF0000"/>
                </a:solidFill>
                <a:latin typeface="FangSong" panose="02010609060101010101" pitchFamily="49" charset="-122"/>
                <a:ea typeface="FangSong" panose="02010609060101010101" pitchFamily="49" charset="-122"/>
              </a:rPr>
              <a:t>考虑单个氢原子</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A013FB-CE0C-7247-9BFA-A064E1C03BCA}"/>
                  </a:ext>
                </a:extLst>
              </p:cNvPr>
              <p:cNvSpPr txBox="1"/>
              <p:nvPr/>
            </p:nvSpPr>
            <p:spPr>
              <a:xfrm>
                <a:off x="4346369" y="2101932"/>
                <a:ext cx="2422566" cy="369332"/>
              </a:xfrm>
              <a:prstGeom prst="rect">
                <a:avLst/>
              </a:prstGeom>
              <a:noFill/>
            </p:spPr>
            <p:txBody>
              <a:bodyPr wrap="square" rtlCol="0">
                <a:spAutoFit/>
              </a:bodyPr>
              <a:lstStyle/>
              <a:p>
                <a:r>
                  <a:rPr lang="en-CN" dirty="0">
                    <a:solidFill>
                      <a:schemeClr val="bg1"/>
                    </a:solidFill>
                  </a:rPr>
                  <a:t>热库</a:t>
                </a:r>
                <a:r>
                  <a:rPr lang="zh-CN" altLang="en-US" dirty="0">
                    <a:solidFill>
                      <a:schemeClr val="bg1"/>
                    </a:solidFill>
                  </a:rPr>
                  <a:t>，</a:t>
                </a:r>
                <a14:m>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𝑈</m:t>
                        </m:r>
                      </m:e>
                      <m:sub>
                        <m:r>
                          <a:rPr lang="en-US" altLang="zh-CN" b="0" i="1" smtClean="0">
                            <a:solidFill>
                              <a:schemeClr val="bg1"/>
                            </a:solidFill>
                            <a:latin typeface="Cambria Math" panose="02040503050406030204" pitchFamily="18" charset="0"/>
                          </a:rPr>
                          <m:t>𝑅</m:t>
                        </m:r>
                      </m:sub>
                    </m:sSub>
                  </m:oMath>
                </a14:m>
                <a:endParaRPr lang="en-CN" dirty="0">
                  <a:solidFill>
                    <a:schemeClr val="bg1"/>
                  </a:solidFill>
                </a:endParaRPr>
              </a:p>
            </p:txBody>
          </p:sp>
        </mc:Choice>
        <mc:Fallback xmlns="">
          <p:sp>
            <p:nvSpPr>
              <p:cNvPr id="7" name="TextBox 6">
                <a:extLst>
                  <a:ext uri="{FF2B5EF4-FFF2-40B4-BE49-F238E27FC236}">
                    <a16:creationId xmlns:a16="http://schemas.microsoft.com/office/drawing/2014/main" id="{7BA013FB-CE0C-7247-9BFA-A064E1C03BCA}"/>
                  </a:ext>
                </a:extLst>
              </p:cNvPr>
              <p:cNvSpPr txBox="1">
                <a:spLocks noRot="1" noChangeAspect="1" noMove="1" noResize="1" noEditPoints="1" noAdjustHandles="1" noChangeArrowheads="1" noChangeShapeType="1" noTextEdit="1"/>
              </p:cNvSpPr>
              <p:nvPr/>
            </p:nvSpPr>
            <p:spPr>
              <a:xfrm>
                <a:off x="4346369" y="2101932"/>
                <a:ext cx="2422566" cy="369332"/>
              </a:xfrm>
              <a:prstGeom prst="rect">
                <a:avLst/>
              </a:prstGeom>
              <a:blipFill>
                <a:blip r:embed="rId2"/>
                <a:stretch>
                  <a:fillRect l="-2094" t="-6667" b="-26667"/>
                </a:stretch>
              </a:blipFill>
            </p:spPr>
            <p:txBody>
              <a:bodyPr/>
              <a:lstStyle/>
              <a:p>
                <a:r>
                  <a:rPr lang="en-CN">
                    <a:noFill/>
                  </a:rPr>
                  <a:t> </a:t>
                </a:r>
              </a:p>
            </p:txBody>
          </p:sp>
        </mc:Fallback>
      </mc:AlternateContent>
      <p:cxnSp>
        <p:nvCxnSpPr>
          <p:cNvPr id="3" name="Straight Arrow Connector 2">
            <a:extLst>
              <a:ext uri="{FF2B5EF4-FFF2-40B4-BE49-F238E27FC236}">
                <a16:creationId xmlns:a16="http://schemas.microsoft.com/office/drawing/2014/main" id="{23ED6943-D37D-9944-9DF1-688A71CB2D87}"/>
              </a:ext>
            </a:extLst>
          </p:cNvPr>
          <p:cNvCxnSpPr>
            <a:cxnSpLocks/>
          </p:cNvCxnSpPr>
          <p:nvPr/>
        </p:nvCxnSpPr>
        <p:spPr>
          <a:xfrm flipV="1">
            <a:off x="1983179" y="843148"/>
            <a:ext cx="0" cy="5023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52B2169-06B2-6542-BD0E-07309D05F2D1}"/>
              </a:ext>
            </a:extLst>
          </p:cNvPr>
          <p:cNvCxnSpPr>
            <a:cxnSpLocks/>
          </p:cNvCxnSpPr>
          <p:nvPr/>
        </p:nvCxnSpPr>
        <p:spPr>
          <a:xfrm>
            <a:off x="2398816" y="586641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52E0E2-A4B6-1641-B187-7F7C638598E7}"/>
              </a:ext>
            </a:extLst>
          </p:cNvPr>
          <p:cNvCxnSpPr>
            <a:cxnSpLocks/>
          </p:cNvCxnSpPr>
          <p:nvPr/>
        </p:nvCxnSpPr>
        <p:spPr>
          <a:xfrm>
            <a:off x="2398816" y="2101932"/>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AFDB1AD-E965-3F49-B2D0-1CCFE13943DC}"/>
              </a:ext>
            </a:extLst>
          </p:cNvPr>
          <p:cNvCxnSpPr>
            <a:cxnSpLocks/>
          </p:cNvCxnSpPr>
          <p:nvPr/>
        </p:nvCxnSpPr>
        <p:spPr>
          <a:xfrm>
            <a:off x="3493985" y="2101932"/>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D493DA9-C9F5-6E4A-9DE9-DD3B953B0DD7}"/>
              </a:ext>
            </a:extLst>
          </p:cNvPr>
          <p:cNvCxnSpPr>
            <a:cxnSpLocks/>
          </p:cNvCxnSpPr>
          <p:nvPr/>
        </p:nvCxnSpPr>
        <p:spPr>
          <a:xfrm>
            <a:off x="4650949" y="2092475"/>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4DDD295-613D-2747-8E22-F034BAB19936}"/>
              </a:ext>
            </a:extLst>
          </p:cNvPr>
          <p:cNvCxnSpPr>
            <a:cxnSpLocks/>
          </p:cNvCxnSpPr>
          <p:nvPr/>
        </p:nvCxnSpPr>
        <p:spPr>
          <a:xfrm>
            <a:off x="5669808" y="2092475"/>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4A21A33-3646-E34E-9E05-3ED39B37EC0D}"/>
              </a:ext>
            </a:extLst>
          </p:cNvPr>
          <p:cNvCxnSpPr>
            <a:cxnSpLocks/>
          </p:cNvCxnSpPr>
          <p:nvPr/>
        </p:nvCxnSpPr>
        <p:spPr>
          <a:xfrm>
            <a:off x="2398816" y="1362144"/>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3122D89-75AE-B64D-9877-2E69DAC876D9}"/>
              </a:ext>
            </a:extLst>
          </p:cNvPr>
          <p:cNvCxnSpPr>
            <a:cxnSpLocks/>
          </p:cNvCxnSpPr>
          <p:nvPr/>
        </p:nvCxnSpPr>
        <p:spPr>
          <a:xfrm>
            <a:off x="3493985" y="1335754"/>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4C4DC48-2404-444A-A45A-2A39DE812DD5}"/>
              </a:ext>
            </a:extLst>
          </p:cNvPr>
          <p:cNvCxnSpPr>
            <a:cxnSpLocks/>
          </p:cNvCxnSpPr>
          <p:nvPr/>
        </p:nvCxnSpPr>
        <p:spPr>
          <a:xfrm>
            <a:off x="4650949" y="1326297"/>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8A5592-C990-7147-9995-378631F41A45}"/>
              </a:ext>
            </a:extLst>
          </p:cNvPr>
          <p:cNvCxnSpPr>
            <a:cxnSpLocks/>
          </p:cNvCxnSpPr>
          <p:nvPr/>
        </p:nvCxnSpPr>
        <p:spPr>
          <a:xfrm>
            <a:off x="5734683"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C2B277C-7246-5D40-898F-75E34A31980A}"/>
              </a:ext>
            </a:extLst>
          </p:cNvPr>
          <p:cNvCxnSpPr>
            <a:cxnSpLocks/>
          </p:cNvCxnSpPr>
          <p:nvPr/>
        </p:nvCxnSpPr>
        <p:spPr>
          <a:xfrm>
            <a:off x="6768935"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33237D6-F8B0-394B-A35A-1AD27DE7F217}"/>
              </a:ext>
            </a:extLst>
          </p:cNvPr>
          <p:cNvCxnSpPr>
            <a:cxnSpLocks/>
          </p:cNvCxnSpPr>
          <p:nvPr/>
        </p:nvCxnSpPr>
        <p:spPr>
          <a:xfrm>
            <a:off x="7868283" y="1335754"/>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15EFF9-8B68-164F-812E-4CB2208CCD16}"/>
              </a:ext>
            </a:extLst>
          </p:cNvPr>
          <p:cNvCxnSpPr>
            <a:cxnSpLocks/>
          </p:cNvCxnSpPr>
          <p:nvPr/>
        </p:nvCxnSpPr>
        <p:spPr>
          <a:xfrm>
            <a:off x="8968949" y="1326297"/>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4A3B476-F0C3-0B42-BDB3-9C5CF316C96D}"/>
              </a:ext>
            </a:extLst>
          </p:cNvPr>
          <p:cNvCxnSpPr>
            <a:cxnSpLocks/>
          </p:cNvCxnSpPr>
          <p:nvPr/>
        </p:nvCxnSpPr>
        <p:spPr>
          <a:xfrm>
            <a:off x="10069616"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30ED6CF-2874-4942-9688-470847D9D8AB}"/>
              </a:ext>
            </a:extLst>
          </p:cNvPr>
          <p:cNvCxnSpPr>
            <a:cxnSpLocks/>
          </p:cNvCxnSpPr>
          <p:nvPr/>
        </p:nvCxnSpPr>
        <p:spPr>
          <a:xfrm>
            <a:off x="11153350"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2B91548-5C2F-0447-B019-5B6D8EE70CB1}"/>
              </a:ext>
            </a:extLst>
          </p:cNvPr>
          <p:cNvSpPr txBox="1"/>
          <p:nvPr/>
        </p:nvSpPr>
        <p:spPr>
          <a:xfrm>
            <a:off x="486888" y="843148"/>
            <a:ext cx="1358845" cy="369332"/>
          </a:xfrm>
          <a:prstGeom prst="rect">
            <a:avLst/>
          </a:prstGeom>
          <a:noFill/>
        </p:spPr>
        <p:txBody>
          <a:bodyPr wrap="square" rtlCol="0">
            <a:spAutoFit/>
          </a:bodyPr>
          <a:lstStyle/>
          <a:p>
            <a:r>
              <a:rPr lang="en-CN" dirty="0"/>
              <a:t>energy</a:t>
            </a:r>
          </a:p>
        </p:txBody>
      </p:sp>
      <p:sp>
        <p:nvSpPr>
          <p:cNvPr id="30" name="TextBox 29">
            <a:extLst>
              <a:ext uri="{FF2B5EF4-FFF2-40B4-BE49-F238E27FC236}">
                <a16:creationId xmlns:a16="http://schemas.microsoft.com/office/drawing/2014/main" id="{2470F39A-D392-6C4E-9A2C-7304E0D74DA1}"/>
              </a:ext>
            </a:extLst>
          </p:cNvPr>
          <p:cNvSpPr txBox="1"/>
          <p:nvPr/>
        </p:nvSpPr>
        <p:spPr>
          <a:xfrm>
            <a:off x="8968949" y="320634"/>
            <a:ext cx="3285067" cy="369332"/>
          </a:xfrm>
          <a:prstGeom prst="rect">
            <a:avLst/>
          </a:prstGeom>
          <a:noFill/>
        </p:spPr>
        <p:txBody>
          <a:bodyPr wrap="square" rtlCol="0">
            <a:spAutoFit/>
          </a:bodyPr>
          <a:lstStyle/>
          <a:p>
            <a:r>
              <a:rPr lang="en-CN" dirty="0"/>
              <a:t>不考虑自旋</a:t>
            </a:r>
            <a:r>
              <a:rPr lang="zh-CN" altLang="en-US" dirty="0"/>
              <a:t>！</a:t>
            </a:r>
            <a:endParaRPr lang="en-CN" dirty="0"/>
          </a:p>
        </p:txBody>
      </p:sp>
      <p:sp>
        <p:nvSpPr>
          <p:cNvPr id="31" name="TextBox 30">
            <a:extLst>
              <a:ext uri="{FF2B5EF4-FFF2-40B4-BE49-F238E27FC236}">
                <a16:creationId xmlns:a16="http://schemas.microsoft.com/office/drawing/2014/main" id="{23225962-D0F2-5646-8837-64D14CC806FC}"/>
              </a:ext>
            </a:extLst>
          </p:cNvPr>
          <p:cNvSpPr txBox="1"/>
          <p:nvPr/>
        </p:nvSpPr>
        <p:spPr>
          <a:xfrm>
            <a:off x="486888" y="5645520"/>
            <a:ext cx="1358845" cy="369332"/>
          </a:xfrm>
          <a:prstGeom prst="rect">
            <a:avLst/>
          </a:prstGeom>
          <a:noFill/>
        </p:spPr>
        <p:txBody>
          <a:bodyPr wrap="square" rtlCol="0">
            <a:spAutoFit/>
          </a:bodyPr>
          <a:lstStyle/>
          <a:p>
            <a:r>
              <a:rPr lang="en-CN" dirty="0"/>
              <a:t>-13.6ev</a:t>
            </a:r>
          </a:p>
        </p:txBody>
      </p:sp>
      <p:sp>
        <p:nvSpPr>
          <p:cNvPr id="32" name="TextBox 31">
            <a:extLst>
              <a:ext uri="{FF2B5EF4-FFF2-40B4-BE49-F238E27FC236}">
                <a16:creationId xmlns:a16="http://schemas.microsoft.com/office/drawing/2014/main" id="{CCC893AE-72AE-C542-B6FD-74FEB09B4731}"/>
              </a:ext>
            </a:extLst>
          </p:cNvPr>
          <p:cNvSpPr txBox="1"/>
          <p:nvPr/>
        </p:nvSpPr>
        <p:spPr>
          <a:xfrm>
            <a:off x="457859" y="1907809"/>
            <a:ext cx="1358845" cy="369332"/>
          </a:xfrm>
          <a:prstGeom prst="rect">
            <a:avLst/>
          </a:prstGeom>
          <a:noFill/>
        </p:spPr>
        <p:txBody>
          <a:bodyPr wrap="square" rtlCol="0">
            <a:spAutoFit/>
          </a:bodyPr>
          <a:lstStyle/>
          <a:p>
            <a:r>
              <a:rPr lang="en-CN" dirty="0"/>
              <a:t>-3.4ev</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D84ECFC-C060-AE4E-96AC-7455962B65A7}"/>
                  </a:ext>
                </a:extLst>
              </p:cNvPr>
              <p:cNvSpPr txBox="1"/>
              <p:nvPr/>
            </p:nvSpPr>
            <p:spPr>
              <a:xfrm>
                <a:off x="5198533" y="2777067"/>
                <a:ext cx="6553200" cy="3323987"/>
              </a:xfrm>
              <a:prstGeom prst="rect">
                <a:avLst/>
              </a:prstGeom>
              <a:solidFill>
                <a:schemeClr val="accent6"/>
              </a:solidFill>
            </p:spPr>
            <p:txBody>
              <a:bodyPr wrap="square" rtlCol="0">
                <a:spAutoFit/>
              </a:bodyPr>
              <a:lstStyle/>
              <a:p>
                <a:pPr marL="285750" indent="-285750">
                  <a:buFont typeface="Arial" panose="020B0604020202020204" pitchFamily="34" charset="0"/>
                  <a:buChar char="•"/>
                </a:pPr>
                <a:r>
                  <a:rPr lang="en-CN" dirty="0"/>
                  <a:t>回忆一下所谓的微观态</a:t>
                </a:r>
                <a:r>
                  <a:rPr lang="zh-CN" altLang="en-US" dirty="0"/>
                  <a:t>，</a:t>
                </a:r>
                <a:r>
                  <a:rPr lang="en-US" altLang="zh-CN" dirty="0"/>
                  <a:t>Multiplicity</a:t>
                </a:r>
                <a:r>
                  <a:rPr lang="zh-CN" altLang="en-US" dirty="0"/>
                  <a:t>等概念</a:t>
                </a:r>
                <a:endParaRPr lang="en-US" altLang="zh-CN" dirty="0"/>
              </a:p>
              <a:p>
                <a:pPr marL="285750" indent="-285750">
                  <a:buFont typeface="Arial" panose="020B0604020202020204" pitchFamily="34" charset="0"/>
                  <a:buChar char="•"/>
                </a:pPr>
                <a:r>
                  <a:rPr lang="zh-CN" altLang="en-US" dirty="0"/>
                  <a:t>当这个氢原子与外界无相互作用（</a:t>
                </a:r>
                <a:r>
                  <a:rPr lang="zh-CN" altLang="en-CN" dirty="0"/>
                  <a:t>孤立系</a:t>
                </a:r>
                <a:r>
                  <a:rPr lang="zh-CN" altLang="en-US" dirty="0"/>
                  <a:t>），其有固定的能量，在这个能量下，系统访问各个微观态的概率是一样的</a:t>
                </a:r>
                <a:r>
                  <a:rPr lang="zh-CN" altLang="en-US" dirty="0">
                    <a:solidFill>
                      <a:srgbClr val="FF0000"/>
                    </a:solidFill>
                  </a:rPr>
                  <a:t>（基本假设！）</a:t>
                </a:r>
                <a:endParaRPr lang="en-US" altLang="zh-CN" dirty="0">
                  <a:solidFill>
                    <a:srgbClr val="FF0000"/>
                  </a:solidFill>
                </a:endParaRPr>
              </a:p>
              <a:p>
                <a:pPr marL="285750" indent="-285750">
                  <a:buFont typeface="Arial" panose="020B0604020202020204" pitchFamily="34" charset="0"/>
                  <a:buChar char="•"/>
                </a:pPr>
                <a:r>
                  <a:rPr lang="zh-CN" altLang="en-US" dirty="0"/>
                  <a:t>我们现在感兴趣的是，该原子和其他原子相互作用，热接触，想象其他原子们构成所谓的热库，这时该原子获得特定的温度</a:t>
                </a:r>
                <a14:m>
                  <m:oMath xmlns:m="http://schemas.openxmlformats.org/officeDocument/2006/math">
                    <m:r>
                      <a:rPr lang="zh-CN" altLang="en-US" i="1" smtClean="0">
                        <a:solidFill>
                          <a:srgbClr val="FF0000"/>
                        </a:solidFill>
                        <a:latin typeface="Cambria Math" panose="02040503050406030204" pitchFamily="18" charset="0"/>
                      </a:rPr>
                      <m:t>𝜏</m:t>
                    </m:r>
                    <m:r>
                      <a:rPr lang="zh-CN" altLang="en-US" b="0" i="1" smtClean="0">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给了</m:t>
                    </m:r>
                    <m:r>
                      <a:rPr lang="zh-CN" altLang="en-US" i="1" smtClean="0">
                        <a:solidFill>
                          <a:srgbClr val="FF0000"/>
                        </a:solidFill>
                        <a:latin typeface="Cambria Math" panose="02040503050406030204" pitchFamily="18" charset="0"/>
                      </a:rPr>
                      <m:t>一个</m:t>
                    </m:r>
                    <m:r>
                      <m:rPr>
                        <m:sty m:val="p"/>
                      </m:rPr>
                      <a:rPr lang="en-US" altLang="zh-CN" i="1">
                        <a:solidFill>
                          <a:srgbClr val="FF0000"/>
                        </a:solidFill>
                        <a:latin typeface="Cambria Math" panose="02040503050406030204" pitchFamily="18" charset="0"/>
                      </a:rPr>
                      <m:t>scale</m:t>
                    </m:r>
                    <m:r>
                      <a:rPr lang="zh-CN" altLang="en-US" b="0" i="1" smtClean="0">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比较</m:t>
                    </m:r>
                    <m:r>
                      <a:rPr lang="zh-CN" altLang="en-US" i="1" smtClean="0">
                        <a:solidFill>
                          <a:srgbClr val="FF0000"/>
                        </a:solidFill>
                        <a:latin typeface="Cambria Math" panose="02040503050406030204" pitchFamily="18" charset="0"/>
                      </a:rPr>
                      <m:t>能级</m:t>
                    </m:r>
                    <m:r>
                      <a:rPr lang="zh-CN" altLang="en-US" i="1">
                        <a:solidFill>
                          <a:srgbClr val="FF0000"/>
                        </a:solidFill>
                        <a:latin typeface="Cambria Math" panose="02040503050406030204" pitchFamily="18" charset="0"/>
                      </a:rPr>
                      <m:t>大小</m:t>
                    </m:r>
                    <m:r>
                      <a:rPr lang="zh-CN" altLang="en-US" i="1" smtClean="0">
                        <a:solidFill>
                          <a:srgbClr val="FF0000"/>
                        </a:solidFill>
                        <a:latin typeface="Cambria Math" panose="02040503050406030204" pitchFamily="18" charset="0"/>
                      </a:rPr>
                      <m:t>有了</m:t>
                    </m:r>
                    <m:r>
                      <a:rPr lang="zh-CN" altLang="en-US" i="1">
                        <a:solidFill>
                          <a:srgbClr val="FF0000"/>
                        </a:solidFill>
                        <a:latin typeface="Cambria Math" panose="02040503050406030204" pitchFamily="18" charset="0"/>
                      </a:rPr>
                      <m:t>真正</m:t>
                    </m:r>
                    <m:r>
                      <a:rPr lang="zh-CN" altLang="en-US" i="1" smtClean="0">
                        <a:solidFill>
                          <a:srgbClr val="FF0000"/>
                        </a:solidFill>
                        <a:latin typeface="Cambria Math" panose="02040503050406030204" pitchFamily="18" charset="0"/>
                      </a:rPr>
                      <m:t>的</m:t>
                    </m:r>
                    <m:r>
                      <a:rPr lang="zh-CN" altLang="en-US" i="1">
                        <a:solidFill>
                          <a:srgbClr val="FF0000"/>
                        </a:solidFill>
                        <a:latin typeface="Cambria Math" panose="02040503050406030204" pitchFamily="18" charset="0"/>
                      </a:rPr>
                      <m:t>意义</m:t>
                    </m:r>
                    <m:r>
                      <a:rPr lang="zh-CN" altLang="en-US" b="0" i="1" smtClean="0">
                        <a:solidFill>
                          <a:srgbClr val="FF0000"/>
                        </a:solidFill>
                        <a:latin typeface="Cambria Math" panose="02040503050406030204" pitchFamily="18" charset="0"/>
                      </a:rPr>
                      <m:t>）</m:t>
                    </m:r>
                  </m:oMath>
                </a14:m>
                <a:r>
                  <a:rPr lang="zh-CN" altLang="en-US" dirty="0"/>
                  <a:t>。</a:t>
                </a:r>
                <a:endParaRPr lang="en-US" altLang="zh-CN" dirty="0"/>
              </a:p>
              <a:p>
                <a:pPr marL="285750" indent="-285750">
                  <a:buFont typeface="Arial" panose="020B0604020202020204" pitchFamily="34" charset="0"/>
                  <a:buChar char="•"/>
                </a:pPr>
                <a:r>
                  <a:rPr lang="zh-CN" altLang="en-US" sz="2800" dirty="0">
                    <a:solidFill>
                      <a:srgbClr val="FF0000"/>
                    </a:solidFill>
                  </a:rPr>
                  <a:t>可以想象，因为能级不同，系统将以不同的概率访问不同能级！什么样子的形式呢？？？</a:t>
                </a:r>
                <a:endParaRPr lang="en-CN" sz="2800" dirty="0">
                  <a:solidFill>
                    <a:srgbClr val="FF0000"/>
                  </a:solidFill>
                </a:endParaRPr>
              </a:p>
            </p:txBody>
          </p:sp>
        </mc:Choice>
        <mc:Fallback xmlns="">
          <p:sp>
            <p:nvSpPr>
              <p:cNvPr id="33" name="TextBox 32">
                <a:extLst>
                  <a:ext uri="{FF2B5EF4-FFF2-40B4-BE49-F238E27FC236}">
                    <a16:creationId xmlns:a16="http://schemas.microsoft.com/office/drawing/2014/main" id="{0D84ECFC-C060-AE4E-96AC-7455962B65A7}"/>
                  </a:ext>
                </a:extLst>
              </p:cNvPr>
              <p:cNvSpPr txBox="1">
                <a:spLocks noRot="1" noChangeAspect="1" noMove="1" noResize="1" noEditPoints="1" noAdjustHandles="1" noChangeArrowheads="1" noChangeShapeType="1" noTextEdit="1"/>
              </p:cNvSpPr>
              <p:nvPr/>
            </p:nvSpPr>
            <p:spPr>
              <a:xfrm>
                <a:off x="5198533" y="2777067"/>
                <a:ext cx="6553200" cy="3323987"/>
              </a:xfrm>
              <a:prstGeom prst="rect">
                <a:avLst/>
              </a:prstGeom>
              <a:blipFill>
                <a:blip r:embed="rId3"/>
                <a:stretch>
                  <a:fillRect l="-1741" t="-760" r="-2128" b="-4183"/>
                </a:stretch>
              </a:blipFill>
            </p:spPr>
            <p:txBody>
              <a:bodyPr/>
              <a:lstStyle/>
              <a:p>
                <a:r>
                  <a:rPr lang="en-CN">
                    <a:noFill/>
                  </a:rPr>
                  <a:t> </a:t>
                </a:r>
              </a:p>
            </p:txBody>
          </p:sp>
        </mc:Fallback>
      </mc:AlternateContent>
    </p:spTree>
    <p:extLst>
      <p:ext uri="{BB962C8B-B14F-4D97-AF65-F5344CB8AC3E}">
        <p14:creationId xmlns:p14="http://schemas.microsoft.com/office/powerpoint/2010/main" val="3524305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486888" y="320634"/>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考虑单个氢原子</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A013FB-CE0C-7247-9BFA-A064E1C03BCA}"/>
                  </a:ext>
                </a:extLst>
              </p:cNvPr>
              <p:cNvSpPr txBox="1"/>
              <p:nvPr/>
            </p:nvSpPr>
            <p:spPr>
              <a:xfrm>
                <a:off x="4346369" y="2101932"/>
                <a:ext cx="2422566" cy="369332"/>
              </a:xfrm>
              <a:prstGeom prst="rect">
                <a:avLst/>
              </a:prstGeom>
              <a:noFill/>
            </p:spPr>
            <p:txBody>
              <a:bodyPr wrap="square" rtlCol="0">
                <a:spAutoFit/>
              </a:bodyPr>
              <a:lstStyle/>
              <a:p>
                <a:r>
                  <a:rPr lang="en-CN" dirty="0">
                    <a:solidFill>
                      <a:schemeClr val="bg1"/>
                    </a:solidFill>
                  </a:rPr>
                  <a:t>热库</a:t>
                </a:r>
                <a:r>
                  <a:rPr lang="zh-CN" altLang="en-US" dirty="0">
                    <a:solidFill>
                      <a:schemeClr val="bg1"/>
                    </a:solidFill>
                  </a:rPr>
                  <a:t>，</a:t>
                </a:r>
                <a14:m>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𝑈</m:t>
                        </m:r>
                      </m:e>
                      <m:sub>
                        <m:r>
                          <a:rPr lang="en-US" altLang="zh-CN" b="0" i="1" smtClean="0">
                            <a:solidFill>
                              <a:schemeClr val="bg1"/>
                            </a:solidFill>
                            <a:latin typeface="Cambria Math" panose="02040503050406030204" pitchFamily="18" charset="0"/>
                          </a:rPr>
                          <m:t>𝑅</m:t>
                        </m:r>
                      </m:sub>
                    </m:sSub>
                  </m:oMath>
                </a14:m>
                <a:endParaRPr lang="en-CN" dirty="0">
                  <a:solidFill>
                    <a:schemeClr val="bg1"/>
                  </a:solidFill>
                </a:endParaRPr>
              </a:p>
            </p:txBody>
          </p:sp>
        </mc:Choice>
        <mc:Fallback xmlns="">
          <p:sp>
            <p:nvSpPr>
              <p:cNvPr id="7" name="TextBox 6">
                <a:extLst>
                  <a:ext uri="{FF2B5EF4-FFF2-40B4-BE49-F238E27FC236}">
                    <a16:creationId xmlns:a16="http://schemas.microsoft.com/office/drawing/2014/main" id="{7BA013FB-CE0C-7247-9BFA-A064E1C03BCA}"/>
                  </a:ext>
                </a:extLst>
              </p:cNvPr>
              <p:cNvSpPr txBox="1">
                <a:spLocks noRot="1" noChangeAspect="1" noMove="1" noResize="1" noEditPoints="1" noAdjustHandles="1" noChangeArrowheads="1" noChangeShapeType="1" noTextEdit="1"/>
              </p:cNvSpPr>
              <p:nvPr/>
            </p:nvSpPr>
            <p:spPr>
              <a:xfrm>
                <a:off x="4346369" y="2101932"/>
                <a:ext cx="2422566" cy="369332"/>
              </a:xfrm>
              <a:prstGeom prst="rect">
                <a:avLst/>
              </a:prstGeom>
              <a:blipFill>
                <a:blip r:embed="rId2"/>
                <a:stretch>
                  <a:fillRect l="-2094" t="-6667" b="-26667"/>
                </a:stretch>
              </a:blipFill>
            </p:spPr>
            <p:txBody>
              <a:bodyPr/>
              <a:lstStyle/>
              <a:p>
                <a:r>
                  <a:rPr lang="en-CN">
                    <a:noFill/>
                  </a:rPr>
                  <a:t> </a:t>
                </a:r>
              </a:p>
            </p:txBody>
          </p:sp>
        </mc:Fallback>
      </mc:AlternateContent>
      <p:cxnSp>
        <p:nvCxnSpPr>
          <p:cNvPr id="3" name="Straight Arrow Connector 2">
            <a:extLst>
              <a:ext uri="{FF2B5EF4-FFF2-40B4-BE49-F238E27FC236}">
                <a16:creationId xmlns:a16="http://schemas.microsoft.com/office/drawing/2014/main" id="{23ED6943-D37D-9944-9DF1-688A71CB2D87}"/>
              </a:ext>
            </a:extLst>
          </p:cNvPr>
          <p:cNvCxnSpPr>
            <a:cxnSpLocks/>
          </p:cNvCxnSpPr>
          <p:nvPr/>
        </p:nvCxnSpPr>
        <p:spPr>
          <a:xfrm flipV="1">
            <a:off x="1983179" y="843148"/>
            <a:ext cx="0" cy="5023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52B2169-06B2-6542-BD0E-07309D05F2D1}"/>
              </a:ext>
            </a:extLst>
          </p:cNvPr>
          <p:cNvCxnSpPr>
            <a:cxnSpLocks/>
          </p:cNvCxnSpPr>
          <p:nvPr/>
        </p:nvCxnSpPr>
        <p:spPr>
          <a:xfrm>
            <a:off x="2398816" y="586641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52E0E2-A4B6-1641-B187-7F7C638598E7}"/>
              </a:ext>
            </a:extLst>
          </p:cNvPr>
          <p:cNvCxnSpPr>
            <a:cxnSpLocks/>
          </p:cNvCxnSpPr>
          <p:nvPr/>
        </p:nvCxnSpPr>
        <p:spPr>
          <a:xfrm>
            <a:off x="2398816" y="2101932"/>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AFDB1AD-E965-3F49-B2D0-1CCFE13943DC}"/>
              </a:ext>
            </a:extLst>
          </p:cNvPr>
          <p:cNvCxnSpPr>
            <a:cxnSpLocks/>
          </p:cNvCxnSpPr>
          <p:nvPr/>
        </p:nvCxnSpPr>
        <p:spPr>
          <a:xfrm>
            <a:off x="3493985" y="2101932"/>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D493DA9-C9F5-6E4A-9DE9-DD3B953B0DD7}"/>
              </a:ext>
            </a:extLst>
          </p:cNvPr>
          <p:cNvCxnSpPr>
            <a:cxnSpLocks/>
          </p:cNvCxnSpPr>
          <p:nvPr/>
        </p:nvCxnSpPr>
        <p:spPr>
          <a:xfrm>
            <a:off x="4650949" y="2092475"/>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4DDD295-613D-2747-8E22-F034BAB19936}"/>
              </a:ext>
            </a:extLst>
          </p:cNvPr>
          <p:cNvCxnSpPr>
            <a:cxnSpLocks/>
          </p:cNvCxnSpPr>
          <p:nvPr/>
        </p:nvCxnSpPr>
        <p:spPr>
          <a:xfrm>
            <a:off x="5669808" y="2092475"/>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4A21A33-3646-E34E-9E05-3ED39B37EC0D}"/>
              </a:ext>
            </a:extLst>
          </p:cNvPr>
          <p:cNvCxnSpPr>
            <a:cxnSpLocks/>
          </p:cNvCxnSpPr>
          <p:nvPr/>
        </p:nvCxnSpPr>
        <p:spPr>
          <a:xfrm>
            <a:off x="2398816" y="1362144"/>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3122D89-75AE-B64D-9877-2E69DAC876D9}"/>
              </a:ext>
            </a:extLst>
          </p:cNvPr>
          <p:cNvCxnSpPr>
            <a:cxnSpLocks/>
          </p:cNvCxnSpPr>
          <p:nvPr/>
        </p:nvCxnSpPr>
        <p:spPr>
          <a:xfrm>
            <a:off x="3493985" y="1335754"/>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4C4DC48-2404-444A-A45A-2A39DE812DD5}"/>
              </a:ext>
            </a:extLst>
          </p:cNvPr>
          <p:cNvCxnSpPr>
            <a:cxnSpLocks/>
          </p:cNvCxnSpPr>
          <p:nvPr/>
        </p:nvCxnSpPr>
        <p:spPr>
          <a:xfrm>
            <a:off x="4650949" y="1326297"/>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8A5592-C990-7147-9995-378631F41A45}"/>
              </a:ext>
            </a:extLst>
          </p:cNvPr>
          <p:cNvCxnSpPr>
            <a:cxnSpLocks/>
          </p:cNvCxnSpPr>
          <p:nvPr/>
        </p:nvCxnSpPr>
        <p:spPr>
          <a:xfrm>
            <a:off x="5734683"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C2B277C-7246-5D40-898F-75E34A31980A}"/>
              </a:ext>
            </a:extLst>
          </p:cNvPr>
          <p:cNvCxnSpPr>
            <a:cxnSpLocks/>
          </p:cNvCxnSpPr>
          <p:nvPr/>
        </p:nvCxnSpPr>
        <p:spPr>
          <a:xfrm>
            <a:off x="6768935"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33237D6-F8B0-394B-A35A-1AD27DE7F217}"/>
              </a:ext>
            </a:extLst>
          </p:cNvPr>
          <p:cNvCxnSpPr>
            <a:cxnSpLocks/>
          </p:cNvCxnSpPr>
          <p:nvPr/>
        </p:nvCxnSpPr>
        <p:spPr>
          <a:xfrm>
            <a:off x="7868283" y="1335754"/>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15EFF9-8B68-164F-812E-4CB2208CCD16}"/>
              </a:ext>
            </a:extLst>
          </p:cNvPr>
          <p:cNvCxnSpPr>
            <a:cxnSpLocks/>
          </p:cNvCxnSpPr>
          <p:nvPr/>
        </p:nvCxnSpPr>
        <p:spPr>
          <a:xfrm>
            <a:off x="8968949" y="1326297"/>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4A3B476-F0C3-0B42-BDB3-9C5CF316C96D}"/>
              </a:ext>
            </a:extLst>
          </p:cNvPr>
          <p:cNvCxnSpPr>
            <a:cxnSpLocks/>
          </p:cNvCxnSpPr>
          <p:nvPr/>
        </p:nvCxnSpPr>
        <p:spPr>
          <a:xfrm>
            <a:off x="10069616"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30ED6CF-2874-4942-9688-470847D9D8AB}"/>
              </a:ext>
            </a:extLst>
          </p:cNvPr>
          <p:cNvCxnSpPr>
            <a:cxnSpLocks/>
          </p:cNvCxnSpPr>
          <p:nvPr/>
        </p:nvCxnSpPr>
        <p:spPr>
          <a:xfrm>
            <a:off x="11153350" y="1316840"/>
            <a:ext cx="8523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2B91548-5C2F-0447-B019-5B6D8EE70CB1}"/>
              </a:ext>
            </a:extLst>
          </p:cNvPr>
          <p:cNvSpPr txBox="1"/>
          <p:nvPr/>
        </p:nvSpPr>
        <p:spPr>
          <a:xfrm>
            <a:off x="486888" y="843148"/>
            <a:ext cx="1358845" cy="369332"/>
          </a:xfrm>
          <a:prstGeom prst="rect">
            <a:avLst/>
          </a:prstGeom>
          <a:noFill/>
        </p:spPr>
        <p:txBody>
          <a:bodyPr wrap="square" rtlCol="0">
            <a:spAutoFit/>
          </a:bodyPr>
          <a:lstStyle/>
          <a:p>
            <a:r>
              <a:rPr lang="en-CN" dirty="0"/>
              <a:t>energy</a:t>
            </a:r>
          </a:p>
        </p:txBody>
      </p:sp>
      <p:sp>
        <p:nvSpPr>
          <p:cNvPr id="30" name="TextBox 29">
            <a:extLst>
              <a:ext uri="{FF2B5EF4-FFF2-40B4-BE49-F238E27FC236}">
                <a16:creationId xmlns:a16="http://schemas.microsoft.com/office/drawing/2014/main" id="{2470F39A-D392-6C4E-9A2C-7304E0D74DA1}"/>
              </a:ext>
            </a:extLst>
          </p:cNvPr>
          <p:cNvSpPr txBox="1"/>
          <p:nvPr/>
        </p:nvSpPr>
        <p:spPr>
          <a:xfrm>
            <a:off x="8968949" y="320634"/>
            <a:ext cx="3285067" cy="369332"/>
          </a:xfrm>
          <a:prstGeom prst="rect">
            <a:avLst/>
          </a:prstGeom>
          <a:noFill/>
        </p:spPr>
        <p:txBody>
          <a:bodyPr wrap="square" rtlCol="0">
            <a:spAutoFit/>
          </a:bodyPr>
          <a:lstStyle/>
          <a:p>
            <a:r>
              <a:rPr lang="en-CN" dirty="0"/>
              <a:t>不考虑自旋</a:t>
            </a:r>
          </a:p>
        </p:txBody>
      </p:sp>
      <p:sp>
        <p:nvSpPr>
          <p:cNvPr id="31" name="TextBox 30">
            <a:extLst>
              <a:ext uri="{FF2B5EF4-FFF2-40B4-BE49-F238E27FC236}">
                <a16:creationId xmlns:a16="http://schemas.microsoft.com/office/drawing/2014/main" id="{23225962-D0F2-5646-8837-64D14CC806FC}"/>
              </a:ext>
            </a:extLst>
          </p:cNvPr>
          <p:cNvSpPr txBox="1"/>
          <p:nvPr/>
        </p:nvSpPr>
        <p:spPr>
          <a:xfrm>
            <a:off x="486888" y="5645520"/>
            <a:ext cx="1358845" cy="369332"/>
          </a:xfrm>
          <a:prstGeom prst="rect">
            <a:avLst/>
          </a:prstGeom>
          <a:noFill/>
        </p:spPr>
        <p:txBody>
          <a:bodyPr wrap="square" rtlCol="0">
            <a:spAutoFit/>
          </a:bodyPr>
          <a:lstStyle/>
          <a:p>
            <a:r>
              <a:rPr lang="en-CN" dirty="0"/>
              <a:t>-13.6ev</a:t>
            </a:r>
          </a:p>
        </p:txBody>
      </p:sp>
      <p:sp>
        <p:nvSpPr>
          <p:cNvPr id="32" name="TextBox 31">
            <a:extLst>
              <a:ext uri="{FF2B5EF4-FFF2-40B4-BE49-F238E27FC236}">
                <a16:creationId xmlns:a16="http://schemas.microsoft.com/office/drawing/2014/main" id="{CCC893AE-72AE-C542-B6FD-74FEB09B4731}"/>
              </a:ext>
            </a:extLst>
          </p:cNvPr>
          <p:cNvSpPr txBox="1"/>
          <p:nvPr/>
        </p:nvSpPr>
        <p:spPr>
          <a:xfrm>
            <a:off x="457859" y="1907809"/>
            <a:ext cx="1358845" cy="369332"/>
          </a:xfrm>
          <a:prstGeom prst="rect">
            <a:avLst/>
          </a:prstGeom>
          <a:noFill/>
        </p:spPr>
        <p:txBody>
          <a:bodyPr wrap="square" rtlCol="0">
            <a:spAutoFit/>
          </a:bodyPr>
          <a:lstStyle/>
          <a:p>
            <a:r>
              <a:rPr lang="en-CN" dirty="0"/>
              <a:t>-3.4ev</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D84ECFC-C060-AE4E-96AC-7455962B65A7}"/>
                  </a:ext>
                </a:extLst>
              </p:cNvPr>
              <p:cNvSpPr txBox="1"/>
              <p:nvPr/>
            </p:nvSpPr>
            <p:spPr>
              <a:xfrm>
                <a:off x="5198533" y="2777067"/>
                <a:ext cx="6553200" cy="2031325"/>
              </a:xfrm>
              <a:prstGeom prst="rect">
                <a:avLst/>
              </a:prstGeom>
              <a:solidFill>
                <a:schemeClr val="accent6"/>
              </a:solidFill>
            </p:spPr>
            <p:txBody>
              <a:bodyPr wrap="square" rtlCol="0">
                <a:spAutoFit/>
              </a:bodyPr>
              <a:lstStyle/>
              <a:p>
                <a:pPr marL="285750" indent="-285750">
                  <a:buFont typeface="Arial" panose="020B0604020202020204" pitchFamily="34" charset="0"/>
                  <a:buChar char="•"/>
                </a:pPr>
                <a:r>
                  <a:rPr lang="en-CN" dirty="0">
                    <a:solidFill>
                      <a:srgbClr val="FF0000"/>
                    </a:solidFill>
                  </a:rPr>
                  <a:t>为讨论方便</a:t>
                </a:r>
                <a:r>
                  <a:rPr lang="zh-CN" altLang="en-US" dirty="0">
                    <a:solidFill>
                      <a:srgbClr val="FF0000"/>
                    </a:solidFill>
                  </a:rPr>
                  <a:t>，选择两个特定的态</a:t>
                </a:r>
                <a:endParaRPr lang="en-US" altLang="zh-CN" dirty="0">
                  <a:solidFill>
                    <a:srgbClr val="FF0000"/>
                  </a:solidFill>
                </a:endParaRPr>
              </a:p>
              <a:p>
                <a:pPr marL="285750" indent="-285750">
                  <a:buFont typeface="Arial" panose="020B0604020202020204" pitchFamily="34" charset="0"/>
                  <a:buChar char="•"/>
                </a:pPr>
                <a:r>
                  <a:rPr lang="zh-CN" altLang="en-US" dirty="0">
                    <a:solidFill>
                      <a:srgbClr val="FF0000"/>
                    </a:solidFill>
                  </a:rPr>
                  <a:t>他们相应的概率分别记做</a:t>
                </a:r>
                <a14:m>
                  <m:oMath xmlns:m="http://schemas.openxmlformats.org/officeDocument/2006/math">
                    <m:r>
                      <a:rPr lang="en-US" altLang="zh-CN" b="0" i="1" smtClean="0">
                        <a:solidFill>
                          <a:srgbClr val="FF0000"/>
                        </a:solidFill>
                        <a:latin typeface="Cambria Math" panose="02040503050406030204" pitchFamily="18" charset="0"/>
                      </a:rPr>
                      <m:t>𝑃</m:t>
                    </m:r>
                    <m:d>
                      <m:dPr>
                        <m:ctrlPr>
                          <a:rPr lang="en-US" altLang="zh-CN" b="0" i="1" smtClean="0">
                            <a:solidFill>
                              <a:srgbClr val="FF0000"/>
                            </a:solidFill>
                            <a:latin typeface="Cambria Math" panose="02040503050406030204" pitchFamily="18" charset="0"/>
                          </a:rPr>
                        </m:ctrlPr>
                      </m:dPr>
                      <m:e>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𝑠</m:t>
                            </m:r>
                          </m:e>
                          <m:sub>
                            <m:r>
                              <a:rPr lang="en-US" altLang="zh-CN" b="0" i="1" smtClean="0">
                                <a:solidFill>
                                  <a:srgbClr val="FF0000"/>
                                </a:solidFill>
                                <a:latin typeface="Cambria Math" panose="02040503050406030204" pitchFamily="18" charset="0"/>
                              </a:rPr>
                              <m:t>1</m:t>
                            </m:r>
                          </m:sub>
                        </m:sSub>
                      </m:e>
                    </m:d>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𝑃</m:t>
                    </m:r>
                    <m:d>
                      <m:dPr>
                        <m:ctrlPr>
                          <a:rPr lang="en-US" altLang="zh-CN" b="0" i="1" smtClean="0">
                            <a:solidFill>
                              <a:srgbClr val="FF0000"/>
                            </a:solidFill>
                            <a:latin typeface="Cambria Math" panose="02040503050406030204" pitchFamily="18" charset="0"/>
                          </a:rPr>
                        </m:ctrlPr>
                      </m:dPr>
                      <m:e>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𝑠</m:t>
                            </m:r>
                          </m:e>
                          <m:sub>
                            <m:r>
                              <a:rPr lang="en-US" altLang="zh-CN" b="0" i="1" smtClean="0">
                                <a:solidFill>
                                  <a:srgbClr val="FF0000"/>
                                </a:solidFill>
                                <a:latin typeface="Cambria Math" panose="02040503050406030204" pitchFamily="18" charset="0"/>
                              </a:rPr>
                              <m:t>2</m:t>
                            </m:r>
                          </m:sub>
                        </m:sSub>
                      </m:e>
                    </m:d>
                  </m:oMath>
                </a14:m>
                <a:endParaRPr lang="en-US" altLang="zh-CN" b="0" dirty="0">
                  <a:solidFill>
                    <a:srgbClr val="FF0000"/>
                  </a:solidFill>
                </a:endParaRPr>
              </a:p>
              <a:p>
                <a:pPr marL="285750" indent="-285750">
                  <a:buFont typeface="Arial" panose="020B0604020202020204" pitchFamily="34" charset="0"/>
                  <a:buChar char="•"/>
                </a:pPr>
                <a:r>
                  <a:rPr lang="en-CN" dirty="0">
                    <a:solidFill>
                      <a:srgbClr val="FF0000"/>
                    </a:solidFill>
                  </a:rPr>
                  <a:t>我们唯一可以依赖的是统计物理基本假设</a:t>
                </a:r>
                <a:r>
                  <a:rPr lang="zh-CN" altLang="en-US" dirty="0">
                    <a:solidFill>
                      <a:srgbClr val="FF0000"/>
                    </a:solidFill>
                  </a:rPr>
                  <a:t>，孤立系统访问所有可及微观态的概率是一样的。</a:t>
                </a:r>
                <a:endParaRPr lang="en-US" altLang="zh-CN" dirty="0">
                  <a:solidFill>
                    <a:srgbClr val="FF0000"/>
                  </a:solidFill>
                </a:endParaRPr>
              </a:p>
              <a:p>
                <a:pPr marL="285750" indent="-285750">
                  <a:buFont typeface="Arial" panose="020B0604020202020204" pitchFamily="34" charset="0"/>
                  <a:buChar char="•"/>
                </a:pPr>
                <a:r>
                  <a:rPr lang="zh-CN" altLang="en-US" dirty="0">
                    <a:solidFill>
                      <a:schemeClr val="tx1"/>
                    </a:solidFill>
                  </a:rPr>
                  <a:t>特定的态</a:t>
                </a:r>
                <a14:m>
                  <m:oMath xmlns:m="http://schemas.openxmlformats.org/officeDocument/2006/math">
                    <m:sSub>
                      <m:sSubPr>
                        <m:ctrlPr>
                          <a:rPr lang="en-CN"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 </m:t>
                    </m:r>
                  </m:oMath>
                </a14:m>
                <a:r>
                  <a:rPr lang="en-US" altLang="zh-CN" dirty="0">
                    <a:solidFill>
                      <a:schemeClr val="tx1"/>
                    </a:solidFill>
                  </a:rPr>
                  <a:t>+</a:t>
                </a:r>
                <a:r>
                  <a:rPr lang="zh-CN" altLang="en-US" dirty="0">
                    <a:solidFill>
                      <a:schemeClr val="tx1"/>
                    </a:solidFill>
                  </a:rPr>
                  <a:t>热库（所有其他）构成孤立系统，假设热库的</a:t>
                </a:r>
                <a:r>
                  <a:rPr lang="en-US" altLang="zh-CN" dirty="0">
                    <a:solidFill>
                      <a:schemeClr val="tx1"/>
                    </a:solidFill>
                  </a:rPr>
                  <a:t>Multiplicity</a:t>
                </a:r>
                <a:r>
                  <a:rPr lang="zh-CN" altLang="en-US" dirty="0">
                    <a:solidFill>
                      <a:schemeClr val="tx1"/>
                    </a:solidFill>
                  </a:rPr>
                  <a:t>为</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𝑔</m:t>
                        </m:r>
                      </m:e>
                      <m:sub>
                        <m:r>
                          <a:rPr lang="en-US" altLang="zh-CN" b="0" i="1" smtClean="0">
                            <a:solidFill>
                              <a:schemeClr val="tx1"/>
                            </a:solidFill>
                            <a:latin typeface="Cambria Math" panose="02040503050406030204" pitchFamily="18" charset="0"/>
                          </a:rPr>
                          <m:t>𝑅</m:t>
                        </m:r>
                      </m:sub>
                    </m:sSub>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e>
                    </m:d>
                    <m:r>
                      <a:rPr lang="zh-CN" altLang="en-US" b="0" i="0" smtClean="0">
                        <a:solidFill>
                          <a:schemeClr val="tx1"/>
                        </a:solidFill>
                        <a:latin typeface="Cambria Math" panose="02040503050406030204" pitchFamily="18" charset="0"/>
                      </a:rPr>
                      <m:t>，</m:t>
                    </m:r>
                    <m:r>
                      <a:rPr lang="zh-CN" altLang="en-US" i="1">
                        <a:latin typeface="Cambria Math" panose="02040503050406030204" pitchFamily="18" charset="0"/>
                      </a:rPr>
                      <m:t>同样</m:t>
                    </m:r>
                    <m:r>
                      <a:rPr lang="zh-CN" altLang="en-US" i="1" smtClean="0">
                        <a:latin typeface="Cambria Math" panose="02040503050406030204" pitchFamily="18" charset="0"/>
                      </a:rPr>
                      <m:t>对</m:t>
                    </m:r>
                  </m:oMath>
                </a14:m>
                <a:r>
                  <a:rPr lang="zh-CN" altLang="en-US" dirty="0">
                    <a:solidFill>
                      <a:schemeClr val="tx1"/>
                    </a:solidFill>
                  </a:rPr>
                  <a:t> 第二个系统对应的热库的</a:t>
                </a:r>
                <a:r>
                  <a:rPr lang="en-US" altLang="zh-CN" dirty="0">
                    <a:solidFill>
                      <a:schemeClr val="tx1"/>
                    </a:solidFill>
                  </a:rPr>
                  <a:t>Multiplicity</a:t>
                </a:r>
                <a:r>
                  <a:rPr lang="zh-CN" altLang="en-US" dirty="0">
                    <a:solidFill>
                      <a:schemeClr val="tx1"/>
                    </a:solidFill>
                  </a:rPr>
                  <a:t>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𝑅</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e>
                    </m:d>
                  </m:oMath>
                </a14:m>
                <a:endParaRPr lang="en-CN" dirty="0">
                  <a:solidFill>
                    <a:schemeClr val="tx1"/>
                  </a:solidFill>
                </a:endParaRPr>
              </a:p>
            </p:txBody>
          </p:sp>
        </mc:Choice>
        <mc:Fallback xmlns="">
          <p:sp>
            <p:nvSpPr>
              <p:cNvPr id="33" name="TextBox 32">
                <a:extLst>
                  <a:ext uri="{FF2B5EF4-FFF2-40B4-BE49-F238E27FC236}">
                    <a16:creationId xmlns:a16="http://schemas.microsoft.com/office/drawing/2014/main" id="{0D84ECFC-C060-AE4E-96AC-7455962B65A7}"/>
                  </a:ext>
                </a:extLst>
              </p:cNvPr>
              <p:cNvSpPr txBox="1">
                <a:spLocks noRot="1" noChangeAspect="1" noMove="1" noResize="1" noEditPoints="1" noAdjustHandles="1" noChangeArrowheads="1" noChangeShapeType="1" noTextEdit="1"/>
              </p:cNvSpPr>
              <p:nvPr/>
            </p:nvSpPr>
            <p:spPr>
              <a:xfrm>
                <a:off x="5198533" y="2777067"/>
                <a:ext cx="6553200" cy="2031325"/>
              </a:xfrm>
              <a:prstGeom prst="rect">
                <a:avLst/>
              </a:prstGeom>
              <a:blipFill>
                <a:blip r:embed="rId3"/>
                <a:stretch>
                  <a:fillRect l="-580" t="-1242" b="-3727"/>
                </a:stretch>
              </a:blipFill>
            </p:spPr>
            <p:txBody>
              <a:bodyPr/>
              <a:lstStyle/>
              <a:p>
                <a:r>
                  <a:rPr lang="en-CN">
                    <a:noFill/>
                  </a:rPr>
                  <a:t> </a:t>
                </a:r>
              </a:p>
            </p:txBody>
          </p:sp>
        </mc:Fallback>
      </mc:AlternateContent>
      <p:sp>
        <p:nvSpPr>
          <p:cNvPr id="2" name="Oval 1">
            <a:extLst>
              <a:ext uri="{FF2B5EF4-FFF2-40B4-BE49-F238E27FC236}">
                <a16:creationId xmlns:a16="http://schemas.microsoft.com/office/drawing/2014/main" id="{FABAFA00-90E2-8B45-B4C6-B5C72293C121}"/>
              </a:ext>
            </a:extLst>
          </p:cNvPr>
          <p:cNvSpPr/>
          <p:nvPr/>
        </p:nvSpPr>
        <p:spPr>
          <a:xfrm>
            <a:off x="1983179" y="5362390"/>
            <a:ext cx="1640548" cy="8690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4" name="Oval 33">
            <a:extLst>
              <a:ext uri="{FF2B5EF4-FFF2-40B4-BE49-F238E27FC236}">
                <a16:creationId xmlns:a16="http://schemas.microsoft.com/office/drawing/2014/main" id="{02D352E7-6EEA-BC48-9D71-C9AEAF1E45C7}"/>
              </a:ext>
            </a:extLst>
          </p:cNvPr>
          <p:cNvSpPr/>
          <p:nvPr/>
        </p:nvSpPr>
        <p:spPr>
          <a:xfrm>
            <a:off x="3417675" y="1707608"/>
            <a:ext cx="1066798" cy="8690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D0F34A-CD57-8643-989B-0380CCC3AC49}"/>
                  </a:ext>
                </a:extLst>
              </p:cNvPr>
              <p:cNvSpPr txBox="1"/>
              <p:nvPr/>
            </p:nvSpPr>
            <p:spPr>
              <a:xfrm>
                <a:off x="3826933" y="5866410"/>
                <a:ext cx="18428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5" name="TextBox 4">
                <a:extLst>
                  <a:ext uri="{FF2B5EF4-FFF2-40B4-BE49-F238E27FC236}">
                    <a16:creationId xmlns:a16="http://schemas.microsoft.com/office/drawing/2014/main" id="{25D0F34A-CD57-8643-989B-0380CCC3AC49}"/>
                  </a:ext>
                </a:extLst>
              </p:cNvPr>
              <p:cNvSpPr txBox="1">
                <a:spLocks noRot="1" noChangeAspect="1" noMove="1" noResize="1" noEditPoints="1" noAdjustHandles="1" noChangeArrowheads="1" noChangeShapeType="1" noTextEdit="1"/>
              </p:cNvSpPr>
              <p:nvPr/>
            </p:nvSpPr>
            <p:spPr>
              <a:xfrm>
                <a:off x="3826933" y="5866410"/>
                <a:ext cx="1842875" cy="369332"/>
              </a:xfrm>
              <a:prstGeom prst="rect">
                <a:avLst/>
              </a:prstGeom>
              <a:blipFill>
                <a:blip r:embed="rId4"/>
                <a:stretch>
                  <a:fillRect b="-129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7F0BF00-6407-2147-88B6-F0EF7569C3E3}"/>
                  </a:ext>
                </a:extLst>
              </p:cNvPr>
              <p:cNvSpPr txBox="1"/>
              <p:nvPr/>
            </p:nvSpPr>
            <p:spPr>
              <a:xfrm>
                <a:off x="2791141" y="2615980"/>
                <a:ext cx="18428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35" name="TextBox 34">
                <a:extLst>
                  <a:ext uri="{FF2B5EF4-FFF2-40B4-BE49-F238E27FC236}">
                    <a16:creationId xmlns:a16="http://schemas.microsoft.com/office/drawing/2014/main" id="{D7F0BF00-6407-2147-88B6-F0EF7569C3E3}"/>
                  </a:ext>
                </a:extLst>
              </p:cNvPr>
              <p:cNvSpPr txBox="1">
                <a:spLocks noRot="1" noChangeAspect="1" noMove="1" noResize="1" noEditPoints="1" noAdjustHandles="1" noChangeArrowheads="1" noChangeShapeType="1" noTextEdit="1"/>
              </p:cNvSpPr>
              <p:nvPr/>
            </p:nvSpPr>
            <p:spPr>
              <a:xfrm>
                <a:off x="2791141" y="2615980"/>
                <a:ext cx="1842875" cy="369332"/>
              </a:xfrm>
              <a:prstGeom prst="rect">
                <a:avLst/>
              </a:prstGeom>
              <a:blipFill>
                <a:blip r:embed="rId5"/>
                <a:stretch>
                  <a:fillRect b="-12903"/>
                </a:stretch>
              </a:blipFill>
            </p:spPr>
            <p:txBody>
              <a:bodyPr/>
              <a:lstStyle/>
              <a:p>
                <a:r>
                  <a:rPr lang="en-CN">
                    <a:noFill/>
                  </a:rPr>
                  <a:t> </a:t>
                </a:r>
              </a:p>
            </p:txBody>
          </p:sp>
        </mc:Fallback>
      </mc:AlternateContent>
    </p:spTree>
    <p:extLst>
      <p:ext uri="{BB962C8B-B14F-4D97-AF65-F5344CB8AC3E}">
        <p14:creationId xmlns:p14="http://schemas.microsoft.com/office/powerpoint/2010/main" val="1385368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486888" y="320634"/>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利用基本假设我们有</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A013FB-CE0C-7247-9BFA-A064E1C03BCA}"/>
                  </a:ext>
                </a:extLst>
              </p:cNvPr>
              <p:cNvSpPr txBox="1"/>
              <p:nvPr/>
            </p:nvSpPr>
            <p:spPr>
              <a:xfrm>
                <a:off x="4346369" y="2101932"/>
                <a:ext cx="2422566" cy="369332"/>
              </a:xfrm>
              <a:prstGeom prst="rect">
                <a:avLst/>
              </a:prstGeom>
              <a:noFill/>
            </p:spPr>
            <p:txBody>
              <a:bodyPr wrap="square" rtlCol="0">
                <a:spAutoFit/>
              </a:bodyPr>
              <a:lstStyle/>
              <a:p>
                <a:r>
                  <a:rPr lang="en-CN" dirty="0">
                    <a:solidFill>
                      <a:schemeClr val="bg1"/>
                    </a:solidFill>
                  </a:rPr>
                  <a:t>热库</a:t>
                </a:r>
                <a:r>
                  <a:rPr lang="zh-CN" altLang="en-US" dirty="0">
                    <a:solidFill>
                      <a:schemeClr val="bg1"/>
                    </a:solidFill>
                  </a:rPr>
                  <a:t>，</a:t>
                </a:r>
                <a14:m>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𝑈</m:t>
                        </m:r>
                      </m:e>
                      <m:sub>
                        <m:r>
                          <a:rPr lang="en-US" altLang="zh-CN" b="0" i="1" smtClean="0">
                            <a:solidFill>
                              <a:schemeClr val="bg1"/>
                            </a:solidFill>
                            <a:latin typeface="Cambria Math" panose="02040503050406030204" pitchFamily="18" charset="0"/>
                          </a:rPr>
                          <m:t>𝑅</m:t>
                        </m:r>
                      </m:sub>
                    </m:sSub>
                  </m:oMath>
                </a14:m>
                <a:endParaRPr lang="en-CN" dirty="0">
                  <a:solidFill>
                    <a:schemeClr val="bg1"/>
                  </a:solidFill>
                </a:endParaRPr>
              </a:p>
            </p:txBody>
          </p:sp>
        </mc:Choice>
        <mc:Fallback xmlns="">
          <p:sp>
            <p:nvSpPr>
              <p:cNvPr id="7" name="TextBox 6">
                <a:extLst>
                  <a:ext uri="{FF2B5EF4-FFF2-40B4-BE49-F238E27FC236}">
                    <a16:creationId xmlns:a16="http://schemas.microsoft.com/office/drawing/2014/main" id="{7BA013FB-CE0C-7247-9BFA-A064E1C03BCA}"/>
                  </a:ext>
                </a:extLst>
              </p:cNvPr>
              <p:cNvSpPr txBox="1">
                <a:spLocks noRot="1" noChangeAspect="1" noMove="1" noResize="1" noEditPoints="1" noAdjustHandles="1" noChangeArrowheads="1" noChangeShapeType="1" noTextEdit="1"/>
              </p:cNvSpPr>
              <p:nvPr/>
            </p:nvSpPr>
            <p:spPr>
              <a:xfrm>
                <a:off x="4346369" y="2101932"/>
                <a:ext cx="2422566" cy="369332"/>
              </a:xfrm>
              <a:prstGeom prst="rect">
                <a:avLst/>
              </a:prstGeom>
              <a:blipFill>
                <a:blip r:embed="rId2"/>
                <a:stretch>
                  <a:fillRect l="-2094"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19E4FE-27D7-5C46-AFCF-038D75213C34}"/>
                  </a:ext>
                </a:extLst>
              </p:cNvPr>
              <p:cNvSpPr txBox="1"/>
              <p:nvPr/>
            </p:nvSpPr>
            <p:spPr>
              <a:xfrm>
                <a:off x="1083734" y="897467"/>
                <a:ext cx="6468533" cy="680699"/>
              </a:xfrm>
              <a:prstGeom prst="rect">
                <a:avLst/>
              </a:prstGeom>
              <a:noFill/>
            </p:spPr>
            <p:txBody>
              <a:bodyPr wrap="square" rtlCol="0">
                <a:spAutoFit/>
              </a:bodyPr>
              <a:lstStyle/>
              <a:p>
                <a14:m>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den>
                    </m:f>
                    <m:r>
                      <a:rPr lang="en-US" sz="2400" b="0" i="1" smtClean="0">
                        <a:latin typeface="Cambria Math" panose="02040503050406030204" pitchFamily="18" charset="0"/>
                      </a:rPr>
                      <m:t>=</m:t>
                    </m:r>
                  </m:oMath>
                </a14:m>
                <a:r>
                  <a:rPr lang="en-US" sz="2400" dirty="0"/>
                  <a:t>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𝑀𝑢𝑙𝑡𝑖𝑝𝑙𝑖𝑐𝑖𝑡𝑦</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𝑅</m:t>
                        </m:r>
                        <m:r>
                          <a:rPr lang="en-US" sz="2400" b="0" i="1" smtClean="0">
                            <a:latin typeface="Cambria Math" panose="02040503050406030204" pitchFamily="18" charset="0"/>
                          </a:rPr>
                          <m:t> </m:t>
                        </m:r>
                        <m:r>
                          <a:rPr lang="en-US" sz="2400" b="0" i="1" smtClean="0">
                            <a:latin typeface="Cambria Math" panose="02040503050406030204" pitchFamily="18" charset="0"/>
                          </a:rPr>
                          <m:t>𝑎𝑡</m:t>
                        </m:r>
                        <m:r>
                          <a:rPr lang="en-US" sz="2400" b="0" i="1" smtClean="0">
                            <a:latin typeface="Cambria Math" panose="02040503050406030204" pitchFamily="18" charset="0"/>
                          </a:rPr>
                          <m:t> </m:t>
                        </m:r>
                        <m:r>
                          <a:rPr lang="en-US" sz="2400" b="0" i="1" smtClean="0">
                            <a:latin typeface="Cambria Math" panose="02040503050406030204" pitchFamily="18" charset="0"/>
                          </a:rPr>
                          <m:t>𝑒𝑛𝑒𝑟𝑔𝑦</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𝑈</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rPr>
                              <m:t>2</m:t>
                            </m:r>
                          </m:sub>
                        </m:sSub>
                      </m:num>
                      <m:den>
                        <m:r>
                          <a:rPr lang="en-US" sz="2400" b="0" i="1" smtClean="0">
                            <a:latin typeface="Cambria Math" panose="02040503050406030204" pitchFamily="18" charset="0"/>
                          </a:rPr>
                          <m:t>𝑀𝑢𝑙𝑡𝑖𝑝𝑙𝑖𝑐𝑖𝑡𝑦</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𝑅</m:t>
                        </m:r>
                        <m:r>
                          <a:rPr lang="en-US" sz="2400" b="0" i="1" smtClean="0">
                            <a:latin typeface="Cambria Math" panose="02040503050406030204" pitchFamily="18" charset="0"/>
                          </a:rPr>
                          <m:t> </m:t>
                        </m:r>
                        <m:r>
                          <a:rPr lang="en-US" sz="2400" b="0" i="1" smtClean="0">
                            <a:latin typeface="Cambria Math" panose="02040503050406030204" pitchFamily="18" charset="0"/>
                          </a:rPr>
                          <m:t>𝑎𝑡</m:t>
                        </m:r>
                        <m:r>
                          <a:rPr lang="en-US" sz="2400" b="0" i="1" smtClean="0">
                            <a:latin typeface="Cambria Math" panose="02040503050406030204" pitchFamily="18" charset="0"/>
                          </a:rPr>
                          <m:t> </m:t>
                        </m:r>
                        <m:r>
                          <a:rPr lang="en-US" sz="2400" b="0" i="1" smtClean="0">
                            <a:latin typeface="Cambria Math" panose="02040503050406030204" pitchFamily="18" charset="0"/>
                          </a:rPr>
                          <m:t>𝑒𝑛𝑒𝑟𝑔𝑦</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1</m:t>
                            </m:r>
                          </m:sub>
                        </m:sSub>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𝑔</m:t>
                            </m:r>
                          </m:e>
                          <m:sub>
                            <m:r>
                              <a:rPr lang="en-US" sz="2400" b="0" i="1" smtClean="0">
                                <a:latin typeface="Cambria Math" panose="02040503050406030204" pitchFamily="18" charset="0"/>
                                <a:ea typeface="Cambria Math" panose="02040503050406030204" pitchFamily="18" charset="0"/>
                              </a:rPr>
                              <m:t>𝑅</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𝑠</m:t>
                            </m:r>
                          </m:e>
                          <m:sub>
                            <m:r>
                              <a:rPr lang="en-US" sz="2400" b="0" i="1" smtClean="0">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ea typeface="Cambria Math" panose="02040503050406030204" pitchFamily="18" charset="0"/>
                          </a:rPr>
                          <m:t>)</m:t>
                        </m:r>
                      </m:num>
                      <m:den>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𝑔</m:t>
                            </m:r>
                          </m:e>
                          <m:sub>
                            <m:r>
                              <a:rPr lang="en-US" sz="2400" b="0" i="1" smtClean="0">
                                <a:latin typeface="Cambria Math" panose="02040503050406030204" pitchFamily="18" charset="0"/>
                                <a:ea typeface="Cambria Math" panose="02040503050406030204" pitchFamily="18" charset="0"/>
                              </a:rPr>
                              <m:t>𝑅</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𝑠</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den>
                    </m:f>
                  </m:oMath>
                </a14:m>
                <a:endParaRPr lang="en-CN" sz="2400" dirty="0"/>
              </a:p>
            </p:txBody>
          </p:sp>
        </mc:Choice>
        <mc:Fallback xmlns="">
          <p:sp>
            <p:nvSpPr>
              <p:cNvPr id="2" name="TextBox 1">
                <a:extLst>
                  <a:ext uri="{FF2B5EF4-FFF2-40B4-BE49-F238E27FC236}">
                    <a16:creationId xmlns:a16="http://schemas.microsoft.com/office/drawing/2014/main" id="{7619E4FE-27D7-5C46-AFCF-038D75213C34}"/>
                  </a:ext>
                </a:extLst>
              </p:cNvPr>
              <p:cNvSpPr txBox="1">
                <a:spLocks noRot="1" noChangeAspect="1" noMove="1" noResize="1" noEditPoints="1" noAdjustHandles="1" noChangeArrowheads="1" noChangeShapeType="1" noTextEdit="1"/>
              </p:cNvSpPr>
              <p:nvPr/>
            </p:nvSpPr>
            <p:spPr>
              <a:xfrm>
                <a:off x="1083734" y="897467"/>
                <a:ext cx="6468533" cy="680699"/>
              </a:xfrm>
              <a:prstGeom prst="rect">
                <a:avLst/>
              </a:prstGeom>
              <a:blipFill>
                <a:blip r:embed="rId3"/>
                <a:stretch>
                  <a:fillRect b="-9091"/>
                </a:stretch>
              </a:blipFill>
            </p:spPr>
            <p:txBody>
              <a:bodyPr/>
              <a:lstStyle/>
              <a:p>
                <a:r>
                  <a:rPr lang="en-CN">
                    <a:noFill/>
                  </a:rPr>
                  <a:t> </a:t>
                </a:r>
              </a:p>
            </p:txBody>
          </p:sp>
        </mc:Fallback>
      </mc:AlternateContent>
      <p:sp>
        <p:nvSpPr>
          <p:cNvPr id="9" name="TextBox 8">
            <a:extLst>
              <a:ext uri="{FF2B5EF4-FFF2-40B4-BE49-F238E27FC236}">
                <a16:creationId xmlns:a16="http://schemas.microsoft.com/office/drawing/2014/main" id="{1F31F994-FC3F-9A40-AB99-F151E9F21A7C}"/>
              </a:ext>
            </a:extLst>
          </p:cNvPr>
          <p:cNvSpPr txBox="1"/>
          <p:nvPr/>
        </p:nvSpPr>
        <p:spPr>
          <a:xfrm>
            <a:off x="486887" y="5145563"/>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用熵来表达</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4D6E75D-C76B-A945-8535-740913C14B53}"/>
                  </a:ext>
                </a:extLst>
              </p:cNvPr>
              <p:cNvSpPr txBox="1"/>
              <p:nvPr/>
            </p:nvSpPr>
            <p:spPr>
              <a:xfrm>
                <a:off x="287867" y="5752897"/>
                <a:ext cx="5808133" cy="91537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𝑅</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𝑅</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1</m:t>
                                  </m:r>
                                </m:sub>
                              </m:sSub>
                              <m:r>
                                <a:rPr lang="en-US" sz="2400" i="1">
                                  <a:latin typeface="Cambria Math" panose="02040503050406030204" pitchFamily="18" charset="0"/>
                                </a:rPr>
                                <m:t>) </m:t>
                              </m:r>
                            </m:sup>
                          </m:sSup>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𝑅</m:t>
                              </m:r>
                            </m:sub>
                          </m:sSub>
                          <m:d>
                            <m:dPr>
                              <m:ctrlPr>
                                <a:rPr lang="en-US" sz="2400" i="1">
                                  <a:latin typeface="Cambria Math" panose="02040503050406030204" pitchFamily="18" charset="0"/>
                                </a:rPr>
                              </m:ctrlPr>
                            </m:dPr>
                            <m:e>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2</m:t>
                                  </m:r>
                                </m:sub>
                              </m:sSub>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𝑅</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1</m:t>
                              </m:r>
                            </m:sub>
                          </m:sSub>
                          <m:r>
                            <a:rPr lang="en-US" sz="2400" i="1">
                              <a:latin typeface="Cambria Math" panose="02040503050406030204" pitchFamily="18" charset="0"/>
                            </a:rPr>
                            <m:t>)</m:t>
                          </m:r>
                        </m:sup>
                      </m:sSup>
                    </m:oMath>
                  </m:oMathPara>
                </a14:m>
                <a:endParaRPr lang="en-CN" sz="2400" dirty="0"/>
              </a:p>
            </p:txBody>
          </p:sp>
        </mc:Choice>
        <mc:Fallback xmlns="">
          <p:sp>
            <p:nvSpPr>
              <p:cNvPr id="10" name="TextBox 9">
                <a:extLst>
                  <a:ext uri="{FF2B5EF4-FFF2-40B4-BE49-F238E27FC236}">
                    <a16:creationId xmlns:a16="http://schemas.microsoft.com/office/drawing/2014/main" id="{74D6E75D-C76B-A945-8535-740913C14B53}"/>
                  </a:ext>
                </a:extLst>
              </p:cNvPr>
              <p:cNvSpPr txBox="1">
                <a:spLocks noRot="1" noChangeAspect="1" noMove="1" noResize="1" noEditPoints="1" noAdjustHandles="1" noChangeArrowheads="1" noChangeShapeType="1" noTextEdit="1"/>
              </p:cNvSpPr>
              <p:nvPr/>
            </p:nvSpPr>
            <p:spPr>
              <a:xfrm>
                <a:off x="287867" y="5752897"/>
                <a:ext cx="5808133" cy="915379"/>
              </a:xfrm>
              <a:prstGeom prst="rect">
                <a:avLst/>
              </a:prstGeom>
              <a:blipFill>
                <a:blip r:embed="rId4"/>
                <a:stretch>
                  <a:fillRect b="-8219"/>
                </a:stretch>
              </a:blipFill>
            </p:spPr>
            <p:txBody>
              <a:bodyPr/>
              <a:lstStyle/>
              <a:p>
                <a:r>
                  <a:rPr lang="en-CN">
                    <a:noFill/>
                  </a:rPr>
                  <a:t> </a:t>
                </a:r>
              </a:p>
            </p:txBody>
          </p:sp>
        </mc:Fallback>
      </mc:AlternateContent>
      <p:sp>
        <p:nvSpPr>
          <p:cNvPr id="3" name="Rectangle 2">
            <a:extLst>
              <a:ext uri="{FF2B5EF4-FFF2-40B4-BE49-F238E27FC236}">
                <a16:creationId xmlns:a16="http://schemas.microsoft.com/office/drawing/2014/main" id="{856A9CBB-F827-1D4F-9273-C8354F79CCD7}"/>
              </a:ext>
            </a:extLst>
          </p:cNvPr>
          <p:cNvSpPr/>
          <p:nvPr/>
        </p:nvSpPr>
        <p:spPr>
          <a:xfrm>
            <a:off x="7027333" y="2101932"/>
            <a:ext cx="2861734" cy="2690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5CD5EB23-EF60-F24B-8389-2949FA9BDB8C}"/>
              </a:ext>
            </a:extLst>
          </p:cNvPr>
          <p:cNvSpPr/>
          <p:nvPr/>
        </p:nvSpPr>
        <p:spPr>
          <a:xfrm>
            <a:off x="2042774" y="2119463"/>
            <a:ext cx="2861734" cy="2690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00F1860A-2234-CA40-A5BD-38E0C114AA1A}"/>
              </a:ext>
            </a:extLst>
          </p:cNvPr>
          <p:cNvSpPr/>
          <p:nvPr/>
        </p:nvSpPr>
        <p:spPr>
          <a:xfrm>
            <a:off x="3759200" y="3776133"/>
            <a:ext cx="1145308" cy="101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C9C2363-8AB0-0A42-A73C-3FE4D3456C67}"/>
                  </a:ext>
                </a:extLst>
              </p:cNvPr>
              <p:cNvSpPr txBox="1"/>
              <p:nvPr/>
            </p:nvSpPr>
            <p:spPr>
              <a:xfrm>
                <a:off x="7208103" y="2335894"/>
                <a:ext cx="2540000" cy="923330"/>
              </a:xfrm>
              <a:prstGeom prst="rect">
                <a:avLst/>
              </a:prstGeom>
              <a:noFill/>
            </p:spPr>
            <p:txBody>
              <a:bodyPr wrap="square" rtlCol="0">
                <a:spAutoFit/>
              </a:bodyPr>
              <a:lstStyle/>
              <a:p>
                <a:r>
                  <a:rPr lang="en-CN" dirty="0"/>
                  <a:t>Total System</a:t>
                </a:r>
              </a:p>
              <a:p>
                <a:endParaRPr lang="en-CN" dirty="0"/>
              </a:p>
              <a:p>
                <a:r>
                  <a:rPr lang="en-CN" dirty="0"/>
                  <a:t>Constant Energy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oMath>
                </a14:m>
                <a:endParaRPr lang="en-CN" dirty="0"/>
              </a:p>
            </p:txBody>
          </p:sp>
        </mc:Choice>
        <mc:Fallback xmlns="">
          <p:sp>
            <p:nvSpPr>
              <p:cNvPr id="13" name="TextBox 12">
                <a:extLst>
                  <a:ext uri="{FF2B5EF4-FFF2-40B4-BE49-F238E27FC236}">
                    <a16:creationId xmlns:a16="http://schemas.microsoft.com/office/drawing/2014/main" id="{CC9C2363-8AB0-0A42-A73C-3FE4D3456C67}"/>
                  </a:ext>
                </a:extLst>
              </p:cNvPr>
              <p:cNvSpPr txBox="1">
                <a:spLocks noRot="1" noChangeAspect="1" noMove="1" noResize="1" noEditPoints="1" noAdjustHandles="1" noChangeArrowheads="1" noChangeShapeType="1" noTextEdit="1"/>
              </p:cNvSpPr>
              <p:nvPr/>
            </p:nvSpPr>
            <p:spPr>
              <a:xfrm>
                <a:off x="7208103" y="2335894"/>
                <a:ext cx="2540000" cy="923330"/>
              </a:xfrm>
              <a:prstGeom prst="rect">
                <a:avLst/>
              </a:prstGeom>
              <a:blipFill>
                <a:blip r:embed="rId5"/>
                <a:stretch>
                  <a:fillRect l="-1990" t="-2703" b="-945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A277785-F1E6-684E-A59A-5123A055B38E}"/>
                  </a:ext>
                </a:extLst>
              </p:cNvPr>
              <p:cNvSpPr txBox="1"/>
              <p:nvPr/>
            </p:nvSpPr>
            <p:spPr>
              <a:xfrm>
                <a:off x="2155921" y="2177549"/>
                <a:ext cx="2540000" cy="923330"/>
              </a:xfrm>
              <a:prstGeom prst="rect">
                <a:avLst/>
              </a:prstGeom>
              <a:noFill/>
            </p:spPr>
            <p:txBody>
              <a:bodyPr wrap="square" rtlCol="0">
                <a:spAutoFit/>
              </a:bodyPr>
              <a:lstStyle/>
              <a:p>
                <a:r>
                  <a:rPr lang="en-CN" dirty="0"/>
                  <a:t>Reservior</a:t>
                </a:r>
              </a:p>
              <a:p>
                <a:endParaRPr lang="en-CN" dirty="0"/>
              </a:p>
              <a:p>
                <a:r>
                  <a:rPr lang="en-CN" dirty="0"/>
                  <a:t>Energy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a14:m>
                <a:endParaRPr lang="en-CN" dirty="0"/>
              </a:p>
            </p:txBody>
          </p:sp>
        </mc:Choice>
        <mc:Fallback xmlns="">
          <p:sp>
            <p:nvSpPr>
              <p:cNvPr id="14" name="TextBox 13">
                <a:extLst>
                  <a:ext uri="{FF2B5EF4-FFF2-40B4-BE49-F238E27FC236}">
                    <a16:creationId xmlns:a16="http://schemas.microsoft.com/office/drawing/2014/main" id="{FA277785-F1E6-684E-A59A-5123A055B38E}"/>
                  </a:ext>
                </a:extLst>
              </p:cNvPr>
              <p:cNvSpPr txBox="1">
                <a:spLocks noRot="1" noChangeAspect="1" noMove="1" noResize="1" noEditPoints="1" noAdjustHandles="1" noChangeArrowheads="1" noChangeShapeType="1" noTextEdit="1"/>
              </p:cNvSpPr>
              <p:nvPr/>
            </p:nvSpPr>
            <p:spPr>
              <a:xfrm>
                <a:off x="2155921" y="2177549"/>
                <a:ext cx="2540000" cy="923330"/>
              </a:xfrm>
              <a:prstGeom prst="rect">
                <a:avLst/>
              </a:prstGeom>
              <a:blipFill>
                <a:blip r:embed="rId6"/>
                <a:stretch>
                  <a:fillRect l="-1990" t="-2703" b="-945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E65D03F-7BC2-2D45-ABF0-001C352047FC}"/>
                  </a:ext>
                </a:extLst>
              </p:cNvPr>
              <p:cNvSpPr txBox="1"/>
              <p:nvPr/>
            </p:nvSpPr>
            <p:spPr>
              <a:xfrm>
                <a:off x="3759200" y="3916633"/>
                <a:ext cx="1145308" cy="646331"/>
              </a:xfrm>
              <a:prstGeom prst="rect">
                <a:avLst/>
              </a:prstGeom>
              <a:noFill/>
            </p:spPr>
            <p:txBody>
              <a:bodyPr wrap="square" rtlCol="0">
                <a:spAutoFit/>
              </a:bodyPr>
              <a:lstStyle/>
              <a:p>
                <a:r>
                  <a:rPr lang="en-CN" dirty="0"/>
                  <a:t>System</a:t>
                </a:r>
              </a:p>
              <a:p>
                <a:r>
                  <a:rPr lang="en-CN" dirty="0"/>
                  <a:t>Energy </a:t>
                </a:r>
                <a14:m>
                  <m:oMath xmlns:m="http://schemas.openxmlformats.org/officeDocument/2006/math">
                    <m:r>
                      <a:rPr lang="en-CN" i="1" smtClean="0">
                        <a:latin typeface="Cambria Math" panose="02040503050406030204" pitchFamily="18" charset="0"/>
                        <a:ea typeface="Cambria Math" panose="02040503050406030204" pitchFamily="18" charset="0"/>
                      </a:rPr>
                      <m:t>𝜀</m:t>
                    </m:r>
                  </m:oMath>
                </a14:m>
                <a:endParaRPr lang="en-CN" dirty="0"/>
              </a:p>
            </p:txBody>
          </p:sp>
        </mc:Choice>
        <mc:Fallback xmlns="">
          <p:sp>
            <p:nvSpPr>
              <p:cNvPr id="15" name="TextBox 14">
                <a:extLst>
                  <a:ext uri="{FF2B5EF4-FFF2-40B4-BE49-F238E27FC236}">
                    <a16:creationId xmlns:a16="http://schemas.microsoft.com/office/drawing/2014/main" id="{EE65D03F-7BC2-2D45-ABF0-001C352047FC}"/>
                  </a:ext>
                </a:extLst>
              </p:cNvPr>
              <p:cNvSpPr txBox="1">
                <a:spLocks noRot="1" noChangeAspect="1" noMove="1" noResize="1" noEditPoints="1" noAdjustHandles="1" noChangeArrowheads="1" noChangeShapeType="1" noTextEdit="1"/>
              </p:cNvSpPr>
              <p:nvPr/>
            </p:nvSpPr>
            <p:spPr>
              <a:xfrm>
                <a:off x="3759200" y="3916633"/>
                <a:ext cx="1145308" cy="646331"/>
              </a:xfrm>
              <a:prstGeom prst="rect">
                <a:avLst/>
              </a:prstGeom>
              <a:blipFill>
                <a:blip r:embed="rId7"/>
                <a:stretch>
                  <a:fillRect l="-5495" t="-3846" b="-15385"/>
                </a:stretch>
              </a:blipFill>
            </p:spPr>
            <p:txBody>
              <a:bodyPr/>
              <a:lstStyle/>
              <a:p>
                <a:r>
                  <a:rPr lang="en-CN">
                    <a:noFill/>
                  </a:rPr>
                  <a:t> </a:t>
                </a:r>
              </a:p>
            </p:txBody>
          </p:sp>
        </mc:Fallback>
      </mc:AlternateContent>
      <p:sp>
        <p:nvSpPr>
          <p:cNvPr id="16" name="Left-Right Arrow 15">
            <a:extLst>
              <a:ext uri="{FF2B5EF4-FFF2-40B4-BE49-F238E27FC236}">
                <a16:creationId xmlns:a16="http://schemas.microsoft.com/office/drawing/2014/main" id="{C688BEED-0A2E-9648-9D00-802760A3144F}"/>
              </a:ext>
            </a:extLst>
          </p:cNvPr>
          <p:cNvSpPr/>
          <p:nvPr/>
        </p:nvSpPr>
        <p:spPr>
          <a:xfrm>
            <a:off x="5181600" y="3259224"/>
            <a:ext cx="1587335" cy="20533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2995983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29A24E-2B69-9C4A-91EF-9532CAEC8988}"/>
              </a:ext>
            </a:extLst>
          </p:cNvPr>
          <p:cNvSpPr txBox="1"/>
          <p:nvPr/>
        </p:nvSpPr>
        <p:spPr>
          <a:xfrm>
            <a:off x="486888" y="320634"/>
            <a:ext cx="4417621" cy="646331"/>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系统能量相对于总能量是一个小量</a:t>
            </a:r>
            <a:r>
              <a:rPr lang="zh-CN" altLang="en-US" dirty="0">
                <a:latin typeface="FangSong" panose="02010609060101010101" pitchFamily="49" charset="-122"/>
                <a:ea typeface="FangSong" panose="02010609060101010101" pitchFamily="49" charset="-122"/>
              </a:rPr>
              <a:t>，做</a:t>
            </a:r>
            <a:r>
              <a:rPr lang="en-US" altLang="zh-CN" dirty="0">
                <a:latin typeface="FangSong" panose="02010609060101010101" pitchFamily="49" charset="-122"/>
                <a:ea typeface="FangSong" panose="02010609060101010101" pitchFamily="49" charset="-122"/>
              </a:rPr>
              <a:t>Taylor</a:t>
            </a:r>
            <a:r>
              <a:rPr lang="zh-CN" altLang="en-US" dirty="0">
                <a:latin typeface="FangSong" panose="02010609060101010101" pitchFamily="49" charset="-122"/>
                <a:ea typeface="FangSong" panose="02010609060101010101" pitchFamily="49" charset="-122"/>
              </a:rPr>
              <a:t>展开</a:t>
            </a:r>
            <a:endParaRPr lang="en-CN"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D681795-AA0A-B14D-A980-DE8D296DA39F}"/>
                  </a:ext>
                </a:extLst>
              </p:cNvPr>
              <p:cNvSpPr txBox="1"/>
              <p:nvPr/>
            </p:nvSpPr>
            <p:spPr>
              <a:xfrm>
                <a:off x="2247899" y="1113872"/>
                <a:ext cx="8144933" cy="9607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𝑅</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𝑅</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𝜎</m:t>
                                      </m:r>
                                    </m:e>
                                    <m:sub>
                                      <m:r>
                                        <a:rPr lang="en-US" b="0" i="1" smtClean="0">
                                          <a:solidFill>
                                            <a:srgbClr val="FF0000"/>
                                          </a:solidFill>
                                          <a:latin typeface="Cambria Math" panose="02040503050406030204" pitchFamily="18" charset="0"/>
                                          <a:ea typeface="Cambria Math" panose="02040503050406030204" pitchFamily="18" charset="0"/>
                                        </a:rPr>
                                        <m:t>𝑅</m:t>
                                      </m:r>
                                    </m:sub>
                                  </m:sSub>
                                </m:num>
                                <m:den>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𝑈</m:t>
                                  </m:r>
                                </m:den>
                              </m:f>
                            </m:e>
                          </m:d>
                        </m:e>
                        <m:sub>
                          <m:r>
                            <a:rPr lang="en-US" b="0" i="1" smtClean="0">
                              <a:solidFill>
                                <a:srgbClr val="FF0000"/>
                              </a:solidFill>
                              <a:latin typeface="Cambria Math" panose="02040503050406030204" pitchFamily="18" charset="0"/>
                            </a:rPr>
                            <m:t>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oMath>
                  </m:oMathPara>
                </a14:m>
                <a:endParaRPr lang="en-US" b="0" dirty="0">
                  <a:ea typeface="Cambria Math" panose="02040503050406030204" pitchFamily="18" charset="0"/>
                </a:endParaRPr>
              </a:p>
              <a:p>
                <a:endParaRPr lang="en-CN" dirty="0"/>
              </a:p>
            </p:txBody>
          </p:sp>
        </mc:Choice>
        <mc:Fallback xmlns="">
          <p:sp>
            <p:nvSpPr>
              <p:cNvPr id="6" name="TextBox 5">
                <a:extLst>
                  <a:ext uri="{FF2B5EF4-FFF2-40B4-BE49-F238E27FC236}">
                    <a16:creationId xmlns:a16="http://schemas.microsoft.com/office/drawing/2014/main" id="{8D681795-AA0A-B14D-A980-DE8D296DA39F}"/>
                  </a:ext>
                </a:extLst>
              </p:cNvPr>
              <p:cNvSpPr txBox="1">
                <a:spLocks noRot="1" noChangeAspect="1" noMove="1" noResize="1" noEditPoints="1" noAdjustHandles="1" noChangeArrowheads="1" noChangeShapeType="1" noTextEdit="1"/>
              </p:cNvSpPr>
              <p:nvPr/>
            </p:nvSpPr>
            <p:spPr>
              <a:xfrm>
                <a:off x="2247899" y="1113872"/>
                <a:ext cx="8144933" cy="96071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A44A59-1264-364C-92F0-644FCF5E47B8}"/>
                  </a:ext>
                </a:extLst>
              </p:cNvPr>
              <p:cNvSpPr txBox="1"/>
              <p:nvPr/>
            </p:nvSpPr>
            <p:spPr>
              <a:xfrm>
                <a:off x="3496931" y="3576513"/>
                <a:ext cx="5808133" cy="947824"/>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𝑅</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𝑅</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1</m:t>
                                  </m:r>
                                </m:sub>
                              </m:sSub>
                              <m:r>
                                <a:rPr lang="en-US" sz="2400" i="1">
                                  <a:latin typeface="Cambria Math" panose="02040503050406030204" pitchFamily="18" charset="0"/>
                                </a:rPr>
                                <m:t>) </m:t>
                              </m:r>
                            </m:sup>
                          </m:sSup>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𝑅</m:t>
                              </m:r>
                            </m:sub>
                          </m:sSub>
                          <m:d>
                            <m:dPr>
                              <m:ctrlPr>
                                <a:rPr lang="en-US" sz="2400" i="1">
                                  <a:latin typeface="Cambria Math" panose="02040503050406030204" pitchFamily="18" charset="0"/>
                                </a:rPr>
                              </m:ctrlPr>
                            </m:dPr>
                            <m:e>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2</m:t>
                                  </m:r>
                                </m:sub>
                              </m:sSub>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𝑅</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1</m:t>
                              </m:r>
                            </m:sub>
                          </m:sSub>
                          <m:r>
                            <a:rPr lang="en-US" sz="2400" i="1">
                              <a:latin typeface="Cambria Math" panose="02040503050406030204" pitchFamily="18" charset="0"/>
                            </a:rPr>
                            <m:t>)</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𝜀</m:t>
                              </m:r>
                              <m:r>
                                <a:rPr lang="en-US" sz="2400" b="0" i="1" smtClean="0">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𝜏</m:t>
                              </m:r>
                            </m:sup>
                          </m:sSup>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𝜀</m:t>
                              </m:r>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𝜏</m:t>
                              </m:r>
                            </m:sup>
                          </m:sSup>
                        </m:den>
                      </m:f>
                    </m:oMath>
                  </m:oMathPara>
                </a14:m>
                <a:endParaRPr lang="en-CN" sz="2400" dirty="0"/>
              </a:p>
            </p:txBody>
          </p:sp>
        </mc:Choice>
        <mc:Fallback xmlns="">
          <p:sp>
            <p:nvSpPr>
              <p:cNvPr id="17" name="TextBox 16">
                <a:extLst>
                  <a:ext uri="{FF2B5EF4-FFF2-40B4-BE49-F238E27FC236}">
                    <a16:creationId xmlns:a16="http://schemas.microsoft.com/office/drawing/2014/main" id="{30A44A59-1264-364C-92F0-644FCF5E47B8}"/>
                  </a:ext>
                </a:extLst>
              </p:cNvPr>
              <p:cNvSpPr txBox="1">
                <a:spLocks noRot="1" noChangeAspect="1" noMove="1" noResize="1" noEditPoints="1" noAdjustHandles="1" noChangeArrowheads="1" noChangeShapeType="1" noTextEdit="1"/>
              </p:cNvSpPr>
              <p:nvPr/>
            </p:nvSpPr>
            <p:spPr>
              <a:xfrm>
                <a:off x="3496931" y="3576513"/>
                <a:ext cx="5808133" cy="947824"/>
              </a:xfrm>
              <a:prstGeom prst="rect">
                <a:avLst/>
              </a:prstGeom>
              <a:blipFill>
                <a:blip r:embed="rId4"/>
                <a:stretch>
                  <a:fillRect b="-5263"/>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53C05D5D-9AA2-884C-A9E1-3D261A5669BD}"/>
              </a:ext>
            </a:extLst>
          </p:cNvPr>
          <p:cNvSpPr/>
          <p:nvPr/>
        </p:nvSpPr>
        <p:spPr>
          <a:xfrm>
            <a:off x="5901264" y="2002111"/>
            <a:ext cx="838201" cy="14268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TextBox 17">
            <a:extLst>
              <a:ext uri="{FF2B5EF4-FFF2-40B4-BE49-F238E27FC236}">
                <a16:creationId xmlns:a16="http://schemas.microsoft.com/office/drawing/2014/main" id="{7CCC5E66-1497-C743-A4CF-1AF05034BA9D}"/>
              </a:ext>
            </a:extLst>
          </p:cNvPr>
          <p:cNvSpPr txBox="1"/>
          <p:nvPr/>
        </p:nvSpPr>
        <p:spPr>
          <a:xfrm>
            <a:off x="6885172" y="2222097"/>
            <a:ext cx="3081867" cy="646331"/>
          </a:xfrm>
          <a:prstGeom prst="rect">
            <a:avLst/>
          </a:prstGeom>
          <a:noFill/>
        </p:spPr>
        <p:txBody>
          <a:bodyPr wrap="square" rtlCol="0">
            <a:spAutoFit/>
          </a:bodyPr>
          <a:lstStyle/>
          <a:p>
            <a:r>
              <a:rPr lang="en-CN" b="1" dirty="0">
                <a:solidFill>
                  <a:srgbClr val="FF0000"/>
                </a:solidFill>
              </a:rPr>
              <a:t>温度定义</a:t>
            </a:r>
          </a:p>
          <a:p>
            <a:r>
              <a:rPr lang="en-CN" b="1" dirty="0">
                <a:solidFill>
                  <a:srgbClr val="FF0000"/>
                </a:solidFill>
              </a:rPr>
              <a:t>系统温度和热库温度一样</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FF4A793-F51A-4558-AA9D-F7C246B18641}"/>
                  </a:ext>
                </a:extLst>
              </p:cNvPr>
              <p:cNvSpPr txBox="1"/>
              <p:nvPr/>
            </p:nvSpPr>
            <p:spPr>
              <a:xfrm>
                <a:off x="1573813" y="5744128"/>
                <a:ext cx="9906000" cy="10366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CN" sz="3200" i="1" smtClean="0">
                              <a:latin typeface="Cambria Math" panose="02040503050406030204" pitchFamily="18" charset="0"/>
                            </a:rPr>
                          </m:ctrlPr>
                        </m:fPr>
                        <m:num>
                          <m:r>
                            <a:rPr lang="en-US" sz="3200" b="0" i="1" smtClean="0">
                              <a:latin typeface="Cambria Math" panose="02040503050406030204" pitchFamily="18" charset="0"/>
                            </a:rPr>
                            <m:t>𝑃</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𝑠</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num>
                        <m:den>
                          <m:sSup>
                            <m:sSupPr>
                              <m:ctrlPr>
                                <a:rPr lang="en-CN" sz="3200" i="1" smtClean="0">
                                  <a:latin typeface="Cambria Math" panose="02040503050406030204" pitchFamily="18" charset="0"/>
                                </a:rPr>
                              </m:ctrlPr>
                            </m:sSupPr>
                            <m:e>
                              <m:r>
                                <a:rPr lang="en-US" sz="3200" b="0" i="1" smtClean="0">
                                  <a:latin typeface="Cambria Math" panose="02040503050406030204" pitchFamily="18" charset="0"/>
                                </a:rPr>
                                <m:t>𝑒</m:t>
                              </m:r>
                            </m:e>
                            <m:sup>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𝜀</m:t>
                              </m:r>
                              <m:r>
                                <a:rPr lang="en-US" sz="3200" b="0" i="1" smtClean="0">
                                  <a:latin typeface="Cambria Math" panose="02040503050406030204" pitchFamily="18" charset="0"/>
                                  <a:ea typeface="Cambria Math" panose="02040503050406030204" pitchFamily="18" charset="0"/>
                                </a:rPr>
                                <m:t>1/</m:t>
                              </m:r>
                              <m:r>
                                <a:rPr lang="en-US" sz="3200" b="0" i="1" smtClean="0">
                                  <a:latin typeface="Cambria Math" panose="02040503050406030204" pitchFamily="18" charset="0"/>
                                  <a:ea typeface="Cambria Math" panose="02040503050406030204" pitchFamily="18" charset="0"/>
                                </a:rPr>
                                <m:t>𝜏</m:t>
                              </m:r>
                            </m:sup>
                          </m:sSup>
                        </m:den>
                      </m:f>
                      <m:r>
                        <a:rPr lang="en-US" sz="3200" b="0" i="1" smtClean="0">
                          <a:latin typeface="Cambria Math" panose="02040503050406030204" pitchFamily="18" charset="0"/>
                        </a:rPr>
                        <m:t>=</m:t>
                      </m:r>
                      <m:f>
                        <m:fPr>
                          <m:ctrlPr>
                            <a:rPr lang="en-CN" sz="3200" i="1">
                              <a:latin typeface="Cambria Math" panose="02040503050406030204" pitchFamily="18" charset="0"/>
                            </a:rPr>
                          </m:ctrlPr>
                        </m:fPr>
                        <m:num>
                          <m:r>
                            <a:rPr lang="en-US" sz="3200" i="1">
                              <a:latin typeface="Cambria Math" panose="02040503050406030204" pitchFamily="18" charset="0"/>
                            </a:rPr>
                            <m:t>𝑃</m:t>
                          </m:r>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𝑠</m:t>
                              </m:r>
                            </m:e>
                            <m:sub>
                              <m:r>
                                <a:rPr lang="en-US" sz="3200" b="0" i="1" smtClean="0">
                                  <a:latin typeface="Cambria Math" panose="02040503050406030204" pitchFamily="18" charset="0"/>
                                </a:rPr>
                                <m:t>2</m:t>
                              </m:r>
                            </m:sub>
                          </m:sSub>
                          <m:r>
                            <a:rPr lang="en-US" sz="3200" i="1">
                              <a:latin typeface="Cambria Math" panose="02040503050406030204" pitchFamily="18" charset="0"/>
                            </a:rPr>
                            <m:t>)</m:t>
                          </m:r>
                        </m:num>
                        <m:den>
                          <m:sSup>
                            <m:sSupPr>
                              <m:ctrlPr>
                                <a:rPr lang="en-CN"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𝜀</m:t>
                              </m:r>
                              <m:r>
                                <a:rPr lang="en-US" sz="3200" b="0" i="1" smtClean="0">
                                  <a:latin typeface="Cambria Math" panose="02040503050406030204" pitchFamily="18" charset="0"/>
                                  <a:ea typeface="Cambria Math" panose="02040503050406030204" pitchFamily="18" charset="0"/>
                                </a:rPr>
                                <m:t>2</m:t>
                              </m:r>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𝜏</m:t>
                              </m:r>
                            </m:sup>
                          </m:sSup>
                        </m:den>
                      </m:f>
                    </m:oMath>
                  </m:oMathPara>
                </a14:m>
                <a:endParaRPr lang="en-CN" sz="3200" dirty="0"/>
              </a:p>
            </p:txBody>
          </p:sp>
        </mc:Choice>
        <mc:Fallback xmlns="">
          <p:sp>
            <p:nvSpPr>
              <p:cNvPr id="2" name="TextBox 1">
                <a:extLst>
                  <a:ext uri="{FF2B5EF4-FFF2-40B4-BE49-F238E27FC236}">
                    <a16:creationId xmlns:a16="http://schemas.microsoft.com/office/drawing/2014/main" id="{4FF4A793-F51A-4558-AA9D-F7C246B18641}"/>
                  </a:ext>
                </a:extLst>
              </p:cNvPr>
              <p:cNvSpPr txBox="1">
                <a:spLocks noRot="1" noChangeAspect="1" noMove="1" noResize="1" noEditPoints="1" noAdjustHandles="1" noChangeArrowheads="1" noChangeShapeType="1" noTextEdit="1"/>
              </p:cNvSpPr>
              <p:nvPr/>
            </p:nvSpPr>
            <p:spPr>
              <a:xfrm>
                <a:off x="1573813" y="5744128"/>
                <a:ext cx="9906000" cy="1036630"/>
              </a:xfrm>
              <a:prstGeom prst="rect">
                <a:avLst/>
              </a:prstGeom>
              <a:blipFill>
                <a:blip r:embed="rId5"/>
                <a:stretch>
                  <a:fillRect b="-3659"/>
                </a:stretch>
              </a:blipFill>
            </p:spPr>
            <p:txBody>
              <a:bodyPr/>
              <a:lstStyle/>
              <a:p>
                <a:r>
                  <a:rPr lang="en-CN">
                    <a:noFill/>
                  </a:rPr>
                  <a:t> </a:t>
                </a:r>
              </a:p>
            </p:txBody>
          </p:sp>
        </mc:Fallback>
      </mc:AlternateContent>
      <p:sp>
        <p:nvSpPr>
          <p:cNvPr id="3" name="Down Arrow 2">
            <a:extLst>
              <a:ext uri="{FF2B5EF4-FFF2-40B4-BE49-F238E27FC236}">
                <a16:creationId xmlns:a16="http://schemas.microsoft.com/office/drawing/2014/main" id="{56288354-936C-9EBA-BF37-23D06788EF87}"/>
              </a:ext>
            </a:extLst>
          </p:cNvPr>
          <p:cNvSpPr/>
          <p:nvPr/>
        </p:nvSpPr>
        <p:spPr>
          <a:xfrm>
            <a:off x="5972740" y="4370579"/>
            <a:ext cx="838201" cy="14268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2575583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A5EEB8-76A1-EC4B-B1E2-D43F21C17ABB}"/>
              </a:ext>
            </a:extLst>
          </p:cNvPr>
          <p:cNvSpPr txBox="1"/>
          <p:nvPr/>
        </p:nvSpPr>
        <p:spPr>
          <a:xfrm>
            <a:off x="486888" y="320634"/>
            <a:ext cx="441762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改写一下</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4D721F-9943-C14E-8F96-3A198A76C41F}"/>
                  </a:ext>
                </a:extLst>
              </p:cNvPr>
              <p:cNvSpPr txBox="1"/>
              <p:nvPr/>
            </p:nvSpPr>
            <p:spPr>
              <a:xfrm>
                <a:off x="1049867" y="1016000"/>
                <a:ext cx="9906000" cy="813300"/>
              </a:xfrm>
              <a:prstGeom prst="rect">
                <a:avLst/>
              </a:prstGeom>
              <a:noFill/>
            </p:spPr>
            <p:txBody>
              <a:bodyPr wrap="square" rtlCol="0">
                <a:spAutoFit/>
              </a:bodyPr>
              <a:lstStyle/>
              <a:p>
                <a:pPr algn="ctr"/>
                <a14:m>
                  <m:oMath xmlns:m="http://schemas.openxmlformats.org/officeDocument/2006/math">
                    <m:f>
                      <m:fPr>
                        <m:ctrlPr>
                          <a:rPr lang="en-CN" sz="3200" i="1" smtClean="0">
                            <a:latin typeface="Cambria Math" panose="02040503050406030204" pitchFamily="18" charset="0"/>
                          </a:rPr>
                        </m:ctrlPr>
                      </m:fPr>
                      <m:num>
                        <m:r>
                          <a:rPr lang="en-US" sz="3200" b="0" i="1" smtClean="0">
                            <a:latin typeface="Cambria Math" panose="02040503050406030204" pitchFamily="18" charset="0"/>
                          </a:rPr>
                          <m:t>𝑃</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𝑠</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num>
                      <m:den>
                        <m:sSup>
                          <m:sSupPr>
                            <m:ctrlPr>
                              <a:rPr lang="en-CN" sz="3200" i="1" smtClean="0">
                                <a:latin typeface="Cambria Math" panose="02040503050406030204" pitchFamily="18" charset="0"/>
                              </a:rPr>
                            </m:ctrlPr>
                          </m:sSupPr>
                          <m:e>
                            <m:r>
                              <a:rPr lang="en-US" sz="3200" b="0" i="1" smtClean="0">
                                <a:latin typeface="Cambria Math" panose="02040503050406030204" pitchFamily="18" charset="0"/>
                              </a:rPr>
                              <m:t>𝑒</m:t>
                            </m:r>
                          </m:e>
                          <m:sup>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𝜀</m:t>
                            </m:r>
                            <m:r>
                              <a:rPr lang="en-US" sz="3200" b="0" i="1" smtClean="0">
                                <a:latin typeface="Cambria Math" panose="02040503050406030204" pitchFamily="18" charset="0"/>
                                <a:ea typeface="Cambria Math" panose="02040503050406030204" pitchFamily="18" charset="0"/>
                              </a:rPr>
                              <m:t>1/</m:t>
                            </m:r>
                            <m:r>
                              <a:rPr lang="en-US" sz="3200" b="0" i="1" smtClean="0">
                                <a:latin typeface="Cambria Math" panose="02040503050406030204" pitchFamily="18" charset="0"/>
                                <a:ea typeface="Cambria Math" panose="02040503050406030204" pitchFamily="18" charset="0"/>
                              </a:rPr>
                              <m:t>𝜏</m:t>
                            </m:r>
                          </m:sup>
                        </m:sSup>
                      </m:den>
                    </m:f>
                    <m:r>
                      <a:rPr lang="en-US" sz="3200" b="0" i="1" smtClean="0">
                        <a:latin typeface="Cambria Math" panose="02040503050406030204" pitchFamily="18" charset="0"/>
                      </a:rPr>
                      <m:t>=</m:t>
                    </m:r>
                    <m:f>
                      <m:fPr>
                        <m:ctrlPr>
                          <a:rPr lang="en-CN" sz="3200" i="1">
                            <a:latin typeface="Cambria Math" panose="02040503050406030204" pitchFamily="18" charset="0"/>
                          </a:rPr>
                        </m:ctrlPr>
                      </m:fPr>
                      <m:num>
                        <m:r>
                          <a:rPr lang="en-US" sz="3200" i="1">
                            <a:latin typeface="Cambria Math" panose="02040503050406030204" pitchFamily="18" charset="0"/>
                          </a:rPr>
                          <m:t>𝑃</m:t>
                        </m:r>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𝑠</m:t>
                            </m:r>
                          </m:e>
                          <m:sub>
                            <m:r>
                              <a:rPr lang="en-US" sz="3200" b="0" i="1" smtClean="0">
                                <a:latin typeface="Cambria Math" panose="02040503050406030204" pitchFamily="18" charset="0"/>
                              </a:rPr>
                              <m:t>2</m:t>
                            </m:r>
                          </m:sub>
                        </m:sSub>
                        <m:r>
                          <a:rPr lang="en-US" sz="3200" i="1">
                            <a:latin typeface="Cambria Math" panose="02040503050406030204" pitchFamily="18" charset="0"/>
                          </a:rPr>
                          <m:t>)</m:t>
                        </m:r>
                      </m:num>
                      <m:den>
                        <m:sSup>
                          <m:sSupPr>
                            <m:ctrlPr>
                              <a:rPr lang="en-CN"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𝜀</m:t>
                            </m:r>
                            <m:r>
                              <a:rPr lang="en-US" sz="3200" b="0" i="1" smtClean="0">
                                <a:latin typeface="Cambria Math" panose="02040503050406030204" pitchFamily="18" charset="0"/>
                                <a:ea typeface="Cambria Math" panose="02040503050406030204" pitchFamily="18" charset="0"/>
                              </a:rPr>
                              <m:t>2</m:t>
                            </m:r>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𝜏</m:t>
                            </m:r>
                          </m:sup>
                        </m:sSup>
                      </m:den>
                    </m:f>
                  </m:oMath>
                </a14:m>
                <a:r>
                  <a:rPr lang="en-CN" sz="3200" dirty="0"/>
                  <a:t>=… </a:t>
                </a:r>
                <a14:m>
                  <m:oMath xmlns:m="http://schemas.openxmlformats.org/officeDocument/2006/math">
                    <m:f>
                      <m:fPr>
                        <m:ctrlPr>
                          <a:rPr lang="en-CN" sz="3200" i="1">
                            <a:latin typeface="Cambria Math" panose="02040503050406030204" pitchFamily="18" charset="0"/>
                          </a:rPr>
                        </m:ctrlPr>
                      </m:fPr>
                      <m:num>
                        <m:r>
                          <a:rPr lang="en-US" sz="3200" i="1">
                            <a:latin typeface="Cambria Math" panose="02040503050406030204" pitchFamily="18" charset="0"/>
                          </a:rPr>
                          <m:t>𝑃</m:t>
                        </m:r>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𝑠</m:t>
                            </m:r>
                          </m:e>
                          <m:sub>
                            <m:r>
                              <a:rPr lang="en-US" sz="3200" b="0" i="1" smtClean="0">
                                <a:latin typeface="Cambria Math" panose="02040503050406030204" pitchFamily="18" charset="0"/>
                              </a:rPr>
                              <m:t>𝑛</m:t>
                            </m:r>
                          </m:sub>
                        </m:sSub>
                        <m:r>
                          <a:rPr lang="en-US" sz="3200" i="1">
                            <a:latin typeface="Cambria Math" panose="02040503050406030204" pitchFamily="18" charset="0"/>
                          </a:rPr>
                          <m:t>)</m:t>
                        </m:r>
                      </m:num>
                      <m:den>
                        <m:sSup>
                          <m:sSupPr>
                            <m:ctrlPr>
                              <a:rPr lang="en-CN"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𝜀</m:t>
                            </m:r>
                            <m:r>
                              <a:rPr lang="en-US" sz="3200" b="0" i="1" smtClean="0">
                                <a:latin typeface="Cambria Math" panose="02040503050406030204" pitchFamily="18" charset="0"/>
                                <a:ea typeface="Cambria Math" panose="02040503050406030204" pitchFamily="18" charset="0"/>
                              </a:rPr>
                              <m:t>𝑛</m:t>
                            </m:r>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𝜏</m:t>
                            </m:r>
                          </m:sup>
                        </m:sSup>
                      </m:den>
                    </m:f>
                    <m:r>
                      <a:rPr lang="en-US" sz="3200" b="0" i="1" smtClean="0">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常数</m:t>
                    </m:r>
                    <m:r>
                      <a:rPr lang="en-US" altLang="zh-CN" sz="3200" b="0" i="1" smtClean="0">
                        <a:latin typeface="Cambria Math" panose="02040503050406030204" pitchFamily="18" charset="0"/>
                        <a:ea typeface="Cambria Math" panose="02040503050406030204" pitchFamily="18" charset="0"/>
                      </a:rPr>
                      <m:t>=</m:t>
                    </m:r>
                    <m:r>
                      <m:rPr>
                        <m:sty m:val="p"/>
                      </m:rPr>
                      <a:rPr lang="en-US" altLang="zh-CN" sz="3200" i="1">
                        <a:latin typeface="Cambria Math" panose="02040503050406030204" pitchFamily="18" charset="0"/>
                        <a:ea typeface="Cambria Math" panose="02040503050406030204" pitchFamily="18" charset="0"/>
                      </a:rPr>
                      <m:t>Z</m:t>
                    </m:r>
                  </m:oMath>
                </a14:m>
                <a:endParaRPr lang="en-CN" sz="3200" dirty="0"/>
              </a:p>
            </p:txBody>
          </p:sp>
        </mc:Choice>
        <mc:Fallback xmlns="">
          <p:sp>
            <p:nvSpPr>
              <p:cNvPr id="5" name="TextBox 4">
                <a:extLst>
                  <a:ext uri="{FF2B5EF4-FFF2-40B4-BE49-F238E27FC236}">
                    <a16:creationId xmlns:a16="http://schemas.microsoft.com/office/drawing/2014/main" id="{634D721F-9943-C14E-8F96-3A198A76C41F}"/>
                  </a:ext>
                </a:extLst>
              </p:cNvPr>
              <p:cNvSpPr txBox="1">
                <a:spLocks noRot="1" noChangeAspect="1" noMove="1" noResize="1" noEditPoints="1" noAdjustHandles="1" noChangeArrowheads="1" noChangeShapeType="1" noTextEdit="1"/>
              </p:cNvSpPr>
              <p:nvPr/>
            </p:nvSpPr>
            <p:spPr>
              <a:xfrm>
                <a:off x="1049867" y="1016000"/>
                <a:ext cx="9906000" cy="813300"/>
              </a:xfrm>
              <a:prstGeom prst="rect">
                <a:avLst/>
              </a:prstGeom>
              <a:blipFill>
                <a:blip r:embed="rId2"/>
                <a:stretch>
                  <a:fillRect b="-10938"/>
                </a:stretch>
              </a:blipFill>
            </p:spPr>
            <p:txBody>
              <a:bodyPr/>
              <a:lstStyle/>
              <a:p>
                <a:r>
                  <a:rPr lang="en-CN">
                    <a:noFill/>
                  </a:rPr>
                  <a:t> </a:t>
                </a:r>
              </a:p>
            </p:txBody>
          </p:sp>
        </mc:Fallback>
      </mc:AlternateContent>
      <p:sp>
        <p:nvSpPr>
          <p:cNvPr id="6" name="Right Arrow 5">
            <a:extLst>
              <a:ext uri="{FF2B5EF4-FFF2-40B4-BE49-F238E27FC236}">
                <a16:creationId xmlns:a16="http://schemas.microsoft.com/office/drawing/2014/main" id="{71C2AED3-0105-5B43-804D-F4A933C031B5}"/>
              </a:ext>
            </a:extLst>
          </p:cNvPr>
          <p:cNvSpPr/>
          <p:nvPr/>
        </p:nvSpPr>
        <p:spPr>
          <a:xfrm>
            <a:off x="795867" y="2590800"/>
            <a:ext cx="1693333" cy="6773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5C02BAE-D918-8D40-BBC9-26A3B0A3E574}"/>
                  </a:ext>
                </a:extLst>
              </p:cNvPr>
              <p:cNvSpPr txBox="1"/>
              <p:nvPr/>
            </p:nvSpPr>
            <p:spPr>
              <a:xfrm>
                <a:off x="4620491" y="2307052"/>
                <a:ext cx="3679151" cy="124482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𝑃</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𝑠</m:t>
                          </m:r>
                        </m:e>
                      </m:d>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1</m:t>
                          </m:r>
                        </m:num>
                        <m:den>
                          <m:r>
                            <a:rPr lang="en-US" sz="4000" b="0" i="1" smtClean="0">
                              <a:solidFill>
                                <a:schemeClr val="accent1"/>
                              </a:solidFill>
                              <a:latin typeface="Cambria Math" panose="02040503050406030204" pitchFamily="18" charset="0"/>
                            </a:rPr>
                            <m:t>𝑍</m:t>
                          </m:r>
                        </m:den>
                      </m:f>
                      <m:sSup>
                        <m:sSupPr>
                          <m:ctrlPr>
                            <a:rPr lang="en-US" sz="4000" b="0" i="1" smtClean="0">
                              <a:solidFill>
                                <a:srgbClr val="FF0000"/>
                              </a:solidFill>
                              <a:latin typeface="Cambria Math" panose="02040503050406030204" pitchFamily="18" charset="0"/>
                            </a:rPr>
                          </m:ctrlPr>
                        </m:sSupPr>
                        <m:e>
                          <m:r>
                            <a:rPr lang="en-US" sz="4000" b="0" i="1" smtClean="0">
                              <a:solidFill>
                                <a:srgbClr val="FF0000"/>
                              </a:solidFill>
                              <a:latin typeface="Cambria Math" panose="02040503050406030204" pitchFamily="18" charset="0"/>
                            </a:rPr>
                            <m:t>𝑒</m:t>
                          </m:r>
                        </m:e>
                        <m:sup>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𝜀</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sup>
                      </m:sSup>
                    </m:oMath>
                  </m:oMathPara>
                </a14:m>
                <a:endParaRPr lang="en-CN" sz="4000" dirty="0"/>
              </a:p>
            </p:txBody>
          </p:sp>
        </mc:Choice>
        <mc:Fallback xmlns="">
          <p:sp>
            <p:nvSpPr>
              <p:cNvPr id="7" name="TextBox 6">
                <a:extLst>
                  <a:ext uri="{FF2B5EF4-FFF2-40B4-BE49-F238E27FC236}">
                    <a16:creationId xmlns:a16="http://schemas.microsoft.com/office/drawing/2014/main" id="{85C02BAE-D918-8D40-BBC9-26A3B0A3E574}"/>
                  </a:ext>
                </a:extLst>
              </p:cNvPr>
              <p:cNvSpPr txBox="1">
                <a:spLocks noRot="1" noChangeAspect="1" noMove="1" noResize="1" noEditPoints="1" noAdjustHandles="1" noChangeArrowheads="1" noChangeShapeType="1" noTextEdit="1"/>
              </p:cNvSpPr>
              <p:nvPr/>
            </p:nvSpPr>
            <p:spPr>
              <a:xfrm>
                <a:off x="4620491" y="2307052"/>
                <a:ext cx="3679151" cy="1244828"/>
              </a:xfrm>
              <a:prstGeom prst="rect">
                <a:avLst/>
              </a:prstGeom>
              <a:blipFill>
                <a:blip r:embed="rId3"/>
                <a:stretch>
                  <a:fillRect b="-9091"/>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D224D5C1-57EC-AD4F-9B6F-E3FEA322274E}"/>
              </a:ext>
            </a:extLst>
          </p:cNvPr>
          <p:cNvSpPr txBox="1"/>
          <p:nvPr/>
        </p:nvSpPr>
        <p:spPr>
          <a:xfrm>
            <a:off x="2601160" y="2759215"/>
            <a:ext cx="2946400" cy="369332"/>
          </a:xfrm>
          <a:prstGeom prst="rect">
            <a:avLst/>
          </a:prstGeom>
          <a:noFill/>
        </p:spPr>
        <p:txBody>
          <a:bodyPr wrap="square" rtlCol="0">
            <a:spAutoFit/>
          </a:bodyPr>
          <a:lstStyle/>
          <a:p>
            <a:r>
              <a:rPr lang="en-US" dirty="0" err="1"/>
              <a:t>访问s态的概率</a:t>
            </a:r>
            <a:endParaRPr lang="en-CN" dirty="0"/>
          </a:p>
        </p:txBody>
      </p:sp>
      <p:cxnSp>
        <p:nvCxnSpPr>
          <p:cNvPr id="10" name="Straight Arrow Connector 9">
            <a:extLst>
              <a:ext uri="{FF2B5EF4-FFF2-40B4-BE49-F238E27FC236}">
                <a16:creationId xmlns:a16="http://schemas.microsoft.com/office/drawing/2014/main" id="{DF53CD7E-3867-B241-BD1A-343F8B002BC9}"/>
              </a:ext>
            </a:extLst>
          </p:cNvPr>
          <p:cNvCxnSpPr/>
          <p:nvPr/>
        </p:nvCxnSpPr>
        <p:spPr>
          <a:xfrm>
            <a:off x="7450667" y="3268133"/>
            <a:ext cx="1574800" cy="524934"/>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D0BAD2A-3A09-A240-B179-3E1B4774A7B7}"/>
              </a:ext>
            </a:extLst>
          </p:cNvPr>
          <p:cNvSpPr txBox="1"/>
          <p:nvPr/>
        </p:nvSpPr>
        <p:spPr>
          <a:xfrm>
            <a:off x="9160933" y="3674533"/>
            <a:ext cx="2624667" cy="523220"/>
          </a:xfrm>
          <a:prstGeom prst="rect">
            <a:avLst/>
          </a:prstGeom>
          <a:solidFill>
            <a:schemeClr val="accent6"/>
          </a:solidFill>
        </p:spPr>
        <p:txBody>
          <a:bodyPr wrap="square" rtlCol="0">
            <a:spAutoFit/>
          </a:bodyPr>
          <a:lstStyle/>
          <a:p>
            <a:r>
              <a:rPr lang="en-CN" sz="2800" b="1" dirty="0">
                <a:solidFill>
                  <a:srgbClr val="FF0000"/>
                </a:solidFill>
              </a:rPr>
              <a:t>Boltzman Factor</a:t>
            </a:r>
          </a:p>
        </p:txBody>
      </p:sp>
      <p:cxnSp>
        <p:nvCxnSpPr>
          <p:cNvPr id="13" name="Straight Arrow Connector 12">
            <a:extLst>
              <a:ext uri="{FF2B5EF4-FFF2-40B4-BE49-F238E27FC236}">
                <a16:creationId xmlns:a16="http://schemas.microsoft.com/office/drawing/2014/main" id="{205BF448-71DF-AF4F-B7B2-E12D20300CF1}"/>
              </a:ext>
            </a:extLst>
          </p:cNvPr>
          <p:cNvCxnSpPr/>
          <p:nvPr/>
        </p:nvCxnSpPr>
        <p:spPr>
          <a:xfrm flipH="1">
            <a:off x="4267200" y="3429000"/>
            <a:ext cx="2192866" cy="768753"/>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515A84E-A66C-AB47-BAB3-79E8EB30E979}"/>
              </a:ext>
            </a:extLst>
          </p:cNvPr>
          <p:cNvSpPr txBox="1"/>
          <p:nvPr/>
        </p:nvSpPr>
        <p:spPr>
          <a:xfrm>
            <a:off x="2489200" y="4236080"/>
            <a:ext cx="3939309" cy="461665"/>
          </a:xfrm>
          <a:prstGeom prst="rect">
            <a:avLst/>
          </a:prstGeom>
          <a:noFill/>
        </p:spPr>
        <p:txBody>
          <a:bodyPr wrap="square" rtlCol="0">
            <a:spAutoFit/>
          </a:bodyPr>
          <a:lstStyle/>
          <a:p>
            <a:r>
              <a:rPr lang="en-CN" sz="2400" b="1" dirty="0">
                <a:solidFill>
                  <a:schemeClr val="accent1"/>
                </a:solidFill>
              </a:rPr>
              <a:t>Partition Function(配分函数)</a:t>
            </a:r>
          </a:p>
        </p:txBody>
      </p:sp>
      <p:cxnSp>
        <p:nvCxnSpPr>
          <p:cNvPr id="16" name="Straight Arrow Connector 15">
            <a:extLst>
              <a:ext uri="{FF2B5EF4-FFF2-40B4-BE49-F238E27FC236}">
                <a16:creationId xmlns:a16="http://schemas.microsoft.com/office/drawing/2014/main" id="{5B977402-2CA7-DD42-AD96-3657733A5233}"/>
              </a:ext>
            </a:extLst>
          </p:cNvPr>
          <p:cNvCxnSpPr>
            <a:cxnSpLocks/>
          </p:cNvCxnSpPr>
          <p:nvPr/>
        </p:nvCxnSpPr>
        <p:spPr>
          <a:xfrm flipV="1">
            <a:off x="9025467" y="4236080"/>
            <a:ext cx="0" cy="216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B6A73E-5B56-F440-9B05-B1248DF11FE5}"/>
              </a:ext>
            </a:extLst>
          </p:cNvPr>
          <p:cNvCxnSpPr/>
          <p:nvPr/>
        </p:nvCxnSpPr>
        <p:spPr>
          <a:xfrm>
            <a:off x="9025467" y="6417733"/>
            <a:ext cx="25569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3FC4FFC8-4C35-094D-8C04-24EDBC1ACAB7}"/>
              </a:ext>
            </a:extLst>
          </p:cNvPr>
          <p:cNvSpPr/>
          <p:nvPr/>
        </p:nvSpPr>
        <p:spPr>
          <a:xfrm rot="12127548">
            <a:off x="9199229" y="3984715"/>
            <a:ext cx="4316553" cy="2139151"/>
          </a:xfrm>
          <a:prstGeom prst="arc">
            <a:avLst>
              <a:gd name="adj1" fmla="val 16200000"/>
              <a:gd name="adj2" fmla="val 2065520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EC7AAC0-9A1D-BB4D-B1F5-36236BE40915}"/>
                  </a:ext>
                </a:extLst>
              </p:cNvPr>
              <p:cNvSpPr txBox="1"/>
              <p:nvPr/>
            </p:nvSpPr>
            <p:spPr>
              <a:xfrm>
                <a:off x="10329333" y="4697745"/>
                <a:ext cx="125306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CN" i="1" smtClean="0">
                          <a:latin typeface="Cambria Math" panose="02040503050406030204" pitchFamily="18" charset="0"/>
                          <a:ea typeface="Cambria Math" panose="02040503050406030204" pitchFamily="18" charset="0"/>
                        </a:rPr>
                        <m:t>&gt;</m:t>
                      </m:r>
                      <m:r>
                        <a:rPr lang="en-CN"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 </m:t>
                      </m:r>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CN" i="1" smtClean="0">
                          <a:latin typeface="Cambria Math" panose="02040503050406030204" pitchFamily="18" charset="0"/>
                          <a:ea typeface="Cambria Math" panose="02040503050406030204" pitchFamily="18" charset="0"/>
                        </a:rPr>
                        <m:t>&lt;</m:t>
                      </m:r>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21" name="TextBox 20">
                <a:extLst>
                  <a:ext uri="{FF2B5EF4-FFF2-40B4-BE49-F238E27FC236}">
                    <a16:creationId xmlns:a16="http://schemas.microsoft.com/office/drawing/2014/main" id="{5EC7AAC0-9A1D-BB4D-B1F5-36236BE40915}"/>
                  </a:ext>
                </a:extLst>
              </p:cNvPr>
              <p:cNvSpPr txBox="1">
                <a:spLocks noRot="1" noChangeAspect="1" noMove="1" noResize="1" noEditPoints="1" noAdjustHandles="1" noChangeArrowheads="1" noChangeShapeType="1" noTextEdit="1"/>
              </p:cNvSpPr>
              <p:nvPr/>
            </p:nvSpPr>
            <p:spPr>
              <a:xfrm>
                <a:off x="10329333" y="4697745"/>
                <a:ext cx="1253067" cy="646331"/>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A6BA137-190B-3341-899E-5682578C8887}"/>
                  </a:ext>
                </a:extLst>
              </p:cNvPr>
              <p:cNvSpPr txBox="1"/>
              <p:nvPr/>
            </p:nvSpPr>
            <p:spPr>
              <a:xfrm>
                <a:off x="270932" y="5113867"/>
                <a:ext cx="9808979" cy="13800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𝑠</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𝑠</m:t>
                              </m:r>
                            </m:sub>
                            <m:sup/>
                            <m:e>
                              <m:r>
                                <a:rPr lang="en-US" b="0" i="1" smtClean="0">
                                  <a:latin typeface="Cambria Math" panose="02040503050406030204" pitchFamily="18" charset="0"/>
                                </a:rPr>
                                <m:t>𝐵𝑜𝑙𝑡𝑧𝑚𝑎𝑛</m:t>
                              </m:r>
                              <m:r>
                                <a:rPr lang="en-US" b="0" i="1" smtClean="0">
                                  <a:latin typeface="Cambria Math" panose="02040503050406030204" pitchFamily="18" charset="0"/>
                                </a:rPr>
                                <m:t> </m:t>
                              </m:r>
                              <m:r>
                                <a:rPr lang="en-US" b="0" i="1" smtClean="0">
                                  <a:latin typeface="Cambria Math" panose="02040503050406030204" pitchFamily="18" charset="0"/>
                                </a:rPr>
                                <m:t>𝐹𝑎𝑐𝑡𝑜𝑟</m:t>
                              </m:r>
                              <m:r>
                                <a:rPr lang="en-US" b="0" i="1" smtClean="0">
                                  <a:latin typeface="Cambria Math" panose="02040503050406030204" pitchFamily="18" charset="0"/>
                                </a:rPr>
                                <m:t> </m:t>
                              </m:r>
                            </m:e>
                          </m:nary>
                        </m:e>
                      </m:nary>
                    </m:oMath>
                  </m:oMathPara>
                </a14:m>
                <a:endParaRPr lang="en-CN" dirty="0"/>
              </a:p>
              <a:p>
                <a:pPr algn="ctr"/>
                <a:r>
                  <a:rPr lang="en-CN" sz="4000" dirty="0">
                    <a:solidFill>
                      <a:srgbClr val="FF0000"/>
                    </a:solidFill>
                  </a:rPr>
                  <a:t>Patition Function=sum of all Boltzman Factor</a:t>
                </a:r>
              </a:p>
            </p:txBody>
          </p:sp>
        </mc:Choice>
        <mc:Fallback xmlns="">
          <p:sp>
            <p:nvSpPr>
              <p:cNvPr id="22" name="TextBox 21">
                <a:extLst>
                  <a:ext uri="{FF2B5EF4-FFF2-40B4-BE49-F238E27FC236}">
                    <a16:creationId xmlns:a16="http://schemas.microsoft.com/office/drawing/2014/main" id="{CA6BA137-190B-3341-899E-5682578C8887}"/>
                  </a:ext>
                </a:extLst>
              </p:cNvPr>
              <p:cNvSpPr txBox="1">
                <a:spLocks noRot="1" noChangeAspect="1" noMove="1" noResize="1" noEditPoints="1" noAdjustHandles="1" noChangeArrowheads="1" noChangeShapeType="1" noTextEdit="1"/>
              </p:cNvSpPr>
              <p:nvPr/>
            </p:nvSpPr>
            <p:spPr>
              <a:xfrm>
                <a:off x="270932" y="5113867"/>
                <a:ext cx="9808979" cy="1380058"/>
              </a:xfrm>
              <a:prstGeom prst="rect">
                <a:avLst/>
              </a:prstGeom>
              <a:blipFill>
                <a:blip r:embed="rId5"/>
                <a:stretch>
                  <a:fillRect l="-129" t="-68182" r="-129" b="-50000"/>
                </a:stretch>
              </a:blipFill>
            </p:spPr>
            <p:txBody>
              <a:bodyPr/>
              <a:lstStyle/>
              <a:p>
                <a:r>
                  <a:rPr lang="en-CN">
                    <a:noFill/>
                  </a:rPr>
                  <a:t> </a:t>
                </a:r>
              </a:p>
            </p:txBody>
          </p:sp>
        </mc:Fallback>
      </mc:AlternateContent>
    </p:spTree>
    <p:extLst>
      <p:ext uri="{BB962C8B-B14F-4D97-AF65-F5344CB8AC3E}">
        <p14:creationId xmlns:p14="http://schemas.microsoft.com/office/powerpoint/2010/main" val="2570124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FFC27-0250-AC46-B1D0-44D11F90BE11}"/>
              </a:ext>
            </a:extLst>
          </p:cNvPr>
          <p:cNvSpPr>
            <a:spLocks noGrp="1"/>
          </p:cNvSpPr>
          <p:nvPr>
            <p:ph idx="1"/>
          </p:nvPr>
        </p:nvSpPr>
        <p:spPr>
          <a:xfrm>
            <a:off x="3915834" y="4893213"/>
            <a:ext cx="4905278" cy="1933575"/>
          </a:xfrm>
        </p:spPr>
        <p:txBody>
          <a:bodyPr>
            <a:normAutofit lnSpcReduction="10000"/>
          </a:bodyPr>
          <a:lstStyle/>
          <a:p>
            <a:r>
              <a:rPr lang="en-CN" sz="4000" dirty="0">
                <a:latin typeface="FangSong" panose="02010609060101010101" pitchFamily="49" charset="-122"/>
                <a:ea typeface="FangSong" panose="02010609060101010101" pitchFamily="49" charset="-122"/>
              </a:rPr>
              <a:t>平均值</a:t>
            </a:r>
          </a:p>
          <a:p>
            <a:r>
              <a:rPr lang="en-CN" sz="4000" dirty="0">
                <a:latin typeface="FangSong" panose="02010609060101010101" pitchFamily="49" charset="-122"/>
                <a:ea typeface="FangSong" panose="02010609060101010101" pitchFamily="49" charset="-122"/>
              </a:rPr>
              <a:t>能量均分定理</a:t>
            </a:r>
          </a:p>
          <a:p>
            <a:r>
              <a:rPr lang="en-CN" sz="4000" dirty="0">
                <a:latin typeface="FangSong" panose="02010609060101010101" pitchFamily="49" charset="-122"/>
                <a:ea typeface="FangSong" panose="02010609060101010101" pitchFamily="49" charset="-122"/>
              </a:rPr>
              <a:t>麦克斯韦速率分布</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06D1CC-A4BB-264D-8D24-C0AE25794A1F}"/>
                  </a:ext>
                </a:extLst>
              </p:cNvPr>
              <p:cNvSpPr txBox="1"/>
              <p:nvPr/>
            </p:nvSpPr>
            <p:spPr>
              <a:xfrm>
                <a:off x="4349558" y="-103639"/>
                <a:ext cx="3679151" cy="124482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𝑃</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𝑠</m:t>
                          </m:r>
                        </m:e>
                      </m:d>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1</m:t>
                          </m:r>
                        </m:num>
                        <m:den>
                          <m:r>
                            <a:rPr lang="en-US" sz="4000" b="0" i="1" smtClean="0">
                              <a:solidFill>
                                <a:schemeClr val="accent1"/>
                              </a:solidFill>
                              <a:latin typeface="Cambria Math" panose="02040503050406030204" pitchFamily="18" charset="0"/>
                            </a:rPr>
                            <m:t>𝑍</m:t>
                          </m:r>
                        </m:den>
                      </m:f>
                      <m:sSup>
                        <m:sSupPr>
                          <m:ctrlPr>
                            <a:rPr lang="en-US" sz="4000" b="0" i="1" smtClean="0">
                              <a:solidFill>
                                <a:srgbClr val="FF0000"/>
                              </a:solidFill>
                              <a:latin typeface="Cambria Math" panose="02040503050406030204" pitchFamily="18" charset="0"/>
                            </a:rPr>
                          </m:ctrlPr>
                        </m:sSupPr>
                        <m:e>
                          <m:r>
                            <a:rPr lang="en-US" sz="4000" b="0" i="1" smtClean="0">
                              <a:solidFill>
                                <a:srgbClr val="FF0000"/>
                              </a:solidFill>
                              <a:latin typeface="Cambria Math" panose="02040503050406030204" pitchFamily="18" charset="0"/>
                            </a:rPr>
                            <m:t>𝑒</m:t>
                          </m:r>
                        </m:e>
                        <m:sup>
                          <m:r>
                            <a:rPr lang="en-US" sz="4000" b="0" i="1" smtClean="0">
                              <a:solidFill>
                                <a:srgbClr val="FF0000"/>
                              </a:solidFill>
                              <a:latin typeface="Cambria Math" panose="02040503050406030204" pitchFamily="18" charset="0"/>
                            </a:rPr>
                            <m:t>−</m:t>
                          </m:r>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𝜀</m:t>
                              </m:r>
                            </m:e>
                            <m:sub>
                              <m:r>
                                <a:rPr lang="en-US" sz="4000" b="0" i="1" smtClean="0">
                                  <a:solidFill>
                                    <a:srgbClr val="FF0000"/>
                                  </a:solidFill>
                                  <a:latin typeface="Cambria Math" panose="02040503050406030204" pitchFamily="18" charset="0"/>
                                  <a:ea typeface="Cambria Math" panose="02040503050406030204" pitchFamily="18" charset="0"/>
                                </a:rPr>
                                <m:t>𝑠</m:t>
                              </m:r>
                            </m:sub>
                          </m:sSub>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sup>
                      </m:sSup>
                    </m:oMath>
                  </m:oMathPara>
                </a14:m>
                <a:endParaRPr lang="en-CN" sz="4000" dirty="0"/>
              </a:p>
            </p:txBody>
          </p:sp>
        </mc:Choice>
        <mc:Fallback xmlns="">
          <p:sp>
            <p:nvSpPr>
              <p:cNvPr id="4" name="TextBox 3">
                <a:extLst>
                  <a:ext uri="{FF2B5EF4-FFF2-40B4-BE49-F238E27FC236}">
                    <a16:creationId xmlns:a16="http://schemas.microsoft.com/office/drawing/2014/main" id="{FB06D1CC-A4BB-264D-8D24-C0AE25794A1F}"/>
                  </a:ext>
                </a:extLst>
              </p:cNvPr>
              <p:cNvSpPr txBox="1">
                <a:spLocks noRot="1" noChangeAspect="1" noMove="1" noResize="1" noEditPoints="1" noAdjustHandles="1" noChangeArrowheads="1" noChangeShapeType="1" noTextEdit="1"/>
              </p:cNvSpPr>
              <p:nvPr/>
            </p:nvSpPr>
            <p:spPr>
              <a:xfrm>
                <a:off x="4349558" y="-103639"/>
                <a:ext cx="3679151" cy="1244828"/>
              </a:xfrm>
              <a:prstGeom prst="rect">
                <a:avLst/>
              </a:prstGeom>
              <a:blipFill>
                <a:blip r:embed="rId2"/>
                <a:stretch>
                  <a:fillRect l="-2062" b="-9091"/>
                </a:stretch>
              </a:blipFill>
            </p:spPr>
            <p:txBody>
              <a:bodyPr/>
              <a:lstStyle/>
              <a:p>
                <a:r>
                  <a:rPr lang="en-CN">
                    <a:noFill/>
                  </a:rPr>
                  <a:t> </a:t>
                </a:r>
              </a:p>
            </p:txBody>
          </p:sp>
        </mc:Fallback>
      </mc:AlternateContent>
      <p:cxnSp>
        <p:nvCxnSpPr>
          <p:cNvPr id="5" name="Straight Arrow Connector 4">
            <a:extLst>
              <a:ext uri="{FF2B5EF4-FFF2-40B4-BE49-F238E27FC236}">
                <a16:creationId xmlns:a16="http://schemas.microsoft.com/office/drawing/2014/main" id="{B6020B4F-F9AB-044C-AF72-FFA4ED5EABB0}"/>
              </a:ext>
            </a:extLst>
          </p:cNvPr>
          <p:cNvCxnSpPr/>
          <p:nvPr/>
        </p:nvCxnSpPr>
        <p:spPr>
          <a:xfrm>
            <a:off x="7179734" y="857442"/>
            <a:ext cx="1574800" cy="524934"/>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105D8A0-7C45-724F-B3D0-2C782AC9CC80}"/>
              </a:ext>
            </a:extLst>
          </p:cNvPr>
          <p:cNvSpPr txBox="1"/>
          <p:nvPr/>
        </p:nvSpPr>
        <p:spPr>
          <a:xfrm>
            <a:off x="8890000" y="1263842"/>
            <a:ext cx="2624667" cy="523220"/>
          </a:xfrm>
          <a:prstGeom prst="rect">
            <a:avLst/>
          </a:prstGeom>
          <a:solidFill>
            <a:schemeClr val="accent6"/>
          </a:solidFill>
        </p:spPr>
        <p:txBody>
          <a:bodyPr wrap="square" rtlCol="0">
            <a:spAutoFit/>
          </a:bodyPr>
          <a:lstStyle/>
          <a:p>
            <a:r>
              <a:rPr lang="en-CN" sz="2800" b="1" dirty="0">
                <a:solidFill>
                  <a:srgbClr val="FF0000"/>
                </a:solidFill>
              </a:rPr>
              <a:t>Boltzman Factor</a:t>
            </a:r>
          </a:p>
        </p:txBody>
      </p:sp>
      <p:sp>
        <p:nvSpPr>
          <p:cNvPr id="7" name="TextBox 6">
            <a:extLst>
              <a:ext uri="{FF2B5EF4-FFF2-40B4-BE49-F238E27FC236}">
                <a16:creationId xmlns:a16="http://schemas.microsoft.com/office/drawing/2014/main" id="{E4492E48-7E75-E049-8920-F7A847EBA4AD}"/>
              </a:ext>
            </a:extLst>
          </p:cNvPr>
          <p:cNvSpPr txBox="1"/>
          <p:nvPr/>
        </p:nvSpPr>
        <p:spPr>
          <a:xfrm>
            <a:off x="2218267" y="1825389"/>
            <a:ext cx="3939309" cy="461665"/>
          </a:xfrm>
          <a:prstGeom prst="rect">
            <a:avLst/>
          </a:prstGeom>
          <a:noFill/>
        </p:spPr>
        <p:txBody>
          <a:bodyPr wrap="square" rtlCol="0">
            <a:spAutoFit/>
          </a:bodyPr>
          <a:lstStyle/>
          <a:p>
            <a:r>
              <a:rPr lang="en-CN" sz="2400" b="1" dirty="0">
                <a:solidFill>
                  <a:schemeClr val="accent1"/>
                </a:solidFill>
              </a:rPr>
              <a:t>Partition Function(配分函数)</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38A567B-4A25-1542-8ED1-C630C71B444C}"/>
                  </a:ext>
                </a:extLst>
              </p:cNvPr>
              <p:cNvSpPr txBox="1"/>
              <p:nvPr/>
            </p:nvSpPr>
            <p:spPr>
              <a:xfrm>
                <a:off x="441062" y="2738971"/>
                <a:ext cx="10832951" cy="13800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𝑠</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𝑠</m:t>
                              </m:r>
                            </m:sub>
                            <m:sup/>
                            <m:e>
                              <m:r>
                                <a:rPr lang="en-US" b="0" i="1" smtClean="0">
                                  <a:latin typeface="Cambria Math" panose="02040503050406030204" pitchFamily="18" charset="0"/>
                                </a:rPr>
                                <m:t>𝐵𝑜𝑙𝑡𝑧𝑚𝑎𝑛</m:t>
                              </m:r>
                              <m:r>
                                <a:rPr lang="en-US" b="0" i="1" smtClean="0">
                                  <a:latin typeface="Cambria Math" panose="02040503050406030204" pitchFamily="18" charset="0"/>
                                </a:rPr>
                                <m:t> </m:t>
                              </m:r>
                              <m:r>
                                <a:rPr lang="en-US" b="0" i="1" smtClean="0">
                                  <a:latin typeface="Cambria Math" panose="02040503050406030204" pitchFamily="18" charset="0"/>
                                </a:rPr>
                                <m:t>𝐹𝑎𝑐𝑡𝑜𝑟</m:t>
                              </m:r>
                              <m:r>
                                <a:rPr lang="en-US" b="0" i="1" smtClean="0">
                                  <a:latin typeface="Cambria Math" panose="02040503050406030204" pitchFamily="18" charset="0"/>
                                </a:rPr>
                                <m:t> </m:t>
                              </m:r>
                            </m:e>
                          </m:nary>
                        </m:e>
                      </m:nary>
                    </m:oMath>
                  </m:oMathPara>
                </a14:m>
                <a:endParaRPr lang="en-CN" dirty="0"/>
              </a:p>
              <a:p>
                <a:pPr algn="ctr"/>
                <a:r>
                  <a:rPr lang="en-CN" sz="4000" dirty="0">
                    <a:solidFill>
                      <a:srgbClr val="FF0000"/>
                    </a:solidFill>
                  </a:rPr>
                  <a:t>Partition Function=sum of all Boltzman Factor</a:t>
                </a:r>
              </a:p>
            </p:txBody>
          </p:sp>
        </mc:Choice>
        <mc:Fallback xmlns="">
          <p:sp>
            <p:nvSpPr>
              <p:cNvPr id="8" name="TextBox 7">
                <a:extLst>
                  <a:ext uri="{FF2B5EF4-FFF2-40B4-BE49-F238E27FC236}">
                    <a16:creationId xmlns:a16="http://schemas.microsoft.com/office/drawing/2014/main" id="{C38A567B-4A25-1542-8ED1-C630C71B444C}"/>
                  </a:ext>
                </a:extLst>
              </p:cNvPr>
              <p:cNvSpPr txBox="1">
                <a:spLocks noRot="1" noChangeAspect="1" noMove="1" noResize="1" noEditPoints="1" noAdjustHandles="1" noChangeArrowheads="1" noChangeShapeType="1" noTextEdit="1"/>
              </p:cNvSpPr>
              <p:nvPr/>
            </p:nvSpPr>
            <p:spPr>
              <a:xfrm>
                <a:off x="441062" y="2738971"/>
                <a:ext cx="10832951" cy="1380058"/>
              </a:xfrm>
              <a:prstGeom prst="rect">
                <a:avLst/>
              </a:prstGeom>
              <a:blipFill>
                <a:blip r:embed="rId3"/>
                <a:stretch>
                  <a:fillRect t="-67273" b="-50000"/>
                </a:stretch>
              </a:blipFill>
            </p:spPr>
            <p:txBody>
              <a:bodyPr/>
              <a:lstStyle/>
              <a:p>
                <a:r>
                  <a:rPr lang="en-CN">
                    <a:noFill/>
                  </a:rPr>
                  <a:t> </a:t>
                </a:r>
              </a:p>
            </p:txBody>
          </p:sp>
        </mc:Fallback>
      </mc:AlternateContent>
      <p:cxnSp>
        <p:nvCxnSpPr>
          <p:cNvPr id="9" name="Straight Arrow Connector 8">
            <a:extLst>
              <a:ext uri="{FF2B5EF4-FFF2-40B4-BE49-F238E27FC236}">
                <a16:creationId xmlns:a16="http://schemas.microsoft.com/office/drawing/2014/main" id="{14ADC878-4408-FE4C-A614-033B84505D9E}"/>
              </a:ext>
            </a:extLst>
          </p:cNvPr>
          <p:cNvCxnSpPr/>
          <p:nvPr/>
        </p:nvCxnSpPr>
        <p:spPr>
          <a:xfrm flipH="1">
            <a:off x="3915834" y="997999"/>
            <a:ext cx="2192866" cy="768753"/>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 name="Right Arrow 1">
            <a:extLst>
              <a:ext uri="{FF2B5EF4-FFF2-40B4-BE49-F238E27FC236}">
                <a16:creationId xmlns:a16="http://schemas.microsoft.com/office/drawing/2014/main" id="{820ABBF7-ED5E-D242-AED3-7DB9B92CE9C5}"/>
              </a:ext>
            </a:extLst>
          </p:cNvPr>
          <p:cNvSpPr/>
          <p:nvPr/>
        </p:nvSpPr>
        <p:spPr>
          <a:xfrm>
            <a:off x="7916849" y="3020025"/>
            <a:ext cx="1191491" cy="2152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77445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FFC27-0250-AC46-B1D0-44D11F90BE11}"/>
              </a:ext>
            </a:extLst>
          </p:cNvPr>
          <p:cNvSpPr>
            <a:spLocks noGrp="1"/>
          </p:cNvSpPr>
          <p:nvPr>
            <p:ph idx="1"/>
          </p:nvPr>
        </p:nvSpPr>
        <p:spPr>
          <a:xfrm>
            <a:off x="2455332" y="1893358"/>
            <a:ext cx="8779933" cy="1933575"/>
          </a:xfrm>
        </p:spPr>
        <p:txBody>
          <a:bodyPr>
            <a:normAutofit lnSpcReduction="10000"/>
          </a:bodyPr>
          <a:lstStyle/>
          <a:p>
            <a:r>
              <a:rPr lang="en-CN" sz="4000" dirty="0">
                <a:latin typeface="FangSong" panose="02010609060101010101" pitchFamily="49" charset="-122"/>
                <a:ea typeface="FangSong" panose="02010609060101010101" pitchFamily="49" charset="-122"/>
              </a:rPr>
              <a:t>平均值</a:t>
            </a:r>
          </a:p>
          <a:p>
            <a:r>
              <a:rPr lang="en-CN" sz="4000" dirty="0">
                <a:solidFill>
                  <a:schemeClr val="bg1">
                    <a:lumMod val="50000"/>
                  </a:schemeClr>
                </a:solidFill>
                <a:latin typeface="FangSong" panose="02010609060101010101" pitchFamily="49" charset="-122"/>
                <a:ea typeface="FangSong" panose="02010609060101010101" pitchFamily="49" charset="-122"/>
              </a:rPr>
              <a:t>能量均分定理</a:t>
            </a:r>
          </a:p>
          <a:p>
            <a:r>
              <a:rPr lang="en-CN" sz="4000" dirty="0">
                <a:solidFill>
                  <a:schemeClr val="bg1">
                    <a:lumMod val="50000"/>
                  </a:schemeClr>
                </a:solidFill>
                <a:latin typeface="FangSong" panose="02010609060101010101" pitchFamily="49" charset="-122"/>
                <a:ea typeface="FangSong" panose="02010609060101010101" pitchFamily="49" charset="-122"/>
              </a:rPr>
              <a:t>麦克斯韦速率分布</a:t>
            </a:r>
          </a:p>
        </p:txBody>
      </p:sp>
    </p:spTree>
    <p:extLst>
      <p:ext uri="{BB962C8B-B14F-4D97-AF65-F5344CB8AC3E}">
        <p14:creationId xmlns:p14="http://schemas.microsoft.com/office/powerpoint/2010/main" val="31703427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820A7-25C4-D84C-BF99-537A7B5E1E31}"/>
              </a:ext>
            </a:extLst>
          </p:cNvPr>
          <p:cNvSpPr>
            <a:spLocks noGrp="1"/>
          </p:cNvSpPr>
          <p:nvPr>
            <p:ph type="title"/>
          </p:nvPr>
        </p:nvSpPr>
        <p:spPr>
          <a:xfrm>
            <a:off x="364066" y="229660"/>
            <a:ext cx="10515600" cy="701674"/>
          </a:xfrm>
        </p:spPr>
        <p:txBody>
          <a:bodyPr/>
          <a:lstStyle/>
          <a:p>
            <a:r>
              <a:rPr lang="en-CN" dirty="0">
                <a:latin typeface="FangSong" panose="02010609060101010101" pitchFamily="49" charset="-122"/>
                <a:ea typeface="FangSong" panose="02010609060101010101" pitchFamily="49" charset="-122"/>
              </a:rPr>
              <a:t>平均值</a:t>
            </a:r>
          </a:p>
        </p:txBody>
      </p:sp>
      <p:cxnSp>
        <p:nvCxnSpPr>
          <p:cNvPr id="5" name="Straight Arrow Connector 4">
            <a:extLst>
              <a:ext uri="{FF2B5EF4-FFF2-40B4-BE49-F238E27FC236}">
                <a16:creationId xmlns:a16="http://schemas.microsoft.com/office/drawing/2014/main" id="{8FB47471-19D9-B34C-8C1B-557A5F01AA9E}"/>
              </a:ext>
            </a:extLst>
          </p:cNvPr>
          <p:cNvCxnSpPr/>
          <p:nvPr/>
        </p:nvCxnSpPr>
        <p:spPr>
          <a:xfrm flipV="1">
            <a:off x="1253067" y="931334"/>
            <a:ext cx="0" cy="37761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0B631F4-3341-664E-A27C-68E1A6840DED}"/>
              </a:ext>
            </a:extLst>
          </p:cNvPr>
          <p:cNvCxnSpPr/>
          <p:nvPr/>
        </p:nvCxnSpPr>
        <p:spPr>
          <a:xfrm>
            <a:off x="1524000" y="4707467"/>
            <a:ext cx="14224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3DB9062-29B8-964F-82BA-2F0DD7D94CD5}"/>
              </a:ext>
            </a:extLst>
          </p:cNvPr>
          <p:cNvCxnSpPr/>
          <p:nvPr/>
        </p:nvCxnSpPr>
        <p:spPr>
          <a:xfrm>
            <a:off x="1524000" y="3183467"/>
            <a:ext cx="14224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128F90C-6706-5B42-8109-933A074EFA19}"/>
              </a:ext>
            </a:extLst>
          </p:cNvPr>
          <p:cNvCxnSpPr/>
          <p:nvPr/>
        </p:nvCxnSpPr>
        <p:spPr>
          <a:xfrm>
            <a:off x="1524000" y="1659467"/>
            <a:ext cx="14224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FC2EC4A-D0EF-3246-998D-C70AA109A613}"/>
              </a:ext>
            </a:extLst>
          </p:cNvPr>
          <p:cNvSpPr txBox="1"/>
          <p:nvPr/>
        </p:nvSpPr>
        <p:spPr>
          <a:xfrm>
            <a:off x="169333" y="4555067"/>
            <a:ext cx="931334" cy="369332"/>
          </a:xfrm>
          <a:prstGeom prst="rect">
            <a:avLst/>
          </a:prstGeom>
          <a:noFill/>
        </p:spPr>
        <p:txBody>
          <a:bodyPr wrap="square" rtlCol="0">
            <a:spAutoFit/>
          </a:bodyPr>
          <a:lstStyle/>
          <a:p>
            <a:r>
              <a:rPr lang="en-CN" dirty="0"/>
              <a:t>0ev</a:t>
            </a:r>
          </a:p>
        </p:txBody>
      </p:sp>
      <p:sp>
        <p:nvSpPr>
          <p:cNvPr id="11" name="TextBox 10">
            <a:extLst>
              <a:ext uri="{FF2B5EF4-FFF2-40B4-BE49-F238E27FC236}">
                <a16:creationId xmlns:a16="http://schemas.microsoft.com/office/drawing/2014/main" id="{F2B02A56-E21E-7147-A9B5-CFA02E2A65D5}"/>
              </a:ext>
            </a:extLst>
          </p:cNvPr>
          <p:cNvSpPr txBox="1"/>
          <p:nvPr/>
        </p:nvSpPr>
        <p:spPr>
          <a:xfrm>
            <a:off x="186267" y="2998801"/>
            <a:ext cx="931334" cy="369332"/>
          </a:xfrm>
          <a:prstGeom prst="rect">
            <a:avLst/>
          </a:prstGeom>
          <a:noFill/>
        </p:spPr>
        <p:txBody>
          <a:bodyPr wrap="square" rtlCol="0">
            <a:spAutoFit/>
          </a:bodyPr>
          <a:lstStyle/>
          <a:p>
            <a:r>
              <a:rPr lang="en-CN" dirty="0"/>
              <a:t>4ev</a:t>
            </a:r>
          </a:p>
        </p:txBody>
      </p:sp>
      <p:sp>
        <p:nvSpPr>
          <p:cNvPr id="12" name="TextBox 11">
            <a:extLst>
              <a:ext uri="{FF2B5EF4-FFF2-40B4-BE49-F238E27FC236}">
                <a16:creationId xmlns:a16="http://schemas.microsoft.com/office/drawing/2014/main" id="{966971F7-17C7-8449-98C4-26B9FE3368EF}"/>
              </a:ext>
            </a:extLst>
          </p:cNvPr>
          <p:cNvSpPr txBox="1"/>
          <p:nvPr/>
        </p:nvSpPr>
        <p:spPr>
          <a:xfrm>
            <a:off x="245533" y="1459469"/>
            <a:ext cx="931334" cy="369332"/>
          </a:xfrm>
          <a:prstGeom prst="rect">
            <a:avLst/>
          </a:prstGeom>
          <a:noFill/>
        </p:spPr>
        <p:txBody>
          <a:bodyPr wrap="square" rtlCol="0">
            <a:spAutoFit/>
          </a:bodyPr>
          <a:lstStyle/>
          <a:p>
            <a:r>
              <a:rPr lang="en-CN" dirty="0"/>
              <a:t>7ev</a:t>
            </a:r>
          </a:p>
        </p:txBody>
      </p:sp>
      <p:sp>
        <p:nvSpPr>
          <p:cNvPr id="13" name="Oval 12">
            <a:extLst>
              <a:ext uri="{FF2B5EF4-FFF2-40B4-BE49-F238E27FC236}">
                <a16:creationId xmlns:a16="http://schemas.microsoft.com/office/drawing/2014/main" id="{471EA0ED-427D-B846-990C-387E5A4E92BD}"/>
              </a:ext>
            </a:extLst>
          </p:cNvPr>
          <p:cNvSpPr/>
          <p:nvPr/>
        </p:nvSpPr>
        <p:spPr>
          <a:xfrm>
            <a:off x="1744133" y="4301067"/>
            <a:ext cx="287867" cy="406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Oval 13">
            <a:extLst>
              <a:ext uri="{FF2B5EF4-FFF2-40B4-BE49-F238E27FC236}">
                <a16:creationId xmlns:a16="http://schemas.microsoft.com/office/drawing/2014/main" id="{93B924E4-CE5A-3E47-A5B7-768542197E74}"/>
              </a:ext>
            </a:extLst>
          </p:cNvPr>
          <p:cNvSpPr/>
          <p:nvPr/>
        </p:nvSpPr>
        <p:spPr>
          <a:xfrm>
            <a:off x="2302932" y="4301067"/>
            <a:ext cx="287867" cy="406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Oval 14">
            <a:extLst>
              <a:ext uri="{FF2B5EF4-FFF2-40B4-BE49-F238E27FC236}">
                <a16:creationId xmlns:a16="http://schemas.microsoft.com/office/drawing/2014/main" id="{0A5FC3AB-D26D-3C4A-8D19-BDEFB4A3A39B}"/>
              </a:ext>
            </a:extLst>
          </p:cNvPr>
          <p:cNvSpPr/>
          <p:nvPr/>
        </p:nvSpPr>
        <p:spPr>
          <a:xfrm>
            <a:off x="1718735" y="2777067"/>
            <a:ext cx="287867" cy="406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Oval 15">
            <a:extLst>
              <a:ext uri="{FF2B5EF4-FFF2-40B4-BE49-F238E27FC236}">
                <a16:creationId xmlns:a16="http://schemas.microsoft.com/office/drawing/2014/main" id="{28C92CA6-9937-844E-9048-300E7D22C415}"/>
              </a:ext>
            </a:extLst>
          </p:cNvPr>
          <p:cNvSpPr/>
          <p:nvPr/>
        </p:nvSpPr>
        <p:spPr>
          <a:xfrm>
            <a:off x="2332567" y="2743200"/>
            <a:ext cx="287867" cy="406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Oval 16">
            <a:extLst>
              <a:ext uri="{FF2B5EF4-FFF2-40B4-BE49-F238E27FC236}">
                <a16:creationId xmlns:a16="http://schemas.microsoft.com/office/drawing/2014/main" id="{4AB0716E-E0F5-6542-8C9D-B9E1EE726AC4}"/>
              </a:ext>
            </a:extLst>
          </p:cNvPr>
          <p:cNvSpPr/>
          <p:nvPr/>
        </p:nvSpPr>
        <p:spPr>
          <a:xfrm>
            <a:off x="2048935" y="1236134"/>
            <a:ext cx="287867" cy="406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99623E2-55B9-4A4E-AB41-AC62BC77331A}"/>
                  </a:ext>
                </a:extLst>
              </p:cNvPr>
              <p:cNvSpPr txBox="1"/>
              <p:nvPr/>
            </p:nvSpPr>
            <p:spPr>
              <a:xfrm>
                <a:off x="4216400" y="580497"/>
                <a:ext cx="7552267" cy="3367204"/>
              </a:xfrm>
              <a:prstGeom prst="rect">
                <a:avLst/>
              </a:prstGeom>
              <a:noFill/>
            </p:spPr>
            <p:txBody>
              <a:bodyPr wrap="square" rtlCol="0">
                <a:spAutoFit/>
              </a:bodyPr>
              <a:lstStyle/>
              <a:p>
                <a:pPr marL="285750" indent="-285750">
                  <a:buFont typeface="Arial" panose="020B0604020202020204" pitchFamily="34" charset="0"/>
                  <a:buChar char="•"/>
                </a:pPr>
                <a:r>
                  <a:rPr lang="en-CN" dirty="0"/>
                  <a:t>在某时刻</a:t>
                </a:r>
                <a:r>
                  <a:rPr lang="zh-CN" altLang="en-US" dirty="0"/>
                  <a:t>，</a:t>
                </a:r>
                <a:r>
                  <a:rPr lang="en-US" altLang="zh-CN" dirty="0"/>
                  <a:t>2</a:t>
                </a:r>
                <a:r>
                  <a:rPr lang="zh-CN" altLang="en-US" dirty="0"/>
                  <a:t>个原子处于</a:t>
                </a:r>
                <a:r>
                  <a:rPr lang="en-US" altLang="zh-CN" dirty="0"/>
                  <a:t>0ev</a:t>
                </a:r>
                <a:r>
                  <a:rPr lang="zh-CN" altLang="en-US" dirty="0"/>
                  <a:t>，</a:t>
                </a:r>
                <a:r>
                  <a:rPr lang="en-US" altLang="zh-CN" dirty="0"/>
                  <a:t>2</a:t>
                </a:r>
                <a:r>
                  <a:rPr lang="zh-CN" altLang="en-US" dirty="0"/>
                  <a:t>个处于</a:t>
                </a:r>
                <a:r>
                  <a:rPr lang="en-US" altLang="zh-CN" dirty="0"/>
                  <a:t>4ev</a:t>
                </a:r>
                <a:r>
                  <a:rPr lang="zh-CN" altLang="en-US" dirty="0"/>
                  <a:t>，</a:t>
                </a:r>
                <a:r>
                  <a:rPr lang="en-US" altLang="zh-CN" dirty="0"/>
                  <a:t>1</a:t>
                </a:r>
                <a:r>
                  <a:rPr lang="zh-CN" altLang="en-US" dirty="0"/>
                  <a:t>个处于</a:t>
                </a:r>
                <a:r>
                  <a:rPr lang="en-US" altLang="zh-CN" dirty="0"/>
                  <a:t>7ev</a:t>
                </a:r>
              </a:p>
              <a:p>
                <a:pPr marL="285750" indent="-285750">
                  <a:buFont typeface="Arial" panose="020B0604020202020204" pitchFamily="34" charset="0"/>
                  <a:buChar char="•"/>
                </a:pPr>
                <a:r>
                  <a:rPr lang="en-US" dirty="0" err="1"/>
                  <a:t>平均能量</a:t>
                </a:r>
                <a:endParaRPr lang="en-US" dirty="0"/>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𝐸</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𝑒𝑣</m:t>
                              </m:r>
                            </m:e>
                          </m:d>
                          <m:r>
                            <a:rPr lang="en-US" b="0" i="1" smtClean="0">
                              <a:latin typeface="Cambria Math" panose="02040503050406030204" pitchFamily="18" charset="0"/>
                              <a:ea typeface="Cambria Math" panose="02040503050406030204" pitchFamily="18" charset="0"/>
                            </a:rPr>
                            <m:t>×2+</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𝑒𝑣</m:t>
                              </m:r>
                            </m:e>
                          </m:d>
                          <m:r>
                            <a:rPr lang="en-US" b="0" i="1" smtClean="0">
                              <a:latin typeface="Cambria Math" panose="02040503050406030204" pitchFamily="18" charset="0"/>
                              <a:ea typeface="Cambria Math" panose="02040503050406030204" pitchFamily="18" charset="0"/>
                            </a:rPr>
                            <m:t>×2+(7</m:t>
                          </m:r>
                          <m:r>
                            <a:rPr lang="en-US" b="0" i="1" smtClean="0">
                              <a:latin typeface="Cambria Math" panose="02040503050406030204" pitchFamily="18" charset="0"/>
                              <a:ea typeface="Cambria Math" panose="02040503050406030204" pitchFamily="18" charset="0"/>
                            </a:rPr>
                            <m:t>𝑒𝑣</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rPr>
                            <m:t>5</m:t>
                          </m:r>
                        </m:den>
                      </m:f>
                      <m:r>
                        <a:rPr lang="en-US" b="0" i="1" smtClean="0">
                          <a:latin typeface="Cambria Math" panose="02040503050406030204" pitchFamily="18" charset="0"/>
                        </a:rPr>
                        <m:t>=3</m:t>
                      </m:r>
                      <m:r>
                        <a:rPr lang="en-US" b="0" i="1" smtClean="0">
                          <a:latin typeface="Cambria Math" panose="02040503050406030204" pitchFamily="18" charset="0"/>
                        </a:rPr>
                        <m:t>𝑒𝑣</m:t>
                      </m:r>
                      <m:r>
                        <a:rPr lang="en-US" b="0" i="1" smtClean="0">
                          <a:latin typeface="Cambria Math" panose="02040503050406030204" pitchFamily="18" charset="0"/>
                        </a:rPr>
                        <m:t>  (</m:t>
                      </m:r>
                      <m:r>
                        <a:rPr lang="en-US" i="1">
                          <a:latin typeface="Cambria Math" panose="02040503050406030204" pitchFamily="18" charset="0"/>
                        </a:rPr>
                        <m:t>相加</m:t>
                      </m:r>
                      <m:r>
                        <a:rPr lang="en-US" i="1" smtClean="0">
                          <a:latin typeface="Cambria Math" panose="02040503050406030204" pitchFamily="18" charset="0"/>
                        </a:rPr>
                        <m:t>除以</m:t>
                      </m:r>
                      <m:r>
                        <a:rPr lang="en-US" altLang="zh-CN" b="0" i="1" smtClean="0">
                          <a:latin typeface="Cambria Math" panose="02040503050406030204" pitchFamily="18" charset="0"/>
                        </a:rPr>
                        <m:t>5</m:t>
                      </m:r>
                      <m:r>
                        <a:rPr lang="en-US" b="0" i="1" smtClean="0">
                          <a:latin typeface="Cambria Math" panose="02040503050406030204" pitchFamily="18" charset="0"/>
                        </a:rPr>
                        <m:t>)</m:t>
                      </m:r>
                    </m:oMath>
                  </m:oMathPara>
                </a14:m>
                <a:endParaRPr lang="en-CN" dirty="0"/>
              </a:p>
              <a:p>
                <a:pPr marL="285750" indent="-285750">
                  <a:buFont typeface="Arial" panose="020B0604020202020204" pitchFamily="34" charset="0"/>
                  <a:buChar char="•"/>
                </a:pPr>
                <a:r>
                  <a:rPr lang="en-CN" dirty="0"/>
                  <a:t>另外一种思路</a:t>
                </a:r>
              </a:p>
              <a:p>
                <a:pPr algn="ctr"/>
                <a14:m>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𝐸</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𝑒𝑣</m:t>
                        </m:r>
                      </m:e>
                    </m:d>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2</m:t>
                        </m:r>
                      </m:num>
                      <m:den>
                        <m:r>
                          <a:rPr lang="en-US" b="0" i="1" smtClean="0">
                            <a:solidFill>
                              <a:srgbClr val="FF0000"/>
                            </a:solidFill>
                            <a:latin typeface="Cambria Math" panose="02040503050406030204" pitchFamily="18" charset="0"/>
                          </a:rPr>
                          <m:t>5</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𝑒𝑣</m:t>
                        </m:r>
                      </m:e>
                    </m:d>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2</m:t>
                        </m:r>
                      </m:num>
                      <m:den>
                        <m:r>
                          <a:rPr lang="en-US" b="0" i="1" smtClean="0">
                            <a:solidFill>
                              <a:srgbClr val="FF0000"/>
                            </a:solidFill>
                            <a:latin typeface="Cambria Math" panose="02040503050406030204" pitchFamily="18" charset="0"/>
                          </a:rPr>
                          <m:t>5</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7</m:t>
                        </m:r>
                        <m:r>
                          <a:rPr lang="en-US" b="0" i="1" smtClean="0">
                            <a:latin typeface="Cambria Math" panose="02040503050406030204" pitchFamily="18" charset="0"/>
                          </a:rPr>
                          <m:t>𝑒𝑣</m:t>
                        </m:r>
                      </m:e>
                    </m:d>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5</m:t>
                        </m:r>
                      </m:den>
                    </m:f>
                    <m:r>
                      <a:rPr lang="en-US" b="0" i="1" smtClean="0">
                        <a:latin typeface="Cambria Math" panose="02040503050406030204" pitchFamily="18" charset="0"/>
                      </a:rPr>
                      <m:t>=3</m:t>
                    </m:r>
                    <m:r>
                      <a:rPr lang="en-US" b="0" i="1" smtClean="0">
                        <a:latin typeface="Cambria Math" panose="02040503050406030204" pitchFamily="18" charset="0"/>
                      </a:rPr>
                      <m:t>𝑒𝑣</m:t>
                    </m:r>
                    <m:r>
                      <a:rPr lang="en-US" b="0" i="1" smtClean="0">
                        <a:latin typeface="Cambria Math" panose="02040503050406030204" pitchFamily="18" charset="0"/>
                      </a:rPr>
                      <m:t> </m:t>
                    </m:r>
                  </m:oMath>
                </a14:m>
                <a:r>
                  <a:rPr lang="en-CN" dirty="0"/>
                  <a:t> </a:t>
                </a:r>
                <a:r>
                  <a:rPr lang="en-CN" dirty="0">
                    <a:latin typeface="FangSong" panose="02010609060101010101" pitchFamily="49" charset="-122"/>
                    <a:ea typeface="FangSong" panose="02010609060101010101" pitchFamily="49" charset="-122"/>
                  </a:rPr>
                  <a:t>(分配后相加)</a:t>
                </a:r>
              </a:p>
              <a:p>
                <a:r>
                  <a:rPr lang="en-US" dirty="0">
                    <a:latin typeface="FangSong" panose="02010609060101010101" pitchFamily="49" charset="-122"/>
                    <a:ea typeface="FangSong" panose="02010609060101010101" pitchFamily="49" charset="-122"/>
                  </a:rPr>
                  <a:t>the energy of each state is multiplied by the probability of that state occurring</a:t>
                </a:r>
              </a:p>
              <a:p>
                <a:pPr marL="285750" indent="-285750">
                  <a:buFont typeface="Arial" panose="020B0604020202020204" pitchFamily="34" charset="0"/>
                  <a:buChar char="•"/>
                </a:pPr>
                <a:r>
                  <a:rPr lang="en-US" dirty="0" err="1">
                    <a:latin typeface="FangSong" panose="02010609060101010101" pitchFamily="49" charset="-122"/>
                    <a:ea typeface="FangSong" panose="02010609060101010101" pitchFamily="49" charset="-122"/>
                  </a:rPr>
                  <a:t>推广到一般形式</a:t>
                </a:r>
                <a:endParaRPr lang="en-US" dirty="0">
                  <a:latin typeface="FangSong" panose="02010609060101010101" pitchFamily="49" charset="-122"/>
                  <a:ea typeface="FangSong" panose="02010609060101010101" pitchFamily="49" charset="-122"/>
                </a:endParaRPr>
              </a:p>
              <a:p>
                <a:pP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ea typeface="FangSong" panose="02010609060101010101" pitchFamily="49" charset="-122"/>
                            </a:rPr>
                          </m:ctrlPr>
                        </m:accPr>
                        <m:e>
                          <m:r>
                            <a:rPr lang="en-US" b="0" i="1" smtClean="0">
                              <a:latin typeface="Cambria Math" panose="02040503050406030204" pitchFamily="18" charset="0"/>
                              <a:ea typeface="FangSong" panose="02010609060101010101" pitchFamily="49" charset="-122"/>
                            </a:rPr>
                            <m:t>𝐸</m:t>
                          </m:r>
                        </m:e>
                      </m:acc>
                      <m:r>
                        <a:rPr lang="en-US" b="0" i="1" smtClean="0">
                          <a:latin typeface="Cambria Math" panose="02040503050406030204" pitchFamily="18" charset="0"/>
                          <a:ea typeface="FangSong" panose="02010609060101010101" pitchFamily="49" charset="-122"/>
                        </a:rPr>
                        <m:t>=</m:t>
                      </m:r>
                      <m:f>
                        <m:fPr>
                          <m:ctrlPr>
                            <a:rPr lang="en-US" b="0" i="1" smtClean="0">
                              <a:latin typeface="Cambria Math" panose="02040503050406030204" pitchFamily="18" charset="0"/>
                              <a:ea typeface="FangSong" panose="02010609060101010101" pitchFamily="49" charset="-122"/>
                            </a:rPr>
                          </m:ctrlPr>
                        </m:fPr>
                        <m:num>
                          <m:nary>
                            <m:naryPr>
                              <m:chr m:val="∑"/>
                              <m:supHide m:val="on"/>
                              <m:ctrlPr>
                                <a:rPr lang="en-US" b="0" i="1" smtClean="0">
                                  <a:latin typeface="Cambria Math" panose="02040503050406030204" pitchFamily="18" charset="0"/>
                                  <a:ea typeface="FangSong" panose="02010609060101010101" pitchFamily="49" charset="-122"/>
                                </a:rPr>
                              </m:ctrlPr>
                            </m:naryPr>
                            <m:sub>
                              <m:r>
                                <m:rPr>
                                  <m:brk m:alnAt="7"/>
                                </m:rPr>
                                <a:rPr lang="en-US" b="0" i="1" smtClean="0">
                                  <a:latin typeface="Cambria Math" panose="02040503050406030204" pitchFamily="18" charset="0"/>
                                  <a:ea typeface="FangSong" panose="02010609060101010101" pitchFamily="49" charset="-122"/>
                                </a:rPr>
                                <m:t>𝑠</m:t>
                              </m:r>
                            </m:sub>
                            <m:sup/>
                            <m:e>
                              <m:r>
                                <a:rPr lang="en-US" b="0" i="1" smtClean="0">
                                  <a:latin typeface="Cambria Math" panose="02040503050406030204" pitchFamily="18" charset="0"/>
                                  <a:ea typeface="FangSong" panose="02010609060101010101" pitchFamily="49" charset="-122"/>
                                </a:rPr>
                                <m:t>𝐸</m:t>
                              </m:r>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𝑠</m:t>
                                  </m:r>
                                </m:e>
                              </m:d>
                              <m:r>
                                <a:rPr lang="en-US" b="0" i="1" smtClean="0">
                                  <a:latin typeface="Cambria Math" panose="02040503050406030204" pitchFamily="18" charset="0"/>
                                  <a:ea typeface="FangSong" panose="02010609060101010101" pitchFamily="49" charset="-122"/>
                                </a:rPr>
                                <m:t>𝑁</m:t>
                              </m:r>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𝑠</m:t>
                              </m:r>
                              <m:r>
                                <a:rPr lang="en-US" b="0" i="1" smtClean="0">
                                  <a:latin typeface="Cambria Math" panose="02040503050406030204" pitchFamily="18" charset="0"/>
                                  <a:ea typeface="FangSong" panose="02010609060101010101" pitchFamily="49" charset="-122"/>
                                </a:rPr>
                                <m:t>)</m:t>
                              </m:r>
                            </m:e>
                          </m:nary>
                        </m:num>
                        <m:den>
                          <m:r>
                            <a:rPr lang="en-US" b="0" i="1" smtClean="0">
                              <a:latin typeface="Cambria Math" panose="02040503050406030204" pitchFamily="18" charset="0"/>
                              <a:ea typeface="FangSong" panose="02010609060101010101" pitchFamily="49" charset="-122"/>
                            </a:rPr>
                            <m:t>𝑁</m:t>
                          </m:r>
                        </m:den>
                      </m:f>
                      <m:r>
                        <a:rPr lang="en-US" b="0" i="1" smtClean="0">
                          <a:latin typeface="Cambria Math" panose="02040503050406030204" pitchFamily="18" charset="0"/>
                          <a:ea typeface="FangSong" panose="02010609060101010101" pitchFamily="49" charset="-122"/>
                        </a:rPr>
                        <m:t>=</m:t>
                      </m:r>
                      <m:nary>
                        <m:naryPr>
                          <m:chr m:val="∑"/>
                          <m:supHide m:val="on"/>
                          <m:ctrlPr>
                            <a:rPr lang="en-US" b="0" i="1" smtClean="0">
                              <a:latin typeface="Cambria Math" panose="02040503050406030204" pitchFamily="18" charset="0"/>
                              <a:ea typeface="FangSong" panose="02010609060101010101" pitchFamily="49" charset="-122"/>
                            </a:rPr>
                          </m:ctrlPr>
                        </m:naryPr>
                        <m:sub>
                          <m:r>
                            <m:rPr>
                              <m:brk m:alnAt="7"/>
                            </m:rPr>
                            <a:rPr lang="en-US" b="0" i="1" smtClean="0">
                              <a:latin typeface="Cambria Math" panose="02040503050406030204" pitchFamily="18" charset="0"/>
                              <a:ea typeface="FangSong" panose="02010609060101010101" pitchFamily="49" charset="-122"/>
                            </a:rPr>
                            <m:t>𝑠</m:t>
                          </m:r>
                        </m:sub>
                        <m:sup/>
                        <m:e>
                          <m:r>
                            <a:rPr lang="en-US" b="0" i="1" smtClean="0">
                              <a:latin typeface="Cambria Math" panose="02040503050406030204" pitchFamily="18" charset="0"/>
                              <a:ea typeface="FangSong" panose="02010609060101010101" pitchFamily="49" charset="-122"/>
                            </a:rPr>
                            <m:t>𝐸</m:t>
                          </m:r>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𝑠</m:t>
                              </m:r>
                            </m:e>
                          </m:d>
                          <m:f>
                            <m:fPr>
                              <m:ctrlPr>
                                <a:rPr lang="en-US" b="0" i="1" smtClean="0">
                                  <a:latin typeface="Cambria Math" panose="02040503050406030204" pitchFamily="18" charset="0"/>
                                  <a:ea typeface="FangSong" panose="02010609060101010101" pitchFamily="49" charset="-122"/>
                                </a:rPr>
                              </m:ctrlPr>
                            </m:fPr>
                            <m:num>
                              <m:r>
                                <a:rPr lang="en-US" b="0" i="1" smtClean="0">
                                  <a:latin typeface="Cambria Math" panose="02040503050406030204" pitchFamily="18" charset="0"/>
                                  <a:ea typeface="FangSong" panose="02010609060101010101" pitchFamily="49" charset="-122"/>
                                </a:rPr>
                                <m:t>𝑁</m:t>
                              </m:r>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𝑠</m:t>
                                  </m:r>
                                </m:e>
                              </m:d>
                            </m:num>
                            <m:den>
                              <m:r>
                                <a:rPr lang="en-US" b="0" i="1" smtClean="0">
                                  <a:latin typeface="Cambria Math" panose="02040503050406030204" pitchFamily="18" charset="0"/>
                                  <a:ea typeface="FangSong" panose="02010609060101010101" pitchFamily="49" charset="-122"/>
                                </a:rPr>
                                <m:t>𝑁</m:t>
                              </m:r>
                            </m:den>
                          </m:f>
                          <m:r>
                            <a:rPr lang="en-US" b="0" i="1" smtClean="0">
                              <a:latin typeface="Cambria Math" panose="02040503050406030204" pitchFamily="18" charset="0"/>
                              <a:ea typeface="FangSong" panose="02010609060101010101" pitchFamily="49" charset="-122"/>
                            </a:rPr>
                            <m:t>=</m:t>
                          </m:r>
                          <m:nary>
                            <m:naryPr>
                              <m:chr m:val="∑"/>
                              <m:supHide m:val="on"/>
                              <m:ctrlPr>
                                <a:rPr lang="en-US" b="0" i="1" smtClean="0">
                                  <a:latin typeface="Cambria Math" panose="02040503050406030204" pitchFamily="18" charset="0"/>
                                  <a:ea typeface="FangSong" panose="02010609060101010101" pitchFamily="49" charset="-122"/>
                                </a:rPr>
                              </m:ctrlPr>
                            </m:naryPr>
                            <m:sub>
                              <m:r>
                                <m:rPr>
                                  <m:brk m:alnAt="7"/>
                                </m:rPr>
                                <a:rPr lang="en-US" b="0" i="1" smtClean="0">
                                  <a:latin typeface="Cambria Math" panose="02040503050406030204" pitchFamily="18" charset="0"/>
                                  <a:ea typeface="FangSong" panose="02010609060101010101" pitchFamily="49" charset="-122"/>
                                </a:rPr>
                                <m:t>𝑠</m:t>
                              </m:r>
                            </m:sub>
                            <m:sup/>
                            <m:e>
                              <m:r>
                                <a:rPr lang="en-US" b="0" i="1" smtClean="0">
                                  <a:latin typeface="Cambria Math" panose="02040503050406030204" pitchFamily="18" charset="0"/>
                                  <a:ea typeface="FangSong" panose="02010609060101010101" pitchFamily="49" charset="-122"/>
                                </a:rPr>
                                <m:t>𝐸</m:t>
                              </m:r>
                              <m:d>
                                <m:dPr>
                                  <m:ctrlPr>
                                    <a:rPr lang="en-US" b="0" i="1" smtClean="0">
                                      <a:latin typeface="Cambria Math" panose="02040503050406030204" pitchFamily="18" charset="0"/>
                                      <a:ea typeface="FangSong" panose="02010609060101010101" pitchFamily="49" charset="-122"/>
                                    </a:rPr>
                                  </m:ctrlPr>
                                </m:dPr>
                                <m:e>
                                  <m:r>
                                    <a:rPr lang="en-US" b="0" i="1" smtClean="0">
                                      <a:latin typeface="Cambria Math" panose="02040503050406030204" pitchFamily="18" charset="0"/>
                                      <a:ea typeface="FangSong" panose="02010609060101010101" pitchFamily="49" charset="-122"/>
                                    </a:rPr>
                                    <m:t>𝑠</m:t>
                                  </m:r>
                                </m:e>
                              </m:d>
                              <m:r>
                                <a:rPr lang="en-US" b="0" i="1" smtClean="0">
                                  <a:latin typeface="Cambria Math" panose="02040503050406030204" pitchFamily="18" charset="0"/>
                                  <a:ea typeface="FangSong" panose="02010609060101010101" pitchFamily="49" charset="-122"/>
                                </a:rPr>
                                <m:t>𝑃</m:t>
                              </m:r>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FangSong" panose="02010609060101010101" pitchFamily="49" charset="-122"/>
                                </a:rPr>
                                <m:t>𝑠</m:t>
                              </m:r>
                              <m:r>
                                <a:rPr lang="en-US" b="0" i="1" smtClean="0">
                                  <a:latin typeface="Cambria Math" panose="02040503050406030204" pitchFamily="18" charset="0"/>
                                  <a:ea typeface="FangSong" panose="02010609060101010101" pitchFamily="49" charset="-122"/>
                                </a:rPr>
                                <m:t>)</m:t>
                              </m:r>
                            </m:e>
                          </m:nary>
                        </m:e>
                      </m:nary>
                    </m:oMath>
                  </m:oMathPara>
                </a14:m>
                <a:endParaRPr lang="en-CN" dirty="0">
                  <a:latin typeface="FangSong" panose="02010609060101010101" pitchFamily="49" charset="-122"/>
                  <a:ea typeface="FangSong" panose="02010609060101010101" pitchFamily="49" charset="-122"/>
                </a:endParaRPr>
              </a:p>
            </p:txBody>
          </p:sp>
        </mc:Choice>
        <mc:Fallback xmlns="">
          <p:sp>
            <p:nvSpPr>
              <p:cNvPr id="18" name="TextBox 17">
                <a:extLst>
                  <a:ext uri="{FF2B5EF4-FFF2-40B4-BE49-F238E27FC236}">
                    <a16:creationId xmlns:a16="http://schemas.microsoft.com/office/drawing/2014/main" id="{999623E2-55B9-4A4E-AB41-AC62BC77331A}"/>
                  </a:ext>
                </a:extLst>
              </p:cNvPr>
              <p:cNvSpPr txBox="1">
                <a:spLocks noRot="1" noChangeAspect="1" noMove="1" noResize="1" noEditPoints="1" noAdjustHandles="1" noChangeArrowheads="1" noChangeShapeType="1" noTextEdit="1"/>
              </p:cNvSpPr>
              <p:nvPr/>
            </p:nvSpPr>
            <p:spPr>
              <a:xfrm>
                <a:off x="4216400" y="580497"/>
                <a:ext cx="7552267" cy="3367204"/>
              </a:xfrm>
              <a:prstGeom prst="rect">
                <a:avLst/>
              </a:prstGeom>
              <a:blipFill>
                <a:blip r:embed="rId2"/>
                <a:stretch>
                  <a:fillRect l="-840" t="-749" b="-37828"/>
                </a:stretch>
              </a:blipFill>
            </p:spPr>
            <p:txBody>
              <a:bodyPr/>
              <a:lstStyle/>
              <a:p>
                <a:r>
                  <a:rPr lang="en-CN">
                    <a:noFill/>
                  </a:rPr>
                  <a:t> </a:t>
                </a:r>
              </a:p>
            </p:txBody>
          </p:sp>
        </mc:Fallback>
      </mc:AlternateContent>
      <p:sp>
        <p:nvSpPr>
          <p:cNvPr id="19" name="Down Arrow 18">
            <a:extLst>
              <a:ext uri="{FF2B5EF4-FFF2-40B4-BE49-F238E27FC236}">
                <a16:creationId xmlns:a16="http://schemas.microsoft.com/office/drawing/2014/main" id="{EFEBB9A0-29A2-814D-98B3-03C381E006FC}"/>
              </a:ext>
            </a:extLst>
          </p:cNvPr>
          <p:cNvSpPr/>
          <p:nvPr/>
        </p:nvSpPr>
        <p:spPr>
          <a:xfrm>
            <a:off x="7603067" y="3947701"/>
            <a:ext cx="389466" cy="10984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FE5B244-1C36-2D45-9F5B-0BF30702366A}"/>
                  </a:ext>
                </a:extLst>
              </p:cNvPr>
              <p:cNvSpPr txBox="1"/>
              <p:nvPr/>
            </p:nvSpPr>
            <p:spPr>
              <a:xfrm>
                <a:off x="5909733" y="5164667"/>
                <a:ext cx="3843867" cy="11378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CN" sz="2800" i="1" smtClean="0">
                              <a:solidFill>
                                <a:srgbClr val="FF0000"/>
                              </a:solidFill>
                              <a:latin typeface="Cambria Math" panose="02040503050406030204" pitchFamily="18" charset="0"/>
                            </a:rPr>
                          </m:ctrlPr>
                        </m:accPr>
                        <m:e>
                          <m:r>
                            <a:rPr lang="en-US" sz="2800" b="0" i="1" smtClean="0">
                              <a:solidFill>
                                <a:srgbClr val="FF0000"/>
                              </a:solidFill>
                              <a:latin typeface="Cambria Math" panose="02040503050406030204" pitchFamily="18" charset="0"/>
                            </a:rPr>
                            <m:t>𝑋</m:t>
                          </m:r>
                        </m:e>
                      </m:acc>
                      <m:r>
                        <a:rPr lang="en-US" sz="2800" b="0" i="1" smtClean="0">
                          <a:solidFill>
                            <a:srgbClr val="FF0000"/>
                          </a:solidFill>
                          <a:latin typeface="Cambria Math" panose="02040503050406030204" pitchFamily="18" charset="0"/>
                        </a:rPr>
                        <m:t>=</m:t>
                      </m:r>
                      <m:f>
                        <m:fPr>
                          <m:ctrlPr>
                            <a:rPr lang="en-US" sz="2800" b="0" i="1" smtClean="0">
                              <a:solidFill>
                                <a:srgbClr val="FF0000"/>
                              </a:solidFill>
                              <a:latin typeface="Cambria Math" panose="02040503050406030204" pitchFamily="18" charset="0"/>
                            </a:rPr>
                          </m:ctrlPr>
                        </m:fPr>
                        <m:num>
                          <m:r>
                            <a:rPr lang="en-US" sz="2800" b="0" i="1" smtClean="0">
                              <a:solidFill>
                                <a:srgbClr val="FF0000"/>
                              </a:solidFill>
                              <a:latin typeface="Cambria Math" panose="02040503050406030204" pitchFamily="18" charset="0"/>
                            </a:rPr>
                            <m:t>1</m:t>
                          </m:r>
                        </m:num>
                        <m:den>
                          <m:r>
                            <a:rPr lang="en-US" sz="2800" b="0" i="1" smtClean="0">
                              <a:solidFill>
                                <a:srgbClr val="FF0000"/>
                              </a:solidFill>
                              <a:latin typeface="Cambria Math" panose="02040503050406030204" pitchFamily="18" charset="0"/>
                            </a:rPr>
                            <m:t>𝑍</m:t>
                          </m:r>
                        </m:den>
                      </m:f>
                      <m:nary>
                        <m:naryPr>
                          <m:chr m:val="∑"/>
                          <m:supHide m:val="on"/>
                          <m:ctrlPr>
                            <a:rPr lang="en-US" sz="2800" b="0" i="1" smtClean="0">
                              <a:solidFill>
                                <a:srgbClr val="FF0000"/>
                              </a:solidFill>
                              <a:latin typeface="Cambria Math" panose="02040503050406030204" pitchFamily="18" charset="0"/>
                            </a:rPr>
                          </m:ctrlPr>
                        </m:naryPr>
                        <m:sub>
                          <m:r>
                            <m:rPr>
                              <m:brk m:alnAt="7"/>
                            </m:rPr>
                            <a:rPr lang="en-US" sz="2800" b="0" i="1" smtClean="0">
                              <a:solidFill>
                                <a:srgbClr val="FF0000"/>
                              </a:solidFill>
                              <a:latin typeface="Cambria Math" panose="02040503050406030204" pitchFamily="18" charset="0"/>
                            </a:rPr>
                            <m:t>𝑠</m:t>
                          </m:r>
                        </m:sub>
                        <m:sup/>
                        <m:e>
                          <m:r>
                            <a:rPr lang="en-US" sz="2800" b="0" i="1" smtClean="0">
                              <a:solidFill>
                                <a:srgbClr val="FF0000"/>
                              </a:solidFill>
                              <a:latin typeface="Cambria Math" panose="02040503050406030204" pitchFamily="18" charset="0"/>
                            </a:rPr>
                            <m:t>𝑋</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𝑠</m:t>
                          </m:r>
                          <m:r>
                            <a:rPr lang="en-US" sz="2800" b="0" i="1" smtClean="0">
                              <a:solidFill>
                                <a:srgbClr val="FF0000"/>
                              </a:solidFill>
                              <a:latin typeface="Cambria Math" panose="02040503050406030204" pitchFamily="18" charset="0"/>
                            </a:rPr>
                            <m:t>)</m:t>
                          </m:r>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𝑒</m:t>
                              </m:r>
                            </m:e>
                            <m:sup>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𝜀</m:t>
                              </m:r>
                              <m:r>
                                <a:rPr lang="en-US" sz="2800" b="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𝑠</m:t>
                              </m:r>
                              <m:r>
                                <a:rPr lang="en-US" sz="2800" b="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𝜏</m:t>
                              </m:r>
                            </m:sup>
                          </m:sSup>
                        </m:e>
                      </m:nary>
                    </m:oMath>
                  </m:oMathPara>
                </a14:m>
                <a:endParaRPr lang="en-CN" sz="2800" dirty="0"/>
              </a:p>
            </p:txBody>
          </p:sp>
        </mc:Choice>
        <mc:Fallback xmlns="">
          <p:sp>
            <p:nvSpPr>
              <p:cNvPr id="20" name="TextBox 19">
                <a:extLst>
                  <a:ext uri="{FF2B5EF4-FFF2-40B4-BE49-F238E27FC236}">
                    <a16:creationId xmlns:a16="http://schemas.microsoft.com/office/drawing/2014/main" id="{3FE5B244-1C36-2D45-9F5B-0BF30702366A}"/>
                  </a:ext>
                </a:extLst>
              </p:cNvPr>
              <p:cNvSpPr txBox="1">
                <a:spLocks noRot="1" noChangeAspect="1" noMove="1" noResize="1" noEditPoints="1" noAdjustHandles="1" noChangeArrowheads="1" noChangeShapeType="1" noTextEdit="1"/>
              </p:cNvSpPr>
              <p:nvPr/>
            </p:nvSpPr>
            <p:spPr>
              <a:xfrm>
                <a:off x="5909733" y="5164667"/>
                <a:ext cx="3843867" cy="1137876"/>
              </a:xfrm>
              <a:prstGeom prst="rect">
                <a:avLst/>
              </a:prstGeom>
              <a:blipFill>
                <a:blip r:embed="rId3"/>
                <a:stretch>
                  <a:fillRect l="-3300" t="-129670" b="-180220"/>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091D24C9-83A8-0A47-16D3-9A71AF511BD1}"/>
              </a:ext>
            </a:extLst>
          </p:cNvPr>
          <p:cNvSpPr txBox="1"/>
          <p:nvPr/>
        </p:nvSpPr>
        <p:spPr>
          <a:xfrm>
            <a:off x="8155172" y="4301067"/>
            <a:ext cx="2573079" cy="369332"/>
          </a:xfrm>
          <a:prstGeom prst="rect">
            <a:avLst/>
          </a:prstGeom>
          <a:noFill/>
        </p:spPr>
        <p:txBody>
          <a:bodyPr wrap="square" rtlCol="0">
            <a:spAutoFit/>
          </a:bodyPr>
          <a:lstStyle/>
          <a:p>
            <a:r>
              <a:rPr lang="en-CN" dirty="0"/>
              <a:t>推广一下</a:t>
            </a:r>
          </a:p>
        </p:txBody>
      </p:sp>
    </p:spTree>
    <p:extLst>
      <p:ext uri="{BB962C8B-B14F-4D97-AF65-F5344CB8AC3E}">
        <p14:creationId xmlns:p14="http://schemas.microsoft.com/office/powerpoint/2010/main" val="1207596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97311-0921-FE4F-8464-E41AE75ACC38}"/>
              </a:ext>
            </a:extLst>
          </p:cNvPr>
          <p:cNvSpPr>
            <a:spLocks noGrp="1"/>
          </p:cNvSpPr>
          <p:nvPr>
            <p:ph type="title"/>
          </p:nvPr>
        </p:nvSpPr>
        <p:spPr>
          <a:xfrm>
            <a:off x="131619" y="115743"/>
            <a:ext cx="10515600" cy="840221"/>
          </a:xfrm>
        </p:spPr>
        <p:txBody>
          <a:bodyPr/>
          <a:lstStyle/>
          <a:p>
            <a:r>
              <a:rPr lang="en-CN" dirty="0">
                <a:latin typeface="FangSong" panose="02010609060101010101" pitchFamily="49" charset="-122"/>
                <a:ea typeface="FangSong" panose="02010609060101010101" pitchFamily="49" charset="-122"/>
              </a:rPr>
              <a:t>相加性(additive)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C0A959-D10D-AE42-9C87-1DC451C524F7}"/>
                  </a:ext>
                </a:extLst>
              </p:cNvPr>
              <p:cNvSpPr>
                <a:spLocks noGrp="1"/>
              </p:cNvSpPr>
              <p:nvPr>
                <p:ph idx="1"/>
              </p:nvPr>
            </p:nvSpPr>
            <p:spPr>
              <a:xfrm>
                <a:off x="613063" y="1668967"/>
                <a:ext cx="10965873" cy="3000015"/>
              </a:xfrm>
            </p:spPr>
            <p:txBody>
              <a:bodyPr/>
              <a:lstStyle/>
              <a:p>
                <a:r>
                  <a:rPr lang="en-CN" dirty="0"/>
                  <a:t>One nice feature of average values is that they are </a:t>
                </a:r>
                <a:r>
                  <a:rPr lang="en-CN" dirty="0">
                    <a:solidFill>
                      <a:srgbClr val="FF0000"/>
                    </a:solidFill>
                  </a:rPr>
                  <a:t>additive</a:t>
                </a:r>
                <a:r>
                  <a:rPr lang="en-CN" dirty="0"/>
                  <a:t>; for example, the average total energy of two objects is the sum of their individual average energies. This means that if you have a collection of many identical, independent particles, you can compute their total(average) energy from the average energy of just one, simply by multiplying by how many there are:</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𝑁</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𝐸</m:t>
                          </m:r>
                        </m:e>
                      </m:acc>
                    </m:oMath>
                  </m:oMathPara>
                </a14:m>
                <a:endParaRPr lang="en-CN" dirty="0"/>
              </a:p>
            </p:txBody>
          </p:sp>
        </mc:Choice>
        <mc:Fallback xmlns="">
          <p:sp>
            <p:nvSpPr>
              <p:cNvPr id="3" name="Content Placeholder 2">
                <a:extLst>
                  <a:ext uri="{FF2B5EF4-FFF2-40B4-BE49-F238E27FC236}">
                    <a16:creationId xmlns:a16="http://schemas.microsoft.com/office/drawing/2014/main" id="{DBC0A959-D10D-AE42-9C87-1DC451C524F7}"/>
                  </a:ext>
                </a:extLst>
              </p:cNvPr>
              <p:cNvSpPr>
                <a:spLocks noGrp="1" noRot="1" noChangeAspect="1" noMove="1" noResize="1" noEditPoints="1" noAdjustHandles="1" noChangeArrowheads="1" noChangeShapeType="1" noTextEdit="1"/>
              </p:cNvSpPr>
              <p:nvPr>
                <p:ph idx="1"/>
              </p:nvPr>
            </p:nvSpPr>
            <p:spPr>
              <a:xfrm>
                <a:off x="613063" y="1668967"/>
                <a:ext cx="10965873" cy="3000015"/>
              </a:xfrm>
              <a:blipFill>
                <a:blip r:embed="rId2"/>
                <a:stretch>
                  <a:fillRect l="-1042" t="-3376" r="-810"/>
                </a:stretch>
              </a:blipFill>
            </p:spPr>
            <p:txBody>
              <a:bodyPr/>
              <a:lstStyle/>
              <a:p>
                <a:r>
                  <a:rPr lang="en-CN">
                    <a:noFill/>
                  </a:rPr>
                  <a:t> </a:t>
                </a:r>
              </a:p>
            </p:txBody>
          </p:sp>
        </mc:Fallback>
      </mc:AlternateContent>
    </p:spTree>
    <p:extLst>
      <p:ext uri="{BB962C8B-B14F-4D97-AF65-F5344CB8AC3E}">
        <p14:creationId xmlns:p14="http://schemas.microsoft.com/office/powerpoint/2010/main" val="911961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97311-0921-FE4F-8464-E41AE75ACC38}"/>
              </a:ext>
            </a:extLst>
          </p:cNvPr>
          <p:cNvSpPr>
            <a:spLocks noGrp="1"/>
          </p:cNvSpPr>
          <p:nvPr>
            <p:ph type="title"/>
          </p:nvPr>
        </p:nvSpPr>
        <p:spPr>
          <a:xfrm>
            <a:off x="131619" y="115743"/>
            <a:ext cx="10515600" cy="840221"/>
          </a:xfrm>
        </p:spPr>
        <p:txBody>
          <a:bodyPr/>
          <a:lstStyle/>
          <a:p>
            <a:r>
              <a:rPr lang="en-CN" dirty="0">
                <a:latin typeface="FangSong" panose="02010609060101010101" pitchFamily="49" charset="-122"/>
                <a:ea typeface="FangSong" panose="02010609060101010101" pitchFamily="49" charset="-122"/>
              </a:rPr>
              <a:t>相加性</a:t>
            </a:r>
          </a:p>
        </p:txBody>
      </p:sp>
      <p:pic>
        <p:nvPicPr>
          <p:cNvPr id="7" name="Picture 6">
            <a:extLst>
              <a:ext uri="{FF2B5EF4-FFF2-40B4-BE49-F238E27FC236}">
                <a16:creationId xmlns:a16="http://schemas.microsoft.com/office/drawing/2014/main" id="{FC1B9B9C-F569-0149-B6B7-384106BB46D8}"/>
              </a:ext>
            </a:extLst>
          </p:cNvPr>
          <p:cNvPicPr>
            <a:picLocks noChangeAspect="1"/>
          </p:cNvPicPr>
          <p:nvPr/>
        </p:nvPicPr>
        <p:blipFill>
          <a:blip r:embed="rId3"/>
          <a:stretch>
            <a:fillRect/>
          </a:stretch>
        </p:blipFill>
        <p:spPr>
          <a:xfrm>
            <a:off x="269215" y="1052946"/>
            <a:ext cx="6266619" cy="5140036"/>
          </a:xfrm>
          <a:prstGeom prst="rect">
            <a:avLst/>
          </a:prstGeom>
        </p:spPr>
      </p:pic>
      <p:pic>
        <p:nvPicPr>
          <p:cNvPr id="9" name="Picture 8">
            <a:extLst>
              <a:ext uri="{FF2B5EF4-FFF2-40B4-BE49-F238E27FC236}">
                <a16:creationId xmlns:a16="http://schemas.microsoft.com/office/drawing/2014/main" id="{3976C22F-2C41-C74B-984E-A68287839E5A}"/>
              </a:ext>
            </a:extLst>
          </p:cNvPr>
          <p:cNvPicPr>
            <a:picLocks noChangeAspect="1"/>
          </p:cNvPicPr>
          <p:nvPr/>
        </p:nvPicPr>
        <p:blipFill>
          <a:blip r:embed="rId4"/>
          <a:stretch>
            <a:fillRect/>
          </a:stretch>
        </p:blipFill>
        <p:spPr>
          <a:xfrm>
            <a:off x="6608894" y="2209656"/>
            <a:ext cx="5583106" cy="2438688"/>
          </a:xfrm>
          <a:prstGeom prst="rect">
            <a:avLst/>
          </a:prstGeom>
        </p:spPr>
      </p:pic>
    </p:spTree>
    <p:extLst>
      <p:ext uri="{BB962C8B-B14F-4D97-AF65-F5344CB8AC3E}">
        <p14:creationId xmlns:p14="http://schemas.microsoft.com/office/powerpoint/2010/main" val="12707146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F809FC-97B9-4040-BC19-E2B05BB913E5}"/>
                  </a:ext>
                </a:extLst>
              </p:cNvPr>
              <p:cNvSpPr txBox="1"/>
              <p:nvPr/>
            </p:nvSpPr>
            <p:spPr>
              <a:xfrm>
                <a:off x="355600" y="321733"/>
                <a:ext cx="11362267" cy="6106608"/>
              </a:xfrm>
              <a:prstGeom prst="rect">
                <a:avLst/>
              </a:prstGeom>
              <a:noFill/>
            </p:spPr>
            <p:txBody>
              <a:bodyPr wrap="square" rtlCol="0">
                <a:spAutoFit/>
              </a:bodyPr>
              <a:lstStyle/>
              <a:p>
                <a:r>
                  <a:rPr lang="en-CN" dirty="0"/>
                  <a:t>Q-1: Prove that, for any system in equilibrium with a reservoir at temperature tau, the average of the energy is</a:t>
                </a:r>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𝐸</m:t>
                          </m:r>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rPr>
                            <m:t>2</m:t>
                          </m:r>
                        </m:sup>
                      </m:sSup>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𝑍</m:t>
                          </m:r>
                          <m:r>
                            <a:rPr lang="en-US" b="0" i="1" smtClean="0">
                              <a:latin typeface="Cambria Math" panose="02040503050406030204" pitchFamily="18" charset="0"/>
                            </a:rPr>
                            <m:t>=</m:t>
                          </m:r>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𝑍</m:t>
                          </m:r>
                        </m:e>
                      </m:func>
                    </m:oMath>
                  </m:oMathPara>
                </a14:m>
                <a:endParaRPr lang="en-CN" dirty="0"/>
              </a:p>
              <a:p>
                <a:r>
                  <a:rPr lang="en-CN" dirty="0"/>
                  <a:t>Q-2: Energy fluctuation</a:t>
                </a:r>
              </a:p>
              <a:p>
                <a:pPr algn="ctr"/>
                <a14:m>
                  <m:oMathPara xmlns:m="http://schemas.openxmlformats.org/officeDocument/2006/math">
                    <m:oMathParaPr>
                      <m:jc m:val="centerGroup"/>
                    </m:oMathParaPr>
                    <m:oMath xmlns:m="http://schemas.openxmlformats.org/officeDocument/2006/math">
                      <m:d>
                        <m:dPr>
                          <m:begChr m:val="⟨"/>
                          <m:endChr m:val="⟩"/>
                          <m:ctrlPr>
                            <a:rPr lang="en-CN" i="1" smtClean="0">
                              <a:latin typeface="Cambria Math" panose="02040503050406030204" pitchFamily="18" charset="0"/>
                            </a:rPr>
                          </m:ctrlPr>
                        </m:dPr>
                        <m:e>
                          <m:sSup>
                            <m:sSupPr>
                              <m:ctrlPr>
                                <a:rPr lang="en-CN" i="1" smtClean="0">
                                  <a:latin typeface="Cambria Math" panose="02040503050406030204" pitchFamily="18" charset="0"/>
                                </a:rPr>
                              </m:ctrlPr>
                            </m:sSupPr>
                            <m:e>
                              <m:d>
                                <m:dPr>
                                  <m:ctrlPr>
                                    <a:rPr lang="en-CN" i="1" smtClean="0">
                                      <a:latin typeface="Cambria Math" panose="02040503050406030204" pitchFamily="18" charset="0"/>
                                    </a:rPr>
                                  </m:ctrlPr>
                                </m:dPr>
                                <m:e>
                                  <m:r>
                                    <a:rPr lang="en-CN"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e>
                              </m:d>
                            </m:e>
                            <m:sup>
                              <m:r>
                                <a:rPr lang="en-US" b="0" i="1" smtClean="0">
                                  <a:latin typeface="Cambria Math" panose="02040503050406030204" pitchFamily="18" charset="0"/>
                                </a:rPr>
                                <m:t>2</m:t>
                              </m:r>
                            </m:sup>
                          </m:sSup>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e>
                          </m:d>
                        </m:e>
                        <m:sub>
                          <m:r>
                            <a:rPr lang="en-US" b="0" i="1" smtClean="0">
                              <a:latin typeface="Cambria Math" panose="02040503050406030204" pitchFamily="18" charset="0"/>
                            </a:rPr>
                            <m:t>𝑉</m:t>
                          </m:r>
                        </m:sub>
                      </m:sSub>
                    </m:oMath>
                  </m:oMathPara>
                </a14:m>
                <a:endParaRPr lang="en-CN" dirty="0"/>
              </a:p>
              <a:p>
                <a:r>
                  <a:rPr lang="en-CN" dirty="0"/>
                  <a:t>Q-3: Paramagnetism</a:t>
                </a:r>
              </a:p>
              <a:p>
                <a:pPr algn="ct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𝑔</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𝜎</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𝜏</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𝑈</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𝜏</m:t>
                      </m:r>
                      <m:r>
                        <a:rPr lang="en-US" b="0" i="1" smtClean="0">
                          <a:solidFill>
                            <a:schemeClr val="accent5"/>
                          </a:solidFill>
                          <a:latin typeface="Cambria Math" panose="02040503050406030204" pitchFamily="18" charset="0"/>
                          <a:ea typeface="Cambria Math" panose="02040503050406030204" pitchFamily="18" charset="0"/>
                        </a:rPr>
                        <m:t>)→</m:t>
                      </m:r>
                      <m:sSub>
                        <m:sSubPr>
                          <m:ctrlPr>
                            <a:rPr lang="en-US" b="0" i="1" smtClean="0">
                              <a:solidFill>
                                <a:schemeClr val="accent5"/>
                              </a:solidFill>
                              <a:latin typeface="Cambria Math" panose="02040503050406030204" pitchFamily="18" charset="0"/>
                              <a:ea typeface="Cambria Math" panose="02040503050406030204" pitchFamily="18" charset="0"/>
                            </a:rPr>
                          </m:ctrlPr>
                        </m:sSubPr>
                        <m:e>
                          <m:r>
                            <a:rPr lang="en-US" b="0" i="1" smtClean="0">
                              <a:solidFill>
                                <a:schemeClr val="accent5"/>
                              </a:solidFill>
                              <a:latin typeface="Cambria Math" panose="02040503050406030204" pitchFamily="18" charset="0"/>
                              <a:ea typeface="Cambria Math" panose="02040503050406030204" pitchFamily="18" charset="0"/>
                            </a:rPr>
                            <m:t>𝐶</m:t>
                          </m:r>
                        </m:e>
                        <m:sub>
                          <m:r>
                            <a:rPr lang="en-US" b="0" i="1" smtClean="0">
                              <a:solidFill>
                                <a:schemeClr val="accent5"/>
                              </a:solidFill>
                              <a:latin typeface="Cambria Math" panose="02040503050406030204" pitchFamily="18" charset="0"/>
                              <a:ea typeface="Cambria Math" panose="02040503050406030204" pitchFamily="18" charset="0"/>
                            </a:rPr>
                            <m:t>𝑉</m:t>
                          </m:r>
                        </m:sub>
                      </m:sSub>
                    </m:oMath>
                  </m:oMathPara>
                </a14:m>
                <a:endParaRPr lang="en-CN" dirty="0">
                  <a:solidFill>
                    <a:schemeClr val="accent5"/>
                  </a:solidFill>
                </a:endParaRPr>
              </a:p>
              <a:p>
                <a:r>
                  <a:rPr lang="en-CN" dirty="0">
                    <a:solidFill>
                      <a:schemeClr val="accent5"/>
                    </a:solidFill>
                  </a:rPr>
                  <a:t>    对单个dipole的Partition</a:t>
                </a:r>
                <a:r>
                  <a:rPr lang="zh-CN" altLang="en-US" dirty="0">
                    <a:solidFill>
                      <a:schemeClr val="accent5"/>
                    </a:solidFill>
                  </a:rPr>
                  <a:t> </a:t>
                </a:r>
                <a:r>
                  <a:rPr lang="en-US" altLang="zh-CN" dirty="0">
                    <a:solidFill>
                      <a:schemeClr val="accent5"/>
                    </a:solidFill>
                  </a:rPr>
                  <a:t>Function</a:t>
                </a:r>
              </a:p>
              <a:p>
                <a:pPr algn="ct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𝑍</m:t>
                      </m:r>
                      <m:r>
                        <a:rPr lang="en-US" b="0" i="1" smtClean="0">
                          <a:solidFill>
                            <a:schemeClr val="accent5"/>
                          </a:solidFill>
                          <a:latin typeface="Cambria Math" panose="02040503050406030204" pitchFamily="18" charset="0"/>
                        </a:rPr>
                        <m:t>=</m:t>
                      </m:r>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𝑒</m:t>
                          </m:r>
                        </m:e>
                        <m:sup>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𝜇</m:t>
                          </m:r>
                          <m:r>
                            <a:rPr lang="en-US" b="0" i="1" smtClean="0">
                              <a:solidFill>
                                <a:schemeClr val="accent5"/>
                              </a:solidFill>
                              <a:latin typeface="Cambria Math" panose="02040503050406030204" pitchFamily="18" charset="0"/>
                              <a:ea typeface="Cambria Math" panose="02040503050406030204" pitchFamily="18" charset="0"/>
                            </a:rPr>
                            <m:t>𝐵</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𝜏</m:t>
                          </m:r>
                        </m:sup>
                      </m:sSup>
                      <m:r>
                        <a:rPr lang="en-US" b="0" i="1" smtClean="0">
                          <a:solidFill>
                            <a:schemeClr val="accent5"/>
                          </a:solidFill>
                          <a:latin typeface="Cambria Math" panose="02040503050406030204" pitchFamily="18" charset="0"/>
                        </a:rPr>
                        <m:t>+</m:t>
                      </m:r>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𝑒</m:t>
                          </m:r>
                        </m:e>
                        <m:sup>
                          <m:r>
                            <a:rPr lang="en-US" b="0" i="1" smtClean="0">
                              <a:solidFill>
                                <a:schemeClr val="accent5"/>
                              </a:solidFill>
                              <a:latin typeface="Cambria Math" panose="02040503050406030204" pitchFamily="18" charset="0"/>
                              <a:ea typeface="Cambria Math" panose="02040503050406030204" pitchFamily="18" charset="0"/>
                            </a:rPr>
                            <m:t>𝜇</m:t>
                          </m:r>
                          <m:r>
                            <a:rPr lang="en-US" b="0" i="1" smtClean="0">
                              <a:solidFill>
                                <a:schemeClr val="accent5"/>
                              </a:solidFill>
                              <a:latin typeface="Cambria Math" panose="02040503050406030204" pitchFamily="18" charset="0"/>
                              <a:ea typeface="Cambria Math" panose="02040503050406030204" pitchFamily="18" charset="0"/>
                            </a:rPr>
                            <m:t>𝐵</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𝜏</m:t>
                          </m:r>
                        </m:sup>
                      </m:sSup>
                    </m:oMath>
                  </m:oMathPara>
                </a14:m>
                <a:endParaRPr lang="en-CN" dirty="0">
                  <a:solidFill>
                    <a:schemeClr val="accent5"/>
                  </a:solidFill>
                </a:endParaRPr>
              </a:p>
              <a:p>
                <a:r>
                  <a:rPr lang="en-CN" dirty="0">
                    <a:solidFill>
                      <a:schemeClr val="accent5"/>
                    </a:solidFill>
                  </a:rPr>
                  <a:t>    发现dipole朝上的概率</a:t>
                </a:r>
              </a:p>
              <a:p>
                <a:pPr algn="ctr"/>
                <a14:m>
                  <m:oMathPara xmlns:m="http://schemas.openxmlformats.org/officeDocument/2006/math">
                    <m:oMathParaPr>
                      <m:jc m:val="centerGroup"/>
                    </m:oMathParaPr>
                    <m:oMath xmlns:m="http://schemas.openxmlformats.org/officeDocument/2006/math">
                      <m:sSub>
                        <m:sSubPr>
                          <m:ctrlPr>
                            <a:rPr lang="en-CN"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𝑃</m:t>
                          </m:r>
                        </m:e>
                        <m:sub>
                          <m:r>
                            <a:rPr lang="en-CN" i="1" smtClean="0">
                              <a:solidFill>
                                <a:schemeClr val="accent5"/>
                              </a:solidFill>
                              <a:latin typeface="Cambria Math" panose="02040503050406030204" pitchFamily="18" charset="0"/>
                              <a:ea typeface="Cambria Math" panose="02040503050406030204" pitchFamily="18" charset="0"/>
                            </a:rPr>
                            <m:t>↑</m:t>
                          </m:r>
                        </m:sub>
                      </m:sSub>
                      <m:r>
                        <a:rPr lang="en-US" b="0" i="1" smtClean="0">
                          <a:solidFill>
                            <a:schemeClr val="accent5"/>
                          </a:solidFill>
                          <a:latin typeface="Cambria Math" panose="02040503050406030204" pitchFamily="18" charset="0"/>
                        </a:rPr>
                        <m:t>=</m:t>
                      </m:r>
                      <m:f>
                        <m:fPr>
                          <m:ctrlPr>
                            <a:rPr lang="en-US" b="0" i="1" smtClean="0">
                              <a:solidFill>
                                <a:schemeClr val="accent5"/>
                              </a:solidFill>
                              <a:latin typeface="Cambria Math" panose="02040503050406030204" pitchFamily="18" charset="0"/>
                            </a:rPr>
                          </m:ctrlPr>
                        </m:fPr>
                        <m:num>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𝑒</m:t>
                              </m:r>
                            </m:e>
                            <m:sup>
                              <m:r>
                                <a:rPr lang="en-US" b="0" i="1" smtClean="0">
                                  <a:solidFill>
                                    <a:schemeClr val="accent5"/>
                                  </a:solidFill>
                                  <a:latin typeface="Cambria Math" panose="02040503050406030204" pitchFamily="18" charset="0"/>
                                  <a:ea typeface="Cambria Math" panose="02040503050406030204" pitchFamily="18" charset="0"/>
                                </a:rPr>
                                <m:t>𝜇</m:t>
                              </m:r>
                              <m:r>
                                <a:rPr lang="en-US" b="0" i="1" smtClean="0">
                                  <a:solidFill>
                                    <a:schemeClr val="accent5"/>
                                  </a:solidFill>
                                  <a:latin typeface="Cambria Math" panose="02040503050406030204" pitchFamily="18" charset="0"/>
                                  <a:ea typeface="Cambria Math" panose="02040503050406030204" pitchFamily="18" charset="0"/>
                                </a:rPr>
                                <m:t>𝐵</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𝜏</m:t>
                              </m:r>
                            </m:sup>
                          </m:sSup>
                        </m:num>
                        <m:den>
                          <m:sSup>
                            <m:sSupPr>
                              <m:ctrlPr>
                                <a:rPr lang="en-US" i="1">
                                  <a:solidFill>
                                    <a:schemeClr val="accent5"/>
                                  </a:solidFill>
                                  <a:latin typeface="Cambria Math" panose="02040503050406030204" pitchFamily="18" charset="0"/>
                                </a:rPr>
                              </m:ctrlPr>
                            </m:sSupPr>
                            <m:e>
                              <m:r>
                                <a:rPr lang="en-US" i="1">
                                  <a:solidFill>
                                    <a:schemeClr val="accent5"/>
                                  </a:solidFill>
                                  <a:latin typeface="Cambria Math" panose="02040503050406030204" pitchFamily="18" charset="0"/>
                                </a:rPr>
                                <m:t>𝑒</m:t>
                              </m:r>
                            </m:e>
                            <m:sup>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𝜇</m:t>
                              </m:r>
                              <m:r>
                                <a:rPr lang="en-US" i="1">
                                  <a:solidFill>
                                    <a:schemeClr val="accent5"/>
                                  </a:solidFill>
                                  <a:latin typeface="Cambria Math" panose="02040503050406030204" pitchFamily="18" charset="0"/>
                                  <a:ea typeface="Cambria Math" panose="02040503050406030204" pitchFamily="18" charset="0"/>
                                </a:rPr>
                                <m:t>𝐵</m:t>
                              </m:r>
                              <m:r>
                                <a:rPr lang="en-US" i="1">
                                  <a:solidFill>
                                    <a:schemeClr val="accent5"/>
                                  </a:solidFill>
                                  <a:latin typeface="Cambria Math" panose="02040503050406030204" pitchFamily="18" charset="0"/>
                                  <a:ea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𝜏</m:t>
                              </m:r>
                            </m:sup>
                          </m:sSup>
                          <m:r>
                            <a:rPr lang="en-US" i="1">
                              <a:solidFill>
                                <a:schemeClr val="accent5"/>
                              </a:solidFill>
                              <a:latin typeface="Cambria Math" panose="02040503050406030204" pitchFamily="18" charset="0"/>
                            </a:rPr>
                            <m:t>+</m:t>
                          </m:r>
                          <m:sSup>
                            <m:sSupPr>
                              <m:ctrlPr>
                                <a:rPr lang="en-US" i="1">
                                  <a:solidFill>
                                    <a:schemeClr val="accent5"/>
                                  </a:solidFill>
                                  <a:latin typeface="Cambria Math" panose="02040503050406030204" pitchFamily="18" charset="0"/>
                                </a:rPr>
                              </m:ctrlPr>
                            </m:sSupPr>
                            <m:e>
                              <m:r>
                                <a:rPr lang="en-US" i="1">
                                  <a:solidFill>
                                    <a:schemeClr val="accent5"/>
                                  </a:solidFill>
                                  <a:latin typeface="Cambria Math" panose="02040503050406030204" pitchFamily="18" charset="0"/>
                                </a:rPr>
                                <m:t>𝑒</m:t>
                              </m:r>
                            </m:e>
                            <m:sup>
                              <m:r>
                                <a:rPr lang="en-US" i="1">
                                  <a:solidFill>
                                    <a:schemeClr val="accent5"/>
                                  </a:solidFill>
                                  <a:latin typeface="Cambria Math" panose="02040503050406030204" pitchFamily="18" charset="0"/>
                                  <a:ea typeface="Cambria Math" panose="02040503050406030204" pitchFamily="18" charset="0"/>
                                </a:rPr>
                                <m:t>𝜇</m:t>
                              </m:r>
                              <m:r>
                                <a:rPr lang="en-US" i="1">
                                  <a:solidFill>
                                    <a:schemeClr val="accent5"/>
                                  </a:solidFill>
                                  <a:latin typeface="Cambria Math" panose="02040503050406030204" pitchFamily="18" charset="0"/>
                                  <a:ea typeface="Cambria Math" panose="02040503050406030204" pitchFamily="18" charset="0"/>
                                </a:rPr>
                                <m:t>𝐵</m:t>
                              </m:r>
                              <m:r>
                                <a:rPr lang="en-US" i="1">
                                  <a:solidFill>
                                    <a:schemeClr val="accent5"/>
                                  </a:solidFill>
                                  <a:latin typeface="Cambria Math" panose="02040503050406030204" pitchFamily="18" charset="0"/>
                                  <a:ea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𝜏</m:t>
                              </m:r>
                            </m:sup>
                          </m:sSup>
                        </m:den>
                      </m:f>
                    </m:oMath>
                  </m:oMathPara>
                </a14:m>
                <a:endParaRPr lang="en-CN" dirty="0">
                  <a:solidFill>
                    <a:schemeClr val="accent5"/>
                  </a:solidFill>
                </a:endParaRPr>
              </a:p>
              <a:p>
                <a:r>
                  <a:rPr lang="en-CN" dirty="0">
                    <a:solidFill>
                      <a:schemeClr val="accent5"/>
                    </a:solidFill>
                  </a:rPr>
                  <a:t>    发现dipole朝下的概率</a:t>
                </a:r>
              </a:p>
              <a:p>
                <a:pPr algn="ctr"/>
                <a14:m>
                  <m:oMathPara xmlns:m="http://schemas.openxmlformats.org/officeDocument/2006/math">
                    <m:oMathParaPr>
                      <m:jc m:val="centerGroup"/>
                    </m:oMathParaPr>
                    <m:oMath xmlns:m="http://schemas.openxmlformats.org/officeDocument/2006/math">
                      <m:sSub>
                        <m:sSubPr>
                          <m:ctrlPr>
                            <a:rPr lang="en-CN" i="1">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rPr>
                            <m:t>𝑃</m:t>
                          </m:r>
                        </m:e>
                        <m:sub>
                          <m:r>
                            <a:rPr lang="en-CN" i="1" smtClean="0">
                              <a:solidFill>
                                <a:schemeClr val="accent5"/>
                              </a:solidFill>
                              <a:latin typeface="Cambria Math" panose="02040503050406030204" pitchFamily="18" charset="0"/>
                              <a:ea typeface="Cambria Math" panose="02040503050406030204" pitchFamily="18" charset="0"/>
                            </a:rPr>
                            <m:t>↓</m:t>
                          </m:r>
                        </m:sub>
                      </m:sSub>
                      <m:r>
                        <a:rPr lang="en-US" i="1">
                          <a:solidFill>
                            <a:schemeClr val="accent5"/>
                          </a:solidFill>
                          <a:latin typeface="Cambria Math" panose="02040503050406030204" pitchFamily="18" charset="0"/>
                        </a:rPr>
                        <m:t>=</m:t>
                      </m:r>
                      <m:f>
                        <m:fPr>
                          <m:ctrlPr>
                            <a:rPr lang="en-US" i="1">
                              <a:solidFill>
                                <a:schemeClr val="accent5"/>
                              </a:solidFill>
                              <a:latin typeface="Cambria Math" panose="02040503050406030204" pitchFamily="18" charset="0"/>
                            </a:rPr>
                          </m:ctrlPr>
                        </m:fPr>
                        <m:num>
                          <m:sSup>
                            <m:sSupPr>
                              <m:ctrlPr>
                                <a:rPr lang="en-US" i="1">
                                  <a:solidFill>
                                    <a:schemeClr val="accent5"/>
                                  </a:solidFill>
                                  <a:latin typeface="Cambria Math" panose="02040503050406030204" pitchFamily="18" charset="0"/>
                                </a:rPr>
                              </m:ctrlPr>
                            </m:sSupPr>
                            <m:e>
                              <m:r>
                                <a:rPr lang="en-US" i="1">
                                  <a:solidFill>
                                    <a:schemeClr val="accent5"/>
                                  </a:solidFill>
                                  <a:latin typeface="Cambria Math" panose="02040503050406030204" pitchFamily="18" charset="0"/>
                                </a:rPr>
                                <m:t>𝑒</m:t>
                              </m:r>
                            </m:e>
                            <m:sup>
                              <m:r>
                                <a:rPr lang="en-US" b="0" i="1" smtClean="0">
                                  <a:solidFill>
                                    <a:schemeClr val="accent5"/>
                                  </a:solidFill>
                                  <a:latin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𝜇</m:t>
                              </m:r>
                              <m:r>
                                <a:rPr lang="en-US" i="1">
                                  <a:solidFill>
                                    <a:schemeClr val="accent5"/>
                                  </a:solidFill>
                                  <a:latin typeface="Cambria Math" panose="02040503050406030204" pitchFamily="18" charset="0"/>
                                  <a:ea typeface="Cambria Math" panose="02040503050406030204" pitchFamily="18" charset="0"/>
                                </a:rPr>
                                <m:t>𝐵</m:t>
                              </m:r>
                              <m:r>
                                <a:rPr lang="en-US" i="1">
                                  <a:solidFill>
                                    <a:schemeClr val="accent5"/>
                                  </a:solidFill>
                                  <a:latin typeface="Cambria Math" panose="02040503050406030204" pitchFamily="18" charset="0"/>
                                  <a:ea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𝜏</m:t>
                              </m:r>
                            </m:sup>
                          </m:sSup>
                        </m:num>
                        <m:den>
                          <m:sSup>
                            <m:sSupPr>
                              <m:ctrlPr>
                                <a:rPr lang="en-US" i="1">
                                  <a:solidFill>
                                    <a:schemeClr val="accent5"/>
                                  </a:solidFill>
                                  <a:latin typeface="Cambria Math" panose="02040503050406030204" pitchFamily="18" charset="0"/>
                                </a:rPr>
                              </m:ctrlPr>
                            </m:sSupPr>
                            <m:e>
                              <m:r>
                                <a:rPr lang="en-US" i="1">
                                  <a:solidFill>
                                    <a:schemeClr val="accent5"/>
                                  </a:solidFill>
                                  <a:latin typeface="Cambria Math" panose="02040503050406030204" pitchFamily="18" charset="0"/>
                                </a:rPr>
                                <m:t>𝑒</m:t>
                              </m:r>
                            </m:e>
                            <m:sup>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𝜇</m:t>
                              </m:r>
                              <m:r>
                                <a:rPr lang="en-US" i="1">
                                  <a:solidFill>
                                    <a:schemeClr val="accent5"/>
                                  </a:solidFill>
                                  <a:latin typeface="Cambria Math" panose="02040503050406030204" pitchFamily="18" charset="0"/>
                                  <a:ea typeface="Cambria Math" panose="02040503050406030204" pitchFamily="18" charset="0"/>
                                </a:rPr>
                                <m:t>𝐵</m:t>
                              </m:r>
                              <m:r>
                                <a:rPr lang="en-US" i="1">
                                  <a:solidFill>
                                    <a:schemeClr val="accent5"/>
                                  </a:solidFill>
                                  <a:latin typeface="Cambria Math" panose="02040503050406030204" pitchFamily="18" charset="0"/>
                                  <a:ea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𝜏</m:t>
                              </m:r>
                            </m:sup>
                          </m:sSup>
                          <m:r>
                            <a:rPr lang="en-US" i="1">
                              <a:solidFill>
                                <a:schemeClr val="accent5"/>
                              </a:solidFill>
                              <a:latin typeface="Cambria Math" panose="02040503050406030204" pitchFamily="18" charset="0"/>
                            </a:rPr>
                            <m:t>+</m:t>
                          </m:r>
                          <m:sSup>
                            <m:sSupPr>
                              <m:ctrlPr>
                                <a:rPr lang="en-US" i="1">
                                  <a:solidFill>
                                    <a:schemeClr val="accent5"/>
                                  </a:solidFill>
                                  <a:latin typeface="Cambria Math" panose="02040503050406030204" pitchFamily="18" charset="0"/>
                                </a:rPr>
                              </m:ctrlPr>
                            </m:sSupPr>
                            <m:e>
                              <m:r>
                                <a:rPr lang="en-US" i="1">
                                  <a:solidFill>
                                    <a:schemeClr val="accent5"/>
                                  </a:solidFill>
                                  <a:latin typeface="Cambria Math" panose="02040503050406030204" pitchFamily="18" charset="0"/>
                                </a:rPr>
                                <m:t>𝑒</m:t>
                              </m:r>
                            </m:e>
                            <m:sup>
                              <m:r>
                                <a:rPr lang="en-US" i="1">
                                  <a:solidFill>
                                    <a:schemeClr val="accent5"/>
                                  </a:solidFill>
                                  <a:latin typeface="Cambria Math" panose="02040503050406030204" pitchFamily="18" charset="0"/>
                                  <a:ea typeface="Cambria Math" panose="02040503050406030204" pitchFamily="18" charset="0"/>
                                </a:rPr>
                                <m:t>𝜇</m:t>
                              </m:r>
                              <m:r>
                                <a:rPr lang="en-US" i="1">
                                  <a:solidFill>
                                    <a:schemeClr val="accent5"/>
                                  </a:solidFill>
                                  <a:latin typeface="Cambria Math" panose="02040503050406030204" pitchFamily="18" charset="0"/>
                                  <a:ea typeface="Cambria Math" panose="02040503050406030204" pitchFamily="18" charset="0"/>
                                </a:rPr>
                                <m:t>𝐵</m:t>
                              </m:r>
                              <m:r>
                                <a:rPr lang="en-US" i="1">
                                  <a:solidFill>
                                    <a:schemeClr val="accent5"/>
                                  </a:solidFill>
                                  <a:latin typeface="Cambria Math" panose="02040503050406030204" pitchFamily="18" charset="0"/>
                                  <a:ea typeface="Cambria Math" panose="02040503050406030204" pitchFamily="18" charset="0"/>
                                </a:rPr>
                                <m:t>/</m:t>
                              </m:r>
                              <m:r>
                                <a:rPr lang="en-US" i="1">
                                  <a:solidFill>
                                    <a:schemeClr val="accent5"/>
                                  </a:solidFill>
                                  <a:latin typeface="Cambria Math" panose="02040503050406030204" pitchFamily="18" charset="0"/>
                                  <a:ea typeface="Cambria Math" panose="02040503050406030204" pitchFamily="18" charset="0"/>
                                </a:rPr>
                                <m:t>𝜏</m:t>
                              </m:r>
                            </m:sup>
                          </m:sSup>
                        </m:den>
                      </m:f>
                    </m:oMath>
                  </m:oMathPara>
                </a14:m>
                <a:endParaRPr lang="en-CN" dirty="0">
                  <a:solidFill>
                    <a:schemeClr val="accent5"/>
                  </a:solidFill>
                </a:endParaRPr>
              </a:p>
              <a:p>
                <a:r>
                  <a:rPr lang="en-CN" dirty="0">
                    <a:solidFill>
                      <a:schemeClr val="accent5"/>
                    </a:solidFill>
                  </a:rPr>
                  <a:t>    平均能量</a:t>
                </a:r>
              </a:p>
              <a:p>
                <a:pPr algn="ctr"/>
                <a14:m>
                  <m:oMathPara xmlns:m="http://schemas.openxmlformats.org/officeDocument/2006/math">
                    <m:oMathParaPr>
                      <m:jc m:val="centerGroup"/>
                    </m:oMathParaPr>
                    <m:oMath xmlns:m="http://schemas.openxmlformats.org/officeDocument/2006/math">
                      <m:acc>
                        <m:accPr>
                          <m:chr m:val="̅"/>
                          <m:ctrlPr>
                            <a:rPr lang="en-CN" i="1" smtClean="0">
                              <a:solidFill>
                                <a:schemeClr val="accent5"/>
                              </a:solidFill>
                              <a:latin typeface="Cambria Math" panose="02040503050406030204" pitchFamily="18" charset="0"/>
                            </a:rPr>
                          </m:ctrlPr>
                        </m:accPr>
                        <m:e>
                          <m:r>
                            <a:rPr lang="en-US" b="0" i="1" smtClean="0">
                              <a:solidFill>
                                <a:schemeClr val="accent5"/>
                              </a:solidFill>
                              <a:latin typeface="Cambria Math" panose="02040503050406030204" pitchFamily="18" charset="0"/>
                            </a:rPr>
                            <m:t>𝐸</m:t>
                          </m:r>
                        </m:e>
                      </m:acc>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ea typeface="Cambria Math" panose="02040503050406030204" pitchFamily="18" charset="0"/>
                            </a:rPr>
                            <m:t>𝐵</m:t>
                          </m:r>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m:t>
                          </m:r>
                        </m:sub>
                      </m:sSub>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m:t>
                          </m:r>
                        </m:sub>
                      </m:sSub>
                      <m:r>
                        <a:rPr lang="en-US">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μ</m:t>
                      </m:r>
                      <m:r>
                        <a:rPr lang="en-US" i="1">
                          <a:latin typeface="Cambria Math" panose="02040503050406030204" pitchFamily="18" charset="0"/>
                          <a:ea typeface="Cambria Math" panose="02040503050406030204" pitchFamily="18" charset="0"/>
                        </a:rPr>
                        <m:t>𝐵</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tanh</m:t>
                          </m:r>
                        </m:fName>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𝐵</m:t>
                              </m:r>
                            </m:num>
                            <m:den>
                              <m:r>
                                <a:rPr lang="en-US" i="1">
                                  <a:latin typeface="Cambria Math" panose="02040503050406030204" pitchFamily="18" charset="0"/>
                                  <a:ea typeface="Cambria Math" panose="02040503050406030204" pitchFamily="18" charset="0"/>
                                </a:rPr>
                                <m:t>𝜏</m:t>
                              </m:r>
                            </m:den>
                          </m:f>
                        </m:e>
                      </m:func>
                      <m:r>
                        <a:rPr lang="en-US" b="0" i="1" smtClean="0">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num>
                        <m:den>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𝛽</m:t>
                          </m:r>
                        </m:den>
                      </m:f>
                      <m:func>
                        <m:funcPr>
                          <m:ctrlPr>
                            <a:rPr lang="en-US" i="1">
                              <a:solidFill>
                                <a:srgbClr val="FF0000"/>
                              </a:solidFill>
                              <a:latin typeface="Cambria Math" panose="02040503050406030204" pitchFamily="18" charset="0"/>
                            </a:rPr>
                          </m:ctrlPr>
                        </m:funcPr>
                        <m:fName>
                          <m:r>
                            <m:rPr>
                              <m:sty m:val="p"/>
                            </m:rPr>
                            <a:rPr lang="en-US">
                              <a:solidFill>
                                <a:srgbClr val="FF0000"/>
                              </a:solidFill>
                              <a:latin typeface="Cambria Math" panose="02040503050406030204" pitchFamily="18" charset="0"/>
                            </a:rPr>
                            <m:t>log</m:t>
                          </m:r>
                        </m:fName>
                        <m:e>
                          <m:r>
                            <a:rPr lang="en-US" i="1">
                              <a:solidFill>
                                <a:srgbClr val="FF0000"/>
                              </a:solidFill>
                              <a:latin typeface="Cambria Math" panose="02040503050406030204" pitchFamily="18" charset="0"/>
                            </a:rPr>
                            <m:t>𝑍</m:t>
                          </m:r>
                        </m:e>
                      </m:func>
                    </m:oMath>
                  </m:oMathPara>
                </a14:m>
                <a:endParaRPr lang="en-CN" dirty="0">
                  <a:solidFill>
                    <a:schemeClr val="accent5"/>
                  </a:solidFill>
                </a:endParaRPr>
              </a:p>
              <a:p>
                <a:r>
                  <a:rPr lang="en-CN" dirty="0">
                    <a:solidFill>
                      <a:schemeClr val="accent5"/>
                    </a:solidFill>
                  </a:rPr>
                  <a:t>    平均磁矩</a:t>
                </a:r>
              </a:p>
              <a:p>
                <a:pPr algn="ctr"/>
                <a14:m>
                  <m:oMathPara xmlns:m="http://schemas.openxmlformats.org/officeDocument/2006/math">
                    <m:oMathParaPr>
                      <m:jc m:val="centerGroup"/>
                    </m:oMathParaPr>
                    <m:oMath xmlns:m="http://schemas.openxmlformats.org/officeDocument/2006/math">
                      <m:acc>
                        <m:accPr>
                          <m:chr m:val="̅"/>
                          <m:ctrlPr>
                            <a:rPr lang="en-CN" i="1" smtClean="0">
                              <a:solidFill>
                                <a:schemeClr val="accent5"/>
                              </a:solidFill>
                              <a:latin typeface="Cambria Math" panose="02040503050406030204" pitchFamily="18" charset="0"/>
                            </a:rPr>
                          </m:ctrlPr>
                        </m:accPr>
                        <m:e>
                          <m:r>
                            <a:rPr lang="en-CN" i="1" smtClean="0">
                              <a:solidFill>
                                <a:schemeClr val="accent5"/>
                              </a:solidFill>
                              <a:latin typeface="Cambria Math" panose="02040503050406030204" pitchFamily="18" charset="0"/>
                              <a:ea typeface="Cambria Math" panose="02040503050406030204" pitchFamily="18" charset="0"/>
                            </a:rPr>
                            <m:t>𝜇</m:t>
                          </m:r>
                        </m:e>
                      </m:acc>
                      <m:r>
                        <a:rPr lang="en-US" b="0" i="1" smtClean="0">
                          <a:solidFill>
                            <a:schemeClr val="accent5"/>
                          </a:solidFill>
                          <a:latin typeface="Cambria Math" panose="02040503050406030204" pitchFamily="18" charset="0"/>
                        </a:rPr>
                        <m:t>=</m:t>
                      </m:r>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ea typeface="Cambria Math" panose="02040503050406030204" pitchFamily="18" charset="0"/>
                            </a:rPr>
                            <m:t>𝜇</m:t>
                          </m:r>
                        </m:e>
                      </m:d>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𝑃</m:t>
                          </m:r>
                        </m:e>
                        <m:sub>
                          <m:r>
                            <a:rPr lang="en-US" b="0" i="1" smtClean="0">
                              <a:solidFill>
                                <a:schemeClr val="accent5"/>
                              </a:solidFill>
                              <a:latin typeface="Cambria Math" panose="02040503050406030204" pitchFamily="18" charset="0"/>
                              <a:ea typeface="Cambria Math" panose="02040503050406030204" pitchFamily="18" charset="0"/>
                            </a:rPr>
                            <m:t>↑</m:t>
                          </m:r>
                        </m:sub>
                      </m:sSub>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𝜇</m:t>
                      </m:r>
                      <m:r>
                        <a:rPr lang="en-US" b="0" i="1" smtClean="0">
                          <a:solidFill>
                            <a:schemeClr val="accent5"/>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𝑃</m:t>
                          </m:r>
                        </m:e>
                        <m:sub>
                          <m:r>
                            <a:rPr lang="en-US" b="0" i="1" smtClean="0">
                              <a:solidFill>
                                <a:schemeClr val="accent5"/>
                              </a:solidFill>
                              <a:latin typeface="Cambria Math" panose="02040503050406030204" pitchFamily="18" charset="0"/>
                              <a:ea typeface="Cambria Math" panose="02040503050406030204" pitchFamily="18" charset="0"/>
                            </a:rPr>
                            <m:t>↓</m:t>
                          </m:r>
                        </m:sub>
                      </m:sSub>
                    </m:oMath>
                  </m:oMathPara>
                </a14:m>
                <a:endParaRPr lang="en-CN" dirty="0">
                  <a:solidFill>
                    <a:schemeClr val="accent5"/>
                  </a:solidFill>
                </a:endParaRPr>
              </a:p>
            </p:txBody>
          </p:sp>
        </mc:Choice>
        <mc:Fallback xmlns="">
          <p:sp>
            <p:nvSpPr>
              <p:cNvPr id="4" name="TextBox 3">
                <a:extLst>
                  <a:ext uri="{FF2B5EF4-FFF2-40B4-BE49-F238E27FC236}">
                    <a16:creationId xmlns:a16="http://schemas.microsoft.com/office/drawing/2014/main" id="{FBF809FC-97B9-4040-BC19-E2B05BB913E5}"/>
                  </a:ext>
                </a:extLst>
              </p:cNvPr>
              <p:cNvSpPr txBox="1">
                <a:spLocks noRot="1" noChangeAspect="1" noMove="1" noResize="1" noEditPoints="1" noAdjustHandles="1" noChangeArrowheads="1" noChangeShapeType="1" noTextEdit="1"/>
              </p:cNvSpPr>
              <p:nvPr/>
            </p:nvSpPr>
            <p:spPr>
              <a:xfrm>
                <a:off x="355600" y="321733"/>
                <a:ext cx="11362267" cy="6106608"/>
              </a:xfrm>
              <a:prstGeom prst="rect">
                <a:avLst/>
              </a:prstGeom>
              <a:blipFill>
                <a:blip r:embed="rId2"/>
                <a:stretch>
                  <a:fillRect l="-335" t="-415"/>
                </a:stretch>
              </a:blipFill>
            </p:spPr>
            <p:txBody>
              <a:bodyPr/>
              <a:lstStyle/>
              <a:p>
                <a:r>
                  <a:rPr lang="en-CN">
                    <a:noFill/>
                  </a:rPr>
                  <a:t> </a:t>
                </a:r>
              </a:p>
            </p:txBody>
          </p:sp>
        </mc:Fallback>
      </mc:AlternateContent>
      <p:cxnSp>
        <p:nvCxnSpPr>
          <p:cNvPr id="6" name="Straight Arrow Connector 5">
            <a:extLst>
              <a:ext uri="{FF2B5EF4-FFF2-40B4-BE49-F238E27FC236}">
                <a16:creationId xmlns:a16="http://schemas.microsoft.com/office/drawing/2014/main" id="{451142DB-60BF-9E4C-B38B-4F729B3925AA}"/>
              </a:ext>
            </a:extLst>
          </p:cNvPr>
          <p:cNvCxnSpPr/>
          <p:nvPr/>
        </p:nvCxnSpPr>
        <p:spPr>
          <a:xfrm flipV="1">
            <a:off x="9702800" y="1964267"/>
            <a:ext cx="0" cy="1862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13F624D-6E53-B142-B690-F06990BE2EA9}"/>
              </a:ext>
            </a:extLst>
          </p:cNvPr>
          <p:cNvCxnSpPr/>
          <p:nvPr/>
        </p:nvCxnSpPr>
        <p:spPr>
          <a:xfrm>
            <a:off x="9990667" y="3429000"/>
            <a:ext cx="8974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6BA4A30-BC66-7A4D-9F35-22FA3376DCD7}"/>
              </a:ext>
            </a:extLst>
          </p:cNvPr>
          <p:cNvCxnSpPr/>
          <p:nvPr/>
        </p:nvCxnSpPr>
        <p:spPr>
          <a:xfrm>
            <a:off x="9990667" y="2345267"/>
            <a:ext cx="897466"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450066D-1EE8-254F-80AA-D183AAB8A32D}"/>
              </a:ext>
            </a:extLst>
          </p:cNvPr>
          <p:cNvSpPr txBox="1"/>
          <p:nvPr/>
        </p:nvSpPr>
        <p:spPr>
          <a:xfrm>
            <a:off x="9559632" y="5227889"/>
            <a:ext cx="2276768" cy="646331"/>
          </a:xfrm>
          <a:prstGeom prst="rect">
            <a:avLst/>
          </a:prstGeom>
          <a:noFill/>
        </p:spPr>
        <p:txBody>
          <a:bodyPr wrap="square" rtlCol="0">
            <a:spAutoFit/>
          </a:bodyPr>
          <a:lstStyle/>
          <a:p>
            <a:r>
              <a:rPr lang="en-CN" dirty="0"/>
              <a:t>N个dipole的话</a:t>
            </a:r>
            <a:r>
              <a:rPr lang="zh-CN" altLang="en-US" dirty="0"/>
              <a:t>，</a:t>
            </a:r>
            <a:r>
              <a:rPr lang="en-US" altLang="zh-CN" dirty="0"/>
              <a:t>total</a:t>
            </a:r>
            <a:r>
              <a:rPr lang="zh-CN" altLang="en-US" dirty="0"/>
              <a:t>能量乘以</a:t>
            </a:r>
            <a:r>
              <a:rPr lang="en-US" altLang="zh-CN" dirty="0"/>
              <a:t>N</a:t>
            </a:r>
            <a:r>
              <a:rPr lang="zh-CN" altLang="en-US" dirty="0"/>
              <a:t>即可</a:t>
            </a:r>
            <a:endParaRPr lang="en-CN"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0FB0FDB-0D0D-8502-2A55-739B9D7634FB}"/>
                  </a:ext>
                </a:extLst>
              </p:cNvPr>
              <p:cNvSpPr txBox="1"/>
              <p:nvPr/>
            </p:nvSpPr>
            <p:spPr>
              <a:xfrm>
                <a:off x="8603527" y="655741"/>
                <a:ext cx="3843867" cy="8392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CN" sz="2000" i="1" smtClean="0">
                              <a:solidFill>
                                <a:srgbClr val="FF0000"/>
                              </a:solidFill>
                              <a:latin typeface="Cambria Math" panose="02040503050406030204" pitchFamily="18" charset="0"/>
                            </a:rPr>
                          </m:ctrlPr>
                        </m:accPr>
                        <m:e>
                          <m:r>
                            <a:rPr lang="en-US" sz="2000" b="0" i="1" smtClean="0">
                              <a:solidFill>
                                <a:srgbClr val="FF0000"/>
                              </a:solidFill>
                              <a:latin typeface="Cambria Math" panose="02040503050406030204" pitchFamily="18" charset="0"/>
                            </a:rPr>
                            <m:t>𝑋</m:t>
                          </m:r>
                        </m:e>
                      </m:acc>
                      <m:r>
                        <a:rPr lang="en-US" sz="2000" b="0" i="1" smtClean="0">
                          <a:solidFill>
                            <a:srgbClr val="FF0000"/>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m:t>
                          </m:r>
                        </m:num>
                        <m:den>
                          <m:r>
                            <a:rPr lang="en-US" sz="2000" b="0" i="1" smtClean="0">
                              <a:solidFill>
                                <a:srgbClr val="FF0000"/>
                              </a:solidFill>
                              <a:latin typeface="Cambria Math" panose="02040503050406030204" pitchFamily="18" charset="0"/>
                            </a:rPr>
                            <m:t>𝑍</m:t>
                          </m:r>
                        </m:den>
                      </m:f>
                      <m:nary>
                        <m:naryPr>
                          <m:chr m:val="∑"/>
                          <m:supHide m:val="on"/>
                          <m:ctrlPr>
                            <a:rPr lang="en-US" sz="2000" b="0" i="1" smtClean="0">
                              <a:solidFill>
                                <a:srgbClr val="FF0000"/>
                              </a:solidFill>
                              <a:latin typeface="Cambria Math" panose="02040503050406030204" pitchFamily="18" charset="0"/>
                            </a:rPr>
                          </m:ctrlPr>
                        </m:naryPr>
                        <m:sub>
                          <m:r>
                            <m:rPr>
                              <m:brk m:alnAt="7"/>
                            </m:rPr>
                            <a:rPr lang="en-US" sz="2000" b="0" i="1" smtClean="0">
                              <a:solidFill>
                                <a:srgbClr val="FF0000"/>
                              </a:solidFill>
                              <a:latin typeface="Cambria Math" panose="02040503050406030204" pitchFamily="18" charset="0"/>
                            </a:rPr>
                            <m:t>𝑠</m:t>
                          </m:r>
                        </m:sub>
                        <m:sup/>
                        <m:e>
                          <m:r>
                            <a:rPr lang="en-US" sz="2000" b="0" i="1" smtClean="0">
                              <a:solidFill>
                                <a:srgbClr val="FF0000"/>
                              </a:solidFill>
                              <a:latin typeface="Cambria Math" panose="02040503050406030204" pitchFamily="18" charset="0"/>
                            </a:rPr>
                            <m:t>𝑋</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𝑠</m:t>
                          </m:r>
                          <m:r>
                            <a:rPr lang="en-US" sz="2000" b="0" i="1" smtClean="0">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𝑒</m:t>
                              </m:r>
                            </m:e>
                            <m:sup>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𝜀</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𝑠</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𝜏</m:t>
                              </m:r>
                            </m:sup>
                          </m:sSup>
                        </m:e>
                      </m:nary>
                    </m:oMath>
                  </m:oMathPara>
                </a14:m>
                <a:endParaRPr lang="en-CN" sz="2000" dirty="0"/>
              </a:p>
            </p:txBody>
          </p:sp>
        </mc:Choice>
        <mc:Fallback xmlns="">
          <p:sp>
            <p:nvSpPr>
              <p:cNvPr id="2" name="TextBox 1">
                <a:extLst>
                  <a:ext uri="{FF2B5EF4-FFF2-40B4-BE49-F238E27FC236}">
                    <a16:creationId xmlns:a16="http://schemas.microsoft.com/office/drawing/2014/main" id="{E0FB0FDB-0D0D-8502-2A55-739B9D7634FB}"/>
                  </a:ext>
                </a:extLst>
              </p:cNvPr>
              <p:cNvSpPr txBox="1">
                <a:spLocks noRot="1" noChangeAspect="1" noMove="1" noResize="1" noEditPoints="1" noAdjustHandles="1" noChangeArrowheads="1" noChangeShapeType="1" noTextEdit="1"/>
              </p:cNvSpPr>
              <p:nvPr/>
            </p:nvSpPr>
            <p:spPr>
              <a:xfrm>
                <a:off x="8603527" y="655741"/>
                <a:ext cx="3843867" cy="839204"/>
              </a:xfrm>
              <a:prstGeom prst="rect">
                <a:avLst/>
              </a:prstGeom>
              <a:blipFill>
                <a:blip r:embed="rId3"/>
                <a:stretch>
                  <a:fillRect t="-125373" b="-174627"/>
                </a:stretch>
              </a:blipFill>
            </p:spPr>
            <p:txBody>
              <a:bodyPr/>
              <a:lstStyle/>
              <a:p>
                <a:r>
                  <a:rPr lang="en-CN">
                    <a:noFill/>
                  </a:rPr>
                  <a:t> </a:t>
                </a:r>
              </a:p>
            </p:txBody>
          </p:sp>
        </mc:Fallback>
      </mc:AlternateContent>
    </p:spTree>
    <p:extLst>
      <p:ext uri="{BB962C8B-B14F-4D97-AF65-F5344CB8AC3E}">
        <p14:creationId xmlns:p14="http://schemas.microsoft.com/office/powerpoint/2010/main" val="874679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F809FC-97B9-4040-BC19-E2B05BB913E5}"/>
                  </a:ext>
                </a:extLst>
              </p:cNvPr>
              <p:cNvSpPr txBox="1"/>
              <p:nvPr/>
            </p:nvSpPr>
            <p:spPr>
              <a:xfrm>
                <a:off x="355600" y="321733"/>
                <a:ext cx="11362267" cy="2136034"/>
              </a:xfrm>
              <a:prstGeom prst="rect">
                <a:avLst/>
              </a:prstGeom>
              <a:noFill/>
            </p:spPr>
            <p:txBody>
              <a:bodyPr wrap="square" rtlCol="0">
                <a:spAutoFit/>
              </a:bodyPr>
              <a:lstStyle/>
              <a:p>
                <a:r>
                  <a:rPr lang="en-CN" dirty="0"/>
                  <a:t>Q-4: Rotation of Diatomic Molecules</a:t>
                </a:r>
                <a:r>
                  <a:rPr lang="zh-CN" altLang="en-US" dirty="0"/>
                  <a:t>（双原子分子旋转）</a:t>
                </a:r>
                <a:endParaRPr lang="en-CN" dirty="0"/>
              </a:p>
              <a:p>
                <a:pPr algn="ctr"/>
                <a14:m>
                  <m:oMathPara xmlns:m="http://schemas.openxmlformats.org/officeDocument/2006/math">
                    <m:oMathParaPr>
                      <m:jc m:val="centerGroup"/>
                    </m:oMathParaPr>
                    <m:oMath xmlns:m="http://schemas.openxmlformats.org/officeDocument/2006/math">
                      <m:r>
                        <a:rPr lang="en-CN" i="1" smtClean="0">
                          <a:solidFill>
                            <a:schemeClr val="accent5"/>
                          </a:solidFill>
                          <a:latin typeface="Cambria Math" panose="02040503050406030204" pitchFamily="18" charset="0"/>
                          <a:ea typeface="Cambria Math" panose="02040503050406030204" pitchFamily="18" charset="0"/>
                        </a:rPr>
                        <m:t>𝜀</m:t>
                      </m:r>
                      <m:d>
                        <m:dPr>
                          <m:ctrlPr>
                            <a:rPr lang="en-US" b="0" i="1" smtClean="0">
                              <a:solidFill>
                                <a:schemeClr val="accent5"/>
                              </a:solidFill>
                              <a:latin typeface="Cambria Math" panose="02040503050406030204" pitchFamily="18" charset="0"/>
                              <a:ea typeface="Cambria Math" panose="02040503050406030204" pitchFamily="18" charset="0"/>
                            </a:rPr>
                          </m:ctrlPr>
                        </m:dPr>
                        <m:e>
                          <m:r>
                            <a:rPr lang="en-US" b="0" i="1" smtClean="0">
                              <a:solidFill>
                                <a:schemeClr val="accent5"/>
                              </a:solidFill>
                              <a:latin typeface="Cambria Math" panose="02040503050406030204" pitchFamily="18" charset="0"/>
                              <a:ea typeface="Cambria Math" panose="02040503050406030204" pitchFamily="18" charset="0"/>
                            </a:rPr>
                            <m:t>𝑗</m:t>
                          </m:r>
                        </m:e>
                      </m:d>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𝑗</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𝑗</m:t>
                      </m:r>
                      <m:r>
                        <a:rPr lang="en-US" b="0" i="1" smtClean="0">
                          <a:solidFill>
                            <a:schemeClr val="accent5"/>
                          </a:solidFill>
                          <a:latin typeface="Cambria Math" panose="02040503050406030204" pitchFamily="18" charset="0"/>
                          <a:ea typeface="Cambria Math" panose="02040503050406030204" pitchFamily="18" charset="0"/>
                        </a:rPr>
                        <m:t>+1)</m:t>
                      </m:r>
                      <m:r>
                        <a:rPr lang="en-US" b="0" i="1" smtClean="0">
                          <a:solidFill>
                            <a:schemeClr val="accent5"/>
                          </a:solidFill>
                          <a:latin typeface="Cambria Math" panose="02040503050406030204" pitchFamily="18" charset="0"/>
                          <a:ea typeface="Cambria Math" panose="02040503050406030204" pitchFamily="18" charset="0"/>
                        </a:rPr>
                        <m:t>𝜖</m:t>
                      </m:r>
                    </m:oMath>
                  </m:oMathPara>
                </a14:m>
                <a:endParaRPr lang="en-CN" dirty="0">
                  <a:solidFill>
                    <a:schemeClr val="accent5"/>
                  </a:solidFill>
                </a:endParaRPr>
              </a:p>
              <a:p>
                <a:r>
                  <a:rPr lang="en-US" dirty="0">
                    <a:solidFill>
                      <a:schemeClr val="accent5"/>
                    </a:solidFill>
                  </a:rPr>
                  <a:t>W</a:t>
                </a:r>
                <a:r>
                  <a:rPr lang="en-CN" dirty="0">
                    <a:solidFill>
                      <a:schemeClr val="accent5"/>
                    </a:solidFill>
                  </a:rPr>
                  <a:t>here j can be 0,1,2, etc., and </a:t>
                </a:r>
                <a14:m>
                  <m:oMath xmlns:m="http://schemas.openxmlformats.org/officeDocument/2006/math">
                    <m:r>
                      <a:rPr lang="en-CN" i="1" smtClean="0">
                        <a:solidFill>
                          <a:schemeClr val="accent5"/>
                        </a:solidFill>
                        <a:latin typeface="Cambria Math" panose="02040503050406030204" pitchFamily="18" charset="0"/>
                        <a:ea typeface="Cambria Math" panose="02040503050406030204" pitchFamily="18" charset="0"/>
                      </a:rPr>
                      <m:t>𝜖</m:t>
                    </m:r>
                  </m:oMath>
                </a14:m>
                <a:r>
                  <a:rPr lang="en-CN" dirty="0">
                    <a:solidFill>
                      <a:schemeClr val="accent5"/>
                    </a:solidFill>
                  </a:rPr>
                  <a:t> is a constant that is inversely proportional to the molecule’s moment of inertia. The number of degenerate states for level j is 2j+1.</a:t>
                </a:r>
              </a:p>
              <a:p>
                <a:endParaRPr lang="en-CN" dirty="0">
                  <a:solidFill>
                    <a:schemeClr val="accent5"/>
                  </a:solidFill>
                </a:endParaRPr>
              </a:p>
              <a:p>
                <a:r>
                  <a:rPr lang="en-CN" dirty="0">
                    <a:solidFill>
                      <a:schemeClr val="accent5"/>
                    </a:solidFill>
                  </a:rPr>
                  <a:t>Partition Function</a:t>
                </a:r>
              </a:p>
              <a:p>
                <a:pPr algn="ctr"/>
                <a14:m>
                  <m:oMath xmlns:m="http://schemas.openxmlformats.org/officeDocument/2006/math">
                    <m:r>
                      <a:rPr lang="en-US" b="0" i="1" smtClean="0">
                        <a:solidFill>
                          <a:schemeClr val="accent5"/>
                        </a:solidFill>
                        <a:latin typeface="Cambria Math" panose="02040503050406030204" pitchFamily="18" charset="0"/>
                      </a:rPr>
                      <m:t>𝑍</m:t>
                    </m:r>
                    <m:r>
                      <a:rPr lang="en-US" b="0" i="1" smtClean="0">
                        <a:solidFill>
                          <a:schemeClr val="accent5"/>
                        </a:solidFill>
                        <a:latin typeface="Cambria Math" panose="02040503050406030204" pitchFamily="18" charset="0"/>
                      </a:rPr>
                      <m:t>=</m:t>
                    </m:r>
                    <m:nary>
                      <m:naryPr>
                        <m:chr m:val="∑"/>
                        <m:ctrlPr>
                          <a:rPr lang="en-US" b="0" i="1" smtClean="0">
                            <a:solidFill>
                              <a:schemeClr val="accent5"/>
                            </a:solidFill>
                            <a:latin typeface="Cambria Math" panose="02040503050406030204" pitchFamily="18" charset="0"/>
                          </a:rPr>
                        </m:ctrlPr>
                      </m:naryPr>
                      <m:sub>
                        <m:r>
                          <m:rPr>
                            <m:brk m:alnAt="23"/>
                          </m:rP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=0</m:t>
                        </m:r>
                      </m:sub>
                      <m:sup>
                        <m:r>
                          <a:rPr lang="en-US" b="0" i="1" smtClean="0">
                            <a:solidFill>
                              <a:schemeClr val="accent5"/>
                            </a:solidFill>
                            <a:latin typeface="Cambria Math" panose="02040503050406030204" pitchFamily="18" charset="0"/>
                            <a:ea typeface="Cambria Math" panose="02040503050406030204" pitchFamily="18" charset="0"/>
                          </a:rPr>
                          <m:t>∞</m:t>
                        </m:r>
                      </m:sup>
                      <m:e>
                        <m:r>
                          <a:rPr lang="en-US" b="0" i="1" smtClean="0">
                            <a:solidFill>
                              <a:schemeClr val="accent5"/>
                            </a:solidFill>
                            <a:latin typeface="Cambria Math" panose="02040503050406030204" pitchFamily="18" charset="0"/>
                          </a:rPr>
                          <m:t>(2</m:t>
                        </m:r>
                        <m: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+1)</m:t>
                        </m:r>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𝑒</m:t>
                            </m:r>
                          </m:e>
                          <m:sup>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+1)</m:t>
                            </m:r>
                            <m:r>
                              <a:rPr lang="en-US" b="0" i="1" smtClean="0">
                                <a:solidFill>
                                  <a:schemeClr val="accent5"/>
                                </a:solidFill>
                                <a:latin typeface="Cambria Math" panose="02040503050406030204" pitchFamily="18" charset="0"/>
                                <a:ea typeface="Cambria Math" panose="02040503050406030204" pitchFamily="18" charset="0"/>
                              </a:rPr>
                              <m:t>𝜖</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𝜏</m:t>
                            </m:r>
                          </m:sup>
                        </m:sSup>
                      </m:e>
                    </m:nary>
                  </m:oMath>
                </a14:m>
                <a:r>
                  <a:rPr lang="en-CN" dirty="0">
                    <a:solidFill>
                      <a:schemeClr val="accent5"/>
                    </a:solidFill>
                  </a:rPr>
                  <a:t> </a:t>
                </a:r>
              </a:p>
            </p:txBody>
          </p:sp>
        </mc:Choice>
        <mc:Fallback xmlns="">
          <p:sp>
            <p:nvSpPr>
              <p:cNvPr id="4" name="TextBox 3">
                <a:extLst>
                  <a:ext uri="{FF2B5EF4-FFF2-40B4-BE49-F238E27FC236}">
                    <a16:creationId xmlns:a16="http://schemas.microsoft.com/office/drawing/2014/main" id="{FBF809FC-97B9-4040-BC19-E2B05BB913E5}"/>
                  </a:ext>
                </a:extLst>
              </p:cNvPr>
              <p:cNvSpPr txBox="1">
                <a:spLocks noRot="1" noChangeAspect="1" noMove="1" noResize="1" noEditPoints="1" noAdjustHandles="1" noChangeArrowheads="1" noChangeShapeType="1" noTextEdit="1"/>
              </p:cNvSpPr>
              <p:nvPr/>
            </p:nvSpPr>
            <p:spPr>
              <a:xfrm>
                <a:off x="355600" y="321733"/>
                <a:ext cx="11362267" cy="2136034"/>
              </a:xfrm>
              <a:prstGeom prst="rect">
                <a:avLst/>
              </a:prstGeom>
              <a:blipFill>
                <a:blip r:embed="rId2"/>
                <a:stretch>
                  <a:fillRect l="-335" t="-1183" b="-24852"/>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EA3CA48D-E11B-DB46-8BA2-0DDA4DE424F6}"/>
              </a:ext>
            </a:extLst>
          </p:cNvPr>
          <p:cNvPicPr>
            <a:picLocks noChangeAspect="1"/>
          </p:cNvPicPr>
          <p:nvPr/>
        </p:nvPicPr>
        <p:blipFill>
          <a:blip r:embed="rId3"/>
          <a:stretch>
            <a:fillRect/>
          </a:stretch>
        </p:blipFill>
        <p:spPr>
          <a:xfrm>
            <a:off x="7573331" y="2812473"/>
            <a:ext cx="4144536" cy="2574636"/>
          </a:xfrm>
          <a:prstGeom prst="rect">
            <a:avLst/>
          </a:prstGeom>
        </p:spPr>
      </p:pic>
      <p:pic>
        <p:nvPicPr>
          <p:cNvPr id="5" name="Picture 4">
            <a:extLst>
              <a:ext uri="{FF2B5EF4-FFF2-40B4-BE49-F238E27FC236}">
                <a16:creationId xmlns:a16="http://schemas.microsoft.com/office/drawing/2014/main" id="{D2DF1DD5-F396-4148-8A4E-6F58F325B514}"/>
              </a:ext>
            </a:extLst>
          </p:cNvPr>
          <p:cNvPicPr>
            <a:picLocks noChangeAspect="1"/>
          </p:cNvPicPr>
          <p:nvPr/>
        </p:nvPicPr>
        <p:blipFill>
          <a:blip r:embed="rId4"/>
          <a:stretch>
            <a:fillRect/>
          </a:stretch>
        </p:blipFill>
        <p:spPr>
          <a:xfrm>
            <a:off x="761999" y="2607541"/>
            <a:ext cx="4447309" cy="277956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DDDF6D0-DB25-DA41-A649-ABAFE745282F}"/>
                  </a:ext>
                </a:extLst>
              </p:cNvPr>
              <p:cNvSpPr txBox="1"/>
              <p:nvPr/>
            </p:nvSpPr>
            <p:spPr>
              <a:xfrm>
                <a:off x="2175164" y="3269673"/>
                <a:ext cx="928254" cy="5629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𝜏</m:t>
                          </m:r>
                        </m:num>
                        <m:den>
                          <m:r>
                            <a:rPr lang="en-CN" i="1" smtClean="0">
                              <a:latin typeface="Cambria Math" panose="02040503050406030204" pitchFamily="18" charset="0"/>
                              <a:ea typeface="Cambria Math" panose="02040503050406030204" pitchFamily="18" charset="0"/>
                            </a:rPr>
                            <m:t>𝜖</m:t>
                          </m:r>
                        </m:den>
                      </m:f>
                      <m:r>
                        <a:rPr lang="en-US" b="0" i="1" smtClean="0">
                          <a:latin typeface="Cambria Math" panose="02040503050406030204" pitchFamily="18" charset="0"/>
                        </a:rPr>
                        <m:t>=20</m:t>
                      </m:r>
                    </m:oMath>
                  </m:oMathPara>
                </a14:m>
                <a:endParaRPr lang="en-CN" dirty="0"/>
              </a:p>
            </p:txBody>
          </p:sp>
        </mc:Choice>
        <mc:Fallback xmlns="">
          <p:sp>
            <p:nvSpPr>
              <p:cNvPr id="7" name="TextBox 6">
                <a:extLst>
                  <a:ext uri="{FF2B5EF4-FFF2-40B4-BE49-F238E27FC236}">
                    <a16:creationId xmlns:a16="http://schemas.microsoft.com/office/drawing/2014/main" id="{2DDDF6D0-DB25-DA41-A649-ABAFE745282F}"/>
                  </a:ext>
                </a:extLst>
              </p:cNvPr>
              <p:cNvSpPr txBox="1">
                <a:spLocks noRot="1" noChangeAspect="1" noMove="1" noResize="1" noEditPoints="1" noAdjustHandles="1" noChangeArrowheads="1" noChangeShapeType="1" noTextEdit="1"/>
              </p:cNvSpPr>
              <p:nvPr/>
            </p:nvSpPr>
            <p:spPr>
              <a:xfrm>
                <a:off x="2175164" y="3269673"/>
                <a:ext cx="928254" cy="562975"/>
              </a:xfrm>
              <a:prstGeom prst="rect">
                <a:avLst/>
              </a:prstGeom>
              <a:blipFill>
                <a:blip r:embed="rId5"/>
                <a:stretch>
                  <a:fillRect b="-22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27BA1F3-F63C-9A4F-916A-5BA20F67412E}"/>
                  </a:ext>
                </a:extLst>
              </p:cNvPr>
              <p:cNvSpPr txBox="1"/>
              <p:nvPr/>
            </p:nvSpPr>
            <p:spPr>
              <a:xfrm>
                <a:off x="9707942" y="3269673"/>
                <a:ext cx="1070893" cy="5647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𝜏</m:t>
                          </m:r>
                        </m:num>
                        <m:den>
                          <m:r>
                            <a:rPr lang="en-CN" i="1" smtClean="0">
                              <a:latin typeface="Cambria Math" panose="02040503050406030204" pitchFamily="18" charset="0"/>
                              <a:ea typeface="Cambria Math" panose="02040503050406030204" pitchFamily="18" charset="0"/>
                            </a:rPr>
                            <m:t>𝜖</m:t>
                          </m:r>
                        </m:den>
                      </m:f>
                      <m:r>
                        <a:rPr lang="en-US" b="0" i="1" smtClean="0">
                          <a:latin typeface="Cambria Math" panose="02040503050406030204" pitchFamily="18" charset="0"/>
                        </a:rPr>
                        <m:t>=100</m:t>
                      </m:r>
                    </m:oMath>
                  </m:oMathPara>
                </a14:m>
                <a:endParaRPr lang="en-CN" dirty="0"/>
              </a:p>
            </p:txBody>
          </p:sp>
        </mc:Choice>
        <mc:Fallback xmlns="">
          <p:sp>
            <p:nvSpPr>
              <p:cNvPr id="10" name="TextBox 9">
                <a:extLst>
                  <a:ext uri="{FF2B5EF4-FFF2-40B4-BE49-F238E27FC236}">
                    <a16:creationId xmlns:a16="http://schemas.microsoft.com/office/drawing/2014/main" id="{A27BA1F3-F63C-9A4F-916A-5BA20F67412E}"/>
                  </a:ext>
                </a:extLst>
              </p:cNvPr>
              <p:cNvSpPr txBox="1">
                <a:spLocks noRot="1" noChangeAspect="1" noMove="1" noResize="1" noEditPoints="1" noAdjustHandles="1" noChangeArrowheads="1" noChangeShapeType="1" noTextEdit="1"/>
              </p:cNvSpPr>
              <p:nvPr/>
            </p:nvSpPr>
            <p:spPr>
              <a:xfrm>
                <a:off x="9707942" y="3269673"/>
                <a:ext cx="1070893" cy="564770"/>
              </a:xfrm>
              <a:prstGeom prst="rect">
                <a:avLst/>
              </a:prstGeom>
              <a:blipFill>
                <a:blip r:embed="rId6"/>
                <a:stretch>
                  <a:fillRect b="-2222"/>
                </a:stretch>
              </a:blipFill>
            </p:spPr>
            <p:txBody>
              <a:bodyPr/>
              <a:lstStyle/>
              <a:p>
                <a:r>
                  <a:rPr lang="en-CN">
                    <a:noFill/>
                  </a:rPr>
                  <a:t> </a:t>
                </a:r>
              </a:p>
            </p:txBody>
          </p:sp>
        </mc:Fallback>
      </mc:AlternateContent>
      <p:sp>
        <p:nvSpPr>
          <p:cNvPr id="11" name="Down Arrow 10">
            <a:extLst>
              <a:ext uri="{FF2B5EF4-FFF2-40B4-BE49-F238E27FC236}">
                <a16:creationId xmlns:a16="http://schemas.microsoft.com/office/drawing/2014/main" id="{ACB0AD86-402D-B34F-9060-D5ABC164CC48}"/>
              </a:ext>
            </a:extLst>
          </p:cNvPr>
          <p:cNvSpPr/>
          <p:nvPr/>
        </p:nvSpPr>
        <p:spPr>
          <a:xfrm>
            <a:off x="5638800" y="2607541"/>
            <a:ext cx="457200" cy="30312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483622F-944E-8642-9CE8-90726426AF1E}"/>
                  </a:ext>
                </a:extLst>
              </p:cNvPr>
              <p:cNvSpPr txBox="1"/>
              <p:nvPr/>
            </p:nvSpPr>
            <p:spPr>
              <a:xfrm>
                <a:off x="3255818" y="5805055"/>
                <a:ext cx="5278582" cy="7005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m:t>
                              </m:r>
                            </m:e>
                          </m: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𝑥</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𝜖</m:t>
                                  </m:r>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𝜖</m:t>
                              </m:r>
                            </m:den>
                          </m:f>
                        </m:e>
                      </m:nary>
                    </m:oMath>
                  </m:oMathPara>
                </a14:m>
                <a:endParaRPr lang="en-CN" dirty="0"/>
              </a:p>
            </p:txBody>
          </p:sp>
        </mc:Choice>
        <mc:Fallback xmlns="">
          <p:sp>
            <p:nvSpPr>
              <p:cNvPr id="12" name="TextBox 11">
                <a:extLst>
                  <a:ext uri="{FF2B5EF4-FFF2-40B4-BE49-F238E27FC236}">
                    <a16:creationId xmlns:a16="http://schemas.microsoft.com/office/drawing/2014/main" id="{5483622F-944E-8642-9CE8-90726426AF1E}"/>
                  </a:ext>
                </a:extLst>
              </p:cNvPr>
              <p:cNvSpPr txBox="1">
                <a:spLocks noRot="1" noChangeAspect="1" noMove="1" noResize="1" noEditPoints="1" noAdjustHandles="1" noChangeArrowheads="1" noChangeShapeType="1" noTextEdit="1"/>
              </p:cNvSpPr>
              <p:nvPr/>
            </p:nvSpPr>
            <p:spPr>
              <a:xfrm>
                <a:off x="3255818" y="5805055"/>
                <a:ext cx="5278582" cy="700576"/>
              </a:xfrm>
              <a:prstGeom prst="rect">
                <a:avLst/>
              </a:prstGeom>
              <a:blipFill>
                <a:blip r:embed="rId7"/>
                <a:stretch>
                  <a:fillRect t="-152632" b="-22807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4AF5145-427C-3D45-8104-2FD9682340C5}"/>
                  </a:ext>
                </a:extLst>
              </p:cNvPr>
              <p:cNvSpPr txBox="1"/>
              <p:nvPr/>
            </p:nvSpPr>
            <p:spPr>
              <a:xfrm>
                <a:off x="6096000" y="3429000"/>
                <a:ext cx="8312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𝜖</m:t>
                      </m:r>
                    </m:oMath>
                  </m:oMathPara>
                </a14:m>
                <a:endParaRPr lang="en-CN" dirty="0"/>
              </a:p>
            </p:txBody>
          </p:sp>
        </mc:Choice>
        <mc:Fallback xmlns="">
          <p:sp>
            <p:nvSpPr>
              <p:cNvPr id="13" name="TextBox 12">
                <a:extLst>
                  <a:ext uri="{FF2B5EF4-FFF2-40B4-BE49-F238E27FC236}">
                    <a16:creationId xmlns:a16="http://schemas.microsoft.com/office/drawing/2014/main" id="{24AF5145-427C-3D45-8104-2FD9682340C5}"/>
                  </a:ext>
                </a:extLst>
              </p:cNvPr>
              <p:cNvSpPr txBox="1">
                <a:spLocks noRot="1" noChangeAspect="1" noMove="1" noResize="1" noEditPoints="1" noAdjustHandles="1" noChangeArrowheads="1" noChangeShapeType="1" noTextEdit="1"/>
              </p:cNvSpPr>
              <p:nvPr/>
            </p:nvSpPr>
            <p:spPr>
              <a:xfrm>
                <a:off x="6096000" y="3429000"/>
                <a:ext cx="831273" cy="369332"/>
              </a:xfrm>
              <a:prstGeom prst="rect">
                <a:avLst/>
              </a:prstGeom>
              <a:blipFill>
                <a:blip r:embed="rId8"/>
                <a:stretch>
                  <a:fillRect/>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A3C02207-056C-07DB-ABDF-C8034133BF73}"/>
              </a:ext>
            </a:extLst>
          </p:cNvPr>
          <p:cNvSpPr txBox="1"/>
          <p:nvPr/>
        </p:nvSpPr>
        <p:spPr>
          <a:xfrm>
            <a:off x="4507454" y="3980329"/>
            <a:ext cx="2743200" cy="369332"/>
          </a:xfrm>
          <a:prstGeom prst="rect">
            <a:avLst/>
          </a:prstGeom>
          <a:noFill/>
        </p:spPr>
        <p:txBody>
          <a:bodyPr wrap="square" rtlCol="0">
            <a:spAutoFit/>
          </a:bodyPr>
          <a:lstStyle/>
          <a:p>
            <a:pPr algn="ctr"/>
            <a:r>
              <a:rPr lang="en-CN" b="1" dirty="0">
                <a:solidFill>
                  <a:srgbClr val="FF0000"/>
                </a:solidFill>
              </a:rPr>
              <a:t>求和变积分</a:t>
            </a:r>
            <a:r>
              <a:rPr lang="zh-CN" altLang="en-US" b="1" dirty="0">
                <a:solidFill>
                  <a:srgbClr val="FF0000"/>
                </a:solidFill>
              </a:rPr>
              <a:t>！！！</a:t>
            </a:r>
            <a:endParaRPr lang="en-CN" b="1" dirty="0">
              <a:solidFill>
                <a:srgbClr val="FF0000"/>
              </a:solidFill>
            </a:endParaRPr>
          </a:p>
        </p:txBody>
      </p:sp>
    </p:spTree>
    <p:extLst>
      <p:ext uri="{BB962C8B-B14F-4D97-AF65-F5344CB8AC3E}">
        <p14:creationId xmlns:p14="http://schemas.microsoft.com/office/powerpoint/2010/main" val="3143632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F809FC-97B9-4040-BC19-E2B05BB913E5}"/>
                  </a:ext>
                </a:extLst>
              </p:cNvPr>
              <p:cNvSpPr txBox="1"/>
              <p:nvPr/>
            </p:nvSpPr>
            <p:spPr>
              <a:xfrm>
                <a:off x="355600" y="321733"/>
                <a:ext cx="11362267" cy="2136034"/>
              </a:xfrm>
              <a:prstGeom prst="rect">
                <a:avLst/>
              </a:prstGeom>
              <a:noFill/>
            </p:spPr>
            <p:txBody>
              <a:bodyPr wrap="square" rtlCol="0">
                <a:spAutoFit/>
              </a:bodyPr>
              <a:lstStyle/>
              <a:p>
                <a:r>
                  <a:rPr lang="en-CN" dirty="0"/>
                  <a:t>Q-4: Rotation of Diatomic Molecules</a:t>
                </a:r>
                <a:r>
                  <a:rPr lang="zh-CN" altLang="en-US" dirty="0"/>
                  <a:t>（双原子分子旋转）</a:t>
                </a:r>
                <a:endParaRPr lang="en-CN" dirty="0"/>
              </a:p>
              <a:p>
                <a:pPr algn="ctr"/>
                <a14:m>
                  <m:oMathPara xmlns:m="http://schemas.openxmlformats.org/officeDocument/2006/math">
                    <m:oMathParaPr>
                      <m:jc m:val="centerGroup"/>
                    </m:oMathParaPr>
                    <m:oMath xmlns:m="http://schemas.openxmlformats.org/officeDocument/2006/math">
                      <m:r>
                        <a:rPr lang="en-CN" i="1" smtClean="0">
                          <a:solidFill>
                            <a:schemeClr val="accent5"/>
                          </a:solidFill>
                          <a:latin typeface="Cambria Math" panose="02040503050406030204" pitchFamily="18" charset="0"/>
                          <a:ea typeface="Cambria Math" panose="02040503050406030204" pitchFamily="18" charset="0"/>
                        </a:rPr>
                        <m:t>𝜀</m:t>
                      </m:r>
                      <m:d>
                        <m:dPr>
                          <m:ctrlPr>
                            <a:rPr lang="en-US" b="0" i="1" smtClean="0">
                              <a:solidFill>
                                <a:schemeClr val="accent5"/>
                              </a:solidFill>
                              <a:latin typeface="Cambria Math" panose="02040503050406030204" pitchFamily="18" charset="0"/>
                              <a:ea typeface="Cambria Math" panose="02040503050406030204" pitchFamily="18" charset="0"/>
                            </a:rPr>
                          </m:ctrlPr>
                        </m:dPr>
                        <m:e>
                          <m:r>
                            <a:rPr lang="en-US" b="0" i="1" smtClean="0">
                              <a:solidFill>
                                <a:schemeClr val="accent5"/>
                              </a:solidFill>
                              <a:latin typeface="Cambria Math" panose="02040503050406030204" pitchFamily="18" charset="0"/>
                              <a:ea typeface="Cambria Math" panose="02040503050406030204" pitchFamily="18" charset="0"/>
                            </a:rPr>
                            <m:t>𝑗</m:t>
                          </m:r>
                        </m:e>
                      </m:d>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𝑗</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𝑗</m:t>
                      </m:r>
                      <m:r>
                        <a:rPr lang="en-US" b="0" i="1" smtClean="0">
                          <a:solidFill>
                            <a:schemeClr val="accent5"/>
                          </a:solidFill>
                          <a:latin typeface="Cambria Math" panose="02040503050406030204" pitchFamily="18" charset="0"/>
                          <a:ea typeface="Cambria Math" panose="02040503050406030204" pitchFamily="18" charset="0"/>
                        </a:rPr>
                        <m:t>+1)</m:t>
                      </m:r>
                      <m:r>
                        <a:rPr lang="en-US" b="0" i="1" smtClean="0">
                          <a:solidFill>
                            <a:schemeClr val="accent5"/>
                          </a:solidFill>
                          <a:latin typeface="Cambria Math" panose="02040503050406030204" pitchFamily="18" charset="0"/>
                          <a:ea typeface="Cambria Math" panose="02040503050406030204" pitchFamily="18" charset="0"/>
                        </a:rPr>
                        <m:t>𝜖</m:t>
                      </m:r>
                    </m:oMath>
                  </m:oMathPara>
                </a14:m>
                <a:endParaRPr lang="en-CN" dirty="0">
                  <a:solidFill>
                    <a:schemeClr val="accent5"/>
                  </a:solidFill>
                </a:endParaRPr>
              </a:p>
              <a:p>
                <a:r>
                  <a:rPr lang="en-US" dirty="0">
                    <a:solidFill>
                      <a:schemeClr val="accent5"/>
                    </a:solidFill>
                  </a:rPr>
                  <a:t>W</a:t>
                </a:r>
                <a:r>
                  <a:rPr lang="en-CN" dirty="0">
                    <a:solidFill>
                      <a:schemeClr val="accent5"/>
                    </a:solidFill>
                  </a:rPr>
                  <a:t>here j can be 0,1,2, etc., and </a:t>
                </a:r>
                <a14:m>
                  <m:oMath xmlns:m="http://schemas.openxmlformats.org/officeDocument/2006/math">
                    <m:r>
                      <a:rPr lang="en-CN" i="1" smtClean="0">
                        <a:solidFill>
                          <a:schemeClr val="accent5"/>
                        </a:solidFill>
                        <a:latin typeface="Cambria Math" panose="02040503050406030204" pitchFamily="18" charset="0"/>
                        <a:ea typeface="Cambria Math" panose="02040503050406030204" pitchFamily="18" charset="0"/>
                      </a:rPr>
                      <m:t>𝜖</m:t>
                    </m:r>
                  </m:oMath>
                </a14:m>
                <a:r>
                  <a:rPr lang="en-CN" dirty="0">
                    <a:solidFill>
                      <a:schemeClr val="accent5"/>
                    </a:solidFill>
                  </a:rPr>
                  <a:t> is a constant that is inversely proportional to the molecule’s moment of inertia. The number of degenerate states for level j is 2j+1.</a:t>
                </a:r>
              </a:p>
              <a:p>
                <a:endParaRPr lang="en-CN" dirty="0">
                  <a:solidFill>
                    <a:schemeClr val="accent5"/>
                  </a:solidFill>
                </a:endParaRPr>
              </a:p>
              <a:p>
                <a:r>
                  <a:rPr lang="en-CN" dirty="0">
                    <a:solidFill>
                      <a:schemeClr val="accent5"/>
                    </a:solidFill>
                  </a:rPr>
                  <a:t>Partition Function</a:t>
                </a:r>
              </a:p>
              <a:p>
                <a:pPr algn="ctr"/>
                <a14:m>
                  <m:oMath xmlns:m="http://schemas.openxmlformats.org/officeDocument/2006/math">
                    <m:r>
                      <a:rPr lang="en-US" b="0" i="1" smtClean="0">
                        <a:solidFill>
                          <a:schemeClr val="accent5"/>
                        </a:solidFill>
                        <a:latin typeface="Cambria Math" panose="02040503050406030204" pitchFamily="18" charset="0"/>
                      </a:rPr>
                      <m:t>𝑍</m:t>
                    </m:r>
                    <m:r>
                      <a:rPr lang="en-US" b="0" i="1" smtClean="0">
                        <a:solidFill>
                          <a:schemeClr val="accent5"/>
                        </a:solidFill>
                        <a:latin typeface="Cambria Math" panose="02040503050406030204" pitchFamily="18" charset="0"/>
                      </a:rPr>
                      <m:t>=</m:t>
                    </m:r>
                    <m:nary>
                      <m:naryPr>
                        <m:chr m:val="∑"/>
                        <m:ctrlPr>
                          <a:rPr lang="en-US" b="0" i="1" smtClean="0">
                            <a:solidFill>
                              <a:schemeClr val="accent5"/>
                            </a:solidFill>
                            <a:latin typeface="Cambria Math" panose="02040503050406030204" pitchFamily="18" charset="0"/>
                          </a:rPr>
                        </m:ctrlPr>
                      </m:naryPr>
                      <m:sub>
                        <m:r>
                          <m:rPr>
                            <m:brk m:alnAt="23"/>
                          </m:rP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=0</m:t>
                        </m:r>
                      </m:sub>
                      <m:sup>
                        <m:r>
                          <a:rPr lang="en-US" b="0" i="1" smtClean="0">
                            <a:solidFill>
                              <a:schemeClr val="accent5"/>
                            </a:solidFill>
                            <a:latin typeface="Cambria Math" panose="02040503050406030204" pitchFamily="18" charset="0"/>
                            <a:ea typeface="Cambria Math" panose="02040503050406030204" pitchFamily="18" charset="0"/>
                          </a:rPr>
                          <m:t>∞</m:t>
                        </m:r>
                      </m:sup>
                      <m:e>
                        <m:r>
                          <a:rPr lang="en-US" b="0" i="1" smtClean="0">
                            <a:solidFill>
                              <a:schemeClr val="accent5"/>
                            </a:solidFill>
                            <a:latin typeface="Cambria Math" panose="02040503050406030204" pitchFamily="18" charset="0"/>
                          </a:rPr>
                          <m:t>(2</m:t>
                        </m:r>
                        <m: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+1)</m:t>
                        </m:r>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𝑒</m:t>
                            </m:r>
                          </m:e>
                          <m:sup>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r>
                              <a:rPr lang="en-US" b="0" i="1" smtClean="0">
                                <a:solidFill>
                                  <a:schemeClr val="accent5"/>
                                </a:solidFill>
                                <a:latin typeface="Cambria Math" panose="02040503050406030204" pitchFamily="18" charset="0"/>
                              </a:rPr>
                              <m:t>+1)</m:t>
                            </m:r>
                            <m:r>
                              <a:rPr lang="en-US" b="0" i="1" smtClean="0">
                                <a:solidFill>
                                  <a:schemeClr val="accent5"/>
                                </a:solidFill>
                                <a:latin typeface="Cambria Math" panose="02040503050406030204" pitchFamily="18" charset="0"/>
                                <a:ea typeface="Cambria Math" panose="02040503050406030204" pitchFamily="18" charset="0"/>
                              </a:rPr>
                              <m:t>𝜖</m:t>
                            </m:r>
                            <m:r>
                              <a:rPr lang="en-US" b="0" i="1" smtClean="0">
                                <a:solidFill>
                                  <a:schemeClr val="accent5"/>
                                </a:solidFill>
                                <a:latin typeface="Cambria Math" panose="02040503050406030204" pitchFamily="18" charset="0"/>
                                <a:ea typeface="Cambria Math" panose="02040503050406030204" pitchFamily="18" charset="0"/>
                              </a:rPr>
                              <m:t>/</m:t>
                            </m:r>
                            <m:r>
                              <a:rPr lang="en-US" b="0" i="1" smtClean="0">
                                <a:solidFill>
                                  <a:schemeClr val="accent5"/>
                                </a:solidFill>
                                <a:latin typeface="Cambria Math" panose="02040503050406030204" pitchFamily="18" charset="0"/>
                                <a:ea typeface="Cambria Math" panose="02040503050406030204" pitchFamily="18" charset="0"/>
                              </a:rPr>
                              <m:t>𝜏</m:t>
                            </m:r>
                          </m:sup>
                        </m:sSup>
                      </m:e>
                    </m:nary>
                  </m:oMath>
                </a14:m>
                <a:r>
                  <a:rPr lang="en-CN" dirty="0">
                    <a:solidFill>
                      <a:schemeClr val="accent5"/>
                    </a:solidFill>
                  </a:rPr>
                  <a:t> </a:t>
                </a:r>
              </a:p>
            </p:txBody>
          </p:sp>
        </mc:Choice>
        <mc:Fallback xmlns="">
          <p:sp>
            <p:nvSpPr>
              <p:cNvPr id="4" name="TextBox 3">
                <a:extLst>
                  <a:ext uri="{FF2B5EF4-FFF2-40B4-BE49-F238E27FC236}">
                    <a16:creationId xmlns:a16="http://schemas.microsoft.com/office/drawing/2014/main" id="{FBF809FC-97B9-4040-BC19-E2B05BB913E5}"/>
                  </a:ext>
                </a:extLst>
              </p:cNvPr>
              <p:cNvSpPr txBox="1">
                <a:spLocks noRot="1" noChangeAspect="1" noMove="1" noResize="1" noEditPoints="1" noAdjustHandles="1" noChangeArrowheads="1" noChangeShapeType="1" noTextEdit="1"/>
              </p:cNvSpPr>
              <p:nvPr/>
            </p:nvSpPr>
            <p:spPr>
              <a:xfrm>
                <a:off x="355600" y="321733"/>
                <a:ext cx="11362267" cy="2136034"/>
              </a:xfrm>
              <a:prstGeom prst="rect">
                <a:avLst/>
              </a:prstGeom>
              <a:blipFill>
                <a:blip r:embed="rId2"/>
                <a:stretch>
                  <a:fillRect l="-335" t="-1183" b="-24852"/>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EA3CA48D-E11B-DB46-8BA2-0DDA4DE424F6}"/>
              </a:ext>
            </a:extLst>
          </p:cNvPr>
          <p:cNvPicPr>
            <a:picLocks noChangeAspect="1"/>
          </p:cNvPicPr>
          <p:nvPr/>
        </p:nvPicPr>
        <p:blipFill>
          <a:blip r:embed="rId3"/>
          <a:stretch>
            <a:fillRect/>
          </a:stretch>
        </p:blipFill>
        <p:spPr>
          <a:xfrm>
            <a:off x="7573331" y="2812473"/>
            <a:ext cx="4144536" cy="2574636"/>
          </a:xfrm>
          <a:prstGeom prst="rect">
            <a:avLst/>
          </a:prstGeom>
        </p:spPr>
      </p:pic>
      <p:pic>
        <p:nvPicPr>
          <p:cNvPr id="5" name="Picture 4">
            <a:extLst>
              <a:ext uri="{FF2B5EF4-FFF2-40B4-BE49-F238E27FC236}">
                <a16:creationId xmlns:a16="http://schemas.microsoft.com/office/drawing/2014/main" id="{D2DF1DD5-F396-4148-8A4E-6F58F325B514}"/>
              </a:ext>
            </a:extLst>
          </p:cNvPr>
          <p:cNvPicPr>
            <a:picLocks noChangeAspect="1"/>
          </p:cNvPicPr>
          <p:nvPr/>
        </p:nvPicPr>
        <p:blipFill>
          <a:blip r:embed="rId4"/>
          <a:stretch>
            <a:fillRect/>
          </a:stretch>
        </p:blipFill>
        <p:spPr>
          <a:xfrm>
            <a:off x="761999" y="2607541"/>
            <a:ext cx="4447309" cy="277956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DDDF6D0-DB25-DA41-A649-ABAFE745282F}"/>
                  </a:ext>
                </a:extLst>
              </p:cNvPr>
              <p:cNvSpPr txBox="1"/>
              <p:nvPr/>
            </p:nvSpPr>
            <p:spPr>
              <a:xfrm>
                <a:off x="2175164" y="3269673"/>
                <a:ext cx="928254" cy="5629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𝜏</m:t>
                          </m:r>
                        </m:num>
                        <m:den>
                          <m:r>
                            <a:rPr lang="en-CN" i="1" smtClean="0">
                              <a:latin typeface="Cambria Math" panose="02040503050406030204" pitchFamily="18" charset="0"/>
                              <a:ea typeface="Cambria Math" panose="02040503050406030204" pitchFamily="18" charset="0"/>
                            </a:rPr>
                            <m:t>𝜖</m:t>
                          </m:r>
                        </m:den>
                      </m:f>
                      <m:r>
                        <a:rPr lang="en-US" b="0" i="1" smtClean="0">
                          <a:latin typeface="Cambria Math" panose="02040503050406030204" pitchFamily="18" charset="0"/>
                        </a:rPr>
                        <m:t>=20</m:t>
                      </m:r>
                    </m:oMath>
                  </m:oMathPara>
                </a14:m>
                <a:endParaRPr lang="en-CN" dirty="0"/>
              </a:p>
            </p:txBody>
          </p:sp>
        </mc:Choice>
        <mc:Fallback xmlns="">
          <p:sp>
            <p:nvSpPr>
              <p:cNvPr id="7" name="TextBox 6">
                <a:extLst>
                  <a:ext uri="{FF2B5EF4-FFF2-40B4-BE49-F238E27FC236}">
                    <a16:creationId xmlns:a16="http://schemas.microsoft.com/office/drawing/2014/main" id="{2DDDF6D0-DB25-DA41-A649-ABAFE745282F}"/>
                  </a:ext>
                </a:extLst>
              </p:cNvPr>
              <p:cNvSpPr txBox="1">
                <a:spLocks noRot="1" noChangeAspect="1" noMove="1" noResize="1" noEditPoints="1" noAdjustHandles="1" noChangeArrowheads="1" noChangeShapeType="1" noTextEdit="1"/>
              </p:cNvSpPr>
              <p:nvPr/>
            </p:nvSpPr>
            <p:spPr>
              <a:xfrm>
                <a:off x="2175164" y="3269673"/>
                <a:ext cx="928254" cy="562975"/>
              </a:xfrm>
              <a:prstGeom prst="rect">
                <a:avLst/>
              </a:prstGeom>
              <a:blipFill>
                <a:blip r:embed="rId5"/>
                <a:stretch>
                  <a:fillRect b="-22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27BA1F3-F63C-9A4F-916A-5BA20F67412E}"/>
                  </a:ext>
                </a:extLst>
              </p:cNvPr>
              <p:cNvSpPr txBox="1"/>
              <p:nvPr/>
            </p:nvSpPr>
            <p:spPr>
              <a:xfrm>
                <a:off x="9707942" y="3269673"/>
                <a:ext cx="1070893" cy="5647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𝜏</m:t>
                          </m:r>
                        </m:num>
                        <m:den>
                          <m:r>
                            <a:rPr lang="en-CN" i="1" smtClean="0">
                              <a:latin typeface="Cambria Math" panose="02040503050406030204" pitchFamily="18" charset="0"/>
                              <a:ea typeface="Cambria Math" panose="02040503050406030204" pitchFamily="18" charset="0"/>
                            </a:rPr>
                            <m:t>𝜖</m:t>
                          </m:r>
                        </m:den>
                      </m:f>
                      <m:r>
                        <a:rPr lang="en-US" b="0" i="1" smtClean="0">
                          <a:latin typeface="Cambria Math" panose="02040503050406030204" pitchFamily="18" charset="0"/>
                        </a:rPr>
                        <m:t>=100</m:t>
                      </m:r>
                    </m:oMath>
                  </m:oMathPara>
                </a14:m>
                <a:endParaRPr lang="en-CN" dirty="0"/>
              </a:p>
            </p:txBody>
          </p:sp>
        </mc:Choice>
        <mc:Fallback xmlns="">
          <p:sp>
            <p:nvSpPr>
              <p:cNvPr id="10" name="TextBox 9">
                <a:extLst>
                  <a:ext uri="{FF2B5EF4-FFF2-40B4-BE49-F238E27FC236}">
                    <a16:creationId xmlns:a16="http://schemas.microsoft.com/office/drawing/2014/main" id="{A27BA1F3-F63C-9A4F-916A-5BA20F67412E}"/>
                  </a:ext>
                </a:extLst>
              </p:cNvPr>
              <p:cNvSpPr txBox="1">
                <a:spLocks noRot="1" noChangeAspect="1" noMove="1" noResize="1" noEditPoints="1" noAdjustHandles="1" noChangeArrowheads="1" noChangeShapeType="1" noTextEdit="1"/>
              </p:cNvSpPr>
              <p:nvPr/>
            </p:nvSpPr>
            <p:spPr>
              <a:xfrm>
                <a:off x="9707942" y="3269673"/>
                <a:ext cx="1070893" cy="564770"/>
              </a:xfrm>
              <a:prstGeom prst="rect">
                <a:avLst/>
              </a:prstGeom>
              <a:blipFill>
                <a:blip r:embed="rId6"/>
                <a:stretch>
                  <a:fillRect b="-2222"/>
                </a:stretch>
              </a:blipFill>
            </p:spPr>
            <p:txBody>
              <a:bodyPr/>
              <a:lstStyle/>
              <a:p>
                <a:r>
                  <a:rPr lang="en-CN">
                    <a:noFill/>
                  </a:rPr>
                  <a:t> </a:t>
                </a:r>
              </a:p>
            </p:txBody>
          </p:sp>
        </mc:Fallback>
      </mc:AlternateContent>
      <p:sp>
        <p:nvSpPr>
          <p:cNvPr id="11" name="Down Arrow 10">
            <a:extLst>
              <a:ext uri="{FF2B5EF4-FFF2-40B4-BE49-F238E27FC236}">
                <a16:creationId xmlns:a16="http://schemas.microsoft.com/office/drawing/2014/main" id="{ACB0AD86-402D-B34F-9060-D5ABC164CC48}"/>
              </a:ext>
            </a:extLst>
          </p:cNvPr>
          <p:cNvSpPr/>
          <p:nvPr/>
        </p:nvSpPr>
        <p:spPr>
          <a:xfrm>
            <a:off x="5638800" y="2607541"/>
            <a:ext cx="457200" cy="30312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483622F-944E-8642-9CE8-90726426AF1E}"/>
                  </a:ext>
                </a:extLst>
              </p:cNvPr>
              <p:cNvSpPr txBox="1"/>
              <p:nvPr/>
            </p:nvSpPr>
            <p:spPr>
              <a:xfrm>
                <a:off x="3255818" y="5805055"/>
                <a:ext cx="5278582" cy="7005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m:t>
                              </m:r>
                            </m:e>
                          </m: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𝑥</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𝜖</m:t>
                                  </m:r>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𝜖</m:t>
                              </m:r>
                            </m:den>
                          </m:f>
                        </m:e>
                      </m:nary>
                    </m:oMath>
                  </m:oMathPara>
                </a14:m>
                <a:endParaRPr lang="en-CN" dirty="0"/>
              </a:p>
            </p:txBody>
          </p:sp>
        </mc:Choice>
        <mc:Fallback xmlns="">
          <p:sp>
            <p:nvSpPr>
              <p:cNvPr id="12" name="TextBox 11">
                <a:extLst>
                  <a:ext uri="{FF2B5EF4-FFF2-40B4-BE49-F238E27FC236}">
                    <a16:creationId xmlns:a16="http://schemas.microsoft.com/office/drawing/2014/main" id="{5483622F-944E-8642-9CE8-90726426AF1E}"/>
                  </a:ext>
                </a:extLst>
              </p:cNvPr>
              <p:cNvSpPr txBox="1">
                <a:spLocks noRot="1" noChangeAspect="1" noMove="1" noResize="1" noEditPoints="1" noAdjustHandles="1" noChangeArrowheads="1" noChangeShapeType="1" noTextEdit="1"/>
              </p:cNvSpPr>
              <p:nvPr/>
            </p:nvSpPr>
            <p:spPr>
              <a:xfrm>
                <a:off x="3255818" y="5805055"/>
                <a:ext cx="5278582" cy="700576"/>
              </a:xfrm>
              <a:prstGeom prst="rect">
                <a:avLst/>
              </a:prstGeom>
              <a:blipFill>
                <a:blip r:embed="rId7"/>
                <a:stretch>
                  <a:fillRect t="-152632" b="-22807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4AF5145-427C-3D45-8104-2FD9682340C5}"/>
                  </a:ext>
                </a:extLst>
              </p:cNvPr>
              <p:cNvSpPr txBox="1"/>
              <p:nvPr/>
            </p:nvSpPr>
            <p:spPr>
              <a:xfrm>
                <a:off x="6096000" y="3429000"/>
                <a:ext cx="8312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𝜖</m:t>
                      </m:r>
                    </m:oMath>
                  </m:oMathPara>
                </a14:m>
                <a:endParaRPr lang="en-CN" dirty="0"/>
              </a:p>
            </p:txBody>
          </p:sp>
        </mc:Choice>
        <mc:Fallback xmlns="">
          <p:sp>
            <p:nvSpPr>
              <p:cNvPr id="13" name="TextBox 12">
                <a:extLst>
                  <a:ext uri="{FF2B5EF4-FFF2-40B4-BE49-F238E27FC236}">
                    <a16:creationId xmlns:a16="http://schemas.microsoft.com/office/drawing/2014/main" id="{24AF5145-427C-3D45-8104-2FD9682340C5}"/>
                  </a:ext>
                </a:extLst>
              </p:cNvPr>
              <p:cNvSpPr txBox="1">
                <a:spLocks noRot="1" noChangeAspect="1" noMove="1" noResize="1" noEditPoints="1" noAdjustHandles="1" noChangeArrowheads="1" noChangeShapeType="1" noTextEdit="1"/>
              </p:cNvSpPr>
              <p:nvPr/>
            </p:nvSpPr>
            <p:spPr>
              <a:xfrm>
                <a:off x="6096000" y="3429000"/>
                <a:ext cx="831273" cy="369332"/>
              </a:xfrm>
              <a:prstGeom prst="rect">
                <a:avLst/>
              </a:prstGeom>
              <a:blipFill>
                <a:blip r:embed="rId8"/>
                <a:stretch>
                  <a:fillRect/>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A3C02207-056C-07DB-ABDF-C8034133BF73}"/>
              </a:ext>
            </a:extLst>
          </p:cNvPr>
          <p:cNvSpPr txBox="1"/>
          <p:nvPr/>
        </p:nvSpPr>
        <p:spPr>
          <a:xfrm>
            <a:off x="4507454" y="3980329"/>
            <a:ext cx="2743200" cy="369332"/>
          </a:xfrm>
          <a:prstGeom prst="rect">
            <a:avLst/>
          </a:prstGeom>
          <a:noFill/>
        </p:spPr>
        <p:txBody>
          <a:bodyPr wrap="square" rtlCol="0">
            <a:spAutoFit/>
          </a:bodyPr>
          <a:lstStyle/>
          <a:p>
            <a:pPr algn="ctr"/>
            <a:r>
              <a:rPr lang="en-CN" b="1" dirty="0">
                <a:solidFill>
                  <a:srgbClr val="FF0000"/>
                </a:solidFill>
              </a:rPr>
              <a:t>求和变积分</a:t>
            </a:r>
            <a:r>
              <a:rPr lang="zh-CN" altLang="en-US" b="1" dirty="0">
                <a:solidFill>
                  <a:srgbClr val="FF0000"/>
                </a:solidFill>
              </a:rPr>
              <a:t>！！！</a:t>
            </a:r>
            <a:endParaRPr lang="en-CN" b="1" dirty="0">
              <a:solidFill>
                <a:srgbClr val="FF0000"/>
              </a:solidFill>
            </a:endParaRPr>
          </a:p>
        </p:txBody>
      </p:sp>
      <p:pic>
        <p:nvPicPr>
          <p:cNvPr id="9" name="Picture 8">
            <a:extLst>
              <a:ext uri="{FF2B5EF4-FFF2-40B4-BE49-F238E27FC236}">
                <a16:creationId xmlns:a16="http://schemas.microsoft.com/office/drawing/2014/main" id="{B9DF2DCF-7FA8-F858-475D-FEA30A5515E6}"/>
              </a:ext>
            </a:extLst>
          </p:cNvPr>
          <p:cNvPicPr>
            <a:picLocks noChangeAspect="1"/>
          </p:cNvPicPr>
          <p:nvPr/>
        </p:nvPicPr>
        <p:blipFill>
          <a:blip r:embed="rId9"/>
          <a:stretch>
            <a:fillRect/>
          </a:stretch>
        </p:blipFill>
        <p:spPr>
          <a:xfrm>
            <a:off x="355599" y="256413"/>
            <a:ext cx="11362611" cy="6279854"/>
          </a:xfrm>
          <a:prstGeom prst="rect">
            <a:avLst/>
          </a:prstGeom>
        </p:spPr>
      </p:pic>
    </p:spTree>
    <p:extLst>
      <p:ext uri="{BB962C8B-B14F-4D97-AF65-F5344CB8AC3E}">
        <p14:creationId xmlns:p14="http://schemas.microsoft.com/office/powerpoint/2010/main" val="876867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A3CA48D-E11B-DB46-8BA2-0DDA4DE424F6}"/>
              </a:ext>
            </a:extLst>
          </p:cNvPr>
          <p:cNvPicPr>
            <a:picLocks noChangeAspect="1"/>
          </p:cNvPicPr>
          <p:nvPr/>
        </p:nvPicPr>
        <p:blipFill>
          <a:blip r:embed="rId2"/>
          <a:stretch>
            <a:fillRect/>
          </a:stretch>
        </p:blipFill>
        <p:spPr>
          <a:xfrm>
            <a:off x="7420931" y="277091"/>
            <a:ext cx="4144536" cy="2574636"/>
          </a:xfrm>
          <a:prstGeom prst="rect">
            <a:avLst/>
          </a:prstGeom>
        </p:spPr>
      </p:pic>
      <p:pic>
        <p:nvPicPr>
          <p:cNvPr id="5" name="Picture 4">
            <a:extLst>
              <a:ext uri="{FF2B5EF4-FFF2-40B4-BE49-F238E27FC236}">
                <a16:creationId xmlns:a16="http://schemas.microsoft.com/office/drawing/2014/main" id="{D2DF1DD5-F396-4148-8A4E-6F58F325B514}"/>
              </a:ext>
            </a:extLst>
          </p:cNvPr>
          <p:cNvPicPr>
            <a:picLocks noChangeAspect="1"/>
          </p:cNvPicPr>
          <p:nvPr/>
        </p:nvPicPr>
        <p:blipFill>
          <a:blip r:embed="rId3"/>
          <a:stretch>
            <a:fillRect/>
          </a:stretch>
        </p:blipFill>
        <p:spPr>
          <a:xfrm>
            <a:off x="609599" y="72159"/>
            <a:ext cx="4447309" cy="277956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DDDF6D0-DB25-DA41-A649-ABAFE745282F}"/>
                  </a:ext>
                </a:extLst>
              </p:cNvPr>
              <p:cNvSpPr txBox="1"/>
              <p:nvPr/>
            </p:nvSpPr>
            <p:spPr>
              <a:xfrm>
                <a:off x="2105891" y="443344"/>
                <a:ext cx="928254" cy="5629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𝜏</m:t>
                          </m:r>
                        </m:num>
                        <m:den>
                          <m:r>
                            <a:rPr lang="en-CN" i="1" smtClean="0">
                              <a:latin typeface="Cambria Math" panose="02040503050406030204" pitchFamily="18" charset="0"/>
                              <a:ea typeface="Cambria Math" panose="02040503050406030204" pitchFamily="18" charset="0"/>
                            </a:rPr>
                            <m:t>𝜖</m:t>
                          </m:r>
                        </m:den>
                      </m:f>
                      <m:r>
                        <a:rPr lang="en-US" b="0" i="1" smtClean="0">
                          <a:latin typeface="Cambria Math" panose="02040503050406030204" pitchFamily="18" charset="0"/>
                        </a:rPr>
                        <m:t>=20</m:t>
                      </m:r>
                    </m:oMath>
                  </m:oMathPara>
                </a14:m>
                <a:endParaRPr lang="en-CN" dirty="0"/>
              </a:p>
            </p:txBody>
          </p:sp>
        </mc:Choice>
        <mc:Fallback xmlns="">
          <p:sp>
            <p:nvSpPr>
              <p:cNvPr id="7" name="TextBox 6">
                <a:extLst>
                  <a:ext uri="{FF2B5EF4-FFF2-40B4-BE49-F238E27FC236}">
                    <a16:creationId xmlns:a16="http://schemas.microsoft.com/office/drawing/2014/main" id="{2DDDF6D0-DB25-DA41-A649-ABAFE745282F}"/>
                  </a:ext>
                </a:extLst>
              </p:cNvPr>
              <p:cNvSpPr txBox="1">
                <a:spLocks noRot="1" noChangeAspect="1" noMove="1" noResize="1" noEditPoints="1" noAdjustHandles="1" noChangeArrowheads="1" noChangeShapeType="1" noTextEdit="1"/>
              </p:cNvSpPr>
              <p:nvPr/>
            </p:nvSpPr>
            <p:spPr>
              <a:xfrm>
                <a:off x="2105891" y="443344"/>
                <a:ext cx="928254" cy="562975"/>
              </a:xfrm>
              <a:prstGeom prst="rect">
                <a:avLst/>
              </a:prstGeom>
              <a:blipFill>
                <a:blip r:embed="rId4"/>
                <a:stretch>
                  <a:fillRect b="-22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27BA1F3-F63C-9A4F-916A-5BA20F67412E}"/>
                  </a:ext>
                </a:extLst>
              </p:cNvPr>
              <p:cNvSpPr txBox="1"/>
              <p:nvPr/>
            </p:nvSpPr>
            <p:spPr>
              <a:xfrm>
                <a:off x="9638669" y="443344"/>
                <a:ext cx="1070893" cy="5647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𝜏</m:t>
                          </m:r>
                        </m:num>
                        <m:den>
                          <m:r>
                            <a:rPr lang="en-CN" i="1" smtClean="0">
                              <a:latin typeface="Cambria Math" panose="02040503050406030204" pitchFamily="18" charset="0"/>
                              <a:ea typeface="Cambria Math" panose="02040503050406030204" pitchFamily="18" charset="0"/>
                            </a:rPr>
                            <m:t>𝜖</m:t>
                          </m:r>
                        </m:den>
                      </m:f>
                      <m:r>
                        <a:rPr lang="en-US" b="0" i="1" smtClean="0">
                          <a:latin typeface="Cambria Math" panose="02040503050406030204" pitchFamily="18" charset="0"/>
                        </a:rPr>
                        <m:t>=100</m:t>
                      </m:r>
                    </m:oMath>
                  </m:oMathPara>
                </a14:m>
                <a:endParaRPr lang="en-CN" dirty="0"/>
              </a:p>
            </p:txBody>
          </p:sp>
        </mc:Choice>
        <mc:Fallback xmlns="">
          <p:sp>
            <p:nvSpPr>
              <p:cNvPr id="10" name="TextBox 9">
                <a:extLst>
                  <a:ext uri="{FF2B5EF4-FFF2-40B4-BE49-F238E27FC236}">
                    <a16:creationId xmlns:a16="http://schemas.microsoft.com/office/drawing/2014/main" id="{A27BA1F3-F63C-9A4F-916A-5BA20F67412E}"/>
                  </a:ext>
                </a:extLst>
              </p:cNvPr>
              <p:cNvSpPr txBox="1">
                <a:spLocks noRot="1" noChangeAspect="1" noMove="1" noResize="1" noEditPoints="1" noAdjustHandles="1" noChangeArrowheads="1" noChangeShapeType="1" noTextEdit="1"/>
              </p:cNvSpPr>
              <p:nvPr/>
            </p:nvSpPr>
            <p:spPr>
              <a:xfrm>
                <a:off x="9638669" y="443344"/>
                <a:ext cx="1070893" cy="564770"/>
              </a:xfrm>
              <a:prstGeom prst="rect">
                <a:avLst/>
              </a:prstGeom>
              <a:blipFill>
                <a:blip r:embed="rId5"/>
                <a:stretch>
                  <a:fillRect b="-22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483622F-944E-8642-9CE8-90726426AF1E}"/>
                  </a:ext>
                </a:extLst>
              </p:cNvPr>
              <p:cNvSpPr txBox="1"/>
              <p:nvPr/>
            </p:nvSpPr>
            <p:spPr>
              <a:xfrm>
                <a:off x="3034145" y="2872624"/>
                <a:ext cx="5278582" cy="7005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m:t>
                              </m:r>
                            </m:e>
                          </m: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𝑥</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𝜖</m:t>
                                  </m:r>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𝜖</m:t>
                              </m:r>
                            </m:den>
                          </m:f>
                        </m:e>
                      </m:nary>
                    </m:oMath>
                  </m:oMathPara>
                </a14:m>
                <a:endParaRPr lang="en-CN" dirty="0"/>
              </a:p>
            </p:txBody>
          </p:sp>
        </mc:Choice>
        <mc:Fallback xmlns="">
          <p:sp>
            <p:nvSpPr>
              <p:cNvPr id="12" name="TextBox 11">
                <a:extLst>
                  <a:ext uri="{FF2B5EF4-FFF2-40B4-BE49-F238E27FC236}">
                    <a16:creationId xmlns:a16="http://schemas.microsoft.com/office/drawing/2014/main" id="{5483622F-944E-8642-9CE8-90726426AF1E}"/>
                  </a:ext>
                </a:extLst>
              </p:cNvPr>
              <p:cNvSpPr txBox="1">
                <a:spLocks noRot="1" noChangeAspect="1" noMove="1" noResize="1" noEditPoints="1" noAdjustHandles="1" noChangeArrowheads="1" noChangeShapeType="1" noTextEdit="1"/>
              </p:cNvSpPr>
              <p:nvPr/>
            </p:nvSpPr>
            <p:spPr>
              <a:xfrm>
                <a:off x="3034145" y="2872624"/>
                <a:ext cx="5278582" cy="700576"/>
              </a:xfrm>
              <a:prstGeom prst="rect">
                <a:avLst/>
              </a:prstGeom>
              <a:blipFill>
                <a:blip r:embed="rId6"/>
                <a:stretch>
                  <a:fillRect t="-157143" b="-23214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4FF7BC5-7CBF-D548-96FF-C5F90C3C56EC}"/>
                  </a:ext>
                </a:extLst>
              </p:cNvPr>
              <p:cNvSpPr txBox="1"/>
              <p:nvPr/>
            </p:nvSpPr>
            <p:spPr>
              <a:xfrm>
                <a:off x="3034145" y="4184073"/>
                <a:ext cx="5569528" cy="499560"/>
              </a:xfrm>
              <a:prstGeom prst="rect">
                <a:avLst/>
              </a:prstGeom>
              <a:solidFill>
                <a:schemeClr val="accent4"/>
              </a:solidFill>
            </p:spPr>
            <p:txBody>
              <a:bodyPr wrap="square" rtlCol="0">
                <a:spAutoFit/>
              </a:bodyPr>
              <a:lstStyle/>
              <a:p>
                <a14:m>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𝐸</m:t>
                        </m:r>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rPr>
                          <m:t>2</m:t>
                        </m:r>
                      </m:sup>
                    </m:sSup>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𝑍</m:t>
                            </m:r>
                          </m:e>
                        </m:func>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CN" dirty="0"/>
                  <a:t>                                                            </a:t>
                </a:r>
                <a14:m>
                  <m:oMath xmlns:m="http://schemas.openxmlformats.org/officeDocument/2006/math">
                    <m:r>
                      <a:rPr lang="en-CN" i="1">
                        <a:latin typeface="Cambria Math" panose="02040503050406030204" pitchFamily="18" charset="0"/>
                        <a:ea typeface="Cambria Math" panose="02040503050406030204" pitchFamily="18" charset="0"/>
                      </a:rPr>
                      <m:t>𝜏</m:t>
                    </m:r>
                    <m:r>
                      <a:rPr lang="en-CN" i="1">
                        <a:latin typeface="Cambria Math" panose="02040503050406030204" pitchFamily="18" charset="0"/>
                        <a:ea typeface="Cambria Math" panose="02040503050406030204" pitchFamily="18" charset="0"/>
                      </a:rPr>
                      <m:t>≫</m:t>
                    </m:r>
                    <m:r>
                      <a:rPr lang="en-CN" i="1">
                        <a:latin typeface="Cambria Math" panose="02040503050406030204" pitchFamily="18" charset="0"/>
                        <a:ea typeface="Cambria Math" panose="02040503050406030204" pitchFamily="18" charset="0"/>
                      </a:rPr>
                      <m:t>𝜖</m:t>
                    </m:r>
                  </m:oMath>
                </a14:m>
                <a:endParaRPr lang="en-CN" dirty="0"/>
              </a:p>
            </p:txBody>
          </p:sp>
        </mc:Choice>
        <mc:Fallback xmlns="">
          <p:sp>
            <p:nvSpPr>
              <p:cNvPr id="3" name="TextBox 2">
                <a:extLst>
                  <a:ext uri="{FF2B5EF4-FFF2-40B4-BE49-F238E27FC236}">
                    <a16:creationId xmlns:a16="http://schemas.microsoft.com/office/drawing/2014/main" id="{64FF7BC5-7CBF-D548-96FF-C5F90C3C56EC}"/>
                  </a:ext>
                </a:extLst>
              </p:cNvPr>
              <p:cNvSpPr txBox="1">
                <a:spLocks noRot="1" noChangeAspect="1" noMove="1" noResize="1" noEditPoints="1" noAdjustHandles="1" noChangeArrowheads="1" noChangeShapeType="1" noTextEdit="1"/>
              </p:cNvSpPr>
              <p:nvPr/>
            </p:nvSpPr>
            <p:spPr>
              <a:xfrm>
                <a:off x="3034145" y="4184073"/>
                <a:ext cx="5569528" cy="499560"/>
              </a:xfrm>
              <a:prstGeom prst="rect">
                <a:avLst/>
              </a:prstGeom>
              <a:blipFill>
                <a:blip r:embed="rId7"/>
                <a:stretch>
                  <a:fillRect b="-15000"/>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94326E68-C50B-EC4F-95ED-5A99248A8601}"/>
              </a:ext>
            </a:extLst>
          </p:cNvPr>
          <p:cNvSpPr/>
          <p:nvPr/>
        </p:nvSpPr>
        <p:spPr>
          <a:xfrm>
            <a:off x="5624945" y="3429000"/>
            <a:ext cx="665019"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TextBox 12">
            <a:extLst>
              <a:ext uri="{FF2B5EF4-FFF2-40B4-BE49-F238E27FC236}">
                <a16:creationId xmlns:a16="http://schemas.microsoft.com/office/drawing/2014/main" id="{0FE8205E-0195-7145-B278-BD56FF891673}"/>
              </a:ext>
            </a:extLst>
          </p:cNvPr>
          <p:cNvSpPr txBox="1"/>
          <p:nvPr/>
        </p:nvSpPr>
        <p:spPr>
          <a:xfrm>
            <a:off x="4052970" y="5662036"/>
            <a:ext cx="4086059" cy="707886"/>
          </a:xfrm>
          <a:prstGeom prst="rect">
            <a:avLst/>
          </a:prstGeom>
          <a:noFill/>
        </p:spPr>
        <p:txBody>
          <a:bodyPr wrap="square">
            <a:spAutoFit/>
          </a:bodyPr>
          <a:lstStyle/>
          <a:p>
            <a:r>
              <a:rPr lang="en-CN" sz="4000" dirty="0">
                <a:solidFill>
                  <a:srgbClr val="FF0000"/>
                </a:solidFill>
                <a:latin typeface="FangSong" panose="02010609060101010101" pitchFamily="49" charset="-122"/>
                <a:ea typeface="FangSong" panose="02010609060101010101" pitchFamily="49" charset="-122"/>
              </a:rPr>
              <a:t>能量均分定理???</a:t>
            </a:r>
          </a:p>
        </p:txBody>
      </p:sp>
    </p:spTree>
    <p:extLst>
      <p:ext uri="{BB962C8B-B14F-4D97-AF65-F5344CB8AC3E}">
        <p14:creationId xmlns:p14="http://schemas.microsoft.com/office/powerpoint/2010/main" val="26731853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FFC27-0250-AC46-B1D0-44D11F90BE11}"/>
              </a:ext>
            </a:extLst>
          </p:cNvPr>
          <p:cNvSpPr>
            <a:spLocks noGrp="1"/>
          </p:cNvSpPr>
          <p:nvPr>
            <p:ph idx="1"/>
          </p:nvPr>
        </p:nvSpPr>
        <p:spPr>
          <a:xfrm>
            <a:off x="2455332" y="1893358"/>
            <a:ext cx="8779933" cy="1933575"/>
          </a:xfrm>
        </p:spPr>
        <p:txBody>
          <a:bodyPr>
            <a:normAutofit lnSpcReduction="10000"/>
          </a:bodyPr>
          <a:lstStyle/>
          <a:p>
            <a:r>
              <a:rPr lang="en-CN" sz="4000" dirty="0">
                <a:solidFill>
                  <a:schemeClr val="bg1">
                    <a:lumMod val="50000"/>
                  </a:schemeClr>
                </a:solidFill>
                <a:latin typeface="FangSong" panose="02010609060101010101" pitchFamily="49" charset="-122"/>
                <a:ea typeface="FangSong" panose="02010609060101010101" pitchFamily="49" charset="-122"/>
              </a:rPr>
              <a:t>平均值</a:t>
            </a:r>
          </a:p>
          <a:p>
            <a:r>
              <a:rPr lang="en-CN" sz="4000" dirty="0">
                <a:latin typeface="FangSong" panose="02010609060101010101" pitchFamily="49" charset="-122"/>
                <a:ea typeface="FangSong" panose="02010609060101010101" pitchFamily="49" charset="-122"/>
              </a:rPr>
              <a:t>能量均分定理</a:t>
            </a:r>
          </a:p>
          <a:p>
            <a:r>
              <a:rPr lang="en-CN" sz="4000" dirty="0">
                <a:solidFill>
                  <a:schemeClr val="bg1">
                    <a:lumMod val="50000"/>
                  </a:schemeClr>
                </a:solidFill>
                <a:latin typeface="FangSong" panose="02010609060101010101" pitchFamily="49" charset="-122"/>
                <a:ea typeface="FangSong" panose="02010609060101010101" pitchFamily="49" charset="-122"/>
              </a:rPr>
              <a:t>麦克斯韦速率分布</a:t>
            </a:r>
          </a:p>
        </p:txBody>
      </p:sp>
    </p:spTree>
    <p:extLst>
      <p:ext uri="{BB962C8B-B14F-4D97-AF65-F5344CB8AC3E}">
        <p14:creationId xmlns:p14="http://schemas.microsoft.com/office/powerpoint/2010/main" val="40156265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820A7-25C4-D84C-BF99-537A7B5E1E31}"/>
              </a:ext>
            </a:extLst>
          </p:cNvPr>
          <p:cNvSpPr>
            <a:spLocks noGrp="1"/>
          </p:cNvSpPr>
          <p:nvPr>
            <p:ph type="title"/>
          </p:nvPr>
        </p:nvSpPr>
        <p:spPr>
          <a:xfrm>
            <a:off x="364066" y="229660"/>
            <a:ext cx="10515600" cy="701674"/>
          </a:xfrm>
        </p:spPr>
        <p:txBody>
          <a:bodyPr>
            <a:normAutofit fontScale="90000"/>
          </a:bodyPr>
          <a:lstStyle/>
          <a:p>
            <a:r>
              <a:rPr lang="en-CN" dirty="0">
                <a:latin typeface="FangSong" panose="02010609060101010101" pitchFamily="49" charset="-122"/>
                <a:ea typeface="FangSong" panose="02010609060101010101" pitchFamily="49" charset="-122"/>
              </a:rPr>
              <a:t>能量均分定理The equipartition theorem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2E8DCDD-E280-6A41-B2F4-8C6800BDC03E}"/>
                  </a:ext>
                </a:extLst>
              </p:cNvPr>
              <p:cNvSpPr txBox="1"/>
              <p:nvPr/>
            </p:nvSpPr>
            <p:spPr>
              <a:xfrm>
                <a:off x="4042228" y="931334"/>
                <a:ext cx="391160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CN" sz="3200" b="1" i="1" smtClean="0">
                              <a:solidFill>
                                <a:srgbClr val="FF0000"/>
                              </a:solidFill>
                              <a:latin typeface="Cambria Math" panose="02040503050406030204" pitchFamily="18" charset="0"/>
                            </a:rPr>
                          </m:ctrlPr>
                        </m:dPr>
                        <m:e>
                          <m:r>
                            <a:rPr lang="en-CN" sz="3200" b="1" i="1" smtClean="0">
                              <a:solidFill>
                                <a:srgbClr val="FF0000"/>
                              </a:solidFill>
                              <a:latin typeface="Cambria Math" panose="02040503050406030204" pitchFamily="18" charset="0"/>
                              <a:ea typeface="Cambria Math" panose="02040503050406030204" pitchFamily="18" charset="0"/>
                            </a:rPr>
                            <m:t>𝜺</m:t>
                          </m:r>
                        </m:e>
                      </m:d>
                      <m:r>
                        <a:rPr lang="en-US" sz="3200" b="1" i="1" smtClean="0">
                          <a:solidFill>
                            <a:srgbClr val="FF0000"/>
                          </a:solidFill>
                          <a:latin typeface="Cambria Math" panose="02040503050406030204" pitchFamily="18" charset="0"/>
                        </a:rPr>
                        <m:t>=</m:t>
                      </m:r>
                      <m:acc>
                        <m:accPr>
                          <m:chr m:val="̅"/>
                          <m:ctrlPr>
                            <a:rPr lang="en-US" sz="3200" b="1" i="1" smtClean="0">
                              <a:solidFill>
                                <a:srgbClr val="FF0000"/>
                              </a:solidFill>
                              <a:latin typeface="Cambria Math" panose="02040503050406030204" pitchFamily="18" charset="0"/>
                            </a:rPr>
                          </m:ctrlPr>
                        </m:accPr>
                        <m:e>
                          <m:r>
                            <a:rPr lang="en-US" sz="3200" b="1" i="1" smtClean="0">
                              <a:solidFill>
                                <a:srgbClr val="FF0000"/>
                              </a:solidFill>
                              <a:latin typeface="Cambria Math" panose="02040503050406030204" pitchFamily="18" charset="0"/>
                            </a:rPr>
                            <m:t>𝑬</m:t>
                          </m:r>
                        </m:e>
                      </m:acc>
                      <m:r>
                        <a:rPr lang="en-US" sz="3200" b="1" i="1" smtClean="0">
                          <a:solidFill>
                            <a:srgbClr val="FF0000"/>
                          </a:solidFill>
                          <a:latin typeface="Cambria Math" panose="02040503050406030204" pitchFamily="18" charset="0"/>
                        </a:rPr>
                        <m:t>=</m:t>
                      </m:r>
                      <m:r>
                        <a:rPr lang="en-US" sz="3200" b="1" i="1" smtClean="0">
                          <a:solidFill>
                            <a:srgbClr val="FF0000"/>
                          </a:solidFill>
                          <a:latin typeface="Cambria Math" panose="02040503050406030204" pitchFamily="18" charset="0"/>
                        </a:rPr>
                        <m:t>𝑼</m:t>
                      </m:r>
                      <m:r>
                        <a:rPr lang="en-US" sz="3200" b="1" i="1" smtClean="0">
                          <a:solidFill>
                            <a:srgbClr val="FF0000"/>
                          </a:solidFill>
                          <a:latin typeface="Cambria Math" panose="02040503050406030204" pitchFamily="18" charset="0"/>
                        </a:rPr>
                        <m:t>=</m:t>
                      </m:r>
                      <m:f>
                        <m:fPr>
                          <m:ctrlPr>
                            <a:rPr lang="en-US" sz="3200" b="1" i="1" smtClean="0">
                              <a:solidFill>
                                <a:srgbClr val="FF0000"/>
                              </a:solidFill>
                              <a:latin typeface="Cambria Math" panose="02040503050406030204" pitchFamily="18" charset="0"/>
                            </a:rPr>
                          </m:ctrlPr>
                        </m:fPr>
                        <m:num>
                          <m:r>
                            <a:rPr lang="en-US" sz="3200" b="1" i="1" smtClean="0">
                              <a:solidFill>
                                <a:srgbClr val="FF0000"/>
                              </a:solidFill>
                              <a:latin typeface="Cambria Math" panose="02040503050406030204" pitchFamily="18" charset="0"/>
                            </a:rPr>
                            <m:t>𝟏</m:t>
                          </m:r>
                        </m:num>
                        <m:den>
                          <m:r>
                            <a:rPr lang="en-US" sz="3200" b="1" i="1" smtClean="0">
                              <a:solidFill>
                                <a:srgbClr val="FF0000"/>
                              </a:solidFill>
                              <a:latin typeface="Cambria Math" panose="02040503050406030204" pitchFamily="18" charset="0"/>
                            </a:rPr>
                            <m:t>𝟐</m:t>
                          </m:r>
                        </m:den>
                      </m:f>
                      <m:r>
                        <a:rPr lang="en-US" sz="3200" b="1" i="1" smtClean="0">
                          <a:solidFill>
                            <a:srgbClr val="FF0000"/>
                          </a:solidFill>
                          <a:latin typeface="Cambria Math" panose="02040503050406030204" pitchFamily="18" charset="0"/>
                          <a:ea typeface="Cambria Math" panose="02040503050406030204" pitchFamily="18" charset="0"/>
                        </a:rPr>
                        <m:t>𝝉</m:t>
                      </m:r>
                    </m:oMath>
                  </m:oMathPara>
                </a14:m>
                <a:endParaRPr lang="en-CN" sz="3200" b="1" dirty="0">
                  <a:solidFill>
                    <a:srgbClr val="FF0000"/>
                  </a:solidFill>
                </a:endParaRPr>
              </a:p>
            </p:txBody>
          </p:sp>
        </mc:Choice>
        <mc:Fallback xmlns="">
          <p:sp>
            <p:nvSpPr>
              <p:cNvPr id="4" name="TextBox 3">
                <a:extLst>
                  <a:ext uri="{FF2B5EF4-FFF2-40B4-BE49-F238E27FC236}">
                    <a16:creationId xmlns:a16="http://schemas.microsoft.com/office/drawing/2014/main" id="{E2E8DCDD-E280-6A41-B2F4-8C6800BDC03E}"/>
                  </a:ext>
                </a:extLst>
              </p:cNvPr>
              <p:cNvSpPr txBox="1">
                <a:spLocks noRot="1" noChangeAspect="1" noMove="1" noResize="1" noEditPoints="1" noAdjustHandles="1" noChangeArrowheads="1" noChangeShapeType="1" noTextEdit="1"/>
              </p:cNvSpPr>
              <p:nvPr/>
            </p:nvSpPr>
            <p:spPr>
              <a:xfrm>
                <a:off x="4042228" y="931334"/>
                <a:ext cx="3911600" cy="1014317"/>
              </a:xfrm>
              <a:prstGeom prst="rect">
                <a:avLst/>
              </a:prstGeom>
              <a:blipFill>
                <a:blip r:embed="rId2"/>
                <a:stretch>
                  <a:fillRect b="-740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F7648A-2B7F-CB08-866B-532C661E7045}"/>
                  </a:ext>
                </a:extLst>
              </p:cNvPr>
              <p:cNvSpPr txBox="1"/>
              <p:nvPr/>
            </p:nvSpPr>
            <p:spPr>
              <a:xfrm>
                <a:off x="8392885" y="3712028"/>
                <a:ext cx="3216123"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𝐸</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𝑞</m:t>
                          </m:r>
                        </m:e>
                      </m:d>
                      <m:r>
                        <a:rPr lang="en-US" sz="4000" b="0" i="1" smtClean="0">
                          <a:latin typeface="Cambria Math" panose="02040503050406030204" pitchFamily="18" charset="0"/>
                        </a:rPr>
                        <m:t>=</m:t>
                      </m:r>
                      <m:r>
                        <a:rPr lang="en-US" sz="4000" b="0" i="1" smtClean="0">
                          <a:latin typeface="Cambria Math" panose="02040503050406030204" pitchFamily="18" charset="0"/>
                        </a:rPr>
                        <m:t>𝑐</m:t>
                      </m:r>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𝑞</m:t>
                          </m:r>
                        </m:e>
                        <m:sup>
                          <m:r>
                            <a:rPr lang="en-US" sz="4000" b="0" i="1" smtClean="0">
                              <a:latin typeface="Cambria Math" panose="02040503050406030204" pitchFamily="18" charset="0"/>
                            </a:rPr>
                            <m:t>2</m:t>
                          </m:r>
                        </m:sup>
                      </m:sSup>
                    </m:oMath>
                  </m:oMathPara>
                </a14:m>
                <a:endParaRPr lang="en-CN" sz="4000" dirty="0"/>
              </a:p>
            </p:txBody>
          </p:sp>
        </mc:Choice>
        <mc:Fallback xmlns="">
          <p:sp>
            <p:nvSpPr>
              <p:cNvPr id="7" name="TextBox 6">
                <a:extLst>
                  <a:ext uri="{FF2B5EF4-FFF2-40B4-BE49-F238E27FC236}">
                    <a16:creationId xmlns:a16="http://schemas.microsoft.com/office/drawing/2014/main" id="{68F7648A-2B7F-CB08-866B-532C661E7045}"/>
                  </a:ext>
                </a:extLst>
              </p:cNvPr>
              <p:cNvSpPr txBox="1">
                <a:spLocks noRot="1" noChangeAspect="1" noMove="1" noResize="1" noEditPoints="1" noAdjustHandles="1" noChangeArrowheads="1" noChangeShapeType="1" noTextEdit="1"/>
              </p:cNvSpPr>
              <p:nvPr/>
            </p:nvSpPr>
            <p:spPr>
              <a:xfrm>
                <a:off x="8392885" y="3712028"/>
                <a:ext cx="3216123" cy="707886"/>
              </a:xfrm>
              <a:prstGeom prst="rect">
                <a:avLst/>
              </a:prstGeom>
              <a:blipFill>
                <a:blip r:embed="rId3"/>
                <a:stretch>
                  <a:fillRect b="-14286"/>
                </a:stretch>
              </a:blipFill>
            </p:spPr>
            <p:txBody>
              <a:bodyPr/>
              <a:lstStyle/>
              <a:p>
                <a:r>
                  <a:rPr lang="en-CN">
                    <a:noFill/>
                  </a:rPr>
                  <a:t> </a:t>
                </a:r>
              </a:p>
            </p:txBody>
          </p:sp>
        </mc:Fallback>
      </mc:AlternateContent>
      <p:pic>
        <p:nvPicPr>
          <p:cNvPr id="9" name="Picture 8">
            <a:extLst>
              <a:ext uri="{FF2B5EF4-FFF2-40B4-BE49-F238E27FC236}">
                <a16:creationId xmlns:a16="http://schemas.microsoft.com/office/drawing/2014/main" id="{7CF39163-ECC3-D910-36C6-6E0C7F3385FF}"/>
              </a:ext>
            </a:extLst>
          </p:cNvPr>
          <p:cNvPicPr>
            <a:picLocks noChangeAspect="1"/>
          </p:cNvPicPr>
          <p:nvPr/>
        </p:nvPicPr>
        <p:blipFill>
          <a:blip r:embed="rId4"/>
          <a:stretch>
            <a:fillRect/>
          </a:stretch>
        </p:blipFill>
        <p:spPr>
          <a:xfrm>
            <a:off x="364066" y="2090166"/>
            <a:ext cx="6971695" cy="4157342"/>
          </a:xfrm>
          <a:prstGeom prst="rect">
            <a:avLst/>
          </a:prstGeom>
        </p:spPr>
      </p:pic>
    </p:spTree>
    <p:extLst>
      <p:ext uri="{BB962C8B-B14F-4D97-AF65-F5344CB8AC3E}">
        <p14:creationId xmlns:p14="http://schemas.microsoft.com/office/powerpoint/2010/main" val="36148146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820A7-25C4-D84C-BF99-537A7B5E1E31}"/>
              </a:ext>
            </a:extLst>
          </p:cNvPr>
          <p:cNvSpPr>
            <a:spLocks noGrp="1"/>
          </p:cNvSpPr>
          <p:nvPr>
            <p:ph type="title"/>
          </p:nvPr>
        </p:nvSpPr>
        <p:spPr>
          <a:xfrm>
            <a:off x="364066" y="229660"/>
            <a:ext cx="10515600" cy="701674"/>
          </a:xfrm>
        </p:spPr>
        <p:txBody>
          <a:bodyPr>
            <a:normAutofit fontScale="90000"/>
          </a:bodyPr>
          <a:lstStyle/>
          <a:p>
            <a:r>
              <a:rPr lang="en-CN" dirty="0">
                <a:latin typeface="FangSong" panose="02010609060101010101" pitchFamily="49" charset="-122"/>
                <a:ea typeface="FangSong" panose="02010609060101010101" pitchFamily="49" charset="-122"/>
              </a:rPr>
              <a:t>能量均分定理The equipartition theorem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2E8DCDD-E280-6A41-B2F4-8C6800BDC03E}"/>
                  </a:ext>
                </a:extLst>
              </p:cNvPr>
              <p:cNvSpPr txBox="1"/>
              <p:nvPr/>
            </p:nvSpPr>
            <p:spPr>
              <a:xfrm>
                <a:off x="4140199" y="580497"/>
                <a:ext cx="391160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CN" sz="3200" b="1" i="1" smtClean="0">
                              <a:solidFill>
                                <a:srgbClr val="FF0000"/>
                              </a:solidFill>
                              <a:latin typeface="Cambria Math" panose="02040503050406030204" pitchFamily="18" charset="0"/>
                            </a:rPr>
                          </m:ctrlPr>
                        </m:dPr>
                        <m:e>
                          <m:r>
                            <a:rPr lang="en-CN" sz="3200" b="1" i="1" smtClean="0">
                              <a:solidFill>
                                <a:srgbClr val="FF0000"/>
                              </a:solidFill>
                              <a:latin typeface="Cambria Math" panose="02040503050406030204" pitchFamily="18" charset="0"/>
                              <a:ea typeface="Cambria Math" panose="02040503050406030204" pitchFamily="18" charset="0"/>
                            </a:rPr>
                            <m:t>𝜺</m:t>
                          </m:r>
                        </m:e>
                      </m:d>
                      <m:r>
                        <a:rPr lang="en-US" sz="3200" b="1" i="1" smtClean="0">
                          <a:solidFill>
                            <a:srgbClr val="FF0000"/>
                          </a:solidFill>
                          <a:latin typeface="Cambria Math" panose="02040503050406030204" pitchFamily="18" charset="0"/>
                        </a:rPr>
                        <m:t>=</m:t>
                      </m:r>
                      <m:acc>
                        <m:accPr>
                          <m:chr m:val="̅"/>
                          <m:ctrlPr>
                            <a:rPr lang="en-US" sz="3200" b="1" i="1" smtClean="0">
                              <a:solidFill>
                                <a:srgbClr val="FF0000"/>
                              </a:solidFill>
                              <a:latin typeface="Cambria Math" panose="02040503050406030204" pitchFamily="18" charset="0"/>
                            </a:rPr>
                          </m:ctrlPr>
                        </m:accPr>
                        <m:e>
                          <m:r>
                            <a:rPr lang="en-US" sz="3200" b="1" i="1" smtClean="0">
                              <a:solidFill>
                                <a:srgbClr val="FF0000"/>
                              </a:solidFill>
                              <a:latin typeface="Cambria Math" panose="02040503050406030204" pitchFamily="18" charset="0"/>
                            </a:rPr>
                            <m:t>𝑬</m:t>
                          </m:r>
                        </m:e>
                      </m:acc>
                      <m:r>
                        <a:rPr lang="en-US" sz="3200" b="1" i="1" smtClean="0">
                          <a:solidFill>
                            <a:srgbClr val="FF0000"/>
                          </a:solidFill>
                          <a:latin typeface="Cambria Math" panose="02040503050406030204" pitchFamily="18" charset="0"/>
                        </a:rPr>
                        <m:t>=</m:t>
                      </m:r>
                      <m:r>
                        <a:rPr lang="en-US" sz="3200" b="1" i="1" smtClean="0">
                          <a:solidFill>
                            <a:srgbClr val="FF0000"/>
                          </a:solidFill>
                          <a:latin typeface="Cambria Math" panose="02040503050406030204" pitchFamily="18" charset="0"/>
                        </a:rPr>
                        <m:t>𝑼</m:t>
                      </m:r>
                      <m:r>
                        <a:rPr lang="en-US" sz="3200" b="1" i="1" smtClean="0">
                          <a:solidFill>
                            <a:srgbClr val="FF0000"/>
                          </a:solidFill>
                          <a:latin typeface="Cambria Math" panose="02040503050406030204" pitchFamily="18" charset="0"/>
                        </a:rPr>
                        <m:t>=</m:t>
                      </m:r>
                      <m:f>
                        <m:fPr>
                          <m:ctrlPr>
                            <a:rPr lang="en-US" sz="3200" b="1" i="1" smtClean="0">
                              <a:solidFill>
                                <a:srgbClr val="FF0000"/>
                              </a:solidFill>
                              <a:latin typeface="Cambria Math" panose="02040503050406030204" pitchFamily="18" charset="0"/>
                            </a:rPr>
                          </m:ctrlPr>
                        </m:fPr>
                        <m:num>
                          <m:r>
                            <a:rPr lang="en-US" sz="3200" b="1" i="1" smtClean="0">
                              <a:solidFill>
                                <a:srgbClr val="FF0000"/>
                              </a:solidFill>
                              <a:latin typeface="Cambria Math" panose="02040503050406030204" pitchFamily="18" charset="0"/>
                            </a:rPr>
                            <m:t>𝟏</m:t>
                          </m:r>
                        </m:num>
                        <m:den>
                          <m:r>
                            <a:rPr lang="en-US" sz="3200" b="1" i="1" smtClean="0">
                              <a:solidFill>
                                <a:srgbClr val="FF0000"/>
                              </a:solidFill>
                              <a:latin typeface="Cambria Math" panose="02040503050406030204" pitchFamily="18" charset="0"/>
                            </a:rPr>
                            <m:t>𝟐</m:t>
                          </m:r>
                        </m:den>
                      </m:f>
                      <m:r>
                        <a:rPr lang="en-US" sz="3200" b="1" i="1" smtClean="0">
                          <a:solidFill>
                            <a:srgbClr val="FF0000"/>
                          </a:solidFill>
                          <a:latin typeface="Cambria Math" panose="02040503050406030204" pitchFamily="18" charset="0"/>
                          <a:ea typeface="Cambria Math" panose="02040503050406030204" pitchFamily="18" charset="0"/>
                        </a:rPr>
                        <m:t>𝝉</m:t>
                      </m:r>
                    </m:oMath>
                  </m:oMathPara>
                </a14:m>
                <a:endParaRPr lang="en-CN" sz="3200" b="1" dirty="0">
                  <a:solidFill>
                    <a:srgbClr val="FF0000"/>
                  </a:solidFill>
                </a:endParaRPr>
              </a:p>
            </p:txBody>
          </p:sp>
        </mc:Choice>
        <mc:Fallback xmlns="">
          <p:sp>
            <p:nvSpPr>
              <p:cNvPr id="4" name="TextBox 3">
                <a:extLst>
                  <a:ext uri="{FF2B5EF4-FFF2-40B4-BE49-F238E27FC236}">
                    <a16:creationId xmlns:a16="http://schemas.microsoft.com/office/drawing/2014/main" id="{E2E8DCDD-E280-6A41-B2F4-8C6800BDC03E}"/>
                  </a:ext>
                </a:extLst>
              </p:cNvPr>
              <p:cNvSpPr txBox="1">
                <a:spLocks noRot="1" noChangeAspect="1" noMove="1" noResize="1" noEditPoints="1" noAdjustHandles="1" noChangeArrowheads="1" noChangeShapeType="1" noTextEdit="1"/>
              </p:cNvSpPr>
              <p:nvPr/>
            </p:nvSpPr>
            <p:spPr>
              <a:xfrm>
                <a:off x="4140199" y="580497"/>
                <a:ext cx="3911600" cy="1014317"/>
              </a:xfrm>
              <a:prstGeom prst="rect">
                <a:avLst/>
              </a:prstGeom>
              <a:blipFill>
                <a:blip r:embed="rId2"/>
                <a:stretch>
                  <a:fillRect b="-7407"/>
                </a:stretch>
              </a:blipFill>
            </p:spPr>
            <p:txBody>
              <a:bodyPr/>
              <a:lstStyle/>
              <a:p>
                <a:r>
                  <a:rPr lang="en-CN">
                    <a:noFill/>
                  </a:rPr>
                  <a:t> </a:t>
                </a:r>
              </a:p>
            </p:txBody>
          </p:sp>
        </mc:Fallback>
      </mc:AlternateContent>
      <p:pic>
        <p:nvPicPr>
          <p:cNvPr id="5" name="Picture 4">
            <a:extLst>
              <a:ext uri="{FF2B5EF4-FFF2-40B4-BE49-F238E27FC236}">
                <a16:creationId xmlns:a16="http://schemas.microsoft.com/office/drawing/2014/main" id="{634FD69D-AD3E-C444-BC64-DD675E7E3E02}"/>
              </a:ext>
            </a:extLst>
          </p:cNvPr>
          <p:cNvPicPr>
            <a:picLocks noChangeAspect="1"/>
          </p:cNvPicPr>
          <p:nvPr/>
        </p:nvPicPr>
        <p:blipFill>
          <a:blip r:embed="rId3"/>
          <a:stretch>
            <a:fillRect/>
          </a:stretch>
        </p:blipFill>
        <p:spPr>
          <a:xfrm>
            <a:off x="1657493" y="1594814"/>
            <a:ext cx="8877011" cy="5240645"/>
          </a:xfrm>
          <a:prstGeom prst="rect">
            <a:avLst/>
          </a:prstGeom>
        </p:spPr>
      </p:pic>
    </p:spTree>
    <p:extLst>
      <p:ext uri="{BB962C8B-B14F-4D97-AF65-F5344CB8AC3E}">
        <p14:creationId xmlns:p14="http://schemas.microsoft.com/office/powerpoint/2010/main" val="9621890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600A6F-A33B-224C-86A1-4F447F9767BA}"/>
                  </a:ext>
                </a:extLst>
              </p:cNvPr>
              <p:cNvSpPr txBox="1"/>
              <p:nvPr/>
            </p:nvSpPr>
            <p:spPr>
              <a:xfrm>
                <a:off x="1990120" y="5022067"/>
                <a:ext cx="9439965" cy="1611852"/>
              </a:xfrm>
              <a:prstGeom prst="rect">
                <a:avLst/>
              </a:prstGeom>
              <a:noFill/>
            </p:spPr>
            <p:txBody>
              <a:bodyPr wrap="square" rtlCol="0">
                <a:spAutoFit/>
              </a:bodyPr>
              <a:lstStyle/>
              <a:p>
                <a:r>
                  <a:rPr lang="en-CN" sz="3200" dirty="0">
                    <a:latin typeface="FangSong" panose="02010609060101010101" pitchFamily="49" charset="-122"/>
                    <a:ea typeface="FangSong" panose="02010609060101010101" pitchFamily="49" charset="-122"/>
                  </a:rPr>
                  <a:t>Q5: 考虑一个系统的能量关于自由度是线性依赖</a:t>
                </a:r>
                <a:r>
                  <a:rPr lang="zh-CN" altLang="en-US" sz="3200" dirty="0">
                    <a:latin typeface="FangSong" panose="02010609060101010101" pitchFamily="49" charset="-122"/>
                    <a:ea typeface="FangSong" panose="02010609060101010101" pitchFamily="49" charset="-122"/>
                  </a:rPr>
                  <a:t>，平均能量为？</a:t>
                </a:r>
                <a14:m>
                  <m:oMath xmlns:m="http://schemas.openxmlformats.org/officeDocument/2006/math">
                    <m:r>
                      <a:rPr lang="en-US" sz="3200" b="0" i="1" smtClean="0">
                        <a:latin typeface="Cambria Math" panose="02040503050406030204" pitchFamily="18" charset="0"/>
                      </a:rPr>
                      <m:t>𝐸</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𝑞</m:t>
                        </m:r>
                      </m:e>
                    </m:d>
                    <m:r>
                      <a:rPr lang="en-US" sz="3200" b="0" i="1" smtClean="0">
                        <a:latin typeface="Cambria Math" panose="02040503050406030204" pitchFamily="18" charset="0"/>
                      </a:rPr>
                      <m:t>=</m:t>
                    </m:r>
                    <m:r>
                      <a:rPr lang="en-US" sz="3200" b="0" i="1" smtClean="0">
                        <a:latin typeface="Cambria Math" panose="02040503050406030204" pitchFamily="18" charset="0"/>
                      </a:rPr>
                      <m:t>𝑐𝑞</m:t>
                    </m:r>
                  </m:oMath>
                </a14:m>
                <a:endParaRPr lang="en-CN" sz="3200" dirty="0"/>
              </a:p>
              <a:p>
                <a:endParaRPr lang="en-CN" sz="3200" dirty="0">
                  <a:latin typeface="FangSong" panose="02010609060101010101" pitchFamily="49" charset="-122"/>
                  <a:ea typeface="FangSong" panose="02010609060101010101" pitchFamily="49" charset="-122"/>
                </a:endParaRPr>
              </a:p>
            </p:txBody>
          </p:sp>
        </mc:Choice>
        <mc:Fallback xmlns="">
          <p:sp>
            <p:nvSpPr>
              <p:cNvPr id="4" name="TextBox 3">
                <a:extLst>
                  <a:ext uri="{FF2B5EF4-FFF2-40B4-BE49-F238E27FC236}">
                    <a16:creationId xmlns:a16="http://schemas.microsoft.com/office/drawing/2014/main" id="{E5600A6F-A33B-224C-86A1-4F447F9767BA}"/>
                  </a:ext>
                </a:extLst>
              </p:cNvPr>
              <p:cNvSpPr txBox="1">
                <a:spLocks noRot="1" noChangeAspect="1" noMove="1" noResize="1" noEditPoints="1" noAdjustHandles="1" noChangeArrowheads="1" noChangeShapeType="1" noTextEdit="1"/>
              </p:cNvSpPr>
              <p:nvPr/>
            </p:nvSpPr>
            <p:spPr>
              <a:xfrm>
                <a:off x="1990120" y="5022067"/>
                <a:ext cx="9439965" cy="1611852"/>
              </a:xfrm>
              <a:prstGeom prst="rect">
                <a:avLst/>
              </a:prstGeom>
              <a:blipFill>
                <a:blip r:embed="rId2"/>
                <a:stretch>
                  <a:fillRect l="-1611" t="-468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31EAD21-CC7A-6842-ADCF-67724B8BA9CD}"/>
                  </a:ext>
                </a:extLst>
              </p:cNvPr>
              <p:cNvSpPr txBox="1"/>
              <p:nvPr/>
            </p:nvSpPr>
            <p:spPr>
              <a:xfrm>
                <a:off x="1474502" y="1030007"/>
                <a:ext cx="9618133" cy="2185214"/>
              </a:xfrm>
              <a:prstGeom prst="rect">
                <a:avLst/>
              </a:prstGeom>
              <a:noFill/>
            </p:spPr>
            <p:txBody>
              <a:bodyPr wrap="square" rtlCol="0">
                <a:spAutoFit/>
              </a:bodyPr>
              <a:lstStyle/>
              <a:p>
                <a:r>
                  <a:rPr lang="en-CN" sz="3200" dirty="0"/>
                  <a:t>The equipartition theorem does not apply to all systems. It applied only to system whose energy is in the form of quadratic “degree of freedom” of form</a:t>
                </a:r>
              </a:p>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𝐸</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𝑞</m:t>
                          </m:r>
                        </m:e>
                      </m:d>
                      <m:r>
                        <a:rPr lang="en-US" sz="4000" b="0" i="1" smtClean="0">
                          <a:latin typeface="Cambria Math" panose="02040503050406030204" pitchFamily="18" charset="0"/>
                        </a:rPr>
                        <m:t>=</m:t>
                      </m:r>
                      <m:r>
                        <a:rPr lang="en-US" sz="4000" b="0" i="1" smtClean="0">
                          <a:latin typeface="Cambria Math" panose="02040503050406030204" pitchFamily="18" charset="0"/>
                        </a:rPr>
                        <m:t>𝑐</m:t>
                      </m:r>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𝑞</m:t>
                          </m:r>
                        </m:e>
                        <m:sup>
                          <m:r>
                            <a:rPr lang="en-US" sz="4000" b="0" i="1" smtClean="0">
                              <a:latin typeface="Cambria Math" panose="02040503050406030204" pitchFamily="18" charset="0"/>
                            </a:rPr>
                            <m:t>2</m:t>
                          </m:r>
                        </m:sup>
                      </m:sSup>
                    </m:oMath>
                  </m:oMathPara>
                </a14:m>
                <a:endParaRPr lang="en-CN" sz="4000" dirty="0"/>
              </a:p>
            </p:txBody>
          </p:sp>
        </mc:Choice>
        <mc:Fallback xmlns="">
          <p:sp>
            <p:nvSpPr>
              <p:cNvPr id="3" name="TextBox 2">
                <a:extLst>
                  <a:ext uri="{FF2B5EF4-FFF2-40B4-BE49-F238E27FC236}">
                    <a16:creationId xmlns:a16="http://schemas.microsoft.com/office/drawing/2014/main" id="{131EAD21-CC7A-6842-ADCF-67724B8BA9CD}"/>
                  </a:ext>
                </a:extLst>
              </p:cNvPr>
              <p:cNvSpPr txBox="1">
                <a:spLocks noRot="1" noChangeAspect="1" noMove="1" noResize="1" noEditPoints="1" noAdjustHandles="1" noChangeArrowheads="1" noChangeShapeType="1" noTextEdit="1"/>
              </p:cNvSpPr>
              <p:nvPr/>
            </p:nvSpPr>
            <p:spPr>
              <a:xfrm>
                <a:off x="1474502" y="1030007"/>
                <a:ext cx="9618133" cy="2185214"/>
              </a:xfrm>
              <a:prstGeom prst="rect">
                <a:avLst/>
              </a:prstGeom>
              <a:blipFill>
                <a:blip r:embed="rId3"/>
                <a:stretch>
                  <a:fillRect l="-1583" t="-4070" r="-1583" b="-407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24F6DD7-6632-4C33-1496-1E82890666B1}"/>
                  </a:ext>
                </a:extLst>
              </p:cNvPr>
              <p:cNvSpPr txBox="1"/>
              <p:nvPr/>
            </p:nvSpPr>
            <p:spPr>
              <a:xfrm>
                <a:off x="4327768" y="3322189"/>
                <a:ext cx="391160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CN" sz="3200" b="1" i="1" smtClean="0">
                              <a:solidFill>
                                <a:srgbClr val="FF0000"/>
                              </a:solidFill>
                              <a:latin typeface="Cambria Math" panose="02040503050406030204" pitchFamily="18" charset="0"/>
                            </a:rPr>
                          </m:ctrlPr>
                        </m:dPr>
                        <m:e>
                          <m:r>
                            <a:rPr lang="en-CN" sz="3200" b="1" i="1" smtClean="0">
                              <a:solidFill>
                                <a:srgbClr val="FF0000"/>
                              </a:solidFill>
                              <a:latin typeface="Cambria Math" panose="02040503050406030204" pitchFamily="18" charset="0"/>
                              <a:ea typeface="Cambria Math" panose="02040503050406030204" pitchFamily="18" charset="0"/>
                            </a:rPr>
                            <m:t>𝜺</m:t>
                          </m:r>
                        </m:e>
                      </m:d>
                      <m:r>
                        <a:rPr lang="en-US" sz="3200" b="1" i="1" smtClean="0">
                          <a:solidFill>
                            <a:srgbClr val="FF0000"/>
                          </a:solidFill>
                          <a:latin typeface="Cambria Math" panose="02040503050406030204" pitchFamily="18" charset="0"/>
                        </a:rPr>
                        <m:t>=</m:t>
                      </m:r>
                      <m:acc>
                        <m:accPr>
                          <m:chr m:val="̅"/>
                          <m:ctrlPr>
                            <a:rPr lang="en-US" sz="3200" b="1" i="1" smtClean="0">
                              <a:solidFill>
                                <a:srgbClr val="FF0000"/>
                              </a:solidFill>
                              <a:latin typeface="Cambria Math" panose="02040503050406030204" pitchFamily="18" charset="0"/>
                            </a:rPr>
                          </m:ctrlPr>
                        </m:accPr>
                        <m:e>
                          <m:r>
                            <a:rPr lang="en-US" sz="3200" b="1" i="1" smtClean="0">
                              <a:solidFill>
                                <a:srgbClr val="FF0000"/>
                              </a:solidFill>
                              <a:latin typeface="Cambria Math" panose="02040503050406030204" pitchFamily="18" charset="0"/>
                            </a:rPr>
                            <m:t>𝑬</m:t>
                          </m:r>
                        </m:e>
                      </m:acc>
                      <m:r>
                        <a:rPr lang="en-US" sz="3200" b="1" i="1" smtClean="0">
                          <a:solidFill>
                            <a:srgbClr val="FF0000"/>
                          </a:solidFill>
                          <a:latin typeface="Cambria Math" panose="02040503050406030204" pitchFamily="18" charset="0"/>
                        </a:rPr>
                        <m:t>=</m:t>
                      </m:r>
                      <m:r>
                        <a:rPr lang="en-US" sz="3200" b="1" i="1" smtClean="0">
                          <a:solidFill>
                            <a:srgbClr val="FF0000"/>
                          </a:solidFill>
                          <a:latin typeface="Cambria Math" panose="02040503050406030204" pitchFamily="18" charset="0"/>
                        </a:rPr>
                        <m:t>𝑼</m:t>
                      </m:r>
                      <m:r>
                        <a:rPr lang="en-US" sz="3200" b="1" i="1" smtClean="0">
                          <a:solidFill>
                            <a:srgbClr val="FF0000"/>
                          </a:solidFill>
                          <a:latin typeface="Cambria Math" panose="02040503050406030204" pitchFamily="18" charset="0"/>
                        </a:rPr>
                        <m:t>=</m:t>
                      </m:r>
                      <m:f>
                        <m:fPr>
                          <m:ctrlPr>
                            <a:rPr lang="en-US" sz="3200" b="1" i="1" smtClean="0">
                              <a:solidFill>
                                <a:srgbClr val="FF0000"/>
                              </a:solidFill>
                              <a:latin typeface="Cambria Math" panose="02040503050406030204" pitchFamily="18" charset="0"/>
                            </a:rPr>
                          </m:ctrlPr>
                        </m:fPr>
                        <m:num>
                          <m:r>
                            <a:rPr lang="en-US" sz="3200" b="1" i="1" smtClean="0">
                              <a:solidFill>
                                <a:srgbClr val="FF0000"/>
                              </a:solidFill>
                              <a:latin typeface="Cambria Math" panose="02040503050406030204" pitchFamily="18" charset="0"/>
                            </a:rPr>
                            <m:t>𝟏</m:t>
                          </m:r>
                        </m:num>
                        <m:den>
                          <m:r>
                            <a:rPr lang="en-US" sz="3200" b="1" i="1" smtClean="0">
                              <a:solidFill>
                                <a:srgbClr val="FF0000"/>
                              </a:solidFill>
                              <a:latin typeface="Cambria Math" panose="02040503050406030204" pitchFamily="18" charset="0"/>
                            </a:rPr>
                            <m:t>𝟐</m:t>
                          </m:r>
                        </m:den>
                      </m:f>
                      <m:r>
                        <a:rPr lang="en-US" sz="3200" b="1" i="1" smtClean="0">
                          <a:solidFill>
                            <a:srgbClr val="FF0000"/>
                          </a:solidFill>
                          <a:latin typeface="Cambria Math" panose="02040503050406030204" pitchFamily="18" charset="0"/>
                          <a:ea typeface="Cambria Math" panose="02040503050406030204" pitchFamily="18" charset="0"/>
                        </a:rPr>
                        <m:t>𝝉</m:t>
                      </m:r>
                    </m:oMath>
                  </m:oMathPara>
                </a14:m>
                <a:endParaRPr lang="en-CN" sz="3200" b="1" dirty="0">
                  <a:solidFill>
                    <a:srgbClr val="FF0000"/>
                  </a:solidFill>
                </a:endParaRPr>
              </a:p>
            </p:txBody>
          </p:sp>
        </mc:Choice>
        <mc:Fallback xmlns="">
          <p:sp>
            <p:nvSpPr>
              <p:cNvPr id="2" name="TextBox 1">
                <a:extLst>
                  <a:ext uri="{FF2B5EF4-FFF2-40B4-BE49-F238E27FC236}">
                    <a16:creationId xmlns:a16="http://schemas.microsoft.com/office/drawing/2014/main" id="{924F6DD7-6632-4C33-1496-1E82890666B1}"/>
                  </a:ext>
                </a:extLst>
              </p:cNvPr>
              <p:cNvSpPr txBox="1">
                <a:spLocks noRot="1" noChangeAspect="1" noMove="1" noResize="1" noEditPoints="1" noAdjustHandles="1" noChangeArrowheads="1" noChangeShapeType="1" noTextEdit="1"/>
              </p:cNvSpPr>
              <p:nvPr/>
            </p:nvSpPr>
            <p:spPr>
              <a:xfrm>
                <a:off x="4327768" y="3322189"/>
                <a:ext cx="3911600" cy="1014317"/>
              </a:xfrm>
              <a:prstGeom prst="rect">
                <a:avLst/>
              </a:prstGeom>
              <a:blipFill>
                <a:blip r:embed="rId4"/>
                <a:stretch>
                  <a:fillRect b="-7407"/>
                </a:stretch>
              </a:blipFill>
            </p:spPr>
            <p:txBody>
              <a:bodyPr/>
              <a:lstStyle/>
              <a:p>
                <a:r>
                  <a:rPr lang="en-CN">
                    <a:noFill/>
                  </a:rPr>
                  <a:t> </a:t>
                </a:r>
              </a:p>
            </p:txBody>
          </p:sp>
        </mc:Fallback>
      </mc:AlternateContent>
    </p:spTree>
    <p:extLst>
      <p:ext uri="{BB962C8B-B14F-4D97-AF65-F5344CB8AC3E}">
        <p14:creationId xmlns:p14="http://schemas.microsoft.com/office/powerpoint/2010/main" val="8466278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600A6F-A33B-224C-86A1-4F447F9767BA}"/>
              </a:ext>
            </a:extLst>
          </p:cNvPr>
          <p:cNvSpPr txBox="1"/>
          <p:nvPr/>
        </p:nvSpPr>
        <p:spPr>
          <a:xfrm>
            <a:off x="1376017" y="4443474"/>
            <a:ext cx="9439965" cy="1077218"/>
          </a:xfrm>
          <a:prstGeom prst="rect">
            <a:avLst/>
          </a:prstGeom>
          <a:noFill/>
        </p:spPr>
        <p:txBody>
          <a:bodyPr wrap="square" rtlCol="0">
            <a:spAutoFit/>
          </a:bodyPr>
          <a:lstStyle/>
          <a:p>
            <a:r>
              <a:rPr lang="en-CN" sz="3200" dirty="0">
                <a:latin typeface="FangSong" panose="02010609060101010101" pitchFamily="49" charset="-122"/>
                <a:ea typeface="FangSong" panose="02010609060101010101" pitchFamily="49" charset="-122"/>
              </a:rPr>
              <a:t>Q5: </a:t>
            </a:r>
            <a:r>
              <a:rPr lang="en-US" sz="3200" dirty="0" err="1">
                <a:latin typeface="FangSong" panose="02010609060101010101" pitchFamily="49" charset="-122"/>
                <a:ea typeface="FangSong" panose="02010609060101010101" pitchFamily="49" charset="-122"/>
              </a:rPr>
              <a:t>畅想一下子</a:t>
            </a:r>
            <a:endParaRPr lang="en-CN" sz="3200" dirty="0"/>
          </a:p>
          <a:p>
            <a:endParaRPr lang="en-CN" sz="3200"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31EAD21-CC7A-6842-ADCF-67724B8BA9CD}"/>
                  </a:ext>
                </a:extLst>
              </p:cNvPr>
              <p:cNvSpPr txBox="1"/>
              <p:nvPr/>
            </p:nvSpPr>
            <p:spPr>
              <a:xfrm>
                <a:off x="1474502" y="1030007"/>
                <a:ext cx="9618133" cy="2185214"/>
              </a:xfrm>
              <a:prstGeom prst="rect">
                <a:avLst/>
              </a:prstGeom>
              <a:noFill/>
            </p:spPr>
            <p:txBody>
              <a:bodyPr wrap="square" rtlCol="0">
                <a:spAutoFit/>
              </a:bodyPr>
              <a:lstStyle/>
              <a:p>
                <a:r>
                  <a:rPr lang="en-CN" sz="3200" dirty="0"/>
                  <a:t>The equipartition theorem does not apply to all systems. It applied only to system whose energy is in the form of quadratic “degree of freedom” of form</a:t>
                </a:r>
              </a:p>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𝐸</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𝑞</m:t>
                          </m:r>
                        </m:e>
                      </m:d>
                      <m:r>
                        <a:rPr lang="en-US" sz="4000" b="0" i="1" smtClean="0">
                          <a:latin typeface="Cambria Math" panose="02040503050406030204" pitchFamily="18" charset="0"/>
                        </a:rPr>
                        <m:t>=</m:t>
                      </m:r>
                      <m:r>
                        <a:rPr lang="en-US" sz="4000" b="0" i="1" smtClean="0">
                          <a:latin typeface="Cambria Math" panose="02040503050406030204" pitchFamily="18" charset="0"/>
                        </a:rPr>
                        <m:t>𝑐</m:t>
                      </m:r>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𝑞</m:t>
                          </m:r>
                        </m:e>
                        <m:sup>
                          <m:r>
                            <a:rPr lang="en-US" sz="4000" b="0" i="1" smtClean="0">
                              <a:latin typeface="Cambria Math" panose="02040503050406030204" pitchFamily="18" charset="0"/>
                            </a:rPr>
                            <m:t>2</m:t>
                          </m:r>
                        </m:sup>
                      </m:sSup>
                    </m:oMath>
                  </m:oMathPara>
                </a14:m>
                <a:endParaRPr lang="en-CN" sz="4000" dirty="0"/>
              </a:p>
            </p:txBody>
          </p:sp>
        </mc:Choice>
        <mc:Fallback xmlns="">
          <p:sp>
            <p:nvSpPr>
              <p:cNvPr id="3" name="TextBox 2">
                <a:extLst>
                  <a:ext uri="{FF2B5EF4-FFF2-40B4-BE49-F238E27FC236}">
                    <a16:creationId xmlns:a16="http://schemas.microsoft.com/office/drawing/2014/main" id="{131EAD21-CC7A-6842-ADCF-67724B8BA9CD}"/>
                  </a:ext>
                </a:extLst>
              </p:cNvPr>
              <p:cNvSpPr txBox="1">
                <a:spLocks noRot="1" noChangeAspect="1" noMove="1" noResize="1" noEditPoints="1" noAdjustHandles="1" noChangeArrowheads="1" noChangeShapeType="1" noTextEdit="1"/>
              </p:cNvSpPr>
              <p:nvPr/>
            </p:nvSpPr>
            <p:spPr>
              <a:xfrm>
                <a:off x="1474502" y="1030007"/>
                <a:ext cx="9618133" cy="2185214"/>
              </a:xfrm>
              <a:prstGeom prst="rect">
                <a:avLst/>
              </a:prstGeom>
              <a:blipFill>
                <a:blip r:embed="rId3"/>
                <a:stretch>
                  <a:fillRect l="-1583" t="-4070" r="-1583" b="-407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24F6DD7-6632-4C33-1496-1E82890666B1}"/>
                  </a:ext>
                </a:extLst>
              </p:cNvPr>
              <p:cNvSpPr txBox="1"/>
              <p:nvPr/>
            </p:nvSpPr>
            <p:spPr>
              <a:xfrm>
                <a:off x="4327768" y="3322189"/>
                <a:ext cx="391160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CN" sz="3200" b="1" i="1" smtClean="0">
                              <a:solidFill>
                                <a:srgbClr val="FF0000"/>
                              </a:solidFill>
                              <a:latin typeface="Cambria Math" panose="02040503050406030204" pitchFamily="18" charset="0"/>
                            </a:rPr>
                          </m:ctrlPr>
                        </m:dPr>
                        <m:e>
                          <m:r>
                            <a:rPr lang="en-CN" sz="3200" b="1" i="1" smtClean="0">
                              <a:solidFill>
                                <a:srgbClr val="FF0000"/>
                              </a:solidFill>
                              <a:latin typeface="Cambria Math" panose="02040503050406030204" pitchFamily="18" charset="0"/>
                              <a:ea typeface="Cambria Math" panose="02040503050406030204" pitchFamily="18" charset="0"/>
                            </a:rPr>
                            <m:t>𝜺</m:t>
                          </m:r>
                        </m:e>
                      </m:d>
                      <m:r>
                        <a:rPr lang="en-US" sz="3200" b="1" i="1" smtClean="0">
                          <a:solidFill>
                            <a:srgbClr val="FF0000"/>
                          </a:solidFill>
                          <a:latin typeface="Cambria Math" panose="02040503050406030204" pitchFamily="18" charset="0"/>
                        </a:rPr>
                        <m:t>=</m:t>
                      </m:r>
                      <m:acc>
                        <m:accPr>
                          <m:chr m:val="̅"/>
                          <m:ctrlPr>
                            <a:rPr lang="en-US" sz="3200" b="1" i="1" smtClean="0">
                              <a:solidFill>
                                <a:srgbClr val="FF0000"/>
                              </a:solidFill>
                              <a:latin typeface="Cambria Math" panose="02040503050406030204" pitchFamily="18" charset="0"/>
                            </a:rPr>
                          </m:ctrlPr>
                        </m:accPr>
                        <m:e>
                          <m:r>
                            <a:rPr lang="en-US" sz="3200" b="1" i="1" smtClean="0">
                              <a:solidFill>
                                <a:srgbClr val="FF0000"/>
                              </a:solidFill>
                              <a:latin typeface="Cambria Math" panose="02040503050406030204" pitchFamily="18" charset="0"/>
                            </a:rPr>
                            <m:t>𝑬</m:t>
                          </m:r>
                        </m:e>
                      </m:acc>
                      <m:r>
                        <a:rPr lang="en-US" sz="3200" b="1" i="1" smtClean="0">
                          <a:solidFill>
                            <a:srgbClr val="FF0000"/>
                          </a:solidFill>
                          <a:latin typeface="Cambria Math" panose="02040503050406030204" pitchFamily="18" charset="0"/>
                        </a:rPr>
                        <m:t>=</m:t>
                      </m:r>
                      <m:r>
                        <a:rPr lang="en-US" sz="3200" b="1" i="1" smtClean="0">
                          <a:solidFill>
                            <a:srgbClr val="FF0000"/>
                          </a:solidFill>
                          <a:latin typeface="Cambria Math" panose="02040503050406030204" pitchFamily="18" charset="0"/>
                        </a:rPr>
                        <m:t>𝑼</m:t>
                      </m:r>
                      <m:r>
                        <a:rPr lang="en-US" sz="3200" b="1" i="1" smtClean="0">
                          <a:solidFill>
                            <a:srgbClr val="FF0000"/>
                          </a:solidFill>
                          <a:latin typeface="Cambria Math" panose="02040503050406030204" pitchFamily="18" charset="0"/>
                        </a:rPr>
                        <m:t>=</m:t>
                      </m:r>
                      <m:f>
                        <m:fPr>
                          <m:ctrlPr>
                            <a:rPr lang="en-US" sz="3200" b="1" i="1" smtClean="0">
                              <a:solidFill>
                                <a:srgbClr val="FF0000"/>
                              </a:solidFill>
                              <a:latin typeface="Cambria Math" panose="02040503050406030204" pitchFamily="18" charset="0"/>
                            </a:rPr>
                          </m:ctrlPr>
                        </m:fPr>
                        <m:num>
                          <m:r>
                            <a:rPr lang="en-US" sz="3200" b="1" i="1" smtClean="0">
                              <a:solidFill>
                                <a:srgbClr val="FF0000"/>
                              </a:solidFill>
                              <a:latin typeface="Cambria Math" panose="02040503050406030204" pitchFamily="18" charset="0"/>
                            </a:rPr>
                            <m:t>𝟏</m:t>
                          </m:r>
                        </m:num>
                        <m:den>
                          <m:r>
                            <a:rPr lang="en-US" sz="3200" b="1" i="1" smtClean="0">
                              <a:solidFill>
                                <a:srgbClr val="FF0000"/>
                              </a:solidFill>
                              <a:latin typeface="Cambria Math" panose="02040503050406030204" pitchFamily="18" charset="0"/>
                            </a:rPr>
                            <m:t>𝟐</m:t>
                          </m:r>
                        </m:den>
                      </m:f>
                      <m:r>
                        <a:rPr lang="en-US" sz="3200" b="1" i="1" smtClean="0">
                          <a:solidFill>
                            <a:srgbClr val="FF0000"/>
                          </a:solidFill>
                          <a:latin typeface="Cambria Math" panose="02040503050406030204" pitchFamily="18" charset="0"/>
                          <a:ea typeface="Cambria Math" panose="02040503050406030204" pitchFamily="18" charset="0"/>
                        </a:rPr>
                        <m:t>𝝉</m:t>
                      </m:r>
                    </m:oMath>
                  </m:oMathPara>
                </a14:m>
                <a:endParaRPr lang="en-CN" sz="3200" b="1" dirty="0">
                  <a:solidFill>
                    <a:srgbClr val="FF0000"/>
                  </a:solidFill>
                </a:endParaRPr>
              </a:p>
            </p:txBody>
          </p:sp>
        </mc:Choice>
        <mc:Fallback xmlns="">
          <p:sp>
            <p:nvSpPr>
              <p:cNvPr id="2" name="TextBox 1">
                <a:extLst>
                  <a:ext uri="{FF2B5EF4-FFF2-40B4-BE49-F238E27FC236}">
                    <a16:creationId xmlns:a16="http://schemas.microsoft.com/office/drawing/2014/main" id="{924F6DD7-6632-4C33-1496-1E82890666B1}"/>
                  </a:ext>
                </a:extLst>
              </p:cNvPr>
              <p:cNvSpPr txBox="1">
                <a:spLocks noRot="1" noChangeAspect="1" noMove="1" noResize="1" noEditPoints="1" noAdjustHandles="1" noChangeArrowheads="1" noChangeShapeType="1" noTextEdit="1"/>
              </p:cNvSpPr>
              <p:nvPr/>
            </p:nvSpPr>
            <p:spPr>
              <a:xfrm>
                <a:off x="4327768" y="3322189"/>
                <a:ext cx="3911600" cy="1014317"/>
              </a:xfrm>
              <a:prstGeom prst="rect">
                <a:avLst/>
              </a:prstGeom>
              <a:blipFill>
                <a:blip r:embed="rId4"/>
                <a:stretch>
                  <a:fillRect b="-740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C5C8A39-AD12-417E-3B5A-20BF46E206F0}"/>
                  </a:ext>
                </a:extLst>
              </p:cNvPr>
              <p:cNvSpPr txBox="1"/>
              <p:nvPr/>
            </p:nvSpPr>
            <p:spPr>
              <a:xfrm>
                <a:off x="4327768" y="5366657"/>
                <a:ext cx="3662346" cy="11116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CN" sz="3200" i="1" smtClean="0">
                              <a:latin typeface="Cambria Math" panose="02040503050406030204" pitchFamily="18" charset="0"/>
                            </a:rPr>
                          </m:ctrlPr>
                        </m:dPr>
                        <m:e>
                          <m:r>
                            <a:rPr lang="en-US" sz="3200" b="0" i="1" smtClean="0">
                              <a:latin typeface="Cambria Math" panose="02040503050406030204" pitchFamily="18" charset="0"/>
                            </a:rPr>
                            <m:t>𝑞</m:t>
                          </m:r>
                          <m:f>
                            <m:fPr>
                              <m:ctrlPr>
                                <a:rPr lang="en-US" sz="3200" b="0" i="1" smtClean="0">
                                  <a:latin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𝜕𝜀</m:t>
                              </m:r>
                            </m:num>
                            <m:den>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𝑞</m:t>
                              </m:r>
                            </m:den>
                          </m:f>
                        </m:e>
                      </m:d>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oMath>
                  </m:oMathPara>
                </a14:m>
                <a:endParaRPr lang="en-CN" sz="3200" dirty="0"/>
              </a:p>
            </p:txBody>
          </p:sp>
        </mc:Choice>
        <mc:Fallback xmlns="">
          <p:sp>
            <p:nvSpPr>
              <p:cNvPr id="5" name="TextBox 4">
                <a:extLst>
                  <a:ext uri="{FF2B5EF4-FFF2-40B4-BE49-F238E27FC236}">
                    <a16:creationId xmlns:a16="http://schemas.microsoft.com/office/drawing/2014/main" id="{EC5C8A39-AD12-417E-3B5A-20BF46E206F0}"/>
                  </a:ext>
                </a:extLst>
              </p:cNvPr>
              <p:cNvSpPr txBox="1">
                <a:spLocks noRot="1" noChangeAspect="1" noMove="1" noResize="1" noEditPoints="1" noAdjustHandles="1" noChangeArrowheads="1" noChangeShapeType="1" noTextEdit="1"/>
              </p:cNvSpPr>
              <p:nvPr/>
            </p:nvSpPr>
            <p:spPr>
              <a:xfrm>
                <a:off x="4327768" y="5366657"/>
                <a:ext cx="3662346" cy="1111651"/>
              </a:xfrm>
              <a:prstGeom prst="rect">
                <a:avLst/>
              </a:prstGeom>
              <a:blipFill>
                <a:blip r:embed="rId5"/>
                <a:stretch>
                  <a:fillRect b="-10112"/>
                </a:stretch>
              </a:blipFill>
            </p:spPr>
            <p:txBody>
              <a:bodyPr/>
              <a:lstStyle/>
              <a:p>
                <a:r>
                  <a:rPr lang="en-CN">
                    <a:noFill/>
                  </a:rPr>
                  <a:t> </a:t>
                </a:r>
              </a:p>
            </p:txBody>
          </p:sp>
        </mc:Fallback>
      </mc:AlternateContent>
    </p:spTree>
    <p:extLst>
      <p:ext uri="{BB962C8B-B14F-4D97-AF65-F5344CB8AC3E}">
        <p14:creationId xmlns:p14="http://schemas.microsoft.com/office/powerpoint/2010/main" val="2619326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FFC27-0250-AC46-B1D0-44D11F90BE11}"/>
              </a:ext>
            </a:extLst>
          </p:cNvPr>
          <p:cNvSpPr>
            <a:spLocks noGrp="1"/>
          </p:cNvSpPr>
          <p:nvPr>
            <p:ph idx="1"/>
          </p:nvPr>
        </p:nvSpPr>
        <p:spPr>
          <a:xfrm>
            <a:off x="2455332" y="1893358"/>
            <a:ext cx="8779933" cy="1933575"/>
          </a:xfrm>
        </p:spPr>
        <p:txBody>
          <a:bodyPr>
            <a:normAutofit lnSpcReduction="10000"/>
          </a:bodyPr>
          <a:lstStyle/>
          <a:p>
            <a:r>
              <a:rPr lang="en-CN" sz="4000" dirty="0">
                <a:solidFill>
                  <a:schemeClr val="bg1">
                    <a:lumMod val="50000"/>
                  </a:schemeClr>
                </a:solidFill>
                <a:latin typeface="FangSong" panose="02010609060101010101" pitchFamily="49" charset="-122"/>
                <a:ea typeface="FangSong" panose="02010609060101010101" pitchFamily="49" charset="-122"/>
              </a:rPr>
              <a:t>平均值</a:t>
            </a:r>
          </a:p>
          <a:p>
            <a:r>
              <a:rPr lang="en-CN" sz="4000" dirty="0">
                <a:solidFill>
                  <a:schemeClr val="bg1">
                    <a:lumMod val="50000"/>
                  </a:schemeClr>
                </a:solidFill>
                <a:latin typeface="FangSong" panose="02010609060101010101" pitchFamily="49" charset="-122"/>
                <a:ea typeface="FangSong" panose="02010609060101010101" pitchFamily="49" charset="-122"/>
              </a:rPr>
              <a:t>能量均分定理</a:t>
            </a:r>
          </a:p>
          <a:p>
            <a:r>
              <a:rPr lang="en-CN" sz="4000" dirty="0">
                <a:latin typeface="FangSong" panose="02010609060101010101" pitchFamily="49" charset="-122"/>
                <a:ea typeface="FangSong" panose="02010609060101010101" pitchFamily="49" charset="-122"/>
              </a:rPr>
              <a:t>麦克斯韦</a:t>
            </a:r>
            <a:r>
              <a:rPr lang="en-CN" sz="4000" dirty="0">
                <a:solidFill>
                  <a:srgbClr val="FF0000"/>
                </a:solidFill>
                <a:latin typeface="FangSong" panose="02010609060101010101" pitchFamily="49" charset="-122"/>
                <a:ea typeface="FangSong" panose="02010609060101010101" pitchFamily="49" charset="-122"/>
              </a:rPr>
              <a:t>速率</a:t>
            </a:r>
            <a:r>
              <a:rPr lang="en-CN" sz="4000" dirty="0">
                <a:solidFill>
                  <a:srgbClr val="7030A0"/>
                </a:solidFill>
                <a:latin typeface="FangSong" panose="02010609060101010101" pitchFamily="49" charset="-122"/>
                <a:ea typeface="FangSong" panose="02010609060101010101" pitchFamily="49" charset="-122"/>
              </a:rPr>
              <a:t>分布</a:t>
            </a:r>
          </a:p>
        </p:txBody>
      </p:sp>
      <p:sp>
        <p:nvSpPr>
          <p:cNvPr id="2" name="TextBox 1">
            <a:extLst>
              <a:ext uri="{FF2B5EF4-FFF2-40B4-BE49-F238E27FC236}">
                <a16:creationId xmlns:a16="http://schemas.microsoft.com/office/drawing/2014/main" id="{78AEBD35-B1C4-B3F3-FE09-E620651B36DD}"/>
              </a:ext>
            </a:extLst>
          </p:cNvPr>
          <p:cNvSpPr txBox="1"/>
          <p:nvPr/>
        </p:nvSpPr>
        <p:spPr>
          <a:xfrm>
            <a:off x="2890221" y="4292301"/>
            <a:ext cx="6411557" cy="1323439"/>
          </a:xfrm>
          <a:prstGeom prst="rect">
            <a:avLst/>
          </a:prstGeom>
          <a:noFill/>
        </p:spPr>
        <p:txBody>
          <a:bodyPr wrap="square" rtlCol="0">
            <a:spAutoFit/>
          </a:bodyPr>
          <a:lstStyle/>
          <a:p>
            <a:pPr algn="ctr"/>
            <a:r>
              <a:rPr lang="zh-CN" altLang="en-US" sz="4000" dirty="0">
                <a:solidFill>
                  <a:srgbClr val="FF0000"/>
                </a:solidFill>
                <a:latin typeface="FangSong" panose="02010609060101010101" pitchFamily="49" charset="-122"/>
                <a:ea typeface="FangSong" panose="02010609060101010101" pitchFamily="49" charset="-122"/>
              </a:rPr>
              <a:t>？</a:t>
            </a:r>
            <a:r>
              <a:rPr lang="en-CN" sz="4000" dirty="0">
                <a:solidFill>
                  <a:srgbClr val="FF0000"/>
                </a:solidFill>
                <a:latin typeface="FangSong" panose="02010609060101010101" pitchFamily="49" charset="-122"/>
                <a:ea typeface="FangSong" panose="02010609060101010101" pitchFamily="49" charset="-122"/>
              </a:rPr>
              <a:t>能量表示</a:t>
            </a:r>
            <a:r>
              <a:rPr lang="zh-CN" altLang="en-US" sz="4000" dirty="0">
                <a:solidFill>
                  <a:srgbClr val="FF0000"/>
                </a:solidFill>
                <a:latin typeface="FangSong" panose="02010609060101010101" pitchFamily="49" charset="-122"/>
                <a:ea typeface="FangSong" panose="02010609060101010101" pitchFamily="49" charset="-122"/>
              </a:rPr>
              <a:t> 到 速率</a:t>
            </a:r>
            <a:endParaRPr lang="en-US" altLang="zh-CN" sz="4000" dirty="0">
              <a:solidFill>
                <a:srgbClr val="FF0000"/>
              </a:solidFill>
              <a:latin typeface="FangSong" panose="02010609060101010101" pitchFamily="49" charset="-122"/>
              <a:ea typeface="FangSong" panose="02010609060101010101" pitchFamily="49" charset="-122"/>
            </a:endParaRPr>
          </a:p>
          <a:p>
            <a:pPr algn="ctr"/>
            <a:r>
              <a:rPr lang="zh-CN" altLang="en-US" sz="4000" dirty="0">
                <a:solidFill>
                  <a:srgbClr val="7030A0"/>
                </a:solidFill>
                <a:latin typeface="FangSong" panose="02010609060101010101" pitchFamily="49" charset="-122"/>
                <a:ea typeface="FangSong" panose="02010609060101010101" pitchFamily="49" charset="-122"/>
              </a:rPr>
              <a:t>？分布函数是啥东东</a:t>
            </a:r>
            <a:endParaRPr lang="en-CN" sz="4000" dirty="0">
              <a:solidFill>
                <a:srgbClr val="7030A0"/>
              </a:solidFill>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31779394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6E7BDA-4B68-9946-908D-8FA6D226BC0D}"/>
              </a:ext>
            </a:extLst>
          </p:cNvPr>
          <p:cNvPicPr>
            <a:picLocks noChangeAspect="1"/>
          </p:cNvPicPr>
          <p:nvPr/>
        </p:nvPicPr>
        <p:blipFill>
          <a:blip r:embed="rId2"/>
          <a:stretch>
            <a:fillRect/>
          </a:stretch>
        </p:blipFill>
        <p:spPr>
          <a:xfrm>
            <a:off x="1083732" y="134350"/>
            <a:ext cx="10219267" cy="6717299"/>
          </a:xfrm>
          <a:prstGeom prst="rect">
            <a:avLst/>
          </a:prstGeom>
        </p:spPr>
      </p:pic>
      <p:sp>
        <p:nvSpPr>
          <p:cNvPr id="2" name="Rectangle 1">
            <a:extLst>
              <a:ext uri="{FF2B5EF4-FFF2-40B4-BE49-F238E27FC236}">
                <a16:creationId xmlns:a16="http://schemas.microsoft.com/office/drawing/2014/main" id="{0A655E4A-2DE6-7E48-AE3E-009896441B5A}"/>
              </a:ext>
            </a:extLst>
          </p:cNvPr>
          <p:cNvSpPr/>
          <p:nvPr/>
        </p:nvSpPr>
        <p:spPr>
          <a:xfrm>
            <a:off x="3604591" y="5261113"/>
            <a:ext cx="4479235" cy="4108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Tree>
    <p:extLst>
      <p:ext uri="{BB962C8B-B14F-4D97-AF65-F5344CB8AC3E}">
        <p14:creationId xmlns:p14="http://schemas.microsoft.com/office/powerpoint/2010/main" val="29069003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0F53BF8-1AD1-7476-B70B-9C0F5E70D21A}"/>
              </a:ext>
            </a:extLst>
          </p:cNvPr>
          <p:cNvPicPr>
            <a:picLocks noChangeAspect="1"/>
          </p:cNvPicPr>
          <p:nvPr/>
        </p:nvPicPr>
        <p:blipFill>
          <a:blip r:embed="rId2"/>
          <a:stretch>
            <a:fillRect/>
          </a:stretch>
        </p:blipFill>
        <p:spPr>
          <a:xfrm>
            <a:off x="1893858" y="977900"/>
            <a:ext cx="8131885" cy="2451100"/>
          </a:xfrm>
          <a:prstGeom prst="rect">
            <a:avLst/>
          </a:prstGeom>
        </p:spPr>
      </p:pic>
    </p:spTree>
    <p:extLst>
      <p:ext uri="{BB962C8B-B14F-4D97-AF65-F5344CB8AC3E}">
        <p14:creationId xmlns:p14="http://schemas.microsoft.com/office/powerpoint/2010/main" val="15409502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7FB819C-44D3-9BEA-44C5-0CA192817398}"/>
                  </a:ext>
                </a:extLst>
              </p:cNvPr>
              <p:cNvSpPr txBox="1"/>
              <p:nvPr/>
            </p:nvSpPr>
            <p:spPr>
              <a:xfrm>
                <a:off x="1023257" y="653143"/>
                <a:ext cx="10374086" cy="4423262"/>
              </a:xfrm>
              <a:prstGeom prst="rect">
                <a:avLst/>
              </a:prstGeom>
              <a:noFill/>
            </p:spPr>
            <p:txBody>
              <a:bodyPr wrap="square" rtlCol="0">
                <a:spAutoFit/>
              </a:bodyPr>
              <a:lstStyle/>
              <a:p>
                <a:pPr marL="571500" indent="-571500">
                  <a:buFont typeface="Arial" panose="020B0604020202020204" pitchFamily="34" charset="0"/>
                  <a:buChar char="•"/>
                </a:pPr>
                <a:r>
                  <a:rPr lang="en-CN" sz="4000" dirty="0"/>
                  <a:t>体积为</a:t>
                </a:r>
                <a:r>
                  <a:rPr lang="en-CN" sz="4000" dirty="0">
                    <a:solidFill>
                      <a:srgbClr val="FF0000"/>
                    </a:solidFill>
                  </a:rPr>
                  <a:t>V</a:t>
                </a:r>
                <a:r>
                  <a:rPr lang="zh-CN" altLang="en-US" sz="4000" dirty="0"/>
                  <a:t>的容器内一定量的理想气体处于平衡态，气体总分子数为</a:t>
                </a:r>
                <a:r>
                  <a:rPr lang="en-US" altLang="zh-CN" sz="4000" dirty="0">
                    <a:solidFill>
                      <a:srgbClr val="FF0000"/>
                    </a:solidFill>
                  </a:rPr>
                  <a:t>N</a:t>
                </a:r>
                <a:r>
                  <a:rPr lang="zh-CN" altLang="en-US" sz="4000" dirty="0"/>
                  <a:t>。</a:t>
                </a:r>
                <a:r>
                  <a:rPr lang="en-US" altLang="zh-CN" sz="4000" dirty="0"/>
                  <a:t>(</a:t>
                </a:r>
                <a:r>
                  <a:rPr lang="zh-CN" altLang="en-US" sz="4000" dirty="0"/>
                  <a:t>可分辨</a:t>
                </a:r>
                <a:r>
                  <a:rPr lang="en-US" altLang="zh-CN" sz="4000" dirty="0"/>
                  <a:t>)</a:t>
                </a:r>
              </a:p>
              <a:p>
                <a:pPr marL="571500" indent="-571500">
                  <a:buFont typeface="Arial" panose="020B0604020202020204" pitchFamily="34" charset="0"/>
                  <a:buChar char="•"/>
                </a:pPr>
                <a:r>
                  <a:rPr lang="zh-CN" altLang="en-US" sz="4000" dirty="0"/>
                  <a:t>分子的速率分别：</a:t>
                </a:r>
                <a14:m>
                  <m:oMath xmlns:m="http://schemas.openxmlformats.org/officeDocument/2006/math">
                    <m:sSub>
                      <m:sSubPr>
                        <m:ctrlPr>
                          <a:rPr lang="en-US" altLang="zh-CN" sz="4000" i="1" smtClean="0">
                            <a:latin typeface="Cambria Math" panose="02040503050406030204" pitchFamily="18" charset="0"/>
                          </a:rPr>
                        </m:ctrlPr>
                      </m:sSubPr>
                      <m:e>
                        <m:r>
                          <a:rPr lang="en-US" altLang="zh-CN" sz="4000" b="0" i="1" smtClean="0">
                            <a:latin typeface="Cambria Math" panose="02040503050406030204" pitchFamily="18" charset="0"/>
                          </a:rPr>
                          <m:t>𝑣</m:t>
                        </m:r>
                      </m:e>
                      <m:sub>
                        <m:r>
                          <a:rPr lang="en-US" altLang="zh-CN" sz="4000" b="0" i="1" smtClean="0">
                            <a:latin typeface="Cambria Math" panose="02040503050406030204" pitchFamily="18" charset="0"/>
                          </a:rPr>
                          <m:t>1</m:t>
                        </m:r>
                      </m:sub>
                    </m:sSub>
                    <m:r>
                      <a:rPr lang="en-US" altLang="zh-CN" sz="4000" b="0" i="1" smtClean="0">
                        <a:latin typeface="Cambria Math" panose="02040503050406030204" pitchFamily="18" charset="0"/>
                      </a:rPr>
                      <m:t>,</m:t>
                    </m:r>
                    <m:sSub>
                      <m:sSubPr>
                        <m:ctrlPr>
                          <a:rPr lang="en-US" altLang="zh-CN" sz="4000" b="0" i="1" smtClean="0">
                            <a:latin typeface="Cambria Math" panose="02040503050406030204" pitchFamily="18" charset="0"/>
                          </a:rPr>
                        </m:ctrlPr>
                      </m:sSubPr>
                      <m:e>
                        <m:r>
                          <a:rPr lang="en-US" altLang="zh-CN" sz="4000" b="0" i="1" smtClean="0">
                            <a:latin typeface="Cambria Math" panose="02040503050406030204" pitchFamily="18" charset="0"/>
                          </a:rPr>
                          <m:t>𝑣</m:t>
                        </m:r>
                      </m:e>
                      <m:sub>
                        <m:r>
                          <a:rPr lang="en-US" altLang="zh-CN" sz="4000" b="0" i="1" smtClean="0">
                            <a:latin typeface="Cambria Math" panose="02040503050406030204" pitchFamily="18" charset="0"/>
                          </a:rPr>
                          <m:t>2</m:t>
                        </m:r>
                      </m:sub>
                    </m:sSub>
                    <m:r>
                      <a:rPr lang="en-US" altLang="zh-CN" sz="4000" b="0" i="1" smtClean="0">
                        <a:latin typeface="Cambria Math" panose="02040503050406030204" pitchFamily="18" charset="0"/>
                      </a:rPr>
                      <m:t>,…,</m:t>
                    </m:r>
                    <m:sSub>
                      <m:sSubPr>
                        <m:ctrlPr>
                          <a:rPr lang="en-US" altLang="zh-CN" sz="4000" b="0" i="1" smtClean="0">
                            <a:latin typeface="Cambria Math" panose="02040503050406030204" pitchFamily="18" charset="0"/>
                          </a:rPr>
                        </m:ctrlPr>
                      </m:sSubPr>
                      <m:e>
                        <m:r>
                          <a:rPr lang="en-US" altLang="zh-CN" sz="4000" b="0" i="1" smtClean="0">
                            <a:latin typeface="Cambria Math" panose="02040503050406030204" pitchFamily="18" charset="0"/>
                          </a:rPr>
                          <m:t>𝑣</m:t>
                        </m:r>
                      </m:e>
                      <m:sub>
                        <m:r>
                          <a:rPr lang="en-US" altLang="zh-CN" sz="4000" b="0" i="1" smtClean="0">
                            <a:latin typeface="Cambria Math" panose="02040503050406030204" pitchFamily="18" charset="0"/>
                          </a:rPr>
                          <m:t>𝑖</m:t>
                        </m:r>
                      </m:sub>
                    </m:sSub>
                  </m:oMath>
                </a14:m>
                <a:endParaRPr lang="en-US" altLang="zh-CN" sz="4000" dirty="0"/>
              </a:p>
              <a:p>
                <a:r>
                  <a:rPr lang="zh-CN" altLang="en-US" sz="4000" dirty="0"/>
                  <a:t>         对应的粒子数：</a:t>
                </a:r>
                <a14:m>
                  <m:oMath xmlns:m="http://schemas.openxmlformats.org/officeDocument/2006/math">
                    <m:sSub>
                      <m:sSubPr>
                        <m:ctrlPr>
                          <a:rPr lang="en-US" altLang="zh-CN" sz="4000" i="1" smtClean="0">
                            <a:latin typeface="Cambria Math" panose="02040503050406030204" pitchFamily="18" charset="0"/>
                          </a:rPr>
                        </m:ctrlPr>
                      </m:sSubPr>
                      <m:e>
                        <m:r>
                          <a:rPr lang="en-US" altLang="zh-CN" sz="4000" b="0" i="1" smtClean="0">
                            <a:latin typeface="Cambria Math" panose="02040503050406030204" pitchFamily="18" charset="0"/>
                          </a:rPr>
                          <m:t>𝑁</m:t>
                        </m:r>
                      </m:e>
                      <m:sub>
                        <m:r>
                          <a:rPr lang="en-US" altLang="zh-CN" sz="4000" b="0" i="1" smtClean="0">
                            <a:latin typeface="Cambria Math" panose="02040503050406030204" pitchFamily="18" charset="0"/>
                          </a:rPr>
                          <m:t>1</m:t>
                        </m:r>
                      </m:sub>
                    </m:sSub>
                    <m:r>
                      <a:rPr lang="en-US" altLang="zh-CN" sz="4000" b="0" i="1" smtClean="0">
                        <a:latin typeface="Cambria Math" panose="02040503050406030204" pitchFamily="18" charset="0"/>
                      </a:rPr>
                      <m:t>,</m:t>
                    </m:r>
                    <m:sSub>
                      <m:sSubPr>
                        <m:ctrlPr>
                          <a:rPr lang="en-US" altLang="zh-CN" sz="4000" b="0" i="1" smtClean="0">
                            <a:latin typeface="Cambria Math" panose="02040503050406030204" pitchFamily="18" charset="0"/>
                          </a:rPr>
                        </m:ctrlPr>
                      </m:sSubPr>
                      <m:e>
                        <m:r>
                          <a:rPr lang="en-US" altLang="zh-CN" sz="4000" b="0" i="1" smtClean="0">
                            <a:latin typeface="Cambria Math" panose="02040503050406030204" pitchFamily="18" charset="0"/>
                          </a:rPr>
                          <m:t>𝑁</m:t>
                        </m:r>
                      </m:e>
                      <m:sub>
                        <m:r>
                          <a:rPr lang="en-US" altLang="zh-CN" sz="4000" b="0" i="1" smtClean="0">
                            <a:latin typeface="Cambria Math" panose="02040503050406030204" pitchFamily="18" charset="0"/>
                          </a:rPr>
                          <m:t>2</m:t>
                        </m:r>
                      </m:sub>
                    </m:sSub>
                    <m:r>
                      <a:rPr lang="en-US" altLang="zh-CN" sz="4000" b="0" i="1" smtClean="0">
                        <a:latin typeface="Cambria Math" panose="02040503050406030204" pitchFamily="18" charset="0"/>
                      </a:rPr>
                      <m:t>,…,</m:t>
                    </m:r>
                    <m:sSub>
                      <m:sSubPr>
                        <m:ctrlPr>
                          <a:rPr lang="en-US" altLang="zh-CN" sz="4000" b="0" i="1" smtClean="0">
                            <a:latin typeface="Cambria Math" panose="02040503050406030204" pitchFamily="18" charset="0"/>
                          </a:rPr>
                        </m:ctrlPr>
                      </m:sSubPr>
                      <m:e>
                        <m:r>
                          <a:rPr lang="en-US" altLang="zh-CN" sz="4000" b="0" i="1" smtClean="0">
                            <a:latin typeface="Cambria Math" panose="02040503050406030204" pitchFamily="18" charset="0"/>
                          </a:rPr>
                          <m:t>𝑁</m:t>
                        </m:r>
                      </m:e>
                      <m:sub>
                        <m:r>
                          <a:rPr lang="en-US" altLang="zh-CN" sz="4000" b="0" i="1" smtClean="0">
                            <a:latin typeface="Cambria Math" panose="02040503050406030204" pitchFamily="18" charset="0"/>
                          </a:rPr>
                          <m:t>𝑖</m:t>
                        </m:r>
                      </m:sub>
                    </m:sSub>
                  </m:oMath>
                </a14:m>
                <a:endParaRPr lang="en-CN" sz="4000" dirty="0"/>
              </a:p>
              <a:p>
                <a:pPr marL="571500" indent="-571500">
                  <a:buFont typeface="Arial" panose="020B0604020202020204" pitchFamily="34" charset="0"/>
                  <a:buChar char="•"/>
                </a:pPr>
                <a:r>
                  <a:rPr lang="en-CN" sz="4000" dirty="0"/>
                  <a:t>总的微观状态数是</a:t>
                </a:r>
              </a:p>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𝑔</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𝑁</m:t>
                          </m:r>
                          <m:r>
                            <a:rPr lang="en-US" sz="4000" b="0" i="1" smtClean="0">
                              <a:latin typeface="Cambria Math" panose="02040503050406030204" pitchFamily="18" charset="0"/>
                            </a:rPr>
                            <m:t>!</m:t>
                          </m:r>
                        </m:num>
                        <m:den>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𝑁</m:t>
                              </m:r>
                            </m:e>
                            <m:sub>
                              <m:r>
                                <a:rPr lang="en-US" altLang="zh-CN" sz="4000" i="1">
                                  <a:latin typeface="Cambria Math" panose="02040503050406030204" pitchFamily="18" charset="0"/>
                                </a:rPr>
                                <m:t>1</m:t>
                              </m:r>
                            </m:sub>
                          </m:sSub>
                          <m:r>
                            <a:rPr lang="en-US" altLang="zh-CN" sz="4000" b="0" i="1" smtClean="0">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𝑁</m:t>
                              </m:r>
                            </m:e>
                            <m:sub>
                              <m:r>
                                <a:rPr lang="en-US" altLang="zh-CN" sz="4000" i="1">
                                  <a:latin typeface="Cambria Math" panose="02040503050406030204" pitchFamily="18" charset="0"/>
                                </a:rPr>
                                <m:t>2</m:t>
                              </m:r>
                            </m:sub>
                          </m:sSub>
                          <m:r>
                            <a:rPr lang="en-US" altLang="zh-CN" sz="4000" b="0" i="1" smtClean="0">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𝑁</m:t>
                              </m:r>
                            </m:e>
                            <m:sub>
                              <m:r>
                                <a:rPr lang="en-US" altLang="zh-CN" sz="4000" i="1">
                                  <a:latin typeface="Cambria Math" panose="02040503050406030204" pitchFamily="18" charset="0"/>
                                </a:rPr>
                                <m:t>𝑖</m:t>
                              </m:r>
                            </m:sub>
                          </m:sSub>
                          <m:r>
                            <a:rPr lang="en-US" altLang="zh-CN" sz="4000" b="0" i="1" smtClean="0">
                              <a:latin typeface="Cambria Math" panose="02040503050406030204" pitchFamily="18" charset="0"/>
                            </a:rPr>
                            <m:t>!…</m:t>
                          </m:r>
                        </m:den>
                      </m:f>
                    </m:oMath>
                  </m:oMathPara>
                </a14:m>
                <a:endParaRPr lang="en-CN" sz="4000" dirty="0"/>
              </a:p>
            </p:txBody>
          </p:sp>
        </mc:Choice>
        <mc:Fallback xmlns="">
          <p:sp>
            <p:nvSpPr>
              <p:cNvPr id="2" name="TextBox 1">
                <a:extLst>
                  <a:ext uri="{FF2B5EF4-FFF2-40B4-BE49-F238E27FC236}">
                    <a16:creationId xmlns:a16="http://schemas.microsoft.com/office/drawing/2014/main" id="{D7FB819C-44D3-9BEA-44C5-0CA192817398}"/>
                  </a:ext>
                </a:extLst>
              </p:cNvPr>
              <p:cNvSpPr txBox="1">
                <a:spLocks noRot="1" noChangeAspect="1" noMove="1" noResize="1" noEditPoints="1" noAdjustHandles="1" noChangeArrowheads="1" noChangeShapeType="1" noTextEdit="1"/>
              </p:cNvSpPr>
              <p:nvPr/>
            </p:nvSpPr>
            <p:spPr>
              <a:xfrm>
                <a:off x="1023257" y="653143"/>
                <a:ext cx="10374086" cy="4423262"/>
              </a:xfrm>
              <a:prstGeom prst="rect">
                <a:avLst/>
              </a:prstGeom>
              <a:blipFill>
                <a:blip r:embed="rId2"/>
                <a:stretch>
                  <a:fillRect l="-1956" t="-2579" r="-367" b="-1146"/>
                </a:stretch>
              </a:blipFill>
            </p:spPr>
            <p:txBody>
              <a:bodyPr/>
              <a:lstStyle/>
              <a:p>
                <a:r>
                  <a:rPr lang="en-CN">
                    <a:noFill/>
                  </a:rPr>
                  <a:t> </a:t>
                </a:r>
              </a:p>
            </p:txBody>
          </p:sp>
        </mc:Fallback>
      </mc:AlternateContent>
    </p:spTree>
    <p:extLst>
      <p:ext uri="{BB962C8B-B14F-4D97-AF65-F5344CB8AC3E}">
        <p14:creationId xmlns:p14="http://schemas.microsoft.com/office/powerpoint/2010/main" val="1397612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7FB819C-44D3-9BEA-44C5-0CA192817398}"/>
                  </a:ext>
                </a:extLst>
              </p:cNvPr>
              <p:cNvSpPr txBox="1"/>
              <p:nvPr/>
            </p:nvSpPr>
            <p:spPr>
              <a:xfrm>
                <a:off x="0" y="653143"/>
                <a:ext cx="12192000" cy="3746795"/>
              </a:xfrm>
              <a:prstGeom prst="rect">
                <a:avLst/>
              </a:prstGeom>
              <a:noFill/>
            </p:spPr>
            <p:txBody>
              <a:bodyPr wrap="square" rtlCol="0">
                <a:spAutoFit/>
              </a:bodyPr>
              <a:lstStyle/>
              <a:p>
                <a:pPr marL="571500" indent="-571500">
                  <a:buFont typeface="Arial" panose="020B0604020202020204" pitchFamily="34" charset="0"/>
                  <a:buChar char="•"/>
                </a:pPr>
                <a:r>
                  <a:rPr lang="en-US" sz="4000" dirty="0"/>
                  <a:t>g修正为</a:t>
                </a:r>
              </a:p>
              <a:p>
                <a:pPr algn="ctr"/>
                <a14:m>
                  <m:oMath xmlns:m="http://schemas.openxmlformats.org/officeDocument/2006/math">
                    <m:r>
                      <a:rPr lang="en-US" sz="4000" b="0" i="1" smtClean="0">
                        <a:latin typeface="Cambria Math" panose="02040503050406030204" pitchFamily="18" charset="0"/>
                      </a:rPr>
                      <m:t>𝑔</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𝑁</m:t>
                        </m:r>
                        <m:r>
                          <a:rPr lang="en-US" sz="4000" b="0" i="1" smtClean="0">
                            <a:latin typeface="Cambria Math" panose="02040503050406030204" pitchFamily="18" charset="0"/>
                          </a:rPr>
                          <m:t>!</m:t>
                        </m:r>
                      </m:num>
                      <m:den>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𝑁</m:t>
                            </m:r>
                          </m:e>
                          <m:sub>
                            <m:r>
                              <a:rPr lang="en-US" altLang="zh-CN" sz="4000" i="1">
                                <a:latin typeface="Cambria Math" panose="02040503050406030204" pitchFamily="18" charset="0"/>
                              </a:rPr>
                              <m:t>1</m:t>
                            </m:r>
                          </m:sub>
                        </m:sSub>
                        <m:r>
                          <a:rPr lang="en-US" altLang="zh-CN" sz="4000" b="0" i="1" smtClean="0">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𝑁</m:t>
                            </m:r>
                          </m:e>
                          <m:sub>
                            <m:r>
                              <a:rPr lang="en-US" altLang="zh-CN" sz="4000" i="1">
                                <a:latin typeface="Cambria Math" panose="02040503050406030204" pitchFamily="18" charset="0"/>
                              </a:rPr>
                              <m:t>2</m:t>
                            </m:r>
                          </m:sub>
                        </m:sSub>
                        <m:r>
                          <a:rPr lang="en-US" altLang="zh-CN" sz="4000" b="0" i="1" smtClean="0">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𝑁</m:t>
                            </m:r>
                          </m:e>
                          <m:sub>
                            <m:r>
                              <a:rPr lang="en-US" altLang="zh-CN" sz="4000" i="1">
                                <a:latin typeface="Cambria Math" panose="02040503050406030204" pitchFamily="18" charset="0"/>
                              </a:rPr>
                              <m:t>𝑖</m:t>
                            </m:r>
                          </m:sub>
                        </m:sSub>
                        <m:r>
                          <a:rPr lang="en-US" altLang="zh-CN" sz="4000" b="0" i="1" smtClean="0">
                            <a:latin typeface="Cambria Math" panose="02040503050406030204" pitchFamily="18" charset="0"/>
                          </a:rPr>
                          <m:t>!…</m:t>
                        </m:r>
                      </m:den>
                    </m:f>
                    <m:sSup>
                      <m:sSupPr>
                        <m:ctrlPr>
                          <a:rPr lang="en-US" altLang="zh-CN" sz="4000" b="0" i="1" smtClean="0">
                            <a:latin typeface="Cambria Math" panose="02040503050406030204" pitchFamily="18" charset="0"/>
                          </a:rPr>
                        </m:ctrlPr>
                      </m:sSupPr>
                      <m:e>
                        <m:r>
                          <a:rPr lang="en-US" altLang="zh-CN" sz="4000" b="0" i="1" smtClean="0">
                            <a:latin typeface="Cambria Math" panose="02040503050406030204" pitchFamily="18" charset="0"/>
                          </a:rPr>
                          <m:t>(4</m:t>
                        </m:r>
                        <m:r>
                          <a:rPr lang="en-US" altLang="zh-CN" sz="4000" b="0" i="1" smtClean="0">
                            <a:latin typeface="Cambria Math" panose="02040503050406030204" pitchFamily="18" charset="0"/>
                            <a:ea typeface="Cambria Math" panose="02040503050406030204" pitchFamily="18" charset="0"/>
                          </a:rPr>
                          <m:t>𝜋</m:t>
                        </m:r>
                        <m:sSubSup>
                          <m:sSubSupPr>
                            <m:ctrlPr>
                              <a:rPr lang="en-US" sz="4000" i="1">
                                <a:latin typeface="Cambria Math" panose="02040503050406030204" pitchFamily="18" charset="0"/>
                                <a:ea typeface="Cambria Math" panose="02040503050406030204" pitchFamily="18" charset="0"/>
                              </a:rPr>
                            </m:ctrlPr>
                          </m:sSubSupPr>
                          <m:e>
                            <m:r>
                              <a:rPr lang="en-US" sz="4000" i="1">
                                <a:latin typeface="Cambria Math" panose="02040503050406030204" pitchFamily="18" charset="0"/>
                                <a:ea typeface="Cambria Math" panose="02040503050406030204" pitchFamily="18" charset="0"/>
                              </a:rPr>
                              <m:t>𝑣</m:t>
                            </m:r>
                          </m:e>
                          <m:sub>
                            <m:r>
                              <a:rPr lang="en-US" sz="4000" b="0" i="1" smtClean="0">
                                <a:latin typeface="Cambria Math" panose="02040503050406030204" pitchFamily="18" charset="0"/>
                                <a:ea typeface="Cambria Math" panose="02040503050406030204" pitchFamily="18" charset="0"/>
                              </a:rPr>
                              <m:t>1</m:t>
                            </m:r>
                          </m:sub>
                          <m:sup>
                            <m:r>
                              <a:rPr lang="en-US" sz="4000" i="1">
                                <a:latin typeface="Cambria Math" panose="02040503050406030204" pitchFamily="18" charset="0"/>
                                <a:ea typeface="Cambria Math" panose="02040503050406030204" pitchFamily="18" charset="0"/>
                              </a:rPr>
                              <m:t>2</m:t>
                            </m:r>
                          </m:sup>
                        </m:sSubSup>
                        <m:r>
                          <a:rPr lang="en-US" altLang="zh-CN" sz="4000" b="0" i="1" smtClean="0">
                            <a:latin typeface="Cambria Math" panose="02040503050406030204" pitchFamily="18" charset="0"/>
                          </a:rPr>
                          <m:t>)</m:t>
                        </m:r>
                      </m:e>
                      <m:sup>
                        <m:sSub>
                          <m:sSubPr>
                            <m:ctrlPr>
                              <a:rPr lang="en-US" altLang="zh-CN" sz="4000" b="0" i="1" smtClean="0">
                                <a:latin typeface="Cambria Math" panose="02040503050406030204" pitchFamily="18" charset="0"/>
                              </a:rPr>
                            </m:ctrlPr>
                          </m:sSubPr>
                          <m:e>
                            <m:r>
                              <a:rPr lang="en-US" altLang="zh-CN" sz="4000" b="0" i="1" smtClean="0">
                                <a:latin typeface="Cambria Math" panose="02040503050406030204" pitchFamily="18" charset="0"/>
                              </a:rPr>
                              <m:t>𝑁</m:t>
                            </m:r>
                          </m:e>
                          <m:sub>
                            <m:r>
                              <a:rPr lang="en-US" altLang="zh-CN" sz="4000" b="0" i="1" smtClean="0">
                                <a:latin typeface="Cambria Math" panose="02040503050406030204" pitchFamily="18" charset="0"/>
                              </a:rPr>
                              <m:t>1</m:t>
                            </m:r>
                          </m:sub>
                        </m:sSub>
                      </m:sup>
                    </m:sSup>
                    <m:r>
                      <a:rPr lang="en-US" altLang="zh-CN" sz="4000" b="0" i="1" smtClean="0">
                        <a:latin typeface="Cambria Math" panose="02040503050406030204" pitchFamily="18" charset="0"/>
                      </a:rPr>
                      <m:t>…</m:t>
                    </m:r>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(4</m:t>
                        </m:r>
                        <m:r>
                          <a:rPr lang="en-US" altLang="zh-CN" sz="4000" i="1">
                            <a:latin typeface="Cambria Math" panose="02040503050406030204" pitchFamily="18" charset="0"/>
                            <a:ea typeface="Cambria Math" panose="02040503050406030204" pitchFamily="18" charset="0"/>
                          </a:rPr>
                          <m:t>𝜋</m:t>
                        </m:r>
                        <m:sSubSup>
                          <m:sSubSupPr>
                            <m:ctrlPr>
                              <a:rPr lang="en-US" sz="4000" i="1">
                                <a:latin typeface="Cambria Math" panose="02040503050406030204" pitchFamily="18" charset="0"/>
                                <a:ea typeface="Cambria Math" panose="02040503050406030204" pitchFamily="18" charset="0"/>
                              </a:rPr>
                            </m:ctrlPr>
                          </m:sSubSupPr>
                          <m:e>
                            <m:r>
                              <a:rPr lang="en-US" sz="4000" i="1">
                                <a:latin typeface="Cambria Math" panose="02040503050406030204" pitchFamily="18" charset="0"/>
                                <a:ea typeface="Cambria Math" panose="02040503050406030204" pitchFamily="18" charset="0"/>
                              </a:rPr>
                              <m:t>𝑣</m:t>
                            </m:r>
                          </m:e>
                          <m:sub>
                            <m:r>
                              <a:rPr lang="en-US" sz="4000" i="1">
                                <a:latin typeface="Cambria Math" panose="02040503050406030204" pitchFamily="18" charset="0"/>
                                <a:ea typeface="Cambria Math" panose="02040503050406030204" pitchFamily="18" charset="0"/>
                              </a:rPr>
                              <m:t>𝑖</m:t>
                            </m:r>
                          </m:sub>
                          <m:sup>
                            <m:r>
                              <a:rPr lang="en-US" sz="4000" i="1">
                                <a:latin typeface="Cambria Math" panose="02040503050406030204" pitchFamily="18" charset="0"/>
                                <a:ea typeface="Cambria Math" panose="02040503050406030204" pitchFamily="18" charset="0"/>
                              </a:rPr>
                              <m:t>2</m:t>
                            </m:r>
                          </m:sup>
                        </m:sSubSup>
                        <m:r>
                          <a:rPr lang="en-US" altLang="zh-CN" sz="4000" i="1">
                            <a:latin typeface="Cambria Math" panose="02040503050406030204" pitchFamily="18" charset="0"/>
                          </a:rPr>
                          <m:t>)</m:t>
                        </m:r>
                      </m:e>
                      <m:sup>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𝑁</m:t>
                            </m:r>
                          </m:e>
                          <m:sub>
                            <m:r>
                              <a:rPr lang="en-US" altLang="zh-CN" sz="4000" b="0" i="1" smtClean="0">
                                <a:latin typeface="Cambria Math" panose="02040503050406030204" pitchFamily="18" charset="0"/>
                              </a:rPr>
                              <m:t>𝑖</m:t>
                            </m:r>
                          </m:sub>
                        </m:sSub>
                      </m:sup>
                    </m:sSup>
                  </m:oMath>
                </a14:m>
                <a:r>
                  <a:rPr lang="en-CN" sz="4000" dirty="0"/>
                  <a:t>…</a:t>
                </a:r>
              </a:p>
              <a:p>
                <a:pPr marL="571500" indent="-571500">
                  <a:buFont typeface="Arial" panose="020B0604020202020204" pitchFamily="34" charset="0"/>
                  <a:buChar char="•"/>
                </a:pPr>
                <a14:m>
                  <m:oMath xmlns:m="http://schemas.openxmlformats.org/officeDocument/2006/math">
                    <m:r>
                      <a:rPr lang="en-CN" sz="2400" i="1" smtClean="0">
                        <a:latin typeface="Cambria Math" panose="02040503050406030204" pitchFamily="18" charset="0"/>
                        <a:ea typeface="Cambria Math" panose="02040503050406030204" pitchFamily="18" charset="0"/>
                      </a:rPr>
                      <m:t>𝜎</m:t>
                    </m:r>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nary>
                              <m:naryPr>
                                <m:chr m:val="∑"/>
                                <m:supHide m:val="on"/>
                                <m:ctrlPr>
                                  <a:rPr lang="en-US" sz="2400" b="0" i="1" smtClean="0">
                                    <a:latin typeface="Cambria Math" panose="02040503050406030204" pitchFamily="18" charset="0"/>
                                    <a:ea typeface="Cambria Math" panose="02040503050406030204" pitchFamily="18" charset="0"/>
                                  </a:rPr>
                                </m:ctrlPr>
                              </m:naryPr>
                              <m:sub>
                                <m:r>
                                  <m:rPr>
                                    <m:brk m:alnAt="7"/>
                                  </m:rPr>
                                  <a:rPr lang="en-US" sz="2400" b="0" i="1" smtClean="0">
                                    <a:latin typeface="Cambria Math" panose="02040503050406030204" pitchFamily="18" charset="0"/>
                                    <a:ea typeface="Cambria Math" panose="02040503050406030204" pitchFamily="18" charset="0"/>
                                  </a:rPr>
                                  <m:t>𝑖</m:t>
                                </m:r>
                              </m:sub>
                              <m:sup/>
                              <m:e>
                                <m:d>
                                  <m:dPr>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𝑖</m:t>
                                        </m:r>
                                      </m:sub>
                                    </m:sSub>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𝑖</m:t>
                                            </m:r>
                                          </m:sub>
                                        </m:sSub>
                                      </m:e>
                                    </m:func>
                                  </m:e>
                                </m:d>
                                <m:r>
                                  <a:rPr lang="en-US" sz="2400" b="0" i="1" smtClean="0">
                                    <a:latin typeface="Cambria Math" panose="02040503050406030204" pitchFamily="18" charset="0"/>
                                    <a:ea typeface="Cambria Math" panose="02040503050406030204" pitchFamily="18" charset="0"/>
                                  </a:rPr>
                                  <m:t>+</m:t>
                                </m:r>
                                <m:nary>
                                  <m:naryPr>
                                    <m:chr m:val="∑"/>
                                    <m:supHide m:val="on"/>
                                    <m:ctrlPr>
                                      <a:rPr lang="en-US" sz="2400" b="0" i="1" smtClean="0">
                                        <a:latin typeface="Cambria Math" panose="02040503050406030204" pitchFamily="18" charset="0"/>
                                        <a:ea typeface="Cambria Math" panose="02040503050406030204" pitchFamily="18" charset="0"/>
                                      </a:rPr>
                                    </m:ctrlPr>
                                  </m:naryPr>
                                  <m:sub>
                                    <m:r>
                                      <m:rPr>
                                        <m:brk m:alnAt="7"/>
                                      </m:rPr>
                                      <a:rPr lang="en-US" sz="2400" b="0" i="1" smtClean="0">
                                        <a:latin typeface="Cambria Math" panose="02040503050406030204" pitchFamily="18" charset="0"/>
                                        <a:ea typeface="Cambria Math" panose="02040503050406030204" pitchFamily="18" charset="0"/>
                                      </a:rPr>
                                      <m:t>𝑖</m:t>
                                    </m:r>
                                  </m:sub>
                                  <m:sup/>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𝑖</m:t>
                                        </m:r>
                                      </m:sub>
                                    </m:sSub>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𝜋</m:t>
                                        </m:r>
                                        <m:sSubSup>
                                          <m:sSubSupPr>
                                            <m:ctrlPr>
                                              <a:rPr lang="en-US" sz="2400" b="0" i="1" smtClean="0">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𝑣</m:t>
                                            </m:r>
                                          </m:e>
                                          <m:sub>
                                            <m:r>
                                              <a:rPr lang="en-US" sz="2400" b="0" i="1" smtClean="0">
                                                <a:latin typeface="Cambria Math" panose="02040503050406030204" pitchFamily="18" charset="0"/>
                                                <a:ea typeface="Cambria Math" panose="02040503050406030204" pitchFamily="18" charset="0"/>
                                              </a:rPr>
                                              <m:t>𝑖</m:t>
                                            </m:r>
                                          </m:sub>
                                          <m:sup>
                                            <m:r>
                                              <a:rPr lang="en-US" sz="2400" b="0" i="1" smtClean="0">
                                                <a:latin typeface="Cambria Math" panose="02040503050406030204" pitchFamily="18" charset="0"/>
                                                <a:ea typeface="Cambria Math" panose="02040503050406030204" pitchFamily="18" charset="0"/>
                                              </a:rPr>
                                              <m:t>2</m:t>
                                            </m:r>
                                          </m:sup>
                                        </m:sSubSup>
                                      </m:e>
                                    </m:func>
                                  </m:e>
                                </m:nary>
                              </m:e>
                            </m:nary>
                          </m:e>
                        </m:func>
                      </m:e>
                    </m:func>
                  </m:oMath>
                </a14:m>
                <a:endParaRPr lang="en-CN" sz="2400" dirty="0"/>
              </a:p>
              <a:p>
                <a:r>
                  <a:rPr lang="en-CN" sz="2400" dirty="0"/>
                  <a:t>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m:t>
                    </m:r>
                    <m:r>
                      <a:rPr lang="en-US" sz="2400" b="0" i="1" smtClean="0">
                        <a:latin typeface="Cambria Math" panose="02040503050406030204" pitchFamily="18" charset="0"/>
                      </a:rPr>
                      <m:t>𝑁𝑙𝑜𝑔</m:t>
                    </m:r>
                    <m:r>
                      <a:rPr lang="en-US" sz="2400" b="0" i="1" smtClean="0">
                        <a:latin typeface="Cambria Math" panose="02040503050406030204" pitchFamily="18" charset="0"/>
                      </a:rPr>
                      <m:t> </m:t>
                    </m:r>
                    <m:r>
                      <a:rPr lang="en-US" sz="2400" b="0" i="1" smtClean="0">
                        <a:latin typeface="Cambria Math" panose="02040503050406030204" pitchFamily="18" charset="0"/>
                      </a:rPr>
                      <m:t>𝑁</m:t>
                    </m:r>
                    <m:r>
                      <a:rPr lang="en-US" sz="2400" b="0" i="1" smtClean="0">
                        <a:latin typeface="Cambria Math" panose="02040503050406030204" pitchFamily="18" charset="0"/>
                      </a:rPr>
                      <m:t>−</m:t>
                    </m:r>
                    <m:nary>
                      <m:naryPr>
                        <m:chr m:val="∑"/>
                        <m:supHide m:val="on"/>
                        <m:ctrlPr>
                          <a:rPr lang="en-US" sz="2400" i="1">
                            <a:latin typeface="Cambria Math" panose="02040503050406030204" pitchFamily="18" charset="0"/>
                            <a:ea typeface="Cambria Math" panose="02040503050406030204" pitchFamily="18" charset="0"/>
                          </a:rPr>
                        </m:ctrlPr>
                      </m:naryPr>
                      <m:sub>
                        <m:r>
                          <m:rPr>
                            <m:brk m:alnAt="7"/>
                          </m:rPr>
                          <a:rPr lang="en-US" sz="2400" i="1">
                            <a:latin typeface="Cambria Math" panose="02040503050406030204" pitchFamily="18" charset="0"/>
                            <a:ea typeface="Cambria Math" panose="02040503050406030204" pitchFamily="18" charset="0"/>
                          </a:rPr>
                          <m:t>𝑖</m:t>
                        </m:r>
                      </m:sub>
                      <m:sup/>
                      <m:e>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𝑖</m:t>
                                </m:r>
                              </m:sub>
                            </m:sSub>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𝑖</m:t>
                                    </m:r>
                                  </m:sub>
                                </m:sSub>
                              </m:e>
                            </m:func>
                          </m:e>
                        </m:d>
                        <m:r>
                          <a:rPr lang="en-US" sz="2400" i="1">
                            <a:latin typeface="Cambria Math" panose="02040503050406030204" pitchFamily="18" charset="0"/>
                            <a:ea typeface="Cambria Math" panose="02040503050406030204" pitchFamily="18" charset="0"/>
                          </a:rPr>
                          <m:t>+</m:t>
                        </m:r>
                        <m:nary>
                          <m:naryPr>
                            <m:chr m:val="∑"/>
                            <m:supHide m:val="on"/>
                            <m:ctrlPr>
                              <a:rPr lang="en-US" sz="2400" i="1">
                                <a:latin typeface="Cambria Math" panose="02040503050406030204" pitchFamily="18" charset="0"/>
                                <a:ea typeface="Cambria Math" panose="02040503050406030204" pitchFamily="18" charset="0"/>
                              </a:rPr>
                            </m:ctrlPr>
                          </m:naryPr>
                          <m:sub>
                            <m:r>
                              <m:rPr>
                                <m:brk m:alnAt="7"/>
                              </m:rPr>
                              <a:rPr lang="en-US" sz="2400" i="1">
                                <a:latin typeface="Cambria Math" panose="02040503050406030204" pitchFamily="18" charset="0"/>
                                <a:ea typeface="Cambria Math" panose="02040503050406030204" pitchFamily="18" charset="0"/>
                              </a:rPr>
                              <m:t>𝑖</m:t>
                            </m:r>
                          </m:sub>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𝑖</m:t>
                                </m:r>
                              </m:sub>
                            </m:sSub>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r>
                                  <a:rPr lang="en-US" sz="2400" i="1">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𝜋</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𝑣</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2</m:t>
                                    </m:r>
                                  </m:sup>
                                </m:sSubSup>
                              </m:e>
                            </m:func>
                          </m:e>
                        </m:nary>
                      </m:e>
                    </m:nary>
                  </m:oMath>
                </a14:m>
                <a:endParaRPr lang="en-CN" sz="2400" dirty="0"/>
              </a:p>
              <a:p>
                <a:endParaRPr lang="en-CN" sz="2400" dirty="0"/>
              </a:p>
              <a:p>
                <a:pPr marL="342900" indent="-342900">
                  <a:buFont typeface="Arial" panose="020B0604020202020204" pitchFamily="34" charset="0"/>
                  <a:buChar char="•"/>
                </a:pPr>
                <a:r>
                  <a:rPr lang="en-CN" sz="2400" dirty="0"/>
                  <a:t>利用在约束条件下取极值之关系</a:t>
                </a:r>
                <a:r>
                  <a:rPr lang="zh-CN" altLang="en-US" sz="2400" dirty="0"/>
                  <a:t>，可得到</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oMath>
                </a14:m>
                <a:r>
                  <a:rPr lang="zh-CN" altLang="en-US" sz="2400" dirty="0"/>
                  <a:t>的形式。</a:t>
                </a:r>
                <a:endParaRPr lang="en-US" altLang="zh-CN" sz="2400" dirty="0"/>
              </a:p>
              <a:p>
                <a:pPr marL="342900" indent="-342900">
                  <a:buFont typeface="Arial" panose="020B0604020202020204" pitchFamily="34" charset="0"/>
                  <a:buChar char="•"/>
                </a:pPr>
                <a:r>
                  <a:rPr lang="zh-CN" altLang="en-US" sz="2400" dirty="0"/>
                  <a:t>然后再利用分布函数</a:t>
                </a:r>
                <a14:m>
                  <m:oMath xmlns:m="http://schemas.openxmlformats.org/officeDocument/2006/math">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num>
                      <m:den>
                        <m:r>
                          <a:rPr lang="en-US" altLang="zh-CN" sz="2400" b="0" i="1" smtClean="0">
                            <a:latin typeface="Cambria Math" panose="02040503050406030204" pitchFamily="18" charset="0"/>
                          </a:rPr>
                          <m:t>𝑁𝑑</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𝑖</m:t>
                            </m:r>
                          </m:sub>
                        </m:sSub>
                      </m:den>
                    </m:f>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𝑣</m:t>
                        </m:r>
                      </m:e>
                    </m:d>
                    <m:r>
                      <a:rPr lang="zh-CN" altLang="en-US" sz="2400" b="0" i="0" smtClean="0">
                        <a:latin typeface="Cambria Math" panose="02040503050406030204" pitchFamily="18" charset="0"/>
                      </a:rPr>
                      <m:t>，</m:t>
                    </m:r>
                    <m:r>
                      <a:rPr lang="zh-CN" altLang="en-US" sz="2400" i="1">
                        <a:latin typeface="Cambria Math" panose="02040503050406030204" pitchFamily="18" charset="0"/>
                      </a:rPr>
                      <m:t>粒子</m:t>
                    </m:r>
                    <m:r>
                      <a:rPr lang="zh-CN" altLang="en-US" sz="2400" i="1" smtClean="0">
                        <a:latin typeface="Cambria Math" panose="02040503050406030204" pitchFamily="18" charset="0"/>
                      </a:rPr>
                      <m:t>数</m:t>
                    </m:r>
                    <m:r>
                      <a:rPr lang="zh-CN" altLang="en-US" sz="2400" i="1">
                        <a:latin typeface="Cambria Math" panose="02040503050406030204" pitchFamily="18" charset="0"/>
                      </a:rPr>
                      <m:t>守恒</m:t>
                    </m:r>
                    <m:r>
                      <a:rPr lang="zh-CN" altLang="en-US" sz="2400" b="0" i="1" smtClean="0">
                        <a:latin typeface="Cambria Math" panose="02040503050406030204" pitchFamily="18" charset="0"/>
                      </a:rPr>
                      <m:t>，</m:t>
                    </m:r>
                    <m:r>
                      <a:rPr lang="zh-CN" altLang="en-US" sz="2400" i="1">
                        <a:latin typeface="Cambria Math" panose="02040503050406030204" pitchFamily="18" charset="0"/>
                      </a:rPr>
                      <m:t>平均</m:t>
                    </m:r>
                    <m:r>
                      <a:rPr lang="zh-CN" altLang="en-US" sz="2400" i="1" smtClean="0">
                        <a:latin typeface="Cambria Math" panose="02040503050406030204" pitchFamily="18" charset="0"/>
                      </a:rPr>
                      <m:t>能量</m:t>
                    </m:r>
                    <m:r>
                      <a:rPr lang="zh-CN" altLang="en-US" sz="2400" b="0" i="1" smtClean="0">
                        <a:latin typeface="Cambria Math" panose="02040503050406030204" pitchFamily="18" charset="0"/>
                      </a:rPr>
                      <m:t>（</m:t>
                    </m:r>
                    <m:r>
                      <a:rPr lang="zh-CN" altLang="en-US" sz="2400" i="1">
                        <a:latin typeface="Cambria Math" panose="02040503050406030204" pitchFamily="18" charset="0"/>
                      </a:rPr>
                      <m:t>能量</m:t>
                    </m:r>
                    <m:r>
                      <a:rPr lang="zh-CN" altLang="en-US" sz="2400" i="1" smtClean="0">
                        <a:latin typeface="Cambria Math" panose="02040503050406030204" pitchFamily="18" charset="0"/>
                      </a:rPr>
                      <m:t>均分</m:t>
                    </m:r>
                    <m:r>
                      <a:rPr lang="zh-CN" altLang="en-US" sz="2400" i="1">
                        <a:latin typeface="Cambria Math" panose="02040503050406030204" pitchFamily="18" charset="0"/>
                      </a:rPr>
                      <m:t>定理</m:t>
                    </m:r>
                    <m:r>
                      <a:rPr lang="zh-CN" altLang="en-US" sz="2400" b="0" i="1" smtClean="0">
                        <a:latin typeface="Cambria Math" panose="02040503050406030204" pitchFamily="18" charset="0"/>
                      </a:rPr>
                      <m:t>）</m:t>
                    </m:r>
                  </m:oMath>
                </a14:m>
                <a:endParaRPr lang="en-CN" sz="2400" dirty="0"/>
              </a:p>
            </p:txBody>
          </p:sp>
        </mc:Choice>
        <mc:Fallback xmlns="">
          <p:sp>
            <p:nvSpPr>
              <p:cNvPr id="2" name="TextBox 1">
                <a:extLst>
                  <a:ext uri="{FF2B5EF4-FFF2-40B4-BE49-F238E27FC236}">
                    <a16:creationId xmlns:a16="http://schemas.microsoft.com/office/drawing/2014/main" id="{D7FB819C-44D3-9BEA-44C5-0CA192817398}"/>
                  </a:ext>
                </a:extLst>
              </p:cNvPr>
              <p:cNvSpPr txBox="1">
                <a:spLocks noRot="1" noChangeAspect="1" noMove="1" noResize="1" noEditPoints="1" noAdjustHandles="1" noChangeArrowheads="1" noChangeShapeType="1" noTextEdit="1"/>
              </p:cNvSpPr>
              <p:nvPr/>
            </p:nvSpPr>
            <p:spPr>
              <a:xfrm>
                <a:off x="0" y="653143"/>
                <a:ext cx="12192000" cy="3746795"/>
              </a:xfrm>
              <a:prstGeom prst="rect">
                <a:avLst/>
              </a:prstGeom>
              <a:blipFill>
                <a:blip r:embed="rId2"/>
                <a:stretch>
                  <a:fillRect l="-1665" t="-3041"/>
                </a:stretch>
              </a:blipFill>
            </p:spPr>
            <p:txBody>
              <a:bodyPr/>
              <a:lstStyle/>
              <a:p>
                <a:r>
                  <a:rPr lang="en-CN">
                    <a:noFill/>
                  </a:rPr>
                  <a:t> </a:t>
                </a:r>
              </a:p>
            </p:txBody>
          </p:sp>
        </mc:Fallback>
      </mc:AlternateContent>
    </p:spTree>
    <p:extLst>
      <p:ext uri="{BB962C8B-B14F-4D97-AF65-F5344CB8AC3E}">
        <p14:creationId xmlns:p14="http://schemas.microsoft.com/office/powerpoint/2010/main" val="12730296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77E0DB-BDE9-9147-B116-C68B27633F16}"/>
              </a:ext>
            </a:extLst>
          </p:cNvPr>
          <p:cNvPicPr>
            <a:picLocks noChangeAspect="1"/>
          </p:cNvPicPr>
          <p:nvPr/>
        </p:nvPicPr>
        <p:blipFill>
          <a:blip r:embed="rId2"/>
          <a:stretch>
            <a:fillRect/>
          </a:stretch>
        </p:blipFill>
        <p:spPr>
          <a:xfrm>
            <a:off x="2138722" y="93873"/>
            <a:ext cx="6855883" cy="6670254"/>
          </a:xfrm>
          <a:prstGeom prst="rect">
            <a:avLst/>
          </a:prstGeom>
        </p:spPr>
      </p:pic>
      <p:sp>
        <p:nvSpPr>
          <p:cNvPr id="2" name="TextBox 1">
            <a:extLst>
              <a:ext uri="{FF2B5EF4-FFF2-40B4-BE49-F238E27FC236}">
                <a16:creationId xmlns:a16="http://schemas.microsoft.com/office/drawing/2014/main" id="{57D1B927-BEB3-9FF3-3806-5D000170D0F3}"/>
              </a:ext>
            </a:extLst>
          </p:cNvPr>
          <p:cNvSpPr txBox="1"/>
          <p:nvPr/>
        </p:nvSpPr>
        <p:spPr>
          <a:xfrm>
            <a:off x="9540215" y="2721114"/>
            <a:ext cx="1709928" cy="707886"/>
          </a:xfrm>
          <a:prstGeom prst="rect">
            <a:avLst/>
          </a:prstGeom>
          <a:noFill/>
        </p:spPr>
        <p:txBody>
          <a:bodyPr wrap="square" rtlCol="0">
            <a:spAutoFit/>
          </a:bodyPr>
          <a:lstStyle/>
          <a:p>
            <a:r>
              <a:rPr lang="en-CN" sz="4000" dirty="0"/>
              <a:t>板书</a:t>
            </a:r>
            <a:r>
              <a:rPr lang="zh-CN" altLang="en-US" sz="4000" dirty="0"/>
              <a:t>！</a:t>
            </a:r>
            <a:endParaRPr lang="en-CN" sz="4000" dirty="0"/>
          </a:p>
        </p:txBody>
      </p:sp>
    </p:spTree>
    <p:extLst>
      <p:ext uri="{BB962C8B-B14F-4D97-AF65-F5344CB8AC3E}">
        <p14:creationId xmlns:p14="http://schemas.microsoft.com/office/powerpoint/2010/main" val="21800217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77E0DB-BDE9-9147-B116-C68B27633F16}"/>
              </a:ext>
            </a:extLst>
          </p:cNvPr>
          <p:cNvPicPr>
            <a:picLocks noChangeAspect="1"/>
          </p:cNvPicPr>
          <p:nvPr/>
        </p:nvPicPr>
        <p:blipFill>
          <a:blip r:embed="rId2"/>
          <a:stretch>
            <a:fillRect/>
          </a:stretch>
        </p:blipFill>
        <p:spPr>
          <a:xfrm>
            <a:off x="0" y="93873"/>
            <a:ext cx="6855883" cy="6670254"/>
          </a:xfrm>
          <a:prstGeom prst="rect">
            <a:avLst/>
          </a:prstGeom>
        </p:spPr>
      </p:pic>
      <p:pic>
        <p:nvPicPr>
          <p:cNvPr id="3" name="Picture 2">
            <a:extLst>
              <a:ext uri="{FF2B5EF4-FFF2-40B4-BE49-F238E27FC236}">
                <a16:creationId xmlns:a16="http://schemas.microsoft.com/office/drawing/2014/main" id="{D78E7E26-0BFD-9B42-8B04-59682B31F048}"/>
              </a:ext>
            </a:extLst>
          </p:cNvPr>
          <p:cNvPicPr>
            <a:picLocks noChangeAspect="1"/>
          </p:cNvPicPr>
          <p:nvPr/>
        </p:nvPicPr>
        <p:blipFill>
          <a:blip r:embed="rId3"/>
          <a:stretch>
            <a:fillRect/>
          </a:stretch>
        </p:blipFill>
        <p:spPr>
          <a:xfrm>
            <a:off x="6855883" y="0"/>
            <a:ext cx="5315708" cy="4711148"/>
          </a:xfrm>
          <a:prstGeom prst="rect">
            <a:avLst/>
          </a:prstGeom>
        </p:spPr>
      </p:pic>
      <p:pic>
        <p:nvPicPr>
          <p:cNvPr id="6" name="Picture 5">
            <a:extLst>
              <a:ext uri="{FF2B5EF4-FFF2-40B4-BE49-F238E27FC236}">
                <a16:creationId xmlns:a16="http://schemas.microsoft.com/office/drawing/2014/main" id="{54AC2036-2EA3-064F-8661-8A6EA9C214A1}"/>
              </a:ext>
            </a:extLst>
          </p:cNvPr>
          <p:cNvPicPr>
            <a:picLocks noChangeAspect="1"/>
          </p:cNvPicPr>
          <p:nvPr/>
        </p:nvPicPr>
        <p:blipFill>
          <a:blip r:embed="rId4"/>
          <a:stretch>
            <a:fillRect/>
          </a:stretch>
        </p:blipFill>
        <p:spPr>
          <a:xfrm>
            <a:off x="6972230" y="4711148"/>
            <a:ext cx="4291841" cy="574315"/>
          </a:xfrm>
          <a:prstGeom prst="rect">
            <a:avLst/>
          </a:prstGeom>
        </p:spPr>
      </p:pic>
      <p:pic>
        <p:nvPicPr>
          <p:cNvPr id="2050" name="Picture 2" descr="What is the Maxwell-Boltzmann distribution? (article) | Khan Academy">
            <a:extLst>
              <a:ext uri="{FF2B5EF4-FFF2-40B4-BE49-F238E27FC236}">
                <a16:creationId xmlns:a16="http://schemas.microsoft.com/office/drawing/2014/main" id="{07DF4946-F790-924C-B8B4-B76FF49D20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637" y="1222076"/>
            <a:ext cx="7223796" cy="406338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6D243A1-CC46-574D-BF62-0F8614E59584}"/>
                  </a:ext>
                </a:extLst>
              </p:cNvPr>
              <p:cNvSpPr txBox="1"/>
              <p:nvPr/>
            </p:nvSpPr>
            <p:spPr>
              <a:xfrm>
                <a:off x="8478982" y="5510342"/>
                <a:ext cx="1330036" cy="369332"/>
              </a:xfrm>
              <a:prstGeom prst="rect">
                <a:avLst/>
              </a:prstGeom>
              <a:noFill/>
            </p:spPr>
            <p:txBody>
              <a:bodyPr wrap="square" rtlCol="0">
                <a:spAutoFit/>
              </a:bodyPr>
              <a:lstStyle/>
              <a:p>
                <a:r>
                  <a:rPr lang="en-CN" dirty="0"/>
                  <a:t>Q6: </a:t>
                </a:r>
                <a14:m>
                  <m:oMath xmlns:m="http://schemas.openxmlformats.org/officeDocument/2006/math">
                    <m:d>
                      <m:dPr>
                        <m:begChr m:val="⟨"/>
                        <m:endChr m:val="⟩"/>
                        <m:ctrlPr>
                          <a:rPr lang="en-CN" i="1" smtClean="0">
                            <a:latin typeface="Cambria Math" panose="02040503050406030204" pitchFamily="18" charset="0"/>
                          </a:rPr>
                        </m:ctrlPr>
                      </m:dPr>
                      <m:e>
                        <m:sSup>
                          <m:sSupPr>
                            <m:ctrlPr>
                              <a:rPr lang="en-CN"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e>
                    </m:d>
                  </m:oMath>
                </a14:m>
                <a:endParaRPr lang="en-CN" dirty="0"/>
              </a:p>
            </p:txBody>
          </p:sp>
        </mc:Choice>
        <mc:Fallback xmlns="">
          <p:sp>
            <p:nvSpPr>
              <p:cNvPr id="2" name="TextBox 1">
                <a:extLst>
                  <a:ext uri="{FF2B5EF4-FFF2-40B4-BE49-F238E27FC236}">
                    <a16:creationId xmlns:a16="http://schemas.microsoft.com/office/drawing/2014/main" id="{66D243A1-CC46-574D-BF62-0F8614E59584}"/>
                  </a:ext>
                </a:extLst>
              </p:cNvPr>
              <p:cNvSpPr txBox="1">
                <a:spLocks noRot="1" noChangeAspect="1" noMove="1" noResize="1" noEditPoints="1" noAdjustHandles="1" noChangeArrowheads="1" noChangeShapeType="1" noTextEdit="1"/>
              </p:cNvSpPr>
              <p:nvPr/>
            </p:nvSpPr>
            <p:spPr>
              <a:xfrm>
                <a:off x="8478982" y="5510342"/>
                <a:ext cx="1330036" cy="369332"/>
              </a:xfrm>
              <a:prstGeom prst="rect">
                <a:avLst/>
              </a:prstGeom>
              <a:blipFill>
                <a:blip r:embed="rId6"/>
                <a:stretch>
                  <a:fillRect l="-3774" t="-6452" b="-22581"/>
                </a:stretch>
              </a:blipFill>
            </p:spPr>
            <p:txBody>
              <a:bodyPr/>
              <a:lstStyle/>
              <a:p>
                <a:r>
                  <a:rPr lang="en-CN">
                    <a:noFill/>
                  </a:rPr>
                  <a:t> </a:t>
                </a:r>
              </a:p>
            </p:txBody>
          </p:sp>
        </mc:Fallback>
      </mc:AlternateContent>
    </p:spTree>
    <p:extLst>
      <p:ext uri="{BB962C8B-B14F-4D97-AF65-F5344CB8AC3E}">
        <p14:creationId xmlns:p14="http://schemas.microsoft.com/office/powerpoint/2010/main" val="26059576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5CDB2C-6B14-4440-8C8E-879AEBC68DB5}"/>
              </a:ext>
            </a:extLst>
          </p:cNvPr>
          <p:cNvPicPr>
            <a:picLocks noChangeAspect="1"/>
          </p:cNvPicPr>
          <p:nvPr/>
        </p:nvPicPr>
        <p:blipFill>
          <a:blip r:embed="rId2"/>
          <a:stretch>
            <a:fillRect/>
          </a:stretch>
        </p:blipFill>
        <p:spPr>
          <a:xfrm>
            <a:off x="4937693" y="2151654"/>
            <a:ext cx="6879933" cy="2237685"/>
          </a:xfrm>
          <a:prstGeom prst="rect">
            <a:avLst/>
          </a:prstGeom>
        </p:spPr>
      </p:pic>
      <p:pic>
        <p:nvPicPr>
          <p:cNvPr id="3074" name="Picture 2">
            <a:extLst>
              <a:ext uri="{FF2B5EF4-FFF2-40B4-BE49-F238E27FC236}">
                <a16:creationId xmlns:a16="http://schemas.microsoft.com/office/drawing/2014/main" id="{28491F87-DA55-214A-B60E-F3446B664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374" y="185531"/>
            <a:ext cx="3808662" cy="597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8652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E6B052-0265-9846-9F62-EEC93E2D85BA}"/>
              </a:ext>
            </a:extLst>
          </p:cNvPr>
          <p:cNvSpPr txBox="1"/>
          <p:nvPr/>
        </p:nvSpPr>
        <p:spPr>
          <a:xfrm>
            <a:off x="2239617" y="1895061"/>
            <a:ext cx="7712765" cy="707886"/>
          </a:xfrm>
          <a:prstGeom prst="rect">
            <a:avLst/>
          </a:prstGeom>
          <a:noFill/>
        </p:spPr>
        <p:txBody>
          <a:bodyPr wrap="square" rtlCol="0">
            <a:spAutoFit/>
          </a:bodyPr>
          <a:lstStyle/>
          <a:p>
            <a:pPr algn="ctr"/>
            <a:r>
              <a:rPr lang="en-US" sz="4000" dirty="0">
                <a:latin typeface="FangSong" panose="02010609060101010101" pitchFamily="49" charset="-122"/>
                <a:ea typeface="FangSong" panose="02010609060101010101" pitchFamily="49" charset="-122"/>
              </a:rPr>
              <a:t>N</a:t>
            </a:r>
            <a:r>
              <a:rPr lang="en-CN" sz="4000" dirty="0">
                <a:latin typeface="FangSong" panose="02010609060101010101" pitchFamily="49" charset="-122"/>
                <a:ea typeface="FangSong" panose="02010609060101010101" pitchFamily="49" charset="-122"/>
              </a:rPr>
              <a:t>维空间</a:t>
            </a:r>
            <a:r>
              <a:rPr lang="zh-CN" altLang="en-US" sz="4000" dirty="0">
                <a:latin typeface="FangSong" panose="02010609060101010101" pitchFamily="49" charset="-122"/>
                <a:ea typeface="FangSong" panose="02010609060101010101" pitchFamily="49" charset="-122"/>
              </a:rPr>
              <a:t>？</a:t>
            </a:r>
            <a:endParaRPr lang="en-CN" sz="4000"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37054188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5F1D37-0F55-6E49-B2FB-B55E37E4BC5D}"/>
              </a:ext>
            </a:extLst>
          </p:cNvPr>
          <p:cNvSpPr txBox="1"/>
          <p:nvPr/>
        </p:nvSpPr>
        <p:spPr>
          <a:xfrm>
            <a:off x="595745" y="429491"/>
            <a:ext cx="4682837"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回到信息熵</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5A02619-7883-DD43-95B6-6CD3E1D8CC23}"/>
                  </a:ext>
                </a:extLst>
              </p:cNvPr>
              <p:cNvSpPr txBox="1"/>
              <p:nvPr/>
            </p:nvSpPr>
            <p:spPr>
              <a:xfrm>
                <a:off x="3997036" y="176409"/>
                <a:ext cx="3679151" cy="186038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𝑃</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𝑠</m:t>
                          </m:r>
                        </m:e>
                      </m:d>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1</m:t>
                          </m:r>
                        </m:num>
                        <m:den>
                          <m:r>
                            <a:rPr lang="en-US" sz="4000" b="0" i="1" smtClean="0">
                              <a:solidFill>
                                <a:schemeClr val="accent1"/>
                              </a:solidFill>
                              <a:latin typeface="Cambria Math" panose="02040503050406030204" pitchFamily="18" charset="0"/>
                            </a:rPr>
                            <m:t>𝑍</m:t>
                          </m:r>
                        </m:den>
                      </m:f>
                      <m:sSup>
                        <m:sSupPr>
                          <m:ctrlPr>
                            <a:rPr lang="en-US" sz="4000" b="0" i="1" smtClean="0">
                              <a:solidFill>
                                <a:srgbClr val="FF0000"/>
                              </a:solidFill>
                              <a:latin typeface="Cambria Math" panose="02040503050406030204" pitchFamily="18" charset="0"/>
                            </a:rPr>
                          </m:ctrlPr>
                        </m:sSupPr>
                        <m:e>
                          <m:r>
                            <a:rPr lang="en-US" sz="4000" b="0" i="1" smtClean="0">
                              <a:solidFill>
                                <a:srgbClr val="FF0000"/>
                              </a:solidFill>
                              <a:latin typeface="Cambria Math" panose="02040503050406030204" pitchFamily="18" charset="0"/>
                            </a:rPr>
                            <m:t>𝑒</m:t>
                          </m:r>
                        </m:e>
                        <m:sup>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𝜀</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sup>
                      </m:sSup>
                    </m:oMath>
                  </m:oMathPara>
                </a14:m>
                <a:endParaRPr lang="en-CN" sz="4000" dirty="0"/>
              </a:p>
              <a:p>
                <a:pPr algn="ctr"/>
                <a:endParaRPr lang="en-CN" sz="4000" dirty="0"/>
              </a:p>
            </p:txBody>
          </p:sp>
        </mc:Choice>
        <mc:Fallback xmlns="">
          <p:sp>
            <p:nvSpPr>
              <p:cNvPr id="5" name="TextBox 4">
                <a:extLst>
                  <a:ext uri="{FF2B5EF4-FFF2-40B4-BE49-F238E27FC236}">
                    <a16:creationId xmlns:a16="http://schemas.microsoft.com/office/drawing/2014/main" id="{65A02619-7883-DD43-95B6-6CD3E1D8CC23}"/>
                  </a:ext>
                </a:extLst>
              </p:cNvPr>
              <p:cNvSpPr txBox="1">
                <a:spLocks noRot="1" noChangeAspect="1" noMove="1" noResize="1" noEditPoints="1" noAdjustHandles="1" noChangeArrowheads="1" noChangeShapeType="1" noTextEdit="1"/>
              </p:cNvSpPr>
              <p:nvPr/>
            </p:nvSpPr>
            <p:spPr>
              <a:xfrm>
                <a:off x="3997036" y="176409"/>
                <a:ext cx="3679151" cy="1860381"/>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3F383F3-B262-6D43-A9B6-533807EF810D}"/>
                  </a:ext>
                </a:extLst>
              </p:cNvPr>
              <p:cNvSpPr txBox="1"/>
              <p:nvPr/>
            </p:nvSpPr>
            <p:spPr>
              <a:xfrm>
                <a:off x="2369127" y="1565735"/>
                <a:ext cx="6497782" cy="26513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𝑠</m:t>
                          </m:r>
                        </m:sub>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log</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𝑠</m:t>
                          </m:r>
                        </m:sub>
                        <m:sup/>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 </m:t>
                          </m:r>
                          <m:r>
                            <m:rPr>
                              <m:sty m:val="p"/>
                            </m:rPr>
                            <a:rPr lang="en-US" b="0" i="0" smtClean="0">
                              <a:latin typeface="Cambria Math" panose="02040503050406030204" pitchFamily="18" charset="0"/>
                            </a:rPr>
                            <m:t>log</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𝑠</m:t>
                          </m:r>
                        </m:sub>
                        <m:sup/>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𝑍</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𝜀</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d>
                            <m:dPr>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log</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e>
                          </m:d>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𝑍</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6" name="TextBox 5">
                <a:extLst>
                  <a:ext uri="{FF2B5EF4-FFF2-40B4-BE49-F238E27FC236}">
                    <a16:creationId xmlns:a16="http://schemas.microsoft.com/office/drawing/2014/main" id="{53F383F3-B262-6D43-A9B6-533807EF810D}"/>
                  </a:ext>
                </a:extLst>
              </p:cNvPr>
              <p:cNvSpPr txBox="1">
                <a:spLocks noRot="1" noChangeAspect="1" noMove="1" noResize="1" noEditPoints="1" noAdjustHandles="1" noChangeArrowheads="1" noChangeShapeType="1" noTextEdit="1"/>
              </p:cNvSpPr>
              <p:nvPr/>
            </p:nvSpPr>
            <p:spPr>
              <a:xfrm>
                <a:off x="2369127" y="1565735"/>
                <a:ext cx="6497782" cy="2651303"/>
              </a:xfrm>
              <a:prstGeom prst="rect">
                <a:avLst/>
              </a:prstGeom>
              <a:blipFill>
                <a:blip r:embed="rId3"/>
                <a:stretch>
                  <a:fillRect t="-35714" b="-2857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7025C4-C349-F849-B029-422BCB8AA353}"/>
                  </a:ext>
                </a:extLst>
              </p:cNvPr>
              <p:cNvSpPr txBox="1"/>
              <p:nvPr/>
            </p:nvSpPr>
            <p:spPr>
              <a:xfrm>
                <a:off x="2947595" y="5098473"/>
                <a:ext cx="6368527"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panose="02040503050406030204" pitchFamily="18" charset="0"/>
                        </a:rPr>
                        <m:t>−</m:t>
                      </m:r>
                      <m:r>
                        <a:rPr lang="en-US" sz="4000" b="0" i="1" smtClean="0">
                          <a:solidFill>
                            <a:schemeClr val="tx1"/>
                          </a:solidFill>
                          <a:latin typeface="Cambria Math" panose="02040503050406030204" pitchFamily="18" charset="0"/>
                          <a:ea typeface="Cambria Math" panose="02040503050406030204" pitchFamily="18" charset="0"/>
                        </a:rPr>
                        <m:t>𝜏</m:t>
                      </m:r>
                      <m:func>
                        <m:funcPr>
                          <m:ctrlPr>
                            <a:rPr lang="en-US" sz="40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4000" b="0" i="0" smtClean="0">
                              <a:solidFill>
                                <a:schemeClr val="tx1"/>
                              </a:solidFill>
                              <a:latin typeface="Cambria Math" panose="02040503050406030204" pitchFamily="18" charset="0"/>
                              <a:ea typeface="Cambria Math" panose="02040503050406030204" pitchFamily="18" charset="0"/>
                            </a:rPr>
                            <m:t>log</m:t>
                          </m:r>
                        </m:fName>
                        <m:e>
                          <m:d>
                            <m:dPr>
                              <m:begChr m:val="["/>
                              <m:endChr m:val="]"/>
                              <m:ctrlPr>
                                <a:rPr lang="en-US" sz="4000" b="0" i="1" smtClean="0">
                                  <a:solidFill>
                                    <a:schemeClr val="tx1"/>
                                  </a:solidFill>
                                  <a:latin typeface="Cambria Math" panose="02040503050406030204" pitchFamily="18" charset="0"/>
                                  <a:ea typeface="Cambria Math" panose="02040503050406030204" pitchFamily="18" charset="0"/>
                                </a:rPr>
                              </m:ctrlPr>
                            </m:dPr>
                            <m:e>
                              <m:r>
                                <a:rPr lang="en-US" sz="4000" b="0" i="1" smtClean="0">
                                  <a:solidFill>
                                    <a:schemeClr val="tx1"/>
                                  </a:solidFill>
                                  <a:latin typeface="Cambria Math" panose="02040503050406030204" pitchFamily="18" charset="0"/>
                                  <a:ea typeface="Cambria Math" panose="02040503050406030204" pitchFamily="18" charset="0"/>
                                </a:rPr>
                                <m:t>𝑍</m:t>
                              </m:r>
                            </m:e>
                          </m:d>
                        </m:e>
                      </m:func>
                      <m:r>
                        <a:rPr lang="en-US" sz="4000" b="0" i="1" smtClean="0">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𝑈</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𝜎</m:t>
                      </m:r>
                      <m:r>
                        <a:rPr lang="en-US" sz="4000" b="0" i="1" smtClean="0">
                          <a:solidFill>
                            <a:srgbClr val="FF0000"/>
                          </a:solidFill>
                          <a:latin typeface="Cambria Math" panose="02040503050406030204" pitchFamily="18" charset="0"/>
                          <a:ea typeface="Cambria Math" panose="02040503050406030204" pitchFamily="18" charset="0"/>
                        </a:rPr>
                        <m:t> </m:t>
                      </m:r>
                      <m:r>
                        <a:rPr lang="en-US" sz="4000" b="0" i="1" smtClean="0">
                          <a:solidFill>
                            <a:srgbClr val="FF0000"/>
                          </a:solidFill>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𝐹</m:t>
                      </m:r>
                    </m:oMath>
                  </m:oMathPara>
                </a14:m>
                <a:endParaRPr lang="en-CN" sz="4000" dirty="0"/>
              </a:p>
            </p:txBody>
          </p:sp>
        </mc:Choice>
        <mc:Fallback xmlns="">
          <p:sp>
            <p:nvSpPr>
              <p:cNvPr id="7" name="TextBox 6">
                <a:extLst>
                  <a:ext uri="{FF2B5EF4-FFF2-40B4-BE49-F238E27FC236}">
                    <a16:creationId xmlns:a16="http://schemas.microsoft.com/office/drawing/2014/main" id="{527025C4-C349-F849-B029-422BCB8AA353}"/>
                  </a:ext>
                </a:extLst>
              </p:cNvPr>
              <p:cNvSpPr txBox="1">
                <a:spLocks noRot="1" noChangeAspect="1" noMove="1" noResize="1" noEditPoints="1" noAdjustHandles="1" noChangeArrowheads="1" noChangeShapeType="1" noTextEdit="1"/>
              </p:cNvSpPr>
              <p:nvPr/>
            </p:nvSpPr>
            <p:spPr>
              <a:xfrm>
                <a:off x="2947595" y="5098473"/>
                <a:ext cx="6368527" cy="707886"/>
              </a:xfrm>
              <a:prstGeom prst="rect">
                <a:avLst/>
              </a:prstGeom>
              <a:blipFill>
                <a:blip r:embed="rId4"/>
                <a:stretch>
                  <a:fillRect b="-28571"/>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1308A1EC-CE1E-0C4E-B6E3-6A77110879BB}"/>
              </a:ext>
            </a:extLst>
          </p:cNvPr>
          <p:cNvSpPr/>
          <p:nvPr/>
        </p:nvSpPr>
        <p:spPr>
          <a:xfrm>
            <a:off x="5389418" y="4217038"/>
            <a:ext cx="447193" cy="7013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TextBox 8">
            <a:extLst>
              <a:ext uri="{FF2B5EF4-FFF2-40B4-BE49-F238E27FC236}">
                <a16:creationId xmlns:a16="http://schemas.microsoft.com/office/drawing/2014/main" id="{A438A9AD-C394-D44C-B8AC-B1F9E8BAB847}"/>
              </a:ext>
            </a:extLst>
          </p:cNvPr>
          <p:cNvSpPr txBox="1"/>
          <p:nvPr/>
        </p:nvSpPr>
        <p:spPr>
          <a:xfrm>
            <a:off x="2165156" y="6059177"/>
            <a:ext cx="7342909" cy="369332"/>
          </a:xfrm>
          <a:prstGeom prst="rect">
            <a:avLst/>
          </a:prstGeom>
          <a:noFill/>
        </p:spPr>
        <p:txBody>
          <a:bodyPr wrap="square" rtlCol="0">
            <a:spAutoFit/>
          </a:bodyPr>
          <a:lstStyle/>
          <a:p>
            <a:pPr algn="ctr"/>
            <a:r>
              <a:rPr lang="zh-CN" altLang="en-US" dirty="0">
                <a:latin typeface="FangSong" panose="02010609060101010101" pitchFamily="49" charset="-122"/>
                <a:ea typeface="FangSong" panose="02010609060101010101" pitchFamily="49" charset="-122"/>
              </a:rPr>
              <a:t>“自由能</a:t>
            </a:r>
            <a:r>
              <a:rPr lang="en-US" altLang="zh-CN" dirty="0">
                <a:solidFill>
                  <a:srgbClr val="FF0000"/>
                </a:solidFill>
                <a:latin typeface="FangSong" panose="02010609060101010101" pitchFamily="49" charset="-122"/>
                <a:ea typeface="FangSong" panose="02010609060101010101" pitchFamily="49" charset="-122"/>
              </a:rPr>
              <a:t>F</a:t>
            </a:r>
            <a:r>
              <a:rPr lang="zh-CN" altLang="en-US" dirty="0">
                <a:latin typeface="FangSong" panose="02010609060101010101" pitchFamily="49" charset="-122"/>
                <a:ea typeface="FangSong" panose="02010609060101010101" pitchFamily="49" charset="-122"/>
              </a:rPr>
              <a:t>”的概念</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24543279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E6B052-0265-9846-9F62-EEC93E2D85BA}"/>
              </a:ext>
            </a:extLst>
          </p:cNvPr>
          <p:cNvSpPr txBox="1"/>
          <p:nvPr/>
        </p:nvSpPr>
        <p:spPr>
          <a:xfrm>
            <a:off x="677945" y="1381353"/>
            <a:ext cx="7712765" cy="707886"/>
          </a:xfrm>
          <a:prstGeom prst="rect">
            <a:avLst/>
          </a:prstGeom>
          <a:noFill/>
        </p:spPr>
        <p:txBody>
          <a:bodyPr wrap="square" rtlCol="0">
            <a:spAutoFit/>
          </a:bodyPr>
          <a:lstStyle/>
          <a:p>
            <a:pPr marL="571500" indent="-571500">
              <a:buFont typeface="Arial" panose="020B0604020202020204" pitchFamily="34" charset="0"/>
              <a:buChar char="•"/>
            </a:pPr>
            <a:r>
              <a:rPr lang="en-CN" sz="4000" dirty="0">
                <a:latin typeface="FangSong" panose="02010609060101010101" pitchFamily="49" charset="-122"/>
                <a:ea typeface="FangSong" panose="02010609060101010101" pitchFamily="49" charset="-122"/>
              </a:rPr>
              <a:t>压强(插曲)</a:t>
            </a:r>
          </a:p>
        </p:txBody>
      </p:sp>
      <p:sp>
        <p:nvSpPr>
          <p:cNvPr id="2" name="Title 1">
            <a:extLst>
              <a:ext uri="{FF2B5EF4-FFF2-40B4-BE49-F238E27FC236}">
                <a16:creationId xmlns:a16="http://schemas.microsoft.com/office/drawing/2014/main" id="{7D9F554D-681C-4359-FC7B-B1EF81B9E410}"/>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（第三四五周）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31927505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676D9A-C12F-A54A-99F4-50D70B9E45D7}"/>
              </a:ext>
            </a:extLst>
          </p:cNvPr>
          <p:cNvSpPr txBox="1"/>
          <p:nvPr/>
        </p:nvSpPr>
        <p:spPr>
          <a:xfrm>
            <a:off x="569843" y="331304"/>
            <a:ext cx="10853531" cy="523220"/>
          </a:xfrm>
          <a:prstGeom prst="rect">
            <a:avLst/>
          </a:prstGeom>
          <a:noFill/>
        </p:spPr>
        <p:txBody>
          <a:bodyPr wrap="square" rtlCol="0">
            <a:spAutoFit/>
          </a:bodyPr>
          <a:lstStyle/>
          <a:p>
            <a:r>
              <a:rPr lang="en-CN" sz="2800" dirty="0"/>
              <a:t>系统能量改变的另外一种方式</a:t>
            </a:r>
            <a:r>
              <a:rPr lang="zh-CN" altLang="en-US" sz="2800" dirty="0"/>
              <a:t>，做功，</a:t>
            </a:r>
            <a:r>
              <a:rPr lang="en-CN" sz="2800" dirty="0"/>
              <a:t>让体积变起来</a:t>
            </a:r>
            <a:r>
              <a:rPr lang="zh-CN" altLang="en-US" sz="2800" dirty="0"/>
              <a:t>！！！</a:t>
            </a:r>
            <a:endParaRPr lang="en-CN" sz="2800" dirty="0"/>
          </a:p>
        </p:txBody>
      </p:sp>
      <p:sp>
        <p:nvSpPr>
          <p:cNvPr id="3" name="Cube 2">
            <a:extLst>
              <a:ext uri="{FF2B5EF4-FFF2-40B4-BE49-F238E27FC236}">
                <a16:creationId xmlns:a16="http://schemas.microsoft.com/office/drawing/2014/main" id="{ACAC530A-EEF2-3B4E-A126-C950840B3BF6}"/>
              </a:ext>
            </a:extLst>
          </p:cNvPr>
          <p:cNvSpPr/>
          <p:nvPr/>
        </p:nvSpPr>
        <p:spPr>
          <a:xfrm>
            <a:off x="1117125" y="1665541"/>
            <a:ext cx="3578087" cy="361784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6" name="Oval 5">
            <a:extLst>
              <a:ext uri="{FF2B5EF4-FFF2-40B4-BE49-F238E27FC236}">
                <a16:creationId xmlns:a16="http://schemas.microsoft.com/office/drawing/2014/main" id="{84B911A5-12E7-9549-A4E1-6A20383F8788}"/>
              </a:ext>
            </a:extLst>
          </p:cNvPr>
          <p:cNvSpPr/>
          <p:nvPr/>
        </p:nvSpPr>
        <p:spPr>
          <a:xfrm>
            <a:off x="1926072" y="3474463"/>
            <a:ext cx="233464" cy="222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C7F92B50-3C3D-EC44-8455-CF633C991A79}"/>
              </a:ext>
            </a:extLst>
          </p:cNvPr>
          <p:cNvSpPr txBox="1"/>
          <p:nvPr/>
        </p:nvSpPr>
        <p:spPr>
          <a:xfrm>
            <a:off x="194549" y="3326856"/>
            <a:ext cx="603115" cy="523220"/>
          </a:xfrm>
          <a:prstGeom prst="rect">
            <a:avLst/>
          </a:prstGeom>
          <a:noFill/>
        </p:spPr>
        <p:txBody>
          <a:bodyPr wrap="square" rtlCol="0">
            <a:spAutoFit/>
          </a:bodyPr>
          <a:lstStyle/>
          <a:p>
            <a:r>
              <a:rPr lang="en-CN" sz="2800" dirty="0">
                <a:solidFill>
                  <a:srgbClr val="FF0000"/>
                </a:solidFill>
              </a:rPr>
              <a:t>L</a:t>
            </a:r>
          </a:p>
        </p:txBody>
      </p:sp>
      <p:sp>
        <p:nvSpPr>
          <p:cNvPr id="11" name="TextBox 10">
            <a:extLst>
              <a:ext uri="{FF2B5EF4-FFF2-40B4-BE49-F238E27FC236}">
                <a16:creationId xmlns:a16="http://schemas.microsoft.com/office/drawing/2014/main" id="{55E12BA7-A150-054A-93A8-154024EB95E1}"/>
              </a:ext>
            </a:extLst>
          </p:cNvPr>
          <p:cNvSpPr txBox="1"/>
          <p:nvPr/>
        </p:nvSpPr>
        <p:spPr>
          <a:xfrm>
            <a:off x="5014673" y="1411725"/>
            <a:ext cx="6538403" cy="707886"/>
          </a:xfrm>
          <a:prstGeom prst="rect">
            <a:avLst/>
          </a:prstGeom>
          <a:noFill/>
        </p:spPr>
        <p:txBody>
          <a:bodyPr wrap="square" rtlCol="0">
            <a:spAutoFit/>
          </a:bodyPr>
          <a:lstStyle/>
          <a:p>
            <a:r>
              <a:rPr lang="en-CN" sz="2000" dirty="0"/>
              <a:t>考虑约束在边长为L方盒子中一个粒子</a:t>
            </a:r>
            <a:r>
              <a:rPr lang="zh-CN" altLang="en-US" sz="2000" dirty="0"/>
              <a:t>，其质量为</a:t>
            </a:r>
            <a:r>
              <a:rPr lang="en-US" altLang="zh-CN" sz="2000" dirty="0"/>
              <a:t>m</a:t>
            </a:r>
            <a:r>
              <a:rPr lang="zh-CN" altLang="en-US" sz="2000" dirty="0"/>
              <a:t>，根据三维</a:t>
            </a:r>
            <a:r>
              <a:rPr lang="zh-CN" altLang="en-CN" sz="2000" dirty="0"/>
              <a:t>无限</a:t>
            </a:r>
            <a:r>
              <a:rPr lang="zh-CN" altLang="en-US" sz="2000" dirty="0"/>
              <a:t>深势阱知识，可以求其定态波函数及能级</a:t>
            </a:r>
            <a:endParaRPr lang="en-CN" sz="20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6350963-F6FF-0947-BCDC-D17CFA91BE81}"/>
                  </a:ext>
                </a:extLst>
              </p:cNvPr>
              <p:cNvSpPr txBox="1"/>
              <p:nvPr/>
            </p:nvSpPr>
            <p:spPr>
              <a:xfrm>
                <a:off x="4833102" y="2164845"/>
                <a:ext cx="6898449" cy="10804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CN" sz="3200" i="1" smtClean="0">
                              <a:latin typeface="Cambria Math" panose="02040503050406030204" pitchFamily="18" charset="0"/>
                            </a:rPr>
                          </m:ctrlPr>
                        </m:sSubPr>
                        <m:e>
                          <m:r>
                            <a:rPr lang="en-CN" sz="320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𝜋</m:t>
                              </m:r>
                            </m:e>
                            <m:sup>
                              <m:r>
                                <a:rPr lang="en-US" sz="3200" b="0" i="1" smtClean="0">
                                  <a:latin typeface="Cambria Math" panose="02040503050406030204" pitchFamily="18" charset="0"/>
                                </a:rPr>
                                <m:t>2</m:t>
                              </m:r>
                            </m:sup>
                          </m:sSup>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ℏ</m:t>
                              </m:r>
                            </m:e>
                            <m:sup>
                              <m:r>
                                <a:rPr lang="en-US" sz="3200" b="0" i="1" smtClean="0">
                                  <a:latin typeface="Cambria Math" panose="02040503050406030204" pitchFamily="18" charset="0"/>
                                </a:rPr>
                                <m:t>2</m:t>
                              </m:r>
                            </m:sup>
                          </m:sSup>
                        </m:num>
                        <m:den>
                          <m:r>
                            <a:rPr lang="en-US" sz="3200" b="0" i="1" smtClean="0">
                              <a:latin typeface="Cambria Math" panose="02040503050406030204" pitchFamily="18" charset="0"/>
                            </a:rPr>
                            <m:t>2</m:t>
                          </m:r>
                          <m:r>
                            <a:rPr lang="en-US" sz="3200" b="0" i="1" smtClean="0">
                              <a:latin typeface="Cambria Math" panose="02040503050406030204" pitchFamily="18" charset="0"/>
                            </a:rPr>
                            <m:t>𝑚</m:t>
                          </m:r>
                          <m:sSup>
                            <m:sSupPr>
                              <m:ctrlPr>
                                <a:rPr lang="en-US" sz="3200" b="0" i="1" smtClean="0">
                                  <a:latin typeface="Cambria Math" panose="02040503050406030204" pitchFamily="18" charset="0"/>
                                </a:rPr>
                              </m:ctrlPr>
                            </m:sSupPr>
                            <m:e>
                              <m:r>
                                <a:rPr lang="en-US" sz="3200" b="0" i="1" smtClean="0">
                                  <a:solidFill>
                                    <a:srgbClr val="FF0000"/>
                                  </a:solidFill>
                                  <a:latin typeface="Cambria Math" panose="02040503050406030204" pitchFamily="18" charset="0"/>
                                </a:rPr>
                                <m:t>𝐿</m:t>
                              </m:r>
                            </m:e>
                            <m:sup>
                              <m:r>
                                <a:rPr lang="en-US" sz="3200" b="0" i="1" smtClean="0">
                                  <a:latin typeface="Cambria Math" panose="02040503050406030204" pitchFamily="18" charset="0"/>
                                </a:rPr>
                                <m:t>2</m:t>
                              </m:r>
                            </m:sup>
                          </m:sSup>
                        </m:den>
                      </m:f>
                      <m:d>
                        <m:dPr>
                          <m:ctrlPr>
                            <a:rPr lang="en-US" sz="3200" b="0" i="1" smtClean="0">
                              <a:latin typeface="Cambria Math" panose="02040503050406030204" pitchFamily="18" charset="0"/>
                            </a:rPr>
                          </m:ctrlPr>
                        </m:dPr>
                        <m:e>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𝑛</m:t>
                              </m:r>
                            </m:e>
                            <m:sub>
                              <m:r>
                                <a:rPr lang="en-US" sz="3200" b="0" i="1" smtClean="0">
                                  <a:latin typeface="Cambria Math" panose="02040503050406030204" pitchFamily="18" charset="0"/>
                                </a:rPr>
                                <m:t>𝑥</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i="1">
                                  <a:latin typeface="Cambria Math" panose="02040503050406030204" pitchFamily="18" charset="0"/>
                                </a:rPr>
                              </m:ctrlPr>
                            </m:sSubSupPr>
                            <m:e>
                              <m:r>
                                <a:rPr lang="en-US" sz="3200" i="1">
                                  <a:latin typeface="Cambria Math" panose="02040503050406030204" pitchFamily="18" charset="0"/>
                                </a:rPr>
                                <m:t>𝑛</m:t>
                              </m:r>
                            </m:e>
                            <m:sub>
                              <m:r>
                                <a:rPr lang="en-US" sz="3200" b="0" i="1" smtClean="0">
                                  <a:latin typeface="Cambria Math" panose="02040503050406030204" pitchFamily="18" charset="0"/>
                                </a:rPr>
                                <m:t>𝑦</m:t>
                              </m:r>
                            </m:sub>
                            <m:sup>
                              <m:r>
                                <a:rPr lang="en-US" sz="3200" i="1">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i="1">
                                  <a:latin typeface="Cambria Math" panose="02040503050406030204" pitchFamily="18" charset="0"/>
                                </a:rPr>
                              </m:ctrlPr>
                            </m:sSubSupPr>
                            <m:e>
                              <m:r>
                                <a:rPr lang="en-US" sz="3200" i="1">
                                  <a:latin typeface="Cambria Math" panose="02040503050406030204" pitchFamily="18" charset="0"/>
                                </a:rPr>
                                <m:t>𝑛</m:t>
                              </m:r>
                            </m:e>
                            <m:sub>
                              <m:r>
                                <a:rPr lang="en-US" sz="3200" b="0" i="1" smtClean="0">
                                  <a:latin typeface="Cambria Math" panose="02040503050406030204" pitchFamily="18" charset="0"/>
                                </a:rPr>
                                <m:t>𝑧</m:t>
                              </m:r>
                            </m:sub>
                            <m:sup>
                              <m:r>
                                <a:rPr lang="en-US" sz="3200" i="1">
                                  <a:latin typeface="Cambria Math" panose="02040503050406030204" pitchFamily="18" charset="0"/>
                                </a:rPr>
                                <m:t>2</m:t>
                              </m:r>
                            </m:sup>
                          </m:sSubSup>
                        </m:e>
                      </m:d>
                      <m:r>
                        <a:rPr lang="en-US" sz="3200" b="0" i="1" smtClean="0">
                          <a:latin typeface="Cambria Math" panose="02040503050406030204" pitchFamily="18" charset="0"/>
                          <a:ea typeface="Cambria Math" panose="02040503050406030204" pitchFamily="18" charset="0"/>
                        </a:rPr>
                        <m:t>∝</m:t>
                      </m:r>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𝑉</m:t>
                          </m:r>
                          <m:r>
                            <a:rPr lang="en-US" sz="3200" b="0" i="1" smtClean="0">
                              <a:latin typeface="Cambria Math" panose="02040503050406030204" pitchFamily="18" charset="0"/>
                              <a:ea typeface="Cambria Math" panose="02040503050406030204" pitchFamily="18" charset="0"/>
                            </a:rPr>
                            <m:t>)</m:t>
                          </m:r>
                        </m:e>
                        <m:sup>
                          <m:r>
                            <a:rPr lang="en-US" sz="3200" b="0" i="1" smtClean="0">
                              <a:latin typeface="Cambria Math" panose="02040503050406030204" pitchFamily="18" charset="0"/>
                              <a:ea typeface="Cambria Math" panose="02040503050406030204" pitchFamily="18" charset="0"/>
                            </a:rPr>
                            <m:t>−2/3</m:t>
                          </m:r>
                        </m:sup>
                      </m:sSup>
                    </m:oMath>
                  </m:oMathPara>
                </a14:m>
                <a:endParaRPr lang="en-CN" sz="3200" dirty="0"/>
              </a:p>
            </p:txBody>
          </p:sp>
        </mc:Choice>
        <mc:Fallback xmlns="">
          <p:sp>
            <p:nvSpPr>
              <p:cNvPr id="12" name="TextBox 11">
                <a:extLst>
                  <a:ext uri="{FF2B5EF4-FFF2-40B4-BE49-F238E27FC236}">
                    <a16:creationId xmlns:a16="http://schemas.microsoft.com/office/drawing/2014/main" id="{C6350963-F6FF-0947-BCDC-D17CFA91BE81}"/>
                  </a:ext>
                </a:extLst>
              </p:cNvPr>
              <p:cNvSpPr txBox="1">
                <a:spLocks noRot="1" noChangeAspect="1" noMove="1" noResize="1" noEditPoints="1" noAdjustHandles="1" noChangeArrowheads="1" noChangeShapeType="1" noTextEdit="1"/>
              </p:cNvSpPr>
              <p:nvPr/>
            </p:nvSpPr>
            <p:spPr>
              <a:xfrm>
                <a:off x="4833102" y="2164845"/>
                <a:ext cx="6898449" cy="1080489"/>
              </a:xfrm>
              <a:prstGeom prst="rect">
                <a:avLst/>
              </a:prstGeom>
              <a:blipFill>
                <a:blip r:embed="rId2"/>
                <a:stretch>
                  <a:fillRect b="-6977"/>
                </a:stretch>
              </a:blipFill>
            </p:spPr>
            <p:txBody>
              <a:bodyPr/>
              <a:lstStyle/>
              <a:p>
                <a:r>
                  <a:rPr lang="en-CN">
                    <a:noFill/>
                  </a:rPr>
                  <a:t> </a:t>
                </a:r>
              </a:p>
            </p:txBody>
          </p:sp>
        </mc:Fallback>
      </mc:AlternateContent>
      <p:cxnSp>
        <p:nvCxnSpPr>
          <p:cNvPr id="14" name="Straight Arrow Connector 13">
            <a:extLst>
              <a:ext uri="{FF2B5EF4-FFF2-40B4-BE49-F238E27FC236}">
                <a16:creationId xmlns:a16="http://schemas.microsoft.com/office/drawing/2014/main" id="{F00C5AE4-94CB-FC4D-9D19-68508D564EBE}"/>
              </a:ext>
            </a:extLst>
          </p:cNvPr>
          <p:cNvCxnSpPr/>
          <p:nvPr/>
        </p:nvCxnSpPr>
        <p:spPr>
          <a:xfrm flipV="1">
            <a:off x="6096000" y="3204964"/>
            <a:ext cx="0" cy="3176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2007120-162D-6641-B7B0-DF39E5AE5850}"/>
              </a:ext>
            </a:extLst>
          </p:cNvPr>
          <p:cNvCxnSpPr/>
          <p:nvPr/>
        </p:nvCxnSpPr>
        <p:spPr>
          <a:xfrm>
            <a:off x="6096000" y="6400800"/>
            <a:ext cx="46044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672DF7-6F61-C341-8A0E-2F1917C07EEE}"/>
              </a:ext>
            </a:extLst>
          </p:cNvPr>
          <p:cNvCxnSpPr/>
          <p:nvPr/>
        </p:nvCxnSpPr>
        <p:spPr>
          <a:xfrm>
            <a:off x="6342434" y="5642043"/>
            <a:ext cx="14007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B8042DA-4B63-3943-99DE-6FAE20413917}"/>
              </a:ext>
            </a:extLst>
          </p:cNvPr>
          <p:cNvCxnSpPr/>
          <p:nvPr/>
        </p:nvCxnSpPr>
        <p:spPr>
          <a:xfrm>
            <a:off x="6358649" y="4666034"/>
            <a:ext cx="14007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5039985-CE78-2F47-92AA-E1FFF7B1C04C}"/>
              </a:ext>
            </a:extLst>
          </p:cNvPr>
          <p:cNvCxnSpPr/>
          <p:nvPr/>
        </p:nvCxnSpPr>
        <p:spPr>
          <a:xfrm>
            <a:off x="6342433" y="3696508"/>
            <a:ext cx="1400783"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C80E2ED-25A0-7C4B-BEE9-A0EBFACBC5B3}"/>
              </a:ext>
            </a:extLst>
          </p:cNvPr>
          <p:cNvSpPr txBox="1"/>
          <p:nvPr/>
        </p:nvSpPr>
        <p:spPr>
          <a:xfrm>
            <a:off x="8035047" y="5437813"/>
            <a:ext cx="2665379" cy="369332"/>
          </a:xfrm>
          <a:prstGeom prst="rect">
            <a:avLst/>
          </a:prstGeom>
          <a:noFill/>
        </p:spPr>
        <p:txBody>
          <a:bodyPr wrap="square" rtlCol="0">
            <a:spAutoFit/>
          </a:bodyPr>
          <a:lstStyle/>
          <a:p>
            <a:r>
              <a:rPr lang="en-CN" dirty="0"/>
              <a:t>(1)          1        1        1</a:t>
            </a:r>
          </a:p>
        </p:txBody>
      </p:sp>
      <p:sp>
        <p:nvSpPr>
          <p:cNvPr id="22" name="TextBox 21">
            <a:extLst>
              <a:ext uri="{FF2B5EF4-FFF2-40B4-BE49-F238E27FC236}">
                <a16:creationId xmlns:a16="http://schemas.microsoft.com/office/drawing/2014/main" id="{4FC55CF1-A521-9440-9B72-0800D771C79F}"/>
              </a:ext>
            </a:extLst>
          </p:cNvPr>
          <p:cNvSpPr txBox="1"/>
          <p:nvPr/>
        </p:nvSpPr>
        <p:spPr>
          <a:xfrm>
            <a:off x="8022080" y="4481368"/>
            <a:ext cx="2665379" cy="369332"/>
          </a:xfrm>
          <a:prstGeom prst="rect">
            <a:avLst/>
          </a:prstGeom>
          <a:noFill/>
        </p:spPr>
        <p:txBody>
          <a:bodyPr wrap="square" rtlCol="0">
            <a:spAutoFit/>
          </a:bodyPr>
          <a:lstStyle/>
          <a:p>
            <a:r>
              <a:rPr lang="en-CN" dirty="0"/>
              <a:t>(3)          2        1        1</a:t>
            </a:r>
          </a:p>
        </p:txBody>
      </p:sp>
      <p:sp>
        <p:nvSpPr>
          <p:cNvPr id="23" name="TextBox 22">
            <a:extLst>
              <a:ext uri="{FF2B5EF4-FFF2-40B4-BE49-F238E27FC236}">
                <a16:creationId xmlns:a16="http://schemas.microsoft.com/office/drawing/2014/main" id="{B0B60273-410B-BA4E-AD3A-98F26B127E7F}"/>
              </a:ext>
            </a:extLst>
          </p:cNvPr>
          <p:cNvSpPr txBox="1"/>
          <p:nvPr/>
        </p:nvSpPr>
        <p:spPr>
          <a:xfrm>
            <a:off x="7989648" y="3547992"/>
            <a:ext cx="2665379" cy="369332"/>
          </a:xfrm>
          <a:prstGeom prst="rect">
            <a:avLst/>
          </a:prstGeom>
          <a:noFill/>
        </p:spPr>
        <p:txBody>
          <a:bodyPr wrap="square" rtlCol="0">
            <a:spAutoFit/>
          </a:bodyPr>
          <a:lstStyle/>
          <a:p>
            <a:r>
              <a:rPr lang="en-CN" dirty="0"/>
              <a:t>(3)          2       2         1</a:t>
            </a:r>
          </a:p>
        </p:txBody>
      </p:sp>
    </p:spTree>
    <p:extLst>
      <p:ext uri="{BB962C8B-B14F-4D97-AF65-F5344CB8AC3E}">
        <p14:creationId xmlns:p14="http://schemas.microsoft.com/office/powerpoint/2010/main" val="31641991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AAFC942-DDDB-4646-A5C4-D34CC56446D1}"/>
              </a:ext>
            </a:extLst>
          </p:cNvPr>
          <p:cNvSpPr txBox="1"/>
          <p:nvPr/>
        </p:nvSpPr>
        <p:spPr>
          <a:xfrm>
            <a:off x="544749" y="369651"/>
            <a:ext cx="11128442" cy="830997"/>
          </a:xfrm>
          <a:prstGeom prst="rect">
            <a:avLst/>
          </a:prstGeom>
          <a:noFill/>
        </p:spPr>
        <p:txBody>
          <a:bodyPr wrap="square" rtlCol="0">
            <a:spAutoFit/>
          </a:bodyPr>
          <a:lstStyle/>
          <a:p>
            <a:r>
              <a:rPr lang="en-CN" sz="2400" dirty="0">
                <a:solidFill>
                  <a:srgbClr val="FF0000"/>
                </a:solidFill>
              </a:rPr>
              <a:t>Let the volume change take place sufficiently slowly that the system remains in the same quantum states through the compression.</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8D819AD-0B44-3E46-95A2-285E1F4D24EB}"/>
                  </a:ext>
                </a:extLst>
              </p:cNvPr>
              <p:cNvSpPr txBox="1"/>
              <p:nvPr/>
            </p:nvSpPr>
            <p:spPr>
              <a:xfrm>
                <a:off x="1634247" y="1200648"/>
                <a:ext cx="9221821" cy="9207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𝜀</m:t>
                          </m:r>
                        </m:e>
                        <m:sub>
                          <m:r>
                            <a:rPr lang="en-US" sz="2800" b="0" i="1" smtClean="0">
                              <a:latin typeface="Cambria Math" panose="02040503050406030204" pitchFamily="18" charset="0"/>
                            </a:rPr>
                            <m:t>𝑠</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𝑉</m:t>
                          </m:r>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𝑉</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𝜀</m:t>
                          </m:r>
                        </m:e>
                        <m:sub>
                          <m:r>
                            <a:rPr lang="en-US" sz="2800" b="0" i="1" smtClean="0">
                              <a:latin typeface="Cambria Math" panose="02040503050406030204" pitchFamily="18" charset="0"/>
                            </a:rPr>
                            <m:t>𝑠</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𝑉</m:t>
                          </m:r>
                        </m:e>
                      </m:d>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𝜀</m:t>
                                  </m:r>
                                </m:e>
                                <m:sub>
                                  <m:r>
                                    <a:rPr lang="en-US" sz="2800" b="0" i="1" smtClean="0">
                                      <a:latin typeface="Cambria Math" panose="02040503050406030204" pitchFamily="18" charset="0"/>
                                      <a:ea typeface="Cambria Math" panose="02040503050406030204" pitchFamily="18" charset="0"/>
                                    </a:rPr>
                                    <m:t>𝑠</m:t>
                                  </m:r>
                                </m:sub>
                              </m:sSub>
                            </m:num>
                            <m:den>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𝑉</m:t>
                              </m:r>
                            </m:den>
                          </m:f>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𝑉</m:t>
                      </m:r>
                      <m:r>
                        <a:rPr lang="en-US" sz="2800" b="0" i="1" smtClean="0">
                          <a:latin typeface="Cambria Math" panose="02040503050406030204" pitchFamily="18" charset="0"/>
                          <a:ea typeface="Cambria Math" panose="02040503050406030204" pitchFamily="18" charset="0"/>
                        </a:rPr>
                        <m:t>+…</m:t>
                      </m:r>
                    </m:oMath>
                  </m:oMathPara>
                </a14:m>
                <a:endParaRPr lang="en-CN" sz="2800" dirty="0"/>
              </a:p>
            </p:txBody>
          </p:sp>
        </mc:Choice>
        <mc:Fallback xmlns="">
          <p:sp>
            <p:nvSpPr>
              <p:cNvPr id="11" name="TextBox 10">
                <a:extLst>
                  <a:ext uri="{FF2B5EF4-FFF2-40B4-BE49-F238E27FC236}">
                    <a16:creationId xmlns:a16="http://schemas.microsoft.com/office/drawing/2014/main" id="{98D819AD-0B44-3E46-95A2-285E1F4D24EB}"/>
                  </a:ext>
                </a:extLst>
              </p:cNvPr>
              <p:cNvSpPr txBox="1">
                <a:spLocks noRot="1" noChangeAspect="1" noMove="1" noResize="1" noEditPoints="1" noAdjustHandles="1" noChangeArrowheads="1" noChangeShapeType="1" noTextEdit="1"/>
              </p:cNvSpPr>
              <p:nvPr/>
            </p:nvSpPr>
            <p:spPr>
              <a:xfrm>
                <a:off x="1634247" y="1200648"/>
                <a:ext cx="9221821" cy="920701"/>
              </a:xfrm>
              <a:prstGeom prst="rect">
                <a:avLst/>
              </a:prstGeom>
              <a:blipFill>
                <a:blip r:embed="rId2"/>
                <a:stretch>
                  <a:fillRect b="-5405"/>
                </a:stretch>
              </a:blipFill>
            </p:spPr>
            <p:txBody>
              <a:bodyPr/>
              <a:lstStyle/>
              <a:p>
                <a:r>
                  <a:rPr lang="en-CN">
                    <a:noFill/>
                  </a:rPr>
                  <a:t> </a:t>
                </a:r>
              </a:p>
            </p:txBody>
          </p:sp>
        </mc:Fallback>
      </mc:AlternateContent>
      <p:pic>
        <p:nvPicPr>
          <p:cNvPr id="12" name="Picture 11">
            <a:extLst>
              <a:ext uri="{FF2B5EF4-FFF2-40B4-BE49-F238E27FC236}">
                <a16:creationId xmlns:a16="http://schemas.microsoft.com/office/drawing/2014/main" id="{4525A75E-A2E3-BF47-9587-DC85D53C0A60}"/>
              </a:ext>
            </a:extLst>
          </p:cNvPr>
          <p:cNvPicPr>
            <a:picLocks noChangeAspect="1"/>
          </p:cNvPicPr>
          <p:nvPr/>
        </p:nvPicPr>
        <p:blipFill>
          <a:blip r:embed="rId3"/>
          <a:stretch>
            <a:fillRect/>
          </a:stretch>
        </p:blipFill>
        <p:spPr>
          <a:xfrm>
            <a:off x="2970179" y="2152181"/>
            <a:ext cx="6822332" cy="2553637"/>
          </a:xfrm>
          <a:prstGeom prst="rect">
            <a:avLst/>
          </a:prstGeom>
        </p:spPr>
      </p:pic>
      <p:sp>
        <p:nvSpPr>
          <p:cNvPr id="13" name="TextBox 12">
            <a:extLst>
              <a:ext uri="{FF2B5EF4-FFF2-40B4-BE49-F238E27FC236}">
                <a16:creationId xmlns:a16="http://schemas.microsoft.com/office/drawing/2014/main" id="{9AAFC404-112C-1148-8C20-9B64794EA5E4}"/>
              </a:ext>
            </a:extLst>
          </p:cNvPr>
          <p:cNvSpPr txBox="1"/>
          <p:nvPr/>
        </p:nvSpPr>
        <p:spPr>
          <a:xfrm>
            <a:off x="729574" y="2952346"/>
            <a:ext cx="1809345" cy="646331"/>
          </a:xfrm>
          <a:prstGeom prst="rect">
            <a:avLst/>
          </a:prstGeom>
          <a:noFill/>
        </p:spPr>
        <p:txBody>
          <a:bodyPr wrap="square" rtlCol="0">
            <a:spAutoFit/>
          </a:bodyPr>
          <a:lstStyle/>
          <a:p>
            <a:r>
              <a:rPr lang="en-CN" dirty="0"/>
              <a:t>排序不变</a:t>
            </a:r>
          </a:p>
          <a:p>
            <a:r>
              <a:rPr lang="en-CN" dirty="0"/>
              <a:t>熵不变</a:t>
            </a:r>
          </a:p>
        </p:txBody>
      </p:sp>
      <p:sp>
        <p:nvSpPr>
          <p:cNvPr id="15" name="TextBox 14">
            <a:extLst>
              <a:ext uri="{FF2B5EF4-FFF2-40B4-BE49-F238E27FC236}">
                <a16:creationId xmlns:a16="http://schemas.microsoft.com/office/drawing/2014/main" id="{28F71AB8-4B09-904B-87AF-FA62958D901E}"/>
              </a:ext>
            </a:extLst>
          </p:cNvPr>
          <p:cNvSpPr txBox="1"/>
          <p:nvPr/>
        </p:nvSpPr>
        <p:spPr>
          <a:xfrm>
            <a:off x="10223771" y="2952345"/>
            <a:ext cx="1809345" cy="646331"/>
          </a:xfrm>
          <a:prstGeom prst="rect">
            <a:avLst/>
          </a:prstGeom>
          <a:noFill/>
        </p:spPr>
        <p:txBody>
          <a:bodyPr wrap="square" rtlCol="0">
            <a:spAutoFit/>
          </a:bodyPr>
          <a:lstStyle/>
          <a:p>
            <a:r>
              <a:rPr lang="en-CN" dirty="0"/>
              <a:t>排序变</a:t>
            </a:r>
          </a:p>
          <a:p>
            <a:r>
              <a:rPr lang="en-CN" dirty="0"/>
              <a:t>熵变</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C570633-A517-CE4E-A417-1063EFDA56B1}"/>
                  </a:ext>
                </a:extLst>
              </p:cNvPr>
              <p:cNvSpPr txBox="1"/>
              <p:nvPr/>
            </p:nvSpPr>
            <p:spPr>
              <a:xfrm>
                <a:off x="1770434" y="4860816"/>
                <a:ext cx="9221821" cy="9791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𝜀</m:t>
                          </m:r>
                        </m:e>
                        <m:sub>
                          <m:r>
                            <a:rPr lang="en-US" sz="2800" b="0" i="1" smtClean="0">
                              <a:latin typeface="Cambria Math" panose="02040503050406030204" pitchFamily="18" charset="0"/>
                            </a:rPr>
                            <m:t>𝑠</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𝑉</m:t>
                          </m:r>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𝑉</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𝜀</m:t>
                          </m:r>
                        </m:e>
                        <m:sub>
                          <m:r>
                            <a:rPr lang="en-US" sz="2800" b="0" i="1" smtClean="0">
                              <a:latin typeface="Cambria Math" panose="02040503050406030204" pitchFamily="18" charset="0"/>
                            </a:rPr>
                            <m:t>𝑠</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𝑉</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𝜀</m:t>
                                      </m:r>
                                    </m:e>
                                    <m:sub>
                                      <m:r>
                                        <a:rPr lang="en-US" sz="2800" i="1">
                                          <a:latin typeface="Cambria Math" panose="02040503050406030204" pitchFamily="18" charset="0"/>
                                          <a:ea typeface="Cambria Math" panose="02040503050406030204" pitchFamily="18" charset="0"/>
                                        </a:rPr>
                                        <m:t>𝑠</m:t>
                                      </m:r>
                                    </m:sub>
                                  </m:sSub>
                                </m:num>
                                <m:den>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𝑉</m:t>
                                  </m:r>
                                </m:den>
                              </m:f>
                            </m:e>
                          </m:d>
                        </m:e>
                        <m:sub>
                          <m:r>
                            <a:rPr lang="en-US" sz="2800" b="0" i="1" smtClean="0">
                              <a:solidFill>
                                <a:srgbClr val="FF0000"/>
                              </a:solidFill>
                              <a:latin typeface="Cambria Math" panose="02040503050406030204" pitchFamily="18" charset="0"/>
                              <a:ea typeface="Cambria Math" panose="02040503050406030204" pitchFamily="18" charset="0"/>
                            </a:rPr>
                            <m:t>𝜎</m:t>
                          </m:r>
                        </m:sub>
                      </m:sSub>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𝑉</m:t>
                      </m:r>
                      <m:r>
                        <a:rPr lang="en-US" sz="2800" b="0" i="1" smtClean="0">
                          <a:latin typeface="Cambria Math" panose="02040503050406030204" pitchFamily="18" charset="0"/>
                          <a:ea typeface="Cambria Math" panose="02040503050406030204" pitchFamily="18" charset="0"/>
                        </a:rPr>
                        <m:t>+…</m:t>
                      </m:r>
                    </m:oMath>
                  </m:oMathPara>
                </a14:m>
                <a:endParaRPr lang="en-CN" sz="2800" dirty="0"/>
              </a:p>
            </p:txBody>
          </p:sp>
        </mc:Choice>
        <mc:Fallback xmlns="">
          <p:sp>
            <p:nvSpPr>
              <p:cNvPr id="16" name="TextBox 15">
                <a:extLst>
                  <a:ext uri="{FF2B5EF4-FFF2-40B4-BE49-F238E27FC236}">
                    <a16:creationId xmlns:a16="http://schemas.microsoft.com/office/drawing/2014/main" id="{3C570633-A517-CE4E-A417-1063EFDA56B1}"/>
                  </a:ext>
                </a:extLst>
              </p:cNvPr>
              <p:cNvSpPr txBox="1">
                <a:spLocks noRot="1" noChangeAspect="1" noMove="1" noResize="1" noEditPoints="1" noAdjustHandles="1" noChangeArrowheads="1" noChangeShapeType="1" noTextEdit="1"/>
              </p:cNvSpPr>
              <p:nvPr/>
            </p:nvSpPr>
            <p:spPr>
              <a:xfrm>
                <a:off x="1770434" y="4860816"/>
                <a:ext cx="9221821" cy="979114"/>
              </a:xfrm>
              <a:prstGeom prst="rect">
                <a:avLst/>
              </a:prstGeom>
              <a:blipFill>
                <a:blip r:embed="rId4"/>
                <a:stretch>
                  <a:fillRect b="-1282"/>
                </a:stretch>
              </a:blipFill>
            </p:spPr>
            <p:txBody>
              <a:bodyPr/>
              <a:lstStyle/>
              <a:p>
                <a:r>
                  <a:rPr lang="en-CN">
                    <a:noFill/>
                  </a:rPr>
                  <a:t> </a:t>
                </a:r>
              </a:p>
            </p:txBody>
          </p:sp>
        </mc:Fallback>
      </mc:AlternateContent>
      <p:sp>
        <p:nvSpPr>
          <p:cNvPr id="17" name="Down Arrow 16">
            <a:extLst>
              <a:ext uri="{FF2B5EF4-FFF2-40B4-BE49-F238E27FC236}">
                <a16:creationId xmlns:a16="http://schemas.microsoft.com/office/drawing/2014/main" id="{A11C017A-067E-0C47-AD17-30D38D57BD91}"/>
              </a:ext>
            </a:extLst>
          </p:cNvPr>
          <p:cNvSpPr/>
          <p:nvPr/>
        </p:nvSpPr>
        <p:spPr>
          <a:xfrm>
            <a:off x="6096000" y="2047290"/>
            <a:ext cx="499353" cy="28554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TextBox 17">
            <a:extLst>
              <a:ext uri="{FF2B5EF4-FFF2-40B4-BE49-F238E27FC236}">
                <a16:creationId xmlns:a16="http://schemas.microsoft.com/office/drawing/2014/main" id="{3611461E-45E3-B24E-8460-8714CB6F6C01}"/>
              </a:ext>
            </a:extLst>
          </p:cNvPr>
          <p:cNvSpPr txBox="1"/>
          <p:nvPr/>
        </p:nvSpPr>
        <p:spPr>
          <a:xfrm>
            <a:off x="8754894" y="6011694"/>
            <a:ext cx="2918297" cy="584775"/>
          </a:xfrm>
          <a:prstGeom prst="rect">
            <a:avLst/>
          </a:prstGeom>
          <a:noFill/>
        </p:spPr>
        <p:txBody>
          <a:bodyPr wrap="square" rtlCol="0">
            <a:spAutoFit/>
          </a:bodyPr>
          <a:lstStyle/>
          <a:p>
            <a:r>
              <a:rPr lang="en-CN" sz="3200" dirty="0">
                <a:solidFill>
                  <a:srgbClr val="FF0000"/>
                </a:solidFill>
              </a:rPr>
              <a:t>缓慢压缩</a:t>
            </a:r>
            <a:r>
              <a:rPr lang="zh-CN" altLang="en-US" sz="3200" dirty="0">
                <a:solidFill>
                  <a:srgbClr val="FF0000"/>
                </a:solidFill>
              </a:rPr>
              <a:t>！！！</a:t>
            </a:r>
            <a:endParaRPr lang="en-CN" sz="3200" dirty="0">
              <a:solidFill>
                <a:srgbClr val="FF0000"/>
              </a:solidFill>
            </a:endParaRPr>
          </a:p>
        </p:txBody>
      </p:sp>
    </p:spTree>
    <p:extLst>
      <p:ext uri="{BB962C8B-B14F-4D97-AF65-F5344CB8AC3E}">
        <p14:creationId xmlns:p14="http://schemas.microsoft.com/office/powerpoint/2010/main" val="15120861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7A4BF-3AFC-4942-81D5-A8E5E32508CC}"/>
              </a:ext>
            </a:extLst>
          </p:cNvPr>
          <p:cNvSpPr txBox="1"/>
          <p:nvPr/>
        </p:nvSpPr>
        <p:spPr>
          <a:xfrm>
            <a:off x="564204" y="291830"/>
            <a:ext cx="5038928" cy="369332"/>
          </a:xfrm>
          <a:prstGeom prst="rect">
            <a:avLst/>
          </a:prstGeom>
          <a:noFill/>
        </p:spPr>
        <p:txBody>
          <a:bodyPr wrap="square" rtlCol="0">
            <a:spAutoFit/>
          </a:bodyPr>
          <a:lstStyle/>
          <a:p>
            <a:r>
              <a:rPr lang="en-CN" dirty="0"/>
              <a:t>考虑平均值</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42FC985-BCB8-374C-856A-3992E08ACADC}"/>
                  </a:ext>
                </a:extLst>
              </p:cNvPr>
              <p:cNvSpPr txBox="1"/>
              <p:nvPr/>
            </p:nvSpPr>
            <p:spPr>
              <a:xfrm>
                <a:off x="797668" y="661162"/>
                <a:ext cx="11225719" cy="283109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3200" b="0" i="1" smtClean="0">
                          <a:latin typeface="Cambria Math" panose="02040503050406030204" pitchFamily="18" charset="0"/>
                        </a:rPr>
                        <m:t>𝑈</m:t>
                      </m:r>
                      <m:r>
                        <a:rPr lang="en-US" sz="3200" b="0" i="1" smtClean="0">
                          <a:latin typeface="Cambria Math" panose="02040503050406030204" pitchFamily="18" charset="0"/>
                        </a:rPr>
                        <m:t>(</m:t>
                      </m:r>
                      <m:r>
                        <a:rPr lang="en-US" sz="3200" b="0" i="1" smtClean="0">
                          <a:latin typeface="Cambria Math" panose="02040503050406030204" pitchFamily="18" charset="0"/>
                        </a:rPr>
                        <m:t>𝑉</m:t>
                      </m:r>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𝑉</m:t>
                      </m:r>
                      <m:r>
                        <a:rPr lang="en-US" sz="3200" b="0" i="1" smtClean="0">
                          <a:latin typeface="Cambria Math" panose="02040503050406030204" pitchFamily="18" charset="0"/>
                        </a:rPr>
                        <m:t>)=</m:t>
                      </m:r>
                      <m:nary>
                        <m:naryPr>
                          <m:chr m:val="∑"/>
                          <m:supHide m:val="on"/>
                          <m:ctrlPr>
                            <a:rPr lang="en-US" sz="3200" b="0" i="1" smtClean="0">
                              <a:latin typeface="Cambria Math" panose="02040503050406030204" pitchFamily="18" charset="0"/>
                            </a:rPr>
                          </m:ctrlPr>
                        </m:naryPr>
                        <m:sub>
                          <m:r>
                            <m:rPr>
                              <m:brk m:alnAt="7"/>
                            </m:rPr>
                            <a:rPr lang="en-US" sz="3200" b="0" i="1" smtClean="0">
                              <a:latin typeface="Cambria Math" panose="02040503050406030204" pitchFamily="18" charset="0"/>
                            </a:rPr>
                            <m:t>𝑠</m:t>
                          </m:r>
                        </m:sub>
                        <m:sup/>
                        <m:e>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𝑠</m:t>
                              </m:r>
                            </m:e>
                          </m:d>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rPr>
                                <m:t>𝑠</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𝑉</m:t>
                              </m:r>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𝑉</m:t>
                              </m:r>
                            </m:e>
                          </m:d>
                        </m:e>
                      </m:nary>
                    </m:oMath>
                  </m:oMathPara>
                </a14:m>
                <a:endParaRPr lang="en-CN" sz="3200" dirty="0"/>
              </a:p>
              <a:p>
                <a:r>
                  <a:rPr lang="en-US" sz="3200" dirty="0"/>
                  <a:t>                      </a:t>
                </a:r>
                <a14:m>
                  <m:oMath xmlns:m="http://schemas.openxmlformats.org/officeDocument/2006/math">
                    <m:r>
                      <a:rPr lang="en-US" sz="3200" b="0" i="1" smtClean="0">
                        <a:latin typeface="Cambria Math" panose="02040503050406030204" pitchFamily="18" charset="0"/>
                      </a:rPr>
                      <m:t>=</m:t>
                    </m:r>
                    <m:nary>
                      <m:naryPr>
                        <m:chr m:val="∑"/>
                        <m:supHide m:val="on"/>
                        <m:ctrlPr>
                          <a:rPr lang="en-US" sz="3200" i="1">
                            <a:latin typeface="Cambria Math" panose="02040503050406030204" pitchFamily="18" charset="0"/>
                          </a:rPr>
                        </m:ctrlPr>
                      </m:naryPr>
                      <m:sub>
                        <m:r>
                          <m:rPr>
                            <m:brk m:alnAt="7"/>
                          </m:rPr>
                          <a:rPr lang="en-US" sz="3200" i="1">
                            <a:latin typeface="Cambria Math" panose="02040503050406030204" pitchFamily="18" charset="0"/>
                          </a:rPr>
                          <m:t>𝑠</m:t>
                        </m:r>
                      </m:sub>
                      <m:sup/>
                      <m:e>
                        <m:r>
                          <a:rPr lang="en-US" sz="3200" i="1">
                            <a:latin typeface="Cambria Math" panose="02040503050406030204" pitchFamily="18" charset="0"/>
                          </a:rPr>
                          <m:t>𝑃</m:t>
                        </m:r>
                        <m:d>
                          <m:dPr>
                            <m:ctrlPr>
                              <a:rPr lang="en-US" sz="3200" i="1">
                                <a:latin typeface="Cambria Math" panose="02040503050406030204" pitchFamily="18" charset="0"/>
                              </a:rPr>
                            </m:ctrlPr>
                          </m:dPr>
                          <m:e>
                            <m:r>
                              <a:rPr lang="en-US" sz="3200" i="1">
                                <a:latin typeface="Cambria Math" panose="02040503050406030204" pitchFamily="18" charset="0"/>
                              </a:rPr>
                              <m:t>𝑠</m:t>
                            </m:r>
                          </m:e>
                        </m:d>
                        <m:sSub>
                          <m:sSubPr>
                            <m:ctrlPr>
                              <a:rPr lang="en-US" sz="3200" i="1">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𝜀</m:t>
                            </m:r>
                          </m:e>
                          <m:sub>
                            <m:r>
                              <a:rPr lang="en-US" sz="3200" i="1">
                                <a:latin typeface="Cambria Math" panose="02040503050406030204" pitchFamily="18" charset="0"/>
                              </a:rPr>
                              <m:t>𝑠</m:t>
                            </m:r>
                          </m:sub>
                        </m:sSub>
                        <m:d>
                          <m:dPr>
                            <m:ctrlPr>
                              <a:rPr lang="en-US" sz="3200" i="1">
                                <a:latin typeface="Cambria Math" panose="02040503050406030204" pitchFamily="18" charset="0"/>
                              </a:rPr>
                            </m:ctrlPr>
                          </m:dPr>
                          <m:e>
                            <m:r>
                              <a:rPr lang="en-US" sz="3200" i="1">
                                <a:latin typeface="Cambria Math" panose="02040503050406030204" pitchFamily="18" charset="0"/>
                              </a:rPr>
                              <m:t>𝑉</m:t>
                            </m:r>
                          </m:e>
                        </m:d>
                      </m:e>
                    </m:nary>
                    <m:r>
                      <a:rPr lang="en-US" sz="3200" b="0" i="1" smtClean="0">
                        <a:latin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d>
                          <m:dPr>
                            <m:ctrlPr>
                              <a:rPr lang="en-US" sz="3200" i="1">
                                <a:latin typeface="Cambria Math" panose="02040503050406030204" pitchFamily="18" charset="0"/>
                              </a:rPr>
                            </m:ctrlPr>
                          </m:dPr>
                          <m:e>
                            <m:nary>
                              <m:naryPr>
                                <m:chr m:val="∑"/>
                                <m:supHide m:val="on"/>
                                <m:ctrlPr>
                                  <a:rPr lang="en-US" sz="3200" i="1">
                                    <a:latin typeface="Cambria Math" panose="02040503050406030204" pitchFamily="18" charset="0"/>
                                  </a:rPr>
                                </m:ctrlPr>
                              </m:naryPr>
                              <m:sub>
                                <m:r>
                                  <m:rPr>
                                    <m:brk m:alnAt="7"/>
                                  </m:rPr>
                                  <a:rPr lang="en-US" sz="3200" i="1">
                                    <a:latin typeface="Cambria Math" panose="02040503050406030204" pitchFamily="18" charset="0"/>
                                  </a:rPr>
                                  <m:t>𝑠</m:t>
                                </m:r>
                              </m:sub>
                              <m:sup/>
                              <m:e>
                                <m:r>
                                  <a:rPr lang="en-US" sz="3200" i="1">
                                    <a:solidFill>
                                      <a:srgbClr val="FF0000"/>
                                    </a:solidFill>
                                    <a:latin typeface="Cambria Math" panose="02040503050406030204" pitchFamily="18" charset="0"/>
                                  </a:rPr>
                                  <m:t>𝑃</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𝑠</m:t>
                                    </m:r>
                                  </m:e>
                                </m:d>
                                <m:sSub>
                                  <m:sSubPr>
                                    <m:ctrlPr>
                                      <a:rPr lang="en-US" sz="3200" i="1">
                                        <a:latin typeface="Cambria Math" panose="02040503050406030204" pitchFamily="18" charset="0"/>
                                      </a:rPr>
                                    </m:ctrlPr>
                                  </m:sSubPr>
                                  <m:e>
                                    <m:f>
                                      <m:fPr>
                                        <m:ctrlPr>
                                          <a:rPr lang="en-US" sz="3200" i="1">
                                            <a:latin typeface="Cambria Math" panose="02040503050406030204" pitchFamily="18" charset="0"/>
                                          </a:rPr>
                                        </m:ctrlPr>
                                      </m:fPr>
                                      <m:num>
                                        <m:r>
                                          <a:rPr lang="en-US" sz="3200" i="1">
                                            <a:latin typeface="Cambria Math" panose="02040503050406030204" pitchFamily="18" charset="0"/>
                                          </a:rPr>
                                          <m:t>𝑑</m:t>
                                        </m:r>
                                      </m:num>
                                      <m:den>
                                        <m:r>
                                          <a:rPr lang="en-US" sz="3200" i="1">
                                            <a:latin typeface="Cambria Math" panose="02040503050406030204" pitchFamily="18" charset="0"/>
                                          </a:rPr>
                                          <m:t>𝑑𝑉</m:t>
                                        </m:r>
                                      </m:den>
                                    </m:f>
                                    <m:r>
                                      <a:rPr lang="en-US" sz="3200" i="1">
                                        <a:latin typeface="Cambria Math" panose="02040503050406030204" pitchFamily="18" charset="0"/>
                                        <a:ea typeface="Cambria Math" panose="02040503050406030204" pitchFamily="18" charset="0"/>
                                      </a:rPr>
                                      <m:t>𝜀</m:t>
                                    </m:r>
                                  </m:e>
                                  <m:sub>
                                    <m:r>
                                      <a:rPr lang="en-US" sz="3200" i="1">
                                        <a:latin typeface="Cambria Math" panose="02040503050406030204" pitchFamily="18" charset="0"/>
                                      </a:rPr>
                                      <m:t>𝑠</m:t>
                                    </m:r>
                                  </m:sub>
                                </m:sSub>
                                <m:d>
                                  <m:dPr>
                                    <m:ctrlPr>
                                      <a:rPr lang="en-US" sz="3200" i="1">
                                        <a:latin typeface="Cambria Math" panose="02040503050406030204" pitchFamily="18" charset="0"/>
                                      </a:rPr>
                                    </m:ctrlPr>
                                  </m:dPr>
                                  <m:e>
                                    <m:r>
                                      <a:rPr lang="en-US" sz="3200" i="1">
                                        <a:latin typeface="Cambria Math" panose="02040503050406030204" pitchFamily="18" charset="0"/>
                                      </a:rPr>
                                      <m:t>𝑉</m:t>
                                    </m:r>
                                  </m:e>
                                </m:d>
                              </m:e>
                            </m:nary>
                          </m:e>
                        </m:d>
                      </m:e>
                      <m:sub>
                        <m:r>
                          <a:rPr lang="en-US" sz="3200" b="0" i="1" smtClean="0">
                            <a:latin typeface="Cambria Math" panose="02040503050406030204" pitchFamily="18" charset="0"/>
                            <a:ea typeface="Cambria Math" panose="02040503050406030204" pitchFamily="18" charset="0"/>
                          </a:rPr>
                          <m:t>𝜎</m:t>
                        </m:r>
                      </m:sub>
                    </m:sSub>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𝑉</m:t>
                    </m:r>
                  </m:oMath>
                </a14:m>
                <a:endParaRPr lang="en-US" sz="3200" b="0" dirty="0">
                  <a:ea typeface="Cambria Math" panose="02040503050406030204" pitchFamily="18" charset="0"/>
                </a:endParaRPr>
              </a:p>
              <a:p>
                <a:r>
                  <a:rPr lang="en-CN" sz="3200" dirty="0"/>
                  <a:t>                      </a:t>
                </a:r>
                <a14:m>
                  <m:oMath xmlns:m="http://schemas.openxmlformats.org/officeDocument/2006/math">
                    <m:r>
                      <a:rPr lang="en-US" sz="3200" b="0" i="1" smtClean="0">
                        <a:latin typeface="Cambria Math" panose="02040503050406030204" pitchFamily="18" charset="0"/>
                      </a:rPr>
                      <m:t>=</m:t>
                    </m:r>
                    <m:r>
                      <a:rPr lang="en-US" sz="3200" b="0" i="1" smtClean="0">
                        <a:latin typeface="Cambria Math" panose="02040503050406030204" pitchFamily="18" charset="0"/>
                      </a:rPr>
                      <m:t>𝑈</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𝑉</m:t>
                        </m:r>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m:t>
                        </m:r>
                      </m:num>
                      <m:den>
                        <m:r>
                          <a:rPr lang="en-US" sz="3200" b="0" i="1" smtClean="0">
                            <a:latin typeface="Cambria Math" panose="02040503050406030204" pitchFamily="18" charset="0"/>
                          </a:rPr>
                          <m:t>𝑑𝑉</m:t>
                        </m:r>
                      </m:den>
                    </m:f>
                  </m:oMath>
                </a14:m>
                <a:r>
                  <a:rPr lang="en-US" sz="3200" dirty="0"/>
                  <a:t> </a:t>
                </a:r>
                <a14:m>
                  <m:oMath xmlns:m="http://schemas.openxmlformats.org/officeDocument/2006/math">
                    <m:d>
                      <m:dPr>
                        <m:ctrlPr>
                          <a:rPr lang="en-US" sz="3200" i="1">
                            <a:latin typeface="Cambria Math" panose="02040503050406030204" pitchFamily="18" charset="0"/>
                          </a:rPr>
                        </m:ctrlPr>
                      </m:dPr>
                      <m:e>
                        <m:nary>
                          <m:naryPr>
                            <m:chr m:val="∑"/>
                            <m:supHide m:val="on"/>
                            <m:ctrlPr>
                              <a:rPr lang="en-US" sz="3200" i="1">
                                <a:latin typeface="Cambria Math" panose="02040503050406030204" pitchFamily="18" charset="0"/>
                              </a:rPr>
                            </m:ctrlPr>
                          </m:naryPr>
                          <m:sub>
                            <m:r>
                              <m:rPr>
                                <m:brk m:alnAt="7"/>
                              </m:rPr>
                              <a:rPr lang="en-US" sz="3200" i="1">
                                <a:latin typeface="Cambria Math" panose="02040503050406030204" pitchFamily="18" charset="0"/>
                              </a:rPr>
                              <m:t>𝑠</m:t>
                            </m:r>
                          </m:sub>
                          <m:sup/>
                          <m:e>
                            <m:r>
                              <a:rPr lang="en-US" sz="3200" i="1">
                                <a:solidFill>
                                  <a:srgbClr val="FF0000"/>
                                </a:solidFill>
                                <a:latin typeface="Cambria Math" panose="02040503050406030204" pitchFamily="18" charset="0"/>
                              </a:rPr>
                              <m:t>𝑃</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𝑠</m:t>
                                </m:r>
                              </m:e>
                            </m:d>
                            <m:sSub>
                              <m:sSubPr>
                                <m:ctrlPr>
                                  <a:rPr lang="en-US" sz="3200" i="1">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𝜀</m:t>
                                </m:r>
                              </m:e>
                              <m:sub>
                                <m:r>
                                  <a:rPr lang="en-US" sz="3200" i="1">
                                    <a:latin typeface="Cambria Math" panose="02040503050406030204" pitchFamily="18" charset="0"/>
                                  </a:rPr>
                                  <m:t>𝑠</m:t>
                                </m:r>
                              </m:sub>
                            </m:sSub>
                            <m:d>
                              <m:dPr>
                                <m:ctrlPr>
                                  <a:rPr lang="en-US" sz="3200" i="1">
                                    <a:latin typeface="Cambria Math" panose="02040503050406030204" pitchFamily="18" charset="0"/>
                                  </a:rPr>
                                </m:ctrlPr>
                              </m:dPr>
                              <m:e>
                                <m:r>
                                  <a:rPr lang="en-US" sz="3200" i="1">
                                    <a:latin typeface="Cambria Math" panose="02040503050406030204" pitchFamily="18" charset="0"/>
                                  </a:rPr>
                                  <m:t>𝑉</m:t>
                                </m:r>
                              </m:e>
                            </m:d>
                          </m:e>
                        </m:nary>
                      </m:e>
                    </m:d>
                    <m:r>
                      <a:rPr lang="en-US"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𝑉</m:t>
                    </m:r>
                  </m:oMath>
                </a14:m>
                <a:endParaRPr lang="en-CN" sz="3200" dirty="0"/>
              </a:p>
            </p:txBody>
          </p:sp>
        </mc:Choice>
        <mc:Fallback xmlns="">
          <p:sp>
            <p:nvSpPr>
              <p:cNvPr id="3" name="TextBox 2">
                <a:extLst>
                  <a:ext uri="{FF2B5EF4-FFF2-40B4-BE49-F238E27FC236}">
                    <a16:creationId xmlns:a16="http://schemas.microsoft.com/office/drawing/2014/main" id="{942FC985-BCB8-374C-856A-3992E08ACADC}"/>
                  </a:ext>
                </a:extLst>
              </p:cNvPr>
              <p:cNvSpPr txBox="1">
                <a:spLocks noRot="1" noChangeAspect="1" noMove="1" noResize="1" noEditPoints="1" noAdjustHandles="1" noChangeArrowheads="1" noChangeShapeType="1" noTextEdit="1"/>
              </p:cNvSpPr>
              <p:nvPr/>
            </p:nvSpPr>
            <p:spPr>
              <a:xfrm>
                <a:off x="797668" y="661162"/>
                <a:ext cx="11225719" cy="2831096"/>
              </a:xfrm>
              <a:prstGeom prst="rect">
                <a:avLst/>
              </a:prstGeom>
              <a:blipFill>
                <a:blip r:embed="rId2"/>
                <a:stretch>
                  <a:fillRect l="-339" t="-60444" b="-36889"/>
                </a:stretch>
              </a:blipFill>
            </p:spPr>
            <p:txBody>
              <a:bodyPr/>
              <a:lstStyle/>
              <a:p>
                <a:r>
                  <a:rPr lang="en-CN">
                    <a:noFill/>
                  </a:rPr>
                  <a:t> </a:t>
                </a:r>
              </a:p>
            </p:txBody>
          </p:sp>
        </mc:Fallback>
      </mc:AlternateContent>
      <p:sp>
        <p:nvSpPr>
          <p:cNvPr id="4" name="Right Arrow 3">
            <a:extLst>
              <a:ext uri="{FF2B5EF4-FFF2-40B4-BE49-F238E27FC236}">
                <a16:creationId xmlns:a16="http://schemas.microsoft.com/office/drawing/2014/main" id="{2CC139F7-DD16-1E4C-84D2-C2087E45ADA5}"/>
              </a:ext>
            </a:extLst>
          </p:cNvPr>
          <p:cNvSpPr/>
          <p:nvPr/>
        </p:nvSpPr>
        <p:spPr>
          <a:xfrm>
            <a:off x="564204" y="3735421"/>
            <a:ext cx="1789890" cy="4474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DCCD7B9-7159-394A-8B5C-DDC72D6507E9}"/>
                  </a:ext>
                </a:extLst>
              </p:cNvPr>
              <p:cNvSpPr txBox="1"/>
              <p:nvPr/>
            </p:nvSpPr>
            <p:spPr>
              <a:xfrm>
                <a:off x="2626468" y="4572000"/>
                <a:ext cx="7431932" cy="13592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rPr>
                        <m:t>𝑃</m:t>
                      </m:r>
                      <m:r>
                        <a:rPr lang="en-US" sz="4000" b="0" i="1" smtClean="0">
                          <a:solidFill>
                            <a:srgbClr val="FF0000"/>
                          </a:solidFill>
                          <a:latin typeface="Cambria Math" panose="02040503050406030204" pitchFamily="18" charset="0"/>
                        </a:rPr>
                        <m:t>=−</m:t>
                      </m:r>
                      <m:sSub>
                        <m:sSubPr>
                          <m:ctrlPr>
                            <a:rPr lang="en-US" sz="4000" b="0" i="1" smtClean="0">
                              <a:solidFill>
                                <a:srgbClr val="FF0000"/>
                              </a:solidFill>
                              <a:latin typeface="Cambria Math" panose="02040503050406030204" pitchFamily="18" charset="0"/>
                            </a:rPr>
                          </m:ctrlPr>
                        </m:sSubPr>
                        <m:e>
                          <m:d>
                            <m:dPr>
                              <m:ctrlPr>
                                <a:rPr lang="en-US" sz="4000" b="0" i="1" smtClean="0">
                                  <a:solidFill>
                                    <a:srgbClr val="FF0000"/>
                                  </a:solidFill>
                                  <a:latin typeface="Cambria Math" panose="02040503050406030204" pitchFamily="18" charset="0"/>
                                </a:rPr>
                              </m:ctrlPr>
                            </m:dPr>
                            <m:e>
                              <m:f>
                                <m:fPr>
                                  <m:ctrlPr>
                                    <a:rPr lang="en-US" sz="4000" b="0" i="1" smtClean="0">
                                      <a:solidFill>
                                        <a:srgbClr val="FF0000"/>
                                      </a:solidFill>
                                      <a:latin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 </m:t>
                                  </m:r>
                                  <m:r>
                                    <a:rPr lang="en-US" sz="4000" b="0" i="1" smtClean="0">
                                      <a:solidFill>
                                        <a:srgbClr val="FF0000"/>
                                      </a:solidFill>
                                      <a:latin typeface="Cambria Math" panose="02040503050406030204" pitchFamily="18" charset="0"/>
                                      <a:ea typeface="Cambria Math" panose="02040503050406030204" pitchFamily="18" charset="0"/>
                                    </a:rPr>
                                    <m:t>𝑈</m:t>
                                  </m:r>
                                </m:num>
                                <m:den>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 </m:t>
                                  </m:r>
                                  <m:r>
                                    <a:rPr lang="en-US" sz="4000" b="0" i="1" smtClean="0">
                                      <a:solidFill>
                                        <a:srgbClr val="FF0000"/>
                                      </a:solidFill>
                                      <a:latin typeface="Cambria Math" panose="02040503050406030204" pitchFamily="18" charset="0"/>
                                      <a:ea typeface="Cambria Math" panose="02040503050406030204" pitchFamily="18" charset="0"/>
                                    </a:rPr>
                                    <m:t>𝑉</m:t>
                                  </m:r>
                                </m:den>
                              </m:f>
                            </m:e>
                          </m:d>
                        </m:e>
                        <m:sub>
                          <m:r>
                            <a:rPr lang="en-US" sz="4000" b="0" i="1" smtClean="0">
                              <a:solidFill>
                                <a:srgbClr val="FF0000"/>
                              </a:solidFill>
                              <a:latin typeface="Cambria Math" panose="02040503050406030204" pitchFamily="18" charset="0"/>
                              <a:ea typeface="Cambria Math" panose="02040503050406030204" pitchFamily="18" charset="0"/>
                            </a:rPr>
                            <m:t>𝜎</m:t>
                          </m:r>
                        </m:sub>
                      </m:sSub>
                      <m:r>
                        <a:rPr lang="en-US" sz="4000" b="0" i="1" smtClean="0">
                          <a:solidFill>
                            <a:srgbClr val="FF0000"/>
                          </a:solidFill>
                          <a:latin typeface="Cambria Math" panose="02040503050406030204" pitchFamily="18" charset="0"/>
                        </a:rPr>
                        <m:t> </m:t>
                      </m:r>
                      <m:r>
                        <a:rPr lang="en-US" sz="4000" b="0" i="1" smtClean="0">
                          <a:solidFill>
                            <a:srgbClr val="FF0000"/>
                          </a:solidFill>
                          <a:latin typeface="Cambria Math" panose="02040503050406030204" pitchFamily="18" charset="0"/>
                        </a:rPr>
                        <m:t>𝑣𝑠</m:t>
                      </m:r>
                      <m:r>
                        <a:rPr lang="en-US" sz="4000" b="0" i="1" smtClean="0">
                          <a:solidFill>
                            <a:srgbClr val="FF0000"/>
                          </a:solidFill>
                          <a:latin typeface="Cambria Math" panose="02040503050406030204" pitchFamily="18" charset="0"/>
                        </a:rPr>
                        <m:t>  </m:t>
                      </m:r>
                      <m:sSub>
                        <m:sSubPr>
                          <m:ctrlPr>
                            <a:rPr lang="en-US" sz="4000" b="0" i="1" smtClean="0">
                              <a:solidFill>
                                <a:srgbClr val="FF0000"/>
                              </a:solidFill>
                              <a:latin typeface="Cambria Math" panose="02040503050406030204" pitchFamily="18" charset="0"/>
                            </a:rPr>
                          </m:ctrlPr>
                        </m:sSubPr>
                        <m:e>
                          <m:r>
                            <a:rPr lang="en-US" sz="4000" b="0" i="1" smtClean="0">
                              <a:solidFill>
                                <a:srgbClr val="FF0000"/>
                              </a:solidFill>
                              <a:latin typeface="Cambria Math" panose="02040503050406030204" pitchFamily="18" charset="0"/>
                            </a:rPr>
                            <m:t>𝑝</m:t>
                          </m:r>
                        </m:e>
                        <m:sub>
                          <m:r>
                            <a:rPr lang="en-US" sz="4000" b="0" i="1" smtClean="0">
                              <a:solidFill>
                                <a:srgbClr val="FF0000"/>
                              </a:solidFill>
                              <a:latin typeface="Cambria Math" panose="02040503050406030204" pitchFamily="18" charset="0"/>
                            </a:rPr>
                            <m:t>𝑠</m:t>
                          </m:r>
                        </m:sub>
                      </m:sSub>
                      <m:r>
                        <a:rPr lang="en-US" sz="4000" b="0" i="1" smtClean="0">
                          <a:solidFill>
                            <a:srgbClr val="FF0000"/>
                          </a:solidFill>
                          <a:latin typeface="Cambria Math" panose="02040503050406030204" pitchFamily="18" charset="0"/>
                        </a:rPr>
                        <m:t>=−</m:t>
                      </m:r>
                      <m:sSub>
                        <m:sSubPr>
                          <m:ctrlPr>
                            <a:rPr lang="en-US" sz="4000" b="0" i="1" smtClean="0">
                              <a:solidFill>
                                <a:srgbClr val="FF0000"/>
                              </a:solidFill>
                              <a:latin typeface="Cambria Math" panose="02040503050406030204" pitchFamily="18" charset="0"/>
                            </a:rPr>
                          </m:ctrlPr>
                        </m:sSubPr>
                        <m:e>
                          <m:d>
                            <m:dPr>
                              <m:ctrlPr>
                                <a:rPr lang="en-US" sz="4000" b="0" i="1" smtClean="0">
                                  <a:solidFill>
                                    <a:srgbClr val="FF0000"/>
                                  </a:solidFill>
                                  <a:latin typeface="Cambria Math" panose="02040503050406030204" pitchFamily="18" charset="0"/>
                                </a:rPr>
                              </m:ctrlPr>
                            </m:dPr>
                            <m:e>
                              <m:f>
                                <m:fPr>
                                  <m:ctrlPr>
                                    <a:rPr lang="en-US" sz="4000" b="0" i="1" smtClean="0">
                                      <a:solidFill>
                                        <a:srgbClr val="FF0000"/>
                                      </a:solidFill>
                                      <a:latin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 </m:t>
                                  </m:r>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𝜀</m:t>
                                      </m:r>
                                    </m:e>
                                    <m:sub>
                                      <m:r>
                                        <a:rPr lang="en-US" sz="4000" b="0" i="1" smtClean="0">
                                          <a:solidFill>
                                            <a:srgbClr val="FF0000"/>
                                          </a:solidFill>
                                          <a:latin typeface="Cambria Math" panose="02040503050406030204" pitchFamily="18" charset="0"/>
                                          <a:ea typeface="Cambria Math" panose="02040503050406030204" pitchFamily="18" charset="0"/>
                                        </a:rPr>
                                        <m:t>𝑠</m:t>
                                      </m:r>
                                    </m:sub>
                                  </m:sSub>
                                </m:num>
                                <m:den>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 </m:t>
                                  </m:r>
                                  <m:r>
                                    <a:rPr lang="en-US" sz="4000" b="0" i="1" smtClean="0">
                                      <a:solidFill>
                                        <a:srgbClr val="FF0000"/>
                                      </a:solidFill>
                                      <a:latin typeface="Cambria Math" panose="02040503050406030204" pitchFamily="18" charset="0"/>
                                      <a:ea typeface="Cambria Math" panose="02040503050406030204" pitchFamily="18" charset="0"/>
                                    </a:rPr>
                                    <m:t>𝑉</m:t>
                                  </m:r>
                                </m:den>
                              </m:f>
                            </m:e>
                          </m:d>
                        </m:e>
                        <m:sub>
                          <m:r>
                            <a:rPr lang="en-US" sz="4000" b="0" i="1" smtClean="0">
                              <a:solidFill>
                                <a:srgbClr val="FF0000"/>
                              </a:solidFill>
                              <a:latin typeface="Cambria Math" panose="02040503050406030204" pitchFamily="18" charset="0"/>
                              <a:ea typeface="Cambria Math" panose="02040503050406030204" pitchFamily="18" charset="0"/>
                            </a:rPr>
                            <m:t>𝜎</m:t>
                          </m:r>
                        </m:sub>
                      </m:sSub>
                    </m:oMath>
                  </m:oMathPara>
                </a14:m>
                <a:endParaRPr lang="en-CN" sz="4000" dirty="0"/>
              </a:p>
            </p:txBody>
          </p:sp>
        </mc:Choice>
        <mc:Fallback xmlns="">
          <p:sp>
            <p:nvSpPr>
              <p:cNvPr id="5" name="TextBox 4">
                <a:extLst>
                  <a:ext uri="{FF2B5EF4-FFF2-40B4-BE49-F238E27FC236}">
                    <a16:creationId xmlns:a16="http://schemas.microsoft.com/office/drawing/2014/main" id="{FDCCD7B9-7159-394A-8B5C-DDC72D6507E9}"/>
                  </a:ext>
                </a:extLst>
              </p:cNvPr>
              <p:cNvSpPr txBox="1">
                <a:spLocks noRot="1" noChangeAspect="1" noMove="1" noResize="1" noEditPoints="1" noAdjustHandles="1" noChangeArrowheads="1" noChangeShapeType="1" noTextEdit="1"/>
              </p:cNvSpPr>
              <p:nvPr/>
            </p:nvSpPr>
            <p:spPr>
              <a:xfrm>
                <a:off x="2626468" y="4572000"/>
                <a:ext cx="7431932" cy="1359283"/>
              </a:xfrm>
              <a:prstGeom prst="rect">
                <a:avLst/>
              </a:prstGeom>
              <a:blipFill>
                <a:blip r:embed="rId3"/>
                <a:stretch>
                  <a:fillRect l="-341" t="-3704" b="-14815"/>
                </a:stretch>
              </a:blipFill>
            </p:spPr>
            <p:txBody>
              <a:bodyPr/>
              <a:lstStyle/>
              <a:p>
                <a:r>
                  <a:rPr lang="en-CN">
                    <a:noFill/>
                  </a:rPr>
                  <a:t> </a:t>
                </a:r>
              </a:p>
            </p:txBody>
          </p:sp>
        </mc:Fallback>
      </mc:AlternateContent>
    </p:spTree>
    <p:extLst>
      <p:ext uri="{BB962C8B-B14F-4D97-AF65-F5344CB8AC3E}">
        <p14:creationId xmlns:p14="http://schemas.microsoft.com/office/powerpoint/2010/main" val="18984902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2F194-222C-9A49-B7B0-CB7A7F855761}"/>
              </a:ext>
            </a:extLst>
          </p:cNvPr>
          <p:cNvPicPr>
            <a:picLocks noChangeAspect="1"/>
          </p:cNvPicPr>
          <p:nvPr/>
        </p:nvPicPr>
        <p:blipFill>
          <a:blip r:embed="rId2"/>
          <a:stretch>
            <a:fillRect/>
          </a:stretch>
        </p:blipFill>
        <p:spPr>
          <a:xfrm>
            <a:off x="1167319" y="96340"/>
            <a:ext cx="8891216" cy="6665320"/>
          </a:xfrm>
          <a:prstGeom prst="rect">
            <a:avLst/>
          </a:prstGeom>
        </p:spPr>
      </p:pic>
      <p:cxnSp>
        <p:nvCxnSpPr>
          <p:cNvPr id="4" name="Straight Connector 3">
            <a:extLst>
              <a:ext uri="{FF2B5EF4-FFF2-40B4-BE49-F238E27FC236}">
                <a16:creationId xmlns:a16="http://schemas.microsoft.com/office/drawing/2014/main" id="{087936AF-E10F-274B-9933-696738D8DD5C}"/>
              </a:ext>
            </a:extLst>
          </p:cNvPr>
          <p:cNvCxnSpPr/>
          <p:nvPr/>
        </p:nvCxnSpPr>
        <p:spPr>
          <a:xfrm>
            <a:off x="4319081" y="583660"/>
            <a:ext cx="1439693"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74B42EB-EC10-3949-9561-DFEE4D072EDF}"/>
              </a:ext>
            </a:extLst>
          </p:cNvPr>
          <p:cNvCxnSpPr/>
          <p:nvPr/>
        </p:nvCxnSpPr>
        <p:spPr>
          <a:xfrm>
            <a:off x="4173234" y="1300265"/>
            <a:ext cx="1439693"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16503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782DDC-C5F9-CA4A-BF9C-12DB6BE2E2BD}"/>
              </a:ext>
            </a:extLst>
          </p:cNvPr>
          <p:cNvSpPr txBox="1"/>
          <p:nvPr/>
        </p:nvSpPr>
        <p:spPr>
          <a:xfrm>
            <a:off x="3451383" y="2615863"/>
            <a:ext cx="5964759" cy="707886"/>
          </a:xfrm>
          <a:prstGeom prst="rect">
            <a:avLst/>
          </a:prstGeom>
          <a:noFill/>
        </p:spPr>
        <p:txBody>
          <a:bodyPr wrap="square">
            <a:spAutoFit/>
          </a:bodyPr>
          <a:lstStyle/>
          <a:p>
            <a:pPr marL="342900" indent="-342900"/>
            <a:r>
              <a:rPr lang="en-CN" sz="4000" dirty="0">
                <a:latin typeface="FangSong" panose="02010609060101010101" pitchFamily="49" charset="-122"/>
                <a:ea typeface="FangSong" panose="02010609060101010101" pitchFamily="49" charset="-122"/>
              </a:rPr>
              <a:t>Helmholtz Free Energy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AD94F90-E8C1-C342-AAFE-731AD7D3D595}"/>
                  </a:ext>
                </a:extLst>
              </p:cNvPr>
              <p:cNvSpPr txBox="1"/>
              <p:nvPr/>
            </p:nvSpPr>
            <p:spPr>
              <a:xfrm>
                <a:off x="2048366" y="4301010"/>
                <a:ext cx="7529208"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𝐹</m:t>
                      </m:r>
                      <m:r>
                        <a:rPr lang="en-US" sz="4000" b="0" i="1" smtClean="0">
                          <a:latin typeface="Cambria Math" panose="02040503050406030204" pitchFamily="18" charset="0"/>
                        </a:rPr>
                        <m:t>=</m:t>
                      </m:r>
                      <m:r>
                        <a:rPr lang="en-US" sz="4000" b="0" i="1" smtClean="0">
                          <a:latin typeface="Cambria Math" panose="02040503050406030204" pitchFamily="18" charset="0"/>
                        </a:rPr>
                        <m:t>𝑈</m:t>
                      </m:r>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𝜏</m:t>
                      </m:r>
                    </m:oMath>
                  </m:oMathPara>
                </a14:m>
                <a:endParaRPr lang="en-CN" sz="4000" dirty="0"/>
              </a:p>
            </p:txBody>
          </p:sp>
        </mc:Choice>
        <mc:Fallback xmlns="">
          <p:sp>
            <p:nvSpPr>
              <p:cNvPr id="4" name="TextBox 3">
                <a:extLst>
                  <a:ext uri="{FF2B5EF4-FFF2-40B4-BE49-F238E27FC236}">
                    <a16:creationId xmlns:a16="http://schemas.microsoft.com/office/drawing/2014/main" id="{AAD94F90-E8C1-C342-AAFE-731AD7D3D595}"/>
                  </a:ext>
                </a:extLst>
              </p:cNvPr>
              <p:cNvSpPr txBox="1">
                <a:spLocks noRot="1" noChangeAspect="1" noMove="1" noResize="1" noEditPoints="1" noAdjustHandles="1" noChangeArrowheads="1" noChangeShapeType="1" noTextEdit="1"/>
              </p:cNvSpPr>
              <p:nvPr/>
            </p:nvSpPr>
            <p:spPr>
              <a:xfrm>
                <a:off x="2048366" y="4301010"/>
                <a:ext cx="7529208" cy="707886"/>
              </a:xfrm>
              <a:prstGeom prst="rect">
                <a:avLst/>
              </a:prstGeom>
              <a:blipFill>
                <a:blip r:embed="rId2"/>
                <a:stretch>
                  <a:fillRect b="-26316"/>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69FB9BAC-A647-6E48-B726-ADD012E6FADA}"/>
              </a:ext>
            </a:extLst>
          </p:cNvPr>
          <p:cNvSpPr txBox="1"/>
          <p:nvPr/>
        </p:nvSpPr>
        <p:spPr>
          <a:xfrm>
            <a:off x="4233759" y="3264971"/>
            <a:ext cx="3158424" cy="369332"/>
          </a:xfrm>
          <a:prstGeom prst="rect">
            <a:avLst/>
          </a:prstGeom>
          <a:noFill/>
        </p:spPr>
        <p:txBody>
          <a:bodyPr wrap="square" rtlCol="0">
            <a:spAutoFit/>
          </a:bodyPr>
          <a:lstStyle/>
          <a:p>
            <a:r>
              <a:rPr lang="en-CN" dirty="0"/>
              <a:t>把内能</a:t>
            </a:r>
            <a:r>
              <a:rPr lang="zh-CN" altLang="en-US" dirty="0"/>
              <a:t>、熵、温度组合了一下</a:t>
            </a:r>
            <a:endParaRPr lang="en-CN" dirty="0"/>
          </a:p>
        </p:txBody>
      </p:sp>
      <p:sp>
        <p:nvSpPr>
          <p:cNvPr id="2" name="Title 1">
            <a:extLst>
              <a:ext uri="{FF2B5EF4-FFF2-40B4-BE49-F238E27FC236}">
                <a16:creationId xmlns:a16="http://schemas.microsoft.com/office/drawing/2014/main" id="{00643B1A-FAE7-D9E8-C349-BFAFE5D69EFA}"/>
              </a:ext>
            </a:extLst>
          </p:cNvPr>
          <p:cNvSpPr txBox="1">
            <a:spLocks/>
          </p:cNvSpPr>
          <p:nvPr/>
        </p:nvSpPr>
        <p:spPr>
          <a:xfrm>
            <a:off x="3939591" y="241914"/>
            <a:ext cx="4410741" cy="9066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（第三四周）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1461897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A919E0-90A0-7D4D-DEA6-82F74998642E}"/>
              </a:ext>
            </a:extLst>
          </p:cNvPr>
          <p:cNvSpPr txBox="1"/>
          <p:nvPr/>
        </p:nvSpPr>
        <p:spPr>
          <a:xfrm>
            <a:off x="446315" y="1151530"/>
            <a:ext cx="11571513" cy="3170099"/>
          </a:xfrm>
          <a:prstGeom prst="rect">
            <a:avLst/>
          </a:prstGeom>
          <a:noFill/>
        </p:spPr>
        <p:txBody>
          <a:bodyPr wrap="square" rtlCol="0">
            <a:spAutoFit/>
          </a:bodyPr>
          <a:lstStyle/>
          <a:p>
            <a:r>
              <a:rPr lang="en-CN" sz="4000" dirty="0"/>
              <a:t>degree of freedom</a:t>
            </a:r>
          </a:p>
          <a:p>
            <a:endParaRPr lang="en-CN" sz="4000" dirty="0"/>
          </a:p>
          <a:p>
            <a:r>
              <a:rPr lang="en-CN" sz="4000" dirty="0"/>
              <a:t>In physics and chemistry, a degreee of freedom is an independent physical parameter in the formal description of the state of physical system. </a:t>
            </a:r>
          </a:p>
        </p:txBody>
      </p:sp>
    </p:spTree>
    <p:extLst>
      <p:ext uri="{BB962C8B-B14F-4D97-AF65-F5344CB8AC3E}">
        <p14:creationId xmlns:p14="http://schemas.microsoft.com/office/powerpoint/2010/main" val="20497936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84FD79-22E8-1942-AEB1-B3EAB16C3A1D}"/>
              </a:ext>
            </a:extLst>
          </p:cNvPr>
          <p:cNvPicPr>
            <a:picLocks noChangeAspect="1"/>
          </p:cNvPicPr>
          <p:nvPr/>
        </p:nvPicPr>
        <p:blipFill>
          <a:blip r:embed="rId2"/>
          <a:stretch>
            <a:fillRect/>
          </a:stretch>
        </p:blipFill>
        <p:spPr>
          <a:xfrm>
            <a:off x="1967558" y="851183"/>
            <a:ext cx="8256884" cy="3829673"/>
          </a:xfrm>
          <a:prstGeom prst="rect">
            <a:avLst/>
          </a:prstGeom>
        </p:spPr>
      </p:pic>
      <p:sp>
        <p:nvSpPr>
          <p:cNvPr id="4" name="TextBox 3">
            <a:extLst>
              <a:ext uri="{FF2B5EF4-FFF2-40B4-BE49-F238E27FC236}">
                <a16:creationId xmlns:a16="http://schemas.microsoft.com/office/drawing/2014/main" id="{0FFC1BA8-3D70-6C42-9D6D-B8F1423A05FB}"/>
              </a:ext>
            </a:extLst>
          </p:cNvPr>
          <p:cNvSpPr txBox="1"/>
          <p:nvPr/>
        </p:nvSpPr>
        <p:spPr>
          <a:xfrm>
            <a:off x="2102263" y="4857127"/>
            <a:ext cx="7979228" cy="523220"/>
          </a:xfrm>
          <a:prstGeom prst="rect">
            <a:avLst/>
          </a:prstGeom>
          <a:noFill/>
        </p:spPr>
        <p:txBody>
          <a:bodyPr wrap="square" rtlCol="0">
            <a:spAutoFit/>
          </a:bodyPr>
          <a:lstStyle/>
          <a:p>
            <a:r>
              <a:rPr lang="en-CN" sz="2800" dirty="0">
                <a:solidFill>
                  <a:srgbClr val="FF0000"/>
                </a:solidFill>
              </a:rPr>
              <a:t>热力学势</a:t>
            </a:r>
            <a:r>
              <a:rPr lang="en-CN" sz="2800" dirty="0"/>
              <a:t>是沟通统计物理与热力学的桥梁</a:t>
            </a:r>
            <a:r>
              <a:rPr lang="en-US" altLang="zh-CN" sz="2800" dirty="0"/>
              <a:t>——</a:t>
            </a:r>
            <a:r>
              <a:rPr lang="zh-CN" altLang="en-US" sz="2800" dirty="0"/>
              <a:t>赵柳</a:t>
            </a:r>
            <a:endParaRPr lang="en-CN" sz="2800" dirty="0"/>
          </a:p>
        </p:txBody>
      </p:sp>
    </p:spTree>
    <p:extLst>
      <p:ext uri="{BB962C8B-B14F-4D97-AF65-F5344CB8AC3E}">
        <p14:creationId xmlns:p14="http://schemas.microsoft.com/office/powerpoint/2010/main" val="10008641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C714E-770F-B64F-A10C-9A613C3CEB34}"/>
              </a:ext>
            </a:extLst>
          </p:cNvPr>
          <p:cNvSpPr/>
          <p:nvPr/>
        </p:nvSpPr>
        <p:spPr>
          <a:xfrm>
            <a:off x="4386470" y="410817"/>
            <a:ext cx="2464904" cy="19745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cxnSp>
        <p:nvCxnSpPr>
          <p:cNvPr id="4" name="Straight Connector 3">
            <a:extLst>
              <a:ext uri="{FF2B5EF4-FFF2-40B4-BE49-F238E27FC236}">
                <a16:creationId xmlns:a16="http://schemas.microsoft.com/office/drawing/2014/main" id="{4D0C71DD-84EB-A14E-B702-EA9241E1D791}"/>
              </a:ext>
            </a:extLst>
          </p:cNvPr>
          <p:cNvCxnSpPr/>
          <p:nvPr/>
        </p:nvCxnSpPr>
        <p:spPr>
          <a:xfrm>
            <a:off x="2226365" y="2385391"/>
            <a:ext cx="67983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6AEDB55-F99C-E64A-9F08-9FABE4E176C5}"/>
              </a:ext>
            </a:extLst>
          </p:cNvPr>
          <p:cNvCxnSpPr/>
          <p:nvPr/>
        </p:nvCxnSpPr>
        <p:spPr>
          <a:xfrm flipV="1">
            <a:off x="2650435" y="2385391"/>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995BC2C-50B7-2040-A5BE-71207DFD36C9}"/>
              </a:ext>
            </a:extLst>
          </p:cNvPr>
          <p:cNvCxnSpPr/>
          <p:nvPr/>
        </p:nvCxnSpPr>
        <p:spPr>
          <a:xfrm flipV="1">
            <a:off x="2955235" y="2421834"/>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70D3EA-9E68-3045-B8FD-EDCCDFACD727}"/>
              </a:ext>
            </a:extLst>
          </p:cNvPr>
          <p:cNvCxnSpPr/>
          <p:nvPr/>
        </p:nvCxnSpPr>
        <p:spPr>
          <a:xfrm flipV="1">
            <a:off x="3260035" y="2421833"/>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A95821-9354-CA43-A546-551E2825CB84}"/>
              </a:ext>
            </a:extLst>
          </p:cNvPr>
          <p:cNvCxnSpPr/>
          <p:nvPr/>
        </p:nvCxnSpPr>
        <p:spPr>
          <a:xfrm flipV="1">
            <a:off x="3564835" y="2431774"/>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A717AD4-47CB-DA49-90BD-09E4E595A908}"/>
              </a:ext>
            </a:extLst>
          </p:cNvPr>
          <p:cNvCxnSpPr/>
          <p:nvPr/>
        </p:nvCxnSpPr>
        <p:spPr>
          <a:xfrm flipV="1">
            <a:off x="3869635" y="2445028"/>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6DB45FC-17B8-E74E-9B15-7475B889A296}"/>
              </a:ext>
            </a:extLst>
          </p:cNvPr>
          <p:cNvCxnSpPr/>
          <p:nvPr/>
        </p:nvCxnSpPr>
        <p:spPr>
          <a:xfrm flipV="1">
            <a:off x="4234070" y="2421832"/>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008E0F1-D5E2-0041-85E3-237A05804F32}"/>
              </a:ext>
            </a:extLst>
          </p:cNvPr>
          <p:cNvCxnSpPr/>
          <p:nvPr/>
        </p:nvCxnSpPr>
        <p:spPr>
          <a:xfrm flipV="1">
            <a:off x="4538870" y="2415202"/>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BA4C5F-852B-A041-BA5E-788E32B1163E}"/>
              </a:ext>
            </a:extLst>
          </p:cNvPr>
          <p:cNvCxnSpPr/>
          <p:nvPr/>
        </p:nvCxnSpPr>
        <p:spPr>
          <a:xfrm flipV="1">
            <a:off x="4843670" y="2431774"/>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FABC6CC-FCD2-0147-9C14-91C5E31D6C0D}"/>
              </a:ext>
            </a:extLst>
          </p:cNvPr>
          <p:cNvCxnSpPr/>
          <p:nvPr/>
        </p:nvCxnSpPr>
        <p:spPr>
          <a:xfrm flipV="1">
            <a:off x="5300870" y="2431775"/>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0669281-61A5-D846-9CA2-9C91134A523C}"/>
              </a:ext>
            </a:extLst>
          </p:cNvPr>
          <p:cNvCxnSpPr/>
          <p:nvPr/>
        </p:nvCxnSpPr>
        <p:spPr>
          <a:xfrm flipV="1">
            <a:off x="5605670" y="2445027"/>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B2FF29-8958-BB4B-8EB7-7B733B107F5D}"/>
              </a:ext>
            </a:extLst>
          </p:cNvPr>
          <p:cNvCxnSpPr/>
          <p:nvPr/>
        </p:nvCxnSpPr>
        <p:spPr>
          <a:xfrm flipV="1">
            <a:off x="5970105" y="2438401"/>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9308C1F-07C9-D344-B08B-ADDB0900A0D0}"/>
              </a:ext>
            </a:extLst>
          </p:cNvPr>
          <p:cNvCxnSpPr/>
          <p:nvPr/>
        </p:nvCxnSpPr>
        <p:spPr>
          <a:xfrm flipV="1">
            <a:off x="6394175" y="2385390"/>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3909508-0462-4B4F-9F68-79FD30C0FCCF}"/>
              </a:ext>
            </a:extLst>
          </p:cNvPr>
          <p:cNvCxnSpPr/>
          <p:nvPr/>
        </p:nvCxnSpPr>
        <p:spPr>
          <a:xfrm flipV="1">
            <a:off x="6732105" y="2445027"/>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638C84-A06C-6547-B874-2B52E046761A}"/>
              </a:ext>
            </a:extLst>
          </p:cNvPr>
          <p:cNvCxnSpPr/>
          <p:nvPr/>
        </p:nvCxnSpPr>
        <p:spPr>
          <a:xfrm flipV="1">
            <a:off x="7132982" y="2415201"/>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5107455-FA99-104B-92B1-AE3434D5E651}"/>
              </a:ext>
            </a:extLst>
          </p:cNvPr>
          <p:cNvCxnSpPr/>
          <p:nvPr/>
        </p:nvCxnSpPr>
        <p:spPr>
          <a:xfrm flipV="1">
            <a:off x="7613375" y="2421832"/>
            <a:ext cx="304800" cy="344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86AD264-10AA-C84C-8B46-1D6DA719712E}"/>
              </a:ext>
            </a:extLst>
          </p:cNvPr>
          <p:cNvCxnSpPr/>
          <p:nvPr/>
        </p:nvCxnSpPr>
        <p:spPr>
          <a:xfrm flipV="1">
            <a:off x="8128554" y="2385389"/>
            <a:ext cx="304800" cy="344557"/>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F0F742C-3E0A-664A-9A45-67047A4E5EFF}"/>
              </a:ext>
            </a:extLst>
          </p:cNvPr>
          <p:cNvSpPr txBox="1"/>
          <p:nvPr/>
        </p:nvSpPr>
        <p:spPr>
          <a:xfrm>
            <a:off x="4996070" y="914400"/>
            <a:ext cx="1278835" cy="369332"/>
          </a:xfrm>
          <a:prstGeom prst="rect">
            <a:avLst/>
          </a:prstGeom>
          <a:noFill/>
        </p:spPr>
        <p:txBody>
          <a:bodyPr wrap="square" rtlCol="0">
            <a:spAutoFit/>
          </a:bodyPr>
          <a:lstStyle/>
          <a:p>
            <a:r>
              <a:rPr lang="en-CN" dirty="0"/>
              <a:t>系统</a:t>
            </a:r>
          </a:p>
        </p:txBody>
      </p:sp>
      <p:sp>
        <p:nvSpPr>
          <p:cNvPr id="23" name="TextBox 22">
            <a:extLst>
              <a:ext uri="{FF2B5EF4-FFF2-40B4-BE49-F238E27FC236}">
                <a16:creationId xmlns:a16="http://schemas.microsoft.com/office/drawing/2014/main" id="{74769E82-4B86-5845-B4FC-B5DF71528719}"/>
              </a:ext>
            </a:extLst>
          </p:cNvPr>
          <p:cNvSpPr txBox="1"/>
          <p:nvPr/>
        </p:nvSpPr>
        <p:spPr>
          <a:xfrm>
            <a:off x="8735438" y="2729946"/>
            <a:ext cx="1478605" cy="369332"/>
          </a:xfrm>
          <a:prstGeom prst="rect">
            <a:avLst/>
          </a:prstGeom>
          <a:noFill/>
        </p:spPr>
        <p:txBody>
          <a:bodyPr wrap="square" rtlCol="0">
            <a:spAutoFit/>
          </a:bodyPr>
          <a:lstStyle/>
          <a:p>
            <a:r>
              <a:rPr lang="en-CN" dirty="0"/>
              <a:t>热库</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551BEF2-3D26-444D-9CB2-C2435524F54E}"/>
                  </a:ext>
                </a:extLst>
              </p:cNvPr>
              <p:cNvSpPr txBox="1"/>
              <p:nvPr/>
            </p:nvSpPr>
            <p:spPr>
              <a:xfrm>
                <a:off x="8280954" y="1398104"/>
                <a:ext cx="7437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24" name="TextBox 23">
                <a:extLst>
                  <a:ext uri="{FF2B5EF4-FFF2-40B4-BE49-F238E27FC236}">
                    <a16:creationId xmlns:a16="http://schemas.microsoft.com/office/drawing/2014/main" id="{2551BEF2-3D26-444D-9CB2-C2435524F54E}"/>
                  </a:ext>
                </a:extLst>
              </p:cNvPr>
              <p:cNvSpPr txBox="1">
                <a:spLocks noRot="1" noChangeAspect="1" noMove="1" noResize="1" noEditPoints="1" noAdjustHandles="1" noChangeArrowheads="1" noChangeShapeType="1" noTextEdit="1"/>
              </p:cNvSpPr>
              <p:nvPr/>
            </p:nvSpPr>
            <p:spPr>
              <a:xfrm>
                <a:off x="8280954" y="1398104"/>
                <a:ext cx="743776" cy="369332"/>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8FDE207-44D1-064F-B4CD-8BE7986A592A}"/>
                  </a:ext>
                </a:extLst>
              </p:cNvPr>
              <p:cNvSpPr txBox="1"/>
              <p:nvPr/>
            </p:nvSpPr>
            <p:spPr>
              <a:xfrm>
                <a:off x="4174435" y="2855946"/>
                <a:ext cx="32633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𝑠</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25" name="TextBox 24">
                <a:extLst>
                  <a:ext uri="{FF2B5EF4-FFF2-40B4-BE49-F238E27FC236}">
                    <a16:creationId xmlns:a16="http://schemas.microsoft.com/office/drawing/2014/main" id="{A8FDE207-44D1-064F-B4CD-8BE7986A592A}"/>
                  </a:ext>
                </a:extLst>
              </p:cNvPr>
              <p:cNvSpPr txBox="1">
                <a:spLocks noRot="1" noChangeAspect="1" noMove="1" noResize="1" noEditPoints="1" noAdjustHandles="1" noChangeArrowheads="1" noChangeShapeType="1" noTextEdit="1"/>
              </p:cNvSpPr>
              <p:nvPr/>
            </p:nvSpPr>
            <p:spPr>
              <a:xfrm>
                <a:off x="4174435" y="2855946"/>
                <a:ext cx="3263347" cy="369332"/>
              </a:xfrm>
              <a:prstGeom prst="rect">
                <a:avLst/>
              </a:prstGeom>
              <a:blipFill>
                <a:blip r:embed="rId3"/>
                <a:stretch>
                  <a:fillRect b="-16667"/>
                </a:stretch>
              </a:blipFill>
            </p:spPr>
            <p:txBody>
              <a:bodyPr/>
              <a:lstStyle/>
              <a:p>
                <a:r>
                  <a:rPr lang="en-CN">
                    <a:noFill/>
                  </a:rPr>
                  <a:t> </a:t>
                </a:r>
              </a:p>
            </p:txBody>
          </p:sp>
        </mc:Fallback>
      </mc:AlternateContent>
      <p:sp>
        <p:nvSpPr>
          <p:cNvPr id="26" name="TextBox 25">
            <a:extLst>
              <a:ext uri="{FF2B5EF4-FFF2-40B4-BE49-F238E27FC236}">
                <a16:creationId xmlns:a16="http://schemas.microsoft.com/office/drawing/2014/main" id="{280271C8-9CE6-7245-9506-2725340DD46A}"/>
              </a:ext>
            </a:extLst>
          </p:cNvPr>
          <p:cNvSpPr txBox="1"/>
          <p:nvPr/>
        </p:nvSpPr>
        <p:spPr>
          <a:xfrm>
            <a:off x="7918175" y="410817"/>
            <a:ext cx="3463187" cy="369332"/>
          </a:xfrm>
          <a:prstGeom prst="rect">
            <a:avLst/>
          </a:prstGeom>
          <a:noFill/>
        </p:spPr>
        <p:txBody>
          <a:bodyPr wrap="square" rtlCol="0">
            <a:spAutoFit/>
          </a:bodyPr>
          <a:lstStyle/>
          <a:p>
            <a:r>
              <a:rPr lang="en-CN" dirty="0"/>
              <a:t>固定粒子数</a:t>
            </a:r>
            <a:r>
              <a:rPr lang="zh-CN" altLang="en-US" dirty="0"/>
              <a:t>，体积</a:t>
            </a:r>
            <a:endParaRPr lang="en-CN"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24B0274-81D3-0F45-89CC-AFA78AA05B8E}"/>
                  </a:ext>
                </a:extLst>
              </p:cNvPr>
              <p:cNvSpPr txBox="1"/>
              <p:nvPr/>
            </p:nvSpPr>
            <p:spPr>
              <a:xfrm>
                <a:off x="4174434" y="3621301"/>
                <a:ext cx="32633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𝑑𝐹</m:t>
                          </m:r>
                        </m:e>
                        <m:sub>
                          <m:r>
                            <a:rPr lang="en-US" b="0" i="1" smtClean="0">
                              <a:latin typeface="Cambria Math" panose="02040503050406030204" pitchFamily="18" charset="0"/>
                            </a:rPr>
                            <m:t>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𝑑𝑈</m:t>
                          </m:r>
                        </m:e>
                        <m:sub>
                          <m:r>
                            <a:rPr lang="en-US" b="0" i="1" smtClean="0">
                              <a:latin typeface="Cambria Math" panose="02040503050406030204" pitchFamily="18" charset="0"/>
                            </a:rPr>
                            <m:t>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𝑠</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27" name="TextBox 26">
                <a:extLst>
                  <a:ext uri="{FF2B5EF4-FFF2-40B4-BE49-F238E27FC236}">
                    <a16:creationId xmlns:a16="http://schemas.microsoft.com/office/drawing/2014/main" id="{924B0274-81D3-0F45-89CC-AFA78AA05B8E}"/>
                  </a:ext>
                </a:extLst>
              </p:cNvPr>
              <p:cNvSpPr txBox="1">
                <a:spLocks noRot="1" noChangeAspect="1" noMove="1" noResize="1" noEditPoints="1" noAdjustHandles="1" noChangeArrowheads="1" noChangeShapeType="1" noTextEdit="1"/>
              </p:cNvSpPr>
              <p:nvPr/>
            </p:nvSpPr>
            <p:spPr>
              <a:xfrm>
                <a:off x="4174434" y="3621301"/>
                <a:ext cx="3263347" cy="369332"/>
              </a:xfrm>
              <a:prstGeom prst="rect">
                <a:avLst/>
              </a:prstGeom>
              <a:blipFill>
                <a:blip r:embed="rId4"/>
                <a:stretch>
                  <a:fillRect b="-16667"/>
                </a:stretch>
              </a:blipFill>
            </p:spPr>
            <p:txBody>
              <a:bodyPr/>
              <a:lstStyle/>
              <a:p>
                <a:r>
                  <a:rPr lang="en-CN">
                    <a:noFill/>
                  </a:rPr>
                  <a:t> </a:t>
                </a:r>
              </a:p>
            </p:txBody>
          </p:sp>
        </mc:Fallback>
      </mc:AlternateContent>
      <p:sp>
        <p:nvSpPr>
          <p:cNvPr id="28" name="Down Arrow 27">
            <a:extLst>
              <a:ext uri="{FF2B5EF4-FFF2-40B4-BE49-F238E27FC236}">
                <a16:creationId xmlns:a16="http://schemas.microsoft.com/office/drawing/2014/main" id="{874222EE-2DE6-5D4D-BE34-4A84C7954078}"/>
              </a:ext>
            </a:extLst>
          </p:cNvPr>
          <p:cNvSpPr/>
          <p:nvPr/>
        </p:nvSpPr>
        <p:spPr>
          <a:xfrm>
            <a:off x="5635487" y="3225278"/>
            <a:ext cx="334618" cy="3960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30" name="Straight Arrow Connector 29">
            <a:extLst>
              <a:ext uri="{FF2B5EF4-FFF2-40B4-BE49-F238E27FC236}">
                <a16:creationId xmlns:a16="http://schemas.microsoft.com/office/drawing/2014/main" id="{5B3F1BE5-91A7-EE4B-88D8-461409DEFC3B}"/>
              </a:ext>
            </a:extLst>
          </p:cNvPr>
          <p:cNvCxnSpPr/>
          <p:nvPr/>
        </p:nvCxnSpPr>
        <p:spPr>
          <a:xfrm flipH="1">
            <a:off x="3412435" y="4143983"/>
            <a:ext cx="2040835" cy="739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D515A7A-9053-BC4B-B841-B4601905CFE0}"/>
              </a:ext>
            </a:extLst>
          </p:cNvPr>
          <p:cNvCxnSpPr>
            <a:cxnSpLocks/>
          </p:cNvCxnSpPr>
          <p:nvPr/>
        </p:nvCxnSpPr>
        <p:spPr>
          <a:xfrm>
            <a:off x="5880652" y="4166131"/>
            <a:ext cx="2312505" cy="61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EB2964D-7286-E144-9892-C3ED3432B162}"/>
              </a:ext>
            </a:extLst>
          </p:cNvPr>
          <p:cNvSpPr txBox="1"/>
          <p:nvPr/>
        </p:nvSpPr>
        <p:spPr>
          <a:xfrm>
            <a:off x="2802835" y="4143983"/>
            <a:ext cx="1885897" cy="369332"/>
          </a:xfrm>
          <a:prstGeom prst="rect">
            <a:avLst/>
          </a:prstGeom>
          <a:noFill/>
        </p:spPr>
        <p:txBody>
          <a:bodyPr wrap="square" rtlCol="0">
            <a:spAutoFit/>
          </a:bodyPr>
          <a:lstStyle/>
          <a:p>
            <a:r>
              <a:rPr lang="en-CN" dirty="0"/>
              <a:t>内能是熵的函数</a:t>
            </a:r>
          </a:p>
        </p:txBody>
      </p:sp>
      <p:sp>
        <p:nvSpPr>
          <p:cNvPr id="34" name="TextBox 33">
            <a:extLst>
              <a:ext uri="{FF2B5EF4-FFF2-40B4-BE49-F238E27FC236}">
                <a16:creationId xmlns:a16="http://schemas.microsoft.com/office/drawing/2014/main" id="{EC15DD33-923B-F04C-8129-ABC628F0A6EF}"/>
              </a:ext>
            </a:extLst>
          </p:cNvPr>
          <p:cNvSpPr txBox="1"/>
          <p:nvPr/>
        </p:nvSpPr>
        <p:spPr>
          <a:xfrm>
            <a:off x="6727454" y="4141353"/>
            <a:ext cx="1885897" cy="369332"/>
          </a:xfrm>
          <a:prstGeom prst="rect">
            <a:avLst/>
          </a:prstGeom>
          <a:noFill/>
        </p:spPr>
        <p:txBody>
          <a:bodyPr wrap="square" rtlCol="0">
            <a:spAutoFit/>
          </a:bodyPr>
          <a:lstStyle/>
          <a:p>
            <a:r>
              <a:rPr lang="en-CN" dirty="0"/>
              <a:t>熵是内能的函数</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87E7926-266A-AE4E-9BC5-8A9DE8668750}"/>
                  </a:ext>
                </a:extLst>
              </p:cNvPr>
              <p:cNvSpPr txBox="1"/>
              <p:nvPr/>
            </p:nvSpPr>
            <p:spPr>
              <a:xfrm>
                <a:off x="7437781" y="4779086"/>
                <a:ext cx="1784040" cy="6829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rPr>
                                    <m:t>𝑈</m:t>
                                  </m:r>
                                </m:den>
                              </m:f>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𝑉</m:t>
                          </m:r>
                        </m:sub>
                      </m:sSub>
                    </m:oMath>
                  </m:oMathPara>
                </a14:m>
                <a:endParaRPr lang="en-CN" dirty="0"/>
              </a:p>
            </p:txBody>
          </p:sp>
        </mc:Choice>
        <mc:Fallback xmlns="">
          <p:sp>
            <p:nvSpPr>
              <p:cNvPr id="35" name="TextBox 34">
                <a:extLst>
                  <a:ext uri="{FF2B5EF4-FFF2-40B4-BE49-F238E27FC236}">
                    <a16:creationId xmlns:a16="http://schemas.microsoft.com/office/drawing/2014/main" id="{787E7926-266A-AE4E-9BC5-8A9DE8668750}"/>
                  </a:ext>
                </a:extLst>
              </p:cNvPr>
              <p:cNvSpPr txBox="1">
                <a:spLocks noRot="1" noChangeAspect="1" noMove="1" noResize="1" noEditPoints="1" noAdjustHandles="1" noChangeArrowheads="1" noChangeShapeType="1" noTextEdit="1"/>
              </p:cNvSpPr>
              <p:nvPr/>
            </p:nvSpPr>
            <p:spPr>
              <a:xfrm>
                <a:off x="7437781" y="4779086"/>
                <a:ext cx="1784040" cy="682944"/>
              </a:xfrm>
              <a:prstGeom prst="rect">
                <a:avLst/>
              </a:prstGeom>
              <a:blipFill>
                <a:blip r:embed="rId5"/>
                <a:stretch>
                  <a:fillRect b="-72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B693EDC-80ED-D24B-B3A8-5736C486A4D7}"/>
                  </a:ext>
                </a:extLst>
              </p:cNvPr>
              <p:cNvSpPr txBox="1"/>
              <p:nvPr/>
            </p:nvSpPr>
            <p:spPr>
              <a:xfrm>
                <a:off x="2648812" y="4822349"/>
                <a:ext cx="1784040" cy="6829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rPr>
                                    <m:t>𝑈</m:t>
                                  </m:r>
                                </m:num>
                                <m:den>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den>
                              </m:f>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𝑉</m:t>
                          </m:r>
                        </m:sub>
                      </m:sSub>
                    </m:oMath>
                  </m:oMathPara>
                </a14:m>
                <a:endParaRPr lang="en-CN" dirty="0"/>
              </a:p>
            </p:txBody>
          </p:sp>
        </mc:Choice>
        <mc:Fallback xmlns="">
          <p:sp>
            <p:nvSpPr>
              <p:cNvPr id="36" name="TextBox 35">
                <a:extLst>
                  <a:ext uri="{FF2B5EF4-FFF2-40B4-BE49-F238E27FC236}">
                    <a16:creationId xmlns:a16="http://schemas.microsoft.com/office/drawing/2014/main" id="{0B693EDC-80ED-D24B-B3A8-5736C486A4D7}"/>
                  </a:ext>
                </a:extLst>
              </p:cNvPr>
              <p:cNvSpPr txBox="1">
                <a:spLocks noRot="1" noChangeAspect="1" noMove="1" noResize="1" noEditPoints="1" noAdjustHandles="1" noChangeArrowheads="1" noChangeShapeType="1" noTextEdit="1"/>
              </p:cNvSpPr>
              <p:nvPr/>
            </p:nvSpPr>
            <p:spPr>
              <a:xfrm>
                <a:off x="2648812" y="4822349"/>
                <a:ext cx="1784040" cy="682944"/>
              </a:xfrm>
              <a:prstGeom prst="rect">
                <a:avLst/>
              </a:prstGeom>
              <a:blipFill>
                <a:blip r:embed="rId6"/>
                <a:stretch>
                  <a:fillRect b="-7273"/>
                </a:stretch>
              </a:blipFill>
            </p:spPr>
            <p:txBody>
              <a:bodyPr/>
              <a:lstStyle/>
              <a:p>
                <a:r>
                  <a:rPr lang="en-CN">
                    <a:noFill/>
                  </a:rPr>
                  <a:t> </a:t>
                </a:r>
              </a:p>
            </p:txBody>
          </p:sp>
        </mc:Fallback>
      </mc:AlternateContent>
      <p:sp>
        <p:nvSpPr>
          <p:cNvPr id="37" name="Right Brace 36">
            <a:extLst>
              <a:ext uri="{FF2B5EF4-FFF2-40B4-BE49-F238E27FC236}">
                <a16:creationId xmlns:a16="http://schemas.microsoft.com/office/drawing/2014/main" id="{A33C339A-D427-3440-A557-AD3D8873319B}"/>
              </a:ext>
            </a:extLst>
          </p:cNvPr>
          <p:cNvSpPr/>
          <p:nvPr/>
        </p:nvSpPr>
        <p:spPr>
          <a:xfrm rot="5400000">
            <a:off x="5445519" y="3717840"/>
            <a:ext cx="591971" cy="4353340"/>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211954D-660E-DE4F-8887-D6C0721F91E4}"/>
                  </a:ext>
                </a:extLst>
              </p:cNvPr>
              <p:cNvSpPr txBox="1"/>
              <p:nvPr/>
            </p:nvSpPr>
            <p:spPr>
              <a:xfrm>
                <a:off x="4174434" y="6190496"/>
                <a:ext cx="37437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𝑠</m:t>
                          </m:r>
                        </m:sub>
                      </m:sSub>
                      <m:r>
                        <a:rPr lang="en-US" b="0" i="1" smtClean="0">
                          <a:latin typeface="Cambria Math" panose="02040503050406030204" pitchFamily="18" charset="0"/>
                        </a:rPr>
                        <m:t>=0</m:t>
                      </m:r>
                    </m:oMath>
                  </m:oMathPara>
                </a14:m>
                <a:endParaRPr lang="en-CN" dirty="0"/>
              </a:p>
            </p:txBody>
          </p:sp>
        </mc:Choice>
        <mc:Fallback xmlns="">
          <p:sp>
            <p:nvSpPr>
              <p:cNvPr id="38" name="TextBox 37">
                <a:extLst>
                  <a:ext uri="{FF2B5EF4-FFF2-40B4-BE49-F238E27FC236}">
                    <a16:creationId xmlns:a16="http://schemas.microsoft.com/office/drawing/2014/main" id="{3211954D-660E-DE4F-8887-D6C0721F91E4}"/>
                  </a:ext>
                </a:extLst>
              </p:cNvPr>
              <p:cNvSpPr txBox="1">
                <a:spLocks noRot="1" noChangeAspect="1" noMove="1" noResize="1" noEditPoints="1" noAdjustHandles="1" noChangeArrowheads="1" noChangeShapeType="1" noTextEdit="1"/>
              </p:cNvSpPr>
              <p:nvPr/>
            </p:nvSpPr>
            <p:spPr>
              <a:xfrm>
                <a:off x="4174434" y="6190496"/>
                <a:ext cx="3743741" cy="369332"/>
              </a:xfrm>
              <a:prstGeom prst="rect">
                <a:avLst/>
              </a:prstGeom>
              <a:blipFill>
                <a:blip r:embed="rId7"/>
                <a:stretch>
                  <a:fillRect/>
                </a:stretch>
              </a:blipFill>
            </p:spPr>
            <p:txBody>
              <a:bodyPr/>
              <a:lstStyle/>
              <a:p>
                <a:r>
                  <a:rPr lang="en-CN">
                    <a:noFill/>
                  </a:rPr>
                  <a:t> </a:t>
                </a:r>
              </a:p>
            </p:txBody>
          </p:sp>
        </mc:Fallback>
      </mc:AlternateContent>
      <p:sp>
        <p:nvSpPr>
          <p:cNvPr id="39" name="TextBox 38">
            <a:extLst>
              <a:ext uri="{FF2B5EF4-FFF2-40B4-BE49-F238E27FC236}">
                <a16:creationId xmlns:a16="http://schemas.microsoft.com/office/drawing/2014/main" id="{0EC292C2-C837-F94F-8736-6A7D1BFA2D56}"/>
              </a:ext>
            </a:extLst>
          </p:cNvPr>
          <p:cNvSpPr txBox="1"/>
          <p:nvPr/>
        </p:nvSpPr>
        <p:spPr>
          <a:xfrm>
            <a:off x="8128554" y="6190496"/>
            <a:ext cx="3700280" cy="369332"/>
          </a:xfrm>
          <a:prstGeom prst="rect">
            <a:avLst/>
          </a:prstGeom>
          <a:noFill/>
        </p:spPr>
        <p:txBody>
          <a:bodyPr wrap="square" rtlCol="0">
            <a:spAutoFit/>
          </a:bodyPr>
          <a:lstStyle/>
          <a:p>
            <a:r>
              <a:rPr lang="en-CN" dirty="0">
                <a:solidFill>
                  <a:srgbClr val="FF0000"/>
                </a:solidFill>
              </a:rPr>
              <a:t>系统自由能取极值</a:t>
            </a:r>
            <a:r>
              <a:rPr lang="zh-CN" altLang="en-US" dirty="0">
                <a:solidFill>
                  <a:srgbClr val="FF0000"/>
                </a:solidFill>
              </a:rPr>
              <a:t>！！！</a:t>
            </a:r>
            <a:endParaRPr lang="en-CN" dirty="0">
              <a:solidFill>
                <a:srgbClr val="FF0000"/>
              </a:solidFill>
            </a:endParaRPr>
          </a:p>
        </p:txBody>
      </p:sp>
    </p:spTree>
    <p:extLst>
      <p:ext uri="{BB962C8B-B14F-4D97-AF65-F5344CB8AC3E}">
        <p14:creationId xmlns:p14="http://schemas.microsoft.com/office/powerpoint/2010/main" val="11520234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BDFF37-1CD1-EA44-92D0-02D9CE0A17FC}"/>
              </a:ext>
            </a:extLst>
          </p:cNvPr>
          <p:cNvPicPr>
            <a:picLocks noChangeAspect="1"/>
          </p:cNvPicPr>
          <p:nvPr/>
        </p:nvPicPr>
        <p:blipFill>
          <a:blip r:embed="rId2"/>
          <a:stretch>
            <a:fillRect/>
          </a:stretch>
        </p:blipFill>
        <p:spPr>
          <a:xfrm>
            <a:off x="954932" y="825751"/>
            <a:ext cx="10577208" cy="5206498"/>
          </a:xfrm>
          <a:prstGeom prst="rect">
            <a:avLst/>
          </a:prstGeom>
        </p:spPr>
      </p:pic>
      <p:sp>
        <p:nvSpPr>
          <p:cNvPr id="3" name="TextBox 2">
            <a:extLst>
              <a:ext uri="{FF2B5EF4-FFF2-40B4-BE49-F238E27FC236}">
                <a16:creationId xmlns:a16="http://schemas.microsoft.com/office/drawing/2014/main" id="{A651D2B2-CD41-8A41-BC8D-7130843A7208}"/>
              </a:ext>
            </a:extLst>
          </p:cNvPr>
          <p:cNvSpPr txBox="1"/>
          <p:nvPr/>
        </p:nvSpPr>
        <p:spPr>
          <a:xfrm>
            <a:off x="3346315" y="6150114"/>
            <a:ext cx="5291847" cy="707886"/>
          </a:xfrm>
          <a:prstGeom prst="rect">
            <a:avLst/>
          </a:prstGeom>
          <a:noFill/>
        </p:spPr>
        <p:txBody>
          <a:bodyPr wrap="square" rtlCol="0">
            <a:spAutoFit/>
          </a:bodyPr>
          <a:lstStyle/>
          <a:p>
            <a:pPr algn="ctr"/>
            <a:r>
              <a:rPr lang="en-CN" sz="4000" dirty="0">
                <a:solidFill>
                  <a:srgbClr val="FF0000"/>
                </a:solidFill>
              </a:rPr>
              <a:t>极小值</a:t>
            </a:r>
            <a:r>
              <a:rPr lang="zh-CN" altLang="en-US" sz="4000" dirty="0">
                <a:solidFill>
                  <a:srgbClr val="FF0000"/>
                </a:solidFill>
              </a:rPr>
              <a:t>！</a:t>
            </a:r>
            <a:endParaRPr lang="en-CN" sz="4000" dirty="0">
              <a:solidFill>
                <a:srgbClr val="FF0000"/>
              </a:solidFill>
            </a:endParaRPr>
          </a:p>
        </p:txBody>
      </p:sp>
      <p:sp>
        <p:nvSpPr>
          <p:cNvPr id="4" name="TextBox 3">
            <a:extLst>
              <a:ext uri="{FF2B5EF4-FFF2-40B4-BE49-F238E27FC236}">
                <a16:creationId xmlns:a16="http://schemas.microsoft.com/office/drawing/2014/main" id="{5F1EC620-26D8-CD5D-6418-3567D00C6FF0}"/>
              </a:ext>
            </a:extLst>
          </p:cNvPr>
          <p:cNvSpPr txBox="1"/>
          <p:nvPr/>
        </p:nvSpPr>
        <p:spPr>
          <a:xfrm>
            <a:off x="3183029" y="117865"/>
            <a:ext cx="5291847" cy="707886"/>
          </a:xfrm>
          <a:prstGeom prst="rect">
            <a:avLst/>
          </a:prstGeom>
          <a:noFill/>
        </p:spPr>
        <p:txBody>
          <a:bodyPr wrap="square" rtlCol="0">
            <a:spAutoFit/>
          </a:bodyPr>
          <a:lstStyle/>
          <a:p>
            <a:pPr algn="ctr"/>
            <a:r>
              <a:rPr lang="en-CN" sz="4000" dirty="0">
                <a:solidFill>
                  <a:srgbClr val="FF0000"/>
                </a:solidFill>
              </a:rPr>
              <a:t>极大还是极小</a:t>
            </a:r>
            <a:r>
              <a:rPr lang="zh-CN" altLang="en-US" sz="4000" dirty="0">
                <a:solidFill>
                  <a:srgbClr val="FF0000"/>
                </a:solidFill>
              </a:rPr>
              <a:t>？</a:t>
            </a:r>
            <a:endParaRPr lang="en-CN" sz="4000" dirty="0">
              <a:solidFill>
                <a:srgbClr val="FF0000"/>
              </a:solidFill>
            </a:endParaRPr>
          </a:p>
        </p:txBody>
      </p:sp>
    </p:spTree>
    <p:extLst>
      <p:ext uri="{BB962C8B-B14F-4D97-AF65-F5344CB8AC3E}">
        <p14:creationId xmlns:p14="http://schemas.microsoft.com/office/powerpoint/2010/main" val="19734580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EED120-40DB-3142-96C3-6D707B62EC0E}"/>
              </a:ext>
            </a:extLst>
          </p:cNvPr>
          <p:cNvSpPr txBox="1"/>
          <p:nvPr/>
        </p:nvSpPr>
        <p:spPr>
          <a:xfrm>
            <a:off x="369651" y="233464"/>
            <a:ext cx="2684834" cy="369332"/>
          </a:xfrm>
          <a:prstGeom prst="rect">
            <a:avLst/>
          </a:prstGeom>
          <a:noFill/>
        </p:spPr>
        <p:txBody>
          <a:bodyPr wrap="square" rtlCol="0">
            <a:spAutoFit/>
          </a:bodyPr>
          <a:lstStyle/>
          <a:p>
            <a:r>
              <a:rPr lang="en-CN" dirty="0"/>
              <a:t>例子</a:t>
            </a:r>
            <a:r>
              <a:rPr lang="zh-CN" altLang="en-US" dirty="0"/>
              <a:t>（等价计算）</a:t>
            </a:r>
            <a:endParaRPr lang="en-CN" dirty="0"/>
          </a:p>
        </p:txBody>
      </p:sp>
      <p:pic>
        <p:nvPicPr>
          <p:cNvPr id="3" name="Picture 2">
            <a:extLst>
              <a:ext uri="{FF2B5EF4-FFF2-40B4-BE49-F238E27FC236}">
                <a16:creationId xmlns:a16="http://schemas.microsoft.com/office/drawing/2014/main" id="{365B306A-DD8C-5645-BDB5-D560A430C601}"/>
              </a:ext>
            </a:extLst>
          </p:cNvPr>
          <p:cNvPicPr>
            <a:picLocks noChangeAspect="1"/>
          </p:cNvPicPr>
          <p:nvPr/>
        </p:nvPicPr>
        <p:blipFill>
          <a:blip r:embed="rId2"/>
          <a:stretch>
            <a:fillRect/>
          </a:stretch>
        </p:blipFill>
        <p:spPr>
          <a:xfrm>
            <a:off x="215289" y="750882"/>
            <a:ext cx="11761422" cy="3402795"/>
          </a:xfrm>
          <a:prstGeom prst="rect">
            <a:avLst/>
          </a:prstGeom>
        </p:spPr>
      </p:pic>
      <p:sp>
        <p:nvSpPr>
          <p:cNvPr id="4" name="TextBox 3">
            <a:extLst>
              <a:ext uri="{FF2B5EF4-FFF2-40B4-BE49-F238E27FC236}">
                <a16:creationId xmlns:a16="http://schemas.microsoft.com/office/drawing/2014/main" id="{A24F3508-DFB2-AA0F-8C5F-6BEB0BD1975F}"/>
              </a:ext>
            </a:extLst>
          </p:cNvPr>
          <p:cNvSpPr txBox="1"/>
          <p:nvPr/>
        </p:nvSpPr>
        <p:spPr>
          <a:xfrm>
            <a:off x="729343" y="4659086"/>
            <a:ext cx="10765971" cy="1323439"/>
          </a:xfrm>
          <a:prstGeom prst="rect">
            <a:avLst/>
          </a:prstGeom>
          <a:noFill/>
        </p:spPr>
        <p:txBody>
          <a:bodyPr wrap="square" rtlCol="0">
            <a:spAutoFit/>
          </a:bodyPr>
          <a:lstStyle/>
          <a:p>
            <a:pPr marL="285750" indent="-285750">
              <a:buFont typeface="Arial" panose="020B0604020202020204" pitchFamily="34" charset="0"/>
              <a:buChar char="•"/>
            </a:pPr>
            <a:r>
              <a:rPr lang="en-CN" sz="4000" dirty="0"/>
              <a:t>可按照U等构造一个势</a:t>
            </a:r>
            <a:r>
              <a:rPr lang="zh-CN" altLang="en-US" sz="4000" dirty="0"/>
              <a:t>，</a:t>
            </a:r>
            <a:r>
              <a:rPr lang="en-US" altLang="zh-CN" sz="4000" dirty="0"/>
              <a:t>Landau</a:t>
            </a:r>
            <a:r>
              <a:rPr lang="zh-CN" altLang="en-US" sz="4000" dirty="0"/>
              <a:t> </a:t>
            </a:r>
            <a:r>
              <a:rPr lang="en-US" altLang="zh-CN" sz="4000" dirty="0"/>
              <a:t>Free</a:t>
            </a:r>
            <a:r>
              <a:rPr lang="zh-CN" altLang="en-US" sz="4000" dirty="0"/>
              <a:t> </a:t>
            </a:r>
            <a:r>
              <a:rPr lang="en-US" altLang="zh-CN" sz="4000" dirty="0"/>
              <a:t>Energy</a:t>
            </a:r>
          </a:p>
          <a:p>
            <a:pPr marL="285750" indent="-285750">
              <a:buFont typeface="Arial" panose="020B0604020202020204" pitchFamily="34" charset="0"/>
              <a:buChar char="•"/>
            </a:pPr>
            <a:r>
              <a:rPr lang="en-US" sz="4000" dirty="0" err="1"/>
              <a:t>取极值</a:t>
            </a:r>
            <a:r>
              <a:rPr lang="zh-CN" altLang="en-US" sz="4000" dirty="0"/>
              <a:t>，</a:t>
            </a:r>
            <a:r>
              <a:rPr lang="en-US" altLang="zh-CN" sz="4000" dirty="0"/>
              <a:t>Helmholtz</a:t>
            </a:r>
            <a:r>
              <a:rPr lang="zh-CN" altLang="en-US" sz="4000" dirty="0"/>
              <a:t>自由能</a:t>
            </a:r>
            <a:endParaRPr lang="en-CN" sz="4000" dirty="0"/>
          </a:p>
        </p:txBody>
      </p:sp>
    </p:spTree>
    <p:extLst>
      <p:ext uri="{BB962C8B-B14F-4D97-AF65-F5344CB8AC3E}">
        <p14:creationId xmlns:p14="http://schemas.microsoft.com/office/powerpoint/2010/main" val="942998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E73C8E-14BA-1F41-BDCA-3BB1746B28C2}"/>
              </a:ext>
            </a:extLst>
          </p:cNvPr>
          <p:cNvPicPr>
            <a:picLocks noChangeAspect="1"/>
          </p:cNvPicPr>
          <p:nvPr/>
        </p:nvPicPr>
        <p:blipFill>
          <a:blip r:embed="rId2"/>
          <a:stretch>
            <a:fillRect/>
          </a:stretch>
        </p:blipFill>
        <p:spPr>
          <a:xfrm>
            <a:off x="1031131" y="187657"/>
            <a:ext cx="10523841" cy="6482686"/>
          </a:xfrm>
          <a:prstGeom prst="rect">
            <a:avLst/>
          </a:prstGeom>
        </p:spPr>
      </p:pic>
    </p:spTree>
    <p:extLst>
      <p:ext uri="{BB962C8B-B14F-4D97-AF65-F5344CB8AC3E}">
        <p14:creationId xmlns:p14="http://schemas.microsoft.com/office/powerpoint/2010/main" val="20889657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554AB0-7815-6049-8E38-4894DCBFB749}"/>
              </a:ext>
            </a:extLst>
          </p:cNvPr>
          <p:cNvPicPr>
            <a:picLocks noChangeAspect="1"/>
          </p:cNvPicPr>
          <p:nvPr/>
        </p:nvPicPr>
        <p:blipFill>
          <a:blip r:embed="rId2"/>
          <a:stretch>
            <a:fillRect/>
          </a:stretch>
        </p:blipFill>
        <p:spPr>
          <a:xfrm>
            <a:off x="2835774" y="321013"/>
            <a:ext cx="6837571" cy="6215974"/>
          </a:xfrm>
          <a:prstGeom prst="rect">
            <a:avLst/>
          </a:prstGeom>
        </p:spPr>
      </p:pic>
    </p:spTree>
    <p:extLst>
      <p:ext uri="{BB962C8B-B14F-4D97-AF65-F5344CB8AC3E}">
        <p14:creationId xmlns:p14="http://schemas.microsoft.com/office/powerpoint/2010/main" val="5768450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B23300-D5FB-ED34-4ECE-1A201BDDBE1B}"/>
              </a:ext>
            </a:extLst>
          </p:cNvPr>
          <p:cNvSpPr txBox="1"/>
          <p:nvPr/>
        </p:nvSpPr>
        <p:spPr>
          <a:xfrm>
            <a:off x="1360714" y="664029"/>
            <a:ext cx="9568543" cy="369332"/>
          </a:xfrm>
          <a:prstGeom prst="rect">
            <a:avLst/>
          </a:prstGeom>
          <a:noFill/>
        </p:spPr>
        <p:txBody>
          <a:bodyPr wrap="square" rtlCol="0">
            <a:spAutoFit/>
          </a:bodyPr>
          <a:lstStyle/>
          <a:p>
            <a:r>
              <a:rPr lang="en-CN" dirty="0"/>
              <a:t>Landau</a:t>
            </a:r>
            <a:r>
              <a:rPr lang="zh-CN" altLang="en-US" dirty="0"/>
              <a:t> </a:t>
            </a:r>
            <a:r>
              <a:rPr lang="en-US" altLang="zh-CN" dirty="0"/>
              <a:t>potential</a:t>
            </a:r>
            <a:r>
              <a:rPr lang="zh-CN" altLang="en-US" dirty="0"/>
              <a:t>的一点儿</a:t>
            </a:r>
            <a:endParaRPr lang="en-CN" dirty="0"/>
          </a:p>
        </p:txBody>
      </p:sp>
    </p:spTree>
    <p:extLst>
      <p:ext uri="{BB962C8B-B14F-4D97-AF65-F5344CB8AC3E}">
        <p14:creationId xmlns:p14="http://schemas.microsoft.com/office/powerpoint/2010/main" val="26230757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4FC241-0E8D-204B-8033-689EE27188AD}"/>
              </a:ext>
            </a:extLst>
          </p:cNvPr>
          <p:cNvSpPr txBox="1"/>
          <p:nvPr/>
        </p:nvSpPr>
        <p:spPr>
          <a:xfrm>
            <a:off x="1984443" y="953311"/>
            <a:ext cx="8229600" cy="707886"/>
          </a:xfrm>
          <a:prstGeom prst="rect">
            <a:avLst/>
          </a:prstGeom>
          <a:noFill/>
        </p:spPr>
        <p:txBody>
          <a:bodyPr wrap="square" rtlCol="0">
            <a:spAutoFit/>
          </a:bodyPr>
          <a:lstStyle/>
          <a:p>
            <a:pPr algn="ctr"/>
            <a:r>
              <a:rPr lang="en-CN" sz="4000" dirty="0">
                <a:latin typeface="FangSong" panose="02010609060101010101" pitchFamily="49" charset="-122"/>
                <a:ea typeface="FangSong" panose="02010609060101010101" pitchFamily="49" charset="-122"/>
              </a:rPr>
              <a:t>自然界中的极值问题</a:t>
            </a:r>
          </a:p>
        </p:txBody>
      </p:sp>
      <p:sp>
        <p:nvSpPr>
          <p:cNvPr id="3" name="TextBox 2">
            <a:extLst>
              <a:ext uri="{FF2B5EF4-FFF2-40B4-BE49-F238E27FC236}">
                <a16:creationId xmlns:a16="http://schemas.microsoft.com/office/drawing/2014/main" id="{39C01DDB-BDF1-2242-BEA4-ECAECF287858}"/>
              </a:ext>
            </a:extLst>
          </p:cNvPr>
          <p:cNvSpPr txBox="1"/>
          <p:nvPr/>
        </p:nvSpPr>
        <p:spPr>
          <a:xfrm>
            <a:off x="1147864" y="2266944"/>
            <a:ext cx="10447506" cy="3046988"/>
          </a:xfrm>
          <a:prstGeom prst="rect">
            <a:avLst/>
          </a:prstGeom>
          <a:noFill/>
        </p:spPr>
        <p:txBody>
          <a:bodyPr wrap="square" rtlCol="0">
            <a:spAutoFit/>
          </a:bodyPr>
          <a:lstStyle/>
          <a:p>
            <a:r>
              <a:rPr lang="en-CN" sz="3200" dirty="0">
                <a:latin typeface="FangSong" panose="02010609060101010101" pitchFamily="49" charset="-122"/>
                <a:ea typeface="FangSong" panose="02010609060101010101" pitchFamily="49" charset="-122"/>
              </a:rPr>
              <a:t>必须使自己相信一切物理学部门中都出现有最小性</a:t>
            </a:r>
            <a:r>
              <a:rPr lang="zh-CN" altLang="en-US" sz="3200" dirty="0">
                <a:latin typeface="FangSong" panose="02010609060101010101" pitchFamily="49" charset="-122"/>
                <a:ea typeface="FangSong" panose="02010609060101010101" pitchFamily="49" charset="-122"/>
              </a:rPr>
              <a:t>，并且要相信，这些性质不仅是对物理定律的正确表述，而且也是极有用和有启发性的表述。</a:t>
            </a:r>
            <a:endParaRPr lang="en-US" altLang="zh-CN" sz="3200" dirty="0">
              <a:latin typeface="FangSong" panose="02010609060101010101" pitchFamily="49" charset="-122"/>
              <a:ea typeface="FangSong" panose="02010609060101010101" pitchFamily="49" charset="-122"/>
            </a:endParaRPr>
          </a:p>
          <a:p>
            <a:pPr algn="r"/>
            <a:r>
              <a:rPr lang="en-US" altLang="zh-CN" sz="3200" dirty="0">
                <a:latin typeface="FangSong" panose="02010609060101010101" pitchFamily="49" charset="-122"/>
                <a:ea typeface="FangSong" panose="02010609060101010101" pitchFamily="49" charset="-122"/>
              </a:rPr>
              <a:t>——</a:t>
            </a:r>
            <a:r>
              <a:rPr lang="zh-CN" altLang="en-US" sz="3200" dirty="0">
                <a:latin typeface="FangSong" panose="02010609060101010101" pitchFamily="49" charset="-122"/>
                <a:ea typeface="FangSong" panose="02010609060101010101" pitchFamily="49" charset="-122"/>
              </a:rPr>
              <a:t>玻恩</a:t>
            </a:r>
            <a:endParaRPr lang="en-US" altLang="zh-CN" sz="3200" dirty="0">
              <a:latin typeface="FangSong" panose="02010609060101010101" pitchFamily="49" charset="-122"/>
              <a:ea typeface="FangSong" panose="02010609060101010101" pitchFamily="49" charset="-122"/>
            </a:endParaRPr>
          </a:p>
          <a:p>
            <a:pPr algn="r"/>
            <a:endParaRPr lang="en-US" sz="3200" dirty="0">
              <a:latin typeface="FangSong" panose="02010609060101010101" pitchFamily="49" charset="-122"/>
              <a:ea typeface="FangSong" panose="02010609060101010101" pitchFamily="49" charset="-122"/>
            </a:endParaRPr>
          </a:p>
          <a:p>
            <a:r>
              <a:rPr lang="zh-CN" altLang="en-US" sz="3200" dirty="0">
                <a:latin typeface="FangSong" panose="02010609060101010101" pitchFamily="49" charset="-122"/>
                <a:ea typeface="FangSong" panose="02010609060101010101" pitchFamily="49" charset="-122"/>
              </a:rPr>
              <a:t>自然不做任何多余的事或任何不必要的工作。</a:t>
            </a:r>
            <a:endParaRPr lang="en-CN" sz="3200"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23714544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96AD27-261B-B841-BD08-180399539969}"/>
              </a:ext>
            </a:extLst>
          </p:cNvPr>
          <p:cNvSpPr txBox="1"/>
          <p:nvPr/>
        </p:nvSpPr>
        <p:spPr>
          <a:xfrm>
            <a:off x="778214" y="680937"/>
            <a:ext cx="8229600" cy="707886"/>
          </a:xfrm>
          <a:prstGeom prst="rect">
            <a:avLst/>
          </a:prstGeom>
          <a:noFill/>
        </p:spPr>
        <p:txBody>
          <a:bodyPr wrap="square" rtlCol="0">
            <a:spAutoFit/>
          </a:bodyPr>
          <a:lstStyle/>
          <a:p>
            <a:r>
              <a:rPr lang="en-CN" sz="4000" dirty="0">
                <a:latin typeface="FangSong" panose="02010609060101010101" pitchFamily="49" charset="-122"/>
                <a:ea typeface="FangSong" panose="02010609060101010101" pitchFamily="49" charset="-122"/>
              </a:rPr>
              <a:t>最小作用量原理</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C6F2C23-5E4C-AC4B-8948-0F9EF82EC294}"/>
                  </a:ext>
                </a:extLst>
              </p:cNvPr>
              <p:cNvSpPr txBox="1"/>
              <p:nvPr/>
            </p:nvSpPr>
            <p:spPr>
              <a:xfrm>
                <a:off x="1648691" y="2413337"/>
                <a:ext cx="5043054" cy="10156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6000" i="1" smtClean="0">
                          <a:latin typeface="Cambria Math" panose="02040503050406030204" pitchFamily="18" charset="0"/>
                          <a:ea typeface="Cambria Math" panose="02040503050406030204" pitchFamily="18" charset="0"/>
                        </a:rPr>
                        <m:t>𝛿</m:t>
                      </m:r>
                      <m:r>
                        <a:rPr lang="en-US" sz="6000" b="0" i="1" smtClean="0">
                          <a:latin typeface="Cambria Math" panose="02040503050406030204" pitchFamily="18" charset="0"/>
                          <a:ea typeface="Cambria Math" panose="02040503050406030204" pitchFamily="18" charset="0"/>
                        </a:rPr>
                        <m:t>𝑆</m:t>
                      </m:r>
                      <m:r>
                        <a:rPr lang="en-US" sz="6000" b="0" i="1" smtClean="0">
                          <a:latin typeface="Cambria Math" panose="02040503050406030204" pitchFamily="18" charset="0"/>
                          <a:ea typeface="Cambria Math" panose="02040503050406030204" pitchFamily="18" charset="0"/>
                        </a:rPr>
                        <m:t>=0</m:t>
                      </m:r>
                    </m:oMath>
                  </m:oMathPara>
                </a14:m>
                <a:endParaRPr lang="en-CN" sz="6000" dirty="0"/>
              </a:p>
            </p:txBody>
          </p:sp>
        </mc:Choice>
        <mc:Fallback xmlns="">
          <p:sp>
            <p:nvSpPr>
              <p:cNvPr id="3" name="TextBox 2">
                <a:extLst>
                  <a:ext uri="{FF2B5EF4-FFF2-40B4-BE49-F238E27FC236}">
                    <a16:creationId xmlns:a16="http://schemas.microsoft.com/office/drawing/2014/main" id="{CC6F2C23-5E4C-AC4B-8948-0F9EF82EC294}"/>
                  </a:ext>
                </a:extLst>
              </p:cNvPr>
              <p:cNvSpPr txBox="1">
                <a:spLocks noRot="1" noChangeAspect="1" noMove="1" noResize="1" noEditPoints="1" noAdjustHandles="1" noChangeArrowheads="1" noChangeShapeType="1" noTextEdit="1"/>
              </p:cNvSpPr>
              <p:nvPr/>
            </p:nvSpPr>
            <p:spPr>
              <a:xfrm>
                <a:off x="1648691" y="2413337"/>
                <a:ext cx="5043054" cy="1015663"/>
              </a:xfrm>
              <a:prstGeom prst="rect">
                <a:avLst/>
              </a:prstGeom>
              <a:blipFill>
                <a:blip r:embed="rId2"/>
                <a:stretch>
                  <a:fillRect/>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9CC556B3-97E3-3944-A02A-F10CCBE04C7B}"/>
              </a:ext>
            </a:extLst>
          </p:cNvPr>
          <p:cNvSpPr txBox="1"/>
          <p:nvPr/>
        </p:nvSpPr>
        <p:spPr>
          <a:xfrm>
            <a:off x="778214" y="4980562"/>
            <a:ext cx="8093412"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参阅费曼物理学讲义</a:t>
            </a:r>
          </a:p>
        </p:txBody>
      </p:sp>
      <p:pic>
        <p:nvPicPr>
          <p:cNvPr id="5" name="Picture 4">
            <a:extLst>
              <a:ext uri="{FF2B5EF4-FFF2-40B4-BE49-F238E27FC236}">
                <a16:creationId xmlns:a16="http://schemas.microsoft.com/office/drawing/2014/main" id="{1125FC83-6BA0-394E-8FFD-343CAFBDDFAE}"/>
              </a:ext>
            </a:extLst>
          </p:cNvPr>
          <p:cNvPicPr>
            <a:picLocks noChangeAspect="1"/>
          </p:cNvPicPr>
          <p:nvPr/>
        </p:nvPicPr>
        <p:blipFill>
          <a:blip r:embed="rId3"/>
          <a:stretch>
            <a:fillRect/>
          </a:stretch>
        </p:blipFill>
        <p:spPr>
          <a:xfrm>
            <a:off x="7048500" y="0"/>
            <a:ext cx="5143500" cy="6858000"/>
          </a:xfrm>
          <a:prstGeom prst="rect">
            <a:avLst/>
          </a:prstGeom>
        </p:spPr>
      </p:pic>
    </p:spTree>
    <p:extLst>
      <p:ext uri="{BB962C8B-B14F-4D97-AF65-F5344CB8AC3E}">
        <p14:creationId xmlns:p14="http://schemas.microsoft.com/office/powerpoint/2010/main" val="39844008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E13CBC-C75C-B64A-B176-B0106EFAF353}"/>
              </a:ext>
            </a:extLst>
          </p:cNvPr>
          <p:cNvPicPr>
            <a:picLocks noChangeAspect="1"/>
          </p:cNvPicPr>
          <p:nvPr/>
        </p:nvPicPr>
        <p:blipFill>
          <a:blip r:embed="rId2"/>
          <a:stretch>
            <a:fillRect/>
          </a:stretch>
        </p:blipFill>
        <p:spPr>
          <a:xfrm>
            <a:off x="1917700" y="0"/>
            <a:ext cx="8356600" cy="2728359"/>
          </a:xfrm>
          <a:prstGeom prst="rect">
            <a:avLst/>
          </a:prstGeom>
        </p:spPr>
      </p:pic>
      <p:pic>
        <p:nvPicPr>
          <p:cNvPr id="2" name="Picture 1">
            <a:extLst>
              <a:ext uri="{FF2B5EF4-FFF2-40B4-BE49-F238E27FC236}">
                <a16:creationId xmlns:a16="http://schemas.microsoft.com/office/drawing/2014/main" id="{FD9584BB-7EB0-EB49-93E6-1ACB232E0942}"/>
              </a:ext>
            </a:extLst>
          </p:cNvPr>
          <p:cNvPicPr>
            <a:picLocks noChangeAspect="1"/>
          </p:cNvPicPr>
          <p:nvPr/>
        </p:nvPicPr>
        <p:blipFill>
          <a:blip r:embed="rId3"/>
          <a:stretch>
            <a:fillRect/>
          </a:stretch>
        </p:blipFill>
        <p:spPr>
          <a:xfrm>
            <a:off x="7506264" y="2645229"/>
            <a:ext cx="4381282" cy="4212771"/>
          </a:xfrm>
          <a:prstGeom prst="rect">
            <a:avLst/>
          </a:prstGeom>
        </p:spPr>
      </p:pic>
      <p:sp>
        <p:nvSpPr>
          <p:cNvPr id="3" name="TextBox 2">
            <a:extLst>
              <a:ext uri="{FF2B5EF4-FFF2-40B4-BE49-F238E27FC236}">
                <a16:creationId xmlns:a16="http://schemas.microsoft.com/office/drawing/2014/main" id="{178CBF7C-7BB1-7243-8C27-75E457A46E89}"/>
              </a:ext>
            </a:extLst>
          </p:cNvPr>
          <p:cNvSpPr txBox="1"/>
          <p:nvPr/>
        </p:nvSpPr>
        <p:spPr>
          <a:xfrm>
            <a:off x="811658" y="5238559"/>
            <a:ext cx="6469065" cy="646331"/>
          </a:xfrm>
          <a:prstGeom prst="rect">
            <a:avLst/>
          </a:prstGeom>
          <a:noFill/>
        </p:spPr>
        <p:txBody>
          <a:bodyPr wrap="square" rtlCol="0">
            <a:spAutoFit/>
          </a:bodyPr>
          <a:lstStyle/>
          <a:p>
            <a:r>
              <a:rPr lang="en-CN" dirty="0"/>
              <a:t>Lagrange用变分法统一了力学</a:t>
            </a:r>
          </a:p>
          <a:p>
            <a:r>
              <a:rPr lang="en-CN" dirty="0"/>
              <a:t>一首科学的诗</a:t>
            </a:r>
          </a:p>
        </p:txBody>
      </p:sp>
      <p:sp>
        <p:nvSpPr>
          <p:cNvPr id="5" name="TextBox 4">
            <a:extLst>
              <a:ext uri="{FF2B5EF4-FFF2-40B4-BE49-F238E27FC236}">
                <a16:creationId xmlns:a16="http://schemas.microsoft.com/office/drawing/2014/main" id="{D29D3867-C260-6944-A4CA-FFF01D5224CC}"/>
              </a:ext>
            </a:extLst>
          </p:cNvPr>
          <p:cNvSpPr txBox="1"/>
          <p:nvPr/>
        </p:nvSpPr>
        <p:spPr>
          <a:xfrm>
            <a:off x="3077679" y="6262255"/>
            <a:ext cx="4203044" cy="369332"/>
          </a:xfrm>
          <a:prstGeom prst="rect">
            <a:avLst/>
          </a:prstGeom>
          <a:noFill/>
        </p:spPr>
        <p:txBody>
          <a:bodyPr wrap="square" rtlCol="0">
            <a:spAutoFit/>
          </a:bodyPr>
          <a:lstStyle/>
          <a:p>
            <a:r>
              <a:rPr lang="en-CN" dirty="0">
                <a:solidFill>
                  <a:srgbClr val="FF0000"/>
                </a:solidFill>
              </a:rPr>
              <a:t>和我们的课程有关联吗</a:t>
            </a:r>
            <a:r>
              <a:rPr lang="zh-CN" altLang="en-US" dirty="0">
                <a:solidFill>
                  <a:srgbClr val="FF0000"/>
                </a:solidFill>
              </a:rPr>
              <a:t>？</a:t>
            </a:r>
            <a:endParaRPr lang="en-CN" dirty="0">
              <a:solidFill>
                <a:srgbClr val="FF0000"/>
              </a:solidFill>
            </a:endParaRPr>
          </a:p>
        </p:txBody>
      </p:sp>
      <p:pic>
        <p:nvPicPr>
          <p:cNvPr id="7" name="Picture 6">
            <a:extLst>
              <a:ext uri="{FF2B5EF4-FFF2-40B4-BE49-F238E27FC236}">
                <a16:creationId xmlns:a16="http://schemas.microsoft.com/office/drawing/2014/main" id="{6AA47498-2312-2C4F-8FFF-0DB81371D094}"/>
              </a:ext>
            </a:extLst>
          </p:cNvPr>
          <p:cNvPicPr>
            <a:picLocks noChangeAspect="1"/>
          </p:cNvPicPr>
          <p:nvPr/>
        </p:nvPicPr>
        <p:blipFill>
          <a:blip r:embed="rId4"/>
          <a:stretch>
            <a:fillRect/>
          </a:stretch>
        </p:blipFill>
        <p:spPr>
          <a:xfrm>
            <a:off x="99345" y="2878274"/>
            <a:ext cx="7406919" cy="2179153"/>
          </a:xfrm>
          <a:prstGeom prst="rect">
            <a:avLst/>
          </a:prstGeom>
        </p:spPr>
      </p:pic>
    </p:spTree>
    <p:extLst>
      <p:ext uri="{BB962C8B-B14F-4D97-AF65-F5344CB8AC3E}">
        <p14:creationId xmlns:p14="http://schemas.microsoft.com/office/powerpoint/2010/main" val="40807694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B843FD-4956-B447-B887-C4046E1C2B81}"/>
              </a:ext>
            </a:extLst>
          </p:cNvPr>
          <p:cNvPicPr>
            <a:picLocks noChangeAspect="1"/>
          </p:cNvPicPr>
          <p:nvPr/>
        </p:nvPicPr>
        <p:blipFill>
          <a:blip r:embed="rId2"/>
          <a:stretch>
            <a:fillRect/>
          </a:stretch>
        </p:blipFill>
        <p:spPr>
          <a:xfrm>
            <a:off x="1634837" y="764546"/>
            <a:ext cx="8235950" cy="4504800"/>
          </a:xfrm>
          <a:prstGeom prst="rect">
            <a:avLst/>
          </a:prstGeom>
        </p:spPr>
      </p:pic>
      <p:sp>
        <p:nvSpPr>
          <p:cNvPr id="4" name="TextBox 3">
            <a:extLst>
              <a:ext uri="{FF2B5EF4-FFF2-40B4-BE49-F238E27FC236}">
                <a16:creationId xmlns:a16="http://schemas.microsoft.com/office/drawing/2014/main" id="{4D5F6167-835E-E343-9E0D-6D1AF9F2EE61}"/>
              </a:ext>
            </a:extLst>
          </p:cNvPr>
          <p:cNvSpPr txBox="1"/>
          <p:nvPr/>
        </p:nvSpPr>
        <p:spPr>
          <a:xfrm>
            <a:off x="263236" y="110836"/>
            <a:ext cx="4738255"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自由能和配分函数之间的关系</a:t>
            </a:r>
          </a:p>
        </p:txBody>
      </p:sp>
    </p:spTree>
    <p:extLst>
      <p:ext uri="{BB962C8B-B14F-4D97-AF65-F5344CB8AC3E}">
        <p14:creationId xmlns:p14="http://schemas.microsoft.com/office/powerpoint/2010/main" val="36154774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A872903-B79A-E848-9FD1-FD091A142E17}"/>
                  </a:ext>
                </a:extLst>
              </p:cNvPr>
              <p:cNvSpPr txBox="1"/>
              <p:nvPr/>
            </p:nvSpPr>
            <p:spPr>
              <a:xfrm>
                <a:off x="969818" y="609600"/>
                <a:ext cx="10640291" cy="3742435"/>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𝜎</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solidFill>
                              <a:srgbClr val="7030A0"/>
                            </a:solidFill>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e>
                    </m:d>
                  </m:oMath>
                </a14:m>
                <a:endParaRPr lang="en-US" b="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den>
                              </m:f>
                            </m:e>
                          </m:d>
                        </m:e>
                        <m:sub>
                          <m:r>
                            <a:rPr lang="en-US" b="0" i="1" smtClean="0">
                              <a:latin typeface="Cambria Math" panose="02040503050406030204" pitchFamily="18" charset="0"/>
                              <a:ea typeface="Cambria Math" panose="02040503050406030204" pitchFamily="18" charset="0"/>
                            </a:rPr>
                            <m:t>𝑉</m:t>
                          </m:r>
                        </m:sub>
                      </m:sSub>
                      <m:r>
                        <a:rPr lang="en-US" i="1">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den>
                              </m:f>
                            </m:e>
                          </m:d>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𝑑𝑉</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𝑑𝑈</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𝑝</m:t>
                          </m:r>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𝑑𝑉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𝑝𝑑𝑉</m:t>
                      </m:r>
                    </m:oMath>
                  </m:oMathPara>
                </a14:m>
                <a:endParaRPr lang="en-CN" dirty="0"/>
              </a:p>
              <a:p>
                <a:pPr marL="285750" indent="-285750">
                  <a:buFont typeface="Arial" panose="020B0604020202020204" pitchFamily="34" charset="0"/>
                  <a:buChar char="•"/>
                </a:pPr>
                <a14:m>
                  <m:oMath xmlns:m="http://schemas.openxmlformats.org/officeDocument/2006/math">
                    <m:r>
                      <a:rPr lang="en-US" b="0" i="1" smtClean="0">
                        <a:solidFill>
                          <a:srgbClr val="FF0000"/>
                        </a:solidFill>
                        <a:latin typeface="Cambria Math" panose="02040503050406030204" pitchFamily="18" charset="0"/>
                      </a:rPr>
                      <m:t>𝑈</m:t>
                    </m:r>
                    <m:r>
                      <a:rPr lang="en-US" b="0" i="1" smtClean="0">
                        <a:latin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rPr>
                      <m:t>]</m:t>
                    </m:r>
                  </m:oMath>
                </a14:m>
                <a:endParaRPr lang="en-CN"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𝑑𝑈</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𝜎</m:t>
                                  </m:r>
                                </m:den>
                              </m:f>
                            </m:e>
                          </m:d>
                        </m:e>
                        <m:sub>
                          <m:r>
                            <a:rPr lang="en-US" i="1">
                              <a:latin typeface="Cambria Math" panose="02040503050406030204" pitchFamily="18" charset="0"/>
                              <a:ea typeface="Cambria Math" panose="02040503050406030204" pitchFamily="18" charset="0"/>
                            </a:rPr>
                            <m:t>𝑉</m:t>
                          </m:r>
                        </m:sub>
                      </m:sSub>
                      <m:r>
                        <a:rPr lang="en-US" i="1">
                          <a:latin typeface="Cambria Math" panose="02040503050406030204" pitchFamily="18" charset="0"/>
                          <a:ea typeface="Cambria Math" panose="02040503050406030204" pitchFamily="18" charset="0"/>
                        </a:rPr>
                        <m:t>𝑑</m:t>
                      </m:r>
                      <m:r>
                        <a:rPr lang="en-US" i="1" smtClean="0">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𝑉</m:t>
                                  </m:r>
                                </m:den>
                              </m:f>
                            </m:e>
                          </m:d>
                        </m:e>
                        <m:sub>
                          <m:r>
                            <a:rPr lang="en-US" i="1" smtClean="0">
                              <a:latin typeface="Cambria Math" panose="02040503050406030204" pitchFamily="18" charset="0"/>
                              <a:ea typeface="Cambria Math" panose="02040503050406030204" pitchFamily="18" charset="0"/>
                            </a:rPr>
                            <m:t>𝜎</m:t>
                          </m:r>
                        </m:sub>
                      </m:sSub>
                      <m:r>
                        <a:rPr lang="en-US" i="1">
                          <a:latin typeface="Cambria Math" panose="02040503050406030204" pitchFamily="18" charset="0"/>
                          <a:ea typeface="Cambria Math" panose="02040503050406030204" pitchFamily="18" charset="0"/>
                        </a:rPr>
                        <m:t>𝑑𝑉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𝑝𝑑𝑉</m:t>
                      </m:r>
                    </m:oMath>
                  </m:oMathPara>
                </a14:m>
                <a:endParaRPr lang="en-CN" dirty="0"/>
              </a:p>
              <a:p>
                <a:endParaRPr lang="en-CN" dirty="0"/>
              </a:p>
              <a:p>
                <a:endParaRPr lang="en-CN" dirty="0"/>
              </a:p>
              <a:p>
                <a:endParaRPr lang="en-CN" dirty="0"/>
              </a:p>
              <a:p>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oMath>
                </a14:m>
                <a:endParaRPr lang="en-CN"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𝑑𝐹</m:t>
                      </m:r>
                      <m:r>
                        <a:rPr lang="en-US" b="0" i="1" smtClean="0">
                          <a:latin typeface="Cambria Math" panose="02040503050406030204" pitchFamily="18" charset="0"/>
                        </a:rPr>
                        <m:t>=</m:t>
                      </m:r>
                      <m:r>
                        <a:rPr lang="en-US" b="0" i="1" smtClean="0">
                          <a:latin typeface="Cambria Math" panose="02040503050406030204" pitchFamily="18" charset="0"/>
                        </a:rPr>
                        <m:t>𝑑𝑈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𝜎</m:t>
                      </m:r>
                      <m:r>
                        <a:rPr lang="en-US" b="0" i="1" smtClean="0">
                          <a:solidFill>
                            <a:srgbClr val="FF0000"/>
                          </a:solidFill>
                          <a:latin typeface="Cambria Math" panose="02040503050406030204" pitchFamily="18" charset="0"/>
                          <a:ea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𝑝𝑑𝑉</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i="1" smtClean="0">
                              <a:solidFill>
                                <a:srgbClr val="FF0000"/>
                              </a:solidFill>
                              <a:latin typeface="Cambria Math" panose="02040503050406030204" pitchFamily="18" charset="0"/>
                              <a:ea typeface="Cambria Math" panose="02040503050406030204" pitchFamily="18" charset="0"/>
                            </a:rPr>
                          </m:ctrlPr>
                        </m:sSubPr>
                        <m:e>
                          <m:d>
                            <m:dPr>
                              <m:ctrlPr>
                                <a:rPr lang="en-US" i="1">
                                  <a:solidFill>
                                    <a:srgbClr val="FF0000"/>
                                  </a:solidFill>
                                  <a:latin typeface="Cambria Math" panose="02040503050406030204" pitchFamily="18" charset="0"/>
                                  <a:ea typeface="Cambria Math" panose="02040503050406030204" pitchFamily="18" charset="0"/>
                                </a:rPr>
                              </m:ctrlPr>
                            </m:dPr>
                            <m:e>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𝐹</m:t>
                                  </m:r>
                                </m:num>
                                <m:den>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 </m:t>
                                  </m:r>
                                  <m:r>
                                    <a:rPr lang="en-US" i="1" smtClean="0">
                                      <a:solidFill>
                                        <a:srgbClr val="FF0000"/>
                                      </a:solidFill>
                                      <a:latin typeface="Cambria Math" panose="02040503050406030204" pitchFamily="18" charset="0"/>
                                      <a:ea typeface="Cambria Math" panose="02040503050406030204" pitchFamily="18" charset="0"/>
                                    </a:rPr>
                                    <m:t>𝜏</m:t>
                                  </m:r>
                                </m:den>
                              </m:f>
                            </m:e>
                          </m:d>
                        </m:e>
                        <m:sub>
                          <m:r>
                            <a:rPr lang="en-US" i="1">
                              <a:solidFill>
                                <a:srgbClr val="FF0000"/>
                              </a:solidFill>
                              <a:latin typeface="Cambria Math" panose="02040503050406030204" pitchFamily="18" charset="0"/>
                              <a:ea typeface="Cambria Math" panose="02040503050406030204" pitchFamily="18" charset="0"/>
                            </a:rPr>
                            <m:t>𝑉</m:t>
                          </m:r>
                        </m:sub>
                      </m:sSub>
                      <m:r>
                        <a:rPr lang="en-US" i="1">
                          <a:solidFill>
                            <a:srgbClr val="FF0000"/>
                          </a:solidFill>
                          <a:latin typeface="Cambria Math" panose="02040503050406030204" pitchFamily="18" charset="0"/>
                          <a:ea typeface="Cambria Math" panose="02040503050406030204" pitchFamily="18" charset="0"/>
                        </a:rPr>
                        <m:t>𝑑</m:t>
                      </m:r>
                      <m:r>
                        <a:rPr lang="en-US" i="1" dirty="0" smtClean="0">
                          <a:solidFill>
                            <a:srgbClr val="FF0000"/>
                          </a:solidFill>
                          <a:latin typeface="Cambria Math" panose="02040503050406030204" pitchFamily="18" charset="0"/>
                          <a:ea typeface="Cambria Math" panose="02040503050406030204" pitchFamily="18" charset="0"/>
                        </a:rPr>
                        <m:t>𝜏</m:t>
                      </m:r>
                      <m:r>
                        <a:rPr lang="en-US" i="1" smtClean="0">
                          <a:solidFill>
                            <a:srgbClr val="7030A0"/>
                          </a:solidFill>
                          <a:latin typeface="Cambria Math" panose="02040503050406030204" pitchFamily="18" charset="0"/>
                          <a:ea typeface="Cambria Math" panose="02040503050406030204" pitchFamily="18" charset="0"/>
                        </a:rPr>
                        <m:t>+</m:t>
                      </m:r>
                      <m:sSub>
                        <m:sSubPr>
                          <m:ctrlPr>
                            <a:rPr lang="en-US" i="1">
                              <a:solidFill>
                                <a:srgbClr val="7030A0"/>
                              </a:solidFill>
                              <a:latin typeface="Cambria Math" panose="02040503050406030204" pitchFamily="18" charset="0"/>
                              <a:ea typeface="Cambria Math" panose="02040503050406030204" pitchFamily="18" charset="0"/>
                            </a:rPr>
                          </m:ctrlPr>
                        </m:sSubPr>
                        <m:e>
                          <m:d>
                            <m:dPr>
                              <m:ctrlPr>
                                <a:rPr lang="en-US" i="1">
                                  <a:solidFill>
                                    <a:srgbClr val="7030A0"/>
                                  </a:solidFill>
                                  <a:latin typeface="Cambria Math" panose="02040503050406030204" pitchFamily="18" charset="0"/>
                                  <a:ea typeface="Cambria Math" panose="02040503050406030204" pitchFamily="18" charset="0"/>
                                </a:rPr>
                              </m:ctrlPr>
                            </m:dPr>
                            <m:e>
                              <m:f>
                                <m:fPr>
                                  <m:ctrlPr>
                                    <a:rPr lang="en-US" i="1">
                                      <a:solidFill>
                                        <a:srgbClr val="7030A0"/>
                                      </a:solidFill>
                                      <a:latin typeface="Cambria Math" panose="02040503050406030204" pitchFamily="18" charset="0"/>
                                      <a:ea typeface="Cambria Math" panose="02040503050406030204" pitchFamily="18" charset="0"/>
                                    </a:rPr>
                                  </m:ctrlPr>
                                </m:fPr>
                                <m:num>
                                  <m:r>
                                    <a:rPr lang="en-US" i="1">
                                      <a:solidFill>
                                        <a:srgbClr val="7030A0"/>
                                      </a:solidFill>
                                      <a:latin typeface="Cambria Math" panose="02040503050406030204" pitchFamily="18" charset="0"/>
                                      <a:ea typeface="Cambria Math" panose="02040503050406030204" pitchFamily="18" charset="0"/>
                                    </a:rPr>
                                    <m:t>𝜕</m:t>
                                  </m:r>
                                  <m:r>
                                    <a:rPr lang="en-US" i="1">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𝐹</m:t>
                                  </m:r>
                                </m:num>
                                <m:den>
                                  <m:r>
                                    <a:rPr lang="en-US" i="1">
                                      <a:solidFill>
                                        <a:srgbClr val="7030A0"/>
                                      </a:solidFill>
                                      <a:latin typeface="Cambria Math" panose="02040503050406030204" pitchFamily="18" charset="0"/>
                                      <a:ea typeface="Cambria Math" panose="02040503050406030204" pitchFamily="18" charset="0"/>
                                    </a:rPr>
                                    <m:t>𝜕</m:t>
                                  </m:r>
                                  <m:r>
                                    <a:rPr lang="en-US" i="1">
                                      <a:solidFill>
                                        <a:srgbClr val="7030A0"/>
                                      </a:solidFill>
                                      <a:latin typeface="Cambria Math" panose="02040503050406030204" pitchFamily="18" charset="0"/>
                                      <a:ea typeface="Cambria Math" panose="02040503050406030204" pitchFamily="18" charset="0"/>
                                    </a:rPr>
                                    <m:t> </m:t>
                                  </m:r>
                                  <m:r>
                                    <a:rPr lang="en-US" i="1">
                                      <a:solidFill>
                                        <a:srgbClr val="7030A0"/>
                                      </a:solidFill>
                                      <a:latin typeface="Cambria Math" panose="02040503050406030204" pitchFamily="18" charset="0"/>
                                      <a:ea typeface="Cambria Math" panose="02040503050406030204" pitchFamily="18" charset="0"/>
                                    </a:rPr>
                                    <m:t>𝑉</m:t>
                                  </m:r>
                                </m:den>
                              </m:f>
                            </m:e>
                          </m:d>
                        </m:e>
                        <m:sub>
                          <m:r>
                            <a:rPr lang="en-US" i="1" smtClean="0">
                              <a:solidFill>
                                <a:srgbClr val="7030A0"/>
                              </a:solidFill>
                              <a:latin typeface="Cambria Math" panose="02040503050406030204" pitchFamily="18" charset="0"/>
                              <a:ea typeface="Cambria Math" panose="02040503050406030204" pitchFamily="18" charset="0"/>
                            </a:rPr>
                            <m:t>𝜏</m:t>
                          </m:r>
                        </m:sub>
                      </m:sSub>
                      <m:r>
                        <a:rPr lang="en-US" i="1">
                          <a:solidFill>
                            <a:srgbClr val="7030A0"/>
                          </a:solidFill>
                          <a:latin typeface="Cambria Math" panose="02040503050406030204" pitchFamily="18" charset="0"/>
                          <a:ea typeface="Cambria Math" panose="02040503050406030204" pitchFamily="18" charset="0"/>
                        </a:rPr>
                        <m:t>𝑑𝑉</m:t>
                      </m:r>
                    </m:oMath>
                  </m:oMathPara>
                </a14:m>
                <a:endParaRPr lang="en-CN" dirty="0"/>
              </a:p>
            </p:txBody>
          </p:sp>
        </mc:Choice>
        <mc:Fallback xmlns="">
          <p:sp>
            <p:nvSpPr>
              <p:cNvPr id="2" name="TextBox 1">
                <a:extLst>
                  <a:ext uri="{FF2B5EF4-FFF2-40B4-BE49-F238E27FC236}">
                    <a16:creationId xmlns:a16="http://schemas.microsoft.com/office/drawing/2014/main" id="{1A872903-B79A-E848-9FD1-FD091A142E17}"/>
                  </a:ext>
                </a:extLst>
              </p:cNvPr>
              <p:cNvSpPr txBox="1">
                <a:spLocks noRot="1" noChangeAspect="1" noMove="1" noResize="1" noEditPoints="1" noAdjustHandles="1" noChangeArrowheads="1" noChangeShapeType="1" noTextEdit="1"/>
              </p:cNvSpPr>
              <p:nvPr/>
            </p:nvSpPr>
            <p:spPr>
              <a:xfrm>
                <a:off x="969818" y="609600"/>
                <a:ext cx="10640291" cy="3742435"/>
              </a:xfrm>
              <a:prstGeom prst="rect">
                <a:avLst/>
              </a:prstGeom>
              <a:blipFill>
                <a:blip r:embed="rId2"/>
                <a:stretch>
                  <a:fillRect l="-358" t="-339" b="-1356"/>
                </a:stretch>
              </a:blipFill>
            </p:spPr>
            <p:txBody>
              <a:bodyPr/>
              <a:lstStyle/>
              <a:p>
                <a:r>
                  <a:rPr lang="en-CN">
                    <a:noFill/>
                  </a:rPr>
                  <a:t> </a:t>
                </a:r>
              </a:p>
            </p:txBody>
          </p:sp>
        </mc:Fallback>
      </mc:AlternateContent>
      <p:sp>
        <p:nvSpPr>
          <p:cNvPr id="3" name="Down Arrow 2">
            <a:extLst>
              <a:ext uri="{FF2B5EF4-FFF2-40B4-BE49-F238E27FC236}">
                <a16:creationId xmlns:a16="http://schemas.microsoft.com/office/drawing/2014/main" id="{250090EE-7735-E646-8E14-2A5085DF7D86}"/>
              </a:ext>
            </a:extLst>
          </p:cNvPr>
          <p:cNvSpPr/>
          <p:nvPr/>
        </p:nvSpPr>
        <p:spPr>
          <a:xfrm>
            <a:off x="5029200" y="2521703"/>
            <a:ext cx="1440873" cy="7756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AB2F3A-97B2-494D-89CC-D11E739B20FC}"/>
                  </a:ext>
                </a:extLst>
              </p:cNvPr>
              <p:cNvSpPr txBox="1"/>
              <p:nvPr/>
            </p:nvSpPr>
            <p:spPr>
              <a:xfrm>
                <a:off x="5583381" y="4210449"/>
                <a:ext cx="14131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𝐹</m:t>
                          </m:r>
                          <m:d>
                            <m:dPr>
                              <m:begChr m:val="["/>
                              <m:endChr m:val="]"/>
                              <m:ctrlPr>
                                <a:rPr lang="en-US" b="0" i="1" smtClean="0">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𝑉</m:t>
                              </m:r>
                            </m:e>
                          </m:d>
                        </m:e>
                      </m:d>
                      <m:r>
                        <a:rPr lang="en-US" b="0" i="1" smtClean="0">
                          <a:latin typeface="Cambria Math" panose="02040503050406030204" pitchFamily="18" charset="0"/>
                        </a:rPr>
                        <m:t>!</m:t>
                      </m:r>
                    </m:oMath>
                  </m:oMathPara>
                </a14:m>
                <a:endParaRPr lang="en-CN" dirty="0"/>
              </a:p>
            </p:txBody>
          </p:sp>
        </mc:Choice>
        <mc:Fallback xmlns="">
          <p:sp>
            <p:nvSpPr>
              <p:cNvPr id="5" name="TextBox 4">
                <a:extLst>
                  <a:ext uri="{FF2B5EF4-FFF2-40B4-BE49-F238E27FC236}">
                    <a16:creationId xmlns:a16="http://schemas.microsoft.com/office/drawing/2014/main" id="{90AB2F3A-97B2-494D-89CC-D11E739B20FC}"/>
                  </a:ext>
                </a:extLst>
              </p:cNvPr>
              <p:cNvSpPr txBox="1">
                <a:spLocks noRot="1" noChangeAspect="1" noMove="1" noResize="1" noEditPoints="1" noAdjustHandles="1" noChangeArrowheads="1" noChangeShapeType="1" noTextEdit="1"/>
              </p:cNvSpPr>
              <p:nvPr/>
            </p:nvSpPr>
            <p:spPr>
              <a:xfrm>
                <a:off x="5583381" y="4210449"/>
                <a:ext cx="1413164" cy="369332"/>
              </a:xfrm>
              <a:prstGeom prst="rect">
                <a:avLst/>
              </a:prstGeom>
              <a:blipFill>
                <a:blip r:embed="rId3"/>
                <a:stretch>
                  <a:fillRect/>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F2EF04DE-5418-D447-80A8-92BD840D81A4}"/>
              </a:ext>
            </a:extLst>
          </p:cNvPr>
          <p:cNvSpPr/>
          <p:nvPr/>
        </p:nvSpPr>
        <p:spPr>
          <a:xfrm>
            <a:off x="5029199" y="4748003"/>
            <a:ext cx="1440873" cy="7756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D612D34-ABEB-9D4A-BB00-0729A8FA0E5E}"/>
                  </a:ext>
                </a:extLst>
              </p:cNvPr>
              <p:cNvSpPr txBox="1"/>
              <p:nvPr/>
            </p:nvSpPr>
            <p:spPr>
              <a:xfrm>
                <a:off x="4281054" y="5919650"/>
                <a:ext cx="3380509" cy="54457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14:m>
                  <m:oMath xmlns:m="http://schemas.openxmlformats.org/officeDocument/2006/math">
                    <m:sSub>
                      <m:sSubPr>
                        <m:ctrlPr>
                          <a:rPr lang="en-US" i="1" smtClean="0">
                            <a:solidFill>
                              <a:srgbClr val="FF0000"/>
                            </a:solidFill>
                            <a:latin typeface="Cambria Math" panose="02040503050406030204" pitchFamily="18" charset="0"/>
                            <a:ea typeface="Cambria Math" panose="02040503050406030204" pitchFamily="18" charset="0"/>
                          </a:rPr>
                        </m:ctrlPr>
                      </m:sSubPr>
                      <m:e>
                        <m:d>
                          <m:dPr>
                            <m:ctrlPr>
                              <a:rPr lang="en-US" i="1">
                                <a:solidFill>
                                  <a:srgbClr val="FF0000"/>
                                </a:solidFill>
                                <a:latin typeface="Cambria Math" panose="02040503050406030204" pitchFamily="18" charset="0"/>
                                <a:ea typeface="Cambria Math" panose="02040503050406030204" pitchFamily="18" charset="0"/>
                              </a:rPr>
                            </m:ctrlPr>
                          </m:dPr>
                          <m:e>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𝐹</m:t>
                                </m:r>
                              </m:num>
                              <m:den>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𝜏</m:t>
                                </m:r>
                              </m:den>
                            </m:f>
                          </m:e>
                        </m:d>
                      </m:e>
                      <m:sub>
                        <m:r>
                          <a:rPr lang="en-US" i="1">
                            <a:solidFill>
                              <a:srgbClr val="FF0000"/>
                            </a:solidFill>
                            <a:latin typeface="Cambria Math" panose="02040503050406030204" pitchFamily="18" charset="0"/>
                            <a:ea typeface="Cambria Math" panose="02040503050406030204" pitchFamily="18" charset="0"/>
                          </a:rPr>
                          <m:t>𝑉</m:t>
                        </m:r>
                      </m:sub>
                    </m:sSub>
                    <m:r>
                      <a:rPr lang="en-US" b="0" i="0" smtClean="0">
                        <a:solidFill>
                          <a:srgbClr val="FF0000"/>
                        </a:solidFill>
                        <a:latin typeface="Cambria Math" panose="02040503050406030204" pitchFamily="18" charset="0"/>
                        <a:ea typeface="Cambria Math" panose="02040503050406030204" pitchFamily="18" charset="0"/>
                      </a:rPr>
                      <m:t>=−</m:t>
                    </m:r>
                    <m:r>
                      <m:rPr>
                        <m:sty m:val="p"/>
                      </m:rPr>
                      <a:rPr lang="el-GR" b="0" i="1" smtClean="0">
                        <a:solidFill>
                          <a:srgbClr val="FF0000"/>
                        </a:solidFill>
                        <a:latin typeface="Cambria Math" panose="02040503050406030204" pitchFamily="18" charset="0"/>
                        <a:ea typeface="Cambria Math" panose="02040503050406030204" pitchFamily="18" charset="0"/>
                      </a:rPr>
                      <m:t>σ</m:t>
                    </m:r>
                  </m:oMath>
                </a14:m>
                <a:r>
                  <a:rPr lang="en-CN" dirty="0"/>
                  <a:t>;</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𝐹</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𝑉</m:t>
                                </m:r>
                              </m:den>
                            </m:f>
                          </m:e>
                        </m:d>
                      </m:e>
                      <m:sub>
                        <m:r>
                          <a:rPr lang="en-US" i="1">
                            <a:latin typeface="Cambria Math" panose="02040503050406030204" pitchFamily="18" charset="0"/>
                            <a:ea typeface="Cambria Math" panose="02040503050406030204" pitchFamily="18" charset="0"/>
                          </a:rPr>
                          <m:t>𝜏</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oMath>
                </a14:m>
                <a:r>
                  <a:rPr lang="en-CN" dirty="0"/>
                  <a:t> </a:t>
                </a:r>
              </a:p>
            </p:txBody>
          </p:sp>
        </mc:Choice>
        <mc:Fallback xmlns="">
          <p:sp>
            <p:nvSpPr>
              <p:cNvPr id="7" name="TextBox 6">
                <a:extLst>
                  <a:ext uri="{FF2B5EF4-FFF2-40B4-BE49-F238E27FC236}">
                    <a16:creationId xmlns:a16="http://schemas.microsoft.com/office/drawing/2014/main" id="{AD612D34-ABEB-9D4A-BB00-0729A8FA0E5E}"/>
                  </a:ext>
                </a:extLst>
              </p:cNvPr>
              <p:cNvSpPr txBox="1">
                <a:spLocks noRot="1" noChangeAspect="1" noMove="1" noResize="1" noEditPoints="1" noAdjustHandles="1" noChangeArrowheads="1" noChangeShapeType="1" noTextEdit="1"/>
              </p:cNvSpPr>
              <p:nvPr/>
            </p:nvSpPr>
            <p:spPr>
              <a:xfrm>
                <a:off x="4281054" y="5919650"/>
                <a:ext cx="3380509" cy="544573"/>
              </a:xfrm>
              <a:prstGeom prst="rect">
                <a:avLst/>
              </a:prstGeom>
              <a:blipFill>
                <a:blip r:embed="rId4"/>
                <a:stretch>
                  <a:fillRect b="-6977"/>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E83CD803-897F-1544-AB69-13209F90EAAE}"/>
              </a:ext>
            </a:extLst>
          </p:cNvPr>
          <p:cNvSpPr txBox="1"/>
          <p:nvPr/>
        </p:nvSpPr>
        <p:spPr>
          <a:xfrm>
            <a:off x="10058400" y="1177636"/>
            <a:ext cx="1898073" cy="646331"/>
          </a:xfrm>
          <a:prstGeom prst="rect">
            <a:avLst/>
          </a:prstGeom>
          <a:noFill/>
        </p:spPr>
        <p:txBody>
          <a:bodyPr wrap="square" rtlCol="0">
            <a:spAutoFit/>
          </a:bodyPr>
          <a:lstStyle/>
          <a:p>
            <a:r>
              <a:rPr lang="en-CN" dirty="0"/>
              <a:t>热力学第一定律</a:t>
            </a:r>
          </a:p>
          <a:p>
            <a:r>
              <a:rPr lang="zh-CN" altLang="en-US" dirty="0"/>
              <a:t>（能量守恒）</a:t>
            </a:r>
            <a:endParaRPr lang="en-CN" dirty="0"/>
          </a:p>
        </p:txBody>
      </p:sp>
    </p:spTree>
    <p:extLst>
      <p:ext uri="{BB962C8B-B14F-4D97-AF65-F5344CB8AC3E}">
        <p14:creationId xmlns:p14="http://schemas.microsoft.com/office/powerpoint/2010/main" val="32377049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79EB56-BA75-5C4F-9ED8-0DA45369ED97}"/>
                  </a:ext>
                </a:extLst>
              </p:cNvPr>
              <p:cNvSpPr txBox="1"/>
              <p:nvPr/>
            </p:nvSpPr>
            <p:spPr>
              <a:xfrm>
                <a:off x="-630385" y="449421"/>
                <a:ext cx="10280073" cy="506870"/>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d>
                      <m:dPr>
                        <m:ctrlPr>
                          <a:rPr lang="en-US" b="0" i="1" smtClean="0">
                            <a:solidFill>
                              <a:srgbClr val="FF0000"/>
                            </a:solidFill>
                            <a:latin typeface="Cambria Math" panose="02040503050406030204" pitchFamily="18" charset="0"/>
                            <a:ea typeface="Cambria Math" panose="02040503050406030204" pitchFamily="18" charset="0"/>
                          </a:rPr>
                        </m:ctrlPr>
                      </m:dPr>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𝐹</m:t>
                            </m:r>
                          </m:num>
                          <m:den>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𝜏</m:t>
                            </m:r>
                          </m:den>
                        </m:f>
                      </m:e>
                    </m:d>
                  </m:oMath>
                </a14:m>
                <a:r>
                  <a:rPr lang="zh-CN" altLang="en-US" dirty="0"/>
                  <a:t>。 </a:t>
                </a:r>
                <a:r>
                  <a:rPr lang="en-US" altLang="zh-CN" dirty="0"/>
                  <a:t>V</a:t>
                </a:r>
                <a:r>
                  <a:rPr lang="zh-CN" altLang="en-US" dirty="0"/>
                  <a:t> </a:t>
                </a:r>
                <a:r>
                  <a:rPr lang="en-US" altLang="zh-CN" dirty="0"/>
                  <a:t>fixed</a:t>
                </a:r>
                <a:endParaRPr lang="en-CN" dirty="0"/>
              </a:p>
            </p:txBody>
          </p:sp>
        </mc:Choice>
        <mc:Fallback xmlns="">
          <p:sp>
            <p:nvSpPr>
              <p:cNvPr id="3" name="TextBox 2">
                <a:extLst>
                  <a:ext uri="{FF2B5EF4-FFF2-40B4-BE49-F238E27FC236}">
                    <a16:creationId xmlns:a16="http://schemas.microsoft.com/office/drawing/2014/main" id="{3A79EB56-BA75-5C4F-9ED8-0DA45369ED97}"/>
                  </a:ext>
                </a:extLst>
              </p:cNvPr>
              <p:cNvSpPr txBox="1">
                <a:spLocks noRot="1" noChangeAspect="1" noMove="1" noResize="1" noEditPoints="1" noAdjustHandles="1" noChangeArrowheads="1" noChangeShapeType="1" noTextEdit="1"/>
              </p:cNvSpPr>
              <p:nvPr/>
            </p:nvSpPr>
            <p:spPr>
              <a:xfrm>
                <a:off x="-630385" y="449421"/>
                <a:ext cx="10280073" cy="506870"/>
              </a:xfrm>
              <a:prstGeom prst="rect">
                <a:avLst/>
              </a:prstGeom>
              <a:blipFill>
                <a:blip r:embed="rId2"/>
                <a:stretch>
                  <a:fillRect b="-12195"/>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068D66D8-D779-2B44-AF3D-57C9FD47A879}"/>
              </a:ext>
            </a:extLst>
          </p:cNvPr>
          <p:cNvSpPr/>
          <p:nvPr/>
        </p:nvSpPr>
        <p:spPr>
          <a:xfrm>
            <a:off x="4433453" y="888152"/>
            <a:ext cx="152399" cy="4280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660705-7950-F944-8B03-4CAB471A28B8}"/>
                  </a:ext>
                </a:extLst>
              </p:cNvPr>
              <p:cNvSpPr txBox="1"/>
              <p:nvPr/>
            </p:nvSpPr>
            <p:spPr>
              <a:xfrm>
                <a:off x="1288471" y="1516892"/>
                <a:ext cx="4932218" cy="629660"/>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CN" dirty="0"/>
                  <a:t> </a:t>
                </a:r>
                <a14:m>
                  <m:oMath xmlns:m="http://schemas.openxmlformats.org/officeDocument/2006/math">
                    <m:d>
                      <m:dPr>
                        <m:ctrlPr>
                          <a:rPr lang="en-US" i="1" smtClean="0">
                            <a:solidFill>
                              <a:schemeClr val="tx1"/>
                            </a:solidFill>
                            <a:latin typeface="Cambria Math" panose="02040503050406030204" pitchFamily="18" charset="0"/>
                            <a:ea typeface="Cambria Math" panose="02040503050406030204" pitchFamily="18" charset="0"/>
                          </a:rPr>
                        </m:ctrlPr>
                      </m:dPr>
                      <m:e>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𝐹</m:t>
                            </m:r>
                          </m:num>
                          <m:den>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𝜏</m:t>
                            </m:r>
                          </m:den>
                        </m:f>
                      </m:e>
                    </m:d>
                    <m:r>
                      <a:rPr lang="en-US" b="0" i="0" smtClean="0">
                        <a:solidFill>
                          <a:schemeClr val="tx1"/>
                        </a:solidFill>
                        <a:latin typeface="Cambria Math" panose="02040503050406030204" pitchFamily="18" charset="0"/>
                        <a:ea typeface="Cambria Math" panose="02040503050406030204" pitchFamily="18" charset="0"/>
                      </a:rPr>
                      <m:t>=−</m:t>
                    </m:r>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𝜏</m:t>
                        </m:r>
                      </m:e>
                      <m:sup>
                        <m:r>
                          <a:rPr lang="en-US" b="0" i="1" smtClean="0">
                            <a:solidFill>
                              <a:schemeClr val="tx1"/>
                            </a:solidFill>
                            <a:latin typeface="Cambria Math" panose="02040503050406030204" pitchFamily="18" charset="0"/>
                            <a:ea typeface="Cambria Math" panose="02040503050406030204" pitchFamily="18" charset="0"/>
                          </a:rPr>
                          <m:t>2</m:t>
                        </m:r>
                      </m:sup>
                    </m:sSup>
                    <m:d>
                      <m:dPr>
                        <m:ctrlPr>
                          <a:rPr lang="en-US" b="0" i="1" smtClean="0">
                            <a:solidFill>
                              <a:schemeClr val="tx1"/>
                            </a:solidFill>
                            <a:latin typeface="Cambria Math" panose="02040503050406030204" pitchFamily="18" charset="0"/>
                            <a:ea typeface="Cambria Math" panose="02040503050406030204" pitchFamily="18" charset="0"/>
                          </a:rPr>
                        </m:ctrlPr>
                      </m:dPr>
                      <m:e>
                        <m:r>
                          <a:rPr lang="en-US" b="0" i="1" smtClean="0">
                            <a:solidFill>
                              <a:schemeClr val="tx1"/>
                            </a:solidFill>
                            <a:latin typeface="Cambria Math" panose="02040503050406030204" pitchFamily="18" charset="0"/>
                            <a:ea typeface="Cambria Math" panose="02040503050406030204" pitchFamily="18" charset="0"/>
                          </a:rPr>
                          <m:t>−</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𝐹</m:t>
                            </m:r>
                          </m:num>
                          <m:den>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𝜏</m:t>
                                </m:r>
                              </m:e>
                              <m:sup>
                                <m:r>
                                  <a:rPr lang="en-US" b="0" i="1" smtClean="0">
                                    <a:solidFill>
                                      <a:schemeClr val="tx1"/>
                                    </a:solidFill>
                                    <a:latin typeface="Cambria Math" panose="02040503050406030204" pitchFamily="18" charset="0"/>
                                    <a:ea typeface="Cambria Math" panose="02040503050406030204" pitchFamily="18" charset="0"/>
                                  </a:rPr>
                                  <m:t>2</m:t>
                                </m:r>
                              </m:sup>
                            </m:sSup>
                          </m:den>
                        </m:f>
                        <m:r>
                          <a:rPr lang="en-US" b="0" i="1" smtClean="0">
                            <a:solidFill>
                              <a:schemeClr val="tx1"/>
                            </a:solidFill>
                            <a:latin typeface="Cambria Math" panose="02040503050406030204" pitchFamily="18" charset="0"/>
                            <a:ea typeface="Cambria Math" panose="02040503050406030204" pitchFamily="18" charset="0"/>
                          </a:rPr>
                          <m:t>+</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1</m:t>
                            </m:r>
                          </m:num>
                          <m:den>
                            <m:r>
                              <a:rPr lang="en-US" b="0" i="1" smtClean="0">
                                <a:solidFill>
                                  <a:schemeClr val="tx1"/>
                                </a:solidFill>
                                <a:latin typeface="Cambria Math" panose="02040503050406030204" pitchFamily="18" charset="0"/>
                                <a:ea typeface="Cambria Math" panose="02040503050406030204" pitchFamily="18" charset="0"/>
                              </a:rPr>
                              <m:t>𝜏</m:t>
                            </m:r>
                          </m:den>
                        </m:f>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𝐹</m:t>
                            </m:r>
                          </m:num>
                          <m:den>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𝜏</m:t>
                            </m:r>
                          </m:den>
                        </m:f>
                      </m:e>
                    </m:d>
                    <m:r>
                      <a:rPr lang="en-US" b="0" i="1" smtClean="0">
                        <a:solidFill>
                          <a:schemeClr val="tx1"/>
                        </a:solidFill>
                        <a:latin typeface="Cambria Math" panose="02040503050406030204" pitchFamily="18" charset="0"/>
                        <a:ea typeface="Cambria Math" panose="02040503050406030204" pitchFamily="18" charset="0"/>
                      </a:rPr>
                      <m:t>=−</m:t>
                    </m:r>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𝜏</m:t>
                        </m:r>
                      </m:e>
                      <m:sup>
                        <m:r>
                          <a:rPr lang="en-US" b="0" i="1" smtClean="0">
                            <a:solidFill>
                              <a:schemeClr val="tx1"/>
                            </a:solidFill>
                            <a:latin typeface="Cambria Math" panose="02040503050406030204" pitchFamily="18" charset="0"/>
                            <a:ea typeface="Cambria Math" panose="02040503050406030204" pitchFamily="18" charset="0"/>
                          </a:rPr>
                          <m:t>2</m:t>
                        </m:r>
                      </m:sup>
                    </m:sSup>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𝐹</m:t>
                            </m:r>
                          </m:num>
                          <m:den>
                            <m:r>
                              <a:rPr lang="en-US" b="0" i="1" smtClean="0">
                                <a:solidFill>
                                  <a:schemeClr val="tx1"/>
                                </a:solidFill>
                                <a:latin typeface="Cambria Math" panose="02040503050406030204" pitchFamily="18" charset="0"/>
                                <a:ea typeface="Cambria Math" panose="02040503050406030204" pitchFamily="18" charset="0"/>
                              </a:rPr>
                              <m:t>𝜏</m:t>
                            </m:r>
                          </m:den>
                        </m:f>
                      </m:num>
                      <m:den>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𝜏</m:t>
                        </m:r>
                      </m:den>
                    </m:f>
                  </m:oMath>
                </a14:m>
                <a:endParaRPr lang="en-CN" dirty="0"/>
              </a:p>
            </p:txBody>
          </p:sp>
        </mc:Choice>
        <mc:Fallback xmlns="">
          <p:sp>
            <p:nvSpPr>
              <p:cNvPr id="5" name="TextBox 4">
                <a:extLst>
                  <a:ext uri="{FF2B5EF4-FFF2-40B4-BE49-F238E27FC236}">
                    <a16:creationId xmlns:a16="http://schemas.microsoft.com/office/drawing/2014/main" id="{39660705-7950-F944-8B03-4CAB471A28B8}"/>
                  </a:ext>
                </a:extLst>
              </p:cNvPr>
              <p:cNvSpPr txBox="1">
                <a:spLocks noRot="1" noChangeAspect="1" noMove="1" noResize="1" noEditPoints="1" noAdjustHandles="1" noChangeArrowheads="1" noChangeShapeType="1" noTextEdit="1"/>
              </p:cNvSpPr>
              <p:nvPr/>
            </p:nvSpPr>
            <p:spPr>
              <a:xfrm>
                <a:off x="1288471" y="1516892"/>
                <a:ext cx="4932218" cy="629660"/>
              </a:xfrm>
              <a:prstGeom prst="rect">
                <a:avLst/>
              </a:prstGeom>
              <a:blipFill>
                <a:blip r:embed="rId3"/>
                <a:stretch>
                  <a:fillRect b="-8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B902B3E-4359-DC4F-8276-FE996B11B3BA}"/>
                  </a:ext>
                </a:extLst>
              </p:cNvPr>
              <p:cNvSpPr txBox="1"/>
              <p:nvPr/>
            </p:nvSpPr>
            <p:spPr>
              <a:xfrm>
                <a:off x="8077200" y="1638015"/>
                <a:ext cx="4447309" cy="508537"/>
              </a:xfrm>
              <a:prstGeom prst="rect">
                <a:avLst/>
              </a:prstGeom>
              <a:noFill/>
            </p:spPr>
            <p:txBody>
              <a:bodyPr wrap="square" rtlCol="0">
                <a:spAutoFit/>
              </a:bodyPr>
              <a:lstStyle/>
              <a:p>
                <a:r>
                  <a:rPr lang="en-CN" dirty="0"/>
                  <a:t>另外我们知道</a:t>
                </a:r>
                <a:r>
                  <a:rPr lang="zh-CN" altLang="en-US" dirty="0"/>
                  <a:t> </a:t>
                </a:r>
                <a14:m>
                  <m:oMath xmlns:m="http://schemas.openxmlformats.org/officeDocument/2006/math">
                    <m:r>
                      <a:rPr lang="en-US" altLang="zh-CN" b="0" i="1" smtClean="0">
                        <a:latin typeface="Cambria Math" panose="02040503050406030204" pitchFamily="18" charset="0"/>
                      </a:rPr>
                      <m:t>𝑈</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𝜏</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 </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m:t>
                        </m:r>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r>
                              <a:rPr lang="en-US" altLang="zh-CN" b="0" i="1" smtClean="0">
                                <a:latin typeface="Cambria Math" panose="02040503050406030204" pitchFamily="18" charset="0"/>
                                <a:ea typeface="Cambria Math" panose="02040503050406030204" pitchFamily="18" charset="0"/>
                              </a:rPr>
                              <m:t>𝑍</m:t>
                            </m:r>
                          </m:e>
                        </m:func>
                      </m:num>
                      <m:den>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𝜏</m:t>
                        </m:r>
                      </m:den>
                    </m:f>
                  </m:oMath>
                </a14:m>
                <a:endParaRPr lang="en-CN" dirty="0"/>
              </a:p>
            </p:txBody>
          </p:sp>
        </mc:Choice>
        <mc:Fallback xmlns="">
          <p:sp>
            <p:nvSpPr>
              <p:cNvPr id="6" name="TextBox 5">
                <a:extLst>
                  <a:ext uri="{FF2B5EF4-FFF2-40B4-BE49-F238E27FC236}">
                    <a16:creationId xmlns:a16="http://schemas.microsoft.com/office/drawing/2014/main" id="{EB902B3E-4359-DC4F-8276-FE996B11B3BA}"/>
                  </a:ext>
                </a:extLst>
              </p:cNvPr>
              <p:cNvSpPr txBox="1">
                <a:spLocks noRot="1" noChangeAspect="1" noMove="1" noResize="1" noEditPoints="1" noAdjustHandles="1" noChangeArrowheads="1" noChangeShapeType="1" noTextEdit="1"/>
              </p:cNvSpPr>
              <p:nvPr/>
            </p:nvSpPr>
            <p:spPr>
              <a:xfrm>
                <a:off x="8077200" y="1638015"/>
                <a:ext cx="4447309" cy="508537"/>
              </a:xfrm>
              <a:prstGeom prst="rect">
                <a:avLst/>
              </a:prstGeom>
              <a:blipFill>
                <a:blip r:embed="rId4"/>
                <a:stretch>
                  <a:fillRect l="-1140" b="-15000"/>
                </a:stretch>
              </a:blipFill>
            </p:spPr>
            <p:txBody>
              <a:bodyPr/>
              <a:lstStyle/>
              <a:p>
                <a:r>
                  <a:rPr lang="en-CN">
                    <a:noFill/>
                  </a:rPr>
                  <a:t> </a:t>
                </a:r>
              </a:p>
            </p:txBody>
          </p:sp>
        </mc:Fallback>
      </mc:AlternateContent>
      <p:sp>
        <p:nvSpPr>
          <p:cNvPr id="7" name="Right Brace 6">
            <a:extLst>
              <a:ext uri="{FF2B5EF4-FFF2-40B4-BE49-F238E27FC236}">
                <a16:creationId xmlns:a16="http://schemas.microsoft.com/office/drawing/2014/main" id="{F200471A-F1E0-7340-BD3B-C1613485BED7}"/>
              </a:ext>
            </a:extLst>
          </p:cNvPr>
          <p:cNvSpPr/>
          <p:nvPr/>
        </p:nvSpPr>
        <p:spPr>
          <a:xfrm rot="5400000">
            <a:off x="6276107" y="213663"/>
            <a:ext cx="734291" cy="493221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3E2E6C-E9BB-BB4B-B0A1-DF0FCA301716}"/>
                  </a:ext>
                </a:extLst>
              </p:cNvPr>
              <p:cNvSpPr txBox="1"/>
              <p:nvPr/>
            </p:nvSpPr>
            <p:spPr>
              <a:xfrm>
                <a:off x="3352800" y="3212991"/>
                <a:ext cx="6691746"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𝐹</m:t>
                          </m:r>
                        </m:num>
                        <m:den>
                          <m:r>
                            <a:rPr lang="en-CN" i="1" smtClean="0">
                              <a:solidFill>
                                <a:srgbClr val="FF0000"/>
                              </a:solidFill>
                              <a:latin typeface="Cambria Math" panose="02040503050406030204" pitchFamily="18" charset="0"/>
                              <a:ea typeface="Cambria Math" panose="02040503050406030204" pitchFamily="18" charset="0"/>
                            </a:rPr>
                            <m:t>𝜏</m:t>
                          </m:r>
                        </m:den>
                      </m:f>
                      <m:r>
                        <a:rPr lang="en-US" b="0" i="1" smtClean="0">
                          <a:solidFill>
                            <a:srgbClr val="FF0000"/>
                          </a:solidFill>
                          <a:latin typeface="Cambria Math" panose="02040503050406030204" pitchFamily="18" charset="0"/>
                        </a:rPr>
                        <m:t>+</m:t>
                      </m:r>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log</m:t>
                          </m:r>
                        </m:fName>
                        <m:e>
                          <m:r>
                            <a:rPr lang="en-US" b="0" i="1" smtClean="0">
                              <a:solidFill>
                                <a:srgbClr val="FF0000"/>
                              </a:solidFill>
                              <a:latin typeface="Cambria Math" panose="02040503050406030204" pitchFamily="18" charset="0"/>
                            </a:rPr>
                            <m:t>𝑍</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𝑐𝑜𝑛𝑠𝑡</m:t>
                          </m:r>
                        </m:e>
                      </m:func>
                    </m:oMath>
                  </m:oMathPara>
                </a14:m>
                <a:endParaRPr lang="en-CN" dirty="0"/>
              </a:p>
            </p:txBody>
          </p:sp>
        </mc:Choice>
        <mc:Fallback xmlns="">
          <p:sp>
            <p:nvSpPr>
              <p:cNvPr id="8" name="TextBox 7">
                <a:extLst>
                  <a:ext uri="{FF2B5EF4-FFF2-40B4-BE49-F238E27FC236}">
                    <a16:creationId xmlns:a16="http://schemas.microsoft.com/office/drawing/2014/main" id="{4E3E2E6C-E9BB-BB4B-B0A1-DF0FCA301716}"/>
                  </a:ext>
                </a:extLst>
              </p:cNvPr>
              <p:cNvSpPr txBox="1">
                <a:spLocks noRot="1" noChangeAspect="1" noMove="1" noResize="1" noEditPoints="1" noAdjustHandles="1" noChangeArrowheads="1" noChangeShapeType="1" noTextEdit="1"/>
              </p:cNvSpPr>
              <p:nvPr/>
            </p:nvSpPr>
            <p:spPr>
              <a:xfrm>
                <a:off x="3352800" y="3212991"/>
                <a:ext cx="6691746" cy="609077"/>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5915C12-F82C-C545-889B-2D2C9B26CC51}"/>
                  </a:ext>
                </a:extLst>
              </p:cNvPr>
              <p:cNvSpPr txBox="1"/>
              <p:nvPr/>
            </p:nvSpPr>
            <p:spPr>
              <a:xfrm>
                <a:off x="581890" y="3988142"/>
                <a:ext cx="8769927" cy="1018356"/>
              </a:xfrm>
              <a:prstGeom prst="rect">
                <a:avLst/>
              </a:prstGeom>
              <a:noFill/>
            </p:spPr>
            <p:txBody>
              <a:bodyPr wrap="square" rtlCol="0">
                <a:spAutoFit/>
              </a:bodyPr>
              <a:lstStyle/>
              <a:p>
                <a:r>
                  <a:rPr lang="en-CN" dirty="0"/>
                  <a:t>由于const和温度无关</a:t>
                </a:r>
                <a:r>
                  <a:rPr lang="zh-CN" altLang="en-US" dirty="0"/>
                  <a:t>，我们可以利用零温这个特殊情况把</a:t>
                </a:r>
                <a:r>
                  <a:rPr lang="en-US" altLang="zh-CN" dirty="0"/>
                  <a:t>const</a:t>
                </a:r>
                <a:r>
                  <a:rPr lang="zh-CN" altLang="en-US" dirty="0"/>
                  <a:t>定下来</a:t>
                </a:r>
                <a:endParaRPr lang="en-US" altLang="zh-CN" dirty="0"/>
              </a:p>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CN" i="1" smtClean="0">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𝑔</m:t>
                            </m:r>
                          </m:e>
                          <m:sub>
                            <m:r>
                              <a:rPr lang="en-US" b="0" i="1" smtClean="0">
                                <a:latin typeface="Cambria Math" panose="02040503050406030204" pitchFamily="18" charset="0"/>
                                <a:ea typeface="Cambria Math" panose="02040503050406030204" pitchFamily="18" charset="0"/>
                              </a:rPr>
                              <m:t>0</m:t>
                            </m:r>
                          </m:sub>
                        </m:sSub>
                      </m:e>
                    </m:func>
                  </m:oMath>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→0</m:t>
                        </m:r>
                      </m:e>
                    </m:groupCh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oMath>
                </a14:m>
                <a:r>
                  <a:rPr lang="en-CN" dirty="0"/>
                  <a:t>              </a:t>
                </a:r>
                <a14:m>
                  <m:oMath xmlns:m="http://schemas.openxmlformats.org/officeDocument/2006/math">
                    <m:r>
                      <a:rPr lang="en-CN" i="1" dirty="0" smtClean="0">
                        <a:latin typeface="Cambria Math" panose="02040503050406030204" pitchFamily="18" charset="0"/>
                        <a:ea typeface="Cambria Math" panose="02040503050406030204" pitchFamily="18" charset="0"/>
                      </a:rPr>
                      <m:t>𝜏</m:t>
                    </m:r>
                    <m:func>
                      <m:funcPr>
                        <m:ctrlPr>
                          <a:rPr lang="en-US" b="0" i="1" dirty="0" smtClean="0">
                            <a:latin typeface="Cambria Math" panose="02040503050406030204" pitchFamily="18" charset="0"/>
                            <a:ea typeface="Cambria Math" panose="02040503050406030204" pitchFamily="18" charset="0"/>
                          </a:rPr>
                        </m:ctrlPr>
                      </m:funcPr>
                      <m:fName>
                        <m:r>
                          <m:rPr>
                            <m:sty m:val="p"/>
                          </m:rPr>
                          <a:rPr lang="en-US" b="0" i="0" dirty="0" smtClean="0">
                            <a:latin typeface="Cambria Math" panose="02040503050406030204" pitchFamily="18" charset="0"/>
                            <a:ea typeface="Cambria Math" panose="02040503050406030204" pitchFamily="18" charset="0"/>
                          </a:rPr>
                          <m:t>log</m:t>
                        </m:r>
                      </m:fName>
                      <m:e>
                        <m:r>
                          <a:rPr lang="en-US" b="0" i="1" dirty="0" smtClean="0">
                            <a:latin typeface="Cambria Math" panose="02040503050406030204" pitchFamily="18" charset="0"/>
                            <a:ea typeface="Cambria Math" panose="02040503050406030204" pitchFamily="18" charset="0"/>
                          </a:rPr>
                          <m:t>𝑍</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𝜏</m:t>
                        </m:r>
                        <m:func>
                          <m:funcPr>
                            <m:ctrlPr>
                              <a:rPr lang="en-US" b="0" i="1" dirty="0" smtClean="0">
                                <a:latin typeface="Cambria Math" panose="02040503050406030204" pitchFamily="18" charset="0"/>
                                <a:ea typeface="Cambria Math" panose="02040503050406030204" pitchFamily="18" charset="0"/>
                              </a:rPr>
                            </m:ctrlPr>
                          </m:funcPr>
                          <m:fName>
                            <m:r>
                              <m:rPr>
                                <m:sty m:val="p"/>
                              </m:rPr>
                              <a:rPr lang="en-US" b="0" i="0" dirty="0" smtClean="0">
                                <a:latin typeface="Cambria Math" panose="02040503050406030204" pitchFamily="18" charset="0"/>
                                <a:ea typeface="Cambria Math" panose="02040503050406030204" pitchFamily="18" charset="0"/>
                              </a:rPr>
                              <m:t>log</m:t>
                            </m:r>
                          </m:fName>
                          <m:e>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𝑔</m:t>
                                </m:r>
                              </m:e>
                              <m:sub>
                                <m:r>
                                  <a:rPr lang="en-US" b="0" i="1" dirty="0" smtClean="0">
                                    <a:latin typeface="Cambria Math" panose="02040503050406030204" pitchFamily="18" charset="0"/>
                                    <a:ea typeface="Cambria Math" panose="02040503050406030204" pitchFamily="18" charset="0"/>
                                  </a:rPr>
                                  <m:t>0</m:t>
                                </m:r>
                              </m:sub>
                            </m:sSub>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𝑈</m:t>
                                </m:r>
                              </m:e>
                              <m:sub>
                                <m:r>
                                  <a:rPr lang="en-US" b="0" i="1" dirty="0" smtClean="0">
                                    <a:latin typeface="Cambria Math" panose="02040503050406030204" pitchFamily="18" charset="0"/>
                                    <a:ea typeface="Cambria Math" panose="02040503050406030204" pitchFamily="18" charset="0"/>
                                  </a:rPr>
                                  <m:t>0</m:t>
                                </m:r>
                              </m:sub>
                            </m:sSub>
                          </m:e>
                        </m:func>
                      </m:e>
                    </m:func>
                  </m:oMath>
                </a14:m>
                <a:endParaRPr lang="en-CN" dirty="0"/>
              </a:p>
            </p:txBody>
          </p:sp>
        </mc:Choice>
        <mc:Fallback xmlns="">
          <p:sp>
            <p:nvSpPr>
              <p:cNvPr id="9" name="TextBox 8">
                <a:extLst>
                  <a:ext uri="{FF2B5EF4-FFF2-40B4-BE49-F238E27FC236}">
                    <a16:creationId xmlns:a16="http://schemas.microsoft.com/office/drawing/2014/main" id="{85915C12-F82C-C545-889B-2D2C9B26CC51}"/>
                  </a:ext>
                </a:extLst>
              </p:cNvPr>
              <p:cNvSpPr txBox="1">
                <a:spLocks noRot="1" noChangeAspect="1" noMove="1" noResize="1" noEditPoints="1" noAdjustHandles="1" noChangeArrowheads="1" noChangeShapeType="1" noTextEdit="1"/>
              </p:cNvSpPr>
              <p:nvPr/>
            </p:nvSpPr>
            <p:spPr>
              <a:xfrm>
                <a:off x="581890" y="3988142"/>
                <a:ext cx="8769927" cy="1018356"/>
              </a:xfrm>
              <a:prstGeom prst="rect">
                <a:avLst/>
              </a:prstGeom>
              <a:blipFill>
                <a:blip r:embed="rId6"/>
                <a:stretch>
                  <a:fillRect l="-578" t="-1220" b="-6098"/>
                </a:stretch>
              </a:blipFill>
            </p:spPr>
            <p:txBody>
              <a:bodyPr/>
              <a:lstStyle/>
              <a:p>
                <a:r>
                  <a:rPr lang="en-CN">
                    <a:noFill/>
                  </a:rPr>
                  <a:t> </a:t>
                </a:r>
              </a:p>
            </p:txBody>
          </p:sp>
        </mc:Fallback>
      </mc:AlternateContent>
      <p:sp>
        <p:nvSpPr>
          <p:cNvPr id="10" name="Right Arrow 9">
            <a:extLst>
              <a:ext uri="{FF2B5EF4-FFF2-40B4-BE49-F238E27FC236}">
                <a16:creationId xmlns:a16="http://schemas.microsoft.com/office/drawing/2014/main" id="{8DF72076-2354-9F4C-AD54-C14AB31E02B7}"/>
              </a:ext>
            </a:extLst>
          </p:cNvPr>
          <p:cNvSpPr/>
          <p:nvPr/>
        </p:nvSpPr>
        <p:spPr>
          <a:xfrm>
            <a:off x="5458691" y="4711449"/>
            <a:ext cx="429491" cy="1770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22B9AA9-C414-9C47-B494-6D8FF7C674A7}"/>
                  </a:ext>
                </a:extLst>
              </p:cNvPr>
              <p:cNvSpPr txBox="1"/>
              <p:nvPr/>
            </p:nvSpPr>
            <p:spPr>
              <a:xfrm>
                <a:off x="2750125" y="5913281"/>
                <a:ext cx="4433455" cy="707886"/>
              </a:xfrm>
              <a:prstGeom prst="rect">
                <a:avLst/>
              </a:prstGeom>
              <a:solidFill>
                <a:schemeClr val="accent6"/>
              </a:solidFill>
            </p:spPr>
            <p:txBody>
              <a:bodyPr wrap="square" rtlCol="0">
                <a:spAutoFit/>
              </a:bodyPr>
              <a:lstStyle/>
              <a:p>
                <a:pPr algn="ctr"/>
                <a:r>
                  <a:rPr lang="en-US" sz="4000" b="0" dirty="0">
                    <a:solidFill>
                      <a:srgbClr val="FF0000"/>
                    </a:solidFill>
                    <a:ea typeface="Cambria Math" panose="02040503050406030204" pitchFamily="18" charset="0"/>
                  </a:rPr>
                  <a:t>F=</a:t>
                </a:r>
                <a14:m>
                  <m:oMath xmlns:m="http://schemas.openxmlformats.org/officeDocument/2006/math">
                    <m:r>
                      <a:rPr lang="en-US" sz="4000" b="0" i="0"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func>
                      <m:funcPr>
                        <m:ctrlPr>
                          <a:rPr lang="en-US" sz="4000" b="0" i="1" smtClean="0">
                            <a:solidFill>
                              <a:srgbClr val="FF0000"/>
                            </a:solidFill>
                            <a:latin typeface="Cambria Math" panose="02040503050406030204" pitchFamily="18" charset="0"/>
                            <a:ea typeface="Cambria Math" panose="02040503050406030204" pitchFamily="18" charset="0"/>
                          </a:rPr>
                        </m:ctrlPr>
                      </m:funcPr>
                      <m:fName>
                        <m:r>
                          <m:rPr>
                            <m:sty m:val="p"/>
                          </m:rPr>
                          <a:rPr lang="en-US" sz="4000" b="0" i="0" smtClean="0">
                            <a:solidFill>
                              <a:srgbClr val="FF0000"/>
                            </a:solidFill>
                            <a:latin typeface="Cambria Math" panose="02040503050406030204" pitchFamily="18" charset="0"/>
                            <a:ea typeface="Cambria Math" panose="02040503050406030204" pitchFamily="18" charset="0"/>
                          </a:rPr>
                          <m:t>log</m:t>
                        </m:r>
                      </m:fName>
                      <m:e>
                        <m:r>
                          <a:rPr lang="en-US" sz="4000" b="0" i="1" smtClean="0">
                            <a:solidFill>
                              <a:srgbClr val="FF0000"/>
                            </a:solidFill>
                            <a:latin typeface="Cambria Math" panose="02040503050406030204" pitchFamily="18" charset="0"/>
                            <a:ea typeface="Cambria Math" panose="02040503050406030204" pitchFamily="18" charset="0"/>
                          </a:rPr>
                          <m:t>𝑍</m:t>
                        </m:r>
                      </m:e>
                    </m:func>
                  </m:oMath>
                </a14:m>
                <a:endParaRPr lang="en-CN" sz="4000" dirty="0"/>
              </a:p>
            </p:txBody>
          </p:sp>
        </mc:Choice>
        <mc:Fallback xmlns="">
          <p:sp>
            <p:nvSpPr>
              <p:cNvPr id="11" name="TextBox 10">
                <a:extLst>
                  <a:ext uri="{FF2B5EF4-FFF2-40B4-BE49-F238E27FC236}">
                    <a16:creationId xmlns:a16="http://schemas.microsoft.com/office/drawing/2014/main" id="{F22B9AA9-C414-9C47-B494-6D8FF7C674A7}"/>
                  </a:ext>
                </a:extLst>
              </p:cNvPr>
              <p:cNvSpPr txBox="1">
                <a:spLocks noRot="1" noChangeAspect="1" noMove="1" noResize="1" noEditPoints="1" noAdjustHandles="1" noChangeArrowheads="1" noChangeShapeType="1" noTextEdit="1"/>
              </p:cNvSpPr>
              <p:nvPr/>
            </p:nvSpPr>
            <p:spPr>
              <a:xfrm>
                <a:off x="2750125" y="5913281"/>
                <a:ext cx="4433455" cy="707886"/>
              </a:xfrm>
              <a:prstGeom prst="rect">
                <a:avLst/>
              </a:prstGeom>
              <a:blipFill>
                <a:blip r:embed="rId7"/>
                <a:stretch>
                  <a:fillRect t="-14035" b="-36842"/>
                </a:stretch>
              </a:blipFill>
            </p:spPr>
            <p:txBody>
              <a:bodyPr/>
              <a:lstStyle/>
              <a:p>
                <a:r>
                  <a:rPr lang="en-CN">
                    <a:noFill/>
                  </a:rPr>
                  <a:t> </a:t>
                </a:r>
              </a:p>
            </p:txBody>
          </p:sp>
        </mc:Fallback>
      </mc:AlternateContent>
      <p:sp>
        <p:nvSpPr>
          <p:cNvPr id="12" name="Down Arrow 11">
            <a:extLst>
              <a:ext uri="{FF2B5EF4-FFF2-40B4-BE49-F238E27FC236}">
                <a16:creationId xmlns:a16="http://schemas.microsoft.com/office/drawing/2014/main" id="{78F0FEF0-C93A-E749-8384-263FA435130A}"/>
              </a:ext>
            </a:extLst>
          </p:cNvPr>
          <p:cNvSpPr/>
          <p:nvPr/>
        </p:nvSpPr>
        <p:spPr>
          <a:xfrm>
            <a:off x="6096000" y="5167745"/>
            <a:ext cx="817418" cy="4294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ight Brace 12">
            <a:extLst>
              <a:ext uri="{FF2B5EF4-FFF2-40B4-BE49-F238E27FC236}">
                <a16:creationId xmlns:a16="http://schemas.microsoft.com/office/drawing/2014/main" id="{91134B92-7E79-244B-8412-63F6842852A9}"/>
              </a:ext>
            </a:extLst>
          </p:cNvPr>
          <p:cNvSpPr/>
          <p:nvPr/>
        </p:nvSpPr>
        <p:spPr>
          <a:xfrm>
            <a:off x="8728364" y="4336473"/>
            <a:ext cx="623453" cy="6700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4" name="TextBox 13">
            <a:extLst>
              <a:ext uri="{FF2B5EF4-FFF2-40B4-BE49-F238E27FC236}">
                <a16:creationId xmlns:a16="http://schemas.microsoft.com/office/drawing/2014/main" id="{E45D3DCC-45D0-1B47-ADBF-66CF11A7D7A3}"/>
              </a:ext>
            </a:extLst>
          </p:cNvPr>
          <p:cNvSpPr txBox="1"/>
          <p:nvPr/>
        </p:nvSpPr>
        <p:spPr>
          <a:xfrm>
            <a:off x="9725889" y="4497320"/>
            <a:ext cx="1149929" cy="369332"/>
          </a:xfrm>
          <a:prstGeom prst="rect">
            <a:avLst/>
          </a:prstGeom>
          <a:noFill/>
        </p:spPr>
        <p:txBody>
          <a:bodyPr wrap="square" rtlCol="0">
            <a:spAutoFit/>
          </a:bodyPr>
          <a:lstStyle/>
          <a:p>
            <a:r>
              <a:rPr lang="en-US" dirty="0"/>
              <a:t>C</a:t>
            </a:r>
            <a:r>
              <a:rPr lang="en-CN" dirty="0"/>
              <a:t>onst=0</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5061CF0-6109-2D4F-A4B9-6FCF908E30BC}"/>
                  </a:ext>
                </a:extLst>
              </p:cNvPr>
              <p:cNvSpPr txBox="1"/>
              <p:nvPr/>
            </p:nvSpPr>
            <p:spPr>
              <a:xfrm>
                <a:off x="7626925" y="5913281"/>
                <a:ext cx="4433455" cy="730969"/>
              </a:xfrm>
              <a:prstGeom prst="rect">
                <a:avLst/>
              </a:prstGeom>
              <a:solidFill>
                <a:schemeClr val="accent6"/>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𝑍</m:t>
                      </m:r>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𝑒</m:t>
                          </m:r>
                        </m:e>
                        <m:sup>
                          <m:r>
                            <a:rPr lang="en-US" sz="4000" b="0" i="1" smtClean="0">
                              <a:latin typeface="Cambria Math" panose="02040503050406030204" pitchFamily="18" charset="0"/>
                            </a:rPr>
                            <m:t>−</m:t>
                          </m:r>
                          <m:r>
                            <a:rPr lang="en-US" sz="4000" b="0" i="1" smtClean="0">
                              <a:latin typeface="Cambria Math" panose="02040503050406030204" pitchFamily="18" charset="0"/>
                            </a:rPr>
                            <m:t>𝐹</m:t>
                          </m:r>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sup>
                      </m:sSup>
                    </m:oMath>
                  </m:oMathPara>
                </a14:m>
                <a:endParaRPr lang="en-CN" sz="4000" dirty="0"/>
              </a:p>
            </p:txBody>
          </p:sp>
        </mc:Choice>
        <mc:Fallback xmlns="">
          <p:sp>
            <p:nvSpPr>
              <p:cNvPr id="15" name="TextBox 14">
                <a:extLst>
                  <a:ext uri="{FF2B5EF4-FFF2-40B4-BE49-F238E27FC236}">
                    <a16:creationId xmlns:a16="http://schemas.microsoft.com/office/drawing/2014/main" id="{15061CF0-6109-2D4F-A4B9-6FCF908E30BC}"/>
                  </a:ext>
                </a:extLst>
              </p:cNvPr>
              <p:cNvSpPr txBox="1">
                <a:spLocks noRot="1" noChangeAspect="1" noMove="1" noResize="1" noEditPoints="1" noAdjustHandles="1" noChangeArrowheads="1" noChangeShapeType="1" noTextEdit="1"/>
              </p:cNvSpPr>
              <p:nvPr/>
            </p:nvSpPr>
            <p:spPr>
              <a:xfrm>
                <a:off x="7626925" y="5913281"/>
                <a:ext cx="4433455" cy="730969"/>
              </a:xfrm>
              <a:prstGeom prst="rect">
                <a:avLst/>
              </a:prstGeom>
              <a:blipFill>
                <a:blip r:embed="rId8"/>
                <a:stretch>
                  <a:fillRect/>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1BC20476-1F56-45C0-C51A-FE453E632C07}"/>
              </a:ext>
            </a:extLst>
          </p:cNvPr>
          <p:cNvSpPr txBox="1"/>
          <p:nvPr/>
        </p:nvSpPr>
        <p:spPr>
          <a:xfrm>
            <a:off x="263236" y="110836"/>
            <a:ext cx="4738255"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自由能和配分函数之间的关系</a:t>
            </a:r>
          </a:p>
        </p:txBody>
      </p:sp>
    </p:spTree>
    <p:extLst>
      <p:ext uri="{BB962C8B-B14F-4D97-AF65-F5344CB8AC3E}">
        <p14:creationId xmlns:p14="http://schemas.microsoft.com/office/powerpoint/2010/main" val="40126703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082BDA6-0BF8-9C4D-8C1E-B3AEC61C0D2C}"/>
                  </a:ext>
                </a:extLst>
              </p:cNvPr>
              <p:cNvSpPr txBox="1"/>
              <p:nvPr/>
            </p:nvSpPr>
            <p:spPr>
              <a:xfrm>
                <a:off x="3664525" y="122081"/>
                <a:ext cx="4433455" cy="707886"/>
              </a:xfrm>
              <a:prstGeom prst="rect">
                <a:avLst/>
              </a:prstGeom>
              <a:solidFill>
                <a:schemeClr val="accent6"/>
              </a:solidFill>
            </p:spPr>
            <p:txBody>
              <a:bodyPr wrap="square" rtlCol="0">
                <a:spAutoFit/>
              </a:bodyPr>
              <a:lstStyle/>
              <a:p>
                <a:pPr algn="ctr"/>
                <a:r>
                  <a:rPr lang="en-US" sz="4000" b="0" dirty="0">
                    <a:solidFill>
                      <a:srgbClr val="FF0000"/>
                    </a:solidFill>
                    <a:ea typeface="Cambria Math" panose="02040503050406030204" pitchFamily="18" charset="0"/>
                  </a:rPr>
                  <a:t>F=</a:t>
                </a:r>
                <a14:m>
                  <m:oMath xmlns:m="http://schemas.openxmlformats.org/officeDocument/2006/math">
                    <m:r>
                      <a:rPr lang="en-US" sz="4000" b="0" i="0"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func>
                      <m:funcPr>
                        <m:ctrlPr>
                          <a:rPr lang="en-US" sz="4000" b="0" i="1" smtClean="0">
                            <a:solidFill>
                              <a:srgbClr val="FF0000"/>
                            </a:solidFill>
                            <a:latin typeface="Cambria Math" panose="02040503050406030204" pitchFamily="18" charset="0"/>
                            <a:ea typeface="Cambria Math" panose="02040503050406030204" pitchFamily="18" charset="0"/>
                          </a:rPr>
                        </m:ctrlPr>
                      </m:funcPr>
                      <m:fName>
                        <m:r>
                          <m:rPr>
                            <m:sty m:val="p"/>
                          </m:rPr>
                          <a:rPr lang="en-US" sz="4000" b="0" i="0" smtClean="0">
                            <a:solidFill>
                              <a:srgbClr val="FF0000"/>
                            </a:solidFill>
                            <a:latin typeface="Cambria Math" panose="02040503050406030204" pitchFamily="18" charset="0"/>
                            <a:ea typeface="Cambria Math" panose="02040503050406030204" pitchFamily="18" charset="0"/>
                          </a:rPr>
                          <m:t>log</m:t>
                        </m:r>
                      </m:fName>
                      <m:e>
                        <m:r>
                          <a:rPr lang="en-US" sz="4000" b="0" i="1" smtClean="0">
                            <a:solidFill>
                              <a:srgbClr val="FF0000"/>
                            </a:solidFill>
                            <a:latin typeface="Cambria Math" panose="02040503050406030204" pitchFamily="18" charset="0"/>
                            <a:ea typeface="Cambria Math" panose="02040503050406030204" pitchFamily="18" charset="0"/>
                          </a:rPr>
                          <m:t>𝑍</m:t>
                        </m:r>
                      </m:e>
                    </m:func>
                  </m:oMath>
                </a14:m>
                <a:endParaRPr lang="en-CN" sz="4000" dirty="0"/>
              </a:p>
            </p:txBody>
          </p:sp>
        </mc:Choice>
        <mc:Fallback xmlns="">
          <p:sp>
            <p:nvSpPr>
              <p:cNvPr id="6" name="TextBox 5">
                <a:extLst>
                  <a:ext uri="{FF2B5EF4-FFF2-40B4-BE49-F238E27FC236}">
                    <a16:creationId xmlns:a16="http://schemas.microsoft.com/office/drawing/2014/main" id="{A082BDA6-0BF8-9C4D-8C1E-B3AEC61C0D2C}"/>
                  </a:ext>
                </a:extLst>
              </p:cNvPr>
              <p:cNvSpPr txBox="1">
                <a:spLocks noRot="1" noChangeAspect="1" noMove="1" noResize="1" noEditPoints="1" noAdjustHandles="1" noChangeArrowheads="1" noChangeShapeType="1" noTextEdit="1"/>
              </p:cNvSpPr>
              <p:nvPr/>
            </p:nvSpPr>
            <p:spPr>
              <a:xfrm>
                <a:off x="3664525" y="122081"/>
                <a:ext cx="4433455" cy="707886"/>
              </a:xfrm>
              <a:prstGeom prst="rect">
                <a:avLst/>
              </a:prstGeom>
              <a:blipFill>
                <a:blip r:embed="rId2"/>
                <a:stretch>
                  <a:fillRect t="-14035" b="-3684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B8DAC2-D886-6D40-B258-A70149C0EC1C}"/>
                  </a:ext>
                </a:extLst>
              </p:cNvPr>
              <p:cNvSpPr txBox="1"/>
              <p:nvPr/>
            </p:nvSpPr>
            <p:spPr>
              <a:xfrm>
                <a:off x="595746" y="2930235"/>
                <a:ext cx="8153402" cy="20781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ea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𝜎</m:t>
                          </m:r>
                          <m:r>
                            <a:rPr lang="en-US" sz="2800" b="0" i="1" smtClean="0">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𝐹</m:t>
                                  </m:r>
                                </m:num>
                                <m:den>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𝜏</m:t>
                                  </m:r>
                                </m:den>
                              </m:f>
                            </m:e>
                          </m:d>
                        </m:e>
                        <m:sub>
                          <m:r>
                            <a:rPr lang="en-US" sz="2800" i="1">
                              <a:latin typeface="Cambria Math" panose="02040503050406030204" pitchFamily="18" charset="0"/>
                              <a:ea typeface="Cambria Math" panose="02040503050406030204" pitchFamily="18" charset="0"/>
                            </a:rPr>
                            <m:t>𝑉</m:t>
                          </m:r>
                        </m:sub>
                      </m:sSub>
                      <m:r>
                        <a:rPr lang="en-US" altLang="zh-CN" sz="2800" b="0" i="1" smtClean="0">
                          <a:latin typeface="Cambria Math" panose="02040503050406030204" pitchFamily="18" charset="0"/>
                          <a:ea typeface="Cambria Math" panose="02040503050406030204" pitchFamily="18" charset="0"/>
                        </a:rPr>
                        <m:t>=</m:t>
                      </m:r>
                      <m:func>
                        <m:funcPr>
                          <m:ctrlPr>
                            <a:rPr lang="en-US" altLang="zh-CN" sz="2800" b="0" i="1" smtClean="0">
                              <a:latin typeface="Cambria Math" panose="02040503050406030204" pitchFamily="18" charset="0"/>
                              <a:ea typeface="Cambria Math" panose="02040503050406030204" pitchFamily="18" charset="0"/>
                            </a:rPr>
                          </m:ctrlPr>
                        </m:funcPr>
                        <m:fName>
                          <m:r>
                            <m:rPr>
                              <m:sty m:val="p"/>
                            </m:rPr>
                            <a:rPr lang="en-US" altLang="zh-CN" sz="2800" b="0" i="0" smtClean="0">
                              <a:latin typeface="Cambria Math" panose="02040503050406030204" pitchFamily="18" charset="0"/>
                              <a:ea typeface="Cambria Math" panose="02040503050406030204" pitchFamily="18" charset="0"/>
                            </a:rPr>
                            <m:t>log</m:t>
                          </m:r>
                        </m:fName>
                        <m:e>
                          <m:r>
                            <a:rPr lang="en-US" altLang="zh-CN" sz="2800" b="0" i="1" smtClean="0">
                              <a:latin typeface="Cambria Math" panose="02040503050406030204" pitchFamily="18" charset="0"/>
                              <a:ea typeface="Cambria Math" panose="02040503050406030204" pitchFamily="18" charset="0"/>
                            </a:rPr>
                            <m:t>𝑍</m:t>
                          </m:r>
                          <m:r>
                            <a:rPr lang="en-US" altLang="zh-CN" sz="2800" b="0" i="1" smtClean="0">
                              <a:latin typeface="Cambria Math" panose="02040503050406030204" pitchFamily="18" charset="0"/>
                              <a:ea typeface="Cambria Math" panose="02040503050406030204" pitchFamily="18" charset="0"/>
                            </a:rPr>
                            <m:t>+</m:t>
                          </m:r>
                          <m:nary>
                            <m:naryPr>
                              <m:chr m:val="∑"/>
                              <m:supHide m:val="on"/>
                              <m:ctrlPr>
                                <a:rPr lang="en-US" altLang="zh-CN" sz="2800" b="0" i="1" smtClean="0">
                                  <a:latin typeface="Cambria Math" panose="02040503050406030204" pitchFamily="18" charset="0"/>
                                  <a:ea typeface="Cambria Math" panose="02040503050406030204" pitchFamily="18" charset="0"/>
                                </a:rPr>
                              </m:ctrlPr>
                            </m:naryPr>
                            <m:sub>
                              <m:r>
                                <m:rPr>
                                  <m:brk m:alnAt="7"/>
                                </m:rPr>
                                <a:rPr lang="en-US" altLang="zh-CN" sz="2800" b="0" i="1" smtClean="0">
                                  <a:latin typeface="Cambria Math" panose="02040503050406030204" pitchFamily="18" charset="0"/>
                                  <a:ea typeface="Cambria Math" panose="02040503050406030204" pitchFamily="18" charset="0"/>
                                </a:rPr>
                                <m:t>𝑠</m:t>
                              </m:r>
                            </m:sub>
                            <m:sup/>
                            <m:e>
                              <m:r>
                                <a:rPr lang="en-US" altLang="zh-CN" sz="2800" b="0" i="1" smtClean="0">
                                  <a:latin typeface="Cambria Math" panose="02040503050406030204" pitchFamily="18" charset="0"/>
                                  <a:ea typeface="Cambria Math" panose="02040503050406030204" pitchFamily="18" charset="0"/>
                                </a:rPr>
                                <m:t>𝜏</m:t>
                              </m:r>
                              <m:r>
                                <a:rPr lang="en-US" altLang="zh-CN" sz="2800" b="0" i="1" smtClean="0">
                                  <a:latin typeface="Cambria Math" panose="02040503050406030204" pitchFamily="18" charset="0"/>
                                  <a:ea typeface="Cambria Math" panose="02040503050406030204" pitchFamily="18" charset="0"/>
                                </a:rPr>
                                <m:t> </m:t>
                              </m:r>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1</m:t>
                                  </m:r>
                                </m:num>
                                <m:den>
                                  <m:r>
                                    <a:rPr lang="en-US" altLang="zh-CN" sz="2800" b="0" i="1" smtClean="0">
                                      <a:latin typeface="Cambria Math" panose="02040503050406030204" pitchFamily="18" charset="0"/>
                                      <a:ea typeface="Cambria Math" panose="02040503050406030204" pitchFamily="18" charset="0"/>
                                    </a:rPr>
                                    <m:t>𝑍</m:t>
                                  </m:r>
                                </m:den>
                              </m:f>
                              <m:r>
                                <a:rPr lang="en-US" altLang="zh-CN" sz="2800" b="0" i="1" smtClean="0">
                                  <a:latin typeface="Cambria Math" panose="02040503050406030204" pitchFamily="18" charset="0"/>
                                  <a:ea typeface="Cambria Math" panose="02040503050406030204" pitchFamily="18" charset="0"/>
                                </a:rPr>
                                <m:t> </m:t>
                              </m:r>
                              <m:d>
                                <m:dPr>
                                  <m:ctrlPr>
                                    <a:rPr lang="en-US" altLang="zh-CN" sz="2800" b="0" i="1" smtClean="0">
                                      <a:latin typeface="Cambria Math" panose="02040503050406030204" pitchFamily="18" charset="0"/>
                                      <a:ea typeface="Cambria Math" panose="02040503050406030204" pitchFamily="18" charset="0"/>
                                    </a:rPr>
                                  </m:ctrlPr>
                                </m:dPr>
                                <m:e>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𝜀</m:t>
                                      </m:r>
                                    </m:num>
                                    <m:den>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𝜏</m:t>
                                          </m:r>
                                        </m:e>
                                        <m:sup>
                                          <m:r>
                                            <a:rPr lang="en-US" altLang="zh-CN" sz="2800" b="0" i="1" smtClean="0">
                                              <a:latin typeface="Cambria Math" panose="02040503050406030204" pitchFamily="18" charset="0"/>
                                              <a:ea typeface="Cambria Math" panose="02040503050406030204" pitchFamily="18" charset="0"/>
                                            </a:rPr>
                                            <m:t>2</m:t>
                                          </m:r>
                                        </m:sup>
                                      </m:sSup>
                                    </m:den>
                                  </m:f>
                                </m:e>
                              </m:d>
                              <m:r>
                                <a:rPr lang="en-US" altLang="zh-CN" sz="2800" b="0" i="1" smtClean="0">
                                  <a:latin typeface="Cambria Math" panose="02040503050406030204" pitchFamily="18" charset="0"/>
                                  <a:ea typeface="Cambria Math" panose="02040503050406030204" pitchFamily="18" charset="0"/>
                                </a:rPr>
                                <m:t> </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𝑒</m:t>
                                  </m:r>
                                </m:e>
                                <m:sup>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𝜀</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𝜏</m:t>
                                  </m:r>
                                </m:sup>
                              </m:sSup>
                              <m:r>
                                <a:rPr lang="en-US" altLang="zh-CN" sz="2800" b="0" i="1" smtClean="0">
                                  <a:latin typeface="Cambria Math" panose="02040503050406030204" pitchFamily="18" charset="0"/>
                                  <a:ea typeface="Cambria Math" panose="02040503050406030204" pitchFamily="18" charset="0"/>
                                </a:rPr>
                                <m:t>=</m:t>
                              </m:r>
                              <m:nary>
                                <m:naryPr>
                                  <m:chr m:val="∑"/>
                                  <m:supHide m:val="on"/>
                                  <m:ctrlPr>
                                    <a:rPr lang="en-US" altLang="zh-CN" sz="2800" b="0" i="1" smtClean="0">
                                      <a:latin typeface="Cambria Math" panose="02040503050406030204" pitchFamily="18" charset="0"/>
                                      <a:ea typeface="Cambria Math" panose="02040503050406030204" pitchFamily="18" charset="0"/>
                                    </a:rPr>
                                  </m:ctrlPr>
                                </m:naryPr>
                                <m:sub>
                                  <m:r>
                                    <m:rPr>
                                      <m:brk m:alnAt="7"/>
                                    </m:rPr>
                                    <a:rPr lang="en-US" altLang="zh-CN" sz="2800" b="0" i="1" smtClean="0">
                                      <a:latin typeface="Cambria Math" panose="02040503050406030204" pitchFamily="18" charset="0"/>
                                      <a:ea typeface="Cambria Math" panose="02040503050406030204" pitchFamily="18" charset="0"/>
                                    </a:rPr>
                                    <m:t>𝑠</m:t>
                                  </m:r>
                                </m:sub>
                                <m:sup/>
                                <m:e>
                                  <m:d>
                                    <m:dPr>
                                      <m:ctrlPr>
                                        <a:rPr lang="en-US" altLang="zh-CN" sz="2800" b="0" i="1" smtClean="0">
                                          <a:latin typeface="Cambria Math" panose="02040503050406030204" pitchFamily="18" charset="0"/>
                                          <a:ea typeface="Cambria Math" panose="02040503050406030204" pitchFamily="18" charset="0"/>
                                        </a:rPr>
                                      </m:ctrlPr>
                                    </m:dPr>
                                    <m:e>
                                      <m:func>
                                        <m:funcPr>
                                          <m:ctrlPr>
                                            <a:rPr lang="en-US" altLang="zh-CN" sz="2800" b="0" i="1" smtClean="0">
                                              <a:solidFill>
                                                <a:srgbClr val="7030A0"/>
                                              </a:solidFill>
                                              <a:latin typeface="Cambria Math" panose="02040503050406030204" pitchFamily="18" charset="0"/>
                                              <a:ea typeface="Cambria Math" panose="02040503050406030204" pitchFamily="18" charset="0"/>
                                            </a:rPr>
                                          </m:ctrlPr>
                                        </m:funcPr>
                                        <m:fName>
                                          <m:r>
                                            <m:rPr>
                                              <m:sty m:val="p"/>
                                            </m:rPr>
                                            <a:rPr lang="en-US" altLang="zh-CN" sz="2800" b="0" i="0" smtClean="0">
                                              <a:solidFill>
                                                <a:srgbClr val="7030A0"/>
                                              </a:solidFill>
                                              <a:latin typeface="Cambria Math" panose="02040503050406030204" pitchFamily="18" charset="0"/>
                                              <a:ea typeface="Cambria Math" panose="02040503050406030204" pitchFamily="18" charset="0"/>
                                            </a:rPr>
                                            <m:t>log</m:t>
                                          </m:r>
                                        </m:fName>
                                        <m:e>
                                          <m:r>
                                            <a:rPr lang="en-US" altLang="zh-CN" sz="2800" b="0" i="1" smtClean="0">
                                              <a:solidFill>
                                                <a:srgbClr val="7030A0"/>
                                              </a:solidFill>
                                              <a:latin typeface="Cambria Math" panose="02040503050406030204" pitchFamily="18" charset="0"/>
                                              <a:ea typeface="Cambria Math" panose="02040503050406030204" pitchFamily="18" charset="0"/>
                                            </a:rPr>
                                            <m:t>𝑍</m:t>
                                          </m:r>
                                          <m:r>
                                            <a:rPr lang="en-US" altLang="zh-CN" sz="2800" b="0" i="1" smtClean="0">
                                              <a:solidFill>
                                                <a:srgbClr val="7030A0"/>
                                              </a:solidFill>
                                              <a:latin typeface="Cambria Math" panose="02040503050406030204" pitchFamily="18" charset="0"/>
                                              <a:ea typeface="Cambria Math" panose="02040503050406030204" pitchFamily="18" charset="0"/>
                                            </a:rPr>
                                            <m:t>+</m:t>
                                          </m:r>
                                          <m:f>
                                            <m:fPr>
                                              <m:ctrlPr>
                                                <a:rPr lang="en-US" altLang="zh-CN" sz="2800" b="0" i="1" smtClean="0">
                                                  <a:solidFill>
                                                    <a:srgbClr val="7030A0"/>
                                                  </a:solidFill>
                                                  <a:latin typeface="Cambria Math" panose="02040503050406030204" pitchFamily="18" charset="0"/>
                                                  <a:ea typeface="Cambria Math" panose="02040503050406030204" pitchFamily="18" charset="0"/>
                                                </a:rPr>
                                              </m:ctrlPr>
                                            </m:fPr>
                                            <m:num>
                                              <m:r>
                                                <a:rPr lang="en-US" altLang="zh-CN" sz="2800" b="0" i="1" smtClean="0">
                                                  <a:solidFill>
                                                    <a:srgbClr val="7030A0"/>
                                                  </a:solidFill>
                                                  <a:latin typeface="Cambria Math" panose="02040503050406030204" pitchFamily="18" charset="0"/>
                                                  <a:ea typeface="Cambria Math" panose="02040503050406030204" pitchFamily="18" charset="0"/>
                                                </a:rPr>
                                                <m:t>𝜀</m:t>
                                              </m:r>
                                            </m:num>
                                            <m:den>
                                              <m:r>
                                                <a:rPr lang="en-US" altLang="zh-CN" sz="2800" b="0" i="1" smtClean="0">
                                                  <a:solidFill>
                                                    <a:srgbClr val="7030A0"/>
                                                  </a:solidFill>
                                                  <a:latin typeface="Cambria Math" panose="02040503050406030204" pitchFamily="18" charset="0"/>
                                                  <a:ea typeface="Cambria Math" panose="02040503050406030204" pitchFamily="18" charset="0"/>
                                                </a:rPr>
                                                <m:t>𝜏</m:t>
                                              </m:r>
                                            </m:den>
                                          </m:f>
                                        </m:e>
                                      </m:func>
                                    </m:e>
                                  </m:d>
                                </m:e>
                              </m:nary>
                              <m:f>
                                <m:fPr>
                                  <m:ctrlPr>
                                    <a:rPr lang="en-US" altLang="zh-CN" sz="2800" b="0" i="1" smtClean="0">
                                      <a:solidFill>
                                        <a:srgbClr val="FF0000"/>
                                      </a:solidFill>
                                      <a:latin typeface="Cambria Math" panose="02040503050406030204" pitchFamily="18" charset="0"/>
                                      <a:ea typeface="Cambria Math" panose="02040503050406030204" pitchFamily="18" charset="0"/>
                                    </a:rPr>
                                  </m:ctrlPr>
                                </m:fPr>
                                <m:num>
                                  <m:sSup>
                                    <m:sSupPr>
                                      <m:ctrlPr>
                                        <a:rPr lang="en-US" altLang="zh-CN" sz="2800" b="0" i="1" smtClean="0">
                                          <a:solidFill>
                                            <a:srgbClr val="FF0000"/>
                                          </a:solidFill>
                                          <a:latin typeface="Cambria Math" panose="02040503050406030204" pitchFamily="18" charset="0"/>
                                          <a:ea typeface="Cambria Math" panose="02040503050406030204" pitchFamily="18" charset="0"/>
                                        </a:rPr>
                                      </m:ctrlPr>
                                    </m:sSupPr>
                                    <m:e>
                                      <m:r>
                                        <a:rPr lang="en-US" altLang="zh-CN" sz="2800" b="0" i="1" smtClean="0">
                                          <a:solidFill>
                                            <a:srgbClr val="FF0000"/>
                                          </a:solidFill>
                                          <a:latin typeface="Cambria Math" panose="02040503050406030204" pitchFamily="18" charset="0"/>
                                          <a:ea typeface="Cambria Math" panose="02040503050406030204" pitchFamily="18" charset="0"/>
                                        </a:rPr>
                                        <m:t>𝑒</m:t>
                                      </m:r>
                                    </m:e>
                                    <m:sup>
                                      <m:r>
                                        <a:rPr lang="en-US" altLang="zh-CN" sz="2800" b="0" i="1" smtClean="0">
                                          <a:solidFill>
                                            <a:srgbClr val="FF0000"/>
                                          </a:solidFill>
                                          <a:latin typeface="Cambria Math" panose="02040503050406030204" pitchFamily="18" charset="0"/>
                                          <a:ea typeface="Cambria Math" panose="02040503050406030204" pitchFamily="18" charset="0"/>
                                        </a:rPr>
                                        <m:t>−</m:t>
                                      </m:r>
                                      <m:r>
                                        <a:rPr lang="en-US" altLang="zh-CN" sz="2800" b="0" i="1" smtClean="0">
                                          <a:solidFill>
                                            <a:srgbClr val="FF0000"/>
                                          </a:solidFill>
                                          <a:latin typeface="Cambria Math" panose="02040503050406030204" pitchFamily="18" charset="0"/>
                                          <a:ea typeface="Cambria Math" panose="02040503050406030204" pitchFamily="18" charset="0"/>
                                        </a:rPr>
                                        <m:t>𝜀</m:t>
                                      </m:r>
                                      <m:r>
                                        <a:rPr lang="en-US" altLang="zh-CN" sz="2800" b="0" i="1" smtClean="0">
                                          <a:solidFill>
                                            <a:srgbClr val="FF0000"/>
                                          </a:solidFill>
                                          <a:latin typeface="Cambria Math" panose="02040503050406030204" pitchFamily="18" charset="0"/>
                                          <a:ea typeface="Cambria Math" panose="02040503050406030204" pitchFamily="18" charset="0"/>
                                        </a:rPr>
                                        <m:t>/</m:t>
                                      </m:r>
                                      <m:r>
                                        <a:rPr lang="en-US" altLang="zh-CN" sz="2800" b="0" i="1" smtClean="0">
                                          <a:solidFill>
                                            <a:srgbClr val="FF0000"/>
                                          </a:solidFill>
                                          <a:latin typeface="Cambria Math" panose="02040503050406030204" pitchFamily="18" charset="0"/>
                                          <a:ea typeface="Cambria Math" panose="02040503050406030204" pitchFamily="18" charset="0"/>
                                        </a:rPr>
                                        <m:t>𝜏</m:t>
                                      </m:r>
                                    </m:sup>
                                  </m:sSup>
                                </m:num>
                                <m:den>
                                  <m:r>
                                    <a:rPr lang="en-US" altLang="zh-CN" sz="2800" b="0" i="1" smtClean="0">
                                      <a:solidFill>
                                        <a:srgbClr val="FF0000"/>
                                      </a:solidFill>
                                      <a:latin typeface="Cambria Math" panose="02040503050406030204" pitchFamily="18" charset="0"/>
                                      <a:ea typeface="Cambria Math" panose="02040503050406030204" pitchFamily="18" charset="0"/>
                                    </a:rPr>
                                    <m:t>𝑍</m:t>
                                  </m:r>
                                </m:den>
                              </m:f>
                              <m:r>
                                <a:rPr lang="en-US" altLang="zh-CN" sz="2800" b="0" i="1" smtClean="0">
                                  <a:solidFill>
                                    <a:schemeClr val="tx1"/>
                                  </a:solidFill>
                                  <a:latin typeface="Cambria Math" panose="02040503050406030204" pitchFamily="18" charset="0"/>
                                  <a:ea typeface="Cambria Math" panose="02040503050406030204" pitchFamily="18" charset="0"/>
                                </a:rPr>
                                <m:t>=−</m:t>
                              </m:r>
                              <m:nary>
                                <m:naryPr>
                                  <m:chr m:val="∑"/>
                                  <m:supHide m:val="on"/>
                                  <m:ctrlPr>
                                    <a:rPr lang="en-US" altLang="zh-CN" sz="2800" b="0" i="1" smtClean="0">
                                      <a:solidFill>
                                        <a:srgbClr val="FF0000"/>
                                      </a:solidFill>
                                      <a:latin typeface="Cambria Math" panose="02040503050406030204" pitchFamily="18" charset="0"/>
                                      <a:ea typeface="Cambria Math" panose="02040503050406030204" pitchFamily="18" charset="0"/>
                                    </a:rPr>
                                  </m:ctrlPr>
                                </m:naryPr>
                                <m:sub>
                                  <m:r>
                                    <m:rPr>
                                      <m:brk m:alnAt="7"/>
                                    </m:rPr>
                                    <a:rPr lang="en-US" altLang="zh-CN" sz="2800" b="0" i="1" smtClean="0">
                                      <a:solidFill>
                                        <a:srgbClr val="FF0000"/>
                                      </a:solidFill>
                                      <a:latin typeface="Cambria Math" panose="02040503050406030204" pitchFamily="18" charset="0"/>
                                      <a:ea typeface="Cambria Math" panose="02040503050406030204" pitchFamily="18" charset="0"/>
                                    </a:rPr>
                                    <m:t>𝑠</m:t>
                                  </m:r>
                                </m:sub>
                                <m:sup/>
                                <m:e>
                                  <m:r>
                                    <a:rPr lang="en-US" altLang="zh-CN" sz="2800" b="0" i="1" smtClean="0">
                                      <a:solidFill>
                                        <a:srgbClr val="FF0000"/>
                                      </a:solidFill>
                                      <a:latin typeface="Cambria Math" panose="02040503050406030204" pitchFamily="18" charset="0"/>
                                      <a:ea typeface="Cambria Math" panose="02040503050406030204" pitchFamily="18" charset="0"/>
                                    </a:rPr>
                                    <m:t>𝑃</m:t>
                                  </m:r>
                                  <m:d>
                                    <m:dPr>
                                      <m:ctrlPr>
                                        <a:rPr lang="en-US" altLang="zh-CN" sz="2800" b="0" i="1" smtClean="0">
                                          <a:solidFill>
                                            <a:srgbClr val="FF0000"/>
                                          </a:solidFill>
                                          <a:latin typeface="Cambria Math" panose="02040503050406030204" pitchFamily="18" charset="0"/>
                                          <a:ea typeface="Cambria Math" panose="02040503050406030204" pitchFamily="18" charset="0"/>
                                        </a:rPr>
                                      </m:ctrlPr>
                                    </m:dPr>
                                    <m:e>
                                      <m:r>
                                        <a:rPr lang="en-US" altLang="zh-CN" sz="2800" b="0" i="1" smtClean="0">
                                          <a:solidFill>
                                            <a:srgbClr val="FF0000"/>
                                          </a:solidFill>
                                          <a:latin typeface="Cambria Math" panose="02040503050406030204" pitchFamily="18" charset="0"/>
                                          <a:ea typeface="Cambria Math" panose="02040503050406030204" pitchFamily="18" charset="0"/>
                                        </a:rPr>
                                        <m:t>𝑠</m:t>
                                      </m:r>
                                    </m:e>
                                  </m:d>
                                  <m:func>
                                    <m:funcPr>
                                      <m:ctrlPr>
                                        <a:rPr lang="en-US" altLang="zh-CN" sz="2800" b="0" i="1" smtClean="0">
                                          <a:solidFill>
                                            <a:srgbClr val="7030A0"/>
                                          </a:solidFill>
                                          <a:latin typeface="Cambria Math" panose="02040503050406030204" pitchFamily="18" charset="0"/>
                                          <a:ea typeface="Cambria Math" panose="02040503050406030204" pitchFamily="18" charset="0"/>
                                        </a:rPr>
                                      </m:ctrlPr>
                                    </m:funcPr>
                                    <m:fName>
                                      <m:r>
                                        <m:rPr>
                                          <m:sty m:val="p"/>
                                        </m:rPr>
                                        <a:rPr lang="en-US" altLang="zh-CN" sz="2800" b="0" i="0" smtClean="0">
                                          <a:solidFill>
                                            <a:srgbClr val="7030A0"/>
                                          </a:solidFill>
                                          <a:latin typeface="Cambria Math" panose="02040503050406030204" pitchFamily="18" charset="0"/>
                                          <a:ea typeface="Cambria Math" panose="02040503050406030204" pitchFamily="18" charset="0"/>
                                        </a:rPr>
                                        <m:t>log</m:t>
                                      </m:r>
                                    </m:fName>
                                    <m:e>
                                      <m:r>
                                        <a:rPr lang="en-US" altLang="zh-CN" sz="2800" b="0" i="1" smtClean="0">
                                          <a:solidFill>
                                            <a:srgbClr val="7030A0"/>
                                          </a:solidFill>
                                          <a:latin typeface="Cambria Math" panose="02040503050406030204" pitchFamily="18" charset="0"/>
                                          <a:ea typeface="Cambria Math" panose="02040503050406030204" pitchFamily="18" charset="0"/>
                                        </a:rPr>
                                        <m:t>𝑃</m:t>
                                      </m:r>
                                      <m:r>
                                        <a:rPr lang="en-US" altLang="zh-CN" sz="2800" b="0" i="1" smtClean="0">
                                          <a:solidFill>
                                            <a:srgbClr val="7030A0"/>
                                          </a:solidFill>
                                          <a:latin typeface="Cambria Math" panose="02040503050406030204" pitchFamily="18" charset="0"/>
                                          <a:ea typeface="Cambria Math" panose="02040503050406030204" pitchFamily="18" charset="0"/>
                                        </a:rPr>
                                        <m:t>(</m:t>
                                      </m:r>
                                      <m:r>
                                        <a:rPr lang="en-US" altLang="zh-CN" sz="2800" b="0" i="1" smtClean="0">
                                          <a:solidFill>
                                            <a:srgbClr val="7030A0"/>
                                          </a:solidFill>
                                          <a:latin typeface="Cambria Math" panose="02040503050406030204" pitchFamily="18" charset="0"/>
                                          <a:ea typeface="Cambria Math" panose="02040503050406030204" pitchFamily="18" charset="0"/>
                                        </a:rPr>
                                        <m:t>𝑠</m:t>
                                      </m:r>
                                      <m:r>
                                        <a:rPr lang="en-US" altLang="zh-CN" sz="2800" b="0" i="1" smtClean="0">
                                          <a:solidFill>
                                            <a:srgbClr val="7030A0"/>
                                          </a:solidFill>
                                          <a:latin typeface="Cambria Math" panose="02040503050406030204" pitchFamily="18" charset="0"/>
                                          <a:ea typeface="Cambria Math" panose="02040503050406030204" pitchFamily="18" charset="0"/>
                                        </a:rPr>
                                        <m:t>)</m:t>
                                      </m:r>
                                    </m:e>
                                  </m:func>
                                </m:e>
                              </m:nary>
                            </m:e>
                          </m:nary>
                        </m:e>
                      </m:func>
                    </m:oMath>
                  </m:oMathPara>
                </a14:m>
                <a:endParaRPr lang="en-CN" sz="2800" dirty="0"/>
              </a:p>
            </p:txBody>
          </p:sp>
        </mc:Choice>
        <mc:Fallback xmlns="">
          <p:sp>
            <p:nvSpPr>
              <p:cNvPr id="8" name="TextBox 7">
                <a:extLst>
                  <a:ext uri="{FF2B5EF4-FFF2-40B4-BE49-F238E27FC236}">
                    <a16:creationId xmlns:a16="http://schemas.microsoft.com/office/drawing/2014/main" id="{58B8DAC2-D886-6D40-B258-A70149C0EC1C}"/>
                  </a:ext>
                </a:extLst>
              </p:cNvPr>
              <p:cNvSpPr txBox="1">
                <a:spLocks noRot="1" noChangeAspect="1" noMove="1" noResize="1" noEditPoints="1" noAdjustHandles="1" noChangeArrowheads="1" noChangeShapeType="1" noTextEdit="1"/>
              </p:cNvSpPr>
              <p:nvPr/>
            </p:nvSpPr>
            <p:spPr>
              <a:xfrm>
                <a:off x="595746" y="2930235"/>
                <a:ext cx="8153402" cy="2078133"/>
              </a:xfrm>
              <a:prstGeom prst="rect">
                <a:avLst/>
              </a:prstGeom>
              <a:blipFill>
                <a:blip r:embed="rId3"/>
                <a:stretch>
                  <a:fillRect t="-26667" r="-40498" b="-9878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70BE68B-CC8D-BE47-B183-AAD820DAA1E9}"/>
                  </a:ext>
                </a:extLst>
              </p:cNvPr>
              <p:cNvSpPr txBox="1"/>
              <p:nvPr/>
            </p:nvSpPr>
            <p:spPr>
              <a:xfrm>
                <a:off x="1676400" y="1491929"/>
                <a:ext cx="2549236" cy="6574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𝑃</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𝑠</m:t>
                          </m:r>
                        </m:e>
                      </m:d>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num>
                        <m:den>
                          <m:r>
                            <a:rPr lang="en-US" b="0" i="1" smtClean="0">
                              <a:solidFill>
                                <a:srgbClr val="FF0000"/>
                              </a:solidFill>
                              <a:latin typeface="Cambria Math" panose="02040503050406030204" pitchFamily="18" charset="0"/>
                            </a:rPr>
                            <m:t>𝑍</m:t>
                          </m:r>
                        </m:den>
                      </m:f>
                    </m:oMath>
                  </m:oMathPara>
                </a14:m>
                <a:endParaRPr lang="en-CN" dirty="0"/>
              </a:p>
            </p:txBody>
          </p:sp>
        </mc:Choice>
        <mc:Fallback xmlns="">
          <p:sp>
            <p:nvSpPr>
              <p:cNvPr id="9" name="TextBox 8">
                <a:extLst>
                  <a:ext uri="{FF2B5EF4-FFF2-40B4-BE49-F238E27FC236}">
                    <a16:creationId xmlns:a16="http://schemas.microsoft.com/office/drawing/2014/main" id="{170BE68B-CC8D-BE47-B183-AAD820DAA1E9}"/>
                  </a:ext>
                </a:extLst>
              </p:cNvPr>
              <p:cNvSpPr txBox="1">
                <a:spLocks noRot="1" noChangeAspect="1" noMove="1" noResize="1" noEditPoints="1" noAdjustHandles="1" noChangeArrowheads="1" noChangeShapeType="1" noTextEdit="1"/>
              </p:cNvSpPr>
              <p:nvPr/>
            </p:nvSpPr>
            <p:spPr>
              <a:xfrm>
                <a:off x="1676400" y="1491929"/>
                <a:ext cx="2549236" cy="657488"/>
              </a:xfrm>
              <a:prstGeom prst="rect">
                <a:avLst/>
              </a:prstGeom>
              <a:blipFill>
                <a:blip r:embed="rId4"/>
                <a:stretch>
                  <a:fillRect b="-3774"/>
                </a:stretch>
              </a:blipFill>
            </p:spPr>
            <p:txBody>
              <a:bodyPr/>
              <a:lstStyle/>
              <a:p>
                <a:r>
                  <a:rPr lang="en-CN">
                    <a:noFill/>
                  </a:rPr>
                  <a:t> </a:t>
                </a:r>
              </a:p>
            </p:txBody>
          </p:sp>
        </mc:Fallback>
      </mc:AlternateContent>
      <p:sp>
        <p:nvSpPr>
          <p:cNvPr id="10" name="TextBox 9">
            <a:extLst>
              <a:ext uri="{FF2B5EF4-FFF2-40B4-BE49-F238E27FC236}">
                <a16:creationId xmlns:a16="http://schemas.microsoft.com/office/drawing/2014/main" id="{87BC6A8E-509F-E349-B171-D47841FF63B0}"/>
              </a:ext>
            </a:extLst>
          </p:cNvPr>
          <p:cNvSpPr txBox="1"/>
          <p:nvPr/>
        </p:nvSpPr>
        <p:spPr>
          <a:xfrm>
            <a:off x="595747" y="1636007"/>
            <a:ext cx="969818" cy="369332"/>
          </a:xfrm>
          <a:prstGeom prst="rect">
            <a:avLst/>
          </a:prstGeom>
          <a:noFill/>
        </p:spPr>
        <p:txBody>
          <a:bodyPr wrap="square" rtlCol="0">
            <a:spAutoFit/>
          </a:bodyPr>
          <a:lstStyle/>
          <a:p>
            <a:r>
              <a:rPr lang="en-CN" dirty="0"/>
              <a:t>概率</a:t>
            </a:r>
            <a:r>
              <a:rPr lang="zh-CN" altLang="en-US" dirty="0"/>
              <a:t>：</a:t>
            </a:r>
            <a:endParaRPr lang="en-CN" dirty="0"/>
          </a:p>
        </p:txBody>
      </p:sp>
      <p:sp>
        <p:nvSpPr>
          <p:cNvPr id="11" name="Right Arrow 10">
            <a:extLst>
              <a:ext uri="{FF2B5EF4-FFF2-40B4-BE49-F238E27FC236}">
                <a16:creationId xmlns:a16="http://schemas.microsoft.com/office/drawing/2014/main" id="{A577E63E-3514-DF40-A4D7-85DC72063BFC}"/>
              </a:ext>
            </a:extLst>
          </p:cNvPr>
          <p:cNvSpPr/>
          <p:nvPr/>
        </p:nvSpPr>
        <p:spPr>
          <a:xfrm>
            <a:off x="4197924" y="1676595"/>
            <a:ext cx="1094509" cy="3287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E2D1431-FA32-E54E-AD59-C0293D21EA32}"/>
                  </a:ext>
                </a:extLst>
              </p:cNvPr>
              <p:cNvSpPr txBox="1"/>
              <p:nvPr/>
            </p:nvSpPr>
            <p:spPr>
              <a:xfrm>
                <a:off x="5825832" y="1538224"/>
                <a:ext cx="2549236" cy="564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solidFill>
                                <a:srgbClr val="7030A0"/>
                              </a:solidFill>
                              <a:latin typeface="Cambria Math" panose="02040503050406030204" pitchFamily="18" charset="0"/>
                            </a:rPr>
                          </m:ctrlPr>
                        </m:funcPr>
                        <m:fName>
                          <m:r>
                            <m:rPr>
                              <m:sty m:val="p"/>
                            </m:rPr>
                            <a:rPr lang="en-US" b="0" i="0" smtClean="0">
                              <a:solidFill>
                                <a:srgbClr val="7030A0"/>
                              </a:solidFill>
                              <a:latin typeface="Cambria Math" panose="02040503050406030204" pitchFamily="18" charset="0"/>
                            </a:rPr>
                            <m:t>log</m:t>
                          </m:r>
                        </m:fName>
                        <m:e>
                          <m:r>
                            <a:rPr lang="en-US" b="0" i="1" smtClean="0">
                              <a:solidFill>
                                <a:srgbClr val="7030A0"/>
                              </a:solidFill>
                              <a:latin typeface="Cambria Math" panose="02040503050406030204" pitchFamily="18" charset="0"/>
                            </a:rPr>
                            <m:t>𝑃</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𝑠</m:t>
                          </m:r>
                          <m:r>
                            <a:rPr lang="en-US" b="0" i="1" smtClean="0">
                              <a:solidFill>
                                <a:srgbClr val="7030A0"/>
                              </a:solidFill>
                              <a:latin typeface="Cambria Math" panose="02040503050406030204" pitchFamily="18" charset="0"/>
                            </a:rPr>
                            <m:t>)</m:t>
                          </m:r>
                        </m:e>
                      </m:func>
                      <m:r>
                        <a:rPr lang="en-US" b="0" i="1" smtClean="0">
                          <a:solidFill>
                            <a:srgbClr val="7030A0"/>
                          </a:solidFill>
                          <a:latin typeface="Cambria Math" panose="02040503050406030204" pitchFamily="18" charset="0"/>
                        </a:rPr>
                        <m:t>=−</m:t>
                      </m:r>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ea typeface="Cambria Math" panose="02040503050406030204" pitchFamily="18" charset="0"/>
                            </a:rPr>
                            <m:t>𝜀</m:t>
                          </m:r>
                        </m:num>
                        <m:den>
                          <m:r>
                            <a:rPr lang="en-US" b="0" i="1" smtClean="0">
                              <a:solidFill>
                                <a:srgbClr val="7030A0"/>
                              </a:solidFill>
                              <a:latin typeface="Cambria Math" panose="02040503050406030204" pitchFamily="18" charset="0"/>
                              <a:ea typeface="Cambria Math" panose="02040503050406030204" pitchFamily="18" charset="0"/>
                            </a:rPr>
                            <m:t>𝜏</m:t>
                          </m:r>
                        </m:den>
                      </m:f>
                      <m:r>
                        <a:rPr lang="en-US" b="0" i="1" smtClean="0">
                          <a:solidFill>
                            <a:srgbClr val="7030A0"/>
                          </a:solidFill>
                          <a:latin typeface="Cambria Math" panose="02040503050406030204" pitchFamily="18" charset="0"/>
                        </a:rPr>
                        <m:t>−</m:t>
                      </m:r>
                      <m:func>
                        <m:funcPr>
                          <m:ctrlPr>
                            <a:rPr lang="en-US" b="0" i="1" smtClean="0">
                              <a:solidFill>
                                <a:srgbClr val="7030A0"/>
                              </a:solidFill>
                              <a:latin typeface="Cambria Math" panose="02040503050406030204" pitchFamily="18" charset="0"/>
                            </a:rPr>
                          </m:ctrlPr>
                        </m:funcPr>
                        <m:fName>
                          <m:r>
                            <m:rPr>
                              <m:sty m:val="p"/>
                            </m:rPr>
                            <a:rPr lang="en-US" b="0" i="0" smtClean="0">
                              <a:solidFill>
                                <a:srgbClr val="7030A0"/>
                              </a:solidFill>
                              <a:latin typeface="Cambria Math" panose="02040503050406030204" pitchFamily="18" charset="0"/>
                            </a:rPr>
                            <m:t>log</m:t>
                          </m:r>
                        </m:fName>
                        <m:e>
                          <m:r>
                            <a:rPr lang="en-US" b="0" i="1" smtClean="0">
                              <a:solidFill>
                                <a:srgbClr val="7030A0"/>
                              </a:solidFill>
                              <a:latin typeface="Cambria Math" panose="02040503050406030204" pitchFamily="18" charset="0"/>
                            </a:rPr>
                            <m:t>𝑍</m:t>
                          </m:r>
                        </m:e>
                      </m:func>
                    </m:oMath>
                  </m:oMathPara>
                </a14:m>
                <a:endParaRPr lang="en-CN" dirty="0"/>
              </a:p>
            </p:txBody>
          </p:sp>
        </mc:Choice>
        <mc:Fallback xmlns="">
          <p:sp>
            <p:nvSpPr>
              <p:cNvPr id="13" name="TextBox 12">
                <a:extLst>
                  <a:ext uri="{FF2B5EF4-FFF2-40B4-BE49-F238E27FC236}">
                    <a16:creationId xmlns:a16="http://schemas.microsoft.com/office/drawing/2014/main" id="{3E2D1431-FA32-E54E-AD59-C0293D21EA32}"/>
                  </a:ext>
                </a:extLst>
              </p:cNvPr>
              <p:cNvSpPr txBox="1">
                <a:spLocks noRot="1" noChangeAspect="1" noMove="1" noResize="1" noEditPoints="1" noAdjustHandles="1" noChangeArrowheads="1" noChangeShapeType="1" noTextEdit="1"/>
              </p:cNvSpPr>
              <p:nvPr/>
            </p:nvSpPr>
            <p:spPr>
              <a:xfrm>
                <a:off x="5825832" y="1538224"/>
                <a:ext cx="2549236" cy="564898"/>
              </a:xfrm>
              <a:prstGeom prst="rect">
                <a:avLst/>
              </a:prstGeom>
              <a:blipFill>
                <a:blip r:embed="rId5"/>
                <a:stretch>
                  <a:fillRect b="-2174"/>
                </a:stretch>
              </a:blipFill>
            </p:spPr>
            <p:txBody>
              <a:bodyPr/>
              <a:lstStyle/>
              <a:p>
                <a:r>
                  <a:rPr lang="en-CN">
                    <a:noFill/>
                  </a:rPr>
                  <a:t> </a:t>
                </a:r>
              </a:p>
            </p:txBody>
          </p:sp>
        </mc:Fallback>
      </mc:AlternateContent>
      <p:sp>
        <p:nvSpPr>
          <p:cNvPr id="14" name="TextBox 13">
            <a:extLst>
              <a:ext uri="{FF2B5EF4-FFF2-40B4-BE49-F238E27FC236}">
                <a16:creationId xmlns:a16="http://schemas.microsoft.com/office/drawing/2014/main" id="{926E9986-59B4-C542-9DC3-27B26865BAE1}"/>
              </a:ext>
            </a:extLst>
          </p:cNvPr>
          <p:cNvSpPr txBox="1"/>
          <p:nvPr/>
        </p:nvSpPr>
        <p:spPr>
          <a:xfrm>
            <a:off x="595746" y="2272144"/>
            <a:ext cx="1898072" cy="369332"/>
          </a:xfrm>
          <a:prstGeom prst="rect">
            <a:avLst/>
          </a:prstGeom>
          <a:noFill/>
        </p:spPr>
        <p:txBody>
          <a:bodyPr wrap="square" rtlCol="0">
            <a:spAutoFit/>
          </a:bodyPr>
          <a:lstStyle/>
          <a:p>
            <a:r>
              <a:rPr lang="en-CN" dirty="0"/>
              <a:t>熵</a:t>
            </a:r>
            <a:r>
              <a:rPr lang="zh-CN" altLang="en-US" dirty="0"/>
              <a:t>：</a:t>
            </a:r>
            <a:endParaRPr lang="en-CN" dirty="0"/>
          </a:p>
        </p:txBody>
      </p:sp>
    </p:spTree>
    <p:extLst>
      <p:ext uri="{BB962C8B-B14F-4D97-AF65-F5344CB8AC3E}">
        <p14:creationId xmlns:p14="http://schemas.microsoft.com/office/powerpoint/2010/main" val="21227931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082BDA6-0BF8-9C4D-8C1E-B3AEC61C0D2C}"/>
                  </a:ext>
                </a:extLst>
              </p:cNvPr>
              <p:cNvSpPr txBox="1"/>
              <p:nvPr/>
            </p:nvSpPr>
            <p:spPr>
              <a:xfrm>
                <a:off x="4786745" y="4881399"/>
                <a:ext cx="2618509" cy="707886"/>
              </a:xfrm>
              <a:prstGeom prst="rect">
                <a:avLst/>
              </a:prstGeom>
              <a:noFill/>
            </p:spPr>
            <p:txBody>
              <a:bodyPr wrap="square" rtlCol="0">
                <a:spAutoFit/>
              </a:bodyPr>
              <a:lstStyle/>
              <a:p>
                <a:pPr algn="ctr"/>
                <a:r>
                  <a:rPr lang="en-US" sz="4000" b="0" dirty="0">
                    <a:solidFill>
                      <a:schemeClr val="tx1"/>
                    </a:solidFill>
                    <a:ea typeface="Cambria Math" panose="02040503050406030204" pitchFamily="18" charset="0"/>
                  </a:rPr>
                  <a:t>F=</a:t>
                </a:r>
                <a14:m>
                  <m:oMath xmlns:m="http://schemas.openxmlformats.org/officeDocument/2006/math">
                    <m:r>
                      <a:rPr lang="en-US" sz="4000" b="0" i="0" smtClean="0">
                        <a:solidFill>
                          <a:schemeClr val="tx1"/>
                        </a:solidFill>
                        <a:latin typeface="Cambria Math" panose="02040503050406030204" pitchFamily="18" charset="0"/>
                        <a:ea typeface="Cambria Math" panose="02040503050406030204" pitchFamily="18" charset="0"/>
                      </a:rPr>
                      <m:t>−</m:t>
                    </m:r>
                    <m:r>
                      <a:rPr lang="en-US" sz="4000" b="0" i="1" smtClean="0">
                        <a:solidFill>
                          <a:schemeClr val="tx1"/>
                        </a:solidFill>
                        <a:latin typeface="Cambria Math" panose="02040503050406030204" pitchFamily="18" charset="0"/>
                        <a:ea typeface="Cambria Math" panose="02040503050406030204" pitchFamily="18" charset="0"/>
                      </a:rPr>
                      <m:t>𝜏</m:t>
                    </m:r>
                    <m:func>
                      <m:funcPr>
                        <m:ctrlPr>
                          <a:rPr lang="en-US" sz="40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4000" b="0" i="0" smtClean="0">
                            <a:solidFill>
                              <a:schemeClr val="tx1"/>
                            </a:solidFill>
                            <a:latin typeface="Cambria Math" panose="02040503050406030204" pitchFamily="18" charset="0"/>
                            <a:ea typeface="Cambria Math" panose="02040503050406030204" pitchFamily="18" charset="0"/>
                          </a:rPr>
                          <m:t>log</m:t>
                        </m:r>
                      </m:fName>
                      <m:e>
                        <m:r>
                          <a:rPr lang="en-US" sz="4000" b="0" i="1" smtClean="0">
                            <a:solidFill>
                              <a:schemeClr val="tx1"/>
                            </a:solidFill>
                            <a:latin typeface="Cambria Math" panose="02040503050406030204" pitchFamily="18" charset="0"/>
                            <a:ea typeface="Cambria Math" panose="02040503050406030204" pitchFamily="18" charset="0"/>
                          </a:rPr>
                          <m:t>𝑍</m:t>
                        </m:r>
                      </m:e>
                    </m:func>
                  </m:oMath>
                </a14:m>
                <a:endParaRPr lang="en-CN" sz="4000" dirty="0">
                  <a:solidFill>
                    <a:schemeClr val="tx1"/>
                  </a:solidFill>
                </a:endParaRPr>
              </a:p>
            </p:txBody>
          </p:sp>
        </mc:Choice>
        <mc:Fallback xmlns="">
          <p:sp>
            <p:nvSpPr>
              <p:cNvPr id="6" name="TextBox 5">
                <a:extLst>
                  <a:ext uri="{FF2B5EF4-FFF2-40B4-BE49-F238E27FC236}">
                    <a16:creationId xmlns:a16="http://schemas.microsoft.com/office/drawing/2014/main" id="{A082BDA6-0BF8-9C4D-8C1E-B3AEC61C0D2C}"/>
                  </a:ext>
                </a:extLst>
              </p:cNvPr>
              <p:cNvSpPr txBox="1">
                <a:spLocks noRot="1" noChangeAspect="1" noMove="1" noResize="1" noEditPoints="1" noAdjustHandles="1" noChangeArrowheads="1" noChangeShapeType="1" noTextEdit="1"/>
              </p:cNvSpPr>
              <p:nvPr/>
            </p:nvSpPr>
            <p:spPr>
              <a:xfrm>
                <a:off x="4786745" y="4881399"/>
                <a:ext cx="2618509" cy="707886"/>
              </a:xfrm>
              <a:prstGeom prst="rect">
                <a:avLst/>
              </a:prstGeom>
              <a:blipFill>
                <a:blip r:embed="rId2"/>
                <a:stretch>
                  <a:fillRect l="-4327" t="-14035" b="-3684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B8DAC2-D886-6D40-B258-A70149C0EC1C}"/>
                  </a:ext>
                </a:extLst>
              </p:cNvPr>
              <p:cNvSpPr txBox="1"/>
              <p:nvPr/>
            </p:nvSpPr>
            <p:spPr>
              <a:xfrm>
                <a:off x="8631383" y="2835120"/>
                <a:ext cx="2597723" cy="979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ea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𝜎</m:t>
                          </m:r>
                          <m:r>
                            <a:rPr lang="en-US" sz="2800" b="0" i="1" smtClean="0">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𝐹</m:t>
                                  </m:r>
                                </m:num>
                                <m:den>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𝜏</m:t>
                                  </m:r>
                                </m:den>
                              </m:f>
                            </m:e>
                          </m:d>
                        </m:e>
                        <m:sub>
                          <m:r>
                            <a:rPr lang="en-US" sz="2800" i="1">
                              <a:latin typeface="Cambria Math" panose="02040503050406030204" pitchFamily="18" charset="0"/>
                              <a:ea typeface="Cambria Math" panose="02040503050406030204" pitchFamily="18" charset="0"/>
                            </a:rPr>
                            <m:t>𝑉</m:t>
                          </m:r>
                        </m:sub>
                      </m:sSub>
                    </m:oMath>
                  </m:oMathPara>
                </a14:m>
                <a:endParaRPr lang="en-CN" sz="2800" dirty="0"/>
              </a:p>
            </p:txBody>
          </p:sp>
        </mc:Choice>
        <mc:Fallback xmlns="">
          <p:sp>
            <p:nvSpPr>
              <p:cNvPr id="8" name="TextBox 7">
                <a:extLst>
                  <a:ext uri="{FF2B5EF4-FFF2-40B4-BE49-F238E27FC236}">
                    <a16:creationId xmlns:a16="http://schemas.microsoft.com/office/drawing/2014/main" id="{58B8DAC2-D886-6D40-B258-A70149C0EC1C}"/>
                  </a:ext>
                </a:extLst>
              </p:cNvPr>
              <p:cNvSpPr txBox="1">
                <a:spLocks noRot="1" noChangeAspect="1" noMove="1" noResize="1" noEditPoints="1" noAdjustHandles="1" noChangeArrowheads="1" noChangeShapeType="1" noTextEdit="1"/>
              </p:cNvSpPr>
              <p:nvPr/>
            </p:nvSpPr>
            <p:spPr>
              <a:xfrm>
                <a:off x="8631383" y="2835120"/>
                <a:ext cx="2597723" cy="979242"/>
              </a:xfrm>
              <a:prstGeom prst="rect">
                <a:avLst/>
              </a:prstGeom>
              <a:blipFill>
                <a:blip r:embed="rId3"/>
                <a:stretch>
                  <a:fillRect t="-2564" b="-141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70BE68B-CC8D-BE47-B183-AAD820DAA1E9}"/>
                  </a:ext>
                </a:extLst>
              </p:cNvPr>
              <p:cNvSpPr txBox="1"/>
              <p:nvPr/>
            </p:nvSpPr>
            <p:spPr>
              <a:xfrm>
                <a:off x="3872342" y="908495"/>
                <a:ext cx="3990109" cy="12227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rgbClr val="FF0000"/>
                          </a:solidFill>
                          <a:latin typeface="Cambria Math" panose="02040503050406030204" pitchFamily="18" charset="0"/>
                        </a:rPr>
                        <m:t>𝑃</m:t>
                      </m:r>
                      <m:d>
                        <m:dPr>
                          <m:ctrlPr>
                            <a:rPr lang="en-US" sz="3600" b="0" i="1" smtClean="0">
                              <a:solidFill>
                                <a:srgbClr val="FF0000"/>
                              </a:solidFill>
                              <a:latin typeface="Cambria Math" panose="02040503050406030204" pitchFamily="18" charset="0"/>
                            </a:rPr>
                          </m:ctrlPr>
                        </m:dPr>
                        <m:e>
                          <m:r>
                            <a:rPr lang="en-US" sz="3600" b="0" i="1" smtClean="0">
                              <a:solidFill>
                                <a:srgbClr val="FF0000"/>
                              </a:solidFill>
                              <a:latin typeface="Cambria Math" panose="02040503050406030204" pitchFamily="18" charset="0"/>
                            </a:rPr>
                            <m:t>𝑠</m:t>
                          </m:r>
                        </m:e>
                      </m:d>
                      <m:r>
                        <a:rPr lang="en-US" sz="3600" b="0" i="1" smtClean="0">
                          <a:solidFill>
                            <a:srgbClr val="FF0000"/>
                          </a:solidFill>
                          <a:latin typeface="Cambria Math" panose="02040503050406030204" pitchFamily="18" charset="0"/>
                        </a:rPr>
                        <m:t>=</m:t>
                      </m:r>
                      <m:f>
                        <m:fPr>
                          <m:ctrlPr>
                            <a:rPr lang="en-US" sz="3600" b="0" i="1" smtClean="0">
                              <a:solidFill>
                                <a:srgbClr val="FF0000"/>
                              </a:solidFill>
                              <a:latin typeface="Cambria Math" panose="02040503050406030204" pitchFamily="18" charset="0"/>
                            </a:rPr>
                          </m:ctrlPr>
                        </m:fPr>
                        <m:num>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panose="02040503050406030204" pitchFamily="18" charset="0"/>
                                </a:rPr>
                                <m:t>𝑒</m:t>
                              </m:r>
                            </m:e>
                            <m:sup>
                              <m:r>
                                <a:rPr lang="en-US" sz="3600" b="0" i="1" smtClean="0">
                                  <a:solidFill>
                                    <a:srgbClr val="FF0000"/>
                                  </a:solidFill>
                                  <a:latin typeface="Cambria Math" panose="02040503050406030204" pitchFamily="18" charset="0"/>
                                </a:rPr>
                                <m:t>−</m:t>
                              </m:r>
                              <m:r>
                                <a:rPr lang="en-US" sz="3600" b="0" i="1" smtClean="0">
                                  <a:solidFill>
                                    <a:srgbClr val="FF0000"/>
                                  </a:solidFill>
                                  <a:latin typeface="Cambria Math" panose="02040503050406030204" pitchFamily="18" charset="0"/>
                                  <a:ea typeface="Cambria Math" panose="02040503050406030204" pitchFamily="18" charset="0"/>
                                </a:rPr>
                                <m:t>𝜀</m:t>
                              </m:r>
                              <m:r>
                                <a:rPr lang="en-US" sz="3600" b="0" i="1" smtClean="0">
                                  <a:solidFill>
                                    <a:srgbClr val="FF0000"/>
                                  </a:solidFill>
                                  <a:latin typeface="Cambria Math" panose="02040503050406030204" pitchFamily="18" charset="0"/>
                                  <a:ea typeface="Cambria Math" panose="02040503050406030204" pitchFamily="18" charset="0"/>
                                </a:rPr>
                                <m:t>/</m:t>
                              </m:r>
                              <m:r>
                                <a:rPr lang="en-US" sz="3600" b="0" i="1" smtClean="0">
                                  <a:solidFill>
                                    <a:srgbClr val="FF0000"/>
                                  </a:solidFill>
                                  <a:latin typeface="Cambria Math" panose="02040503050406030204" pitchFamily="18" charset="0"/>
                                  <a:ea typeface="Cambria Math" panose="02040503050406030204" pitchFamily="18" charset="0"/>
                                </a:rPr>
                                <m:t>𝜏</m:t>
                              </m:r>
                            </m:sup>
                          </m:sSup>
                        </m:num>
                        <m:den>
                          <m:r>
                            <a:rPr lang="en-US" sz="3600" b="0" i="1" smtClean="0">
                              <a:solidFill>
                                <a:srgbClr val="FF0000"/>
                              </a:solidFill>
                              <a:latin typeface="Cambria Math" panose="02040503050406030204" pitchFamily="18" charset="0"/>
                            </a:rPr>
                            <m:t>𝑍</m:t>
                          </m:r>
                        </m:den>
                      </m:f>
                    </m:oMath>
                  </m:oMathPara>
                </a14:m>
                <a:endParaRPr lang="en-CN" sz="3600" dirty="0">
                  <a:solidFill>
                    <a:srgbClr val="FF0000"/>
                  </a:solidFill>
                </a:endParaRPr>
              </a:p>
            </p:txBody>
          </p:sp>
        </mc:Choice>
        <mc:Fallback xmlns="">
          <p:sp>
            <p:nvSpPr>
              <p:cNvPr id="9" name="TextBox 8">
                <a:extLst>
                  <a:ext uri="{FF2B5EF4-FFF2-40B4-BE49-F238E27FC236}">
                    <a16:creationId xmlns:a16="http://schemas.microsoft.com/office/drawing/2014/main" id="{170BE68B-CC8D-BE47-B183-AAD820DAA1E9}"/>
                  </a:ext>
                </a:extLst>
              </p:cNvPr>
              <p:cNvSpPr txBox="1">
                <a:spLocks noRot="1" noChangeAspect="1" noMove="1" noResize="1" noEditPoints="1" noAdjustHandles="1" noChangeArrowheads="1" noChangeShapeType="1" noTextEdit="1"/>
              </p:cNvSpPr>
              <p:nvPr/>
            </p:nvSpPr>
            <p:spPr>
              <a:xfrm>
                <a:off x="3872342" y="908495"/>
                <a:ext cx="3990109" cy="1222771"/>
              </a:xfrm>
              <a:prstGeom prst="rect">
                <a:avLst/>
              </a:prstGeom>
              <a:blipFill>
                <a:blip r:embed="rId4"/>
                <a:stretch>
                  <a:fillRect b="-82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7D1116B-335D-7043-8849-E8BCDDD11F6C}"/>
                  </a:ext>
                </a:extLst>
              </p:cNvPr>
              <p:cNvSpPr txBox="1"/>
              <p:nvPr/>
            </p:nvSpPr>
            <p:spPr>
              <a:xfrm>
                <a:off x="554182" y="2755803"/>
                <a:ext cx="3990109" cy="1137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solidFill>
                                <a:schemeClr val="tx1"/>
                              </a:solidFill>
                              <a:latin typeface="Cambria Math" panose="02040503050406030204" pitchFamily="18" charset="0"/>
                              <a:ea typeface="Cambria Math" panose="02040503050406030204" pitchFamily="18" charset="0"/>
                            </a:rPr>
                          </m:ctrlPr>
                        </m:sSubPr>
                        <m:e>
                          <m:r>
                            <a:rPr lang="en-US" altLang="zh-CN" sz="2800" b="0" i="1" smtClean="0">
                              <a:solidFill>
                                <a:schemeClr val="tx1"/>
                              </a:solidFill>
                              <a:latin typeface="Cambria Math" panose="02040503050406030204" pitchFamily="18" charset="0"/>
                              <a:ea typeface="Cambria Math" panose="02040503050406030204" pitchFamily="18" charset="0"/>
                            </a:rPr>
                            <m:t>𝜎</m:t>
                          </m:r>
                        </m:e>
                        <m:sub>
                          <m:r>
                            <a:rPr lang="en-US" altLang="zh-CN" sz="2800" b="0" i="1" smtClean="0">
                              <a:solidFill>
                                <a:schemeClr val="tx1"/>
                              </a:solidFill>
                              <a:latin typeface="Cambria Math" panose="02040503050406030204" pitchFamily="18" charset="0"/>
                              <a:ea typeface="Cambria Math" panose="02040503050406030204" pitchFamily="18" charset="0"/>
                            </a:rPr>
                            <m:t>𝐼</m:t>
                          </m:r>
                        </m:sub>
                      </m:sSub>
                      <m:r>
                        <a:rPr lang="en-US" altLang="zh-CN" sz="2800" b="0" i="1" smtClean="0">
                          <a:solidFill>
                            <a:schemeClr val="tx1"/>
                          </a:solidFill>
                          <a:latin typeface="Cambria Math" panose="02040503050406030204" pitchFamily="18" charset="0"/>
                          <a:ea typeface="Cambria Math" panose="02040503050406030204" pitchFamily="18" charset="0"/>
                        </a:rPr>
                        <m:t>=−</m:t>
                      </m:r>
                      <m:nary>
                        <m:naryPr>
                          <m:chr m:val="∑"/>
                          <m:supHide m:val="on"/>
                          <m:ctrlPr>
                            <a:rPr lang="en-US" altLang="zh-CN" sz="2800" b="0" i="1" smtClean="0">
                              <a:solidFill>
                                <a:schemeClr val="tx1"/>
                              </a:solidFill>
                              <a:latin typeface="Cambria Math" panose="02040503050406030204" pitchFamily="18" charset="0"/>
                              <a:ea typeface="Cambria Math" panose="02040503050406030204" pitchFamily="18" charset="0"/>
                            </a:rPr>
                          </m:ctrlPr>
                        </m:naryPr>
                        <m:sub>
                          <m:r>
                            <m:rPr>
                              <m:brk m:alnAt="7"/>
                            </m:rPr>
                            <a:rPr lang="en-US" altLang="zh-CN" sz="2800" b="0" i="1" smtClean="0">
                              <a:solidFill>
                                <a:schemeClr val="tx1"/>
                              </a:solidFill>
                              <a:latin typeface="Cambria Math" panose="02040503050406030204" pitchFamily="18" charset="0"/>
                              <a:ea typeface="Cambria Math" panose="02040503050406030204" pitchFamily="18" charset="0"/>
                            </a:rPr>
                            <m:t>𝑠</m:t>
                          </m:r>
                        </m:sub>
                        <m:sup/>
                        <m:e>
                          <m:r>
                            <a:rPr lang="en-US" altLang="zh-CN" sz="2800" b="0" i="1" smtClean="0">
                              <a:solidFill>
                                <a:schemeClr val="tx1"/>
                              </a:solidFill>
                              <a:latin typeface="Cambria Math" panose="02040503050406030204" pitchFamily="18" charset="0"/>
                              <a:ea typeface="Cambria Math" panose="02040503050406030204" pitchFamily="18" charset="0"/>
                            </a:rPr>
                            <m:t>𝑃</m:t>
                          </m:r>
                          <m:d>
                            <m:dPr>
                              <m:ctrlPr>
                                <a:rPr lang="en-US" altLang="zh-CN" sz="2800" b="0" i="1" smtClean="0">
                                  <a:solidFill>
                                    <a:schemeClr val="tx1"/>
                                  </a:solidFill>
                                  <a:latin typeface="Cambria Math" panose="02040503050406030204" pitchFamily="18" charset="0"/>
                                  <a:ea typeface="Cambria Math" panose="02040503050406030204" pitchFamily="18" charset="0"/>
                                </a:rPr>
                              </m:ctrlPr>
                            </m:dPr>
                            <m:e>
                              <m:r>
                                <a:rPr lang="en-US" altLang="zh-CN" sz="2800" b="0" i="1" smtClean="0">
                                  <a:solidFill>
                                    <a:schemeClr val="tx1"/>
                                  </a:solidFill>
                                  <a:latin typeface="Cambria Math" panose="02040503050406030204" pitchFamily="18" charset="0"/>
                                  <a:ea typeface="Cambria Math" panose="02040503050406030204" pitchFamily="18" charset="0"/>
                                </a:rPr>
                                <m:t>𝑠</m:t>
                              </m:r>
                            </m:e>
                          </m:d>
                          <m:func>
                            <m:funcPr>
                              <m:ctrlPr>
                                <a:rPr lang="en-US" altLang="zh-CN"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altLang="zh-CN" sz="2800" b="0" i="0" smtClean="0">
                                  <a:solidFill>
                                    <a:schemeClr val="tx1"/>
                                  </a:solidFill>
                                  <a:latin typeface="Cambria Math" panose="02040503050406030204" pitchFamily="18" charset="0"/>
                                  <a:ea typeface="Cambria Math" panose="02040503050406030204" pitchFamily="18" charset="0"/>
                                </a:rPr>
                                <m:t>log</m:t>
                              </m:r>
                            </m:fName>
                            <m:e>
                              <m:r>
                                <a:rPr lang="en-US" altLang="zh-CN" sz="2800" b="0" i="1" smtClean="0">
                                  <a:solidFill>
                                    <a:schemeClr val="tx1"/>
                                  </a:solidFill>
                                  <a:latin typeface="Cambria Math" panose="02040503050406030204" pitchFamily="18" charset="0"/>
                                  <a:ea typeface="Cambria Math" panose="02040503050406030204" pitchFamily="18" charset="0"/>
                                </a:rPr>
                                <m:t>𝑃</m:t>
                              </m:r>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𝑠</m:t>
                              </m:r>
                              <m:r>
                                <a:rPr lang="en-US" altLang="zh-CN" sz="2800" b="0" i="1" smtClean="0">
                                  <a:solidFill>
                                    <a:schemeClr val="tx1"/>
                                  </a:solidFill>
                                  <a:latin typeface="Cambria Math" panose="02040503050406030204" pitchFamily="18" charset="0"/>
                                  <a:ea typeface="Cambria Math" panose="02040503050406030204" pitchFamily="18" charset="0"/>
                                </a:rPr>
                                <m:t>)</m:t>
                              </m:r>
                            </m:e>
                          </m:func>
                        </m:e>
                      </m:nary>
                    </m:oMath>
                  </m:oMathPara>
                </a14:m>
                <a:endParaRPr lang="en-CN" sz="2800" dirty="0"/>
              </a:p>
            </p:txBody>
          </p:sp>
        </mc:Choice>
        <mc:Fallback xmlns="">
          <p:sp>
            <p:nvSpPr>
              <p:cNvPr id="12" name="TextBox 11">
                <a:extLst>
                  <a:ext uri="{FF2B5EF4-FFF2-40B4-BE49-F238E27FC236}">
                    <a16:creationId xmlns:a16="http://schemas.microsoft.com/office/drawing/2014/main" id="{57D1116B-335D-7043-8849-E8BCDDD11F6C}"/>
                  </a:ext>
                </a:extLst>
              </p:cNvPr>
              <p:cNvSpPr txBox="1">
                <a:spLocks noRot="1" noChangeAspect="1" noMove="1" noResize="1" noEditPoints="1" noAdjustHandles="1" noChangeArrowheads="1" noChangeShapeType="1" noTextEdit="1"/>
              </p:cNvSpPr>
              <p:nvPr/>
            </p:nvSpPr>
            <p:spPr>
              <a:xfrm>
                <a:off x="554182" y="2755803"/>
                <a:ext cx="3990109" cy="1137876"/>
              </a:xfrm>
              <a:prstGeom prst="rect">
                <a:avLst/>
              </a:prstGeom>
              <a:blipFill>
                <a:blip r:embed="rId5"/>
                <a:stretch>
                  <a:fillRect l="-1587" t="-128571" b="-180220"/>
                </a:stretch>
              </a:blipFill>
            </p:spPr>
            <p:txBody>
              <a:bodyPr/>
              <a:lstStyle/>
              <a:p>
                <a:r>
                  <a:rPr lang="en-CN">
                    <a:noFill/>
                  </a:rPr>
                  <a:t> </a:t>
                </a:r>
              </a:p>
            </p:txBody>
          </p:sp>
        </mc:Fallback>
      </mc:AlternateContent>
      <p:sp>
        <p:nvSpPr>
          <p:cNvPr id="4" name="Right Arrow 3">
            <a:extLst>
              <a:ext uri="{FF2B5EF4-FFF2-40B4-BE49-F238E27FC236}">
                <a16:creationId xmlns:a16="http://schemas.microsoft.com/office/drawing/2014/main" id="{8F4116E4-ED74-3F4C-AD0A-95ED6175EE1F}"/>
              </a:ext>
            </a:extLst>
          </p:cNvPr>
          <p:cNvSpPr/>
          <p:nvPr/>
        </p:nvSpPr>
        <p:spPr>
          <a:xfrm rot="2717000">
            <a:off x="3258542" y="4170258"/>
            <a:ext cx="1814945" cy="4226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5" name="Right Arrow 14">
            <a:extLst>
              <a:ext uri="{FF2B5EF4-FFF2-40B4-BE49-F238E27FC236}">
                <a16:creationId xmlns:a16="http://schemas.microsoft.com/office/drawing/2014/main" id="{FB398786-7BBE-9440-AF4F-F4D80C1B9EFD}"/>
              </a:ext>
            </a:extLst>
          </p:cNvPr>
          <p:cNvSpPr/>
          <p:nvPr/>
        </p:nvSpPr>
        <p:spPr>
          <a:xfrm rot="18809161">
            <a:off x="7377645" y="4269478"/>
            <a:ext cx="1814945" cy="364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6" name="Right Arrow 15">
            <a:extLst>
              <a:ext uri="{FF2B5EF4-FFF2-40B4-BE49-F238E27FC236}">
                <a16:creationId xmlns:a16="http://schemas.microsoft.com/office/drawing/2014/main" id="{F4F67843-FABC-4548-ADB6-5392D3B3F23A}"/>
              </a:ext>
            </a:extLst>
          </p:cNvPr>
          <p:cNvSpPr/>
          <p:nvPr/>
        </p:nvSpPr>
        <p:spPr>
          <a:xfrm rot="10800000">
            <a:off x="5475178" y="3093291"/>
            <a:ext cx="1814945" cy="5082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Tree>
    <p:extLst>
      <p:ext uri="{BB962C8B-B14F-4D97-AF65-F5344CB8AC3E}">
        <p14:creationId xmlns:p14="http://schemas.microsoft.com/office/powerpoint/2010/main" val="41136452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A354E0-9589-6646-88F0-1FC93A34320B}"/>
              </a:ext>
            </a:extLst>
          </p:cNvPr>
          <p:cNvSpPr txBox="1"/>
          <p:nvPr/>
        </p:nvSpPr>
        <p:spPr>
          <a:xfrm>
            <a:off x="374073" y="249382"/>
            <a:ext cx="4239491" cy="369332"/>
          </a:xfrm>
          <a:prstGeom prst="rect">
            <a:avLst/>
          </a:prstGeom>
          <a:noFill/>
        </p:spPr>
        <p:txBody>
          <a:bodyPr wrap="square" rtlCol="0">
            <a:spAutoFit/>
          </a:bodyPr>
          <a:lstStyle/>
          <a:p>
            <a:r>
              <a:rPr lang="en-CN" dirty="0"/>
              <a:t>一点儿思考</a:t>
            </a:r>
          </a:p>
        </p:txBody>
      </p:sp>
      <p:sp>
        <p:nvSpPr>
          <p:cNvPr id="4" name="TextBox 3">
            <a:extLst>
              <a:ext uri="{FF2B5EF4-FFF2-40B4-BE49-F238E27FC236}">
                <a16:creationId xmlns:a16="http://schemas.microsoft.com/office/drawing/2014/main" id="{EF081261-D238-F94D-8555-54AE401A0722}"/>
              </a:ext>
            </a:extLst>
          </p:cNvPr>
          <p:cNvSpPr txBox="1"/>
          <p:nvPr/>
        </p:nvSpPr>
        <p:spPr>
          <a:xfrm>
            <a:off x="2050473" y="928254"/>
            <a:ext cx="1357745" cy="369332"/>
          </a:xfrm>
          <a:prstGeom prst="rect">
            <a:avLst/>
          </a:prstGeom>
          <a:noFill/>
        </p:spPr>
        <p:txBody>
          <a:bodyPr wrap="square" rtlCol="0">
            <a:spAutoFit/>
          </a:bodyPr>
          <a:lstStyle/>
          <a:p>
            <a:r>
              <a:rPr lang="en-CN" dirty="0"/>
              <a:t>等概率原理</a:t>
            </a:r>
          </a:p>
        </p:txBody>
      </p:sp>
      <p:sp>
        <p:nvSpPr>
          <p:cNvPr id="5" name="TextBox 4">
            <a:extLst>
              <a:ext uri="{FF2B5EF4-FFF2-40B4-BE49-F238E27FC236}">
                <a16:creationId xmlns:a16="http://schemas.microsoft.com/office/drawing/2014/main" id="{4EE5702A-0C3E-3B4C-BCF7-7FDE04C56B9A}"/>
              </a:ext>
            </a:extLst>
          </p:cNvPr>
          <p:cNvSpPr txBox="1"/>
          <p:nvPr/>
        </p:nvSpPr>
        <p:spPr>
          <a:xfrm>
            <a:off x="2001981" y="1759526"/>
            <a:ext cx="1454727" cy="369332"/>
          </a:xfrm>
          <a:prstGeom prst="rect">
            <a:avLst/>
          </a:prstGeom>
          <a:noFill/>
        </p:spPr>
        <p:txBody>
          <a:bodyPr wrap="square" rtlCol="0">
            <a:spAutoFit/>
          </a:bodyPr>
          <a:lstStyle/>
          <a:p>
            <a:pPr algn="ctr"/>
            <a:r>
              <a:rPr lang="en-CN" dirty="0"/>
              <a:t>最概然组态</a:t>
            </a:r>
          </a:p>
        </p:txBody>
      </p:sp>
      <p:sp>
        <p:nvSpPr>
          <p:cNvPr id="7" name="TextBox 6">
            <a:extLst>
              <a:ext uri="{FF2B5EF4-FFF2-40B4-BE49-F238E27FC236}">
                <a16:creationId xmlns:a16="http://schemas.microsoft.com/office/drawing/2014/main" id="{3D37271A-856F-3146-B3E4-D10A1350D758}"/>
              </a:ext>
            </a:extLst>
          </p:cNvPr>
          <p:cNvSpPr txBox="1"/>
          <p:nvPr/>
        </p:nvSpPr>
        <p:spPr>
          <a:xfrm>
            <a:off x="1794162" y="2660073"/>
            <a:ext cx="1870363" cy="369332"/>
          </a:xfrm>
          <a:prstGeom prst="rect">
            <a:avLst/>
          </a:prstGeom>
          <a:noFill/>
        </p:spPr>
        <p:txBody>
          <a:bodyPr wrap="square" rtlCol="0">
            <a:spAutoFit/>
          </a:bodyPr>
          <a:lstStyle/>
          <a:p>
            <a:r>
              <a:rPr lang="en-CN" dirty="0"/>
              <a:t>热平衡</a:t>
            </a:r>
            <a:r>
              <a:rPr lang="zh-CN" altLang="en-US" dirty="0"/>
              <a:t>，</a:t>
            </a:r>
            <a:r>
              <a:rPr lang="zh-CN" altLang="en-US" dirty="0">
                <a:solidFill>
                  <a:srgbClr val="FF0000"/>
                </a:solidFill>
              </a:rPr>
              <a:t>熵</a:t>
            </a:r>
            <a:r>
              <a:rPr lang="zh-CN" altLang="en-US" dirty="0"/>
              <a:t>极大</a:t>
            </a:r>
            <a:endParaRPr lang="en-CN" dirty="0"/>
          </a:p>
        </p:txBody>
      </p:sp>
      <p:sp>
        <p:nvSpPr>
          <p:cNvPr id="8" name="TextBox 7">
            <a:extLst>
              <a:ext uri="{FF2B5EF4-FFF2-40B4-BE49-F238E27FC236}">
                <a16:creationId xmlns:a16="http://schemas.microsoft.com/office/drawing/2014/main" id="{9CDE8526-A1C3-7249-93A0-F4A3BC55B0BF}"/>
              </a:ext>
            </a:extLst>
          </p:cNvPr>
          <p:cNvSpPr txBox="1"/>
          <p:nvPr/>
        </p:nvSpPr>
        <p:spPr>
          <a:xfrm>
            <a:off x="1468581" y="3539840"/>
            <a:ext cx="2881745" cy="369332"/>
          </a:xfrm>
          <a:prstGeom prst="rect">
            <a:avLst/>
          </a:prstGeom>
          <a:noFill/>
        </p:spPr>
        <p:txBody>
          <a:bodyPr wrap="square" rtlCol="0">
            <a:spAutoFit/>
          </a:bodyPr>
          <a:lstStyle/>
          <a:p>
            <a:r>
              <a:rPr lang="en-CN" dirty="0"/>
              <a:t>玻尔兹曼因子</a:t>
            </a:r>
            <a:r>
              <a:rPr lang="en-US" altLang="zh-CN" dirty="0"/>
              <a:t>+</a:t>
            </a:r>
            <a:r>
              <a:rPr lang="zh-CN" altLang="en-US" dirty="0"/>
              <a:t>配分函数</a:t>
            </a:r>
            <a:endParaRPr lang="en-CN" dirty="0"/>
          </a:p>
        </p:txBody>
      </p:sp>
      <p:sp>
        <p:nvSpPr>
          <p:cNvPr id="9" name="TextBox 8">
            <a:extLst>
              <a:ext uri="{FF2B5EF4-FFF2-40B4-BE49-F238E27FC236}">
                <a16:creationId xmlns:a16="http://schemas.microsoft.com/office/drawing/2014/main" id="{210BF39D-7C8A-D64C-AB22-815E36D66968}"/>
              </a:ext>
            </a:extLst>
          </p:cNvPr>
          <p:cNvSpPr txBox="1"/>
          <p:nvPr/>
        </p:nvSpPr>
        <p:spPr>
          <a:xfrm>
            <a:off x="2098962" y="4433455"/>
            <a:ext cx="1357746" cy="369332"/>
          </a:xfrm>
          <a:prstGeom prst="rect">
            <a:avLst/>
          </a:prstGeom>
          <a:noFill/>
        </p:spPr>
        <p:txBody>
          <a:bodyPr wrap="square" rtlCol="0">
            <a:spAutoFit/>
          </a:bodyPr>
          <a:lstStyle/>
          <a:p>
            <a:r>
              <a:rPr lang="en-CN" dirty="0"/>
              <a:t>自由能极小</a:t>
            </a:r>
          </a:p>
        </p:txBody>
      </p:sp>
      <p:sp>
        <p:nvSpPr>
          <p:cNvPr id="10" name="Down Arrow 9">
            <a:extLst>
              <a:ext uri="{FF2B5EF4-FFF2-40B4-BE49-F238E27FC236}">
                <a16:creationId xmlns:a16="http://schemas.microsoft.com/office/drawing/2014/main" id="{297E85BB-48BD-A14E-8B20-D6D81951BAF4}"/>
              </a:ext>
            </a:extLst>
          </p:cNvPr>
          <p:cNvSpPr/>
          <p:nvPr/>
        </p:nvSpPr>
        <p:spPr>
          <a:xfrm>
            <a:off x="2618509" y="1297586"/>
            <a:ext cx="159326" cy="337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Down Arrow 10">
            <a:extLst>
              <a:ext uri="{FF2B5EF4-FFF2-40B4-BE49-F238E27FC236}">
                <a16:creationId xmlns:a16="http://schemas.microsoft.com/office/drawing/2014/main" id="{AB51963F-AADC-B148-96E8-52AFD91119B5}"/>
              </a:ext>
            </a:extLst>
          </p:cNvPr>
          <p:cNvSpPr/>
          <p:nvPr/>
        </p:nvSpPr>
        <p:spPr>
          <a:xfrm>
            <a:off x="2611579" y="2236231"/>
            <a:ext cx="159326" cy="337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Down Arrow 11">
            <a:extLst>
              <a:ext uri="{FF2B5EF4-FFF2-40B4-BE49-F238E27FC236}">
                <a16:creationId xmlns:a16="http://schemas.microsoft.com/office/drawing/2014/main" id="{CA520EC0-4BF9-574E-80E3-B7206CE2F4AC}"/>
              </a:ext>
            </a:extLst>
          </p:cNvPr>
          <p:cNvSpPr/>
          <p:nvPr/>
        </p:nvSpPr>
        <p:spPr>
          <a:xfrm>
            <a:off x="2611579" y="3149535"/>
            <a:ext cx="159326" cy="337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Down Arrow 12">
            <a:extLst>
              <a:ext uri="{FF2B5EF4-FFF2-40B4-BE49-F238E27FC236}">
                <a16:creationId xmlns:a16="http://schemas.microsoft.com/office/drawing/2014/main" id="{76E54287-4A92-7B4C-9426-396CF693DA27}"/>
              </a:ext>
            </a:extLst>
          </p:cNvPr>
          <p:cNvSpPr/>
          <p:nvPr/>
        </p:nvSpPr>
        <p:spPr>
          <a:xfrm>
            <a:off x="2580408" y="3993754"/>
            <a:ext cx="159326" cy="337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TextBox 13">
            <a:extLst>
              <a:ext uri="{FF2B5EF4-FFF2-40B4-BE49-F238E27FC236}">
                <a16:creationId xmlns:a16="http://schemas.microsoft.com/office/drawing/2014/main" id="{91162F77-880D-F64E-A905-0ABB42760A2E}"/>
              </a:ext>
            </a:extLst>
          </p:cNvPr>
          <p:cNvSpPr txBox="1"/>
          <p:nvPr/>
        </p:nvSpPr>
        <p:spPr>
          <a:xfrm>
            <a:off x="6318738" y="1543014"/>
            <a:ext cx="886691" cy="369332"/>
          </a:xfrm>
          <a:prstGeom prst="rect">
            <a:avLst/>
          </a:prstGeom>
          <a:noFill/>
        </p:spPr>
        <p:txBody>
          <a:bodyPr wrap="square" rtlCol="0">
            <a:spAutoFit/>
          </a:bodyPr>
          <a:lstStyle/>
          <a:p>
            <a:r>
              <a:rPr lang="en-CN" dirty="0"/>
              <a:t>信息熵</a:t>
            </a:r>
          </a:p>
        </p:txBody>
      </p:sp>
      <p:sp>
        <p:nvSpPr>
          <p:cNvPr id="15" name="TextBox 14">
            <a:extLst>
              <a:ext uri="{FF2B5EF4-FFF2-40B4-BE49-F238E27FC236}">
                <a16:creationId xmlns:a16="http://schemas.microsoft.com/office/drawing/2014/main" id="{5A1071AD-67A9-E643-8643-4EC98263FC45}"/>
              </a:ext>
            </a:extLst>
          </p:cNvPr>
          <p:cNvSpPr txBox="1"/>
          <p:nvPr/>
        </p:nvSpPr>
        <p:spPr>
          <a:xfrm>
            <a:off x="4793673" y="3539840"/>
            <a:ext cx="4468090" cy="369332"/>
          </a:xfrm>
          <a:prstGeom prst="rect">
            <a:avLst/>
          </a:prstGeom>
          <a:noFill/>
        </p:spPr>
        <p:txBody>
          <a:bodyPr wrap="square" rtlCol="0">
            <a:spAutoFit/>
          </a:bodyPr>
          <a:lstStyle/>
          <a:p>
            <a:r>
              <a:rPr lang="en-CN" dirty="0"/>
              <a:t>玻尔兹曼分布</a:t>
            </a:r>
            <a:r>
              <a:rPr lang="en-US" altLang="zh-CN" dirty="0"/>
              <a:t>/</a:t>
            </a:r>
            <a:r>
              <a:rPr lang="zh-CN" altLang="en-US" dirty="0"/>
              <a:t>费米狄拉克</a:t>
            </a:r>
            <a:r>
              <a:rPr lang="en-US" altLang="zh-CN" dirty="0"/>
              <a:t>/</a:t>
            </a:r>
            <a:r>
              <a:rPr lang="zh-CN" altLang="en-US" dirty="0"/>
              <a:t>玻色</a:t>
            </a:r>
            <a:endParaRPr lang="en-CN" dirty="0"/>
          </a:p>
        </p:txBody>
      </p:sp>
      <p:sp>
        <p:nvSpPr>
          <p:cNvPr id="16" name="Down Arrow 15">
            <a:extLst>
              <a:ext uri="{FF2B5EF4-FFF2-40B4-BE49-F238E27FC236}">
                <a16:creationId xmlns:a16="http://schemas.microsoft.com/office/drawing/2014/main" id="{B193F256-AFFB-EA46-87B0-68B743CEFAD1}"/>
              </a:ext>
            </a:extLst>
          </p:cNvPr>
          <p:cNvSpPr/>
          <p:nvPr/>
        </p:nvSpPr>
        <p:spPr>
          <a:xfrm rot="2538009">
            <a:off x="5400986" y="1442501"/>
            <a:ext cx="67982" cy="23662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9" name="Right Arrow 18">
            <a:extLst>
              <a:ext uri="{FF2B5EF4-FFF2-40B4-BE49-F238E27FC236}">
                <a16:creationId xmlns:a16="http://schemas.microsoft.com/office/drawing/2014/main" id="{756364C1-F5D1-0449-A117-13807127E7D3}"/>
              </a:ext>
            </a:extLst>
          </p:cNvPr>
          <p:cNvSpPr/>
          <p:nvPr/>
        </p:nvSpPr>
        <p:spPr>
          <a:xfrm>
            <a:off x="4239493" y="3636825"/>
            <a:ext cx="429491"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TextBox 19">
            <a:extLst>
              <a:ext uri="{FF2B5EF4-FFF2-40B4-BE49-F238E27FC236}">
                <a16:creationId xmlns:a16="http://schemas.microsoft.com/office/drawing/2014/main" id="{615F47BC-09F5-C14F-9F81-0C14E7D73F31}"/>
              </a:ext>
            </a:extLst>
          </p:cNvPr>
          <p:cNvSpPr txBox="1"/>
          <p:nvPr/>
        </p:nvSpPr>
        <p:spPr>
          <a:xfrm>
            <a:off x="9580421" y="2474928"/>
            <a:ext cx="1870363" cy="369332"/>
          </a:xfrm>
          <a:prstGeom prst="rect">
            <a:avLst/>
          </a:prstGeom>
          <a:noFill/>
        </p:spPr>
        <p:txBody>
          <a:bodyPr wrap="square" rtlCol="0">
            <a:spAutoFit/>
          </a:bodyPr>
          <a:lstStyle/>
          <a:p>
            <a:r>
              <a:rPr lang="en-CN" dirty="0"/>
              <a:t>最小作用量原理</a:t>
            </a:r>
          </a:p>
        </p:txBody>
      </p:sp>
      <p:sp>
        <p:nvSpPr>
          <p:cNvPr id="21" name="TextBox 20">
            <a:extLst>
              <a:ext uri="{FF2B5EF4-FFF2-40B4-BE49-F238E27FC236}">
                <a16:creationId xmlns:a16="http://schemas.microsoft.com/office/drawing/2014/main" id="{5EBD0D1D-E975-1D4C-8DAC-8CD638B417FF}"/>
              </a:ext>
            </a:extLst>
          </p:cNvPr>
          <p:cNvSpPr txBox="1"/>
          <p:nvPr/>
        </p:nvSpPr>
        <p:spPr>
          <a:xfrm>
            <a:off x="9580421" y="3429000"/>
            <a:ext cx="1870363" cy="369332"/>
          </a:xfrm>
          <a:prstGeom prst="rect">
            <a:avLst/>
          </a:prstGeom>
          <a:noFill/>
        </p:spPr>
        <p:txBody>
          <a:bodyPr wrap="square" rtlCol="0">
            <a:spAutoFit/>
          </a:bodyPr>
          <a:lstStyle/>
          <a:p>
            <a:pPr algn="ctr"/>
            <a:r>
              <a:rPr lang="en-CN" dirty="0"/>
              <a:t>基本力</a:t>
            </a:r>
          </a:p>
        </p:txBody>
      </p:sp>
      <p:sp>
        <p:nvSpPr>
          <p:cNvPr id="22" name="Down Arrow 21">
            <a:extLst>
              <a:ext uri="{FF2B5EF4-FFF2-40B4-BE49-F238E27FC236}">
                <a16:creationId xmlns:a16="http://schemas.microsoft.com/office/drawing/2014/main" id="{9FBE9E51-1B30-0E46-A728-3726DC948182}"/>
              </a:ext>
            </a:extLst>
          </p:cNvPr>
          <p:cNvSpPr/>
          <p:nvPr/>
        </p:nvSpPr>
        <p:spPr>
          <a:xfrm>
            <a:off x="10349345" y="2844260"/>
            <a:ext cx="166257" cy="4739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TextBox 22">
            <a:extLst>
              <a:ext uri="{FF2B5EF4-FFF2-40B4-BE49-F238E27FC236}">
                <a16:creationId xmlns:a16="http://schemas.microsoft.com/office/drawing/2014/main" id="{456E92EA-D6AB-4144-B494-5D3CBF17DEDD}"/>
              </a:ext>
            </a:extLst>
          </p:cNvPr>
          <p:cNvSpPr txBox="1"/>
          <p:nvPr/>
        </p:nvSpPr>
        <p:spPr>
          <a:xfrm>
            <a:off x="6172199" y="6054436"/>
            <a:ext cx="1814945" cy="369332"/>
          </a:xfrm>
          <a:prstGeom prst="rect">
            <a:avLst/>
          </a:prstGeom>
          <a:noFill/>
        </p:spPr>
        <p:txBody>
          <a:bodyPr wrap="square" rtlCol="0">
            <a:spAutoFit/>
          </a:bodyPr>
          <a:lstStyle/>
          <a:p>
            <a:r>
              <a:rPr lang="en-CN" dirty="0"/>
              <a:t>ENTROPY</a:t>
            </a:r>
            <a:r>
              <a:rPr lang="zh-CN" altLang="en-US" dirty="0"/>
              <a:t>？？？</a:t>
            </a:r>
            <a:endParaRPr lang="en-CN" dirty="0"/>
          </a:p>
        </p:txBody>
      </p:sp>
      <p:sp>
        <p:nvSpPr>
          <p:cNvPr id="24" name="Right Brace 23">
            <a:extLst>
              <a:ext uri="{FF2B5EF4-FFF2-40B4-BE49-F238E27FC236}">
                <a16:creationId xmlns:a16="http://schemas.microsoft.com/office/drawing/2014/main" id="{A93B3004-6064-AF42-93E5-384DA14D1CC5}"/>
              </a:ext>
            </a:extLst>
          </p:cNvPr>
          <p:cNvSpPr/>
          <p:nvPr/>
        </p:nvSpPr>
        <p:spPr>
          <a:xfrm rot="5400000">
            <a:off x="6416199" y="2044755"/>
            <a:ext cx="1326943" cy="70715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pic>
        <p:nvPicPr>
          <p:cNvPr id="26" name="Picture 25">
            <a:extLst>
              <a:ext uri="{FF2B5EF4-FFF2-40B4-BE49-F238E27FC236}">
                <a16:creationId xmlns:a16="http://schemas.microsoft.com/office/drawing/2014/main" id="{8CDADAB7-43A5-914F-BF75-AD5A4F3BE96E}"/>
              </a:ext>
            </a:extLst>
          </p:cNvPr>
          <p:cNvPicPr>
            <a:picLocks noChangeAspect="1"/>
          </p:cNvPicPr>
          <p:nvPr/>
        </p:nvPicPr>
        <p:blipFill>
          <a:blip r:embed="rId2"/>
          <a:stretch>
            <a:fillRect/>
          </a:stretch>
        </p:blipFill>
        <p:spPr>
          <a:xfrm>
            <a:off x="6049331" y="1890141"/>
            <a:ext cx="2759942" cy="617026"/>
          </a:xfrm>
          <a:prstGeom prst="rect">
            <a:avLst/>
          </a:prstGeom>
        </p:spPr>
      </p:pic>
      <p:pic>
        <p:nvPicPr>
          <p:cNvPr id="28" name="Picture 27">
            <a:extLst>
              <a:ext uri="{FF2B5EF4-FFF2-40B4-BE49-F238E27FC236}">
                <a16:creationId xmlns:a16="http://schemas.microsoft.com/office/drawing/2014/main" id="{05B90753-9FA7-0C49-B25C-319312E76A61}"/>
              </a:ext>
            </a:extLst>
          </p:cNvPr>
          <p:cNvPicPr>
            <a:picLocks noChangeAspect="1"/>
          </p:cNvPicPr>
          <p:nvPr/>
        </p:nvPicPr>
        <p:blipFill>
          <a:blip r:embed="rId3"/>
          <a:stretch>
            <a:fillRect/>
          </a:stretch>
        </p:blipFill>
        <p:spPr>
          <a:xfrm>
            <a:off x="6049331" y="2417316"/>
            <a:ext cx="2759942" cy="617026"/>
          </a:xfrm>
          <a:prstGeom prst="rect">
            <a:avLst/>
          </a:prstGeom>
        </p:spPr>
      </p:pic>
    </p:spTree>
    <p:extLst>
      <p:ext uri="{BB962C8B-B14F-4D97-AF65-F5344CB8AC3E}">
        <p14:creationId xmlns:p14="http://schemas.microsoft.com/office/powerpoint/2010/main" val="29457490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FE8B395-B7A2-2842-9AEE-1BBFD4B8FCCE}"/>
                  </a:ext>
                </a:extLst>
              </p:cNvPr>
              <p:cNvSpPr txBox="1"/>
              <p:nvPr/>
            </p:nvSpPr>
            <p:spPr>
              <a:xfrm>
                <a:off x="1452369" y="727510"/>
                <a:ext cx="8871626" cy="70788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FangSong" panose="02010609060101010101" pitchFamily="49" charset="-122"/>
                        </a:rPr>
                        <m:t>𝑈</m:t>
                      </m:r>
                      <m:d>
                        <m:dPr>
                          <m:ctrlPr>
                            <a:rPr lang="en-US" sz="4000" b="0" i="1" smtClean="0">
                              <a:latin typeface="Cambria Math" panose="02040503050406030204" pitchFamily="18" charset="0"/>
                              <a:ea typeface="FangSong" panose="02010609060101010101" pitchFamily="49" charset="-122"/>
                            </a:rPr>
                          </m:ctrlPr>
                        </m:dPr>
                        <m:e>
                          <m:r>
                            <a:rPr lang="en-US" sz="4000" b="0" i="1" smtClean="0">
                              <a:solidFill>
                                <a:srgbClr val="FF0000"/>
                              </a:solidFill>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𝑉</m:t>
                          </m:r>
                        </m:e>
                      </m:d>
                    </m:oMath>
                  </m:oMathPara>
                </a14:m>
                <a:endParaRPr lang="en-US" sz="4000" b="0" dirty="0">
                  <a:latin typeface="FangSong" panose="02010609060101010101" pitchFamily="49" charset="-122"/>
                  <a:ea typeface="FangSong" panose="02010609060101010101" pitchFamily="49" charset="-122"/>
                </a:endParaRPr>
              </a:p>
            </p:txBody>
          </p:sp>
        </mc:Choice>
        <mc:Fallback xmlns="">
          <p:sp>
            <p:nvSpPr>
              <p:cNvPr id="2" name="TextBox 1">
                <a:extLst>
                  <a:ext uri="{FF2B5EF4-FFF2-40B4-BE49-F238E27FC236}">
                    <a16:creationId xmlns:a16="http://schemas.microsoft.com/office/drawing/2014/main" id="{AFE8B395-B7A2-2842-9AEE-1BBFD4B8FCCE}"/>
                  </a:ext>
                </a:extLst>
              </p:cNvPr>
              <p:cNvSpPr txBox="1">
                <a:spLocks noRot="1" noChangeAspect="1" noMove="1" noResize="1" noEditPoints="1" noAdjustHandles="1" noChangeArrowheads="1" noChangeShapeType="1" noTextEdit="1"/>
              </p:cNvSpPr>
              <p:nvPr/>
            </p:nvSpPr>
            <p:spPr>
              <a:xfrm>
                <a:off x="1452369" y="727510"/>
                <a:ext cx="8871626" cy="707886"/>
              </a:xfrm>
              <a:prstGeom prst="rect">
                <a:avLst/>
              </a:prstGeom>
              <a:blipFill>
                <a:blip r:embed="rId2"/>
                <a:stretch>
                  <a:fillRect b="-17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4237BB2-2FA6-724F-87DB-84282CE8AAE2}"/>
                  </a:ext>
                </a:extLst>
              </p:cNvPr>
              <p:cNvSpPr txBox="1"/>
              <p:nvPr/>
            </p:nvSpPr>
            <p:spPr>
              <a:xfrm>
                <a:off x="734291" y="3152055"/>
                <a:ext cx="11457709" cy="135953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FangSong" panose="02010609060101010101" pitchFamily="49" charset="-122"/>
                        </a:rPr>
                        <m:t>𝐹</m:t>
                      </m:r>
                      <m:d>
                        <m:dPr>
                          <m:ctrlPr>
                            <a:rPr lang="en-US" sz="4000" b="0" i="1" smtClean="0">
                              <a:latin typeface="Cambria Math" panose="02040503050406030204" pitchFamily="18" charset="0"/>
                              <a:ea typeface="FangSong" panose="02010609060101010101" pitchFamily="49" charset="-122"/>
                            </a:rPr>
                          </m:ctrlPr>
                        </m:dPr>
                        <m:e>
                          <m:r>
                            <a:rPr lang="en-US" sz="4000" b="0" i="1" smtClean="0">
                              <a:solidFill>
                                <a:srgbClr val="FF0000"/>
                              </a:solidFill>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𝑉</m:t>
                          </m:r>
                        </m:e>
                      </m:d>
                      <m:r>
                        <a:rPr lang="en-US" sz="4000" b="0" i="1" smtClean="0">
                          <a:latin typeface="Cambria Math" panose="02040503050406030204" pitchFamily="18" charset="0"/>
                          <a:ea typeface="FangSong" panose="02010609060101010101" pitchFamily="49" charset="-122"/>
                        </a:rPr>
                        <m:t>=</m:t>
                      </m:r>
                      <m:r>
                        <a:rPr lang="en-US" sz="4000" b="0" i="1" smtClean="0">
                          <a:latin typeface="Cambria Math" panose="02040503050406030204" pitchFamily="18" charset="0"/>
                          <a:ea typeface="FangSong" panose="02010609060101010101" pitchFamily="49" charset="-122"/>
                        </a:rPr>
                        <m:t>𝑈</m:t>
                      </m:r>
                      <m:d>
                        <m:dPr>
                          <m:ctrlPr>
                            <a:rPr lang="en-US" sz="4000" b="0" i="1" smtClean="0">
                              <a:latin typeface="Cambria Math" panose="02040503050406030204" pitchFamily="18" charset="0"/>
                              <a:ea typeface="FangSong" panose="02010609060101010101" pitchFamily="49" charset="-122"/>
                            </a:rPr>
                          </m:ctrlPr>
                        </m:dPr>
                        <m:e>
                          <m:r>
                            <a:rPr lang="en-US" sz="4000" b="0" i="1" smtClean="0">
                              <a:solidFill>
                                <a:srgbClr val="FF0000"/>
                              </a:solidFill>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𝑉</m:t>
                          </m:r>
                        </m:e>
                      </m:d>
                      <m:r>
                        <a:rPr lang="en-US" sz="4000" b="0" i="0"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 </m:t>
                      </m:r>
                      <m:r>
                        <m:rPr>
                          <m:sty m:val="p"/>
                        </m:rPr>
                        <a:rPr lang="el-GR" sz="4000" b="0" i="1" smtClean="0">
                          <a:solidFill>
                            <a:schemeClr val="accent6"/>
                          </a:solidFill>
                          <a:latin typeface="Cambria Math" panose="02040503050406030204" pitchFamily="18" charset="0"/>
                          <a:ea typeface="Cambria Math" panose="02040503050406030204" pitchFamily="18" charset="0"/>
                        </a:rPr>
                        <m:t>τ</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𝑈</m:t>
                      </m:r>
                      <m:d>
                        <m:dPr>
                          <m:ctrlPr>
                            <a:rPr lang="en-US" sz="4000" b="0" i="1" smtClean="0">
                              <a:latin typeface="Cambria Math" panose="02040503050406030204" pitchFamily="18" charset="0"/>
                              <a:ea typeface="Cambria Math" panose="02040503050406030204" pitchFamily="18" charset="0"/>
                            </a:rPr>
                          </m:ctrlPr>
                        </m:dPr>
                        <m:e>
                          <m:r>
                            <a:rPr lang="en-US" sz="4000" b="0" i="1" smtClean="0">
                              <a:solidFill>
                                <a:srgbClr val="FF0000"/>
                              </a:solidFill>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𝑉</m:t>
                          </m:r>
                        </m:e>
                      </m:d>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d>
                            <m:dPr>
                              <m:ctrlPr>
                                <a:rPr lang="en-US" sz="4000" b="0" i="1" smtClean="0">
                                  <a:solidFill>
                                    <a:schemeClr val="accent6"/>
                                  </a:solidFill>
                                  <a:latin typeface="Cambria Math" panose="02040503050406030204" pitchFamily="18" charset="0"/>
                                  <a:ea typeface="Cambria Math" panose="02040503050406030204" pitchFamily="18" charset="0"/>
                                </a:rPr>
                              </m:ctrlPr>
                            </m:dPr>
                            <m:e>
                              <m:f>
                                <m:fPr>
                                  <m:ctrlPr>
                                    <a:rPr lang="en-US" sz="4000" b="0" i="1" smtClean="0">
                                      <a:solidFill>
                                        <a:schemeClr val="accent6"/>
                                      </a:solidFill>
                                      <a:latin typeface="Cambria Math" panose="02040503050406030204" pitchFamily="18" charset="0"/>
                                      <a:ea typeface="Cambria Math" panose="02040503050406030204" pitchFamily="18" charset="0"/>
                                    </a:rPr>
                                  </m:ctrlPr>
                                </m:fPr>
                                <m:num>
                                  <m:r>
                                    <a:rPr lang="en-US" sz="4000" b="0" i="1" smtClean="0">
                                      <a:solidFill>
                                        <a:schemeClr val="accent6"/>
                                      </a:solidFill>
                                      <a:latin typeface="Cambria Math" panose="02040503050406030204" pitchFamily="18" charset="0"/>
                                      <a:ea typeface="Cambria Math" panose="02040503050406030204" pitchFamily="18" charset="0"/>
                                    </a:rPr>
                                    <m:t>𝜕</m:t>
                                  </m:r>
                                  <m:r>
                                    <a:rPr lang="en-US" sz="4000" b="0" i="1" smtClean="0">
                                      <a:solidFill>
                                        <a:schemeClr val="accent6"/>
                                      </a:solidFill>
                                      <a:latin typeface="Cambria Math" panose="02040503050406030204" pitchFamily="18" charset="0"/>
                                      <a:ea typeface="Cambria Math" panose="02040503050406030204" pitchFamily="18" charset="0"/>
                                    </a:rPr>
                                    <m:t> </m:t>
                                  </m:r>
                                  <m:r>
                                    <a:rPr lang="en-US" sz="4000" b="0" i="1" smtClean="0">
                                      <a:solidFill>
                                        <a:schemeClr val="accent6"/>
                                      </a:solidFill>
                                      <a:latin typeface="Cambria Math" panose="02040503050406030204" pitchFamily="18" charset="0"/>
                                      <a:ea typeface="Cambria Math" panose="02040503050406030204" pitchFamily="18" charset="0"/>
                                    </a:rPr>
                                    <m:t>𝑈</m:t>
                                  </m:r>
                                </m:num>
                                <m:den>
                                  <m:r>
                                    <a:rPr lang="en-US" sz="4000" b="0" i="1" smtClean="0">
                                      <a:solidFill>
                                        <a:schemeClr val="accent6"/>
                                      </a:solidFill>
                                      <a:latin typeface="Cambria Math" panose="02040503050406030204" pitchFamily="18" charset="0"/>
                                      <a:ea typeface="Cambria Math" panose="02040503050406030204" pitchFamily="18" charset="0"/>
                                    </a:rPr>
                                    <m:t>𝜕</m:t>
                                  </m:r>
                                  <m:r>
                                    <a:rPr lang="en-US" sz="4000" b="0" i="1" smtClean="0">
                                      <a:solidFill>
                                        <a:schemeClr val="accent6"/>
                                      </a:solidFill>
                                      <a:latin typeface="Cambria Math" panose="02040503050406030204" pitchFamily="18" charset="0"/>
                                      <a:ea typeface="Cambria Math" panose="02040503050406030204" pitchFamily="18" charset="0"/>
                                    </a:rPr>
                                    <m:t> </m:t>
                                  </m:r>
                                  <m:r>
                                    <a:rPr lang="en-US" sz="4000" b="0" i="1" smtClean="0">
                                      <a:solidFill>
                                        <a:schemeClr val="accent6"/>
                                      </a:solidFill>
                                      <a:latin typeface="Cambria Math" panose="02040503050406030204" pitchFamily="18" charset="0"/>
                                      <a:ea typeface="Cambria Math" panose="02040503050406030204" pitchFamily="18" charset="0"/>
                                    </a:rPr>
                                    <m:t>𝜎</m:t>
                                  </m:r>
                                </m:den>
                              </m:f>
                            </m:e>
                          </m:d>
                        </m:e>
                        <m:sub>
                          <m:r>
                            <a:rPr lang="en-US" sz="4000" b="0" i="1" smtClean="0">
                              <a:solidFill>
                                <a:srgbClr val="7030A0"/>
                              </a:solidFill>
                              <a:latin typeface="Cambria Math" panose="02040503050406030204" pitchFamily="18" charset="0"/>
                              <a:ea typeface="Cambria Math" panose="02040503050406030204" pitchFamily="18" charset="0"/>
                            </a:rPr>
                            <m:t>𝑉</m:t>
                          </m:r>
                        </m:sub>
                      </m:sSub>
                      <m:r>
                        <a:rPr lang="en-US" sz="4000" b="0" i="1" smtClean="0">
                          <a:latin typeface="Cambria Math" panose="02040503050406030204" pitchFamily="18" charset="0"/>
                          <a:ea typeface="Cambria Math" panose="02040503050406030204" pitchFamily="18" charset="0"/>
                        </a:rPr>
                        <m:t> </m:t>
                      </m:r>
                      <m:r>
                        <a:rPr lang="en-US" sz="4000" b="0" i="1" smtClean="0">
                          <a:solidFill>
                            <a:srgbClr val="FF0000"/>
                          </a:solidFill>
                          <a:latin typeface="Cambria Math" panose="02040503050406030204" pitchFamily="18" charset="0"/>
                          <a:ea typeface="Cambria Math" panose="02040503050406030204" pitchFamily="18" charset="0"/>
                        </a:rPr>
                        <m:t>𝜎</m:t>
                      </m:r>
                    </m:oMath>
                  </m:oMathPara>
                </a14:m>
                <a:endParaRPr lang="en-US" sz="4000" b="0" dirty="0">
                  <a:latin typeface="FangSong" panose="02010609060101010101" pitchFamily="49" charset="-122"/>
                  <a:ea typeface="FangSong" panose="02010609060101010101" pitchFamily="49" charset="-122"/>
                </a:endParaRPr>
              </a:p>
            </p:txBody>
          </p:sp>
        </mc:Choice>
        <mc:Fallback xmlns="">
          <p:sp>
            <p:nvSpPr>
              <p:cNvPr id="3" name="TextBox 2">
                <a:extLst>
                  <a:ext uri="{FF2B5EF4-FFF2-40B4-BE49-F238E27FC236}">
                    <a16:creationId xmlns:a16="http://schemas.microsoft.com/office/drawing/2014/main" id="{64237BB2-2FA6-724F-87DB-84282CE8AAE2}"/>
                  </a:ext>
                </a:extLst>
              </p:cNvPr>
              <p:cNvSpPr txBox="1">
                <a:spLocks noRot="1" noChangeAspect="1" noMove="1" noResize="1" noEditPoints="1" noAdjustHandles="1" noChangeArrowheads="1" noChangeShapeType="1" noTextEdit="1"/>
              </p:cNvSpPr>
              <p:nvPr/>
            </p:nvSpPr>
            <p:spPr>
              <a:xfrm>
                <a:off x="734291" y="3152055"/>
                <a:ext cx="11457709" cy="1359539"/>
              </a:xfrm>
              <a:prstGeom prst="rect">
                <a:avLst/>
              </a:prstGeom>
              <a:blipFill>
                <a:blip r:embed="rId3"/>
                <a:stretch>
                  <a:fillRect t="-3704" b="-14815"/>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2269FDCE-576B-2348-9C19-D27E80D44FAA}"/>
              </a:ext>
            </a:extLst>
          </p:cNvPr>
          <p:cNvSpPr/>
          <p:nvPr/>
        </p:nvSpPr>
        <p:spPr>
          <a:xfrm>
            <a:off x="5708073" y="1648690"/>
            <a:ext cx="304800" cy="16209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TextBox 4">
            <a:extLst>
              <a:ext uri="{FF2B5EF4-FFF2-40B4-BE49-F238E27FC236}">
                <a16:creationId xmlns:a16="http://schemas.microsoft.com/office/drawing/2014/main" id="{9554F5D2-DBEF-B240-B62C-FA8F333C75AE}"/>
              </a:ext>
            </a:extLst>
          </p:cNvPr>
          <p:cNvSpPr txBox="1"/>
          <p:nvPr/>
        </p:nvSpPr>
        <p:spPr>
          <a:xfrm>
            <a:off x="1784878" y="5307073"/>
            <a:ext cx="8871626" cy="707886"/>
          </a:xfrm>
          <a:prstGeom prst="rect">
            <a:avLst/>
          </a:prstGeom>
          <a:noFill/>
        </p:spPr>
        <p:txBody>
          <a:bodyPr wrap="square" rtlCol="0">
            <a:spAutoFit/>
          </a:bodyPr>
          <a:lstStyle/>
          <a:p>
            <a:pPr algn="ctr"/>
            <a:r>
              <a:rPr lang="en-CN" sz="4000" dirty="0"/>
              <a:t>Legendre</a:t>
            </a:r>
            <a:r>
              <a:rPr lang="en-CN" sz="4000" dirty="0">
                <a:latin typeface="FangSong" panose="02010609060101010101" pitchFamily="49" charset="-122"/>
                <a:ea typeface="FangSong" panose="02010609060101010101" pitchFamily="49" charset="-122"/>
              </a:rPr>
              <a:t>变换</a:t>
            </a:r>
          </a:p>
        </p:txBody>
      </p:sp>
    </p:spTree>
    <p:extLst>
      <p:ext uri="{BB962C8B-B14F-4D97-AF65-F5344CB8AC3E}">
        <p14:creationId xmlns:p14="http://schemas.microsoft.com/office/powerpoint/2010/main" val="23477795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B104E0-911E-4D49-B648-3E058A9A46D8}"/>
                  </a:ext>
                </a:extLst>
              </p:cNvPr>
              <p:cNvSpPr txBox="1"/>
              <p:nvPr/>
            </p:nvSpPr>
            <p:spPr>
              <a:xfrm>
                <a:off x="928255" y="1039090"/>
                <a:ext cx="10626436" cy="1129412"/>
              </a:xfrm>
              <a:prstGeom prst="rect">
                <a:avLst/>
              </a:prstGeom>
              <a:noFill/>
            </p:spPr>
            <p:txBody>
              <a:bodyPr wrap="square" rtlCol="0">
                <a:spAutoFit/>
              </a:bodyPr>
              <a:lstStyle/>
              <a:p>
                <a:r>
                  <a:rPr lang="en-CN" dirty="0"/>
                  <a:t>From a function f(x,y), we can switch to g(u,y) where the unwanted variable x is replaced by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den>
                            </m:f>
                          </m:e>
                        </m:d>
                      </m:e>
                      <m:sub>
                        <m:r>
                          <a:rPr lang="en-US" b="0" i="1" smtClean="0">
                            <a:latin typeface="Cambria Math" panose="02040503050406030204" pitchFamily="18" charset="0"/>
                          </a:rPr>
                          <m:t>𝑦</m:t>
                        </m:r>
                      </m:sub>
                    </m:sSub>
                  </m:oMath>
                </a14:m>
                <a:r>
                  <a:rPr lang="en-CN" dirty="0"/>
                  <a:t>. The procedure is simple,</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𝑥</m:t>
                      </m:r>
                    </m:oMath>
                  </m:oMathPara>
                </a14:m>
                <a:endParaRPr lang="en-CN" dirty="0"/>
              </a:p>
            </p:txBody>
          </p:sp>
        </mc:Choice>
        <mc:Fallback xmlns="">
          <p:sp>
            <p:nvSpPr>
              <p:cNvPr id="6" name="TextBox 5">
                <a:extLst>
                  <a:ext uri="{FF2B5EF4-FFF2-40B4-BE49-F238E27FC236}">
                    <a16:creationId xmlns:a16="http://schemas.microsoft.com/office/drawing/2014/main" id="{34B104E0-911E-4D49-B648-3E058A9A46D8}"/>
                  </a:ext>
                </a:extLst>
              </p:cNvPr>
              <p:cNvSpPr txBox="1">
                <a:spLocks noRot="1" noChangeAspect="1" noMove="1" noResize="1" noEditPoints="1" noAdjustHandles="1" noChangeArrowheads="1" noChangeShapeType="1" noTextEdit="1"/>
              </p:cNvSpPr>
              <p:nvPr/>
            </p:nvSpPr>
            <p:spPr>
              <a:xfrm>
                <a:off x="928255" y="1039090"/>
                <a:ext cx="10626436" cy="1129412"/>
              </a:xfrm>
              <a:prstGeom prst="rect">
                <a:avLst/>
              </a:prstGeom>
              <a:blipFill>
                <a:blip r:embed="rId2"/>
                <a:stretch>
                  <a:fillRect l="-358" b="-4444"/>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62A25B0B-A074-6840-BBA7-3C07AF6D5AA8}"/>
              </a:ext>
            </a:extLst>
          </p:cNvPr>
          <p:cNvPicPr>
            <a:picLocks noChangeAspect="1"/>
          </p:cNvPicPr>
          <p:nvPr/>
        </p:nvPicPr>
        <p:blipFill>
          <a:blip r:embed="rId3"/>
          <a:stretch>
            <a:fillRect/>
          </a:stretch>
        </p:blipFill>
        <p:spPr>
          <a:xfrm>
            <a:off x="774404" y="2732314"/>
            <a:ext cx="10921802" cy="3086596"/>
          </a:xfrm>
          <a:prstGeom prst="rect">
            <a:avLst/>
          </a:prstGeom>
        </p:spPr>
      </p:pic>
    </p:spTree>
    <p:extLst>
      <p:ext uri="{BB962C8B-B14F-4D97-AF65-F5344CB8AC3E}">
        <p14:creationId xmlns:p14="http://schemas.microsoft.com/office/powerpoint/2010/main" val="28945218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F4BFF97-AD8E-F347-A3F9-3B7952B6F846}"/>
                  </a:ext>
                </a:extLst>
              </p:cNvPr>
              <p:cNvSpPr txBox="1"/>
              <p:nvPr/>
            </p:nvSpPr>
            <p:spPr>
              <a:xfrm>
                <a:off x="720435" y="1981200"/>
                <a:ext cx="10543309" cy="2554545"/>
              </a:xfrm>
              <a:prstGeom prst="rect">
                <a:avLst/>
              </a:prstGeom>
              <a:noFill/>
            </p:spPr>
            <p:txBody>
              <a:bodyPr wrap="square" rtlCol="0">
                <a:spAutoFit/>
              </a:bodyPr>
              <a:lstStyle/>
              <a:p>
                <a:pPr algn="ctr"/>
                <a:r>
                  <a:rPr lang="en-US" sz="4000" dirty="0"/>
                  <a:t>Helmholtz free energy: F</a:t>
                </a:r>
                <a14:m>
                  <m:oMath xmlns:m="http://schemas.openxmlformats.org/officeDocument/2006/math">
                    <m:d>
                      <m:dPr>
                        <m:ctrlPr>
                          <a:rPr lang="en-US" sz="4000" i="1">
                            <a:latin typeface="Cambria Math" panose="02040503050406030204" pitchFamily="18" charset="0"/>
                          </a:rPr>
                        </m:ctrlPr>
                      </m:dPr>
                      <m:e>
                        <m:r>
                          <a:rPr lang="en-US" sz="400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𝑉</m:t>
                        </m:r>
                      </m:e>
                    </m:d>
                    <m:r>
                      <a:rPr lang="en-US" sz="4000" i="1">
                        <a:latin typeface="Cambria Math" panose="02040503050406030204" pitchFamily="18" charset="0"/>
                      </a:rPr>
                      <m:t>=</m:t>
                    </m:r>
                    <m:r>
                      <a:rPr lang="en-US" sz="4000" i="1">
                        <a:latin typeface="Cambria Math" panose="02040503050406030204" pitchFamily="18" charset="0"/>
                      </a:rPr>
                      <m:t>𝑈</m:t>
                    </m:r>
                    <m:d>
                      <m:dPr>
                        <m:ctrlPr>
                          <a:rPr lang="en-US" sz="4000" i="1">
                            <a:latin typeface="Cambria Math" panose="02040503050406030204" pitchFamily="18" charset="0"/>
                          </a:rPr>
                        </m:ctrlPr>
                      </m:dPr>
                      <m:e>
                        <m:r>
                          <a:rPr lang="en-US" sz="4000" i="1">
                            <a:latin typeface="Cambria Math" panose="02040503050406030204" pitchFamily="18" charset="0"/>
                            <a:ea typeface="Cambria Math" panose="02040503050406030204" pitchFamily="18" charset="0"/>
                          </a:rPr>
                          <m:t>𝜎</m:t>
                        </m:r>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𝑉</m:t>
                        </m:r>
                      </m:e>
                    </m:d>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𝜏</m:t>
                    </m:r>
                  </m:oMath>
                </a14:m>
                <a:endParaRPr lang="en-US" sz="4000" b="0" dirty="0"/>
              </a:p>
              <a:p>
                <a:pPr algn="ctr"/>
                <a:r>
                  <a:rPr lang="en-US" sz="4000" b="0" dirty="0"/>
                  <a:t>Enthalpy: </a:t>
                </a:r>
                <a14:m>
                  <m:oMath xmlns:m="http://schemas.openxmlformats.org/officeDocument/2006/math">
                    <m:r>
                      <a:rPr lang="en-US" sz="4000" b="0" i="1" smtClean="0">
                        <a:latin typeface="Cambria Math" panose="02040503050406030204" pitchFamily="18" charset="0"/>
                      </a:rPr>
                      <m:t>𝐻</m:t>
                    </m:r>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𝑝</m:t>
                    </m:r>
                    <m:r>
                      <a:rPr lang="en-US" sz="4000" b="0" i="1" smtClean="0">
                        <a:latin typeface="Cambria Math" panose="02040503050406030204" pitchFamily="18" charset="0"/>
                      </a:rPr>
                      <m:t>)=</m:t>
                    </m:r>
                    <m:r>
                      <a:rPr lang="en-US" sz="4000" b="0" i="1" smtClean="0">
                        <a:latin typeface="Cambria Math" panose="02040503050406030204" pitchFamily="18" charset="0"/>
                      </a:rPr>
                      <m:t>𝑈</m:t>
                    </m:r>
                    <m:d>
                      <m:dPr>
                        <m:ctrlPr>
                          <a:rPr lang="en-US" sz="4000" b="0" i="1" smtClean="0">
                            <a:latin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𝑉</m:t>
                        </m:r>
                      </m:e>
                    </m:d>
                    <m:r>
                      <a:rPr lang="en-US" sz="4000" b="0" i="1" smtClean="0">
                        <a:latin typeface="Cambria Math" panose="02040503050406030204" pitchFamily="18" charset="0"/>
                      </a:rPr>
                      <m:t>+</m:t>
                    </m:r>
                    <m:r>
                      <a:rPr lang="en-US" sz="4000" b="0" i="1" smtClean="0">
                        <a:latin typeface="Cambria Math" panose="02040503050406030204" pitchFamily="18" charset="0"/>
                      </a:rPr>
                      <m:t>𝑝𝑉</m:t>
                    </m:r>
                  </m:oMath>
                </a14:m>
                <a:endParaRPr lang="en-CN" sz="4000" dirty="0"/>
              </a:p>
              <a:p>
                <a:pPr algn="ctr"/>
                <a:r>
                  <a:rPr lang="en-US" sz="4000" b="0" dirty="0"/>
                  <a:t>Gibbs free energy: </a:t>
                </a:r>
                <a14:m>
                  <m:oMath xmlns:m="http://schemas.openxmlformats.org/officeDocument/2006/math">
                    <m:r>
                      <a:rPr lang="en-US" sz="4000" b="0" i="1" smtClean="0">
                        <a:latin typeface="Cambria Math" panose="02040503050406030204" pitchFamily="18" charset="0"/>
                      </a:rPr>
                      <m:t>𝐺</m:t>
                    </m:r>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𝑝</m:t>
                    </m:r>
                    <m:r>
                      <a:rPr lang="en-US" sz="4000" b="0" i="1" smtClean="0">
                        <a:latin typeface="Cambria Math" panose="02040503050406030204" pitchFamily="18" charset="0"/>
                      </a:rPr>
                      <m:t>)</m:t>
                    </m:r>
                    <m:r>
                      <a:rPr lang="en-US" sz="4000" i="1">
                        <a:latin typeface="Cambria Math" panose="02040503050406030204" pitchFamily="18" charset="0"/>
                      </a:rPr>
                      <m:t>=</m:t>
                    </m:r>
                    <m:r>
                      <a:rPr lang="en-US" sz="4000" i="1">
                        <a:latin typeface="Cambria Math" panose="02040503050406030204" pitchFamily="18" charset="0"/>
                      </a:rPr>
                      <m:t>𝑈</m:t>
                    </m:r>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𝜏</m:t>
                    </m:r>
                    <m:r>
                      <a:rPr lang="en-US" sz="4000" i="1">
                        <a:latin typeface="Cambria Math" panose="02040503050406030204" pitchFamily="18" charset="0"/>
                      </a:rPr>
                      <m:t>+</m:t>
                    </m:r>
                    <m:r>
                      <a:rPr lang="en-US" sz="4000" b="0" i="1" smtClean="0">
                        <a:latin typeface="Cambria Math" panose="02040503050406030204" pitchFamily="18" charset="0"/>
                      </a:rPr>
                      <m:t>𝑝</m:t>
                    </m:r>
                    <m:r>
                      <a:rPr lang="en-US" sz="4000" i="1">
                        <a:latin typeface="Cambria Math" panose="02040503050406030204" pitchFamily="18" charset="0"/>
                      </a:rPr>
                      <m:t>𝑉</m:t>
                    </m:r>
                  </m:oMath>
                </a14:m>
                <a:endParaRPr lang="en-CN" sz="4000" dirty="0"/>
              </a:p>
              <a:p>
                <a:pPr algn="ctr"/>
                <a:endParaRPr lang="en-CN" sz="4000" dirty="0"/>
              </a:p>
            </p:txBody>
          </p:sp>
        </mc:Choice>
        <mc:Fallback xmlns="">
          <p:sp>
            <p:nvSpPr>
              <p:cNvPr id="2" name="TextBox 1">
                <a:extLst>
                  <a:ext uri="{FF2B5EF4-FFF2-40B4-BE49-F238E27FC236}">
                    <a16:creationId xmlns:a16="http://schemas.microsoft.com/office/drawing/2014/main" id="{5F4BFF97-AD8E-F347-A3F9-3B7952B6F846}"/>
                  </a:ext>
                </a:extLst>
              </p:cNvPr>
              <p:cNvSpPr txBox="1">
                <a:spLocks noRot="1" noChangeAspect="1" noMove="1" noResize="1" noEditPoints="1" noAdjustHandles="1" noChangeArrowheads="1" noChangeShapeType="1" noTextEdit="1"/>
              </p:cNvSpPr>
              <p:nvPr/>
            </p:nvSpPr>
            <p:spPr>
              <a:xfrm>
                <a:off x="720435" y="1981200"/>
                <a:ext cx="10543309" cy="2554545"/>
              </a:xfrm>
              <a:prstGeom prst="rect">
                <a:avLst/>
              </a:prstGeom>
              <a:blipFill>
                <a:blip r:embed="rId2"/>
                <a:stretch>
                  <a:fillRect t="-3960"/>
                </a:stretch>
              </a:blipFill>
            </p:spPr>
            <p:txBody>
              <a:bodyPr/>
              <a:lstStyle/>
              <a:p>
                <a:r>
                  <a:rPr lang="en-CN">
                    <a:noFill/>
                  </a:rPr>
                  <a:t> </a:t>
                </a:r>
              </a:p>
            </p:txBody>
          </p:sp>
        </mc:Fallback>
      </mc:AlternateContent>
    </p:spTree>
    <p:extLst>
      <p:ext uri="{BB962C8B-B14F-4D97-AF65-F5344CB8AC3E}">
        <p14:creationId xmlns:p14="http://schemas.microsoft.com/office/powerpoint/2010/main" val="37353695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58CF6E-0600-8E43-B32A-02390CA252CA}"/>
              </a:ext>
            </a:extLst>
          </p:cNvPr>
          <p:cNvPicPr>
            <a:picLocks noChangeAspect="1"/>
          </p:cNvPicPr>
          <p:nvPr/>
        </p:nvPicPr>
        <p:blipFill>
          <a:blip r:embed="rId2"/>
          <a:stretch>
            <a:fillRect/>
          </a:stretch>
        </p:blipFill>
        <p:spPr>
          <a:xfrm>
            <a:off x="1362694" y="1335232"/>
            <a:ext cx="9712036" cy="5034852"/>
          </a:xfrm>
          <a:prstGeom prst="rect">
            <a:avLst/>
          </a:prstGeom>
        </p:spPr>
      </p:pic>
      <p:pic>
        <p:nvPicPr>
          <p:cNvPr id="5" name="Picture 4">
            <a:extLst>
              <a:ext uri="{FF2B5EF4-FFF2-40B4-BE49-F238E27FC236}">
                <a16:creationId xmlns:a16="http://schemas.microsoft.com/office/drawing/2014/main" id="{607716D1-6E7E-7442-868A-5FA9380391B1}"/>
              </a:ext>
            </a:extLst>
          </p:cNvPr>
          <p:cNvPicPr>
            <a:picLocks noChangeAspect="1"/>
          </p:cNvPicPr>
          <p:nvPr/>
        </p:nvPicPr>
        <p:blipFill>
          <a:blip r:embed="rId3"/>
          <a:stretch>
            <a:fillRect/>
          </a:stretch>
        </p:blipFill>
        <p:spPr>
          <a:xfrm>
            <a:off x="3600450" y="535132"/>
            <a:ext cx="4991100" cy="800100"/>
          </a:xfrm>
          <a:prstGeom prst="rect">
            <a:avLst/>
          </a:prstGeom>
        </p:spPr>
      </p:pic>
    </p:spTree>
    <p:extLst>
      <p:ext uri="{BB962C8B-B14F-4D97-AF65-F5344CB8AC3E}">
        <p14:creationId xmlns:p14="http://schemas.microsoft.com/office/powerpoint/2010/main" val="41408315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8AA504-A0AA-6442-AEDE-AE4D20C4074E}"/>
              </a:ext>
            </a:extLst>
          </p:cNvPr>
          <p:cNvSpPr txBox="1"/>
          <p:nvPr/>
        </p:nvSpPr>
        <p:spPr>
          <a:xfrm>
            <a:off x="429491" y="290945"/>
            <a:ext cx="10958945" cy="523220"/>
          </a:xfrm>
          <a:prstGeom prst="rect">
            <a:avLst/>
          </a:prstGeom>
          <a:noFill/>
        </p:spPr>
        <p:txBody>
          <a:bodyPr wrap="square" rtlCol="0">
            <a:spAutoFit/>
          </a:bodyPr>
          <a:lstStyle/>
          <a:p>
            <a:r>
              <a:rPr lang="en-CN" sz="2800" dirty="0"/>
              <a:t>The Legendre Transform as an alternative way to display information</a:t>
            </a:r>
          </a:p>
        </p:txBody>
      </p:sp>
      <p:pic>
        <p:nvPicPr>
          <p:cNvPr id="5" name="Picture 4">
            <a:extLst>
              <a:ext uri="{FF2B5EF4-FFF2-40B4-BE49-F238E27FC236}">
                <a16:creationId xmlns:a16="http://schemas.microsoft.com/office/drawing/2014/main" id="{0D3C725D-065F-F44D-9D02-322EC7BA2CFB}"/>
              </a:ext>
            </a:extLst>
          </p:cNvPr>
          <p:cNvPicPr>
            <a:picLocks noChangeAspect="1"/>
          </p:cNvPicPr>
          <p:nvPr/>
        </p:nvPicPr>
        <p:blipFill>
          <a:blip r:embed="rId2"/>
          <a:stretch>
            <a:fillRect/>
          </a:stretch>
        </p:blipFill>
        <p:spPr>
          <a:xfrm>
            <a:off x="1233055" y="1179873"/>
            <a:ext cx="8797636" cy="294781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24C72C1-935A-7141-8540-FB9350BF0319}"/>
                  </a:ext>
                </a:extLst>
              </p:cNvPr>
              <p:cNvSpPr txBox="1"/>
              <p:nvPr/>
            </p:nvSpPr>
            <p:spPr>
              <a:xfrm>
                <a:off x="9615056" y="1870364"/>
                <a:ext cx="19534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CN" dirty="0"/>
              </a:p>
            </p:txBody>
          </p:sp>
        </mc:Choice>
        <mc:Fallback xmlns="">
          <p:sp>
            <p:nvSpPr>
              <p:cNvPr id="9" name="TextBox 8">
                <a:extLst>
                  <a:ext uri="{FF2B5EF4-FFF2-40B4-BE49-F238E27FC236}">
                    <a16:creationId xmlns:a16="http://schemas.microsoft.com/office/drawing/2014/main" id="{124C72C1-935A-7141-8540-FB9350BF0319}"/>
                  </a:ext>
                </a:extLst>
              </p:cNvPr>
              <p:cNvSpPr txBox="1">
                <a:spLocks noRot="1" noChangeAspect="1" noMove="1" noResize="1" noEditPoints="1" noAdjustHandles="1" noChangeArrowheads="1" noChangeShapeType="1" noTextEdit="1"/>
              </p:cNvSpPr>
              <p:nvPr/>
            </p:nvSpPr>
            <p:spPr>
              <a:xfrm>
                <a:off x="9615056" y="1870364"/>
                <a:ext cx="1953490" cy="369332"/>
              </a:xfrm>
              <a:prstGeom prst="rect">
                <a:avLst/>
              </a:prstGeom>
              <a:blipFill>
                <a:blip r:embed="rId3"/>
                <a:stretch>
                  <a:fillRect b="-13333"/>
                </a:stretch>
              </a:blipFill>
            </p:spPr>
            <p:txBody>
              <a:bodyPr/>
              <a:lstStyle/>
              <a:p>
                <a:r>
                  <a:rPr lang="en-CN">
                    <a:noFill/>
                  </a:rPr>
                  <a:t> </a:t>
                </a:r>
              </a:p>
            </p:txBody>
          </p:sp>
        </mc:Fallback>
      </mc:AlternateContent>
      <p:pic>
        <p:nvPicPr>
          <p:cNvPr id="11" name="Picture 10">
            <a:extLst>
              <a:ext uri="{FF2B5EF4-FFF2-40B4-BE49-F238E27FC236}">
                <a16:creationId xmlns:a16="http://schemas.microsoft.com/office/drawing/2014/main" id="{7C17EA15-8813-AE47-9E99-6F6E1FDFE26D}"/>
              </a:ext>
            </a:extLst>
          </p:cNvPr>
          <p:cNvPicPr>
            <a:picLocks noChangeAspect="1"/>
          </p:cNvPicPr>
          <p:nvPr/>
        </p:nvPicPr>
        <p:blipFill>
          <a:blip r:embed="rId4"/>
          <a:stretch>
            <a:fillRect/>
          </a:stretch>
        </p:blipFill>
        <p:spPr>
          <a:xfrm>
            <a:off x="4616450" y="4493400"/>
            <a:ext cx="2959100" cy="508000"/>
          </a:xfrm>
          <a:prstGeom prst="rect">
            <a:avLst/>
          </a:prstGeom>
        </p:spPr>
      </p:pic>
      <p:pic>
        <p:nvPicPr>
          <p:cNvPr id="13" name="Picture 12">
            <a:extLst>
              <a:ext uri="{FF2B5EF4-FFF2-40B4-BE49-F238E27FC236}">
                <a16:creationId xmlns:a16="http://schemas.microsoft.com/office/drawing/2014/main" id="{12FE54F3-ED96-4243-85B0-94FDCBFD2793}"/>
              </a:ext>
            </a:extLst>
          </p:cNvPr>
          <p:cNvPicPr>
            <a:picLocks noChangeAspect="1"/>
          </p:cNvPicPr>
          <p:nvPr/>
        </p:nvPicPr>
        <p:blipFill>
          <a:blip r:embed="rId5"/>
          <a:stretch>
            <a:fillRect/>
          </a:stretch>
        </p:blipFill>
        <p:spPr>
          <a:xfrm>
            <a:off x="4616450" y="5848927"/>
            <a:ext cx="2959100" cy="508000"/>
          </a:xfrm>
          <a:prstGeom prst="rect">
            <a:avLst/>
          </a:prstGeom>
        </p:spPr>
      </p:pic>
      <p:sp>
        <p:nvSpPr>
          <p:cNvPr id="14" name="Down Arrow 13">
            <a:extLst>
              <a:ext uri="{FF2B5EF4-FFF2-40B4-BE49-F238E27FC236}">
                <a16:creationId xmlns:a16="http://schemas.microsoft.com/office/drawing/2014/main" id="{F1EB5A23-2868-F943-8BB9-92695317E9CF}"/>
              </a:ext>
            </a:extLst>
          </p:cNvPr>
          <p:cNvSpPr/>
          <p:nvPr/>
        </p:nvSpPr>
        <p:spPr>
          <a:xfrm>
            <a:off x="5791200" y="5001400"/>
            <a:ext cx="484909" cy="6767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0669777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4237BB2-2FA6-724F-87DB-84282CE8AAE2}"/>
                  </a:ext>
                </a:extLst>
              </p:cNvPr>
              <p:cNvSpPr txBox="1"/>
              <p:nvPr/>
            </p:nvSpPr>
            <p:spPr>
              <a:xfrm>
                <a:off x="637309" y="135155"/>
                <a:ext cx="11457709" cy="70788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FangSong" panose="02010609060101010101" pitchFamily="49" charset="-122"/>
                        </a:rPr>
                        <m:t>𝐹</m:t>
                      </m:r>
                      <m:d>
                        <m:dPr>
                          <m:ctrlPr>
                            <a:rPr lang="en-US" sz="4000" b="0" i="1" smtClean="0">
                              <a:latin typeface="Cambria Math" panose="02040503050406030204" pitchFamily="18" charset="0"/>
                              <a:ea typeface="FangSong" panose="02010609060101010101" pitchFamily="49" charset="-122"/>
                            </a:rPr>
                          </m:ctrlPr>
                        </m:dPr>
                        <m:e>
                          <m:r>
                            <a:rPr lang="en-US" sz="4000" b="0" i="1" smtClean="0">
                              <a:solidFill>
                                <a:srgbClr val="FF0000"/>
                              </a:solidFill>
                              <a:latin typeface="Cambria Math" panose="02040503050406030204" pitchFamily="18" charset="0"/>
                              <a:ea typeface="Cambria Math" panose="02040503050406030204" pitchFamily="18" charset="0"/>
                            </a:rPr>
                            <m:t>𝜏</m:t>
                          </m:r>
                        </m:e>
                      </m:d>
                      <m:r>
                        <a:rPr lang="en-US" sz="4000" b="0" i="1" smtClean="0">
                          <a:latin typeface="Cambria Math" panose="02040503050406030204" pitchFamily="18" charset="0"/>
                          <a:ea typeface="FangSong" panose="02010609060101010101" pitchFamily="49" charset="-122"/>
                        </a:rPr>
                        <m:t>=</m:t>
                      </m:r>
                      <m:r>
                        <a:rPr lang="en-US" sz="4000" b="0" i="1" smtClean="0">
                          <a:latin typeface="Cambria Math" panose="02040503050406030204" pitchFamily="18" charset="0"/>
                          <a:ea typeface="FangSong" panose="02010609060101010101" pitchFamily="49" charset="-122"/>
                        </a:rPr>
                        <m:t>𝑈</m:t>
                      </m:r>
                      <m:d>
                        <m:dPr>
                          <m:ctrlPr>
                            <a:rPr lang="en-US" sz="4000" b="0" i="1" smtClean="0">
                              <a:latin typeface="Cambria Math" panose="02040503050406030204" pitchFamily="18" charset="0"/>
                              <a:ea typeface="FangSong" panose="02010609060101010101" pitchFamily="49" charset="-122"/>
                            </a:rPr>
                          </m:ctrlPr>
                        </m:dPr>
                        <m:e>
                          <m:r>
                            <a:rPr lang="en-US" sz="4000" b="0" i="1" smtClean="0">
                              <a:solidFill>
                                <a:srgbClr val="FF0000"/>
                              </a:solidFill>
                              <a:latin typeface="Cambria Math" panose="02040503050406030204" pitchFamily="18" charset="0"/>
                              <a:ea typeface="Cambria Math" panose="02040503050406030204" pitchFamily="18" charset="0"/>
                            </a:rPr>
                            <m:t>𝜎</m:t>
                          </m:r>
                        </m:e>
                      </m:d>
                      <m:r>
                        <a:rPr lang="en-US" sz="4000" b="0" i="0"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 </m:t>
                      </m:r>
                      <m:r>
                        <m:rPr>
                          <m:sty m:val="p"/>
                        </m:rPr>
                        <a:rPr lang="el-GR" sz="4000" b="0" i="1" smtClean="0">
                          <a:solidFill>
                            <a:schemeClr val="accent6"/>
                          </a:solidFill>
                          <a:latin typeface="Cambria Math" panose="02040503050406030204" pitchFamily="18" charset="0"/>
                          <a:ea typeface="Cambria Math" panose="02040503050406030204" pitchFamily="18" charset="0"/>
                        </a:rPr>
                        <m:t>τ</m:t>
                      </m:r>
                    </m:oMath>
                  </m:oMathPara>
                </a14:m>
                <a:endParaRPr lang="en-US" sz="4000" b="0" dirty="0">
                  <a:latin typeface="FangSong" panose="02010609060101010101" pitchFamily="49" charset="-122"/>
                  <a:ea typeface="FangSong" panose="02010609060101010101" pitchFamily="49" charset="-122"/>
                </a:endParaRPr>
              </a:p>
            </p:txBody>
          </p:sp>
        </mc:Choice>
        <mc:Fallback xmlns="">
          <p:sp>
            <p:nvSpPr>
              <p:cNvPr id="3" name="TextBox 2">
                <a:extLst>
                  <a:ext uri="{FF2B5EF4-FFF2-40B4-BE49-F238E27FC236}">
                    <a16:creationId xmlns:a16="http://schemas.microsoft.com/office/drawing/2014/main" id="{64237BB2-2FA6-724F-87DB-84282CE8AAE2}"/>
                  </a:ext>
                </a:extLst>
              </p:cNvPr>
              <p:cNvSpPr txBox="1">
                <a:spLocks noRot="1" noChangeAspect="1" noMove="1" noResize="1" noEditPoints="1" noAdjustHandles="1" noChangeArrowheads="1" noChangeShapeType="1" noTextEdit="1"/>
              </p:cNvSpPr>
              <p:nvPr/>
            </p:nvSpPr>
            <p:spPr>
              <a:xfrm>
                <a:off x="637309" y="135155"/>
                <a:ext cx="11457709" cy="707886"/>
              </a:xfrm>
              <a:prstGeom prst="rect">
                <a:avLst/>
              </a:prstGeom>
              <a:blipFill>
                <a:blip r:embed="rId2"/>
                <a:stretch>
                  <a:fillRect b="-28070"/>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4D14BEF7-150B-1044-8ED7-110FE8A93F87}"/>
              </a:ext>
            </a:extLst>
          </p:cNvPr>
          <p:cNvSpPr/>
          <p:nvPr/>
        </p:nvSpPr>
        <p:spPr>
          <a:xfrm>
            <a:off x="5805055" y="997527"/>
            <a:ext cx="401781" cy="9559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2A85D69-F1DA-874A-9EFC-5D8D4214694B}"/>
                  </a:ext>
                </a:extLst>
              </p:cNvPr>
              <p:cNvSpPr txBox="1"/>
              <p:nvPr/>
            </p:nvSpPr>
            <p:spPr>
              <a:xfrm>
                <a:off x="6366163" y="1233055"/>
                <a:ext cx="1489364"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7" name="TextBox 6">
                <a:extLst>
                  <a:ext uri="{FF2B5EF4-FFF2-40B4-BE49-F238E27FC236}">
                    <a16:creationId xmlns:a16="http://schemas.microsoft.com/office/drawing/2014/main" id="{72A85D69-F1DA-874A-9EFC-5D8D4214694B}"/>
                  </a:ext>
                </a:extLst>
              </p:cNvPr>
              <p:cNvSpPr txBox="1">
                <a:spLocks noRot="1" noChangeAspect="1" noMove="1" noResize="1" noEditPoints="1" noAdjustHandles="1" noChangeArrowheads="1" noChangeShapeType="1" noTextEdit="1"/>
              </p:cNvSpPr>
              <p:nvPr/>
            </p:nvSpPr>
            <p:spPr>
              <a:xfrm>
                <a:off x="6366163" y="1233055"/>
                <a:ext cx="1489364" cy="634789"/>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E3EEFCE-ACFC-6349-B770-815E80033D81}"/>
                  </a:ext>
                </a:extLst>
              </p:cNvPr>
              <p:cNvSpPr txBox="1"/>
              <p:nvPr/>
            </p:nvSpPr>
            <p:spPr>
              <a:xfrm>
                <a:off x="477981" y="2107977"/>
                <a:ext cx="11457709" cy="70788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Cambria Math" panose="02040503050406030204" pitchFamily="18" charset="0"/>
                        </a:rPr>
                        <m:t>ℱ</m:t>
                      </m:r>
                      <m:d>
                        <m:dPr>
                          <m:ctrlPr>
                            <a:rPr lang="en-US" sz="4000" b="0" i="1" smtClean="0">
                              <a:latin typeface="Cambria Math" panose="02040503050406030204" pitchFamily="18" charset="0"/>
                              <a:ea typeface="FangSong" panose="02010609060101010101" pitchFamily="49" charset="-122"/>
                            </a:rPr>
                          </m:ctrlPr>
                        </m:dPr>
                        <m:e>
                          <m:r>
                            <a:rPr lang="en-US" sz="4000" b="0" i="1" smtClean="0">
                              <a:latin typeface="Cambria Math" panose="02040503050406030204" pitchFamily="18" charset="0"/>
                              <a:ea typeface="Cambria Math" panose="02040503050406030204" pitchFamily="18" charset="0"/>
                            </a:rPr>
                            <m:t>𝛽</m:t>
                          </m:r>
                        </m:e>
                      </m:d>
                      <m:r>
                        <a:rPr lang="en-US" sz="4000" b="0" i="1" smtClean="0">
                          <a:solidFill>
                            <a:srgbClr val="7030A0"/>
                          </a:solidFill>
                          <a:latin typeface="Cambria Math" panose="02040503050406030204" pitchFamily="18" charset="0"/>
                          <a:ea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𝜎</m:t>
                      </m:r>
                      <m:d>
                        <m:dPr>
                          <m:begChr m:val="["/>
                          <m:endChr m:val="]"/>
                          <m:ctrlPr>
                            <a:rPr lang="en-US" sz="4000" b="0" i="1" smtClean="0">
                              <a:solidFill>
                                <a:srgbClr val="7030A0"/>
                              </a:solidFill>
                              <a:latin typeface="Cambria Math" panose="02040503050406030204" pitchFamily="18" charset="0"/>
                              <a:ea typeface="Cambria Math" panose="02040503050406030204" pitchFamily="18" charset="0"/>
                            </a:rPr>
                          </m:ctrlPr>
                        </m:dPr>
                        <m:e>
                          <m:r>
                            <a:rPr lang="en-US" sz="4000" b="0" i="1" smtClean="0">
                              <a:solidFill>
                                <a:srgbClr val="7030A0"/>
                              </a:solidFill>
                              <a:latin typeface="Cambria Math" panose="02040503050406030204" pitchFamily="18" charset="0"/>
                              <a:ea typeface="Cambria Math" panose="02040503050406030204" pitchFamily="18" charset="0"/>
                            </a:rPr>
                            <m:t>𝑈</m:t>
                          </m:r>
                        </m:e>
                      </m:d>
                      <m:r>
                        <a:rPr lang="en-US" sz="4000" b="0" i="1" smtClean="0">
                          <a:latin typeface="Cambria Math" panose="02040503050406030204" pitchFamily="18" charset="0"/>
                          <a:ea typeface="FangSong" panose="02010609060101010101" pitchFamily="49" charset="-122"/>
                        </a:rPr>
                        <m:t>=</m:t>
                      </m:r>
                      <m:r>
                        <a:rPr lang="en-US" sz="4000" b="0" i="1" smtClean="0">
                          <a:latin typeface="Cambria Math" panose="02040503050406030204" pitchFamily="18" charset="0"/>
                          <a:ea typeface="Cambria Math" panose="02040503050406030204" pitchFamily="18" charset="0"/>
                        </a:rPr>
                        <m:t>𝛽</m:t>
                      </m:r>
                      <m:r>
                        <a:rPr lang="en-US" sz="4000" b="0" i="1" smtClean="0">
                          <a:latin typeface="Cambria Math" panose="02040503050406030204" pitchFamily="18" charset="0"/>
                          <a:ea typeface="FangSong" panose="02010609060101010101" pitchFamily="49" charset="-122"/>
                        </a:rPr>
                        <m:t>𝑈</m:t>
                      </m:r>
                    </m:oMath>
                  </m:oMathPara>
                </a14:m>
                <a:endParaRPr lang="en-US" sz="4000" b="0" dirty="0">
                  <a:latin typeface="FangSong" panose="02010609060101010101" pitchFamily="49" charset="-122"/>
                  <a:ea typeface="FangSong" panose="02010609060101010101" pitchFamily="49" charset="-122"/>
                </a:endParaRPr>
              </a:p>
            </p:txBody>
          </p:sp>
        </mc:Choice>
        <mc:Fallback xmlns="">
          <p:sp>
            <p:nvSpPr>
              <p:cNvPr id="8" name="TextBox 7">
                <a:extLst>
                  <a:ext uri="{FF2B5EF4-FFF2-40B4-BE49-F238E27FC236}">
                    <a16:creationId xmlns:a16="http://schemas.microsoft.com/office/drawing/2014/main" id="{6E3EEFCE-ACFC-6349-B770-815E80033D81}"/>
                  </a:ext>
                </a:extLst>
              </p:cNvPr>
              <p:cNvSpPr txBox="1">
                <a:spLocks noRot="1" noChangeAspect="1" noMove="1" noResize="1" noEditPoints="1" noAdjustHandles="1" noChangeArrowheads="1" noChangeShapeType="1" noTextEdit="1"/>
              </p:cNvSpPr>
              <p:nvPr/>
            </p:nvSpPr>
            <p:spPr>
              <a:xfrm>
                <a:off x="477981" y="2107977"/>
                <a:ext cx="11457709" cy="707886"/>
              </a:xfrm>
              <a:prstGeom prst="rect">
                <a:avLst/>
              </a:prstGeom>
              <a:blipFill>
                <a:blip r:embed="rId4"/>
                <a:stretch>
                  <a:fillRect b="-2321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53DA82-A430-BB42-A878-DB36A1950640}"/>
                  </a:ext>
                </a:extLst>
              </p:cNvPr>
              <p:cNvSpPr txBox="1"/>
              <p:nvPr/>
            </p:nvSpPr>
            <p:spPr>
              <a:xfrm>
                <a:off x="1122218" y="3429000"/>
                <a:ext cx="9864437" cy="9605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𝑈</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𝑈</m:t>
                              </m:r>
                            </m:e>
                          </m:d>
                        </m:sup>
                      </m:sSup>
                      <m:r>
                        <a:rPr lang="en-US" b="0" i="1" smtClean="0">
                          <a:latin typeface="Cambria Math" panose="02040503050406030204" pitchFamily="18" charset="0"/>
                        </a:rPr>
                        <m:t>          </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ℱ</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up>
                      </m:sSup>
                    </m:oMath>
                  </m:oMathPara>
                </a14:m>
                <a:endParaRPr lang="en-CN" dirty="0"/>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𝑑𝑈</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ℱ</m:t>
                          </m:r>
                        </m:num>
                        <m:den>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𝛽</m:t>
                          </m:r>
                        </m:den>
                      </m:f>
                    </m:oMath>
                  </m:oMathPara>
                </a14:m>
                <a:endParaRPr lang="en-CN" dirty="0"/>
              </a:p>
            </p:txBody>
          </p:sp>
        </mc:Choice>
        <mc:Fallback xmlns="">
          <p:sp>
            <p:nvSpPr>
              <p:cNvPr id="9" name="TextBox 8">
                <a:extLst>
                  <a:ext uri="{FF2B5EF4-FFF2-40B4-BE49-F238E27FC236}">
                    <a16:creationId xmlns:a16="http://schemas.microsoft.com/office/drawing/2014/main" id="{7F53DA82-A430-BB42-A878-DB36A1950640}"/>
                  </a:ext>
                </a:extLst>
              </p:cNvPr>
              <p:cNvSpPr txBox="1">
                <a:spLocks noRot="1" noChangeAspect="1" noMove="1" noResize="1" noEditPoints="1" noAdjustHandles="1" noChangeArrowheads="1" noChangeShapeType="1" noTextEdit="1"/>
              </p:cNvSpPr>
              <p:nvPr/>
            </p:nvSpPr>
            <p:spPr>
              <a:xfrm>
                <a:off x="1122218" y="3429000"/>
                <a:ext cx="9864437" cy="960519"/>
              </a:xfrm>
              <a:prstGeom prst="rect">
                <a:avLst/>
              </a:prstGeom>
              <a:blipFill>
                <a:blip r:embed="rId5"/>
                <a:stretch>
                  <a:fillRect b="-6579"/>
                </a:stretch>
              </a:blipFill>
            </p:spPr>
            <p:txBody>
              <a:bodyPr/>
              <a:lstStyle/>
              <a:p>
                <a:r>
                  <a:rPr lang="en-CN">
                    <a:noFill/>
                  </a:rPr>
                  <a:t> </a:t>
                </a:r>
              </a:p>
            </p:txBody>
          </p:sp>
        </mc:Fallback>
      </mc:AlternateContent>
      <p:sp>
        <p:nvSpPr>
          <p:cNvPr id="10" name="TextBox 9">
            <a:extLst>
              <a:ext uri="{FF2B5EF4-FFF2-40B4-BE49-F238E27FC236}">
                <a16:creationId xmlns:a16="http://schemas.microsoft.com/office/drawing/2014/main" id="{92BF1504-C957-214D-BB77-88F39AB44D92}"/>
              </a:ext>
            </a:extLst>
          </p:cNvPr>
          <p:cNvSpPr txBox="1"/>
          <p:nvPr/>
        </p:nvSpPr>
        <p:spPr>
          <a:xfrm>
            <a:off x="477981" y="2815863"/>
            <a:ext cx="2944092" cy="369332"/>
          </a:xfrm>
          <a:prstGeom prst="rect">
            <a:avLst/>
          </a:prstGeom>
          <a:noFill/>
        </p:spPr>
        <p:txBody>
          <a:bodyPr wrap="square" rtlCol="0">
            <a:spAutoFit/>
          </a:bodyPr>
          <a:lstStyle/>
          <a:p>
            <a:r>
              <a:rPr lang="en-CN" dirty="0"/>
              <a:t>discussion</a:t>
            </a:r>
          </a:p>
        </p:txBody>
      </p:sp>
      <p:sp>
        <p:nvSpPr>
          <p:cNvPr id="11" name="TextBox 10">
            <a:extLst>
              <a:ext uri="{FF2B5EF4-FFF2-40B4-BE49-F238E27FC236}">
                <a16:creationId xmlns:a16="http://schemas.microsoft.com/office/drawing/2014/main" id="{12C7D34F-B076-CE4B-8E1B-B8E108CB5BDB}"/>
              </a:ext>
            </a:extLst>
          </p:cNvPr>
          <p:cNvSpPr txBox="1"/>
          <p:nvPr/>
        </p:nvSpPr>
        <p:spPr>
          <a:xfrm>
            <a:off x="637309" y="4558145"/>
            <a:ext cx="10958946" cy="1477328"/>
          </a:xfrm>
          <a:prstGeom prst="rect">
            <a:avLst/>
          </a:prstGeom>
          <a:noFill/>
        </p:spPr>
        <p:txBody>
          <a:bodyPr wrap="square" rtlCol="0">
            <a:spAutoFit/>
          </a:bodyPr>
          <a:lstStyle/>
          <a:p>
            <a:pPr marL="285750" indent="-285750">
              <a:buFont typeface="Arial" panose="020B0604020202020204" pitchFamily="34" charset="0"/>
              <a:buChar char="•"/>
            </a:pPr>
            <a:r>
              <a:rPr lang="en-CN" dirty="0"/>
              <a:t>The entropy is a function of U, but the internal energy is typically not easy to control;</a:t>
            </a:r>
          </a:p>
          <a:p>
            <a:pPr marL="285750" indent="-285750">
              <a:buFont typeface="Arial" panose="020B0604020202020204" pitchFamily="34" charset="0"/>
              <a:buChar char="•"/>
            </a:pPr>
            <a:r>
              <a:rPr lang="en-CN" dirty="0"/>
              <a:t>To put more(less) energy into a system, we may heat(cool) it. In other words, we often manipulate U by coupling the system to an appropriate thermal bath, so the temperature becomes the control variable.</a:t>
            </a:r>
          </a:p>
          <a:p>
            <a:pPr marL="285750" indent="-285750">
              <a:buFont typeface="Arial" panose="020B0604020202020204" pitchFamily="34" charset="0"/>
              <a:buChar char="•"/>
            </a:pPr>
            <a:r>
              <a:rPr lang="en-CN" dirty="0"/>
              <a:t>In that case, we can perform a Legendre transform of sigma and work with F instead.</a:t>
            </a:r>
          </a:p>
          <a:p>
            <a:pPr marL="285750" indent="-285750">
              <a:buFont typeface="Arial" panose="020B0604020202020204" pitchFamily="34" charset="0"/>
              <a:buChar char="•"/>
            </a:pPr>
            <a:r>
              <a:rPr lang="en-US" dirty="0"/>
              <a:t>C</a:t>
            </a:r>
            <a:r>
              <a:rPr lang="en-CN" dirty="0"/>
              <a:t>ontrol and response…</a:t>
            </a:r>
          </a:p>
        </p:txBody>
      </p:sp>
    </p:spTree>
    <p:extLst>
      <p:ext uri="{BB962C8B-B14F-4D97-AF65-F5344CB8AC3E}">
        <p14:creationId xmlns:p14="http://schemas.microsoft.com/office/powerpoint/2010/main" val="16142151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A9A211-84A0-F8DF-CBF9-801A8DDFF87C}"/>
              </a:ext>
            </a:extLst>
          </p:cNvPr>
          <p:cNvPicPr>
            <a:picLocks noChangeAspect="1"/>
          </p:cNvPicPr>
          <p:nvPr/>
        </p:nvPicPr>
        <p:blipFill>
          <a:blip r:embed="rId2"/>
          <a:stretch>
            <a:fillRect/>
          </a:stretch>
        </p:blipFill>
        <p:spPr>
          <a:xfrm>
            <a:off x="3429000" y="228600"/>
            <a:ext cx="5334000" cy="6400800"/>
          </a:xfrm>
          <a:prstGeom prst="rect">
            <a:avLst/>
          </a:prstGeom>
        </p:spPr>
      </p:pic>
    </p:spTree>
    <p:extLst>
      <p:ext uri="{BB962C8B-B14F-4D97-AF65-F5344CB8AC3E}">
        <p14:creationId xmlns:p14="http://schemas.microsoft.com/office/powerpoint/2010/main" val="560722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80734" y="1630467"/>
            <a:ext cx="5881521" cy="3634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latin typeface="FangSong" panose="02010609060101010101" pitchFamily="49" charset="-122"/>
                <a:ea typeface="FangSong" panose="02010609060101010101" pitchFamily="49" charset="-122"/>
              </a:rPr>
              <a:t>理想气体的熵</a:t>
            </a: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3200400" y="100400"/>
            <a:ext cx="5432961" cy="9066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（第三四五周）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19541150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E58DD5-1443-C243-BA8C-14D5AB64CEAE}"/>
              </a:ext>
            </a:extLst>
          </p:cNvPr>
          <p:cNvSpPr txBox="1"/>
          <p:nvPr/>
        </p:nvSpPr>
        <p:spPr>
          <a:xfrm>
            <a:off x="401781" y="471055"/>
            <a:ext cx="5112327" cy="369332"/>
          </a:xfrm>
          <a:prstGeom prst="rect">
            <a:avLst/>
          </a:prstGeom>
          <a:noFill/>
        </p:spPr>
        <p:txBody>
          <a:bodyPr wrap="square" rtlCol="0">
            <a:spAutoFit/>
          </a:bodyPr>
          <a:lstStyle/>
          <a:p>
            <a:r>
              <a:rPr lang="en-US" dirty="0"/>
              <a:t>R</a:t>
            </a:r>
            <a:r>
              <a:rPr lang="en-CN" dirty="0"/>
              <a:t>eview(N,V,U) (</a:t>
            </a:r>
            <a:r>
              <a:rPr lang="en-CN" dirty="0">
                <a:solidFill>
                  <a:srgbClr val="FF0000"/>
                </a:solidFill>
              </a:rPr>
              <a:t>孤立系</a:t>
            </a:r>
            <a:r>
              <a:rPr lang="en-CN" dirty="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A0994F-153D-5747-AD6C-759FAC3D35E2}"/>
                  </a:ext>
                </a:extLst>
              </p:cNvPr>
              <p:cNvSpPr txBox="1"/>
              <p:nvPr/>
            </p:nvSpPr>
            <p:spPr>
              <a:xfrm>
                <a:off x="2535382" y="655721"/>
                <a:ext cx="6747164" cy="16649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3</m:t>
                              </m:r>
                              <m:r>
                                <a:rPr lang="en-US" b="0" i="1" smtClean="0">
                                  <a:latin typeface="Cambria Math" panose="02040503050406030204" pitchFamily="18" charset="0"/>
                                </a:rPr>
                                <m:t>𝑁</m:t>
                              </m:r>
                            </m:sup>
                          </m:sSup>
                        </m:den>
                      </m:f>
                      <m:f>
                        <m:fPr>
                          <m:ctrlPr>
                            <a:rPr lang="en-US" b="0" i="1" smtClean="0">
                              <a:latin typeface="Cambria Math" panose="02040503050406030204" pitchFamily="18" charset="0"/>
                            </a:rPr>
                          </m:ctrlPr>
                        </m:fPr>
                        <m:num>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3</m:t>
                              </m:r>
                              <m:r>
                                <a:rPr lang="en-US" b="0" i="1" smtClean="0">
                                  <a:latin typeface="Cambria Math" panose="02040503050406030204" pitchFamily="18" charset="0"/>
                                </a:rPr>
                                <m:t>𝑁</m:t>
                              </m:r>
                              <m:r>
                                <a:rPr lang="en-US" b="0" i="1" smtClean="0">
                                  <a:latin typeface="Cambria Math" panose="02040503050406030204" pitchFamily="18" charset="0"/>
                                </a:rPr>
                                <m:t>/2</m:t>
                              </m:r>
                            </m:sup>
                          </m:sSup>
                        </m:num>
                        <m:den>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3</m:t>
                                  </m:r>
                                  <m:r>
                                    <a:rPr lang="en-US" b="0" i="1" smtClean="0">
                                      <a:latin typeface="Cambria Math" panose="02040503050406030204" pitchFamily="18" charset="0"/>
                                    </a:rPr>
                                    <m:t>𝑁</m:t>
                                  </m:r>
                                </m:num>
                                <m:den>
                                  <m:r>
                                    <a:rPr lang="en-US" b="0" i="1" smtClean="0">
                                      <a:latin typeface="Cambria Math" panose="02040503050406030204" pitchFamily="18" charset="0"/>
                                    </a:rPr>
                                    <m:t>2</m:t>
                                  </m:r>
                                </m:den>
                              </m:f>
                              <m:r>
                                <a:rPr lang="en-US" b="0" i="1" smtClean="0">
                                  <a:latin typeface="Cambria Math" panose="02040503050406030204" pitchFamily="18" charset="0"/>
                                </a:rPr>
                                <m:t>−</m:t>
                              </m:r>
                              <m:r>
                                <a:rPr lang="en-US" b="0" i="1" smtClean="0">
                                  <a:solidFill>
                                    <a:srgbClr val="7030A0"/>
                                  </a:solidFill>
                                  <a:latin typeface="Cambria Math" panose="02040503050406030204" pitchFamily="18" charset="0"/>
                                </a:rPr>
                                <m:t>1</m:t>
                              </m:r>
                            </m:e>
                          </m:d>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𝑚𝑈</m:t>
                                  </m:r>
                                </m:e>
                              </m:rad>
                            </m:e>
                          </m:d>
                        </m:e>
                        <m:sup>
                          <m:r>
                            <a:rPr lang="en-US" b="0" i="1" smtClean="0">
                              <a:latin typeface="Cambria Math" panose="02040503050406030204" pitchFamily="18" charset="0"/>
                            </a:rPr>
                            <m:t>3</m:t>
                          </m:r>
                          <m:r>
                            <a:rPr lang="en-US" b="0" i="1" smtClean="0">
                              <a:latin typeface="Cambria Math" panose="02040503050406030204" pitchFamily="18" charset="0"/>
                            </a:rPr>
                            <m:t>𝑁</m:t>
                          </m:r>
                          <m:r>
                            <a:rPr lang="en-US" b="0" i="1" smtClean="0">
                              <a:latin typeface="Cambria Math" panose="02040503050406030204" pitchFamily="18" charset="0"/>
                            </a:rPr>
                            <m:t>−1</m:t>
                          </m:r>
                        </m:sup>
                      </m:sSup>
                    </m:oMath>
                  </m:oMathPara>
                </a14:m>
                <a:endParaRPr lang="en-CN" dirty="0"/>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f>
                        <m:fPr>
                          <m:ctrlPr>
                            <a:rPr lang="en-CN"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den>
                      </m:f>
                      <m:f>
                        <m:fPr>
                          <m:ctrlPr>
                            <a:rPr lang="en-CN" i="1" smtClean="0">
                              <a:latin typeface="Cambria Math" panose="02040503050406030204" pitchFamily="18" charset="0"/>
                              <a:ea typeface="Cambria Math" panose="02040503050406030204" pitchFamily="18" charset="0"/>
                            </a:rPr>
                          </m:ctrlPr>
                        </m:fPr>
                        <m:num>
                          <m:sSup>
                            <m:sSupPr>
                              <m:ctrlPr>
                                <a:rPr lang="en-CN"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𝑁</m:t>
                              </m:r>
                            </m:sup>
                          </m:sSup>
                        </m:num>
                        <m:den>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m:t>
                          </m:r>
                        </m:den>
                      </m:f>
                      <m:sSup>
                        <m:sSupPr>
                          <m:ctrlPr>
                            <a:rPr lang="en-CN" i="1" smtClean="0">
                              <a:latin typeface="Cambria Math" panose="02040503050406030204" pitchFamily="18" charset="0"/>
                              <a:ea typeface="Cambria Math" panose="02040503050406030204" pitchFamily="18" charset="0"/>
                            </a:rPr>
                          </m:ctrlPr>
                        </m:sSupPr>
                        <m:e>
                          <m:d>
                            <m:dPr>
                              <m:ctrlPr>
                                <a:rPr lang="en-CN" i="1" smtClean="0">
                                  <a:latin typeface="Cambria Math" panose="02040503050406030204" pitchFamily="18" charset="0"/>
                                  <a:ea typeface="Cambria Math" panose="02040503050406030204" pitchFamily="18" charset="0"/>
                                </a:rPr>
                              </m:ctrlPr>
                            </m:dPr>
                            <m:e>
                              <m:f>
                                <m:fPr>
                                  <m:ctrlPr>
                                    <a:rPr lang="en-CN"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𝑚𝑈</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sSup>
                                    <m:sSupPr>
                                      <m:ctrlPr>
                                        <a:rPr lang="en-CN"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den>
                              </m:f>
                            </m:e>
                          </m:d>
                        </m:e>
                        <m:sup>
                          <m:f>
                            <m:fPr>
                              <m:ctrlPr>
                                <a:rPr lang="en-CN"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num>
                            <m:den>
                              <m:r>
                                <a:rPr lang="en-US" b="0" i="1" smtClean="0">
                                  <a:latin typeface="Cambria Math" panose="02040503050406030204" pitchFamily="18" charset="0"/>
                                  <a:ea typeface="Cambria Math" panose="02040503050406030204" pitchFamily="18" charset="0"/>
                                </a:rPr>
                                <m:t>2</m:t>
                              </m:r>
                            </m:den>
                          </m:f>
                        </m:sup>
                      </m:sSup>
                    </m:oMath>
                  </m:oMathPara>
                </a14:m>
                <a:endParaRPr lang="en-CN" dirty="0"/>
              </a:p>
            </p:txBody>
          </p:sp>
        </mc:Choice>
        <mc:Fallback xmlns="">
          <p:sp>
            <p:nvSpPr>
              <p:cNvPr id="5" name="TextBox 4">
                <a:extLst>
                  <a:ext uri="{FF2B5EF4-FFF2-40B4-BE49-F238E27FC236}">
                    <a16:creationId xmlns:a16="http://schemas.microsoft.com/office/drawing/2014/main" id="{EDA0994F-153D-5747-AD6C-759FAC3D35E2}"/>
                  </a:ext>
                </a:extLst>
              </p:cNvPr>
              <p:cNvSpPr txBox="1">
                <a:spLocks noRot="1" noChangeAspect="1" noMove="1" noResize="1" noEditPoints="1" noAdjustHandles="1" noChangeArrowheads="1" noChangeShapeType="1" noTextEdit="1"/>
              </p:cNvSpPr>
              <p:nvPr/>
            </p:nvSpPr>
            <p:spPr>
              <a:xfrm>
                <a:off x="2535382" y="655721"/>
                <a:ext cx="6747164" cy="1664943"/>
              </a:xfrm>
              <a:prstGeom prst="rect">
                <a:avLst/>
              </a:prstGeom>
              <a:blipFill>
                <a:blip r:embed="rId2"/>
                <a:stretch>
                  <a:fillRect/>
                </a:stretch>
              </a:blipFill>
            </p:spPr>
            <p:txBody>
              <a:bodyPr/>
              <a:lstStyle/>
              <a:p>
                <a:r>
                  <a:rPr lang="en-CN">
                    <a:noFill/>
                  </a:rPr>
                  <a:t> </a:t>
                </a:r>
              </a:p>
            </p:txBody>
          </p:sp>
        </mc:Fallback>
      </mc:AlternateContent>
      <p:sp>
        <p:nvSpPr>
          <p:cNvPr id="7" name="TextBox 6">
            <a:extLst>
              <a:ext uri="{FF2B5EF4-FFF2-40B4-BE49-F238E27FC236}">
                <a16:creationId xmlns:a16="http://schemas.microsoft.com/office/drawing/2014/main" id="{09564243-1DE1-8E4F-BBC6-DE38C08D6CE7}"/>
              </a:ext>
            </a:extLst>
          </p:cNvPr>
          <p:cNvSpPr txBox="1"/>
          <p:nvPr/>
        </p:nvSpPr>
        <p:spPr>
          <a:xfrm>
            <a:off x="401781" y="2505330"/>
            <a:ext cx="2133601" cy="369332"/>
          </a:xfrm>
          <a:prstGeom prst="rect">
            <a:avLst/>
          </a:prstGeom>
          <a:noFill/>
        </p:spPr>
        <p:txBody>
          <a:bodyPr wrap="square" rtlCol="0">
            <a:spAutoFit/>
          </a:bodyPr>
          <a:lstStyle/>
          <a:p>
            <a:r>
              <a:rPr lang="en-CN" dirty="0"/>
              <a:t>Entropy</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9697504-9028-4D4C-A588-AA85473A45C6}"/>
                  </a:ext>
                </a:extLst>
              </p:cNvPr>
              <p:cNvSpPr txBox="1"/>
              <p:nvPr/>
            </p:nvSpPr>
            <p:spPr>
              <a:xfrm>
                <a:off x="2133600" y="2874662"/>
                <a:ext cx="7315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𝑥</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e>
                          </m:func>
                        </m:e>
                      </m:func>
                    </m:oMath>
                  </m:oMathPara>
                </a14:m>
                <a:endParaRPr lang="en-CN" dirty="0"/>
              </a:p>
            </p:txBody>
          </p:sp>
        </mc:Choice>
        <mc:Fallback xmlns="">
          <p:sp>
            <p:nvSpPr>
              <p:cNvPr id="9" name="TextBox 8">
                <a:extLst>
                  <a:ext uri="{FF2B5EF4-FFF2-40B4-BE49-F238E27FC236}">
                    <a16:creationId xmlns:a16="http://schemas.microsoft.com/office/drawing/2014/main" id="{69697504-9028-4D4C-A588-AA85473A45C6}"/>
                  </a:ext>
                </a:extLst>
              </p:cNvPr>
              <p:cNvSpPr txBox="1">
                <a:spLocks noRot="1" noChangeAspect="1" noMove="1" noResize="1" noEditPoints="1" noAdjustHandles="1" noChangeArrowheads="1" noChangeShapeType="1" noTextEdit="1"/>
              </p:cNvSpPr>
              <p:nvPr/>
            </p:nvSpPr>
            <p:spPr>
              <a:xfrm>
                <a:off x="2133600" y="2874662"/>
                <a:ext cx="7315200" cy="369332"/>
              </a:xfrm>
              <a:prstGeom prst="rect">
                <a:avLst/>
              </a:prstGeom>
              <a:blipFill>
                <a:blip r:embed="rId3"/>
                <a:stretch>
                  <a:fillRect b="-13333"/>
                </a:stretch>
              </a:blipFill>
            </p:spPr>
            <p:txBody>
              <a:bodyPr/>
              <a:lstStyle/>
              <a:p>
                <a:r>
                  <a:rPr lang="en-CN">
                    <a:noFill/>
                  </a:rPr>
                  <a:t> </a:t>
                </a:r>
              </a:p>
            </p:txBody>
          </p:sp>
        </mc:Fallback>
      </mc:AlternateContent>
      <p:sp>
        <p:nvSpPr>
          <p:cNvPr id="10" name="Down Arrow 9">
            <a:extLst>
              <a:ext uri="{FF2B5EF4-FFF2-40B4-BE49-F238E27FC236}">
                <a16:creationId xmlns:a16="http://schemas.microsoft.com/office/drawing/2014/main" id="{68AFC6EC-A42A-7246-8EA6-C018224CC844}"/>
              </a:ext>
            </a:extLst>
          </p:cNvPr>
          <p:cNvSpPr/>
          <p:nvPr/>
        </p:nvSpPr>
        <p:spPr>
          <a:xfrm>
            <a:off x="5514108" y="3429000"/>
            <a:ext cx="394856" cy="3948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CD2E5FC-EE52-8D40-AE44-F950593182EF}"/>
                  </a:ext>
                </a:extLst>
              </p:cNvPr>
              <p:cNvSpPr txBox="1"/>
              <p:nvPr/>
            </p:nvSpPr>
            <p:spPr>
              <a:xfrm>
                <a:off x="2514599" y="4155143"/>
                <a:ext cx="5687292" cy="746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𝑁</m:t>
                                          </m:r>
                                        </m:e>
                                        <m:sup>
                                          <m:r>
                                            <a:rPr lang="en-US" b="0" i="1" smtClean="0">
                                              <a:solidFill>
                                                <a:srgbClr val="7030A0"/>
                                              </a:solidFill>
                                              <a:latin typeface="Cambria Math" panose="02040503050406030204" pitchFamily="18" charset="0"/>
                                              <a:ea typeface="Cambria Math" panose="02040503050406030204" pitchFamily="18" charset="0"/>
                                            </a:rPr>
                                            <m:t>𝑥</m:t>
                                          </m:r>
                                        </m:sup>
                                      </m:sSup>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p>
                                      <m:r>
                                        <a:rPr lang="en-US" b="0" i="1" smtClean="0">
                                          <a:latin typeface="Cambria Math" panose="02040503050406030204" pitchFamily="18" charset="0"/>
                                          <a:ea typeface="Cambria Math" panose="02040503050406030204" pitchFamily="18" charset="0"/>
                                        </a:rPr>
                                        <m:t>3/2</m:t>
                                      </m:r>
                                    </m:sup>
                                  </m:sSup>
                                </m:e>
                              </m:d>
                            </m:e>
                          </m:func>
                        </m:e>
                      </m:d>
                    </m:oMath>
                  </m:oMathPara>
                </a14:m>
                <a:endParaRPr lang="en-CN" dirty="0"/>
              </a:p>
            </p:txBody>
          </p:sp>
        </mc:Choice>
        <mc:Fallback xmlns="">
          <p:sp>
            <p:nvSpPr>
              <p:cNvPr id="13" name="TextBox 12">
                <a:extLst>
                  <a:ext uri="{FF2B5EF4-FFF2-40B4-BE49-F238E27FC236}">
                    <a16:creationId xmlns:a16="http://schemas.microsoft.com/office/drawing/2014/main" id="{5CD2E5FC-EE52-8D40-AE44-F950593182EF}"/>
                  </a:ext>
                </a:extLst>
              </p:cNvPr>
              <p:cNvSpPr txBox="1">
                <a:spLocks noRot="1" noChangeAspect="1" noMove="1" noResize="1" noEditPoints="1" noAdjustHandles="1" noChangeArrowheads="1" noChangeShapeType="1" noTextEdit="1"/>
              </p:cNvSpPr>
              <p:nvPr/>
            </p:nvSpPr>
            <p:spPr>
              <a:xfrm>
                <a:off x="2514599" y="4155143"/>
                <a:ext cx="5687292" cy="746679"/>
              </a:xfrm>
              <a:prstGeom prst="rect">
                <a:avLst/>
              </a:prstGeom>
              <a:blipFill>
                <a:blip r:embed="rId4"/>
                <a:stretch>
                  <a:fillRect b="-6780"/>
                </a:stretch>
              </a:blipFill>
            </p:spPr>
            <p:txBody>
              <a:bodyPr/>
              <a:lstStyle/>
              <a:p>
                <a:r>
                  <a:rPr lang="en-CN">
                    <a:noFill/>
                  </a:rPr>
                  <a:t> </a:t>
                </a:r>
              </a:p>
            </p:txBody>
          </p:sp>
        </mc:Fallback>
      </mc:AlternateContent>
      <p:sp>
        <p:nvSpPr>
          <p:cNvPr id="15" name="TextBox 14">
            <a:extLst>
              <a:ext uri="{FF2B5EF4-FFF2-40B4-BE49-F238E27FC236}">
                <a16:creationId xmlns:a16="http://schemas.microsoft.com/office/drawing/2014/main" id="{9FCD5EB8-3E4B-BF42-ACCD-58709F6E93D7}"/>
              </a:ext>
            </a:extLst>
          </p:cNvPr>
          <p:cNvSpPr txBox="1"/>
          <p:nvPr/>
        </p:nvSpPr>
        <p:spPr>
          <a:xfrm>
            <a:off x="401781" y="5617504"/>
            <a:ext cx="5320146" cy="584775"/>
          </a:xfrm>
          <a:prstGeom prst="rect">
            <a:avLst/>
          </a:prstGeom>
          <a:noFill/>
        </p:spPr>
        <p:txBody>
          <a:bodyPr wrap="square" rtlCol="0">
            <a:spAutoFit/>
          </a:bodyPr>
          <a:lstStyle/>
          <a:p>
            <a:r>
              <a:rPr lang="en-US" sz="3200" dirty="0"/>
              <a:t>x=1: Sackur-Tetrode equation</a:t>
            </a:r>
            <a:endParaRPr lang="en-CN" sz="3200" dirty="0"/>
          </a:p>
        </p:txBody>
      </p:sp>
      <p:sp>
        <p:nvSpPr>
          <p:cNvPr id="17" name="Left Brace 16">
            <a:extLst>
              <a:ext uri="{FF2B5EF4-FFF2-40B4-BE49-F238E27FC236}">
                <a16:creationId xmlns:a16="http://schemas.microsoft.com/office/drawing/2014/main" id="{421979E2-948F-644E-8C39-22E4AD38380F}"/>
              </a:ext>
            </a:extLst>
          </p:cNvPr>
          <p:cNvSpPr/>
          <p:nvPr/>
        </p:nvSpPr>
        <p:spPr>
          <a:xfrm>
            <a:off x="8298874" y="3615067"/>
            <a:ext cx="983672" cy="18538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91AB4B6-1268-BC4E-BF81-13DF99A91726}"/>
                  </a:ext>
                </a:extLst>
              </p:cNvPr>
              <p:cNvSpPr txBox="1"/>
              <p:nvPr/>
            </p:nvSpPr>
            <p:spPr>
              <a:xfrm>
                <a:off x="9130145" y="3688116"/>
                <a:ext cx="3435928" cy="1707712"/>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m:t>
                                </m:r>
                                <m:r>
                                  <a:rPr lang="en-US" b="0" i="1" smtClean="0">
                                    <a:latin typeface="Cambria Math" panose="02040503050406030204" pitchFamily="18" charset="0"/>
                                  </a:rPr>
                                  <m:t>𝑈</m:t>
                                </m:r>
                              </m:den>
                            </m:f>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𝑉</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𝑈</m:t>
                        </m:r>
                      </m:den>
                    </m:f>
                  </m:oMath>
                </a14:m>
                <a:endParaRPr lang="en-CN" dirty="0"/>
              </a:p>
              <a:p>
                <a:r>
                  <a:rPr lang="en-CN" dirty="0"/>
                  <a:t>            </a:t>
                </a:r>
                <a14:m>
                  <m:oMath xmlns:m="http://schemas.openxmlformats.org/officeDocument/2006/math">
                    <m:r>
                      <a:rPr lang="en-US" b="0" i="1" smtClean="0">
                        <a:solidFill>
                          <a:srgbClr val="FF0000"/>
                        </a:solidFill>
                        <a:latin typeface="Cambria Math" panose="02040503050406030204" pitchFamily="18" charset="0"/>
                      </a:rPr>
                      <m:t>𝑈</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num>
                      <m:den>
                        <m:r>
                          <a:rPr lang="en-US" b="0" i="1" smtClean="0">
                            <a:solidFill>
                              <a:srgbClr val="FF0000"/>
                            </a:solidFill>
                            <a:latin typeface="Cambria Math" panose="02040503050406030204" pitchFamily="18" charset="0"/>
                          </a:rPr>
                          <m:t>2</m:t>
                        </m:r>
                      </m:den>
                    </m:f>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𝜏</m:t>
                    </m:r>
                  </m:oMath>
                </a14:m>
                <a:r>
                  <a:rPr lang="en-CN" dirty="0"/>
                  <a:t> </a:t>
                </a:r>
              </a:p>
              <a:p>
                <a:pPr marL="285750" indent="-285750">
                  <a:buFont typeface="Arial" panose="020B0604020202020204" pitchFamily="34" charset="0"/>
                  <a:buChar char="•"/>
                </a:pPr>
                <a14:m>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𝑝</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den>
                            </m:f>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𝑈</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𝑉</m:t>
                        </m:r>
                      </m:den>
                    </m:f>
                  </m:oMath>
                </a14:m>
                <a:endParaRPr lang="en-CN" dirty="0"/>
              </a:p>
              <a:p>
                <a:r>
                  <a:rPr lang="en-CN" dirty="0"/>
                  <a:t>            </a:t>
                </a:r>
                <a14:m>
                  <m:oMath xmlns:m="http://schemas.openxmlformats.org/officeDocument/2006/math">
                    <m:r>
                      <a:rPr lang="en-US" b="0" i="1" smtClean="0">
                        <a:solidFill>
                          <a:srgbClr val="FF0000"/>
                        </a:solidFill>
                        <a:latin typeface="Cambria Math" panose="02040503050406030204" pitchFamily="18" charset="0"/>
                      </a:rPr>
                      <m:t>𝑃𝑉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ea typeface="Cambria Math" panose="02040503050406030204" pitchFamily="18" charset="0"/>
                      </a:rPr>
                      <m:t>𝜏</m:t>
                    </m:r>
                  </m:oMath>
                </a14:m>
                <a:endParaRPr lang="en-CN" dirty="0"/>
              </a:p>
            </p:txBody>
          </p:sp>
        </mc:Choice>
        <mc:Fallback xmlns="">
          <p:sp>
            <p:nvSpPr>
              <p:cNvPr id="24" name="TextBox 23">
                <a:extLst>
                  <a:ext uri="{FF2B5EF4-FFF2-40B4-BE49-F238E27FC236}">
                    <a16:creationId xmlns:a16="http://schemas.microsoft.com/office/drawing/2014/main" id="{491AB4B6-1268-BC4E-BF81-13DF99A91726}"/>
                  </a:ext>
                </a:extLst>
              </p:cNvPr>
              <p:cNvSpPr txBox="1">
                <a:spLocks noRot="1" noChangeAspect="1" noMove="1" noResize="1" noEditPoints="1" noAdjustHandles="1" noChangeArrowheads="1" noChangeShapeType="1" noTextEdit="1"/>
              </p:cNvSpPr>
              <p:nvPr/>
            </p:nvSpPr>
            <p:spPr>
              <a:xfrm>
                <a:off x="9130145" y="3688116"/>
                <a:ext cx="3435928" cy="1707712"/>
              </a:xfrm>
              <a:prstGeom prst="rect">
                <a:avLst/>
              </a:prstGeom>
              <a:blipFill>
                <a:blip r:embed="rId5"/>
                <a:stretch>
                  <a:fillRect l="-1476"/>
                </a:stretch>
              </a:blipFill>
            </p:spPr>
            <p:txBody>
              <a:bodyPr/>
              <a:lstStyle/>
              <a:p>
                <a:r>
                  <a:rPr lang="en-CN">
                    <a:noFill/>
                  </a:rPr>
                  <a:t> </a:t>
                </a:r>
              </a:p>
            </p:txBody>
          </p:sp>
        </mc:Fallback>
      </mc:AlternateContent>
      <p:sp>
        <p:nvSpPr>
          <p:cNvPr id="25" name="Right Arrow 24">
            <a:extLst>
              <a:ext uri="{FF2B5EF4-FFF2-40B4-BE49-F238E27FC236}">
                <a16:creationId xmlns:a16="http://schemas.microsoft.com/office/drawing/2014/main" id="{DB0F944F-3B9B-E34F-932F-53E6543CC818}"/>
              </a:ext>
            </a:extLst>
          </p:cNvPr>
          <p:cNvSpPr/>
          <p:nvPr/>
        </p:nvSpPr>
        <p:spPr>
          <a:xfrm>
            <a:off x="7467600" y="4514627"/>
            <a:ext cx="831274" cy="1266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TextBox 13">
            <a:extLst>
              <a:ext uri="{FF2B5EF4-FFF2-40B4-BE49-F238E27FC236}">
                <a16:creationId xmlns:a16="http://schemas.microsoft.com/office/drawing/2014/main" id="{5B7B1B90-32DD-F242-ADD8-02CBA687B4A6}"/>
              </a:ext>
            </a:extLst>
          </p:cNvPr>
          <p:cNvSpPr txBox="1"/>
          <p:nvPr/>
        </p:nvSpPr>
        <p:spPr>
          <a:xfrm>
            <a:off x="0" y="9390"/>
            <a:ext cx="6283036" cy="369332"/>
          </a:xfrm>
          <a:prstGeom prst="rect">
            <a:avLst/>
          </a:prstGeom>
          <a:noFill/>
        </p:spPr>
        <p:txBody>
          <a:bodyPr wrap="square">
            <a:spAutoFit/>
          </a:bodyPr>
          <a:lstStyle/>
          <a:p>
            <a:pPr marL="342900" indent="-342900"/>
            <a:r>
              <a:rPr lang="en-CN" sz="1800" dirty="0">
                <a:latin typeface="FangSong" panose="02010609060101010101" pitchFamily="49" charset="-122"/>
                <a:ea typeface="FangSong" panose="02010609060101010101" pitchFamily="49" charset="-122"/>
              </a:rPr>
              <a:t>理想气体的熵一</a:t>
            </a:r>
          </a:p>
        </p:txBody>
      </p:sp>
    </p:spTree>
    <p:extLst>
      <p:ext uri="{BB962C8B-B14F-4D97-AF65-F5344CB8AC3E}">
        <p14:creationId xmlns:p14="http://schemas.microsoft.com/office/powerpoint/2010/main" val="38580083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E58DD5-1443-C243-BA8C-14D5AB64CEAE}"/>
              </a:ext>
            </a:extLst>
          </p:cNvPr>
          <p:cNvSpPr txBox="1"/>
          <p:nvPr/>
        </p:nvSpPr>
        <p:spPr>
          <a:xfrm>
            <a:off x="401781" y="471055"/>
            <a:ext cx="5112327" cy="369332"/>
          </a:xfrm>
          <a:prstGeom prst="rect">
            <a:avLst/>
          </a:prstGeom>
          <a:noFill/>
        </p:spPr>
        <p:txBody>
          <a:bodyPr wrap="square" rtlCol="0">
            <a:spAutoFit/>
          </a:bodyPr>
          <a:lstStyle/>
          <a:p>
            <a:r>
              <a:rPr lang="en-US" dirty="0"/>
              <a:t>R</a:t>
            </a:r>
            <a:r>
              <a:rPr lang="en-CN" dirty="0"/>
              <a:t>eview(N,V,U) (</a:t>
            </a:r>
            <a:r>
              <a:rPr lang="en-CN" dirty="0">
                <a:solidFill>
                  <a:srgbClr val="FF0000"/>
                </a:solidFill>
              </a:rPr>
              <a:t>孤立系</a:t>
            </a:r>
            <a:r>
              <a:rPr lang="en-CN" dirty="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A0994F-153D-5747-AD6C-759FAC3D35E2}"/>
                  </a:ext>
                </a:extLst>
              </p:cNvPr>
              <p:cNvSpPr txBox="1"/>
              <p:nvPr/>
            </p:nvSpPr>
            <p:spPr>
              <a:xfrm>
                <a:off x="2535382" y="655721"/>
                <a:ext cx="6747164" cy="16649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𝑁</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3</m:t>
                              </m:r>
                              <m:r>
                                <a:rPr lang="en-US" b="0" i="1" smtClean="0">
                                  <a:latin typeface="Cambria Math" panose="02040503050406030204" pitchFamily="18" charset="0"/>
                                </a:rPr>
                                <m:t>𝑁</m:t>
                              </m:r>
                            </m:sup>
                          </m:sSup>
                        </m:den>
                      </m:f>
                      <m:f>
                        <m:fPr>
                          <m:ctrlPr>
                            <a:rPr lang="en-US" b="0" i="1" smtClean="0">
                              <a:latin typeface="Cambria Math" panose="02040503050406030204" pitchFamily="18" charset="0"/>
                            </a:rPr>
                          </m:ctrlPr>
                        </m:fPr>
                        <m:num>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3</m:t>
                              </m:r>
                              <m:r>
                                <a:rPr lang="en-US" b="0" i="1" smtClean="0">
                                  <a:latin typeface="Cambria Math" panose="02040503050406030204" pitchFamily="18" charset="0"/>
                                </a:rPr>
                                <m:t>𝑁</m:t>
                              </m:r>
                              <m:r>
                                <a:rPr lang="en-US" b="0" i="1" smtClean="0">
                                  <a:latin typeface="Cambria Math" panose="02040503050406030204" pitchFamily="18" charset="0"/>
                                </a:rPr>
                                <m:t>/2</m:t>
                              </m:r>
                            </m:sup>
                          </m:sSup>
                        </m:num>
                        <m:den>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3</m:t>
                                  </m:r>
                                  <m:r>
                                    <a:rPr lang="en-US" b="0" i="1" smtClean="0">
                                      <a:latin typeface="Cambria Math" panose="02040503050406030204" pitchFamily="18" charset="0"/>
                                    </a:rPr>
                                    <m:t>𝑁</m:t>
                                  </m:r>
                                </m:num>
                                <m:den>
                                  <m:r>
                                    <a:rPr lang="en-US" b="0" i="1" smtClean="0">
                                      <a:latin typeface="Cambria Math" panose="02040503050406030204" pitchFamily="18" charset="0"/>
                                    </a:rPr>
                                    <m:t>2</m:t>
                                  </m:r>
                                </m:den>
                              </m:f>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e>
                          </m:d>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𝑚𝑈</m:t>
                                  </m:r>
                                </m:e>
                              </m:rad>
                            </m:e>
                          </m:d>
                        </m:e>
                        <m:sup>
                          <m:r>
                            <a:rPr lang="en-US" b="0" i="1" smtClean="0">
                              <a:latin typeface="Cambria Math" panose="02040503050406030204" pitchFamily="18" charset="0"/>
                            </a:rPr>
                            <m:t>3</m:t>
                          </m:r>
                          <m:r>
                            <a:rPr lang="en-US" b="0" i="1" smtClean="0">
                              <a:latin typeface="Cambria Math" panose="02040503050406030204" pitchFamily="18" charset="0"/>
                            </a:rPr>
                            <m:t>𝑁</m:t>
                          </m:r>
                          <m:r>
                            <a:rPr lang="en-US" b="0" i="1" smtClean="0">
                              <a:latin typeface="Cambria Math" panose="02040503050406030204" pitchFamily="18" charset="0"/>
                            </a:rPr>
                            <m:t>−1</m:t>
                          </m:r>
                        </m:sup>
                      </m:sSup>
                    </m:oMath>
                  </m:oMathPara>
                </a14:m>
                <a:endParaRPr lang="en-CN" dirty="0"/>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f>
                        <m:fPr>
                          <m:ctrlPr>
                            <a:rPr lang="en-CN"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den>
                      </m:f>
                      <m:f>
                        <m:fPr>
                          <m:ctrlPr>
                            <a:rPr lang="en-CN" i="1" smtClean="0">
                              <a:latin typeface="Cambria Math" panose="02040503050406030204" pitchFamily="18" charset="0"/>
                              <a:ea typeface="Cambria Math" panose="02040503050406030204" pitchFamily="18" charset="0"/>
                            </a:rPr>
                          </m:ctrlPr>
                        </m:fPr>
                        <m:num>
                          <m:sSup>
                            <m:sSupPr>
                              <m:ctrlPr>
                                <a:rPr lang="en-CN"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𝑁</m:t>
                              </m:r>
                            </m:sup>
                          </m:sSup>
                        </m:num>
                        <m:den>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m:t>
                          </m:r>
                        </m:den>
                      </m:f>
                      <m:sSup>
                        <m:sSupPr>
                          <m:ctrlPr>
                            <a:rPr lang="en-CN" i="1" smtClean="0">
                              <a:latin typeface="Cambria Math" panose="02040503050406030204" pitchFamily="18" charset="0"/>
                              <a:ea typeface="Cambria Math" panose="02040503050406030204" pitchFamily="18" charset="0"/>
                            </a:rPr>
                          </m:ctrlPr>
                        </m:sSupPr>
                        <m:e>
                          <m:d>
                            <m:dPr>
                              <m:ctrlPr>
                                <a:rPr lang="en-CN" i="1" smtClean="0">
                                  <a:latin typeface="Cambria Math" panose="02040503050406030204" pitchFamily="18" charset="0"/>
                                  <a:ea typeface="Cambria Math" panose="02040503050406030204" pitchFamily="18" charset="0"/>
                                </a:rPr>
                              </m:ctrlPr>
                            </m:dPr>
                            <m:e>
                              <m:f>
                                <m:fPr>
                                  <m:ctrlPr>
                                    <a:rPr lang="en-CN"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𝑚𝑈</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sSup>
                                    <m:sSupPr>
                                      <m:ctrlPr>
                                        <a:rPr lang="en-CN"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den>
                              </m:f>
                            </m:e>
                          </m:d>
                        </m:e>
                        <m:sup>
                          <m:f>
                            <m:fPr>
                              <m:ctrlPr>
                                <a:rPr lang="en-CN"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num>
                            <m:den>
                              <m:r>
                                <a:rPr lang="en-US" b="0" i="1" smtClean="0">
                                  <a:latin typeface="Cambria Math" panose="02040503050406030204" pitchFamily="18" charset="0"/>
                                  <a:ea typeface="Cambria Math" panose="02040503050406030204" pitchFamily="18" charset="0"/>
                                </a:rPr>
                                <m:t>2</m:t>
                              </m:r>
                            </m:den>
                          </m:f>
                        </m:sup>
                      </m:sSup>
                    </m:oMath>
                  </m:oMathPara>
                </a14:m>
                <a:endParaRPr lang="en-CN" dirty="0"/>
              </a:p>
            </p:txBody>
          </p:sp>
        </mc:Choice>
        <mc:Fallback xmlns="">
          <p:sp>
            <p:nvSpPr>
              <p:cNvPr id="5" name="TextBox 4">
                <a:extLst>
                  <a:ext uri="{FF2B5EF4-FFF2-40B4-BE49-F238E27FC236}">
                    <a16:creationId xmlns:a16="http://schemas.microsoft.com/office/drawing/2014/main" id="{EDA0994F-153D-5747-AD6C-759FAC3D35E2}"/>
                  </a:ext>
                </a:extLst>
              </p:cNvPr>
              <p:cNvSpPr txBox="1">
                <a:spLocks noRot="1" noChangeAspect="1" noMove="1" noResize="1" noEditPoints="1" noAdjustHandles="1" noChangeArrowheads="1" noChangeShapeType="1" noTextEdit="1"/>
              </p:cNvSpPr>
              <p:nvPr/>
            </p:nvSpPr>
            <p:spPr>
              <a:xfrm>
                <a:off x="2535382" y="655721"/>
                <a:ext cx="6747164" cy="1664943"/>
              </a:xfrm>
              <a:prstGeom prst="rect">
                <a:avLst/>
              </a:prstGeom>
              <a:blipFill>
                <a:blip r:embed="rId2"/>
                <a:stretch>
                  <a:fillRect/>
                </a:stretch>
              </a:blipFill>
            </p:spPr>
            <p:txBody>
              <a:bodyPr/>
              <a:lstStyle/>
              <a:p>
                <a:r>
                  <a:rPr lang="en-CN">
                    <a:noFill/>
                  </a:rPr>
                  <a:t> </a:t>
                </a:r>
              </a:p>
            </p:txBody>
          </p:sp>
        </mc:Fallback>
      </mc:AlternateContent>
      <p:sp>
        <p:nvSpPr>
          <p:cNvPr id="7" name="TextBox 6">
            <a:extLst>
              <a:ext uri="{FF2B5EF4-FFF2-40B4-BE49-F238E27FC236}">
                <a16:creationId xmlns:a16="http://schemas.microsoft.com/office/drawing/2014/main" id="{09564243-1DE1-8E4F-BBC6-DE38C08D6CE7}"/>
              </a:ext>
            </a:extLst>
          </p:cNvPr>
          <p:cNvSpPr txBox="1"/>
          <p:nvPr/>
        </p:nvSpPr>
        <p:spPr>
          <a:xfrm>
            <a:off x="401781" y="2505330"/>
            <a:ext cx="2133601" cy="369332"/>
          </a:xfrm>
          <a:prstGeom prst="rect">
            <a:avLst/>
          </a:prstGeom>
          <a:noFill/>
        </p:spPr>
        <p:txBody>
          <a:bodyPr wrap="square" rtlCol="0">
            <a:spAutoFit/>
          </a:bodyPr>
          <a:lstStyle/>
          <a:p>
            <a:r>
              <a:rPr lang="en-CN" dirty="0"/>
              <a:t>Entropy</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9697504-9028-4D4C-A588-AA85473A45C6}"/>
                  </a:ext>
                </a:extLst>
              </p:cNvPr>
              <p:cNvSpPr txBox="1"/>
              <p:nvPr/>
            </p:nvSpPr>
            <p:spPr>
              <a:xfrm>
                <a:off x="2133600" y="2874662"/>
                <a:ext cx="7315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𝑥</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e>
                          </m:func>
                        </m:e>
                      </m:func>
                    </m:oMath>
                  </m:oMathPara>
                </a14:m>
                <a:endParaRPr lang="en-CN" dirty="0"/>
              </a:p>
            </p:txBody>
          </p:sp>
        </mc:Choice>
        <mc:Fallback xmlns="">
          <p:sp>
            <p:nvSpPr>
              <p:cNvPr id="9" name="TextBox 8">
                <a:extLst>
                  <a:ext uri="{FF2B5EF4-FFF2-40B4-BE49-F238E27FC236}">
                    <a16:creationId xmlns:a16="http://schemas.microsoft.com/office/drawing/2014/main" id="{69697504-9028-4D4C-A588-AA85473A45C6}"/>
                  </a:ext>
                </a:extLst>
              </p:cNvPr>
              <p:cNvSpPr txBox="1">
                <a:spLocks noRot="1" noChangeAspect="1" noMove="1" noResize="1" noEditPoints="1" noAdjustHandles="1" noChangeArrowheads="1" noChangeShapeType="1" noTextEdit="1"/>
              </p:cNvSpPr>
              <p:nvPr/>
            </p:nvSpPr>
            <p:spPr>
              <a:xfrm>
                <a:off x="2133600" y="2874662"/>
                <a:ext cx="7315200" cy="369332"/>
              </a:xfrm>
              <a:prstGeom prst="rect">
                <a:avLst/>
              </a:prstGeom>
              <a:blipFill>
                <a:blip r:embed="rId3"/>
                <a:stretch>
                  <a:fillRect b="-13333"/>
                </a:stretch>
              </a:blipFill>
            </p:spPr>
            <p:txBody>
              <a:bodyPr/>
              <a:lstStyle/>
              <a:p>
                <a:r>
                  <a:rPr lang="en-CN">
                    <a:noFill/>
                  </a:rPr>
                  <a:t> </a:t>
                </a:r>
              </a:p>
            </p:txBody>
          </p:sp>
        </mc:Fallback>
      </mc:AlternateContent>
      <p:sp>
        <p:nvSpPr>
          <p:cNvPr id="10" name="Down Arrow 9">
            <a:extLst>
              <a:ext uri="{FF2B5EF4-FFF2-40B4-BE49-F238E27FC236}">
                <a16:creationId xmlns:a16="http://schemas.microsoft.com/office/drawing/2014/main" id="{68AFC6EC-A42A-7246-8EA6-C018224CC844}"/>
              </a:ext>
            </a:extLst>
          </p:cNvPr>
          <p:cNvSpPr/>
          <p:nvPr/>
        </p:nvSpPr>
        <p:spPr>
          <a:xfrm>
            <a:off x="5514108" y="3429000"/>
            <a:ext cx="394856" cy="3948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CD2E5FC-EE52-8D40-AE44-F950593182EF}"/>
                  </a:ext>
                </a:extLst>
              </p:cNvPr>
              <p:cNvSpPr txBox="1"/>
              <p:nvPr/>
            </p:nvSpPr>
            <p:spPr>
              <a:xfrm>
                <a:off x="2514599" y="4155143"/>
                <a:ext cx="5687292" cy="746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𝑁</m:t>
                                          </m:r>
                                        </m:e>
                                        <m:sup>
                                          <m:r>
                                            <a:rPr lang="en-US" b="0" i="1" smtClean="0">
                                              <a:solidFill>
                                                <a:srgbClr val="7030A0"/>
                                              </a:solidFill>
                                              <a:latin typeface="Cambria Math" panose="02040503050406030204" pitchFamily="18" charset="0"/>
                                              <a:ea typeface="Cambria Math" panose="02040503050406030204" pitchFamily="18" charset="0"/>
                                            </a:rPr>
                                            <m:t>𝑥</m:t>
                                          </m:r>
                                        </m:sup>
                                      </m:sSup>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p>
                                      <m:r>
                                        <a:rPr lang="en-US" b="0" i="1" smtClean="0">
                                          <a:latin typeface="Cambria Math" panose="02040503050406030204" pitchFamily="18" charset="0"/>
                                          <a:ea typeface="Cambria Math" panose="02040503050406030204" pitchFamily="18" charset="0"/>
                                        </a:rPr>
                                        <m:t>3/2</m:t>
                                      </m:r>
                                    </m:sup>
                                  </m:sSup>
                                </m:e>
                              </m:d>
                            </m:e>
                          </m:func>
                        </m:e>
                      </m:d>
                    </m:oMath>
                  </m:oMathPara>
                </a14:m>
                <a:endParaRPr lang="en-CN" dirty="0"/>
              </a:p>
            </p:txBody>
          </p:sp>
        </mc:Choice>
        <mc:Fallback xmlns="">
          <p:sp>
            <p:nvSpPr>
              <p:cNvPr id="13" name="TextBox 12">
                <a:extLst>
                  <a:ext uri="{FF2B5EF4-FFF2-40B4-BE49-F238E27FC236}">
                    <a16:creationId xmlns:a16="http://schemas.microsoft.com/office/drawing/2014/main" id="{5CD2E5FC-EE52-8D40-AE44-F950593182EF}"/>
                  </a:ext>
                </a:extLst>
              </p:cNvPr>
              <p:cNvSpPr txBox="1">
                <a:spLocks noRot="1" noChangeAspect="1" noMove="1" noResize="1" noEditPoints="1" noAdjustHandles="1" noChangeArrowheads="1" noChangeShapeType="1" noTextEdit="1"/>
              </p:cNvSpPr>
              <p:nvPr/>
            </p:nvSpPr>
            <p:spPr>
              <a:xfrm>
                <a:off x="2514599" y="4155143"/>
                <a:ext cx="5687292" cy="746679"/>
              </a:xfrm>
              <a:prstGeom prst="rect">
                <a:avLst/>
              </a:prstGeom>
              <a:blipFill>
                <a:blip r:embed="rId4"/>
                <a:stretch>
                  <a:fillRect b="-6780"/>
                </a:stretch>
              </a:blipFill>
            </p:spPr>
            <p:txBody>
              <a:bodyPr/>
              <a:lstStyle/>
              <a:p>
                <a:r>
                  <a:rPr lang="en-CN">
                    <a:noFill/>
                  </a:rPr>
                  <a:t> </a:t>
                </a:r>
              </a:p>
            </p:txBody>
          </p:sp>
        </mc:Fallback>
      </mc:AlternateContent>
      <p:sp>
        <p:nvSpPr>
          <p:cNvPr id="15" name="TextBox 14">
            <a:extLst>
              <a:ext uri="{FF2B5EF4-FFF2-40B4-BE49-F238E27FC236}">
                <a16:creationId xmlns:a16="http://schemas.microsoft.com/office/drawing/2014/main" id="{9FCD5EB8-3E4B-BF42-ACCD-58709F6E93D7}"/>
              </a:ext>
            </a:extLst>
          </p:cNvPr>
          <p:cNvSpPr txBox="1"/>
          <p:nvPr/>
        </p:nvSpPr>
        <p:spPr>
          <a:xfrm>
            <a:off x="401781" y="5103440"/>
            <a:ext cx="5320146" cy="584775"/>
          </a:xfrm>
          <a:prstGeom prst="rect">
            <a:avLst/>
          </a:prstGeom>
          <a:noFill/>
        </p:spPr>
        <p:txBody>
          <a:bodyPr wrap="square" rtlCol="0">
            <a:spAutoFit/>
          </a:bodyPr>
          <a:lstStyle/>
          <a:p>
            <a:r>
              <a:rPr lang="en-US" sz="3200" dirty="0"/>
              <a:t>x=1: Sackur-Tetrode equation</a:t>
            </a:r>
            <a:endParaRPr lang="en-CN" sz="3200" dirty="0"/>
          </a:p>
        </p:txBody>
      </p:sp>
      <p:sp>
        <p:nvSpPr>
          <p:cNvPr id="17" name="Left Brace 16">
            <a:extLst>
              <a:ext uri="{FF2B5EF4-FFF2-40B4-BE49-F238E27FC236}">
                <a16:creationId xmlns:a16="http://schemas.microsoft.com/office/drawing/2014/main" id="{421979E2-948F-644E-8C39-22E4AD38380F}"/>
              </a:ext>
            </a:extLst>
          </p:cNvPr>
          <p:cNvSpPr/>
          <p:nvPr/>
        </p:nvSpPr>
        <p:spPr>
          <a:xfrm>
            <a:off x="8298874" y="3615067"/>
            <a:ext cx="983672" cy="18538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91AB4B6-1268-BC4E-BF81-13DF99A91726}"/>
                  </a:ext>
                </a:extLst>
              </p:cNvPr>
              <p:cNvSpPr txBox="1"/>
              <p:nvPr/>
            </p:nvSpPr>
            <p:spPr>
              <a:xfrm>
                <a:off x="9130145" y="3688116"/>
                <a:ext cx="3435928" cy="1707712"/>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m:t>
                                </m:r>
                                <m:r>
                                  <a:rPr lang="en-US" b="0" i="1" smtClean="0">
                                    <a:latin typeface="Cambria Math" panose="02040503050406030204" pitchFamily="18" charset="0"/>
                                  </a:rPr>
                                  <m:t>𝑈</m:t>
                                </m:r>
                              </m:den>
                            </m:f>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𝑉</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𝑈</m:t>
                        </m:r>
                      </m:den>
                    </m:f>
                  </m:oMath>
                </a14:m>
                <a:endParaRPr lang="en-CN" dirty="0"/>
              </a:p>
              <a:p>
                <a:r>
                  <a:rPr lang="en-CN" dirty="0"/>
                  <a:t>            </a:t>
                </a:r>
                <a14:m>
                  <m:oMath xmlns:m="http://schemas.openxmlformats.org/officeDocument/2006/math">
                    <m:r>
                      <a:rPr lang="en-US" b="0" i="1" smtClean="0">
                        <a:solidFill>
                          <a:srgbClr val="FF0000"/>
                        </a:solidFill>
                        <a:latin typeface="Cambria Math" panose="02040503050406030204" pitchFamily="18" charset="0"/>
                      </a:rPr>
                      <m:t>𝑈</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num>
                      <m:den>
                        <m:r>
                          <a:rPr lang="en-US" b="0" i="1" smtClean="0">
                            <a:solidFill>
                              <a:srgbClr val="FF0000"/>
                            </a:solidFill>
                            <a:latin typeface="Cambria Math" panose="02040503050406030204" pitchFamily="18" charset="0"/>
                          </a:rPr>
                          <m:t>2</m:t>
                        </m:r>
                      </m:den>
                    </m:f>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𝜏</m:t>
                    </m:r>
                  </m:oMath>
                </a14:m>
                <a:r>
                  <a:rPr lang="en-CN" dirty="0"/>
                  <a:t> </a:t>
                </a:r>
              </a:p>
              <a:p>
                <a:pPr marL="285750" indent="-285750">
                  <a:buFont typeface="Arial" panose="020B0604020202020204" pitchFamily="34" charset="0"/>
                  <a:buChar char="•"/>
                </a:pPr>
                <a14:m>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𝑝</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den>
                            </m:f>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𝑈</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𝑉</m:t>
                        </m:r>
                      </m:den>
                    </m:f>
                  </m:oMath>
                </a14:m>
                <a:endParaRPr lang="en-CN" dirty="0"/>
              </a:p>
              <a:p>
                <a:r>
                  <a:rPr lang="en-CN" dirty="0"/>
                  <a:t>            </a:t>
                </a:r>
                <a14:m>
                  <m:oMath xmlns:m="http://schemas.openxmlformats.org/officeDocument/2006/math">
                    <m:r>
                      <a:rPr lang="en-US" b="0" i="1" smtClean="0">
                        <a:solidFill>
                          <a:srgbClr val="FF0000"/>
                        </a:solidFill>
                        <a:latin typeface="Cambria Math" panose="02040503050406030204" pitchFamily="18" charset="0"/>
                      </a:rPr>
                      <m:t>𝑃𝑉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ea typeface="Cambria Math" panose="02040503050406030204" pitchFamily="18" charset="0"/>
                      </a:rPr>
                      <m:t>𝜏</m:t>
                    </m:r>
                  </m:oMath>
                </a14:m>
                <a:endParaRPr lang="en-CN" dirty="0"/>
              </a:p>
            </p:txBody>
          </p:sp>
        </mc:Choice>
        <mc:Fallback xmlns="">
          <p:sp>
            <p:nvSpPr>
              <p:cNvPr id="24" name="TextBox 23">
                <a:extLst>
                  <a:ext uri="{FF2B5EF4-FFF2-40B4-BE49-F238E27FC236}">
                    <a16:creationId xmlns:a16="http://schemas.microsoft.com/office/drawing/2014/main" id="{491AB4B6-1268-BC4E-BF81-13DF99A91726}"/>
                  </a:ext>
                </a:extLst>
              </p:cNvPr>
              <p:cNvSpPr txBox="1">
                <a:spLocks noRot="1" noChangeAspect="1" noMove="1" noResize="1" noEditPoints="1" noAdjustHandles="1" noChangeArrowheads="1" noChangeShapeType="1" noTextEdit="1"/>
              </p:cNvSpPr>
              <p:nvPr/>
            </p:nvSpPr>
            <p:spPr>
              <a:xfrm>
                <a:off x="9130145" y="3688116"/>
                <a:ext cx="3435928" cy="1707712"/>
              </a:xfrm>
              <a:prstGeom prst="rect">
                <a:avLst/>
              </a:prstGeom>
              <a:blipFill>
                <a:blip r:embed="rId5"/>
                <a:stretch>
                  <a:fillRect l="-1476"/>
                </a:stretch>
              </a:blipFill>
            </p:spPr>
            <p:txBody>
              <a:bodyPr/>
              <a:lstStyle/>
              <a:p>
                <a:r>
                  <a:rPr lang="en-CN">
                    <a:noFill/>
                  </a:rPr>
                  <a:t> </a:t>
                </a:r>
              </a:p>
            </p:txBody>
          </p:sp>
        </mc:Fallback>
      </mc:AlternateContent>
      <p:sp>
        <p:nvSpPr>
          <p:cNvPr id="25" name="Right Arrow 24">
            <a:extLst>
              <a:ext uri="{FF2B5EF4-FFF2-40B4-BE49-F238E27FC236}">
                <a16:creationId xmlns:a16="http://schemas.microsoft.com/office/drawing/2014/main" id="{DB0F944F-3B9B-E34F-932F-53E6543CC818}"/>
              </a:ext>
            </a:extLst>
          </p:cNvPr>
          <p:cNvSpPr/>
          <p:nvPr/>
        </p:nvSpPr>
        <p:spPr>
          <a:xfrm>
            <a:off x="7467600" y="4514627"/>
            <a:ext cx="831274" cy="1266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TextBox 13">
            <a:extLst>
              <a:ext uri="{FF2B5EF4-FFF2-40B4-BE49-F238E27FC236}">
                <a16:creationId xmlns:a16="http://schemas.microsoft.com/office/drawing/2014/main" id="{5B7B1B90-32DD-F242-ADD8-02CBA687B4A6}"/>
              </a:ext>
            </a:extLst>
          </p:cNvPr>
          <p:cNvSpPr txBox="1"/>
          <p:nvPr/>
        </p:nvSpPr>
        <p:spPr>
          <a:xfrm>
            <a:off x="0" y="9390"/>
            <a:ext cx="6283036" cy="369332"/>
          </a:xfrm>
          <a:prstGeom prst="rect">
            <a:avLst/>
          </a:prstGeom>
          <a:noFill/>
        </p:spPr>
        <p:txBody>
          <a:bodyPr wrap="square">
            <a:spAutoFit/>
          </a:bodyPr>
          <a:lstStyle/>
          <a:p>
            <a:pPr marL="342900" indent="-342900"/>
            <a:r>
              <a:rPr lang="en-CN" sz="1800" dirty="0">
                <a:latin typeface="FangSong" panose="02010609060101010101" pitchFamily="49" charset="-122"/>
                <a:ea typeface="FangSong" panose="02010609060101010101" pitchFamily="49" charset="-122"/>
              </a:rPr>
              <a:t>理想气体的熵一</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4045DE4-7D72-CEC0-A494-D1D146342059}"/>
                  </a:ext>
                </a:extLst>
              </p:cNvPr>
              <p:cNvSpPr txBox="1"/>
              <p:nvPr/>
            </p:nvSpPr>
            <p:spPr>
              <a:xfrm>
                <a:off x="7898897" y="5876859"/>
                <a:ext cx="4293103" cy="8126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𝑄</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ℏ</m:t>
                                      </m:r>
                                    </m:e>
                                    <m:sup>
                                      <m:r>
                                        <a:rPr lang="en-US" sz="2400" b="0" i="1" smtClean="0">
                                          <a:latin typeface="Cambria Math" panose="02040503050406030204" pitchFamily="18" charset="0"/>
                                          <a:ea typeface="Cambria Math" panose="02040503050406030204" pitchFamily="18" charset="0"/>
                                        </a:rPr>
                                        <m:t>2</m:t>
                                      </m:r>
                                    </m:sup>
                                  </m:sSup>
                                </m:den>
                              </m:f>
                            </m:e>
                          </m:d>
                        </m:e>
                        <m:sup>
                          <m:r>
                            <a:rPr lang="en-US" sz="2400" b="0" i="1" smtClean="0">
                              <a:latin typeface="Cambria Math" panose="02040503050406030204" pitchFamily="18" charset="0"/>
                            </a:rPr>
                            <m:t>3/2</m:t>
                          </m:r>
                        </m:sup>
                      </m:sSup>
                    </m:oMath>
                  </m:oMathPara>
                </a14:m>
                <a:endParaRPr lang="en-CN" sz="2400" dirty="0"/>
              </a:p>
            </p:txBody>
          </p:sp>
        </mc:Choice>
        <mc:Fallback xmlns="">
          <p:sp>
            <p:nvSpPr>
              <p:cNvPr id="2" name="TextBox 1">
                <a:extLst>
                  <a:ext uri="{FF2B5EF4-FFF2-40B4-BE49-F238E27FC236}">
                    <a16:creationId xmlns:a16="http://schemas.microsoft.com/office/drawing/2014/main" id="{E4045DE4-7D72-CEC0-A494-D1D146342059}"/>
                  </a:ext>
                </a:extLst>
              </p:cNvPr>
              <p:cNvSpPr txBox="1">
                <a:spLocks noRot="1" noChangeAspect="1" noMove="1" noResize="1" noEditPoints="1" noAdjustHandles="1" noChangeArrowheads="1" noChangeShapeType="1" noTextEdit="1"/>
              </p:cNvSpPr>
              <p:nvPr/>
            </p:nvSpPr>
            <p:spPr>
              <a:xfrm>
                <a:off x="7898897" y="5876859"/>
                <a:ext cx="4293103" cy="812658"/>
              </a:xfrm>
              <a:prstGeom prst="rect">
                <a:avLst/>
              </a:prstGeom>
              <a:blipFill>
                <a:blip r:embed="rId6"/>
                <a:stretch>
                  <a:fillRect b="-769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D2E2F3-9F28-DD55-EFE6-BA077CBD42A2}"/>
                  </a:ext>
                </a:extLst>
              </p:cNvPr>
              <p:cNvSpPr txBox="1"/>
              <p:nvPr/>
            </p:nvSpPr>
            <p:spPr>
              <a:xfrm>
                <a:off x="2133600" y="6036990"/>
                <a:ext cx="6307014" cy="626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5</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num>
                                    <m:den>
                                      <m:r>
                                        <a:rPr lang="en-US" b="0" i="1" smtClean="0">
                                          <a:latin typeface="Cambria Math" panose="02040503050406030204" pitchFamily="18" charset="0"/>
                                          <a:ea typeface="Cambria Math" panose="02040503050406030204" pitchFamily="18" charset="0"/>
                                        </a:rPr>
                                        <m:t>𝑛</m:t>
                                      </m:r>
                                    </m:den>
                                  </m:f>
                                </m:e>
                              </m:d>
                            </m:e>
                          </m:func>
                        </m:e>
                      </m:d>
                    </m:oMath>
                  </m:oMathPara>
                </a14:m>
                <a:endParaRPr lang="en-CN" dirty="0"/>
              </a:p>
            </p:txBody>
          </p:sp>
        </mc:Choice>
        <mc:Fallback xmlns="">
          <p:sp>
            <p:nvSpPr>
              <p:cNvPr id="6" name="TextBox 5">
                <a:extLst>
                  <a:ext uri="{FF2B5EF4-FFF2-40B4-BE49-F238E27FC236}">
                    <a16:creationId xmlns:a16="http://schemas.microsoft.com/office/drawing/2014/main" id="{27D2E2F3-9F28-DD55-EFE6-BA077CBD42A2}"/>
                  </a:ext>
                </a:extLst>
              </p:cNvPr>
              <p:cNvSpPr txBox="1">
                <a:spLocks noRot="1" noChangeAspect="1" noMove="1" noResize="1" noEditPoints="1" noAdjustHandles="1" noChangeArrowheads="1" noChangeShapeType="1" noTextEdit="1"/>
              </p:cNvSpPr>
              <p:nvPr/>
            </p:nvSpPr>
            <p:spPr>
              <a:xfrm>
                <a:off x="2133600" y="6036990"/>
                <a:ext cx="6307014" cy="626262"/>
              </a:xfrm>
              <a:prstGeom prst="rect">
                <a:avLst/>
              </a:prstGeom>
              <a:blipFill>
                <a:blip r:embed="rId7"/>
                <a:stretch>
                  <a:fillRect b="-4000"/>
                </a:stretch>
              </a:blipFill>
            </p:spPr>
            <p:txBody>
              <a:bodyPr/>
              <a:lstStyle/>
              <a:p>
                <a:r>
                  <a:rPr lang="en-CN">
                    <a:noFill/>
                  </a:rPr>
                  <a:t> </a:t>
                </a:r>
              </a:p>
            </p:txBody>
          </p:sp>
        </mc:Fallback>
      </mc:AlternateContent>
    </p:spTree>
    <p:extLst>
      <p:ext uri="{BB962C8B-B14F-4D97-AF65-F5344CB8AC3E}">
        <p14:creationId xmlns:p14="http://schemas.microsoft.com/office/powerpoint/2010/main" val="42193865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AD3118B-83C8-23BD-F157-B09DFFC9AC80}"/>
                  </a:ext>
                </a:extLst>
              </p:cNvPr>
              <p:cNvSpPr txBox="1"/>
              <p:nvPr/>
            </p:nvSpPr>
            <p:spPr>
              <a:xfrm>
                <a:off x="2666999" y="145851"/>
                <a:ext cx="5687292" cy="746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p>
                                      <m:r>
                                        <a:rPr lang="en-US" b="0" i="1" smtClean="0">
                                          <a:latin typeface="Cambria Math" panose="02040503050406030204" pitchFamily="18" charset="0"/>
                                          <a:ea typeface="Cambria Math" panose="02040503050406030204" pitchFamily="18" charset="0"/>
                                        </a:rPr>
                                        <m:t>3/2</m:t>
                                      </m:r>
                                    </m:sup>
                                  </m:sSup>
                                </m:e>
                              </m:d>
                            </m:e>
                          </m:func>
                        </m:e>
                      </m:d>
                    </m:oMath>
                  </m:oMathPara>
                </a14:m>
                <a:endParaRPr lang="en-CN" dirty="0"/>
              </a:p>
            </p:txBody>
          </p:sp>
        </mc:Choice>
        <mc:Fallback>
          <p:sp>
            <p:nvSpPr>
              <p:cNvPr id="2" name="TextBox 1">
                <a:extLst>
                  <a:ext uri="{FF2B5EF4-FFF2-40B4-BE49-F238E27FC236}">
                    <a16:creationId xmlns:a16="http://schemas.microsoft.com/office/drawing/2014/main" id="{7AD3118B-83C8-23BD-F157-B09DFFC9AC80}"/>
                  </a:ext>
                </a:extLst>
              </p:cNvPr>
              <p:cNvSpPr txBox="1">
                <a:spLocks noRot="1" noChangeAspect="1" noMove="1" noResize="1" noEditPoints="1" noAdjustHandles="1" noChangeArrowheads="1" noChangeShapeType="1" noTextEdit="1"/>
              </p:cNvSpPr>
              <p:nvPr/>
            </p:nvSpPr>
            <p:spPr>
              <a:xfrm>
                <a:off x="2666999" y="145851"/>
                <a:ext cx="5687292" cy="746679"/>
              </a:xfrm>
              <a:prstGeom prst="rect">
                <a:avLst/>
              </a:prstGeom>
              <a:blipFill>
                <a:blip r:embed="rId2"/>
                <a:stretch>
                  <a:fillRect b="-5000"/>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335C715E-D05E-DD32-62E3-30AC9A877839}"/>
              </a:ext>
            </a:extLst>
          </p:cNvPr>
          <p:cNvSpPr txBox="1"/>
          <p:nvPr/>
        </p:nvSpPr>
        <p:spPr>
          <a:xfrm>
            <a:off x="539262" y="1008185"/>
            <a:ext cx="5556738" cy="646331"/>
          </a:xfrm>
          <a:prstGeom prst="rect">
            <a:avLst/>
          </a:prstGeom>
          <a:noFill/>
        </p:spPr>
        <p:txBody>
          <a:bodyPr wrap="square" rtlCol="0">
            <a:spAutoFit/>
          </a:bodyPr>
          <a:lstStyle/>
          <a:p>
            <a:r>
              <a:rPr lang="en-CN" sz="3600" dirty="0"/>
              <a:t>Free Expanpion</a:t>
            </a:r>
          </a:p>
        </p:txBody>
      </p:sp>
      <p:sp>
        <p:nvSpPr>
          <p:cNvPr id="4" name="Rectangle 3">
            <a:extLst>
              <a:ext uri="{FF2B5EF4-FFF2-40B4-BE49-F238E27FC236}">
                <a16:creationId xmlns:a16="http://schemas.microsoft.com/office/drawing/2014/main" id="{340FE188-74F5-0ECA-5DE0-6354448CF4BD}"/>
              </a:ext>
            </a:extLst>
          </p:cNvPr>
          <p:cNvSpPr/>
          <p:nvPr/>
        </p:nvSpPr>
        <p:spPr>
          <a:xfrm>
            <a:off x="682860" y="2286000"/>
            <a:ext cx="2648160" cy="2239108"/>
          </a:xfrm>
          <a:prstGeom prst="rect">
            <a:avLst/>
          </a:prstGeom>
          <a:solidFill>
            <a:schemeClr val="accent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p:cxnSp>
        <p:nvCxnSpPr>
          <p:cNvPr id="7" name="Straight Connector 6">
            <a:extLst>
              <a:ext uri="{FF2B5EF4-FFF2-40B4-BE49-F238E27FC236}">
                <a16:creationId xmlns:a16="http://schemas.microsoft.com/office/drawing/2014/main" id="{81ABCA92-E771-B6DF-609B-17961E24799A}"/>
              </a:ext>
            </a:extLst>
          </p:cNvPr>
          <p:cNvCxnSpPr>
            <a:cxnSpLocks/>
            <a:stCxn id="4" idx="0"/>
            <a:endCxn id="4" idx="2"/>
          </p:cNvCxnSpPr>
          <p:nvPr/>
        </p:nvCxnSpPr>
        <p:spPr>
          <a:xfrm>
            <a:off x="2006940" y="2286000"/>
            <a:ext cx="0" cy="2239108"/>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0032DD5-F134-21AC-7A9B-B11D82187484}"/>
              </a:ext>
            </a:extLst>
          </p:cNvPr>
          <p:cNvSpPr/>
          <p:nvPr/>
        </p:nvSpPr>
        <p:spPr>
          <a:xfrm>
            <a:off x="3331020" y="2293117"/>
            <a:ext cx="2648160" cy="2239108"/>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29B0681-D7C2-8E70-9E8F-48AC48F868DA}"/>
                  </a:ext>
                </a:extLst>
              </p:cNvPr>
              <p:cNvSpPr txBox="1"/>
              <p:nvPr/>
            </p:nvSpPr>
            <p:spPr>
              <a:xfrm>
                <a:off x="7086600" y="2206845"/>
                <a:ext cx="4686300" cy="2318263"/>
              </a:xfrm>
              <a:prstGeom prst="rect">
                <a:avLst/>
              </a:prstGeom>
              <a:noFill/>
            </p:spPr>
            <p:txBody>
              <a:bodyPr wrap="square" rtlCol="0">
                <a:spAutoFit/>
              </a:bodyPr>
              <a:lstStyle/>
              <a:p>
                <a:pPr marL="285750" indent="-285750">
                  <a:buFont typeface="Arial" panose="020B0604020202020204" pitchFamily="34" charset="0"/>
                  <a:buChar char="•"/>
                </a:pPr>
                <a:r>
                  <a:rPr lang="en-CN" sz="4000" dirty="0"/>
                  <a:t>U,N fixed</a:t>
                </a:r>
              </a:p>
              <a:p>
                <a:pPr marL="285750" indent="-285750">
                  <a:buFont typeface="Arial" panose="020B0604020202020204" pitchFamily="34" charset="0"/>
                  <a:buChar char="•"/>
                </a:pPr>
                <a:r>
                  <a:rPr lang="en-CN" sz="4000" dirty="0"/>
                  <a:t>Work? Heat?</a:t>
                </a:r>
              </a:p>
              <a:p>
                <a:pPr marL="285750" indent="-285750">
                  <a:buFont typeface="Arial" panose="020B0604020202020204" pitchFamily="34" charset="0"/>
                  <a:buChar char="•"/>
                </a:pPr>
                <a14:m>
                  <m:oMath xmlns:m="http://schemas.openxmlformats.org/officeDocument/2006/math">
                    <m:r>
                      <a:rPr lang="en-CN" sz="4000" i="1" smtClean="0">
                        <a:latin typeface="Cambria Math" panose="02040503050406030204" pitchFamily="18" charset="0"/>
                        <a:ea typeface="Cambria Math" panose="02040503050406030204" pitchFamily="18" charset="0"/>
                      </a:rPr>
                      <m:t>∆</m:t>
                    </m:r>
                    <m:r>
                      <a:rPr lang="en-CN" sz="400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𝑁</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𝑉</m:t>
                                </m:r>
                              </m:e>
                              <m:sub>
                                <m:r>
                                  <a:rPr lang="en-US" sz="4000" b="0" i="1" smtClean="0">
                                    <a:latin typeface="Cambria Math" panose="02040503050406030204" pitchFamily="18" charset="0"/>
                                    <a:ea typeface="Cambria Math" panose="02040503050406030204" pitchFamily="18" charset="0"/>
                                  </a:rPr>
                                  <m:t>𝑓</m:t>
                                </m:r>
                              </m:sub>
                            </m:sSub>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𝑉</m:t>
                                </m:r>
                              </m:e>
                              <m:sub>
                                <m:r>
                                  <a:rPr lang="en-US" sz="4000" b="0" i="1" smtClean="0">
                                    <a:latin typeface="Cambria Math" panose="02040503050406030204" pitchFamily="18" charset="0"/>
                                    <a:ea typeface="Cambria Math" panose="02040503050406030204" pitchFamily="18" charset="0"/>
                                  </a:rPr>
                                  <m:t>𝑖</m:t>
                                </m:r>
                              </m:sub>
                            </m:sSub>
                          </m:den>
                        </m:f>
                      </m:e>
                    </m:func>
                  </m:oMath>
                </a14:m>
                <a:endParaRPr lang="en-CN" sz="4000" dirty="0"/>
              </a:p>
            </p:txBody>
          </p:sp>
        </mc:Choice>
        <mc:Fallback>
          <p:sp>
            <p:nvSpPr>
              <p:cNvPr id="10" name="TextBox 9">
                <a:extLst>
                  <a:ext uri="{FF2B5EF4-FFF2-40B4-BE49-F238E27FC236}">
                    <a16:creationId xmlns:a16="http://schemas.microsoft.com/office/drawing/2014/main" id="{429B0681-D7C2-8E70-9E8F-48AC48F868DA}"/>
                  </a:ext>
                </a:extLst>
              </p:cNvPr>
              <p:cNvSpPr txBox="1">
                <a:spLocks noRot="1" noChangeAspect="1" noMove="1" noResize="1" noEditPoints="1" noAdjustHandles="1" noChangeArrowheads="1" noChangeShapeType="1" noTextEdit="1"/>
              </p:cNvSpPr>
              <p:nvPr/>
            </p:nvSpPr>
            <p:spPr>
              <a:xfrm>
                <a:off x="7086600" y="2206845"/>
                <a:ext cx="4686300" cy="2318263"/>
              </a:xfrm>
              <a:prstGeom prst="rect">
                <a:avLst/>
              </a:prstGeom>
              <a:blipFill>
                <a:blip r:embed="rId3"/>
                <a:stretch>
                  <a:fillRect l="-4336" t="-4348" b="-1630"/>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CC50005C-7618-2D36-0007-419CFD9D8E8F}"/>
              </a:ext>
            </a:extLst>
          </p:cNvPr>
          <p:cNvSpPr txBox="1"/>
          <p:nvPr/>
        </p:nvSpPr>
        <p:spPr>
          <a:xfrm>
            <a:off x="539262" y="192035"/>
            <a:ext cx="6097280" cy="369332"/>
          </a:xfrm>
          <a:prstGeom prst="rect">
            <a:avLst/>
          </a:prstGeom>
          <a:noFill/>
        </p:spPr>
        <p:txBody>
          <a:bodyPr wrap="square">
            <a:spAutoFit/>
          </a:bodyPr>
          <a:lstStyle/>
          <a:p>
            <a:r>
              <a:rPr lang="en-US" sz="1800" dirty="0"/>
              <a:t>x=</a:t>
            </a:r>
            <a:r>
              <a:rPr lang="en-US" altLang="zh-CN" sz="1800" dirty="0"/>
              <a:t>0</a:t>
            </a:r>
            <a:endParaRPr lang="en-CN" dirty="0"/>
          </a:p>
        </p:txBody>
      </p:sp>
    </p:spTree>
    <p:extLst>
      <p:ext uri="{BB962C8B-B14F-4D97-AF65-F5344CB8AC3E}">
        <p14:creationId xmlns:p14="http://schemas.microsoft.com/office/powerpoint/2010/main" val="29366035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5C715E-D05E-DD32-62E3-30AC9A877839}"/>
              </a:ext>
            </a:extLst>
          </p:cNvPr>
          <p:cNvSpPr txBox="1"/>
          <p:nvPr/>
        </p:nvSpPr>
        <p:spPr>
          <a:xfrm>
            <a:off x="539262" y="1008185"/>
            <a:ext cx="5556738" cy="646331"/>
          </a:xfrm>
          <a:prstGeom prst="rect">
            <a:avLst/>
          </a:prstGeom>
          <a:noFill/>
        </p:spPr>
        <p:txBody>
          <a:bodyPr wrap="square" rtlCol="0">
            <a:spAutoFit/>
          </a:bodyPr>
          <a:lstStyle/>
          <a:p>
            <a:r>
              <a:rPr lang="en-CN" sz="3600" dirty="0"/>
              <a:t>Entropy of Mixing</a:t>
            </a:r>
          </a:p>
        </p:txBody>
      </p:sp>
      <p:sp>
        <p:nvSpPr>
          <p:cNvPr id="4" name="Rectangle 3">
            <a:extLst>
              <a:ext uri="{FF2B5EF4-FFF2-40B4-BE49-F238E27FC236}">
                <a16:creationId xmlns:a16="http://schemas.microsoft.com/office/drawing/2014/main" id="{340FE188-74F5-0ECA-5DE0-6354448CF4BD}"/>
              </a:ext>
            </a:extLst>
          </p:cNvPr>
          <p:cNvSpPr/>
          <p:nvPr/>
        </p:nvSpPr>
        <p:spPr>
          <a:xfrm>
            <a:off x="682860" y="2286000"/>
            <a:ext cx="2648160" cy="2239108"/>
          </a:xfrm>
          <a:prstGeom prst="rect">
            <a:avLst/>
          </a:prstGeom>
          <a:solidFill>
            <a:schemeClr val="accent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p:cxnSp>
        <p:nvCxnSpPr>
          <p:cNvPr id="7" name="Straight Connector 6">
            <a:extLst>
              <a:ext uri="{FF2B5EF4-FFF2-40B4-BE49-F238E27FC236}">
                <a16:creationId xmlns:a16="http://schemas.microsoft.com/office/drawing/2014/main" id="{81ABCA92-E771-B6DF-609B-17961E24799A}"/>
              </a:ext>
            </a:extLst>
          </p:cNvPr>
          <p:cNvCxnSpPr>
            <a:cxnSpLocks/>
            <a:stCxn id="4" idx="0"/>
            <a:endCxn id="4" idx="2"/>
          </p:cNvCxnSpPr>
          <p:nvPr/>
        </p:nvCxnSpPr>
        <p:spPr>
          <a:xfrm>
            <a:off x="2006940" y="2286000"/>
            <a:ext cx="0" cy="2239108"/>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0032DD5-F134-21AC-7A9B-B11D82187484}"/>
              </a:ext>
            </a:extLst>
          </p:cNvPr>
          <p:cNvSpPr/>
          <p:nvPr/>
        </p:nvSpPr>
        <p:spPr>
          <a:xfrm>
            <a:off x="3331020" y="2293117"/>
            <a:ext cx="2648160" cy="2239108"/>
          </a:xfrm>
          <a:prstGeom prst="rect">
            <a:avLst/>
          </a:prstGeom>
          <a:solidFill>
            <a:schemeClr val="accent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97BDE7E-02C2-5DAE-00A3-8D976EC6421F}"/>
                  </a:ext>
                </a:extLst>
              </p:cNvPr>
              <p:cNvSpPr txBox="1"/>
              <p:nvPr/>
            </p:nvSpPr>
            <p:spPr>
              <a:xfrm>
                <a:off x="6335490" y="1745596"/>
                <a:ext cx="5173650" cy="327474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CN" sz="2400" i="1" smtClean="0">
                        <a:latin typeface="Cambria Math" panose="02040503050406030204" pitchFamily="18" charset="0"/>
                        <a:ea typeface="Cambria Math" panose="02040503050406030204" pitchFamily="18" charset="0"/>
                      </a:rPr>
                      <m:t>∆</m:t>
                    </m:r>
                    <m:sSub>
                      <m:sSubPr>
                        <m:ctrlPr>
                          <a:rPr lang="en-CN" sz="2400" i="1" smtClean="0">
                            <a:latin typeface="Cambria Math" panose="02040503050406030204" pitchFamily="18" charset="0"/>
                            <a:ea typeface="Cambria Math" panose="02040503050406030204" pitchFamily="18" charset="0"/>
                          </a:rPr>
                        </m:ctrlPr>
                      </m:sSubPr>
                      <m:e>
                        <m:r>
                          <a:rPr lang="en-CN"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𝐴</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𝑓</m:t>
                                </m:r>
                              </m:sub>
                            </m:sSub>
                          </m:num>
                          <m:den>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𝑖</m:t>
                                </m:r>
                              </m:sub>
                            </m:sSub>
                          </m:den>
                        </m:f>
                      </m:e>
                    </m:func>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2</m:t>
                        </m:r>
                      </m:e>
                    </m:func>
                  </m:oMath>
                </a14:m>
                <a:endParaRPr lang="en-CN" sz="2400" dirty="0"/>
              </a:p>
              <a:p>
                <a:pPr marL="285750" indent="-285750">
                  <a:buFont typeface="Arial" panose="020B0604020202020204" pitchFamily="34" charset="0"/>
                  <a:buChar char="•"/>
                </a:pPr>
                <a14:m>
                  <m:oMath xmlns:m="http://schemas.openxmlformats.org/officeDocument/2006/math">
                    <m:r>
                      <a:rPr lang="en-CN" sz="2400" i="1" smtClean="0">
                        <a:latin typeface="Cambria Math" panose="02040503050406030204" pitchFamily="18" charset="0"/>
                        <a:ea typeface="Cambria Math" panose="02040503050406030204" pitchFamily="18" charset="0"/>
                      </a:rPr>
                      <m:t>∆</m:t>
                    </m:r>
                    <m:sSub>
                      <m:sSubPr>
                        <m:ctrlPr>
                          <a:rPr lang="en-CN" sz="2400" i="1" smtClean="0">
                            <a:latin typeface="Cambria Math" panose="02040503050406030204" pitchFamily="18" charset="0"/>
                            <a:ea typeface="Cambria Math" panose="02040503050406030204" pitchFamily="18" charset="0"/>
                          </a:rPr>
                        </m:ctrlPr>
                      </m:sSubPr>
                      <m:e>
                        <m:r>
                          <a:rPr lang="en-CN"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𝑡𝑜𝑡𝑎𝑙</m:t>
                        </m:r>
                      </m:sub>
                    </m:sSub>
                    <m:r>
                      <a:rPr lang="en-US" sz="2400" b="0" i="1" smtClean="0">
                        <a:latin typeface="Cambria Math" panose="02040503050406030204" pitchFamily="18" charset="0"/>
                        <a:ea typeface="Cambria Math" panose="02040503050406030204" pitchFamily="18" charset="0"/>
                      </a:rPr>
                      <m:t>=</m:t>
                    </m:r>
                    <m:r>
                      <a:rPr lang="en-CN" sz="2400" i="1">
                        <a:latin typeface="Cambria Math" panose="02040503050406030204" pitchFamily="18" charset="0"/>
                        <a:ea typeface="Cambria Math" panose="02040503050406030204" pitchFamily="18" charset="0"/>
                      </a:rPr>
                      <m:t>∆</m:t>
                    </m:r>
                    <m:sSub>
                      <m:sSubPr>
                        <m:ctrlPr>
                          <a:rPr lang="en-CN" sz="2400" i="1">
                            <a:latin typeface="Cambria Math" panose="02040503050406030204" pitchFamily="18" charset="0"/>
                            <a:ea typeface="Cambria Math" panose="02040503050406030204" pitchFamily="18" charset="0"/>
                          </a:rPr>
                        </m:ctrlPr>
                      </m:sSubPr>
                      <m:e>
                        <m:r>
                          <a:rPr lang="en-CN"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ea typeface="Cambria Math" panose="02040503050406030204" pitchFamily="18" charset="0"/>
                          </a:rPr>
                          <m:t>𝐴</m:t>
                        </m:r>
                      </m:sub>
                    </m:sSub>
                  </m:oMath>
                </a14:m>
                <a:r>
                  <a:rPr lang="en-CN" sz="2400" dirty="0"/>
                  <a:t>+</a:t>
                </a:r>
                <a:r>
                  <a:rPr lang="en-CN" sz="2400" dirty="0">
                    <a:ea typeface="Cambria Math" panose="02040503050406030204" pitchFamily="18" charset="0"/>
                  </a:rPr>
                  <a:t> </a:t>
                </a:r>
                <a14:m>
                  <m:oMath xmlns:m="http://schemas.openxmlformats.org/officeDocument/2006/math">
                    <m:r>
                      <a:rPr lang="en-CN" sz="2400" i="1">
                        <a:latin typeface="Cambria Math" panose="02040503050406030204" pitchFamily="18" charset="0"/>
                        <a:ea typeface="Cambria Math" panose="02040503050406030204" pitchFamily="18" charset="0"/>
                      </a:rPr>
                      <m:t>∆</m:t>
                    </m:r>
                    <m:sSub>
                      <m:sSubPr>
                        <m:ctrlPr>
                          <a:rPr lang="en-CN" sz="2400" i="1">
                            <a:latin typeface="Cambria Math" panose="02040503050406030204" pitchFamily="18" charset="0"/>
                            <a:ea typeface="Cambria Math" panose="02040503050406030204" pitchFamily="18" charset="0"/>
                          </a:rPr>
                        </m:ctrlPr>
                      </m:sSubPr>
                      <m:e>
                        <m:r>
                          <a:rPr lang="en-CN"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𝐵</m:t>
                        </m:r>
                      </m:sub>
                    </m:sSub>
                  </m:oMath>
                </a14:m>
                <a:r>
                  <a:rPr lang="en-CN" sz="2400" dirty="0"/>
                  <a:t>=2 N log 2</a:t>
                </a:r>
              </a:p>
              <a:p>
                <a:pPr marL="285750" indent="-285750">
                  <a:buFont typeface="Arial" panose="020B0604020202020204" pitchFamily="34" charset="0"/>
                  <a:buChar char="•"/>
                </a:pPr>
                <a:r>
                  <a:rPr lang="en-CN" sz="2400" dirty="0"/>
                  <a:t>It’s important to note that this result appies only if the two gasese are different. If you start with the same gas on both sides, the entropy does not increase at all when you remove the partition.</a:t>
                </a:r>
              </a:p>
            </p:txBody>
          </p:sp>
        </mc:Choice>
        <mc:Fallback xmlns="">
          <p:sp>
            <p:nvSpPr>
              <p:cNvPr id="6" name="TextBox 5">
                <a:extLst>
                  <a:ext uri="{FF2B5EF4-FFF2-40B4-BE49-F238E27FC236}">
                    <a16:creationId xmlns:a16="http://schemas.microsoft.com/office/drawing/2014/main" id="{197BDE7E-02C2-5DAE-00A3-8D976EC6421F}"/>
                  </a:ext>
                </a:extLst>
              </p:cNvPr>
              <p:cNvSpPr txBox="1">
                <a:spLocks noRot="1" noChangeAspect="1" noMove="1" noResize="1" noEditPoints="1" noAdjustHandles="1" noChangeArrowheads="1" noChangeShapeType="1" noTextEdit="1"/>
              </p:cNvSpPr>
              <p:nvPr/>
            </p:nvSpPr>
            <p:spPr>
              <a:xfrm>
                <a:off x="6335490" y="1745596"/>
                <a:ext cx="5173650" cy="3274743"/>
              </a:xfrm>
              <a:prstGeom prst="rect">
                <a:avLst/>
              </a:prstGeom>
              <a:blipFill>
                <a:blip r:embed="rId3"/>
                <a:stretch>
                  <a:fillRect l="-1467" b="-3089"/>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6901CD3-EB9C-DCD1-E6A0-A5A44BBFDEA4}"/>
                  </a:ext>
                </a:extLst>
              </p:cNvPr>
              <p:cNvSpPr txBox="1"/>
              <p:nvPr/>
            </p:nvSpPr>
            <p:spPr>
              <a:xfrm>
                <a:off x="2697734" y="32562"/>
                <a:ext cx="5687292" cy="746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p>
                                      <m:r>
                                        <a:rPr lang="en-US" b="0" i="1" smtClean="0">
                                          <a:latin typeface="Cambria Math" panose="02040503050406030204" pitchFamily="18" charset="0"/>
                                          <a:ea typeface="Cambria Math" panose="02040503050406030204" pitchFamily="18" charset="0"/>
                                        </a:rPr>
                                        <m:t>3/2</m:t>
                                      </m:r>
                                    </m:sup>
                                  </m:sSup>
                                </m:e>
                              </m:d>
                            </m:e>
                          </m:func>
                        </m:e>
                      </m:d>
                    </m:oMath>
                  </m:oMathPara>
                </a14:m>
                <a:endParaRPr lang="en-CN" dirty="0"/>
              </a:p>
            </p:txBody>
          </p:sp>
        </mc:Choice>
        <mc:Fallback>
          <p:sp>
            <p:nvSpPr>
              <p:cNvPr id="5" name="TextBox 4">
                <a:extLst>
                  <a:ext uri="{FF2B5EF4-FFF2-40B4-BE49-F238E27FC236}">
                    <a16:creationId xmlns:a16="http://schemas.microsoft.com/office/drawing/2014/main" id="{16901CD3-EB9C-DCD1-E6A0-A5A44BBFDEA4}"/>
                  </a:ext>
                </a:extLst>
              </p:cNvPr>
              <p:cNvSpPr txBox="1">
                <a:spLocks noRot="1" noChangeAspect="1" noMove="1" noResize="1" noEditPoints="1" noAdjustHandles="1" noChangeArrowheads="1" noChangeShapeType="1" noTextEdit="1"/>
              </p:cNvSpPr>
              <p:nvPr/>
            </p:nvSpPr>
            <p:spPr>
              <a:xfrm>
                <a:off x="2697734" y="32562"/>
                <a:ext cx="5687292" cy="746679"/>
              </a:xfrm>
              <a:prstGeom prst="rect">
                <a:avLst/>
              </a:prstGeom>
              <a:blipFill>
                <a:blip r:embed="rId4"/>
                <a:stretch>
                  <a:fillRect b="-5000"/>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2E521F0F-6344-57B5-6ADA-02F4300E4F67}"/>
              </a:ext>
            </a:extLst>
          </p:cNvPr>
          <p:cNvSpPr txBox="1"/>
          <p:nvPr/>
        </p:nvSpPr>
        <p:spPr>
          <a:xfrm>
            <a:off x="539262" y="192035"/>
            <a:ext cx="6097280" cy="369332"/>
          </a:xfrm>
          <a:prstGeom prst="rect">
            <a:avLst/>
          </a:prstGeom>
          <a:noFill/>
        </p:spPr>
        <p:txBody>
          <a:bodyPr wrap="square">
            <a:spAutoFit/>
          </a:bodyPr>
          <a:lstStyle/>
          <a:p>
            <a:r>
              <a:rPr lang="en-US" sz="1800" dirty="0"/>
              <a:t>x=</a:t>
            </a:r>
            <a:r>
              <a:rPr lang="en-US" altLang="zh-CN" sz="1800" dirty="0"/>
              <a:t>0</a:t>
            </a:r>
            <a:endParaRPr lang="en-CN" dirty="0"/>
          </a:p>
        </p:txBody>
      </p:sp>
    </p:spTree>
    <p:extLst>
      <p:ext uri="{BB962C8B-B14F-4D97-AF65-F5344CB8AC3E}">
        <p14:creationId xmlns:p14="http://schemas.microsoft.com/office/powerpoint/2010/main" val="7675593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082BDA6-0BF8-9C4D-8C1E-B3AEC61C0D2C}"/>
                  </a:ext>
                </a:extLst>
              </p:cNvPr>
              <p:cNvSpPr txBox="1"/>
              <p:nvPr/>
            </p:nvSpPr>
            <p:spPr>
              <a:xfrm>
                <a:off x="4786745" y="4881399"/>
                <a:ext cx="2618509" cy="707886"/>
              </a:xfrm>
              <a:prstGeom prst="rect">
                <a:avLst/>
              </a:prstGeom>
              <a:noFill/>
            </p:spPr>
            <p:txBody>
              <a:bodyPr wrap="square" rtlCol="0">
                <a:spAutoFit/>
              </a:bodyPr>
              <a:lstStyle/>
              <a:p>
                <a:pPr algn="ctr"/>
                <a:r>
                  <a:rPr lang="en-US" sz="4000" b="0" dirty="0">
                    <a:solidFill>
                      <a:schemeClr val="tx1"/>
                    </a:solidFill>
                    <a:ea typeface="Cambria Math" panose="02040503050406030204" pitchFamily="18" charset="0"/>
                  </a:rPr>
                  <a:t>F=</a:t>
                </a:r>
                <a14:m>
                  <m:oMath xmlns:m="http://schemas.openxmlformats.org/officeDocument/2006/math">
                    <m:r>
                      <a:rPr lang="en-US" sz="4000" b="0" i="0" smtClean="0">
                        <a:solidFill>
                          <a:schemeClr val="tx1"/>
                        </a:solidFill>
                        <a:latin typeface="Cambria Math" panose="02040503050406030204" pitchFamily="18" charset="0"/>
                        <a:ea typeface="Cambria Math" panose="02040503050406030204" pitchFamily="18" charset="0"/>
                      </a:rPr>
                      <m:t>−</m:t>
                    </m:r>
                    <m:r>
                      <a:rPr lang="en-US" sz="4000" b="0" i="1" smtClean="0">
                        <a:solidFill>
                          <a:schemeClr val="tx1"/>
                        </a:solidFill>
                        <a:latin typeface="Cambria Math" panose="02040503050406030204" pitchFamily="18" charset="0"/>
                        <a:ea typeface="Cambria Math" panose="02040503050406030204" pitchFamily="18" charset="0"/>
                      </a:rPr>
                      <m:t>𝜏</m:t>
                    </m:r>
                    <m:func>
                      <m:funcPr>
                        <m:ctrlPr>
                          <a:rPr lang="en-US" sz="40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4000" b="0" i="0" smtClean="0">
                            <a:solidFill>
                              <a:schemeClr val="tx1"/>
                            </a:solidFill>
                            <a:latin typeface="Cambria Math" panose="02040503050406030204" pitchFamily="18" charset="0"/>
                            <a:ea typeface="Cambria Math" panose="02040503050406030204" pitchFamily="18" charset="0"/>
                          </a:rPr>
                          <m:t>log</m:t>
                        </m:r>
                      </m:fName>
                      <m:e>
                        <m:r>
                          <a:rPr lang="en-US" sz="4000" b="0" i="1" smtClean="0">
                            <a:solidFill>
                              <a:schemeClr val="tx1"/>
                            </a:solidFill>
                            <a:latin typeface="Cambria Math" panose="02040503050406030204" pitchFamily="18" charset="0"/>
                            <a:ea typeface="Cambria Math" panose="02040503050406030204" pitchFamily="18" charset="0"/>
                          </a:rPr>
                          <m:t>𝑍</m:t>
                        </m:r>
                      </m:e>
                    </m:func>
                  </m:oMath>
                </a14:m>
                <a:endParaRPr lang="en-CN" sz="4000" dirty="0">
                  <a:solidFill>
                    <a:schemeClr val="tx1"/>
                  </a:solidFill>
                </a:endParaRPr>
              </a:p>
            </p:txBody>
          </p:sp>
        </mc:Choice>
        <mc:Fallback xmlns="">
          <p:sp>
            <p:nvSpPr>
              <p:cNvPr id="6" name="TextBox 5">
                <a:extLst>
                  <a:ext uri="{FF2B5EF4-FFF2-40B4-BE49-F238E27FC236}">
                    <a16:creationId xmlns:a16="http://schemas.microsoft.com/office/drawing/2014/main" id="{A082BDA6-0BF8-9C4D-8C1E-B3AEC61C0D2C}"/>
                  </a:ext>
                </a:extLst>
              </p:cNvPr>
              <p:cNvSpPr txBox="1">
                <a:spLocks noRot="1" noChangeAspect="1" noMove="1" noResize="1" noEditPoints="1" noAdjustHandles="1" noChangeArrowheads="1" noChangeShapeType="1" noTextEdit="1"/>
              </p:cNvSpPr>
              <p:nvPr/>
            </p:nvSpPr>
            <p:spPr>
              <a:xfrm>
                <a:off x="4786745" y="4881399"/>
                <a:ext cx="2618509" cy="707886"/>
              </a:xfrm>
              <a:prstGeom prst="rect">
                <a:avLst/>
              </a:prstGeom>
              <a:blipFill>
                <a:blip r:embed="rId2"/>
                <a:stretch>
                  <a:fillRect l="-4327" t="-14035" b="-3684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B8DAC2-D886-6D40-B258-A70149C0EC1C}"/>
                  </a:ext>
                </a:extLst>
              </p:cNvPr>
              <p:cNvSpPr txBox="1"/>
              <p:nvPr/>
            </p:nvSpPr>
            <p:spPr>
              <a:xfrm>
                <a:off x="8631383" y="2835120"/>
                <a:ext cx="2597723" cy="979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ea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𝜎</m:t>
                          </m:r>
                          <m:r>
                            <a:rPr lang="en-US" sz="2800" b="0" i="1" smtClean="0">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𝐹</m:t>
                                  </m:r>
                                </m:num>
                                <m:den>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𝜏</m:t>
                                  </m:r>
                                </m:den>
                              </m:f>
                            </m:e>
                          </m:d>
                        </m:e>
                        <m:sub>
                          <m:r>
                            <a:rPr lang="en-US" sz="2800" i="1">
                              <a:latin typeface="Cambria Math" panose="02040503050406030204" pitchFamily="18" charset="0"/>
                              <a:ea typeface="Cambria Math" panose="02040503050406030204" pitchFamily="18" charset="0"/>
                            </a:rPr>
                            <m:t>𝑉</m:t>
                          </m:r>
                        </m:sub>
                      </m:sSub>
                    </m:oMath>
                  </m:oMathPara>
                </a14:m>
                <a:endParaRPr lang="en-CN" sz="2800" dirty="0"/>
              </a:p>
            </p:txBody>
          </p:sp>
        </mc:Choice>
        <mc:Fallback xmlns="">
          <p:sp>
            <p:nvSpPr>
              <p:cNvPr id="8" name="TextBox 7">
                <a:extLst>
                  <a:ext uri="{FF2B5EF4-FFF2-40B4-BE49-F238E27FC236}">
                    <a16:creationId xmlns:a16="http://schemas.microsoft.com/office/drawing/2014/main" id="{58B8DAC2-D886-6D40-B258-A70149C0EC1C}"/>
                  </a:ext>
                </a:extLst>
              </p:cNvPr>
              <p:cNvSpPr txBox="1">
                <a:spLocks noRot="1" noChangeAspect="1" noMove="1" noResize="1" noEditPoints="1" noAdjustHandles="1" noChangeArrowheads="1" noChangeShapeType="1" noTextEdit="1"/>
              </p:cNvSpPr>
              <p:nvPr/>
            </p:nvSpPr>
            <p:spPr>
              <a:xfrm>
                <a:off x="8631383" y="2835120"/>
                <a:ext cx="2597723" cy="979242"/>
              </a:xfrm>
              <a:prstGeom prst="rect">
                <a:avLst/>
              </a:prstGeom>
              <a:blipFill>
                <a:blip r:embed="rId3"/>
                <a:stretch>
                  <a:fillRect t="-2564" b="-141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70BE68B-CC8D-BE47-B183-AAD820DAA1E9}"/>
                  </a:ext>
                </a:extLst>
              </p:cNvPr>
              <p:cNvSpPr txBox="1"/>
              <p:nvPr/>
            </p:nvSpPr>
            <p:spPr>
              <a:xfrm>
                <a:off x="3872342" y="908495"/>
                <a:ext cx="3990109" cy="12227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rgbClr val="FF0000"/>
                          </a:solidFill>
                          <a:latin typeface="Cambria Math" panose="02040503050406030204" pitchFamily="18" charset="0"/>
                        </a:rPr>
                        <m:t>𝑃</m:t>
                      </m:r>
                      <m:d>
                        <m:dPr>
                          <m:ctrlPr>
                            <a:rPr lang="en-US" sz="3600" b="0" i="1" smtClean="0">
                              <a:solidFill>
                                <a:srgbClr val="FF0000"/>
                              </a:solidFill>
                              <a:latin typeface="Cambria Math" panose="02040503050406030204" pitchFamily="18" charset="0"/>
                            </a:rPr>
                          </m:ctrlPr>
                        </m:dPr>
                        <m:e>
                          <m:r>
                            <a:rPr lang="en-US" sz="3600" b="0" i="1" smtClean="0">
                              <a:solidFill>
                                <a:srgbClr val="FF0000"/>
                              </a:solidFill>
                              <a:latin typeface="Cambria Math" panose="02040503050406030204" pitchFamily="18" charset="0"/>
                            </a:rPr>
                            <m:t>𝑠</m:t>
                          </m:r>
                        </m:e>
                      </m:d>
                      <m:r>
                        <a:rPr lang="en-US" sz="3600" b="0" i="1" smtClean="0">
                          <a:solidFill>
                            <a:srgbClr val="FF0000"/>
                          </a:solidFill>
                          <a:latin typeface="Cambria Math" panose="02040503050406030204" pitchFamily="18" charset="0"/>
                        </a:rPr>
                        <m:t>=</m:t>
                      </m:r>
                      <m:f>
                        <m:fPr>
                          <m:ctrlPr>
                            <a:rPr lang="en-US" sz="3600" b="0" i="1" smtClean="0">
                              <a:solidFill>
                                <a:srgbClr val="FF0000"/>
                              </a:solidFill>
                              <a:latin typeface="Cambria Math" panose="02040503050406030204" pitchFamily="18" charset="0"/>
                            </a:rPr>
                          </m:ctrlPr>
                        </m:fPr>
                        <m:num>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panose="02040503050406030204" pitchFamily="18" charset="0"/>
                                </a:rPr>
                                <m:t>𝑒</m:t>
                              </m:r>
                            </m:e>
                            <m:sup>
                              <m:r>
                                <a:rPr lang="en-US" sz="3600" b="0" i="1" smtClean="0">
                                  <a:solidFill>
                                    <a:srgbClr val="FF0000"/>
                                  </a:solidFill>
                                  <a:latin typeface="Cambria Math" panose="02040503050406030204" pitchFamily="18" charset="0"/>
                                </a:rPr>
                                <m:t>−</m:t>
                              </m:r>
                              <m:r>
                                <a:rPr lang="en-US" sz="3600" b="0" i="1" smtClean="0">
                                  <a:solidFill>
                                    <a:srgbClr val="FF0000"/>
                                  </a:solidFill>
                                  <a:latin typeface="Cambria Math" panose="02040503050406030204" pitchFamily="18" charset="0"/>
                                  <a:ea typeface="Cambria Math" panose="02040503050406030204" pitchFamily="18" charset="0"/>
                                </a:rPr>
                                <m:t>𝜀</m:t>
                              </m:r>
                              <m:r>
                                <a:rPr lang="en-US" sz="3600" b="0" i="1" smtClean="0">
                                  <a:solidFill>
                                    <a:srgbClr val="FF0000"/>
                                  </a:solidFill>
                                  <a:latin typeface="Cambria Math" panose="02040503050406030204" pitchFamily="18" charset="0"/>
                                  <a:ea typeface="Cambria Math" panose="02040503050406030204" pitchFamily="18" charset="0"/>
                                </a:rPr>
                                <m:t>/</m:t>
                              </m:r>
                              <m:r>
                                <a:rPr lang="en-US" sz="3600" b="0" i="1" smtClean="0">
                                  <a:solidFill>
                                    <a:srgbClr val="FF0000"/>
                                  </a:solidFill>
                                  <a:latin typeface="Cambria Math" panose="02040503050406030204" pitchFamily="18" charset="0"/>
                                  <a:ea typeface="Cambria Math" panose="02040503050406030204" pitchFamily="18" charset="0"/>
                                </a:rPr>
                                <m:t>𝜏</m:t>
                              </m:r>
                            </m:sup>
                          </m:sSup>
                        </m:num>
                        <m:den>
                          <m:r>
                            <a:rPr lang="en-US" sz="3600" b="0" i="1" smtClean="0">
                              <a:solidFill>
                                <a:srgbClr val="FF0000"/>
                              </a:solidFill>
                              <a:latin typeface="Cambria Math" panose="02040503050406030204" pitchFamily="18" charset="0"/>
                            </a:rPr>
                            <m:t>𝑍</m:t>
                          </m:r>
                        </m:den>
                      </m:f>
                    </m:oMath>
                  </m:oMathPara>
                </a14:m>
                <a:endParaRPr lang="en-CN" sz="3600" dirty="0">
                  <a:solidFill>
                    <a:srgbClr val="FF0000"/>
                  </a:solidFill>
                </a:endParaRPr>
              </a:p>
            </p:txBody>
          </p:sp>
        </mc:Choice>
        <mc:Fallback xmlns="">
          <p:sp>
            <p:nvSpPr>
              <p:cNvPr id="9" name="TextBox 8">
                <a:extLst>
                  <a:ext uri="{FF2B5EF4-FFF2-40B4-BE49-F238E27FC236}">
                    <a16:creationId xmlns:a16="http://schemas.microsoft.com/office/drawing/2014/main" id="{170BE68B-CC8D-BE47-B183-AAD820DAA1E9}"/>
                  </a:ext>
                </a:extLst>
              </p:cNvPr>
              <p:cNvSpPr txBox="1">
                <a:spLocks noRot="1" noChangeAspect="1" noMove="1" noResize="1" noEditPoints="1" noAdjustHandles="1" noChangeArrowheads="1" noChangeShapeType="1" noTextEdit="1"/>
              </p:cNvSpPr>
              <p:nvPr/>
            </p:nvSpPr>
            <p:spPr>
              <a:xfrm>
                <a:off x="3872342" y="908495"/>
                <a:ext cx="3990109" cy="1222771"/>
              </a:xfrm>
              <a:prstGeom prst="rect">
                <a:avLst/>
              </a:prstGeom>
              <a:blipFill>
                <a:blip r:embed="rId4"/>
                <a:stretch>
                  <a:fillRect b="-82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7D1116B-335D-7043-8849-E8BCDDD11F6C}"/>
                  </a:ext>
                </a:extLst>
              </p:cNvPr>
              <p:cNvSpPr txBox="1"/>
              <p:nvPr/>
            </p:nvSpPr>
            <p:spPr>
              <a:xfrm>
                <a:off x="554182" y="2755803"/>
                <a:ext cx="3990109" cy="1137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solidFill>
                                <a:schemeClr val="tx1"/>
                              </a:solidFill>
                              <a:latin typeface="Cambria Math" panose="02040503050406030204" pitchFamily="18" charset="0"/>
                              <a:ea typeface="Cambria Math" panose="02040503050406030204" pitchFamily="18" charset="0"/>
                            </a:rPr>
                          </m:ctrlPr>
                        </m:sSubPr>
                        <m:e>
                          <m:r>
                            <a:rPr lang="en-US" altLang="zh-CN" sz="2800" b="0" i="1" smtClean="0">
                              <a:solidFill>
                                <a:schemeClr val="tx1"/>
                              </a:solidFill>
                              <a:latin typeface="Cambria Math" panose="02040503050406030204" pitchFamily="18" charset="0"/>
                              <a:ea typeface="Cambria Math" panose="02040503050406030204" pitchFamily="18" charset="0"/>
                            </a:rPr>
                            <m:t>𝜎</m:t>
                          </m:r>
                        </m:e>
                        <m:sub>
                          <m:r>
                            <a:rPr lang="en-US" altLang="zh-CN" sz="2800" b="0" i="1" smtClean="0">
                              <a:solidFill>
                                <a:schemeClr val="tx1"/>
                              </a:solidFill>
                              <a:latin typeface="Cambria Math" panose="02040503050406030204" pitchFamily="18" charset="0"/>
                              <a:ea typeface="Cambria Math" panose="02040503050406030204" pitchFamily="18" charset="0"/>
                            </a:rPr>
                            <m:t>𝐼</m:t>
                          </m:r>
                        </m:sub>
                      </m:sSub>
                      <m:r>
                        <a:rPr lang="en-US" altLang="zh-CN" sz="2800" b="0" i="1" smtClean="0">
                          <a:solidFill>
                            <a:schemeClr val="tx1"/>
                          </a:solidFill>
                          <a:latin typeface="Cambria Math" panose="02040503050406030204" pitchFamily="18" charset="0"/>
                          <a:ea typeface="Cambria Math" panose="02040503050406030204" pitchFamily="18" charset="0"/>
                        </a:rPr>
                        <m:t>=−</m:t>
                      </m:r>
                      <m:nary>
                        <m:naryPr>
                          <m:chr m:val="∑"/>
                          <m:supHide m:val="on"/>
                          <m:ctrlPr>
                            <a:rPr lang="en-US" altLang="zh-CN" sz="2800" b="0" i="1" smtClean="0">
                              <a:solidFill>
                                <a:schemeClr val="tx1"/>
                              </a:solidFill>
                              <a:latin typeface="Cambria Math" panose="02040503050406030204" pitchFamily="18" charset="0"/>
                              <a:ea typeface="Cambria Math" panose="02040503050406030204" pitchFamily="18" charset="0"/>
                            </a:rPr>
                          </m:ctrlPr>
                        </m:naryPr>
                        <m:sub>
                          <m:r>
                            <m:rPr>
                              <m:brk m:alnAt="7"/>
                            </m:rPr>
                            <a:rPr lang="en-US" altLang="zh-CN" sz="2800" b="0" i="1" smtClean="0">
                              <a:solidFill>
                                <a:schemeClr val="tx1"/>
                              </a:solidFill>
                              <a:latin typeface="Cambria Math" panose="02040503050406030204" pitchFamily="18" charset="0"/>
                              <a:ea typeface="Cambria Math" panose="02040503050406030204" pitchFamily="18" charset="0"/>
                            </a:rPr>
                            <m:t>𝑠</m:t>
                          </m:r>
                        </m:sub>
                        <m:sup/>
                        <m:e>
                          <m:r>
                            <a:rPr lang="en-US" altLang="zh-CN" sz="2800" b="0" i="1" smtClean="0">
                              <a:solidFill>
                                <a:schemeClr val="tx1"/>
                              </a:solidFill>
                              <a:latin typeface="Cambria Math" panose="02040503050406030204" pitchFamily="18" charset="0"/>
                              <a:ea typeface="Cambria Math" panose="02040503050406030204" pitchFamily="18" charset="0"/>
                            </a:rPr>
                            <m:t>𝑃</m:t>
                          </m:r>
                          <m:d>
                            <m:dPr>
                              <m:ctrlPr>
                                <a:rPr lang="en-US" altLang="zh-CN" sz="2800" b="0" i="1" smtClean="0">
                                  <a:solidFill>
                                    <a:schemeClr val="tx1"/>
                                  </a:solidFill>
                                  <a:latin typeface="Cambria Math" panose="02040503050406030204" pitchFamily="18" charset="0"/>
                                  <a:ea typeface="Cambria Math" panose="02040503050406030204" pitchFamily="18" charset="0"/>
                                </a:rPr>
                              </m:ctrlPr>
                            </m:dPr>
                            <m:e>
                              <m:r>
                                <a:rPr lang="en-US" altLang="zh-CN" sz="2800" b="0" i="1" smtClean="0">
                                  <a:solidFill>
                                    <a:schemeClr val="tx1"/>
                                  </a:solidFill>
                                  <a:latin typeface="Cambria Math" panose="02040503050406030204" pitchFamily="18" charset="0"/>
                                  <a:ea typeface="Cambria Math" panose="02040503050406030204" pitchFamily="18" charset="0"/>
                                </a:rPr>
                                <m:t>𝑠</m:t>
                              </m:r>
                            </m:e>
                          </m:d>
                          <m:func>
                            <m:funcPr>
                              <m:ctrlPr>
                                <a:rPr lang="en-US" altLang="zh-CN"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altLang="zh-CN" sz="2800" b="0" i="0" smtClean="0">
                                  <a:solidFill>
                                    <a:schemeClr val="tx1"/>
                                  </a:solidFill>
                                  <a:latin typeface="Cambria Math" panose="02040503050406030204" pitchFamily="18" charset="0"/>
                                  <a:ea typeface="Cambria Math" panose="02040503050406030204" pitchFamily="18" charset="0"/>
                                </a:rPr>
                                <m:t>log</m:t>
                              </m:r>
                            </m:fName>
                            <m:e>
                              <m:r>
                                <a:rPr lang="en-US" altLang="zh-CN" sz="2800" b="0" i="1" smtClean="0">
                                  <a:solidFill>
                                    <a:schemeClr val="tx1"/>
                                  </a:solidFill>
                                  <a:latin typeface="Cambria Math" panose="02040503050406030204" pitchFamily="18" charset="0"/>
                                  <a:ea typeface="Cambria Math" panose="02040503050406030204" pitchFamily="18" charset="0"/>
                                </a:rPr>
                                <m:t>𝑃</m:t>
                              </m:r>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𝑠</m:t>
                              </m:r>
                              <m:r>
                                <a:rPr lang="en-US" altLang="zh-CN" sz="2800" b="0" i="1" smtClean="0">
                                  <a:solidFill>
                                    <a:schemeClr val="tx1"/>
                                  </a:solidFill>
                                  <a:latin typeface="Cambria Math" panose="02040503050406030204" pitchFamily="18" charset="0"/>
                                  <a:ea typeface="Cambria Math" panose="02040503050406030204" pitchFamily="18" charset="0"/>
                                </a:rPr>
                                <m:t>)</m:t>
                              </m:r>
                            </m:e>
                          </m:func>
                        </m:e>
                      </m:nary>
                    </m:oMath>
                  </m:oMathPara>
                </a14:m>
                <a:endParaRPr lang="en-CN" sz="2800" dirty="0"/>
              </a:p>
            </p:txBody>
          </p:sp>
        </mc:Choice>
        <mc:Fallback xmlns="">
          <p:sp>
            <p:nvSpPr>
              <p:cNvPr id="12" name="TextBox 11">
                <a:extLst>
                  <a:ext uri="{FF2B5EF4-FFF2-40B4-BE49-F238E27FC236}">
                    <a16:creationId xmlns:a16="http://schemas.microsoft.com/office/drawing/2014/main" id="{57D1116B-335D-7043-8849-E8BCDDD11F6C}"/>
                  </a:ext>
                </a:extLst>
              </p:cNvPr>
              <p:cNvSpPr txBox="1">
                <a:spLocks noRot="1" noChangeAspect="1" noMove="1" noResize="1" noEditPoints="1" noAdjustHandles="1" noChangeArrowheads="1" noChangeShapeType="1" noTextEdit="1"/>
              </p:cNvSpPr>
              <p:nvPr/>
            </p:nvSpPr>
            <p:spPr>
              <a:xfrm>
                <a:off x="554182" y="2755803"/>
                <a:ext cx="3990109" cy="1137876"/>
              </a:xfrm>
              <a:prstGeom prst="rect">
                <a:avLst/>
              </a:prstGeom>
              <a:blipFill>
                <a:blip r:embed="rId5"/>
                <a:stretch>
                  <a:fillRect l="-1587" t="-128571" b="-180220"/>
                </a:stretch>
              </a:blipFill>
            </p:spPr>
            <p:txBody>
              <a:bodyPr/>
              <a:lstStyle/>
              <a:p>
                <a:r>
                  <a:rPr lang="en-CN">
                    <a:noFill/>
                  </a:rPr>
                  <a:t> </a:t>
                </a:r>
              </a:p>
            </p:txBody>
          </p:sp>
        </mc:Fallback>
      </mc:AlternateContent>
      <p:sp>
        <p:nvSpPr>
          <p:cNvPr id="4" name="Right Arrow 3">
            <a:extLst>
              <a:ext uri="{FF2B5EF4-FFF2-40B4-BE49-F238E27FC236}">
                <a16:creationId xmlns:a16="http://schemas.microsoft.com/office/drawing/2014/main" id="{8F4116E4-ED74-3F4C-AD0A-95ED6175EE1F}"/>
              </a:ext>
            </a:extLst>
          </p:cNvPr>
          <p:cNvSpPr/>
          <p:nvPr/>
        </p:nvSpPr>
        <p:spPr>
          <a:xfrm rot="2717000">
            <a:off x="3258542" y="4170258"/>
            <a:ext cx="1814945" cy="4226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5" name="Right Arrow 14">
            <a:extLst>
              <a:ext uri="{FF2B5EF4-FFF2-40B4-BE49-F238E27FC236}">
                <a16:creationId xmlns:a16="http://schemas.microsoft.com/office/drawing/2014/main" id="{FB398786-7BBE-9440-AF4F-F4D80C1B9EFD}"/>
              </a:ext>
            </a:extLst>
          </p:cNvPr>
          <p:cNvSpPr/>
          <p:nvPr/>
        </p:nvSpPr>
        <p:spPr>
          <a:xfrm rot="18809161">
            <a:off x="7377645" y="4269478"/>
            <a:ext cx="1814945" cy="364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6" name="Right Arrow 15">
            <a:extLst>
              <a:ext uri="{FF2B5EF4-FFF2-40B4-BE49-F238E27FC236}">
                <a16:creationId xmlns:a16="http://schemas.microsoft.com/office/drawing/2014/main" id="{F4F67843-FABC-4548-ADB6-5392D3B3F23A}"/>
              </a:ext>
            </a:extLst>
          </p:cNvPr>
          <p:cNvSpPr/>
          <p:nvPr/>
        </p:nvSpPr>
        <p:spPr>
          <a:xfrm rot="10800000">
            <a:off x="5475178" y="3093291"/>
            <a:ext cx="1814945" cy="5082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Tree>
    <p:extLst>
      <p:ext uri="{BB962C8B-B14F-4D97-AF65-F5344CB8AC3E}">
        <p14:creationId xmlns:p14="http://schemas.microsoft.com/office/powerpoint/2010/main" val="12656856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AAFC942-DDDB-4646-A5C4-D34CC56446D1}"/>
              </a:ext>
            </a:extLst>
          </p:cNvPr>
          <p:cNvSpPr txBox="1"/>
          <p:nvPr/>
        </p:nvSpPr>
        <p:spPr>
          <a:xfrm>
            <a:off x="544749" y="369651"/>
            <a:ext cx="11128442" cy="461665"/>
          </a:xfrm>
          <a:prstGeom prst="rect">
            <a:avLst/>
          </a:prstGeom>
          <a:noFill/>
        </p:spPr>
        <p:txBody>
          <a:bodyPr wrap="square" rtlCol="0">
            <a:spAutoFit/>
          </a:bodyPr>
          <a:lstStyle/>
          <a:p>
            <a:r>
              <a:rPr lang="en-CN" sz="2400" dirty="0">
                <a:solidFill>
                  <a:srgbClr val="FF0000"/>
                </a:solidFill>
              </a:rPr>
              <a:t>正则系</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A66651C-45D3-C84C-A3A7-3F7A342845F2}"/>
                  </a:ext>
                </a:extLst>
              </p:cNvPr>
              <p:cNvSpPr txBox="1"/>
              <p:nvPr/>
            </p:nvSpPr>
            <p:spPr>
              <a:xfrm>
                <a:off x="3408218" y="942109"/>
                <a:ext cx="5486400" cy="123264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3600" i="1" smtClean="0">
                          <a:latin typeface="Cambria Math" panose="02040503050406030204" pitchFamily="18" charset="0"/>
                          <a:ea typeface="Cambria Math" panose="02040503050406030204" pitchFamily="18" charset="0"/>
                        </a:rPr>
                        <m:t>𝜎</m:t>
                      </m:r>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d>
                            <m:dPr>
                              <m:ctrlPr>
                                <a:rPr lang="en-US" sz="3600" b="0" i="1" smtClean="0">
                                  <a:latin typeface="Cambria Math" panose="02040503050406030204" pitchFamily="18" charset="0"/>
                                  <a:ea typeface="Cambria Math" panose="02040503050406030204" pitchFamily="18" charset="0"/>
                                </a:rPr>
                              </m:ctrlPr>
                            </m:dPr>
                            <m:e>
                              <m:f>
                                <m:fPr>
                                  <m:ctrlPr>
                                    <a:rPr lang="en-US" sz="3600" b="0" i="1" smtClean="0">
                                      <a:latin typeface="Cambria Math" panose="02040503050406030204" pitchFamily="18" charset="0"/>
                                      <a:ea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 </m:t>
                                  </m:r>
                                  <m:r>
                                    <a:rPr lang="en-US" sz="3600" b="0" i="1" smtClean="0">
                                      <a:latin typeface="Cambria Math" panose="02040503050406030204" pitchFamily="18" charset="0"/>
                                      <a:ea typeface="Cambria Math" panose="02040503050406030204" pitchFamily="18" charset="0"/>
                                    </a:rPr>
                                    <m:t>𝐹</m:t>
                                  </m:r>
                                </m:num>
                                <m:den>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 </m:t>
                                  </m:r>
                                  <m:r>
                                    <a:rPr lang="en-US" sz="3600" b="0" i="1" smtClean="0">
                                      <a:latin typeface="Cambria Math" panose="02040503050406030204" pitchFamily="18" charset="0"/>
                                      <a:ea typeface="Cambria Math" panose="02040503050406030204" pitchFamily="18" charset="0"/>
                                    </a:rPr>
                                    <m:t>𝜏</m:t>
                                  </m:r>
                                </m:den>
                              </m:f>
                            </m:e>
                          </m:d>
                        </m:e>
                        <m:sub>
                          <m:r>
                            <a:rPr lang="en-US" sz="3600" b="0" i="1" smtClean="0">
                              <a:latin typeface="Cambria Math" panose="02040503050406030204" pitchFamily="18" charset="0"/>
                              <a:ea typeface="Cambria Math" panose="02040503050406030204" pitchFamily="18" charset="0"/>
                            </a:rPr>
                            <m:t>𝑉</m:t>
                          </m:r>
                        </m:sub>
                      </m:sSub>
                    </m:oMath>
                  </m:oMathPara>
                </a14:m>
                <a:endParaRPr lang="en-CN" sz="3600" dirty="0"/>
              </a:p>
            </p:txBody>
          </p:sp>
        </mc:Choice>
        <mc:Fallback xmlns="">
          <p:sp>
            <p:nvSpPr>
              <p:cNvPr id="2" name="TextBox 1">
                <a:extLst>
                  <a:ext uri="{FF2B5EF4-FFF2-40B4-BE49-F238E27FC236}">
                    <a16:creationId xmlns:a16="http://schemas.microsoft.com/office/drawing/2014/main" id="{0A66651C-45D3-C84C-A3A7-3F7A342845F2}"/>
                  </a:ext>
                </a:extLst>
              </p:cNvPr>
              <p:cNvSpPr txBox="1">
                <a:spLocks noRot="1" noChangeAspect="1" noMove="1" noResize="1" noEditPoints="1" noAdjustHandles="1" noChangeArrowheads="1" noChangeShapeType="1" noTextEdit="1"/>
              </p:cNvSpPr>
              <p:nvPr/>
            </p:nvSpPr>
            <p:spPr>
              <a:xfrm>
                <a:off x="3408218" y="942109"/>
                <a:ext cx="5486400" cy="1232645"/>
              </a:xfrm>
              <a:prstGeom prst="rect">
                <a:avLst/>
              </a:prstGeom>
              <a:blipFill>
                <a:blip r:embed="rId2"/>
                <a:stretch>
                  <a:fillRect t="-3061" b="-1530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196B7CD-4914-E849-8379-42ABBE3570CE}"/>
                  </a:ext>
                </a:extLst>
              </p:cNvPr>
              <p:cNvSpPr txBox="1"/>
              <p:nvPr/>
            </p:nvSpPr>
            <p:spPr>
              <a:xfrm>
                <a:off x="4613564" y="2715491"/>
                <a:ext cx="3034145" cy="6463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𝐹</m:t>
                      </m:r>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𝜏</m:t>
                      </m:r>
                      <m:func>
                        <m:funcPr>
                          <m:ctrlPr>
                            <a:rPr lang="en-US" sz="3600" b="0" i="1" smtClean="0">
                              <a:latin typeface="Cambria Math" panose="02040503050406030204" pitchFamily="18" charset="0"/>
                              <a:ea typeface="Cambria Math" panose="02040503050406030204" pitchFamily="18" charset="0"/>
                            </a:rPr>
                          </m:ctrlPr>
                        </m:funcPr>
                        <m:fName>
                          <m:r>
                            <m:rPr>
                              <m:sty m:val="p"/>
                            </m:rPr>
                            <a:rPr lang="en-US" sz="3600" b="0" i="0" smtClean="0">
                              <a:latin typeface="Cambria Math" panose="02040503050406030204" pitchFamily="18" charset="0"/>
                              <a:ea typeface="Cambria Math" panose="02040503050406030204" pitchFamily="18" charset="0"/>
                            </a:rPr>
                            <m:t>log</m:t>
                          </m:r>
                        </m:fName>
                        <m:e>
                          <m:r>
                            <a:rPr lang="en-US" sz="3600" b="0" i="1" smtClean="0">
                              <a:latin typeface="Cambria Math" panose="02040503050406030204" pitchFamily="18" charset="0"/>
                              <a:ea typeface="Cambria Math" panose="02040503050406030204" pitchFamily="18" charset="0"/>
                            </a:rPr>
                            <m:t>𝑍</m:t>
                          </m:r>
                        </m:e>
                      </m:func>
                    </m:oMath>
                  </m:oMathPara>
                </a14:m>
                <a:endParaRPr lang="en-CN" sz="3600" dirty="0"/>
              </a:p>
            </p:txBody>
          </p:sp>
        </mc:Choice>
        <mc:Fallback xmlns="">
          <p:sp>
            <p:nvSpPr>
              <p:cNvPr id="3" name="TextBox 2">
                <a:extLst>
                  <a:ext uri="{FF2B5EF4-FFF2-40B4-BE49-F238E27FC236}">
                    <a16:creationId xmlns:a16="http://schemas.microsoft.com/office/drawing/2014/main" id="{A196B7CD-4914-E849-8379-42ABBE3570CE}"/>
                  </a:ext>
                </a:extLst>
              </p:cNvPr>
              <p:cNvSpPr txBox="1">
                <a:spLocks noRot="1" noChangeAspect="1" noMove="1" noResize="1" noEditPoints="1" noAdjustHandles="1" noChangeArrowheads="1" noChangeShapeType="1" noTextEdit="1"/>
              </p:cNvSpPr>
              <p:nvPr/>
            </p:nvSpPr>
            <p:spPr>
              <a:xfrm>
                <a:off x="4613564" y="2715491"/>
                <a:ext cx="3034145" cy="646331"/>
              </a:xfrm>
              <a:prstGeom prst="rect">
                <a:avLst/>
              </a:prstGeom>
              <a:blipFill>
                <a:blip r:embed="rId3"/>
                <a:stretch>
                  <a:fillRect b="-2115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6CE6D3C-E2F9-8C47-B6B8-FE6747142512}"/>
                  </a:ext>
                </a:extLst>
              </p:cNvPr>
              <p:cNvSpPr txBox="1"/>
              <p:nvPr/>
            </p:nvSpPr>
            <p:spPr>
              <a:xfrm>
                <a:off x="4613564" y="4087090"/>
                <a:ext cx="3131127" cy="14366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𝑍</m:t>
                      </m:r>
                      <m:r>
                        <a:rPr lang="en-US" sz="3600" b="0" i="1" smtClean="0">
                          <a:latin typeface="Cambria Math" panose="02040503050406030204" pitchFamily="18" charset="0"/>
                        </a:rPr>
                        <m:t>=</m:t>
                      </m:r>
                      <m:nary>
                        <m:naryPr>
                          <m:chr m:val="∑"/>
                          <m:supHide m:val="on"/>
                          <m:ctrlPr>
                            <a:rPr lang="en-US" sz="3600" b="0" i="1" smtClean="0">
                              <a:latin typeface="Cambria Math" panose="02040503050406030204" pitchFamily="18" charset="0"/>
                            </a:rPr>
                          </m:ctrlPr>
                        </m:naryPr>
                        <m:sub>
                          <m:r>
                            <m:rPr>
                              <m:brk m:alnAt="7"/>
                            </m:rPr>
                            <a:rPr lang="en-US" sz="3600" b="0" i="1" smtClean="0">
                              <a:latin typeface="Cambria Math" panose="02040503050406030204" pitchFamily="18" charset="0"/>
                            </a:rPr>
                            <m:t>𝑠</m:t>
                          </m:r>
                        </m:sub>
                        <m:sup/>
                        <m:e>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𝑒</m:t>
                              </m:r>
                            </m:e>
                            <m:sup>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𝜀</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𝜏</m:t>
                              </m:r>
                            </m:sup>
                          </m:sSup>
                        </m:e>
                      </m:nary>
                    </m:oMath>
                  </m:oMathPara>
                </a14:m>
                <a:endParaRPr lang="en-CN" sz="3600" dirty="0"/>
              </a:p>
            </p:txBody>
          </p:sp>
        </mc:Choice>
        <mc:Fallback xmlns="">
          <p:sp>
            <p:nvSpPr>
              <p:cNvPr id="4" name="TextBox 3">
                <a:extLst>
                  <a:ext uri="{FF2B5EF4-FFF2-40B4-BE49-F238E27FC236}">
                    <a16:creationId xmlns:a16="http://schemas.microsoft.com/office/drawing/2014/main" id="{66CE6D3C-E2F9-8C47-B6B8-FE6747142512}"/>
                  </a:ext>
                </a:extLst>
              </p:cNvPr>
              <p:cNvSpPr txBox="1">
                <a:spLocks noRot="1" noChangeAspect="1" noMove="1" noResize="1" noEditPoints="1" noAdjustHandles="1" noChangeArrowheads="1" noChangeShapeType="1" noTextEdit="1"/>
              </p:cNvSpPr>
              <p:nvPr/>
            </p:nvSpPr>
            <p:spPr>
              <a:xfrm>
                <a:off x="4613564" y="4087090"/>
                <a:ext cx="3131127" cy="1436612"/>
              </a:xfrm>
              <a:prstGeom prst="rect">
                <a:avLst/>
              </a:prstGeom>
              <a:blipFill>
                <a:blip r:embed="rId4"/>
                <a:stretch>
                  <a:fillRect l="-19433" t="-135088" b="-189474"/>
                </a:stretch>
              </a:blipFill>
            </p:spPr>
            <p:txBody>
              <a:bodyPr/>
              <a:lstStyle/>
              <a:p>
                <a:r>
                  <a:rPr lang="en-CN">
                    <a:noFill/>
                  </a:rPr>
                  <a:t> </a:t>
                </a:r>
              </a:p>
            </p:txBody>
          </p:sp>
        </mc:Fallback>
      </mc:AlternateContent>
      <p:sp>
        <p:nvSpPr>
          <p:cNvPr id="5" name="Curved Up Arrow 4">
            <a:extLst>
              <a:ext uri="{FF2B5EF4-FFF2-40B4-BE49-F238E27FC236}">
                <a16:creationId xmlns:a16="http://schemas.microsoft.com/office/drawing/2014/main" id="{08230A59-44D4-F747-BE39-D6C0E4875E26}"/>
              </a:ext>
            </a:extLst>
          </p:cNvPr>
          <p:cNvSpPr/>
          <p:nvPr/>
        </p:nvSpPr>
        <p:spPr>
          <a:xfrm rot="16417710">
            <a:off x="7379144" y="1850465"/>
            <a:ext cx="1904087" cy="62132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4" name="Curved Up Arrow 13">
            <a:extLst>
              <a:ext uri="{FF2B5EF4-FFF2-40B4-BE49-F238E27FC236}">
                <a16:creationId xmlns:a16="http://schemas.microsoft.com/office/drawing/2014/main" id="{2EE7872A-CC77-5243-B915-A643E7740264}"/>
              </a:ext>
            </a:extLst>
          </p:cNvPr>
          <p:cNvSpPr/>
          <p:nvPr/>
        </p:nvSpPr>
        <p:spPr>
          <a:xfrm rot="16417710">
            <a:off x="7357950" y="3817770"/>
            <a:ext cx="1904087" cy="62132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Tree>
    <p:extLst>
      <p:ext uri="{BB962C8B-B14F-4D97-AF65-F5344CB8AC3E}">
        <p14:creationId xmlns:p14="http://schemas.microsoft.com/office/powerpoint/2010/main" val="9801391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676D9A-C12F-A54A-99F4-50D70B9E45D7}"/>
              </a:ext>
            </a:extLst>
          </p:cNvPr>
          <p:cNvSpPr txBox="1"/>
          <p:nvPr/>
        </p:nvSpPr>
        <p:spPr>
          <a:xfrm>
            <a:off x="569843" y="331304"/>
            <a:ext cx="10853531" cy="707886"/>
          </a:xfrm>
          <a:prstGeom prst="rect">
            <a:avLst/>
          </a:prstGeom>
          <a:noFill/>
        </p:spPr>
        <p:txBody>
          <a:bodyPr wrap="square" rtlCol="0">
            <a:spAutoFit/>
          </a:bodyPr>
          <a:lstStyle/>
          <a:p>
            <a:r>
              <a:rPr lang="en-US" sz="4000" dirty="0" err="1"/>
              <a:t>一</a:t>
            </a:r>
            <a:r>
              <a:rPr lang="zh-CN" altLang="en-US" sz="4000" dirty="0"/>
              <a:t>、</a:t>
            </a:r>
            <a:r>
              <a:rPr lang="en-US" sz="4000" dirty="0" err="1"/>
              <a:t>约束在方盒子中的单粒子</a:t>
            </a:r>
            <a:endParaRPr lang="en-CN" sz="4000" dirty="0"/>
          </a:p>
        </p:txBody>
      </p:sp>
      <p:sp>
        <p:nvSpPr>
          <p:cNvPr id="3" name="Cube 2">
            <a:extLst>
              <a:ext uri="{FF2B5EF4-FFF2-40B4-BE49-F238E27FC236}">
                <a16:creationId xmlns:a16="http://schemas.microsoft.com/office/drawing/2014/main" id="{ACAC530A-EEF2-3B4E-A126-C950840B3BF6}"/>
              </a:ext>
            </a:extLst>
          </p:cNvPr>
          <p:cNvSpPr/>
          <p:nvPr/>
        </p:nvSpPr>
        <p:spPr>
          <a:xfrm>
            <a:off x="1117125" y="1665541"/>
            <a:ext cx="3578087" cy="3617844"/>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6" name="Oval 5">
            <a:extLst>
              <a:ext uri="{FF2B5EF4-FFF2-40B4-BE49-F238E27FC236}">
                <a16:creationId xmlns:a16="http://schemas.microsoft.com/office/drawing/2014/main" id="{84B911A5-12E7-9549-A4E1-6A20383F8788}"/>
              </a:ext>
            </a:extLst>
          </p:cNvPr>
          <p:cNvSpPr/>
          <p:nvPr/>
        </p:nvSpPr>
        <p:spPr>
          <a:xfrm>
            <a:off x="1926072" y="3474463"/>
            <a:ext cx="233464" cy="222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C7F92B50-3C3D-EC44-8455-CF633C991A79}"/>
              </a:ext>
            </a:extLst>
          </p:cNvPr>
          <p:cNvSpPr txBox="1"/>
          <p:nvPr/>
        </p:nvSpPr>
        <p:spPr>
          <a:xfrm>
            <a:off x="194549" y="3326856"/>
            <a:ext cx="603115" cy="523220"/>
          </a:xfrm>
          <a:prstGeom prst="rect">
            <a:avLst/>
          </a:prstGeom>
          <a:noFill/>
        </p:spPr>
        <p:txBody>
          <a:bodyPr wrap="square" rtlCol="0">
            <a:spAutoFit/>
          </a:bodyPr>
          <a:lstStyle/>
          <a:p>
            <a:r>
              <a:rPr lang="en-CN" sz="2800" dirty="0">
                <a:solidFill>
                  <a:srgbClr val="FF0000"/>
                </a:solidFill>
              </a:rPr>
              <a:t>L</a:t>
            </a:r>
          </a:p>
        </p:txBody>
      </p:sp>
      <p:sp>
        <p:nvSpPr>
          <p:cNvPr id="11" name="TextBox 10">
            <a:extLst>
              <a:ext uri="{FF2B5EF4-FFF2-40B4-BE49-F238E27FC236}">
                <a16:creationId xmlns:a16="http://schemas.microsoft.com/office/drawing/2014/main" id="{55E12BA7-A150-054A-93A8-154024EB95E1}"/>
              </a:ext>
            </a:extLst>
          </p:cNvPr>
          <p:cNvSpPr txBox="1"/>
          <p:nvPr/>
        </p:nvSpPr>
        <p:spPr>
          <a:xfrm>
            <a:off x="5014673" y="1411725"/>
            <a:ext cx="6538403" cy="707886"/>
          </a:xfrm>
          <a:prstGeom prst="rect">
            <a:avLst/>
          </a:prstGeom>
          <a:noFill/>
        </p:spPr>
        <p:txBody>
          <a:bodyPr wrap="square" rtlCol="0">
            <a:spAutoFit/>
          </a:bodyPr>
          <a:lstStyle/>
          <a:p>
            <a:r>
              <a:rPr lang="en-CN" sz="2000" dirty="0"/>
              <a:t>考虑约束在边长为L方盒子中一个粒子</a:t>
            </a:r>
            <a:r>
              <a:rPr lang="zh-CN" altLang="en-US" sz="2000" dirty="0"/>
              <a:t>，其质量为</a:t>
            </a:r>
            <a:r>
              <a:rPr lang="en-US" altLang="zh-CN" sz="2000" dirty="0"/>
              <a:t>m</a:t>
            </a:r>
            <a:r>
              <a:rPr lang="zh-CN" altLang="en-US" sz="2000" dirty="0"/>
              <a:t>，根据三维</a:t>
            </a:r>
            <a:r>
              <a:rPr lang="zh-CN" altLang="en-CN" sz="2000" dirty="0"/>
              <a:t>无限</a:t>
            </a:r>
            <a:r>
              <a:rPr lang="zh-CN" altLang="en-US" sz="2000" dirty="0"/>
              <a:t>深势阱知识，可以求其定态波函数及能级</a:t>
            </a:r>
            <a:endParaRPr lang="en-CN" sz="20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6350963-F6FF-0947-BCDC-D17CFA91BE81}"/>
                  </a:ext>
                </a:extLst>
              </p:cNvPr>
              <p:cNvSpPr txBox="1"/>
              <p:nvPr/>
            </p:nvSpPr>
            <p:spPr>
              <a:xfrm>
                <a:off x="4833102" y="2164845"/>
                <a:ext cx="6898449" cy="10804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CN" sz="3200" i="1" smtClean="0">
                              <a:latin typeface="Cambria Math" panose="02040503050406030204" pitchFamily="18" charset="0"/>
                            </a:rPr>
                          </m:ctrlPr>
                        </m:sSubPr>
                        <m:e>
                          <m:r>
                            <a:rPr lang="en-CN" sz="320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𝜋</m:t>
                              </m:r>
                            </m:e>
                            <m:sup>
                              <m:r>
                                <a:rPr lang="en-US" sz="3200" b="0" i="1" smtClean="0">
                                  <a:latin typeface="Cambria Math" panose="02040503050406030204" pitchFamily="18" charset="0"/>
                                </a:rPr>
                                <m:t>2</m:t>
                              </m:r>
                            </m:sup>
                          </m:sSup>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ℏ</m:t>
                              </m:r>
                            </m:e>
                            <m:sup>
                              <m:r>
                                <a:rPr lang="en-US" sz="3200" b="0" i="1" smtClean="0">
                                  <a:latin typeface="Cambria Math" panose="02040503050406030204" pitchFamily="18" charset="0"/>
                                </a:rPr>
                                <m:t>2</m:t>
                              </m:r>
                            </m:sup>
                          </m:sSup>
                        </m:num>
                        <m:den>
                          <m:r>
                            <a:rPr lang="en-US" sz="3200" b="0" i="1" smtClean="0">
                              <a:latin typeface="Cambria Math" panose="02040503050406030204" pitchFamily="18" charset="0"/>
                            </a:rPr>
                            <m:t>2</m:t>
                          </m:r>
                          <m:r>
                            <a:rPr lang="en-US" sz="3200" b="0" i="1" smtClean="0">
                              <a:latin typeface="Cambria Math" panose="02040503050406030204" pitchFamily="18" charset="0"/>
                            </a:rPr>
                            <m:t>𝑚</m:t>
                          </m:r>
                          <m:sSup>
                            <m:sSupPr>
                              <m:ctrlPr>
                                <a:rPr lang="en-US" sz="3200" b="0" i="1" smtClean="0">
                                  <a:latin typeface="Cambria Math" panose="02040503050406030204" pitchFamily="18" charset="0"/>
                                </a:rPr>
                              </m:ctrlPr>
                            </m:sSupPr>
                            <m:e>
                              <m:r>
                                <a:rPr lang="en-US" sz="3200" b="0" i="1" smtClean="0">
                                  <a:solidFill>
                                    <a:srgbClr val="FF0000"/>
                                  </a:solidFill>
                                  <a:latin typeface="Cambria Math" panose="02040503050406030204" pitchFamily="18" charset="0"/>
                                </a:rPr>
                                <m:t>𝐿</m:t>
                              </m:r>
                            </m:e>
                            <m:sup>
                              <m:r>
                                <a:rPr lang="en-US" sz="3200" b="0" i="1" smtClean="0">
                                  <a:latin typeface="Cambria Math" panose="02040503050406030204" pitchFamily="18" charset="0"/>
                                </a:rPr>
                                <m:t>2</m:t>
                              </m:r>
                            </m:sup>
                          </m:sSup>
                        </m:den>
                      </m:f>
                      <m:d>
                        <m:dPr>
                          <m:ctrlPr>
                            <a:rPr lang="en-US" sz="3200" b="0" i="1" smtClean="0">
                              <a:latin typeface="Cambria Math" panose="02040503050406030204" pitchFamily="18" charset="0"/>
                            </a:rPr>
                          </m:ctrlPr>
                        </m:dPr>
                        <m:e>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𝑛</m:t>
                              </m:r>
                            </m:e>
                            <m:sub>
                              <m:r>
                                <a:rPr lang="en-US" sz="3200" b="0" i="1" smtClean="0">
                                  <a:latin typeface="Cambria Math" panose="02040503050406030204" pitchFamily="18" charset="0"/>
                                </a:rPr>
                                <m:t>𝑥</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i="1">
                                  <a:latin typeface="Cambria Math" panose="02040503050406030204" pitchFamily="18" charset="0"/>
                                </a:rPr>
                              </m:ctrlPr>
                            </m:sSubSupPr>
                            <m:e>
                              <m:r>
                                <a:rPr lang="en-US" sz="3200" i="1">
                                  <a:latin typeface="Cambria Math" panose="02040503050406030204" pitchFamily="18" charset="0"/>
                                </a:rPr>
                                <m:t>𝑛</m:t>
                              </m:r>
                            </m:e>
                            <m:sub>
                              <m:r>
                                <a:rPr lang="en-US" sz="3200" b="0" i="1" smtClean="0">
                                  <a:latin typeface="Cambria Math" panose="02040503050406030204" pitchFamily="18" charset="0"/>
                                </a:rPr>
                                <m:t>𝑦</m:t>
                              </m:r>
                            </m:sub>
                            <m:sup>
                              <m:r>
                                <a:rPr lang="en-US" sz="3200" i="1">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i="1">
                                  <a:latin typeface="Cambria Math" panose="02040503050406030204" pitchFamily="18" charset="0"/>
                                </a:rPr>
                              </m:ctrlPr>
                            </m:sSubSupPr>
                            <m:e>
                              <m:r>
                                <a:rPr lang="en-US" sz="3200" i="1">
                                  <a:latin typeface="Cambria Math" panose="02040503050406030204" pitchFamily="18" charset="0"/>
                                </a:rPr>
                                <m:t>𝑛</m:t>
                              </m:r>
                            </m:e>
                            <m:sub>
                              <m:r>
                                <a:rPr lang="en-US" sz="3200" b="0" i="1" smtClean="0">
                                  <a:latin typeface="Cambria Math" panose="02040503050406030204" pitchFamily="18" charset="0"/>
                                </a:rPr>
                                <m:t>𝑧</m:t>
                              </m:r>
                            </m:sub>
                            <m:sup>
                              <m:r>
                                <a:rPr lang="en-US" sz="3200" i="1">
                                  <a:latin typeface="Cambria Math" panose="02040503050406030204" pitchFamily="18" charset="0"/>
                                </a:rPr>
                                <m:t>2</m:t>
                              </m:r>
                            </m:sup>
                          </m:sSubSup>
                        </m:e>
                      </m:d>
                    </m:oMath>
                  </m:oMathPara>
                </a14:m>
                <a:endParaRPr lang="en-CN" sz="3200" dirty="0"/>
              </a:p>
            </p:txBody>
          </p:sp>
        </mc:Choice>
        <mc:Fallback xmlns="">
          <p:sp>
            <p:nvSpPr>
              <p:cNvPr id="12" name="TextBox 11">
                <a:extLst>
                  <a:ext uri="{FF2B5EF4-FFF2-40B4-BE49-F238E27FC236}">
                    <a16:creationId xmlns:a16="http://schemas.microsoft.com/office/drawing/2014/main" id="{C6350963-F6FF-0947-BCDC-D17CFA91BE81}"/>
                  </a:ext>
                </a:extLst>
              </p:cNvPr>
              <p:cNvSpPr txBox="1">
                <a:spLocks noRot="1" noChangeAspect="1" noMove="1" noResize="1" noEditPoints="1" noAdjustHandles="1" noChangeArrowheads="1" noChangeShapeType="1" noTextEdit="1"/>
              </p:cNvSpPr>
              <p:nvPr/>
            </p:nvSpPr>
            <p:spPr>
              <a:xfrm>
                <a:off x="4833102" y="2164845"/>
                <a:ext cx="6898449" cy="1080489"/>
              </a:xfrm>
              <a:prstGeom prst="rect">
                <a:avLst/>
              </a:prstGeom>
              <a:blipFill>
                <a:blip r:embed="rId2"/>
                <a:stretch>
                  <a:fillRect b="-6977"/>
                </a:stretch>
              </a:blipFill>
            </p:spPr>
            <p:txBody>
              <a:bodyPr/>
              <a:lstStyle/>
              <a:p>
                <a:r>
                  <a:rPr lang="en-CN">
                    <a:noFill/>
                  </a:rPr>
                  <a:t> </a:t>
                </a:r>
              </a:p>
            </p:txBody>
          </p:sp>
        </mc:Fallback>
      </mc:AlternateContent>
      <p:cxnSp>
        <p:nvCxnSpPr>
          <p:cNvPr id="14" name="Straight Arrow Connector 13">
            <a:extLst>
              <a:ext uri="{FF2B5EF4-FFF2-40B4-BE49-F238E27FC236}">
                <a16:creationId xmlns:a16="http://schemas.microsoft.com/office/drawing/2014/main" id="{F00C5AE4-94CB-FC4D-9D19-68508D564EBE}"/>
              </a:ext>
            </a:extLst>
          </p:cNvPr>
          <p:cNvCxnSpPr/>
          <p:nvPr/>
        </p:nvCxnSpPr>
        <p:spPr>
          <a:xfrm flipV="1">
            <a:off x="6096000" y="3204964"/>
            <a:ext cx="0" cy="3176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2007120-162D-6641-B7B0-DF39E5AE5850}"/>
              </a:ext>
            </a:extLst>
          </p:cNvPr>
          <p:cNvCxnSpPr/>
          <p:nvPr/>
        </p:nvCxnSpPr>
        <p:spPr>
          <a:xfrm>
            <a:off x="6096000" y="6400800"/>
            <a:ext cx="46044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672DF7-6F61-C341-8A0E-2F1917C07EEE}"/>
              </a:ext>
            </a:extLst>
          </p:cNvPr>
          <p:cNvCxnSpPr/>
          <p:nvPr/>
        </p:nvCxnSpPr>
        <p:spPr>
          <a:xfrm>
            <a:off x="6342434" y="5642043"/>
            <a:ext cx="14007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B8042DA-4B63-3943-99DE-6FAE20413917}"/>
              </a:ext>
            </a:extLst>
          </p:cNvPr>
          <p:cNvCxnSpPr/>
          <p:nvPr/>
        </p:nvCxnSpPr>
        <p:spPr>
          <a:xfrm>
            <a:off x="6358649" y="4666034"/>
            <a:ext cx="14007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5039985-CE78-2F47-92AA-E1FFF7B1C04C}"/>
              </a:ext>
            </a:extLst>
          </p:cNvPr>
          <p:cNvCxnSpPr/>
          <p:nvPr/>
        </p:nvCxnSpPr>
        <p:spPr>
          <a:xfrm>
            <a:off x="6342433" y="3696508"/>
            <a:ext cx="1400783"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C80E2ED-25A0-7C4B-BEE9-A0EBFACBC5B3}"/>
              </a:ext>
            </a:extLst>
          </p:cNvPr>
          <p:cNvSpPr txBox="1"/>
          <p:nvPr/>
        </p:nvSpPr>
        <p:spPr>
          <a:xfrm>
            <a:off x="8035047" y="5437813"/>
            <a:ext cx="2665379" cy="369332"/>
          </a:xfrm>
          <a:prstGeom prst="rect">
            <a:avLst/>
          </a:prstGeom>
          <a:noFill/>
        </p:spPr>
        <p:txBody>
          <a:bodyPr wrap="square" rtlCol="0">
            <a:spAutoFit/>
          </a:bodyPr>
          <a:lstStyle/>
          <a:p>
            <a:r>
              <a:rPr lang="en-CN" dirty="0"/>
              <a:t>(1)          1        1        1</a:t>
            </a:r>
          </a:p>
        </p:txBody>
      </p:sp>
      <p:sp>
        <p:nvSpPr>
          <p:cNvPr id="22" name="TextBox 21">
            <a:extLst>
              <a:ext uri="{FF2B5EF4-FFF2-40B4-BE49-F238E27FC236}">
                <a16:creationId xmlns:a16="http://schemas.microsoft.com/office/drawing/2014/main" id="{4FC55CF1-A521-9440-9B72-0800D771C79F}"/>
              </a:ext>
            </a:extLst>
          </p:cNvPr>
          <p:cNvSpPr txBox="1"/>
          <p:nvPr/>
        </p:nvSpPr>
        <p:spPr>
          <a:xfrm>
            <a:off x="8022080" y="4481368"/>
            <a:ext cx="2665379" cy="369332"/>
          </a:xfrm>
          <a:prstGeom prst="rect">
            <a:avLst/>
          </a:prstGeom>
          <a:noFill/>
        </p:spPr>
        <p:txBody>
          <a:bodyPr wrap="square" rtlCol="0">
            <a:spAutoFit/>
          </a:bodyPr>
          <a:lstStyle/>
          <a:p>
            <a:r>
              <a:rPr lang="en-CN" dirty="0"/>
              <a:t>(3)          2        1        1</a:t>
            </a:r>
          </a:p>
        </p:txBody>
      </p:sp>
      <p:sp>
        <p:nvSpPr>
          <p:cNvPr id="23" name="TextBox 22">
            <a:extLst>
              <a:ext uri="{FF2B5EF4-FFF2-40B4-BE49-F238E27FC236}">
                <a16:creationId xmlns:a16="http://schemas.microsoft.com/office/drawing/2014/main" id="{B0B60273-410B-BA4E-AD3A-98F26B127E7F}"/>
              </a:ext>
            </a:extLst>
          </p:cNvPr>
          <p:cNvSpPr txBox="1"/>
          <p:nvPr/>
        </p:nvSpPr>
        <p:spPr>
          <a:xfrm>
            <a:off x="7989648" y="3547992"/>
            <a:ext cx="2665379" cy="369332"/>
          </a:xfrm>
          <a:prstGeom prst="rect">
            <a:avLst/>
          </a:prstGeom>
          <a:noFill/>
        </p:spPr>
        <p:txBody>
          <a:bodyPr wrap="square" rtlCol="0">
            <a:spAutoFit/>
          </a:bodyPr>
          <a:lstStyle/>
          <a:p>
            <a:r>
              <a:rPr lang="en-CN" dirty="0"/>
              <a:t>(3)          2       2         1</a:t>
            </a:r>
          </a:p>
        </p:txBody>
      </p:sp>
    </p:spTree>
    <p:extLst>
      <p:ext uri="{BB962C8B-B14F-4D97-AF65-F5344CB8AC3E}">
        <p14:creationId xmlns:p14="http://schemas.microsoft.com/office/powerpoint/2010/main" val="34331674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EC57CB-80D1-A045-812E-886190C8B17D}"/>
              </a:ext>
            </a:extLst>
          </p:cNvPr>
          <p:cNvSpPr txBox="1"/>
          <p:nvPr/>
        </p:nvSpPr>
        <p:spPr>
          <a:xfrm>
            <a:off x="526473" y="332509"/>
            <a:ext cx="3186545" cy="369332"/>
          </a:xfrm>
          <a:prstGeom prst="rect">
            <a:avLst/>
          </a:prstGeom>
          <a:noFill/>
        </p:spPr>
        <p:txBody>
          <a:bodyPr wrap="square" rtlCol="0">
            <a:spAutoFit/>
          </a:bodyPr>
          <a:lstStyle/>
          <a:p>
            <a:r>
              <a:rPr lang="en-CN" dirty="0"/>
              <a:t>配分函数</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2AE975B-409A-4A42-84E7-DB88CCB0602F}"/>
                  </a:ext>
                </a:extLst>
              </p:cNvPr>
              <p:cNvSpPr txBox="1"/>
              <p:nvPr/>
            </p:nvSpPr>
            <p:spPr>
              <a:xfrm>
                <a:off x="2438400" y="701841"/>
                <a:ext cx="7620000" cy="16255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𝑍</m:t>
                          </m:r>
                        </m:e>
                        <m:sub>
                          <m:r>
                            <a:rPr lang="en-US" sz="3600" b="0" i="1" smtClean="0">
                              <a:latin typeface="Cambria Math" panose="02040503050406030204" pitchFamily="18" charset="0"/>
                            </a:rPr>
                            <m:t>1</m:t>
                          </m:r>
                        </m:sub>
                      </m:sSub>
                      <m:r>
                        <a:rPr lang="en-US" sz="3600" b="0" i="1" smtClean="0">
                          <a:latin typeface="Cambria Math" panose="02040503050406030204" pitchFamily="18" charset="0"/>
                        </a:rPr>
                        <m:t>=</m:t>
                      </m:r>
                      <m:nary>
                        <m:naryPr>
                          <m:chr m:val="∑"/>
                          <m:supHide m:val="on"/>
                          <m:ctrlPr>
                            <a:rPr lang="en-US" sz="3600" b="0" i="1" smtClean="0">
                              <a:latin typeface="Cambria Math" panose="02040503050406030204" pitchFamily="18" charset="0"/>
                            </a:rPr>
                          </m:ctrlPr>
                        </m:naryPr>
                        <m:sub>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𝑥</m:t>
                              </m:r>
                            </m:sub>
                          </m:sSub>
                        </m:sub>
                        <m:sup/>
                        <m:e>
                          <m:nary>
                            <m:naryPr>
                              <m:chr m:val="∑"/>
                              <m:supHide m:val="on"/>
                              <m:ctrlPr>
                                <a:rPr lang="en-US" sz="3600" b="0" i="1" smtClean="0">
                                  <a:latin typeface="Cambria Math" panose="02040503050406030204" pitchFamily="18" charset="0"/>
                                </a:rPr>
                              </m:ctrlPr>
                            </m:naryPr>
                            <m:sub>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𝑦</m:t>
                                  </m:r>
                                </m:sub>
                              </m:sSub>
                            </m:sub>
                            <m:sup/>
                            <m:e>
                              <m:nary>
                                <m:naryPr>
                                  <m:chr m:val="∑"/>
                                  <m:supHide m:val="on"/>
                                  <m:ctrlPr>
                                    <a:rPr lang="en-US" sz="3600" b="0" i="1" smtClean="0">
                                      <a:latin typeface="Cambria Math" panose="02040503050406030204" pitchFamily="18" charset="0"/>
                                    </a:rPr>
                                  </m:ctrlPr>
                                </m:naryPr>
                                <m:sub>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𝑧</m:t>
                                      </m:r>
                                    </m:sub>
                                  </m:sSub>
                                </m:sub>
                                <m:sup/>
                                <m:e>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𝑒</m:t>
                                      </m:r>
                                    </m:e>
                                    <m:sup>
                                      <m:r>
                                        <a:rPr lang="en-US" sz="3600" b="0" i="1" smtClean="0">
                                          <a:latin typeface="Cambria Math" panose="02040503050406030204" pitchFamily="18" charset="0"/>
                                        </a:rPr>
                                        <m:t>−</m:t>
                                      </m:r>
                                      <m:f>
                                        <m:fPr>
                                          <m:ctrlPr>
                                            <a:rPr lang="en-US" sz="3600" b="0" i="1" smtClean="0">
                                              <a:solidFill>
                                                <a:srgbClr val="FF0000"/>
                                              </a:solidFill>
                                              <a:latin typeface="Cambria Math" panose="02040503050406030204" pitchFamily="18" charset="0"/>
                                            </a:rPr>
                                          </m:ctrlPr>
                                        </m:fPr>
                                        <m:num>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panose="02040503050406030204" pitchFamily="18" charset="0"/>
                                                  <a:ea typeface="Cambria Math" panose="02040503050406030204" pitchFamily="18" charset="0"/>
                                                </a:rPr>
                                                <m:t>𝜋</m:t>
                                              </m:r>
                                            </m:e>
                                            <m:sup>
                                              <m:r>
                                                <a:rPr lang="en-US" sz="3600" b="0" i="1" smtClean="0">
                                                  <a:solidFill>
                                                    <a:srgbClr val="FF0000"/>
                                                  </a:solidFill>
                                                  <a:latin typeface="Cambria Math" panose="02040503050406030204" pitchFamily="18" charset="0"/>
                                                </a:rPr>
                                                <m:t>2</m:t>
                                              </m:r>
                                            </m:sup>
                                          </m:sSup>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panose="02040503050406030204" pitchFamily="18" charset="0"/>
                                                  <a:ea typeface="Cambria Math" panose="02040503050406030204" pitchFamily="18" charset="0"/>
                                                </a:rPr>
                                                <m:t>ℏ</m:t>
                                              </m:r>
                                            </m:e>
                                            <m:sup>
                                              <m:r>
                                                <a:rPr lang="en-US" sz="3600" b="0" i="1" smtClean="0">
                                                  <a:solidFill>
                                                    <a:srgbClr val="FF0000"/>
                                                  </a:solidFill>
                                                  <a:latin typeface="Cambria Math" panose="02040503050406030204" pitchFamily="18" charset="0"/>
                                                </a:rPr>
                                                <m:t>2</m:t>
                                              </m:r>
                                            </m:sup>
                                          </m:sSup>
                                        </m:num>
                                        <m:den>
                                          <m:r>
                                            <a:rPr lang="en-US" sz="3600" b="0" i="1" smtClean="0">
                                              <a:solidFill>
                                                <a:srgbClr val="FF0000"/>
                                              </a:solidFill>
                                              <a:latin typeface="Cambria Math" panose="02040503050406030204" pitchFamily="18" charset="0"/>
                                            </a:rPr>
                                            <m:t>2</m:t>
                                          </m:r>
                                          <m:r>
                                            <a:rPr lang="en-US" sz="3600" b="0" i="1" smtClean="0">
                                              <a:solidFill>
                                                <a:srgbClr val="FF0000"/>
                                              </a:solidFill>
                                              <a:latin typeface="Cambria Math" panose="02040503050406030204" pitchFamily="18" charset="0"/>
                                            </a:rPr>
                                            <m:t>𝑚</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panose="02040503050406030204" pitchFamily="18" charset="0"/>
                                                </a:rPr>
                                                <m:t>𝐿</m:t>
                                              </m:r>
                                            </m:e>
                                            <m:sup>
                                              <m:r>
                                                <a:rPr lang="en-US" sz="3600" b="0" i="1" smtClean="0">
                                                  <a:solidFill>
                                                    <a:srgbClr val="FF0000"/>
                                                  </a:solidFill>
                                                  <a:latin typeface="Cambria Math" panose="02040503050406030204" pitchFamily="18" charset="0"/>
                                                </a:rPr>
                                                <m:t>2</m:t>
                                              </m:r>
                                            </m:sup>
                                          </m:sSup>
                                          <m:r>
                                            <a:rPr lang="en-US" sz="3600" b="0" i="1" smtClean="0">
                                              <a:solidFill>
                                                <a:srgbClr val="FF0000"/>
                                              </a:solidFill>
                                              <a:latin typeface="Cambria Math" panose="02040503050406030204" pitchFamily="18" charset="0"/>
                                              <a:ea typeface="Cambria Math" panose="02040503050406030204" pitchFamily="18" charset="0"/>
                                            </a:rPr>
                                            <m:t>𝜏</m:t>
                                          </m:r>
                                        </m:den>
                                      </m:f>
                                      <m:d>
                                        <m:dPr>
                                          <m:ctrlPr>
                                            <a:rPr lang="en-US" sz="3600" b="0" i="1" smtClean="0">
                                              <a:latin typeface="Cambria Math" panose="02040503050406030204" pitchFamily="18" charset="0"/>
                                            </a:rPr>
                                          </m:ctrlPr>
                                        </m:dPr>
                                        <m:e>
                                          <m:sSubSup>
                                            <m:sSubSupPr>
                                              <m:ctrlPr>
                                                <a:rPr lang="en-US" sz="3600" b="0" i="1" smtClean="0">
                                                  <a:latin typeface="Cambria Math" panose="02040503050406030204" pitchFamily="18" charset="0"/>
                                                </a:rPr>
                                              </m:ctrlPr>
                                            </m:sSubSupPr>
                                            <m:e>
                                              <m:r>
                                                <a:rPr lang="en-US" sz="3600" b="0" i="1" smtClean="0">
                                                  <a:latin typeface="Cambria Math" panose="02040503050406030204" pitchFamily="18" charset="0"/>
                                                </a:rPr>
                                                <m:t>𝑛</m:t>
                                              </m:r>
                                            </m:e>
                                            <m:sub>
                                              <m:r>
                                                <a:rPr lang="en-US" sz="3600" b="0" i="1" smtClean="0">
                                                  <a:latin typeface="Cambria Math" panose="02040503050406030204" pitchFamily="18" charset="0"/>
                                                </a:rPr>
                                                <m:t>𝑥</m:t>
                                              </m:r>
                                            </m:sub>
                                            <m:sup>
                                              <m:r>
                                                <a:rPr lang="en-US" sz="3600" b="0" i="1" smtClean="0">
                                                  <a:latin typeface="Cambria Math" panose="02040503050406030204" pitchFamily="18" charset="0"/>
                                                </a:rPr>
                                                <m:t>2</m:t>
                                              </m:r>
                                            </m:sup>
                                          </m:sSubSup>
                                          <m:r>
                                            <a:rPr lang="en-US" sz="3600" b="0" i="1" smtClean="0">
                                              <a:latin typeface="Cambria Math" panose="02040503050406030204" pitchFamily="18" charset="0"/>
                                            </a:rPr>
                                            <m:t>+</m:t>
                                          </m:r>
                                          <m:sSubSup>
                                            <m:sSubSupPr>
                                              <m:ctrlPr>
                                                <a:rPr lang="en-US" sz="3600" b="0" i="1" smtClean="0">
                                                  <a:latin typeface="Cambria Math" panose="02040503050406030204" pitchFamily="18" charset="0"/>
                                                </a:rPr>
                                              </m:ctrlPr>
                                            </m:sSubSupPr>
                                            <m:e>
                                              <m:r>
                                                <a:rPr lang="en-US" sz="3600" b="0" i="1" smtClean="0">
                                                  <a:latin typeface="Cambria Math" panose="02040503050406030204" pitchFamily="18" charset="0"/>
                                                </a:rPr>
                                                <m:t>𝑛</m:t>
                                              </m:r>
                                            </m:e>
                                            <m:sub>
                                              <m:r>
                                                <a:rPr lang="en-US" sz="3600" b="0" i="1" smtClean="0">
                                                  <a:latin typeface="Cambria Math" panose="02040503050406030204" pitchFamily="18" charset="0"/>
                                                </a:rPr>
                                                <m:t>𝑦</m:t>
                                              </m:r>
                                            </m:sub>
                                            <m:sup>
                                              <m:r>
                                                <a:rPr lang="en-US" sz="3600" b="0" i="1" smtClean="0">
                                                  <a:latin typeface="Cambria Math" panose="02040503050406030204" pitchFamily="18" charset="0"/>
                                                </a:rPr>
                                                <m:t>2</m:t>
                                              </m:r>
                                            </m:sup>
                                          </m:sSubSup>
                                          <m:r>
                                            <a:rPr lang="en-US" sz="3600" b="0" i="1" smtClean="0">
                                              <a:latin typeface="Cambria Math" panose="02040503050406030204" pitchFamily="18" charset="0"/>
                                            </a:rPr>
                                            <m:t>+</m:t>
                                          </m:r>
                                          <m:sSubSup>
                                            <m:sSubSupPr>
                                              <m:ctrlPr>
                                                <a:rPr lang="en-US" sz="3600" b="0" i="1" smtClean="0">
                                                  <a:latin typeface="Cambria Math" panose="02040503050406030204" pitchFamily="18" charset="0"/>
                                                </a:rPr>
                                              </m:ctrlPr>
                                            </m:sSubSupPr>
                                            <m:e>
                                              <m:r>
                                                <a:rPr lang="en-US" sz="3600" b="0" i="1" smtClean="0">
                                                  <a:latin typeface="Cambria Math" panose="02040503050406030204" pitchFamily="18" charset="0"/>
                                                </a:rPr>
                                                <m:t>𝑛</m:t>
                                              </m:r>
                                            </m:e>
                                            <m:sub>
                                              <m:r>
                                                <a:rPr lang="en-US" sz="3600" b="0" i="1" smtClean="0">
                                                  <a:latin typeface="Cambria Math" panose="02040503050406030204" pitchFamily="18" charset="0"/>
                                                </a:rPr>
                                                <m:t>𝑧</m:t>
                                              </m:r>
                                            </m:sub>
                                            <m:sup>
                                              <m:r>
                                                <a:rPr lang="en-US" sz="3600" b="0" i="1" smtClean="0">
                                                  <a:latin typeface="Cambria Math" panose="02040503050406030204" pitchFamily="18" charset="0"/>
                                                </a:rPr>
                                                <m:t>2</m:t>
                                              </m:r>
                                            </m:sup>
                                          </m:sSubSup>
                                        </m:e>
                                      </m:d>
                                    </m:sup>
                                  </m:sSup>
                                </m:e>
                              </m:nary>
                            </m:e>
                          </m:nary>
                        </m:e>
                      </m:nary>
                    </m:oMath>
                  </m:oMathPara>
                </a14:m>
                <a:endParaRPr lang="en-CN" sz="3600" dirty="0"/>
              </a:p>
            </p:txBody>
          </p:sp>
        </mc:Choice>
        <mc:Fallback xmlns="">
          <p:sp>
            <p:nvSpPr>
              <p:cNvPr id="3" name="TextBox 2">
                <a:extLst>
                  <a:ext uri="{FF2B5EF4-FFF2-40B4-BE49-F238E27FC236}">
                    <a16:creationId xmlns:a16="http://schemas.microsoft.com/office/drawing/2014/main" id="{E2AE975B-409A-4A42-84E7-DB88CCB0602F}"/>
                  </a:ext>
                </a:extLst>
              </p:cNvPr>
              <p:cNvSpPr txBox="1">
                <a:spLocks noRot="1" noChangeAspect="1" noMove="1" noResize="1" noEditPoints="1" noAdjustHandles="1" noChangeArrowheads="1" noChangeShapeType="1" noTextEdit="1"/>
              </p:cNvSpPr>
              <p:nvPr/>
            </p:nvSpPr>
            <p:spPr>
              <a:xfrm>
                <a:off x="2438400" y="701841"/>
                <a:ext cx="7620000" cy="1625573"/>
              </a:xfrm>
              <a:prstGeom prst="rect">
                <a:avLst/>
              </a:prstGeom>
              <a:blipFill>
                <a:blip r:embed="rId2"/>
                <a:stretch>
                  <a:fillRect l="-3000" t="-116279" b="-15969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ECC1170-20CD-2B48-891F-DC2E8E812AFA}"/>
                  </a:ext>
                </a:extLst>
              </p:cNvPr>
              <p:cNvSpPr txBox="1"/>
              <p:nvPr/>
            </p:nvSpPr>
            <p:spPr>
              <a:xfrm>
                <a:off x="7329055" y="138545"/>
                <a:ext cx="117763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CN" sz="2000" i="1" smtClean="0">
                              <a:solidFill>
                                <a:srgbClr val="FF0000"/>
                              </a:solidFill>
                              <a:latin typeface="Cambria Math" panose="02040503050406030204" pitchFamily="18" charset="0"/>
                            </a:rPr>
                          </m:ctrlPr>
                        </m:sSupPr>
                        <m:e>
                          <m:r>
                            <a:rPr lang="en-CN" sz="2000" i="1" smtClean="0">
                              <a:solidFill>
                                <a:srgbClr val="FF0000"/>
                              </a:solidFill>
                              <a:latin typeface="Cambria Math" panose="02040503050406030204" pitchFamily="18" charset="0"/>
                              <a:ea typeface="Cambria Math" panose="02040503050406030204" pitchFamily="18" charset="0"/>
                            </a:rPr>
                            <m:t>𝛼</m:t>
                          </m:r>
                        </m:e>
                        <m:sup>
                          <m:r>
                            <a:rPr lang="en-US" sz="2000" b="0" i="1" smtClean="0">
                              <a:solidFill>
                                <a:srgbClr val="FF0000"/>
                              </a:solidFill>
                              <a:latin typeface="Cambria Math" panose="02040503050406030204" pitchFamily="18" charset="0"/>
                            </a:rPr>
                            <m:t>2</m:t>
                          </m:r>
                        </m:sup>
                      </m:sSup>
                    </m:oMath>
                  </m:oMathPara>
                </a14:m>
                <a:endParaRPr lang="en-CN" sz="2000" dirty="0"/>
              </a:p>
            </p:txBody>
          </p:sp>
        </mc:Choice>
        <mc:Fallback xmlns="">
          <p:sp>
            <p:nvSpPr>
              <p:cNvPr id="4" name="TextBox 3">
                <a:extLst>
                  <a:ext uri="{FF2B5EF4-FFF2-40B4-BE49-F238E27FC236}">
                    <a16:creationId xmlns:a16="http://schemas.microsoft.com/office/drawing/2014/main" id="{AECC1170-20CD-2B48-891F-DC2E8E812AFA}"/>
                  </a:ext>
                </a:extLst>
              </p:cNvPr>
              <p:cNvSpPr txBox="1">
                <a:spLocks noRot="1" noChangeAspect="1" noMove="1" noResize="1" noEditPoints="1" noAdjustHandles="1" noChangeArrowheads="1" noChangeShapeType="1" noTextEdit="1"/>
              </p:cNvSpPr>
              <p:nvPr/>
            </p:nvSpPr>
            <p:spPr>
              <a:xfrm>
                <a:off x="7329055" y="138545"/>
                <a:ext cx="1177636" cy="400110"/>
              </a:xfrm>
              <a:prstGeom prst="rect">
                <a:avLst/>
              </a:prstGeom>
              <a:blipFill>
                <a:blip r:embed="rId3"/>
                <a:stretch>
                  <a:fillRect/>
                </a:stretch>
              </a:blipFill>
            </p:spPr>
            <p:txBody>
              <a:bodyPr/>
              <a:lstStyle/>
              <a:p>
                <a:r>
                  <a:rPr lang="en-CN">
                    <a:noFill/>
                  </a:rPr>
                  <a:t> </a:t>
                </a:r>
              </a:p>
            </p:txBody>
          </p:sp>
        </mc:Fallback>
      </mc:AlternateContent>
      <p:sp>
        <p:nvSpPr>
          <p:cNvPr id="5" name="Down Arrow 4">
            <a:extLst>
              <a:ext uri="{FF2B5EF4-FFF2-40B4-BE49-F238E27FC236}">
                <a16:creationId xmlns:a16="http://schemas.microsoft.com/office/drawing/2014/main" id="{5ADD61D1-D253-6E4B-B97F-55E2FEDDA6BC}"/>
              </a:ext>
            </a:extLst>
          </p:cNvPr>
          <p:cNvSpPr/>
          <p:nvPr/>
        </p:nvSpPr>
        <p:spPr>
          <a:xfrm>
            <a:off x="5777345" y="2327414"/>
            <a:ext cx="471055" cy="11015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TextBox 5">
            <a:extLst>
              <a:ext uri="{FF2B5EF4-FFF2-40B4-BE49-F238E27FC236}">
                <a16:creationId xmlns:a16="http://schemas.microsoft.com/office/drawing/2014/main" id="{0673F654-B991-7346-BA2F-AD25914367E4}"/>
              </a:ext>
            </a:extLst>
          </p:cNvPr>
          <p:cNvSpPr txBox="1"/>
          <p:nvPr/>
        </p:nvSpPr>
        <p:spPr>
          <a:xfrm>
            <a:off x="6095999" y="2228671"/>
            <a:ext cx="3269673" cy="1200329"/>
          </a:xfrm>
          <a:prstGeom prst="rect">
            <a:avLst/>
          </a:prstGeom>
          <a:noFill/>
        </p:spPr>
        <p:txBody>
          <a:bodyPr wrap="square" rtlCol="0">
            <a:spAutoFit/>
          </a:bodyPr>
          <a:lstStyle/>
          <a:p>
            <a:r>
              <a:rPr lang="en-CN" sz="3600" dirty="0"/>
              <a:t>当能量单元</a:t>
            </a:r>
          </a:p>
          <a:p>
            <a:r>
              <a:rPr lang="en-CN" sz="3600" dirty="0"/>
              <a:t>远小于温度!</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035329C-8F4C-0E47-80B8-4BCAFD28B2A9}"/>
                  </a:ext>
                </a:extLst>
              </p:cNvPr>
              <p:cNvSpPr txBox="1"/>
              <p:nvPr/>
            </p:nvSpPr>
            <p:spPr>
              <a:xfrm>
                <a:off x="1413163" y="3429000"/>
                <a:ext cx="9365673" cy="26452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𝑍</m:t>
                          </m:r>
                        </m:e>
                        <m:sub>
                          <m:r>
                            <a:rPr lang="en-US" sz="3600" b="0" i="1" smtClean="0">
                              <a:latin typeface="Cambria Math" panose="02040503050406030204" pitchFamily="18" charset="0"/>
                            </a:rPr>
                            <m:t>1</m:t>
                          </m:r>
                        </m:sub>
                      </m:sSub>
                      <m:r>
                        <a:rPr lang="en-US" sz="3600" b="0" i="1" smtClean="0">
                          <a:latin typeface="Cambria Math" panose="02040503050406030204" pitchFamily="18" charset="0"/>
                        </a:rPr>
                        <m:t>=</m:t>
                      </m:r>
                      <m:nary>
                        <m:naryPr>
                          <m:ctrlPr>
                            <a:rPr lang="en-US" sz="3600" b="0" i="1" smtClean="0">
                              <a:latin typeface="Cambria Math" panose="02040503050406030204" pitchFamily="18" charset="0"/>
                            </a:rPr>
                          </m:ctrlPr>
                        </m:naryPr>
                        <m:sub>
                          <m:r>
                            <m:rPr>
                              <m:brk m:alnAt="23"/>
                            </m:rPr>
                            <a:rPr lang="en-US" altLang="zh-CN" sz="3600" b="0" i="1" smtClean="0">
                              <a:latin typeface="Cambria Math" panose="02040503050406030204" pitchFamily="18" charset="0"/>
                            </a:rPr>
                            <m:t>0</m:t>
                          </m:r>
                        </m:sub>
                        <m:sup>
                          <m:r>
                            <a:rPr lang="en-US" sz="3600" b="0" i="1" smtClean="0">
                              <a:latin typeface="Cambria Math" panose="02040503050406030204" pitchFamily="18" charset="0"/>
                              <a:ea typeface="Cambria Math" panose="02040503050406030204" pitchFamily="18" charset="0"/>
                            </a:rPr>
                            <m:t>∞</m:t>
                          </m:r>
                        </m:sup>
                        <m:e>
                          <m:r>
                            <a:rPr lang="en-US" sz="3600" b="0" i="1" smtClean="0">
                              <a:latin typeface="Cambria Math" panose="02040503050406030204" pitchFamily="18" charset="0"/>
                            </a:rPr>
                            <m:t>𝑑</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𝑥</m:t>
                              </m:r>
                            </m:sub>
                          </m:sSub>
                          <m:sSup>
                            <m:sSupPr>
                              <m:ctrlPr>
                                <a:rPr lang="en-US" sz="3600" i="1">
                                  <a:latin typeface="Cambria Math" panose="02040503050406030204" pitchFamily="18" charset="0"/>
                                </a:rPr>
                              </m:ctrlPr>
                            </m:sSupPr>
                            <m:e>
                              <m:r>
                                <a:rPr lang="en-US" sz="3600" b="0" i="1" smtClean="0">
                                  <a:latin typeface="Cambria Math" panose="02040503050406030204" pitchFamily="18" charset="0"/>
                                </a:rPr>
                                <m:t> </m:t>
                              </m:r>
                              <m:nary>
                                <m:naryPr>
                                  <m:ctrlPr>
                                    <a:rPr lang="en-US" sz="3600" b="0" i="1" smtClean="0">
                                      <a:latin typeface="Cambria Math" panose="02040503050406030204" pitchFamily="18" charset="0"/>
                                    </a:rPr>
                                  </m:ctrlPr>
                                </m:naryPr>
                                <m:sub>
                                  <m:r>
                                    <m:rPr>
                                      <m:brk m:alnAt="23"/>
                                    </m:rPr>
                                    <a:rPr lang="en-US" sz="3600" b="0" i="1" smtClean="0">
                                      <a:latin typeface="Cambria Math" panose="02040503050406030204" pitchFamily="18" charset="0"/>
                                    </a:rPr>
                                    <m:t>0</m:t>
                                  </m:r>
                                </m:sub>
                                <m:sup>
                                  <m:r>
                                    <a:rPr lang="en-US" sz="3600" b="0" i="1" smtClean="0">
                                      <a:latin typeface="Cambria Math" panose="02040503050406030204" pitchFamily="18" charset="0"/>
                                      <a:ea typeface="Cambria Math" panose="02040503050406030204" pitchFamily="18" charset="0"/>
                                    </a:rPr>
                                    <m:t>∞</m:t>
                                  </m:r>
                                </m:sup>
                                <m:e>
                                  <m:r>
                                    <a:rPr lang="en-US" sz="3600" b="0" i="1" smtClean="0">
                                      <a:latin typeface="Cambria Math" panose="02040503050406030204" pitchFamily="18" charset="0"/>
                                    </a:rPr>
                                    <m:t>𝑑</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𝑦</m:t>
                                      </m:r>
                                    </m:sub>
                                  </m:sSub>
                                </m:e>
                              </m:nary>
                              <m:nary>
                                <m:naryPr>
                                  <m:ctrlPr>
                                    <a:rPr lang="en-US" sz="3600" b="0" i="1" smtClean="0">
                                      <a:latin typeface="Cambria Math" panose="02040503050406030204" pitchFamily="18" charset="0"/>
                                    </a:rPr>
                                  </m:ctrlPr>
                                </m:naryPr>
                                <m:sub>
                                  <m:r>
                                    <m:rPr>
                                      <m:brk m:alnAt="23"/>
                                    </m:rPr>
                                    <a:rPr lang="en-US" sz="3600" b="0" i="1" smtClean="0">
                                      <a:latin typeface="Cambria Math" panose="02040503050406030204" pitchFamily="18" charset="0"/>
                                    </a:rPr>
                                    <m:t>0</m:t>
                                  </m:r>
                                </m:sub>
                                <m:sup>
                                  <m:r>
                                    <a:rPr lang="en-US" sz="3600" b="0" i="1" smtClean="0">
                                      <a:latin typeface="Cambria Math" panose="02040503050406030204" pitchFamily="18" charset="0"/>
                                      <a:ea typeface="Cambria Math" panose="02040503050406030204" pitchFamily="18" charset="0"/>
                                    </a:rPr>
                                    <m:t>∞</m:t>
                                  </m:r>
                                </m:sup>
                                <m:e>
                                  <m:r>
                                    <a:rPr lang="en-US" sz="3600" b="0" i="1" smtClean="0">
                                      <a:latin typeface="Cambria Math" panose="02040503050406030204" pitchFamily="18" charset="0"/>
                                    </a:rPr>
                                    <m:t>𝑑</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𝑧</m:t>
                                      </m:r>
                                    </m:sub>
                                  </m:sSub>
                                </m:e>
                              </m:nary>
                              <m:r>
                                <a:rPr lang="en-US" sz="3600" i="1">
                                  <a:latin typeface="Cambria Math" panose="02040503050406030204" pitchFamily="18" charset="0"/>
                                </a:rPr>
                                <m:t>𝑒</m:t>
                              </m:r>
                            </m:e>
                            <m:sup>
                              <m:r>
                                <a:rPr lang="en-US" sz="3600" i="1">
                                  <a:latin typeface="Cambria Math" panose="02040503050406030204" pitchFamily="18" charset="0"/>
                                </a:rPr>
                                <m:t>−</m:t>
                              </m:r>
                              <m:sSup>
                                <m:sSupPr>
                                  <m:ctrlPr>
                                    <a:rPr lang="en-US" sz="3600" i="1" smtClean="0">
                                      <a:latin typeface="Cambria Math" panose="02040503050406030204" pitchFamily="18" charset="0"/>
                                    </a:rPr>
                                  </m:ctrlPr>
                                </m:sSupPr>
                                <m:e>
                                  <m:r>
                                    <a:rPr lang="en-US" sz="3600" i="1" smtClean="0">
                                      <a:latin typeface="Cambria Math" panose="02040503050406030204" pitchFamily="18" charset="0"/>
                                      <a:ea typeface="Cambria Math" panose="02040503050406030204" pitchFamily="18" charset="0"/>
                                    </a:rPr>
                                    <m:t>𝛼</m:t>
                                  </m:r>
                                </m:e>
                                <m:sup>
                                  <m:r>
                                    <a:rPr lang="en-US" sz="3600" b="0" i="1" smtClean="0">
                                      <a:latin typeface="Cambria Math" panose="02040503050406030204" pitchFamily="18" charset="0"/>
                                    </a:rPr>
                                    <m:t>2</m:t>
                                  </m:r>
                                </m:sup>
                              </m:sSup>
                              <m:d>
                                <m:dPr>
                                  <m:ctrlPr>
                                    <a:rPr lang="en-US" sz="3600" i="1">
                                      <a:latin typeface="Cambria Math" panose="02040503050406030204" pitchFamily="18" charset="0"/>
                                    </a:rPr>
                                  </m:ctrlPr>
                                </m:dPr>
                                <m:e>
                                  <m:sSubSup>
                                    <m:sSubSupPr>
                                      <m:ctrlPr>
                                        <a:rPr lang="en-US" sz="3600" i="1">
                                          <a:latin typeface="Cambria Math" panose="02040503050406030204" pitchFamily="18" charset="0"/>
                                        </a:rPr>
                                      </m:ctrlPr>
                                    </m:sSubSupPr>
                                    <m:e>
                                      <m:r>
                                        <a:rPr lang="en-US" sz="3600" i="1">
                                          <a:latin typeface="Cambria Math" panose="02040503050406030204" pitchFamily="18" charset="0"/>
                                        </a:rPr>
                                        <m:t>𝑛</m:t>
                                      </m:r>
                                    </m:e>
                                    <m:sub>
                                      <m:r>
                                        <a:rPr lang="en-US" sz="3600" i="1">
                                          <a:latin typeface="Cambria Math" panose="02040503050406030204" pitchFamily="18" charset="0"/>
                                        </a:rPr>
                                        <m:t>𝑥</m:t>
                                      </m:r>
                                    </m:sub>
                                    <m:sup>
                                      <m:r>
                                        <a:rPr lang="en-US" sz="3600" i="1">
                                          <a:latin typeface="Cambria Math" panose="02040503050406030204" pitchFamily="18" charset="0"/>
                                        </a:rPr>
                                        <m:t>2</m:t>
                                      </m:r>
                                    </m:sup>
                                  </m:sSubSup>
                                  <m:r>
                                    <a:rPr lang="en-US" sz="3600" i="1">
                                      <a:latin typeface="Cambria Math" panose="02040503050406030204" pitchFamily="18" charset="0"/>
                                    </a:rPr>
                                    <m:t>+</m:t>
                                  </m:r>
                                  <m:sSubSup>
                                    <m:sSubSupPr>
                                      <m:ctrlPr>
                                        <a:rPr lang="en-US" sz="3600" i="1">
                                          <a:latin typeface="Cambria Math" panose="02040503050406030204" pitchFamily="18" charset="0"/>
                                        </a:rPr>
                                      </m:ctrlPr>
                                    </m:sSubSupPr>
                                    <m:e>
                                      <m:r>
                                        <a:rPr lang="en-US" sz="3600" i="1">
                                          <a:latin typeface="Cambria Math" panose="02040503050406030204" pitchFamily="18" charset="0"/>
                                        </a:rPr>
                                        <m:t>𝑛</m:t>
                                      </m:r>
                                    </m:e>
                                    <m:sub>
                                      <m:r>
                                        <a:rPr lang="en-US" sz="3600" i="1">
                                          <a:latin typeface="Cambria Math" panose="02040503050406030204" pitchFamily="18" charset="0"/>
                                        </a:rPr>
                                        <m:t>𝑦</m:t>
                                      </m:r>
                                    </m:sub>
                                    <m:sup>
                                      <m:r>
                                        <a:rPr lang="en-US" sz="3600" i="1">
                                          <a:latin typeface="Cambria Math" panose="02040503050406030204" pitchFamily="18" charset="0"/>
                                        </a:rPr>
                                        <m:t>2</m:t>
                                      </m:r>
                                    </m:sup>
                                  </m:sSubSup>
                                  <m:r>
                                    <a:rPr lang="en-US" sz="3600" i="1">
                                      <a:latin typeface="Cambria Math" panose="02040503050406030204" pitchFamily="18" charset="0"/>
                                    </a:rPr>
                                    <m:t>+</m:t>
                                  </m:r>
                                  <m:sSubSup>
                                    <m:sSubSupPr>
                                      <m:ctrlPr>
                                        <a:rPr lang="en-US" sz="3600" i="1">
                                          <a:latin typeface="Cambria Math" panose="02040503050406030204" pitchFamily="18" charset="0"/>
                                        </a:rPr>
                                      </m:ctrlPr>
                                    </m:sSubSupPr>
                                    <m:e>
                                      <m:r>
                                        <a:rPr lang="en-US" sz="3600" i="1">
                                          <a:latin typeface="Cambria Math" panose="02040503050406030204" pitchFamily="18" charset="0"/>
                                        </a:rPr>
                                        <m:t>𝑛</m:t>
                                      </m:r>
                                    </m:e>
                                    <m:sub>
                                      <m:r>
                                        <a:rPr lang="en-US" sz="3600" i="1">
                                          <a:latin typeface="Cambria Math" panose="02040503050406030204" pitchFamily="18" charset="0"/>
                                        </a:rPr>
                                        <m:t>𝑧</m:t>
                                      </m:r>
                                    </m:sub>
                                    <m:sup>
                                      <m:r>
                                        <a:rPr lang="en-US" sz="3600" i="1">
                                          <a:latin typeface="Cambria Math" panose="02040503050406030204" pitchFamily="18" charset="0"/>
                                        </a:rPr>
                                        <m:t>2</m:t>
                                      </m:r>
                                    </m:sup>
                                  </m:sSubSup>
                                </m:e>
                              </m:d>
                            </m:sup>
                          </m:sSup>
                        </m:e>
                      </m:nary>
                    </m:oMath>
                  </m:oMathPara>
                </a14:m>
                <a:endParaRPr lang="en-US" sz="3600" b="0" dirty="0"/>
              </a:p>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d>
                            <m:dPr>
                              <m:ctrlPr>
                                <a:rPr lang="en-US" sz="3600" b="0" i="1" smtClean="0">
                                  <a:latin typeface="Cambria Math" panose="02040503050406030204" pitchFamily="18" charset="0"/>
                                </a:rPr>
                              </m:ctrlPr>
                            </m:dPr>
                            <m:e>
                              <m:nary>
                                <m:naryPr>
                                  <m:ctrlPr>
                                    <a:rPr lang="en-US" sz="3600" b="0" i="1" smtClean="0">
                                      <a:latin typeface="Cambria Math" panose="02040503050406030204" pitchFamily="18" charset="0"/>
                                    </a:rPr>
                                  </m:ctrlPr>
                                </m:naryPr>
                                <m:sub>
                                  <m:r>
                                    <m:rPr>
                                      <m:brk m:alnAt="23"/>
                                    </m:rPr>
                                    <a:rPr lang="en-US" sz="3600" b="0" i="1" smtClean="0">
                                      <a:latin typeface="Cambria Math" panose="02040503050406030204" pitchFamily="18" charset="0"/>
                                    </a:rPr>
                                    <m:t>0</m:t>
                                  </m:r>
                                </m:sub>
                                <m:sup>
                                  <m:r>
                                    <a:rPr lang="en-US" sz="3600" b="0" i="1" smtClean="0">
                                      <a:latin typeface="Cambria Math" panose="02040503050406030204" pitchFamily="18" charset="0"/>
                                      <a:ea typeface="Cambria Math" panose="02040503050406030204" pitchFamily="18" charset="0"/>
                                    </a:rPr>
                                    <m:t>∞</m:t>
                                  </m:r>
                                </m:sup>
                                <m:e>
                                  <m:r>
                                    <a:rPr lang="en-US" sz="3600" b="0" i="1" smtClean="0">
                                      <a:latin typeface="Cambria Math" panose="02040503050406030204" pitchFamily="18" charset="0"/>
                                    </a:rPr>
                                    <m:t>𝑑𝑛</m:t>
                                  </m:r>
                                  <m:r>
                                    <a:rPr lang="en-US" sz="3600" b="0" i="1" smtClean="0">
                                      <a:latin typeface="Cambria Math" panose="02040503050406030204" pitchFamily="18" charset="0"/>
                                    </a:rPr>
                                    <m:t> </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𝑒</m:t>
                                      </m:r>
                                    </m:e>
                                    <m:sup>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𝛼</m:t>
                                          </m:r>
                                        </m:e>
                                        <m:sup>
                                          <m:r>
                                            <a:rPr lang="en-US" sz="3600" b="0" i="1" smtClean="0">
                                              <a:latin typeface="Cambria Math" panose="02040503050406030204" pitchFamily="18" charset="0"/>
                                            </a:rPr>
                                            <m:t>2</m:t>
                                          </m:r>
                                        </m:sup>
                                      </m:sSup>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𝑛</m:t>
                                          </m:r>
                                        </m:e>
                                        <m:sup>
                                          <m:r>
                                            <a:rPr lang="en-US" sz="3600" b="0" i="1" smtClean="0">
                                              <a:latin typeface="Cambria Math" panose="02040503050406030204" pitchFamily="18" charset="0"/>
                                            </a:rPr>
                                            <m:t>2</m:t>
                                          </m:r>
                                        </m:sup>
                                      </m:sSup>
                                    </m:sup>
                                  </m:sSup>
                                </m:e>
                              </m:nary>
                            </m:e>
                          </m:d>
                        </m:e>
                        <m:sup>
                          <m:r>
                            <a:rPr lang="en-US" sz="3600" b="0" i="1" smtClean="0">
                              <a:latin typeface="Cambria Math" panose="02040503050406030204" pitchFamily="18" charset="0"/>
                            </a:rPr>
                            <m:t>3</m:t>
                          </m:r>
                        </m:sup>
                      </m:sSup>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𝜋</m:t>
                              </m:r>
                            </m:e>
                            <m:sup>
                              <m:r>
                                <a:rPr lang="en-US" sz="3600" b="0" i="1" smtClean="0">
                                  <a:latin typeface="Cambria Math" panose="02040503050406030204" pitchFamily="18" charset="0"/>
                                </a:rPr>
                                <m:t>3/2</m:t>
                              </m:r>
                            </m:sup>
                          </m:sSup>
                        </m:num>
                        <m:den>
                          <m:r>
                            <a:rPr lang="en-US" sz="3600" b="0" i="1" smtClean="0">
                              <a:latin typeface="Cambria Math" panose="02040503050406030204" pitchFamily="18" charset="0"/>
                            </a:rPr>
                            <m:t>8</m:t>
                          </m:r>
                        </m:den>
                      </m:f>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𝛼</m:t>
                              </m:r>
                            </m:e>
                            <m:sup>
                              <m:r>
                                <a:rPr lang="en-US" sz="3600" b="0" i="1" smtClean="0">
                                  <a:latin typeface="Cambria Math" panose="02040503050406030204" pitchFamily="18" charset="0"/>
                                </a:rPr>
                                <m:t>3</m:t>
                              </m:r>
                            </m:sup>
                          </m:sSup>
                        </m:den>
                      </m:f>
                    </m:oMath>
                  </m:oMathPara>
                </a14:m>
                <a:endParaRPr lang="en-CN" sz="3600" dirty="0"/>
              </a:p>
            </p:txBody>
          </p:sp>
        </mc:Choice>
        <mc:Fallback xmlns="">
          <p:sp>
            <p:nvSpPr>
              <p:cNvPr id="19" name="TextBox 18">
                <a:extLst>
                  <a:ext uri="{FF2B5EF4-FFF2-40B4-BE49-F238E27FC236}">
                    <a16:creationId xmlns:a16="http://schemas.microsoft.com/office/drawing/2014/main" id="{6035329C-8F4C-0E47-80B8-4BCAFD28B2A9}"/>
                  </a:ext>
                </a:extLst>
              </p:cNvPr>
              <p:cNvSpPr txBox="1">
                <a:spLocks noRot="1" noChangeAspect="1" noMove="1" noResize="1" noEditPoints="1" noAdjustHandles="1" noChangeArrowheads="1" noChangeShapeType="1" noTextEdit="1"/>
              </p:cNvSpPr>
              <p:nvPr/>
            </p:nvSpPr>
            <p:spPr>
              <a:xfrm>
                <a:off x="1413163" y="3429000"/>
                <a:ext cx="9365673" cy="2645276"/>
              </a:xfrm>
              <a:prstGeom prst="rect">
                <a:avLst/>
              </a:prstGeom>
              <a:blipFill>
                <a:blip r:embed="rId4"/>
                <a:stretch>
                  <a:fillRect l="-5827" t="-85646" b="-122488"/>
                </a:stretch>
              </a:blipFill>
            </p:spPr>
            <p:txBody>
              <a:bodyPr/>
              <a:lstStyle/>
              <a:p>
                <a:r>
                  <a:rPr lang="en-CN">
                    <a:noFill/>
                  </a:rPr>
                  <a:t> </a:t>
                </a:r>
              </a:p>
            </p:txBody>
          </p:sp>
        </mc:Fallback>
      </mc:AlternateContent>
      <p:cxnSp>
        <p:nvCxnSpPr>
          <p:cNvPr id="8" name="Straight Arrow Connector 7">
            <a:extLst>
              <a:ext uri="{FF2B5EF4-FFF2-40B4-BE49-F238E27FC236}">
                <a16:creationId xmlns:a16="http://schemas.microsoft.com/office/drawing/2014/main" id="{6FE7E962-3312-B04D-B1A5-94CBCEE77BD5}"/>
              </a:ext>
            </a:extLst>
          </p:cNvPr>
          <p:cNvCxnSpPr/>
          <p:nvPr/>
        </p:nvCxnSpPr>
        <p:spPr>
          <a:xfrm flipV="1">
            <a:off x="6747164" y="332509"/>
            <a:ext cx="942109"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336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7A4BF-3AFC-4942-81D5-A8E5E32508CC}"/>
              </a:ext>
            </a:extLst>
          </p:cNvPr>
          <p:cNvSpPr txBox="1"/>
          <p:nvPr/>
        </p:nvSpPr>
        <p:spPr>
          <a:xfrm>
            <a:off x="564204" y="291830"/>
            <a:ext cx="5038928" cy="584775"/>
          </a:xfrm>
          <a:prstGeom prst="rect">
            <a:avLst/>
          </a:prstGeom>
          <a:noFill/>
        </p:spPr>
        <p:txBody>
          <a:bodyPr wrap="square" rtlCol="0">
            <a:spAutoFit/>
          </a:bodyPr>
          <a:lstStyle/>
          <a:p>
            <a:r>
              <a:rPr lang="en-CN" sz="3200" dirty="0"/>
              <a:t>Quantum concentration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670629-D81E-7B43-9542-D6A2502A49E2}"/>
                  </a:ext>
                </a:extLst>
              </p:cNvPr>
              <p:cNvSpPr txBox="1"/>
              <p:nvPr/>
            </p:nvSpPr>
            <p:spPr>
              <a:xfrm>
                <a:off x="1478828" y="1118598"/>
                <a:ext cx="5038928" cy="1173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60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𝑄</m:t>
                          </m:r>
                        </m:sub>
                      </m:sSub>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𝑚</m:t>
                                  </m:r>
                                  <m:r>
                                    <a:rPr lang="en-US" sz="3600" b="0" i="1" smtClean="0">
                                      <a:latin typeface="Cambria Math" panose="02040503050406030204" pitchFamily="18" charset="0"/>
                                    </a:rPr>
                                    <m:t> </m:t>
                                  </m:r>
                                  <m:r>
                                    <a:rPr lang="en-US" sz="3600" b="0" i="1" smtClean="0">
                                      <a:latin typeface="Cambria Math" panose="02040503050406030204" pitchFamily="18" charset="0"/>
                                      <a:ea typeface="Cambria Math" panose="02040503050406030204" pitchFamily="18" charset="0"/>
                                    </a:rPr>
                                    <m:t>𝜏</m:t>
                                  </m:r>
                                </m:num>
                                <m:den>
                                  <m:r>
                                    <a:rPr lang="en-US" sz="3600" b="0" i="1" smtClean="0">
                                      <a:latin typeface="Cambria Math" panose="02040503050406030204" pitchFamily="18" charset="0"/>
                                    </a:rPr>
                                    <m:t>2</m:t>
                                  </m:r>
                                  <m:r>
                                    <a:rPr lang="en-US" sz="3600" b="0" i="1" smtClean="0">
                                      <a:latin typeface="Cambria Math" panose="02040503050406030204" pitchFamily="18" charset="0"/>
                                      <a:ea typeface="Cambria Math" panose="02040503050406030204" pitchFamily="18" charset="0"/>
                                    </a:rPr>
                                    <m:t>𝜋</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ℏ</m:t>
                                      </m:r>
                                    </m:e>
                                    <m:sup>
                                      <m:r>
                                        <a:rPr lang="en-US" sz="3600" b="0" i="1" smtClean="0">
                                          <a:latin typeface="Cambria Math" panose="02040503050406030204" pitchFamily="18" charset="0"/>
                                          <a:ea typeface="Cambria Math" panose="02040503050406030204" pitchFamily="18" charset="0"/>
                                        </a:rPr>
                                        <m:t>2</m:t>
                                      </m:r>
                                    </m:sup>
                                  </m:sSup>
                                </m:den>
                              </m:f>
                            </m:e>
                          </m:d>
                        </m:e>
                        <m:sup>
                          <m:r>
                            <a:rPr lang="en-US" sz="3600" b="0" i="1" smtClean="0">
                              <a:latin typeface="Cambria Math" panose="02040503050406030204" pitchFamily="18" charset="0"/>
                            </a:rPr>
                            <m:t>3/2</m:t>
                          </m:r>
                        </m:sup>
                      </m:sSup>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𝜏</m:t>
                          </m:r>
                        </m:e>
                        <m:sup>
                          <m:r>
                            <a:rPr lang="en-US" sz="3600" b="0" i="1" smtClean="0">
                              <a:latin typeface="Cambria Math" panose="02040503050406030204" pitchFamily="18" charset="0"/>
                              <a:ea typeface="Cambria Math" panose="02040503050406030204" pitchFamily="18" charset="0"/>
                            </a:rPr>
                            <m:t>3/2</m:t>
                          </m:r>
                        </m:sup>
                      </m:sSup>
                    </m:oMath>
                  </m:oMathPara>
                </a14:m>
                <a:endParaRPr lang="en-CN" sz="3600" dirty="0"/>
              </a:p>
            </p:txBody>
          </p:sp>
        </mc:Choice>
        <mc:Fallback xmlns="">
          <p:sp>
            <p:nvSpPr>
              <p:cNvPr id="6" name="TextBox 5">
                <a:extLst>
                  <a:ext uri="{FF2B5EF4-FFF2-40B4-BE49-F238E27FC236}">
                    <a16:creationId xmlns:a16="http://schemas.microsoft.com/office/drawing/2014/main" id="{0C670629-D81E-7B43-9542-D6A2502A49E2}"/>
                  </a:ext>
                </a:extLst>
              </p:cNvPr>
              <p:cNvSpPr txBox="1">
                <a:spLocks noRot="1" noChangeAspect="1" noMove="1" noResize="1" noEditPoints="1" noAdjustHandles="1" noChangeArrowheads="1" noChangeShapeType="1" noTextEdit="1"/>
              </p:cNvSpPr>
              <p:nvPr/>
            </p:nvSpPr>
            <p:spPr>
              <a:xfrm>
                <a:off x="1478828" y="1118598"/>
                <a:ext cx="5038928" cy="1173013"/>
              </a:xfrm>
              <a:prstGeom prst="rect">
                <a:avLst/>
              </a:prstGeom>
              <a:blipFill>
                <a:blip r:embed="rId2"/>
                <a:stretch>
                  <a:fillRect b="-85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059923C-F1EF-2C45-8C40-E0E406B891E9}"/>
                  </a:ext>
                </a:extLst>
              </p:cNvPr>
              <p:cNvSpPr txBox="1"/>
              <p:nvPr/>
            </p:nvSpPr>
            <p:spPr>
              <a:xfrm>
                <a:off x="6909460" y="1063101"/>
                <a:ext cx="4641273" cy="12840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60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𝑄</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𝑄</m:t>
                              </m:r>
                            </m:sub>
                          </m:sSub>
                        </m:den>
                      </m:f>
                    </m:oMath>
                  </m:oMathPara>
                </a14:m>
                <a:endParaRPr lang="en-CN" sz="3600" dirty="0"/>
              </a:p>
            </p:txBody>
          </p:sp>
        </mc:Choice>
        <mc:Fallback xmlns="">
          <p:sp>
            <p:nvSpPr>
              <p:cNvPr id="7" name="TextBox 6">
                <a:extLst>
                  <a:ext uri="{FF2B5EF4-FFF2-40B4-BE49-F238E27FC236}">
                    <a16:creationId xmlns:a16="http://schemas.microsoft.com/office/drawing/2014/main" id="{1059923C-F1EF-2C45-8C40-E0E406B891E9}"/>
                  </a:ext>
                </a:extLst>
              </p:cNvPr>
              <p:cNvSpPr txBox="1">
                <a:spLocks noRot="1" noChangeAspect="1" noMove="1" noResize="1" noEditPoints="1" noAdjustHandles="1" noChangeArrowheads="1" noChangeShapeType="1" noTextEdit="1"/>
              </p:cNvSpPr>
              <p:nvPr/>
            </p:nvSpPr>
            <p:spPr>
              <a:xfrm>
                <a:off x="6909460" y="1063101"/>
                <a:ext cx="4641273" cy="1284006"/>
              </a:xfrm>
              <a:prstGeom prst="rect">
                <a:avLst/>
              </a:prstGeom>
              <a:blipFill>
                <a:blip r:embed="rId3"/>
                <a:stretch>
                  <a:fillRect b="-5882"/>
                </a:stretch>
              </a:blipFill>
            </p:spPr>
            <p:txBody>
              <a:bodyPr/>
              <a:lstStyle/>
              <a:p>
                <a:r>
                  <a:rPr lang="en-CN">
                    <a:noFill/>
                  </a:rPr>
                  <a:t> </a:t>
                </a:r>
              </a:p>
            </p:txBody>
          </p:sp>
        </mc:Fallback>
      </mc:AlternateContent>
      <p:sp>
        <p:nvSpPr>
          <p:cNvPr id="8" name="Rectangle 7">
            <a:extLst>
              <a:ext uri="{FF2B5EF4-FFF2-40B4-BE49-F238E27FC236}">
                <a16:creationId xmlns:a16="http://schemas.microsoft.com/office/drawing/2014/main" id="{01D39911-2499-044D-9712-4E4CF1E8598A}"/>
              </a:ext>
            </a:extLst>
          </p:cNvPr>
          <p:cNvSpPr/>
          <p:nvPr/>
        </p:nvSpPr>
        <p:spPr>
          <a:xfrm>
            <a:off x="1828800" y="3158836"/>
            <a:ext cx="3671455" cy="2951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9" name="Oval 8">
            <a:extLst>
              <a:ext uri="{FF2B5EF4-FFF2-40B4-BE49-F238E27FC236}">
                <a16:creationId xmlns:a16="http://schemas.microsoft.com/office/drawing/2014/main" id="{B8170AD6-1498-B941-A89A-069BDBA25F9E}"/>
              </a:ext>
            </a:extLst>
          </p:cNvPr>
          <p:cNvSpPr/>
          <p:nvPr/>
        </p:nvSpPr>
        <p:spPr>
          <a:xfrm>
            <a:off x="2169042" y="3429000"/>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Oval 9">
            <a:extLst>
              <a:ext uri="{FF2B5EF4-FFF2-40B4-BE49-F238E27FC236}">
                <a16:creationId xmlns:a16="http://schemas.microsoft.com/office/drawing/2014/main" id="{5B7187F6-078F-1241-94F4-C79BE8CBA51A}"/>
              </a:ext>
            </a:extLst>
          </p:cNvPr>
          <p:cNvSpPr/>
          <p:nvPr/>
        </p:nvSpPr>
        <p:spPr>
          <a:xfrm>
            <a:off x="1828800" y="4222333"/>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Oval 10">
            <a:extLst>
              <a:ext uri="{FF2B5EF4-FFF2-40B4-BE49-F238E27FC236}">
                <a16:creationId xmlns:a16="http://schemas.microsoft.com/office/drawing/2014/main" id="{B777770F-2263-FB43-8019-5CB412FCD7C2}"/>
              </a:ext>
            </a:extLst>
          </p:cNvPr>
          <p:cNvSpPr/>
          <p:nvPr/>
        </p:nvSpPr>
        <p:spPr>
          <a:xfrm>
            <a:off x="2658365" y="4111175"/>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Oval 11">
            <a:extLst>
              <a:ext uri="{FF2B5EF4-FFF2-40B4-BE49-F238E27FC236}">
                <a16:creationId xmlns:a16="http://schemas.microsoft.com/office/drawing/2014/main" id="{B0993F1B-BECE-5B41-9D0A-DD4A490A8CDF}"/>
              </a:ext>
            </a:extLst>
          </p:cNvPr>
          <p:cNvSpPr/>
          <p:nvPr/>
        </p:nvSpPr>
        <p:spPr>
          <a:xfrm>
            <a:off x="3083893" y="3358076"/>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Oval 12">
            <a:extLst>
              <a:ext uri="{FF2B5EF4-FFF2-40B4-BE49-F238E27FC236}">
                <a16:creationId xmlns:a16="http://schemas.microsoft.com/office/drawing/2014/main" id="{ECA0852C-75CE-3B4E-B087-0CD4FBDD6676}"/>
              </a:ext>
            </a:extLst>
          </p:cNvPr>
          <p:cNvSpPr/>
          <p:nvPr/>
        </p:nvSpPr>
        <p:spPr>
          <a:xfrm>
            <a:off x="3572990" y="4111175"/>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Oval 13">
            <a:extLst>
              <a:ext uri="{FF2B5EF4-FFF2-40B4-BE49-F238E27FC236}">
                <a16:creationId xmlns:a16="http://schemas.microsoft.com/office/drawing/2014/main" id="{525B4116-2786-1743-BE07-FE763D2471F4}"/>
              </a:ext>
            </a:extLst>
          </p:cNvPr>
          <p:cNvSpPr/>
          <p:nvPr/>
        </p:nvSpPr>
        <p:spPr>
          <a:xfrm>
            <a:off x="3196694" y="4913210"/>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Oval 14">
            <a:extLst>
              <a:ext uri="{FF2B5EF4-FFF2-40B4-BE49-F238E27FC236}">
                <a16:creationId xmlns:a16="http://schemas.microsoft.com/office/drawing/2014/main" id="{750142F3-D285-3849-85E0-AACD61826D84}"/>
              </a:ext>
            </a:extLst>
          </p:cNvPr>
          <p:cNvSpPr/>
          <p:nvPr/>
        </p:nvSpPr>
        <p:spPr>
          <a:xfrm>
            <a:off x="2254327" y="4984134"/>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Oval 15">
            <a:extLst>
              <a:ext uri="{FF2B5EF4-FFF2-40B4-BE49-F238E27FC236}">
                <a16:creationId xmlns:a16="http://schemas.microsoft.com/office/drawing/2014/main" id="{2C83C61B-ECC5-CD4E-9CB4-9CC38CC251E5}"/>
              </a:ext>
            </a:extLst>
          </p:cNvPr>
          <p:cNvSpPr/>
          <p:nvPr/>
        </p:nvSpPr>
        <p:spPr>
          <a:xfrm>
            <a:off x="3998292" y="3358678"/>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Oval 16">
            <a:extLst>
              <a:ext uri="{FF2B5EF4-FFF2-40B4-BE49-F238E27FC236}">
                <a16:creationId xmlns:a16="http://schemas.microsoft.com/office/drawing/2014/main" id="{5160A283-28F0-7947-B119-5E58FDCCC0DF}"/>
              </a:ext>
            </a:extLst>
          </p:cNvPr>
          <p:cNvSpPr/>
          <p:nvPr/>
        </p:nvSpPr>
        <p:spPr>
          <a:xfrm>
            <a:off x="4469009" y="4111175"/>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Oval 17">
            <a:extLst>
              <a:ext uri="{FF2B5EF4-FFF2-40B4-BE49-F238E27FC236}">
                <a16:creationId xmlns:a16="http://schemas.microsoft.com/office/drawing/2014/main" id="{1EB8B992-D180-CC46-B1CD-1EF1F029B6C2}"/>
              </a:ext>
            </a:extLst>
          </p:cNvPr>
          <p:cNvSpPr/>
          <p:nvPr/>
        </p:nvSpPr>
        <p:spPr>
          <a:xfrm>
            <a:off x="4062312" y="4900521"/>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9" name="Oval 18">
            <a:extLst>
              <a:ext uri="{FF2B5EF4-FFF2-40B4-BE49-F238E27FC236}">
                <a16:creationId xmlns:a16="http://schemas.microsoft.com/office/drawing/2014/main" id="{838B6F08-5C87-9E48-983D-C4156E3229BE}"/>
              </a:ext>
            </a:extLst>
          </p:cNvPr>
          <p:cNvSpPr/>
          <p:nvPr/>
        </p:nvSpPr>
        <p:spPr>
          <a:xfrm>
            <a:off x="7488865" y="2746824"/>
            <a:ext cx="850605" cy="824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ACE87D1-27FE-EC4A-9B88-BB0F4A8270BE}"/>
                  </a:ext>
                </a:extLst>
              </p:cNvPr>
              <p:cNvSpPr txBox="1"/>
              <p:nvPr/>
            </p:nvSpPr>
            <p:spPr>
              <a:xfrm>
                <a:off x="6460955" y="3841011"/>
                <a:ext cx="4141543" cy="6481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3 </m:t>
                          </m:r>
                          <m:r>
                            <a:rPr lang="en-CN"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r>
                            <a:rPr lang="en-US" b="0" i="1" smtClean="0">
                              <a:latin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h</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𝜆</m:t>
                              </m:r>
                            </m:e>
                            <m:sup>
                              <m:r>
                                <a:rPr lang="en-US" b="0" i="1" smtClean="0">
                                  <a:latin typeface="Cambria Math" panose="02040503050406030204" pitchFamily="18" charset="0"/>
                                  <a:ea typeface="Cambria Math" panose="02040503050406030204" pitchFamily="18" charset="0"/>
                                </a:rPr>
                                <m:t>2</m:t>
                              </m:r>
                            </m:sup>
                          </m:sSup>
                        </m:den>
                      </m:f>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oMath>
                  </m:oMathPara>
                </a14:m>
                <a:endParaRPr lang="en-CN" dirty="0"/>
              </a:p>
            </p:txBody>
          </p:sp>
        </mc:Choice>
        <mc:Fallback xmlns="">
          <p:sp>
            <p:nvSpPr>
              <p:cNvPr id="20" name="TextBox 19">
                <a:extLst>
                  <a:ext uri="{FF2B5EF4-FFF2-40B4-BE49-F238E27FC236}">
                    <a16:creationId xmlns:a16="http://schemas.microsoft.com/office/drawing/2014/main" id="{CACE87D1-27FE-EC4A-9B88-BB0F4A8270BE}"/>
                  </a:ext>
                </a:extLst>
              </p:cNvPr>
              <p:cNvSpPr txBox="1">
                <a:spLocks noRot="1" noChangeAspect="1" noMove="1" noResize="1" noEditPoints="1" noAdjustHandles="1" noChangeArrowheads="1" noChangeShapeType="1" noTextEdit="1"/>
              </p:cNvSpPr>
              <p:nvPr/>
            </p:nvSpPr>
            <p:spPr>
              <a:xfrm>
                <a:off x="6460955" y="3841011"/>
                <a:ext cx="4141543" cy="648191"/>
              </a:xfrm>
              <a:prstGeom prst="rect">
                <a:avLst/>
              </a:prstGeom>
              <a:blipFill>
                <a:blip r:embed="rId4"/>
                <a:stretch>
                  <a:fillRect b="-3846"/>
                </a:stretch>
              </a:blipFill>
            </p:spPr>
            <p:txBody>
              <a:bodyPr/>
              <a:lstStyle/>
              <a:p>
                <a:r>
                  <a:rPr lang="en-CN">
                    <a:noFill/>
                  </a:rPr>
                  <a:t> </a:t>
                </a:r>
              </a:p>
            </p:txBody>
          </p:sp>
        </mc:Fallback>
      </mc:AlternateContent>
      <p:sp>
        <p:nvSpPr>
          <p:cNvPr id="21" name="Down Arrow 20">
            <a:extLst>
              <a:ext uri="{FF2B5EF4-FFF2-40B4-BE49-F238E27FC236}">
                <a16:creationId xmlns:a16="http://schemas.microsoft.com/office/drawing/2014/main" id="{2C2A51B1-AD79-464C-A815-D458229600F2}"/>
              </a:ext>
            </a:extLst>
          </p:cNvPr>
          <p:cNvSpPr/>
          <p:nvPr/>
        </p:nvSpPr>
        <p:spPr>
          <a:xfrm>
            <a:off x="8339470" y="4634344"/>
            <a:ext cx="485553" cy="6781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AE1DF65-C4C9-A544-8613-4DD335E6BF53}"/>
                  </a:ext>
                </a:extLst>
              </p:cNvPr>
              <p:cNvSpPr txBox="1"/>
              <p:nvPr/>
            </p:nvSpPr>
            <p:spPr>
              <a:xfrm>
                <a:off x="7488865" y="5396145"/>
                <a:ext cx="227182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r>
                            <a:rPr lang="en-CN" i="1" smtClean="0">
                              <a:latin typeface="Cambria Math" panose="02040503050406030204" pitchFamily="18" charset="0"/>
                              <a:ea typeface="Cambria Math" panose="02040503050406030204" pitchFamily="18" charset="0"/>
                            </a:rPr>
                            <m:t>𝜆</m:t>
                          </m:r>
                        </m:e>
                        <m:sup>
                          <m:r>
                            <a:rPr lang="en-US" b="0" i="1" smtClean="0">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h</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22" name="TextBox 21">
                <a:extLst>
                  <a:ext uri="{FF2B5EF4-FFF2-40B4-BE49-F238E27FC236}">
                    <a16:creationId xmlns:a16="http://schemas.microsoft.com/office/drawing/2014/main" id="{1AE1DF65-C4C9-A544-8613-4DD335E6BF53}"/>
                  </a:ext>
                </a:extLst>
              </p:cNvPr>
              <p:cNvSpPr txBox="1">
                <a:spLocks noRot="1" noChangeAspect="1" noMove="1" noResize="1" noEditPoints="1" noAdjustHandles="1" noChangeArrowheads="1" noChangeShapeType="1" noTextEdit="1"/>
              </p:cNvSpPr>
              <p:nvPr/>
            </p:nvSpPr>
            <p:spPr>
              <a:xfrm>
                <a:off x="7488865" y="5396145"/>
                <a:ext cx="2271823" cy="646331"/>
              </a:xfrm>
              <a:prstGeom prst="rect">
                <a:avLst/>
              </a:prstGeom>
              <a:blipFill>
                <a:blip r:embed="rId5"/>
                <a:stretch>
                  <a:fillRect b="-3846"/>
                </a:stretch>
              </a:blipFill>
            </p:spPr>
            <p:txBody>
              <a:bodyPr/>
              <a:lstStyle/>
              <a:p>
                <a:r>
                  <a:rPr lang="en-CN">
                    <a:noFill/>
                  </a:rPr>
                  <a:t> </a:t>
                </a:r>
              </a:p>
            </p:txBody>
          </p:sp>
        </mc:Fallback>
      </mc:AlternateContent>
    </p:spTree>
    <p:extLst>
      <p:ext uri="{BB962C8B-B14F-4D97-AF65-F5344CB8AC3E}">
        <p14:creationId xmlns:p14="http://schemas.microsoft.com/office/powerpoint/2010/main" val="954989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7A4BF-3AFC-4942-81D5-A8E5E32508CC}"/>
              </a:ext>
            </a:extLst>
          </p:cNvPr>
          <p:cNvSpPr txBox="1"/>
          <p:nvPr/>
        </p:nvSpPr>
        <p:spPr>
          <a:xfrm>
            <a:off x="564204" y="291830"/>
            <a:ext cx="5038928" cy="584775"/>
          </a:xfrm>
          <a:prstGeom prst="rect">
            <a:avLst/>
          </a:prstGeom>
          <a:noFill/>
        </p:spPr>
        <p:txBody>
          <a:bodyPr wrap="square" rtlCol="0">
            <a:spAutoFit/>
          </a:bodyPr>
          <a:lstStyle/>
          <a:p>
            <a:r>
              <a:rPr lang="en-CN" sz="3200" dirty="0"/>
              <a:t>Quantum concentration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670629-D81E-7B43-9542-D6A2502A49E2}"/>
                  </a:ext>
                </a:extLst>
              </p:cNvPr>
              <p:cNvSpPr txBox="1"/>
              <p:nvPr/>
            </p:nvSpPr>
            <p:spPr>
              <a:xfrm>
                <a:off x="1478828" y="1118598"/>
                <a:ext cx="5038928" cy="1173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60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𝑄</m:t>
                          </m:r>
                        </m:sub>
                      </m:sSub>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𝑚</m:t>
                                  </m:r>
                                  <m:r>
                                    <a:rPr lang="en-US" sz="3600" b="0" i="1" smtClean="0">
                                      <a:latin typeface="Cambria Math" panose="02040503050406030204" pitchFamily="18" charset="0"/>
                                    </a:rPr>
                                    <m:t> </m:t>
                                  </m:r>
                                  <m:r>
                                    <a:rPr lang="en-US" sz="3600" b="0" i="1" smtClean="0">
                                      <a:latin typeface="Cambria Math" panose="02040503050406030204" pitchFamily="18" charset="0"/>
                                      <a:ea typeface="Cambria Math" panose="02040503050406030204" pitchFamily="18" charset="0"/>
                                    </a:rPr>
                                    <m:t>𝜏</m:t>
                                  </m:r>
                                </m:num>
                                <m:den>
                                  <m:r>
                                    <a:rPr lang="en-US" sz="3600" b="0" i="1" smtClean="0">
                                      <a:latin typeface="Cambria Math" panose="02040503050406030204" pitchFamily="18" charset="0"/>
                                    </a:rPr>
                                    <m:t>2</m:t>
                                  </m:r>
                                  <m:r>
                                    <a:rPr lang="en-US" sz="3600" b="0" i="1" smtClean="0">
                                      <a:latin typeface="Cambria Math" panose="02040503050406030204" pitchFamily="18" charset="0"/>
                                      <a:ea typeface="Cambria Math" panose="02040503050406030204" pitchFamily="18" charset="0"/>
                                    </a:rPr>
                                    <m:t>𝜋</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ℏ</m:t>
                                      </m:r>
                                    </m:e>
                                    <m:sup>
                                      <m:r>
                                        <a:rPr lang="en-US" sz="3600" b="0" i="1" smtClean="0">
                                          <a:latin typeface="Cambria Math" panose="02040503050406030204" pitchFamily="18" charset="0"/>
                                          <a:ea typeface="Cambria Math" panose="02040503050406030204" pitchFamily="18" charset="0"/>
                                        </a:rPr>
                                        <m:t>2</m:t>
                                      </m:r>
                                    </m:sup>
                                  </m:sSup>
                                </m:den>
                              </m:f>
                            </m:e>
                          </m:d>
                        </m:e>
                        <m:sup>
                          <m:r>
                            <a:rPr lang="en-US" sz="3600" b="0" i="1" smtClean="0">
                              <a:latin typeface="Cambria Math" panose="02040503050406030204" pitchFamily="18" charset="0"/>
                            </a:rPr>
                            <m:t>3/2</m:t>
                          </m:r>
                        </m:sup>
                      </m:sSup>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𝜏</m:t>
                          </m:r>
                        </m:e>
                        <m:sup>
                          <m:r>
                            <a:rPr lang="en-US" sz="3600" b="0" i="1" smtClean="0">
                              <a:latin typeface="Cambria Math" panose="02040503050406030204" pitchFamily="18" charset="0"/>
                              <a:ea typeface="Cambria Math" panose="02040503050406030204" pitchFamily="18" charset="0"/>
                            </a:rPr>
                            <m:t>3/2</m:t>
                          </m:r>
                        </m:sup>
                      </m:sSup>
                    </m:oMath>
                  </m:oMathPara>
                </a14:m>
                <a:endParaRPr lang="en-CN" sz="3600" dirty="0"/>
              </a:p>
            </p:txBody>
          </p:sp>
        </mc:Choice>
        <mc:Fallback xmlns="">
          <p:sp>
            <p:nvSpPr>
              <p:cNvPr id="6" name="TextBox 5">
                <a:extLst>
                  <a:ext uri="{FF2B5EF4-FFF2-40B4-BE49-F238E27FC236}">
                    <a16:creationId xmlns:a16="http://schemas.microsoft.com/office/drawing/2014/main" id="{0C670629-D81E-7B43-9542-D6A2502A49E2}"/>
                  </a:ext>
                </a:extLst>
              </p:cNvPr>
              <p:cNvSpPr txBox="1">
                <a:spLocks noRot="1" noChangeAspect="1" noMove="1" noResize="1" noEditPoints="1" noAdjustHandles="1" noChangeArrowheads="1" noChangeShapeType="1" noTextEdit="1"/>
              </p:cNvSpPr>
              <p:nvPr/>
            </p:nvSpPr>
            <p:spPr>
              <a:xfrm>
                <a:off x="1478828" y="1118598"/>
                <a:ext cx="5038928" cy="1173013"/>
              </a:xfrm>
              <a:prstGeom prst="rect">
                <a:avLst/>
              </a:prstGeom>
              <a:blipFill>
                <a:blip r:embed="rId2"/>
                <a:stretch>
                  <a:fillRect b="-85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059923C-F1EF-2C45-8C40-E0E406B891E9}"/>
                  </a:ext>
                </a:extLst>
              </p:cNvPr>
              <p:cNvSpPr txBox="1"/>
              <p:nvPr/>
            </p:nvSpPr>
            <p:spPr>
              <a:xfrm>
                <a:off x="6909460" y="1063101"/>
                <a:ext cx="4641273" cy="12840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60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𝑄</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𝑄</m:t>
                              </m:r>
                            </m:sub>
                          </m:sSub>
                        </m:den>
                      </m:f>
                    </m:oMath>
                  </m:oMathPara>
                </a14:m>
                <a:endParaRPr lang="en-CN" sz="3600" dirty="0"/>
              </a:p>
            </p:txBody>
          </p:sp>
        </mc:Choice>
        <mc:Fallback xmlns="">
          <p:sp>
            <p:nvSpPr>
              <p:cNvPr id="7" name="TextBox 6">
                <a:extLst>
                  <a:ext uri="{FF2B5EF4-FFF2-40B4-BE49-F238E27FC236}">
                    <a16:creationId xmlns:a16="http://schemas.microsoft.com/office/drawing/2014/main" id="{1059923C-F1EF-2C45-8C40-E0E406B891E9}"/>
                  </a:ext>
                </a:extLst>
              </p:cNvPr>
              <p:cNvSpPr txBox="1">
                <a:spLocks noRot="1" noChangeAspect="1" noMove="1" noResize="1" noEditPoints="1" noAdjustHandles="1" noChangeArrowheads="1" noChangeShapeType="1" noTextEdit="1"/>
              </p:cNvSpPr>
              <p:nvPr/>
            </p:nvSpPr>
            <p:spPr>
              <a:xfrm>
                <a:off x="6909460" y="1063101"/>
                <a:ext cx="4641273" cy="1284006"/>
              </a:xfrm>
              <a:prstGeom prst="rect">
                <a:avLst/>
              </a:prstGeom>
              <a:blipFill>
                <a:blip r:embed="rId3"/>
                <a:stretch>
                  <a:fillRect b="-5882"/>
                </a:stretch>
              </a:blipFill>
            </p:spPr>
            <p:txBody>
              <a:bodyPr/>
              <a:lstStyle/>
              <a:p>
                <a:r>
                  <a:rPr lang="en-CN">
                    <a:noFill/>
                  </a:rPr>
                  <a:t> </a:t>
                </a:r>
              </a:p>
            </p:txBody>
          </p:sp>
        </mc:Fallback>
      </mc:AlternateContent>
      <p:pic>
        <p:nvPicPr>
          <p:cNvPr id="23" name="Picture 22">
            <a:extLst>
              <a:ext uri="{FF2B5EF4-FFF2-40B4-BE49-F238E27FC236}">
                <a16:creationId xmlns:a16="http://schemas.microsoft.com/office/drawing/2014/main" id="{ECFEDBD3-B799-DEB3-0A1D-622125FDDFA1}"/>
              </a:ext>
            </a:extLst>
          </p:cNvPr>
          <p:cNvPicPr>
            <a:picLocks noChangeAspect="1"/>
          </p:cNvPicPr>
          <p:nvPr/>
        </p:nvPicPr>
        <p:blipFill>
          <a:blip r:embed="rId4"/>
          <a:stretch>
            <a:fillRect/>
          </a:stretch>
        </p:blipFill>
        <p:spPr>
          <a:xfrm>
            <a:off x="564204" y="2636601"/>
            <a:ext cx="5602761" cy="3412823"/>
          </a:xfrm>
          <a:prstGeom prst="rect">
            <a:avLst/>
          </a:prstGeom>
        </p:spPr>
      </p:pic>
      <p:pic>
        <p:nvPicPr>
          <p:cNvPr id="25" name="Picture 24">
            <a:extLst>
              <a:ext uri="{FF2B5EF4-FFF2-40B4-BE49-F238E27FC236}">
                <a16:creationId xmlns:a16="http://schemas.microsoft.com/office/drawing/2014/main" id="{F307B2B3-7346-0944-DD24-62D34B9CF570}"/>
              </a:ext>
            </a:extLst>
          </p:cNvPr>
          <p:cNvPicPr>
            <a:picLocks noChangeAspect="1"/>
          </p:cNvPicPr>
          <p:nvPr/>
        </p:nvPicPr>
        <p:blipFill>
          <a:blip r:embed="rId5"/>
          <a:stretch>
            <a:fillRect/>
          </a:stretch>
        </p:blipFill>
        <p:spPr>
          <a:xfrm>
            <a:off x="6986523" y="3913117"/>
            <a:ext cx="4641273" cy="859790"/>
          </a:xfrm>
          <a:prstGeom prst="rect">
            <a:avLst/>
          </a:prstGeom>
        </p:spPr>
      </p:pic>
    </p:spTree>
    <p:extLst>
      <p:ext uri="{BB962C8B-B14F-4D97-AF65-F5344CB8AC3E}">
        <p14:creationId xmlns:p14="http://schemas.microsoft.com/office/powerpoint/2010/main" val="494857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5C29DE1-8EDB-094F-92C7-42916A32D045}"/>
                  </a:ext>
                </a:extLst>
              </p:cNvPr>
              <p:cNvSpPr txBox="1"/>
              <p:nvPr/>
            </p:nvSpPr>
            <p:spPr>
              <a:xfrm>
                <a:off x="3296093" y="595423"/>
                <a:ext cx="5167423" cy="7513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𝑛</m:t>
                          </m:r>
                        </m:e>
                        <m:sub>
                          <m:r>
                            <a:rPr lang="en-US" sz="4000" b="0" i="1" smtClean="0">
                              <a:latin typeface="Cambria Math" panose="02040503050406030204" pitchFamily="18" charset="0"/>
                            </a:rPr>
                            <m:t>𝑄</m:t>
                          </m:r>
                        </m:sub>
                      </m:sSub>
                      <m:r>
                        <a:rPr lang="en-US" sz="4000" b="0" i="1" smtClean="0">
                          <a:latin typeface="Cambria Math" panose="02040503050406030204" pitchFamily="18" charset="0"/>
                        </a:rPr>
                        <m:t> </m:t>
                      </m:r>
                      <m:r>
                        <a:rPr lang="en-US" sz="4000" b="0" i="1" smtClean="0">
                          <a:latin typeface="Cambria Math" panose="02040503050406030204" pitchFamily="18" charset="0"/>
                        </a:rPr>
                        <m:t>𝑉</m:t>
                      </m:r>
                    </m:oMath>
                  </m:oMathPara>
                </a14:m>
                <a:endParaRPr lang="en-CN" sz="4000" dirty="0"/>
              </a:p>
            </p:txBody>
          </p:sp>
        </mc:Choice>
        <mc:Fallback xmlns="">
          <p:sp>
            <p:nvSpPr>
              <p:cNvPr id="3" name="TextBox 2">
                <a:extLst>
                  <a:ext uri="{FF2B5EF4-FFF2-40B4-BE49-F238E27FC236}">
                    <a16:creationId xmlns:a16="http://schemas.microsoft.com/office/drawing/2014/main" id="{65C29DE1-8EDB-094F-92C7-42916A32D045}"/>
                  </a:ext>
                </a:extLst>
              </p:cNvPr>
              <p:cNvSpPr txBox="1">
                <a:spLocks noRot="1" noChangeAspect="1" noMove="1" noResize="1" noEditPoints="1" noAdjustHandles="1" noChangeArrowheads="1" noChangeShapeType="1" noTextEdit="1"/>
              </p:cNvSpPr>
              <p:nvPr/>
            </p:nvSpPr>
            <p:spPr>
              <a:xfrm>
                <a:off x="3296093" y="595423"/>
                <a:ext cx="5167423" cy="751360"/>
              </a:xfrm>
              <a:prstGeom prst="rect">
                <a:avLst/>
              </a:prstGeom>
              <a:blipFill>
                <a:blip r:embed="rId2"/>
                <a:stretch>
                  <a:fillRect b="-18333"/>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E3D7CD70-F819-4442-95A3-583CA00417C3}"/>
              </a:ext>
            </a:extLst>
          </p:cNvPr>
          <p:cNvSpPr/>
          <p:nvPr/>
        </p:nvSpPr>
        <p:spPr>
          <a:xfrm>
            <a:off x="5571460" y="1658679"/>
            <a:ext cx="524540" cy="19989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216A81-7E4F-6B4E-9D16-9EBBDF14AFAF}"/>
                  </a:ext>
                </a:extLst>
              </p:cNvPr>
              <p:cNvSpPr txBox="1"/>
              <p:nvPr/>
            </p:nvSpPr>
            <p:spPr>
              <a:xfrm>
                <a:off x="3296093" y="3969496"/>
                <a:ext cx="5167423" cy="11542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𝑛</m:t>
                              </m:r>
                            </m:e>
                            <m:sub>
                              <m:r>
                                <a:rPr lang="en-US" sz="4000" b="0" i="1" smtClean="0">
                                  <a:latin typeface="Cambria Math" panose="02040503050406030204" pitchFamily="18" charset="0"/>
                                </a:rPr>
                                <m:t>𝑄</m:t>
                              </m:r>
                            </m:sub>
                          </m:sSub>
                        </m:num>
                        <m:den>
                          <m:r>
                            <a:rPr lang="en-US" sz="4000" b="0" i="1" smtClean="0">
                              <a:latin typeface="Cambria Math" panose="02040503050406030204" pitchFamily="18" charset="0"/>
                            </a:rPr>
                            <m:t>𝑛</m:t>
                          </m:r>
                        </m:den>
                      </m:f>
                    </m:oMath>
                  </m:oMathPara>
                </a14:m>
                <a:endParaRPr lang="en-CN" sz="4000" dirty="0"/>
              </a:p>
            </p:txBody>
          </p:sp>
        </mc:Choice>
        <mc:Fallback xmlns="">
          <p:sp>
            <p:nvSpPr>
              <p:cNvPr id="7" name="TextBox 6">
                <a:extLst>
                  <a:ext uri="{FF2B5EF4-FFF2-40B4-BE49-F238E27FC236}">
                    <a16:creationId xmlns:a16="http://schemas.microsoft.com/office/drawing/2014/main" id="{02216A81-7E4F-6B4E-9D16-9EBBDF14AFAF}"/>
                  </a:ext>
                </a:extLst>
              </p:cNvPr>
              <p:cNvSpPr txBox="1">
                <a:spLocks noRot="1" noChangeAspect="1" noMove="1" noResize="1" noEditPoints="1" noAdjustHandles="1" noChangeArrowheads="1" noChangeShapeType="1" noTextEdit="1"/>
              </p:cNvSpPr>
              <p:nvPr/>
            </p:nvSpPr>
            <p:spPr>
              <a:xfrm>
                <a:off x="3296093" y="3969496"/>
                <a:ext cx="5167423" cy="1154290"/>
              </a:xfrm>
              <a:prstGeom prst="rect">
                <a:avLst/>
              </a:prstGeom>
              <a:blipFill>
                <a:blip r:embed="rId3"/>
                <a:stretch>
                  <a:fillRect b="-65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C6925C3-6472-9E4E-AB8C-27B1F9C806D6}"/>
                  </a:ext>
                </a:extLst>
              </p:cNvPr>
              <p:cNvSpPr txBox="1"/>
              <p:nvPr/>
            </p:nvSpPr>
            <p:spPr>
              <a:xfrm>
                <a:off x="6273209" y="2275367"/>
                <a:ext cx="4274289" cy="813428"/>
              </a:xfrm>
              <a:prstGeom prst="rect">
                <a:avLst/>
              </a:prstGeom>
              <a:noFill/>
            </p:spPr>
            <p:txBody>
              <a:bodyPr wrap="square" rtlCol="0">
                <a:spAutoFit/>
              </a:bodyPr>
              <a:lstStyle/>
              <a:p>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𝑁</m:t>
                        </m:r>
                        <m:r>
                          <a:rPr lang="en-US" sz="3200" b="0" i="1" smtClean="0">
                            <a:latin typeface="Cambria Math" panose="02040503050406030204" pitchFamily="18" charset="0"/>
                          </a:rPr>
                          <m:t>(=1)</m:t>
                        </m:r>
                      </m:num>
                      <m:den>
                        <m:r>
                          <a:rPr lang="en-US" sz="3200" b="0" i="1" smtClean="0">
                            <a:latin typeface="Cambria Math" panose="02040503050406030204" pitchFamily="18" charset="0"/>
                          </a:rPr>
                          <m:t>𝑉</m:t>
                        </m:r>
                      </m:den>
                    </m:f>
                  </m:oMath>
                </a14:m>
                <a:r>
                  <a:rPr lang="en-CN" sz="3200" dirty="0"/>
                  <a:t>. 粒子数密度</a:t>
                </a:r>
              </a:p>
            </p:txBody>
          </p:sp>
        </mc:Choice>
        <mc:Fallback xmlns="">
          <p:sp>
            <p:nvSpPr>
              <p:cNvPr id="8" name="TextBox 7">
                <a:extLst>
                  <a:ext uri="{FF2B5EF4-FFF2-40B4-BE49-F238E27FC236}">
                    <a16:creationId xmlns:a16="http://schemas.microsoft.com/office/drawing/2014/main" id="{EC6925C3-6472-9E4E-AB8C-27B1F9C806D6}"/>
                  </a:ext>
                </a:extLst>
              </p:cNvPr>
              <p:cNvSpPr txBox="1">
                <a:spLocks noRot="1" noChangeAspect="1" noMove="1" noResize="1" noEditPoints="1" noAdjustHandles="1" noChangeArrowheads="1" noChangeShapeType="1" noTextEdit="1"/>
              </p:cNvSpPr>
              <p:nvPr/>
            </p:nvSpPr>
            <p:spPr>
              <a:xfrm>
                <a:off x="6273209" y="2275367"/>
                <a:ext cx="4274289" cy="813428"/>
              </a:xfrm>
              <a:prstGeom prst="rect">
                <a:avLst/>
              </a:prstGeom>
              <a:blipFill>
                <a:blip r:embed="rId4"/>
                <a:stretch>
                  <a:fillRect b="-10769"/>
                </a:stretch>
              </a:blipFill>
            </p:spPr>
            <p:txBody>
              <a:bodyPr/>
              <a:lstStyle/>
              <a:p>
                <a:r>
                  <a:rPr lang="en-CN">
                    <a:noFill/>
                  </a:rPr>
                  <a:t> </a:t>
                </a:r>
              </a:p>
            </p:txBody>
          </p:sp>
        </mc:Fallback>
      </mc:AlternateContent>
    </p:spTree>
    <p:extLst>
      <p:ext uri="{BB962C8B-B14F-4D97-AF65-F5344CB8AC3E}">
        <p14:creationId xmlns:p14="http://schemas.microsoft.com/office/powerpoint/2010/main" val="15210027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8AAC48-8C43-2343-8C7A-8BFDCB3A198B}"/>
              </a:ext>
            </a:extLst>
          </p:cNvPr>
          <p:cNvSpPr txBox="1"/>
          <p:nvPr/>
        </p:nvSpPr>
        <p:spPr>
          <a:xfrm>
            <a:off x="569843" y="331304"/>
            <a:ext cx="10853531" cy="707886"/>
          </a:xfrm>
          <a:prstGeom prst="rect">
            <a:avLst/>
          </a:prstGeom>
          <a:noFill/>
        </p:spPr>
        <p:txBody>
          <a:bodyPr wrap="square" rtlCol="0">
            <a:spAutoFit/>
          </a:bodyPr>
          <a:lstStyle/>
          <a:p>
            <a:r>
              <a:rPr lang="zh-CN" altLang="en-US" sz="4000" dirty="0"/>
              <a:t>二、</a:t>
            </a:r>
            <a:r>
              <a:rPr lang="en-US" sz="4000" dirty="0" err="1"/>
              <a:t>约束在方盒子中的N个粒子</a:t>
            </a:r>
            <a:r>
              <a:rPr lang="zh-CN" altLang="en-US" sz="4000" dirty="0"/>
              <a:t>（复合系统）</a:t>
            </a:r>
            <a:endParaRPr lang="en-CN" sz="4000" dirty="0"/>
          </a:p>
        </p:txBody>
      </p:sp>
      <p:pic>
        <p:nvPicPr>
          <p:cNvPr id="2" name="Picture 1">
            <a:extLst>
              <a:ext uri="{FF2B5EF4-FFF2-40B4-BE49-F238E27FC236}">
                <a16:creationId xmlns:a16="http://schemas.microsoft.com/office/drawing/2014/main" id="{19472499-2589-1F46-9081-D44F48524FE6}"/>
              </a:ext>
            </a:extLst>
          </p:cNvPr>
          <p:cNvPicPr>
            <a:picLocks noChangeAspect="1"/>
          </p:cNvPicPr>
          <p:nvPr/>
        </p:nvPicPr>
        <p:blipFill>
          <a:blip r:embed="rId2"/>
          <a:stretch>
            <a:fillRect/>
          </a:stretch>
        </p:blipFill>
        <p:spPr>
          <a:xfrm>
            <a:off x="2303814" y="33671"/>
            <a:ext cx="7439270" cy="6660740"/>
          </a:xfrm>
          <a:prstGeom prst="rect">
            <a:avLst/>
          </a:prstGeom>
        </p:spPr>
      </p:pic>
    </p:spTree>
    <p:extLst>
      <p:ext uri="{BB962C8B-B14F-4D97-AF65-F5344CB8AC3E}">
        <p14:creationId xmlns:p14="http://schemas.microsoft.com/office/powerpoint/2010/main" val="18675571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72A75CA9-DA56-0742-81C4-B03E92C83627}"/>
              </a:ext>
            </a:extLst>
          </p:cNvPr>
          <p:cNvSpPr txBox="1"/>
          <p:nvPr/>
        </p:nvSpPr>
        <p:spPr>
          <a:xfrm>
            <a:off x="569843" y="331304"/>
            <a:ext cx="10853531" cy="707886"/>
          </a:xfrm>
          <a:prstGeom prst="rect">
            <a:avLst/>
          </a:prstGeom>
          <a:noFill/>
        </p:spPr>
        <p:txBody>
          <a:bodyPr wrap="square" rtlCol="0">
            <a:spAutoFit/>
          </a:bodyPr>
          <a:lstStyle/>
          <a:p>
            <a:r>
              <a:rPr lang="zh-CN" altLang="en-US" sz="4000" dirty="0"/>
              <a:t>三、</a:t>
            </a:r>
            <a:r>
              <a:rPr lang="en-US" sz="4000" dirty="0" err="1"/>
              <a:t>N个粒子的理想气体</a:t>
            </a:r>
            <a:endParaRPr lang="en-CN" sz="40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4F453AC-0152-5F47-9E74-FA2F66E456DA}"/>
                  </a:ext>
                </a:extLst>
              </p:cNvPr>
              <p:cNvSpPr txBox="1"/>
              <p:nvPr/>
            </p:nvSpPr>
            <p:spPr>
              <a:xfrm>
                <a:off x="2486891" y="2658093"/>
                <a:ext cx="7218218" cy="12448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𝑛</m:t>
                          </m:r>
                        </m:e>
                        <m:sub>
                          <m:r>
                            <a:rPr lang="en-US" sz="4000" b="0" i="1" smtClean="0">
                              <a:latin typeface="Cambria Math" panose="02040503050406030204" pitchFamily="18" charset="0"/>
                            </a:rPr>
                            <m:t>𝑄</m:t>
                          </m:r>
                        </m:sub>
                      </m:sSub>
                      <m:r>
                        <a:rPr lang="en-US" sz="4000" b="0" i="1" smtClean="0">
                          <a:latin typeface="Cambria Math" panose="02040503050406030204" pitchFamily="18" charset="0"/>
                        </a:rPr>
                        <m:t>𝑉</m:t>
                      </m:r>
                      <m:r>
                        <a:rPr lang="en-US" sz="4000" b="0" i="1" smtClean="0">
                          <a:latin typeface="Cambria Math" panose="02040503050406030204" pitchFamily="18" charset="0"/>
                        </a:rPr>
                        <m:t> →</m:t>
                      </m:r>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𝑍</m:t>
                          </m:r>
                        </m:e>
                        <m:sub>
                          <m:r>
                            <a:rPr lang="en-US" sz="4000" b="0" i="1" smtClean="0">
                              <a:solidFill>
                                <a:srgbClr val="FF0000"/>
                              </a:solidFill>
                              <a:latin typeface="Cambria Math" panose="02040503050406030204" pitchFamily="18" charset="0"/>
                              <a:ea typeface="Cambria Math" panose="02040503050406030204" pitchFamily="18" charset="0"/>
                            </a:rPr>
                            <m:t>𝑁</m:t>
                          </m:r>
                        </m:sub>
                      </m:sSub>
                      <m:r>
                        <a:rPr lang="en-US" sz="4000" b="0" i="1" smtClean="0">
                          <a:solidFill>
                            <a:srgbClr val="FF0000"/>
                          </a:solidFill>
                          <a:latin typeface="Cambria Math" panose="02040503050406030204" pitchFamily="18" charset="0"/>
                          <a:ea typeface="Cambria Math" panose="02040503050406030204" pitchFamily="18" charset="0"/>
                        </a:rPr>
                        <m:t>=</m:t>
                      </m:r>
                      <m:f>
                        <m:fPr>
                          <m:ctrlPr>
                            <a:rPr lang="en-US" sz="4000" b="0" i="1" smtClean="0">
                              <a:solidFill>
                                <a:srgbClr val="FF0000"/>
                              </a:solidFill>
                              <a:latin typeface="Cambria Math" panose="02040503050406030204" pitchFamily="18" charset="0"/>
                              <a:ea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1</m:t>
                          </m:r>
                        </m:num>
                        <m:den>
                          <m:r>
                            <a:rPr lang="en-US" sz="4000" b="0" i="1" smtClean="0">
                              <a:solidFill>
                                <a:srgbClr val="FF0000"/>
                              </a:solidFill>
                              <a:latin typeface="Cambria Math" panose="02040503050406030204" pitchFamily="18" charset="0"/>
                              <a:ea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m:t>
                          </m:r>
                        </m:den>
                      </m:f>
                      <m:r>
                        <a:rPr lang="en-US" sz="4000" b="0" i="1" smtClean="0">
                          <a:solidFill>
                            <a:srgbClr val="FF0000"/>
                          </a:solidFill>
                          <a:latin typeface="Cambria Math" panose="02040503050406030204" pitchFamily="18" charset="0"/>
                          <a:ea typeface="Cambria Math" panose="02040503050406030204" pitchFamily="18" charset="0"/>
                        </a:rPr>
                        <m:t> </m:t>
                      </m:r>
                      <m:sSup>
                        <m:sSupPr>
                          <m:ctrlPr>
                            <a:rPr lang="en-US" sz="4000" b="0" i="1" smtClean="0">
                              <a:solidFill>
                                <a:srgbClr val="FF0000"/>
                              </a:solidFill>
                              <a:latin typeface="Cambria Math" panose="02040503050406030204" pitchFamily="18" charset="0"/>
                              <a:ea typeface="Cambria Math" panose="02040503050406030204" pitchFamily="18" charset="0"/>
                            </a:rPr>
                          </m:ctrlPr>
                        </m:sSupPr>
                        <m:e>
                          <m:d>
                            <m:dPr>
                              <m:ctrlPr>
                                <a:rPr lang="en-US" sz="4000" b="0" i="1" smtClean="0">
                                  <a:solidFill>
                                    <a:srgbClr val="FF0000"/>
                                  </a:solidFill>
                                  <a:latin typeface="Cambria Math" panose="02040503050406030204" pitchFamily="18" charset="0"/>
                                  <a:ea typeface="Cambria Math" panose="02040503050406030204" pitchFamily="18" charset="0"/>
                                </a:rPr>
                              </m:ctrlPr>
                            </m:dPr>
                            <m:e>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𝑛</m:t>
                                  </m:r>
                                </m:e>
                                <m:sub>
                                  <m:r>
                                    <a:rPr lang="en-US" sz="4000" b="0" i="1" smtClean="0">
                                      <a:solidFill>
                                        <a:srgbClr val="FF0000"/>
                                      </a:solidFill>
                                      <a:latin typeface="Cambria Math" panose="02040503050406030204" pitchFamily="18" charset="0"/>
                                      <a:ea typeface="Cambria Math" panose="02040503050406030204" pitchFamily="18" charset="0"/>
                                    </a:rPr>
                                    <m:t>𝑄</m:t>
                                  </m:r>
                                </m:sub>
                              </m:sSub>
                              <m:r>
                                <a:rPr lang="en-US" sz="4000" b="0" i="1" smtClean="0">
                                  <a:solidFill>
                                    <a:srgbClr val="FF0000"/>
                                  </a:solidFill>
                                  <a:latin typeface="Cambria Math" panose="02040503050406030204" pitchFamily="18" charset="0"/>
                                  <a:ea typeface="Cambria Math" panose="02040503050406030204" pitchFamily="18" charset="0"/>
                                </a:rPr>
                                <m:t>𝑉</m:t>
                              </m:r>
                            </m:e>
                          </m:d>
                        </m:e>
                        <m:sup>
                          <m:r>
                            <a:rPr lang="en-US" sz="4000" b="0" i="1" smtClean="0">
                              <a:solidFill>
                                <a:srgbClr val="FF0000"/>
                              </a:solidFill>
                              <a:latin typeface="Cambria Math" panose="02040503050406030204" pitchFamily="18" charset="0"/>
                              <a:ea typeface="Cambria Math" panose="02040503050406030204" pitchFamily="18" charset="0"/>
                            </a:rPr>
                            <m:t>𝑁</m:t>
                          </m:r>
                        </m:sup>
                      </m:sSup>
                    </m:oMath>
                  </m:oMathPara>
                </a14:m>
                <a:endParaRPr lang="en-CN" sz="4000" dirty="0"/>
              </a:p>
            </p:txBody>
          </p:sp>
        </mc:Choice>
        <mc:Fallback xmlns="">
          <p:sp>
            <p:nvSpPr>
              <p:cNvPr id="3" name="TextBox 2">
                <a:extLst>
                  <a:ext uri="{FF2B5EF4-FFF2-40B4-BE49-F238E27FC236}">
                    <a16:creationId xmlns:a16="http://schemas.microsoft.com/office/drawing/2014/main" id="{74F453AC-0152-5F47-9E74-FA2F66E456DA}"/>
                  </a:ext>
                </a:extLst>
              </p:cNvPr>
              <p:cNvSpPr txBox="1">
                <a:spLocks noRot="1" noChangeAspect="1" noMove="1" noResize="1" noEditPoints="1" noAdjustHandles="1" noChangeArrowheads="1" noChangeShapeType="1" noTextEdit="1"/>
              </p:cNvSpPr>
              <p:nvPr/>
            </p:nvSpPr>
            <p:spPr>
              <a:xfrm>
                <a:off x="2486891" y="2658093"/>
                <a:ext cx="7218218" cy="1244828"/>
              </a:xfrm>
              <a:prstGeom prst="rect">
                <a:avLst/>
              </a:prstGeom>
              <a:blipFill>
                <a:blip r:embed="rId2"/>
                <a:stretch>
                  <a:fillRect b="-808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F7B625D-CFCC-B94B-B2C7-B7B681038F53}"/>
                  </a:ext>
                </a:extLst>
              </p:cNvPr>
              <p:cNvSpPr txBox="1"/>
              <p:nvPr/>
            </p:nvSpPr>
            <p:spPr>
              <a:xfrm>
                <a:off x="7898897" y="255472"/>
                <a:ext cx="4293103" cy="8126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𝑄</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ℏ</m:t>
                                      </m:r>
                                    </m:e>
                                    <m:sup>
                                      <m:r>
                                        <a:rPr lang="en-US" sz="2400" b="0" i="1" smtClean="0">
                                          <a:latin typeface="Cambria Math" panose="02040503050406030204" pitchFamily="18" charset="0"/>
                                          <a:ea typeface="Cambria Math" panose="02040503050406030204" pitchFamily="18" charset="0"/>
                                        </a:rPr>
                                        <m:t>2</m:t>
                                      </m:r>
                                    </m:sup>
                                  </m:sSup>
                                </m:den>
                              </m:f>
                            </m:e>
                          </m:d>
                        </m:e>
                        <m:sup>
                          <m:r>
                            <a:rPr lang="en-US" sz="2400" b="0" i="1" smtClean="0">
                              <a:latin typeface="Cambria Math" panose="02040503050406030204" pitchFamily="18" charset="0"/>
                            </a:rPr>
                            <m:t>3/2</m:t>
                          </m:r>
                        </m:sup>
                      </m:sSup>
                    </m:oMath>
                  </m:oMathPara>
                </a14:m>
                <a:endParaRPr lang="en-CN" sz="2400" dirty="0"/>
              </a:p>
            </p:txBody>
          </p:sp>
        </mc:Choice>
        <mc:Fallback xmlns="">
          <p:sp>
            <p:nvSpPr>
              <p:cNvPr id="41" name="TextBox 40">
                <a:extLst>
                  <a:ext uri="{FF2B5EF4-FFF2-40B4-BE49-F238E27FC236}">
                    <a16:creationId xmlns:a16="http://schemas.microsoft.com/office/drawing/2014/main" id="{4F7B625D-CFCC-B94B-B2C7-B7B681038F53}"/>
                  </a:ext>
                </a:extLst>
              </p:cNvPr>
              <p:cNvSpPr txBox="1">
                <a:spLocks noRot="1" noChangeAspect="1" noMove="1" noResize="1" noEditPoints="1" noAdjustHandles="1" noChangeArrowheads="1" noChangeShapeType="1" noTextEdit="1"/>
              </p:cNvSpPr>
              <p:nvPr/>
            </p:nvSpPr>
            <p:spPr>
              <a:xfrm>
                <a:off x="7898897" y="255472"/>
                <a:ext cx="4293103" cy="812658"/>
              </a:xfrm>
              <a:prstGeom prst="rect">
                <a:avLst/>
              </a:prstGeom>
              <a:blipFill>
                <a:blip r:embed="rId3"/>
                <a:stretch>
                  <a:fillRect b="-7813"/>
                </a:stretch>
              </a:blipFill>
            </p:spPr>
            <p:txBody>
              <a:bodyPr/>
              <a:lstStyle/>
              <a:p>
                <a:r>
                  <a:rPr lang="en-CN">
                    <a:noFill/>
                  </a:rPr>
                  <a:t> </a:t>
                </a:r>
              </a:p>
            </p:txBody>
          </p:sp>
        </mc:Fallback>
      </mc:AlternateContent>
    </p:spTree>
    <p:extLst>
      <p:ext uri="{BB962C8B-B14F-4D97-AF65-F5344CB8AC3E}">
        <p14:creationId xmlns:p14="http://schemas.microsoft.com/office/powerpoint/2010/main" val="4509702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0EEBE6-8050-A64E-8F28-66B9F817AE96}"/>
              </a:ext>
            </a:extLst>
          </p:cNvPr>
          <p:cNvPicPr>
            <a:picLocks noChangeAspect="1"/>
          </p:cNvPicPr>
          <p:nvPr/>
        </p:nvPicPr>
        <p:blipFill>
          <a:blip r:embed="rId2"/>
          <a:stretch>
            <a:fillRect/>
          </a:stretch>
        </p:blipFill>
        <p:spPr>
          <a:xfrm>
            <a:off x="2702791" y="372918"/>
            <a:ext cx="6426200" cy="5918200"/>
          </a:xfrm>
          <a:prstGeom prst="rect">
            <a:avLst/>
          </a:prstGeom>
        </p:spPr>
      </p:pic>
    </p:spTree>
    <p:extLst>
      <p:ext uri="{BB962C8B-B14F-4D97-AF65-F5344CB8AC3E}">
        <p14:creationId xmlns:p14="http://schemas.microsoft.com/office/powerpoint/2010/main" val="15780811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42A15A-963B-0F40-8E12-472BD0C6526B}"/>
              </a:ext>
            </a:extLst>
          </p:cNvPr>
          <p:cNvPicPr>
            <a:picLocks noChangeAspect="1"/>
          </p:cNvPicPr>
          <p:nvPr/>
        </p:nvPicPr>
        <p:blipFill>
          <a:blip r:embed="rId2"/>
          <a:stretch>
            <a:fillRect/>
          </a:stretch>
        </p:blipFill>
        <p:spPr>
          <a:xfrm>
            <a:off x="2508828" y="790287"/>
            <a:ext cx="6426200" cy="4279900"/>
          </a:xfrm>
          <a:prstGeom prst="rect">
            <a:avLst/>
          </a:prstGeom>
        </p:spPr>
      </p:pic>
    </p:spTree>
    <p:extLst>
      <p:ext uri="{BB962C8B-B14F-4D97-AF65-F5344CB8AC3E}">
        <p14:creationId xmlns:p14="http://schemas.microsoft.com/office/powerpoint/2010/main" val="14984384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964120-D996-EC4D-8176-10B671B01F57}"/>
                  </a:ext>
                </a:extLst>
              </p:cNvPr>
              <p:cNvSpPr txBox="1"/>
              <p:nvPr/>
            </p:nvSpPr>
            <p:spPr>
              <a:xfrm>
                <a:off x="3823855" y="2251363"/>
                <a:ext cx="5173468" cy="14936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𝜎</m:t>
                      </m:r>
                      <m:r>
                        <a:rPr lang="en-US" sz="4000" b="0" i="1" smtClean="0">
                          <a:latin typeface="Cambria Math" panose="02040503050406030204" pitchFamily="18" charset="0"/>
                          <a:ea typeface="Cambria Math" panose="02040503050406030204" pitchFamily="18" charset="0"/>
                        </a:rPr>
                        <m:t>=−</m:t>
                      </m:r>
                      <m:nary>
                        <m:naryPr>
                          <m:chr m:val="∑"/>
                          <m:supHide m:val="on"/>
                          <m:ctrlPr>
                            <a:rPr lang="en-US" sz="4000" b="0" i="1" smtClean="0">
                              <a:latin typeface="Cambria Math" panose="02040503050406030204" pitchFamily="18" charset="0"/>
                              <a:ea typeface="Cambria Math" panose="02040503050406030204" pitchFamily="18" charset="0"/>
                            </a:rPr>
                          </m:ctrlPr>
                        </m:naryPr>
                        <m:sub>
                          <m:r>
                            <m:rPr>
                              <m:brk m:alnAt="7"/>
                            </m:rPr>
                            <a:rPr lang="en-US" sz="4000" b="0" i="1" smtClean="0">
                              <a:latin typeface="Cambria Math" panose="02040503050406030204" pitchFamily="18" charset="0"/>
                              <a:ea typeface="Cambria Math" panose="02040503050406030204" pitchFamily="18" charset="0"/>
                            </a:rPr>
                            <m:t>𝑠</m:t>
                          </m:r>
                        </m:sub>
                        <m:sup/>
                        <m:e>
                          <m:r>
                            <a:rPr lang="en-US" sz="4000" b="0" i="1" smtClean="0">
                              <a:latin typeface="Cambria Math" panose="02040503050406030204" pitchFamily="18" charset="0"/>
                              <a:ea typeface="Cambria Math" panose="02040503050406030204" pitchFamily="18" charset="0"/>
                            </a:rPr>
                            <m:t>𝑃</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𝑠</m:t>
                              </m:r>
                            </m:e>
                          </m:d>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r>
                                <a:rPr lang="en-US" sz="4000" b="0" i="1" smtClean="0">
                                  <a:latin typeface="Cambria Math" panose="02040503050406030204" pitchFamily="18" charset="0"/>
                                  <a:ea typeface="Cambria Math" panose="02040503050406030204" pitchFamily="18" charset="0"/>
                                </a:rPr>
                                <m:t>𝑃</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𝑠</m:t>
                              </m:r>
                              <m:r>
                                <a:rPr lang="en-US" sz="4000" b="0" i="1" smtClean="0">
                                  <a:latin typeface="Cambria Math" panose="02040503050406030204" pitchFamily="18" charset="0"/>
                                  <a:ea typeface="Cambria Math" panose="02040503050406030204" pitchFamily="18" charset="0"/>
                                </a:rPr>
                                <m:t>)</m:t>
                              </m:r>
                            </m:e>
                          </m:func>
                        </m:e>
                      </m:nary>
                    </m:oMath>
                  </m:oMathPara>
                </a14:m>
                <a:endParaRPr lang="en-CN" sz="4000" dirty="0"/>
              </a:p>
            </p:txBody>
          </p:sp>
        </mc:Choice>
        <mc:Fallback xmlns="">
          <p:sp>
            <p:nvSpPr>
              <p:cNvPr id="5" name="TextBox 4">
                <a:extLst>
                  <a:ext uri="{FF2B5EF4-FFF2-40B4-BE49-F238E27FC236}">
                    <a16:creationId xmlns:a16="http://schemas.microsoft.com/office/drawing/2014/main" id="{67964120-D996-EC4D-8176-10B671B01F57}"/>
                  </a:ext>
                </a:extLst>
              </p:cNvPr>
              <p:cNvSpPr txBox="1">
                <a:spLocks noRot="1" noChangeAspect="1" noMove="1" noResize="1" noEditPoints="1" noAdjustHandles="1" noChangeArrowheads="1" noChangeShapeType="1" noTextEdit="1"/>
              </p:cNvSpPr>
              <p:nvPr/>
            </p:nvSpPr>
            <p:spPr>
              <a:xfrm>
                <a:off x="3823855" y="2251363"/>
                <a:ext cx="5173468" cy="1493679"/>
              </a:xfrm>
              <a:prstGeom prst="rect">
                <a:avLst/>
              </a:prstGeom>
              <a:blipFill>
                <a:blip r:embed="rId2"/>
                <a:stretch>
                  <a:fillRect l="-7824" t="-149153" r="-2934" b="-203390"/>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235054BB-A5AF-C54B-A69C-669A7B4F80D7}"/>
              </a:ext>
            </a:extLst>
          </p:cNvPr>
          <p:cNvSpPr txBox="1"/>
          <p:nvPr/>
        </p:nvSpPr>
        <p:spPr>
          <a:xfrm>
            <a:off x="595745" y="581891"/>
            <a:ext cx="6954982"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先从信息熵考虑一下这个问题</a:t>
            </a:r>
          </a:p>
        </p:txBody>
      </p:sp>
    </p:spTree>
    <p:extLst>
      <p:ext uri="{BB962C8B-B14F-4D97-AF65-F5344CB8AC3E}">
        <p14:creationId xmlns:p14="http://schemas.microsoft.com/office/powerpoint/2010/main" val="33352392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66598A-CAB7-084C-8C44-068C32745802}"/>
              </a:ext>
            </a:extLst>
          </p:cNvPr>
          <p:cNvSpPr txBox="1"/>
          <p:nvPr/>
        </p:nvSpPr>
        <p:spPr>
          <a:xfrm>
            <a:off x="512618" y="277091"/>
            <a:ext cx="4599709" cy="369332"/>
          </a:xfrm>
          <a:prstGeom prst="rect">
            <a:avLst/>
          </a:prstGeom>
          <a:noFill/>
        </p:spPr>
        <p:txBody>
          <a:bodyPr wrap="square" rtlCol="0">
            <a:spAutoFit/>
          </a:bodyPr>
          <a:lstStyle/>
          <a:p>
            <a:r>
              <a:rPr lang="en-CN" dirty="0"/>
              <a:t>位置空间(one particle)</a:t>
            </a:r>
          </a:p>
        </p:txBody>
      </p:sp>
      <p:cxnSp>
        <p:nvCxnSpPr>
          <p:cNvPr id="4" name="Straight Connector 3">
            <a:extLst>
              <a:ext uri="{FF2B5EF4-FFF2-40B4-BE49-F238E27FC236}">
                <a16:creationId xmlns:a16="http://schemas.microsoft.com/office/drawing/2014/main" id="{6F950B93-C071-9B4E-AA46-3C36CE639488}"/>
              </a:ext>
            </a:extLst>
          </p:cNvPr>
          <p:cNvCxnSpPr/>
          <p:nvPr/>
        </p:nvCxnSpPr>
        <p:spPr>
          <a:xfrm>
            <a:off x="2784764" y="1191491"/>
            <a:ext cx="5472545" cy="0"/>
          </a:xfrm>
          <a:prstGeom prst="line">
            <a:avLst/>
          </a:prstGeom>
          <a:ln w="60325"/>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39F18E1-0E7F-0B49-A25F-0A9E4D704703}"/>
              </a:ext>
            </a:extLst>
          </p:cNvPr>
          <p:cNvSpPr txBox="1"/>
          <p:nvPr/>
        </p:nvSpPr>
        <p:spPr>
          <a:xfrm>
            <a:off x="2784764" y="1324698"/>
            <a:ext cx="6315740" cy="369332"/>
          </a:xfrm>
          <a:prstGeom prst="rect">
            <a:avLst/>
          </a:prstGeom>
          <a:noFill/>
        </p:spPr>
        <p:txBody>
          <a:bodyPr wrap="square" rtlCol="0">
            <a:spAutoFit/>
          </a:bodyPr>
          <a:lstStyle/>
          <a:p>
            <a:r>
              <a:rPr lang="en-US" altLang="zh-CN" dirty="0"/>
              <a:t>0                 x  </a:t>
            </a:r>
            <a:r>
              <a:rPr lang="en-US" altLang="zh-CN" dirty="0" err="1"/>
              <a:t>x+dx</a:t>
            </a:r>
            <a:endParaRPr lang="en-CN" dirty="0"/>
          </a:p>
        </p:txBody>
      </p:sp>
      <p:sp>
        <p:nvSpPr>
          <p:cNvPr id="7" name="TextBox 6">
            <a:extLst>
              <a:ext uri="{FF2B5EF4-FFF2-40B4-BE49-F238E27FC236}">
                <a16:creationId xmlns:a16="http://schemas.microsoft.com/office/drawing/2014/main" id="{E50F2285-8213-394B-9725-3B943E6CBAEF}"/>
              </a:ext>
            </a:extLst>
          </p:cNvPr>
          <p:cNvSpPr txBox="1"/>
          <p:nvPr/>
        </p:nvSpPr>
        <p:spPr>
          <a:xfrm>
            <a:off x="8040791" y="1324239"/>
            <a:ext cx="6315740" cy="369332"/>
          </a:xfrm>
          <a:prstGeom prst="rect">
            <a:avLst/>
          </a:prstGeom>
          <a:noFill/>
        </p:spPr>
        <p:txBody>
          <a:bodyPr wrap="square" rtlCol="0">
            <a:spAutoFit/>
          </a:bodyPr>
          <a:lstStyle/>
          <a:p>
            <a:r>
              <a:rPr lang="en-US" dirty="0"/>
              <a:t>L</a:t>
            </a:r>
            <a:endParaRPr lang="en-CN" dirty="0"/>
          </a:p>
        </p:txBody>
      </p:sp>
      <p:cxnSp>
        <p:nvCxnSpPr>
          <p:cNvPr id="9" name="Straight Arrow Connector 8">
            <a:extLst>
              <a:ext uri="{FF2B5EF4-FFF2-40B4-BE49-F238E27FC236}">
                <a16:creationId xmlns:a16="http://schemas.microsoft.com/office/drawing/2014/main" id="{C4909787-7821-0248-AC45-8058FA449F32}"/>
              </a:ext>
            </a:extLst>
          </p:cNvPr>
          <p:cNvCxnSpPr/>
          <p:nvPr/>
        </p:nvCxnSpPr>
        <p:spPr>
          <a:xfrm flipV="1">
            <a:off x="3955312" y="999460"/>
            <a:ext cx="0" cy="324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9290A88-67E6-CB48-8E76-FF62B813CA88}"/>
              </a:ext>
            </a:extLst>
          </p:cNvPr>
          <p:cNvCxnSpPr/>
          <p:nvPr/>
        </p:nvCxnSpPr>
        <p:spPr>
          <a:xfrm flipV="1">
            <a:off x="4277832" y="1003005"/>
            <a:ext cx="0" cy="324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A0212C-8D06-2B47-AA99-C238F0B3FB08}"/>
                  </a:ext>
                </a:extLst>
              </p:cNvPr>
              <p:cNvSpPr txBox="1"/>
              <p:nvPr/>
            </p:nvSpPr>
            <p:spPr>
              <a:xfrm>
                <a:off x="787775" y="2658724"/>
                <a:ext cx="5054009" cy="1014893"/>
              </a:xfrm>
              <a:prstGeom prst="rect">
                <a:avLst/>
              </a:prstGeom>
              <a:noFill/>
            </p:spPr>
            <p:txBody>
              <a:bodyPr wrap="square" rtlCol="0">
                <a:spAutoFit/>
              </a:bodyPr>
              <a:lstStyle/>
              <a:p>
                <a:r>
                  <a:rPr lang="en-CN" dirty="0"/>
                  <a:t>Only one constraint</a:t>
                </a:r>
              </a:p>
              <a:p>
                <a:pPr/>
                <a14:m>
                  <m:oMathPara xmlns:m="http://schemas.openxmlformats.org/officeDocument/2006/math">
                    <m:oMathParaPr>
                      <m:jc m:val="centerGroup"/>
                    </m:oMathParaPr>
                    <m:oMath xmlns:m="http://schemas.openxmlformats.org/officeDocument/2006/math">
                      <m:nary>
                        <m:naryPr>
                          <m:ctrlPr>
                            <a:rPr lang="en-CN"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𝐿</m:t>
                          </m:r>
                        </m:sup>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r>
                            <a:rPr lang="en-US" b="0" i="1" smtClean="0">
                              <a:latin typeface="Cambria Math" panose="02040503050406030204" pitchFamily="18" charset="0"/>
                            </a:rPr>
                            <m:t>=1</m:t>
                          </m:r>
                        </m:e>
                      </m:nary>
                    </m:oMath>
                  </m:oMathPara>
                </a14:m>
                <a:endParaRPr lang="en-CN" dirty="0"/>
              </a:p>
            </p:txBody>
          </p:sp>
        </mc:Choice>
        <mc:Fallback xmlns="">
          <p:sp>
            <p:nvSpPr>
              <p:cNvPr id="11" name="TextBox 10">
                <a:extLst>
                  <a:ext uri="{FF2B5EF4-FFF2-40B4-BE49-F238E27FC236}">
                    <a16:creationId xmlns:a16="http://schemas.microsoft.com/office/drawing/2014/main" id="{05A0212C-8D06-2B47-AA99-C238F0B3FB08}"/>
                  </a:ext>
                </a:extLst>
              </p:cNvPr>
              <p:cNvSpPr txBox="1">
                <a:spLocks noRot="1" noChangeAspect="1" noMove="1" noResize="1" noEditPoints="1" noAdjustHandles="1" noChangeArrowheads="1" noChangeShapeType="1" noTextEdit="1"/>
              </p:cNvSpPr>
              <p:nvPr/>
            </p:nvSpPr>
            <p:spPr>
              <a:xfrm>
                <a:off x="787775" y="2658724"/>
                <a:ext cx="5054009" cy="1014893"/>
              </a:xfrm>
              <a:prstGeom prst="rect">
                <a:avLst/>
              </a:prstGeom>
              <a:blipFill>
                <a:blip r:embed="rId2"/>
                <a:stretch>
                  <a:fillRect l="-752" t="-80247" b="-159259"/>
                </a:stretch>
              </a:blipFill>
            </p:spPr>
            <p:txBody>
              <a:bodyPr/>
              <a:lstStyle/>
              <a:p>
                <a:r>
                  <a:rPr lang="en-CN">
                    <a:noFill/>
                  </a:rPr>
                  <a:t> </a:t>
                </a:r>
              </a:p>
            </p:txBody>
          </p:sp>
        </mc:Fallback>
      </mc:AlternateContent>
      <p:sp>
        <p:nvSpPr>
          <p:cNvPr id="12" name="Right Arrow 11">
            <a:extLst>
              <a:ext uri="{FF2B5EF4-FFF2-40B4-BE49-F238E27FC236}">
                <a16:creationId xmlns:a16="http://schemas.microsoft.com/office/drawing/2014/main" id="{FF09CA47-98D7-3141-90F2-4431E7B29DB8}"/>
              </a:ext>
            </a:extLst>
          </p:cNvPr>
          <p:cNvSpPr/>
          <p:nvPr/>
        </p:nvSpPr>
        <p:spPr>
          <a:xfrm>
            <a:off x="5265696" y="3118147"/>
            <a:ext cx="216904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7F4823-157A-874D-B6E5-9B1F17C3AA39}"/>
                  </a:ext>
                </a:extLst>
              </p:cNvPr>
              <p:cNvSpPr txBox="1"/>
              <p:nvPr/>
            </p:nvSpPr>
            <p:spPr>
              <a:xfrm>
                <a:off x="7627088" y="2926939"/>
                <a:ext cx="2339163"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r>
                            <a:rPr lang="en-US" b="0" i="1" smtClean="0">
                              <a:latin typeface="Cambria Math" panose="02040503050406030204" pitchFamily="18" charset="0"/>
                            </a:rPr>
                            <m:t>𝑓</m:t>
                          </m:r>
                        </m:e>
                        <m:sup>
                          <m:r>
                            <a:rPr lang="en-CN"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𝐿</m:t>
                          </m:r>
                        </m:den>
                      </m:f>
                    </m:oMath>
                  </m:oMathPara>
                </a14:m>
                <a:endParaRPr lang="en-CN" dirty="0"/>
              </a:p>
            </p:txBody>
          </p:sp>
        </mc:Choice>
        <mc:Fallback xmlns="">
          <p:sp>
            <p:nvSpPr>
              <p:cNvPr id="13" name="TextBox 12">
                <a:extLst>
                  <a:ext uri="{FF2B5EF4-FFF2-40B4-BE49-F238E27FC236}">
                    <a16:creationId xmlns:a16="http://schemas.microsoft.com/office/drawing/2014/main" id="{497F4823-157A-874D-B6E5-9B1F17C3AA39}"/>
                  </a:ext>
                </a:extLst>
              </p:cNvPr>
              <p:cNvSpPr txBox="1">
                <a:spLocks noRot="1" noChangeAspect="1" noMove="1" noResize="1" noEditPoints="1" noAdjustHandles="1" noChangeArrowheads="1" noChangeShapeType="1" noTextEdit="1"/>
              </p:cNvSpPr>
              <p:nvPr/>
            </p:nvSpPr>
            <p:spPr>
              <a:xfrm>
                <a:off x="7627088" y="2926939"/>
                <a:ext cx="2339163" cy="634789"/>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661DBDA-8FAD-BB46-A504-8569BC28653B}"/>
                  </a:ext>
                </a:extLst>
              </p:cNvPr>
              <p:cNvSpPr txBox="1"/>
              <p:nvPr/>
            </p:nvSpPr>
            <p:spPr>
              <a:xfrm>
                <a:off x="900546" y="4271417"/>
                <a:ext cx="983125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𝜎</m:t>
                          </m:r>
                        </m:e>
                        <m:sub>
                          <m:r>
                            <a:rPr lang="en-US" sz="2800" b="0" i="1" smtClean="0">
                              <a:latin typeface="Cambria Math" panose="02040503050406030204" pitchFamily="18" charset="0"/>
                              <a:ea typeface="Cambria Math" panose="02040503050406030204" pitchFamily="18" charset="0"/>
                            </a:rPr>
                            <m:t>𝑚𝑎𝑥</m:t>
                          </m:r>
                        </m:sub>
                      </m:sSub>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𝑙𝑜𝑐𝑎𝑡𝑖𝑜𝑛</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𝑜𝑓</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𝑜𝑛𝑒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𝑝𝑎𝑟𝑡𝑖𝑐𝑙𝑒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𝑎𝑙𝑜𝑛𝑔</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𝑡h𝑒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𝑎𝑥𝑖𝑠</m:t>
                          </m:r>
                        </m:e>
                      </m:d>
                      <m:r>
                        <a:rPr lang="en-US" sz="2800" b="0" i="1" smtClean="0">
                          <a:latin typeface="Cambria Math" panose="02040503050406030204" pitchFamily="18" charset="0"/>
                          <a:ea typeface="Cambria Math" panose="02040503050406030204" pitchFamily="18" charset="0"/>
                        </a:rPr>
                        <m:t>=</m:t>
                      </m:r>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log</m:t>
                          </m:r>
                        </m:fName>
                        <m:e>
                          <m:r>
                            <a:rPr lang="en-US" sz="2800" b="0" i="1" smtClean="0">
                              <a:latin typeface="Cambria Math" panose="02040503050406030204" pitchFamily="18" charset="0"/>
                              <a:ea typeface="Cambria Math" panose="02040503050406030204" pitchFamily="18" charset="0"/>
                            </a:rPr>
                            <m:t>𝐿</m:t>
                          </m:r>
                        </m:e>
                      </m:func>
                    </m:oMath>
                  </m:oMathPara>
                </a14:m>
                <a:endParaRPr lang="en-CN" sz="2800" dirty="0"/>
              </a:p>
            </p:txBody>
          </p:sp>
        </mc:Choice>
        <mc:Fallback xmlns="">
          <p:sp>
            <p:nvSpPr>
              <p:cNvPr id="14" name="TextBox 13">
                <a:extLst>
                  <a:ext uri="{FF2B5EF4-FFF2-40B4-BE49-F238E27FC236}">
                    <a16:creationId xmlns:a16="http://schemas.microsoft.com/office/drawing/2014/main" id="{9661DBDA-8FAD-BB46-A504-8569BC28653B}"/>
                  </a:ext>
                </a:extLst>
              </p:cNvPr>
              <p:cNvSpPr txBox="1">
                <a:spLocks noRot="1" noChangeAspect="1" noMove="1" noResize="1" noEditPoints="1" noAdjustHandles="1" noChangeArrowheads="1" noChangeShapeType="1" noTextEdit="1"/>
              </p:cNvSpPr>
              <p:nvPr/>
            </p:nvSpPr>
            <p:spPr>
              <a:xfrm>
                <a:off x="900546" y="4271417"/>
                <a:ext cx="9831250" cy="523220"/>
              </a:xfrm>
              <a:prstGeom prst="rect">
                <a:avLst/>
              </a:prstGeom>
              <a:blipFill>
                <a:blip r:embed="rId4"/>
                <a:stretch>
                  <a:fillRect b="-2142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F1F6BD-A88E-1743-90C2-DE81F94742C8}"/>
                  </a:ext>
                </a:extLst>
              </p:cNvPr>
              <p:cNvSpPr txBox="1"/>
              <p:nvPr/>
            </p:nvSpPr>
            <p:spPr>
              <a:xfrm>
                <a:off x="1460204" y="5560002"/>
                <a:ext cx="927159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𝜎</m:t>
                          </m:r>
                        </m:e>
                        <m:sub>
                          <m:r>
                            <a:rPr lang="en-US" sz="2800" b="0" i="1" smtClean="0">
                              <a:latin typeface="Cambria Math" panose="02040503050406030204" pitchFamily="18" charset="0"/>
                              <a:ea typeface="Cambria Math" panose="02040503050406030204" pitchFamily="18" charset="0"/>
                            </a:rPr>
                            <m:t>𝑚𝑎𝑥</m:t>
                          </m:r>
                        </m:sub>
                      </m:sSub>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𝑧</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𝑅</m:t>
                          </m:r>
                        </m:e>
                      </m:d>
                      <m:r>
                        <a:rPr lang="en-US" sz="2800" b="0" i="1" smtClean="0">
                          <a:latin typeface="Cambria Math" panose="02040503050406030204" pitchFamily="18" charset="0"/>
                          <a:ea typeface="Cambria Math" panose="02040503050406030204" pitchFamily="18" charset="0"/>
                        </a:rPr>
                        <m:t>=3 </m:t>
                      </m:r>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log</m:t>
                          </m:r>
                        </m:fName>
                        <m:e>
                          <m:r>
                            <a:rPr lang="en-US" sz="2800" b="0" i="1" smtClean="0">
                              <a:latin typeface="Cambria Math" panose="02040503050406030204" pitchFamily="18" charset="0"/>
                              <a:ea typeface="Cambria Math" panose="02040503050406030204" pitchFamily="18" charset="0"/>
                            </a:rPr>
                            <m:t>𝐿</m:t>
                          </m:r>
                          <m:r>
                            <a:rPr lang="en-US" sz="2800" b="0" i="1" smtClean="0">
                              <a:latin typeface="Cambria Math" panose="02040503050406030204" pitchFamily="18" charset="0"/>
                              <a:ea typeface="Cambria Math" panose="02040503050406030204" pitchFamily="18" charset="0"/>
                            </a:rPr>
                            <m:t>=</m:t>
                          </m:r>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log</m:t>
                              </m:r>
                            </m:fName>
                            <m:e>
                              <m:r>
                                <a:rPr lang="en-US" sz="2800" b="0" i="1" smtClean="0">
                                  <a:latin typeface="Cambria Math" panose="02040503050406030204" pitchFamily="18" charset="0"/>
                                  <a:ea typeface="Cambria Math" panose="02040503050406030204" pitchFamily="18" charset="0"/>
                                </a:rPr>
                                <m:t>𝑉</m:t>
                              </m:r>
                            </m:e>
                          </m:func>
                        </m:e>
                      </m:func>
                    </m:oMath>
                  </m:oMathPara>
                </a14:m>
                <a:endParaRPr lang="en-CN" sz="2800" dirty="0"/>
              </a:p>
            </p:txBody>
          </p:sp>
        </mc:Choice>
        <mc:Fallback xmlns="">
          <p:sp>
            <p:nvSpPr>
              <p:cNvPr id="15" name="TextBox 14">
                <a:extLst>
                  <a:ext uri="{FF2B5EF4-FFF2-40B4-BE49-F238E27FC236}">
                    <a16:creationId xmlns:a16="http://schemas.microsoft.com/office/drawing/2014/main" id="{21F1F6BD-A88E-1743-90C2-DE81F94742C8}"/>
                  </a:ext>
                </a:extLst>
              </p:cNvPr>
              <p:cNvSpPr txBox="1">
                <a:spLocks noRot="1" noChangeAspect="1" noMove="1" noResize="1" noEditPoints="1" noAdjustHandles="1" noChangeArrowheads="1" noChangeShapeType="1" noTextEdit="1"/>
              </p:cNvSpPr>
              <p:nvPr/>
            </p:nvSpPr>
            <p:spPr>
              <a:xfrm>
                <a:off x="1460204" y="5560002"/>
                <a:ext cx="9271591" cy="523220"/>
              </a:xfrm>
              <a:prstGeom prst="rect">
                <a:avLst/>
              </a:prstGeom>
              <a:blipFill>
                <a:blip r:embed="rId5"/>
                <a:stretch>
                  <a:fillRect b="-18605"/>
                </a:stretch>
              </a:blipFill>
            </p:spPr>
            <p:txBody>
              <a:bodyPr/>
              <a:lstStyle/>
              <a:p>
                <a:r>
                  <a:rPr lang="en-CN">
                    <a:noFill/>
                  </a:rPr>
                  <a:t> </a:t>
                </a:r>
              </a:p>
            </p:txBody>
          </p:sp>
        </mc:Fallback>
      </mc:AlternateContent>
    </p:spTree>
    <p:extLst>
      <p:ext uri="{BB962C8B-B14F-4D97-AF65-F5344CB8AC3E}">
        <p14:creationId xmlns:p14="http://schemas.microsoft.com/office/powerpoint/2010/main" val="30206966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9BA899-C9A1-844E-B731-6B15A4E5987D}"/>
                  </a:ext>
                </a:extLst>
              </p:cNvPr>
              <p:cNvSpPr txBox="1"/>
              <p:nvPr/>
            </p:nvSpPr>
            <p:spPr>
              <a:xfrm>
                <a:off x="2466753" y="212651"/>
                <a:ext cx="7570382"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rPr>
                        <m:t>1</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𝑁</m:t>
                      </m:r>
                    </m:oMath>
                  </m:oMathPara>
                </a14:m>
                <a:endParaRPr lang="en-CN" sz="4000" dirty="0">
                  <a:solidFill>
                    <a:srgbClr val="FF0000"/>
                  </a:solidFill>
                </a:endParaRPr>
              </a:p>
            </p:txBody>
          </p:sp>
        </mc:Choice>
        <mc:Fallback xmlns="">
          <p:sp>
            <p:nvSpPr>
              <p:cNvPr id="2" name="TextBox 1">
                <a:extLst>
                  <a:ext uri="{FF2B5EF4-FFF2-40B4-BE49-F238E27FC236}">
                    <a16:creationId xmlns:a16="http://schemas.microsoft.com/office/drawing/2014/main" id="{249BA899-C9A1-844E-B731-6B15A4E5987D}"/>
                  </a:ext>
                </a:extLst>
              </p:cNvPr>
              <p:cNvSpPr txBox="1">
                <a:spLocks noRot="1" noChangeAspect="1" noMove="1" noResize="1" noEditPoints="1" noAdjustHandles="1" noChangeArrowheads="1" noChangeShapeType="1" noTextEdit="1"/>
              </p:cNvSpPr>
              <p:nvPr/>
            </p:nvSpPr>
            <p:spPr>
              <a:xfrm>
                <a:off x="2466753" y="212651"/>
                <a:ext cx="7570382" cy="707886"/>
              </a:xfrm>
              <a:prstGeom prst="rect">
                <a:avLst/>
              </a:prstGeom>
              <a:blipFill>
                <a:blip r:embed="rId2"/>
                <a:stretch>
                  <a:fillRect/>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1BB9D0FA-EA43-8A44-A93B-2C665001B398}"/>
              </a:ext>
            </a:extLst>
          </p:cNvPr>
          <p:cNvSpPr txBox="1"/>
          <p:nvPr/>
        </p:nvSpPr>
        <p:spPr>
          <a:xfrm>
            <a:off x="786809" y="1275907"/>
            <a:ext cx="6570921" cy="707886"/>
          </a:xfrm>
          <a:prstGeom prst="rect">
            <a:avLst/>
          </a:prstGeom>
          <a:noFill/>
        </p:spPr>
        <p:txBody>
          <a:bodyPr wrap="square" rtlCol="0">
            <a:spAutoFit/>
          </a:bodyPr>
          <a:lstStyle/>
          <a:p>
            <a:r>
              <a:rPr lang="en-CN" sz="4000" dirty="0">
                <a:latin typeface="FangSong" panose="02010609060101010101" pitchFamily="49" charset="-122"/>
                <a:ea typeface="FangSong" panose="02010609060101010101" pitchFamily="49" charset="-122"/>
              </a:rPr>
              <a:t>可分辨</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2BB4515-FFED-A74C-8B51-5ED60F024D15}"/>
                  </a:ext>
                </a:extLst>
              </p:cNvPr>
              <p:cNvSpPr txBox="1"/>
              <p:nvPr/>
            </p:nvSpPr>
            <p:spPr>
              <a:xfrm>
                <a:off x="3402419" y="2596425"/>
                <a:ext cx="6400800" cy="7188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Sup>
                        <m:sSubSupPr>
                          <m:ctrlPr>
                            <a:rPr lang="en-CN" sz="4000" i="1" smtClean="0">
                              <a:latin typeface="Cambria Math" panose="02040503050406030204" pitchFamily="18" charset="0"/>
                            </a:rPr>
                          </m:ctrlPr>
                        </m:sSubSupPr>
                        <m:e>
                          <m:r>
                            <a:rPr lang="en-CN" sz="4000" i="1" smtClean="0">
                              <a:latin typeface="Cambria Math" panose="02040503050406030204" pitchFamily="18" charset="0"/>
                              <a:ea typeface="Cambria Math" panose="02040503050406030204" pitchFamily="18" charset="0"/>
                            </a:rPr>
                            <m:t>𝜎</m:t>
                          </m:r>
                        </m:e>
                        <m:sub>
                          <m:r>
                            <a:rPr lang="en-US" sz="4000" b="0" i="1" smtClean="0">
                              <a:latin typeface="Cambria Math" panose="02040503050406030204" pitchFamily="18" charset="0"/>
                            </a:rPr>
                            <m:t>𝑚𝑎𝑥</m:t>
                          </m:r>
                        </m:sub>
                        <m:sup>
                          <m:r>
                            <a:rPr lang="en-US" sz="4000" b="0" i="1" smtClean="0">
                              <a:latin typeface="Cambria Math" panose="02040503050406030204" pitchFamily="18" charset="0"/>
                            </a:rPr>
                            <m:t>𝑑</m:t>
                          </m:r>
                        </m:sup>
                      </m:sSubSup>
                      <m:d>
                        <m:dPr>
                          <m:ctrlPr>
                            <a:rPr lang="en-US" sz="4000" b="0" i="1" smtClean="0">
                              <a:latin typeface="Cambria Math" panose="02040503050406030204" pitchFamily="18" charset="0"/>
                            </a:rPr>
                          </m:ctrlPr>
                        </m:dPr>
                        <m:e>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𝑅</m:t>
                              </m:r>
                            </m:e>
                            <m:sup>
                              <m:r>
                                <a:rPr lang="en-US" sz="4000" b="0" i="1" smtClean="0">
                                  <a:latin typeface="Cambria Math" panose="02040503050406030204" pitchFamily="18" charset="0"/>
                                </a:rPr>
                                <m:t>𝑁</m:t>
                              </m:r>
                            </m:sup>
                          </m:sSup>
                        </m:e>
                      </m:d>
                      <m:r>
                        <a:rPr lang="en-US" sz="4000" b="0" i="1" smtClean="0">
                          <a:latin typeface="Cambria Math" panose="02040503050406030204" pitchFamily="18" charset="0"/>
                        </a:rPr>
                        <m:t>=</m:t>
                      </m:r>
                      <m:r>
                        <a:rPr lang="en-US" sz="4000" b="0" i="1" smtClean="0">
                          <a:latin typeface="Cambria Math" panose="02040503050406030204" pitchFamily="18" charset="0"/>
                        </a:rPr>
                        <m:t>𝑁</m:t>
                      </m:r>
                      <m:func>
                        <m:funcPr>
                          <m:ctrlPr>
                            <a:rPr lang="en-US" sz="4000" b="0" i="1" smtClean="0">
                              <a:latin typeface="Cambria Math" panose="02040503050406030204" pitchFamily="18" charset="0"/>
                            </a:rPr>
                          </m:ctrlPr>
                        </m:funcPr>
                        <m:fName>
                          <m:r>
                            <m:rPr>
                              <m:sty m:val="p"/>
                            </m:rPr>
                            <a:rPr lang="en-US" sz="4000" b="0" i="0" smtClean="0">
                              <a:latin typeface="Cambria Math" panose="02040503050406030204" pitchFamily="18" charset="0"/>
                            </a:rPr>
                            <m:t>log</m:t>
                          </m:r>
                        </m:fName>
                        <m:e>
                          <m:r>
                            <a:rPr lang="en-US" sz="4000" b="0" i="1" smtClean="0">
                              <a:latin typeface="Cambria Math" panose="02040503050406030204" pitchFamily="18" charset="0"/>
                            </a:rPr>
                            <m:t>𝑉</m:t>
                          </m:r>
                        </m:e>
                      </m:func>
                    </m:oMath>
                  </m:oMathPara>
                </a14:m>
                <a:endParaRPr lang="en-CN" sz="4000" dirty="0"/>
              </a:p>
            </p:txBody>
          </p:sp>
        </mc:Choice>
        <mc:Fallback xmlns="">
          <p:sp>
            <p:nvSpPr>
              <p:cNvPr id="4" name="TextBox 3">
                <a:extLst>
                  <a:ext uri="{FF2B5EF4-FFF2-40B4-BE49-F238E27FC236}">
                    <a16:creationId xmlns:a16="http://schemas.microsoft.com/office/drawing/2014/main" id="{A2BB4515-FFED-A74C-8B51-5ED60F024D15}"/>
                  </a:ext>
                </a:extLst>
              </p:cNvPr>
              <p:cNvSpPr txBox="1">
                <a:spLocks noRot="1" noChangeAspect="1" noMove="1" noResize="1" noEditPoints="1" noAdjustHandles="1" noChangeArrowheads="1" noChangeShapeType="1" noTextEdit="1"/>
              </p:cNvSpPr>
              <p:nvPr/>
            </p:nvSpPr>
            <p:spPr>
              <a:xfrm>
                <a:off x="3402419" y="2596425"/>
                <a:ext cx="6400800" cy="718851"/>
              </a:xfrm>
              <a:prstGeom prst="rect">
                <a:avLst/>
              </a:prstGeom>
              <a:blipFill>
                <a:blip r:embed="rId3"/>
                <a:stretch>
                  <a:fillRect b="-22414"/>
                </a:stretch>
              </a:blipFill>
            </p:spPr>
            <p:txBody>
              <a:bodyPr/>
              <a:lstStyle/>
              <a:p>
                <a:r>
                  <a:rPr lang="en-CN">
                    <a:noFill/>
                  </a:rPr>
                  <a:t> </a:t>
                </a:r>
              </a:p>
            </p:txBody>
          </p:sp>
        </mc:Fallback>
      </mc:AlternateContent>
      <p:pic>
        <p:nvPicPr>
          <p:cNvPr id="6" name="Picture 5">
            <a:extLst>
              <a:ext uri="{FF2B5EF4-FFF2-40B4-BE49-F238E27FC236}">
                <a16:creationId xmlns:a16="http://schemas.microsoft.com/office/drawing/2014/main" id="{E6946186-1C3C-EC4A-9BEB-4B97B097DB4B}"/>
              </a:ext>
            </a:extLst>
          </p:cNvPr>
          <p:cNvPicPr>
            <a:picLocks noChangeAspect="1"/>
          </p:cNvPicPr>
          <p:nvPr/>
        </p:nvPicPr>
        <p:blipFill>
          <a:blip r:embed="rId4"/>
          <a:stretch>
            <a:fillRect/>
          </a:stretch>
        </p:blipFill>
        <p:spPr>
          <a:xfrm>
            <a:off x="7771219" y="3619564"/>
            <a:ext cx="4064000" cy="2743200"/>
          </a:xfrm>
          <a:prstGeom prst="rect">
            <a:avLst/>
          </a:prstGeom>
        </p:spPr>
      </p:pic>
    </p:spTree>
    <p:extLst>
      <p:ext uri="{BB962C8B-B14F-4D97-AF65-F5344CB8AC3E}">
        <p14:creationId xmlns:p14="http://schemas.microsoft.com/office/powerpoint/2010/main" val="250838129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9BA899-C9A1-844E-B731-6B15A4E5987D}"/>
                  </a:ext>
                </a:extLst>
              </p:cNvPr>
              <p:cNvSpPr txBox="1"/>
              <p:nvPr/>
            </p:nvSpPr>
            <p:spPr>
              <a:xfrm>
                <a:off x="2466753" y="212651"/>
                <a:ext cx="7570382"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rPr>
                        <m:t>1</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𝑁</m:t>
                      </m:r>
                    </m:oMath>
                  </m:oMathPara>
                </a14:m>
                <a:endParaRPr lang="en-CN" sz="4000" dirty="0">
                  <a:solidFill>
                    <a:srgbClr val="FF0000"/>
                  </a:solidFill>
                </a:endParaRPr>
              </a:p>
            </p:txBody>
          </p:sp>
        </mc:Choice>
        <mc:Fallback xmlns="">
          <p:sp>
            <p:nvSpPr>
              <p:cNvPr id="2" name="TextBox 1">
                <a:extLst>
                  <a:ext uri="{FF2B5EF4-FFF2-40B4-BE49-F238E27FC236}">
                    <a16:creationId xmlns:a16="http://schemas.microsoft.com/office/drawing/2014/main" id="{249BA899-C9A1-844E-B731-6B15A4E5987D}"/>
                  </a:ext>
                </a:extLst>
              </p:cNvPr>
              <p:cNvSpPr txBox="1">
                <a:spLocks noRot="1" noChangeAspect="1" noMove="1" noResize="1" noEditPoints="1" noAdjustHandles="1" noChangeArrowheads="1" noChangeShapeType="1" noTextEdit="1"/>
              </p:cNvSpPr>
              <p:nvPr/>
            </p:nvSpPr>
            <p:spPr>
              <a:xfrm>
                <a:off x="2466753" y="212651"/>
                <a:ext cx="7570382" cy="707886"/>
              </a:xfrm>
              <a:prstGeom prst="rect">
                <a:avLst/>
              </a:prstGeom>
              <a:blipFill>
                <a:blip r:embed="rId2"/>
                <a:stretch>
                  <a:fillRect/>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1BB9D0FA-EA43-8A44-A93B-2C665001B398}"/>
              </a:ext>
            </a:extLst>
          </p:cNvPr>
          <p:cNvSpPr txBox="1"/>
          <p:nvPr/>
        </p:nvSpPr>
        <p:spPr>
          <a:xfrm>
            <a:off x="786809" y="1275907"/>
            <a:ext cx="6570921" cy="707886"/>
          </a:xfrm>
          <a:prstGeom prst="rect">
            <a:avLst/>
          </a:prstGeom>
          <a:noFill/>
        </p:spPr>
        <p:txBody>
          <a:bodyPr wrap="square" rtlCol="0">
            <a:spAutoFit/>
          </a:bodyPr>
          <a:lstStyle/>
          <a:p>
            <a:r>
              <a:rPr lang="en-CN" sz="4000" dirty="0">
                <a:latin typeface="FangSong" panose="02010609060101010101" pitchFamily="49" charset="-122"/>
                <a:ea typeface="FangSong" panose="02010609060101010101" pitchFamily="49" charset="-122"/>
              </a:rPr>
              <a:t>不可分辨</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B15474-49B3-FB42-BE15-68829D7D3BC1}"/>
                  </a:ext>
                </a:extLst>
              </p:cNvPr>
              <p:cNvSpPr txBox="1"/>
              <p:nvPr/>
            </p:nvSpPr>
            <p:spPr>
              <a:xfrm>
                <a:off x="3317359" y="2339163"/>
                <a:ext cx="6400800" cy="13238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Sup>
                        <m:sSubSupPr>
                          <m:ctrlPr>
                            <a:rPr lang="en-CN" sz="4000" i="1" smtClean="0">
                              <a:latin typeface="Cambria Math" panose="02040503050406030204" pitchFamily="18" charset="0"/>
                            </a:rPr>
                          </m:ctrlPr>
                        </m:sSubSupPr>
                        <m:e>
                          <m:r>
                            <a:rPr lang="en-CN" sz="4000" i="1" smtClean="0">
                              <a:latin typeface="Cambria Math" panose="02040503050406030204" pitchFamily="18" charset="0"/>
                              <a:ea typeface="Cambria Math" panose="02040503050406030204" pitchFamily="18" charset="0"/>
                            </a:rPr>
                            <m:t>𝜎</m:t>
                          </m:r>
                        </m:e>
                        <m:sub>
                          <m:r>
                            <a:rPr lang="en-US" sz="4000" b="0" i="1" smtClean="0">
                              <a:latin typeface="Cambria Math" panose="02040503050406030204" pitchFamily="18" charset="0"/>
                            </a:rPr>
                            <m:t>𝑚𝑎𝑥</m:t>
                          </m:r>
                        </m:sub>
                        <m:sup>
                          <m:r>
                            <a:rPr lang="en-US" sz="4000" b="0" i="1" smtClean="0">
                              <a:latin typeface="Cambria Math" panose="02040503050406030204" pitchFamily="18" charset="0"/>
                            </a:rPr>
                            <m:t>𝑖𝑑</m:t>
                          </m:r>
                        </m:sup>
                      </m:sSubSup>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𝑅</m:t>
                          </m:r>
                        </m:e>
                        <m:sup>
                          <m:r>
                            <a:rPr lang="en-US" sz="4000" b="0" i="1" smtClean="0">
                              <a:latin typeface="Cambria Math" panose="02040503050406030204" pitchFamily="18" charset="0"/>
                            </a:rPr>
                            <m:t>𝑁</m:t>
                          </m:r>
                        </m:sup>
                      </m:sSup>
                      <m:r>
                        <a:rPr lang="en-US" sz="4000" b="0" i="1" smtClean="0">
                          <a:latin typeface="Cambria Math" panose="02040503050406030204" pitchFamily="18" charset="0"/>
                        </a:rPr>
                        <m:t>)=</m:t>
                      </m:r>
                      <m:func>
                        <m:funcPr>
                          <m:ctrlPr>
                            <a:rPr lang="en-US" sz="4000" b="0" i="1" smtClean="0">
                              <a:latin typeface="Cambria Math" panose="02040503050406030204" pitchFamily="18" charset="0"/>
                            </a:rPr>
                          </m:ctrlPr>
                        </m:funcPr>
                        <m:fName>
                          <m:r>
                            <m:rPr>
                              <m:sty m:val="p"/>
                            </m:rPr>
                            <a:rPr lang="en-US" sz="4000" b="0" i="0" smtClean="0">
                              <a:latin typeface="Cambria Math" panose="02040503050406030204" pitchFamily="18" charset="0"/>
                            </a:rPr>
                            <m:t>log</m:t>
                          </m:r>
                        </m:fName>
                        <m:e>
                          <m:f>
                            <m:fPr>
                              <m:ctrlPr>
                                <a:rPr lang="en-US" sz="4000" b="0" i="1" smtClean="0">
                                  <a:latin typeface="Cambria Math" panose="02040503050406030204" pitchFamily="18" charset="0"/>
                                </a:rPr>
                              </m:ctrlPr>
                            </m:fPr>
                            <m:num>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𝑉</m:t>
                                  </m:r>
                                </m:e>
                                <m:sup>
                                  <m:r>
                                    <a:rPr lang="en-US" sz="4000" b="0" i="1" smtClean="0">
                                      <a:latin typeface="Cambria Math" panose="02040503050406030204" pitchFamily="18" charset="0"/>
                                    </a:rPr>
                                    <m:t>𝑁</m:t>
                                  </m:r>
                                </m:sup>
                              </m:sSup>
                            </m:num>
                            <m:den>
                              <m:r>
                                <a:rPr lang="en-US" sz="4000" b="0" i="1" smtClean="0">
                                  <a:latin typeface="Cambria Math" panose="02040503050406030204" pitchFamily="18" charset="0"/>
                                </a:rPr>
                                <m:t>𝑁</m:t>
                              </m:r>
                              <m:r>
                                <a:rPr lang="en-US" sz="4000" b="0" i="1" smtClean="0">
                                  <a:latin typeface="Cambria Math" panose="02040503050406030204" pitchFamily="18" charset="0"/>
                                </a:rPr>
                                <m:t>!</m:t>
                              </m:r>
                            </m:den>
                          </m:f>
                        </m:e>
                      </m:func>
                    </m:oMath>
                  </m:oMathPara>
                </a14:m>
                <a:endParaRPr lang="en-CN" sz="4000" dirty="0"/>
              </a:p>
            </p:txBody>
          </p:sp>
        </mc:Choice>
        <mc:Fallback xmlns="">
          <p:sp>
            <p:nvSpPr>
              <p:cNvPr id="7" name="TextBox 6">
                <a:extLst>
                  <a:ext uri="{FF2B5EF4-FFF2-40B4-BE49-F238E27FC236}">
                    <a16:creationId xmlns:a16="http://schemas.microsoft.com/office/drawing/2014/main" id="{A4B15474-49B3-FB42-BE15-68829D7D3BC1}"/>
                  </a:ext>
                </a:extLst>
              </p:cNvPr>
              <p:cNvSpPr txBox="1">
                <a:spLocks noRot="1" noChangeAspect="1" noMove="1" noResize="1" noEditPoints="1" noAdjustHandles="1" noChangeArrowheads="1" noChangeShapeType="1" noTextEdit="1"/>
              </p:cNvSpPr>
              <p:nvPr/>
            </p:nvSpPr>
            <p:spPr>
              <a:xfrm>
                <a:off x="3317359" y="2339163"/>
                <a:ext cx="6400800" cy="1323889"/>
              </a:xfrm>
              <a:prstGeom prst="rect">
                <a:avLst/>
              </a:prstGeom>
              <a:blipFill>
                <a:blip r:embed="rId3"/>
                <a:stretch>
                  <a:fillRect b="-7619"/>
                </a:stretch>
              </a:blipFill>
            </p:spPr>
            <p:txBody>
              <a:bodyPr/>
              <a:lstStyle/>
              <a:p>
                <a:r>
                  <a:rPr lang="en-CN">
                    <a:noFill/>
                  </a:rPr>
                  <a:t> </a:t>
                </a:r>
              </a:p>
            </p:txBody>
          </p:sp>
        </mc:Fallback>
      </mc:AlternateContent>
      <p:pic>
        <p:nvPicPr>
          <p:cNvPr id="9" name="Picture 8">
            <a:extLst>
              <a:ext uri="{FF2B5EF4-FFF2-40B4-BE49-F238E27FC236}">
                <a16:creationId xmlns:a16="http://schemas.microsoft.com/office/drawing/2014/main" id="{54F2633F-0C25-924B-B04B-1D5F76C182B9}"/>
              </a:ext>
            </a:extLst>
          </p:cNvPr>
          <p:cNvPicPr>
            <a:picLocks noChangeAspect="1"/>
          </p:cNvPicPr>
          <p:nvPr/>
        </p:nvPicPr>
        <p:blipFill>
          <a:blip r:embed="rId4"/>
          <a:stretch>
            <a:fillRect/>
          </a:stretch>
        </p:blipFill>
        <p:spPr>
          <a:xfrm>
            <a:off x="6251944" y="4018422"/>
            <a:ext cx="5473700" cy="2552700"/>
          </a:xfrm>
          <a:prstGeom prst="rect">
            <a:avLst/>
          </a:prstGeom>
        </p:spPr>
      </p:pic>
    </p:spTree>
    <p:extLst>
      <p:ext uri="{BB962C8B-B14F-4D97-AF65-F5344CB8AC3E}">
        <p14:creationId xmlns:p14="http://schemas.microsoft.com/office/powerpoint/2010/main" val="30266444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F461FA-8D6C-764F-898C-F5258461E0E9}"/>
              </a:ext>
            </a:extLst>
          </p:cNvPr>
          <p:cNvSpPr txBox="1"/>
          <p:nvPr/>
        </p:nvSpPr>
        <p:spPr>
          <a:xfrm>
            <a:off x="512618" y="277091"/>
            <a:ext cx="4599709" cy="369332"/>
          </a:xfrm>
          <a:prstGeom prst="rect">
            <a:avLst/>
          </a:prstGeom>
          <a:noFill/>
        </p:spPr>
        <p:txBody>
          <a:bodyPr wrap="square" rtlCol="0">
            <a:spAutoFit/>
          </a:bodyPr>
          <a:lstStyle/>
          <a:p>
            <a:r>
              <a:rPr lang="en-CN" dirty="0"/>
              <a:t>动量空间(one particle)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383BC82-90C1-724A-8046-AA4DC6E47012}"/>
                  </a:ext>
                </a:extLst>
              </p:cNvPr>
              <p:cNvSpPr txBox="1"/>
              <p:nvPr/>
            </p:nvSpPr>
            <p:spPr>
              <a:xfrm>
                <a:off x="1427018" y="762000"/>
                <a:ext cx="9545782" cy="923330"/>
              </a:xfrm>
              <a:prstGeom prst="rect">
                <a:avLst/>
              </a:prstGeom>
              <a:noFill/>
            </p:spPr>
            <p:txBody>
              <a:bodyPr wrap="square" rtlCol="0">
                <a:spAutoFit/>
              </a:bodyPr>
              <a:lstStyle/>
              <a:p>
                <a:r>
                  <a:rPr lang="en-CN" dirty="0"/>
                  <a:t>We start with particles moving along the 1-D system of length L. We are interested in the probability density(distribution function) of finding a specific particle with velocity between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sSub>
                      <m:sSubPr>
                        <m:ctrlPr>
                          <a:rPr lang="en-CN" i="1" smtClean="0">
                            <a:latin typeface="Cambria Math" panose="02040503050406030204" pitchFamily="18" charset="0"/>
                          </a:rPr>
                        </m:ctrlPr>
                      </m:sSubPr>
                      <m:e>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oMath>
                </a14:m>
                <a:r>
                  <a:rPr lang="en-CN" dirty="0"/>
                  <a:t>. We assume that the particles can have any value of vx from –Infinity to +Infinity.</a:t>
                </a:r>
              </a:p>
            </p:txBody>
          </p:sp>
        </mc:Choice>
        <mc:Fallback xmlns="">
          <p:sp>
            <p:nvSpPr>
              <p:cNvPr id="2" name="TextBox 1">
                <a:extLst>
                  <a:ext uri="{FF2B5EF4-FFF2-40B4-BE49-F238E27FC236}">
                    <a16:creationId xmlns:a16="http://schemas.microsoft.com/office/drawing/2014/main" id="{D383BC82-90C1-724A-8046-AA4DC6E47012}"/>
                  </a:ext>
                </a:extLst>
              </p:cNvPr>
              <p:cNvSpPr txBox="1">
                <a:spLocks noRot="1" noChangeAspect="1" noMove="1" noResize="1" noEditPoints="1" noAdjustHandles="1" noChangeArrowheads="1" noChangeShapeType="1" noTextEdit="1"/>
              </p:cNvSpPr>
              <p:nvPr/>
            </p:nvSpPr>
            <p:spPr>
              <a:xfrm>
                <a:off x="1427018" y="762000"/>
                <a:ext cx="9545782" cy="923330"/>
              </a:xfrm>
              <a:prstGeom prst="rect">
                <a:avLst/>
              </a:prstGeom>
              <a:blipFill>
                <a:blip r:embed="rId2"/>
                <a:stretch>
                  <a:fillRect l="-531" t="-2740" r="-133" b="-958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07EBA2-CFC3-1B4C-BBF1-20396DB14D5F}"/>
                  </a:ext>
                </a:extLst>
              </p:cNvPr>
              <p:cNvSpPr txBox="1"/>
              <p:nvPr/>
            </p:nvSpPr>
            <p:spPr>
              <a:xfrm>
                <a:off x="787775" y="2658724"/>
                <a:ext cx="5754792" cy="1014893"/>
              </a:xfrm>
              <a:prstGeom prst="rect">
                <a:avLst/>
              </a:prstGeom>
              <a:noFill/>
            </p:spPr>
            <p:txBody>
              <a:bodyPr wrap="square" rtlCol="0">
                <a:spAutoFit/>
              </a:bodyPr>
              <a:lstStyle/>
              <a:p>
                <a:r>
                  <a:rPr lang="en-CN" dirty="0"/>
                  <a:t>two constraints</a:t>
                </a:r>
              </a:p>
              <a:p>
                <a:pPr/>
                <a14:m>
                  <m:oMathPara xmlns:m="http://schemas.openxmlformats.org/officeDocument/2006/math">
                    <m:oMathParaPr>
                      <m:jc m:val="centerGroup"/>
                    </m:oMathParaPr>
                    <m:oMath xmlns:m="http://schemas.openxmlformats.org/officeDocument/2006/math">
                      <m:nary>
                        <m:naryPr>
                          <m:ctrlPr>
                            <a:rPr lang="en-CN"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e>
                          </m:d>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=1  </m:t>
                          </m:r>
                          <m:r>
                            <a:rPr lang="en-US" b="0" i="1" smtClean="0">
                              <a:latin typeface="Cambria Math" panose="02040503050406030204" pitchFamily="18" charset="0"/>
                            </a:rPr>
                            <m:t>𝑎𝑛𝑑</m:t>
                          </m:r>
                          <m:r>
                            <a:rPr lang="en-US" b="0" i="1" smtClean="0">
                              <a:latin typeface="Cambria Math" panose="02040503050406030204" pitchFamily="18" charset="0"/>
                            </a:rPr>
                            <m:t> </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p>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𝑚</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𝑥</m:t>
                                      </m:r>
                                    </m:sub>
                                    <m:sup>
                                      <m:r>
                                        <a:rPr lang="en-US" b="0" i="1" smtClean="0">
                                          <a:latin typeface="Cambria Math" panose="02040503050406030204" pitchFamily="18" charset="0"/>
                                        </a:rPr>
                                        <m:t>2</m:t>
                                      </m:r>
                                    </m:sup>
                                  </m:sSubSup>
                                </m:e>
                              </m:d>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e>
                              </m:d>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2</m:t>
                                  </m:r>
                                </m:den>
                              </m:f>
                            </m:e>
                          </m:nary>
                        </m:e>
                      </m:nary>
                    </m:oMath>
                  </m:oMathPara>
                </a14:m>
                <a:endParaRPr lang="en-CN" dirty="0"/>
              </a:p>
            </p:txBody>
          </p:sp>
        </mc:Choice>
        <mc:Fallback xmlns="">
          <p:sp>
            <p:nvSpPr>
              <p:cNvPr id="6" name="TextBox 5">
                <a:extLst>
                  <a:ext uri="{FF2B5EF4-FFF2-40B4-BE49-F238E27FC236}">
                    <a16:creationId xmlns:a16="http://schemas.microsoft.com/office/drawing/2014/main" id="{9007EBA2-CFC3-1B4C-BBF1-20396DB14D5F}"/>
                  </a:ext>
                </a:extLst>
              </p:cNvPr>
              <p:cNvSpPr txBox="1">
                <a:spLocks noRot="1" noChangeAspect="1" noMove="1" noResize="1" noEditPoints="1" noAdjustHandles="1" noChangeArrowheads="1" noChangeShapeType="1" noTextEdit="1"/>
              </p:cNvSpPr>
              <p:nvPr/>
            </p:nvSpPr>
            <p:spPr>
              <a:xfrm>
                <a:off x="787775" y="2658724"/>
                <a:ext cx="5754792" cy="1014893"/>
              </a:xfrm>
              <a:prstGeom prst="rect">
                <a:avLst/>
              </a:prstGeom>
              <a:blipFill>
                <a:blip r:embed="rId3"/>
                <a:stretch>
                  <a:fillRect l="-11429" t="-81481" b="-158025"/>
                </a:stretch>
              </a:blipFill>
            </p:spPr>
            <p:txBody>
              <a:bodyPr/>
              <a:lstStyle/>
              <a:p>
                <a:r>
                  <a:rPr lang="en-CN">
                    <a:noFill/>
                  </a:rPr>
                  <a:t> </a:t>
                </a:r>
              </a:p>
            </p:txBody>
          </p:sp>
        </mc:Fallback>
      </mc:AlternateContent>
      <p:sp>
        <p:nvSpPr>
          <p:cNvPr id="7" name="Right Arrow 6">
            <a:extLst>
              <a:ext uri="{FF2B5EF4-FFF2-40B4-BE49-F238E27FC236}">
                <a16:creationId xmlns:a16="http://schemas.microsoft.com/office/drawing/2014/main" id="{B10B2E21-5DBD-2A4C-A329-30E3B06770D8}"/>
              </a:ext>
            </a:extLst>
          </p:cNvPr>
          <p:cNvSpPr/>
          <p:nvPr/>
        </p:nvSpPr>
        <p:spPr>
          <a:xfrm>
            <a:off x="6542567" y="3138605"/>
            <a:ext cx="216904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74EBCBB-0631-4C46-AB56-BAFCBECCC416}"/>
                  </a:ext>
                </a:extLst>
              </p:cNvPr>
              <p:cNvSpPr txBox="1"/>
              <p:nvPr/>
            </p:nvSpPr>
            <p:spPr>
              <a:xfrm>
                <a:off x="8917488" y="2961127"/>
                <a:ext cx="3011269" cy="6594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r>
                            <a:rPr lang="en-US" b="0" i="1" smtClean="0">
                              <a:latin typeface="Cambria Math" panose="02040503050406030204" pitchFamily="18" charset="0"/>
                            </a:rPr>
                            <m:t>𝑓</m:t>
                          </m:r>
                        </m:e>
                        <m:sup>
                          <m:r>
                            <a:rPr lang="en-CN"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2 </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e>
                      </m:rad>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𝑥</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𝜏</m:t>
                              </m:r>
                            </m:den>
                          </m:f>
                        </m:sup>
                      </m:sSup>
                    </m:oMath>
                  </m:oMathPara>
                </a14:m>
                <a:endParaRPr lang="en-CN" dirty="0"/>
              </a:p>
            </p:txBody>
          </p:sp>
        </mc:Choice>
        <mc:Fallback xmlns="">
          <p:sp>
            <p:nvSpPr>
              <p:cNvPr id="8" name="TextBox 7">
                <a:extLst>
                  <a:ext uri="{FF2B5EF4-FFF2-40B4-BE49-F238E27FC236}">
                    <a16:creationId xmlns:a16="http://schemas.microsoft.com/office/drawing/2014/main" id="{B74EBCBB-0631-4C46-AB56-BAFCBECCC416}"/>
                  </a:ext>
                </a:extLst>
              </p:cNvPr>
              <p:cNvSpPr txBox="1">
                <a:spLocks noRot="1" noChangeAspect="1" noMove="1" noResize="1" noEditPoints="1" noAdjustHandles="1" noChangeArrowheads="1" noChangeShapeType="1" noTextEdit="1"/>
              </p:cNvSpPr>
              <p:nvPr/>
            </p:nvSpPr>
            <p:spPr>
              <a:xfrm>
                <a:off x="8917488" y="2961127"/>
                <a:ext cx="3011269" cy="659476"/>
              </a:xfrm>
              <a:prstGeom prst="rect">
                <a:avLst/>
              </a:prstGeom>
              <a:blipFill>
                <a:blip r:embed="rId4"/>
                <a:stretch>
                  <a:fillRect b="-1320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1F25898-1C08-CB45-98BD-9C0547DC38E4}"/>
                  </a:ext>
                </a:extLst>
              </p:cNvPr>
              <p:cNvSpPr txBox="1"/>
              <p:nvPr/>
            </p:nvSpPr>
            <p:spPr>
              <a:xfrm>
                <a:off x="157878" y="4271417"/>
                <a:ext cx="9271591" cy="12223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𝜎</m:t>
                          </m:r>
                        </m:e>
                        <m:sub>
                          <m:r>
                            <a:rPr lang="en-US" sz="2800" b="0" i="1" smtClean="0">
                              <a:latin typeface="Cambria Math" panose="02040503050406030204" pitchFamily="18" charset="0"/>
                              <a:ea typeface="Cambria Math" panose="02040503050406030204" pitchFamily="18" charset="0"/>
                            </a:rPr>
                            <m:t>𝑚𝑎𝑥</m:t>
                          </m:r>
                        </m:sub>
                      </m:sSub>
                      <m:d>
                        <m:dPr>
                          <m:ctrlPr>
                            <a:rPr lang="en-US" sz="2800" b="0" i="1" smtClean="0">
                              <a:latin typeface="Cambria Math" panose="02040503050406030204" pitchFamily="18" charset="0"/>
                              <a:ea typeface="Cambria Math" panose="02040503050406030204" pitchFamily="18" charset="0"/>
                            </a:rPr>
                          </m:ctrlPr>
                        </m:dPr>
                        <m:e>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𝑣</m:t>
                              </m:r>
                            </m:e>
                            <m:sub>
                              <m:r>
                                <a:rPr lang="en-US" sz="2800" b="0" i="1" smtClean="0">
                                  <a:latin typeface="Cambria Math" panose="02040503050406030204" pitchFamily="18" charset="0"/>
                                  <a:ea typeface="Cambria Math" panose="02040503050406030204" pitchFamily="18" charset="0"/>
                                </a:rPr>
                                <m:t>𝑥</m:t>
                              </m:r>
                            </m:sub>
                          </m:sSub>
                        </m:e>
                      </m:d>
                      <m:r>
                        <a:rPr lang="en-US" sz="2800" b="0" i="1" smtClean="0">
                          <a:latin typeface="Cambria Math" panose="02040503050406030204" pitchFamily="18" charset="0"/>
                          <a:ea typeface="Cambria Math" panose="02040503050406030204" pitchFamily="18" charset="0"/>
                        </a:rPr>
                        <m:t>=−</m:t>
                      </m:r>
                      <m:nary>
                        <m:naryPr>
                          <m:limLoc m:val="undOvr"/>
                          <m:subHide m:val="on"/>
                          <m:supHide m:val="on"/>
                          <m:ctrlPr>
                            <a:rPr lang="en-US" sz="2800" b="0" i="1" smtClean="0">
                              <a:latin typeface="Cambria Math" panose="02040503050406030204" pitchFamily="18" charset="0"/>
                              <a:ea typeface="Cambria Math" panose="02040503050406030204" pitchFamily="18" charset="0"/>
                            </a:rPr>
                          </m:ctrlPr>
                        </m:naryPr>
                        <m:sub/>
                        <m:sup/>
                        <m:e>
                          <m:r>
                            <a:rPr lang="en-US" sz="2800" b="0" i="1" smtClean="0">
                              <a:latin typeface="Cambria Math" panose="02040503050406030204" pitchFamily="18" charset="0"/>
                              <a:ea typeface="Cambria Math" panose="02040503050406030204" pitchFamily="18" charset="0"/>
                            </a:rPr>
                            <m:t>𝑓</m:t>
                          </m:r>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log</m:t>
                              </m:r>
                            </m:fName>
                            <m:e>
                              <m:r>
                                <a:rPr lang="en-US" sz="2800" b="0" i="1" smtClean="0">
                                  <a:latin typeface="Cambria Math" panose="02040503050406030204" pitchFamily="18" charset="0"/>
                                  <a:ea typeface="Cambria Math" panose="02040503050406030204" pitchFamily="18" charset="0"/>
                                </a:rPr>
                                <m:t>𝑓</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𝑑𝑣</m:t>
                              </m:r>
                            </m:e>
                          </m:func>
                        </m:e>
                      </m:nary>
                      <m:r>
                        <a:rPr lang="en-US" sz="2800" b="0" i="1" smtClean="0">
                          <a:latin typeface="Cambria Math" panose="02040503050406030204" pitchFamily="18" charset="0"/>
                          <a:ea typeface="Cambria Math" panose="02040503050406030204" pitchFamily="18" charset="0"/>
                        </a:rPr>
                        <m:t>=</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1</m:t>
                          </m:r>
                        </m:num>
                        <m:den>
                          <m:r>
                            <a:rPr lang="en-US" sz="2800" b="0" i="1" smtClean="0">
                              <a:latin typeface="Cambria Math" panose="02040503050406030204" pitchFamily="18" charset="0"/>
                              <a:ea typeface="Cambria Math" panose="02040503050406030204" pitchFamily="18" charset="0"/>
                            </a:rPr>
                            <m:t>2</m:t>
                          </m:r>
                        </m:den>
                      </m:f>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log</m:t>
                          </m:r>
                        </m:fName>
                        <m:e>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2 </m:t>
                              </m:r>
                              <m:r>
                                <a:rPr lang="en-US" sz="2800" b="0" i="1" smtClean="0">
                                  <a:latin typeface="Cambria Math" panose="02040503050406030204" pitchFamily="18" charset="0"/>
                                  <a:ea typeface="Cambria Math" panose="02040503050406030204" pitchFamily="18" charset="0"/>
                                </a:rPr>
                                <m:t>𝜋</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𝜏</m:t>
                              </m:r>
                            </m:num>
                            <m:den>
                              <m:r>
                                <a:rPr lang="en-US" sz="2800" b="0" i="1" smtClean="0">
                                  <a:latin typeface="Cambria Math" panose="02040503050406030204" pitchFamily="18" charset="0"/>
                                  <a:ea typeface="Cambria Math" panose="02040503050406030204" pitchFamily="18" charset="0"/>
                                </a:rPr>
                                <m:t>𝑚</m:t>
                              </m:r>
                            </m:den>
                          </m:f>
                        </m:e>
                      </m:func>
                    </m:oMath>
                  </m:oMathPara>
                </a14:m>
                <a:endParaRPr lang="en-CN" sz="2800" dirty="0"/>
              </a:p>
            </p:txBody>
          </p:sp>
        </mc:Choice>
        <mc:Fallback xmlns="">
          <p:sp>
            <p:nvSpPr>
              <p:cNvPr id="9" name="TextBox 8">
                <a:extLst>
                  <a:ext uri="{FF2B5EF4-FFF2-40B4-BE49-F238E27FC236}">
                    <a16:creationId xmlns:a16="http://schemas.microsoft.com/office/drawing/2014/main" id="{C1F25898-1C08-CB45-98BD-9C0547DC38E4}"/>
                  </a:ext>
                </a:extLst>
              </p:cNvPr>
              <p:cNvSpPr txBox="1">
                <a:spLocks noRot="1" noChangeAspect="1" noMove="1" noResize="1" noEditPoints="1" noAdjustHandles="1" noChangeArrowheads="1" noChangeShapeType="1" noTextEdit="1"/>
              </p:cNvSpPr>
              <p:nvPr/>
            </p:nvSpPr>
            <p:spPr>
              <a:xfrm>
                <a:off x="157878" y="4271417"/>
                <a:ext cx="9271591" cy="1222386"/>
              </a:xfrm>
              <a:prstGeom prst="rect">
                <a:avLst/>
              </a:prstGeom>
              <a:blipFill>
                <a:blip r:embed="rId5"/>
                <a:stretch>
                  <a:fillRect t="-140206" b="-19484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A73829-521C-D14B-9ECC-6DF3455777E3}"/>
                  </a:ext>
                </a:extLst>
              </p:cNvPr>
              <p:cNvSpPr txBox="1"/>
              <p:nvPr/>
            </p:nvSpPr>
            <p:spPr>
              <a:xfrm>
                <a:off x="157879" y="5560002"/>
                <a:ext cx="5938122" cy="9017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𝜎</m:t>
                          </m:r>
                        </m:e>
                        <m:sub>
                          <m:r>
                            <a:rPr lang="en-US" sz="2800" b="0" i="1" smtClean="0">
                              <a:latin typeface="Cambria Math" panose="02040503050406030204" pitchFamily="18" charset="0"/>
                              <a:ea typeface="Cambria Math" panose="02040503050406030204" pitchFamily="18" charset="0"/>
                            </a:rPr>
                            <m:t>𝑚𝑎𝑥</m:t>
                          </m:r>
                        </m:sub>
                      </m:sSub>
                      <m:d>
                        <m:dPr>
                          <m:ctrlPr>
                            <a:rPr lang="en-US" sz="2800" b="0" i="1" smtClean="0">
                              <a:latin typeface="Cambria Math" panose="02040503050406030204" pitchFamily="18" charset="0"/>
                              <a:ea typeface="Cambria Math" panose="02040503050406030204" pitchFamily="18" charset="0"/>
                            </a:rPr>
                          </m:ctrlPr>
                        </m:dPr>
                        <m:e>
                          <m:acc>
                            <m:accPr>
                              <m:chr m:val="⃗"/>
                              <m:ctrlPr>
                                <a:rPr lang="en-US" sz="2800" b="0" i="1" smtClean="0">
                                  <a:latin typeface="Cambria Math" panose="02040503050406030204" pitchFamily="18" charset="0"/>
                                  <a:ea typeface="Cambria Math" panose="02040503050406030204" pitchFamily="18" charset="0"/>
                                </a:rPr>
                              </m:ctrlPr>
                            </m:accPr>
                            <m:e>
                              <m:r>
                                <a:rPr lang="en-US" sz="2800" b="0" i="1" smtClean="0">
                                  <a:latin typeface="Cambria Math" panose="02040503050406030204" pitchFamily="18" charset="0"/>
                                  <a:ea typeface="Cambria Math" panose="02040503050406030204" pitchFamily="18" charset="0"/>
                                </a:rPr>
                                <m:t>𝑣</m:t>
                              </m:r>
                            </m:e>
                          </m:acc>
                        </m:e>
                      </m:d>
                      <m:r>
                        <a:rPr lang="en-US" sz="2800" b="0" i="1" smtClean="0">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3</m:t>
                      </m:r>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1</m:t>
                          </m:r>
                        </m:num>
                        <m:den>
                          <m:r>
                            <a:rPr lang="en-US" sz="2800" i="1">
                              <a:latin typeface="Cambria Math" panose="02040503050406030204" pitchFamily="18" charset="0"/>
                              <a:ea typeface="Cambria Math" panose="02040503050406030204" pitchFamily="18" charset="0"/>
                            </a:rPr>
                            <m:t>2</m:t>
                          </m:r>
                        </m:den>
                      </m:f>
                      <m:func>
                        <m:funcPr>
                          <m:ctrlPr>
                            <a:rPr lang="en-US" sz="2800" i="1">
                              <a:latin typeface="Cambria Math" panose="02040503050406030204" pitchFamily="18" charset="0"/>
                              <a:ea typeface="Cambria Math" panose="02040503050406030204" pitchFamily="18" charset="0"/>
                            </a:rPr>
                          </m:ctrlPr>
                        </m:funcPr>
                        <m:fName>
                          <m:r>
                            <m:rPr>
                              <m:sty m:val="p"/>
                            </m:rPr>
                            <a:rPr lang="en-US" sz="2800">
                              <a:latin typeface="Cambria Math" panose="02040503050406030204" pitchFamily="18" charset="0"/>
                              <a:ea typeface="Cambria Math" panose="02040503050406030204" pitchFamily="18" charset="0"/>
                            </a:rPr>
                            <m:t>log</m:t>
                          </m:r>
                        </m:fName>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2 </m:t>
                              </m:r>
                              <m:r>
                                <a:rPr lang="en-US" sz="2800" i="1">
                                  <a:latin typeface="Cambria Math" panose="02040503050406030204" pitchFamily="18" charset="0"/>
                                  <a:ea typeface="Cambria Math" panose="02040503050406030204" pitchFamily="18" charset="0"/>
                                </a:rPr>
                                <m:t>𝜋</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𝑒</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𝜏</m:t>
                              </m:r>
                            </m:num>
                            <m:den>
                              <m:r>
                                <a:rPr lang="en-US" sz="2800" i="1">
                                  <a:latin typeface="Cambria Math" panose="02040503050406030204" pitchFamily="18" charset="0"/>
                                  <a:ea typeface="Cambria Math" panose="02040503050406030204" pitchFamily="18" charset="0"/>
                                </a:rPr>
                                <m:t>𝑚</m:t>
                              </m:r>
                            </m:den>
                          </m:f>
                        </m:e>
                      </m:func>
                    </m:oMath>
                  </m:oMathPara>
                </a14:m>
                <a:endParaRPr lang="en-CN" sz="2800" dirty="0"/>
              </a:p>
            </p:txBody>
          </p:sp>
        </mc:Choice>
        <mc:Fallback xmlns="">
          <p:sp>
            <p:nvSpPr>
              <p:cNvPr id="10" name="TextBox 9">
                <a:extLst>
                  <a:ext uri="{FF2B5EF4-FFF2-40B4-BE49-F238E27FC236}">
                    <a16:creationId xmlns:a16="http://schemas.microsoft.com/office/drawing/2014/main" id="{ADA73829-521C-D14B-9ECC-6DF3455777E3}"/>
                  </a:ext>
                </a:extLst>
              </p:cNvPr>
              <p:cNvSpPr txBox="1">
                <a:spLocks noRot="1" noChangeAspect="1" noMove="1" noResize="1" noEditPoints="1" noAdjustHandles="1" noChangeArrowheads="1" noChangeShapeType="1" noTextEdit="1"/>
              </p:cNvSpPr>
              <p:nvPr/>
            </p:nvSpPr>
            <p:spPr>
              <a:xfrm>
                <a:off x="157879" y="5560002"/>
                <a:ext cx="5938122" cy="901722"/>
              </a:xfrm>
              <a:prstGeom prst="rect">
                <a:avLst/>
              </a:prstGeom>
              <a:blipFill>
                <a:blip r:embed="rId6"/>
                <a:stretch>
                  <a:fillRect t="-2778" b="-8333"/>
                </a:stretch>
              </a:blipFill>
            </p:spPr>
            <p:txBody>
              <a:bodyPr/>
              <a:lstStyle/>
              <a:p>
                <a:r>
                  <a:rPr lang="en-CN">
                    <a:noFill/>
                  </a:rPr>
                  <a:t> </a:t>
                </a:r>
              </a:p>
            </p:txBody>
          </p:sp>
        </mc:Fallback>
      </mc:AlternateContent>
      <p:sp>
        <p:nvSpPr>
          <p:cNvPr id="11" name="Right Arrow 10">
            <a:extLst>
              <a:ext uri="{FF2B5EF4-FFF2-40B4-BE49-F238E27FC236}">
                <a16:creationId xmlns:a16="http://schemas.microsoft.com/office/drawing/2014/main" id="{8CF15E12-F238-144C-9528-ECD445EFC5B6}"/>
              </a:ext>
            </a:extLst>
          </p:cNvPr>
          <p:cNvSpPr/>
          <p:nvPr/>
        </p:nvSpPr>
        <p:spPr>
          <a:xfrm>
            <a:off x="6199909" y="584928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BB0C9D-9952-C844-A841-215DE4E1AFA3}"/>
                  </a:ext>
                </a:extLst>
              </p:cNvPr>
              <p:cNvSpPr txBox="1"/>
              <p:nvPr/>
            </p:nvSpPr>
            <p:spPr>
              <a:xfrm>
                <a:off x="6783462" y="5560002"/>
                <a:ext cx="5938122" cy="9017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𝜎</m:t>
                          </m:r>
                        </m:e>
                        <m:sub>
                          <m:r>
                            <a:rPr lang="en-US" sz="2800" b="0" i="1" smtClean="0">
                              <a:latin typeface="Cambria Math" panose="02040503050406030204" pitchFamily="18" charset="0"/>
                              <a:ea typeface="Cambria Math" panose="02040503050406030204" pitchFamily="18" charset="0"/>
                            </a:rPr>
                            <m:t>𝑚𝑎𝑥</m:t>
                          </m:r>
                        </m:sub>
                      </m:sSub>
                      <m:d>
                        <m:dPr>
                          <m:ctrlPr>
                            <a:rPr lang="en-US" sz="2800" b="0" i="1" smtClean="0">
                              <a:latin typeface="Cambria Math" panose="02040503050406030204" pitchFamily="18" charset="0"/>
                              <a:ea typeface="Cambria Math" panose="02040503050406030204" pitchFamily="18" charset="0"/>
                            </a:rPr>
                          </m:ctrlPr>
                        </m:dPr>
                        <m:e>
                          <m:acc>
                            <m:accPr>
                              <m:chr m:val="⃗"/>
                              <m:ctrlPr>
                                <a:rPr lang="en-US" sz="2800" b="0" i="1" smtClean="0">
                                  <a:latin typeface="Cambria Math" panose="02040503050406030204" pitchFamily="18" charset="0"/>
                                  <a:ea typeface="Cambria Math" panose="02040503050406030204" pitchFamily="18" charset="0"/>
                                </a:rPr>
                              </m:ctrlPr>
                            </m:accPr>
                            <m:e>
                              <m:r>
                                <a:rPr lang="en-US" sz="2800" b="0" i="1" smtClean="0">
                                  <a:latin typeface="Cambria Math" panose="02040503050406030204" pitchFamily="18" charset="0"/>
                                  <a:ea typeface="Cambria Math" panose="02040503050406030204" pitchFamily="18" charset="0"/>
                                </a:rPr>
                                <m:t>𝑝</m:t>
                              </m:r>
                            </m:e>
                          </m:acc>
                        </m:e>
                      </m:d>
                      <m:r>
                        <a:rPr lang="en-US" sz="2800" b="0" i="1" smtClean="0">
                          <a:latin typeface="Cambria Math" panose="02040503050406030204" pitchFamily="18" charset="0"/>
                          <a:ea typeface="Cambria Math" panose="02040503050406030204" pitchFamily="18" charset="0"/>
                        </a:rPr>
                        <m:t>=3</m:t>
                      </m:r>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1</m:t>
                          </m:r>
                        </m:num>
                        <m:den>
                          <m:r>
                            <a:rPr lang="en-US" sz="2800" i="1">
                              <a:latin typeface="Cambria Math" panose="02040503050406030204" pitchFamily="18" charset="0"/>
                              <a:ea typeface="Cambria Math" panose="02040503050406030204" pitchFamily="18" charset="0"/>
                            </a:rPr>
                            <m:t>2</m:t>
                          </m:r>
                        </m:den>
                      </m:f>
                      <m:func>
                        <m:funcPr>
                          <m:ctrlPr>
                            <a:rPr lang="en-US" sz="2800" i="1">
                              <a:latin typeface="Cambria Math" panose="02040503050406030204" pitchFamily="18" charset="0"/>
                              <a:ea typeface="Cambria Math" panose="02040503050406030204" pitchFamily="18" charset="0"/>
                            </a:rPr>
                          </m:ctrlPr>
                        </m:funcPr>
                        <m:fName>
                          <m:r>
                            <m:rPr>
                              <m:sty m:val="p"/>
                            </m:rPr>
                            <a:rPr lang="en-US" sz="2800">
                              <a:latin typeface="Cambria Math" panose="02040503050406030204" pitchFamily="18" charset="0"/>
                              <a:ea typeface="Cambria Math" panose="02040503050406030204" pitchFamily="18" charset="0"/>
                            </a:rPr>
                            <m:t>log</m:t>
                          </m:r>
                        </m:fName>
                        <m:e>
                          <m:r>
                            <a:rPr lang="en-US" sz="2800" b="0" i="1" smtClean="0">
                              <a:latin typeface="Cambria Math" panose="02040503050406030204" pitchFamily="18" charset="0"/>
                              <a:ea typeface="Cambria Math" panose="02040503050406030204" pitchFamily="18" charset="0"/>
                            </a:rPr>
                            <m:t>2 </m:t>
                          </m:r>
                          <m:r>
                            <a:rPr lang="en-US" sz="2800" b="0" i="1" smtClean="0">
                              <a:latin typeface="Cambria Math" panose="02040503050406030204" pitchFamily="18" charset="0"/>
                              <a:ea typeface="Cambria Math" panose="02040503050406030204" pitchFamily="18" charset="0"/>
                            </a:rPr>
                            <m:t>𝜋</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𝑚</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𝜏</m:t>
                          </m:r>
                        </m:e>
                      </m:func>
                    </m:oMath>
                  </m:oMathPara>
                </a14:m>
                <a:endParaRPr lang="en-CN" sz="2800" dirty="0"/>
              </a:p>
            </p:txBody>
          </p:sp>
        </mc:Choice>
        <mc:Fallback xmlns="">
          <p:sp>
            <p:nvSpPr>
              <p:cNvPr id="12" name="TextBox 11">
                <a:extLst>
                  <a:ext uri="{FF2B5EF4-FFF2-40B4-BE49-F238E27FC236}">
                    <a16:creationId xmlns:a16="http://schemas.microsoft.com/office/drawing/2014/main" id="{34BB0C9D-9952-C844-A841-215DE4E1AFA3}"/>
                  </a:ext>
                </a:extLst>
              </p:cNvPr>
              <p:cNvSpPr txBox="1">
                <a:spLocks noRot="1" noChangeAspect="1" noMove="1" noResize="1" noEditPoints="1" noAdjustHandles="1" noChangeArrowheads="1" noChangeShapeType="1" noTextEdit="1"/>
              </p:cNvSpPr>
              <p:nvPr/>
            </p:nvSpPr>
            <p:spPr>
              <a:xfrm>
                <a:off x="6783462" y="5560002"/>
                <a:ext cx="5938122" cy="901722"/>
              </a:xfrm>
              <a:prstGeom prst="rect">
                <a:avLst/>
              </a:prstGeom>
              <a:blipFill>
                <a:blip r:embed="rId7"/>
                <a:stretch>
                  <a:fillRect b="-8333"/>
                </a:stretch>
              </a:blipFill>
            </p:spPr>
            <p:txBody>
              <a:bodyPr/>
              <a:lstStyle/>
              <a:p>
                <a:r>
                  <a:rPr lang="en-CN">
                    <a:noFill/>
                  </a:rPr>
                  <a:t> </a:t>
                </a:r>
              </a:p>
            </p:txBody>
          </p:sp>
        </mc:Fallback>
      </mc:AlternateContent>
      <p:sp>
        <p:nvSpPr>
          <p:cNvPr id="13" name="Down Arrow 12">
            <a:extLst>
              <a:ext uri="{FF2B5EF4-FFF2-40B4-BE49-F238E27FC236}">
                <a16:creationId xmlns:a16="http://schemas.microsoft.com/office/drawing/2014/main" id="{41D81D99-9D63-5441-89B3-834B74EEC4CB}"/>
              </a:ext>
            </a:extLst>
          </p:cNvPr>
          <p:cNvSpPr/>
          <p:nvPr/>
        </p:nvSpPr>
        <p:spPr>
          <a:xfrm>
            <a:off x="9698182" y="3879273"/>
            <a:ext cx="360218" cy="16145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A0629E4-6237-7445-897E-E52C964C204D}"/>
                  </a:ext>
                </a:extLst>
              </p:cNvPr>
              <p:cNvSpPr txBox="1"/>
              <p:nvPr/>
            </p:nvSpPr>
            <p:spPr>
              <a:xfrm>
                <a:off x="10155382" y="4405745"/>
                <a:ext cx="155170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𝑚𝑣</m:t>
                      </m:r>
                    </m:oMath>
                  </m:oMathPara>
                </a14:m>
                <a:endParaRPr lang="en-CN" dirty="0"/>
              </a:p>
            </p:txBody>
          </p:sp>
        </mc:Choice>
        <mc:Fallback xmlns="">
          <p:sp>
            <p:nvSpPr>
              <p:cNvPr id="14" name="TextBox 13">
                <a:extLst>
                  <a:ext uri="{FF2B5EF4-FFF2-40B4-BE49-F238E27FC236}">
                    <a16:creationId xmlns:a16="http://schemas.microsoft.com/office/drawing/2014/main" id="{2A0629E4-6237-7445-897E-E52C964C204D}"/>
                  </a:ext>
                </a:extLst>
              </p:cNvPr>
              <p:cNvSpPr txBox="1">
                <a:spLocks noRot="1" noChangeAspect="1" noMove="1" noResize="1" noEditPoints="1" noAdjustHandles="1" noChangeArrowheads="1" noChangeShapeType="1" noTextEdit="1"/>
              </p:cNvSpPr>
              <p:nvPr/>
            </p:nvSpPr>
            <p:spPr>
              <a:xfrm>
                <a:off x="10155382" y="4405745"/>
                <a:ext cx="1551709" cy="369332"/>
              </a:xfrm>
              <a:prstGeom prst="rect">
                <a:avLst/>
              </a:prstGeom>
              <a:blipFill>
                <a:blip r:embed="rId8"/>
                <a:stretch>
                  <a:fillRect b="-10345"/>
                </a:stretch>
              </a:blipFill>
            </p:spPr>
            <p:txBody>
              <a:bodyPr/>
              <a:lstStyle/>
              <a:p>
                <a:r>
                  <a:rPr lang="en-CN">
                    <a:noFill/>
                  </a:rPr>
                  <a:t> </a:t>
                </a:r>
              </a:p>
            </p:txBody>
          </p:sp>
        </mc:Fallback>
      </mc:AlternateContent>
    </p:spTree>
    <p:extLst>
      <p:ext uri="{BB962C8B-B14F-4D97-AF65-F5344CB8AC3E}">
        <p14:creationId xmlns:p14="http://schemas.microsoft.com/office/powerpoint/2010/main" val="4880650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F291494-A88D-9F48-A53A-2DBD05357CB1}"/>
                  </a:ext>
                </a:extLst>
              </p:cNvPr>
              <p:cNvSpPr txBox="1"/>
              <p:nvPr/>
            </p:nvSpPr>
            <p:spPr>
              <a:xfrm>
                <a:off x="2466753" y="212651"/>
                <a:ext cx="7570382"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rPr>
                        <m:t>1</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𝑁</m:t>
                      </m:r>
                    </m:oMath>
                  </m:oMathPara>
                </a14:m>
                <a:endParaRPr lang="en-CN" sz="4000" dirty="0">
                  <a:solidFill>
                    <a:srgbClr val="FF0000"/>
                  </a:solidFill>
                </a:endParaRPr>
              </a:p>
            </p:txBody>
          </p:sp>
        </mc:Choice>
        <mc:Fallback xmlns="">
          <p:sp>
            <p:nvSpPr>
              <p:cNvPr id="3" name="TextBox 2">
                <a:extLst>
                  <a:ext uri="{FF2B5EF4-FFF2-40B4-BE49-F238E27FC236}">
                    <a16:creationId xmlns:a16="http://schemas.microsoft.com/office/drawing/2014/main" id="{AF291494-A88D-9F48-A53A-2DBD05357CB1}"/>
                  </a:ext>
                </a:extLst>
              </p:cNvPr>
              <p:cNvSpPr txBox="1">
                <a:spLocks noRot="1" noChangeAspect="1" noMove="1" noResize="1" noEditPoints="1" noAdjustHandles="1" noChangeArrowheads="1" noChangeShapeType="1" noTextEdit="1"/>
              </p:cNvSpPr>
              <p:nvPr/>
            </p:nvSpPr>
            <p:spPr>
              <a:xfrm>
                <a:off x="2466753" y="212651"/>
                <a:ext cx="7570382" cy="707886"/>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16DA26F-752B-7C4F-8B12-BD9E869CE892}"/>
                  </a:ext>
                </a:extLst>
              </p:cNvPr>
              <p:cNvSpPr txBox="1"/>
              <p:nvPr/>
            </p:nvSpPr>
            <p:spPr>
              <a:xfrm>
                <a:off x="1460204" y="2387311"/>
                <a:ext cx="9271591" cy="9017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𝜎</m:t>
                          </m:r>
                        </m:e>
                        <m:sub>
                          <m:r>
                            <a:rPr lang="en-US" sz="2800" b="0" i="1" smtClean="0">
                              <a:latin typeface="Cambria Math" panose="02040503050406030204" pitchFamily="18" charset="0"/>
                              <a:ea typeface="Cambria Math" panose="02040503050406030204" pitchFamily="18" charset="0"/>
                            </a:rPr>
                            <m:t>𝑚𝑎𝑥</m:t>
                          </m:r>
                        </m:sub>
                      </m:sSub>
                      <m:d>
                        <m:dPr>
                          <m:ctrlPr>
                            <a:rPr lang="en-US" sz="2800" b="0" i="1" smtClean="0">
                              <a:latin typeface="Cambria Math" panose="02040503050406030204" pitchFamily="18" charset="0"/>
                              <a:ea typeface="Cambria Math" panose="02040503050406030204" pitchFamily="18" charset="0"/>
                            </a:rPr>
                          </m:ctrlPr>
                        </m:dPr>
                        <m:e>
                          <m:acc>
                            <m:accPr>
                              <m:chr m:val="⃗"/>
                              <m:ctrlPr>
                                <a:rPr lang="en-US" sz="2800" b="0" i="1" smtClean="0">
                                  <a:latin typeface="Cambria Math" panose="02040503050406030204" pitchFamily="18" charset="0"/>
                                  <a:ea typeface="Cambria Math" panose="02040503050406030204" pitchFamily="18" charset="0"/>
                                </a:rPr>
                              </m:ctrlPr>
                            </m:accPr>
                            <m:e>
                              <m:r>
                                <a:rPr lang="en-US" sz="2800" b="0" i="1" smtClean="0">
                                  <a:latin typeface="Cambria Math" panose="02040503050406030204" pitchFamily="18" charset="0"/>
                                  <a:ea typeface="Cambria Math" panose="02040503050406030204" pitchFamily="18" charset="0"/>
                                </a:rPr>
                                <m:t>𝑝</m:t>
                              </m:r>
                            </m:e>
                          </m:acc>
                        </m:e>
                      </m:d>
                      <m:r>
                        <a:rPr lang="en-US" sz="2800" b="0" i="1" smtClean="0">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3 </m:t>
                          </m:r>
                          <m:r>
                            <a:rPr lang="en-US" sz="2800" b="0" i="1" smtClean="0">
                              <a:latin typeface="Cambria Math" panose="02040503050406030204" pitchFamily="18" charset="0"/>
                              <a:ea typeface="Cambria Math" panose="02040503050406030204" pitchFamily="18" charset="0"/>
                            </a:rPr>
                            <m:t>𝑁</m:t>
                          </m:r>
                        </m:num>
                        <m:den>
                          <m:r>
                            <a:rPr lang="en-US" sz="2800" i="1">
                              <a:latin typeface="Cambria Math" panose="02040503050406030204" pitchFamily="18" charset="0"/>
                              <a:ea typeface="Cambria Math" panose="02040503050406030204" pitchFamily="18" charset="0"/>
                            </a:rPr>
                            <m:t>2</m:t>
                          </m:r>
                        </m:den>
                      </m:f>
                      <m:func>
                        <m:funcPr>
                          <m:ctrlPr>
                            <a:rPr lang="en-US" sz="2800" i="1">
                              <a:latin typeface="Cambria Math" panose="02040503050406030204" pitchFamily="18" charset="0"/>
                              <a:ea typeface="Cambria Math" panose="02040503050406030204" pitchFamily="18" charset="0"/>
                            </a:rPr>
                          </m:ctrlPr>
                        </m:funcPr>
                        <m:fName>
                          <m:r>
                            <m:rPr>
                              <m:sty m:val="p"/>
                            </m:rPr>
                            <a:rPr lang="en-US" sz="2800">
                              <a:latin typeface="Cambria Math" panose="02040503050406030204" pitchFamily="18" charset="0"/>
                              <a:ea typeface="Cambria Math" panose="02040503050406030204" pitchFamily="18" charset="0"/>
                            </a:rPr>
                            <m:t>log</m:t>
                          </m:r>
                        </m:fName>
                        <m:e>
                          <m:r>
                            <a:rPr lang="en-US" sz="2800" b="0" i="1" smtClean="0">
                              <a:latin typeface="Cambria Math" panose="02040503050406030204" pitchFamily="18" charset="0"/>
                              <a:ea typeface="Cambria Math" panose="02040503050406030204" pitchFamily="18" charset="0"/>
                            </a:rPr>
                            <m:t>2 </m:t>
                          </m:r>
                          <m:r>
                            <a:rPr lang="en-US" sz="2800" b="0" i="1" smtClean="0">
                              <a:latin typeface="Cambria Math" panose="02040503050406030204" pitchFamily="18" charset="0"/>
                              <a:ea typeface="Cambria Math" panose="02040503050406030204" pitchFamily="18" charset="0"/>
                            </a:rPr>
                            <m:t>𝜋</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𝑚</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𝜏</m:t>
                          </m:r>
                        </m:e>
                      </m:func>
                    </m:oMath>
                  </m:oMathPara>
                </a14:m>
                <a:endParaRPr lang="en-CN" sz="2800" dirty="0"/>
              </a:p>
            </p:txBody>
          </p:sp>
        </mc:Choice>
        <mc:Fallback xmlns="">
          <p:sp>
            <p:nvSpPr>
              <p:cNvPr id="4" name="TextBox 3">
                <a:extLst>
                  <a:ext uri="{FF2B5EF4-FFF2-40B4-BE49-F238E27FC236}">
                    <a16:creationId xmlns:a16="http://schemas.microsoft.com/office/drawing/2014/main" id="{A16DA26F-752B-7C4F-8B12-BD9E869CE892}"/>
                  </a:ext>
                </a:extLst>
              </p:cNvPr>
              <p:cNvSpPr txBox="1">
                <a:spLocks noRot="1" noChangeAspect="1" noMove="1" noResize="1" noEditPoints="1" noAdjustHandles="1" noChangeArrowheads="1" noChangeShapeType="1" noTextEdit="1"/>
              </p:cNvSpPr>
              <p:nvPr/>
            </p:nvSpPr>
            <p:spPr>
              <a:xfrm>
                <a:off x="1460204" y="2387311"/>
                <a:ext cx="9271591" cy="901722"/>
              </a:xfrm>
              <a:prstGeom prst="rect">
                <a:avLst/>
              </a:prstGeom>
              <a:blipFill>
                <a:blip r:embed="rId3"/>
                <a:stretch>
                  <a:fillRect t="-4167" b="-5556"/>
                </a:stretch>
              </a:blipFill>
            </p:spPr>
            <p:txBody>
              <a:bodyPr/>
              <a:lstStyle/>
              <a:p>
                <a:r>
                  <a:rPr lang="en-CN">
                    <a:noFill/>
                  </a:rPr>
                  <a:t> </a:t>
                </a:r>
              </a:p>
            </p:txBody>
          </p:sp>
        </mc:Fallback>
      </mc:AlternateContent>
    </p:spTree>
    <p:extLst>
      <p:ext uri="{BB962C8B-B14F-4D97-AF65-F5344CB8AC3E}">
        <p14:creationId xmlns:p14="http://schemas.microsoft.com/office/powerpoint/2010/main" val="220869507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964120-D996-EC4D-8176-10B671B01F57}"/>
                  </a:ext>
                </a:extLst>
              </p:cNvPr>
              <p:cNvSpPr txBox="1"/>
              <p:nvPr/>
            </p:nvSpPr>
            <p:spPr>
              <a:xfrm>
                <a:off x="1149927" y="2140527"/>
                <a:ext cx="9377888" cy="615553"/>
              </a:xfrm>
              <a:prstGeom prst="rect">
                <a:avLst/>
              </a:prstGeom>
              <a:noFill/>
            </p:spPr>
            <p:txBody>
              <a:bodyPr wrap="none" lIns="0" tIns="0" rIns="0" bIns="0" rtlCol="0">
                <a:spAutoFit/>
              </a:bodyPr>
              <a:lstStyle/>
              <a:p>
                <a14:m>
                  <m:oMath xmlns:m="http://schemas.openxmlformats.org/officeDocument/2006/math">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𝜎</m:t>
                        </m:r>
                      </m:e>
                      <m:sub>
                        <m:r>
                          <a:rPr lang="en-US" sz="4000" b="0" i="1" smtClean="0">
                            <a:latin typeface="Cambria Math" panose="02040503050406030204" pitchFamily="18" charset="0"/>
                            <a:ea typeface="Cambria Math" panose="02040503050406030204" pitchFamily="18" charset="0"/>
                          </a:rPr>
                          <m:t>𝑚𝑎𝑥</m:t>
                        </m:r>
                      </m:sub>
                    </m:sSub>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𝑝</m:t>
                        </m:r>
                      </m:e>
                      <m:sub>
                        <m:r>
                          <a:rPr lang="en-US" sz="4000" b="0" i="1" smtClean="0">
                            <a:latin typeface="Cambria Math" panose="02040503050406030204" pitchFamily="18" charset="0"/>
                            <a:ea typeface="Cambria Math" panose="02040503050406030204" pitchFamily="18" charset="0"/>
                          </a:rPr>
                          <m:t>𝑥</m:t>
                        </m:r>
                      </m:sub>
                    </m:sSub>
                    <m:r>
                      <a:rPr lang="en-US" sz="4000" b="0" i="1" smtClean="0">
                        <a:latin typeface="Cambria Math" panose="02040503050406030204" pitchFamily="18" charset="0"/>
                        <a:ea typeface="Cambria Math" panose="02040503050406030204" pitchFamily="18" charset="0"/>
                      </a:rPr>
                      <m:t>)=</m:t>
                    </m:r>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𝜎</m:t>
                        </m:r>
                      </m:e>
                      <m:sub>
                        <m:r>
                          <a:rPr lang="en-US" sz="4000" i="1">
                            <a:latin typeface="Cambria Math" panose="02040503050406030204" pitchFamily="18" charset="0"/>
                            <a:ea typeface="Cambria Math" panose="02040503050406030204" pitchFamily="18" charset="0"/>
                          </a:rPr>
                          <m:t>𝑚𝑎𝑥</m:t>
                        </m:r>
                      </m:sub>
                    </m:sSub>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𝑥</m:t>
                    </m:r>
                    <m:r>
                      <a:rPr lang="en-US" sz="4000" i="1">
                        <a:latin typeface="Cambria Math" panose="02040503050406030204" pitchFamily="18" charset="0"/>
                        <a:ea typeface="Cambria Math" panose="02040503050406030204" pitchFamily="18" charset="0"/>
                      </a:rPr>
                      <m:t>)</m:t>
                    </m:r>
                  </m:oMath>
                </a14:m>
                <a:r>
                  <a:rPr lang="en-CN" sz="4000" dirty="0"/>
                  <a:t>+</a:t>
                </a:r>
                <a14:m>
                  <m:oMath xmlns:m="http://schemas.openxmlformats.org/officeDocument/2006/math">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𝜎</m:t>
                        </m:r>
                      </m:e>
                      <m:sub>
                        <m:r>
                          <a:rPr lang="en-US" sz="4000" i="1">
                            <a:latin typeface="Cambria Math" panose="02040503050406030204" pitchFamily="18" charset="0"/>
                            <a:ea typeface="Cambria Math" panose="02040503050406030204" pitchFamily="18" charset="0"/>
                          </a:rPr>
                          <m:t>𝑚𝑎𝑥</m:t>
                        </m:r>
                      </m:sub>
                    </m:sSub>
                    <m:d>
                      <m:dPr>
                        <m:ctrlPr>
                          <a:rPr lang="en-US" sz="4000" i="1">
                            <a:latin typeface="Cambria Math" panose="02040503050406030204" pitchFamily="18" charset="0"/>
                            <a:ea typeface="Cambria Math" panose="02040503050406030204" pitchFamily="18" charset="0"/>
                          </a:rPr>
                        </m:ctrlPr>
                      </m:dPr>
                      <m:e>
                        <m:r>
                          <a:rPr lang="en-US" sz="400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𝑝</m:t>
                            </m:r>
                          </m:e>
                          <m:sub>
                            <m:r>
                              <a:rPr lang="en-US" sz="4000" b="0" i="1" smtClean="0">
                                <a:latin typeface="Cambria Math" panose="02040503050406030204" pitchFamily="18" charset="0"/>
                                <a:ea typeface="Cambria Math" panose="02040503050406030204" pitchFamily="18" charset="0"/>
                              </a:rPr>
                              <m:t>𝑥</m:t>
                            </m:r>
                          </m:sub>
                        </m:sSub>
                      </m:e>
                    </m:d>
                    <m:r>
                      <a:rPr lang="en-US" sz="4000" b="0" i="1" smtClean="0">
                        <a:latin typeface="Cambria Math" panose="02040503050406030204" pitchFamily="18" charset="0"/>
                        <a:ea typeface="Cambria Math" panose="02040503050406030204" pitchFamily="18" charset="0"/>
                      </a:rPr>
                      <m:t>−</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r>
                          <a:rPr lang="en-US" sz="4000" b="0" i="1" smtClean="0">
                            <a:latin typeface="Cambria Math" panose="02040503050406030204" pitchFamily="18" charset="0"/>
                            <a:ea typeface="Cambria Math" panose="02040503050406030204" pitchFamily="18" charset="0"/>
                          </a:rPr>
                          <m:t>h</m:t>
                        </m:r>
                      </m:e>
                    </m:func>
                  </m:oMath>
                </a14:m>
                <a:endParaRPr lang="en-CN" sz="4000" dirty="0"/>
              </a:p>
            </p:txBody>
          </p:sp>
        </mc:Choice>
        <mc:Fallback xmlns="">
          <p:sp>
            <p:nvSpPr>
              <p:cNvPr id="5" name="TextBox 4">
                <a:extLst>
                  <a:ext uri="{FF2B5EF4-FFF2-40B4-BE49-F238E27FC236}">
                    <a16:creationId xmlns:a16="http://schemas.microsoft.com/office/drawing/2014/main" id="{67964120-D996-EC4D-8176-10B671B01F57}"/>
                  </a:ext>
                </a:extLst>
              </p:cNvPr>
              <p:cNvSpPr txBox="1">
                <a:spLocks noRot="1" noChangeAspect="1" noMove="1" noResize="1" noEditPoints="1" noAdjustHandles="1" noChangeArrowheads="1" noChangeShapeType="1" noTextEdit="1"/>
              </p:cNvSpPr>
              <p:nvPr/>
            </p:nvSpPr>
            <p:spPr>
              <a:xfrm>
                <a:off x="1149927" y="2140527"/>
                <a:ext cx="9377888" cy="615553"/>
              </a:xfrm>
              <a:prstGeom prst="rect">
                <a:avLst/>
              </a:prstGeom>
              <a:blipFill>
                <a:blip r:embed="rId2"/>
                <a:stretch>
                  <a:fillRect l="-1353" t="-22449" b="-51020"/>
                </a:stretch>
              </a:blipFill>
            </p:spPr>
            <p:txBody>
              <a:bodyPr/>
              <a:lstStyle/>
              <a:p>
                <a:r>
                  <a:rPr lang="en-CN">
                    <a:noFill/>
                  </a:rPr>
                  <a:t> </a:t>
                </a:r>
              </a:p>
            </p:txBody>
          </p:sp>
        </mc:Fallback>
      </mc:AlternateContent>
      <p:sp>
        <p:nvSpPr>
          <p:cNvPr id="3" name="Down Arrow 2">
            <a:extLst>
              <a:ext uri="{FF2B5EF4-FFF2-40B4-BE49-F238E27FC236}">
                <a16:creationId xmlns:a16="http://schemas.microsoft.com/office/drawing/2014/main" id="{DA0FFB99-8221-9547-BA22-562AF7840DED}"/>
              </a:ext>
            </a:extLst>
          </p:cNvPr>
          <p:cNvSpPr/>
          <p:nvPr/>
        </p:nvSpPr>
        <p:spPr>
          <a:xfrm>
            <a:off x="9504218" y="2756080"/>
            <a:ext cx="374073" cy="13171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B8EAD8-9C1C-5240-BAE3-A4D5D0E41051}"/>
                  </a:ext>
                </a:extLst>
              </p:cNvPr>
              <p:cNvSpPr txBox="1"/>
              <p:nvPr/>
            </p:nvSpPr>
            <p:spPr>
              <a:xfrm>
                <a:off x="8922327" y="4239491"/>
                <a:ext cx="160548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r>
                        <a:rPr lang="en-US" b="0" i="1" smtClean="0">
                          <a:latin typeface="Cambria Math" panose="02040503050406030204" pitchFamily="18" charset="0"/>
                        </a:rPr>
                        <m:t>𝑁</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h</m:t>
                          </m:r>
                        </m:e>
                      </m:func>
                    </m:oMath>
                  </m:oMathPara>
                </a14:m>
                <a:endParaRPr lang="en-CN" dirty="0"/>
              </a:p>
            </p:txBody>
          </p:sp>
        </mc:Choice>
        <mc:Fallback xmlns="">
          <p:sp>
            <p:nvSpPr>
              <p:cNvPr id="4" name="TextBox 3">
                <a:extLst>
                  <a:ext uri="{FF2B5EF4-FFF2-40B4-BE49-F238E27FC236}">
                    <a16:creationId xmlns:a16="http://schemas.microsoft.com/office/drawing/2014/main" id="{78B8EAD8-9C1C-5240-BAE3-A4D5D0E41051}"/>
                  </a:ext>
                </a:extLst>
              </p:cNvPr>
              <p:cNvSpPr txBox="1">
                <a:spLocks noRot="1" noChangeAspect="1" noMove="1" noResize="1" noEditPoints="1" noAdjustHandles="1" noChangeArrowheads="1" noChangeShapeType="1" noTextEdit="1"/>
              </p:cNvSpPr>
              <p:nvPr/>
            </p:nvSpPr>
            <p:spPr>
              <a:xfrm>
                <a:off x="8922327" y="4239491"/>
                <a:ext cx="1605488" cy="369332"/>
              </a:xfrm>
              <a:prstGeom prst="rect">
                <a:avLst/>
              </a:prstGeom>
              <a:blipFill>
                <a:blip r:embed="rId3"/>
                <a:stretch>
                  <a:fillRect b="-16667"/>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DCE2C451-3707-E24C-A586-7467C05024CB}"/>
              </a:ext>
            </a:extLst>
          </p:cNvPr>
          <p:cNvSpPr txBox="1"/>
          <p:nvPr/>
        </p:nvSpPr>
        <p:spPr>
          <a:xfrm>
            <a:off x="568036" y="512618"/>
            <a:ext cx="7910946" cy="646331"/>
          </a:xfrm>
          <a:prstGeom prst="rect">
            <a:avLst/>
          </a:prstGeom>
          <a:noFill/>
        </p:spPr>
        <p:txBody>
          <a:bodyPr wrap="square" rtlCol="0">
            <a:spAutoFit/>
          </a:bodyPr>
          <a:lstStyle/>
          <a:p>
            <a:r>
              <a:rPr lang="en-CN" dirty="0"/>
              <a:t>Mutual Information Associated with the Uncertainty Principle</a:t>
            </a:r>
          </a:p>
          <a:p>
            <a:r>
              <a:rPr lang="zh-CN" altLang="en-US" dirty="0"/>
              <a:t>     </a:t>
            </a:r>
            <a:r>
              <a:rPr lang="en-US" altLang="zh-CN" dirty="0"/>
              <a:t>a</a:t>
            </a:r>
            <a:r>
              <a:rPr lang="en-CN" altLang="zh-CN" dirty="0"/>
              <a:t> </a:t>
            </a:r>
            <a:r>
              <a:rPr lang="en-US" altLang="zh-CN" dirty="0"/>
              <a:t>correlation</a:t>
            </a:r>
            <a:r>
              <a:rPr lang="en-CN" altLang="zh-CN" dirty="0"/>
              <a:t> </a:t>
            </a:r>
            <a:r>
              <a:rPr lang="en-US" altLang="zh-CN" dirty="0"/>
              <a:t>between</a:t>
            </a:r>
            <a:r>
              <a:rPr lang="en-CN" altLang="zh-CN" dirty="0"/>
              <a:t> </a:t>
            </a:r>
            <a:r>
              <a:rPr lang="en-US" altLang="zh-CN" dirty="0"/>
              <a:t>the</a:t>
            </a:r>
            <a:r>
              <a:rPr lang="en-CN" altLang="zh-CN" dirty="0"/>
              <a:t> </a:t>
            </a:r>
            <a:r>
              <a:rPr lang="en-US" altLang="zh-CN" dirty="0"/>
              <a:t>location</a:t>
            </a:r>
            <a:r>
              <a:rPr lang="en-CN" altLang="zh-CN" dirty="0"/>
              <a:t> </a:t>
            </a:r>
            <a:r>
              <a:rPr lang="en-US" altLang="zh-CN" dirty="0"/>
              <a:t>and</a:t>
            </a:r>
            <a:r>
              <a:rPr lang="en-CN" altLang="zh-CN" dirty="0"/>
              <a:t> </a:t>
            </a:r>
            <a:r>
              <a:rPr lang="en-US" altLang="zh-CN" dirty="0"/>
              <a:t>momentum</a:t>
            </a:r>
            <a:r>
              <a:rPr lang="en-CN" altLang="zh-CN" dirty="0"/>
              <a:t> </a:t>
            </a:r>
            <a:r>
              <a:rPr lang="en-US" altLang="zh-CN" dirty="0"/>
              <a:t>of</a:t>
            </a:r>
            <a:r>
              <a:rPr lang="en-CN" altLang="zh-CN" dirty="0"/>
              <a:t> </a:t>
            </a:r>
            <a:r>
              <a:rPr lang="en-US" altLang="zh-CN" dirty="0"/>
              <a:t>a</a:t>
            </a:r>
            <a:r>
              <a:rPr lang="en-CN" altLang="zh-CN" dirty="0"/>
              <a:t> </a:t>
            </a:r>
            <a:r>
              <a:rPr lang="en-US" altLang="zh-CN" dirty="0"/>
              <a:t>particle</a:t>
            </a:r>
            <a:endParaRPr lang="en-CN" dirty="0"/>
          </a:p>
        </p:txBody>
      </p:sp>
    </p:spTree>
    <p:extLst>
      <p:ext uri="{BB962C8B-B14F-4D97-AF65-F5344CB8AC3E}">
        <p14:creationId xmlns:p14="http://schemas.microsoft.com/office/powerpoint/2010/main" val="25282219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964120-D996-EC4D-8176-10B671B01F57}"/>
                  </a:ext>
                </a:extLst>
              </p:cNvPr>
              <p:cNvSpPr txBox="1"/>
              <p:nvPr/>
            </p:nvSpPr>
            <p:spPr>
              <a:xfrm>
                <a:off x="1246911" y="752597"/>
                <a:ext cx="10052945" cy="12315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CN" sz="4000" i="1" smtClean="0">
                              <a:latin typeface="Cambria Math" panose="02040503050406030204" pitchFamily="18" charset="0"/>
                              <a:ea typeface="Cambria Math" panose="02040503050406030204" pitchFamily="18" charset="0"/>
                            </a:rPr>
                            <m:t>𝜎</m:t>
                          </m:r>
                        </m:e>
                        <m:sub>
                          <m:r>
                            <a:rPr lang="en-US" sz="4000" b="0" i="1" smtClean="0">
                              <a:latin typeface="Cambria Math" panose="02040503050406030204" pitchFamily="18" charset="0"/>
                            </a:rPr>
                            <m:t>𝑚𝑎𝑥</m:t>
                          </m:r>
                        </m:sub>
                      </m:sSub>
                      <m:r>
                        <a:rPr lang="en-US" sz="4000" b="0" i="1" smtClean="0">
                          <a:latin typeface="Cambria Math" panose="02040503050406030204" pitchFamily="18" charset="0"/>
                        </a:rPr>
                        <m:t>=</m:t>
                      </m:r>
                      <m:func>
                        <m:funcPr>
                          <m:ctrlPr>
                            <a:rPr lang="en-US" sz="4000" b="0" i="1" smtClean="0">
                              <a:latin typeface="Cambria Math" panose="02040503050406030204" pitchFamily="18" charset="0"/>
                            </a:rPr>
                          </m:ctrlPr>
                        </m:funcPr>
                        <m:fName>
                          <m:r>
                            <m:rPr>
                              <m:sty m:val="p"/>
                            </m:rPr>
                            <a:rPr lang="en-US" sz="4000" b="0" i="0" smtClean="0">
                              <a:latin typeface="Cambria Math" panose="02040503050406030204" pitchFamily="18" charset="0"/>
                            </a:rPr>
                            <m:t>log</m:t>
                          </m:r>
                        </m:fName>
                        <m:e>
                          <m:f>
                            <m:fPr>
                              <m:ctrlPr>
                                <a:rPr lang="en-US" sz="4000" b="0" i="1" smtClean="0">
                                  <a:latin typeface="Cambria Math" panose="02040503050406030204" pitchFamily="18" charset="0"/>
                                </a:rPr>
                              </m:ctrlPr>
                            </m:fPr>
                            <m:num>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𝑉</m:t>
                                  </m:r>
                                </m:e>
                                <m:sup>
                                  <m:r>
                                    <a:rPr lang="en-US" sz="4000" b="0" i="1" smtClean="0">
                                      <a:latin typeface="Cambria Math" panose="02040503050406030204" pitchFamily="18" charset="0"/>
                                    </a:rPr>
                                    <m:t>𝑁</m:t>
                                  </m:r>
                                </m:sup>
                              </m:sSup>
                            </m:num>
                            <m:den>
                              <m:r>
                                <a:rPr lang="en-US" sz="4000" b="0" i="1" smtClean="0">
                                  <a:latin typeface="Cambria Math" panose="02040503050406030204" pitchFamily="18" charset="0"/>
                                </a:rPr>
                                <m:t>𝑁</m:t>
                              </m:r>
                              <m:r>
                                <a:rPr lang="en-US" sz="4000" b="0" i="1" smtClean="0">
                                  <a:latin typeface="Cambria Math" panose="02040503050406030204" pitchFamily="18" charset="0"/>
                                </a:rPr>
                                <m:t>!</m:t>
                              </m:r>
                            </m:den>
                          </m:f>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3 </m:t>
                              </m:r>
                              <m:r>
                                <a:rPr lang="en-US" sz="4000" b="0" i="1" smtClean="0">
                                  <a:latin typeface="Cambria Math" panose="02040503050406030204" pitchFamily="18" charset="0"/>
                                </a:rPr>
                                <m:t>𝑁</m:t>
                              </m:r>
                            </m:num>
                            <m:den>
                              <m:r>
                                <a:rPr lang="en-US" sz="4000" b="0" i="1" smtClean="0">
                                  <a:latin typeface="Cambria Math" panose="02040503050406030204" pitchFamily="18" charset="0"/>
                                </a:rPr>
                                <m:t>2</m:t>
                              </m:r>
                            </m:den>
                          </m:f>
                          <m:func>
                            <m:funcPr>
                              <m:ctrlPr>
                                <a:rPr lang="en-US" sz="4000" b="0" i="1" smtClean="0">
                                  <a:latin typeface="Cambria Math" panose="02040503050406030204" pitchFamily="18" charset="0"/>
                                </a:rPr>
                              </m:ctrlPr>
                            </m:funcPr>
                            <m:fName>
                              <m:r>
                                <m:rPr>
                                  <m:sty m:val="p"/>
                                </m:rPr>
                                <a:rPr lang="en-US" sz="4000" b="0" i="0" smtClean="0">
                                  <a:latin typeface="Cambria Math" panose="02040503050406030204" pitchFamily="18" charset="0"/>
                                </a:rPr>
                                <m:t>log</m:t>
                              </m:r>
                            </m:fName>
                            <m:e>
                              <m:r>
                                <a:rPr lang="en-US" sz="4000" b="0" i="1" smtClean="0">
                                  <a:latin typeface="Cambria Math" panose="02040503050406030204" pitchFamily="18" charset="0"/>
                                </a:rPr>
                                <m:t>2 </m:t>
                              </m:r>
                              <m:r>
                                <a:rPr lang="en-US" sz="4000" b="0" i="1" smtClean="0">
                                  <a:latin typeface="Cambria Math" panose="02040503050406030204" pitchFamily="18" charset="0"/>
                                  <a:ea typeface="Cambria Math" panose="02040503050406030204" pitchFamily="18" charset="0"/>
                                </a:rPr>
                                <m:t>𝜋</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𝑒</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𝑚</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rPr>
                                <m:t>−3 </m:t>
                              </m:r>
                              <m:r>
                                <a:rPr lang="en-US" sz="4000" b="0" i="1" smtClean="0">
                                  <a:latin typeface="Cambria Math" panose="02040503050406030204" pitchFamily="18" charset="0"/>
                                </a:rPr>
                                <m:t>𝑁</m:t>
                              </m:r>
                              <m:func>
                                <m:funcPr>
                                  <m:ctrlPr>
                                    <a:rPr lang="en-US" sz="4000" b="0" i="1" smtClean="0">
                                      <a:latin typeface="Cambria Math" panose="02040503050406030204" pitchFamily="18" charset="0"/>
                                    </a:rPr>
                                  </m:ctrlPr>
                                </m:funcPr>
                                <m:fName>
                                  <m:r>
                                    <m:rPr>
                                      <m:sty m:val="p"/>
                                    </m:rPr>
                                    <a:rPr lang="en-US" sz="4000" b="0" i="0" smtClean="0">
                                      <a:latin typeface="Cambria Math" panose="02040503050406030204" pitchFamily="18" charset="0"/>
                                    </a:rPr>
                                    <m:t>log</m:t>
                                  </m:r>
                                </m:fName>
                                <m:e>
                                  <m:r>
                                    <a:rPr lang="en-US" sz="4000" b="0" i="1" smtClean="0">
                                      <a:latin typeface="Cambria Math" panose="02040503050406030204" pitchFamily="18" charset="0"/>
                                    </a:rPr>
                                    <m:t>h</m:t>
                                  </m:r>
                                </m:e>
                              </m:func>
                            </m:e>
                          </m:func>
                        </m:e>
                      </m:func>
                    </m:oMath>
                  </m:oMathPara>
                </a14:m>
                <a:endParaRPr lang="en-CN" sz="4000" dirty="0"/>
              </a:p>
            </p:txBody>
          </p:sp>
        </mc:Choice>
        <mc:Fallback xmlns="">
          <p:sp>
            <p:nvSpPr>
              <p:cNvPr id="5" name="TextBox 4">
                <a:extLst>
                  <a:ext uri="{FF2B5EF4-FFF2-40B4-BE49-F238E27FC236}">
                    <a16:creationId xmlns:a16="http://schemas.microsoft.com/office/drawing/2014/main" id="{67964120-D996-EC4D-8176-10B671B01F57}"/>
                  </a:ext>
                </a:extLst>
              </p:cNvPr>
              <p:cNvSpPr txBox="1">
                <a:spLocks noRot="1" noChangeAspect="1" noMove="1" noResize="1" noEditPoints="1" noAdjustHandles="1" noChangeArrowheads="1" noChangeShapeType="1" noTextEdit="1"/>
              </p:cNvSpPr>
              <p:nvPr/>
            </p:nvSpPr>
            <p:spPr>
              <a:xfrm>
                <a:off x="1246911" y="752597"/>
                <a:ext cx="10052945" cy="1231556"/>
              </a:xfrm>
              <a:prstGeom prst="rect">
                <a:avLst/>
              </a:prstGeom>
              <a:blipFill>
                <a:blip r:embed="rId2"/>
                <a:stretch>
                  <a:fillRect l="-253" t="-3093" r="-631" b="-1340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65A4F53-B9A7-204B-AEA2-575789907ADC}"/>
                  </a:ext>
                </a:extLst>
              </p:cNvPr>
              <p:cNvSpPr txBox="1"/>
              <p:nvPr/>
            </p:nvSpPr>
            <p:spPr>
              <a:xfrm>
                <a:off x="6505614" y="4494128"/>
                <a:ext cx="4293103" cy="6926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𝑄</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𝜏</m:t>
                                  </m:r>
                                </m:num>
                                <m:den>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ℏ</m:t>
                                      </m:r>
                                    </m:e>
                                    <m:sup>
                                      <m:r>
                                        <a:rPr lang="en-US" sz="2000" b="0" i="1" smtClean="0">
                                          <a:latin typeface="Cambria Math" panose="02040503050406030204" pitchFamily="18" charset="0"/>
                                          <a:ea typeface="Cambria Math" panose="02040503050406030204" pitchFamily="18" charset="0"/>
                                        </a:rPr>
                                        <m:t>2</m:t>
                                      </m:r>
                                    </m:sup>
                                  </m:sSup>
                                </m:den>
                              </m:f>
                            </m:e>
                          </m:d>
                        </m:e>
                        <m:sup>
                          <m:r>
                            <a:rPr lang="en-US" sz="2000" b="0" i="1" smtClean="0">
                              <a:latin typeface="Cambria Math" panose="02040503050406030204" pitchFamily="18" charset="0"/>
                            </a:rPr>
                            <m:t>3/2</m:t>
                          </m:r>
                        </m:sup>
                      </m:sSup>
                    </m:oMath>
                  </m:oMathPara>
                </a14:m>
                <a:endParaRPr lang="en-CN" sz="2000" dirty="0"/>
              </a:p>
            </p:txBody>
          </p:sp>
        </mc:Choice>
        <mc:Fallback xmlns="">
          <p:sp>
            <p:nvSpPr>
              <p:cNvPr id="3" name="TextBox 2">
                <a:extLst>
                  <a:ext uri="{FF2B5EF4-FFF2-40B4-BE49-F238E27FC236}">
                    <a16:creationId xmlns:a16="http://schemas.microsoft.com/office/drawing/2014/main" id="{D65A4F53-B9A7-204B-AEA2-575789907ADC}"/>
                  </a:ext>
                </a:extLst>
              </p:cNvPr>
              <p:cNvSpPr txBox="1">
                <a:spLocks noRot="1" noChangeAspect="1" noMove="1" noResize="1" noEditPoints="1" noAdjustHandles="1" noChangeArrowheads="1" noChangeShapeType="1" noTextEdit="1"/>
              </p:cNvSpPr>
              <p:nvPr/>
            </p:nvSpPr>
            <p:spPr>
              <a:xfrm>
                <a:off x="6505614" y="4494128"/>
                <a:ext cx="4293103" cy="692626"/>
              </a:xfrm>
              <a:prstGeom prst="rect">
                <a:avLst/>
              </a:prstGeom>
              <a:blipFill>
                <a:blip r:embed="rId3"/>
                <a:stretch>
                  <a:fillRect b="-357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0E79AD1-B067-E249-8B21-339353085981}"/>
                  </a:ext>
                </a:extLst>
              </p:cNvPr>
              <p:cNvSpPr txBox="1"/>
              <p:nvPr/>
            </p:nvSpPr>
            <p:spPr>
              <a:xfrm>
                <a:off x="1246911" y="4560942"/>
                <a:ext cx="6206836" cy="6258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num>
                                <m:den>
                                  <m:r>
                                    <a:rPr lang="en-US" b="0" i="1" smtClean="0">
                                      <a:latin typeface="Cambria Math" panose="02040503050406030204" pitchFamily="18" charset="0"/>
                                      <a:ea typeface="Cambria Math" panose="02040503050406030204" pitchFamily="18" charset="0"/>
                                    </a:rPr>
                                    <m:t>𝑛</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5</m:t>
                                  </m:r>
                                </m:num>
                                <m:den>
                                  <m:r>
                                    <a:rPr lang="en-US" b="0" i="1" smtClean="0">
                                      <a:latin typeface="Cambria Math" panose="02040503050406030204" pitchFamily="18" charset="0"/>
                                      <a:ea typeface="Cambria Math" panose="02040503050406030204" pitchFamily="18" charset="0"/>
                                    </a:rPr>
                                    <m:t>2</m:t>
                                  </m:r>
                                </m:den>
                              </m:f>
                            </m:e>
                          </m:func>
                        </m:e>
                      </m:d>
                    </m:oMath>
                  </m:oMathPara>
                </a14:m>
                <a:endParaRPr lang="en-CN" dirty="0"/>
              </a:p>
            </p:txBody>
          </p:sp>
        </mc:Choice>
        <mc:Fallback xmlns="">
          <p:sp>
            <p:nvSpPr>
              <p:cNvPr id="4" name="TextBox 3">
                <a:extLst>
                  <a:ext uri="{FF2B5EF4-FFF2-40B4-BE49-F238E27FC236}">
                    <a16:creationId xmlns:a16="http://schemas.microsoft.com/office/drawing/2014/main" id="{90E79AD1-B067-E249-8B21-339353085981}"/>
                  </a:ext>
                </a:extLst>
              </p:cNvPr>
              <p:cNvSpPr txBox="1">
                <a:spLocks noRot="1" noChangeAspect="1" noMove="1" noResize="1" noEditPoints="1" noAdjustHandles="1" noChangeArrowheads="1" noChangeShapeType="1" noTextEdit="1"/>
              </p:cNvSpPr>
              <p:nvPr/>
            </p:nvSpPr>
            <p:spPr>
              <a:xfrm>
                <a:off x="1246911" y="4560942"/>
                <a:ext cx="6206836" cy="625812"/>
              </a:xfrm>
              <a:prstGeom prst="rect">
                <a:avLst/>
              </a:prstGeom>
              <a:blipFill>
                <a:blip r:embed="rId4"/>
                <a:stretch>
                  <a:fillRect b="-2000"/>
                </a:stretch>
              </a:blipFill>
            </p:spPr>
            <p:txBody>
              <a:bodyPr/>
              <a:lstStyle/>
              <a:p>
                <a:r>
                  <a:rPr lang="en-CN">
                    <a:noFill/>
                  </a:rPr>
                  <a:t> </a:t>
                </a:r>
              </a:p>
            </p:txBody>
          </p:sp>
        </mc:Fallback>
      </mc:AlternateContent>
      <p:sp>
        <p:nvSpPr>
          <p:cNvPr id="2" name="Down Arrow 1">
            <a:extLst>
              <a:ext uri="{FF2B5EF4-FFF2-40B4-BE49-F238E27FC236}">
                <a16:creationId xmlns:a16="http://schemas.microsoft.com/office/drawing/2014/main" id="{52900D1F-65EA-6746-8CE4-EC448A1B1BF1}"/>
              </a:ext>
            </a:extLst>
          </p:cNvPr>
          <p:cNvSpPr/>
          <p:nvPr/>
        </p:nvSpPr>
        <p:spPr>
          <a:xfrm>
            <a:off x="5680364" y="2216727"/>
            <a:ext cx="1413163" cy="20227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TextBox 5">
            <a:extLst>
              <a:ext uri="{FF2B5EF4-FFF2-40B4-BE49-F238E27FC236}">
                <a16:creationId xmlns:a16="http://schemas.microsoft.com/office/drawing/2014/main" id="{93537AC3-07F1-8045-90E7-26D48A1AFBF0}"/>
              </a:ext>
            </a:extLst>
          </p:cNvPr>
          <p:cNvSpPr txBox="1"/>
          <p:nvPr/>
        </p:nvSpPr>
        <p:spPr>
          <a:xfrm>
            <a:off x="249381" y="96982"/>
            <a:ext cx="8423563" cy="369332"/>
          </a:xfrm>
          <a:prstGeom prst="rect">
            <a:avLst/>
          </a:prstGeom>
          <a:noFill/>
        </p:spPr>
        <p:txBody>
          <a:bodyPr wrap="square" rtlCol="0">
            <a:spAutoFit/>
          </a:bodyPr>
          <a:lstStyle/>
          <a:p>
            <a:r>
              <a:rPr lang="en-CN" dirty="0"/>
              <a:t>综上</a:t>
            </a:r>
            <a:r>
              <a:rPr lang="en-US" dirty="0"/>
              <a:t>, </a:t>
            </a:r>
            <a:r>
              <a:rPr lang="en-US" dirty="0" err="1"/>
              <a:t>location+momentum+indistinguishability+uncertainty</a:t>
            </a:r>
            <a:r>
              <a:rPr lang="en-US" dirty="0"/>
              <a:t> principle</a:t>
            </a:r>
            <a:endParaRPr lang="en-CN" dirty="0"/>
          </a:p>
        </p:txBody>
      </p:sp>
    </p:spTree>
    <p:extLst>
      <p:ext uri="{BB962C8B-B14F-4D97-AF65-F5344CB8AC3E}">
        <p14:creationId xmlns:p14="http://schemas.microsoft.com/office/powerpoint/2010/main" val="303030537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9FCD5EB8-3E4B-BF42-ACCD-58709F6E93D7}"/>
              </a:ext>
            </a:extLst>
          </p:cNvPr>
          <p:cNvSpPr txBox="1"/>
          <p:nvPr/>
        </p:nvSpPr>
        <p:spPr>
          <a:xfrm>
            <a:off x="330529" y="543316"/>
            <a:ext cx="5320146" cy="584775"/>
          </a:xfrm>
          <a:prstGeom prst="rect">
            <a:avLst/>
          </a:prstGeom>
          <a:noFill/>
        </p:spPr>
        <p:txBody>
          <a:bodyPr wrap="square" rtlCol="0">
            <a:spAutoFit/>
          </a:bodyPr>
          <a:lstStyle/>
          <a:p>
            <a:r>
              <a:rPr lang="en-US" sz="3200" dirty="0"/>
              <a:t>x=0</a:t>
            </a:r>
            <a:endParaRPr lang="en-CN" sz="3200" dirty="0"/>
          </a:p>
        </p:txBody>
      </p:sp>
      <p:sp>
        <p:nvSpPr>
          <p:cNvPr id="14" name="TextBox 13">
            <a:extLst>
              <a:ext uri="{FF2B5EF4-FFF2-40B4-BE49-F238E27FC236}">
                <a16:creationId xmlns:a16="http://schemas.microsoft.com/office/drawing/2014/main" id="{5B7B1B90-32DD-F242-ADD8-02CBA687B4A6}"/>
              </a:ext>
            </a:extLst>
          </p:cNvPr>
          <p:cNvSpPr txBox="1"/>
          <p:nvPr/>
        </p:nvSpPr>
        <p:spPr>
          <a:xfrm>
            <a:off x="0" y="9390"/>
            <a:ext cx="6283036" cy="369332"/>
          </a:xfrm>
          <a:prstGeom prst="rect">
            <a:avLst/>
          </a:prstGeom>
          <a:noFill/>
        </p:spPr>
        <p:txBody>
          <a:bodyPr wrap="square">
            <a:spAutoFit/>
          </a:bodyPr>
          <a:lstStyle/>
          <a:p>
            <a:pPr marL="342900" indent="-342900"/>
            <a:r>
              <a:rPr lang="en-CN" sz="1800" dirty="0">
                <a:latin typeface="FangSong" panose="02010609060101010101" pitchFamily="49" charset="-122"/>
                <a:ea typeface="FangSong" panose="02010609060101010101" pitchFamily="49" charset="-122"/>
              </a:rPr>
              <a:t>理想气体的熵一</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19D23C7-7A27-5B35-C37E-A9B14752D1B0}"/>
                  </a:ext>
                </a:extLst>
              </p:cNvPr>
              <p:cNvSpPr txBox="1"/>
              <p:nvPr/>
            </p:nvSpPr>
            <p:spPr>
              <a:xfrm>
                <a:off x="2807029" y="919345"/>
                <a:ext cx="5687292" cy="746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p>
                                      <m:r>
                                        <a:rPr lang="en-US" b="0" i="1" smtClean="0">
                                          <a:latin typeface="Cambria Math" panose="02040503050406030204" pitchFamily="18" charset="0"/>
                                          <a:ea typeface="Cambria Math" panose="02040503050406030204" pitchFamily="18" charset="0"/>
                                        </a:rPr>
                                        <m:t>3/2</m:t>
                                      </m:r>
                                    </m:sup>
                                  </m:sSup>
                                </m:e>
                              </m:d>
                            </m:e>
                          </m:func>
                        </m:e>
                      </m:d>
                    </m:oMath>
                  </m:oMathPara>
                </a14:m>
                <a:endParaRPr lang="en-CN" dirty="0"/>
              </a:p>
            </p:txBody>
          </p:sp>
        </mc:Choice>
        <mc:Fallback xmlns="">
          <p:sp>
            <p:nvSpPr>
              <p:cNvPr id="3" name="TextBox 2">
                <a:extLst>
                  <a:ext uri="{FF2B5EF4-FFF2-40B4-BE49-F238E27FC236}">
                    <a16:creationId xmlns:a16="http://schemas.microsoft.com/office/drawing/2014/main" id="{819D23C7-7A27-5B35-C37E-A9B14752D1B0}"/>
                  </a:ext>
                </a:extLst>
              </p:cNvPr>
              <p:cNvSpPr txBox="1">
                <a:spLocks noRot="1" noChangeAspect="1" noMove="1" noResize="1" noEditPoints="1" noAdjustHandles="1" noChangeArrowheads="1" noChangeShapeType="1" noTextEdit="1"/>
              </p:cNvSpPr>
              <p:nvPr/>
            </p:nvSpPr>
            <p:spPr>
              <a:xfrm>
                <a:off x="2807029" y="919345"/>
                <a:ext cx="5687292" cy="746679"/>
              </a:xfrm>
              <a:prstGeom prst="rect">
                <a:avLst/>
              </a:prstGeom>
              <a:blipFill>
                <a:blip r:embed="rId2"/>
                <a:stretch>
                  <a:fillRect b="-5000"/>
                </a:stretch>
              </a:blipFill>
            </p:spPr>
            <p:txBody>
              <a:bodyPr/>
              <a:lstStyle/>
              <a:p>
                <a:r>
                  <a:rPr lang="en-CN">
                    <a:noFill/>
                  </a:rPr>
                  <a:t> </a:t>
                </a:r>
              </a:p>
            </p:txBody>
          </p:sp>
        </mc:Fallback>
      </mc:AlternateContent>
      <p:sp>
        <p:nvSpPr>
          <p:cNvPr id="11" name="Rectangle 10">
            <a:extLst>
              <a:ext uri="{FF2B5EF4-FFF2-40B4-BE49-F238E27FC236}">
                <a16:creationId xmlns:a16="http://schemas.microsoft.com/office/drawing/2014/main" id="{275FF18B-9940-D6D5-63CB-D036A776BA0F}"/>
              </a:ext>
            </a:extLst>
          </p:cNvPr>
          <p:cNvSpPr/>
          <p:nvPr/>
        </p:nvSpPr>
        <p:spPr>
          <a:xfrm>
            <a:off x="3331020" y="2293117"/>
            <a:ext cx="2648160" cy="2239108"/>
          </a:xfrm>
          <a:prstGeom prst="rect">
            <a:avLst/>
          </a:prstGeom>
          <a:solidFill>
            <a:schemeClr val="accent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372E2C4-2CBA-0A00-B24F-B8DB9A4D9AF2}"/>
                  </a:ext>
                </a:extLst>
              </p:cNvPr>
              <p:cNvSpPr txBox="1"/>
              <p:nvPr/>
            </p:nvSpPr>
            <p:spPr>
              <a:xfrm>
                <a:off x="6418618" y="2237219"/>
                <a:ext cx="5173650" cy="216674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CN" sz="2400" i="1" smtClean="0">
                        <a:latin typeface="Cambria Math" panose="02040503050406030204" pitchFamily="18" charset="0"/>
                        <a:ea typeface="Cambria Math" panose="02040503050406030204" pitchFamily="18" charset="0"/>
                      </a:rPr>
                      <m:t>∆</m:t>
                    </m:r>
                    <m:sSub>
                      <m:sSubPr>
                        <m:ctrlPr>
                          <a:rPr lang="en-CN" sz="2400" i="1" smtClean="0">
                            <a:latin typeface="Cambria Math" panose="02040503050406030204" pitchFamily="18" charset="0"/>
                            <a:ea typeface="Cambria Math" panose="02040503050406030204" pitchFamily="18" charset="0"/>
                          </a:rPr>
                        </m:ctrlPr>
                      </m:sSubPr>
                      <m:e>
                        <m:r>
                          <a:rPr lang="en-CN"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𝐴</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𝑓</m:t>
                                </m:r>
                              </m:sub>
                            </m:sSub>
                          </m:num>
                          <m:den>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𝑖</m:t>
                                </m:r>
                              </m:sub>
                            </m:sSub>
                          </m:den>
                        </m:f>
                      </m:e>
                    </m:func>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2</m:t>
                        </m:r>
                      </m:e>
                    </m:func>
                  </m:oMath>
                </a14:m>
                <a:endParaRPr lang="en-CN" sz="2400" dirty="0"/>
              </a:p>
              <a:p>
                <a:pPr marL="285750" indent="-285750">
                  <a:buFont typeface="Arial" panose="020B0604020202020204" pitchFamily="34" charset="0"/>
                  <a:buChar char="•"/>
                </a:pPr>
                <a14:m>
                  <m:oMath xmlns:m="http://schemas.openxmlformats.org/officeDocument/2006/math">
                    <m:r>
                      <a:rPr lang="en-CN" sz="2400" i="1" smtClean="0">
                        <a:latin typeface="Cambria Math" panose="02040503050406030204" pitchFamily="18" charset="0"/>
                        <a:ea typeface="Cambria Math" panose="02040503050406030204" pitchFamily="18" charset="0"/>
                      </a:rPr>
                      <m:t>∆</m:t>
                    </m:r>
                    <m:sSub>
                      <m:sSubPr>
                        <m:ctrlPr>
                          <a:rPr lang="en-CN" sz="2400" i="1" smtClean="0">
                            <a:latin typeface="Cambria Math" panose="02040503050406030204" pitchFamily="18" charset="0"/>
                            <a:ea typeface="Cambria Math" panose="02040503050406030204" pitchFamily="18" charset="0"/>
                          </a:rPr>
                        </m:ctrlPr>
                      </m:sSubPr>
                      <m:e>
                        <m:r>
                          <a:rPr lang="en-CN"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𝑡𝑜𝑡𝑎𝑙</m:t>
                        </m:r>
                      </m:sub>
                    </m:sSub>
                    <m:r>
                      <a:rPr lang="en-US" sz="2400" b="0" i="1" smtClean="0">
                        <a:latin typeface="Cambria Math" panose="02040503050406030204" pitchFamily="18" charset="0"/>
                        <a:ea typeface="Cambria Math" panose="02040503050406030204" pitchFamily="18" charset="0"/>
                      </a:rPr>
                      <m:t>=</m:t>
                    </m:r>
                    <m:r>
                      <a:rPr lang="en-CN" sz="2400" i="1">
                        <a:latin typeface="Cambria Math" panose="02040503050406030204" pitchFamily="18" charset="0"/>
                        <a:ea typeface="Cambria Math" panose="02040503050406030204" pitchFamily="18" charset="0"/>
                      </a:rPr>
                      <m:t>∆</m:t>
                    </m:r>
                    <m:sSub>
                      <m:sSubPr>
                        <m:ctrlPr>
                          <a:rPr lang="en-CN" sz="2400" i="1">
                            <a:latin typeface="Cambria Math" panose="02040503050406030204" pitchFamily="18" charset="0"/>
                            <a:ea typeface="Cambria Math" panose="02040503050406030204" pitchFamily="18" charset="0"/>
                          </a:rPr>
                        </m:ctrlPr>
                      </m:sSubPr>
                      <m:e>
                        <m:r>
                          <a:rPr lang="en-CN"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ea typeface="Cambria Math" panose="02040503050406030204" pitchFamily="18" charset="0"/>
                          </a:rPr>
                          <m:t>𝐴</m:t>
                        </m:r>
                      </m:sub>
                    </m:sSub>
                  </m:oMath>
                </a14:m>
                <a:r>
                  <a:rPr lang="en-CN" sz="2400" dirty="0"/>
                  <a:t>+</a:t>
                </a:r>
                <a:r>
                  <a:rPr lang="en-CN" sz="2400" dirty="0">
                    <a:ea typeface="Cambria Math" panose="02040503050406030204" pitchFamily="18" charset="0"/>
                  </a:rPr>
                  <a:t> </a:t>
                </a:r>
                <a14:m>
                  <m:oMath xmlns:m="http://schemas.openxmlformats.org/officeDocument/2006/math">
                    <m:r>
                      <a:rPr lang="en-CN" sz="2400" i="1">
                        <a:latin typeface="Cambria Math" panose="02040503050406030204" pitchFamily="18" charset="0"/>
                        <a:ea typeface="Cambria Math" panose="02040503050406030204" pitchFamily="18" charset="0"/>
                      </a:rPr>
                      <m:t>∆</m:t>
                    </m:r>
                    <m:sSub>
                      <m:sSubPr>
                        <m:ctrlPr>
                          <a:rPr lang="en-CN" sz="2400" i="1">
                            <a:latin typeface="Cambria Math" panose="02040503050406030204" pitchFamily="18" charset="0"/>
                            <a:ea typeface="Cambria Math" panose="02040503050406030204" pitchFamily="18" charset="0"/>
                          </a:rPr>
                        </m:ctrlPr>
                      </m:sSubPr>
                      <m:e>
                        <m:r>
                          <a:rPr lang="en-CN"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𝐵</m:t>
                        </m:r>
                      </m:sub>
                    </m:sSub>
                  </m:oMath>
                </a14:m>
                <a:r>
                  <a:rPr lang="en-CN" sz="2400" dirty="0"/>
                  <a:t>=2 N log 2</a:t>
                </a:r>
              </a:p>
              <a:p>
                <a:pPr marL="285750" indent="-285750">
                  <a:buFont typeface="Arial" panose="020B0604020202020204" pitchFamily="34" charset="0"/>
                  <a:buChar char="•"/>
                </a:pPr>
                <a:r>
                  <a:rPr lang="en-CN" sz="2400" dirty="0"/>
                  <a:t>It’s important to note that this result appies only if the two gasese are different. </a:t>
                </a:r>
              </a:p>
            </p:txBody>
          </p:sp>
        </mc:Choice>
        <mc:Fallback xmlns="">
          <p:sp>
            <p:nvSpPr>
              <p:cNvPr id="12" name="TextBox 11">
                <a:extLst>
                  <a:ext uri="{FF2B5EF4-FFF2-40B4-BE49-F238E27FC236}">
                    <a16:creationId xmlns:a16="http://schemas.microsoft.com/office/drawing/2014/main" id="{9372E2C4-2CBA-0A00-B24F-B8DB9A4D9AF2}"/>
                  </a:ext>
                </a:extLst>
              </p:cNvPr>
              <p:cNvSpPr txBox="1">
                <a:spLocks noRot="1" noChangeAspect="1" noMove="1" noResize="1" noEditPoints="1" noAdjustHandles="1" noChangeArrowheads="1" noChangeShapeType="1" noTextEdit="1"/>
              </p:cNvSpPr>
              <p:nvPr/>
            </p:nvSpPr>
            <p:spPr>
              <a:xfrm>
                <a:off x="6418618" y="2237219"/>
                <a:ext cx="5173650" cy="2166747"/>
              </a:xfrm>
              <a:prstGeom prst="rect">
                <a:avLst/>
              </a:prstGeom>
              <a:blipFill>
                <a:blip r:embed="rId3"/>
                <a:stretch>
                  <a:fillRect l="-1716" b="-5263"/>
                </a:stretch>
              </a:blipFill>
            </p:spPr>
            <p:txBody>
              <a:bodyPr/>
              <a:lstStyle/>
              <a:p>
                <a:r>
                  <a:rPr lang="en-CN">
                    <a:noFill/>
                  </a:rPr>
                  <a:t> </a:t>
                </a:r>
              </a:p>
            </p:txBody>
          </p:sp>
        </mc:Fallback>
      </mc:AlternateContent>
      <p:sp>
        <p:nvSpPr>
          <p:cNvPr id="16" name="Rectangle 15">
            <a:extLst>
              <a:ext uri="{FF2B5EF4-FFF2-40B4-BE49-F238E27FC236}">
                <a16:creationId xmlns:a16="http://schemas.microsoft.com/office/drawing/2014/main" id="{791922DC-3882-35E9-E2DC-35D4787BF978}"/>
              </a:ext>
            </a:extLst>
          </p:cNvPr>
          <p:cNvSpPr/>
          <p:nvPr/>
        </p:nvSpPr>
        <p:spPr>
          <a:xfrm>
            <a:off x="682860" y="2286000"/>
            <a:ext cx="2648160" cy="2239108"/>
          </a:xfrm>
          <a:prstGeom prst="rect">
            <a:avLst/>
          </a:prstGeom>
          <a:solidFill>
            <a:schemeClr val="accent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p:spTree>
    <p:extLst>
      <p:ext uri="{BB962C8B-B14F-4D97-AF65-F5344CB8AC3E}">
        <p14:creationId xmlns:p14="http://schemas.microsoft.com/office/powerpoint/2010/main" val="316462000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9FCD5EB8-3E4B-BF42-ACCD-58709F6E93D7}"/>
              </a:ext>
            </a:extLst>
          </p:cNvPr>
          <p:cNvSpPr txBox="1"/>
          <p:nvPr/>
        </p:nvSpPr>
        <p:spPr>
          <a:xfrm>
            <a:off x="330529" y="543316"/>
            <a:ext cx="5320146" cy="584775"/>
          </a:xfrm>
          <a:prstGeom prst="rect">
            <a:avLst/>
          </a:prstGeom>
          <a:noFill/>
        </p:spPr>
        <p:txBody>
          <a:bodyPr wrap="square" rtlCol="0">
            <a:spAutoFit/>
          </a:bodyPr>
          <a:lstStyle/>
          <a:p>
            <a:r>
              <a:rPr lang="en-US" sz="3200" dirty="0"/>
              <a:t>x=1</a:t>
            </a:r>
            <a:endParaRPr lang="en-CN" sz="3200" dirty="0"/>
          </a:p>
        </p:txBody>
      </p:sp>
      <p:sp>
        <p:nvSpPr>
          <p:cNvPr id="14" name="TextBox 13">
            <a:extLst>
              <a:ext uri="{FF2B5EF4-FFF2-40B4-BE49-F238E27FC236}">
                <a16:creationId xmlns:a16="http://schemas.microsoft.com/office/drawing/2014/main" id="{5B7B1B90-32DD-F242-ADD8-02CBA687B4A6}"/>
              </a:ext>
            </a:extLst>
          </p:cNvPr>
          <p:cNvSpPr txBox="1"/>
          <p:nvPr/>
        </p:nvSpPr>
        <p:spPr>
          <a:xfrm>
            <a:off x="0" y="9390"/>
            <a:ext cx="6283036" cy="369332"/>
          </a:xfrm>
          <a:prstGeom prst="rect">
            <a:avLst/>
          </a:prstGeom>
          <a:noFill/>
        </p:spPr>
        <p:txBody>
          <a:bodyPr wrap="square">
            <a:spAutoFit/>
          </a:bodyPr>
          <a:lstStyle/>
          <a:p>
            <a:pPr marL="342900" indent="-342900"/>
            <a:r>
              <a:rPr lang="en-CN" sz="1800" dirty="0">
                <a:latin typeface="FangSong" panose="02010609060101010101" pitchFamily="49" charset="-122"/>
                <a:ea typeface="FangSong" panose="02010609060101010101" pitchFamily="49" charset="-122"/>
              </a:rPr>
              <a:t>理想气体的熵一</a:t>
            </a:r>
          </a:p>
        </p:txBody>
      </p:sp>
      <p:sp>
        <p:nvSpPr>
          <p:cNvPr id="11" name="Rectangle 10">
            <a:extLst>
              <a:ext uri="{FF2B5EF4-FFF2-40B4-BE49-F238E27FC236}">
                <a16:creationId xmlns:a16="http://schemas.microsoft.com/office/drawing/2014/main" id="{275FF18B-9940-D6D5-63CB-D036A776BA0F}"/>
              </a:ext>
            </a:extLst>
          </p:cNvPr>
          <p:cNvSpPr/>
          <p:nvPr/>
        </p:nvSpPr>
        <p:spPr>
          <a:xfrm>
            <a:off x="6029734" y="2423746"/>
            <a:ext cx="2648160" cy="2239108"/>
          </a:xfrm>
          <a:prstGeom prst="rect">
            <a:avLst/>
          </a:prstGeom>
          <a:solidFill>
            <a:schemeClr val="accent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p:sp>
        <p:nvSpPr>
          <p:cNvPr id="16" name="Rectangle 15">
            <a:extLst>
              <a:ext uri="{FF2B5EF4-FFF2-40B4-BE49-F238E27FC236}">
                <a16:creationId xmlns:a16="http://schemas.microsoft.com/office/drawing/2014/main" id="{791922DC-3882-35E9-E2DC-35D4787BF978}"/>
              </a:ext>
            </a:extLst>
          </p:cNvPr>
          <p:cNvSpPr/>
          <p:nvPr/>
        </p:nvSpPr>
        <p:spPr>
          <a:xfrm>
            <a:off x="3381574" y="2416629"/>
            <a:ext cx="2648160" cy="2239108"/>
          </a:xfrm>
          <a:prstGeom prst="rect">
            <a:avLst/>
          </a:prstGeom>
          <a:solidFill>
            <a:schemeClr val="accent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2A15400-CB58-556F-C921-EB67969AAA91}"/>
                  </a:ext>
                </a:extLst>
              </p:cNvPr>
              <p:cNvSpPr txBox="1"/>
              <p:nvPr/>
            </p:nvSpPr>
            <p:spPr>
              <a:xfrm>
                <a:off x="2990602" y="906682"/>
                <a:ext cx="5687292" cy="746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𝑁</m:t>
                                          </m:r>
                                        </m:e>
                                        <m:sup>
                                          <m:r>
                                            <a:rPr lang="en-US" b="0" i="1" smtClean="0">
                                              <a:latin typeface="Cambria Math" panose="02040503050406030204" pitchFamily="18" charset="0"/>
                                              <a:ea typeface="Cambria Math" panose="02040503050406030204" pitchFamily="18" charset="0"/>
                                            </a:rPr>
                                            <m:t>1</m:t>
                                          </m:r>
                                        </m:sup>
                                      </m:sSup>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p>
                                      <m:r>
                                        <a:rPr lang="en-US" b="0" i="1" smtClean="0">
                                          <a:latin typeface="Cambria Math" panose="02040503050406030204" pitchFamily="18" charset="0"/>
                                          <a:ea typeface="Cambria Math" panose="02040503050406030204" pitchFamily="18" charset="0"/>
                                        </a:rPr>
                                        <m:t>3/2</m:t>
                                      </m:r>
                                    </m:sup>
                                  </m:sSup>
                                </m:e>
                              </m:d>
                            </m:e>
                          </m:func>
                        </m:e>
                      </m:d>
                    </m:oMath>
                  </m:oMathPara>
                </a14:m>
                <a:endParaRPr lang="en-CN" dirty="0"/>
              </a:p>
            </p:txBody>
          </p:sp>
        </mc:Choice>
        <mc:Fallback xmlns="">
          <p:sp>
            <p:nvSpPr>
              <p:cNvPr id="2" name="TextBox 1">
                <a:extLst>
                  <a:ext uri="{FF2B5EF4-FFF2-40B4-BE49-F238E27FC236}">
                    <a16:creationId xmlns:a16="http://schemas.microsoft.com/office/drawing/2014/main" id="{F2A15400-CB58-556F-C921-EB67969AAA91}"/>
                  </a:ext>
                </a:extLst>
              </p:cNvPr>
              <p:cNvSpPr txBox="1">
                <a:spLocks noRot="1" noChangeAspect="1" noMove="1" noResize="1" noEditPoints="1" noAdjustHandles="1" noChangeArrowheads="1" noChangeShapeType="1" noTextEdit="1"/>
              </p:cNvSpPr>
              <p:nvPr/>
            </p:nvSpPr>
            <p:spPr>
              <a:xfrm>
                <a:off x="2990602" y="906682"/>
                <a:ext cx="5687292" cy="746679"/>
              </a:xfrm>
              <a:prstGeom prst="rect">
                <a:avLst/>
              </a:prstGeom>
              <a:blipFill>
                <a:blip r:embed="rId2"/>
                <a:stretch>
                  <a:fillRect b="-5000"/>
                </a:stretch>
              </a:blipFill>
            </p:spPr>
            <p:txBody>
              <a:bodyPr/>
              <a:lstStyle/>
              <a:p>
                <a:r>
                  <a:rPr lang="en-CN">
                    <a:noFill/>
                  </a:rPr>
                  <a:t> </a:t>
                </a:r>
              </a:p>
            </p:txBody>
          </p:sp>
        </mc:Fallback>
      </mc:AlternateContent>
    </p:spTree>
    <p:extLst>
      <p:ext uri="{BB962C8B-B14F-4D97-AF65-F5344CB8AC3E}">
        <p14:creationId xmlns:p14="http://schemas.microsoft.com/office/powerpoint/2010/main" val="902339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15372</TotalTime>
  <Words>3585</Words>
  <Application>Microsoft Macintosh PowerPoint</Application>
  <PresentationFormat>Widescreen</PresentationFormat>
  <Paragraphs>568</Paragraphs>
  <Slides>118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118</vt:i4>
      </vt:variant>
    </vt:vector>
  </HeadingPairs>
  <TitlesOfParts>
    <vt:vector size="124" baseType="lpstr">
      <vt:lpstr>FangSong</vt: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平均值</vt:lpstr>
      <vt:lpstr>相加性(additive)</vt:lpstr>
      <vt:lpstr>相加性</vt:lpstr>
      <vt:lpstr>PowerPoint Presentation</vt:lpstr>
      <vt:lpstr>PowerPoint Presentation</vt:lpstr>
      <vt:lpstr>PowerPoint Presentation</vt:lpstr>
      <vt:lpstr>PowerPoint Presentation</vt:lpstr>
      <vt:lpstr>PowerPoint Presentation</vt:lpstr>
      <vt:lpstr>能量均分定理The equipartition theorem</vt:lpstr>
      <vt:lpstr>能量均分定理The equipartition theorem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265</cp:revision>
  <dcterms:created xsi:type="dcterms:W3CDTF">2022-02-02T22:31:46Z</dcterms:created>
  <dcterms:modified xsi:type="dcterms:W3CDTF">2023-03-13T01:11:25Z</dcterms:modified>
</cp:coreProperties>
</file>