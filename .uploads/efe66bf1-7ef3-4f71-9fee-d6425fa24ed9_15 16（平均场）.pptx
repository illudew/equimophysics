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61" r:id="rId2"/>
    <p:sldId id="304" r:id="rId3"/>
    <p:sldId id="305" r:id="rId4"/>
    <p:sldId id="370" r:id="rId5"/>
    <p:sldId id="306" r:id="rId6"/>
    <p:sldId id="307" r:id="rId7"/>
    <p:sldId id="374" r:id="rId8"/>
    <p:sldId id="330" r:id="rId9"/>
    <p:sldId id="371" r:id="rId10"/>
    <p:sldId id="331" r:id="rId11"/>
    <p:sldId id="350" r:id="rId12"/>
    <p:sldId id="332" r:id="rId13"/>
    <p:sldId id="333" r:id="rId14"/>
    <p:sldId id="308" r:id="rId15"/>
    <p:sldId id="325" r:id="rId16"/>
    <p:sldId id="309" r:id="rId17"/>
    <p:sldId id="327" r:id="rId18"/>
    <p:sldId id="326" r:id="rId19"/>
    <p:sldId id="372" r:id="rId20"/>
    <p:sldId id="312" r:id="rId21"/>
    <p:sldId id="313" r:id="rId22"/>
    <p:sldId id="311" r:id="rId23"/>
    <p:sldId id="373" r:id="rId24"/>
    <p:sldId id="329" r:id="rId25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5"/>
    <p:restoredTop sz="94904"/>
  </p:normalViewPr>
  <p:slideViewPr>
    <p:cSldViewPr snapToGrid="0" snapToObjects="1">
      <p:cViewPr varScale="1">
        <p:scale>
          <a:sx n="120" d="100"/>
          <a:sy n="120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BF6CA-2EE5-C34B-8E39-4E5639E3213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F4F5D-9665-6B43-AF93-2092796C339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906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D7C1-D8EB-D547-BCEE-EC505565F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9B034-FF72-0842-A5AB-84F0A7107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5C968-918F-8641-AE02-594B5224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9C305-E85D-1548-A375-1DBDEDB5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3FDED-A1AE-D846-9147-0D1EE8B8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88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013E-BDF0-8C4A-B4ED-0D321223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ABE0F-0622-5C49-AEF9-031610282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F4ABA-C3F7-F04B-B87A-4A9D3D3B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897E-B07B-B441-BDAF-727D0E88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11B97-AE03-0E47-93A0-D14C3D94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825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83D1F-C55B-2F42-AE7E-78E4DC54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FFBC5-80CC-8C45-9404-C9556920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CD9-0063-224A-90B2-5B178A6F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CE81-9F37-BF4C-BDF3-A9FBC99E2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B8F5E-2051-1745-8C26-13E51097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867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5BE8-2906-8E4F-AF10-6C859962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7BC1-205D-ED44-902E-6DC52E37D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CF4BC-B5D9-7A46-9CA0-C1833531E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9A32F2-DC1B-494A-8AB9-039BCA54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77452-A3E3-4443-92ED-FF9D858C7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B1547-4E3B-B44B-81F0-9E977B3E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665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04FC-EB95-6042-A824-3928DD90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26F3F-BBDF-4748-B28F-F8C02C1F2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C1051-699C-4F4F-A964-DE4CCEF3B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D3799-BF1A-B544-92F3-A668C8479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BDBCE-CA7F-5143-91B1-42C71E89D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47ACE-B299-B447-AB9F-A7E598DB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A539D-7612-E848-999B-9D151DFE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C80D14-ED83-5545-8AE2-4469C820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053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444D-3A68-EB45-9015-DA6329C9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BB93C-F3ED-3F47-B452-7C28F2091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FAABE-D364-A94B-BEC5-9C8F70BD5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6D1B4-DA1C-F240-90A2-84B2A717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874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0083D-F5D5-C543-B61F-4094F539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DC8BC-428B-BB4D-8AEE-C6B272C6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B49BB-14D1-1849-B437-37A7A607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770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422E-2ECF-6E40-B192-F3102DB3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0A34-B607-1742-A5C9-F66E9CB59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185AD-9C29-CE46-8CE9-E6D8F6BB5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8B05E-F489-3841-AF6F-1A1FE3BB3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58E87-9859-F14A-B389-187843C2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2D493-6FBF-EA46-8CFB-E11E167F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7294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3968-37CC-B647-9F46-44E9F864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620B7A-6421-6346-BBFA-BD37AAC93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ED188-FEB7-E74E-B65D-281002E7A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B8C2D-F1DB-C34A-AD60-DF4B2FE5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817A2-AEE3-244B-8185-A484A6B8C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10CD3-341B-C348-B1D4-069400F9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386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C41A4-A3DA-9C44-A87F-54486381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37D03-3ABB-E94A-A564-7D516299F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5D3D3-9B3A-E34D-A7DB-07B8D9C0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226C-2D9F-3E4D-8439-D1417E4D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AA4E6-5819-4C43-8676-2EDC65D0B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77077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9D237-9FA6-7643-A46C-6BF452F3C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4148B-28D9-4E4F-98AA-281CE3B51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114E8-0490-9844-A6E6-A76C29C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F247-BB24-C14C-8BDC-3AEC6E2F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9EBDF-B685-F445-BD1C-7044BC30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762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E8360-99FB-314F-8FFC-5DFE1464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170A0-1BBB-7549-88EE-B708486E0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53904-8539-AE42-A677-9B45FCA67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0E28F-22DF-9E47-9EC9-E68F8BF2B40B}" type="datetimeFigureOut">
              <a:rPr lang="en-CN" smtClean="0"/>
              <a:t>2023/5/21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B817-6A9E-8D4B-93C6-69B4752E2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20E11-ECD6-A240-8C4D-4AA249F37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5E0B1-8A12-D049-82EE-CBBDFA3D59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2746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01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0.png"/><Relationship Id="rId4" Type="http://schemas.openxmlformats.org/officeDocument/2006/relationships/image" Target="../media/image2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B4EF1E6A-93E9-E142-9419-9B435DBC58F6}"/>
              </a:ext>
            </a:extLst>
          </p:cNvPr>
          <p:cNvSpPr txBox="1">
            <a:spLocks/>
          </p:cNvSpPr>
          <p:nvPr/>
        </p:nvSpPr>
        <p:spPr>
          <a:xfrm>
            <a:off x="256043" y="1824430"/>
            <a:ext cx="11797412" cy="2421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Mean Field Theory solution of the Ising model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F6D7691-9579-8243-A6CF-AE72C6A9E7AF}"/>
              </a:ext>
            </a:extLst>
          </p:cNvPr>
          <p:cNvSpPr txBox="1">
            <a:spLocks/>
          </p:cNvSpPr>
          <p:nvPr/>
        </p:nvSpPr>
        <p:spPr>
          <a:xfrm>
            <a:off x="3890629" y="100399"/>
            <a:ext cx="4410741" cy="906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热物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（第十五六周）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855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B6C77E-E62F-3479-A689-B0B05C901647}"/>
                  </a:ext>
                </a:extLst>
              </p:cNvPr>
              <p:cNvSpPr txBox="1"/>
              <p:nvPr/>
            </p:nvSpPr>
            <p:spPr>
              <a:xfrm>
                <a:off x="2352361" y="104142"/>
                <a:ext cx="7287491" cy="902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𝑖𝑗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2B6C77E-E62F-3479-A689-B0B05C90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361" y="104142"/>
                <a:ext cx="7287491" cy="902683"/>
              </a:xfrm>
              <a:prstGeom prst="rect">
                <a:avLst/>
              </a:prstGeom>
              <a:blipFill>
                <a:blip r:embed="rId2"/>
                <a:stretch>
                  <a:fillRect t="-91667" b="-14027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4F0E486-6D08-B11A-630A-71F0C25FE386}"/>
              </a:ext>
            </a:extLst>
          </p:cNvPr>
          <p:cNvSpPr txBox="1"/>
          <p:nvPr/>
        </p:nvSpPr>
        <p:spPr>
          <a:xfrm>
            <a:off x="401781" y="1006825"/>
            <a:ext cx="4932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  <a:r>
              <a:rPr lang="en-CN" sz="2000" b="1" dirty="0"/>
              <a:t>ecoupling the Hamiltonian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C484E0-E497-6826-668F-18654D35ECF5}"/>
                  </a:ext>
                </a:extLst>
              </p:cNvPr>
              <p:cNvSpPr txBox="1"/>
              <p:nvPr/>
            </p:nvSpPr>
            <p:spPr>
              <a:xfrm>
                <a:off x="1460885" y="1536671"/>
                <a:ext cx="9989127" cy="48790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把spin分成两部分形式(</a:t>
                </a:r>
                <a:r>
                  <a:rPr lang="en-US" dirty="0" err="1">
                    <a:latin typeface="FangSong" panose="02010609060101010101" pitchFamily="49" charset="-122"/>
                    <a:ea typeface="FangSong" panose="02010609060101010101" pitchFamily="49" charset="-122"/>
                  </a:rPr>
                  <a:t>平均值及其涨落</a:t>
                </a:r>
                <a:r>
                  <a:rPr 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dirty="0"/>
                  <a:t>,  where   </a:t>
                </a:r>
                <a14:m>
                  <m:oMath xmlns:m="http://schemas.openxmlformats.org/officeDocument/2006/math"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相互作用项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+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假设涨落很小</a:t>
                </a:r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，忽略涨落的二次项，则</a:t>
                </a:r>
                <a:endParaRPr lang="en-US" altLang="zh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N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≈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US" dirty="0"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假设</a:t>
                </a: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每一个site处的自旋平均值一样</a:t>
                </a:r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（平移不变），定义</a:t>
                </a:r>
                <a:endParaRPr lang="en-US" altLang="zh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CN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N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相互作用项可以进一步写成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𝑗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m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于是上面的Hamiltonian可以近似写成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𝑀𝐹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𝐽𝑚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⟨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𝑖𝑗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FangSong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FangSong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FangSong" panose="02010609060101010101" pitchFamily="49" charset="-122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FangSong" panose="02010609060101010101" pitchFamily="49" charset="-122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FangSong" panose="02010609060101010101" pitchFamily="49" charset="-122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FangSong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FangSong" panose="02010609060101010101" pitchFamily="49" charset="-122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FangSong" panose="02010609060101010101" pitchFamily="49" charset="-122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𝑚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由于只是邻居间相互作用</a:t>
                </a:r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𝑖𝑗</m:t>
                            </m:r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naryPr>
                          <m:sub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𝑖𝑗</m:t>
                                </m:r>
                              </m:e>
                            </m:d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，那么</a:t>
                </a:r>
                <a:r>
                  <a:rPr lang="en-US" altLang="zh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Hamiltonian</a:t>
                </a:r>
                <a:r>
                  <a:rPr lang="zh-CN" altLang="en-US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可写成</a:t>
                </a:r>
                <a:endParaRPr lang="en-US" altLang="zh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N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𝑀𝐹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𝐽𝑚</m:t>
                    </m:r>
                    <m:r>
                      <a:rPr lang="en-US" i="1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naryPr>
                      <m:sub>
                        <m:d>
                          <m:dPr>
                            <m:begChr m:val="⟨"/>
                            <m:endChr m:val="⟩"/>
                            <m:ctrlPr>
                              <a:rPr lang="en-US" i="1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𝑖𝑗</m:t>
                            </m:r>
                          </m:e>
                        </m:d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FangSong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FangSong" panose="02010609060101010101" pitchFamily="49" charset="-122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FangSong" panose="02010609060101010101" pitchFamily="49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FangSong" panose="02010609060101010101" pitchFamily="49" charset="-122"/>
                                  </a:rPr>
                                  <m:t>𝑚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−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3C484E0-E497-6826-668F-18654D35E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885" y="1536671"/>
                <a:ext cx="9989127" cy="4879093"/>
              </a:xfrm>
              <a:prstGeom prst="rect">
                <a:avLst/>
              </a:prstGeom>
              <a:blipFill>
                <a:blip r:embed="rId3"/>
                <a:stretch>
                  <a:fillRect l="-508" t="-260" b="-1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55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236767-3848-4A66-113E-E3F31E46F4ED}"/>
                  </a:ext>
                </a:extLst>
              </p:cNvPr>
              <p:cNvSpPr txBox="1"/>
              <p:nvPr/>
            </p:nvSpPr>
            <p:spPr>
              <a:xfrm>
                <a:off x="969818" y="498764"/>
                <a:ext cx="10266218" cy="5224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关于求和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CN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CN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𝑖𝑗</m:t>
                              </m:r>
                            </m:e>
                          </m:d>
                        </m:sub>
                        <m:sup/>
                        <m:e/>
                      </m:nary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/>
                            <m:e/>
                          </m:nary>
                        </m:e>
                      </m:nary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  where the factor ½ is to avoid double counting pairs of sites and nn(i) denotes </a:t>
                </a:r>
                <a:r>
                  <a:rPr lang="en-CN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nearest neighbors of i</a:t>
                </a: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CN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𝑛𝑛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𝑞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邻居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数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)</m:t>
                    </m:r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Ising Hamiltonian further simplifies to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𝑞𝐽𝑚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𝑚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𝑞𝐽𝑚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𝑒𝑓𝑓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Particles no longer interact with each other in this approximation, but rather interact only with an effective magnetic field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𝑒𝑓𝑓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FangSong" panose="02010609060101010101" pitchFamily="49" charset="-122"/>
                      </a:rPr>
                      <m:t> </m:t>
                    </m:r>
                  </m:oMath>
                </a14:m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that is comprised of the external field h and </a:t>
                </a:r>
                <a:r>
                  <a:rPr lang="en-CN" dirty="0">
                    <a:solidFill>
                      <a:srgbClr val="FF0000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</a:rPr>
                  <a:t>the mean field qJm </a:t>
                </a: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induced by neighbouring particles.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236767-3848-4A66-113E-E3F31E46F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18" y="498764"/>
                <a:ext cx="10266218" cy="5224700"/>
              </a:xfrm>
              <a:prstGeom prst="rect">
                <a:avLst/>
              </a:prstGeom>
              <a:blipFill>
                <a:blip r:embed="rId2"/>
                <a:stretch>
                  <a:fillRect l="-494" t="-10922" r="-494" b="-873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A8CDA98-759C-4D4D-4F8A-35B4E89D2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605" y="0"/>
            <a:ext cx="2494395" cy="149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6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5DEF588-9776-16DC-BA88-601817F8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73" y="291260"/>
            <a:ext cx="9910074" cy="44833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79AEA1-40B3-AECE-F58F-5C028E4A89F3}"/>
              </a:ext>
            </a:extLst>
          </p:cNvPr>
          <p:cNvSpPr txBox="1"/>
          <p:nvPr/>
        </p:nvSpPr>
        <p:spPr>
          <a:xfrm>
            <a:off x="850035" y="5294299"/>
            <a:ext cx="10491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400" dirty="0"/>
              <a:t>Reduce many-body problem into an effective one-body problem!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Applied to a wide range of fields outside of physics…(</a:t>
            </a:r>
            <a:r>
              <a:rPr lang="en-US" sz="2400" dirty="0">
                <a:solidFill>
                  <a:srgbClr val="FF0000"/>
                </a:solidFill>
              </a:rPr>
              <a:t>Mean-field game theory</a:t>
            </a:r>
            <a:r>
              <a:rPr lang="en-US" sz="2400" dirty="0"/>
              <a:t>)</a:t>
            </a:r>
            <a:endParaRPr lang="en-CN" sz="2400" dirty="0"/>
          </a:p>
        </p:txBody>
      </p:sp>
    </p:spTree>
    <p:extLst>
      <p:ext uri="{BB962C8B-B14F-4D97-AF65-F5344CB8AC3E}">
        <p14:creationId xmlns:p14="http://schemas.microsoft.com/office/powerpoint/2010/main" val="2666679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0FBEEF-0287-B4B4-558A-6AE364C486D2}"/>
              </a:ext>
            </a:extLst>
          </p:cNvPr>
          <p:cNvSpPr txBox="1"/>
          <p:nvPr/>
        </p:nvSpPr>
        <p:spPr>
          <a:xfrm>
            <a:off x="235527" y="203262"/>
            <a:ext cx="4932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Self-consistency equation</a:t>
            </a:r>
            <a:endParaRPr lang="en-C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66CC82-7378-30A5-667F-14E5145373E9}"/>
                  </a:ext>
                </a:extLst>
              </p:cNvPr>
              <p:cNvSpPr txBox="1"/>
              <p:nvPr/>
            </p:nvSpPr>
            <p:spPr>
              <a:xfrm>
                <a:off x="983672" y="603372"/>
                <a:ext cx="10557164" cy="615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Partition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±1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𝑀𝐹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±1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nary>
                        <m:naryPr>
                          <m:chr m:val="∏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平均值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𝑀𝐹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𝑀𝐹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𝑀𝐹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𝑀𝐹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𝑒𝑓𝑓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𝜕</m:t>
                          </m:r>
                          <m:func>
                            <m:func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𝑀𝐹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𝑒𝑓𝑓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FangSong" panose="02010609060101010101" pitchFamily="49" charset="-122"/>
                              </a:rPr>
                              <m:t>𝑀𝐹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FangSong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𝑁𝑞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cosh</m:t>
                                    </m:r>
                                  </m:fName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𝑒𝑓𝑓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So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𝜕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𝑀𝐹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𝑒𝑓𝑓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N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The consistency equation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𝑞𝐽𝑚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CN" dirty="0">
                  <a:latin typeface="FangSong" panose="02010609060101010101" pitchFamily="49" charset="-122"/>
                  <a:ea typeface="FangSong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66CC82-7378-30A5-667F-14E514537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2" y="603372"/>
                <a:ext cx="10557164" cy="6150979"/>
              </a:xfrm>
              <a:prstGeom prst="rect">
                <a:avLst/>
              </a:prstGeom>
              <a:blipFill>
                <a:blip r:embed="rId2"/>
                <a:stretch>
                  <a:fillRect l="-361" t="-8454" b="-20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0555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73F1F5-3EF1-B379-95FC-2A16A3612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46" y="62345"/>
            <a:ext cx="5092598" cy="67333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4E5305-9E08-C071-4A07-0E1CC3E06C79}"/>
                  </a:ext>
                </a:extLst>
              </p:cNvPr>
              <p:cNvSpPr txBox="1"/>
              <p:nvPr/>
            </p:nvSpPr>
            <p:spPr>
              <a:xfrm>
                <a:off x="6214636" y="806424"/>
                <a:ext cx="5209309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殊途同归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𝑞𝐽</m:t>
                    </m:r>
                  </m:oMath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It should be noted that for the 1D case, MFT thus predict a phase transition at 2J; however, solving this system exactly we find that there is in fact no phase transition in 1D. </a:t>
                </a:r>
                <a:r>
                  <a:rPr lang="en-CN" dirty="0">
                    <a:solidFill>
                      <a:srgbClr val="FF0000"/>
                    </a:solidFill>
                  </a:rPr>
                  <a:t>Thermal fluctuations turn out to be strong enough </a:t>
                </a:r>
                <a:r>
                  <a:rPr lang="en-CN" dirty="0"/>
                  <a:t>to destroy the system’s magnetic ordering in 1D, so </a:t>
                </a:r>
                <a:r>
                  <a:rPr lang="en-CN" dirty="0">
                    <a:solidFill>
                      <a:srgbClr val="FF0000"/>
                    </a:solidFill>
                  </a:rPr>
                  <a:t>MFT provides a qualitatively incorrect result in this specific case</a:t>
                </a:r>
                <a:r>
                  <a:rPr lang="en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For 2D square lattice, MFT predicts </a:t>
                </a:r>
                <a:r>
                  <a:rPr lang="en-CN" dirty="0">
                    <a:solidFill>
                      <a:srgbClr val="FF0000"/>
                    </a:solidFill>
                  </a:rPr>
                  <a:t>4J</a:t>
                </a:r>
                <a:r>
                  <a:rPr lang="en-CN" dirty="0"/>
                  <a:t>, whereas solving the system exactly we find that the critical temperature is about </a:t>
                </a:r>
                <a:r>
                  <a:rPr lang="en-CN" dirty="0">
                    <a:solidFill>
                      <a:srgbClr val="FF0000"/>
                    </a:solidFill>
                  </a:rPr>
                  <a:t>2.27J</a:t>
                </a:r>
                <a:r>
                  <a:rPr lang="en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>
                    <a:solidFill>
                      <a:srgbClr val="FF0000"/>
                    </a:solidFill>
                  </a:rPr>
                  <a:t>MFT is more accurate in higher dimensions.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4E5305-9E08-C071-4A07-0E1CC3E06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636" y="806424"/>
                <a:ext cx="5209309" cy="3693319"/>
              </a:xfrm>
              <a:prstGeom prst="rect">
                <a:avLst/>
              </a:prstGeom>
              <a:blipFill>
                <a:blip r:embed="rId3"/>
                <a:stretch>
                  <a:fillRect l="-730" t="-685" b="-171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294C3BC-161A-348B-9F4C-FCD986366B6F}"/>
              </a:ext>
            </a:extLst>
          </p:cNvPr>
          <p:cNvSpPr txBox="1"/>
          <p:nvPr/>
        </p:nvSpPr>
        <p:spPr>
          <a:xfrm>
            <a:off x="6677891" y="62345"/>
            <a:ext cx="509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solidFill>
                  <a:srgbClr val="7030A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外场为零情况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75726-68FB-6A6F-3457-4432B63F0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171" y="4962758"/>
            <a:ext cx="5794935" cy="108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6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1981A9-CF28-3CE9-0AC2-A4799E51980F}"/>
              </a:ext>
            </a:extLst>
          </p:cNvPr>
          <p:cNvSpPr txBox="1"/>
          <p:nvPr/>
        </p:nvSpPr>
        <p:spPr>
          <a:xfrm>
            <a:off x="683879" y="338097"/>
            <a:ext cx="394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随堂测试</a:t>
            </a:r>
            <a:r>
              <a:rPr lang="zh-CN" altLang="en-US" dirty="0"/>
              <a:t>（</a:t>
            </a:r>
            <a:r>
              <a:rPr lang="en-US" altLang="zh-CN" dirty="0"/>
              <a:t>10</a:t>
            </a:r>
            <a:r>
              <a:rPr lang="zh-CN" altLang="en-US" dirty="0"/>
              <a:t>分钟）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9A382E-433E-6BEC-116A-87A587D92139}"/>
                  </a:ext>
                </a:extLst>
              </p:cNvPr>
              <p:cNvSpPr txBox="1"/>
              <p:nvPr/>
            </p:nvSpPr>
            <p:spPr>
              <a:xfrm>
                <a:off x="2267835" y="794424"/>
                <a:ext cx="7287491" cy="902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𝑖𝑗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N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𝐷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9A382E-433E-6BEC-116A-87A587D92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835" y="794424"/>
                <a:ext cx="7287491" cy="902683"/>
              </a:xfrm>
              <a:prstGeom prst="rect">
                <a:avLst/>
              </a:prstGeom>
              <a:blipFill>
                <a:blip r:embed="rId2"/>
                <a:stretch>
                  <a:fillRect t="-90278" b="-141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643BB71-C304-EE9B-78A9-00B8B28D7BB9}"/>
              </a:ext>
            </a:extLst>
          </p:cNvPr>
          <p:cNvSpPr txBox="1"/>
          <p:nvPr/>
        </p:nvSpPr>
        <p:spPr>
          <a:xfrm>
            <a:off x="814508" y="1967113"/>
            <a:ext cx="1032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修改Hamiltonian如上</a:t>
            </a:r>
            <a:r>
              <a:rPr lang="zh-CN" altLang="en-US" dirty="0"/>
              <a:t>，请给出平均场理论下的有效</a:t>
            </a:r>
            <a:r>
              <a:rPr lang="en-US" altLang="zh-CN" dirty="0"/>
              <a:t>Hamiltonian</a:t>
            </a:r>
            <a:r>
              <a:rPr lang="zh-CN" altLang="en-US" dirty="0"/>
              <a:t>，并给出平均自旋的自洽方程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08703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0EDF1-ECA4-DE3D-9570-FB2BB1F0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45" y="0"/>
            <a:ext cx="7680614" cy="2268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3644E-439C-A3B3-CDDD-3C30632476C3}"/>
              </a:ext>
            </a:extLst>
          </p:cNvPr>
          <p:cNvSpPr txBox="1"/>
          <p:nvPr/>
        </p:nvSpPr>
        <p:spPr>
          <a:xfrm>
            <a:off x="457200" y="817418"/>
            <a:ext cx="329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回答上次课一个遗留问题</a:t>
            </a:r>
          </a:p>
        </p:txBody>
      </p:sp>
    </p:spTree>
    <p:extLst>
      <p:ext uri="{BB962C8B-B14F-4D97-AF65-F5344CB8AC3E}">
        <p14:creationId xmlns:p14="http://schemas.microsoft.com/office/powerpoint/2010/main" val="2311945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0EDF1-ECA4-DE3D-9570-FB2BB1F0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45" y="0"/>
            <a:ext cx="7680614" cy="2268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3644E-439C-A3B3-CDDD-3C30632476C3}"/>
              </a:ext>
            </a:extLst>
          </p:cNvPr>
          <p:cNvSpPr txBox="1"/>
          <p:nvPr/>
        </p:nvSpPr>
        <p:spPr>
          <a:xfrm>
            <a:off x="457200" y="817418"/>
            <a:ext cx="329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回答上次课一个遗留问题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EAB17C-1B3A-7248-C1CE-658CBDCFEF07}"/>
              </a:ext>
            </a:extLst>
          </p:cNvPr>
          <p:cNvSpPr txBox="1"/>
          <p:nvPr/>
        </p:nvSpPr>
        <p:spPr>
          <a:xfrm>
            <a:off x="2507673" y="3574473"/>
            <a:ext cx="7509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判据一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：</a:t>
            </a:r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自由能极小</a:t>
            </a:r>
          </a:p>
        </p:txBody>
      </p:sp>
    </p:spTree>
    <p:extLst>
      <p:ext uri="{BB962C8B-B14F-4D97-AF65-F5344CB8AC3E}">
        <p14:creationId xmlns:p14="http://schemas.microsoft.com/office/powerpoint/2010/main" val="2242324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E2F59-1508-1E48-B3A2-C727AE15025E}"/>
                  </a:ext>
                </a:extLst>
              </p:cNvPr>
              <p:cNvSpPr txBox="1"/>
              <p:nvPr/>
            </p:nvSpPr>
            <p:spPr>
              <a:xfrm>
                <a:off x="3048000" y="147924"/>
                <a:ext cx="6096000" cy="466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E2F59-1508-1E48-B3A2-C727AE150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7924"/>
                <a:ext cx="6096000" cy="466153"/>
              </a:xfrm>
              <a:prstGeom prst="rect">
                <a:avLst/>
              </a:prstGeom>
              <a:blipFill>
                <a:blip r:embed="rId2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CFF61438-5D5F-721D-762C-EE806B6469FD}"/>
              </a:ext>
            </a:extLst>
          </p:cNvPr>
          <p:cNvSpPr/>
          <p:nvPr/>
        </p:nvSpPr>
        <p:spPr>
          <a:xfrm>
            <a:off x="5777345" y="748145"/>
            <a:ext cx="318655" cy="46615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39C0D-4E5D-D0AD-B743-00B0D42DEDA6}"/>
                  </a:ext>
                </a:extLst>
              </p:cNvPr>
              <p:cNvSpPr txBox="1"/>
              <p:nvPr/>
            </p:nvSpPr>
            <p:spPr>
              <a:xfrm>
                <a:off x="1052944" y="1045442"/>
                <a:ext cx="6234545" cy="1518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𝑁𝑞𝐽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39C0D-4E5D-D0AD-B743-00B0D42D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944" y="1045442"/>
                <a:ext cx="6234545" cy="15181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E68BA39-8B94-ACCF-EF31-221208705BA4}"/>
              </a:ext>
            </a:extLst>
          </p:cNvPr>
          <p:cNvSpPr txBox="1"/>
          <p:nvPr/>
        </p:nvSpPr>
        <p:spPr>
          <a:xfrm>
            <a:off x="235527" y="203262"/>
            <a:ext cx="4932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Free Energy</a:t>
            </a:r>
            <a:endParaRPr lang="en-CN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D31C71-87A2-1E9F-A0D3-791EC2458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636" y="2720169"/>
            <a:ext cx="5938116" cy="39345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A5B612-2204-5D51-0297-52F79AB8DB32}"/>
                  </a:ext>
                </a:extLst>
              </p:cNvPr>
              <p:cNvSpPr txBox="1"/>
              <p:nvPr/>
            </p:nvSpPr>
            <p:spPr>
              <a:xfrm>
                <a:off x="235527" y="2772022"/>
                <a:ext cx="2466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CN" dirty="0"/>
                  <a:t>=0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A5B612-2204-5D51-0297-52F79AB8D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27" y="2772022"/>
                <a:ext cx="2466109" cy="369332"/>
              </a:xfrm>
              <a:prstGeom prst="rect">
                <a:avLst/>
              </a:prstGeom>
              <a:blipFill>
                <a:blip r:embed="rId5"/>
                <a:stretch>
                  <a:fillRect l="-513" t="-6667" b="-2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04F73B-571A-86C1-68E7-EE444048FE3E}"/>
                  </a:ext>
                </a:extLst>
              </p:cNvPr>
              <p:cNvSpPr txBox="1"/>
              <p:nvPr/>
            </p:nvSpPr>
            <p:spPr>
              <a:xfrm>
                <a:off x="9144000" y="5481725"/>
                <a:ext cx="2914939" cy="1450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Consistent equation for m</a:t>
                </a:r>
              </a:p>
              <a:p>
                <a:r>
                  <a:rPr lang="en-US" dirty="0" err="1"/>
                  <a:t>见mathematica文件</a:t>
                </a:r>
                <a:endParaRPr lang="en-US" b="0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04F73B-571A-86C1-68E7-EE444048F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0" y="5481725"/>
                <a:ext cx="2914939" cy="1450012"/>
              </a:xfrm>
              <a:prstGeom prst="rect">
                <a:avLst/>
              </a:prstGeom>
              <a:blipFill>
                <a:blip r:embed="rId6"/>
                <a:stretch>
                  <a:fillRect l="-173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09ED866-FF96-3B1B-7FE4-F73515368D8D}"/>
              </a:ext>
            </a:extLst>
          </p:cNvPr>
          <p:cNvSpPr txBox="1"/>
          <p:nvPr/>
        </p:nvSpPr>
        <p:spPr>
          <a:xfrm>
            <a:off x="7841673" y="6206836"/>
            <a:ext cx="4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7BD93-24C8-00AD-3E8D-12E87D59F959}"/>
              </a:ext>
            </a:extLst>
          </p:cNvPr>
          <p:cNvSpPr txBox="1"/>
          <p:nvPr/>
        </p:nvSpPr>
        <p:spPr>
          <a:xfrm>
            <a:off x="9545782" y="959494"/>
            <a:ext cx="1926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在特定的m解下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F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固定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我们可以比较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F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的大小来确定哪个解代表的真实的解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为了方便，假设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m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可变，从而可以画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F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随着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m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的变化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从而更为形象</a:t>
            </a:r>
            <a:endParaRPr lang="en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33246C1-E3FD-13F3-633B-45690F29F71B}"/>
              </a:ext>
            </a:extLst>
          </p:cNvPr>
          <p:cNvSpPr/>
          <p:nvPr/>
        </p:nvSpPr>
        <p:spPr>
          <a:xfrm>
            <a:off x="10459460" y="4470458"/>
            <a:ext cx="284018" cy="6396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1974E9-3631-7183-1495-18DD29344720}"/>
              </a:ext>
            </a:extLst>
          </p:cNvPr>
          <p:cNvSpPr txBox="1"/>
          <p:nvPr/>
        </p:nvSpPr>
        <p:spPr>
          <a:xfrm>
            <a:off x="345781" y="3429000"/>
            <a:ext cx="2120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见mathematica文件</a:t>
            </a:r>
            <a:r>
              <a:rPr lang="zh-CN" altLang="en-US" dirty="0"/>
              <a:t> </a:t>
            </a:r>
            <a:r>
              <a:rPr lang="en-US" altLang="zh-CN" dirty="0" err="1"/>
              <a:t>FreeEnergy.nb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29795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39C0D-4E5D-D0AD-B743-00B0D42DEDA6}"/>
                  </a:ext>
                </a:extLst>
              </p:cNvPr>
              <p:cNvSpPr txBox="1"/>
              <p:nvPr/>
            </p:nvSpPr>
            <p:spPr>
              <a:xfrm>
                <a:off x="3089562" y="281832"/>
                <a:ext cx="6234545" cy="1518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𝑁𝑞𝐽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cosh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39C0D-4E5D-D0AD-B743-00B0D42D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562" y="281832"/>
                <a:ext cx="6234545" cy="1518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04F73B-571A-86C1-68E7-EE444048FE3E}"/>
                  </a:ext>
                </a:extLst>
              </p:cNvPr>
              <p:cNvSpPr txBox="1"/>
              <p:nvPr/>
            </p:nvSpPr>
            <p:spPr>
              <a:xfrm>
                <a:off x="4538807" y="2842493"/>
                <a:ext cx="2914939" cy="1173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Consistent equation for m</a:t>
                </a:r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704F73B-571A-86C1-68E7-EE444048F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807" y="2842493"/>
                <a:ext cx="2914939" cy="1173013"/>
              </a:xfrm>
              <a:prstGeom prst="rect">
                <a:avLst/>
              </a:prstGeom>
              <a:blipFill>
                <a:blip r:embed="rId3"/>
                <a:stretch>
                  <a:fillRect l="-173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own Arrow 10">
            <a:extLst>
              <a:ext uri="{FF2B5EF4-FFF2-40B4-BE49-F238E27FC236}">
                <a16:creationId xmlns:a16="http://schemas.microsoft.com/office/drawing/2014/main" id="{033246C1-E3FD-13F3-633B-45690F29F71B}"/>
              </a:ext>
            </a:extLst>
          </p:cNvPr>
          <p:cNvSpPr/>
          <p:nvPr/>
        </p:nvSpPr>
        <p:spPr>
          <a:xfrm>
            <a:off x="5854267" y="1900777"/>
            <a:ext cx="284018" cy="6396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55A6E7-937F-403A-8BC7-969153F15A4E}"/>
                  </a:ext>
                </a:extLst>
              </p:cNvPr>
              <p:cNvSpPr txBox="1"/>
              <p:nvPr/>
            </p:nvSpPr>
            <p:spPr>
              <a:xfrm>
                <a:off x="4204854" y="4856804"/>
                <a:ext cx="3782291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𝑀𝐹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𝑀𝐹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55A6E7-937F-403A-8BC7-969153F15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4854" y="4856804"/>
                <a:ext cx="3782291" cy="871264"/>
              </a:xfrm>
              <a:prstGeom prst="rect">
                <a:avLst/>
              </a:prstGeom>
              <a:blipFill>
                <a:blip r:embed="rId4"/>
                <a:stretch>
                  <a:fillRect t="-94286" b="-14857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Up Arrow 1">
            <a:extLst>
              <a:ext uri="{FF2B5EF4-FFF2-40B4-BE49-F238E27FC236}">
                <a16:creationId xmlns:a16="http://schemas.microsoft.com/office/drawing/2014/main" id="{1CA99DD2-8E21-3470-0E9A-4AF54E3E1783}"/>
              </a:ext>
            </a:extLst>
          </p:cNvPr>
          <p:cNvSpPr/>
          <p:nvPr/>
        </p:nvSpPr>
        <p:spPr>
          <a:xfrm>
            <a:off x="5854267" y="3854027"/>
            <a:ext cx="350106" cy="9482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2914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94C3BC-161A-348B-9F4C-FCD986366B6F}"/>
              </a:ext>
            </a:extLst>
          </p:cNvPr>
          <p:cNvSpPr txBox="1"/>
          <p:nvPr/>
        </p:nvSpPr>
        <p:spPr>
          <a:xfrm>
            <a:off x="9809018" y="131617"/>
            <a:ext cx="1856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solidFill>
                  <a:srgbClr val="7030A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外场不为零情况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130868-AEAF-40E9-4AA7-BB9233C0E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527" y="1035628"/>
            <a:ext cx="4572000" cy="283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2FC0F6-CF8B-DCE4-931D-E02B9350C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73" y="924788"/>
            <a:ext cx="4546600" cy="281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FF65F-A32C-C29E-DAA8-F251D1A0B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906" y="4178299"/>
            <a:ext cx="3228224" cy="21174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205898-6E45-20C5-F786-7FC68FE39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644" y="4207062"/>
            <a:ext cx="3792104" cy="24478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474DE0D-11FB-0F65-D558-220C6DF16DE6}"/>
              </a:ext>
            </a:extLst>
          </p:cNvPr>
          <p:cNvSpPr txBox="1"/>
          <p:nvPr/>
        </p:nvSpPr>
        <p:spPr>
          <a:xfrm>
            <a:off x="357389" y="139353"/>
            <a:ext cx="868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solidFill>
                  <a:srgbClr val="7030A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外场为零情况</a:t>
            </a:r>
            <a:r>
              <a:rPr lang="zh-CN" altLang="en-US" b="1" dirty="0">
                <a:solidFill>
                  <a:srgbClr val="7030A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                          </a:t>
            </a:r>
            <a:r>
              <a:rPr lang="en-CN" b="1" dirty="0">
                <a:solidFill>
                  <a:srgbClr val="7030A0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(见Mathematica文件)</a:t>
            </a:r>
          </a:p>
        </p:txBody>
      </p:sp>
      <p:sp>
        <p:nvSpPr>
          <p:cNvPr id="16" name="Left-Right Arrow 15">
            <a:extLst>
              <a:ext uri="{FF2B5EF4-FFF2-40B4-BE49-F238E27FC236}">
                <a16:creationId xmlns:a16="http://schemas.microsoft.com/office/drawing/2014/main" id="{1ED6E528-F7D7-8B7C-5429-E1FD8780C3C5}"/>
              </a:ext>
            </a:extLst>
          </p:cNvPr>
          <p:cNvSpPr/>
          <p:nvPr/>
        </p:nvSpPr>
        <p:spPr>
          <a:xfrm>
            <a:off x="5624945" y="2334488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19E47E26-4AC2-64CF-0E04-4CD11979E43A}"/>
              </a:ext>
            </a:extLst>
          </p:cNvPr>
          <p:cNvSpPr/>
          <p:nvPr/>
        </p:nvSpPr>
        <p:spPr>
          <a:xfrm>
            <a:off x="5624945" y="5181457"/>
            <a:ext cx="1216152" cy="48463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02262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0EDF1-ECA4-DE3D-9570-FB2BB1F0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45" y="0"/>
            <a:ext cx="7680614" cy="2268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3644E-439C-A3B3-CDDD-3C30632476C3}"/>
              </a:ext>
            </a:extLst>
          </p:cNvPr>
          <p:cNvSpPr txBox="1"/>
          <p:nvPr/>
        </p:nvSpPr>
        <p:spPr>
          <a:xfrm>
            <a:off x="457200" y="817418"/>
            <a:ext cx="329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回答上次课一个遗留问题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EAB17C-1B3A-7248-C1CE-658CBDCFEF07}"/>
              </a:ext>
            </a:extLst>
          </p:cNvPr>
          <p:cNvSpPr txBox="1"/>
          <p:nvPr/>
        </p:nvSpPr>
        <p:spPr>
          <a:xfrm>
            <a:off x="2507673" y="3574473"/>
            <a:ext cx="7509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判据二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：</a:t>
            </a:r>
            <a:r>
              <a:rPr lang="zh-CN" alt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磁化率</a:t>
            </a:r>
            <a:endParaRPr lang="en-CN" sz="4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0595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18170B-6D5A-05B4-BEA2-7E8D42B47403}"/>
              </a:ext>
            </a:extLst>
          </p:cNvPr>
          <p:cNvSpPr txBox="1"/>
          <p:nvPr/>
        </p:nvSpPr>
        <p:spPr>
          <a:xfrm>
            <a:off x="235527" y="203262"/>
            <a:ext cx="4932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Critical behavior at zero field</a:t>
            </a:r>
            <a:endParaRPr lang="en-CN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3B9F6-599D-E60E-C077-733186A074E9}"/>
                  </a:ext>
                </a:extLst>
              </p:cNvPr>
              <p:cNvSpPr txBox="1"/>
              <p:nvPr/>
            </p:nvSpPr>
            <p:spPr>
              <a:xfrm>
                <a:off x="789709" y="886691"/>
                <a:ext cx="10723418" cy="50643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Define </a:t>
                </a:r>
                <a:r>
                  <a:rPr lang="en-CN" dirty="0">
                    <a:solidFill>
                      <a:srgbClr val="FF0000"/>
                    </a:solidFill>
                  </a:rPr>
                  <a:t>a reduced temperature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</a:t>
                </a:r>
                <a:r>
                  <a:rPr lang="en-CN" dirty="0"/>
                  <a:t>hen </a:t>
                </a:r>
                <a14:m>
                  <m:oMath xmlns:m="http://schemas.openxmlformats.org/officeDocument/2006/math">
                    <m:r>
                      <a:rPr lang="en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CN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CN" dirty="0"/>
                  <a:t>, Using the expansion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func>
                    </m:oMath>
                  </m:oMathPara>
                </a14:m>
                <a:endParaRPr lang="en-CN" dirty="0"/>
              </a:p>
              <a:p>
                <a:r>
                  <a:rPr lang="en-US" dirty="0"/>
                  <a:t>around x=0, we can rewrite the equation for h=0 around m=0 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</a:t>
                </a:r>
                <a:r>
                  <a:rPr lang="en-CN" dirty="0"/>
                  <a:t>olution: m=0 and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rad>
                    </m:oMath>
                  </m:oMathPara>
                </a14:m>
                <a:endParaRPr lang="en-CN" dirty="0"/>
              </a:p>
              <a:p>
                <a:pPr algn="ctr"/>
                <a:r>
                  <a:rPr lang="en-CN" dirty="0"/>
                  <a:t>(</a:t>
                </a:r>
                <a:r>
                  <a:rPr lang="en-CN" dirty="0">
                    <a:solidFill>
                      <a:srgbClr val="FF0000"/>
                    </a:solidFill>
                  </a:rPr>
                  <a:t>we have to keep in mind that this expression only applies whenever m is very close to 0, meaning that we are looking only at the region below the critical temperature but very close to</a:t>
                </a:r>
                <a:r>
                  <a:rPr lang="en-CN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In terms of the reduced temperature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≈±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rad>
                    </m:oMath>
                  </m:oMathPara>
                </a14:m>
                <a:endParaRPr lang="en-CN" dirty="0">
                  <a:solidFill>
                    <a:srgbClr val="C0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In the zero temperature limit,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endParaRPr lang="en-CN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C3B9F6-599D-E60E-C077-733186A0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09" y="886691"/>
                <a:ext cx="10723418" cy="5064335"/>
              </a:xfrm>
              <a:prstGeom prst="rect">
                <a:avLst/>
              </a:prstGeom>
              <a:blipFill>
                <a:blip r:embed="rId2"/>
                <a:stretch>
                  <a:fillRect l="-473" t="-500" b="-1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E343BA-3BAD-0510-48CD-63AF15AF3EE4}"/>
                  </a:ext>
                </a:extLst>
              </p:cNvPr>
              <p:cNvSpPr txBox="1"/>
              <p:nvPr/>
            </p:nvSpPr>
            <p:spPr>
              <a:xfrm>
                <a:off x="8212428" y="171534"/>
                <a:ext cx="3744045" cy="562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tanh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𝑚</m:t>
                          </m:r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9E343BA-3BAD-0510-48CD-63AF15AF3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428" y="171534"/>
                <a:ext cx="3744045" cy="562975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098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067687-A413-1E40-D065-20829BC0850B}"/>
                  </a:ext>
                </a:extLst>
              </p:cNvPr>
              <p:cNvSpPr txBox="1"/>
              <p:nvPr/>
            </p:nvSpPr>
            <p:spPr>
              <a:xfrm>
                <a:off x="748145" y="498764"/>
                <a:ext cx="10280073" cy="3488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</a:t>
                </a:r>
                <a:r>
                  <a:rPr lang="en-CN" dirty="0"/>
                  <a:t>usceptibility is given by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对自洽方程求导可以得到磁化率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𝑐𝑜𝑠h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</m:e>
                              </m:d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𝑞𝐽</m:t>
                          </m:r>
                        </m:den>
                      </m:f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取外场为零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𝑐𝑜𝑠h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𝑞𝐽</m:t>
                          </m:r>
                        </m:den>
                      </m:f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代入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m=0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的解，则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𝑞𝐽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+/−</m:t>
                          </m:r>
                        </m:sup>
                      </m:sSub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067687-A413-1E40-D065-20829BC08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5" y="498764"/>
                <a:ext cx="10280073" cy="3488584"/>
              </a:xfrm>
              <a:prstGeom prst="rect">
                <a:avLst/>
              </a:prstGeom>
              <a:blipFill>
                <a:blip r:embed="rId2"/>
                <a:stretch>
                  <a:fillRect l="-494" t="-1091" b="-1091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86DE516-BD70-7BFC-A91C-6C1AD1072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49" y="4197350"/>
            <a:ext cx="3619902" cy="2161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06CC55-0915-E3CE-5DC7-43DEC2553DB9}"/>
                  </a:ext>
                </a:extLst>
              </p:cNvPr>
              <p:cNvSpPr txBox="1"/>
              <p:nvPr/>
            </p:nvSpPr>
            <p:spPr>
              <a:xfrm>
                <a:off x="8212428" y="171534"/>
                <a:ext cx="3744045" cy="663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𝑚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FangSong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FangSong" panose="02010609060101010101" pitchFamily="49" charset="-122"/>
                            </a:rPr>
                            <m:t>tanh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FangSong" panose="02010609060101010101" pitchFamily="49" charset="-122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FangSong" panose="02010609060101010101" pitchFamily="49" charset="-122"/>
                                    </a:rPr>
                                    <m:t>h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FangSong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FangSong" panose="02010609060101010101" pitchFamily="49" charset="-122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106CC55-0915-E3CE-5DC7-43DEC2553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428" y="171534"/>
                <a:ext cx="3744045" cy="663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C40ECB3-3715-48E2-CE6F-B3FADCE3C534}"/>
              </a:ext>
            </a:extLst>
          </p:cNvPr>
          <p:cNvSpPr txBox="1"/>
          <p:nvPr/>
        </p:nvSpPr>
        <p:spPr>
          <a:xfrm>
            <a:off x="9689566" y="1544491"/>
            <a:ext cx="1997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推导见Mathematica文件</a:t>
            </a:r>
          </a:p>
        </p:txBody>
      </p:sp>
    </p:spTree>
    <p:extLst>
      <p:ext uri="{BB962C8B-B14F-4D97-AF65-F5344CB8AC3E}">
        <p14:creationId xmlns:p14="http://schemas.microsoft.com/office/powerpoint/2010/main" val="1909711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067687-A413-1E40-D065-20829BC0850B}"/>
                  </a:ext>
                </a:extLst>
              </p:cNvPr>
              <p:cNvSpPr txBox="1"/>
              <p:nvPr/>
            </p:nvSpPr>
            <p:spPr>
              <a:xfrm>
                <a:off x="748145" y="498764"/>
                <a:ext cx="10280073" cy="154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当温度从下趋于临界点时候</a:t>
                </a:r>
                <a:r>
                  <a:rPr lang="zh-CN" altLang="en-US" dirty="0"/>
                  <a:t>，我们知道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≈±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zh-CN" altLang="en-US" dirty="0"/>
                  <a:t>，再利用</a:t>
                </a:r>
                <a:r>
                  <a:rPr lang="en-US" altLang="zh-CN" dirty="0" err="1"/>
                  <a:t>cosh</a:t>
                </a:r>
                <a:r>
                  <a:rPr lang="zh-CN" altLang="en-US" dirty="0"/>
                  <a:t>函数的</a:t>
                </a:r>
                <a:r>
                  <a:rPr lang="en-US" altLang="zh-CN" dirty="0" err="1"/>
                  <a:t>taylor</a:t>
                </a:r>
                <a:r>
                  <a:rPr lang="zh-CN" altLang="en-US" dirty="0"/>
                  <a:t>展开，我们可以得到</a:t>
                </a:r>
                <a:endParaRPr lang="en-US" altLang="zh-CN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5067687-A413-1E40-D065-20829BC08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145" y="498764"/>
                <a:ext cx="10280073" cy="1548950"/>
              </a:xfrm>
              <a:prstGeom prst="rect">
                <a:avLst/>
              </a:prstGeom>
              <a:blipFill>
                <a:blip r:embed="rId2"/>
                <a:stretch>
                  <a:fillRect l="-494" b="-325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C6971EC-4C81-4783-41B0-571109BC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586" y="2523259"/>
            <a:ext cx="5827450" cy="3545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E9599-5923-7876-B73C-DDB40664A1DC}"/>
              </a:ext>
            </a:extLst>
          </p:cNvPr>
          <p:cNvSpPr txBox="1"/>
          <p:nvPr/>
        </p:nvSpPr>
        <p:spPr>
          <a:xfrm>
            <a:off x="7869382" y="2523259"/>
            <a:ext cx="3893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solidFill>
                  <a:srgbClr val="FF0000"/>
                </a:solidFill>
              </a:rPr>
              <a:t>红线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m=0</a:t>
            </a:r>
            <a:r>
              <a:rPr lang="zh-CN" altLang="en-US" dirty="0">
                <a:solidFill>
                  <a:srgbClr val="FF0000"/>
                </a:solidFill>
              </a:rPr>
              <a:t>的解对应的磁化率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1"/>
                </a:solidFill>
              </a:rPr>
              <a:t>蓝线，</a:t>
            </a:r>
            <a:r>
              <a:rPr lang="en-US" altLang="zh-CN" dirty="0">
                <a:solidFill>
                  <a:schemeClr val="accent1"/>
                </a:solidFill>
              </a:rPr>
              <a:t>m</a:t>
            </a:r>
            <a:r>
              <a:rPr lang="zh-CN" altLang="en-US" dirty="0">
                <a:solidFill>
                  <a:schemeClr val="accent1"/>
                </a:solidFill>
              </a:rPr>
              <a:t>不等于零的解对应的磁化率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在临界点处发散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0000"/>
                </a:solidFill>
              </a:rPr>
              <a:t>在临界点下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m=0</a:t>
            </a:r>
            <a:r>
              <a:rPr lang="zh-CN" altLang="en-US" dirty="0">
                <a:solidFill>
                  <a:srgbClr val="FF0000"/>
                </a:solidFill>
              </a:rPr>
              <a:t>解的磁化率取负值，物理意义？</a:t>
            </a:r>
            <a:endParaRPr lang="en-CN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B22C3E-7985-9E7B-C06D-9C30F17B8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112" y="4592319"/>
            <a:ext cx="1275951" cy="193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149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F024F-C0F2-0D57-9A74-695D568C8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0"/>
            <a:ext cx="11150600" cy="1562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8DEF95-7582-4D53-2BB5-41E91F125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1728353"/>
            <a:ext cx="6883913" cy="4686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43267-D2F0-AD98-2035-4BA0D0C04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845" y="1728353"/>
            <a:ext cx="3204603" cy="468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86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48BCED-D4F5-66E2-30A1-479482E99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94205" cy="2889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9A51AA-4018-3C61-D1D7-A1C12A1EA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54" y="3051647"/>
            <a:ext cx="4230831" cy="3481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C1FB90-300E-1776-1632-B8F600971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612" y="885536"/>
            <a:ext cx="4334424" cy="508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35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0EDF1-ECA4-DE3D-9570-FB2BB1F0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45" y="0"/>
            <a:ext cx="7680614" cy="2268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63644E-439C-A3B3-CDDD-3C30632476C3}"/>
              </a:ext>
            </a:extLst>
          </p:cNvPr>
          <p:cNvSpPr txBox="1"/>
          <p:nvPr/>
        </p:nvSpPr>
        <p:spPr>
          <a:xfrm>
            <a:off x="457200" y="817418"/>
            <a:ext cx="3297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FangSong" panose="02010609060101010101" pitchFamily="49" charset="-122"/>
                <a:ea typeface="FangSong" panose="02010609060101010101" pitchFamily="49" charset="-122"/>
              </a:rPr>
              <a:t>回答上次课一个遗留问题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EAB17C-1B3A-7248-C1CE-658CBDCFEF07}"/>
              </a:ext>
            </a:extLst>
          </p:cNvPr>
          <p:cNvSpPr txBox="1"/>
          <p:nvPr/>
        </p:nvSpPr>
        <p:spPr>
          <a:xfrm>
            <a:off x="2507673" y="3574473"/>
            <a:ext cx="75091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      判据一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：</a:t>
            </a:r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自由能极小</a:t>
            </a:r>
          </a:p>
          <a:p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      判据二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：</a:t>
            </a:r>
            <a:r>
              <a:rPr lang="zh-CN" alt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磁化率</a:t>
            </a:r>
            <a:endParaRPr lang="en-US" altLang="zh-CN" sz="4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      </a:t>
            </a:r>
            <a:r>
              <a:rPr lang="en-US" sz="4000" dirty="0" err="1">
                <a:latin typeface="FangSong" panose="02010609060101010101" pitchFamily="49" charset="-122"/>
                <a:ea typeface="FangSong" panose="02010609060101010101" pitchFamily="49" charset="-122"/>
              </a:rPr>
              <a:t>一致否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？</a:t>
            </a:r>
            <a:endParaRPr lang="en-CN" sz="4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F24126-8F67-2336-0558-9D6A951815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112" y="4592319"/>
            <a:ext cx="1275951" cy="193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060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E2F59-1508-1E48-B3A2-C727AE15025E}"/>
                  </a:ext>
                </a:extLst>
              </p:cNvPr>
              <p:cNvSpPr txBox="1"/>
              <p:nvPr/>
            </p:nvSpPr>
            <p:spPr>
              <a:xfrm>
                <a:off x="3048000" y="147924"/>
                <a:ext cx="6096000" cy="4661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sSup>
                        <m:sSup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4E2F59-1508-1E48-B3A2-C727AE150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47924"/>
                <a:ext cx="6096000" cy="466153"/>
              </a:xfrm>
              <a:prstGeom prst="rect">
                <a:avLst/>
              </a:prstGeom>
              <a:blipFill>
                <a:blip r:embed="rId2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>
            <a:extLst>
              <a:ext uri="{FF2B5EF4-FFF2-40B4-BE49-F238E27FC236}">
                <a16:creationId xmlns:a16="http://schemas.microsoft.com/office/drawing/2014/main" id="{CFF61438-5D5F-721D-762C-EE806B6469FD}"/>
              </a:ext>
            </a:extLst>
          </p:cNvPr>
          <p:cNvSpPr/>
          <p:nvPr/>
        </p:nvSpPr>
        <p:spPr>
          <a:xfrm>
            <a:off x="5777345" y="748145"/>
            <a:ext cx="318655" cy="7481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39C0D-4E5D-D0AD-B743-00B0D42DEDA6}"/>
                  </a:ext>
                </a:extLst>
              </p:cNvPr>
              <p:cNvSpPr txBox="1"/>
              <p:nvPr/>
            </p:nvSpPr>
            <p:spPr>
              <a:xfrm>
                <a:off x="2604655" y="1630359"/>
                <a:ext cx="6096000" cy="3084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𝑀𝐹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𝑁𝑞𝐽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cosh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𝑒𝑓𝑓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𝑒𝑓𝑓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𝑒𝑓𝑓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𝑞𝐽𝑚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𝑞𝐽𝑚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+…</m:t>
                          </m:r>
                        </m:e>
                      </m:d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𝑁𝑞𝐽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𝑞𝐽𝑚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𝑁</m:t>
                                  </m:r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339C0D-4E5D-D0AD-B743-00B0D42DE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655" y="1630359"/>
                <a:ext cx="6096000" cy="3084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0F6F0D-C8E6-524B-7B02-244D06A19845}"/>
                  </a:ext>
                </a:extLst>
              </p:cNvPr>
              <p:cNvSpPr txBox="1"/>
              <p:nvPr/>
            </p:nvSpPr>
            <p:spPr>
              <a:xfrm>
                <a:off x="6248400" y="969818"/>
                <a:ext cx="942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0F6F0D-C8E6-524B-7B02-244D06A19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969818"/>
                <a:ext cx="942109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DE8D4-CEB7-2A2E-A352-F09AB88924F4}"/>
                  </a:ext>
                </a:extLst>
              </p:cNvPr>
              <p:cNvSpPr txBox="1"/>
              <p:nvPr/>
            </p:nvSpPr>
            <p:spPr>
              <a:xfrm>
                <a:off x="1967345" y="5534239"/>
                <a:ext cx="856210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N" sz="4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𝑀𝐹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CN" sz="4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DE8D4-CEB7-2A2E-A352-F09AB8892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345" y="5534239"/>
                <a:ext cx="8562109" cy="707886"/>
              </a:xfrm>
              <a:prstGeom prst="rect">
                <a:avLst/>
              </a:prstGeom>
              <a:blipFill>
                <a:blip r:embed="rId5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E68BA39-8B94-ACCF-EF31-221208705BA4}"/>
              </a:ext>
            </a:extLst>
          </p:cNvPr>
          <p:cNvSpPr txBox="1"/>
          <p:nvPr/>
        </p:nvSpPr>
        <p:spPr>
          <a:xfrm>
            <a:off x="235527" y="203262"/>
            <a:ext cx="49322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Landau</a:t>
            </a:r>
            <a:r>
              <a:rPr lang="zh-CN" altLang="en-US" sz="2000" b="1" dirty="0"/>
              <a:t> </a:t>
            </a:r>
            <a:r>
              <a:rPr lang="en-US" sz="2000" b="1" dirty="0"/>
              <a:t>Free Energy</a:t>
            </a:r>
            <a:endParaRPr lang="en-CN" sz="2000" b="1" dirty="0"/>
          </a:p>
        </p:txBody>
      </p:sp>
    </p:spTree>
    <p:extLst>
      <p:ext uri="{BB962C8B-B14F-4D97-AF65-F5344CB8AC3E}">
        <p14:creationId xmlns:p14="http://schemas.microsoft.com/office/powerpoint/2010/main" val="1576919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6C997B-0A75-5F6F-0FD2-3ABFF497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286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74B703-48EA-E23D-398F-4AF897D31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65" y="969818"/>
            <a:ext cx="6149911" cy="54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78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CEE95D-3CB5-5C58-8D7D-6CD5C1017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6718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BD6E53-4F90-174E-BC83-84375D880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606" y="0"/>
            <a:ext cx="64763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616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A152C-272F-53DF-FF14-D7B5AB21C2CB}"/>
              </a:ext>
            </a:extLst>
          </p:cNvPr>
          <p:cNvSpPr txBox="1"/>
          <p:nvPr/>
        </p:nvSpPr>
        <p:spPr>
          <a:xfrm>
            <a:off x="374073" y="249382"/>
            <a:ext cx="4031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临界指数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55E237-E1F3-0B59-3FA8-EBF75CC96D57}"/>
                  </a:ext>
                </a:extLst>
              </p:cNvPr>
              <p:cNvSpPr txBox="1"/>
              <p:nvPr/>
            </p:nvSpPr>
            <p:spPr>
              <a:xfrm>
                <a:off x="1108364" y="803564"/>
                <a:ext cx="9864436" cy="2155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序参量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磁化率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𝜒</m:t>
                      </m:r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=−1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热容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p>
                      </m:sSup>
                    </m:oMath>
                  </m:oMathPara>
                </a14:m>
                <a:endParaRPr lang="en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N" dirty="0"/>
                  <a:t>等等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55E237-E1F3-0B59-3FA8-EBF75CC96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64" y="803564"/>
                <a:ext cx="9864436" cy="2155270"/>
              </a:xfrm>
              <a:prstGeom prst="rect">
                <a:avLst/>
              </a:prstGeom>
              <a:blipFill>
                <a:blip r:embed="rId2"/>
                <a:stretch>
                  <a:fillRect l="-386" t="-1765" b="-35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867FBB2-E684-04FC-8F82-E6784229A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081" y="3276263"/>
            <a:ext cx="9067801" cy="304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03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5A14F-5565-0FF9-7BFC-4465DC9D0769}"/>
              </a:ext>
            </a:extLst>
          </p:cNvPr>
          <p:cNvSpPr txBox="1"/>
          <p:nvPr/>
        </p:nvSpPr>
        <p:spPr>
          <a:xfrm>
            <a:off x="9116291" y="6488668"/>
            <a:ext cx="307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2022.05.22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50EC99-3FD1-00A2-36C0-08DDAA6389E6}"/>
              </a:ext>
            </a:extLst>
          </p:cNvPr>
          <p:cNvSpPr txBox="1"/>
          <p:nvPr/>
        </p:nvSpPr>
        <p:spPr>
          <a:xfrm>
            <a:off x="2854036" y="2230582"/>
            <a:ext cx="648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标度变换与普适性</a:t>
            </a:r>
            <a:r>
              <a:rPr lang="zh-CN" altLang="en-US" sz="4000" dirty="0">
                <a:latin typeface="FangSong" panose="02010609060101010101" pitchFamily="49" charset="-122"/>
                <a:ea typeface="FangSong" panose="02010609060101010101" pitchFamily="49" charset="-122"/>
              </a:rPr>
              <a:t>？？</a:t>
            </a:r>
            <a:endParaRPr lang="en-CN" sz="4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365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31825</TotalTime>
  <Words>918</Words>
  <Application>Microsoft Macintosh PowerPoint</Application>
  <PresentationFormat>Widescreen</PresentationFormat>
  <Paragraphs>132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FangSong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434</cp:revision>
  <dcterms:created xsi:type="dcterms:W3CDTF">2022-02-02T22:31:46Z</dcterms:created>
  <dcterms:modified xsi:type="dcterms:W3CDTF">2023-05-21T08:07:36Z</dcterms:modified>
</cp:coreProperties>
</file>