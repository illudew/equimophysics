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 id="296" r:id="rId3"/>
    <p:sldId id="289" r:id="rId4"/>
    <p:sldId id="297" r:id="rId5"/>
    <p:sldId id="259" r:id="rId6"/>
    <p:sldId id="258" r:id="rId7"/>
    <p:sldId id="288" r:id="rId8"/>
    <p:sldId id="256" r:id="rId9"/>
    <p:sldId id="330" r:id="rId10"/>
    <p:sldId id="290" r:id="rId11"/>
    <p:sldId id="261" r:id="rId12"/>
    <p:sldId id="298" r:id="rId13"/>
    <p:sldId id="263" r:id="rId14"/>
    <p:sldId id="262" r:id="rId15"/>
    <p:sldId id="264" r:id="rId16"/>
    <p:sldId id="265" r:id="rId17"/>
    <p:sldId id="266" r:id="rId18"/>
    <p:sldId id="267" r:id="rId19"/>
    <p:sldId id="292" r:id="rId20"/>
    <p:sldId id="293" r:id="rId21"/>
    <p:sldId id="268" r:id="rId22"/>
    <p:sldId id="270" r:id="rId23"/>
    <p:sldId id="269" r:id="rId24"/>
    <p:sldId id="273" r:id="rId25"/>
    <p:sldId id="274" r:id="rId26"/>
    <p:sldId id="295" r:id="rId27"/>
    <p:sldId id="275" r:id="rId28"/>
    <p:sldId id="291" r:id="rId29"/>
    <p:sldId id="271" r:id="rId30"/>
    <p:sldId id="276" r:id="rId31"/>
    <p:sldId id="277" r:id="rId32"/>
    <p:sldId id="278" r:id="rId33"/>
    <p:sldId id="279" r:id="rId34"/>
    <p:sldId id="281" r:id="rId35"/>
    <p:sldId id="280" r:id="rId36"/>
    <p:sldId id="331" r:id="rId37"/>
    <p:sldId id="272" r:id="rId38"/>
    <p:sldId id="282" r:id="rId39"/>
    <p:sldId id="283" r:id="rId40"/>
    <p:sldId id="332" r:id="rId41"/>
    <p:sldId id="333" r:id="rId42"/>
    <p:sldId id="334" r:id="rId43"/>
    <p:sldId id="285" r:id="rId44"/>
    <p:sldId id="286" r:id="rId45"/>
    <p:sldId id="287" r:id="rId46"/>
  </p:sldIdLst>
  <p:sldSz cx="12192000" cy="6858000"/>
  <p:notesSz cx="6858000" cy="9144000"/>
  <p:defaultText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554"/>
    <p:restoredTop sz="94628"/>
  </p:normalViewPr>
  <p:slideViewPr>
    <p:cSldViewPr snapToGrid="0" snapToObjects="1">
      <p:cViewPr varScale="1">
        <p:scale>
          <a:sx n="110" d="100"/>
          <a:sy n="110" d="100"/>
        </p:scale>
        <p:origin x="176" y="3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D7C1-D8EB-D547-BCEE-EC505565F5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N"/>
          </a:p>
        </p:txBody>
      </p:sp>
      <p:sp>
        <p:nvSpPr>
          <p:cNvPr id="3" name="Subtitle 2">
            <a:extLst>
              <a:ext uri="{FF2B5EF4-FFF2-40B4-BE49-F238E27FC236}">
                <a16:creationId xmlns:a16="http://schemas.microsoft.com/office/drawing/2014/main" id="{2089B034-FF72-0842-A5AB-84F0A71076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FD5C968-918F-8641-AE02-594B5224B66F}"/>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5" name="Footer Placeholder 4">
            <a:extLst>
              <a:ext uri="{FF2B5EF4-FFF2-40B4-BE49-F238E27FC236}">
                <a16:creationId xmlns:a16="http://schemas.microsoft.com/office/drawing/2014/main" id="{3519C305-E85D-1548-A375-1DBDEDB5978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2873FDED-A1AE-D846-9147-0D1EE8B81396}"/>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54886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013E-BDF0-8C4A-B4ED-0D321223FDC4}"/>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007ABE0F-0622-5C49-AEF9-031610282B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8EF4ABA-C3F7-F04B-B87A-4A9D3D3BA1AF}"/>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5" name="Footer Placeholder 4">
            <a:extLst>
              <a:ext uri="{FF2B5EF4-FFF2-40B4-BE49-F238E27FC236}">
                <a16:creationId xmlns:a16="http://schemas.microsoft.com/office/drawing/2014/main" id="{FD28897E-B07B-B441-BDAF-727D0E889B1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3FA11B97-AE03-0E47-93A0-D14C3D946881}"/>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43825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83D1F-C55B-2F42-AE7E-78E4DC54AD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86FFFBC5-80CC-8C45-9404-C9556920AE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B78CD9-0063-224A-90B2-5B178A6FB8BD}"/>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5" name="Footer Placeholder 4">
            <a:extLst>
              <a:ext uri="{FF2B5EF4-FFF2-40B4-BE49-F238E27FC236}">
                <a16:creationId xmlns:a16="http://schemas.microsoft.com/office/drawing/2014/main" id="{64A6CE81-9F37-BF4C-BDF3-A9FBC99E240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AF3B8F5E-2051-1745-8C26-13E510972A2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648670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5BE8-2906-8E4F-AF10-6C859962C87A}"/>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65877BC1-205D-ED44-902E-6DC52E37DB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86DCF4BC-B5D9-7A46-9CA0-C1833531EB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29A32F2-DC1B-494A-8AB9-039BCA541EDF}"/>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6" name="Footer Placeholder 5">
            <a:extLst>
              <a:ext uri="{FF2B5EF4-FFF2-40B4-BE49-F238E27FC236}">
                <a16:creationId xmlns:a16="http://schemas.microsoft.com/office/drawing/2014/main" id="{1FC77452-A3E3-4443-92ED-FF9D858C7417}"/>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D6CB1547-4E3B-B44B-81F0-9E977B3EF147}"/>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816650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E04FC-EB95-6042-A824-3928DD90D352}"/>
              </a:ext>
            </a:extLst>
          </p:cNvPr>
          <p:cNvSpPr>
            <a:spLocks noGrp="1"/>
          </p:cNvSpPr>
          <p:nvPr>
            <p:ph type="title"/>
          </p:nvPr>
        </p:nvSpPr>
        <p:spPr>
          <a:xfrm>
            <a:off x="839788" y="365125"/>
            <a:ext cx="105156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F8826F3F-BBDF-4748-B28F-F8C02C1F26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BC1051-699C-4F4F-A964-DE4CCEF3B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A05D3799-BF1A-B544-92F3-A668C8479A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7BDBCE-CA7F-5143-91B1-42C71E89D4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9D47ACE-B299-B447-AB9F-A7E598DB00BB}"/>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8" name="Footer Placeholder 7">
            <a:extLst>
              <a:ext uri="{FF2B5EF4-FFF2-40B4-BE49-F238E27FC236}">
                <a16:creationId xmlns:a16="http://schemas.microsoft.com/office/drawing/2014/main" id="{E1CA539D-7612-E848-999B-9D151DFE0F4E}"/>
              </a:ext>
            </a:extLst>
          </p:cNvPr>
          <p:cNvSpPr>
            <a:spLocks noGrp="1"/>
          </p:cNvSpPr>
          <p:nvPr>
            <p:ph type="ftr" sz="quarter" idx="11"/>
          </p:nvPr>
        </p:nvSpPr>
        <p:spPr/>
        <p:txBody>
          <a:bodyPr/>
          <a:lstStyle/>
          <a:p>
            <a:endParaRPr lang="en-CN"/>
          </a:p>
        </p:txBody>
      </p:sp>
      <p:sp>
        <p:nvSpPr>
          <p:cNvPr id="9" name="Slide Number Placeholder 8">
            <a:extLst>
              <a:ext uri="{FF2B5EF4-FFF2-40B4-BE49-F238E27FC236}">
                <a16:creationId xmlns:a16="http://schemas.microsoft.com/office/drawing/2014/main" id="{91C80D14-ED83-5545-8AE2-4469C82031B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860530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6444D-3A68-EB45-9015-DA6329C909CA}"/>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EFBB93C-F3ED-3F47-B452-7C28F2091105}"/>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4" name="Footer Placeholder 3">
            <a:extLst>
              <a:ext uri="{FF2B5EF4-FFF2-40B4-BE49-F238E27FC236}">
                <a16:creationId xmlns:a16="http://schemas.microsoft.com/office/drawing/2014/main" id="{C90FAABE-D364-A94B-BEC5-9C8F70BD57F2}"/>
              </a:ext>
            </a:extLst>
          </p:cNvPr>
          <p:cNvSpPr>
            <a:spLocks noGrp="1"/>
          </p:cNvSpPr>
          <p:nvPr>
            <p:ph type="ftr" sz="quarter" idx="11"/>
          </p:nvPr>
        </p:nvSpPr>
        <p:spPr/>
        <p:txBody>
          <a:bodyPr/>
          <a:lstStyle/>
          <a:p>
            <a:endParaRPr lang="en-CN"/>
          </a:p>
        </p:txBody>
      </p:sp>
      <p:sp>
        <p:nvSpPr>
          <p:cNvPr id="5" name="Slide Number Placeholder 4">
            <a:extLst>
              <a:ext uri="{FF2B5EF4-FFF2-40B4-BE49-F238E27FC236}">
                <a16:creationId xmlns:a16="http://schemas.microsoft.com/office/drawing/2014/main" id="{7DA6D1B4-DA1C-F240-90A2-84B2A717EF7E}"/>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18744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D0083D-F5D5-C543-B61F-4094F539E6A7}"/>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3" name="Footer Placeholder 2">
            <a:extLst>
              <a:ext uri="{FF2B5EF4-FFF2-40B4-BE49-F238E27FC236}">
                <a16:creationId xmlns:a16="http://schemas.microsoft.com/office/drawing/2014/main" id="{E0DDC8BC-428B-BB4D-8AEE-C6B272C6798C}"/>
              </a:ext>
            </a:extLst>
          </p:cNvPr>
          <p:cNvSpPr>
            <a:spLocks noGrp="1"/>
          </p:cNvSpPr>
          <p:nvPr>
            <p:ph type="ftr" sz="quarter" idx="11"/>
          </p:nvPr>
        </p:nvSpPr>
        <p:spPr/>
        <p:txBody>
          <a:bodyPr/>
          <a:lstStyle/>
          <a:p>
            <a:endParaRPr lang="en-CN"/>
          </a:p>
        </p:txBody>
      </p:sp>
      <p:sp>
        <p:nvSpPr>
          <p:cNvPr id="4" name="Slide Number Placeholder 3">
            <a:extLst>
              <a:ext uri="{FF2B5EF4-FFF2-40B4-BE49-F238E27FC236}">
                <a16:creationId xmlns:a16="http://schemas.microsoft.com/office/drawing/2014/main" id="{378B49BB-14D1-1849-B437-37A7A6070E9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1147709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D422E-2ECF-6E40-B192-F3102DB3C2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56070A34-B607-1742-A5C9-F66E9CB59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688185AD-9C29-CE46-8CE9-E6D8F6BB58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88B05E-F489-3841-AF6F-1A1FE3BB3F71}"/>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6" name="Footer Placeholder 5">
            <a:extLst>
              <a:ext uri="{FF2B5EF4-FFF2-40B4-BE49-F238E27FC236}">
                <a16:creationId xmlns:a16="http://schemas.microsoft.com/office/drawing/2014/main" id="{D5D58E87-9859-F14A-B389-187843C24D8E}"/>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F152D493-6FBF-EA46-8CFB-E11E167F3225}"/>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50729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968-37CC-B647-9F46-44E9F86425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0F620B7A-6421-6346-BBFA-BD37AAC93C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N"/>
          </a:p>
        </p:txBody>
      </p:sp>
      <p:sp>
        <p:nvSpPr>
          <p:cNvPr id="4" name="Text Placeholder 3">
            <a:extLst>
              <a:ext uri="{FF2B5EF4-FFF2-40B4-BE49-F238E27FC236}">
                <a16:creationId xmlns:a16="http://schemas.microsoft.com/office/drawing/2014/main" id="{508ED188-FEB7-E74E-B65D-281002E7AA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B8C2D-F1DB-C34A-AD60-DF4B2FE59B4C}"/>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6" name="Footer Placeholder 5">
            <a:extLst>
              <a:ext uri="{FF2B5EF4-FFF2-40B4-BE49-F238E27FC236}">
                <a16:creationId xmlns:a16="http://schemas.microsoft.com/office/drawing/2014/main" id="{2F1817A2-AEE3-244B-8185-A484A6B8C7D4}"/>
              </a:ext>
            </a:extLst>
          </p:cNvPr>
          <p:cNvSpPr>
            <a:spLocks noGrp="1"/>
          </p:cNvSpPr>
          <p:nvPr>
            <p:ph type="ftr" sz="quarter" idx="11"/>
          </p:nvPr>
        </p:nvSpPr>
        <p:spPr/>
        <p:txBody>
          <a:bodyPr/>
          <a:lstStyle/>
          <a:p>
            <a:endParaRPr lang="en-CN"/>
          </a:p>
        </p:txBody>
      </p:sp>
      <p:sp>
        <p:nvSpPr>
          <p:cNvPr id="7" name="Slide Number Placeholder 6">
            <a:extLst>
              <a:ext uri="{FF2B5EF4-FFF2-40B4-BE49-F238E27FC236}">
                <a16:creationId xmlns:a16="http://schemas.microsoft.com/office/drawing/2014/main" id="{97410CD3-341B-C348-B1D4-069400F93D8A}"/>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3238695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C41A4-A3DA-9C44-A87F-544863819FAD}"/>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00F37D03-3ABB-E94A-A564-7D516299FF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D225D3D3-9B3A-E34D-A7DB-07B8D9C07F2E}"/>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5" name="Footer Placeholder 4">
            <a:extLst>
              <a:ext uri="{FF2B5EF4-FFF2-40B4-BE49-F238E27FC236}">
                <a16:creationId xmlns:a16="http://schemas.microsoft.com/office/drawing/2014/main" id="{9951226C-2D9F-3E4D-8439-D1417E4DA265}"/>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15AA4E6-5819-4C43-8676-2EDC65D0B11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2077077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9D237-9FA6-7643-A46C-6BF452F3C3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B0F4148B-28D9-4E4F-98AA-281CE3B51E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F59114E8-0490-9844-A6E6-A76C29CB09BF}"/>
              </a:ext>
            </a:extLst>
          </p:cNvPr>
          <p:cNvSpPr>
            <a:spLocks noGrp="1"/>
          </p:cNvSpPr>
          <p:nvPr>
            <p:ph type="dt" sz="half" idx="10"/>
          </p:nvPr>
        </p:nvSpPr>
        <p:spPr/>
        <p:txBody>
          <a:bodyPr/>
          <a:lstStyle/>
          <a:p>
            <a:fld id="{E800E28F-22DF-9E47-9EC9-E68F8BF2B40B}" type="datetimeFigureOut">
              <a:rPr lang="en-CN" smtClean="0"/>
              <a:t>2023/2/14</a:t>
            </a:fld>
            <a:endParaRPr lang="en-CN"/>
          </a:p>
        </p:txBody>
      </p:sp>
      <p:sp>
        <p:nvSpPr>
          <p:cNvPr id="5" name="Footer Placeholder 4">
            <a:extLst>
              <a:ext uri="{FF2B5EF4-FFF2-40B4-BE49-F238E27FC236}">
                <a16:creationId xmlns:a16="http://schemas.microsoft.com/office/drawing/2014/main" id="{70A5F247-BB24-C14C-8BDC-3AEC6E2F44BC}"/>
              </a:ext>
            </a:extLst>
          </p:cNvPr>
          <p:cNvSpPr>
            <a:spLocks noGrp="1"/>
          </p:cNvSpPr>
          <p:nvPr>
            <p:ph type="ftr" sz="quarter" idx="11"/>
          </p:nvPr>
        </p:nvSpPr>
        <p:spPr/>
        <p:txBody>
          <a:bodyPr/>
          <a:lstStyle/>
          <a:p>
            <a:endParaRPr lang="en-CN"/>
          </a:p>
        </p:txBody>
      </p:sp>
      <p:sp>
        <p:nvSpPr>
          <p:cNvPr id="6" name="Slide Number Placeholder 5">
            <a:extLst>
              <a:ext uri="{FF2B5EF4-FFF2-40B4-BE49-F238E27FC236}">
                <a16:creationId xmlns:a16="http://schemas.microsoft.com/office/drawing/2014/main" id="{9209EBDF-B685-F445-BD1C-7044BC302482}"/>
              </a:ext>
            </a:extLst>
          </p:cNvPr>
          <p:cNvSpPr>
            <a:spLocks noGrp="1"/>
          </p:cNvSpPr>
          <p:nvPr>
            <p:ph type="sldNum" sz="quarter" idx="12"/>
          </p:nvPr>
        </p:nvSpPr>
        <p:spPr/>
        <p:txBody>
          <a:bodyPr/>
          <a:lstStyle/>
          <a:p>
            <a:fld id="{5325E0B1-8A12-D049-82EE-CBBDFA3D597D}" type="slidenum">
              <a:rPr lang="en-CN" smtClean="0"/>
              <a:t>‹#›</a:t>
            </a:fld>
            <a:endParaRPr lang="en-CN"/>
          </a:p>
        </p:txBody>
      </p:sp>
    </p:spTree>
    <p:extLst>
      <p:ext uri="{BB962C8B-B14F-4D97-AF65-F5344CB8AC3E}">
        <p14:creationId xmlns:p14="http://schemas.microsoft.com/office/powerpoint/2010/main" val="70762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7E8360-99FB-314F-8FFC-5DFE146448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D170A0-1BBB-7549-88EE-B708486E0C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ED353904-8539-AE42-A677-9B45FCA67D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0E28F-22DF-9E47-9EC9-E68F8BF2B40B}" type="datetimeFigureOut">
              <a:rPr lang="en-CN" smtClean="0"/>
              <a:t>2023/2/14</a:t>
            </a:fld>
            <a:endParaRPr lang="en-CN"/>
          </a:p>
        </p:txBody>
      </p:sp>
      <p:sp>
        <p:nvSpPr>
          <p:cNvPr id="5" name="Footer Placeholder 4">
            <a:extLst>
              <a:ext uri="{FF2B5EF4-FFF2-40B4-BE49-F238E27FC236}">
                <a16:creationId xmlns:a16="http://schemas.microsoft.com/office/drawing/2014/main" id="{B3BDB817-6A9E-8D4B-93C6-69B4752E2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N"/>
          </a:p>
        </p:txBody>
      </p:sp>
      <p:sp>
        <p:nvSpPr>
          <p:cNvPr id="6" name="Slide Number Placeholder 5">
            <a:extLst>
              <a:ext uri="{FF2B5EF4-FFF2-40B4-BE49-F238E27FC236}">
                <a16:creationId xmlns:a16="http://schemas.microsoft.com/office/drawing/2014/main" id="{23920E11-ECD6-A240-8C4D-4AA249F37A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25E0B1-8A12-D049-82EE-CBBDFA3D597D}" type="slidenum">
              <a:rPr lang="en-CN" smtClean="0"/>
              <a:t>‹#›</a:t>
            </a:fld>
            <a:endParaRPr lang="en-CN"/>
          </a:p>
        </p:txBody>
      </p:sp>
    </p:spTree>
    <p:extLst>
      <p:ext uri="{BB962C8B-B14F-4D97-AF65-F5344CB8AC3E}">
        <p14:creationId xmlns:p14="http://schemas.microsoft.com/office/powerpoint/2010/main" val="52746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Statistical_mechanics" TargetMode="External"/><Relationship Id="rId2" Type="http://schemas.openxmlformats.org/officeDocument/2006/relationships/hyperlink" Target="https://en.wikipedia.org/wiki/Physics" TargetMode="External"/><Relationship Id="rId1" Type="http://schemas.openxmlformats.org/officeDocument/2006/relationships/slideLayout" Target="../slideLayouts/slideLayout1.xml"/><Relationship Id="rId6" Type="http://schemas.openxmlformats.org/officeDocument/2006/relationships/hyperlink" Target="https://en.wikipedia.org/wiki/Willard_Gibbs" TargetMode="External"/><Relationship Id="rId5" Type="http://schemas.openxmlformats.org/officeDocument/2006/relationships/hyperlink" Target="https://en.wikipedia.org/wiki/Ensemble_(mathematical_physics)#cite_note-ensamble_dictionary-1" TargetMode="External"/><Relationship Id="rId4" Type="http://schemas.openxmlformats.org/officeDocument/2006/relationships/hyperlink" Target="https://en.wikipedia.org/wiki/Syste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jpe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0.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7.gif"/><Relationship Id="rId2" Type="http://schemas.openxmlformats.org/officeDocument/2006/relationships/image" Target="../media/image410.png"/><Relationship Id="rId1" Type="http://schemas.openxmlformats.org/officeDocument/2006/relationships/slideLayout" Target="../slideLayouts/slideLayout2.xml"/><Relationship Id="rId4" Type="http://schemas.openxmlformats.org/officeDocument/2006/relationships/image" Target="../media/image430.png"/></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E0AA-C95E-8844-BFC8-07F31CE21C93}"/>
              </a:ext>
            </a:extLst>
          </p:cNvPr>
          <p:cNvSpPr>
            <a:spLocks noGrp="1"/>
          </p:cNvSpPr>
          <p:nvPr>
            <p:ph type="ctrTitle"/>
          </p:nvPr>
        </p:nvSpPr>
        <p:spPr>
          <a:xfrm>
            <a:off x="1750959" y="0"/>
            <a:ext cx="9144000" cy="906613"/>
          </a:xfrm>
        </p:spPr>
        <p:txBody>
          <a:bodyPr>
            <a:normAutofit fontScale="90000"/>
          </a:bodyPr>
          <a:lstStyle/>
          <a:p>
            <a:r>
              <a:rPr lang="en-CN" dirty="0">
                <a:latin typeface="FangSong" panose="02010609060101010101" pitchFamily="49" charset="-122"/>
                <a:ea typeface="FangSong" panose="02010609060101010101" pitchFamily="49" charset="-122"/>
              </a:rPr>
              <a:t>热物</a:t>
            </a:r>
            <a:r>
              <a:rPr lang="zh-CN" altLang="en-US" dirty="0">
                <a:latin typeface="FangSong" panose="02010609060101010101" pitchFamily="49" charset="-122"/>
                <a:ea typeface="FangSong" panose="02010609060101010101" pitchFamily="49" charset="-122"/>
              </a:rPr>
              <a:t>（第一周）</a:t>
            </a:r>
            <a:endParaRPr lang="en-CN" dirty="0">
              <a:latin typeface="FangSong" panose="02010609060101010101" pitchFamily="49" charset="-122"/>
              <a:ea typeface="FangSong" panose="02010609060101010101" pitchFamily="49" charset="-122"/>
            </a:endParaRPr>
          </a:p>
        </p:txBody>
      </p:sp>
      <p:sp>
        <p:nvSpPr>
          <p:cNvPr id="3" name="Subtitle 2">
            <a:extLst>
              <a:ext uri="{FF2B5EF4-FFF2-40B4-BE49-F238E27FC236}">
                <a16:creationId xmlns:a16="http://schemas.microsoft.com/office/drawing/2014/main" id="{4606B6AC-F9CA-164C-8C20-F1FCA50B1F09}"/>
              </a:ext>
            </a:extLst>
          </p:cNvPr>
          <p:cNvSpPr>
            <a:spLocks noGrp="1"/>
          </p:cNvSpPr>
          <p:nvPr>
            <p:ph type="subTitle" idx="1"/>
          </p:nvPr>
        </p:nvSpPr>
        <p:spPr>
          <a:xfrm>
            <a:off x="334319" y="536218"/>
            <a:ext cx="10374351" cy="4206944"/>
          </a:xfrm>
        </p:spPr>
        <p:txBody>
          <a:bodyPr>
            <a:noAutofit/>
          </a:bodyPr>
          <a:lstStyle/>
          <a:p>
            <a:pPr algn="l"/>
            <a:r>
              <a:rPr lang="en-CN" sz="1800" dirty="0"/>
              <a:t>上课时间</a:t>
            </a:r>
          </a:p>
          <a:p>
            <a:pPr algn="l"/>
            <a:r>
              <a:rPr lang="zh-CN" altLang="en-US" sz="1800" dirty="0"/>
              <a:t>         </a:t>
            </a:r>
            <a:r>
              <a:rPr lang="zh-CN" altLang="en-US" sz="1800" dirty="0">
                <a:solidFill>
                  <a:srgbClr val="FF0000"/>
                </a:solidFill>
              </a:rPr>
              <a:t>周一、三上午    </a:t>
            </a:r>
            <a:r>
              <a:rPr lang="en-US" altLang="zh-CN" sz="1800" dirty="0">
                <a:solidFill>
                  <a:srgbClr val="FF0000"/>
                </a:solidFill>
              </a:rPr>
              <a:t>   10:00-12:00</a:t>
            </a:r>
          </a:p>
          <a:p>
            <a:pPr algn="l"/>
            <a:endParaRPr lang="en-CN" sz="1800" dirty="0"/>
          </a:p>
          <a:p>
            <a:pPr algn="l"/>
            <a:r>
              <a:rPr lang="en-CN" sz="1800" dirty="0"/>
              <a:t>上课地点</a:t>
            </a:r>
          </a:p>
          <a:p>
            <a:pPr algn="l"/>
            <a:r>
              <a:rPr lang="zh-CN" altLang="en-US" sz="1800" dirty="0"/>
              <a:t>        </a:t>
            </a:r>
            <a:r>
              <a:rPr lang="zh-CN" altLang="en-US" sz="1800" dirty="0">
                <a:solidFill>
                  <a:srgbClr val="FF0000"/>
                </a:solidFill>
              </a:rPr>
              <a:t>八里台二主楼</a:t>
            </a:r>
            <a:r>
              <a:rPr lang="en-US" altLang="zh-CN" sz="1800" dirty="0">
                <a:solidFill>
                  <a:srgbClr val="FF0000"/>
                </a:solidFill>
              </a:rPr>
              <a:t>A304</a:t>
            </a:r>
          </a:p>
          <a:p>
            <a:pPr algn="l"/>
            <a:endParaRPr lang="en-US" sz="1800" dirty="0">
              <a:solidFill>
                <a:srgbClr val="FF0000"/>
              </a:solidFill>
            </a:endParaRPr>
          </a:p>
          <a:p>
            <a:pPr algn="l"/>
            <a:r>
              <a:rPr lang="en-CN" sz="1800" dirty="0"/>
              <a:t>参考书目</a:t>
            </a:r>
          </a:p>
          <a:p>
            <a:pPr marL="342900" indent="-342900" algn="l">
              <a:buFont typeface="Arial" panose="020B0604020202020204" pitchFamily="34" charset="0"/>
              <a:buChar char="•"/>
            </a:pPr>
            <a:r>
              <a:rPr lang="en-CN" sz="1800" dirty="0">
                <a:solidFill>
                  <a:srgbClr val="FF0000"/>
                </a:solidFill>
              </a:rPr>
              <a:t>Kittel and Kroemer, Thermal Physics</a:t>
            </a:r>
            <a:r>
              <a:rPr lang="zh-CN" altLang="en-US" sz="1800" dirty="0">
                <a:solidFill>
                  <a:srgbClr val="FF0000"/>
                </a:solidFill>
              </a:rPr>
              <a:t>（前十章）</a:t>
            </a:r>
            <a:endParaRPr lang="en-CN" sz="1800" dirty="0">
              <a:solidFill>
                <a:srgbClr val="FF0000"/>
              </a:solidFill>
            </a:endParaRPr>
          </a:p>
          <a:p>
            <a:pPr marL="342900" indent="-342900" algn="l">
              <a:buFont typeface="Arial" panose="020B0604020202020204" pitchFamily="34" charset="0"/>
              <a:buChar char="•"/>
            </a:pPr>
            <a:r>
              <a:rPr lang="en-CN" sz="1800" dirty="0">
                <a:solidFill>
                  <a:srgbClr val="FF0000"/>
                </a:solidFill>
              </a:rPr>
              <a:t>Daniel V. Schroeder, An introduction to Thermal Physics</a:t>
            </a:r>
          </a:p>
          <a:p>
            <a:pPr marL="342900" indent="-342900" algn="l">
              <a:buFont typeface="Arial" panose="020B0604020202020204" pitchFamily="34" charset="0"/>
              <a:buChar char="•"/>
            </a:pPr>
            <a:r>
              <a:rPr lang="en-CN" sz="1800" dirty="0"/>
              <a:t>其他</a:t>
            </a:r>
            <a:r>
              <a:rPr lang="zh-CN" altLang="en-US" sz="1800" dirty="0"/>
              <a:t>（梁希侠、赵柳、林宗涵等等；一些公开课：</a:t>
            </a:r>
            <a:r>
              <a:rPr lang="zh-CN" altLang="en-US" sz="1800" dirty="0">
                <a:solidFill>
                  <a:srgbClr val="FF0000"/>
                </a:solidFill>
              </a:rPr>
              <a:t>林秀豪</a:t>
            </a:r>
            <a:r>
              <a:rPr lang="zh-CN" altLang="en-US" sz="1800" dirty="0"/>
              <a:t>等）</a:t>
            </a:r>
            <a:endParaRPr lang="en-CN" sz="1800" dirty="0"/>
          </a:p>
          <a:p>
            <a:pPr algn="l"/>
            <a:endParaRPr lang="en-CN" sz="1800" dirty="0">
              <a:solidFill>
                <a:srgbClr val="FF0000"/>
              </a:solidFill>
            </a:endParaRPr>
          </a:p>
          <a:p>
            <a:pPr algn="l"/>
            <a:endParaRPr lang="en-CN" sz="1800" dirty="0"/>
          </a:p>
          <a:p>
            <a:pPr algn="l"/>
            <a:r>
              <a:rPr lang="en-CN" sz="1800" dirty="0"/>
              <a:t>成绩</a:t>
            </a:r>
          </a:p>
          <a:p>
            <a:pPr algn="l"/>
            <a:r>
              <a:rPr lang="en-CN" sz="1800" dirty="0"/>
              <a:t>平时</a:t>
            </a:r>
            <a:r>
              <a:rPr lang="zh-CN" altLang="en-US" sz="1800" dirty="0"/>
              <a:t>（作业</a:t>
            </a:r>
            <a:r>
              <a:rPr lang="en-US" altLang="zh-CN" sz="1800" dirty="0"/>
              <a:t>(5+5+5+5+5+5+5)</a:t>
            </a:r>
            <a:r>
              <a:rPr lang="zh-CN" altLang="en-US" sz="1800" dirty="0"/>
              <a:t>、考勤</a:t>
            </a:r>
            <a:r>
              <a:rPr lang="en-US" altLang="zh-CN" sz="1800" dirty="0"/>
              <a:t>(2.5+2.5)</a:t>
            </a:r>
            <a:r>
              <a:rPr lang="zh-CN" altLang="en-US" sz="1800" dirty="0"/>
              <a:t>）：期末</a:t>
            </a:r>
            <a:r>
              <a:rPr lang="en-US" altLang="zh-CN" sz="1800" dirty="0"/>
              <a:t>(</a:t>
            </a:r>
            <a:r>
              <a:rPr lang="zh-CN" altLang="en-US" sz="1800" dirty="0"/>
              <a:t>考察</a:t>
            </a:r>
            <a:r>
              <a:rPr lang="en-US" altLang="zh-CN" sz="1800" dirty="0"/>
              <a:t>)=50:50</a:t>
            </a:r>
          </a:p>
          <a:p>
            <a:pPr algn="l"/>
            <a:endParaRPr lang="en-US" sz="1800" dirty="0"/>
          </a:p>
          <a:p>
            <a:pPr algn="l"/>
            <a:r>
              <a:rPr lang="en-CN" sz="1800" dirty="0"/>
              <a:t>助教</a:t>
            </a:r>
            <a:r>
              <a:rPr lang="zh-CN" altLang="en-US" sz="1800" dirty="0"/>
              <a:t>：徐烨晗，姜义铭</a:t>
            </a:r>
            <a:endParaRPr lang="en-CN" sz="1800" dirty="0"/>
          </a:p>
        </p:txBody>
      </p:sp>
      <p:pic>
        <p:nvPicPr>
          <p:cNvPr id="4" name="Picture 3">
            <a:extLst>
              <a:ext uri="{FF2B5EF4-FFF2-40B4-BE49-F238E27FC236}">
                <a16:creationId xmlns:a16="http://schemas.microsoft.com/office/drawing/2014/main" id="{33E134AD-D4C3-9284-7D95-FA84C34B3FF6}"/>
              </a:ext>
            </a:extLst>
          </p:cNvPr>
          <p:cNvPicPr>
            <a:picLocks noChangeAspect="1"/>
          </p:cNvPicPr>
          <p:nvPr/>
        </p:nvPicPr>
        <p:blipFill>
          <a:blip r:embed="rId2"/>
          <a:stretch>
            <a:fillRect/>
          </a:stretch>
        </p:blipFill>
        <p:spPr>
          <a:xfrm>
            <a:off x="2853378" y="1260059"/>
            <a:ext cx="8692158" cy="906613"/>
          </a:xfrm>
          <a:prstGeom prst="rect">
            <a:avLst/>
          </a:prstGeom>
        </p:spPr>
      </p:pic>
    </p:spTree>
    <p:extLst>
      <p:ext uri="{BB962C8B-B14F-4D97-AF65-F5344CB8AC3E}">
        <p14:creationId xmlns:p14="http://schemas.microsoft.com/office/powerpoint/2010/main" val="136722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33A21-99A5-B743-B903-071811045ED0}"/>
              </a:ext>
            </a:extLst>
          </p:cNvPr>
          <p:cNvSpPr txBox="1"/>
          <p:nvPr/>
        </p:nvSpPr>
        <p:spPr>
          <a:xfrm>
            <a:off x="234176" y="144966"/>
            <a:ext cx="4206088" cy="369332"/>
          </a:xfrm>
          <a:prstGeom prst="rect">
            <a:avLst/>
          </a:prstGeom>
          <a:noFill/>
        </p:spPr>
        <p:txBody>
          <a:bodyPr wrap="square" rtlCol="0">
            <a:spAutoFit/>
          </a:bodyPr>
          <a:lstStyle/>
          <a:p>
            <a:r>
              <a:rPr lang="en-CN" dirty="0"/>
              <a:t>推荐阅读</a:t>
            </a:r>
          </a:p>
        </p:txBody>
      </p:sp>
      <p:pic>
        <p:nvPicPr>
          <p:cNvPr id="1025" name="Picture 1" descr="page1image14082304">
            <a:extLst>
              <a:ext uri="{FF2B5EF4-FFF2-40B4-BE49-F238E27FC236}">
                <a16:creationId xmlns:a16="http://schemas.microsoft.com/office/drawing/2014/main" id="{7FFF6BC7-30DA-AF41-81F7-30A531732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800" y="1103970"/>
            <a:ext cx="5537200" cy="127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4A87831-2BD6-91CB-4110-6F734A62674A}"/>
              </a:ext>
            </a:extLst>
          </p:cNvPr>
          <p:cNvPicPr>
            <a:picLocks noChangeAspect="1"/>
          </p:cNvPicPr>
          <p:nvPr/>
        </p:nvPicPr>
        <p:blipFill>
          <a:blip r:embed="rId3"/>
          <a:stretch>
            <a:fillRect/>
          </a:stretch>
        </p:blipFill>
        <p:spPr>
          <a:xfrm rot="10800000">
            <a:off x="704232" y="514298"/>
            <a:ext cx="8121716" cy="6091287"/>
          </a:xfrm>
          <a:prstGeom prst="rect">
            <a:avLst/>
          </a:prstGeom>
        </p:spPr>
      </p:pic>
      <p:sp>
        <p:nvSpPr>
          <p:cNvPr id="4" name="TextBox 3">
            <a:extLst>
              <a:ext uri="{FF2B5EF4-FFF2-40B4-BE49-F238E27FC236}">
                <a16:creationId xmlns:a16="http://schemas.microsoft.com/office/drawing/2014/main" id="{496C95E8-B384-B9C9-8EB4-24DAE941725E}"/>
              </a:ext>
            </a:extLst>
          </p:cNvPr>
          <p:cNvSpPr txBox="1"/>
          <p:nvPr/>
        </p:nvSpPr>
        <p:spPr>
          <a:xfrm>
            <a:off x="9157253" y="2636612"/>
            <a:ext cx="2796209" cy="1754326"/>
          </a:xfrm>
          <a:prstGeom prst="rect">
            <a:avLst/>
          </a:prstGeom>
          <a:noFill/>
        </p:spPr>
        <p:txBody>
          <a:bodyPr wrap="square" rtlCol="0">
            <a:spAutoFit/>
          </a:bodyPr>
          <a:lstStyle/>
          <a:p>
            <a:r>
              <a:rPr lang="en-CN" dirty="0"/>
              <a:t>科普读物</a:t>
            </a:r>
            <a:r>
              <a:rPr lang="zh-CN" altLang="en-US" dirty="0"/>
              <a:t>（可自选）</a:t>
            </a:r>
            <a:endParaRPr lang="en-US" altLang="zh-CN" dirty="0"/>
          </a:p>
          <a:p>
            <a:endParaRPr lang="en-US" dirty="0"/>
          </a:p>
          <a:p>
            <a:r>
              <a:rPr lang="zh-CN" altLang="en-US" dirty="0">
                <a:solidFill>
                  <a:srgbClr val="FF0000"/>
                </a:solidFill>
              </a:rPr>
              <a:t>针对某一本书（某章节）写读后感（伯苓班学生全要求，其他专业选做，</a:t>
            </a:r>
            <a:r>
              <a:rPr lang="en-US" altLang="zh-CN" dirty="0">
                <a:solidFill>
                  <a:srgbClr val="FF0000"/>
                </a:solidFill>
              </a:rPr>
              <a:t>5000</a:t>
            </a:r>
            <a:r>
              <a:rPr lang="zh-CN" altLang="en-US" dirty="0">
                <a:solidFill>
                  <a:srgbClr val="FF0000"/>
                </a:solidFill>
              </a:rPr>
              <a:t>字以内）</a:t>
            </a:r>
            <a:endParaRPr lang="en-CN" dirty="0">
              <a:solidFill>
                <a:srgbClr val="FF0000"/>
              </a:solidFill>
            </a:endParaRPr>
          </a:p>
        </p:txBody>
      </p:sp>
    </p:spTree>
    <p:extLst>
      <p:ext uri="{BB962C8B-B14F-4D97-AF65-F5344CB8AC3E}">
        <p14:creationId xmlns:p14="http://schemas.microsoft.com/office/powerpoint/2010/main" val="3978348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606B6AC-F9CA-164C-8C20-F1FCA50B1F09}"/>
              </a:ext>
            </a:extLst>
          </p:cNvPr>
          <p:cNvSpPr>
            <a:spLocks noGrp="1"/>
          </p:cNvSpPr>
          <p:nvPr>
            <p:ph type="subTitle" idx="1"/>
          </p:nvPr>
        </p:nvSpPr>
        <p:spPr>
          <a:xfrm>
            <a:off x="617032" y="605298"/>
            <a:ext cx="6787620" cy="6252701"/>
          </a:xfrm>
        </p:spPr>
        <p:txBody>
          <a:bodyPr>
            <a:normAutofit lnSpcReduction="10000"/>
          </a:bodyPr>
          <a:lstStyle/>
          <a:p>
            <a:pPr algn="l"/>
            <a:r>
              <a:rPr lang="en-CN" dirty="0"/>
              <a:t>授课时间</a:t>
            </a:r>
          </a:p>
          <a:p>
            <a:pPr algn="l"/>
            <a:r>
              <a:rPr lang="zh-CN" altLang="en-US" dirty="0"/>
              <a:t>    </a:t>
            </a:r>
            <a:r>
              <a:rPr lang="en-US" altLang="zh-CN" dirty="0"/>
              <a:t>17</a:t>
            </a:r>
            <a:r>
              <a:rPr lang="zh-CN" altLang="en-US" dirty="0"/>
              <a:t>*</a:t>
            </a:r>
            <a:r>
              <a:rPr lang="en-US" altLang="zh-CN" dirty="0"/>
              <a:t>2-2=32</a:t>
            </a:r>
            <a:r>
              <a:rPr lang="zh-CN" altLang="en-US" dirty="0"/>
              <a:t>次</a:t>
            </a:r>
            <a:endParaRPr lang="en-US" altLang="zh-CN" dirty="0"/>
          </a:p>
          <a:p>
            <a:pPr algn="l"/>
            <a:r>
              <a:rPr lang="zh-CN" altLang="en-US" dirty="0"/>
              <a:t> （授课</a:t>
            </a:r>
            <a:r>
              <a:rPr lang="en-US" altLang="zh-CN" dirty="0"/>
              <a:t>25</a:t>
            </a:r>
            <a:r>
              <a:rPr lang="zh-CN" altLang="en-US" dirty="0"/>
              <a:t>，习题课</a:t>
            </a:r>
            <a:r>
              <a:rPr lang="en-US" altLang="zh-CN" dirty="0"/>
              <a:t>2</a:t>
            </a:r>
            <a:r>
              <a:rPr lang="zh-CN" altLang="en-US" dirty="0"/>
              <a:t>，科研讲座</a:t>
            </a:r>
            <a:r>
              <a:rPr lang="en-US" altLang="zh-CN" dirty="0"/>
              <a:t>5</a:t>
            </a:r>
            <a:r>
              <a:rPr lang="zh-CN" altLang="en-US" dirty="0"/>
              <a:t>）</a:t>
            </a:r>
            <a:endParaRPr lang="en-CN" dirty="0"/>
          </a:p>
          <a:p>
            <a:pPr algn="l"/>
            <a:r>
              <a:rPr lang="en-CN" dirty="0"/>
              <a:t>授课内容</a:t>
            </a:r>
          </a:p>
          <a:p>
            <a:pPr marL="342900" indent="-342900" algn="l">
              <a:buFont typeface="Arial" panose="020B0604020202020204" pitchFamily="34" charset="0"/>
              <a:buChar char="•"/>
            </a:pPr>
            <a:r>
              <a:rPr lang="en-CN" dirty="0"/>
              <a:t>统计物理基础知识</a:t>
            </a:r>
            <a:r>
              <a:rPr lang="zh-CN" altLang="en-US" dirty="0"/>
              <a:t>（</a:t>
            </a:r>
            <a:r>
              <a:rPr lang="en-US" altLang="zh-CN" dirty="0"/>
              <a:t>Multiplicity</a:t>
            </a:r>
            <a:r>
              <a:rPr lang="zh-CN" altLang="en-US" dirty="0"/>
              <a:t>，熵，</a:t>
            </a:r>
            <a:endParaRPr lang="en-US" altLang="zh-CN" dirty="0"/>
          </a:p>
          <a:p>
            <a:pPr algn="l"/>
            <a:r>
              <a:rPr lang="zh-CN" altLang="en-US" dirty="0"/>
              <a:t>        温度，</a:t>
            </a:r>
            <a:r>
              <a:rPr lang="en-US" altLang="zh-CN" dirty="0" err="1"/>
              <a:t>Boltzman</a:t>
            </a:r>
            <a:r>
              <a:rPr lang="zh-CN" altLang="en-US" dirty="0"/>
              <a:t>因子，化学势，</a:t>
            </a:r>
            <a:endParaRPr lang="en-US" altLang="zh-CN" dirty="0"/>
          </a:p>
          <a:p>
            <a:pPr algn="l"/>
            <a:r>
              <a:rPr lang="zh-CN" altLang="en-US" dirty="0"/>
              <a:t>        </a:t>
            </a:r>
            <a:r>
              <a:rPr lang="en-US" altLang="zh-CN" dirty="0"/>
              <a:t>Gibbs</a:t>
            </a:r>
            <a:r>
              <a:rPr lang="zh-CN" altLang="en-US" dirty="0"/>
              <a:t> </a:t>
            </a:r>
            <a:r>
              <a:rPr lang="en-US" altLang="zh-CN" dirty="0"/>
              <a:t>sum</a:t>
            </a:r>
            <a:r>
              <a:rPr lang="zh-CN" altLang="en-US" dirty="0"/>
              <a:t>。。。）</a:t>
            </a:r>
            <a:endParaRPr lang="en-US" altLang="zh-CN" dirty="0"/>
          </a:p>
          <a:p>
            <a:pPr marL="342900" indent="-342900" algn="l">
              <a:buFont typeface="Arial" panose="020B0604020202020204" pitchFamily="34" charset="0"/>
              <a:buChar char="•"/>
            </a:pPr>
            <a:r>
              <a:rPr lang="zh-CN" altLang="en-US" dirty="0"/>
              <a:t>量子统计（费米，</a:t>
            </a:r>
            <a:r>
              <a:rPr lang="zh-CN" altLang="en-CN" dirty="0"/>
              <a:t>玻色</a:t>
            </a:r>
            <a:r>
              <a:rPr lang="zh-CN" altLang="en-US" dirty="0"/>
              <a:t>）</a:t>
            </a:r>
            <a:endParaRPr lang="en-US" altLang="zh-CN" dirty="0"/>
          </a:p>
          <a:p>
            <a:pPr marL="342900" indent="-342900" algn="l">
              <a:buFont typeface="Arial" panose="020B0604020202020204" pitchFamily="34" charset="0"/>
              <a:buChar char="•"/>
            </a:pPr>
            <a:r>
              <a:rPr lang="zh-CN" altLang="en-US" dirty="0"/>
              <a:t>相互作用系统</a:t>
            </a:r>
            <a:endParaRPr lang="en-US" altLang="zh-CN" dirty="0"/>
          </a:p>
          <a:p>
            <a:pPr marL="342900" indent="-342900" algn="l">
              <a:buFont typeface="Arial" panose="020B0604020202020204" pitchFamily="34" charset="0"/>
              <a:buChar char="•"/>
            </a:pPr>
            <a:r>
              <a:rPr lang="zh-CN" altLang="en-US" dirty="0"/>
              <a:t>相变</a:t>
            </a:r>
            <a:endParaRPr lang="en-US" altLang="zh-CN" dirty="0"/>
          </a:p>
          <a:p>
            <a:pPr marL="342900" indent="-342900" algn="l">
              <a:buFont typeface="Arial" panose="020B0604020202020204" pitchFamily="34" charset="0"/>
              <a:buChar char="•"/>
            </a:pPr>
            <a:r>
              <a:rPr lang="zh-CN" altLang="en-US" dirty="0"/>
              <a:t>专题一二</a:t>
            </a:r>
            <a:endParaRPr lang="en-US" altLang="zh-CN" dirty="0"/>
          </a:p>
          <a:p>
            <a:pPr marL="342900" indent="-342900" algn="l">
              <a:buFont typeface="Arial" panose="020B0604020202020204" pitchFamily="34" charset="0"/>
              <a:buChar char="•"/>
            </a:pPr>
            <a:r>
              <a:rPr lang="zh-CN" altLang="en-US" dirty="0"/>
              <a:t>科研进课堂（胡、李、付、潘等）</a:t>
            </a:r>
            <a:endParaRPr lang="en-US" altLang="zh-CN" dirty="0"/>
          </a:p>
          <a:p>
            <a:pPr algn="l"/>
            <a:r>
              <a:rPr lang="zh-CN" altLang="en-US" dirty="0"/>
              <a:t>数值软件</a:t>
            </a:r>
            <a:endParaRPr lang="en-US" altLang="zh-CN" dirty="0"/>
          </a:p>
          <a:p>
            <a:pPr algn="l"/>
            <a:r>
              <a:rPr lang="zh-CN" altLang="en-US" dirty="0"/>
              <a:t>      </a:t>
            </a:r>
            <a:r>
              <a:rPr lang="en-US" altLang="zh-CN" dirty="0"/>
              <a:t>Mathematica</a:t>
            </a:r>
          </a:p>
          <a:p>
            <a:pPr marL="342900" indent="-342900" algn="l">
              <a:buFont typeface="Arial" panose="020B0604020202020204" pitchFamily="34" charset="0"/>
              <a:buChar char="•"/>
            </a:pPr>
            <a:endParaRPr lang="en-CN" dirty="0"/>
          </a:p>
        </p:txBody>
      </p:sp>
      <p:pic>
        <p:nvPicPr>
          <p:cNvPr id="5" name="Picture 4">
            <a:extLst>
              <a:ext uri="{FF2B5EF4-FFF2-40B4-BE49-F238E27FC236}">
                <a16:creationId xmlns:a16="http://schemas.microsoft.com/office/drawing/2014/main" id="{81299309-7B69-E45B-1C5A-ABBAEA8DFEF8}"/>
              </a:ext>
            </a:extLst>
          </p:cNvPr>
          <p:cNvPicPr>
            <a:picLocks noChangeAspect="1"/>
          </p:cNvPicPr>
          <p:nvPr/>
        </p:nvPicPr>
        <p:blipFill>
          <a:blip r:embed="rId2"/>
          <a:stretch>
            <a:fillRect/>
          </a:stretch>
        </p:blipFill>
        <p:spPr>
          <a:xfrm>
            <a:off x="7735619" y="146297"/>
            <a:ext cx="3632200" cy="6375400"/>
          </a:xfrm>
          <a:prstGeom prst="rect">
            <a:avLst/>
          </a:prstGeom>
        </p:spPr>
      </p:pic>
    </p:spTree>
    <p:extLst>
      <p:ext uri="{BB962C8B-B14F-4D97-AF65-F5344CB8AC3E}">
        <p14:creationId xmlns:p14="http://schemas.microsoft.com/office/powerpoint/2010/main" val="3673757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5A002EA-5068-7D42-8046-FB25A29578B0}"/>
              </a:ext>
            </a:extLst>
          </p:cNvPr>
          <p:cNvSpPr txBox="1"/>
          <p:nvPr/>
        </p:nvSpPr>
        <p:spPr>
          <a:xfrm>
            <a:off x="6486861" y="4641291"/>
            <a:ext cx="5206701" cy="1384995"/>
          </a:xfrm>
          <a:prstGeom prst="rect">
            <a:avLst/>
          </a:prstGeom>
          <a:noFill/>
        </p:spPr>
        <p:txBody>
          <a:bodyPr wrap="square" rtlCol="0">
            <a:spAutoFit/>
          </a:bodyPr>
          <a:lstStyle/>
          <a:p>
            <a:r>
              <a:rPr lang="en-CN" sz="2800" dirty="0">
                <a:latin typeface="FangSong" panose="02010609060101010101" pitchFamily="49" charset="-122"/>
                <a:ea typeface="FangSong" panose="02010609060101010101" pitchFamily="49" charset="-122"/>
              </a:rPr>
              <a:t>为何要学</a:t>
            </a:r>
            <a:r>
              <a:rPr lang="zh-CN" altLang="en-US" sz="2800" dirty="0">
                <a:latin typeface="FangSong" panose="02010609060101010101" pitchFamily="49" charset="-122"/>
                <a:ea typeface="FangSong" panose="02010609060101010101" pitchFamily="49" charset="-122"/>
              </a:rPr>
              <a:t>？怎么学？怎么教？</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热物教学</a:t>
            </a:r>
            <a:r>
              <a:rPr lang="en-US" altLang="zh-CN" sz="2800" dirty="0">
                <a:latin typeface="FangSong" panose="02010609060101010101" pitchFamily="49" charset="-122"/>
                <a:ea typeface="FangSong" panose="02010609060101010101" pitchFamily="49" charset="-122"/>
              </a:rPr>
              <a:t>/</a:t>
            </a:r>
            <a:r>
              <a:rPr lang="zh-CN" altLang="en-US" sz="2800" dirty="0">
                <a:latin typeface="FangSong" panose="02010609060101010101" pitchFamily="49" charset="-122"/>
                <a:ea typeface="FangSong" panose="02010609060101010101" pitchFamily="49" charset="-122"/>
              </a:rPr>
              <a:t>学习的目的是什么？</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一个学期下来的收获是什么？</a:t>
            </a:r>
            <a:endParaRPr lang="en-CN" sz="28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2793237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nabe Hasselmann Parisi">
            <a:extLst>
              <a:ext uri="{FF2B5EF4-FFF2-40B4-BE49-F238E27FC236}">
                <a16:creationId xmlns:a16="http://schemas.microsoft.com/office/drawing/2014/main" id="{CF5E9C95-933E-D541-ABE8-38C333F64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7848" y="107576"/>
            <a:ext cx="4748923" cy="31422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33AE2D-EA17-F84D-82DC-3541E1B73998}"/>
              </a:ext>
            </a:extLst>
          </p:cNvPr>
          <p:cNvSpPr txBox="1"/>
          <p:nvPr/>
        </p:nvSpPr>
        <p:spPr>
          <a:xfrm>
            <a:off x="165528" y="232244"/>
            <a:ext cx="7132320" cy="2862322"/>
          </a:xfrm>
          <a:prstGeom prst="rect">
            <a:avLst/>
          </a:prstGeom>
          <a:noFill/>
        </p:spPr>
        <p:txBody>
          <a:bodyPr wrap="square" rtlCol="0">
            <a:spAutoFit/>
          </a:bodyPr>
          <a:lstStyle/>
          <a:p>
            <a:r>
              <a:rPr lang="en-US" sz="2000" dirty="0"/>
              <a:t>One half of the Nobel Prize in Physics(</a:t>
            </a:r>
            <a:r>
              <a:rPr lang="en-US" sz="2000" dirty="0">
                <a:solidFill>
                  <a:srgbClr val="FF0000"/>
                </a:solidFill>
              </a:rPr>
              <a:t>2021</a:t>
            </a:r>
            <a:r>
              <a:rPr lang="en-US" sz="2000" dirty="0"/>
              <a:t>) is awarded jointly to Manabe, a Japanese American climatologist, and </a:t>
            </a:r>
            <a:r>
              <a:rPr lang="en-US" sz="2000" dirty="0" err="1"/>
              <a:t>Hasselmann</a:t>
            </a:r>
            <a:r>
              <a:rPr lang="en-US" sz="2000" dirty="0"/>
              <a:t>, a German oceanographer, “for the physical modelling of Earth’s climate, quantifying variability and reliably predicting global warming.” The other half is awarded to </a:t>
            </a:r>
            <a:r>
              <a:rPr lang="en-US" sz="2000" dirty="0" err="1">
                <a:solidFill>
                  <a:srgbClr val="FF0000"/>
                </a:solidFill>
              </a:rPr>
              <a:t>Parisi</a:t>
            </a:r>
            <a:r>
              <a:rPr lang="en-US" sz="2000" dirty="0"/>
              <a:t>, an Italian theoretical physicist, “</a:t>
            </a:r>
            <a:r>
              <a:rPr lang="en-US" sz="2000" dirty="0">
                <a:solidFill>
                  <a:srgbClr val="FF0000"/>
                </a:solidFill>
              </a:rPr>
              <a:t>for the discovery of the interplay of disorder and fluctuations in physical systems from atomic to planetary scales</a:t>
            </a:r>
            <a:r>
              <a:rPr lang="en-US" sz="2000" dirty="0"/>
              <a:t>.” Together, their work uses simple theories to explain how </a:t>
            </a:r>
            <a:r>
              <a:rPr lang="en-US" sz="2000" dirty="0">
                <a:solidFill>
                  <a:srgbClr val="FF0000"/>
                </a:solidFill>
              </a:rPr>
              <a:t>random, disordered, and complex phenomena</a:t>
            </a:r>
            <a:r>
              <a:rPr lang="en-US" sz="2000" dirty="0"/>
              <a:t> arise and change over time.</a:t>
            </a:r>
            <a:endParaRPr lang="en-CN" sz="2000" dirty="0"/>
          </a:p>
        </p:txBody>
      </p:sp>
      <p:pic>
        <p:nvPicPr>
          <p:cNvPr id="6" name="Picture 5">
            <a:extLst>
              <a:ext uri="{FF2B5EF4-FFF2-40B4-BE49-F238E27FC236}">
                <a16:creationId xmlns:a16="http://schemas.microsoft.com/office/drawing/2014/main" id="{B7A796CC-4E24-AD46-8E89-EACC0B4707FA}"/>
              </a:ext>
            </a:extLst>
          </p:cNvPr>
          <p:cNvPicPr>
            <a:picLocks noChangeAspect="1"/>
          </p:cNvPicPr>
          <p:nvPr/>
        </p:nvPicPr>
        <p:blipFill>
          <a:blip r:embed="rId3"/>
          <a:stretch>
            <a:fillRect/>
          </a:stretch>
        </p:blipFill>
        <p:spPr>
          <a:xfrm>
            <a:off x="793998" y="3022169"/>
            <a:ext cx="10268450" cy="3866377"/>
          </a:xfrm>
          <a:prstGeom prst="rect">
            <a:avLst/>
          </a:prstGeom>
        </p:spPr>
      </p:pic>
    </p:spTree>
    <p:extLst>
      <p:ext uri="{BB962C8B-B14F-4D97-AF65-F5344CB8AC3E}">
        <p14:creationId xmlns:p14="http://schemas.microsoft.com/office/powerpoint/2010/main" val="945768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nabe Hasselmann Parisi">
            <a:extLst>
              <a:ext uri="{FF2B5EF4-FFF2-40B4-BE49-F238E27FC236}">
                <a16:creationId xmlns:a16="http://schemas.microsoft.com/office/drawing/2014/main" id="{CF5E9C95-933E-D541-ABE8-38C333F64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7848" y="107576"/>
            <a:ext cx="4748923" cy="31422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33AE2D-EA17-F84D-82DC-3541E1B73998}"/>
              </a:ext>
            </a:extLst>
          </p:cNvPr>
          <p:cNvSpPr txBox="1"/>
          <p:nvPr/>
        </p:nvSpPr>
        <p:spPr>
          <a:xfrm>
            <a:off x="165528" y="232244"/>
            <a:ext cx="7132320" cy="2862322"/>
          </a:xfrm>
          <a:prstGeom prst="rect">
            <a:avLst/>
          </a:prstGeom>
          <a:noFill/>
        </p:spPr>
        <p:txBody>
          <a:bodyPr wrap="square" rtlCol="0">
            <a:spAutoFit/>
          </a:bodyPr>
          <a:lstStyle/>
          <a:p>
            <a:r>
              <a:rPr lang="en-US" sz="2000" dirty="0"/>
              <a:t>One half of the Nobel Prize in Physics(</a:t>
            </a:r>
            <a:r>
              <a:rPr lang="en-US" sz="2000" dirty="0">
                <a:solidFill>
                  <a:srgbClr val="FF0000"/>
                </a:solidFill>
              </a:rPr>
              <a:t>2021</a:t>
            </a:r>
            <a:r>
              <a:rPr lang="en-US" sz="2000" dirty="0"/>
              <a:t>) is awarded jointly to Manabe, a Japanese American climatologist, and </a:t>
            </a:r>
            <a:r>
              <a:rPr lang="en-US" sz="2000" dirty="0" err="1"/>
              <a:t>Hasselmann</a:t>
            </a:r>
            <a:r>
              <a:rPr lang="en-US" sz="2000" dirty="0"/>
              <a:t>, a German oceanographer, “for the physical modelling of Earth’s climate, quantifying variability and reliably predicting global warming.” The other half is awarded to </a:t>
            </a:r>
            <a:r>
              <a:rPr lang="en-US" sz="2000" dirty="0" err="1">
                <a:solidFill>
                  <a:srgbClr val="FF0000"/>
                </a:solidFill>
              </a:rPr>
              <a:t>Parisi</a:t>
            </a:r>
            <a:r>
              <a:rPr lang="en-US" sz="2000" dirty="0"/>
              <a:t>, an Italian theoretical physicist, “</a:t>
            </a:r>
            <a:r>
              <a:rPr lang="en-US" sz="2000" dirty="0">
                <a:solidFill>
                  <a:srgbClr val="FF0000"/>
                </a:solidFill>
              </a:rPr>
              <a:t>for the discovery of the interplay of disorder and fluctuations in physical systems from atomic to planetary scales</a:t>
            </a:r>
            <a:r>
              <a:rPr lang="en-US" sz="2000" dirty="0"/>
              <a:t>.” Together, their work uses simple theories to explain how </a:t>
            </a:r>
            <a:r>
              <a:rPr lang="en-US" sz="2000" dirty="0">
                <a:solidFill>
                  <a:srgbClr val="FF0000"/>
                </a:solidFill>
              </a:rPr>
              <a:t>random, disordered, and complex phenomena</a:t>
            </a:r>
            <a:r>
              <a:rPr lang="en-US" sz="2000" dirty="0"/>
              <a:t> arise and change over time.</a:t>
            </a:r>
            <a:endParaRPr lang="en-CN" sz="2000" dirty="0"/>
          </a:p>
        </p:txBody>
      </p:sp>
      <p:pic>
        <p:nvPicPr>
          <p:cNvPr id="3" name="Picture 2">
            <a:extLst>
              <a:ext uri="{FF2B5EF4-FFF2-40B4-BE49-F238E27FC236}">
                <a16:creationId xmlns:a16="http://schemas.microsoft.com/office/drawing/2014/main" id="{2E389A01-65CA-7B49-B167-A46E6D779344}"/>
              </a:ext>
            </a:extLst>
          </p:cNvPr>
          <p:cNvPicPr>
            <a:picLocks noChangeAspect="1"/>
          </p:cNvPicPr>
          <p:nvPr/>
        </p:nvPicPr>
        <p:blipFill>
          <a:blip r:embed="rId3"/>
          <a:stretch>
            <a:fillRect/>
          </a:stretch>
        </p:blipFill>
        <p:spPr>
          <a:xfrm>
            <a:off x="0" y="3429000"/>
            <a:ext cx="12192000" cy="2658630"/>
          </a:xfrm>
          <a:prstGeom prst="rect">
            <a:avLst/>
          </a:prstGeom>
        </p:spPr>
      </p:pic>
      <p:pic>
        <p:nvPicPr>
          <p:cNvPr id="5" name="Picture 4">
            <a:extLst>
              <a:ext uri="{FF2B5EF4-FFF2-40B4-BE49-F238E27FC236}">
                <a16:creationId xmlns:a16="http://schemas.microsoft.com/office/drawing/2014/main" id="{B4777DD3-0960-1CE1-BBE1-3D7F604D36D3}"/>
              </a:ext>
            </a:extLst>
          </p:cNvPr>
          <p:cNvPicPr>
            <a:picLocks noChangeAspect="1"/>
          </p:cNvPicPr>
          <p:nvPr/>
        </p:nvPicPr>
        <p:blipFill>
          <a:blip r:embed="rId4"/>
          <a:stretch>
            <a:fillRect/>
          </a:stretch>
        </p:blipFill>
        <p:spPr>
          <a:xfrm>
            <a:off x="4478894" y="5780872"/>
            <a:ext cx="6464300" cy="1003300"/>
          </a:xfrm>
          <a:prstGeom prst="rect">
            <a:avLst/>
          </a:prstGeom>
        </p:spPr>
      </p:pic>
    </p:spTree>
    <p:extLst>
      <p:ext uri="{BB962C8B-B14F-4D97-AF65-F5344CB8AC3E}">
        <p14:creationId xmlns:p14="http://schemas.microsoft.com/office/powerpoint/2010/main" val="1715254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nabe Hasselmann Parisi">
            <a:extLst>
              <a:ext uri="{FF2B5EF4-FFF2-40B4-BE49-F238E27FC236}">
                <a16:creationId xmlns:a16="http://schemas.microsoft.com/office/drawing/2014/main" id="{CF5E9C95-933E-D541-ABE8-38C333F64B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7848" y="107576"/>
            <a:ext cx="4748923" cy="31422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633AE2D-EA17-F84D-82DC-3541E1B73998}"/>
              </a:ext>
            </a:extLst>
          </p:cNvPr>
          <p:cNvSpPr txBox="1"/>
          <p:nvPr/>
        </p:nvSpPr>
        <p:spPr>
          <a:xfrm>
            <a:off x="165528" y="232244"/>
            <a:ext cx="7132320" cy="2862322"/>
          </a:xfrm>
          <a:prstGeom prst="rect">
            <a:avLst/>
          </a:prstGeom>
          <a:noFill/>
        </p:spPr>
        <p:txBody>
          <a:bodyPr wrap="square" rtlCol="0">
            <a:spAutoFit/>
          </a:bodyPr>
          <a:lstStyle/>
          <a:p>
            <a:r>
              <a:rPr lang="en-US" sz="2000" dirty="0"/>
              <a:t>One half of the Nobel Prize in Physics(</a:t>
            </a:r>
            <a:r>
              <a:rPr lang="en-US" sz="2000" dirty="0">
                <a:solidFill>
                  <a:srgbClr val="FF0000"/>
                </a:solidFill>
              </a:rPr>
              <a:t>2021</a:t>
            </a:r>
            <a:r>
              <a:rPr lang="en-US" sz="2000" dirty="0"/>
              <a:t>) is awarded jointly to Manabe, a Japanese American climatologist, and </a:t>
            </a:r>
            <a:r>
              <a:rPr lang="en-US" sz="2000" dirty="0" err="1"/>
              <a:t>Hasselmann</a:t>
            </a:r>
            <a:r>
              <a:rPr lang="en-US" sz="2000" dirty="0"/>
              <a:t>, a German oceanographer, “for the physical modelling of Earth’s climate, quantifying variability and reliably predicting global warming.” The other half is awarded to </a:t>
            </a:r>
            <a:r>
              <a:rPr lang="en-US" sz="2000" dirty="0" err="1">
                <a:solidFill>
                  <a:srgbClr val="FF0000"/>
                </a:solidFill>
              </a:rPr>
              <a:t>Parisi</a:t>
            </a:r>
            <a:r>
              <a:rPr lang="en-US" sz="2000" dirty="0"/>
              <a:t>, an Italian theoretical physicist, “</a:t>
            </a:r>
            <a:r>
              <a:rPr lang="en-US" sz="2000" dirty="0">
                <a:solidFill>
                  <a:srgbClr val="FF0000"/>
                </a:solidFill>
              </a:rPr>
              <a:t>for the discovery of the interplay of disorder and fluctuations in physical systems from atomic to planetary scales</a:t>
            </a:r>
            <a:r>
              <a:rPr lang="en-US" sz="2000" dirty="0"/>
              <a:t>.” Together, their work uses simple theories to explain how </a:t>
            </a:r>
            <a:r>
              <a:rPr lang="en-US" sz="2000" dirty="0">
                <a:solidFill>
                  <a:srgbClr val="FF0000"/>
                </a:solidFill>
              </a:rPr>
              <a:t>random, disordered, and complex phenomena</a:t>
            </a:r>
            <a:r>
              <a:rPr lang="en-US" sz="2000" dirty="0"/>
              <a:t> arise and change over time.</a:t>
            </a:r>
            <a:endParaRPr lang="en-CN" sz="2000" dirty="0"/>
          </a:p>
        </p:txBody>
      </p:sp>
      <p:pic>
        <p:nvPicPr>
          <p:cNvPr id="2" name="Picture 1">
            <a:extLst>
              <a:ext uri="{FF2B5EF4-FFF2-40B4-BE49-F238E27FC236}">
                <a16:creationId xmlns:a16="http://schemas.microsoft.com/office/drawing/2014/main" id="{58102606-3BFE-6F42-A74A-3BF8CF1F9513}"/>
              </a:ext>
            </a:extLst>
          </p:cNvPr>
          <p:cNvPicPr>
            <a:picLocks noChangeAspect="1"/>
          </p:cNvPicPr>
          <p:nvPr/>
        </p:nvPicPr>
        <p:blipFill>
          <a:blip r:embed="rId3"/>
          <a:stretch>
            <a:fillRect/>
          </a:stretch>
        </p:blipFill>
        <p:spPr>
          <a:xfrm>
            <a:off x="776868" y="3333964"/>
            <a:ext cx="6096000" cy="3405309"/>
          </a:xfrm>
          <a:prstGeom prst="rect">
            <a:avLst/>
          </a:prstGeom>
        </p:spPr>
      </p:pic>
      <p:sp>
        <p:nvSpPr>
          <p:cNvPr id="5" name="TextBox 4">
            <a:extLst>
              <a:ext uri="{FF2B5EF4-FFF2-40B4-BE49-F238E27FC236}">
                <a16:creationId xmlns:a16="http://schemas.microsoft.com/office/drawing/2014/main" id="{0B22B991-8012-684C-B430-75BD1AAA947D}"/>
              </a:ext>
            </a:extLst>
          </p:cNvPr>
          <p:cNvSpPr txBox="1"/>
          <p:nvPr/>
        </p:nvSpPr>
        <p:spPr>
          <a:xfrm>
            <a:off x="6925170" y="4067122"/>
            <a:ext cx="5266830" cy="2554545"/>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导师推荐</a:t>
            </a:r>
            <a:r>
              <a:rPr lang="zh-CN" altLang="en-US" sz="4000" dirty="0">
                <a:latin typeface="FangSong" panose="02010609060101010101" pitchFamily="49" charset="-122"/>
                <a:ea typeface="FangSong" panose="02010609060101010101" pitchFamily="49" charset="-122"/>
              </a:rPr>
              <a:t>！</a:t>
            </a:r>
            <a:endParaRPr lang="en-US" altLang="zh-CN" sz="4000" dirty="0">
              <a:latin typeface="FangSong" panose="02010609060101010101" pitchFamily="49" charset="-122"/>
              <a:ea typeface="FangSong" panose="02010609060101010101" pitchFamily="49" charset="-122"/>
            </a:endParaRPr>
          </a:p>
          <a:p>
            <a:r>
              <a:rPr lang="zh-CN" altLang="en-US" sz="4000" dirty="0">
                <a:latin typeface="FangSong" panose="02010609060101010101" pitchFamily="49" charset="-122"/>
                <a:ea typeface="FangSong" panose="02010609060101010101" pitchFamily="49" charset="-122"/>
              </a:rPr>
              <a:t>本课程定位基础训练！</a:t>
            </a:r>
            <a:endParaRPr lang="en-US" altLang="zh-CN" sz="4000" dirty="0">
              <a:latin typeface="FangSong" panose="02010609060101010101" pitchFamily="49" charset="-122"/>
              <a:ea typeface="FangSong" panose="02010609060101010101" pitchFamily="49" charset="-122"/>
            </a:endParaRPr>
          </a:p>
          <a:p>
            <a:r>
              <a:rPr lang="zh-CN" altLang="en-US" sz="4000" dirty="0">
                <a:solidFill>
                  <a:srgbClr val="FF0000"/>
                </a:solidFill>
                <a:latin typeface="FangSong" panose="02010609060101010101" pitchFamily="49" charset="-122"/>
                <a:ea typeface="FangSong" panose="02010609060101010101" pitchFamily="49" charset="-122"/>
              </a:rPr>
              <a:t>理论物理背景的老师？</a:t>
            </a:r>
            <a:endParaRPr lang="en-US" altLang="zh-CN" sz="4000" dirty="0">
              <a:solidFill>
                <a:srgbClr val="FF0000"/>
              </a:solidFill>
              <a:latin typeface="FangSong" panose="02010609060101010101" pitchFamily="49" charset="-122"/>
              <a:ea typeface="FangSong" panose="02010609060101010101" pitchFamily="49" charset="-122"/>
            </a:endParaRPr>
          </a:p>
          <a:p>
            <a:r>
              <a:rPr lang="zh-CN" altLang="en-US" sz="4000" dirty="0">
                <a:latin typeface="FangSong" panose="02010609060101010101" pitchFamily="49" charset="-122"/>
                <a:ea typeface="FangSong" panose="02010609060101010101" pitchFamily="49" charset="-122"/>
              </a:rPr>
              <a:t>赵柳</a:t>
            </a:r>
            <a:r>
              <a:rPr lang="en-US" altLang="zh-CN" sz="4000" dirty="0">
                <a:latin typeface="FangSong" panose="02010609060101010101" pitchFamily="49" charset="-122"/>
                <a:ea typeface="FangSong" panose="02010609060101010101" pitchFamily="49" charset="-122"/>
              </a:rPr>
              <a:t>+</a:t>
            </a:r>
            <a:r>
              <a:rPr lang="zh-CN" altLang="en-US" sz="4000" dirty="0">
                <a:latin typeface="FangSong" panose="02010609060101010101" pitchFamily="49" charset="-122"/>
                <a:ea typeface="FangSong" panose="02010609060101010101" pitchFamily="49" charset="-122"/>
              </a:rPr>
              <a:t>常雷</a:t>
            </a:r>
            <a:endParaRPr lang="en-CN" sz="4000" dirty="0">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2891461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CF2D4A-DD50-FB47-BF0A-E4728E0ECC39}"/>
              </a:ext>
            </a:extLst>
          </p:cNvPr>
          <p:cNvPicPr>
            <a:picLocks noChangeAspect="1"/>
          </p:cNvPicPr>
          <p:nvPr/>
        </p:nvPicPr>
        <p:blipFill>
          <a:blip r:embed="rId2"/>
          <a:stretch>
            <a:fillRect/>
          </a:stretch>
        </p:blipFill>
        <p:spPr>
          <a:xfrm>
            <a:off x="193039" y="75304"/>
            <a:ext cx="5902961" cy="6298602"/>
          </a:xfrm>
          <a:prstGeom prst="rect">
            <a:avLst/>
          </a:prstGeom>
          <a:solidFill>
            <a:schemeClr val="accent4"/>
          </a:solidFill>
        </p:spPr>
      </p:pic>
      <p:sp>
        <p:nvSpPr>
          <p:cNvPr id="5" name="TextBox 4">
            <a:extLst>
              <a:ext uri="{FF2B5EF4-FFF2-40B4-BE49-F238E27FC236}">
                <a16:creationId xmlns:a16="http://schemas.microsoft.com/office/drawing/2014/main" id="{1A416080-9867-2947-AD6B-5482AECB3164}"/>
              </a:ext>
            </a:extLst>
          </p:cNvPr>
          <p:cNvSpPr txBox="1"/>
          <p:nvPr/>
        </p:nvSpPr>
        <p:spPr>
          <a:xfrm>
            <a:off x="96819" y="6429501"/>
            <a:ext cx="6390042" cy="369332"/>
          </a:xfrm>
          <a:prstGeom prst="rect">
            <a:avLst/>
          </a:prstGeom>
          <a:noFill/>
        </p:spPr>
        <p:txBody>
          <a:bodyPr wrap="square" rtlCol="0">
            <a:spAutoFit/>
          </a:bodyPr>
          <a:lstStyle/>
          <a:p>
            <a:r>
              <a:rPr lang="en-CN" dirty="0"/>
              <a:t>刘全慧博文</a:t>
            </a:r>
            <a:r>
              <a:rPr lang="en-US" dirty="0"/>
              <a:t>https://</a:t>
            </a:r>
            <a:r>
              <a:rPr lang="en-US" dirty="0" err="1"/>
              <a:t>blog.sciencenet.cn</a:t>
            </a:r>
            <a:r>
              <a:rPr lang="en-US" dirty="0"/>
              <a:t>/blog-3377-514218.html</a:t>
            </a:r>
            <a:endParaRPr lang="en-CN" dirty="0"/>
          </a:p>
        </p:txBody>
      </p:sp>
      <p:pic>
        <p:nvPicPr>
          <p:cNvPr id="7" name="Picture 6">
            <a:extLst>
              <a:ext uri="{FF2B5EF4-FFF2-40B4-BE49-F238E27FC236}">
                <a16:creationId xmlns:a16="http://schemas.microsoft.com/office/drawing/2014/main" id="{8CCCE68A-892E-7C4C-B657-7781F2DA3F8A}"/>
              </a:ext>
            </a:extLst>
          </p:cNvPr>
          <p:cNvPicPr>
            <a:picLocks noChangeAspect="1"/>
          </p:cNvPicPr>
          <p:nvPr/>
        </p:nvPicPr>
        <p:blipFill>
          <a:blip r:embed="rId3"/>
          <a:stretch>
            <a:fillRect/>
          </a:stretch>
        </p:blipFill>
        <p:spPr>
          <a:xfrm>
            <a:off x="6226124" y="75304"/>
            <a:ext cx="5876378" cy="2883049"/>
          </a:xfrm>
          <a:prstGeom prst="rect">
            <a:avLst/>
          </a:prstGeom>
        </p:spPr>
      </p:pic>
      <p:cxnSp>
        <p:nvCxnSpPr>
          <p:cNvPr id="9" name="Straight Connector 8">
            <a:extLst>
              <a:ext uri="{FF2B5EF4-FFF2-40B4-BE49-F238E27FC236}">
                <a16:creationId xmlns:a16="http://schemas.microsoft.com/office/drawing/2014/main" id="{62B98FCA-BA23-CC42-826D-5676E318F4FA}"/>
              </a:ext>
            </a:extLst>
          </p:cNvPr>
          <p:cNvCxnSpPr/>
          <p:nvPr/>
        </p:nvCxnSpPr>
        <p:spPr>
          <a:xfrm>
            <a:off x="6250193" y="75304"/>
            <a:ext cx="0" cy="672352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5A002EA-5068-7D42-8046-FB25A29578B0}"/>
              </a:ext>
            </a:extLst>
          </p:cNvPr>
          <p:cNvSpPr txBox="1"/>
          <p:nvPr/>
        </p:nvSpPr>
        <p:spPr>
          <a:xfrm>
            <a:off x="6486861" y="4641291"/>
            <a:ext cx="5206701" cy="1384995"/>
          </a:xfrm>
          <a:prstGeom prst="rect">
            <a:avLst/>
          </a:prstGeom>
          <a:noFill/>
        </p:spPr>
        <p:txBody>
          <a:bodyPr wrap="square" rtlCol="0">
            <a:spAutoFit/>
          </a:bodyPr>
          <a:lstStyle/>
          <a:p>
            <a:r>
              <a:rPr lang="en-CN" sz="2800" dirty="0">
                <a:latin typeface="FangSong" panose="02010609060101010101" pitchFamily="49" charset="-122"/>
                <a:ea typeface="FangSong" panose="02010609060101010101" pitchFamily="49" charset="-122"/>
              </a:rPr>
              <a:t>为何要学</a:t>
            </a:r>
            <a:r>
              <a:rPr lang="zh-CN" altLang="en-US" sz="2800" dirty="0">
                <a:latin typeface="FangSong" panose="02010609060101010101" pitchFamily="49" charset="-122"/>
                <a:ea typeface="FangSong" panose="02010609060101010101" pitchFamily="49" charset="-122"/>
              </a:rPr>
              <a:t>？怎么学？怎么教？</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热物教学</a:t>
            </a:r>
            <a:r>
              <a:rPr lang="en-US" altLang="zh-CN" sz="2800" dirty="0">
                <a:latin typeface="FangSong" panose="02010609060101010101" pitchFamily="49" charset="-122"/>
                <a:ea typeface="FangSong" panose="02010609060101010101" pitchFamily="49" charset="-122"/>
              </a:rPr>
              <a:t>/</a:t>
            </a:r>
            <a:r>
              <a:rPr lang="zh-CN" altLang="en-US" sz="2800" dirty="0">
                <a:latin typeface="FangSong" panose="02010609060101010101" pitchFamily="49" charset="-122"/>
                <a:ea typeface="FangSong" panose="02010609060101010101" pitchFamily="49" charset="-122"/>
              </a:rPr>
              <a:t>学习的目的是什么？</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一个学期下来的收获是什么？</a:t>
            </a:r>
            <a:endParaRPr lang="en-CN" sz="2800" dirty="0">
              <a:latin typeface="FangSong" panose="02010609060101010101" pitchFamily="49" charset="-122"/>
              <a:ea typeface="FangSong" panose="02010609060101010101" pitchFamily="49" charset="-122"/>
            </a:endParaRPr>
          </a:p>
        </p:txBody>
      </p:sp>
      <p:sp>
        <p:nvSpPr>
          <p:cNvPr id="11" name="TextBox 10">
            <a:extLst>
              <a:ext uri="{FF2B5EF4-FFF2-40B4-BE49-F238E27FC236}">
                <a16:creationId xmlns:a16="http://schemas.microsoft.com/office/drawing/2014/main" id="{B39ADCCF-46EF-364A-A5A1-3F9EFD8AB85A}"/>
              </a:ext>
            </a:extLst>
          </p:cNvPr>
          <p:cNvSpPr txBox="1"/>
          <p:nvPr/>
        </p:nvSpPr>
        <p:spPr>
          <a:xfrm>
            <a:off x="7805741" y="3338157"/>
            <a:ext cx="4386259" cy="923330"/>
          </a:xfrm>
          <a:prstGeom prst="rect">
            <a:avLst/>
          </a:prstGeom>
          <a:noFill/>
        </p:spPr>
        <p:txBody>
          <a:bodyPr wrap="square" rtlCol="0">
            <a:spAutoFit/>
          </a:bodyPr>
          <a:lstStyle/>
          <a:p>
            <a:pPr marL="285750" indent="-285750">
              <a:buFont typeface="Arial" panose="020B0604020202020204" pitchFamily="34" charset="0"/>
              <a:buChar char="•"/>
            </a:pPr>
            <a:r>
              <a:rPr lang="en-CN" dirty="0"/>
              <a:t>不是那么直觉</a:t>
            </a:r>
          </a:p>
          <a:p>
            <a:pPr marL="285750" indent="-285750">
              <a:buFont typeface="Arial" panose="020B0604020202020204" pitchFamily="34" charset="0"/>
              <a:buChar char="•"/>
            </a:pPr>
            <a:r>
              <a:rPr lang="en-CN" dirty="0"/>
              <a:t>难以捉摸的近似</a:t>
            </a:r>
          </a:p>
          <a:p>
            <a:pPr marL="285750" indent="-285750">
              <a:buFont typeface="Arial" panose="020B0604020202020204" pitchFamily="34" charset="0"/>
              <a:buChar char="•"/>
            </a:pPr>
            <a:r>
              <a:rPr lang="zh-CN" altLang="en-US" dirty="0"/>
              <a:t>。。。</a:t>
            </a:r>
            <a:endParaRPr lang="en-CN" dirty="0"/>
          </a:p>
        </p:txBody>
      </p:sp>
    </p:spTree>
    <p:extLst>
      <p:ext uri="{BB962C8B-B14F-4D97-AF65-F5344CB8AC3E}">
        <p14:creationId xmlns:p14="http://schemas.microsoft.com/office/powerpoint/2010/main" val="240750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B42F6F-E84A-37CE-CFFF-44C329253081}"/>
              </a:ext>
            </a:extLst>
          </p:cNvPr>
          <p:cNvSpPr txBox="1"/>
          <p:nvPr/>
        </p:nvSpPr>
        <p:spPr>
          <a:xfrm>
            <a:off x="3181729" y="170563"/>
            <a:ext cx="6976063" cy="523220"/>
          </a:xfrm>
          <a:prstGeom prst="rect">
            <a:avLst/>
          </a:prstGeom>
          <a:noFill/>
        </p:spPr>
        <p:txBody>
          <a:bodyPr wrap="square" rtlCol="0">
            <a:spAutoFit/>
          </a:bodyPr>
          <a:lstStyle/>
          <a:p>
            <a:pPr algn="ctr"/>
            <a:r>
              <a:rPr lang="en-CN" sz="2800" dirty="0">
                <a:solidFill>
                  <a:srgbClr val="FF0000"/>
                </a:solidFill>
                <a:latin typeface="FangSong" panose="02010609060101010101" pitchFamily="49" charset="-122"/>
                <a:ea typeface="FangSong" panose="02010609060101010101" pitchFamily="49" charset="-122"/>
              </a:rPr>
              <a:t>热物教学(2022 年春</a:t>
            </a:r>
            <a:r>
              <a:rPr lang="zh-CN" altLang="en-US" sz="2800" dirty="0">
                <a:solidFill>
                  <a:srgbClr val="FF0000"/>
                </a:solidFill>
                <a:latin typeface="FangSong" panose="02010609060101010101" pitchFamily="49" charset="-122"/>
                <a:ea typeface="FangSong" panose="02010609060101010101" pitchFamily="49" charset="-122"/>
              </a:rPr>
              <a:t>、值得纪念的</a:t>
            </a:r>
            <a:r>
              <a:rPr lang="en-US" altLang="zh-CN" sz="2800" dirty="0">
                <a:solidFill>
                  <a:srgbClr val="FF0000"/>
                </a:solidFill>
                <a:latin typeface="FangSong" panose="02010609060101010101" pitchFamily="49" charset="-122"/>
                <a:ea typeface="FangSong" panose="02010609060101010101" pitchFamily="49" charset="-122"/>
              </a:rPr>
              <a:t>2022</a:t>
            </a:r>
            <a:r>
              <a:rPr lang="zh-CN" altLang="en-US" sz="2800" dirty="0">
                <a:solidFill>
                  <a:srgbClr val="FF0000"/>
                </a:solidFill>
                <a:latin typeface="FangSong" panose="02010609060101010101" pitchFamily="49" charset="-122"/>
                <a:ea typeface="FangSong" panose="02010609060101010101" pitchFamily="49" charset="-122"/>
              </a:rPr>
              <a:t>！</a:t>
            </a:r>
            <a:r>
              <a:rPr lang="en-CN" sz="2800" dirty="0">
                <a:solidFill>
                  <a:srgbClr val="FF0000"/>
                </a:solidFill>
                <a:latin typeface="FangSong" panose="02010609060101010101" pitchFamily="49" charset="-122"/>
                <a:ea typeface="FangSong" panose="02010609060101010101" pitchFamily="49" charset="-122"/>
              </a:rPr>
              <a:t>)</a:t>
            </a:r>
          </a:p>
        </p:txBody>
      </p:sp>
      <p:sp>
        <p:nvSpPr>
          <p:cNvPr id="7" name="TextBox 6">
            <a:extLst>
              <a:ext uri="{FF2B5EF4-FFF2-40B4-BE49-F238E27FC236}">
                <a16:creationId xmlns:a16="http://schemas.microsoft.com/office/drawing/2014/main" id="{AA667D64-3ECF-A3DB-DC89-404F69015CC0}"/>
              </a:ext>
            </a:extLst>
          </p:cNvPr>
          <p:cNvSpPr txBox="1"/>
          <p:nvPr/>
        </p:nvSpPr>
        <p:spPr>
          <a:xfrm>
            <a:off x="1273259" y="843704"/>
            <a:ext cx="8499764" cy="5355312"/>
          </a:xfrm>
          <a:prstGeom prst="rect">
            <a:avLst/>
          </a:prstGeom>
          <a:noFill/>
        </p:spPr>
        <p:txBody>
          <a:bodyPr wrap="square" rtlCol="0">
            <a:spAutoFit/>
          </a:bodyPr>
          <a:lstStyle/>
          <a:p>
            <a:r>
              <a:rPr lang="en-CN" dirty="0">
                <a:latin typeface="FangSong" panose="02010609060101010101" pitchFamily="49" charset="-122"/>
                <a:ea typeface="FangSong" panose="02010609060101010101" pitchFamily="49" charset="-122"/>
              </a:rPr>
              <a:t>对象</a:t>
            </a:r>
            <a:r>
              <a:rPr lang="zh-CN" altLang="en-US" dirty="0">
                <a:latin typeface="FangSong" panose="02010609060101010101" pitchFamily="49" charset="-122"/>
                <a:ea typeface="FangSong" panose="02010609060101010101" pitchFamily="49" charset="-122"/>
              </a:rPr>
              <a:t>：应用物理、光信专业学生为主，一点儿其他专业学生（旁听）</a:t>
            </a:r>
            <a:endParaRPr lang="en-US" altLang="zh-CN" dirty="0">
              <a:latin typeface="FangSong" panose="02010609060101010101" pitchFamily="49" charset="-122"/>
              <a:ea typeface="FangSong" panose="02010609060101010101" pitchFamily="49" charset="-122"/>
            </a:endParaRPr>
          </a:p>
          <a:p>
            <a:endParaRPr lang="en-US" dirty="0">
              <a:latin typeface="FangSong" panose="02010609060101010101" pitchFamily="49" charset="-122"/>
              <a:ea typeface="FangSong" panose="02010609060101010101" pitchFamily="49" charset="-122"/>
            </a:endParaRPr>
          </a:p>
          <a:p>
            <a:r>
              <a:rPr lang="zh-CN" altLang="en-US" dirty="0">
                <a:latin typeface="FangSong" panose="02010609060101010101" pitchFamily="49" charset="-122"/>
                <a:ea typeface="FangSong" panose="02010609060101010101" pitchFamily="49" charset="-122"/>
              </a:rPr>
              <a:t>原则</a:t>
            </a:r>
            <a:r>
              <a:rPr lang="zh-CN" altLang="en-US" dirty="0">
                <a:latin typeface="FangSong" panose="02010609060101010101" pitchFamily="49" charset="-122"/>
                <a:ea typeface="FangSong" panose="02010609060101010101" pitchFamily="49" charset="-122"/>
                <a:sym typeface="Wingdings" pitchFamily="2" charset="2"/>
              </a:rPr>
              <a:t>：（一）以尽可能简单的方式引入概念</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（二）尽可能多元化地、从各个角度补充阐述概念</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（三）自成体系，不乱</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（四）避免“高深”的数学、“抽象”的表达</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（五）读原著、追历史</a:t>
            </a:r>
            <a:endParaRPr lang="en-US" altLang="zh-CN" dirty="0">
              <a:latin typeface="FangSong" panose="02010609060101010101" pitchFamily="49" charset="-122"/>
              <a:ea typeface="FangSong" panose="02010609060101010101" pitchFamily="49" charset="-122"/>
              <a:sym typeface="Wingdings" pitchFamily="2" charset="2"/>
            </a:endParaRPr>
          </a:p>
          <a:p>
            <a:endParaRPr lang="en-US"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目标：（一）让学生系统掌握热物基本知识、推演逻辑</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（二）让大部分学生能喜欢这门课、至少不排斥，能自主学习</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（三）着重物理思维的训练，追求知识点忘掉后剩下的印记</a:t>
            </a:r>
            <a:endParaRPr lang="en-US" altLang="zh-CN" dirty="0">
              <a:latin typeface="FangSong" panose="02010609060101010101" pitchFamily="49" charset="-122"/>
              <a:ea typeface="FangSong" panose="02010609060101010101" pitchFamily="49" charset="-122"/>
              <a:sym typeface="Wingdings" pitchFamily="2" charset="2"/>
            </a:endParaRPr>
          </a:p>
          <a:p>
            <a:r>
              <a:rPr lang="en-US" altLang="zh-CN" dirty="0">
                <a:latin typeface="FangSong" panose="02010609060101010101" pitchFamily="49" charset="-122"/>
                <a:ea typeface="FangSong" panose="02010609060101010101" pitchFamily="49" charset="-122"/>
                <a:sym typeface="Wingdings" pitchFamily="2" charset="2"/>
              </a:rPr>
              <a:t>      </a:t>
            </a:r>
            <a:r>
              <a:rPr lang="zh-CN" altLang="en-US" dirty="0">
                <a:latin typeface="FangSong" panose="02010609060101010101" pitchFamily="49" charset="-122"/>
                <a:ea typeface="FangSong" panose="02010609060101010101" pitchFamily="49" charset="-122"/>
                <a:sym typeface="Wingdings" pitchFamily="2" charset="2"/>
              </a:rPr>
              <a:t>（四）</a:t>
            </a:r>
            <a:r>
              <a:rPr lang="zh-CN" altLang="en-US" dirty="0">
                <a:latin typeface="FangSong" panose="02010609060101010101" pitchFamily="49" charset="-122"/>
                <a:ea typeface="FangSong" panose="02010609060101010101" pitchFamily="49" charset="-122"/>
              </a:rPr>
              <a:t>培养学生能欣赏物理的美、且利用基础知识解决实际问题的能力</a:t>
            </a:r>
            <a:r>
              <a:rPr lang="en-CN" dirty="0">
                <a:latin typeface="FangSong" panose="02010609060101010101" pitchFamily="49" charset="-122"/>
                <a:ea typeface="FangSong" panose="02010609060101010101" pitchFamily="49" charset="-122"/>
              </a:rPr>
              <a:t> </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a:t>
            </a:r>
            <a:endParaRPr lang="en-US"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效果：（一）学生参与度较高</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（二）参考学生评价</a:t>
            </a:r>
            <a:endParaRPr lang="en-US" altLang="zh-CN" dirty="0">
              <a:latin typeface="FangSong" panose="02010609060101010101" pitchFamily="49" charset="-122"/>
              <a:ea typeface="FangSong" panose="02010609060101010101" pitchFamily="49" charset="-122"/>
              <a:sym typeface="Wingdings" pitchFamily="2" charset="2"/>
            </a:endParaRPr>
          </a:p>
          <a:p>
            <a:endParaRPr lang="en-US" dirty="0">
              <a:latin typeface="FangSong" panose="02010609060101010101" pitchFamily="49" charset="-122"/>
              <a:ea typeface="FangSong" panose="02010609060101010101" pitchFamily="49" charset="-122"/>
              <a:sym typeface="Wingdings" pitchFamily="2" charset="2"/>
            </a:endParaRPr>
          </a:p>
          <a:p>
            <a:r>
              <a:rPr lang="en-US" dirty="0" err="1">
                <a:latin typeface="FangSong" panose="02010609060101010101" pitchFamily="49" charset="-122"/>
                <a:ea typeface="FangSong" panose="02010609060101010101" pitchFamily="49" charset="-122"/>
                <a:sym typeface="Wingdings" pitchFamily="2" charset="2"/>
              </a:rPr>
              <a:t>问题</a:t>
            </a:r>
            <a:r>
              <a:rPr lang="zh-CN" altLang="en-US" dirty="0">
                <a:latin typeface="FangSong" panose="02010609060101010101" pitchFamily="49" charset="-122"/>
                <a:ea typeface="FangSong" panose="02010609060101010101" pitchFamily="49" charset="-122"/>
                <a:sym typeface="Wingdings" pitchFamily="2" charset="2"/>
              </a:rPr>
              <a:t>：（一）</a:t>
            </a:r>
            <a:r>
              <a:rPr lang="en-US" altLang="zh-CN" dirty="0">
                <a:latin typeface="FangSong" panose="02010609060101010101" pitchFamily="49" charset="-122"/>
                <a:ea typeface="FangSong" panose="02010609060101010101" pitchFamily="49" charset="-122"/>
                <a:sym typeface="Wingdings" pitchFamily="2" charset="2"/>
              </a:rPr>
              <a:t>PPT</a:t>
            </a:r>
            <a:r>
              <a:rPr lang="zh-CN" altLang="en-US" dirty="0">
                <a:latin typeface="FangSong" panose="02010609060101010101" pitchFamily="49" charset="-122"/>
                <a:ea typeface="FangSong" panose="02010609060101010101" pitchFamily="49" charset="-122"/>
                <a:sym typeface="Wingdings" pitchFamily="2" charset="2"/>
              </a:rPr>
              <a:t>的格式、内容（修正中）</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（二）作业、总结性内容</a:t>
            </a:r>
            <a:endParaRPr lang="en-US" altLang="zh-CN" dirty="0">
              <a:latin typeface="FangSong" panose="02010609060101010101" pitchFamily="49" charset="-122"/>
              <a:ea typeface="FangSong" panose="02010609060101010101" pitchFamily="49" charset="-122"/>
              <a:sym typeface="Wingdings" pitchFamily="2" charset="2"/>
            </a:endParaRPr>
          </a:p>
          <a:p>
            <a:r>
              <a:rPr lang="zh-CN" altLang="en-US" dirty="0">
                <a:latin typeface="FangSong" panose="02010609060101010101" pitchFamily="49" charset="-122"/>
                <a:ea typeface="FangSong" panose="02010609060101010101" pitchFamily="49" charset="-122"/>
                <a:sym typeface="Wingdings" pitchFamily="2" charset="2"/>
              </a:rPr>
              <a:t>      （三）讲话慢（改不了啊）</a:t>
            </a:r>
            <a:endParaRPr lang="en-CN" dirty="0">
              <a:latin typeface="FangSong" panose="02010609060101010101" pitchFamily="49" charset="-122"/>
              <a:ea typeface="FangSong" panose="02010609060101010101" pitchFamily="49" charset="-122"/>
            </a:endParaRPr>
          </a:p>
        </p:txBody>
      </p:sp>
      <p:pic>
        <p:nvPicPr>
          <p:cNvPr id="4" name="Picture 3">
            <a:extLst>
              <a:ext uri="{FF2B5EF4-FFF2-40B4-BE49-F238E27FC236}">
                <a16:creationId xmlns:a16="http://schemas.microsoft.com/office/drawing/2014/main" id="{51D8C881-335D-7DCB-ED80-DF832CDAFE17}"/>
              </a:ext>
            </a:extLst>
          </p:cNvPr>
          <p:cNvPicPr>
            <a:picLocks noChangeAspect="1"/>
          </p:cNvPicPr>
          <p:nvPr/>
        </p:nvPicPr>
        <p:blipFill>
          <a:blip r:embed="rId2"/>
          <a:stretch>
            <a:fillRect/>
          </a:stretch>
        </p:blipFill>
        <p:spPr>
          <a:xfrm>
            <a:off x="8931469" y="4304035"/>
            <a:ext cx="3154205" cy="2383402"/>
          </a:xfrm>
          <a:prstGeom prst="rect">
            <a:avLst/>
          </a:prstGeom>
        </p:spPr>
      </p:pic>
    </p:spTree>
    <p:extLst>
      <p:ext uri="{BB962C8B-B14F-4D97-AF65-F5344CB8AC3E}">
        <p14:creationId xmlns:p14="http://schemas.microsoft.com/office/powerpoint/2010/main" val="198740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33A21-99A5-B743-B903-071811045ED0}"/>
              </a:ext>
            </a:extLst>
          </p:cNvPr>
          <p:cNvSpPr txBox="1"/>
          <p:nvPr/>
        </p:nvSpPr>
        <p:spPr>
          <a:xfrm>
            <a:off x="234176" y="144966"/>
            <a:ext cx="2955073" cy="369332"/>
          </a:xfrm>
          <a:prstGeom prst="rect">
            <a:avLst/>
          </a:prstGeom>
          <a:noFill/>
        </p:spPr>
        <p:txBody>
          <a:bodyPr wrap="square" rtlCol="0">
            <a:spAutoFit/>
          </a:bodyPr>
          <a:lstStyle/>
          <a:p>
            <a:r>
              <a:rPr lang="en-CN" dirty="0"/>
              <a:t>推荐阅读</a:t>
            </a:r>
          </a:p>
        </p:txBody>
      </p:sp>
      <p:pic>
        <p:nvPicPr>
          <p:cNvPr id="1025" name="Picture 1" descr="page1image14082304">
            <a:extLst>
              <a:ext uri="{FF2B5EF4-FFF2-40B4-BE49-F238E27FC236}">
                <a16:creationId xmlns:a16="http://schemas.microsoft.com/office/drawing/2014/main" id="{7FFF6BC7-30DA-AF41-81F7-30A531732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800" y="1103970"/>
            <a:ext cx="5537200" cy="127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5FFB07D-9684-7545-B8E5-225C8B6D7985}"/>
              </a:ext>
            </a:extLst>
          </p:cNvPr>
          <p:cNvPicPr>
            <a:picLocks noChangeAspect="1"/>
          </p:cNvPicPr>
          <p:nvPr/>
        </p:nvPicPr>
        <p:blipFill>
          <a:blip r:embed="rId3"/>
          <a:stretch>
            <a:fillRect/>
          </a:stretch>
        </p:blipFill>
        <p:spPr>
          <a:xfrm>
            <a:off x="2497873" y="0"/>
            <a:ext cx="7369407" cy="1758142"/>
          </a:xfrm>
          <a:prstGeom prst="rect">
            <a:avLst/>
          </a:prstGeom>
        </p:spPr>
      </p:pic>
      <p:pic>
        <p:nvPicPr>
          <p:cNvPr id="8" name="Picture 7">
            <a:extLst>
              <a:ext uri="{FF2B5EF4-FFF2-40B4-BE49-F238E27FC236}">
                <a16:creationId xmlns:a16="http://schemas.microsoft.com/office/drawing/2014/main" id="{32934628-972C-BD45-BAB7-5269499BC765}"/>
              </a:ext>
            </a:extLst>
          </p:cNvPr>
          <p:cNvPicPr>
            <a:picLocks noChangeAspect="1"/>
          </p:cNvPicPr>
          <p:nvPr/>
        </p:nvPicPr>
        <p:blipFill>
          <a:blip r:embed="rId4"/>
          <a:stretch>
            <a:fillRect/>
          </a:stretch>
        </p:blipFill>
        <p:spPr>
          <a:xfrm>
            <a:off x="78833" y="1914808"/>
            <a:ext cx="6508606" cy="4368790"/>
          </a:xfrm>
          <a:prstGeom prst="rect">
            <a:avLst/>
          </a:prstGeom>
        </p:spPr>
      </p:pic>
      <p:pic>
        <p:nvPicPr>
          <p:cNvPr id="14" name="Picture 13">
            <a:extLst>
              <a:ext uri="{FF2B5EF4-FFF2-40B4-BE49-F238E27FC236}">
                <a16:creationId xmlns:a16="http://schemas.microsoft.com/office/drawing/2014/main" id="{3F1BCF2C-A5E2-FF44-ADDE-80963F55336E}"/>
              </a:ext>
            </a:extLst>
          </p:cNvPr>
          <p:cNvPicPr>
            <a:picLocks noChangeAspect="1"/>
          </p:cNvPicPr>
          <p:nvPr/>
        </p:nvPicPr>
        <p:blipFill>
          <a:blip r:embed="rId5"/>
          <a:stretch>
            <a:fillRect/>
          </a:stretch>
        </p:blipFill>
        <p:spPr>
          <a:xfrm>
            <a:off x="7238775" y="2106762"/>
            <a:ext cx="4719588" cy="4176836"/>
          </a:xfrm>
          <a:prstGeom prst="rect">
            <a:avLst/>
          </a:prstGeom>
        </p:spPr>
      </p:pic>
    </p:spTree>
    <p:extLst>
      <p:ext uri="{BB962C8B-B14F-4D97-AF65-F5344CB8AC3E}">
        <p14:creationId xmlns:p14="http://schemas.microsoft.com/office/powerpoint/2010/main" val="3687928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DF49A4-9BC4-6A44-A7CF-F0F454F21750}"/>
              </a:ext>
            </a:extLst>
          </p:cNvPr>
          <p:cNvSpPr txBox="1"/>
          <p:nvPr/>
        </p:nvSpPr>
        <p:spPr>
          <a:xfrm>
            <a:off x="3738562" y="71432"/>
            <a:ext cx="4714875" cy="1323439"/>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对象</a:t>
            </a:r>
            <a:r>
              <a:rPr lang="zh-CN" altLang="en-US" sz="4000" dirty="0">
                <a:latin typeface="FangSong" panose="02010609060101010101" pitchFamily="49" charset="-122"/>
                <a:ea typeface="FangSong" panose="02010609060101010101" pitchFamily="49" charset="-122"/>
              </a:rPr>
              <a:t>：</a:t>
            </a:r>
            <a:r>
              <a:rPr lang="en-CN" sz="4000" dirty="0">
                <a:latin typeface="FangSong" panose="02010609060101010101" pitchFamily="49" charset="-122"/>
                <a:ea typeface="FangSong" panose="02010609060101010101" pitchFamily="49" charset="-122"/>
              </a:rPr>
              <a:t>系统</a:t>
            </a:r>
          </a:p>
          <a:p>
            <a:pPr algn="ctr"/>
            <a:r>
              <a:rPr lang="en-CN" sz="4000" dirty="0">
                <a:latin typeface="FangSong" panose="02010609060101010101" pitchFamily="49" charset="-122"/>
                <a:ea typeface="FangSong" panose="02010609060101010101" pitchFamily="49" charset="-122"/>
              </a:rPr>
              <a:t>System</a:t>
            </a:r>
          </a:p>
        </p:txBody>
      </p:sp>
      <p:sp>
        <p:nvSpPr>
          <p:cNvPr id="3" name="TextBox 2">
            <a:extLst>
              <a:ext uri="{FF2B5EF4-FFF2-40B4-BE49-F238E27FC236}">
                <a16:creationId xmlns:a16="http://schemas.microsoft.com/office/drawing/2014/main" id="{F4E207F0-667C-4340-8564-E837D976FBB2}"/>
              </a:ext>
            </a:extLst>
          </p:cNvPr>
          <p:cNvSpPr txBox="1"/>
          <p:nvPr/>
        </p:nvSpPr>
        <p:spPr>
          <a:xfrm>
            <a:off x="652461" y="1407998"/>
            <a:ext cx="10887075" cy="923330"/>
          </a:xfrm>
          <a:prstGeom prst="rect">
            <a:avLst/>
          </a:prstGeom>
          <a:noFill/>
        </p:spPr>
        <p:txBody>
          <a:bodyPr wrap="square" rtlCol="0">
            <a:spAutoFit/>
          </a:bodyPr>
          <a:lstStyle/>
          <a:p>
            <a:r>
              <a:rPr lang="en-CN" dirty="0"/>
              <a:t>Thermal physics deals with collections of large numbers of particles—typically 10</a:t>
            </a:r>
            <a:r>
              <a:rPr lang="en-CN" baseline="30000" dirty="0"/>
              <a:t>23</a:t>
            </a:r>
            <a:r>
              <a:rPr lang="en-CN" dirty="0"/>
              <a:t> or so. Examples include the air in a balloon, the water in a lake, the elctrons in a chunck of metal, and the photons given off by the sun. </a:t>
            </a:r>
            <a:r>
              <a:rPr lang="en-CN" dirty="0">
                <a:solidFill>
                  <a:srgbClr val="FF0000"/>
                </a:solidFill>
              </a:rPr>
              <a:t>Anything big enough to see with our eyes has enough particles in it to qualify as a subject of therm physics.</a:t>
            </a:r>
          </a:p>
        </p:txBody>
      </p:sp>
      <p:sp>
        <p:nvSpPr>
          <p:cNvPr id="13" name="TextBox 12">
            <a:extLst>
              <a:ext uri="{FF2B5EF4-FFF2-40B4-BE49-F238E27FC236}">
                <a16:creationId xmlns:a16="http://schemas.microsoft.com/office/drawing/2014/main" id="{B00F640F-873C-8A44-8F35-8460740EB598}"/>
              </a:ext>
            </a:extLst>
          </p:cNvPr>
          <p:cNvSpPr txBox="1"/>
          <p:nvPr/>
        </p:nvSpPr>
        <p:spPr>
          <a:xfrm>
            <a:off x="1017549" y="3511010"/>
            <a:ext cx="9758363" cy="1815882"/>
          </a:xfrm>
          <a:prstGeom prst="rect">
            <a:avLst/>
          </a:prstGeom>
          <a:noFill/>
        </p:spPr>
        <p:txBody>
          <a:bodyPr wrap="square" rtlCol="0">
            <a:spAutoFit/>
          </a:bodyPr>
          <a:lstStyle/>
          <a:p>
            <a:pPr algn="ctr"/>
            <a:r>
              <a:rPr lang="en-CN" sz="4000" b="1" dirty="0">
                <a:latin typeface="FangSong" panose="02010609060101010101" pitchFamily="49" charset="-122"/>
                <a:ea typeface="FangSong" panose="02010609060101010101" pitchFamily="49" charset="-122"/>
              </a:rPr>
              <a:t>热力学与统计物理</a:t>
            </a:r>
          </a:p>
          <a:p>
            <a:pPr algn="ctr"/>
            <a:r>
              <a:rPr lang="en-CN" sz="3600" dirty="0">
                <a:latin typeface="FangSong" panose="02010609060101010101" pitchFamily="49" charset="-122"/>
                <a:ea typeface="FangSong" panose="02010609060101010101" pitchFamily="49" charset="-122"/>
              </a:rPr>
              <a:t>热力学</a:t>
            </a:r>
            <a:r>
              <a:rPr lang="en-US" sz="3600" dirty="0">
                <a:latin typeface="FangSong" panose="02010609060101010101" pitchFamily="49" charset="-122"/>
                <a:ea typeface="FangSong" panose="02010609060101010101" pitchFamily="49" charset="-122"/>
              </a:rPr>
              <a:t>--</a:t>
            </a:r>
            <a:r>
              <a:rPr lang="zh-CN" altLang="en-US" sz="3600" dirty="0">
                <a:solidFill>
                  <a:srgbClr val="FF0000"/>
                </a:solidFill>
                <a:latin typeface="FangSong" panose="02010609060101010101" pitchFamily="49" charset="-122"/>
                <a:ea typeface="FangSong" panose="02010609060101010101" pitchFamily="49" charset="-122"/>
              </a:rPr>
              <a:t>统计</a:t>
            </a:r>
            <a:r>
              <a:rPr lang="zh-CN" altLang="en-US" sz="3600" dirty="0">
                <a:latin typeface="FangSong" panose="02010609060101010101" pitchFamily="49" charset="-122"/>
                <a:ea typeface="FangSong" panose="02010609060101010101" pitchFamily="49" charset="-122"/>
              </a:rPr>
              <a:t>力学</a:t>
            </a:r>
            <a:endParaRPr lang="en-US" altLang="zh-CN" sz="3600" dirty="0">
              <a:latin typeface="FangSong" panose="02010609060101010101" pitchFamily="49" charset="-122"/>
              <a:ea typeface="FangSong" panose="02010609060101010101" pitchFamily="49" charset="-122"/>
            </a:endParaRPr>
          </a:p>
          <a:p>
            <a:pPr algn="ctr"/>
            <a:r>
              <a:rPr lang="en-US" sz="3600" dirty="0">
                <a:latin typeface="FangSong" panose="02010609060101010101" pitchFamily="49" charset="-122"/>
                <a:ea typeface="FangSong" panose="02010609060101010101" pitchFamily="49" charset="-122"/>
              </a:rPr>
              <a:t>Thermodynamics—</a:t>
            </a:r>
            <a:r>
              <a:rPr lang="en-US" sz="3600" dirty="0">
                <a:solidFill>
                  <a:srgbClr val="FF0000"/>
                </a:solidFill>
                <a:latin typeface="FangSong" panose="02010609060101010101" pitchFamily="49" charset="-122"/>
                <a:ea typeface="FangSong" panose="02010609060101010101" pitchFamily="49" charset="-122"/>
              </a:rPr>
              <a:t>Statistical </a:t>
            </a:r>
            <a:r>
              <a:rPr lang="en-US" sz="3600" dirty="0">
                <a:latin typeface="FangSong" panose="02010609060101010101" pitchFamily="49" charset="-122"/>
                <a:ea typeface="FangSong" panose="02010609060101010101" pitchFamily="49" charset="-122"/>
              </a:rPr>
              <a:t>mechanics</a:t>
            </a:r>
            <a:endParaRPr lang="en-CN" sz="3600" dirty="0">
              <a:latin typeface="FangSong" panose="02010609060101010101" pitchFamily="49" charset="-122"/>
              <a:ea typeface="FangSong" panose="02010609060101010101" pitchFamily="49" charset="-122"/>
            </a:endParaRPr>
          </a:p>
        </p:txBody>
      </p:sp>
      <p:pic>
        <p:nvPicPr>
          <p:cNvPr id="5" name="Picture 4">
            <a:extLst>
              <a:ext uri="{FF2B5EF4-FFF2-40B4-BE49-F238E27FC236}">
                <a16:creationId xmlns:a16="http://schemas.microsoft.com/office/drawing/2014/main" id="{11D815D3-F0B3-6F41-9A60-2B206004A5EB}"/>
              </a:ext>
            </a:extLst>
          </p:cNvPr>
          <p:cNvPicPr>
            <a:picLocks noChangeAspect="1"/>
          </p:cNvPicPr>
          <p:nvPr/>
        </p:nvPicPr>
        <p:blipFill>
          <a:blip r:embed="rId2"/>
          <a:stretch>
            <a:fillRect/>
          </a:stretch>
        </p:blipFill>
        <p:spPr>
          <a:xfrm>
            <a:off x="3132874" y="2331328"/>
            <a:ext cx="6350000" cy="558800"/>
          </a:xfrm>
          <a:prstGeom prst="rect">
            <a:avLst/>
          </a:prstGeom>
        </p:spPr>
      </p:pic>
      <p:sp>
        <p:nvSpPr>
          <p:cNvPr id="4" name="TextBox 3">
            <a:extLst>
              <a:ext uri="{FF2B5EF4-FFF2-40B4-BE49-F238E27FC236}">
                <a16:creationId xmlns:a16="http://schemas.microsoft.com/office/drawing/2014/main" id="{34EB0822-EA71-7A40-972F-64A65472A47F}"/>
              </a:ext>
            </a:extLst>
          </p:cNvPr>
          <p:cNvSpPr txBox="1"/>
          <p:nvPr/>
        </p:nvSpPr>
        <p:spPr>
          <a:xfrm>
            <a:off x="3647592" y="2890128"/>
            <a:ext cx="5320563" cy="369332"/>
          </a:xfrm>
          <a:prstGeom prst="rect">
            <a:avLst/>
          </a:prstGeom>
          <a:noFill/>
        </p:spPr>
        <p:txBody>
          <a:bodyPr wrap="square" rtlCol="0">
            <a:spAutoFit/>
          </a:bodyPr>
          <a:lstStyle/>
          <a:p>
            <a:r>
              <a:rPr lang="en-CN" dirty="0"/>
              <a:t>阿伏伽德罗常数</a:t>
            </a:r>
            <a:r>
              <a:rPr lang="zh-CN" altLang="en-US" dirty="0"/>
              <a:t>     一摩尔物质中所含的组成粒子数</a:t>
            </a:r>
            <a:endParaRPr lang="en-CN" dirty="0"/>
          </a:p>
        </p:txBody>
      </p:sp>
      <p:sp>
        <p:nvSpPr>
          <p:cNvPr id="6" name="TextBox 5">
            <a:extLst>
              <a:ext uri="{FF2B5EF4-FFF2-40B4-BE49-F238E27FC236}">
                <a16:creationId xmlns:a16="http://schemas.microsoft.com/office/drawing/2014/main" id="{5C2878B7-1ACF-AD4E-AA8C-B03C717EED76}"/>
              </a:ext>
            </a:extLst>
          </p:cNvPr>
          <p:cNvSpPr txBox="1"/>
          <p:nvPr/>
        </p:nvSpPr>
        <p:spPr>
          <a:xfrm>
            <a:off x="8968155" y="367990"/>
            <a:ext cx="2829835" cy="646331"/>
          </a:xfrm>
          <a:prstGeom prst="rect">
            <a:avLst/>
          </a:prstGeom>
          <a:noFill/>
        </p:spPr>
        <p:txBody>
          <a:bodyPr wrap="square" rtlCol="0">
            <a:spAutoFit/>
          </a:bodyPr>
          <a:lstStyle/>
          <a:p>
            <a:r>
              <a:rPr lang="en-CN" b="1" dirty="0">
                <a:solidFill>
                  <a:srgbClr val="FF0000"/>
                </a:solidFill>
              </a:rPr>
              <a:t>Law of Large Numbers</a:t>
            </a:r>
          </a:p>
          <a:p>
            <a:r>
              <a:rPr lang="en-CN" dirty="0"/>
              <a:t>(后面讲到)</a:t>
            </a:r>
          </a:p>
        </p:txBody>
      </p:sp>
      <p:sp>
        <p:nvSpPr>
          <p:cNvPr id="7" name="TextBox 6">
            <a:extLst>
              <a:ext uri="{FF2B5EF4-FFF2-40B4-BE49-F238E27FC236}">
                <a16:creationId xmlns:a16="http://schemas.microsoft.com/office/drawing/2014/main" id="{EC9099CA-1534-0D43-AE2D-92C4CFC1ECE0}"/>
              </a:ext>
            </a:extLst>
          </p:cNvPr>
          <p:cNvSpPr txBox="1"/>
          <p:nvPr/>
        </p:nvSpPr>
        <p:spPr>
          <a:xfrm>
            <a:off x="5129562" y="5631366"/>
            <a:ext cx="689145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While the mechanical details change from system to system, the statistical digestion of those details is system-independent, and it is that fact that accounts for the compelling universality of thermodynamics. </a:t>
            </a:r>
          </a:p>
          <a:p>
            <a:pPr marL="285750" indent="-285750">
              <a:buFont typeface="Arial" panose="020B0604020202020204" pitchFamily="34" charset="0"/>
              <a:buChar char="•"/>
            </a:pPr>
            <a:endParaRPr lang="en-CN" dirty="0"/>
          </a:p>
        </p:txBody>
      </p:sp>
    </p:spTree>
    <p:extLst>
      <p:ext uri="{BB962C8B-B14F-4D97-AF65-F5344CB8AC3E}">
        <p14:creationId xmlns:p14="http://schemas.microsoft.com/office/powerpoint/2010/main" val="2836536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descr="page1image14082304">
            <a:extLst>
              <a:ext uri="{FF2B5EF4-FFF2-40B4-BE49-F238E27FC236}">
                <a16:creationId xmlns:a16="http://schemas.microsoft.com/office/drawing/2014/main" id="{7FFF6BC7-30DA-AF41-81F7-30A5317329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800" y="1103970"/>
            <a:ext cx="5537200" cy="127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B0A0303-3282-C073-A1B8-CC2254766EAE}"/>
              </a:ext>
            </a:extLst>
          </p:cNvPr>
          <p:cNvPicPr>
            <a:picLocks noChangeAspect="1"/>
          </p:cNvPicPr>
          <p:nvPr/>
        </p:nvPicPr>
        <p:blipFill>
          <a:blip r:embed="rId3"/>
          <a:stretch>
            <a:fillRect/>
          </a:stretch>
        </p:blipFill>
        <p:spPr>
          <a:xfrm>
            <a:off x="0" y="232327"/>
            <a:ext cx="8524461" cy="6393346"/>
          </a:xfrm>
          <a:prstGeom prst="rect">
            <a:avLst/>
          </a:prstGeom>
        </p:spPr>
      </p:pic>
      <p:sp>
        <p:nvSpPr>
          <p:cNvPr id="5" name="TextBox 4">
            <a:extLst>
              <a:ext uri="{FF2B5EF4-FFF2-40B4-BE49-F238E27FC236}">
                <a16:creationId xmlns:a16="http://schemas.microsoft.com/office/drawing/2014/main" id="{2DCF8790-2610-7178-33F8-F1F041546A0B}"/>
              </a:ext>
            </a:extLst>
          </p:cNvPr>
          <p:cNvSpPr txBox="1"/>
          <p:nvPr/>
        </p:nvSpPr>
        <p:spPr>
          <a:xfrm>
            <a:off x="8958469" y="770574"/>
            <a:ext cx="3034748" cy="5078313"/>
          </a:xfrm>
          <a:prstGeom prst="rect">
            <a:avLst/>
          </a:prstGeom>
          <a:noFill/>
        </p:spPr>
        <p:txBody>
          <a:bodyPr wrap="square" rtlCol="0">
            <a:spAutoFit/>
          </a:bodyPr>
          <a:lstStyle/>
          <a:p>
            <a:r>
              <a:rPr lang="zh-CN" altLang="en-US" dirty="0"/>
              <a:t>纳米热力学读书会系列学术报告，欢迎莅临，欢迎指导</a:t>
            </a:r>
          </a:p>
          <a:p>
            <a:r>
              <a:rPr lang="zh-CN" altLang="en-US" dirty="0"/>
              <a:t>报告题目：浅谈统计热力学中概率的起源问题</a:t>
            </a:r>
          </a:p>
          <a:p>
            <a:r>
              <a:rPr lang="zh-CN" altLang="en-US" dirty="0"/>
              <a:t>报告人：</a:t>
            </a:r>
            <a:r>
              <a:rPr lang="zh-CN" altLang="en-US" dirty="0">
                <a:solidFill>
                  <a:srgbClr val="FF0000"/>
                </a:solidFill>
              </a:rPr>
              <a:t>张为民 教授  </a:t>
            </a:r>
            <a:r>
              <a:rPr lang="zh-CN" altLang="en-US" dirty="0"/>
              <a:t>成功大学</a:t>
            </a:r>
            <a:r>
              <a:rPr lang="en-US" altLang="zh-CN" dirty="0"/>
              <a:t>(</a:t>
            </a:r>
            <a:r>
              <a:rPr lang="zh-CN" altLang="en-US" dirty="0"/>
              <a:t>台湾</a:t>
            </a:r>
            <a:r>
              <a:rPr lang="en-US" altLang="zh-CN" dirty="0"/>
              <a:t>)</a:t>
            </a:r>
          </a:p>
          <a:p>
            <a:r>
              <a:rPr lang="zh-CN" altLang="en-US" dirty="0"/>
              <a:t>时间：</a:t>
            </a:r>
            <a:r>
              <a:rPr lang="en-US" altLang="zh-CN" dirty="0"/>
              <a:t>2023/2/11 </a:t>
            </a:r>
            <a:r>
              <a:rPr lang="zh-CN" altLang="en-US" dirty="0"/>
              <a:t>周六 </a:t>
            </a:r>
            <a:r>
              <a:rPr lang="en-US" altLang="zh-CN" dirty="0"/>
              <a:t>10:00-12:30</a:t>
            </a:r>
          </a:p>
          <a:p>
            <a:r>
              <a:rPr lang="zh-CN" altLang="en-US" dirty="0"/>
              <a:t>腾讯会议：</a:t>
            </a:r>
            <a:r>
              <a:rPr lang="en-US" altLang="zh-CN" dirty="0"/>
              <a:t>313-6615-4891</a:t>
            </a:r>
          </a:p>
          <a:p>
            <a:endParaRPr lang="en-US" altLang="zh-CN" dirty="0"/>
          </a:p>
          <a:p>
            <a:r>
              <a:rPr lang="zh-CN" altLang="en-US" dirty="0"/>
              <a:t>张为民教授</a:t>
            </a:r>
            <a:r>
              <a:rPr lang="en-US" altLang="zh-CN" dirty="0"/>
              <a:t>20</a:t>
            </a:r>
            <a:r>
              <a:rPr lang="zh-CN" altLang="en-US" dirty="0"/>
              <a:t>多岁就发表了一篇</a:t>
            </a:r>
            <a:r>
              <a:rPr lang="en-US" dirty="0"/>
              <a:t>RMP(1990)</a:t>
            </a:r>
          </a:p>
          <a:p>
            <a:r>
              <a:rPr lang="zh-CN" altLang="en-US" dirty="0"/>
              <a:t>这个记录在华人物理学家中尚无人超越</a:t>
            </a:r>
          </a:p>
          <a:p>
            <a:r>
              <a:rPr lang="zh-CN" altLang="en-US" dirty="0"/>
              <a:t>报告内容和个人简介，参见直播网页</a:t>
            </a:r>
          </a:p>
          <a:p>
            <a:r>
              <a:rPr lang="en-US" dirty="0"/>
              <a:t>https://</a:t>
            </a:r>
            <a:r>
              <a:rPr lang="en-US" dirty="0" err="1"/>
              <a:t>www.koushare.com</a:t>
            </a:r>
            <a:r>
              <a:rPr lang="en-US" dirty="0"/>
              <a:t>/lives/room/695573</a:t>
            </a:r>
            <a:endParaRPr lang="en-CN" dirty="0"/>
          </a:p>
        </p:txBody>
      </p:sp>
    </p:spTree>
    <p:extLst>
      <p:ext uri="{BB962C8B-B14F-4D97-AF65-F5344CB8AC3E}">
        <p14:creationId xmlns:p14="http://schemas.microsoft.com/office/powerpoint/2010/main" val="791583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DF49A4-9BC4-6A44-A7CF-F0F454F21750}"/>
              </a:ext>
            </a:extLst>
          </p:cNvPr>
          <p:cNvSpPr txBox="1"/>
          <p:nvPr/>
        </p:nvSpPr>
        <p:spPr>
          <a:xfrm>
            <a:off x="352425" y="189449"/>
            <a:ext cx="8320088" cy="707886"/>
          </a:xfrm>
          <a:prstGeom prst="rect">
            <a:avLst/>
          </a:prstGeom>
          <a:noFill/>
        </p:spPr>
        <p:txBody>
          <a:bodyPr wrap="square" rtlCol="0">
            <a:spAutoFit/>
          </a:bodyPr>
          <a:lstStyle/>
          <a:p>
            <a:r>
              <a:rPr lang="en-CN" sz="4000" dirty="0">
                <a:latin typeface="FangSong" panose="02010609060101010101" pitchFamily="49" charset="-122"/>
                <a:ea typeface="FangSong" panose="02010609060101010101" pitchFamily="49" charset="-122"/>
              </a:rPr>
              <a:t>Josiah Wilard Gibbs(1839-1903)</a:t>
            </a:r>
          </a:p>
        </p:txBody>
      </p:sp>
      <p:pic>
        <p:nvPicPr>
          <p:cNvPr id="1026" name="Picture 2" descr="Portrait of Josiah Willard Gibbs">
            <a:extLst>
              <a:ext uri="{FF2B5EF4-FFF2-40B4-BE49-F238E27FC236}">
                <a16:creationId xmlns:a16="http://schemas.microsoft.com/office/drawing/2014/main" id="{C1832D95-0AFE-DD4C-9A5C-BDA03E0D81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6320" y="146447"/>
            <a:ext cx="2794000" cy="3721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5E875E-DBF2-684A-B88C-67CFD25D846B}"/>
              </a:ext>
            </a:extLst>
          </p:cNvPr>
          <p:cNvSpPr txBox="1"/>
          <p:nvPr/>
        </p:nvSpPr>
        <p:spPr>
          <a:xfrm>
            <a:off x="514350" y="1171575"/>
            <a:ext cx="8043863" cy="3139321"/>
          </a:xfrm>
          <a:prstGeom prst="rect">
            <a:avLst/>
          </a:prstGeom>
          <a:noFill/>
        </p:spPr>
        <p:txBody>
          <a:bodyPr wrap="square" rtlCol="0">
            <a:spAutoFit/>
          </a:bodyPr>
          <a:lstStyle/>
          <a:p>
            <a:pPr marL="285750" indent="-285750">
              <a:buFont typeface="Arial" panose="020B0604020202020204" pitchFamily="34" charset="0"/>
              <a:buChar char="•"/>
            </a:pPr>
            <a:r>
              <a:rPr lang="en-US" dirty="0"/>
              <a:t>Praised by Albert Einstein as “</a:t>
            </a:r>
            <a:r>
              <a:rPr lang="en-US" dirty="0">
                <a:solidFill>
                  <a:srgbClr val="FF0000"/>
                </a:solidFill>
              </a:rPr>
              <a:t>the greatest mind in American history</a:t>
            </a:r>
            <a:r>
              <a:rPr lang="en-US" dirty="0"/>
              <a:t>” in 1901.</a:t>
            </a:r>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r>
              <a:rPr lang="en-CN" dirty="0"/>
              <a:t>Together with Maxwell and Boltzman, Gibbs founded “statistical mechanics”, a term that the coined to identify the branch of theoretial physics that accounts for the observed thermodynamics properties of systems in terms of the statistics of </a:t>
            </a:r>
            <a:r>
              <a:rPr lang="en-CN" dirty="0">
                <a:solidFill>
                  <a:srgbClr val="FF0000"/>
                </a:solidFill>
              </a:rPr>
              <a:t>ensembles</a:t>
            </a:r>
            <a:r>
              <a:rPr lang="en-CN" dirty="0"/>
              <a:t> of all possible physical states of system composed of many particles. He introduced the concept of “phases of a mechanical system”. He used the concept to define the microcanonical, canonical and grand canoical ensembles; all relted to the Gibbs measure, thus obtaining a more general formulation of the statistical properties of many-particle systems than Maxwell and Boltzmann had achieved before him.</a:t>
            </a:r>
          </a:p>
        </p:txBody>
      </p:sp>
      <p:sp>
        <p:nvSpPr>
          <p:cNvPr id="3" name="TextBox 2">
            <a:extLst>
              <a:ext uri="{FF2B5EF4-FFF2-40B4-BE49-F238E27FC236}">
                <a16:creationId xmlns:a16="http://schemas.microsoft.com/office/drawing/2014/main" id="{EBDF655D-8ED8-C44F-82C3-74078EF76BDB}"/>
              </a:ext>
            </a:extLst>
          </p:cNvPr>
          <p:cNvSpPr txBox="1"/>
          <p:nvPr/>
        </p:nvSpPr>
        <p:spPr>
          <a:xfrm>
            <a:off x="178419" y="4726393"/>
            <a:ext cx="3958683" cy="646331"/>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牛顿</a:t>
            </a:r>
            <a:r>
              <a:rPr lang="zh-CN" altLang="en-US" dirty="0">
                <a:latin typeface="FangSong" panose="02010609060101010101" pitchFamily="49" charset="-122"/>
                <a:ea typeface="FangSong" panose="02010609060101010101" pitchFamily="49" charset="-122"/>
              </a:rPr>
              <a:t>、卡文迪许、。。。。。。</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dirty="0">
                <a:latin typeface="FangSong" panose="02010609060101010101" pitchFamily="49" charset="-122"/>
                <a:ea typeface="FangSong" panose="02010609060101010101" pitchFamily="49" charset="-122"/>
              </a:rPr>
              <a:t>学科语言（法语）</a:t>
            </a:r>
            <a:endParaRPr lang="en-CN" dirty="0">
              <a:latin typeface="FangSong" panose="02010609060101010101" pitchFamily="49" charset="-122"/>
              <a:ea typeface="FangSong" panose="02010609060101010101" pitchFamily="49" charset="-122"/>
            </a:endParaRPr>
          </a:p>
        </p:txBody>
      </p:sp>
      <p:pic>
        <p:nvPicPr>
          <p:cNvPr id="6" name="Picture 5">
            <a:extLst>
              <a:ext uri="{FF2B5EF4-FFF2-40B4-BE49-F238E27FC236}">
                <a16:creationId xmlns:a16="http://schemas.microsoft.com/office/drawing/2014/main" id="{09C14AB9-21D8-A74B-90FE-B834656332DF}"/>
              </a:ext>
            </a:extLst>
          </p:cNvPr>
          <p:cNvPicPr>
            <a:picLocks noChangeAspect="1"/>
          </p:cNvPicPr>
          <p:nvPr/>
        </p:nvPicPr>
        <p:blipFill>
          <a:blip r:embed="rId3"/>
          <a:stretch>
            <a:fillRect/>
          </a:stretch>
        </p:blipFill>
        <p:spPr>
          <a:xfrm>
            <a:off x="3129173" y="4308137"/>
            <a:ext cx="2814216" cy="1758885"/>
          </a:xfrm>
          <a:prstGeom prst="rect">
            <a:avLst/>
          </a:prstGeom>
        </p:spPr>
      </p:pic>
      <p:sp>
        <p:nvSpPr>
          <p:cNvPr id="7" name="TextBox 6">
            <a:extLst>
              <a:ext uri="{FF2B5EF4-FFF2-40B4-BE49-F238E27FC236}">
                <a16:creationId xmlns:a16="http://schemas.microsoft.com/office/drawing/2014/main" id="{AEBA4696-DFE5-144B-8F1F-3CF719FA9709}"/>
              </a:ext>
            </a:extLst>
          </p:cNvPr>
          <p:cNvSpPr txBox="1"/>
          <p:nvPr/>
        </p:nvSpPr>
        <p:spPr>
          <a:xfrm>
            <a:off x="6096000" y="4033897"/>
            <a:ext cx="5760640" cy="2677656"/>
          </a:xfrm>
          <a:prstGeom prst="rect">
            <a:avLst/>
          </a:prstGeom>
          <a:noFill/>
        </p:spPr>
        <p:txBody>
          <a:bodyPr wrap="square" rtlCol="0">
            <a:spAutoFit/>
          </a:bodyPr>
          <a:lstStyle/>
          <a:p>
            <a:r>
              <a:rPr lang="zh-TW" altLang="en-US" sz="1400" dirty="0"/>
              <a:t>那时我们常去卡次基山，那是纽约市的人们伏天避暑消夏的去处。孩子的父亲们工作日都在纽约干活，周末才回家。我父亲常在周末带我去卡次基山，在漫步于丛林的时候给我讲好多关于树林里动植物的新鲜事儿。</a:t>
            </a:r>
          </a:p>
          <a:p>
            <a:r>
              <a:rPr lang="zh-TW" altLang="en-US" sz="1400" dirty="0"/>
              <a:t>　　“看见那鸟儿了么？”我父亲说道“那是只斯氏鸣禽。”（我那时就猜出其实他并不知道这鸟的学名。）他接着说，“在意大利，人们把它叫做‘查图拉波替达’，葡萄牙人叫它‘彭达皮达’，中国人叫它‘春兰鹈’，日本人叫它‘卡塔诺</a:t>
            </a:r>
            <a:r>
              <a:rPr lang="en-US" altLang="zh-TW" sz="1400" dirty="0"/>
              <a:t>·</a:t>
            </a:r>
            <a:r>
              <a:rPr lang="zh-TW" altLang="en-US" sz="1400" dirty="0"/>
              <a:t>特克达’。你可以知道所有的语言是怎么叫这种鸟的，可是终了还是一点也不懂得它。你仅仅是知道了世界不同地区的人怎么称呼这只鸟罢了。我们还是来仔细瞧瞧它在做什么吧</a:t>
            </a:r>
            <a:r>
              <a:rPr lang="en-US" altLang="zh-TW" sz="1400" dirty="0"/>
              <a:t>——</a:t>
            </a:r>
            <a:r>
              <a:rPr lang="zh-TW" altLang="en-US" sz="1400" dirty="0"/>
              <a:t>那才是真正重要的。”</a:t>
            </a:r>
          </a:p>
          <a:p>
            <a:r>
              <a:rPr lang="zh-TW" altLang="en-US" sz="1400" dirty="0"/>
              <a:t>　　</a:t>
            </a:r>
            <a:r>
              <a:rPr lang="zh-TW" altLang="en-US" sz="1400" b="1" dirty="0">
                <a:solidFill>
                  <a:srgbClr val="FF0000"/>
                </a:solidFill>
              </a:rPr>
              <a:t>我于是很早就学会了“知道一个东西的名字”和“真正懂得一个东西”的区别。</a:t>
            </a:r>
            <a:endParaRPr lang="en-US" sz="1400" b="1" dirty="0">
              <a:solidFill>
                <a:srgbClr val="FF0000"/>
              </a:solidFill>
            </a:endParaRPr>
          </a:p>
        </p:txBody>
      </p:sp>
    </p:spTree>
    <p:extLst>
      <p:ext uri="{BB962C8B-B14F-4D97-AF65-F5344CB8AC3E}">
        <p14:creationId xmlns:p14="http://schemas.microsoft.com/office/powerpoint/2010/main" val="2829299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DF49A4-9BC4-6A44-A7CF-F0F454F21750}"/>
              </a:ext>
            </a:extLst>
          </p:cNvPr>
          <p:cNvSpPr txBox="1"/>
          <p:nvPr/>
        </p:nvSpPr>
        <p:spPr>
          <a:xfrm>
            <a:off x="2966225" y="82242"/>
            <a:ext cx="6814208" cy="1323439"/>
          </a:xfrm>
          <a:prstGeom prst="rect">
            <a:avLst/>
          </a:prstGeom>
          <a:noFill/>
        </p:spPr>
        <p:txBody>
          <a:bodyPr wrap="square" rtlCol="0">
            <a:spAutoFit/>
          </a:bodyPr>
          <a:lstStyle/>
          <a:p>
            <a:pPr algn="ctr"/>
            <a:r>
              <a:rPr lang="en-CN" sz="4000" dirty="0">
                <a:latin typeface="FangSong" panose="02010609060101010101" pitchFamily="49" charset="-122"/>
                <a:ea typeface="FangSong" panose="02010609060101010101" pitchFamily="49" charset="-122"/>
              </a:rPr>
              <a:t>系综</a:t>
            </a:r>
            <a:r>
              <a:rPr lang="zh-CN" altLang="en-US" sz="4000" dirty="0">
                <a:latin typeface="FangSong" panose="02010609060101010101" pitchFamily="49" charset="-122"/>
                <a:ea typeface="FangSong" panose="02010609060101010101" pitchFamily="49" charset="-122"/>
              </a:rPr>
              <a:t>（</a:t>
            </a:r>
            <a:r>
              <a:rPr lang="zh-CN" altLang="en-US" sz="4000" dirty="0">
                <a:solidFill>
                  <a:srgbClr val="FF0000"/>
                </a:solidFill>
                <a:latin typeface="FangSong" panose="02010609060101010101" pitchFamily="49" charset="-122"/>
                <a:ea typeface="FangSong" panose="02010609060101010101" pitchFamily="49" charset="-122"/>
              </a:rPr>
              <a:t>谁最先翻译成中文？</a:t>
            </a:r>
            <a:r>
              <a:rPr lang="zh-CN" altLang="en-US" sz="4000" dirty="0">
                <a:latin typeface="FangSong" panose="02010609060101010101" pitchFamily="49" charset="-122"/>
                <a:ea typeface="FangSong" panose="02010609060101010101" pitchFamily="49" charset="-122"/>
              </a:rPr>
              <a:t>）</a:t>
            </a:r>
            <a:endParaRPr lang="en-CN" sz="4000" dirty="0">
              <a:latin typeface="FangSong" panose="02010609060101010101" pitchFamily="49" charset="-122"/>
              <a:ea typeface="FangSong" panose="02010609060101010101" pitchFamily="49" charset="-122"/>
            </a:endParaRPr>
          </a:p>
          <a:p>
            <a:pPr algn="ctr"/>
            <a:r>
              <a:rPr lang="en-CN" sz="4000" dirty="0">
                <a:latin typeface="FangSong" panose="02010609060101010101" pitchFamily="49" charset="-122"/>
                <a:ea typeface="FangSong" panose="02010609060101010101" pitchFamily="49" charset="-122"/>
              </a:rPr>
              <a:t>Ansemble</a:t>
            </a:r>
            <a:r>
              <a:rPr lang="zh-CN" altLang="en-US" sz="4000" dirty="0">
                <a:latin typeface="FangSong" panose="02010609060101010101" pitchFamily="49" charset="-122"/>
                <a:ea typeface="FangSong" panose="02010609060101010101" pitchFamily="49" charset="-122"/>
              </a:rPr>
              <a:t>（样本集）</a:t>
            </a:r>
            <a:endParaRPr lang="en-CN" sz="4000" dirty="0">
              <a:latin typeface="FangSong" panose="02010609060101010101" pitchFamily="49" charset="-122"/>
              <a:ea typeface="FangSong" panose="02010609060101010101" pitchFamily="49" charset="-122"/>
            </a:endParaRPr>
          </a:p>
        </p:txBody>
      </p:sp>
      <p:sp>
        <p:nvSpPr>
          <p:cNvPr id="3" name="TextBox 2">
            <a:extLst>
              <a:ext uri="{FF2B5EF4-FFF2-40B4-BE49-F238E27FC236}">
                <a16:creationId xmlns:a16="http://schemas.microsoft.com/office/drawing/2014/main" id="{F4E207F0-667C-4340-8564-E837D976FBB2}"/>
              </a:ext>
            </a:extLst>
          </p:cNvPr>
          <p:cNvSpPr txBox="1"/>
          <p:nvPr/>
        </p:nvSpPr>
        <p:spPr>
          <a:xfrm>
            <a:off x="652461" y="1898497"/>
            <a:ext cx="10887075" cy="1477328"/>
          </a:xfrm>
          <a:prstGeom prst="rect">
            <a:avLst/>
          </a:prstGeom>
          <a:noFill/>
        </p:spPr>
        <p:txBody>
          <a:bodyPr wrap="square" rtlCol="0">
            <a:spAutoFit/>
          </a:bodyPr>
          <a:lstStyle/>
          <a:p>
            <a:r>
              <a:rPr lang="en-US" dirty="0"/>
              <a:t>In </a:t>
            </a:r>
            <a:r>
              <a:rPr lang="en-US" dirty="0">
                <a:hlinkClick r:id="rId2" tooltip="Physics"/>
              </a:rPr>
              <a:t>physics</a:t>
            </a:r>
            <a:r>
              <a:rPr lang="en-US" dirty="0"/>
              <a:t>, specifically </a:t>
            </a:r>
            <a:r>
              <a:rPr lang="en-US" dirty="0">
                <a:hlinkClick r:id="rId3" tooltip="Statistical mechanics"/>
              </a:rPr>
              <a:t>statistical mechanics</a:t>
            </a:r>
            <a:r>
              <a:rPr lang="en-US" dirty="0"/>
              <a:t>, an </a:t>
            </a:r>
            <a:r>
              <a:rPr lang="en-US" b="1" dirty="0"/>
              <a:t>ensemble</a:t>
            </a:r>
            <a:r>
              <a:rPr lang="en-US" dirty="0"/>
              <a:t> (also </a:t>
            </a:r>
            <a:r>
              <a:rPr lang="en-US" b="1" dirty="0"/>
              <a:t>statistical ensemble</a:t>
            </a:r>
            <a:r>
              <a:rPr lang="en-US" dirty="0"/>
              <a:t>) is an idealization consisting of a large number of virtual copies (sometimes infinitely many) of a </a:t>
            </a:r>
            <a:r>
              <a:rPr lang="en-US" dirty="0">
                <a:hlinkClick r:id="rId4" tooltip="System"/>
              </a:rPr>
              <a:t>system</a:t>
            </a:r>
            <a:r>
              <a:rPr lang="en-US" dirty="0"/>
              <a:t>, considered all at once, each of which represents a possible state that the real system might be in. In other words, a statistical ensemble is set of systems of particles used in statistical mechanics to describe a single system.</a:t>
            </a:r>
            <a:r>
              <a:rPr lang="en-US" baseline="30000" dirty="0">
                <a:hlinkClick r:id="rId5"/>
              </a:rPr>
              <a:t>[1]</a:t>
            </a:r>
            <a:r>
              <a:rPr lang="en-US" dirty="0"/>
              <a:t> The concept of an ensemble was introduced by </a:t>
            </a:r>
            <a:r>
              <a:rPr lang="en-US" dirty="0">
                <a:hlinkClick r:id="rId6" tooltip="Willard Gibbs"/>
              </a:rPr>
              <a:t>J. Willard Gibbs</a:t>
            </a:r>
            <a:r>
              <a:rPr lang="en-US" dirty="0"/>
              <a:t> in 1902</a:t>
            </a:r>
            <a:endParaRPr lang="en-CN" dirty="0"/>
          </a:p>
        </p:txBody>
      </p:sp>
      <p:sp>
        <p:nvSpPr>
          <p:cNvPr id="4" name="TextBox 3">
            <a:extLst>
              <a:ext uri="{FF2B5EF4-FFF2-40B4-BE49-F238E27FC236}">
                <a16:creationId xmlns:a16="http://schemas.microsoft.com/office/drawing/2014/main" id="{17CDDFBA-5E4C-B246-88ED-B5324A13A508}"/>
              </a:ext>
            </a:extLst>
          </p:cNvPr>
          <p:cNvSpPr txBox="1"/>
          <p:nvPr/>
        </p:nvSpPr>
        <p:spPr>
          <a:xfrm>
            <a:off x="3311913" y="4795025"/>
            <a:ext cx="5798634" cy="707886"/>
          </a:xfrm>
          <a:prstGeom prst="rect">
            <a:avLst/>
          </a:prstGeom>
          <a:noFill/>
        </p:spPr>
        <p:txBody>
          <a:bodyPr wrap="square" rtlCol="0">
            <a:spAutoFit/>
          </a:bodyPr>
          <a:lstStyle/>
          <a:p>
            <a:pPr algn="ctr"/>
            <a:r>
              <a:rPr lang="en-CN" sz="4000" dirty="0"/>
              <a:t>Multiplicity</a:t>
            </a:r>
          </a:p>
        </p:txBody>
      </p:sp>
    </p:spTree>
    <p:extLst>
      <p:ext uri="{BB962C8B-B14F-4D97-AF65-F5344CB8AC3E}">
        <p14:creationId xmlns:p14="http://schemas.microsoft.com/office/powerpoint/2010/main" val="733532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937F11-857F-2C46-A45B-84E33116C10E}"/>
              </a:ext>
            </a:extLst>
          </p:cNvPr>
          <p:cNvPicPr>
            <a:picLocks noChangeAspect="1"/>
          </p:cNvPicPr>
          <p:nvPr/>
        </p:nvPicPr>
        <p:blipFill>
          <a:blip r:embed="rId2"/>
          <a:stretch>
            <a:fillRect/>
          </a:stretch>
        </p:blipFill>
        <p:spPr>
          <a:xfrm>
            <a:off x="0" y="0"/>
            <a:ext cx="12192000" cy="5135909"/>
          </a:xfrm>
          <a:prstGeom prst="rect">
            <a:avLst/>
          </a:prstGeom>
        </p:spPr>
      </p:pic>
    </p:spTree>
    <p:extLst>
      <p:ext uri="{BB962C8B-B14F-4D97-AF65-F5344CB8AC3E}">
        <p14:creationId xmlns:p14="http://schemas.microsoft.com/office/powerpoint/2010/main" val="2003226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EE8F-0CAA-8247-BC4D-A68D01AD6464}"/>
              </a:ext>
            </a:extLst>
          </p:cNvPr>
          <p:cNvSpPr>
            <a:spLocks noGrp="1"/>
          </p:cNvSpPr>
          <p:nvPr>
            <p:ph type="title"/>
          </p:nvPr>
        </p:nvSpPr>
        <p:spPr>
          <a:xfrm>
            <a:off x="838200" y="365125"/>
            <a:ext cx="10515600" cy="5421313"/>
          </a:xfrm>
        </p:spPr>
        <p:txBody>
          <a:bodyPr>
            <a:normAutofit/>
          </a:bodyPr>
          <a:lstStyle/>
          <a:p>
            <a:r>
              <a:rPr lang="en-CN" b="1" dirty="0"/>
              <a:t>In statistical mechanics, </a:t>
            </a:r>
            <a:r>
              <a:rPr lang="en-CN" b="1" dirty="0">
                <a:solidFill>
                  <a:srgbClr val="FF0000"/>
                </a:solidFill>
              </a:rPr>
              <a:t>multiplicity</a:t>
            </a:r>
            <a:r>
              <a:rPr lang="en-CN" b="1" dirty="0"/>
              <a:t>(also called </a:t>
            </a:r>
            <a:r>
              <a:rPr lang="en-CN" b="1" dirty="0">
                <a:solidFill>
                  <a:srgbClr val="00B050"/>
                </a:solidFill>
              </a:rPr>
              <a:t>statistical weight</a:t>
            </a:r>
            <a:r>
              <a:rPr lang="en-CN" b="1" dirty="0"/>
              <a:t>) refers to the number of </a:t>
            </a:r>
            <a:r>
              <a:rPr lang="en-CN" b="1" dirty="0">
                <a:solidFill>
                  <a:srgbClr val="FF0000"/>
                </a:solidFill>
              </a:rPr>
              <a:t>microstates</a:t>
            </a:r>
            <a:r>
              <a:rPr lang="en-CN" b="1" dirty="0">
                <a:solidFill>
                  <a:srgbClr val="FF0000"/>
                </a:solidFill>
                <a:latin typeface="FangSong" panose="02010609060101010101" pitchFamily="49" charset="-122"/>
                <a:ea typeface="FangSong" panose="02010609060101010101" pitchFamily="49" charset="-122"/>
              </a:rPr>
              <a:t>(微观态)</a:t>
            </a:r>
            <a:r>
              <a:rPr lang="en-CN" b="1" dirty="0">
                <a:latin typeface="FangSong" panose="02010609060101010101" pitchFamily="49" charset="-122"/>
                <a:ea typeface="FangSong" panose="02010609060101010101" pitchFamily="49" charset="-122"/>
              </a:rPr>
              <a:t> </a:t>
            </a:r>
            <a:r>
              <a:rPr lang="en-CN" b="1" dirty="0"/>
              <a:t>corresponding to a particular </a:t>
            </a:r>
            <a:r>
              <a:rPr lang="en-CN" b="1" dirty="0">
                <a:solidFill>
                  <a:srgbClr val="FF0000"/>
                </a:solidFill>
              </a:rPr>
              <a:t>macrostate</a:t>
            </a:r>
            <a:r>
              <a:rPr lang="en-CN" b="1" dirty="0">
                <a:solidFill>
                  <a:srgbClr val="FF0000"/>
                </a:solidFill>
                <a:latin typeface="FangSong" panose="02010609060101010101" pitchFamily="49" charset="-122"/>
                <a:ea typeface="FangSong" panose="02010609060101010101" pitchFamily="49" charset="-122"/>
              </a:rPr>
              <a:t>(宏观态)</a:t>
            </a:r>
            <a:r>
              <a:rPr lang="en-CN" b="1" dirty="0"/>
              <a:t>of a thermodynamic system.</a:t>
            </a:r>
          </a:p>
        </p:txBody>
      </p:sp>
    </p:spTree>
    <p:extLst>
      <p:ext uri="{BB962C8B-B14F-4D97-AF65-F5344CB8AC3E}">
        <p14:creationId xmlns:p14="http://schemas.microsoft.com/office/powerpoint/2010/main" val="729574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EE8F-0CAA-8247-BC4D-A68D01AD6464}"/>
              </a:ext>
            </a:extLst>
          </p:cNvPr>
          <p:cNvSpPr>
            <a:spLocks noGrp="1"/>
          </p:cNvSpPr>
          <p:nvPr>
            <p:ph type="title"/>
          </p:nvPr>
        </p:nvSpPr>
        <p:spPr>
          <a:xfrm>
            <a:off x="838200" y="0"/>
            <a:ext cx="10515600" cy="763588"/>
          </a:xfrm>
        </p:spPr>
        <p:txBody>
          <a:bodyPr>
            <a:normAutofit/>
          </a:bodyPr>
          <a:lstStyle/>
          <a:p>
            <a:pPr algn="ctr"/>
            <a:r>
              <a:rPr lang="en-CN" dirty="0">
                <a:latin typeface="FangSong" panose="02010609060101010101" pitchFamily="49" charset="-122"/>
                <a:ea typeface="FangSong" panose="02010609060101010101" pitchFamily="49" charset="-122"/>
              </a:rPr>
              <a:t>一个经典例子</a:t>
            </a:r>
          </a:p>
        </p:txBody>
      </p:sp>
      <p:sp>
        <p:nvSpPr>
          <p:cNvPr id="3" name="TextBox 2">
            <a:extLst>
              <a:ext uri="{FF2B5EF4-FFF2-40B4-BE49-F238E27FC236}">
                <a16:creationId xmlns:a16="http://schemas.microsoft.com/office/drawing/2014/main" id="{77E04B10-9E9F-CA47-8A97-C77CE166F470}"/>
              </a:ext>
            </a:extLst>
          </p:cNvPr>
          <p:cNvSpPr txBox="1"/>
          <p:nvPr/>
        </p:nvSpPr>
        <p:spPr>
          <a:xfrm>
            <a:off x="609600" y="710635"/>
            <a:ext cx="10972800" cy="5693866"/>
          </a:xfrm>
          <a:prstGeom prst="rect">
            <a:avLst/>
          </a:prstGeom>
          <a:noFill/>
        </p:spPr>
        <p:txBody>
          <a:bodyPr wrap="square" rtlCol="0">
            <a:spAutoFit/>
          </a:bodyPr>
          <a:lstStyle/>
          <a:p>
            <a:pPr marL="285750" indent="-285750">
              <a:buFont typeface="Arial" panose="020B0604020202020204" pitchFamily="34" charset="0"/>
              <a:buChar char="•"/>
            </a:pPr>
            <a:r>
              <a:rPr lang="en-CN" sz="2800" dirty="0">
                <a:latin typeface="FangSong" panose="02010609060101010101" pitchFamily="49" charset="-122"/>
                <a:ea typeface="FangSong" panose="02010609060101010101" pitchFamily="49" charset="-122"/>
              </a:rPr>
              <a:t>系统</a:t>
            </a:r>
            <a:r>
              <a:rPr lang="zh-CN" altLang="en-US" sz="2800" dirty="0">
                <a:latin typeface="FangSong" panose="02010609060101010101" pitchFamily="49" charset="-122"/>
                <a:ea typeface="FangSong" panose="02010609060101010101" pitchFamily="49" charset="-122"/>
              </a:rPr>
              <a:t>：考虑三个编号的硬币，每个硬币有头朝上、尾朝上两种状态</a:t>
            </a:r>
            <a:endParaRPr lang="en-US" altLang="zh-CN" sz="2800"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zh-CN" altLang="en-US" sz="2800" dirty="0">
                <a:latin typeface="FangSong" panose="02010609060101010101" pitchFamily="49" charset="-122"/>
                <a:ea typeface="FangSong" panose="02010609060101010101" pitchFamily="49" charset="-122"/>
              </a:rPr>
              <a:t>状态：          币一          币二          </a:t>
            </a:r>
            <a:r>
              <a:rPr lang="zh-CN" altLang="en-CN" sz="2800" dirty="0">
                <a:latin typeface="FangSong" panose="02010609060101010101" pitchFamily="49" charset="-122"/>
                <a:ea typeface="FangSong" panose="02010609060101010101" pitchFamily="49" charset="-122"/>
              </a:rPr>
              <a:t>币三</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                  </a:t>
            </a:r>
            <a:r>
              <a:rPr lang="en-US" altLang="zh-CN" sz="2800" dirty="0">
                <a:latin typeface="FangSong" panose="02010609060101010101" pitchFamily="49" charset="-122"/>
                <a:ea typeface="FangSong" panose="02010609060101010101" pitchFamily="49" charset="-122"/>
              </a:rPr>
              <a:t>H             H             H</a:t>
            </a:r>
          </a:p>
          <a:p>
            <a:r>
              <a:rPr lang="en-US" sz="2800" dirty="0">
                <a:latin typeface="FangSong" panose="02010609060101010101" pitchFamily="49" charset="-122"/>
                <a:ea typeface="FangSong" panose="02010609060101010101" pitchFamily="49" charset="-122"/>
              </a:rPr>
              <a:t>                  H             H             T</a:t>
            </a:r>
          </a:p>
          <a:p>
            <a:r>
              <a:rPr lang="en-US" sz="2800" dirty="0">
                <a:latin typeface="FangSong" panose="02010609060101010101" pitchFamily="49" charset="-122"/>
                <a:ea typeface="FangSong" panose="02010609060101010101" pitchFamily="49" charset="-122"/>
              </a:rPr>
              <a:t>                  H             T             H</a:t>
            </a:r>
          </a:p>
          <a:p>
            <a:r>
              <a:rPr lang="en-US" sz="2800" dirty="0">
                <a:latin typeface="FangSong" panose="02010609060101010101" pitchFamily="49" charset="-122"/>
                <a:ea typeface="FangSong" panose="02010609060101010101" pitchFamily="49" charset="-122"/>
              </a:rPr>
              <a:t>                  T             H             H</a:t>
            </a:r>
          </a:p>
          <a:p>
            <a:r>
              <a:rPr lang="en-US" sz="2800" dirty="0">
                <a:latin typeface="FangSong" panose="02010609060101010101" pitchFamily="49" charset="-122"/>
                <a:ea typeface="FangSong" panose="02010609060101010101" pitchFamily="49" charset="-122"/>
              </a:rPr>
              <a:t>                  H             T             T</a:t>
            </a:r>
          </a:p>
          <a:p>
            <a:r>
              <a:rPr lang="en-US" sz="2800" dirty="0">
                <a:latin typeface="FangSong" panose="02010609060101010101" pitchFamily="49" charset="-122"/>
                <a:ea typeface="FangSong" panose="02010609060101010101" pitchFamily="49" charset="-122"/>
              </a:rPr>
              <a:t>                  T             H             T</a:t>
            </a:r>
          </a:p>
          <a:p>
            <a:r>
              <a:rPr lang="en-US" sz="2800" dirty="0">
                <a:latin typeface="FangSong" panose="02010609060101010101" pitchFamily="49" charset="-122"/>
                <a:ea typeface="FangSong" panose="02010609060101010101" pitchFamily="49" charset="-122"/>
              </a:rPr>
              <a:t>                  T             T             H</a:t>
            </a:r>
          </a:p>
          <a:p>
            <a:r>
              <a:rPr lang="en-US" sz="2800" dirty="0">
                <a:latin typeface="FangSong" panose="02010609060101010101" pitchFamily="49" charset="-122"/>
                <a:ea typeface="FangSong" panose="02010609060101010101" pitchFamily="49" charset="-122"/>
              </a:rPr>
              <a:t>                  T             T             T</a:t>
            </a:r>
          </a:p>
          <a:p>
            <a:pPr marL="457200" indent="-457200">
              <a:buFont typeface="Arial" panose="020B0604020202020204" pitchFamily="34" charset="0"/>
              <a:buChar char="•"/>
            </a:pPr>
            <a:r>
              <a:rPr lang="en-US" sz="2800" dirty="0" err="1">
                <a:latin typeface="FangSong" panose="02010609060101010101" pitchFamily="49" charset="-122"/>
                <a:ea typeface="FangSong" panose="02010609060101010101" pitchFamily="49" charset="-122"/>
              </a:rPr>
              <a:t>引入</a:t>
            </a:r>
            <a:r>
              <a:rPr lang="zh-CN" altLang="en-US" sz="2800" dirty="0">
                <a:latin typeface="FangSong" panose="02010609060101010101" pitchFamily="49" charset="-122"/>
                <a:ea typeface="FangSong" panose="02010609060101010101" pitchFamily="49" charset="-122"/>
              </a:rPr>
              <a:t>“术语”</a:t>
            </a:r>
            <a:r>
              <a:rPr lang="en-US" altLang="zh-CN" sz="2800" dirty="0">
                <a:latin typeface="FangSong" panose="02010609060101010101" pitchFamily="49" charset="-122"/>
                <a:ea typeface="FangSong" panose="02010609060101010101" pitchFamily="49" charset="-122"/>
              </a:rPr>
              <a:t>terminology</a:t>
            </a:r>
          </a:p>
          <a:p>
            <a:r>
              <a:rPr lang="zh-CN" altLang="en-US" sz="2800" dirty="0">
                <a:latin typeface="FangSong" panose="02010609060101010101" pitchFamily="49" charset="-122"/>
                <a:ea typeface="FangSong" panose="02010609060101010101" pitchFamily="49" charset="-122"/>
              </a:rPr>
              <a:t>   微观态：</a:t>
            </a:r>
            <a:r>
              <a:rPr lang="en-US" altLang="zh-CN" sz="2800" dirty="0">
                <a:latin typeface="FangSong" panose="02010609060101010101" pitchFamily="49" charset="-122"/>
                <a:ea typeface="FangSong" panose="02010609060101010101" pitchFamily="49" charset="-122"/>
              </a:rPr>
              <a:t>8</a:t>
            </a:r>
            <a:r>
              <a:rPr lang="zh-CN" altLang="en-US" sz="2800" dirty="0">
                <a:latin typeface="FangSong" panose="02010609060101010101" pitchFamily="49" charset="-122"/>
                <a:ea typeface="FangSong" panose="02010609060101010101" pitchFamily="49" charset="-122"/>
              </a:rPr>
              <a:t>个状态中的任何一个态称为微观态</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   </a:t>
            </a:r>
            <a:r>
              <a:rPr lang="zh-CN" altLang="en-CN" sz="2800" dirty="0">
                <a:latin typeface="FangSong" panose="02010609060101010101" pitchFamily="49" charset="-122"/>
                <a:ea typeface="FangSong" panose="02010609060101010101" pitchFamily="49" charset="-122"/>
              </a:rPr>
              <a:t>宏观态</a:t>
            </a:r>
            <a:r>
              <a:rPr lang="zh-CN" altLang="en-US" sz="2800" dirty="0">
                <a:latin typeface="FangSong" panose="02010609060101010101" pitchFamily="49" charset="-122"/>
                <a:ea typeface="FangSong" panose="02010609060101010101" pitchFamily="49" charset="-122"/>
              </a:rPr>
              <a:t>：观测多少个</a:t>
            </a:r>
            <a:r>
              <a:rPr lang="en-US" altLang="zh-CN" sz="2800" dirty="0">
                <a:latin typeface="FangSong" panose="02010609060101010101" pitchFamily="49" charset="-122"/>
                <a:ea typeface="FangSong" panose="02010609060101010101" pitchFamily="49" charset="-122"/>
              </a:rPr>
              <a:t>H</a:t>
            </a:r>
            <a:r>
              <a:rPr lang="zh-CN" altLang="en-US" sz="2800" dirty="0">
                <a:latin typeface="FangSong" panose="02010609060101010101" pitchFamily="49" charset="-122"/>
                <a:ea typeface="FangSong" panose="02010609060101010101" pitchFamily="49" charset="-122"/>
              </a:rPr>
              <a:t>：</a:t>
            </a:r>
            <a:r>
              <a:rPr lang="en-US" altLang="zh-CN" sz="2800" dirty="0">
                <a:latin typeface="FangSong" panose="02010609060101010101" pitchFamily="49" charset="-122"/>
                <a:ea typeface="FangSong" panose="02010609060101010101" pitchFamily="49" charset="-122"/>
              </a:rPr>
              <a:t>3</a:t>
            </a:r>
            <a:r>
              <a:rPr lang="zh-CN" altLang="en-US" sz="2800" dirty="0">
                <a:latin typeface="FangSong" panose="02010609060101010101" pitchFamily="49" charset="-122"/>
                <a:ea typeface="FangSong" panose="02010609060101010101" pitchFamily="49" charset="-122"/>
              </a:rPr>
              <a:t>个</a:t>
            </a:r>
            <a:r>
              <a:rPr lang="en-US" altLang="zh-CN" sz="2800" dirty="0">
                <a:latin typeface="FangSong" panose="02010609060101010101" pitchFamily="49" charset="-122"/>
                <a:ea typeface="FangSong" panose="02010609060101010101" pitchFamily="49" charset="-122"/>
              </a:rPr>
              <a:t>H</a:t>
            </a:r>
            <a:r>
              <a:rPr lang="zh-CN" altLang="en-US" sz="2800" dirty="0">
                <a:latin typeface="FangSong" panose="02010609060101010101" pitchFamily="49" charset="-122"/>
                <a:ea typeface="FangSong" panose="02010609060101010101" pitchFamily="49" charset="-122"/>
              </a:rPr>
              <a:t>，</a:t>
            </a:r>
            <a:r>
              <a:rPr lang="en-US" altLang="zh-CN" sz="2800" dirty="0">
                <a:latin typeface="FangSong" panose="02010609060101010101" pitchFamily="49" charset="-122"/>
                <a:ea typeface="FangSong" panose="02010609060101010101" pitchFamily="49" charset="-122"/>
              </a:rPr>
              <a:t>2</a:t>
            </a:r>
            <a:r>
              <a:rPr lang="zh-CN" altLang="en-US" sz="2800" dirty="0">
                <a:latin typeface="FangSong" panose="02010609060101010101" pitchFamily="49" charset="-122"/>
                <a:ea typeface="FangSong" panose="02010609060101010101" pitchFamily="49" charset="-122"/>
              </a:rPr>
              <a:t>个</a:t>
            </a:r>
            <a:r>
              <a:rPr lang="en-US" altLang="zh-CN" sz="2800" dirty="0">
                <a:latin typeface="FangSong" panose="02010609060101010101" pitchFamily="49" charset="-122"/>
                <a:ea typeface="FangSong" panose="02010609060101010101" pitchFamily="49" charset="-122"/>
              </a:rPr>
              <a:t>H</a:t>
            </a:r>
            <a:r>
              <a:rPr lang="zh-CN" altLang="en-US" sz="2800" dirty="0">
                <a:latin typeface="FangSong" panose="02010609060101010101" pitchFamily="49" charset="-122"/>
                <a:ea typeface="FangSong" panose="02010609060101010101" pitchFamily="49" charset="-122"/>
              </a:rPr>
              <a:t>，</a:t>
            </a:r>
            <a:r>
              <a:rPr lang="en-US" altLang="zh-CN" sz="2800" dirty="0">
                <a:latin typeface="FangSong" panose="02010609060101010101" pitchFamily="49" charset="-122"/>
                <a:ea typeface="FangSong" panose="02010609060101010101" pitchFamily="49" charset="-122"/>
              </a:rPr>
              <a:t>1</a:t>
            </a:r>
            <a:r>
              <a:rPr lang="zh-CN" altLang="en-US" sz="2800" dirty="0">
                <a:latin typeface="FangSong" panose="02010609060101010101" pitchFamily="49" charset="-122"/>
                <a:ea typeface="FangSong" panose="02010609060101010101" pitchFamily="49" charset="-122"/>
              </a:rPr>
              <a:t>个</a:t>
            </a:r>
            <a:r>
              <a:rPr lang="en-US" altLang="zh-CN" sz="2800" dirty="0">
                <a:latin typeface="FangSong" panose="02010609060101010101" pitchFamily="49" charset="-122"/>
                <a:ea typeface="FangSong" panose="02010609060101010101" pitchFamily="49" charset="-122"/>
              </a:rPr>
              <a:t>H</a:t>
            </a:r>
            <a:r>
              <a:rPr lang="zh-CN" altLang="en-US" sz="2800" dirty="0">
                <a:latin typeface="FangSong" panose="02010609060101010101" pitchFamily="49" charset="-122"/>
                <a:ea typeface="FangSong" panose="02010609060101010101" pitchFamily="49" charset="-122"/>
              </a:rPr>
              <a:t>，</a:t>
            </a:r>
            <a:r>
              <a:rPr lang="en-US" altLang="zh-CN" sz="2800" dirty="0">
                <a:latin typeface="FangSong" panose="02010609060101010101" pitchFamily="49" charset="-122"/>
                <a:ea typeface="FangSong" panose="02010609060101010101" pitchFamily="49" charset="-122"/>
              </a:rPr>
              <a:t>0</a:t>
            </a:r>
            <a:r>
              <a:rPr lang="zh-CN" altLang="en-US" sz="2800" dirty="0">
                <a:latin typeface="FangSong" panose="02010609060101010101" pitchFamily="49" charset="-122"/>
                <a:ea typeface="FangSong" panose="02010609060101010101" pitchFamily="49" charset="-122"/>
              </a:rPr>
              <a:t>个</a:t>
            </a:r>
            <a:r>
              <a:rPr lang="en-US" altLang="zh-CN" sz="2800" dirty="0">
                <a:latin typeface="FangSong" panose="02010609060101010101" pitchFamily="49" charset="-122"/>
                <a:ea typeface="FangSong" panose="02010609060101010101" pitchFamily="49" charset="-122"/>
              </a:rPr>
              <a:t>H</a:t>
            </a:r>
            <a:r>
              <a:rPr lang="en-US" sz="2800" dirty="0">
                <a:latin typeface="FangSong" panose="02010609060101010101" pitchFamily="49" charset="-122"/>
                <a:ea typeface="FangSong" panose="02010609060101010101" pitchFamily="49" charset="-122"/>
              </a:rPr>
              <a:t>         </a:t>
            </a:r>
            <a:endParaRPr lang="en-CN" sz="2800" dirty="0">
              <a:latin typeface="FangSong" panose="02010609060101010101" pitchFamily="49" charset="-122"/>
              <a:ea typeface="FangSong" panose="02010609060101010101" pitchFamily="49" charset="-122"/>
            </a:endParaRPr>
          </a:p>
        </p:txBody>
      </p:sp>
      <p:sp>
        <p:nvSpPr>
          <p:cNvPr id="4" name="Right Brace 3">
            <a:extLst>
              <a:ext uri="{FF2B5EF4-FFF2-40B4-BE49-F238E27FC236}">
                <a16:creationId xmlns:a16="http://schemas.microsoft.com/office/drawing/2014/main" id="{553B2260-7FFD-9546-A8B9-D43BBE0D0780}"/>
              </a:ext>
            </a:extLst>
          </p:cNvPr>
          <p:cNvSpPr/>
          <p:nvPr/>
        </p:nvSpPr>
        <p:spPr>
          <a:xfrm>
            <a:off x="9658350" y="1814513"/>
            <a:ext cx="1100138" cy="3057525"/>
          </a:xfrm>
          <a:prstGeom prst="rightBrace">
            <a:avLst/>
          </a:prstGeom>
          <a:ln w="825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dirty="0"/>
          </a:p>
        </p:txBody>
      </p:sp>
      <p:sp>
        <p:nvSpPr>
          <p:cNvPr id="5" name="TextBox 4">
            <a:extLst>
              <a:ext uri="{FF2B5EF4-FFF2-40B4-BE49-F238E27FC236}">
                <a16:creationId xmlns:a16="http://schemas.microsoft.com/office/drawing/2014/main" id="{CB675F6D-B2C8-C349-B839-0FE2951B311E}"/>
              </a:ext>
            </a:extLst>
          </p:cNvPr>
          <p:cNvSpPr txBox="1"/>
          <p:nvPr/>
        </p:nvSpPr>
        <p:spPr>
          <a:xfrm>
            <a:off x="10972799" y="2886075"/>
            <a:ext cx="1100137" cy="646331"/>
          </a:xfrm>
          <a:prstGeom prst="rect">
            <a:avLst/>
          </a:prstGeom>
          <a:noFill/>
        </p:spPr>
        <p:txBody>
          <a:bodyPr wrap="square" rtlCol="0">
            <a:spAutoFit/>
          </a:bodyPr>
          <a:lstStyle/>
          <a:p>
            <a:r>
              <a:rPr lang="en-CN" b="1" dirty="0">
                <a:solidFill>
                  <a:srgbClr val="FF0000"/>
                </a:solidFill>
              </a:rPr>
              <a:t>8个不同的状态</a:t>
            </a:r>
          </a:p>
        </p:txBody>
      </p:sp>
    </p:spTree>
    <p:extLst>
      <p:ext uri="{BB962C8B-B14F-4D97-AF65-F5344CB8AC3E}">
        <p14:creationId xmlns:p14="http://schemas.microsoft.com/office/powerpoint/2010/main" val="1265202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E04B10-9E9F-CA47-8A97-C77CE166F470}"/>
              </a:ext>
            </a:extLst>
          </p:cNvPr>
          <p:cNvSpPr txBox="1"/>
          <p:nvPr/>
        </p:nvSpPr>
        <p:spPr>
          <a:xfrm>
            <a:off x="609600" y="710635"/>
            <a:ext cx="10972800" cy="3970318"/>
          </a:xfrm>
          <a:prstGeom prst="rect">
            <a:avLst/>
          </a:prstGeom>
          <a:noFill/>
        </p:spPr>
        <p:txBody>
          <a:bodyPr wrap="square" rtlCol="0">
            <a:spAutoFit/>
          </a:bodyPr>
          <a:lstStyle/>
          <a:p>
            <a:r>
              <a:rPr lang="en-US" altLang="zh-CN" sz="2800" dirty="0">
                <a:latin typeface="FangSong" panose="02010609060101010101" pitchFamily="49" charset="-122"/>
                <a:ea typeface="FangSong" panose="02010609060101010101" pitchFamily="49" charset="-122"/>
              </a:rPr>
              <a:t>                 </a:t>
            </a:r>
            <a:r>
              <a:rPr lang="zh-CN" altLang="en-US" sz="2800" dirty="0">
                <a:latin typeface="FangSong" panose="02010609060101010101" pitchFamily="49" charset="-122"/>
                <a:ea typeface="FangSong" panose="02010609060101010101" pitchFamily="49" charset="-122"/>
              </a:rPr>
              <a:t>币一          币二          </a:t>
            </a:r>
            <a:r>
              <a:rPr lang="zh-CN" altLang="en-CN" sz="2800" dirty="0">
                <a:latin typeface="FangSong" panose="02010609060101010101" pitchFamily="49" charset="-122"/>
                <a:ea typeface="FangSong" panose="02010609060101010101" pitchFamily="49" charset="-122"/>
              </a:rPr>
              <a:t>币三</a:t>
            </a:r>
            <a:endParaRPr lang="en-US" altLang="zh-CN" sz="2800" dirty="0">
              <a:latin typeface="FangSong" panose="02010609060101010101" pitchFamily="49" charset="-122"/>
              <a:ea typeface="FangSong" panose="02010609060101010101" pitchFamily="49" charset="-122"/>
            </a:endParaRPr>
          </a:p>
          <a:p>
            <a:r>
              <a:rPr lang="zh-CN" altLang="en-US" sz="2800" dirty="0">
                <a:latin typeface="FangSong" panose="02010609060101010101" pitchFamily="49" charset="-122"/>
                <a:ea typeface="FangSong" panose="02010609060101010101" pitchFamily="49" charset="-122"/>
              </a:rPr>
              <a:t>                  </a:t>
            </a:r>
            <a:r>
              <a:rPr lang="en-US" altLang="zh-CN" sz="2800" dirty="0">
                <a:latin typeface="FangSong" panose="02010609060101010101" pitchFamily="49" charset="-122"/>
                <a:ea typeface="FangSong" panose="02010609060101010101" pitchFamily="49" charset="-122"/>
              </a:rPr>
              <a:t>H             H             H</a:t>
            </a:r>
          </a:p>
          <a:p>
            <a:r>
              <a:rPr lang="en-US" sz="2800" dirty="0">
                <a:latin typeface="FangSong" panose="02010609060101010101" pitchFamily="49" charset="-122"/>
                <a:ea typeface="FangSong" panose="02010609060101010101" pitchFamily="49" charset="-122"/>
              </a:rPr>
              <a:t>                  H             H             T</a:t>
            </a:r>
          </a:p>
          <a:p>
            <a:r>
              <a:rPr lang="en-US" sz="2800" dirty="0">
                <a:latin typeface="FangSong" panose="02010609060101010101" pitchFamily="49" charset="-122"/>
                <a:ea typeface="FangSong" panose="02010609060101010101" pitchFamily="49" charset="-122"/>
              </a:rPr>
              <a:t>                  H             T             H</a:t>
            </a:r>
          </a:p>
          <a:p>
            <a:r>
              <a:rPr lang="en-US" sz="2800" dirty="0">
                <a:latin typeface="FangSong" panose="02010609060101010101" pitchFamily="49" charset="-122"/>
                <a:ea typeface="FangSong" panose="02010609060101010101" pitchFamily="49" charset="-122"/>
              </a:rPr>
              <a:t>                  T             H             H</a:t>
            </a:r>
          </a:p>
          <a:p>
            <a:r>
              <a:rPr lang="en-US" sz="2800" dirty="0">
                <a:latin typeface="FangSong" panose="02010609060101010101" pitchFamily="49" charset="-122"/>
                <a:ea typeface="FangSong" panose="02010609060101010101" pitchFamily="49" charset="-122"/>
              </a:rPr>
              <a:t>                  H             T             T</a:t>
            </a:r>
          </a:p>
          <a:p>
            <a:r>
              <a:rPr lang="en-US" sz="2800" dirty="0">
                <a:latin typeface="FangSong" panose="02010609060101010101" pitchFamily="49" charset="-122"/>
                <a:ea typeface="FangSong" panose="02010609060101010101" pitchFamily="49" charset="-122"/>
              </a:rPr>
              <a:t>                  T             H             T</a:t>
            </a:r>
          </a:p>
          <a:p>
            <a:r>
              <a:rPr lang="en-US" sz="2800" dirty="0">
                <a:latin typeface="FangSong" panose="02010609060101010101" pitchFamily="49" charset="-122"/>
                <a:ea typeface="FangSong" panose="02010609060101010101" pitchFamily="49" charset="-122"/>
              </a:rPr>
              <a:t>                  T             T             H</a:t>
            </a:r>
          </a:p>
          <a:p>
            <a:r>
              <a:rPr lang="en-US" sz="2800" dirty="0">
                <a:latin typeface="FangSong" panose="02010609060101010101" pitchFamily="49" charset="-122"/>
                <a:ea typeface="FangSong" panose="02010609060101010101" pitchFamily="49" charset="-122"/>
              </a:rPr>
              <a:t>                  T             T             T         </a:t>
            </a:r>
            <a:endParaRPr lang="en-CN" sz="2800" dirty="0">
              <a:latin typeface="FangSong" panose="02010609060101010101" pitchFamily="49" charset="-122"/>
              <a:ea typeface="FangSong" panose="02010609060101010101" pitchFamily="49" charset="-122"/>
            </a:endParaRPr>
          </a:p>
        </p:txBody>
      </p:sp>
      <p:sp>
        <p:nvSpPr>
          <p:cNvPr id="4" name="Right Brace 3">
            <a:extLst>
              <a:ext uri="{FF2B5EF4-FFF2-40B4-BE49-F238E27FC236}">
                <a16:creationId xmlns:a16="http://schemas.microsoft.com/office/drawing/2014/main" id="{553B2260-7FFD-9546-A8B9-D43BBE0D0780}"/>
              </a:ext>
            </a:extLst>
          </p:cNvPr>
          <p:cNvSpPr/>
          <p:nvPr/>
        </p:nvSpPr>
        <p:spPr>
          <a:xfrm>
            <a:off x="9272587" y="1357312"/>
            <a:ext cx="1100138" cy="3057525"/>
          </a:xfrm>
          <a:prstGeom prst="rightBrace">
            <a:avLst/>
          </a:prstGeom>
          <a:ln w="825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dirty="0"/>
          </a:p>
        </p:txBody>
      </p:sp>
      <p:sp>
        <p:nvSpPr>
          <p:cNvPr id="5" name="TextBox 4">
            <a:extLst>
              <a:ext uri="{FF2B5EF4-FFF2-40B4-BE49-F238E27FC236}">
                <a16:creationId xmlns:a16="http://schemas.microsoft.com/office/drawing/2014/main" id="{CB675F6D-B2C8-C349-B839-0FE2951B311E}"/>
              </a:ext>
            </a:extLst>
          </p:cNvPr>
          <p:cNvSpPr txBox="1"/>
          <p:nvPr/>
        </p:nvSpPr>
        <p:spPr>
          <a:xfrm>
            <a:off x="10479881" y="2562908"/>
            <a:ext cx="1521619" cy="369332"/>
          </a:xfrm>
          <a:prstGeom prst="rect">
            <a:avLst/>
          </a:prstGeom>
          <a:noFill/>
        </p:spPr>
        <p:txBody>
          <a:bodyPr wrap="square" rtlCol="0">
            <a:spAutoFit/>
          </a:bodyPr>
          <a:lstStyle/>
          <a:p>
            <a:r>
              <a:rPr lang="en-CN" b="1" dirty="0">
                <a:solidFill>
                  <a:srgbClr val="FF0000"/>
                </a:solidFill>
              </a:rPr>
              <a:t>8个微观态</a:t>
            </a:r>
          </a:p>
        </p:txBody>
      </p:sp>
      <p:sp>
        <p:nvSpPr>
          <p:cNvPr id="7" name="TextBox 6">
            <a:extLst>
              <a:ext uri="{FF2B5EF4-FFF2-40B4-BE49-F238E27FC236}">
                <a16:creationId xmlns:a16="http://schemas.microsoft.com/office/drawing/2014/main" id="{9F72F831-9C56-104B-8842-F518C15CF21B}"/>
              </a:ext>
            </a:extLst>
          </p:cNvPr>
          <p:cNvSpPr txBox="1"/>
          <p:nvPr/>
        </p:nvSpPr>
        <p:spPr>
          <a:xfrm>
            <a:off x="257175" y="4823926"/>
            <a:ext cx="11744325" cy="1323439"/>
          </a:xfrm>
          <a:prstGeom prst="rect">
            <a:avLst/>
          </a:prstGeom>
          <a:noFill/>
        </p:spPr>
        <p:txBody>
          <a:bodyPr wrap="square">
            <a:spAutoFit/>
          </a:bodyPr>
          <a:lstStyle/>
          <a:p>
            <a:pPr marL="457200" indent="-457200">
              <a:buFont typeface="Arial" panose="020B0604020202020204" pitchFamily="34" charset="0"/>
              <a:buChar char="•"/>
            </a:pPr>
            <a:r>
              <a:rPr lang="zh-CN" altLang="en-US" sz="4000" dirty="0">
                <a:latin typeface="FangSong" panose="02010609060101010101" pitchFamily="49" charset="-122"/>
                <a:ea typeface="FangSong" panose="02010609060101010101" pitchFamily="49" charset="-122"/>
              </a:rPr>
              <a:t>引入</a:t>
            </a:r>
            <a:r>
              <a:rPr lang="en-US" altLang="zh-CN" sz="4000" dirty="0">
                <a:latin typeface="FangSong" panose="02010609060101010101" pitchFamily="49" charset="-122"/>
                <a:ea typeface="FangSong" panose="02010609060101010101" pitchFamily="49" charset="-122"/>
              </a:rPr>
              <a:t>g</a:t>
            </a:r>
            <a:r>
              <a:rPr lang="zh-CN" altLang="en-US" sz="4000" dirty="0">
                <a:latin typeface="FangSong" panose="02010609060101010101" pitchFamily="49" charset="-122"/>
                <a:ea typeface="FangSong" panose="02010609060101010101" pitchFamily="49" charset="-122"/>
              </a:rPr>
              <a:t>：</a:t>
            </a:r>
            <a:r>
              <a:rPr lang="en-US" altLang="zh-CN" sz="4000" dirty="0">
                <a:latin typeface="FangSong" panose="02010609060101010101" pitchFamily="49" charset="-122"/>
                <a:ea typeface="FangSong" panose="02010609060101010101" pitchFamily="49" charset="-122"/>
              </a:rPr>
              <a:t>g[3H]=1,g[2H]=3,g[1H]=3,g[0H]=1.    1+3+3+1=8!</a:t>
            </a:r>
          </a:p>
        </p:txBody>
      </p:sp>
      <p:sp>
        <p:nvSpPr>
          <p:cNvPr id="8" name="Left Brace 7">
            <a:extLst>
              <a:ext uri="{FF2B5EF4-FFF2-40B4-BE49-F238E27FC236}">
                <a16:creationId xmlns:a16="http://schemas.microsoft.com/office/drawing/2014/main" id="{445462FF-79E6-C942-AC72-10D8E620DF14}"/>
              </a:ext>
            </a:extLst>
          </p:cNvPr>
          <p:cNvSpPr/>
          <p:nvPr/>
        </p:nvSpPr>
        <p:spPr>
          <a:xfrm>
            <a:off x="3286125" y="1228725"/>
            <a:ext cx="257175" cy="442913"/>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9" name="Left Brace 8">
            <a:extLst>
              <a:ext uri="{FF2B5EF4-FFF2-40B4-BE49-F238E27FC236}">
                <a16:creationId xmlns:a16="http://schemas.microsoft.com/office/drawing/2014/main" id="{1B892436-A1F7-AE4E-A920-511211049BEC}"/>
              </a:ext>
            </a:extLst>
          </p:cNvPr>
          <p:cNvSpPr/>
          <p:nvPr/>
        </p:nvSpPr>
        <p:spPr>
          <a:xfrm>
            <a:off x="3286125" y="1786629"/>
            <a:ext cx="257175" cy="959867"/>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0" name="Left Brace 9">
            <a:extLst>
              <a:ext uri="{FF2B5EF4-FFF2-40B4-BE49-F238E27FC236}">
                <a16:creationId xmlns:a16="http://schemas.microsoft.com/office/drawing/2014/main" id="{1407673C-D5CC-4F4C-8B33-F3B91E299F15}"/>
              </a:ext>
            </a:extLst>
          </p:cNvPr>
          <p:cNvSpPr/>
          <p:nvPr/>
        </p:nvSpPr>
        <p:spPr>
          <a:xfrm>
            <a:off x="3286125" y="3053873"/>
            <a:ext cx="257175" cy="959867"/>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1" name="Left Brace 10">
            <a:extLst>
              <a:ext uri="{FF2B5EF4-FFF2-40B4-BE49-F238E27FC236}">
                <a16:creationId xmlns:a16="http://schemas.microsoft.com/office/drawing/2014/main" id="{D3F254BB-CF70-4F49-939F-92AD27E915E6}"/>
              </a:ext>
            </a:extLst>
          </p:cNvPr>
          <p:cNvSpPr/>
          <p:nvPr/>
        </p:nvSpPr>
        <p:spPr>
          <a:xfrm>
            <a:off x="3286125" y="4238040"/>
            <a:ext cx="257175" cy="442913"/>
          </a:xfrm>
          <a:prstGeom prst="lef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12" name="TextBox 11">
            <a:extLst>
              <a:ext uri="{FF2B5EF4-FFF2-40B4-BE49-F238E27FC236}">
                <a16:creationId xmlns:a16="http://schemas.microsoft.com/office/drawing/2014/main" id="{44BCB7B6-69A9-B449-94FB-EEC8A6D4B6BE}"/>
              </a:ext>
            </a:extLst>
          </p:cNvPr>
          <p:cNvSpPr txBox="1"/>
          <p:nvPr/>
        </p:nvSpPr>
        <p:spPr>
          <a:xfrm>
            <a:off x="1428756" y="1228725"/>
            <a:ext cx="2686050" cy="369332"/>
          </a:xfrm>
          <a:prstGeom prst="rect">
            <a:avLst/>
          </a:prstGeom>
          <a:noFill/>
        </p:spPr>
        <p:txBody>
          <a:bodyPr wrap="square" rtlCol="0">
            <a:spAutoFit/>
          </a:bodyPr>
          <a:lstStyle/>
          <a:p>
            <a:r>
              <a:rPr lang="en-CN" dirty="0"/>
              <a:t>宏观态</a:t>
            </a:r>
            <a:r>
              <a:rPr lang="zh-CN" altLang="en-US" dirty="0"/>
              <a:t>（</a:t>
            </a:r>
            <a:r>
              <a:rPr lang="en-US" altLang="zh-CN" dirty="0"/>
              <a:t>3H</a:t>
            </a:r>
            <a:r>
              <a:rPr lang="zh-CN" altLang="en-US" dirty="0"/>
              <a:t>）</a:t>
            </a:r>
            <a:endParaRPr lang="en-CN" dirty="0"/>
          </a:p>
        </p:txBody>
      </p:sp>
      <p:sp>
        <p:nvSpPr>
          <p:cNvPr id="13" name="TextBox 12">
            <a:extLst>
              <a:ext uri="{FF2B5EF4-FFF2-40B4-BE49-F238E27FC236}">
                <a16:creationId xmlns:a16="http://schemas.microsoft.com/office/drawing/2014/main" id="{03C659AC-1481-BA4D-AFDF-D7EE38F28591}"/>
              </a:ext>
            </a:extLst>
          </p:cNvPr>
          <p:cNvSpPr txBox="1"/>
          <p:nvPr/>
        </p:nvSpPr>
        <p:spPr>
          <a:xfrm>
            <a:off x="1452564" y="2052637"/>
            <a:ext cx="2686050" cy="369332"/>
          </a:xfrm>
          <a:prstGeom prst="rect">
            <a:avLst/>
          </a:prstGeom>
          <a:noFill/>
        </p:spPr>
        <p:txBody>
          <a:bodyPr wrap="square" rtlCol="0">
            <a:spAutoFit/>
          </a:bodyPr>
          <a:lstStyle/>
          <a:p>
            <a:r>
              <a:rPr lang="en-CN" dirty="0"/>
              <a:t>宏观态</a:t>
            </a:r>
            <a:r>
              <a:rPr lang="zh-CN" altLang="en-US" dirty="0"/>
              <a:t>（</a:t>
            </a:r>
            <a:r>
              <a:rPr lang="en-US" altLang="zh-CN" dirty="0"/>
              <a:t>2H</a:t>
            </a:r>
            <a:r>
              <a:rPr lang="zh-CN" altLang="en-US" dirty="0"/>
              <a:t>）</a:t>
            </a:r>
            <a:endParaRPr lang="en-CN" dirty="0"/>
          </a:p>
        </p:txBody>
      </p:sp>
      <p:sp>
        <p:nvSpPr>
          <p:cNvPr id="14" name="TextBox 13">
            <a:extLst>
              <a:ext uri="{FF2B5EF4-FFF2-40B4-BE49-F238E27FC236}">
                <a16:creationId xmlns:a16="http://schemas.microsoft.com/office/drawing/2014/main" id="{67DB6CCB-5E5A-3042-A691-9026C28EA3D8}"/>
              </a:ext>
            </a:extLst>
          </p:cNvPr>
          <p:cNvSpPr txBox="1"/>
          <p:nvPr/>
        </p:nvSpPr>
        <p:spPr>
          <a:xfrm>
            <a:off x="1428756" y="3244334"/>
            <a:ext cx="2686050" cy="369332"/>
          </a:xfrm>
          <a:prstGeom prst="rect">
            <a:avLst/>
          </a:prstGeom>
          <a:noFill/>
        </p:spPr>
        <p:txBody>
          <a:bodyPr wrap="square" rtlCol="0">
            <a:spAutoFit/>
          </a:bodyPr>
          <a:lstStyle/>
          <a:p>
            <a:r>
              <a:rPr lang="en-CN" dirty="0"/>
              <a:t>宏观态</a:t>
            </a:r>
            <a:r>
              <a:rPr lang="zh-CN" altLang="en-US" dirty="0"/>
              <a:t>（</a:t>
            </a:r>
            <a:r>
              <a:rPr lang="en-US" altLang="zh-CN" dirty="0"/>
              <a:t>1H</a:t>
            </a:r>
            <a:r>
              <a:rPr lang="zh-CN" altLang="en-US" dirty="0"/>
              <a:t>）</a:t>
            </a:r>
            <a:endParaRPr lang="en-CN" dirty="0"/>
          </a:p>
        </p:txBody>
      </p:sp>
      <p:sp>
        <p:nvSpPr>
          <p:cNvPr id="15" name="TextBox 14">
            <a:extLst>
              <a:ext uri="{FF2B5EF4-FFF2-40B4-BE49-F238E27FC236}">
                <a16:creationId xmlns:a16="http://schemas.microsoft.com/office/drawing/2014/main" id="{17605450-37F6-1A4A-84ED-F14EFBE46D11}"/>
              </a:ext>
            </a:extLst>
          </p:cNvPr>
          <p:cNvSpPr txBox="1"/>
          <p:nvPr/>
        </p:nvSpPr>
        <p:spPr>
          <a:xfrm>
            <a:off x="1452564" y="4227060"/>
            <a:ext cx="2686050" cy="369332"/>
          </a:xfrm>
          <a:prstGeom prst="rect">
            <a:avLst/>
          </a:prstGeom>
          <a:noFill/>
        </p:spPr>
        <p:txBody>
          <a:bodyPr wrap="square" rtlCol="0">
            <a:spAutoFit/>
          </a:bodyPr>
          <a:lstStyle/>
          <a:p>
            <a:r>
              <a:rPr lang="en-CN" dirty="0"/>
              <a:t>宏观态</a:t>
            </a:r>
            <a:r>
              <a:rPr lang="zh-CN" altLang="en-US" dirty="0"/>
              <a:t>（</a:t>
            </a:r>
            <a:r>
              <a:rPr lang="en-US" altLang="zh-CN" dirty="0"/>
              <a:t>0H</a:t>
            </a:r>
            <a:r>
              <a:rPr lang="zh-CN" altLang="en-US" dirty="0"/>
              <a:t>）</a:t>
            </a:r>
            <a:endParaRPr lang="en-CN" dirty="0"/>
          </a:p>
        </p:txBody>
      </p:sp>
      <p:sp>
        <p:nvSpPr>
          <p:cNvPr id="17" name="TextBox 16">
            <a:extLst>
              <a:ext uri="{FF2B5EF4-FFF2-40B4-BE49-F238E27FC236}">
                <a16:creationId xmlns:a16="http://schemas.microsoft.com/office/drawing/2014/main" id="{88B759F3-ECFB-0D4D-8E7B-9A3FFA48F0E1}"/>
              </a:ext>
            </a:extLst>
          </p:cNvPr>
          <p:cNvSpPr txBox="1"/>
          <p:nvPr/>
        </p:nvSpPr>
        <p:spPr>
          <a:xfrm>
            <a:off x="4224338" y="5790056"/>
            <a:ext cx="7777162" cy="954107"/>
          </a:xfrm>
          <a:prstGeom prst="rect">
            <a:avLst/>
          </a:prstGeom>
          <a:noFill/>
        </p:spPr>
        <p:txBody>
          <a:bodyPr wrap="square">
            <a:spAutoFit/>
          </a:bodyPr>
          <a:lstStyle/>
          <a:p>
            <a:r>
              <a:rPr lang="en-CN" sz="2800" b="1" dirty="0"/>
              <a:t>the number of </a:t>
            </a:r>
            <a:r>
              <a:rPr lang="en-CN" sz="2800" b="1" dirty="0">
                <a:solidFill>
                  <a:srgbClr val="FF0000"/>
                </a:solidFill>
              </a:rPr>
              <a:t>microstates</a:t>
            </a:r>
            <a:r>
              <a:rPr lang="en-CN" sz="2800" b="1" dirty="0">
                <a:solidFill>
                  <a:srgbClr val="FF0000"/>
                </a:solidFill>
                <a:latin typeface="FangSong" panose="02010609060101010101" pitchFamily="49" charset="-122"/>
                <a:ea typeface="FangSong" panose="02010609060101010101" pitchFamily="49" charset="-122"/>
              </a:rPr>
              <a:t>(微观态)</a:t>
            </a:r>
            <a:r>
              <a:rPr lang="en-CN" sz="2800" b="1" dirty="0">
                <a:latin typeface="FangSong" panose="02010609060101010101" pitchFamily="49" charset="-122"/>
                <a:ea typeface="FangSong" panose="02010609060101010101" pitchFamily="49" charset="-122"/>
              </a:rPr>
              <a:t> </a:t>
            </a:r>
            <a:r>
              <a:rPr lang="en-CN" sz="2800" b="1" dirty="0"/>
              <a:t>corresponding to a particular </a:t>
            </a:r>
            <a:r>
              <a:rPr lang="en-CN" sz="2800" b="1" dirty="0">
                <a:solidFill>
                  <a:srgbClr val="FF0000"/>
                </a:solidFill>
              </a:rPr>
              <a:t>macrostate</a:t>
            </a:r>
            <a:r>
              <a:rPr lang="en-CN" sz="2800" b="1" dirty="0">
                <a:solidFill>
                  <a:srgbClr val="FF0000"/>
                </a:solidFill>
                <a:latin typeface="FangSong" panose="02010609060101010101" pitchFamily="49" charset="-122"/>
                <a:ea typeface="FangSong" panose="02010609060101010101" pitchFamily="49" charset="-122"/>
              </a:rPr>
              <a:t>(宏观态)</a:t>
            </a:r>
            <a:endParaRPr lang="en-CN" sz="2800" b="1" dirty="0"/>
          </a:p>
        </p:txBody>
      </p:sp>
      <p:sp>
        <p:nvSpPr>
          <p:cNvPr id="18" name="Title 1">
            <a:extLst>
              <a:ext uri="{FF2B5EF4-FFF2-40B4-BE49-F238E27FC236}">
                <a16:creationId xmlns:a16="http://schemas.microsoft.com/office/drawing/2014/main" id="{327D882D-BE44-E048-8DF3-B567F65A8A4F}"/>
              </a:ext>
            </a:extLst>
          </p:cNvPr>
          <p:cNvSpPr txBox="1">
            <a:spLocks/>
          </p:cNvSpPr>
          <p:nvPr/>
        </p:nvSpPr>
        <p:spPr>
          <a:xfrm>
            <a:off x="838200" y="0"/>
            <a:ext cx="10515600" cy="7635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N" dirty="0">
                <a:latin typeface="FangSong" panose="02010609060101010101" pitchFamily="49" charset="-122"/>
                <a:ea typeface="FangSong" panose="02010609060101010101" pitchFamily="49" charset="-122"/>
              </a:rPr>
              <a:t>一个经典例子</a:t>
            </a:r>
          </a:p>
        </p:txBody>
      </p:sp>
    </p:spTree>
    <p:extLst>
      <p:ext uri="{BB962C8B-B14F-4D97-AF65-F5344CB8AC3E}">
        <p14:creationId xmlns:p14="http://schemas.microsoft.com/office/powerpoint/2010/main" val="4325288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327D882D-BE44-E048-8DF3-B567F65A8A4F}"/>
              </a:ext>
            </a:extLst>
          </p:cNvPr>
          <p:cNvSpPr txBox="1">
            <a:spLocks/>
          </p:cNvSpPr>
          <p:nvPr/>
        </p:nvSpPr>
        <p:spPr>
          <a:xfrm>
            <a:off x="838200" y="0"/>
            <a:ext cx="10515600" cy="7635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CN" dirty="0">
                <a:latin typeface="FangSong" panose="02010609060101010101" pitchFamily="49" charset="-122"/>
                <a:ea typeface="FangSong" panose="02010609060101010101" pitchFamily="49" charset="-122"/>
              </a:rPr>
              <a:t>一个量子例子</a:t>
            </a:r>
          </a:p>
        </p:txBody>
      </p:sp>
      <p:pic>
        <p:nvPicPr>
          <p:cNvPr id="6" name="Picture 5">
            <a:extLst>
              <a:ext uri="{FF2B5EF4-FFF2-40B4-BE49-F238E27FC236}">
                <a16:creationId xmlns:a16="http://schemas.microsoft.com/office/drawing/2014/main" id="{CAB021B6-AB32-4C41-8BDB-69B9ED18A86E}"/>
              </a:ext>
            </a:extLst>
          </p:cNvPr>
          <p:cNvPicPr>
            <a:picLocks noChangeAspect="1"/>
          </p:cNvPicPr>
          <p:nvPr/>
        </p:nvPicPr>
        <p:blipFill>
          <a:blip r:embed="rId2"/>
          <a:stretch>
            <a:fillRect/>
          </a:stretch>
        </p:blipFill>
        <p:spPr>
          <a:xfrm>
            <a:off x="711662" y="763588"/>
            <a:ext cx="4536777" cy="5665439"/>
          </a:xfrm>
          <a:prstGeom prst="rect">
            <a:avLst/>
          </a:prstGeom>
        </p:spPr>
      </p:pic>
      <p:sp>
        <p:nvSpPr>
          <p:cNvPr id="16" name="TextBox 15">
            <a:extLst>
              <a:ext uri="{FF2B5EF4-FFF2-40B4-BE49-F238E27FC236}">
                <a16:creationId xmlns:a16="http://schemas.microsoft.com/office/drawing/2014/main" id="{ADA8F8F3-DC16-0743-9BE6-5EB97A60750B}"/>
              </a:ext>
            </a:extLst>
          </p:cNvPr>
          <p:cNvSpPr txBox="1"/>
          <p:nvPr/>
        </p:nvSpPr>
        <p:spPr>
          <a:xfrm>
            <a:off x="7014117" y="1159727"/>
            <a:ext cx="4650059" cy="369332"/>
          </a:xfrm>
          <a:prstGeom prst="rect">
            <a:avLst/>
          </a:prstGeom>
          <a:noFill/>
        </p:spPr>
        <p:txBody>
          <a:bodyPr wrap="square" rtlCol="0">
            <a:spAutoFit/>
          </a:bodyPr>
          <a:lstStyle/>
          <a:p>
            <a:r>
              <a:rPr lang="en-CN" dirty="0"/>
              <a:t>Kittel</a:t>
            </a:r>
            <a:r>
              <a:rPr lang="zh-CN" altLang="en-US" dirty="0"/>
              <a:t>，</a:t>
            </a:r>
            <a:r>
              <a:rPr lang="en-US" altLang="zh-CN" dirty="0"/>
              <a:t>Page-9</a:t>
            </a:r>
            <a:endParaRPr lang="en-CN" dirty="0"/>
          </a:p>
        </p:txBody>
      </p:sp>
      <p:sp>
        <p:nvSpPr>
          <p:cNvPr id="19" name="TextBox 18">
            <a:extLst>
              <a:ext uri="{FF2B5EF4-FFF2-40B4-BE49-F238E27FC236}">
                <a16:creationId xmlns:a16="http://schemas.microsoft.com/office/drawing/2014/main" id="{B58F258D-0C3B-BD43-97A0-2747DB98F88F}"/>
              </a:ext>
            </a:extLst>
          </p:cNvPr>
          <p:cNvSpPr txBox="1"/>
          <p:nvPr/>
        </p:nvSpPr>
        <p:spPr>
          <a:xfrm>
            <a:off x="7014116" y="1555865"/>
            <a:ext cx="4763753" cy="646331"/>
          </a:xfrm>
          <a:prstGeom prst="rect">
            <a:avLst/>
          </a:prstGeom>
          <a:noFill/>
        </p:spPr>
        <p:txBody>
          <a:bodyPr wrap="square" rtlCol="0">
            <a:spAutoFit/>
          </a:bodyPr>
          <a:lstStyle/>
          <a:p>
            <a:r>
              <a:rPr lang="en-CN" dirty="0"/>
              <a:t>请根据书中所讲内容</a:t>
            </a:r>
            <a:r>
              <a:rPr lang="zh-CN" altLang="en-US" dirty="0"/>
              <a:t>，数数</a:t>
            </a:r>
            <a:r>
              <a:rPr lang="en-US" altLang="zh-CN" dirty="0"/>
              <a:t>Lithium(</a:t>
            </a:r>
            <a:r>
              <a:rPr lang="zh-CN" altLang="en-US" dirty="0"/>
              <a:t>锂</a:t>
            </a:r>
            <a:r>
              <a:rPr lang="en-US" altLang="zh-CN" dirty="0"/>
              <a:t>) and Boron(</a:t>
            </a:r>
            <a:r>
              <a:rPr lang="zh-CN" altLang="en-US" dirty="0"/>
              <a:t>硼</a:t>
            </a:r>
            <a:r>
              <a:rPr lang="en-US" altLang="zh-CN" dirty="0"/>
              <a:t>)</a:t>
            </a:r>
            <a:r>
              <a:rPr lang="zh-CN" altLang="en-US" dirty="0"/>
              <a:t>，给出思路</a:t>
            </a:r>
            <a:endParaRPr lang="en-CN" dirty="0"/>
          </a:p>
        </p:txBody>
      </p:sp>
      <p:sp>
        <p:nvSpPr>
          <p:cNvPr id="2" name="TextBox 1">
            <a:extLst>
              <a:ext uri="{FF2B5EF4-FFF2-40B4-BE49-F238E27FC236}">
                <a16:creationId xmlns:a16="http://schemas.microsoft.com/office/drawing/2014/main" id="{8416A9E6-D976-2042-9A8D-39E6648ADA10}"/>
              </a:ext>
            </a:extLst>
          </p:cNvPr>
          <p:cNvSpPr txBox="1"/>
          <p:nvPr/>
        </p:nvSpPr>
        <p:spPr>
          <a:xfrm>
            <a:off x="8062332" y="5720576"/>
            <a:ext cx="3601844" cy="369332"/>
          </a:xfrm>
          <a:prstGeom prst="rect">
            <a:avLst/>
          </a:prstGeom>
          <a:noFill/>
        </p:spPr>
        <p:txBody>
          <a:bodyPr wrap="square" rtlCol="0">
            <a:spAutoFit/>
          </a:bodyPr>
          <a:lstStyle/>
          <a:p>
            <a:r>
              <a:rPr lang="en-CN" dirty="0"/>
              <a:t>第一次课实际结束点</a:t>
            </a:r>
            <a:r>
              <a:rPr lang="zh-CN" altLang="en-US" dirty="0"/>
              <a:t>？？？</a:t>
            </a:r>
            <a:endParaRPr lang="en-CN" dirty="0"/>
          </a:p>
        </p:txBody>
      </p:sp>
    </p:spTree>
    <p:extLst>
      <p:ext uri="{BB962C8B-B14F-4D97-AF65-F5344CB8AC3E}">
        <p14:creationId xmlns:p14="http://schemas.microsoft.com/office/powerpoint/2010/main" val="258831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5D1712-D15A-EC47-8058-9CE6245F1D39}"/>
              </a:ext>
            </a:extLst>
          </p:cNvPr>
          <p:cNvSpPr txBox="1">
            <a:spLocks/>
          </p:cNvSpPr>
          <p:nvPr/>
        </p:nvSpPr>
        <p:spPr>
          <a:xfrm>
            <a:off x="640080" y="1"/>
            <a:ext cx="10515600" cy="868680"/>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a:solidFill>
                  <a:srgbClr val="FF0000"/>
                </a:solidFill>
              </a:rPr>
              <a:t>Science再次发布</a:t>
            </a:r>
            <a:r>
              <a:rPr lang="zh-CN" altLang="en-US" sz="2800" b="1" dirty="0">
                <a:solidFill>
                  <a:srgbClr val="FF0000"/>
                </a:solidFill>
              </a:rPr>
              <a:t>“全世界最前沿的</a:t>
            </a:r>
            <a:r>
              <a:rPr lang="en-US" altLang="zh-CN" sz="2800" b="1" dirty="0">
                <a:solidFill>
                  <a:srgbClr val="FF0000"/>
                </a:solidFill>
              </a:rPr>
              <a:t>125</a:t>
            </a:r>
            <a:r>
              <a:rPr lang="zh-CN" altLang="en-US" sz="2800" b="1" dirty="0">
                <a:solidFill>
                  <a:srgbClr val="FF0000"/>
                </a:solidFill>
              </a:rPr>
              <a:t>科学问题”（</a:t>
            </a:r>
            <a:r>
              <a:rPr lang="en-US" altLang="zh-CN" sz="2800" b="1" dirty="0">
                <a:solidFill>
                  <a:srgbClr val="FF0000"/>
                </a:solidFill>
              </a:rPr>
              <a:t>2021.05.14. vs 2005</a:t>
            </a:r>
            <a:r>
              <a:rPr lang="zh-CN" altLang="en-US" sz="2800" b="1" dirty="0">
                <a:solidFill>
                  <a:srgbClr val="FF0000"/>
                </a:solidFill>
              </a:rPr>
              <a:t>）</a:t>
            </a:r>
            <a:endParaRPr lang="en-US" sz="2800" b="1" dirty="0">
              <a:solidFill>
                <a:srgbClr val="FF0000"/>
              </a:solidFill>
            </a:endParaRPr>
          </a:p>
          <a:p>
            <a:r>
              <a:rPr lang="en-US" sz="2800" b="1" dirty="0">
                <a:solidFill>
                  <a:srgbClr val="FF0000"/>
                </a:solidFill>
              </a:rPr>
              <a:t>https://</a:t>
            </a:r>
            <a:r>
              <a:rPr lang="en-US" sz="2800" b="1" dirty="0" err="1">
                <a:solidFill>
                  <a:srgbClr val="FF0000"/>
                </a:solidFill>
              </a:rPr>
              <a:t>www.science.org</a:t>
            </a:r>
            <a:r>
              <a:rPr lang="en-US" sz="2800" b="1" dirty="0">
                <a:solidFill>
                  <a:srgbClr val="FF0000"/>
                </a:solidFill>
              </a:rPr>
              <a:t>/content/resource/125-questions-exploration-and-discovery</a:t>
            </a:r>
            <a:endParaRPr lang="en-CN" sz="2800" b="1" dirty="0"/>
          </a:p>
        </p:txBody>
      </p:sp>
      <p:pic>
        <p:nvPicPr>
          <p:cNvPr id="9" name="Picture 8">
            <a:extLst>
              <a:ext uri="{FF2B5EF4-FFF2-40B4-BE49-F238E27FC236}">
                <a16:creationId xmlns:a16="http://schemas.microsoft.com/office/drawing/2014/main" id="{A77521C5-497D-9F4D-8A08-D59B22F476EF}"/>
              </a:ext>
            </a:extLst>
          </p:cNvPr>
          <p:cNvPicPr>
            <a:picLocks noChangeAspect="1"/>
          </p:cNvPicPr>
          <p:nvPr/>
        </p:nvPicPr>
        <p:blipFill>
          <a:blip r:embed="rId2"/>
          <a:stretch>
            <a:fillRect/>
          </a:stretch>
        </p:blipFill>
        <p:spPr>
          <a:xfrm>
            <a:off x="375626" y="868681"/>
            <a:ext cx="4151923" cy="3048000"/>
          </a:xfrm>
          <a:prstGeom prst="rect">
            <a:avLst/>
          </a:prstGeom>
        </p:spPr>
      </p:pic>
      <p:pic>
        <p:nvPicPr>
          <p:cNvPr id="11" name="Picture 10">
            <a:extLst>
              <a:ext uri="{FF2B5EF4-FFF2-40B4-BE49-F238E27FC236}">
                <a16:creationId xmlns:a16="http://schemas.microsoft.com/office/drawing/2014/main" id="{98A8BC1C-6FE8-C240-AEB8-0AA854171ADC}"/>
              </a:ext>
            </a:extLst>
          </p:cNvPr>
          <p:cNvPicPr>
            <a:picLocks noChangeAspect="1"/>
          </p:cNvPicPr>
          <p:nvPr/>
        </p:nvPicPr>
        <p:blipFill>
          <a:blip r:embed="rId3"/>
          <a:stretch>
            <a:fillRect/>
          </a:stretch>
        </p:blipFill>
        <p:spPr>
          <a:xfrm>
            <a:off x="4527549" y="794872"/>
            <a:ext cx="3790768" cy="3121809"/>
          </a:xfrm>
          <a:prstGeom prst="rect">
            <a:avLst/>
          </a:prstGeom>
        </p:spPr>
      </p:pic>
      <p:pic>
        <p:nvPicPr>
          <p:cNvPr id="13" name="Picture 12">
            <a:extLst>
              <a:ext uri="{FF2B5EF4-FFF2-40B4-BE49-F238E27FC236}">
                <a16:creationId xmlns:a16="http://schemas.microsoft.com/office/drawing/2014/main" id="{60B2D10F-298D-1C44-99F6-ED8C0B79B555}"/>
              </a:ext>
            </a:extLst>
          </p:cNvPr>
          <p:cNvPicPr>
            <a:picLocks noChangeAspect="1"/>
          </p:cNvPicPr>
          <p:nvPr/>
        </p:nvPicPr>
        <p:blipFill>
          <a:blip r:embed="rId4"/>
          <a:stretch>
            <a:fillRect/>
          </a:stretch>
        </p:blipFill>
        <p:spPr>
          <a:xfrm>
            <a:off x="8415018" y="1371600"/>
            <a:ext cx="3646604" cy="1407160"/>
          </a:xfrm>
          <a:prstGeom prst="rect">
            <a:avLst/>
          </a:prstGeom>
        </p:spPr>
      </p:pic>
      <p:pic>
        <p:nvPicPr>
          <p:cNvPr id="15" name="Picture 14">
            <a:extLst>
              <a:ext uri="{FF2B5EF4-FFF2-40B4-BE49-F238E27FC236}">
                <a16:creationId xmlns:a16="http://schemas.microsoft.com/office/drawing/2014/main" id="{F71E5146-3F2B-8341-BB48-0FBBBC88B631}"/>
              </a:ext>
            </a:extLst>
          </p:cNvPr>
          <p:cNvPicPr>
            <a:picLocks noChangeAspect="1"/>
          </p:cNvPicPr>
          <p:nvPr/>
        </p:nvPicPr>
        <p:blipFill>
          <a:blip r:embed="rId5"/>
          <a:stretch>
            <a:fillRect/>
          </a:stretch>
        </p:blipFill>
        <p:spPr>
          <a:xfrm>
            <a:off x="4074577" y="4102904"/>
            <a:ext cx="3646605" cy="2625556"/>
          </a:xfrm>
          <a:prstGeom prst="rect">
            <a:avLst/>
          </a:prstGeom>
        </p:spPr>
      </p:pic>
    </p:spTree>
    <p:extLst>
      <p:ext uri="{BB962C8B-B14F-4D97-AF65-F5344CB8AC3E}">
        <p14:creationId xmlns:p14="http://schemas.microsoft.com/office/powerpoint/2010/main" val="352397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625787" y="4173104"/>
            <a:ext cx="7158293" cy="1325563"/>
          </a:xfrm>
        </p:spPr>
        <p:txBody>
          <a:bodyPr>
            <a:normAutofit fontScale="90000"/>
          </a:bodyPr>
          <a:lstStyle/>
          <a:p>
            <a:r>
              <a:rPr lang="en-CN" dirty="0"/>
              <a:t>Model-I:   Binary model</a:t>
            </a:r>
            <a:br>
              <a:rPr lang="en-CN" dirty="0"/>
            </a:br>
            <a:r>
              <a:rPr lang="en-CN" dirty="0"/>
              <a:t>Model-II:  Einstein Model of Solid</a:t>
            </a:r>
            <a:br>
              <a:rPr lang="en-CN" dirty="0"/>
            </a:br>
            <a:r>
              <a:rPr lang="en-CN" dirty="0"/>
              <a:t>Model-III: The ideal Gas</a:t>
            </a:r>
          </a:p>
        </p:txBody>
      </p:sp>
      <p:sp>
        <p:nvSpPr>
          <p:cNvPr id="3" name="Title 1">
            <a:extLst>
              <a:ext uri="{FF2B5EF4-FFF2-40B4-BE49-F238E27FC236}">
                <a16:creationId xmlns:a16="http://schemas.microsoft.com/office/drawing/2014/main" id="{495D1712-D15A-EC47-8058-9CE6245F1D39}"/>
              </a:ext>
            </a:extLst>
          </p:cNvPr>
          <p:cNvSpPr txBox="1">
            <a:spLocks/>
          </p:cNvSpPr>
          <p:nvPr/>
        </p:nvSpPr>
        <p:spPr>
          <a:xfrm>
            <a:off x="838200" y="365125"/>
            <a:ext cx="10515600" cy="25940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N" b="1" dirty="0">
                <a:solidFill>
                  <a:srgbClr val="FF0000"/>
                </a:solidFill>
              </a:rPr>
              <a:t>Multiplicity</a:t>
            </a:r>
            <a:r>
              <a:rPr lang="en-CN" b="1" dirty="0"/>
              <a:t>(also called </a:t>
            </a:r>
            <a:r>
              <a:rPr lang="en-CN" b="1" dirty="0">
                <a:solidFill>
                  <a:srgbClr val="00B050"/>
                </a:solidFill>
              </a:rPr>
              <a:t>statistical weight</a:t>
            </a:r>
            <a:r>
              <a:rPr lang="en-CN" b="1" dirty="0"/>
              <a:t>) refers to the number of </a:t>
            </a:r>
            <a:r>
              <a:rPr lang="en-CN" b="1" dirty="0">
                <a:solidFill>
                  <a:srgbClr val="FF0000"/>
                </a:solidFill>
              </a:rPr>
              <a:t>microstates</a:t>
            </a:r>
            <a:r>
              <a:rPr lang="en-CN" b="1" dirty="0">
                <a:solidFill>
                  <a:srgbClr val="FF0000"/>
                </a:solidFill>
                <a:latin typeface="FangSong" panose="02010609060101010101" pitchFamily="49" charset="-122"/>
                <a:ea typeface="FangSong" panose="02010609060101010101" pitchFamily="49" charset="-122"/>
              </a:rPr>
              <a:t>(微观态)</a:t>
            </a:r>
            <a:r>
              <a:rPr lang="en-CN" b="1" dirty="0">
                <a:latin typeface="FangSong" panose="02010609060101010101" pitchFamily="49" charset="-122"/>
                <a:ea typeface="FangSong" panose="02010609060101010101" pitchFamily="49" charset="-122"/>
              </a:rPr>
              <a:t> </a:t>
            </a:r>
            <a:r>
              <a:rPr lang="en-CN" b="1" dirty="0"/>
              <a:t>corresponding to a particular </a:t>
            </a:r>
            <a:r>
              <a:rPr lang="en-CN" b="1" dirty="0">
                <a:solidFill>
                  <a:srgbClr val="FF0000"/>
                </a:solidFill>
              </a:rPr>
              <a:t>macrostate</a:t>
            </a:r>
            <a:r>
              <a:rPr lang="en-CN" b="1" dirty="0">
                <a:solidFill>
                  <a:srgbClr val="FF0000"/>
                </a:solidFill>
                <a:latin typeface="FangSong" panose="02010609060101010101" pitchFamily="49" charset="-122"/>
                <a:ea typeface="FangSong" panose="02010609060101010101" pitchFamily="49" charset="-122"/>
              </a:rPr>
              <a:t>(宏观态)</a:t>
            </a:r>
            <a:r>
              <a:rPr lang="en-CN" b="1" dirty="0"/>
              <a:t>of a thermodynamic system.</a:t>
            </a:r>
          </a:p>
        </p:txBody>
      </p:sp>
    </p:spTree>
    <p:extLst>
      <p:ext uri="{BB962C8B-B14F-4D97-AF65-F5344CB8AC3E}">
        <p14:creationId xmlns:p14="http://schemas.microsoft.com/office/powerpoint/2010/main" val="1918948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1038225" y="2103437"/>
            <a:ext cx="10515600" cy="1325563"/>
          </a:xfrm>
        </p:spPr>
        <p:txBody>
          <a:bodyPr>
            <a:normAutofit fontScale="90000"/>
          </a:bodyPr>
          <a:lstStyle/>
          <a:p>
            <a:r>
              <a:rPr lang="en-CN" dirty="0"/>
              <a:t>Model-I:   Binary model</a:t>
            </a:r>
            <a:br>
              <a:rPr lang="en-CN" dirty="0"/>
            </a:br>
            <a:r>
              <a:rPr lang="en-CN" dirty="0">
                <a:solidFill>
                  <a:schemeClr val="bg1">
                    <a:lumMod val="65000"/>
                  </a:schemeClr>
                </a:solidFill>
              </a:rPr>
              <a:t>Model-II:  Einstein Model of Solid</a:t>
            </a:r>
            <a:br>
              <a:rPr lang="en-CN" dirty="0">
                <a:solidFill>
                  <a:schemeClr val="bg1">
                    <a:lumMod val="65000"/>
                  </a:schemeClr>
                </a:solidFill>
              </a:rPr>
            </a:br>
            <a:r>
              <a:rPr lang="en-CN" dirty="0">
                <a:solidFill>
                  <a:schemeClr val="bg1">
                    <a:lumMod val="65000"/>
                  </a:schemeClr>
                </a:solidFill>
              </a:rPr>
              <a:t>Model-III: The ideal Gas</a:t>
            </a:r>
          </a:p>
        </p:txBody>
      </p:sp>
    </p:spTree>
    <p:extLst>
      <p:ext uri="{BB962C8B-B14F-4D97-AF65-F5344CB8AC3E}">
        <p14:creationId xmlns:p14="http://schemas.microsoft.com/office/powerpoint/2010/main" val="46950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0515600" cy="1325563"/>
          </a:xfrm>
        </p:spPr>
        <p:txBody>
          <a:bodyPr>
            <a:normAutofit/>
          </a:bodyPr>
          <a:lstStyle/>
          <a:p>
            <a:r>
              <a:rPr lang="en-CN" dirty="0"/>
              <a:t>Paramagnet</a:t>
            </a:r>
            <a:r>
              <a:rPr lang="zh-CN" altLang="en-US" dirty="0"/>
              <a:t>（顺磁体       </a:t>
            </a:r>
            <a:r>
              <a:rPr lang="en-US" altLang="zh-CN" dirty="0"/>
              <a:t>vs</a:t>
            </a:r>
            <a:r>
              <a:rPr lang="zh-CN" altLang="en-US" dirty="0"/>
              <a:t>        </a:t>
            </a:r>
            <a:r>
              <a:rPr lang="zh-CN" altLang="en-US" dirty="0">
                <a:solidFill>
                  <a:schemeClr val="bg1">
                    <a:lumMod val="65000"/>
                  </a:schemeClr>
                </a:solidFill>
              </a:rPr>
              <a:t>铁磁体</a:t>
            </a:r>
            <a:r>
              <a:rPr lang="zh-CN" altLang="en-US" dirty="0"/>
              <a:t>）</a:t>
            </a:r>
            <a:endParaRPr lang="en-CN" dirty="0"/>
          </a:p>
        </p:txBody>
      </p:sp>
      <p:sp>
        <p:nvSpPr>
          <p:cNvPr id="3" name="TextBox 2">
            <a:extLst>
              <a:ext uri="{FF2B5EF4-FFF2-40B4-BE49-F238E27FC236}">
                <a16:creationId xmlns:a16="http://schemas.microsoft.com/office/drawing/2014/main" id="{44533E8A-38A1-2442-938A-E6BCFD2A991A}"/>
              </a:ext>
            </a:extLst>
          </p:cNvPr>
          <p:cNvSpPr txBox="1"/>
          <p:nvPr/>
        </p:nvSpPr>
        <p:spPr>
          <a:xfrm>
            <a:off x="1214437" y="1457327"/>
            <a:ext cx="10101263" cy="646331"/>
          </a:xfrm>
          <a:prstGeom prst="rect">
            <a:avLst/>
          </a:prstGeom>
          <a:noFill/>
        </p:spPr>
        <p:txBody>
          <a:bodyPr wrap="square" rtlCol="0">
            <a:spAutoFit/>
          </a:bodyPr>
          <a:lstStyle/>
          <a:p>
            <a:r>
              <a:rPr lang="en-CN" dirty="0"/>
              <a:t>…a material in which constituent particles act like tiny compass needles that tend to align pararallel to any externally applied magnetic field.</a:t>
            </a:r>
          </a:p>
        </p:txBody>
      </p:sp>
      <p:pic>
        <p:nvPicPr>
          <p:cNvPr id="2050" name="Picture 2" descr="Paramagnetism">
            <a:extLst>
              <a:ext uri="{FF2B5EF4-FFF2-40B4-BE49-F238E27FC236}">
                <a16:creationId xmlns:a16="http://schemas.microsoft.com/office/drawing/2014/main" id="{961D8F1E-F9B3-C946-ABCA-9BE4E3DF7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250" y="2497135"/>
            <a:ext cx="6350000" cy="3175000"/>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00BCF861-1972-4D47-9DBB-CC4C3D4104B9}"/>
              </a:ext>
            </a:extLst>
          </p:cNvPr>
          <p:cNvSpPr/>
          <p:nvPr/>
        </p:nvSpPr>
        <p:spPr>
          <a:xfrm>
            <a:off x="6943725" y="3671888"/>
            <a:ext cx="1000125" cy="5572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8" name="Straight Arrow Connector 7">
            <a:extLst>
              <a:ext uri="{FF2B5EF4-FFF2-40B4-BE49-F238E27FC236}">
                <a16:creationId xmlns:a16="http://schemas.microsoft.com/office/drawing/2014/main" id="{D0E65758-0C5E-D847-8F87-1B8A2B796ABF}"/>
              </a:ext>
            </a:extLst>
          </p:cNvPr>
          <p:cNvCxnSpPr/>
          <p:nvPr/>
        </p:nvCxnSpPr>
        <p:spPr>
          <a:xfrm flipV="1">
            <a:off x="8915400" y="3429000"/>
            <a:ext cx="0" cy="10144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2D90D17-204E-4C4A-BC77-DAAEC4DD4DBD}"/>
              </a:ext>
            </a:extLst>
          </p:cNvPr>
          <p:cNvCxnSpPr>
            <a:cxnSpLocks/>
          </p:cNvCxnSpPr>
          <p:nvPr/>
        </p:nvCxnSpPr>
        <p:spPr>
          <a:xfrm>
            <a:off x="9353550" y="3429000"/>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1EAEF2A-C62A-3945-BE90-C17567437906}"/>
              </a:ext>
            </a:extLst>
          </p:cNvPr>
          <p:cNvCxnSpPr/>
          <p:nvPr/>
        </p:nvCxnSpPr>
        <p:spPr>
          <a:xfrm flipV="1">
            <a:off x="9729788" y="2986088"/>
            <a:ext cx="700087"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D7E5D2D-4EDD-C944-9A88-CE792953EF12}"/>
              </a:ext>
            </a:extLst>
          </p:cNvPr>
          <p:cNvCxnSpPr/>
          <p:nvPr/>
        </p:nvCxnSpPr>
        <p:spPr>
          <a:xfrm>
            <a:off x="9729788" y="3814763"/>
            <a:ext cx="7000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512ADAF-1DDE-8843-8EFC-0A3E9F728CAF}"/>
              </a:ext>
            </a:extLst>
          </p:cNvPr>
          <p:cNvCxnSpPr/>
          <p:nvPr/>
        </p:nvCxnSpPr>
        <p:spPr>
          <a:xfrm>
            <a:off x="9729788" y="3950494"/>
            <a:ext cx="700087" cy="526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ED4F83E6-F7BB-D849-B578-57B76A18BAC5}"/>
              </a:ext>
            </a:extLst>
          </p:cNvPr>
          <p:cNvSpPr txBox="1"/>
          <p:nvPr/>
        </p:nvSpPr>
        <p:spPr>
          <a:xfrm>
            <a:off x="10529888" y="2686050"/>
            <a:ext cx="942975" cy="2585323"/>
          </a:xfrm>
          <a:prstGeom prst="rect">
            <a:avLst/>
          </a:prstGeom>
          <a:noFill/>
        </p:spPr>
        <p:txBody>
          <a:bodyPr wrap="square" rtlCol="0">
            <a:spAutoFit/>
          </a:bodyPr>
          <a:lstStyle/>
          <a:p>
            <a:r>
              <a:rPr lang="en-CN" dirty="0"/>
              <a:t>0 or 1</a:t>
            </a:r>
          </a:p>
          <a:p>
            <a:endParaRPr lang="en-CN" dirty="0"/>
          </a:p>
          <a:p>
            <a:endParaRPr lang="en-CN" dirty="0"/>
          </a:p>
          <a:p>
            <a:r>
              <a:rPr lang="en-CN" dirty="0"/>
              <a:t>男女</a:t>
            </a:r>
          </a:p>
          <a:p>
            <a:endParaRPr lang="en-CN" dirty="0"/>
          </a:p>
          <a:p>
            <a:endParaRPr lang="en-CN" dirty="0"/>
          </a:p>
          <a:p>
            <a:r>
              <a:rPr lang="en-CN" dirty="0"/>
              <a:t>占座</a:t>
            </a:r>
          </a:p>
          <a:p>
            <a:endParaRPr lang="en-CN" dirty="0"/>
          </a:p>
          <a:p>
            <a:r>
              <a:rPr lang="en-CN" dirty="0"/>
              <a:t>等等</a:t>
            </a:r>
          </a:p>
        </p:txBody>
      </p:sp>
      <p:sp>
        <p:nvSpPr>
          <p:cNvPr id="20" name="Right Brace 19">
            <a:extLst>
              <a:ext uri="{FF2B5EF4-FFF2-40B4-BE49-F238E27FC236}">
                <a16:creationId xmlns:a16="http://schemas.microsoft.com/office/drawing/2014/main" id="{1CCCF800-A5C7-CE40-BBB1-72320707930B}"/>
              </a:ext>
            </a:extLst>
          </p:cNvPr>
          <p:cNvSpPr/>
          <p:nvPr/>
        </p:nvSpPr>
        <p:spPr>
          <a:xfrm rot="5400000">
            <a:off x="9794080" y="4321260"/>
            <a:ext cx="571500" cy="2471727"/>
          </a:xfrm>
          <a:prstGeom prst="rightBrace">
            <a:avLst>
              <a:gd name="adj1" fmla="val 3000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21" name="TextBox 20">
            <a:extLst>
              <a:ext uri="{FF2B5EF4-FFF2-40B4-BE49-F238E27FC236}">
                <a16:creationId xmlns:a16="http://schemas.microsoft.com/office/drawing/2014/main" id="{1AB5CC5B-C4AA-2F45-9FE3-22E3F51F1D76}"/>
              </a:ext>
            </a:extLst>
          </p:cNvPr>
          <p:cNvSpPr txBox="1"/>
          <p:nvPr/>
        </p:nvSpPr>
        <p:spPr>
          <a:xfrm>
            <a:off x="8529638" y="6000750"/>
            <a:ext cx="3157537" cy="523220"/>
          </a:xfrm>
          <a:prstGeom prst="rect">
            <a:avLst/>
          </a:prstGeom>
          <a:noFill/>
        </p:spPr>
        <p:txBody>
          <a:bodyPr wrap="square" rtlCol="0">
            <a:spAutoFit/>
          </a:bodyPr>
          <a:lstStyle/>
          <a:p>
            <a:pPr algn="ctr"/>
            <a:r>
              <a:rPr lang="en-CN" sz="2800" dirty="0"/>
              <a:t>Binary</a:t>
            </a:r>
            <a:r>
              <a:rPr lang="zh-CN" altLang="en-US" sz="2800" dirty="0"/>
              <a:t> </a:t>
            </a:r>
            <a:r>
              <a:rPr lang="en-US" altLang="zh-CN" sz="2800" dirty="0"/>
              <a:t>model</a:t>
            </a:r>
            <a:endParaRPr lang="en-CN" sz="2800" dirty="0"/>
          </a:p>
        </p:txBody>
      </p:sp>
      <p:sp>
        <p:nvSpPr>
          <p:cNvPr id="7" name="Up Arrow 6">
            <a:extLst>
              <a:ext uri="{FF2B5EF4-FFF2-40B4-BE49-F238E27FC236}">
                <a16:creationId xmlns:a16="http://schemas.microsoft.com/office/drawing/2014/main" id="{C2399935-149F-DB49-97C7-0BDD3C78BC40}"/>
              </a:ext>
            </a:extLst>
          </p:cNvPr>
          <p:cNvSpPr/>
          <p:nvPr/>
        </p:nvSpPr>
        <p:spPr>
          <a:xfrm>
            <a:off x="6324600" y="4800600"/>
            <a:ext cx="152400" cy="871535"/>
          </a:xfrm>
          <a:prstGeom prs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extLst>
      <p:ext uri="{BB962C8B-B14F-4D97-AF65-F5344CB8AC3E}">
        <p14:creationId xmlns:p14="http://schemas.microsoft.com/office/powerpoint/2010/main" val="2692433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49" y="160338"/>
            <a:ext cx="11398869" cy="1325563"/>
          </a:xfrm>
        </p:spPr>
        <p:txBody>
          <a:bodyPr>
            <a:normAutofit/>
          </a:bodyPr>
          <a:lstStyle/>
          <a:p>
            <a:r>
              <a:rPr lang="en-CN" dirty="0">
                <a:solidFill>
                  <a:srgbClr val="FF0000"/>
                </a:solidFill>
              </a:rPr>
              <a:t>微观态</a:t>
            </a:r>
            <a:r>
              <a:rPr lang="zh-CN" altLang="en-US" dirty="0"/>
              <a:t>（</a:t>
            </a:r>
            <a:r>
              <a:rPr lang="en-US" altLang="zh-CN" dirty="0"/>
              <a:t>N</a:t>
            </a:r>
            <a:r>
              <a:rPr lang="zh-CN" altLang="en-US" dirty="0"/>
              <a:t>个磁针，无相互作用，加外磁场）</a:t>
            </a:r>
            <a:endParaRPr lang="en-CN" dirty="0"/>
          </a:p>
        </p:txBody>
      </p:sp>
      <p:cxnSp>
        <p:nvCxnSpPr>
          <p:cNvPr id="8" name="Straight Arrow Connector 7">
            <a:extLst>
              <a:ext uri="{FF2B5EF4-FFF2-40B4-BE49-F238E27FC236}">
                <a16:creationId xmlns:a16="http://schemas.microsoft.com/office/drawing/2014/main" id="{D0E65758-0C5E-D847-8F87-1B8A2B796ABF}"/>
              </a:ext>
            </a:extLst>
          </p:cNvPr>
          <p:cNvCxnSpPr>
            <a:cxnSpLocks/>
          </p:cNvCxnSpPr>
          <p:nvPr/>
        </p:nvCxnSpPr>
        <p:spPr>
          <a:xfrm flipV="1">
            <a:off x="1085850" y="1285876"/>
            <a:ext cx="0" cy="15001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2D90D17-204E-4C4A-BC77-DAAEC4DD4DBD}"/>
              </a:ext>
            </a:extLst>
          </p:cNvPr>
          <p:cNvCxnSpPr>
            <a:cxnSpLocks/>
          </p:cNvCxnSpPr>
          <p:nvPr/>
        </p:nvCxnSpPr>
        <p:spPr>
          <a:xfrm>
            <a:off x="2566987"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D586140-C410-904A-B7CA-CA76AB44EA47}"/>
              </a:ext>
            </a:extLst>
          </p:cNvPr>
          <p:cNvSpPr txBox="1"/>
          <p:nvPr/>
        </p:nvSpPr>
        <p:spPr>
          <a:xfrm>
            <a:off x="438150" y="1743581"/>
            <a:ext cx="647700" cy="584775"/>
          </a:xfrm>
          <a:prstGeom prst="rect">
            <a:avLst/>
          </a:prstGeom>
          <a:noFill/>
        </p:spPr>
        <p:txBody>
          <a:bodyPr wrap="square" rtlCol="0">
            <a:spAutoFit/>
          </a:bodyPr>
          <a:lstStyle/>
          <a:p>
            <a:r>
              <a:rPr lang="en-CN" sz="3200" dirty="0"/>
              <a:t>B</a:t>
            </a:r>
          </a:p>
        </p:txBody>
      </p:sp>
      <p:cxnSp>
        <p:nvCxnSpPr>
          <p:cNvPr id="17" name="Straight Arrow Connector 16">
            <a:extLst>
              <a:ext uri="{FF2B5EF4-FFF2-40B4-BE49-F238E27FC236}">
                <a16:creationId xmlns:a16="http://schemas.microsoft.com/office/drawing/2014/main" id="{AD7F7421-7DDF-2445-B00E-B5A8178D3579}"/>
              </a:ext>
            </a:extLst>
          </p:cNvPr>
          <p:cNvCxnSpPr>
            <a:cxnSpLocks/>
          </p:cNvCxnSpPr>
          <p:nvPr/>
        </p:nvCxnSpPr>
        <p:spPr>
          <a:xfrm>
            <a:off x="2919411" y="1512095"/>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E080016-5293-4449-B61B-29E79472A643}"/>
              </a:ext>
            </a:extLst>
          </p:cNvPr>
          <p:cNvCxnSpPr>
            <a:cxnSpLocks/>
          </p:cNvCxnSpPr>
          <p:nvPr/>
        </p:nvCxnSpPr>
        <p:spPr>
          <a:xfrm>
            <a:off x="4400549"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C3C738D-B8EA-2246-B128-8E9D31CED2E1}"/>
              </a:ext>
            </a:extLst>
          </p:cNvPr>
          <p:cNvCxnSpPr>
            <a:cxnSpLocks/>
          </p:cNvCxnSpPr>
          <p:nvPr/>
        </p:nvCxnSpPr>
        <p:spPr>
          <a:xfrm>
            <a:off x="4910138"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9476089-CF67-B142-9277-94E17A4A8EEB}"/>
              </a:ext>
            </a:extLst>
          </p:cNvPr>
          <p:cNvCxnSpPr>
            <a:cxnSpLocks/>
          </p:cNvCxnSpPr>
          <p:nvPr/>
        </p:nvCxnSpPr>
        <p:spPr>
          <a:xfrm>
            <a:off x="3938587"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810319-9762-F447-94D3-61BFEB72042E}"/>
              </a:ext>
            </a:extLst>
          </p:cNvPr>
          <p:cNvCxnSpPr>
            <a:cxnSpLocks/>
          </p:cNvCxnSpPr>
          <p:nvPr/>
        </p:nvCxnSpPr>
        <p:spPr>
          <a:xfrm flipV="1">
            <a:off x="3438525" y="1445417"/>
            <a:ext cx="0" cy="11287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2172332-E2F9-C44B-8E11-F30E01FE3E88}"/>
              </a:ext>
            </a:extLst>
          </p:cNvPr>
          <p:cNvCxnSpPr>
            <a:cxnSpLocks/>
          </p:cNvCxnSpPr>
          <p:nvPr/>
        </p:nvCxnSpPr>
        <p:spPr>
          <a:xfrm>
            <a:off x="5953124"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B833E57-A113-4F4A-A832-6DBF00C4DCFB}"/>
              </a:ext>
            </a:extLst>
          </p:cNvPr>
          <p:cNvCxnSpPr>
            <a:cxnSpLocks/>
          </p:cNvCxnSpPr>
          <p:nvPr/>
        </p:nvCxnSpPr>
        <p:spPr>
          <a:xfrm flipV="1">
            <a:off x="5467350" y="1412581"/>
            <a:ext cx="0" cy="109775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E8C657-4078-F44C-9B4D-6E4891CF87A7}"/>
              </a:ext>
            </a:extLst>
          </p:cNvPr>
          <p:cNvCxnSpPr>
            <a:cxnSpLocks/>
          </p:cNvCxnSpPr>
          <p:nvPr/>
        </p:nvCxnSpPr>
        <p:spPr>
          <a:xfrm>
            <a:off x="6586537" y="1481643"/>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11512E2-7EC3-1E4E-9FAE-E99F091CD053}"/>
              </a:ext>
            </a:extLst>
          </p:cNvPr>
          <p:cNvCxnSpPr>
            <a:cxnSpLocks/>
          </p:cNvCxnSpPr>
          <p:nvPr/>
        </p:nvCxnSpPr>
        <p:spPr>
          <a:xfrm flipV="1">
            <a:off x="7181850" y="1368712"/>
            <a:ext cx="0" cy="11911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43C41F7-262D-4E48-8CB1-AA43C78F0453}"/>
              </a:ext>
            </a:extLst>
          </p:cNvPr>
          <p:cNvCxnSpPr>
            <a:cxnSpLocks/>
          </p:cNvCxnSpPr>
          <p:nvPr/>
        </p:nvCxnSpPr>
        <p:spPr>
          <a:xfrm>
            <a:off x="7734300" y="1481643"/>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A20A4AD-1FAD-CB42-ACA6-CCD1B438EBF2}"/>
              </a:ext>
            </a:extLst>
          </p:cNvPr>
          <p:cNvCxnSpPr>
            <a:cxnSpLocks/>
          </p:cNvCxnSpPr>
          <p:nvPr/>
        </p:nvCxnSpPr>
        <p:spPr>
          <a:xfrm>
            <a:off x="8243887" y="1462592"/>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C712A22-967B-9345-91B6-5E8C072F7387}"/>
              </a:ext>
            </a:extLst>
          </p:cNvPr>
          <p:cNvCxnSpPr>
            <a:cxnSpLocks/>
          </p:cNvCxnSpPr>
          <p:nvPr/>
        </p:nvCxnSpPr>
        <p:spPr>
          <a:xfrm>
            <a:off x="8739187" y="1478756"/>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9656926-5F52-5C4E-AE5E-D64924330D77}"/>
              </a:ext>
            </a:extLst>
          </p:cNvPr>
          <p:cNvCxnSpPr>
            <a:cxnSpLocks/>
          </p:cNvCxnSpPr>
          <p:nvPr/>
        </p:nvCxnSpPr>
        <p:spPr>
          <a:xfrm>
            <a:off x="9320212" y="1462592"/>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6BA0610-0D28-AC40-B9C5-3016C067413B}"/>
              </a:ext>
            </a:extLst>
          </p:cNvPr>
          <p:cNvSpPr txBox="1"/>
          <p:nvPr/>
        </p:nvSpPr>
        <p:spPr>
          <a:xfrm>
            <a:off x="2128837" y="2786063"/>
            <a:ext cx="7715249" cy="369332"/>
          </a:xfrm>
          <a:prstGeom prst="rect">
            <a:avLst/>
          </a:prstGeom>
          <a:noFill/>
        </p:spPr>
        <p:txBody>
          <a:bodyPr wrap="square" rtlCol="0">
            <a:spAutoFit/>
          </a:bodyPr>
          <a:lstStyle/>
          <a:p>
            <a:r>
              <a:rPr lang="zh-CN" altLang="en-US" dirty="0"/>
              <a:t>     </a:t>
            </a:r>
            <a:r>
              <a:rPr lang="en-US" altLang="zh-CN" dirty="0"/>
              <a:t>1</a:t>
            </a:r>
            <a:r>
              <a:rPr lang="zh-CN" altLang="en-US" dirty="0"/>
              <a:t>     </a:t>
            </a:r>
            <a:r>
              <a:rPr lang="en-US" altLang="zh-CN" dirty="0"/>
              <a:t>2</a:t>
            </a:r>
            <a:r>
              <a:rPr lang="zh-CN" altLang="en-US" dirty="0"/>
              <a:t>       </a:t>
            </a:r>
            <a:r>
              <a:rPr lang="en-US" altLang="zh-CN" dirty="0"/>
              <a:t>3</a:t>
            </a:r>
            <a:r>
              <a:rPr lang="zh-CN" altLang="en-US" dirty="0"/>
              <a:t>       </a:t>
            </a:r>
            <a:r>
              <a:rPr lang="en-US" altLang="zh-CN" dirty="0"/>
              <a:t>4</a:t>
            </a:r>
            <a:r>
              <a:rPr lang="zh-CN" altLang="en-US" dirty="0"/>
              <a:t>       </a:t>
            </a:r>
            <a:r>
              <a:rPr lang="en-US" altLang="zh-CN" dirty="0"/>
              <a:t>5</a:t>
            </a:r>
            <a:r>
              <a:rPr lang="zh-CN" altLang="en-US" dirty="0"/>
              <a:t>       </a:t>
            </a:r>
            <a:r>
              <a:rPr lang="en-US" altLang="zh-CN" dirty="0"/>
              <a:t>6</a:t>
            </a:r>
            <a:r>
              <a:rPr lang="zh-CN" altLang="en-US" dirty="0"/>
              <a:t>         </a:t>
            </a:r>
            <a:r>
              <a:rPr lang="en-US" altLang="zh-CN" dirty="0"/>
              <a:t>7</a:t>
            </a:r>
            <a:r>
              <a:rPr lang="zh-CN" altLang="en-US" dirty="0"/>
              <a:t>     。。。。。。。。。。。。。。。。</a:t>
            </a:r>
            <a:r>
              <a:rPr lang="en-US" altLang="zh-CN" dirty="0"/>
              <a:t>N</a:t>
            </a:r>
            <a:endParaRPr lang="en-CN" dirty="0"/>
          </a:p>
        </p:txBody>
      </p:sp>
      <p:pic>
        <p:nvPicPr>
          <p:cNvPr id="13" name="Picture 12">
            <a:extLst>
              <a:ext uri="{FF2B5EF4-FFF2-40B4-BE49-F238E27FC236}">
                <a16:creationId xmlns:a16="http://schemas.microsoft.com/office/drawing/2014/main" id="{A15D8695-1FDE-3F4E-BA76-3723C1910B8F}"/>
              </a:ext>
            </a:extLst>
          </p:cNvPr>
          <p:cNvPicPr>
            <a:picLocks noChangeAspect="1"/>
          </p:cNvPicPr>
          <p:nvPr/>
        </p:nvPicPr>
        <p:blipFill>
          <a:blip r:embed="rId2"/>
          <a:stretch>
            <a:fillRect/>
          </a:stretch>
        </p:blipFill>
        <p:spPr>
          <a:xfrm>
            <a:off x="2347912" y="3318009"/>
            <a:ext cx="6238876" cy="3379653"/>
          </a:xfrm>
          <a:prstGeom prst="rect">
            <a:avLst/>
          </a:prstGeom>
        </p:spPr>
      </p:pic>
      <p:sp>
        <p:nvSpPr>
          <p:cNvPr id="15" name="TextBox 14">
            <a:extLst>
              <a:ext uri="{FF2B5EF4-FFF2-40B4-BE49-F238E27FC236}">
                <a16:creationId xmlns:a16="http://schemas.microsoft.com/office/drawing/2014/main" id="{297B896C-202A-4046-87AA-CF1ECFF74C64}"/>
              </a:ext>
            </a:extLst>
          </p:cNvPr>
          <p:cNvSpPr txBox="1"/>
          <p:nvPr/>
        </p:nvSpPr>
        <p:spPr>
          <a:xfrm>
            <a:off x="9915523" y="4443413"/>
            <a:ext cx="1614489" cy="707886"/>
          </a:xfrm>
          <a:prstGeom prst="rect">
            <a:avLst/>
          </a:prstGeom>
          <a:noFill/>
        </p:spPr>
        <p:txBody>
          <a:bodyPr wrap="square" rtlCol="0">
            <a:spAutoFit/>
          </a:bodyPr>
          <a:lstStyle/>
          <a:p>
            <a:r>
              <a:rPr lang="en-US" altLang="zh-CN" sz="4000" dirty="0"/>
              <a:t>2</a:t>
            </a:r>
            <a:r>
              <a:rPr lang="en-US" altLang="zh-CN" sz="4000" baseline="30000" dirty="0"/>
              <a:t>N</a:t>
            </a:r>
            <a:r>
              <a:rPr lang="zh-CN" altLang="en-US" sz="4000" dirty="0"/>
              <a:t>个</a:t>
            </a:r>
            <a:endParaRPr lang="en-CN" sz="4000" dirty="0"/>
          </a:p>
        </p:txBody>
      </p:sp>
    </p:spTree>
    <p:extLst>
      <p:ext uri="{BB962C8B-B14F-4D97-AF65-F5344CB8AC3E}">
        <p14:creationId xmlns:p14="http://schemas.microsoft.com/office/powerpoint/2010/main" val="2420539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1320462" cy="1325563"/>
          </a:xfrm>
        </p:spPr>
        <p:txBody>
          <a:bodyPr>
            <a:normAutofit/>
          </a:bodyPr>
          <a:lstStyle/>
          <a:p>
            <a:r>
              <a:rPr lang="en-CN" dirty="0">
                <a:solidFill>
                  <a:srgbClr val="FF0000"/>
                </a:solidFill>
              </a:rPr>
              <a:t>宏观态</a:t>
            </a:r>
            <a:r>
              <a:rPr lang="zh-CN" altLang="en-US" dirty="0"/>
              <a:t>（我们关心有多少个</a:t>
            </a:r>
            <a:r>
              <a:rPr lang="en-US" altLang="zh-CN" dirty="0"/>
              <a:t>up/down</a:t>
            </a:r>
            <a:r>
              <a:rPr lang="zh-CN" altLang="en-US" dirty="0"/>
              <a:t>的时候）</a:t>
            </a:r>
            <a:endParaRPr lang="en-CN" dirty="0"/>
          </a:p>
        </p:txBody>
      </p:sp>
      <p:cxnSp>
        <p:nvCxnSpPr>
          <p:cNvPr id="8" name="Straight Arrow Connector 7">
            <a:extLst>
              <a:ext uri="{FF2B5EF4-FFF2-40B4-BE49-F238E27FC236}">
                <a16:creationId xmlns:a16="http://schemas.microsoft.com/office/drawing/2014/main" id="{D0E65758-0C5E-D847-8F87-1B8A2B796ABF}"/>
              </a:ext>
            </a:extLst>
          </p:cNvPr>
          <p:cNvCxnSpPr>
            <a:cxnSpLocks/>
          </p:cNvCxnSpPr>
          <p:nvPr/>
        </p:nvCxnSpPr>
        <p:spPr>
          <a:xfrm flipV="1">
            <a:off x="1085850" y="1285876"/>
            <a:ext cx="0" cy="150018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2D90D17-204E-4C4A-BC77-DAAEC4DD4DBD}"/>
              </a:ext>
            </a:extLst>
          </p:cNvPr>
          <p:cNvCxnSpPr>
            <a:cxnSpLocks/>
          </p:cNvCxnSpPr>
          <p:nvPr/>
        </p:nvCxnSpPr>
        <p:spPr>
          <a:xfrm>
            <a:off x="2566987"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D586140-C410-904A-B7CA-CA76AB44EA47}"/>
              </a:ext>
            </a:extLst>
          </p:cNvPr>
          <p:cNvSpPr txBox="1"/>
          <p:nvPr/>
        </p:nvSpPr>
        <p:spPr>
          <a:xfrm>
            <a:off x="438150" y="1743581"/>
            <a:ext cx="647700" cy="584775"/>
          </a:xfrm>
          <a:prstGeom prst="rect">
            <a:avLst/>
          </a:prstGeom>
          <a:noFill/>
        </p:spPr>
        <p:txBody>
          <a:bodyPr wrap="square" rtlCol="0">
            <a:spAutoFit/>
          </a:bodyPr>
          <a:lstStyle/>
          <a:p>
            <a:r>
              <a:rPr lang="en-CN" sz="3200" dirty="0"/>
              <a:t>B</a:t>
            </a:r>
          </a:p>
        </p:txBody>
      </p:sp>
      <p:cxnSp>
        <p:nvCxnSpPr>
          <p:cNvPr id="17" name="Straight Arrow Connector 16">
            <a:extLst>
              <a:ext uri="{FF2B5EF4-FFF2-40B4-BE49-F238E27FC236}">
                <a16:creationId xmlns:a16="http://schemas.microsoft.com/office/drawing/2014/main" id="{AD7F7421-7DDF-2445-B00E-B5A8178D3579}"/>
              </a:ext>
            </a:extLst>
          </p:cNvPr>
          <p:cNvCxnSpPr>
            <a:cxnSpLocks/>
          </p:cNvCxnSpPr>
          <p:nvPr/>
        </p:nvCxnSpPr>
        <p:spPr>
          <a:xfrm>
            <a:off x="2919411" y="1512095"/>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E080016-5293-4449-B61B-29E79472A643}"/>
              </a:ext>
            </a:extLst>
          </p:cNvPr>
          <p:cNvCxnSpPr>
            <a:cxnSpLocks/>
          </p:cNvCxnSpPr>
          <p:nvPr/>
        </p:nvCxnSpPr>
        <p:spPr>
          <a:xfrm>
            <a:off x="4400549"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C3C738D-B8EA-2246-B128-8E9D31CED2E1}"/>
              </a:ext>
            </a:extLst>
          </p:cNvPr>
          <p:cNvCxnSpPr>
            <a:cxnSpLocks/>
          </p:cNvCxnSpPr>
          <p:nvPr/>
        </p:nvCxnSpPr>
        <p:spPr>
          <a:xfrm>
            <a:off x="4910138"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9476089-CF67-B142-9277-94E17A4A8EEB}"/>
              </a:ext>
            </a:extLst>
          </p:cNvPr>
          <p:cNvCxnSpPr>
            <a:cxnSpLocks/>
          </p:cNvCxnSpPr>
          <p:nvPr/>
        </p:nvCxnSpPr>
        <p:spPr>
          <a:xfrm>
            <a:off x="3938587"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810319-9762-F447-94D3-61BFEB72042E}"/>
              </a:ext>
            </a:extLst>
          </p:cNvPr>
          <p:cNvCxnSpPr>
            <a:cxnSpLocks/>
          </p:cNvCxnSpPr>
          <p:nvPr/>
        </p:nvCxnSpPr>
        <p:spPr>
          <a:xfrm flipV="1">
            <a:off x="3438525" y="1445417"/>
            <a:ext cx="0" cy="112871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2172332-E2F9-C44B-8E11-F30E01FE3E88}"/>
              </a:ext>
            </a:extLst>
          </p:cNvPr>
          <p:cNvCxnSpPr>
            <a:cxnSpLocks/>
          </p:cNvCxnSpPr>
          <p:nvPr/>
        </p:nvCxnSpPr>
        <p:spPr>
          <a:xfrm>
            <a:off x="5953124" y="1485901"/>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B833E57-A113-4F4A-A832-6DBF00C4DCFB}"/>
              </a:ext>
            </a:extLst>
          </p:cNvPr>
          <p:cNvCxnSpPr>
            <a:cxnSpLocks/>
          </p:cNvCxnSpPr>
          <p:nvPr/>
        </p:nvCxnSpPr>
        <p:spPr>
          <a:xfrm flipV="1">
            <a:off x="5467350" y="1412581"/>
            <a:ext cx="0" cy="109775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1E8C657-4078-F44C-9B4D-6E4891CF87A7}"/>
              </a:ext>
            </a:extLst>
          </p:cNvPr>
          <p:cNvCxnSpPr>
            <a:cxnSpLocks/>
          </p:cNvCxnSpPr>
          <p:nvPr/>
        </p:nvCxnSpPr>
        <p:spPr>
          <a:xfrm>
            <a:off x="6586537" y="1481643"/>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011512E2-7EC3-1E4E-9FAE-E99F091CD053}"/>
              </a:ext>
            </a:extLst>
          </p:cNvPr>
          <p:cNvCxnSpPr>
            <a:cxnSpLocks/>
          </p:cNvCxnSpPr>
          <p:nvPr/>
        </p:nvCxnSpPr>
        <p:spPr>
          <a:xfrm flipV="1">
            <a:off x="7181850" y="1368712"/>
            <a:ext cx="0" cy="119112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43C41F7-262D-4E48-8CB1-AA43C78F0453}"/>
              </a:ext>
            </a:extLst>
          </p:cNvPr>
          <p:cNvCxnSpPr>
            <a:cxnSpLocks/>
          </p:cNvCxnSpPr>
          <p:nvPr/>
        </p:nvCxnSpPr>
        <p:spPr>
          <a:xfrm>
            <a:off x="7734300" y="1481643"/>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A20A4AD-1FAD-CB42-ACA6-CCD1B438EBF2}"/>
              </a:ext>
            </a:extLst>
          </p:cNvPr>
          <p:cNvCxnSpPr>
            <a:cxnSpLocks/>
          </p:cNvCxnSpPr>
          <p:nvPr/>
        </p:nvCxnSpPr>
        <p:spPr>
          <a:xfrm>
            <a:off x="8243887" y="1462592"/>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FC712A22-967B-9345-91B6-5E8C072F7387}"/>
              </a:ext>
            </a:extLst>
          </p:cNvPr>
          <p:cNvCxnSpPr>
            <a:cxnSpLocks/>
          </p:cNvCxnSpPr>
          <p:nvPr/>
        </p:nvCxnSpPr>
        <p:spPr>
          <a:xfrm>
            <a:off x="8739187" y="1478756"/>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9656926-5F52-5C4E-AE5E-D64924330D77}"/>
              </a:ext>
            </a:extLst>
          </p:cNvPr>
          <p:cNvCxnSpPr>
            <a:cxnSpLocks/>
          </p:cNvCxnSpPr>
          <p:nvPr/>
        </p:nvCxnSpPr>
        <p:spPr>
          <a:xfrm>
            <a:off x="9320212" y="1462592"/>
            <a:ext cx="0" cy="104774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6BA0610-0D28-AC40-B9C5-3016C067413B}"/>
              </a:ext>
            </a:extLst>
          </p:cNvPr>
          <p:cNvSpPr txBox="1"/>
          <p:nvPr/>
        </p:nvSpPr>
        <p:spPr>
          <a:xfrm>
            <a:off x="2128838" y="2786063"/>
            <a:ext cx="7415212" cy="369332"/>
          </a:xfrm>
          <a:prstGeom prst="rect">
            <a:avLst/>
          </a:prstGeom>
          <a:noFill/>
        </p:spPr>
        <p:txBody>
          <a:bodyPr wrap="square" rtlCol="0">
            <a:spAutoFit/>
          </a:bodyPr>
          <a:lstStyle/>
          <a:p>
            <a:r>
              <a:rPr lang="zh-CN" altLang="en-US" dirty="0"/>
              <a:t>     </a:t>
            </a:r>
            <a:r>
              <a:rPr lang="en-US" altLang="zh-CN" dirty="0"/>
              <a:t>1</a:t>
            </a:r>
            <a:r>
              <a:rPr lang="zh-CN" altLang="en-US" dirty="0"/>
              <a:t>     </a:t>
            </a:r>
            <a:r>
              <a:rPr lang="en-US" altLang="zh-CN" dirty="0"/>
              <a:t>2</a:t>
            </a:r>
            <a:r>
              <a:rPr lang="zh-CN" altLang="en-US" dirty="0"/>
              <a:t>       </a:t>
            </a:r>
            <a:r>
              <a:rPr lang="en-US" altLang="zh-CN" dirty="0"/>
              <a:t>3</a:t>
            </a:r>
            <a:r>
              <a:rPr lang="zh-CN" altLang="en-US" dirty="0"/>
              <a:t>       </a:t>
            </a:r>
            <a:r>
              <a:rPr lang="en-US" altLang="zh-CN" dirty="0"/>
              <a:t>4</a:t>
            </a:r>
            <a:r>
              <a:rPr lang="zh-CN" altLang="en-US" dirty="0"/>
              <a:t>       </a:t>
            </a:r>
            <a:r>
              <a:rPr lang="en-US" altLang="zh-CN" dirty="0"/>
              <a:t>5</a:t>
            </a:r>
            <a:r>
              <a:rPr lang="zh-CN" altLang="en-US" dirty="0"/>
              <a:t>       </a:t>
            </a:r>
            <a:r>
              <a:rPr lang="en-US" altLang="zh-CN" dirty="0"/>
              <a:t>6</a:t>
            </a:r>
            <a:r>
              <a:rPr lang="zh-CN" altLang="en-US" dirty="0"/>
              <a:t>         </a:t>
            </a:r>
            <a:r>
              <a:rPr lang="en-US" altLang="zh-CN" dirty="0"/>
              <a:t>7</a:t>
            </a:r>
            <a:r>
              <a:rPr lang="zh-CN" altLang="en-US" dirty="0"/>
              <a:t>     。。。。。。。。。。。。。。。。</a:t>
            </a:r>
            <a:endParaRPr lang="en-CN" dirty="0"/>
          </a:p>
        </p:txBody>
      </p:sp>
      <p:sp>
        <p:nvSpPr>
          <p:cNvPr id="3" name="TextBox 2">
            <a:extLst>
              <a:ext uri="{FF2B5EF4-FFF2-40B4-BE49-F238E27FC236}">
                <a16:creationId xmlns:a16="http://schemas.microsoft.com/office/drawing/2014/main" id="{A0ED0A6A-40F7-0947-B3D5-FEB3BD1F271E}"/>
              </a:ext>
            </a:extLst>
          </p:cNvPr>
          <p:cNvSpPr txBox="1"/>
          <p:nvPr/>
        </p:nvSpPr>
        <p:spPr>
          <a:xfrm>
            <a:off x="614364" y="3643313"/>
            <a:ext cx="4743448" cy="2585323"/>
          </a:xfrm>
          <a:prstGeom prst="rect">
            <a:avLst/>
          </a:prstGeom>
          <a:noFill/>
        </p:spPr>
        <p:txBody>
          <a:bodyPr wrap="square" rtlCol="0">
            <a:spAutoFit/>
          </a:bodyPr>
          <a:lstStyle/>
          <a:p>
            <a:pPr marL="285750" indent="-285750">
              <a:buFont typeface="Arial" panose="020B0604020202020204" pitchFamily="34" charset="0"/>
              <a:buChar char="•"/>
            </a:pPr>
            <a:r>
              <a:rPr lang="en-CN" dirty="0">
                <a:latin typeface="FangSong" panose="02010609060101010101" pitchFamily="49" charset="-122"/>
                <a:ea typeface="FangSong" panose="02010609060101010101" pitchFamily="49" charset="-122"/>
              </a:rPr>
              <a:t>对于每一个磁针</a:t>
            </a:r>
            <a:r>
              <a:rPr lang="zh-CN" altLang="en-US" dirty="0">
                <a:latin typeface="FangSong" panose="02010609060101010101" pitchFamily="49" charset="-122"/>
                <a:ea typeface="FangSong" panose="02010609060101010101" pitchFamily="49" charset="-122"/>
              </a:rPr>
              <a:t>，外场</a:t>
            </a:r>
            <a:r>
              <a:rPr lang="en-US" altLang="zh-CN" dirty="0">
                <a:latin typeface="FangSong" panose="02010609060101010101" pitchFamily="49" charset="-122"/>
                <a:ea typeface="FangSong" panose="02010609060101010101" pitchFamily="49" charset="-122"/>
              </a:rPr>
              <a:t>B</a:t>
            </a:r>
            <a:r>
              <a:rPr lang="zh-CN" altLang="en-US" dirty="0">
                <a:latin typeface="FangSong" panose="02010609060101010101" pitchFamily="49" charset="-122"/>
                <a:ea typeface="FangSong" panose="02010609060101010101" pitchFamily="49" charset="-122"/>
              </a:rPr>
              <a:t>扮演一个扭矩的角色，使磁针平行于磁场，如果磁场朝上，那么向上的磁针的能量低于向下的。</a:t>
            </a:r>
            <a:endParaRPr lang="en-US" altLang="zh-CN"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endParaRPr lang="en-US"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endParaRPr lang="en-US"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endParaRPr lang="en-US" dirty="0">
              <a:latin typeface="FangSong" panose="02010609060101010101" pitchFamily="49" charset="-122"/>
              <a:ea typeface="FangSong" panose="02010609060101010101" pitchFamily="49" charset="-122"/>
            </a:endParaRPr>
          </a:p>
          <a:p>
            <a:pPr marL="285750" indent="-285750">
              <a:buFont typeface="Arial" panose="020B0604020202020204" pitchFamily="34" charset="0"/>
              <a:buChar char="•"/>
            </a:pPr>
            <a:r>
              <a:rPr lang="en-US" dirty="0" err="1">
                <a:latin typeface="FangSong" panose="02010609060101010101" pitchFamily="49" charset="-122"/>
                <a:ea typeface="FangSong" panose="02010609060101010101" pitchFamily="49" charset="-122"/>
              </a:rPr>
              <a:t>对于N个这样的磁针组成的系统</a:t>
            </a:r>
            <a:r>
              <a:rPr lang="zh-CN" altLang="en-US" dirty="0">
                <a:latin typeface="FangSong" panose="02010609060101010101" pitchFamily="49" charset="-122"/>
                <a:ea typeface="FangSong" panose="02010609060101010101" pitchFamily="49" charset="-122"/>
              </a:rPr>
              <a:t>，其</a:t>
            </a:r>
            <a:r>
              <a:rPr lang="zh-CN" altLang="en-US" dirty="0">
                <a:solidFill>
                  <a:srgbClr val="FF0000"/>
                </a:solidFill>
                <a:latin typeface="FangSong" panose="02010609060101010101" pitchFamily="49" charset="-122"/>
                <a:ea typeface="FangSong" panose="02010609060101010101" pitchFamily="49" charset="-122"/>
              </a:rPr>
              <a:t>总能量</a:t>
            </a:r>
            <a:r>
              <a:rPr lang="en-US" altLang="zh-CN" dirty="0">
                <a:latin typeface="FangSong" panose="02010609060101010101" pitchFamily="49" charset="-122"/>
                <a:ea typeface="FangSong" panose="02010609060101010101" pitchFamily="49" charset="-122"/>
              </a:rPr>
              <a:t>is determined by the total number of up-down</a:t>
            </a:r>
            <a:endParaRPr lang="en-CN" dirty="0">
              <a:latin typeface="FangSong" panose="02010609060101010101" pitchFamily="49" charset="-122"/>
              <a:ea typeface="FangSong" panose="02010609060101010101" pitchFamily="49" charset="-122"/>
            </a:endParaRPr>
          </a:p>
        </p:txBody>
      </p:sp>
      <p:cxnSp>
        <p:nvCxnSpPr>
          <p:cNvPr id="9" name="Straight Arrow Connector 8">
            <a:extLst>
              <a:ext uri="{FF2B5EF4-FFF2-40B4-BE49-F238E27FC236}">
                <a16:creationId xmlns:a16="http://schemas.microsoft.com/office/drawing/2014/main" id="{D8AE10AE-30DD-C54E-8391-29F88C978F98}"/>
              </a:ext>
            </a:extLst>
          </p:cNvPr>
          <p:cNvCxnSpPr/>
          <p:nvPr/>
        </p:nvCxnSpPr>
        <p:spPr>
          <a:xfrm flipV="1">
            <a:off x="7315200" y="3286125"/>
            <a:ext cx="0"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DCC91AB-25E9-CC43-B949-716EF18C64BA}"/>
              </a:ext>
            </a:extLst>
          </p:cNvPr>
          <p:cNvCxnSpPr/>
          <p:nvPr/>
        </p:nvCxnSpPr>
        <p:spPr>
          <a:xfrm>
            <a:off x="7315200" y="4286250"/>
            <a:ext cx="24288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36A2794-193E-D74A-9C84-FBA05D2EA054}"/>
              </a:ext>
            </a:extLst>
          </p:cNvPr>
          <p:cNvCxnSpPr/>
          <p:nvPr/>
        </p:nvCxnSpPr>
        <p:spPr>
          <a:xfrm>
            <a:off x="7315200" y="3657605"/>
            <a:ext cx="142398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1512BEE-EF24-1E41-B998-D7A379F2F4D9}"/>
              </a:ext>
            </a:extLst>
          </p:cNvPr>
          <p:cNvCxnSpPr/>
          <p:nvPr/>
        </p:nvCxnSpPr>
        <p:spPr>
          <a:xfrm>
            <a:off x="7324721" y="4910137"/>
            <a:ext cx="142398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0499E30-86A9-674F-A49F-8017318624AF}"/>
              </a:ext>
            </a:extLst>
          </p:cNvPr>
          <p:cNvSpPr txBox="1"/>
          <p:nvPr/>
        </p:nvSpPr>
        <p:spPr>
          <a:xfrm>
            <a:off x="9086850" y="3429000"/>
            <a:ext cx="657225" cy="369332"/>
          </a:xfrm>
          <a:prstGeom prst="rect">
            <a:avLst/>
          </a:prstGeom>
          <a:noFill/>
        </p:spPr>
        <p:txBody>
          <a:bodyPr wrap="square" rtlCol="0">
            <a:spAutoFit/>
          </a:bodyPr>
          <a:lstStyle/>
          <a:p>
            <a:r>
              <a:rPr lang="en-US" altLang="zh-CN" dirty="0"/>
              <a:t>+m B</a:t>
            </a:r>
            <a:endParaRPr lang="en-CN" dirty="0"/>
          </a:p>
        </p:txBody>
      </p:sp>
      <p:sp>
        <p:nvSpPr>
          <p:cNvPr id="35" name="TextBox 34">
            <a:extLst>
              <a:ext uri="{FF2B5EF4-FFF2-40B4-BE49-F238E27FC236}">
                <a16:creationId xmlns:a16="http://schemas.microsoft.com/office/drawing/2014/main" id="{C0CCA357-4951-F340-B254-02CD50F84521}"/>
              </a:ext>
            </a:extLst>
          </p:cNvPr>
          <p:cNvSpPr txBox="1"/>
          <p:nvPr/>
        </p:nvSpPr>
        <p:spPr>
          <a:xfrm>
            <a:off x="9082086" y="4724404"/>
            <a:ext cx="657225" cy="369332"/>
          </a:xfrm>
          <a:prstGeom prst="rect">
            <a:avLst/>
          </a:prstGeom>
          <a:noFill/>
        </p:spPr>
        <p:txBody>
          <a:bodyPr wrap="square" rtlCol="0">
            <a:spAutoFit/>
          </a:bodyPr>
          <a:lstStyle/>
          <a:p>
            <a:r>
              <a:rPr lang="en-US" altLang="zh-CN" dirty="0"/>
              <a:t>-m B</a:t>
            </a:r>
            <a:endParaRPr lang="en-CN" dirty="0"/>
          </a:p>
        </p:txBody>
      </p:sp>
      <p:cxnSp>
        <p:nvCxnSpPr>
          <p:cNvPr id="36" name="Straight Arrow Connector 35">
            <a:extLst>
              <a:ext uri="{FF2B5EF4-FFF2-40B4-BE49-F238E27FC236}">
                <a16:creationId xmlns:a16="http://schemas.microsoft.com/office/drawing/2014/main" id="{A57CD432-97C3-5146-B5D1-42350B0FB24B}"/>
              </a:ext>
            </a:extLst>
          </p:cNvPr>
          <p:cNvCxnSpPr>
            <a:cxnSpLocks/>
          </p:cNvCxnSpPr>
          <p:nvPr/>
        </p:nvCxnSpPr>
        <p:spPr>
          <a:xfrm>
            <a:off x="9972674" y="3400435"/>
            <a:ext cx="0" cy="47674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4D57A63-AE67-FF4A-ACEA-4BA7E21E986E}"/>
              </a:ext>
            </a:extLst>
          </p:cNvPr>
          <p:cNvCxnSpPr>
            <a:cxnSpLocks/>
          </p:cNvCxnSpPr>
          <p:nvPr/>
        </p:nvCxnSpPr>
        <p:spPr>
          <a:xfrm flipV="1">
            <a:off x="9972674" y="4566643"/>
            <a:ext cx="0" cy="52709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B21F754-0798-A041-A130-0E5FA630D16C}"/>
                  </a:ext>
                </a:extLst>
              </p:cNvPr>
              <p:cNvSpPr txBox="1"/>
              <p:nvPr/>
            </p:nvSpPr>
            <p:spPr>
              <a:xfrm>
                <a:off x="4562476" y="5967529"/>
                <a:ext cx="39671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𝑚𝐵</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m:t>
                              </m:r>
                            </m:sub>
                          </m:sSub>
                        </m:e>
                      </m:d>
                      <m:r>
                        <a:rPr lang="en-US" b="0" i="1" smtClean="0">
                          <a:latin typeface="Cambria Math" panose="02040503050406030204" pitchFamily="18" charset="0"/>
                        </a:rPr>
                        <m:t>=−2 </m:t>
                      </m:r>
                      <m:r>
                        <a:rPr lang="en-US" b="0" i="1" smtClean="0">
                          <a:latin typeface="Cambria Math" panose="02040503050406030204" pitchFamily="18" charset="0"/>
                        </a:rPr>
                        <m:t>𝑚</m:t>
                      </m:r>
                      <m:r>
                        <a:rPr lang="en-US" b="0" i="1" smtClean="0">
                          <a:latin typeface="Cambria Math" panose="02040503050406030204" pitchFamily="18" charset="0"/>
                        </a:rPr>
                        <m:t> </m:t>
                      </m:r>
                      <m:r>
                        <a:rPr lang="en-US" b="0" i="1" smtClean="0">
                          <a:latin typeface="Cambria Math" panose="02040503050406030204" pitchFamily="18" charset="0"/>
                        </a:rPr>
                        <m:t>𝐵</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oMath>
                  </m:oMathPara>
                </a14:m>
                <a:endParaRPr lang="en-CN" dirty="0"/>
              </a:p>
            </p:txBody>
          </p:sp>
        </mc:Choice>
        <mc:Fallback xmlns="">
          <p:sp>
            <p:nvSpPr>
              <p:cNvPr id="39" name="TextBox 38">
                <a:extLst>
                  <a:ext uri="{FF2B5EF4-FFF2-40B4-BE49-F238E27FC236}">
                    <a16:creationId xmlns:a16="http://schemas.microsoft.com/office/drawing/2014/main" id="{FB21F754-0798-A041-A130-0E5FA630D16C}"/>
                  </a:ext>
                </a:extLst>
              </p:cNvPr>
              <p:cNvSpPr txBox="1">
                <a:spLocks noRot="1" noChangeAspect="1" noMove="1" noResize="1" noEditPoints="1" noAdjustHandles="1" noChangeArrowheads="1" noChangeShapeType="1" noTextEdit="1"/>
              </p:cNvSpPr>
              <p:nvPr/>
            </p:nvSpPr>
            <p:spPr>
              <a:xfrm>
                <a:off x="4562476" y="5967529"/>
                <a:ext cx="3967161" cy="369332"/>
              </a:xfrm>
              <a:prstGeom prst="rect">
                <a:avLst/>
              </a:prstGeom>
              <a:blipFill>
                <a:blip r:embed="rId2"/>
                <a:stretch>
                  <a:fillRect b="-12903"/>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771D490-BFF4-584B-9CD3-36DD2026D852}"/>
                  </a:ext>
                </a:extLst>
              </p:cNvPr>
              <p:cNvSpPr txBox="1"/>
              <p:nvPr/>
            </p:nvSpPr>
            <p:spPr>
              <a:xfrm>
                <a:off x="8908253" y="5820279"/>
                <a:ext cx="1662115"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ea typeface="Cambria Math" panose="02040503050406030204" pitchFamily="18" charset="0"/>
                                </a:rPr>
                                <m:t>↓</m:t>
                              </m:r>
                            </m:sub>
                          </m:sSub>
                        </m:num>
                        <m:den>
                          <m:r>
                            <a:rPr lang="en-US" b="0" i="1" smtClean="0">
                              <a:latin typeface="Cambria Math" panose="02040503050406030204" pitchFamily="18" charset="0"/>
                            </a:rPr>
                            <m:t>2</m:t>
                          </m:r>
                        </m:den>
                      </m:f>
                    </m:oMath>
                  </m:oMathPara>
                </a14:m>
                <a:endParaRPr lang="en-CN" dirty="0"/>
              </a:p>
            </p:txBody>
          </p:sp>
        </mc:Choice>
        <mc:Fallback xmlns="">
          <p:sp>
            <p:nvSpPr>
              <p:cNvPr id="40" name="TextBox 39">
                <a:extLst>
                  <a:ext uri="{FF2B5EF4-FFF2-40B4-BE49-F238E27FC236}">
                    <a16:creationId xmlns:a16="http://schemas.microsoft.com/office/drawing/2014/main" id="{E771D490-BFF4-584B-9CD3-36DD2026D852}"/>
                  </a:ext>
                </a:extLst>
              </p:cNvPr>
              <p:cNvSpPr txBox="1">
                <a:spLocks noRot="1" noChangeAspect="1" noMove="1" noResize="1" noEditPoints="1" noAdjustHandles="1" noChangeArrowheads="1" noChangeShapeType="1" noTextEdit="1"/>
              </p:cNvSpPr>
              <p:nvPr/>
            </p:nvSpPr>
            <p:spPr>
              <a:xfrm>
                <a:off x="8908253" y="5820279"/>
                <a:ext cx="1662115" cy="609077"/>
              </a:xfrm>
              <a:prstGeom prst="rect">
                <a:avLst/>
              </a:prstGeom>
              <a:blipFill>
                <a:blip r:embed="rId3"/>
                <a:stretch>
                  <a:fillRect b="-4082"/>
                </a:stretch>
              </a:blipFill>
            </p:spPr>
            <p:txBody>
              <a:bodyPr/>
              <a:lstStyle/>
              <a:p>
                <a:r>
                  <a:rPr lang="en-CN">
                    <a:noFill/>
                  </a:rPr>
                  <a:t> </a:t>
                </a:r>
              </a:p>
            </p:txBody>
          </p:sp>
        </mc:Fallback>
      </mc:AlternateContent>
      <p:pic>
        <p:nvPicPr>
          <p:cNvPr id="6" name="Picture 5">
            <a:extLst>
              <a:ext uri="{FF2B5EF4-FFF2-40B4-BE49-F238E27FC236}">
                <a16:creationId xmlns:a16="http://schemas.microsoft.com/office/drawing/2014/main" id="{E0CF5315-0132-6B4C-96F4-B0DB43D34931}"/>
              </a:ext>
            </a:extLst>
          </p:cNvPr>
          <p:cNvPicPr>
            <a:picLocks noChangeAspect="1"/>
          </p:cNvPicPr>
          <p:nvPr/>
        </p:nvPicPr>
        <p:blipFill>
          <a:blip r:embed="rId4"/>
          <a:stretch>
            <a:fillRect/>
          </a:stretch>
        </p:blipFill>
        <p:spPr>
          <a:xfrm>
            <a:off x="920117" y="4567069"/>
            <a:ext cx="4852351" cy="581588"/>
          </a:xfrm>
          <a:prstGeom prst="rect">
            <a:avLst/>
          </a:prstGeom>
        </p:spPr>
      </p:pic>
    </p:spTree>
    <p:extLst>
      <p:ext uri="{BB962C8B-B14F-4D97-AF65-F5344CB8AC3E}">
        <p14:creationId xmlns:p14="http://schemas.microsoft.com/office/powerpoint/2010/main" val="14153668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1320462" cy="1325563"/>
          </a:xfrm>
        </p:spPr>
        <p:txBody>
          <a:bodyPr>
            <a:normAutofit/>
          </a:bodyPr>
          <a:lstStyle/>
          <a:p>
            <a:r>
              <a:rPr lang="en-CN" dirty="0">
                <a:solidFill>
                  <a:srgbClr val="FF0000"/>
                </a:solidFill>
              </a:rPr>
              <a:t>宏观态</a:t>
            </a:r>
            <a:r>
              <a:rPr lang="zh-CN" altLang="en-US" dirty="0"/>
              <a:t>（固定的系统总能量，</a:t>
            </a:r>
            <a:r>
              <a:rPr lang="en-US" altLang="zh-CN" dirty="0"/>
              <a:t>or</a:t>
            </a:r>
            <a:r>
              <a:rPr lang="zh-CN" altLang="en-US" dirty="0"/>
              <a:t> 固定的</a:t>
            </a:r>
            <a:r>
              <a:rPr lang="en-US" altLang="zh-CN" dirty="0"/>
              <a:t>s</a:t>
            </a:r>
            <a:r>
              <a:rPr lang="zh-CN" altLang="en-US" dirty="0"/>
              <a:t>）</a:t>
            </a:r>
            <a:endParaRPr lang="en-CN" dirty="0"/>
          </a:p>
        </p:txBody>
      </p:sp>
      <p:sp>
        <p:nvSpPr>
          <p:cNvPr id="4" name="TextBox 3">
            <a:extLst>
              <a:ext uri="{FF2B5EF4-FFF2-40B4-BE49-F238E27FC236}">
                <a16:creationId xmlns:a16="http://schemas.microsoft.com/office/drawing/2014/main" id="{AF270CDF-BCA0-CE4B-A580-C69808690949}"/>
              </a:ext>
            </a:extLst>
          </p:cNvPr>
          <p:cNvSpPr txBox="1"/>
          <p:nvPr/>
        </p:nvSpPr>
        <p:spPr>
          <a:xfrm>
            <a:off x="3057525" y="1301235"/>
            <a:ext cx="6429375" cy="369332"/>
          </a:xfrm>
          <a:prstGeom prst="rect">
            <a:avLst/>
          </a:prstGeom>
          <a:noFill/>
        </p:spPr>
        <p:txBody>
          <a:bodyPr wrap="square" rtlCol="0">
            <a:spAutoFit/>
          </a:bodyPr>
          <a:lstStyle/>
          <a:p>
            <a:r>
              <a:rPr lang="en-CN" dirty="0"/>
              <a:t>Question</a:t>
            </a:r>
            <a:r>
              <a:rPr lang="zh-CN" altLang="en-US" dirty="0"/>
              <a:t>：该宏观态，拥有多少个微观态呢？（</a:t>
            </a:r>
            <a:r>
              <a:rPr lang="en-US" altLang="zh-CN" dirty="0"/>
              <a:t>Multiplicity</a:t>
            </a:r>
            <a:r>
              <a:rPr lang="zh-CN" altLang="en-US" dirty="0"/>
              <a:t>）</a:t>
            </a:r>
            <a:endParaRPr lang="en-CN" dirty="0"/>
          </a:p>
        </p:txBody>
      </p:sp>
      <p:pic>
        <p:nvPicPr>
          <p:cNvPr id="6" name="Picture 5">
            <a:extLst>
              <a:ext uri="{FF2B5EF4-FFF2-40B4-BE49-F238E27FC236}">
                <a16:creationId xmlns:a16="http://schemas.microsoft.com/office/drawing/2014/main" id="{840E16E9-5EEE-A34E-88D6-4F66DB22F36C}"/>
              </a:ext>
            </a:extLst>
          </p:cNvPr>
          <p:cNvPicPr>
            <a:picLocks noChangeAspect="1"/>
          </p:cNvPicPr>
          <p:nvPr/>
        </p:nvPicPr>
        <p:blipFill>
          <a:blip r:embed="rId2"/>
          <a:stretch>
            <a:fillRect/>
          </a:stretch>
        </p:blipFill>
        <p:spPr>
          <a:xfrm>
            <a:off x="385762" y="1733430"/>
            <a:ext cx="11420475" cy="3668436"/>
          </a:xfrm>
          <a:prstGeom prst="rect">
            <a:avLst/>
          </a:prstGeom>
        </p:spPr>
      </p:pic>
      <p:pic>
        <p:nvPicPr>
          <p:cNvPr id="8" name="Picture 7">
            <a:extLst>
              <a:ext uri="{FF2B5EF4-FFF2-40B4-BE49-F238E27FC236}">
                <a16:creationId xmlns:a16="http://schemas.microsoft.com/office/drawing/2014/main" id="{F391E5D4-EFAF-324E-B908-F0EFD87CCE4A}"/>
              </a:ext>
            </a:extLst>
          </p:cNvPr>
          <p:cNvPicPr>
            <a:picLocks noChangeAspect="1"/>
          </p:cNvPicPr>
          <p:nvPr/>
        </p:nvPicPr>
        <p:blipFill>
          <a:blip r:embed="rId3"/>
          <a:stretch>
            <a:fillRect/>
          </a:stretch>
        </p:blipFill>
        <p:spPr>
          <a:xfrm>
            <a:off x="2392680" y="2811464"/>
            <a:ext cx="9413557" cy="2415230"/>
          </a:xfrm>
          <a:prstGeom prst="rect">
            <a:avLst/>
          </a:prstGeom>
        </p:spPr>
      </p:pic>
    </p:spTree>
    <p:extLst>
      <p:ext uri="{BB962C8B-B14F-4D97-AF65-F5344CB8AC3E}">
        <p14:creationId xmlns:p14="http://schemas.microsoft.com/office/powerpoint/2010/main" val="3189251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1320462" cy="1325563"/>
          </a:xfrm>
        </p:spPr>
        <p:txBody>
          <a:bodyPr>
            <a:normAutofit/>
          </a:bodyPr>
          <a:lstStyle/>
          <a:p>
            <a:r>
              <a:rPr lang="en-CN" dirty="0">
                <a:solidFill>
                  <a:srgbClr val="FF0000"/>
                </a:solidFill>
              </a:rPr>
              <a:t>宏观态</a:t>
            </a:r>
            <a:r>
              <a:rPr lang="zh-CN" altLang="en-US" dirty="0"/>
              <a:t>（固定的系统总能量，</a:t>
            </a:r>
            <a:r>
              <a:rPr lang="en-US" altLang="zh-CN" dirty="0"/>
              <a:t>or</a:t>
            </a:r>
            <a:r>
              <a:rPr lang="zh-CN" altLang="en-US" dirty="0"/>
              <a:t> 固定的</a:t>
            </a:r>
            <a:r>
              <a:rPr lang="en-US" altLang="zh-CN" dirty="0"/>
              <a:t>s</a:t>
            </a:r>
            <a:r>
              <a:rPr lang="zh-CN" altLang="en-US" dirty="0"/>
              <a:t>）</a:t>
            </a:r>
            <a:endParaRPr lang="en-CN" dirty="0"/>
          </a:p>
        </p:txBody>
      </p:sp>
      <p:sp>
        <p:nvSpPr>
          <p:cNvPr id="4" name="TextBox 3">
            <a:extLst>
              <a:ext uri="{FF2B5EF4-FFF2-40B4-BE49-F238E27FC236}">
                <a16:creationId xmlns:a16="http://schemas.microsoft.com/office/drawing/2014/main" id="{AF270CDF-BCA0-CE4B-A580-C69808690949}"/>
              </a:ext>
            </a:extLst>
          </p:cNvPr>
          <p:cNvSpPr txBox="1"/>
          <p:nvPr/>
        </p:nvSpPr>
        <p:spPr>
          <a:xfrm>
            <a:off x="3057525" y="1301235"/>
            <a:ext cx="6429375" cy="369332"/>
          </a:xfrm>
          <a:prstGeom prst="rect">
            <a:avLst/>
          </a:prstGeom>
          <a:noFill/>
        </p:spPr>
        <p:txBody>
          <a:bodyPr wrap="square" rtlCol="0">
            <a:spAutoFit/>
          </a:bodyPr>
          <a:lstStyle/>
          <a:p>
            <a:r>
              <a:rPr lang="en-CN" dirty="0"/>
              <a:t>Question</a:t>
            </a:r>
            <a:r>
              <a:rPr lang="zh-CN" altLang="en-US" dirty="0"/>
              <a:t>：该宏观态，拥有多少个微观态呢？（</a:t>
            </a:r>
            <a:r>
              <a:rPr lang="en-US" altLang="zh-CN" dirty="0"/>
              <a:t>Multiplicity</a:t>
            </a:r>
            <a:r>
              <a:rPr lang="zh-CN" altLang="en-US" dirty="0"/>
              <a:t>）</a:t>
            </a:r>
            <a:endParaRPr lang="en-CN" dirty="0"/>
          </a:p>
        </p:txBody>
      </p:sp>
      <p:pic>
        <p:nvPicPr>
          <p:cNvPr id="6" name="Picture 5">
            <a:extLst>
              <a:ext uri="{FF2B5EF4-FFF2-40B4-BE49-F238E27FC236}">
                <a16:creationId xmlns:a16="http://schemas.microsoft.com/office/drawing/2014/main" id="{840E16E9-5EEE-A34E-88D6-4F66DB22F36C}"/>
              </a:ext>
            </a:extLst>
          </p:cNvPr>
          <p:cNvPicPr>
            <a:picLocks noChangeAspect="1"/>
          </p:cNvPicPr>
          <p:nvPr/>
        </p:nvPicPr>
        <p:blipFill>
          <a:blip r:embed="rId2"/>
          <a:stretch>
            <a:fillRect/>
          </a:stretch>
        </p:blipFill>
        <p:spPr>
          <a:xfrm>
            <a:off x="385762" y="1733430"/>
            <a:ext cx="11420475" cy="3668436"/>
          </a:xfrm>
          <a:prstGeom prst="rect">
            <a:avLst/>
          </a:prstGeom>
        </p:spPr>
      </p:pic>
      <p:pic>
        <p:nvPicPr>
          <p:cNvPr id="5" name="Picture 4">
            <a:extLst>
              <a:ext uri="{FF2B5EF4-FFF2-40B4-BE49-F238E27FC236}">
                <a16:creationId xmlns:a16="http://schemas.microsoft.com/office/drawing/2014/main" id="{FE7B30C7-4361-3445-89B3-C6B5A6B77E0A}"/>
              </a:ext>
            </a:extLst>
          </p:cNvPr>
          <p:cNvPicPr>
            <a:picLocks noChangeAspect="1"/>
          </p:cNvPicPr>
          <p:nvPr/>
        </p:nvPicPr>
        <p:blipFill>
          <a:blip r:embed="rId3"/>
          <a:stretch>
            <a:fillRect/>
          </a:stretch>
        </p:blipFill>
        <p:spPr>
          <a:xfrm>
            <a:off x="6095999" y="5669397"/>
            <a:ext cx="5981700" cy="863600"/>
          </a:xfrm>
          <a:prstGeom prst="rect">
            <a:avLst/>
          </a:prstGeom>
        </p:spPr>
      </p:pic>
      <p:pic>
        <p:nvPicPr>
          <p:cNvPr id="7" name="Picture 6">
            <a:extLst>
              <a:ext uri="{FF2B5EF4-FFF2-40B4-BE49-F238E27FC236}">
                <a16:creationId xmlns:a16="http://schemas.microsoft.com/office/drawing/2014/main" id="{614C3EE7-245A-DB42-95F1-682E65912A47}"/>
              </a:ext>
            </a:extLst>
          </p:cNvPr>
          <p:cNvPicPr>
            <a:picLocks noChangeAspect="1"/>
          </p:cNvPicPr>
          <p:nvPr/>
        </p:nvPicPr>
        <p:blipFill>
          <a:blip r:embed="rId4"/>
          <a:stretch>
            <a:fillRect/>
          </a:stretch>
        </p:blipFill>
        <p:spPr>
          <a:xfrm>
            <a:off x="1029970" y="5682097"/>
            <a:ext cx="4279900" cy="850900"/>
          </a:xfrm>
          <a:prstGeom prst="rect">
            <a:avLst/>
          </a:prstGeom>
        </p:spPr>
      </p:pic>
    </p:spTree>
    <p:extLst>
      <p:ext uri="{BB962C8B-B14F-4D97-AF65-F5344CB8AC3E}">
        <p14:creationId xmlns:p14="http://schemas.microsoft.com/office/powerpoint/2010/main" val="678985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209550" y="160338"/>
            <a:ext cx="10515600" cy="1325563"/>
          </a:xfrm>
        </p:spPr>
        <p:txBody>
          <a:bodyPr>
            <a:normAutofit/>
          </a:bodyPr>
          <a:lstStyle/>
          <a:p>
            <a:r>
              <a:rPr lang="en-CN" dirty="0"/>
              <a:t>Binary</a:t>
            </a:r>
            <a:r>
              <a:rPr lang="zh-CN" altLang="en-US" dirty="0"/>
              <a:t> </a:t>
            </a:r>
            <a:r>
              <a:rPr lang="en-US" altLang="zh-CN" dirty="0"/>
              <a:t>model</a:t>
            </a:r>
            <a:r>
              <a:rPr lang="zh-CN" altLang="en-US" dirty="0"/>
              <a:t>（无相互作用）</a:t>
            </a:r>
            <a:endParaRPr lang="en-CN" dirty="0"/>
          </a:p>
        </p:txBody>
      </p:sp>
      <p:pic>
        <p:nvPicPr>
          <p:cNvPr id="2050" name="Picture 2" descr="Paramagnetism">
            <a:extLst>
              <a:ext uri="{FF2B5EF4-FFF2-40B4-BE49-F238E27FC236}">
                <a16:creationId xmlns:a16="http://schemas.microsoft.com/office/drawing/2014/main" id="{961D8F1E-F9B3-C946-ABCA-9BE4E3DF7C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2416" y="99255"/>
            <a:ext cx="2974743" cy="148737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Image">
            <a:extLst>
              <a:ext uri="{FF2B5EF4-FFF2-40B4-BE49-F238E27FC236}">
                <a16:creationId xmlns:a16="http://schemas.microsoft.com/office/drawing/2014/main" id="{1EA6C92A-A0DD-9F41-AEAA-92BEA44D9C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0412" y="2299010"/>
            <a:ext cx="4089400" cy="1524000"/>
          </a:xfrm>
          <a:prstGeom prst="rect">
            <a:avLst/>
          </a:prstGeom>
          <a:noFill/>
          <a:extLst>
            <a:ext uri="{909E8E84-426E-40DD-AFC4-6F175D3DCCD1}">
              <a14:hiddenFill xmlns:a14="http://schemas.microsoft.com/office/drawing/2010/main">
                <a:solidFill>
                  <a:srgbClr val="FFFFFF"/>
                </a:solidFill>
              </a14:hiddenFill>
            </a:ext>
          </a:extLst>
        </p:spPr>
      </p:pic>
      <p:sp>
        <p:nvSpPr>
          <p:cNvPr id="15" name="Title 1">
            <a:extLst>
              <a:ext uri="{FF2B5EF4-FFF2-40B4-BE49-F238E27FC236}">
                <a16:creationId xmlns:a16="http://schemas.microsoft.com/office/drawing/2014/main" id="{913539C7-579A-674D-8A8F-9B7AFFA01EF0}"/>
              </a:ext>
            </a:extLst>
          </p:cNvPr>
          <p:cNvSpPr txBox="1">
            <a:spLocks/>
          </p:cNvSpPr>
          <p:nvPr/>
        </p:nvSpPr>
        <p:spPr>
          <a:xfrm>
            <a:off x="529218" y="239822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CN" dirty="0"/>
              <a:t>伊</a:t>
            </a:r>
            <a:r>
              <a:rPr lang="zh-CN" altLang="en-US" dirty="0"/>
              <a:t>辛模型（相互作用</a:t>
            </a:r>
            <a:r>
              <a:rPr lang="en-US" altLang="zh-CN" dirty="0"/>
              <a:t>1</a:t>
            </a:r>
            <a:r>
              <a:rPr lang="zh-CN" altLang="en-US" dirty="0"/>
              <a:t>）</a:t>
            </a:r>
            <a:endParaRPr lang="en-CN" dirty="0"/>
          </a:p>
        </p:txBody>
      </p:sp>
      <p:pic>
        <p:nvPicPr>
          <p:cNvPr id="7" name="Picture 6">
            <a:extLst>
              <a:ext uri="{FF2B5EF4-FFF2-40B4-BE49-F238E27FC236}">
                <a16:creationId xmlns:a16="http://schemas.microsoft.com/office/drawing/2014/main" id="{A0B7BB04-A262-B648-9AED-ACCAAD984863}"/>
              </a:ext>
            </a:extLst>
          </p:cNvPr>
          <p:cNvPicPr>
            <a:picLocks noChangeAspect="1"/>
          </p:cNvPicPr>
          <p:nvPr/>
        </p:nvPicPr>
        <p:blipFill>
          <a:blip r:embed="rId4"/>
          <a:stretch>
            <a:fillRect/>
          </a:stretch>
        </p:blipFill>
        <p:spPr>
          <a:xfrm>
            <a:off x="6096000" y="2786327"/>
            <a:ext cx="1670360" cy="549363"/>
          </a:xfrm>
          <a:prstGeom prst="rect">
            <a:avLst/>
          </a:prstGeom>
        </p:spPr>
      </p:pic>
      <p:pic>
        <p:nvPicPr>
          <p:cNvPr id="2052" name="Picture 4" descr="Image">
            <a:extLst>
              <a:ext uri="{FF2B5EF4-FFF2-40B4-BE49-F238E27FC236}">
                <a16:creationId xmlns:a16="http://schemas.microsoft.com/office/drawing/2014/main" id="{26CF4085-50F9-474E-A7D0-E8E81DB7A7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6424" y="4658205"/>
            <a:ext cx="5003800" cy="1803400"/>
          </a:xfrm>
          <a:prstGeom prst="rect">
            <a:avLst/>
          </a:prstGeom>
          <a:noFill/>
          <a:extLst>
            <a:ext uri="{909E8E84-426E-40DD-AFC4-6F175D3DCCD1}">
              <a14:hiddenFill xmlns:a14="http://schemas.microsoft.com/office/drawing/2010/main">
                <a:solidFill>
                  <a:srgbClr val="FFFFFF"/>
                </a:solidFill>
              </a14:hiddenFill>
            </a:ext>
          </a:extLst>
        </p:spPr>
      </p:pic>
      <p:sp>
        <p:nvSpPr>
          <p:cNvPr id="22" name="Title 1">
            <a:extLst>
              <a:ext uri="{FF2B5EF4-FFF2-40B4-BE49-F238E27FC236}">
                <a16:creationId xmlns:a16="http://schemas.microsoft.com/office/drawing/2014/main" id="{D5C9E184-BAA0-8E4F-9F6E-D7145EFAAB77}"/>
              </a:ext>
            </a:extLst>
          </p:cNvPr>
          <p:cNvSpPr txBox="1">
            <a:spLocks/>
          </p:cNvSpPr>
          <p:nvPr/>
        </p:nvSpPr>
        <p:spPr>
          <a:xfrm>
            <a:off x="529218" y="46361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CN" dirty="0"/>
              <a:t>自旋玻璃</a:t>
            </a:r>
            <a:r>
              <a:rPr lang="zh-CN" altLang="en-US" dirty="0"/>
              <a:t>（相互作用</a:t>
            </a:r>
            <a:r>
              <a:rPr lang="en-US" altLang="zh-CN" dirty="0"/>
              <a:t>2</a:t>
            </a:r>
            <a:r>
              <a:rPr lang="zh-CN" altLang="en-US" dirty="0"/>
              <a:t>）</a:t>
            </a:r>
            <a:endParaRPr lang="en-CN" dirty="0"/>
          </a:p>
        </p:txBody>
      </p:sp>
      <p:pic>
        <p:nvPicPr>
          <p:cNvPr id="11" name="Picture 10">
            <a:extLst>
              <a:ext uri="{FF2B5EF4-FFF2-40B4-BE49-F238E27FC236}">
                <a16:creationId xmlns:a16="http://schemas.microsoft.com/office/drawing/2014/main" id="{9FA5EB9D-565B-EA4A-BA53-75C17FF21574}"/>
              </a:ext>
            </a:extLst>
          </p:cNvPr>
          <p:cNvPicPr>
            <a:picLocks noChangeAspect="1"/>
          </p:cNvPicPr>
          <p:nvPr/>
        </p:nvPicPr>
        <p:blipFill>
          <a:blip r:embed="rId6"/>
          <a:stretch>
            <a:fillRect/>
          </a:stretch>
        </p:blipFill>
        <p:spPr>
          <a:xfrm>
            <a:off x="6096000" y="5079030"/>
            <a:ext cx="1280411" cy="439737"/>
          </a:xfrm>
          <a:prstGeom prst="rect">
            <a:avLst/>
          </a:prstGeom>
        </p:spPr>
      </p:pic>
      <p:sp>
        <p:nvSpPr>
          <p:cNvPr id="12" name="Down Arrow 11">
            <a:extLst>
              <a:ext uri="{FF2B5EF4-FFF2-40B4-BE49-F238E27FC236}">
                <a16:creationId xmlns:a16="http://schemas.microsoft.com/office/drawing/2014/main" id="{0CDB187C-6FC3-7D40-94B3-8A82471ECA1B}"/>
              </a:ext>
            </a:extLst>
          </p:cNvPr>
          <p:cNvSpPr/>
          <p:nvPr/>
        </p:nvSpPr>
        <p:spPr>
          <a:xfrm>
            <a:off x="4817327" y="1293541"/>
            <a:ext cx="434897" cy="11046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3" name="Down Arrow 22">
            <a:extLst>
              <a:ext uri="{FF2B5EF4-FFF2-40B4-BE49-F238E27FC236}">
                <a16:creationId xmlns:a16="http://schemas.microsoft.com/office/drawing/2014/main" id="{D6E67306-3048-084E-BF65-F410B041EB80}"/>
              </a:ext>
            </a:extLst>
          </p:cNvPr>
          <p:cNvSpPr/>
          <p:nvPr/>
        </p:nvSpPr>
        <p:spPr>
          <a:xfrm>
            <a:off x="4817327" y="3677221"/>
            <a:ext cx="434897" cy="11046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2054" name="Picture 6" descr="诺贝尔物理学奖得主列表- 维基百科，自由的百科全书">
            <a:extLst>
              <a:ext uri="{FF2B5EF4-FFF2-40B4-BE49-F238E27FC236}">
                <a16:creationId xmlns:a16="http://schemas.microsoft.com/office/drawing/2014/main" id="{98A9C27E-30C7-EB48-978B-71B866BC52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017" y="5559905"/>
            <a:ext cx="1325563"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2287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1038225" y="2103437"/>
            <a:ext cx="10515600" cy="1325563"/>
          </a:xfrm>
        </p:spPr>
        <p:txBody>
          <a:bodyPr>
            <a:normAutofit fontScale="90000"/>
          </a:bodyPr>
          <a:lstStyle/>
          <a:p>
            <a:r>
              <a:rPr lang="en-CN" dirty="0">
                <a:solidFill>
                  <a:schemeClr val="bg1">
                    <a:lumMod val="65000"/>
                  </a:schemeClr>
                </a:solidFill>
              </a:rPr>
              <a:t>Model-I:   Binary model</a:t>
            </a:r>
            <a:br>
              <a:rPr lang="en-CN" dirty="0"/>
            </a:br>
            <a:r>
              <a:rPr lang="en-CN" dirty="0"/>
              <a:t>Model-II:  Einstein Model of Solid</a:t>
            </a:r>
            <a:br>
              <a:rPr lang="en-CN" dirty="0">
                <a:solidFill>
                  <a:schemeClr val="bg1">
                    <a:lumMod val="65000"/>
                  </a:schemeClr>
                </a:solidFill>
              </a:rPr>
            </a:br>
            <a:r>
              <a:rPr lang="en-CN" dirty="0">
                <a:solidFill>
                  <a:schemeClr val="bg1">
                    <a:lumMod val="65000"/>
                  </a:schemeClr>
                </a:solidFill>
              </a:rPr>
              <a:t>Model-III: The ideal Gas</a:t>
            </a:r>
          </a:p>
        </p:txBody>
      </p:sp>
    </p:spTree>
    <p:extLst>
      <p:ext uri="{BB962C8B-B14F-4D97-AF65-F5344CB8AC3E}">
        <p14:creationId xmlns:p14="http://schemas.microsoft.com/office/powerpoint/2010/main" val="1818442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DFC686C-6A40-A547-9D31-879D2296362B}"/>
              </a:ext>
            </a:extLst>
          </p:cNvPr>
          <p:cNvCxnSpPr/>
          <p:nvPr/>
        </p:nvCxnSpPr>
        <p:spPr>
          <a:xfrm>
            <a:off x="1528763" y="154305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F8EEC09-998D-EB46-986C-DD288C65E0D2}"/>
              </a:ext>
            </a:extLst>
          </p:cNvPr>
          <p:cNvCxnSpPr/>
          <p:nvPr/>
        </p:nvCxnSpPr>
        <p:spPr>
          <a:xfrm>
            <a:off x="1528763" y="243840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Right Arrow 7">
            <a:extLst>
              <a:ext uri="{FF2B5EF4-FFF2-40B4-BE49-F238E27FC236}">
                <a16:creationId xmlns:a16="http://schemas.microsoft.com/office/drawing/2014/main" id="{D4A7AE2E-D109-284E-9A55-A853CE95FA96}"/>
              </a:ext>
            </a:extLst>
          </p:cNvPr>
          <p:cNvSpPr/>
          <p:nvPr/>
        </p:nvSpPr>
        <p:spPr>
          <a:xfrm>
            <a:off x="4714875" y="1743076"/>
            <a:ext cx="1381125" cy="4714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cxnSp>
        <p:nvCxnSpPr>
          <p:cNvPr id="9" name="Straight Connector 8">
            <a:extLst>
              <a:ext uri="{FF2B5EF4-FFF2-40B4-BE49-F238E27FC236}">
                <a16:creationId xmlns:a16="http://schemas.microsoft.com/office/drawing/2014/main" id="{87B150E8-75DA-7A46-B877-2DE598553C2E}"/>
              </a:ext>
            </a:extLst>
          </p:cNvPr>
          <p:cNvCxnSpPr/>
          <p:nvPr/>
        </p:nvCxnSpPr>
        <p:spPr>
          <a:xfrm>
            <a:off x="7210425" y="272415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1D1835-2933-854E-88E8-A726DDC3228A}"/>
              </a:ext>
            </a:extLst>
          </p:cNvPr>
          <p:cNvCxnSpPr/>
          <p:nvPr/>
        </p:nvCxnSpPr>
        <p:spPr>
          <a:xfrm>
            <a:off x="7210425" y="316945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4435C7-1DA1-6548-812B-50DBF36ED406}"/>
              </a:ext>
            </a:extLst>
          </p:cNvPr>
          <p:cNvCxnSpPr/>
          <p:nvPr/>
        </p:nvCxnSpPr>
        <p:spPr>
          <a:xfrm>
            <a:off x="7210425" y="18288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1FBFB0A-C101-9642-80C0-C46D300335F3}"/>
              </a:ext>
            </a:extLst>
          </p:cNvPr>
          <p:cNvCxnSpPr/>
          <p:nvPr/>
        </p:nvCxnSpPr>
        <p:spPr>
          <a:xfrm>
            <a:off x="7210425" y="22741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6BB74B8-0069-204B-B160-467F56DD3368}"/>
              </a:ext>
            </a:extLst>
          </p:cNvPr>
          <p:cNvCxnSpPr/>
          <p:nvPr/>
        </p:nvCxnSpPr>
        <p:spPr>
          <a:xfrm>
            <a:off x="7186612" y="9906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8021A86-2B02-4647-8168-A885E0087756}"/>
              </a:ext>
            </a:extLst>
          </p:cNvPr>
          <p:cNvCxnSpPr/>
          <p:nvPr/>
        </p:nvCxnSpPr>
        <p:spPr>
          <a:xfrm>
            <a:off x="7186612" y="14359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EBA4F0-5AE9-9641-9648-666C12AC47D3}"/>
              </a:ext>
            </a:extLst>
          </p:cNvPr>
          <p:cNvSpPr txBox="1"/>
          <p:nvPr/>
        </p:nvSpPr>
        <p:spPr>
          <a:xfrm>
            <a:off x="7786688" y="0"/>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sp>
        <p:nvSpPr>
          <p:cNvPr id="18" name="TextBox 17">
            <a:extLst>
              <a:ext uri="{FF2B5EF4-FFF2-40B4-BE49-F238E27FC236}">
                <a16:creationId xmlns:a16="http://schemas.microsoft.com/office/drawing/2014/main" id="{F142CC9E-FB78-6C4F-A492-F2325D4B3811}"/>
              </a:ext>
            </a:extLst>
          </p:cNvPr>
          <p:cNvSpPr txBox="1"/>
          <p:nvPr/>
        </p:nvSpPr>
        <p:spPr>
          <a:xfrm>
            <a:off x="1343025" y="3409618"/>
            <a:ext cx="8843963" cy="461665"/>
          </a:xfrm>
          <a:prstGeom prst="rect">
            <a:avLst/>
          </a:prstGeom>
          <a:noFill/>
        </p:spPr>
        <p:txBody>
          <a:bodyPr wrap="square" rtlCol="0">
            <a:spAutoFit/>
          </a:bodyPr>
          <a:lstStyle/>
          <a:p>
            <a:r>
              <a:rPr lang="en-CN" sz="2400" dirty="0">
                <a:solidFill>
                  <a:srgbClr val="FF0000"/>
                </a:solidFill>
              </a:rPr>
              <a:t>谐振子</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BA9856C-CEDE-6B4F-B766-E0522355F6A0}"/>
                  </a:ext>
                </a:extLst>
              </p:cNvPr>
              <p:cNvSpPr txBox="1"/>
              <p:nvPr/>
            </p:nvSpPr>
            <p:spPr>
              <a:xfrm>
                <a:off x="2616993" y="3245322"/>
                <a:ext cx="6296025" cy="7940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CN" sz="2400" i="1" smtClean="0">
                          <a:latin typeface="Cambria Math" panose="02040503050406030204" pitchFamily="18" charset="0"/>
                        </a:rPr>
                        <m:t>E</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rPr>
                        <m:t>h𝑓</m:t>
                      </m:r>
                    </m:oMath>
                  </m:oMathPara>
                </a14:m>
                <a:endParaRPr lang="en-CN" sz="2400" dirty="0"/>
              </a:p>
            </p:txBody>
          </p:sp>
        </mc:Choice>
        <mc:Fallback xmlns="">
          <p:sp>
            <p:nvSpPr>
              <p:cNvPr id="19" name="TextBox 18">
                <a:extLst>
                  <a:ext uri="{FF2B5EF4-FFF2-40B4-BE49-F238E27FC236}">
                    <a16:creationId xmlns:a16="http://schemas.microsoft.com/office/drawing/2014/main" id="{5BA9856C-CEDE-6B4F-B766-E0522355F6A0}"/>
                  </a:ext>
                </a:extLst>
              </p:cNvPr>
              <p:cNvSpPr txBox="1">
                <a:spLocks noRot="1" noChangeAspect="1" noMove="1" noResize="1" noEditPoints="1" noAdjustHandles="1" noChangeArrowheads="1" noChangeShapeType="1" noTextEdit="1"/>
              </p:cNvSpPr>
              <p:nvPr/>
            </p:nvSpPr>
            <p:spPr>
              <a:xfrm>
                <a:off x="2616993" y="3245322"/>
                <a:ext cx="6296025" cy="794064"/>
              </a:xfrm>
              <a:prstGeom prst="rect">
                <a:avLst/>
              </a:prstGeom>
              <a:blipFill>
                <a:blip r:embed="rId2"/>
                <a:stretch>
                  <a:fillRect b="-4688"/>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6310889-550B-E544-BB9B-365AC514DA8D}"/>
                  </a:ext>
                </a:extLst>
              </p:cNvPr>
              <p:cNvSpPr txBox="1"/>
              <p:nvPr/>
            </p:nvSpPr>
            <p:spPr>
              <a:xfrm>
                <a:off x="1343025" y="3929123"/>
                <a:ext cx="9751695" cy="624273"/>
              </a:xfrm>
              <a:prstGeom prst="rect">
                <a:avLst/>
              </a:prstGeom>
              <a:noFill/>
            </p:spPr>
            <p:txBody>
              <a:bodyPr wrap="square" rtlCol="0">
                <a:spAutoFit/>
              </a:bodyPr>
              <a:lstStyle/>
              <a:p>
                <a:r>
                  <a:rPr lang="en-CN" sz="2400" dirty="0"/>
                  <a:t>平移之</a:t>
                </a:r>
                <a:r>
                  <a:rPr lang="zh-CN" altLang="en-US" sz="2400" dirty="0"/>
                  <a:t>                    </a:t>
                </a:r>
                <a14:m>
                  <m:oMath xmlns:m="http://schemas.openxmlformats.org/officeDocument/2006/math">
                    <m:r>
                      <a:rPr lang="en-US" altLang="zh-CN" sz="2400" b="0" i="1" smtClean="0">
                        <a:latin typeface="Cambria Math" panose="02040503050406030204" pitchFamily="18" charset="0"/>
                      </a:rPr>
                      <m:t>𝐸</m:t>
                    </m:r>
                    <m:r>
                      <a:rPr lang="en-US" altLang="zh-CN" sz="2400" b="0" i="1" smtClean="0">
                        <a:latin typeface="Cambria Math" panose="02040503050406030204" pitchFamily="18" charset="0"/>
                      </a:rPr>
                      <m:t>=0 </m:t>
                    </m:r>
                    <m:r>
                      <a:rPr lang="en-US" altLang="zh-CN" sz="2400" b="0" i="1" smtClean="0">
                        <a:latin typeface="Cambria Math" panose="02040503050406030204" pitchFamily="18" charset="0"/>
                      </a:rPr>
                      <m:t>h𝑓</m:t>
                    </m:r>
                    <m:r>
                      <a:rPr lang="en-US" altLang="zh-CN" sz="2400" b="0" i="1" smtClean="0">
                        <a:latin typeface="Cambria Math" panose="02040503050406030204" pitchFamily="18" charset="0"/>
                      </a:rPr>
                      <m:t>,  1</m:t>
                    </m:r>
                    <m:r>
                      <a:rPr lang="en-US" altLang="zh-CN" sz="2400" b="0" i="1" smtClean="0">
                        <a:latin typeface="Cambria Math" panose="02040503050406030204" pitchFamily="18" charset="0"/>
                      </a:rPr>
                      <m:t>h𝑓</m:t>
                    </m:r>
                    <m:r>
                      <a:rPr lang="en-US" altLang="zh-CN" sz="2400" b="0" i="1" smtClean="0">
                        <a:latin typeface="Cambria Math" panose="02040503050406030204" pitchFamily="18" charset="0"/>
                      </a:rPr>
                      <m:t>,  2</m:t>
                    </m:r>
                    <m:r>
                      <a:rPr lang="en-US" altLang="zh-CN" sz="2400" b="0" i="1" smtClean="0">
                        <a:latin typeface="Cambria Math" panose="02040503050406030204" pitchFamily="18" charset="0"/>
                      </a:rPr>
                      <m:t>h𝑓</m:t>
                    </m:r>
                    <m:r>
                      <a:rPr lang="en-US" altLang="zh-CN" sz="2400" b="0" i="1" smtClean="0">
                        <a:latin typeface="Cambria Math" panose="02040503050406030204" pitchFamily="18" charset="0"/>
                      </a:rPr>
                      <m:t>,  …  </m:t>
                    </m:r>
                    <m:r>
                      <a:rPr lang="zh-CN" altLang="en-US" sz="2400" i="1">
                        <a:latin typeface="Cambria Math" panose="02040503050406030204" pitchFamily="18" charset="0"/>
                      </a:rPr>
                      <m:t>能量</m:t>
                    </m:r>
                    <m:r>
                      <a:rPr lang="zh-CN" altLang="en-US" sz="2400" i="1" smtClean="0">
                        <a:latin typeface="Cambria Math" panose="02040503050406030204" pitchFamily="18" charset="0"/>
                      </a:rPr>
                      <m:t>单元</m:t>
                    </m:r>
                    <m:r>
                      <a:rPr lang="zh-CN" altLang="en-US" sz="2400" b="0" i="1" smtClean="0">
                        <a:latin typeface="Cambria Math" panose="02040503050406030204" pitchFamily="18" charset="0"/>
                      </a:rPr>
                      <m:t> </m:t>
                    </m:r>
                    <m:r>
                      <a:rPr lang="en-US" altLang="zh-CN" sz="2400" b="0" i="1" smtClean="0">
                        <a:latin typeface="Cambria Math" panose="02040503050406030204" pitchFamily="18" charset="0"/>
                      </a:rPr>
                      <m:t>h𝑓</m:t>
                    </m:r>
                    <m:r>
                      <a:rPr lang="en-US" altLang="zh-CN" sz="2400" b="0" i="1" smtClean="0">
                        <a:latin typeface="Cambria Math" panose="02040503050406030204" pitchFamily="18" charset="0"/>
                        <a:ea typeface="Cambria Math" panose="02040503050406030204" pitchFamily="18" charset="0"/>
                      </a:rPr>
                      <m:t>=</m:t>
                    </m:r>
                    <m:f>
                      <m:fPr>
                        <m:ctrlPr>
                          <a:rPr lang="en-US" altLang="zh-CN" sz="2400" b="0" i="1" smtClean="0">
                            <a:latin typeface="Cambria Math" panose="02040503050406030204" pitchFamily="18" charset="0"/>
                            <a:ea typeface="Cambria Math" panose="02040503050406030204" pitchFamily="18" charset="0"/>
                          </a:rPr>
                        </m:ctrlPr>
                      </m:fPr>
                      <m:num>
                        <m:r>
                          <a:rPr lang="en-US" altLang="zh-CN" sz="2400" b="0" i="1" smtClean="0">
                            <a:latin typeface="Cambria Math" panose="02040503050406030204" pitchFamily="18" charset="0"/>
                            <a:ea typeface="Cambria Math" panose="02040503050406030204" pitchFamily="18" charset="0"/>
                          </a:rPr>
                          <m:t>h</m:t>
                        </m:r>
                      </m:num>
                      <m:den>
                        <m:r>
                          <a:rPr lang="en-US" altLang="zh-CN" sz="2400" b="0" i="1" smtClean="0">
                            <a:latin typeface="Cambria Math" panose="02040503050406030204" pitchFamily="18" charset="0"/>
                            <a:ea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𝜋</m:t>
                        </m:r>
                      </m:den>
                    </m:f>
                    <m:r>
                      <a:rPr lang="en-US" altLang="zh-CN" sz="2400" b="0" i="1" smtClean="0">
                        <a:latin typeface="Cambria Math" panose="02040503050406030204" pitchFamily="18" charset="0"/>
                        <a:ea typeface="Cambria Math" panose="02040503050406030204" pitchFamily="18" charset="0"/>
                      </a:rPr>
                      <m:t> 2</m:t>
                    </m:r>
                    <m:r>
                      <a:rPr lang="en-US" altLang="zh-CN" sz="2400" b="0" i="1" smtClean="0">
                        <a:latin typeface="Cambria Math" panose="02040503050406030204" pitchFamily="18" charset="0"/>
                        <a:ea typeface="Cambria Math" panose="02040503050406030204" pitchFamily="18" charset="0"/>
                      </a:rPr>
                      <m:t>𝜋</m:t>
                    </m:r>
                    <m:r>
                      <a:rPr lang="en-US" altLang="zh-CN" sz="2400" b="0" i="1" smtClean="0">
                        <a:latin typeface="Cambria Math" panose="02040503050406030204" pitchFamily="18" charset="0"/>
                        <a:ea typeface="Cambria Math" panose="02040503050406030204" pitchFamily="18" charset="0"/>
                      </a:rPr>
                      <m:t>𝑓</m:t>
                    </m:r>
                    <m:r>
                      <a:rPr lang="en-US" altLang="zh-CN" sz="2400" b="0" i="1" smtClean="0">
                        <a:latin typeface="Cambria Math" panose="02040503050406030204" pitchFamily="18" charset="0"/>
                        <a:ea typeface="Cambria Math" panose="02040503050406030204" pitchFamily="18" charset="0"/>
                      </a:rPr>
                      <m:t>=ℏ</m:t>
                    </m:r>
                    <m:r>
                      <a:rPr lang="en-US" altLang="zh-CN" sz="2400" b="0" i="1" smtClean="0">
                        <a:latin typeface="Cambria Math" panose="02040503050406030204" pitchFamily="18" charset="0"/>
                        <a:ea typeface="Cambria Math" panose="02040503050406030204" pitchFamily="18" charset="0"/>
                      </a:rPr>
                      <m:t>𝜔</m:t>
                    </m:r>
                  </m:oMath>
                </a14:m>
                <a:endParaRPr lang="en-CN" sz="2400" dirty="0"/>
              </a:p>
            </p:txBody>
          </p:sp>
        </mc:Choice>
        <mc:Fallback xmlns="">
          <p:sp>
            <p:nvSpPr>
              <p:cNvPr id="20" name="TextBox 19">
                <a:extLst>
                  <a:ext uri="{FF2B5EF4-FFF2-40B4-BE49-F238E27FC236}">
                    <a16:creationId xmlns:a16="http://schemas.microsoft.com/office/drawing/2014/main" id="{96310889-550B-E544-BB9B-365AC514DA8D}"/>
                  </a:ext>
                </a:extLst>
              </p:cNvPr>
              <p:cNvSpPr txBox="1">
                <a:spLocks noRot="1" noChangeAspect="1" noMove="1" noResize="1" noEditPoints="1" noAdjustHandles="1" noChangeArrowheads="1" noChangeShapeType="1" noTextEdit="1"/>
              </p:cNvSpPr>
              <p:nvPr/>
            </p:nvSpPr>
            <p:spPr>
              <a:xfrm>
                <a:off x="1343025" y="3929123"/>
                <a:ext cx="9751695" cy="624273"/>
              </a:xfrm>
              <a:prstGeom prst="rect">
                <a:avLst/>
              </a:prstGeom>
              <a:blipFill>
                <a:blip r:embed="rId3"/>
                <a:stretch>
                  <a:fillRect l="-910" b="-8000"/>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87340209-2228-2E4A-ADBC-8DDD8E9EA89E}"/>
              </a:ext>
            </a:extLst>
          </p:cNvPr>
          <p:cNvSpPr txBox="1"/>
          <p:nvPr/>
        </p:nvSpPr>
        <p:spPr>
          <a:xfrm>
            <a:off x="1343025" y="441960"/>
            <a:ext cx="2101215" cy="369332"/>
          </a:xfrm>
          <a:prstGeom prst="rect">
            <a:avLst/>
          </a:prstGeom>
          <a:noFill/>
        </p:spPr>
        <p:txBody>
          <a:bodyPr wrap="square" rtlCol="0">
            <a:spAutoFit/>
          </a:bodyPr>
          <a:lstStyle/>
          <a:p>
            <a:r>
              <a:rPr lang="en-CN" dirty="0"/>
              <a:t>Binary(二能级系统)</a:t>
            </a:r>
          </a:p>
        </p:txBody>
      </p:sp>
      <p:sp>
        <p:nvSpPr>
          <p:cNvPr id="3" name="TextBox 2">
            <a:extLst>
              <a:ext uri="{FF2B5EF4-FFF2-40B4-BE49-F238E27FC236}">
                <a16:creationId xmlns:a16="http://schemas.microsoft.com/office/drawing/2014/main" id="{9D1783AB-1041-2B45-8A7A-BFB67E7D41EF}"/>
              </a:ext>
            </a:extLst>
          </p:cNvPr>
          <p:cNvSpPr txBox="1"/>
          <p:nvPr/>
        </p:nvSpPr>
        <p:spPr>
          <a:xfrm>
            <a:off x="4480560" y="1209674"/>
            <a:ext cx="2331720" cy="369332"/>
          </a:xfrm>
          <a:prstGeom prst="rect">
            <a:avLst/>
          </a:prstGeom>
          <a:noFill/>
        </p:spPr>
        <p:txBody>
          <a:bodyPr wrap="square" rtlCol="0">
            <a:spAutoFit/>
          </a:bodyPr>
          <a:lstStyle/>
          <a:p>
            <a:r>
              <a:rPr lang="en-CN" dirty="0"/>
              <a:t>等间距</a:t>
            </a:r>
            <a:r>
              <a:rPr lang="zh-CN" altLang="en-US" dirty="0"/>
              <a:t>，无穷多能级</a:t>
            </a:r>
            <a:endParaRPr lang="en-CN" dirty="0"/>
          </a:p>
        </p:txBody>
      </p:sp>
      <p:pic>
        <p:nvPicPr>
          <p:cNvPr id="4" name="Picture 3">
            <a:extLst>
              <a:ext uri="{FF2B5EF4-FFF2-40B4-BE49-F238E27FC236}">
                <a16:creationId xmlns:a16="http://schemas.microsoft.com/office/drawing/2014/main" id="{C3AAE095-2715-4652-CD37-8C857AFBD104}"/>
              </a:ext>
            </a:extLst>
          </p:cNvPr>
          <p:cNvPicPr>
            <a:picLocks noChangeAspect="1"/>
          </p:cNvPicPr>
          <p:nvPr/>
        </p:nvPicPr>
        <p:blipFill>
          <a:blip r:embed="rId4"/>
          <a:stretch>
            <a:fillRect/>
          </a:stretch>
        </p:blipFill>
        <p:spPr>
          <a:xfrm>
            <a:off x="7306792" y="4587971"/>
            <a:ext cx="4534025" cy="2102302"/>
          </a:xfrm>
          <a:prstGeom prst="rect">
            <a:avLst/>
          </a:prstGeom>
        </p:spPr>
      </p:pic>
      <p:pic>
        <p:nvPicPr>
          <p:cNvPr id="11" name="Picture 10">
            <a:extLst>
              <a:ext uri="{FF2B5EF4-FFF2-40B4-BE49-F238E27FC236}">
                <a16:creationId xmlns:a16="http://schemas.microsoft.com/office/drawing/2014/main" id="{13107BF1-AC8E-8061-A60C-5C1C85ABE5DF}"/>
              </a:ext>
            </a:extLst>
          </p:cNvPr>
          <p:cNvPicPr>
            <a:picLocks noChangeAspect="1"/>
          </p:cNvPicPr>
          <p:nvPr/>
        </p:nvPicPr>
        <p:blipFill>
          <a:blip r:embed="rId5"/>
          <a:stretch>
            <a:fillRect/>
          </a:stretch>
        </p:blipFill>
        <p:spPr>
          <a:xfrm>
            <a:off x="1995195" y="4653468"/>
            <a:ext cx="2610436" cy="2036805"/>
          </a:xfrm>
          <a:prstGeom prst="rect">
            <a:avLst/>
          </a:prstGeom>
        </p:spPr>
      </p:pic>
    </p:spTree>
    <p:extLst>
      <p:ext uri="{BB962C8B-B14F-4D97-AF65-F5344CB8AC3E}">
        <p14:creationId xmlns:p14="http://schemas.microsoft.com/office/powerpoint/2010/main" val="21271155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7B150E8-75DA-7A46-B877-2DE598553C2E}"/>
              </a:ext>
            </a:extLst>
          </p:cNvPr>
          <p:cNvCxnSpPr/>
          <p:nvPr/>
        </p:nvCxnSpPr>
        <p:spPr>
          <a:xfrm>
            <a:off x="409567" y="272415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1D1835-2933-854E-88E8-A726DDC3228A}"/>
              </a:ext>
            </a:extLst>
          </p:cNvPr>
          <p:cNvCxnSpPr/>
          <p:nvPr/>
        </p:nvCxnSpPr>
        <p:spPr>
          <a:xfrm>
            <a:off x="409567" y="316945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4435C7-1DA1-6548-812B-50DBF36ED406}"/>
              </a:ext>
            </a:extLst>
          </p:cNvPr>
          <p:cNvCxnSpPr/>
          <p:nvPr/>
        </p:nvCxnSpPr>
        <p:spPr>
          <a:xfrm>
            <a:off x="409567" y="18288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1FBFB0A-C101-9642-80C0-C46D300335F3}"/>
              </a:ext>
            </a:extLst>
          </p:cNvPr>
          <p:cNvCxnSpPr/>
          <p:nvPr/>
        </p:nvCxnSpPr>
        <p:spPr>
          <a:xfrm>
            <a:off x="409567" y="22741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6BB74B8-0069-204B-B160-467F56DD3368}"/>
              </a:ext>
            </a:extLst>
          </p:cNvPr>
          <p:cNvCxnSpPr/>
          <p:nvPr/>
        </p:nvCxnSpPr>
        <p:spPr>
          <a:xfrm>
            <a:off x="385754" y="9906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8021A86-2B02-4647-8168-A885E0087756}"/>
              </a:ext>
            </a:extLst>
          </p:cNvPr>
          <p:cNvCxnSpPr/>
          <p:nvPr/>
        </p:nvCxnSpPr>
        <p:spPr>
          <a:xfrm>
            <a:off x="385754" y="14359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EBA4F0-5AE9-9641-9648-666C12AC47D3}"/>
              </a:ext>
            </a:extLst>
          </p:cNvPr>
          <p:cNvSpPr txBox="1"/>
          <p:nvPr/>
        </p:nvSpPr>
        <p:spPr>
          <a:xfrm>
            <a:off x="985830" y="0"/>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cxnSp>
        <p:nvCxnSpPr>
          <p:cNvPr id="21" name="Straight Connector 20">
            <a:extLst>
              <a:ext uri="{FF2B5EF4-FFF2-40B4-BE49-F238E27FC236}">
                <a16:creationId xmlns:a16="http://schemas.microsoft.com/office/drawing/2014/main" id="{55B723F9-903B-D842-AA40-787826A3B0D4}"/>
              </a:ext>
            </a:extLst>
          </p:cNvPr>
          <p:cNvCxnSpPr/>
          <p:nvPr/>
        </p:nvCxnSpPr>
        <p:spPr>
          <a:xfrm>
            <a:off x="3019417" y="272415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FC24D4-FAE4-DD41-AF60-111240DD835C}"/>
              </a:ext>
            </a:extLst>
          </p:cNvPr>
          <p:cNvCxnSpPr/>
          <p:nvPr/>
        </p:nvCxnSpPr>
        <p:spPr>
          <a:xfrm>
            <a:off x="3019417" y="316945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40E57C8-7F44-384A-AC8F-4EA5514F25C3}"/>
              </a:ext>
            </a:extLst>
          </p:cNvPr>
          <p:cNvCxnSpPr/>
          <p:nvPr/>
        </p:nvCxnSpPr>
        <p:spPr>
          <a:xfrm>
            <a:off x="3019417" y="18288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1917941-C200-F14F-A28E-2829D61A0919}"/>
              </a:ext>
            </a:extLst>
          </p:cNvPr>
          <p:cNvCxnSpPr/>
          <p:nvPr/>
        </p:nvCxnSpPr>
        <p:spPr>
          <a:xfrm>
            <a:off x="3019417" y="22741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8D07C2F-5904-4640-86EF-828CECBE6844}"/>
              </a:ext>
            </a:extLst>
          </p:cNvPr>
          <p:cNvCxnSpPr/>
          <p:nvPr/>
        </p:nvCxnSpPr>
        <p:spPr>
          <a:xfrm>
            <a:off x="2995604" y="9906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9D52E37-C3AD-DF4C-9A81-0DBCEEDCB618}"/>
              </a:ext>
            </a:extLst>
          </p:cNvPr>
          <p:cNvCxnSpPr/>
          <p:nvPr/>
        </p:nvCxnSpPr>
        <p:spPr>
          <a:xfrm>
            <a:off x="2995604" y="14359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04E8605-083E-894F-B059-A4A1A4272BF5}"/>
              </a:ext>
            </a:extLst>
          </p:cNvPr>
          <p:cNvSpPr txBox="1"/>
          <p:nvPr/>
        </p:nvSpPr>
        <p:spPr>
          <a:xfrm>
            <a:off x="3595680" y="0"/>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cxnSp>
        <p:nvCxnSpPr>
          <p:cNvPr id="28" name="Straight Connector 27">
            <a:extLst>
              <a:ext uri="{FF2B5EF4-FFF2-40B4-BE49-F238E27FC236}">
                <a16:creationId xmlns:a16="http://schemas.microsoft.com/office/drawing/2014/main" id="{7CB5A418-944A-6D44-B708-E699CA3FD959}"/>
              </a:ext>
            </a:extLst>
          </p:cNvPr>
          <p:cNvCxnSpPr/>
          <p:nvPr/>
        </p:nvCxnSpPr>
        <p:spPr>
          <a:xfrm>
            <a:off x="5367322" y="2723276"/>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9036ED-C519-DD46-AD5C-CA0FC9CC98EF}"/>
              </a:ext>
            </a:extLst>
          </p:cNvPr>
          <p:cNvCxnSpPr/>
          <p:nvPr/>
        </p:nvCxnSpPr>
        <p:spPr>
          <a:xfrm>
            <a:off x="5367322" y="316857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F03214F-6B4D-B444-BE1E-B9B7D74D379B}"/>
              </a:ext>
            </a:extLst>
          </p:cNvPr>
          <p:cNvCxnSpPr/>
          <p:nvPr/>
        </p:nvCxnSpPr>
        <p:spPr>
          <a:xfrm>
            <a:off x="5367322" y="1827926"/>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C9534A0-9F84-9D4D-8773-D7B3D4C17AF0}"/>
              </a:ext>
            </a:extLst>
          </p:cNvPr>
          <p:cNvCxnSpPr/>
          <p:nvPr/>
        </p:nvCxnSpPr>
        <p:spPr>
          <a:xfrm>
            <a:off x="5367322" y="227322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D3CD718-7E7D-F145-88DD-4FA772C307FE}"/>
              </a:ext>
            </a:extLst>
          </p:cNvPr>
          <p:cNvCxnSpPr/>
          <p:nvPr/>
        </p:nvCxnSpPr>
        <p:spPr>
          <a:xfrm>
            <a:off x="5343509" y="989726"/>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B66AE8-259F-2048-BF30-C7A92AB8F265}"/>
              </a:ext>
            </a:extLst>
          </p:cNvPr>
          <p:cNvCxnSpPr/>
          <p:nvPr/>
        </p:nvCxnSpPr>
        <p:spPr>
          <a:xfrm>
            <a:off x="5343509" y="143502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78B0242-C027-8946-BD56-CCD4291D0D9A}"/>
              </a:ext>
            </a:extLst>
          </p:cNvPr>
          <p:cNvSpPr txBox="1"/>
          <p:nvPr/>
        </p:nvSpPr>
        <p:spPr>
          <a:xfrm>
            <a:off x="5943585" y="-883"/>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cxnSp>
        <p:nvCxnSpPr>
          <p:cNvPr id="35" name="Straight Connector 34">
            <a:extLst>
              <a:ext uri="{FF2B5EF4-FFF2-40B4-BE49-F238E27FC236}">
                <a16:creationId xmlns:a16="http://schemas.microsoft.com/office/drawing/2014/main" id="{6B88F765-D4FF-864C-A7AC-DAD1F77B7743}"/>
              </a:ext>
            </a:extLst>
          </p:cNvPr>
          <p:cNvCxnSpPr/>
          <p:nvPr/>
        </p:nvCxnSpPr>
        <p:spPr>
          <a:xfrm>
            <a:off x="9958349" y="272239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FEB9DD-390F-FA4D-98A8-4C8BD7EF89B4}"/>
              </a:ext>
            </a:extLst>
          </p:cNvPr>
          <p:cNvCxnSpPr/>
          <p:nvPr/>
        </p:nvCxnSpPr>
        <p:spPr>
          <a:xfrm>
            <a:off x="9958349" y="3167687"/>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4F0EFCB-FF2E-5D44-8E1D-79A1BEFC87B1}"/>
              </a:ext>
            </a:extLst>
          </p:cNvPr>
          <p:cNvCxnSpPr/>
          <p:nvPr/>
        </p:nvCxnSpPr>
        <p:spPr>
          <a:xfrm>
            <a:off x="9958349" y="182704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3020DCB-FBE6-ED49-A508-451F4F89F5E0}"/>
              </a:ext>
            </a:extLst>
          </p:cNvPr>
          <p:cNvCxnSpPr/>
          <p:nvPr/>
        </p:nvCxnSpPr>
        <p:spPr>
          <a:xfrm>
            <a:off x="9958349" y="2272337"/>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D4C454F-715A-E549-A05F-FF8276429114}"/>
              </a:ext>
            </a:extLst>
          </p:cNvPr>
          <p:cNvCxnSpPr/>
          <p:nvPr/>
        </p:nvCxnSpPr>
        <p:spPr>
          <a:xfrm>
            <a:off x="9934536" y="98884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D1652F8-BA2D-C64C-8249-3CCDEB8595D8}"/>
              </a:ext>
            </a:extLst>
          </p:cNvPr>
          <p:cNvCxnSpPr/>
          <p:nvPr/>
        </p:nvCxnSpPr>
        <p:spPr>
          <a:xfrm>
            <a:off x="9934536" y="1434137"/>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2312A0A-BD61-2C47-9A26-37ACE26A08A1}"/>
              </a:ext>
            </a:extLst>
          </p:cNvPr>
          <p:cNvSpPr txBox="1"/>
          <p:nvPr/>
        </p:nvSpPr>
        <p:spPr>
          <a:xfrm>
            <a:off x="10534612" y="-1766"/>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sp>
        <p:nvSpPr>
          <p:cNvPr id="2" name="TextBox 1">
            <a:extLst>
              <a:ext uri="{FF2B5EF4-FFF2-40B4-BE49-F238E27FC236}">
                <a16:creationId xmlns:a16="http://schemas.microsoft.com/office/drawing/2014/main" id="{4DA4F496-4786-D94E-A013-01CD659E963E}"/>
              </a:ext>
            </a:extLst>
          </p:cNvPr>
          <p:cNvSpPr txBox="1"/>
          <p:nvPr/>
        </p:nvSpPr>
        <p:spPr>
          <a:xfrm>
            <a:off x="7715250" y="1827043"/>
            <a:ext cx="1500188" cy="369332"/>
          </a:xfrm>
          <a:prstGeom prst="rect">
            <a:avLst/>
          </a:prstGeom>
          <a:noFill/>
        </p:spPr>
        <p:txBody>
          <a:bodyPr wrap="square" rtlCol="0">
            <a:spAutoFit/>
          </a:bodyPr>
          <a:lstStyle/>
          <a:p>
            <a:r>
              <a:rPr lang="zh-CN" altLang="en-US" dirty="0"/>
              <a:t>。。。。。。</a:t>
            </a:r>
            <a:endParaRPr lang="en-CN" dirty="0"/>
          </a:p>
        </p:txBody>
      </p:sp>
      <p:sp>
        <p:nvSpPr>
          <p:cNvPr id="3" name="Right Brace 2">
            <a:extLst>
              <a:ext uri="{FF2B5EF4-FFF2-40B4-BE49-F238E27FC236}">
                <a16:creationId xmlns:a16="http://schemas.microsoft.com/office/drawing/2014/main" id="{C8E9C0E8-92C2-3B4C-90B3-4EB75003DDF8}"/>
              </a:ext>
            </a:extLst>
          </p:cNvPr>
          <p:cNvSpPr/>
          <p:nvPr/>
        </p:nvSpPr>
        <p:spPr>
          <a:xfrm rot="5400000">
            <a:off x="5765010" y="-833944"/>
            <a:ext cx="633350" cy="890585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4" name="TextBox 3">
            <a:extLst>
              <a:ext uri="{FF2B5EF4-FFF2-40B4-BE49-F238E27FC236}">
                <a16:creationId xmlns:a16="http://schemas.microsoft.com/office/drawing/2014/main" id="{74D0CFC9-DB61-314E-A57E-D07E9A174727}"/>
              </a:ext>
            </a:extLst>
          </p:cNvPr>
          <p:cNvSpPr txBox="1"/>
          <p:nvPr/>
        </p:nvSpPr>
        <p:spPr>
          <a:xfrm>
            <a:off x="4200510" y="3951593"/>
            <a:ext cx="4288170" cy="369332"/>
          </a:xfrm>
          <a:prstGeom prst="rect">
            <a:avLst/>
          </a:prstGeom>
          <a:noFill/>
        </p:spPr>
        <p:txBody>
          <a:bodyPr wrap="square" rtlCol="0">
            <a:spAutoFit/>
          </a:bodyPr>
          <a:lstStyle/>
          <a:p>
            <a:r>
              <a:rPr lang="en-CN" dirty="0"/>
              <a:t>N个没有相互作用的谐振子所组成的系统</a:t>
            </a:r>
          </a:p>
        </p:txBody>
      </p:sp>
      <p:sp>
        <p:nvSpPr>
          <p:cNvPr id="11" name="Right Arrow 10">
            <a:extLst>
              <a:ext uri="{FF2B5EF4-FFF2-40B4-BE49-F238E27FC236}">
                <a16:creationId xmlns:a16="http://schemas.microsoft.com/office/drawing/2014/main" id="{CD785857-2E3A-9347-8888-C519602DBF2B}"/>
              </a:ext>
            </a:extLst>
          </p:cNvPr>
          <p:cNvSpPr/>
          <p:nvPr/>
        </p:nvSpPr>
        <p:spPr>
          <a:xfrm>
            <a:off x="5129213" y="5386388"/>
            <a:ext cx="2586037"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2" name="TextBox 11">
            <a:extLst>
              <a:ext uri="{FF2B5EF4-FFF2-40B4-BE49-F238E27FC236}">
                <a16:creationId xmlns:a16="http://schemas.microsoft.com/office/drawing/2014/main" id="{99BFD640-4766-8B41-8992-D7F574EADA4D}"/>
              </a:ext>
            </a:extLst>
          </p:cNvPr>
          <p:cNvSpPr txBox="1"/>
          <p:nvPr/>
        </p:nvSpPr>
        <p:spPr>
          <a:xfrm>
            <a:off x="8187889" y="4432683"/>
            <a:ext cx="3493294" cy="1754326"/>
          </a:xfrm>
          <a:prstGeom prst="rect">
            <a:avLst/>
          </a:prstGeom>
          <a:noFill/>
        </p:spPr>
        <p:txBody>
          <a:bodyPr wrap="square" rtlCol="0">
            <a:spAutoFit/>
          </a:bodyPr>
          <a:lstStyle/>
          <a:p>
            <a:r>
              <a:rPr lang="en-CN" dirty="0"/>
              <a:t>爱因斯坦固体模型</a:t>
            </a:r>
          </a:p>
          <a:p>
            <a:pPr marL="285750" indent="-285750">
              <a:buFont typeface="Arial" panose="020B0604020202020204" pitchFamily="34" charset="0"/>
              <a:buChar char="•"/>
            </a:pPr>
            <a:r>
              <a:rPr lang="en-CN" dirty="0"/>
              <a:t>想象固体是由多个原子组成的晶格</a:t>
            </a:r>
          </a:p>
          <a:p>
            <a:pPr marL="285750" indent="-285750">
              <a:buFont typeface="Arial" panose="020B0604020202020204" pitchFamily="34" charset="0"/>
              <a:buChar char="•"/>
            </a:pPr>
            <a:r>
              <a:rPr lang="en-CN" dirty="0">
                <a:solidFill>
                  <a:srgbClr val="FF0000"/>
                </a:solidFill>
              </a:rPr>
              <a:t>原子都是三维谐振子</a:t>
            </a:r>
          </a:p>
          <a:p>
            <a:pPr marL="285750" indent="-285750">
              <a:buFont typeface="Arial" panose="020B0604020202020204" pitchFamily="34" charset="0"/>
              <a:buChar char="•"/>
            </a:pPr>
            <a:r>
              <a:rPr lang="en-CN" dirty="0">
                <a:solidFill>
                  <a:srgbClr val="7030A0"/>
                </a:solidFill>
              </a:rPr>
              <a:t>每个原子做相同的简谐振动</a:t>
            </a:r>
          </a:p>
          <a:p>
            <a:pPr marL="285750" indent="-285750">
              <a:buFont typeface="Arial" panose="020B0604020202020204" pitchFamily="34" charset="0"/>
              <a:buChar char="•"/>
            </a:pPr>
            <a:r>
              <a:rPr lang="en-CN" dirty="0">
                <a:solidFill>
                  <a:srgbClr val="7030A0"/>
                </a:solidFill>
              </a:rPr>
              <a:t>假定谐振子间无其他相互作用</a:t>
            </a:r>
          </a:p>
        </p:txBody>
      </p:sp>
      <p:sp>
        <p:nvSpPr>
          <p:cNvPr id="6" name="TextBox 5">
            <a:extLst>
              <a:ext uri="{FF2B5EF4-FFF2-40B4-BE49-F238E27FC236}">
                <a16:creationId xmlns:a16="http://schemas.microsoft.com/office/drawing/2014/main" id="{F240917D-2F5D-464D-9157-69D76B1C693B}"/>
              </a:ext>
            </a:extLst>
          </p:cNvPr>
          <p:cNvSpPr txBox="1"/>
          <p:nvPr/>
        </p:nvSpPr>
        <p:spPr>
          <a:xfrm>
            <a:off x="6229334" y="6314702"/>
            <a:ext cx="3611880" cy="369332"/>
          </a:xfrm>
          <a:prstGeom prst="rect">
            <a:avLst/>
          </a:prstGeom>
          <a:noFill/>
        </p:spPr>
        <p:txBody>
          <a:bodyPr wrap="square" rtlCol="0">
            <a:spAutoFit/>
          </a:bodyPr>
          <a:lstStyle/>
          <a:p>
            <a:r>
              <a:rPr lang="en-CN" b="1" dirty="0">
                <a:latin typeface="SimSun" panose="02010600030101010101" pitchFamily="2" charset="-122"/>
                <a:ea typeface="SimSun" panose="02010600030101010101" pitchFamily="2" charset="-122"/>
              </a:rPr>
              <a:t>大胆假设</a:t>
            </a:r>
            <a:r>
              <a:rPr lang="zh-CN" altLang="en-US" dirty="0">
                <a:latin typeface="SimSun" panose="02010600030101010101" pitchFamily="2" charset="-122"/>
                <a:ea typeface="SimSun" panose="02010600030101010101" pitchFamily="2" charset="-122"/>
              </a:rPr>
              <a:t>、热容问题、后人改进</a:t>
            </a:r>
            <a:endParaRPr lang="en-CN" dirty="0">
              <a:latin typeface="SimSun" panose="02010600030101010101" pitchFamily="2" charset="-122"/>
              <a:ea typeface="SimSun" panose="02010600030101010101" pitchFamily="2" charset="-122"/>
            </a:endParaRPr>
          </a:p>
        </p:txBody>
      </p:sp>
      <p:pic>
        <p:nvPicPr>
          <p:cNvPr id="7" name="Picture 6">
            <a:extLst>
              <a:ext uri="{FF2B5EF4-FFF2-40B4-BE49-F238E27FC236}">
                <a16:creationId xmlns:a16="http://schemas.microsoft.com/office/drawing/2014/main" id="{09883C32-C03F-4DDA-C67D-E8FE3CB0663D}"/>
              </a:ext>
            </a:extLst>
          </p:cNvPr>
          <p:cNvPicPr>
            <a:picLocks noChangeAspect="1"/>
          </p:cNvPicPr>
          <p:nvPr/>
        </p:nvPicPr>
        <p:blipFill>
          <a:blip r:embed="rId2"/>
          <a:stretch>
            <a:fillRect/>
          </a:stretch>
        </p:blipFill>
        <p:spPr>
          <a:xfrm>
            <a:off x="257372" y="4513567"/>
            <a:ext cx="4535557" cy="2103012"/>
          </a:xfrm>
          <a:prstGeom prst="rect">
            <a:avLst/>
          </a:prstGeom>
        </p:spPr>
      </p:pic>
    </p:spTree>
    <p:extLst>
      <p:ext uri="{BB962C8B-B14F-4D97-AF65-F5344CB8AC3E}">
        <p14:creationId xmlns:p14="http://schemas.microsoft.com/office/powerpoint/2010/main" val="2808586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87B150E8-75DA-7A46-B877-2DE598553C2E}"/>
              </a:ext>
            </a:extLst>
          </p:cNvPr>
          <p:cNvCxnSpPr/>
          <p:nvPr/>
        </p:nvCxnSpPr>
        <p:spPr>
          <a:xfrm>
            <a:off x="409567" y="272415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1D1835-2933-854E-88E8-A726DDC3228A}"/>
              </a:ext>
            </a:extLst>
          </p:cNvPr>
          <p:cNvCxnSpPr/>
          <p:nvPr/>
        </p:nvCxnSpPr>
        <p:spPr>
          <a:xfrm>
            <a:off x="409567" y="316945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E4435C7-1DA1-6548-812B-50DBF36ED406}"/>
              </a:ext>
            </a:extLst>
          </p:cNvPr>
          <p:cNvCxnSpPr/>
          <p:nvPr/>
        </p:nvCxnSpPr>
        <p:spPr>
          <a:xfrm>
            <a:off x="409567" y="18288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1FBFB0A-C101-9642-80C0-C46D300335F3}"/>
              </a:ext>
            </a:extLst>
          </p:cNvPr>
          <p:cNvCxnSpPr/>
          <p:nvPr/>
        </p:nvCxnSpPr>
        <p:spPr>
          <a:xfrm>
            <a:off x="409567" y="22741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6BB74B8-0069-204B-B160-467F56DD3368}"/>
              </a:ext>
            </a:extLst>
          </p:cNvPr>
          <p:cNvCxnSpPr/>
          <p:nvPr/>
        </p:nvCxnSpPr>
        <p:spPr>
          <a:xfrm>
            <a:off x="385754" y="9906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8021A86-2B02-4647-8168-A885E0087756}"/>
              </a:ext>
            </a:extLst>
          </p:cNvPr>
          <p:cNvCxnSpPr/>
          <p:nvPr/>
        </p:nvCxnSpPr>
        <p:spPr>
          <a:xfrm>
            <a:off x="385754" y="14359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28EBA4F0-5AE9-9641-9648-666C12AC47D3}"/>
              </a:ext>
            </a:extLst>
          </p:cNvPr>
          <p:cNvSpPr txBox="1"/>
          <p:nvPr/>
        </p:nvSpPr>
        <p:spPr>
          <a:xfrm>
            <a:off x="985830" y="0"/>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cxnSp>
        <p:nvCxnSpPr>
          <p:cNvPr id="21" name="Straight Connector 20">
            <a:extLst>
              <a:ext uri="{FF2B5EF4-FFF2-40B4-BE49-F238E27FC236}">
                <a16:creationId xmlns:a16="http://schemas.microsoft.com/office/drawing/2014/main" id="{55B723F9-903B-D842-AA40-787826A3B0D4}"/>
              </a:ext>
            </a:extLst>
          </p:cNvPr>
          <p:cNvCxnSpPr/>
          <p:nvPr/>
        </p:nvCxnSpPr>
        <p:spPr>
          <a:xfrm>
            <a:off x="3019417" y="272415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AFC24D4-FAE4-DD41-AF60-111240DD835C}"/>
              </a:ext>
            </a:extLst>
          </p:cNvPr>
          <p:cNvCxnSpPr/>
          <p:nvPr/>
        </p:nvCxnSpPr>
        <p:spPr>
          <a:xfrm>
            <a:off x="3019417" y="316945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40E57C8-7F44-384A-AC8F-4EA5514F25C3}"/>
              </a:ext>
            </a:extLst>
          </p:cNvPr>
          <p:cNvCxnSpPr/>
          <p:nvPr/>
        </p:nvCxnSpPr>
        <p:spPr>
          <a:xfrm>
            <a:off x="3019417" y="18288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1917941-C200-F14F-A28E-2829D61A0919}"/>
              </a:ext>
            </a:extLst>
          </p:cNvPr>
          <p:cNvCxnSpPr/>
          <p:nvPr/>
        </p:nvCxnSpPr>
        <p:spPr>
          <a:xfrm>
            <a:off x="3019417" y="22741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8D07C2F-5904-4640-86EF-828CECBE6844}"/>
              </a:ext>
            </a:extLst>
          </p:cNvPr>
          <p:cNvCxnSpPr/>
          <p:nvPr/>
        </p:nvCxnSpPr>
        <p:spPr>
          <a:xfrm>
            <a:off x="2995604" y="990609"/>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9D52E37-C3AD-DF4C-9A81-0DBCEEDCB618}"/>
              </a:ext>
            </a:extLst>
          </p:cNvPr>
          <p:cNvCxnSpPr/>
          <p:nvPr/>
        </p:nvCxnSpPr>
        <p:spPr>
          <a:xfrm>
            <a:off x="2995604" y="143590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04E8605-083E-894F-B059-A4A1A4272BF5}"/>
              </a:ext>
            </a:extLst>
          </p:cNvPr>
          <p:cNvSpPr txBox="1"/>
          <p:nvPr/>
        </p:nvSpPr>
        <p:spPr>
          <a:xfrm>
            <a:off x="3595680" y="0"/>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cxnSp>
        <p:nvCxnSpPr>
          <p:cNvPr id="28" name="Straight Connector 27">
            <a:extLst>
              <a:ext uri="{FF2B5EF4-FFF2-40B4-BE49-F238E27FC236}">
                <a16:creationId xmlns:a16="http://schemas.microsoft.com/office/drawing/2014/main" id="{7CB5A418-944A-6D44-B708-E699CA3FD959}"/>
              </a:ext>
            </a:extLst>
          </p:cNvPr>
          <p:cNvCxnSpPr/>
          <p:nvPr/>
        </p:nvCxnSpPr>
        <p:spPr>
          <a:xfrm>
            <a:off x="5367322" y="2723276"/>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9036ED-C519-DD46-AD5C-CA0FC9CC98EF}"/>
              </a:ext>
            </a:extLst>
          </p:cNvPr>
          <p:cNvCxnSpPr/>
          <p:nvPr/>
        </p:nvCxnSpPr>
        <p:spPr>
          <a:xfrm>
            <a:off x="5367322" y="316857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F03214F-6B4D-B444-BE1E-B9B7D74D379B}"/>
              </a:ext>
            </a:extLst>
          </p:cNvPr>
          <p:cNvCxnSpPr/>
          <p:nvPr/>
        </p:nvCxnSpPr>
        <p:spPr>
          <a:xfrm>
            <a:off x="5367322" y="1827926"/>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C9534A0-9F84-9D4D-8773-D7B3D4C17AF0}"/>
              </a:ext>
            </a:extLst>
          </p:cNvPr>
          <p:cNvCxnSpPr/>
          <p:nvPr/>
        </p:nvCxnSpPr>
        <p:spPr>
          <a:xfrm>
            <a:off x="5367322" y="227322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D3CD718-7E7D-F145-88DD-4FA772C307FE}"/>
              </a:ext>
            </a:extLst>
          </p:cNvPr>
          <p:cNvCxnSpPr/>
          <p:nvPr/>
        </p:nvCxnSpPr>
        <p:spPr>
          <a:xfrm>
            <a:off x="5343509" y="989726"/>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B66AE8-259F-2048-BF30-C7A92AB8F265}"/>
              </a:ext>
            </a:extLst>
          </p:cNvPr>
          <p:cNvCxnSpPr/>
          <p:nvPr/>
        </p:nvCxnSpPr>
        <p:spPr>
          <a:xfrm>
            <a:off x="5343509" y="1435020"/>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78B0242-C027-8946-BD56-CCD4291D0D9A}"/>
              </a:ext>
            </a:extLst>
          </p:cNvPr>
          <p:cNvSpPr txBox="1"/>
          <p:nvPr/>
        </p:nvSpPr>
        <p:spPr>
          <a:xfrm>
            <a:off x="5943585" y="-883"/>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cxnSp>
        <p:nvCxnSpPr>
          <p:cNvPr id="35" name="Straight Connector 34">
            <a:extLst>
              <a:ext uri="{FF2B5EF4-FFF2-40B4-BE49-F238E27FC236}">
                <a16:creationId xmlns:a16="http://schemas.microsoft.com/office/drawing/2014/main" id="{6B88F765-D4FF-864C-A7AC-DAD1F77B7743}"/>
              </a:ext>
            </a:extLst>
          </p:cNvPr>
          <p:cNvCxnSpPr/>
          <p:nvPr/>
        </p:nvCxnSpPr>
        <p:spPr>
          <a:xfrm>
            <a:off x="9958349" y="272239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1FEB9DD-390F-FA4D-98A8-4C8BD7EF89B4}"/>
              </a:ext>
            </a:extLst>
          </p:cNvPr>
          <p:cNvCxnSpPr/>
          <p:nvPr/>
        </p:nvCxnSpPr>
        <p:spPr>
          <a:xfrm>
            <a:off x="9958349" y="3167687"/>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4F0EFCB-FF2E-5D44-8E1D-79A1BEFC87B1}"/>
              </a:ext>
            </a:extLst>
          </p:cNvPr>
          <p:cNvCxnSpPr/>
          <p:nvPr/>
        </p:nvCxnSpPr>
        <p:spPr>
          <a:xfrm>
            <a:off x="9958349" y="182704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3020DCB-FBE6-ED49-A508-451F4F89F5E0}"/>
              </a:ext>
            </a:extLst>
          </p:cNvPr>
          <p:cNvCxnSpPr/>
          <p:nvPr/>
        </p:nvCxnSpPr>
        <p:spPr>
          <a:xfrm>
            <a:off x="9958349" y="2272337"/>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D4C454F-715A-E549-A05F-FF8276429114}"/>
              </a:ext>
            </a:extLst>
          </p:cNvPr>
          <p:cNvCxnSpPr/>
          <p:nvPr/>
        </p:nvCxnSpPr>
        <p:spPr>
          <a:xfrm>
            <a:off x="9934536" y="988843"/>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D1652F8-BA2D-C64C-8249-3CCDEB8595D8}"/>
              </a:ext>
            </a:extLst>
          </p:cNvPr>
          <p:cNvCxnSpPr/>
          <p:nvPr/>
        </p:nvCxnSpPr>
        <p:spPr>
          <a:xfrm>
            <a:off x="9934536" y="1434137"/>
            <a:ext cx="177165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2312A0A-BD61-2C47-9A26-37ACE26A08A1}"/>
              </a:ext>
            </a:extLst>
          </p:cNvPr>
          <p:cNvSpPr txBox="1"/>
          <p:nvPr/>
        </p:nvSpPr>
        <p:spPr>
          <a:xfrm>
            <a:off x="10534612" y="-1766"/>
            <a:ext cx="309562" cy="923330"/>
          </a:xfrm>
          <a:prstGeom prst="rect">
            <a:avLst/>
          </a:prstGeom>
          <a:noFill/>
        </p:spPr>
        <p:txBody>
          <a:bodyPr wrap="square" rtlCol="0">
            <a:spAutoFit/>
          </a:bodyPr>
          <a:lstStyle/>
          <a:p>
            <a:r>
              <a:rPr lang="zh-CN" altLang="en-US" dirty="0"/>
              <a:t>。。</a:t>
            </a:r>
            <a:endParaRPr lang="en-US" altLang="zh-CN" dirty="0"/>
          </a:p>
          <a:p>
            <a:r>
              <a:rPr lang="zh-CN" altLang="en-US" dirty="0"/>
              <a:t>。</a:t>
            </a:r>
            <a:endParaRPr lang="en-CN" dirty="0"/>
          </a:p>
        </p:txBody>
      </p:sp>
      <p:sp>
        <p:nvSpPr>
          <p:cNvPr id="2" name="TextBox 1">
            <a:extLst>
              <a:ext uri="{FF2B5EF4-FFF2-40B4-BE49-F238E27FC236}">
                <a16:creationId xmlns:a16="http://schemas.microsoft.com/office/drawing/2014/main" id="{4DA4F496-4786-D94E-A013-01CD659E963E}"/>
              </a:ext>
            </a:extLst>
          </p:cNvPr>
          <p:cNvSpPr txBox="1"/>
          <p:nvPr/>
        </p:nvSpPr>
        <p:spPr>
          <a:xfrm>
            <a:off x="7715250" y="1827043"/>
            <a:ext cx="1500188" cy="369332"/>
          </a:xfrm>
          <a:prstGeom prst="rect">
            <a:avLst/>
          </a:prstGeom>
          <a:noFill/>
        </p:spPr>
        <p:txBody>
          <a:bodyPr wrap="square" rtlCol="0">
            <a:spAutoFit/>
          </a:bodyPr>
          <a:lstStyle/>
          <a:p>
            <a:r>
              <a:rPr lang="zh-CN" altLang="en-US" dirty="0"/>
              <a:t>。。。。。。</a:t>
            </a:r>
            <a:endParaRPr lang="en-CN" dirty="0"/>
          </a:p>
        </p:txBody>
      </p:sp>
      <p:sp>
        <p:nvSpPr>
          <p:cNvPr id="3" name="Right Brace 2">
            <a:extLst>
              <a:ext uri="{FF2B5EF4-FFF2-40B4-BE49-F238E27FC236}">
                <a16:creationId xmlns:a16="http://schemas.microsoft.com/office/drawing/2014/main" id="{C8E9C0E8-92C2-3B4C-90B3-4EB75003DDF8}"/>
              </a:ext>
            </a:extLst>
          </p:cNvPr>
          <p:cNvSpPr/>
          <p:nvPr/>
        </p:nvSpPr>
        <p:spPr>
          <a:xfrm rot="5400000">
            <a:off x="5765010" y="-635824"/>
            <a:ext cx="633350" cy="8905853"/>
          </a:xfrm>
          <a:prstGeom prst="rightBrace">
            <a:avLst>
              <a:gd name="adj1" fmla="val 0"/>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p:sp>
        <p:nvSpPr>
          <p:cNvPr id="4" name="TextBox 3">
            <a:extLst>
              <a:ext uri="{FF2B5EF4-FFF2-40B4-BE49-F238E27FC236}">
                <a16:creationId xmlns:a16="http://schemas.microsoft.com/office/drawing/2014/main" id="{74D0CFC9-DB61-314E-A57E-D07E9A174727}"/>
              </a:ext>
            </a:extLst>
          </p:cNvPr>
          <p:cNvSpPr txBox="1"/>
          <p:nvPr/>
        </p:nvSpPr>
        <p:spPr>
          <a:xfrm>
            <a:off x="4767254" y="4210228"/>
            <a:ext cx="3486150" cy="369332"/>
          </a:xfrm>
          <a:prstGeom prst="rect">
            <a:avLst/>
          </a:prstGeom>
          <a:noFill/>
        </p:spPr>
        <p:txBody>
          <a:bodyPr wrap="square" rtlCol="0">
            <a:spAutoFit/>
          </a:bodyPr>
          <a:lstStyle/>
          <a:p>
            <a:r>
              <a:rPr lang="en-CN" dirty="0"/>
              <a:t>N个没有相互作用的谐振子</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DF1CF9D-A8C9-AD4B-90A2-72D1DB2ED589}"/>
                  </a:ext>
                </a:extLst>
              </p:cNvPr>
              <p:cNvSpPr txBox="1"/>
              <p:nvPr/>
            </p:nvSpPr>
            <p:spPr>
              <a:xfrm>
                <a:off x="971515" y="4960776"/>
                <a:ext cx="10220340" cy="1384995"/>
              </a:xfrm>
              <a:prstGeom prst="rect">
                <a:avLst/>
              </a:prstGeom>
              <a:noFill/>
            </p:spPr>
            <p:txBody>
              <a:bodyPr wrap="square" rtlCol="0">
                <a:spAutoFit/>
              </a:bodyPr>
              <a:lstStyle/>
              <a:p>
                <a:r>
                  <a:rPr lang="en-CN" sz="2800" dirty="0">
                    <a:solidFill>
                      <a:srgbClr val="FF0000"/>
                    </a:solidFill>
                  </a:rPr>
                  <a:t>Question</a:t>
                </a:r>
                <a:r>
                  <a:rPr lang="zh-CN" altLang="en-US" sz="2800" dirty="0">
                    <a:solidFill>
                      <a:srgbClr val="FF0000"/>
                    </a:solidFill>
                  </a:rPr>
                  <a:t>：</a:t>
                </a:r>
                <a:r>
                  <a:rPr lang="zh-CN" altLang="en-US" sz="2800" dirty="0"/>
                  <a:t>系统有</a:t>
                </a:r>
                <a:r>
                  <a:rPr lang="en-US" altLang="zh-CN" sz="2800" dirty="0"/>
                  <a:t>N</a:t>
                </a:r>
                <a:r>
                  <a:rPr lang="zh-CN" altLang="en-US" sz="2800" dirty="0"/>
                  <a:t>个谐振子，系统能量总为</a:t>
                </a:r>
                <a:r>
                  <a:rPr lang="en-US" altLang="zh-CN" sz="2800" dirty="0"/>
                  <a:t>q</a:t>
                </a:r>
                <a:r>
                  <a:rPr lang="zh-CN" altLang="en-US" sz="2800" dirty="0"/>
                  <a:t>个能量单元，即</a:t>
                </a:r>
                <a:endParaRPr lang="en-US" altLang="zh-CN" sz="2800" dirty="0"/>
              </a:p>
              <a:p>
                <a:pPr algn="ctr"/>
                <a14:m>
                  <m:oMath xmlns:m="http://schemas.openxmlformats.org/officeDocument/2006/math">
                    <m:r>
                      <a:rPr lang="en-US" altLang="zh-CN" sz="2800" b="0" i="1" smtClean="0">
                        <a:latin typeface="Cambria Math" panose="02040503050406030204" pitchFamily="18" charset="0"/>
                      </a:rPr>
                      <m:t>𝑈</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𝑞h𝑓</m:t>
                    </m:r>
                  </m:oMath>
                </a14:m>
                <a:r>
                  <a:rPr lang="zh-CN" altLang="en-US" sz="2800" b="0" dirty="0"/>
                  <a:t>，</a:t>
                </a:r>
                <a:endParaRPr lang="en-US" altLang="zh-CN" sz="2800" b="0" dirty="0"/>
              </a:p>
              <a:p>
                <a:r>
                  <a:rPr lang="zh-CN" altLang="en-US" sz="2800" b="0" dirty="0"/>
                  <a:t>表征的宏观态所拥有的微观态的数目（</a:t>
                </a:r>
                <a:r>
                  <a:rPr lang="en-US" altLang="zh-CN" sz="2800" b="0" dirty="0"/>
                  <a:t>Multiplicity</a:t>
                </a:r>
                <a:r>
                  <a:rPr lang="zh-CN" altLang="en-US" sz="2800" b="0" dirty="0"/>
                  <a:t>）？</a:t>
                </a:r>
                <a:endParaRPr lang="en-US" altLang="zh-CN" sz="2800" b="0" dirty="0"/>
              </a:p>
            </p:txBody>
          </p:sp>
        </mc:Choice>
        <mc:Fallback xmlns="">
          <p:sp>
            <p:nvSpPr>
              <p:cNvPr id="6" name="TextBox 5">
                <a:extLst>
                  <a:ext uri="{FF2B5EF4-FFF2-40B4-BE49-F238E27FC236}">
                    <a16:creationId xmlns:a16="http://schemas.microsoft.com/office/drawing/2014/main" id="{DDF1CF9D-A8C9-AD4B-90A2-72D1DB2ED589}"/>
                  </a:ext>
                </a:extLst>
              </p:cNvPr>
              <p:cNvSpPr txBox="1">
                <a:spLocks noRot="1" noChangeAspect="1" noMove="1" noResize="1" noEditPoints="1" noAdjustHandles="1" noChangeArrowheads="1" noChangeShapeType="1" noTextEdit="1"/>
              </p:cNvSpPr>
              <p:nvPr/>
            </p:nvSpPr>
            <p:spPr>
              <a:xfrm>
                <a:off x="971515" y="4960776"/>
                <a:ext cx="10220340" cy="1384995"/>
              </a:xfrm>
              <a:prstGeom prst="rect">
                <a:avLst/>
              </a:prstGeom>
              <a:blipFill>
                <a:blip r:embed="rId2"/>
                <a:stretch>
                  <a:fillRect l="-1241" t="-4545" b="-10909"/>
                </a:stretch>
              </a:blipFill>
            </p:spPr>
            <p:txBody>
              <a:bodyPr/>
              <a:lstStyle/>
              <a:p>
                <a:r>
                  <a:rPr lang="en-CN">
                    <a:noFill/>
                  </a:rPr>
                  <a:t> </a:t>
                </a:r>
              </a:p>
            </p:txBody>
          </p:sp>
        </mc:Fallback>
      </mc:AlternateContent>
    </p:spTree>
    <p:extLst>
      <p:ext uri="{BB962C8B-B14F-4D97-AF65-F5344CB8AC3E}">
        <p14:creationId xmlns:p14="http://schemas.microsoft.com/office/powerpoint/2010/main" val="40240450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EBA870-0B60-704C-9054-8B0BBB0F9761}"/>
              </a:ext>
            </a:extLst>
          </p:cNvPr>
          <p:cNvSpPr txBox="1"/>
          <p:nvPr/>
        </p:nvSpPr>
        <p:spPr>
          <a:xfrm>
            <a:off x="442913" y="414338"/>
            <a:ext cx="5100637" cy="369332"/>
          </a:xfrm>
          <a:prstGeom prst="rect">
            <a:avLst/>
          </a:prstGeom>
          <a:noFill/>
        </p:spPr>
        <p:txBody>
          <a:bodyPr wrap="square" rtlCol="0">
            <a:spAutoFit/>
          </a:bodyPr>
          <a:lstStyle/>
          <a:p>
            <a:r>
              <a:rPr lang="en-CN" dirty="0"/>
              <a:t>思路</a:t>
            </a:r>
            <a:r>
              <a:rPr lang="en-US" altLang="zh-CN" dirty="0"/>
              <a:t>-I</a:t>
            </a:r>
            <a:endParaRPr lang="en-CN" dirty="0"/>
          </a:p>
        </p:txBody>
      </p:sp>
      <p:pic>
        <p:nvPicPr>
          <p:cNvPr id="7" name="Picture 6">
            <a:extLst>
              <a:ext uri="{FF2B5EF4-FFF2-40B4-BE49-F238E27FC236}">
                <a16:creationId xmlns:a16="http://schemas.microsoft.com/office/drawing/2014/main" id="{5E63EBEF-E9A2-BD4D-9CBB-10A00FBA7152}"/>
              </a:ext>
            </a:extLst>
          </p:cNvPr>
          <p:cNvPicPr>
            <a:picLocks noChangeAspect="1"/>
          </p:cNvPicPr>
          <p:nvPr/>
        </p:nvPicPr>
        <p:blipFill>
          <a:blip r:embed="rId2"/>
          <a:stretch>
            <a:fillRect/>
          </a:stretch>
        </p:blipFill>
        <p:spPr>
          <a:xfrm>
            <a:off x="657225" y="783670"/>
            <a:ext cx="11091862" cy="5815675"/>
          </a:xfrm>
          <a:prstGeom prst="rect">
            <a:avLst/>
          </a:prstGeom>
        </p:spPr>
      </p:pic>
    </p:spTree>
    <p:extLst>
      <p:ext uri="{BB962C8B-B14F-4D97-AF65-F5344CB8AC3E}">
        <p14:creationId xmlns:p14="http://schemas.microsoft.com/office/powerpoint/2010/main" val="1023872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EBA870-0B60-704C-9054-8B0BBB0F9761}"/>
              </a:ext>
            </a:extLst>
          </p:cNvPr>
          <p:cNvSpPr txBox="1"/>
          <p:nvPr/>
        </p:nvSpPr>
        <p:spPr>
          <a:xfrm>
            <a:off x="442913" y="414338"/>
            <a:ext cx="5100637" cy="369332"/>
          </a:xfrm>
          <a:prstGeom prst="rect">
            <a:avLst/>
          </a:prstGeom>
          <a:noFill/>
        </p:spPr>
        <p:txBody>
          <a:bodyPr wrap="square" rtlCol="0">
            <a:spAutoFit/>
          </a:bodyPr>
          <a:lstStyle/>
          <a:p>
            <a:r>
              <a:rPr lang="en-CN" dirty="0"/>
              <a:t>思路</a:t>
            </a:r>
            <a:r>
              <a:rPr lang="en-US" altLang="zh-CN" dirty="0"/>
              <a:t>-I(Schroeder…Page55)</a:t>
            </a:r>
            <a:endParaRPr lang="en-CN" dirty="0"/>
          </a:p>
        </p:txBody>
      </p:sp>
      <p:pic>
        <p:nvPicPr>
          <p:cNvPr id="2" name="Picture 1">
            <a:extLst>
              <a:ext uri="{FF2B5EF4-FFF2-40B4-BE49-F238E27FC236}">
                <a16:creationId xmlns:a16="http://schemas.microsoft.com/office/drawing/2014/main" id="{88FB0CCA-FA3A-CD43-8C8F-86322337105A}"/>
              </a:ext>
            </a:extLst>
          </p:cNvPr>
          <p:cNvPicPr>
            <a:picLocks noChangeAspect="1"/>
          </p:cNvPicPr>
          <p:nvPr/>
        </p:nvPicPr>
        <p:blipFill>
          <a:blip r:embed="rId2"/>
          <a:stretch>
            <a:fillRect/>
          </a:stretch>
        </p:blipFill>
        <p:spPr>
          <a:xfrm>
            <a:off x="1485901" y="905408"/>
            <a:ext cx="9707562" cy="5846230"/>
          </a:xfrm>
          <a:prstGeom prst="rect">
            <a:avLst/>
          </a:prstGeom>
        </p:spPr>
      </p:pic>
    </p:spTree>
    <p:extLst>
      <p:ext uri="{BB962C8B-B14F-4D97-AF65-F5344CB8AC3E}">
        <p14:creationId xmlns:p14="http://schemas.microsoft.com/office/powerpoint/2010/main" val="2889859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EBA870-0B60-704C-9054-8B0BBB0F9761}"/>
              </a:ext>
            </a:extLst>
          </p:cNvPr>
          <p:cNvSpPr txBox="1"/>
          <p:nvPr/>
        </p:nvSpPr>
        <p:spPr>
          <a:xfrm>
            <a:off x="442913" y="414338"/>
            <a:ext cx="5100637" cy="369332"/>
          </a:xfrm>
          <a:prstGeom prst="rect">
            <a:avLst/>
          </a:prstGeom>
          <a:noFill/>
        </p:spPr>
        <p:txBody>
          <a:bodyPr wrap="square" rtlCol="0">
            <a:spAutoFit/>
          </a:bodyPr>
          <a:lstStyle/>
          <a:p>
            <a:r>
              <a:rPr lang="en-CN" dirty="0"/>
              <a:t>思路</a:t>
            </a:r>
            <a:r>
              <a:rPr lang="en-US" altLang="zh-CN" dirty="0"/>
              <a:t>-II</a:t>
            </a:r>
            <a:endParaRPr lang="en-CN"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83C3F34-1CEE-C34D-B626-5F48C0DC7F36}"/>
                  </a:ext>
                </a:extLst>
              </p:cNvPr>
              <p:cNvSpPr txBox="1"/>
              <p:nvPr/>
            </p:nvSpPr>
            <p:spPr>
              <a:xfrm>
                <a:off x="814388" y="1871662"/>
                <a:ext cx="9801225" cy="2833661"/>
              </a:xfrm>
              <a:prstGeom prst="rect">
                <a:avLst/>
              </a:prstGeom>
              <a:noFill/>
            </p:spPr>
            <p:txBody>
              <a:bodyPr wrap="square" rtlCol="0">
                <a:spAutoFit/>
              </a:bodyPr>
              <a:lstStyle/>
              <a:p>
                <a:pPr marL="285750" indent="-285750">
                  <a:buFont typeface="Arial" panose="020B0604020202020204" pitchFamily="34" charset="0"/>
                  <a:buChar char="•"/>
                </a:pPr>
                <a:r>
                  <a:rPr lang="en-CN" dirty="0"/>
                  <a:t>考虑单个谐振子</a:t>
                </a:r>
                <a:r>
                  <a:rPr lang="zh-CN" altLang="en-US" dirty="0"/>
                  <a:t>，即</a:t>
                </a:r>
                <a:r>
                  <a:rPr lang="en-US" altLang="zh-CN" dirty="0"/>
                  <a:t>N=1</a:t>
                </a:r>
                <a:r>
                  <a:rPr lang="zh-CN" altLang="en-US" dirty="0"/>
                  <a:t>，</a:t>
                </a:r>
                <a:endParaRPr lang="en-US" altLang="zh-CN" dirty="0"/>
              </a:p>
              <a:p>
                <a:r>
                  <a:rPr lang="en-US" altLang="zh-CN" dirty="0"/>
                  <a:t>     </a:t>
                </a:r>
                <a:r>
                  <a:rPr lang="zh-CN" altLang="en-US" dirty="0"/>
                  <a:t>显然每个能级上的</a:t>
                </a:r>
                <a:r>
                  <a:rPr lang="en-US" altLang="zh-CN" dirty="0"/>
                  <a:t>Multiplicity</a:t>
                </a:r>
                <a:r>
                  <a:rPr lang="zh-CN" altLang="en-US" dirty="0"/>
                  <a:t>为</a:t>
                </a:r>
                <a:r>
                  <a:rPr lang="en-US" altLang="zh-CN" dirty="0"/>
                  <a:t>1</a:t>
                </a:r>
                <a:r>
                  <a:rPr lang="zh-CN" altLang="en-US" dirty="0"/>
                  <a:t>，</a:t>
                </a:r>
                <a14:m>
                  <m:oMath xmlns:m="http://schemas.openxmlformats.org/officeDocument/2006/math">
                    <m:r>
                      <a:rPr lang="en-US" altLang="zh-CN" b="0" i="1" smtClean="0">
                        <a:latin typeface="Cambria Math" panose="02040503050406030204" pitchFamily="18" charset="0"/>
                      </a:rPr>
                      <m:t>𝑔</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𝑁</m:t>
                        </m:r>
                        <m:r>
                          <a:rPr lang="en-US" altLang="zh-CN" b="0" i="1" smtClean="0">
                            <a:latin typeface="Cambria Math" panose="02040503050406030204" pitchFamily="18" charset="0"/>
                          </a:rPr>
                          <m:t>=1,</m:t>
                        </m:r>
                        <m:r>
                          <a:rPr lang="en-US" altLang="zh-CN" b="0" i="1" smtClean="0">
                            <a:latin typeface="Cambria Math" panose="02040503050406030204" pitchFamily="18" charset="0"/>
                          </a:rPr>
                          <m:t>𝑞</m:t>
                        </m:r>
                      </m:e>
                    </m:d>
                    <m:r>
                      <a:rPr lang="en-US" altLang="zh-CN" b="0" i="1" smtClean="0">
                        <a:latin typeface="Cambria Math" panose="02040503050406030204" pitchFamily="18" charset="0"/>
                      </a:rPr>
                      <m:t>=1</m:t>
                    </m:r>
                  </m:oMath>
                </a14:m>
                <a:endParaRPr lang="en-US" altLang="zh-CN" b="0" dirty="0"/>
              </a:p>
              <a:p>
                <a:pPr marL="285750" indent="-285750">
                  <a:buFont typeface="Arial" panose="020B0604020202020204" pitchFamily="34" charset="0"/>
                  <a:buChar char="•"/>
                </a:pPr>
                <a:endParaRPr lang="en-CN" dirty="0"/>
              </a:p>
              <a:p>
                <a:pPr marL="285750" indent="-285750">
                  <a:buFont typeface="Arial" panose="020B0604020202020204" pitchFamily="34" charset="0"/>
                  <a:buChar char="•"/>
                </a:pPr>
                <a:r>
                  <a:rPr lang="zh-CN" altLang="en-CN" dirty="0"/>
                  <a:t>定义</a:t>
                </a:r>
                <a:r>
                  <a:rPr lang="zh-CN" altLang="en-US" dirty="0"/>
                  <a:t>一个函数，</a:t>
                </a:r>
                <a:endParaRPr lang="en-US" altLang="zh-CN" dirty="0"/>
              </a:p>
              <a:p>
                <a:pPr/>
                <a14:m>
                  <m:oMathPara xmlns:m="http://schemas.openxmlformats.org/officeDocument/2006/math">
                    <m:oMathParaPr>
                      <m:jc m:val="left"/>
                    </m:oMathParaPr>
                    <m:oMath xmlns:m="http://schemas.openxmlformats.org/officeDocument/2006/math">
                      <m:r>
                        <m:rPr>
                          <m:sty m:val="p"/>
                        </m:rPr>
                        <a:rPr lang="en-US" altLang="zh-CN" b="0" i="0" smtClean="0">
                          <a:latin typeface="Cambria Math" panose="02040503050406030204" pitchFamily="18" charset="0"/>
                        </a:rPr>
                        <m:t>f</m:t>
                      </m:r>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t</m:t>
                          </m:r>
                        </m:e>
                      </m:d>
                      <m:r>
                        <a:rPr lang="en-US" altLang="zh-CN" b="0" i="0" smtClean="0">
                          <a:latin typeface="Cambria Math" panose="02040503050406030204" pitchFamily="18" charset="0"/>
                        </a:rPr>
                        <m:t>=</m:t>
                      </m:r>
                      <m:nary>
                        <m:naryPr>
                          <m:chr m:val="∑"/>
                          <m:ctrlPr>
                            <a:rPr lang="zh-CN" altLang="en-US" i="1" smtClean="0">
                              <a:latin typeface="Cambria Math" panose="02040503050406030204" pitchFamily="18" charset="0"/>
                            </a:rPr>
                          </m:ctrlPr>
                        </m:naryPr>
                        <m:sub>
                          <m:r>
                            <m:rPr>
                              <m:brk m:alnAt="23"/>
                            </m:rPr>
                            <a:rPr lang="en-US" altLang="zh-CN" b="0" i="1" smtClean="0">
                              <a:latin typeface="Cambria Math" panose="02040503050406030204" pitchFamily="18" charset="0"/>
                            </a:rPr>
                            <m:t>𝑞</m:t>
                          </m:r>
                          <m:r>
                            <a:rPr lang="en-US" altLang="zh-CN" b="0" i="1" smtClean="0">
                              <a:latin typeface="Cambria Math" panose="02040503050406030204" pitchFamily="18" charset="0"/>
                            </a:rPr>
                            <m:t>=0</m:t>
                          </m:r>
                        </m:sub>
                        <m:sup>
                          <m:r>
                            <a:rPr lang="en-US" altLang="zh-CN" i="1" smtClean="0">
                              <a:latin typeface="Cambria Math" panose="02040503050406030204" pitchFamily="18" charset="0"/>
                              <a:ea typeface="Cambria Math" panose="02040503050406030204" pitchFamily="18" charset="0"/>
                            </a:rPr>
                            <m:t>∞</m:t>
                          </m:r>
                        </m:sup>
                        <m:e>
                          <m:r>
                            <a:rPr lang="en-US" altLang="zh-CN" b="0" i="1" smtClean="0">
                              <a:solidFill>
                                <a:srgbClr val="FF0000"/>
                              </a:solidFill>
                              <a:latin typeface="Cambria Math" panose="02040503050406030204" pitchFamily="18" charset="0"/>
                            </a:rPr>
                            <m:t>𝑔</m:t>
                          </m:r>
                          <m:d>
                            <m:dPr>
                              <m:begChr m:val="["/>
                              <m:endChr m:val="]"/>
                              <m:ctrlPr>
                                <a:rPr lang="en-US" altLang="zh-CN" b="0" i="1" smtClean="0">
                                  <a:solidFill>
                                    <a:srgbClr val="FF0000"/>
                                  </a:solidFill>
                                  <a:latin typeface="Cambria Math" panose="02040503050406030204" pitchFamily="18" charset="0"/>
                                </a:rPr>
                              </m:ctrlPr>
                            </m:dPr>
                            <m:e>
                              <m:r>
                                <a:rPr lang="en-US" altLang="zh-CN" b="0" i="1" smtClean="0">
                                  <a:solidFill>
                                    <a:srgbClr val="FF0000"/>
                                  </a:solidFill>
                                  <a:latin typeface="Cambria Math" panose="02040503050406030204" pitchFamily="18" charset="0"/>
                                </a:rPr>
                                <m:t>𝑁</m:t>
                              </m:r>
                              <m:r>
                                <a:rPr lang="en-US" altLang="zh-CN" b="0" i="1" smtClean="0">
                                  <a:solidFill>
                                    <a:srgbClr val="FF0000"/>
                                  </a:solidFill>
                                  <a:latin typeface="Cambria Math" panose="02040503050406030204" pitchFamily="18" charset="0"/>
                                </a:rPr>
                                <m:t>=1,</m:t>
                              </m:r>
                              <m:r>
                                <a:rPr lang="en-US" altLang="zh-CN" b="0" i="1" smtClean="0">
                                  <a:solidFill>
                                    <a:srgbClr val="FF0000"/>
                                  </a:solidFill>
                                  <a:latin typeface="Cambria Math" panose="02040503050406030204" pitchFamily="18" charset="0"/>
                                </a:rPr>
                                <m:t>𝑞</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𝑞</m:t>
                              </m:r>
                            </m:sup>
                          </m:sSup>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𝑞</m:t>
                              </m:r>
                              <m:r>
                                <a:rPr lang="en-US" altLang="zh-CN" b="0" i="1" smtClean="0">
                                  <a:latin typeface="Cambria Math" panose="02040503050406030204" pitchFamily="18" charset="0"/>
                                </a:rPr>
                                <m:t>=0</m:t>
                              </m:r>
                            </m:sub>
                            <m:sup>
                              <m:r>
                                <a:rPr lang="en-US" altLang="zh-CN" b="0" i="1" smtClean="0">
                                  <a:latin typeface="Cambria Math" panose="02040503050406030204" pitchFamily="18" charset="0"/>
                                  <a:ea typeface="Cambria Math" panose="02040503050406030204" pitchFamily="18" charset="0"/>
                                </a:rPr>
                                <m:t>∞</m:t>
                              </m:r>
                            </m:sup>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𝑞</m:t>
                                  </m:r>
                                </m:sup>
                              </m:sSup>
                            </m:e>
                          </m:nary>
                        </m:e>
                      </m:nary>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𝑡</m:t>
                          </m:r>
                        </m:den>
                      </m:f>
                    </m:oMath>
                  </m:oMathPara>
                </a14:m>
                <a:endParaRPr lang="en-CN" dirty="0"/>
              </a:p>
              <a:p>
                <a:pPr marL="285750" indent="-285750">
                  <a:buFont typeface="Arial" panose="020B0604020202020204" pitchFamily="34" charset="0"/>
                  <a:buChar char="•"/>
                </a:pPr>
                <a:r>
                  <a:rPr lang="en-CN" dirty="0"/>
                  <a:t>考虑N个谐振子</a:t>
                </a:r>
                <a:r>
                  <a:rPr lang="zh-CN" altLang="en-US" dirty="0"/>
                  <a:t> </a:t>
                </a:r>
                <a14:m>
                  <m:oMath xmlns:m="http://schemas.openxmlformats.org/officeDocument/2006/math">
                    <m:nary>
                      <m:naryPr>
                        <m:chr m:val="∑"/>
                        <m:ctrlPr>
                          <a:rPr lang="zh-CN" altLang="en-US" i="1" smtClean="0">
                            <a:latin typeface="Cambria Math" panose="02040503050406030204" pitchFamily="18" charset="0"/>
                          </a:rPr>
                        </m:ctrlPr>
                      </m:naryPr>
                      <m:sub>
                        <m:r>
                          <m:rPr>
                            <m:brk m:alnAt="23"/>
                          </m:rPr>
                          <a:rPr lang="en-US" altLang="zh-CN" b="0" i="1" smtClean="0">
                            <a:latin typeface="Cambria Math" panose="02040503050406030204" pitchFamily="18" charset="0"/>
                          </a:rPr>
                          <m:t>𝑞</m:t>
                        </m:r>
                        <m:r>
                          <a:rPr lang="en-US" altLang="zh-CN" b="0" i="1" smtClean="0">
                            <a:latin typeface="Cambria Math" panose="02040503050406030204" pitchFamily="18" charset="0"/>
                          </a:rPr>
                          <m:t>=0</m:t>
                        </m:r>
                      </m:sub>
                      <m:sup>
                        <m:r>
                          <a:rPr lang="en-US" altLang="zh-CN" i="1" smtClean="0">
                            <a:latin typeface="Cambria Math" panose="02040503050406030204" pitchFamily="18" charset="0"/>
                            <a:ea typeface="Cambria Math" panose="02040503050406030204" pitchFamily="18" charset="0"/>
                          </a:rPr>
                          <m:t>∞</m:t>
                        </m:r>
                      </m:sup>
                      <m:e>
                        <m:r>
                          <a:rPr lang="en-US" altLang="zh-CN" b="0" i="1" smtClean="0">
                            <a:latin typeface="Cambria Math" panose="02040503050406030204" pitchFamily="18" charset="0"/>
                          </a:rPr>
                          <m:t>𝑔</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𝑞</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𝑞</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𝑡</m:t>
                                </m:r>
                              </m:den>
                            </m:f>
                            <m:r>
                              <a:rPr lang="en-US" altLang="zh-CN" b="0" i="1" smtClean="0">
                                <a:latin typeface="Cambria Math" panose="02040503050406030204" pitchFamily="18" charset="0"/>
                              </a:rPr>
                              <m:t>)</m:t>
                            </m:r>
                          </m:e>
                          <m:sup>
                            <m:r>
                              <a:rPr lang="en-US" altLang="zh-CN" b="0" i="1" smtClean="0">
                                <a:latin typeface="Cambria Math" panose="02040503050406030204" pitchFamily="18" charset="0"/>
                              </a:rPr>
                              <m:t>𝑁</m:t>
                            </m:r>
                          </m:sup>
                        </m:sSup>
                      </m:e>
                    </m:nary>
                  </m:oMath>
                </a14:m>
                <a:r>
                  <a:rPr lang="en-CN" dirty="0"/>
                  <a:t>…</a:t>
                </a:r>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𝑔</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𝑞</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→0</m:t>
                            </m:r>
                          </m:lim>
                        </m:limLow>
                      </m:fName>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𝑞</m:t>
                            </m:r>
                            <m:r>
                              <a:rPr lang="en-US" b="0" i="1" smtClean="0">
                                <a:latin typeface="Cambria Math" panose="02040503050406030204" pitchFamily="18" charset="0"/>
                              </a:rPr>
                              <m:t>!</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𝑑</m:t>
                                </m:r>
                              </m:e>
                              <m:sup>
                                <m:r>
                                  <a:rPr lang="en-US" b="0" i="1" smtClean="0">
                                    <a:latin typeface="Cambria Math" panose="02040503050406030204" pitchFamily="18" charset="0"/>
                                  </a:rPr>
                                  <m:t>𝑞</m:t>
                                </m:r>
                              </m:sup>
                            </m:sSup>
                          </m:num>
                          <m:den>
                            <m:r>
                              <a:rPr lang="en-US" b="0" i="1" smtClean="0">
                                <a:latin typeface="Cambria Math" panose="02040503050406030204" pitchFamily="18" charset="0"/>
                              </a:rPr>
                              <m:t>𝑑</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𝑞</m:t>
                                </m:r>
                              </m:sup>
                            </m:sSup>
                          </m:den>
                        </m:f>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𝑡</m:t>
                                </m:r>
                                <m:r>
                                  <a:rPr lang="en-US" b="0" i="1" smtClean="0">
                                    <a:latin typeface="Cambria Math" panose="02040503050406030204" pitchFamily="18" charset="0"/>
                                  </a:rPr>
                                  <m:t>)</m:t>
                                </m:r>
                              </m:e>
                              <m:sup>
                                <m:r>
                                  <a:rPr lang="en-US" b="0" i="1" smtClean="0">
                                    <a:latin typeface="Cambria Math" panose="02040503050406030204" pitchFamily="18" charset="0"/>
                                  </a:rPr>
                                  <m:t>𝑁</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𝑞</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m:t>
                                </m:r>
                              </m:e>
                            </m:d>
                            <m:r>
                              <a:rPr lang="en-US" b="0" i="1" smtClean="0">
                                <a:latin typeface="Cambria Math" panose="02040503050406030204" pitchFamily="18" charset="0"/>
                              </a:rPr>
                              <m:t>!</m:t>
                            </m:r>
                          </m:den>
                        </m:f>
                      </m:e>
                    </m:func>
                  </m:oMath>
                </a14:m>
                <a:endParaRPr lang="en-CN" dirty="0"/>
              </a:p>
            </p:txBody>
          </p:sp>
        </mc:Choice>
        <mc:Fallback xmlns="">
          <p:sp>
            <p:nvSpPr>
              <p:cNvPr id="2" name="TextBox 1">
                <a:extLst>
                  <a:ext uri="{FF2B5EF4-FFF2-40B4-BE49-F238E27FC236}">
                    <a16:creationId xmlns:a16="http://schemas.microsoft.com/office/drawing/2014/main" id="{D83C3F34-1CEE-C34D-B626-5F48C0DC7F36}"/>
                  </a:ext>
                </a:extLst>
              </p:cNvPr>
              <p:cNvSpPr txBox="1">
                <a:spLocks noRot="1" noChangeAspect="1" noMove="1" noResize="1" noEditPoints="1" noAdjustHandles="1" noChangeArrowheads="1" noChangeShapeType="1" noTextEdit="1"/>
              </p:cNvSpPr>
              <p:nvPr/>
            </p:nvSpPr>
            <p:spPr>
              <a:xfrm>
                <a:off x="814388" y="1871662"/>
                <a:ext cx="9801225" cy="2833661"/>
              </a:xfrm>
              <a:prstGeom prst="rect">
                <a:avLst/>
              </a:prstGeom>
              <a:blipFill>
                <a:blip r:embed="rId2"/>
                <a:stretch>
                  <a:fillRect l="-1425" t="-893" b="-15179"/>
                </a:stretch>
              </a:blipFill>
            </p:spPr>
            <p:txBody>
              <a:bodyPr/>
              <a:lstStyle/>
              <a:p>
                <a:r>
                  <a:rPr lang="en-CN">
                    <a:noFill/>
                  </a:rPr>
                  <a:t> </a:t>
                </a:r>
              </a:p>
            </p:txBody>
          </p:sp>
        </mc:Fallback>
      </mc:AlternateContent>
      <p:pic>
        <p:nvPicPr>
          <p:cNvPr id="3" name="Picture 2">
            <a:extLst>
              <a:ext uri="{FF2B5EF4-FFF2-40B4-BE49-F238E27FC236}">
                <a16:creationId xmlns:a16="http://schemas.microsoft.com/office/drawing/2014/main" id="{CBCF4148-9906-8B48-B9AB-B1FA2AAAE56F}"/>
              </a:ext>
            </a:extLst>
          </p:cNvPr>
          <p:cNvPicPr>
            <a:picLocks noChangeAspect="1"/>
          </p:cNvPicPr>
          <p:nvPr/>
        </p:nvPicPr>
        <p:blipFill>
          <a:blip r:embed="rId3"/>
          <a:stretch>
            <a:fillRect/>
          </a:stretch>
        </p:blipFill>
        <p:spPr>
          <a:xfrm>
            <a:off x="6761416" y="0"/>
            <a:ext cx="5100637" cy="6858000"/>
          </a:xfrm>
          <a:prstGeom prst="rect">
            <a:avLst/>
          </a:prstGeom>
        </p:spPr>
      </p:pic>
    </p:spTree>
    <p:extLst>
      <p:ext uri="{BB962C8B-B14F-4D97-AF65-F5344CB8AC3E}">
        <p14:creationId xmlns:p14="http://schemas.microsoft.com/office/powerpoint/2010/main" val="681693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33231AC-E427-11A6-5BD7-A471803E9991}"/>
                  </a:ext>
                </a:extLst>
              </p:cNvPr>
              <p:cNvSpPr txBox="1"/>
              <p:nvPr/>
            </p:nvSpPr>
            <p:spPr>
              <a:xfrm>
                <a:off x="1847022" y="1977887"/>
                <a:ext cx="8160026" cy="9003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trlPr>
                            <a:rPr lang="en-CN" i="1" smtClean="0">
                              <a:latin typeface="Cambria Math" panose="02040503050406030204" pitchFamily="18" charset="0"/>
                            </a:rPr>
                          </m:ctrlPr>
                        </m:naryPr>
                        <m:sub>
                          <m:r>
                            <m:rPr>
                              <m:brk m:alnAt="23"/>
                            </m:rPr>
                            <a:rPr lang="en-US" altLang="zh-CN" b="0" i="1" smtClean="0">
                              <a:latin typeface="Cambria Math" panose="02040503050406030204" pitchFamily="18" charset="0"/>
                            </a:rPr>
                            <m:t>0</m:t>
                          </m:r>
                        </m:sub>
                        <m:sup>
                          <m:r>
                            <a:rPr lang="en-US" altLang="zh-CN" b="0" i="1" smtClean="0">
                              <a:latin typeface="Cambria Math" panose="02040503050406030204" pitchFamily="18" charset="0"/>
                            </a:rPr>
                            <m:t>1</m:t>
                          </m:r>
                        </m:sup>
                        <m:e>
                          <m:sSup>
                            <m:sSupPr>
                              <m:ctrlPr>
                                <a:rPr lang="en-CN"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𝑛</m:t>
                              </m:r>
                            </m:sup>
                          </m:sSup>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sup>
                            <m:e>
                              <m:d>
                                <m:dPr>
                                  <m:ctrlPr>
                                    <a:rPr lang="en-US" b="0" i="1" smtClean="0">
                                      <a:solidFill>
                                        <a:srgbClr val="FF0000"/>
                                      </a:solidFill>
                                      <a:latin typeface="Cambria Math" panose="02040503050406030204" pitchFamily="18" charset="0"/>
                                    </a:rPr>
                                  </m:ctrlPr>
                                </m:dPr>
                                <m:e>
                                  <m:m>
                                    <m:mPr>
                                      <m:mcs>
                                        <m:mc>
                                          <m:mcPr>
                                            <m:count m:val="1"/>
                                            <m:mcJc m:val="center"/>
                                          </m:mcPr>
                                        </m:mc>
                                      </m:mcs>
                                      <m:ctrlPr>
                                        <a:rPr lang="en-US" b="0" i="1" smtClean="0">
                                          <a:solidFill>
                                            <a:srgbClr val="FF0000"/>
                                          </a:solidFill>
                                          <a:latin typeface="Cambria Math" panose="02040503050406030204" pitchFamily="18" charset="0"/>
                                        </a:rPr>
                                      </m:ctrlPr>
                                    </m:mPr>
                                    <m:mr>
                                      <m:e>
                                        <m:r>
                                          <m:rPr>
                                            <m:brk m:alnAt="7"/>
                                          </m:rPr>
                                          <a:rPr lang="en-US" b="0" i="1" smtClean="0">
                                            <a:solidFill>
                                              <a:srgbClr val="FF0000"/>
                                            </a:solidFill>
                                            <a:latin typeface="Cambria Math" panose="02040503050406030204" pitchFamily="18" charset="0"/>
                                          </a:rPr>
                                          <m:t>𝑛</m:t>
                                        </m:r>
                                      </m:e>
                                    </m:mr>
                                    <m:mr>
                                      <m:e>
                                        <m:r>
                                          <a:rPr lang="en-US" b="0" i="1" smtClean="0">
                                            <a:solidFill>
                                              <a:srgbClr val="FF0000"/>
                                            </a:solidFill>
                                            <a:latin typeface="Cambria Math" panose="02040503050406030204" pitchFamily="18" charset="0"/>
                                          </a:rPr>
                                          <m:t>2</m:t>
                                        </m:r>
                                        <m:r>
                                          <a:rPr lang="en-US" b="0" i="1" smtClean="0">
                                            <a:solidFill>
                                              <a:srgbClr val="FF0000"/>
                                            </a:solidFill>
                                            <a:latin typeface="Cambria Math" panose="02040503050406030204" pitchFamily="18" charset="0"/>
                                          </a:rPr>
                                          <m:t>𝑖</m:t>
                                        </m:r>
                                      </m:e>
                                    </m:mr>
                                  </m:m>
                                </m:e>
                              </m:d>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0</m:t>
                                  </m:r>
                                </m:sub>
                                <m:sup>
                                  <m:r>
                                    <a:rPr lang="en-US" b="0" i="1" smtClean="0">
                                      <a:latin typeface="Cambria Math" panose="02040503050406030204" pitchFamily="18" charset="0"/>
                                    </a:rPr>
                                    <m:t>1</m:t>
                                  </m:r>
                                </m:sup>
                                <m:e>
                                  <m:r>
                                    <a:rPr lang="en-US" b="0" i="1" smtClean="0">
                                      <a:latin typeface="Cambria Math" panose="02040503050406030204" pitchFamily="18" charset="0"/>
                                    </a:rPr>
                                    <m:t>𝑑𝑡</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𝑡</m:t>
                                      </m:r>
                                    </m:e>
                                    <m:sup>
                                      <m:r>
                                        <a:rPr lang="en-US" b="0" i="1" smtClean="0">
                                          <a:latin typeface="Cambria Math" panose="02040503050406030204" pitchFamily="18" charset="0"/>
                                        </a:rPr>
                                        <m:t>2</m:t>
                                      </m:r>
                                      <m:r>
                                        <a:rPr lang="en-US" b="0" i="1" smtClean="0">
                                          <a:latin typeface="Cambria Math" panose="02040503050406030204" pitchFamily="18" charset="0"/>
                                        </a:rPr>
                                        <m:t>𝑖</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e>
                              </m:nary>
                            </m:e>
                          </m:nary>
                        </m:e>
                      </m:nary>
                    </m:oMath>
                  </m:oMathPara>
                </a14:m>
                <a:endParaRPr lang="en-CN" dirty="0"/>
              </a:p>
            </p:txBody>
          </p:sp>
        </mc:Choice>
        <mc:Fallback xmlns="">
          <p:sp>
            <p:nvSpPr>
              <p:cNvPr id="9" name="TextBox 8">
                <a:extLst>
                  <a:ext uri="{FF2B5EF4-FFF2-40B4-BE49-F238E27FC236}">
                    <a16:creationId xmlns:a16="http://schemas.microsoft.com/office/drawing/2014/main" id="{333231AC-E427-11A6-5BD7-A471803E9991}"/>
                  </a:ext>
                </a:extLst>
              </p:cNvPr>
              <p:cNvSpPr txBox="1">
                <a:spLocks noRot="1" noChangeAspect="1" noMove="1" noResize="1" noEditPoints="1" noAdjustHandles="1" noChangeArrowheads="1" noChangeShapeType="1" noTextEdit="1"/>
              </p:cNvSpPr>
              <p:nvPr/>
            </p:nvSpPr>
            <p:spPr>
              <a:xfrm>
                <a:off x="1847022" y="1977887"/>
                <a:ext cx="8160026" cy="900375"/>
              </a:xfrm>
              <a:prstGeom prst="rect">
                <a:avLst/>
              </a:prstGeom>
              <a:blipFill>
                <a:blip r:embed="rId2"/>
                <a:stretch>
                  <a:fillRect t="-108333" b="-17222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6AB2D87-DB97-4D1B-4061-A5AD367E53E8}"/>
                  </a:ext>
                </a:extLst>
              </p:cNvPr>
              <p:cNvSpPr txBox="1"/>
              <p:nvPr/>
            </p:nvSpPr>
            <p:spPr>
              <a:xfrm>
                <a:off x="1066799" y="1043609"/>
                <a:ext cx="6079435" cy="783869"/>
              </a:xfrm>
              <a:prstGeom prst="rect">
                <a:avLst/>
              </a:prstGeom>
              <a:noFill/>
            </p:spPr>
            <p:txBody>
              <a:bodyPr wrap="square" rtlCol="0">
                <a:spAutoFit/>
              </a:bodyPr>
              <a:lstStyle/>
              <a:p>
                <a:r>
                  <a:rPr lang="en-US" b="0" dirty="0"/>
                  <a:t>已知</a:t>
                </a:r>
                <a14:m>
                  <m:oMath xmlns:m="http://schemas.openxmlformats.org/officeDocument/2006/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𝑥</m:t>
                        </m:r>
                      </m:e>
                    </m:d>
                    <m:r>
                      <a:rPr lang="zh-CN" altLang="en-US" b="0" i="0" smtClean="0">
                        <a:latin typeface="Cambria Math" panose="02040503050406030204" pitchFamily="18" charset="0"/>
                      </a:rPr>
                      <m:t>，</m:t>
                    </m:r>
                    <m:r>
                      <a:rPr lang="zh-CN" altLang="en-US" b="0" i="0" smtClean="0">
                        <a:latin typeface="Cambria Math" panose="02040503050406030204" pitchFamily="18" charset="0"/>
                      </a:rPr>
                      <m:t> </m:t>
                    </m:r>
                    <m:r>
                      <a:rPr lang="zh-CN" altLang="en-US" i="1">
                        <a:latin typeface="Cambria Math" panose="02040503050406030204" pitchFamily="18" charset="0"/>
                      </a:rPr>
                      <m:t>定义</m:t>
                    </m:r>
                  </m:oMath>
                </a14:m>
                <a:r>
                  <a:rPr lang="en-US" b="0" dirty="0"/>
                  <a:t> </a:t>
                </a:r>
                <a14:m>
                  <m:oMath xmlns:m="http://schemas.openxmlformats.org/officeDocument/2006/math">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𝑡</m:t>
                            </m:r>
                          </m:num>
                          <m:den>
                            <m:r>
                              <a:rPr lang="en-US" b="0" i="1" smtClean="0">
                                <a:latin typeface="Cambria Math" panose="02040503050406030204" pitchFamily="18" charset="0"/>
                                <a:ea typeface="Cambria Math" panose="02040503050406030204" pitchFamily="18" charset="0"/>
                              </a:rPr>
                              <m:t>2</m:t>
                            </m:r>
                          </m:den>
                        </m:f>
                      </m:e>
                    </m:d>
                  </m:oMath>
                </a14:m>
                <a:r>
                  <a:rPr lang="zh-CN" altLang="en-US" b="0" dirty="0"/>
                  <a:t> ，证明</a:t>
                </a:r>
                <a:endParaRPr lang="en-US" b="0" dirty="0"/>
              </a:p>
              <a:p>
                <a:endParaRPr lang="en-CN" dirty="0"/>
              </a:p>
            </p:txBody>
          </p:sp>
        </mc:Choice>
        <mc:Fallback xmlns="">
          <p:sp>
            <p:nvSpPr>
              <p:cNvPr id="10" name="TextBox 9">
                <a:extLst>
                  <a:ext uri="{FF2B5EF4-FFF2-40B4-BE49-F238E27FC236}">
                    <a16:creationId xmlns:a16="http://schemas.microsoft.com/office/drawing/2014/main" id="{16AB2D87-DB97-4D1B-4061-A5AD367E53E8}"/>
                  </a:ext>
                </a:extLst>
              </p:cNvPr>
              <p:cNvSpPr txBox="1">
                <a:spLocks noRot="1" noChangeAspect="1" noMove="1" noResize="1" noEditPoints="1" noAdjustHandles="1" noChangeArrowheads="1" noChangeShapeType="1" noTextEdit="1"/>
              </p:cNvSpPr>
              <p:nvPr/>
            </p:nvSpPr>
            <p:spPr>
              <a:xfrm>
                <a:off x="1066799" y="1043609"/>
                <a:ext cx="6079435" cy="783869"/>
              </a:xfrm>
              <a:prstGeom prst="rect">
                <a:avLst/>
              </a:prstGeom>
              <a:blipFill>
                <a:blip r:embed="rId3"/>
                <a:stretch>
                  <a:fillRect l="-835"/>
                </a:stretch>
              </a:blipFill>
            </p:spPr>
            <p:txBody>
              <a:bodyPr/>
              <a:lstStyle/>
              <a:p>
                <a:r>
                  <a:rPr lang="en-CN">
                    <a:noFill/>
                  </a:rPr>
                  <a:t> </a:t>
                </a:r>
              </a:p>
            </p:txBody>
          </p:sp>
        </mc:Fallback>
      </mc:AlternateContent>
      <p:pic>
        <p:nvPicPr>
          <p:cNvPr id="11" name="Picture 10">
            <a:extLst>
              <a:ext uri="{FF2B5EF4-FFF2-40B4-BE49-F238E27FC236}">
                <a16:creationId xmlns:a16="http://schemas.microsoft.com/office/drawing/2014/main" id="{4EA863BC-EF09-0ECA-F158-4F98883C3AE8}"/>
              </a:ext>
            </a:extLst>
          </p:cNvPr>
          <p:cNvPicPr>
            <a:picLocks noChangeAspect="1"/>
          </p:cNvPicPr>
          <p:nvPr/>
        </p:nvPicPr>
        <p:blipFill>
          <a:blip r:embed="rId4"/>
          <a:stretch>
            <a:fillRect/>
          </a:stretch>
        </p:blipFill>
        <p:spPr>
          <a:xfrm>
            <a:off x="5005668" y="3514750"/>
            <a:ext cx="6464300" cy="1003300"/>
          </a:xfrm>
          <a:prstGeom prst="rect">
            <a:avLst/>
          </a:prstGeom>
        </p:spPr>
      </p:pic>
      <p:sp>
        <p:nvSpPr>
          <p:cNvPr id="12" name="TextBox 11">
            <a:extLst>
              <a:ext uri="{FF2B5EF4-FFF2-40B4-BE49-F238E27FC236}">
                <a16:creationId xmlns:a16="http://schemas.microsoft.com/office/drawing/2014/main" id="{29F6EB46-AFDB-8310-8BAF-F72D01C6BFD4}"/>
              </a:ext>
            </a:extLst>
          </p:cNvPr>
          <p:cNvSpPr txBox="1"/>
          <p:nvPr/>
        </p:nvSpPr>
        <p:spPr>
          <a:xfrm>
            <a:off x="9332843" y="208722"/>
            <a:ext cx="2554357" cy="369332"/>
          </a:xfrm>
          <a:prstGeom prst="rect">
            <a:avLst/>
          </a:prstGeom>
          <a:noFill/>
        </p:spPr>
        <p:txBody>
          <a:bodyPr wrap="square" rtlCol="0">
            <a:spAutoFit/>
          </a:bodyPr>
          <a:lstStyle/>
          <a:p>
            <a:r>
              <a:rPr lang="en-CN" dirty="0"/>
              <a:t>插曲</a:t>
            </a:r>
          </a:p>
        </p:txBody>
      </p:sp>
    </p:spTree>
    <p:extLst>
      <p:ext uri="{BB962C8B-B14F-4D97-AF65-F5344CB8AC3E}">
        <p14:creationId xmlns:p14="http://schemas.microsoft.com/office/powerpoint/2010/main" val="24679162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2B3AE-159E-5A48-8961-6CFE2D442380}"/>
              </a:ext>
            </a:extLst>
          </p:cNvPr>
          <p:cNvSpPr>
            <a:spLocks noGrp="1"/>
          </p:cNvSpPr>
          <p:nvPr>
            <p:ph type="title"/>
          </p:nvPr>
        </p:nvSpPr>
        <p:spPr>
          <a:xfrm>
            <a:off x="1038225" y="2103437"/>
            <a:ext cx="10515600" cy="1325563"/>
          </a:xfrm>
        </p:spPr>
        <p:txBody>
          <a:bodyPr>
            <a:normAutofit fontScale="90000"/>
          </a:bodyPr>
          <a:lstStyle/>
          <a:p>
            <a:r>
              <a:rPr lang="en-CN" dirty="0">
                <a:solidFill>
                  <a:schemeClr val="bg1">
                    <a:lumMod val="65000"/>
                  </a:schemeClr>
                </a:solidFill>
              </a:rPr>
              <a:t>Model-I:   Binary model</a:t>
            </a:r>
            <a:br>
              <a:rPr lang="en-CN" dirty="0"/>
            </a:br>
            <a:r>
              <a:rPr lang="en-CN" dirty="0">
                <a:solidFill>
                  <a:schemeClr val="bg1">
                    <a:lumMod val="65000"/>
                  </a:schemeClr>
                </a:solidFill>
              </a:rPr>
              <a:t>Model-II:  Einstein Model of Solid</a:t>
            </a:r>
            <a:br>
              <a:rPr lang="en-CN" dirty="0">
                <a:solidFill>
                  <a:schemeClr val="bg1">
                    <a:lumMod val="65000"/>
                  </a:schemeClr>
                </a:solidFill>
              </a:rPr>
            </a:br>
            <a:r>
              <a:rPr lang="en-CN" dirty="0"/>
              <a:t>Model-III: The ideal Gas</a:t>
            </a:r>
          </a:p>
        </p:txBody>
      </p:sp>
    </p:spTree>
    <p:extLst>
      <p:ext uri="{BB962C8B-B14F-4D97-AF65-F5344CB8AC3E}">
        <p14:creationId xmlns:p14="http://schemas.microsoft.com/office/powerpoint/2010/main" val="1674767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B061FE-3ED1-584A-9BC7-1297B30EFFE4}"/>
              </a:ext>
            </a:extLst>
          </p:cNvPr>
          <p:cNvSpPr>
            <a:spLocks noGrp="1"/>
          </p:cNvSpPr>
          <p:nvPr>
            <p:ph type="title"/>
          </p:nvPr>
        </p:nvSpPr>
        <p:spPr>
          <a:xfrm>
            <a:off x="195263" y="322263"/>
            <a:ext cx="10515600" cy="606425"/>
          </a:xfrm>
        </p:spPr>
        <p:txBody>
          <a:bodyPr>
            <a:normAutofit fontScale="90000"/>
          </a:bodyPr>
          <a:lstStyle/>
          <a:p>
            <a:r>
              <a:rPr lang="en-CN" dirty="0"/>
              <a:t>The ideal Gas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62ADED7-D5AA-9846-928F-FFE38F1D61BB}"/>
                  </a:ext>
                </a:extLst>
              </p:cNvPr>
              <p:cNvSpPr txBox="1"/>
              <p:nvPr/>
            </p:nvSpPr>
            <p:spPr>
              <a:xfrm>
                <a:off x="600075" y="1257300"/>
                <a:ext cx="11044238" cy="944746"/>
              </a:xfrm>
              <a:prstGeom prst="rect">
                <a:avLst/>
              </a:prstGeom>
              <a:noFill/>
            </p:spPr>
            <p:txBody>
              <a:bodyPr wrap="square" rtlCol="0">
                <a:spAutoFit/>
              </a:bodyPr>
              <a:lstStyle/>
              <a:p>
                <a:r>
                  <a:rPr lang="en-CN" dirty="0"/>
                  <a:t>首先考虑</a:t>
                </a:r>
                <a:r>
                  <a:rPr lang="en-CN" dirty="0">
                    <a:solidFill>
                      <a:srgbClr val="FF0000"/>
                    </a:solidFill>
                  </a:rPr>
                  <a:t>单个</a:t>
                </a:r>
                <a:r>
                  <a:rPr lang="en-CN" dirty="0"/>
                  <a:t>气体分子</a:t>
                </a:r>
                <a:r>
                  <a:rPr lang="zh-CN" altLang="en-US" dirty="0"/>
                  <a:t>，其动能为</a:t>
                </a:r>
                <a:r>
                  <a:rPr lang="en-US" altLang="zh-CN" dirty="0"/>
                  <a:t>U</a:t>
                </a:r>
                <a:r>
                  <a:rPr lang="zh-CN" altLang="en-US" dirty="0"/>
                  <a:t>，放置在体积为</a:t>
                </a:r>
                <a:r>
                  <a:rPr lang="en-US" altLang="zh-CN" dirty="0"/>
                  <a:t>V</a:t>
                </a:r>
                <a:r>
                  <a:rPr lang="zh-CN" altLang="en-US" dirty="0"/>
                  <a:t>的容器内。可以想象，体积越大，该分子的状态数就越多。另外，分子的动量越多，状态数自然也越多。为了方便，我们可以引入空间体积</a:t>
                </a:r>
                <a:r>
                  <a:rPr lang="en-US" altLang="zh-CN" dirty="0"/>
                  <a:t>V</a:t>
                </a:r>
                <a:r>
                  <a:rPr lang="zh-CN" altLang="en-US" dirty="0"/>
                  <a:t>，及由动量张成的空间</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𝑝</m:t>
                        </m:r>
                      </m:sub>
                    </m:sSub>
                  </m:oMath>
                </a14:m>
                <a:r>
                  <a:rPr lang="zh-CN" altLang="en-US" dirty="0"/>
                  <a:t>，两者综合在一起构成所谓的</a:t>
                </a:r>
                <a:r>
                  <a:rPr lang="zh-CN" altLang="en-US" dirty="0">
                    <a:solidFill>
                      <a:srgbClr val="FF0000"/>
                    </a:solidFill>
                  </a:rPr>
                  <a:t>相空间</a:t>
                </a:r>
                <a:r>
                  <a:rPr lang="en-US" altLang="zh-CN" dirty="0">
                    <a:solidFill>
                      <a:srgbClr val="FF0000"/>
                    </a:solidFill>
                  </a:rPr>
                  <a:t>(Gibbs)</a:t>
                </a:r>
                <a:r>
                  <a:rPr lang="zh-CN" altLang="en-US" dirty="0"/>
                  <a:t>。</a:t>
                </a:r>
                <a:endParaRPr lang="en-CN" dirty="0"/>
              </a:p>
            </p:txBody>
          </p:sp>
        </mc:Choice>
        <mc:Fallback xmlns="">
          <p:sp>
            <p:nvSpPr>
              <p:cNvPr id="5" name="TextBox 4">
                <a:extLst>
                  <a:ext uri="{FF2B5EF4-FFF2-40B4-BE49-F238E27FC236}">
                    <a16:creationId xmlns:a16="http://schemas.microsoft.com/office/drawing/2014/main" id="{762ADED7-D5AA-9846-928F-FFE38F1D61BB}"/>
                  </a:ext>
                </a:extLst>
              </p:cNvPr>
              <p:cNvSpPr txBox="1">
                <a:spLocks noRot="1" noChangeAspect="1" noMove="1" noResize="1" noEditPoints="1" noAdjustHandles="1" noChangeArrowheads="1" noChangeShapeType="1" noTextEdit="1"/>
              </p:cNvSpPr>
              <p:nvPr/>
            </p:nvSpPr>
            <p:spPr>
              <a:xfrm>
                <a:off x="600075" y="1257300"/>
                <a:ext cx="11044238" cy="944746"/>
              </a:xfrm>
              <a:prstGeom prst="rect">
                <a:avLst/>
              </a:prstGeom>
              <a:blipFill>
                <a:blip r:embed="rId2"/>
                <a:stretch>
                  <a:fillRect l="-460" t="-2632" b="-7895"/>
                </a:stretch>
              </a:blipFill>
            </p:spPr>
            <p:txBody>
              <a:bodyPr/>
              <a:lstStyle/>
              <a:p>
                <a:r>
                  <a:rPr lang="en-CN">
                    <a:noFill/>
                  </a:rPr>
                  <a:t> </a:t>
                </a:r>
              </a:p>
            </p:txBody>
          </p:sp>
        </mc:Fallback>
      </mc:AlternateContent>
      <p:sp>
        <p:nvSpPr>
          <p:cNvPr id="6" name="TextBox 5">
            <a:extLst>
              <a:ext uri="{FF2B5EF4-FFF2-40B4-BE49-F238E27FC236}">
                <a16:creationId xmlns:a16="http://schemas.microsoft.com/office/drawing/2014/main" id="{741D2700-0B3B-5845-AB5B-33B96F8DAD63}"/>
              </a:ext>
            </a:extLst>
          </p:cNvPr>
          <p:cNvSpPr txBox="1"/>
          <p:nvPr/>
        </p:nvSpPr>
        <p:spPr>
          <a:xfrm>
            <a:off x="600075" y="2237038"/>
            <a:ext cx="9115425" cy="646331"/>
          </a:xfrm>
          <a:prstGeom prst="rect">
            <a:avLst/>
          </a:prstGeom>
          <a:noFill/>
        </p:spPr>
        <p:txBody>
          <a:bodyPr wrap="square" rtlCol="0">
            <a:spAutoFit/>
          </a:bodyPr>
          <a:lstStyle/>
          <a:p>
            <a:r>
              <a:rPr lang="en-CN" dirty="0"/>
              <a:t>In dynamical system theory, a </a:t>
            </a:r>
            <a:r>
              <a:rPr lang="en-CN" dirty="0">
                <a:solidFill>
                  <a:srgbClr val="FF0000"/>
                </a:solidFill>
              </a:rPr>
              <a:t>phase space </a:t>
            </a:r>
            <a:r>
              <a:rPr lang="en-CN" dirty="0"/>
              <a:t>is a space in which all possible states of a system are represented, with each possible state corresponding to one unique point in the pahse space. </a:t>
            </a:r>
          </a:p>
        </p:txBody>
      </p:sp>
      <p:pic>
        <p:nvPicPr>
          <p:cNvPr id="6146" name="Picture 2">
            <a:extLst>
              <a:ext uri="{FF2B5EF4-FFF2-40B4-BE49-F238E27FC236}">
                <a16:creationId xmlns:a16="http://schemas.microsoft.com/office/drawing/2014/main" id="{FF86B915-E6CA-BA44-9E96-3460D8E6E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8691" y="2406149"/>
            <a:ext cx="2064343" cy="412868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781E2E3-1CE2-8243-B361-497BE337BD7D}"/>
                  </a:ext>
                </a:extLst>
              </p:cNvPr>
              <p:cNvSpPr txBox="1"/>
              <p:nvPr/>
            </p:nvSpPr>
            <p:spPr>
              <a:xfrm>
                <a:off x="600075" y="4139724"/>
                <a:ext cx="11044238" cy="1309461"/>
              </a:xfrm>
              <a:prstGeom prst="rect">
                <a:avLst/>
              </a:prstGeom>
              <a:noFill/>
            </p:spPr>
            <p:txBody>
              <a:bodyPr wrap="square" rtlCol="0">
                <a:spAutoFit/>
              </a:bodyPr>
              <a:lstStyle/>
              <a:p>
                <a:r>
                  <a:rPr lang="en-US" dirty="0" err="1"/>
                  <a:t>那么该系统的Multiplicity自然正比于两个体积之积</a:t>
                </a:r>
                <a:endParaRPr lang="en-US" dirty="0"/>
              </a:p>
              <a:p>
                <a:endParaRPr lang="en-US" dirty="0"/>
              </a:p>
              <a:p>
                <a:pPr algn="ct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𝑔</m:t>
                          </m:r>
                        </m:e>
                        <m:sub>
                          <m:r>
                            <a:rPr lang="en-US" sz="4000" b="0" i="1" smtClean="0">
                              <a:latin typeface="Cambria Math" panose="02040503050406030204" pitchFamily="18" charset="0"/>
                            </a:rPr>
                            <m:t>1</m:t>
                          </m:r>
                        </m:sub>
                      </m:sSub>
                      <m:r>
                        <a:rPr lang="en-US" sz="4000" i="1">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𝑉</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𝑉</m:t>
                          </m:r>
                        </m:e>
                        <m:sub>
                          <m:r>
                            <a:rPr lang="en-US" sz="4000" b="0" i="1" smtClean="0">
                              <a:latin typeface="Cambria Math" panose="02040503050406030204" pitchFamily="18" charset="0"/>
                              <a:ea typeface="Cambria Math" panose="02040503050406030204" pitchFamily="18" charset="0"/>
                            </a:rPr>
                            <m:t>𝑝</m:t>
                          </m:r>
                        </m:sub>
                      </m:sSub>
                    </m:oMath>
                  </m:oMathPara>
                </a14:m>
                <a:endParaRPr lang="en-CN" sz="4000" dirty="0"/>
              </a:p>
            </p:txBody>
          </p:sp>
        </mc:Choice>
        <mc:Fallback xmlns="">
          <p:sp>
            <p:nvSpPr>
              <p:cNvPr id="8" name="TextBox 7">
                <a:extLst>
                  <a:ext uri="{FF2B5EF4-FFF2-40B4-BE49-F238E27FC236}">
                    <a16:creationId xmlns:a16="http://schemas.microsoft.com/office/drawing/2014/main" id="{3781E2E3-1CE2-8243-B361-497BE337BD7D}"/>
                  </a:ext>
                </a:extLst>
              </p:cNvPr>
              <p:cNvSpPr txBox="1">
                <a:spLocks noRot="1" noChangeAspect="1" noMove="1" noResize="1" noEditPoints="1" noAdjustHandles="1" noChangeArrowheads="1" noChangeShapeType="1" noTextEdit="1"/>
              </p:cNvSpPr>
              <p:nvPr/>
            </p:nvSpPr>
            <p:spPr>
              <a:xfrm>
                <a:off x="600075" y="4139724"/>
                <a:ext cx="11044238" cy="1309461"/>
              </a:xfrm>
              <a:prstGeom prst="rect">
                <a:avLst/>
              </a:prstGeom>
              <a:blipFill>
                <a:blip r:embed="rId4"/>
                <a:stretch>
                  <a:fillRect l="-460" t="-952" b="-3810"/>
                </a:stretch>
              </a:blipFill>
            </p:spPr>
            <p:txBody>
              <a:bodyPr/>
              <a:lstStyle/>
              <a:p>
                <a:r>
                  <a:rPr lang="en-CN">
                    <a:noFill/>
                  </a:rPr>
                  <a:t> </a:t>
                </a:r>
              </a:p>
            </p:txBody>
          </p:sp>
        </mc:Fallback>
      </mc:AlternateContent>
    </p:spTree>
    <p:extLst>
      <p:ext uri="{BB962C8B-B14F-4D97-AF65-F5344CB8AC3E}">
        <p14:creationId xmlns:p14="http://schemas.microsoft.com/office/powerpoint/2010/main" val="42290351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3">
                <a:extLst>
                  <a:ext uri="{FF2B5EF4-FFF2-40B4-BE49-F238E27FC236}">
                    <a16:creationId xmlns:a16="http://schemas.microsoft.com/office/drawing/2014/main" id="{34B061FE-3ED1-584A-9BC7-1297B30EFFE4}"/>
                  </a:ext>
                </a:extLst>
              </p:cNvPr>
              <p:cNvSpPr>
                <a:spLocks noGrp="1"/>
              </p:cNvSpPr>
              <p:nvPr>
                <p:ph type="title"/>
              </p:nvPr>
            </p:nvSpPr>
            <p:spPr>
              <a:xfrm>
                <a:off x="195263" y="322263"/>
                <a:ext cx="10515600" cy="606425"/>
              </a:xfrm>
            </p:spPr>
            <p:txBody>
              <a:bodyPr>
                <a:normAutofit fontScale="90000"/>
              </a:bodyPr>
              <a:lstStyle/>
              <a:p>
                <a:pPr/>
                <a14:m>
                  <m:oMathPara xmlns:m="http://schemas.openxmlformats.org/officeDocument/2006/math">
                    <m:oMathParaPr>
                      <m:jc m:val="left"/>
                    </m:oMathParaPr>
                    <m:oMath xmlns:m="http://schemas.openxmlformats.org/officeDocument/2006/math">
                      <m:sSub>
                        <m:sSubPr>
                          <m:ctrlPr>
                            <a:rPr lang="en-CN"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𝑉</m:t>
                          </m:r>
                        </m:e>
                        <m:sub>
                          <m:r>
                            <a:rPr lang="en-US" b="0" i="1" smtClean="0">
                              <a:solidFill>
                                <a:srgbClr val="FF0000"/>
                              </a:solidFill>
                              <a:latin typeface="Cambria Math" panose="02040503050406030204" pitchFamily="18" charset="0"/>
                            </a:rPr>
                            <m:t>𝑝</m:t>
                          </m:r>
                        </m:sub>
                      </m:sSub>
                    </m:oMath>
                  </m:oMathPara>
                </a14:m>
                <a:endParaRPr lang="en-CN" dirty="0"/>
              </a:p>
            </p:txBody>
          </p:sp>
        </mc:Choice>
        <mc:Fallback xmlns="">
          <p:sp>
            <p:nvSpPr>
              <p:cNvPr id="4" name="Title 3">
                <a:extLst>
                  <a:ext uri="{FF2B5EF4-FFF2-40B4-BE49-F238E27FC236}">
                    <a16:creationId xmlns:a16="http://schemas.microsoft.com/office/drawing/2014/main" id="{34B061FE-3ED1-584A-9BC7-1297B30EFFE4}"/>
                  </a:ext>
                </a:extLst>
              </p:cNvPr>
              <p:cNvSpPr>
                <a:spLocks noGrp="1" noRot="1" noChangeAspect="1" noMove="1" noResize="1" noEditPoints="1" noAdjustHandles="1" noChangeArrowheads="1" noChangeShapeType="1" noTextEdit="1"/>
              </p:cNvSpPr>
              <p:nvPr>
                <p:ph type="title"/>
              </p:nvPr>
            </p:nvSpPr>
            <p:spPr>
              <a:xfrm>
                <a:off x="195263" y="322263"/>
                <a:ext cx="10515600" cy="606425"/>
              </a:xfrm>
              <a:blipFill>
                <a:blip r:embed="rId2"/>
                <a:stretch>
                  <a:fillRect l="-844" b="-22917"/>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D59DA0F7-8234-1F4F-9D70-F29DA219A52E}"/>
              </a:ext>
            </a:extLst>
          </p:cNvPr>
          <p:cNvPicPr>
            <a:picLocks noChangeAspect="1"/>
          </p:cNvPicPr>
          <p:nvPr/>
        </p:nvPicPr>
        <p:blipFill>
          <a:blip r:embed="rId3"/>
          <a:stretch>
            <a:fillRect/>
          </a:stretch>
        </p:blipFill>
        <p:spPr>
          <a:xfrm>
            <a:off x="195263" y="1114366"/>
            <a:ext cx="11749087" cy="4959090"/>
          </a:xfrm>
          <a:prstGeom prst="rect">
            <a:avLst/>
          </a:prstGeom>
        </p:spPr>
      </p:pic>
    </p:spTree>
    <p:extLst>
      <p:ext uri="{BB962C8B-B14F-4D97-AF65-F5344CB8AC3E}">
        <p14:creationId xmlns:p14="http://schemas.microsoft.com/office/powerpoint/2010/main" val="1025397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08076472-95BE-03DB-FD61-B6819D64D45F}"/>
                  </a:ext>
                </a:extLst>
              </p:cNvPr>
              <p:cNvSpPr>
                <a:spLocks noGrp="1"/>
              </p:cNvSpPr>
              <p:nvPr>
                <p:ph type="title"/>
              </p:nvPr>
            </p:nvSpPr>
            <p:spPr>
              <a:xfrm>
                <a:off x="917713" y="2103437"/>
                <a:ext cx="10515600" cy="1325563"/>
              </a:xfrm>
            </p:spPr>
            <p:txBody>
              <a:bodyPr>
                <a:noAutofit/>
              </a:bodyPr>
              <a:lstStyle/>
              <a:p>
                <a:pPr algn="ctr"/>
                <a14:m>
                  <m:oMath xmlns:m="http://schemas.openxmlformats.org/officeDocument/2006/math">
                    <m:r>
                      <m:rPr>
                        <m:sty m:val="p"/>
                      </m:rPr>
                      <a:rPr lang="en-CN" sz="9600" i="1" smtClean="0">
                        <a:solidFill>
                          <a:srgbClr val="FF0000"/>
                        </a:solidFill>
                        <a:latin typeface="Cambria Math" panose="02040503050406030204" pitchFamily="18" charset="0"/>
                        <a:ea typeface="Cambria Math" panose="02040503050406030204" pitchFamily="18" charset="0"/>
                      </a:rPr>
                      <m:t>g</m:t>
                    </m:r>
                    <m:r>
                      <a:rPr lang="en-CN" sz="9600" i="1" smtClean="0">
                        <a:solidFill>
                          <a:schemeClr val="tx1"/>
                        </a:solidFill>
                        <a:latin typeface="Cambria Math" panose="02040503050406030204" pitchFamily="18" charset="0"/>
                        <a:ea typeface="Cambria Math" panose="02040503050406030204" pitchFamily="18" charset="0"/>
                      </a:rPr>
                      <m:t>∝</m:t>
                    </m:r>
                    <m:r>
                      <a:rPr lang="en-CN" sz="9600" i="1" smtClean="0">
                        <a:solidFill>
                          <a:srgbClr val="FF0000"/>
                        </a:solidFill>
                        <a:latin typeface="Cambria Math" panose="02040503050406030204" pitchFamily="18" charset="0"/>
                        <a:ea typeface="Cambria Math" panose="02040503050406030204" pitchFamily="18" charset="0"/>
                      </a:rPr>
                      <m:t>∞</m:t>
                    </m:r>
                  </m:oMath>
                </a14:m>
                <a:r>
                  <a:rPr lang="en-CN" sz="9600" dirty="0"/>
                  <a:t>???</a:t>
                </a:r>
              </a:p>
            </p:txBody>
          </p:sp>
        </mc:Choice>
        <mc:Fallback xmlns="">
          <p:sp>
            <p:nvSpPr>
              <p:cNvPr id="5" name="Title 4">
                <a:extLst>
                  <a:ext uri="{FF2B5EF4-FFF2-40B4-BE49-F238E27FC236}">
                    <a16:creationId xmlns:a16="http://schemas.microsoft.com/office/drawing/2014/main" id="{08076472-95BE-03DB-FD61-B6819D64D45F}"/>
                  </a:ext>
                </a:extLst>
              </p:cNvPr>
              <p:cNvSpPr>
                <a:spLocks noGrp="1" noRot="1" noChangeAspect="1" noMove="1" noResize="1" noEditPoints="1" noAdjustHandles="1" noChangeArrowheads="1" noChangeShapeType="1" noTextEdit="1"/>
              </p:cNvSpPr>
              <p:nvPr>
                <p:ph type="title"/>
              </p:nvPr>
            </p:nvSpPr>
            <p:spPr>
              <a:xfrm>
                <a:off x="917713" y="2103437"/>
                <a:ext cx="10515600" cy="1325563"/>
              </a:xfrm>
              <a:blipFill>
                <a:blip r:embed="rId2"/>
                <a:stretch>
                  <a:fillRect t="-37736" b="-53774"/>
                </a:stretch>
              </a:blipFill>
            </p:spPr>
            <p:txBody>
              <a:bodyPr/>
              <a:lstStyle/>
              <a:p>
                <a:r>
                  <a:rPr lang="en-CN">
                    <a:noFill/>
                  </a:rPr>
                  <a:t> </a:t>
                </a:r>
              </a:p>
            </p:txBody>
          </p:sp>
        </mc:Fallback>
      </mc:AlternateContent>
    </p:spTree>
    <p:extLst>
      <p:ext uri="{BB962C8B-B14F-4D97-AF65-F5344CB8AC3E}">
        <p14:creationId xmlns:p14="http://schemas.microsoft.com/office/powerpoint/2010/main" val="1337000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itle 4">
                <a:extLst>
                  <a:ext uri="{FF2B5EF4-FFF2-40B4-BE49-F238E27FC236}">
                    <a16:creationId xmlns:a16="http://schemas.microsoft.com/office/drawing/2014/main" id="{08076472-95BE-03DB-FD61-B6819D64D45F}"/>
                  </a:ext>
                </a:extLst>
              </p:cNvPr>
              <p:cNvSpPr>
                <a:spLocks noGrp="1"/>
              </p:cNvSpPr>
              <p:nvPr>
                <p:ph type="title"/>
              </p:nvPr>
            </p:nvSpPr>
            <p:spPr>
              <a:xfrm>
                <a:off x="917713" y="2103437"/>
                <a:ext cx="10515600" cy="1325563"/>
              </a:xfrm>
            </p:spPr>
            <p:txBody>
              <a:bodyPr>
                <a:noAutofit/>
              </a:bodyPr>
              <a:lstStyle/>
              <a:p>
                <a:pPr algn="ctr"/>
                <a14:m>
                  <m:oMath xmlns:m="http://schemas.openxmlformats.org/officeDocument/2006/math">
                    <m:r>
                      <m:rPr>
                        <m:sty m:val="p"/>
                      </m:rPr>
                      <a:rPr lang="en-CN" sz="9600" i="1" smtClean="0">
                        <a:solidFill>
                          <a:srgbClr val="FF0000"/>
                        </a:solidFill>
                        <a:latin typeface="Cambria Math" panose="02040503050406030204" pitchFamily="18" charset="0"/>
                        <a:ea typeface="Cambria Math" panose="02040503050406030204" pitchFamily="18" charset="0"/>
                      </a:rPr>
                      <m:t>g</m:t>
                    </m:r>
                    <m:r>
                      <a:rPr lang="en-CN" sz="9600" i="1" smtClean="0">
                        <a:solidFill>
                          <a:schemeClr val="tx1"/>
                        </a:solidFill>
                        <a:latin typeface="Cambria Math" panose="02040503050406030204" pitchFamily="18" charset="0"/>
                        <a:ea typeface="Cambria Math" panose="02040503050406030204" pitchFamily="18" charset="0"/>
                      </a:rPr>
                      <m:t>∝</m:t>
                    </m:r>
                    <m:r>
                      <a:rPr lang="en-CN" sz="9600" i="1" smtClean="0">
                        <a:solidFill>
                          <a:srgbClr val="FF0000"/>
                        </a:solidFill>
                        <a:latin typeface="Cambria Math" panose="02040503050406030204" pitchFamily="18" charset="0"/>
                        <a:ea typeface="Cambria Math" panose="02040503050406030204" pitchFamily="18" charset="0"/>
                      </a:rPr>
                      <m:t>∞</m:t>
                    </m:r>
                  </m:oMath>
                </a14:m>
                <a:r>
                  <a:rPr lang="en-CN" sz="9600" dirty="0"/>
                  <a:t>???</a:t>
                </a:r>
              </a:p>
            </p:txBody>
          </p:sp>
        </mc:Choice>
        <mc:Fallback xmlns="">
          <p:sp>
            <p:nvSpPr>
              <p:cNvPr id="5" name="Title 4">
                <a:extLst>
                  <a:ext uri="{FF2B5EF4-FFF2-40B4-BE49-F238E27FC236}">
                    <a16:creationId xmlns:a16="http://schemas.microsoft.com/office/drawing/2014/main" id="{08076472-95BE-03DB-FD61-B6819D64D45F}"/>
                  </a:ext>
                </a:extLst>
              </p:cNvPr>
              <p:cNvSpPr>
                <a:spLocks noGrp="1" noRot="1" noChangeAspect="1" noMove="1" noResize="1" noEditPoints="1" noAdjustHandles="1" noChangeArrowheads="1" noChangeShapeType="1" noTextEdit="1"/>
              </p:cNvSpPr>
              <p:nvPr>
                <p:ph type="title"/>
              </p:nvPr>
            </p:nvSpPr>
            <p:spPr>
              <a:xfrm>
                <a:off x="917713" y="2103437"/>
                <a:ext cx="10515600" cy="1325563"/>
              </a:xfrm>
              <a:blipFill>
                <a:blip r:embed="rId2"/>
                <a:stretch>
                  <a:fillRect t="-37736" b="-53774"/>
                </a:stretch>
              </a:blipFill>
            </p:spPr>
            <p:txBody>
              <a:bodyPr/>
              <a:lstStyle/>
              <a:p>
                <a:r>
                  <a:rPr lang="en-CN">
                    <a:noFill/>
                  </a:rPr>
                  <a:t> </a:t>
                </a:r>
              </a:p>
            </p:txBody>
          </p:sp>
        </mc:Fallback>
      </mc:AlternateContent>
      <p:sp>
        <p:nvSpPr>
          <p:cNvPr id="2" name="TextBox 1">
            <a:extLst>
              <a:ext uri="{FF2B5EF4-FFF2-40B4-BE49-F238E27FC236}">
                <a16:creationId xmlns:a16="http://schemas.microsoft.com/office/drawing/2014/main" id="{017B207F-141F-0571-78AE-BA4904BBB997}"/>
              </a:ext>
            </a:extLst>
          </p:cNvPr>
          <p:cNvSpPr txBox="1"/>
          <p:nvPr/>
        </p:nvSpPr>
        <p:spPr>
          <a:xfrm>
            <a:off x="3130826" y="4393096"/>
            <a:ext cx="5715000" cy="369332"/>
          </a:xfrm>
          <a:prstGeom prst="rect">
            <a:avLst/>
          </a:prstGeom>
          <a:noFill/>
        </p:spPr>
        <p:txBody>
          <a:bodyPr wrap="square" rtlCol="0">
            <a:spAutoFit/>
          </a:bodyPr>
          <a:lstStyle/>
          <a:p>
            <a:pPr algn="ctr"/>
            <a:r>
              <a:rPr lang="en-CN" dirty="0"/>
              <a:t>测量精确度问题</a:t>
            </a:r>
          </a:p>
        </p:txBody>
      </p:sp>
    </p:spTree>
    <p:extLst>
      <p:ext uri="{BB962C8B-B14F-4D97-AF65-F5344CB8AC3E}">
        <p14:creationId xmlns:p14="http://schemas.microsoft.com/office/powerpoint/2010/main" val="19760899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4AD7D1-017A-134E-84F2-91791E4FD1E7}"/>
                  </a:ext>
                </a:extLst>
              </p:cNvPr>
              <p:cNvSpPr txBox="1"/>
              <p:nvPr/>
            </p:nvSpPr>
            <p:spPr>
              <a:xfrm>
                <a:off x="631031" y="1225689"/>
                <a:ext cx="10929937" cy="3970318"/>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latin typeface="SimSun" panose="02010600030101010101" pitchFamily="2" charset="-122"/>
                    <a:ea typeface="SimSun" panose="02010600030101010101" pitchFamily="2" charset="-122"/>
                  </a:rPr>
                  <a:t>假设我们把体积分成小块，然后检测粒子是否在这些较小的体积中。根据我们对体积的切割程度，我们将看到对动量测量精度的依赖。</a:t>
                </a:r>
                <a:endParaRPr lang="en-US" altLang="zh-CN" dirty="0">
                  <a:latin typeface="SimSun" panose="02010600030101010101" pitchFamily="2" charset="-122"/>
                  <a:ea typeface="SimSun" panose="02010600030101010101" pitchFamily="2" charset="-122"/>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CN" dirty="0"/>
                  <a:t>Invoking the Heisenberg uncertainty principle, we know that there is limit to how well-defined the position and momentum can be. In one dimension:</a:t>
                </a:r>
              </a:p>
              <a:p>
                <a:pPr algn="ctr"/>
                <a14:m>
                  <m:oMath xmlns:m="http://schemas.openxmlformats.org/officeDocument/2006/math">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𝑥</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h</m:t>
                    </m:r>
                  </m:oMath>
                </a14:m>
                <a:r>
                  <a:rPr lang="en-US" b="0" dirty="0">
                    <a:ea typeface="Cambria Math" panose="02040503050406030204" pitchFamily="18" charset="0"/>
                  </a:rPr>
                  <a:t>                               h is Planck’s constant</a:t>
                </a:r>
              </a:p>
              <a:p>
                <a:r>
                  <a:rPr lang="en-CN" dirty="0"/>
                  <a:t>     where </a:t>
                </a:r>
                <a14:m>
                  <m:oMath xmlns:m="http://schemas.openxmlformats.org/officeDocument/2006/math">
                    <m:r>
                      <a:rPr lang="en-C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oMath>
                </a14:m>
                <a:r>
                  <a:rPr lang="en-CN" dirty="0"/>
                  <a:t> is the statistial spread in the x component of the position vector</a:t>
                </a:r>
              </a:p>
              <a:p>
                <a:r>
                  <a:rPr lang="en-CN" dirty="0"/>
                  <a:t>                 </a:t>
                </a:r>
                <a14:m>
                  <m:oMath xmlns:m="http://schemas.openxmlformats.org/officeDocument/2006/math">
                    <m:r>
                      <a:rPr lang="en-CN" i="1" smtClean="0">
                        <a:latin typeface="Cambria Math" panose="02040503050406030204" pitchFamily="18" charset="0"/>
                        <a:ea typeface="Cambria Math" panose="02040503050406030204" pitchFamily="18" charset="0"/>
                      </a:rPr>
                      <m:t>∆</m:t>
                    </m:r>
                    <m:sSub>
                      <m:sSubPr>
                        <m:ctrlPr>
                          <a:rPr lang="en-CN"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𝑥</m:t>
                        </m:r>
                      </m:sub>
                    </m:sSub>
                  </m:oMath>
                </a14:m>
                <a:r>
                  <a:rPr lang="en-CN" dirty="0"/>
                  <a:t> is the statistical spread in the x component of the momentum vector</a:t>
                </a:r>
              </a:p>
              <a:p>
                <a:endParaRPr lang="en-CN" dirty="0"/>
              </a:p>
              <a:p>
                <a:pPr marL="285750" indent="-285750">
                  <a:buFont typeface="Arial" panose="020B0604020202020204" pitchFamily="34" charset="0"/>
                  <a:buChar char="•"/>
                </a:pPr>
                <a:r>
                  <a:rPr lang="en-CN" dirty="0"/>
                  <a:t>Note that Heisenberg’s uncertainty principle says that the spread in poition and momentum can multiply to numbers much larger than Planck’s constant, but we’re interested in being as precise as possible.(</a:t>
                </a:r>
                <a:r>
                  <a:rPr lang="en-CN" dirty="0">
                    <a:solidFill>
                      <a:srgbClr val="FF0000"/>
                    </a:solidFill>
                  </a:rPr>
                  <a:t>Greatest multiplicity</a:t>
                </a:r>
                <a:r>
                  <a:rPr lang="en-CN" dirty="0"/>
                  <a:t>)</a:t>
                </a:r>
              </a:p>
              <a:p>
                <a:endParaRPr lang="en-CN" dirty="0"/>
              </a:p>
              <a:p>
                <a:pPr marL="285750" indent="-285750">
                  <a:buFont typeface="Arial" panose="020B0604020202020204" pitchFamily="34" charset="0"/>
                  <a:buChar char="•"/>
                </a:pPr>
                <a:r>
                  <a:rPr lang="zh-CN" altLang="en-US" dirty="0">
                    <a:latin typeface="SimSun" panose="02010600030101010101" pitchFamily="2" charset="-122"/>
                    <a:ea typeface="SimSun" panose="02010600030101010101" pitchFamily="2" charset="-122"/>
                  </a:rPr>
                  <a:t>尽管在能量为</a:t>
                </a:r>
                <a:r>
                  <a:rPr lang="en-US" dirty="0">
                    <a:latin typeface="SimSun" panose="02010600030101010101" pitchFamily="2" charset="-122"/>
                    <a:ea typeface="SimSun" panose="02010600030101010101" pitchFamily="2" charset="-122"/>
                  </a:rPr>
                  <a:t>U</a:t>
                </a:r>
                <a:r>
                  <a:rPr lang="zh-CN" altLang="en-US" dirty="0">
                    <a:latin typeface="SimSun" panose="02010600030101010101" pitchFamily="2" charset="-122"/>
                    <a:ea typeface="SimSun" panose="02010600030101010101" pitchFamily="2" charset="-122"/>
                  </a:rPr>
                  <a:t>的盒子中，粒子的波函数数量是无限的，但独立波函数的数量不是无限的，可以计算。</a:t>
                </a:r>
                <a:endParaRPr lang="en-CN" dirty="0">
                  <a:latin typeface="SimSun" panose="02010600030101010101" pitchFamily="2" charset="-122"/>
                  <a:ea typeface="SimSun" panose="02010600030101010101" pitchFamily="2" charset="-122"/>
                </a:endParaRPr>
              </a:p>
            </p:txBody>
          </p:sp>
        </mc:Choice>
        <mc:Fallback xmlns="">
          <p:sp>
            <p:nvSpPr>
              <p:cNvPr id="8" name="TextBox 7">
                <a:extLst>
                  <a:ext uri="{FF2B5EF4-FFF2-40B4-BE49-F238E27FC236}">
                    <a16:creationId xmlns:a16="http://schemas.microsoft.com/office/drawing/2014/main" id="{444AD7D1-017A-134E-84F2-91791E4FD1E7}"/>
                  </a:ext>
                </a:extLst>
              </p:cNvPr>
              <p:cNvSpPr txBox="1">
                <a:spLocks noRot="1" noChangeAspect="1" noMove="1" noResize="1" noEditPoints="1" noAdjustHandles="1" noChangeArrowheads="1" noChangeShapeType="1" noTextEdit="1"/>
              </p:cNvSpPr>
              <p:nvPr/>
            </p:nvSpPr>
            <p:spPr>
              <a:xfrm>
                <a:off x="631031" y="1225689"/>
                <a:ext cx="10929937" cy="3970318"/>
              </a:xfrm>
              <a:prstGeom prst="rect">
                <a:avLst/>
              </a:prstGeom>
              <a:blipFill>
                <a:blip r:embed="rId2"/>
                <a:stretch>
                  <a:fillRect l="-348" t="-639" b="-1597"/>
                </a:stretch>
              </a:blipFill>
            </p:spPr>
            <p:txBody>
              <a:bodyPr/>
              <a:lstStyle/>
              <a:p>
                <a:r>
                  <a:rPr lang="en-CN">
                    <a:noFill/>
                  </a:rPr>
                  <a:t> </a:t>
                </a:r>
              </a:p>
            </p:txBody>
          </p:sp>
        </mc:Fallback>
      </mc:AlternateContent>
    </p:spTree>
    <p:extLst>
      <p:ext uri="{BB962C8B-B14F-4D97-AF65-F5344CB8AC3E}">
        <p14:creationId xmlns:p14="http://schemas.microsoft.com/office/powerpoint/2010/main" val="3423259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9F952ED-A69C-1F40-868F-691FDFA9C206}"/>
                  </a:ext>
                </a:extLst>
              </p:cNvPr>
              <p:cNvSpPr txBox="1"/>
              <p:nvPr/>
            </p:nvSpPr>
            <p:spPr>
              <a:xfrm>
                <a:off x="2807493" y="322263"/>
                <a:ext cx="6100762" cy="75546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CN" sz="4000" i="1" smtClean="0">
                              <a:latin typeface="Cambria Math" panose="02040503050406030204" pitchFamily="18" charset="0"/>
                            </a:rPr>
                          </m:ctrlPr>
                        </m:sSubPr>
                        <m:e>
                          <m:r>
                            <a:rPr lang="en-US" sz="4000" b="0" i="1" smtClean="0">
                              <a:latin typeface="Cambria Math" panose="02040503050406030204" pitchFamily="18" charset="0"/>
                            </a:rPr>
                            <m:t>𝑔</m:t>
                          </m:r>
                        </m:e>
                        <m:sub>
                          <m:r>
                            <a:rPr lang="en-US" sz="4000" b="0" i="1" smtClean="0">
                              <a:latin typeface="Cambria Math" panose="02040503050406030204" pitchFamily="18" charset="0"/>
                            </a:rPr>
                            <m:t>1</m:t>
                          </m:r>
                        </m:sub>
                      </m:sSub>
                      <m:r>
                        <a:rPr lang="en-US" sz="4000" i="1">
                          <a:latin typeface="Cambria Math" panose="02040503050406030204" pitchFamily="18" charset="0"/>
                          <a:ea typeface="Cambria Math" panose="02040503050406030204" pitchFamily="18" charset="0"/>
                        </a:rPr>
                        <m:t>∝</m:t>
                      </m:r>
                      <m:r>
                        <a:rPr lang="en-US" sz="4000" b="0" i="1" smtClean="0">
                          <a:latin typeface="Cambria Math" panose="02040503050406030204" pitchFamily="18" charset="0"/>
                          <a:ea typeface="Cambria Math" panose="02040503050406030204" pitchFamily="18" charset="0"/>
                        </a:rPr>
                        <m:t>𝑉</m:t>
                      </m:r>
                      <m:sSub>
                        <m:sSubPr>
                          <m:ctrlPr>
                            <a:rPr lang="en-US" sz="4000" b="0" i="1" smtClean="0">
                              <a:latin typeface="Cambria Math" panose="02040503050406030204" pitchFamily="18" charset="0"/>
                              <a:ea typeface="Cambria Math" panose="02040503050406030204" pitchFamily="18" charset="0"/>
                            </a:rPr>
                          </m:ctrlPr>
                        </m:sSubPr>
                        <m:e>
                          <m:r>
                            <a:rPr lang="en-US" sz="4000" b="0" i="1" smtClean="0">
                              <a:latin typeface="Cambria Math" panose="02040503050406030204" pitchFamily="18" charset="0"/>
                              <a:ea typeface="Cambria Math" panose="02040503050406030204" pitchFamily="18" charset="0"/>
                            </a:rPr>
                            <m:t>𝑉</m:t>
                          </m:r>
                        </m:e>
                        <m:sub>
                          <m:r>
                            <a:rPr lang="en-US" sz="4000" b="0" i="1" smtClean="0">
                              <a:latin typeface="Cambria Math" panose="02040503050406030204" pitchFamily="18" charset="0"/>
                              <a:ea typeface="Cambria Math" panose="02040503050406030204" pitchFamily="18" charset="0"/>
                            </a:rPr>
                            <m:t>𝑝</m:t>
                          </m:r>
                        </m:sub>
                      </m:sSub>
                    </m:oMath>
                  </m:oMathPara>
                </a14:m>
                <a:endParaRPr lang="en-CN" sz="4000" dirty="0"/>
              </a:p>
            </p:txBody>
          </p:sp>
        </mc:Choice>
        <mc:Fallback xmlns="">
          <p:sp>
            <p:nvSpPr>
              <p:cNvPr id="5" name="TextBox 4">
                <a:extLst>
                  <a:ext uri="{FF2B5EF4-FFF2-40B4-BE49-F238E27FC236}">
                    <a16:creationId xmlns:a16="http://schemas.microsoft.com/office/drawing/2014/main" id="{E9F952ED-A69C-1F40-868F-691FDFA9C206}"/>
                  </a:ext>
                </a:extLst>
              </p:cNvPr>
              <p:cNvSpPr txBox="1">
                <a:spLocks noRot="1" noChangeAspect="1" noMove="1" noResize="1" noEditPoints="1" noAdjustHandles="1" noChangeArrowheads="1" noChangeShapeType="1" noTextEdit="1"/>
              </p:cNvSpPr>
              <p:nvPr/>
            </p:nvSpPr>
            <p:spPr>
              <a:xfrm>
                <a:off x="2807493" y="322263"/>
                <a:ext cx="6100762" cy="755463"/>
              </a:xfrm>
              <a:prstGeom prst="rect">
                <a:avLst/>
              </a:prstGeom>
              <a:blipFill>
                <a:blip r:embed="rId2"/>
                <a:stretch>
                  <a:fillRect b="-10000"/>
                </a:stretch>
              </a:blipFill>
            </p:spPr>
            <p:txBody>
              <a:bodyPr/>
              <a:lstStyle/>
              <a:p>
                <a:r>
                  <a:rPr lang="en-CN">
                    <a:noFill/>
                  </a:rPr>
                  <a:t> </a:t>
                </a:r>
              </a:p>
            </p:txBody>
          </p:sp>
        </mc:Fallback>
      </mc:AlternateContent>
      <p:pic>
        <p:nvPicPr>
          <p:cNvPr id="2" name="Picture 1">
            <a:extLst>
              <a:ext uri="{FF2B5EF4-FFF2-40B4-BE49-F238E27FC236}">
                <a16:creationId xmlns:a16="http://schemas.microsoft.com/office/drawing/2014/main" id="{95735762-BEFD-3942-9919-D33392ACC0B7}"/>
              </a:ext>
            </a:extLst>
          </p:cNvPr>
          <p:cNvPicPr>
            <a:picLocks noChangeAspect="1"/>
          </p:cNvPicPr>
          <p:nvPr/>
        </p:nvPicPr>
        <p:blipFill>
          <a:blip r:embed="rId3"/>
          <a:stretch>
            <a:fillRect/>
          </a:stretch>
        </p:blipFill>
        <p:spPr>
          <a:xfrm>
            <a:off x="0" y="1324406"/>
            <a:ext cx="12192000" cy="5211331"/>
          </a:xfrm>
          <a:prstGeom prst="rect">
            <a:avLst/>
          </a:prstGeom>
        </p:spPr>
      </p:pic>
    </p:spTree>
    <p:extLst>
      <p:ext uri="{BB962C8B-B14F-4D97-AF65-F5344CB8AC3E}">
        <p14:creationId xmlns:p14="http://schemas.microsoft.com/office/powerpoint/2010/main" val="41949905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0834F3-4DFA-454C-B79D-BD57394104B1}"/>
              </a:ext>
            </a:extLst>
          </p:cNvPr>
          <p:cNvPicPr>
            <a:picLocks noChangeAspect="1"/>
          </p:cNvPicPr>
          <p:nvPr/>
        </p:nvPicPr>
        <p:blipFill>
          <a:blip r:embed="rId2"/>
          <a:stretch>
            <a:fillRect/>
          </a:stretch>
        </p:blipFill>
        <p:spPr>
          <a:xfrm>
            <a:off x="2029619" y="87873"/>
            <a:ext cx="8132762" cy="6682254"/>
          </a:xfrm>
          <a:prstGeom prst="rect">
            <a:avLst/>
          </a:prstGeom>
        </p:spPr>
      </p:pic>
      <p:sp>
        <p:nvSpPr>
          <p:cNvPr id="4" name="TextBox 3">
            <a:extLst>
              <a:ext uri="{FF2B5EF4-FFF2-40B4-BE49-F238E27FC236}">
                <a16:creationId xmlns:a16="http://schemas.microsoft.com/office/drawing/2014/main" id="{6CFDD141-D3CD-2344-8E68-CABF157EB715}"/>
              </a:ext>
            </a:extLst>
          </p:cNvPr>
          <p:cNvSpPr txBox="1"/>
          <p:nvPr/>
        </p:nvSpPr>
        <p:spPr>
          <a:xfrm>
            <a:off x="152400" y="1243013"/>
            <a:ext cx="1662113" cy="3693319"/>
          </a:xfrm>
          <a:prstGeom prst="rect">
            <a:avLst/>
          </a:prstGeom>
          <a:noFill/>
        </p:spPr>
        <p:txBody>
          <a:bodyPr wrap="square" rtlCol="0">
            <a:spAutoFit/>
          </a:bodyPr>
          <a:lstStyle/>
          <a:p>
            <a:r>
              <a:rPr lang="en-CN" dirty="0"/>
              <a:t>单粒子微观态</a:t>
            </a:r>
          </a:p>
          <a:p>
            <a:endParaRPr lang="en-CN" dirty="0"/>
          </a:p>
          <a:p>
            <a:endParaRPr lang="en-CN" dirty="0"/>
          </a:p>
          <a:p>
            <a:endParaRPr lang="en-CN" dirty="0"/>
          </a:p>
          <a:p>
            <a:endParaRPr lang="en-CN" dirty="0"/>
          </a:p>
          <a:p>
            <a:endParaRPr lang="en-CN" dirty="0"/>
          </a:p>
          <a:p>
            <a:endParaRPr lang="en-CN" dirty="0"/>
          </a:p>
          <a:p>
            <a:endParaRPr lang="en-CN" dirty="0"/>
          </a:p>
          <a:p>
            <a:endParaRPr lang="en-CN" dirty="0"/>
          </a:p>
          <a:p>
            <a:endParaRPr lang="en-CN" dirty="0"/>
          </a:p>
          <a:p>
            <a:endParaRPr lang="en-CN" dirty="0"/>
          </a:p>
          <a:p>
            <a:endParaRPr lang="en-CN" dirty="0"/>
          </a:p>
          <a:p>
            <a:r>
              <a:rPr lang="en-CN" dirty="0"/>
              <a:t>多粒子微观态</a:t>
            </a:r>
          </a:p>
        </p:txBody>
      </p:sp>
      <p:sp>
        <p:nvSpPr>
          <p:cNvPr id="6" name="Down Arrow 5">
            <a:extLst>
              <a:ext uri="{FF2B5EF4-FFF2-40B4-BE49-F238E27FC236}">
                <a16:creationId xmlns:a16="http://schemas.microsoft.com/office/drawing/2014/main" id="{D99B17FD-D2EA-B340-A080-09A0E0E643D8}"/>
              </a:ext>
            </a:extLst>
          </p:cNvPr>
          <p:cNvSpPr/>
          <p:nvPr/>
        </p:nvSpPr>
        <p:spPr>
          <a:xfrm>
            <a:off x="804862" y="1798320"/>
            <a:ext cx="357187" cy="23574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2" name="TextBox 1">
            <a:extLst>
              <a:ext uri="{FF2B5EF4-FFF2-40B4-BE49-F238E27FC236}">
                <a16:creationId xmlns:a16="http://schemas.microsoft.com/office/drawing/2014/main" id="{6DA29E26-1A8B-C848-B20C-0DD517E1A93B}"/>
              </a:ext>
            </a:extLst>
          </p:cNvPr>
          <p:cNvSpPr txBox="1"/>
          <p:nvPr/>
        </p:nvSpPr>
        <p:spPr>
          <a:xfrm>
            <a:off x="10208101" y="2782669"/>
            <a:ext cx="1831499" cy="646331"/>
          </a:xfrm>
          <a:prstGeom prst="rect">
            <a:avLst/>
          </a:prstGeom>
          <a:noFill/>
        </p:spPr>
        <p:txBody>
          <a:bodyPr wrap="square" rtlCol="0">
            <a:spAutoFit/>
          </a:bodyPr>
          <a:lstStyle/>
          <a:p>
            <a:r>
              <a:rPr lang="en-CN" dirty="0"/>
              <a:t>可分辨</a:t>
            </a:r>
          </a:p>
          <a:p>
            <a:r>
              <a:rPr lang="en-CN" dirty="0"/>
              <a:t>不可分辨</a:t>
            </a:r>
            <a:r>
              <a:rPr lang="zh-CN" altLang="en-US" dirty="0"/>
              <a:t>（量子）</a:t>
            </a:r>
            <a:endParaRPr lang="en-CN" dirty="0"/>
          </a:p>
        </p:txBody>
      </p:sp>
    </p:spTree>
    <p:extLst>
      <p:ext uri="{BB962C8B-B14F-4D97-AF65-F5344CB8AC3E}">
        <p14:creationId xmlns:p14="http://schemas.microsoft.com/office/powerpoint/2010/main" val="13747207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CD5E-A8BE-1F40-BB8F-081C75F7AC88}"/>
              </a:ext>
            </a:extLst>
          </p:cNvPr>
          <p:cNvSpPr>
            <a:spLocks noGrp="1"/>
          </p:cNvSpPr>
          <p:nvPr>
            <p:ph type="title"/>
          </p:nvPr>
        </p:nvSpPr>
        <p:spPr>
          <a:xfrm>
            <a:off x="189570" y="159669"/>
            <a:ext cx="10515600" cy="1042735"/>
          </a:xfrm>
        </p:spPr>
        <p:txBody>
          <a:bodyPr/>
          <a:lstStyle/>
          <a:p>
            <a:r>
              <a:rPr lang="en-CN" dirty="0"/>
              <a:t>小结</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BBFD88-A259-0248-9588-1D13DAE3645D}"/>
                  </a:ext>
                </a:extLst>
              </p:cNvPr>
              <p:cNvSpPr>
                <a:spLocks noGrp="1"/>
              </p:cNvSpPr>
              <p:nvPr>
                <p:ph idx="1"/>
              </p:nvPr>
            </p:nvSpPr>
            <p:spPr>
              <a:xfrm>
                <a:off x="325244" y="1253331"/>
                <a:ext cx="11617712" cy="3385576"/>
              </a:xfrm>
            </p:spPr>
            <p:txBody>
              <a:bodyPr>
                <a:normAutofit fontScale="92500" lnSpcReduction="20000"/>
              </a:bodyPr>
              <a:lstStyle/>
              <a:p>
                <a:r>
                  <a:rPr lang="en-CN" b="1" dirty="0">
                    <a:solidFill>
                      <a:srgbClr val="FF0000"/>
                    </a:solidFill>
                  </a:rPr>
                  <a:t>multiplicity</a:t>
                </a:r>
                <a:r>
                  <a:rPr lang="en-CN" b="1" dirty="0"/>
                  <a:t>(also called statistical weight) refers to the number of </a:t>
                </a:r>
                <a:r>
                  <a:rPr lang="en-CN" b="1" dirty="0">
                    <a:solidFill>
                      <a:srgbClr val="FF0000"/>
                    </a:solidFill>
                  </a:rPr>
                  <a:t>microstates</a:t>
                </a:r>
                <a:r>
                  <a:rPr lang="en-CN" b="1" dirty="0">
                    <a:solidFill>
                      <a:srgbClr val="FF0000"/>
                    </a:solidFill>
                    <a:latin typeface="FangSong" panose="02010609060101010101" pitchFamily="49" charset="-122"/>
                    <a:ea typeface="FangSong" panose="02010609060101010101" pitchFamily="49" charset="-122"/>
                  </a:rPr>
                  <a:t>(微观态)</a:t>
                </a:r>
                <a:r>
                  <a:rPr lang="en-CN" b="1" dirty="0">
                    <a:latin typeface="FangSong" panose="02010609060101010101" pitchFamily="49" charset="-122"/>
                    <a:ea typeface="FangSong" panose="02010609060101010101" pitchFamily="49" charset="-122"/>
                  </a:rPr>
                  <a:t> </a:t>
                </a:r>
                <a:r>
                  <a:rPr lang="en-CN" b="1" dirty="0"/>
                  <a:t>corresponding to a particular </a:t>
                </a:r>
                <a:r>
                  <a:rPr lang="en-CN" b="1" dirty="0">
                    <a:solidFill>
                      <a:srgbClr val="FF0000"/>
                    </a:solidFill>
                  </a:rPr>
                  <a:t>macrostate</a:t>
                </a:r>
                <a:r>
                  <a:rPr lang="en-CN" b="1" dirty="0">
                    <a:solidFill>
                      <a:srgbClr val="FF0000"/>
                    </a:solidFill>
                    <a:latin typeface="FangSong" panose="02010609060101010101" pitchFamily="49" charset="-122"/>
                    <a:ea typeface="FangSong" panose="02010609060101010101" pitchFamily="49" charset="-122"/>
                  </a:rPr>
                  <a:t>(宏观态)</a:t>
                </a:r>
                <a:r>
                  <a:rPr lang="en-CN" b="1" dirty="0"/>
                  <a:t>of a thermodynamic system.</a:t>
                </a:r>
              </a:p>
              <a:p>
                <a:r>
                  <a:rPr lang="en-CN" dirty="0"/>
                  <a:t>Binary</a:t>
                </a:r>
                <a:r>
                  <a:rPr lang="zh-CN" altLang="en-US" dirty="0"/>
                  <a:t> </a:t>
                </a:r>
                <a:r>
                  <a:rPr lang="en-US" altLang="zh-CN" dirty="0"/>
                  <a:t>model </a:t>
                </a:r>
                <a14:m>
                  <m:oMath xmlns:m="http://schemas.openxmlformats.org/officeDocument/2006/math">
                    <m:r>
                      <a:rPr lang="en-US" altLang="zh-CN" b="0" i="1" smtClean="0">
                        <a:latin typeface="Cambria Math" panose="02040503050406030204" pitchFamily="18" charset="0"/>
                      </a:rPr>
                      <m:t>𝑔</m:t>
                    </m:r>
                    <m:r>
                      <a:rPr lang="en-US" altLang="zh-CN" b="0" i="1" smtClean="0">
                        <a:latin typeface="Cambria Math" panose="02040503050406030204" pitchFamily="18" charset="0"/>
                      </a:rPr>
                      <m:t>[</m:t>
                    </m:r>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𝑁</m:t>
                        </m:r>
                        <m:r>
                          <a:rPr lang="en-US" altLang="zh-CN" b="0" i="1" smtClean="0">
                            <a:latin typeface="Cambria Math" panose="02040503050406030204" pitchFamily="18" charset="0"/>
                          </a:rPr>
                          <m:t>!</m:t>
                        </m:r>
                      </m:num>
                      <m:den>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𝑁</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𝑁</m:t>
                                </m:r>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den>
                    </m:f>
                  </m:oMath>
                </a14:m>
                <a:endParaRPr lang="en-US" altLang="zh-CN" dirty="0"/>
              </a:p>
              <a:p>
                <a:r>
                  <a:rPr lang="en-CN" dirty="0"/>
                  <a:t>Einstein Model of Solid </a:t>
                </a:r>
                <a14:m>
                  <m:oMath xmlns:m="http://schemas.openxmlformats.org/officeDocument/2006/math">
                    <m:r>
                      <a:rPr lang="en-US" b="0" i="1" smtClean="0">
                        <a:latin typeface="Cambria Math" panose="02040503050406030204" pitchFamily="18" charset="0"/>
                      </a:rPr>
                      <m:t>𝑔</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𝑞</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b="0" i="1" smtClean="0">
                                <a:latin typeface="Cambria Math" panose="02040503050406030204" pitchFamily="18" charset="0"/>
                              </a:rPr>
                              <m:t>𝑞</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−1</m:t>
                            </m:r>
                          </m:e>
                        </m:d>
                        <m:r>
                          <a:rPr lang="en-US" b="0" i="1" smtClean="0">
                            <a:latin typeface="Cambria Math" panose="02040503050406030204" pitchFamily="18" charset="0"/>
                          </a:rPr>
                          <m:t>!</m:t>
                        </m:r>
                      </m:num>
                      <m:den>
                        <m:r>
                          <a:rPr lang="en-US" b="0" i="1" smtClean="0">
                            <a:latin typeface="Cambria Math" panose="02040503050406030204" pitchFamily="18" charset="0"/>
                          </a:rPr>
                          <m:t>𝑞</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−1</m:t>
                            </m:r>
                          </m:e>
                        </m:d>
                        <m:r>
                          <a:rPr lang="en-US" b="0" i="1" smtClean="0">
                            <a:latin typeface="Cambria Math" panose="02040503050406030204" pitchFamily="18" charset="0"/>
                          </a:rPr>
                          <m:t>!</m:t>
                        </m:r>
                      </m:den>
                    </m:f>
                  </m:oMath>
                </a14:m>
                <a:endParaRPr lang="en-CN" dirty="0"/>
              </a:p>
              <a:p>
                <a:r>
                  <a:rPr lang="en-CN" altLang="zh-CN" dirty="0"/>
                  <a:t>The ideal Gas </a:t>
                </a:r>
                <a14:m>
                  <m:oMath xmlns:m="http://schemas.openxmlformats.org/officeDocument/2006/math">
                    <m:r>
                      <a:rPr lang="en-US" altLang="zh-CN" b="0" i="1" smtClean="0">
                        <a:latin typeface="Cambria Math" panose="02040503050406030204" pitchFamily="18" charset="0"/>
                      </a:rPr>
                      <m:t>𝑔</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𝑁</m:t>
                        </m:r>
                        <m:r>
                          <a:rPr lang="en-US" altLang="zh-CN" b="0" i="1" smtClean="0">
                            <a:latin typeface="Cambria Math" panose="02040503050406030204" pitchFamily="18" charset="0"/>
                          </a:rPr>
                          <m:t>,</m:t>
                        </m:r>
                        <m:r>
                          <a:rPr lang="en-US" altLang="zh-CN" b="0" i="1" smtClean="0">
                            <a:latin typeface="Cambria Math" panose="02040503050406030204" pitchFamily="18" charset="0"/>
                          </a:rPr>
                          <m:t>𝑉</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𝑁</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𝑉</m:t>
                        </m:r>
                      </m:e>
                      <m:sup>
                        <m:r>
                          <a:rPr lang="en-US" altLang="zh-CN" b="0" i="1" smtClean="0">
                            <a:latin typeface="Cambria Math" panose="02040503050406030204" pitchFamily="18" charset="0"/>
                          </a:rPr>
                          <m:t>𝑁</m:t>
                        </m:r>
                      </m:sup>
                    </m:sSup>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𝑈</m:t>
                        </m:r>
                      </m:e>
                      <m:sup>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3</m:t>
                            </m:r>
                            <m:r>
                              <a:rPr lang="en-US" altLang="zh-CN" b="0" i="1" smtClean="0">
                                <a:latin typeface="Cambria Math" panose="02040503050406030204" pitchFamily="18" charset="0"/>
                              </a:rPr>
                              <m:t>𝑁</m:t>
                            </m:r>
                          </m:num>
                          <m:den>
                            <m:r>
                              <a:rPr lang="en-US" altLang="zh-CN" b="0" i="1" smtClean="0">
                                <a:latin typeface="Cambria Math" panose="02040503050406030204" pitchFamily="18" charset="0"/>
                              </a:rPr>
                              <m:t>2</m:t>
                            </m:r>
                          </m:den>
                        </m:f>
                      </m:sup>
                    </m:sSup>
                  </m:oMath>
                </a14:m>
                <a:endParaRPr lang="en-US" altLang="zh-CN" dirty="0"/>
              </a:p>
              <a:p>
                <a:r>
                  <a:rPr lang="en-CN" dirty="0"/>
                  <a:t>Ensemble???</a:t>
                </a:r>
                <a:r>
                  <a:rPr lang="zh-CN" altLang="en-US" dirty="0"/>
                  <a:t>（固定了</a:t>
                </a:r>
                <a:r>
                  <a:rPr lang="en-US" altLang="zh-CN" dirty="0"/>
                  <a:t>N</a:t>
                </a:r>
                <a:r>
                  <a:rPr lang="zh-CN" altLang="en-US" dirty="0"/>
                  <a:t>，</a:t>
                </a:r>
                <a:r>
                  <a:rPr lang="en-US" altLang="zh-CN" dirty="0"/>
                  <a:t>U</a:t>
                </a:r>
                <a:r>
                  <a:rPr lang="zh-CN" altLang="en-US" dirty="0"/>
                  <a:t>，</a:t>
                </a:r>
                <a:r>
                  <a:rPr lang="en-US" altLang="zh-CN" dirty="0"/>
                  <a:t>V</a:t>
                </a:r>
                <a:r>
                  <a:rPr lang="zh-CN" altLang="en-US" dirty="0"/>
                  <a:t>）</a:t>
                </a:r>
                <a:endParaRPr lang="en-CN" dirty="0"/>
              </a:p>
            </p:txBody>
          </p:sp>
        </mc:Choice>
        <mc:Fallback xmlns="">
          <p:sp>
            <p:nvSpPr>
              <p:cNvPr id="3" name="Content Placeholder 2">
                <a:extLst>
                  <a:ext uri="{FF2B5EF4-FFF2-40B4-BE49-F238E27FC236}">
                    <a16:creationId xmlns:a16="http://schemas.microsoft.com/office/drawing/2014/main" id="{5EBBFD88-A259-0248-9588-1D13DAE3645D}"/>
                  </a:ext>
                </a:extLst>
              </p:cNvPr>
              <p:cNvSpPr>
                <a:spLocks noGrp="1" noRot="1" noChangeAspect="1" noMove="1" noResize="1" noEditPoints="1" noAdjustHandles="1" noChangeArrowheads="1" noChangeShapeType="1" noTextEdit="1"/>
              </p:cNvSpPr>
              <p:nvPr>
                <p:ph idx="1"/>
              </p:nvPr>
            </p:nvSpPr>
            <p:spPr>
              <a:xfrm>
                <a:off x="325244" y="1253331"/>
                <a:ext cx="11617712" cy="3385576"/>
              </a:xfrm>
              <a:blipFill>
                <a:blip r:embed="rId2"/>
                <a:stretch>
                  <a:fillRect l="-764" t="-5597"/>
                </a:stretch>
              </a:blipFill>
            </p:spPr>
            <p:txBody>
              <a:bodyPr/>
              <a:lstStyle/>
              <a:p>
                <a:r>
                  <a:rPr lang="en-CN">
                    <a:noFill/>
                  </a:rPr>
                  <a:t> </a:t>
                </a:r>
              </a:p>
            </p:txBody>
          </p:sp>
        </mc:Fallback>
      </mc:AlternateContent>
      <p:sp>
        <p:nvSpPr>
          <p:cNvPr id="4" name="TextBox 3">
            <a:extLst>
              <a:ext uri="{FF2B5EF4-FFF2-40B4-BE49-F238E27FC236}">
                <a16:creationId xmlns:a16="http://schemas.microsoft.com/office/drawing/2014/main" id="{9EAC4553-2C46-9141-A292-A80F6321A5C5}"/>
              </a:ext>
            </a:extLst>
          </p:cNvPr>
          <p:cNvSpPr txBox="1"/>
          <p:nvPr/>
        </p:nvSpPr>
        <p:spPr>
          <a:xfrm>
            <a:off x="7872413" y="6300788"/>
            <a:ext cx="3657599" cy="369332"/>
          </a:xfrm>
          <a:prstGeom prst="rect">
            <a:avLst/>
          </a:prstGeom>
          <a:noFill/>
        </p:spPr>
        <p:txBody>
          <a:bodyPr wrap="square" rtlCol="0">
            <a:spAutoFit/>
          </a:bodyPr>
          <a:lstStyle/>
          <a:p>
            <a:r>
              <a:rPr lang="en-CN" dirty="0"/>
              <a:t>第二次课结束</a:t>
            </a:r>
          </a:p>
        </p:txBody>
      </p:sp>
      <p:pic>
        <p:nvPicPr>
          <p:cNvPr id="6" name="Picture 5">
            <a:extLst>
              <a:ext uri="{FF2B5EF4-FFF2-40B4-BE49-F238E27FC236}">
                <a16:creationId xmlns:a16="http://schemas.microsoft.com/office/drawing/2014/main" id="{29264C72-7356-B947-86E8-80CD1B420F0F}"/>
              </a:ext>
            </a:extLst>
          </p:cNvPr>
          <p:cNvPicPr>
            <a:picLocks noChangeAspect="1"/>
          </p:cNvPicPr>
          <p:nvPr/>
        </p:nvPicPr>
        <p:blipFill>
          <a:blip r:embed="rId3"/>
          <a:stretch>
            <a:fillRect/>
          </a:stretch>
        </p:blipFill>
        <p:spPr>
          <a:xfrm>
            <a:off x="5224780" y="3971689"/>
            <a:ext cx="6967220" cy="2329099"/>
          </a:xfrm>
          <a:prstGeom prst="rect">
            <a:avLst/>
          </a:prstGeom>
        </p:spPr>
      </p:pic>
    </p:spTree>
    <p:extLst>
      <p:ext uri="{BB962C8B-B14F-4D97-AF65-F5344CB8AC3E}">
        <p14:creationId xmlns:p14="http://schemas.microsoft.com/office/powerpoint/2010/main" val="3451528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11708</TotalTime>
  <Words>2787</Words>
  <Application>Microsoft Macintosh PowerPoint</Application>
  <PresentationFormat>Widescreen</PresentationFormat>
  <Paragraphs>277</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FangSong</vt:lpstr>
      <vt:lpstr>SimSun</vt:lpstr>
      <vt:lpstr>Arial</vt:lpstr>
      <vt:lpstr>Calibri</vt:lpstr>
      <vt:lpstr>Calibri Light</vt:lpstr>
      <vt:lpstr>Cambria Math</vt:lpstr>
      <vt:lpstr>Office Theme</vt:lpstr>
      <vt:lpstr>热物（第一周）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 statistical mechanics, multiplicity(also called statistical weight) refers to the number of microstates(微观态) corresponding to a particular macrostate(宏观态)of a thermodynamic system.</vt:lpstr>
      <vt:lpstr>一个经典例子</vt:lpstr>
      <vt:lpstr>PowerPoint Presentation</vt:lpstr>
      <vt:lpstr>PowerPoint Presentation</vt:lpstr>
      <vt:lpstr>PowerPoint Presentation</vt:lpstr>
      <vt:lpstr>Model-I:   Binary model Model-II:  Einstein Model of Solid Model-III: The ideal Gas</vt:lpstr>
      <vt:lpstr>Model-I:   Binary model Model-II:  Einstein Model of Solid Model-III: The ideal Gas</vt:lpstr>
      <vt:lpstr>Paramagnet（顺磁体       vs        铁磁体）</vt:lpstr>
      <vt:lpstr>微观态（N个磁针，无相互作用，加外磁场）</vt:lpstr>
      <vt:lpstr>宏观态（我们关心有多少个up/down的时候）</vt:lpstr>
      <vt:lpstr>宏观态（固定的系统总能量，or 固定的s）</vt:lpstr>
      <vt:lpstr>宏观态（固定的系统总能量，or 固定的s）</vt:lpstr>
      <vt:lpstr>Binary model（无相互作用）</vt:lpstr>
      <vt:lpstr>Model-I:   Binary model Model-II:  Einstein Model of Solid Model-III: The ideal Gas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Model-I:   Binary model Model-II:  Einstein Model of Solid Model-III: The ideal Gas</vt:lpstr>
      <vt:lpstr>The ideal Gas</vt:lpstr>
      <vt:lpstr>V_p</vt:lpstr>
      <vt:lpstr>g∝∞???</vt:lpstr>
      <vt:lpstr>g∝∞???</vt:lpstr>
      <vt:lpstr>PowerPoint Presentation</vt:lpstr>
      <vt:lpstr>PowerPoint Presentation</vt:lpstr>
      <vt:lpstr>PowerPoint Presentation</vt:lpstr>
      <vt:lpstr>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Microsoft Office User</cp:lastModifiedBy>
  <cp:revision>171</cp:revision>
  <dcterms:created xsi:type="dcterms:W3CDTF">2022-02-02T22:31:46Z</dcterms:created>
  <dcterms:modified xsi:type="dcterms:W3CDTF">2023-02-14T04:41:38Z</dcterms:modified>
</cp:coreProperties>
</file>