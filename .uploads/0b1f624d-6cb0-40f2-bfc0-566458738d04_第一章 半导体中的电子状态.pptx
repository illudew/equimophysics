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notesSlides/notesSlide2.xml" ContentType="application/vnd.openxmlformats-officedocument.presentationml.notesSlide+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notesSlides/notesSlide3.xml" ContentType="application/vnd.openxmlformats-officedocument.presentationml.notesSlide+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notesSlides/notesSlide4.xml" ContentType="application/vnd.openxmlformats-officedocument.presentationml.notesSlide+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Lst>
  <p:notesMasterIdLst>
    <p:notesMasterId r:id="rId115"/>
  </p:notesMasterIdLst>
  <p:sldIdLst>
    <p:sldId id="256" r:id="rId3"/>
    <p:sldId id="257" r:id="rId4"/>
    <p:sldId id="258" r:id="rId5"/>
    <p:sldId id="299" r:id="rId6"/>
    <p:sldId id="259" r:id="rId7"/>
    <p:sldId id="350" r:id="rId8"/>
    <p:sldId id="351" r:id="rId9"/>
    <p:sldId id="300" r:id="rId10"/>
    <p:sldId id="261" r:id="rId11"/>
    <p:sldId id="301" r:id="rId12"/>
    <p:sldId id="262" r:id="rId13"/>
    <p:sldId id="352" r:id="rId14"/>
    <p:sldId id="264" r:id="rId15"/>
    <p:sldId id="410" r:id="rId16"/>
    <p:sldId id="462" r:id="rId17"/>
    <p:sldId id="463" r:id="rId18"/>
    <p:sldId id="265" r:id="rId19"/>
    <p:sldId id="464" r:id="rId20"/>
    <p:sldId id="266" r:id="rId21"/>
    <p:sldId id="353" r:id="rId22"/>
    <p:sldId id="400" r:id="rId23"/>
    <p:sldId id="401" r:id="rId24"/>
    <p:sldId id="465" r:id="rId25"/>
    <p:sldId id="403" r:id="rId26"/>
    <p:sldId id="405" r:id="rId27"/>
    <p:sldId id="466" r:id="rId28"/>
    <p:sldId id="467" r:id="rId29"/>
    <p:sldId id="468" r:id="rId30"/>
    <p:sldId id="586" r:id="rId31"/>
    <p:sldId id="587" r:id="rId32"/>
    <p:sldId id="588" r:id="rId33"/>
    <p:sldId id="589" r:id="rId34"/>
    <p:sldId id="590" r:id="rId35"/>
    <p:sldId id="469" r:id="rId36"/>
    <p:sldId id="470" r:id="rId37"/>
    <p:sldId id="471" r:id="rId38"/>
    <p:sldId id="472" r:id="rId39"/>
    <p:sldId id="473" r:id="rId40"/>
    <p:sldId id="474" r:id="rId41"/>
    <p:sldId id="475" r:id="rId42"/>
    <p:sldId id="476" r:id="rId43"/>
    <p:sldId id="477" r:id="rId44"/>
    <p:sldId id="478" r:id="rId45"/>
    <p:sldId id="479" r:id="rId46"/>
    <p:sldId id="480" r:id="rId47"/>
    <p:sldId id="481" r:id="rId48"/>
    <p:sldId id="482" r:id="rId49"/>
    <p:sldId id="483" r:id="rId50"/>
    <p:sldId id="484" r:id="rId51"/>
    <p:sldId id="485" r:id="rId52"/>
    <p:sldId id="487" r:id="rId53"/>
    <p:sldId id="488" r:id="rId54"/>
    <p:sldId id="489" r:id="rId55"/>
    <p:sldId id="490" r:id="rId56"/>
    <p:sldId id="491" r:id="rId57"/>
    <p:sldId id="492" r:id="rId58"/>
    <p:sldId id="493" r:id="rId59"/>
    <p:sldId id="494" r:id="rId60"/>
    <p:sldId id="495" r:id="rId61"/>
    <p:sldId id="496" r:id="rId62"/>
    <p:sldId id="526" r:id="rId63"/>
    <p:sldId id="497" r:id="rId64"/>
    <p:sldId id="498" r:id="rId65"/>
    <p:sldId id="499" r:id="rId66"/>
    <p:sldId id="500" r:id="rId67"/>
    <p:sldId id="501" r:id="rId68"/>
    <p:sldId id="502" r:id="rId69"/>
    <p:sldId id="503" r:id="rId70"/>
    <p:sldId id="504" r:id="rId71"/>
    <p:sldId id="505" r:id="rId72"/>
    <p:sldId id="506" r:id="rId73"/>
    <p:sldId id="507" r:id="rId74"/>
    <p:sldId id="508" r:id="rId75"/>
    <p:sldId id="509" r:id="rId76"/>
    <p:sldId id="510" r:id="rId77"/>
    <p:sldId id="511" r:id="rId78"/>
    <p:sldId id="512" r:id="rId79"/>
    <p:sldId id="513" r:id="rId80"/>
    <p:sldId id="514" r:id="rId81"/>
    <p:sldId id="515" r:id="rId82"/>
    <p:sldId id="516" r:id="rId83"/>
    <p:sldId id="517" r:id="rId84"/>
    <p:sldId id="518" r:id="rId85"/>
    <p:sldId id="545" r:id="rId86"/>
    <p:sldId id="546" r:id="rId87"/>
    <p:sldId id="547" r:id="rId88"/>
    <p:sldId id="548" r:id="rId89"/>
    <p:sldId id="549" r:id="rId90"/>
    <p:sldId id="550" r:id="rId91"/>
    <p:sldId id="528" r:id="rId92"/>
    <p:sldId id="560" r:id="rId93"/>
    <p:sldId id="551" r:id="rId94"/>
    <p:sldId id="529" r:id="rId95"/>
    <p:sldId id="562" r:id="rId96"/>
    <p:sldId id="561" r:id="rId97"/>
    <p:sldId id="530" r:id="rId98"/>
    <p:sldId id="531" r:id="rId99"/>
    <p:sldId id="532" r:id="rId100"/>
    <p:sldId id="533" r:id="rId101"/>
    <p:sldId id="564" r:id="rId102"/>
    <p:sldId id="558" r:id="rId103"/>
    <p:sldId id="534" r:id="rId104"/>
    <p:sldId id="535" r:id="rId105"/>
    <p:sldId id="536" r:id="rId106"/>
    <p:sldId id="537" r:id="rId107"/>
    <p:sldId id="538" r:id="rId108"/>
    <p:sldId id="539" r:id="rId109"/>
    <p:sldId id="540" r:id="rId110"/>
    <p:sldId id="541" r:id="rId111"/>
    <p:sldId id="542" r:id="rId112"/>
    <p:sldId id="543" r:id="rId113"/>
    <p:sldId id="544" r:id="rId114"/>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3300"/>
    <a:srgbClr val="FF0066"/>
    <a:srgbClr val="FF6600"/>
    <a:srgbClr val="FF9966"/>
    <a:srgbClr val="C0C0C0"/>
    <a:srgbClr val="5F5F5F"/>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50"/>
    <p:restoredTop sz="90928"/>
  </p:normalViewPr>
  <p:slideViewPr>
    <p:cSldViewPr showGuides="1">
      <p:cViewPr varScale="1">
        <p:scale>
          <a:sx n="78" d="100"/>
          <a:sy n="78" d="100"/>
        </p:scale>
        <p:origin x="1334" y="58"/>
      </p:cViewPr>
      <p:guideLst>
        <p:guide orient="horz" pos="2160"/>
        <p:guide pos="28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viewProps" Target="viewProp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29:55.5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0,'10850'0,"-10821"0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29:56.76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1,'8828'0,"-8826"0,3-1,0 1,0 0,1 1,-1-1,0 1,0 0,0 0,0 0,9 4,2 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29:58.18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1,'9534'0,"-9432"3,0 5,167 34,-127-17,256 10,148-35,-225-4,2569 5,-2226 27,14 0,-639-30,-29 1,1 0,-1 1,0 0,0 1,1-1,-1 2,17 4,-26-6,0 0,-1 1,1-1,-1 0,1 0,-1 1,1-1,-1 0,1 1,-1-1,1 0,-1 1,1-1,-1 1,0-1,1 1,-1-1,0 1,1-1,-1 1,0-1,0 1,1-1,-1 1,0 0,0-1,0 1,0-1,0 1,0-1,0 1,0 0,0-1,0 1,0-1,0 1,0 0,-1-1,1 2,-16 19,-14 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29:59.36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1,'4617'0,"-3922"9,-4 41,692 167,-1211-186,127 16,482 13,418-61,-525-4,-432 4,286 3,-523-2,0 0,-1 0,1 0,0 1,0-1,0 1,-1 0,1 1,0-1,-1 1,1 0,-1 0,1 0,-1 1,0-1,4 4,8 18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30:12.69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0 139,'5'4,"0"-1,0 1,1-1,-1-1,1 1,-1-1,1 0,10 2,1 1,27 8,0-2,0-3,70 6,141-8,-193-5,689-41,-120-53,-252 33,-257 44,1 5,168 7,-163 16,143 30,112 12,267-48,-352-9,2197 3,-2463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30:13.86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0 436,'7'-5,"-1"1,1 0,0 0,1 1,-1 0,1 0,-1 0,1 1,0 1,9-2,12-3,812-172,7 46,-624 102,1 9,298 11,-503 10,-1-2,1 0,28-6,-32 4,1 1,-1 1,1 0,33 2,-48 0,1 0,0 1,-1 0,1-1,-1 1,1 0,-1 1,1-1,-1 0,0 1,0-1,1 1,-1-1,0 1,0 0,2 3,8 13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30:14.9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85,'0'-3,"0"1,1 0,-1 0,1 0,-1 0,1 0,0 0,0 0,0 0,0 0,0 1,1-1,-1 0,0 0,1 1,-1-1,1 1,0 0,-1-1,1 1,0 0,0 0,0 0,0 0,0 0,4-1,7-2,1 0,0 1,15-1,-15 2,122-12,234 5,-243 10,1608 22,-1602-21,79 4,-205-5,-1 0,0 0,0 1,0-1,0 1,0 1,0-1,-1 1,11 6,-15-8,17 10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30:52.98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1 138,'13'-5,"1"0,0 1,0 1,0 0,0 0,16 1,3-2,178-15,254 11,-300 9,6260-2,-2925 3,-2980-1,565-3,-918-4,-2-7,181-38,-313 46,0 1,65 1,-76 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30:53.90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1,'6815'0,"-6786"0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31:36.83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0 246,'11'0,"-1"1,1 1,-1 0,0 0,16 7,13 2,305 57,-210-46,249 35,429 7,396-50,-1085-14,3345-7,-3213 2,374-55,-172-20,112-15,-387 73,213 2,1057 28,981-8,-2373-3,110-20,-3 0,-10 10,201-42,-204 18,91-19,-209 50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1T23:31:38.29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1 475,'5'-4,"0"1,0 0,1 0,-1 0,1 1,-1 0,1 0,0 0,12-1,6-4,70-15,177-19,113 16,597 3,9 23,-471 2,5056 0,-4074-3,-751-14,-6-60,-461 26,218-33,-333 62,173 2,736 25,-971-7,217-6,-240 0,152-29,-209 27,1 0,-2-2,28-13,-43 18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1:45.64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1,'7587'0,"-7270"13,-39 0,930-10,-614-5,-197 16,-33-1,-227-13,121 3,-197 1,-1 2,74 18,-51-7,1-3,124 3,173-17,-162-3,691 3,-871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1:49.78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362 63,'1'-1,"-1"1,1-1,-1 1,1-1,-1 0,1 1,-1-1,0 0,0 0,1 1,-1-1,0 0,0 0,0 1,0-1,0 0,0 0,0 1,0-1,0 0,0 0,0 0,0 1,0-1,-1 0,1 1,0-1,-1 0,1 0,0 1,-1-1,1 1,-1-1,1 0,-1 1,1-1,-1 1,0-1,1 1,-1-1,0 1,1 0,-1-1,0 1,1 0,-2-1,-36-14,10 9,-1 2,0 2,1 0,-1 2,-39 4,63-3,1-1,0 1,-1-1,1 1,0 0,0 1,0-1,-1 1,1 0,1 0,-1 0,0 1,0-1,1 1,0 0,-1 0,1 0,0 0,0 0,1 1,-1-1,1 1,0 0,0 0,0 0,0 0,1 0,-1 0,0 6,-1 10,0 1,2-1,0 1,1 0,4 21,-1 5,-3-14,0-11,0 0,2 0,8 37,-9-53,1 0,0 1,1-1,-1 0,1-1,0 1,1 0,-1-1,1 0,0 0,1 0,-1 0,1-1,0 0,0 0,0 0,8 4,4 1,2-2,-1 0,1 0,0-2,0 0,0-2,1 0,0-1,-1-1,38-2,11-6,118-28,-168 31,-7 2,1-1,-1 0,1-1,-1 0,0-1,16-9,-23 11,-1 0,1 0,-1 0,1 0,-1 0,0-1,0 0,-1 1,1-1,-1 0,1 0,-1-1,-1 1,1 0,0-1,-1 1,0-1,0 1,0-10,0-52,-9-79,6 113,2 24,-1 1,0-1,0 0,-1 1,0 0,0-1,-1 1,0 0,0 0,-1 0,0 1,0-1,0 1,-1 0,0 0,0 0,0 1,-1 0,0 0,0 0,0 1,-1 0,1 0,-1 0,0 1,0 0,0 1,0-1,-1 1,1 1,-1-1,-12 1,-25-2,1 1,-73 9,88-2,8 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1:51.40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672 553,'-1'-1,"1"0,0 0,-1 0,1 0,-1 0,1 0,-1 0,1 0,-1 0,1 1,-1-1,0 0,0 0,1 1,-1-1,0 0,0 1,0-1,0 1,0-1,0 1,0-1,0 1,0 0,0 0,0-1,-2 1,-33-5,30 4,-18 0,0 0,0 2,0 0,0 2,0 1,1 0,0 2,0 1,0 1,1 0,0 2,0 1,1 0,-36 27,46-28,0 1,1 0,1 0,-1 1,2 0,0 1,0 0,1 0,1 1,-10 28,8-16,2 1,0 0,2 0,1 0,1 33,5 30,4 0,4 0,27 109,-27-162,1 0,2-1,1 0,2-1,35 54,0-14,77 85,-104-132,0-1,2-2,1 0,56 36,-63-48,0-1,1-1,0-2,0 0,1-1,1-1,-1-1,35 4,17-4,1-4,105-9,-168 6,1 0,0-2,0 1,0-2,-1 1,0-2,0 0,0-1,0 0,-1-1,0 0,-1-1,1 0,-1-1,-1 0,0 0,0-2,-1 1,0-1,11-18,-7 5,0-1,-2 0,13-43,15-85,-18 65,-8 31,-3-1,6-117,-21-119,3 260,-2 1,-1 0,-2 0,-1 0,-2 1,-1 0,-1 0,-2 2,-1-1,-28-41,17 36,-1 2,-1 0,-2 2,-1 2,-2 0,0 3,-62-39,4 12,-3 4,-200-74,-211-25,452 136,-72-9,95 19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1:52.57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554 710,'-8'0,"0"0,0 1,0 0,0 1,1 0,-1 0,1 1,-1 0,1 0,0 0,-9 7,5-3,1 1,0 0,1 1,0 0,0 1,-10 14,1 4,2 0,0 1,2 1,-16 49,14-27,2 1,3 0,2 1,-3 69,12 221,3-200,-1-87,1 0,22 106,-16-128,1 0,2-1,1 0,2-1,32 53,-17-41,1-2,3-1,1-2,2-1,79 64,-83-78,0-1,2-2,0-2,2-1,0-1,1-3,0-1,54 12,-39-18,-1-2,1-3,0-2,0-2,63-10,-72 4,-1-1,0-2,-1-2,0-2,-1-2,-1-1,-1-2,0-2,-1-1,-1-3,62-53,-73 54,-1-1,0-1,-2-1,-2-1,0-1,-2-1,-1-1,-1 0,-2-2,-1 1,-2-2,-1 0,-2 0,-1-1,4-41,-7 21,-3 0,-2 0,-2 0,-3 0,-2 1,-2-1,-3 1,-2 1,-2 1,-3 0,-2 1,-2 1,-48-75,18 48,-4 3,-2 2,-116-106,-236-157,254 222,-5 7,-277-135,432 238,-117-48,111 47,0 0,0 1,-1 1,1 0,-1 0,1 2,-21 1,28 0,-1 0,1 1,-1 0,1 0,0 1,0-1,0 1,0 1,0-1,1 1,-1 0,1 0,0 1,0 0,1 0,0 0,-1 0,2 0,-6 9,-5 12,1 1,1 0,-10 33,15-39,-35 111,5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1:53.36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693 707,'-31'16,"1"3,0 0,2 2,0 1,2 1,-25 26,9-2,2 2,-48 75,72-96,0 0,2 1,2 0,0 1,2 0,2 1,0 0,-4 46,8-36,3 0,1 0,2 0,1 0,3 0,11 44,-12-67,0 0,2-1,0 1,1-1,0-1,2 1,0-2,0 1,2-1,0-1,0 0,1-1,1 0,0-1,1-1,1 0,-1-1,1-1,1 0,0-1,33 10,-31-11,1-1,-1-1,2-1,-1-1,0 0,1-2,-1 0,1-1,24-4,-35 2,1 0,-1-1,1 0,-1-1,0 0,0 0,-1-1,1 0,-1-1,0 0,-1-1,1 1,-1-2,0 1,-1-1,0 0,0-1,-1 0,5-9,3-8,-2 0,-1-1,-2 0,0 0,-2-1,-1-1,4-37,-1-210,-9 229,0-25,1-53,-21-163,15 250,-2-1,-2 1,-1 1,-2 0,-2 0,-1 1,-2 1,-32-51,23 51,-1 1,-2 2,-1 0,-1 2,-2 1,-1 2,-73-45,34 32,-2 3,-1 4,-93-28,36 20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1:54.09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516 1058,'-31'21,"1"2,1 1,1 1,1 1,-25 33,34-37,2 2,0 1,2 0,1 0,0 1,2 1,-9 35,10-24,1 0,2 1,2 0,2 0,1 1,4 43,2-49,1-1,1 0,2 0,1-1,1 0,2-1,24 45,-14-37,2-2,1 0,2-1,1-2,2-1,2-1,0-2,67 47,-55-48,1-2,1-1,2-3,0-2,1-3,1-1,58 11,-54-17,0-3,0-3,0-2,0-2,0-2,102-17,-110 9,-1-2,0-2,0-1,-2-3,0-2,-1-2,-1-1,49-35,-49 25,-2-2,-1-1,-2-2,-1-1,-2-2,-2-1,-1-2,-3 0,-1-2,-2-1,-3-2,-1 1,-3-2,-1-1,-3 0,-2 0,-3-1,-1-1,-3 1,-2-1,-2 0,-11-74,2 66,-3 2,-3-1,-2 2,-2 0,-3 1,-2 2,-40-65,36 74,-3 2,-1 0,-2 3,-2 1,-2 1,-1 2,-1 2,-69-44,9 18,-3 5,-2 3,-2 6,-179-52,152 63,-2 5,0 7,-220-10,335 32,-116 0,116 3,0 0,-1 1,1 1,-25 8,41-10,1-1,0 1,0-1,0 1,0 0,1 1,-1-1,1 1,-1-1,1 1,0 0,0 0,0 0,0 1,0-1,1 1,0 0,-2 4,1 0,0 0,1 0,1 0,0 0,0 0,0 1,1-1,1 10,2 37</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08.459"/>
    </inkml:context>
    <inkml:brush xml:id="br0">
      <inkml:brushProperty name="width" value="0.1" units="cm"/>
      <inkml:brushProperty name="height" value="0.1" units="cm"/>
      <inkml:brushProperty name="color" value="#AE198D"/>
      <inkml:brushProperty name="inkEffects" value="galaxy"/>
      <inkml:brushProperty name="anchorX" value="-8460.44824"/>
      <inkml:brushProperty name="anchorY" value="-3703.09058"/>
      <inkml:brushProperty name="scaleFactor" value="0.5"/>
    </inkml:brush>
  </inkml:definitions>
  <inkml:trace contextRef="#ctx0" brushRef="#br0">0 0 24575,'0'0'0,"5"0"0,7 6 0,5-1 0,4 7 0,9 9 0,2 10 0,7 3 0,5 8 0,5 9 0,-3 11 0,2 7 0,1-4 0,2-7 0,-4-4 0,-10-2 0,-5-6 0,-9-11-3823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09.988"/>
    </inkml:context>
    <inkml:brush xml:id="br0">
      <inkml:brushProperty name="width" value="0.1" units="cm"/>
      <inkml:brushProperty name="height" value="0.1" units="cm"/>
      <inkml:brushProperty name="color" value="#AE198D"/>
      <inkml:brushProperty name="inkEffects" value="galaxy"/>
      <inkml:brushProperty name="anchorX" value="-10057.69824"/>
      <inkml:brushProperty name="anchorY" value="-5361.5332"/>
      <inkml:brushProperty name="scaleFactor" value="0.5"/>
    </inkml:brush>
  </inkml:definitions>
  <inkml:trace contextRef="#ctx0" brushRef="#br0">1 417 24575,'0'0'0,"9"0"0,15-11 0,4-5 0,20-12 0,18-9 0,16-2 0,24 0 0,14-3 0,17 2 0,17-3 0,15 3 0,-1 8 0,-9 9 0,-6 8 0,-19 7 0,-10 5 0,-14 2 0,-11 2 0,-9 1 0,-5 0 0,-9-1 0,-7 0 0,-1 0 0,-10-1 0,-8 6 0,-13 5 0,-36-10 0,0 0 0,1 0 0,-1 1 0,1-1 0,-1 0 0,1 0 0,-1 1 0,0-1 0,0 0 0,0 1 0,0-1 0,0 1 0,2 3 0,-2-3 0,-1 1 0,1-1 0,0 1 0,-1-1 0,0 1 0,1 0 0,-1-1 0,0 1 0,-1-1 0,1 5 0,-16 39 0,-15 8 0,-11 10 0,-13 6 0,-6 12 0,-7 4 0,-6 7 0,-3 11 0,-4 5 0,-6 4 0,-2-5 0,6 0 0,6 4 0,8 1 0,0-6 0,4-11 0,9-1 0,9-5 0,1 2 0,1 3 0,-2 4 0,-1-1 0,-8 2 0,-8 3 0,-1 1 0,1 14 0,6 1 0,9 1 0,7-2 0,7-2 0,4-7 0,3-8 0,7-7 0,1 5 0,5-3 0,0-3 0,-3 2 0,3-2 0,4-13 0,-3-9 0,4-8 0,2-5 0,-3 7 0,2-1 0,2 6 0,2-3 0,2 9 0,1 3 0,2-3 0,0 2 0,0 0 0,0-4 0,1 0 0,-1 1 0,0 2 0,0 1 0,0 2 0,0-4 0,0 0 0,0-5 0,0-5 0,0-9 0,6-9 0,-4-44 0,-1 0 0,0 0 0,1-1 0,0 1 0,-1 0 0,1 0 0,3 3 0,-2-4 0,-1-1 0,0 1 0,0-1 0,1 0 0,-1 0 0,1 0 0,-1 0 0,1 0 0,3 1 0,27 10 0,7-13 0,11-10 0,10-13 0,3-6 0,6-9 0,10-7 0,4-9 0,2-10 0,-5-7 0,-1-6 0,-6-9 0,0-3 0,-5-5 0,-5-6 0,-3-4 0,-3 3 0,4-2 0,-2 5 0,0 3 0,-7 11 0,-7 8 0,-7 9 0,1 5 0,-4 16 0,-8 9 0,-3 0 0,-1 10 0,-6 7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1.402"/>
    </inkml:context>
    <inkml:brush xml:id="br0">
      <inkml:brushProperty name="width" value="0.1" units="cm"/>
      <inkml:brushProperty name="height" value="0.1" units="cm"/>
      <inkml:brushProperty name="color" value="#AE198D"/>
      <inkml:brushProperty name="inkEffects" value="galaxy"/>
      <inkml:brushProperty name="anchorX" value="-13181.29883"/>
      <inkml:brushProperty name="anchorY" value="-9861.60059"/>
      <inkml:brushProperty name="scaleFactor" value="0.5"/>
    </inkml:brush>
  </inkml:definitions>
  <inkml:trace contextRef="#ctx0" brushRef="#br0">939 632 24575,'0'0'0,"9"-5"0,20-12 0,21-11 0,20-10 0,12-2 0,17-6 0,24-8 0,12 2 0,13-1 0,2 5 0,6 5 0,-2 5 0,-9 5 0,-15 9 0,-15 7 0,-7 1 0,-5 0 0,-1-2 0,-5 2 0,-9 4 0,1 3 0,2 4 0,5 2 0,-7 2 0,4 1 0,-3 1 0,3 5 0,-12 1 0,-2 4 0,-2 6 0,-11 3 0,0-2 0,-4 2 0,-3 7 0,-7 2 0,-7 1 0,-7-4 0,-11-2 0,-3 5 0,-7 1 0,-7 6 0,-3 0 0,-5-1 0,-1 4 0,-2-2 0,0 4 0,0-2 0,0-2 0,-5 2 0,-12 4 0,13-36 0,0 0 0,-1 0 0,-11 12 0,-27 20 0,-18 1 0,-27 9 0,-40 4 0,-44-3 0,-38 6 0,-35 7-1159,-31-5 1491,-24 4-498,-5 0-1669,1-7 2360,6-1-788,3-8 263,16 5 0,12-4 0,32-10 0,18-5-554,33-3 712,37-9-237,32 0 79,34-6 0,34 1 1037,50-15-1042,-3 0 1,1 0-1,0 0 0,0 0 1,-1 0-1,1 0 1,0 0-1,-1 0 0,1 0 1,0 0-1,0 0 0,-1 0 1,1 0-1,0 1 1,0-1-1,-1 0 0,1 0 1,0 0-1,0 0 0,0 1 1,-1-1-1,1 0 1,0 0-1,0 0 0,0 1 1,-1-1-1,1 0 0,0 0 1,0 1-1,0-1 0,0 0 1,0 0-1,0 1 1,0-1-1,0 0 0,0 1 1,0-1-1,0 0 0,0 0 1,0 1-1,0-1 1,0 0-1,0 0 0,0 1 1,0-1-1,0 0 0,0 1 1,0-1-1,0 0 1,0 0-1,1 1 0,-1-1 1,0 0-1,0 0 0,0 0 1,0 1-1,1-1 1,-1 0-1,0 0 0,0 0 1,0 0-1,1 1 0,-1-1 1,32 9 2029,47-4-2561,35-1 1438,43-3-1083,28-1 271,27 0-90,13-1 0,-11 1-713,-21-1 916,-30 1-305,-38 0 102,-35 5 0,-33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2.555"/>
    </inkml:context>
    <inkml:brush xml:id="br0">
      <inkml:brushProperty name="width" value="0.1" units="cm"/>
      <inkml:brushProperty name="height" value="0.1" units="cm"/>
      <inkml:brushProperty name="color" value="#AE198D"/>
      <inkml:brushProperty name="inkEffects" value="galaxy"/>
      <inkml:brushProperty name="anchorX" value="-15107.87695"/>
      <inkml:brushProperty name="anchorY" value="-11954.29199"/>
      <inkml:brushProperty name="scaleFactor" value="0.5"/>
    </inkml:brush>
  </inkml:definitions>
  <inkml:trace contextRef="#ctx0" brushRef="#br0">1 0 24575,'0'0'0,"0"10"0,0 13 0,0 21 0,0 21 0,0 23 0,0 19 0,0 14 0,0 11 0,0 5 0,0 14 0,0 12 0,0 11 0,0-3 0,0-5 0,0-8 0,0-8 0,0-11 0,0-10 0,0-8 0,0-23 0,0-15 0,0-20 0,0-8 0,0 5 0,5-1 0,6 0 0,11-1 0,10-1 0,4-1 0,6-5 0,5-7 0,4-1 0,2 1 0,1-2 0,12 1 0,12-3 0,22-3 0,15-3 0,22 3 0,30-2 0,22 4 0,32-2 0,12-1-971,16-3 1248,5 4-415,-19-7 138,-3-2 0,-33-7 0,-22-6 0,-24-6 0,-20-5 0,-7-2 0,-9-2 0,-10-1 0,-3 0 0,-2 0 971,-5 0-1249,7 0 417,-14-5-139,-10-5 0,-10-6 0,-12 1 0,-17-3 0,-37 16 0,-1 1 0,0-1 0,0 1 0,0-1 0,0 0 0,-1 0 0,4-4 0,9-22 0,-8-13 0,-6 0 0,-2-10 0,-2-9 0,0-14 0,1-5 0,0-11 0,1-12 0,-6-5 0,-4-5 0,-11-6 0,0 5 0,-8 1 0,-1 2 0,4 18 0,1-10 0,1 5 0,5 3 0,6 20-3823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3.114"/>
    </inkml:context>
    <inkml:brush xml:id="br0">
      <inkml:brushProperty name="width" value="0.1" units="cm"/>
      <inkml:brushProperty name="height" value="0.1" units="cm"/>
      <inkml:brushProperty name="color" value="#AE198D"/>
      <inkml:brushProperty name="inkEffects" value="galaxy"/>
      <inkml:brushProperty name="anchorX" value="-20314.07031"/>
      <inkml:brushProperty name="anchorY" value="-14791.13477"/>
      <inkml:brushProperty name="scaleFactor" value="0.5"/>
    </inkml:brush>
  </inkml:definitions>
  <inkml:trace contextRef="#ctx0" brushRef="#br0">1422 0 24575,'0'0'0,"-5"9"0,-12 20 0,-22 21 0,-26 31 0,-25 34 0,-26 28 0,-26 24 0,-9 20-1010,1 4 1298,2-11-432,14-11 144,15-18 0,24-20 0,22-34 0,24-25 0,44-63 0,0 0 0,1-1 0,-5 16 0,7-22 0,1 0 0,1 0 0,-1 0 0,1 0 0,0 0 0,-1 0 0,1 0 0,0 0 0,0 0 0,0 0 0,0 0 0,1 0 0,-1 2 0,3-2 0,-2 0 0,0-1 0,0 0 0,0 0 0,0 0 0,0 0 0,1 0 0,-1 0 0,0 0 0,1-1 0,-1 1 0,1 0 0,-1-1 0,1 1 0,-1-1 0,1 1 0,-1-1 0,3 0 0,14 2 337,-2-2 0,27-1 0,80-16-626,-5-3-3390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3.459"/>
    </inkml:context>
    <inkml:brush xml:id="br0">
      <inkml:brushProperty name="width" value="0.1" units="cm"/>
      <inkml:brushProperty name="height" value="0.1" units="cm"/>
      <inkml:brushProperty name="color" value="#AE198D"/>
      <inkml:brushProperty name="inkEffects" value="galaxy"/>
      <inkml:brushProperty name="anchorX" value="-18225.57617"/>
      <inkml:brushProperty name="anchorY" value="-15607.34082"/>
      <inkml:brushProperty name="scaleFactor" value="0.5"/>
    </inkml:brush>
  </inkml:definitions>
  <inkml:trace contextRef="#ctx0" brushRef="#br0">2343 1 24575,'0'0'0,"-9"9"0,-26 15 0,-31 26 0,-32 20 0,-38 23 0,-37 30 0,-24 18 0,-23 21-1437,-9 8 1848,2-2-617,12-5 206,29-17 0,31-25 0,27-22 0,33-24 0,27-19 0,19-15 0,14-10 0,13-10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3.866"/>
    </inkml:context>
    <inkml:brush xml:id="br0">
      <inkml:brushProperty name="width" value="0.1" units="cm"/>
      <inkml:brushProperty name="height" value="0.1" units="cm"/>
      <inkml:brushProperty name="color" value="#AE198D"/>
      <inkml:brushProperty name="inkEffects" value="galaxy"/>
      <inkml:brushProperty name="anchorX" value="-14866.29199"/>
      <inkml:brushProperty name="anchorY" value="-16354.68457"/>
      <inkml:brushProperty name="scaleFactor" value="0.5"/>
    </inkml:brush>
  </inkml:definitions>
  <inkml:trace contextRef="#ctx0" brushRef="#br0">0 0 24575,'0'0'0,"0"10"0,0 24 0,0 27 0,0 26 0,0 43 0,0 44 0,0 26 0,0 30 0,0 20-1073,0 9 1380,0-3-460,0-12 153,0-20 0,6-19 0,5-28 0,0-40 0,4-30 0,-1-53 0,-14-56 0,0 2 0,0 0 0,0 0 0,0-1 0,0 1 0,0 0 0,0 0 0,0-1 0,1 1 0,-1 0 0,0 0 0,0 0 0,0-1 0,0 1 0,1 0 0,-1 0 0,0 0 0,0 0 0,0-1 0,1 1 0,-1 0 0,0 0 0,0 0 0,1 0 0,-1 0 0,0 0 0,0 0 0,1 0 0,-1 0 0,0 0 0,0 0 0,1 0 0,-1 0 0,0 0 0,0 0 0,1 0 0,-1 0 0,0 0 0,0 0 0,1 0 0,-1 0 0,0 0 0,0 0 0,0 1 0,1-1 0,-1 0 0,0 0 0,0 0 0,0 0 0,1 1 0,-1-1 0,0 0 0,0 0 0,0 0 0,0 1 0,0-1 0,1 0 0,-1 0 0,0 1 0,8-58 0,2-77 0,15-78 0,15-72 0,-2 26-3823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4.276"/>
    </inkml:context>
    <inkml:brush xml:id="br0">
      <inkml:brushProperty name="width" value="0.1" units="cm"/>
      <inkml:brushProperty name="height" value="0.1" units="cm"/>
      <inkml:brushProperty name="color" value="#AE198D"/>
      <inkml:brushProperty name="inkEffects" value="galaxy"/>
      <inkml:brushProperty name="anchorX" value="-16070.73926"/>
      <inkml:brushProperty name="anchorY" value="-19261.80859"/>
      <inkml:brushProperty name="scaleFactor" value="0.5"/>
    </inkml:brush>
  </inkml:definitions>
  <inkml:trace contextRef="#ctx0" brushRef="#br0">0 1 24575,'0'0'0,"9"4"0,15 8 0,9 16 0,10 15 0,12 20 0,15 29 0,18 24 0,18 31 0,8 21 0,10 20 0,6 10-930,3 10 1195,4-6-397,-10-12 132,-16-15 0,-18-31 0,-14-21 0,-17-26 0,-14-23 0,-16-36 0,-31-38 0,-1 1 0,0-1 0,1 0 0,-1 1 0,0-1 0,1 0 0,-1 1 0,1-1 0,-1 0 0,1 1 0,-1-1 0,0 0 0,1 0 0,-1 1 0,1-1 0,0 0 0,-1 0 0,1 0 0,-1 0 0,1 0 0,-1 0 0,1 0 0,-1 0 0,1 0 0,-1 0 0,1 0 0,-1 0 0,1 0 0,0 0 0,-1 0 0,1 0 0,-1-1 0,1 1 0,-1 0 0,0 0 0,1-1 0,-1 1 0,1 0 0,0-1 0,1-3 0,-1 0 0,1 1 0,-1-1 0,0 1 0,0-1 0,-1 1 0,1-1 0,-1 1 0,1-6 0,2-90 930,-3-1-1196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4.979"/>
    </inkml:context>
    <inkml:brush xml:id="br0">
      <inkml:brushProperty name="width" value="0.1" units="cm"/>
      <inkml:brushProperty name="height" value="0.1" units="cm"/>
      <inkml:brushProperty name="color" value="#AE198D"/>
      <inkml:brushProperty name="inkEffects" value="galaxy"/>
      <inkml:brushProperty name="anchorX" value="-18737.48047"/>
      <inkml:brushProperty name="anchorY" value="-22349.72266"/>
      <inkml:brushProperty name="scaleFactor" value="0.5"/>
    </inkml:brush>
  </inkml:definitions>
  <inkml:trace contextRef="#ctx0" brushRef="#br0">2327 0 24575,'0'0'0,"0"5"0,0 12 0,0 6 0,0 9 0,0 3 0,0 6 0,0 10 0,0 4 0,0 9 0,0-5 0,-5 4 0,-6 0 0,-6 3 0,-4-6 0,-9 3 0,-8-2 0,5 4 0,0-7 0,-4 4 0,-3 4 0,-5 5 0,-9 3 0,-8 4 0,-14 3 0,-11-5 0,-15 1 0,-7-5 0,-5 6 0,-1-5 0,1-8 0,6-15 0,17-11 0,19-13 0,16-10 0,13-8 0,5-5 0,-7-4 0,-2-6 0,-9-1 0,-8-10 0,-7-11 0,-1-9 0,-2-7 0,3-6 0,-2-3 0,-2 3 0,4 1 0,14 9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5.586"/>
    </inkml:context>
    <inkml:brush xml:id="br0">
      <inkml:brushProperty name="width" value="0.1" units="cm"/>
      <inkml:brushProperty name="height" value="0.1" units="cm"/>
      <inkml:brushProperty name="color" value="#AE198D"/>
      <inkml:brushProperty name="inkEffects" value="galaxy"/>
      <inkml:brushProperty name="anchorX" value="-15394.22363"/>
      <inkml:brushProperty name="anchorY" value="-22836.84375"/>
      <inkml:brushProperty name="scaleFactor" value="0.5"/>
    </inkml:brush>
  </inkml:definitions>
  <inkml:trace contextRef="#ctx0" brushRef="#br0">260 412 24575,'0'0'0,"28"-10"0,43-13 0,35-16 0,32-9 0,27-1 0,11 2 0,10-1 0,-5 5 0,-26 9 0,-21 5 0,-27 8 0,-26 8 0,-21 5 0,-23 10 0,-35-1 0,0 0 0,-1-1 0,0 1 0,1-1 0,-1 1 0,0 0 0,0-1 0,0 1 0,0 0 0,1 0 0,-1 0 0,0 0 0,0 0 0,-1 0 0,1 0 0,1 2 0,1 2 0,-2-1 0,1-1 0,-1 1 0,0 0 0,-1 0 0,1-1 0,-1 1 0,1 4 0,-3 5 0,1-1 0,-5 25 0,-2-14 0,-14 34 0,-37 49 0,-27 21 0,-15 16 0,-17 7 0,-10-3 0,-1-3 0,2-13 0,-6-9 0,-3-13 0,4-14 0,6-15 0,9-11 0,17-8 0,10-5 0,11-8 0,16-13 0,18-6 0,5-3 0,7-8 0,9 0 0,14-5 0,12-12 0,-1 0 0,-1-1 0,1 1 0,-1 0 0,1-1 0,0 1 0,-1-1 0,1 1 0,-1-1 0,1 1 0,0-1 0,0 0 0,-1 1 0,1-1 0,0 0 0,0 1 0,-1-1 0,1 0 0,0 0 0,0 0 0,1 1 0,48 4 0,48-2 0,35-7 0,29-7 0,20-12 0,5-5 0,-32 3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6.443"/>
    </inkml:context>
    <inkml:brush xml:id="br0">
      <inkml:brushProperty name="width" value="0.1" units="cm"/>
      <inkml:brushProperty name="height" value="0.1" units="cm"/>
      <inkml:brushProperty name="color" value="#AE198D"/>
      <inkml:brushProperty name="inkEffects" value="galaxy"/>
      <inkml:brushProperty name="anchorX" value="-17135.53906"/>
      <inkml:brushProperty name="anchorY" value="-25293.89063"/>
      <inkml:brushProperty name="scaleFactor" value="0.5"/>
    </inkml:brush>
  </inkml:definitions>
  <inkml:trace contextRef="#ctx0" brushRef="#br0">1874 0 24575,'0'0'0,"-19"10"0,-18 8 0,-13 4 0,-7 4 0,12-3 0,45-23 0,-2 2 0,0-1 0,0 0 0,0 1 0,0-1 0,0 1 0,1 0 0,-1-1 0,-2 4 0,6-4 0,-2 0 0,0-1 0,0 1 0,0-1 0,0 1 0,1 0 0,-1-1 0,0 1 0,1-1 0,-1 1 0,0-1 0,1 1 0,-1-1 0,0 1 0,1-1 0,-1 0 0,1 1 0,-1-1 0,1 0 0,-1 1 0,1-1 0,-1 0 0,1 1 0,0-1 0,-1 0 0,1 0 0,-1 0 0,1 1 0,0-1 0,-1 0 0,1 0 0,0 0 0,53 7 0,32-3 0,25-2 0,10-3 0,6 1 0,-7-1 0,-20 0 0,-20 5 0,-30 7 0,-47-11 0,0 1 0,-1 0 0,0 0 0,1 0 0,-1 1 0,0-1 0,0 0 0,0 1 0,1 0 0,1 2 0,-4-2 0,1-1 0,0 0 0,-1 0 0,0 0 0,1 0 0,-1 0 0,0 0 0,1 1 0,-1-1 0,0 0 0,0 0 0,0 0 0,0 0 0,0 1 0,0-1 0,0 0 0,-1 0 0,1 0 0,0 1 0,-1 1 0,-1-1 0,0 2 0,0-1 0,-1 0 0,1 0 0,0 0 0,-1 0 0,0 0 0,-4 3 0,-35 37 0,-12 6 0,-22 11 0,-19 2 0,-22 6 0,-34 0 0,-26-8 0,-31-2 0,-20-4-932,-14 5 1199,4 5-400,13 5 133,27 0 0,33-2 0,35-13 0,40-10 0,80-37 0,0-1 0,1 0 0,0 1 0,-9 8 0,15-12 0,1-1 0,-1 0 0,1 1 0,0 0 0,0-1 0,0 1 0,1 0 0,-1 0 0,1 0 0,-1 0 0,0 4 0,3-6 0,-1 1 0,0-1 0,0 1 0,1 0 0,-1-1 0,0 1 0,1-1 0,-1 1 0,1 0 0,-1-1 0,1 0 0,0 1 0,0-1 0,-1 1 0,1-1 0,0 0 0,0 1 0,0-1 0,1 0 0,-1 0 0,1 1 0,5 3 0,-1 0 0,1-1 0,0 0 0,0-1 0,15 6 0,-2-2 465,42 9 1,61 1-732,55-13 399,45-10-133,41-19-1185,31-13 1524,10-10-2377,-4-6 2572,-11-8-801,-29-2 267,-34 5 0,-43 8-262,-37 8 337,-34 11-113,-33 11 38,-29 4 1074,-23 0-1380,-29 16 367,1 1 1,0-1-1,1 1 1,-1-1 0,0 1-1,0-1 1,0 1-1,1-1 1,-1 1 0,0-1-1,0 1 1,0-1 0,0 0-1,0 1 1,0-1-1,0 1 1,0-1 0,0 1-1,-1-1 1,1 1 0,0-1-1,0 1 1,0-1-1,-1 1 1,1-1 0,0 1-1,0-1 1,-1 1-1,1-1 1,-1 1 0,1 0-1,0-1 1,-2 0 0,-9-7-201,2 2 0,0 1 0,-15-7 1,-101-38 715,-77-30-663,-84-16 129,-60-7-2746,-25-1 3475,57 20-1158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7.194"/>
    </inkml:context>
    <inkml:brush xml:id="br0">
      <inkml:brushProperty name="width" value="0.1" units="cm"/>
      <inkml:brushProperty name="height" value="0.1" units="cm"/>
      <inkml:brushProperty name="color" value="#AE198D"/>
      <inkml:brushProperty name="inkEffects" value="galaxy"/>
      <inkml:brushProperty name="anchorX" value="-15768.03027"/>
      <inkml:brushProperty name="anchorY" value="-24533.58398"/>
      <inkml:brushProperty name="scaleFactor" value="0.5"/>
    </inkml:brush>
  </inkml:definitions>
  <inkml:trace contextRef="#ctx0" brushRef="#br0">997 0 24575,'0'0'0,"14"19"0,16 23 0,9 19 0,19 18 0,6 15 0,8 20 0,5 18 0,-2 8 0,-4 21 0,-9 12 0,-6 11 0,-8 5 0,-7 4 0,-7 2 0,-3-11 0,-3-1 0,9-1 0,1-4 0,-7-20 0,-7 1 0,-7-8 0,-8-5 0,-4-4 0,-4 8 0,-7-7 0,-6-6 0,-6-9 0,-5-7 0,-2-11 0,-8 1 0,-1-13 0,-5-5 0,-6-12 0,-3-14 0,2-19 0,37-43 0,1 0 0,0 0 0,0 0 0,0-1 0,-10 3 0,3-2 0,1-1 0,0-1 0,-19 3 0,14-6 0,1 0 0,-35-3 0,22-3 0,-49-14 0,-49-27 0,-5-15 0,1-23 0,-1-7 0,5-15 0,0-5 0,11-3 0,14 5 0,21 1 0,13 12 0,16 7 0,18 15 0,13 10 0,11 12 0,7 10 0,5 8 0,8 5 0,6 3 0,-8 22 0,-2 1 0,1 0 0,0 1 0,0 0 0,5-4 0,36-13 0,35 6 0,38 5 0,46 4 0,50 4 0,38 0 0,23 2-1553,10 0 1996,-1 0-665,-13 5 222,-25 6 0,-52 0 0,-46-2 0,-44-2 0,-35-3 0,-31 4 0,-15 3 0,-13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8.451"/>
    </inkml:context>
    <inkml:brush xml:id="br0">
      <inkml:brushProperty name="width" value="0.1" units="cm"/>
      <inkml:brushProperty name="height" value="0.1" units="cm"/>
      <inkml:brushProperty name="color" value="#AE198D"/>
      <inkml:brushProperty name="inkEffects" value="galaxy"/>
      <inkml:brushProperty name="anchorX" value="-18682.31836"/>
      <inkml:brushProperty name="anchorY" value="-28774.19336"/>
      <inkml:brushProperty name="scaleFactor" value="0.5"/>
    </inkml:brush>
  </inkml:definitions>
  <inkml:trace contextRef="#ctx0" brushRef="#br0">1835 0 24575,'0'0'0,"0"9"0,5 37 0,12 26 0,16 37 0,10 52 0,14 42 0,10 44 0,2 45-1817,5 48 2336,3 37-779,2 31-2742,-3 24 3860,0 7-1287,-4-17 429,-11-38 0,-10-51 0,-14-69-1095,-13-58 1408,-10-52-469,-8-47 156,-5-36 1480,-3-69-1505,2 1 0,0-1 0,-1 0 1,1 0-1,-1 0 0,1 0 0,-1 0 0,0 0 0,0 0 0,0 0 0,0-1 0,0 1 1,0 0-1,-1 0 0,1-1 0,-2 2 0,1 0 207,0-2 0,0 0 0,1-1 0,-1 1 0,0 0-1,1-1 1,-1 1 0,0-1 0,0 1 0,0-1 0,0 0 0,1 0 0,-1 0 0,0 0-1,0 0 1,0 0 0,-3-1 0,-4-1-328,1-1 0,0 0 1,-1 0-1,1 0 0,-8-6 0,-71-48 1955,-28-35-2201,-20-40 588,-22-32-196,-10-21-1291,5-17 1660,21-6-554,19 0 185,22-8 0,23 2 0,25 16 0,20 5-324,16 4 417,16 25-140,3 124 47,11-57 0,-8 67 0,1 2 0,12-29 0,-11 35 0,1 1 0,17-28 0,-17 32 0,2 2 0,24-28 0,-23 30 0,0 1 0,1 1 0,16-11 0,-17 12 424,2 1 1,23-11-1,-24 13-515,0 2 0,1 0 0,13-2 0,44-6 616,-7 9-623,-3 4 147,-9 3-49,-8 0 0,-6 5 0,-11 6 0,-25-11 0,0 0 0,0-1 0,0 0 0,-1 1 0,1-1 0,0 1 0,-1 0 0,0-1 0,2 4 0,7 50 0,-11 24 0,-19 39 0,-15 34 0,-21 33 0,-18 27 0,-5 7-872,1 6 1121,3-15-373,18-29 124,15-41 0,16-38 0,12-32 0,8-23 0,11-15 0,3-9 0,1 13 0,-12-30 174,3 1 1,-1-1-1,0 0 0,-2 11 1,-7-3-237,3-2-1,0 0 1,-13 17 0,-4-7 124,-42 40 0,-68 30-62,-41 8 0,-32-1 0,-18-2-1129,25-16 1452,26-14-484,41-21 161,53-22 0,65-22 0,15-3 0,0 0 0,0 0 0,0 0 0,0 0 0,0 0 0,0-1 0,0 1 0,0 0 0,0 0 0,0 0 0,0 0 0,0 0 0,1 0 0,-1 0 0,0 0 0,0 0 0,0 0 0,0 0 0,0 0 0,0-1 0,0 1 0,0 0 0,0 0 0,0 0 0,-1 0 0,1 0 0,0 0 0,0 0 0,0 0 0,0 0 0,0 0 0,0 0 0,0 0 0,0 0 0,0 0 0,0-1 0,0 1 0,0 0 0,0 0 0,0 0 0,0 0 0,0 0 0,0 0 0,0 0 0,0 0 0,-1 0 0,1 0 0,0 0 0,0 0 0,0 0 0,0 0 0,0 0 0,0 0 0,0 0 0,0 0 0,0 0 0,55-32 0,72-22 0,70-11 0,67-26 0,57-23-1190,49-14 1530,28-15-3508,19-4 4024,-75 25-1284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8.812"/>
    </inkml:context>
    <inkml:brush xml:id="br0">
      <inkml:brushProperty name="width" value="0.1" units="cm"/>
      <inkml:brushProperty name="height" value="0.1" units="cm"/>
      <inkml:brushProperty name="color" value="#AE198D"/>
      <inkml:brushProperty name="inkEffects" value="galaxy"/>
      <inkml:brushProperty name="anchorX" value="-20355.86523"/>
      <inkml:brushProperty name="anchorY" value="-33987.88672"/>
      <inkml:brushProperty name="scaleFactor" value="0.5"/>
    </inkml:brush>
  </inkml:definitions>
  <inkml:trace contextRef="#ctx0" brushRef="#br0">1533 307 24575,'0'0'0,"-14"9"0,-16 15 0,-15 14 0,-24 22 0,-17 11 0,-24 9 0,-8 11 0,0-9 0,1-12 0,7-13 0,20-16 0,6-16 0,7-11 0,60-12 0,1-2 0,-21-1 0,29-3 0,0 2 0,0 0 0,0-1 0,1 0 0,-1 0 0,-9-7 0,1 0 0,3 1 0,1-1 0,-18-18 0,11 7 0,-31-43 0,33 32 0,-26-55 0,-9-70 0,14-12 0,13-24 0,10 31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9.340"/>
    </inkml:context>
    <inkml:brush xml:id="br0">
      <inkml:brushProperty name="width" value="0.1" units="cm"/>
      <inkml:brushProperty name="height" value="0.1" units="cm"/>
      <inkml:brushProperty name="color" value="#AE198D"/>
      <inkml:brushProperty name="inkEffects" value="galaxy"/>
      <inkml:brushProperty name="anchorX" value="-17808.04492"/>
      <inkml:brushProperty name="anchorY" value="-32665.83203"/>
      <inkml:brushProperty name="scaleFactor" value="0.5"/>
    </inkml:brush>
  </inkml:definitions>
  <inkml:trace contextRef="#ctx0" brushRef="#br0">1 0 24575,'0'0'0,"0"9"0,0 21 0,5 41 0,6 38 0,6 34 0,-2 30 0,-1 33 0,-4 37 0,-4 26-1423,-2 36 1830,-2 23-611,-2 17-2062,0 4 2913,-1 0-970,1-14 323,-1-28 0,1-32 0,-1-52-664,1-41 854,0-33-285,0-30 95,5-25 1238,6-19-1592,6-18 2862,-15-51-2641,1 0 0,0 0-1,0-1 1,8 11 0,13 12 1250,3-11-1341,1-8 336,11-5-112,17-3 0,38-2 0,33-23 0,26-11 0,27-22 0,23-24 0,8-9-865,8-21 1113,-14-2-372,-16 3 124,-27 6 0,-27 2 0,-27 10 0,-27 11 0,-28 15 0,-21 18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19.811"/>
    </inkml:context>
    <inkml:brush xml:id="br0">
      <inkml:brushProperty name="width" value="0.1" units="cm"/>
      <inkml:brushProperty name="height" value="0.1" units="cm"/>
      <inkml:brushProperty name="color" value="#AE198D"/>
      <inkml:brushProperty name="inkEffects" value="galaxy"/>
      <inkml:brushProperty name="anchorX" value="-21285.92773"/>
      <inkml:brushProperty name="anchorY" value="-37409.88281"/>
      <inkml:brushProperty name="scaleFactor" value="0.5"/>
    </inkml:brush>
  </inkml:definitions>
  <inkml:trace contextRef="#ctx0" brushRef="#br0">1 1 24575,'0'0'0,"0"23"0,0 36 0,0 46 0,0 35 0,0 22 0,0 12 0,0-1 0,0-11 0,0-25 0,0-13 0,0-23 0,0-22 0,0-20 0,0-15 0,0-10 0,0-23 0,0-36 0,0-57 0,10-47 0,13-56 0,21-51 0,20-40-1578,-3 36 2029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20.843"/>
    </inkml:context>
    <inkml:brush xml:id="br0">
      <inkml:brushProperty name="width" value="0.1" units="cm"/>
      <inkml:brushProperty name="height" value="0.1" units="cm"/>
      <inkml:brushProperty name="color" value="#AE198D"/>
      <inkml:brushProperty name="inkEffects" value="galaxy"/>
      <inkml:brushProperty name="anchorX" value="-22504.53516"/>
      <inkml:brushProperty name="anchorY" value="-38840.02734"/>
      <inkml:brushProperty name="scaleFactor" value="0.5"/>
    </inkml:brush>
  </inkml:definitions>
  <inkml:trace contextRef="#ctx0" brushRef="#br0">1271 0 24575,'0'0'0,"14"0"0,11 5 0,8 6 0,9 6 0,11 10 0,-1 9 0,-2 7 0,-6 12 0,0 9 0,-5 13 0,-8 1 0,-4 19 0,-8-3 0,-6 10 0,-6 9 0,-4 19 0,-2 2 0,-1 10 0,-7 22 0,-5 13 0,0-2 0,-10 16 0,-3-8 0,-3 2 0,4-11 0,5 0 0,6 2 0,5-9 0,5-7 0,1 2 0,3-7 0,0-4 0,0-1 0,0-4 0,0-3 0,-1-3 0,0-2 0,1-8 0,-1-1 0,0 0 0,0-6 0,0 2 0,0-4 0,0-9 0,-1-4 0,1 3 0,0-1 0,0-5 0,0-2 0,0 1 0,0-1 0,0-9 0,0-6 0,0-4 0,-5 2 0,-6-1 0,0-1 0,-5 10 0,-2-1 0,-4 5 0,-3-3 0,-1-8 0,-2-4 0,1-3 0,-1-8 0,0-10 0,0-12 0,0-4 0,1-8 0,-6-4 0,-6-10 0,-10-9 0,-5-6 0,-14-6 0,-8-9 0,53-1 0,-40-12 0,-42-28 0,-8-17 0,-10-18 0,4-18 0,13-10 0,14-5 0,19-3 0,52 76 0,-15-41 0,22 44 0,-10-47 0,1-45 0,11-26 0,8-20 0,5-29 0,2-25 0,0-20-1102,0 2 1417,-1 9-472,0 11 157,-1 8 0,5 9 0,16-4 0,11-5 0,16-8 0,18-6 0,10-1 0,6-3 0,-7-3 0,0 8 0,-6 11 0,-10 14 0,-15 48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21.730"/>
    </inkml:context>
    <inkml:brush xml:id="br0">
      <inkml:brushProperty name="width" value="0.1" units="cm"/>
      <inkml:brushProperty name="height" value="0.1" units="cm"/>
      <inkml:brushProperty name="color" value="#AE198D"/>
      <inkml:brushProperty name="inkEffects" value="galaxy"/>
      <inkml:brushProperty name="anchorX" value="-20896.57227"/>
      <inkml:brushProperty name="anchorY" value="-39799.55859"/>
      <inkml:brushProperty name="scaleFactor" value="0.5"/>
    </inkml:brush>
  </inkml:definitions>
  <inkml:trace contextRef="#ctx0" brushRef="#br0">1343 0 24575,'0'0'0,"18"5"0,19 1 0,18 0 0,14-2 0,20 0 0,11-2 0,3-1 0,-7-1 0,-15 0 0,-16 0 0,-15 6 0,-46-4 0,0-1 0,-1 0 0,1 0 0,-1 0 0,0 1 0,1 0 0,-1 0 0,3 2 0,-7-3 0,2 0 0,0 0 0,0 0 0,-1 0 0,1 0 0,-1 0 0,1 1 0,-1-1 0,1 0 0,-1 0 0,0 0 0,1 1 0,-1-1 0,0 0 0,0 0 0,0 1 0,0-1 0,0 0 0,0 0 0,0 0 0,-1 3 0,-2 1 0,1 0 0,-1 0 0,0 0 0,0 0 0,0-1 0,0 1 0,-5 4 0,-12 11 0,-28 22 0,-61 32 0,-38 18 0,-20 16 0,-11 12 0,-3 4-681,1-6 876,15-13-293,20-14 98,31-20 0,29-21 0,24-12 0,59-35 0,-1 0 0,0-1 0,0 1 0,1-1 0,-1 1 0,1 0 0,-1 0 0,1 0 0,-3 5 0,5-5 0,-1-2 0,1 1 0,-1 0 0,1-1 0,0 1 0,-1 0 0,1-1 0,0 1 0,0 0 0,1-1 0,-1 1 0,0 0 0,0 0 0,1-1 0,-1 1 0,1-1 0,-1 1 0,2 1 0,4 3 0,-2-2 0,0 1 0,1-1 0,-1 0 0,1 0 0,0 0 0,9 4 0,8 2 227,-1 0 0,27 8 1,82 24-423,19-3 292,14 4-97,-10-8 0,-25 3 0,-108-29 0,0-1 0,35 20 0,-49-24 0,1 0 0,0 1 0,0 1 0,-1-1 0,0 1 0,0 0 0,5 7 0,-7-11 0,-2 2 0,1-1 0,-1 1 0,0 0 0,0-1 0,0 1 0,0 0 0,-1 0 0,1 0 0,0 8 0,-2-7 0,1-1 0,-1 0 0,-1 0 0,1 0 0,-1 0 0,0 0 0,1 0 0,-2 0 0,1 0 0,0 0 0,-4 5 0,1 0 0,0-1 0,-2 0 0,1 0 0,-1-1 0,-9 10 0,4-6 0,-2 1 0,-24 17 0,9-14 0,-46 21 0,-60 16 0,-25-6 0,-19 1 0,-1 1 0,0 6 0,20-3 0,26-4 0,31-6 0,87-33 0,0 0 0,-19 13 0,32-20 0,-1 1 0,1 0 0,0-1 0,0 1 0,1 0 0,-1 0 0,0 0 0,1 0 0,-1 0 0,1 0 0,-1 0 0,1 1 0,0-1 0,-1 3 0,3-3 0,-1-1 0,0 1 0,0-1 0,0 0 0,0 1 0,1-1 0,-1 0 0,1 1 0,-1-1 0,1 0 0,-1 0 0,1 1 0,0-1 0,0 0 0,-1 0 0,1 0 0,0 0 0,0 0 0,0 0 0,0 0 0,0 0 0,0 0 0,3 1 0,5 3 0,0 0 0,0-1 0,0 0 0,18 5 0,81 18 0,30-6 0,42-6 0,44-6 0,44-3-1351,42-4 1737,37-2-579,18-11-2372,14-12 3298,-15-17-1099,-25-4 366,-49-11 0,-58 2-830,-60-2 1067,-58 12-4178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10:22.442"/>
    </inkml:context>
    <inkml:brush xml:id="br0">
      <inkml:brushProperty name="width" value="0.1" units="cm"/>
      <inkml:brushProperty name="height" value="0.1" units="cm"/>
      <inkml:brushProperty name="color" value="#AE198D"/>
      <inkml:brushProperty name="inkEffects" value="galaxy"/>
      <inkml:brushProperty name="anchorX" value="-24480.39844"/>
      <inkml:brushProperty name="anchorY" value="-42953.77734"/>
      <inkml:brushProperty name="scaleFactor" value="0.5"/>
    </inkml:brush>
  </inkml:definitions>
  <inkml:trace contextRef="#ctx0" brushRef="#br0">0 1219 24575,'0'0'0,"0"-9"0,6-20 0,10-15 0,12-21 0,10-17 0,18-23 0,17-21 0,21-6 0,10 0 0,8 14 0,8 11 0,1 16 0,-1 19 0,-12 22 0,-79 39 0,46-10 0,-46 14 0,38-3 0,30 3 0,-5 6 0,-8 4 0,-9 1 0,-7 5 0,-12 0 0,-4 4 0,2 4 0,1 4 0,-5 2 0,-11 3 0,-35-21 0,1-1 0,-1 0 0,0 1 0,7 10 0,6 23 0,-7-4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3:23.62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0,'56'0,"240"4,-209 2,118 22,-19 11,127 23,-227-49,148 2,-129-16,-5-1,0 4,114 18,553 144,-355-75,-367-80,1-1,64 2,93-10,-103-1,-31-3,-1-2,-1-3,1-4,99-31,-53 14,180-26,-19 5,-174 29,191-17,-233 37,394-29,-202 3,291 6,-535 22,66 2,1-3,129-19,-120 6,1 3,144 2,-167 9,22 0,124 17,-135-9,0-4,77-4,-64-1,-57 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3:27.3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0,'133'4,"0"6,170 34,-82-9,406 12,262-81,-245 6,0 32,-163 33,-365-19,-1 6,123 42,-212-57,167 50,-148-47,0-3,64 5,94-9,209-22,-9-1,621 19,-987-2,-1-2,0-2,56-13,101-41,-189 57,1 0,-1 1,1 0,-1 0,1 0,0 0,0 1,-1-1,1 1,8 1,6 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3:28.11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1,'10'0,"16"0,36 0,41 0,40 0,41 0,37 0,36 9,11 8,-7 6,-20 3,-32 2,-43 1,-45 0,-42-4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3:32.50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0 338,'86'10,"385"6,-362-16,1484 0,-1058-20,765-126,-1088 110,489-73,4 56,-254 58,-120 0,-313-5,-8-1,0 1,0 1,0 0,14 2,-22-2,0 0,0-1,1 1,-1 0,0 0,0 0,0 0,0 0,0 1,-1-1,1 1,0-1,0 1,-1 0,1-1,-1 1,0 0,0 0,1 0,-1 0,0 0,-1 0,1 1,1 1,2 21,-2 0,0 0,-1 0,-3 27,1 26,2-42,1-1,2 1,15 63,-17-89,1-1,0 0,1-1,0 1,0-1,1 1,0-1,0-1,1 1,0-1,0 0,1 0,0-1,0 1,1-2,-1 1,1-1,1 0,14 6,-2-4,37 8,-50-13,-4 0,-15-1,-24-1,32 0,-294-1,-2159 0,2379 2,-294 7,3 29,302-22,-114 40,71-19,79-27</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4:26.50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59,'110'0,"72"1,196-25,141-12,0 36,-268 2,2599 0,-1514-3,-1167 5,295 46,-267-22,336 4,1069-34,-552 0,140 2,-1187 0,43 4,-44-4,-1 1,1-1,0 1,0 0,0 0,-1 0,1 0,0 0,-1 0,1 0,-1 1,0-1,1 0,-1 1,0-1,0 1,1 0,-1-1,-1 1,2 2,4 20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4:27.71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30,'0'-1,"1"0,-1 0,1 0,-1 0,1 0,-1 0,1 1,-1-1,1 0,0 0,0 1,-1-1,1 0,0 1,0-1,0 1,0-1,-1 1,1-1,0 1,0-1,0 1,0 0,0 0,0 0,0-1,2 1,37-4,-31 4,592-9,-385 11,4759-1,-4943-1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4:30.44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0 530,'26'-2,"0"-1,-1-1,39-12,-11 3,359-60,-54 10,-55 2,556-108,-507 117,414-10,359 51,-1042 11,735 17,-3 52,481 163,-1038-180,1817 367,-1547-327,-352-71,182-2,55-25,425 18,-838-12,220 12,-200-12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4:31.70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0,'339'11,"-79"-1,1860-1,-1303-12,3768 3,-4559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4:35.65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1561 1042,'-1'5,"0"0,0 0,0 0,-1 0,1-1,-1 1,0 0,-1-1,1 1,-4 4,-6 11,-232 393,203-355,-2-2,-3-2,-84 76,-177 125,173-149,93-73,-56 48,96-80,0 0,-1 0,1-1,0 1,0 0,1 0,-1 0,0 0,0 0,0 0,1 0,-1 0,0 1,1-1,-1 0,1 0,0 1,-1-1,1 0,0 0,0 1,0-1,0 0,0 1,0-1,0 0,0 1,0-1,1 0,-1 1,0-1,1 0,-1 0,1 0,-1 1,1-1,0 0,0 0,-1 0,1 0,2 2,3 1,1 1,0-1,0 0,0 0,0-1,10 4,23 6,0-1,1-2,73 9,136-3,-234-15,785 11,95 4,-38 40,-7 45,-500-33,-338-65,-2 0,1 0,0-1,-1 0,15 0,-26-2,1 0,-1 0,0 0,1 0,-1 0,1 0,-1 0,0 0,1 0,-1 0,0 0,1 0,-1 0,1 0,-1 0,0 0,1 0,-1 0,0-1,1 1,-1 0,0 0,1 0,-1-1,0 1,0 0,1 0,-1-1,0 1,0 0,1-1,-1 1,0 0,0-1,0 1,0 0,1-1,-1 1,0 0,0-1,0 1,0 0,0-1,0 1,0-1,-12-16,-6 1,-39-26,27 21,-664-449,-20 22,678 425,-2037-1116,1518 895,124 57,346 143,52 27,-55-23,62 32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4:37.06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1435 0,'-1'12,"0"0,-1-1,0 1,-1-1,0 1,0-1,-2 0,-9 18,-7 9,-28 36,27-41,-99 131,-149 156,65-82,-90 127,25 18,176-218,84-143,1 0,1 0,1 1,1 0,-6 46,11-65,1 0,0 0,0 0,0 0,0 0,1 0,-1 0,1 0,0-1,0 1,0 0,1 0,2 4,-2-6,0 1,0-1,0-1,0 1,0 0,0 0,1-1,-1 1,1-1,-1 0,1 0,-1 0,1 0,0 0,-1-1,1 1,0-1,0 1,0-1,3 0,290-2,-116-3,811 12,-1 56,993 268,-1022-83,-958-249,-10-5,-19-12,-442-259,21 13,-1187-824,826 456,549 423,85 71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4:41.11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1 303,'0'-1,"0"1,1-1,-1 0,1 0,-1 1,1-1,-1 0,1 1,-1-1,1 1,0-1,-1 1,1-1,0 1,0-1,-1 1,1 0,0-1,0 1,0 0,-1 0,1 0,0-1,2 1,24-4,37 4,-1 2,120 20,-107-11,657 129,-363-61,-351-75,963 167,-345-64,-302-47,-30-7,-198-33,1-4,1-5,197-6,-248-9,0-3,-1-2,67-20,161-70,101-91,-385 189,46-25,-2-2,0-2,-2-2,75-74,-85 77,2 1,0 2,2 1,50-25,0-1,-74 43,0 1,1 0,1 0,-1 2,1 0,0 0,0 1,0 1,0 1,1 0,-1 1,22 1,255 1,93 3,-116 19,-208-17,-50-4,-1 0,1 1,-1 0,0 1,17 8,-17-7,0 0,0-1,0-1,0 0,1 0,11 1,157-2,-91-4,-58 1,1-2,-1 0,0-2,51-16,108-50,-22 7,-90 43,2 4,156-14,-229 30,525-10,-323 14,798-4,-956 5,0 1,97 24,-137-27,133 40,-108-29,1-2,0-1,1-2,-1-1,51 2,-58-9,0 1,-1 2,1 1,0 1,-1 2,0 0,43 19,-48-18,1-1,-1-1,2-1,-1-2,39 3,-3-1,60 12,-50-6,112 4,-34-17,136 3,-246 3,-7 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4:41.97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17,'2061'0,"-1418"0,5940 0,-6578 0,336-11,-286 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4:42.4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1,'24'0,"39"0,47 0,60 0,71 0,69 0,79 0,57 0,46 0,36 0,3 0,-19 0,-41 0,-64 0,-77 0,-85 0,-81 0,-67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9:50.94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2341,'7'0,"278"-5,-192 0,97-20,189-51,69-13,6 39,186 49,-272 5,-198-3,173-3,-283-3,0-3,65-18,-60 12,102-11,471 19,-373 9,51 0,489-6,-491-10,125-2,558 14,-461 2,-295-15,-5 0,1410 14,-728 1,-555 13,-57-1,151-12,-237-2,-180 1,0-3,65-12,84-34,71-34,110-45,123-52,120-49,307-124,829-304,-1305 504,-368 128,32-12,151-30,-203 62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9:57.04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1 492,'11'-1,"1"-2,-1 1,0-2,1 0,-2 0,1 0,0-2,15-10,17-6,-10 8,0 3,1 0,0 2,1 2,56-5,178 6,-233 6,0-1,-1-2,39-8,18-3,230-40,-192 28,38-7,126-22,-211 44,134-1,807 14,-601-2,-389-3,-1 0,0-3,0 0,56-19,21-5,-43 16,0 4,1 2,85 2,1043 8,-1017-16,-28 0,90 13,-167 2,-50-1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19:58.32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1 358,'14'-6,"1"0,0 1,1 1,-1 0,17-1,6-2,115-22,2 7,196-2,-8 26,156-6,-386-7,140-29,106-45,-177 39,-112 29,-9 1,74-10,-108 23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0:27.01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1 495,'58'-20,"2"3,0 2,1 3,117-8,503 19,-306 3,-80 0,315-4,-354-11,67 0,-94 13,109-3,-233-3,125-22,-66-2,312-15,612 44,-479 4,-371-17,-38 1,479 11,-352 3,-282-3,0-3,0-2,70-19,-63 12,0 3,56-4,58 10,-90 5,126-18,164-65,-323 72,0 2,0 2,65-2,135 10,-100 2,930-3,-1032-1,55-11,24-1,485 10,-315 5,4448-2,-4553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0:28.39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0 141,'0'-3,"1"1,-1-1,1 0,-1 1,1-1,0 1,0-1,0 1,0-1,1 1,-1 0,1-1,-1 1,1 0,0 0,0 0,0 0,0 1,0-1,0 0,0 1,1 0,3-2,8-4,-1 2,1 0,18-4,-18 5,38-9,1 2,71-4,114 3,-208 11,1334-4,-697 8,1029-3,-1669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0:30.3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0 251,'12309'0,"-12132"-1,0-8,-1-7,236-54,-206 15,86-18,-223 62,120-4,73 16,-117 2,1512-1,-909-3,-693 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0:41.38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1 503,'14'-1,"1"0,-1-1,0-1,17-5,25-4,401-42,45-7,-282 26,352-10,505 45,-424 3,-588-7,-1-3,0-2,90-26,-84 18,0 2,97-7,164 21,102-8,-194-5,-112 8,149-24,-160 9,203-9,645 28,-509 5,1208-2,-1555-4,178-26,21 3,2 26,-147 2,1932-1,-1996-5,-60-2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0:42.53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0 271,'527'1,"597"-2,-769-14,-2-16,612-131,-756 108,-174 45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1:53.45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1 521,'5'-4,"1"-1,1 1,-1 0,1 1,-1-1,1 1,0 1,0-1,0 1,1 0,9-1,1-1,188-40,1 9,268-11,-374 36,-1-5,137-38,-26 4,90-18,187-33,-356 77,-65 9,75-4,386 14,-278 7,-86-5,184 4,-327 0,0 1,0 1,0 1,0 0,0 2,-1 0,-1 1,1 2,-1 0,25 17,-17-8</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2:02.47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1093,'17'-1,"0"-1,-1 0,31-9,5-1,-52 12,865-194,-658 131,275-81,9 25,-348 91,575-117,53-1,-318 65,-207 28,40-6,-197 45,112-4,452 18,-440 12,73 3,-24-17,202 8,27 71,-168-18,417 73,-215-18,-326-73,-50-15,2-6,0-7,158-7,-199-7,190 1,-241 5,66 14,28 3,543-9,-461-16,2323 2,-2290 6,-178 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2:03.29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1,'9'0,"27"0,39 0,40 0,37 0,25 0,16 0,-3 0,-19 0,-34 0,-36 0,-30 0,-23 0,-10 0,-12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22:12.444"/>
    </inkml:context>
    <inkml:brush xml:id="br0">
      <inkml:brushProperty name="width" value="0.1" units="cm"/>
      <inkml:brushProperty name="height" value="0.1" units="cm"/>
      <inkml:brushProperty name="color" value="#AE198D"/>
      <inkml:brushProperty name="inkEffects" value="galaxy"/>
      <inkml:brushProperty name="anchorX" value="-37842.20313"/>
      <inkml:brushProperty name="anchorY" value="-35111.54688"/>
      <inkml:brushProperty name="scaleFactor" value="0.5"/>
    </inkml:brush>
  </inkml:definitions>
  <inkml:trace contextRef="#ctx0" brushRef="#br0">1238 1 24575,'0'0'0,"0"9"0,0 31 0,-5 10 0,-11 20 0,-18 26 0,-14 23 0,-10 19 0,-14 20 0,-13 14 0,-15 16 0,-3 1 0,-10-1 0,4-5-644,-2-12 828,13-5-276,11-14 92,16-19 0,16-17 0,18-26 0,13-10 0,12-7 0,13-62 0,-1 0 0,1 0 0,4 22 0,-3-19 0,1-1 0,9 21 0,-5-19 215,0-1 0,14 20-1,-6-16-275,-1-2 0,19 17-1,58 48 154,33 17-92,37 29 0,42 29 0,32 25-1747,27 30 2246,15 12-748,12 8-2256,8 12 3221,-1 5-1074,-15 2 358,-21 6 0,-22 0 0,-25-12 0,-13-14 0,-32-23-1114,-27-24 1432,-34-29-477,-30-36 159,-22-28 0,-22-25 1462,-13-32-488,-22-40 391,-14-27-2093,-10-24 2448,-5-20-2107,3-10 580,6 12-193</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22:13.028"/>
    </inkml:context>
    <inkml:brush xml:id="br0">
      <inkml:brushProperty name="width" value="0.1" units="cm"/>
      <inkml:brushProperty name="height" value="0.1" units="cm"/>
      <inkml:brushProperty name="color" value="#AE198D"/>
      <inkml:brushProperty name="inkEffects" value="galaxy"/>
      <inkml:brushProperty name="anchorX" value="-41643.67578"/>
      <inkml:brushProperty name="anchorY" value="-42509.24219"/>
      <inkml:brushProperty name="scaleFactor" value="0.5"/>
    </inkml:brush>
  </inkml:definitions>
  <inkml:trace contextRef="#ctx0" brushRef="#br0">3911 0 24575,'0'0'0,"-5"0"0,-12 11 0,-16 27 0,-26 34 0,-31 32 0,-27 25 0,-32 31 0,-38 22-1232,-26 19 1584,-30 11-528,-24 13-2184,-6 3 3034,-11 2-1011,4-2 337,6-8 0,14-13 0,23-19 0,23-18-1228,31-24 1579,26-28-526,33-18 175,25-19 0,27-23 1037,25-15-1334,20-17 2784</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22:13.451"/>
    </inkml:context>
    <inkml:brush xml:id="br0">
      <inkml:brushProperty name="width" value="0.1" units="cm"/>
      <inkml:brushProperty name="height" value="0.1" units="cm"/>
      <inkml:brushProperty name="color" value="#AE198D"/>
      <inkml:brushProperty name="inkEffects" value="galaxy"/>
      <inkml:brushProperty name="anchorX" value="-36717.11328"/>
      <inkml:brushProperty name="anchorY" value="-44870.50781"/>
      <inkml:brushProperty name="scaleFactor" value="0.5"/>
    </inkml:brush>
  </inkml:definitions>
  <inkml:trace contextRef="#ctx0" brushRef="#br0">1 1747 24575,'0'0'0,"28"-9"0,59-20 0,46-21 0,50-21 0,56-21 0,45-24-2506,62-13 3222,52-26-3587,41-9 3589,14-8-4353,2 10 4571,-13 17-1404,-36 24 468,-45 17-1931,-50 24 2483,-67 19-390,-68 21-287,-58 11 2514,-50 12-3054</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22:14.307"/>
    </inkml:context>
    <inkml:brush xml:id="br0">
      <inkml:brushProperty name="width" value="0.1" units="cm"/>
      <inkml:brushProperty name="height" value="0.1" units="cm"/>
      <inkml:brushProperty name="color" value="#AE198D"/>
      <inkml:brushProperty name="inkEffects" value="galaxy"/>
      <inkml:brushProperty name="anchorX" value="-42904.18359"/>
      <inkml:brushProperty name="anchorY" value="-44140.52344"/>
      <inkml:brushProperty name="scaleFactor" value="0.5"/>
    </inkml:brush>
  </inkml:definitions>
  <inkml:trace contextRef="#ctx0" brushRef="#br0">1540 86 24575,'0'0'0,"10"-5"0,13-7 0,22-5 0,19 1 0,30 3 0,40 3 0,32 3 0,26 3 0,33 2 0,11 8-966,0 10 1242,-24 8-414,-26 3 138,-32 8 0,-115-23 0,42 18 0,-61-21 0,0 0 0,29 20 0,-40-23 0,0 0 0,-1 1 0,0 0 0,0 1 0,7 9 0,-9-11 0,-2-1 0,1 1 0,-1 1 0,-1-1 0,1 1 0,3 10 0,-2-5 0,-3-2 0,1 0 0,-1 1 0,1 17 0,-5-9 242,1-2-1,-1 0 1,-6 24-1,-2-12-333,0-1 0,-17 32 0,4-26 138,0 0 0,-30 35 0,-105 87-46,-58 20 0,-57 11-2195,-68 8 2822,-40-3-4042,-33-5 4302,2-17-1331,24-29 444,45-32 0,63-30-1309,74-29 1683,66-17-561,56-10 187,48-9 1749,45-7-2061,13-2 124,53 9 3613,56 8-4332,51 9 1361,50 8-454,50 18 147,37 22-189,23 20-2269,-1 10 2978,-21 12-1000,-37 8 333,-48-1 0,-187-94-341,85 69 1,-106-78 388,0 1 1,-2 1-1,23 34 1,-26-33-73,-3 1-1,-2 0 1,16 35 0,-19-33 24,-1 1 0,14 62 0,-15-51 0,5 76 0,-6 61 0,-11 14 0,-6 17 0,-1 18 0,-5 17 396,-10 12-509,-15 4 169,-14-11-56,-19-25 0,-8-37 0,57-146 0,-38 57 0,45-80 575,-1 0-1,0-2 1,-28 26 0,27-27-740,-1-3 1,0 0 0,-26 15 0,21-16 440,1-3 0,0 0 0,-25 8 0,18-9-387,-59 12 0,-47-5 222,-23-21-111,-15-18 0,-12-18 0,-2-17 0,2-23 0,16-18 0,116 61 0,-54-51 0,61 44 0,-52-65 0,58 59 0,-42-72 0,-17-69 0,29 30-3823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22:14.699"/>
    </inkml:context>
    <inkml:brush xml:id="br0">
      <inkml:brushProperty name="width" value="0.1" units="cm"/>
      <inkml:brushProperty name="height" value="0.1" units="cm"/>
      <inkml:brushProperty name="color" value="#AE198D"/>
      <inkml:brushProperty name="inkEffects" value="galaxy"/>
      <inkml:brushProperty name="anchorX" value="-41073.72656"/>
      <inkml:brushProperty name="anchorY" value="-48602.33984"/>
      <inkml:brushProperty name="scaleFactor" value="0.5"/>
    </inkml:brush>
  </inkml:definitions>
  <inkml:trace contextRef="#ctx0" brushRef="#br0">1 2880 24575,'0'0'0,"51"-28"0,85-38 0,58-28 0,57-17 0,41-16-3823,26-2 4723,21 1-1391,7 8 464,6 11 27,9 16-1878,1 7 2415,6 6-806,16 7 269,20 1 0,31-11 0,71-13-2237,80-14 2876,78-17-4781,49-19 4923,31-16-3930,-34-8 3874,-81-4-1110,-118 16-459,-125 30 1085,-119 30 813,-110 33-1389,-139 59 1489,-4-1 0,22-13 0,-22 9-1742,-20 8 235,-17 3 824</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22:17.202"/>
    </inkml:context>
    <inkml:brush xml:id="br0">
      <inkml:brushProperty name="width" value="0.1" units="cm"/>
      <inkml:brushProperty name="height" value="0.1" units="cm"/>
      <inkml:brushProperty name="color" value="#AE198D"/>
      <inkml:brushProperty name="inkEffects" value="galaxy"/>
      <inkml:brushProperty name="anchorX" value="-52609.0625"/>
      <inkml:brushProperty name="anchorY" value="-46738.80469"/>
      <inkml:brushProperty name="scaleFactor" value="0.5"/>
    </inkml:brush>
  </inkml:definitions>
  <inkml:trace contextRef="#ctx0" brushRef="#br0">1374 1041 24575,'0'0'0,"14"0"0,27-5 0,14-7 0,20 1 0,30 1 0,29 7 0,23 9 0,18 7 0,11 18 0,7 9 0,3 20 0,-5 17 0,-6 18 0,-18 17 0,-27 6 0,-102-81 0,37 47 0,-52-54 0,38 65 0,-43-61 0,24 67 0,-28-66 0,11 56 0,-16-44 0,3 46 0,-14-62 0,1 0 0,-9 53 0,2-47 0,-2 0 0,-15 42 0,6-38 0,-42 76 0,30-76 0,0-1 0,-40 41 0,13-24 0,-65 50 0,-107 53-1568,-52 0 2016,-40-6-672,-31-10-2449,-16 1 3437,-5-4-1146,22-7 382,48-7 0,59-23-1170,62-22 1504,58-15-501,105-56 167,2 1 0,-20 17 0,33-27 144,1 1 1,1 0-1,0 0 0,-1 0 1,1 1-1,0-1 0,1 1 0,-4 5 1,4-8-157,1 0 0,1-1 1,-1 1-1,1 0 1,0-1-1,-1 1 1,1-1-1,0 1 0,0 0 1,-1-1-1,1 1 1,0 0-1,0-1 0,0 1 1,0 0-1,0-1 1,0 1-1,0 0 0,0 0 1,0-1-1,0 1 1,0 0-1,0-1 0,1 1 1,-1 0-1,0-1 1,0 1-1,1-1 0,-1 1 1,1 0-1,-1 0 1,5 1 272,-2-1 0,0 1 1,0-1-1,0 0 1,0 0-1,0 0 0,0-1 1,0 1-1,1-1 1,3 1-1,62-3-1030,38-20 2577,36-19-2215,31-17 610,28-17-203,32-20-1176,14-15 1512,9-13-504,3-14 168,-8-6 0,-13-1 0,-19 15 0,-19 19 0,-38 24 0,-39 27 0,-35 22 0,-28 18 0,-15 12 0,-44 7 0,1 0 0,0 0 0,-1 0 0,1 0 0,-1 1 0,1-1 0,0 1 0,-1 0 0,4 1 0,16 13 0,-3 12 1176,-5 5-1512,-5 7 504,-4 6-168,-2 5 0,-3 3 0,-5 6 0,-7-3 0,-5 0 0,-16-1 0,-9-6 0,-2-12 0,-4-11 0,40-23 0,1-1 0,-1 0 0,1 0 0,-14 0 0,14-2 0,0 0 0,0-1 0,1 0 0,-1 0 0,-12-4 0,15 4 0,-1-2 0,-1 1 0,1-1 0,0 0 0,0 0 0,-8-6 0,4 1 0,2 0 0,-1 0 0,2 0 0,-7-9 0,-1-6 0,-16-35 0,-11-45 0,4-29 0,8-7 0,9-6 0,7 4 0,7 13 0,3 8 0,3 17 0,2 21 0,-1 19 0,1 59 0,-1 0 0,0 0 0,0 0 0,0 0 0,0 0 0,0 0 0,4-5 0,-3 10 0,-2-1 0,1-1 0,0 1 0,0-1 0,0 1 0,0 0 0,0-1 0,-1 1 0,1 0 0,0 0 0,0-1 0,0 1 0,0 0 0,0 0 0,0 0 0,0 0 0,0 0 0,0 0 0,0 1 0,0-1 0,0 0 0,0 0 0,0 1 0,-1-1 0,1 0 0,0 1 0,0-1 0,1 2 0,10 4 0,-2 0 0,0 0 0,14 13 0,63 65 0,39 33 0,29 25 0,36 28 0,25 20-1691,13 15 2174,11 11-724,6-1 241,-14-9 0,-16-27 0,-33-27 0,-37-37-233,-38-32 299,-38-36-99,-68-46 33,0 0 0,0 0 0,0 0 0,0 0 0,0-1 0,-1 1 0,1 0 0,0-1 0,0 1 0,0-1 0,0 0 0,1 1 0,-1-1 0,0 0 0,0 0 0,0-1 0,4 0 0,-4-2 0,-1 2 0,0-1 0,0 0 0,0 1 0,0-1 0,0 0 0,0 0 0,0 0 0,0 0 0,-1 0 0,1 0 0,-1 0 0,1 0 0,-1 0 0,0 0 0,0 0 0,0 0 0,0 0 0,-1-3 0,0-23 0,-10-47 0,-20-84 1673,-8-48-2151,-9-45 717,-3-45-1803,-9-41 2011,-2-32-670,0-12-2462,1-13 3452,7-3-1151,13 33 384,12 26 0,11 53-1328,10 54 1708,4 57-643,5 53 284,6 53 1447,-1 54-1732,-6 15 260,0 0-1,0-1 1,0 1-1,1 0 1,-1 0-1,0 0 1,0-1-1,0 1 1,1 0-1,-1 0 1,0 0-1,0 0 0,0 0 1,1 0-1,-1 0 1,0-1-1,0 1 1,0 0-1,1 0 1,-1 0-1,0 0 1,0 0-1,1 0 1,-1 0-1,0 0 1,0 0-1,1 0 1,-1 0-1,0 0 0,0 0 1,1 1-1,-1-1 1,0 0-1,0 0 1,3 4 295,-1-1-1,0 1 1,0-1 0,0 1-1,0-1 1,0 1 0,-1 0-1,0 0 1,1 4 0,21 85-1061,3 48 2785,13 52-2481,0 27 699,1 31-1314,-8 5 1390,-8-1-464,-8 9 155,-24 4 0,-27-3 0,-19-14 0,-28-22 0,-20-20 0,-6-24 0,1-36 0,4-30 0,16-33 0,68-69 0,-32 21 0,41-30 0,0-1 0,-1-1 0,-12 5 0,19-9 0,0-1 0,0 0 0,1 1 0,-1-1 0,0-1 0,0 1 0,0-1 0,-6 1 0,8-2 0,0 0 0,1 1 0,-1-1 0,0 1 0,1-1 0,-1 0 0,1 1 0,-1-1 0,1 0 0,-1 0 0,1 0 0,0 0 0,-1 0 0,1-1 0,0 1 0,0 0 0,0 0 0,-1-2 0,-1-1 147,1 0 0,0 0 1,0 0-1,0 0 0,0-1 0,1 1 0,-2-9 0,-5-53-483,5-18 504,3-24-168,8-10 0,5-4 0,6 5 0,4 7 0,3 21 0,2 18 0,0 22 0,-25 46 0,-1 1 0,1-1 0,-1 1 0,1 0 0,-1 0 0,1 0 0,0 0 0,0 0 0,0 0 0,4-1 0,-6 3 0,2-1 0,-1 1 0,0-1 0,0 1 0,0 0 0,0-1 0,0 1 0,0 0 0,0 1 0,1-1 0,-1 0 0,0 1 0,0-1 0,3 2 0,0 1 0,-1 0 0,1-1 0,-1 1 0,0 1 0,0-1 0,-1 0 0,1 1 0,2 4 0,5 10 0,-2-2 0,15 31 0,18 64 0,9 31 0,-3 22 0,-4 17 0,-10-7 0,-10-1 0,-9 2 0,-7-14 0,-5-18 0,-3-14 0,-1-21 0,5-19 0,5-31 0,-9-56 0,0 0 0,0 0 0,1 0 0,0 0 0,-1 0 0,1 0 0,0 0 0,0 0 0,0-1 0,0 1 0,2 2 0,-3-3 0,0-1 0,0 0 0,0 0 0,1 0 0,-1 0 0,0 0 0,0 1 0,1-1 0,-1 0 0,0 0 0,0 0 0,1 0 0,-1 0 0,0 0 0,0 0 0,1 0 0,-1 0 0,0 0 0,0 0 0,1 0 0,-1 0 0,0 0 0,0-1 0,1 1 0,-1 0 0,0 0 0,0 0 0,1 0 0,-1 0 0,0 0 0,0-1 0,0 1 0,1 0 0,-1 0 0,0 0 0,0-1 0,0 1 0,0 0 0,0 0 0,1 0 0,-1-1 0,0 1 0,0 0 0,0 0 0,0-1 0,0 1 0,0 0 0,0 0 0,0-1 0,0 1 0,0-1 0,13-32 0,3-22 0,4-10 0,-3-4 0,-3 6 0,2 24 0,-16 41 0,0-3 0,0 1 0,1 0 0,-1-1 0,0 1 0,0-1 0,1 1 0,-1 0 0,0-1 0,1 1 0,-1 0 0,0-1 0,1 1 0,-1 0 0,1 0 0,-1-1 0,1 1 0,-1 0 0,0 0 0,1 0 0,-1 0 0,1-1 0,-1 1 0,1 0 0,-1 0 0,1 0 0,-1 0 0,1 0 0,-1 0 0,0 0 0,1 0 0,-1 0 0,1 1 0,-1-1 0,1 0 0,-1 0 0,1 0 0,-1 0 0,0 1 0,1-1 0,-1 0 0,1 1 0,2 3 0,0 0 0,-1 0 0,0-1 0,1 1 0,-2 0 0,1 1 0,2 6 0,19 86 0,7 57 0,7 58 0,12 37 0,0 35-1533,-7 23 1971,-11 10-657,-10-3 219,-9-13 0,-6-36 0,1-43 0,-2-56 0,-2-71 0,-1-77 0,-2-16 0,1-5 0,0-59 0,0-86 0,-1-76 0,0-70 0,0-70-1054,0-70 1355,0-51-4117,0-43 4863,-1-27-1570,1-2-3006,0 25 4537,11 42-1512,6 47 504,6 65-1679,2 66 2159,9 69 158,6 55-889,0 46 3142,-6 49-3681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2T00:22:19.827"/>
    </inkml:context>
    <inkml:brush xml:id="br0">
      <inkml:brushProperty name="width" value="0.1" units="cm"/>
      <inkml:brushProperty name="height" value="0.1" units="cm"/>
      <inkml:brushProperty name="color" value="#AE198D"/>
      <inkml:brushProperty name="inkEffects" value="galaxy"/>
      <inkml:brushProperty name="anchorX" value="-57562.08984"/>
      <inkml:brushProperty name="anchorY" value="-47449.32813"/>
      <inkml:brushProperty name="scaleFactor" value="0.5"/>
    </inkml:brush>
  </inkml:definitions>
  <inkml:trace contextRef="#ctx0" brushRef="#br0">522 1733 24575,'0'0'0,"18"5"0,30 7 0,24 4 0,29 5 0,20-2 0,24-3 0,7-5 0,2-4 0,-6-3 0,-21-3 0,-26 0 0,-24-2 0,-28 6 0,-45-4 0,-1-1 0,0 1 0,0 0 0,0-1 0,-1 2 0,1-1 0,0 0 0,2 2 0,-4-2 0,0-1 0,0 0 0,-1 1 0,1-1 0,-1 1 0,1 0 0,-1-1 0,1 1 0,-1-1 0,0 1 0,1 0 0,-1-1 0,0 1 0,1 0 0,-1-1 0,0 1 0,0 0 0,1-1 0,-1 1 0,0 0 0,0 0 0,0-1 0,0 2 0,-2 1 0,1 0 0,0-1 0,0 0 0,-1 1 0,1-1 0,0 0 0,-1 0 0,0 0 0,-3 4 0,-36 23 0,-7 4 0,-13-1 0,-2 0 0,4-7 0,2-7 0,12 0 0,8-1 0,0 3 0,3-4 0,-8 2 0,-4 2 0,-11 2 0,4 2 0,-8 2 0,1 0 0,5 1 0,1-4 0,7-7 0,17-4 0,26-8 0,5-2 0,34 1 0,56-2 0,57-2 0,54 0 0,59 0 0,32 0-1676,25 1 2155,2-1-718,-21 12 239,-54 0 0,-61 0 0,-56-2 0,-115-6 0,-1-2 0,0 2 0,-1 0 0,13 4 0,-24-5 0,1-2 0,0 1 0,0-1 0,0 1 0,-1-1 0,1 1 0,0-1 0,0 1 0,-1-1 0,1 1 0,0 0 0,-1 0 0,1-1 0,-1 1 0,1 0 0,-1 0 0,1 0 0,-1-1 0,1 1 0,-1 0 0,0 0 0,0 0 0,1 0 0,-1 0 0,0 0 0,0 0 0,0 0 0,0 0 0,0 0 0,0 0 0,0 0 0,0 0 0,-1 0 0,1-1 0,0 1 0,0 0 0,-1 1 0,-2 2 0,-1 0 0,1 0 0,-1 0 0,1 0 0,-1 0 0,0-1 0,-1 1 0,1-1 0,-9 4 0,-92 53 0,-75 27 0,-62 14 0,-68 16-473,-46 4 608,-35-4-3153,-3-7 3861,18-19-1265,46-14 422,65-16-1140,89-19 1466,163-38-367,-3 0 1,1 1-1,-17 8 0,31-12 41,1-1 0,-1 0 0,1 0 0,0 0 0,0 0 0,0 0 0,-1 0 0,1 0 0,0 0 0,0 0 0,0 0 0,0 0 0,-1 1 0,1-1 0,0 0 0,0 0 0,0 0 0,0 0 0,0 0 0,-1 1 0,1-1 0,0 0 0,0 0 0,0 0 0,0 0 0,0 1 0,0-1 0,0 0 0,0 0 0,0 0 0,0 1 0,0-1 0,0 0 0,0 0 0,0 0 0,0 1 0,0-1 0,0 0 0,0 0 0,0 0 0,0 1 0,0-1 0,0 0 0,0 0 0,0 0 0,0 1 0,0-1 0,1 0 0,-1 0 0,0 0 0,0 0 0,0 1 0,22 4 0,110-16 1745,88-11-2243,89-8 747,64 1 109,47 6-461,27 6 155,0 6-2024,-30 5 2535,-48 4-844,-75 7-1068,-80 1 1734,-70 6-578,-126-10 193,-1 1 0,31 9 0,-43-10 140,-2-2 0,-1 1-1,1 0 1,-1 0 0,0 1 0,1-1-1,-1 0 1,0 1 0,0 0 0,0-1-1,0 1 1,0 0 0,0 0-1,0 0 1,1 3 0,-2-4-167,-1 0 1,1 1-1,-1-1 0,1 1 1,-1-1-1,0 1 1,0-1-1,0 1 0,0-1 1,0 1-1,0-1 0,0 0 1,-1 1-1,1-1 1,0 1-1,-1-1 0,1 0 1,-1 1-1,0-1 1,1 0-1,-1 1 0,0-1 1,-1 2-1,-3 3 560,-1 0-1,1-1 1,-1 1 0,0-1-1,-1 0 1,-7 5 0,-87 49-1507,-54 16 1461,-56 13-487,-53 16 207,-40 8-266,-24-3 89,-12-3-2442,12-18 3101,39-12-1034,53-16-532,63-18 1128,65-15-377,70-13 126,42-12 114,-1-1 0,0 0 0,0 0 0,0-1 0,0 1 0,0-1 0,0 1 0,0-1 0,0 0 0,0 0 0,4-1 0,113 1-505,73-2 587,64 4-196,32 12 828,-1 11-1065,-31 6 356,-49 2-119,-55-4 979,-123-22-1119,35 14 0,-64-21 146,1 1 0,-1-1 0,1 1 0,0-1 0,-1 1 0,1 0 1,-1 0-1,1-1 0,-1 1 0,1 0 0,-1 0 0,0 1 0,1-1 0,-1 0 0,0 0 0,0 1 0,0-1 0,0 0 0,0 1 1,0-1-1,0 1 0,0 2 0,-4-2-6,1 0 0,0 0 0,0 0 0,0 0 0,0 0 0,0 0 0,0-1 0,-1 1 0,1-1 0,-1 0 0,1 0 0,-1 1 0,1-2 0,-1 1 0,0 0 0,-4 0 0,-26 7 0,-49 4 0,-100 3 0,-74 6 0,-43 1-120,-3 3 155,31 1-52,51 1 17,68-4 0,138-20 0,-1 0 0,1 1 0,-21 8 0,31-12 0,2 0 0,1 0 0,0 0 0,0 0 0,0 1 0,0-1 0,-1 1 0,1-1 0,0 1 0,0-1 0,0 1 0,0 0 0,0-1 0,0 1 0,1 0 0,-1 0 0,0 0 0,0 0 0,0 0 0,1 0 0,-1 0 0,0 0 0,0 2 0,2-1 0,0-1 0,1 1 0,-1-1 0,1 0 0,-1 1 0,1-1 0,-1 0 0,1 0 0,0 0 0,-1-1 0,1 1 0,0 0 0,0-1 0,-1 1 0,1-1 0,0 1 0,2-1 0,66 19 0,37 2 0,22 2 1838,7 2-2363,-5 1 787,-27 6-262,-23 2 0,-74-29 0,1 0 0,-1 0 0,0 0 0,0 1 0,11 12 0,-13-13 0,-1 1 0,0-1 0,0 1 0,-1 0 0,0 0 0,0 0 0,3 8 0,-2-8 0,-1 3 0,0-1 0,-1 1 0,2 13 0,1 33 0,-1 1 0,8-1 0,-7-46 0,0 0 0,-1-1 0,1 1 0,9 11 0,-5-11 0,-1 0 0,1-1 0,1 1 0,10 6 0,-2-4 0,0 0 0,27 11 0,63 21 0,16 2 0,12 2 0,-11-4 0,-14 3 0,-23 1 0,-76-39 0,0 1 0,0 1 0,14 13 0,-20-17 0,0 1 0,0-1 0,-1 1 0,0 1 0,6 9 0,-10-14 0,1 1 0,-1-1 0,0 1 0,1 0 0,-1 0 0,-1 0 0,1 0 0,0 0 0,-1 0 0,0 5 0,-1-4 0,0-1 0,0 0 0,0 0 0,0 0 0,0 0 0,-1 0 0,0 0 0,0 0 0,0 0 0,-3 4 0,-4 2 0,1-1 0,0 0 0,-1-1 0,-12 10 0,-14 6 0,-36 19 0,-87 36 0,-62 23 0,-39-2-1522,-46 6 1957,-22-5-2773,-2-14 2944,12-11-909,29-10 303,33-12 0,60-10-373,49-8 479,57-10-159,70-17 53,19-9 0,0 0 0,0 0 0,-1 0 0,1 0 0,0 1 0,0-1 0,0 0 0,-1 0 0,1 0 0,0 0 0,0 0 0,0 0 0,0 1 0,0-1 0,-1 0 0,1 0 0,0 0 0,0 0 0,0 1 0,0-1 0,0 0 0,0 0 0,0 0 0,0 1 0,-1-1 0,1 0 0,0 0 0,0 1 0,0-1 0,0 0 0,0 0 0,0 0 0,0 1 0,0-1 0,0 0 0,1 0 0,-1 0 0,0 1 0,0-1 0,5 1 150,-1 0 1,0 0-1,1 0 0,-1-1 0,1 1 1,-1-1-1,1 0 0,6-1 0,98-1-536,77-3 579,95 0-193,78 0-324,84 1 416,99 1-3954,76 1 4953,66 2-5459,1-1 4724,-32 1-692,-68 1-2665,-86-1 3828,-111 0-1489,-116 0 733,-96 0 2180,-68-5-2904,-101 5 1114,-3-1 0,1 1 0,-1-1 0,1 0 0,-1 0 0,1 0 0,-1-1 0,5-2 0,-7 4-473,-2 0 0,1-1-1,-1 1 1,0 0 0,0 0 0,1-1 0,-1 1 0,0 0 0,0-1-1,0 1 1,1 0 0,-1-1 0,0 1 0,0-1 0,0 1-1,0 0 1,0-1 0,0 1 0,0-1 0,0 1 0,0 0-1,0-1 1,0 1 0,0-1 0,0 1 0,0 0 0,0-1 0,0 1-1,0 0 1,0-1 0,0 1 0,-1-1 0,1 1 0,0 0-1,0-1 1,-1 1 0,1 0 0,0 0 0,0-1 0,-1 1-1,1 0 1,0-1 0,-1 1 0,1 0 0,0 0 0,-1 0 0,1-1-1,0 1 1,-1 0 0,1 0 0,0 0 0,-1 0 0,1 0-1,-1 0 1,-6-5 1074,-1 1 0,0 0 0,-16-5 0,-54-26-1131,-37-20 3478,-40-22-4168,-40-33 1207,-26-33-1737,-13-24 1658,-5-37-553,1-44-1999,5-44 2807,9-36-936,15-22-2406,20-19 3494,18-15-1164,32-6 388,21 2 0,19 2 0,22 12 0,19 12 0,8 24 0,11 31-1460,5 25 1877,5 29-626,-9 24 544,-4 23-431,-6 36 144,-3 34 1723,2 26-2277,5 24 3576,5 15-3875,4 18 3112,4 5-2851,28 47 708,0-3-1,0 1 1,0 0 0,-1 0 0,1 0-1,-7-3 1,10 6-175,-1 0 0,1-1 1,-1 1-1,0 0 0,0-1 0,0 1 0,0 0 0,0 0 0,0-1 1,0 1-1,0 0 0,0 0 0,0 0 0,0 0 0,0 0 0,0 0 1,0 1-1,0-1 0,0 0 0,0 0 0,1 1 0,-2 0 0,-2 7 27,1-3 0,1 0-1,-1 0 1,1 0-1,0 0 1,0 0 0,-1 9-1,-18 100-15,-6 66 0,-2 57 0,-1 50-1663,5 40 2138,-5 51-712,-5 37-2862,-6 32 3984,1 17-1327,-10 16-2784,-9-8 4148,3-11-1383,0-21 461,10-30 0,13-33-1851,17-23 2380,15-33-794,12-38 336,9-43-91,1-44 30,2-36 2277,2-37-2940,-4-34 4307,-6-21-4604,1-20 4025,-10-17-3818,-11-35 1835,-3-7-260,-10-15-1275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4:21.18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0,'37'2,"0"1,53 11,-6 0,224 29,874 112,9-62,-1166-92,1028 43,-4 55,-759-61,500 83,-556-74,784 133,-798-155,331 52,-397-50,-125-24</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4:26.7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1,'563'0,"1344"12,-762 4,-870-14,1288 87,-578 23,-682-55,-172-30,103 7,32 7,96 44,312 62,-445-94,33 7,-179-54,-59-5,0 1,0 0,28 8,-2 5,-1 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4:27.88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29 0,'-5'0,"-1"5,0 10,2 27,0 33,2 27,1 20,1 8,0-5,0-4,0-10,0-9,1-18,-1-18,0-15,0-18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4:29.74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681 196,'162'0,"5167"0,-5160-2,298-45,-251 11,544-64,371 90,-644 15,-363-5,159 21,-270-18,0 0,-1 0,1 1,-1 1,1 0,-2 0,1 2,-1-1,1 1,-2 1,1 0,-1 1,0 0,-1 0,0 1,-1 0,0 1,0-1,-1 2,8 17,-2-1,-2 0,-1 0,-1 1,-2 0,0 0,3 50,-7 420,-6-260,3 828,0-1046,1 1,-1 1,-1-1,-1 1,0-1,-2 0,-12 39,14-56,-1 0,1-1,-1 1,0-1,0 0,-1 0,1 0,-1 0,0-1,0 0,0 1,-1-1,1-1,-1 1,1-1,-1 1,0-1,0-1,-6 2,-10 2,0-1,0-1,-32 0,-402-2,272-5,-3511-3,2184 9,1148 0,-440-6,575-7,-233-44,-214-76,544 103,-2 6,0 5,-152 2,58 20,-165-3,384-2,0-1,1 1,-1-2,0 1,0-1,1 0,-1 0,1-1,-1 0,1 0,0 0,0-1,0 0,1 0,-6-5,4 2,1-1,0 1,1-1,0-1,0 1,0-1,1 1,1-1,0 0,-4-14,-11-62,-8-94,21 139,0-4</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4:36.01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0 335,'13889'0,"-13649"-1,338-46,212-98,-165 26,-482 99,-104 17</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4:36.87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1,'3001'0,"2256"0,-4956 1,-265-1,43 0,110 14,-136-2</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4:40.27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1 142,'27'-8,"1"2,41-6,-17 5,976-90,12 85,-820 12,7535 6,-4229-6,-3119 12,-320-4,-1 4,141 38,-187-37,57 26,-49-16</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4:44.39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1 142,'83'-2,"125"-21,-71 5,1252-70,10 77,-1256 12,469-1,904 6,-712 64,-698-59,179-8,-176-4,-18-1,151 7,-201 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4:53.6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0 196,'13953'0,"-13136"-36,-566 7,301-74,-454 81,-70 17</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4:54.66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1,'1'2,"0"1,1 0,0 0,-1-1,1 1,0-1,0 1,1-1,-1 0,0 0,1 0,-1 0,1 0,0 0,0-1,3 2,2 2,31 16,1 0,1-3,66 21,117 26,90 8,96 10,98 4,103-6,1576 65,3-126,-1606-22,-96-2,-88 1,-76 0,-115 1,327 0,-451 6,113 21,84 30,-38-5,-229-48,-1 2,1-1,17 9,-6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5:05.39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0 201,'220'-1,"-16"-4,80-7,78-14,76-10,80-1,100 6,93 8,1670-7,14 35,-984 0,672-5,-1989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5:06.21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0 133,'2557'0,"-1724"0,116 0,907 2,2138-4,-3360-3,-130-6,-117-7,-99-6,135-40,-371 53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5:10.44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0 296,'13'-5,"0"0,0 1,0 0,1 1,25-2,13-3,707-95,20 62,-210 30,99 5,94 3,88 3,76 2,69-1,8587 3,-8930-4,-39 0,-115-6,-108-8,-105-5,-210 14,0-4,83-21,-94 9</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5:22.24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1,'15742'0,"-15591"5,-100 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5:23.88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1,'3759'0,"-3152"14,-20 0,2144-15,-2644 5,170 31,-27 0,556 2,-783-37,552 52,-53 0,398-46,-493-9,-361 2,10 1,112 11,-137-5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5:24.92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0,'19'0,"38"0,56 0,65 0,53 0,52 0,38 0,26 0,9 0,-19 0,-35 0,-49 0,-59 0,-53 0,-45 0,-36 0,-22 5,-18 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5:25.63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57,'439'-40,"-7"30,-324 9,2047-5,-1223 8,-875-2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5:26.7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1,'9568'0,"-8254"0,-1307 0,-4-1,1 1,0 0,0 0,-1 1,1-1,0 1,-1 0,5 1,1 4</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12T00:25:28.9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1 195,'1368'-1,"398"-63,1051-12,-1036 80,-1659-1,0 5,134 27,-131-17,165 3,129-22,-165-2,-216 3,164-4,-154 1,0-3,54-13,-6-5,139-31,-175 45,120-7,660 16,-385 3,2438-2,-2850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6:35.96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1 248,'26'2,"-1"1,1 1,-1 1,0 2,36 13,-33-9,2-2,-1-1,44 5,25 0,-50-6,56 1,1064-6,-555-4,886 2,-1459-3,-1 0,1-3,-1-1,-1-2,67-24,32-5,-125 35,15-2,35-2,-46 6,0 0,0-1,0-1,-1-1,1 0,-1-1,19-8,-16 4,1 1,0 1,0 1,0 1,1 1,-1 0,30-1,84-20,-91 16,56-7,145 14,-9 1,-110-22,109 16,9 0,-115-1,-41 3,112-20,-115 11,146-6,89 20,-137 2,1161-2,-1042 14,-6 0,-198-14,-59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6:38.71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3,'30'2,"0"1,0 2,46 12,-43-8,-1-2,55 5,384-11,-230-3,2477 2,-2665-3,-1-2,56-12,40-6,340 15,-293 10,3183-2,-3358 1,-1 2,1 0,-1 1,0 1,0 1,28 12,-25-9,1-1,-1-1,47 8,47-8,40 6,-78-4,1-4,107-6,-63-1,-94 1,117 6,-124-3,1 1,-1 1,0 2,32 11,-26-7,-1-1,2-2,-1-1,52 5,115-8,-166-3,1404-3,-745 5,2545-2,-3203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6:42.25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0 113,'13'0,"24"-1,-1 2,1 1,-1 1,1 3,43 11,80 30,188 31,-262-68,0-5,88-5,43 2,475 20,-599-18,152 27,-128-14,-101-14,0 1,-1 1,1 0,-1 1,0 0,25 16,-31-18,2 2,1-2,0 1,0-1,1-1,-1 0,1-1,13 1,94-1,-76-3,1522-1,-1554 1,0 0,0-1,0 0,0-1,0 0,-1-1,18-9,-19 9,14-3,0 0,0 2,0 1,32-2,-6 0,111-7,232 9,-202 6,242-2,-416-1,0-1,0-1,0 0,0-1,27-11,-20 7,47-11,-24 10,46-17,-65 17,0 0,1 2,0 2,1 0,49-1,73 17,71 1,2162-12,-1057-1,-1291-1,43-7,10-1,452 1,-145 6,1603-18,-1924 19,1-3,-1-3,0-3,-1-4,139-46,-183 51,0 2,0 1,1 1,49-2,130 9,-98 1,1924 0,-1079-3,-557-28,-293 17,598-4,-446 19,918-3,-1155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6:43.72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83,'61'1,"94"-4,-131 1,0-1,0-1,0-1,30-11,-28 8,1 2,1 1,-1 1,1 1,47 2,12-2,861-18,-817 21,-98 2,0 2,0 1,0 1,-1 2,0 1,34 15,18 2,32 12,-100-32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6:49.38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0 197,'75'-2,"-33"0,0 2,-1 2,61 10,11 4,-79-13,-1 1,44 12,-36-6,1-1,1-2,57 1,133-8,-119-2,1324 2,-1430 0,0-1,0 0,0 0,0-1,0 0,0 0,0-1,-1 0,1 0,-1 0,11-8,-4 3,1 1,0 1,1 0,-1 1,1 0,0 1,28-2,10 2,54 3,-55 2,1431 1,-1402-6,102-18,19-1,247 16,162-14,37-13,-502 36,255-4,-282-11,19-1,449 13,-279 3,-293-3,1-1,-1 0,0-1,1-1,-1 0,-1-1,25-12,-25 12,0 1,0 0,0 1,0 1,1 0,24 0,96 12,-92-5,234 10,89 10,-243-9,184 2,-284-19</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6:59.44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1 304,'0'1,"1"0,-1 0,1 0,-1 1,1-1,0 0,-1 0,1 0,0 0,0 0,0 0,0 0,0-1,0 1,0 0,0 0,0-1,0 1,0-1,1 1,-1-1,0 1,0-1,1 0,-1 1,0-1,3 0,40 5,-39-5,28 4,36 8,-2 0,-43-7,-1 0,29 12,-33-10,0-1,1-1,0 0,22 1,-25-4,0 1,-1 0,1 1,-1 1,17 8,-2-2,-6-5,0-2,1 0,-1-1,1-2,-1 0,33-4,3 1,3080-2,-1671 6,-1362-5,1-5,-1-4,-1-5,106-32,-1 4,-131 31,155-49,-178 43,-28 10,55-25,-67 27,0 1,0 0,1 2,-1 0,28-4,98-2,-47 11,-57 1,-1-2,0-1,64-12,-64 8,1 1,-1 2,77 4,-80 1,0-1,1-2,-1-2,0-1,39-10,-29 3,0 1,1 3,59-2,146 10,-102 1,43 0,270-9,-264-15,55-3,477 20,-386 8,666-3,-854 13,-23 0,479-10,-310-5,1033 2,-1308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7:00.7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1 244,'0'2,"1"-1,-1 1,1 0,-1 0,1-1,0 1,-1-1,1 1,0-1,0 1,0-1,0 1,1-1,-1 0,0 0,0 0,1 1,-1-1,1-1,-1 1,1 0,-1 0,1 0,2 0,42 13,-7-9,-1-1,62-1,-66-4,0 2,0 1,0 2,34 8,-23-1,0-2,1-3,83 3,-43-11,97-15,119-27,-208 32,0 4,121 6,-188 2,49-3,120-22,38-2,-56 14,42-1,-120 16,-51 0,1-2,-1-2,66-11,-7-5,201-10,115 29,-192 2,-72-2,197-3,-325-2,0 0,0-3,0 0,57-23,-53 19,-1 2,39-4,-32 6,42-13,-68 15,0 0,1 2,-1-1,1 2,0 0,0 1,0 1,0 0,-1 2,1 0,0 0,0 2,27 9,9 4,-29-10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7:03.2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1 355,'48'-2,"0"-2,69-16,-38 5,22 4,0 5,128 7,-90 2,2205-3,-2166 14,-3 0,944-14,-484-1,-575-1,115-18,55-29,44-8,-185 48,1 4,92 8,-57-1,644-2,-710-3,-1-2,60-14,-52 7,75-3,333 13,-232 4,-61 0,263-9,-266-17,-111 13,119-5,2141 18,-2304-3,0-2,35-7,-34 5,1 1,25-1,79 5,-71 2,0-2,-1-3,91-17,-91 8,116-7,59 16,-165 3,67 0,-110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7:05.22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14933 248,'-828'0,"772"-3,1-3,1-3,0-1,-57-20,-17-2,48 13,-375-68,382 79,-433-34,-594 41,519 3,210 12,30 0,-1417-13,848-3,-3974 2,4457 27,83-2,184-21,-237 17,246-3,-206-3,243-17,-274 5,167 22,192-23</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7:13.76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1,'20'0,"0"0,0 1,0 1,-1 1,28 7,72 23,128 19,-180-43,-46-7,0 1,0 0,0 2,29 10,-30-8,0-1,0-1,0-1,0 0,29 0,107-5,-79-1,1257 0,-704 3,-582 1,60 11,-59-6,56 1,-53-6,-1 2,57 12,99 32,-2-1,-75-30,-98-15,0 1,-1 2,1 1,-1 1,-1 2,36 15,-43-13</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7:15.82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84,'0'3,"1"0,-1 0,1-1,-1 1,1 0,0-1,0 1,1-1,-1 1,0-1,1 1,-1-1,1 0,0 0,0 0,0 0,0 0,0 0,0 0,1-1,-1 1,0-1,5 2,6 3,0 0,0-1,18 3,-25-6,301 72,-62-16,-16-11,-57-13,-97-20,0-3,94 1,156-13,-121-2,-52 1,166 5,-285 0,1 3,43 11,-43-8,70 9,302-14,-216-7,649 4,-808-3,-1-1,0-2,47-12,-40 8,61-8,337 11,-237 9,209-19,-17 6,-125 8,-219-1,0-3,74-18,85-37,-8 3,-74 20,-88 25,1 1,0 3,1 0,38-2,218 7,-46 2,-187-1,0-4,65-14,181-31,-293 51,102-17,-37 5,85-4,403 16,-275 3,-62-3,255 3,-276 11,60 1,-100-15,259 12,303 7,-489-20,452 2,-650 3,0 1,76 17,-72-10,90 6,258-17,18 0,-324 9,100 21,58 7,27-11,229 9,784-37,-1260 2</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7:17.37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14560 0,'-30'2,"1"1,-33 7,32-4,-54 2,-716-6,384-4,-73 29,91-1,-547-23,490-5,415 1,1 2,-1 2,1 1,0 2,-43 13,45-11,1-1,-1-1,0-3,-53 0,-41 3,-556 12,481-19,-2426 0,2242-12,54 0,-280 13,-88-2,293-25,-28-1,-845 28,564 2,-1005-2,1701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7:22.49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4,'50'-2,"-32"1,0 0,0 1,0 1,0 1,0 0,-1 1,26 8,-2 3,1-2,54 9,25 7,-70-14,1-3,1-2,-1-3,74 0,-100-4,0 1,0 1,-1 1,28 9,-25-6,0-1,56 5,338-10,-203-4,359 2,-392 14,-16-1,755-11,-448-4,4122 2,-4585 0,0 0,0 1,-1 1,1 1,0 0,-1 0,1 1,23 11,-25-9,1-2,-1 0,1 0,0-1,0-1,25 2,85-5,-53-2,924 3,-810 14,7 0,-95-15,-6-1,141 15,-74 1,242-9,-214-7,5154 2,-5315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37:23.95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1,'1951'0,"-1905"2,-1 3,80 18,-24-3,34 7,243 82,-327-92,1-2,105 14,-21-8,-114-18</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2:05.58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1,'4'0,"7"0,1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2:10.15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9100 271,'-33'0,"7"-1,0 1,0 1,0 1,1 1,-49 13,41-6,1-2,-1-1,-1-1,-44 1,-140-8,93-2,-98 5,-14 1,-243-30,-267-6,-1097 34,943-2,511-22,2-28,188 19,-249-25,-229 53,336 7,318-3,-91 1,-180-23,145 4,-272 2,52 17,363-1,0 0,0 0,0-1,1 0,-9-2,15 3,-1 0,1 0,0 0,0 0,-1 0,1 0,0 0,0-1,-1 1,1 0,0 0,0 0,-1 0,1 0,0-1,0 1,-1 0,1 0,0 0,0-1,0 1,0 0,-1 0,1-1,0 1,0 0,0 0,0-1,0 1,0 0,0-1,0 1,0 0,0 0,0-1,0 1,8-9,17-2,-3 5,0 1,0 1,0 2,1 0,-1 1,1 0,-1 2,38 7,11 7,94 32,-19-5,-54-17,-21-5,88 12,69 7,-97-14,55 16,-113-22,134 16,14-25,-32-2,468 6,-428-1,-39 0,97-13,60 1,-296 4,83 18,-88-13,0-2,61 2,576-10,-298-2,-215 4,185-5,-243-10,-66 6,53 0,-63 6,29 2,124-17,-141 7,11-2,0 2,86-1,-106 11,-5 0,45-5,-67 3,0-1,0-1,0 0,0 0,0-2,-1 1,15-9,-6 1,1 2,0 0,1 1,0 1,0 1,1 2,0 0,0 1,36-2,-37 4,-1-1,0 0,0-2,0-1,27-11,41-11,-46 18,-4 0,1 2,73-6,68-1,-57 2,31-12,-105 14,63-4,367 10,-256 8,-110-5,125 5,-137 9,-58-5,45 1,185-8,99 3,-269 3,162 31,137 33,-316-58,0-3,147-5,-13-2,-167 2,0 2,58 14,123 49,21 6,-220-69,-1-2,1-2,45-2,-43-1,0 1,58 9,-12 2,-1-4,146-6,-97-3,382 2,-481-2,54-9,5-1,-33 10,-36 2,-1 0,0-2,1-1,-1-1,34-10,20-14,-31 9,0 3,2 1,0 3,57-8,341 13,-256 10,-63-1,-22 0,0-3,154-23,-149 7,156-3,113 21,-145 2,-36-5,231 5,-224 9,78 3,-185-15,24-1,141 17,-165-6,-47-6,71 16,-61-8,1-2,88 2,127-12,-122-2,-7 2,484 22,-103 13,-498-36</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2:13.20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21764 223,'-37'-1,"0"2,0 1,1 2,-47 11,7 3,0-3,-125 7,-156-14,347-8,-6981-2,6922-1,-120-22,113 13,-87-4,-619 14,377 5,206-1,-215-5,209-23,137 14,-85-4,29 15,62 2,0-2,-118-19,113 8,-114-6,-68 15,227 3,-1256 0,1096 14,26-1,-639-10,405-5,-180-15,-111 4,433 15,-120 0,-400-4,521-11,-52-1,-877 13,562 2,522-5,-118-20,-73-5,259 29,0-1,1-1,-1-1,1-1,0-1,-31-10,34 8,0 2,0 0,0 2,-40-3,-87 7,56 2,-29-5,-125 4,225 1,0 1,0 0,0 2,1 0,-27 12,28-9,-1-2,0-1,0 0,0-1,-35 4,46-9,-24 1,1 2,-42 9,40-7,1-1,-1-1,-63-4,-25 1,112 1,0 0,1 1,-1 0,1 0,-1 1,1 0,0 1,0 0,0 0,-10 7,18-11,0 0,0 0,-1 0,1 0,0 0,0 1,0-1,-1 0,1 0,0 0,0 0,0 1,-1-1,1 0,0 0,0 0,0 1,0-1,0 0,0 0,-1 1,1-1,0 0,0 0,0 1,0-1,0 0,0 0,0 1,0-1,0 0,0 0,0 1,0-1,0 0,0 0,1 1,-1-1,0 0,0 0,0 1,0-1,0 0,1 0,13 6,22-3,-35-3,40-1,1-1,44-10,-40 6,66-3,-84 8,0-2,30-6,-28 3,44-1,-47 6,-4 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5:15.00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1 306,'0'-1,"0"1,0-1,1 0,-1 0,0 0,0 1,1-1,-1 0,1 1,-1-1,1 0,-1 1,1-1,-1 0,1 1,0-1,-1 1,1-1,0 1,-1 0,1-1,0 1,0 0,-1-1,1 1,0 0,1-1,27-3,-24 3,482-37,-37 4,602-113,-918 122,1 6,269-2,1347 26,-1203-5,-494 3,1 2,-2 3,65 18,-60-12,0-3,84 6,-64-16,-18 0,-1 2,64 12,-34-1,147 6,92-20,161 10,56 34,-482-39,0 3,-1 3,0 3,75 26,-66-19,1-3,134 16,147-18,1294-21,-1616 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5:15.76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32,'0'-1,"0"0,0 0,1 0,-1 0,1 0,-1 0,1 0,-1 0,1 0,-1 0,1 0,0 1,0-1,-1 0,1 0,0 1,0-1,0 1,0-1,0 0,0 1,0 0,0-1,0 1,0 0,0-1,0 1,1 0,36-5,-33 4,324-4,-190 7,3851-2,-3508 33,-2 49,-317-51,2-8,248 5,87-33,-479 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5:30.39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1 138,'24'2,"1"1,-1 0,36 11,36 6,269-1,-126-12,-38 3,217 17,272 8,3-35,-277-3,637 3,-1047 1,1-1,-1 0,1-1,-1 1,1-1,-1 0,0-1,0 0,1 0,-1 0,0 0,-1-1,1 0,8-6,-6 4,-1 1,1 0,0 1,1 0,-1 0,0 0,1 1,0 0,-1 1,1 0,11 0,10 1,-1 2,31 4,119 23,211 19,239-63,-28 6,-114 6,-447 0,-1-3,48-12,-51 9,-1 2,1 1,41 0,-25 4,77-11,-59 6,137 5,-6 0,-159-3,0-2,-1-2,68-24,-69 19,1 2,0 2,73-9,248 18,-40 1,-287-3,0-3,0 0,52-19,-50 14,0 1,66-8,245 14,-179 7,-31-5,156 5,-184 9,26 1,482-10,-318-5,4034 2,-4310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5:31.29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1,'0'1,"0"1,1-1,-1 1,1-1,0 0,-1 1,1-1,0 0,0 1,0-1,-1 0,2 0,-1 0,0 0,0 0,0 0,0 0,3 1,29 16,-25-14,61 27,109 33,-107-40,241 59,8-25,-23-6,19 20,24 4,-225-57,203 8,118-29,-167-3,115 6,-351-1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5:32.24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0,'1'3,"0"0,1 0,-1-1,0 1,1-1,0 1,0-1,-1 0,1 1,0-1,1 0,1 2,1 0,19 17,1-2,1-1,1 0,33 14,-11-4,26 12,153 61,93-2,213 19,-192-48,145 15,-112-16,104 12,250-68,-458-16,-248 3,353 4,0 33,1012 137,-762-106,-342 3,-97-21,677 99,-859-149,332 25,-1-27,-125-1,210 3,-390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5:59.43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0,'0'2,"1"-1,-1 0,1 1,-1-1,1 0,-1 0,1 1,-1-1,1 0,0 0,0 0,0 0,0 0,0 0,0 0,0 0,1 1,26 16,-16-11,12 8,1-1,0-1,0-1,1-1,35 9,142 24,-30-7,-28 4,-32-8,128 19,-158-37,0 3,95 35,-127-38,0-3,76 9,30 14,-114-24,1-1,89 9,93-19,-115-2,-103 2,1 0,-1-1,0 0,1-1,-1 1,0-2,0 1,0-1,0 0,0-1,12-8,-11 8,1 0,-1 0,1 1,0 0,0 1,0 0,1 1,-1 0,0 0,15 2,44-5,18-8,95 1,92 11,-108 2,-153-3,0-1,-1 0,1-1,-1-1,0 1,1-2,-2 0,21-11,-19 9,0 0,1 1,0 1,1 0,-1 1,18-3,42 2,92 7,-48 0,893-2,-939 4,88 15,-131-15,43 8,-34-5,0-2,44 1,56-5,249-4,-170-10,89-1,-292 14,194 5,-176-2,0 2,0 0,0 3,42 15,47 24,-24-7,171 45,-183-67,0-3,1-4,115-1,-74-12,130 3,-228 2,0 2,-1 1,54 19,-48-13,67 13,-32-19,0-3,89-6,-85 0,132 10,-174-1,0 2,0 0,-1 2,0 2,42 22,-60-29,-2-1,2 0,-1-1,0 0,1-1,-1-1,1 0,12 0,-14-1,1 1,0 0,0 0,0 1,-1 0,1 1,15 6,-9-1,0-1,1-1,-1-1,1 0,0-2,32 4,113-7,-89-1,146 2,160-4,-340 1,0-1,0-3,0 0,44-15,-67 14,-1 0,0-2,21-13,11-8,45-21,-56 28,0 2,2 2,0 2,69-22,-95 36,23-4,-1-2,0-1,-1-2,0-2,38-21,-42 19,1 0,1 2,0 2,48-13,140-19,-14 3,-145 29,1 2,100-2,-101 10,-1-3,112-24,-87 8,172-18,90 27,806 13,-1130-1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6:02.39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0,'5'4,"1"0,0 0,0-1,0 0,0 0,12 4,13 6,5 4,1-1,1-2,71 16,127 12,-205-37,647 53,-344-38,89 14,283 19,2-26,1132-27,-771-2,-996 6,-1 3,140 34,25 3,230 24,-191-25,-201-36,148-5,10 1,-222-2,1 2,0 0,-1 0,0 1,19 8,-18-6,1-1,-1 0,1-1,15 2,37 7,-39-7,0-2,29 3,-6-9,1-1,-1-2,0-3,53-15,-82 19,28-4,0 3,0 2,85 6,-34-1,635-2,-689 2,59 10,41 3,944-13,-522-5,-547 5,-1 0,1 1,20 5,23 5,107 19,47 7,423-26,-400-16,406 3,-616 1,57 11,17 1,-47-11,-16-2,-1 3,61 10,-27 1,1-2,1-4,106-2,-100-7,332 11,-188 6,60 7,299 28,-541-48,158 4,-199-7,0 0,0 0,-1 1,1 0,0-1,-1 1,1 0,-1 0,1 0,-1 0,0 1,1-1,2 3,5 8</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6:06.79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57,'3015'0,"-2696"14,17 0,-227-12,101-5,-145-9,10 0,476 7,-308 7,437-2,-657-1,0-2,0 0,0-2,23-7,-17 3,47-5,67 4,149 10,-106 3,493 13,-188-6,-141-8,-313-1,0 2,-1 1,1 1,-1 3,0 1,60 23,-79-26,1-1,0 0,1-2,-1 0,27 0,18 4,334 67,111 16,-188-73,20 3,49 11,0-29,-233-3,-127 0,0 2,0 0,0 2,0 2,-1 0,52 17,-42-8,78 16,-74-21,59 23,10 2,-64-24,32 8,0-3,122 6,-123-19,242 12,185-3,-337-12,39-13,11 0,-196 12,-1 0,1-2,-1 0,0-1,27-11,35-8,-28 13,1 3,74-1,115 11,-85 1,-129-3,-12 1,0-1,35-5,-48 3,1 1,-1-1,0 0,1-1,-1 0,0 0,0 0,-1 0,1-1,-1 0,10-9,0 1,1 1,0 0,1 1,0 1,0 0,1 1,34-9,16-9,-48 18,0 2,1 0,0 1,0 1,39-3,112 8,-79 2,1315-2,-979 26,-44 0,661-25,-511-4,-479 1,-20 0,0 1,0 2,49 9,-32-3,-1-2,84 0,-73-5,75 10,-4 14,77 10,95 6,-265-32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6:08.64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0,'23'3,"-1"0,0 1,0 1,0 1,0 1,34 17,20 6,110 26,1-7,3-9,1-8,343 12,373-42,-392-6,-360 3,163 3,-264 3,80 17,-90-12,1-3,86 4,10-13,157 19,-181-7,-60-7,84 17,-42-3,0-6,141 0,-59-5,1068 11,-802-19,-276 0,255 9,-225 16,71 4,46-27,-157-1,-142 2,0 2,0-1,0 2,-1 1,21 7,-16-4,-1-2,41 6,158 4,-144-12,168 7,133 10,310 13,3-34,-353-1,-91-1,513 8,-281 37,-1 29,144 18,45-50,0-43,-632 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6:09.39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0,'32'1,"-1"2,0 0,37 10,92 33,-59-16,1887 404,-361-247,13-110,1276-49,-1850-27,-203 28,-687-13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6:37.54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7:34.98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0,'8'2,"0"-1,0 1,0 1,0 0,0 0,-1 0,0 1,1 0,-1 1,-1-1,11 10,21 12,-27-20,10 7,-1-2,2 0,-1-2,28 9,102 21,67 19,-145-41,0-3,1-3,101 1,639-2,-541-12,1636 2,-1877-1,-1-2,1-1,-1-1,0-2,43-15,-39 14,0 1,68-5,-57 7,164-21,158-12,-4 38,-171 1,-159-3,-1-1,1-2,42-12,-34 7,51-5,-43 8,0-2,49-17,-54 14,0 1,75-8,309 16,-220 5,1747-2,-1911 2,54 10,25 1,81-14,49 3,-148 10,24 2,513-11,-329-5,-205 2,0 6,194 34,-198-17,0-5,178 7,-89-29,-65 1,130 12,-52 29,-150-25,1-2,109 7,899-18,-440-2,666 2,-953 28,-13 0,262-30,-564 2</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7:36.82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1 222,'367'26,"-69"0,536-22,-456-6,4728 2,-5030 3,103 19,3 0,459-13,-380-11,-182 2,449 16,47-3,-362-15,-137 2,53 1,198-23,-189 4,246 2,-346 16,8 2,1-2,0-2,0-3,50-10,-50 4,0 3,62-3,96 6,-109 5,120-16,-26-24,-124 24,125-16,313 26,-290 8,-83 0,196-9,-197-16,18-1,-22 11,95-4,-148 17,-38 2,1-2,-1-1,0-2,0-2,37-9,-32 3,1 2,0 2,62-2,129 9,-103 2,3369-2,-3470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47:37.65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1,'2545'0,"-2513"0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50:10.52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5C3ABB5-3EDE-4B62-B594-091605F325E1}" type="datetimeFigureOut">
              <a:rPr kumimoji="1"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2022/11/24</a:t>
            </a:fld>
            <a:endParaRPr kumimoji="1"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077" name="备注占位符 4"/>
          <p:cNvSpPr>
            <a:spLocks noGrp="1"/>
          </p:cNvSpPr>
          <p:nvPr>
            <p:ph type="body" sz="quarter"/>
          </p:nvPr>
        </p:nvSpPr>
        <p:spPr>
          <a:xfrm>
            <a:off x="685800" y="4343400"/>
            <a:ext cx="5486400" cy="4114800"/>
          </a:xfrm>
          <a:prstGeom prst="rect">
            <a:avLst/>
          </a:prstGeom>
          <a:noFill/>
          <a:ln w="9525">
            <a:noFill/>
          </a:ln>
        </p:spPr>
        <p:txBody>
          <a:bodyPr vert="horz" lIns="91440" tIns="45720" rIns="91440" bIns="45720"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48AC77AB-0FFA-4B9C-9E19-6102135C8345}" type="slidenum">
              <a:rPr kumimoji="1" lang="zh-CN" altLang="en-US" sz="1200" b="1"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1" lang="zh-CN" altLang="en-US" sz="12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幻灯片图像占位符 1"/>
          <p:cNvSpPr>
            <a:spLocks noGrp="1" noRot="1" noChangeAspect="1" noTextEdit="1"/>
          </p:cNvSpPr>
          <p:nvPr>
            <p:ph type="sldImg"/>
          </p:nvPr>
        </p:nvSpPr>
        <p:spPr>
          <a:ln>
            <a:solidFill>
              <a:srgbClr val="000000"/>
            </a:solidFill>
            <a:miter/>
          </a:ln>
        </p:spPr>
      </p:sp>
      <p:sp>
        <p:nvSpPr>
          <p:cNvPr id="5122" name="备注占位符 2"/>
          <p:cNvSpPr>
            <a:spLocks noGrp="1"/>
          </p:cNvSpPr>
          <p:nvPr>
            <p:ph type="body"/>
          </p:nvPr>
        </p:nvSpPr>
        <p:spPr/>
        <p:txBody>
          <a:bodyPr wrap="square" lIns="91440" tIns="45720" rIns="91440" bIns="45720" anchor="t" anchorCtr="0"/>
          <a:lstStyle/>
          <a:p>
            <a:pPr lvl="0"/>
            <a:r>
              <a:rPr lang="zh-CN" altLang="en-US" dirty="0">
                <a:ea typeface="宋体" panose="02010600030101010101" pitchFamily="2" charset="-122"/>
              </a:rPr>
              <a:t>*</a:t>
            </a:r>
            <a:r>
              <a:rPr lang="en-US" altLang="zh-CN" dirty="0">
                <a:ea typeface="宋体" panose="02010600030101010101" pitchFamily="2" charset="-122"/>
              </a:rPr>
              <a:t>2020.09.23</a:t>
            </a:r>
            <a:r>
              <a:rPr lang="zh-CN" altLang="en-US" dirty="0">
                <a:ea typeface="宋体" panose="02010600030101010101" pitchFamily="2" charset="-122"/>
              </a:rPr>
              <a:t>江欣达校对</a:t>
            </a:r>
          </a:p>
        </p:txBody>
      </p:sp>
      <p:sp>
        <p:nvSpPr>
          <p:cNvPr id="5123"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latin typeface="Verdana" panose="020B0604030504040204" pitchFamily="34" charset="0"/>
                <a:ea typeface="宋体" panose="02010600030101010101" pitchFamily="2" charset="-122"/>
              </a:rPr>
              <a:t>1</a:t>
            </a:fld>
            <a:endParaRPr lang="zh-CN" altLang="en-US" sz="1200" dirty="0">
              <a:latin typeface="Verdana" panose="020B060403050404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p:cNvSpPr>
            <a:spLocks noGrp="1" noRot="1" noChangeAspect="1" noTextEdit="1"/>
          </p:cNvSpPr>
          <p:nvPr>
            <p:ph type="sldImg"/>
          </p:nvPr>
        </p:nvSpPr>
        <p:spPr>
          <a:ln>
            <a:solidFill>
              <a:srgbClr val="000000"/>
            </a:solidFill>
            <a:miter/>
          </a:ln>
        </p:spPr>
      </p:sp>
      <p:sp>
        <p:nvSpPr>
          <p:cNvPr id="18434" name="备注占位符 2"/>
          <p:cNvSpPr>
            <a:spLocks noGrp="1"/>
          </p:cNvSpPr>
          <p:nvPr>
            <p:ph type="body"/>
          </p:nvPr>
        </p:nvSpPr>
        <p:spPr/>
        <p:txBody>
          <a:bodyPr wrap="square" lIns="91440" tIns="45720" rIns="91440" bIns="45720" anchor="t" anchorCtr="0"/>
          <a:lstStyle/>
          <a:p>
            <a:pPr lvl="0" eaLnBrk="1" hangingPunct="1">
              <a:spcBef>
                <a:spcPct val="0"/>
              </a:spcBef>
            </a:pPr>
            <a:endParaRPr lang="zh-CN" altLang="en-US" dirty="0">
              <a:ea typeface="宋体" panose="02010600030101010101" pitchFamily="2" charset="-122"/>
            </a:endParaRPr>
          </a:p>
        </p:txBody>
      </p:sp>
      <p:sp>
        <p:nvSpPr>
          <p:cNvPr id="18435"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t>13</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TextEdit="1"/>
          </p:cNvSpPr>
          <p:nvPr>
            <p:ph type="sldImg"/>
          </p:nvPr>
        </p:nvSpPr>
        <p:spPr>
          <a:ln>
            <a:solidFill>
              <a:srgbClr val="000000"/>
            </a:solidFill>
            <a:miter/>
          </a:ln>
        </p:spPr>
      </p:sp>
      <p:sp>
        <p:nvSpPr>
          <p:cNvPr id="39938" name="备注占位符 2"/>
          <p:cNvSpPr>
            <a:spLocks noGrp="1"/>
          </p:cNvSpPr>
          <p:nvPr>
            <p:ph type="body"/>
          </p:nvPr>
        </p:nvSpPr>
        <p:spPr/>
        <p:txBody>
          <a:bodyPr wrap="square" lIns="91440" tIns="45720" rIns="91440" bIns="45720" anchor="t" anchorCtr="0"/>
          <a:lstStyle/>
          <a:p>
            <a:pPr lvl="0"/>
            <a:endParaRPr lang="zh-CN" altLang="en-US" dirty="0">
              <a:ea typeface="宋体" panose="02010600030101010101" pitchFamily="2" charset="-122"/>
            </a:endParaRPr>
          </a:p>
        </p:txBody>
      </p:sp>
      <p:sp>
        <p:nvSpPr>
          <p:cNvPr id="3993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t>84</a:t>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noTextEdit="1"/>
          </p:cNvSpPr>
          <p:nvPr>
            <p:ph type="sldImg"/>
          </p:nvPr>
        </p:nvSpPr>
        <p:spPr>
          <a:ln>
            <a:solidFill>
              <a:srgbClr val="000000"/>
            </a:solidFill>
            <a:miter/>
          </a:ln>
        </p:spPr>
      </p:sp>
      <p:sp>
        <p:nvSpPr>
          <p:cNvPr id="56322" name="备注占位符 2"/>
          <p:cNvSpPr>
            <a:spLocks noGrp="1"/>
          </p:cNvSpPr>
          <p:nvPr>
            <p:ph type="body"/>
          </p:nvPr>
        </p:nvSpPr>
        <p:spPr/>
        <p:txBody>
          <a:bodyPr wrap="square" lIns="91440" tIns="45720" rIns="91440" bIns="45720" anchor="t" anchorCtr="0"/>
          <a:lstStyle/>
          <a:p>
            <a:pPr lvl="0"/>
            <a:endParaRPr lang="zh-CN" altLang="en-US" dirty="0">
              <a:ea typeface="宋体" panose="02010600030101010101" pitchFamily="2" charset="-122"/>
            </a:endParaRPr>
          </a:p>
        </p:txBody>
      </p:sp>
      <p:sp>
        <p:nvSpPr>
          <p:cNvPr id="56323"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t>92</a:t>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5"/>
          <p:cNvGrpSpPr/>
          <p:nvPr/>
        </p:nvGrpSpPr>
        <p:grpSpPr>
          <a:xfrm>
            <a:off x="-3175" y="0"/>
            <a:ext cx="9147175" cy="6867525"/>
            <a:chOff x="-2" y="0"/>
            <a:chExt cx="5762" cy="4326"/>
          </a:xfrm>
        </p:grpSpPr>
        <p:grpSp>
          <p:nvGrpSpPr>
            <p:cNvPr id="2051" name="Group 71"/>
            <p:cNvGrpSpPr/>
            <p:nvPr userDrawn="1"/>
          </p:nvGrpSpPr>
          <p:grpSpPr>
            <a:xfrm>
              <a:off x="-2" y="0"/>
              <a:ext cx="5712" cy="4326"/>
              <a:chOff x="-2" y="0"/>
              <a:chExt cx="5712" cy="4326"/>
            </a:xfrm>
          </p:grpSpPr>
          <p:sp>
            <p:nvSpPr>
              <p:cNvPr id="74" name="Rectangle 3"/>
              <p:cNvSpPr>
                <a:spLocks noChangeArrowheads="1"/>
              </p:cNvSpPr>
              <p:nvPr/>
            </p:nvSpPr>
            <p:spPr bwMode="auto">
              <a:xfrm>
                <a:off x="-2" y="0"/>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5" name="Rectangle 4"/>
              <p:cNvSpPr>
                <a:spLocks noChangeArrowheads="1"/>
              </p:cNvSpPr>
              <p:nvPr/>
            </p:nvSpPr>
            <p:spPr bwMode="auto">
              <a:xfrm>
                <a:off x="9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6" name="Rectangle 5"/>
              <p:cNvSpPr>
                <a:spLocks noChangeArrowheads="1"/>
              </p:cNvSpPr>
              <p:nvPr/>
            </p:nvSpPr>
            <p:spPr bwMode="auto">
              <a:xfrm>
                <a:off x="19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7" name="Rectangle 6"/>
              <p:cNvSpPr>
                <a:spLocks noChangeArrowheads="1"/>
              </p:cNvSpPr>
              <p:nvPr/>
            </p:nvSpPr>
            <p:spPr bwMode="auto">
              <a:xfrm>
                <a:off x="28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8" name="Rectangle 7"/>
              <p:cNvSpPr>
                <a:spLocks noChangeArrowheads="1"/>
              </p:cNvSpPr>
              <p:nvPr/>
            </p:nvSpPr>
            <p:spPr bwMode="auto">
              <a:xfrm>
                <a:off x="38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9" name="Rectangle 8"/>
              <p:cNvSpPr>
                <a:spLocks noChangeArrowheads="1"/>
              </p:cNvSpPr>
              <p:nvPr/>
            </p:nvSpPr>
            <p:spPr bwMode="auto">
              <a:xfrm>
                <a:off x="47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0" name="Rectangle 9"/>
              <p:cNvSpPr>
                <a:spLocks noChangeArrowheads="1"/>
              </p:cNvSpPr>
              <p:nvPr/>
            </p:nvSpPr>
            <p:spPr bwMode="auto">
              <a:xfrm>
                <a:off x="57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1" name="Rectangle 10"/>
              <p:cNvSpPr>
                <a:spLocks noChangeArrowheads="1"/>
              </p:cNvSpPr>
              <p:nvPr/>
            </p:nvSpPr>
            <p:spPr bwMode="auto">
              <a:xfrm>
                <a:off x="67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2" name="Rectangle 11"/>
              <p:cNvSpPr>
                <a:spLocks noChangeArrowheads="1"/>
              </p:cNvSpPr>
              <p:nvPr/>
            </p:nvSpPr>
            <p:spPr bwMode="auto">
              <a:xfrm>
                <a:off x="76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3" name="Rectangle 12"/>
              <p:cNvSpPr>
                <a:spLocks noChangeArrowheads="1"/>
              </p:cNvSpPr>
              <p:nvPr/>
            </p:nvSpPr>
            <p:spPr bwMode="auto">
              <a:xfrm>
                <a:off x="86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4" name="Rectangle 13"/>
              <p:cNvSpPr>
                <a:spLocks noChangeArrowheads="1"/>
              </p:cNvSpPr>
              <p:nvPr/>
            </p:nvSpPr>
            <p:spPr bwMode="auto">
              <a:xfrm>
                <a:off x="95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5" name="Rectangle 14"/>
              <p:cNvSpPr>
                <a:spLocks noChangeArrowheads="1"/>
              </p:cNvSpPr>
              <p:nvPr/>
            </p:nvSpPr>
            <p:spPr bwMode="auto">
              <a:xfrm>
                <a:off x="105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6" name="Rectangle 15"/>
              <p:cNvSpPr>
                <a:spLocks noChangeArrowheads="1"/>
              </p:cNvSpPr>
              <p:nvPr/>
            </p:nvSpPr>
            <p:spPr bwMode="auto">
              <a:xfrm>
                <a:off x="115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7" name="Rectangle 16"/>
              <p:cNvSpPr>
                <a:spLocks noChangeArrowheads="1"/>
              </p:cNvSpPr>
              <p:nvPr/>
            </p:nvSpPr>
            <p:spPr bwMode="auto">
              <a:xfrm>
                <a:off x="124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8" name="Rectangle 17"/>
              <p:cNvSpPr>
                <a:spLocks noChangeArrowheads="1"/>
              </p:cNvSpPr>
              <p:nvPr/>
            </p:nvSpPr>
            <p:spPr bwMode="auto">
              <a:xfrm>
                <a:off x="134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9" name="Rectangle 18"/>
              <p:cNvSpPr>
                <a:spLocks noChangeArrowheads="1"/>
              </p:cNvSpPr>
              <p:nvPr/>
            </p:nvSpPr>
            <p:spPr bwMode="auto">
              <a:xfrm>
                <a:off x="143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0" name="Rectangle 19"/>
              <p:cNvSpPr>
                <a:spLocks noChangeArrowheads="1"/>
              </p:cNvSpPr>
              <p:nvPr/>
            </p:nvSpPr>
            <p:spPr bwMode="auto">
              <a:xfrm>
                <a:off x="153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1" name="Rectangle 20"/>
              <p:cNvSpPr>
                <a:spLocks noChangeArrowheads="1"/>
              </p:cNvSpPr>
              <p:nvPr/>
            </p:nvSpPr>
            <p:spPr bwMode="auto">
              <a:xfrm>
                <a:off x="163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2" name="Rectangle 21"/>
              <p:cNvSpPr>
                <a:spLocks noChangeArrowheads="1"/>
              </p:cNvSpPr>
              <p:nvPr/>
            </p:nvSpPr>
            <p:spPr bwMode="auto">
              <a:xfrm>
                <a:off x="172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3" name="Rectangle 22"/>
              <p:cNvSpPr>
                <a:spLocks noChangeArrowheads="1"/>
              </p:cNvSpPr>
              <p:nvPr/>
            </p:nvSpPr>
            <p:spPr bwMode="auto">
              <a:xfrm>
                <a:off x="182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4" name="Rectangle 23"/>
              <p:cNvSpPr>
                <a:spLocks noChangeArrowheads="1"/>
              </p:cNvSpPr>
              <p:nvPr/>
            </p:nvSpPr>
            <p:spPr bwMode="auto">
              <a:xfrm>
                <a:off x="191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5" name="Rectangle 24"/>
              <p:cNvSpPr>
                <a:spLocks noChangeArrowheads="1"/>
              </p:cNvSpPr>
              <p:nvPr/>
            </p:nvSpPr>
            <p:spPr bwMode="auto">
              <a:xfrm>
                <a:off x="201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6" name="Rectangle 25"/>
              <p:cNvSpPr>
                <a:spLocks noChangeArrowheads="1"/>
              </p:cNvSpPr>
              <p:nvPr/>
            </p:nvSpPr>
            <p:spPr bwMode="auto">
              <a:xfrm>
                <a:off x="211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7" name="Rectangle 26"/>
              <p:cNvSpPr>
                <a:spLocks noChangeArrowheads="1"/>
              </p:cNvSpPr>
              <p:nvPr/>
            </p:nvSpPr>
            <p:spPr bwMode="auto">
              <a:xfrm>
                <a:off x="220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8" name="Rectangle 27"/>
              <p:cNvSpPr>
                <a:spLocks noChangeArrowheads="1"/>
              </p:cNvSpPr>
              <p:nvPr/>
            </p:nvSpPr>
            <p:spPr bwMode="auto">
              <a:xfrm>
                <a:off x="230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9" name="Rectangle 28"/>
              <p:cNvSpPr>
                <a:spLocks noChangeArrowheads="1"/>
              </p:cNvSpPr>
              <p:nvPr/>
            </p:nvSpPr>
            <p:spPr bwMode="auto">
              <a:xfrm>
                <a:off x="239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0" name="Rectangle 29"/>
              <p:cNvSpPr>
                <a:spLocks noChangeArrowheads="1"/>
              </p:cNvSpPr>
              <p:nvPr/>
            </p:nvSpPr>
            <p:spPr bwMode="auto">
              <a:xfrm>
                <a:off x="249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1" name="Rectangle 30"/>
              <p:cNvSpPr>
                <a:spLocks noChangeArrowheads="1"/>
              </p:cNvSpPr>
              <p:nvPr/>
            </p:nvSpPr>
            <p:spPr bwMode="auto">
              <a:xfrm>
                <a:off x="259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2" name="Rectangle 31"/>
              <p:cNvSpPr>
                <a:spLocks noChangeArrowheads="1"/>
              </p:cNvSpPr>
              <p:nvPr/>
            </p:nvSpPr>
            <p:spPr bwMode="auto">
              <a:xfrm>
                <a:off x="268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 name="Rectangle 32"/>
              <p:cNvSpPr>
                <a:spLocks noChangeArrowheads="1"/>
              </p:cNvSpPr>
              <p:nvPr/>
            </p:nvSpPr>
            <p:spPr bwMode="auto">
              <a:xfrm>
                <a:off x="278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 name="Rectangle 33"/>
              <p:cNvSpPr>
                <a:spLocks noChangeArrowheads="1"/>
              </p:cNvSpPr>
              <p:nvPr/>
            </p:nvSpPr>
            <p:spPr bwMode="auto">
              <a:xfrm>
                <a:off x="287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 name="Rectangle 34"/>
              <p:cNvSpPr>
                <a:spLocks noChangeArrowheads="1"/>
              </p:cNvSpPr>
              <p:nvPr/>
            </p:nvSpPr>
            <p:spPr bwMode="auto">
              <a:xfrm>
                <a:off x="297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 name="Rectangle 35"/>
              <p:cNvSpPr>
                <a:spLocks noChangeArrowheads="1"/>
              </p:cNvSpPr>
              <p:nvPr/>
            </p:nvSpPr>
            <p:spPr bwMode="auto">
              <a:xfrm>
                <a:off x="307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 name="Rectangle 36"/>
              <p:cNvSpPr>
                <a:spLocks noChangeArrowheads="1"/>
              </p:cNvSpPr>
              <p:nvPr/>
            </p:nvSpPr>
            <p:spPr bwMode="auto">
              <a:xfrm>
                <a:off x="316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 name="Rectangle 37"/>
              <p:cNvSpPr>
                <a:spLocks noChangeArrowheads="1"/>
              </p:cNvSpPr>
              <p:nvPr/>
            </p:nvSpPr>
            <p:spPr bwMode="auto">
              <a:xfrm>
                <a:off x="326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 name="Rectangle 38"/>
              <p:cNvSpPr>
                <a:spLocks noChangeArrowheads="1"/>
              </p:cNvSpPr>
              <p:nvPr/>
            </p:nvSpPr>
            <p:spPr bwMode="auto">
              <a:xfrm>
                <a:off x="335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 name="Rectangle 39"/>
              <p:cNvSpPr>
                <a:spLocks noChangeArrowheads="1"/>
              </p:cNvSpPr>
              <p:nvPr/>
            </p:nvSpPr>
            <p:spPr bwMode="auto">
              <a:xfrm>
                <a:off x="345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1" name="Rectangle 40"/>
              <p:cNvSpPr>
                <a:spLocks noChangeArrowheads="1"/>
              </p:cNvSpPr>
              <p:nvPr/>
            </p:nvSpPr>
            <p:spPr bwMode="auto">
              <a:xfrm>
                <a:off x="355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2" name="Rectangle 41"/>
              <p:cNvSpPr>
                <a:spLocks noChangeArrowheads="1"/>
              </p:cNvSpPr>
              <p:nvPr/>
            </p:nvSpPr>
            <p:spPr bwMode="auto">
              <a:xfrm>
                <a:off x="364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3" name="Rectangle 42"/>
              <p:cNvSpPr>
                <a:spLocks noChangeArrowheads="1"/>
              </p:cNvSpPr>
              <p:nvPr/>
            </p:nvSpPr>
            <p:spPr bwMode="auto">
              <a:xfrm>
                <a:off x="374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4" name="Rectangle 43"/>
              <p:cNvSpPr>
                <a:spLocks noChangeArrowheads="1"/>
              </p:cNvSpPr>
              <p:nvPr/>
            </p:nvSpPr>
            <p:spPr bwMode="auto">
              <a:xfrm>
                <a:off x="383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5" name="Rectangle 44"/>
              <p:cNvSpPr>
                <a:spLocks noChangeArrowheads="1"/>
              </p:cNvSpPr>
              <p:nvPr/>
            </p:nvSpPr>
            <p:spPr bwMode="auto">
              <a:xfrm>
                <a:off x="393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6" name="Rectangle 45"/>
              <p:cNvSpPr>
                <a:spLocks noChangeArrowheads="1"/>
              </p:cNvSpPr>
              <p:nvPr/>
            </p:nvSpPr>
            <p:spPr bwMode="auto">
              <a:xfrm>
                <a:off x="403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7" name="Rectangle 46"/>
              <p:cNvSpPr>
                <a:spLocks noChangeArrowheads="1"/>
              </p:cNvSpPr>
              <p:nvPr/>
            </p:nvSpPr>
            <p:spPr bwMode="auto">
              <a:xfrm>
                <a:off x="412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8" name="Rectangle 47"/>
              <p:cNvSpPr>
                <a:spLocks noChangeArrowheads="1"/>
              </p:cNvSpPr>
              <p:nvPr/>
            </p:nvSpPr>
            <p:spPr bwMode="auto">
              <a:xfrm>
                <a:off x="422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9" name="Rectangle 48"/>
              <p:cNvSpPr>
                <a:spLocks noChangeArrowheads="1"/>
              </p:cNvSpPr>
              <p:nvPr/>
            </p:nvSpPr>
            <p:spPr bwMode="auto">
              <a:xfrm>
                <a:off x="431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0" name="Rectangle 49"/>
              <p:cNvSpPr>
                <a:spLocks noChangeArrowheads="1"/>
              </p:cNvSpPr>
              <p:nvPr/>
            </p:nvSpPr>
            <p:spPr bwMode="auto">
              <a:xfrm>
                <a:off x="441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1" name="Rectangle 50"/>
              <p:cNvSpPr>
                <a:spLocks noChangeArrowheads="1"/>
              </p:cNvSpPr>
              <p:nvPr/>
            </p:nvSpPr>
            <p:spPr bwMode="auto">
              <a:xfrm>
                <a:off x="451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2" name="Rectangle 51"/>
              <p:cNvSpPr>
                <a:spLocks noChangeArrowheads="1"/>
              </p:cNvSpPr>
              <p:nvPr/>
            </p:nvSpPr>
            <p:spPr bwMode="auto">
              <a:xfrm>
                <a:off x="460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3" name="Rectangle 52"/>
              <p:cNvSpPr>
                <a:spLocks noChangeArrowheads="1"/>
              </p:cNvSpPr>
              <p:nvPr/>
            </p:nvSpPr>
            <p:spPr bwMode="auto">
              <a:xfrm>
                <a:off x="470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4" name="Rectangle 53"/>
              <p:cNvSpPr>
                <a:spLocks noChangeArrowheads="1"/>
              </p:cNvSpPr>
              <p:nvPr/>
            </p:nvSpPr>
            <p:spPr bwMode="auto">
              <a:xfrm>
                <a:off x="479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5" name="Rectangle 54"/>
              <p:cNvSpPr>
                <a:spLocks noChangeArrowheads="1"/>
              </p:cNvSpPr>
              <p:nvPr/>
            </p:nvSpPr>
            <p:spPr bwMode="auto">
              <a:xfrm>
                <a:off x="489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 name="Rectangle 55"/>
              <p:cNvSpPr>
                <a:spLocks noChangeArrowheads="1"/>
              </p:cNvSpPr>
              <p:nvPr/>
            </p:nvSpPr>
            <p:spPr bwMode="auto">
              <a:xfrm>
                <a:off x="499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7" name="Rectangle 56"/>
              <p:cNvSpPr>
                <a:spLocks noChangeArrowheads="1"/>
              </p:cNvSpPr>
              <p:nvPr/>
            </p:nvSpPr>
            <p:spPr bwMode="auto">
              <a:xfrm>
                <a:off x="508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8" name="Rectangle 57"/>
              <p:cNvSpPr>
                <a:spLocks noChangeArrowheads="1"/>
              </p:cNvSpPr>
              <p:nvPr/>
            </p:nvSpPr>
            <p:spPr bwMode="auto">
              <a:xfrm>
                <a:off x="518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9" name="Rectangle 58"/>
              <p:cNvSpPr>
                <a:spLocks noChangeArrowheads="1"/>
              </p:cNvSpPr>
              <p:nvPr/>
            </p:nvSpPr>
            <p:spPr bwMode="auto">
              <a:xfrm>
                <a:off x="527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0" name="Rectangle 59"/>
              <p:cNvSpPr>
                <a:spLocks noChangeArrowheads="1"/>
              </p:cNvSpPr>
              <p:nvPr/>
            </p:nvSpPr>
            <p:spPr bwMode="auto">
              <a:xfrm>
                <a:off x="537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1" name="Rectangle 60"/>
              <p:cNvSpPr>
                <a:spLocks noChangeArrowheads="1"/>
              </p:cNvSpPr>
              <p:nvPr/>
            </p:nvSpPr>
            <p:spPr bwMode="auto">
              <a:xfrm>
                <a:off x="547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2" name="Rectangle 61"/>
              <p:cNvSpPr>
                <a:spLocks noChangeArrowheads="1"/>
              </p:cNvSpPr>
              <p:nvPr/>
            </p:nvSpPr>
            <p:spPr bwMode="auto">
              <a:xfrm>
                <a:off x="556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3" name="Rectangle 62"/>
              <p:cNvSpPr>
                <a:spLocks noChangeArrowheads="1"/>
              </p:cNvSpPr>
              <p:nvPr/>
            </p:nvSpPr>
            <p:spPr bwMode="auto">
              <a:xfrm>
                <a:off x="566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72" name="Rectangle 63"/>
            <p:cNvSpPr>
              <a:spLocks noChangeArrowheads="1"/>
            </p:cNvSpPr>
            <p:nvPr/>
          </p:nvSpPr>
          <p:spPr bwMode="auto">
            <a:xfrm>
              <a:off x="429" y="0"/>
              <a:ext cx="5331" cy="4320"/>
            </a:xfrm>
            <a:prstGeom prst="rect">
              <a:avLst/>
            </a:prstGeom>
            <a:solidFill>
              <a:schemeClr val="accent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3" name="Rectangle 64"/>
            <p:cNvSpPr>
              <a:spLocks noChangeArrowheads="1"/>
            </p:cNvSpPr>
            <p:nvPr/>
          </p:nvSpPr>
          <p:spPr bwMode="auto">
            <a:xfrm>
              <a:off x="0" y="0"/>
              <a:ext cx="5760" cy="321"/>
            </a:xfrm>
            <a:prstGeom prst="rect">
              <a:avLst/>
            </a:prstGeom>
            <a:solidFill>
              <a:schemeClr val="hlink">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134" name="Rectangle 65"/>
          <p:cNvSpPr>
            <a:spLocks noChangeArrowheads="1"/>
          </p:cNvSpPr>
          <p:nvPr/>
        </p:nvSpPr>
        <p:spPr bwMode="auto">
          <a:xfrm>
            <a:off x="3505200" y="2590800"/>
            <a:ext cx="4892675" cy="76200"/>
          </a:xfrm>
          <a:prstGeom prst="rect">
            <a:avLst/>
          </a:prstGeom>
          <a:solidFill>
            <a:schemeClr val="hlink">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4338" name="Rectangle 66"/>
          <p:cNvSpPr>
            <a:spLocks noGrp="1" noChangeArrowheads="1"/>
          </p:cNvSpPr>
          <p:nvPr>
            <p:ph type="ctrTitle" sz="quarter"/>
          </p:nvPr>
        </p:nvSpPr>
        <p:spPr>
          <a:xfrm>
            <a:off x="779463" y="1766888"/>
            <a:ext cx="7678737" cy="762000"/>
          </a:xfrm>
        </p:spPr>
        <p:txBody>
          <a:bodyPr/>
          <a:lstStyle>
            <a:lvl1pPr algn="r">
              <a:defRPr/>
            </a:lvl1pPr>
          </a:lstStyle>
          <a:p>
            <a:pPr lvl="0" fontAlgn="base"/>
            <a:r>
              <a:rPr lang="zh-CN" altLang="en-US" strike="noStrike" noProof="0"/>
              <a:t>单击此处编辑母版标题样式</a:t>
            </a:r>
          </a:p>
        </p:txBody>
      </p:sp>
      <p:sp>
        <p:nvSpPr>
          <p:cNvPr id="54339" name="Rectangle 67"/>
          <p:cNvSpPr>
            <a:spLocks noGrp="1" noChangeArrowheads="1"/>
          </p:cNvSpPr>
          <p:nvPr>
            <p:ph type="subTitle" sz="quarter" idx="1"/>
          </p:nvPr>
        </p:nvSpPr>
        <p:spPr>
          <a:xfrm>
            <a:off x="4021138" y="2860675"/>
            <a:ext cx="4437062" cy="3114675"/>
          </a:xfrm>
        </p:spPr>
        <p:txBody>
          <a:bodyPr/>
          <a:lstStyle>
            <a:lvl1pPr marL="0" indent="0">
              <a:buFont typeface="Wingdings" panose="05000000000000000000" pitchFamily="2" charset="2"/>
              <a:buNone/>
              <a:defRPr/>
            </a:lvl1pPr>
          </a:lstStyle>
          <a:p>
            <a:pPr lvl="0" fontAlgn="base"/>
            <a:r>
              <a:rPr lang="zh-CN" altLang="en-US" strike="noStrike" noProof="0"/>
              <a:t>单击此处编辑母版副标题样式</a:t>
            </a:r>
          </a:p>
        </p:txBody>
      </p:sp>
      <p:sp>
        <p:nvSpPr>
          <p:cNvPr id="135" name="Rectangle 68"/>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6" name="Rectangle 69"/>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7" name="Rectangle 70"/>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7AEAB64-3BDF-423A-B3E1-240C937D61D7}"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912813" y="1905000"/>
            <a:ext cx="3978275"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043488" y="1905000"/>
            <a:ext cx="3979862"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75000"/>
              <a:buFont typeface="Wingdings" panose="05000000000000000000" pitchFamily="2" charset="2"/>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4525" y="862013"/>
            <a:ext cx="2039938" cy="5233987"/>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871538" y="862013"/>
            <a:ext cx="5970587" cy="5233987"/>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1538" y="862013"/>
            <a:ext cx="8162925" cy="762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912813" y="1905000"/>
            <a:ext cx="3978275" cy="41910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5043488" y="1905000"/>
            <a:ext cx="3979862" cy="20193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5043488" y="4076700"/>
            <a:ext cx="3979862" cy="20193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57200"/>
            <a:ext cx="8229600" cy="5410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页脚占位符 2"/>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4" name="灯片编号占位符 3"/>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5" name="日期占位符 4"/>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1"/>
          </p:nvPr>
        </p:nvSpPr>
        <p:spPr/>
        <p:txBody>
          <a:bodyPr/>
          <a:lstStyle/>
          <a:p>
            <a:pPr lvl="0" fontAlgn="base"/>
            <a:fld id="{9A0DB2DC-4C9A-4742-B13C-FB6460FD3503}" type="slidenum">
              <a:rPr lang="zh-CN" altLang="en-US" strike="noStrike" noProof="1" dirty="0">
                <a:latin typeface="Arial Black" panose="020B0A040201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
        <p:nvSpPr>
          <p:cNvPr id="7" name="日期占位符 6"/>
          <p:cNvSpPr>
            <a:spLocks noGrp="1"/>
          </p:cNvSpPr>
          <p:nvPr>
            <p:ph type="dt" sz="half" idx="12"/>
          </p:nvPr>
        </p:nvSpPr>
        <p:spPr/>
        <p:txBody>
          <a:bodyPr/>
          <a:lstStyle/>
          <a:p>
            <a:pPr lvl="0" fontAlgn="base"/>
            <a:endParaRPr lang="zh-CN" altLang="en-US"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5"/>
          <p:cNvGrpSpPr/>
          <p:nvPr/>
        </p:nvGrpSpPr>
        <p:grpSpPr>
          <a:xfrm>
            <a:off x="-3175" y="0"/>
            <a:ext cx="9147175" cy="6867525"/>
            <a:chOff x="-2" y="0"/>
            <a:chExt cx="5762" cy="4326"/>
          </a:xfrm>
        </p:grpSpPr>
        <p:grpSp>
          <p:nvGrpSpPr>
            <p:cNvPr id="2051" name="Group 71"/>
            <p:cNvGrpSpPr/>
            <p:nvPr userDrawn="1"/>
          </p:nvGrpSpPr>
          <p:grpSpPr>
            <a:xfrm>
              <a:off x="-2" y="0"/>
              <a:ext cx="5712" cy="4326"/>
              <a:chOff x="-2" y="0"/>
              <a:chExt cx="5712" cy="4326"/>
            </a:xfrm>
          </p:grpSpPr>
          <p:sp>
            <p:nvSpPr>
              <p:cNvPr id="74" name="Rectangle 3"/>
              <p:cNvSpPr>
                <a:spLocks noChangeArrowheads="1"/>
              </p:cNvSpPr>
              <p:nvPr/>
            </p:nvSpPr>
            <p:spPr bwMode="auto">
              <a:xfrm>
                <a:off x="-2" y="0"/>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5" name="Rectangle 4"/>
              <p:cNvSpPr>
                <a:spLocks noChangeArrowheads="1"/>
              </p:cNvSpPr>
              <p:nvPr/>
            </p:nvSpPr>
            <p:spPr bwMode="auto">
              <a:xfrm>
                <a:off x="9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6" name="Rectangle 5"/>
              <p:cNvSpPr>
                <a:spLocks noChangeArrowheads="1"/>
              </p:cNvSpPr>
              <p:nvPr/>
            </p:nvSpPr>
            <p:spPr bwMode="auto">
              <a:xfrm>
                <a:off x="19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7" name="Rectangle 6"/>
              <p:cNvSpPr>
                <a:spLocks noChangeArrowheads="1"/>
              </p:cNvSpPr>
              <p:nvPr/>
            </p:nvSpPr>
            <p:spPr bwMode="auto">
              <a:xfrm>
                <a:off x="28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8" name="Rectangle 7"/>
              <p:cNvSpPr>
                <a:spLocks noChangeArrowheads="1"/>
              </p:cNvSpPr>
              <p:nvPr/>
            </p:nvSpPr>
            <p:spPr bwMode="auto">
              <a:xfrm>
                <a:off x="38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9" name="Rectangle 8"/>
              <p:cNvSpPr>
                <a:spLocks noChangeArrowheads="1"/>
              </p:cNvSpPr>
              <p:nvPr/>
            </p:nvSpPr>
            <p:spPr bwMode="auto">
              <a:xfrm>
                <a:off x="47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0" name="Rectangle 9"/>
              <p:cNvSpPr>
                <a:spLocks noChangeArrowheads="1"/>
              </p:cNvSpPr>
              <p:nvPr/>
            </p:nvSpPr>
            <p:spPr bwMode="auto">
              <a:xfrm>
                <a:off x="57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1" name="Rectangle 10"/>
              <p:cNvSpPr>
                <a:spLocks noChangeArrowheads="1"/>
              </p:cNvSpPr>
              <p:nvPr/>
            </p:nvSpPr>
            <p:spPr bwMode="auto">
              <a:xfrm>
                <a:off x="67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2" name="Rectangle 11"/>
              <p:cNvSpPr>
                <a:spLocks noChangeArrowheads="1"/>
              </p:cNvSpPr>
              <p:nvPr/>
            </p:nvSpPr>
            <p:spPr bwMode="auto">
              <a:xfrm>
                <a:off x="76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3" name="Rectangle 12"/>
              <p:cNvSpPr>
                <a:spLocks noChangeArrowheads="1"/>
              </p:cNvSpPr>
              <p:nvPr/>
            </p:nvSpPr>
            <p:spPr bwMode="auto">
              <a:xfrm>
                <a:off x="86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4" name="Rectangle 13"/>
              <p:cNvSpPr>
                <a:spLocks noChangeArrowheads="1"/>
              </p:cNvSpPr>
              <p:nvPr/>
            </p:nvSpPr>
            <p:spPr bwMode="auto">
              <a:xfrm>
                <a:off x="95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5" name="Rectangle 14"/>
              <p:cNvSpPr>
                <a:spLocks noChangeArrowheads="1"/>
              </p:cNvSpPr>
              <p:nvPr/>
            </p:nvSpPr>
            <p:spPr bwMode="auto">
              <a:xfrm>
                <a:off x="105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6" name="Rectangle 15"/>
              <p:cNvSpPr>
                <a:spLocks noChangeArrowheads="1"/>
              </p:cNvSpPr>
              <p:nvPr/>
            </p:nvSpPr>
            <p:spPr bwMode="auto">
              <a:xfrm>
                <a:off x="115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7" name="Rectangle 16"/>
              <p:cNvSpPr>
                <a:spLocks noChangeArrowheads="1"/>
              </p:cNvSpPr>
              <p:nvPr/>
            </p:nvSpPr>
            <p:spPr bwMode="auto">
              <a:xfrm>
                <a:off x="124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8" name="Rectangle 17"/>
              <p:cNvSpPr>
                <a:spLocks noChangeArrowheads="1"/>
              </p:cNvSpPr>
              <p:nvPr/>
            </p:nvSpPr>
            <p:spPr bwMode="auto">
              <a:xfrm>
                <a:off x="134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9" name="Rectangle 18"/>
              <p:cNvSpPr>
                <a:spLocks noChangeArrowheads="1"/>
              </p:cNvSpPr>
              <p:nvPr/>
            </p:nvSpPr>
            <p:spPr bwMode="auto">
              <a:xfrm>
                <a:off x="143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0" name="Rectangle 19"/>
              <p:cNvSpPr>
                <a:spLocks noChangeArrowheads="1"/>
              </p:cNvSpPr>
              <p:nvPr/>
            </p:nvSpPr>
            <p:spPr bwMode="auto">
              <a:xfrm>
                <a:off x="153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1" name="Rectangle 20"/>
              <p:cNvSpPr>
                <a:spLocks noChangeArrowheads="1"/>
              </p:cNvSpPr>
              <p:nvPr/>
            </p:nvSpPr>
            <p:spPr bwMode="auto">
              <a:xfrm>
                <a:off x="163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2" name="Rectangle 21"/>
              <p:cNvSpPr>
                <a:spLocks noChangeArrowheads="1"/>
              </p:cNvSpPr>
              <p:nvPr/>
            </p:nvSpPr>
            <p:spPr bwMode="auto">
              <a:xfrm>
                <a:off x="172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3" name="Rectangle 22"/>
              <p:cNvSpPr>
                <a:spLocks noChangeArrowheads="1"/>
              </p:cNvSpPr>
              <p:nvPr/>
            </p:nvSpPr>
            <p:spPr bwMode="auto">
              <a:xfrm>
                <a:off x="182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4" name="Rectangle 23"/>
              <p:cNvSpPr>
                <a:spLocks noChangeArrowheads="1"/>
              </p:cNvSpPr>
              <p:nvPr/>
            </p:nvSpPr>
            <p:spPr bwMode="auto">
              <a:xfrm>
                <a:off x="191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5" name="Rectangle 24"/>
              <p:cNvSpPr>
                <a:spLocks noChangeArrowheads="1"/>
              </p:cNvSpPr>
              <p:nvPr/>
            </p:nvSpPr>
            <p:spPr bwMode="auto">
              <a:xfrm>
                <a:off x="201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6" name="Rectangle 25"/>
              <p:cNvSpPr>
                <a:spLocks noChangeArrowheads="1"/>
              </p:cNvSpPr>
              <p:nvPr/>
            </p:nvSpPr>
            <p:spPr bwMode="auto">
              <a:xfrm>
                <a:off x="211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7" name="Rectangle 26"/>
              <p:cNvSpPr>
                <a:spLocks noChangeArrowheads="1"/>
              </p:cNvSpPr>
              <p:nvPr/>
            </p:nvSpPr>
            <p:spPr bwMode="auto">
              <a:xfrm>
                <a:off x="220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8" name="Rectangle 27"/>
              <p:cNvSpPr>
                <a:spLocks noChangeArrowheads="1"/>
              </p:cNvSpPr>
              <p:nvPr/>
            </p:nvSpPr>
            <p:spPr bwMode="auto">
              <a:xfrm>
                <a:off x="230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9" name="Rectangle 28"/>
              <p:cNvSpPr>
                <a:spLocks noChangeArrowheads="1"/>
              </p:cNvSpPr>
              <p:nvPr/>
            </p:nvSpPr>
            <p:spPr bwMode="auto">
              <a:xfrm>
                <a:off x="239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0" name="Rectangle 29"/>
              <p:cNvSpPr>
                <a:spLocks noChangeArrowheads="1"/>
              </p:cNvSpPr>
              <p:nvPr/>
            </p:nvSpPr>
            <p:spPr bwMode="auto">
              <a:xfrm>
                <a:off x="249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1" name="Rectangle 30"/>
              <p:cNvSpPr>
                <a:spLocks noChangeArrowheads="1"/>
              </p:cNvSpPr>
              <p:nvPr/>
            </p:nvSpPr>
            <p:spPr bwMode="auto">
              <a:xfrm>
                <a:off x="259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2" name="Rectangle 31"/>
              <p:cNvSpPr>
                <a:spLocks noChangeArrowheads="1"/>
              </p:cNvSpPr>
              <p:nvPr/>
            </p:nvSpPr>
            <p:spPr bwMode="auto">
              <a:xfrm>
                <a:off x="268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 name="Rectangle 32"/>
              <p:cNvSpPr>
                <a:spLocks noChangeArrowheads="1"/>
              </p:cNvSpPr>
              <p:nvPr/>
            </p:nvSpPr>
            <p:spPr bwMode="auto">
              <a:xfrm>
                <a:off x="278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 name="Rectangle 33"/>
              <p:cNvSpPr>
                <a:spLocks noChangeArrowheads="1"/>
              </p:cNvSpPr>
              <p:nvPr/>
            </p:nvSpPr>
            <p:spPr bwMode="auto">
              <a:xfrm>
                <a:off x="287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 name="Rectangle 34"/>
              <p:cNvSpPr>
                <a:spLocks noChangeArrowheads="1"/>
              </p:cNvSpPr>
              <p:nvPr/>
            </p:nvSpPr>
            <p:spPr bwMode="auto">
              <a:xfrm>
                <a:off x="297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 name="Rectangle 35"/>
              <p:cNvSpPr>
                <a:spLocks noChangeArrowheads="1"/>
              </p:cNvSpPr>
              <p:nvPr/>
            </p:nvSpPr>
            <p:spPr bwMode="auto">
              <a:xfrm>
                <a:off x="307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 name="Rectangle 36"/>
              <p:cNvSpPr>
                <a:spLocks noChangeArrowheads="1"/>
              </p:cNvSpPr>
              <p:nvPr/>
            </p:nvSpPr>
            <p:spPr bwMode="auto">
              <a:xfrm>
                <a:off x="316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 name="Rectangle 37"/>
              <p:cNvSpPr>
                <a:spLocks noChangeArrowheads="1"/>
              </p:cNvSpPr>
              <p:nvPr/>
            </p:nvSpPr>
            <p:spPr bwMode="auto">
              <a:xfrm>
                <a:off x="326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 name="Rectangle 38"/>
              <p:cNvSpPr>
                <a:spLocks noChangeArrowheads="1"/>
              </p:cNvSpPr>
              <p:nvPr/>
            </p:nvSpPr>
            <p:spPr bwMode="auto">
              <a:xfrm>
                <a:off x="335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0" name="Rectangle 39"/>
              <p:cNvSpPr>
                <a:spLocks noChangeArrowheads="1"/>
              </p:cNvSpPr>
              <p:nvPr/>
            </p:nvSpPr>
            <p:spPr bwMode="auto">
              <a:xfrm>
                <a:off x="345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1" name="Rectangle 40"/>
              <p:cNvSpPr>
                <a:spLocks noChangeArrowheads="1"/>
              </p:cNvSpPr>
              <p:nvPr/>
            </p:nvSpPr>
            <p:spPr bwMode="auto">
              <a:xfrm>
                <a:off x="355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2" name="Rectangle 41"/>
              <p:cNvSpPr>
                <a:spLocks noChangeArrowheads="1"/>
              </p:cNvSpPr>
              <p:nvPr/>
            </p:nvSpPr>
            <p:spPr bwMode="auto">
              <a:xfrm>
                <a:off x="364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3" name="Rectangle 42"/>
              <p:cNvSpPr>
                <a:spLocks noChangeArrowheads="1"/>
              </p:cNvSpPr>
              <p:nvPr/>
            </p:nvSpPr>
            <p:spPr bwMode="auto">
              <a:xfrm>
                <a:off x="374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4" name="Rectangle 43"/>
              <p:cNvSpPr>
                <a:spLocks noChangeArrowheads="1"/>
              </p:cNvSpPr>
              <p:nvPr/>
            </p:nvSpPr>
            <p:spPr bwMode="auto">
              <a:xfrm>
                <a:off x="383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5" name="Rectangle 44"/>
              <p:cNvSpPr>
                <a:spLocks noChangeArrowheads="1"/>
              </p:cNvSpPr>
              <p:nvPr/>
            </p:nvSpPr>
            <p:spPr bwMode="auto">
              <a:xfrm>
                <a:off x="393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6" name="Rectangle 45"/>
              <p:cNvSpPr>
                <a:spLocks noChangeArrowheads="1"/>
              </p:cNvSpPr>
              <p:nvPr/>
            </p:nvSpPr>
            <p:spPr bwMode="auto">
              <a:xfrm>
                <a:off x="403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7" name="Rectangle 46"/>
              <p:cNvSpPr>
                <a:spLocks noChangeArrowheads="1"/>
              </p:cNvSpPr>
              <p:nvPr/>
            </p:nvSpPr>
            <p:spPr bwMode="auto">
              <a:xfrm>
                <a:off x="412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8" name="Rectangle 47"/>
              <p:cNvSpPr>
                <a:spLocks noChangeArrowheads="1"/>
              </p:cNvSpPr>
              <p:nvPr/>
            </p:nvSpPr>
            <p:spPr bwMode="auto">
              <a:xfrm>
                <a:off x="422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9" name="Rectangle 48"/>
              <p:cNvSpPr>
                <a:spLocks noChangeArrowheads="1"/>
              </p:cNvSpPr>
              <p:nvPr/>
            </p:nvSpPr>
            <p:spPr bwMode="auto">
              <a:xfrm>
                <a:off x="431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0" name="Rectangle 49"/>
              <p:cNvSpPr>
                <a:spLocks noChangeArrowheads="1"/>
              </p:cNvSpPr>
              <p:nvPr/>
            </p:nvSpPr>
            <p:spPr bwMode="auto">
              <a:xfrm>
                <a:off x="441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1" name="Rectangle 50"/>
              <p:cNvSpPr>
                <a:spLocks noChangeArrowheads="1"/>
              </p:cNvSpPr>
              <p:nvPr/>
            </p:nvSpPr>
            <p:spPr bwMode="auto">
              <a:xfrm>
                <a:off x="451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2" name="Rectangle 51"/>
              <p:cNvSpPr>
                <a:spLocks noChangeArrowheads="1"/>
              </p:cNvSpPr>
              <p:nvPr/>
            </p:nvSpPr>
            <p:spPr bwMode="auto">
              <a:xfrm>
                <a:off x="460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3" name="Rectangle 52"/>
              <p:cNvSpPr>
                <a:spLocks noChangeArrowheads="1"/>
              </p:cNvSpPr>
              <p:nvPr/>
            </p:nvSpPr>
            <p:spPr bwMode="auto">
              <a:xfrm>
                <a:off x="470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4" name="Rectangle 53"/>
              <p:cNvSpPr>
                <a:spLocks noChangeArrowheads="1"/>
              </p:cNvSpPr>
              <p:nvPr/>
            </p:nvSpPr>
            <p:spPr bwMode="auto">
              <a:xfrm>
                <a:off x="479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5" name="Rectangle 54"/>
              <p:cNvSpPr>
                <a:spLocks noChangeArrowheads="1"/>
              </p:cNvSpPr>
              <p:nvPr/>
            </p:nvSpPr>
            <p:spPr bwMode="auto">
              <a:xfrm>
                <a:off x="489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6" name="Rectangle 55"/>
              <p:cNvSpPr>
                <a:spLocks noChangeArrowheads="1"/>
              </p:cNvSpPr>
              <p:nvPr/>
            </p:nvSpPr>
            <p:spPr bwMode="auto">
              <a:xfrm>
                <a:off x="499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7" name="Rectangle 56"/>
              <p:cNvSpPr>
                <a:spLocks noChangeArrowheads="1"/>
              </p:cNvSpPr>
              <p:nvPr/>
            </p:nvSpPr>
            <p:spPr bwMode="auto">
              <a:xfrm>
                <a:off x="508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8" name="Rectangle 57"/>
              <p:cNvSpPr>
                <a:spLocks noChangeArrowheads="1"/>
              </p:cNvSpPr>
              <p:nvPr/>
            </p:nvSpPr>
            <p:spPr bwMode="auto">
              <a:xfrm>
                <a:off x="518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9" name="Rectangle 58"/>
              <p:cNvSpPr>
                <a:spLocks noChangeArrowheads="1"/>
              </p:cNvSpPr>
              <p:nvPr/>
            </p:nvSpPr>
            <p:spPr bwMode="auto">
              <a:xfrm>
                <a:off x="527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0" name="Rectangle 59"/>
              <p:cNvSpPr>
                <a:spLocks noChangeArrowheads="1"/>
              </p:cNvSpPr>
              <p:nvPr/>
            </p:nvSpPr>
            <p:spPr bwMode="auto">
              <a:xfrm>
                <a:off x="537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1" name="Rectangle 60"/>
              <p:cNvSpPr>
                <a:spLocks noChangeArrowheads="1"/>
              </p:cNvSpPr>
              <p:nvPr/>
            </p:nvSpPr>
            <p:spPr bwMode="auto">
              <a:xfrm>
                <a:off x="547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2" name="Rectangle 61"/>
              <p:cNvSpPr>
                <a:spLocks noChangeArrowheads="1"/>
              </p:cNvSpPr>
              <p:nvPr/>
            </p:nvSpPr>
            <p:spPr bwMode="auto">
              <a:xfrm>
                <a:off x="556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3" name="Rectangle 62"/>
              <p:cNvSpPr>
                <a:spLocks noChangeArrowheads="1"/>
              </p:cNvSpPr>
              <p:nvPr/>
            </p:nvSpPr>
            <p:spPr bwMode="auto">
              <a:xfrm>
                <a:off x="566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72" name="Rectangle 63"/>
            <p:cNvSpPr>
              <a:spLocks noChangeArrowheads="1"/>
            </p:cNvSpPr>
            <p:nvPr/>
          </p:nvSpPr>
          <p:spPr bwMode="auto">
            <a:xfrm>
              <a:off x="429" y="0"/>
              <a:ext cx="5331" cy="4320"/>
            </a:xfrm>
            <a:prstGeom prst="rect">
              <a:avLst/>
            </a:prstGeom>
            <a:solidFill>
              <a:schemeClr val="accent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3" name="Rectangle 64"/>
            <p:cNvSpPr>
              <a:spLocks noChangeArrowheads="1"/>
            </p:cNvSpPr>
            <p:nvPr/>
          </p:nvSpPr>
          <p:spPr bwMode="auto">
            <a:xfrm>
              <a:off x="0" y="0"/>
              <a:ext cx="5760" cy="321"/>
            </a:xfrm>
            <a:prstGeom prst="rect">
              <a:avLst/>
            </a:prstGeom>
            <a:solidFill>
              <a:schemeClr val="hlink">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134" name="Rectangle 65"/>
          <p:cNvSpPr>
            <a:spLocks noChangeArrowheads="1"/>
          </p:cNvSpPr>
          <p:nvPr/>
        </p:nvSpPr>
        <p:spPr bwMode="auto">
          <a:xfrm>
            <a:off x="3505200" y="2590800"/>
            <a:ext cx="4892675" cy="76200"/>
          </a:xfrm>
          <a:prstGeom prst="rect">
            <a:avLst/>
          </a:prstGeom>
          <a:solidFill>
            <a:schemeClr val="hlink">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4338" name="Rectangle 66"/>
          <p:cNvSpPr>
            <a:spLocks noGrp="1" noChangeArrowheads="1"/>
          </p:cNvSpPr>
          <p:nvPr>
            <p:ph type="ctrTitle" sz="quarter"/>
          </p:nvPr>
        </p:nvSpPr>
        <p:spPr>
          <a:xfrm>
            <a:off x="779463" y="1766888"/>
            <a:ext cx="7678737" cy="762000"/>
          </a:xfrm>
        </p:spPr>
        <p:txBody>
          <a:bodyPr/>
          <a:lstStyle>
            <a:lvl1pPr algn="r">
              <a:defRPr/>
            </a:lvl1pPr>
          </a:lstStyle>
          <a:p>
            <a:pPr lvl="0" fontAlgn="base"/>
            <a:r>
              <a:rPr lang="zh-CN" altLang="en-US" strike="noStrike" noProof="0"/>
              <a:t>单击此处编辑母版标题样式</a:t>
            </a:r>
          </a:p>
        </p:txBody>
      </p:sp>
      <p:sp>
        <p:nvSpPr>
          <p:cNvPr id="54339" name="Rectangle 67"/>
          <p:cNvSpPr>
            <a:spLocks noGrp="1" noChangeArrowheads="1"/>
          </p:cNvSpPr>
          <p:nvPr>
            <p:ph type="subTitle" sz="quarter" idx="1"/>
          </p:nvPr>
        </p:nvSpPr>
        <p:spPr>
          <a:xfrm>
            <a:off x="4021138" y="2860675"/>
            <a:ext cx="4437062" cy="3114675"/>
          </a:xfrm>
        </p:spPr>
        <p:txBody>
          <a:bodyPr/>
          <a:lstStyle>
            <a:lvl1pPr marL="0" indent="0">
              <a:buFont typeface="Wingdings" panose="05000000000000000000" pitchFamily="2" charset="2"/>
              <a:buNone/>
              <a:defRPr/>
            </a:lvl1pPr>
          </a:lstStyle>
          <a:p>
            <a:pPr lvl="0" fontAlgn="base"/>
            <a:r>
              <a:rPr lang="zh-CN" altLang="en-US" strike="noStrike" noProof="0"/>
              <a:t>单击此处编辑母版副标题样式</a:t>
            </a:r>
          </a:p>
        </p:txBody>
      </p:sp>
      <p:sp>
        <p:nvSpPr>
          <p:cNvPr id="135" name="Rectangle 68"/>
          <p:cNvSpPr>
            <a:spLocks noGrp="1" noChangeArrowheads="1"/>
          </p:cNvSpPr>
          <p:nvPr>
            <p:ph type="dt" sz="quarter"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6" name="Rectangle 69"/>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37" name="Rectangle 70"/>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7AEAB64-3BDF-423A-B3E1-240C937D61D7}"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912813" y="1905000"/>
            <a:ext cx="3978275"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5043488" y="1905000"/>
            <a:ext cx="3979862"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75000"/>
              <a:buFont typeface="Wingdings" panose="05000000000000000000" pitchFamily="2" charset="2"/>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4525" y="862013"/>
            <a:ext cx="2039938" cy="5233987"/>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871538" y="862013"/>
            <a:ext cx="5970587" cy="5233987"/>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1538" y="862013"/>
            <a:ext cx="8162925" cy="762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912813" y="1905000"/>
            <a:ext cx="3978275" cy="41910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5043488" y="1905000"/>
            <a:ext cx="3979862" cy="20193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5043488" y="4076700"/>
            <a:ext cx="3979862" cy="20193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71"/>
          <p:cNvGrpSpPr/>
          <p:nvPr/>
        </p:nvGrpSpPr>
        <p:grpSpPr>
          <a:xfrm>
            <a:off x="0" y="0"/>
            <a:ext cx="9147175" cy="6867525"/>
            <a:chOff x="0" y="0"/>
            <a:chExt cx="5762" cy="4326"/>
          </a:xfrm>
        </p:grpSpPr>
        <p:sp>
          <p:nvSpPr>
            <p:cNvPr id="1032" name="Rectangle 3"/>
            <p:cNvSpPr>
              <a:spLocks noChangeArrowheads="1"/>
            </p:cNvSpPr>
            <p:nvPr/>
          </p:nvSpPr>
          <p:spPr bwMode="hidden">
            <a:xfrm>
              <a:off x="0" y="0"/>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3" name="Rectangle 4"/>
            <p:cNvSpPr>
              <a:spLocks noChangeArrowheads="1"/>
            </p:cNvSpPr>
            <p:nvPr/>
          </p:nvSpPr>
          <p:spPr bwMode="hidden">
            <a:xfrm>
              <a:off x="9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4" name="Rectangle 5"/>
            <p:cNvSpPr>
              <a:spLocks noChangeArrowheads="1"/>
            </p:cNvSpPr>
            <p:nvPr/>
          </p:nvSpPr>
          <p:spPr bwMode="hidden">
            <a:xfrm>
              <a:off x="19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5" name="Rectangle 6"/>
            <p:cNvSpPr>
              <a:spLocks noChangeArrowheads="1"/>
            </p:cNvSpPr>
            <p:nvPr/>
          </p:nvSpPr>
          <p:spPr bwMode="hidden">
            <a:xfrm>
              <a:off x="28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6" name="Rectangle 7"/>
            <p:cNvSpPr>
              <a:spLocks noChangeArrowheads="1"/>
            </p:cNvSpPr>
            <p:nvPr/>
          </p:nvSpPr>
          <p:spPr bwMode="hidden">
            <a:xfrm>
              <a:off x="38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7" name="Rectangle 8"/>
            <p:cNvSpPr>
              <a:spLocks noChangeArrowheads="1"/>
            </p:cNvSpPr>
            <p:nvPr/>
          </p:nvSpPr>
          <p:spPr bwMode="hidden">
            <a:xfrm>
              <a:off x="48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8" name="Rectangle 9"/>
            <p:cNvSpPr>
              <a:spLocks noChangeArrowheads="1"/>
            </p:cNvSpPr>
            <p:nvPr/>
          </p:nvSpPr>
          <p:spPr bwMode="hidden">
            <a:xfrm>
              <a:off x="57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9" name="Rectangle 10"/>
            <p:cNvSpPr>
              <a:spLocks noChangeArrowheads="1"/>
            </p:cNvSpPr>
            <p:nvPr/>
          </p:nvSpPr>
          <p:spPr bwMode="hidden">
            <a:xfrm>
              <a:off x="67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0" name="Rectangle 11"/>
            <p:cNvSpPr>
              <a:spLocks noChangeArrowheads="1"/>
            </p:cNvSpPr>
            <p:nvPr/>
          </p:nvSpPr>
          <p:spPr bwMode="hidden">
            <a:xfrm>
              <a:off x="76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1" name="Rectangle 12"/>
            <p:cNvSpPr>
              <a:spLocks noChangeArrowheads="1"/>
            </p:cNvSpPr>
            <p:nvPr/>
          </p:nvSpPr>
          <p:spPr bwMode="hidden">
            <a:xfrm>
              <a:off x="86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2" name="Rectangle 13"/>
            <p:cNvSpPr>
              <a:spLocks noChangeArrowheads="1"/>
            </p:cNvSpPr>
            <p:nvPr/>
          </p:nvSpPr>
          <p:spPr bwMode="hidden">
            <a:xfrm>
              <a:off x="96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3" name="Rectangle 14"/>
            <p:cNvSpPr>
              <a:spLocks noChangeArrowheads="1"/>
            </p:cNvSpPr>
            <p:nvPr/>
          </p:nvSpPr>
          <p:spPr bwMode="hidden">
            <a:xfrm>
              <a:off x="105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4" name="Rectangle 15"/>
            <p:cNvSpPr>
              <a:spLocks noChangeArrowheads="1"/>
            </p:cNvSpPr>
            <p:nvPr/>
          </p:nvSpPr>
          <p:spPr bwMode="hidden">
            <a:xfrm>
              <a:off x="115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5" name="Rectangle 16"/>
            <p:cNvSpPr>
              <a:spLocks noChangeArrowheads="1"/>
            </p:cNvSpPr>
            <p:nvPr/>
          </p:nvSpPr>
          <p:spPr bwMode="hidden">
            <a:xfrm>
              <a:off x="124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6" name="Rectangle 17"/>
            <p:cNvSpPr>
              <a:spLocks noChangeArrowheads="1"/>
            </p:cNvSpPr>
            <p:nvPr/>
          </p:nvSpPr>
          <p:spPr bwMode="hidden">
            <a:xfrm>
              <a:off x="134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7" name="Rectangle 18"/>
            <p:cNvSpPr>
              <a:spLocks noChangeArrowheads="1"/>
            </p:cNvSpPr>
            <p:nvPr/>
          </p:nvSpPr>
          <p:spPr bwMode="hidden">
            <a:xfrm>
              <a:off x="144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8" name="Rectangle 19"/>
            <p:cNvSpPr>
              <a:spLocks noChangeArrowheads="1"/>
            </p:cNvSpPr>
            <p:nvPr/>
          </p:nvSpPr>
          <p:spPr bwMode="hidden">
            <a:xfrm>
              <a:off x="153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9" name="Rectangle 20"/>
            <p:cNvSpPr>
              <a:spLocks noChangeArrowheads="1"/>
            </p:cNvSpPr>
            <p:nvPr/>
          </p:nvSpPr>
          <p:spPr bwMode="hidden">
            <a:xfrm>
              <a:off x="163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0" name="Rectangle 21"/>
            <p:cNvSpPr>
              <a:spLocks noChangeArrowheads="1"/>
            </p:cNvSpPr>
            <p:nvPr/>
          </p:nvSpPr>
          <p:spPr bwMode="hidden">
            <a:xfrm>
              <a:off x="172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1" name="Rectangle 22"/>
            <p:cNvSpPr>
              <a:spLocks noChangeArrowheads="1"/>
            </p:cNvSpPr>
            <p:nvPr/>
          </p:nvSpPr>
          <p:spPr bwMode="hidden">
            <a:xfrm>
              <a:off x="182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2" name="Rectangle 23"/>
            <p:cNvSpPr>
              <a:spLocks noChangeArrowheads="1"/>
            </p:cNvSpPr>
            <p:nvPr/>
          </p:nvSpPr>
          <p:spPr bwMode="hidden">
            <a:xfrm>
              <a:off x="192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3" name="Rectangle 24"/>
            <p:cNvSpPr>
              <a:spLocks noChangeArrowheads="1"/>
            </p:cNvSpPr>
            <p:nvPr/>
          </p:nvSpPr>
          <p:spPr bwMode="hidden">
            <a:xfrm>
              <a:off x="201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4" name="Rectangle 25"/>
            <p:cNvSpPr>
              <a:spLocks noChangeArrowheads="1"/>
            </p:cNvSpPr>
            <p:nvPr/>
          </p:nvSpPr>
          <p:spPr bwMode="hidden">
            <a:xfrm>
              <a:off x="211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5" name="Rectangle 26"/>
            <p:cNvSpPr>
              <a:spLocks noChangeArrowheads="1"/>
            </p:cNvSpPr>
            <p:nvPr/>
          </p:nvSpPr>
          <p:spPr bwMode="hidden">
            <a:xfrm>
              <a:off x="220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6" name="Rectangle 27"/>
            <p:cNvSpPr>
              <a:spLocks noChangeArrowheads="1"/>
            </p:cNvSpPr>
            <p:nvPr/>
          </p:nvSpPr>
          <p:spPr bwMode="hidden">
            <a:xfrm>
              <a:off x="230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7" name="Rectangle 28"/>
            <p:cNvSpPr>
              <a:spLocks noChangeArrowheads="1"/>
            </p:cNvSpPr>
            <p:nvPr/>
          </p:nvSpPr>
          <p:spPr bwMode="hidden">
            <a:xfrm>
              <a:off x="240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8" name="Rectangle 29"/>
            <p:cNvSpPr>
              <a:spLocks noChangeArrowheads="1"/>
            </p:cNvSpPr>
            <p:nvPr/>
          </p:nvSpPr>
          <p:spPr bwMode="hidden">
            <a:xfrm>
              <a:off x="249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9" name="Rectangle 30"/>
            <p:cNvSpPr>
              <a:spLocks noChangeArrowheads="1"/>
            </p:cNvSpPr>
            <p:nvPr/>
          </p:nvSpPr>
          <p:spPr bwMode="hidden">
            <a:xfrm>
              <a:off x="259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0" name="Rectangle 31"/>
            <p:cNvSpPr>
              <a:spLocks noChangeArrowheads="1"/>
            </p:cNvSpPr>
            <p:nvPr/>
          </p:nvSpPr>
          <p:spPr bwMode="hidden">
            <a:xfrm>
              <a:off x="268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1" name="Rectangle 32"/>
            <p:cNvSpPr>
              <a:spLocks noChangeArrowheads="1"/>
            </p:cNvSpPr>
            <p:nvPr/>
          </p:nvSpPr>
          <p:spPr bwMode="hidden">
            <a:xfrm>
              <a:off x="278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2" name="Rectangle 33"/>
            <p:cNvSpPr>
              <a:spLocks noChangeArrowheads="1"/>
            </p:cNvSpPr>
            <p:nvPr/>
          </p:nvSpPr>
          <p:spPr bwMode="hidden">
            <a:xfrm>
              <a:off x="288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3" name="Rectangle 34"/>
            <p:cNvSpPr>
              <a:spLocks noChangeArrowheads="1"/>
            </p:cNvSpPr>
            <p:nvPr/>
          </p:nvSpPr>
          <p:spPr bwMode="hidden">
            <a:xfrm>
              <a:off x="297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4" name="Rectangle 35"/>
            <p:cNvSpPr>
              <a:spLocks noChangeArrowheads="1"/>
            </p:cNvSpPr>
            <p:nvPr/>
          </p:nvSpPr>
          <p:spPr bwMode="hidden">
            <a:xfrm>
              <a:off x="307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5" name="Rectangle 36"/>
            <p:cNvSpPr>
              <a:spLocks noChangeArrowheads="1"/>
            </p:cNvSpPr>
            <p:nvPr/>
          </p:nvSpPr>
          <p:spPr bwMode="hidden">
            <a:xfrm>
              <a:off x="316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6" name="Rectangle 37"/>
            <p:cNvSpPr>
              <a:spLocks noChangeArrowheads="1"/>
            </p:cNvSpPr>
            <p:nvPr/>
          </p:nvSpPr>
          <p:spPr bwMode="hidden">
            <a:xfrm>
              <a:off x="326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7" name="Rectangle 38"/>
            <p:cNvSpPr>
              <a:spLocks noChangeArrowheads="1"/>
            </p:cNvSpPr>
            <p:nvPr/>
          </p:nvSpPr>
          <p:spPr bwMode="hidden">
            <a:xfrm>
              <a:off x="336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8" name="Rectangle 39"/>
            <p:cNvSpPr>
              <a:spLocks noChangeArrowheads="1"/>
            </p:cNvSpPr>
            <p:nvPr/>
          </p:nvSpPr>
          <p:spPr bwMode="hidden">
            <a:xfrm>
              <a:off x="345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9" name="Rectangle 40"/>
            <p:cNvSpPr>
              <a:spLocks noChangeArrowheads="1"/>
            </p:cNvSpPr>
            <p:nvPr/>
          </p:nvSpPr>
          <p:spPr bwMode="hidden">
            <a:xfrm>
              <a:off x="355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0" name="Rectangle 41"/>
            <p:cNvSpPr>
              <a:spLocks noChangeArrowheads="1"/>
            </p:cNvSpPr>
            <p:nvPr/>
          </p:nvSpPr>
          <p:spPr bwMode="hidden">
            <a:xfrm>
              <a:off x="364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1" name="Rectangle 42"/>
            <p:cNvSpPr>
              <a:spLocks noChangeArrowheads="1"/>
            </p:cNvSpPr>
            <p:nvPr/>
          </p:nvSpPr>
          <p:spPr bwMode="hidden">
            <a:xfrm>
              <a:off x="374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2" name="Rectangle 43"/>
            <p:cNvSpPr>
              <a:spLocks noChangeArrowheads="1"/>
            </p:cNvSpPr>
            <p:nvPr/>
          </p:nvSpPr>
          <p:spPr bwMode="hidden">
            <a:xfrm>
              <a:off x="384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3" name="Rectangle 44"/>
            <p:cNvSpPr>
              <a:spLocks noChangeArrowheads="1"/>
            </p:cNvSpPr>
            <p:nvPr/>
          </p:nvSpPr>
          <p:spPr bwMode="hidden">
            <a:xfrm>
              <a:off x="393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4" name="Rectangle 45"/>
            <p:cNvSpPr>
              <a:spLocks noChangeArrowheads="1"/>
            </p:cNvSpPr>
            <p:nvPr/>
          </p:nvSpPr>
          <p:spPr bwMode="hidden">
            <a:xfrm>
              <a:off x="403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5" name="Rectangle 46"/>
            <p:cNvSpPr>
              <a:spLocks noChangeArrowheads="1"/>
            </p:cNvSpPr>
            <p:nvPr/>
          </p:nvSpPr>
          <p:spPr bwMode="hidden">
            <a:xfrm>
              <a:off x="412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6" name="Rectangle 47"/>
            <p:cNvSpPr>
              <a:spLocks noChangeArrowheads="1"/>
            </p:cNvSpPr>
            <p:nvPr/>
          </p:nvSpPr>
          <p:spPr bwMode="hidden">
            <a:xfrm>
              <a:off x="422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7" name="Rectangle 48"/>
            <p:cNvSpPr>
              <a:spLocks noChangeArrowheads="1"/>
            </p:cNvSpPr>
            <p:nvPr/>
          </p:nvSpPr>
          <p:spPr bwMode="hidden">
            <a:xfrm>
              <a:off x="432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8" name="Rectangle 49"/>
            <p:cNvSpPr>
              <a:spLocks noChangeArrowheads="1"/>
            </p:cNvSpPr>
            <p:nvPr/>
          </p:nvSpPr>
          <p:spPr bwMode="hidden">
            <a:xfrm>
              <a:off x="441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9" name="Rectangle 50"/>
            <p:cNvSpPr>
              <a:spLocks noChangeArrowheads="1"/>
            </p:cNvSpPr>
            <p:nvPr/>
          </p:nvSpPr>
          <p:spPr bwMode="hidden">
            <a:xfrm>
              <a:off x="451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0" name="Rectangle 51"/>
            <p:cNvSpPr>
              <a:spLocks noChangeArrowheads="1"/>
            </p:cNvSpPr>
            <p:nvPr/>
          </p:nvSpPr>
          <p:spPr bwMode="hidden">
            <a:xfrm>
              <a:off x="460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1" name="Rectangle 52"/>
            <p:cNvSpPr>
              <a:spLocks noChangeArrowheads="1"/>
            </p:cNvSpPr>
            <p:nvPr/>
          </p:nvSpPr>
          <p:spPr bwMode="hidden">
            <a:xfrm>
              <a:off x="470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2" name="Rectangle 53"/>
            <p:cNvSpPr>
              <a:spLocks noChangeArrowheads="1"/>
            </p:cNvSpPr>
            <p:nvPr/>
          </p:nvSpPr>
          <p:spPr bwMode="hidden">
            <a:xfrm>
              <a:off x="480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3" name="Rectangle 54"/>
            <p:cNvSpPr>
              <a:spLocks noChangeArrowheads="1"/>
            </p:cNvSpPr>
            <p:nvPr/>
          </p:nvSpPr>
          <p:spPr bwMode="hidden">
            <a:xfrm>
              <a:off x="489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4" name="Rectangle 55"/>
            <p:cNvSpPr>
              <a:spLocks noChangeArrowheads="1"/>
            </p:cNvSpPr>
            <p:nvPr/>
          </p:nvSpPr>
          <p:spPr bwMode="hidden">
            <a:xfrm>
              <a:off x="499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5" name="Rectangle 56"/>
            <p:cNvSpPr>
              <a:spLocks noChangeArrowheads="1"/>
            </p:cNvSpPr>
            <p:nvPr/>
          </p:nvSpPr>
          <p:spPr bwMode="hidden">
            <a:xfrm>
              <a:off x="508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6" name="Rectangle 57"/>
            <p:cNvSpPr>
              <a:spLocks noChangeArrowheads="1"/>
            </p:cNvSpPr>
            <p:nvPr/>
          </p:nvSpPr>
          <p:spPr bwMode="hidden">
            <a:xfrm>
              <a:off x="518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7" name="Rectangle 58"/>
            <p:cNvSpPr>
              <a:spLocks noChangeArrowheads="1"/>
            </p:cNvSpPr>
            <p:nvPr/>
          </p:nvSpPr>
          <p:spPr bwMode="hidden">
            <a:xfrm>
              <a:off x="528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8" name="Rectangle 59"/>
            <p:cNvSpPr>
              <a:spLocks noChangeArrowheads="1"/>
            </p:cNvSpPr>
            <p:nvPr/>
          </p:nvSpPr>
          <p:spPr bwMode="hidden">
            <a:xfrm>
              <a:off x="537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9" name="Rectangle 60"/>
            <p:cNvSpPr>
              <a:spLocks noChangeArrowheads="1"/>
            </p:cNvSpPr>
            <p:nvPr/>
          </p:nvSpPr>
          <p:spPr bwMode="hidden">
            <a:xfrm>
              <a:off x="547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0" name="Rectangle 61"/>
            <p:cNvSpPr>
              <a:spLocks noChangeArrowheads="1"/>
            </p:cNvSpPr>
            <p:nvPr/>
          </p:nvSpPr>
          <p:spPr bwMode="hidden">
            <a:xfrm>
              <a:off x="556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1" name="Rectangle 62"/>
            <p:cNvSpPr>
              <a:spLocks noChangeArrowheads="1"/>
            </p:cNvSpPr>
            <p:nvPr/>
          </p:nvSpPr>
          <p:spPr bwMode="hidden">
            <a:xfrm>
              <a:off x="566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2" name="Rectangle 63"/>
            <p:cNvSpPr>
              <a:spLocks noChangeArrowheads="1"/>
            </p:cNvSpPr>
            <p:nvPr/>
          </p:nvSpPr>
          <p:spPr bwMode="hidden">
            <a:xfrm>
              <a:off x="431" y="0"/>
              <a:ext cx="5331" cy="4320"/>
            </a:xfrm>
            <a:prstGeom prst="rect">
              <a:avLst/>
            </a:prstGeom>
            <a:solidFill>
              <a:schemeClr val="accent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3" name="Rectangle 64"/>
            <p:cNvSpPr>
              <a:spLocks noChangeArrowheads="1"/>
            </p:cNvSpPr>
            <p:nvPr/>
          </p:nvSpPr>
          <p:spPr bwMode="blackGray">
            <a:xfrm>
              <a:off x="0" y="1081"/>
              <a:ext cx="4378" cy="47"/>
            </a:xfrm>
            <a:prstGeom prst="rect">
              <a:avLst/>
            </a:prstGeom>
            <a:solidFill>
              <a:schemeClr val="hlink">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2" name="Rectangle 65"/>
          <p:cNvSpPr>
            <a:spLocks noGrp="1"/>
          </p:cNvSpPr>
          <p:nvPr>
            <p:ph type="title"/>
          </p:nvPr>
        </p:nvSpPr>
        <p:spPr>
          <a:xfrm>
            <a:off x="871538" y="862013"/>
            <a:ext cx="8162925" cy="762000"/>
          </a:xfrm>
          <a:prstGeom prst="rect">
            <a:avLst/>
          </a:prstGeom>
          <a:noFill/>
          <a:ln w="9525">
            <a:noFill/>
          </a:ln>
        </p:spPr>
        <p:txBody>
          <a:bodyPr anchor="b" anchorCtr="0">
            <a:spAutoFit/>
          </a:bodyPr>
          <a:lstStyle/>
          <a:p>
            <a:pPr lvl="0"/>
            <a:r>
              <a:rPr lang="zh-CN" altLang="en-US" dirty="0"/>
              <a:t>单击此处编辑母版标题样式</a:t>
            </a:r>
          </a:p>
        </p:txBody>
      </p:sp>
      <p:sp>
        <p:nvSpPr>
          <p:cNvPr id="3" name="Rectangle 66"/>
          <p:cNvSpPr>
            <a:spLocks noGrp="1"/>
          </p:cNvSpPr>
          <p:nvPr>
            <p:ph type="body"/>
          </p:nvPr>
        </p:nvSpPr>
        <p:spPr>
          <a:xfrm>
            <a:off x="912813" y="1905000"/>
            <a:ext cx="8110537" cy="41910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3315" name="Rectangle 67"/>
          <p:cNvSpPr>
            <a:spLocks noGrp="1" noChangeArrowheads="1"/>
          </p:cNvSpPr>
          <p:nvPr>
            <p:ph type="dt" sz="half" idx="2"/>
          </p:nvPr>
        </p:nvSpPr>
        <p:spPr bwMode="auto">
          <a:xfrm>
            <a:off x="1152525" y="62865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0"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3316" name="Rectangle 68"/>
          <p:cNvSpPr>
            <a:spLocks noGrp="1" noChangeArrowheads="1"/>
          </p:cNvSpPr>
          <p:nvPr>
            <p:ph type="ftr" sz="quarter" idx="3"/>
          </p:nvPr>
        </p:nvSpPr>
        <p:spPr bwMode="auto">
          <a:xfrm>
            <a:off x="3590925" y="62865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kumimoji="0" sz="1400"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3317" name="Rectangle 69"/>
          <p:cNvSpPr>
            <a:spLocks noGrp="1" noChangeArrowheads="1"/>
          </p:cNvSpPr>
          <p:nvPr>
            <p:ph type="sldNum" sz="quarter" idx="4"/>
          </p:nvPr>
        </p:nvSpPr>
        <p:spPr bwMode="auto">
          <a:xfrm>
            <a:off x="7019925" y="62865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0" sz="1400" b="0"/>
            </a:lvl1p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tx1"/>
        </a:buClr>
        <a:buSzPct val="85000"/>
        <a:buChar char="•"/>
        <a:defRPr kumimoji="1" sz="2000">
          <a:solidFill>
            <a:schemeClr val="tx1"/>
          </a:solidFill>
          <a:latin typeface="+mn-lt"/>
          <a:ea typeface="+mn-ea"/>
        </a:defRPr>
      </a:lvl5pPr>
      <a:lvl6pPr marL="2514600" indent="-228600" algn="l" rtl="0" fontAlgn="base">
        <a:spcBef>
          <a:spcPct val="20000"/>
        </a:spcBef>
        <a:spcAft>
          <a:spcPct val="0"/>
        </a:spcAft>
        <a:buClr>
          <a:schemeClr val="tx1"/>
        </a:buClr>
        <a:buSzPct val="85000"/>
        <a:buChar char="•"/>
        <a:defRPr kumimoji="1" sz="2000">
          <a:solidFill>
            <a:schemeClr val="tx1"/>
          </a:solidFill>
          <a:latin typeface="+mn-lt"/>
          <a:ea typeface="+mn-ea"/>
        </a:defRPr>
      </a:lvl6pPr>
      <a:lvl7pPr marL="2971800" indent="-228600" algn="l" rtl="0" fontAlgn="base">
        <a:spcBef>
          <a:spcPct val="20000"/>
        </a:spcBef>
        <a:spcAft>
          <a:spcPct val="0"/>
        </a:spcAft>
        <a:buClr>
          <a:schemeClr val="tx1"/>
        </a:buClr>
        <a:buSzPct val="85000"/>
        <a:buChar char="•"/>
        <a:defRPr kumimoji="1" sz="2000">
          <a:solidFill>
            <a:schemeClr val="tx1"/>
          </a:solidFill>
          <a:latin typeface="+mn-lt"/>
          <a:ea typeface="+mn-ea"/>
        </a:defRPr>
      </a:lvl7pPr>
      <a:lvl8pPr marL="3429000" indent="-228600" algn="l" rtl="0" fontAlgn="base">
        <a:spcBef>
          <a:spcPct val="20000"/>
        </a:spcBef>
        <a:spcAft>
          <a:spcPct val="0"/>
        </a:spcAft>
        <a:buClr>
          <a:schemeClr val="tx1"/>
        </a:buClr>
        <a:buSzPct val="85000"/>
        <a:buChar char="•"/>
        <a:defRPr kumimoji="1" sz="2000">
          <a:solidFill>
            <a:schemeClr val="tx1"/>
          </a:solidFill>
          <a:latin typeface="+mn-lt"/>
          <a:ea typeface="+mn-ea"/>
        </a:defRPr>
      </a:lvl8pPr>
      <a:lvl9pPr marL="3886200" indent="-228600" algn="l" rtl="0" fontAlgn="base">
        <a:spcBef>
          <a:spcPct val="20000"/>
        </a:spcBef>
        <a:spcAft>
          <a:spcPct val="0"/>
        </a:spcAft>
        <a:buClr>
          <a:schemeClr val="tx1"/>
        </a:buClr>
        <a:buSzPct val="85000"/>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71"/>
          <p:cNvGrpSpPr/>
          <p:nvPr/>
        </p:nvGrpSpPr>
        <p:grpSpPr>
          <a:xfrm>
            <a:off x="0" y="0"/>
            <a:ext cx="9147175" cy="6867525"/>
            <a:chOff x="0" y="0"/>
            <a:chExt cx="5762" cy="4326"/>
          </a:xfrm>
        </p:grpSpPr>
        <p:sp>
          <p:nvSpPr>
            <p:cNvPr id="1032" name="Rectangle 3"/>
            <p:cNvSpPr>
              <a:spLocks noChangeArrowheads="1"/>
            </p:cNvSpPr>
            <p:nvPr/>
          </p:nvSpPr>
          <p:spPr bwMode="hidden">
            <a:xfrm>
              <a:off x="0" y="0"/>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3" name="Rectangle 4"/>
            <p:cNvSpPr>
              <a:spLocks noChangeArrowheads="1"/>
            </p:cNvSpPr>
            <p:nvPr/>
          </p:nvSpPr>
          <p:spPr bwMode="hidden">
            <a:xfrm>
              <a:off x="9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4" name="Rectangle 5"/>
            <p:cNvSpPr>
              <a:spLocks noChangeArrowheads="1"/>
            </p:cNvSpPr>
            <p:nvPr/>
          </p:nvSpPr>
          <p:spPr bwMode="hidden">
            <a:xfrm>
              <a:off x="19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5" name="Rectangle 6"/>
            <p:cNvSpPr>
              <a:spLocks noChangeArrowheads="1"/>
            </p:cNvSpPr>
            <p:nvPr/>
          </p:nvSpPr>
          <p:spPr bwMode="hidden">
            <a:xfrm>
              <a:off x="28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6" name="Rectangle 7"/>
            <p:cNvSpPr>
              <a:spLocks noChangeArrowheads="1"/>
            </p:cNvSpPr>
            <p:nvPr/>
          </p:nvSpPr>
          <p:spPr bwMode="hidden">
            <a:xfrm>
              <a:off x="38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7" name="Rectangle 8"/>
            <p:cNvSpPr>
              <a:spLocks noChangeArrowheads="1"/>
            </p:cNvSpPr>
            <p:nvPr/>
          </p:nvSpPr>
          <p:spPr bwMode="hidden">
            <a:xfrm>
              <a:off x="48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8" name="Rectangle 9"/>
            <p:cNvSpPr>
              <a:spLocks noChangeArrowheads="1"/>
            </p:cNvSpPr>
            <p:nvPr/>
          </p:nvSpPr>
          <p:spPr bwMode="hidden">
            <a:xfrm>
              <a:off x="57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9" name="Rectangle 10"/>
            <p:cNvSpPr>
              <a:spLocks noChangeArrowheads="1"/>
            </p:cNvSpPr>
            <p:nvPr/>
          </p:nvSpPr>
          <p:spPr bwMode="hidden">
            <a:xfrm>
              <a:off x="67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0" name="Rectangle 11"/>
            <p:cNvSpPr>
              <a:spLocks noChangeArrowheads="1"/>
            </p:cNvSpPr>
            <p:nvPr/>
          </p:nvSpPr>
          <p:spPr bwMode="hidden">
            <a:xfrm>
              <a:off x="76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1" name="Rectangle 12"/>
            <p:cNvSpPr>
              <a:spLocks noChangeArrowheads="1"/>
            </p:cNvSpPr>
            <p:nvPr/>
          </p:nvSpPr>
          <p:spPr bwMode="hidden">
            <a:xfrm>
              <a:off x="86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2" name="Rectangle 13"/>
            <p:cNvSpPr>
              <a:spLocks noChangeArrowheads="1"/>
            </p:cNvSpPr>
            <p:nvPr/>
          </p:nvSpPr>
          <p:spPr bwMode="hidden">
            <a:xfrm>
              <a:off x="96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3" name="Rectangle 14"/>
            <p:cNvSpPr>
              <a:spLocks noChangeArrowheads="1"/>
            </p:cNvSpPr>
            <p:nvPr/>
          </p:nvSpPr>
          <p:spPr bwMode="hidden">
            <a:xfrm>
              <a:off x="105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4" name="Rectangle 15"/>
            <p:cNvSpPr>
              <a:spLocks noChangeArrowheads="1"/>
            </p:cNvSpPr>
            <p:nvPr/>
          </p:nvSpPr>
          <p:spPr bwMode="hidden">
            <a:xfrm>
              <a:off x="115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5" name="Rectangle 16"/>
            <p:cNvSpPr>
              <a:spLocks noChangeArrowheads="1"/>
            </p:cNvSpPr>
            <p:nvPr/>
          </p:nvSpPr>
          <p:spPr bwMode="hidden">
            <a:xfrm>
              <a:off x="124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6" name="Rectangle 17"/>
            <p:cNvSpPr>
              <a:spLocks noChangeArrowheads="1"/>
            </p:cNvSpPr>
            <p:nvPr/>
          </p:nvSpPr>
          <p:spPr bwMode="hidden">
            <a:xfrm>
              <a:off x="134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7" name="Rectangle 18"/>
            <p:cNvSpPr>
              <a:spLocks noChangeArrowheads="1"/>
            </p:cNvSpPr>
            <p:nvPr/>
          </p:nvSpPr>
          <p:spPr bwMode="hidden">
            <a:xfrm>
              <a:off x="144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8" name="Rectangle 19"/>
            <p:cNvSpPr>
              <a:spLocks noChangeArrowheads="1"/>
            </p:cNvSpPr>
            <p:nvPr/>
          </p:nvSpPr>
          <p:spPr bwMode="hidden">
            <a:xfrm>
              <a:off x="153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49" name="Rectangle 20"/>
            <p:cNvSpPr>
              <a:spLocks noChangeArrowheads="1"/>
            </p:cNvSpPr>
            <p:nvPr/>
          </p:nvSpPr>
          <p:spPr bwMode="hidden">
            <a:xfrm>
              <a:off x="163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0" name="Rectangle 21"/>
            <p:cNvSpPr>
              <a:spLocks noChangeArrowheads="1"/>
            </p:cNvSpPr>
            <p:nvPr/>
          </p:nvSpPr>
          <p:spPr bwMode="hidden">
            <a:xfrm>
              <a:off x="172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1" name="Rectangle 22"/>
            <p:cNvSpPr>
              <a:spLocks noChangeArrowheads="1"/>
            </p:cNvSpPr>
            <p:nvPr/>
          </p:nvSpPr>
          <p:spPr bwMode="hidden">
            <a:xfrm>
              <a:off x="182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2" name="Rectangle 23"/>
            <p:cNvSpPr>
              <a:spLocks noChangeArrowheads="1"/>
            </p:cNvSpPr>
            <p:nvPr/>
          </p:nvSpPr>
          <p:spPr bwMode="hidden">
            <a:xfrm>
              <a:off x="192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3" name="Rectangle 24"/>
            <p:cNvSpPr>
              <a:spLocks noChangeArrowheads="1"/>
            </p:cNvSpPr>
            <p:nvPr/>
          </p:nvSpPr>
          <p:spPr bwMode="hidden">
            <a:xfrm>
              <a:off x="201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4" name="Rectangle 25"/>
            <p:cNvSpPr>
              <a:spLocks noChangeArrowheads="1"/>
            </p:cNvSpPr>
            <p:nvPr/>
          </p:nvSpPr>
          <p:spPr bwMode="hidden">
            <a:xfrm>
              <a:off x="211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5" name="Rectangle 26"/>
            <p:cNvSpPr>
              <a:spLocks noChangeArrowheads="1"/>
            </p:cNvSpPr>
            <p:nvPr/>
          </p:nvSpPr>
          <p:spPr bwMode="hidden">
            <a:xfrm>
              <a:off x="220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6" name="Rectangle 27"/>
            <p:cNvSpPr>
              <a:spLocks noChangeArrowheads="1"/>
            </p:cNvSpPr>
            <p:nvPr/>
          </p:nvSpPr>
          <p:spPr bwMode="hidden">
            <a:xfrm>
              <a:off x="230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7" name="Rectangle 28"/>
            <p:cNvSpPr>
              <a:spLocks noChangeArrowheads="1"/>
            </p:cNvSpPr>
            <p:nvPr/>
          </p:nvSpPr>
          <p:spPr bwMode="hidden">
            <a:xfrm>
              <a:off x="240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8" name="Rectangle 29"/>
            <p:cNvSpPr>
              <a:spLocks noChangeArrowheads="1"/>
            </p:cNvSpPr>
            <p:nvPr/>
          </p:nvSpPr>
          <p:spPr bwMode="hidden">
            <a:xfrm>
              <a:off x="249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59" name="Rectangle 30"/>
            <p:cNvSpPr>
              <a:spLocks noChangeArrowheads="1"/>
            </p:cNvSpPr>
            <p:nvPr/>
          </p:nvSpPr>
          <p:spPr bwMode="hidden">
            <a:xfrm>
              <a:off x="259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0" name="Rectangle 31"/>
            <p:cNvSpPr>
              <a:spLocks noChangeArrowheads="1"/>
            </p:cNvSpPr>
            <p:nvPr/>
          </p:nvSpPr>
          <p:spPr bwMode="hidden">
            <a:xfrm>
              <a:off x="268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1" name="Rectangle 32"/>
            <p:cNvSpPr>
              <a:spLocks noChangeArrowheads="1"/>
            </p:cNvSpPr>
            <p:nvPr/>
          </p:nvSpPr>
          <p:spPr bwMode="hidden">
            <a:xfrm>
              <a:off x="278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2" name="Rectangle 33"/>
            <p:cNvSpPr>
              <a:spLocks noChangeArrowheads="1"/>
            </p:cNvSpPr>
            <p:nvPr/>
          </p:nvSpPr>
          <p:spPr bwMode="hidden">
            <a:xfrm>
              <a:off x="288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3" name="Rectangle 34"/>
            <p:cNvSpPr>
              <a:spLocks noChangeArrowheads="1"/>
            </p:cNvSpPr>
            <p:nvPr/>
          </p:nvSpPr>
          <p:spPr bwMode="hidden">
            <a:xfrm>
              <a:off x="297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4" name="Rectangle 35"/>
            <p:cNvSpPr>
              <a:spLocks noChangeArrowheads="1"/>
            </p:cNvSpPr>
            <p:nvPr/>
          </p:nvSpPr>
          <p:spPr bwMode="hidden">
            <a:xfrm>
              <a:off x="307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5" name="Rectangle 36"/>
            <p:cNvSpPr>
              <a:spLocks noChangeArrowheads="1"/>
            </p:cNvSpPr>
            <p:nvPr/>
          </p:nvSpPr>
          <p:spPr bwMode="hidden">
            <a:xfrm>
              <a:off x="316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6" name="Rectangle 37"/>
            <p:cNvSpPr>
              <a:spLocks noChangeArrowheads="1"/>
            </p:cNvSpPr>
            <p:nvPr/>
          </p:nvSpPr>
          <p:spPr bwMode="hidden">
            <a:xfrm>
              <a:off x="326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7" name="Rectangle 38"/>
            <p:cNvSpPr>
              <a:spLocks noChangeArrowheads="1"/>
            </p:cNvSpPr>
            <p:nvPr/>
          </p:nvSpPr>
          <p:spPr bwMode="hidden">
            <a:xfrm>
              <a:off x="336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8" name="Rectangle 39"/>
            <p:cNvSpPr>
              <a:spLocks noChangeArrowheads="1"/>
            </p:cNvSpPr>
            <p:nvPr/>
          </p:nvSpPr>
          <p:spPr bwMode="hidden">
            <a:xfrm>
              <a:off x="345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69" name="Rectangle 40"/>
            <p:cNvSpPr>
              <a:spLocks noChangeArrowheads="1"/>
            </p:cNvSpPr>
            <p:nvPr/>
          </p:nvSpPr>
          <p:spPr bwMode="hidden">
            <a:xfrm>
              <a:off x="355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0" name="Rectangle 41"/>
            <p:cNvSpPr>
              <a:spLocks noChangeArrowheads="1"/>
            </p:cNvSpPr>
            <p:nvPr/>
          </p:nvSpPr>
          <p:spPr bwMode="hidden">
            <a:xfrm>
              <a:off x="364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1" name="Rectangle 42"/>
            <p:cNvSpPr>
              <a:spLocks noChangeArrowheads="1"/>
            </p:cNvSpPr>
            <p:nvPr/>
          </p:nvSpPr>
          <p:spPr bwMode="hidden">
            <a:xfrm>
              <a:off x="374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2" name="Rectangle 43"/>
            <p:cNvSpPr>
              <a:spLocks noChangeArrowheads="1"/>
            </p:cNvSpPr>
            <p:nvPr/>
          </p:nvSpPr>
          <p:spPr bwMode="hidden">
            <a:xfrm>
              <a:off x="384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3" name="Rectangle 44"/>
            <p:cNvSpPr>
              <a:spLocks noChangeArrowheads="1"/>
            </p:cNvSpPr>
            <p:nvPr/>
          </p:nvSpPr>
          <p:spPr bwMode="hidden">
            <a:xfrm>
              <a:off x="393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4" name="Rectangle 45"/>
            <p:cNvSpPr>
              <a:spLocks noChangeArrowheads="1"/>
            </p:cNvSpPr>
            <p:nvPr/>
          </p:nvSpPr>
          <p:spPr bwMode="hidden">
            <a:xfrm>
              <a:off x="403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5" name="Rectangle 46"/>
            <p:cNvSpPr>
              <a:spLocks noChangeArrowheads="1"/>
            </p:cNvSpPr>
            <p:nvPr/>
          </p:nvSpPr>
          <p:spPr bwMode="hidden">
            <a:xfrm>
              <a:off x="412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6" name="Rectangle 47"/>
            <p:cNvSpPr>
              <a:spLocks noChangeArrowheads="1"/>
            </p:cNvSpPr>
            <p:nvPr/>
          </p:nvSpPr>
          <p:spPr bwMode="hidden">
            <a:xfrm>
              <a:off x="422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7" name="Rectangle 48"/>
            <p:cNvSpPr>
              <a:spLocks noChangeArrowheads="1"/>
            </p:cNvSpPr>
            <p:nvPr/>
          </p:nvSpPr>
          <p:spPr bwMode="hidden">
            <a:xfrm>
              <a:off x="432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8" name="Rectangle 49"/>
            <p:cNvSpPr>
              <a:spLocks noChangeArrowheads="1"/>
            </p:cNvSpPr>
            <p:nvPr/>
          </p:nvSpPr>
          <p:spPr bwMode="hidden">
            <a:xfrm>
              <a:off x="441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79" name="Rectangle 50"/>
            <p:cNvSpPr>
              <a:spLocks noChangeArrowheads="1"/>
            </p:cNvSpPr>
            <p:nvPr/>
          </p:nvSpPr>
          <p:spPr bwMode="hidden">
            <a:xfrm>
              <a:off x="451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0" name="Rectangle 51"/>
            <p:cNvSpPr>
              <a:spLocks noChangeArrowheads="1"/>
            </p:cNvSpPr>
            <p:nvPr/>
          </p:nvSpPr>
          <p:spPr bwMode="hidden">
            <a:xfrm>
              <a:off x="460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1" name="Rectangle 52"/>
            <p:cNvSpPr>
              <a:spLocks noChangeArrowheads="1"/>
            </p:cNvSpPr>
            <p:nvPr/>
          </p:nvSpPr>
          <p:spPr bwMode="hidden">
            <a:xfrm>
              <a:off x="470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2" name="Rectangle 53"/>
            <p:cNvSpPr>
              <a:spLocks noChangeArrowheads="1"/>
            </p:cNvSpPr>
            <p:nvPr/>
          </p:nvSpPr>
          <p:spPr bwMode="hidden">
            <a:xfrm>
              <a:off x="480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3" name="Rectangle 54"/>
            <p:cNvSpPr>
              <a:spLocks noChangeArrowheads="1"/>
            </p:cNvSpPr>
            <p:nvPr/>
          </p:nvSpPr>
          <p:spPr bwMode="hidden">
            <a:xfrm>
              <a:off x="489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4" name="Rectangle 55"/>
            <p:cNvSpPr>
              <a:spLocks noChangeArrowheads="1"/>
            </p:cNvSpPr>
            <p:nvPr/>
          </p:nvSpPr>
          <p:spPr bwMode="hidden">
            <a:xfrm>
              <a:off x="499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5" name="Rectangle 56"/>
            <p:cNvSpPr>
              <a:spLocks noChangeArrowheads="1"/>
            </p:cNvSpPr>
            <p:nvPr/>
          </p:nvSpPr>
          <p:spPr bwMode="hidden">
            <a:xfrm>
              <a:off x="508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6" name="Rectangle 57"/>
            <p:cNvSpPr>
              <a:spLocks noChangeArrowheads="1"/>
            </p:cNvSpPr>
            <p:nvPr/>
          </p:nvSpPr>
          <p:spPr bwMode="hidden">
            <a:xfrm>
              <a:off x="518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7" name="Rectangle 58"/>
            <p:cNvSpPr>
              <a:spLocks noChangeArrowheads="1"/>
            </p:cNvSpPr>
            <p:nvPr/>
          </p:nvSpPr>
          <p:spPr bwMode="hidden">
            <a:xfrm>
              <a:off x="5280"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8" name="Rectangle 59"/>
            <p:cNvSpPr>
              <a:spLocks noChangeArrowheads="1"/>
            </p:cNvSpPr>
            <p:nvPr/>
          </p:nvSpPr>
          <p:spPr bwMode="hidden">
            <a:xfrm>
              <a:off x="5376"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89" name="Rectangle 60"/>
            <p:cNvSpPr>
              <a:spLocks noChangeArrowheads="1"/>
            </p:cNvSpPr>
            <p:nvPr/>
          </p:nvSpPr>
          <p:spPr bwMode="hidden">
            <a:xfrm>
              <a:off x="5472"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0" name="Rectangle 61"/>
            <p:cNvSpPr>
              <a:spLocks noChangeArrowheads="1"/>
            </p:cNvSpPr>
            <p:nvPr/>
          </p:nvSpPr>
          <p:spPr bwMode="hidden">
            <a:xfrm>
              <a:off x="5568"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1" name="Rectangle 62"/>
            <p:cNvSpPr>
              <a:spLocks noChangeArrowheads="1"/>
            </p:cNvSpPr>
            <p:nvPr/>
          </p:nvSpPr>
          <p:spPr bwMode="hidden">
            <a:xfrm>
              <a:off x="5664" y="6"/>
              <a:ext cx="48" cy="4320"/>
            </a:xfrm>
            <a:prstGeom prst="rect">
              <a:avLst/>
            </a:prstGeom>
            <a:solidFill>
              <a:schemeClr val="accent2"/>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2" name="Rectangle 63"/>
            <p:cNvSpPr>
              <a:spLocks noChangeArrowheads="1"/>
            </p:cNvSpPr>
            <p:nvPr/>
          </p:nvSpPr>
          <p:spPr bwMode="hidden">
            <a:xfrm>
              <a:off x="431" y="0"/>
              <a:ext cx="5331" cy="4320"/>
            </a:xfrm>
            <a:prstGeom prst="rect">
              <a:avLst/>
            </a:prstGeom>
            <a:solidFill>
              <a:schemeClr val="accent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93" name="Rectangle 64"/>
            <p:cNvSpPr>
              <a:spLocks noChangeArrowheads="1"/>
            </p:cNvSpPr>
            <p:nvPr/>
          </p:nvSpPr>
          <p:spPr bwMode="blackGray">
            <a:xfrm>
              <a:off x="0" y="1081"/>
              <a:ext cx="4378" cy="47"/>
            </a:xfrm>
            <a:prstGeom prst="rect">
              <a:avLst/>
            </a:prstGeom>
            <a:solidFill>
              <a:schemeClr val="hlink">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2" name="Rectangle 65"/>
          <p:cNvSpPr>
            <a:spLocks noGrp="1"/>
          </p:cNvSpPr>
          <p:nvPr>
            <p:ph type="title"/>
          </p:nvPr>
        </p:nvSpPr>
        <p:spPr>
          <a:xfrm>
            <a:off x="871538" y="862013"/>
            <a:ext cx="8162925" cy="762000"/>
          </a:xfrm>
          <a:prstGeom prst="rect">
            <a:avLst/>
          </a:prstGeom>
          <a:noFill/>
          <a:ln w="9525">
            <a:noFill/>
          </a:ln>
        </p:spPr>
        <p:txBody>
          <a:bodyPr anchor="b" anchorCtr="0">
            <a:spAutoFit/>
          </a:bodyPr>
          <a:lstStyle/>
          <a:p>
            <a:pPr lvl="0"/>
            <a:r>
              <a:rPr lang="zh-CN" altLang="en-US" dirty="0"/>
              <a:t>单击此处编辑母版标题样式</a:t>
            </a:r>
          </a:p>
        </p:txBody>
      </p:sp>
      <p:sp>
        <p:nvSpPr>
          <p:cNvPr id="3" name="Rectangle 66"/>
          <p:cNvSpPr>
            <a:spLocks noGrp="1"/>
          </p:cNvSpPr>
          <p:nvPr>
            <p:ph type="body"/>
          </p:nvPr>
        </p:nvSpPr>
        <p:spPr>
          <a:xfrm>
            <a:off x="912813" y="1905000"/>
            <a:ext cx="8110537" cy="4191000"/>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3315" name="Rectangle 67"/>
          <p:cNvSpPr>
            <a:spLocks noGrp="1" noChangeArrowheads="1"/>
          </p:cNvSpPr>
          <p:nvPr>
            <p:ph type="dt" sz="half" idx="2"/>
          </p:nvPr>
        </p:nvSpPr>
        <p:spPr bwMode="auto">
          <a:xfrm>
            <a:off x="1152525" y="62865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0"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3316" name="Rectangle 68"/>
          <p:cNvSpPr>
            <a:spLocks noGrp="1" noChangeArrowheads="1"/>
          </p:cNvSpPr>
          <p:nvPr>
            <p:ph type="ftr" sz="quarter" idx="3"/>
          </p:nvPr>
        </p:nvSpPr>
        <p:spPr bwMode="auto">
          <a:xfrm>
            <a:off x="3590925" y="62865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kumimoji="0" sz="1400"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3317" name="Rectangle 69"/>
          <p:cNvSpPr>
            <a:spLocks noGrp="1" noChangeArrowheads="1"/>
          </p:cNvSpPr>
          <p:nvPr>
            <p:ph type="sldNum" sz="quarter" idx="4"/>
          </p:nvPr>
        </p:nvSpPr>
        <p:spPr bwMode="auto">
          <a:xfrm>
            <a:off x="7019925" y="62865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0" sz="1400" b="0"/>
            </a:lvl1pPr>
          </a:lstStyle>
          <a:p>
            <a:pPr marL="0" marR="0" lvl="0" indent="0" algn="r" defTabSz="914400" rtl="0" eaLnBrk="1" fontAlgn="base" latinLnBrk="0" hangingPunct="1">
              <a:lnSpc>
                <a:spcPct val="100000"/>
              </a:lnSpc>
              <a:spcBef>
                <a:spcPct val="0"/>
              </a:spcBef>
              <a:spcAft>
                <a:spcPct val="0"/>
              </a:spcAft>
              <a:buClrTx/>
              <a:buSzTx/>
              <a:buFontTx/>
              <a:buNone/>
              <a:defRPr/>
            </a:pPr>
            <a:fld id="{AC2CF31A-82F7-4DEE-BB8C-91C2A2EEAE6F}" type="slidenum">
              <a:rPr kumimoji="0" lang="zh-CN" altLang="en-US" sz="1400" b="0" i="0" u="none" strike="noStrike" kern="1200" cap="none" spc="0" normalizeH="0" baseline="0" noProof="0" smtClean="0">
                <a:ln>
                  <a:noFill/>
                </a:ln>
                <a:solidFill>
                  <a:schemeClr val="tx1"/>
                </a:solidFill>
                <a:effectLst/>
                <a:uLnTx/>
                <a:uFillTx/>
                <a:latin typeface="Verdan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75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70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tx1"/>
        </a:buClr>
        <a:buSzPct val="85000"/>
        <a:buChar char="•"/>
        <a:defRPr kumimoji="1" sz="2000">
          <a:solidFill>
            <a:schemeClr val="tx1"/>
          </a:solidFill>
          <a:latin typeface="+mn-lt"/>
          <a:ea typeface="+mn-ea"/>
        </a:defRPr>
      </a:lvl5pPr>
      <a:lvl6pPr marL="2514600" indent="-228600" algn="l" rtl="0" fontAlgn="base">
        <a:spcBef>
          <a:spcPct val="20000"/>
        </a:spcBef>
        <a:spcAft>
          <a:spcPct val="0"/>
        </a:spcAft>
        <a:buClr>
          <a:schemeClr val="tx1"/>
        </a:buClr>
        <a:buSzPct val="85000"/>
        <a:buChar char="•"/>
        <a:defRPr kumimoji="1" sz="2000">
          <a:solidFill>
            <a:schemeClr val="tx1"/>
          </a:solidFill>
          <a:latin typeface="+mn-lt"/>
          <a:ea typeface="+mn-ea"/>
        </a:defRPr>
      </a:lvl6pPr>
      <a:lvl7pPr marL="2971800" indent="-228600" algn="l" rtl="0" fontAlgn="base">
        <a:spcBef>
          <a:spcPct val="20000"/>
        </a:spcBef>
        <a:spcAft>
          <a:spcPct val="0"/>
        </a:spcAft>
        <a:buClr>
          <a:schemeClr val="tx1"/>
        </a:buClr>
        <a:buSzPct val="85000"/>
        <a:buChar char="•"/>
        <a:defRPr kumimoji="1" sz="2000">
          <a:solidFill>
            <a:schemeClr val="tx1"/>
          </a:solidFill>
          <a:latin typeface="+mn-lt"/>
          <a:ea typeface="+mn-ea"/>
        </a:defRPr>
      </a:lvl7pPr>
      <a:lvl8pPr marL="3429000" indent="-228600" algn="l" rtl="0" fontAlgn="base">
        <a:spcBef>
          <a:spcPct val="20000"/>
        </a:spcBef>
        <a:spcAft>
          <a:spcPct val="0"/>
        </a:spcAft>
        <a:buClr>
          <a:schemeClr val="tx1"/>
        </a:buClr>
        <a:buSzPct val="85000"/>
        <a:buChar char="•"/>
        <a:defRPr kumimoji="1" sz="2000">
          <a:solidFill>
            <a:schemeClr val="tx1"/>
          </a:solidFill>
          <a:latin typeface="+mn-lt"/>
          <a:ea typeface="+mn-ea"/>
        </a:defRPr>
      </a:lvl8pPr>
      <a:lvl9pPr marL="3886200" indent="-228600" algn="l" rtl="0" fontAlgn="base">
        <a:spcBef>
          <a:spcPct val="20000"/>
        </a:spcBef>
        <a:spcAft>
          <a:spcPct val="0"/>
        </a:spcAft>
        <a:buClr>
          <a:schemeClr val="tx1"/>
        </a:buClr>
        <a:buSzPct val="85000"/>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wmf"/><Relationship Id="rId7"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4.jpeg"/><Relationship Id="rId7"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image" Target="../media/image9.png"/><Relationship Id="rId4" Type="http://schemas.openxmlformats.org/officeDocument/2006/relationships/customXml" Target="../ink/ink5.xml"/><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5.GIF"/><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customXml" Target="../ink/ink9.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customXml" Target="../ink/ink1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0.png"/><Relationship Id="rId12" Type="http://schemas.openxmlformats.org/officeDocument/2006/relationships/customXml" Target="../ink/ink17.xml"/><Relationship Id="rId2" Type="http://schemas.openxmlformats.org/officeDocument/2006/relationships/customXml" Target="../ink/ink12.xml"/><Relationship Id="rId1" Type="http://schemas.openxmlformats.org/officeDocument/2006/relationships/slideLayout" Target="../slideLayouts/slideLayout2.xml"/><Relationship Id="rId6" Type="http://schemas.openxmlformats.org/officeDocument/2006/relationships/customXml" Target="../ink/ink14.xml"/><Relationship Id="rId11" Type="http://schemas.openxmlformats.org/officeDocument/2006/relationships/image" Target="../media/image22.png"/><Relationship Id="rId5" Type="http://schemas.openxmlformats.org/officeDocument/2006/relationships/image" Target="../media/image19.png"/><Relationship Id="rId10" Type="http://schemas.openxmlformats.org/officeDocument/2006/relationships/customXml" Target="../ink/ink16.xml"/><Relationship Id="rId4" Type="http://schemas.openxmlformats.org/officeDocument/2006/relationships/customXml" Target="../ink/ink13.xml"/><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13" Type="http://schemas.openxmlformats.org/officeDocument/2006/relationships/image" Target="../media/image29.png"/><Relationship Id="rId18" Type="http://schemas.openxmlformats.org/officeDocument/2006/relationships/customXml" Target="../ink/ink26.xml"/><Relationship Id="rId26" Type="http://schemas.openxmlformats.org/officeDocument/2006/relationships/customXml" Target="../ink/ink30.xml"/><Relationship Id="rId39" Type="http://schemas.openxmlformats.org/officeDocument/2006/relationships/image" Target="../media/image42.png"/><Relationship Id="rId21" Type="http://schemas.openxmlformats.org/officeDocument/2006/relationships/image" Target="../media/image33.png"/><Relationship Id="rId34" Type="http://schemas.openxmlformats.org/officeDocument/2006/relationships/customXml" Target="../ink/ink34.xml"/><Relationship Id="rId7" Type="http://schemas.openxmlformats.org/officeDocument/2006/relationships/image" Target="../media/image26.png"/><Relationship Id="rId12" Type="http://schemas.openxmlformats.org/officeDocument/2006/relationships/customXml" Target="../ink/ink23.xml"/><Relationship Id="rId17" Type="http://schemas.openxmlformats.org/officeDocument/2006/relationships/image" Target="../media/image31.png"/><Relationship Id="rId25" Type="http://schemas.openxmlformats.org/officeDocument/2006/relationships/image" Target="../media/image35.png"/><Relationship Id="rId33" Type="http://schemas.openxmlformats.org/officeDocument/2006/relationships/image" Target="../media/image39.png"/><Relationship Id="rId38" Type="http://schemas.openxmlformats.org/officeDocument/2006/relationships/customXml" Target="../ink/ink36.xml"/><Relationship Id="rId2" Type="http://schemas.openxmlformats.org/officeDocument/2006/relationships/customXml" Target="../ink/ink18.xml"/><Relationship Id="rId16" Type="http://schemas.openxmlformats.org/officeDocument/2006/relationships/customXml" Target="../ink/ink25.xml"/><Relationship Id="rId20" Type="http://schemas.openxmlformats.org/officeDocument/2006/relationships/customXml" Target="../ink/ink27.xml"/><Relationship Id="rId29"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customXml" Target="../ink/ink20.xml"/><Relationship Id="rId11" Type="http://schemas.openxmlformats.org/officeDocument/2006/relationships/image" Target="../media/image28.png"/><Relationship Id="rId24" Type="http://schemas.openxmlformats.org/officeDocument/2006/relationships/customXml" Target="../ink/ink29.xml"/><Relationship Id="rId32" Type="http://schemas.openxmlformats.org/officeDocument/2006/relationships/customXml" Target="../ink/ink33.xml"/><Relationship Id="rId37" Type="http://schemas.openxmlformats.org/officeDocument/2006/relationships/image" Target="../media/image41.png"/><Relationship Id="rId5" Type="http://schemas.openxmlformats.org/officeDocument/2006/relationships/image" Target="../media/image25.png"/><Relationship Id="rId15" Type="http://schemas.openxmlformats.org/officeDocument/2006/relationships/image" Target="../media/image30.png"/><Relationship Id="rId23" Type="http://schemas.openxmlformats.org/officeDocument/2006/relationships/image" Target="../media/image34.png"/><Relationship Id="rId28" Type="http://schemas.openxmlformats.org/officeDocument/2006/relationships/customXml" Target="../ink/ink31.xml"/><Relationship Id="rId36" Type="http://schemas.openxmlformats.org/officeDocument/2006/relationships/customXml" Target="../ink/ink35.xml"/><Relationship Id="rId10" Type="http://schemas.openxmlformats.org/officeDocument/2006/relationships/customXml" Target="../ink/ink22.xml"/><Relationship Id="rId19" Type="http://schemas.openxmlformats.org/officeDocument/2006/relationships/image" Target="../media/image32.png"/><Relationship Id="rId31" Type="http://schemas.openxmlformats.org/officeDocument/2006/relationships/image" Target="../media/image38.png"/><Relationship Id="rId4" Type="http://schemas.openxmlformats.org/officeDocument/2006/relationships/customXml" Target="../ink/ink19.xml"/><Relationship Id="rId9" Type="http://schemas.openxmlformats.org/officeDocument/2006/relationships/image" Target="../media/image27.png"/><Relationship Id="rId14" Type="http://schemas.openxmlformats.org/officeDocument/2006/relationships/customXml" Target="../ink/ink24.xml"/><Relationship Id="rId22" Type="http://schemas.openxmlformats.org/officeDocument/2006/relationships/customXml" Target="../ink/ink28.xml"/><Relationship Id="rId27" Type="http://schemas.openxmlformats.org/officeDocument/2006/relationships/image" Target="../media/image36.png"/><Relationship Id="rId30" Type="http://schemas.openxmlformats.org/officeDocument/2006/relationships/customXml" Target="../ink/ink32.xml"/><Relationship Id="rId35" Type="http://schemas.openxmlformats.org/officeDocument/2006/relationships/image" Target="../media/image40.png"/><Relationship Id="rId8" Type="http://schemas.openxmlformats.org/officeDocument/2006/relationships/customXml" Target="../ink/ink2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customXml" Target="../ink/ink37.xml"/><Relationship Id="rId7" Type="http://schemas.openxmlformats.org/officeDocument/2006/relationships/customXml" Target="../ink/ink39.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customXml" Target="../ink/ink38.xml"/><Relationship Id="rId10" Type="http://schemas.openxmlformats.org/officeDocument/2006/relationships/image" Target="../media/image47.png"/><Relationship Id="rId4" Type="http://schemas.openxmlformats.org/officeDocument/2006/relationships/image" Target="../media/image44.png"/><Relationship Id="rId9" Type="http://schemas.openxmlformats.org/officeDocument/2006/relationships/customXml" Target="../ink/ink40.xml"/></Relationships>
</file>

<file path=ppt/slides/_rels/slide13.xml.rels><?xml version="1.0" encoding="UTF-8" standalone="yes"?>
<Relationships xmlns="http://schemas.openxmlformats.org/package/2006/relationships"><Relationship Id="rId8" Type="http://schemas.openxmlformats.org/officeDocument/2006/relationships/customXml" Target="../ink/ink43.xml"/><Relationship Id="rId13" Type="http://schemas.openxmlformats.org/officeDocument/2006/relationships/image" Target="../media/image53.png"/><Relationship Id="rId18" Type="http://schemas.openxmlformats.org/officeDocument/2006/relationships/customXml" Target="../ink/ink48.xml"/><Relationship Id="rId3" Type="http://schemas.openxmlformats.org/officeDocument/2006/relationships/image" Target="../media/image8.png"/><Relationship Id="rId21" Type="http://schemas.openxmlformats.org/officeDocument/2006/relationships/image" Target="../media/image57.png"/><Relationship Id="rId7" Type="http://schemas.openxmlformats.org/officeDocument/2006/relationships/image" Target="../media/image50.png"/><Relationship Id="rId12" Type="http://schemas.openxmlformats.org/officeDocument/2006/relationships/customXml" Target="../ink/ink45.xml"/><Relationship Id="rId17" Type="http://schemas.openxmlformats.org/officeDocument/2006/relationships/image" Target="../media/image55.png"/><Relationship Id="rId2" Type="http://schemas.openxmlformats.org/officeDocument/2006/relationships/notesSlide" Target="../notesSlides/notesSlide2.xml"/><Relationship Id="rId16" Type="http://schemas.openxmlformats.org/officeDocument/2006/relationships/customXml" Target="../ink/ink47.xml"/><Relationship Id="rId20" Type="http://schemas.openxmlformats.org/officeDocument/2006/relationships/customXml" Target="../ink/ink49.xml"/><Relationship Id="rId1" Type="http://schemas.openxmlformats.org/officeDocument/2006/relationships/slideLayout" Target="../slideLayouts/slideLayout2.xml"/><Relationship Id="rId6" Type="http://schemas.openxmlformats.org/officeDocument/2006/relationships/customXml" Target="../ink/ink42.xml"/><Relationship Id="rId11" Type="http://schemas.openxmlformats.org/officeDocument/2006/relationships/image" Target="../media/image52.png"/><Relationship Id="rId5" Type="http://schemas.openxmlformats.org/officeDocument/2006/relationships/image" Target="../media/image49.png"/><Relationship Id="rId15" Type="http://schemas.openxmlformats.org/officeDocument/2006/relationships/image" Target="../media/image54.png"/><Relationship Id="rId10" Type="http://schemas.openxmlformats.org/officeDocument/2006/relationships/customXml" Target="../ink/ink44.xml"/><Relationship Id="rId19" Type="http://schemas.openxmlformats.org/officeDocument/2006/relationships/image" Target="../media/image56.png"/><Relationship Id="rId4" Type="http://schemas.openxmlformats.org/officeDocument/2006/relationships/customXml" Target="../ink/ink41.xml"/><Relationship Id="rId9" Type="http://schemas.openxmlformats.org/officeDocument/2006/relationships/image" Target="../media/image51.png"/><Relationship Id="rId14" Type="http://schemas.openxmlformats.org/officeDocument/2006/relationships/customXml" Target="../ink/ink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customXml" Target="../ink/ink5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51.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customXml" Target="../ink/ink52.xml"/><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4.png"/><Relationship Id="rId2" Type="http://schemas.openxmlformats.org/officeDocument/2006/relationships/customXml" Target="../ink/ink53.xml"/><Relationship Id="rId1" Type="http://schemas.openxmlformats.org/officeDocument/2006/relationships/slideLayout" Target="../slideLayouts/slideLayout2.xml"/><Relationship Id="rId6" Type="http://schemas.openxmlformats.org/officeDocument/2006/relationships/customXml" Target="../ink/ink55.xml"/><Relationship Id="rId5" Type="http://schemas.openxmlformats.org/officeDocument/2006/relationships/image" Target="../media/image63.png"/><Relationship Id="rId4" Type="http://schemas.openxmlformats.org/officeDocument/2006/relationships/customXml" Target="../ink/ink5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5.bin"/><Relationship Id="rId1" Type="http://schemas.openxmlformats.org/officeDocument/2006/relationships/slideLayout" Target="../slideLayouts/slideLayout7.x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29.xml.rels><?xml version="1.0" encoding="UTF-8" standalone="yes"?>
<Relationships xmlns="http://schemas.openxmlformats.org/package/2006/relationships"><Relationship Id="rId13" Type="http://schemas.openxmlformats.org/officeDocument/2006/relationships/image" Target="../media/image74.png"/><Relationship Id="rId18" Type="http://schemas.openxmlformats.org/officeDocument/2006/relationships/customXml" Target="../ink/ink60.xml"/><Relationship Id="rId26" Type="http://schemas.openxmlformats.org/officeDocument/2006/relationships/customXml" Target="../ink/ink64.xml"/><Relationship Id="rId3" Type="http://schemas.openxmlformats.org/officeDocument/2006/relationships/image" Target="../media/image14.wmf"/><Relationship Id="rId21" Type="http://schemas.openxmlformats.org/officeDocument/2006/relationships/image" Target="../media/image78.png"/><Relationship Id="rId7" Type="http://schemas.openxmlformats.org/officeDocument/2006/relationships/image" Target="../media/image16.wmf"/><Relationship Id="rId12" Type="http://schemas.openxmlformats.org/officeDocument/2006/relationships/customXml" Target="../ink/ink57.xml"/><Relationship Id="rId17" Type="http://schemas.openxmlformats.org/officeDocument/2006/relationships/image" Target="../media/image76.png"/><Relationship Id="rId25" Type="http://schemas.openxmlformats.org/officeDocument/2006/relationships/image" Target="../media/image80.png"/><Relationship Id="rId33" Type="http://schemas.openxmlformats.org/officeDocument/2006/relationships/image" Target="../media/image84.png"/><Relationship Id="rId2" Type="http://schemas.openxmlformats.org/officeDocument/2006/relationships/oleObject" Target="../embeddings/oleObject7.bin"/><Relationship Id="rId16" Type="http://schemas.openxmlformats.org/officeDocument/2006/relationships/customXml" Target="../ink/ink59.xml"/><Relationship Id="rId20" Type="http://schemas.openxmlformats.org/officeDocument/2006/relationships/customXml" Target="../ink/ink61.xml"/><Relationship Id="rId29"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oleObject" Target="../embeddings/oleObject9.bin"/><Relationship Id="rId11" Type="http://schemas.openxmlformats.org/officeDocument/2006/relationships/image" Target="../media/image73.png"/><Relationship Id="rId24" Type="http://schemas.openxmlformats.org/officeDocument/2006/relationships/customXml" Target="../ink/ink63.xml"/><Relationship Id="rId32" Type="http://schemas.openxmlformats.org/officeDocument/2006/relationships/customXml" Target="../ink/ink67.xml"/><Relationship Id="rId5" Type="http://schemas.openxmlformats.org/officeDocument/2006/relationships/image" Target="../media/image15.wmf"/><Relationship Id="rId15" Type="http://schemas.openxmlformats.org/officeDocument/2006/relationships/image" Target="../media/image75.png"/><Relationship Id="rId23" Type="http://schemas.openxmlformats.org/officeDocument/2006/relationships/image" Target="../media/image79.png"/><Relationship Id="rId28" Type="http://schemas.openxmlformats.org/officeDocument/2006/relationships/customXml" Target="../ink/ink65.xml"/><Relationship Id="rId10" Type="http://schemas.openxmlformats.org/officeDocument/2006/relationships/customXml" Target="../ink/ink56.xml"/><Relationship Id="rId19" Type="http://schemas.openxmlformats.org/officeDocument/2006/relationships/image" Target="../media/image77.png"/><Relationship Id="rId31" Type="http://schemas.openxmlformats.org/officeDocument/2006/relationships/image" Target="../media/image83.png"/><Relationship Id="rId4" Type="http://schemas.openxmlformats.org/officeDocument/2006/relationships/oleObject" Target="../embeddings/oleObject8.bin"/><Relationship Id="rId9" Type="http://schemas.openxmlformats.org/officeDocument/2006/relationships/image" Target="../media/image17.wmf"/><Relationship Id="rId14" Type="http://schemas.openxmlformats.org/officeDocument/2006/relationships/customXml" Target="../ink/ink58.xml"/><Relationship Id="rId22" Type="http://schemas.openxmlformats.org/officeDocument/2006/relationships/customXml" Target="../ink/ink62.xml"/><Relationship Id="rId27" Type="http://schemas.openxmlformats.org/officeDocument/2006/relationships/image" Target="../media/image81.png"/><Relationship Id="rId30" Type="http://schemas.openxmlformats.org/officeDocument/2006/relationships/customXml" Target="../ink/ink66.xml"/><Relationship Id="rId8" Type="http://schemas.openxmlformats.org/officeDocument/2006/relationships/oleObject" Target="../embeddings/oleObject10.bin"/></Relationships>
</file>

<file path=ppt/slides/_rels/slide3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customXml" Target="../ink/ink68.xml"/></Relationships>
</file>

<file path=ppt/slides/_rels/slide31.xml.rels><?xml version="1.0" encoding="UTF-8" standalone="yes"?>
<Relationships xmlns="http://schemas.openxmlformats.org/package/2006/relationships"><Relationship Id="rId8" Type="http://schemas.openxmlformats.org/officeDocument/2006/relationships/customXml" Target="../ink/ink71.xml"/><Relationship Id="rId3" Type="http://schemas.openxmlformats.org/officeDocument/2006/relationships/image" Target="../media/image19.wmf"/><Relationship Id="rId7" Type="http://schemas.openxmlformats.org/officeDocument/2006/relationships/image" Target="../media/image89.png"/><Relationship Id="rId2"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customXml" Target="../ink/ink70.xml"/><Relationship Id="rId5" Type="http://schemas.openxmlformats.org/officeDocument/2006/relationships/image" Target="../media/image88.png"/><Relationship Id="rId4" Type="http://schemas.openxmlformats.org/officeDocument/2006/relationships/customXml" Target="../ink/ink69.xml"/><Relationship Id="rId9" Type="http://schemas.openxmlformats.org/officeDocument/2006/relationships/image" Target="../media/image90.png"/></Relationships>
</file>

<file path=ppt/slides/_rels/slide3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94.png"/><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customXml" Target="../ink/ink73.xml"/><Relationship Id="rId5" Type="http://schemas.openxmlformats.org/officeDocument/2006/relationships/image" Target="../media/image93.png"/><Relationship Id="rId4" Type="http://schemas.openxmlformats.org/officeDocument/2006/relationships/customXml" Target="../ink/ink72.xml"/></Relationships>
</file>

<file path=ppt/slides/_rels/slide3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5.bin"/><Relationship Id="rId1" Type="http://schemas.openxmlformats.org/officeDocument/2006/relationships/slideLayout" Target="../slideLayouts/slideLayout13.xml"/><Relationship Id="rId5" Type="http://schemas.openxmlformats.org/officeDocument/2006/relationships/image" Target="../media/image96.png"/><Relationship Id="rId4" Type="http://schemas.openxmlformats.org/officeDocument/2006/relationships/customXml" Target="../ink/ink74.xml"/></Relationships>
</file>

<file path=ppt/slides/_rels/slide35.xml.rels><?xml version="1.0" encoding="UTF-8" standalone="yes"?>
<Relationships xmlns="http://schemas.openxmlformats.org/package/2006/relationships"><Relationship Id="rId3" Type="http://schemas.openxmlformats.org/officeDocument/2006/relationships/image" Target="../media/image10.wmf"/><Relationship Id="rId7" Type="http://schemas.openxmlformats.org/officeDocument/2006/relationships/image" Target="../media/image98.png"/><Relationship Id="rId2" Type="http://schemas.openxmlformats.org/officeDocument/2006/relationships/oleObject" Target="../embeddings/oleObject16.bin"/><Relationship Id="rId1" Type="http://schemas.openxmlformats.org/officeDocument/2006/relationships/slideLayout" Target="../slideLayouts/slideLayout14.xml"/><Relationship Id="rId6" Type="http://schemas.openxmlformats.org/officeDocument/2006/relationships/customXml" Target="../ink/ink75.xml"/><Relationship Id="rId5" Type="http://schemas.openxmlformats.org/officeDocument/2006/relationships/image" Target="../media/image23.wmf"/><Relationship Id="rId4" Type="http://schemas.openxmlformats.org/officeDocument/2006/relationships/oleObject" Target="../embeddings/oleObject17.bin"/></Relationships>
</file>

<file path=ppt/slides/_rels/slide36.xml.rels><?xml version="1.0" encoding="UTF-8" standalone="yes"?>
<Relationships xmlns="http://schemas.openxmlformats.org/package/2006/relationships"><Relationship Id="rId8" Type="http://schemas.openxmlformats.org/officeDocument/2006/relationships/customXml" Target="../ink/ink77.xml"/><Relationship Id="rId3" Type="http://schemas.openxmlformats.org/officeDocument/2006/relationships/image" Target="../media/image24.wmf"/><Relationship Id="rId7" Type="http://schemas.openxmlformats.org/officeDocument/2006/relationships/image" Target="../media/image101.png"/><Relationship Id="rId2" Type="http://schemas.openxmlformats.org/officeDocument/2006/relationships/oleObject" Target="../embeddings/oleObject18.bin"/><Relationship Id="rId1" Type="http://schemas.openxmlformats.org/officeDocument/2006/relationships/slideLayout" Target="../slideLayouts/slideLayout12.xml"/><Relationship Id="rId6" Type="http://schemas.openxmlformats.org/officeDocument/2006/relationships/customXml" Target="../ink/ink76.xml"/><Relationship Id="rId5" Type="http://schemas.openxmlformats.org/officeDocument/2006/relationships/image" Target="../media/image25.wmf"/><Relationship Id="rId4" Type="http://schemas.openxmlformats.org/officeDocument/2006/relationships/oleObject" Target="../embeddings/oleObject19.bin"/><Relationship Id="rId9" Type="http://schemas.openxmlformats.org/officeDocument/2006/relationships/image" Target="../media/image102.png"/></Relationships>
</file>

<file path=ppt/slides/_rels/slide37.xml.rels><?xml version="1.0" encoding="UTF-8" standalone="yes"?>
<Relationships xmlns="http://schemas.openxmlformats.org/package/2006/relationships"><Relationship Id="rId8" Type="http://schemas.openxmlformats.org/officeDocument/2006/relationships/customXml" Target="../ink/ink79.xml"/><Relationship Id="rId3" Type="http://schemas.openxmlformats.org/officeDocument/2006/relationships/image" Target="../media/image26.wmf"/><Relationship Id="rId7" Type="http://schemas.openxmlformats.org/officeDocument/2006/relationships/image" Target="../media/image105.png"/><Relationship Id="rId2" Type="http://schemas.openxmlformats.org/officeDocument/2006/relationships/oleObject" Target="../embeddings/oleObject20.bin"/><Relationship Id="rId1" Type="http://schemas.openxmlformats.org/officeDocument/2006/relationships/slideLayout" Target="../slideLayouts/slideLayout13.xml"/><Relationship Id="rId6" Type="http://schemas.openxmlformats.org/officeDocument/2006/relationships/customXml" Target="../ink/ink78.xml"/><Relationship Id="rId5" Type="http://schemas.openxmlformats.org/officeDocument/2006/relationships/image" Target="../media/image27.wmf"/><Relationship Id="rId4" Type="http://schemas.openxmlformats.org/officeDocument/2006/relationships/oleObject" Target="../embeddings/oleObject21.bin"/><Relationship Id="rId9" Type="http://schemas.openxmlformats.org/officeDocument/2006/relationships/image" Target="../media/image106.png"/></Relationships>
</file>

<file path=ppt/slides/_rels/slide38.xml.rels><?xml version="1.0" encoding="UTF-8" standalone="yes"?>
<Relationships xmlns="http://schemas.openxmlformats.org/package/2006/relationships"><Relationship Id="rId3" Type="http://schemas.openxmlformats.org/officeDocument/2006/relationships/image" Target="../media/image10.wmf"/><Relationship Id="rId7" Type="http://schemas.openxmlformats.org/officeDocument/2006/relationships/image" Target="../media/image107.png"/><Relationship Id="rId2" Type="http://schemas.openxmlformats.org/officeDocument/2006/relationships/oleObject" Target="../embeddings/oleObject22.bin"/><Relationship Id="rId1" Type="http://schemas.openxmlformats.org/officeDocument/2006/relationships/slideLayout" Target="../slideLayouts/slideLayout12.xml"/><Relationship Id="rId6" Type="http://schemas.openxmlformats.org/officeDocument/2006/relationships/customXml" Target="../ink/ink80.xml"/><Relationship Id="rId5" Type="http://schemas.openxmlformats.org/officeDocument/2006/relationships/image" Target="../media/image24.wmf"/><Relationship Id="rId4" Type="http://schemas.openxmlformats.org/officeDocument/2006/relationships/oleObject" Target="../embeddings/oleObject23.bin"/></Relationships>
</file>

<file path=ppt/slides/_rels/slide3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24.bin"/><Relationship Id="rId1" Type="http://schemas.openxmlformats.org/officeDocument/2006/relationships/slideLayout" Target="../slideLayouts/slideLayout12.xml"/><Relationship Id="rId5" Type="http://schemas.openxmlformats.org/officeDocument/2006/relationships/image" Target="../media/image24.wmf"/><Relationship Id="rId4" Type="http://schemas.openxmlformats.org/officeDocument/2006/relationships/oleObject" Target="../embeddings/oleObject25.bin"/></Relationships>
</file>

<file path=ppt/slides/_rels/slide4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customXml" Target="../ink/ink84.xml"/><Relationship Id="rId13" Type="http://schemas.openxmlformats.org/officeDocument/2006/relationships/image" Target="../media/image113.png"/><Relationship Id="rId3" Type="http://schemas.openxmlformats.org/officeDocument/2006/relationships/image" Target="../media/image108.png"/><Relationship Id="rId7" Type="http://schemas.openxmlformats.org/officeDocument/2006/relationships/image" Target="../media/image110.png"/><Relationship Id="rId12" Type="http://schemas.openxmlformats.org/officeDocument/2006/relationships/customXml" Target="../ink/ink86.xml"/><Relationship Id="rId2" Type="http://schemas.openxmlformats.org/officeDocument/2006/relationships/customXml" Target="../ink/ink81.xml"/><Relationship Id="rId1" Type="http://schemas.openxmlformats.org/officeDocument/2006/relationships/slideLayout" Target="../slideLayouts/slideLayout2.xml"/><Relationship Id="rId6" Type="http://schemas.openxmlformats.org/officeDocument/2006/relationships/customXml" Target="../ink/ink83.xml"/><Relationship Id="rId11" Type="http://schemas.openxmlformats.org/officeDocument/2006/relationships/image" Target="../media/image112.png"/><Relationship Id="rId5" Type="http://schemas.openxmlformats.org/officeDocument/2006/relationships/image" Target="../media/image109.png"/><Relationship Id="rId10" Type="http://schemas.openxmlformats.org/officeDocument/2006/relationships/customXml" Target="../ink/ink85.xml"/><Relationship Id="rId4" Type="http://schemas.openxmlformats.org/officeDocument/2006/relationships/customXml" Target="../ink/ink82.xml"/><Relationship Id="rId9" Type="http://schemas.openxmlformats.org/officeDocument/2006/relationships/image" Target="../media/image111.png"/></Relationships>
</file>

<file path=ppt/slides/_rels/slide4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png"/><Relationship Id="rId1" Type="http://schemas.openxmlformats.org/officeDocument/2006/relationships/slideLayout" Target="../slideLayouts/slideLayout13.xml"/><Relationship Id="rId5" Type="http://schemas.openxmlformats.org/officeDocument/2006/relationships/image" Target="../media/image45.wmf"/><Relationship Id="rId4" Type="http://schemas.openxmlformats.org/officeDocument/2006/relationships/oleObject" Target="../embeddings/oleObject27.bin"/></Relationships>
</file>

<file path=ppt/slides/_rels/slide43.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29.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30.bin"/><Relationship Id="rId1" Type="http://schemas.openxmlformats.org/officeDocument/2006/relationships/slideLayout" Target="../slideLayouts/slideLayout7.xml"/><Relationship Id="rId6" Type="http://schemas.openxmlformats.org/officeDocument/2006/relationships/oleObject" Target="../embeddings/oleObject32.bin"/><Relationship Id="rId5" Type="http://schemas.openxmlformats.org/officeDocument/2006/relationships/image" Target="../media/image48.wmf"/><Relationship Id="rId4" Type="http://schemas.openxmlformats.org/officeDocument/2006/relationships/oleObject" Target="../embeddings/oleObject31.bin"/><Relationship Id="rId9" Type="http://schemas.openxmlformats.org/officeDocument/2006/relationships/image" Target="../media/image50.wmf"/></Relationships>
</file>

<file path=ppt/slides/_rels/slide4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34.bin"/><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image" Target="../media/image51.wmf"/><Relationship Id="rId7" Type="http://schemas.openxmlformats.org/officeDocument/2006/relationships/image" Target="../media/image13.wmf"/><Relationship Id="rId2"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7.bin"/><Relationship Id="rId5" Type="http://schemas.openxmlformats.org/officeDocument/2006/relationships/image" Target="../media/image52.wmf"/><Relationship Id="rId4" Type="http://schemas.openxmlformats.org/officeDocument/2006/relationships/oleObject" Target="../embeddings/oleObject36.bin"/><Relationship Id="rId9" Type="http://schemas.openxmlformats.org/officeDocument/2006/relationships/image" Target="../media/image53.wmf"/></Relationships>
</file>

<file path=ppt/slides/_rels/slide49.xml.rels><?xml version="1.0" encoding="UTF-8" standalone="yes"?>
<Relationships xmlns="http://schemas.openxmlformats.org/package/2006/relationships"><Relationship Id="rId3" Type="http://schemas.openxmlformats.org/officeDocument/2006/relationships/image" Target="../media/image54.wmf"/><Relationship Id="rId7" Type="http://schemas.openxmlformats.org/officeDocument/2006/relationships/image" Target="../media/image56.wmf"/><Relationship Id="rId2" Type="http://schemas.openxmlformats.org/officeDocument/2006/relationships/oleObject" Target="../embeddings/oleObject39.bin"/><Relationship Id="rId1" Type="http://schemas.openxmlformats.org/officeDocument/2006/relationships/slideLayout" Target="../slideLayouts/slideLayout14.xml"/><Relationship Id="rId6" Type="http://schemas.openxmlformats.org/officeDocument/2006/relationships/oleObject" Target="../embeddings/oleObject41.bin"/><Relationship Id="rId5" Type="http://schemas.openxmlformats.org/officeDocument/2006/relationships/image" Target="../media/image55.wmf"/><Relationship Id="rId4" Type="http://schemas.openxmlformats.org/officeDocument/2006/relationships/oleObject" Target="../embeddings/oleObject40.bin"/></Relationships>
</file>

<file path=ppt/slides/_rels/slide50.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42.bin"/><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8.wmf"/><Relationship Id="rId7" Type="http://schemas.openxmlformats.org/officeDocument/2006/relationships/image" Target="../media/image60.wmf"/><Relationship Id="rId2" Type="http://schemas.openxmlformats.org/officeDocument/2006/relationships/oleObject" Target="../embeddings/oleObject43.bin"/><Relationship Id="rId1" Type="http://schemas.openxmlformats.org/officeDocument/2006/relationships/slideLayout" Target="../slideLayouts/slideLayout7.xml"/><Relationship Id="rId6" Type="http://schemas.openxmlformats.org/officeDocument/2006/relationships/oleObject" Target="../embeddings/oleObject45.bin"/><Relationship Id="rId5" Type="http://schemas.openxmlformats.org/officeDocument/2006/relationships/image" Target="../media/image59.wmf"/><Relationship Id="rId4" Type="http://schemas.openxmlformats.org/officeDocument/2006/relationships/oleObject" Target="../embeddings/oleObject44.bin"/></Relationships>
</file>

<file path=ppt/slides/_rels/slide52.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46.bin"/><Relationship Id="rId1" Type="http://schemas.openxmlformats.org/officeDocument/2006/relationships/slideLayout" Target="../slideLayouts/slideLayout13.xml"/><Relationship Id="rId5" Type="http://schemas.openxmlformats.org/officeDocument/2006/relationships/image" Target="../media/image62.wmf"/><Relationship Id="rId4" Type="http://schemas.openxmlformats.org/officeDocument/2006/relationships/oleObject" Target="../embeddings/oleObject47.bin"/></Relationships>
</file>

<file path=ppt/slides/_rels/slide53.xml.rels><?xml version="1.0" encoding="UTF-8" standalone="yes"?>
<Relationships xmlns="http://schemas.openxmlformats.org/package/2006/relationships"><Relationship Id="rId3" Type="http://schemas.openxmlformats.org/officeDocument/2006/relationships/image" Target="../media/image63.wmf"/><Relationship Id="rId7" Type="http://schemas.openxmlformats.org/officeDocument/2006/relationships/image" Target="../media/image65.wmf"/><Relationship Id="rId2" Type="http://schemas.openxmlformats.org/officeDocument/2006/relationships/oleObject" Target="../embeddings/oleObject48.bin"/><Relationship Id="rId1" Type="http://schemas.openxmlformats.org/officeDocument/2006/relationships/slideLayout" Target="../slideLayouts/slideLayout2.xml"/><Relationship Id="rId6" Type="http://schemas.openxmlformats.org/officeDocument/2006/relationships/oleObject" Target="../embeddings/oleObject50.bin"/><Relationship Id="rId5" Type="http://schemas.openxmlformats.org/officeDocument/2006/relationships/image" Target="../media/image64.wmf"/><Relationship Id="rId4" Type="http://schemas.openxmlformats.org/officeDocument/2006/relationships/oleObject" Target="../embeddings/oleObject49.bin"/></Relationships>
</file>

<file path=ppt/slides/_rels/slide54.xml.rels><?xml version="1.0" encoding="UTF-8" standalone="yes"?>
<Relationships xmlns="http://schemas.openxmlformats.org/package/2006/relationships"><Relationship Id="rId3" Type="http://schemas.openxmlformats.org/officeDocument/2006/relationships/image" Target="../media/image66.wmf"/><Relationship Id="rId7" Type="http://schemas.openxmlformats.org/officeDocument/2006/relationships/image" Target="../media/image67.wmf"/><Relationship Id="rId2" Type="http://schemas.openxmlformats.org/officeDocument/2006/relationships/oleObject" Target="../embeddings/oleObject51.bin"/><Relationship Id="rId1" Type="http://schemas.openxmlformats.org/officeDocument/2006/relationships/slideLayout" Target="../slideLayouts/slideLayout7.xml"/><Relationship Id="rId6" Type="http://schemas.openxmlformats.org/officeDocument/2006/relationships/oleObject" Target="../embeddings/oleObject53.bin"/><Relationship Id="rId5" Type="http://schemas.openxmlformats.org/officeDocument/2006/relationships/image" Target="../media/image61.wmf"/><Relationship Id="rId4" Type="http://schemas.openxmlformats.org/officeDocument/2006/relationships/oleObject" Target="../embeddings/oleObject52.bin"/></Relationships>
</file>

<file path=ppt/slides/_rels/slide55.xml.rels><?xml version="1.0" encoding="UTF-8" standalone="yes"?>
<Relationships xmlns="http://schemas.openxmlformats.org/package/2006/relationships"><Relationship Id="rId3" Type="http://schemas.openxmlformats.org/officeDocument/2006/relationships/image" Target="../media/image68.wmf"/><Relationship Id="rId7" Type="http://schemas.openxmlformats.org/officeDocument/2006/relationships/image" Target="../media/image63.wmf"/><Relationship Id="rId2"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oleObject" Target="../embeddings/oleObject56.bin"/><Relationship Id="rId5" Type="http://schemas.openxmlformats.org/officeDocument/2006/relationships/image" Target="../media/image69.wmf"/><Relationship Id="rId4" Type="http://schemas.openxmlformats.org/officeDocument/2006/relationships/oleObject" Target="../embeddings/oleObject55.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74.wmf"/><Relationship Id="rId3" Type="http://schemas.openxmlformats.org/officeDocument/2006/relationships/image" Target="../media/image70.wmf"/><Relationship Id="rId7" Type="http://schemas.openxmlformats.org/officeDocument/2006/relationships/image" Target="../media/image72.wmf"/><Relationship Id="rId12" Type="http://schemas.openxmlformats.org/officeDocument/2006/relationships/oleObject" Target="../embeddings/oleObject62.bin"/><Relationship Id="rId2" Type="http://schemas.openxmlformats.org/officeDocument/2006/relationships/oleObject" Target="../embeddings/oleObject57.bin"/><Relationship Id="rId1" Type="http://schemas.openxmlformats.org/officeDocument/2006/relationships/slideLayout" Target="../slideLayouts/slideLayout4.xml"/><Relationship Id="rId6" Type="http://schemas.openxmlformats.org/officeDocument/2006/relationships/oleObject" Target="../embeddings/oleObject59.bin"/><Relationship Id="rId11" Type="http://schemas.openxmlformats.org/officeDocument/2006/relationships/image" Target="../media/image73.wmf"/><Relationship Id="rId5" Type="http://schemas.openxmlformats.org/officeDocument/2006/relationships/image" Target="../media/image71.wmf"/><Relationship Id="rId10" Type="http://schemas.openxmlformats.org/officeDocument/2006/relationships/oleObject" Target="../embeddings/oleObject61.bin"/><Relationship Id="rId4" Type="http://schemas.openxmlformats.org/officeDocument/2006/relationships/oleObject" Target="../embeddings/oleObject58.bin"/><Relationship Id="rId9" Type="http://schemas.openxmlformats.org/officeDocument/2006/relationships/image" Target="../media/image54.wmf"/></Relationships>
</file>

<file path=ppt/slides/_rels/slide57.xml.rels><?xml version="1.0" encoding="UTF-8" standalone="yes"?>
<Relationships xmlns="http://schemas.openxmlformats.org/package/2006/relationships"><Relationship Id="rId3" Type="http://schemas.openxmlformats.org/officeDocument/2006/relationships/image" Target="../media/image63.wmf"/><Relationship Id="rId7" Type="http://schemas.openxmlformats.org/officeDocument/2006/relationships/image" Target="../media/image75.wmf"/><Relationship Id="rId2" Type="http://schemas.openxmlformats.org/officeDocument/2006/relationships/oleObject" Target="../embeddings/oleObject63.bin"/><Relationship Id="rId1" Type="http://schemas.openxmlformats.org/officeDocument/2006/relationships/slideLayout" Target="../slideLayouts/slideLayout7.xml"/><Relationship Id="rId6" Type="http://schemas.openxmlformats.org/officeDocument/2006/relationships/oleObject" Target="../embeddings/oleObject65.bin"/><Relationship Id="rId5" Type="http://schemas.openxmlformats.org/officeDocument/2006/relationships/image" Target="../media/image61.wmf"/><Relationship Id="rId4" Type="http://schemas.openxmlformats.org/officeDocument/2006/relationships/oleObject" Target="../embeddings/oleObject64.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76.wmf"/><Relationship Id="rId7" Type="http://schemas.openxmlformats.org/officeDocument/2006/relationships/image" Target="../media/image75.wmf"/><Relationship Id="rId2" Type="http://schemas.openxmlformats.org/officeDocument/2006/relationships/oleObject" Target="../embeddings/oleObject66.bin"/><Relationship Id="rId1" Type="http://schemas.openxmlformats.org/officeDocument/2006/relationships/slideLayout" Target="../slideLayouts/slideLayout7.xml"/><Relationship Id="rId6" Type="http://schemas.openxmlformats.org/officeDocument/2006/relationships/oleObject" Target="../embeddings/oleObject68.bin"/><Relationship Id="rId5" Type="http://schemas.openxmlformats.org/officeDocument/2006/relationships/image" Target="../media/image77.wmf"/><Relationship Id="rId4" Type="http://schemas.openxmlformats.org/officeDocument/2006/relationships/oleObject" Target="../embeddings/oleObject67.bin"/></Relationships>
</file>

<file path=ppt/slides/_rels/slide60.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69.bin"/><Relationship Id="rId1" Type="http://schemas.openxmlformats.org/officeDocument/2006/relationships/slideLayout" Target="../slideLayouts/slideLayout7.xml"/><Relationship Id="rId4" Type="http://schemas.openxmlformats.org/officeDocument/2006/relationships/oleObject" Target="../embeddings/oleObject70.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oleObject" Target="../embeddings/oleObject71.bin"/><Relationship Id="rId1" Type="http://schemas.openxmlformats.org/officeDocument/2006/relationships/slideLayout" Target="../slideLayouts/slideLayout7.xml"/><Relationship Id="rId5" Type="http://schemas.openxmlformats.org/officeDocument/2006/relationships/image" Target="../media/image79.wmf"/><Relationship Id="rId4" Type="http://schemas.openxmlformats.org/officeDocument/2006/relationships/oleObject" Target="../embeddings/oleObject72.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oleObject" Target="../embeddings/oleObject73.bin"/><Relationship Id="rId1" Type="http://schemas.openxmlformats.org/officeDocument/2006/relationships/slideLayout" Target="../slideLayouts/slideLayout7.xml"/><Relationship Id="rId5" Type="http://schemas.openxmlformats.org/officeDocument/2006/relationships/image" Target="../media/image81.wmf"/><Relationship Id="rId4" Type="http://schemas.openxmlformats.org/officeDocument/2006/relationships/oleObject" Target="../embeddings/oleObject74.bin"/></Relationships>
</file>

<file path=ppt/slides/_rels/slide70.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oleObject" Target="../embeddings/oleObject75.bin"/><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image" Target="../media/image83.wmf"/><Relationship Id="rId7" Type="http://schemas.openxmlformats.org/officeDocument/2006/relationships/image" Target="../media/image85.wmf"/><Relationship Id="rId2" Type="http://schemas.openxmlformats.org/officeDocument/2006/relationships/oleObject" Target="../embeddings/oleObject76.bin"/><Relationship Id="rId1" Type="http://schemas.openxmlformats.org/officeDocument/2006/relationships/slideLayout" Target="../slideLayouts/slideLayout7.xml"/><Relationship Id="rId6" Type="http://schemas.openxmlformats.org/officeDocument/2006/relationships/oleObject" Target="../embeddings/oleObject78.bin"/><Relationship Id="rId5" Type="http://schemas.openxmlformats.org/officeDocument/2006/relationships/image" Target="../media/image84.wmf"/><Relationship Id="rId4" Type="http://schemas.openxmlformats.org/officeDocument/2006/relationships/oleObject" Target="../embeddings/oleObject77.bin"/><Relationship Id="rId9" Type="http://schemas.openxmlformats.org/officeDocument/2006/relationships/image" Target="../media/image86.wmf"/></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83.bin"/><Relationship Id="rId3" Type="http://schemas.openxmlformats.org/officeDocument/2006/relationships/image" Target="../media/image87.wmf"/><Relationship Id="rId7" Type="http://schemas.openxmlformats.org/officeDocument/2006/relationships/image" Target="../media/image89.wmf"/><Relationship Id="rId2" Type="http://schemas.openxmlformats.org/officeDocument/2006/relationships/oleObject" Target="../embeddings/oleObject80.bin"/><Relationship Id="rId1" Type="http://schemas.openxmlformats.org/officeDocument/2006/relationships/slideLayout" Target="../slideLayouts/slideLayout7.xml"/><Relationship Id="rId6" Type="http://schemas.openxmlformats.org/officeDocument/2006/relationships/oleObject" Target="../embeddings/oleObject82.bin"/><Relationship Id="rId11" Type="http://schemas.openxmlformats.org/officeDocument/2006/relationships/image" Target="../media/image91.wmf"/><Relationship Id="rId5" Type="http://schemas.openxmlformats.org/officeDocument/2006/relationships/image" Target="../media/image88.wmf"/><Relationship Id="rId10" Type="http://schemas.openxmlformats.org/officeDocument/2006/relationships/oleObject" Target="../embeddings/oleObject84.bin"/><Relationship Id="rId4" Type="http://schemas.openxmlformats.org/officeDocument/2006/relationships/oleObject" Target="../embeddings/oleObject81.bin"/><Relationship Id="rId9" Type="http://schemas.openxmlformats.org/officeDocument/2006/relationships/image" Target="../media/image90.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85.bin"/><Relationship Id="rId1" Type="http://schemas.openxmlformats.org/officeDocument/2006/relationships/slideLayout" Target="../slideLayouts/slideLayout7.xml"/><Relationship Id="rId5" Type="http://schemas.openxmlformats.org/officeDocument/2006/relationships/image" Target="../media/image92.wmf"/><Relationship Id="rId4" Type="http://schemas.openxmlformats.org/officeDocument/2006/relationships/oleObject" Target="../embeddings/oleObject86.bin"/></Relationships>
</file>

<file path=ppt/slides/_rels/slide75.x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oleObject" Target="../embeddings/oleObject87.bin"/><Relationship Id="rId1" Type="http://schemas.openxmlformats.org/officeDocument/2006/relationships/slideLayout" Target="../slideLayouts/slideLayout2.xml"/><Relationship Id="rId5" Type="http://schemas.openxmlformats.org/officeDocument/2006/relationships/image" Target="../media/image95.wmf"/><Relationship Id="rId4" Type="http://schemas.openxmlformats.org/officeDocument/2006/relationships/oleObject" Target="../embeddings/oleObject88.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92.bin"/><Relationship Id="rId3" Type="http://schemas.openxmlformats.org/officeDocument/2006/relationships/image" Target="../media/image96.wmf"/><Relationship Id="rId7" Type="http://schemas.openxmlformats.org/officeDocument/2006/relationships/image" Target="../media/image98.wmf"/><Relationship Id="rId2" Type="http://schemas.openxmlformats.org/officeDocument/2006/relationships/oleObject" Target="../embeddings/oleObject89.bin"/><Relationship Id="rId1" Type="http://schemas.openxmlformats.org/officeDocument/2006/relationships/slideLayout" Target="../slideLayouts/slideLayout7.xml"/><Relationship Id="rId6" Type="http://schemas.openxmlformats.org/officeDocument/2006/relationships/oleObject" Target="../embeddings/oleObject91.bin"/><Relationship Id="rId11" Type="http://schemas.openxmlformats.org/officeDocument/2006/relationships/image" Target="../media/image100.wmf"/><Relationship Id="rId5" Type="http://schemas.openxmlformats.org/officeDocument/2006/relationships/image" Target="../media/image97.wmf"/><Relationship Id="rId10" Type="http://schemas.openxmlformats.org/officeDocument/2006/relationships/oleObject" Target="../embeddings/oleObject93.bin"/><Relationship Id="rId4" Type="http://schemas.openxmlformats.org/officeDocument/2006/relationships/oleObject" Target="../embeddings/oleObject90.bin"/><Relationship Id="rId9" Type="http://schemas.openxmlformats.org/officeDocument/2006/relationships/image" Target="../media/image99.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oleObject" Target="../embeddings/oleObject94.bin"/><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oleObject" Target="../embeddings/oleObject95.bin"/><Relationship Id="rId1" Type="http://schemas.openxmlformats.org/officeDocument/2006/relationships/slideLayout" Target="../slideLayouts/slideLayout7.xml"/><Relationship Id="rId5" Type="http://schemas.openxmlformats.org/officeDocument/2006/relationships/image" Target="../media/image103.wmf"/><Relationship Id="rId4" Type="http://schemas.openxmlformats.org/officeDocument/2006/relationships/oleObject" Target="../embeddings/oleObject96.bin"/></Relationships>
</file>

<file path=ppt/slides/_rels/slide83.x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oleObject" Target="../embeddings/oleObject97.bin"/><Relationship Id="rId1" Type="http://schemas.openxmlformats.org/officeDocument/2006/relationships/slideLayout" Target="../slideLayouts/slideLayout7.xml"/><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oleObject" Target="../embeddings/oleObject98.bin"/></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image" Target="../media/image107.wmf"/></Relationships>
</file>

<file path=ppt/slides/_rels/slide85.xml.rels><?xml version="1.0" encoding="UTF-8" standalone="yes"?>
<Relationships xmlns="http://schemas.openxmlformats.org/package/2006/relationships"><Relationship Id="rId8" Type="http://schemas.openxmlformats.org/officeDocument/2006/relationships/customXml" Target="../ink/ink89.xml"/><Relationship Id="rId3" Type="http://schemas.openxmlformats.org/officeDocument/2006/relationships/image" Target="../media/image115.wmf"/><Relationship Id="rId7" Type="http://schemas.openxmlformats.org/officeDocument/2006/relationships/image" Target="../media/image117.png"/><Relationship Id="rId2" Type="http://schemas.openxmlformats.org/officeDocument/2006/relationships/oleObject" Target="../embeddings/oleObject100.bin"/><Relationship Id="rId1" Type="http://schemas.openxmlformats.org/officeDocument/2006/relationships/slideLayout" Target="../slideLayouts/slideLayout2.xml"/><Relationship Id="rId6" Type="http://schemas.openxmlformats.org/officeDocument/2006/relationships/customXml" Target="../ink/ink88.xml"/><Relationship Id="rId11" Type="http://schemas.openxmlformats.org/officeDocument/2006/relationships/image" Target="../media/image119.png"/><Relationship Id="rId5" Type="http://schemas.openxmlformats.org/officeDocument/2006/relationships/image" Target="../media/image116.png"/><Relationship Id="rId10" Type="http://schemas.openxmlformats.org/officeDocument/2006/relationships/customXml" Target="../ink/ink90.xml"/><Relationship Id="rId4" Type="http://schemas.openxmlformats.org/officeDocument/2006/relationships/customXml" Target="../ink/ink87.xml"/><Relationship Id="rId9" Type="http://schemas.openxmlformats.org/officeDocument/2006/relationships/image" Target="../media/image118.png"/></Relationships>
</file>

<file path=ppt/slides/_rels/slide86.x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oleObject" Target="../embeddings/oleObject101.bin"/><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oleObject" Target="../embeddings/oleObject102.bin"/><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customXml" Target="../ink/ink91.xml"/><Relationship Id="rId4" Type="http://schemas.openxmlformats.org/officeDocument/2006/relationships/image" Target="../media/image122.png"/></Relationships>
</file>

<file path=ppt/slides/_rels/slide88.xml.rels><?xml version="1.0" encoding="UTF-8" standalone="yes"?>
<Relationships xmlns="http://schemas.openxmlformats.org/package/2006/relationships"><Relationship Id="rId8" Type="http://schemas.openxmlformats.org/officeDocument/2006/relationships/customXml" Target="../ink/ink92.xml"/><Relationship Id="rId13" Type="http://schemas.openxmlformats.org/officeDocument/2006/relationships/image" Target="../media/image129.png"/><Relationship Id="rId3" Type="http://schemas.openxmlformats.org/officeDocument/2006/relationships/image" Target="../media/image124.wmf"/><Relationship Id="rId7" Type="http://schemas.openxmlformats.org/officeDocument/2006/relationships/image" Target="../media/image126.wmf"/><Relationship Id="rId12" Type="http://schemas.openxmlformats.org/officeDocument/2006/relationships/customXml" Target="../ink/ink94.xml"/><Relationship Id="rId2" Type="http://schemas.openxmlformats.org/officeDocument/2006/relationships/oleObject" Target="../embeddings/oleObject103.bin"/><Relationship Id="rId1" Type="http://schemas.openxmlformats.org/officeDocument/2006/relationships/slideLayout" Target="../slideLayouts/slideLayout2.xml"/><Relationship Id="rId6" Type="http://schemas.openxmlformats.org/officeDocument/2006/relationships/oleObject" Target="../embeddings/oleObject105.bin"/><Relationship Id="rId11" Type="http://schemas.openxmlformats.org/officeDocument/2006/relationships/image" Target="../media/image128.png"/><Relationship Id="rId5" Type="http://schemas.openxmlformats.org/officeDocument/2006/relationships/image" Target="../media/image125.wmf"/><Relationship Id="rId15" Type="http://schemas.openxmlformats.org/officeDocument/2006/relationships/image" Target="../media/image130.png"/><Relationship Id="rId10" Type="http://schemas.openxmlformats.org/officeDocument/2006/relationships/customXml" Target="../ink/ink93.xml"/><Relationship Id="rId4" Type="http://schemas.openxmlformats.org/officeDocument/2006/relationships/oleObject" Target="../embeddings/oleObject104.bin"/><Relationship Id="rId9" Type="http://schemas.openxmlformats.org/officeDocument/2006/relationships/image" Target="../media/image127.png"/><Relationship Id="rId14" Type="http://schemas.openxmlformats.org/officeDocument/2006/relationships/customXml" Target="../ink/ink95.xml"/></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109.bin"/><Relationship Id="rId13" Type="http://schemas.openxmlformats.org/officeDocument/2006/relationships/image" Target="../media/image136.png"/><Relationship Id="rId18" Type="http://schemas.openxmlformats.org/officeDocument/2006/relationships/customXml" Target="../ink/ink100.xml"/><Relationship Id="rId3" Type="http://schemas.openxmlformats.org/officeDocument/2006/relationships/image" Target="../media/image131.wmf"/><Relationship Id="rId7" Type="http://schemas.openxmlformats.org/officeDocument/2006/relationships/image" Target="../media/image133.wmf"/><Relationship Id="rId12" Type="http://schemas.openxmlformats.org/officeDocument/2006/relationships/customXml" Target="../ink/ink97.xml"/><Relationship Id="rId17" Type="http://schemas.openxmlformats.org/officeDocument/2006/relationships/image" Target="../media/image138.png"/><Relationship Id="rId2" Type="http://schemas.openxmlformats.org/officeDocument/2006/relationships/oleObject" Target="../embeddings/oleObject106.bin"/><Relationship Id="rId16" Type="http://schemas.openxmlformats.org/officeDocument/2006/relationships/customXml" Target="../ink/ink99.xml"/><Relationship Id="rId1" Type="http://schemas.openxmlformats.org/officeDocument/2006/relationships/slideLayout" Target="../slideLayouts/slideLayout2.xml"/><Relationship Id="rId6" Type="http://schemas.openxmlformats.org/officeDocument/2006/relationships/oleObject" Target="../embeddings/oleObject108.bin"/><Relationship Id="rId11" Type="http://schemas.openxmlformats.org/officeDocument/2006/relationships/image" Target="../media/image135.png"/><Relationship Id="rId5" Type="http://schemas.openxmlformats.org/officeDocument/2006/relationships/image" Target="../media/image132.wmf"/><Relationship Id="rId15" Type="http://schemas.openxmlformats.org/officeDocument/2006/relationships/image" Target="../media/image137.png"/><Relationship Id="rId10" Type="http://schemas.openxmlformats.org/officeDocument/2006/relationships/customXml" Target="../ink/ink96.xml"/><Relationship Id="rId19" Type="http://schemas.openxmlformats.org/officeDocument/2006/relationships/image" Target="../media/image139.png"/><Relationship Id="rId4" Type="http://schemas.openxmlformats.org/officeDocument/2006/relationships/oleObject" Target="../embeddings/oleObject107.bin"/><Relationship Id="rId9" Type="http://schemas.openxmlformats.org/officeDocument/2006/relationships/image" Target="../media/image134.wmf"/><Relationship Id="rId14" Type="http://schemas.openxmlformats.org/officeDocument/2006/relationships/customXml" Target="../ink/ink98.xml"/></Relationships>
</file>

<file path=ppt/slides/_rels/slide9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oleObject" Target="../embeddings/oleObject113.bin"/><Relationship Id="rId13" Type="http://schemas.openxmlformats.org/officeDocument/2006/relationships/image" Target="../media/image147.wmf"/><Relationship Id="rId3" Type="http://schemas.openxmlformats.org/officeDocument/2006/relationships/image" Target="../media/image142.wmf"/><Relationship Id="rId7" Type="http://schemas.openxmlformats.org/officeDocument/2006/relationships/image" Target="../media/image144.wmf"/><Relationship Id="rId12" Type="http://schemas.openxmlformats.org/officeDocument/2006/relationships/oleObject" Target="../embeddings/oleObject115.bin"/><Relationship Id="rId2" Type="http://schemas.openxmlformats.org/officeDocument/2006/relationships/oleObject" Target="../embeddings/oleObject110.bin"/><Relationship Id="rId1" Type="http://schemas.openxmlformats.org/officeDocument/2006/relationships/slideLayout" Target="../slideLayouts/slideLayout7.xml"/><Relationship Id="rId6" Type="http://schemas.openxmlformats.org/officeDocument/2006/relationships/oleObject" Target="../embeddings/oleObject112.bin"/><Relationship Id="rId11" Type="http://schemas.openxmlformats.org/officeDocument/2006/relationships/image" Target="../media/image146.wmf"/><Relationship Id="rId5" Type="http://schemas.openxmlformats.org/officeDocument/2006/relationships/image" Target="../media/image143.wmf"/><Relationship Id="rId10" Type="http://schemas.openxmlformats.org/officeDocument/2006/relationships/oleObject" Target="../embeddings/oleObject114.bin"/><Relationship Id="rId4" Type="http://schemas.openxmlformats.org/officeDocument/2006/relationships/oleObject" Target="../embeddings/oleObject111.bin"/><Relationship Id="rId9" Type="http://schemas.openxmlformats.org/officeDocument/2006/relationships/image" Target="../media/image145.wmf"/><Relationship Id="rId14" Type="http://schemas.openxmlformats.org/officeDocument/2006/relationships/image" Target="../media/image148.wmf"/></Relationships>
</file>

<file path=ppt/slides/_rels/slide97.xml.rels><?xml version="1.0" encoding="UTF-8" standalone="yes"?>
<Relationships xmlns="http://schemas.openxmlformats.org/package/2006/relationships"><Relationship Id="rId8" Type="http://schemas.openxmlformats.org/officeDocument/2006/relationships/customXml" Target="../ink/ink102.xml"/><Relationship Id="rId3" Type="http://schemas.openxmlformats.org/officeDocument/2006/relationships/image" Target="../media/image149.wmf"/><Relationship Id="rId7" Type="http://schemas.openxmlformats.org/officeDocument/2006/relationships/image" Target="../media/image151.png"/><Relationship Id="rId2" Type="http://schemas.openxmlformats.org/officeDocument/2006/relationships/oleObject" Target="../embeddings/oleObject116.bin"/><Relationship Id="rId1" Type="http://schemas.openxmlformats.org/officeDocument/2006/relationships/slideLayout" Target="../slideLayouts/slideLayout7.xml"/><Relationship Id="rId6" Type="http://schemas.openxmlformats.org/officeDocument/2006/relationships/customXml" Target="../ink/ink101.xml"/><Relationship Id="rId11" Type="http://schemas.openxmlformats.org/officeDocument/2006/relationships/image" Target="../media/image153.png"/><Relationship Id="rId5" Type="http://schemas.openxmlformats.org/officeDocument/2006/relationships/image" Target="../media/image150.wmf"/><Relationship Id="rId10" Type="http://schemas.openxmlformats.org/officeDocument/2006/relationships/customXml" Target="../ink/ink103.xml"/><Relationship Id="rId4" Type="http://schemas.openxmlformats.org/officeDocument/2006/relationships/oleObject" Target="../embeddings/oleObject117.bin"/><Relationship Id="rId9" Type="http://schemas.openxmlformats.org/officeDocument/2006/relationships/image" Target="../media/image15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54.w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55.wmf"/><Relationship Id="rId2" Type="http://schemas.openxmlformats.org/officeDocument/2006/relationships/oleObject" Target="../embeddings/oleObject118.bin"/><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customXml" Target="../ink/ink104.xml"/><Relationship Id="rId2" Type="http://schemas.openxmlformats.org/officeDocument/2006/relationships/image" Target="../media/image156.png"/><Relationship Id="rId1" Type="http://schemas.openxmlformats.org/officeDocument/2006/relationships/slideLayout" Target="../slideLayouts/slideLayout2.xml"/><Relationship Id="rId6" Type="http://schemas.openxmlformats.org/officeDocument/2006/relationships/image" Target="../media/image158.png"/><Relationship Id="rId5" Type="http://schemas.openxmlformats.org/officeDocument/2006/relationships/customXml" Target="../ink/ink105.xml"/><Relationship Id="rId4" Type="http://schemas.openxmlformats.org/officeDocument/2006/relationships/image" Target="../media/image157.png"/></Relationships>
</file>

<file path=ppt/slides/_rels/slide102.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customXml" Target="../ink/ink107.xml"/><Relationship Id="rId3" Type="http://schemas.openxmlformats.org/officeDocument/2006/relationships/image" Target="../media/image160.wmf"/><Relationship Id="rId7" Type="http://schemas.openxmlformats.org/officeDocument/2006/relationships/image" Target="../media/image162.png"/><Relationship Id="rId2" Type="http://schemas.openxmlformats.org/officeDocument/2006/relationships/oleObject" Target="../embeddings/oleObject119.bin"/><Relationship Id="rId1" Type="http://schemas.openxmlformats.org/officeDocument/2006/relationships/slideLayout" Target="../slideLayouts/slideLayout7.xml"/><Relationship Id="rId6" Type="http://schemas.openxmlformats.org/officeDocument/2006/relationships/customXml" Target="../ink/ink106.xml"/><Relationship Id="rId11" Type="http://schemas.openxmlformats.org/officeDocument/2006/relationships/image" Target="../media/image164.png"/><Relationship Id="rId5" Type="http://schemas.openxmlformats.org/officeDocument/2006/relationships/image" Target="../media/image161.wmf"/><Relationship Id="rId10" Type="http://schemas.openxmlformats.org/officeDocument/2006/relationships/customXml" Target="../ink/ink108.xml"/><Relationship Id="rId4" Type="http://schemas.openxmlformats.org/officeDocument/2006/relationships/oleObject" Target="../embeddings/oleObject120.bin"/><Relationship Id="rId9" Type="http://schemas.openxmlformats.org/officeDocument/2006/relationships/image" Target="../media/image163.png"/></Relationships>
</file>

<file path=ppt/slides/_rels/slide105.xml.rels><?xml version="1.0" encoding="UTF-8" standalone="yes"?>
<Relationships xmlns="http://schemas.openxmlformats.org/package/2006/relationships"><Relationship Id="rId8" Type="http://schemas.openxmlformats.org/officeDocument/2006/relationships/customXml" Target="../ink/ink112.xml"/><Relationship Id="rId13" Type="http://schemas.openxmlformats.org/officeDocument/2006/relationships/image" Target="../media/image170.png"/><Relationship Id="rId3" Type="http://schemas.openxmlformats.org/officeDocument/2006/relationships/image" Target="../media/image165.png"/><Relationship Id="rId7" Type="http://schemas.openxmlformats.org/officeDocument/2006/relationships/image" Target="../media/image167.png"/><Relationship Id="rId12" Type="http://schemas.openxmlformats.org/officeDocument/2006/relationships/customXml" Target="../ink/ink114.xml"/><Relationship Id="rId2" Type="http://schemas.openxmlformats.org/officeDocument/2006/relationships/customXml" Target="../ink/ink109.xml"/><Relationship Id="rId1" Type="http://schemas.openxmlformats.org/officeDocument/2006/relationships/slideLayout" Target="../slideLayouts/slideLayout7.xml"/><Relationship Id="rId6" Type="http://schemas.openxmlformats.org/officeDocument/2006/relationships/customXml" Target="../ink/ink111.xml"/><Relationship Id="rId11" Type="http://schemas.openxmlformats.org/officeDocument/2006/relationships/image" Target="../media/image169.png"/><Relationship Id="rId5" Type="http://schemas.openxmlformats.org/officeDocument/2006/relationships/image" Target="../media/image166.png"/><Relationship Id="rId10" Type="http://schemas.openxmlformats.org/officeDocument/2006/relationships/customXml" Target="../ink/ink113.xml"/><Relationship Id="rId4" Type="http://schemas.openxmlformats.org/officeDocument/2006/relationships/customXml" Target="../ink/ink110.xml"/><Relationship Id="rId9" Type="http://schemas.openxmlformats.org/officeDocument/2006/relationships/image" Target="../media/image16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171.png"/><Relationship Id="rId7" Type="http://schemas.openxmlformats.org/officeDocument/2006/relationships/image" Target="../media/image173.png"/><Relationship Id="rId2" Type="http://schemas.openxmlformats.org/officeDocument/2006/relationships/customXml" Target="../ink/ink115.xml"/><Relationship Id="rId1" Type="http://schemas.openxmlformats.org/officeDocument/2006/relationships/slideLayout" Target="../slideLayouts/slideLayout7.xml"/><Relationship Id="rId6" Type="http://schemas.openxmlformats.org/officeDocument/2006/relationships/customXml" Target="../ink/ink117.xml"/><Relationship Id="rId5" Type="http://schemas.openxmlformats.org/officeDocument/2006/relationships/image" Target="../media/image172.png"/><Relationship Id="rId4" Type="http://schemas.openxmlformats.org/officeDocument/2006/relationships/customXml" Target="../ink/ink116.xml"/></Relationships>
</file>

<file path=ppt/slides/_rels/slide108.xml.rels><?xml version="1.0" encoding="UTF-8" standalone="yes"?>
<Relationships xmlns="http://schemas.openxmlformats.org/package/2006/relationships"><Relationship Id="rId3" Type="http://schemas.openxmlformats.org/officeDocument/2006/relationships/image" Target="../media/image174.wmf"/><Relationship Id="rId2" Type="http://schemas.openxmlformats.org/officeDocument/2006/relationships/oleObject" Target="../embeddings/oleObject121.bin"/><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customXml" Target="../ink/ink11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75.wmf"/><Relationship Id="rId2" Type="http://schemas.openxmlformats.org/officeDocument/2006/relationships/oleObject" Target="../embeddings/oleObject122.bin"/><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ctrTitle" sz="quarter"/>
          </p:nvPr>
        </p:nvSpPr>
        <p:spPr>
          <a:xfrm>
            <a:off x="107950" y="1341438"/>
            <a:ext cx="7678738" cy="1108075"/>
          </a:xfrm>
        </p:spPr>
        <p:txBody>
          <a:bodyPr vert="horz" wrap="square" lIns="91440" tIns="45720" rIns="91440" bIns="45720" numCol="1" anchor="b" anchorCtr="0" compatLnSpc="1">
            <a:spAutoFit/>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1" lang="zh-CN" altLang="en-US" sz="6600" b="0" i="0" u="none" strike="noStrike" kern="0" cap="none" spc="0" normalizeH="0" baseline="0" noProof="0" dirty="0">
                <a:ln>
                  <a:noFill/>
                </a:ln>
                <a:solidFill>
                  <a:schemeClr val="tx2"/>
                </a:solidFill>
                <a:effectLst>
                  <a:outerShdw blurRad="38100" dist="38100" dir="2700000" algn="tl">
                    <a:srgbClr val="000000"/>
                  </a:outerShdw>
                </a:effectLst>
                <a:uLnTx/>
                <a:uFillTx/>
                <a:latin typeface="华文新魏" panose="02010800040101010101" pitchFamily="2" charset="-122"/>
                <a:ea typeface="华文新魏" panose="02010800040101010101" pitchFamily="2" charset="-122"/>
                <a:cs typeface="+mj-cs"/>
              </a:rPr>
              <a:t>半 导 体 物 理 学</a:t>
            </a:r>
          </a:p>
        </p:txBody>
      </p:sp>
      <p:sp>
        <p:nvSpPr>
          <p:cNvPr id="4099" name="Rectangle 3"/>
          <p:cNvSpPr>
            <a:spLocks noGrp="1"/>
          </p:cNvSpPr>
          <p:nvPr>
            <p:ph type="subTitle" sz="quarter" idx="1"/>
          </p:nvPr>
        </p:nvSpPr>
        <p:spPr>
          <a:xfrm>
            <a:off x="2195513" y="3213100"/>
            <a:ext cx="5943600" cy="3114675"/>
          </a:xfrm>
        </p:spPr>
        <p:txBody>
          <a:bodyPr vert="horz" wrap="square" lIns="91440" tIns="45720" rIns="91440" bIns="45720" anchor="t" anchorCtr="0"/>
          <a:lstStyle/>
          <a:p>
            <a:pPr marL="0" marR="0" indent="0" algn="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3600" b="0" i="0" u="none" strike="noStrike" kern="0" cap="none" spc="0" normalizeH="0" baseline="0" noProof="1">
                <a:solidFill>
                  <a:schemeClr val="tx1"/>
                </a:solidFill>
                <a:latin typeface="黑体" panose="02010609060101010101" pitchFamily="49" charset="-122"/>
                <a:ea typeface="黑体" panose="02010609060101010101" pitchFamily="49" charset="-122"/>
                <a:cs typeface="+mn-cs"/>
              </a:rPr>
              <a:t>刘恩科 等</a:t>
            </a:r>
          </a:p>
          <a:p>
            <a:pPr marL="0" marR="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en-US" altLang="zh-CN" sz="3200" b="0" i="0" u="none" strike="noStrike" kern="0" cap="none" spc="0" normalizeH="0" baseline="0" noProof="1">
              <a:solidFill>
                <a:schemeClr val="tx1"/>
              </a:solidFill>
              <a:latin typeface="黑体" panose="02010609060101010101" pitchFamily="49" charset="-122"/>
              <a:ea typeface="黑体" panose="02010609060101010101" pitchFamily="49" charset="-122"/>
              <a:cs typeface="+mn-cs"/>
            </a:endParaRPr>
          </a:p>
          <a:p>
            <a:pPr marL="0" marR="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en-US" sz="3200" b="0" i="0" u="none" strike="noStrike" kern="0" cap="none" spc="0" normalizeH="0" baseline="0" noProof="1">
              <a:solidFill>
                <a:schemeClr val="tx1"/>
              </a:solidFill>
              <a:latin typeface="黑体" panose="02010609060101010101" pitchFamily="49" charset="-122"/>
              <a:ea typeface="黑体" panose="02010609060101010101" pitchFamily="49" charset="-122"/>
              <a:cs typeface="+mn-cs"/>
            </a:endParaRPr>
          </a:p>
          <a:p>
            <a:pPr marL="0" marR="0" indent="0" algn="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r>
              <a:rPr kumimoji="1" lang="zh-CN" altLang="en-US" sz="2800" b="0" i="0" u="none" strike="noStrike" kern="0" cap="none" spc="0" normalizeH="0" baseline="0" noProof="1">
                <a:solidFill>
                  <a:schemeClr val="tx1"/>
                </a:solidFill>
                <a:latin typeface="黑体" panose="02010609060101010101" pitchFamily="49" charset="-122"/>
                <a:ea typeface="黑体" panose="02010609060101010101" pitchFamily="49" charset="-122"/>
                <a:cs typeface="+mn-cs"/>
              </a:rPr>
              <a:t>国防工业出版社</a:t>
            </a:r>
          </a:p>
          <a:p>
            <a:pPr marL="0" marR="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pPr>
            <a:endParaRPr kumimoji="1" lang="zh-CN" altLang="en-US" sz="2000" b="0" i="0" u="none" strike="noStrike" kern="0" cap="none" spc="0" normalizeH="0" baseline="0" noProof="1">
              <a:solidFill>
                <a:schemeClr val="tx1"/>
              </a:solidFill>
              <a:latin typeface="黑体" panose="02010609060101010101" pitchFamily="49" charset="-122"/>
              <a:ea typeface="黑体" panose="02010609060101010101" pitchFamily="49"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a:xfrm>
            <a:off x="871538" y="793750"/>
            <a:ext cx="8162925" cy="830263"/>
          </a:xfrm>
        </p:spPr>
        <p:txBody>
          <a:bodyPr vert="horz" wrap="square" lIns="91440" tIns="45720" rIns="91440" bIns="45720" anchor="b" anchorCtr="0">
            <a:spAutoFit/>
          </a:bodyPr>
          <a:lstStyle/>
          <a:p>
            <a:pPr eaLnBrk="1" hangingPunct="1">
              <a:buNone/>
            </a:pPr>
            <a:r>
              <a:rPr lang="zh-CN" altLang="en-US" sz="4800" dirty="0">
                <a:latin typeface="华文新魏" panose="02010800040101010101" pitchFamily="2" charset="-122"/>
                <a:ea typeface="华文新魏" panose="02010800040101010101" pitchFamily="2" charset="-122"/>
              </a:rPr>
              <a:t>简 介</a:t>
            </a:r>
          </a:p>
        </p:txBody>
      </p:sp>
      <p:sp>
        <p:nvSpPr>
          <p:cNvPr id="87043" name="Rectangle 3"/>
          <p:cNvSpPr>
            <a:spLocks noGrp="1" noChangeArrowheads="1"/>
          </p:cNvSpPr>
          <p:nvPr>
            <p:ph idx="1"/>
          </p:nvPr>
        </p:nvSpPr>
        <p:spPr>
          <a:xfrm>
            <a:off x="323850" y="1844675"/>
            <a:ext cx="8110538" cy="1905000"/>
          </a:xfrm>
        </p:spPr>
        <p:txBody>
          <a:bodyPr vert="horz" wrap="square" lIns="91440" tIns="45720" rIns="91440" bIns="45720" numCol="1" anchor="t" anchorCtr="0" compatLnSpc="1"/>
          <a:lstStyle/>
          <a:p>
            <a:pPr marL="0" marR="0" lvl="0" indent="0" algn="ctr" defTabSz="914400" rtl="0" eaLnBrk="1" fontAlgn="base" latinLnBrk="0" hangingPunct="1">
              <a:lnSpc>
                <a:spcPct val="150000"/>
              </a:lnSpc>
              <a:spcBef>
                <a:spcPct val="20000"/>
              </a:spcBef>
              <a:spcAft>
                <a:spcPct val="0"/>
              </a:spcAft>
              <a:buClr>
                <a:schemeClr val="folHlink"/>
              </a:buClr>
              <a:buSzPct val="75000"/>
              <a:buFont typeface="Wingdings" panose="05000000000000000000" pitchFamily="2" charset="2"/>
              <a:buNone/>
              <a:defRPr/>
            </a:pPr>
            <a:r>
              <a:rPr kumimoji="1" lang="zh-CN" altLang="en-US" sz="3200" b="0" i="0" u="none" strike="noStrike" kern="0" cap="none" spc="0" normalizeH="0" baseline="0" noProof="0" dirty="0">
                <a:ln>
                  <a:noFill/>
                </a:ln>
                <a:solidFill>
                  <a:srgbClr val="FF6600"/>
                </a:solidFill>
                <a:effectLst/>
                <a:uLnTx/>
                <a:uFillTx/>
                <a:latin typeface="黑体" panose="02010609060101010101" pitchFamily="49" charset="-122"/>
                <a:ea typeface="黑体" panose="02010609060101010101" pitchFamily="49" charset="-122"/>
                <a:cs typeface="+mn-cs"/>
              </a:rPr>
              <a:t>普通物理学、统计物理学、量子力学</a:t>
            </a:r>
          </a:p>
          <a:p>
            <a:pPr marL="342900" marR="0" lvl="0" indent="-342900" algn="ctr" defTabSz="914400" rtl="0" eaLnBrk="1" fontAlgn="base" latinLnBrk="0" hangingPunct="1">
              <a:lnSpc>
                <a:spcPct val="150000"/>
              </a:lnSpc>
              <a:spcBef>
                <a:spcPct val="20000"/>
              </a:spcBef>
              <a:spcAft>
                <a:spcPct val="0"/>
              </a:spcAft>
              <a:buClr>
                <a:schemeClr val="folHlink"/>
              </a:buClr>
              <a:buSzPct val="75000"/>
              <a:buFont typeface="Wingdings" panose="05000000000000000000" pitchFamily="2" charset="2"/>
              <a:buNone/>
              <a:defRPr/>
            </a:pPr>
            <a:r>
              <a:rPr kumimoji="1" lang="zh-CN" altLang="en-US" sz="3200" b="0" i="0" u="none" strike="noStrike" kern="0" cap="none" spc="0" normalizeH="0" baseline="0" noProof="0" dirty="0">
                <a:ln>
                  <a:noFill/>
                </a:ln>
                <a:solidFill>
                  <a:srgbClr val="FF0066"/>
                </a:solidFill>
                <a:effectLst/>
                <a:uLnTx/>
                <a:uFillTx/>
                <a:latin typeface="黑体" panose="02010609060101010101" pitchFamily="49" charset="-122"/>
                <a:ea typeface="黑体" panose="02010609060101010101" pitchFamily="49" charset="-122"/>
                <a:cs typeface="+mn-cs"/>
              </a:rPr>
              <a:t>固体物理学</a:t>
            </a:r>
          </a:p>
          <a:p>
            <a:pPr marL="342900" marR="0" lvl="0" indent="-342900" algn="ctr" defTabSz="914400" rtl="0" eaLnBrk="1" fontAlgn="base" latinLnBrk="0" hangingPunct="1">
              <a:lnSpc>
                <a:spcPct val="150000"/>
              </a:lnSpc>
              <a:spcBef>
                <a:spcPct val="20000"/>
              </a:spcBef>
              <a:spcAft>
                <a:spcPct val="0"/>
              </a:spcAft>
              <a:buClr>
                <a:schemeClr val="folHlink"/>
              </a:buClr>
              <a:buSzPct val="75000"/>
              <a:buFont typeface="Wingdings" panose="05000000000000000000" pitchFamily="2" charset="2"/>
              <a:buNone/>
              <a:defRPr/>
            </a:pPr>
            <a:r>
              <a:rPr kumimoji="1" lang="zh-CN" altLang="en-US" sz="3200" b="1" i="0" u="sng" strike="noStrike" kern="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半导体物理学</a:t>
            </a:r>
            <a:r>
              <a:rPr kumimoji="1" lang="zh-CN" altLang="en-US" sz="3200" b="0" i="0" u="none" strike="noStrike" kern="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  电介质物理学</a:t>
            </a:r>
          </a:p>
        </p:txBody>
      </p:sp>
      <p:sp>
        <p:nvSpPr>
          <p:cNvPr id="87044" name="Rectangle 4"/>
          <p:cNvSpPr/>
          <p:nvPr/>
        </p:nvSpPr>
        <p:spPr>
          <a:xfrm>
            <a:off x="609600" y="4981575"/>
            <a:ext cx="3187700" cy="579438"/>
          </a:xfrm>
          <a:prstGeom prst="rect">
            <a:avLst/>
          </a:prstGeom>
          <a:noFill/>
          <a:ln w="9525">
            <a:noFill/>
          </a:ln>
        </p:spPr>
        <p:txBody>
          <a:bodyPr anchor="t" anchorCtr="0">
            <a:spAutoFit/>
          </a:bodyPr>
          <a:lstStyle/>
          <a:p>
            <a:pPr>
              <a:spcBef>
                <a:spcPct val="50000"/>
              </a:spcBef>
              <a:buClr>
                <a:schemeClr val="folHlink"/>
              </a:buClr>
              <a:buSzPct val="75000"/>
              <a:buFont typeface="Wingdings" panose="05000000000000000000" pitchFamily="2" charset="2"/>
            </a:pPr>
            <a:r>
              <a:rPr lang="zh-CN" altLang="en-US" sz="3200" b="0" dirty="0">
                <a:latin typeface="黑体" panose="02010609060101010101" pitchFamily="49" charset="-122"/>
                <a:ea typeface="黑体" panose="02010609060101010101" pitchFamily="49" charset="-122"/>
              </a:rPr>
              <a:t>电场的作用：</a:t>
            </a:r>
          </a:p>
        </p:txBody>
      </p:sp>
      <p:sp>
        <p:nvSpPr>
          <p:cNvPr id="87045" name="Rectangle 5"/>
          <p:cNvSpPr/>
          <p:nvPr/>
        </p:nvSpPr>
        <p:spPr>
          <a:xfrm>
            <a:off x="3227388" y="4962525"/>
            <a:ext cx="1981200" cy="579438"/>
          </a:xfrm>
          <a:prstGeom prst="rect">
            <a:avLst/>
          </a:prstGeom>
          <a:noFill/>
          <a:ln w="9525">
            <a:noFill/>
          </a:ln>
        </p:spPr>
        <p:txBody>
          <a:bodyPr anchor="t" anchorCtr="0">
            <a:spAutoFit/>
          </a:bodyPr>
          <a:lstStyle/>
          <a:p>
            <a:pPr>
              <a:spcBef>
                <a:spcPct val="50000"/>
              </a:spcBef>
              <a:buClr>
                <a:schemeClr val="folHlink"/>
              </a:buClr>
              <a:buSzPct val="75000"/>
              <a:buFont typeface="Wingdings" panose="05000000000000000000" pitchFamily="2" charset="2"/>
            </a:pPr>
            <a:r>
              <a:rPr lang="zh-CN" altLang="en-US" sz="3200" dirty="0">
                <a:solidFill>
                  <a:srgbClr val="C00000"/>
                </a:solidFill>
                <a:latin typeface="黑体" panose="02010609060101010101" pitchFamily="49" charset="-122"/>
                <a:ea typeface="黑体" panose="02010609060101010101" pitchFamily="49" charset="-122"/>
              </a:rPr>
              <a:t>产生电流</a:t>
            </a:r>
          </a:p>
        </p:txBody>
      </p:sp>
      <p:sp>
        <p:nvSpPr>
          <p:cNvPr id="87046" name="Rectangle 6"/>
          <p:cNvSpPr/>
          <p:nvPr/>
        </p:nvSpPr>
        <p:spPr>
          <a:xfrm>
            <a:off x="3243263" y="5772150"/>
            <a:ext cx="2657475" cy="585788"/>
          </a:xfrm>
          <a:prstGeom prst="rect">
            <a:avLst/>
          </a:prstGeom>
          <a:noFill/>
          <a:ln w="9525">
            <a:noFill/>
          </a:ln>
        </p:spPr>
        <p:txBody>
          <a:bodyPr wrap="none" anchor="t" anchorCtr="0">
            <a:spAutoFit/>
          </a:bodyPr>
          <a:lstStyle/>
          <a:p>
            <a:pPr>
              <a:spcBef>
                <a:spcPct val="50000"/>
              </a:spcBef>
              <a:buClr>
                <a:schemeClr val="folHlink"/>
              </a:buClr>
              <a:buSzPct val="75000"/>
              <a:buFont typeface="Wingdings" panose="05000000000000000000" pitchFamily="2" charset="2"/>
            </a:pPr>
            <a:r>
              <a:rPr lang="zh-CN" altLang="en-US" sz="3200" dirty="0">
                <a:solidFill>
                  <a:srgbClr val="C00000"/>
                </a:solidFill>
                <a:latin typeface="黑体" panose="02010609060101010101" pitchFamily="49" charset="-122"/>
                <a:ea typeface="黑体" panose="02010609060101010101" pitchFamily="49" charset="-122"/>
              </a:rPr>
              <a:t>产生电荷感应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7042"/>
                                        </p:tgtEl>
                                        <p:attrNameLst>
                                          <p:attrName>style.visibility</p:attrName>
                                        </p:attrNameLst>
                                      </p:cBhvr>
                                      <p:to>
                                        <p:strVal val="visible"/>
                                      </p:to>
                                    </p:set>
                                    <p:anim calcmode="lin" valueType="num">
                                      <p:cBhvr additive="base">
                                        <p:cTn id="7" dur="500" fill="hold"/>
                                        <p:tgtEl>
                                          <p:spTgt spid="87042"/>
                                        </p:tgtEl>
                                        <p:attrNameLst>
                                          <p:attrName>ppt_x</p:attrName>
                                        </p:attrNameLst>
                                      </p:cBhvr>
                                      <p:tavLst>
                                        <p:tav tm="0">
                                          <p:val>
                                            <p:strVal val="0-#ppt_w/2"/>
                                          </p:val>
                                        </p:tav>
                                        <p:tav tm="100000">
                                          <p:val>
                                            <p:strVal val="#ppt_x"/>
                                          </p:val>
                                        </p:tav>
                                      </p:tavLst>
                                    </p:anim>
                                    <p:anim calcmode="lin" valueType="num">
                                      <p:cBhvr additive="base">
                                        <p:cTn id="8" dur="500" fill="hold"/>
                                        <p:tgtEl>
                                          <p:spTgt spid="8704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7043">
                                            <p:txEl>
                                              <p:pRg st="0" end="0"/>
                                            </p:txEl>
                                          </p:spTgt>
                                        </p:tgtEl>
                                        <p:attrNameLst>
                                          <p:attrName>style.visibility</p:attrName>
                                        </p:attrNameLst>
                                      </p:cBhvr>
                                      <p:to>
                                        <p:strVal val="visible"/>
                                      </p:to>
                                    </p:set>
                                    <p:anim calcmode="lin" valueType="num">
                                      <p:cBhvr additive="base">
                                        <p:cTn id="12" dur="500" fill="hold"/>
                                        <p:tgtEl>
                                          <p:spTgt spid="87043">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87043">
                                            <p:txEl>
                                              <p:pRg st="0" end="0"/>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87043">
                                            <p:txEl>
                                              <p:pRg st="1" end="1"/>
                                            </p:txEl>
                                          </p:spTgt>
                                        </p:tgtEl>
                                        <p:attrNameLst>
                                          <p:attrName>style.visibility</p:attrName>
                                        </p:attrNameLst>
                                      </p:cBhvr>
                                      <p:to>
                                        <p:strVal val="visible"/>
                                      </p:to>
                                    </p:set>
                                    <p:anim calcmode="lin" valueType="num">
                                      <p:cBhvr additive="base">
                                        <p:cTn id="17" dur="500" fill="hold"/>
                                        <p:tgtEl>
                                          <p:spTgt spid="87043">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87043">
                                            <p:txEl>
                                              <p:pRg st="1" end="1"/>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87043">
                                            <p:txEl>
                                              <p:pRg st="2" end="2"/>
                                            </p:txEl>
                                          </p:spTgt>
                                        </p:tgtEl>
                                        <p:attrNameLst>
                                          <p:attrName>style.visibility</p:attrName>
                                        </p:attrNameLst>
                                      </p:cBhvr>
                                      <p:to>
                                        <p:strVal val="visible"/>
                                      </p:to>
                                    </p:set>
                                    <p:anim calcmode="lin" valueType="num">
                                      <p:cBhvr additive="base">
                                        <p:cTn id="22" dur="500" fill="hold"/>
                                        <p:tgtEl>
                                          <p:spTgt spid="87043">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870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87044"/>
                                        </p:tgtEl>
                                        <p:attrNameLst>
                                          <p:attrName>style.visibility</p:attrName>
                                        </p:attrNameLst>
                                      </p:cBhvr>
                                      <p:to>
                                        <p:strVal val="visible"/>
                                      </p:to>
                                    </p:set>
                                    <p:anim calcmode="lin" valueType="num">
                                      <p:cBhvr additive="base">
                                        <p:cTn id="28" dur="500" fill="hold"/>
                                        <p:tgtEl>
                                          <p:spTgt spid="87044"/>
                                        </p:tgtEl>
                                        <p:attrNameLst>
                                          <p:attrName>ppt_x</p:attrName>
                                        </p:attrNameLst>
                                      </p:cBhvr>
                                      <p:tavLst>
                                        <p:tav tm="0">
                                          <p:val>
                                            <p:strVal val="0-#ppt_w/2"/>
                                          </p:val>
                                        </p:tav>
                                        <p:tav tm="100000">
                                          <p:val>
                                            <p:strVal val="#ppt_x"/>
                                          </p:val>
                                        </p:tav>
                                      </p:tavLst>
                                    </p:anim>
                                    <p:anim calcmode="lin" valueType="num">
                                      <p:cBhvr additive="base">
                                        <p:cTn id="29" dur="500" fill="hold"/>
                                        <p:tgtEl>
                                          <p:spTgt spid="8704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87045"/>
                                        </p:tgtEl>
                                        <p:attrNameLst>
                                          <p:attrName>style.visibility</p:attrName>
                                        </p:attrNameLst>
                                      </p:cBhvr>
                                      <p:to>
                                        <p:strVal val="visible"/>
                                      </p:to>
                                    </p:set>
                                    <p:anim calcmode="lin" valueType="num">
                                      <p:cBhvr additive="base">
                                        <p:cTn id="34" dur="500" fill="hold"/>
                                        <p:tgtEl>
                                          <p:spTgt spid="87045"/>
                                        </p:tgtEl>
                                        <p:attrNameLst>
                                          <p:attrName>ppt_x</p:attrName>
                                        </p:attrNameLst>
                                      </p:cBhvr>
                                      <p:tavLst>
                                        <p:tav tm="0">
                                          <p:val>
                                            <p:strVal val="0-#ppt_w/2"/>
                                          </p:val>
                                        </p:tav>
                                        <p:tav tm="100000">
                                          <p:val>
                                            <p:strVal val="#ppt_x"/>
                                          </p:val>
                                        </p:tav>
                                      </p:tavLst>
                                    </p:anim>
                                    <p:anim calcmode="lin" valueType="num">
                                      <p:cBhvr additive="base">
                                        <p:cTn id="35" dur="500" fill="hold"/>
                                        <p:tgtEl>
                                          <p:spTgt spid="87045"/>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87046"/>
                                        </p:tgtEl>
                                        <p:attrNameLst>
                                          <p:attrName>style.visibility</p:attrName>
                                        </p:attrNameLst>
                                      </p:cBhvr>
                                      <p:to>
                                        <p:strVal val="visible"/>
                                      </p:to>
                                    </p:set>
                                    <p:anim calcmode="lin" valueType="num">
                                      <p:cBhvr additive="base">
                                        <p:cTn id="40" dur="500" fill="hold"/>
                                        <p:tgtEl>
                                          <p:spTgt spid="87046"/>
                                        </p:tgtEl>
                                        <p:attrNameLst>
                                          <p:attrName>ppt_x</p:attrName>
                                        </p:attrNameLst>
                                      </p:cBhvr>
                                      <p:tavLst>
                                        <p:tav tm="0">
                                          <p:val>
                                            <p:strVal val="0-#ppt_w/2"/>
                                          </p:val>
                                        </p:tav>
                                        <p:tav tm="100000">
                                          <p:val>
                                            <p:strVal val="#ppt_x"/>
                                          </p:val>
                                        </p:tav>
                                      </p:tavLst>
                                    </p:anim>
                                    <p:anim calcmode="lin" valueType="num">
                                      <p:cBhvr additive="base">
                                        <p:cTn id="41" dur="500" fill="hold"/>
                                        <p:tgtEl>
                                          <p:spTgt spid="870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p:bldP spid="87043" grpId="0" build="p" advAuto="1000"/>
      <p:bldP spid="87044" grpId="0"/>
      <p:bldP spid="87045" grpId="0"/>
      <p:bldP spid="8704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type="title"/>
          </p:nvPr>
        </p:nvSpPr>
        <p:spPr>
          <a:xfrm>
            <a:off x="871538" y="793750"/>
            <a:ext cx="8162925" cy="830263"/>
          </a:xfrm>
        </p:spPr>
        <p:txBody>
          <a:bodyPr vert="horz" wrap="square" lIns="91440" tIns="45720" rIns="91440" bIns="45720" anchor="b" anchorCtr="0">
            <a:spAutoFit/>
          </a:bodyPr>
          <a:lstStyle/>
          <a:p>
            <a:pPr eaLnBrk="1" hangingPunct="1">
              <a:buNone/>
            </a:pPr>
            <a:r>
              <a:rPr lang="zh-CN" altLang="en-US" sz="4800" dirty="0">
                <a:latin typeface="华文新魏" panose="02010800040101010101" pitchFamily="2" charset="-122"/>
                <a:ea typeface="华文新魏" panose="02010800040101010101" pitchFamily="2" charset="-122"/>
              </a:rPr>
              <a:t>应用范围</a:t>
            </a:r>
          </a:p>
        </p:txBody>
      </p:sp>
      <p:sp>
        <p:nvSpPr>
          <p:cNvPr id="6147" name="Rectangle 3"/>
          <p:cNvSpPr>
            <a:spLocks noGrp="1" noChangeArrowheads="1"/>
          </p:cNvSpPr>
          <p:nvPr>
            <p:ph idx="1"/>
          </p:nvPr>
        </p:nvSpPr>
        <p:spPr>
          <a:xfrm>
            <a:off x="609600" y="2133600"/>
            <a:ext cx="8110538" cy="3429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r>
              <a:rPr kumimoji="1" lang="zh-CN" altLang="en-US" sz="32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半导体器件、</a:t>
            </a:r>
            <a:r>
              <a:rPr kumimoji="1" lang="en-US" altLang="zh-CN" sz="32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IC</a:t>
            </a:r>
            <a:r>
              <a:rPr kumimoji="1" lang="zh-CN" altLang="en-US" sz="32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器件等电荷运动的机理。</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r>
              <a:rPr kumimoji="1" lang="zh-CN" altLang="en-US" sz="32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半导体材料、陶瓷(半导化)材料的导电机理。</a:t>
            </a:r>
            <a:endParaRPr kumimoji="1" lang="en-US" altLang="zh-CN" sz="32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r>
              <a:rPr kumimoji="1" lang="zh-CN" altLang="en-US" sz="32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新型有机材料及其复合材料的机理分析。</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r>
              <a:rPr kumimoji="1" lang="zh-CN" altLang="en-US" sz="32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各种发光材料的电荷运动机理。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026"/>
          <p:cNvSpPr>
            <a:spLocks noGrp="1"/>
          </p:cNvSpPr>
          <p:nvPr>
            <p:ph type="title"/>
          </p:nvPr>
        </p:nvSpPr>
        <p:spPr>
          <a:xfrm>
            <a:off x="871538" y="793750"/>
            <a:ext cx="8162925" cy="830263"/>
          </a:xfrm>
        </p:spPr>
        <p:txBody>
          <a:bodyPr vert="horz" wrap="square" lIns="91440" tIns="45720" rIns="91440" bIns="45720" anchor="b" anchorCtr="0">
            <a:spAutoFit/>
          </a:bodyPr>
          <a:lstStyle/>
          <a:p>
            <a:pPr eaLnBrk="1" hangingPunct="1">
              <a:buNone/>
            </a:pPr>
            <a:r>
              <a:rPr lang="zh-CN" altLang="en-US" sz="4800" dirty="0">
                <a:latin typeface="华文新魏" panose="02010800040101010101" pitchFamily="2" charset="-122"/>
                <a:ea typeface="华文新魏" panose="02010800040101010101" pitchFamily="2" charset="-122"/>
              </a:rPr>
              <a:t>课程概括</a:t>
            </a:r>
          </a:p>
        </p:txBody>
      </p:sp>
      <p:sp>
        <p:nvSpPr>
          <p:cNvPr id="8194" name="Rectangle 3"/>
          <p:cNvSpPr txBox="1"/>
          <p:nvPr/>
        </p:nvSpPr>
        <p:spPr>
          <a:xfrm>
            <a:off x="609600" y="2133600"/>
            <a:ext cx="8110538" cy="4608513"/>
          </a:xfrm>
          <a:prstGeom prst="rect">
            <a:avLst/>
          </a:prstGeom>
          <a:noFill/>
          <a:ln w="9525">
            <a:noFill/>
          </a:ln>
        </p:spPr>
        <p:txBody>
          <a:bodyPr anchor="t" anchorCtr="0"/>
          <a:lstStyle/>
          <a:p>
            <a:pPr marL="342900" indent="-342900">
              <a:lnSpc>
                <a:spcPct val="90000"/>
              </a:lnSpc>
              <a:spcBef>
                <a:spcPct val="20000"/>
              </a:spcBef>
              <a:buClr>
                <a:schemeClr val="folHlink"/>
              </a:buClr>
              <a:buSzPct val="75000"/>
              <a:buFont typeface="Wingdings" panose="05000000000000000000" pitchFamily="2" charset="2"/>
              <a:buChar char="n"/>
            </a:pPr>
            <a:r>
              <a:rPr lang="zh-CN" altLang="en-US" sz="3200" dirty="0">
                <a:latin typeface="黑体" panose="02010609060101010101" pitchFamily="49" charset="-122"/>
                <a:ea typeface="黑体" panose="02010609060101010101" pitchFamily="49" charset="-122"/>
              </a:rPr>
              <a:t>单晶材料中的电子状态及运动规律</a:t>
            </a:r>
          </a:p>
          <a:p>
            <a:pPr marL="342900" indent="-342900">
              <a:lnSpc>
                <a:spcPct val="90000"/>
              </a:lnSpc>
              <a:spcBef>
                <a:spcPct val="20000"/>
              </a:spcBef>
              <a:buClr>
                <a:schemeClr val="folHlink"/>
              </a:buClr>
              <a:buSzPct val="75000"/>
              <a:buFont typeface="Wingdings" panose="05000000000000000000" pitchFamily="2" charset="2"/>
              <a:buChar char="n"/>
            </a:pPr>
            <a:r>
              <a:rPr lang="zh-CN" altLang="en-US" sz="3200" b="0" dirty="0">
                <a:latin typeface="黑体" panose="02010609060101010101" pitchFamily="49" charset="-122"/>
                <a:ea typeface="黑体" panose="02010609060101010101" pitchFamily="49" charset="-122"/>
              </a:rPr>
              <a:t>处于热电平衡时：</a:t>
            </a:r>
          </a:p>
          <a:p>
            <a:pPr marL="342900" indent="-342900">
              <a:lnSpc>
                <a:spcPct val="90000"/>
              </a:lnSpc>
              <a:spcBef>
                <a:spcPct val="20000"/>
              </a:spcBef>
              <a:buClr>
                <a:schemeClr val="folHlink"/>
              </a:buClr>
              <a:buSzPct val="75000"/>
              <a:buFont typeface="Wingdings" panose="05000000000000000000" pitchFamily="2" charset="2"/>
            </a:pPr>
            <a:r>
              <a:rPr lang="zh-CN" altLang="en-US" sz="3200" b="0" dirty="0">
                <a:latin typeface="黑体" panose="02010609060101010101" pitchFamily="49" charset="-122"/>
                <a:ea typeface="黑体" panose="02010609060101010101" pitchFamily="49" charset="-122"/>
              </a:rPr>
              <a:t>    </a:t>
            </a:r>
            <a:r>
              <a:rPr lang="zh-CN" altLang="en-US" sz="3200" dirty="0">
                <a:latin typeface="黑体" panose="02010609060101010101" pitchFamily="49" charset="-122"/>
                <a:ea typeface="黑体" panose="02010609060101010101" pitchFamily="49" charset="-122"/>
              </a:rPr>
              <a:t>晶体材料的结构与能带--</a:t>
            </a:r>
            <a:r>
              <a:rPr lang="zh-CN" altLang="en-US" sz="3200" dirty="0">
                <a:latin typeface="黑体" panose="02010609060101010101" pitchFamily="49" charset="-122"/>
                <a:ea typeface="黑体" panose="02010609060101010101" pitchFamily="49" charset="-122"/>
                <a:sym typeface="Wingdings" panose="05000000000000000000" pitchFamily="2" charset="2"/>
              </a:rPr>
              <a:t></a:t>
            </a:r>
            <a:r>
              <a:rPr lang="zh-CN" altLang="en-US" sz="3200" dirty="0">
                <a:latin typeface="黑体" panose="02010609060101010101" pitchFamily="49" charset="-122"/>
                <a:ea typeface="黑体" panose="02010609060101010101" pitchFamily="49" charset="-122"/>
              </a:rPr>
              <a:t> 第一章</a:t>
            </a:r>
          </a:p>
          <a:p>
            <a:pPr marL="342900" indent="-342900">
              <a:lnSpc>
                <a:spcPct val="90000"/>
              </a:lnSpc>
              <a:spcBef>
                <a:spcPct val="20000"/>
              </a:spcBef>
              <a:buClr>
                <a:schemeClr val="folHlink"/>
              </a:buClr>
              <a:buSzPct val="75000"/>
              <a:buFont typeface="Wingdings" panose="05000000000000000000" pitchFamily="2" charset="2"/>
            </a:pPr>
            <a:r>
              <a:rPr lang="zh-CN" altLang="en-US" sz="3200" b="0" dirty="0">
                <a:latin typeface="黑体" panose="02010609060101010101" pitchFamily="49" charset="-122"/>
                <a:ea typeface="黑体" panose="02010609060101010101" pitchFamily="49" charset="-122"/>
              </a:rPr>
              <a:t>    杂质和缺陷---</a:t>
            </a:r>
            <a:r>
              <a:rPr lang="zh-CN" altLang="en-US" sz="3200" b="0" dirty="0">
                <a:latin typeface="黑体" panose="02010609060101010101" pitchFamily="49" charset="-122"/>
                <a:ea typeface="黑体" panose="02010609060101010101" pitchFamily="49" charset="-122"/>
                <a:sym typeface="Wingdings" panose="05000000000000000000" pitchFamily="2" charset="2"/>
              </a:rPr>
              <a:t></a:t>
            </a:r>
            <a:r>
              <a:rPr lang="zh-CN" altLang="en-US" sz="3200" b="0" dirty="0">
                <a:latin typeface="黑体" panose="02010609060101010101" pitchFamily="49" charset="-122"/>
                <a:ea typeface="黑体" panose="02010609060101010101" pitchFamily="49" charset="-122"/>
              </a:rPr>
              <a:t> 第二章</a:t>
            </a:r>
          </a:p>
          <a:p>
            <a:pPr marL="342900" indent="-342900">
              <a:lnSpc>
                <a:spcPct val="90000"/>
              </a:lnSpc>
              <a:spcBef>
                <a:spcPct val="20000"/>
              </a:spcBef>
              <a:buClr>
                <a:schemeClr val="folHlink"/>
              </a:buClr>
              <a:buSzPct val="75000"/>
              <a:buFont typeface="Wingdings" panose="05000000000000000000" pitchFamily="2" charset="2"/>
            </a:pPr>
            <a:r>
              <a:rPr lang="zh-CN" altLang="en-US" sz="3200" b="0" dirty="0">
                <a:latin typeface="黑体" panose="02010609060101010101" pitchFamily="49" charset="-122"/>
                <a:ea typeface="黑体" panose="02010609060101010101" pitchFamily="49" charset="-122"/>
              </a:rPr>
              <a:t>    电子运动状态---</a:t>
            </a:r>
            <a:r>
              <a:rPr lang="zh-CN" altLang="en-US" sz="3200" b="0" dirty="0">
                <a:latin typeface="黑体" panose="02010609060101010101" pitchFamily="49" charset="-122"/>
                <a:ea typeface="黑体" panose="02010609060101010101" pitchFamily="49" charset="-122"/>
                <a:sym typeface="Wingdings" panose="05000000000000000000" pitchFamily="2" charset="2"/>
              </a:rPr>
              <a:t> 第三章*</a:t>
            </a:r>
          </a:p>
          <a:p>
            <a:pPr marL="342900" indent="-342900">
              <a:lnSpc>
                <a:spcPct val="90000"/>
              </a:lnSpc>
              <a:spcBef>
                <a:spcPct val="20000"/>
              </a:spcBef>
              <a:buClr>
                <a:schemeClr val="folHlink"/>
              </a:buClr>
              <a:buSzPct val="75000"/>
              <a:buFont typeface="Wingdings" panose="05000000000000000000" pitchFamily="2" charset="2"/>
            </a:pPr>
            <a:r>
              <a:rPr lang="zh-CN" altLang="en-US" sz="3200" b="0" dirty="0">
                <a:latin typeface="黑体" panose="02010609060101010101" pitchFamily="49" charset="-122"/>
                <a:ea typeface="黑体" panose="02010609060101010101" pitchFamily="49" charset="-122"/>
                <a:sym typeface="Wingdings" panose="05000000000000000000" pitchFamily="2" charset="2"/>
              </a:rPr>
              <a:t>    运动规律</a:t>
            </a:r>
            <a:r>
              <a:rPr lang="zh-CN" altLang="en-US" sz="3200" b="0" dirty="0">
                <a:latin typeface="黑体" panose="02010609060101010101" pitchFamily="49" charset="-122"/>
                <a:ea typeface="黑体" panose="02010609060101010101" pitchFamily="49" charset="-122"/>
              </a:rPr>
              <a:t>---</a:t>
            </a:r>
            <a:r>
              <a:rPr lang="zh-CN" altLang="en-US" sz="3200" b="0" dirty="0">
                <a:latin typeface="黑体" panose="02010609060101010101" pitchFamily="49" charset="-122"/>
                <a:ea typeface="黑体" panose="02010609060101010101" pitchFamily="49" charset="-122"/>
                <a:sym typeface="Wingdings" panose="05000000000000000000" pitchFamily="2" charset="2"/>
              </a:rPr>
              <a:t> 第四章*</a:t>
            </a:r>
          </a:p>
          <a:p>
            <a:pPr marL="342900" indent="-342900">
              <a:lnSpc>
                <a:spcPct val="90000"/>
              </a:lnSpc>
              <a:spcBef>
                <a:spcPct val="20000"/>
              </a:spcBef>
              <a:buClr>
                <a:schemeClr val="folHlink"/>
              </a:buClr>
              <a:buSzPct val="75000"/>
              <a:buFont typeface="Wingdings" panose="05000000000000000000" pitchFamily="2" charset="2"/>
            </a:pPr>
            <a:r>
              <a:rPr lang="zh-CN" altLang="en-US" sz="3200" b="0" dirty="0">
                <a:latin typeface="黑体" panose="02010609060101010101" pitchFamily="49" charset="-122"/>
                <a:ea typeface="黑体" panose="02010609060101010101" pitchFamily="49" charset="-122"/>
                <a:sym typeface="Wingdings" panose="05000000000000000000" pitchFamily="2" charset="2"/>
              </a:rPr>
              <a:t>    非电学平衡</a:t>
            </a:r>
            <a:r>
              <a:rPr lang="zh-CN" altLang="en-US" sz="3200" b="0" dirty="0">
                <a:latin typeface="黑体" panose="02010609060101010101" pitchFamily="49" charset="-122"/>
                <a:ea typeface="黑体" panose="02010609060101010101" pitchFamily="49" charset="-122"/>
              </a:rPr>
              <a:t>---</a:t>
            </a:r>
            <a:r>
              <a:rPr lang="zh-CN" altLang="en-US" sz="3200" b="0" dirty="0">
                <a:latin typeface="黑体" panose="02010609060101010101" pitchFamily="49" charset="-122"/>
                <a:ea typeface="黑体" panose="02010609060101010101" pitchFamily="49" charset="-122"/>
                <a:sym typeface="Wingdings" panose="05000000000000000000" pitchFamily="2" charset="2"/>
              </a:rPr>
              <a:t> 第五章*</a:t>
            </a:r>
          </a:p>
          <a:p>
            <a:pPr marL="342900" indent="-342900">
              <a:lnSpc>
                <a:spcPct val="90000"/>
              </a:lnSpc>
              <a:spcBef>
                <a:spcPct val="20000"/>
              </a:spcBef>
              <a:buClr>
                <a:schemeClr val="folHlink"/>
              </a:buClr>
              <a:buSzPct val="75000"/>
              <a:buFont typeface="Wingdings" panose="05000000000000000000" pitchFamily="2" charset="2"/>
            </a:pPr>
            <a:r>
              <a:rPr lang="zh-CN" altLang="en-US" sz="3200" b="0" dirty="0">
                <a:latin typeface="黑体" panose="02010609060101010101" pitchFamily="49" charset="-122"/>
                <a:ea typeface="黑体" panose="02010609060101010101" pitchFamily="49" charset="-122"/>
                <a:sym typeface="Wingdings" panose="05000000000000000000" pitchFamily="2" charset="2"/>
              </a:rPr>
              <a:t>    器件工作机理</a:t>
            </a:r>
            <a:r>
              <a:rPr lang="zh-CN" altLang="en-US" sz="3200" b="0" dirty="0">
                <a:latin typeface="黑体" panose="02010609060101010101" pitchFamily="49" charset="-122"/>
                <a:ea typeface="黑体" panose="02010609060101010101" pitchFamily="49" charset="-122"/>
              </a:rPr>
              <a:t>---</a:t>
            </a:r>
            <a:r>
              <a:rPr lang="zh-CN" altLang="en-US" sz="3200" b="0" dirty="0">
                <a:latin typeface="黑体" panose="02010609060101010101" pitchFamily="49" charset="-122"/>
                <a:ea typeface="黑体" panose="02010609060101010101" pitchFamily="49" charset="-122"/>
                <a:sym typeface="Wingdings" panose="05000000000000000000" pitchFamily="2" charset="2"/>
              </a:rPr>
              <a:t> 第六章</a:t>
            </a:r>
            <a:endParaRPr lang="zh-CN" altLang="en-US" sz="3200" b="0" dirty="0">
              <a:latin typeface="黑体" panose="02010609060101010101" pitchFamily="49" charset="-122"/>
              <a:ea typeface="黑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xfrm>
            <a:off x="871538" y="854075"/>
            <a:ext cx="8162925" cy="769938"/>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第一章 半导体中的电子状态</a:t>
            </a:r>
          </a:p>
        </p:txBody>
      </p:sp>
      <p:sp>
        <p:nvSpPr>
          <p:cNvPr id="89091" name="Rectangle 3"/>
          <p:cNvSpPr>
            <a:spLocks noGrp="1" noChangeArrowheads="1"/>
          </p:cNvSpPr>
          <p:nvPr>
            <p:ph idx="1"/>
          </p:nvPr>
        </p:nvSpPr>
        <p:spPr>
          <a:xfrm>
            <a:off x="838200" y="1676400"/>
            <a:ext cx="7697788" cy="24384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研究方法：假设(近似)、理论、验证</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800" b="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rPr>
              <a:t>已经了解</a:t>
            </a:r>
            <a:r>
              <a:rPr kumimoji="1"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：单个原子的电子结构</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800" b="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rPr>
              <a:t>不了解</a:t>
            </a:r>
            <a:r>
              <a:rPr kumimoji="1"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：多个原子排列在一起出现的问题。电子 – 原子、电子 - 电子的相互作用以及原子- 原子排列形成的势场等多体问题。</a:t>
            </a:r>
          </a:p>
        </p:txBody>
      </p:sp>
      <p:sp>
        <p:nvSpPr>
          <p:cNvPr id="89093" name="Rectangle 5"/>
          <p:cNvSpPr>
            <a:spLocks noChangeArrowheads="1"/>
          </p:cNvSpPr>
          <p:nvPr/>
        </p:nvSpPr>
        <p:spPr bwMode="auto">
          <a:xfrm>
            <a:off x="685800" y="4648200"/>
            <a:ext cx="8458200" cy="228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20000"/>
              </a:spcBef>
              <a:spcAft>
                <a:spcPct val="0"/>
              </a:spcAft>
              <a:buClr>
                <a:schemeClr val="folHlink"/>
              </a:buClr>
              <a:buSzPct val="75000"/>
              <a:buFontTx/>
              <a:buNone/>
              <a:defRPr/>
            </a:pPr>
            <a:r>
              <a:rPr kumimoji="1"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简单化：忽略电子 - 电子的相互作用，价电子在平均势场中运动，原子固定不动: “</a:t>
            </a:r>
            <a:r>
              <a:rPr kumimoji="1" lang="zh-CN" altLang="en-US" sz="2800" b="0" i="0" u="none" strike="noStrike" kern="1200" cap="none" spc="0" normalizeH="0" baseline="0" noProof="0" dirty="0">
                <a:ln>
                  <a:noFill/>
                </a:ln>
                <a:solidFill>
                  <a:srgbClr val="0033CC"/>
                </a:solidFill>
                <a:effectLst>
                  <a:outerShdw blurRad="38100" dist="38100" dir="2700000" algn="tl">
                    <a:srgbClr val="000000"/>
                  </a:outerShdw>
                </a:effectLst>
                <a:uLnTx/>
                <a:uFillTx/>
                <a:latin typeface="黑体" panose="02010609060101010101" pitchFamily="49" charset="-122"/>
                <a:ea typeface="黑体" panose="02010609060101010101" pitchFamily="49" charset="-122"/>
                <a:cs typeface="+mn-cs"/>
              </a:rPr>
              <a:t>单电子近似</a:t>
            </a:r>
            <a:r>
              <a:rPr kumimoji="1"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p>
          <a:p>
            <a:pPr marL="0" marR="0" lvl="0" indent="0" algn="l" defTabSz="914400" rtl="0" eaLnBrk="1" fontAlgn="base" latinLnBrk="0" hangingPunct="1">
              <a:lnSpc>
                <a:spcPct val="100000"/>
              </a:lnSpc>
              <a:spcBef>
                <a:spcPct val="20000"/>
              </a:spcBef>
              <a:spcAft>
                <a:spcPct val="0"/>
              </a:spcAft>
              <a:buClr>
                <a:schemeClr val="folHlink"/>
              </a:buClr>
              <a:buSzPct val="75000"/>
              <a:buFontTx/>
              <a:buNone/>
              <a:defRPr/>
            </a:pPr>
            <a:r>
              <a:rPr kumimoji="1" lang="zh-CN" altLang="en-US" sz="28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a:t>
            </a:r>
            <a:r>
              <a:rPr kumimoji="1" lang="en-US" altLang="zh-CN" sz="28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H</a:t>
            </a:r>
            <a:r>
              <a:rPr kumimoji="1" lang="en-US" altLang="zh-CN" sz="2800" b="1" i="0" u="none" strike="noStrike" kern="1200" cap="none" spc="0" normalizeH="0" baseline="-25000" noProof="0" dirty="0">
                <a:ln>
                  <a:noFill/>
                </a:ln>
                <a:solidFill>
                  <a:schemeClr val="tx1"/>
                </a:solidFill>
                <a:effectLst/>
                <a:uLnTx/>
                <a:uFillTx/>
                <a:latin typeface="Verdana" panose="020B0604030504040204" pitchFamily="34" charset="0"/>
                <a:ea typeface="宋体" panose="02010600030101010101" pitchFamily="2" charset="-122"/>
                <a:cs typeface="+mn-cs"/>
              </a:rPr>
              <a:t>i-i</a:t>
            </a:r>
            <a:r>
              <a:rPr kumimoji="1" lang="en-US" altLang="zh-CN" sz="28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H</a:t>
            </a:r>
            <a:r>
              <a:rPr kumimoji="1" lang="en-US" altLang="zh-CN" sz="2800" b="1" i="0" u="none" strike="noStrike" kern="1200" cap="none" spc="0" normalizeH="0" baseline="-25000" noProof="0" dirty="0">
                <a:ln>
                  <a:noFill/>
                </a:ln>
                <a:solidFill>
                  <a:schemeClr val="tx1"/>
                </a:solidFill>
                <a:effectLst/>
                <a:uLnTx/>
                <a:uFillTx/>
                <a:latin typeface="Verdana" panose="020B0604030504040204" pitchFamily="34" charset="0"/>
                <a:ea typeface="宋体" panose="02010600030101010101" pitchFamily="2" charset="-122"/>
                <a:cs typeface="+mn-cs"/>
              </a:rPr>
              <a:t> e-e</a:t>
            </a:r>
            <a:r>
              <a:rPr kumimoji="1" lang="en-US" altLang="zh-CN" sz="28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a:t>
            </a:r>
            <a:r>
              <a:rPr kumimoji="1" lang="zh-CN" altLang="en-US" sz="28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分别消除</a:t>
            </a:r>
            <a:r>
              <a:rPr kumimoji="1" lang="zh-CN" altLang="en-US" sz="28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a:t>
            </a:r>
          </a:p>
          <a:p>
            <a:pPr marL="0" marR="0" lvl="0" indent="0" algn="l" defTabSz="914400" rtl="0" eaLnBrk="1" fontAlgn="base" latinLnBrk="0" hangingPunct="1">
              <a:lnSpc>
                <a:spcPct val="100000"/>
              </a:lnSpc>
              <a:spcBef>
                <a:spcPct val="20000"/>
              </a:spcBef>
              <a:spcAft>
                <a:spcPct val="0"/>
              </a:spcAft>
              <a:buClr>
                <a:schemeClr val="folHlink"/>
              </a:buClr>
              <a:buSzPct val="75000"/>
              <a:buFontTx/>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研究一个电子在周期性势场中的状态(单电子近似-&gt;平均势场-&gt;能带论)</a:t>
            </a:r>
          </a:p>
        </p:txBody>
      </p:sp>
      <p:graphicFrame>
        <p:nvGraphicFramePr>
          <p:cNvPr id="89094" name="Object 6"/>
          <p:cNvGraphicFramePr>
            <a:graphicFrameLocks noChangeAspect="1"/>
          </p:cNvGraphicFramePr>
          <p:nvPr/>
        </p:nvGraphicFramePr>
        <p:xfrm>
          <a:off x="2895600" y="4114800"/>
          <a:ext cx="3124200" cy="493713"/>
        </p:xfrm>
        <a:graphic>
          <a:graphicData uri="http://schemas.openxmlformats.org/presentationml/2006/ole">
            <mc:AlternateContent xmlns:mc="http://schemas.openxmlformats.org/markup-compatibility/2006">
              <mc:Choice xmlns:v="urn:schemas-microsoft-com:vml" Requires="v">
                <p:oleObj r:id="rId2" imgW="1447800" imgH="228600" progId="Equation.3">
                  <p:embed/>
                </p:oleObj>
              </mc:Choice>
              <mc:Fallback>
                <p:oleObj r:id="rId2" imgW="1447800" imgH="228600" progId="Equation.3">
                  <p:embed/>
                  <p:pic>
                    <p:nvPicPr>
                      <p:cNvPr id="0" name="图片 3075"/>
                      <p:cNvPicPr/>
                      <p:nvPr/>
                    </p:nvPicPr>
                    <p:blipFill>
                      <a:blip r:embed="rId3"/>
                      <a:stretch>
                        <a:fillRect/>
                      </a:stretch>
                    </p:blipFill>
                    <p:spPr>
                      <a:xfrm>
                        <a:off x="2895600" y="4114800"/>
                        <a:ext cx="3124200" cy="493713"/>
                      </a:xfrm>
                      <a:prstGeom prst="rect">
                        <a:avLst/>
                      </a:prstGeom>
                      <a:solidFill>
                        <a:srgbClr val="CCFFCC"/>
                      </a:solidFill>
                      <a:ln w="9525" cap="flat" cmpd="sng">
                        <a:solidFill>
                          <a:schemeClr val="tx1"/>
                        </a:solidFill>
                        <a:prstDash val="solid"/>
                        <a:miter/>
                        <a:headEnd type="none" w="med" len="med"/>
                        <a:tailEnd type="none" w="med" len="med"/>
                      </a:ln>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A11CC19B-D2B4-E11D-F70E-06F50A0E4E9B}"/>
                  </a:ext>
                </a:extLst>
              </p14:cNvPr>
              <p14:cNvContentPartPr/>
              <p14:nvPr/>
            </p14:nvContentPartPr>
            <p14:xfrm>
              <a:off x="2418592" y="3450670"/>
              <a:ext cx="3916800" cy="360"/>
            </p14:xfrm>
          </p:contentPart>
        </mc:Choice>
        <mc:Fallback xmlns="">
          <p:pic>
            <p:nvPicPr>
              <p:cNvPr id="2" name="墨迹 1">
                <a:extLst>
                  <a:ext uri="{FF2B5EF4-FFF2-40B4-BE49-F238E27FC236}">
                    <a16:creationId xmlns:a16="http://schemas.microsoft.com/office/drawing/2014/main" id="{A11CC19B-D2B4-E11D-F70E-06F50A0E4E9B}"/>
                  </a:ext>
                </a:extLst>
              </p:cNvPr>
              <p:cNvPicPr/>
              <p:nvPr/>
            </p:nvPicPr>
            <p:blipFill>
              <a:blip r:embed="rId5"/>
              <a:stretch>
                <a:fillRect/>
              </a:stretch>
            </p:blipFill>
            <p:spPr>
              <a:xfrm>
                <a:off x="2364592" y="3342670"/>
                <a:ext cx="40244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1065526D-DA91-A873-5D74-490F2801EF10}"/>
                  </a:ext>
                </a:extLst>
              </p14:cNvPr>
              <p14:cNvContentPartPr/>
              <p14:nvPr/>
            </p14:nvContentPartPr>
            <p14:xfrm>
              <a:off x="1052032" y="3883390"/>
              <a:ext cx="3206520" cy="8280"/>
            </p14:xfrm>
          </p:contentPart>
        </mc:Choice>
        <mc:Fallback xmlns="">
          <p:pic>
            <p:nvPicPr>
              <p:cNvPr id="3" name="墨迹 2">
                <a:extLst>
                  <a:ext uri="{FF2B5EF4-FFF2-40B4-BE49-F238E27FC236}">
                    <a16:creationId xmlns:a16="http://schemas.microsoft.com/office/drawing/2014/main" id="{1065526D-DA91-A873-5D74-490F2801EF10}"/>
                  </a:ext>
                </a:extLst>
              </p:cNvPr>
              <p:cNvPicPr/>
              <p:nvPr/>
            </p:nvPicPr>
            <p:blipFill>
              <a:blip r:embed="rId7"/>
              <a:stretch>
                <a:fillRect/>
              </a:stretch>
            </p:blipFill>
            <p:spPr>
              <a:xfrm>
                <a:off x="998032" y="3775390"/>
                <a:ext cx="331416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墨迹 3">
                <a:extLst>
                  <a:ext uri="{FF2B5EF4-FFF2-40B4-BE49-F238E27FC236}">
                    <a16:creationId xmlns:a16="http://schemas.microsoft.com/office/drawing/2014/main" id="{0A174E80-0AF2-9BD9-5D9F-68EE347BB76F}"/>
                  </a:ext>
                </a:extLst>
              </p14:cNvPr>
              <p14:cNvContentPartPr/>
              <p14:nvPr/>
            </p14:nvContentPartPr>
            <p14:xfrm>
              <a:off x="2791912" y="4846750"/>
              <a:ext cx="5686920" cy="87120"/>
            </p14:xfrm>
          </p:contentPart>
        </mc:Choice>
        <mc:Fallback xmlns="">
          <p:pic>
            <p:nvPicPr>
              <p:cNvPr id="4" name="墨迹 3">
                <a:extLst>
                  <a:ext uri="{FF2B5EF4-FFF2-40B4-BE49-F238E27FC236}">
                    <a16:creationId xmlns:a16="http://schemas.microsoft.com/office/drawing/2014/main" id="{0A174E80-0AF2-9BD9-5D9F-68EE347BB76F}"/>
                  </a:ext>
                </a:extLst>
              </p:cNvPr>
              <p:cNvPicPr/>
              <p:nvPr/>
            </p:nvPicPr>
            <p:blipFill>
              <a:blip r:embed="rId9"/>
              <a:stretch>
                <a:fillRect/>
              </a:stretch>
            </p:blipFill>
            <p:spPr>
              <a:xfrm>
                <a:off x="2738272" y="4739110"/>
                <a:ext cx="579456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墨迹 4">
                <a:extLst>
                  <a:ext uri="{FF2B5EF4-FFF2-40B4-BE49-F238E27FC236}">
                    <a16:creationId xmlns:a16="http://schemas.microsoft.com/office/drawing/2014/main" id="{6DA7CF76-C806-C564-B44F-71D45A937640}"/>
                  </a:ext>
                </a:extLst>
              </p14:cNvPr>
              <p14:cNvContentPartPr/>
              <p14:nvPr/>
            </p14:nvContentPartPr>
            <p14:xfrm>
              <a:off x="1140232" y="5358310"/>
              <a:ext cx="4096800" cy="165240"/>
            </p14:xfrm>
          </p:contentPart>
        </mc:Choice>
        <mc:Fallback xmlns="">
          <p:pic>
            <p:nvPicPr>
              <p:cNvPr id="5" name="墨迹 4">
                <a:extLst>
                  <a:ext uri="{FF2B5EF4-FFF2-40B4-BE49-F238E27FC236}">
                    <a16:creationId xmlns:a16="http://schemas.microsoft.com/office/drawing/2014/main" id="{6DA7CF76-C806-C564-B44F-71D45A937640}"/>
                  </a:ext>
                </a:extLst>
              </p:cNvPr>
              <p:cNvPicPr/>
              <p:nvPr/>
            </p:nvPicPr>
            <p:blipFill>
              <a:blip r:embed="rId11"/>
              <a:stretch>
                <a:fillRect/>
              </a:stretch>
            </p:blipFill>
            <p:spPr>
              <a:xfrm>
                <a:off x="1086232" y="5250670"/>
                <a:ext cx="4204440" cy="3808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Effect transition="in" filter="blinds(horizontal)">
                                      <p:cBhvr>
                                        <p:cTn id="7" dur="500"/>
                                        <p:tgtEl>
                                          <p:spTgt spid="890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9091">
                                            <p:txEl>
                                              <p:pRg st="1" end="1"/>
                                            </p:txEl>
                                          </p:spTgt>
                                        </p:tgtEl>
                                        <p:attrNameLst>
                                          <p:attrName>style.visibility</p:attrName>
                                        </p:attrNameLst>
                                      </p:cBhvr>
                                      <p:to>
                                        <p:strVal val="visible"/>
                                      </p:to>
                                    </p:set>
                                    <p:animEffect transition="in" filter="blinds(horizontal)">
                                      <p:cBhvr>
                                        <p:cTn id="12" dur="500"/>
                                        <p:tgtEl>
                                          <p:spTgt spid="890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9091">
                                            <p:txEl>
                                              <p:pRg st="2" end="2"/>
                                            </p:txEl>
                                          </p:spTgt>
                                        </p:tgtEl>
                                        <p:attrNameLst>
                                          <p:attrName>style.visibility</p:attrName>
                                        </p:attrNameLst>
                                      </p:cBhvr>
                                      <p:to>
                                        <p:strVal val="visible"/>
                                      </p:to>
                                    </p:set>
                                    <p:animEffect transition="in" filter="blinds(horizontal)">
                                      <p:cBhvr>
                                        <p:cTn id="17" dur="500"/>
                                        <p:tgtEl>
                                          <p:spTgt spid="890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89094"/>
                                        </p:tgtEl>
                                        <p:attrNameLst>
                                          <p:attrName>style.visibility</p:attrName>
                                        </p:attrNameLst>
                                      </p:cBhvr>
                                      <p:to>
                                        <p:strVal val="visible"/>
                                      </p:to>
                                    </p:set>
                                    <p:animEffect transition="in" filter="checkerboard(across)">
                                      <p:cBhvr>
                                        <p:cTn id="22" dur="500"/>
                                        <p:tgtEl>
                                          <p:spTgt spid="8909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9093"/>
                                        </p:tgtEl>
                                        <p:attrNameLst>
                                          <p:attrName>style.visibility</p:attrName>
                                        </p:attrNameLst>
                                      </p:cBhvr>
                                      <p:to>
                                        <p:strVal val="visible"/>
                                      </p:to>
                                    </p:set>
                                    <p:animEffect transition="in" filter="box(in)">
                                      <p:cBhvr>
                                        <p:cTn id="27" dur="500"/>
                                        <p:tgtEl>
                                          <p:spTgt spid="8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P spid="8909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1.1  半导体的晶格结构和结合性质</a:t>
            </a:r>
          </a:p>
        </p:txBody>
      </p:sp>
      <p:sp>
        <p:nvSpPr>
          <p:cNvPr id="90115" name="Rectangle 3"/>
          <p:cNvSpPr>
            <a:spLocks noGrp="1" noChangeArrowheads="1"/>
          </p:cNvSpPr>
          <p:nvPr>
            <p:ph idx="1"/>
          </p:nvPr>
        </p:nvSpPr>
        <p:spPr>
          <a:xfrm>
            <a:off x="533400" y="1828800"/>
            <a:ext cx="8305800" cy="4648200"/>
          </a:xfrm>
        </p:spPr>
        <p:txBody>
          <a:bodyPr vert="horz" wrap="square" lIns="91440" tIns="45720" rIns="91440" bIns="45720" numCol="1" anchor="t" anchorCtr="0" compatLnSpc="1"/>
          <a:lstStyle/>
          <a:p>
            <a:pPr marL="101600" marR="0" lvl="0" indent="-101600" algn="l"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defRPr/>
            </a:pP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1、金刚石型结构和共价键</a:t>
            </a: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rgbClr val="0033CC"/>
                </a:solidFill>
                <a:effectLst/>
                <a:uLnTx/>
                <a:uFillTx/>
                <a:latin typeface="+mn-lt"/>
                <a:ea typeface="+mn-ea"/>
                <a:cs typeface="+mn-cs"/>
              </a:rPr>
              <a:t>     </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许多材料的结构与金刚石相同，故称之为</a:t>
            </a:r>
            <a:r>
              <a:rPr kumimoji="1" lang="zh-CN" altLang="en-US" sz="2400" b="1" i="0" u="none" strike="noStrike" kern="0" cap="none" spc="0" normalizeH="0" baseline="0" noProof="0" dirty="0">
                <a:ln>
                  <a:noFill/>
                </a:ln>
                <a:solidFill>
                  <a:srgbClr val="0033CC"/>
                </a:solidFill>
                <a:effectLst>
                  <a:outerShdw blurRad="38100" dist="38100" dir="2700000" algn="tl">
                    <a:srgbClr val="FFFFFF"/>
                  </a:outerShdw>
                </a:effectLst>
                <a:uLnTx/>
                <a:uFillTx/>
                <a:latin typeface="黑体" panose="02010609060101010101" pitchFamily="49" charset="-122"/>
                <a:ea typeface="黑体" panose="02010609060101010101" pitchFamily="49" charset="-122"/>
                <a:cs typeface="+mn-cs"/>
              </a:rPr>
              <a:t>金刚石型结构</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这些材料的第</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IV</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族的</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C(</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碳)、</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Si(</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硅)、</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Ge(</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锗)、</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Sn(</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锡)，而</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Si</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和</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Ge</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均是重要的半导体材料。</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结合方式：正四面体的顶角上</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原子和中心原子各贡献一个价电子</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为该两个原子共有，共有的电子在</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两个原子之间形成较大的电子云密</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度，通过它们对原子实的引力把两</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个原子结合在一起，就是共价键。               </a:t>
            </a:r>
          </a:p>
        </p:txBody>
      </p:sp>
      <p:pic>
        <p:nvPicPr>
          <p:cNvPr id="10243" name="图片 1"/>
          <p:cNvPicPr>
            <a:picLocks noChangeAspect="1"/>
          </p:cNvPicPr>
          <p:nvPr/>
        </p:nvPicPr>
        <p:blipFill>
          <a:blip r:embed="rId2"/>
          <a:stretch>
            <a:fillRect/>
          </a:stretch>
        </p:blipFill>
        <p:spPr>
          <a:xfrm>
            <a:off x="5292725" y="3209925"/>
            <a:ext cx="3390900" cy="326707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533400" y="1828800"/>
            <a:ext cx="8305800" cy="4648200"/>
          </a:xfrm>
        </p:spPr>
        <p:txBody>
          <a:bodyPr vert="horz" wrap="square" lIns="91440" tIns="45720" rIns="91440" bIns="45720" numCol="1" anchor="t" anchorCtr="0" compatLnSpc="1"/>
          <a:lstStyle/>
          <a:p>
            <a:pPr marL="101600" marR="0" lvl="0" indent="-101600" algn="l"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defRPr/>
            </a:pP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结构特点：                                       </a:t>
            </a:r>
            <a:endPar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1</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、金刚石型结构为两个面心立方的套</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构。一个基元有两个原子，相距为对角</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线长度的1/4，</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n=2。</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因此，晶格的格</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波有3</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支离子振动格波，3个声学波和</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3</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n-3</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个光学</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波。</a:t>
            </a: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正四面体：顶角、中心有原子</a:t>
            </a: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电子云密度大-</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sym typeface="Wingdings" panose="05000000000000000000" pitchFamily="2" charset="2"/>
              </a:rPr>
              <a:t>共价键-配位数</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endParaRPr kumimoji="1" lang="en-US" altLang="zh-CN"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000" b="1" i="0" u="none" strike="noStrike" kern="0" cap="none" spc="0" normalizeH="0" baseline="0" noProof="0" dirty="0">
              <a:ln>
                <a:noFill/>
              </a:ln>
              <a:solidFill>
                <a:srgbClr val="000099"/>
              </a:solidFill>
              <a:effectLst/>
              <a:uLnTx/>
              <a:uFillTx/>
              <a:latin typeface="+mn-lt"/>
              <a:ea typeface="+mn-ea"/>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000" b="1" i="0" u="none" strike="noStrike" kern="0" cap="none" spc="0" normalizeH="0" baseline="0" noProof="0" dirty="0">
              <a:ln>
                <a:noFill/>
              </a:ln>
              <a:solidFill>
                <a:srgbClr val="000099"/>
              </a:solidFill>
              <a:effectLst/>
              <a:uLnTx/>
              <a:uFillTx/>
              <a:latin typeface="+mn-lt"/>
              <a:ea typeface="+mn-ea"/>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000" b="1" i="0" u="none" strike="noStrike" kern="0" cap="none" spc="0" normalizeH="0" baseline="0" noProof="0" dirty="0">
              <a:ln>
                <a:noFill/>
              </a:ln>
              <a:solidFill>
                <a:srgbClr val="000099"/>
              </a:solidFill>
              <a:effectLst/>
              <a:uLnTx/>
              <a:uFillTx/>
              <a:latin typeface="+mn-lt"/>
              <a:ea typeface="+mn-ea"/>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800" b="0" i="0" u="none" strike="noStrike" kern="0" cap="none" spc="0" normalizeH="0" baseline="0" noProof="0" dirty="0">
                <a:ln>
                  <a:noFill/>
                </a:ln>
                <a:solidFill>
                  <a:srgbClr val="0033CC"/>
                </a:solidFill>
                <a:effectLst/>
                <a:uLnTx/>
                <a:uFillTx/>
                <a:latin typeface="+mn-lt"/>
                <a:ea typeface="+mn-ea"/>
                <a:cs typeface="+mn-cs"/>
              </a:rPr>
              <a:t> </a:t>
            </a:r>
          </a:p>
        </p:txBody>
      </p:sp>
      <p:pic>
        <p:nvPicPr>
          <p:cNvPr id="11266" name="图片 2"/>
          <p:cNvPicPr>
            <a:picLocks noChangeAspect="1"/>
          </p:cNvPicPr>
          <p:nvPr/>
        </p:nvPicPr>
        <p:blipFill>
          <a:blip r:embed="rId2"/>
          <a:stretch>
            <a:fillRect/>
          </a:stretch>
        </p:blipFill>
        <p:spPr>
          <a:xfrm>
            <a:off x="6146800" y="3775075"/>
            <a:ext cx="2997200" cy="2814638"/>
          </a:xfrm>
          <a:prstGeom prst="rect">
            <a:avLst/>
          </a:prstGeom>
          <a:noFill/>
          <a:ln w="9525">
            <a:noFill/>
          </a:ln>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82193" y="1772815"/>
            <a:ext cx="2904000" cy="2178000"/>
          </a:xfrm>
          <a:prstGeom prst="rect">
            <a:avLst/>
          </a:prstGeom>
          <a:effectLst>
            <a:reflection stA="0" endPos="65000" dist="50800" dir="5400000" sy="-100000" algn="bl" rotWithShape="0"/>
          </a:effectLst>
        </p:spPr>
      </p:pic>
      <p:sp>
        <p:nvSpPr>
          <p:cNvPr id="11268"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1.1  半导体的晶格结构和结合性质</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CE2647DE-41B1-D2D7-F1B5-7640DDCFF90E}"/>
                  </a:ext>
                </a:extLst>
              </p14:cNvPr>
              <p14:cNvContentPartPr/>
              <p14:nvPr/>
            </p14:nvContentPartPr>
            <p14:xfrm>
              <a:off x="1140232" y="3912213"/>
              <a:ext cx="2589840" cy="80640"/>
            </p14:xfrm>
          </p:contentPart>
        </mc:Choice>
        <mc:Fallback xmlns="">
          <p:pic>
            <p:nvPicPr>
              <p:cNvPr id="2" name="墨迹 1">
                <a:extLst>
                  <a:ext uri="{FF2B5EF4-FFF2-40B4-BE49-F238E27FC236}">
                    <a16:creationId xmlns:a16="http://schemas.microsoft.com/office/drawing/2014/main" id="{CE2647DE-41B1-D2D7-F1B5-7640DDCFF90E}"/>
                  </a:ext>
                </a:extLst>
              </p:cNvPr>
              <p:cNvPicPr/>
              <p:nvPr/>
            </p:nvPicPr>
            <p:blipFill>
              <a:blip r:embed="rId5"/>
              <a:stretch>
                <a:fillRect/>
              </a:stretch>
            </p:blipFill>
            <p:spPr>
              <a:xfrm>
                <a:off x="1086232" y="3804213"/>
                <a:ext cx="269748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9150358F-860B-889D-B876-6381F579E191}"/>
                  </a:ext>
                </a:extLst>
              </p14:cNvPr>
              <p14:cNvContentPartPr/>
              <p14:nvPr/>
            </p14:nvContentPartPr>
            <p14:xfrm>
              <a:off x="4237672" y="3766053"/>
              <a:ext cx="1100880" cy="156960"/>
            </p14:xfrm>
          </p:contentPart>
        </mc:Choice>
        <mc:Fallback xmlns="">
          <p:pic>
            <p:nvPicPr>
              <p:cNvPr id="3" name="墨迹 2">
                <a:extLst>
                  <a:ext uri="{FF2B5EF4-FFF2-40B4-BE49-F238E27FC236}">
                    <a16:creationId xmlns:a16="http://schemas.microsoft.com/office/drawing/2014/main" id="{9150358F-860B-889D-B876-6381F579E191}"/>
                  </a:ext>
                </a:extLst>
              </p:cNvPr>
              <p:cNvPicPr/>
              <p:nvPr/>
            </p:nvPicPr>
            <p:blipFill>
              <a:blip r:embed="rId7"/>
              <a:stretch>
                <a:fillRect/>
              </a:stretch>
            </p:blipFill>
            <p:spPr>
              <a:xfrm>
                <a:off x="4183672" y="3658413"/>
                <a:ext cx="120852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F3469F0D-DD89-224D-B1B2-8EC7B0C9BBEC}"/>
                  </a:ext>
                </a:extLst>
              </p14:cNvPr>
              <p14:cNvContentPartPr/>
              <p14:nvPr/>
            </p14:nvContentPartPr>
            <p14:xfrm>
              <a:off x="913792" y="4492173"/>
              <a:ext cx="1053000" cy="30600"/>
            </p14:xfrm>
          </p:contentPart>
        </mc:Choice>
        <mc:Fallback xmlns="">
          <p:pic>
            <p:nvPicPr>
              <p:cNvPr id="5" name="墨迹 4">
                <a:extLst>
                  <a:ext uri="{FF2B5EF4-FFF2-40B4-BE49-F238E27FC236}">
                    <a16:creationId xmlns:a16="http://schemas.microsoft.com/office/drawing/2014/main" id="{F3469F0D-DD89-224D-B1B2-8EC7B0C9BBEC}"/>
                  </a:ext>
                </a:extLst>
              </p:cNvPr>
              <p:cNvPicPr/>
              <p:nvPr/>
            </p:nvPicPr>
            <p:blipFill>
              <a:blip r:embed="rId9"/>
              <a:stretch>
                <a:fillRect/>
              </a:stretch>
            </p:blipFill>
            <p:spPr>
              <a:xfrm>
                <a:off x="860152" y="4384173"/>
                <a:ext cx="1160640" cy="24624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Grp="1"/>
          </p:cNvSpPr>
          <p:nvPr>
            <p:ph idx="1"/>
          </p:nvPr>
        </p:nvSpPr>
        <p:spPr>
          <a:xfrm>
            <a:off x="912813" y="1905000"/>
            <a:ext cx="8110537" cy="4572000"/>
          </a:xfrm>
        </p:spPr>
        <p:txBody>
          <a:bodyPr vert="horz" wrap="square" lIns="91440" tIns="45720" rIns="91440" bIns="45720" anchor="t" anchorCtr="0"/>
          <a:lstStyle/>
          <a:p>
            <a:pPr marL="101600" indent="-101600" eaLnBrk="1" hangingPunct="1">
              <a:buNone/>
            </a:pPr>
            <a:r>
              <a:rPr lang="zh-CN" altLang="en-US" sz="2400" dirty="0">
                <a:latin typeface="黑体" panose="02010609060101010101" pitchFamily="49" charset="-122"/>
                <a:ea typeface="黑体" panose="02010609060101010101" pitchFamily="49" charset="-122"/>
              </a:rPr>
              <a:t>2、任何一个原子的最近邻均有4个原子。</a:t>
            </a:r>
            <a:endParaRPr lang="en-US" altLang="zh-CN" sz="2400" dirty="0">
              <a:latin typeface="黑体" panose="02010609060101010101" pitchFamily="49" charset="-122"/>
              <a:ea typeface="黑体" panose="02010609060101010101" pitchFamily="49" charset="-122"/>
            </a:endParaRPr>
          </a:p>
          <a:p>
            <a:pPr marL="101600" indent="-101600" eaLnBrk="1" hangingPunct="1">
              <a:buNone/>
            </a:pPr>
            <a:r>
              <a:rPr lang="zh-CN" altLang="en-US" sz="2400" dirty="0">
                <a:latin typeface="黑体" panose="02010609060101010101" pitchFamily="49" charset="-122"/>
                <a:ea typeface="黑体" panose="02010609060101010101" pitchFamily="49" charset="-122"/>
              </a:rPr>
              <a:t>例如，离</a:t>
            </a:r>
            <a:r>
              <a:rPr lang="en-US" altLang="zh-CN" sz="2400" dirty="0">
                <a:latin typeface="黑体" panose="02010609060101010101" pitchFamily="49" charset="-122"/>
                <a:ea typeface="黑体" panose="02010609060101010101" pitchFamily="49" charset="-122"/>
              </a:rPr>
              <a:t>O</a:t>
            </a:r>
            <a:r>
              <a:rPr lang="zh-CN" altLang="en-US" sz="2400" dirty="0">
                <a:latin typeface="黑体" panose="02010609060101010101" pitchFamily="49" charset="-122"/>
                <a:ea typeface="黑体" panose="02010609060101010101" pitchFamily="49" charset="-122"/>
              </a:rPr>
              <a:t>点对角线1/4处的原子的最近</a:t>
            </a:r>
            <a:endParaRPr lang="en-US" altLang="zh-CN" sz="2400" dirty="0">
              <a:latin typeface="黑体" panose="02010609060101010101" pitchFamily="49" charset="-122"/>
              <a:ea typeface="黑体" panose="02010609060101010101" pitchFamily="49" charset="-122"/>
            </a:endParaRPr>
          </a:p>
          <a:p>
            <a:pPr marL="101600" indent="-101600" eaLnBrk="1" hangingPunct="1">
              <a:buNone/>
            </a:pPr>
            <a:r>
              <a:rPr lang="zh-CN" altLang="en-US" sz="2400" dirty="0">
                <a:latin typeface="黑体" panose="02010609060101010101" pitchFamily="49" charset="-122"/>
                <a:ea typeface="黑体" panose="02010609060101010101" pitchFamily="49" charset="-122"/>
              </a:rPr>
              <a:t>邻原子为0点原子和三个面心原子，它</a:t>
            </a:r>
            <a:endParaRPr lang="en-US" altLang="zh-CN" sz="2400" dirty="0">
              <a:latin typeface="黑体" panose="02010609060101010101" pitchFamily="49" charset="-122"/>
              <a:ea typeface="黑体" panose="02010609060101010101" pitchFamily="49" charset="-122"/>
            </a:endParaRPr>
          </a:p>
          <a:p>
            <a:pPr marL="101600" indent="-101600" eaLnBrk="1" hangingPunct="1">
              <a:buNone/>
            </a:pPr>
            <a:r>
              <a:rPr lang="zh-CN" altLang="en-US" sz="2400" dirty="0">
                <a:latin typeface="黑体" panose="02010609060101010101" pitchFamily="49" charset="-122"/>
                <a:ea typeface="黑体" panose="02010609060101010101" pitchFamily="49" charset="-122"/>
              </a:rPr>
              <a:t>们形成了一个正四面体。</a:t>
            </a:r>
          </a:p>
          <a:p>
            <a:pPr marL="101600" indent="-101600" eaLnBrk="1" hangingPunct="1">
              <a:buNone/>
            </a:pPr>
            <a:r>
              <a:rPr lang="zh-CN" altLang="en-US" sz="2400" dirty="0">
                <a:latin typeface="黑体" panose="02010609060101010101" pitchFamily="49" charset="-122"/>
                <a:ea typeface="黑体" panose="02010609060101010101" pitchFamily="49" charset="-122"/>
              </a:rPr>
              <a:t>3、“杂化轨道”：每个原子的最外层价</a:t>
            </a:r>
            <a:endParaRPr lang="en-US" altLang="zh-CN" sz="2400" dirty="0">
              <a:latin typeface="黑体" panose="02010609060101010101" pitchFamily="49" charset="-122"/>
              <a:ea typeface="黑体" panose="02010609060101010101" pitchFamily="49" charset="-122"/>
            </a:endParaRPr>
          </a:p>
          <a:p>
            <a:pPr marL="101600" indent="-101600" eaLnBrk="1" hangingPunct="1">
              <a:buNone/>
            </a:pPr>
            <a:r>
              <a:rPr lang="zh-CN" altLang="en-US" sz="2400" dirty="0">
                <a:latin typeface="黑体" panose="02010609060101010101" pitchFamily="49" charset="-122"/>
                <a:ea typeface="黑体" panose="02010609060101010101" pitchFamily="49" charset="-122"/>
              </a:rPr>
              <a:t>电子为一个</a:t>
            </a:r>
            <a:r>
              <a:rPr lang="en-US" altLang="zh-CN" sz="2400" dirty="0">
                <a:latin typeface="黑体" panose="02010609060101010101" pitchFamily="49" charset="-122"/>
                <a:ea typeface="黑体" panose="02010609060101010101" pitchFamily="49" charset="-122"/>
              </a:rPr>
              <a:t>s</a:t>
            </a:r>
            <a:r>
              <a:rPr lang="zh-CN" altLang="en-US" sz="2400" dirty="0">
                <a:latin typeface="黑体" panose="02010609060101010101" pitchFamily="49" charset="-122"/>
                <a:ea typeface="黑体" panose="02010609060101010101" pitchFamily="49" charset="-122"/>
              </a:rPr>
              <a:t>态电子和三个</a:t>
            </a:r>
            <a:r>
              <a:rPr lang="en-US" altLang="zh-CN" sz="2400" dirty="0">
                <a:latin typeface="黑体" panose="02010609060101010101" pitchFamily="49" charset="-122"/>
                <a:ea typeface="黑体" panose="02010609060101010101" pitchFamily="49" charset="-122"/>
              </a:rPr>
              <a:t>p</a:t>
            </a:r>
            <a:r>
              <a:rPr lang="zh-CN" altLang="en-US" sz="2400" dirty="0">
                <a:latin typeface="黑体" panose="02010609060101010101" pitchFamily="49" charset="-122"/>
                <a:ea typeface="黑体" panose="02010609060101010101" pitchFamily="49" charset="-122"/>
              </a:rPr>
              <a:t>态电子。在与相邻的四个原子结</a:t>
            </a:r>
            <a:endParaRPr lang="en-US" altLang="zh-CN" sz="2400" dirty="0">
              <a:latin typeface="黑体" panose="02010609060101010101" pitchFamily="49" charset="-122"/>
              <a:ea typeface="黑体" panose="02010609060101010101" pitchFamily="49" charset="-122"/>
            </a:endParaRPr>
          </a:p>
          <a:p>
            <a:pPr marL="101600" indent="-101600" eaLnBrk="1" hangingPunct="1">
              <a:buNone/>
            </a:pPr>
            <a:r>
              <a:rPr lang="zh-CN" altLang="en-US" sz="2400" dirty="0">
                <a:latin typeface="黑体" panose="02010609060101010101" pitchFamily="49" charset="-122"/>
                <a:ea typeface="黑体" panose="02010609060101010101" pitchFamily="49" charset="-122"/>
              </a:rPr>
              <a:t>合时，四个共用电子对完全等价，难以区分出</a:t>
            </a:r>
            <a:r>
              <a:rPr lang="en-US" altLang="zh-CN" sz="2400" dirty="0">
                <a:latin typeface="黑体" panose="02010609060101010101" pitchFamily="49" charset="-122"/>
                <a:ea typeface="黑体" panose="02010609060101010101" pitchFamily="49" charset="-122"/>
              </a:rPr>
              <a:t>s</a:t>
            </a:r>
            <a:r>
              <a:rPr lang="zh-CN" altLang="en-US" sz="2400" dirty="0">
                <a:latin typeface="黑体" panose="02010609060101010101" pitchFamily="49" charset="-122"/>
                <a:ea typeface="黑体" panose="02010609060101010101" pitchFamily="49" charset="-122"/>
              </a:rPr>
              <a:t>与</a:t>
            </a:r>
            <a:r>
              <a:rPr lang="en-US" altLang="zh-CN" sz="2400" dirty="0">
                <a:latin typeface="黑体" panose="02010609060101010101" pitchFamily="49" charset="-122"/>
                <a:ea typeface="黑体" panose="02010609060101010101" pitchFamily="49" charset="-122"/>
              </a:rPr>
              <a:t>p</a:t>
            </a:r>
            <a:r>
              <a:rPr lang="zh-CN" altLang="en-US" sz="2400" dirty="0">
                <a:latin typeface="黑体" panose="02010609060101010101" pitchFamily="49" charset="-122"/>
                <a:ea typeface="黑体" panose="02010609060101010101" pitchFamily="49" charset="-122"/>
              </a:rPr>
              <a:t>态电子，</a:t>
            </a:r>
            <a:endParaRPr lang="en-US" altLang="zh-CN" sz="2400" dirty="0">
              <a:latin typeface="黑体" panose="02010609060101010101" pitchFamily="49" charset="-122"/>
              <a:ea typeface="黑体" panose="02010609060101010101" pitchFamily="49" charset="-122"/>
            </a:endParaRPr>
          </a:p>
          <a:p>
            <a:pPr marL="101600" indent="-101600" eaLnBrk="1" hangingPunct="1">
              <a:buNone/>
            </a:pPr>
            <a:r>
              <a:rPr lang="zh-CN" altLang="en-US" sz="2400" dirty="0">
                <a:latin typeface="黑体" panose="02010609060101010101" pitchFamily="49" charset="-122"/>
                <a:ea typeface="黑体" panose="02010609060101010101" pitchFamily="49" charset="-122"/>
              </a:rPr>
              <a:t>因而人们提出了的“杂化轨道”概念：一个</a:t>
            </a:r>
            <a:r>
              <a:rPr lang="en-US" altLang="zh-CN" sz="2400" dirty="0">
                <a:latin typeface="黑体" panose="02010609060101010101" pitchFamily="49" charset="-122"/>
                <a:ea typeface="黑体" panose="02010609060101010101" pitchFamily="49" charset="-122"/>
              </a:rPr>
              <a:t>s</a:t>
            </a:r>
            <a:r>
              <a:rPr lang="zh-CN" altLang="en-US" sz="2400" dirty="0">
                <a:latin typeface="黑体" panose="02010609060101010101" pitchFamily="49" charset="-122"/>
                <a:ea typeface="黑体" panose="02010609060101010101" pitchFamily="49" charset="-122"/>
              </a:rPr>
              <a:t>和三个</a:t>
            </a:r>
            <a:r>
              <a:rPr lang="en-US" altLang="zh-CN" sz="2400" dirty="0">
                <a:latin typeface="黑体" panose="02010609060101010101" pitchFamily="49" charset="-122"/>
                <a:ea typeface="黑体" panose="02010609060101010101" pitchFamily="49" charset="-122"/>
              </a:rPr>
              <a:t>p</a:t>
            </a:r>
            <a:r>
              <a:rPr lang="zh-CN" altLang="en-US" sz="2400" dirty="0">
                <a:latin typeface="黑体" panose="02010609060101010101" pitchFamily="49" charset="-122"/>
                <a:ea typeface="黑体" panose="02010609060101010101" pitchFamily="49" charset="-122"/>
              </a:rPr>
              <a:t>轨道形</a:t>
            </a:r>
            <a:endParaRPr lang="en-US" altLang="zh-CN" sz="2400" dirty="0">
              <a:latin typeface="黑体" panose="02010609060101010101" pitchFamily="49" charset="-122"/>
              <a:ea typeface="黑体" panose="02010609060101010101" pitchFamily="49" charset="-122"/>
            </a:endParaRPr>
          </a:p>
          <a:p>
            <a:pPr marL="101600" indent="-101600" eaLnBrk="1" hangingPunct="1">
              <a:buNone/>
            </a:pPr>
            <a:r>
              <a:rPr lang="zh-CN" altLang="en-US" sz="2400" dirty="0">
                <a:latin typeface="黑体" panose="02010609060101010101" pitchFamily="49" charset="-122"/>
                <a:ea typeface="黑体" panose="02010609060101010101" pitchFamily="49" charset="-122"/>
              </a:rPr>
              <a:t>成了能量相同的</a:t>
            </a:r>
            <a:r>
              <a:rPr lang="en-US" altLang="zh-CN" sz="2400" dirty="0">
                <a:latin typeface="黑体" panose="02010609060101010101" pitchFamily="49" charset="-122"/>
                <a:ea typeface="黑体" panose="02010609060101010101" pitchFamily="49" charset="-122"/>
              </a:rPr>
              <a:t>sp3</a:t>
            </a:r>
            <a:r>
              <a:rPr lang="zh-CN" altLang="en-US" sz="2400" dirty="0">
                <a:latin typeface="黑体" panose="02010609060101010101" pitchFamily="49" charset="-122"/>
                <a:ea typeface="黑体" panose="02010609060101010101" pitchFamily="49" charset="-122"/>
              </a:rPr>
              <a:t>杂化轨道。</a:t>
            </a:r>
          </a:p>
        </p:txBody>
      </p:sp>
      <p:pic>
        <p:nvPicPr>
          <p:cNvPr id="12290" name="图片 1"/>
          <p:cNvPicPr>
            <a:picLocks noChangeAspect="1"/>
          </p:cNvPicPr>
          <p:nvPr/>
        </p:nvPicPr>
        <p:blipFill>
          <a:blip r:embed="rId2"/>
          <a:stretch>
            <a:fillRect/>
          </a:stretch>
        </p:blipFill>
        <p:spPr>
          <a:xfrm>
            <a:off x="6372225" y="1700213"/>
            <a:ext cx="2400300" cy="2362200"/>
          </a:xfrm>
          <a:prstGeom prst="rect">
            <a:avLst/>
          </a:prstGeom>
          <a:noFill/>
          <a:ln w="9525">
            <a:noFill/>
          </a:ln>
        </p:spPr>
      </p:pic>
      <p:sp>
        <p:nvSpPr>
          <p:cNvPr id="12291"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1.1  半导体的晶格结构和结合性质</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49C16DE7-5E46-0B78-4960-484D0DC7900D}"/>
                  </a:ext>
                </a:extLst>
              </p14:cNvPr>
              <p14:cNvContentPartPr/>
              <p14:nvPr/>
            </p14:nvContentPartPr>
            <p14:xfrm>
              <a:off x="3086752" y="5200293"/>
              <a:ext cx="4817520" cy="49680"/>
            </p14:xfrm>
          </p:contentPart>
        </mc:Choice>
        <mc:Fallback xmlns="">
          <p:pic>
            <p:nvPicPr>
              <p:cNvPr id="2" name="墨迹 1">
                <a:extLst>
                  <a:ext uri="{FF2B5EF4-FFF2-40B4-BE49-F238E27FC236}">
                    <a16:creationId xmlns:a16="http://schemas.microsoft.com/office/drawing/2014/main" id="{49C16DE7-5E46-0B78-4960-484D0DC7900D}"/>
                  </a:ext>
                </a:extLst>
              </p:cNvPr>
              <p:cNvPicPr/>
              <p:nvPr/>
            </p:nvPicPr>
            <p:blipFill>
              <a:blip r:embed="rId4"/>
              <a:stretch>
                <a:fillRect/>
              </a:stretch>
            </p:blipFill>
            <p:spPr>
              <a:xfrm>
                <a:off x="3033112" y="5092653"/>
                <a:ext cx="492516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30FCD907-2777-9FD2-0504-6E241994E71F}"/>
                  </a:ext>
                </a:extLst>
              </p14:cNvPr>
              <p14:cNvContentPartPr/>
              <p14:nvPr/>
            </p14:nvContentPartPr>
            <p14:xfrm>
              <a:off x="1435072" y="5702133"/>
              <a:ext cx="2464560" cy="360"/>
            </p14:xfrm>
          </p:contentPart>
        </mc:Choice>
        <mc:Fallback xmlns="">
          <p:pic>
            <p:nvPicPr>
              <p:cNvPr id="3" name="墨迹 2">
                <a:extLst>
                  <a:ext uri="{FF2B5EF4-FFF2-40B4-BE49-F238E27FC236}">
                    <a16:creationId xmlns:a16="http://schemas.microsoft.com/office/drawing/2014/main" id="{30FCD907-2777-9FD2-0504-6E241994E71F}"/>
                  </a:ext>
                </a:extLst>
              </p:cNvPr>
              <p:cNvPicPr/>
              <p:nvPr/>
            </p:nvPicPr>
            <p:blipFill>
              <a:blip r:embed="rId6"/>
              <a:stretch>
                <a:fillRect/>
              </a:stretch>
            </p:blipFill>
            <p:spPr>
              <a:xfrm>
                <a:off x="1381432" y="5594493"/>
                <a:ext cx="2572200" cy="21600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p:cNvSpPr>
          <p:nvPr>
            <p:ph idx="1"/>
          </p:nvPr>
        </p:nvSpPr>
        <p:spPr>
          <a:xfrm>
            <a:off x="228600" y="6026150"/>
            <a:ext cx="8382000" cy="720725"/>
          </a:xfrm>
        </p:spPr>
        <p:txBody>
          <a:bodyPr vert="horz" wrap="square" lIns="91440" tIns="45720" rIns="91440" bIns="45720" anchor="t" anchorCtr="0"/>
          <a:lstStyle/>
          <a:p>
            <a:pPr marL="101600" indent="-101600" eaLnBrk="1" hangingPunct="1">
              <a:lnSpc>
                <a:spcPct val="90000"/>
              </a:lnSpc>
              <a:buNone/>
            </a:pPr>
            <a:r>
              <a:rPr lang="zh-CN" altLang="en-US" sz="2400" dirty="0">
                <a:latin typeface="黑体" panose="02010609060101010101" pitchFamily="49" charset="-122"/>
                <a:ea typeface="黑体" panose="02010609060101010101" pitchFamily="49" charset="-122"/>
              </a:rPr>
              <a:t>注：&lt;100&gt;表示 [100],[010],…等六个晶面方向；</a:t>
            </a:r>
          </a:p>
          <a:p>
            <a:pPr marL="101600" indent="-101600" eaLnBrk="1" hangingPunct="1">
              <a:lnSpc>
                <a:spcPct val="90000"/>
              </a:lnSpc>
              <a:buNone/>
            </a:pPr>
            <a:r>
              <a:rPr lang="en-US" altLang="zh-CN" sz="2400" dirty="0">
                <a:latin typeface="黑体" panose="02010609060101010101" pitchFamily="49" charset="-122"/>
                <a:ea typeface="黑体" panose="02010609060101010101" pitchFamily="49" charset="-122"/>
              </a:rPr>
              <a:t>{110}</a:t>
            </a:r>
            <a:r>
              <a:rPr lang="zh-CN" altLang="en-US" sz="2400" dirty="0">
                <a:latin typeface="黑体" panose="02010609060101010101" pitchFamily="49" charset="-122"/>
                <a:ea typeface="黑体" panose="02010609060101010101" pitchFamily="49" charset="-122"/>
              </a:rPr>
              <a:t>表示(110),(101),…等六个密勒指数的晶面方向。</a:t>
            </a:r>
          </a:p>
          <a:p>
            <a:pPr marL="101600" indent="-101600" eaLnBrk="1" hangingPunct="1">
              <a:buNone/>
            </a:pPr>
            <a:endParaRPr lang="en-US" altLang="zh-CN" sz="2400" dirty="0">
              <a:latin typeface="黑体" panose="02010609060101010101" pitchFamily="49" charset="-122"/>
              <a:ea typeface="黑体" panose="02010609060101010101" pitchFamily="49" charset="-122"/>
            </a:endParaRPr>
          </a:p>
          <a:p>
            <a:pPr marL="101600" indent="-101600" eaLnBrk="1" hangingPunct="1">
              <a:lnSpc>
                <a:spcPct val="90000"/>
              </a:lnSpc>
              <a:buNone/>
            </a:pPr>
            <a:endParaRPr lang="zh-CN" altLang="en-US" sz="2400" dirty="0">
              <a:latin typeface="黑体" panose="02010609060101010101" pitchFamily="49" charset="-122"/>
              <a:ea typeface="黑体" panose="02010609060101010101" pitchFamily="49" charset="-122"/>
            </a:endParaRPr>
          </a:p>
        </p:txBody>
      </p:sp>
      <p:sp>
        <p:nvSpPr>
          <p:cNvPr id="13314" name="Rectangle 6"/>
          <p:cNvSpPr/>
          <p:nvPr/>
        </p:nvSpPr>
        <p:spPr>
          <a:xfrm>
            <a:off x="228600" y="1773238"/>
            <a:ext cx="3983038" cy="4252912"/>
          </a:xfrm>
          <a:prstGeom prst="rect">
            <a:avLst/>
          </a:prstGeom>
          <a:noFill/>
          <a:ln w="9525">
            <a:noFill/>
          </a:ln>
        </p:spPr>
        <p:txBody>
          <a:bodyPr anchor="t" anchorCtr="0">
            <a:spAutoFit/>
          </a:bodyPr>
          <a:lstStyle/>
          <a:p>
            <a:pPr marL="101600" indent="-101600">
              <a:buClr>
                <a:schemeClr val="folHlink"/>
              </a:buClr>
              <a:buSzPct val="75000"/>
            </a:pPr>
            <a:r>
              <a:rPr lang="zh-CN" altLang="en-US" sz="2800" dirty="0">
                <a:solidFill>
                  <a:srgbClr val="0033CC"/>
                </a:solidFill>
                <a:latin typeface="黑体" panose="02010609060101010101" pitchFamily="49" charset="-122"/>
                <a:ea typeface="黑体" panose="02010609060101010101" pitchFamily="49" charset="-122"/>
              </a:rPr>
              <a:t>原胞</a:t>
            </a:r>
            <a:endParaRPr lang="en-US" altLang="zh-CN" sz="2800" dirty="0">
              <a:solidFill>
                <a:srgbClr val="0033CC"/>
              </a:solidFill>
              <a:latin typeface="黑体" panose="02010609060101010101" pitchFamily="49" charset="-122"/>
              <a:ea typeface="黑体" panose="02010609060101010101" pitchFamily="49" charset="-122"/>
            </a:endParaRPr>
          </a:p>
          <a:p>
            <a:pPr marL="101600" indent="-101600">
              <a:spcBef>
                <a:spcPct val="20000"/>
              </a:spcBef>
              <a:buClr>
                <a:schemeClr val="folHlink"/>
              </a:buClr>
              <a:buSzPct val="75000"/>
            </a:pPr>
            <a:r>
              <a:rPr lang="zh-CN" altLang="en-US" b="0" dirty="0">
                <a:latin typeface="黑体" panose="02010609060101010101" pitchFamily="49" charset="-122"/>
                <a:ea typeface="黑体" panose="02010609060101010101" pitchFamily="49" charset="-122"/>
              </a:rPr>
              <a:t>固体物理学原胞：基于固体物理学中的基矢平衡构成的原胞，体积最小；</a:t>
            </a:r>
          </a:p>
          <a:p>
            <a:pPr marL="101600" indent="-101600">
              <a:spcBef>
                <a:spcPct val="20000"/>
              </a:spcBef>
              <a:buClr>
                <a:schemeClr val="folHlink"/>
              </a:buClr>
              <a:buSzPct val="75000"/>
            </a:pPr>
            <a:r>
              <a:rPr lang="zh-CN" altLang="en-US" b="0" dirty="0">
                <a:latin typeface="黑体" panose="02010609060101010101" pitchFamily="49" charset="-122"/>
                <a:ea typeface="黑体" panose="02010609060101010101" pitchFamily="49" charset="-122"/>
              </a:rPr>
              <a:t>结晶学原胞：外观观测、对称性好，易于分析。</a:t>
            </a:r>
          </a:p>
          <a:p>
            <a:pPr marL="101600" indent="-101600">
              <a:spcBef>
                <a:spcPct val="20000"/>
              </a:spcBef>
              <a:buClr>
                <a:schemeClr val="folHlink"/>
              </a:buClr>
              <a:buSzPct val="75000"/>
            </a:pPr>
            <a:r>
              <a:rPr lang="zh-CN" altLang="en-US" b="0" dirty="0">
                <a:latin typeface="黑体" panose="02010609060101010101" pitchFamily="49" charset="-122"/>
                <a:ea typeface="黑体" panose="02010609060101010101" pitchFamily="49" charset="-122"/>
              </a:rPr>
              <a:t>图中：</a:t>
            </a:r>
            <a:r>
              <a:rPr lang="en-US" altLang="zh-CN" b="0" dirty="0">
                <a:latin typeface="黑体" panose="02010609060101010101" pitchFamily="49" charset="-122"/>
                <a:ea typeface="黑体" panose="02010609060101010101" pitchFamily="49" charset="-122"/>
              </a:rPr>
              <a:t>(a)</a:t>
            </a:r>
            <a:r>
              <a:rPr lang="zh-CN" altLang="en-US" b="0" dirty="0">
                <a:latin typeface="黑体" panose="02010609060101010101" pitchFamily="49" charset="-122"/>
                <a:ea typeface="黑体" panose="02010609060101010101" pitchFamily="49" charset="-122"/>
              </a:rPr>
              <a:t>四面体，</a:t>
            </a:r>
            <a:endParaRPr lang="en-US" altLang="zh-CN" b="0" dirty="0">
              <a:latin typeface="黑体" panose="02010609060101010101" pitchFamily="49" charset="-122"/>
              <a:ea typeface="黑体" panose="02010609060101010101" pitchFamily="49" charset="-122"/>
            </a:endParaRPr>
          </a:p>
          <a:p>
            <a:pPr marL="101600" indent="-101600">
              <a:spcBef>
                <a:spcPct val="20000"/>
              </a:spcBef>
              <a:buClr>
                <a:schemeClr val="folHlink"/>
              </a:buClr>
              <a:buSzPct val="75000"/>
            </a:pPr>
            <a:r>
              <a:rPr lang="zh-CN" altLang="en-US" b="0" dirty="0">
                <a:latin typeface="黑体" panose="02010609060101010101" pitchFamily="49" charset="-122"/>
                <a:ea typeface="黑体" panose="02010609060101010101" pitchFamily="49" charset="-122"/>
              </a:rPr>
              <a:t>(</a:t>
            </a:r>
            <a:r>
              <a:rPr lang="en-US" altLang="zh-CN" b="0" dirty="0">
                <a:latin typeface="黑体" panose="02010609060101010101" pitchFamily="49" charset="-122"/>
                <a:ea typeface="黑体" panose="02010609060101010101" pitchFamily="49" charset="-122"/>
              </a:rPr>
              <a:t>b)</a:t>
            </a:r>
            <a:r>
              <a:rPr lang="zh-CN" altLang="en-US" b="0" dirty="0">
                <a:latin typeface="黑体" panose="02010609060101010101" pitchFamily="49" charset="-122"/>
                <a:ea typeface="黑体" panose="02010609060101010101" pitchFamily="49" charset="-122"/>
              </a:rPr>
              <a:t>金刚石型结构，(</a:t>
            </a:r>
            <a:r>
              <a:rPr lang="en-US" altLang="zh-CN" b="0" dirty="0">
                <a:latin typeface="黑体" panose="02010609060101010101" pitchFamily="49" charset="-122"/>
                <a:ea typeface="黑体" panose="02010609060101010101" pitchFamily="49" charset="-122"/>
              </a:rPr>
              <a:t>c)</a:t>
            </a:r>
            <a:r>
              <a:rPr lang="zh-CN" altLang="en-US" b="0" dirty="0">
                <a:latin typeface="黑体" panose="02010609060101010101" pitchFamily="49" charset="-122"/>
                <a:ea typeface="黑体" panose="02010609060101010101" pitchFamily="49" charset="-122"/>
              </a:rPr>
              <a:t>晶胞，</a:t>
            </a:r>
            <a:endParaRPr lang="en-US" altLang="zh-CN" b="0" dirty="0">
              <a:latin typeface="黑体" panose="02010609060101010101" pitchFamily="49" charset="-122"/>
              <a:ea typeface="黑体" panose="02010609060101010101" pitchFamily="49" charset="-122"/>
            </a:endParaRPr>
          </a:p>
          <a:p>
            <a:pPr marL="101600" indent="-101600">
              <a:spcBef>
                <a:spcPct val="20000"/>
              </a:spcBef>
              <a:buClr>
                <a:schemeClr val="folHlink"/>
              </a:buClr>
              <a:buSzPct val="75000"/>
            </a:pPr>
            <a:r>
              <a:rPr lang="en-US" altLang="zh-CN" b="0" dirty="0">
                <a:latin typeface="黑体" panose="02010609060101010101" pitchFamily="49" charset="-122"/>
                <a:ea typeface="黑体" panose="02010609060101010101" pitchFamily="49" charset="-122"/>
              </a:rPr>
              <a:t>(d)(111)</a:t>
            </a:r>
            <a:r>
              <a:rPr lang="zh-CN" altLang="en-US" b="0" dirty="0">
                <a:latin typeface="黑体" panose="02010609060101010101" pitchFamily="49" charset="-122"/>
                <a:ea typeface="黑体" panose="02010609060101010101" pitchFamily="49" charset="-122"/>
              </a:rPr>
              <a:t>面得密堆积</a:t>
            </a:r>
            <a:endParaRPr lang="en-US" altLang="zh-CN" b="0" dirty="0">
              <a:latin typeface="黑体" panose="02010609060101010101" pitchFamily="49" charset="-122"/>
              <a:ea typeface="黑体" panose="02010609060101010101" pitchFamily="49" charset="-122"/>
            </a:endParaRPr>
          </a:p>
          <a:p>
            <a:pPr marL="101600" indent="-101600">
              <a:lnSpc>
                <a:spcPct val="90000"/>
              </a:lnSpc>
              <a:spcBef>
                <a:spcPct val="20000"/>
              </a:spcBef>
              <a:buClr>
                <a:schemeClr val="folHlink"/>
              </a:buClr>
              <a:buSzPct val="75000"/>
            </a:pPr>
            <a:r>
              <a:rPr lang="en-US" altLang="zh-CN" b="0" dirty="0">
                <a:latin typeface="黑体" panose="02010609060101010101" pitchFamily="49" charset="-122"/>
                <a:ea typeface="黑体" panose="02010609060101010101" pitchFamily="49" charset="-122"/>
              </a:rPr>
              <a:t>(e){100}</a:t>
            </a:r>
            <a:r>
              <a:rPr lang="zh-CN" altLang="en-US" b="0" dirty="0">
                <a:latin typeface="黑体" panose="02010609060101010101" pitchFamily="49" charset="-122"/>
                <a:ea typeface="黑体" panose="02010609060101010101" pitchFamily="49" charset="-122"/>
              </a:rPr>
              <a:t>面的投影</a:t>
            </a:r>
          </a:p>
        </p:txBody>
      </p:sp>
      <p:pic>
        <p:nvPicPr>
          <p:cNvPr id="13315" name="Picture 5" descr="00"/>
          <p:cNvPicPr>
            <a:picLocks noChangeAspect="1"/>
          </p:cNvPicPr>
          <p:nvPr/>
        </p:nvPicPr>
        <p:blipFill>
          <a:blip r:embed="rId2"/>
          <a:stretch>
            <a:fillRect/>
          </a:stretch>
        </p:blipFill>
        <p:spPr>
          <a:xfrm>
            <a:off x="4271963" y="1751013"/>
            <a:ext cx="4879975" cy="3622675"/>
          </a:xfrm>
          <a:prstGeom prst="rect">
            <a:avLst/>
          </a:prstGeom>
          <a:noFill/>
          <a:ln w="9525">
            <a:noFill/>
          </a:ln>
        </p:spPr>
      </p:pic>
      <p:sp>
        <p:nvSpPr>
          <p:cNvPr id="13316"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1.1  半导体的晶格结构和结合性质</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80B18727-30F3-8954-36C2-0E90A98BD301}"/>
                  </a:ext>
                </a:extLst>
              </p14:cNvPr>
              <p14:cNvContentPartPr/>
              <p14:nvPr/>
            </p14:nvContentPartPr>
            <p14:xfrm>
              <a:off x="1090912" y="6145270"/>
              <a:ext cx="5151240" cy="179280"/>
            </p14:xfrm>
          </p:contentPart>
        </mc:Choice>
        <mc:Fallback xmlns="">
          <p:pic>
            <p:nvPicPr>
              <p:cNvPr id="2" name="墨迹 1">
                <a:extLst>
                  <a:ext uri="{FF2B5EF4-FFF2-40B4-BE49-F238E27FC236}">
                    <a16:creationId xmlns:a16="http://schemas.microsoft.com/office/drawing/2014/main" id="{80B18727-30F3-8954-36C2-0E90A98BD301}"/>
                  </a:ext>
                </a:extLst>
              </p:cNvPr>
              <p:cNvPicPr/>
              <p:nvPr/>
            </p:nvPicPr>
            <p:blipFill>
              <a:blip r:embed="rId4"/>
              <a:stretch>
                <a:fillRect/>
              </a:stretch>
            </p:blipFill>
            <p:spPr>
              <a:xfrm>
                <a:off x="1036912" y="6037630"/>
                <a:ext cx="525888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9DEA7118-4679-25D1-57C3-42DBC7BAF80D}"/>
                  </a:ext>
                </a:extLst>
              </p14:cNvPr>
              <p14:cNvContentPartPr/>
              <p14:nvPr/>
            </p14:nvContentPartPr>
            <p14:xfrm>
              <a:off x="923512" y="6514630"/>
              <a:ext cx="5457240" cy="171000"/>
            </p14:xfrm>
          </p:contentPart>
        </mc:Choice>
        <mc:Fallback xmlns="">
          <p:pic>
            <p:nvPicPr>
              <p:cNvPr id="3" name="墨迹 2">
                <a:extLst>
                  <a:ext uri="{FF2B5EF4-FFF2-40B4-BE49-F238E27FC236}">
                    <a16:creationId xmlns:a16="http://schemas.microsoft.com/office/drawing/2014/main" id="{9DEA7118-4679-25D1-57C3-42DBC7BAF80D}"/>
                  </a:ext>
                </a:extLst>
              </p:cNvPr>
              <p:cNvPicPr/>
              <p:nvPr/>
            </p:nvPicPr>
            <p:blipFill>
              <a:blip r:embed="rId6"/>
              <a:stretch>
                <a:fillRect/>
              </a:stretch>
            </p:blipFill>
            <p:spPr>
              <a:xfrm>
                <a:off x="869872" y="6406990"/>
                <a:ext cx="5564880" cy="38664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179388" y="1905000"/>
            <a:ext cx="8843963" cy="4953000"/>
          </a:xfrm>
        </p:spPr>
        <p:txBody>
          <a:bodyPr vert="horz" wrap="square" lIns="91440" tIns="45720" rIns="91440" bIns="45720" numCol="1" anchor="t" anchorCtr="0" compatLnSpc="1"/>
          <a:lstStyle/>
          <a:p>
            <a:pPr marL="101600" marR="0" lvl="0" indent="-1016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构成了固体物理学原胞</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基矢有两个原子。</a:t>
            </a:r>
          </a:p>
          <a:p>
            <a:pPr marL="101600" marR="0" lvl="0" indent="-1016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b):</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每个实心的原子有四个相邻的空心原子(反之成立)，每个相</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邻的连线方向可以形成一个四面体。故一个原子成为了四个四面</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体的顶角。</a:t>
            </a:r>
          </a:p>
          <a:p>
            <a:pPr marL="101600" marR="0" lvl="0" indent="-1016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c):</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结晶学原胞</a:t>
            </a:r>
          </a:p>
          <a:p>
            <a:pPr marL="101600" marR="0" lvl="0" indent="-1016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d)(111)</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面的堆积，(</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e){100}</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面的投影</a:t>
            </a:r>
          </a:p>
          <a:p>
            <a:pPr marL="101600" marR="0" lvl="0" indent="-1016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d):</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取垂直于(</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c)</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中对角线的平面，如一个顶角最近邻的三个顶角，</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这三个顶角构成了</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(111)</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面。该层包含了套构的原子，形成了双</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101600" marR="0" lvl="0" indent="-1016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原子层的</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层。面心立方为</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ABC</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层排列。</a:t>
            </a:r>
          </a:p>
          <a:p>
            <a:pPr marL="101600" marR="0" lvl="0" indent="-1016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e):</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从上到下分为五层。</a:t>
            </a:r>
          </a:p>
        </p:txBody>
      </p:sp>
      <p:sp>
        <p:nvSpPr>
          <p:cNvPr id="14338"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1.1  半导体的晶格结构和结合性质</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271345E5-A76A-6198-7152-F5222B6A45E1}"/>
                  </a:ext>
                </a:extLst>
              </p14:cNvPr>
              <p14:cNvContentPartPr/>
              <p14:nvPr/>
            </p14:nvContentPartPr>
            <p14:xfrm>
              <a:off x="953392" y="2152893"/>
              <a:ext cx="4795200" cy="50760"/>
            </p14:xfrm>
          </p:contentPart>
        </mc:Choice>
        <mc:Fallback xmlns="">
          <p:pic>
            <p:nvPicPr>
              <p:cNvPr id="2" name="墨迹 1">
                <a:extLst>
                  <a:ext uri="{FF2B5EF4-FFF2-40B4-BE49-F238E27FC236}">
                    <a16:creationId xmlns:a16="http://schemas.microsoft.com/office/drawing/2014/main" id="{271345E5-A76A-6198-7152-F5222B6A45E1}"/>
                  </a:ext>
                </a:extLst>
              </p:cNvPr>
              <p:cNvPicPr/>
              <p:nvPr/>
            </p:nvPicPr>
            <p:blipFill>
              <a:blip r:embed="rId3"/>
              <a:stretch>
                <a:fillRect/>
              </a:stretch>
            </p:blipFill>
            <p:spPr>
              <a:xfrm>
                <a:off x="899752" y="2045253"/>
                <a:ext cx="49028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EC63FFA3-27D9-30AF-58AA-7063FF08EA2C}"/>
                  </a:ext>
                </a:extLst>
              </p14:cNvPr>
              <p14:cNvContentPartPr/>
              <p14:nvPr/>
            </p14:nvContentPartPr>
            <p14:xfrm>
              <a:off x="3998992" y="3310293"/>
              <a:ext cx="271800" cy="211680"/>
            </p14:xfrm>
          </p:contentPart>
        </mc:Choice>
        <mc:Fallback xmlns="">
          <p:pic>
            <p:nvPicPr>
              <p:cNvPr id="3" name="墨迹 2">
                <a:extLst>
                  <a:ext uri="{FF2B5EF4-FFF2-40B4-BE49-F238E27FC236}">
                    <a16:creationId xmlns:a16="http://schemas.microsoft.com/office/drawing/2014/main" id="{EC63FFA3-27D9-30AF-58AA-7063FF08EA2C}"/>
                  </a:ext>
                </a:extLst>
              </p:cNvPr>
              <p:cNvPicPr/>
              <p:nvPr/>
            </p:nvPicPr>
            <p:blipFill>
              <a:blip r:embed="rId5"/>
              <a:stretch>
                <a:fillRect/>
              </a:stretch>
            </p:blipFill>
            <p:spPr>
              <a:xfrm>
                <a:off x="3944992" y="3202293"/>
                <a:ext cx="379440" cy="427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6F4D5758-DD5A-F3C1-12C3-28DE38F94A8C}"/>
                  </a:ext>
                </a:extLst>
              </p14:cNvPr>
              <p14:cNvContentPartPr/>
              <p14:nvPr/>
            </p14:nvContentPartPr>
            <p14:xfrm>
              <a:off x="3425512" y="3330453"/>
              <a:ext cx="587520" cy="802080"/>
            </p14:xfrm>
          </p:contentPart>
        </mc:Choice>
        <mc:Fallback xmlns="">
          <p:pic>
            <p:nvPicPr>
              <p:cNvPr id="4" name="墨迹 3">
                <a:extLst>
                  <a:ext uri="{FF2B5EF4-FFF2-40B4-BE49-F238E27FC236}">
                    <a16:creationId xmlns:a16="http://schemas.microsoft.com/office/drawing/2014/main" id="{6F4D5758-DD5A-F3C1-12C3-28DE38F94A8C}"/>
                  </a:ext>
                </a:extLst>
              </p:cNvPr>
              <p:cNvPicPr/>
              <p:nvPr/>
            </p:nvPicPr>
            <p:blipFill>
              <a:blip r:embed="rId7"/>
              <a:stretch>
                <a:fillRect/>
              </a:stretch>
            </p:blipFill>
            <p:spPr>
              <a:xfrm>
                <a:off x="3371872" y="3222453"/>
                <a:ext cx="695160" cy="1017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7EC6089F-4CC2-19B4-6B99-187FAA70FD04}"/>
                  </a:ext>
                </a:extLst>
              </p14:cNvPr>
              <p14:cNvContentPartPr/>
              <p14:nvPr/>
            </p14:nvContentPartPr>
            <p14:xfrm>
              <a:off x="4352872" y="2379333"/>
              <a:ext cx="803520" cy="1036440"/>
            </p14:xfrm>
          </p:contentPart>
        </mc:Choice>
        <mc:Fallback xmlns="">
          <p:pic>
            <p:nvPicPr>
              <p:cNvPr id="5" name="墨迹 4">
                <a:extLst>
                  <a:ext uri="{FF2B5EF4-FFF2-40B4-BE49-F238E27FC236}">
                    <a16:creationId xmlns:a16="http://schemas.microsoft.com/office/drawing/2014/main" id="{7EC6089F-4CC2-19B4-6B99-187FAA70FD04}"/>
                  </a:ext>
                </a:extLst>
              </p:cNvPr>
              <p:cNvPicPr/>
              <p:nvPr/>
            </p:nvPicPr>
            <p:blipFill>
              <a:blip r:embed="rId9"/>
              <a:stretch>
                <a:fillRect/>
              </a:stretch>
            </p:blipFill>
            <p:spPr>
              <a:xfrm>
                <a:off x="4299232" y="2271693"/>
                <a:ext cx="911160" cy="1252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C2E5496A-E857-A59F-4F06-719C09EF7CBA}"/>
                  </a:ext>
                </a:extLst>
              </p14:cNvPr>
              <p14:cNvContentPartPr/>
              <p14:nvPr/>
            </p14:nvContentPartPr>
            <p14:xfrm>
              <a:off x="4106272" y="3334053"/>
              <a:ext cx="360360" cy="748440"/>
            </p14:xfrm>
          </p:contentPart>
        </mc:Choice>
        <mc:Fallback xmlns="">
          <p:pic>
            <p:nvPicPr>
              <p:cNvPr id="6" name="墨迹 5">
                <a:extLst>
                  <a:ext uri="{FF2B5EF4-FFF2-40B4-BE49-F238E27FC236}">
                    <a16:creationId xmlns:a16="http://schemas.microsoft.com/office/drawing/2014/main" id="{C2E5496A-E857-A59F-4F06-719C09EF7CBA}"/>
                  </a:ext>
                </a:extLst>
              </p:cNvPr>
              <p:cNvPicPr/>
              <p:nvPr/>
            </p:nvPicPr>
            <p:blipFill>
              <a:blip r:embed="rId11"/>
              <a:stretch>
                <a:fillRect/>
              </a:stretch>
            </p:blipFill>
            <p:spPr>
              <a:xfrm>
                <a:off x="4052272" y="3226413"/>
                <a:ext cx="468000" cy="964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墨迹 6">
                <a:extLst>
                  <a:ext uri="{FF2B5EF4-FFF2-40B4-BE49-F238E27FC236}">
                    <a16:creationId xmlns:a16="http://schemas.microsoft.com/office/drawing/2014/main" id="{DCD54A75-E367-206A-53F9-1AE1AABEFE85}"/>
                  </a:ext>
                </a:extLst>
              </p14:cNvPr>
              <p14:cNvContentPartPr/>
              <p14:nvPr/>
            </p14:nvContentPartPr>
            <p14:xfrm>
              <a:off x="3540352" y="2332533"/>
              <a:ext cx="867600" cy="959400"/>
            </p14:xfrm>
          </p:contentPart>
        </mc:Choice>
        <mc:Fallback xmlns="">
          <p:pic>
            <p:nvPicPr>
              <p:cNvPr id="7" name="墨迹 6">
                <a:extLst>
                  <a:ext uri="{FF2B5EF4-FFF2-40B4-BE49-F238E27FC236}">
                    <a16:creationId xmlns:a16="http://schemas.microsoft.com/office/drawing/2014/main" id="{DCD54A75-E367-206A-53F9-1AE1AABEFE85}"/>
                  </a:ext>
                </a:extLst>
              </p:cNvPr>
              <p:cNvPicPr/>
              <p:nvPr/>
            </p:nvPicPr>
            <p:blipFill>
              <a:blip r:embed="rId13"/>
              <a:stretch>
                <a:fillRect/>
              </a:stretch>
            </p:blipFill>
            <p:spPr>
              <a:xfrm>
                <a:off x="3486712" y="2224533"/>
                <a:ext cx="975240" cy="117504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912813" y="1905000"/>
            <a:ext cx="8110538" cy="4191000"/>
          </a:xfrm>
        </p:spPr>
        <p:txBody>
          <a:bodyPr vert="horz" wrap="square" lIns="91440" tIns="45720" rIns="91440" bIns="45720" numCol="1" anchor="t" anchorCtr="0" compatLnSpc="1"/>
          <a:lstStyle/>
          <a:p>
            <a:pPr marL="101600" marR="0" lvl="0" indent="-101600" algn="l"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defRPr/>
            </a:pP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需要记忆的参数：</a:t>
            </a:r>
            <a:endPar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ts val="0"/>
              </a:spcBef>
              <a:spcAft>
                <a:spcPct val="0"/>
              </a:spcAft>
              <a:buClr>
                <a:schemeClr val="folHlink"/>
              </a:buClr>
              <a:buSzPct val="75000"/>
              <a:buFont typeface="Wingdings" panose="05000000000000000000" pitchFamily="2" charset="2"/>
              <a:buNone/>
              <a:defRPr/>
            </a:pPr>
            <a:endParaRPr kumimoji="1" lang="en-US" altLang="zh-CN" sz="3200" b="0" i="0" u="none" strike="noStrike" kern="0" cap="none" spc="0" normalizeH="0" baseline="0" noProof="0" dirty="0">
              <a:ln>
                <a:noFill/>
              </a:ln>
              <a:solidFill>
                <a:schemeClr val="tx1"/>
              </a:solidFill>
              <a:effectLst/>
              <a:uLnTx/>
              <a:uFillTx/>
              <a:latin typeface="+mn-lt"/>
              <a:ea typeface="+mn-ea"/>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r>
              <a:rPr kumimoji="1" lang="zh-CN" altLang="en-US" sz="36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晶格常数：硅 0.543</a:t>
            </a:r>
            <a:r>
              <a:rPr kumimoji="1" lang="en-US" altLang="zh-CN" sz="36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nm, </a:t>
            </a:r>
            <a:r>
              <a:rPr kumimoji="1" lang="zh-CN" altLang="en-US" sz="36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锗 0.566</a:t>
            </a:r>
            <a:r>
              <a:rPr kumimoji="1" lang="en-US" altLang="zh-CN" sz="36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nm</a:t>
            </a:r>
          </a:p>
          <a:p>
            <a:pPr marL="342900" marR="0" lvl="0" indent="-342900" algn="l" defTabSz="914400" rtl="0" eaLnBrk="1" fontAlgn="base" latinLnBrk="0" hangingPunct="1">
              <a:lnSpc>
                <a:spcPct val="100000"/>
              </a:lnSpc>
              <a:spcBef>
                <a:spcPts val="0"/>
              </a:spcBef>
              <a:spcAft>
                <a:spcPct val="0"/>
              </a:spcAft>
              <a:buClr>
                <a:schemeClr val="folHlink"/>
              </a:buClr>
              <a:buSzPct val="75000"/>
              <a:buFont typeface="Wingdings" panose="05000000000000000000" pitchFamily="2" charset="2"/>
              <a:buChar char="n"/>
              <a:defRPr/>
            </a:pPr>
            <a:endParaRPr kumimoji="1" lang="zh-CN" altLang="en-US"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ts val="0"/>
              </a:spcBef>
              <a:spcAft>
                <a:spcPct val="0"/>
              </a:spcAft>
              <a:buClr>
                <a:schemeClr val="folHlink"/>
              </a:buClr>
              <a:buSzPct val="75000"/>
              <a:buFont typeface="Wingdings" panose="05000000000000000000" pitchFamily="2" charset="2"/>
              <a:buChar char="n"/>
              <a:defRPr/>
            </a:pPr>
            <a:r>
              <a:rPr kumimoji="1" lang="zh-CN" altLang="en-US" sz="36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密度： 5.00*10</a:t>
            </a:r>
            <a:r>
              <a:rPr kumimoji="1" lang="zh-CN" altLang="en-US" sz="3600" b="0" i="0" u="none" strike="noStrike" kern="0" cap="none" spc="0" normalizeH="0" baseline="30000" noProof="0" dirty="0">
                <a:ln>
                  <a:noFill/>
                </a:ln>
                <a:solidFill>
                  <a:schemeClr val="tx1"/>
                </a:solidFill>
                <a:effectLst/>
                <a:uLnTx/>
                <a:uFillTx/>
                <a:latin typeface="黑体" panose="02010609060101010101" pitchFamily="49" charset="-122"/>
                <a:ea typeface="黑体" panose="02010609060101010101" pitchFamily="49" charset="-122"/>
                <a:cs typeface="+mn-cs"/>
              </a:rPr>
              <a:t>22</a:t>
            </a:r>
            <a:r>
              <a:rPr kumimoji="1" lang="en-US" altLang="zh-CN" sz="36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cm</a:t>
            </a:r>
            <a:r>
              <a:rPr kumimoji="1" lang="en-US" altLang="zh-CN" sz="3600" b="0" i="0" u="none" strike="noStrike" kern="0" cap="none" spc="0" normalizeH="0" baseline="30000" noProof="0" dirty="0">
                <a:ln>
                  <a:noFill/>
                </a:ln>
                <a:solidFill>
                  <a:schemeClr val="tx1"/>
                </a:solidFill>
                <a:effectLst/>
                <a:uLnTx/>
                <a:uFillTx/>
                <a:latin typeface="黑体" panose="02010609060101010101" pitchFamily="49" charset="-122"/>
                <a:ea typeface="黑体" panose="02010609060101010101" pitchFamily="49" charset="-122"/>
                <a:cs typeface="+mn-cs"/>
              </a:rPr>
              <a:t>-3</a:t>
            </a:r>
            <a:r>
              <a:rPr kumimoji="1" lang="en-US" altLang="zh-CN" sz="36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4.42*10</a:t>
            </a:r>
            <a:r>
              <a:rPr kumimoji="1" lang="en-US" altLang="zh-CN" sz="3600" b="0" i="0" u="none" strike="noStrike" kern="0" cap="none" spc="0" normalizeH="0" baseline="30000" noProof="0" dirty="0">
                <a:ln>
                  <a:noFill/>
                </a:ln>
                <a:solidFill>
                  <a:schemeClr val="tx1"/>
                </a:solidFill>
                <a:effectLst/>
                <a:uLnTx/>
                <a:uFillTx/>
                <a:latin typeface="黑体" panose="02010609060101010101" pitchFamily="49" charset="-122"/>
                <a:ea typeface="黑体" panose="02010609060101010101" pitchFamily="49" charset="-122"/>
                <a:cs typeface="+mn-cs"/>
              </a:rPr>
              <a:t>22</a:t>
            </a:r>
            <a:r>
              <a:rPr kumimoji="1" lang="en-US" altLang="zh-CN" sz="36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cm</a:t>
            </a:r>
            <a:r>
              <a:rPr kumimoji="1" lang="en-US" altLang="zh-CN" sz="3600" b="0" i="0" u="none" strike="noStrike" kern="0" cap="none" spc="0" normalizeH="0" baseline="30000" noProof="0" dirty="0">
                <a:ln>
                  <a:noFill/>
                </a:ln>
                <a:solidFill>
                  <a:schemeClr val="tx1"/>
                </a:solidFill>
                <a:effectLst/>
                <a:uLnTx/>
                <a:uFillTx/>
                <a:latin typeface="黑体" panose="02010609060101010101" pitchFamily="49" charset="-122"/>
                <a:ea typeface="黑体" panose="02010609060101010101" pitchFamily="49" charset="-122"/>
                <a:cs typeface="+mn-cs"/>
              </a:rPr>
              <a:t>-3</a:t>
            </a:r>
            <a:endParaRPr kumimoji="1" lang="en-US" altLang="zh-CN" sz="36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ts val="0"/>
              </a:spcBef>
              <a:spcAft>
                <a:spcPct val="0"/>
              </a:spcAft>
              <a:buClr>
                <a:schemeClr val="folHlink"/>
              </a:buClr>
              <a:buSzPct val="75000"/>
              <a:buFont typeface="Wingdings" panose="05000000000000000000" pitchFamily="2" charset="2"/>
              <a:buChar char="n"/>
              <a:defRPr/>
            </a:pPr>
            <a:endParaRPr kumimoji="1" lang="zh-CN" altLang="en-US" sz="3200" b="0" i="0" u="none" strike="noStrike" kern="0" cap="none" spc="0" normalizeH="0" baseline="0" noProof="0" dirty="0">
              <a:ln>
                <a:noFill/>
              </a:ln>
              <a:solidFill>
                <a:srgbClr val="FF0066"/>
              </a:solidFill>
              <a:effectLst/>
              <a:uLnTx/>
              <a:uFillTx/>
              <a:latin typeface="+mn-lt"/>
              <a:ea typeface="+mn-ea"/>
              <a:cs typeface="+mn-cs"/>
            </a:endParaRPr>
          </a:p>
          <a:p>
            <a:pPr marL="101600" marR="0" lvl="0" indent="-1016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r>
              <a:rPr kumimoji="1" lang="zh-CN" altLang="en-US" sz="36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共价半径：  0.117</a:t>
            </a:r>
            <a:r>
              <a:rPr kumimoji="1" lang="en-US" altLang="zh-CN" sz="36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nm,  0.122nm.</a:t>
            </a:r>
          </a:p>
        </p:txBody>
      </p:sp>
      <p:sp>
        <p:nvSpPr>
          <p:cNvPr id="15362"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1.1  半导体的晶格结构和结合性质</a:t>
            </a:r>
          </a:p>
        </p:txBody>
      </p:sp>
      <p:grpSp>
        <p:nvGrpSpPr>
          <p:cNvPr id="22" name="组合 21">
            <a:extLst>
              <a:ext uri="{FF2B5EF4-FFF2-40B4-BE49-F238E27FC236}">
                <a16:creationId xmlns:a16="http://schemas.microsoft.com/office/drawing/2014/main" id="{254AA895-15BC-1F27-DF55-35F321DC70D4}"/>
              </a:ext>
            </a:extLst>
          </p:cNvPr>
          <p:cNvGrpSpPr/>
          <p:nvPr/>
        </p:nvGrpSpPr>
        <p:grpSpPr>
          <a:xfrm>
            <a:off x="451552" y="1858053"/>
            <a:ext cx="7976160" cy="4682520"/>
            <a:chOff x="451552" y="1858053"/>
            <a:chExt cx="7976160" cy="4682520"/>
          </a:xfrm>
        </p:grpSpPr>
        <mc:AlternateContent xmlns:mc="http://schemas.openxmlformats.org/markup-compatibility/2006" xmlns:p14="http://schemas.microsoft.com/office/powerpoint/2010/main" xmlns:aink="http://schemas.microsoft.com/office/drawing/2016/ink">
          <mc:Choice Requires="p14 aink">
            <p:contentPart p14:bwMode="auto" r:id="rId2">
              <p14:nvContentPartPr>
                <p14:cNvPr id="3" name="墨迹 2">
                  <a:extLst>
                    <a:ext uri="{FF2B5EF4-FFF2-40B4-BE49-F238E27FC236}">
                      <a16:creationId xmlns:a16="http://schemas.microsoft.com/office/drawing/2014/main" id="{E744B366-F8E8-425A-B3FE-99AD4428FF15}"/>
                    </a:ext>
                  </a:extLst>
                </p14:cNvPr>
                <p14:cNvContentPartPr/>
                <p14:nvPr/>
              </p14:nvContentPartPr>
              <p14:xfrm>
                <a:off x="609232" y="2349453"/>
                <a:ext cx="209520" cy="231480"/>
              </p14:xfrm>
            </p:contentPart>
          </mc:Choice>
          <mc:Fallback xmlns="">
            <p:pic>
              <p:nvPicPr>
                <p:cNvPr id="3" name="墨迹 2">
                  <a:extLst>
                    <a:ext uri="{FF2B5EF4-FFF2-40B4-BE49-F238E27FC236}">
                      <a16:creationId xmlns:a16="http://schemas.microsoft.com/office/drawing/2014/main" id="{E744B366-F8E8-425A-B3FE-99AD4428FF15}"/>
                    </a:ext>
                  </a:extLst>
                </p:cNvPr>
                <p:cNvPicPr/>
                <p:nvPr/>
              </p:nvPicPr>
              <p:blipFill>
                <a:blip r:embed="rId3"/>
                <a:stretch>
                  <a:fillRect/>
                </a:stretch>
              </p:blipFill>
              <p:spPr>
                <a:xfrm>
                  <a:off x="591232" y="2331453"/>
                  <a:ext cx="245160" cy="267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4" name="墨迹 3">
                  <a:extLst>
                    <a:ext uri="{FF2B5EF4-FFF2-40B4-BE49-F238E27FC236}">
                      <a16:creationId xmlns:a16="http://schemas.microsoft.com/office/drawing/2014/main" id="{80872640-3E11-1882-5FF2-1ADB0B4AA704}"/>
                    </a:ext>
                  </a:extLst>
                </p14:cNvPr>
                <p14:cNvContentPartPr/>
                <p14:nvPr/>
              </p14:nvContentPartPr>
              <p14:xfrm>
                <a:off x="451552" y="2789373"/>
                <a:ext cx="880920" cy="2030040"/>
              </p14:xfrm>
            </p:contentPart>
          </mc:Choice>
          <mc:Fallback xmlns="">
            <p:pic>
              <p:nvPicPr>
                <p:cNvPr id="4" name="墨迹 3">
                  <a:extLst>
                    <a:ext uri="{FF2B5EF4-FFF2-40B4-BE49-F238E27FC236}">
                      <a16:creationId xmlns:a16="http://schemas.microsoft.com/office/drawing/2014/main" id="{80872640-3E11-1882-5FF2-1ADB0B4AA704}"/>
                    </a:ext>
                  </a:extLst>
                </p:cNvPr>
                <p:cNvPicPr/>
                <p:nvPr/>
              </p:nvPicPr>
              <p:blipFill>
                <a:blip r:embed="rId5"/>
                <a:stretch>
                  <a:fillRect/>
                </a:stretch>
              </p:blipFill>
              <p:spPr>
                <a:xfrm>
                  <a:off x="433912" y="2771373"/>
                  <a:ext cx="916560" cy="2065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5" name="墨迹 4">
                  <a:extLst>
                    <a:ext uri="{FF2B5EF4-FFF2-40B4-BE49-F238E27FC236}">
                      <a16:creationId xmlns:a16="http://schemas.microsoft.com/office/drawing/2014/main" id="{0AB1802E-C021-D114-3E53-89B98DB34376}"/>
                    </a:ext>
                  </a:extLst>
                </p14:cNvPr>
                <p14:cNvContentPartPr/>
                <p14:nvPr/>
              </p14:nvContentPartPr>
              <p14:xfrm>
                <a:off x="1539832" y="2417133"/>
                <a:ext cx="1578960" cy="615240"/>
              </p14:xfrm>
            </p:contentPart>
          </mc:Choice>
          <mc:Fallback xmlns="">
            <p:pic>
              <p:nvPicPr>
                <p:cNvPr id="5" name="墨迹 4">
                  <a:extLst>
                    <a:ext uri="{FF2B5EF4-FFF2-40B4-BE49-F238E27FC236}">
                      <a16:creationId xmlns:a16="http://schemas.microsoft.com/office/drawing/2014/main" id="{0AB1802E-C021-D114-3E53-89B98DB34376}"/>
                    </a:ext>
                  </a:extLst>
                </p:cNvPr>
                <p:cNvPicPr/>
                <p:nvPr/>
              </p:nvPicPr>
              <p:blipFill>
                <a:blip r:embed="rId7"/>
                <a:stretch>
                  <a:fillRect/>
                </a:stretch>
              </p:blipFill>
              <p:spPr>
                <a:xfrm>
                  <a:off x="1522192" y="2399133"/>
                  <a:ext cx="1614600" cy="650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6" name="墨迹 5">
                  <a:extLst>
                    <a:ext uri="{FF2B5EF4-FFF2-40B4-BE49-F238E27FC236}">
                      <a16:creationId xmlns:a16="http://schemas.microsoft.com/office/drawing/2014/main" id="{CD158BC4-D3B7-6B0F-D8EC-FD9D4645ED51}"/>
                    </a:ext>
                  </a:extLst>
                </p14:cNvPr>
                <p14:cNvContentPartPr/>
                <p14:nvPr/>
              </p14:nvContentPartPr>
              <p14:xfrm>
                <a:off x="1641712" y="3077373"/>
                <a:ext cx="1598040" cy="1310040"/>
              </p14:xfrm>
            </p:contentPart>
          </mc:Choice>
          <mc:Fallback xmlns="">
            <p:pic>
              <p:nvPicPr>
                <p:cNvPr id="6" name="墨迹 5">
                  <a:extLst>
                    <a:ext uri="{FF2B5EF4-FFF2-40B4-BE49-F238E27FC236}">
                      <a16:creationId xmlns:a16="http://schemas.microsoft.com/office/drawing/2014/main" id="{CD158BC4-D3B7-6B0F-D8EC-FD9D4645ED51}"/>
                    </a:ext>
                  </a:extLst>
                </p:cNvPr>
                <p:cNvPicPr/>
                <p:nvPr/>
              </p:nvPicPr>
              <p:blipFill>
                <a:blip r:embed="rId9"/>
                <a:stretch>
                  <a:fillRect/>
                </a:stretch>
              </p:blipFill>
              <p:spPr>
                <a:xfrm>
                  <a:off x="1624072" y="3059373"/>
                  <a:ext cx="1633680" cy="1345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墨迹 6">
                  <a:extLst>
                    <a:ext uri="{FF2B5EF4-FFF2-40B4-BE49-F238E27FC236}">
                      <a16:creationId xmlns:a16="http://schemas.microsoft.com/office/drawing/2014/main" id="{449ABB64-DC38-4C60-E2D3-FAA85325C2D3}"/>
                    </a:ext>
                  </a:extLst>
                </p14:cNvPr>
                <p14:cNvContentPartPr/>
                <p14:nvPr/>
              </p14:nvContentPartPr>
              <p14:xfrm>
                <a:off x="3637192" y="2192493"/>
                <a:ext cx="511920" cy="673560"/>
              </p14:xfrm>
            </p:contentPart>
          </mc:Choice>
          <mc:Fallback xmlns="">
            <p:pic>
              <p:nvPicPr>
                <p:cNvPr id="7" name="墨迹 6">
                  <a:extLst>
                    <a:ext uri="{FF2B5EF4-FFF2-40B4-BE49-F238E27FC236}">
                      <a16:creationId xmlns:a16="http://schemas.microsoft.com/office/drawing/2014/main" id="{449ABB64-DC38-4C60-E2D3-FAA85325C2D3}"/>
                    </a:ext>
                  </a:extLst>
                </p:cNvPr>
                <p:cNvPicPr/>
                <p:nvPr/>
              </p:nvPicPr>
              <p:blipFill>
                <a:blip r:embed="rId11"/>
                <a:stretch>
                  <a:fillRect/>
                </a:stretch>
              </p:blipFill>
              <p:spPr>
                <a:xfrm>
                  <a:off x="3619552" y="2174493"/>
                  <a:ext cx="547560" cy="709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8" name="墨迹 7">
                  <a:extLst>
                    <a:ext uri="{FF2B5EF4-FFF2-40B4-BE49-F238E27FC236}">
                      <a16:creationId xmlns:a16="http://schemas.microsoft.com/office/drawing/2014/main" id="{581D0A59-C046-6D74-9175-22FB9BA77812}"/>
                    </a:ext>
                  </a:extLst>
                </p14:cNvPr>
                <p14:cNvContentPartPr/>
                <p14:nvPr/>
              </p14:nvContentPartPr>
              <p14:xfrm>
                <a:off x="3748072" y="2703333"/>
                <a:ext cx="843840" cy="635040"/>
              </p14:xfrm>
            </p:contentPart>
          </mc:Choice>
          <mc:Fallback xmlns="">
            <p:pic>
              <p:nvPicPr>
                <p:cNvPr id="8" name="墨迹 7">
                  <a:extLst>
                    <a:ext uri="{FF2B5EF4-FFF2-40B4-BE49-F238E27FC236}">
                      <a16:creationId xmlns:a16="http://schemas.microsoft.com/office/drawing/2014/main" id="{581D0A59-C046-6D74-9175-22FB9BA77812}"/>
                    </a:ext>
                  </a:extLst>
                </p:cNvPr>
                <p:cNvPicPr/>
                <p:nvPr/>
              </p:nvPicPr>
              <p:blipFill>
                <a:blip r:embed="rId13"/>
                <a:stretch>
                  <a:fillRect/>
                </a:stretch>
              </p:blipFill>
              <p:spPr>
                <a:xfrm>
                  <a:off x="3730072" y="2685693"/>
                  <a:ext cx="879480" cy="670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9" name="墨迹 8">
                  <a:extLst>
                    <a:ext uri="{FF2B5EF4-FFF2-40B4-BE49-F238E27FC236}">
                      <a16:creationId xmlns:a16="http://schemas.microsoft.com/office/drawing/2014/main" id="{463CD1A4-6658-03A9-1FE8-212A525B7AE9}"/>
                    </a:ext>
                  </a:extLst>
                </p14:cNvPr>
                <p14:cNvContentPartPr/>
                <p14:nvPr/>
              </p14:nvContentPartPr>
              <p14:xfrm>
                <a:off x="4129312" y="3224613"/>
                <a:ext cx="68040" cy="1022400"/>
              </p14:xfrm>
            </p:contentPart>
          </mc:Choice>
          <mc:Fallback xmlns="">
            <p:pic>
              <p:nvPicPr>
                <p:cNvPr id="9" name="墨迹 8">
                  <a:extLst>
                    <a:ext uri="{FF2B5EF4-FFF2-40B4-BE49-F238E27FC236}">
                      <a16:creationId xmlns:a16="http://schemas.microsoft.com/office/drawing/2014/main" id="{463CD1A4-6658-03A9-1FE8-212A525B7AE9}"/>
                    </a:ext>
                  </a:extLst>
                </p:cNvPr>
                <p:cNvPicPr/>
                <p:nvPr/>
              </p:nvPicPr>
              <p:blipFill>
                <a:blip r:embed="rId15"/>
                <a:stretch>
                  <a:fillRect/>
                </a:stretch>
              </p:blipFill>
              <p:spPr>
                <a:xfrm>
                  <a:off x="4111312" y="3206613"/>
                  <a:ext cx="103680" cy="1058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10" name="墨迹 9">
                  <a:extLst>
                    <a:ext uri="{FF2B5EF4-FFF2-40B4-BE49-F238E27FC236}">
                      <a16:creationId xmlns:a16="http://schemas.microsoft.com/office/drawing/2014/main" id="{7F0C7F6C-DE6C-6402-D3C2-B7BDFE77E3B9}"/>
                    </a:ext>
                  </a:extLst>
                </p14:cNvPr>
                <p14:cNvContentPartPr/>
                <p14:nvPr/>
              </p14:nvContentPartPr>
              <p14:xfrm>
                <a:off x="4384912" y="2034813"/>
                <a:ext cx="594720" cy="834120"/>
              </p14:xfrm>
            </p:contentPart>
          </mc:Choice>
          <mc:Fallback xmlns="">
            <p:pic>
              <p:nvPicPr>
                <p:cNvPr id="10" name="墨迹 9">
                  <a:extLst>
                    <a:ext uri="{FF2B5EF4-FFF2-40B4-BE49-F238E27FC236}">
                      <a16:creationId xmlns:a16="http://schemas.microsoft.com/office/drawing/2014/main" id="{7F0C7F6C-DE6C-6402-D3C2-B7BDFE77E3B9}"/>
                    </a:ext>
                  </a:extLst>
                </p:cNvPr>
                <p:cNvPicPr/>
                <p:nvPr/>
              </p:nvPicPr>
              <p:blipFill>
                <a:blip r:embed="rId17"/>
                <a:stretch>
                  <a:fillRect/>
                </a:stretch>
              </p:blipFill>
              <p:spPr>
                <a:xfrm>
                  <a:off x="4366912" y="2017173"/>
                  <a:ext cx="630360" cy="869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11" name="墨迹 10">
                  <a:extLst>
                    <a:ext uri="{FF2B5EF4-FFF2-40B4-BE49-F238E27FC236}">
                      <a16:creationId xmlns:a16="http://schemas.microsoft.com/office/drawing/2014/main" id="{48AAA6A6-B2D3-E8EC-E2A9-FDD495929BA3}"/>
                    </a:ext>
                  </a:extLst>
                </p14:cNvPr>
                <p14:cNvContentPartPr/>
                <p14:nvPr/>
              </p14:nvContentPartPr>
              <p14:xfrm>
                <a:off x="5189152" y="1936533"/>
                <a:ext cx="838080" cy="682560"/>
              </p14:xfrm>
            </p:contentPart>
          </mc:Choice>
          <mc:Fallback xmlns="">
            <p:pic>
              <p:nvPicPr>
                <p:cNvPr id="11" name="墨迹 10">
                  <a:extLst>
                    <a:ext uri="{FF2B5EF4-FFF2-40B4-BE49-F238E27FC236}">
                      <a16:creationId xmlns:a16="http://schemas.microsoft.com/office/drawing/2014/main" id="{48AAA6A6-B2D3-E8EC-E2A9-FDD495929BA3}"/>
                    </a:ext>
                  </a:extLst>
                </p:cNvPr>
                <p:cNvPicPr/>
                <p:nvPr/>
              </p:nvPicPr>
              <p:blipFill>
                <a:blip r:embed="rId19"/>
                <a:stretch>
                  <a:fillRect/>
                </a:stretch>
              </p:blipFill>
              <p:spPr>
                <a:xfrm>
                  <a:off x="5171152" y="1918533"/>
                  <a:ext cx="873720" cy="718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12" name="墨迹 11">
                  <a:extLst>
                    <a:ext uri="{FF2B5EF4-FFF2-40B4-BE49-F238E27FC236}">
                      <a16:creationId xmlns:a16="http://schemas.microsoft.com/office/drawing/2014/main" id="{93965466-ED91-BEB6-0EDB-C9C25AD88783}"/>
                    </a:ext>
                  </a:extLst>
                </p14:cNvPr>
                <p14:cNvContentPartPr/>
                <p14:nvPr/>
              </p14:nvContentPartPr>
              <p14:xfrm>
                <a:off x="5117152" y="2152173"/>
                <a:ext cx="689760" cy="700200"/>
              </p14:xfrm>
            </p:contentPart>
          </mc:Choice>
          <mc:Fallback xmlns="">
            <p:pic>
              <p:nvPicPr>
                <p:cNvPr id="12" name="墨迹 11">
                  <a:extLst>
                    <a:ext uri="{FF2B5EF4-FFF2-40B4-BE49-F238E27FC236}">
                      <a16:creationId xmlns:a16="http://schemas.microsoft.com/office/drawing/2014/main" id="{93965466-ED91-BEB6-0EDB-C9C25AD88783}"/>
                    </a:ext>
                  </a:extLst>
                </p:cNvPr>
                <p:cNvPicPr/>
                <p:nvPr/>
              </p:nvPicPr>
              <p:blipFill>
                <a:blip r:embed="rId21"/>
                <a:stretch>
                  <a:fillRect/>
                </a:stretch>
              </p:blipFill>
              <p:spPr>
                <a:xfrm>
                  <a:off x="5099512" y="2134173"/>
                  <a:ext cx="725400" cy="735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13" name="墨迹 12">
                  <a:extLst>
                    <a:ext uri="{FF2B5EF4-FFF2-40B4-BE49-F238E27FC236}">
                      <a16:creationId xmlns:a16="http://schemas.microsoft.com/office/drawing/2014/main" id="{E437AB4F-6559-4374-88ED-3A5390A0C043}"/>
                    </a:ext>
                  </a:extLst>
                </p14:cNvPr>
                <p14:cNvContentPartPr/>
                <p14:nvPr/>
              </p14:nvContentPartPr>
              <p14:xfrm>
                <a:off x="4743112" y="2939493"/>
                <a:ext cx="1161360" cy="489600"/>
              </p14:xfrm>
            </p:contentPart>
          </mc:Choice>
          <mc:Fallback xmlns="">
            <p:pic>
              <p:nvPicPr>
                <p:cNvPr id="13" name="墨迹 12">
                  <a:extLst>
                    <a:ext uri="{FF2B5EF4-FFF2-40B4-BE49-F238E27FC236}">
                      <a16:creationId xmlns:a16="http://schemas.microsoft.com/office/drawing/2014/main" id="{E437AB4F-6559-4374-88ED-3A5390A0C043}"/>
                    </a:ext>
                  </a:extLst>
                </p:cNvPr>
                <p:cNvPicPr/>
                <p:nvPr/>
              </p:nvPicPr>
              <p:blipFill>
                <a:blip r:embed="rId23"/>
                <a:stretch>
                  <a:fillRect/>
                </a:stretch>
              </p:blipFill>
              <p:spPr>
                <a:xfrm>
                  <a:off x="4725112" y="2921493"/>
                  <a:ext cx="1197000" cy="525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14" name="墨迹 13">
                  <a:extLst>
                    <a:ext uri="{FF2B5EF4-FFF2-40B4-BE49-F238E27FC236}">
                      <a16:creationId xmlns:a16="http://schemas.microsoft.com/office/drawing/2014/main" id="{E6C4A937-697A-056F-E16D-59A63B2BD254}"/>
                    </a:ext>
                  </a:extLst>
                </p14:cNvPr>
                <p14:cNvContentPartPr/>
                <p14:nvPr/>
              </p14:nvContentPartPr>
              <p14:xfrm>
                <a:off x="4645552" y="3018333"/>
                <a:ext cx="1042560" cy="1654560"/>
              </p14:xfrm>
            </p:contentPart>
          </mc:Choice>
          <mc:Fallback xmlns="">
            <p:pic>
              <p:nvPicPr>
                <p:cNvPr id="14" name="墨迹 13">
                  <a:extLst>
                    <a:ext uri="{FF2B5EF4-FFF2-40B4-BE49-F238E27FC236}">
                      <a16:creationId xmlns:a16="http://schemas.microsoft.com/office/drawing/2014/main" id="{E6C4A937-697A-056F-E16D-59A63B2BD254}"/>
                    </a:ext>
                  </a:extLst>
                </p:cNvPr>
                <p:cNvPicPr/>
                <p:nvPr/>
              </p:nvPicPr>
              <p:blipFill>
                <a:blip r:embed="rId25"/>
                <a:stretch>
                  <a:fillRect/>
                </a:stretch>
              </p:blipFill>
              <p:spPr>
                <a:xfrm>
                  <a:off x="4627912" y="3000333"/>
                  <a:ext cx="1078200" cy="1690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15" name="墨迹 14">
                  <a:extLst>
                    <a:ext uri="{FF2B5EF4-FFF2-40B4-BE49-F238E27FC236}">
                      <a16:creationId xmlns:a16="http://schemas.microsoft.com/office/drawing/2014/main" id="{6E06D951-E69A-5B36-245A-DC383A5B7D72}"/>
                    </a:ext>
                  </a:extLst>
                </p14:cNvPr>
                <p14:cNvContentPartPr/>
                <p14:nvPr/>
              </p14:nvContentPartPr>
              <p14:xfrm>
                <a:off x="5995912" y="1917093"/>
                <a:ext cx="999000" cy="1843200"/>
              </p14:xfrm>
            </p:contentPart>
          </mc:Choice>
          <mc:Fallback xmlns="">
            <p:pic>
              <p:nvPicPr>
                <p:cNvPr id="15" name="墨迹 14">
                  <a:extLst>
                    <a:ext uri="{FF2B5EF4-FFF2-40B4-BE49-F238E27FC236}">
                      <a16:creationId xmlns:a16="http://schemas.microsoft.com/office/drawing/2014/main" id="{6E06D951-E69A-5B36-245A-DC383A5B7D72}"/>
                    </a:ext>
                  </a:extLst>
                </p:cNvPr>
                <p:cNvPicPr/>
                <p:nvPr/>
              </p:nvPicPr>
              <p:blipFill>
                <a:blip r:embed="rId27"/>
                <a:stretch>
                  <a:fillRect/>
                </a:stretch>
              </p:blipFill>
              <p:spPr>
                <a:xfrm>
                  <a:off x="5978272" y="1899093"/>
                  <a:ext cx="1034640" cy="1878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16" name="墨迹 15">
                  <a:extLst>
                    <a:ext uri="{FF2B5EF4-FFF2-40B4-BE49-F238E27FC236}">
                      <a16:creationId xmlns:a16="http://schemas.microsoft.com/office/drawing/2014/main" id="{95E338CA-CB10-55A5-FA6C-ECFB9DCC71B3}"/>
                    </a:ext>
                  </a:extLst>
                </p14:cNvPr>
                <p14:cNvContentPartPr/>
                <p14:nvPr/>
              </p14:nvContentPartPr>
              <p14:xfrm>
                <a:off x="7598992" y="2465373"/>
                <a:ext cx="551880" cy="349560"/>
              </p14:xfrm>
            </p:contentPart>
          </mc:Choice>
          <mc:Fallback xmlns="">
            <p:pic>
              <p:nvPicPr>
                <p:cNvPr id="16" name="墨迹 15">
                  <a:extLst>
                    <a:ext uri="{FF2B5EF4-FFF2-40B4-BE49-F238E27FC236}">
                      <a16:creationId xmlns:a16="http://schemas.microsoft.com/office/drawing/2014/main" id="{95E338CA-CB10-55A5-FA6C-ECFB9DCC71B3}"/>
                    </a:ext>
                  </a:extLst>
                </p:cNvPr>
                <p:cNvPicPr/>
                <p:nvPr/>
              </p:nvPicPr>
              <p:blipFill>
                <a:blip r:embed="rId29"/>
                <a:stretch>
                  <a:fillRect/>
                </a:stretch>
              </p:blipFill>
              <p:spPr>
                <a:xfrm>
                  <a:off x="7581352" y="2447733"/>
                  <a:ext cx="587520" cy="385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17" name="墨迹 16">
                  <a:extLst>
                    <a:ext uri="{FF2B5EF4-FFF2-40B4-BE49-F238E27FC236}">
                      <a16:creationId xmlns:a16="http://schemas.microsoft.com/office/drawing/2014/main" id="{32BA11A2-8848-12D0-68FF-2242CFDB1EFE}"/>
                    </a:ext>
                  </a:extLst>
                </p14:cNvPr>
                <p14:cNvContentPartPr/>
                <p14:nvPr/>
              </p14:nvContentPartPr>
              <p14:xfrm>
                <a:off x="7541032" y="1858053"/>
                <a:ext cx="886680" cy="1743840"/>
              </p14:xfrm>
            </p:contentPart>
          </mc:Choice>
          <mc:Fallback xmlns="">
            <p:pic>
              <p:nvPicPr>
                <p:cNvPr id="17" name="墨迹 16">
                  <a:extLst>
                    <a:ext uri="{FF2B5EF4-FFF2-40B4-BE49-F238E27FC236}">
                      <a16:creationId xmlns:a16="http://schemas.microsoft.com/office/drawing/2014/main" id="{32BA11A2-8848-12D0-68FF-2242CFDB1EFE}"/>
                    </a:ext>
                  </a:extLst>
                </p:cNvPr>
                <p:cNvPicPr/>
                <p:nvPr/>
              </p:nvPicPr>
              <p:blipFill>
                <a:blip r:embed="rId31"/>
                <a:stretch>
                  <a:fillRect/>
                </a:stretch>
              </p:blipFill>
              <p:spPr>
                <a:xfrm>
                  <a:off x="7523392" y="1840053"/>
                  <a:ext cx="922320" cy="1779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18" name="墨迹 17">
                  <a:extLst>
                    <a:ext uri="{FF2B5EF4-FFF2-40B4-BE49-F238E27FC236}">
                      <a16:creationId xmlns:a16="http://schemas.microsoft.com/office/drawing/2014/main" id="{F5EEC9DA-AADA-BC6A-2760-3240EEA93D22}"/>
                    </a:ext>
                  </a:extLst>
                </p14:cNvPr>
                <p14:cNvContentPartPr/>
                <p14:nvPr/>
              </p14:nvContentPartPr>
              <p14:xfrm>
                <a:off x="6793672" y="4266813"/>
                <a:ext cx="73440" cy="571680"/>
              </p14:xfrm>
            </p:contentPart>
          </mc:Choice>
          <mc:Fallback xmlns="">
            <p:pic>
              <p:nvPicPr>
                <p:cNvPr id="18" name="墨迹 17">
                  <a:extLst>
                    <a:ext uri="{FF2B5EF4-FFF2-40B4-BE49-F238E27FC236}">
                      <a16:creationId xmlns:a16="http://schemas.microsoft.com/office/drawing/2014/main" id="{F5EEC9DA-AADA-BC6A-2760-3240EEA93D22}"/>
                    </a:ext>
                  </a:extLst>
                </p:cNvPr>
                <p:cNvPicPr/>
                <p:nvPr/>
              </p:nvPicPr>
              <p:blipFill>
                <a:blip r:embed="rId33"/>
                <a:stretch>
                  <a:fillRect/>
                </a:stretch>
              </p:blipFill>
              <p:spPr>
                <a:xfrm>
                  <a:off x="6776032" y="4249173"/>
                  <a:ext cx="109080" cy="607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19" name="墨迹 18">
                  <a:extLst>
                    <a:ext uri="{FF2B5EF4-FFF2-40B4-BE49-F238E27FC236}">
                      <a16:creationId xmlns:a16="http://schemas.microsoft.com/office/drawing/2014/main" id="{C4504339-992B-C965-8449-B3D27F84F7AC}"/>
                    </a:ext>
                  </a:extLst>
                </p14:cNvPr>
                <p14:cNvContentPartPr/>
                <p14:nvPr/>
              </p14:nvContentPartPr>
              <p14:xfrm>
                <a:off x="6955672" y="3814653"/>
                <a:ext cx="636840" cy="2725920"/>
              </p14:xfrm>
            </p:contentPart>
          </mc:Choice>
          <mc:Fallback xmlns="">
            <p:pic>
              <p:nvPicPr>
                <p:cNvPr id="19" name="墨迹 18">
                  <a:extLst>
                    <a:ext uri="{FF2B5EF4-FFF2-40B4-BE49-F238E27FC236}">
                      <a16:creationId xmlns:a16="http://schemas.microsoft.com/office/drawing/2014/main" id="{C4504339-992B-C965-8449-B3D27F84F7AC}"/>
                    </a:ext>
                  </a:extLst>
                </p:cNvPr>
                <p:cNvPicPr/>
                <p:nvPr/>
              </p:nvPicPr>
              <p:blipFill>
                <a:blip r:embed="rId35"/>
                <a:stretch>
                  <a:fillRect/>
                </a:stretch>
              </p:blipFill>
              <p:spPr>
                <a:xfrm>
                  <a:off x="6937672" y="3796653"/>
                  <a:ext cx="672480" cy="2761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20" name="墨迹 19">
                  <a:extLst>
                    <a:ext uri="{FF2B5EF4-FFF2-40B4-BE49-F238E27FC236}">
                      <a16:creationId xmlns:a16="http://schemas.microsoft.com/office/drawing/2014/main" id="{36254568-2B60-8835-4F41-53375481E0F6}"/>
                    </a:ext>
                  </a:extLst>
                </p14:cNvPr>
                <p14:cNvContentPartPr/>
                <p14:nvPr/>
              </p14:nvContentPartPr>
              <p14:xfrm>
                <a:off x="6929752" y="4237293"/>
                <a:ext cx="1407960" cy="887040"/>
              </p14:xfrm>
            </p:contentPart>
          </mc:Choice>
          <mc:Fallback xmlns="">
            <p:pic>
              <p:nvPicPr>
                <p:cNvPr id="20" name="墨迹 19">
                  <a:extLst>
                    <a:ext uri="{FF2B5EF4-FFF2-40B4-BE49-F238E27FC236}">
                      <a16:creationId xmlns:a16="http://schemas.microsoft.com/office/drawing/2014/main" id="{36254568-2B60-8835-4F41-53375481E0F6}"/>
                    </a:ext>
                  </a:extLst>
                </p:cNvPr>
                <p:cNvPicPr/>
                <p:nvPr/>
              </p:nvPicPr>
              <p:blipFill>
                <a:blip r:embed="rId37"/>
                <a:stretch>
                  <a:fillRect/>
                </a:stretch>
              </p:blipFill>
              <p:spPr>
                <a:xfrm>
                  <a:off x="6911752" y="4219293"/>
                  <a:ext cx="1443600" cy="922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21" name="墨迹 20">
                  <a:extLst>
                    <a:ext uri="{FF2B5EF4-FFF2-40B4-BE49-F238E27FC236}">
                      <a16:creationId xmlns:a16="http://schemas.microsoft.com/office/drawing/2014/main" id="{6388861C-3416-47DC-295D-B20C849BA583}"/>
                    </a:ext>
                  </a:extLst>
                </p14:cNvPr>
                <p14:cNvContentPartPr/>
                <p14:nvPr/>
              </p14:nvContentPartPr>
              <p14:xfrm>
                <a:off x="6833272" y="3719973"/>
                <a:ext cx="710280" cy="439200"/>
              </p14:xfrm>
            </p:contentPart>
          </mc:Choice>
          <mc:Fallback xmlns="">
            <p:pic>
              <p:nvPicPr>
                <p:cNvPr id="21" name="墨迹 20">
                  <a:extLst>
                    <a:ext uri="{FF2B5EF4-FFF2-40B4-BE49-F238E27FC236}">
                      <a16:creationId xmlns:a16="http://schemas.microsoft.com/office/drawing/2014/main" id="{6388861C-3416-47DC-295D-B20C849BA583}"/>
                    </a:ext>
                  </a:extLst>
                </p:cNvPr>
                <p:cNvPicPr/>
                <p:nvPr/>
              </p:nvPicPr>
              <p:blipFill>
                <a:blip r:embed="rId39"/>
                <a:stretch>
                  <a:fillRect/>
                </a:stretch>
              </p:blipFill>
              <p:spPr>
                <a:xfrm>
                  <a:off x="6815272" y="3701973"/>
                  <a:ext cx="745920" cy="474840"/>
                </a:xfrm>
                <a:prstGeom prst="rect">
                  <a:avLst/>
                </a:prstGeom>
              </p:spPr>
            </p:pic>
          </mc:Fallback>
        </mc:AlternateContent>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473075" y="1860550"/>
            <a:ext cx="4495800" cy="519113"/>
          </a:xfrm>
        </p:spPr>
        <p:txBody>
          <a:bodyPr vert="horz" wrap="square" lIns="91440" tIns="45720" rIns="91440" bIns="45720" numCol="1" anchor="b" anchorCtr="0" compatLnSpc="1">
            <a:spAutoFit/>
          </a:bodyPr>
          <a:lstStyle/>
          <a:p>
            <a:pPr marL="101600" marR="0" lvl="0" indent="-101600" algn="l" defTabSz="914400" rtl="0" eaLnBrk="1" fontAlgn="base" latinLnBrk="0" hangingPunct="1">
              <a:lnSpc>
                <a:spcPct val="100000"/>
              </a:lnSpc>
              <a:spcBef>
                <a:spcPct val="0"/>
              </a:spcBef>
              <a:spcAft>
                <a:spcPct val="0"/>
              </a:spcAft>
              <a:buClr>
                <a:schemeClr val="folHlink"/>
              </a:buClr>
              <a:buSzPct val="75000"/>
              <a:buFontTx/>
              <a:buNone/>
              <a:defRPr/>
            </a:pP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2.闪锌矿型结构和混合键</a:t>
            </a:r>
          </a:p>
        </p:txBody>
      </p:sp>
      <p:sp>
        <p:nvSpPr>
          <p:cNvPr id="93187" name="Rectangle 3"/>
          <p:cNvSpPr>
            <a:spLocks noGrp="1" noChangeArrowheads="1"/>
          </p:cNvSpPr>
          <p:nvPr>
            <p:ph idx="1"/>
          </p:nvPr>
        </p:nvSpPr>
        <p:spPr>
          <a:xfrm>
            <a:off x="250825" y="4125913"/>
            <a:ext cx="8566150" cy="2613025"/>
          </a:xfrm>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0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结合方式</a:t>
            </a: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：共价鍵，有一定成份的“离子键”，称之为：混合键。即具有“离子性”</a:t>
            </a:r>
            <a:r>
              <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“极性半导体”。</a:t>
            </a: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(极性物质：正负电荷中心不重合的物质，会形成“电偶子”)如砷化镓中，</a:t>
            </a:r>
            <a:endPar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砷具有较强的电负性(得电子能力)。因此，砷(</a:t>
            </a:r>
            <a:r>
              <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V)</a:t>
            </a: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相当于负离子，镓(</a:t>
            </a:r>
            <a:r>
              <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III)</a:t>
            </a: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相</a:t>
            </a:r>
            <a:endPar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当于正离子。光学支格波存在。</a:t>
            </a: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双原子层：电偶极层。</a:t>
            </a:r>
            <a:endPar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III</a:t>
            </a:r>
            <a:r>
              <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sym typeface="Wingdings" panose="05000000000000000000" pitchFamily="2" charset="2"/>
              </a:rPr>
              <a:t></a:t>
            </a:r>
            <a:r>
              <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V：[111]</a:t>
            </a: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方向，</a:t>
            </a:r>
            <a:r>
              <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III</a:t>
            </a: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族原子层为[111]面。</a:t>
            </a:r>
            <a:endParaRPr kumimoji="1" lang="en-US" altLang="zh-CN"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0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结论：共价结合占优势的情况下，此类物质倾向于构成闪锌矿结构。</a:t>
            </a:r>
          </a:p>
        </p:txBody>
      </p:sp>
      <p:pic>
        <p:nvPicPr>
          <p:cNvPr id="16387" name="Picture 5" descr="10"/>
          <p:cNvPicPr>
            <a:picLocks noChangeAspect="1"/>
          </p:cNvPicPr>
          <p:nvPr/>
        </p:nvPicPr>
        <p:blipFill>
          <a:blip r:embed="rId2"/>
          <a:stretch>
            <a:fillRect/>
          </a:stretch>
        </p:blipFill>
        <p:spPr>
          <a:xfrm>
            <a:off x="4768850" y="1812925"/>
            <a:ext cx="4267200" cy="2314575"/>
          </a:xfrm>
          <a:prstGeom prst="rect">
            <a:avLst/>
          </a:prstGeom>
          <a:noFill/>
          <a:ln w="9525">
            <a:noFill/>
          </a:ln>
        </p:spPr>
      </p:pic>
      <p:sp>
        <p:nvSpPr>
          <p:cNvPr id="16388" name="Rectangle 6"/>
          <p:cNvSpPr/>
          <p:nvPr/>
        </p:nvSpPr>
        <p:spPr>
          <a:xfrm>
            <a:off x="250825" y="2482850"/>
            <a:ext cx="4681538" cy="1477963"/>
          </a:xfrm>
          <a:prstGeom prst="rect">
            <a:avLst/>
          </a:prstGeom>
          <a:noFill/>
          <a:ln w="9525">
            <a:noFill/>
          </a:ln>
        </p:spPr>
        <p:txBody>
          <a:bodyPr anchor="t" anchorCtr="0">
            <a:spAutoFit/>
          </a:bodyPr>
          <a:lstStyle/>
          <a:p>
            <a:pPr>
              <a:lnSpc>
                <a:spcPct val="90000"/>
              </a:lnSpc>
              <a:buClr>
                <a:schemeClr val="folHlink"/>
              </a:buClr>
              <a:buSzPct val="75000"/>
              <a:buFontTx/>
            </a:pPr>
            <a:r>
              <a:rPr lang="zh-CN" altLang="en-US" sz="2000" b="0" dirty="0">
                <a:latin typeface="黑体" panose="02010609060101010101" pitchFamily="49" charset="-122"/>
                <a:ea typeface="黑体" panose="02010609060101010101" pitchFamily="49" charset="-122"/>
              </a:rPr>
              <a:t>在金刚石结构中，若由两类原子组成，分别占据两套面心立方---“</a:t>
            </a:r>
            <a:r>
              <a:rPr lang="zh-CN" altLang="en-US" sz="2000" dirty="0">
                <a:latin typeface="黑体" panose="02010609060101010101" pitchFamily="49" charset="-122"/>
                <a:ea typeface="黑体" panose="02010609060101010101" pitchFamily="49" charset="-122"/>
              </a:rPr>
              <a:t>闪锌矿结构</a:t>
            </a:r>
            <a:r>
              <a:rPr lang="zh-CN" altLang="en-US" sz="2000" b="0" dirty="0">
                <a:latin typeface="黑体" panose="02010609060101010101" pitchFamily="49" charset="-122"/>
                <a:ea typeface="黑体" panose="02010609060101010101" pitchFamily="49" charset="-122"/>
              </a:rPr>
              <a:t>” 。</a:t>
            </a:r>
          </a:p>
          <a:p>
            <a:pPr>
              <a:lnSpc>
                <a:spcPct val="90000"/>
              </a:lnSpc>
              <a:buClr>
                <a:schemeClr val="folHlink"/>
              </a:buClr>
              <a:buSzPct val="75000"/>
              <a:buFontTx/>
            </a:pPr>
            <a:r>
              <a:rPr lang="zh-CN" altLang="en-US" sz="2000" b="0" dirty="0">
                <a:latin typeface="黑体" panose="02010609060101010101" pitchFamily="49" charset="-122"/>
                <a:ea typeface="黑体" panose="02010609060101010101" pitchFamily="49" charset="-122"/>
              </a:rPr>
              <a:t>两类原子：</a:t>
            </a:r>
            <a:r>
              <a:rPr lang="en-US" altLang="zh-CN" sz="2000" b="0" dirty="0">
                <a:latin typeface="黑体" panose="02010609060101010101" pitchFamily="49" charset="-122"/>
                <a:ea typeface="黑体" panose="02010609060101010101" pitchFamily="49" charset="-122"/>
              </a:rPr>
              <a:t>III</a:t>
            </a:r>
            <a:r>
              <a:rPr lang="zh-CN" altLang="en-US" sz="2000" b="0" dirty="0">
                <a:latin typeface="黑体" panose="02010609060101010101" pitchFamily="49" charset="-122"/>
                <a:ea typeface="黑体" panose="02010609060101010101" pitchFamily="49" charset="-122"/>
              </a:rPr>
              <a:t>族(铟,镓)和</a:t>
            </a:r>
            <a:r>
              <a:rPr lang="en-US" altLang="zh-CN" sz="2000" b="0" dirty="0">
                <a:latin typeface="黑体" panose="02010609060101010101" pitchFamily="49" charset="-122"/>
                <a:ea typeface="黑体" panose="02010609060101010101" pitchFamily="49" charset="-122"/>
              </a:rPr>
              <a:t>V</a:t>
            </a:r>
            <a:r>
              <a:rPr lang="zh-CN" altLang="en-US" sz="2000" b="0" dirty="0">
                <a:latin typeface="黑体" panose="02010609060101010101" pitchFamily="49" charset="-122"/>
                <a:ea typeface="黑体" panose="02010609060101010101" pitchFamily="49" charset="-122"/>
              </a:rPr>
              <a:t>族(磷,砷,锑)</a:t>
            </a:r>
          </a:p>
        </p:txBody>
      </p:sp>
      <p:sp>
        <p:nvSpPr>
          <p:cNvPr id="7" name="Rectangle 2"/>
          <p:cNvSpPr txBox="1">
            <a:spLocks noChangeArrowheads="1"/>
          </p:cNvSpPr>
          <p:nvPr/>
        </p:nvSpPr>
        <p:spPr bwMode="auto">
          <a:xfrm>
            <a:off x="490538" y="900113"/>
            <a:ext cx="8653463" cy="76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sp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0" i="0" u="none" strike="noStrike" kern="0" cap="none" spc="0" normalizeH="0" baseline="0" noProof="0">
                <a:ln>
                  <a:noFill/>
                </a:ln>
                <a:solidFill>
                  <a:schemeClr val="tx2"/>
                </a:solidFill>
                <a:effectLst/>
                <a:uLnTx/>
                <a:uFillTx/>
                <a:latin typeface="华文新魏" panose="02010800040101010101" pitchFamily="2" charset="-122"/>
                <a:ea typeface="华文新魏" panose="02010800040101010101" pitchFamily="2" charset="-122"/>
                <a:cs typeface="+mj-cs"/>
              </a:rPr>
              <a:t>1.1  半导体的晶格结构和结合性质</a:t>
            </a:r>
            <a:endPar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943689B3-9EF3-65B7-A15D-616F00B93B1A}"/>
                  </a:ext>
                </a:extLst>
              </p14:cNvPr>
              <p14:cNvContentPartPr/>
              <p14:nvPr/>
            </p14:nvContentPartPr>
            <p14:xfrm>
              <a:off x="589792" y="2939493"/>
              <a:ext cx="2878200" cy="168120"/>
            </p14:xfrm>
          </p:contentPart>
        </mc:Choice>
        <mc:Fallback xmlns="">
          <p:pic>
            <p:nvPicPr>
              <p:cNvPr id="2" name="墨迹 1">
                <a:extLst>
                  <a:ext uri="{FF2B5EF4-FFF2-40B4-BE49-F238E27FC236}">
                    <a16:creationId xmlns:a16="http://schemas.microsoft.com/office/drawing/2014/main" id="{943689B3-9EF3-65B7-A15D-616F00B93B1A}"/>
                  </a:ext>
                </a:extLst>
              </p:cNvPr>
              <p:cNvPicPr/>
              <p:nvPr/>
            </p:nvPicPr>
            <p:blipFill>
              <a:blip r:embed="rId4"/>
              <a:stretch>
                <a:fillRect/>
              </a:stretch>
            </p:blipFill>
            <p:spPr>
              <a:xfrm>
                <a:off x="535792" y="2831493"/>
                <a:ext cx="298584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D7612113-0649-7B04-FCF7-93F20B6EB524}"/>
                  </a:ext>
                </a:extLst>
              </p14:cNvPr>
              <p14:cNvContentPartPr/>
              <p14:nvPr/>
            </p14:nvContentPartPr>
            <p14:xfrm>
              <a:off x="1484392" y="3421173"/>
              <a:ext cx="2691720" cy="120960"/>
            </p14:xfrm>
          </p:contentPart>
        </mc:Choice>
        <mc:Fallback xmlns="">
          <p:pic>
            <p:nvPicPr>
              <p:cNvPr id="3" name="墨迹 2">
                <a:extLst>
                  <a:ext uri="{FF2B5EF4-FFF2-40B4-BE49-F238E27FC236}">
                    <a16:creationId xmlns:a16="http://schemas.microsoft.com/office/drawing/2014/main" id="{D7612113-0649-7B04-FCF7-93F20B6EB524}"/>
                  </a:ext>
                </a:extLst>
              </p:cNvPr>
              <p:cNvPicPr/>
              <p:nvPr/>
            </p:nvPicPr>
            <p:blipFill>
              <a:blip r:embed="rId6"/>
              <a:stretch>
                <a:fillRect/>
              </a:stretch>
            </p:blipFill>
            <p:spPr>
              <a:xfrm>
                <a:off x="1430392" y="3313173"/>
                <a:ext cx="279936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墨迹 3">
                <a:extLst>
                  <a:ext uri="{FF2B5EF4-FFF2-40B4-BE49-F238E27FC236}">
                    <a16:creationId xmlns:a16="http://schemas.microsoft.com/office/drawing/2014/main" id="{AD3A3E29-68C6-8734-5749-93FF24E7AF19}"/>
                  </a:ext>
                </a:extLst>
              </p14:cNvPr>
              <p14:cNvContentPartPr/>
              <p14:nvPr/>
            </p14:nvContentPartPr>
            <p14:xfrm>
              <a:off x="461992" y="3647253"/>
              <a:ext cx="846360" cy="67320"/>
            </p14:xfrm>
          </p:contentPart>
        </mc:Choice>
        <mc:Fallback xmlns="">
          <p:pic>
            <p:nvPicPr>
              <p:cNvPr id="4" name="墨迹 3">
                <a:extLst>
                  <a:ext uri="{FF2B5EF4-FFF2-40B4-BE49-F238E27FC236}">
                    <a16:creationId xmlns:a16="http://schemas.microsoft.com/office/drawing/2014/main" id="{AD3A3E29-68C6-8734-5749-93FF24E7AF19}"/>
                  </a:ext>
                </a:extLst>
              </p:cNvPr>
              <p:cNvPicPr/>
              <p:nvPr/>
            </p:nvPicPr>
            <p:blipFill>
              <a:blip r:embed="rId8"/>
              <a:stretch>
                <a:fillRect/>
              </a:stretch>
            </p:blipFill>
            <p:spPr>
              <a:xfrm>
                <a:off x="407992" y="3539613"/>
                <a:ext cx="95400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墨迹 4">
                <a:extLst>
                  <a:ext uri="{FF2B5EF4-FFF2-40B4-BE49-F238E27FC236}">
                    <a16:creationId xmlns:a16="http://schemas.microsoft.com/office/drawing/2014/main" id="{98CEA0D9-0239-91BC-B509-E0B9915DD4D8}"/>
                  </a:ext>
                </a:extLst>
              </p14:cNvPr>
              <p14:cNvContentPartPr/>
              <p14:nvPr/>
            </p14:nvContentPartPr>
            <p14:xfrm>
              <a:off x="324112" y="5698893"/>
              <a:ext cx="2473200" cy="298080"/>
            </p14:xfrm>
          </p:contentPart>
        </mc:Choice>
        <mc:Fallback xmlns="">
          <p:pic>
            <p:nvPicPr>
              <p:cNvPr id="5" name="墨迹 4">
                <a:extLst>
                  <a:ext uri="{FF2B5EF4-FFF2-40B4-BE49-F238E27FC236}">
                    <a16:creationId xmlns:a16="http://schemas.microsoft.com/office/drawing/2014/main" id="{98CEA0D9-0239-91BC-B509-E0B9915DD4D8}"/>
                  </a:ext>
                </a:extLst>
              </p:cNvPr>
              <p:cNvPicPr/>
              <p:nvPr/>
            </p:nvPicPr>
            <p:blipFill>
              <a:blip r:embed="rId10"/>
              <a:stretch>
                <a:fillRect/>
              </a:stretch>
            </p:blipFill>
            <p:spPr>
              <a:xfrm>
                <a:off x="270112" y="5590893"/>
                <a:ext cx="2580840" cy="51372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323850" y="1844675"/>
            <a:ext cx="8561388" cy="4608513"/>
          </a:xfrm>
        </p:spPr>
        <p:txBody>
          <a:bodyPr vert="horz" wrap="square" lIns="91440" tIns="45720" rIns="91440" bIns="45720" numCol="1" anchor="t" anchorCtr="0" compatLnSpc="1"/>
          <a:lstStyle/>
          <a:p>
            <a:pPr marL="101600" marR="0" lvl="0" indent="-101600" algn="l" defTabSz="914400" rtl="0" eaLnBrk="1" fontAlgn="base" latinLnBrk="0" hangingPunct="1">
              <a:lnSpc>
                <a:spcPct val="100000"/>
              </a:lnSpc>
              <a:spcBef>
                <a:spcPct val="0"/>
              </a:spcBef>
              <a:spcAft>
                <a:spcPct val="0"/>
              </a:spcAft>
              <a:buClr>
                <a:schemeClr val="folHlink"/>
              </a:buClr>
              <a:buSzPct val="75000"/>
              <a:buFont typeface="Wingdings" panose="05000000000000000000" pitchFamily="2" charset="2"/>
              <a:buNone/>
              <a:defRPr/>
            </a:pPr>
            <a:r>
              <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3.</a:t>
            </a: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纤锌矿型结构                       </a:t>
            </a:r>
            <a:endPar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六角密堆积结构和面心立方结构具有相</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似的地方：</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ABABAB…;ABCABC…。</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两套面心的套构形成了闪锌矿结构；</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两套六角的套构形成了纤锌矿结构。</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每个原子与最近邻的四个原子依然保持</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“正四面体”结构。</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主要由</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II</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和</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VI</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族原子构成，它们的大小、</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电负性差异较大，呈现较强的离子性，</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如：硫化锌、硫化镉等。</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endParaRPr kumimoji="1" lang="zh-CN" altLang="en-US" sz="2400" b="0" i="0" u="none" strike="noStrike" kern="0" cap="none" spc="0" normalizeH="0" baseline="0" noProof="0" dirty="0">
              <a:ln>
                <a:noFill/>
              </a:ln>
              <a:solidFill>
                <a:schemeClr val="tx1"/>
              </a:solidFill>
              <a:effectLst/>
              <a:uLnTx/>
              <a:uFillTx/>
              <a:latin typeface="+mn-lt"/>
              <a:ea typeface="+mn-ea"/>
              <a:cs typeface="+mn-cs"/>
            </a:endParaRPr>
          </a:p>
        </p:txBody>
      </p:sp>
      <p:pic>
        <p:nvPicPr>
          <p:cNvPr id="17410" name="图片 2"/>
          <p:cNvPicPr>
            <a:picLocks noChangeAspect="1"/>
          </p:cNvPicPr>
          <p:nvPr/>
        </p:nvPicPr>
        <p:blipFill>
          <a:blip r:embed="rId3"/>
          <a:stretch>
            <a:fillRect/>
          </a:stretch>
        </p:blipFill>
        <p:spPr>
          <a:xfrm>
            <a:off x="5651500" y="1744663"/>
            <a:ext cx="3233738" cy="3800475"/>
          </a:xfrm>
          <a:prstGeom prst="rect">
            <a:avLst/>
          </a:prstGeom>
          <a:noFill/>
          <a:ln w="9525">
            <a:noFill/>
          </a:ln>
        </p:spPr>
      </p:pic>
      <p:sp>
        <p:nvSpPr>
          <p:cNvPr id="17411"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1.1  半导体的晶格结构和结合性质</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5CE8D414-03B2-D21F-B641-8223CE65A87F}"/>
                  </a:ext>
                </a:extLst>
              </p14:cNvPr>
              <p14:cNvContentPartPr/>
              <p14:nvPr/>
            </p14:nvContentPartPr>
            <p14:xfrm>
              <a:off x="737032" y="2525493"/>
              <a:ext cx="4117320" cy="60840"/>
            </p14:xfrm>
          </p:contentPart>
        </mc:Choice>
        <mc:Fallback xmlns="">
          <p:pic>
            <p:nvPicPr>
              <p:cNvPr id="2" name="墨迹 1">
                <a:extLst>
                  <a:ext uri="{FF2B5EF4-FFF2-40B4-BE49-F238E27FC236}">
                    <a16:creationId xmlns:a16="http://schemas.microsoft.com/office/drawing/2014/main" id="{5CE8D414-03B2-D21F-B641-8223CE65A87F}"/>
                  </a:ext>
                </a:extLst>
              </p:cNvPr>
              <p:cNvPicPr/>
              <p:nvPr/>
            </p:nvPicPr>
            <p:blipFill>
              <a:blip r:embed="rId5"/>
              <a:stretch>
                <a:fillRect/>
              </a:stretch>
            </p:blipFill>
            <p:spPr>
              <a:xfrm>
                <a:off x="683032" y="2417493"/>
                <a:ext cx="422496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04C8F4D4-677A-B4FA-E1F0-53B08C7E7CEB}"/>
                  </a:ext>
                </a:extLst>
              </p14:cNvPr>
              <p14:cNvContentPartPr/>
              <p14:nvPr/>
            </p14:nvContentPartPr>
            <p14:xfrm>
              <a:off x="1120792" y="2978013"/>
              <a:ext cx="2122920" cy="11160"/>
            </p14:xfrm>
          </p:contentPart>
        </mc:Choice>
        <mc:Fallback xmlns="">
          <p:pic>
            <p:nvPicPr>
              <p:cNvPr id="3" name="墨迹 2">
                <a:extLst>
                  <a:ext uri="{FF2B5EF4-FFF2-40B4-BE49-F238E27FC236}">
                    <a16:creationId xmlns:a16="http://schemas.microsoft.com/office/drawing/2014/main" id="{04C8F4D4-677A-B4FA-E1F0-53B08C7E7CEB}"/>
                  </a:ext>
                </a:extLst>
              </p:cNvPr>
              <p:cNvPicPr/>
              <p:nvPr/>
            </p:nvPicPr>
            <p:blipFill>
              <a:blip r:embed="rId7"/>
              <a:stretch>
                <a:fillRect/>
              </a:stretch>
            </p:blipFill>
            <p:spPr>
              <a:xfrm>
                <a:off x="1066792" y="2870013"/>
                <a:ext cx="223056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墨迹 3">
                <a:extLst>
                  <a:ext uri="{FF2B5EF4-FFF2-40B4-BE49-F238E27FC236}">
                    <a16:creationId xmlns:a16="http://schemas.microsoft.com/office/drawing/2014/main" id="{C1DA25AA-7531-95EA-F64C-72F7157BAA62}"/>
                  </a:ext>
                </a:extLst>
              </p14:cNvPr>
              <p14:cNvContentPartPr/>
              <p14:nvPr/>
            </p14:nvContentPartPr>
            <p14:xfrm>
              <a:off x="687712" y="3309573"/>
              <a:ext cx="4416480" cy="338400"/>
            </p14:xfrm>
          </p:contentPart>
        </mc:Choice>
        <mc:Fallback xmlns="">
          <p:pic>
            <p:nvPicPr>
              <p:cNvPr id="4" name="墨迹 3">
                <a:extLst>
                  <a:ext uri="{FF2B5EF4-FFF2-40B4-BE49-F238E27FC236}">
                    <a16:creationId xmlns:a16="http://schemas.microsoft.com/office/drawing/2014/main" id="{C1DA25AA-7531-95EA-F64C-72F7157BAA62}"/>
                  </a:ext>
                </a:extLst>
              </p:cNvPr>
              <p:cNvPicPr/>
              <p:nvPr/>
            </p:nvPicPr>
            <p:blipFill>
              <a:blip r:embed="rId9"/>
              <a:stretch>
                <a:fillRect/>
              </a:stretch>
            </p:blipFill>
            <p:spPr>
              <a:xfrm>
                <a:off x="633712" y="3201933"/>
                <a:ext cx="4524120" cy="55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墨迹 4">
                <a:extLst>
                  <a:ext uri="{FF2B5EF4-FFF2-40B4-BE49-F238E27FC236}">
                    <a16:creationId xmlns:a16="http://schemas.microsoft.com/office/drawing/2014/main" id="{FC39495B-EA96-042B-1C44-DDB8E26840B5}"/>
                  </a:ext>
                </a:extLst>
              </p14:cNvPr>
              <p14:cNvContentPartPr/>
              <p14:nvPr/>
            </p14:nvContentPartPr>
            <p14:xfrm>
              <a:off x="1179472" y="3883413"/>
              <a:ext cx="2933280" cy="11160"/>
            </p14:xfrm>
          </p:contentPart>
        </mc:Choice>
        <mc:Fallback xmlns="">
          <p:pic>
            <p:nvPicPr>
              <p:cNvPr id="5" name="墨迹 4">
                <a:extLst>
                  <a:ext uri="{FF2B5EF4-FFF2-40B4-BE49-F238E27FC236}">
                    <a16:creationId xmlns:a16="http://schemas.microsoft.com/office/drawing/2014/main" id="{FC39495B-EA96-042B-1C44-DDB8E26840B5}"/>
                  </a:ext>
                </a:extLst>
              </p:cNvPr>
              <p:cNvPicPr/>
              <p:nvPr/>
            </p:nvPicPr>
            <p:blipFill>
              <a:blip r:embed="rId11"/>
              <a:stretch>
                <a:fillRect/>
              </a:stretch>
            </p:blipFill>
            <p:spPr>
              <a:xfrm>
                <a:off x="1125832" y="3775413"/>
                <a:ext cx="304092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 name="墨迹 5">
                <a:extLst>
                  <a:ext uri="{FF2B5EF4-FFF2-40B4-BE49-F238E27FC236}">
                    <a16:creationId xmlns:a16="http://schemas.microsoft.com/office/drawing/2014/main" id="{D7A72C62-96F6-356E-64C3-EEB852698B2E}"/>
                  </a:ext>
                </a:extLst>
              </p14:cNvPr>
              <p14:cNvContentPartPr/>
              <p14:nvPr/>
            </p14:nvContentPartPr>
            <p14:xfrm>
              <a:off x="4737712" y="2554653"/>
              <a:ext cx="1747080" cy="981360"/>
            </p14:xfrm>
          </p:contentPart>
        </mc:Choice>
        <mc:Fallback xmlns="">
          <p:pic>
            <p:nvPicPr>
              <p:cNvPr id="6" name="墨迹 5">
                <a:extLst>
                  <a:ext uri="{FF2B5EF4-FFF2-40B4-BE49-F238E27FC236}">
                    <a16:creationId xmlns:a16="http://schemas.microsoft.com/office/drawing/2014/main" id="{D7A72C62-96F6-356E-64C3-EEB852698B2E}"/>
                  </a:ext>
                </a:extLst>
              </p:cNvPr>
              <p:cNvPicPr/>
              <p:nvPr/>
            </p:nvPicPr>
            <p:blipFill>
              <a:blip r:embed="rId13"/>
              <a:stretch>
                <a:fillRect/>
              </a:stretch>
            </p:blipFill>
            <p:spPr>
              <a:xfrm>
                <a:off x="4683712" y="2446653"/>
                <a:ext cx="1854720" cy="1197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 name="墨迹 6">
                <a:extLst>
                  <a:ext uri="{FF2B5EF4-FFF2-40B4-BE49-F238E27FC236}">
                    <a16:creationId xmlns:a16="http://schemas.microsoft.com/office/drawing/2014/main" id="{461F8CA9-92D0-AA88-B40B-D1AC937888CE}"/>
                  </a:ext>
                </a:extLst>
              </p14:cNvPr>
              <p14:cNvContentPartPr/>
              <p14:nvPr/>
            </p14:nvContentPartPr>
            <p14:xfrm>
              <a:off x="4792792" y="3814653"/>
              <a:ext cx="1969560" cy="1011240"/>
            </p14:xfrm>
          </p:contentPart>
        </mc:Choice>
        <mc:Fallback xmlns="">
          <p:pic>
            <p:nvPicPr>
              <p:cNvPr id="7" name="墨迹 6">
                <a:extLst>
                  <a:ext uri="{FF2B5EF4-FFF2-40B4-BE49-F238E27FC236}">
                    <a16:creationId xmlns:a16="http://schemas.microsoft.com/office/drawing/2014/main" id="{461F8CA9-92D0-AA88-B40B-D1AC937888CE}"/>
                  </a:ext>
                </a:extLst>
              </p:cNvPr>
              <p:cNvPicPr/>
              <p:nvPr/>
            </p:nvPicPr>
            <p:blipFill>
              <a:blip r:embed="rId15"/>
              <a:stretch>
                <a:fillRect/>
              </a:stretch>
            </p:blipFill>
            <p:spPr>
              <a:xfrm>
                <a:off x="4739152" y="3706653"/>
                <a:ext cx="2077200" cy="1226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墨迹 7">
                <a:extLst>
                  <a:ext uri="{FF2B5EF4-FFF2-40B4-BE49-F238E27FC236}">
                    <a16:creationId xmlns:a16="http://schemas.microsoft.com/office/drawing/2014/main" id="{8DF59F66-8B34-459A-8096-3D433F4B5F95}"/>
                  </a:ext>
                </a:extLst>
              </p14:cNvPr>
              <p14:cNvContentPartPr/>
              <p14:nvPr/>
            </p14:nvContentPartPr>
            <p14:xfrm>
              <a:off x="550192" y="5131173"/>
              <a:ext cx="4473360" cy="356040"/>
            </p14:xfrm>
          </p:contentPart>
        </mc:Choice>
        <mc:Fallback xmlns="">
          <p:pic>
            <p:nvPicPr>
              <p:cNvPr id="8" name="墨迹 7">
                <a:extLst>
                  <a:ext uri="{FF2B5EF4-FFF2-40B4-BE49-F238E27FC236}">
                    <a16:creationId xmlns:a16="http://schemas.microsoft.com/office/drawing/2014/main" id="{8DF59F66-8B34-459A-8096-3D433F4B5F95}"/>
                  </a:ext>
                </a:extLst>
              </p:cNvPr>
              <p:cNvPicPr/>
              <p:nvPr/>
            </p:nvPicPr>
            <p:blipFill>
              <a:blip r:embed="rId17"/>
              <a:stretch>
                <a:fillRect/>
              </a:stretch>
            </p:blipFill>
            <p:spPr>
              <a:xfrm>
                <a:off x="496552" y="5023173"/>
                <a:ext cx="458100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 name="墨迹 8">
                <a:extLst>
                  <a:ext uri="{FF2B5EF4-FFF2-40B4-BE49-F238E27FC236}">
                    <a16:creationId xmlns:a16="http://schemas.microsoft.com/office/drawing/2014/main" id="{BE38CF23-A92A-4658-C9A8-053F352CBCFB}"/>
                  </a:ext>
                </a:extLst>
              </p14:cNvPr>
              <p14:cNvContentPartPr/>
              <p14:nvPr/>
            </p14:nvContentPartPr>
            <p14:xfrm>
              <a:off x="864832" y="5617893"/>
              <a:ext cx="3488040" cy="6480"/>
            </p14:xfrm>
          </p:contentPart>
        </mc:Choice>
        <mc:Fallback xmlns="">
          <p:pic>
            <p:nvPicPr>
              <p:cNvPr id="9" name="墨迹 8">
                <a:extLst>
                  <a:ext uri="{FF2B5EF4-FFF2-40B4-BE49-F238E27FC236}">
                    <a16:creationId xmlns:a16="http://schemas.microsoft.com/office/drawing/2014/main" id="{BE38CF23-A92A-4658-C9A8-053F352CBCFB}"/>
                  </a:ext>
                </a:extLst>
              </p:cNvPr>
              <p:cNvPicPr/>
              <p:nvPr/>
            </p:nvPicPr>
            <p:blipFill>
              <a:blip r:embed="rId19"/>
              <a:stretch>
                <a:fillRect/>
              </a:stretch>
            </p:blipFill>
            <p:spPr>
              <a:xfrm>
                <a:off x="810832" y="5509893"/>
                <a:ext cx="359568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墨迹 9">
                <a:extLst>
                  <a:ext uri="{FF2B5EF4-FFF2-40B4-BE49-F238E27FC236}">
                    <a16:creationId xmlns:a16="http://schemas.microsoft.com/office/drawing/2014/main" id="{3A4BA873-BDB2-1AA8-2415-8F116C9CB3D6}"/>
                  </a:ext>
                </a:extLst>
              </p14:cNvPr>
              <p14:cNvContentPartPr/>
              <p14:nvPr/>
            </p14:nvContentPartPr>
            <p14:xfrm>
              <a:off x="1631632" y="6036573"/>
              <a:ext cx="1990800" cy="360"/>
            </p14:xfrm>
          </p:contentPart>
        </mc:Choice>
        <mc:Fallback xmlns="">
          <p:pic>
            <p:nvPicPr>
              <p:cNvPr id="10" name="墨迹 9">
                <a:extLst>
                  <a:ext uri="{FF2B5EF4-FFF2-40B4-BE49-F238E27FC236}">
                    <a16:creationId xmlns:a16="http://schemas.microsoft.com/office/drawing/2014/main" id="{3A4BA873-BDB2-1AA8-2415-8F116C9CB3D6}"/>
                  </a:ext>
                </a:extLst>
              </p:cNvPr>
              <p:cNvPicPr/>
              <p:nvPr/>
            </p:nvPicPr>
            <p:blipFill>
              <a:blip r:embed="rId21"/>
              <a:stretch>
                <a:fillRect/>
              </a:stretch>
            </p:blipFill>
            <p:spPr>
              <a:xfrm>
                <a:off x="1577632" y="5928933"/>
                <a:ext cx="2098440" cy="21600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矩形 180227"/>
          <p:cNvSpPr/>
          <p:nvPr/>
        </p:nvSpPr>
        <p:spPr>
          <a:xfrm>
            <a:off x="2124075" y="3284538"/>
            <a:ext cx="6119813" cy="1739900"/>
          </a:xfrm>
          <a:prstGeom prst="rect">
            <a:avLst/>
          </a:prstGeom>
          <a:noFill/>
          <a:ln w="9525">
            <a:noFill/>
          </a:ln>
        </p:spPr>
        <p:txBody>
          <a:bodyPr anchor="ctr" anchorCtr="0">
            <a:spAutoFit/>
          </a:bodyPr>
          <a:lstStyle/>
          <a:p>
            <a:r>
              <a:rPr lang="zh-CN" altLang="en-US" sz="3600" b="1" dirty="0">
                <a:latin typeface="Times New Roman" panose="02020603050405020304" pitchFamily="18" charset="0"/>
                <a:ea typeface="宋体" panose="02010600030101010101" pitchFamily="2" charset="-122"/>
              </a:rPr>
              <a:t>电子的共有化运动</a:t>
            </a:r>
          </a:p>
          <a:p>
            <a:endParaRPr lang="zh-CN" altLang="en-US" sz="3600" b="1" dirty="0">
              <a:latin typeface="Times New Roman" panose="02020603050405020304" pitchFamily="18" charset="0"/>
              <a:ea typeface="宋体" panose="02010600030101010101" pitchFamily="2" charset="-122"/>
            </a:endParaRPr>
          </a:p>
          <a:p>
            <a:r>
              <a:rPr lang="zh-CN" altLang="en-US" sz="3600" b="1" dirty="0">
                <a:latin typeface="Times New Roman" panose="02020603050405020304" pitchFamily="18" charset="0"/>
                <a:ea typeface="宋体" panose="02010600030101010101" pitchFamily="2" charset="-122"/>
              </a:rPr>
              <a:t>导带、价带、禁带的形成 </a:t>
            </a:r>
          </a:p>
        </p:txBody>
      </p:sp>
      <p:sp>
        <p:nvSpPr>
          <p:cNvPr id="14338" name="标题 180228"/>
          <p:cNvSpPr>
            <a:spLocks noGrp="1"/>
          </p:cNvSpPr>
          <p:nvPr>
            <p:ph type="title"/>
          </p:nvPr>
        </p:nvSpPr>
        <p:spPr>
          <a:xfrm>
            <a:off x="251460" y="835978"/>
            <a:ext cx="8521700" cy="706755"/>
          </a:xfrm>
        </p:spPr>
        <p:txBody>
          <a:bodyPr vert="horz" wrap="square" lIns="91440" tIns="45720" rIns="91440" bIns="45720" anchor="ctr" anchorCtr="0"/>
          <a:lstStyle/>
          <a:p>
            <a:r>
              <a:rPr lang="zh-CN" altLang="en-US" sz="4000" b="1" dirty="0"/>
              <a:t>§ </a:t>
            </a:r>
            <a:r>
              <a:rPr lang="en-US" altLang="zh-CN" sz="4000" b="1" dirty="0"/>
              <a:t>1.2  </a:t>
            </a:r>
            <a:r>
              <a:rPr lang="zh-CN" altLang="en-US" sz="4000" b="1" dirty="0"/>
              <a:t>半导体中的电子状态与能带</a:t>
            </a:r>
          </a:p>
        </p:txBody>
      </p:sp>
      <p:sp>
        <p:nvSpPr>
          <p:cNvPr id="14339" name="文本框 180229"/>
          <p:cNvSpPr txBox="1"/>
          <p:nvPr/>
        </p:nvSpPr>
        <p:spPr>
          <a:xfrm>
            <a:off x="1331913" y="2060575"/>
            <a:ext cx="1860550" cy="762000"/>
          </a:xfrm>
          <a:prstGeom prst="rect">
            <a:avLst/>
          </a:prstGeom>
          <a:noFill/>
          <a:ln w="9525">
            <a:noFill/>
          </a:ln>
        </p:spPr>
        <p:txBody>
          <a:bodyPr wrap="none" anchor="t" anchorCtr="0">
            <a:spAutoFit/>
          </a:bodyPr>
          <a:lstStyle/>
          <a:p>
            <a:r>
              <a:rPr lang="zh-CN" altLang="en-US" sz="4400" b="1" dirty="0">
                <a:solidFill>
                  <a:srgbClr val="A50021"/>
                </a:solidFill>
                <a:latin typeface="Times New Roman" panose="02020603050405020304" pitchFamily="18" charset="0"/>
                <a:ea typeface="宋体" panose="02010600030101010101" pitchFamily="2" charset="-122"/>
              </a:rPr>
              <a:t>重点：</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矩形 22531"/>
          <p:cNvSpPr/>
          <p:nvPr/>
        </p:nvSpPr>
        <p:spPr>
          <a:xfrm>
            <a:off x="468313" y="1844675"/>
            <a:ext cx="8280400" cy="4105275"/>
          </a:xfrm>
          <a:prstGeom prst="rect">
            <a:avLst/>
          </a:prstGeom>
          <a:noFill/>
          <a:ln w="9525">
            <a:noFill/>
          </a:ln>
        </p:spPr>
        <p:txBody>
          <a:bodyPr anchor="t" anchorCtr="0"/>
          <a:lstStyle/>
          <a:p>
            <a:pPr marL="342900" indent="-342900">
              <a:lnSpc>
                <a:spcPct val="90000"/>
              </a:lnSpc>
              <a:spcBef>
                <a:spcPct val="20000"/>
              </a:spcBef>
              <a:buClr>
                <a:schemeClr val="bg2"/>
              </a:buClr>
              <a:buSzPct val="75000"/>
              <a:buFont typeface="Wingdings" panose="05000000000000000000" pitchFamily="2" charset="2"/>
              <a:buChar char="n"/>
            </a:pPr>
            <a:r>
              <a:rPr lang="en-US" altLang="zh-CN" sz="3600" b="1" dirty="0">
                <a:latin typeface="Arial" panose="020B0604020202020204" pitchFamily="34" charset="0"/>
                <a:ea typeface="宋体" panose="02010600030101010101" pitchFamily="2" charset="-122"/>
              </a:rPr>
              <a:t>1</a:t>
            </a:r>
            <a:r>
              <a:rPr lang="zh-CN" altLang="en-US" sz="3600" b="1" dirty="0">
                <a:latin typeface="Arial" panose="020B0604020202020204" pitchFamily="34" charset="0"/>
                <a:ea typeface="宋体" panose="02010600030101010101" pitchFamily="2" charset="-122"/>
              </a:rPr>
              <a:t>、孤立原子中的电子状态</a:t>
            </a:r>
          </a:p>
          <a:p>
            <a:pPr marL="742950" lvl="1" indent="-285750" algn="l"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pPr>
            <a:endParaRPr lang="zh-CN" altLang="en-US" sz="3200" b="1" u="none" baseline="0" dirty="0">
              <a:solidFill>
                <a:schemeClr val="tx1"/>
              </a:solidFill>
              <a:latin typeface="Arial" panose="020B0604020202020204" pitchFamily="34" charset="0"/>
              <a:ea typeface="宋体" panose="02010600030101010101" pitchFamily="2" charset="-122"/>
            </a:endParaRPr>
          </a:p>
          <a:p>
            <a:pPr marL="742950" lvl="1" indent="-285750" algn="l"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pPr>
            <a:r>
              <a:rPr lang="zh-CN" altLang="en-US" sz="3200" b="1" u="none" baseline="0" dirty="0">
                <a:solidFill>
                  <a:schemeClr val="tx1"/>
                </a:solidFill>
                <a:latin typeface="Arial" panose="020B0604020202020204" pitchFamily="34" charset="0"/>
                <a:ea typeface="宋体" panose="02010600030101010101" pitchFamily="2" charset="-122"/>
              </a:rPr>
              <a:t>其状态由下列量子数确定：</a:t>
            </a:r>
          </a:p>
          <a:p>
            <a:pPr marL="1143000" lvl="2" indent="-228600" algn="l" rtl="0" eaLnBrk="1" fontAlgn="base" latinLnBrk="0" hangingPunct="1">
              <a:lnSpc>
                <a:spcPct val="90000"/>
              </a:lnSpc>
              <a:spcBef>
                <a:spcPct val="20000"/>
              </a:spcBef>
              <a:spcAft>
                <a:spcPct val="0"/>
              </a:spcAft>
              <a:buClr>
                <a:schemeClr val="bg2"/>
              </a:buClr>
              <a:buSzPct val="65000"/>
              <a:buFont typeface="Wingdings" panose="05000000000000000000" pitchFamily="2" charset="2"/>
              <a:buChar char="n"/>
            </a:pPr>
            <a:r>
              <a:rPr lang="en-US" altLang="zh-CN" sz="2800" b="1" u="none" baseline="0" dirty="0">
                <a:solidFill>
                  <a:schemeClr val="tx1"/>
                </a:solidFill>
                <a:latin typeface="Arial" panose="020B0604020202020204" pitchFamily="34" charset="0"/>
                <a:ea typeface="宋体" panose="02010600030101010101" pitchFamily="2" charset="-122"/>
              </a:rPr>
              <a:t>n:</a:t>
            </a:r>
            <a:r>
              <a:rPr lang="zh-CN" altLang="en-US" sz="2800" b="1" u="none" baseline="0" dirty="0">
                <a:solidFill>
                  <a:schemeClr val="tx1"/>
                </a:solidFill>
                <a:latin typeface="Arial" panose="020B0604020202020204" pitchFamily="34" charset="0"/>
                <a:ea typeface="宋体" panose="02010600030101010101" pitchFamily="2" charset="-122"/>
              </a:rPr>
              <a:t>主量子数，</a:t>
            </a:r>
            <a:r>
              <a:rPr lang="en-US" altLang="zh-CN" sz="2800" b="1" u="none" baseline="0" dirty="0">
                <a:solidFill>
                  <a:schemeClr val="tx1"/>
                </a:solidFill>
                <a:latin typeface="Arial" panose="020B0604020202020204" pitchFamily="34" charset="0"/>
                <a:ea typeface="宋体" panose="02010600030101010101" pitchFamily="2" charset="-122"/>
              </a:rPr>
              <a:t>1</a:t>
            </a:r>
            <a:r>
              <a:rPr lang="zh-CN" altLang="en-US" sz="2800" b="1" u="none" baseline="0" dirty="0">
                <a:solidFill>
                  <a:schemeClr val="tx1"/>
                </a:solidFill>
                <a:latin typeface="Arial" panose="020B0604020202020204" pitchFamily="34" charset="0"/>
                <a:ea typeface="宋体" panose="02010600030101010101" pitchFamily="2" charset="-122"/>
              </a:rPr>
              <a:t>，</a:t>
            </a:r>
            <a:r>
              <a:rPr lang="en-US" altLang="zh-CN" sz="2800" b="1" u="none" baseline="0" dirty="0">
                <a:solidFill>
                  <a:schemeClr val="tx1"/>
                </a:solidFill>
                <a:latin typeface="Arial" panose="020B0604020202020204" pitchFamily="34" charset="0"/>
                <a:ea typeface="宋体" panose="02010600030101010101" pitchFamily="2" charset="-122"/>
              </a:rPr>
              <a:t>2</a:t>
            </a:r>
            <a:r>
              <a:rPr lang="zh-CN" altLang="en-US" sz="2800" b="1" u="none" baseline="0" dirty="0">
                <a:solidFill>
                  <a:schemeClr val="tx1"/>
                </a:solidFill>
                <a:latin typeface="Arial" panose="020B0604020202020204" pitchFamily="34" charset="0"/>
                <a:ea typeface="宋体" panose="02010600030101010101" pitchFamily="2" charset="-122"/>
              </a:rPr>
              <a:t>，</a:t>
            </a:r>
            <a:r>
              <a:rPr lang="en-US" altLang="zh-CN" sz="2800" b="1" u="none" baseline="0" dirty="0">
                <a:solidFill>
                  <a:schemeClr val="tx1"/>
                </a:solidFill>
                <a:latin typeface="Arial" panose="020B0604020202020204" pitchFamily="34" charset="0"/>
                <a:ea typeface="宋体" panose="02010600030101010101" pitchFamily="2" charset="-122"/>
              </a:rPr>
              <a:t>3</a:t>
            </a:r>
            <a:r>
              <a:rPr lang="zh-CN" altLang="en-US" sz="2800" b="1" u="none" baseline="0" dirty="0">
                <a:solidFill>
                  <a:schemeClr val="tx1"/>
                </a:solidFill>
                <a:latin typeface="Arial" panose="020B0604020202020204" pitchFamily="34" charset="0"/>
                <a:ea typeface="宋体" panose="02010600030101010101" pitchFamily="2" charset="-122"/>
              </a:rPr>
              <a:t>，</a:t>
            </a:r>
            <a:r>
              <a:rPr lang="en-US" altLang="zh-CN" sz="2400" b="1" u="none" baseline="0">
                <a:solidFill>
                  <a:schemeClr val="tx1"/>
                </a:solidFill>
                <a:latin typeface="Arial" panose="020B0604020202020204" pitchFamily="34" charset="0"/>
                <a:ea typeface="宋体" panose="02010600030101010101" pitchFamily="2" charset="-122"/>
              </a:rPr>
              <a:t>…</a:t>
            </a:r>
            <a:endParaRPr lang="en-US" altLang="zh-CN" sz="2800" b="1" u="none" baseline="0">
              <a:solidFill>
                <a:schemeClr val="tx1"/>
              </a:solidFill>
              <a:latin typeface="Arial" panose="020B0604020202020204" pitchFamily="34" charset="0"/>
              <a:ea typeface="宋体" panose="02010600030101010101" pitchFamily="2" charset="-122"/>
            </a:endParaRPr>
          </a:p>
          <a:p>
            <a:pPr marL="1143000" lvl="2" indent="-228600" algn="l" rtl="0" eaLnBrk="1" fontAlgn="base" latinLnBrk="0" hangingPunct="1">
              <a:lnSpc>
                <a:spcPct val="90000"/>
              </a:lnSpc>
              <a:spcBef>
                <a:spcPct val="20000"/>
              </a:spcBef>
              <a:spcAft>
                <a:spcPct val="0"/>
              </a:spcAft>
              <a:buClr>
                <a:schemeClr val="bg2"/>
              </a:buClr>
              <a:buSzPct val="65000"/>
              <a:buFont typeface="Wingdings" panose="05000000000000000000" pitchFamily="2" charset="2"/>
              <a:buChar char="n"/>
            </a:pPr>
            <a:r>
              <a:rPr lang="en-US" altLang="zh-CN" sz="2800" b="1" u="none" baseline="0" dirty="0">
                <a:solidFill>
                  <a:schemeClr val="tx1"/>
                </a:solidFill>
                <a:latin typeface="Arial" panose="020B0604020202020204" pitchFamily="34" charset="0"/>
                <a:ea typeface="宋体" panose="02010600030101010101" pitchFamily="2" charset="-122"/>
              </a:rPr>
              <a:t>l: </a:t>
            </a:r>
            <a:r>
              <a:rPr lang="zh-CN" altLang="en-US" sz="2800" b="1" u="none" baseline="0" dirty="0">
                <a:solidFill>
                  <a:schemeClr val="tx1"/>
                </a:solidFill>
                <a:latin typeface="Arial" panose="020B0604020202020204" pitchFamily="34" charset="0"/>
                <a:ea typeface="宋体" panose="02010600030101010101" pitchFamily="2" charset="-122"/>
              </a:rPr>
              <a:t>轨道</a:t>
            </a:r>
            <a:r>
              <a:rPr lang="en-US" altLang="zh-CN" sz="2800" b="1" u="none" baseline="0">
                <a:solidFill>
                  <a:schemeClr val="tx1"/>
                </a:solidFill>
                <a:latin typeface="Arial" panose="020B0604020202020204" pitchFamily="34" charset="0"/>
                <a:ea typeface="宋体" panose="02010600030101010101" pitchFamily="2" charset="-122"/>
              </a:rPr>
              <a:t>(</a:t>
            </a:r>
            <a:r>
              <a:rPr lang="zh-CN" altLang="en-US" sz="2800" b="1" u="none" baseline="0" dirty="0">
                <a:solidFill>
                  <a:schemeClr val="tx1"/>
                </a:solidFill>
                <a:latin typeface="Arial" panose="020B0604020202020204" pitchFamily="34" charset="0"/>
                <a:ea typeface="宋体" panose="02010600030101010101" pitchFamily="2" charset="-122"/>
              </a:rPr>
              <a:t>角</a:t>
            </a:r>
            <a:r>
              <a:rPr lang="en-US" altLang="zh-CN" sz="2800" b="1" u="none" baseline="0">
                <a:solidFill>
                  <a:schemeClr val="tx1"/>
                </a:solidFill>
                <a:latin typeface="Arial" panose="020B0604020202020204" pitchFamily="34" charset="0"/>
                <a:ea typeface="宋体" panose="02010600030101010101" pitchFamily="2" charset="-122"/>
              </a:rPr>
              <a:t>)</a:t>
            </a:r>
            <a:r>
              <a:rPr lang="zh-CN" altLang="en-US" sz="2800" b="1" u="none" baseline="0" dirty="0">
                <a:solidFill>
                  <a:schemeClr val="tx1"/>
                </a:solidFill>
                <a:latin typeface="Arial" panose="020B0604020202020204" pitchFamily="34" charset="0"/>
                <a:ea typeface="宋体" panose="02010600030101010101" pitchFamily="2" charset="-122"/>
              </a:rPr>
              <a:t>量子数</a:t>
            </a:r>
            <a:r>
              <a:rPr lang="zh-CN" altLang="en-US" sz="2400" b="1" u="none" baseline="0" dirty="0">
                <a:solidFill>
                  <a:schemeClr val="tx1"/>
                </a:solidFill>
                <a:latin typeface="Arial" panose="020B0604020202020204" pitchFamily="34" charset="0"/>
                <a:ea typeface="宋体" panose="02010600030101010101" pitchFamily="2" charset="-122"/>
              </a:rPr>
              <a:t>，</a:t>
            </a:r>
            <a:r>
              <a:rPr lang="en-US" altLang="zh-CN" sz="2400" b="1" u="none" baseline="0" dirty="0">
                <a:solidFill>
                  <a:schemeClr val="tx1"/>
                </a:solidFill>
                <a:latin typeface="Arial" panose="020B0604020202020204" pitchFamily="34" charset="0"/>
                <a:ea typeface="宋体" panose="02010600030101010101" pitchFamily="2" charset="-122"/>
              </a:rPr>
              <a:t>0</a:t>
            </a:r>
            <a:r>
              <a:rPr lang="zh-CN" altLang="en-US" sz="2400" b="1" u="none" baseline="0" dirty="0">
                <a:solidFill>
                  <a:schemeClr val="tx1"/>
                </a:solidFill>
                <a:latin typeface="Arial" panose="020B0604020202020204" pitchFamily="34" charset="0"/>
                <a:ea typeface="宋体" panose="02010600030101010101" pitchFamily="2" charset="-122"/>
              </a:rPr>
              <a:t>，</a:t>
            </a:r>
            <a:r>
              <a:rPr lang="en-US" altLang="zh-CN" sz="2400" b="1" u="none" baseline="0" dirty="0">
                <a:solidFill>
                  <a:schemeClr val="tx1"/>
                </a:solidFill>
                <a:latin typeface="Arial" panose="020B0604020202020204" pitchFamily="34" charset="0"/>
                <a:ea typeface="宋体" panose="02010600030101010101" pitchFamily="2" charset="-122"/>
              </a:rPr>
              <a:t>1</a:t>
            </a:r>
            <a:r>
              <a:rPr lang="zh-CN" altLang="en-US" sz="2400" b="1" u="none" baseline="0" dirty="0">
                <a:solidFill>
                  <a:schemeClr val="tx1"/>
                </a:solidFill>
                <a:latin typeface="Arial" panose="020B0604020202020204" pitchFamily="34" charset="0"/>
                <a:ea typeface="宋体" panose="02010600030101010101" pitchFamily="2" charset="-122"/>
              </a:rPr>
              <a:t>，</a:t>
            </a:r>
            <a:r>
              <a:rPr lang="en-US" altLang="zh-CN" sz="2400" b="1" u="none" baseline="0" dirty="0">
                <a:solidFill>
                  <a:schemeClr val="tx1"/>
                </a:solidFill>
                <a:latin typeface="Arial" panose="020B0604020202020204" pitchFamily="34" charset="0"/>
                <a:ea typeface="宋体" panose="02010600030101010101" pitchFamily="2" charset="-122"/>
              </a:rPr>
              <a:t>2</a:t>
            </a:r>
            <a:r>
              <a:rPr lang="zh-CN" altLang="en-US" sz="2400" b="1" u="none" baseline="0" dirty="0">
                <a:solidFill>
                  <a:schemeClr val="tx1"/>
                </a:solidFill>
                <a:latin typeface="Arial" panose="020B0604020202020204" pitchFamily="34" charset="0"/>
                <a:ea typeface="宋体" panose="02010600030101010101" pitchFamily="2" charset="-122"/>
              </a:rPr>
              <a:t>，（</a:t>
            </a:r>
            <a:r>
              <a:rPr lang="en-US" altLang="zh-CN" sz="2400" b="1" u="none" baseline="0" dirty="0">
                <a:solidFill>
                  <a:schemeClr val="tx1"/>
                </a:solidFill>
                <a:latin typeface="Arial" panose="020B0604020202020204" pitchFamily="34" charset="0"/>
                <a:ea typeface="宋体" panose="02010600030101010101" pitchFamily="2" charset="-122"/>
              </a:rPr>
              <a:t>n</a:t>
            </a:r>
            <a:r>
              <a:rPr lang="zh-CN" altLang="en-US" sz="2400" b="1" u="none" baseline="0" dirty="0">
                <a:solidFill>
                  <a:schemeClr val="tx1"/>
                </a:solidFill>
                <a:latin typeface="Arial" panose="020B0604020202020204" pitchFamily="34" charset="0"/>
                <a:ea typeface="宋体" panose="02010600030101010101" pitchFamily="2" charset="-122"/>
              </a:rPr>
              <a:t>－</a:t>
            </a:r>
            <a:r>
              <a:rPr lang="en-US" altLang="zh-CN" sz="2400" b="1" u="none" baseline="0" dirty="0">
                <a:solidFill>
                  <a:schemeClr val="tx1"/>
                </a:solidFill>
                <a:latin typeface="Arial" panose="020B0604020202020204" pitchFamily="34" charset="0"/>
                <a:ea typeface="宋体" panose="02010600030101010101" pitchFamily="2" charset="-122"/>
              </a:rPr>
              <a:t>1</a:t>
            </a:r>
            <a:r>
              <a:rPr lang="zh-CN" altLang="en-US" sz="2400" b="1" u="none" baseline="0" dirty="0">
                <a:solidFill>
                  <a:schemeClr val="tx1"/>
                </a:solidFill>
                <a:latin typeface="Arial" panose="020B0604020202020204" pitchFamily="34" charset="0"/>
                <a:ea typeface="宋体" panose="02010600030101010101" pitchFamily="2" charset="-122"/>
              </a:rPr>
              <a:t>）</a:t>
            </a:r>
            <a:endParaRPr lang="zh-CN" altLang="en-US" sz="2800" b="1" u="none" baseline="0" dirty="0">
              <a:solidFill>
                <a:schemeClr val="tx1"/>
              </a:solidFill>
              <a:latin typeface="Arial" panose="020B0604020202020204" pitchFamily="34" charset="0"/>
              <a:ea typeface="宋体" panose="02010600030101010101" pitchFamily="2" charset="-122"/>
            </a:endParaRPr>
          </a:p>
          <a:p>
            <a:pPr marL="1143000" lvl="2" indent="-228600" algn="l" rtl="0" eaLnBrk="1" fontAlgn="base" latinLnBrk="0" hangingPunct="1">
              <a:lnSpc>
                <a:spcPct val="90000"/>
              </a:lnSpc>
              <a:spcBef>
                <a:spcPct val="20000"/>
              </a:spcBef>
              <a:spcAft>
                <a:spcPct val="0"/>
              </a:spcAft>
              <a:buClr>
                <a:schemeClr val="bg2"/>
              </a:buClr>
              <a:buSzPct val="65000"/>
              <a:buFont typeface="Wingdings" panose="05000000000000000000" pitchFamily="2" charset="2"/>
              <a:buChar char="n"/>
            </a:pPr>
            <a:r>
              <a:rPr lang="en-US" altLang="zh-CN" sz="2800" b="1" u="none" baseline="0">
                <a:solidFill>
                  <a:schemeClr val="tx1"/>
                </a:solidFill>
                <a:latin typeface="Arial" panose="020B0604020202020204" pitchFamily="34" charset="0"/>
                <a:ea typeface="宋体" panose="02010600030101010101" pitchFamily="2" charset="-122"/>
              </a:rPr>
              <a:t>m</a:t>
            </a:r>
            <a:r>
              <a:rPr lang="en-US" altLang="zh-CN" sz="2800" b="1" u="none" baseline="-25000">
                <a:solidFill>
                  <a:schemeClr val="tx1"/>
                </a:solidFill>
                <a:latin typeface="Arial" panose="020B0604020202020204" pitchFamily="34" charset="0"/>
                <a:ea typeface="宋体" panose="02010600030101010101" pitchFamily="2" charset="-122"/>
              </a:rPr>
              <a:t>l</a:t>
            </a:r>
            <a:r>
              <a:rPr lang="en-US" altLang="zh-CN" sz="2800" b="1" u="none" baseline="0" dirty="0">
                <a:solidFill>
                  <a:schemeClr val="tx1"/>
                </a:solidFill>
                <a:latin typeface="Arial" panose="020B0604020202020204" pitchFamily="34" charset="0"/>
                <a:ea typeface="宋体" panose="02010600030101010101" pitchFamily="2" charset="-122"/>
              </a:rPr>
              <a:t>:</a:t>
            </a:r>
            <a:r>
              <a:rPr lang="zh-CN" altLang="en-US" sz="2800" b="1" u="none" baseline="0" dirty="0">
                <a:solidFill>
                  <a:schemeClr val="tx1"/>
                </a:solidFill>
                <a:latin typeface="Arial" panose="020B0604020202020204" pitchFamily="34" charset="0"/>
                <a:ea typeface="宋体" panose="02010600030101010101" pitchFamily="2" charset="-122"/>
              </a:rPr>
              <a:t>磁量子数，</a:t>
            </a:r>
            <a:r>
              <a:rPr lang="en-US" altLang="zh-CN" sz="2800" b="1" u="none" baseline="0" dirty="0">
                <a:solidFill>
                  <a:schemeClr val="tx1"/>
                </a:solidFill>
                <a:latin typeface="Arial" panose="020B0604020202020204" pitchFamily="34" charset="0"/>
                <a:ea typeface="宋体" panose="02010600030101010101" pitchFamily="2" charset="-122"/>
              </a:rPr>
              <a:t>0</a:t>
            </a:r>
            <a:r>
              <a:rPr lang="zh-CN" altLang="en-US" sz="2800" b="1" u="none" baseline="0" dirty="0">
                <a:solidFill>
                  <a:schemeClr val="tx1"/>
                </a:solidFill>
                <a:latin typeface="Arial" panose="020B0604020202020204" pitchFamily="34" charset="0"/>
                <a:ea typeface="宋体" panose="02010600030101010101" pitchFamily="2" charset="-122"/>
              </a:rPr>
              <a:t>， </a:t>
            </a:r>
            <a:r>
              <a:rPr lang="en-US" altLang="zh-CN" sz="2400" b="1" u="none" baseline="0">
                <a:solidFill>
                  <a:schemeClr val="tx1"/>
                </a:solidFill>
                <a:latin typeface="Arial" panose="020B0604020202020204" pitchFamily="34" charset="0"/>
                <a:ea typeface="宋体" panose="02010600030101010101" pitchFamily="2" charset="-122"/>
              </a:rPr>
              <a:t>±</a:t>
            </a:r>
            <a:r>
              <a:rPr lang="en-US" altLang="zh-CN" sz="2800" b="1" u="none" baseline="0">
                <a:solidFill>
                  <a:schemeClr val="tx1"/>
                </a:solidFill>
                <a:latin typeface="Arial" panose="020B0604020202020204" pitchFamily="34" charset="0"/>
                <a:ea typeface="宋体" panose="02010600030101010101" pitchFamily="2" charset="-122"/>
              </a:rPr>
              <a:t> </a:t>
            </a:r>
            <a:r>
              <a:rPr lang="en-US" altLang="zh-CN" sz="2400" b="1" u="none" baseline="0" dirty="0">
                <a:solidFill>
                  <a:schemeClr val="tx1"/>
                </a:solidFill>
                <a:latin typeface="Arial" panose="020B0604020202020204" pitchFamily="34" charset="0"/>
                <a:ea typeface="宋体" panose="02010600030101010101" pitchFamily="2" charset="-122"/>
              </a:rPr>
              <a:t>1</a:t>
            </a:r>
            <a:r>
              <a:rPr lang="zh-CN" altLang="en-US" sz="2400" b="1" u="none" baseline="0" dirty="0">
                <a:solidFill>
                  <a:schemeClr val="tx1"/>
                </a:solidFill>
                <a:latin typeface="Arial" panose="020B0604020202020204" pitchFamily="34" charset="0"/>
                <a:ea typeface="宋体" panose="02010600030101010101" pitchFamily="2" charset="-122"/>
              </a:rPr>
              <a:t>， </a:t>
            </a:r>
            <a:r>
              <a:rPr lang="en-US" altLang="zh-CN" sz="2400" b="1" u="none" baseline="0" dirty="0">
                <a:solidFill>
                  <a:schemeClr val="tx1"/>
                </a:solidFill>
                <a:latin typeface="Arial" panose="020B0604020202020204" pitchFamily="34" charset="0"/>
                <a:ea typeface="宋体" panose="02010600030101010101" pitchFamily="2" charset="-122"/>
              </a:rPr>
              <a:t>±2</a:t>
            </a:r>
            <a:r>
              <a:rPr lang="zh-CN" altLang="en-US" sz="2400" b="1" u="none" baseline="0" dirty="0">
                <a:solidFill>
                  <a:schemeClr val="tx1"/>
                </a:solidFill>
                <a:latin typeface="Arial" panose="020B0604020202020204" pitchFamily="34" charset="0"/>
                <a:ea typeface="宋体" panose="02010600030101010101" pitchFamily="2" charset="-122"/>
              </a:rPr>
              <a:t>， </a:t>
            </a:r>
            <a:r>
              <a:rPr lang="en-US" altLang="zh-CN" sz="2400" b="1" u="none" baseline="0">
                <a:solidFill>
                  <a:schemeClr val="tx1"/>
                </a:solidFill>
                <a:latin typeface="Arial" panose="020B0604020202020204" pitchFamily="34" charset="0"/>
                <a:ea typeface="宋体" panose="02010600030101010101" pitchFamily="2" charset="-122"/>
              </a:rPr>
              <a:t>…, ±l</a:t>
            </a:r>
            <a:endParaRPr lang="en-US" altLang="zh-CN" sz="2800" b="1" u="none" baseline="0">
              <a:solidFill>
                <a:schemeClr val="tx1"/>
              </a:solidFill>
              <a:latin typeface="Arial" panose="020B0604020202020204" pitchFamily="34" charset="0"/>
              <a:ea typeface="宋体" panose="02010600030101010101" pitchFamily="2" charset="-122"/>
            </a:endParaRPr>
          </a:p>
          <a:p>
            <a:pPr marL="1143000" lvl="2" indent="-228600" algn="l" rtl="0" eaLnBrk="1" fontAlgn="base" latinLnBrk="0" hangingPunct="1">
              <a:lnSpc>
                <a:spcPct val="90000"/>
              </a:lnSpc>
              <a:spcBef>
                <a:spcPct val="20000"/>
              </a:spcBef>
              <a:spcAft>
                <a:spcPct val="0"/>
              </a:spcAft>
              <a:buClr>
                <a:schemeClr val="bg2"/>
              </a:buClr>
              <a:buSzPct val="65000"/>
              <a:buFont typeface="Wingdings" panose="05000000000000000000" pitchFamily="2" charset="2"/>
              <a:buChar char="n"/>
            </a:pPr>
            <a:r>
              <a:rPr lang="en-US" altLang="zh-CN" sz="2800" b="1" u="none" baseline="0">
                <a:solidFill>
                  <a:schemeClr val="tx1"/>
                </a:solidFill>
                <a:latin typeface="Arial" panose="020B0604020202020204" pitchFamily="34" charset="0"/>
                <a:ea typeface="宋体" panose="02010600030101010101" pitchFamily="2" charset="-122"/>
              </a:rPr>
              <a:t>m</a:t>
            </a:r>
            <a:r>
              <a:rPr lang="en-US" altLang="zh-CN" sz="2800" b="1" u="none" baseline="-25000">
                <a:solidFill>
                  <a:schemeClr val="tx1"/>
                </a:solidFill>
                <a:latin typeface="Arial" panose="020B0604020202020204" pitchFamily="34" charset="0"/>
                <a:ea typeface="宋体" panose="02010600030101010101" pitchFamily="2" charset="-122"/>
              </a:rPr>
              <a:t>s</a:t>
            </a:r>
            <a:r>
              <a:rPr lang="en-US" altLang="zh-CN" sz="2800" b="1" u="none" baseline="0" dirty="0">
                <a:solidFill>
                  <a:schemeClr val="tx1"/>
                </a:solidFill>
                <a:latin typeface="Arial" panose="020B0604020202020204" pitchFamily="34" charset="0"/>
                <a:ea typeface="宋体" panose="02010600030101010101" pitchFamily="2" charset="-122"/>
              </a:rPr>
              <a:t>:</a:t>
            </a:r>
            <a:r>
              <a:rPr lang="zh-CN" altLang="en-US" sz="2800" b="1" u="none" baseline="0" dirty="0">
                <a:solidFill>
                  <a:schemeClr val="tx1"/>
                </a:solidFill>
                <a:latin typeface="Arial" panose="020B0604020202020204" pitchFamily="34" charset="0"/>
                <a:ea typeface="宋体" panose="02010600030101010101" pitchFamily="2" charset="-122"/>
              </a:rPr>
              <a:t>自旋磁量子数， </a:t>
            </a:r>
            <a:r>
              <a:rPr lang="en-US" altLang="zh-CN" sz="2400" b="1" u="none" baseline="0">
                <a:solidFill>
                  <a:schemeClr val="tx1"/>
                </a:solidFill>
                <a:latin typeface="Arial" panose="020B0604020202020204" pitchFamily="34" charset="0"/>
                <a:ea typeface="宋体" panose="02010600030101010101" pitchFamily="2" charset="-122"/>
              </a:rPr>
              <a:t>±1/2</a:t>
            </a:r>
          </a:p>
        </p:txBody>
      </p:sp>
      <p:sp>
        <p:nvSpPr>
          <p:cNvPr id="15362" name="矩形 22533"/>
          <p:cNvSpPr/>
          <p:nvPr/>
        </p:nvSpPr>
        <p:spPr>
          <a:xfrm>
            <a:off x="468313" y="765175"/>
            <a:ext cx="5832475" cy="701675"/>
          </a:xfrm>
          <a:prstGeom prst="rect">
            <a:avLst/>
          </a:prstGeom>
          <a:noFill/>
          <a:ln w="9525">
            <a:noFill/>
          </a:ln>
        </p:spPr>
        <p:txBody>
          <a:bodyPr anchor="t" anchorCtr="0">
            <a:spAutoFit/>
          </a:bodyPr>
          <a:lstStyle/>
          <a:p>
            <a:r>
              <a:rPr lang="en-US" altLang="zh-CN" sz="4000" b="1" dirty="0">
                <a:latin typeface="Times New Roman" panose="02020603050405020304" pitchFamily="18" charset="0"/>
                <a:ea typeface="宋体" panose="02010600030101010101" pitchFamily="2" charset="-122"/>
              </a:rPr>
              <a:t>1. </a:t>
            </a:r>
            <a:r>
              <a:rPr lang="zh-CN" altLang="en-US" sz="4000" b="1" dirty="0">
                <a:latin typeface="Times New Roman" panose="02020603050405020304" pitchFamily="18" charset="0"/>
                <a:ea typeface="宋体" panose="02010600030101010101" pitchFamily="2" charset="-122"/>
              </a:rPr>
              <a:t>电子的共有化运动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矩形 148493"/>
          <p:cNvSpPr/>
          <p:nvPr/>
        </p:nvSpPr>
        <p:spPr>
          <a:xfrm>
            <a:off x="2195513" y="2708275"/>
            <a:ext cx="5472112" cy="3457575"/>
          </a:xfrm>
          <a:prstGeom prst="rect">
            <a:avLst/>
          </a:prstGeom>
          <a:solidFill>
            <a:schemeClr val="accent2"/>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6386" name="文本占位符 148482"/>
          <p:cNvSpPr>
            <a:spLocks noGrp="1"/>
          </p:cNvSpPr>
          <p:nvPr>
            <p:ph idx="1"/>
          </p:nvPr>
        </p:nvSpPr>
        <p:spPr>
          <a:xfrm>
            <a:off x="323850" y="692150"/>
            <a:ext cx="8291513" cy="2449513"/>
          </a:xfrm>
        </p:spPr>
        <p:txBody>
          <a:bodyPr anchor="t" anchorCtr="0"/>
          <a:lstStyle/>
          <a:p>
            <a:pPr lvl="1">
              <a:lnSpc>
                <a:spcPct val="90000"/>
              </a:lnSpc>
            </a:pPr>
            <a:r>
              <a:rPr lang="zh-CN" altLang="en-US" sz="3200" b="1" dirty="0"/>
              <a:t>电子壳层：</a:t>
            </a:r>
            <a:r>
              <a:rPr lang="en-US" altLang="zh-CN" sz="3200" b="1"/>
              <a:t>1s 2s 2p 3s 3p 3d 4s…</a:t>
            </a:r>
          </a:p>
          <a:p>
            <a:pPr lvl="1">
              <a:lnSpc>
                <a:spcPct val="90000"/>
              </a:lnSpc>
            </a:pPr>
            <a:r>
              <a:rPr lang="zh-CN" altLang="en-US" sz="3200" b="1" dirty="0"/>
              <a:t>孤立原子中的电子能级是量子化的</a:t>
            </a:r>
          </a:p>
          <a:p>
            <a:pPr lvl="2">
              <a:lnSpc>
                <a:spcPct val="90000"/>
              </a:lnSpc>
            </a:pPr>
            <a:r>
              <a:rPr lang="zh-CN" altLang="en-US" sz="2800" b="1" dirty="0"/>
              <a:t>能量最低原理</a:t>
            </a:r>
          </a:p>
          <a:p>
            <a:pPr lvl="2">
              <a:lnSpc>
                <a:spcPct val="90000"/>
              </a:lnSpc>
            </a:pPr>
            <a:r>
              <a:rPr lang="zh-CN" altLang="en-US" sz="2800" b="1" dirty="0"/>
              <a:t>泡利不相容原理</a:t>
            </a:r>
          </a:p>
        </p:txBody>
      </p:sp>
      <p:sp>
        <p:nvSpPr>
          <p:cNvPr id="16387" name="直接连接符 148483"/>
          <p:cNvSpPr/>
          <p:nvPr/>
        </p:nvSpPr>
        <p:spPr>
          <a:xfrm>
            <a:off x="2771775" y="5876925"/>
            <a:ext cx="3168650" cy="0"/>
          </a:xfrm>
          <a:prstGeom prst="line">
            <a:avLst/>
          </a:prstGeom>
          <a:ln w="38100" cap="flat" cmpd="sng">
            <a:solidFill>
              <a:schemeClr val="tx1"/>
            </a:solidFill>
            <a:prstDash val="solid"/>
            <a:round/>
            <a:headEnd type="none" w="med" len="med"/>
            <a:tailEnd type="none" w="med" len="med"/>
          </a:ln>
        </p:spPr>
      </p:sp>
      <p:sp>
        <p:nvSpPr>
          <p:cNvPr id="16388" name="直接连接符 148484"/>
          <p:cNvSpPr/>
          <p:nvPr/>
        </p:nvSpPr>
        <p:spPr>
          <a:xfrm>
            <a:off x="2771775" y="5373688"/>
            <a:ext cx="3168650" cy="0"/>
          </a:xfrm>
          <a:prstGeom prst="line">
            <a:avLst/>
          </a:prstGeom>
          <a:ln w="38100" cap="flat" cmpd="sng">
            <a:solidFill>
              <a:schemeClr val="tx1"/>
            </a:solidFill>
            <a:prstDash val="solid"/>
            <a:round/>
            <a:headEnd type="none" w="med" len="med"/>
            <a:tailEnd type="none" w="med" len="med"/>
          </a:ln>
        </p:spPr>
      </p:sp>
      <p:sp>
        <p:nvSpPr>
          <p:cNvPr id="16389" name="直接连接符 148485"/>
          <p:cNvSpPr/>
          <p:nvPr/>
        </p:nvSpPr>
        <p:spPr>
          <a:xfrm>
            <a:off x="2771775" y="4581525"/>
            <a:ext cx="3168650" cy="0"/>
          </a:xfrm>
          <a:prstGeom prst="line">
            <a:avLst/>
          </a:prstGeom>
          <a:ln w="38100" cap="flat" cmpd="sng">
            <a:solidFill>
              <a:schemeClr val="tx1"/>
            </a:solidFill>
            <a:prstDash val="solid"/>
            <a:round/>
            <a:headEnd type="none" w="med" len="med"/>
            <a:tailEnd type="none" w="med" len="med"/>
          </a:ln>
        </p:spPr>
      </p:sp>
      <p:sp>
        <p:nvSpPr>
          <p:cNvPr id="16390" name="直接连接符 148486"/>
          <p:cNvSpPr/>
          <p:nvPr/>
        </p:nvSpPr>
        <p:spPr>
          <a:xfrm>
            <a:off x="2771775" y="3427413"/>
            <a:ext cx="3168650" cy="0"/>
          </a:xfrm>
          <a:prstGeom prst="line">
            <a:avLst/>
          </a:prstGeom>
          <a:ln w="38100" cap="flat" cmpd="sng">
            <a:solidFill>
              <a:schemeClr val="tx1"/>
            </a:solidFill>
            <a:prstDash val="solid"/>
            <a:round/>
            <a:headEnd type="none" w="med" len="med"/>
            <a:tailEnd type="none" w="med" len="med"/>
          </a:ln>
        </p:spPr>
      </p:sp>
      <p:sp>
        <p:nvSpPr>
          <p:cNvPr id="16391" name="文本框 148487"/>
          <p:cNvSpPr txBox="1"/>
          <p:nvPr/>
        </p:nvSpPr>
        <p:spPr>
          <a:xfrm>
            <a:off x="6011863" y="5513388"/>
            <a:ext cx="546100" cy="579437"/>
          </a:xfrm>
          <a:prstGeom prst="rect">
            <a:avLst/>
          </a:prstGeom>
          <a:noFill/>
          <a:ln w="9525">
            <a:noFill/>
          </a:ln>
        </p:spPr>
        <p:txBody>
          <a:bodyPr wrap="none" anchor="t" anchorCtr="0">
            <a:spAutoFit/>
          </a:bodyPr>
          <a:lstStyle/>
          <a:p>
            <a:r>
              <a:rPr lang="en-US" altLang="zh-CN" sz="3200">
                <a:latin typeface="Times New Roman" panose="02020603050405020304" pitchFamily="18" charset="0"/>
                <a:ea typeface="宋体" panose="02010600030101010101" pitchFamily="2" charset="-122"/>
              </a:rPr>
              <a:t>1s</a:t>
            </a:r>
          </a:p>
        </p:txBody>
      </p:sp>
      <p:sp>
        <p:nvSpPr>
          <p:cNvPr id="16392" name="文本框 148488"/>
          <p:cNvSpPr txBox="1"/>
          <p:nvPr/>
        </p:nvSpPr>
        <p:spPr>
          <a:xfrm>
            <a:off x="6011863" y="5013325"/>
            <a:ext cx="546100" cy="579438"/>
          </a:xfrm>
          <a:prstGeom prst="rect">
            <a:avLst/>
          </a:prstGeom>
          <a:noFill/>
          <a:ln w="9525">
            <a:noFill/>
          </a:ln>
        </p:spPr>
        <p:txBody>
          <a:bodyPr wrap="none" anchor="t" anchorCtr="0">
            <a:spAutoFit/>
          </a:bodyPr>
          <a:lstStyle/>
          <a:p>
            <a:r>
              <a:rPr lang="en-US" altLang="zh-CN" sz="3200">
                <a:latin typeface="Times New Roman" panose="02020603050405020304" pitchFamily="18" charset="0"/>
                <a:ea typeface="宋体" panose="02010600030101010101" pitchFamily="2" charset="-122"/>
              </a:rPr>
              <a:t>2s</a:t>
            </a:r>
          </a:p>
        </p:txBody>
      </p:sp>
      <p:sp>
        <p:nvSpPr>
          <p:cNvPr id="16393" name="文本框 148489"/>
          <p:cNvSpPr txBox="1"/>
          <p:nvPr/>
        </p:nvSpPr>
        <p:spPr>
          <a:xfrm>
            <a:off x="5997575" y="4221163"/>
            <a:ext cx="590550" cy="579437"/>
          </a:xfrm>
          <a:prstGeom prst="rect">
            <a:avLst/>
          </a:prstGeom>
          <a:noFill/>
          <a:ln w="9525">
            <a:noFill/>
          </a:ln>
        </p:spPr>
        <p:txBody>
          <a:bodyPr wrap="none" anchor="t" anchorCtr="0">
            <a:spAutoFit/>
          </a:bodyPr>
          <a:lstStyle/>
          <a:p>
            <a:r>
              <a:rPr lang="en-US" altLang="zh-CN" sz="3200">
                <a:latin typeface="Times New Roman" panose="02020603050405020304" pitchFamily="18" charset="0"/>
                <a:ea typeface="宋体" panose="02010600030101010101" pitchFamily="2" charset="-122"/>
              </a:rPr>
              <a:t>2p</a:t>
            </a:r>
          </a:p>
        </p:txBody>
      </p:sp>
      <p:sp>
        <p:nvSpPr>
          <p:cNvPr id="16394" name="文本框 148490"/>
          <p:cNvSpPr txBox="1"/>
          <p:nvPr/>
        </p:nvSpPr>
        <p:spPr>
          <a:xfrm>
            <a:off x="6042025" y="3213100"/>
            <a:ext cx="546100" cy="579438"/>
          </a:xfrm>
          <a:prstGeom prst="rect">
            <a:avLst/>
          </a:prstGeom>
          <a:noFill/>
          <a:ln w="9525">
            <a:noFill/>
          </a:ln>
        </p:spPr>
        <p:txBody>
          <a:bodyPr wrap="none" anchor="t" anchorCtr="0">
            <a:spAutoFit/>
          </a:bodyPr>
          <a:lstStyle/>
          <a:p>
            <a:r>
              <a:rPr lang="en-US" altLang="zh-CN" sz="3200">
                <a:latin typeface="Times New Roman" panose="02020603050405020304" pitchFamily="18" charset="0"/>
                <a:ea typeface="宋体" panose="02010600030101010101" pitchFamily="2" charset="-122"/>
              </a:rPr>
              <a:t>3s</a:t>
            </a:r>
          </a:p>
        </p:txBody>
      </p:sp>
      <p:sp>
        <p:nvSpPr>
          <p:cNvPr id="16395" name="直接连接符 148491"/>
          <p:cNvSpPr/>
          <p:nvPr/>
        </p:nvSpPr>
        <p:spPr>
          <a:xfrm flipV="1">
            <a:off x="6877050" y="3644900"/>
            <a:ext cx="0" cy="2160588"/>
          </a:xfrm>
          <a:prstGeom prst="line">
            <a:avLst/>
          </a:prstGeom>
          <a:ln w="38100" cap="flat" cmpd="sng">
            <a:solidFill>
              <a:srgbClr val="FFFF00"/>
            </a:solidFill>
            <a:prstDash val="solid"/>
            <a:round/>
            <a:headEnd type="none" w="med" len="med"/>
            <a:tailEnd type="triangle" w="med" len="med"/>
          </a:ln>
        </p:spPr>
      </p:sp>
      <p:sp>
        <p:nvSpPr>
          <p:cNvPr id="16396" name="文本框 148492"/>
          <p:cNvSpPr txBox="1"/>
          <p:nvPr/>
        </p:nvSpPr>
        <p:spPr>
          <a:xfrm>
            <a:off x="6927850" y="3830638"/>
            <a:ext cx="401638" cy="519112"/>
          </a:xfrm>
          <a:prstGeom prst="rect">
            <a:avLst/>
          </a:prstGeom>
          <a:noFill/>
          <a:ln w="9525">
            <a:noFill/>
          </a:ln>
        </p:spPr>
        <p:txBody>
          <a:bodyPr wrap="none" anchor="t" anchorCtr="0">
            <a:spAutoFit/>
          </a:bodyPr>
          <a:lstStyle/>
          <a:p>
            <a:r>
              <a:rPr lang="en-US" altLang="zh-CN" sz="2800">
                <a:solidFill>
                  <a:srgbClr val="FFFF00"/>
                </a:solidFill>
                <a:latin typeface="Times New Roman" panose="02020603050405020304" pitchFamily="18" charset="0"/>
                <a:ea typeface="宋体" panose="02010600030101010101" pitchFamily="2" charset="-122"/>
              </a:rPr>
              <a: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idx="1"/>
          </p:nvPr>
        </p:nvSpPr>
        <p:spPr>
          <a:xfrm>
            <a:off x="539750" y="1844675"/>
            <a:ext cx="8110538" cy="5013325"/>
          </a:xfrm>
        </p:spPr>
        <p:txBody>
          <a:bodyPr vert="horz" wrap="square" lIns="91440" tIns="45720" rIns="91440" bIns="45720" numCol="1" anchor="t" anchorCtr="0" compatLnSpc="1"/>
          <a:lstStyle/>
          <a:p>
            <a:pPr marL="101600" marR="0" lvl="0" indent="-101600" algn="l" defTabSz="914400" rtl="0" eaLnBrk="1" fontAlgn="base" latinLnBrk="0" hangingPunct="1">
              <a:lnSpc>
                <a:spcPct val="90000"/>
              </a:lnSpc>
              <a:spcBef>
                <a:spcPct val="0"/>
              </a:spcBef>
              <a:spcAft>
                <a:spcPct val="0"/>
              </a:spcAft>
              <a:buClr>
                <a:schemeClr val="folHlink"/>
              </a:buClr>
              <a:buSzPct val="75000"/>
              <a:buFont typeface="Wingdings" panose="05000000000000000000" pitchFamily="2" charset="2"/>
              <a:buNone/>
              <a:defRPr/>
            </a:pP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1.原子的能级和晶体的能带</a:t>
            </a:r>
          </a:p>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en-US" altLang="zh-CN"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(1)</a:t>
            </a:r>
            <a:r>
              <a:rPr kumimoji="1" lang="zh-CN" altLang="en-US"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原子能级的简并及消失</a:t>
            </a: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当</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个原子相距很远时，每个原子的电子壳层完全相，即</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电子有相同的能级，此时为</a:t>
            </a:r>
            <a:r>
              <a:rPr kumimoji="1"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简并</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当</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个原子相互靠近时，相邻原子的电子壳层开始交叠，</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电子不再局限在一个原子上，通过交叠的轨道，可以转移到</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相邻原子的相似壳层上，由此导致电子在整个晶体上的“</a:t>
            </a:r>
            <a:r>
              <a:rPr kumimoji="1"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共</a:t>
            </a:r>
            <a:endParaRPr kumimoji="1" lang="en-US" altLang="zh-CN"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有化”运动</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由于2个电子不能有完全相同的能量，交叠的壳层发生分</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裂，形成相距很近的能级带以容纳原来能量相同的电子。原</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子相距越近，分裂越厉害，能级差越大。由此导致</a:t>
            </a:r>
            <a:r>
              <a:rPr kumimoji="1"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简并的</a:t>
            </a:r>
            <a:endParaRPr kumimoji="1" lang="en-US" altLang="zh-CN"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消失</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p>
        </p:txBody>
      </p:sp>
      <p:sp>
        <p:nvSpPr>
          <p:cNvPr id="19458"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2</a:t>
            </a:r>
            <a:r>
              <a:rPr lang="zh-CN" altLang="en-US" dirty="0">
                <a:latin typeface="华文新魏" panose="02010800040101010101" pitchFamily="2" charset="-122"/>
                <a:ea typeface="华文新魏" panose="02010800040101010101" pitchFamily="2" charset="-122"/>
              </a:rPr>
              <a:t>  半导体中的电子状态和能带</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25602"/>
          <p:cNvSpPr>
            <a:spLocks noGrp="1"/>
          </p:cNvSpPr>
          <p:nvPr>
            <p:ph type="title"/>
          </p:nvPr>
        </p:nvSpPr>
        <p:spPr/>
        <p:txBody>
          <a:bodyPr anchor="ctr" anchorCtr="0"/>
          <a:lstStyle/>
          <a:p>
            <a:r>
              <a:rPr lang="zh-CN" altLang="en-US" sz="4800" dirty="0"/>
              <a:t>电子的共有化运动示意图</a:t>
            </a:r>
          </a:p>
        </p:txBody>
      </p:sp>
      <p:sp>
        <p:nvSpPr>
          <p:cNvPr id="18434" name="流程图: 联系 25603"/>
          <p:cNvSpPr/>
          <p:nvPr/>
        </p:nvSpPr>
        <p:spPr>
          <a:xfrm>
            <a:off x="2155825" y="3190875"/>
            <a:ext cx="155575" cy="168275"/>
          </a:xfrm>
          <a:prstGeom prst="flowChartConnector">
            <a:avLst/>
          </a:prstGeom>
          <a:solidFill>
            <a:srgbClr val="090919"/>
          </a:solidFill>
          <a:ln w="25400" cap="flat"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8435" name="任意多边形 25604"/>
          <p:cNvSpPr/>
          <p:nvPr/>
        </p:nvSpPr>
        <p:spPr>
          <a:xfrm>
            <a:off x="1403350" y="2446338"/>
            <a:ext cx="1625600" cy="1604962"/>
          </a:xfrm>
          <a:custGeom>
            <a:avLst/>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noFill/>
          <a:ln w="25400" cap="flat" cmpd="sng">
            <a:solidFill>
              <a:srgbClr val="FF0000"/>
            </a:solidFill>
            <a:prstDash val="solid"/>
            <a:round/>
            <a:headEnd type="none" w="med" len="med"/>
            <a:tailEnd type="none" w="med" len="med"/>
          </a:ln>
        </p:spPr>
        <p:txBody>
          <a:bodyPr/>
          <a:lstStyle/>
          <a:p>
            <a:endParaRPr lang="zh-CN" altLang="en-US"/>
          </a:p>
        </p:txBody>
      </p:sp>
      <p:sp>
        <p:nvSpPr>
          <p:cNvPr id="18436" name="任意多边形 25605"/>
          <p:cNvSpPr/>
          <p:nvPr/>
        </p:nvSpPr>
        <p:spPr>
          <a:xfrm>
            <a:off x="3003550" y="2446338"/>
            <a:ext cx="1625600" cy="1604962"/>
          </a:xfrm>
          <a:custGeom>
            <a:avLst/>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noFill/>
          <a:ln w="25400" cap="flat" cmpd="sng">
            <a:solidFill>
              <a:srgbClr val="FF0000"/>
            </a:solidFill>
            <a:prstDash val="solid"/>
            <a:round/>
            <a:headEnd type="none" w="med" len="med"/>
            <a:tailEnd type="none" w="med" len="med"/>
          </a:ln>
        </p:spPr>
        <p:txBody>
          <a:bodyPr/>
          <a:lstStyle/>
          <a:p>
            <a:endParaRPr lang="zh-CN" altLang="en-US"/>
          </a:p>
        </p:txBody>
      </p:sp>
      <p:sp>
        <p:nvSpPr>
          <p:cNvPr id="18437" name="任意多边形 25606"/>
          <p:cNvSpPr/>
          <p:nvPr/>
        </p:nvSpPr>
        <p:spPr>
          <a:xfrm>
            <a:off x="4603750" y="2522538"/>
            <a:ext cx="1625600" cy="1604962"/>
          </a:xfrm>
          <a:custGeom>
            <a:avLst/>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noFill/>
          <a:ln w="25400" cap="flat" cmpd="sng">
            <a:solidFill>
              <a:srgbClr val="FF0000"/>
            </a:solidFill>
            <a:prstDash val="solid"/>
            <a:round/>
            <a:headEnd type="none" w="med" len="med"/>
            <a:tailEnd type="none" w="med" len="med"/>
          </a:ln>
        </p:spPr>
        <p:txBody>
          <a:bodyPr/>
          <a:lstStyle/>
          <a:p>
            <a:endParaRPr lang="zh-CN" altLang="en-US"/>
          </a:p>
        </p:txBody>
      </p:sp>
      <p:sp>
        <p:nvSpPr>
          <p:cNvPr id="18438" name="任意多边形 25607"/>
          <p:cNvSpPr/>
          <p:nvPr/>
        </p:nvSpPr>
        <p:spPr>
          <a:xfrm>
            <a:off x="6203950" y="2522538"/>
            <a:ext cx="1625600" cy="1604962"/>
          </a:xfrm>
          <a:custGeom>
            <a:avLst/>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noFill/>
          <a:ln w="25400" cap="flat" cmpd="sng">
            <a:solidFill>
              <a:srgbClr val="FF0000"/>
            </a:solidFill>
            <a:prstDash val="solid"/>
            <a:round/>
            <a:headEnd type="none" w="med" len="med"/>
            <a:tailEnd type="none" w="med" len="med"/>
          </a:ln>
        </p:spPr>
        <p:txBody>
          <a:bodyPr/>
          <a:lstStyle/>
          <a:p>
            <a:endParaRPr lang="zh-CN" altLang="en-US"/>
          </a:p>
        </p:txBody>
      </p:sp>
      <p:sp>
        <p:nvSpPr>
          <p:cNvPr id="18439" name="流程图: 联系 25608"/>
          <p:cNvSpPr/>
          <p:nvPr/>
        </p:nvSpPr>
        <p:spPr>
          <a:xfrm>
            <a:off x="3740150" y="3167063"/>
            <a:ext cx="155575" cy="168275"/>
          </a:xfrm>
          <a:prstGeom prst="flowChartConnector">
            <a:avLst/>
          </a:prstGeom>
          <a:solidFill>
            <a:srgbClr val="090919"/>
          </a:solidFill>
          <a:ln w="25400" cap="flat"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8440" name="流程图: 联系 25609"/>
          <p:cNvSpPr/>
          <p:nvPr/>
        </p:nvSpPr>
        <p:spPr>
          <a:xfrm>
            <a:off x="5324475" y="3240088"/>
            <a:ext cx="155575" cy="168275"/>
          </a:xfrm>
          <a:prstGeom prst="flowChartConnector">
            <a:avLst/>
          </a:prstGeom>
          <a:solidFill>
            <a:srgbClr val="090919"/>
          </a:solidFill>
          <a:ln w="25400" cap="flat"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8441" name="流程图: 联系 25610"/>
          <p:cNvSpPr/>
          <p:nvPr/>
        </p:nvSpPr>
        <p:spPr>
          <a:xfrm>
            <a:off x="6969125" y="3240088"/>
            <a:ext cx="155575" cy="168275"/>
          </a:xfrm>
          <a:prstGeom prst="flowChartConnector">
            <a:avLst/>
          </a:prstGeom>
          <a:solidFill>
            <a:srgbClr val="090919"/>
          </a:solidFill>
          <a:ln w="25400" cap="flat"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8442" name="文本框 25611"/>
          <p:cNvSpPr txBox="1"/>
          <p:nvPr/>
        </p:nvSpPr>
        <p:spPr>
          <a:xfrm>
            <a:off x="1692275" y="3429000"/>
            <a:ext cx="712788" cy="457200"/>
          </a:xfrm>
          <a:prstGeom prst="rect">
            <a:avLst/>
          </a:prstGeom>
          <a:noFill/>
          <a:ln w="25400">
            <a:noFill/>
          </a:ln>
        </p:spPr>
        <p:txBody>
          <a:bodyPr anchor="t" anchorCtr="0">
            <a:spAutoFit/>
          </a:bodyPr>
          <a:lstStyle/>
          <a:p>
            <a:r>
              <a:rPr lang="en-US" altLang="zh-CN" sz="2400">
                <a:solidFill>
                  <a:srgbClr val="FF0000"/>
                </a:solidFill>
                <a:latin typeface="Times New Roman" panose="02020603050405020304" pitchFamily="18" charset="0"/>
                <a:ea typeface="宋体" panose="02010600030101010101" pitchFamily="2" charset="-122"/>
              </a:rPr>
              <a:t>2p</a:t>
            </a:r>
          </a:p>
        </p:txBody>
      </p:sp>
      <p:sp>
        <p:nvSpPr>
          <p:cNvPr id="18443" name="文本框 25612"/>
          <p:cNvSpPr txBox="1"/>
          <p:nvPr/>
        </p:nvSpPr>
        <p:spPr>
          <a:xfrm>
            <a:off x="1949450" y="1989138"/>
            <a:ext cx="850900" cy="457200"/>
          </a:xfrm>
          <a:prstGeom prst="rect">
            <a:avLst/>
          </a:prstGeom>
          <a:noFill/>
          <a:ln w="25400">
            <a:noFill/>
          </a:ln>
        </p:spPr>
        <p:txBody>
          <a:bodyPr anchor="t" anchorCtr="0">
            <a:spAutoFit/>
          </a:bodyPr>
          <a:lstStyle/>
          <a:p>
            <a:r>
              <a:rPr lang="en-US" altLang="zh-CN" sz="2400">
                <a:solidFill>
                  <a:srgbClr val="FF0000"/>
                </a:solidFill>
                <a:latin typeface="Times New Roman" panose="02020603050405020304" pitchFamily="18" charset="0"/>
                <a:ea typeface="宋体" panose="02010600030101010101" pitchFamily="2" charset="-122"/>
              </a:rPr>
              <a:t>3s</a:t>
            </a:r>
          </a:p>
        </p:txBody>
      </p:sp>
      <p:sp>
        <p:nvSpPr>
          <p:cNvPr id="25614" name="流程图: 联系 25613"/>
          <p:cNvSpPr/>
          <p:nvPr/>
        </p:nvSpPr>
        <p:spPr>
          <a:xfrm>
            <a:off x="2505075" y="2398713"/>
            <a:ext cx="155575" cy="168275"/>
          </a:xfrm>
          <a:prstGeom prst="flowChartConnector">
            <a:avLst/>
          </a:prstGeom>
          <a:solidFill>
            <a:srgbClr val="FFCC00"/>
          </a:solidFill>
          <a:ln w="25400" cap="flat" cmpd="sng">
            <a:solidFill>
              <a:srgbClr val="FFCC00"/>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5615" name="流程图: 联系 25614"/>
          <p:cNvSpPr/>
          <p:nvPr/>
        </p:nvSpPr>
        <p:spPr>
          <a:xfrm>
            <a:off x="2263775" y="3527425"/>
            <a:ext cx="155575" cy="168275"/>
          </a:xfrm>
          <a:prstGeom prst="flowChartConnector">
            <a:avLst/>
          </a:prstGeom>
          <a:solidFill>
            <a:srgbClr val="FF00FF"/>
          </a:solidFill>
          <a:ln w="25400" cap="flat" cmpd="sng">
            <a:solidFill>
              <a:srgbClr val="FF00FF"/>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8446" name="矩形 25615"/>
          <p:cNvSpPr/>
          <p:nvPr/>
        </p:nvSpPr>
        <p:spPr>
          <a:xfrm>
            <a:off x="1763713" y="4797425"/>
            <a:ext cx="5392737" cy="457200"/>
          </a:xfrm>
          <a:prstGeom prst="rect">
            <a:avLst/>
          </a:prstGeom>
          <a:noFill/>
          <a:ln w="9525">
            <a:noFill/>
          </a:ln>
        </p:spPr>
        <p:txBody>
          <a:bodyPr wrap="none" anchor="t" anchorCtr="0">
            <a:spAutoFit/>
          </a:bodyPr>
          <a:lstStyle/>
          <a:p>
            <a:r>
              <a:rPr lang="zh-CN" altLang="en-US" sz="2400" b="1" dirty="0">
                <a:latin typeface="Times New Roman" panose="02020603050405020304" pitchFamily="18" charset="0"/>
                <a:ea typeface="宋体" panose="02010600030101010101" pitchFamily="2" charset="-122"/>
              </a:rPr>
              <a:t>电子将可以在整个晶体相似壳层间运动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56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0" presetClass="path" presetSubtype="0" repeatCount="indefinite" accel="50000" decel="50000" fill="hold" nodeType="clickEffect">
                                  <p:stCondLst>
                                    <p:cond delay="0"/>
                                  </p:stCondLst>
                                  <p:endCondLst>
                                    <p:cond evt="onNext" delay="0">
                                      <p:tgtEl>
                                        <p:sldTgt/>
                                      </p:tgtEl>
                                    </p:cond>
                                  </p:endCondLst>
                                  <p:childTnLst>
                                    <p:animMotion origin="layout" path="M 3.33333E-6 -0.00231 C 0.02882 -0.00231 0.08993 0.0007 0.146 0.00393 C 0.20208 0.00717 0.27517 0.01457 0.33646 0.01665 C 0.39774 0.01873 0.47777 0.02798 0.51423 0.01665 C 0.55069 0.00532 0.55399 -0.03098 0.55555 -0.05109 C 0.55711 -0.07121 0.53576 -0.09479 0.52378 -0.10381 C 0.5118 -0.11283 0.5158 -0.10566 0.48402 -0.10589 C 0.45225 -0.10612 0.38802 -0.10404 0.33333 -0.10589 C 0.27864 -0.10774 0.21562 -0.11537 0.15555 -0.11653 C 0.09548 -0.11768 0.0092 -0.12508 -0.02709 -0.11237 C -0.06337 -0.09965 -0.06198 -0.05988 -0.06198 -0.04046 C -0.06198 -0.02104 -0.03664 -0.00231 -0.02709 0.00393 C -0.01754 0.01018 -0.02882 -0.00231 3.33333E-6 -0.00231 Z " pathEditMode="relative" rAng="0" ptsTypes="aaaaaaaaaaaaa">
                                      <p:cBhvr>
                                        <p:cTn id="12" dur="5000" fill="hold"/>
                                        <p:tgtEl>
                                          <p:spTgt spid="25615"/>
                                        </p:tgtEl>
                                        <p:attrNameLst>
                                          <p:attrName>ppt_x</p:attrName>
                                          <p:attrName>ppt_y</p:attrName>
                                        </p:attrNameLst>
                                      </p:cBhvr>
                                      <p:rCtr x="24700" y="-4600"/>
                                    </p:animMotion>
                                  </p:childTnLst>
                                </p:cTn>
                              </p:par>
                              <p:par>
                                <p:cTn id="13" presetID="0" presetClass="path" presetSubtype="0" repeatCount="indefinite" accel="50000" decel="50000" fill="hold" nodeType="withEffect">
                                  <p:stCondLst>
                                    <p:cond delay="0"/>
                                  </p:stCondLst>
                                  <p:endCondLst>
                                    <p:cond evt="onNext" delay="0">
                                      <p:tgtEl>
                                        <p:sldTgt/>
                                      </p:tgtEl>
                                    </p:cond>
                                  </p:endCondLst>
                                  <p:childTnLst>
                                    <p:animMotion origin="layout" path="M 0.00121 0.00555 C 0.0335 0.00624 0.0842 -0.00092 0.13767 -0.00092 C 0.19114 -0.00092 0.2625 0.00416 0.3217 0.00555 C 0.3809 0.00694 0.45329 -0.00116 0.49322 0.00763 C 0.53316 0.01642 0.54722 0.03399 0.56145 0.05827 C 0.57569 0.08254 0.58298 0.12578 0.57899 0.15353 C 0.575 0.18127 0.55729 0.20994 0.53767 0.22543 C 0.51805 0.24093 0.50191 0.24301 0.46145 0.24647 C 0.421 0.24994 0.35034 0.24786 0.29479 0.24647 C 0.23923 0.24509 0.1868 0.23977 0.12812 0.23792 C 0.06944 0.23607 -0.01563 0.24948 -0.05764 0.23584 C -0.09966 0.2222 -0.11528 0.19006 -0.12431 0.15561 C -0.13334 0.12116 -0.12292 0.05549 -0.11164 0.02867 C -0.10035 0.00185 -0.07518 -0.00046 -0.05608 -0.00509 C -0.03698 -0.00971 -0.03108 0.00486 0.00121 0.00555 Z " pathEditMode="relative" rAng="0" ptsTypes="aaaaaaaaaaaaaaa">
                                      <p:cBhvr>
                                        <p:cTn id="14" dur="5000" fill="hold"/>
                                        <p:tgtEl>
                                          <p:spTgt spid="25614"/>
                                        </p:tgtEl>
                                        <p:attrNameLst>
                                          <p:attrName>ppt_x</p:attrName>
                                          <p:attrName>ppt_y</p:attrName>
                                        </p:attrNameLst>
                                      </p:cBhvr>
                                      <p:rCtr x="22400" y="114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idx="1"/>
          </p:nvPr>
        </p:nvSpPr>
        <p:spPr>
          <a:xfrm>
            <a:off x="912813" y="1905000"/>
            <a:ext cx="8110538" cy="3036888"/>
          </a:xfrm>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a:t>
            </a:r>
            <a:r>
              <a:rPr kumimoji="1" lang="en-US" altLang="zh-CN"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2</a:t>
            </a:r>
            <a:r>
              <a:rPr kumimoji="1" lang="zh-CN" altLang="en-US"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）晶体中电子做共有化运动时的能量变化</a:t>
            </a:r>
            <a:endParaRPr kumimoji="1" lang="en-US" altLang="zh-CN"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当两个原子相互靠近时，原子中的电子受到自身和另一个原子的市场作用，导致每一个二度简并的能级都分裂为两个彼此相距很近的能级。</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p:txBody>
      </p:sp>
      <p:sp>
        <p:nvSpPr>
          <p:cNvPr id="20482"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2</a:t>
            </a:r>
            <a:r>
              <a:rPr lang="zh-CN" altLang="en-US" dirty="0">
                <a:latin typeface="华文新魏" panose="02010800040101010101" pitchFamily="2" charset="-122"/>
                <a:ea typeface="华文新魏" panose="02010800040101010101" pitchFamily="2" charset="-122"/>
              </a:rPr>
              <a:t>  半导体中的电子状态和能带</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214DF399-81DA-D5B4-6A14-B7B008B9FE41}"/>
                  </a:ext>
                </a:extLst>
              </p14:cNvPr>
              <p14:cNvContentPartPr/>
              <p14:nvPr/>
            </p14:nvContentPartPr>
            <p14:xfrm>
              <a:off x="4070272" y="2116893"/>
              <a:ext cx="6579000" cy="843120"/>
            </p14:xfrm>
          </p:contentPart>
        </mc:Choice>
        <mc:Fallback xmlns="">
          <p:pic>
            <p:nvPicPr>
              <p:cNvPr id="2" name="墨迹 1">
                <a:extLst>
                  <a:ext uri="{FF2B5EF4-FFF2-40B4-BE49-F238E27FC236}">
                    <a16:creationId xmlns:a16="http://schemas.microsoft.com/office/drawing/2014/main" id="{214DF399-81DA-D5B4-6A14-B7B008B9FE41}"/>
                  </a:ext>
                </a:extLst>
              </p:cNvPr>
              <p:cNvPicPr/>
              <p:nvPr/>
            </p:nvPicPr>
            <p:blipFill>
              <a:blip r:embed="rId3"/>
              <a:stretch>
                <a:fillRect/>
              </a:stretch>
            </p:blipFill>
            <p:spPr>
              <a:xfrm>
                <a:off x="4016632" y="2008893"/>
                <a:ext cx="6686640" cy="10587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 calcmode="lin" valueType="num">
                                      <p:cBhvr additive="base">
                                        <p:cTn id="7" dur="500" fill="hold"/>
                                        <p:tgtEl>
                                          <p:spTgt spid="962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6259">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 calcmode="lin" valueType="num">
                                      <p:cBhvr additive="base">
                                        <p:cTn id="12" dur="500" fill="hold"/>
                                        <p:tgtEl>
                                          <p:spTgt spid="96259">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9625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advAuto="100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idx="1"/>
          </p:nvPr>
        </p:nvSpPr>
        <p:spPr>
          <a:xfrm>
            <a:off x="912813" y="1905000"/>
            <a:ext cx="8110538" cy="4953000"/>
          </a:xfrm>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a:t>
            </a:r>
            <a:r>
              <a:rPr kumimoji="1" lang="en-US" altLang="zh-CN"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3</a:t>
            </a:r>
            <a:r>
              <a:rPr kumimoji="1" lang="zh-CN" altLang="en-US"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）由</a:t>
            </a:r>
            <a:r>
              <a:rPr kumimoji="1" lang="en-US" altLang="zh-CN"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N</a:t>
            </a:r>
            <a:r>
              <a:rPr kumimoji="1" lang="zh-CN" altLang="en-US"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个原子组成的晶体能级分裂   </a:t>
            </a:r>
            <a:endParaRPr kumimoji="1" lang="en-US" altLang="zh-CN"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当</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个原子相互靠近时，每个电子都会受到周围原子的市场作用，每一个</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度简并的能级都分裂为</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N</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个彼此接近的能级，称之为</a:t>
            </a:r>
            <a:r>
              <a:rPr kumimoji="1" lang="zh-CN" altLang="en-US" sz="24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能带</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分裂的每一个能带都称</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为允带，允带之间因没有能</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级而成为禁带。</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mn-cs"/>
              </a:rPr>
              <a:t>   </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p:txBody>
      </p:sp>
      <p:pic>
        <p:nvPicPr>
          <p:cNvPr id="21506" name="图片 1"/>
          <p:cNvPicPr>
            <a:picLocks noChangeAspect="1"/>
          </p:cNvPicPr>
          <p:nvPr/>
        </p:nvPicPr>
        <p:blipFill>
          <a:blip r:embed="rId2"/>
          <a:stretch>
            <a:fillRect/>
          </a:stretch>
        </p:blipFill>
        <p:spPr>
          <a:xfrm>
            <a:off x="5003800" y="3357563"/>
            <a:ext cx="3695700" cy="2857500"/>
          </a:xfrm>
          <a:prstGeom prst="rect">
            <a:avLst/>
          </a:prstGeom>
          <a:noFill/>
          <a:ln w="9525">
            <a:noFill/>
          </a:ln>
        </p:spPr>
      </p:pic>
      <p:sp>
        <p:nvSpPr>
          <p:cNvPr id="21507"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2</a:t>
            </a:r>
            <a:r>
              <a:rPr lang="zh-CN" altLang="en-US" dirty="0">
                <a:latin typeface="华文新魏" panose="02010800040101010101" pitchFamily="2" charset="-122"/>
                <a:ea typeface="华文新魏" panose="02010800040101010101" pitchFamily="2" charset="-122"/>
              </a:rPr>
              <a:t>  半导体中的电子状态和能带</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F8382024-3955-A64C-7BE4-DE5DD5F77FF4}"/>
                  </a:ext>
                </a:extLst>
              </p14:cNvPr>
              <p14:cNvContentPartPr/>
              <p14:nvPr/>
            </p14:nvContentPartPr>
            <p14:xfrm>
              <a:off x="2064352" y="3597933"/>
              <a:ext cx="2222640" cy="177480"/>
            </p14:xfrm>
          </p:contentPart>
        </mc:Choice>
        <mc:Fallback xmlns="">
          <p:pic>
            <p:nvPicPr>
              <p:cNvPr id="2" name="墨迹 1">
                <a:extLst>
                  <a:ext uri="{FF2B5EF4-FFF2-40B4-BE49-F238E27FC236}">
                    <a16:creationId xmlns:a16="http://schemas.microsoft.com/office/drawing/2014/main" id="{F8382024-3955-A64C-7BE4-DE5DD5F77FF4}"/>
                  </a:ext>
                </a:extLst>
              </p:cNvPr>
              <p:cNvPicPr/>
              <p:nvPr/>
            </p:nvPicPr>
            <p:blipFill>
              <a:blip r:embed="rId4"/>
              <a:stretch>
                <a:fillRect/>
              </a:stretch>
            </p:blipFill>
            <p:spPr>
              <a:xfrm>
                <a:off x="2010712" y="3489933"/>
                <a:ext cx="2330280" cy="393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FD9D18E0-050A-E2A8-1982-08BB85F75E5E}"/>
                  </a:ext>
                </a:extLst>
              </p14:cNvPr>
              <p14:cNvContentPartPr/>
              <p14:nvPr/>
            </p14:nvContentPartPr>
            <p14:xfrm>
              <a:off x="1228792" y="4570653"/>
              <a:ext cx="1024920" cy="129240"/>
            </p14:xfrm>
          </p:contentPart>
        </mc:Choice>
        <mc:Fallback xmlns="">
          <p:pic>
            <p:nvPicPr>
              <p:cNvPr id="3" name="墨迹 2">
                <a:extLst>
                  <a:ext uri="{FF2B5EF4-FFF2-40B4-BE49-F238E27FC236}">
                    <a16:creationId xmlns:a16="http://schemas.microsoft.com/office/drawing/2014/main" id="{FD9D18E0-050A-E2A8-1982-08BB85F75E5E}"/>
                  </a:ext>
                </a:extLst>
              </p:cNvPr>
              <p:cNvPicPr/>
              <p:nvPr/>
            </p:nvPicPr>
            <p:blipFill>
              <a:blip r:embed="rId6"/>
              <a:stretch>
                <a:fillRect/>
              </a:stretch>
            </p:blipFill>
            <p:spPr>
              <a:xfrm>
                <a:off x="1175152" y="4462653"/>
                <a:ext cx="1132560" cy="3448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 calcmode="lin" valueType="num">
                                      <p:cBhvr additive="base">
                                        <p:cTn id="7" dur="500" fill="hold"/>
                                        <p:tgtEl>
                                          <p:spTgt spid="962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6259">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 calcmode="lin" valueType="num">
                                      <p:cBhvr additive="base">
                                        <p:cTn id="12" dur="500" fill="hold"/>
                                        <p:tgtEl>
                                          <p:spTgt spid="96259">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96259">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96259">
                                            <p:txEl>
                                              <p:pRg st="2" end="2"/>
                                            </p:txEl>
                                          </p:spTgt>
                                        </p:tgtEl>
                                        <p:attrNameLst>
                                          <p:attrName>style.visibility</p:attrName>
                                        </p:attrNameLst>
                                      </p:cBhvr>
                                      <p:to>
                                        <p:strVal val="visible"/>
                                      </p:to>
                                    </p:set>
                                    <p:anim calcmode="lin" valueType="num">
                                      <p:cBhvr additive="base">
                                        <p:cTn id="17" dur="500" fill="hold"/>
                                        <p:tgtEl>
                                          <p:spTgt spid="9625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96259">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96259">
                                            <p:txEl>
                                              <p:pRg st="3" end="3"/>
                                            </p:txEl>
                                          </p:spTgt>
                                        </p:tgtEl>
                                        <p:attrNameLst>
                                          <p:attrName>style.visibility</p:attrName>
                                        </p:attrNameLst>
                                      </p:cBhvr>
                                      <p:to>
                                        <p:strVal val="visible"/>
                                      </p:to>
                                    </p:set>
                                    <p:anim calcmode="lin" valueType="num">
                                      <p:cBhvr additive="base">
                                        <p:cTn id="22" dur="500" fill="hold"/>
                                        <p:tgtEl>
                                          <p:spTgt spid="96259">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96259">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96259">
                                            <p:txEl>
                                              <p:pRg st="4" end="4"/>
                                            </p:txEl>
                                          </p:spTgt>
                                        </p:tgtEl>
                                        <p:attrNameLst>
                                          <p:attrName>style.visibility</p:attrName>
                                        </p:attrNameLst>
                                      </p:cBhvr>
                                      <p:to>
                                        <p:strVal val="visible"/>
                                      </p:to>
                                    </p:set>
                                    <p:anim calcmode="lin" valueType="num">
                                      <p:cBhvr additive="base">
                                        <p:cTn id="27" dur="500" fill="hold"/>
                                        <p:tgtEl>
                                          <p:spTgt spid="96259">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96259">
                                            <p:txEl>
                                              <p:pRg st="4" end="4"/>
                                            </p:txEl>
                                          </p:spTgt>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96259">
                                            <p:txEl>
                                              <p:pRg st="7" end="7"/>
                                            </p:txEl>
                                          </p:spTgt>
                                        </p:tgtEl>
                                        <p:attrNameLst>
                                          <p:attrName>style.visibility</p:attrName>
                                        </p:attrNameLst>
                                      </p:cBhvr>
                                      <p:to>
                                        <p:strVal val="visible"/>
                                      </p:to>
                                    </p:set>
                                    <p:anim calcmode="lin" valueType="num">
                                      <p:cBhvr additive="base">
                                        <p:cTn id="32" dur="500" fill="hold"/>
                                        <p:tgtEl>
                                          <p:spTgt spid="96259">
                                            <p:txEl>
                                              <p:pRg st="7" end="7"/>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9625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advAuto="100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29698"/>
          <p:cNvSpPr>
            <a:spLocks noGrp="1"/>
          </p:cNvSpPr>
          <p:nvPr>
            <p:ph type="title"/>
          </p:nvPr>
        </p:nvSpPr>
        <p:spPr>
          <a:xfrm>
            <a:off x="468313" y="260350"/>
            <a:ext cx="8280400" cy="792163"/>
          </a:xfrm>
        </p:spPr>
        <p:txBody>
          <a:bodyPr anchor="ctr" anchorCtr="0"/>
          <a:lstStyle/>
          <a:p>
            <a:r>
              <a:rPr lang="en-US" altLang="zh-CN" sz="4000" b="1" dirty="0"/>
              <a:t>3. </a:t>
            </a:r>
            <a:r>
              <a:rPr lang="zh-CN" altLang="en-US" sz="4000" b="1" dirty="0"/>
              <a:t>能带的形成</a:t>
            </a:r>
            <a:endParaRPr lang="zh-CN" altLang="en-US" sz="2800" b="1" dirty="0">
              <a:solidFill>
                <a:srgbClr val="A50021"/>
              </a:solidFill>
            </a:endParaRPr>
          </a:p>
        </p:txBody>
      </p:sp>
      <p:grpSp>
        <p:nvGrpSpPr>
          <p:cNvPr id="19458" name="组合 29699"/>
          <p:cNvGrpSpPr/>
          <p:nvPr/>
        </p:nvGrpSpPr>
        <p:grpSpPr>
          <a:xfrm>
            <a:off x="1368425" y="1844675"/>
            <a:ext cx="2808288" cy="3735388"/>
            <a:chOff x="272" y="981"/>
            <a:chExt cx="2563" cy="2721"/>
          </a:xfrm>
        </p:grpSpPr>
        <p:sp>
          <p:nvSpPr>
            <p:cNvPr id="19459" name="直接连接符 29700"/>
            <p:cNvSpPr/>
            <p:nvPr/>
          </p:nvSpPr>
          <p:spPr>
            <a:xfrm>
              <a:off x="477" y="3390"/>
              <a:ext cx="2358" cy="0"/>
            </a:xfrm>
            <a:prstGeom prst="line">
              <a:avLst/>
            </a:prstGeom>
            <a:ln w="25400" cap="flat" cmpd="sng">
              <a:solidFill>
                <a:schemeClr val="tx1"/>
              </a:solidFill>
              <a:prstDash val="solid"/>
              <a:round/>
              <a:headEnd type="none" w="med" len="med"/>
              <a:tailEnd type="triangle" w="med" len="med"/>
            </a:ln>
          </p:spPr>
        </p:sp>
        <p:sp>
          <p:nvSpPr>
            <p:cNvPr id="19460" name="直接连接符 29701"/>
            <p:cNvSpPr/>
            <p:nvPr/>
          </p:nvSpPr>
          <p:spPr>
            <a:xfrm flipH="1" flipV="1">
              <a:off x="476" y="985"/>
              <a:ext cx="1" cy="2405"/>
            </a:xfrm>
            <a:prstGeom prst="line">
              <a:avLst/>
            </a:prstGeom>
            <a:ln w="25400" cap="flat" cmpd="sng">
              <a:solidFill>
                <a:schemeClr val="tx1"/>
              </a:solidFill>
              <a:prstDash val="solid"/>
              <a:round/>
              <a:headEnd type="none" w="med" len="med"/>
              <a:tailEnd type="triangle" w="med" len="med"/>
            </a:ln>
          </p:spPr>
        </p:sp>
        <p:sp>
          <p:nvSpPr>
            <p:cNvPr id="19461" name="文本框 29702"/>
            <p:cNvSpPr txBox="1"/>
            <p:nvPr/>
          </p:nvSpPr>
          <p:spPr>
            <a:xfrm>
              <a:off x="1790" y="3435"/>
              <a:ext cx="1003" cy="267"/>
            </a:xfrm>
            <a:prstGeom prst="rect">
              <a:avLst/>
            </a:prstGeom>
            <a:noFill/>
            <a:ln w="25400">
              <a:noFill/>
            </a:ln>
          </p:spPr>
          <p:txBody>
            <a:bodyPr wrap="none" anchor="t" anchorCtr="0">
              <a:spAutoFit/>
            </a:bodyPr>
            <a:lstStyle/>
            <a:p>
              <a:r>
                <a:rPr lang="zh-CN" altLang="en-US" dirty="0">
                  <a:latin typeface="Times New Roman" panose="02020603050405020304" pitchFamily="18" charset="0"/>
                  <a:ea typeface="宋体" panose="02010600030101010101" pitchFamily="2" charset="-122"/>
                </a:rPr>
                <a:t>原子间距</a:t>
              </a:r>
            </a:p>
          </p:txBody>
        </p:sp>
        <p:sp>
          <p:nvSpPr>
            <p:cNvPr id="19462" name="任意多边形 29703"/>
            <p:cNvSpPr/>
            <p:nvPr/>
          </p:nvSpPr>
          <p:spPr>
            <a:xfrm>
              <a:off x="748" y="1394"/>
              <a:ext cx="2087" cy="1633"/>
            </a:xfrm>
            <a:custGeom>
              <a:avLst/>
              <a:gdLst/>
              <a:ahLst/>
              <a:cxnLst/>
              <a:rect l="0" t="0" r="0" b="0"/>
              <a:pathLst>
                <a:path w="1588" h="1587">
                  <a:moveTo>
                    <a:pt x="0" y="0"/>
                  </a:moveTo>
                  <a:cubicBezTo>
                    <a:pt x="68" y="355"/>
                    <a:pt x="136" y="710"/>
                    <a:pt x="272" y="952"/>
                  </a:cubicBezTo>
                  <a:cubicBezTo>
                    <a:pt x="408" y="1194"/>
                    <a:pt x="598" y="1345"/>
                    <a:pt x="817" y="1451"/>
                  </a:cubicBezTo>
                  <a:cubicBezTo>
                    <a:pt x="1036" y="1557"/>
                    <a:pt x="1391" y="1564"/>
                    <a:pt x="1588" y="1587"/>
                  </a:cubicBezTo>
                </a:path>
              </a:pathLst>
            </a:custGeom>
            <a:noFill/>
            <a:ln w="25400" cap="flat" cmpd="sng">
              <a:solidFill>
                <a:schemeClr val="tx1"/>
              </a:solidFill>
              <a:prstDash val="solid"/>
              <a:round/>
              <a:headEnd type="none" w="med" len="med"/>
              <a:tailEnd type="none" w="med" len="med"/>
            </a:ln>
          </p:spPr>
          <p:txBody>
            <a:bodyPr/>
            <a:lstStyle/>
            <a:p>
              <a:endParaRPr lang="zh-CN" altLang="en-US"/>
            </a:p>
          </p:txBody>
        </p:sp>
        <p:sp>
          <p:nvSpPr>
            <p:cNvPr id="19463" name="任意多边形 29704"/>
            <p:cNvSpPr/>
            <p:nvPr/>
          </p:nvSpPr>
          <p:spPr>
            <a:xfrm>
              <a:off x="612" y="1893"/>
              <a:ext cx="1678" cy="1284"/>
            </a:xfrm>
            <a:custGeom>
              <a:avLst/>
              <a:gdLst/>
              <a:ahLst/>
              <a:cxnLst/>
              <a:rect l="0" t="0" r="0" b="0"/>
              <a:pathLst>
                <a:path w="1769" h="1284">
                  <a:moveTo>
                    <a:pt x="0" y="0"/>
                  </a:moveTo>
                  <a:cubicBezTo>
                    <a:pt x="38" y="283"/>
                    <a:pt x="76" y="567"/>
                    <a:pt x="136" y="771"/>
                  </a:cubicBezTo>
                  <a:cubicBezTo>
                    <a:pt x="196" y="975"/>
                    <a:pt x="227" y="1164"/>
                    <a:pt x="363" y="1224"/>
                  </a:cubicBezTo>
                  <a:cubicBezTo>
                    <a:pt x="499" y="1284"/>
                    <a:pt x="764" y="1157"/>
                    <a:pt x="953" y="1134"/>
                  </a:cubicBezTo>
                  <a:cubicBezTo>
                    <a:pt x="1142" y="1111"/>
                    <a:pt x="1361" y="1096"/>
                    <a:pt x="1497" y="1088"/>
                  </a:cubicBezTo>
                  <a:cubicBezTo>
                    <a:pt x="1633" y="1080"/>
                    <a:pt x="1709" y="1080"/>
                    <a:pt x="1769" y="1088"/>
                  </a:cubicBezTo>
                </a:path>
              </a:pathLst>
            </a:custGeom>
            <a:noFill/>
            <a:ln w="25400" cap="flat" cmpd="sng">
              <a:solidFill>
                <a:schemeClr val="tx1"/>
              </a:solidFill>
              <a:prstDash val="solid"/>
              <a:round/>
              <a:headEnd type="none" w="med" len="med"/>
              <a:tailEnd type="none" w="med" len="med"/>
            </a:ln>
          </p:spPr>
          <p:txBody>
            <a:bodyPr/>
            <a:lstStyle/>
            <a:p>
              <a:endParaRPr lang="zh-CN" altLang="en-US"/>
            </a:p>
          </p:txBody>
        </p:sp>
        <p:sp>
          <p:nvSpPr>
            <p:cNvPr id="19464" name="文本框 29705"/>
            <p:cNvSpPr txBox="1"/>
            <p:nvPr/>
          </p:nvSpPr>
          <p:spPr>
            <a:xfrm>
              <a:off x="2368" y="2768"/>
              <a:ext cx="354" cy="267"/>
            </a:xfrm>
            <a:prstGeom prst="rect">
              <a:avLst/>
            </a:prstGeom>
            <a:noFill/>
            <a:ln w="25400">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2s</a:t>
              </a:r>
            </a:p>
          </p:txBody>
        </p:sp>
        <p:sp>
          <p:nvSpPr>
            <p:cNvPr id="19465" name="文本框 29706"/>
            <p:cNvSpPr txBox="1"/>
            <p:nvPr/>
          </p:nvSpPr>
          <p:spPr>
            <a:xfrm>
              <a:off x="272" y="981"/>
              <a:ext cx="296" cy="267"/>
            </a:xfrm>
            <a:prstGeom prst="rect">
              <a:avLst/>
            </a:prstGeom>
            <a:noFill/>
            <a:ln w="25400">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E</a:t>
              </a:r>
            </a:p>
          </p:txBody>
        </p:sp>
      </p:grpSp>
      <p:grpSp>
        <p:nvGrpSpPr>
          <p:cNvPr id="19466" name="组合 29729"/>
          <p:cNvGrpSpPr/>
          <p:nvPr/>
        </p:nvGrpSpPr>
        <p:grpSpPr>
          <a:xfrm>
            <a:off x="4105275" y="1844675"/>
            <a:ext cx="3070225" cy="3751263"/>
            <a:chOff x="2290" y="1071"/>
            <a:chExt cx="1934" cy="2363"/>
          </a:xfrm>
        </p:grpSpPr>
        <p:sp>
          <p:nvSpPr>
            <p:cNvPr id="19467" name="直接连接符 29707"/>
            <p:cNvSpPr/>
            <p:nvPr/>
          </p:nvSpPr>
          <p:spPr>
            <a:xfrm>
              <a:off x="2427" y="3154"/>
              <a:ext cx="1573" cy="0"/>
            </a:xfrm>
            <a:prstGeom prst="line">
              <a:avLst/>
            </a:prstGeom>
            <a:ln w="25400" cap="flat" cmpd="sng">
              <a:solidFill>
                <a:schemeClr val="tx1"/>
              </a:solidFill>
              <a:prstDash val="solid"/>
              <a:round/>
              <a:headEnd type="none" w="med" len="med"/>
              <a:tailEnd type="triangle" w="med" len="med"/>
            </a:ln>
          </p:spPr>
        </p:sp>
        <p:sp>
          <p:nvSpPr>
            <p:cNvPr id="19468" name="直接连接符 29708"/>
            <p:cNvSpPr/>
            <p:nvPr/>
          </p:nvSpPr>
          <p:spPr>
            <a:xfrm flipH="1" flipV="1">
              <a:off x="2426" y="1074"/>
              <a:ext cx="1" cy="2080"/>
            </a:xfrm>
            <a:prstGeom prst="line">
              <a:avLst/>
            </a:prstGeom>
            <a:ln w="25400" cap="flat" cmpd="sng">
              <a:solidFill>
                <a:schemeClr val="tx1"/>
              </a:solidFill>
              <a:prstDash val="solid"/>
              <a:round/>
              <a:headEnd type="none" w="med" len="med"/>
              <a:tailEnd type="triangle" w="med" len="med"/>
            </a:ln>
          </p:spPr>
        </p:sp>
        <p:sp>
          <p:nvSpPr>
            <p:cNvPr id="19469" name="文本框 29709"/>
            <p:cNvSpPr txBox="1"/>
            <p:nvPr/>
          </p:nvSpPr>
          <p:spPr>
            <a:xfrm>
              <a:off x="3532" y="3203"/>
              <a:ext cx="692" cy="231"/>
            </a:xfrm>
            <a:prstGeom prst="rect">
              <a:avLst/>
            </a:prstGeom>
            <a:noFill/>
            <a:ln w="25400">
              <a:noFill/>
            </a:ln>
          </p:spPr>
          <p:txBody>
            <a:bodyPr wrap="none" anchor="t" anchorCtr="0">
              <a:spAutoFit/>
            </a:bodyPr>
            <a:lstStyle/>
            <a:p>
              <a:r>
                <a:rPr lang="zh-CN" altLang="en-US" dirty="0">
                  <a:latin typeface="Times New Roman" panose="02020603050405020304" pitchFamily="18" charset="0"/>
                  <a:ea typeface="宋体" panose="02010600030101010101" pitchFamily="2" charset="-122"/>
                </a:rPr>
                <a:t>原子间距</a:t>
              </a:r>
            </a:p>
          </p:txBody>
        </p:sp>
        <p:sp>
          <p:nvSpPr>
            <p:cNvPr id="19470" name="任意多边形 29710"/>
            <p:cNvSpPr/>
            <p:nvPr/>
          </p:nvSpPr>
          <p:spPr>
            <a:xfrm>
              <a:off x="2608" y="1428"/>
              <a:ext cx="1392" cy="1412"/>
            </a:xfrm>
            <a:custGeom>
              <a:avLst/>
              <a:gdLst/>
              <a:ahLst/>
              <a:cxnLst/>
              <a:rect l="0" t="0" r="0" b="0"/>
              <a:pathLst>
                <a:path w="1588" h="1587">
                  <a:moveTo>
                    <a:pt x="0" y="0"/>
                  </a:moveTo>
                  <a:cubicBezTo>
                    <a:pt x="68" y="355"/>
                    <a:pt x="136" y="710"/>
                    <a:pt x="272" y="952"/>
                  </a:cubicBezTo>
                  <a:cubicBezTo>
                    <a:pt x="408" y="1194"/>
                    <a:pt x="598" y="1345"/>
                    <a:pt x="817" y="1451"/>
                  </a:cubicBezTo>
                  <a:cubicBezTo>
                    <a:pt x="1036" y="1557"/>
                    <a:pt x="1391" y="1564"/>
                    <a:pt x="1588" y="1587"/>
                  </a:cubicBezTo>
                </a:path>
              </a:pathLst>
            </a:custGeom>
            <a:noFill/>
            <a:ln w="25400" cap="flat" cmpd="sng">
              <a:solidFill>
                <a:schemeClr val="tx1"/>
              </a:solidFill>
              <a:prstDash val="solid"/>
              <a:round/>
              <a:headEnd type="none" w="med" len="med"/>
              <a:tailEnd type="none" w="med" len="med"/>
            </a:ln>
          </p:spPr>
          <p:txBody>
            <a:bodyPr/>
            <a:lstStyle/>
            <a:p>
              <a:endParaRPr lang="zh-CN" altLang="en-US"/>
            </a:p>
          </p:txBody>
        </p:sp>
        <p:sp>
          <p:nvSpPr>
            <p:cNvPr id="19471" name="任意多边形 29711"/>
            <p:cNvSpPr/>
            <p:nvPr/>
          </p:nvSpPr>
          <p:spPr>
            <a:xfrm>
              <a:off x="2517" y="1860"/>
              <a:ext cx="1119" cy="1110"/>
            </a:xfrm>
            <a:custGeom>
              <a:avLst/>
              <a:gdLst/>
              <a:ahLst/>
              <a:cxnLst/>
              <a:rect l="0" t="0" r="0" b="0"/>
              <a:pathLst>
                <a:path w="1769" h="1284">
                  <a:moveTo>
                    <a:pt x="0" y="0"/>
                  </a:moveTo>
                  <a:cubicBezTo>
                    <a:pt x="38" y="283"/>
                    <a:pt x="76" y="567"/>
                    <a:pt x="136" y="771"/>
                  </a:cubicBezTo>
                  <a:cubicBezTo>
                    <a:pt x="196" y="975"/>
                    <a:pt x="227" y="1164"/>
                    <a:pt x="363" y="1224"/>
                  </a:cubicBezTo>
                  <a:cubicBezTo>
                    <a:pt x="499" y="1284"/>
                    <a:pt x="764" y="1157"/>
                    <a:pt x="953" y="1134"/>
                  </a:cubicBezTo>
                  <a:cubicBezTo>
                    <a:pt x="1142" y="1111"/>
                    <a:pt x="1361" y="1096"/>
                    <a:pt x="1497" y="1088"/>
                  </a:cubicBezTo>
                  <a:cubicBezTo>
                    <a:pt x="1633" y="1080"/>
                    <a:pt x="1709" y="1080"/>
                    <a:pt x="1769" y="1088"/>
                  </a:cubicBezTo>
                </a:path>
              </a:pathLst>
            </a:custGeom>
            <a:noFill/>
            <a:ln w="25400" cap="flat" cmpd="sng">
              <a:solidFill>
                <a:schemeClr val="tx1"/>
              </a:solidFill>
              <a:prstDash val="solid"/>
              <a:round/>
              <a:headEnd type="none" w="med" len="med"/>
              <a:tailEnd type="none" w="med" len="med"/>
            </a:ln>
          </p:spPr>
          <p:txBody>
            <a:bodyPr/>
            <a:lstStyle/>
            <a:p>
              <a:endParaRPr lang="zh-CN" altLang="en-US"/>
            </a:p>
          </p:txBody>
        </p:sp>
        <p:sp>
          <p:nvSpPr>
            <p:cNvPr id="19472" name="文本框 29712"/>
            <p:cNvSpPr txBox="1"/>
            <p:nvPr/>
          </p:nvSpPr>
          <p:spPr>
            <a:xfrm>
              <a:off x="3689" y="2616"/>
              <a:ext cx="325" cy="231"/>
            </a:xfrm>
            <a:prstGeom prst="rect">
              <a:avLst/>
            </a:prstGeom>
            <a:noFill/>
            <a:ln w="25400">
              <a:noFill/>
            </a:ln>
          </p:spPr>
          <p:txBody>
            <a:bodyPr anchor="t" anchorCtr="0">
              <a:spAutoFit/>
            </a:bodyPr>
            <a:lstStyle/>
            <a:p>
              <a:r>
                <a:rPr lang="en-US" altLang="zh-CN">
                  <a:latin typeface="Times New Roman" panose="02020603050405020304" pitchFamily="18" charset="0"/>
                  <a:ea typeface="宋体" panose="02010600030101010101" pitchFamily="2" charset="-122"/>
                </a:rPr>
                <a:t>2s</a:t>
              </a:r>
            </a:p>
          </p:txBody>
        </p:sp>
        <p:sp>
          <p:nvSpPr>
            <p:cNvPr id="19473" name="文本框 29713"/>
            <p:cNvSpPr txBox="1"/>
            <p:nvPr/>
          </p:nvSpPr>
          <p:spPr>
            <a:xfrm>
              <a:off x="2290" y="1071"/>
              <a:ext cx="204" cy="231"/>
            </a:xfrm>
            <a:prstGeom prst="rect">
              <a:avLst/>
            </a:prstGeom>
            <a:noFill/>
            <a:ln w="25400">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E</a:t>
              </a:r>
            </a:p>
          </p:txBody>
        </p:sp>
        <p:sp>
          <p:nvSpPr>
            <p:cNvPr id="19474" name="任意多边形 29714"/>
            <p:cNvSpPr/>
            <p:nvPr/>
          </p:nvSpPr>
          <p:spPr>
            <a:xfrm>
              <a:off x="2559" y="1570"/>
              <a:ext cx="973" cy="1225"/>
            </a:xfrm>
            <a:custGeom>
              <a:avLst/>
              <a:gdLst/>
              <a:ahLst/>
              <a:cxnLst/>
              <a:rect l="0" t="0" r="0" b="0"/>
              <a:pathLst>
                <a:path w="1225" h="1225">
                  <a:moveTo>
                    <a:pt x="0" y="0"/>
                  </a:moveTo>
                  <a:cubicBezTo>
                    <a:pt x="57" y="295"/>
                    <a:pt x="114" y="590"/>
                    <a:pt x="182" y="771"/>
                  </a:cubicBezTo>
                  <a:cubicBezTo>
                    <a:pt x="250" y="952"/>
                    <a:pt x="310" y="1021"/>
                    <a:pt x="408" y="1089"/>
                  </a:cubicBezTo>
                  <a:cubicBezTo>
                    <a:pt x="506" y="1157"/>
                    <a:pt x="635" y="1157"/>
                    <a:pt x="771" y="1180"/>
                  </a:cubicBezTo>
                  <a:cubicBezTo>
                    <a:pt x="907" y="1203"/>
                    <a:pt x="1127" y="1202"/>
                    <a:pt x="1225" y="1225"/>
                  </a:cubicBezTo>
                </a:path>
              </a:pathLst>
            </a:custGeom>
            <a:noFill/>
            <a:ln w="25400" cap="flat" cmpd="sng">
              <a:solidFill>
                <a:schemeClr val="tx1"/>
              </a:solidFill>
              <a:prstDash val="solid"/>
              <a:round/>
              <a:headEnd type="none" w="med" len="med"/>
              <a:tailEnd type="none" w="med" len="med"/>
            </a:ln>
          </p:spPr>
          <p:txBody>
            <a:bodyPr/>
            <a:lstStyle/>
            <a:p>
              <a:endParaRPr lang="zh-CN" altLang="en-US"/>
            </a:p>
          </p:txBody>
        </p:sp>
        <p:sp>
          <p:nvSpPr>
            <p:cNvPr id="19475" name="任意多边形 29715"/>
            <p:cNvSpPr/>
            <p:nvPr/>
          </p:nvSpPr>
          <p:spPr>
            <a:xfrm>
              <a:off x="2554" y="1389"/>
              <a:ext cx="942" cy="1406"/>
            </a:xfrm>
            <a:custGeom>
              <a:avLst/>
              <a:gdLst/>
              <a:ahLst/>
              <a:cxnLst/>
              <a:rect l="0" t="0" r="0" b="0"/>
              <a:pathLst>
                <a:path w="1187" h="1406">
                  <a:moveTo>
                    <a:pt x="1187" y="1406"/>
                  </a:moveTo>
                  <a:cubicBezTo>
                    <a:pt x="971" y="1357"/>
                    <a:pt x="756" y="1308"/>
                    <a:pt x="642" y="1270"/>
                  </a:cubicBezTo>
                  <a:cubicBezTo>
                    <a:pt x="528" y="1232"/>
                    <a:pt x="551" y="1217"/>
                    <a:pt x="506" y="1179"/>
                  </a:cubicBezTo>
                  <a:cubicBezTo>
                    <a:pt x="461" y="1141"/>
                    <a:pt x="423" y="1118"/>
                    <a:pt x="370" y="1043"/>
                  </a:cubicBezTo>
                  <a:cubicBezTo>
                    <a:pt x="317" y="968"/>
                    <a:pt x="242" y="854"/>
                    <a:pt x="189" y="726"/>
                  </a:cubicBezTo>
                  <a:cubicBezTo>
                    <a:pt x="136" y="598"/>
                    <a:pt x="76" y="378"/>
                    <a:pt x="53" y="272"/>
                  </a:cubicBezTo>
                  <a:cubicBezTo>
                    <a:pt x="30" y="166"/>
                    <a:pt x="0" y="0"/>
                    <a:pt x="53" y="91"/>
                  </a:cubicBezTo>
                </a:path>
              </a:pathLst>
            </a:custGeom>
            <a:noFill/>
            <a:ln w="25400" cap="flat" cmpd="sng">
              <a:solidFill>
                <a:schemeClr val="tx1"/>
              </a:solidFill>
              <a:prstDash val="solid"/>
              <a:round/>
              <a:headEnd type="none" w="med" len="med"/>
              <a:tailEnd type="none" w="med" len="med"/>
            </a:ln>
          </p:spPr>
          <p:txBody>
            <a:bodyPr/>
            <a:lstStyle/>
            <a:p>
              <a:endParaRPr lang="zh-CN" altLang="en-US"/>
            </a:p>
          </p:txBody>
        </p:sp>
        <p:sp>
          <p:nvSpPr>
            <p:cNvPr id="19476" name="任意多边形 29716"/>
            <p:cNvSpPr/>
            <p:nvPr/>
          </p:nvSpPr>
          <p:spPr>
            <a:xfrm>
              <a:off x="2523" y="1706"/>
              <a:ext cx="936" cy="1150"/>
            </a:xfrm>
            <a:custGeom>
              <a:avLst/>
              <a:gdLst/>
              <a:ahLst/>
              <a:cxnLst/>
              <a:rect l="0" t="0" r="0" b="0"/>
              <a:pathLst>
                <a:path w="1179" h="1150">
                  <a:moveTo>
                    <a:pt x="1179" y="1089"/>
                  </a:moveTo>
                  <a:cubicBezTo>
                    <a:pt x="1009" y="1085"/>
                    <a:pt x="839" y="1082"/>
                    <a:pt x="726" y="1089"/>
                  </a:cubicBezTo>
                  <a:cubicBezTo>
                    <a:pt x="613" y="1096"/>
                    <a:pt x="575" y="1142"/>
                    <a:pt x="499" y="1134"/>
                  </a:cubicBezTo>
                  <a:cubicBezTo>
                    <a:pt x="423" y="1126"/>
                    <a:pt x="340" y="1150"/>
                    <a:pt x="272" y="1044"/>
                  </a:cubicBezTo>
                  <a:cubicBezTo>
                    <a:pt x="204" y="938"/>
                    <a:pt x="136" y="673"/>
                    <a:pt x="91" y="499"/>
                  </a:cubicBezTo>
                  <a:cubicBezTo>
                    <a:pt x="46" y="325"/>
                    <a:pt x="23" y="162"/>
                    <a:pt x="0" y="0"/>
                  </a:cubicBezTo>
                </a:path>
              </a:pathLst>
            </a:custGeom>
            <a:noFill/>
            <a:ln w="25400" cap="flat" cmpd="sng">
              <a:solidFill>
                <a:schemeClr val="tx1"/>
              </a:solidFill>
              <a:prstDash val="solid"/>
              <a:round/>
              <a:headEnd type="none" w="med" len="med"/>
              <a:tailEnd type="none" w="med" len="med"/>
            </a:ln>
          </p:spPr>
          <p:txBody>
            <a:bodyPr/>
            <a:lstStyle/>
            <a:p>
              <a:endParaRPr lang="zh-CN" altLang="en-US"/>
            </a:p>
          </p:txBody>
        </p:sp>
        <p:sp>
          <p:nvSpPr>
            <p:cNvPr id="19477" name="任意多边形 29717"/>
            <p:cNvSpPr/>
            <p:nvPr/>
          </p:nvSpPr>
          <p:spPr>
            <a:xfrm>
              <a:off x="2523" y="1434"/>
              <a:ext cx="1044" cy="1497"/>
            </a:xfrm>
            <a:custGeom>
              <a:avLst/>
              <a:gdLst/>
              <a:ahLst/>
              <a:cxnLst/>
              <a:rect l="0" t="0" r="0" b="0"/>
              <a:pathLst>
                <a:path w="1270" h="1497">
                  <a:moveTo>
                    <a:pt x="0" y="454"/>
                  </a:moveTo>
                  <a:lnTo>
                    <a:pt x="91" y="0"/>
                  </a:lnTo>
                  <a:lnTo>
                    <a:pt x="317" y="726"/>
                  </a:lnTo>
                  <a:lnTo>
                    <a:pt x="499" y="953"/>
                  </a:lnTo>
                  <a:lnTo>
                    <a:pt x="726" y="1134"/>
                  </a:lnTo>
                  <a:lnTo>
                    <a:pt x="998" y="1270"/>
                  </a:lnTo>
                  <a:lnTo>
                    <a:pt x="1270" y="1361"/>
                  </a:lnTo>
                  <a:lnTo>
                    <a:pt x="907" y="1406"/>
                  </a:lnTo>
                  <a:lnTo>
                    <a:pt x="544" y="1452"/>
                  </a:lnTo>
                  <a:lnTo>
                    <a:pt x="317" y="1497"/>
                  </a:lnTo>
                  <a:lnTo>
                    <a:pt x="181" y="1406"/>
                  </a:lnTo>
                  <a:lnTo>
                    <a:pt x="91" y="1089"/>
                  </a:lnTo>
                  <a:lnTo>
                    <a:pt x="0" y="726"/>
                  </a:lnTo>
                  <a:lnTo>
                    <a:pt x="0" y="454"/>
                  </a:lnTo>
                  <a:close/>
                </a:path>
              </a:pathLst>
            </a:custGeom>
            <a:solidFill>
              <a:schemeClr val="folHlink"/>
            </a:solidFill>
            <a:ln w="25400" cap="flat" cmpd="sng">
              <a:solidFill>
                <a:schemeClr val="tx1"/>
              </a:solidFill>
              <a:prstDash val="solid"/>
              <a:round/>
              <a:headEnd type="none" w="med" len="med"/>
              <a:tailEnd type="none" w="med" len="med"/>
            </a:ln>
          </p:spPr>
          <p:txBody>
            <a:bodyPr/>
            <a:lstStyle/>
            <a:p>
              <a:endParaRPr lang="zh-CN" altLang="en-US"/>
            </a:p>
          </p:txBody>
        </p:sp>
        <p:sp>
          <p:nvSpPr>
            <p:cNvPr id="19478" name="任意多边形 29718"/>
            <p:cNvSpPr/>
            <p:nvPr/>
          </p:nvSpPr>
          <p:spPr>
            <a:xfrm>
              <a:off x="2775" y="1162"/>
              <a:ext cx="1189" cy="1324"/>
            </a:xfrm>
            <a:custGeom>
              <a:avLst/>
              <a:gdLst/>
              <a:ahLst/>
              <a:cxnLst/>
              <a:rect l="0" t="0" r="0" b="0"/>
              <a:pathLst>
                <a:path w="1497" h="1505">
                  <a:moveTo>
                    <a:pt x="0" y="0"/>
                  </a:moveTo>
                  <a:cubicBezTo>
                    <a:pt x="113" y="337"/>
                    <a:pt x="227" y="674"/>
                    <a:pt x="363" y="908"/>
                  </a:cubicBezTo>
                  <a:cubicBezTo>
                    <a:pt x="499" y="1142"/>
                    <a:pt x="628" y="1309"/>
                    <a:pt x="817" y="1407"/>
                  </a:cubicBezTo>
                  <a:cubicBezTo>
                    <a:pt x="1006" y="1505"/>
                    <a:pt x="1251" y="1501"/>
                    <a:pt x="1497" y="1497"/>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19479" name="任意多边形 29719"/>
            <p:cNvSpPr/>
            <p:nvPr/>
          </p:nvSpPr>
          <p:spPr>
            <a:xfrm>
              <a:off x="2653" y="1362"/>
              <a:ext cx="1152" cy="1270"/>
            </a:xfrm>
            <a:custGeom>
              <a:avLst/>
              <a:gdLst/>
              <a:ahLst/>
              <a:cxnLst/>
              <a:rect l="0" t="0" r="0" b="0"/>
              <a:pathLst>
                <a:path w="1451" h="1339">
                  <a:moveTo>
                    <a:pt x="0" y="0"/>
                  </a:moveTo>
                  <a:cubicBezTo>
                    <a:pt x="75" y="435"/>
                    <a:pt x="151" y="870"/>
                    <a:pt x="272" y="1089"/>
                  </a:cubicBezTo>
                  <a:cubicBezTo>
                    <a:pt x="393" y="1308"/>
                    <a:pt x="590" y="1293"/>
                    <a:pt x="726" y="1316"/>
                  </a:cubicBezTo>
                  <a:cubicBezTo>
                    <a:pt x="862" y="1339"/>
                    <a:pt x="968" y="1248"/>
                    <a:pt x="1089" y="1225"/>
                  </a:cubicBezTo>
                  <a:cubicBezTo>
                    <a:pt x="1210" y="1202"/>
                    <a:pt x="1330" y="1191"/>
                    <a:pt x="1451" y="1180"/>
                  </a:cubicBezTo>
                </a:path>
              </a:pathLst>
            </a:custGeom>
            <a:noFill/>
            <a:ln w="9525" cap="flat" cmpd="sng">
              <a:solidFill>
                <a:schemeClr val="tx1"/>
              </a:solidFill>
              <a:prstDash val="solid"/>
              <a:round/>
              <a:headEnd type="none" w="med" len="med"/>
              <a:tailEnd type="none" w="med" len="med"/>
            </a:ln>
          </p:spPr>
          <p:txBody>
            <a:bodyPr/>
            <a:lstStyle/>
            <a:p>
              <a:endParaRPr lang="zh-CN" altLang="en-US"/>
            </a:p>
          </p:txBody>
        </p:sp>
        <p:sp>
          <p:nvSpPr>
            <p:cNvPr id="19480" name="任意多边形 29720"/>
            <p:cNvSpPr/>
            <p:nvPr/>
          </p:nvSpPr>
          <p:spPr>
            <a:xfrm>
              <a:off x="2631" y="1162"/>
              <a:ext cx="1081" cy="1452"/>
            </a:xfrm>
            <a:custGeom>
              <a:avLst/>
              <a:gdLst/>
              <a:ahLst/>
              <a:cxnLst/>
              <a:rect l="0" t="0" r="0" b="0"/>
              <a:pathLst>
                <a:path w="1361" h="1452">
                  <a:moveTo>
                    <a:pt x="0" y="182"/>
                  </a:moveTo>
                  <a:lnTo>
                    <a:pt x="181" y="0"/>
                  </a:lnTo>
                  <a:lnTo>
                    <a:pt x="363" y="454"/>
                  </a:lnTo>
                  <a:lnTo>
                    <a:pt x="544" y="817"/>
                  </a:lnTo>
                  <a:lnTo>
                    <a:pt x="726" y="1043"/>
                  </a:lnTo>
                  <a:lnTo>
                    <a:pt x="953" y="1225"/>
                  </a:lnTo>
                  <a:lnTo>
                    <a:pt x="1134" y="1270"/>
                  </a:lnTo>
                  <a:lnTo>
                    <a:pt x="1361" y="1316"/>
                  </a:lnTo>
                  <a:lnTo>
                    <a:pt x="1134" y="1361"/>
                  </a:lnTo>
                  <a:lnTo>
                    <a:pt x="998" y="1406"/>
                  </a:lnTo>
                  <a:lnTo>
                    <a:pt x="862" y="1452"/>
                  </a:lnTo>
                  <a:lnTo>
                    <a:pt x="590" y="1452"/>
                  </a:lnTo>
                  <a:lnTo>
                    <a:pt x="363" y="1316"/>
                  </a:lnTo>
                  <a:lnTo>
                    <a:pt x="227" y="1089"/>
                  </a:lnTo>
                  <a:lnTo>
                    <a:pt x="136" y="817"/>
                  </a:lnTo>
                  <a:lnTo>
                    <a:pt x="45" y="363"/>
                  </a:lnTo>
                  <a:lnTo>
                    <a:pt x="0" y="182"/>
                  </a:lnTo>
                  <a:close/>
                </a:path>
              </a:pathLst>
            </a:custGeom>
            <a:solidFill>
              <a:srgbClr val="FF9900"/>
            </a:solidFill>
            <a:ln w="9525" cap="flat" cmpd="sng">
              <a:solidFill>
                <a:schemeClr val="tx1"/>
              </a:solidFill>
              <a:prstDash val="solid"/>
              <a:round/>
              <a:headEnd type="none" w="med" len="med"/>
              <a:tailEnd type="none" w="med" len="med"/>
            </a:ln>
          </p:spPr>
          <p:txBody>
            <a:bodyPr/>
            <a:lstStyle/>
            <a:p>
              <a:endParaRPr lang="zh-CN" altLang="en-US"/>
            </a:p>
          </p:txBody>
        </p:sp>
        <p:sp>
          <p:nvSpPr>
            <p:cNvPr id="19481" name="直接连接符 29721"/>
            <p:cNvSpPr/>
            <p:nvPr/>
          </p:nvSpPr>
          <p:spPr>
            <a:xfrm>
              <a:off x="3459" y="1434"/>
              <a:ext cx="0" cy="1769"/>
            </a:xfrm>
            <a:prstGeom prst="line">
              <a:avLst/>
            </a:prstGeom>
            <a:ln w="28575" cap="flat" cmpd="sng">
              <a:solidFill>
                <a:srgbClr val="FF0000"/>
              </a:solidFill>
              <a:prstDash val="dash"/>
              <a:round/>
              <a:headEnd type="none" w="med" len="med"/>
              <a:tailEnd type="none" w="med" len="med"/>
            </a:ln>
          </p:spPr>
        </p:sp>
        <p:sp>
          <p:nvSpPr>
            <p:cNvPr id="19482" name="文本框 29722"/>
            <p:cNvSpPr txBox="1"/>
            <p:nvPr/>
          </p:nvSpPr>
          <p:spPr>
            <a:xfrm>
              <a:off x="3459" y="2931"/>
              <a:ext cx="212"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r</a:t>
              </a:r>
              <a:r>
                <a:rPr lang="en-US" altLang="zh-CN" baseline="-25000">
                  <a:latin typeface="Times New Roman" panose="02020603050405020304" pitchFamily="18" charset="0"/>
                  <a:ea typeface="宋体" panose="02010600030101010101" pitchFamily="2" charset="-122"/>
                </a:rPr>
                <a:t>0</a:t>
              </a:r>
            </a:p>
          </p:txBody>
        </p:sp>
        <p:sp>
          <p:nvSpPr>
            <p:cNvPr id="19483" name="文本框 29723"/>
            <p:cNvSpPr txBox="1"/>
            <p:nvPr/>
          </p:nvSpPr>
          <p:spPr>
            <a:xfrm>
              <a:off x="3675" y="2251"/>
              <a:ext cx="289" cy="231"/>
            </a:xfrm>
            <a:prstGeom prst="rect">
              <a:avLst/>
            </a:prstGeom>
            <a:noFill/>
            <a:ln w="25400">
              <a:noFill/>
            </a:ln>
          </p:spPr>
          <p:txBody>
            <a:bodyPr anchor="t" anchorCtr="0">
              <a:spAutoFit/>
            </a:bodyPr>
            <a:lstStyle/>
            <a:p>
              <a:r>
                <a:rPr lang="en-US" altLang="zh-CN">
                  <a:latin typeface="Times New Roman" panose="02020603050405020304" pitchFamily="18" charset="0"/>
                  <a:ea typeface="宋体" panose="02010600030101010101" pitchFamily="2" charset="-122"/>
                </a:rPr>
                <a:t>2p</a:t>
              </a:r>
            </a:p>
          </p:txBody>
        </p:sp>
      </p:grpSp>
      <p:sp>
        <p:nvSpPr>
          <p:cNvPr id="19484" name="文本框 29731"/>
          <p:cNvSpPr txBox="1"/>
          <p:nvPr/>
        </p:nvSpPr>
        <p:spPr>
          <a:xfrm>
            <a:off x="8404225" y="3883025"/>
            <a:ext cx="4127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2p</a:t>
            </a:r>
          </a:p>
        </p:txBody>
      </p:sp>
      <p:sp>
        <p:nvSpPr>
          <p:cNvPr id="19485" name="文本框 29732"/>
          <p:cNvSpPr txBox="1"/>
          <p:nvPr/>
        </p:nvSpPr>
        <p:spPr>
          <a:xfrm>
            <a:off x="8404225" y="4386263"/>
            <a:ext cx="387350" cy="366712"/>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2s</a:t>
            </a:r>
          </a:p>
        </p:txBody>
      </p:sp>
      <p:sp>
        <p:nvSpPr>
          <p:cNvPr id="19486" name="矩形 29735"/>
          <p:cNvSpPr/>
          <p:nvPr/>
        </p:nvSpPr>
        <p:spPr>
          <a:xfrm>
            <a:off x="7358063" y="3933825"/>
            <a:ext cx="1008062" cy="249238"/>
          </a:xfrm>
          <a:prstGeom prst="rect">
            <a:avLst/>
          </a:prstGeom>
          <a:pattFill prst="narHorz">
            <a:fgClr>
              <a:schemeClr val="hlink"/>
            </a:fgClr>
            <a:bgClr>
              <a:schemeClr val="bg1"/>
            </a:bgClr>
          </a:patt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9487" name="矩形 29736"/>
          <p:cNvSpPr/>
          <p:nvPr/>
        </p:nvSpPr>
        <p:spPr>
          <a:xfrm>
            <a:off x="7345363" y="4510088"/>
            <a:ext cx="1020762" cy="130175"/>
          </a:xfrm>
          <a:prstGeom prst="rect">
            <a:avLst/>
          </a:prstGeom>
          <a:pattFill prst="narHorz">
            <a:fgClr>
              <a:schemeClr val="hlink"/>
            </a:fgClr>
            <a:bgClr>
              <a:schemeClr val="bg1"/>
            </a:bgClr>
          </a:patt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9488" name="直接连接符 29737"/>
          <p:cNvSpPr/>
          <p:nvPr/>
        </p:nvSpPr>
        <p:spPr>
          <a:xfrm flipH="1">
            <a:off x="433388" y="4652963"/>
            <a:ext cx="863600" cy="0"/>
          </a:xfrm>
          <a:prstGeom prst="line">
            <a:avLst/>
          </a:prstGeom>
          <a:ln w="28575" cap="flat" cmpd="sng">
            <a:solidFill>
              <a:schemeClr val="tx1"/>
            </a:solidFill>
            <a:prstDash val="solid"/>
            <a:round/>
            <a:headEnd type="none" w="med" len="med"/>
            <a:tailEnd type="none" w="med" len="med"/>
          </a:ln>
        </p:spPr>
      </p:sp>
      <p:sp>
        <p:nvSpPr>
          <p:cNvPr id="19489" name="文本框 29738"/>
          <p:cNvSpPr txBox="1"/>
          <p:nvPr/>
        </p:nvSpPr>
        <p:spPr>
          <a:xfrm>
            <a:off x="46038" y="4430713"/>
            <a:ext cx="387350" cy="366712"/>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2s</a:t>
            </a:r>
          </a:p>
        </p:txBody>
      </p:sp>
      <p:sp>
        <p:nvSpPr>
          <p:cNvPr id="19490" name="直接连接符 29739"/>
          <p:cNvSpPr/>
          <p:nvPr/>
        </p:nvSpPr>
        <p:spPr>
          <a:xfrm flipH="1">
            <a:off x="431800" y="4076700"/>
            <a:ext cx="863600" cy="0"/>
          </a:xfrm>
          <a:prstGeom prst="line">
            <a:avLst/>
          </a:prstGeom>
          <a:ln w="28575" cap="flat" cmpd="sng">
            <a:solidFill>
              <a:schemeClr val="tx1"/>
            </a:solidFill>
            <a:prstDash val="solid"/>
            <a:round/>
            <a:headEnd type="none" w="med" len="med"/>
            <a:tailEnd type="none" w="med" len="med"/>
          </a:ln>
        </p:spPr>
      </p:sp>
      <p:sp>
        <p:nvSpPr>
          <p:cNvPr id="19491" name="文本框 29740"/>
          <p:cNvSpPr txBox="1"/>
          <p:nvPr/>
        </p:nvSpPr>
        <p:spPr>
          <a:xfrm>
            <a:off x="44450" y="3854450"/>
            <a:ext cx="4127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2p</a:t>
            </a:r>
          </a:p>
        </p:txBody>
      </p:sp>
      <p:sp>
        <p:nvSpPr>
          <p:cNvPr id="19492" name="文本框 29741"/>
          <p:cNvSpPr txBox="1"/>
          <p:nvPr/>
        </p:nvSpPr>
        <p:spPr>
          <a:xfrm>
            <a:off x="144463" y="5019675"/>
            <a:ext cx="1316037" cy="711200"/>
          </a:xfrm>
          <a:prstGeom prst="rect">
            <a:avLst/>
          </a:prstGeom>
          <a:solidFill>
            <a:srgbClr val="EAFD37"/>
          </a:solidFill>
          <a:ln w="9525" cap="flat" cmpd="sng">
            <a:solidFill>
              <a:srgbClr val="FF0000"/>
            </a:solidFill>
            <a:prstDash val="solid"/>
            <a:miter/>
            <a:headEnd type="none" w="med" len="med"/>
            <a:tailEnd type="none" w="med" len="med"/>
          </a:ln>
        </p:spPr>
        <p:txBody>
          <a:bodyPr anchor="t" anchorCtr="0">
            <a:spAutoFit/>
          </a:bodyPr>
          <a:lstStyle/>
          <a:p>
            <a:r>
              <a:rPr lang="zh-CN" altLang="en-US" sz="2000" b="1" dirty="0">
                <a:latin typeface="Times New Roman" panose="02020603050405020304" pitchFamily="18" charset="0"/>
                <a:ea typeface="宋体" panose="02010600030101010101" pitchFamily="2" charset="-122"/>
              </a:rPr>
              <a:t>孤立原子中的能级</a:t>
            </a:r>
            <a:endParaRPr lang="zh-CN" altLang="en-US" sz="2000" b="1">
              <a:latin typeface="Times New Roman" panose="02020603050405020304" pitchFamily="18" charset="0"/>
              <a:ea typeface="宋体" panose="02010600030101010101" pitchFamily="2" charset="-122"/>
            </a:endParaRPr>
          </a:p>
        </p:txBody>
      </p:sp>
      <p:sp>
        <p:nvSpPr>
          <p:cNvPr id="19493" name="文本框 29742"/>
          <p:cNvSpPr txBox="1"/>
          <p:nvPr/>
        </p:nvSpPr>
        <p:spPr>
          <a:xfrm>
            <a:off x="7272338" y="4941888"/>
            <a:ext cx="1316037" cy="711200"/>
          </a:xfrm>
          <a:prstGeom prst="rect">
            <a:avLst/>
          </a:prstGeom>
          <a:solidFill>
            <a:srgbClr val="FFFF00"/>
          </a:solidFill>
          <a:ln w="9525" cap="flat" cmpd="sng">
            <a:solidFill>
              <a:srgbClr val="FF0000"/>
            </a:solidFill>
            <a:prstDash val="solid"/>
            <a:miter/>
            <a:headEnd type="none" w="med" len="med"/>
            <a:tailEnd type="none" w="med" len="med"/>
          </a:ln>
        </p:spPr>
        <p:txBody>
          <a:bodyPr anchor="t" anchorCtr="0">
            <a:spAutoFit/>
          </a:bodyPr>
          <a:lstStyle/>
          <a:p>
            <a:r>
              <a:rPr lang="zh-CN" altLang="en-US" sz="2000" b="1" dirty="0">
                <a:latin typeface="Times New Roman" panose="02020603050405020304" pitchFamily="18" charset="0"/>
                <a:ea typeface="宋体" panose="02010600030101010101" pitchFamily="2" charset="-122"/>
              </a:rPr>
              <a:t>晶体中的能带</a:t>
            </a:r>
          </a:p>
        </p:txBody>
      </p:sp>
      <p:sp>
        <p:nvSpPr>
          <p:cNvPr id="19494" name="文本框 29743"/>
          <p:cNvSpPr txBox="1"/>
          <p:nvPr/>
        </p:nvSpPr>
        <p:spPr>
          <a:xfrm>
            <a:off x="7894638" y="4170363"/>
            <a:ext cx="1035050" cy="366712"/>
          </a:xfrm>
          <a:prstGeom prst="rect">
            <a:avLst/>
          </a:prstGeom>
          <a:noFill/>
          <a:ln w="9525">
            <a:noFill/>
          </a:ln>
        </p:spPr>
        <p:txBody>
          <a:bodyPr wrap="none" anchor="t" anchorCtr="0">
            <a:spAutoFit/>
          </a:bodyPr>
          <a:lstStyle/>
          <a:p>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个能级</a:t>
            </a:r>
          </a:p>
        </p:txBody>
      </p:sp>
      <p:sp>
        <p:nvSpPr>
          <p:cNvPr id="19495" name="文本框 29744"/>
          <p:cNvSpPr txBox="1"/>
          <p:nvPr/>
        </p:nvSpPr>
        <p:spPr>
          <a:xfrm>
            <a:off x="7777163" y="3502025"/>
            <a:ext cx="1149350" cy="366713"/>
          </a:xfrm>
          <a:prstGeom prst="rect">
            <a:avLst/>
          </a:prstGeom>
          <a:noFill/>
          <a:ln w="9525">
            <a:noFill/>
          </a:ln>
        </p:spPr>
        <p:txBody>
          <a:bodyPr wrap="none" anchor="t" anchorCtr="0">
            <a:spAutoFit/>
          </a:bodyPr>
          <a:lstStyle/>
          <a:p>
            <a:r>
              <a:rPr lang="en-US" altLang="zh-CN" dirty="0">
                <a:latin typeface="Times New Roman" panose="02020603050405020304" pitchFamily="18" charset="0"/>
                <a:ea typeface="宋体" panose="02010600030101010101" pitchFamily="2" charset="-122"/>
              </a:rPr>
              <a:t>3N</a:t>
            </a:r>
            <a:r>
              <a:rPr lang="zh-CN" altLang="en-US" dirty="0">
                <a:latin typeface="Times New Roman" panose="02020603050405020304" pitchFamily="18" charset="0"/>
                <a:ea typeface="宋体" panose="02010600030101010101" pitchFamily="2" charset="-122"/>
              </a:rPr>
              <a:t>个能级</a:t>
            </a:r>
          </a:p>
        </p:txBody>
      </p:sp>
      <p:sp>
        <p:nvSpPr>
          <p:cNvPr id="19496" name="直接连接符 29745"/>
          <p:cNvSpPr/>
          <p:nvPr/>
        </p:nvSpPr>
        <p:spPr>
          <a:xfrm flipH="1">
            <a:off x="5905500" y="3933825"/>
            <a:ext cx="1439863" cy="0"/>
          </a:xfrm>
          <a:prstGeom prst="line">
            <a:avLst/>
          </a:prstGeom>
          <a:ln w="19050" cap="flat" cmpd="sng">
            <a:solidFill>
              <a:schemeClr val="tx1"/>
            </a:solidFill>
            <a:prstDash val="dash"/>
            <a:round/>
            <a:headEnd type="none" w="med" len="med"/>
            <a:tailEnd type="none" w="med" len="med"/>
          </a:ln>
        </p:spPr>
      </p:sp>
      <p:sp>
        <p:nvSpPr>
          <p:cNvPr id="19497" name="直接连接符 29746"/>
          <p:cNvSpPr/>
          <p:nvPr/>
        </p:nvSpPr>
        <p:spPr>
          <a:xfrm flipH="1">
            <a:off x="5905500" y="4183063"/>
            <a:ext cx="1439863" cy="0"/>
          </a:xfrm>
          <a:prstGeom prst="line">
            <a:avLst/>
          </a:prstGeom>
          <a:ln w="19050" cap="flat" cmpd="sng">
            <a:solidFill>
              <a:schemeClr val="tx1"/>
            </a:solidFill>
            <a:prstDash val="dash"/>
            <a:round/>
            <a:headEnd type="none" w="med" len="med"/>
            <a:tailEnd type="none" w="med" len="med"/>
          </a:ln>
        </p:spPr>
      </p:sp>
      <p:sp>
        <p:nvSpPr>
          <p:cNvPr id="19498" name="直接连接符 29747"/>
          <p:cNvSpPr/>
          <p:nvPr/>
        </p:nvSpPr>
        <p:spPr>
          <a:xfrm flipH="1">
            <a:off x="5969000" y="4510088"/>
            <a:ext cx="1439863" cy="0"/>
          </a:xfrm>
          <a:prstGeom prst="line">
            <a:avLst/>
          </a:prstGeom>
          <a:ln w="19050" cap="flat" cmpd="sng">
            <a:solidFill>
              <a:schemeClr val="tx1"/>
            </a:solidFill>
            <a:prstDash val="dash"/>
            <a:round/>
            <a:headEnd type="none" w="med" len="med"/>
            <a:tailEnd type="none" w="med" len="med"/>
          </a:ln>
        </p:spPr>
      </p:sp>
      <p:sp>
        <p:nvSpPr>
          <p:cNvPr id="19499" name="直接连接符 29748"/>
          <p:cNvSpPr/>
          <p:nvPr/>
        </p:nvSpPr>
        <p:spPr>
          <a:xfrm flipH="1">
            <a:off x="5951538" y="4627563"/>
            <a:ext cx="1439862" cy="0"/>
          </a:xfrm>
          <a:prstGeom prst="line">
            <a:avLst/>
          </a:prstGeom>
          <a:ln w="19050" cap="flat" cmpd="sng">
            <a:solidFill>
              <a:schemeClr val="tx1"/>
            </a:solidFill>
            <a:prstDash val="dash"/>
            <a:round/>
            <a:headEnd type="none" w="med" len="med"/>
            <a:tailEnd type="none" w="med" len="med"/>
          </a:ln>
        </p:spPr>
      </p:sp>
      <p:sp>
        <p:nvSpPr>
          <p:cNvPr id="19500" name="矩形 29749"/>
          <p:cNvSpPr/>
          <p:nvPr/>
        </p:nvSpPr>
        <p:spPr>
          <a:xfrm>
            <a:off x="6769100" y="2852738"/>
            <a:ext cx="641350" cy="366712"/>
          </a:xfrm>
          <a:prstGeom prst="rect">
            <a:avLst/>
          </a:prstGeom>
          <a:noFill/>
          <a:ln w="9525">
            <a:noFill/>
          </a:ln>
        </p:spPr>
        <p:txBody>
          <a:bodyPr wrap="none" anchor="t" anchorCtr="0">
            <a:spAutoFit/>
          </a:bodyPr>
          <a:lstStyle/>
          <a:p>
            <a:r>
              <a:rPr lang="zh-CN" altLang="en-US" dirty="0">
                <a:solidFill>
                  <a:srgbClr val="FF0000"/>
                </a:solidFill>
                <a:latin typeface="Times New Roman" panose="02020603050405020304" pitchFamily="18" charset="0"/>
                <a:ea typeface="宋体" panose="02010600030101010101" pitchFamily="2" charset="-122"/>
              </a:rPr>
              <a:t>允带</a:t>
            </a:r>
          </a:p>
        </p:txBody>
      </p:sp>
      <p:sp>
        <p:nvSpPr>
          <p:cNvPr id="19501" name="直接连接符 29750"/>
          <p:cNvSpPr/>
          <p:nvPr/>
        </p:nvSpPr>
        <p:spPr>
          <a:xfrm>
            <a:off x="7345363" y="3141663"/>
            <a:ext cx="503237" cy="936625"/>
          </a:xfrm>
          <a:prstGeom prst="line">
            <a:avLst/>
          </a:prstGeom>
          <a:ln w="9525" cap="flat" cmpd="sng">
            <a:solidFill>
              <a:schemeClr val="tx1"/>
            </a:solidFill>
            <a:prstDash val="solid"/>
            <a:round/>
            <a:headEnd type="none" w="med" len="med"/>
            <a:tailEnd type="triangle" w="med" len="med"/>
          </a:ln>
        </p:spPr>
      </p:sp>
      <p:sp>
        <p:nvSpPr>
          <p:cNvPr id="19502" name="直接连接符 29751"/>
          <p:cNvSpPr/>
          <p:nvPr/>
        </p:nvSpPr>
        <p:spPr>
          <a:xfrm>
            <a:off x="7345363" y="3141663"/>
            <a:ext cx="287337" cy="1439862"/>
          </a:xfrm>
          <a:prstGeom prst="line">
            <a:avLst/>
          </a:prstGeom>
          <a:ln w="9525" cap="flat" cmpd="sng">
            <a:solidFill>
              <a:schemeClr val="tx1"/>
            </a:solidFill>
            <a:prstDash val="solid"/>
            <a:round/>
            <a:headEnd type="none" w="med" len="med"/>
            <a:tailEnd type="triangle" w="med" len="med"/>
          </a:ln>
        </p:spPr>
      </p:sp>
      <p:sp>
        <p:nvSpPr>
          <p:cNvPr id="19503" name="矩形 29752"/>
          <p:cNvSpPr/>
          <p:nvPr/>
        </p:nvSpPr>
        <p:spPr>
          <a:xfrm>
            <a:off x="7272338" y="4149725"/>
            <a:ext cx="641350" cy="366713"/>
          </a:xfrm>
          <a:prstGeom prst="rect">
            <a:avLst/>
          </a:prstGeom>
          <a:noFill/>
          <a:ln w="9525">
            <a:noFill/>
          </a:ln>
        </p:spPr>
        <p:txBody>
          <a:bodyPr wrap="none" anchor="t" anchorCtr="0">
            <a:spAutoFit/>
          </a:bodyPr>
          <a:lstStyle/>
          <a:p>
            <a:r>
              <a:rPr lang="zh-CN" altLang="en-US" dirty="0">
                <a:solidFill>
                  <a:srgbClr val="FF0000"/>
                </a:solidFill>
                <a:latin typeface="Times New Roman" panose="02020603050405020304" pitchFamily="18" charset="0"/>
                <a:ea typeface="宋体" panose="02010600030101010101" pitchFamily="2" charset="-122"/>
              </a:rPr>
              <a:t>禁带</a:t>
            </a:r>
          </a:p>
        </p:txBody>
      </p:sp>
      <p:sp>
        <p:nvSpPr>
          <p:cNvPr id="19504" name="矩形 29753"/>
          <p:cNvSpPr/>
          <p:nvPr/>
        </p:nvSpPr>
        <p:spPr>
          <a:xfrm>
            <a:off x="3348038" y="6092825"/>
            <a:ext cx="2879725" cy="457200"/>
          </a:xfrm>
          <a:prstGeom prst="rect">
            <a:avLst/>
          </a:prstGeom>
          <a:noFill/>
          <a:ln w="9525">
            <a:noFill/>
          </a:ln>
        </p:spPr>
        <p:txBody>
          <a:bodyPr anchor="t" anchorCtr="0">
            <a:spAutoFit/>
          </a:bodyPr>
          <a:lstStyle/>
          <a:p>
            <a:r>
              <a:rPr lang="zh-CN" altLang="en-US" sz="2400" b="1" dirty="0">
                <a:latin typeface="Times New Roman" panose="02020603050405020304" pitchFamily="18" charset="0"/>
                <a:ea typeface="宋体" panose="02010600030101010101" pitchFamily="2" charset="-122"/>
              </a:rPr>
              <a:t>能级分裂形成能带</a:t>
            </a:r>
          </a:p>
        </p:txBody>
      </p:sp>
      <p:sp>
        <p:nvSpPr>
          <p:cNvPr id="19505" name="直接连接符 29754"/>
          <p:cNvSpPr/>
          <p:nvPr/>
        </p:nvSpPr>
        <p:spPr>
          <a:xfrm flipV="1">
            <a:off x="3024188" y="2420938"/>
            <a:ext cx="0" cy="2736850"/>
          </a:xfrm>
          <a:prstGeom prst="line">
            <a:avLst/>
          </a:prstGeom>
          <a:ln w="28575" cap="flat" cmpd="sng">
            <a:solidFill>
              <a:srgbClr val="FF0000"/>
            </a:solidFill>
            <a:prstDash val="dash"/>
            <a:round/>
            <a:headEnd type="none" w="med" len="med"/>
            <a:tailEnd type="none" w="med" len="med"/>
          </a:ln>
        </p:spPr>
      </p:sp>
      <p:sp>
        <p:nvSpPr>
          <p:cNvPr id="19506" name="文本框 29755"/>
          <p:cNvSpPr txBox="1"/>
          <p:nvPr/>
        </p:nvSpPr>
        <p:spPr>
          <a:xfrm>
            <a:off x="3024188" y="4797425"/>
            <a:ext cx="31750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r</a:t>
            </a:r>
            <a:r>
              <a:rPr lang="en-US" altLang="zh-CN" sz="900">
                <a:latin typeface="Times New Roman" panose="02020603050405020304" pitchFamily="18" charset="0"/>
                <a:ea typeface="宋体" panose="02010600030101010101" pitchFamily="2" charset="-122"/>
              </a:rPr>
              <a:t>0</a:t>
            </a:r>
          </a:p>
        </p:txBody>
      </p:sp>
      <p:sp>
        <p:nvSpPr>
          <p:cNvPr id="19507" name="矩形 29756"/>
          <p:cNvSpPr/>
          <p:nvPr/>
        </p:nvSpPr>
        <p:spPr>
          <a:xfrm>
            <a:off x="611188" y="981075"/>
            <a:ext cx="7632700" cy="579438"/>
          </a:xfrm>
          <a:prstGeom prst="rect">
            <a:avLst/>
          </a:prstGeom>
          <a:noFill/>
          <a:ln w="9525">
            <a:noFill/>
          </a:ln>
        </p:spPr>
        <p:txBody>
          <a:bodyPr anchor="t" anchorCtr="0">
            <a:spAutoFit/>
          </a:bodyPr>
          <a:lstStyle/>
          <a:p>
            <a:r>
              <a:rPr lang="zh-CN" altLang="en-US" sz="3200" b="1" dirty="0">
                <a:solidFill>
                  <a:srgbClr val="A50021"/>
                </a:solidFill>
                <a:latin typeface="Times New Roman" panose="02020603050405020304" pitchFamily="18" charset="0"/>
                <a:ea typeface="宋体" panose="02010600030101010101" pitchFamily="2" charset="-122"/>
              </a:rPr>
              <a:t>能带的形成是电子共有化运动的必然结果</a:t>
            </a:r>
          </a:p>
        </p:txBody>
      </p:sp>
      <p:sp>
        <p:nvSpPr>
          <p:cNvPr id="19508" name="右箭头 29757"/>
          <p:cNvSpPr/>
          <p:nvPr/>
        </p:nvSpPr>
        <p:spPr>
          <a:xfrm>
            <a:off x="1258888" y="4076700"/>
            <a:ext cx="576262" cy="503238"/>
          </a:xfrm>
          <a:prstGeom prst="rightArrow">
            <a:avLst>
              <a:gd name="adj1" fmla="val 50000"/>
              <a:gd name="adj2" fmla="val 28622"/>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9509" name="右箭头 29758"/>
          <p:cNvSpPr/>
          <p:nvPr/>
        </p:nvSpPr>
        <p:spPr>
          <a:xfrm>
            <a:off x="3924300" y="4005263"/>
            <a:ext cx="576263" cy="503237"/>
          </a:xfrm>
          <a:prstGeom prst="rightArrow">
            <a:avLst>
              <a:gd name="adj1" fmla="val 50000"/>
              <a:gd name="adj2" fmla="val 28622"/>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1" name="文本占位符 27650"/>
          <p:cNvSpPr>
            <a:spLocks noGrp="1"/>
          </p:cNvSpPr>
          <p:nvPr>
            <p:ph idx="1"/>
          </p:nvPr>
        </p:nvSpPr>
        <p:spPr>
          <a:xfrm>
            <a:off x="395288" y="1341438"/>
            <a:ext cx="8229600" cy="2374900"/>
          </a:xfrm>
        </p:spPr>
        <p:txBody>
          <a:bodyPr anchor="t" anchorCtr="0"/>
          <a:lstStyle/>
          <a:p>
            <a:pPr>
              <a:lnSpc>
                <a:spcPct val="90000"/>
              </a:lnSpc>
            </a:pPr>
            <a:r>
              <a:rPr lang="zh-CN" altLang="en-US" sz="2800" dirty="0"/>
              <a:t>两个原子靠近时，电子运动将重叠。这时泡利不相容原理不允许一个量子态上有两个电子存在，于是一个能级将分裂为</a:t>
            </a:r>
            <a:r>
              <a:rPr lang="en-US" altLang="zh-CN" sz="2800" dirty="0"/>
              <a:t>2</a:t>
            </a:r>
            <a:r>
              <a:rPr lang="zh-CN" altLang="en-US" sz="2800" dirty="0"/>
              <a:t>个能级</a:t>
            </a:r>
          </a:p>
          <a:p>
            <a:pPr>
              <a:lnSpc>
                <a:spcPct val="90000"/>
              </a:lnSpc>
            </a:pPr>
            <a:r>
              <a:rPr lang="en-US" altLang="zh-CN" sz="2800" dirty="0"/>
              <a:t>N</a:t>
            </a:r>
            <a:r>
              <a:rPr lang="zh-CN" altLang="en-US" sz="2800" dirty="0"/>
              <a:t>个原子靠近时，一个能级将分裂为</a:t>
            </a:r>
            <a:r>
              <a:rPr lang="en-US" altLang="zh-CN" sz="2800" dirty="0"/>
              <a:t>N</a:t>
            </a:r>
            <a:r>
              <a:rPr lang="zh-CN" altLang="en-US" sz="2800" dirty="0"/>
              <a:t>个相距很近的能级，形成能带</a:t>
            </a:r>
            <a:endParaRPr lang="zh-CN" altLang="en-US" sz="2800" dirty="0">
              <a:solidFill>
                <a:srgbClr val="EAFD37"/>
              </a:solidFill>
            </a:endParaRPr>
          </a:p>
        </p:txBody>
      </p:sp>
      <p:sp>
        <p:nvSpPr>
          <p:cNvPr id="20482" name="矩形 27652"/>
          <p:cNvSpPr/>
          <p:nvPr/>
        </p:nvSpPr>
        <p:spPr>
          <a:xfrm>
            <a:off x="684213" y="3792538"/>
            <a:ext cx="7775575" cy="2227262"/>
          </a:xfrm>
          <a:prstGeom prst="rect">
            <a:avLst/>
          </a:prstGeom>
          <a:noFill/>
          <a:ln w="9525">
            <a:noFill/>
          </a:ln>
        </p:spPr>
        <p:txBody>
          <a:bodyPr anchor="ctr" anchorCtr="0">
            <a:spAutoFit/>
          </a:bodyPr>
          <a:lstStyle/>
          <a:p>
            <a:r>
              <a:rPr lang="zh-CN" altLang="en-US" sz="2800" b="1" dirty="0">
                <a:solidFill>
                  <a:srgbClr val="A50021"/>
                </a:solidFill>
                <a:latin typeface="Times New Roman" panose="02020603050405020304" pitchFamily="18" charset="0"/>
                <a:ea typeface="宋体" panose="02010600030101010101" pitchFamily="2" charset="-122"/>
              </a:rPr>
              <a:t>能级的分裂：</a:t>
            </a:r>
            <a:r>
              <a:rPr lang="en-US" altLang="zh-CN" sz="2800" b="1" dirty="0">
                <a:latin typeface="Times New Roman" panose="02020603050405020304" pitchFamily="18" charset="0"/>
                <a:ea typeface="宋体" panose="02010600030101010101" pitchFamily="2" charset="-122"/>
              </a:rPr>
              <a:t>n</a:t>
            </a:r>
            <a:r>
              <a:rPr lang="zh-CN" altLang="en-US" sz="2800" b="1" dirty="0">
                <a:latin typeface="Times New Roman" panose="02020603050405020304" pitchFamily="18" charset="0"/>
                <a:ea typeface="宋体" panose="02010600030101010101" pitchFamily="2" charset="-122"/>
              </a:rPr>
              <a:t>个原子尚未结合成晶体时，每个能级都是</a:t>
            </a:r>
            <a:r>
              <a:rPr lang="en-US" altLang="zh-CN" sz="2800" b="1" dirty="0">
                <a:latin typeface="Times New Roman" panose="02020603050405020304" pitchFamily="18" charset="0"/>
                <a:ea typeface="宋体" panose="02010600030101010101" pitchFamily="2" charset="-122"/>
              </a:rPr>
              <a:t>n</a:t>
            </a:r>
            <a:r>
              <a:rPr lang="zh-CN" altLang="en-US" sz="2800" b="1" dirty="0">
                <a:latin typeface="Times New Roman" panose="02020603050405020304" pitchFamily="18" charset="0"/>
                <a:ea typeface="宋体" panose="02010600030101010101" pitchFamily="2" charset="-122"/>
              </a:rPr>
              <a:t>度简并的，当它们靠近结合成晶体后，每个电子都受到周围原子势场的作用，每个</a:t>
            </a:r>
            <a:r>
              <a:rPr lang="en-US" altLang="zh-CN" sz="2800" b="1" dirty="0">
                <a:latin typeface="Times New Roman" panose="02020603050405020304" pitchFamily="18" charset="0"/>
                <a:ea typeface="宋体" panose="02010600030101010101" pitchFamily="2" charset="-122"/>
              </a:rPr>
              <a:t>n</a:t>
            </a:r>
            <a:r>
              <a:rPr lang="zh-CN" altLang="en-US" sz="2800" b="1" dirty="0">
                <a:latin typeface="Times New Roman" panose="02020603050405020304" pitchFamily="18" charset="0"/>
                <a:ea typeface="宋体" panose="02010600030101010101" pitchFamily="2" charset="-122"/>
              </a:rPr>
              <a:t>度简并的能级都分裂成</a:t>
            </a:r>
            <a:r>
              <a:rPr lang="en-US" altLang="zh-CN" sz="2800" b="1" dirty="0">
                <a:latin typeface="Times New Roman" panose="02020603050405020304" pitchFamily="18" charset="0"/>
                <a:ea typeface="宋体" panose="02010600030101010101" pitchFamily="2" charset="-122"/>
              </a:rPr>
              <a:t>n</a:t>
            </a:r>
            <a:r>
              <a:rPr lang="zh-CN" altLang="en-US" sz="2800" b="1" dirty="0">
                <a:latin typeface="Times New Roman" panose="02020603050405020304" pitchFamily="18" charset="0"/>
                <a:ea typeface="宋体" panose="02010600030101010101" pitchFamily="2" charset="-122"/>
              </a:rPr>
              <a:t>个彼此相距很近的能级，形成能带。</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矩形 31745"/>
          <p:cNvSpPr/>
          <p:nvPr/>
        </p:nvSpPr>
        <p:spPr>
          <a:xfrm>
            <a:off x="1187450" y="1412875"/>
            <a:ext cx="6840538" cy="3816350"/>
          </a:xfrm>
          <a:prstGeom prst="rect">
            <a:avLst/>
          </a:prstGeom>
          <a:solidFill>
            <a:schemeClr val="tx2">
              <a:lumMod val="60000"/>
              <a:lumOff val="40000"/>
            </a:schemeClr>
          </a:solidFill>
          <a:ln w="9525" cap="flat" cmpd="sng">
            <a:solidFill>
              <a:schemeClr val="tx1"/>
            </a:solidFill>
            <a:prstDash val="solid"/>
            <a:miter/>
            <a:headEnd type="none" w="med" len="med"/>
            <a:tailEnd type="none" w="med" len="med"/>
          </a:ln>
        </p:spPr>
        <p:txBody>
          <a:bodyPr anchor="t" anchorCtr="0"/>
          <a:lstStyle/>
          <a:p>
            <a:endParaRPr lang="zh-CN" altLang="en-US">
              <a:solidFill>
                <a:schemeClr val="tx2">
                  <a:lumMod val="60000"/>
                  <a:lumOff val="40000"/>
                </a:schemeClr>
              </a:solidFill>
              <a:latin typeface="Times New Roman" panose="02020603050405020304" pitchFamily="18" charset="0"/>
              <a:ea typeface="宋体" panose="02010600030101010101" pitchFamily="2" charset="-122"/>
            </a:endParaRPr>
          </a:p>
        </p:txBody>
      </p:sp>
      <p:sp>
        <p:nvSpPr>
          <p:cNvPr id="21506" name="标题 31746"/>
          <p:cNvSpPr>
            <a:spLocks noGrp="1"/>
          </p:cNvSpPr>
          <p:nvPr>
            <p:ph type="title"/>
          </p:nvPr>
        </p:nvSpPr>
        <p:spPr>
          <a:xfrm>
            <a:off x="468313" y="260350"/>
            <a:ext cx="8229600" cy="1143000"/>
          </a:xfrm>
        </p:spPr>
        <p:txBody>
          <a:bodyPr anchor="ctr" anchorCtr="0"/>
          <a:lstStyle/>
          <a:p>
            <a:r>
              <a:rPr lang="zh-CN" altLang="en-US" dirty="0"/>
              <a:t>能带的形成 </a:t>
            </a:r>
          </a:p>
        </p:txBody>
      </p:sp>
      <p:grpSp>
        <p:nvGrpSpPr>
          <p:cNvPr id="21507" name="组合 31789"/>
          <p:cNvGrpSpPr/>
          <p:nvPr/>
        </p:nvGrpSpPr>
        <p:grpSpPr>
          <a:xfrm>
            <a:off x="1331913" y="1700213"/>
            <a:ext cx="6480175" cy="3113087"/>
            <a:chOff x="476" y="1389"/>
            <a:chExt cx="4082" cy="1961"/>
          </a:xfrm>
        </p:grpSpPr>
        <p:sp>
          <p:nvSpPr>
            <p:cNvPr id="21508" name="文本框 31748"/>
            <p:cNvSpPr txBox="1"/>
            <p:nvPr/>
          </p:nvSpPr>
          <p:spPr>
            <a:xfrm>
              <a:off x="476" y="2234"/>
              <a:ext cx="633" cy="288"/>
            </a:xfrm>
            <a:prstGeom prst="rect">
              <a:avLst/>
            </a:prstGeom>
            <a:noFill/>
            <a:ln w="31750">
              <a:noFill/>
            </a:ln>
          </p:spPr>
          <p:txBody>
            <a:bodyPr anchor="t" anchorCtr="0">
              <a:spAutoFit/>
            </a:bodyPr>
            <a:lstStyle/>
            <a:p>
              <a:r>
                <a:rPr lang="zh-CN" altLang="en-US" sz="2400" b="1">
                  <a:solidFill>
                    <a:schemeClr val="bg2"/>
                  </a:solidFill>
                  <a:latin typeface="Times New Roman" panose="02020603050405020304" pitchFamily="18" charset="0"/>
                  <a:ea typeface="宋体" panose="02010600030101010101" pitchFamily="2" charset="-122"/>
                </a:rPr>
                <a:t>允带</a:t>
              </a:r>
            </a:p>
          </p:txBody>
        </p:sp>
        <p:sp>
          <p:nvSpPr>
            <p:cNvPr id="21509" name="直接连接符 31749"/>
            <p:cNvSpPr/>
            <p:nvPr/>
          </p:nvSpPr>
          <p:spPr>
            <a:xfrm flipV="1">
              <a:off x="893" y="1811"/>
              <a:ext cx="333" cy="550"/>
            </a:xfrm>
            <a:prstGeom prst="line">
              <a:avLst/>
            </a:prstGeom>
            <a:ln w="31750" cap="flat" cmpd="sng">
              <a:solidFill>
                <a:srgbClr val="FFFF00"/>
              </a:solidFill>
              <a:prstDash val="solid"/>
              <a:round/>
              <a:headEnd type="none" w="med" len="med"/>
              <a:tailEnd type="none" w="med" len="med"/>
            </a:ln>
          </p:spPr>
        </p:sp>
        <p:sp>
          <p:nvSpPr>
            <p:cNvPr id="21510" name="直接连接符 31750"/>
            <p:cNvSpPr/>
            <p:nvPr/>
          </p:nvSpPr>
          <p:spPr>
            <a:xfrm>
              <a:off x="851" y="2445"/>
              <a:ext cx="375" cy="0"/>
            </a:xfrm>
            <a:prstGeom prst="line">
              <a:avLst/>
            </a:prstGeom>
            <a:ln w="31750" cap="flat" cmpd="sng">
              <a:solidFill>
                <a:srgbClr val="FFFF00"/>
              </a:solidFill>
              <a:prstDash val="solid"/>
              <a:round/>
              <a:headEnd type="none" w="med" len="med"/>
              <a:tailEnd type="none" w="med" len="med"/>
            </a:ln>
          </p:spPr>
        </p:sp>
        <p:sp>
          <p:nvSpPr>
            <p:cNvPr id="21511" name="直接连接符 31751"/>
            <p:cNvSpPr/>
            <p:nvPr/>
          </p:nvSpPr>
          <p:spPr>
            <a:xfrm>
              <a:off x="851" y="2487"/>
              <a:ext cx="375" cy="676"/>
            </a:xfrm>
            <a:prstGeom prst="line">
              <a:avLst/>
            </a:prstGeom>
            <a:ln w="31750" cap="flat" cmpd="sng">
              <a:solidFill>
                <a:srgbClr val="FFFF00"/>
              </a:solidFill>
              <a:prstDash val="solid"/>
              <a:round/>
              <a:headEnd type="none" w="med" len="med"/>
              <a:tailEnd type="none" w="med" len="med"/>
            </a:ln>
          </p:spPr>
        </p:sp>
        <p:sp>
          <p:nvSpPr>
            <p:cNvPr id="21512" name="文本框 31752"/>
            <p:cNvSpPr txBox="1"/>
            <p:nvPr/>
          </p:nvSpPr>
          <p:spPr>
            <a:xfrm>
              <a:off x="1142" y="1389"/>
              <a:ext cx="342" cy="826"/>
            </a:xfrm>
            <a:prstGeom prst="rect">
              <a:avLst/>
            </a:prstGeom>
            <a:noFill/>
            <a:ln w="31750">
              <a:noFill/>
            </a:ln>
          </p:spPr>
          <p:txBody>
            <a:bodyPr anchor="t" anchorCtr="0">
              <a:spAutoFit/>
            </a:bodyPr>
            <a:lstStyle/>
            <a:p>
              <a:r>
                <a:rPr lang="en-US" altLang="zh-CN" sz="8000" b="1">
                  <a:solidFill>
                    <a:schemeClr val="bg2"/>
                  </a:solidFill>
                  <a:latin typeface="Times New Roman" panose="02020603050405020304" pitchFamily="18" charset="0"/>
                  <a:ea typeface="宋体" panose="02010600030101010101" pitchFamily="2" charset="-122"/>
                </a:rPr>
                <a:t>{</a:t>
              </a:r>
            </a:p>
          </p:txBody>
        </p:sp>
        <p:sp>
          <p:nvSpPr>
            <p:cNvPr id="21513" name="直接连接符 31753"/>
            <p:cNvSpPr/>
            <p:nvPr/>
          </p:nvSpPr>
          <p:spPr>
            <a:xfrm>
              <a:off x="1476" y="1558"/>
              <a:ext cx="708" cy="0"/>
            </a:xfrm>
            <a:prstGeom prst="line">
              <a:avLst/>
            </a:prstGeom>
            <a:ln w="31750" cap="flat" cmpd="sng">
              <a:solidFill>
                <a:srgbClr val="FFFF00"/>
              </a:solidFill>
              <a:prstDash val="solid"/>
              <a:round/>
              <a:headEnd type="none" w="med" len="med"/>
              <a:tailEnd type="none" w="med" len="med"/>
            </a:ln>
          </p:spPr>
        </p:sp>
        <p:sp>
          <p:nvSpPr>
            <p:cNvPr id="21514" name="直接连接符 31754"/>
            <p:cNvSpPr/>
            <p:nvPr/>
          </p:nvSpPr>
          <p:spPr>
            <a:xfrm>
              <a:off x="1476" y="1685"/>
              <a:ext cx="749" cy="0"/>
            </a:xfrm>
            <a:prstGeom prst="line">
              <a:avLst/>
            </a:prstGeom>
            <a:ln w="31750" cap="flat" cmpd="sng">
              <a:solidFill>
                <a:srgbClr val="FFFF00"/>
              </a:solidFill>
              <a:prstDash val="solid"/>
              <a:round/>
              <a:headEnd type="none" w="med" len="med"/>
              <a:tailEnd type="none" w="med" len="med"/>
            </a:ln>
          </p:spPr>
        </p:sp>
        <p:sp>
          <p:nvSpPr>
            <p:cNvPr id="21515" name="直接连接符 31755"/>
            <p:cNvSpPr/>
            <p:nvPr/>
          </p:nvSpPr>
          <p:spPr>
            <a:xfrm>
              <a:off x="1476" y="1854"/>
              <a:ext cx="749" cy="0"/>
            </a:xfrm>
            <a:prstGeom prst="line">
              <a:avLst/>
            </a:prstGeom>
            <a:ln w="31750" cap="flat" cmpd="sng">
              <a:solidFill>
                <a:srgbClr val="FFFF00"/>
              </a:solidFill>
              <a:prstDash val="solid"/>
              <a:round/>
              <a:headEnd type="none" w="med" len="med"/>
              <a:tailEnd type="none" w="med" len="med"/>
            </a:ln>
          </p:spPr>
        </p:sp>
        <p:sp>
          <p:nvSpPr>
            <p:cNvPr id="21516" name="直接连接符 31756"/>
            <p:cNvSpPr/>
            <p:nvPr/>
          </p:nvSpPr>
          <p:spPr>
            <a:xfrm>
              <a:off x="1476" y="2023"/>
              <a:ext cx="749" cy="0"/>
            </a:xfrm>
            <a:prstGeom prst="line">
              <a:avLst/>
            </a:prstGeom>
            <a:ln w="31750" cap="flat" cmpd="sng">
              <a:solidFill>
                <a:srgbClr val="FFFF00"/>
              </a:solidFill>
              <a:prstDash val="solid"/>
              <a:round/>
              <a:headEnd type="none" w="med" len="med"/>
              <a:tailEnd type="none" w="med" len="med"/>
            </a:ln>
          </p:spPr>
        </p:sp>
        <p:sp>
          <p:nvSpPr>
            <p:cNvPr id="21517" name="直接连接符 31757"/>
            <p:cNvSpPr/>
            <p:nvPr/>
          </p:nvSpPr>
          <p:spPr>
            <a:xfrm>
              <a:off x="2184" y="1558"/>
              <a:ext cx="416" cy="211"/>
            </a:xfrm>
            <a:prstGeom prst="line">
              <a:avLst/>
            </a:prstGeom>
            <a:ln w="31750" cap="rnd" cmpd="sng">
              <a:solidFill>
                <a:srgbClr val="FFFF00"/>
              </a:solidFill>
              <a:prstDash val="sysDot"/>
              <a:round/>
              <a:headEnd type="none" w="med" len="med"/>
              <a:tailEnd type="none" w="med" len="med"/>
            </a:ln>
          </p:spPr>
        </p:sp>
        <p:sp>
          <p:nvSpPr>
            <p:cNvPr id="21518" name="直接连接符 31758"/>
            <p:cNvSpPr/>
            <p:nvPr/>
          </p:nvSpPr>
          <p:spPr>
            <a:xfrm flipV="1">
              <a:off x="2225" y="1769"/>
              <a:ext cx="375" cy="254"/>
            </a:xfrm>
            <a:prstGeom prst="line">
              <a:avLst/>
            </a:prstGeom>
            <a:ln w="31750" cap="rnd" cmpd="sng">
              <a:solidFill>
                <a:srgbClr val="FFFF00"/>
              </a:solidFill>
              <a:prstDash val="sysDot"/>
              <a:round/>
              <a:headEnd type="none" w="med" len="med"/>
              <a:tailEnd type="none" w="med" len="med"/>
            </a:ln>
          </p:spPr>
        </p:sp>
        <p:sp>
          <p:nvSpPr>
            <p:cNvPr id="21519" name="直接连接符 31759"/>
            <p:cNvSpPr/>
            <p:nvPr/>
          </p:nvSpPr>
          <p:spPr>
            <a:xfrm>
              <a:off x="2600" y="1769"/>
              <a:ext cx="292" cy="0"/>
            </a:xfrm>
            <a:prstGeom prst="line">
              <a:avLst/>
            </a:prstGeom>
            <a:ln w="31750" cap="flat" cmpd="sng">
              <a:solidFill>
                <a:srgbClr val="FFFF00"/>
              </a:solidFill>
              <a:prstDash val="solid"/>
              <a:round/>
              <a:headEnd type="none" w="med" len="med"/>
              <a:tailEnd type="none" w="med" len="med"/>
            </a:ln>
          </p:spPr>
        </p:sp>
        <p:sp>
          <p:nvSpPr>
            <p:cNvPr id="21520" name="文本框 31760"/>
            <p:cNvSpPr txBox="1"/>
            <p:nvPr/>
          </p:nvSpPr>
          <p:spPr>
            <a:xfrm>
              <a:off x="1142" y="2149"/>
              <a:ext cx="368" cy="826"/>
            </a:xfrm>
            <a:prstGeom prst="rect">
              <a:avLst/>
            </a:prstGeom>
            <a:noFill/>
            <a:ln w="31750">
              <a:noFill/>
            </a:ln>
          </p:spPr>
          <p:txBody>
            <a:bodyPr wrap="none" anchor="t" anchorCtr="0">
              <a:spAutoFit/>
            </a:bodyPr>
            <a:lstStyle/>
            <a:p>
              <a:r>
                <a:rPr lang="en-US" altLang="zh-CN" sz="8000" b="1">
                  <a:solidFill>
                    <a:schemeClr val="bg2"/>
                  </a:solidFill>
                  <a:latin typeface="Times New Roman" panose="02020603050405020304" pitchFamily="18" charset="0"/>
                  <a:ea typeface="宋体" panose="02010600030101010101" pitchFamily="2" charset="-122"/>
                </a:rPr>
                <a:t>{</a:t>
              </a:r>
            </a:p>
          </p:txBody>
        </p:sp>
        <p:sp>
          <p:nvSpPr>
            <p:cNvPr id="21521" name="直接连接符 31761"/>
            <p:cNvSpPr/>
            <p:nvPr/>
          </p:nvSpPr>
          <p:spPr>
            <a:xfrm>
              <a:off x="1476" y="2403"/>
              <a:ext cx="791" cy="0"/>
            </a:xfrm>
            <a:prstGeom prst="line">
              <a:avLst/>
            </a:prstGeom>
            <a:ln w="31750" cap="flat" cmpd="sng">
              <a:solidFill>
                <a:srgbClr val="FFFF00"/>
              </a:solidFill>
              <a:prstDash val="solid"/>
              <a:round/>
              <a:headEnd type="none" w="med" len="med"/>
              <a:tailEnd type="none" w="med" len="med"/>
            </a:ln>
          </p:spPr>
        </p:sp>
        <p:sp>
          <p:nvSpPr>
            <p:cNvPr id="21522" name="直接连接符 31762"/>
            <p:cNvSpPr/>
            <p:nvPr/>
          </p:nvSpPr>
          <p:spPr>
            <a:xfrm>
              <a:off x="1476" y="2530"/>
              <a:ext cx="791" cy="0"/>
            </a:xfrm>
            <a:prstGeom prst="line">
              <a:avLst/>
            </a:prstGeom>
            <a:ln w="31750" cap="flat" cmpd="sng">
              <a:solidFill>
                <a:srgbClr val="FFFF00"/>
              </a:solidFill>
              <a:prstDash val="solid"/>
              <a:round/>
              <a:headEnd type="none" w="med" len="med"/>
              <a:tailEnd type="none" w="med" len="med"/>
            </a:ln>
          </p:spPr>
        </p:sp>
        <p:sp>
          <p:nvSpPr>
            <p:cNvPr id="21523" name="直接连接符 31763"/>
            <p:cNvSpPr/>
            <p:nvPr/>
          </p:nvSpPr>
          <p:spPr>
            <a:xfrm>
              <a:off x="1476" y="2699"/>
              <a:ext cx="791" cy="0"/>
            </a:xfrm>
            <a:prstGeom prst="line">
              <a:avLst/>
            </a:prstGeom>
            <a:ln w="31750" cap="flat" cmpd="sng">
              <a:solidFill>
                <a:srgbClr val="FFFF00"/>
              </a:solidFill>
              <a:prstDash val="solid"/>
              <a:round/>
              <a:headEnd type="none" w="med" len="med"/>
              <a:tailEnd type="none" w="med" len="med"/>
            </a:ln>
          </p:spPr>
        </p:sp>
        <p:sp>
          <p:nvSpPr>
            <p:cNvPr id="21524" name="直接连接符 31764"/>
            <p:cNvSpPr/>
            <p:nvPr/>
          </p:nvSpPr>
          <p:spPr>
            <a:xfrm>
              <a:off x="1476" y="2825"/>
              <a:ext cx="791" cy="0"/>
            </a:xfrm>
            <a:prstGeom prst="line">
              <a:avLst/>
            </a:prstGeom>
            <a:ln w="31750" cap="flat" cmpd="sng">
              <a:solidFill>
                <a:srgbClr val="FFFF00"/>
              </a:solidFill>
              <a:prstDash val="solid"/>
              <a:round/>
              <a:headEnd type="none" w="med" len="med"/>
              <a:tailEnd type="none" w="med" len="med"/>
            </a:ln>
          </p:spPr>
        </p:sp>
        <p:sp>
          <p:nvSpPr>
            <p:cNvPr id="21525" name="文本框 31765"/>
            <p:cNvSpPr txBox="1"/>
            <p:nvPr/>
          </p:nvSpPr>
          <p:spPr>
            <a:xfrm>
              <a:off x="1643" y="2104"/>
              <a:ext cx="829" cy="288"/>
            </a:xfrm>
            <a:prstGeom prst="rect">
              <a:avLst/>
            </a:prstGeom>
            <a:noFill/>
            <a:ln w="31750">
              <a:noFill/>
            </a:ln>
          </p:spPr>
          <p:txBody>
            <a:bodyPr anchor="t" anchorCtr="0">
              <a:spAutoFit/>
            </a:bodyPr>
            <a:lstStyle/>
            <a:p>
              <a:r>
                <a:rPr lang="zh-CN" altLang="en-US" sz="2400" b="1">
                  <a:solidFill>
                    <a:schemeClr val="bg2"/>
                  </a:solidFill>
                  <a:latin typeface="Times New Roman" panose="02020603050405020304" pitchFamily="18" charset="0"/>
                  <a:ea typeface="宋体" panose="02010600030101010101" pitchFamily="2" charset="-122"/>
                </a:rPr>
                <a:t>禁带</a:t>
              </a:r>
            </a:p>
          </p:txBody>
        </p:sp>
        <p:sp>
          <p:nvSpPr>
            <p:cNvPr id="21526" name="直接连接符 31766"/>
            <p:cNvSpPr/>
            <p:nvPr/>
          </p:nvSpPr>
          <p:spPr>
            <a:xfrm>
              <a:off x="2267" y="2403"/>
              <a:ext cx="333" cy="211"/>
            </a:xfrm>
            <a:prstGeom prst="line">
              <a:avLst/>
            </a:prstGeom>
            <a:ln w="31750" cap="rnd" cmpd="sng">
              <a:solidFill>
                <a:srgbClr val="FFFF00"/>
              </a:solidFill>
              <a:prstDash val="sysDot"/>
              <a:round/>
              <a:headEnd type="none" w="med" len="med"/>
              <a:tailEnd type="none" w="med" len="med"/>
            </a:ln>
          </p:spPr>
        </p:sp>
        <p:sp>
          <p:nvSpPr>
            <p:cNvPr id="21527" name="直接连接符 31767"/>
            <p:cNvSpPr/>
            <p:nvPr/>
          </p:nvSpPr>
          <p:spPr>
            <a:xfrm flipV="1">
              <a:off x="2267" y="2614"/>
              <a:ext cx="333" cy="211"/>
            </a:xfrm>
            <a:prstGeom prst="line">
              <a:avLst/>
            </a:prstGeom>
            <a:ln w="31750" cap="rnd" cmpd="sng">
              <a:solidFill>
                <a:srgbClr val="FFFF00"/>
              </a:solidFill>
              <a:prstDash val="sysDot"/>
              <a:round/>
              <a:headEnd type="none" w="med" len="med"/>
              <a:tailEnd type="none" w="med" len="med"/>
            </a:ln>
          </p:spPr>
        </p:sp>
        <p:sp>
          <p:nvSpPr>
            <p:cNvPr id="21528" name="直接连接符 31768"/>
            <p:cNvSpPr/>
            <p:nvPr/>
          </p:nvSpPr>
          <p:spPr>
            <a:xfrm>
              <a:off x="2600" y="2614"/>
              <a:ext cx="334" cy="0"/>
            </a:xfrm>
            <a:prstGeom prst="line">
              <a:avLst/>
            </a:prstGeom>
            <a:ln w="31750" cap="flat" cmpd="sng">
              <a:solidFill>
                <a:srgbClr val="FFFF00"/>
              </a:solidFill>
              <a:prstDash val="solid"/>
              <a:round/>
              <a:headEnd type="none" w="med" len="med"/>
              <a:tailEnd type="none" w="med" len="med"/>
            </a:ln>
          </p:spPr>
        </p:sp>
        <p:sp>
          <p:nvSpPr>
            <p:cNvPr id="21529" name="文本框 31769"/>
            <p:cNvSpPr txBox="1"/>
            <p:nvPr/>
          </p:nvSpPr>
          <p:spPr>
            <a:xfrm>
              <a:off x="1184" y="2985"/>
              <a:ext cx="217" cy="365"/>
            </a:xfrm>
            <a:prstGeom prst="rect">
              <a:avLst/>
            </a:prstGeom>
            <a:noFill/>
            <a:ln w="31750">
              <a:noFill/>
            </a:ln>
          </p:spPr>
          <p:txBody>
            <a:bodyPr wrap="none" anchor="t" anchorCtr="0">
              <a:spAutoFit/>
            </a:bodyPr>
            <a:lstStyle/>
            <a:p>
              <a:r>
                <a:rPr lang="en-US" altLang="zh-CN" sz="3200" b="1">
                  <a:solidFill>
                    <a:schemeClr val="bg2"/>
                  </a:solidFill>
                  <a:latin typeface="Times New Roman" panose="02020603050405020304" pitchFamily="18" charset="0"/>
                  <a:ea typeface="宋体" panose="02010600030101010101" pitchFamily="2" charset="-122"/>
                </a:rPr>
                <a:t>{</a:t>
              </a:r>
            </a:p>
          </p:txBody>
        </p:sp>
        <p:sp>
          <p:nvSpPr>
            <p:cNvPr id="21530" name="直接连接符 31770"/>
            <p:cNvSpPr/>
            <p:nvPr/>
          </p:nvSpPr>
          <p:spPr>
            <a:xfrm>
              <a:off x="1434" y="3079"/>
              <a:ext cx="833" cy="0"/>
            </a:xfrm>
            <a:prstGeom prst="line">
              <a:avLst/>
            </a:prstGeom>
            <a:ln w="31750" cap="flat" cmpd="sng">
              <a:solidFill>
                <a:srgbClr val="FFFF00"/>
              </a:solidFill>
              <a:prstDash val="solid"/>
              <a:round/>
              <a:headEnd type="none" w="med" len="med"/>
              <a:tailEnd type="none" w="med" len="med"/>
            </a:ln>
          </p:spPr>
        </p:sp>
        <p:sp>
          <p:nvSpPr>
            <p:cNvPr id="21531" name="直接连接符 31771"/>
            <p:cNvSpPr/>
            <p:nvPr/>
          </p:nvSpPr>
          <p:spPr>
            <a:xfrm>
              <a:off x="1434" y="3121"/>
              <a:ext cx="833" cy="0"/>
            </a:xfrm>
            <a:prstGeom prst="line">
              <a:avLst/>
            </a:prstGeom>
            <a:ln w="31750" cap="flat" cmpd="sng">
              <a:solidFill>
                <a:srgbClr val="FFFF00"/>
              </a:solidFill>
              <a:prstDash val="solid"/>
              <a:round/>
              <a:headEnd type="none" w="med" len="med"/>
              <a:tailEnd type="none" w="med" len="med"/>
            </a:ln>
          </p:spPr>
        </p:sp>
        <p:sp>
          <p:nvSpPr>
            <p:cNvPr id="21532" name="直接连接符 31772"/>
            <p:cNvSpPr/>
            <p:nvPr/>
          </p:nvSpPr>
          <p:spPr>
            <a:xfrm>
              <a:off x="1434" y="3163"/>
              <a:ext cx="833" cy="0"/>
            </a:xfrm>
            <a:prstGeom prst="line">
              <a:avLst/>
            </a:prstGeom>
            <a:ln w="31750" cap="flat" cmpd="sng">
              <a:solidFill>
                <a:srgbClr val="FFFF00"/>
              </a:solidFill>
              <a:prstDash val="solid"/>
              <a:round/>
              <a:headEnd type="none" w="med" len="med"/>
              <a:tailEnd type="none" w="med" len="med"/>
            </a:ln>
          </p:spPr>
        </p:sp>
        <p:sp>
          <p:nvSpPr>
            <p:cNvPr id="21533" name="直接连接符 31773"/>
            <p:cNvSpPr/>
            <p:nvPr/>
          </p:nvSpPr>
          <p:spPr>
            <a:xfrm>
              <a:off x="1434" y="3206"/>
              <a:ext cx="833" cy="0"/>
            </a:xfrm>
            <a:prstGeom prst="line">
              <a:avLst/>
            </a:prstGeom>
            <a:ln w="31750" cap="flat" cmpd="sng">
              <a:solidFill>
                <a:srgbClr val="FFFF00"/>
              </a:solidFill>
              <a:prstDash val="solid"/>
              <a:round/>
              <a:headEnd type="none" w="med" len="med"/>
              <a:tailEnd type="none" w="med" len="med"/>
            </a:ln>
          </p:spPr>
        </p:sp>
        <p:sp>
          <p:nvSpPr>
            <p:cNvPr id="21534" name="直接连接符 31774"/>
            <p:cNvSpPr/>
            <p:nvPr/>
          </p:nvSpPr>
          <p:spPr>
            <a:xfrm>
              <a:off x="2267" y="3079"/>
              <a:ext cx="250" cy="84"/>
            </a:xfrm>
            <a:prstGeom prst="line">
              <a:avLst/>
            </a:prstGeom>
            <a:ln w="31750" cap="rnd" cmpd="sng">
              <a:solidFill>
                <a:srgbClr val="FFFF00"/>
              </a:solidFill>
              <a:prstDash val="sysDot"/>
              <a:round/>
              <a:headEnd type="none" w="med" len="med"/>
              <a:tailEnd type="none" w="med" len="med"/>
            </a:ln>
          </p:spPr>
        </p:sp>
        <p:sp>
          <p:nvSpPr>
            <p:cNvPr id="21535" name="直接连接符 31775"/>
            <p:cNvSpPr/>
            <p:nvPr/>
          </p:nvSpPr>
          <p:spPr>
            <a:xfrm flipV="1">
              <a:off x="2267" y="3163"/>
              <a:ext cx="292" cy="43"/>
            </a:xfrm>
            <a:prstGeom prst="line">
              <a:avLst/>
            </a:prstGeom>
            <a:ln w="31750" cap="rnd" cmpd="sng">
              <a:solidFill>
                <a:srgbClr val="FFFF00"/>
              </a:solidFill>
              <a:prstDash val="sysDot"/>
              <a:round/>
              <a:headEnd type="none" w="med" len="med"/>
              <a:tailEnd type="none" w="med" len="med"/>
            </a:ln>
          </p:spPr>
        </p:sp>
        <p:sp>
          <p:nvSpPr>
            <p:cNvPr id="21536" name="直接连接符 31776"/>
            <p:cNvSpPr/>
            <p:nvPr/>
          </p:nvSpPr>
          <p:spPr>
            <a:xfrm>
              <a:off x="2517" y="3163"/>
              <a:ext cx="417" cy="0"/>
            </a:xfrm>
            <a:prstGeom prst="line">
              <a:avLst/>
            </a:prstGeom>
            <a:ln w="31750" cap="flat" cmpd="sng">
              <a:solidFill>
                <a:srgbClr val="FFFF00"/>
              </a:solidFill>
              <a:prstDash val="solid"/>
              <a:round/>
              <a:headEnd type="none" w="med" len="med"/>
              <a:tailEnd type="none" w="med" len="med"/>
            </a:ln>
          </p:spPr>
        </p:sp>
        <p:sp>
          <p:nvSpPr>
            <p:cNvPr id="21537" name="文本框 31777"/>
            <p:cNvSpPr txBox="1"/>
            <p:nvPr/>
          </p:nvSpPr>
          <p:spPr>
            <a:xfrm>
              <a:off x="1637" y="2821"/>
              <a:ext cx="835" cy="288"/>
            </a:xfrm>
            <a:prstGeom prst="rect">
              <a:avLst/>
            </a:prstGeom>
            <a:noFill/>
            <a:ln w="31750">
              <a:noFill/>
            </a:ln>
          </p:spPr>
          <p:txBody>
            <a:bodyPr anchor="t" anchorCtr="0">
              <a:spAutoFit/>
            </a:bodyPr>
            <a:lstStyle/>
            <a:p>
              <a:r>
                <a:rPr lang="zh-CN" altLang="en-US" sz="2400" b="1">
                  <a:solidFill>
                    <a:schemeClr val="bg2"/>
                  </a:solidFill>
                  <a:latin typeface="Times New Roman" panose="02020603050405020304" pitchFamily="18" charset="0"/>
                  <a:ea typeface="宋体" panose="02010600030101010101" pitchFamily="2" charset="-122"/>
                </a:rPr>
                <a:t>禁带</a:t>
              </a:r>
            </a:p>
          </p:txBody>
        </p:sp>
        <p:sp>
          <p:nvSpPr>
            <p:cNvPr id="21538" name="流程图: 联系 31778"/>
            <p:cNvSpPr/>
            <p:nvPr/>
          </p:nvSpPr>
          <p:spPr>
            <a:xfrm>
              <a:off x="3558" y="1980"/>
              <a:ext cx="1000" cy="1014"/>
            </a:xfrm>
            <a:prstGeom prst="flowChartConnector">
              <a:avLst/>
            </a:prstGeom>
            <a:noFill/>
            <a:ln w="31750" cap="flat" cmpd="sng">
              <a:solidFill>
                <a:srgbClr val="FFFF00"/>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1539" name="流程图: 联系 31779"/>
            <p:cNvSpPr/>
            <p:nvPr/>
          </p:nvSpPr>
          <p:spPr>
            <a:xfrm>
              <a:off x="3728" y="2183"/>
              <a:ext cx="625" cy="642"/>
            </a:xfrm>
            <a:prstGeom prst="flowChartConnector">
              <a:avLst/>
            </a:prstGeom>
            <a:noFill/>
            <a:ln w="31750" cap="flat" cmpd="sng">
              <a:solidFill>
                <a:srgbClr val="FFFF00"/>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1540" name="流程图: 联系 31780"/>
            <p:cNvSpPr/>
            <p:nvPr/>
          </p:nvSpPr>
          <p:spPr>
            <a:xfrm>
              <a:off x="3881" y="2324"/>
              <a:ext cx="333" cy="338"/>
            </a:xfrm>
            <a:prstGeom prst="flowChartConnector">
              <a:avLst/>
            </a:prstGeom>
            <a:noFill/>
            <a:ln w="31750" cap="flat" cmpd="sng">
              <a:solidFill>
                <a:srgbClr val="FFFF00"/>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1541" name="流程图: 联系 31781"/>
            <p:cNvSpPr/>
            <p:nvPr/>
          </p:nvSpPr>
          <p:spPr>
            <a:xfrm>
              <a:off x="3999" y="2462"/>
              <a:ext cx="83" cy="84"/>
            </a:xfrm>
            <a:prstGeom prst="flowChartConnector">
              <a:avLst/>
            </a:prstGeom>
            <a:solidFill>
              <a:srgbClr val="FF0000"/>
            </a:solidFill>
            <a:ln w="31750" cap="flat" cmpd="sng">
              <a:solidFill>
                <a:srgbClr val="FFFF00"/>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1542" name="直接连接符 31782"/>
            <p:cNvSpPr/>
            <p:nvPr/>
          </p:nvSpPr>
          <p:spPr>
            <a:xfrm flipH="1" flipV="1">
              <a:off x="2892" y="1769"/>
              <a:ext cx="1083" cy="211"/>
            </a:xfrm>
            <a:prstGeom prst="line">
              <a:avLst/>
            </a:prstGeom>
            <a:ln w="31750" cap="flat" cmpd="sng">
              <a:solidFill>
                <a:srgbClr val="FFFF00"/>
              </a:solidFill>
              <a:prstDash val="solid"/>
              <a:round/>
              <a:headEnd type="none" w="med" len="med"/>
              <a:tailEnd type="triangle" w="med" len="med"/>
            </a:ln>
          </p:spPr>
        </p:sp>
        <p:sp>
          <p:nvSpPr>
            <p:cNvPr id="21543" name="直接连接符 31783"/>
            <p:cNvSpPr/>
            <p:nvPr/>
          </p:nvSpPr>
          <p:spPr>
            <a:xfrm flipH="1">
              <a:off x="2934" y="2382"/>
              <a:ext cx="829" cy="232"/>
            </a:xfrm>
            <a:prstGeom prst="line">
              <a:avLst/>
            </a:prstGeom>
            <a:ln w="31750" cap="flat" cmpd="sng">
              <a:solidFill>
                <a:srgbClr val="FFFF00"/>
              </a:solidFill>
              <a:prstDash val="solid"/>
              <a:round/>
              <a:headEnd type="none" w="med" len="med"/>
              <a:tailEnd type="triangle" w="med" len="med"/>
            </a:ln>
          </p:spPr>
        </p:sp>
        <p:sp>
          <p:nvSpPr>
            <p:cNvPr id="21544" name="直接连接符 31784"/>
            <p:cNvSpPr/>
            <p:nvPr/>
          </p:nvSpPr>
          <p:spPr>
            <a:xfrm flipH="1">
              <a:off x="2934" y="2656"/>
              <a:ext cx="1166" cy="507"/>
            </a:xfrm>
            <a:prstGeom prst="line">
              <a:avLst/>
            </a:prstGeom>
            <a:ln w="31750" cap="flat" cmpd="sng">
              <a:solidFill>
                <a:srgbClr val="FFFF00"/>
              </a:solidFill>
              <a:prstDash val="solid"/>
              <a:round/>
              <a:headEnd type="none" w="med" len="med"/>
              <a:tailEnd type="triangle" w="med" len="med"/>
            </a:ln>
          </p:spPr>
        </p:sp>
        <p:sp>
          <p:nvSpPr>
            <p:cNvPr id="21545" name="文本框 31785"/>
            <p:cNvSpPr txBox="1"/>
            <p:nvPr/>
          </p:nvSpPr>
          <p:spPr>
            <a:xfrm>
              <a:off x="3448" y="1624"/>
              <a:ext cx="384" cy="288"/>
            </a:xfrm>
            <a:prstGeom prst="rect">
              <a:avLst/>
            </a:prstGeom>
            <a:noFill/>
            <a:ln w="31750">
              <a:noFill/>
            </a:ln>
          </p:spPr>
          <p:txBody>
            <a:bodyPr anchor="t" anchorCtr="0">
              <a:spAutoFit/>
            </a:bodyPr>
            <a:lstStyle/>
            <a:p>
              <a:r>
                <a:rPr lang="en-US" altLang="zh-CN" sz="2400" b="1">
                  <a:solidFill>
                    <a:schemeClr val="bg2"/>
                  </a:solidFill>
                  <a:latin typeface="Times New Roman" panose="02020603050405020304" pitchFamily="18" charset="0"/>
                  <a:ea typeface="宋体" panose="02010600030101010101" pitchFamily="2" charset="-122"/>
                </a:rPr>
                <a:t>d</a:t>
              </a:r>
            </a:p>
          </p:txBody>
        </p:sp>
        <p:sp>
          <p:nvSpPr>
            <p:cNvPr id="21546" name="文本框 31786"/>
            <p:cNvSpPr txBox="1"/>
            <p:nvPr/>
          </p:nvSpPr>
          <p:spPr>
            <a:xfrm>
              <a:off x="3212" y="2263"/>
              <a:ext cx="175" cy="288"/>
            </a:xfrm>
            <a:prstGeom prst="rect">
              <a:avLst/>
            </a:prstGeom>
            <a:noFill/>
            <a:ln w="31750">
              <a:noFill/>
            </a:ln>
          </p:spPr>
          <p:txBody>
            <a:bodyPr anchor="t" anchorCtr="0">
              <a:spAutoFit/>
            </a:bodyPr>
            <a:lstStyle/>
            <a:p>
              <a:r>
                <a:rPr lang="en-US" altLang="zh-CN" sz="2400" b="1">
                  <a:solidFill>
                    <a:schemeClr val="bg2"/>
                  </a:solidFill>
                  <a:latin typeface="Times New Roman" panose="02020603050405020304" pitchFamily="18" charset="0"/>
                  <a:ea typeface="宋体" panose="02010600030101010101" pitchFamily="2" charset="-122"/>
                </a:rPr>
                <a:t>p</a:t>
              </a:r>
            </a:p>
          </p:txBody>
        </p:sp>
        <p:sp>
          <p:nvSpPr>
            <p:cNvPr id="21547" name="文本框 31787"/>
            <p:cNvSpPr txBox="1"/>
            <p:nvPr/>
          </p:nvSpPr>
          <p:spPr>
            <a:xfrm>
              <a:off x="3350" y="2911"/>
              <a:ext cx="300" cy="326"/>
            </a:xfrm>
            <a:prstGeom prst="rect">
              <a:avLst/>
            </a:prstGeom>
            <a:noFill/>
            <a:ln w="31750">
              <a:noFill/>
            </a:ln>
          </p:spPr>
          <p:txBody>
            <a:bodyPr anchor="t" anchorCtr="0">
              <a:spAutoFit/>
            </a:bodyPr>
            <a:lstStyle/>
            <a:p>
              <a:r>
                <a:rPr lang="en-US" altLang="zh-CN" sz="2800" b="1">
                  <a:solidFill>
                    <a:schemeClr val="bg2"/>
                  </a:solidFill>
                  <a:latin typeface="Times New Roman" panose="02020603050405020304" pitchFamily="18" charset="0"/>
                  <a:ea typeface="宋体" panose="02010600030101010101" pitchFamily="2" charset="-122"/>
                </a:rPr>
                <a:t>s</a:t>
              </a:r>
            </a:p>
          </p:txBody>
        </p:sp>
      </p:grpSp>
      <p:sp>
        <p:nvSpPr>
          <p:cNvPr id="21548" name="矩形 31788"/>
          <p:cNvSpPr/>
          <p:nvPr/>
        </p:nvSpPr>
        <p:spPr>
          <a:xfrm>
            <a:off x="1042988" y="5445125"/>
            <a:ext cx="7777162" cy="946150"/>
          </a:xfrm>
          <a:prstGeom prst="rect">
            <a:avLst/>
          </a:prstGeom>
          <a:noFill/>
          <a:ln w="9525">
            <a:noFill/>
          </a:ln>
        </p:spPr>
        <p:txBody>
          <a:bodyPr anchor="t" anchorCtr="0">
            <a:spAutoFit/>
          </a:bodyPr>
          <a:lstStyle/>
          <a:p>
            <a:pPr>
              <a:spcBef>
                <a:spcPct val="20000"/>
              </a:spcBef>
              <a:buClr>
                <a:schemeClr val="hlink"/>
              </a:buClr>
              <a:buSzPct val="70000"/>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内层电子共有化运动弱，能级分裂小，能带窄；外壳层电子共有化运动显著，能带宽。</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文本占位符 32770"/>
          <p:cNvSpPr>
            <a:spLocks noGrp="1"/>
          </p:cNvSpPr>
          <p:nvPr>
            <p:ph idx="1"/>
          </p:nvPr>
        </p:nvSpPr>
        <p:spPr>
          <a:xfrm>
            <a:off x="539750" y="2205038"/>
            <a:ext cx="8064500" cy="3744912"/>
          </a:xfrm>
        </p:spPr>
        <p:txBody>
          <a:bodyPr anchor="t" anchorCtr="0"/>
          <a:lstStyle/>
          <a:p>
            <a:pPr marL="609600" indent="-609600">
              <a:lnSpc>
                <a:spcPct val="90000"/>
              </a:lnSpc>
            </a:pPr>
            <a:r>
              <a:rPr lang="zh-CN" altLang="en-US" sz="2800" b="1" dirty="0"/>
              <a:t>导带与价带间的能隙（</a:t>
            </a:r>
            <a:r>
              <a:rPr lang="en-US" altLang="zh-CN" sz="2800" b="1" dirty="0"/>
              <a:t>Energy gap</a:t>
            </a:r>
            <a:r>
              <a:rPr lang="zh-CN" altLang="en-US" sz="2800" b="1" dirty="0"/>
              <a:t>）称为禁带（</a:t>
            </a:r>
            <a:r>
              <a:rPr lang="en-US" altLang="zh-CN" sz="2800" b="1" dirty="0"/>
              <a:t>forbidden band</a:t>
            </a:r>
            <a:r>
              <a:rPr lang="zh-CN" altLang="en-US" sz="2800" b="1" dirty="0"/>
              <a:t>）</a:t>
            </a:r>
            <a:r>
              <a:rPr lang="en-US" altLang="zh-CN" sz="2800" b="1" dirty="0"/>
              <a:t>.</a:t>
            </a:r>
            <a:r>
              <a:rPr lang="zh-CN" altLang="en-US" sz="2800" b="1" dirty="0"/>
              <a:t>禁带宽度取决于晶体种类、晶体结构及温度。</a:t>
            </a:r>
          </a:p>
          <a:p>
            <a:pPr marL="609600" indent="-609600">
              <a:lnSpc>
                <a:spcPct val="90000"/>
              </a:lnSpc>
            </a:pPr>
            <a:r>
              <a:rPr lang="zh-CN" altLang="en-US" sz="2800" b="1" dirty="0"/>
              <a:t>能带中能量不连续</a:t>
            </a:r>
            <a:r>
              <a:rPr lang="en-US" altLang="zh-CN" sz="2800" b="1" dirty="0"/>
              <a:t>, </a:t>
            </a:r>
            <a:r>
              <a:rPr lang="zh-CN" altLang="en-US" sz="2800" b="1" dirty="0"/>
              <a:t>当原子数很多时，导带、价带内能级密度很大，可以认为能级准连续</a:t>
            </a:r>
          </a:p>
          <a:p>
            <a:pPr marL="609600" indent="-609600">
              <a:lnSpc>
                <a:spcPct val="90000"/>
              </a:lnSpc>
            </a:pPr>
            <a:r>
              <a:rPr lang="zh-CN" altLang="en-US" sz="2800" b="1" dirty="0"/>
              <a:t>每个能带中的能级数目与晶体中的原子数有关</a:t>
            </a:r>
          </a:p>
          <a:p>
            <a:pPr marL="609600" indent="-609600">
              <a:lnSpc>
                <a:spcPct val="90000"/>
              </a:lnSpc>
            </a:pPr>
            <a:r>
              <a:rPr lang="zh-CN" altLang="en-US" sz="2800" b="1" dirty="0"/>
              <a:t>能带的宽窄由晶体的性质决定</a:t>
            </a:r>
            <a:r>
              <a:rPr lang="en-US" altLang="zh-CN" sz="2800" b="1" dirty="0"/>
              <a:t>,  </a:t>
            </a:r>
            <a:r>
              <a:rPr lang="zh-CN" altLang="en-US" sz="2800" b="1" dirty="0"/>
              <a:t>与所含的原子数无关</a:t>
            </a:r>
          </a:p>
        </p:txBody>
      </p:sp>
      <p:sp>
        <p:nvSpPr>
          <p:cNvPr id="22530" name="矩形 32774"/>
          <p:cNvSpPr/>
          <p:nvPr/>
        </p:nvSpPr>
        <p:spPr>
          <a:xfrm>
            <a:off x="900113" y="836613"/>
            <a:ext cx="1943100" cy="968375"/>
          </a:xfrm>
          <a:prstGeom prst="rect">
            <a:avLst/>
          </a:prstGeom>
        </p:spPr>
        <p:txBody>
          <a:bodyPr wrap="none" fromWordArt="1">
            <a:prstTxWarp prst="textCurveDown">
              <a:avLst>
                <a:gd name="adj" fmla="val 43477"/>
              </a:avLst>
            </a:prstTxWarp>
            <a:normAutofit/>
            <a:scene3d>
              <a:camera prst="legacyPerspectiveFront">
                <a:rot lat="20520000" lon="1080000" rev="0"/>
              </a:camera>
              <a:lightRig rig="legacyHarsh2" dir="b"/>
            </a:scene3d>
            <a:sp3d extrusionH="430200" prstMaterial="legacyMatte">
              <a:extrusionClr>
                <a:srgbClr val="FF6600"/>
              </a:extrusionClr>
            </a:sp3d>
          </a:bodyPr>
          <a:lstStyle/>
          <a:p>
            <a:pPr algn="ctr"/>
            <a:r>
              <a:rPr lang="zh-CN" altLang="en-US" sz="3600">
                <a:gradFill rotWithShape="0">
                  <a:gsLst>
                    <a:gs pos="0">
                      <a:srgbClr val="FFE701"/>
                    </a:gs>
                    <a:gs pos="100000">
                      <a:srgbClr val="FE3E02"/>
                    </a:gs>
                  </a:gsLst>
                  <a:lin ang="5400000" scaled="1"/>
                  <a:tileRect/>
                </a:gradFill>
                <a:latin typeface="宋体" panose="02010600030101010101" pitchFamily="2" charset="-122"/>
                <a:ea typeface="宋体" panose="02010600030101010101" pitchFamily="2" charset="-122"/>
              </a:rPr>
              <a:t>注意：</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9D3C037D-67D3-9D8A-553C-6202E9CA2494}"/>
                  </a:ext>
                </a:extLst>
              </p14:cNvPr>
              <p14:cNvContentPartPr/>
              <p14:nvPr/>
            </p14:nvContentPartPr>
            <p14:xfrm>
              <a:off x="1376032" y="3617013"/>
              <a:ext cx="6006240" cy="178200"/>
            </p14:xfrm>
          </p:contentPart>
        </mc:Choice>
        <mc:Fallback xmlns="">
          <p:pic>
            <p:nvPicPr>
              <p:cNvPr id="2" name="墨迹 1">
                <a:extLst>
                  <a:ext uri="{FF2B5EF4-FFF2-40B4-BE49-F238E27FC236}">
                    <a16:creationId xmlns:a16="http://schemas.microsoft.com/office/drawing/2014/main" id="{9D3C037D-67D3-9D8A-553C-6202E9CA2494}"/>
                  </a:ext>
                </a:extLst>
              </p:cNvPr>
              <p:cNvPicPr/>
              <p:nvPr/>
            </p:nvPicPr>
            <p:blipFill>
              <a:blip r:embed="rId3"/>
              <a:stretch>
                <a:fillRect/>
              </a:stretch>
            </p:blipFill>
            <p:spPr>
              <a:xfrm>
                <a:off x="1322392" y="3509373"/>
                <a:ext cx="611388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E1C0D4B3-260C-6298-9ADB-31B28C1FFC52}"/>
                  </a:ext>
                </a:extLst>
              </p14:cNvPr>
              <p14:cNvContentPartPr/>
              <p14:nvPr/>
            </p14:nvContentPartPr>
            <p14:xfrm>
              <a:off x="3971992" y="4147653"/>
              <a:ext cx="1575720" cy="50760"/>
            </p14:xfrm>
          </p:contentPart>
        </mc:Choice>
        <mc:Fallback xmlns="">
          <p:pic>
            <p:nvPicPr>
              <p:cNvPr id="3" name="墨迹 2">
                <a:extLst>
                  <a:ext uri="{FF2B5EF4-FFF2-40B4-BE49-F238E27FC236}">
                    <a16:creationId xmlns:a16="http://schemas.microsoft.com/office/drawing/2014/main" id="{E1C0D4B3-260C-6298-9ADB-31B28C1FFC52}"/>
                  </a:ext>
                </a:extLst>
              </p:cNvPr>
              <p:cNvPicPr/>
              <p:nvPr/>
            </p:nvPicPr>
            <p:blipFill>
              <a:blip r:embed="rId5"/>
              <a:stretch>
                <a:fillRect/>
              </a:stretch>
            </p:blipFill>
            <p:spPr>
              <a:xfrm>
                <a:off x="3917992" y="4040013"/>
                <a:ext cx="168336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A3B5FA32-7298-302E-5EB6-440875AC581A}"/>
                  </a:ext>
                </a:extLst>
              </p14:cNvPr>
              <p14:cNvContentPartPr/>
              <p14:nvPr/>
            </p14:nvContentPartPr>
            <p14:xfrm>
              <a:off x="1621912" y="2495253"/>
              <a:ext cx="6075000" cy="90360"/>
            </p14:xfrm>
          </p:contentPart>
        </mc:Choice>
        <mc:Fallback xmlns="">
          <p:pic>
            <p:nvPicPr>
              <p:cNvPr id="4" name="墨迹 3">
                <a:extLst>
                  <a:ext uri="{FF2B5EF4-FFF2-40B4-BE49-F238E27FC236}">
                    <a16:creationId xmlns:a16="http://schemas.microsoft.com/office/drawing/2014/main" id="{A3B5FA32-7298-302E-5EB6-440875AC581A}"/>
                  </a:ext>
                </a:extLst>
              </p:cNvPr>
              <p:cNvPicPr/>
              <p:nvPr/>
            </p:nvPicPr>
            <p:blipFill>
              <a:blip r:embed="rId7"/>
              <a:stretch>
                <a:fillRect/>
              </a:stretch>
            </p:blipFill>
            <p:spPr>
              <a:xfrm>
                <a:off x="1567912" y="2387613"/>
                <a:ext cx="6182640" cy="30600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81249"/>
          <p:cNvSpPr>
            <a:spLocks noGrp="1"/>
          </p:cNvSpPr>
          <p:nvPr>
            <p:ph type="title"/>
          </p:nvPr>
        </p:nvSpPr>
        <p:spPr/>
        <p:txBody>
          <a:bodyPr anchor="ctr" anchorCtr="0"/>
          <a:lstStyle/>
          <a:p>
            <a:r>
              <a:rPr lang="zh-CN" altLang="en-US" sz="3600" b="1" dirty="0">
                <a:solidFill>
                  <a:srgbClr val="A50021"/>
                </a:solidFill>
              </a:rPr>
              <a:t>半导体（硅、锗）能带的特点：</a:t>
            </a:r>
          </a:p>
        </p:txBody>
      </p:sp>
      <p:sp>
        <p:nvSpPr>
          <p:cNvPr id="24578" name="文本占位符 181250"/>
          <p:cNvSpPr>
            <a:spLocks noGrp="1"/>
          </p:cNvSpPr>
          <p:nvPr>
            <p:ph idx="1"/>
          </p:nvPr>
        </p:nvSpPr>
        <p:spPr>
          <a:xfrm>
            <a:off x="468313" y="1557338"/>
            <a:ext cx="8280400" cy="4535487"/>
          </a:xfrm>
        </p:spPr>
        <p:txBody>
          <a:bodyPr anchor="t" anchorCtr="0"/>
          <a:lstStyle/>
          <a:p>
            <a:pPr marL="609600" indent="-609600"/>
            <a:endParaRPr lang="en-US" altLang="zh-CN" b="1" dirty="0"/>
          </a:p>
          <a:p>
            <a:pPr marL="609600" indent="-609600"/>
            <a:r>
              <a:rPr lang="zh-CN" altLang="en-US" b="1" dirty="0"/>
              <a:t>存在轨道杂化，失去能级与能带的对应关系。杂化后能带重新分开为上能带和下能带，上能带称为导带，下能带称为价带</a:t>
            </a:r>
          </a:p>
          <a:p>
            <a:pPr marL="609600" indent="-609600"/>
            <a:r>
              <a:rPr lang="zh-CN" altLang="en-US" b="1" dirty="0"/>
              <a:t>低温下，价带填满电子，导带全空，高温下价带中的一部分电子跃迁到导带，使晶体呈现弱导电性。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49507"/>
          <p:cNvSpPr>
            <a:spLocks noGrp="1" noRot="1"/>
          </p:cNvSpPr>
          <p:nvPr>
            <p:ph type="title"/>
          </p:nvPr>
        </p:nvSpPr>
        <p:spPr>
          <a:xfrm>
            <a:off x="395288" y="620713"/>
            <a:ext cx="7416800" cy="811212"/>
          </a:xfrm>
        </p:spPr>
        <p:txBody>
          <a:bodyPr vert="horz" wrap="square" lIns="91440" tIns="45720" rIns="91440" bIns="45720" anchor="ctr" anchorCtr="0"/>
          <a:lstStyle/>
          <a:p>
            <a:r>
              <a:rPr lang="en-US" altLang="zh-CN" sz="3600" b="1" dirty="0"/>
              <a:t>3.</a:t>
            </a:r>
            <a:r>
              <a:rPr lang="zh-CN" altLang="en-US" sz="3600" b="1" dirty="0"/>
              <a:t>半导体电子状态与能带</a:t>
            </a:r>
          </a:p>
        </p:txBody>
      </p:sp>
      <p:sp>
        <p:nvSpPr>
          <p:cNvPr id="25602" name="文本占位符 149506"/>
          <p:cNvSpPr>
            <a:spLocks noGrp="1"/>
          </p:cNvSpPr>
          <p:nvPr>
            <p:ph type="body" sz="half" idx="1"/>
          </p:nvPr>
        </p:nvSpPr>
        <p:spPr>
          <a:xfrm>
            <a:off x="468313" y="2492375"/>
            <a:ext cx="8147050" cy="3886200"/>
          </a:xfrm>
        </p:spPr>
        <p:txBody>
          <a:bodyPr anchor="t" anchorCtr="0"/>
          <a:lstStyle/>
          <a:p>
            <a:pPr>
              <a:buClr>
                <a:schemeClr val="bg2"/>
              </a:buClr>
              <a:buSzPct val="75000"/>
              <a:buFont typeface="Wingdings" panose="05000000000000000000" pitchFamily="2" charset="2"/>
            </a:pPr>
            <a:r>
              <a:rPr lang="zh-CN" altLang="en-US" sz="3600" b="1" dirty="0">
                <a:solidFill>
                  <a:srgbClr val="A50021"/>
                </a:solidFill>
              </a:rPr>
              <a:t>波函数</a:t>
            </a:r>
            <a:r>
              <a:rPr lang="en-US" altLang="zh-CN"/>
              <a:t>——</a:t>
            </a:r>
            <a:r>
              <a:rPr lang="zh-CN" altLang="en-US" dirty="0"/>
              <a:t>描述微观粒子的状态</a:t>
            </a:r>
          </a:p>
          <a:p>
            <a:pPr>
              <a:buClr>
                <a:schemeClr val="bg2"/>
              </a:buClr>
              <a:buSzPct val="75000"/>
              <a:buFont typeface="Wingdings" panose="05000000000000000000" pitchFamily="2" charset="2"/>
            </a:pPr>
            <a:r>
              <a:rPr lang="zh-CN" altLang="en-US" sz="3600" b="1" dirty="0">
                <a:solidFill>
                  <a:srgbClr val="A50021"/>
                </a:solidFill>
              </a:rPr>
              <a:t>薛定谔方程</a:t>
            </a:r>
            <a:r>
              <a:rPr lang="en-US" altLang="zh-CN"/>
              <a:t>——</a:t>
            </a:r>
            <a:r>
              <a:rPr lang="zh-CN" altLang="en-US" dirty="0"/>
              <a:t>决定微观粒子运动的方程</a:t>
            </a:r>
          </a:p>
        </p:txBody>
      </p:sp>
      <p:graphicFrame>
        <p:nvGraphicFramePr>
          <p:cNvPr id="25603" name="内容占位符 149508"/>
          <p:cNvGraphicFramePr>
            <a:graphicFrameLocks noGrp="1"/>
          </p:cNvGraphicFramePr>
          <p:nvPr>
            <p:ph sz="quarter" idx="2"/>
          </p:nvPr>
        </p:nvGraphicFramePr>
        <p:xfrm>
          <a:off x="2051050" y="4149725"/>
          <a:ext cx="5327650" cy="1381125"/>
        </p:xfrm>
        <a:graphic>
          <a:graphicData uri="http://schemas.openxmlformats.org/presentationml/2006/ole">
            <mc:AlternateContent xmlns:mc="http://schemas.openxmlformats.org/markup-compatibility/2006">
              <mc:Choice xmlns:v="urn:schemas-microsoft-com:vml" Requires="v">
                <p:oleObj r:id="rId2" imgW="1599565" imgH="482600" progId="Equation.DSMT4">
                  <p:embed/>
                </p:oleObj>
              </mc:Choice>
              <mc:Fallback>
                <p:oleObj r:id="rId2" imgW="1599565" imgH="482600" progId="Equation.DSMT4">
                  <p:embed/>
                  <p:pic>
                    <p:nvPicPr>
                      <p:cNvPr id="0" name="图片 3169"/>
                      <p:cNvPicPr/>
                      <p:nvPr/>
                    </p:nvPicPr>
                    <p:blipFill>
                      <a:blip r:embed="rId3"/>
                      <a:stretch>
                        <a:fillRect/>
                      </a:stretch>
                    </p:blipFill>
                    <p:spPr>
                      <a:xfrm>
                        <a:off x="2051050" y="4149725"/>
                        <a:ext cx="5327650" cy="1381125"/>
                      </a:xfrm>
                      <a:prstGeom prst="rect">
                        <a:avLst/>
                      </a:prstGeom>
                      <a:solidFill>
                        <a:srgbClr val="CCFFFF"/>
                      </a:solidFill>
                      <a:ln>
                        <a:solidFill>
                          <a:srgbClr val="FF0000"/>
                        </a:solidFill>
                        <a:miter/>
                      </a:ln>
                    </p:spPr>
                  </p:pic>
                </p:oleObj>
              </mc:Fallback>
            </mc:AlternateContent>
          </a:graphicData>
        </a:graphic>
      </p:graphicFrame>
      <p:sp>
        <p:nvSpPr>
          <p:cNvPr id="25604" name="文本框 149514"/>
          <p:cNvSpPr txBox="1"/>
          <p:nvPr/>
        </p:nvSpPr>
        <p:spPr>
          <a:xfrm>
            <a:off x="3203575" y="1557338"/>
            <a:ext cx="2740025" cy="701675"/>
          </a:xfrm>
          <a:prstGeom prst="rect">
            <a:avLst/>
          </a:prstGeom>
          <a:noFill/>
          <a:ln w="9525">
            <a:noFill/>
          </a:ln>
        </p:spPr>
        <p:txBody>
          <a:bodyPr wrap="none" anchor="t" anchorCtr="0">
            <a:spAutoFit/>
          </a:bodyPr>
          <a:lstStyle/>
          <a:p>
            <a:r>
              <a:rPr lang="en-US" altLang="zh-CN" sz="4000" b="1" err="1">
                <a:latin typeface="Times New Roman" panose="02020603050405020304" pitchFamily="18" charset="0"/>
                <a:ea typeface="宋体" panose="02010600030101010101" pitchFamily="2" charset="-122"/>
              </a:rPr>
              <a:t>E(k</a:t>
            </a:r>
            <a:r>
              <a:rPr lang="en-US" altLang="zh-CN" sz="4000" b="1" dirty="0">
                <a:latin typeface="Times New Roman" panose="02020603050405020304" pitchFamily="18" charset="0"/>
                <a:ea typeface="宋体" panose="02010600030101010101" pitchFamily="2" charset="-122"/>
              </a:rPr>
              <a:t>)- k</a:t>
            </a:r>
            <a:r>
              <a:rPr lang="zh-CN" altLang="en-US" sz="4000" b="1" dirty="0">
                <a:latin typeface="Times New Roman" panose="02020603050405020304" pitchFamily="18" charset="0"/>
                <a:ea typeface="宋体" panose="02010600030101010101" pitchFamily="2" charset="-122"/>
              </a:rPr>
              <a:t>关系</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文本框 153603"/>
          <p:cNvSpPr txBox="1"/>
          <p:nvPr/>
        </p:nvSpPr>
        <p:spPr>
          <a:xfrm>
            <a:off x="1835150" y="3573463"/>
            <a:ext cx="4146550" cy="579437"/>
          </a:xfrm>
          <a:prstGeom prst="rect">
            <a:avLst/>
          </a:prstGeom>
          <a:noFill/>
          <a:ln w="9525">
            <a:noFill/>
          </a:ln>
        </p:spPr>
        <p:txBody>
          <a:bodyPr wrap="none" anchor="t" anchorCtr="0">
            <a:spAutoFit/>
          </a:bodyPr>
          <a:lstStyle/>
          <a:p>
            <a:r>
              <a:rPr lang="en-US" altLang="zh-CN" sz="3200" b="1" i="1">
                <a:latin typeface="Times New Roman" panose="02020603050405020304" pitchFamily="18" charset="0"/>
                <a:ea typeface="宋体" panose="02010600030101010101" pitchFamily="2" charset="-122"/>
              </a:rPr>
              <a:t>k</a:t>
            </a:r>
            <a:r>
              <a:rPr lang="en-US" altLang="zh-CN" sz="3200" b="1">
                <a:latin typeface="Times New Roman" panose="02020603050405020304" pitchFamily="18" charset="0"/>
                <a:ea typeface="宋体" panose="02010600030101010101" pitchFamily="2" charset="-122"/>
              </a:rPr>
              <a:t> </a:t>
            </a:r>
            <a:r>
              <a:rPr lang="zh-CN" altLang="en-US" sz="3200" dirty="0">
                <a:latin typeface="Times New Roman" panose="02020603050405020304" pitchFamily="18" charset="0"/>
                <a:ea typeface="宋体" panose="02010600030101010101" pitchFamily="2" charset="-122"/>
              </a:rPr>
              <a:t>称为波矢，大小为：</a:t>
            </a:r>
            <a:endParaRPr lang="zh-CN" altLang="en-US" sz="3200">
              <a:latin typeface="Times New Roman" panose="02020603050405020304" pitchFamily="18" charset="0"/>
              <a:ea typeface="宋体" panose="02010600030101010101" pitchFamily="2" charset="-122"/>
            </a:endParaRPr>
          </a:p>
        </p:txBody>
      </p:sp>
      <p:graphicFrame>
        <p:nvGraphicFramePr>
          <p:cNvPr id="26626" name="对象 153604"/>
          <p:cNvGraphicFramePr/>
          <p:nvPr/>
        </p:nvGraphicFramePr>
        <p:xfrm>
          <a:off x="3059113" y="4437063"/>
          <a:ext cx="3168650" cy="704850"/>
        </p:xfrm>
        <a:graphic>
          <a:graphicData uri="http://schemas.openxmlformats.org/presentationml/2006/ole">
            <mc:AlternateContent xmlns:mc="http://schemas.openxmlformats.org/markup-compatibility/2006">
              <mc:Choice xmlns:v="urn:schemas-microsoft-com:vml" Requires="v">
                <p:oleObj r:id="rId2" imgW="799465" imgH="254000" progId="Equation.DSMT4">
                  <p:embed/>
                </p:oleObj>
              </mc:Choice>
              <mc:Fallback>
                <p:oleObj r:id="rId2" imgW="799465" imgH="254000" progId="Equation.DSMT4">
                  <p:embed/>
                  <p:pic>
                    <p:nvPicPr>
                      <p:cNvPr id="0" name="图片 3170"/>
                      <p:cNvPicPr/>
                      <p:nvPr/>
                    </p:nvPicPr>
                    <p:blipFill>
                      <a:blip r:embed="rId3"/>
                      <a:stretch>
                        <a:fillRect/>
                      </a:stretch>
                    </p:blipFill>
                    <p:spPr>
                      <a:xfrm>
                        <a:off x="3059113" y="4437063"/>
                        <a:ext cx="3168650" cy="704850"/>
                      </a:xfrm>
                      <a:prstGeom prst="rect">
                        <a:avLst/>
                      </a:prstGeom>
                      <a:solidFill>
                        <a:srgbClr val="CCFFFF"/>
                      </a:solidFill>
                      <a:ln w="9525" cap="flat" cmpd="sng">
                        <a:solidFill>
                          <a:srgbClr val="FF0000"/>
                        </a:solidFill>
                        <a:prstDash val="solid"/>
                        <a:miter/>
                        <a:headEnd type="none" w="med" len="med"/>
                        <a:tailEnd type="none" w="med" len="med"/>
                      </a:ln>
                    </p:spPr>
                  </p:pic>
                </p:oleObj>
              </mc:Fallback>
            </mc:AlternateContent>
          </a:graphicData>
        </a:graphic>
      </p:graphicFrame>
      <p:sp>
        <p:nvSpPr>
          <p:cNvPr id="26627" name="文本框 153605"/>
          <p:cNvSpPr txBox="1"/>
          <p:nvPr/>
        </p:nvSpPr>
        <p:spPr>
          <a:xfrm>
            <a:off x="1835150" y="5445125"/>
            <a:ext cx="5761038" cy="579438"/>
          </a:xfrm>
          <a:prstGeom prst="rect">
            <a:avLst/>
          </a:prstGeom>
          <a:noFill/>
          <a:ln w="9525">
            <a:noFill/>
          </a:ln>
        </p:spPr>
        <p:txBody>
          <a:bodyPr anchor="t" anchorCtr="0">
            <a:spAutoFit/>
          </a:bodyPr>
          <a:lstStyle/>
          <a:p>
            <a:r>
              <a:rPr lang="zh-CN" altLang="en-US" sz="3200" dirty="0">
                <a:latin typeface="Times New Roman" panose="02020603050405020304" pitchFamily="18" charset="0"/>
                <a:ea typeface="宋体" panose="02010600030101010101" pitchFamily="2" charset="-122"/>
              </a:rPr>
              <a:t>方向为</a:t>
            </a:r>
            <a:r>
              <a:rPr lang="zh-CN" altLang="en-US" sz="3200" b="1" dirty="0">
                <a:latin typeface="Times New Roman" panose="02020603050405020304" pitchFamily="18" charset="0"/>
                <a:ea typeface="宋体" panose="02010600030101010101" pitchFamily="2" charset="-122"/>
              </a:rPr>
              <a:t>平面波</a:t>
            </a:r>
            <a:r>
              <a:rPr lang="zh-CN" altLang="en-US" sz="3200" dirty="0">
                <a:latin typeface="Times New Roman" panose="02020603050405020304" pitchFamily="18" charset="0"/>
                <a:ea typeface="宋体" panose="02010600030101010101" pitchFamily="2" charset="-122"/>
              </a:rPr>
              <a:t>的传播方向</a:t>
            </a:r>
            <a:endParaRPr lang="zh-CN" altLang="en-US" sz="3200">
              <a:latin typeface="Times New Roman" panose="02020603050405020304" pitchFamily="18" charset="0"/>
              <a:ea typeface="宋体" panose="02010600030101010101" pitchFamily="2" charset="-122"/>
            </a:endParaRPr>
          </a:p>
        </p:txBody>
      </p:sp>
      <p:sp>
        <p:nvSpPr>
          <p:cNvPr id="26628" name="矩形 153606"/>
          <p:cNvSpPr/>
          <p:nvPr/>
        </p:nvSpPr>
        <p:spPr>
          <a:xfrm>
            <a:off x="468313" y="1412875"/>
            <a:ext cx="8229600" cy="720725"/>
          </a:xfrm>
          <a:prstGeom prst="rect">
            <a:avLst/>
          </a:prstGeom>
          <a:noFill/>
          <a:ln w="9525">
            <a:noFill/>
          </a:ln>
        </p:spPr>
        <p:txBody>
          <a:bodyPr anchor="t" anchorCtr="0"/>
          <a:lstStyle/>
          <a:p>
            <a:pPr marL="342900" indent="-342900">
              <a:spcBef>
                <a:spcPct val="20000"/>
              </a:spcBef>
              <a:buClr>
                <a:schemeClr val="bg2"/>
              </a:buClr>
              <a:buSzPct val="75000"/>
              <a:buFont typeface="Wingdings" panose="05000000000000000000" pitchFamily="2" charset="2"/>
              <a:buChar char="n"/>
            </a:pPr>
            <a:r>
              <a:rPr lang="zh-CN" altLang="en-US" sz="3200" dirty="0">
                <a:latin typeface="Arial" panose="020B0604020202020204" pitchFamily="34" charset="0"/>
                <a:ea typeface="宋体" panose="02010600030101010101" pitchFamily="2" charset="-122"/>
              </a:rPr>
              <a:t>自由电子的波函数</a:t>
            </a:r>
            <a:r>
              <a:rPr lang="en-US" altLang="zh-CN" sz="3200" dirty="0">
                <a:latin typeface="Arial" panose="020B0604020202020204" pitchFamily="34" charset="0"/>
                <a:ea typeface="宋体" panose="02010600030101010101" pitchFamily="2" charset="-122"/>
              </a:rPr>
              <a:t>(</a:t>
            </a:r>
            <a:r>
              <a:rPr lang="zh-CN" altLang="en-US" sz="3200" dirty="0">
                <a:latin typeface="Arial" panose="020B0604020202020204" pitchFamily="34" charset="0"/>
                <a:ea typeface="宋体" panose="02010600030101010101" pitchFamily="2" charset="-122"/>
              </a:rPr>
              <a:t>一维情况</a:t>
            </a:r>
            <a:r>
              <a:rPr lang="en-US" altLang="zh-CN" sz="3200">
                <a:latin typeface="Arial" panose="020B0604020202020204" pitchFamily="34" charset="0"/>
                <a:ea typeface="宋体" panose="02010600030101010101" pitchFamily="2" charset="-122"/>
              </a:rPr>
              <a:t>)</a:t>
            </a:r>
          </a:p>
        </p:txBody>
      </p:sp>
      <p:graphicFrame>
        <p:nvGraphicFramePr>
          <p:cNvPr id="26629" name="对象 153607"/>
          <p:cNvGraphicFramePr/>
          <p:nvPr/>
        </p:nvGraphicFramePr>
        <p:xfrm>
          <a:off x="2843213" y="2276475"/>
          <a:ext cx="3230562" cy="796925"/>
        </p:xfrm>
        <a:graphic>
          <a:graphicData uri="http://schemas.openxmlformats.org/presentationml/2006/ole">
            <mc:AlternateContent xmlns:mc="http://schemas.openxmlformats.org/markup-compatibility/2006">
              <mc:Choice xmlns:v="urn:schemas-microsoft-com:vml" Requires="v">
                <p:oleObj r:id="rId4" imgW="927100" imgH="228600" progId="Equation.DSMT4">
                  <p:embed/>
                </p:oleObj>
              </mc:Choice>
              <mc:Fallback>
                <p:oleObj r:id="rId4" imgW="927100" imgH="228600" progId="Equation.DSMT4">
                  <p:embed/>
                  <p:pic>
                    <p:nvPicPr>
                      <p:cNvPr id="0" name="图片 3171"/>
                      <p:cNvPicPr/>
                      <p:nvPr/>
                    </p:nvPicPr>
                    <p:blipFill>
                      <a:blip r:embed="rId5"/>
                      <a:stretch>
                        <a:fillRect/>
                      </a:stretch>
                    </p:blipFill>
                    <p:spPr>
                      <a:xfrm>
                        <a:off x="2843213" y="2276475"/>
                        <a:ext cx="3230562" cy="796925"/>
                      </a:xfrm>
                      <a:prstGeom prst="rect">
                        <a:avLst/>
                      </a:prstGeom>
                      <a:solidFill>
                        <a:srgbClr val="CCFFFF"/>
                      </a:solidFill>
                      <a:ln w="9525" cap="flat" cmpd="sng">
                        <a:solidFill>
                          <a:srgbClr val="FF0000"/>
                        </a:solidFill>
                        <a:prstDash val="solid"/>
                        <a:miter/>
                        <a:headEnd type="none" w="med" len="med"/>
                        <a:tailEnd type="none" w="med" len="med"/>
                      </a:ln>
                    </p:spPr>
                  </p:pic>
                </p:oleObj>
              </mc:Fallback>
            </mc:AlternateContent>
          </a:graphicData>
        </a:graphic>
      </p:graphicFrame>
      <p:sp>
        <p:nvSpPr>
          <p:cNvPr id="26630" name="矩形 153608"/>
          <p:cNvSpPr/>
          <p:nvPr/>
        </p:nvSpPr>
        <p:spPr>
          <a:xfrm>
            <a:off x="468313" y="639763"/>
            <a:ext cx="4313237" cy="641350"/>
          </a:xfrm>
          <a:prstGeom prst="rect">
            <a:avLst/>
          </a:prstGeom>
          <a:noFill/>
          <a:ln w="9525">
            <a:noFill/>
          </a:ln>
        </p:spPr>
        <p:txBody>
          <a:bodyPr wrap="none" anchor="t" anchorCtr="0">
            <a:spAutoFit/>
          </a:bodyPr>
          <a:lstStyle/>
          <a:p>
            <a:r>
              <a:rPr lang="zh-CN" altLang="en-US" sz="3600" b="1" dirty="0">
                <a:solidFill>
                  <a:srgbClr val="A50021"/>
                </a:solidFill>
                <a:latin typeface="Times New Roman" panose="02020603050405020304" pitchFamily="18" charset="0"/>
                <a:ea typeface="宋体" panose="02010600030101010101" pitchFamily="2" charset="-122"/>
              </a:rPr>
              <a:t>自由电子的运动状态</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文本框 193537"/>
          <p:cNvSpPr txBox="1"/>
          <p:nvPr/>
        </p:nvSpPr>
        <p:spPr>
          <a:xfrm>
            <a:off x="4660900" y="5224463"/>
            <a:ext cx="4038600" cy="579437"/>
          </a:xfrm>
          <a:prstGeom prst="rect">
            <a:avLst/>
          </a:prstGeom>
          <a:noFill/>
          <a:ln w="9525">
            <a:noFill/>
          </a:ln>
        </p:spPr>
        <p:txBody>
          <a:bodyPr anchor="t" anchorCtr="0">
            <a:spAutoFit/>
          </a:bodyPr>
          <a:lstStyle/>
          <a:p>
            <a:r>
              <a:rPr lang="zh-CN" altLang="en-US" sz="3200" b="1" dirty="0">
                <a:latin typeface="Times New Roman" panose="02020603050405020304" pitchFamily="18" charset="0"/>
                <a:ea typeface="宋体" panose="02010600030101010101" pitchFamily="2" charset="-122"/>
              </a:rPr>
              <a:t>自由电子</a:t>
            </a:r>
            <a:r>
              <a:rPr lang="en-US" altLang="zh-CN" sz="3200" b="1" dirty="0">
                <a:latin typeface="Times New Roman" panose="02020603050405020304" pitchFamily="18" charset="0"/>
                <a:ea typeface="宋体" panose="02010600030101010101" pitchFamily="2" charset="-122"/>
              </a:rPr>
              <a:t>E</a:t>
            </a:r>
            <a:r>
              <a:rPr lang="zh-CN" altLang="en-US" sz="3200" b="1" dirty="0">
                <a:latin typeface="Times New Roman" panose="02020603050405020304" pitchFamily="18" charset="0"/>
                <a:ea typeface="宋体" panose="02010600030101010101" pitchFamily="2" charset="-122"/>
              </a:rPr>
              <a:t>与</a:t>
            </a:r>
            <a:r>
              <a:rPr lang="en-US" altLang="zh-CN" sz="3200" b="1" dirty="0">
                <a:latin typeface="Times New Roman" panose="02020603050405020304" pitchFamily="18" charset="0"/>
                <a:ea typeface="宋体" panose="02010600030101010101" pitchFamily="2" charset="-122"/>
              </a:rPr>
              <a:t>k </a:t>
            </a:r>
            <a:r>
              <a:rPr lang="zh-CN" altLang="en-US" sz="3200" b="1" dirty="0">
                <a:latin typeface="Times New Roman" panose="02020603050405020304" pitchFamily="18" charset="0"/>
                <a:ea typeface="宋体" panose="02010600030101010101" pitchFamily="2" charset="-122"/>
              </a:rPr>
              <a:t>的关系</a:t>
            </a:r>
          </a:p>
        </p:txBody>
      </p:sp>
      <p:sp>
        <p:nvSpPr>
          <p:cNvPr id="27650" name="直接连接符 193538"/>
          <p:cNvSpPr/>
          <p:nvPr/>
        </p:nvSpPr>
        <p:spPr>
          <a:xfrm>
            <a:off x="4965700" y="4538663"/>
            <a:ext cx="3276600" cy="0"/>
          </a:xfrm>
          <a:prstGeom prst="line">
            <a:avLst/>
          </a:prstGeom>
          <a:ln w="9525" cap="flat" cmpd="sng">
            <a:solidFill>
              <a:schemeClr val="tx1"/>
            </a:solidFill>
            <a:prstDash val="solid"/>
            <a:round/>
            <a:headEnd type="none" w="med" len="med"/>
            <a:tailEnd type="triangle" w="med" len="med"/>
          </a:ln>
        </p:spPr>
      </p:sp>
      <p:sp>
        <p:nvSpPr>
          <p:cNvPr id="27651" name="直接连接符 193539"/>
          <p:cNvSpPr/>
          <p:nvPr/>
        </p:nvSpPr>
        <p:spPr>
          <a:xfrm flipV="1">
            <a:off x="6565900" y="2024063"/>
            <a:ext cx="0" cy="2514600"/>
          </a:xfrm>
          <a:prstGeom prst="line">
            <a:avLst/>
          </a:prstGeom>
          <a:ln w="9525" cap="flat" cmpd="sng">
            <a:solidFill>
              <a:schemeClr val="tx1"/>
            </a:solidFill>
            <a:prstDash val="solid"/>
            <a:round/>
            <a:headEnd type="none" w="med" len="med"/>
            <a:tailEnd type="triangle" w="med" len="med"/>
          </a:ln>
        </p:spPr>
      </p:sp>
      <p:sp>
        <p:nvSpPr>
          <p:cNvPr id="27652" name="任意多边形 193540"/>
          <p:cNvSpPr/>
          <p:nvPr/>
        </p:nvSpPr>
        <p:spPr>
          <a:xfrm>
            <a:off x="5292725" y="2565400"/>
            <a:ext cx="2447925" cy="1952625"/>
          </a:xfrm>
          <a:custGeom>
            <a:avLst/>
            <a:gdLst/>
            <a:ahLst/>
            <a:cxnLst/>
            <a:rect l="0" t="0" r="0" b="0"/>
            <a:pathLst>
              <a:path w="1536" h="1200">
                <a:moveTo>
                  <a:pt x="0" y="0"/>
                </a:moveTo>
                <a:cubicBezTo>
                  <a:pt x="280" y="600"/>
                  <a:pt x="560" y="1200"/>
                  <a:pt x="816" y="1200"/>
                </a:cubicBezTo>
                <a:cubicBezTo>
                  <a:pt x="1072" y="1200"/>
                  <a:pt x="1304" y="600"/>
                  <a:pt x="1536" y="0"/>
                </a:cubicBezTo>
              </a:path>
            </a:pathLst>
          </a:custGeom>
          <a:noFill/>
          <a:ln w="38100" cap="flat" cmpd="sng">
            <a:solidFill>
              <a:srgbClr val="A50021"/>
            </a:solidFill>
            <a:prstDash val="solid"/>
            <a:round/>
            <a:headEnd type="none" w="med" len="med"/>
            <a:tailEnd type="none" w="med" len="med"/>
          </a:ln>
        </p:spPr>
        <p:txBody>
          <a:bodyPr/>
          <a:lstStyle/>
          <a:p>
            <a:endParaRPr lang="zh-CN" altLang="en-US"/>
          </a:p>
        </p:txBody>
      </p:sp>
      <p:sp>
        <p:nvSpPr>
          <p:cNvPr id="27653" name="文本框 193541"/>
          <p:cNvSpPr txBox="1"/>
          <p:nvPr/>
        </p:nvSpPr>
        <p:spPr>
          <a:xfrm>
            <a:off x="6092825" y="1989138"/>
            <a:ext cx="369888" cy="457200"/>
          </a:xfrm>
          <a:prstGeom prst="rect">
            <a:avLst/>
          </a:prstGeom>
          <a:solidFill>
            <a:schemeClr val="bg1"/>
          </a:solid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27654" name="文本框 193542"/>
          <p:cNvSpPr txBox="1"/>
          <p:nvPr/>
        </p:nvSpPr>
        <p:spPr>
          <a:xfrm>
            <a:off x="7937500" y="4462463"/>
            <a:ext cx="336550" cy="457200"/>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k</a:t>
            </a:r>
          </a:p>
        </p:txBody>
      </p:sp>
      <p:sp>
        <p:nvSpPr>
          <p:cNvPr id="27655" name="文本框 193543"/>
          <p:cNvSpPr txBox="1"/>
          <p:nvPr/>
        </p:nvSpPr>
        <p:spPr>
          <a:xfrm>
            <a:off x="6413500" y="4462463"/>
            <a:ext cx="473075" cy="457200"/>
          </a:xfrm>
          <a:prstGeom prst="rect">
            <a:avLst/>
          </a:prstGeom>
          <a:noFill/>
          <a:ln w="9525">
            <a:noFill/>
          </a:ln>
        </p:spPr>
        <p:txBody>
          <a:bodyPr anchor="t" anchorCtr="0">
            <a:spAutoFit/>
          </a:bodyPr>
          <a:lstStyle/>
          <a:p>
            <a:r>
              <a:rPr lang="en-US" altLang="zh-CN" sz="2400">
                <a:latin typeface="Times New Roman" panose="02020603050405020304" pitchFamily="18" charset="0"/>
                <a:ea typeface="宋体" panose="02010600030101010101" pitchFamily="2" charset="-122"/>
              </a:rPr>
              <a:t>0</a:t>
            </a:r>
          </a:p>
        </p:txBody>
      </p:sp>
      <p:sp>
        <p:nvSpPr>
          <p:cNvPr id="27656" name="矩形 193544"/>
          <p:cNvSpPr/>
          <p:nvPr/>
        </p:nvSpPr>
        <p:spPr>
          <a:xfrm>
            <a:off x="827088" y="2565400"/>
            <a:ext cx="2287587" cy="701675"/>
          </a:xfrm>
          <a:prstGeom prst="rect">
            <a:avLst/>
          </a:prstGeom>
          <a:noFill/>
          <a:ln w="9525">
            <a:noFill/>
          </a:ln>
        </p:spPr>
        <p:txBody>
          <a:bodyPr wrap="none" anchor="ctr" anchorCtr="0">
            <a:spAutoFit/>
          </a:bodyPr>
          <a:lstStyle/>
          <a:p>
            <a:r>
              <a:rPr lang="zh-CN" altLang="en-US" sz="4000" b="1" dirty="0">
                <a:latin typeface="Times New Roman" panose="02020603050405020304" pitchFamily="18" charset="0"/>
                <a:ea typeface="宋体" panose="02010600030101010101" pitchFamily="2" charset="-122"/>
              </a:rPr>
              <a:t>能量 </a:t>
            </a:r>
            <a:r>
              <a:rPr lang="en-US" altLang="zh-CN" sz="4000" b="1" err="1">
                <a:latin typeface="Times New Roman" panose="02020603050405020304" pitchFamily="18" charset="0"/>
                <a:ea typeface="宋体" panose="02010600030101010101" pitchFamily="2" charset="-122"/>
              </a:rPr>
              <a:t>E(k</a:t>
            </a:r>
            <a:r>
              <a:rPr lang="en-US" altLang="zh-CN" sz="4000" b="1">
                <a:latin typeface="Times New Roman" panose="02020603050405020304" pitchFamily="18" charset="0"/>
                <a:ea typeface="宋体" panose="02010600030101010101" pitchFamily="2" charset="-122"/>
              </a:rPr>
              <a:t>)</a:t>
            </a:r>
          </a:p>
        </p:txBody>
      </p:sp>
      <p:graphicFrame>
        <p:nvGraphicFramePr>
          <p:cNvPr id="27657" name="对象 193545"/>
          <p:cNvGraphicFramePr/>
          <p:nvPr/>
        </p:nvGraphicFramePr>
        <p:xfrm>
          <a:off x="827088" y="4005263"/>
          <a:ext cx="3527425" cy="1379537"/>
        </p:xfrm>
        <a:graphic>
          <a:graphicData uri="http://schemas.openxmlformats.org/presentationml/2006/ole">
            <mc:AlternateContent xmlns:mc="http://schemas.openxmlformats.org/markup-compatibility/2006">
              <mc:Choice xmlns:v="urn:schemas-microsoft-com:vml" Requires="v">
                <p:oleObj r:id="rId2" imgW="1168400" imgH="457200" progId="Equation.DSMT4">
                  <p:embed/>
                </p:oleObj>
              </mc:Choice>
              <mc:Fallback>
                <p:oleObj r:id="rId2" imgW="1168400" imgH="457200" progId="Equation.DSMT4">
                  <p:embed/>
                  <p:pic>
                    <p:nvPicPr>
                      <p:cNvPr id="0" name="图片 3172"/>
                      <p:cNvPicPr/>
                      <p:nvPr/>
                    </p:nvPicPr>
                    <p:blipFill>
                      <a:blip r:embed="rId3"/>
                      <a:stretch>
                        <a:fillRect/>
                      </a:stretch>
                    </p:blipFill>
                    <p:spPr>
                      <a:xfrm>
                        <a:off x="827088" y="4005263"/>
                        <a:ext cx="3527425" cy="1379537"/>
                      </a:xfrm>
                      <a:prstGeom prst="rect">
                        <a:avLst/>
                      </a:prstGeom>
                      <a:noFill/>
                      <a:ln w="38100">
                        <a:noFill/>
                        <a:miter/>
                      </a:ln>
                    </p:spPr>
                  </p:pic>
                </p:oleObj>
              </mc:Fallback>
            </mc:AlternateContent>
          </a:graphicData>
        </a:graphic>
      </p:graphicFrame>
      <p:graphicFrame>
        <p:nvGraphicFramePr>
          <p:cNvPr id="27658" name="对象 193546"/>
          <p:cNvGraphicFramePr/>
          <p:nvPr/>
        </p:nvGraphicFramePr>
        <p:xfrm>
          <a:off x="539750" y="692150"/>
          <a:ext cx="5327650" cy="1381125"/>
        </p:xfrm>
        <a:graphic>
          <a:graphicData uri="http://schemas.openxmlformats.org/presentationml/2006/ole">
            <mc:AlternateContent xmlns:mc="http://schemas.openxmlformats.org/markup-compatibility/2006">
              <mc:Choice xmlns:v="urn:schemas-microsoft-com:vml" Requires="v">
                <p:oleObj r:id="rId4" imgW="1599565" imgH="482600" progId="Equation.DSMT4">
                  <p:embed/>
                </p:oleObj>
              </mc:Choice>
              <mc:Fallback>
                <p:oleObj r:id="rId4" imgW="1599565" imgH="482600" progId="Equation.DSMT4">
                  <p:embed/>
                  <p:pic>
                    <p:nvPicPr>
                      <p:cNvPr id="0" name="图片 3173"/>
                      <p:cNvPicPr/>
                      <p:nvPr/>
                    </p:nvPicPr>
                    <p:blipFill>
                      <a:blip r:embed="rId5"/>
                      <a:stretch>
                        <a:fillRect/>
                      </a:stretch>
                    </p:blipFill>
                    <p:spPr>
                      <a:xfrm>
                        <a:off x="539750" y="692150"/>
                        <a:ext cx="5327650" cy="1381125"/>
                      </a:xfrm>
                      <a:prstGeom prst="rect">
                        <a:avLst/>
                      </a:prstGeom>
                      <a:solidFill>
                        <a:srgbClr val="CCFFFF"/>
                      </a:solidFill>
                      <a:ln w="9525" cap="flat" cmpd="sng">
                        <a:solidFill>
                          <a:srgbClr val="FF0000"/>
                        </a:solidFill>
                        <a:prstDash val="solid"/>
                        <a:miter/>
                        <a:headEnd type="none" w="med" len="med"/>
                        <a:tailEnd type="none" w="med" len="med"/>
                      </a:ln>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481013" y="1760538"/>
            <a:ext cx="8110538" cy="4981575"/>
          </a:xfrm>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a:t>
            </a:r>
            <a:r>
              <a:rPr kumimoji="1" lang="en-US" altLang="zh-CN"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1</a:t>
            </a:r>
            <a:r>
              <a:rPr kumimoji="1" lang="zh-CN" altLang="en-US"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）电子的运动方程</a:t>
            </a:r>
            <a:endParaRPr kumimoji="1" lang="en-US" altLang="zh-CN"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单电子近似认为，电子与原子的作用相当于电子在原子的势场中运动。周期性的原子排列产生了周期性的势场。在一维晶格中，</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x</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处的势能为： </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电子所满足的波函数为布洛赫波函数</a:t>
            </a:r>
            <a:r>
              <a:rPr kumimoji="1" lang="zh-CN" altLang="en-US" sz="3200" b="0" i="0" u="none" strike="noStrike" kern="0" cap="none" spc="0" normalizeH="0" baseline="0" noProof="0" dirty="0">
                <a:ln>
                  <a:noFill/>
                </a:ln>
                <a:solidFill>
                  <a:schemeClr val="tx1"/>
                </a:solidFill>
                <a:effectLst/>
                <a:uLnTx/>
                <a:uFillTx/>
                <a:latin typeface="+mn-lt"/>
                <a:ea typeface="+mn-ea"/>
                <a:cs typeface="+mn-cs"/>
              </a:rPr>
              <a:t>：</a:t>
            </a: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平面波函数，空间各点出现的几率相同，共有化。</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为周期函数，反映电子在每个原子附近的运动情况。</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zh-CN" altLang="en-US" sz="2400" b="0" i="0" u="none" strike="noStrike" kern="0" cap="none" spc="0" normalizeH="0" baseline="0" noProof="0" dirty="0">
              <a:ln>
                <a:noFill/>
              </a:ln>
              <a:solidFill>
                <a:schemeClr val="tx1"/>
              </a:solidFill>
              <a:effectLst/>
              <a:uLnTx/>
              <a:uFillTx/>
              <a:latin typeface="+mn-lt"/>
              <a:ea typeface="+mn-ea"/>
              <a:cs typeface="+mn-cs"/>
            </a:endParaRPr>
          </a:p>
        </p:txBody>
      </p:sp>
      <p:graphicFrame>
        <p:nvGraphicFramePr>
          <p:cNvPr id="24578" name="Object 6"/>
          <p:cNvGraphicFramePr>
            <a:graphicFrameLocks noChangeAspect="1"/>
          </p:cNvGraphicFramePr>
          <p:nvPr/>
        </p:nvGraphicFramePr>
        <p:xfrm>
          <a:off x="3059113" y="3294063"/>
          <a:ext cx="2819400" cy="635000"/>
        </p:xfrm>
        <a:graphic>
          <a:graphicData uri="http://schemas.openxmlformats.org/presentationml/2006/ole">
            <mc:AlternateContent xmlns:mc="http://schemas.openxmlformats.org/markup-compatibility/2006">
              <mc:Choice xmlns:v="urn:schemas-microsoft-com:vml" Requires="v">
                <p:oleObj r:id="rId2" imgW="1066165" imgH="203200" progId="Equation.3">
                  <p:embed/>
                </p:oleObj>
              </mc:Choice>
              <mc:Fallback>
                <p:oleObj r:id="rId2" imgW="1066165" imgH="203200" progId="Equation.3">
                  <p:embed/>
                  <p:pic>
                    <p:nvPicPr>
                      <p:cNvPr id="0" name="图片 3081"/>
                      <p:cNvPicPr/>
                      <p:nvPr/>
                    </p:nvPicPr>
                    <p:blipFill>
                      <a:blip r:embed="rId3"/>
                      <a:stretch>
                        <a:fillRect/>
                      </a:stretch>
                    </p:blipFill>
                    <p:spPr>
                      <a:xfrm>
                        <a:off x="3059113" y="3294063"/>
                        <a:ext cx="2819400" cy="635000"/>
                      </a:xfrm>
                      <a:prstGeom prst="rect">
                        <a:avLst/>
                      </a:prstGeom>
                      <a:noFill/>
                      <a:ln w="38100">
                        <a:noFill/>
                        <a:miter/>
                      </a:ln>
                    </p:spPr>
                  </p:pic>
                </p:oleObj>
              </mc:Fallback>
            </mc:AlternateContent>
          </a:graphicData>
        </a:graphic>
      </p:graphicFrame>
      <p:graphicFrame>
        <p:nvGraphicFramePr>
          <p:cNvPr id="24579" name="Object 8"/>
          <p:cNvGraphicFramePr>
            <a:graphicFrameLocks noChangeAspect="1"/>
          </p:cNvGraphicFramePr>
          <p:nvPr/>
        </p:nvGraphicFramePr>
        <p:xfrm>
          <a:off x="5695950" y="3716338"/>
          <a:ext cx="2952750" cy="793750"/>
        </p:xfrm>
        <a:graphic>
          <a:graphicData uri="http://schemas.openxmlformats.org/presentationml/2006/ole">
            <mc:AlternateContent xmlns:mc="http://schemas.openxmlformats.org/markup-compatibility/2006">
              <mc:Choice xmlns:v="urn:schemas-microsoft-com:vml" Requires="v">
                <p:oleObj r:id="rId4" imgW="1116965" imgH="254000" progId="Equation.3">
                  <p:embed/>
                </p:oleObj>
              </mc:Choice>
              <mc:Fallback>
                <p:oleObj r:id="rId4" imgW="1116965" imgH="254000" progId="Equation.3">
                  <p:embed/>
                  <p:pic>
                    <p:nvPicPr>
                      <p:cNvPr id="0" name="图片 3084"/>
                      <p:cNvPicPr/>
                      <p:nvPr/>
                    </p:nvPicPr>
                    <p:blipFill>
                      <a:blip r:embed="rId5"/>
                      <a:stretch>
                        <a:fillRect/>
                      </a:stretch>
                    </p:blipFill>
                    <p:spPr>
                      <a:xfrm>
                        <a:off x="5695950" y="3716338"/>
                        <a:ext cx="2952750" cy="793750"/>
                      </a:xfrm>
                      <a:prstGeom prst="rect">
                        <a:avLst/>
                      </a:prstGeom>
                      <a:noFill/>
                      <a:ln w="38100">
                        <a:noFill/>
                        <a:miter/>
                      </a:ln>
                    </p:spPr>
                  </p:pic>
                </p:oleObj>
              </mc:Fallback>
            </mc:AlternateContent>
          </a:graphicData>
        </a:graphic>
      </p:graphicFrame>
      <p:graphicFrame>
        <p:nvGraphicFramePr>
          <p:cNvPr id="24580" name="Object 10"/>
          <p:cNvGraphicFramePr>
            <a:graphicFrameLocks noChangeAspect="1"/>
          </p:cNvGraphicFramePr>
          <p:nvPr/>
        </p:nvGraphicFramePr>
        <p:xfrm>
          <a:off x="552450" y="4797425"/>
          <a:ext cx="2333625" cy="546100"/>
        </p:xfrm>
        <a:graphic>
          <a:graphicData uri="http://schemas.openxmlformats.org/presentationml/2006/ole">
            <mc:AlternateContent xmlns:mc="http://schemas.openxmlformats.org/markup-compatibility/2006">
              <mc:Choice xmlns:v="urn:schemas-microsoft-com:vml" Requires="v">
                <p:oleObj r:id="rId6" imgW="1155700" imgH="228600" progId="Equation.3">
                  <p:embed/>
                </p:oleObj>
              </mc:Choice>
              <mc:Fallback>
                <p:oleObj r:id="rId6" imgW="1155700" imgH="228600" progId="Equation.3">
                  <p:embed/>
                  <p:pic>
                    <p:nvPicPr>
                      <p:cNvPr id="0" name="图片 3086"/>
                      <p:cNvPicPr/>
                      <p:nvPr/>
                    </p:nvPicPr>
                    <p:blipFill>
                      <a:blip r:embed="rId7"/>
                      <a:stretch>
                        <a:fillRect/>
                      </a:stretch>
                    </p:blipFill>
                    <p:spPr>
                      <a:xfrm>
                        <a:off x="552450" y="4797425"/>
                        <a:ext cx="2333625" cy="546100"/>
                      </a:xfrm>
                      <a:prstGeom prst="rect">
                        <a:avLst/>
                      </a:prstGeom>
                      <a:noFill/>
                      <a:ln w="38100">
                        <a:noFill/>
                        <a:miter/>
                      </a:ln>
                    </p:spPr>
                  </p:pic>
                </p:oleObj>
              </mc:Fallback>
            </mc:AlternateContent>
          </a:graphicData>
        </a:graphic>
      </p:graphicFrame>
      <p:graphicFrame>
        <p:nvGraphicFramePr>
          <p:cNvPr id="24581" name="Object 12"/>
          <p:cNvGraphicFramePr>
            <a:graphicFrameLocks noChangeAspect="1"/>
          </p:cNvGraphicFramePr>
          <p:nvPr/>
        </p:nvGraphicFramePr>
        <p:xfrm>
          <a:off x="552450" y="4273550"/>
          <a:ext cx="1143000" cy="601663"/>
        </p:xfrm>
        <a:graphic>
          <a:graphicData uri="http://schemas.openxmlformats.org/presentationml/2006/ole">
            <mc:AlternateContent xmlns:mc="http://schemas.openxmlformats.org/markup-compatibility/2006">
              <mc:Choice xmlns:v="urn:schemas-microsoft-com:vml" Requires="v">
                <p:oleObj r:id="rId8" imgW="355600" imgH="215900" progId="Equation.3">
                  <p:embed/>
                </p:oleObj>
              </mc:Choice>
              <mc:Fallback>
                <p:oleObj r:id="rId8" imgW="355600" imgH="215900" progId="Equation.3">
                  <p:embed/>
                  <p:pic>
                    <p:nvPicPr>
                      <p:cNvPr id="0" name="图片 3083"/>
                      <p:cNvPicPr/>
                      <p:nvPr/>
                    </p:nvPicPr>
                    <p:blipFill>
                      <a:blip r:embed="rId9"/>
                      <a:stretch>
                        <a:fillRect/>
                      </a:stretch>
                    </p:blipFill>
                    <p:spPr>
                      <a:xfrm>
                        <a:off x="552450" y="4273550"/>
                        <a:ext cx="1143000" cy="601663"/>
                      </a:xfrm>
                      <a:prstGeom prst="rect">
                        <a:avLst/>
                      </a:prstGeom>
                      <a:noFill/>
                      <a:ln w="38100">
                        <a:noFill/>
                        <a:miter/>
                      </a:ln>
                    </p:spPr>
                  </p:pic>
                </p:oleObj>
              </mc:Fallback>
            </mc:AlternateContent>
          </a:graphicData>
        </a:graphic>
      </p:graphicFrame>
      <p:sp>
        <p:nvSpPr>
          <p:cNvPr id="24582"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2</a:t>
            </a:r>
            <a:r>
              <a:rPr lang="zh-CN" altLang="en-US" dirty="0">
                <a:latin typeface="华文新魏" panose="02010800040101010101" pitchFamily="2" charset="-122"/>
                <a:ea typeface="华文新魏" panose="02010800040101010101" pitchFamily="2" charset="-122"/>
              </a:rPr>
              <a:t>  半导体中的电子状态和能带</a:t>
            </a:r>
          </a:p>
        </p:txBody>
      </p:sp>
      <mc:AlternateContent xmlns:mc="http://schemas.openxmlformats.org/markup-compatibility/2006" xmlns:p14="http://schemas.microsoft.com/office/powerpoint/2010/main">
        <mc:Choice Requires="p14">
          <p:contentPart p14:bwMode="auto" r:id="rId10">
            <p14:nvContentPartPr>
              <p14:cNvPr id="2" name="墨迹 1">
                <a:extLst>
                  <a:ext uri="{FF2B5EF4-FFF2-40B4-BE49-F238E27FC236}">
                    <a16:creationId xmlns:a16="http://schemas.microsoft.com/office/drawing/2014/main" id="{FEA80804-0EFF-C5B6-08BE-0D74002E2078}"/>
                  </a:ext>
                </a:extLst>
              </p14:cNvPr>
              <p14:cNvContentPartPr/>
              <p14:nvPr/>
            </p14:nvContentPartPr>
            <p14:xfrm>
              <a:off x="2752312" y="2611173"/>
              <a:ext cx="4537800" cy="181080"/>
            </p14:xfrm>
          </p:contentPart>
        </mc:Choice>
        <mc:Fallback xmlns="">
          <p:pic>
            <p:nvPicPr>
              <p:cNvPr id="2" name="墨迹 1">
                <a:extLst>
                  <a:ext uri="{FF2B5EF4-FFF2-40B4-BE49-F238E27FC236}">
                    <a16:creationId xmlns:a16="http://schemas.microsoft.com/office/drawing/2014/main" id="{FEA80804-0EFF-C5B6-08BE-0D74002E2078}"/>
                  </a:ext>
                </a:extLst>
              </p:cNvPr>
              <p:cNvPicPr/>
              <p:nvPr/>
            </p:nvPicPr>
            <p:blipFill>
              <a:blip r:embed="rId11"/>
              <a:stretch>
                <a:fillRect/>
              </a:stretch>
            </p:blipFill>
            <p:spPr>
              <a:xfrm>
                <a:off x="2698672" y="2503533"/>
                <a:ext cx="464544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墨迹 2">
                <a:extLst>
                  <a:ext uri="{FF2B5EF4-FFF2-40B4-BE49-F238E27FC236}">
                    <a16:creationId xmlns:a16="http://schemas.microsoft.com/office/drawing/2014/main" id="{4103B5ED-CCA6-7E46-47FE-F1C81D58C174}"/>
                  </a:ext>
                </a:extLst>
              </p14:cNvPr>
              <p14:cNvContentPartPr/>
              <p14:nvPr/>
            </p14:nvContentPartPr>
            <p14:xfrm>
              <a:off x="677992" y="2979813"/>
              <a:ext cx="1284480" cy="98280"/>
            </p14:xfrm>
          </p:contentPart>
        </mc:Choice>
        <mc:Fallback xmlns="">
          <p:pic>
            <p:nvPicPr>
              <p:cNvPr id="3" name="墨迹 2">
                <a:extLst>
                  <a:ext uri="{FF2B5EF4-FFF2-40B4-BE49-F238E27FC236}">
                    <a16:creationId xmlns:a16="http://schemas.microsoft.com/office/drawing/2014/main" id="{4103B5ED-CCA6-7E46-47FE-F1C81D58C174}"/>
                  </a:ext>
                </a:extLst>
              </p:cNvPr>
              <p:cNvPicPr/>
              <p:nvPr/>
            </p:nvPicPr>
            <p:blipFill>
              <a:blip r:embed="rId13"/>
              <a:stretch>
                <a:fillRect/>
              </a:stretch>
            </p:blipFill>
            <p:spPr>
              <a:xfrm>
                <a:off x="623992" y="2871813"/>
                <a:ext cx="139212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A28FCA1F-4F0C-B11D-821E-EF2532B1D908}"/>
                  </a:ext>
                </a:extLst>
              </p14:cNvPr>
              <p14:cNvContentPartPr/>
              <p14:nvPr/>
            </p14:nvContentPartPr>
            <p14:xfrm>
              <a:off x="3588592" y="3990693"/>
              <a:ext cx="1563120" cy="187920"/>
            </p14:xfrm>
          </p:contentPart>
        </mc:Choice>
        <mc:Fallback xmlns="">
          <p:pic>
            <p:nvPicPr>
              <p:cNvPr id="4" name="墨迹 3">
                <a:extLst>
                  <a:ext uri="{FF2B5EF4-FFF2-40B4-BE49-F238E27FC236}">
                    <a16:creationId xmlns:a16="http://schemas.microsoft.com/office/drawing/2014/main" id="{A28FCA1F-4F0C-B11D-821E-EF2532B1D908}"/>
                  </a:ext>
                </a:extLst>
              </p:cNvPr>
              <p:cNvPicPr/>
              <p:nvPr/>
            </p:nvPicPr>
            <p:blipFill>
              <a:blip r:embed="rId15"/>
              <a:stretch>
                <a:fillRect/>
              </a:stretch>
            </p:blipFill>
            <p:spPr>
              <a:xfrm>
                <a:off x="3534952" y="3882693"/>
                <a:ext cx="167076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墨迹 4">
                <a:extLst>
                  <a:ext uri="{FF2B5EF4-FFF2-40B4-BE49-F238E27FC236}">
                    <a16:creationId xmlns:a16="http://schemas.microsoft.com/office/drawing/2014/main" id="{C94C1C04-1FB2-AFA2-2743-93F5AB59CA81}"/>
                  </a:ext>
                </a:extLst>
              </p14:cNvPr>
              <p14:cNvContentPartPr/>
              <p14:nvPr/>
            </p14:nvContentPartPr>
            <p14:xfrm>
              <a:off x="1494112" y="4817613"/>
              <a:ext cx="5259960" cy="393480"/>
            </p14:xfrm>
          </p:contentPart>
        </mc:Choice>
        <mc:Fallback xmlns="">
          <p:pic>
            <p:nvPicPr>
              <p:cNvPr id="5" name="墨迹 4">
                <a:extLst>
                  <a:ext uri="{FF2B5EF4-FFF2-40B4-BE49-F238E27FC236}">
                    <a16:creationId xmlns:a16="http://schemas.microsoft.com/office/drawing/2014/main" id="{C94C1C04-1FB2-AFA2-2743-93F5AB59CA81}"/>
                  </a:ext>
                </a:extLst>
              </p:cNvPr>
              <p:cNvPicPr/>
              <p:nvPr/>
            </p:nvPicPr>
            <p:blipFill>
              <a:blip r:embed="rId17"/>
              <a:stretch>
                <a:fillRect/>
              </a:stretch>
            </p:blipFill>
            <p:spPr>
              <a:xfrm>
                <a:off x="1440112" y="4709973"/>
                <a:ext cx="5367600" cy="609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 name="墨迹 5">
                <a:extLst>
                  <a:ext uri="{FF2B5EF4-FFF2-40B4-BE49-F238E27FC236}">
                    <a16:creationId xmlns:a16="http://schemas.microsoft.com/office/drawing/2014/main" id="{15186ABB-A261-53F3-577E-8C804435E533}"/>
                  </a:ext>
                </a:extLst>
              </p14:cNvPr>
              <p14:cNvContentPartPr/>
              <p14:nvPr/>
            </p14:nvContentPartPr>
            <p14:xfrm>
              <a:off x="1061752" y="5751453"/>
              <a:ext cx="554400" cy="360"/>
            </p14:xfrm>
          </p:contentPart>
        </mc:Choice>
        <mc:Fallback xmlns="">
          <p:pic>
            <p:nvPicPr>
              <p:cNvPr id="6" name="墨迹 5">
                <a:extLst>
                  <a:ext uri="{FF2B5EF4-FFF2-40B4-BE49-F238E27FC236}">
                    <a16:creationId xmlns:a16="http://schemas.microsoft.com/office/drawing/2014/main" id="{15186ABB-A261-53F3-577E-8C804435E533}"/>
                  </a:ext>
                </a:extLst>
              </p:cNvPr>
              <p:cNvPicPr/>
              <p:nvPr/>
            </p:nvPicPr>
            <p:blipFill>
              <a:blip r:embed="rId19"/>
              <a:stretch>
                <a:fillRect/>
              </a:stretch>
            </p:blipFill>
            <p:spPr>
              <a:xfrm>
                <a:off x="1007752" y="5643813"/>
                <a:ext cx="662040" cy="216000"/>
              </a:xfrm>
              <a:prstGeom prst="rect">
                <a:avLst/>
              </a:prstGeom>
            </p:spPr>
          </p:pic>
        </mc:Fallback>
      </mc:AlternateContent>
      <p:grpSp>
        <p:nvGrpSpPr>
          <p:cNvPr id="14" name="组合 13">
            <a:extLst>
              <a:ext uri="{FF2B5EF4-FFF2-40B4-BE49-F238E27FC236}">
                <a16:creationId xmlns:a16="http://schemas.microsoft.com/office/drawing/2014/main" id="{A562A0AC-7350-2185-72A9-C4FD11CEC547}"/>
              </a:ext>
            </a:extLst>
          </p:cNvPr>
          <p:cNvGrpSpPr/>
          <p:nvPr/>
        </p:nvGrpSpPr>
        <p:grpSpPr>
          <a:xfrm>
            <a:off x="1248232" y="2935173"/>
            <a:ext cx="8375400" cy="2948760"/>
            <a:chOff x="1248232" y="2935173"/>
            <a:chExt cx="8375400" cy="2948760"/>
          </a:xfrm>
        </p:grpSpPr>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7" name="墨迹 6">
                  <a:extLst>
                    <a:ext uri="{FF2B5EF4-FFF2-40B4-BE49-F238E27FC236}">
                      <a16:creationId xmlns:a16="http://schemas.microsoft.com/office/drawing/2014/main" id="{04B65079-24A6-95C8-8309-8A44D1B5812E}"/>
                    </a:ext>
                  </a:extLst>
                </p14:cNvPr>
                <p14:cNvContentPartPr/>
                <p14:nvPr/>
              </p14:nvContentPartPr>
              <p14:xfrm>
                <a:off x="1579432" y="3391653"/>
                <a:ext cx="1493640" cy="2420640"/>
              </p14:xfrm>
            </p:contentPart>
          </mc:Choice>
          <mc:Fallback xmlns="">
            <p:pic>
              <p:nvPicPr>
                <p:cNvPr id="7" name="墨迹 6">
                  <a:extLst>
                    <a:ext uri="{FF2B5EF4-FFF2-40B4-BE49-F238E27FC236}">
                      <a16:creationId xmlns:a16="http://schemas.microsoft.com/office/drawing/2014/main" id="{04B65079-24A6-95C8-8309-8A44D1B5812E}"/>
                    </a:ext>
                  </a:extLst>
                </p:cNvPr>
                <p:cNvPicPr/>
                <p:nvPr/>
              </p:nvPicPr>
              <p:blipFill>
                <a:blip r:embed="rId21"/>
                <a:stretch>
                  <a:fillRect/>
                </a:stretch>
              </p:blipFill>
              <p:spPr>
                <a:xfrm>
                  <a:off x="1561432" y="3374013"/>
                  <a:ext cx="1529280" cy="2456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8" name="墨迹 7">
                  <a:extLst>
                    <a:ext uri="{FF2B5EF4-FFF2-40B4-BE49-F238E27FC236}">
                      <a16:creationId xmlns:a16="http://schemas.microsoft.com/office/drawing/2014/main" id="{564446DC-902E-0623-2449-75E54FBE110F}"/>
                    </a:ext>
                  </a:extLst>
                </p14:cNvPr>
                <p14:cNvContentPartPr/>
                <p14:nvPr/>
              </p14:nvContentPartPr>
              <p14:xfrm>
                <a:off x="1285672" y="4080333"/>
                <a:ext cx="1408320" cy="1216080"/>
              </p14:xfrm>
            </p:contentPart>
          </mc:Choice>
          <mc:Fallback xmlns="">
            <p:pic>
              <p:nvPicPr>
                <p:cNvPr id="8" name="墨迹 7">
                  <a:extLst>
                    <a:ext uri="{FF2B5EF4-FFF2-40B4-BE49-F238E27FC236}">
                      <a16:creationId xmlns:a16="http://schemas.microsoft.com/office/drawing/2014/main" id="{564446DC-902E-0623-2449-75E54FBE110F}"/>
                    </a:ext>
                  </a:extLst>
                </p:cNvPr>
                <p:cNvPicPr/>
                <p:nvPr/>
              </p:nvPicPr>
              <p:blipFill>
                <a:blip r:embed="rId23"/>
                <a:stretch>
                  <a:fillRect/>
                </a:stretch>
              </p:blipFill>
              <p:spPr>
                <a:xfrm>
                  <a:off x="1267672" y="4062333"/>
                  <a:ext cx="1443960" cy="1251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9" name="墨迹 8">
                  <a:extLst>
                    <a:ext uri="{FF2B5EF4-FFF2-40B4-BE49-F238E27FC236}">
                      <a16:creationId xmlns:a16="http://schemas.microsoft.com/office/drawing/2014/main" id="{4AFE5389-343B-2181-14FF-A0F60996D9C8}"/>
                    </a:ext>
                  </a:extLst>
                </p14:cNvPr>
                <p14:cNvContentPartPr/>
                <p14:nvPr/>
              </p14:nvContentPartPr>
              <p14:xfrm>
                <a:off x="1248232" y="4119933"/>
                <a:ext cx="1861920" cy="628920"/>
              </p14:xfrm>
            </p:contentPart>
          </mc:Choice>
          <mc:Fallback xmlns="">
            <p:pic>
              <p:nvPicPr>
                <p:cNvPr id="9" name="墨迹 8">
                  <a:extLst>
                    <a:ext uri="{FF2B5EF4-FFF2-40B4-BE49-F238E27FC236}">
                      <a16:creationId xmlns:a16="http://schemas.microsoft.com/office/drawing/2014/main" id="{4AFE5389-343B-2181-14FF-A0F60996D9C8}"/>
                    </a:ext>
                  </a:extLst>
                </p:cNvPr>
                <p:cNvPicPr/>
                <p:nvPr/>
              </p:nvPicPr>
              <p:blipFill>
                <a:blip r:embed="rId25"/>
                <a:stretch>
                  <a:fillRect/>
                </a:stretch>
              </p:blipFill>
              <p:spPr>
                <a:xfrm>
                  <a:off x="1230592" y="4102293"/>
                  <a:ext cx="1897560" cy="664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10" name="墨迹 9">
                  <a:extLst>
                    <a:ext uri="{FF2B5EF4-FFF2-40B4-BE49-F238E27FC236}">
                      <a16:creationId xmlns:a16="http://schemas.microsoft.com/office/drawing/2014/main" id="{3D4B71E4-D6DF-CD3F-98BE-708441EC6554}"/>
                    </a:ext>
                  </a:extLst>
                </p14:cNvPr>
                <p14:cNvContentPartPr/>
                <p14:nvPr/>
              </p14:nvContentPartPr>
              <p14:xfrm>
                <a:off x="2552152" y="3479133"/>
                <a:ext cx="1379520" cy="2404800"/>
              </p14:xfrm>
            </p:contentPart>
          </mc:Choice>
          <mc:Fallback xmlns="">
            <p:pic>
              <p:nvPicPr>
                <p:cNvPr id="10" name="墨迹 9">
                  <a:extLst>
                    <a:ext uri="{FF2B5EF4-FFF2-40B4-BE49-F238E27FC236}">
                      <a16:creationId xmlns:a16="http://schemas.microsoft.com/office/drawing/2014/main" id="{3D4B71E4-D6DF-CD3F-98BE-708441EC6554}"/>
                    </a:ext>
                  </a:extLst>
                </p:cNvPr>
                <p:cNvPicPr/>
                <p:nvPr/>
              </p:nvPicPr>
              <p:blipFill>
                <a:blip r:embed="rId27"/>
                <a:stretch>
                  <a:fillRect/>
                </a:stretch>
              </p:blipFill>
              <p:spPr>
                <a:xfrm>
                  <a:off x="2534152" y="3461133"/>
                  <a:ext cx="1415160" cy="2440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11" name="墨迹 10">
                  <a:extLst>
                    <a:ext uri="{FF2B5EF4-FFF2-40B4-BE49-F238E27FC236}">
                      <a16:creationId xmlns:a16="http://schemas.microsoft.com/office/drawing/2014/main" id="{65FC8E2D-D800-4BE2-15A0-F27A57BC1877}"/>
                    </a:ext>
                  </a:extLst>
                </p14:cNvPr>
                <p14:cNvContentPartPr/>
                <p14:nvPr/>
              </p14:nvContentPartPr>
              <p14:xfrm>
                <a:off x="3637192" y="3633573"/>
                <a:ext cx="3797640" cy="1037160"/>
              </p14:xfrm>
            </p:contentPart>
          </mc:Choice>
          <mc:Fallback xmlns="">
            <p:pic>
              <p:nvPicPr>
                <p:cNvPr id="11" name="墨迹 10">
                  <a:extLst>
                    <a:ext uri="{FF2B5EF4-FFF2-40B4-BE49-F238E27FC236}">
                      <a16:creationId xmlns:a16="http://schemas.microsoft.com/office/drawing/2014/main" id="{65FC8E2D-D800-4BE2-15A0-F27A57BC1877}"/>
                    </a:ext>
                  </a:extLst>
                </p:cNvPr>
                <p:cNvPicPr/>
                <p:nvPr/>
              </p:nvPicPr>
              <p:blipFill>
                <a:blip r:embed="rId29"/>
                <a:stretch>
                  <a:fillRect/>
                </a:stretch>
              </p:blipFill>
              <p:spPr>
                <a:xfrm>
                  <a:off x="3619552" y="3615573"/>
                  <a:ext cx="3833280" cy="1072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12" name="墨迹 11">
                  <a:extLst>
                    <a:ext uri="{FF2B5EF4-FFF2-40B4-BE49-F238E27FC236}">
                      <a16:creationId xmlns:a16="http://schemas.microsoft.com/office/drawing/2014/main" id="{B73B92B0-E0E0-0B26-E734-8AD16EA0F7B6}"/>
                    </a:ext>
                  </a:extLst>
                </p14:cNvPr>
                <p14:cNvContentPartPr/>
                <p14:nvPr/>
              </p14:nvContentPartPr>
              <p14:xfrm>
                <a:off x="5286712" y="3233613"/>
                <a:ext cx="1911960" cy="2595960"/>
              </p14:xfrm>
            </p:contentPart>
          </mc:Choice>
          <mc:Fallback xmlns="">
            <p:pic>
              <p:nvPicPr>
                <p:cNvPr id="12" name="墨迹 11">
                  <a:extLst>
                    <a:ext uri="{FF2B5EF4-FFF2-40B4-BE49-F238E27FC236}">
                      <a16:creationId xmlns:a16="http://schemas.microsoft.com/office/drawing/2014/main" id="{B73B92B0-E0E0-0B26-E734-8AD16EA0F7B6}"/>
                    </a:ext>
                  </a:extLst>
                </p:cNvPr>
                <p:cNvPicPr/>
                <p:nvPr/>
              </p:nvPicPr>
              <p:blipFill>
                <a:blip r:embed="rId31"/>
                <a:stretch>
                  <a:fillRect/>
                </a:stretch>
              </p:blipFill>
              <p:spPr>
                <a:xfrm>
                  <a:off x="5269072" y="3215613"/>
                  <a:ext cx="1947600" cy="2631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13" name="墨迹 12">
                  <a:extLst>
                    <a:ext uri="{FF2B5EF4-FFF2-40B4-BE49-F238E27FC236}">
                      <a16:creationId xmlns:a16="http://schemas.microsoft.com/office/drawing/2014/main" id="{52A4D1AC-8B7F-12C7-B35F-80734A46F202}"/>
                    </a:ext>
                  </a:extLst>
                </p14:cNvPr>
                <p14:cNvContentPartPr/>
                <p14:nvPr/>
              </p14:nvContentPartPr>
              <p14:xfrm>
                <a:off x="7215592" y="2935173"/>
                <a:ext cx="2408040" cy="2684880"/>
              </p14:xfrm>
            </p:contentPart>
          </mc:Choice>
          <mc:Fallback xmlns="">
            <p:pic>
              <p:nvPicPr>
                <p:cNvPr id="13" name="墨迹 12">
                  <a:extLst>
                    <a:ext uri="{FF2B5EF4-FFF2-40B4-BE49-F238E27FC236}">
                      <a16:creationId xmlns:a16="http://schemas.microsoft.com/office/drawing/2014/main" id="{52A4D1AC-8B7F-12C7-B35F-80734A46F202}"/>
                    </a:ext>
                  </a:extLst>
                </p:cNvPr>
                <p:cNvPicPr/>
                <p:nvPr/>
              </p:nvPicPr>
              <p:blipFill>
                <a:blip r:embed="rId33"/>
                <a:stretch>
                  <a:fillRect/>
                </a:stretch>
              </p:blipFill>
              <p:spPr>
                <a:xfrm>
                  <a:off x="7197592" y="2917173"/>
                  <a:ext cx="2443680" cy="2720520"/>
                </a:xfrm>
                <a:prstGeom prst="rect">
                  <a:avLst/>
                </a:prstGeom>
              </p:spPr>
            </p:pic>
          </mc:Fallback>
        </mc:AlternateContent>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444500" y="1773238"/>
            <a:ext cx="8110538" cy="5084763"/>
          </a:xfrm>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a:t>
            </a:r>
            <a:r>
              <a:rPr kumimoji="1" lang="en-US" altLang="zh-CN"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2</a:t>
            </a:r>
            <a:r>
              <a:rPr kumimoji="1" lang="zh-CN" altLang="en-US"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）布里渊区与能带</a:t>
            </a:r>
            <a:endParaRPr kumimoji="1" lang="en-US" altLang="zh-CN" sz="24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运动状态由电子波矢</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k</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的大小和方向确定，求解</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Ε(k)</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与</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k</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的关系，可以得到电子的能量，如图1-10.</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Char char="n"/>
              <a:defRPr/>
            </a:pPr>
            <a:endParaRPr kumimoji="1" lang="zh-CN" altLang="en-US" sz="2800" b="0" i="0" u="none" strike="noStrike" kern="0" cap="none" spc="0" normalizeH="0" baseline="0" noProof="0" dirty="0">
              <a:ln>
                <a:noFill/>
              </a:ln>
              <a:solidFill>
                <a:schemeClr val="tx1"/>
              </a:solidFill>
              <a:effectLst/>
              <a:uLnTx/>
              <a:uFillTx/>
              <a:latin typeface="+mn-lt"/>
              <a:ea typeface="+mn-ea"/>
              <a:cs typeface="+mn-cs"/>
            </a:endParaRPr>
          </a:p>
        </p:txBody>
      </p:sp>
      <p:graphicFrame>
        <p:nvGraphicFramePr>
          <p:cNvPr id="25602" name="Object 5"/>
          <p:cNvGraphicFramePr>
            <a:graphicFrameLocks noChangeAspect="1"/>
          </p:cNvGraphicFramePr>
          <p:nvPr/>
        </p:nvGraphicFramePr>
        <p:xfrm>
          <a:off x="827088" y="3068638"/>
          <a:ext cx="5972175" cy="3690937"/>
        </p:xfrm>
        <a:graphic>
          <a:graphicData uri="http://schemas.openxmlformats.org/presentationml/2006/ole">
            <mc:AlternateContent xmlns:mc="http://schemas.openxmlformats.org/markup-compatibility/2006">
              <mc:Choice xmlns:v="urn:schemas-microsoft-com:vml" Requires="v">
                <p:oleObj r:id="rId2" imgW="9262745" imgH="5394960" progId="图像.文件">
                  <p:embed/>
                </p:oleObj>
              </mc:Choice>
              <mc:Fallback>
                <p:oleObj r:id="rId2" imgW="9262745" imgH="5394960" progId="图像.文件">
                  <p:embed/>
                  <p:pic>
                    <p:nvPicPr>
                      <p:cNvPr id="0" name="图片 3088"/>
                      <p:cNvPicPr/>
                      <p:nvPr/>
                    </p:nvPicPr>
                    <p:blipFill>
                      <a:blip r:embed="rId3"/>
                      <a:stretch>
                        <a:fillRect/>
                      </a:stretch>
                    </p:blipFill>
                    <p:spPr>
                      <a:xfrm>
                        <a:off x="827088" y="3068638"/>
                        <a:ext cx="5972175" cy="3690937"/>
                      </a:xfrm>
                      <a:prstGeom prst="rect">
                        <a:avLst/>
                      </a:prstGeom>
                      <a:noFill/>
                      <a:ln w="38100">
                        <a:noFill/>
                        <a:miter/>
                      </a:ln>
                    </p:spPr>
                  </p:pic>
                </p:oleObj>
              </mc:Fallback>
            </mc:AlternateContent>
          </a:graphicData>
        </a:graphic>
      </p:graphicFrame>
      <p:sp>
        <p:nvSpPr>
          <p:cNvPr id="25603"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2</a:t>
            </a:r>
            <a:r>
              <a:rPr lang="zh-CN" altLang="en-US" dirty="0">
                <a:latin typeface="华文新魏" panose="02010800040101010101" pitchFamily="2" charset="-122"/>
                <a:ea typeface="华文新魏" panose="02010800040101010101" pitchFamily="2" charset="-122"/>
              </a:rPr>
              <a:t>  半导体中的电子状态和能带</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4C3F9913-CE8C-2417-49C7-A0836DEC53B8}"/>
                  </a:ext>
                </a:extLst>
              </p14:cNvPr>
              <p14:cNvContentPartPr/>
              <p14:nvPr/>
            </p14:nvContentPartPr>
            <p14:xfrm>
              <a:off x="1926472" y="2615133"/>
              <a:ext cx="3003480" cy="355320"/>
            </p14:xfrm>
          </p:contentPart>
        </mc:Choice>
        <mc:Fallback xmlns="">
          <p:pic>
            <p:nvPicPr>
              <p:cNvPr id="2" name="墨迹 1">
                <a:extLst>
                  <a:ext uri="{FF2B5EF4-FFF2-40B4-BE49-F238E27FC236}">
                    <a16:creationId xmlns:a16="http://schemas.microsoft.com/office/drawing/2014/main" id="{4C3F9913-CE8C-2417-49C7-A0836DEC53B8}"/>
                  </a:ext>
                </a:extLst>
              </p:cNvPr>
              <p:cNvPicPr/>
              <p:nvPr/>
            </p:nvPicPr>
            <p:blipFill>
              <a:blip r:embed="rId5"/>
              <a:stretch>
                <a:fillRect/>
              </a:stretch>
            </p:blipFill>
            <p:spPr>
              <a:xfrm>
                <a:off x="1872832" y="2507133"/>
                <a:ext cx="3111120" cy="57096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文本框 65540"/>
          <p:cNvSpPr txBox="1"/>
          <p:nvPr/>
        </p:nvSpPr>
        <p:spPr>
          <a:xfrm>
            <a:off x="468313" y="476250"/>
            <a:ext cx="5327650" cy="641350"/>
          </a:xfrm>
          <a:prstGeom prst="rect">
            <a:avLst/>
          </a:prstGeom>
          <a:noFill/>
          <a:ln w="12700">
            <a:noFill/>
          </a:ln>
        </p:spPr>
        <p:txBody>
          <a:bodyPr anchor="t" anchorCtr="0">
            <a:spAutoFit/>
          </a:bodyPr>
          <a:lstStyle/>
          <a:p>
            <a:r>
              <a:rPr lang="en-US" altLang="zh-CN" sz="3600" b="1" dirty="0">
                <a:latin typeface="Arial" panose="020B0604020202020204" pitchFamily="34" charset="0"/>
                <a:ea typeface="宋体" panose="02010600030101010101" pitchFamily="2" charset="-122"/>
              </a:rPr>
              <a:t>2. </a:t>
            </a:r>
            <a:r>
              <a:rPr lang="zh-CN" altLang="en-US" sz="3600" b="1" dirty="0">
                <a:latin typeface="Arial" panose="020B0604020202020204" pitchFamily="34" charset="0"/>
                <a:ea typeface="宋体" panose="02010600030101010101" pitchFamily="2" charset="-122"/>
              </a:rPr>
              <a:t>半导体中的电子</a:t>
            </a:r>
            <a:endParaRPr lang="zh-CN" altLang="en-US" sz="3600" b="1">
              <a:latin typeface="Arial" panose="020B0604020202020204" pitchFamily="34" charset="0"/>
              <a:ea typeface="宋体" panose="02010600030101010101" pitchFamily="2" charset="-122"/>
            </a:endParaRPr>
          </a:p>
        </p:txBody>
      </p:sp>
      <p:sp>
        <p:nvSpPr>
          <p:cNvPr id="45058" name="文本框 65542"/>
          <p:cNvSpPr txBox="1"/>
          <p:nvPr/>
        </p:nvSpPr>
        <p:spPr>
          <a:xfrm>
            <a:off x="539750" y="1635125"/>
            <a:ext cx="3025775" cy="579438"/>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能量</a:t>
            </a:r>
            <a:r>
              <a:rPr lang="en-US" altLang="zh-CN" sz="3200" b="1" dirty="0">
                <a:latin typeface="Arial" panose="020B0604020202020204" pitchFamily="34" charset="0"/>
                <a:ea typeface="宋体" panose="02010600030101010101" pitchFamily="2" charset="-122"/>
              </a:rPr>
              <a:t>E</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k</a:t>
            </a:r>
            <a:r>
              <a:rPr lang="zh-CN" altLang="en-US" sz="3200" b="1" dirty="0">
                <a:latin typeface="Arial" panose="020B0604020202020204" pitchFamily="34" charset="0"/>
                <a:ea typeface="宋体" panose="02010600030101010101" pitchFamily="2" charset="-122"/>
              </a:rPr>
              <a:t>）</a:t>
            </a:r>
          </a:p>
        </p:txBody>
      </p:sp>
      <p:sp>
        <p:nvSpPr>
          <p:cNvPr id="45059" name="文本框 65657"/>
          <p:cNvSpPr txBox="1"/>
          <p:nvPr/>
        </p:nvSpPr>
        <p:spPr>
          <a:xfrm>
            <a:off x="2124075" y="1125538"/>
            <a:ext cx="6048375" cy="519112"/>
          </a:xfrm>
          <a:prstGeom prst="rect">
            <a:avLst/>
          </a:prstGeom>
          <a:noFill/>
          <a:ln w="9525">
            <a:noFill/>
          </a:ln>
        </p:spPr>
        <p:txBody>
          <a:bodyPr anchor="t" anchorCtr="0">
            <a:spAutoFit/>
          </a:bodyPr>
          <a:lstStyle/>
          <a:p>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考虑能带底或能带顶的电子状态</a:t>
            </a:r>
          </a:p>
        </p:txBody>
      </p:sp>
      <p:grpSp>
        <p:nvGrpSpPr>
          <p:cNvPr id="45060" name="组合 65659"/>
          <p:cNvGrpSpPr/>
          <p:nvPr/>
        </p:nvGrpSpPr>
        <p:grpSpPr>
          <a:xfrm>
            <a:off x="2268538" y="1690688"/>
            <a:ext cx="4208462" cy="3825875"/>
            <a:chOff x="385" y="1117"/>
            <a:chExt cx="2651" cy="2410"/>
          </a:xfrm>
        </p:grpSpPr>
        <p:sp>
          <p:nvSpPr>
            <p:cNvPr id="45061" name="直接连接符 65660"/>
            <p:cNvSpPr/>
            <p:nvPr/>
          </p:nvSpPr>
          <p:spPr>
            <a:xfrm>
              <a:off x="533" y="3250"/>
              <a:ext cx="2297" cy="0"/>
            </a:xfrm>
            <a:prstGeom prst="line">
              <a:avLst/>
            </a:prstGeom>
            <a:ln w="9525" cap="flat" cmpd="sng">
              <a:solidFill>
                <a:schemeClr val="tx1"/>
              </a:solidFill>
              <a:prstDash val="solid"/>
              <a:miter/>
              <a:headEnd type="none" w="med" len="med"/>
              <a:tailEnd type="none" w="med" len="med"/>
            </a:ln>
          </p:spPr>
        </p:sp>
        <p:sp>
          <p:nvSpPr>
            <p:cNvPr id="45062" name="直接连接符 65661"/>
            <p:cNvSpPr/>
            <p:nvPr/>
          </p:nvSpPr>
          <p:spPr>
            <a:xfrm flipH="1" flipV="1">
              <a:off x="1607" y="1189"/>
              <a:ext cx="3" cy="2332"/>
            </a:xfrm>
            <a:prstGeom prst="line">
              <a:avLst/>
            </a:prstGeom>
            <a:ln w="9525" cap="flat" cmpd="sng">
              <a:solidFill>
                <a:schemeClr val="tx1"/>
              </a:solidFill>
              <a:prstDash val="solid"/>
              <a:miter/>
              <a:headEnd type="none" w="med" len="med"/>
              <a:tailEnd type="none" w="med" len="med"/>
            </a:ln>
          </p:spPr>
        </p:sp>
        <p:sp>
          <p:nvSpPr>
            <p:cNvPr id="45063" name="直接连接符 65662"/>
            <p:cNvSpPr/>
            <p:nvPr/>
          </p:nvSpPr>
          <p:spPr>
            <a:xfrm flipV="1">
              <a:off x="1292" y="3195"/>
              <a:ext cx="0" cy="55"/>
            </a:xfrm>
            <a:prstGeom prst="line">
              <a:avLst/>
            </a:prstGeom>
            <a:ln w="9525" cap="flat" cmpd="sng">
              <a:solidFill>
                <a:schemeClr val="tx1"/>
              </a:solidFill>
              <a:prstDash val="solid"/>
              <a:miter/>
              <a:headEnd type="none" w="med" len="med"/>
              <a:tailEnd type="none" w="med" len="med"/>
            </a:ln>
          </p:spPr>
        </p:sp>
        <p:sp>
          <p:nvSpPr>
            <p:cNvPr id="45064" name="直接连接符 65663"/>
            <p:cNvSpPr/>
            <p:nvPr/>
          </p:nvSpPr>
          <p:spPr>
            <a:xfrm flipV="1">
              <a:off x="977" y="3195"/>
              <a:ext cx="0" cy="55"/>
            </a:xfrm>
            <a:prstGeom prst="line">
              <a:avLst/>
            </a:prstGeom>
            <a:ln w="9525" cap="flat" cmpd="sng">
              <a:solidFill>
                <a:schemeClr val="tx1"/>
              </a:solidFill>
              <a:prstDash val="solid"/>
              <a:miter/>
              <a:headEnd type="none" w="med" len="med"/>
              <a:tailEnd type="none" w="med" len="med"/>
            </a:ln>
          </p:spPr>
        </p:sp>
        <p:sp>
          <p:nvSpPr>
            <p:cNvPr id="45065" name="直接连接符 65664"/>
            <p:cNvSpPr/>
            <p:nvPr/>
          </p:nvSpPr>
          <p:spPr>
            <a:xfrm flipV="1">
              <a:off x="2238" y="3195"/>
              <a:ext cx="0" cy="55"/>
            </a:xfrm>
            <a:prstGeom prst="line">
              <a:avLst/>
            </a:prstGeom>
            <a:ln w="9525" cap="flat" cmpd="sng">
              <a:solidFill>
                <a:schemeClr val="tx1"/>
              </a:solidFill>
              <a:prstDash val="solid"/>
              <a:miter/>
              <a:headEnd type="none" w="med" len="med"/>
              <a:tailEnd type="none" w="med" len="med"/>
            </a:ln>
          </p:spPr>
        </p:sp>
        <p:sp>
          <p:nvSpPr>
            <p:cNvPr id="45066" name="直接连接符 65665"/>
            <p:cNvSpPr/>
            <p:nvPr/>
          </p:nvSpPr>
          <p:spPr>
            <a:xfrm flipV="1">
              <a:off x="1922" y="3195"/>
              <a:ext cx="0" cy="55"/>
            </a:xfrm>
            <a:prstGeom prst="line">
              <a:avLst/>
            </a:prstGeom>
            <a:ln w="9525" cap="flat" cmpd="sng">
              <a:solidFill>
                <a:schemeClr val="tx1"/>
              </a:solidFill>
              <a:prstDash val="solid"/>
              <a:miter/>
              <a:headEnd type="none" w="med" len="med"/>
              <a:tailEnd type="none" w="med" len="med"/>
            </a:ln>
          </p:spPr>
        </p:sp>
        <p:sp>
          <p:nvSpPr>
            <p:cNvPr id="45067" name="文本框 65666"/>
            <p:cNvSpPr txBox="1"/>
            <p:nvPr/>
          </p:nvSpPr>
          <p:spPr>
            <a:xfrm>
              <a:off x="2835" y="3203"/>
              <a:ext cx="201" cy="288"/>
            </a:xfrm>
            <a:prstGeom prst="rect">
              <a:avLst/>
            </a:prstGeom>
            <a:noFill/>
            <a:ln w="9525">
              <a:noFill/>
            </a:ln>
          </p:spPr>
          <p:txBody>
            <a:bodyPr wrap="none" anchor="t" anchorCtr="0">
              <a:spAutoFit/>
            </a:bodyPr>
            <a:lstStyle/>
            <a:p>
              <a:r>
                <a:rPr lang="en-US" altLang="zh-CN" sz="2400" i="1">
                  <a:latin typeface="Times New Roman" panose="02020603050405020304" pitchFamily="18" charset="0"/>
                  <a:ea typeface="宋体" panose="02010600030101010101" pitchFamily="2" charset="-122"/>
                </a:rPr>
                <a:t>k</a:t>
              </a:r>
            </a:p>
          </p:txBody>
        </p:sp>
        <p:sp>
          <p:nvSpPr>
            <p:cNvPr id="45068" name="文本框 65667"/>
            <p:cNvSpPr txBox="1"/>
            <p:nvPr/>
          </p:nvSpPr>
          <p:spPr>
            <a:xfrm>
              <a:off x="1573" y="1117"/>
              <a:ext cx="233" cy="288"/>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45069" name="文本框 65668"/>
            <p:cNvSpPr txBox="1"/>
            <p:nvPr/>
          </p:nvSpPr>
          <p:spPr>
            <a:xfrm>
              <a:off x="1573" y="3296"/>
              <a:ext cx="188"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0</a:t>
              </a:r>
            </a:p>
          </p:txBody>
        </p:sp>
        <p:sp>
          <p:nvSpPr>
            <p:cNvPr id="45070" name="文本框 65669"/>
            <p:cNvSpPr txBox="1"/>
            <p:nvPr/>
          </p:nvSpPr>
          <p:spPr>
            <a:xfrm>
              <a:off x="1701" y="3296"/>
              <a:ext cx="356" cy="231"/>
            </a:xfrm>
            <a:prstGeom prst="rect">
              <a:avLst/>
            </a:prstGeom>
            <a:noFill/>
            <a:ln w="9525">
              <a:noFill/>
            </a:ln>
          </p:spPr>
          <p:txBody>
            <a:bodyPr wrap="none" anchor="t" anchorCtr="0">
              <a:spAutoFit/>
            </a:bodyPr>
            <a:lstStyle/>
            <a:p>
              <a:r>
                <a:rPr lang="en-US" altLang="zh-CN" sz="16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/2a</a:t>
              </a:r>
              <a:endParaRPr lang="en-US" altLang="zh-CN">
                <a:latin typeface="Times New Roman" panose="02020603050405020304" pitchFamily="18" charset="0"/>
                <a:ea typeface="Times New Roman" panose="02020603050405020304" pitchFamily="18" charset="0"/>
              </a:endParaRPr>
            </a:p>
          </p:txBody>
        </p:sp>
        <p:sp>
          <p:nvSpPr>
            <p:cNvPr id="45071" name="文本框 65670"/>
            <p:cNvSpPr txBox="1"/>
            <p:nvPr/>
          </p:nvSpPr>
          <p:spPr>
            <a:xfrm>
              <a:off x="779" y="3296"/>
              <a:ext cx="340"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-1/a</a:t>
              </a:r>
              <a:endParaRPr lang="en-US" altLang="zh-CN">
                <a:latin typeface="Times New Roman" panose="02020603050405020304" pitchFamily="18" charset="0"/>
                <a:ea typeface="Times New Roman" panose="02020603050405020304" pitchFamily="18" charset="0"/>
              </a:endParaRPr>
            </a:p>
          </p:txBody>
        </p:sp>
        <p:sp>
          <p:nvSpPr>
            <p:cNvPr id="45072" name="任意多边形 65671"/>
            <p:cNvSpPr/>
            <p:nvPr/>
          </p:nvSpPr>
          <p:spPr>
            <a:xfrm>
              <a:off x="1607" y="1603"/>
              <a:ext cx="981" cy="1641"/>
            </a:xfrm>
            <a:custGeom>
              <a:avLst/>
              <a:gdLst/>
              <a:ahLst/>
              <a:cxnLst/>
              <a:rect l="0" t="0" r="0" b="0"/>
              <a:pathLst>
                <a:path w="1270" h="1641">
                  <a:moveTo>
                    <a:pt x="0" y="1641"/>
                  </a:moveTo>
                  <a:cubicBezTo>
                    <a:pt x="80" y="1610"/>
                    <a:pt x="325" y="1588"/>
                    <a:pt x="480" y="1457"/>
                  </a:cubicBezTo>
                  <a:cubicBezTo>
                    <a:pt x="635" y="1326"/>
                    <a:pt x="796" y="1097"/>
                    <a:pt x="928" y="854"/>
                  </a:cubicBezTo>
                  <a:cubicBezTo>
                    <a:pt x="1060" y="611"/>
                    <a:pt x="1199" y="178"/>
                    <a:pt x="1270" y="0"/>
                  </a:cubicBezTo>
                </a:path>
              </a:pathLst>
            </a:custGeom>
            <a:noFill/>
            <a:ln w="38100" cap="flat" cmpd="sng">
              <a:solidFill>
                <a:schemeClr val="tx1"/>
              </a:solidFill>
              <a:prstDash val="lgDash"/>
              <a:round/>
              <a:headEnd type="none" w="med" len="med"/>
              <a:tailEnd type="none" w="med" len="med"/>
            </a:ln>
          </p:spPr>
          <p:txBody>
            <a:bodyPr/>
            <a:lstStyle/>
            <a:p>
              <a:endParaRPr lang="zh-CN" altLang="en-US"/>
            </a:p>
          </p:txBody>
        </p:sp>
        <p:sp>
          <p:nvSpPr>
            <p:cNvPr id="45073" name="任意多边形 65672"/>
            <p:cNvSpPr/>
            <p:nvPr/>
          </p:nvSpPr>
          <p:spPr>
            <a:xfrm>
              <a:off x="627" y="1645"/>
              <a:ext cx="980" cy="1599"/>
            </a:xfrm>
            <a:custGeom>
              <a:avLst/>
              <a:gdLst/>
              <a:ahLst/>
              <a:cxnLst/>
              <a:rect l="0" t="0" r="0" b="0"/>
              <a:pathLst>
                <a:path w="1270" h="1599">
                  <a:moveTo>
                    <a:pt x="1270" y="1599"/>
                  </a:moveTo>
                  <a:cubicBezTo>
                    <a:pt x="1187" y="1568"/>
                    <a:pt x="922" y="1535"/>
                    <a:pt x="772" y="1415"/>
                  </a:cubicBezTo>
                  <a:cubicBezTo>
                    <a:pt x="622" y="1295"/>
                    <a:pt x="499" y="1112"/>
                    <a:pt x="370" y="876"/>
                  </a:cubicBezTo>
                  <a:cubicBezTo>
                    <a:pt x="241" y="640"/>
                    <a:pt x="77" y="183"/>
                    <a:pt x="0" y="0"/>
                  </a:cubicBezTo>
                </a:path>
              </a:pathLst>
            </a:custGeom>
            <a:noFill/>
            <a:ln w="38100" cap="flat" cmpd="sng">
              <a:solidFill>
                <a:schemeClr val="tx1"/>
              </a:solidFill>
              <a:prstDash val="lgDash"/>
              <a:round/>
              <a:headEnd type="none" w="med" len="med"/>
              <a:tailEnd type="none" w="med" len="med"/>
            </a:ln>
          </p:spPr>
          <p:txBody>
            <a:bodyPr/>
            <a:lstStyle/>
            <a:p>
              <a:endParaRPr lang="zh-CN" altLang="en-US"/>
            </a:p>
          </p:txBody>
        </p:sp>
        <p:sp>
          <p:nvSpPr>
            <p:cNvPr id="45074" name="直接连接符 65673"/>
            <p:cNvSpPr/>
            <p:nvPr/>
          </p:nvSpPr>
          <p:spPr>
            <a:xfrm flipV="1">
              <a:off x="1922" y="1480"/>
              <a:ext cx="0" cy="1816"/>
            </a:xfrm>
            <a:prstGeom prst="line">
              <a:avLst/>
            </a:prstGeom>
            <a:ln w="3175" cap="flat" cmpd="sng">
              <a:solidFill>
                <a:schemeClr val="tx1"/>
              </a:solidFill>
              <a:prstDash val="lgDashDotDot"/>
              <a:round/>
              <a:headEnd type="none" w="med" len="med"/>
              <a:tailEnd type="none" w="med" len="med"/>
            </a:ln>
          </p:spPr>
        </p:sp>
        <p:sp>
          <p:nvSpPr>
            <p:cNvPr id="45075" name="直接连接符 65674"/>
            <p:cNvSpPr/>
            <p:nvPr/>
          </p:nvSpPr>
          <p:spPr>
            <a:xfrm flipV="1">
              <a:off x="2238" y="1480"/>
              <a:ext cx="0" cy="1816"/>
            </a:xfrm>
            <a:prstGeom prst="line">
              <a:avLst/>
            </a:prstGeom>
            <a:ln w="3175" cap="flat" cmpd="sng">
              <a:solidFill>
                <a:schemeClr val="tx1"/>
              </a:solidFill>
              <a:prstDash val="lgDashDotDot"/>
              <a:round/>
              <a:headEnd type="none" w="med" len="med"/>
              <a:tailEnd type="none" w="med" len="med"/>
            </a:ln>
          </p:spPr>
        </p:sp>
        <p:sp>
          <p:nvSpPr>
            <p:cNvPr id="45076" name="直接连接符 65675"/>
            <p:cNvSpPr/>
            <p:nvPr/>
          </p:nvSpPr>
          <p:spPr>
            <a:xfrm flipV="1">
              <a:off x="1292" y="1480"/>
              <a:ext cx="0" cy="1816"/>
            </a:xfrm>
            <a:prstGeom prst="line">
              <a:avLst/>
            </a:prstGeom>
            <a:ln w="3175" cap="flat" cmpd="sng">
              <a:solidFill>
                <a:schemeClr val="tx1"/>
              </a:solidFill>
              <a:prstDash val="lgDashDotDot"/>
              <a:round/>
              <a:headEnd type="none" w="med" len="med"/>
              <a:tailEnd type="none" w="med" len="med"/>
            </a:ln>
          </p:spPr>
        </p:sp>
        <p:sp>
          <p:nvSpPr>
            <p:cNvPr id="45077" name="直接连接符 65676"/>
            <p:cNvSpPr/>
            <p:nvPr/>
          </p:nvSpPr>
          <p:spPr>
            <a:xfrm flipV="1">
              <a:off x="977" y="1480"/>
              <a:ext cx="0" cy="1816"/>
            </a:xfrm>
            <a:prstGeom prst="line">
              <a:avLst/>
            </a:prstGeom>
            <a:ln w="3175" cap="flat" cmpd="sng">
              <a:solidFill>
                <a:schemeClr val="tx1"/>
              </a:solidFill>
              <a:prstDash val="lgDashDotDot"/>
              <a:round/>
              <a:headEnd type="none" w="med" len="med"/>
              <a:tailEnd type="none" w="med" len="med"/>
            </a:ln>
          </p:spPr>
        </p:sp>
        <p:sp>
          <p:nvSpPr>
            <p:cNvPr id="45078" name="任意多边形 65677"/>
            <p:cNvSpPr/>
            <p:nvPr/>
          </p:nvSpPr>
          <p:spPr>
            <a:xfrm>
              <a:off x="1292" y="3080"/>
              <a:ext cx="630" cy="124"/>
            </a:xfrm>
            <a:custGeom>
              <a:avLst/>
              <a:gdLst/>
              <a:ahLst/>
              <a:cxnLst/>
              <a:rect l="0" t="0" r="0" b="0"/>
              <a:pathLst>
                <a:path w="630" h="124">
                  <a:moveTo>
                    <a:pt x="0" y="8"/>
                  </a:moveTo>
                  <a:cubicBezTo>
                    <a:pt x="12" y="11"/>
                    <a:pt x="18" y="10"/>
                    <a:pt x="70" y="29"/>
                  </a:cubicBezTo>
                  <a:cubicBezTo>
                    <a:pt x="122" y="48"/>
                    <a:pt x="229" y="124"/>
                    <a:pt x="310" y="122"/>
                  </a:cubicBezTo>
                  <a:cubicBezTo>
                    <a:pt x="391" y="120"/>
                    <a:pt x="502" y="38"/>
                    <a:pt x="555" y="19"/>
                  </a:cubicBezTo>
                  <a:cubicBezTo>
                    <a:pt x="608" y="0"/>
                    <a:pt x="615" y="10"/>
                    <a:pt x="630" y="8"/>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45079" name="任意多边形 65678"/>
            <p:cNvSpPr/>
            <p:nvPr/>
          </p:nvSpPr>
          <p:spPr>
            <a:xfrm>
              <a:off x="1922" y="2570"/>
              <a:ext cx="316" cy="415"/>
            </a:xfrm>
            <a:custGeom>
              <a:avLst/>
              <a:gdLst/>
              <a:ahLst/>
              <a:cxnLst/>
              <a:rect l="0" t="0" r="0" b="0"/>
              <a:pathLst>
                <a:path w="316" h="415">
                  <a:moveTo>
                    <a:pt x="0" y="415"/>
                  </a:moveTo>
                  <a:cubicBezTo>
                    <a:pt x="18" y="402"/>
                    <a:pt x="72" y="393"/>
                    <a:pt x="108" y="337"/>
                  </a:cubicBezTo>
                  <a:cubicBezTo>
                    <a:pt x="144" y="281"/>
                    <a:pt x="182" y="137"/>
                    <a:pt x="217" y="81"/>
                  </a:cubicBezTo>
                  <a:cubicBezTo>
                    <a:pt x="252" y="25"/>
                    <a:pt x="296" y="17"/>
                    <a:pt x="316"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45080" name="任意多边形 65679"/>
            <p:cNvSpPr/>
            <p:nvPr/>
          </p:nvSpPr>
          <p:spPr>
            <a:xfrm>
              <a:off x="977" y="2570"/>
              <a:ext cx="315" cy="415"/>
            </a:xfrm>
            <a:custGeom>
              <a:avLst/>
              <a:gdLst/>
              <a:ahLst/>
              <a:cxnLst/>
              <a:rect l="0" t="0" r="0" b="0"/>
              <a:pathLst>
                <a:path w="315" h="415">
                  <a:moveTo>
                    <a:pt x="315" y="415"/>
                  </a:moveTo>
                  <a:cubicBezTo>
                    <a:pt x="297" y="402"/>
                    <a:pt x="246" y="396"/>
                    <a:pt x="209" y="340"/>
                  </a:cubicBezTo>
                  <a:cubicBezTo>
                    <a:pt x="172" y="284"/>
                    <a:pt x="128" y="138"/>
                    <a:pt x="93" y="81"/>
                  </a:cubicBezTo>
                  <a:cubicBezTo>
                    <a:pt x="58" y="24"/>
                    <a:pt x="19" y="17"/>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45081" name="任意多边形 65680"/>
            <p:cNvSpPr/>
            <p:nvPr/>
          </p:nvSpPr>
          <p:spPr>
            <a:xfrm>
              <a:off x="2238" y="1584"/>
              <a:ext cx="315" cy="830"/>
            </a:xfrm>
            <a:custGeom>
              <a:avLst/>
              <a:gdLst/>
              <a:ahLst/>
              <a:cxnLst/>
              <a:rect l="0" t="0" r="0" b="0"/>
              <a:pathLst>
                <a:path w="315" h="830">
                  <a:moveTo>
                    <a:pt x="0" y="830"/>
                  </a:moveTo>
                  <a:cubicBezTo>
                    <a:pt x="15" y="809"/>
                    <a:pt x="58" y="821"/>
                    <a:pt x="93" y="702"/>
                  </a:cubicBezTo>
                  <a:cubicBezTo>
                    <a:pt x="128" y="583"/>
                    <a:pt x="175" y="234"/>
                    <a:pt x="212" y="117"/>
                  </a:cubicBezTo>
                  <a:cubicBezTo>
                    <a:pt x="249" y="0"/>
                    <a:pt x="294" y="25"/>
                    <a:pt x="315" y="1"/>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45082" name="任意多边形 65681"/>
            <p:cNvSpPr/>
            <p:nvPr/>
          </p:nvSpPr>
          <p:spPr>
            <a:xfrm>
              <a:off x="662" y="1561"/>
              <a:ext cx="305" cy="877"/>
            </a:xfrm>
            <a:custGeom>
              <a:avLst/>
              <a:gdLst/>
              <a:ahLst/>
              <a:cxnLst/>
              <a:rect l="0" t="0" r="0" b="0"/>
              <a:pathLst>
                <a:path w="305" h="877">
                  <a:moveTo>
                    <a:pt x="305" y="843"/>
                  </a:moveTo>
                  <a:cubicBezTo>
                    <a:pt x="292" y="829"/>
                    <a:pt x="261" y="877"/>
                    <a:pt x="225" y="761"/>
                  </a:cubicBezTo>
                  <a:cubicBezTo>
                    <a:pt x="189" y="645"/>
                    <a:pt x="125" y="276"/>
                    <a:pt x="88" y="149"/>
                  </a:cubicBezTo>
                  <a:cubicBezTo>
                    <a:pt x="51" y="22"/>
                    <a:pt x="18" y="31"/>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45083" name="直接连接符 65682"/>
            <p:cNvSpPr/>
            <p:nvPr/>
          </p:nvSpPr>
          <p:spPr>
            <a:xfrm flipV="1">
              <a:off x="2553" y="1480"/>
              <a:ext cx="0" cy="1816"/>
            </a:xfrm>
            <a:prstGeom prst="line">
              <a:avLst/>
            </a:prstGeom>
            <a:ln w="3175" cap="flat" cmpd="sng">
              <a:solidFill>
                <a:schemeClr val="tx1"/>
              </a:solidFill>
              <a:prstDash val="lgDashDotDot"/>
              <a:round/>
              <a:headEnd type="none" w="med" len="med"/>
              <a:tailEnd type="none" w="med" len="med"/>
            </a:ln>
          </p:spPr>
        </p:sp>
        <p:sp>
          <p:nvSpPr>
            <p:cNvPr id="45084" name="直接连接符 65683"/>
            <p:cNvSpPr/>
            <p:nvPr/>
          </p:nvSpPr>
          <p:spPr>
            <a:xfrm flipV="1">
              <a:off x="662" y="1480"/>
              <a:ext cx="0" cy="1816"/>
            </a:xfrm>
            <a:prstGeom prst="line">
              <a:avLst/>
            </a:prstGeom>
            <a:ln w="3175" cap="flat" cmpd="sng">
              <a:solidFill>
                <a:schemeClr val="tx1"/>
              </a:solidFill>
              <a:prstDash val="lgDashDotDot"/>
              <a:round/>
              <a:headEnd type="none" w="med" len="med"/>
              <a:tailEnd type="none" w="med" len="med"/>
            </a:ln>
          </p:spPr>
        </p:sp>
        <p:sp>
          <p:nvSpPr>
            <p:cNvPr id="45085" name="直接连接符 65684"/>
            <p:cNvSpPr/>
            <p:nvPr/>
          </p:nvSpPr>
          <p:spPr>
            <a:xfrm>
              <a:off x="522" y="3088"/>
              <a:ext cx="2241" cy="0"/>
            </a:xfrm>
            <a:prstGeom prst="line">
              <a:avLst/>
            </a:prstGeom>
            <a:ln w="6350" cap="flat" cmpd="sng">
              <a:solidFill>
                <a:schemeClr val="tx1"/>
              </a:solidFill>
              <a:prstDash val="lgDashDot"/>
              <a:round/>
              <a:headEnd type="none" w="med" len="med"/>
              <a:tailEnd type="none" w="med" len="med"/>
            </a:ln>
          </p:spPr>
        </p:sp>
        <p:sp>
          <p:nvSpPr>
            <p:cNvPr id="45086" name="直接连接符 65685"/>
            <p:cNvSpPr/>
            <p:nvPr/>
          </p:nvSpPr>
          <p:spPr>
            <a:xfrm>
              <a:off x="522" y="2985"/>
              <a:ext cx="2241" cy="0"/>
            </a:xfrm>
            <a:prstGeom prst="line">
              <a:avLst/>
            </a:prstGeom>
            <a:ln w="6350" cap="flat" cmpd="sng">
              <a:solidFill>
                <a:schemeClr val="tx1"/>
              </a:solidFill>
              <a:prstDash val="lgDashDot"/>
              <a:round/>
              <a:headEnd type="none" w="med" len="med"/>
              <a:tailEnd type="none" w="med" len="med"/>
            </a:ln>
          </p:spPr>
        </p:sp>
        <p:sp>
          <p:nvSpPr>
            <p:cNvPr id="45087" name="直接连接符 65686"/>
            <p:cNvSpPr/>
            <p:nvPr/>
          </p:nvSpPr>
          <p:spPr>
            <a:xfrm>
              <a:off x="522" y="2570"/>
              <a:ext cx="2241" cy="0"/>
            </a:xfrm>
            <a:prstGeom prst="line">
              <a:avLst/>
            </a:prstGeom>
            <a:ln w="6350" cap="flat" cmpd="sng">
              <a:solidFill>
                <a:schemeClr val="tx1"/>
              </a:solidFill>
              <a:prstDash val="lgDashDot"/>
              <a:round/>
              <a:headEnd type="none" w="med" len="med"/>
              <a:tailEnd type="none" w="med" len="med"/>
            </a:ln>
          </p:spPr>
        </p:sp>
        <p:sp>
          <p:nvSpPr>
            <p:cNvPr id="45088" name="直接连接符 65687"/>
            <p:cNvSpPr/>
            <p:nvPr/>
          </p:nvSpPr>
          <p:spPr>
            <a:xfrm>
              <a:off x="522" y="2414"/>
              <a:ext cx="2241" cy="0"/>
            </a:xfrm>
            <a:prstGeom prst="line">
              <a:avLst/>
            </a:prstGeom>
            <a:ln w="6350" cap="flat" cmpd="sng">
              <a:solidFill>
                <a:schemeClr val="tx1"/>
              </a:solidFill>
              <a:prstDash val="lgDashDot"/>
              <a:round/>
              <a:headEnd type="none" w="med" len="med"/>
              <a:tailEnd type="none" w="med" len="med"/>
            </a:ln>
          </p:spPr>
        </p:sp>
        <p:sp>
          <p:nvSpPr>
            <p:cNvPr id="45089" name="直接连接符 65688"/>
            <p:cNvSpPr/>
            <p:nvPr/>
          </p:nvSpPr>
          <p:spPr>
            <a:xfrm>
              <a:off x="522" y="1585"/>
              <a:ext cx="2241" cy="0"/>
            </a:xfrm>
            <a:prstGeom prst="line">
              <a:avLst/>
            </a:prstGeom>
            <a:ln w="6350" cap="flat" cmpd="sng">
              <a:solidFill>
                <a:schemeClr val="tx1"/>
              </a:solidFill>
              <a:prstDash val="lgDashDot"/>
              <a:round/>
              <a:headEnd type="none" w="med" len="med"/>
              <a:tailEnd type="none" w="med" len="med"/>
            </a:ln>
          </p:spPr>
        </p:sp>
        <p:sp>
          <p:nvSpPr>
            <p:cNvPr id="45090" name="直接连接符 65689"/>
            <p:cNvSpPr/>
            <p:nvPr/>
          </p:nvSpPr>
          <p:spPr>
            <a:xfrm>
              <a:off x="522" y="3192"/>
              <a:ext cx="2241" cy="0"/>
            </a:xfrm>
            <a:prstGeom prst="line">
              <a:avLst/>
            </a:prstGeom>
            <a:ln w="6350" cap="flat" cmpd="sng">
              <a:solidFill>
                <a:schemeClr val="tx1"/>
              </a:solidFill>
              <a:prstDash val="lgDashDot"/>
              <a:round/>
              <a:headEnd type="none" w="med" len="med"/>
              <a:tailEnd type="none" w="med" len="med"/>
            </a:ln>
          </p:spPr>
        </p:sp>
        <p:sp>
          <p:nvSpPr>
            <p:cNvPr id="45091" name="文本框 65690"/>
            <p:cNvSpPr txBox="1"/>
            <p:nvPr/>
          </p:nvSpPr>
          <p:spPr>
            <a:xfrm>
              <a:off x="2412" y="3296"/>
              <a:ext cx="364"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3/2a</a:t>
              </a:r>
              <a:endParaRPr lang="en-US" altLang="zh-CN">
                <a:latin typeface="Times New Roman" panose="02020603050405020304" pitchFamily="18" charset="0"/>
                <a:ea typeface="Times New Roman" panose="02020603050405020304" pitchFamily="18" charset="0"/>
              </a:endParaRPr>
            </a:p>
          </p:txBody>
        </p:sp>
        <p:sp>
          <p:nvSpPr>
            <p:cNvPr id="45092" name="文本框 65691"/>
            <p:cNvSpPr txBox="1"/>
            <p:nvPr/>
          </p:nvSpPr>
          <p:spPr>
            <a:xfrm>
              <a:off x="1169" y="3296"/>
              <a:ext cx="404"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a:t>
              </a:r>
              <a:r>
                <a:rPr lang="en-US" altLang="zh-CN" sz="16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/2a</a:t>
              </a:r>
              <a:endParaRPr lang="en-US" altLang="zh-CN">
                <a:latin typeface="Times New Roman" panose="02020603050405020304" pitchFamily="18" charset="0"/>
                <a:ea typeface="Times New Roman" panose="02020603050405020304" pitchFamily="18" charset="0"/>
              </a:endParaRPr>
            </a:p>
          </p:txBody>
        </p:sp>
        <p:sp>
          <p:nvSpPr>
            <p:cNvPr id="45093" name="文本框 65692"/>
            <p:cNvSpPr txBox="1"/>
            <p:nvPr/>
          </p:nvSpPr>
          <p:spPr>
            <a:xfrm>
              <a:off x="2018" y="3296"/>
              <a:ext cx="292"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1/a</a:t>
              </a:r>
              <a:endParaRPr lang="en-US" altLang="zh-CN">
                <a:latin typeface="Times New Roman" panose="02020603050405020304" pitchFamily="18" charset="0"/>
                <a:ea typeface="Times New Roman" panose="02020603050405020304" pitchFamily="18" charset="0"/>
              </a:endParaRPr>
            </a:p>
          </p:txBody>
        </p:sp>
        <p:sp>
          <p:nvSpPr>
            <p:cNvPr id="45094" name="文本框 65693"/>
            <p:cNvSpPr txBox="1"/>
            <p:nvPr/>
          </p:nvSpPr>
          <p:spPr>
            <a:xfrm>
              <a:off x="385" y="3296"/>
              <a:ext cx="412"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-3/2a</a:t>
              </a:r>
              <a:endParaRPr lang="en-US" altLang="zh-CN">
                <a:latin typeface="Times New Roman" panose="02020603050405020304" pitchFamily="18" charset="0"/>
                <a:ea typeface="Times New Roman" panose="02020603050405020304" pitchFamily="18" charset="0"/>
              </a:endParaRPr>
            </a:p>
          </p:txBody>
        </p:sp>
      </p:grpSp>
      <p:grpSp>
        <p:nvGrpSpPr>
          <p:cNvPr id="65695" name="组合 65694"/>
          <p:cNvGrpSpPr/>
          <p:nvPr/>
        </p:nvGrpSpPr>
        <p:grpSpPr>
          <a:xfrm>
            <a:off x="2732088" y="5494338"/>
            <a:ext cx="3025775" cy="668337"/>
            <a:chOff x="657" y="3612"/>
            <a:chExt cx="1906" cy="421"/>
          </a:xfrm>
        </p:grpSpPr>
        <p:sp>
          <p:nvSpPr>
            <p:cNvPr id="45096" name="文本框 65695"/>
            <p:cNvSpPr txBox="1"/>
            <p:nvPr/>
          </p:nvSpPr>
          <p:spPr>
            <a:xfrm>
              <a:off x="1474" y="3612"/>
              <a:ext cx="317"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1</a:t>
              </a:r>
            </a:p>
          </p:txBody>
        </p:sp>
        <p:sp>
          <p:nvSpPr>
            <p:cNvPr id="45097" name="文本框 65696"/>
            <p:cNvSpPr txBox="1"/>
            <p:nvPr/>
          </p:nvSpPr>
          <p:spPr>
            <a:xfrm>
              <a:off x="1927"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2</a:t>
              </a:r>
            </a:p>
          </p:txBody>
        </p:sp>
        <p:sp>
          <p:nvSpPr>
            <p:cNvPr id="45098" name="文本框 65697"/>
            <p:cNvSpPr txBox="1"/>
            <p:nvPr/>
          </p:nvSpPr>
          <p:spPr>
            <a:xfrm>
              <a:off x="974"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2</a:t>
              </a:r>
            </a:p>
          </p:txBody>
        </p:sp>
        <p:sp>
          <p:nvSpPr>
            <p:cNvPr id="45099" name="文本框 65698"/>
            <p:cNvSpPr txBox="1"/>
            <p:nvPr/>
          </p:nvSpPr>
          <p:spPr>
            <a:xfrm>
              <a:off x="2245"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3</a:t>
              </a:r>
            </a:p>
          </p:txBody>
        </p:sp>
        <p:sp>
          <p:nvSpPr>
            <p:cNvPr id="45100" name="文本框 65699"/>
            <p:cNvSpPr txBox="1"/>
            <p:nvPr/>
          </p:nvSpPr>
          <p:spPr>
            <a:xfrm>
              <a:off x="657"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3</a:t>
              </a:r>
            </a:p>
          </p:txBody>
        </p:sp>
        <p:sp>
          <p:nvSpPr>
            <p:cNvPr id="45101" name="文本框 65700"/>
            <p:cNvSpPr txBox="1"/>
            <p:nvPr/>
          </p:nvSpPr>
          <p:spPr>
            <a:xfrm>
              <a:off x="1338" y="3821"/>
              <a:ext cx="632" cy="212"/>
            </a:xfrm>
            <a:prstGeom prst="rect">
              <a:avLst/>
            </a:prstGeom>
            <a:noFill/>
            <a:ln w="9525">
              <a:noFill/>
            </a:ln>
          </p:spPr>
          <p:txBody>
            <a:bodyPr wrap="none" anchor="t" anchorCtr="0">
              <a:spAutoFit/>
            </a:bodyPr>
            <a:lstStyle/>
            <a:p>
              <a:r>
                <a:rPr lang="zh-CN" altLang="en-US" sz="1600" b="1" dirty="0">
                  <a:latin typeface="Times New Roman" panose="02020603050405020304" pitchFamily="18" charset="0"/>
                  <a:ea typeface="宋体" panose="02010600030101010101" pitchFamily="2" charset="-122"/>
                </a:rPr>
                <a:t>布里渊区</a:t>
              </a:r>
            </a:p>
          </p:txBody>
        </p:sp>
      </p:grpSp>
      <p:graphicFrame>
        <p:nvGraphicFramePr>
          <p:cNvPr id="45102" name="对象 65701"/>
          <p:cNvGraphicFramePr/>
          <p:nvPr/>
        </p:nvGraphicFramePr>
        <p:xfrm>
          <a:off x="2916238" y="6140450"/>
          <a:ext cx="3024187" cy="744538"/>
        </p:xfrm>
        <a:graphic>
          <a:graphicData uri="http://schemas.openxmlformats.org/presentationml/2006/ole">
            <mc:AlternateContent xmlns:mc="http://schemas.openxmlformats.org/markup-compatibility/2006">
              <mc:Choice xmlns:v="urn:schemas-microsoft-com:vml" Requires="v">
                <p:oleObj r:id="rId2" imgW="1332865" imgH="393700" progId="Equation.3">
                  <p:embed/>
                </p:oleObj>
              </mc:Choice>
              <mc:Fallback>
                <p:oleObj r:id="rId2" imgW="1332865" imgH="393700" progId="Equation.3">
                  <p:embed/>
                  <p:pic>
                    <p:nvPicPr>
                      <p:cNvPr id="0" name="图片 3075"/>
                      <p:cNvPicPr/>
                      <p:nvPr/>
                    </p:nvPicPr>
                    <p:blipFill>
                      <a:blip r:embed="rId3"/>
                      <a:stretch>
                        <a:fillRect/>
                      </a:stretch>
                    </p:blipFill>
                    <p:spPr>
                      <a:xfrm>
                        <a:off x="2916238" y="6140450"/>
                        <a:ext cx="3024187" cy="744538"/>
                      </a:xfrm>
                      <a:prstGeom prst="rect">
                        <a:avLst/>
                      </a:prstGeom>
                      <a:solidFill>
                        <a:schemeClr val="accent1"/>
                      </a:solidFill>
                      <a:ln w="38100">
                        <a:noFill/>
                        <a:miter/>
                      </a:ln>
                    </p:spPr>
                  </p:pic>
                </p:oleObj>
              </mc:Fallback>
            </mc:AlternateContent>
          </a:graphicData>
        </a:graphic>
      </p:graphicFrame>
      <p:grpSp>
        <p:nvGrpSpPr>
          <p:cNvPr id="45103" name="组合 65702"/>
          <p:cNvGrpSpPr/>
          <p:nvPr/>
        </p:nvGrpSpPr>
        <p:grpSpPr>
          <a:xfrm>
            <a:off x="6894513" y="1638300"/>
            <a:ext cx="1998662" cy="4324350"/>
            <a:chOff x="4391" y="1451"/>
            <a:chExt cx="861" cy="2599"/>
          </a:xfrm>
        </p:grpSpPr>
        <p:sp>
          <p:nvSpPr>
            <p:cNvPr id="45104" name="直接连接符 65703"/>
            <p:cNvSpPr/>
            <p:nvPr/>
          </p:nvSpPr>
          <p:spPr>
            <a:xfrm>
              <a:off x="4391" y="3477"/>
              <a:ext cx="687" cy="0"/>
            </a:xfrm>
            <a:prstGeom prst="line">
              <a:avLst/>
            </a:prstGeom>
            <a:ln w="9525" cap="flat" cmpd="sng">
              <a:solidFill>
                <a:schemeClr val="tx1"/>
              </a:solidFill>
              <a:prstDash val="solid"/>
              <a:miter/>
              <a:headEnd type="none" w="med" len="med"/>
              <a:tailEnd type="none" w="med" len="med"/>
            </a:ln>
          </p:spPr>
        </p:sp>
        <p:sp>
          <p:nvSpPr>
            <p:cNvPr id="45105" name="直接连接符 65704"/>
            <p:cNvSpPr/>
            <p:nvPr/>
          </p:nvSpPr>
          <p:spPr>
            <a:xfrm flipV="1">
              <a:off x="4463" y="3425"/>
              <a:ext cx="0" cy="52"/>
            </a:xfrm>
            <a:prstGeom prst="line">
              <a:avLst/>
            </a:prstGeom>
            <a:ln w="9525" cap="flat" cmpd="sng">
              <a:solidFill>
                <a:schemeClr val="tx1"/>
              </a:solidFill>
              <a:prstDash val="solid"/>
              <a:miter/>
              <a:headEnd type="none" w="med" len="med"/>
              <a:tailEnd type="none" w="med" len="med"/>
            </a:ln>
          </p:spPr>
        </p:sp>
        <p:sp>
          <p:nvSpPr>
            <p:cNvPr id="45106" name="直接连接符 65705"/>
            <p:cNvSpPr/>
            <p:nvPr/>
          </p:nvSpPr>
          <p:spPr>
            <a:xfrm flipV="1">
              <a:off x="4965" y="3425"/>
              <a:ext cx="0" cy="52"/>
            </a:xfrm>
            <a:prstGeom prst="line">
              <a:avLst/>
            </a:prstGeom>
            <a:ln w="9525" cap="flat" cmpd="sng">
              <a:solidFill>
                <a:schemeClr val="tx1"/>
              </a:solidFill>
              <a:prstDash val="solid"/>
              <a:miter/>
              <a:headEnd type="none" w="med" len="med"/>
              <a:tailEnd type="none" w="med" len="med"/>
            </a:ln>
          </p:spPr>
        </p:sp>
        <p:sp>
          <p:nvSpPr>
            <p:cNvPr id="45107" name="文本框 65706"/>
            <p:cNvSpPr txBox="1"/>
            <p:nvPr/>
          </p:nvSpPr>
          <p:spPr>
            <a:xfrm>
              <a:off x="5115" y="3433"/>
              <a:ext cx="137" cy="274"/>
            </a:xfrm>
            <a:prstGeom prst="rect">
              <a:avLst/>
            </a:prstGeom>
            <a:noFill/>
            <a:ln w="9525">
              <a:noFill/>
            </a:ln>
          </p:spPr>
          <p:txBody>
            <a:bodyPr wrap="none" anchor="t" anchorCtr="0">
              <a:spAutoFit/>
            </a:bodyPr>
            <a:lstStyle/>
            <a:p>
              <a:r>
                <a:rPr lang="en-US" altLang="zh-CN" sz="2400" i="1">
                  <a:latin typeface="Times New Roman" panose="02020603050405020304" pitchFamily="18" charset="0"/>
                  <a:ea typeface="宋体" panose="02010600030101010101" pitchFamily="2" charset="-122"/>
                </a:rPr>
                <a:t>k</a:t>
              </a:r>
            </a:p>
          </p:txBody>
        </p:sp>
        <p:sp>
          <p:nvSpPr>
            <p:cNvPr id="45108" name="文本框 65707"/>
            <p:cNvSpPr txBox="1"/>
            <p:nvPr/>
          </p:nvSpPr>
          <p:spPr>
            <a:xfrm>
              <a:off x="4687" y="1451"/>
              <a:ext cx="159" cy="275"/>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45109" name="直接连接符 65708"/>
            <p:cNvSpPr/>
            <p:nvPr/>
          </p:nvSpPr>
          <p:spPr>
            <a:xfrm flipV="1">
              <a:off x="4965" y="1796"/>
              <a:ext cx="0" cy="1725"/>
            </a:xfrm>
            <a:prstGeom prst="line">
              <a:avLst/>
            </a:prstGeom>
            <a:ln w="3175" cap="flat" cmpd="sng">
              <a:solidFill>
                <a:schemeClr val="tx1"/>
              </a:solidFill>
              <a:prstDash val="lgDashDotDot"/>
              <a:round/>
              <a:headEnd type="none" w="med" len="med"/>
              <a:tailEnd type="none" w="med" len="med"/>
            </a:ln>
          </p:spPr>
        </p:sp>
        <p:sp>
          <p:nvSpPr>
            <p:cNvPr id="45110" name="直接连接符 65709"/>
            <p:cNvSpPr/>
            <p:nvPr/>
          </p:nvSpPr>
          <p:spPr>
            <a:xfrm flipV="1">
              <a:off x="4463" y="1796"/>
              <a:ext cx="0" cy="1725"/>
            </a:xfrm>
            <a:prstGeom prst="line">
              <a:avLst/>
            </a:prstGeom>
            <a:ln w="3175" cap="flat" cmpd="sng">
              <a:solidFill>
                <a:schemeClr val="tx1"/>
              </a:solidFill>
              <a:prstDash val="lgDashDotDot"/>
              <a:round/>
              <a:headEnd type="none" w="med" len="med"/>
              <a:tailEnd type="none" w="med" len="med"/>
            </a:ln>
          </p:spPr>
        </p:sp>
        <p:sp>
          <p:nvSpPr>
            <p:cNvPr id="45111" name="任意多边形 65710"/>
            <p:cNvSpPr/>
            <p:nvPr/>
          </p:nvSpPr>
          <p:spPr>
            <a:xfrm>
              <a:off x="4463" y="3316"/>
              <a:ext cx="502" cy="118"/>
            </a:xfrm>
            <a:custGeom>
              <a:avLst/>
              <a:gdLst/>
              <a:ahLst/>
              <a:cxnLst/>
              <a:rect l="0" t="0" r="0" b="0"/>
              <a:pathLst>
                <a:path w="630" h="124">
                  <a:moveTo>
                    <a:pt x="0" y="8"/>
                  </a:moveTo>
                  <a:cubicBezTo>
                    <a:pt x="12" y="11"/>
                    <a:pt x="18" y="10"/>
                    <a:pt x="70" y="29"/>
                  </a:cubicBezTo>
                  <a:cubicBezTo>
                    <a:pt x="122" y="48"/>
                    <a:pt x="229" y="124"/>
                    <a:pt x="310" y="122"/>
                  </a:cubicBezTo>
                  <a:cubicBezTo>
                    <a:pt x="391" y="120"/>
                    <a:pt x="502" y="38"/>
                    <a:pt x="555" y="19"/>
                  </a:cubicBezTo>
                  <a:cubicBezTo>
                    <a:pt x="608" y="0"/>
                    <a:pt x="615" y="10"/>
                    <a:pt x="630" y="8"/>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45112" name="任意多边形 65711"/>
            <p:cNvSpPr/>
            <p:nvPr/>
          </p:nvSpPr>
          <p:spPr>
            <a:xfrm>
              <a:off x="4464" y="2831"/>
              <a:ext cx="251" cy="395"/>
            </a:xfrm>
            <a:custGeom>
              <a:avLst/>
              <a:gdLst/>
              <a:ahLst/>
              <a:cxnLst/>
              <a:rect l="0" t="0" r="0" b="0"/>
              <a:pathLst>
                <a:path w="316" h="415">
                  <a:moveTo>
                    <a:pt x="0" y="415"/>
                  </a:moveTo>
                  <a:cubicBezTo>
                    <a:pt x="18" y="402"/>
                    <a:pt x="72" y="393"/>
                    <a:pt x="108" y="337"/>
                  </a:cubicBezTo>
                  <a:cubicBezTo>
                    <a:pt x="144" y="281"/>
                    <a:pt x="182" y="137"/>
                    <a:pt x="217" y="81"/>
                  </a:cubicBezTo>
                  <a:cubicBezTo>
                    <a:pt x="252" y="25"/>
                    <a:pt x="296" y="17"/>
                    <a:pt x="316"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45113" name="任意多边形 65712"/>
            <p:cNvSpPr/>
            <p:nvPr/>
          </p:nvSpPr>
          <p:spPr>
            <a:xfrm>
              <a:off x="4719" y="2831"/>
              <a:ext cx="251" cy="395"/>
            </a:xfrm>
            <a:custGeom>
              <a:avLst/>
              <a:gdLst/>
              <a:ahLst/>
              <a:cxnLst/>
              <a:rect l="0" t="0" r="0" b="0"/>
              <a:pathLst>
                <a:path w="315" h="415">
                  <a:moveTo>
                    <a:pt x="315" y="415"/>
                  </a:moveTo>
                  <a:cubicBezTo>
                    <a:pt x="297" y="402"/>
                    <a:pt x="246" y="396"/>
                    <a:pt x="209" y="340"/>
                  </a:cubicBezTo>
                  <a:cubicBezTo>
                    <a:pt x="172" y="284"/>
                    <a:pt x="128" y="138"/>
                    <a:pt x="93" y="81"/>
                  </a:cubicBezTo>
                  <a:cubicBezTo>
                    <a:pt x="58" y="24"/>
                    <a:pt x="19" y="17"/>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45114" name="任意多边形 65713"/>
            <p:cNvSpPr/>
            <p:nvPr/>
          </p:nvSpPr>
          <p:spPr>
            <a:xfrm>
              <a:off x="4716" y="1895"/>
              <a:ext cx="251" cy="788"/>
            </a:xfrm>
            <a:custGeom>
              <a:avLst/>
              <a:gdLst/>
              <a:ahLst/>
              <a:cxnLst/>
              <a:rect l="0" t="0" r="0" b="0"/>
              <a:pathLst>
                <a:path w="315" h="830">
                  <a:moveTo>
                    <a:pt x="0" y="830"/>
                  </a:moveTo>
                  <a:cubicBezTo>
                    <a:pt x="15" y="809"/>
                    <a:pt x="58" y="821"/>
                    <a:pt x="93" y="702"/>
                  </a:cubicBezTo>
                  <a:cubicBezTo>
                    <a:pt x="128" y="583"/>
                    <a:pt x="175" y="234"/>
                    <a:pt x="212" y="117"/>
                  </a:cubicBezTo>
                  <a:cubicBezTo>
                    <a:pt x="249" y="0"/>
                    <a:pt x="294" y="25"/>
                    <a:pt x="315" y="1"/>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45115" name="任意多边形 65714"/>
            <p:cNvSpPr/>
            <p:nvPr/>
          </p:nvSpPr>
          <p:spPr>
            <a:xfrm>
              <a:off x="4468" y="1888"/>
              <a:ext cx="250" cy="822"/>
            </a:xfrm>
            <a:custGeom>
              <a:avLst/>
              <a:gdLst/>
              <a:ahLst/>
              <a:cxnLst/>
              <a:rect l="0" t="0" r="0" b="0"/>
              <a:pathLst>
                <a:path w="313" h="865">
                  <a:moveTo>
                    <a:pt x="313" y="831"/>
                  </a:moveTo>
                  <a:cubicBezTo>
                    <a:pt x="300" y="817"/>
                    <a:pt x="269" y="865"/>
                    <a:pt x="233" y="750"/>
                  </a:cubicBezTo>
                  <a:cubicBezTo>
                    <a:pt x="197" y="635"/>
                    <a:pt x="135" y="269"/>
                    <a:pt x="96" y="144"/>
                  </a:cubicBezTo>
                  <a:cubicBezTo>
                    <a:pt x="57" y="19"/>
                    <a:pt x="20" y="30"/>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45116" name="直接连接符 65715"/>
            <p:cNvSpPr/>
            <p:nvPr/>
          </p:nvSpPr>
          <p:spPr>
            <a:xfrm flipH="1" flipV="1">
              <a:off x="4717" y="1537"/>
              <a:ext cx="2" cy="2086"/>
            </a:xfrm>
            <a:prstGeom prst="line">
              <a:avLst/>
            </a:prstGeom>
            <a:ln w="9525" cap="flat" cmpd="sng">
              <a:solidFill>
                <a:schemeClr val="tx1"/>
              </a:solidFill>
              <a:prstDash val="solid"/>
              <a:miter/>
              <a:headEnd type="none" w="med" len="med"/>
              <a:tailEnd type="none" w="med" len="med"/>
            </a:ln>
          </p:spPr>
        </p:sp>
        <p:sp>
          <p:nvSpPr>
            <p:cNvPr id="45117" name="文本框 65716"/>
            <p:cNvSpPr txBox="1"/>
            <p:nvPr/>
          </p:nvSpPr>
          <p:spPr>
            <a:xfrm>
              <a:off x="4416" y="3848"/>
              <a:ext cx="609" cy="202"/>
            </a:xfrm>
            <a:prstGeom prst="rect">
              <a:avLst/>
            </a:prstGeom>
            <a:noFill/>
            <a:ln w="9525">
              <a:noFill/>
            </a:ln>
          </p:spPr>
          <p:txBody>
            <a:bodyPr wrap="none" anchor="t" anchorCtr="0">
              <a:spAutoFit/>
            </a:bodyPr>
            <a:lstStyle/>
            <a:p>
              <a:r>
                <a:rPr lang="zh-CN" altLang="en-US" sz="1600" b="1" dirty="0">
                  <a:solidFill>
                    <a:srgbClr val="FF0000"/>
                  </a:solidFill>
                  <a:latin typeface="Times New Roman" panose="02020603050405020304" pitchFamily="18" charset="0"/>
                  <a:ea typeface="宋体" panose="02010600030101010101" pitchFamily="2" charset="-122"/>
                </a:rPr>
                <a:t>简约布里渊区</a:t>
              </a:r>
            </a:p>
          </p:txBody>
        </p:sp>
      </p:gr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60A9EE5F-DCF9-BC37-601A-0723B03D98C3}"/>
                  </a:ext>
                </a:extLst>
              </p14:cNvPr>
              <p14:cNvContentPartPr/>
              <p14:nvPr/>
            </p14:nvContentPartPr>
            <p14:xfrm>
              <a:off x="2624872" y="6488373"/>
              <a:ext cx="3314160" cy="284040"/>
            </p14:xfrm>
          </p:contentPart>
        </mc:Choice>
        <mc:Fallback xmlns="">
          <p:pic>
            <p:nvPicPr>
              <p:cNvPr id="2" name="墨迹 1">
                <a:extLst>
                  <a:ext uri="{FF2B5EF4-FFF2-40B4-BE49-F238E27FC236}">
                    <a16:creationId xmlns:a16="http://schemas.microsoft.com/office/drawing/2014/main" id="{60A9EE5F-DCF9-BC37-601A-0723B03D98C3}"/>
                  </a:ext>
                </a:extLst>
              </p:cNvPr>
              <p:cNvPicPr/>
              <p:nvPr/>
            </p:nvPicPr>
            <p:blipFill>
              <a:blip r:embed="rId5"/>
              <a:stretch>
                <a:fillRect/>
              </a:stretch>
            </p:blipFill>
            <p:spPr>
              <a:xfrm>
                <a:off x="2570872" y="6380733"/>
                <a:ext cx="3421800" cy="499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53139939-C354-FE5B-BF29-416CF5401734}"/>
                  </a:ext>
                </a:extLst>
              </p14:cNvPr>
              <p14:cNvContentPartPr/>
              <p14:nvPr/>
            </p14:nvContentPartPr>
            <p14:xfrm>
              <a:off x="2467192" y="6144910"/>
              <a:ext cx="10440" cy="426600"/>
            </p14:xfrm>
          </p:contentPart>
        </mc:Choice>
        <mc:Fallback xmlns="">
          <p:pic>
            <p:nvPicPr>
              <p:cNvPr id="3" name="墨迹 2">
                <a:extLst>
                  <a:ext uri="{FF2B5EF4-FFF2-40B4-BE49-F238E27FC236}">
                    <a16:creationId xmlns:a16="http://schemas.microsoft.com/office/drawing/2014/main" id="{53139939-C354-FE5B-BF29-416CF5401734}"/>
                  </a:ext>
                </a:extLst>
              </p:cNvPr>
              <p:cNvPicPr/>
              <p:nvPr/>
            </p:nvPicPr>
            <p:blipFill>
              <a:blip r:embed="rId7"/>
              <a:stretch>
                <a:fillRect/>
              </a:stretch>
            </p:blipFill>
            <p:spPr>
              <a:xfrm>
                <a:off x="2413552" y="6036910"/>
                <a:ext cx="118080" cy="642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墨迹 3">
                <a:extLst>
                  <a:ext uri="{FF2B5EF4-FFF2-40B4-BE49-F238E27FC236}">
                    <a16:creationId xmlns:a16="http://schemas.microsoft.com/office/drawing/2014/main" id="{0411ED1F-20B5-A959-DCB2-0CA216B9B28A}"/>
                  </a:ext>
                </a:extLst>
              </p14:cNvPr>
              <p14:cNvContentPartPr/>
              <p14:nvPr/>
            </p14:nvContentPartPr>
            <p14:xfrm>
              <a:off x="2340832" y="6034750"/>
              <a:ext cx="3638160" cy="919800"/>
            </p14:xfrm>
          </p:contentPart>
        </mc:Choice>
        <mc:Fallback xmlns="">
          <p:pic>
            <p:nvPicPr>
              <p:cNvPr id="4" name="墨迹 3">
                <a:extLst>
                  <a:ext uri="{FF2B5EF4-FFF2-40B4-BE49-F238E27FC236}">
                    <a16:creationId xmlns:a16="http://schemas.microsoft.com/office/drawing/2014/main" id="{0411ED1F-20B5-A959-DCB2-0CA216B9B28A}"/>
                  </a:ext>
                </a:extLst>
              </p:cNvPr>
              <p:cNvPicPr/>
              <p:nvPr/>
            </p:nvPicPr>
            <p:blipFill>
              <a:blip r:embed="rId9"/>
              <a:stretch>
                <a:fillRect/>
              </a:stretch>
            </p:blipFill>
            <p:spPr>
              <a:xfrm>
                <a:off x="2287192" y="5927110"/>
                <a:ext cx="3745800" cy="1135440"/>
              </a:xfrm>
              <a:prstGeom prst="rect">
                <a:avLst/>
              </a:prstGeom>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695"/>
                                        </p:tgtEl>
                                        <p:attrNameLst>
                                          <p:attrName>style.visibility</p:attrName>
                                        </p:attrNameLst>
                                      </p:cBhvr>
                                      <p:to>
                                        <p:strVal val="visible"/>
                                      </p:to>
                                    </p:set>
                                    <p:animEffect transition="in" filter="blinds(horizontal)">
                                      <p:cBhvr>
                                        <p:cTn id="7" dur="500"/>
                                        <p:tgtEl>
                                          <p:spTgt spid="65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3"/>
          <p:cNvSpPr>
            <a:spLocks noGrp="1"/>
          </p:cNvSpPr>
          <p:nvPr>
            <p:ph idx="1"/>
          </p:nvPr>
        </p:nvSpPr>
        <p:spPr>
          <a:xfrm>
            <a:off x="450850" y="1773238"/>
            <a:ext cx="8110538" cy="4953000"/>
          </a:xfrm>
        </p:spPr>
        <p:txBody>
          <a:bodyPr vert="horz" wrap="square" lIns="91440" tIns="45720" rIns="91440" bIns="45720" anchor="t" anchorCtr="0"/>
          <a:lstStyle/>
          <a:p>
            <a:pPr marL="0" indent="0" algn="just" eaLnBrk="1" hangingPunct="1">
              <a:buNone/>
            </a:pPr>
            <a:r>
              <a:rPr lang="zh-CN" altLang="en-US" sz="2400" dirty="0">
                <a:latin typeface="黑体" panose="02010609060101010101" pitchFamily="49" charset="-122"/>
                <a:ea typeface="黑体" panose="02010609060101010101" pitchFamily="49" charset="-122"/>
              </a:rPr>
              <a:t>图中虚线为自由电子的关系，实线为周期势场的关系曲线，在布里渊区边界出现了不连续，形成允带和禁带。允带出现的条件是：第一布里渊区出现在中间，第二、第三分别在两边。将能量值</a:t>
            </a:r>
            <a:r>
              <a:rPr lang="en-US" altLang="zh-CN" sz="2400" dirty="0">
                <a:latin typeface="黑体" panose="02010609060101010101" pitchFamily="49" charset="-122"/>
                <a:ea typeface="黑体" panose="02010609060101010101" pitchFamily="49" charset="-122"/>
              </a:rPr>
              <a:t>Ε(k)</a:t>
            </a:r>
            <a:r>
              <a:rPr lang="zh-CN" altLang="en-US" sz="2400" dirty="0">
                <a:latin typeface="黑体" panose="02010609060101010101" pitchFamily="49" charset="-122"/>
                <a:ea typeface="黑体" panose="02010609060101010101" pitchFamily="49" charset="-122"/>
              </a:rPr>
              <a:t>作布里渊区整数倍的平移，总可以将其他布里渊区的值平移到第一布里渊区。因倒空间的周期性，这种平移不改变能量的大小。因此，第一布里渊区有晶体能量的全部信息。常称此区域为简约布里渊区。根据周期性边界条件，三个波矢分量为</a:t>
            </a:r>
          </a:p>
        </p:txBody>
      </p:sp>
      <p:graphicFrame>
        <p:nvGraphicFramePr>
          <p:cNvPr id="26626" name="Object 5"/>
          <p:cNvGraphicFramePr>
            <a:graphicFrameLocks noChangeAspect="1"/>
          </p:cNvGraphicFramePr>
          <p:nvPr/>
        </p:nvGraphicFramePr>
        <p:xfrm>
          <a:off x="2286000" y="4876800"/>
          <a:ext cx="5562600" cy="1524000"/>
        </p:xfrm>
        <a:graphic>
          <a:graphicData uri="http://schemas.openxmlformats.org/presentationml/2006/ole">
            <mc:AlternateContent xmlns:mc="http://schemas.openxmlformats.org/markup-compatibility/2006">
              <mc:Choice xmlns:v="urn:schemas-microsoft-com:vml" Requires="v">
                <p:oleObj r:id="rId2" imgW="1676400" imgH="1231900" progId="Equation.3">
                  <p:embed/>
                </p:oleObj>
              </mc:Choice>
              <mc:Fallback>
                <p:oleObj r:id="rId2" imgW="1676400" imgH="1231900" progId="Equation.3">
                  <p:embed/>
                  <p:pic>
                    <p:nvPicPr>
                      <p:cNvPr id="0" name="图片 3080"/>
                      <p:cNvPicPr/>
                      <p:nvPr/>
                    </p:nvPicPr>
                    <p:blipFill>
                      <a:blip r:embed="rId3"/>
                      <a:stretch>
                        <a:fillRect/>
                      </a:stretch>
                    </p:blipFill>
                    <p:spPr>
                      <a:xfrm>
                        <a:off x="2286000" y="4876800"/>
                        <a:ext cx="5562600" cy="1524000"/>
                      </a:xfrm>
                      <a:prstGeom prst="rect">
                        <a:avLst/>
                      </a:prstGeom>
                      <a:noFill/>
                      <a:ln w="38100">
                        <a:noFill/>
                        <a:miter/>
                      </a:ln>
                    </p:spPr>
                  </p:pic>
                </p:oleObj>
              </mc:Fallback>
            </mc:AlternateContent>
          </a:graphicData>
        </a:graphic>
      </p:graphicFrame>
      <p:sp>
        <p:nvSpPr>
          <p:cNvPr id="26627"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2</a:t>
            </a:r>
            <a:r>
              <a:rPr lang="zh-CN" altLang="en-US" dirty="0">
                <a:latin typeface="华文新魏" panose="02010800040101010101" pitchFamily="2" charset="-122"/>
                <a:ea typeface="华文新魏" panose="02010800040101010101" pitchFamily="2" charset="-122"/>
              </a:rPr>
              <a:t>  半导体中的电子状态和能带</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304800" y="1828800"/>
            <a:ext cx="8110538" cy="4840288"/>
          </a:xfrm>
        </p:spPr>
        <p:txBody>
          <a:bodyPr vert="horz" wrap="square" lIns="91440" tIns="45720" rIns="91440" bIns="45720" numCol="1" anchor="t" anchorCtr="0" compatLnSpc="1"/>
          <a:lstStyle/>
          <a:p>
            <a:pPr marL="101600" marR="0" lvl="0" indent="-101600" algn="l" defTabSz="914400" rtl="0" eaLnBrk="1" fontAlgn="base" latinLnBrk="0" hangingPunct="1">
              <a:lnSpc>
                <a:spcPct val="90000"/>
              </a:lnSpc>
              <a:spcBef>
                <a:spcPct val="0"/>
              </a:spcBef>
              <a:spcAft>
                <a:spcPct val="0"/>
              </a:spcAft>
              <a:buClr>
                <a:schemeClr val="folHlink"/>
              </a:buClr>
              <a:buSzPct val="75000"/>
              <a:buFont typeface="Wingdings" panose="05000000000000000000" pitchFamily="2" charset="2"/>
              <a:buNone/>
              <a:defRPr/>
            </a:pPr>
            <a:r>
              <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2.</a:t>
            </a: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半导体中电子的状态和能带</a:t>
            </a:r>
            <a:endPar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在晶体中的电子，存在着电子和电子之间的相互作用，也存在电子与离子的相互作用。为了理论计算的方便，必须作简化处理。</a:t>
            </a:r>
          </a:p>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单电子近似：忽略电子之间的相互作用，仅考虑离子的周期性势场对电子的影响，同时认为原子核是固定不动的。这种近似也叫做“独立电子近似”。</a:t>
            </a:r>
          </a:p>
          <a:p>
            <a:pPr marL="0" marR="0" lvl="0" indent="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电子运动满足的规律：</a:t>
            </a:r>
          </a:p>
          <a:p>
            <a:pPr marL="342900" marR="0" lvl="0" indent="-342900" algn="l" defTabSz="914400" rtl="0" eaLnBrk="1" fontAlgn="base" latinLnBrk="0" hangingPunct="1">
              <a:lnSpc>
                <a:spcPct val="9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p>
        </p:txBody>
      </p:sp>
      <p:graphicFrame>
        <p:nvGraphicFramePr>
          <p:cNvPr id="23554" name="Object 6"/>
          <p:cNvGraphicFramePr>
            <a:graphicFrameLocks noChangeAspect="1"/>
          </p:cNvGraphicFramePr>
          <p:nvPr/>
        </p:nvGraphicFramePr>
        <p:xfrm>
          <a:off x="1079500" y="4968875"/>
          <a:ext cx="6016625" cy="1516063"/>
        </p:xfrm>
        <a:graphic>
          <a:graphicData uri="http://schemas.openxmlformats.org/presentationml/2006/ole">
            <mc:AlternateContent xmlns:mc="http://schemas.openxmlformats.org/markup-compatibility/2006">
              <mc:Choice xmlns:v="urn:schemas-microsoft-com:vml" Requires="v">
                <p:oleObj r:id="rId2" imgW="2133600" imgH="774700" progId="Equation.DSMT4">
                  <p:embed/>
                </p:oleObj>
              </mc:Choice>
              <mc:Fallback>
                <p:oleObj r:id="rId2" imgW="2133600" imgH="774700" progId="Equation.DSMT4">
                  <p:embed/>
                  <p:pic>
                    <p:nvPicPr>
                      <p:cNvPr id="0" name="图片 3079"/>
                      <p:cNvPicPr/>
                      <p:nvPr/>
                    </p:nvPicPr>
                    <p:blipFill>
                      <a:blip r:embed="rId3"/>
                      <a:stretch>
                        <a:fillRect/>
                      </a:stretch>
                    </p:blipFill>
                    <p:spPr>
                      <a:xfrm>
                        <a:off x="1079500" y="4968875"/>
                        <a:ext cx="6016625" cy="1516063"/>
                      </a:xfrm>
                      <a:prstGeom prst="rect">
                        <a:avLst/>
                      </a:prstGeom>
                      <a:noFill/>
                      <a:ln w="38100">
                        <a:noFill/>
                        <a:miter/>
                      </a:ln>
                    </p:spPr>
                  </p:pic>
                </p:oleObj>
              </mc:Fallback>
            </mc:AlternateContent>
          </a:graphicData>
        </a:graphic>
      </p:graphicFrame>
      <p:sp>
        <p:nvSpPr>
          <p:cNvPr id="23555"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2</a:t>
            </a:r>
            <a:r>
              <a:rPr lang="zh-CN" altLang="en-US" dirty="0">
                <a:latin typeface="华文新魏" panose="02010800040101010101" pitchFamily="2" charset="-122"/>
                <a:ea typeface="华文新魏" panose="02010800040101010101" pitchFamily="2" charset="-122"/>
              </a:rPr>
              <a:t>  半导体中的电子状态和能带</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A22B7AFD-B197-CD4F-0FF7-DADA5FAF43E3}"/>
                  </a:ext>
                </a:extLst>
              </p14:cNvPr>
              <p14:cNvContentPartPr/>
              <p14:nvPr/>
            </p14:nvContentPartPr>
            <p14:xfrm>
              <a:off x="1277752" y="3694053"/>
              <a:ext cx="5869800" cy="120960"/>
            </p14:xfrm>
          </p:contentPart>
        </mc:Choice>
        <mc:Fallback xmlns="">
          <p:pic>
            <p:nvPicPr>
              <p:cNvPr id="2" name="墨迹 1">
                <a:extLst>
                  <a:ext uri="{FF2B5EF4-FFF2-40B4-BE49-F238E27FC236}">
                    <a16:creationId xmlns:a16="http://schemas.microsoft.com/office/drawing/2014/main" id="{A22B7AFD-B197-CD4F-0FF7-DADA5FAF43E3}"/>
                  </a:ext>
                </a:extLst>
              </p:cNvPr>
              <p:cNvPicPr/>
              <p:nvPr/>
            </p:nvPicPr>
            <p:blipFill>
              <a:blip r:embed="rId5"/>
              <a:stretch>
                <a:fillRect/>
              </a:stretch>
            </p:blipFill>
            <p:spPr>
              <a:xfrm>
                <a:off x="1223752" y="3586053"/>
                <a:ext cx="597744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8ECCB0A9-036B-F4AD-7390-57325AD3B2CE}"/>
                  </a:ext>
                </a:extLst>
              </p14:cNvPr>
              <p14:cNvContentPartPr/>
              <p14:nvPr/>
            </p14:nvContentPartPr>
            <p14:xfrm>
              <a:off x="953392" y="4198053"/>
              <a:ext cx="3210480" cy="10080"/>
            </p14:xfrm>
          </p:contentPart>
        </mc:Choice>
        <mc:Fallback xmlns="">
          <p:pic>
            <p:nvPicPr>
              <p:cNvPr id="3" name="墨迹 2">
                <a:extLst>
                  <a:ext uri="{FF2B5EF4-FFF2-40B4-BE49-F238E27FC236}">
                    <a16:creationId xmlns:a16="http://schemas.microsoft.com/office/drawing/2014/main" id="{8ECCB0A9-036B-F4AD-7390-57325AD3B2CE}"/>
                  </a:ext>
                </a:extLst>
              </p:cNvPr>
              <p:cNvPicPr/>
              <p:nvPr/>
            </p:nvPicPr>
            <p:blipFill>
              <a:blip r:embed="rId7"/>
              <a:stretch>
                <a:fillRect/>
              </a:stretch>
            </p:blipFill>
            <p:spPr>
              <a:xfrm>
                <a:off x="899752" y="4090413"/>
                <a:ext cx="3318120" cy="22572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矩形 8252"/>
          <p:cNvSpPr/>
          <p:nvPr/>
        </p:nvSpPr>
        <p:spPr>
          <a:xfrm>
            <a:off x="623888" y="1628775"/>
            <a:ext cx="8137525" cy="3743325"/>
          </a:xfrm>
          <a:prstGeom prst="rect">
            <a:avLst/>
          </a:prstGeom>
          <a:solidFill>
            <a:schemeClr val="tx2">
              <a:lumMod val="40000"/>
              <a:lumOff val="60000"/>
            </a:schemeClr>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8674" name="直接连接符 8196"/>
          <p:cNvSpPr/>
          <p:nvPr/>
        </p:nvSpPr>
        <p:spPr>
          <a:xfrm flipV="1">
            <a:off x="2124075" y="1655763"/>
            <a:ext cx="0" cy="3429000"/>
          </a:xfrm>
          <a:prstGeom prst="line">
            <a:avLst/>
          </a:prstGeom>
          <a:ln w="9525" cap="flat" cmpd="sng">
            <a:solidFill>
              <a:srgbClr val="FFFF00"/>
            </a:solidFill>
            <a:prstDash val="solid"/>
            <a:miter/>
            <a:headEnd type="none" w="med" len="med"/>
            <a:tailEnd type="triangle" w="med" len="med"/>
          </a:ln>
        </p:spPr>
      </p:sp>
      <p:graphicFrame>
        <p:nvGraphicFramePr>
          <p:cNvPr id="28675" name="对象 8228"/>
          <p:cNvGraphicFramePr/>
          <p:nvPr/>
        </p:nvGraphicFramePr>
        <p:xfrm>
          <a:off x="2555875" y="1700213"/>
          <a:ext cx="3600450" cy="576262"/>
        </p:xfrm>
        <a:graphic>
          <a:graphicData uri="http://schemas.openxmlformats.org/presentationml/2006/ole">
            <mc:AlternateContent xmlns:mc="http://schemas.openxmlformats.org/markup-compatibility/2006">
              <mc:Choice xmlns:v="urn:schemas-microsoft-com:vml" Requires="v">
                <p:oleObj r:id="rId2" imgW="1054100" imgH="228600" progId="Equation.DSMT4">
                  <p:embed/>
                </p:oleObj>
              </mc:Choice>
              <mc:Fallback>
                <p:oleObj r:id="rId2" imgW="1054100" imgH="228600" progId="Equation.DSMT4">
                  <p:embed/>
                  <p:pic>
                    <p:nvPicPr>
                      <p:cNvPr id="0" name="图片 3174"/>
                      <p:cNvPicPr/>
                      <p:nvPr/>
                    </p:nvPicPr>
                    <p:blipFill>
                      <a:blip r:embed="rId3"/>
                      <a:stretch>
                        <a:fillRect/>
                      </a:stretch>
                    </p:blipFill>
                    <p:spPr>
                      <a:xfrm>
                        <a:off x="2555875" y="1700213"/>
                        <a:ext cx="3600450" cy="576262"/>
                      </a:xfrm>
                      <a:prstGeom prst="rect">
                        <a:avLst/>
                      </a:prstGeom>
                      <a:solidFill>
                        <a:srgbClr val="CCFFFF"/>
                      </a:solidFill>
                      <a:ln w="9525" cap="flat" cmpd="sng">
                        <a:solidFill>
                          <a:srgbClr val="FF0000"/>
                        </a:solidFill>
                        <a:prstDash val="solid"/>
                        <a:miter/>
                        <a:headEnd type="none" w="med" len="med"/>
                        <a:tailEnd type="none" w="med" len="med"/>
                      </a:ln>
                    </p:spPr>
                  </p:pic>
                </p:oleObj>
              </mc:Fallback>
            </mc:AlternateContent>
          </a:graphicData>
        </a:graphic>
      </p:graphicFrame>
      <p:sp>
        <p:nvSpPr>
          <p:cNvPr id="28676" name="矩形 8229"/>
          <p:cNvSpPr/>
          <p:nvPr/>
        </p:nvSpPr>
        <p:spPr>
          <a:xfrm>
            <a:off x="1547813" y="1052513"/>
            <a:ext cx="5545137" cy="519112"/>
          </a:xfrm>
          <a:prstGeom prst="rect">
            <a:avLst/>
          </a:prstGeom>
          <a:noFill/>
          <a:ln w="9525">
            <a:noFill/>
          </a:ln>
        </p:spPr>
        <p:txBody>
          <a:bodyPr anchor="t" anchorCtr="0">
            <a:spAutoFit/>
          </a:bodyPr>
          <a:lstStyle/>
          <a:p>
            <a:r>
              <a:rPr lang="zh-CN" altLang="en-US" sz="2800" b="1" dirty="0">
                <a:latin typeface="Times New Roman" panose="02020603050405020304" pitchFamily="18" charset="0"/>
                <a:ea typeface="宋体" panose="02010600030101010101" pitchFamily="2" charset="-122"/>
              </a:rPr>
              <a:t>晶体中的周期性势场分布</a:t>
            </a:r>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一维</a:t>
            </a:r>
            <a:r>
              <a:rPr lang="en-US" altLang="zh-CN" sz="2800" b="1">
                <a:latin typeface="Times New Roman" panose="02020603050405020304" pitchFamily="18" charset="0"/>
                <a:ea typeface="宋体" panose="02010600030101010101" pitchFamily="2" charset="-122"/>
              </a:rPr>
              <a:t>)</a:t>
            </a:r>
          </a:p>
        </p:txBody>
      </p:sp>
      <p:grpSp>
        <p:nvGrpSpPr>
          <p:cNvPr id="28677" name="组合 8276"/>
          <p:cNvGrpSpPr/>
          <p:nvPr/>
        </p:nvGrpSpPr>
        <p:grpSpPr>
          <a:xfrm>
            <a:off x="1042988" y="1800225"/>
            <a:ext cx="7058025" cy="3089275"/>
            <a:chOff x="657" y="1134"/>
            <a:chExt cx="4446" cy="1946"/>
          </a:xfrm>
        </p:grpSpPr>
        <p:sp>
          <p:nvSpPr>
            <p:cNvPr id="28678" name="直接连接符 8195"/>
            <p:cNvSpPr/>
            <p:nvPr/>
          </p:nvSpPr>
          <p:spPr>
            <a:xfrm flipV="1">
              <a:off x="657" y="1860"/>
              <a:ext cx="4446" cy="0"/>
            </a:xfrm>
            <a:prstGeom prst="line">
              <a:avLst/>
            </a:prstGeom>
            <a:ln w="9525" cap="flat" cmpd="sng">
              <a:solidFill>
                <a:srgbClr val="FFFF00"/>
              </a:solidFill>
              <a:prstDash val="solid"/>
              <a:miter/>
              <a:headEnd type="none" w="med" len="med"/>
              <a:tailEnd type="triangle" w="med" len="med"/>
            </a:ln>
          </p:spPr>
        </p:sp>
        <p:sp>
          <p:nvSpPr>
            <p:cNvPr id="28679" name="流程图: 联系 8214"/>
            <p:cNvSpPr/>
            <p:nvPr/>
          </p:nvSpPr>
          <p:spPr>
            <a:xfrm>
              <a:off x="1287" y="2953"/>
              <a:ext cx="96" cy="96"/>
            </a:xfrm>
            <a:prstGeom prst="flowChartConnector">
              <a:avLst/>
            </a:prstGeom>
            <a:solidFill>
              <a:srgbClr val="FF0000"/>
            </a:solidFill>
            <a:ln w="9525" cap="flat" cmpd="sng">
              <a:solidFill>
                <a:srgbClr val="FFFF00"/>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8680" name="流程图: 联系 8215"/>
            <p:cNvSpPr/>
            <p:nvPr/>
          </p:nvSpPr>
          <p:spPr>
            <a:xfrm>
              <a:off x="3787" y="2953"/>
              <a:ext cx="96" cy="96"/>
            </a:xfrm>
            <a:prstGeom prst="flowChartConnector">
              <a:avLst/>
            </a:prstGeom>
            <a:solidFill>
              <a:srgbClr val="FF0000"/>
            </a:solidFill>
            <a:ln w="9525" cap="flat" cmpd="sng">
              <a:solidFill>
                <a:srgbClr val="FFFF00"/>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8681" name="流程图: 联系 8216"/>
            <p:cNvSpPr/>
            <p:nvPr/>
          </p:nvSpPr>
          <p:spPr>
            <a:xfrm>
              <a:off x="3288" y="2953"/>
              <a:ext cx="96" cy="96"/>
            </a:xfrm>
            <a:prstGeom prst="flowChartConnector">
              <a:avLst/>
            </a:prstGeom>
            <a:solidFill>
              <a:srgbClr val="FF0000"/>
            </a:solidFill>
            <a:ln w="9525" cap="flat" cmpd="sng">
              <a:solidFill>
                <a:srgbClr val="FFFF00"/>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8682" name="流程图: 联系 8217"/>
            <p:cNvSpPr/>
            <p:nvPr/>
          </p:nvSpPr>
          <p:spPr>
            <a:xfrm>
              <a:off x="2789" y="2948"/>
              <a:ext cx="96" cy="96"/>
            </a:xfrm>
            <a:prstGeom prst="flowChartConnector">
              <a:avLst/>
            </a:prstGeom>
            <a:solidFill>
              <a:srgbClr val="FF0000"/>
            </a:solidFill>
            <a:ln w="9525" cap="flat" cmpd="sng">
              <a:solidFill>
                <a:srgbClr val="FFFF00"/>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8683" name="流程图: 联系 8218"/>
            <p:cNvSpPr/>
            <p:nvPr/>
          </p:nvSpPr>
          <p:spPr>
            <a:xfrm>
              <a:off x="1786" y="2953"/>
              <a:ext cx="96" cy="96"/>
            </a:xfrm>
            <a:prstGeom prst="flowChartConnector">
              <a:avLst/>
            </a:prstGeom>
            <a:solidFill>
              <a:srgbClr val="FF0000"/>
            </a:solidFill>
            <a:ln w="9525" cap="flat" cmpd="sng">
              <a:solidFill>
                <a:srgbClr val="FFFF00"/>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8684" name="流程图: 联系 8219"/>
            <p:cNvSpPr/>
            <p:nvPr/>
          </p:nvSpPr>
          <p:spPr>
            <a:xfrm>
              <a:off x="2290" y="2953"/>
              <a:ext cx="96" cy="96"/>
            </a:xfrm>
            <a:prstGeom prst="flowChartConnector">
              <a:avLst/>
            </a:prstGeom>
            <a:solidFill>
              <a:srgbClr val="FF0000"/>
            </a:solidFill>
            <a:ln w="9525" cap="flat" cmpd="sng">
              <a:solidFill>
                <a:srgbClr val="FFFF00"/>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8685" name="文本框 8220"/>
            <p:cNvSpPr txBox="1"/>
            <p:nvPr/>
          </p:nvSpPr>
          <p:spPr>
            <a:xfrm>
              <a:off x="4876" y="1452"/>
              <a:ext cx="201" cy="365"/>
            </a:xfrm>
            <a:prstGeom prst="rect">
              <a:avLst/>
            </a:prstGeom>
            <a:noFill/>
            <a:ln w="9525">
              <a:noFill/>
            </a:ln>
          </p:spPr>
          <p:txBody>
            <a:bodyPr wrap="none" anchor="t" anchorCtr="0">
              <a:spAutoFit/>
            </a:bodyPr>
            <a:lstStyle/>
            <a:p>
              <a:r>
                <a:rPr lang="en-US" altLang="zh-CN" sz="3200">
                  <a:latin typeface="Times New Roman" panose="02020603050405020304" pitchFamily="18" charset="0"/>
                  <a:ea typeface="宋体" panose="02010600030101010101" pitchFamily="2" charset="-122"/>
                </a:rPr>
                <a:t>r</a:t>
              </a:r>
            </a:p>
          </p:txBody>
        </p:sp>
        <p:sp>
          <p:nvSpPr>
            <p:cNvPr id="28686" name="直接连接符 8221"/>
            <p:cNvSpPr/>
            <p:nvPr/>
          </p:nvSpPr>
          <p:spPr>
            <a:xfrm flipV="1">
              <a:off x="1837" y="1606"/>
              <a:ext cx="0" cy="240"/>
            </a:xfrm>
            <a:prstGeom prst="line">
              <a:avLst/>
            </a:prstGeom>
            <a:ln w="9525" cap="flat" cmpd="sng">
              <a:solidFill>
                <a:srgbClr val="FFFF00"/>
              </a:solidFill>
              <a:prstDash val="solid"/>
              <a:miter/>
              <a:headEnd type="none" w="med" len="med"/>
              <a:tailEnd type="none" w="med" len="med"/>
            </a:ln>
          </p:spPr>
        </p:sp>
        <p:sp>
          <p:nvSpPr>
            <p:cNvPr id="28687" name="直接连接符 8223"/>
            <p:cNvSpPr/>
            <p:nvPr/>
          </p:nvSpPr>
          <p:spPr>
            <a:xfrm flipH="1">
              <a:off x="1338" y="1678"/>
              <a:ext cx="499" cy="0"/>
            </a:xfrm>
            <a:prstGeom prst="line">
              <a:avLst/>
            </a:prstGeom>
            <a:ln w="9525" cap="flat" cmpd="sng">
              <a:solidFill>
                <a:srgbClr val="FFFF00"/>
              </a:solidFill>
              <a:prstDash val="solid"/>
              <a:miter/>
              <a:headEnd type="triangle" w="med" len="med"/>
              <a:tailEnd type="triangle" w="med" len="med"/>
            </a:ln>
          </p:spPr>
        </p:sp>
        <p:sp>
          <p:nvSpPr>
            <p:cNvPr id="28688" name="文本框 8224"/>
            <p:cNvSpPr txBox="1"/>
            <p:nvPr/>
          </p:nvSpPr>
          <p:spPr>
            <a:xfrm>
              <a:off x="1474" y="1452"/>
              <a:ext cx="244" cy="288"/>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R</a:t>
              </a:r>
            </a:p>
          </p:txBody>
        </p:sp>
        <p:sp>
          <p:nvSpPr>
            <p:cNvPr id="28689" name="文本框 8226"/>
            <p:cNvSpPr txBox="1"/>
            <p:nvPr/>
          </p:nvSpPr>
          <p:spPr>
            <a:xfrm>
              <a:off x="703" y="1134"/>
              <a:ext cx="556" cy="365"/>
            </a:xfrm>
            <a:prstGeom prst="rect">
              <a:avLst/>
            </a:prstGeom>
            <a:noFill/>
            <a:ln w="9525">
              <a:noFill/>
            </a:ln>
          </p:spPr>
          <p:txBody>
            <a:bodyPr wrap="none" anchor="t" anchorCtr="0">
              <a:spAutoFit/>
            </a:bodyPr>
            <a:lstStyle/>
            <a:p>
              <a:r>
                <a:rPr lang="en-US" altLang="zh-CN" sz="3200" err="1">
                  <a:latin typeface="Times New Roman" panose="02020603050405020304" pitchFamily="18" charset="0"/>
                  <a:ea typeface="宋体" panose="02010600030101010101" pitchFamily="2" charset="-122"/>
                </a:rPr>
                <a:t>V(r</a:t>
              </a:r>
              <a:r>
                <a:rPr lang="en-US" altLang="zh-CN" sz="3200">
                  <a:latin typeface="Times New Roman" panose="02020603050405020304" pitchFamily="18" charset="0"/>
                  <a:ea typeface="宋体" panose="02010600030101010101" pitchFamily="2" charset="-122"/>
                </a:rPr>
                <a:t>)</a:t>
              </a:r>
            </a:p>
          </p:txBody>
        </p:sp>
        <p:sp>
          <p:nvSpPr>
            <p:cNvPr id="28690" name="任意多边形 8230"/>
            <p:cNvSpPr/>
            <p:nvPr/>
          </p:nvSpPr>
          <p:spPr>
            <a:xfrm>
              <a:off x="1474" y="2026"/>
              <a:ext cx="228" cy="1039"/>
            </a:xfrm>
            <a:custGeom>
              <a:avLst/>
              <a:gdLst/>
              <a:ahLst/>
              <a:cxnLst/>
              <a:rect l="0" t="0" r="0" b="0"/>
              <a:pathLst>
                <a:path w="223" h="1039">
                  <a:moveTo>
                    <a:pt x="0" y="1039"/>
                  </a:moveTo>
                  <a:cubicBezTo>
                    <a:pt x="4" y="937"/>
                    <a:pt x="7" y="589"/>
                    <a:pt x="17" y="429"/>
                  </a:cubicBezTo>
                  <a:cubicBezTo>
                    <a:pt x="27" y="269"/>
                    <a:pt x="39" y="138"/>
                    <a:pt x="60" y="77"/>
                  </a:cubicBezTo>
                  <a:cubicBezTo>
                    <a:pt x="81" y="16"/>
                    <a:pt x="123" y="0"/>
                    <a:pt x="146" y="61"/>
                  </a:cubicBezTo>
                  <a:cubicBezTo>
                    <a:pt x="169" y="122"/>
                    <a:pt x="186" y="307"/>
                    <a:pt x="197" y="440"/>
                  </a:cubicBezTo>
                  <a:cubicBezTo>
                    <a:pt x="208" y="573"/>
                    <a:pt x="211" y="763"/>
                    <a:pt x="215" y="861"/>
                  </a:cubicBezTo>
                  <a:cubicBezTo>
                    <a:pt x="219" y="959"/>
                    <a:pt x="221" y="996"/>
                    <a:pt x="223" y="1031"/>
                  </a:cubicBezTo>
                </a:path>
              </a:pathLst>
            </a:custGeom>
            <a:noFill/>
            <a:ln w="31750" cap="flat" cmpd="sng">
              <a:solidFill>
                <a:srgbClr val="FFFF00"/>
              </a:solidFill>
              <a:prstDash val="solid"/>
              <a:round/>
              <a:headEnd type="none" w="med" len="med"/>
              <a:tailEnd type="none" w="med" len="med"/>
            </a:ln>
          </p:spPr>
          <p:txBody>
            <a:bodyPr/>
            <a:lstStyle/>
            <a:p>
              <a:endParaRPr lang="zh-CN" altLang="en-US"/>
            </a:p>
          </p:txBody>
        </p:sp>
        <p:sp>
          <p:nvSpPr>
            <p:cNvPr id="28691" name="任意多边形 8236"/>
            <p:cNvSpPr/>
            <p:nvPr/>
          </p:nvSpPr>
          <p:spPr>
            <a:xfrm>
              <a:off x="1973" y="2041"/>
              <a:ext cx="228" cy="1039"/>
            </a:xfrm>
            <a:custGeom>
              <a:avLst/>
              <a:gdLst/>
              <a:ahLst/>
              <a:cxnLst/>
              <a:rect l="0" t="0" r="0" b="0"/>
              <a:pathLst>
                <a:path w="223" h="1039">
                  <a:moveTo>
                    <a:pt x="0" y="1039"/>
                  </a:moveTo>
                  <a:cubicBezTo>
                    <a:pt x="4" y="937"/>
                    <a:pt x="7" y="589"/>
                    <a:pt x="17" y="429"/>
                  </a:cubicBezTo>
                  <a:cubicBezTo>
                    <a:pt x="27" y="269"/>
                    <a:pt x="39" y="138"/>
                    <a:pt x="60" y="77"/>
                  </a:cubicBezTo>
                  <a:cubicBezTo>
                    <a:pt x="81" y="16"/>
                    <a:pt x="123" y="0"/>
                    <a:pt x="146" y="61"/>
                  </a:cubicBezTo>
                  <a:cubicBezTo>
                    <a:pt x="169" y="122"/>
                    <a:pt x="186" y="307"/>
                    <a:pt x="197" y="440"/>
                  </a:cubicBezTo>
                  <a:cubicBezTo>
                    <a:pt x="208" y="573"/>
                    <a:pt x="211" y="763"/>
                    <a:pt x="215" y="861"/>
                  </a:cubicBezTo>
                  <a:cubicBezTo>
                    <a:pt x="219" y="959"/>
                    <a:pt x="221" y="996"/>
                    <a:pt x="223" y="1031"/>
                  </a:cubicBezTo>
                </a:path>
              </a:pathLst>
            </a:custGeom>
            <a:noFill/>
            <a:ln w="31750" cap="flat" cmpd="sng">
              <a:solidFill>
                <a:srgbClr val="FFFF00"/>
              </a:solidFill>
              <a:prstDash val="solid"/>
              <a:round/>
              <a:headEnd type="none" w="med" len="med"/>
              <a:tailEnd type="none" w="med" len="med"/>
            </a:ln>
          </p:spPr>
          <p:txBody>
            <a:bodyPr/>
            <a:lstStyle/>
            <a:p>
              <a:endParaRPr lang="zh-CN" altLang="en-US"/>
            </a:p>
          </p:txBody>
        </p:sp>
        <p:sp>
          <p:nvSpPr>
            <p:cNvPr id="28692" name="任意多边形 8237"/>
            <p:cNvSpPr/>
            <p:nvPr/>
          </p:nvSpPr>
          <p:spPr>
            <a:xfrm>
              <a:off x="1476" y="1857"/>
              <a:ext cx="725" cy="1197"/>
            </a:xfrm>
            <a:custGeom>
              <a:avLst/>
              <a:gdLst/>
              <a:ahLst/>
              <a:cxnLst/>
              <a:rect l="0" t="0" r="0" b="0"/>
              <a:pathLst>
                <a:path w="725" h="1197">
                  <a:moveTo>
                    <a:pt x="5" y="1197"/>
                  </a:moveTo>
                  <a:cubicBezTo>
                    <a:pt x="1" y="1042"/>
                    <a:pt x="0" y="889"/>
                    <a:pt x="5" y="744"/>
                  </a:cubicBezTo>
                  <a:cubicBezTo>
                    <a:pt x="10" y="599"/>
                    <a:pt x="16" y="432"/>
                    <a:pt x="37" y="329"/>
                  </a:cubicBezTo>
                  <a:cubicBezTo>
                    <a:pt x="58" y="226"/>
                    <a:pt x="79" y="177"/>
                    <a:pt x="132" y="123"/>
                  </a:cubicBezTo>
                  <a:cubicBezTo>
                    <a:pt x="185" y="69"/>
                    <a:pt x="286" y="6"/>
                    <a:pt x="356" y="3"/>
                  </a:cubicBezTo>
                  <a:cubicBezTo>
                    <a:pt x="426" y="0"/>
                    <a:pt x="503" y="55"/>
                    <a:pt x="553" y="106"/>
                  </a:cubicBezTo>
                  <a:cubicBezTo>
                    <a:pt x="603" y="157"/>
                    <a:pt x="630" y="205"/>
                    <a:pt x="656" y="312"/>
                  </a:cubicBezTo>
                  <a:cubicBezTo>
                    <a:pt x="682" y="419"/>
                    <a:pt x="697" y="604"/>
                    <a:pt x="708" y="751"/>
                  </a:cubicBezTo>
                  <a:cubicBezTo>
                    <a:pt x="719" y="898"/>
                    <a:pt x="722" y="1104"/>
                    <a:pt x="725" y="1197"/>
                  </a:cubicBezTo>
                </a:path>
              </a:pathLst>
            </a:custGeom>
            <a:noFill/>
            <a:ln w="19050" cap="flat" cmpd="sng">
              <a:solidFill>
                <a:srgbClr val="FFFF00"/>
              </a:solidFill>
              <a:prstDash val="sysDot"/>
              <a:round/>
              <a:headEnd type="none" w="med" len="med"/>
              <a:tailEnd type="none" w="med" len="med"/>
            </a:ln>
          </p:spPr>
          <p:txBody>
            <a:bodyPr/>
            <a:lstStyle/>
            <a:p>
              <a:endParaRPr lang="zh-CN" altLang="en-US"/>
            </a:p>
          </p:txBody>
        </p:sp>
        <p:sp>
          <p:nvSpPr>
            <p:cNvPr id="28693" name="任意多边形 8238"/>
            <p:cNvSpPr/>
            <p:nvPr/>
          </p:nvSpPr>
          <p:spPr>
            <a:xfrm>
              <a:off x="2472" y="2041"/>
              <a:ext cx="228" cy="1039"/>
            </a:xfrm>
            <a:custGeom>
              <a:avLst/>
              <a:gdLst/>
              <a:ahLst/>
              <a:cxnLst/>
              <a:rect l="0" t="0" r="0" b="0"/>
              <a:pathLst>
                <a:path w="223" h="1039">
                  <a:moveTo>
                    <a:pt x="0" y="1039"/>
                  </a:moveTo>
                  <a:cubicBezTo>
                    <a:pt x="4" y="937"/>
                    <a:pt x="7" y="589"/>
                    <a:pt x="17" y="429"/>
                  </a:cubicBezTo>
                  <a:cubicBezTo>
                    <a:pt x="27" y="269"/>
                    <a:pt x="39" y="138"/>
                    <a:pt x="60" y="77"/>
                  </a:cubicBezTo>
                  <a:cubicBezTo>
                    <a:pt x="81" y="16"/>
                    <a:pt x="123" y="0"/>
                    <a:pt x="146" y="61"/>
                  </a:cubicBezTo>
                  <a:cubicBezTo>
                    <a:pt x="169" y="122"/>
                    <a:pt x="186" y="307"/>
                    <a:pt x="197" y="440"/>
                  </a:cubicBezTo>
                  <a:cubicBezTo>
                    <a:pt x="208" y="573"/>
                    <a:pt x="211" y="763"/>
                    <a:pt x="215" y="861"/>
                  </a:cubicBezTo>
                  <a:cubicBezTo>
                    <a:pt x="219" y="959"/>
                    <a:pt x="221" y="996"/>
                    <a:pt x="223" y="1031"/>
                  </a:cubicBezTo>
                </a:path>
              </a:pathLst>
            </a:custGeom>
            <a:noFill/>
            <a:ln w="31750" cap="flat" cmpd="sng">
              <a:solidFill>
                <a:srgbClr val="FFFF00"/>
              </a:solidFill>
              <a:prstDash val="solid"/>
              <a:round/>
              <a:headEnd type="none" w="med" len="med"/>
              <a:tailEnd type="none" w="med" len="med"/>
            </a:ln>
          </p:spPr>
          <p:txBody>
            <a:bodyPr/>
            <a:lstStyle/>
            <a:p>
              <a:endParaRPr lang="zh-CN" altLang="en-US"/>
            </a:p>
          </p:txBody>
        </p:sp>
        <p:sp>
          <p:nvSpPr>
            <p:cNvPr id="28694" name="任意多边形 8239"/>
            <p:cNvSpPr/>
            <p:nvPr/>
          </p:nvSpPr>
          <p:spPr>
            <a:xfrm>
              <a:off x="1975" y="1857"/>
              <a:ext cx="725" cy="1197"/>
            </a:xfrm>
            <a:custGeom>
              <a:avLst/>
              <a:gdLst/>
              <a:ahLst/>
              <a:cxnLst/>
              <a:rect l="0" t="0" r="0" b="0"/>
              <a:pathLst>
                <a:path w="725" h="1197">
                  <a:moveTo>
                    <a:pt x="5" y="1197"/>
                  </a:moveTo>
                  <a:cubicBezTo>
                    <a:pt x="1" y="1042"/>
                    <a:pt x="0" y="889"/>
                    <a:pt x="5" y="744"/>
                  </a:cubicBezTo>
                  <a:cubicBezTo>
                    <a:pt x="10" y="599"/>
                    <a:pt x="16" y="432"/>
                    <a:pt x="37" y="329"/>
                  </a:cubicBezTo>
                  <a:cubicBezTo>
                    <a:pt x="58" y="226"/>
                    <a:pt x="79" y="177"/>
                    <a:pt x="132" y="123"/>
                  </a:cubicBezTo>
                  <a:cubicBezTo>
                    <a:pt x="185" y="69"/>
                    <a:pt x="286" y="6"/>
                    <a:pt x="356" y="3"/>
                  </a:cubicBezTo>
                  <a:cubicBezTo>
                    <a:pt x="426" y="0"/>
                    <a:pt x="503" y="55"/>
                    <a:pt x="553" y="106"/>
                  </a:cubicBezTo>
                  <a:cubicBezTo>
                    <a:pt x="603" y="157"/>
                    <a:pt x="630" y="205"/>
                    <a:pt x="656" y="312"/>
                  </a:cubicBezTo>
                  <a:cubicBezTo>
                    <a:pt x="682" y="419"/>
                    <a:pt x="697" y="604"/>
                    <a:pt x="708" y="751"/>
                  </a:cubicBezTo>
                  <a:cubicBezTo>
                    <a:pt x="719" y="898"/>
                    <a:pt x="722" y="1104"/>
                    <a:pt x="725" y="1197"/>
                  </a:cubicBezTo>
                </a:path>
              </a:pathLst>
            </a:custGeom>
            <a:noFill/>
            <a:ln w="19050" cap="flat" cmpd="sng">
              <a:solidFill>
                <a:srgbClr val="FFFF00"/>
              </a:solidFill>
              <a:prstDash val="sysDot"/>
              <a:round/>
              <a:headEnd type="none" w="med" len="med"/>
              <a:tailEnd type="none" w="med" len="med"/>
            </a:ln>
          </p:spPr>
          <p:txBody>
            <a:bodyPr/>
            <a:lstStyle/>
            <a:p>
              <a:endParaRPr lang="zh-CN" altLang="en-US"/>
            </a:p>
          </p:txBody>
        </p:sp>
        <p:sp>
          <p:nvSpPr>
            <p:cNvPr id="28695" name="任意多边形 8240"/>
            <p:cNvSpPr/>
            <p:nvPr/>
          </p:nvSpPr>
          <p:spPr>
            <a:xfrm>
              <a:off x="2971" y="2041"/>
              <a:ext cx="228" cy="1039"/>
            </a:xfrm>
            <a:custGeom>
              <a:avLst/>
              <a:gdLst/>
              <a:ahLst/>
              <a:cxnLst/>
              <a:rect l="0" t="0" r="0" b="0"/>
              <a:pathLst>
                <a:path w="223" h="1039">
                  <a:moveTo>
                    <a:pt x="0" y="1039"/>
                  </a:moveTo>
                  <a:cubicBezTo>
                    <a:pt x="4" y="937"/>
                    <a:pt x="7" y="589"/>
                    <a:pt x="17" y="429"/>
                  </a:cubicBezTo>
                  <a:cubicBezTo>
                    <a:pt x="27" y="269"/>
                    <a:pt x="39" y="138"/>
                    <a:pt x="60" y="77"/>
                  </a:cubicBezTo>
                  <a:cubicBezTo>
                    <a:pt x="81" y="16"/>
                    <a:pt x="123" y="0"/>
                    <a:pt x="146" y="61"/>
                  </a:cubicBezTo>
                  <a:cubicBezTo>
                    <a:pt x="169" y="122"/>
                    <a:pt x="186" y="307"/>
                    <a:pt x="197" y="440"/>
                  </a:cubicBezTo>
                  <a:cubicBezTo>
                    <a:pt x="208" y="573"/>
                    <a:pt x="211" y="763"/>
                    <a:pt x="215" y="861"/>
                  </a:cubicBezTo>
                  <a:cubicBezTo>
                    <a:pt x="219" y="959"/>
                    <a:pt x="221" y="996"/>
                    <a:pt x="223" y="1031"/>
                  </a:cubicBezTo>
                </a:path>
              </a:pathLst>
            </a:custGeom>
            <a:noFill/>
            <a:ln w="31750" cap="flat" cmpd="sng">
              <a:solidFill>
                <a:srgbClr val="FFFF00"/>
              </a:solidFill>
              <a:prstDash val="solid"/>
              <a:round/>
              <a:headEnd type="none" w="med" len="med"/>
              <a:tailEnd type="none" w="med" len="med"/>
            </a:ln>
          </p:spPr>
          <p:txBody>
            <a:bodyPr/>
            <a:lstStyle/>
            <a:p>
              <a:endParaRPr lang="zh-CN" altLang="en-US"/>
            </a:p>
          </p:txBody>
        </p:sp>
        <p:sp>
          <p:nvSpPr>
            <p:cNvPr id="28696" name="任意多边形 8241"/>
            <p:cNvSpPr/>
            <p:nvPr/>
          </p:nvSpPr>
          <p:spPr>
            <a:xfrm>
              <a:off x="2474" y="1857"/>
              <a:ext cx="725" cy="1197"/>
            </a:xfrm>
            <a:custGeom>
              <a:avLst/>
              <a:gdLst/>
              <a:ahLst/>
              <a:cxnLst/>
              <a:rect l="0" t="0" r="0" b="0"/>
              <a:pathLst>
                <a:path w="725" h="1197">
                  <a:moveTo>
                    <a:pt x="5" y="1197"/>
                  </a:moveTo>
                  <a:cubicBezTo>
                    <a:pt x="1" y="1042"/>
                    <a:pt x="0" y="889"/>
                    <a:pt x="5" y="744"/>
                  </a:cubicBezTo>
                  <a:cubicBezTo>
                    <a:pt x="10" y="599"/>
                    <a:pt x="16" y="432"/>
                    <a:pt x="37" y="329"/>
                  </a:cubicBezTo>
                  <a:cubicBezTo>
                    <a:pt x="58" y="226"/>
                    <a:pt x="79" y="177"/>
                    <a:pt x="132" y="123"/>
                  </a:cubicBezTo>
                  <a:cubicBezTo>
                    <a:pt x="185" y="69"/>
                    <a:pt x="286" y="6"/>
                    <a:pt x="356" y="3"/>
                  </a:cubicBezTo>
                  <a:cubicBezTo>
                    <a:pt x="426" y="0"/>
                    <a:pt x="503" y="55"/>
                    <a:pt x="553" y="106"/>
                  </a:cubicBezTo>
                  <a:cubicBezTo>
                    <a:pt x="603" y="157"/>
                    <a:pt x="630" y="205"/>
                    <a:pt x="656" y="312"/>
                  </a:cubicBezTo>
                  <a:cubicBezTo>
                    <a:pt x="682" y="419"/>
                    <a:pt x="697" y="604"/>
                    <a:pt x="708" y="751"/>
                  </a:cubicBezTo>
                  <a:cubicBezTo>
                    <a:pt x="719" y="898"/>
                    <a:pt x="722" y="1104"/>
                    <a:pt x="725" y="1197"/>
                  </a:cubicBezTo>
                </a:path>
              </a:pathLst>
            </a:custGeom>
            <a:noFill/>
            <a:ln w="19050" cap="flat" cmpd="sng">
              <a:solidFill>
                <a:srgbClr val="FFFF00"/>
              </a:solidFill>
              <a:prstDash val="sysDot"/>
              <a:round/>
              <a:headEnd type="none" w="med" len="med"/>
              <a:tailEnd type="none" w="med" len="med"/>
            </a:ln>
          </p:spPr>
          <p:txBody>
            <a:bodyPr/>
            <a:lstStyle/>
            <a:p>
              <a:endParaRPr lang="zh-CN" altLang="en-US"/>
            </a:p>
          </p:txBody>
        </p:sp>
        <p:sp>
          <p:nvSpPr>
            <p:cNvPr id="28697" name="任意多边形 8242"/>
            <p:cNvSpPr/>
            <p:nvPr/>
          </p:nvSpPr>
          <p:spPr>
            <a:xfrm>
              <a:off x="3470" y="2041"/>
              <a:ext cx="228" cy="1039"/>
            </a:xfrm>
            <a:custGeom>
              <a:avLst/>
              <a:gdLst/>
              <a:ahLst/>
              <a:cxnLst/>
              <a:rect l="0" t="0" r="0" b="0"/>
              <a:pathLst>
                <a:path w="223" h="1039">
                  <a:moveTo>
                    <a:pt x="0" y="1039"/>
                  </a:moveTo>
                  <a:cubicBezTo>
                    <a:pt x="4" y="937"/>
                    <a:pt x="7" y="589"/>
                    <a:pt x="17" y="429"/>
                  </a:cubicBezTo>
                  <a:cubicBezTo>
                    <a:pt x="27" y="269"/>
                    <a:pt x="39" y="138"/>
                    <a:pt x="60" y="77"/>
                  </a:cubicBezTo>
                  <a:cubicBezTo>
                    <a:pt x="81" y="16"/>
                    <a:pt x="123" y="0"/>
                    <a:pt x="146" y="61"/>
                  </a:cubicBezTo>
                  <a:cubicBezTo>
                    <a:pt x="169" y="122"/>
                    <a:pt x="186" y="307"/>
                    <a:pt x="197" y="440"/>
                  </a:cubicBezTo>
                  <a:cubicBezTo>
                    <a:pt x="208" y="573"/>
                    <a:pt x="211" y="763"/>
                    <a:pt x="215" y="861"/>
                  </a:cubicBezTo>
                  <a:cubicBezTo>
                    <a:pt x="219" y="959"/>
                    <a:pt x="221" y="996"/>
                    <a:pt x="223" y="1031"/>
                  </a:cubicBezTo>
                </a:path>
              </a:pathLst>
            </a:custGeom>
            <a:noFill/>
            <a:ln w="31750" cap="flat" cmpd="sng">
              <a:solidFill>
                <a:srgbClr val="FFFF00"/>
              </a:solidFill>
              <a:prstDash val="solid"/>
              <a:round/>
              <a:headEnd type="none" w="med" len="med"/>
              <a:tailEnd type="none" w="med" len="med"/>
            </a:ln>
          </p:spPr>
          <p:txBody>
            <a:bodyPr/>
            <a:lstStyle/>
            <a:p>
              <a:endParaRPr lang="zh-CN" altLang="en-US"/>
            </a:p>
          </p:txBody>
        </p:sp>
        <p:sp>
          <p:nvSpPr>
            <p:cNvPr id="28698" name="任意多边形 8243"/>
            <p:cNvSpPr/>
            <p:nvPr/>
          </p:nvSpPr>
          <p:spPr>
            <a:xfrm>
              <a:off x="2973" y="1857"/>
              <a:ext cx="725" cy="1197"/>
            </a:xfrm>
            <a:custGeom>
              <a:avLst/>
              <a:gdLst/>
              <a:ahLst/>
              <a:cxnLst/>
              <a:rect l="0" t="0" r="0" b="0"/>
              <a:pathLst>
                <a:path w="725" h="1197">
                  <a:moveTo>
                    <a:pt x="5" y="1197"/>
                  </a:moveTo>
                  <a:cubicBezTo>
                    <a:pt x="1" y="1042"/>
                    <a:pt x="0" y="889"/>
                    <a:pt x="5" y="744"/>
                  </a:cubicBezTo>
                  <a:cubicBezTo>
                    <a:pt x="10" y="599"/>
                    <a:pt x="16" y="432"/>
                    <a:pt x="37" y="329"/>
                  </a:cubicBezTo>
                  <a:cubicBezTo>
                    <a:pt x="58" y="226"/>
                    <a:pt x="79" y="177"/>
                    <a:pt x="132" y="123"/>
                  </a:cubicBezTo>
                  <a:cubicBezTo>
                    <a:pt x="185" y="69"/>
                    <a:pt x="286" y="6"/>
                    <a:pt x="356" y="3"/>
                  </a:cubicBezTo>
                  <a:cubicBezTo>
                    <a:pt x="426" y="0"/>
                    <a:pt x="503" y="55"/>
                    <a:pt x="553" y="106"/>
                  </a:cubicBezTo>
                  <a:cubicBezTo>
                    <a:pt x="603" y="157"/>
                    <a:pt x="630" y="205"/>
                    <a:pt x="656" y="312"/>
                  </a:cubicBezTo>
                  <a:cubicBezTo>
                    <a:pt x="682" y="419"/>
                    <a:pt x="697" y="604"/>
                    <a:pt x="708" y="751"/>
                  </a:cubicBezTo>
                  <a:cubicBezTo>
                    <a:pt x="719" y="898"/>
                    <a:pt x="722" y="1104"/>
                    <a:pt x="725" y="1197"/>
                  </a:cubicBezTo>
                </a:path>
              </a:pathLst>
            </a:custGeom>
            <a:noFill/>
            <a:ln w="19050" cap="flat" cmpd="sng">
              <a:solidFill>
                <a:srgbClr val="FFFF00"/>
              </a:solidFill>
              <a:prstDash val="sysDot"/>
              <a:round/>
              <a:headEnd type="none" w="med" len="med"/>
              <a:tailEnd type="none" w="med" len="med"/>
            </a:ln>
          </p:spPr>
          <p:txBody>
            <a:bodyPr/>
            <a:lstStyle/>
            <a:p>
              <a:endParaRPr lang="zh-CN" altLang="en-US"/>
            </a:p>
          </p:txBody>
        </p:sp>
        <p:sp>
          <p:nvSpPr>
            <p:cNvPr id="28699" name="任意多边形 8244"/>
            <p:cNvSpPr/>
            <p:nvPr/>
          </p:nvSpPr>
          <p:spPr>
            <a:xfrm>
              <a:off x="3969" y="2041"/>
              <a:ext cx="228" cy="1039"/>
            </a:xfrm>
            <a:custGeom>
              <a:avLst/>
              <a:gdLst/>
              <a:ahLst/>
              <a:cxnLst/>
              <a:rect l="0" t="0" r="0" b="0"/>
              <a:pathLst>
                <a:path w="223" h="1039">
                  <a:moveTo>
                    <a:pt x="0" y="1039"/>
                  </a:moveTo>
                  <a:cubicBezTo>
                    <a:pt x="4" y="937"/>
                    <a:pt x="7" y="589"/>
                    <a:pt x="17" y="429"/>
                  </a:cubicBezTo>
                  <a:cubicBezTo>
                    <a:pt x="27" y="269"/>
                    <a:pt x="39" y="138"/>
                    <a:pt x="60" y="77"/>
                  </a:cubicBezTo>
                  <a:cubicBezTo>
                    <a:pt x="81" y="16"/>
                    <a:pt x="123" y="0"/>
                    <a:pt x="146" y="61"/>
                  </a:cubicBezTo>
                  <a:cubicBezTo>
                    <a:pt x="169" y="122"/>
                    <a:pt x="186" y="307"/>
                    <a:pt x="197" y="440"/>
                  </a:cubicBezTo>
                  <a:cubicBezTo>
                    <a:pt x="208" y="573"/>
                    <a:pt x="211" y="763"/>
                    <a:pt x="215" y="861"/>
                  </a:cubicBezTo>
                  <a:cubicBezTo>
                    <a:pt x="219" y="959"/>
                    <a:pt x="221" y="996"/>
                    <a:pt x="223" y="1031"/>
                  </a:cubicBezTo>
                </a:path>
              </a:pathLst>
            </a:custGeom>
            <a:noFill/>
            <a:ln w="31750" cap="flat" cmpd="sng">
              <a:solidFill>
                <a:srgbClr val="FFFF00"/>
              </a:solidFill>
              <a:prstDash val="solid"/>
              <a:round/>
              <a:headEnd type="none" w="med" len="med"/>
              <a:tailEnd type="none" w="med" len="med"/>
            </a:ln>
          </p:spPr>
          <p:txBody>
            <a:bodyPr/>
            <a:lstStyle/>
            <a:p>
              <a:endParaRPr lang="zh-CN" altLang="en-US"/>
            </a:p>
          </p:txBody>
        </p:sp>
        <p:sp>
          <p:nvSpPr>
            <p:cNvPr id="28700" name="任意多边形 8245"/>
            <p:cNvSpPr/>
            <p:nvPr/>
          </p:nvSpPr>
          <p:spPr>
            <a:xfrm>
              <a:off x="3472" y="1857"/>
              <a:ext cx="725" cy="1197"/>
            </a:xfrm>
            <a:custGeom>
              <a:avLst/>
              <a:gdLst/>
              <a:ahLst/>
              <a:cxnLst/>
              <a:rect l="0" t="0" r="0" b="0"/>
              <a:pathLst>
                <a:path w="725" h="1197">
                  <a:moveTo>
                    <a:pt x="5" y="1197"/>
                  </a:moveTo>
                  <a:cubicBezTo>
                    <a:pt x="1" y="1042"/>
                    <a:pt x="0" y="889"/>
                    <a:pt x="5" y="744"/>
                  </a:cubicBezTo>
                  <a:cubicBezTo>
                    <a:pt x="10" y="599"/>
                    <a:pt x="16" y="432"/>
                    <a:pt x="37" y="329"/>
                  </a:cubicBezTo>
                  <a:cubicBezTo>
                    <a:pt x="58" y="226"/>
                    <a:pt x="79" y="177"/>
                    <a:pt x="132" y="123"/>
                  </a:cubicBezTo>
                  <a:cubicBezTo>
                    <a:pt x="185" y="69"/>
                    <a:pt x="286" y="6"/>
                    <a:pt x="356" y="3"/>
                  </a:cubicBezTo>
                  <a:cubicBezTo>
                    <a:pt x="426" y="0"/>
                    <a:pt x="503" y="55"/>
                    <a:pt x="553" y="106"/>
                  </a:cubicBezTo>
                  <a:cubicBezTo>
                    <a:pt x="603" y="157"/>
                    <a:pt x="630" y="205"/>
                    <a:pt x="656" y="312"/>
                  </a:cubicBezTo>
                  <a:cubicBezTo>
                    <a:pt x="682" y="419"/>
                    <a:pt x="697" y="604"/>
                    <a:pt x="708" y="751"/>
                  </a:cubicBezTo>
                  <a:cubicBezTo>
                    <a:pt x="719" y="898"/>
                    <a:pt x="722" y="1104"/>
                    <a:pt x="725" y="1197"/>
                  </a:cubicBezTo>
                </a:path>
              </a:pathLst>
            </a:custGeom>
            <a:noFill/>
            <a:ln w="19050" cap="flat" cmpd="sng">
              <a:solidFill>
                <a:srgbClr val="FFFF00"/>
              </a:solidFill>
              <a:prstDash val="sysDot"/>
              <a:round/>
              <a:headEnd type="none" w="med" len="med"/>
              <a:tailEnd type="none" w="med" len="med"/>
            </a:ln>
          </p:spPr>
          <p:txBody>
            <a:bodyPr/>
            <a:lstStyle/>
            <a:p>
              <a:endParaRPr lang="zh-CN" altLang="en-US"/>
            </a:p>
          </p:txBody>
        </p:sp>
        <p:sp>
          <p:nvSpPr>
            <p:cNvPr id="28701" name="流程图: 联系 8248"/>
            <p:cNvSpPr/>
            <p:nvPr/>
          </p:nvSpPr>
          <p:spPr>
            <a:xfrm>
              <a:off x="4286" y="2948"/>
              <a:ext cx="96" cy="96"/>
            </a:xfrm>
            <a:prstGeom prst="flowChartConnector">
              <a:avLst/>
            </a:prstGeom>
            <a:solidFill>
              <a:srgbClr val="FF0000"/>
            </a:solidFill>
            <a:ln w="9525" cap="flat" cmpd="sng">
              <a:solidFill>
                <a:srgbClr val="FFFF00"/>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28702" name="任意多边形 8253"/>
            <p:cNvSpPr/>
            <p:nvPr/>
          </p:nvSpPr>
          <p:spPr>
            <a:xfrm>
              <a:off x="4468" y="1852"/>
              <a:ext cx="369" cy="1214"/>
            </a:xfrm>
            <a:custGeom>
              <a:avLst/>
              <a:gdLst/>
              <a:ahLst/>
              <a:cxnLst/>
              <a:rect l="0" t="0" r="0" b="0"/>
              <a:pathLst>
                <a:path w="369" h="1214">
                  <a:moveTo>
                    <a:pt x="5" y="1214"/>
                  </a:moveTo>
                  <a:cubicBezTo>
                    <a:pt x="1" y="1059"/>
                    <a:pt x="0" y="906"/>
                    <a:pt x="5" y="761"/>
                  </a:cubicBezTo>
                  <a:cubicBezTo>
                    <a:pt x="10" y="616"/>
                    <a:pt x="17" y="451"/>
                    <a:pt x="35" y="346"/>
                  </a:cubicBezTo>
                  <a:cubicBezTo>
                    <a:pt x="53" y="241"/>
                    <a:pt x="79" y="183"/>
                    <a:pt x="112" y="131"/>
                  </a:cubicBezTo>
                  <a:cubicBezTo>
                    <a:pt x="145" y="79"/>
                    <a:pt x="188" y="57"/>
                    <a:pt x="231" y="35"/>
                  </a:cubicBezTo>
                  <a:cubicBezTo>
                    <a:pt x="274" y="13"/>
                    <a:pt x="340" y="7"/>
                    <a:pt x="369" y="0"/>
                  </a:cubicBezTo>
                </a:path>
              </a:pathLst>
            </a:custGeom>
            <a:noFill/>
            <a:ln w="22225" cap="flat" cmpd="sng">
              <a:solidFill>
                <a:srgbClr val="FFFF00"/>
              </a:solidFill>
              <a:prstDash val="sysDot"/>
              <a:round/>
              <a:headEnd type="none" w="med" len="med"/>
              <a:tailEnd type="none" w="med" len="med"/>
            </a:ln>
          </p:spPr>
          <p:txBody>
            <a:bodyPr/>
            <a:lstStyle/>
            <a:p>
              <a:endParaRPr lang="zh-CN" altLang="en-US"/>
            </a:p>
          </p:txBody>
        </p:sp>
        <p:sp>
          <p:nvSpPr>
            <p:cNvPr id="28703" name="任意多边形 8255"/>
            <p:cNvSpPr/>
            <p:nvPr/>
          </p:nvSpPr>
          <p:spPr>
            <a:xfrm>
              <a:off x="809" y="1868"/>
              <a:ext cx="356" cy="1171"/>
            </a:xfrm>
            <a:custGeom>
              <a:avLst/>
              <a:gdLst/>
              <a:ahLst/>
              <a:cxnLst/>
              <a:rect l="0" t="0" r="0" b="0"/>
              <a:pathLst>
                <a:path w="356" h="1171">
                  <a:moveTo>
                    <a:pt x="0" y="0"/>
                  </a:moveTo>
                  <a:cubicBezTo>
                    <a:pt x="45" y="3"/>
                    <a:pt x="91" y="7"/>
                    <a:pt x="136" y="45"/>
                  </a:cubicBezTo>
                  <a:cubicBezTo>
                    <a:pt x="181" y="83"/>
                    <a:pt x="242" y="151"/>
                    <a:pt x="272" y="227"/>
                  </a:cubicBezTo>
                  <a:cubicBezTo>
                    <a:pt x="302" y="303"/>
                    <a:pt x="304" y="388"/>
                    <a:pt x="317" y="499"/>
                  </a:cubicBezTo>
                  <a:cubicBezTo>
                    <a:pt x="330" y="610"/>
                    <a:pt x="342" y="784"/>
                    <a:pt x="348" y="896"/>
                  </a:cubicBezTo>
                  <a:cubicBezTo>
                    <a:pt x="354" y="1008"/>
                    <a:pt x="354" y="1114"/>
                    <a:pt x="356" y="1171"/>
                  </a:cubicBezTo>
                </a:path>
              </a:pathLst>
            </a:custGeom>
            <a:noFill/>
            <a:ln w="22225" cap="flat" cmpd="sng">
              <a:solidFill>
                <a:srgbClr val="FFFF00"/>
              </a:solidFill>
              <a:prstDash val="sysDot"/>
              <a:round/>
              <a:headEnd type="none" w="med" len="med"/>
              <a:tailEnd type="none" w="med" len="med"/>
            </a:ln>
          </p:spPr>
          <p:txBody>
            <a:bodyPr/>
            <a:lstStyle/>
            <a:p>
              <a:endParaRPr lang="zh-CN" altLang="en-US"/>
            </a:p>
          </p:txBody>
        </p:sp>
        <p:sp>
          <p:nvSpPr>
            <p:cNvPr id="28704" name="任意多边形 8257"/>
            <p:cNvSpPr/>
            <p:nvPr/>
          </p:nvSpPr>
          <p:spPr>
            <a:xfrm>
              <a:off x="1338" y="1860"/>
              <a:ext cx="356" cy="1171"/>
            </a:xfrm>
            <a:custGeom>
              <a:avLst/>
              <a:gdLst/>
              <a:ahLst/>
              <a:cxnLst/>
              <a:rect l="0" t="0" r="0" b="0"/>
              <a:pathLst>
                <a:path w="356" h="1171">
                  <a:moveTo>
                    <a:pt x="0" y="0"/>
                  </a:moveTo>
                  <a:cubicBezTo>
                    <a:pt x="45" y="3"/>
                    <a:pt x="91" y="7"/>
                    <a:pt x="136" y="45"/>
                  </a:cubicBezTo>
                  <a:cubicBezTo>
                    <a:pt x="181" y="83"/>
                    <a:pt x="242" y="151"/>
                    <a:pt x="272" y="227"/>
                  </a:cubicBezTo>
                  <a:cubicBezTo>
                    <a:pt x="302" y="303"/>
                    <a:pt x="304" y="388"/>
                    <a:pt x="317" y="499"/>
                  </a:cubicBezTo>
                  <a:cubicBezTo>
                    <a:pt x="330" y="610"/>
                    <a:pt x="342" y="784"/>
                    <a:pt x="348" y="896"/>
                  </a:cubicBezTo>
                  <a:cubicBezTo>
                    <a:pt x="354" y="1008"/>
                    <a:pt x="354" y="1114"/>
                    <a:pt x="356" y="1171"/>
                  </a:cubicBezTo>
                </a:path>
              </a:pathLst>
            </a:custGeom>
            <a:noFill/>
            <a:ln w="22225" cap="flat" cmpd="sng">
              <a:solidFill>
                <a:srgbClr val="FFFF00"/>
              </a:solidFill>
              <a:prstDash val="sysDot"/>
              <a:round/>
              <a:headEnd type="none" w="med" len="med"/>
              <a:tailEnd type="none" w="med" len="med"/>
            </a:ln>
          </p:spPr>
          <p:txBody>
            <a:bodyPr/>
            <a:lstStyle/>
            <a:p>
              <a:endParaRPr lang="zh-CN" altLang="en-US"/>
            </a:p>
          </p:txBody>
        </p:sp>
        <p:sp>
          <p:nvSpPr>
            <p:cNvPr id="28705" name="任意多边形 8258"/>
            <p:cNvSpPr/>
            <p:nvPr/>
          </p:nvSpPr>
          <p:spPr>
            <a:xfrm>
              <a:off x="3969" y="1860"/>
              <a:ext cx="369" cy="1214"/>
            </a:xfrm>
            <a:custGeom>
              <a:avLst/>
              <a:gdLst/>
              <a:ahLst/>
              <a:cxnLst/>
              <a:rect l="0" t="0" r="0" b="0"/>
              <a:pathLst>
                <a:path w="369" h="1214">
                  <a:moveTo>
                    <a:pt x="5" y="1214"/>
                  </a:moveTo>
                  <a:cubicBezTo>
                    <a:pt x="1" y="1059"/>
                    <a:pt x="0" y="906"/>
                    <a:pt x="5" y="761"/>
                  </a:cubicBezTo>
                  <a:cubicBezTo>
                    <a:pt x="10" y="616"/>
                    <a:pt x="17" y="451"/>
                    <a:pt x="35" y="346"/>
                  </a:cubicBezTo>
                  <a:cubicBezTo>
                    <a:pt x="53" y="241"/>
                    <a:pt x="79" y="183"/>
                    <a:pt x="112" y="131"/>
                  </a:cubicBezTo>
                  <a:cubicBezTo>
                    <a:pt x="145" y="79"/>
                    <a:pt x="188" y="57"/>
                    <a:pt x="231" y="35"/>
                  </a:cubicBezTo>
                  <a:cubicBezTo>
                    <a:pt x="274" y="13"/>
                    <a:pt x="340" y="7"/>
                    <a:pt x="369" y="0"/>
                  </a:cubicBezTo>
                </a:path>
              </a:pathLst>
            </a:custGeom>
            <a:noFill/>
            <a:ln w="22225" cap="flat" cmpd="sng">
              <a:solidFill>
                <a:srgbClr val="FFFF00"/>
              </a:solidFill>
              <a:prstDash val="sysDot"/>
              <a:round/>
              <a:headEnd type="none" w="med" len="med"/>
              <a:tailEnd type="none" w="med" len="med"/>
            </a:ln>
          </p:spPr>
          <p:txBody>
            <a:bodyPr/>
            <a:lstStyle/>
            <a:p>
              <a:endParaRPr lang="zh-CN" altLang="en-US"/>
            </a:p>
          </p:txBody>
        </p:sp>
      </p:grpSp>
      <p:sp>
        <p:nvSpPr>
          <p:cNvPr id="28706" name="文本框 8266"/>
          <p:cNvSpPr txBox="1"/>
          <p:nvPr/>
        </p:nvSpPr>
        <p:spPr>
          <a:xfrm>
            <a:off x="6711950" y="5378450"/>
            <a:ext cx="184150" cy="366713"/>
          </a:xfrm>
          <a:prstGeom prst="rect">
            <a:avLst/>
          </a:prstGeom>
          <a:noFill/>
          <a:ln w="9525">
            <a:noFill/>
          </a:ln>
        </p:spPr>
        <p:txBody>
          <a:bodyPr wrap="none" anchor="t" anchorCtr="0">
            <a:spAutoFit/>
          </a:bodyPr>
          <a:lstStyle/>
          <a:p>
            <a:endParaRPr lang="zh-CN" dirty="0">
              <a:latin typeface="Times New Roman" panose="02020603050405020304" pitchFamily="18" charset="0"/>
              <a:ea typeface="宋体" panose="02010600030101010101" pitchFamily="2" charset="-122"/>
            </a:endParaRPr>
          </a:p>
        </p:txBody>
      </p:sp>
      <p:sp>
        <p:nvSpPr>
          <p:cNvPr id="28707" name="文本框 8274"/>
          <p:cNvSpPr txBox="1"/>
          <p:nvPr/>
        </p:nvSpPr>
        <p:spPr>
          <a:xfrm>
            <a:off x="6156325" y="1700213"/>
            <a:ext cx="2605088" cy="457200"/>
          </a:xfrm>
          <a:prstGeom prst="rect">
            <a:avLst/>
          </a:prstGeom>
          <a:noFill/>
          <a:ln w="9525">
            <a:noFill/>
          </a:ln>
        </p:spPr>
        <p:txBody>
          <a:bodyPr wrap="none" anchor="t" anchorCtr="0">
            <a:spAutoFit/>
          </a:bodyPr>
          <a:lstStyle/>
          <a:p>
            <a:r>
              <a:rPr lang="en-US" altLang="zh-CN" sz="2400" i="1" err="1">
                <a:latin typeface="Times New Roman" panose="02020603050405020304" pitchFamily="18" charset="0"/>
                <a:ea typeface="宋体" panose="02010600030101010101" pitchFamily="2" charset="-122"/>
              </a:rPr>
              <a:t>R</a:t>
            </a:r>
            <a:r>
              <a:rPr lang="en-US" altLang="zh-CN" sz="2400" i="1" baseline="-25000" err="1">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是任意晶格矢量</a:t>
            </a:r>
            <a:endParaRPr lang="zh-CN" altLang="en-US" sz="2400">
              <a:latin typeface="Times New Roman" panose="02020603050405020304" pitchFamily="18" charset="0"/>
              <a:ea typeface="宋体" panose="02010600030101010101" pitchFamily="2" charset="-122"/>
            </a:endParaRPr>
          </a:p>
        </p:txBody>
      </p:sp>
      <p:sp>
        <p:nvSpPr>
          <p:cNvPr id="28708" name="矩形 8277"/>
          <p:cNvSpPr/>
          <p:nvPr/>
        </p:nvSpPr>
        <p:spPr>
          <a:xfrm>
            <a:off x="755650" y="5589588"/>
            <a:ext cx="7848600" cy="955675"/>
          </a:xfrm>
          <a:prstGeom prst="rect">
            <a:avLst/>
          </a:prstGeom>
          <a:solidFill>
            <a:schemeClr val="bg1"/>
          </a:solidFill>
          <a:ln w="9525" cap="flat" cmpd="sng">
            <a:solidFill>
              <a:srgbClr val="FF0000"/>
            </a:solidFill>
            <a:prstDash val="solid"/>
            <a:miter/>
            <a:headEnd type="none" w="med" len="med"/>
            <a:tailEnd type="none" w="med" len="med"/>
          </a:ln>
          <a:effectLst>
            <a:outerShdw dist="107763" dir="2699999" algn="ctr" rotWithShape="0">
              <a:schemeClr val="bg2">
                <a:alpha val="50000"/>
              </a:schemeClr>
            </a:outerShdw>
          </a:effectLst>
        </p:spPr>
        <p:txBody>
          <a:bodyPr anchor="t" anchorCtr="0">
            <a:spAutoFit/>
          </a:bodyPr>
          <a:lstStyle/>
          <a:p>
            <a:r>
              <a:rPr lang="zh-CN" altLang="en-US" sz="2800" b="1" dirty="0">
                <a:latin typeface="Times New Roman" panose="02020603050405020304" pitchFamily="18" charset="0"/>
                <a:ea typeface="宋体" panose="02010600030101010101" pitchFamily="2" charset="-122"/>
              </a:rPr>
              <a:t>晶体中的电子是在具有周期性的等效势场中运动</a:t>
            </a:r>
          </a:p>
          <a:p>
            <a:r>
              <a:rPr lang="en-US" altLang="zh-CN" sz="2800" b="1">
                <a:latin typeface="Times New Roman" panose="02020603050405020304" pitchFamily="18" charset="0"/>
                <a:ea typeface="宋体" panose="02010600030101010101" pitchFamily="2" charset="-122"/>
              </a:rPr>
              <a:t>——</a:t>
            </a:r>
            <a:r>
              <a:rPr lang="zh-CN" altLang="en-US" sz="2800" b="1" dirty="0">
                <a:solidFill>
                  <a:srgbClr val="A50021"/>
                </a:solidFill>
                <a:latin typeface="Times New Roman" panose="02020603050405020304" pitchFamily="18" charset="0"/>
                <a:ea typeface="宋体" panose="02010600030101010101" pitchFamily="2" charset="-122"/>
              </a:rPr>
              <a:t>单电子近似</a:t>
            </a:r>
          </a:p>
        </p:txBody>
      </p:sp>
      <p:sp>
        <p:nvSpPr>
          <p:cNvPr id="28709" name="矩形 8278"/>
          <p:cNvSpPr/>
          <p:nvPr/>
        </p:nvSpPr>
        <p:spPr>
          <a:xfrm>
            <a:off x="395288" y="339725"/>
            <a:ext cx="4772025" cy="641350"/>
          </a:xfrm>
          <a:prstGeom prst="rect">
            <a:avLst/>
          </a:prstGeom>
          <a:noFill/>
          <a:ln w="9525">
            <a:noFill/>
          </a:ln>
        </p:spPr>
        <p:txBody>
          <a:bodyPr wrap="none" anchor="t" anchorCtr="0">
            <a:spAutoFit/>
          </a:bodyPr>
          <a:lstStyle/>
          <a:p>
            <a:r>
              <a:rPr lang="zh-CN" altLang="en-US" sz="3600" b="1" dirty="0">
                <a:solidFill>
                  <a:srgbClr val="A50021"/>
                </a:solidFill>
                <a:latin typeface="Times New Roman" panose="02020603050405020304" pitchFamily="18" charset="0"/>
                <a:ea typeface="宋体" panose="02010600030101010101" pitchFamily="2" charset="-122"/>
              </a:rPr>
              <a:t>晶体中电子的运动状态</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6BD9AD14-A42F-6C4C-7D7B-D7D1088F90C4}"/>
                  </a:ext>
                </a:extLst>
              </p14:cNvPr>
              <p14:cNvContentPartPr/>
              <p14:nvPr/>
            </p14:nvContentPartPr>
            <p14:xfrm>
              <a:off x="1366312" y="5877453"/>
              <a:ext cx="5305680" cy="59040"/>
            </p14:xfrm>
          </p:contentPart>
        </mc:Choice>
        <mc:Fallback xmlns="">
          <p:pic>
            <p:nvPicPr>
              <p:cNvPr id="2" name="墨迹 1">
                <a:extLst>
                  <a:ext uri="{FF2B5EF4-FFF2-40B4-BE49-F238E27FC236}">
                    <a16:creationId xmlns:a16="http://schemas.microsoft.com/office/drawing/2014/main" id="{6BD9AD14-A42F-6C4C-7D7B-D7D1088F90C4}"/>
                  </a:ext>
                </a:extLst>
              </p:cNvPr>
              <p:cNvPicPr/>
              <p:nvPr/>
            </p:nvPicPr>
            <p:blipFill>
              <a:blip r:embed="rId5"/>
              <a:stretch>
                <a:fillRect/>
              </a:stretch>
            </p:blipFill>
            <p:spPr>
              <a:xfrm>
                <a:off x="1312672" y="5769453"/>
                <a:ext cx="5413320" cy="27468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文本占位符 9218"/>
          <p:cNvSpPr>
            <a:spLocks noGrp="1"/>
          </p:cNvSpPr>
          <p:nvPr>
            <p:ph type="body" sz="half" idx="1"/>
          </p:nvPr>
        </p:nvSpPr>
        <p:spPr>
          <a:xfrm>
            <a:off x="395288" y="1125538"/>
            <a:ext cx="7489825" cy="863600"/>
          </a:xfrm>
        </p:spPr>
        <p:txBody>
          <a:bodyPr anchor="t" anchorCtr="0"/>
          <a:lstStyle/>
          <a:p>
            <a:pPr>
              <a:buClr>
                <a:schemeClr val="bg2"/>
              </a:buClr>
              <a:buSzPct val="75000"/>
              <a:buFont typeface="Wingdings" panose="05000000000000000000" pitchFamily="2" charset="2"/>
            </a:pPr>
            <a:r>
              <a:rPr lang="zh-CN" altLang="en-US" sz="3600" b="1" dirty="0"/>
              <a:t>晶体中电子的波动方程</a:t>
            </a:r>
            <a:endParaRPr lang="zh-CN" altLang="en-US" sz="3600" b="1"/>
          </a:p>
        </p:txBody>
      </p:sp>
      <p:graphicFrame>
        <p:nvGraphicFramePr>
          <p:cNvPr id="29698" name="对象 9219"/>
          <p:cNvGraphicFramePr/>
          <p:nvPr>
            <p:extLst>
              <p:ext uri="{D42A27DB-BD31-4B8C-83A1-F6EECF244321}">
                <p14:modId xmlns:p14="http://schemas.microsoft.com/office/powerpoint/2010/main" val="2348981486"/>
              </p:ext>
            </p:extLst>
          </p:nvPr>
        </p:nvGraphicFramePr>
        <p:xfrm>
          <a:off x="2412206" y="1989138"/>
          <a:ext cx="4319587" cy="1131887"/>
        </p:xfrm>
        <a:graphic>
          <a:graphicData uri="http://schemas.openxmlformats.org/presentationml/2006/ole">
            <mc:AlternateContent xmlns:mc="http://schemas.openxmlformats.org/markup-compatibility/2006">
              <mc:Choice xmlns:v="urn:schemas-microsoft-com:vml" Requires="v">
                <p:oleObj r:id="rId2" imgW="1599565" imgH="482600" progId="Equation.DSMT4">
                  <p:embed/>
                </p:oleObj>
              </mc:Choice>
              <mc:Fallback>
                <p:oleObj r:id="rId2" imgW="1599565" imgH="482600" progId="Equation.DSMT4">
                  <p:embed/>
                  <p:pic>
                    <p:nvPicPr>
                      <p:cNvPr id="0" name="图片 3112"/>
                      <p:cNvPicPr/>
                      <p:nvPr/>
                    </p:nvPicPr>
                    <p:blipFill>
                      <a:blip r:embed="rId3"/>
                      <a:stretch>
                        <a:fillRect/>
                      </a:stretch>
                    </p:blipFill>
                    <p:spPr>
                      <a:xfrm>
                        <a:off x="2412206" y="1989138"/>
                        <a:ext cx="4319587" cy="1131887"/>
                      </a:xfrm>
                      <a:prstGeom prst="rect">
                        <a:avLst/>
                      </a:prstGeom>
                      <a:solidFill>
                        <a:srgbClr val="CCFFFF"/>
                      </a:solidFill>
                      <a:ln w="9525" cap="flat" cmpd="sng">
                        <a:solidFill>
                          <a:srgbClr val="FF0000"/>
                        </a:solidFill>
                        <a:prstDash val="solid"/>
                        <a:miter/>
                        <a:headEnd type="none" w="med" len="med"/>
                        <a:tailEnd type="none" w="med" len="med"/>
                      </a:ln>
                    </p:spPr>
                  </p:pic>
                </p:oleObj>
              </mc:Fallback>
            </mc:AlternateContent>
          </a:graphicData>
        </a:graphic>
      </p:graphicFrame>
      <p:sp>
        <p:nvSpPr>
          <p:cNvPr id="29699" name="矩形 9220"/>
          <p:cNvSpPr/>
          <p:nvPr/>
        </p:nvSpPr>
        <p:spPr>
          <a:xfrm>
            <a:off x="539750" y="3500438"/>
            <a:ext cx="8353425" cy="1008062"/>
          </a:xfrm>
          <a:prstGeom prst="rect">
            <a:avLst/>
          </a:prstGeom>
          <a:noFill/>
          <a:ln w="9525">
            <a:noFill/>
          </a:ln>
        </p:spPr>
        <p:txBody>
          <a:bodyPr anchor="t" anchorCtr="0"/>
          <a:lstStyle/>
          <a:p>
            <a:pPr marL="742950" lvl="1" indent="-285750" algn="l"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pPr>
            <a:r>
              <a:rPr lang="zh-CN" altLang="en-US" sz="2800" b="1" u="none" baseline="0" dirty="0">
                <a:solidFill>
                  <a:schemeClr val="tx1"/>
                </a:solidFill>
                <a:latin typeface="Arial" panose="020B0604020202020204" pitchFamily="34" charset="0"/>
                <a:ea typeface="宋体" panose="02010600030101010101" pitchFamily="2" charset="-122"/>
              </a:rPr>
              <a:t>布洛赫定理</a:t>
            </a:r>
            <a:r>
              <a:rPr lang="en-US" altLang="zh-CN" sz="2800" b="1" u="none" baseline="0" dirty="0">
                <a:solidFill>
                  <a:schemeClr val="tx1"/>
                </a:solidFill>
                <a:latin typeface="Arial" panose="020B0604020202020204" pitchFamily="34" charset="0"/>
                <a:ea typeface="宋体" panose="02010600030101010101" pitchFamily="2" charset="-122"/>
              </a:rPr>
              <a:t>——</a:t>
            </a:r>
            <a:r>
              <a:rPr lang="zh-CN" altLang="en-US" sz="2800" b="1" u="none" baseline="0" dirty="0">
                <a:solidFill>
                  <a:schemeClr val="tx1"/>
                </a:solidFill>
                <a:latin typeface="Arial" panose="020B0604020202020204" pitchFamily="34" charset="0"/>
                <a:ea typeface="宋体" panose="02010600030101010101" pitchFamily="2" charset="-122"/>
              </a:rPr>
              <a:t>当势场具有周期性时，波动方程的解具有如下形式：</a:t>
            </a:r>
          </a:p>
        </p:txBody>
      </p:sp>
      <p:graphicFrame>
        <p:nvGraphicFramePr>
          <p:cNvPr id="29700" name="对象 9221"/>
          <p:cNvGraphicFramePr/>
          <p:nvPr/>
        </p:nvGraphicFramePr>
        <p:xfrm>
          <a:off x="1979613" y="4724400"/>
          <a:ext cx="6015037" cy="890588"/>
        </p:xfrm>
        <a:graphic>
          <a:graphicData uri="http://schemas.openxmlformats.org/presentationml/2006/ole">
            <mc:AlternateContent xmlns:mc="http://schemas.openxmlformats.org/markup-compatibility/2006">
              <mc:Choice xmlns:v="urn:schemas-microsoft-com:vml" Requires="v">
                <p:oleObj r:id="rId4" imgW="1459865" imgH="241300" progId="Equation.DSMT4">
                  <p:embed/>
                </p:oleObj>
              </mc:Choice>
              <mc:Fallback>
                <p:oleObj r:id="rId4" imgW="1459865" imgH="241300" progId="Equation.DSMT4">
                  <p:embed/>
                  <p:pic>
                    <p:nvPicPr>
                      <p:cNvPr id="0" name="图片 3114"/>
                      <p:cNvPicPr/>
                      <p:nvPr/>
                    </p:nvPicPr>
                    <p:blipFill>
                      <a:blip r:embed="rId5"/>
                      <a:stretch>
                        <a:fillRect/>
                      </a:stretch>
                    </p:blipFill>
                    <p:spPr>
                      <a:xfrm>
                        <a:off x="1979613" y="4724400"/>
                        <a:ext cx="6015037" cy="890588"/>
                      </a:xfrm>
                      <a:prstGeom prst="rect">
                        <a:avLst/>
                      </a:prstGeom>
                      <a:solidFill>
                        <a:srgbClr val="CCFFFF"/>
                      </a:solidFill>
                      <a:ln w="9525" cap="flat" cmpd="sng">
                        <a:solidFill>
                          <a:srgbClr val="FF0000"/>
                        </a:solidFill>
                        <a:prstDash val="solid"/>
                        <a:miter/>
                        <a:headEnd type="none" w="med" len="med"/>
                        <a:tailEnd type="none" w="med" len="med"/>
                      </a:ln>
                    </p:spPr>
                  </p:pic>
                </p:oleObj>
              </mc:Fallback>
            </mc:AlternateContent>
          </a:graphicData>
        </a:graphic>
      </p:graphicFrame>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08EF5EC8-A79A-59F5-1275-3CADC9ED625B}"/>
                  </a:ext>
                </a:extLst>
              </p14:cNvPr>
              <p14:cNvContentPartPr/>
              <p14:nvPr/>
            </p14:nvContentPartPr>
            <p14:xfrm>
              <a:off x="1248232" y="4186173"/>
              <a:ext cx="2579760" cy="51480"/>
            </p14:xfrm>
          </p:contentPart>
        </mc:Choice>
        <mc:Fallback xmlns="">
          <p:pic>
            <p:nvPicPr>
              <p:cNvPr id="2" name="墨迹 1">
                <a:extLst>
                  <a:ext uri="{FF2B5EF4-FFF2-40B4-BE49-F238E27FC236}">
                    <a16:creationId xmlns:a16="http://schemas.microsoft.com/office/drawing/2014/main" id="{08EF5EC8-A79A-59F5-1275-3CADC9ED625B}"/>
                  </a:ext>
                </a:extLst>
              </p:cNvPr>
              <p:cNvPicPr/>
              <p:nvPr/>
            </p:nvPicPr>
            <p:blipFill>
              <a:blip r:embed="rId7"/>
              <a:stretch>
                <a:fillRect/>
              </a:stretch>
            </p:blipFill>
            <p:spPr>
              <a:xfrm>
                <a:off x="1194592" y="4078173"/>
                <a:ext cx="2687400" cy="26712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文本占位符 10242"/>
          <p:cNvSpPr>
            <a:spLocks noGrp="1"/>
          </p:cNvSpPr>
          <p:nvPr>
            <p:ph type="body" sz="half" idx="1"/>
          </p:nvPr>
        </p:nvSpPr>
        <p:spPr>
          <a:xfrm>
            <a:off x="395288" y="836613"/>
            <a:ext cx="8147050" cy="4525962"/>
          </a:xfrm>
        </p:spPr>
        <p:txBody>
          <a:bodyPr anchor="t" anchorCtr="0"/>
          <a:lstStyle/>
          <a:p>
            <a:pPr>
              <a:buClr>
                <a:schemeClr val="bg2"/>
              </a:buClr>
              <a:buSzPct val="75000"/>
              <a:buFont typeface="Wingdings" panose="05000000000000000000" pitchFamily="2" charset="2"/>
            </a:pPr>
            <a:r>
              <a:rPr lang="zh-CN" altLang="en-US" sz="2800" b="1" dirty="0"/>
              <a:t>电子波函数</a:t>
            </a:r>
          </a:p>
        </p:txBody>
      </p:sp>
      <p:graphicFrame>
        <p:nvGraphicFramePr>
          <p:cNvPr id="30722" name="内容占位符 10243"/>
          <p:cNvGraphicFramePr>
            <a:graphicFrameLocks noGrp="1"/>
          </p:cNvGraphicFramePr>
          <p:nvPr>
            <p:ph sz="quarter" idx="2"/>
          </p:nvPr>
        </p:nvGraphicFramePr>
        <p:xfrm>
          <a:off x="2699703" y="1988503"/>
          <a:ext cx="3435350" cy="615950"/>
        </p:xfrm>
        <a:graphic>
          <a:graphicData uri="http://schemas.openxmlformats.org/presentationml/2006/ole">
            <mc:AlternateContent xmlns:mc="http://schemas.openxmlformats.org/markup-compatibility/2006">
              <mc:Choice xmlns:v="urn:schemas-microsoft-com:vml" Requires="v">
                <p:oleObj r:id="rId2" imgW="1091565" imgH="228600" progId="Equation.DSMT4">
                  <p:embed/>
                </p:oleObj>
              </mc:Choice>
              <mc:Fallback>
                <p:oleObj r:id="rId2" imgW="1091565" imgH="228600" progId="Equation.DSMT4">
                  <p:embed/>
                  <p:pic>
                    <p:nvPicPr>
                      <p:cNvPr id="0" name="图片 3111"/>
                      <p:cNvPicPr/>
                      <p:nvPr/>
                    </p:nvPicPr>
                    <p:blipFill>
                      <a:blip r:embed="rId3"/>
                      <a:stretch>
                        <a:fillRect/>
                      </a:stretch>
                    </p:blipFill>
                    <p:spPr>
                      <a:xfrm>
                        <a:off x="2699703" y="1988503"/>
                        <a:ext cx="3435350" cy="615950"/>
                      </a:xfrm>
                      <a:prstGeom prst="rect">
                        <a:avLst/>
                      </a:prstGeom>
                      <a:solidFill>
                        <a:srgbClr val="CCFFFF"/>
                      </a:solidFill>
                      <a:ln>
                        <a:solidFill>
                          <a:srgbClr val="FF0000"/>
                        </a:solidFill>
                        <a:miter/>
                      </a:ln>
                    </p:spPr>
                  </p:pic>
                </p:oleObj>
              </mc:Fallback>
            </mc:AlternateContent>
          </a:graphicData>
        </a:graphic>
      </p:graphicFrame>
      <p:sp>
        <p:nvSpPr>
          <p:cNvPr id="30723" name="矩形 10246"/>
          <p:cNvSpPr/>
          <p:nvPr/>
        </p:nvSpPr>
        <p:spPr>
          <a:xfrm>
            <a:off x="515938" y="5157788"/>
            <a:ext cx="8002587" cy="1223962"/>
          </a:xfrm>
          <a:prstGeom prst="rect">
            <a:avLst/>
          </a:prstGeom>
          <a:noFill/>
          <a:ln w="9525">
            <a:noFill/>
          </a:ln>
        </p:spPr>
        <p:txBody>
          <a:bodyPr anchor="t" anchorCtr="0"/>
          <a:lstStyle/>
          <a:p>
            <a:pPr marL="742950" lvl="1" indent="-285750" algn="l"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pPr>
            <a:r>
              <a:rPr lang="zh-CN" altLang="en-US" sz="2800" b="1" u="none" baseline="0" dirty="0">
                <a:solidFill>
                  <a:schemeClr val="tx1"/>
                </a:solidFill>
                <a:latin typeface="Arial" panose="020B0604020202020204" pitchFamily="34" charset="0"/>
                <a:ea typeface="宋体" panose="02010600030101010101" pitchFamily="2" charset="-122"/>
              </a:rPr>
              <a:t>平面波因子</a:t>
            </a:r>
            <a:r>
              <a:rPr lang="en-US" altLang="zh-CN" sz="2800" b="1" u="none" baseline="0" dirty="0">
                <a:solidFill>
                  <a:schemeClr val="tx1"/>
                </a:solidFill>
                <a:latin typeface="Arial" panose="020B0604020202020204" pitchFamily="34" charset="0"/>
                <a:ea typeface="宋体" panose="02010600030101010101" pitchFamily="2" charset="-122"/>
              </a:rPr>
              <a:t>(</a:t>
            </a:r>
            <a:r>
              <a:rPr lang="zh-CN" altLang="en-US" sz="2800" b="1" u="none" baseline="0" dirty="0">
                <a:solidFill>
                  <a:schemeClr val="tx1"/>
                </a:solidFill>
                <a:latin typeface="Arial" panose="020B0604020202020204" pitchFamily="34" charset="0"/>
                <a:ea typeface="宋体" panose="02010600030101010101" pitchFamily="2" charset="-122"/>
              </a:rPr>
              <a:t>位相因子</a:t>
            </a:r>
            <a:r>
              <a:rPr lang="en-US" altLang="zh-CN" sz="2800" b="1" u="none" baseline="0">
                <a:solidFill>
                  <a:schemeClr val="tx1"/>
                </a:solidFill>
                <a:latin typeface="Arial" panose="020B0604020202020204" pitchFamily="34" charset="0"/>
                <a:ea typeface="宋体" panose="02010600030101010101" pitchFamily="2" charset="-122"/>
              </a:rPr>
              <a:t>) </a:t>
            </a:r>
            <a:r>
              <a:rPr lang="en-US" altLang="zh-CN" sz="2800" b="1" i="1" u="none" baseline="0">
                <a:solidFill>
                  <a:schemeClr val="tx1"/>
                </a:solidFill>
                <a:latin typeface="Arial" panose="020B0604020202020204" pitchFamily="34" charset="0"/>
                <a:ea typeface="宋体" panose="02010600030101010101" pitchFamily="2" charset="-122"/>
              </a:rPr>
              <a:t>e</a:t>
            </a:r>
            <a:r>
              <a:rPr lang="en-US" altLang="zh-CN" sz="2800" b="1" i="1" u="none" baseline="30000">
                <a:solidFill>
                  <a:schemeClr val="tx1"/>
                </a:solidFill>
                <a:latin typeface="Arial" panose="020B0604020202020204" pitchFamily="34" charset="0"/>
                <a:ea typeface="宋体" panose="02010600030101010101" pitchFamily="2" charset="-122"/>
              </a:rPr>
              <a:t>i2</a:t>
            </a:r>
            <a:r>
              <a:rPr lang="en-US" altLang="zh-CN" sz="2800" b="1" i="1" u="none" baseline="30000">
                <a:solidFill>
                  <a:schemeClr val="tx1"/>
                </a:solidFill>
                <a:latin typeface="Tahoma" panose="020B0604030504040204" pitchFamily="34" charset="0"/>
                <a:ea typeface="宋体" panose="02010600030101010101" pitchFamily="2" charset="-122"/>
              </a:rPr>
              <a:t>π</a:t>
            </a:r>
            <a:r>
              <a:rPr lang="en-US" altLang="zh-CN" sz="2800" b="1" i="1" u="none" baseline="30000">
                <a:solidFill>
                  <a:schemeClr val="tx1"/>
                </a:solidFill>
                <a:latin typeface="Arial" panose="020B0604020202020204" pitchFamily="34" charset="0"/>
                <a:ea typeface="宋体" panose="02010600030101010101" pitchFamily="2" charset="-122"/>
              </a:rPr>
              <a:t>k·r </a:t>
            </a:r>
            <a:r>
              <a:rPr lang="zh-CN" altLang="en-US" sz="2800" b="1" u="none" baseline="0" dirty="0">
                <a:solidFill>
                  <a:schemeClr val="tx1"/>
                </a:solidFill>
                <a:latin typeface="Arial" panose="020B0604020202020204" pitchFamily="34" charset="0"/>
                <a:ea typeface="宋体" panose="02010600030101010101" pitchFamily="2" charset="-122"/>
              </a:rPr>
              <a:t>是</a:t>
            </a:r>
            <a:r>
              <a:rPr lang="en-US" altLang="zh-CN" sz="2800" b="1" i="1" u="none" baseline="0">
                <a:solidFill>
                  <a:schemeClr val="tx1"/>
                </a:solidFill>
                <a:latin typeface="Arial" panose="020B0604020202020204" pitchFamily="34" charset="0"/>
                <a:ea typeface="宋体" panose="02010600030101010101" pitchFamily="2" charset="-122"/>
              </a:rPr>
              <a:t>k</a:t>
            </a:r>
            <a:r>
              <a:rPr lang="zh-CN" altLang="en-US" sz="2800" b="1" u="none" baseline="0" dirty="0">
                <a:solidFill>
                  <a:schemeClr val="tx1"/>
                </a:solidFill>
                <a:latin typeface="Arial" panose="020B0604020202020204" pitchFamily="34" charset="0"/>
                <a:ea typeface="宋体" panose="02010600030101010101" pitchFamily="2" charset="-122"/>
              </a:rPr>
              <a:t>方向上传播的平面波，反映电子的共有化运动。</a:t>
            </a:r>
            <a:r>
              <a:rPr lang="zh-CN" altLang="en-US" sz="2800" b="1" i="1" u="none" baseline="0">
                <a:solidFill>
                  <a:schemeClr val="tx1"/>
                </a:solidFill>
                <a:latin typeface="Arial" panose="020B0604020202020204" pitchFamily="34" charset="0"/>
                <a:ea typeface="宋体" panose="02010600030101010101" pitchFamily="2" charset="-122"/>
              </a:rPr>
              <a:t> </a:t>
            </a:r>
          </a:p>
        </p:txBody>
      </p:sp>
      <p:graphicFrame>
        <p:nvGraphicFramePr>
          <p:cNvPr id="30724" name="内容占位符 10250"/>
          <p:cNvGraphicFramePr>
            <a:graphicFrameLocks noGrp="1"/>
          </p:cNvGraphicFramePr>
          <p:nvPr>
            <p:ph sz="quarter" idx="3"/>
          </p:nvPr>
        </p:nvGraphicFramePr>
        <p:xfrm>
          <a:off x="3090863" y="3675063"/>
          <a:ext cx="2776537" cy="542925"/>
        </p:xfrm>
        <a:graphic>
          <a:graphicData uri="http://schemas.openxmlformats.org/presentationml/2006/ole">
            <mc:AlternateContent xmlns:mc="http://schemas.openxmlformats.org/markup-compatibility/2006">
              <mc:Choice xmlns:v="urn:schemas-microsoft-com:vml" Requires="v">
                <p:oleObj r:id="rId4" imgW="1002665" imgH="228600" progId="Equation.DSMT4">
                  <p:embed/>
                </p:oleObj>
              </mc:Choice>
              <mc:Fallback>
                <p:oleObj r:id="rId4" imgW="1002665" imgH="228600" progId="Equation.DSMT4">
                  <p:embed/>
                  <p:pic>
                    <p:nvPicPr>
                      <p:cNvPr id="0" name="图片 3113"/>
                      <p:cNvPicPr/>
                      <p:nvPr/>
                    </p:nvPicPr>
                    <p:blipFill>
                      <a:blip r:embed="rId5"/>
                      <a:stretch>
                        <a:fillRect/>
                      </a:stretch>
                    </p:blipFill>
                    <p:spPr>
                      <a:xfrm>
                        <a:off x="3090863" y="3675063"/>
                        <a:ext cx="2776537" cy="542925"/>
                      </a:xfrm>
                      <a:prstGeom prst="rect">
                        <a:avLst/>
                      </a:prstGeom>
                      <a:solidFill>
                        <a:srgbClr val="CCFFFF"/>
                      </a:solidFill>
                      <a:ln>
                        <a:solidFill>
                          <a:srgbClr val="FF0000"/>
                        </a:solidFill>
                        <a:miter/>
                      </a:ln>
                    </p:spPr>
                  </p:pic>
                </p:oleObj>
              </mc:Fallback>
            </mc:AlternateContent>
          </a:graphicData>
        </a:graphic>
      </p:graphicFrame>
      <p:sp>
        <p:nvSpPr>
          <p:cNvPr id="30725" name="矩形 10253"/>
          <p:cNvSpPr/>
          <p:nvPr/>
        </p:nvSpPr>
        <p:spPr>
          <a:xfrm>
            <a:off x="468313" y="2997200"/>
            <a:ext cx="7127875" cy="604838"/>
          </a:xfrm>
          <a:prstGeom prst="rect">
            <a:avLst/>
          </a:prstGeom>
          <a:noFill/>
          <a:ln w="9525">
            <a:noFill/>
          </a:ln>
        </p:spPr>
        <p:txBody>
          <a:bodyPr anchor="t" anchorCtr="0"/>
          <a:lstStyle/>
          <a:p>
            <a:pPr marL="742950" lvl="1" indent="-285750" algn="l"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
            </a:pPr>
            <a:r>
              <a:rPr lang="en-US" altLang="zh-CN" sz="2800" b="1" i="1" u="none" baseline="0" err="1">
                <a:solidFill>
                  <a:schemeClr val="tx1"/>
                </a:solidFill>
                <a:latin typeface="Arial" panose="020B0604020202020204" pitchFamily="34" charset="0"/>
                <a:ea typeface="宋体" panose="02010600030101010101" pitchFamily="2" charset="-122"/>
              </a:rPr>
              <a:t>u(r</a:t>
            </a:r>
            <a:r>
              <a:rPr lang="en-US" altLang="zh-CN" sz="2800" b="1" i="1" u="none" baseline="0">
                <a:solidFill>
                  <a:schemeClr val="tx1"/>
                </a:solidFill>
                <a:latin typeface="Arial" panose="020B0604020202020204" pitchFamily="34" charset="0"/>
                <a:ea typeface="宋体" panose="02010600030101010101" pitchFamily="2" charset="-122"/>
              </a:rPr>
              <a:t>)</a:t>
            </a:r>
            <a:r>
              <a:rPr lang="zh-CN" altLang="en-US" sz="2800" b="1" u="none" baseline="0" dirty="0">
                <a:solidFill>
                  <a:schemeClr val="tx1"/>
                </a:solidFill>
                <a:latin typeface="Arial" panose="020B0604020202020204" pitchFamily="34" charset="0"/>
                <a:ea typeface="宋体" panose="02010600030101010101" pitchFamily="2" charset="-122"/>
              </a:rPr>
              <a:t>具有和晶格一样的周期性，即：</a:t>
            </a:r>
          </a:p>
        </p:txBody>
      </p:sp>
      <p:sp>
        <p:nvSpPr>
          <p:cNvPr id="30726" name="文本框 10257"/>
          <p:cNvSpPr txBox="1"/>
          <p:nvPr/>
        </p:nvSpPr>
        <p:spPr>
          <a:xfrm>
            <a:off x="3091180" y="835978"/>
            <a:ext cx="2809875" cy="579437"/>
          </a:xfrm>
          <a:prstGeom prst="rect">
            <a:avLst/>
          </a:prstGeom>
          <a:noFill/>
          <a:ln w="9525">
            <a:noFill/>
          </a:ln>
        </p:spPr>
        <p:txBody>
          <a:bodyPr wrap="none" anchor="t" anchorCtr="0">
            <a:spAutoFit/>
          </a:bodyPr>
          <a:lstStyle/>
          <a:p>
            <a:r>
              <a:rPr lang="zh-CN" altLang="en-US" sz="3200" b="1" dirty="0">
                <a:latin typeface="Times New Roman" panose="02020603050405020304" pitchFamily="18" charset="0"/>
                <a:ea typeface="宋体" panose="02010600030101010101" pitchFamily="2" charset="-122"/>
              </a:rPr>
              <a:t>应用</a:t>
            </a:r>
            <a:r>
              <a:rPr lang="en-US" altLang="zh-CN" sz="3200" b="1" dirty="0">
                <a:latin typeface="Times New Roman" panose="02020603050405020304" pitchFamily="18" charset="0"/>
                <a:ea typeface="宋体" panose="02010600030101010101" pitchFamily="2" charset="-122"/>
              </a:rPr>
              <a:t>Bloch</a:t>
            </a:r>
            <a:r>
              <a:rPr lang="zh-CN" altLang="en-US" sz="3200" b="1" dirty="0">
                <a:latin typeface="Times New Roman" panose="02020603050405020304" pitchFamily="18" charset="0"/>
                <a:ea typeface="宋体" panose="02010600030101010101" pitchFamily="2" charset="-122"/>
              </a:rPr>
              <a:t>定理</a:t>
            </a:r>
          </a:p>
        </p:txBody>
      </p:sp>
      <p:sp>
        <p:nvSpPr>
          <p:cNvPr id="30727" name="矩形 10258"/>
          <p:cNvSpPr/>
          <p:nvPr/>
        </p:nvSpPr>
        <p:spPr>
          <a:xfrm>
            <a:off x="762000" y="4313238"/>
            <a:ext cx="6662738" cy="519112"/>
          </a:xfrm>
          <a:prstGeom prst="rect">
            <a:avLst/>
          </a:prstGeom>
          <a:noFill/>
          <a:ln w="9525">
            <a:noFill/>
          </a:ln>
        </p:spPr>
        <p:txBody>
          <a:bodyPr wrap="none" anchor="t" anchorCtr="0">
            <a:spAutoFit/>
          </a:bodyPr>
          <a:lstStyle/>
          <a:p>
            <a:pPr lvl="1" indent="0">
              <a:spcBef>
                <a:spcPct val="20000"/>
              </a:spcBef>
              <a:buClr>
                <a:schemeClr val="accent2"/>
              </a:buClr>
              <a:buSzPct val="70000"/>
              <a:buFont typeface="Wingdings" panose="05000000000000000000" pitchFamily="2" charset="2"/>
            </a:pPr>
            <a:r>
              <a:rPr lang="en-US" altLang="zh-CN" sz="2800" b="1" i="1" err="1">
                <a:latin typeface="Times New Roman" panose="02020603050405020304" pitchFamily="18" charset="0"/>
                <a:ea typeface="宋体" panose="02010600030101010101" pitchFamily="2" charset="-122"/>
              </a:rPr>
              <a:t>u(r</a:t>
            </a:r>
            <a:r>
              <a:rPr lang="en-US" altLang="zh-CN" sz="2800" b="1" i="1">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反映了周期势场对电子运动的影响</a:t>
            </a:r>
          </a:p>
        </p:txBody>
      </p:sp>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DAC3F3E9-E27F-AE03-666C-29507EA791B6}"/>
                  </a:ext>
                </a:extLst>
              </p14:cNvPr>
              <p14:cNvContentPartPr/>
              <p14:nvPr/>
            </p14:nvContentPartPr>
            <p14:xfrm>
              <a:off x="1523992" y="4422693"/>
              <a:ext cx="5652000" cy="70560"/>
            </p14:xfrm>
          </p:contentPart>
        </mc:Choice>
        <mc:Fallback xmlns="">
          <p:pic>
            <p:nvPicPr>
              <p:cNvPr id="2" name="墨迹 1">
                <a:extLst>
                  <a:ext uri="{FF2B5EF4-FFF2-40B4-BE49-F238E27FC236}">
                    <a16:creationId xmlns:a16="http://schemas.microsoft.com/office/drawing/2014/main" id="{DAC3F3E9-E27F-AE03-666C-29507EA791B6}"/>
                  </a:ext>
                </a:extLst>
              </p:cNvPr>
              <p:cNvPicPr/>
              <p:nvPr/>
            </p:nvPicPr>
            <p:blipFill>
              <a:blip r:embed="rId7"/>
              <a:stretch>
                <a:fillRect/>
              </a:stretch>
            </p:blipFill>
            <p:spPr>
              <a:xfrm>
                <a:off x="1469992" y="4315053"/>
                <a:ext cx="575964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E6C1657E-891B-17CE-5D99-47119C379A6E}"/>
                  </a:ext>
                </a:extLst>
              </p14:cNvPr>
              <p14:cNvContentPartPr/>
              <p14:nvPr/>
            </p14:nvContentPartPr>
            <p14:xfrm>
              <a:off x="2644672" y="5732013"/>
              <a:ext cx="3661920" cy="306360"/>
            </p14:xfrm>
          </p:contentPart>
        </mc:Choice>
        <mc:Fallback xmlns="">
          <p:pic>
            <p:nvPicPr>
              <p:cNvPr id="3" name="墨迹 2">
                <a:extLst>
                  <a:ext uri="{FF2B5EF4-FFF2-40B4-BE49-F238E27FC236}">
                    <a16:creationId xmlns:a16="http://schemas.microsoft.com/office/drawing/2014/main" id="{E6C1657E-891B-17CE-5D99-47119C379A6E}"/>
                  </a:ext>
                </a:extLst>
              </p:cNvPr>
              <p:cNvPicPr/>
              <p:nvPr/>
            </p:nvPicPr>
            <p:blipFill>
              <a:blip r:embed="rId9"/>
              <a:stretch>
                <a:fillRect/>
              </a:stretch>
            </p:blipFill>
            <p:spPr>
              <a:xfrm>
                <a:off x="2591032" y="5624373"/>
                <a:ext cx="3769560" cy="522000"/>
              </a:xfrm>
              <a:prstGeom prst="rect">
                <a:avLst/>
              </a:prstGeom>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8" name="矩形 154627"/>
          <p:cNvSpPr/>
          <p:nvPr/>
        </p:nvSpPr>
        <p:spPr>
          <a:xfrm>
            <a:off x="1042988" y="5013325"/>
            <a:ext cx="7416800" cy="1373188"/>
          </a:xfrm>
          <a:prstGeom prst="rect">
            <a:avLst/>
          </a:prstGeom>
          <a:noFill/>
          <a:ln w="9525">
            <a:noFill/>
          </a:ln>
        </p:spPr>
        <p:txBody>
          <a:bodyPr>
            <a:spAutoFit/>
          </a:bodyPr>
          <a:lstStyle/>
          <a:p>
            <a:pPr lvl="1" fontAlgn="base">
              <a:spcBef>
                <a:spcPct val="20000"/>
              </a:spcBef>
              <a:buClr>
                <a:schemeClr val="accent2"/>
              </a:buClr>
              <a:buSzPct val="70000"/>
              <a:buFont typeface="Wingdings" panose="05000000000000000000" pitchFamily="2" charset="2"/>
            </a:pPr>
            <a:r>
              <a:rPr lang="zh-CN" altLang="en-US" sz="2800" b="1" strike="noStrike" noProof="1">
                <a:effectLst>
                  <a:outerShdw blurRad="38100" dist="38100" dir="2700000">
                    <a:srgbClr val="C0C0C0"/>
                  </a:outerShdw>
                </a:effectLst>
                <a:latin typeface="Times New Roman" panose="02020603050405020304" pitchFamily="18" charset="0"/>
                <a:ea typeface="宋体" panose="02010600030101010101" pitchFamily="2" charset="-122"/>
                <a:cs typeface="+mn-cs"/>
              </a:rPr>
              <a:t>说明电子在晶体中的</a:t>
            </a:r>
            <a:r>
              <a:rPr lang="zh-CN" altLang="en-US" sz="2800" b="1" strike="noStrike" noProof="1">
                <a:solidFill>
                  <a:srgbClr val="A50021"/>
                </a:solidFill>
                <a:effectLst>
                  <a:outerShdw blurRad="38100" dist="38100" dir="2700000">
                    <a:srgbClr val="C0C0C0"/>
                  </a:outerShdw>
                </a:effectLst>
                <a:latin typeface="Times New Roman" panose="02020603050405020304" pitchFamily="18" charset="0"/>
                <a:ea typeface="宋体" panose="02010600030101010101" pitchFamily="2" charset="-122"/>
                <a:cs typeface="+mn-cs"/>
              </a:rPr>
              <a:t>分布几率是晶格的周期函数</a:t>
            </a:r>
            <a:r>
              <a:rPr lang="zh-CN" altLang="en-US" sz="2800" b="1" strike="noStrike" noProof="1">
                <a:effectLst>
                  <a:outerShdw blurRad="38100" dist="38100" dir="2700000">
                    <a:srgbClr val="C0C0C0"/>
                  </a:outerShdw>
                </a:effectLst>
                <a:latin typeface="Times New Roman" panose="02020603050405020304" pitchFamily="18" charset="0"/>
                <a:ea typeface="宋体" panose="02010600030101010101" pitchFamily="2" charset="-122"/>
                <a:cs typeface="+mn-cs"/>
              </a:rPr>
              <a:t>，晶体中各处分布几率不同，但不同原胞的等价位置上出现的几率相同。</a:t>
            </a:r>
            <a:endParaRPr lang="zh-CN" altLang="en-US" sz="2800" b="1" strike="noStrike" noProof="1">
              <a:effectLst>
                <a:outerShdw blurRad="38100" dist="38100" dir="2700000">
                  <a:srgbClr val="C0C0C0"/>
                </a:outerShdw>
              </a:effectLst>
              <a:latin typeface="Times New Roman" panose="02020603050405020304" pitchFamily="18" charset="0"/>
            </a:endParaRPr>
          </a:p>
        </p:txBody>
      </p:sp>
      <p:graphicFrame>
        <p:nvGraphicFramePr>
          <p:cNvPr id="31746" name="内容占位符 154628"/>
          <p:cNvGraphicFramePr>
            <a:graphicFrameLocks noGrp="1"/>
          </p:cNvGraphicFramePr>
          <p:nvPr>
            <p:ph idx="4294967295"/>
          </p:nvPr>
        </p:nvGraphicFramePr>
        <p:xfrm>
          <a:off x="2987675" y="4149725"/>
          <a:ext cx="4248150" cy="658813"/>
        </p:xfrm>
        <a:graphic>
          <a:graphicData uri="http://schemas.openxmlformats.org/presentationml/2006/ole">
            <mc:AlternateContent xmlns:mc="http://schemas.openxmlformats.org/markup-compatibility/2006">
              <mc:Choice xmlns:v="urn:schemas-microsoft-com:vml" Requires="v">
                <p:oleObj r:id="rId2" imgW="1739265" imgH="292100" progId="Equation.DSMT4">
                  <p:embed/>
                </p:oleObj>
              </mc:Choice>
              <mc:Fallback>
                <p:oleObj r:id="rId2" imgW="1739265" imgH="292100" progId="Equation.DSMT4">
                  <p:embed/>
                  <p:pic>
                    <p:nvPicPr>
                      <p:cNvPr id="0" name="图片 3115"/>
                      <p:cNvPicPr/>
                      <p:nvPr/>
                    </p:nvPicPr>
                    <p:blipFill>
                      <a:blip r:embed="rId3"/>
                      <a:stretch>
                        <a:fillRect/>
                      </a:stretch>
                    </p:blipFill>
                    <p:spPr>
                      <a:xfrm>
                        <a:off x="2987675" y="4149725"/>
                        <a:ext cx="4248150" cy="658813"/>
                      </a:xfrm>
                      <a:prstGeom prst="rect">
                        <a:avLst/>
                      </a:prstGeom>
                      <a:solidFill>
                        <a:srgbClr val="CCFFFF"/>
                      </a:solidFill>
                      <a:ln>
                        <a:solidFill>
                          <a:srgbClr val="FF0000"/>
                        </a:solidFill>
                        <a:miter/>
                      </a:ln>
                    </p:spPr>
                  </p:pic>
                </p:oleObj>
              </mc:Fallback>
            </mc:AlternateContent>
          </a:graphicData>
        </a:graphic>
      </p:graphicFrame>
      <p:sp>
        <p:nvSpPr>
          <p:cNvPr id="31747" name="文本框 154630"/>
          <p:cNvSpPr txBox="1"/>
          <p:nvPr/>
        </p:nvSpPr>
        <p:spPr>
          <a:xfrm>
            <a:off x="971550" y="1049338"/>
            <a:ext cx="2879725" cy="579437"/>
          </a:xfrm>
          <a:prstGeom prst="rect">
            <a:avLst/>
          </a:prstGeom>
          <a:noFill/>
          <a:ln w="9525">
            <a:noFill/>
          </a:ln>
        </p:spPr>
        <p:txBody>
          <a:bodyPr anchor="t" anchorCtr="0">
            <a:spAutoFit/>
          </a:bodyPr>
          <a:lstStyle/>
          <a:p>
            <a:r>
              <a:rPr lang="zh-CN" altLang="en-US" sz="3200" b="1" dirty="0">
                <a:solidFill>
                  <a:schemeClr val="bg2"/>
                </a:solidFill>
                <a:latin typeface="Times New Roman" panose="02020603050405020304" pitchFamily="18" charset="0"/>
                <a:ea typeface="宋体" panose="02010600030101010101" pitchFamily="2" charset="-122"/>
              </a:rPr>
              <a:t>对自由电子</a:t>
            </a:r>
          </a:p>
        </p:txBody>
      </p:sp>
      <p:graphicFrame>
        <p:nvGraphicFramePr>
          <p:cNvPr id="31748" name="对象 154631"/>
          <p:cNvGraphicFramePr/>
          <p:nvPr/>
        </p:nvGraphicFramePr>
        <p:xfrm>
          <a:off x="2987675" y="1628775"/>
          <a:ext cx="3097213" cy="704850"/>
        </p:xfrm>
        <a:graphic>
          <a:graphicData uri="http://schemas.openxmlformats.org/presentationml/2006/ole">
            <mc:AlternateContent xmlns:mc="http://schemas.openxmlformats.org/markup-compatibility/2006">
              <mc:Choice xmlns:v="urn:schemas-microsoft-com:vml" Requires="v">
                <p:oleObj r:id="rId4" imgW="1282065" imgH="292100" progId="Equation.DSMT4">
                  <p:embed/>
                </p:oleObj>
              </mc:Choice>
              <mc:Fallback>
                <p:oleObj r:id="rId4" imgW="1282065" imgH="292100" progId="Equation.DSMT4">
                  <p:embed/>
                  <p:pic>
                    <p:nvPicPr>
                      <p:cNvPr id="0" name="图片 3116"/>
                      <p:cNvPicPr/>
                      <p:nvPr/>
                    </p:nvPicPr>
                    <p:blipFill>
                      <a:blip r:embed="rId5"/>
                      <a:stretch>
                        <a:fillRect/>
                      </a:stretch>
                    </p:blipFill>
                    <p:spPr>
                      <a:xfrm>
                        <a:off x="2987675" y="1628775"/>
                        <a:ext cx="3097213" cy="704850"/>
                      </a:xfrm>
                      <a:prstGeom prst="rect">
                        <a:avLst/>
                      </a:prstGeom>
                      <a:solidFill>
                        <a:srgbClr val="CCFFFF"/>
                      </a:solidFill>
                      <a:ln w="9525" cap="flat" cmpd="sng">
                        <a:solidFill>
                          <a:srgbClr val="FF0000"/>
                        </a:solidFill>
                        <a:prstDash val="solid"/>
                        <a:miter/>
                        <a:headEnd type="none" w="med" len="med"/>
                        <a:tailEnd type="none" w="med" len="med"/>
                      </a:ln>
                    </p:spPr>
                  </p:pic>
                </p:oleObj>
              </mc:Fallback>
            </mc:AlternateContent>
          </a:graphicData>
        </a:graphic>
      </p:graphicFrame>
      <p:sp>
        <p:nvSpPr>
          <p:cNvPr id="31749" name="文本框 154632"/>
          <p:cNvSpPr txBox="1"/>
          <p:nvPr/>
        </p:nvSpPr>
        <p:spPr>
          <a:xfrm>
            <a:off x="1692275" y="2492375"/>
            <a:ext cx="6551613" cy="946150"/>
          </a:xfrm>
          <a:prstGeom prst="rect">
            <a:avLst/>
          </a:prstGeom>
          <a:noFill/>
          <a:ln w="9525">
            <a:noFill/>
          </a:ln>
        </p:spPr>
        <p:txBody>
          <a:bodyPr anchor="t" anchorCtr="0">
            <a:spAutoFit/>
          </a:bodyPr>
          <a:lstStyle/>
          <a:p>
            <a:r>
              <a:rPr lang="zh-CN" altLang="en-US" sz="2800" b="1" dirty="0">
                <a:latin typeface="Times New Roman" panose="02020603050405020304" pitchFamily="18" charset="0"/>
                <a:ea typeface="宋体" panose="02010600030101010101" pitchFamily="2" charset="-122"/>
              </a:rPr>
              <a:t>说明电子在空间是</a:t>
            </a:r>
            <a:r>
              <a:rPr lang="zh-CN" altLang="en-US" sz="2800" b="1" dirty="0">
                <a:solidFill>
                  <a:srgbClr val="A50021"/>
                </a:solidFill>
                <a:latin typeface="Times New Roman" panose="02020603050405020304" pitchFamily="18" charset="0"/>
                <a:ea typeface="宋体" panose="02010600030101010101" pitchFamily="2" charset="-122"/>
              </a:rPr>
              <a:t>等几率分布</a:t>
            </a:r>
            <a:r>
              <a:rPr lang="zh-CN" altLang="en-US" sz="2800" b="1" dirty="0">
                <a:latin typeface="Times New Roman" panose="02020603050405020304" pitchFamily="18" charset="0"/>
                <a:ea typeface="宋体" panose="02010600030101010101" pitchFamily="2" charset="-122"/>
              </a:rPr>
              <a:t>的，自由电子在空间作自由运动</a:t>
            </a:r>
          </a:p>
        </p:txBody>
      </p:sp>
      <p:sp>
        <p:nvSpPr>
          <p:cNvPr id="31750" name="文本框 154633"/>
          <p:cNvSpPr txBox="1"/>
          <p:nvPr/>
        </p:nvSpPr>
        <p:spPr>
          <a:xfrm>
            <a:off x="1042988" y="3500438"/>
            <a:ext cx="5113337" cy="579437"/>
          </a:xfrm>
          <a:prstGeom prst="rect">
            <a:avLst/>
          </a:prstGeom>
          <a:noFill/>
          <a:ln w="9525">
            <a:noFill/>
          </a:ln>
        </p:spPr>
        <p:txBody>
          <a:bodyPr anchor="t" anchorCtr="0">
            <a:spAutoFit/>
          </a:bodyPr>
          <a:lstStyle/>
          <a:p>
            <a:r>
              <a:rPr lang="zh-CN" altLang="en-US" sz="3200" b="1" dirty="0">
                <a:solidFill>
                  <a:schemeClr val="bg2"/>
                </a:solidFill>
                <a:latin typeface="Times New Roman" panose="02020603050405020304" pitchFamily="18" charset="0"/>
                <a:ea typeface="宋体" panose="02010600030101010101" pitchFamily="2" charset="-122"/>
              </a:rPr>
              <a:t>对半导体晶体中的电子</a:t>
            </a:r>
          </a:p>
        </p:txBody>
      </p:sp>
      <p:sp>
        <p:nvSpPr>
          <p:cNvPr id="31751" name="文本框 154634"/>
          <p:cNvSpPr txBox="1"/>
          <p:nvPr/>
        </p:nvSpPr>
        <p:spPr>
          <a:xfrm>
            <a:off x="682943" y="404495"/>
            <a:ext cx="5111750" cy="579438"/>
          </a:xfrm>
          <a:prstGeom prst="rect">
            <a:avLst/>
          </a:prstGeom>
          <a:noFill/>
          <a:ln w="9525">
            <a:noFill/>
          </a:ln>
        </p:spPr>
        <p:txBody>
          <a:bodyPr anchor="t" anchorCtr="0">
            <a:spAutoFit/>
          </a:bodyPr>
          <a:lstStyle/>
          <a:p>
            <a:r>
              <a:rPr lang="zh-CN" altLang="en-US" sz="3200" b="1" dirty="0">
                <a:solidFill>
                  <a:srgbClr val="A50021"/>
                </a:solidFill>
                <a:latin typeface="Times New Roman" panose="02020603050405020304" pitchFamily="18" charset="0"/>
                <a:ea typeface="宋体" panose="02010600030101010101" pitchFamily="2" charset="-122"/>
              </a:rPr>
              <a:t>电子在空间的分布</a:t>
            </a:r>
            <a:endParaRPr lang="zh-CN" altLang="en-US" sz="3200" b="1">
              <a:solidFill>
                <a:srgbClr val="A50021"/>
              </a:solidFill>
              <a:latin typeface="Times New Roman" panose="02020603050405020304"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B661CCFC-CD82-8AA7-1257-5E5C70888B12}"/>
                  </a:ext>
                </a:extLst>
              </p14:cNvPr>
              <p14:cNvContentPartPr/>
              <p14:nvPr/>
            </p14:nvContentPartPr>
            <p14:xfrm>
              <a:off x="2821792" y="5689173"/>
              <a:ext cx="4219200" cy="72720"/>
            </p14:xfrm>
          </p:contentPart>
        </mc:Choice>
        <mc:Fallback xmlns="">
          <p:pic>
            <p:nvPicPr>
              <p:cNvPr id="2" name="墨迹 1">
                <a:extLst>
                  <a:ext uri="{FF2B5EF4-FFF2-40B4-BE49-F238E27FC236}">
                    <a16:creationId xmlns:a16="http://schemas.microsoft.com/office/drawing/2014/main" id="{B661CCFC-CD82-8AA7-1257-5E5C70888B12}"/>
                  </a:ext>
                </a:extLst>
              </p:cNvPr>
              <p:cNvPicPr/>
              <p:nvPr/>
            </p:nvPicPr>
            <p:blipFill>
              <a:blip r:embed="rId7"/>
              <a:stretch>
                <a:fillRect/>
              </a:stretch>
            </p:blipFill>
            <p:spPr>
              <a:xfrm>
                <a:off x="2767792" y="5581173"/>
                <a:ext cx="432684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F338B5B3-C7F6-9B34-BC73-5D9BC839DD13}"/>
                  </a:ext>
                </a:extLst>
              </p14:cNvPr>
              <p14:cNvContentPartPr/>
              <p14:nvPr/>
            </p14:nvContentPartPr>
            <p14:xfrm>
              <a:off x="2624872" y="6224853"/>
              <a:ext cx="4492080" cy="48960"/>
            </p14:xfrm>
          </p:contentPart>
        </mc:Choice>
        <mc:Fallback xmlns="">
          <p:pic>
            <p:nvPicPr>
              <p:cNvPr id="3" name="墨迹 2">
                <a:extLst>
                  <a:ext uri="{FF2B5EF4-FFF2-40B4-BE49-F238E27FC236}">
                    <a16:creationId xmlns:a16="http://schemas.microsoft.com/office/drawing/2014/main" id="{F338B5B3-C7F6-9B34-BC73-5D9BC839DD13}"/>
                  </a:ext>
                </a:extLst>
              </p:cNvPr>
              <p:cNvPicPr/>
              <p:nvPr/>
            </p:nvPicPr>
            <p:blipFill>
              <a:blip r:embed="rId9"/>
              <a:stretch>
                <a:fillRect/>
              </a:stretch>
            </p:blipFill>
            <p:spPr>
              <a:xfrm>
                <a:off x="2570872" y="6116853"/>
                <a:ext cx="4599720" cy="264600"/>
              </a:xfrm>
              <a:prstGeom prst="rect">
                <a:avLst/>
              </a:prstGeom>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文本占位符 28674"/>
          <p:cNvSpPr>
            <a:spLocks noGrp="1"/>
          </p:cNvSpPr>
          <p:nvPr>
            <p:ph type="body" sz="half" idx="1"/>
          </p:nvPr>
        </p:nvSpPr>
        <p:spPr>
          <a:xfrm>
            <a:off x="457200" y="908050"/>
            <a:ext cx="8291513" cy="5218113"/>
          </a:xfrm>
        </p:spPr>
        <p:txBody>
          <a:bodyPr anchor="t" anchorCtr="0"/>
          <a:lstStyle/>
          <a:p>
            <a:pPr>
              <a:buClr>
                <a:schemeClr val="bg2"/>
              </a:buClr>
              <a:buSzPct val="75000"/>
              <a:buFont typeface="Wingdings" panose="05000000000000000000" pitchFamily="2" charset="2"/>
              <a:buNone/>
            </a:pPr>
            <a:r>
              <a:rPr lang="zh-CN" altLang="en-US" sz="3600" b="1" dirty="0">
                <a:solidFill>
                  <a:srgbClr val="A50021"/>
                </a:solidFill>
              </a:rPr>
              <a:t>能带中电子能量的分布</a:t>
            </a:r>
          </a:p>
          <a:p>
            <a:pPr lvl="1">
              <a:buClr>
                <a:schemeClr val="accent2"/>
              </a:buClr>
              <a:buSzPct val="80000"/>
              <a:buFont typeface="Wingdings" panose="05000000000000000000" pitchFamily="2" charset="2"/>
            </a:pPr>
            <a:r>
              <a:rPr lang="zh-CN" altLang="en-US" b="1" dirty="0"/>
              <a:t>不同</a:t>
            </a:r>
            <a:r>
              <a:rPr lang="en-US" altLang="zh-CN" b="1" i="1"/>
              <a:t>k</a:t>
            </a:r>
            <a:r>
              <a:rPr lang="zh-CN" altLang="en-US" b="1" dirty="0"/>
              <a:t>状态的电子具有不同的能量。求解晶体中电子波动方程，可得</a:t>
            </a:r>
            <a:r>
              <a:rPr lang="en-US" altLang="zh-CN" b="1" err="1"/>
              <a:t>E(</a:t>
            </a:r>
            <a:r>
              <a:rPr lang="en-US" altLang="zh-CN" b="1" i="1" err="1"/>
              <a:t>k</a:t>
            </a:r>
            <a:r>
              <a:rPr lang="en-US" altLang="zh-CN" b="1" err="1"/>
              <a:t>)~</a:t>
            </a:r>
            <a:r>
              <a:rPr lang="en-US" altLang="zh-CN" b="1" i="1" err="1"/>
              <a:t>k</a:t>
            </a:r>
            <a:r>
              <a:rPr lang="zh-CN" altLang="en-US" b="1" dirty="0"/>
              <a:t>关系曲线。</a:t>
            </a:r>
          </a:p>
        </p:txBody>
      </p:sp>
      <p:graphicFrame>
        <p:nvGraphicFramePr>
          <p:cNvPr id="32770" name="内容占位符 28723"/>
          <p:cNvGraphicFramePr>
            <a:graphicFrameLocks noGrp="1"/>
          </p:cNvGraphicFramePr>
          <p:nvPr>
            <p:ph sz="quarter" idx="2"/>
          </p:nvPr>
        </p:nvGraphicFramePr>
        <p:xfrm>
          <a:off x="2771775" y="3141663"/>
          <a:ext cx="3671888" cy="950912"/>
        </p:xfrm>
        <a:graphic>
          <a:graphicData uri="http://schemas.openxmlformats.org/presentationml/2006/ole">
            <mc:AlternateContent xmlns:mc="http://schemas.openxmlformats.org/markup-compatibility/2006">
              <mc:Choice xmlns:v="urn:schemas-microsoft-com:vml" Requires="v">
                <p:oleObj r:id="rId2" imgW="1599565" imgH="482600" progId="Equation.DSMT4">
                  <p:embed/>
                </p:oleObj>
              </mc:Choice>
              <mc:Fallback>
                <p:oleObj r:id="rId2" imgW="1599565" imgH="482600" progId="Equation.DSMT4">
                  <p:embed/>
                  <p:pic>
                    <p:nvPicPr>
                      <p:cNvPr id="0" name="图片 3118"/>
                      <p:cNvPicPr/>
                      <p:nvPr/>
                    </p:nvPicPr>
                    <p:blipFill>
                      <a:blip r:embed="rId3"/>
                      <a:stretch>
                        <a:fillRect/>
                      </a:stretch>
                    </p:blipFill>
                    <p:spPr>
                      <a:xfrm>
                        <a:off x="2771775" y="3141663"/>
                        <a:ext cx="3671888" cy="950912"/>
                      </a:xfrm>
                      <a:prstGeom prst="rect">
                        <a:avLst/>
                      </a:prstGeom>
                      <a:solidFill>
                        <a:srgbClr val="CCFFFF"/>
                      </a:solidFill>
                      <a:ln>
                        <a:solidFill>
                          <a:srgbClr val="FF0000"/>
                        </a:solidFill>
                        <a:miter/>
                      </a:ln>
                    </p:spPr>
                  </p:pic>
                </p:oleObj>
              </mc:Fallback>
            </mc:AlternateContent>
          </a:graphicData>
        </a:graphic>
      </p:graphicFrame>
      <p:graphicFrame>
        <p:nvGraphicFramePr>
          <p:cNvPr id="32771" name="内容占位符 28726"/>
          <p:cNvGraphicFramePr>
            <a:graphicFrameLocks noGrp="1"/>
          </p:cNvGraphicFramePr>
          <p:nvPr>
            <p:ph sz="quarter" idx="3"/>
          </p:nvPr>
        </p:nvGraphicFramePr>
        <p:xfrm>
          <a:off x="2339975" y="4652963"/>
          <a:ext cx="4608513" cy="828675"/>
        </p:xfrm>
        <a:graphic>
          <a:graphicData uri="http://schemas.openxmlformats.org/presentationml/2006/ole">
            <mc:AlternateContent xmlns:mc="http://schemas.openxmlformats.org/markup-compatibility/2006">
              <mc:Choice xmlns:v="urn:schemas-microsoft-com:vml" Requires="v">
                <p:oleObj r:id="rId4" imgW="1091565" imgH="228600" progId="Equation.DSMT4">
                  <p:embed/>
                </p:oleObj>
              </mc:Choice>
              <mc:Fallback>
                <p:oleObj r:id="rId4" imgW="1091565" imgH="228600" progId="Equation.DSMT4">
                  <p:embed/>
                  <p:pic>
                    <p:nvPicPr>
                      <p:cNvPr id="0" name="图片 3117"/>
                      <p:cNvPicPr/>
                      <p:nvPr/>
                    </p:nvPicPr>
                    <p:blipFill>
                      <a:blip r:embed="rId5"/>
                      <a:stretch>
                        <a:fillRect/>
                      </a:stretch>
                    </p:blipFill>
                    <p:spPr>
                      <a:xfrm>
                        <a:off x="2339975" y="4652963"/>
                        <a:ext cx="4608513" cy="828675"/>
                      </a:xfrm>
                      <a:prstGeom prst="rect">
                        <a:avLst/>
                      </a:prstGeom>
                      <a:solidFill>
                        <a:srgbClr val="CCFFFF"/>
                      </a:solidFill>
                      <a:ln>
                        <a:solidFill>
                          <a:srgbClr val="FF0000"/>
                        </a:solid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A4A94D9E-B31D-8721-CB85-B63E855B582A}"/>
                  </a:ext>
                </a:extLst>
              </p14:cNvPr>
              <p14:cNvContentPartPr/>
              <p14:nvPr/>
            </p14:nvContentPartPr>
            <p14:xfrm>
              <a:off x="2005672" y="2223453"/>
              <a:ext cx="6788880" cy="106560"/>
            </p14:xfrm>
          </p:contentPart>
        </mc:Choice>
        <mc:Fallback xmlns="">
          <p:pic>
            <p:nvPicPr>
              <p:cNvPr id="2" name="墨迹 1">
                <a:extLst>
                  <a:ext uri="{FF2B5EF4-FFF2-40B4-BE49-F238E27FC236}">
                    <a16:creationId xmlns:a16="http://schemas.microsoft.com/office/drawing/2014/main" id="{A4A94D9E-B31D-8721-CB85-B63E855B582A}"/>
                  </a:ext>
                </a:extLst>
              </p:cNvPr>
              <p:cNvPicPr/>
              <p:nvPr/>
            </p:nvPicPr>
            <p:blipFill>
              <a:blip r:embed="rId7"/>
              <a:stretch>
                <a:fillRect/>
              </a:stretch>
            </p:blipFill>
            <p:spPr>
              <a:xfrm>
                <a:off x="1951672" y="2115813"/>
                <a:ext cx="6896520" cy="322200"/>
              </a:xfrm>
              <a:prstGeom prst="rect">
                <a:avLst/>
              </a:prstGeom>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文本占位符 28674"/>
          <p:cNvSpPr>
            <a:spLocks noGrp="1"/>
          </p:cNvSpPr>
          <p:nvPr>
            <p:ph type="body" sz="half" idx="1"/>
          </p:nvPr>
        </p:nvSpPr>
        <p:spPr>
          <a:xfrm>
            <a:off x="457200" y="908050"/>
            <a:ext cx="8291513" cy="5218113"/>
          </a:xfrm>
        </p:spPr>
        <p:txBody>
          <a:bodyPr anchor="t" anchorCtr="0"/>
          <a:lstStyle/>
          <a:p>
            <a:pPr>
              <a:buClr>
                <a:schemeClr val="bg2"/>
              </a:buClr>
              <a:buSzPct val="75000"/>
              <a:buFont typeface="Wingdings" panose="05000000000000000000" pitchFamily="2" charset="2"/>
              <a:buNone/>
            </a:pPr>
            <a:r>
              <a:rPr lang="zh-CN" altLang="en-US" sz="3600" b="1" dirty="0">
                <a:solidFill>
                  <a:srgbClr val="A50021"/>
                </a:solidFill>
              </a:rPr>
              <a:t>能带中电子能量的分布</a:t>
            </a:r>
          </a:p>
          <a:p>
            <a:pPr lvl="1">
              <a:buClr>
                <a:schemeClr val="accent2"/>
              </a:buClr>
              <a:buSzPct val="80000"/>
              <a:buFont typeface="Wingdings" panose="05000000000000000000" pitchFamily="2" charset="2"/>
            </a:pPr>
            <a:r>
              <a:rPr lang="zh-CN" altLang="en-US" b="1" dirty="0"/>
              <a:t>不同</a:t>
            </a:r>
            <a:r>
              <a:rPr lang="en-US" altLang="zh-CN" b="1" i="1"/>
              <a:t>k</a:t>
            </a:r>
            <a:r>
              <a:rPr lang="zh-CN" altLang="en-US" b="1" dirty="0"/>
              <a:t>状态的电子具有不同的能量。求解晶体中电子波动方程，可得</a:t>
            </a:r>
            <a:r>
              <a:rPr lang="en-US" altLang="zh-CN" b="1" err="1"/>
              <a:t>E(</a:t>
            </a:r>
            <a:r>
              <a:rPr lang="en-US" altLang="zh-CN" b="1" i="1" err="1"/>
              <a:t>k</a:t>
            </a:r>
            <a:r>
              <a:rPr lang="en-US" altLang="zh-CN" b="1" err="1"/>
              <a:t>)~</a:t>
            </a:r>
            <a:r>
              <a:rPr lang="en-US" altLang="zh-CN" b="1" i="1" err="1"/>
              <a:t>k</a:t>
            </a:r>
            <a:r>
              <a:rPr lang="zh-CN" altLang="en-US" b="1" dirty="0"/>
              <a:t>关系曲线。</a:t>
            </a:r>
          </a:p>
        </p:txBody>
      </p:sp>
      <p:graphicFrame>
        <p:nvGraphicFramePr>
          <p:cNvPr id="32770" name="内容占位符 28723"/>
          <p:cNvGraphicFramePr>
            <a:graphicFrameLocks noGrp="1"/>
          </p:cNvGraphicFramePr>
          <p:nvPr>
            <p:ph sz="quarter" idx="2"/>
          </p:nvPr>
        </p:nvGraphicFramePr>
        <p:xfrm>
          <a:off x="2771775" y="3141663"/>
          <a:ext cx="3671888" cy="950912"/>
        </p:xfrm>
        <a:graphic>
          <a:graphicData uri="http://schemas.openxmlformats.org/presentationml/2006/ole">
            <mc:AlternateContent xmlns:mc="http://schemas.openxmlformats.org/markup-compatibility/2006">
              <mc:Choice xmlns:v="urn:schemas-microsoft-com:vml" Requires="v">
                <p:oleObj r:id="rId2" imgW="1599565" imgH="482600" progId="Equation.DSMT4">
                  <p:embed/>
                </p:oleObj>
              </mc:Choice>
              <mc:Fallback>
                <p:oleObj r:id="rId2" imgW="1599565" imgH="482600" progId="Equation.DSMT4">
                  <p:embed/>
                  <p:pic>
                    <p:nvPicPr>
                      <p:cNvPr id="0" name="图片 3118"/>
                      <p:cNvPicPr/>
                      <p:nvPr/>
                    </p:nvPicPr>
                    <p:blipFill>
                      <a:blip r:embed="rId3"/>
                      <a:stretch>
                        <a:fillRect/>
                      </a:stretch>
                    </p:blipFill>
                    <p:spPr>
                      <a:xfrm>
                        <a:off x="2771775" y="3141663"/>
                        <a:ext cx="3671888" cy="950912"/>
                      </a:xfrm>
                      <a:prstGeom prst="rect">
                        <a:avLst/>
                      </a:prstGeom>
                      <a:solidFill>
                        <a:srgbClr val="CCFFFF"/>
                      </a:solidFill>
                      <a:ln>
                        <a:solidFill>
                          <a:srgbClr val="FF0000"/>
                        </a:solidFill>
                        <a:miter/>
                      </a:ln>
                    </p:spPr>
                  </p:pic>
                </p:oleObj>
              </mc:Fallback>
            </mc:AlternateContent>
          </a:graphicData>
        </a:graphic>
      </p:graphicFrame>
      <p:graphicFrame>
        <p:nvGraphicFramePr>
          <p:cNvPr id="32771" name="内容占位符 28726"/>
          <p:cNvGraphicFramePr>
            <a:graphicFrameLocks noGrp="1"/>
          </p:cNvGraphicFramePr>
          <p:nvPr>
            <p:ph sz="quarter" idx="3"/>
          </p:nvPr>
        </p:nvGraphicFramePr>
        <p:xfrm>
          <a:off x="2339975" y="4652963"/>
          <a:ext cx="4608513" cy="828675"/>
        </p:xfrm>
        <a:graphic>
          <a:graphicData uri="http://schemas.openxmlformats.org/presentationml/2006/ole">
            <mc:AlternateContent xmlns:mc="http://schemas.openxmlformats.org/markup-compatibility/2006">
              <mc:Choice xmlns:v="urn:schemas-microsoft-com:vml" Requires="v">
                <p:oleObj r:id="rId4" imgW="1091565" imgH="228600" progId="Equation.DSMT4">
                  <p:embed/>
                </p:oleObj>
              </mc:Choice>
              <mc:Fallback>
                <p:oleObj r:id="rId4" imgW="1091565" imgH="228600" progId="Equation.DSMT4">
                  <p:embed/>
                  <p:pic>
                    <p:nvPicPr>
                      <p:cNvPr id="0" name="图片 3117"/>
                      <p:cNvPicPr/>
                      <p:nvPr/>
                    </p:nvPicPr>
                    <p:blipFill>
                      <a:blip r:embed="rId5"/>
                      <a:stretch>
                        <a:fillRect/>
                      </a:stretch>
                    </p:blipFill>
                    <p:spPr>
                      <a:xfrm>
                        <a:off x="2339975" y="4652963"/>
                        <a:ext cx="4608513" cy="828675"/>
                      </a:xfrm>
                      <a:prstGeom prst="rect">
                        <a:avLst/>
                      </a:prstGeom>
                      <a:solidFill>
                        <a:srgbClr val="CCFFFF"/>
                      </a:solidFill>
                      <a:ln>
                        <a:solidFill>
                          <a:srgbClr val="FF0000"/>
                        </a:solidFill>
                        <a:miter/>
                      </a:ln>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35841"/>
          <p:cNvSpPr>
            <a:spLocks noGrp="1"/>
          </p:cNvSpPr>
          <p:nvPr>
            <p:ph type="title"/>
          </p:nvPr>
        </p:nvSpPr>
        <p:spPr>
          <a:xfrm>
            <a:off x="468313" y="0"/>
            <a:ext cx="8229600" cy="1371600"/>
          </a:xfrm>
        </p:spPr>
        <p:txBody>
          <a:bodyPr anchor="ctr" anchorCtr="0"/>
          <a:lstStyle/>
          <a:p>
            <a:r>
              <a:rPr lang="zh-CN" altLang="en-US" sz="3600" b="1" dirty="0"/>
              <a:t>布里渊区与能带</a:t>
            </a:r>
          </a:p>
        </p:txBody>
      </p:sp>
      <p:grpSp>
        <p:nvGrpSpPr>
          <p:cNvPr id="33794" name="组合 35927"/>
          <p:cNvGrpSpPr/>
          <p:nvPr/>
        </p:nvGrpSpPr>
        <p:grpSpPr>
          <a:xfrm>
            <a:off x="576263" y="908050"/>
            <a:ext cx="4208462" cy="3825875"/>
            <a:chOff x="385" y="1117"/>
            <a:chExt cx="2651" cy="2410"/>
          </a:xfrm>
        </p:grpSpPr>
        <p:sp>
          <p:nvSpPr>
            <p:cNvPr id="33795" name="直接连接符 35844"/>
            <p:cNvSpPr/>
            <p:nvPr/>
          </p:nvSpPr>
          <p:spPr>
            <a:xfrm>
              <a:off x="533" y="3250"/>
              <a:ext cx="2297" cy="0"/>
            </a:xfrm>
            <a:prstGeom prst="line">
              <a:avLst/>
            </a:prstGeom>
            <a:ln w="9525" cap="flat" cmpd="sng">
              <a:solidFill>
                <a:schemeClr val="tx1"/>
              </a:solidFill>
              <a:prstDash val="solid"/>
              <a:miter/>
              <a:headEnd type="none" w="med" len="med"/>
              <a:tailEnd type="none" w="med" len="med"/>
            </a:ln>
          </p:spPr>
        </p:sp>
        <p:sp>
          <p:nvSpPr>
            <p:cNvPr id="33796" name="直接连接符 35845"/>
            <p:cNvSpPr/>
            <p:nvPr/>
          </p:nvSpPr>
          <p:spPr>
            <a:xfrm flipH="1" flipV="1">
              <a:off x="1607" y="1189"/>
              <a:ext cx="3" cy="2332"/>
            </a:xfrm>
            <a:prstGeom prst="line">
              <a:avLst/>
            </a:prstGeom>
            <a:ln w="9525" cap="flat" cmpd="sng">
              <a:solidFill>
                <a:schemeClr val="tx1"/>
              </a:solidFill>
              <a:prstDash val="solid"/>
              <a:miter/>
              <a:headEnd type="none" w="med" len="med"/>
              <a:tailEnd type="none" w="med" len="med"/>
            </a:ln>
          </p:spPr>
        </p:sp>
        <p:sp>
          <p:nvSpPr>
            <p:cNvPr id="33797" name="直接连接符 35846"/>
            <p:cNvSpPr/>
            <p:nvPr/>
          </p:nvSpPr>
          <p:spPr>
            <a:xfrm flipV="1">
              <a:off x="1292" y="3195"/>
              <a:ext cx="0" cy="55"/>
            </a:xfrm>
            <a:prstGeom prst="line">
              <a:avLst/>
            </a:prstGeom>
            <a:ln w="9525" cap="flat" cmpd="sng">
              <a:solidFill>
                <a:schemeClr val="tx1"/>
              </a:solidFill>
              <a:prstDash val="solid"/>
              <a:miter/>
              <a:headEnd type="none" w="med" len="med"/>
              <a:tailEnd type="none" w="med" len="med"/>
            </a:ln>
          </p:spPr>
        </p:sp>
        <p:sp>
          <p:nvSpPr>
            <p:cNvPr id="33798" name="直接连接符 35847"/>
            <p:cNvSpPr/>
            <p:nvPr/>
          </p:nvSpPr>
          <p:spPr>
            <a:xfrm flipV="1">
              <a:off x="977" y="3195"/>
              <a:ext cx="0" cy="55"/>
            </a:xfrm>
            <a:prstGeom prst="line">
              <a:avLst/>
            </a:prstGeom>
            <a:ln w="9525" cap="flat" cmpd="sng">
              <a:solidFill>
                <a:schemeClr val="tx1"/>
              </a:solidFill>
              <a:prstDash val="solid"/>
              <a:miter/>
              <a:headEnd type="none" w="med" len="med"/>
              <a:tailEnd type="none" w="med" len="med"/>
            </a:ln>
          </p:spPr>
        </p:sp>
        <p:sp>
          <p:nvSpPr>
            <p:cNvPr id="33799" name="直接连接符 35848"/>
            <p:cNvSpPr/>
            <p:nvPr/>
          </p:nvSpPr>
          <p:spPr>
            <a:xfrm flipV="1">
              <a:off x="2238" y="3195"/>
              <a:ext cx="0" cy="55"/>
            </a:xfrm>
            <a:prstGeom prst="line">
              <a:avLst/>
            </a:prstGeom>
            <a:ln w="9525" cap="flat" cmpd="sng">
              <a:solidFill>
                <a:schemeClr val="tx1"/>
              </a:solidFill>
              <a:prstDash val="solid"/>
              <a:miter/>
              <a:headEnd type="none" w="med" len="med"/>
              <a:tailEnd type="none" w="med" len="med"/>
            </a:ln>
          </p:spPr>
        </p:sp>
        <p:sp>
          <p:nvSpPr>
            <p:cNvPr id="33800" name="直接连接符 35849"/>
            <p:cNvSpPr/>
            <p:nvPr/>
          </p:nvSpPr>
          <p:spPr>
            <a:xfrm flipV="1">
              <a:off x="1922" y="3195"/>
              <a:ext cx="0" cy="55"/>
            </a:xfrm>
            <a:prstGeom prst="line">
              <a:avLst/>
            </a:prstGeom>
            <a:ln w="9525" cap="flat" cmpd="sng">
              <a:solidFill>
                <a:schemeClr val="tx1"/>
              </a:solidFill>
              <a:prstDash val="solid"/>
              <a:miter/>
              <a:headEnd type="none" w="med" len="med"/>
              <a:tailEnd type="none" w="med" len="med"/>
            </a:ln>
          </p:spPr>
        </p:sp>
        <p:sp>
          <p:nvSpPr>
            <p:cNvPr id="33801" name="文本框 35850"/>
            <p:cNvSpPr txBox="1"/>
            <p:nvPr/>
          </p:nvSpPr>
          <p:spPr>
            <a:xfrm>
              <a:off x="2835" y="3203"/>
              <a:ext cx="201" cy="288"/>
            </a:xfrm>
            <a:prstGeom prst="rect">
              <a:avLst/>
            </a:prstGeom>
            <a:noFill/>
            <a:ln w="9525">
              <a:noFill/>
            </a:ln>
          </p:spPr>
          <p:txBody>
            <a:bodyPr wrap="none" anchor="t" anchorCtr="0">
              <a:spAutoFit/>
            </a:bodyPr>
            <a:lstStyle/>
            <a:p>
              <a:r>
                <a:rPr lang="en-US" altLang="zh-CN" sz="2400" i="1">
                  <a:latin typeface="Times New Roman" panose="02020603050405020304" pitchFamily="18" charset="0"/>
                  <a:ea typeface="宋体" panose="02010600030101010101" pitchFamily="2" charset="-122"/>
                </a:rPr>
                <a:t>k</a:t>
              </a:r>
            </a:p>
          </p:txBody>
        </p:sp>
        <p:sp>
          <p:nvSpPr>
            <p:cNvPr id="33802" name="文本框 35851"/>
            <p:cNvSpPr txBox="1"/>
            <p:nvPr/>
          </p:nvSpPr>
          <p:spPr>
            <a:xfrm>
              <a:off x="1573" y="1117"/>
              <a:ext cx="233" cy="288"/>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33803" name="文本框 35852"/>
            <p:cNvSpPr txBox="1"/>
            <p:nvPr/>
          </p:nvSpPr>
          <p:spPr>
            <a:xfrm>
              <a:off x="1573" y="3296"/>
              <a:ext cx="188"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0</a:t>
              </a:r>
            </a:p>
          </p:txBody>
        </p:sp>
        <p:sp>
          <p:nvSpPr>
            <p:cNvPr id="33804" name="文本框 35853"/>
            <p:cNvSpPr txBox="1"/>
            <p:nvPr/>
          </p:nvSpPr>
          <p:spPr>
            <a:xfrm>
              <a:off x="1701" y="3296"/>
              <a:ext cx="356" cy="231"/>
            </a:xfrm>
            <a:prstGeom prst="rect">
              <a:avLst/>
            </a:prstGeom>
            <a:noFill/>
            <a:ln w="9525">
              <a:noFill/>
            </a:ln>
          </p:spPr>
          <p:txBody>
            <a:bodyPr wrap="none" anchor="t" anchorCtr="0">
              <a:spAutoFit/>
            </a:bodyPr>
            <a:lstStyle/>
            <a:p>
              <a:r>
                <a:rPr lang="en-US" altLang="zh-CN" sz="16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/2a</a:t>
              </a:r>
              <a:endParaRPr lang="en-US" altLang="zh-CN">
                <a:latin typeface="Times New Roman" panose="02020603050405020304" pitchFamily="18" charset="0"/>
                <a:ea typeface="Times New Roman" panose="02020603050405020304" pitchFamily="18" charset="0"/>
              </a:endParaRPr>
            </a:p>
          </p:txBody>
        </p:sp>
        <p:sp>
          <p:nvSpPr>
            <p:cNvPr id="33805" name="文本框 35854"/>
            <p:cNvSpPr txBox="1"/>
            <p:nvPr/>
          </p:nvSpPr>
          <p:spPr>
            <a:xfrm>
              <a:off x="779" y="3296"/>
              <a:ext cx="340"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-1/a</a:t>
              </a:r>
              <a:endParaRPr lang="en-US" altLang="zh-CN">
                <a:latin typeface="Times New Roman" panose="02020603050405020304" pitchFamily="18" charset="0"/>
                <a:ea typeface="Times New Roman" panose="02020603050405020304" pitchFamily="18" charset="0"/>
              </a:endParaRPr>
            </a:p>
          </p:txBody>
        </p:sp>
        <p:sp>
          <p:nvSpPr>
            <p:cNvPr id="33806" name="任意多边形 35855"/>
            <p:cNvSpPr/>
            <p:nvPr/>
          </p:nvSpPr>
          <p:spPr>
            <a:xfrm>
              <a:off x="1607" y="1603"/>
              <a:ext cx="981" cy="1641"/>
            </a:xfrm>
            <a:custGeom>
              <a:avLst/>
              <a:gdLst/>
              <a:ahLst/>
              <a:cxnLst/>
              <a:rect l="0" t="0" r="0" b="0"/>
              <a:pathLst>
                <a:path w="1270" h="1641">
                  <a:moveTo>
                    <a:pt x="0" y="1641"/>
                  </a:moveTo>
                  <a:cubicBezTo>
                    <a:pt x="80" y="1610"/>
                    <a:pt x="325" y="1588"/>
                    <a:pt x="480" y="1457"/>
                  </a:cubicBezTo>
                  <a:cubicBezTo>
                    <a:pt x="635" y="1326"/>
                    <a:pt x="796" y="1097"/>
                    <a:pt x="928" y="854"/>
                  </a:cubicBezTo>
                  <a:cubicBezTo>
                    <a:pt x="1060" y="611"/>
                    <a:pt x="1199" y="178"/>
                    <a:pt x="1270" y="0"/>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3807" name="任意多边形 35856"/>
            <p:cNvSpPr/>
            <p:nvPr/>
          </p:nvSpPr>
          <p:spPr>
            <a:xfrm>
              <a:off x="627" y="1645"/>
              <a:ext cx="980" cy="1599"/>
            </a:xfrm>
            <a:custGeom>
              <a:avLst/>
              <a:gdLst/>
              <a:ahLst/>
              <a:cxnLst/>
              <a:rect l="0" t="0" r="0" b="0"/>
              <a:pathLst>
                <a:path w="1270" h="1599">
                  <a:moveTo>
                    <a:pt x="1270" y="1599"/>
                  </a:moveTo>
                  <a:cubicBezTo>
                    <a:pt x="1187" y="1568"/>
                    <a:pt x="922" y="1535"/>
                    <a:pt x="772" y="1415"/>
                  </a:cubicBezTo>
                  <a:cubicBezTo>
                    <a:pt x="622" y="1295"/>
                    <a:pt x="499" y="1112"/>
                    <a:pt x="370" y="876"/>
                  </a:cubicBezTo>
                  <a:cubicBezTo>
                    <a:pt x="241" y="640"/>
                    <a:pt x="77" y="183"/>
                    <a:pt x="0" y="0"/>
                  </a:cubicBezTo>
                </a:path>
              </a:pathLst>
            </a:custGeom>
            <a:noFill/>
            <a:ln w="38100" cap="flat" cmpd="sng">
              <a:solidFill>
                <a:schemeClr val="tx1"/>
              </a:solidFill>
              <a:prstDash val="solid"/>
              <a:round/>
              <a:headEnd type="none" w="med" len="med"/>
              <a:tailEnd type="none" w="med" len="med"/>
            </a:ln>
          </p:spPr>
          <p:txBody>
            <a:bodyPr/>
            <a:lstStyle/>
            <a:p>
              <a:endParaRPr lang="zh-CN" altLang="en-US"/>
            </a:p>
          </p:txBody>
        </p:sp>
        <p:sp>
          <p:nvSpPr>
            <p:cNvPr id="33808" name="直接连接符 35857"/>
            <p:cNvSpPr/>
            <p:nvPr/>
          </p:nvSpPr>
          <p:spPr>
            <a:xfrm flipV="1">
              <a:off x="1922" y="1480"/>
              <a:ext cx="0" cy="1816"/>
            </a:xfrm>
            <a:prstGeom prst="line">
              <a:avLst/>
            </a:prstGeom>
            <a:ln w="3175" cap="flat" cmpd="sng">
              <a:solidFill>
                <a:schemeClr val="tx1"/>
              </a:solidFill>
              <a:prstDash val="lgDashDotDot"/>
              <a:round/>
              <a:headEnd type="none" w="med" len="med"/>
              <a:tailEnd type="none" w="med" len="med"/>
            </a:ln>
          </p:spPr>
        </p:sp>
        <p:sp>
          <p:nvSpPr>
            <p:cNvPr id="33809" name="直接连接符 35858"/>
            <p:cNvSpPr/>
            <p:nvPr/>
          </p:nvSpPr>
          <p:spPr>
            <a:xfrm flipV="1">
              <a:off x="2238" y="1480"/>
              <a:ext cx="0" cy="1816"/>
            </a:xfrm>
            <a:prstGeom prst="line">
              <a:avLst/>
            </a:prstGeom>
            <a:ln w="3175" cap="flat" cmpd="sng">
              <a:solidFill>
                <a:schemeClr val="tx1"/>
              </a:solidFill>
              <a:prstDash val="lgDashDotDot"/>
              <a:round/>
              <a:headEnd type="none" w="med" len="med"/>
              <a:tailEnd type="none" w="med" len="med"/>
            </a:ln>
          </p:spPr>
        </p:sp>
        <p:sp>
          <p:nvSpPr>
            <p:cNvPr id="33810" name="直接连接符 35859"/>
            <p:cNvSpPr/>
            <p:nvPr/>
          </p:nvSpPr>
          <p:spPr>
            <a:xfrm flipV="1">
              <a:off x="1292" y="1480"/>
              <a:ext cx="0" cy="1816"/>
            </a:xfrm>
            <a:prstGeom prst="line">
              <a:avLst/>
            </a:prstGeom>
            <a:ln w="3175" cap="flat" cmpd="sng">
              <a:solidFill>
                <a:schemeClr val="tx1"/>
              </a:solidFill>
              <a:prstDash val="lgDashDotDot"/>
              <a:round/>
              <a:headEnd type="none" w="med" len="med"/>
              <a:tailEnd type="none" w="med" len="med"/>
            </a:ln>
          </p:spPr>
        </p:sp>
        <p:sp>
          <p:nvSpPr>
            <p:cNvPr id="33811" name="直接连接符 35860"/>
            <p:cNvSpPr/>
            <p:nvPr/>
          </p:nvSpPr>
          <p:spPr>
            <a:xfrm flipV="1">
              <a:off x="977" y="1480"/>
              <a:ext cx="0" cy="1816"/>
            </a:xfrm>
            <a:prstGeom prst="line">
              <a:avLst/>
            </a:prstGeom>
            <a:ln w="3175" cap="flat" cmpd="sng">
              <a:solidFill>
                <a:schemeClr val="tx1"/>
              </a:solidFill>
              <a:prstDash val="lgDashDotDot"/>
              <a:round/>
              <a:headEnd type="none" w="med" len="med"/>
              <a:tailEnd type="none" w="med" len="med"/>
            </a:ln>
          </p:spPr>
        </p:sp>
        <p:sp>
          <p:nvSpPr>
            <p:cNvPr id="33812" name="任意多边形 35861"/>
            <p:cNvSpPr/>
            <p:nvPr/>
          </p:nvSpPr>
          <p:spPr>
            <a:xfrm>
              <a:off x="1292" y="3080"/>
              <a:ext cx="630" cy="124"/>
            </a:xfrm>
            <a:custGeom>
              <a:avLst/>
              <a:gdLst/>
              <a:ahLst/>
              <a:cxnLst/>
              <a:rect l="0" t="0" r="0" b="0"/>
              <a:pathLst>
                <a:path w="630" h="124">
                  <a:moveTo>
                    <a:pt x="0" y="8"/>
                  </a:moveTo>
                  <a:cubicBezTo>
                    <a:pt x="12" y="11"/>
                    <a:pt x="18" y="10"/>
                    <a:pt x="70" y="29"/>
                  </a:cubicBezTo>
                  <a:cubicBezTo>
                    <a:pt x="122" y="48"/>
                    <a:pt x="229" y="124"/>
                    <a:pt x="310" y="122"/>
                  </a:cubicBezTo>
                  <a:cubicBezTo>
                    <a:pt x="391" y="120"/>
                    <a:pt x="502" y="38"/>
                    <a:pt x="555" y="19"/>
                  </a:cubicBezTo>
                  <a:cubicBezTo>
                    <a:pt x="608" y="0"/>
                    <a:pt x="615" y="10"/>
                    <a:pt x="630" y="8"/>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3813" name="任意多边形 35862"/>
            <p:cNvSpPr/>
            <p:nvPr/>
          </p:nvSpPr>
          <p:spPr>
            <a:xfrm>
              <a:off x="1922" y="2570"/>
              <a:ext cx="316" cy="415"/>
            </a:xfrm>
            <a:custGeom>
              <a:avLst/>
              <a:gdLst/>
              <a:ahLst/>
              <a:cxnLst/>
              <a:rect l="0" t="0" r="0" b="0"/>
              <a:pathLst>
                <a:path w="316" h="415">
                  <a:moveTo>
                    <a:pt x="0" y="415"/>
                  </a:moveTo>
                  <a:cubicBezTo>
                    <a:pt x="18" y="402"/>
                    <a:pt x="72" y="393"/>
                    <a:pt x="108" y="337"/>
                  </a:cubicBezTo>
                  <a:cubicBezTo>
                    <a:pt x="144" y="281"/>
                    <a:pt x="182" y="137"/>
                    <a:pt x="217" y="81"/>
                  </a:cubicBezTo>
                  <a:cubicBezTo>
                    <a:pt x="252" y="25"/>
                    <a:pt x="296" y="17"/>
                    <a:pt x="316"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3814" name="任意多边形 35863"/>
            <p:cNvSpPr/>
            <p:nvPr/>
          </p:nvSpPr>
          <p:spPr>
            <a:xfrm>
              <a:off x="977" y="2570"/>
              <a:ext cx="315" cy="415"/>
            </a:xfrm>
            <a:custGeom>
              <a:avLst/>
              <a:gdLst/>
              <a:ahLst/>
              <a:cxnLst/>
              <a:rect l="0" t="0" r="0" b="0"/>
              <a:pathLst>
                <a:path w="315" h="415">
                  <a:moveTo>
                    <a:pt x="315" y="415"/>
                  </a:moveTo>
                  <a:cubicBezTo>
                    <a:pt x="297" y="402"/>
                    <a:pt x="246" y="396"/>
                    <a:pt x="209" y="340"/>
                  </a:cubicBezTo>
                  <a:cubicBezTo>
                    <a:pt x="172" y="284"/>
                    <a:pt x="128" y="138"/>
                    <a:pt x="93" y="81"/>
                  </a:cubicBezTo>
                  <a:cubicBezTo>
                    <a:pt x="58" y="24"/>
                    <a:pt x="19" y="17"/>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3815" name="任意多边形 35864"/>
            <p:cNvSpPr/>
            <p:nvPr/>
          </p:nvSpPr>
          <p:spPr>
            <a:xfrm>
              <a:off x="2238" y="1584"/>
              <a:ext cx="315" cy="830"/>
            </a:xfrm>
            <a:custGeom>
              <a:avLst/>
              <a:gdLst/>
              <a:ahLst/>
              <a:cxnLst/>
              <a:rect l="0" t="0" r="0" b="0"/>
              <a:pathLst>
                <a:path w="315" h="830">
                  <a:moveTo>
                    <a:pt x="0" y="830"/>
                  </a:moveTo>
                  <a:cubicBezTo>
                    <a:pt x="15" y="809"/>
                    <a:pt x="58" y="821"/>
                    <a:pt x="93" y="702"/>
                  </a:cubicBezTo>
                  <a:cubicBezTo>
                    <a:pt x="128" y="583"/>
                    <a:pt x="175" y="234"/>
                    <a:pt x="212" y="117"/>
                  </a:cubicBezTo>
                  <a:cubicBezTo>
                    <a:pt x="249" y="0"/>
                    <a:pt x="294" y="25"/>
                    <a:pt x="315" y="1"/>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3816" name="任意多边形 35865"/>
            <p:cNvSpPr/>
            <p:nvPr/>
          </p:nvSpPr>
          <p:spPr>
            <a:xfrm>
              <a:off x="662" y="1561"/>
              <a:ext cx="305" cy="877"/>
            </a:xfrm>
            <a:custGeom>
              <a:avLst/>
              <a:gdLst/>
              <a:ahLst/>
              <a:cxnLst/>
              <a:rect l="0" t="0" r="0" b="0"/>
              <a:pathLst>
                <a:path w="305" h="877">
                  <a:moveTo>
                    <a:pt x="305" y="843"/>
                  </a:moveTo>
                  <a:cubicBezTo>
                    <a:pt x="292" y="829"/>
                    <a:pt x="261" y="877"/>
                    <a:pt x="225" y="761"/>
                  </a:cubicBezTo>
                  <a:cubicBezTo>
                    <a:pt x="189" y="645"/>
                    <a:pt x="125" y="276"/>
                    <a:pt x="88" y="149"/>
                  </a:cubicBezTo>
                  <a:cubicBezTo>
                    <a:pt x="51" y="22"/>
                    <a:pt x="18" y="31"/>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3817" name="直接连接符 35866"/>
            <p:cNvSpPr/>
            <p:nvPr/>
          </p:nvSpPr>
          <p:spPr>
            <a:xfrm flipV="1">
              <a:off x="2553" y="1480"/>
              <a:ext cx="0" cy="1816"/>
            </a:xfrm>
            <a:prstGeom prst="line">
              <a:avLst/>
            </a:prstGeom>
            <a:ln w="3175" cap="flat" cmpd="sng">
              <a:solidFill>
                <a:schemeClr val="tx1"/>
              </a:solidFill>
              <a:prstDash val="lgDashDotDot"/>
              <a:round/>
              <a:headEnd type="none" w="med" len="med"/>
              <a:tailEnd type="none" w="med" len="med"/>
            </a:ln>
          </p:spPr>
        </p:sp>
        <p:sp>
          <p:nvSpPr>
            <p:cNvPr id="33818" name="直接连接符 35867"/>
            <p:cNvSpPr/>
            <p:nvPr/>
          </p:nvSpPr>
          <p:spPr>
            <a:xfrm flipV="1">
              <a:off x="662" y="1480"/>
              <a:ext cx="0" cy="1816"/>
            </a:xfrm>
            <a:prstGeom prst="line">
              <a:avLst/>
            </a:prstGeom>
            <a:ln w="3175" cap="flat" cmpd="sng">
              <a:solidFill>
                <a:schemeClr val="tx1"/>
              </a:solidFill>
              <a:prstDash val="lgDashDotDot"/>
              <a:round/>
              <a:headEnd type="none" w="med" len="med"/>
              <a:tailEnd type="none" w="med" len="med"/>
            </a:ln>
          </p:spPr>
        </p:sp>
        <p:sp>
          <p:nvSpPr>
            <p:cNvPr id="33819" name="直接连接符 35868"/>
            <p:cNvSpPr/>
            <p:nvPr/>
          </p:nvSpPr>
          <p:spPr>
            <a:xfrm>
              <a:off x="522" y="3088"/>
              <a:ext cx="2241" cy="0"/>
            </a:xfrm>
            <a:prstGeom prst="line">
              <a:avLst/>
            </a:prstGeom>
            <a:ln w="6350" cap="flat" cmpd="sng">
              <a:solidFill>
                <a:schemeClr val="tx1"/>
              </a:solidFill>
              <a:prstDash val="lgDashDot"/>
              <a:round/>
              <a:headEnd type="none" w="med" len="med"/>
              <a:tailEnd type="none" w="med" len="med"/>
            </a:ln>
          </p:spPr>
        </p:sp>
        <p:sp>
          <p:nvSpPr>
            <p:cNvPr id="33820" name="直接连接符 35869"/>
            <p:cNvSpPr/>
            <p:nvPr/>
          </p:nvSpPr>
          <p:spPr>
            <a:xfrm>
              <a:off x="522" y="2985"/>
              <a:ext cx="2241" cy="0"/>
            </a:xfrm>
            <a:prstGeom prst="line">
              <a:avLst/>
            </a:prstGeom>
            <a:ln w="6350" cap="flat" cmpd="sng">
              <a:solidFill>
                <a:schemeClr val="tx1"/>
              </a:solidFill>
              <a:prstDash val="lgDashDot"/>
              <a:round/>
              <a:headEnd type="none" w="med" len="med"/>
              <a:tailEnd type="none" w="med" len="med"/>
            </a:ln>
          </p:spPr>
        </p:sp>
        <p:sp>
          <p:nvSpPr>
            <p:cNvPr id="33821" name="直接连接符 35870"/>
            <p:cNvSpPr/>
            <p:nvPr/>
          </p:nvSpPr>
          <p:spPr>
            <a:xfrm>
              <a:off x="522" y="2570"/>
              <a:ext cx="2241" cy="0"/>
            </a:xfrm>
            <a:prstGeom prst="line">
              <a:avLst/>
            </a:prstGeom>
            <a:ln w="6350" cap="flat" cmpd="sng">
              <a:solidFill>
                <a:schemeClr val="tx1"/>
              </a:solidFill>
              <a:prstDash val="lgDashDot"/>
              <a:round/>
              <a:headEnd type="none" w="med" len="med"/>
              <a:tailEnd type="none" w="med" len="med"/>
            </a:ln>
          </p:spPr>
        </p:sp>
        <p:sp>
          <p:nvSpPr>
            <p:cNvPr id="33822" name="直接连接符 35871"/>
            <p:cNvSpPr/>
            <p:nvPr/>
          </p:nvSpPr>
          <p:spPr>
            <a:xfrm>
              <a:off x="522" y="2414"/>
              <a:ext cx="2241" cy="0"/>
            </a:xfrm>
            <a:prstGeom prst="line">
              <a:avLst/>
            </a:prstGeom>
            <a:ln w="6350" cap="flat" cmpd="sng">
              <a:solidFill>
                <a:schemeClr val="tx1"/>
              </a:solidFill>
              <a:prstDash val="lgDashDot"/>
              <a:round/>
              <a:headEnd type="none" w="med" len="med"/>
              <a:tailEnd type="none" w="med" len="med"/>
            </a:ln>
          </p:spPr>
        </p:sp>
        <p:sp>
          <p:nvSpPr>
            <p:cNvPr id="33823" name="直接连接符 35872"/>
            <p:cNvSpPr/>
            <p:nvPr/>
          </p:nvSpPr>
          <p:spPr>
            <a:xfrm>
              <a:off x="522" y="1585"/>
              <a:ext cx="2241" cy="0"/>
            </a:xfrm>
            <a:prstGeom prst="line">
              <a:avLst/>
            </a:prstGeom>
            <a:ln w="6350" cap="flat" cmpd="sng">
              <a:solidFill>
                <a:schemeClr val="tx1"/>
              </a:solidFill>
              <a:prstDash val="lgDashDot"/>
              <a:round/>
              <a:headEnd type="none" w="med" len="med"/>
              <a:tailEnd type="none" w="med" len="med"/>
            </a:ln>
          </p:spPr>
        </p:sp>
        <p:sp>
          <p:nvSpPr>
            <p:cNvPr id="33824" name="直接连接符 35873"/>
            <p:cNvSpPr/>
            <p:nvPr/>
          </p:nvSpPr>
          <p:spPr>
            <a:xfrm>
              <a:off x="522" y="3192"/>
              <a:ext cx="2241" cy="0"/>
            </a:xfrm>
            <a:prstGeom prst="line">
              <a:avLst/>
            </a:prstGeom>
            <a:ln w="6350" cap="flat" cmpd="sng">
              <a:solidFill>
                <a:schemeClr val="tx1"/>
              </a:solidFill>
              <a:prstDash val="lgDashDot"/>
              <a:round/>
              <a:headEnd type="none" w="med" len="med"/>
              <a:tailEnd type="none" w="med" len="med"/>
            </a:ln>
          </p:spPr>
        </p:sp>
        <p:sp>
          <p:nvSpPr>
            <p:cNvPr id="33825" name="文本框 35874"/>
            <p:cNvSpPr txBox="1"/>
            <p:nvPr/>
          </p:nvSpPr>
          <p:spPr>
            <a:xfrm>
              <a:off x="2412" y="3296"/>
              <a:ext cx="364"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3/2a</a:t>
              </a:r>
              <a:endParaRPr lang="en-US" altLang="zh-CN">
                <a:latin typeface="Times New Roman" panose="02020603050405020304" pitchFamily="18" charset="0"/>
                <a:ea typeface="Times New Roman" panose="02020603050405020304" pitchFamily="18" charset="0"/>
              </a:endParaRPr>
            </a:p>
          </p:txBody>
        </p:sp>
        <p:sp>
          <p:nvSpPr>
            <p:cNvPr id="33826" name="文本框 35875"/>
            <p:cNvSpPr txBox="1"/>
            <p:nvPr/>
          </p:nvSpPr>
          <p:spPr>
            <a:xfrm>
              <a:off x="1169" y="3296"/>
              <a:ext cx="404"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a:t>
              </a:r>
              <a:r>
                <a:rPr lang="en-US" altLang="zh-CN" sz="16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/2a</a:t>
              </a:r>
              <a:endParaRPr lang="en-US" altLang="zh-CN">
                <a:latin typeface="Times New Roman" panose="02020603050405020304" pitchFamily="18" charset="0"/>
                <a:ea typeface="Times New Roman" panose="02020603050405020304" pitchFamily="18" charset="0"/>
              </a:endParaRPr>
            </a:p>
          </p:txBody>
        </p:sp>
        <p:sp>
          <p:nvSpPr>
            <p:cNvPr id="33827" name="文本框 35876"/>
            <p:cNvSpPr txBox="1"/>
            <p:nvPr/>
          </p:nvSpPr>
          <p:spPr>
            <a:xfrm>
              <a:off x="2018" y="3296"/>
              <a:ext cx="292"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1/a</a:t>
              </a:r>
              <a:endParaRPr lang="en-US" altLang="zh-CN">
                <a:latin typeface="Times New Roman" panose="02020603050405020304" pitchFamily="18" charset="0"/>
                <a:ea typeface="Times New Roman" panose="02020603050405020304" pitchFamily="18" charset="0"/>
              </a:endParaRPr>
            </a:p>
          </p:txBody>
        </p:sp>
        <p:sp>
          <p:nvSpPr>
            <p:cNvPr id="33828" name="文本框 35877"/>
            <p:cNvSpPr txBox="1"/>
            <p:nvPr/>
          </p:nvSpPr>
          <p:spPr>
            <a:xfrm>
              <a:off x="385" y="3296"/>
              <a:ext cx="412"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-3/2a</a:t>
              </a:r>
              <a:endParaRPr lang="en-US" altLang="zh-CN">
                <a:latin typeface="Times New Roman" panose="02020603050405020304" pitchFamily="18" charset="0"/>
                <a:ea typeface="Times New Roman" panose="02020603050405020304" pitchFamily="18" charset="0"/>
              </a:endParaRPr>
            </a:p>
          </p:txBody>
        </p:sp>
      </p:grpSp>
      <p:grpSp>
        <p:nvGrpSpPr>
          <p:cNvPr id="35927" name="组合 35926"/>
          <p:cNvGrpSpPr/>
          <p:nvPr/>
        </p:nvGrpSpPr>
        <p:grpSpPr>
          <a:xfrm>
            <a:off x="1008063" y="4797425"/>
            <a:ext cx="3025775" cy="668338"/>
            <a:chOff x="657" y="3612"/>
            <a:chExt cx="1906" cy="421"/>
          </a:xfrm>
        </p:grpSpPr>
        <p:sp>
          <p:nvSpPr>
            <p:cNvPr id="33830" name="文本框 35879"/>
            <p:cNvSpPr txBox="1"/>
            <p:nvPr/>
          </p:nvSpPr>
          <p:spPr>
            <a:xfrm>
              <a:off x="1474" y="3612"/>
              <a:ext cx="317"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1</a:t>
              </a:r>
            </a:p>
          </p:txBody>
        </p:sp>
        <p:sp>
          <p:nvSpPr>
            <p:cNvPr id="33831" name="文本框 35880"/>
            <p:cNvSpPr txBox="1"/>
            <p:nvPr/>
          </p:nvSpPr>
          <p:spPr>
            <a:xfrm>
              <a:off x="1927"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2</a:t>
              </a:r>
            </a:p>
          </p:txBody>
        </p:sp>
        <p:sp>
          <p:nvSpPr>
            <p:cNvPr id="33832" name="文本框 35881"/>
            <p:cNvSpPr txBox="1"/>
            <p:nvPr/>
          </p:nvSpPr>
          <p:spPr>
            <a:xfrm>
              <a:off x="974"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2</a:t>
              </a:r>
            </a:p>
          </p:txBody>
        </p:sp>
        <p:sp>
          <p:nvSpPr>
            <p:cNvPr id="33833" name="文本框 35882"/>
            <p:cNvSpPr txBox="1"/>
            <p:nvPr/>
          </p:nvSpPr>
          <p:spPr>
            <a:xfrm>
              <a:off x="2245"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3</a:t>
              </a:r>
            </a:p>
          </p:txBody>
        </p:sp>
        <p:sp>
          <p:nvSpPr>
            <p:cNvPr id="33834" name="文本框 35883"/>
            <p:cNvSpPr txBox="1"/>
            <p:nvPr/>
          </p:nvSpPr>
          <p:spPr>
            <a:xfrm>
              <a:off x="657"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3</a:t>
              </a:r>
            </a:p>
          </p:txBody>
        </p:sp>
        <p:sp>
          <p:nvSpPr>
            <p:cNvPr id="33835" name="文本框 35884"/>
            <p:cNvSpPr txBox="1"/>
            <p:nvPr/>
          </p:nvSpPr>
          <p:spPr>
            <a:xfrm>
              <a:off x="1338" y="3821"/>
              <a:ext cx="628" cy="212"/>
            </a:xfrm>
            <a:prstGeom prst="rect">
              <a:avLst/>
            </a:prstGeom>
            <a:noFill/>
            <a:ln w="9525">
              <a:noFill/>
            </a:ln>
          </p:spPr>
          <p:txBody>
            <a:bodyPr wrap="none" anchor="t" anchorCtr="0">
              <a:spAutoFit/>
            </a:bodyPr>
            <a:lstStyle/>
            <a:p>
              <a:r>
                <a:rPr lang="zh-CN" altLang="en-US" sz="1600" b="1" dirty="0">
                  <a:latin typeface="Times New Roman" panose="02020603050405020304" pitchFamily="18" charset="0"/>
                  <a:ea typeface="宋体" panose="02010600030101010101" pitchFamily="2" charset="-122"/>
                </a:rPr>
                <a:t>布里渊区</a:t>
              </a:r>
            </a:p>
          </p:txBody>
        </p:sp>
      </p:grpSp>
      <p:grpSp>
        <p:nvGrpSpPr>
          <p:cNvPr id="35924" name="组合 35923"/>
          <p:cNvGrpSpPr/>
          <p:nvPr/>
        </p:nvGrpSpPr>
        <p:grpSpPr>
          <a:xfrm>
            <a:off x="4608513" y="1627188"/>
            <a:ext cx="2160587" cy="2592387"/>
            <a:chOff x="2925" y="1570"/>
            <a:chExt cx="1361" cy="1633"/>
          </a:xfrm>
        </p:grpSpPr>
        <p:sp>
          <p:nvSpPr>
            <p:cNvPr id="33837" name="矩形 35885"/>
            <p:cNvSpPr/>
            <p:nvPr/>
          </p:nvSpPr>
          <p:spPr>
            <a:xfrm>
              <a:off x="2925" y="1570"/>
              <a:ext cx="1361" cy="862"/>
            </a:xfrm>
            <a:prstGeom prst="rect">
              <a:avLst/>
            </a:prstGeom>
            <a:pattFill prst="ltHorz">
              <a:fgClr>
                <a:schemeClr val="accent1"/>
              </a:fgClr>
              <a:bgClr>
                <a:schemeClr val="bg1"/>
              </a:bgClr>
            </a:pattFill>
            <a:ln w="9525">
              <a:noFill/>
            </a:ln>
          </p:spPr>
          <p:txBody>
            <a:bodyPr wrap="none" anchor="ctr" anchorCtr="0"/>
            <a:lstStyle/>
            <a:p>
              <a:pPr algn="ctr"/>
              <a:r>
                <a:rPr lang="zh-CN" altLang="en-US" sz="1400" b="1" dirty="0">
                  <a:latin typeface="Times New Roman" panose="02020603050405020304" pitchFamily="18" charset="0"/>
                  <a:ea typeface="宋体" panose="02010600030101010101" pitchFamily="2" charset="-122"/>
                </a:rPr>
                <a:t>允带</a:t>
              </a:r>
            </a:p>
          </p:txBody>
        </p:sp>
        <p:sp>
          <p:nvSpPr>
            <p:cNvPr id="33838" name="矩形 35886"/>
            <p:cNvSpPr/>
            <p:nvPr/>
          </p:nvSpPr>
          <p:spPr>
            <a:xfrm>
              <a:off x="2925" y="2568"/>
              <a:ext cx="1361" cy="408"/>
            </a:xfrm>
            <a:prstGeom prst="rect">
              <a:avLst/>
            </a:prstGeom>
            <a:pattFill prst="ltHorz">
              <a:fgClr>
                <a:schemeClr val="accent1"/>
              </a:fgClr>
              <a:bgClr>
                <a:schemeClr val="bg1"/>
              </a:bgClr>
            </a:pattFill>
            <a:ln w="9525">
              <a:noFill/>
            </a:ln>
          </p:spPr>
          <p:txBody>
            <a:bodyPr wrap="none" anchor="ctr" anchorCtr="0"/>
            <a:lstStyle/>
            <a:p>
              <a:pPr algn="ctr"/>
              <a:r>
                <a:rPr lang="zh-CN" altLang="en-US" sz="1400" b="1" dirty="0">
                  <a:latin typeface="Times New Roman" panose="02020603050405020304" pitchFamily="18" charset="0"/>
                  <a:ea typeface="宋体" panose="02010600030101010101" pitchFamily="2" charset="-122"/>
                </a:rPr>
                <a:t>允带</a:t>
              </a:r>
            </a:p>
          </p:txBody>
        </p:sp>
        <p:sp>
          <p:nvSpPr>
            <p:cNvPr id="33839" name="矩形 35887"/>
            <p:cNvSpPr/>
            <p:nvPr/>
          </p:nvSpPr>
          <p:spPr>
            <a:xfrm>
              <a:off x="2925" y="3067"/>
              <a:ext cx="1361" cy="136"/>
            </a:xfrm>
            <a:prstGeom prst="rect">
              <a:avLst/>
            </a:prstGeom>
            <a:pattFill prst="ltHorz">
              <a:fgClr>
                <a:schemeClr val="accent1"/>
              </a:fgClr>
              <a:bgClr>
                <a:schemeClr val="bg1"/>
              </a:bgClr>
            </a:pattFill>
            <a:ln w="9525">
              <a:noFill/>
            </a:ln>
          </p:spPr>
          <p:txBody>
            <a:bodyPr wrap="none" anchor="ctr" anchorCtr="0"/>
            <a:lstStyle/>
            <a:p>
              <a:pPr algn="ctr"/>
              <a:r>
                <a:rPr lang="zh-CN" altLang="en-US" sz="1400" b="1" dirty="0">
                  <a:latin typeface="Times New Roman" panose="02020603050405020304" pitchFamily="18" charset="0"/>
                  <a:ea typeface="宋体" panose="02010600030101010101" pitchFamily="2" charset="-122"/>
                </a:rPr>
                <a:t>允带</a:t>
              </a:r>
            </a:p>
          </p:txBody>
        </p:sp>
        <p:sp>
          <p:nvSpPr>
            <p:cNvPr id="33840" name="文本框 35891"/>
            <p:cNvSpPr txBox="1"/>
            <p:nvPr/>
          </p:nvSpPr>
          <p:spPr>
            <a:xfrm>
              <a:off x="3447" y="2422"/>
              <a:ext cx="340" cy="192"/>
            </a:xfrm>
            <a:prstGeom prst="rect">
              <a:avLst/>
            </a:prstGeom>
            <a:noFill/>
            <a:ln w="9525">
              <a:noFill/>
            </a:ln>
          </p:spPr>
          <p:txBody>
            <a:bodyPr wrap="none" anchor="t" anchorCtr="0">
              <a:spAutoFit/>
            </a:bodyPr>
            <a:lstStyle/>
            <a:p>
              <a:r>
                <a:rPr lang="zh-CN" altLang="en-US" sz="1400" b="1" dirty="0">
                  <a:solidFill>
                    <a:srgbClr val="FF0000"/>
                  </a:solidFill>
                  <a:latin typeface="Times New Roman" panose="02020603050405020304" pitchFamily="18" charset="0"/>
                  <a:ea typeface="宋体" panose="02010600030101010101" pitchFamily="2" charset="-122"/>
                </a:rPr>
                <a:t>禁带</a:t>
              </a:r>
            </a:p>
          </p:txBody>
        </p:sp>
        <p:sp>
          <p:nvSpPr>
            <p:cNvPr id="33841" name="文本框 35892"/>
            <p:cNvSpPr txBox="1"/>
            <p:nvPr/>
          </p:nvSpPr>
          <p:spPr>
            <a:xfrm>
              <a:off x="3424" y="2921"/>
              <a:ext cx="340" cy="192"/>
            </a:xfrm>
            <a:prstGeom prst="rect">
              <a:avLst/>
            </a:prstGeom>
            <a:noFill/>
            <a:ln w="9525">
              <a:noFill/>
            </a:ln>
          </p:spPr>
          <p:txBody>
            <a:bodyPr wrap="none" anchor="t" anchorCtr="0">
              <a:spAutoFit/>
            </a:bodyPr>
            <a:lstStyle/>
            <a:p>
              <a:r>
                <a:rPr lang="zh-CN" altLang="en-US" sz="1400" b="1" dirty="0">
                  <a:solidFill>
                    <a:srgbClr val="FF0000"/>
                  </a:solidFill>
                  <a:latin typeface="Times New Roman" panose="02020603050405020304" pitchFamily="18" charset="0"/>
                  <a:ea typeface="宋体" panose="02010600030101010101" pitchFamily="2" charset="-122"/>
                </a:rPr>
                <a:t>禁带</a:t>
              </a:r>
            </a:p>
          </p:txBody>
        </p:sp>
      </p:grpSp>
      <p:grpSp>
        <p:nvGrpSpPr>
          <p:cNvPr id="33842" name="组合 35928"/>
          <p:cNvGrpSpPr/>
          <p:nvPr/>
        </p:nvGrpSpPr>
        <p:grpSpPr>
          <a:xfrm>
            <a:off x="6842125" y="908050"/>
            <a:ext cx="1998663" cy="4324350"/>
            <a:chOff x="4391" y="1451"/>
            <a:chExt cx="861" cy="2599"/>
          </a:xfrm>
        </p:grpSpPr>
        <p:sp>
          <p:nvSpPr>
            <p:cNvPr id="33843" name="直接连接符 35929"/>
            <p:cNvSpPr/>
            <p:nvPr/>
          </p:nvSpPr>
          <p:spPr>
            <a:xfrm>
              <a:off x="4391" y="3477"/>
              <a:ext cx="687" cy="0"/>
            </a:xfrm>
            <a:prstGeom prst="line">
              <a:avLst/>
            </a:prstGeom>
            <a:ln w="9525" cap="flat" cmpd="sng">
              <a:solidFill>
                <a:schemeClr val="tx1"/>
              </a:solidFill>
              <a:prstDash val="solid"/>
              <a:miter/>
              <a:headEnd type="none" w="med" len="med"/>
              <a:tailEnd type="none" w="med" len="med"/>
            </a:ln>
          </p:spPr>
        </p:sp>
        <p:sp>
          <p:nvSpPr>
            <p:cNvPr id="33844" name="直接连接符 35930"/>
            <p:cNvSpPr/>
            <p:nvPr/>
          </p:nvSpPr>
          <p:spPr>
            <a:xfrm flipV="1">
              <a:off x="4463" y="3425"/>
              <a:ext cx="0" cy="52"/>
            </a:xfrm>
            <a:prstGeom prst="line">
              <a:avLst/>
            </a:prstGeom>
            <a:ln w="9525" cap="flat" cmpd="sng">
              <a:solidFill>
                <a:schemeClr val="tx1"/>
              </a:solidFill>
              <a:prstDash val="solid"/>
              <a:miter/>
              <a:headEnd type="none" w="med" len="med"/>
              <a:tailEnd type="none" w="med" len="med"/>
            </a:ln>
          </p:spPr>
        </p:sp>
        <p:sp>
          <p:nvSpPr>
            <p:cNvPr id="33845" name="直接连接符 35931"/>
            <p:cNvSpPr/>
            <p:nvPr/>
          </p:nvSpPr>
          <p:spPr>
            <a:xfrm flipV="1">
              <a:off x="4965" y="3425"/>
              <a:ext cx="0" cy="52"/>
            </a:xfrm>
            <a:prstGeom prst="line">
              <a:avLst/>
            </a:prstGeom>
            <a:ln w="9525" cap="flat" cmpd="sng">
              <a:solidFill>
                <a:schemeClr val="tx1"/>
              </a:solidFill>
              <a:prstDash val="solid"/>
              <a:miter/>
              <a:headEnd type="none" w="med" len="med"/>
              <a:tailEnd type="none" w="med" len="med"/>
            </a:ln>
          </p:spPr>
        </p:sp>
        <p:sp>
          <p:nvSpPr>
            <p:cNvPr id="33846" name="文本框 35932"/>
            <p:cNvSpPr txBox="1"/>
            <p:nvPr/>
          </p:nvSpPr>
          <p:spPr>
            <a:xfrm>
              <a:off x="5115" y="3433"/>
              <a:ext cx="137" cy="274"/>
            </a:xfrm>
            <a:prstGeom prst="rect">
              <a:avLst/>
            </a:prstGeom>
            <a:noFill/>
            <a:ln w="9525">
              <a:noFill/>
            </a:ln>
          </p:spPr>
          <p:txBody>
            <a:bodyPr wrap="none" anchor="t" anchorCtr="0">
              <a:spAutoFit/>
            </a:bodyPr>
            <a:lstStyle/>
            <a:p>
              <a:r>
                <a:rPr lang="en-US" altLang="zh-CN" sz="2400" i="1">
                  <a:latin typeface="Times New Roman" panose="02020603050405020304" pitchFamily="18" charset="0"/>
                  <a:ea typeface="宋体" panose="02010600030101010101" pitchFamily="2" charset="-122"/>
                </a:rPr>
                <a:t>k</a:t>
              </a:r>
            </a:p>
          </p:txBody>
        </p:sp>
        <p:sp>
          <p:nvSpPr>
            <p:cNvPr id="33847" name="文本框 35933"/>
            <p:cNvSpPr txBox="1"/>
            <p:nvPr/>
          </p:nvSpPr>
          <p:spPr>
            <a:xfrm>
              <a:off x="4687" y="1451"/>
              <a:ext cx="159" cy="275"/>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33848" name="直接连接符 35934"/>
            <p:cNvSpPr/>
            <p:nvPr/>
          </p:nvSpPr>
          <p:spPr>
            <a:xfrm flipV="1">
              <a:off x="4965" y="1796"/>
              <a:ext cx="0" cy="1725"/>
            </a:xfrm>
            <a:prstGeom prst="line">
              <a:avLst/>
            </a:prstGeom>
            <a:ln w="3175" cap="flat" cmpd="sng">
              <a:solidFill>
                <a:schemeClr val="tx1"/>
              </a:solidFill>
              <a:prstDash val="lgDashDotDot"/>
              <a:round/>
              <a:headEnd type="none" w="med" len="med"/>
              <a:tailEnd type="none" w="med" len="med"/>
            </a:ln>
          </p:spPr>
        </p:sp>
        <p:sp>
          <p:nvSpPr>
            <p:cNvPr id="33849" name="直接连接符 35935"/>
            <p:cNvSpPr/>
            <p:nvPr/>
          </p:nvSpPr>
          <p:spPr>
            <a:xfrm flipV="1">
              <a:off x="4463" y="1796"/>
              <a:ext cx="0" cy="1725"/>
            </a:xfrm>
            <a:prstGeom prst="line">
              <a:avLst/>
            </a:prstGeom>
            <a:ln w="3175" cap="flat" cmpd="sng">
              <a:solidFill>
                <a:schemeClr val="tx1"/>
              </a:solidFill>
              <a:prstDash val="lgDashDotDot"/>
              <a:round/>
              <a:headEnd type="none" w="med" len="med"/>
              <a:tailEnd type="none" w="med" len="med"/>
            </a:ln>
          </p:spPr>
        </p:sp>
        <p:sp>
          <p:nvSpPr>
            <p:cNvPr id="33850" name="任意多边形 35936"/>
            <p:cNvSpPr/>
            <p:nvPr/>
          </p:nvSpPr>
          <p:spPr>
            <a:xfrm>
              <a:off x="4463" y="3316"/>
              <a:ext cx="502" cy="118"/>
            </a:xfrm>
            <a:custGeom>
              <a:avLst/>
              <a:gdLst/>
              <a:ahLst/>
              <a:cxnLst/>
              <a:rect l="0" t="0" r="0" b="0"/>
              <a:pathLst>
                <a:path w="630" h="124">
                  <a:moveTo>
                    <a:pt x="0" y="8"/>
                  </a:moveTo>
                  <a:cubicBezTo>
                    <a:pt x="12" y="11"/>
                    <a:pt x="18" y="10"/>
                    <a:pt x="70" y="29"/>
                  </a:cubicBezTo>
                  <a:cubicBezTo>
                    <a:pt x="122" y="48"/>
                    <a:pt x="229" y="124"/>
                    <a:pt x="310" y="122"/>
                  </a:cubicBezTo>
                  <a:cubicBezTo>
                    <a:pt x="391" y="120"/>
                    <a:pt x="502" y="38"/>
                    <a:pt x="555" y="19"/>
                  </a:cubicBezTo>
                  <a:cubicBezTo>
                    <a:pt x="608" y="0"/>
                    <a:pt x="615" y="10"/>
                    <a:pt x="630" y="8"/>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3851" name="任意多边形 35937"/>
            <p:cNvSpPr/>
            <p:nvPr/>
          </p:nvSpPr>
          <p:spPr>
            <a:xfrm>
              <a:off x="4464" y="2831"/>
              <a:ext cx="251" cy="395"/>
            </a:xfrm>
            <a:custGeom>
              <a:avLst/>
              <a:gdLst/>
              <a:ahLst/>
              <a:cxnLst/>
              <a:rect l="0" t="0" r="0" b="0"/>
              <a:pathLst>
                <a:path w="316" h="415">
                  <a:moveTo>
                    <a:pt x="0" y="415"/>
                  </a:moveTo>
                  <a:cubicBezTo>
                    <a:pt x="18" y="402"/>
                    <a:pt x="72" y="393"/>
                    <a:pt x="108" y="337"/>
                  </a:cubicBezTo>
                  <a:cubicBezTo>
                    <a:pt x="144" y="281"/>
                    <a:pt x="182" y="137"/>
                    <a:pt x="217" y="81"/>
                  </a:cubicBezTo>
                  <a:cubicBezTo>
                    <a:pt x="252" y="25"/>
                    <a:pt x="296" y="17"/>
                    <a:pt x="316"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3852" name="任意多边形 35938"/>
            <p:cNvSpPr/>
            <p:nvPr/>
          </p:nvSpPr>
          <p:spPr>
            <a:xfrm>
              <a:off x="4719" y="2831"/>
              <a:ext cx="251" cy="395"/>
            </a:xfrm>
            <a:custGeom>
              <a:avLst/>
              <a:gdLst/>
              <a:ahLst/>
              <a:cxnLst/>
              <a:rect l="0" t="0" r="0" b="0"/>
              <a:pathLst>
                <a:path w="315" h="415">
                  <a:moveTo>
                    <a:pt x="315" y="415"/>
                  </a:moveTo>
                  <a:cubicBezTo>
                    <a:pt x="297" y="402"/>
                    <a:pt x="246" y="396"/>
                    <a:pt x="209" y="340"/>
                  </a:cubicBezTo>
                  <a:cubicBezTo>
                    <a:pt x="172" y="284"/>
                    <a:pt x="128" y="138"/>
                    <a:pt x="93" y="81"/>
                  </a:cubicBezTo>
                  <a:cubicBezTo>
                    <a:pt x="58" y="24"/>
                    <a:pt x="19" y="17"/>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3853" name="任意多边形 35939"/>
            <p:cNvSpPr/>
            <p:nvPr/>
          </p:nvSpPr>
          <p:spPr>
            <a:xfrm>
              <a:off x="4716" y="1895"/>
              <a:ext cx="251" cy="788"/>
            </a:xfrm>
            <a:custGeom>
              <a:avLst/>
              <a:gdLst/>
              <a:ahLst/>
              <a:cxnLst/>
              <a:rect l="0" t="0" r="0" b="0"/>
              <a:pathLst>
                <a:path w="315" h="830">
                  <a:moveTo>
                    <a:pt x="0" y="830"/>
                  </a:moveTo>
                  <a:cubicBezTo>
                    <a:pt x="15" y="809"/>
                    <a:pt x="58" y="821"/>
                    <a:pt x="93" y="702"/>
                  </a:cubicBezTo>
                  <a:cubicBezTo>
                    <a:pt x="128" y="583"/>
                    <a:pt x="175" y="234"/>
                    <a:pt x="212" y="117"/>
                  </a:cubicBezTo>
                  <a:cubicBezTo>
                    <a:pt x="249" y="0"/>
                    <a:pt x="294" y="25"/>
                    <a:pt x="315" y="1"/>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3854" name="任意多边形 35940"/>
            <p:cNvSpPr/>
            <p:nvPr/>
          </p:nvSpPr>
          <p:spPr>
            <a:xfrm>
              <a:off x="4468" y="1888"/>
              <a:ext cx="250" cy="822"/>
            </a:xfrm>
            <a:custGeom>
              <a:avLst/>
              <a:gdLst/>
              <a:ahLst/>
              <a:cxnLst/>
              <a:rect l="0" t="0" r="0" b="0"/>
              <a:pathLst>
                <a:path w="313" h="865">
                  <a:moveTo>
                    <a:pt x="313" y="831"/>
                  </a:moveTo>
                  <a:cubicBezTo>
                    <a:pt x="300" y="817"/>
                    <a:pt x="269" y="865"/>
                    <a:pt x="233" y="750"/>
                  </a:cubicBezTo>
                  <a:cubicBezTo>
                    <a:pt x="197" y="635"/>
                    <a:pt x="135" y="269"/>
                    <a:pt x="96" y="144"/>
                  </a:cubicBezTo>
                  <a:cubicBezTo>
                    <a:pt x="57" y="19"/>
                    <a:pt x="20" y="30"/>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3855" name="直接连接符 35941"/>
            <p:cNvSpPr/>
            <p:nvPr/>
          </p:nvSpPr>
          <p:spPr>
            <a:xfrm flipH="1" flipV="1">
              <a:off x="4717" y="1537"/>
              <a:ext cx="2" cy="2086"/>
            </a:xfrm>
            <a:prstGeom prst="line">
              <a:avLst/>
            </a:prstGeom>
            <a:ln w="9525" cap="flat" cmpd="sng">
              <a:solidFill>
                <a:schemeClr val="tx1"/>
              </a:solidFill>
              <a:prstDash val="solid"/>
              <a:miter/>
              <a:headEnd type="none" w="med" len="med"/>
              <a:tailEnd type="none" w="med" len="med"/>
            </a:ln>
          </p:spPr>
        </p:sp>
        <p:sp>
          <p:nvSpPr>
            <p:cNvPr id="33856" name="文本框 35942"/>
            <p:cNvSpPr txBox="1"/>
            <p:nvPr/>
          </p:nvSpPr>
          <p:spPr>
            <a:xfrm>
              <a:off x="4416" y="3848"/>
              <a:ext cx="605" cy="202"/>
            </a:xfrm>
            <a:prstGeom prst="rect">
              <a:avLst/>
            </a:prstGeom>
            <a:noFill/>
            <a:ln w="9525">
              <a:noFill/>
            </a:ln>
          </p:spPr>
          <p:txBody>
            <a:bodyPr wrap="none" anchor="t" anchorCtr="0">
              <a:spAutoFit/>
            </a:bodyPr>
            <a:lstStyle/>
            <a:p>
              <a:r>
                <a:rPr lang="zh-CN" altLang="en-US" sz="1600" b="1" dirty="0">
                  <a:solidFill>
                    <a:srgbClr val="FF0000"/>
                  </a:solidFill>
                  <a:latin typeface="Times New Roman" panose="02020603050405020304" pitchFamily="18" charset="0"/>
                  <a:ea typeface="宋体" panose="02010600030101010101" pitchFamily="2" charset="-122"/>
                </a:rPr>
                <a:t>简约布里渊区</a:t>
              </a:r>
            </a:p>
          </p:txBody>
        </p:sp>
      </p:grpSp>
      <p:sp>
        <p:nvSpPr>
          <p:cNvPr id="33857" name="矩形 35943"/>
          <p:cNvSpPr/>
          <p:nvPr/>
        </p:nvSpPr>
        <p:spPr>
          <a:xfrm>
            <a:off x="7850188" y="4435475"/>
            <a:ext cx="5778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1/2a</a:t>
            </a:r>
          </a:p>
        </p:txBody>
      </p:sp>
      <p:sp>
        <p:nvSpPr>
          <p:cNvPr id="33858" name="矩形 35944"/>
          <p:cNvSpPr/>
          <p:nvPr/>
        </p:nvSpPr>
        <p:spPr>
          <a:xfrm>
            <a:off x="6624638" y="4435475"/>
            <a:ext cx="6540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-1/2a</a:t>
            </a:r>
          </a:p>
        </p:txBody>
      </p:sp>
      <p:sp>
        <p:nvSpPr>
          <p:cNvPr id="33859" name="矩形 35945"/>
          <p:cNvSpPr/>
          <p:nvPr/>
        </p:nvSpPr>
        <p:spPr>
          <a:xfrm>
            <a:off x="7551738" y="4429125"/>
            <a:ext cx="2984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0</a:t>
            </a:r>
          </a:p>
        </p:txBody>
      </p:sp>
      <p:sp>
        <p:nvSpPr>
          <p:cNvPr id="33860" name="矩形 35946"/>
          <p:cNvSpPr/>
          <p:nvPr/>
        </p:nvSpPr>
        <p:spPr>
          <a:xfrm>
            <a:off x="7883525" y="3284538"/>
            <a:ext cx="1152525" cy="336550"/>
          </a:xfrm>
          <a:prstGeom prst="rect">
            <a:avLst/>
          </a:prstGeom>
          <a:noFill/>
          <a:ln w="9525">
            <a:noFill/>
          </a:ln>
        </p:spPr>
        <p:txBody>
          <a:bodyPr anchor="t" anchorCtr="0">
            <a:spAutoFit/>
          </a:bodyPr>
          <a:lstStyle/>
          <a:p>
            <a:r>
              <a:rPr lang="zh-CN" altLang="en-US" sz="1600" b="1" dirty="0">
                <a:solidFill>
                  <a:srgbClr val="FF0000"/>
                </a:solidFill>
                <a:latin typeface="Times New Roman" panose="02020603050405020304" pitchFamily="18" charset="0"/>
                <a:ea typeface="宋体" panose="02010600030101010101" pitchFamily="2" charset="-122"/>
              </a:rPr>
              <a:t>简约波矢</a:t>
            </a:r>
          </a:p>
        </p:txBody>
      </p:sp>
      <p:graphicFrame>
        <p:nvGraphicFramePr>
          <p:cNvPr id="33861" name="内容占位符 35949"/>
          <p:cNvGraphicFramePr>
            <a:graphicFrameLocks noGrp="1"/>
          </p:cNvGraphicFramePr>
          <p:nvPr>
            <p:ph idx="1"/>
          </p:nvPr>
        </p:nvGraphicFramePr>
        <p:xfrm>
          <a:off x="1042988" y="5516563"/>
          <a:ext cx="3024187" cy="744537"/>
        </p:xfrm>
        <a:graphic>
          <a:graphicData uri="http://schemas.openxmlformats.org/presentationml/2006/ole">
            <mc:AlternateContent xmlns:mc="http://schemas.openxmlformats.org/markup-compatibility/2006">
              <mc:Choice xmlns:v="urn:schemas-microsoft-com:vml" Requires="v">
                <p:oleObj r:id="rId2" imgW="1332865" imgH="393700" progId="Equation.3">
                  <p:embed/>
                </p:oleObj>
              </mc:Choice>
              <mc:Fallback>
                <p:oleObj r:id="rId2" imgW="1332865" imgH="393700" progId="Equation.3">
                  <p:embed/>
                  <p:pic>
                    <p:nvPicPr>
                      <p:cNvPr id="0" name="图片 3134"/>
                      <p:cNvPicPr/>
                      <p:nvPr/>
                    </p:nvPicPr>
                    <p:blipFill>
                      <a:blip r:embed="rId3"/>
                      <a:stretch>
                        <a:fillRect/>
                      </a:stretch>
                    </p:blipFill>
                    <p:spPr>
                      <a:xfrm>
                        <a:off x="1042988" y="5516563"/>
                        <a:ext cx="3024187" cy="744537"/>
                      </a:xfrm>
                      <a:prstGeom prst="rect">
                        <a:avLst/>
                      </a:prstGeom>
                      <a:solidFill>
                        <a:schemeClr val="accent1"/>
                      </a:solidFill>
                      <a:ln w="38100">
                        <a:miter/>
                      </a:ln>
                    </p:spPr>
                  </p:pic>
                </p:oleObj>
              </mc:Fallback>
            </mc:AlternateContent>
          </a:graphicData>
        </a:graphic>
      </p:graphicFrame>
      <p:sp>
        <p:nvSpPr>
          <p:cNvPr id="33862" name="矩形 35952"/>
          <p:cNvSpPr/>
          <p:nvPr/>
        </p:nvSpPr>
        <p:spPr>
          <a:xfrm>
            <a:off x="4500563" y="5445125"/>
            <a:ext cx="4248150" cy="1016000"/>
          </a:xfrm>
          <a:prstGeom prst="rect">
            <a:avLst/>
          </a:prstGeom>
          <a:solidFill>
            <a:schemeClr val="bg1"/>
          </a:solidFill>
          <a:ln w="9525" cap="flat" cmpd="sng">
            <a:solidFill>
              <a:srgbClr val="996600"/>
            </a:solidFill>
            <a:prstDash val="solid"/>
            <a:miter/>
            <a:headEnd type="none" w="med" len="med"/>
            <a:tailEnd type="none" w="med" len="med"/>
          </a:ln>
          <a:effectLst>
            <a:outerShdw dist="107763" dir="2699999" algn="ctr" rotWithShape="0">
              <a:schemeClr val="bg2">
                <a:alpha val="50000"/>
              </a:schemeClr>
            </a:outerShdw>
          </a:effectLst>
        </p:spPr>
        <p:txBody>
          <a:bodyPr anchor="t" anchorCtr="0">
            <a:spAutoFit/>
          </a:bodyPr>
          <a:lstStyle/>
          <a:p>
            <a:pPr>
              <a:spcBef>
                <a:spcPct val="20000"/>
              </a:spcBef>
              <a:buClr>
                <a:srgbClr val="000066"/>
              </a:buClr>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电子在周期场中运动时其能量不连续，形成一系列允带和禁带。一个允带对应的</a:t>
            </a:r>
            <a:r>
              <a:rPr lang="en-US" altLang="zh-CN" sz="2000" b="1" dirty="0">
                <a:latin typeface="Times New Roman" panose="02020603050405020304" pitchFamily="18" charset="0"/>
                <a:ea typeface="宋体" panose="02010600030101010101" pitchFamily="2" charset="-122"/>
              </a:rPr>
              <a:t>k</a:t>
            </a:r>
            <a:r>
              <a:rPr lang="zh-CN" altLang="en-US" sz="2000" b="1" dirty="0">
                <a:latin typeface="Times New Roman" panose="02020603050405020304" pitchFamily="18" charset="0"/>
                <a:ea typeface="宋体" panose="02010600030101010101" pitchFamily="2" charset="-122"/>
              </a:rPr>
              <a:t>值范围称为</a:t>
            </a:r>
            <a:r>
              <a:rPr lang="zh-CN" altLang="en-US" sz="2000" b="1" dirty="0">
                <a:solidFill>
                  <a:srgbClr val="000099"/>
                </a:solidFill>
                <a:latin typeface="Times New Roman" panose="02020603050405020304" pitchFamily="18" charset="0"/>
                <a:ea typeface="宋体" panose="02010600030101010101" pitchFamily="2" charset="-122"/>
              </a:rPr>
              <a:t>布里渊区</a:t>
            </a:r>
            <a:endParaRPr lang="zh-CN" altLang="en-US" sz="20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5924"/>
                                        </p:tgtEl>
                                        <p:attrNameLst>
                                          <p:attrName>style.visibility</p:attrName>
                                        </p:attrNameLst>
                                      </p:cBhvr>
                                      <p:to>
                                        <p:strVal val="visible"/>
                                      </p:to>
                                    </p:set>
                                    <p:animEffect transition="in" filter="checkerboard(across)">
                                      <p:cBhvr>
                                        <p:cTn id="7" dur="500"/>
                                        <p:tgtEl>
                                          <p:spTgt spid="359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927"/>
                                        </p:tgtEl>
                                        <p:attrNameLst>
                                          <p:attrName>style.visibility</p:attrName>
                                        </p:attrNameLst>
                                      </p:cBhvr>
                                      <p:to>
                                        <p:strVal val="visible"/>
                                      </p:to>
                                    </p:set>
                                    <p:animEffect transition="in" filter="blinds(horizontal)">
                                      <p:cBhvr>
                                        <p:cTn id="12" dur="500"/>
                                        <p:tgtEl>
                                          <p:spTgt spid="35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占位符 19458"/>
          <p:cNvSpPr>
            <a:spLocks noGrp="1"/>
          </p:cNvSpPr>
          <p:nvPr>
            <p:ph idx="1"/>
          </p:nvPr>
        </p:nvSpPr>
        <p:spPr>
          <a:xfrm>
            <a:off x="611188" y="836613"/>
            <a:ext cx="8229600" cy="5329237"/>
          </a:xfrm>
        </p:spPr>
        <p:txBody>
          <a:bodyPr anchor="t" anchorCtr="0"/>
          <a:lstStyle/>
          <a:p>
            <a:r>
              <a:rPr lang="zh-CN" altLang="en-US" sz="2800" b="1" dirty="0"/>
              <a:t>允带和禁带</a:t>
            </a:r>
          </a:p>
          <a:p>
            <a:pPr lvl="1"/>
            <a:r>
              <a:rPr lang="zh-CN" altLang="en-US" sz="2400" b="1" dirty="0"/>
              <a:t>晶体中的电子能量某些能量区域是禁止的，即禁带</a:t>
            </a:r>
            <a:r>
              <a:rPr lang="en-US" altLang="zh-CN" sz="2400" b="1" dirty="0"/>
              <a:t>.</a:t>
            </a:r>
            <a:r>
              <a:rPr lang="zh-CN" altLang="en-US" sz="2400" b="1" dirty="0"/>
              <a:t>允带以禁带分隔</a:t>
            </a:r>
            <a:r>
              <a:rPr lang="en-US" altLang="zh-CN" sz="2400" b="1" dirty="0"/>
              <a:t>,</a:t>
            </a:r>
            <a:r>
              <a:rPr lang="zh-CN" altLang="en-US" sz="2400" b="1" dirty="0"/>
              <a:t>禁带出现在布里渊区边界</a:t>
            </a:r>
            <a:endParaRPr lang="zh-CN" altLang="en-US" sz="2400" b="1"/>
          </a:p>
          <a:p>
            <a:r>
              <a:rPr lang="en-US" altLang="zh-CN" sz="2800" b="1" dirty="0"/>
              <a:t>k</a:t>
            </a:r>
            <a:r>
              <a:rPr lang="zh-CN" altLang="en-US" sz="2800" b="1" dirty="0"/>
              <a:t>值只能取分立值</a:t>
            </a:r>
            <a:r>
              <a:rPr lang="en-US" altLang="zh-CN" sz="2800" b="1"/>
              <a:t>——</a:t>
            </a:r>
            <a:r>
              <a:rPr lang="zh-CN" altLang="en-US" sz="2800" b="1" dirty="0"/>
              <a:t>对应一个能级，线度为</a:t>
            </a:r>
            <a:r>
              <a:rPr lang="en-US" altLang="zh-CN" sz="2800" b="1"/>
              <a:t>1/L</a:t>
            </a:r>
          </a:p>
          <a:p>
            <a:pPr>
              <a:buNone/>
            </a:pPr>
            <a:r>
              <a:rPr lang="en-US" altLang="zh-CN" sz="2800" b="1" dirty="0"/>
              <a:t>	</a:t>
            </a:r>
            <a:r>
              <a:rPr lang="zh-CN" altLang="en-US" sz="2800" b="1" dirty="0"/>
              <a:t>布里渊区</a:t>
            </a:r>
            <a:r>
              <a:rPr lang="en-US" altLang="zh-CN" sz="2800" b="1"/>
              <a:t>——</a:t>
            </a:r>
            <a:r>
              <a:rPr lang="zh-CN" altLang="en-US" sz="2800" b="1" dirty="0"/>
              <a:t>对应一个能带</a:t>
            </a:r>
            <a:endParaRPr lang="zh-CN" altLang="en-US" sz="2800" b="1"/>
          </a:p>
          <a:p>
            <a:pPr lvl="1"/>
            <a:r>
              <a:rPr lang="zh-CN" altLang="en-US" sz="2400" b="1" dirty="0"/>
              <a:t>第一布里渊区</a:t>
            </a:r>
            <a:r>
              <a:rPr lang="en-US" altLang="zh-CN" sz="2400" b="1" dirty="0"/>
              <a:t>,</a:t>
            </a:r>
            <a:r>
              <a:rPr lang="zh-CN" altLang="en-US" sz="2400" b="1" dirty="0"/>
              <a:t>对应内壳层分裂的能级能量</a:t>
            </a:r>
          </a:p>
          <a:p>
            <a:pPr lvl="1"/>
            <a:r>
              <a:rPr lang="zh-CN" altLang="en-US" sz="2400" b="1" dirty="0"/>
              <a:t>第二布里渊区</a:t>
            </a:r>
            <a:r>
              <a:rPr lang="en-US" altLang="zh-CN" sz="2400" b="1" dirty="0"/>
              <a:t>,</a:t>
            </a:r>
            <a:r>
              <a:rPr lang="zh-CN" altLang="en-US" sz="2400" b="1" dirty="0"/>
              <a:t>对应较高壳层的能级能量</a:t>
            </a:r>
          </a:p>
          <a:p>
            <a:r>
              <a:rPr lang="zh-CN" altLang="en-US" sz="2800" b="1" dirty="0"/>
              <a:t>简约布里渊区</a:t>
            </a:r>
          </a:p>
          <a:p>
            <a:pPr lvl="1"/>
            <a:r>
              <a:rPr lang="zh-CN" altLang="en-US" sz="2400" b="1" dirty="0"/>
              <a:t>将其他区域平移</a:t>
            </a:r>
            <a:r>
              <a:rPr lang="en-US" altLang="zh-CN" sz="2400" b="1" dirty="0"/>
              <a:t>n/a</a:t>
            </a:r>
            <a:r>
              <a:rPr lang="zh-CN" altLang="en-US" sz="2400" b="1" dirty="0"/>
              <a:t>移动至第一布里渊区，这时第一布里渊区称为简约布里渊区</a:t>
            </a:r>
            <a:endParaRPr lang="zh-CN" altLang="en-US" sz="2400" b="1"/>
          </a:p>
          <a:p>
            <a:pPr lvl="1"/>
            <a:r>
              <a:rPr lang="zh-CN" altLang="en-US" sz="2400" b="1" dirty="0"/>
              <a:t>这一区域的波矢</a:t>
            </a:r>
            <a:r>
              <a:rPr lang="en-US" altLang="zh-CN" sz="2400" b="1" i="1"/>
              <a:t>k </a:t>
            </a:r>
            <a:r>
              <a:rPr lang="zh-CN" altLang="en-US" sz="2400" b="1" dirty="0"/>
              <a:t>称为简约波矢</a:t>
            </a:r>
            <a:endParaRPr lang="zh-CN" altLang="en-US" sz="2400" b="1"/>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ACF4A246-8526-726D-E0BE-6E8C1699D2E0}"/>
                  </a:ext>
                </a:extLst>
              </p14:cNvPr>
              <p14:cNvContentPartPr/>
              <p14:nvPr/>
            </p14:nvContentPartPr>
            <p14:xfrm>
              <a:off x="1808392" y="1494093"/>
              <a:ext cx="5740200" cy="4320"/>
            </p14:xfrm>
          </p:contentPart>
        </mc:Choice>
        <mc:Fallback xmlns="">
          <p:pic>
            <p:nvPicPr>
              <p:cNvPr id="2" name="墨迹 1">
                <a:extLst>
                  <a:ext uri="{FF2B5EF4-FFF2-40B4-BE49-F238E27FC236}">
                    <a16:creationId xmlns:a16="http://schemas.microsoft.com/office/drawing/2014/main" id="{ACF4A246-8526-726D-E0BE-6E8C1699D2E0}"/>
                  </a:ext>
                </a:extLst>
              </p:cNvPr>
              <p:cNvPicPr/>
              <p:nvPr/>
            </p:nvPicPr>
            <p:blipFill>
              <a:blip r:embed="rId3"/>
              <a:stretch>
                <a:fillRect/>
              </a:stretch>
            </p:blipFill>
            <p:spPr>
              <a:xfrm>
                <a:off x="1754752" y="1386453"/>
                <a:ext cx="584784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9E98F1F3-7093-47C0-6501-A2BF07B58007}"/>
                  </a:ext>
                </a:extLst>
              </p14:cNvPr>
              <p14:cNvContentPartPr/>
              <p14:nvPr/>
            </p14:nvContentPartPr>
            <p14:xfrm>
              <a:off x="1287832" y="2015373"/>
              <a:ext cx="4217040" cy="94680"/>
            </p14:xfrm>
          </p:contentPart>
        </mc:Choice>
        <mc:Fallback xmlns="">
          <p:pic>
            <p:nvPicPr>
              <p:cNvPr id="3" name="墨迹 2">
                <a:extLst>
                  <a:ext uri="{FF2B5EF4-FFF2-40B4-BE49-F238E27FC236}">
                    <a16:creationId xmlns:a16="http://schemas.microsoft.com/office/drawing/2014/main" id="{9E98F1F3-7093-47C0-6501-A2BF07B58007}"/>
                  </a:ext>
                </a:extLst>
              </p:cNvPr>
              <p:cNvPicPr/>
              <p:nvPr/>
            </p:nvPicPr>
            <p:blipFill>
              <a:blip r:embed="rId5"/>
              <a:stretch>
                <a:fillRect/>
              </a:stretch>
            </p:blipFill>
            <p:spPr>
              <a:xfrm>
                <a:off x="1234192" y="1907733"/>
                <a:ext cx="432468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6ECE3751-77CE-22D9-25EC-DF4BCEDA5F31}"/>
                  </a:ext>
                </a:extLst>
              </p14:cNvPr>
              <p14:cNvContentPartPr/>
              <p14:nvPr/>
            </p14:nvContentPartPr>
            <p14:xfrm>
              <a:off x="1012432" y="2880453"/>
              <a:ext cx="1204920" cy="4320"/>
            </p14:xfrm>
          </p:contentPart>
        </mc:Choice>
        <mc:Fallback xmlns="">
          <p:pic>
            <p:nvPicPr>
              <p:cNvPr id="4" name="墨迹 3">
                <a:extLst>
                  <a:ext uri="{FF2B5EF4-FFF2-40B4-BE49-F238E27FC236}">
                    <a16:creationId xmlns:a16="http://schemas.microsoft.com/office/drawing/2014/main" id="{6ECE3751-77CE-22D9-25EC-DF4BCEDA5F31}"/>
                  </a:ext>
                </a:extLst>
              </p:cNvPr>
              <p:cNvPicPr/>
              <p:nvPr/>
            </p:nvPicPr>
            <p:blipFill>
              <a:blip r:embed="rId7"/>
              <a:stretch>
                <a:fillRect/>
              </a:stretch>
            </p:blipFill>
            <p:spPr>
              <a:xfrm>
                <a:off x="958432" y="2772453"/>
                <a:ext cx="13125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C0374A82-6BE9-BEA4-EB56-208A127FF1ED}"/>
                  </a:ext>
                </a:extLst>
              </p14:cNvPr>
              <p14:cNvContentPartPr/>
              <p14:nvPr/>
            </p14:nvContentPartPr>
            <p14:xfrm>
              <a:off x="6685672" y="2339013"/>
              <a:ext cx="1484640" cy="20520"/>
            </p14:xfrm>
          </p:contentPart>
        </mc:Choice>
        <mc:Fallback xmlns="">
          <p:pic>
            <p:nvPicPr>
              <p:cNvPr id="5" name="墨迹 4">
                <a:extLst>
                  <a:ext uri="{FF2B5EF4-FFF2-40B4-BE49-F238E27FC236}">
                    <a16:creationId xmlns:a16="http://schemas.microsoft.com/office/drawing/2014/main" id="{C0374A82-6BE9-BEA4-EB56-208A127FF1ED}"/>
                  </a:ext>
                </a:extLst>
              </p:cNvPr>
              <p:cNvPicPr/>
              <p:nvPr/>
            </p:nvPicPr>
            <p:blipFill>
              <a:blip r:embed="rId9"/>
              <a:stretch>
                <a:fillRect/>
              </a:stretch>
            </p:blipFill>
            <p:spPr>
              <a:xfrm>
                <a:off x="6631672" y="2231013"/>
                <a:ext cx="159228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1C658234-0305-3DAC-4BA9-4603F499D218}"/>
                  </a:ext>
                </a:extLst>
              </p14:cNvPr>
              <p14:cNvContentPartPr/>
              <p14:nvPr/>
            </p14:nvContentPartPr>
            <p14:xfrm>
              <a:off x="894352" y="3500013"/>
              <a:ext cx="3936960" cy="4320"/>
            </p14:xfrm>
          </p:contentPart>
        </mc:Choice>
        <mc:Fallback xmlns="">
          <p:pic>
            <p:nvPicPr>
              <p:cNvPr id="6" name="墨迹 5">
                <a:extLst>
                  <a:ext uri="{FF2B5EF4-FFF2-40B4-BE49-F238E27FC236}">
                    <a16:creationId xmlns:a16="http://schemas.microsoft.com/office/drawing/2014/main" id="{1C658234-0305-3DAC-4BA9-4603F499D218}"/>
                  </a:ext>
                </a:extLst>
              </p:cNvPr>
              <p:cNvPicPr/>
              <p:nvPr/>
            </p:nvPicPr>
            <p:blipFill>
              <a:blip r:embed="rId11"/>
              <a:stretch>
                <a:fillRect/>
              </a:stretch>
            </p:blipFill>
            <p:spPr>
              <a:xfrm>
                <a:off x="840712" y="3392013"/>
                <a:ext cx="40446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墨迹 6">
                <a:extLst>
                  <a:ext uri="{FF2B5EF4-FFF2-40B4-BE49-F238E27FC236}">
                    <a16:creationId xmlns:a16="http://schemas.microsoft.com/office/drawing/2014/main" id="{6AAEC661-25C8-DB92-3CEC-4A9EF6D88BCA}"/>
                  </a:ext>
                </a:extLst>
              </p14:cNvPr>
              <p14:cNvContentPartPr/>
              <p14:nvPr/>
            </p14:nvContentPartPr>
            <p14:xfrm>
              <a:off x="1454512" y="3774333"/>
              <a:ext cx="5241960" cy="70560"/>
            </p14:xfrm>
          </p:contentPart>
        </mc:Choice>
        <mc:Fallback xmlns="">
          <p:pic>
            <p:nvPicPr>
              <p:cNvPr id="7" name="墨迹 6">
                <a:extLst>
                  <a:ext uri="{FF2B5EF4-FFF2-40B4-BE49-F238E27FC236}">
                    <a16:creationId xmlns:a16="http://schemas.microsoft.com/office/drawing/2014/main" id="{6AAEC661-25C8-DB92-3CEC-4A9EF6D88BCA}"/>
                  </a:ext>
                </a:extLst>
              </p:cNvPr>
              <p:cNvPicPr/>
              <p:nvPr/>
            </p:nvPicPr>
            <p:blipFill>
              <a:blip r:embed="rId13"/>
              <a:stretch>
                <a:fillRect/>
              </a:stretch>
            </p:blipFill>
            <p:spPr>
              <a:xfrm>
                <a:off x="1400872" y="3666333"/>
                <a:ext cx="5349600" cy="286200"/>
              </a:xfrm>
              <a:prstGeom prst="rect">
                <a:avLst/>
              </a:prstGeom>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图片 37891"/>
          <p:cNvPicPr>
            <a:picLocks noChangeAspect="1"/>
          </p:cNvPicPr>
          <p:nvPr/>
        </p:nvPicPr>
        <p:blipFill>
          <a:blip r:embed="rId2"/>
          <a:stretch>
            <a:fillRect/>
          </a:stretch>
        </p:blipFill>
        <p:spPr>
          <a:xfrm>
            <a:off x="684213" y="1916113"/>
            <a:ext cx="3600450" cy="3295650"/>
          </a:xfrm>
          <a:prstGeom prst="rect">
            <a:avLst/>
          </a:prstGeom>
          <a:noFill/>
          <a:ln w="9525">
            <a:noFill/>
          </a:ln>
        </p:spPr>
      </p:pic>
      <p:pic>
        <p:nvPicPr>
          <p:cNvPr id="35842" name="图片 37892"/>
          <p:cNvPicPr>
            <a:picLocks noChangeAspect="1"/>
          </p:cNvPicPr>
          <p:nvPr/>
        </p:nvPicPr>
        <p:blipFill>
          <a:blip r:embed="rId3"/>
          <a:stretch>
            <a:fillRect/>
          </a:stretch>
        </p:blipFill>
        <p:spPr>
          <a:xfrm>
            <a:off x="4787900" y="1916113"/>
            <a:ext cx="3600450" cy="3279775"/>
          </a:xfrm>
          <a:prstGeom prst="rect">
            <a:avLst/>
          </a:prstGeom>
          <a:noFill/>
          <a:ln w="9525">
            <a:noFill/>
          </a:ln>
        </p:spPr>
      </p:pic>
      <p:graphicFrame>
        <p:nvGraphicFramePr>
          <p:cNvPr id="35843" name="内容占位符 37895"/>
          <p:cNvGraphicFramePr>
            <a:graphicFrameLocks noGrp="1"/>
          </p:cNvGraphicFramePr>
          <p:nvPr>
            <p:ph idx="4294967295"/>
          </p:nvPr>
        </p:nvGraphicFramePr>
        <p:xfrm>
          <a:off x="3495675" y="1284288"/>
          <a:ext cx="2151063" cy="3756025"/>
        </p:xfrm>
        <a:graphic>
          <a:graphicData uri="http://schemas.openxmlformats.org/presentationml/2006/ole">
            <mc:AlternateContent xmlns:mc="http://schemas.openxmlformats.org/markup-compatibility/2006">
              <mc:Choice xmlns:v="urn:schemas-microsoft-com:vml" Requires="v">
                <p:oleObj r:id="rId4" imgW="114300" imgH="215900" progId="Equation.3">
                  <p:embed/>
                </p:oleObj>
              </mc:Choice>
              <mc:Fallback>
                <p:oleObj r:id="rId4" imgW="114300" imgH="215900" progId="Equation.3">
                  <p:embed/>
                  <p:pic>
                    <p:nvPicPr>
                      <p:cNvPr id="0" name="图片 3133"/>
                      <p:cNvPicPr/>
                      <p:nvPr/>
                    </p:nvPicPr>
                    <p:blipFill>
                      <a:blip r:embed="rId5"/>
                      <a:stretch>
                        <a:fillRect/>
                      </a:stretch>
                    </p:blipFill>
                    <p:spPr>
                      <a:xfrm>
                        <a:off x="3495675" y="1284288"/>
                        <a:ext cx="2151063" cy="3756025"/>
                      </a:xfrm>
                      <a:prstGeom prst="rect">
                        <a:avLst/>
                      </a:prstGeom>
                      <a:noFill/>
                      <a:ln w="38100">
                        <a:miter/>
                      </a:ln>
                    </p:spPr>
                  </p:pic>
                </p:oleObj>
              </mc:Fallback>
            </mc:AlternateContent>
          </a:graphicData>
        </a:graphic>
      </p:graphicFrame>
      <p:sp>
        <p:nvSpPr>
          <p:cNvPr id="35844" name="矩形 37897"/>
          <p:cNvSpPr/>
          <p:nvPr/>
        </p:nvSpPr>
        <p:spPr>
          <a:xfrm>
            <a:off x="755650" y="836613"/>
            <a:ext cx="6940550" cy="519112"/>
          </a:xfrm>
          <a:prstGeom prst="rect">
            <a:avLst/>
          </a:prstGeom>
          <a:noFill/>
          <a:ln w="9525">
            <a:noFill/>
          </a:ln>
        </p:spPr>
        <p:txBody>
          <a:bodyPr wrap="none" anchor="t" anchorCtr="0">
            <a:spAutoFit/>
          </a:bodyPr>
          <a:lstStyle/>
          <a:p>
            <a:r>
              <a:rPr lang="zh-CN" altLang="en-US" sz="2800" b="1" dirty="0">
                <a:solidFill>
                  <a:srgbClr val="990033"/>
                </a:solidFill>
                <a:latin typeface="Times New Roman" panose="02020603050405020304" pitchFamily="18" charset="0"/>
                <a:ea typeface="宋体" panose="02010600030101010101" pitchFamily="2" charset="-122"/>
              </a:rPr>
              <a:t>金刚石结构的第一布里渊区是一个十四面体</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矩形 122901"/>
          <p:cNvSpPr>
            <a:spLocks noRot="1"/>
          </p:cNvSpPr>
          <p:nvPr/>
        </p:nvSpPr>
        <p:spPr>
          <a:xfrm>
            <a:off x="323850" y="188913"/>
            <a:ext cx="8229600" cy="1143000"/>
          </a:xfrm>
          <a:prstGeom prst="rect">
            <a:avLst/>
          </a:prstGeom>
          <a:noFill/>
          <a:ln w="9525">
            <a:noFill/>
          </a:ln>
        </p:spPr>
        <p:txBody>
          <a:bodyPr anchor="ctr" anchorCtr="0"/>
          <a:lstStyle/>
          <a:p>
            <a:r>
              <a:rPr lang="en-US" altLang="zh-CN" sz="3600" b="1" dirty="0">
                <a:latin typeface="Arial" panose="020B0604020202020204" pitchFamily="34" charset="0"/>
                <a:ea typeface="宋体" panose="02010600030101010101" pitchFamily="2" charset="-122"/>
              </a:rPr>
              <a:t>4. </a:t>
            </a:r>
            <a:r>
              <a:rPr lang="zh-CN" altLang="en-US" sz="3600" b="1" dirty="0">
                <a:latin typeface="Arial" panose="020B0604020202020204" pitchFamily="34" charset="0"/>
                <a:ea typeface="宋体" panose="02010600030101010101" pitchFamily="2" charset="-122"/>
              </a:rPr>
              <a:t>导体、绝缘体和半导体的能带</a:t>
            </a:r>
          </a:p>
        </p:txBody>
      </p:sp>
      <p:sp>
        <p:nvSpPr>
          <p:cNvPr id="36866" name="文本框 122902"/>
          <p:cNvSpPr txBox="1"/>
          <p:nvPr/>
        </p:nvSpPr>
        <p:spPr>
          <a:xfrm>
            <a:off x="539750" y="1268413"/>
            <a:ext cx="7704138" cy="1808162"/>
          </a:xfrm>
          <a:prstGeom prst="rect">
            <a:avLst/>
          </a:prstGeom>
          <a:noFill/>
          <a:ln w="12700">
            <a:noFill/>
          </a:ln>
        </p:spPr>
        <p:txBody>
          <a:bodyPr anchor="t" anchorCtr="0">
            <a:spAutoFit/>
          </a:bodyPr>
          <a:lstStyle/>
          <a:p>
            <a:pPr>
              <a:lnSpc>
                <a:spcPct val="80000"/>
              </a:lnSpc>
              <a:spcBef>
                <a:spcPct val="50000"/>
              </a:spcBef>
            </a:pPr>
            <a:r>
              <a:rPr lang="zh-CN" altLang="en-US" sz="2400" b="1" dirty="0">
                <a:solidFill>
                  <a:srgbClr val="A50021"/>
                </a:solidFill>
                <a:latin typeface="Times New Roman" panose="02020603050405020304" pitchFamily="18" charset="0"/>
                <a:ea typeface="楷体_GB2312" pitchFamily="49" charset="-122"/>
              </a:rPr>
              <a:t>价带</a:t>
            </a:r>
            <a:r>
              <a:rPr lang="zh-CN" altLang="en-US" sz="2400" b="1" dirty="0">
                <a:latin typeface="Times New Roman" panose="02020603050405020304" pitchFamily="18" charset="0"/>
                <a:ea typeface="楷体_GB2312" pitchFamily="49" charset="-122"/>
              </a:rPr>
              <a:t>：</a:t>
            </a:r>
            <a:r>
              <a:rPr lang="zh-CN" altLang="zh-CN" sz="2400" b="1" dirty="0">
                <a:latin typeface="Times New Roman" panose="02020603050405020304" pitchFamily="18" charset="0"/>
                <a:ea typeface="楷体_GB2312" pitchFamily="49" charset="-122"/>
              </a:rPr>
              <a:t>0K条件下被电子填充的能量最高的能带</a:t>
            </a:r>
          </a:p>
          <a:p>
            <a:pPr>
              <a:lnSpc>
                <a:spcPct val="80000"/>
              </a:lnSpc>
              <a:spcBef>
                <a:spcPct val="50000"/>
              </a:spcBef>
            </a:pPr>
            <a:r>
              <a:rPr lang="zh-CN" altLang="zh-CN" sz="2400" b="1" dirty="0">
                <a:solidFill>
                  <a:srgbClr val="A50021"/>
                </a:solidFill>
                <a:latin typeface="Times New Roman" panose="02020603050405020304" pitchFamily="18" charset="0"/>
                <a:ea typeface="楷体_GB2312" pitchFamily="49" charset="-122"/>
              </a:rPr>
              <a:t>导带</a:t>
            </a:r>
            <a:r>
              <a:rPr lang="zh-CN" altLang="zh-CN" sz="2400" b="1" dirty="0">
                <a:latin typeface="Times New Roman" panose="02020603050405020304" pitchFamily="18" charset="0"/>
                <a:ea typeface="楷体_GB2312" pitchFamily="49" charset="-122"/>
              </a:rPr>
              <a:t>：0K条件下未被电子填充的能量最低的能带</a:t>
            </a:r>
          </a:p>
          <a:p>
            <a:pPr>
              <a:lnSpc>
                <a:spcPct val="80000"/>
              </a:lnSpc>
              <a:spcBef>
                <a:spcPct val="50000"/>
              </a:spcBef>
            </a:pPr>
            <a:r>
              <a:rPr lang="zh-CN" altLang="en-US" sz="2400" b="1" dirty="0">
                <a:solidFill>
                  <a:srgbClr val="A50021"/>
                </a:solidFill>
                <a:latin typeface="Times New Roman" panose="02020603050405020304" pitchFamily="18" charset="0"/>
                <a:ea typeface="楷体_GB2312" pitchFamily="49" charset="-122"/>
              </a:rPr>
              <a:t>禁带</a:t>
            </a:r>
            <a:r>
              <a:rPr lang="zh-CN" altLang="en-US" sz="2400" b="1" dirty="0">
                <a:latin typeface="Times New Roman" panose="02020603050405020304" pitchFamily="18" charset="0"/>
                <a:ea typeface="楷体_GB2312" pitchFamily="49" charset="-122"/>
              </a:rPr>
              <a:t>：</a:t>
            </a:r>
            <a:r>
              <a:rPr lang="zh-CN" altLang="zh-CN" sz="2400" b="1" dirty="0">
                <a:latin typeface="Times New Roman" panose="02020603050405020304" pitchFamily="18" charset="0"/>
                <a:ea typeface="楷体_GB2312" pitchFamily="49" charset="-122"/>
              </a:rPr>
              <a:t>导带底与价带顶之间能带</a:t>
            </a:r>
            <a:endParaRPr lang="zh-CN" altLang="en-US" sz="2400" b="1">
              <a:latin typeface="Times New Roman" panose="02020603050405020304" pitchFamily="18" charset="0"/>
              <a:ea typeface="楷体_GB2312" pitchFamily="49" charset="-122"/>
            </a:endParaRPr>
          </a:p>
          <a:p>
            <a:pPr>
              <a:lnSpc>
                <a:spcPct val="80000"/>
              </a:lnSpc>
              <a:spcBef>
                <a:spcPct val="50000"/>
              </a:spcBef>
            </a:pPr>
            <a:r>
              <a:rPr lang="zh-CN" altLang="zh-CN" sz="2400" b="1" dirty="0">
                <a:solidFill>
                  <a:srgbClr val="A50021"/>
                </a:solidFill>
                <a:latin typeface="Times New Roman" panose="02020603050405020304" pitchFamily="18" charset="0"/>
                <a:ea typeface="楷体_GB2312" pitchFamily="49" charset="-122"/>
              </a:rPr>
              <a:t>带隙</a:t>
            </a:r>
            <a:r>
              <a:rPr lang="zh-CN" altLang="zh-CN" sz="2400" b="1" dirty="0">
                <a:latin typeface="Times New Roman" panose="02020603050405020304" pitchFamily="18" charset="0"/>
                <a:ea typeface="楷体_GB2312" pitchFamily="49" charset="-122"/>
              </a:rPr>
              <a:t>：导带底与价带顶之间的能量差</a:t>
            </a:r>
            <a:endParaRPr lang="zh-CN" altLang="en-US" sz="2400" b="1">
              <a:latin typeface="Times New Roman" panose="02020603050405020304" pitchFamily="18" charset="0"/>
              <a:ea typeface="楷体_GB2312" pitchFamily="49" charset="-122"/>
            </a:endParaRPr>
          </a:p>
        </p:txBody>
      </p:sp>
      <p:sp>
        <p:nvSpPr>
          <p:cNvPr id="36867" name="矩形 122906"/>
          <p:cNvSpPr/>
          <p:nvPr/>
        </p:nvSpPr>
        <p:spPr>
          <a:xfrm>
            <a:off x="5148263" y="5876925"/>
            <a:ext cx="2668587" cy="519113"/>
          </a:xfrm>
          <a:prstGeom prst="rect">
            <a:avLst/>
          </a:prstGeom>
          <a:noFill/>
          <a:ln w="9525">
            <a:noFill/>
          </a:ln>
        </p:spPr>
        <p:txBody>
          <a:bodyPr anchor="t" anchorCtr="0">
            <a:spAutoFit/>
          </a:bodyPr>
          <a:lstStyle/>
          <a:p>
            <a:pPr algn="ctr"/>
            <a:r>
              <a:rPr lang="zh-CN" altLang="en-US" sz="2800" b="1" dirty="0">
                <a:latin typeface="Times New Roman" panose="02020603050405020304" pitchFamily="18" charset="0"/>
                <a:ea typeface="宋体" panose="02010600030101010101" pitchFamily="2" charset="-122"/>
              </a:rPr>
              <a:t>能带示意图</a:t>
            </a:r>
          </a:p>
        </p:txBody>
      </p:sp>
      <p:graphicFrame>
        <p:nvGraphicFramePr>
          <p:cNvPr id="36868" name="对象 122909"/>
          <p:cNvGraphicFramePr/>
          <p:nvPr/>
        </p:nvGraphicFramePr>
        <p:xfrm>
          <a:off x="1547813" y="5949950"/>
          <a:ext cx="2160587" cy="708025"/>
        </p:xfrm>
        <a:graphic>
          <a:graphicData uri="http://schemas.openxmlformats.org/presentationml/2006/ole">
            <mc:AlternateContent xmlns:mc="http://schemas.openxmlformats.org/markup-compatibility/2006">
              <mc:Choice xmlns:v="urn:schemas-microsoft-com:vml" Requires="v">
                <p:oleObj r:id="rId2" imgW="735965" imgH="241300" progId="Equation.3">
                  <p:embed/>
                </p:oleObj>
              </mc:Choice>
              <mc:Fallback>
                <p:oleObj r:id="rId2" imgW="735965" imgH="241300" progId="Equation.3">
                  <p:embed/>
                  <p:pic>
                    <p:nvPicPr>
                      <p:cNvPr id="0" name="图片 3110"/>
                      <p:cNvPicPr/>
                      <p:nvPr/>
                    </p:nvPicPr>
                    <p:blipFill>
                      <a:blip r:embed="rId3"/>
                      <a:stretch>
                        <a:fillRect/>
                      </a:stretch>
                    </p:blipFill>
                    <p:spPr>
                      <a:xfrm>
                        <a:off x="1547813" y="5949950"/>
                        <a:ext cx="2160587" cy="708025"/>
                      </a:xfrm>
                      <a:prstGeom prst="rect">
                        <a:avLst/>
                      </a:prstGeom>
                      <a:noFill/>
                      <a:ln w="38100">
                        <a:noFill/>
                        <a:miter/>
                      </a:ln>
                    </p:spPr>
                  </p:pic>
                </p:oleObj>
              </mc:Fallback>
            </mc:AlternateContent>
          </a:graphicData>
        </a:graphic>
      </p:graphicFrame>
      <p:sp>
        <p:nvSpPr>
          <p:cNvPr id="36869" name="直接连接符 122910"/>
          <p:cNvSpPr/>
          <p:nvPr/>
        </p:nvSpPr>
        <p:spPr>
          <a:xfrm>
            <a:off x="5076825" y="3644900"/>
            <a:ext cx="3124200" cy="0"/>
          </a:xfrm>
          <a:prstGeom prst="line">
            <a:avLst/>
          </a:prstGeom>
          <a:ln w="38100" cap="flat" cmpd="sng">
            <a:solidFill>
              <a:schemeClr val="tx1"/>
            </a:solidFill>
            <a:prstDash val="solid"/>
            <a:miter/>
            <a:headEnd type="none" w="med" len="med"/>
            <a:tailEnd type="none" w="med" len="med"/>
          </a:ln>
        </p:spPr>
      </p:sp>
      <p:sp>
        <p:nvSpPr>
          <p:cNvPr id="36870" name="直接连接符 122911"/>
          <p:cNvSpPr/>
          <p:nvPr/>
        </p:nvSpPr>
        <p:spPr>
          <a:xfrm>
            <a:off x="5062538" y="4943475"/>
            <a:ext cx="3048000" cy="0"/>
          </a:xfrm>
          <a:prstGeom prst="line">
            <a:avLst/>
          </a:prstGeom>
          <a:ln w="38100" cap="flat" cmpd="sng">
            <a:solidFill>
              <a:schemeClr val="tx1"/>
            </a:solidFill>
            <a:prstDash val="solid"/>
            <a:miter/>
            <a:headEnd type="none" w="med" len="med"/>
            <a:tailEnd type="none" w="med" len="med"/>
          </a:ln>
        </p:spPr>
      </p:sp>
      <p:sp>
        <p:nvSpPr>
          <p:cNvPr id="36871" name="文本框 122912"/>
          <p:cNvSpPr txBox="1"/>
          <p:nvPr/>
        </p:nvSpPr>
        <p:spPr>
          <a:xfrm>
            <a:off x="6661150" y="4076700"/>
            <a:ext cx="528638" cy="519113"/>
          </a:xfrm>
          <a:prstGeom prst="rect">
            <a:avLst/>
          </a:prstGeom>
          <a:noFill/>
          <a:ln w="9525">
            <a:noFill/>
          </a:ln>
        </p:spPr>
        <p:txBody>
          <a:bodyPr wrap="none" anchor="t" anchorCtr="0">
            <a:spAutoFit/>
          </a:bodyPr>
          <a:lstStyle/>
          <a:p>
            <a:r>
              <a:rPr lang="en-US" altLang="zh-CN" sz="2800" err="1">
                <a:latin typeface="Times New Roman" panose="02020603050405020304" pitchFamily="18" charset="0"/>
                <a:ea typeface="宋体" panose="02010600030101010101" pitchFamily="2" charset="-122"/>
              </a:rPr>
              <a:t>E</a:t>
            </a:r>
            <a:r>
              <a:rPr lang="en-US" altLang="zh-CN" sz="2000" err="1">
                <a:latin typeface="Times New Roman" panose="02020603050405020304" pitchFamily="18" charset="0"/>
                <a:ea typeface="宋体" panose="02010600030101010101" pitchFamily="2" charset="-122"/>
              </a:rPr>
              <a:t>g</a:t>
            </a:r>
            <a:endParaRPr lang="en-US" altLang="zh-CN" sz="2000">
              <a:latin typeface="Times New Roman" panose="02020603050405020304" pitchFamily="18" charset="0"/>
              <a:ea typeface="宋体" panose="02010600030101010101" pitchFamily="2" charset="-122"/>
            </a:endParaRPr>
          </a:p>
        </p:txBody>
      </p:sp>
      <p:sp>
        <p:nvSpPr>
          <p:cNvPr id="36872" name="文本框 122913"/>
          <p:cNvSpPr txBox="1"/>
          <p:nvPr/>
        </p:nvSpPr>
        <p:spPr>
          <a:xfrm>
            <a:off x="8170863" y="3332163"/>
            <a:ext cx="558800" cy="519112"/>
          </a:xfrm>
          <a:prstGeom prst="rect">
            <a:avLst/>
          </a:prstGeom>
          <a:noFill/>
          <a:ln w="9525">
            <a:noFill/>
          </a:ln>
        </p:spPr>
        <p:txBody>
          <a:bodyPr wrap="none" anchor="t" anchorCtr="0">
            <a:spAutoFit/>
          </a:bodyPr>
          <a:lstStyle/>
          <a:p>
            <a:r>
              <a:rPr lang="en-US" altLang="zh-CN" sz="2800" err="1">
                <a:latin typeface="Times New Roman" panose="02020603050405020304" pitchFamily="18" charset="0"/>
                <a:ea typeface="宋体" panose="02010600030101010101" pitchFamily="2" charset="-122"/>
              </a:rPr>
              <a:t>Ec</a:t>
            </a:r>
            <a:endParaRPr lang="en-US" altLang="zh-CN" sz="2800">
              <a:latin typeface="Times New Roman" panose="02020603050405020304" pitchFamily="18" charset="0"/>
              <a:ea typeface="宋体" panose="02010600030101010101" pitchFamily="2" charset="-122"/>
            </a:endParaRPr>
          </a:p>
        </p:txBody>
      </p:sp>
      <p:sp>
        <p:nvSpPr>
          <p:cNvPr id="36873" name="文本框 122914"/>
          <p:cNvSpPr txBox="1"/>
          <p:nvPr/>
        </p:nvSpPr>
        <p:spPr>
          <a:xfrm>
            <a:off x="8170863" y="4629150"/>
            <a:ext cx="579437" cy="519113"/>
          </a:xfrm>
          <a:prstGeom prst="rect">
            <a:avLst/>
          </a:prstGeom>
          <a:noFill/>
          <a:ln w="9525">
            <a:noFill/>
          </a:ln>
        </p:spPr>
        <p:txBody>
          <a:bodyPr wrap="none" anchor="t" anchorCtr="0">
            <a:spAutoFit/>
          </a:bodyPr>
          <a:lstStyle/>
          <a:p>
            <a:r>
              <a:rPr lang="en-US" altLang="zh-CN" sz="2800" err="1">
                <a:latin typeface="Times New Roman" panose="02020603050405020304" pitchFamily="18" charset="0"/>
                <a:ea typeface="宋体" panose="02010600030101010101" pitchFamily="2" charset="-122"/>
              </a:rPr>
              <a:t>Ev</a:t>
            </a:r>
            <a:endParaRPr lang="en-US" altLang="zh-CN" sz="2800">
              <a:latin typeface="Times New Roman" panose="02020603050405020304" pitchFamily="18" charset="0"/>
              <a:ea typeface="宋体" panose="02010600030101010101" pitchFamily="2" charset="-122"/>
            </a:endParaRPr>
          </a:p>
        </p:txBody>
      </p:sp>
      <p:sp>
        <p:nvSpPr>
          <p:cNvPr id="36874" name="直接连接符 122915"/>
          <p:cNvSpPr/>
          <p:nvPr/>
        </p:nvSpPr>
        <p:spPr>
          <a:xfrm>
            <a:off x="6661150" y="3690938"/>
            <a:ext cx="0" cy="1225550"/>
          </a:xfrm>
          <a:prstGeom prst="line">
            <a:avLst/>
          </a:prstGeom>
          <a:ln w="9525" cap="flat" cmpd="sng">
            <a:solidFill>
              <a:schemeClr val="tx1"/>
            </a:solidFill>
            <a:prstDash val="solid"/>
            <a:round/>
            <a:headEnd type="triangle" w="med" len="med"/>
            <a:tailEnd type="triangle" w="med" len="med"/>
          </a:ln>
        </p:spPr>
      </p:sp>
      <p:grpSp>
        <p:nvGrpSpPr>
          <p:cNvPr id="36875" name="组合 122916"/>
          <p:cNvGrpSpPr/>
          <p:nvPr/>
        </p:nvGrpSpPr>
        <p:grpSpPr>
          <a:xfrm>
            <a:off x="323850" y="3213100"/>
            <a:ext cx="4065588" cy="2663825"/>
            <a:chOff x="-6" y="754"/>
            <a:chExt cx="2788" cy="2495"/>
          </a:xfrm>
        </p:grpSpPr>
        <p:sp>
          <p:nvSpPr>
            <p:cNvPr id="36876" name="矩形 122917"/>
            <p:cNvSpPr/>
            <p:nvPr/>
          </p:nvSpPr>
          <p:spPr>
            <a:xfrm>
              <a:off x="376" y="754"/>
              <a:ext cx="2404" cy="2495"/>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p>
              <a:pPr algn="ctr"/>
              <a:endParaRPr lang="zh-CN" dirty="0">
                <a:solidFill>
                  <a:srgbClr val="FFFF00"/>
                </a:solidFill>
                <a:latin typeface="Times New Roman" panose="02020603050405020304" pitchFamily="18" charset="0"/>
                <a:ea typeface="宋体" panose="02010600030101010101" pitchFamily="2" charset="-122"/>
              </a:endParaRPr>
            </a:p>
          </p:txBody>
        </p:sp>
        <p:sp>
          <p:nvSpPr>
            <p:cNvPr id="36877" name="直接连接符 122918"/>
            <p:cNvSpPr/>
            <p:nvPr/>
          </p:nvSpPr>
          <p:spPr>
            <a:xfrm flipV="1">
              <a:off x="311" y="1389"/>
              <a:ext cx="0" cy="1008"/>
            </a:xfrm>
            <a:prstGeom prst="line">
              <a:avLst/>
            </a:prstGeom>
            <a:ln w="9525" cap="flat" cmpd="sng">
              <a:solidFill>
                <a:schemeClr val="tx1"/>
              </a:solidFill>
              <a:prstDash val="solid"/>
              <a:miter/>
              <a:headEnd type="none" w="med" len="med"/>
              <a:tailEnd type="triangle" w="med" len="med"/>
            </a:ln>
          </p:spPr>
        </p:sp>
        <p:sp>
          <p:nvSpPr>
            <p:cNvPr id="36878" name="文本框 122919"/>
            <p:cNvSpPr txBox="1"/>
            <p:nvPr/>
          </p:nvSpPr>
          <p:spPr>
            <a:xfrm>
              <a:off x="-6" y="1389"/>
              <a:ext cx="346" cy="1454"/>
            </a:xfrm>
            <a:prstGeom prst="rect">
              <a:avLst/>
            </a:prstGeom>
            <a:noFill/>
            <a:ln w="9525">
              <a:noFill/>
            </a:ln>
          </p:spPr>
          <p:txBody>
            <a:bodyPr anchor="t" anchorCtr="0">
              <a:spAutoFit/>
            </a:bodyPr>
            <a:lstStyle/>
            <a:p>
              <a:r>
                <a:rPr lang="zh-CN" altLang="en-US" sz="2400" dirty="0">
                  <a:latin typeface="Times New Roman" panose="02020603050405020304" pitchFamily="18" charset="0"/>
                  <a:ea typeface="宋体" panose="02010600030101010101" pitchFamily="2" charset="-122"/>
                </a:rPr>
                <a:t>电子能量</a:t>
              </a:r>
              <a:endParaRPr lang="zh-CN" altLang="en-US" sz="2400">
                <a:latin typeface="Times New Roman" panose="02020603050405020304" pitchFamily="18" charset="0"/>
                <a:ea typeface="宋体" panose="02010600030101010101" pitchFamily="2" charset="-122"/>
              </a:endParaRPr>
            </a:p>
          </p:txBody>
        </p:sp>
        <p:sp>
          <p:nvSpPr>
            <p:cNvPr id="36879" name="矩形 122920"/>
            <p:cNvSpPr/>
            <p:nvPr/>
          </p:nvSpPr>
          <p:spPr>
            <a:xfrm>
              <a:off x="557" y="1026"/>
              <a:ext cx="1905" cy="635"/>
            </a:xfrm>
            <a:prstGeom prst="rect">
              <a:avLst/>
            </a:prstGeom>
            <a:pattFill prst="ltHorz">
              <a:fgClr>
                <a:schemeClr val="accent1"/>
              </a:fgClr>
              <a:bgClr>
                <a:schemeClr val="bg1"/>
              </a:bgClr>
            </a:pattFill>
            <a:ln w="9525">
              <a:noFill/>
            </a:ln>
          </p:spPr>
          <p:txBody>
            <a:bodyPr wrap="none" anchor="ctr" anchorCtr="0"/>
            <a:lstStyle/>
            <a:p>
              <a:pPr algn="ctr"/>
              <a:r>
                <a:rPr lang="zh-CN" altLang="en-US" b="1" dirty="0">
                  <a:solidFill>
                    <a:srgbClr val="990033"/>
                  </a:solidFill>
                  <a:latin typeface="Times New Roman" panose="02020603050405020304" pitchFamily="18" charset="0"/>
                  <a:ea typeface="宋体" panose="02010600030101010101" pitchFamily="2" charset="-122"/>
                </a:rPr>
                <a:t>导带</a:t>
              </a:r>
            </a:p>
          </p:txBody>
        </p:sp>
        <p:sp>
          <p:nvSpPr>
            <p:cNvPr id="36880" name="矩形 122921"/>
            <p:cNvSpPr/>
            <p:nvPr/>
          </p:nvSpPr>
          <p:spPr>
            <a:xfrm>
              <a:off x="557" y="2387"/>
              <a:ext cx="1905" cy="635"/>
            </a:xfrm>
            <a:prstGeom prst="rect">
              <a:avLst/>
            </a:prstGeom>
            <a:pattFill prst="ltHorz">
              <a:fgClr>
                <a:schemeClr val="accent1"/>
              </a:fgClr>
              <a:bgClr>
                <a:schemeClr val="bg1"/>
              </a:bgClr>
            </a:pattFill>
            <a:ln w="9525">
              <a:noFill/>
            </a:ln>
          </p:spPr>
          <p:txBody>
            <a:bodyPr wrap="none" anchor="ctr" anchorCtr="0"/>
            <a:lstStyle/>
            <a:p>
              <a:pPr algn="ctr"/>
              <a:r>
                <a:rPr lang="zh-CN" altLang="en-US" b="1" dirty="0">
                  <a:solidFill>
                    <a:srgbClr val="990033"/>
                  </a:solidFill>
                  <a:latin typeface="Times New Roman" panose="02020603050405020304" pitchFamily="18" charset="0"/>
                  <a:ea typeface="宋体" panose="02010600030101010101" pitchFamily="2" charset="-122"/>
                </a:rPr>
                <a:t>价带</a:t>
              </a:r>
            </a:p>
          </p:txBody>
        </p:sp>
        <p:sp>
          <p:nvSpPr>
            <p:cNvPr id="36881" name="文本框 122922"/>
            <p:cNvSpPr txBox="1"/>
            <p:nvPr/>
          </p:nvSpPr>
          <p:spPr>
            <a:xfrm>
              <a:off x="1600" y="1936"/>
              <a:ext cx="358" cy="428"/>
            </a:xfrm>
            <a:prstGeom prst="rect">
              <a:avLst/>
            </a:prstGeom>
            <a:noFill/>
            <a:ln w="9525">
              <a:noFill/>
            </a:ln>
          </p:spPr>
          <p:txBody>
            <a:bodyPr wrap="none" anchor="t" anchorCtr="0">
              <a:spAutoFit/>
            </a:bodyPr>
            <a:lstStyle/>
            <a:p>
              <a:r>
                <a:rPr lang="en-US" altLang="zh-CN" sz="2400" err="1">
                  <a:latin typeface="Times New Roman" panose="02020603050405020304" pitchFamily="18" charset="0"/>
                  <a:ea typeface="宋体" panose="02010600030101010101" pitchFamily="2" charset="-122"/>
                </a:rPr>
                <a:t>Eg</a:t>
              </a:r>
              <a:endParaRPr lang="en-US" altLang="zh-CN" sz="2400">
                <a:latin typeface="Times New Roman" panose="02020603050405020304" pitchFamily="18" charset="0"/>
                <a:ea typeface="宋体" panose="02010600030101010101" pitchFamily="2" charset="-122"/>
              </a:endParaRPr>
            </a:p>
          </p:txBody>
        </p:sp>
        <p:sp>
          <p:nvSpPr>
            <p:cNvPr id="36882" name="文本框 122923"/>
            <p:cNvSpPr txBox="1"/>
            <p:nvPr/>
          </p:nvSpPr>
          <p:spPr>
            <a:xfrm>
              <a:off x="2424" y="1483"/>
              <a:ext cx="346" cy="428"/>
            </a:xfrm>
            <a:prstGeom prst="rect">
              <a:avLst/>
            </a:prstGeom>
            <a:noFill/>
            <a:ln w="9525">
              <a:noFill/>
            </a:ln>
          </p:spPr>
          <p:txBody>
            <a:bodyPr wrap="none" anchor="t" anchorCtr="0">
              <a:spAutoFit/>
            </a:bodyPr>
            <a:lstStyle/>
            <a:p>
              <a:r>
                <a:rPr lang="en-US" altLang="zh-CN" sz="2400" err="1">
                  <a:latin typeface="Times New Roman" panose="02020603050405020304" pitchFamily="18" charset="0"/>
                  <a:ea typeface="宋体" panose="02010600030101010101" pitchFamily="2" charset="-122"/>
                </a:rPr>
                <a:t>Ec</a:t>
              </a:r>
              <a:endParaRPr lang="en-US" altLang="zh-CN" sz="2400">
                <a:latin typeface="Times New Roman" panose="02020603050405020304" pitchFamily="18" charset="0"/>
                <a:ea typeface="宋体" panose="02010600030101010101" pitchFamily="2" charset="-122"/>
              </a:endParaRPr>
            </a:p>
          </p:txBody>
        </p:sp>
        <p:sp>
          <p:nvSpPr>
            <p:cNvPr id="36883" name="文本框 122924"/>
            <p:cNvSpPr txBox="1"/>
            <p:nvPr/>
          </p:nvSpPr>
          <p:spPr>
            <a:xfrm>
              <a:off x="2424" y="2299"/>
              <a:ext cx="358" cy="428"/>
            </a:xfrm>
            <a:prstGeom prst="rect">
              <a:avLst/>
            </a:prstGeom>
            <a:noFill/>
            <a:ln w="9525">
              <a:noFill/>
            </a:ln>
          </p:spPr>
          <p:txBody>
            <a:bodyPr wrap="none" anchor="t" anchorCtr="0">
              <a:spAutoFit/>
            </a:bodyPr>
            <a:lstStyle/>
            <a:p>
              <a:r>
                <a:rPr lang="en-US" altLang="zh-CN" sz="2400" err="1">
                  <a:latin typeface="Times New Roman" panose="02020603050405020304" pitchFamily="18" charset="0"/>
                  <a:ea typeface="宋体" panose="02010600030101010101" pitchFamily="2" charset="-122"/>
                </a:rPr>
                <a:t>Ev</a:t>
              </a:r>
              <a:endParaRPr lang="en-US" altLang="zh-CN" sz="2400">
                <a:latin typeface="Times New Roman" panose="02020603050405020304" pitchFamily="18" charset="0"/>
                <a:ea typeface="宋体" panose="02010600030101010101" pitchFamily="2" charset="-122"/>
              </a:endParaRPr>
            </a:p>
          </p:txBody>
        </p:sp>
        <p:sp>
          <p:nvSpPr>
            <p:cNvPr id="36884" name="直接连接符 122925"/>
            <p:cNvSpPr/>
            <p:nvPr/>
          </p:nvSpPr>
          <p:spPr>
            <a:xfrm>
              <a:off x="1600" y="1661"/>
              <a:ext cx="0" cy="772"/>
            </a:xfrm>
            <a:prstGeom prst="line">
              <a:avLst/>
            </a:prstGeom>
            <a:ln w="9525" cap="flat" cmpd="sng">
              <a:solidFill>
                <a:schemeClr val="tx1"/>
              </a:solidFill>
              <a:prstDash val="solid"/>
              <a:round/>
              <a:headEnd type="triangle" w="med" len="med"/>
              <a:tailEnd type="triangle" w="med" len="med"/>
            </a:ln>
          </p:spPr>
        </p:sp>
      </p:grpSp>
      <p:sp>
        <p:nvSpPr>
          <p:cNvPr id="36885" name="右箭头 122927"/>
          <p:cNvSpPr/>
          <p:nvPr/>
        </p:nvSpPr>
        <p:spPr>
          <a:xfrm>
            <a:off x="4356100" y="4221163"/>
            <a:ext cx="936625" cy="503237"/>
          </a:xfrm>
          <a:prstGeom prst="rightArrow">
            <a:avLst>
              <a:gd name="adj1" fmla="val 50000"/>
              <a:gd name="adj2" fmla="val 46521"/>
            </a:avLst>
          </a:prstGeom>
          <a:solidFill>
            <a:srgbClr val="FFCCCC"/>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36886" name="椭圆 122928"/>
          <p:cNvSpPr/>
          <p:nvPr/>
        </p:nvSpPr>
        <p:spPr>
          <a:xfrm>
            <a:off x="1708150" y="4868863"/>
            <a:ext cx="215900" cy="215900"/>
          </a:xfrm>
          <a:prstGeom prst="ellipse">
            <a:avLst/>
          </a:prstGeom>
          <a:solidFill>
            <a:srgbClr val="FFCCCC"/>
          </a:solidFill>
          <a:ln w="9525" cap="flat" cmpd="sng">
            <a:solidFill>
              <a:srgbClr val="FFCCCC"/>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a:t>
            </a:r>
          </a:p>
        </p:txBody>
      </p:sp>
      <p:sp>
        <p:nvSpPr>
          <p:cNvPr id="36887" name="椭圆 122929"/>
          <p:cNvSpPr/>
          <p:nvPr/>
        </p:nvSpPr>
        <p:spPr>
          <a:xfrm>
            <a:off x="2139950" y="4940300"/>
            <a:ext cx="215900" cy="215900"/>
          </a:xfrm>
          <a:prstGeom prst="ellipse">
            <a:avLst/>
          </a:prstGeom>
          <a:solidFill>
            <a:srgbClr val="FFCCCC"/>
          </a:solidFill>
          <a:ln w="9525" cap="flat" cmpd="sng">
            <a:solidFill>
              <a:srgbClr val="FFCCCC"/>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a:t>
            </a:r>
          </a:p>
        </p:txBody>
      </p:sp>
      <p:sp>
        <p:nvSpPr>
          <p:cNvPr id="36888" name="椭圆 122930"/>
          <p:cNvSpPr/>
          <p:nvPr/>
        </p:nvSpPr>
        <p:spPr>
          <a:xfrm>
            <a:off x="1708150" y="4076700"/>
            <a:ext cx="215900" cy="215900"/>
          </a:xfrm>
          <a:prstGeom prst="ellipse">
            <a:avLst/>
          </a:prstGeom>
          <a:solidFill>
            <a:srgbClr val="FF0000"/>
          </a:solidFill>
          <a:ln w="9525" cap="flat" cmpd="sng">
            <a:solidFill>
              <a:srgbClr val="FFCCCC"/>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a:t>
            </a:r>
          </a:p>
        </p:txBody>
      </p:sp>
      <p:sp>
        <p:nvSpPr>
          <p:cNvPr id="36889" name="椭圆 122931"/>
          <p:cNvSpPr/>
          <p:nvPr/>
        </p:nvSpPr>
        <p:spPr>
          <a:xfrm>
            <a:off x="2068513" y="4005263"/>
            <a:ext cx="215900" cy="215900"/>
          </a:xfrm>
          <a:prstGeom prst="ellipse">
            <a:avLst/>
          </a:prstGeom>
          <a:solidFill>
            <a:srgbClr val="FF0000"/>
          </a:solidFill>
          <a:ln w="9525" cap="flat" cmpd="sng">
            <a:solidFill>
              <a:srgbClr val="FFCCCC"/>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a:t>
            </a:r>
          </a:p>
        </p:txBody>
      </p:sp>
      <p:sp>
        <p:nvSpPr>
          <p:cNvPr id="36890" name="直接连接符 122932"/>
          <p:cNvSpPr/>
          <p:nvPr/>
        </p:nvSpPr>
        <p:spPr>
          <a:xfrm flipH="1" flipV="1">
            <a:off x="1547813" y="4149725"/>
            <a:ext cx="0" cy="792163"/>
          </a:xfrm>
          <a:prstGeom prst="line">
            <a:avLst/>
          </a:prstGeom>
          <a:ln w="38100" cap="flat" cmpd="sng">
            <a:solidFill>
              <a:srgbClr val="996600"/>
            </a:solidFill>
            <a:prstDash val="solid"/>
            <a:round/>
            <a:headEnd type="none" w="med" len="med"/>
            <a:tailEnd type="triangle" w="med" len="me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矩形 42059"/>
          <p:cNvSpPr/>
          <p:nvPr/>
        </p:nvSpPr>
        <p:spPr>
          <a:xfrm>
            <a:off x="827088" y="1484313"/>
            <a:ext cx="7704137" cy="2592387"/>
          </a:xfrm>
          <a:prstGeom prst="rect">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37890" name="文本占位符 42033"/>
          <p:cNvSpPr>
            <a:spLocks noGrp="1"/>
          </p:cNvSpPr>
          <p:nvPr>
            <p:ph idx="1"/>
          </p:nvPr>
        </p:nvSpPr>
        <p:spPr>
          <a:xfrm>
            <a:off x="468313" y="4652963"/>
            <a:ext cx="4392612" cy="1512887"/>
          </a:xfrm>
        </p:spPr>
        <p:txBody>
          <a:bodyPr anchor="t" anchorCtr="0"/>
          <a:lstStyle/>
          <a:p>
            <a:pPr>
              <a:lnSpc>
                <a:spcPct val="80000"/>
              </a:lnSpc>
            </a:pPr>
            <a:r>
              <a:rPr lang="zh-CN" altLang="en-US" sz="2800" b="1" dirty="0"/>
              <a:t>绝缘体的禁带宽度：</a:t>
            </a:r>
            <a:r>
              <a:rPr lang="en-US" altLang="zh-CN" sz="2800" b="1"/>
              <a:t>6~7ev</a:t>
            </a:r>
          </a:p>
          <a:p>
            <a:pPr>
              <a:lnSpc>
                <a:spcPct val="80000"/>
              </a:lnSpc>
            </a:pPr>
            <a:r>
              <a:rPr lang="zh-CN" altLang="en-US" sz="2800" b="1" dirty="0"/>
              <a:t>半导体的禁带宽度：</a:t>
            </a:r>
            <a:r>
              <a:rPr lang="en-US" altLang="zh-CN" sz="2800" b="1"/>
              <a:t>1~3ev</a:t>
            </a:r>
          </a:p>
        </p:txBody>
      </p:sp>
      <p:grpSp>
        <p:nvGrpSpPr>
          <p:cNvPr id="37891" name="组合 42043"/>
          <p:cNvGrpSpPr/>
          <p:nvPr/>
        </p:nvGrpSpPr>
        <p:grpSpPr>
          <a:xfrm>
            <a:off x="1546225" y="1843088"/>
            <a:ext cx="6119813" cy="1928812"/>
            <a:chOff x="930" y="2660"/>
            <a:chExt cx="3855" cy="1215"/>
          </a:xfrm>
        </p:grpSpPr>
        <p:sp>
          <p:nvSpPr>
            <p:cNvPr id="37892" name="矩形 42044"/>
            <p:cNvSpPr/>
            <p:nvPr/>
          </p:nvSpPr>
          <p:spPr>
            <a:xfrm>
              <a:off x="3878" y="2932"/>
              <a:ext cx="907" cy="227"/>
            </a:xfrm>
            <a:prstGeom prst="rect">
              <a:avLst/>
            </a:prstGeom>
            <a:pattFill prst="ltUpDiag">
              <a:fgClr>
                <a:schemeClr val="accent1"/>
              </a:fgClr>
              <a:bgClr>
                <a:schemeClr val="bg1"/>
              </a:bgClr>
            </a:pattFill>
            <a:ln w="9525">
              <a:noFill/>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37893" name="矩形 42045"/>
            <p:cNvSpPr/>
            <p:nvPr/>
          </p:nvSpPr>
          <p:spPr>
            <a:xfrm>
              <a:off x="3878" y="2751"/>
              <a:ext cx="907" cy="227"/>
            </a:xfrm>
            <a:prstGeom prst="rect">
              <a:avLst/>
            </a:prstGeom>
            <a:solidFill>
              <a:srgbClr val="EAFD37"/>
            </a:solidFill>
            <a:ln w="9525">
              <a:noFill/>
            </a:ln>
          </p:spPr>
          <p:txBody>
            <a:bodyPr wrap="none" anchor="ctr" anchorCtr="0"/>
            <a:lstStyle/>
            <a:p>
              <a:pPr algn="ctr"/>
              <a:r>
                <a:rPr lang="zh-CN" altLang="en-US" b="1" dirty="0">
                  <a:solidFill>
                    <a:srgbClr val="A50021"/>
                  </a:solidFill>
                  <a:latin typeface="Times New Roman" panose="02020603050405020304" pitchFamily="18" charset="0"/>
                  <a:ea typeface="宋体" panose="02010600030101010101" pitchFamily="2" charset="-122"/>
                </a:rPr>
                <a:t>半满带</a:t>
              </a:r>
            </a:p>
          </p:txBody>
        </p:sp>
        <p:sp>
          <p:nvSpPr>
            <p:cNvPr id="37894" name="矩形 42046"/>
            <p:cNvSpPr/>
            <p:nvPr/>
          </p:nvSpPr>
          <p:spPr>
            <a:xfrm>
              <a:off x="930" y="3340"/>
              <a:ext cx="907" cy="227"/>
            </a:xfrm>
            <a:prstGeom prst="rect">
              <a:avLst/>
            </a:prstGeom>
            <a:pattFill prst="ltUpDiag">
              <a:fgClr>
                <a:schemeClr val="accent1"/>
              </a:fgClr>
              <a:bgClr>
                <a:schemeClr val="bg1"/>
              </a:bgClr>
            </a:pattFill>
            <a:ln w="9525">
              <a:noFill/>
            </a:ln>
          </p:spPr>
          <p:txBody>
            <a:bodyPr wrap="none" anchor="ctr" anchorCtr="0"/>
            <a:lstStyle/>
            <a:p>
              <a:pPr algn="ctr"/>
              <a:r>
                <a:rPr lang="zh-CN" altLang="en-US" b="1" dirty="0">
                  <a:solidFill>
                    <a:srgbClr val="A50021"/>
                  </a:solidFill>
                  <a:latin typeface="Times New Roman" panose="02020603050405020304" pitchFamily="18" charset="0"/>
                  <a:ea typeface="宋体" panose="02010600030101010101" pitchFamily="2" charset="-122"/>
                </a:rPr>
                <a:t>价带</a:t>
              </a:r>
            </a:p>
          </p:txBody>
        </p:sp>
        <p:sp>
          <p:nvSpPr>
            <p:cNvPr id="37895" name="矩形 42047"/>
            <p:cNvSpPr/>
            <p:nvPr/>
          </p:nvSpPr>
          <p:spPr>
            <a:xfrm>
              <a:off x="930" y="2660"/>
              <a:ext cx="907" cy="227"/>
            </a:xfrm>
            <a:prstGeom prst="rect">
              <a:avLst/>
            </a:prstGeom>
            <a:solidFill>
              <a:srgbClr val="EAFD37"/>
            </a:solidFill>
            <a:ln w="9525">
              <a:noFill/>
            </a:ln>
          </p:spPr>
          <p:txBody>
            <a:bodyPr wrap="none" anchor="ctr" anchorCtr="0"/>
            <a:lstStyle/>
            <a:p>
              <a:pPr algn="ctr"/>
              <a:r>
                <a:rPr lang="zh-CN" altLang="en-US" b="1" dirty="0">
                  <a:solidFill>
                    <a:srgbClr val="A50021"/>
                  </a:solidFill>
                  <a:latin typeface="Times New Roman" panose="02020603050405020304" pitchFamily="18" charset="0"/>
                  <a:ea typeface="宋体" panose="02010600030101010101" pitchFamily="2" charset="-122"/>
                </a:rPr>
                <a:t>导带</a:t>
              </a:r>
            </a:p>
          </p:txBody>
        </p:sp>
        <p:sp>
          <p:nvSpPr>
            <p:cNvPr id="37896" name="文本框 42048"/>
            <p:cNvSpPr txBox="1"/>
            <p:nvPr/>
          </p:nvSpPr>
          <p:spPr>
            <a:xfrm>
              <a:off x="1157" y="2977"/>
              <a:ext cx="404" cy="231"/>
            </a:xfrm>
            <a:prstGeom prst="rect">
              <a:avLst/>
            </a:prstGeom>
            <a:noFill/>
            <a:ln w="9525">
              <a:noFill/>
            </a:ln>
          </p:spPr>
          <p:txBody>
            <a:bodyPr wrap="none" anchor="t" anchorCtr="0">
              <a:spAutoFit/>
            </a:bodyPr>
            <a:lstStyle/>
            <a:p>
              <a:r>
                <a:rPr lang="zh-CN" altLang="en-US" b="1" dirty="0">
                  <a:latin typeface="Times New Roman" panose="02020603050405020304" pitchFamily="18" charset="0"/>
                  <a:ea typeface="宋体" panose="02010600030101010101" pitchFamily="2" charset="-122"/>
                </a:rPr>
                <a:t>禁带</a:t>
              </a:r>
            </a:p>
          </p:txBody>
        </p:sp>
        <p:sp>
          <p:nvSpPr>
            <p:cNvPr id="37897" name="矩形 42049"/>
            <p:cNvSpPr/>
            <p:nvPr/>
          </p:nvSpPr>
          <p:spPr>
            <a:xfrm>
              <a:off x="2426" y="3340"/>
              <a:ext cx="907" cy="227"/>
            </a:xfrm>
            <a:prstGeom prst="rect">
              <a:avLst/>
            </a:prstGeom>
            <a:pattFill prst="ltUpDiag">
              <a:fgClr>
                <a:schemeClr val="accent1"/>
              </a:fgClr>
              <a:bgClr>
                <a:schemeClr val="bg1"/>
              </a:bgClr>
            </a:pattFill>
            <a:ln w="9525">
              <a:noFill/>
            </a:ln>
          </p:spPr>
          <p:txBody>
            <a:bodyPr wrap="none" anchor="ctr" anchorCtr="0"/>
            <a:lstStyle/>
            <a:p>
              <a:pPr algn="ctr"/>
              <a:r>
                <a:rPr lang="zh-CN" altLang="en-US" b="1" dirty="0">
                  <a:solidFill>
                    <a:srgbClr val="A50021"/>
                  </a:solidFill>
                  <a:latin typeface="Times New Roman" panose="02020603050405020304" pitchFamily="18" charset="0"/>
                  <a:ea typeface="宋体" panose="02010600030101010101" pitchFamily="2" charset="-122"/>
                </a:rPr>
                <a:t>价带</a:t>
              </a:r>
            </a:p>
          </p:txBody>
        </p:sp>
        <p:sp>
          <p:nvSpPr>
            <p:cNvPr id="37898" name="矩形 42050"/>
            <p:cNvSpPr/>
            <p:nvPr/>
          </p:nvSpPr>
          <p:spPr>
            <a:xfrm>
              <a:off x="2426" y="2932"/>
              <a:ext cx="907" cy="227"/>
            </a:xfrm>
            <a:prstGeom prst="rect">
              <a:avLst/>
            </a:prstGeom>
            <a:solidFill>
              <a:srgbClr val="EAFD37"/>
            </a:solidFill>
            <a:ln w="9525">
              <a:noFill/>
            </a:ln>
          </p:spPr>
          <p:txBody>
            <a:bodyPr wrap="none" anchor="ctr" anchorCtr="0"/>
            <a:lstStyle/>
            <a:p>
              <a:pPr algn="ctr"/>
              <a:r>
                <a:rPr lang="zh-CN" altLang="en-US" b="1" dirty="0">
                  <a:solidFill>
                    <a:srgbClr val="A50021"/>
                  </a:solidFill>
                  <a:latin typeface="Times New Roman" panose="02020603050405020304" pitchFamily="18" charset="0"/>
                  <a:ea typeface="宋体" panose="02010600030101010101" pitchFamily="2" charset="-122"/>
                </a:rPr>
                <a:t>导带</a:t>
              </a:r>
            </a:p>
          </p:txBody>
        </p:sp>
        <p:sp>
          <p:nvSpPr>
            <p:cNvPr id="37899" name="文本框 42051"/>
            <p:cNvSpPr txBox="1"/>
            <p:nvPr/>
          </p:nvSpPr>
          <p:spPr>
            <a:xfrm>
              <a:off x="4105" y="3154"/>
              <a:ext cx="404" cy="231"/>
            </a:xfrm>
            <a:prstGeom prst="rect">
              <a:avLst/>
            </a:prstGeom>
            <a:noFill/>
            <a:ln w="9525">
              <a:noFill/>
            </a:ln>
          </p:spPr>
          <p:txBody>
            <a:bodyPr wrap="none" anchor="t" anchorCtr="0">
              <a:spAutoFit/>
            </a:bodyPr>
            <a:lstStyle/>
            <a:p>
              <a:r>
                <a:rPr lang="zh-CN" altLang="en-US" b="1" dirty="0">
                  <a:latin typeface="Times New Roman" panose="02020603050405020304" pitchFamily="18" charset="0"/>
                  <a:ea typeface="宋体" panose="02010600030101010101" pitchFamily="2" charset="-122"/>
                </a:rPr>
                <a:t>禁带</a:t>
              </a:r>
            </a:p>
          </p:txBody>
        </p:sp>
        <p:sp>
          <p:nvSpPr>
            <p:cNvPr id="37900" name="矩形 42052"/>
            <p:cNvSpPr/>
            <p:nvPr/>
          </p:nvSpPr>
          <p:spPr>
            <a:xfrm>
              <a:off x="3878" y="3340"/>
              <a:ext cx="907" cy="227"/>
            </a:xfrm>
            <a:prstGeom prst="rect">
              <a:avLst/>
            </a:prstGeom>
            <a:pattFill prst="ltUpDiag">
              <a:fgClr>
                <a:schemeClr val="accent1"/>
              </a:fgClr>
              <a:bgClr>
                <a:schemeClr val="bg1"/>
              </a:bgClr>
            </a:pattFill>
            <a:ln w="9525">
              <a:noFill/>
            </a:ln>
          </p:spPr>
          <p:txBody>
            <a:bodyPr wrap="none" anchor="ctr" anchorCtr="0"/>
            <a:lstStyle/>
            <a:p>
              <a:pPr algn="ctr"/>
              <a:r>
                <a:rPr lang="zh-CN" altLang="en-US" b="1" dirty="0">
                  <a:solidFill>
                    <a:srgbClr val="A50021"/>
                  </a:solidFill>
                  <a:latin typeface="Times New Roman" panose="02020603050405020304" pitchFamily="18" charset="0"/>
                  <a:ea typeface="宋体" panose="02010600030101010101" pitchFamily="2" charset="-122"/>
                </a:rPr>
                <a:t>满带</a:t>
              </a:r>
              <a:r>
                <a:rPr lang="en-US" altLang="zh-CN" b="1" dirty="0">
                  <a:solidFill>
                    <a:srgbClr val="A50021"/>
                  </a:solidFill>
                  <a:latin typeface="Times New Roman" panose="02020603050405020304" pitchFamily="18" charset="0"/>
                  <a:ea typeface="宋体" panose="02010600030101010101" pitchFamily="2" charset="-122"/>
                </a:rPr>
                <a:t>(</a:t>
              </a:r>
              <a:r>
                <a:rPr lang="zh-CN" altLang="en-US" b="1" dirty="0">
                  <a:solidFill>
                    <a:srgbClr val="A50021"/>
                  </a:solidFill>
                  <a:latin typeface="Times New Roman" panose="02020603050405020304" pitchFamily="18" charset="0"/>
                  <a:ea typeface="宋体" panose="02010600030101010101" pitchFamily="2" charset="-122"/>
                </a:rPr>
                <a:t>价带</a:t>
              </a:r>
              <a:r>
                <a:rPr lang="en-US" altLang="zh-CN" b="1">
                  <a:solidFill>
                    <a:srgbClr val="A50021"/>
                  </a:solidFill>
                  <a:latin typeface="Times New Roman" panose="02020603050405020304" pitchFamily="18" charset="0"/>
                  <a:ea typeface="宋体" panose="02010600030101010101" pitchFamily="2" charset="-122"/>
                </a:rPr>
                <a:t>)</a:t>
              </a:r>
            </a:p>
          </p:txBody>
        </p:sp>
        <p:sp>
          <p:nvSpPr>
            <p:cNvPr id="37901" name="文本框 42053"/>
            <p:cNvSpPr txBox="1"/>
            <p:nvPr/>
          </p:nvSpPr>
          <p:spPr>
            <a:xfrm>
              <a:off x="2653" y="3113"/>
              <a:ext cx="404" cy="231"/>
            </a:xfrm>
            <a:prstGeom prst="rect">
              <a:avLst/>
            </a:prstGeom>
            <a:noFill/>
            <a:ln w="9525">
              <a:noFill/>
            </a:ln>
          </p:spPr>
          <p:txBody>
            <a:bodyPr wrap="none" anchor="t" anchorCtr="0">
              <a:spAutoFit/>
            </a:bodyPr>
            <a:lstStyle/>
            <a:p>
              <a:r>
                <a:rPr lang="zh-CN" altLang="en-US" b="1" dirty="0">
                  <a:latin typeface="Times New Roman" panose="02020603050405020304" pitchFamily="18" charset="0"/>
                  <a:ea typeface="宋体" panose="02010600030101010101" pitchFamily="2" charset="-122"/>
                </a:rPr>
                <a:t>禁带</a:t>
              </a:r>
            </a:p>
          </p:txBody>
        </p:sp>
        <p:sp>
          <p:nvSpPr>
            <p:cNvPr id="37902" name="文本框 42054"/>
            <p:cNvSpPr txBox="1"/>
            <p:nvPr/>
          </p:nvSpPr>
          <p:spPr>
            <a:xfrm>
              <a:off x="1111" y="3596"/>
              <a:ext cx="596" cy="250"/>
            </a:xfrm>
            <a:prstGeom prst="rect">
              <a:avLst/>
            </a:prstGeom>
            <a:noFill/>
            <a:ln w="9525">
              <a:noFill/>
            </a:ln>
          </p:spPr>
          <p:txBody>
            <a:bodyPr wrap="none" anchor="t" anchorCtr="0">
              <a:spAutoFit/>
            </a:bodyPr>
            <a:lstStyle/>
            <a:p>
              <a:r>
                <a:rPr lang="zh-CN" altLang="en-US" sz="2000" b="1" dirty="0">
                  <a:solidFill>
                    <a:srgbClr val="FF0000"/>
                  </a:solidFill>
                  <a:latin typeface="Times New Roman" panose="02020603050405020304" pitchFamily="18" charset="0"/>
                  <a:ea typeface="宋体" panose="02010600030101010101" pitchFamily="2" charset="-122"/>
                </a:rPr>
                <a:t>绝缘体</a:t>
              </a:r>
            </a:p>
          </p:txBody>
        </p:sp>
        <p:sp>
          <p:nvSpPr>
            <p:cNvPr id="37903" name="文本框 42055"/>
            <p:cNvSpPr txBox="1"/>
            <p:nvPr/>
          </p:nvSpPr>
          <p:spPr>
            <a:xfrm>
              <a:off x="2607" y="3625"/>
              <a:ext cx="596" cy="250"/>
            </a:xfrm>
            <a:prstGeom prst="rect">
              <a:avLst/>
            </a:prstGeom>
            <a:noFill/>
            <a:ln w="9525">
              <a:noFill/>
            </a:ln>
          </p:spPr>
          <p:txBody>
            <a:bodyPr wrap="none" anchor="t" anchorCtr="0">
              <a:spAutoFit/>
            </a:bodyPr>
            <a:lstStyle/>
            <a:p>
              <a:r>
                <a:rPr lang="zh-CN" altLang="en-US" sz="2000" b="1" dirty="0">
                  <a:solidFill>
                    <a:srgbClr val="FF0000"/>
                  </a:solidFill>
                  <a:latin typeface="Times New Roman" panose="02020603050405020304" pitchFamily="18" charset="0"/>
                  <a:ea typeface="宋体" panose="02010600030101010101" pitchFamily="2" charset="-122"/>
                </a:rPr>
                <a:t>半导体</a:t>
              </a:r>
            </a:p>
          </p:txBody>
        </p:sp>
        <p:sp>
          <p:nvSpPr>
            <p:cNvPr id="37904" name="文本框 42056"/>
            <p:cNvSpPr txBox="1"/>
            <p:nvPr/>
          </p:nvSpPr>
          <p:spPr>
            <a:xfrm>
              <a:off x="4141" y="3625"/>
              <a:ext cx="436" cy="250"/>
            </a:xfrm>
            <a:prstGeom prst="rect">
              <a:avLst/>
            </a:prstGeom>
            <a:noFill/>
            <a:ln w="9525">
              <a:noFill/>
            </a:ln>
          </p:spPr>
          <p:txBody>
            <a:bodyPr wrap="none" anchor="t" anchorCtr="0">
              <a:spAutoFit/>
            </a:bodyPr>
            <a:lstStyle/>
            <a:p>
              <a:r>
                <a:rPr lang="zh-CN" altLang="en-US" sz="2000" b="1" dirty="0">
                  <a:solidFill>
                    <a:srgbClr val="FF0000"/>
                  </a:solidFill>
                  <a:latin typeface="Times New Roman" panose="02020603050405020304" pitchFamily="18" charset="0"/>
                  <a:ea typeface="宋体" panose="02010600030101010101" pitchFamily="2" charset="-122"/>
                </a:rPr>
                <a:t>导体</a:t>
              </a:r>
            </a:p>
          </p:txBody>
        </p:sp>
      </p:grpSp>
      <p:sp>
        <p:nvSpPr>
          <p:cNvPr id="37905" name="矩形 42057"/>
          <p:cNvSpPr/>
          <p:nvPr/>
        </p:nvSpPr>
        <p:spPr>
          <a:xfrm>
            <a:off x="684213" y="546100"/>
            <a:ext cx="5467350" cy="579438"/>
          </a:xfrm>
          <a:prstGeom prst="rect">
            <a:avLst/>
          </a:prstGeom>
          <a:noFill/>
          <a:ln w="9525">
            <a:noFill/>
          </a:ln>
        </p:spPr>
        <p:txBody>
          <a:bodyPr wrap="none" anchor="t" anchorCtr="0">
            <a:spAutoFit/>
          </a:bodyPr>
          <a:lstStyle/>
          <a:p>
            <a:r>
              <a:rPr lang="zh-CN" altLang="en-US" sz="3200" b="1" dirty="0">
                <a:solidFill>
                  <a:srgbClr val="990033"/>
                </a:solidFill>
                <a:latin typeface="Times New Roman" panose="02020603050405020304" pitchFamily="18" charset="0"/>
                <a:ea typeface="宋体" panose="02010600030101010101" pitchFamily="2" charset="-122"/>
              </a:rPr>
              <a:t>导体、绝缘体和半导体的能带</a:t>
            </a:r>
          </a:p>
        </p:txBody>
      </p:sp>
      <p:sp>
        <p:nvSpPr>
          <p:cNvPr id="37906" name="矩形 42058"/>
          <p:cNvSpPr/>
          <p:nvPr/>
        </p:nvSpPr>
        <p:spPr>
          <a:xfrm>
            <a:off x="4787900" y="4508500"/>
            <a:ext cx="3960813" cy="1800225"/>
          </a:xfrm>
          <a:prstGeom prst="rect">
            <a:avLst/>
          </a:prstGeom>
          <a:noFill/>
          <a:ln w="9525">
            <a:noFill/>
          </a:ln>
        </p:spPr>
        <p:txBody>
          <a:bodyPr anchor="t" anchorCtr="0">
            <a:spAutoFit/>
          </a:bodyPr>
          <a:lstStyle/>
          <a:p>
            <a:r>
              <a:rPr lang="zh-CN" altLang="en-US" sz="2800" b="1" dirty="0">
                <a:latin typeface="Times New Roman" panose="02020603050405020304" pitchFamily="18" charset="0"/>
                <a:ea typeface="宋体" panose="02010600030101010101" pitchFamily="2" charset="-122"/>
              </a:rPr>
              <a:t>常温下：</a:t>
            </a:r>
          </a:p>
          <a:p>
            <a:pPr lvl="1" indent="0"/>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rPr>
              <a:t>Si</a:t>
            </a:r>
            <a:r>
              <a:rPr lang="zh-CN" altLang="en-US" sz="2800" b="1" dirty="0">
                <a:latin typeface="Times New Roman" panose="02020603050405020304" pitchFamily="18" charset="0"/>
                <a:ea typeface="宋体" panose="02010600030101010101" pitchFamily="2" charset="-122"/>
              </a:rPr>
              <a:t>：</a:t>
            </a:r>
            <a:r>
              <a:rPr lang="en-US" altLang="zh-CN" sz="2800" b="1" err="1">
                <a:latin typeface="Times New Roman" panose="02020603050405020304" pitchFamily="18" charset="0"/>
                <a:ea typeface="宋体" panose="02010600030101010101" pitchFamily="2" charset="-122"/>
              </a:rPr>
              <a:t>Eg</a:t>
            </a:r>
            <a:r>
              <a:rPr lang="en-US" altLang="zh-CN" sz="2800" b="1">
                <a:latin typeface="Times New Roman" panose="02020603050405020304" pitchFamily="18" charset="0"/>
                <a:ea typeface="宋体" panose="02010600030101010101" pitchFamily="2" charset="-122"/>
              </a:rPr>
              <a:t>=1.12ev</a:t>
            </a:r>
          </a:p>
          <a:p>
            <a:pPr lvl="1" indent="0"/>
            <a:r>
              <a:rPr lang="en-US" altLang="zh-CN" sz="2800" b="1" err="1">
                <a:latin typeface="Times New Roman" panose="02020603050405020304" pitchFamily="18" charset="0"/>
                <a:ea typeface="宋体" panose="02010600030101010101" pitchFamily="2" charset="-122"/>
              </a:rPr>
              <a:t>       Ge: Eg</a:t>
            </a:r>
            <a:r>
              <a:rPr lang="en-US" altLang="zh-CN" sz="2800" b="1">
                <a:latin typeface="Times New Roman" panose="02020603050405020304" pitchFamily="18" charset="0"/>
                <a:ea typeface="宋体" panose="02010600030101010101" pitchFamily="2" charset="-122"/>
              </a:rPr>
              <a:t>=0.67ev                                                                            </a:t>
            </a:r>
          </a:p>
          <a:p>
            <a:pPr lvl="1" indent="0"/>
            <a:r>
              <a:rPr lang="en-US" altLang="zh-CN" sz="2800" b="1" err="1">
                <a:latin typeface="Times New Roman" panose="02020603050405020304" pitchFamily="18" charset="0"/>
                <a:ea typeface="宋体" panose="02010600030101010101" pitchFamily="2" charset="-122"/>
              </a:rPr>
              <a:t>       GaAs:  Eg</a:t>
            </a:r>
            <a:r>
              <a:rPr lang="en-US" altLang="zh-CN" sz="2800" b="1">
                <a:latin typeface="Times New Roman" panose="02020603050405020304" pitchFamily="18" charset="0"/>
                <a:ea typeface="宋体" panose="02010600030101010101" pitchFamily="2" charset="-122"/>
              </a:rPr>
              <a:t> =1.43ev</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文本框 184323"/>
          <p:cNvSpPr txBox="1"/>
          <p:nvPr/>
        </p:nvSpPr>
        <p:spPr>
          <a:xfrm>
            <a:off x="468313" y="404813"/>
            <a:ext cx="8280400" cy="641350"/>
          </a:xfrm>
          <a:prstGeom prst="rect">
            <a:avLst/>
          </a:prstGeom>
          <a:noFill/>
          <a:ln w="12700">
            <a:noFill/>
          </a:ln>
        </p:spPr>
        <p:txBody>
          <a:bodyPr anchor="t" anchorCtr="0">
            <a:spAutoFit/>
          </a:bodyPr>
          <a:lstStyle/>
          <a:p>
            <a:r>
              <a:rPr lang="zh-CN" altLang="en-US" sz="3600" b="1" dirty="0">
                <a:latin typeface="Tahoma" panose="020B0604030504040204" pitchFamily="34" charset="0"/>
                <a:ea typeface="宋体" panose="02010600030101010101" pitchFamily="2" charset="-122"/>
              </a:rPr>
              <a:t>§</a:t>
            </a:r>
            <a:r>
              <a:rPr lang="en-US" altLang="zh-CN" sz="3600" b="1" dirty="0">
                <a:latin typeface="Tahoma" panose="020B0604030504040204" pitchFamily="34" charset="0"/>
                <a:ea typeface="宋体" panose="02010600030101010101" pitchFamily="2" charset="-122"/>
              </a:rPr>
              <a:t>1.3   </a:t>
            </a:r>
            <a:r>
              <a:rPr lang="zh-CN" altLang="en-US" sz="3600" b="1" dirty="0">
                <a:latin typeface="Tahoma" panose="020B0604030504040204" pitchFamily="34" charset="0"/>
                <a:ea typeface="宋体" panose="02010600030101010101" pitchFamily="2" charset="-122"/>
              </a:rPr>
              <a:t>半导体中电子的运动  有效质量</a:t>
            </a:r>
          </a:p>
        </p:txBody>
      </p:sp>
      <p:sp>
        <p:nvSpPr>
          <p:cNvPr id="38914" name="文本占位符 184324"/>
          <p:cNvSpPr>
            <a:spLocks noGrp="1"/>
          </p:cNvSpPr>
          <p:nvPr>
            <p:ph idx="1"/>
          </p:nvPr>
        </p:nvSpPr>
        <p:spPr>
          <a:xfrm>
            <a:off x="250825" y="1196975"/>
            <a:ext cx="5541963" cy="3954463"/>
          </a:xfrm>
        </p:spPr>
        <p:txBody>
          <a:bodyPr anchor="t" anchorCtr="0"/>
          <a:lstStyle/>
          <a:p>
            <a:pPr marL="571500" indent="-571500">
              <a:buClr>
                <a:schemeClr val="bg2"/>
              </a:buClr>
              <a:buSzPct val="75000"/>
              <a:buFont typeface="Wingdings" panose="05000000000000000000" pitchFamily="2" charset="2"/>
              <a:buNone/>
            </a:pPr>
            <a:r>
              <a:rPr lang="zh-CN" altLang="en-US" b="1" dirty="0">
                <a:solidFill>
                  <a:srgbClr val="990033"/>
                </a:solidFill>
              </a:rPr>
              <a:t>半导体导带中</a:t>
            </a:r>
            <a:r>
              <a:rPr lang="en-US" altLang="zh-CN" b="1" dirty="0">
                <a:solidFill>
                  <a:srgbClr val="990033"/>
                </a:solidFill>
              </a:rPr>
              <a:t>E(k)</a:t>
            </a:r>
            <a:r>
              <a:rPr lang="zh-CN" altLang="en-US" b="1" dirty="0">
                <a:solidFill>
                  <a:srgbClr val="990033"/>
                </a:solidFill>
              </a:rPr>
              <a:t>与</a:t>
            </a:r>
            <a:r>
              <a:rPr lang="en-US" altLang="zh-CN" b="1" dirty="0">
                <a:solidFill>
                  <a:srgbClr val="990033"/>
                </a:solidFill>
              </a:rPr>
              <a:t>k</a:t>
            </a:r>
            <a:r>
              <a:rPr lang="zh-CN" altLang="en-US" b="1" dirty="0">
                <a:solidFill>
                  <a:srgbClr val="990033"/>
                </a:solidFill>
              </a:rPr>
              <a:t>的关系</a:t>
            </a:r>
          </a:p>
          <a:p>
            <a:pPr marL="571500" indent="-571500">
              <a:buClr>
                <a:schemeClr val="bg2"/>
              </a:buClr>
              <a:buSzPct val="75000"/>
              <a:buFont typeface="Wingdings" panose="05000000000000000000" pitchFamily="2" charset="2"/>
            </a:pPr>
            <a:endParaRPr lang="zh-CN" altLang="en-US" sz="2800" b="1" dirty="0"/>
          </a:p>
          <a:p>
            <a:pPr marL="571500" indent="-571500">
              <a:buClr>
                <a:schemeClr val="bg2"/>
              </a:buClr>
              <a:buSzPct val="75000"/>
              <a:buFont typeface="Wingdings" panose="05000000000000000000" pitchFamily="2" charset="2"/>
            </a:pPr>
            <a:r>
              <a:rPr lang="zh-CN" altLang="en-US" sz="2400" b="1" dirty="0"/>
              <a:t>定性关系：如图</a:t>
            </a:r>
          </a:p>
          <a:p>
            <a:pPr marL="571500" indent="-571500">
              <a:buClr>
                <a:schemeClr val="bg2"/>
              </a:buClr>
              <a:buSzPct val="75000"/>
              <a:buFont typeface="Wingdings" panose="05000000000000000000" pitchFamily="2" charset="2"/>
            </a:pPr>
            <a:r>
              <a:rPr lang="zh-CN" altLang="en-US" sz="2400" b="1" dirty="0"/>
              <a:t>定量关系：</a:t>
            </a:r>
          </a:p>
          <a:p>
            <a:pPr marL="571500" indent="-571500">
              <a:buClr>
                <a:schemeClr val="bg2"/>
              </a:buClr>
              <a:buSzPct val="75000"/>
              <a:buFont typeface="Wingdings" panose="05000000000000000000" pitchFamily="2" charset="2"/>
              <a:buNone/>
            </a:pPr>
            <a:r>
              <a:rPr lang="zh-CN" altLang="en-US" sz="2400" b="1"/>
              <a:t>	</a:t>
            </a:r>
          </a:p>
          <a:p>
            <a:pPr marL="571500" indent="-571500">
              <a:buClr>
                <a:schemeClr val="bg2"/>
              </a:buClr>
              <a:buSzPct val="75000"/>
              <a:buFont typeface="Wingdings" panose="05000000000000000000" pitchFamily="2" charset="2"/>
              <a:buNone/>
            </a:pPr>
            <a:r>
              <a:rPr lang="zh-CN" altLang="en-US" sz="2400" b="1"/>
              <a:t>	</a:t>
            </a:r>
            <a:r>
              <a:rPr lang="en-US" altLang="zh-CN" b="1" err="1"/>
              <a:t>E(k</a:t>
            </a:r>
            <a:r>
              <a:rPr lang="en-US" altLang="zh-CN" b="1" dirty="0"/>
              <a:t>)</a:t>
            </a:r>
            <a:r>
              <a:rPr lang="zh-CN" altLang="en-US" b="1" dirty="0"/>
              <a:t>函数</a:t>
            </a:r>
          </a:p>
        </p:txBody>
      </p:sp>
      <p:grpSp>
        <p:nvGrpSpPr>
          <p:cNvPr id="38915" name="组合 184325"/>
          <p:cNvGrpSpPr/>
          <p:nvPr/>
        </p:nvGrpSpPr>
        <p:grpSpPr>
          <a:xfrm>
            <a:off x="3132138" y="1504950"/>
            <a:ext cx="4208462" cy="3825875"/>
            <a:chOff x="385" y="1117"/>
            <a:chExt cx="2651" cy="2410"/>
          </a:xfrm>
        </p:grpSpPr>
        <p:sp>
          <p:nvSpPr>
            <p:cNvPr id="38916" name="直接连接符 184326"/>
            <p:cNvSpPr/>
            <p:nvPr/>
          </p:nvSpPr>
          <p:spPr>
            <a:xfrm>
              <a:off x="533" y="3250"/>
              <a:ext cx="2297" cy="0"/>
            </a:xfrm>
            <a:prstGeom prst="line">
              <a:avLst/>
            </a:prstGeom>
            <a:ln w="9525" cap="flat" cmpd="sng">
              <a:solidFill>
                <a:schemeClr val="tx1"/>
              </a:solidFill>
              <a:prstDash val="solid"/>
              <a:miter/>
              <a:headEnd type="none" w="med" len="med"/>
              <a:tailEnd type="none" w="med" len="med"/>
            </a:ln>
          </p:spPr>
        </p:sp>
        <p:sp>
          <p:nvSpPr>
            <p:cNvPr id="38917" name="直接连接符 184327"/>
            <p:cNvSpPr/>
            <p:nvPr/>
          </p:nvSpPr>
          <p:spPr>
            <a:xfrm flipH="1" flipV="1">
              <a:off x="1607" y="1189"/>
              <a:ext cx="3" cy="2332"/>
            </a:xfrm>
            <a:prstGeom prst="line">
              <a:avLst/>
            </a:prstGeom>
            <a:ln w="9525" cap="flat" cmpd="sng">
              <a:solidFill>
                <a:schemeClr val="tx1"/>
              </a:solidFill>
              <a:prstDash val="solid"/>
              <a:miter/>
              <a:headEnd type="none" w="med" len="med"/>
              <a:tailEnd type="none" w="med" len="med"/>
            </a:ln>
          </p:spPr>
        </p:sp>
        <p:sp>
          <p:nvSpPr>
            <p:cNvPr id="38918" name="直接连接符 184328"/>
            <p:cNvSpPr/>
            <p:nvPr/>
          </p:nvSpPr>
          <p:spPr>
            <a:xfrm flipV="1">
              <a:off x="1292" y="3195"/>
              <a:ext cx="0" cy="55"/>
            </a:xfrm>
            <a:prstGeom prst="line">
              <a:avLst/>
            </a:prstGeom>
            <a:ln w="9525" cap="flat" cmpd="sng">
              <a:solidFill>
                <a:schemeClr val="tx1"/>
              </a:solidFill>
              <a:prstDash val="solid"/>
              <a:miter/>
              <a:headEnd type="none" w="med" len="med"/>
              <a:tailEnd type="none" w="med" len="med"/>
            </a:ln>
          </p:spPr>
        </p:sp>
        <p:sp>
          <p:nvSpPr>
            <p:cNvPr id="38919" name="直接连接符 184329"/>
            <p:cNvSpPr/>
            <p:nvPr/>
          </p:nvSpPr>
          <p:spPr>
            <a:xfrm flipV="1">
              <a:off x="977" y="3195"/>
              <a:ext cx="0" cy="55"/>
            </a:xfrm>
            <a:prstGeom prst="line">
              <a:avLst/>
            </a:prstGeom>
            <a:ln w="9525" cap="flat" cmpd="sng">
              <a:solidFill>
                <a:schemeClr val="tx1"/>
              </a:solidFill>
              <a:prstDash val="solid"/>
              <a:miter/>
              <a:headEnd type="none" w="med" len="med"/>
              <a:tailEnd type="none" w="med" len="med"/>
            </a:ln>
          </p:spPr>
        </p:sp>
        <p:sp>
          <p:nvSpPr>
            <p:cNvPr id="38920" name="直接连接符 184330"/>
            <p:cNvSpPr/>
            <p:nvPr/>
          </p:nvSpPr>
          <p:spPr>
            <a:xfrm flipV="1">
              <a:off x="2238" y="3195"/>
              <a:ext cx="0" cy="55"/>
            </a:xfrm>
            <a:prstGeom prst="line">
              <a:avLst/>
            </a:prstGeom>
            <a:ln w="9525" cap="flat" cmpd="sng">
              <a:solidFill>
                <a:schemeClr val="tx1"/>
              </a:solidFill>
              <a:prstDash val="solid"/>
              <a:miter/>
              <a:headEnd type="none" w="med" len="med"/>
              <a:tailEnd type="none" w="med" len="med"/>
            </a:ln>
          </p:spPr>
        </p:sp>
        <p:sp>
          <p:nvSpPr>
            <p:cNvPr id="38921" name="直接连接符 184331"/>
            <p:cNvSpPr/>
            <p:nvPr/>
          </p:nvSpPr>
          <p:spPr>
            <a:xfrm flipV="1">
              <a:off x="1922" y="3195"/>
              <a:ext cx="0" cy="55"/>
            </a:xfrm>
            <a:prstGeom prst="line">
              <a:avLst/>
            </a:prstGeom>
            <a:ln w="9525" cap="flat" cmpd="sng">
              <a:solidFill>
                <a:schemeClr val="tx1"/>
              </a:solidFill>
              <a:prstDash val="solid"/>
              <a:miter/>
              <a:headEnd type="none" w="med" len="med"/>
              <a:tailEnd type="none" w="med" len="med"/>
            </a:ln>
          </p:spPr>
        </p:sp>
        <p:sp>
          <p:nvSpPr>
            <p:cNvPr id="38922" name="文本框 184332"/>
            <p:cNvSpPr txBox="1"/>
            <p:nvPr/>
          </p:nvSpPr>
          <p:spPr>
            <a:xfrm>
              <a:off x="2835" y="3203"/>
              <a:ext cx="201" cy="288"/>
            </a:xfrm>
            <a:prstGeom prst="rect">
              <a:avLst/>
            </a:prstGeom>
            <a:noFill/>
            <a:ln w="9525">
              <a:noFill/>
            </a:ln>
          </p:spPr>
          <p:txBody>
            <a:bodyPr wrap="none" anchor="t" anchorCtr="0">
              <a:spAutoFit/>
            </a:bodyPr>
            <a:lstStyle/>
            <a:p>
              <a:r>
                <a:rPr lang="en-US" altLang="zh-CN" sz="2400" i="1">
                  <a:latin typeface="Times New Roman" panose="02020603050405020304" pitchFamily="18" charset="0"/>
                  <a:ea typeface="宋体" panose="02010600030101010101" pitchFamily="2" charset="-122"/>
                </a:rPr>
                <a:t>k</a:t>
              </a:r>
            </a:p>
          </p:txBody>
        </p:sp>
        <p:sp>
          <p:nvSpPr>
            <p:cNvPr id="38923" name="文本框 184333"/>
            <p:cNvSpPr txBox="1"/>
            <p:nvPr/>
          </p:nvSpPr>
          <p:spPr>
            <a:xfrm>
              <a:off x="1573" y="1117"/>
              <a:ext cx="233" cy="288"/>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38924" name="文本框 184334"/>
            <p:cNvSpPr txBox="1"/>
            <p:nvPr/>
          </p:nvSpPr>
          <p:spPr>
            <a:xfrm>
              <a:off x="1573" y="3296"/>
              <a:ext cx="188"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0</a:t>
              </a:r>
            </a:p>
          </p:txBody>
        </p:sp>
        <p:sp>
          <p:nvSpPr>
            <p:cNvPr id="38925" name="文本框 184335"/>
            <p:cNvSpPr txBox="1"/>
            <p:nvPr/>
          </p:nvSpPr>
          <p:spPr>
            <a:xfrm>
              <a:off x="1701" y="3296"/>
              <a:ext cx="356" cy="231"/>
            </a:xfrm>
            <a:prstGeom prst="rect">
              <a:avLst/>
            </a:prstGeom>
            <a:noFill/>
            <a:ln w="9525">
              <a:noFill/>
            </a:ln>
          </p:spPr>
          <p:txBody>
            <a:bodyPr wrap="none" anchor="t" anchorCtr="0">
              <a:spAutoFit/>
            </a:bodyPr>
            <a:lstStyle/>
            <a:p>
              <a:r>
                <a:rPr lang="en-US" altLang="zh-CN" sz="16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/2a</a:t>
              </a:r>
              <a:endParaRPr lang="en-US" altLang="zh-CN">
                <a:latin typeface="Times New Roman" panose="02020603050405020304" pitchFamily="18" charset="0"/>
                <a:ea typeface="Times New Roman" panose="02020603050405020304" pitchFamily="18" charset="0"/>
              </a:endParaRPr>
            </a:p>
          </p:txBody>
        </p:sp>
        <p:sp>
          <p:nvSpPr>
            <p:cNvPr id="38926" name="文本框 184336"/>
            <p:cNvSpPr txBox="1"/>
            <p:nvPr/>
          </p:nvSpPr>
          <p:spPr>
            <a:xfrm>
              <a:off x="779" y="3296"/>
              <a:ext cx="340"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-1/a</a:t>
              </a:r>
              <a:endParaRPr lang="en-US" altLang="zh-CN">
                <a:latin typeface="Times New Roman" panose="02020603050405020304" pitchFamily="18" charset="0"/>
                <a:ea typeface="Times New Roman" panose="02020603050405020304" pitchFamily="18" charset="0"/>
              </a:endParaRPr>
            </a:p>
          </p:txBody>
        </p:sp>
        <p:sp>
          <p:nvSpPr>
            <p:cNvPr id="38927" name="任意多边形 184337"/>
            <p:cNvSpPr/>
            <p:nvPr/>
          </p:nvSpPr>
          <p:spPr>
            <a:xfrm>
              <a:off x="1607" y="1603"/>
              <a:ext cx="981" cy="1641"/>
            </a:xfrm>
            <a:custGeom>
              <a:avLst/>
              <a:gdLst/>
              <a:ahLst/>
              <a:cxnLst/>
              <a:rect l="0" t="0" r="0" b="0"/>
              <a:pathLst>
                <a:path w="1270" h="1641">
                  <a:moveTo>
                    <a:pt x="0" y="1641"/>
                  </a:moveTo>
                  <a:cubicBezTo>
                    <a:pt x="80" y="1610"/>
                    <a:pt x="325" y="1588"/>
                    <a:pt x="480" y="1457"/>
                  </a:cubicBezTo>
                  <a:cubicBezTo>
                    <a:pt x="635" y="1326"/>
                    <a:pt x="796" y="1097"/>
                    <a:pt x="928" y="854"/>
                  </a:cubicBezTo>
                  <a:cubicBezTo>
                    <a:pt x="1060" y="611"/>
                    <a:pt x="1199" y="178"/>
                    <a:pt x="1270" y="0"/>
                  </a:cubicBezTo>
                </a:path>
              </a:pathLst>
            </a:custGeom>
            <a:noFill/>
            <a:ln w="38100" cap="flat" cmpd="sng">
              <a:solidFill>
                <a:schemeClr val="tx1"/>
              </a:solidFill>
              <a:prstDash val="lgDash"/>
              <a:round/>
              <a:headEnd type="none" w="med" len="med"/>
              <a:tailEnd type="none" w="med" len="med"/>
            </a:ln>
          </p:spPr>
          <p:txBody>
            <a:bodyPr/>
            <a:lstStyle/>
            <a:p>
              <a:endParaRPr lang="zh-CN" altLang="en-US"/>
            </a:p>
          </p:txBody>
        </p:sp>
        <p:sp>
          <p:nvSpPr>
            <p:cNvPr id="38928" name="任意多边形 184338"/>
            <p:cNvSpPr/>
            <p:nvPr/>
          </p:nvSpPr>
          <p:spPr>
            <a:xfrm>
              <a:off x="627" y="1645"/>
              <a:ext cx="980" cy="1599"/>
            </a:xfrm>
            <a:custGeom>
              <a:avLst/>
              <a:gdLst/>
              <a:ahLst/>
              <a:cxnLst/>
              <a:rect l="0" t="0" r="0" b="0"/>
              <a:pathLst>
                <a:path w="1270" h="1599">
                  <a:moveTo>
                    <a:pt x="1270" y="1599"/>
                  </a:moveTo>
                  <a:cubicBezTo>
                    <a:pt x="1187" y="1568"/>
                    <a:pt x="922" y="1535"/>
                    <a:pt x="772" y="1415"/>
                  </a:cubicBezTo>
                  <a:cubicBezTo>
                    <a:pt x="622" y="1295"/>
                    <a:pt x="499" y="1112"/>
                    <a:pt x="370" y="876"/>
                  </a:cubicBezTo>
                  <a:cubicBezTo>
                    <a:pt x="241" y="640"/>
                    <a:pt x="77" y="183"/>
                    <a:pt x="0" y="0"/>
                  </a:cubicBezTo>
                </a:path>
              </a:pathLst>
            </a:custGeom>
            <a:noFill/>
            <a:ln w="38100" cap="flat" cmpd="sng">
              <a:solidFill>
                <a:schemeClr val="tx1"/>
              </a:solidFill>
              <a:prstDash val="lgDash"/>
              <a:round/>
              <a:headEnd type="none" w="med" len="med"/>
              <a:tailEnd type="none" w="med" len="med"/>
            </a:ln>
          </p:spPr>
          <p:txBody>
            <a:bodyPr/>
            <a:lstStyle/>
            <a:p>
              <a:endParaRPr lang="zh-CN" altLang="en-US"/>
            </a:p>
          </p:txBody>
        </p:sp>
        <p:sp>
          <p:nvSpPr>
            <p:cNvPr id="38929" name="直接连接符 184339"/>
            <p:cNvSpPr/>
            <p:nvPr/>
          </p:nvSpPr>
          <p:spPr>
            <a:xfrm flipV="1">
              <a:off x="1922" y="1480"/>
              <a:ext cx="0" cy="1816"/>
            </a:xfrm>
            <a:prstGeom prst="line">
              <a:avLst/>
            </a:prstGeom>
            <a:ln w="3175" cap="flat" cmpd="sng">
              <a:solidFill>
                <a:schemeClr val="tx1"/>
              </a:solidFill>
              <a:prstDash val="lgDashDotDot"/>
              <a:round/>
              <a:headEnd type="none" w="med" len="med"/>
              <a:tailEnd type="none" w="med" len="med"/>
            </a:ln>
          </p:spPr>
        </p:sp>
        <p:sp>
          <p:nvSpPr>
            <p:cNvPr id="38930" name="直接连接符 184340"/>
            <p:cNvSpPr/>
            <p:nvPr/>
          </p:nvSpPr>
          <p:spPr>
            <a:xfrm flipV="1">
              <a:off x="2238" y="1480"/>
              <a:ext cx="0" cy="1816"/>
            </a:xfrm>
            <a:prstGeom prst="line">
              <a:avLst/>
            </a:prstGeom>
            <a:ln w="3175" cap="flat" cmpd="sng">
              <a:solidFill>
                <a:schemeClr val="tx1"/>
              </a:solidFill>
              <a:prstDash val="lgDashDotDot"/>
              <a:round/>
              <a:headEnd type="none" w="med" len="med"/>
              <a:tailEnd type="none" w="med" len="med"/>
            </a:ln>
          </p:spPr>
        </p:sp>
        <p:sp>
          <p:nvSpPr>
            <p:cNvPr id="38931" name="直接连接符 184341"/>
            <p:cNvSpPr/>
            <p:nvPr/>
          </p:nvSpPr>
          <p:spPr>
            <a:xfrm flipV="1">
              <a:off x="1292" y="1480"/>
              <a:ext cx="0" cy="1816"/>
            </a:xfrm>
            <a:prstGeom prst="line">
              <a:avLst/>
            </a:prstGeom>
            <a:ln w="3175" cap="flat" cmpd="sng">
              <a:solidFill>
                <a:schemeClr val="tx1"/>
              </a:solidFill>
              <a:prstDash val="lgDashDotDot"/>
              <a:round/>
              <a:headEnd type="none" w="med" len="med"/>
              <a:tailEnd type="none" w="med" len="med"/>
            </a:ln>
          </p:spPr>
        </p:sp>
        <p:sp>
          <p:nvSpPr>
            <p:cNvPr id="38932" name="直接连接符 184342"/>
            <p:cNvSpPr/>
            <p:nvPr/>
          </p:nvSpPr>
          <p:spPr>
            <a:xfrm flipV="1">
              <a:off x="977" y="1480"/>
              <a:ext cx="0" cy="1816"/>
            </a:xfrm>
            <a:prstGeom prst="line">
              <a:avLst/>
            </a:prstGeom>
            <a:ln w="3175" cap="flat" cmpd="sng">
              <a:solidFill>
                <a:schemeClr val="tx1"/>
              </a:solidFill>
              <a:prstDash val="lgDashDotDot"/>
              <a:round/>
              <a:headEnd type="none" w="med" len="med"/>
              <a:tailEnd type="none" w="med" len="med"/>
            </a:ln>
          </p:spPr>
        </p:sp>
        <p:sp>
          <p:nvSpPr>
            <p:cNvPr id="38933" name="任意多边形 184343"/>
            <p:cNvSpPr/>
            <p:nvPr/>
          </p:nvSpPr>
          <p:spPr>
            <a:xfrm>
              <a:off x="1292" y="3080"/>
              <a:ext cx="630" cy="124"/>
            </a:xfrm>
            <a:custGeom>
              <a:avLst/>
              <a:gdLst/>
              <a:ahLst/>
              <a:cxnLst/>
              <a:rect l="0" t="0" r="0" b="0"/>
              <a:pathLst>
                <a:path w="630" h="124">
                  <a:moveTo>
                    <a:pt x="0" y="8"/>
                  </a:moveTo>
                  <a:cubicBezTo>
                    <a:pt x="12" y="11"/>
                    <a:pt x="18" y="10"/>
                    <a:pt x="70" y="29"/>
                  </a:cubicBezTo>
                  <a:cubicBezTo>
                    <a:pt x="122" y="48"/>
                    <a:pt x="229" y="124"/>
                    <a:pt x="310" y="122"/>
                  </a:cubicBezTo>
                  <a:cubicBezTo>
                    <a:pt x="391" y="120"/>
                    <a:pt x="502" y="38"/>
                    <a:pt x="555" y="19"/>
                  </a:cubicBezTo>
                  <a:cubicBezTo>
                    <a:pt x="608" y="0"/>
                    <a:pt x="615" y="10"/>
                    <a:pt x="630" y="8"/>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8934" name="任意多边形 184344"/>
            <p:cNvSpPr/>
            <p:nvPr/>
          </p:nvSpPr>
          <p:spPr>
            <a:xfrm>
              <a:off x="1922" y="2570"/>
              <a:ext cx="316" cy="415"/>
            </a:xfrm>
            <a:custGeom>
              <a:avLst/>
              <a:gdLst/>
              <a:ahLst/>
              <a:cxnLst/>
              <a:rect l="0" t="0" r="0" b="0"/>
              <a:pathLst>
                <a:path w="316" h="415">
                  <a:moveTo>
                    <a:pt x="0" y="415"/>
                  </a:moveTo>
                  <a:cubicBezTo>
                    <a:pt x="18" y="402"/>
                    <a:pt x="72" y="393"/>
                    <a:pt x="108" y="337"/>
                  </a:cubicBezTo>
                  <a:cubicBezTo>
                    <a:pt x="144" y="281"/>
                    <a:pt x="182" y="137"/>
                    <a:pt x="217" y="81"/>
                  </a:cubicBezTo>
                  <a:cubicBezTo>
                    <a:pt x="252" y="25"/>
                    <a:pt x="296" y="17"/>
                    <a:pt x="316"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8935" name="任意多边形 184345"/>
            <p:cNvSpPr/>
            <p:nvPr/>
          </p:nvSpPr>
          <p:spPr>
            <a:xfrm>
              <a:off x="977" y="2570"/>
              <a:ext cx="315" cy="415"/>
            </a:xfrm>
            <a:custGeom>
              <a:avLst/>
              <a:gdLst/>
              <a:ahLst/>
              <a:cxnLst/>
              <a:rect l="0" t="0" r="0" b="0"/>
              <a:pathLst>
                <a:path w="315" h="415">
                  <a:moveTo>
                    <a:pt x="315" y="415"/>
                  </a:moveTo>
                  <a:cubicBezTo>
                    <a:pt x="297" y="402"/>
                    <a:pt x="246" y="396"/>
                    <a:pt x="209" y="340"/>
                  </a:cubicBezTo>
                  <a:cubicBezTo>
                    <a:pt x="172" y="284"/>
                    <a:pt x="128" y="138"/>
                    <a:pt x="93" y="81"/>
                  </a:cubicBezTo>
                  <a:cubicBezTo>
                    <a:pt x="58" y="24"/>
                    <a:pt x="19" y="17"/>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8936" name="任意多边形 184346"/>
            <p:cNvSpPr/>
            <p:nvPr/>
          </p:nvSpPr>
          <p:spPr>
            <a:xfrm>
              <a:off x="2238" y="1584"/>
              <a:ext cx="315" cy="830"/>
            </a:xfrm>
            <a:custGeom>
              <a:avLst/>
              <a:gdLst/>
              <a:ahLst/>
              <a:cxnLst/>
              <a:rect l="0" t="0" r="0" b="0"/>
              <a:pathLst>
                <a:path w="315" h="830">
                  <a:moveTo>
                    <a:pt x="0" y="830"/>
                  </a:moveTo>
                  <a:cubicBezTo>
                    <a:pt x="15" y="809"/>
                    <a:pt x="58" y="821"/>
                    <a:pt x="93" y="702"/>
                  </a:cubicBezTo>
                  <a:cubicBezTo>
                    <a:pt x="128" y="583"/>
                    <a:pt x="175" y="234"/>
                    <a:pt x="212" y="117"/>
                  </a:cubicBezTo>
                  <a:cubicBezTo>
                    <a:pt x="249" y="0"/>
                    <a:pt x="294" y="25"/>
                    <a:pt x="315" y="1"/>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8937" name="任意多边形 184347"/>
            <p:cNvSpPr/>
            <p:nvPr/>
          </p:nvSpPr>
          <p:spPr>
            <a:xfrm>
              <a:off x="662" y="1561"/>
              <a:ext cx="305" cy="877"/>
            </a:xfrm>
            <a:custGeom>
              <a:avLst/>
              <a:gdLst/>
              <a:ahLst/>
              <a:cxnLst/>
              <a:rect l="0" t="0" r="0" b="0"/>
              <a:pathLst>
                <a:path w="305" h="877">
                  <a:moveTo>
                    <a:pt x="305" y="843"/>
                  </a:moveTo>
                  <a:cubicBezTo>
                    <a:pt x="292" y="829"/>
                    <a:pt x="261" y="877"/>
                    <a:pt x="225" y="761"/>
                  </a:cubicBezTo>
                  <a:cubicBezTo>
                    <a:pt x="189" y="645"/>
                    <a:pt x="125" y="276"/>
                    <a:pt x="88" y="149"/>
                  </a:cubicBezTo>
                  <a:cubicBezTo>
                    <a:pt x="51" y="22"/>
                    <a:pt x="18" y="31"/>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8938" name="直接连接符 184348"/>
            <p:cNvSpPr/>
            <p:nvPr/>
          </p:nvSpPr>
          <p:spPr>
            <a:xfrm flipV="1">
              <a:off x="2553" y="1480"/>
              <a:ext cx="0" cy="1816"/>
            </a:xfrm>
            <a:prstGeom prst="line">
              <a:avLst/>
            </a:prstGeom>
            <a:ln w="3175" cap="flat" cmpd="sng">
              <a:solidFill>
                <a:schemeClr val="tx1"/>
              </a:solidFill>
              <a:prstDash val="lgDashDotDot"/>
              <a:round/>
              <a:headEnd type="none" w="med" len="med"/>
              <a:tailEnd type="none" w="med" len="med"/>
            </a:ln>
          </p:spPr>
        </p:sp>
        <p:sp>
          <p:nvSpPr>
            <p:cNvPr id="38939" name="直接连接符 184349"/>
            <p:cNvSpPr/>
            <p:nvPr/>
          </p:nvSpPr>
          <p:spPr>
            <a:xfrm flipV="1">
              <a:off x="662" y="1480"/>
              <a:ext cx="0" cy="1816"/>
            </a:xfrm>
            <a:prstGeom prst="line">
              <a:avLst/>
            </a:prstGeom>
            <a:ln w="3175" cap="flat" cmpd="sng">
              <a:solidFill>
                <a:schemeClr val="tx1"/>
              </a:solidFill>
              <a:prstDash val="lgDashDotDot"/>
              <a:round/>
              <a:headEnd type="none" w="med" len="med"/>
              <a:tailEnd type="none" w="med" len="med"/>
            </a:ln>
          </p:spPr>
        </p:sp>
        <p:sp>
          <p:nvSpPr>
            <p:cNvPr id="38940" name="直接连接符 184350"/>
            <p:cNvSpPr/>
            <p:nvPr/>
          </p:nvSpPr>
          <p:spPr>
            <a:xfrm>
              <a:off x="522" y="3088"/>
              <a:ext cx="2241" cy="0"/>
            </a:xfrm>
            <a:prstGeom prst="line">
              <a:avLst/>
            </a:prstGeom>
            <a:ln w="6350" cap="flat" cmpd="sng">
              <a:solidFill>
                <a:schemeClr val="tx1"/>
              </a:solidFill>
              <a:prstDash val="lgDashDot"/>
              <a:round/>
              <a:headEnd type="none" w="med" len="med"/>
              <a:tailEnd type="none" w="med" len="med"/>
            </a:ln>
          </p:spPr>
        </p:sp>
        <p:sp>
          <p:nvSpPr>
            <p:cNvPr id="38941" name="直接连接符 184351"/>
            <p:cNvSpPr/>
            <p:nvPr/>
          </p:nvSpPr>
          <p:spPr>
            <a:xfrm>
              <a:off x="522" y="2985"/>
              <a:ext cx="2241" cy="0"/>
            </a:xfrm>
            <a:prstGeom prst="line">
              <a:avLst/>
            </a:prstGeom>
            <a:ln w="6350" cap="flat" cmpd="sng">
              <a:solidFill>
                <a:schemeClr val="tx1"/>
              </a:solidFill>
              <a:prstDash val="lgDashDot"/>
              <a:round/>
              <a:headEnd type="none" w="med" len="med"/>
              <a:tailEnd type="none" w="med" len="med"/>
            </a:ln>
          </p:spPr>
        </p:sp>
        <p:sp>
          <p:nvSpPr>
            <p:cNvPr id="38942" name="直接连接符 184352"/>
            <p:cNvSpPr/>
            <p:nvPr/>
          </p:nvSpPr>
          <p:spPr>
            <a:xfrm>
              <a:off x="522" y="2570"/>
              <a:ext cx="2241" cy="0"/>
            </a:xfrm>
            <a:prstGeom prst="line">
              <a:avLst/>
            </a:prstGeom>
            <a:ln w="6350" cap="flat" cmpd="sng">
              <a:solidFill>
                <a:schemeClr val="tx1"/>
              </a:solidFill>
              <a:prstDash val="lgDashDot"/>
              <a:round/>
              <a:headEnd type="none" w="med" len="med"/>
              <a:tailEnd type="none" w="med" len="med"/>
            </a:ln>
          </p:spPr>
        </p:sp>
        <p:sp>
          <p:nvSpPr>
            <p:cNvPr id="38943" name="直接连接符 184353"/>
            <p:cNvSpPr/>
            <p:nvPr/>
          </p:nvSpPr>
          <p:spPr>
            <a:xfrm>
              <a:off x="522" y="2414"/>
              <a:ext cx="2241" cy="0"/>
            </a:xfrm>
            <a:prstGeom prst="line">
              <a:avLst/>
            </a:prstGeom>
            <a:ln w="6350" cap="flat" cmpd="sng">
              <a:solidFill>
                <a:schemeClr val="tx1"/>
              </a:solidFill>
              <a:prstDash val="lgDashDot"/>
              <a:round/>
              <a:headEnd type="none" w="med" len="med"/>
              <a:tailEnd type="none" w="med" len="med"/>
            </a:ln>
          </p:spPr>
        </p:sp>
        <p:sp>
          <p:nvSpPr>
            <p:cNvPr id="38944" name="直接连接符 184354"/>
            <p:cNvSpPr/>
            <p:nvPr/>
          </p:nvSpPr>
          <p:spPr>
            <a:xfrm>
              <a:off x="522" y="1585"/>
              <a:ext cx="2241" cy="0"/>
            </a:xfrm>
            <a:prstGeom prst="line">
              <a:avLst/>
            </a:prstGeom>
            <a:ln w="6350" cap="flat" cmpd="sng">
              <a:solidFill>
                <a:schemeClr val="tx1"/>
              </a:solidFill>
              <a:prstDash val="lgDashDot"/>
              <a:round/>
              <a:headEnd type="none" w="med" len="med"/>
              <a:tailEnd type="none" w="med" len="med"/>
            </a:ln>
          </p:spPr>
        </p:sp>
        <p:sp>
          <p:nvSpPr>
            <p:cNvPr id="38945" name="直接连接符 184355"/>
            <p:cNvSpPr/>
            <p:nvPr/>
          </p:nvSpPr>
          <p:spPr>
            <a:xfrm>
              <a:off x="522" y="3192"/>
              <a:ext cx="2241" cy="0"/>
            </a:xfrm>
            <a:prstGeom prst="line">
              <a:avLst/>
            </a:prstGeom>
            <a:ln w="6350" cap="flat" cmpd="sng">
              <a:solidFill>
                <a:schemeClr val="tx1"/>
              </a:solidFill>
              <a:prstDash val="lgDashDot"/>
              <a:round/>
              <a:headEnd type="none" w="med" len="med"/>
              <a:tailEnd type="none" w="med" len="med"/>
            </a:ln>
          </p:spPr>
        </p:sp>
        <p:sp>
          <p:nvSpPr>
            <p:cNvPr id="38946" name="文本框 184356"/>
            <p:cNvSpPr txBox="1"/>
            <p:nvPr/>
          </p:nvSpPr>
          <p:spPr>
            <a:xfrm>
              <a:off x="2412" y="3296"/>
              <a:ext cx="364"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3/2a</a:t>
              </a:r>
              <a:endParaRPr lang="en-US" altLang="zh-CN">
                <a:latin typeface="Times New Roman" panose="02020603050405020304" pitchFamily="18" charset="0"/>
                <a:ea typeface="Times New Roman" panose="02020603050405020304" pitchFamily="18" charset="0"/>
              </a:endParaRPr>
            </a:p>
          </p:txBody>
        </p:sp>
        <p:sp>
          <p:nvSpPr>
            <p:cNvPr id="38947" name="文本框 184357"/>
            <p:cNvSpPr txBox="1"/>
            <p:nvPr/>
          </p:nvSpPr>
          <p:spPr>
            <a:xfrm>
              <a:off x="1169" y="3296"/>
              <a:ext cx="404"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a:t>
              </a:r>
              <a:r>
                <a:rPr lang="en-US" altLang="zh-CN" sz="16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/2a</a:t>
              </a:r>
              <a:endParaRPr lang="en-US" altLang="zh-CN">
                <a:latin typeface="Times New Roman" panose="02020603050405020304" pitchFamily="18" charset="0"/>
                <a:ea typeface="Times New Roman" panose="02020603050405020304" pitchFamily="18" charset="0"/>
              </a:endParaRPr>
            </a:p>
          </p:txBody>
        </p:sp>
        <p:sp>
          <p:nvSpPr>
            <p:cNvPr id="38948" name="文本框 184358"/>
            <p:cNvSpPr txBox="1"/>
            <p:nvPr/>
          </p:nvSpPr>
          <p:spPr>
            <a:xfrm>
              <a:off x="2018" y="3296"/>
              <a:ext cx="292"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1/a</a:t>
              </a:r>
              <a:endParaRPr lang="en-US" altLang="zh-CN">
                <a:latin typeface="Times New Roman" panose="02020603050405020304" pitchFamily="18" charset="0"/>
                <a:ea typeface="Times New Roman" panose="02020603050405020304" pitchFamily="18" charset="0"/>
              </a:endParaRPr>
            </a:p>
          </p:txBody>
        </p:sp>
        <p:sp>
          <p:nvSpPr>
            <p:cNvPr id="38949" name="文本框 184359"/>
            <p:cNvSpPr txBox="1"/>
            <p:nvPr/>
          </p:nvSpPr>
          <p:spPr>
            <a:xfrm>
              <a:off x="385" y="3296"/>
              <a:ext cx="412"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-3/2a</a:t>
              </a:r>
              <a:endParaRPr lang="en-US" altLang="zh-CN">
                <a:latin typeface="Times New Roman" panose="02020603050405020304" pitchFamily="18" charset="0"/>
                <a:ea typeface="Times New Roman" panose="02020603050405020304" pitchFamily="18" charset="0"/>
              </a:endParaRPr>
            </a:p>
          </p:txBody>
        </p:sp>
      </p:grpSp>
      <p:grpSp>
        <p:nvGrpSpPr>
          <p:cNvPr id="184361" name="组合 184360"/>
          <p:cNvGrpSpPr/>
          <p:nvPr/>
        </p:nvGrpSpPr>
        <p:grpSpPr>
          <a:xfrm>
            <a:off x="3236913" y="5394325"/>
            <a:ext cx="3025775" cy="668338"/>
            <a:chOff x="657" y="3612"/>
            <a:chExt cx="1906" cy="421"/>
          </a:xfrm>
        </p:grpSpPr>
        <p:sp>
          <p:nvSpPr>
            <p:cNvPr id="38951" name="文本框 184361"/>
            <p:cNvSpPr txBox="1"/>
            <p:nvPr/>
          </p:nvSpPr>
          <p:spPr>
            <a:xfrm>
              <a:off x="1474" y="3612"/>
              <a:ext cx="317"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1</a:t>
              </a:r>
            </a:p>
          </p:txBody>
        </p:sp>
        <p:sp>
          <p:nvSpPr>
            <p:cNvPr id="38952" name="文本框 184362"/>
            <p:cNvSpPr txBox="1"/>
            <p:nvPr/>
          </p:nvSpPr>
          <p:spPr>
            <a:xfrm>
              <a:off x="1927"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2</a:t>
              </a:r>
            </a:p>
          </p:txBody>
        </p:sp>
        <p:sp>
          <p:nvSpPr>
            <p:cNvPr id="38953" name="文本框 184363"/>
            <p:cNvSpPr txBox="1"/>
            <p:nvPr/>
          </p:nvSpPr>
          <p:spPr>
            <a:xfrm>
              <a:off x="974"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2</a:t>
              </a:r>
            </a:p>
          </p:txBody>
        </p:sp>
        <p:sp>
          <p:nvSpPr>
            <p:cNvPr id="38954" name="文本框 184364"/>
            <p:cNvSpPr txBox="1"/>
            <p:nvPr/>
          </p:nvSpPr>
          <p:spPr>
            <a:xfrm>
              <a:off x="2245"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3</a:t>
              </a:r>
            </a:p>
          </p:txBody>
        </p:sp>
        <p:sp>
          <p:nvSpPr>
            <p:cNvPr id="38955" name="文本框 184365"/>
            <p:cNvSpPr txBox="1"/>
            <p:nvPr/>
          </p:nvSpPr>
          <p:spPr>
            <a:xfrm>
              <a:off x="657" y="3612"/>
              <a:ext cx="318" cy="212"/>
            </a:xfrm>
            <a:prstGeom prst="rect">
              <a:avLst/>
            </a:prstGeom>
            <a:noFill/>
            <a:ln w="9525">
              <a:noFill/>
            </a:ln>
          </p:spPr>
          <p:txBody>
            <a:bodyPr anchor="t" anchorCtr="0">
              <a:spAutoFit/>
            </a:bodyPr>
            <a:lstStyle/>
            <a:p>
              <a:pPr>
                <a:spcBef>
                  <a:spcPct val="50000"/>
                </a:spcBef>
              </a:pPr>
              <a:r>
                <a:rPr lang="zh-CN" altLang="en-US" sz="1600" b="1" dirty="0">
                  <a:latin typeface="Times New Roman" panose="02020603050405020304" pitchFamily="18" charset="0"/>
                  <a:ea typeface="宋体" panose="02010600030101010101" pitchFamily="2" charset="-122"/>
                </a:rPr>
                <a:t>第</a:t>
              </a:r>
              <a:r>
                <a:rPr lang="en-US" altLang="zh-CN" sz="1600" b="1">
                  <a:latin typeface="Times New Roman" panose="02020603050405020304" pitchFamily="18" charset="0"/>
                  <a:ea typeface="宋体" panose="02010600030101010101" pitchFamily="2" charset="-122"/>
                </a:rPr>
                <a:t>3</a:t>
              </a:r>
            </a:p>
          </p:txBody>
        </p:sp>
        <p:sp>
          <p:nvSpPr>
            <p:cNvPr id="38956" name="文本框 184366"/>
            <p:cNvSpPr txBox="1"/>
            <p:nvPr/>
          </p:nvSpPr>
          <p:spPr>
            <a:xfrm>
              <a:off x="1338" y="3821"/>
              <a:ext cx="628" cy="212"/>
            </a:xfrm>
            <a:prstGeom prst="rect">
              <a:avLst/>
            </a:prstGeom>
            <a:noFill/>
            <a:ln w="9525">
              <a:noFill/>
            </a:ln>
          </p:spPr>
          <p:txBody>
            <a:bodyPr wrap="none" anchor="t" anchorCtr="0">
              <a:spAutoFit/>
            </a:bodyPr>
            <a:lstStyle/>
            <a:p>
              <a:r>
                <a:rPr lang="zh-CN" altLang="en-US" sz="1600" b="1" dirty="0">
                  <a:latin typeface="Times New Roman" panose="02020603050405020304" pitchFamily="18" charset="0"/>
                  <a:ea typeface="宋体" panose="02010600030101010101" pitchFamily="2" charset="-122"/>
                </a:rPr>
                <a:t>布里渊区</a:t>
              </a:r>
            </a:p>
          </p:txBody>
        </p:sp>
      </p:grpSp>
      <p:graphicFrame>
        <p:nvGraphicFramePr>
          <p:cNvPr id="38957" name="对象 184367"/>
          <p:cNvGraphicFramePr/>
          <p:nvPr/>
        </p:nvGraphicFramePr>
        <p:xfrm>
          <a:off x="3560763" y="6113463"/>
          <a:ext cx="3024187" cy="744537"/>
        </p:xfrm>
        <a:graphic>
          <a:graphicData uri="http://schemas.openxmlformats.org/presentationml/2006/ole">
            <mc:AlternateContent xmlns:mc="http://schemas.openxmlformats.org/markup-compatibility/2006">
              <mc:Choice xmlns:v="urn:schemas-microsoft-com:vml" Requires="v">
                <p:oleObj r:id="rId2" imgW="1332865" imgH="393700" progId="Equation.3">
                  <p:embed/>
                </p:oleObj>
              </mc:Choice>
              <mc:Fallback>
                <p:oleObj r:id="rId2" imgW="1332865" imgH="393700" progId="Equation.3">
                  <p:embed/>
                  <p:pic>
                    <p:nvPicPr>
                      <p:cNvPr id="0" name="图片 3127"/>
                      <p:cNvPicPr/>
                      <p:nvPr/>
                    </p:nvPicPr>
                    <p:blipFill>
                      <a:blip r:embed="rId3"/>
                      <a:stretch>
                        <a:fillRect/>
                      </a:stretch>
                    </p:blipFill>
                    <p:spPr>
                      <a:xfrm>
                        <a:off x="3560763" y="6113463"/>
                        <a:ext cx="3024187" cy="744537"/>
                      </a:xfrm>
                      <a:prstGeom prst="rect">
                        <a:avLst/>
                      </a:prstGeom>
                      <a:solidFill>
                        <a:schemeClr val="accent1"/>
                      </a:solidFill>
                      <a:ln w="38100">
                        <a:noFill/>
                        <a:miter/>
                      </a:ln>
                    </p:spPr>
                  </p:pic>
                </p:oleObj>
              </mc:Fallback>
            </mc:AlternateContent>
          </a:graphicData>
        </a:graphic>
      </p:graphicFrame>
      <p:grpSp>
        <p:nvGrpSpPr>
          <p:cNvPr id="38958" name="组合 184368"/>
          <p:cNvGrpSpPr/>
          <p:nvPr/>
        </p:nvGrpSpPr>
        <p:grpSpPr>
          <a:xfrm>
            <a:off x="7110413" y="1538288"/>
            <a:ext cx="1998662" cy="4324350"/>
            <a:chOff x="4391" y="1451"/>
            <a:chExt cx="861" cy="2599"/>
          </a:xfrm>
        </p:grpSpPr>
        <p:sp>
          <p:nvSpPr>
            <p:cNvPr id="38959" name="直接连接符 184369"/>
            <p:cNvSpPr/>
            <p:nvPr/>
          </p:nvSpPr>
          <p:spPr>
            <a:xfrm>
              <a:off x="4391" y="3477"/>
              <a:ext cx="687" cy="0"/>
            </a:xfrm>
            <a:prstGeom prst="line">
              <a:avLst/>
            </a:prstGeom>
            <a:ln w="9525" cap="flat" cmpd="sng">
              <a:solidFill>
                <a:schemeClr val="tx1"/>
              </a:solidFill>
              <a:prstDash val="solid"/>
              <a:miter/>
              <a:headEnd type="none" w="med" len="med"/>
              <a:tailEnd type="none" w="med" len="med"/>
            </a:ln>
          </p:spPr>
        </p:sp>
        <p:sp>
          <p:nvSpPr>
            <p:cNvPr id="38960" name="直接连接符 184370"/>
            <p:cNvSpPr/>
            <p:nvPr/>
          </p:nvSpPr>
          <p:spPr>
            <a:xfrm flipV="1">
              <a:off x="4463" y="3425"/>
              <a:ext cx="0" cy="52"/>
            </a:xfrm>
            <a:prstGeom prst="line">
              <a:avLst/>
            </a:prstGeom>
            <a:ln w="9525" cap="flat" cmpd="sng">
              <a:solidFill>
                <a:schemeClr val="tx1"/>
              </a:solidFill>
              <a:prstDash val="solid"/>
              <a:miter/>
              <a:headEnd type="none" w="med" len="med"/>
              <a:tailEnd type="none" w="med" len="med"/>
            </a:ln>
          </p:spPr>
        </p:sp>
        <p:sp>
          <p:nvSpPr>
            <p:cNvPr id="38961" name="直接连接符 184371"/>
            <p:cNvSpPr/>
            <p:nvPr/>
          </p:nvSpPr>
          <p:spPr>
            <a:xfrm flipV="1">
              <a:off x="4965" y="3425"/>
              <a:ext cx="0" cy="52"/>
            </a:xfrm>
            <a:prstGeom prst="line">
              <a:avLst/>
            </a:prstGeom>
            <a:ln w="9525" cap="flat" cmpd="sng">
              <a:solidFill>
                <a:schemeClr val="tx1"/>
              </a:solidFill>
              <a:prstDash val="solid"/>
              <a:miter/>
              <a:headEnd type="none" w="med" len="med"/>
              <a:tailEnd type="none" w="med" len="med"/>
            </a:ln>
          </p:spPr>
        </p:sp>
        <p:sp>
          <p:nvSpPr>
            <p:cNvPr id="38962" name="文本框 184372"/>
            <p:cNvSpPr txBox="1"/>
            <p:nvPr/>
          </p:nvSpPr>
          <p:spPr>
            <a:xfrm>
              <a:off x="5115" y="3433"/>
              <a:ext cx="137" cy="274"/>
            </a:xfrm>
            <a:prstGeom prst="rect">
              <a:avLst/>
            </a:prstGeom>
            <a:noFill/>
            <a:ln w="9525">
              <a:noFill/>
            </a:ln>
          </p:spPr>
          <p:txBody>
            <a:bodyPr wrap="none" anchor="t" anchorCtr="0">
              <a:spAutoFit/>
            </a:bodyPr>
            <a:lstStyle/>
            <a:p>
              <a:r>
                <a:rPr lang="en-US" altLang="zh-CN" sz="2400" i="1">
                  <a:latin typeface="Times New Roman" panose="02020603050405020304" pitchFamily="18" charset="0"/>
                  <a:ea typeface="宋体" panose="02010600030101010101" pitchFamily="2" charset="-122"/>
                </a:rPr>
                <a:t>k</a:t>
              </a:r>
            </a:p>
          </p:txBody>
        </p:sp>
        <p:sp>
          <p:nvSpPr>
            <p:cNvPr id="38963" name="文本框 184373"/>
            <p:cNvSpPr txBox="1"/>
            <p:nvPr/>
          </p:nvSpPr>
          <p:spPr>
            <a:xfrm>
              <a:off x="4687" y="1451"/>
              <a:ext cx="159" cy="275"/>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38964" name="直接连接符 184374"/>
            <p:cNvSpPr/>
            <p:nvPr/>
          </p:nvSpPr>
          <p:spPr>
            <a:xfrm flipV="1">
              <a:off x="4965" y="1796"/>
              <a:ext cx="0" cy="1725"/>
            </a:xfrm>
            <a:prstGeom prst="line">
              <a:avLst/>
            </a:prstGeom>
            <a:ln w="3175" cap="flat" cmpd="sng">
              <a:solidFill>
                <a:schemeClr val="tx1"/>
              </a:solidFill>
              <a:prstDash val="lgDashDotDot"/>
              <a:round/>
              <a:headEnd type="none" w="med" len="med"/>
              <a:tailEnd type="none" w="med" len="med"/>
            </a:ln>
          </p:spPr>
        </p:sp>
        <p:sp>
          <p:nvSpPr>
            <p:cNvPr id="38965" name="直接连接符 184375"/>
            <p:cNvSpPr/>
            <p:nvPr/>
          </p:nvSpPr>
          <p:spPr>
            <a:xfrm flipV="1">
              <a:off x="4463" y="1796"/>
              <a:ext cx="0" cy="1725"/>
            </a:xfrm>
            <a:prstGeom prst="line">
              <a:avLst/>
            </a:prstGeom>
            <a:ln w="3175" cap="flat" cmpd="sng">
              <a:solidFill>
                <a:schemeClr val="tx1"/>
              </a:solidFill>
              <a:prstDash val="lgDashDotDot"/>
              <a:round/>
              <a:headEnd type="none" w="med" len="med"/>
              <a:tailEnd type="none" w="med" len="med"/>
            </a:ln>
          </p:spPr>
        </p:sp>
        <p:sp>
          <p:nvSpPr>
            <p:cNvPr id="38966" name="任意多边形 184376"/>
            <p:cNvSpPr/>
            <p:nvPr/>
          </p:nvSpPr>
          <p:spPr>
            <a:xfrm>
              <a:off x="4463" y="3316"/>
              <a:ext cx="502" cy="118"/>
            </a:xfrm>
            <a:custGeom>
              <a:avLst/>
              <a:gdLst/>
              <a:ahLst/>
              <a:cxnLst/>
              <a:rect l="0" t="0" r="0" b="0"/>
              <a:pathLst>
                <a:path w="630" h="124">
                  <a:moveTo>
                    <a:pt x="0" y="8"/>
                  </a:moveTo>
                  <a:cubicBezTo>
                    <a:pt x="12" y="11"/>
                    <a:pt x="18" y="10"/>
                    <a:pt x="70" y="29"/>
                  </a:cubicBezTo>
                  <a:cubicBezTo>
                    <a:pt x="122" y="48"/>
                    <a:pt x="229" y="124"/>
                    <a:pt x="310" y="122"/>
                  </a:cubicBezTo>
                  <a:cubicBezTo>
                    <a:pt x="391" y="120"/>
                    <a:pt x="502" y="38"/>
                    <a:pt x="555" y="19"/>
                  </a:cubicBezTo>
                  <a:cubicBezTo>
                    <a:pt x="608" y="0"/>
                    <a:pt x="615" y="10"/>
                    <a:pt x="630" y="8"/>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8967" name="任意多边形 184377"/>
            <p:cNvSpPr/>
            <p:nvPr/>
          </p:nvSpPr>
          <p:spPr>
            <a:xfrm>
              <a:off x="4464" y="2831"/>
              <a:ext cx="251" cy="395"/>
            </a:xfrm>
            <a:custGeom>
              <a:avLst/>
              <a:gdLst/>
              <a:ahLst/>
              <a:cxnLst/>
              <a:rect l="0" t="0" r="0" b="0"/>
              <a:pathLst>
                <a:path w="316" h="415">
                  <a:moveTo>
                    <a:pt x="0" y="415"/>
                  </a:moveTo>
                  <a:cubicBezTo>
                    <a:pt x="18" y="402"/>
                    <a:pt x="72" y="393"/>
                    <a:pt x="108" y="337"/>
                  </a:cubicBezTo>
                  <a:cubicBezTo>
                    <a:pt x="144" y="281"/>
                    <a:pt x="182" y="137"/>
                    <a:pt x="217" y="81"/>
                  </a:cubicBezTo>
                  <a:cubicBezTo>
                    <a:pt x="252" y="25"/>
                    <a:pt x="296" y="17"/>
                    <a:pt x="316"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8968" name="任意多边形 184378"/>
            <p:cNvSpPr/>
            <p:nvPr/>
          </p:nvSpPr>
          <p:spPr>
            <a:xfrm>
              <a:off x="4719" y="2831"/>
              <a:ext cx="251" cy="395"/>
            </a:xfrm>
            <a:custGeom>
              <a:avLst/>
              <a:gdLst/>
              <a:ahLst/>
              <a:cxnLst/>
              <a:rect l="0" t="0" r="0" b="0"/>
              <a:pathLst>
                <a:path w="315" h="415">
                  <a:moveTo>
                    <a:pt x="315" y="415"/>
                  </a:moveTo>
                  <a:cubicBezTo>
                    <a:pt x="297" y="402"/>
                    <a:pt x="246" y="396"/>
                    <a:pt x="209" y="340"/>
                  </a:cubicBezTo>
                  <a:cubicBezTo>
                    <a:pt x="172" y="284"/>
                    <a:pt x="128" y="138"/>
                    <a:pt x="93" y="81"/>
                  </a:cubicBezTo>
                  <a:cubicBezTo>
                    <a:pt x="58" y="24"/>
                    <a:pt x="19" y="17"/>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8969" name="任意多边形 184379"/>
            <p:cNvSpPr/>
            <p:nvPr/>
          </p:nvSpPr>
          <p:spPr>
            <a:xfrm>
              <a:off x="4716" y="1895"/>
              <a:ext cx="251" cy="788"/>
            </a:xfrm>
            <a:custGeom>
              <a:avLst/>
              <a:gdLst/>
              <a:ahLst/>
              <a:cxnLst/>
              <a:rect l="0" t="0" r="0" b="0"/>
              <a:pathLst>
                <a:path w="315" h="830">
                  <a:moveTo>
                    <a:pt x="0" y="830"/>
                  </a:moveTo>
                  <a:cubicBezTo>
                    <a:pt x="15" y="809"/>
                    <a:pt x="58" y="821"/>
                    <a:pt x="93" y="702"/>
                  </a:cubicBezTo>
                  <a:cubicBezTo>
                    <a:pt x="128" y="583"/>
                    <a:pt x="175" y="234"/>
                    <a:pt x="212" y="117"/>
                  </a:cubicBezTo>
                  <a:cubicBezTo>
                    <a:pt x="249" y="0"/>
                    <a:pt x="294" y="25"/>
                    <a:pt x="315" y="1"/>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8970" name="任意多边形 184380"/>
            <p:cNvSpPr/>
            <p:nvPr/>
          </p:nvSpPr>
          <p:spPr>
            <a:xfrm>
              <a:off x="4468" y="1888"/>
              <a:ext cx="250" cy="822"/>
            </a:xfrm>
            <a:custGeom>
              <a:avLst/>
              <a:gdLst/>
              <a:ahLst/>
              <a:cxnLst/>
              <a:rect l="0" t="0" r="0" b="0"/>
              <a:pathLst>
                <a:path w="313" h="865">
                  <a:moveTo>
                    <a:pt x="313" y="831"/>
                  </a:moveTo>
                  <a:cubicBezTo>
                    <a:pt x="300" y="817"/>
                    <a:pt x="269" y="865"/>
                    <a:pt x="233" y="750"/>
                  </a:cubicBezTo>
                  <a:cubicBezTo>
                    <a:pt x="197" y="635"/>
                    <a:pt x="135" y="269"/>
                    <a:pt x="96" y="144"/>
                  </a:cubicBezTo>
                  <a:cubicBezTo>
                    <a:pt x="57" y="19"/>
                    <a:pt x="20" y="30"/>
                    <a:pt x="0" y="0"/>
                  </a:cubicBezTo>
                </a:path>
              </a:pathLst>
            </a:custGeom>
            <a:noFill/>
            <a:ln w="57150" cap="flat" cmpd="sng">
              <a:solidFill>
                <a:srgbClr val="A50021"/>
              </a:solidFill>
              <a:prstDash val="solid"/>
              <a:round/>
              <a:headEnd type="none" w="med" len="med"/>
              <a:tailEnd type="none" w="med" len="med"/>
            </a:ln>
          </p:spPr>
          <p:txBody>
            <a:bodyPr/>
            <a:lstStyle/>
            <a:p>
              <a:endParaRPr lang="zh-CN" altLang="en-US"/>
            </a:p>
          </p:txBody>
        </p:sp>
        <p:sp>
          <p:nvSpPr>
            <p:cNvPr id="38971" name="直接连接符 184381"/>
            <p:cNvSpPr/>
            <p:nvPr/>
          </p:nvSpPr>
          <p:spPr>
            <a:xfrm flipH="1" flipV="1">
              <a:off x="4717" y="1537"/>
              <a:ext cx="2" cy="2086"/>
            </a:xfrm>
            <a:prstGeom prst="line">
              <a:avLst/>
            </a:prstGeom>
            <a:ln w="9525" cap="flat" cmpd="sng">
              <a:solidFill>
                <a:schemeClr val="tx1"/>
              </a:solidFill>
              <a:prstDash val="solid"/>
              <a:miter/>
              <a:headEnd type="none" w="med" len="med"/>
              <a:tailEnd type="none" w="med" len="med"/>
            </a:ln>
          </p:spPr>
        </p:sp>
        <p:sp>
          <p:nvSpPr>
            <p:cNvPr id="38972" name="文本框 184382"/>
            <p:cNvSpPr txBox="1"/>
            <p:nvPr/>
          </p:nvSpPr>
          <p:spPr>
            <a:xfrm>
              <a:off x="4416" y="3848"/>
              <a:ext cx="605" cy="202"/>
            </a:xfrm>
            <a:prstGeom prst="rect">
              <a:avLst/>
            </a:prstGeom>
            <a:noFill/>
            <a:ln w="9525">
              <a:noFill/>
            </a:ln>
          </p:spPr>
          <p:txBody>
            <a:bodyPr wrap="none" anchor="t" anchorCtr="0">
              <a:spAutoFit/>
            </a:bodyPr>
            <a:lstStyle/>
            <a:p>
              <a:r>
                <a:rPr lang="zh-CN" altLang="en-US" sz="1600" b="1" dirty="0">
                  <a:solidFill>
                    <a:srgbClr val="FF0000"/>
                  </a:solidFill>
                  <a:latin typeface="Times New Roman" panose="02020603050405020304" pitchFamily="18" charset="0"/>
                  <a:ea typeface="宋体" panose="02010600030101010101" pitchFamily="2" charset="-122"/>
                </a:rPr>
                <a:t>简约布里渊区</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61"/>
                                        </p:tgtEl>
                                        <p:attrNameLst>
                                          <p:attrName>style.visibility</p:attrName>
                                        </p:attrNameLst>
                                      </p:cBhvr>
                                      <p:to>
                                        <p:strVal val="visible"/>
                                      </p:to>
                                    </p:set>
                                    <p:animEffect transition="in" filter="blinds(horizontal)">
                                      <p:cBhvr>
                                        <p:cTn id="7" dur="500"/>
                                        <p:tgtEl>
                                          <p:spTgt spid="184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文本框 59394"/>
          <p:cNvSpPr txBox="1"/>
          <p:nvPr/>
        </p:nvSpPr>
        <p:spPr>
          <a:xfrm>
            <a:off x="827088" y="1484313"/>
            <a:ext cx="7489825" cy="1066800"/>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从</a:t>
            </a:r>
            <a:r>
              <a:rPr lang="zh-CN" altLang="en-US" sz="3200" b="1" dirty="0">
                <a:solidFill>
                  <a:srgbClr val="A50021"/>
                </a:solidFill>
                <a:latin typeface="Arial" panose="020B0604020202020204" pitchFamily="34" charset="0"/>
                <a:ea typeface="宋体" panose="02010600030101010101" pitchFamily="2" charset="-122"/>
              </a:rPr>
              <a:t>粒子性</a:t>
            </a:r>
            <a:r>
              <a:rPr lang="zh-CN" altLang="en-US" sz="3200" b="1" dirty="0">
                <a:latin typeface="Arial" panose="020B0604020202020204" pitchFamily="34" charset="0"/>
                <a:ea typeface="宋体" panose="02010600030101010101" pitchFamily="2" charset="-122"/>
              </a:rPr>
              <a:t>出发</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它具有一定的质量</a:t>
            </a:r>
            <a:r>
              <a:rPr lang="en-US" altLang="zh-CN" sz="3200" b="1">
                <a:latin typeface="Arial" panose="020B0604020202020204" pitchFamily="34" charset="0"/>
                <a:ea typeface="宋体" panose="02010600030101010101" pitchFamily="2" charset="-122"/>
              </a:rPr>
              <a:t>m</a:t>
            </a:r>
            <a:r>
              <a:rPr lang="en-US" altLang="zh-CN" sz="3200" b="1" baseline="-25000">
                <a:latin typeface="Arial" panose="020B0604020202020204" pitchFamily="34" charset="0"/>
                <a:ea typeface="宋体" panose="02010600030101010101" pitchFamily="2" charset="-122"/>
              </a:rPr>
              <a:t>0</a:t>
            </a:r>
            <a:r>
              <a:rPr lang="zh-CN" altLang="en-US" sz="3200" b="1" dirty="0">
                <a:latin typeface="Arial" panose="020B0604020202020204" pitchFamily="34" charset="0"/>
                <a:ea typeface="宋体" panose="02010600030101010101" pitchFamily="2" charset="-122"/>
              </a:rPr>
              <a:t>和运动速度</a:t>
            </a:r>
            <a:r>
              <a:rPr lang="en-US" altLang="zh-CN" sz="3200" b="1" dirty="0">
                <a:latin typeface="Arial" panose="020B0604020202020204" pitchFamily="34" charset="0"/>
                <a:ea typeface="宋体" panose="02010600030101010101" pitchFamily="2" charset="-122"/>
              </a:rPr>
              <a:t>v,</a:t>
            </a:r>
            <a:r>
              <a:rPr lang="zh-CN" altLang="en-US" sz="3200" b="1" dirty="0">
                <a:latin typeface="Arial" panose="020B0604020202020204" pitchFamily="34" charset="0"/>
                <a:ea typeface="宋体" panose="02010600030101010101" pitchFamily="2" charset="-122"/>
              </a:rPr>
              <a:t>它的能量</a:t>
            </a:r>
            <a:r>
              <a:rPr lang="en-US" altLang="zh-CN" sz="3200" b="1" dirty="0">
                <a:latin typeface="Arial" panose="020B0604020202020204" pitchFamily="34" charset="0"/>
                <a:ea typeface="宋体" panose="02010600030101010101" pitchFamily="2" charset="-122"/>
              </a:rPr>
              <a:t>E</a:t>
            </a:r>
            <a:r>
              <a:rPr lang="zh-CN" altLang="en-US" sz="3200" b="1" dirty="0">
                <a:latin typeface="Arial" panose="020B0604020202020204" pitchFamily="34" charset="0"/>
                <a:ea typeface="宋体" panose="02010600030101010101" pitchFamily="2" charset="-122"/>
              </a:rPr>
              <a:t>和动量</a:t>
            </a:r>
            <a:r>
              <a:rPr lang="en-US" altLang="zh-CN" sz="3200" b="1" i="1">
                <a:latin typeface="Arial" panose="020B0604020202020204" pitchFamily="34" charset="0"/>
                <a:ea typeface="宋体" panose="02010600030101010101" pitchFamily="2" charset="-122"/>
              </a:rPr>
              <a:t>p</a:t>
            </a:r>
            <a:r>
              <a:rPr lang="zh-CN" altLang="en-US" sz="3200" b="1" dirty="0">
                <a:latin typeface="Arial" panose="020B0604020202020204" pitchFamily="34" charset="0"/>
                <a:ea typeface="宋体" panose="02010600030101010101" pitchFamily="2" charset="-122"/>
              </a:rPr>
              <a:t>分别为</a:t>
            </a:r>
            <a:r>
              <a:rPr lang="en-US" altLang="zh-CN" sz="3200" b="1">
                <a:latin typeface="Arial" panose="020B0604020202020204" pitchFamily="34" charset="0"/>
                <a:ea typeface="宋体" panose="02010600030101010101" pitchFamily="2" charset="-122"/>
              </a:rPr>
              <a:t>:</a:t>
            </a:r>
            <a:endParaRPr lang="en-US" altLang="zh-CN" sz="3200" b="1">
              <a:latin typeface="Arial" panose="020B0604020202020204" pitchFamily="34" charset="0"/>
              <a:ea typeface="Arial" panose="020B0604020202020204" pitchFamily="34" charset="0"/>
            </a:endParaRPr>
          </a:p>
        </p:txBody>
      </p:sp>
      <p:sp>
        <p:nvSpPr>
          <p:cNvPr id="39938" name="文本框 59396"/>
          <p:cNvSpPr txBox="1"/>
          <p:nvPr/>
        </p:nvSpPr>
        <p:spPr>
          <a:xfrm>
            <a:off x="468313" y="549275"/>
            <a:ext cx="2673350" cy="641350"/>
          </a:xfrm>
          <a:prstGeom prst="rect">
            <a:avLst/>
          </a:prstGeom>
          <a:noFill/>
          <a:ln w="12700">
            <a:noFill/>
          </a:ln>
        </p:spPr>
        <p:txBody>
          <a:bodyPr wrap="none" anchor="t" anchorCtr="0">
            <a:spAutoFit/>
          </a:bodyPr>
          <a:lstStyle/>
          <a:p>
            <a:pPr eaLnBrk="0" hangingPunct="0"/>
            <a:r>
              <a:rPr lang="en-US" altLang="zh-CN" sz="3600" b="1" dirty="0">
                <a:latin typeface="Arial" panose="020B0604020202020204" pitchFamily="34" charset="0"/>
                <a:ea typeface="宋体" panose="02010600030101010101" pitchFamily="2" charset="-122"/>
              </a:rPr>
              <a:t>1. </a:t>
            </a:r>
            <a:r>
              <a:rPr lang="zh-CN" altLang="en-US" sz="3600" b="1" dirty="0">
                <a:latin typeface="Arial" panose="020B0604020202020204" pitchFamily="34" charset="0"/>
                <a:ea typeface="宋体" panose="02010600030101010101" pitchFamily="2" charset="-122"/>
              </a:rPr>
              <a:t>自由电子</a:t>
            </a:r>
            <a:r>
              <a:rPr lang="en-US" altLang="zh-CN" sz="3600" b="1">
                <a:latin typeface="Arial" panose="020B0604020202020204" pitchFamily="34" charset="0"/>
                <a:ea typeface="宋体" panose="02010600030101010101" pitchFamily="2" charset="-122"/>
              </a:rPr>
              <a:t>:</a:t>
            </a:r>
          </a:p>
        </p:txBody>
      </p:sp>
      <p:graphicFrame>
        <p:nvGraphicFramePr>
          <p:cNvPr id="39939" name="对象 59397"/>
          <p:cNvGraphicFramePr/>
          <p:nvPr/>
        </p:nvGraphicFramePr>
        <p:xfrm>
          <a:off x="1692275" y="2781300"/>
          <a:ext cx="2203450" cy="922338"/>
        </p:xfrm>
        <a:graphic>
          <a:graphicData uri="http://schemas.openxmlformats.org/presentationml/2006/ole">
            <mc:AlternateContent xmlns:mc="http://schemas.openxmlformats.org/markup-compatibility/2006">
              <mc:Choice xmlns:v="urn:schemas-microsoft-com:vml" Requires="v">
                <p:oleObj r:id="rId2" imgW="546100" imgH="228600" progId="Equation.3">
                  <p:embed/>
                </p:oleObj>
              </mc:Choice>
              <mc:Fallback>
                <p:oleObj r:id="rId2" imgW="546100" imgH="228600" progId="Equation.3">
                  <p:embed/>
                  <p:pic>
                    <p:nvPicPr>
                      <p:cNvPr id="0" name="图片 3129"/>
                      <p:cNvPicPr/>
                      <p:nvPr/>
                    </p:nvPicPr>
                    <p:blipFill>
                      <a:blip r:embed="rId3"/>
                      <a:stretch>
                        <a:fillRect/>
                      </a:stretch>
                    </p:blipFill>
                    <p:spPr>
                      <a:xfrm>
                        <a:off x="1692275" y="2781300"/>
                        <a:ext cx="2203450" cy="922338"/>
                      </a:xfrm>
                      <a:prstGeom prst="rect">
                        <a:avLst/>
                      </a:prstGeom>
                      <a:noFill/>
                      <a:ln w="38100">
                        <a:noFill/>
                        <a:miter/>
                      </a:ln>
                    </p:spPr>
                  </p:pic>
                </p:oleObj>
              </mc:Fallback>
            </mc:AlternateContent>
          </a:graphicData>
        </a:graphic>
      </p:graphicFrame>
      <p:graphicFrame>
        <p:nvGraphicFramePr>
          <p:cNvPr id="39940" name="对象 59399"/>
          <p:cNvGraphicFramePr/>
          <p:nvPr/>
        </p:nvGraphicFramePr>
        <p:xfrm>
          <a:off x="4284663" y="2565400"/>
          <a:ext cx="3600450" cy="1363663"/>
        </p:xfrm>
        <a:graphic>
          <a:graphicData uri="http://schemas.openxmlformats.org/presentationml/2006/ole">
            <mc:AlternateContent xmlns:mc="http://schemas.openxmlformats.org/markup-compatibility/2006">
              <mc:Choice xmlns:v="urn:schemas-microsoft-com:vml" Requires="v">
                <p:oleObj r:id="rId4" imgW="1206500" imgH="457200" progId="Equation.3">
                  <p:embed/>
                </p:oleObj>
              </mc:Choice>
              <mc:Fallback>
                <p:oleObj r:id="rId4" imgW="1206500" imgH="457200" progId="Equation.3">
                  <p:embed/>
                  <p:pic>
                    <p:nvPicPr>
                      <p:cNvPr id="0" name="图片 3128"/>
                      <p:cNvPicPr/>
                      <p:nvPr/>
                    </p:nvPicPr>
                    <p:blipFill>
                      <a:blip r:embed="rId5"/>
                      <a:stretch>
                        <a:fillRect/>
                      </a:stretch>
                    </p:blipFill>
                    <p:spPr>
                      <a:xfrm>
                        <a:off x="4284663" y="2565400"/>
                        <a:ext cx="3600450" cy="1363663"/>
                      </a:xfrm>
                      <a:prstGeom prst="rect">
                        <a:avLst/>
                      </a:prstGeom>
                      <a:noFill/>
                      <a:ln w="38100">
                        <a:noFill/>
                        <a:miter/>
                      </a:ln>
                    </p:spPr>
                  </p:pic>
                </p:oleObj>
              </mc:Fallback>
            </mc:AlternateContent>
          </a:graphicData>
        </a:graphic>
      </p:graphicFrame>
      <p:sp>
        <p:nvSpPr>
          <p:cNvPr id="39941" name="文本框 59400"/>
          <p:cNvSpPr txBox="1"/>
          <p:nvPr/>
        </p:nvSpPr>
        <p:spPr>
          <a:xfrm>
            <a:off x="776288" y="3933825"/>
            <a:ext cx="7612062" cy="1066800"/>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从</a:t>
            </a:r>
            <a:r>
              <a:rPr lang="zh-CN" altLang="en-US" sz="3200" b="1" dirty="0">
                <a:solidFill>
                  <a:srgbClr val="A50021"/>
                </a:solidFill>
                <a:latin typeface="Arial" panose="020B0604020202020204" pitchFamily="34" charset="0"/>
                <a:ea typeface="宋体" panose="02010600030101010101" pitchFamily="2" charset="-122"/>
              </a:rPr>
              <a:t>波动性</a:t>
            </a:r>
            <a:r>
              <a:rPr lang="zh-CN" altLang="en-US" sz="3200" b="1" dirty="0">
                <a:latin typeface="Arial" panose="020B0604020202020204" pitchFamily="34" charset="0"/>
                <a:ea typeface="宋体" panose="02010600030101010101" pitchFamily="2" charset="-122"/>
              </a:rPr>
              <a:t>出发</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电子的运动看成频率为</a:t>
            </a:r>
            <a:r>
              <a:rPr lang="en-US" altLang="zh-CN" sz="3200" b="1" dirty="0">
                <a:latin typeface="Arial" panose="020B0604020202020204" pitchFamily="34" charset="0"/>
                <a:ea typeface="宋体" panose="02010600030101010101" pitchFamily="2" charset="-122"/>
              </a:rPr>
              <a:t>ν</a:t>
            </a:r>
            <a:r>
              <a:rPr lang="zh-CN" altLang="en-US" sz="3200" b="1" dirty="0">
                <a:latin typeface="Arial" panose="020B0604020202020204" pitchFamily="34" charset="0"/>
                <a:ea typeface="宋体" panose="02010600030101010101" pitchFamily="2" charset="-122"/>
              </a:rPr>
              <a:t>、</a:t>
            </a:r>
          </a:p>
          <a:p>
            <a:pPr eaLnBrk="0" hangingPunct="0"/>
            <a:r>
              <a:rPr lang="zh-CN" altLang="en-US" sz="3200" b="1" dirty="0">
                <a:latin typeface="Arial" panose="020B0604020202020204" pitchFamily="34" charset="0"/>
                <a:ea typeface="宋体" panose="02010600030101010101" pitchFamily="2" charset="-122"/>
              </a:rPr>
              <a:t>波矢为</a:t>
            </a:r>
            <a:r>
              <a:rPr lang="en-US" altLang="zh-CN" sz="3200" b="1" i="1">
                <a:latin typeface="Arial" panose="020B0604020202020204" pitchFamily="34" charset="0"/>
                <a:ea typeface="宋体" panose="02010600030101010101" pitchFamily="2" charset="-122"/>
              </a:rPr>
              <a:t>k</a:t>
            </a:r>
            <a:r>
              <a:rPr lang="zh-CN" altLang="en-US" sz="3200" b="1" dirty="0">
                <a:latin typeface="Arial" panose="020B0604020202020204" pitchFamily="34" charset="0"/>
                <a:ea typeface="宋体" panose="02010600030101010101" pitchFamily="2" charset="-122"/>
              </a:rPr>
              <a:t>的平面波在波矢方向的传输过程</a:t>
            </a:r>
            <a:r>
              <a:rPr lang="en-US" altLang="zh-CN" sz="3200" b="1">
                <a:latin typeface="Arial" panose="020B0604020202020204" pitchFamily="34" charset="0"/>
                <a:ea typeface="宋体" panose="02010600030101010101" pitchFamily="2" charset="-122"/>
              </a:rPr>
              <a:t>.</a:t>
            </a:r>
            <a:endParaRPr lang="en-US" altLang="zh-CN" sz="3200" b="1">
              <a:latin typeface="Arial" panose="020B0604020202020204" pitchFamily="34" charset="0"/>
              <a:ea typeface="Arial" panose="020B0604020202020204" pitchFamily="34" charset="0"/>
            </a:endParaRPr>
          </a:p>
        </p:txBody>
      </p:sp>
      <p:sp>
        <p:nvSpPr>
          <p:cNvPr id="39942" name="右大括号 59401"/>
          <p:cNvSpPr/>
          <p:nvPr/>
        </p:nvSpPr>
        <p:spPr>
          <a:xfrm>
            <a:off x="3924300" y="5373688"/>
            <a:ext cx="381000" cy="838200"/>
          </a:xfrm>
          <a:prstGeom prst="rightBrace">
            <a:avLst>
              <a:gd name="adj1" fmla="val 18323"/>
              <a:gd name="adj2" fmla="val 50000"/>
            </a:avLst>
          </a:prstGeom>
          <a:noFill/>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graphicFrame>
        <p:nvGraphicFramePr>
          <p:cNvPr id="39943" name="对象 59402"/>
          <p:cNvGraphicFramePr/>
          <p:nvPr/>
        </p:nvGraphicFramePr>
        <p:xfrm>
          <a:off x="1890713" y="5084763"/>
          <a:ext cx="1600200" cy="622300"/>
        </p:xfrm>
        <a:graphic>
          <a:graphicData uri="http://schemas.openxmlformats.org/presentationml/2006/ole">
            <mc:AlternateContent xmlns:mc="http://schemas.openxmlformats.org/markup-compatibility/2006">
              <mc:Choice xmlns:v="urn:schemas-microsoft-com:vml" Requires="v">
                <p:oleObj r:id="rId6" imgW="456565" imgH="177800" progId="Equation.DSMT4">
                  <p:embed/>
                </p:oleObj>
              </mc:Choice>
              <mc:Fallback>
                <p:oleObj r:id="rId6" imgW="456565" imgH="177800" progId="Equation.DSMT4">
                  <p:embed/>
                  <p:pic>
                    <p:nvPicPr>
                      <p:cNvPr id="0" name="图片 3130"/>
                      <p:cNvPicPr/>
                      <p:nvPr/>
                    </p:nvPicPr>
                    <p:blipFill>
                      <a:blip r:embed="rId7"/>
                      <a:stretch>
                        <a:fillRect/>
                      </a:stretch>
                    </p:blipFill>
                    <p:spPr>
                      <a:xfrm>
                        <a:off x="1890713" y="5084763"/>
                        <a:ext cx="1600200" cy="622300"/>
                      </a:xfrm>
                      <a:prstGeom prst="rect">
                        <a:avLst/>
                      </a:prstGeom>
                      <a:noFill/>
                      <a:ln w="38100">
                        <a:noFill/>
                        <a:miter/>
                      </a:ln>
                    </p:spPr>
                  </p:pic>
                </p:oleObj>
              </mc:Fallback>
            </mc:AlternateContent>
          </a:graphicData>
        </a:graphic>
      </p:graphicFrame>
      <p:graphicFrame>
        <p:nvGraphicFramePr>
          <p:cNvPr id="39944" name="对象 59403"/>
          <p:cNvGraphicFramePr/>
          <p:nvPr/>
        </p:nvGraphicFramePr>
        <p:xfrm>
          <a:off x="1893888" y="5776913"/>
          <a:ext cx="1670050" cy="649287"/>
        </p:xfrm>
        <a:graphic>
          <a:graphicData uri="http://schemas.openxmlformats.org/presentationml/2006/ole">
            <mc:AlternateContent xmlns:mc="http://schemas.openxmlformats.org/markup-compatibility/2006">
              <mc:Choice xmlns:v="urn:schemas-microsoft-com:vml" Requires="v">
                <p:oleObj r:id="rId8" imgW="456565" imgH="177800" progId="Equation.DSMT4">
                  <p:embed/>
                </p:oleObj>
              </mc:Choice>
              <mc:Fallback>
                <p:oleObj r:id="rId8" imgW="456565" imgH="177800" progId="Equation.DSMT4">
                  <p:embed/>
                  <p:pic>
                    <p:nvPicPr>
                      <p:cNvPr id="0" name="图片 3131"/>
                      <p:cNvPicPr/>
                      <p:nvPr/>
                    </p:nvPicPr>
                    <p:blipFill>
                      <a:blip r:embed="rId9"/>
                      <a:stretch>
                        <a:fillRect/>
                      </a:stretch>
                    </p:blipFill>
                    <p:spPr>
                      <a:xfrm>
                        <a:off x="1893888" y="5776913"/>
                        <a:ext cx="1670050" cy="649287"/>
                      </a:xfrm>
                      <a:prstGeom prst="rect">
                        <a:avLst/>
                      </a:prstGeom>
                      <a:noFill/>
                      <a:ln w="38100">
                        <a:noFill/>
                        <a:miter/>
                      </a:ln>
                    </p:spPr>
                  </p:pic>
                </p:oleObj>
              </mc:Fallback>
            </mc:AlternateContent>
          </a:graphicData>
        </a:graphic>
      </p:graphicFrame>
      <p:sp>
        <p:nvSpPr>
          <p:cNvPr id="39945" name="矩形 59404"/>
          <p:cNvSpPr/>
          <p:nvPr/>
        </p:nvSpPr>
        <p:spPr>
          <a:xfrm>
            <a:off x="4500563" y="5516563"/>
            <a:ext cx="2592387" cy="519112"/>
          </a:xfrm>
          <a:prstGeom prst="rect">
            <a:avLst/>
          </a:prstGeom>
          <a:noFill/>
          <a:ln w="9525">
            <a:noFill/>
          </a:ln>
        </p:spPr>
        <p:txBody>
          <a:bodyPr anchor="ctr" anchorCtr="0">
            <a:spAutoFit/>
          </a:bodyPr>
          <a:lstStyle/>
          <a:p>
            <a:r>
              <a:rPr lang="zh-CN" altLang="en-US" sz="2800" dirty="0">
                <a:latin typeface="Times New Roman" panose="02020603050405020304" pitchFamily="18" charset="0"/>
                <a:ea typeface="宋体" panose="02010600030101010101" pitchFamily="2" charset="-122"/>
              </a:rPr>
              <a:t>德布罗意关系</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文本框 61444"/>
          <p:cNvSpPr txBox="1"/>
          <p:nvPr/>
        </p:nvSpPr>
        <p:spPr>
          <a:xfrm>
            <a:off x="4660900" y="5224463"/>
            <a:ext cx="4038600" cy="579437"/>
          </a:xfrm>
          <a:prstGeom prst="rect">
            <a:avLst/>
          </a:prstGeom>
          <a:noFill/>
          <a:ln w="9525">
            <a:noFill/>
          </a:ln>
        </p:spPr>
        <p:txBody>
          <a:bodyPr anchor="t" anchorCtr="0">
            <a:spAutoFit/>
          </a:bodyPr>
          <a:lstStyle/>
          <a:p>
            <a:r>
              <a:rPr lang="zh-CN" altLang="en-US" sz="3200" dirty="0">
                <a:latin typeface="Times New Roman" panose="02020603050405020304" pitchFamily="18" charset="0"/>
                <a:ea typeface="宋体" panose="02010600030101010101" pitchFamily="2" charset="-122"/>
              </a:rPr>
              <a:t>自由电子</a:t>
            </a:r>
            <a:r>
              <a:rPr lang="en-US" altLang="zh-CN" sz="3200" dirty="0">
                <a:latin typeface="Times New Roman" panose="02020603050405020304" pitchFamily="18" charset="0"/>
                <a:ea typeface="宋体" panose="02010600030101010101" pitchFamily="2" charset="-122"/>
              </a:rPr>
              <a:t>E</a:t>
            </a:r>
            <a:r>
              <a:rPr lang="zh-CN" altLang="en-US" sz="3200" dirty="0">
                <a:latin typeface="Times New Roman" panose="02020603050405020304" pitchFamily="18" charset="0"/>
                <a:ea typeface="宋体" panose="02010600030101010101" pitchFamily="2" charset="-122"/>
              </a:rPr>
              <a:t>与</a:t>
            </a:r>
            <a:r>
              <a:rPr lang="en-US" altLang="zh-CN" sz="3200" dirty="0">
                <a:latin typeface="Times New Roman" panose="02020603050405020304" pitchFamily="18" charset="0"/>
                <a:ea typeface="宋体" panose="02010600030101010101" pitchFamily="2" charset="-122"/>
              </a:rPr>
              <a:t>k </a:t>
            </a:r>
            <a:r>
              <a:rPr lang="zh-CN" altLang="en-US" sz="3200" dirty="0">
                <a:latin typeface="Times New Roman" panose="02020603050405020304" pitchFamily="18" charset="0"/>
                <a:ea typeface="宋体" panose="02010600030101010101" pitchFamily="2" charset="-122"/>
              </a:rPr>
              <a:t>的关系</a:t>
            </a:r>
          </a:p>
        </p:txBody>
      </p:sp>
      <p:sp>
        <p:nvSpPr>
          <p:cNvPr id="40962" name="直接连接符 61445"/>
          <p:cNvSpPr/>
          <p:nvPr/>
        </p:nvSpPr>
        <p:spPr>
          <a:xfrm>
            <a:off x="4965700" y="4538663"/>
            <a:ext cx="3276600" cy="0"/>
          </a:xfrm>
          <a:prstGeom prst="line">
            <a:avLst/>
          </a:prstGeom>
          <a:ln w="9525" cap="flat" cmpd="sng">
            <a:solidFill>
              <a:schemeClr val="tx1"/>
            </a:solidFill>
            <a:prstDash val="solid"/>
            <a:round/>
            <a:headEnd type="none" w="med" len="med"/>
            <a:tailEnd type="triangle" w="med" len="med"/>
          </a:ln>
        </p:spPr>
      </p:sp>
      <p:sp>
        <p:nvSpPr>
          <p:cNvPr id="40963" name="直接连接符 61446"/>
          <p:cNvSpPr/>
          <p:nvPr/>
        </p:nvSpPr>
        <p:spPr>
          <a:xfrm flipV="1">
            <a:off x="6565900" y="2024063"/>
            <a:ext cx="0" cy="2514600"/>
          </a:xfrm>
          <a:prstGeom prst="line">
            <a:avLst/>
          </a:prstGeom>
          <a:ln w="9525" cap="flat" cmpd="sng">
            <a:solidFill>
              <a:schemeClr val="tx1"/>
            </a:solidFill>
            <a:prstDash val="solid"/>
            <a:round/>
            <a:headEnd type="none" w="med" len="med"/>
            <a:tailEnd type="triangle" w="med" len="med"/>
          </a:ln>
        </p:spPr>
      </p:sp>
      <p:sp>
        <p:nvSpPr>
          <p:cNvPr id="40964" name="任意多边形 61447"/>
          <p:cNvSpPr/>
          <p:nvPr/>
        </p:nvSpPr>
        <p:spPr>
          <a:xfrm>
            <a:off x="5292725" y="2565400"/>
            <a:ext cx="2447925" cy="1952625"/>
          </a:xfrm>
          <a:custGeom>
            <a:avLst/>
            <a:gdLst/>
            <a:ahLst/>
            <a:cxnLst/>
            <a:rect l="0" t="0" r="0" b="0"/>
            <a:pathLst>
              <a:path w="1536" h="1200">
                <a:moveTo>
                  <a:pt x="0" y="0"/>
                </a:moveTo>
                <a:cubicBezTo>
                  <a:pt x="280" y="600"/>
                  <a:pt x="560" y="1200"/>
                  <a:pt x="816" y="1200"/>
                </a:cubicBezTo>
                <a:cubicBezTo>
                  <a:pt x="1072" y="1200"/>
                  <a:pt x="1304" y="600"/>
                  <a:pt x="1536" y="0"/>
                </a:cubicBezTo>
              </a:path>
            </a:pathLst>
          </a:custGeom>
          <a:noFill/>
          <a:ln w="38100" cap="flat" cmpd="sng">
            <a:solidFill>
              <a:srgbClr val="A50021"/>
            </a:solidFill>
            <a:prstDash val="solid"/>
            <a:round/>
            <a:headEnd type="none" w="med" len="med"/>
            <a:tailEnd type="none" w="med" len="med"/>
          </a:ln>
        </p:spPr>
        <p:txBody>
          <a:bodyPr/>
          <a:lstStyle/>
          <a:p>
            <a:endParaRPr lang="zh-CN" altLang="en-US"/>
          </a:p>
        </p:txBody>
      </p:sp>
      <p:sp>
        <p:nvSpPr>
          <p:cNvPr id="40965" name="文本框 61448"/>
          <p:cNvSpPr txBox="1"/>
          <p:nvPr/>
        </p:nvSpPr>
        <p:spPr>
          <a:xfrm>
            <a:off x="6092825" y="1989138"/>
            <a:ext cx="369888" cy="457200"/>
          </a:xfrm>
          <a:prstGeom prst="rect">
            <a:avLst/>
          </a:prstGeom>
          <a:solidFill>
            <a:schemeClr val="bg1"/>
          </a:solid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40966" name="文本框 61449"/>
          <p:cNvSpPr txBox="1"/>
          <p:nvPr/>
        </p:nvSpPr>
        <p:spPr>
          <a:xfrm>
            <a:off x="7937500" y="4462463"/>
            <a:ext cx="336550" cy="457200"/>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k</a:t>
            </a:r>
          </a:p>
        </p:txBody>
      </p:sp>
      <p:sp>
        <p:nvSpPr>
          <p:cNvPr id="40967" name="文本框 61450"/>
          <p:cNvSpPr txBox="1"/>
          <p:nvPr/>
        </p:nvSpPr>
        <p:spPr>
          <a:xfrm>
            <a:off x="6413500" y="4462463"/>
            <a:ext cx="473075" cy="457200"/>
          </a:xfrm>
          <a:prstGeom prst="rect">
            <a:avLst/>
          </a:prstGeom>
          <a:noFill/>
          <a:ln w="9525">
            <a:noFill/>
          </a:ln>
        </p:spPr>
        <p:txBody>
          <a:bodyPr anchor="t" anchorCtr="0">
            <a:spAutoFit/>
          </a:bodyPr>
          <a:lstStyle/>
          <a:p>
            <a:r>
              <a:rPr lang="en-US" altLang="zh-CN" sz="2400">
                <a:latin typeface="Times New Roman" panose="02020603050405020304" pitchFamily="18" charset="0"/>
                <a:ea typeface="宋体" panose="02010600030101010101" pitchFamily="2" charset="-122"/>
              </a:rPr>
              <a:t>0</a:t>
            </a:r>
          </a:p>
        </p:txBody>
      </p:sp>
      <p:sp>
        <p:nvSpPr>
          <p:cNvPr id="40968" name="矩形 61455"/>
          <p:cNvSpPr/>
          <p:nvPr/>
        </p:nvSpPr>
        <p:spPr>
          <a:xfrm>
            <a:off x="827088" y="742950"/>
            <a:ext cx="2290762" cy="701675"/>
          </a:xfrm>
          <a:prstGeom prst="rect">
            <a:avLst/>
          </a:prstGeom>
          <a:noFill/>
          <a:ln w="9525">
            <a:noFill/>
          </a:ln>
        </p:spPr>
        <p:txBody>
          <a:bodyPr wrap="none" anchor="ctr" anchorCtr="0">
            <a:spAutoFit/>
          </a:bodyPr>
          <a:lstStyle/>
          <a:p>
            <a:r>
              <a:rPr lang="zh-CN" altLang="en-US" sz="4000" b="1" dirty="0">
                <a:latin typeface="Times New Roman" panose="02020603050405020304" pitchFamily="18" charset="0"/>
                <a:ea typeface="宋体" panose="02010600030101010101" pitchFamily="2" charset="-122"/>
              </a:rPr>
              <a:t>能量 </a:t>
            </a:r>
            <a:r>
              <a:rPr lang="en-US" altLang="zh-CN" sz="4000" b="1" err="1">
                <a:latin typeface="Times New Roman" panose="02020603050405020304" pitchFamily="18" charset="0"/>
                <a:ea typeface="宋体" panose="02010600030101010101" pitchFamily="2" charset="-122"/>
              </a:rPr>
              <a:t>E(k</a:t>
            </a:r>
            <a:r>
              <a:rPr lang="en-US" altLang="zh-CN" sz="4000" b="1">
                <a:latin typeface="Times New Roman" panose="02020603050405020304" pitchFamily="18" charset="0"/>
                <a:ea typeface="宋体" panose="02010600030101010101" pitchFamily="2" charset="-122"/>
              </a:rPr>
              <a:t>)</a:t>
            </a:r>
          </a:p>
        </p:txBody>
      </p:sp>
      <p:graphicFrame>
        <p:nvGraphicFramePr>
          <p:cNvPr id="40969" name="对象 61456"/>
          <p:cNvGraphicFramePr/>
          <p:nvPr/>
        </p:nvGraphicFramePr>
        <p:xfrm>
          <a:off x="900113" y="2370138"/>
          <a:ext cx="3527425" cy="1379537"/>
        </p:xfrm>
        <a:graphic>
          <a:graphicData uri="http://schemas.openxmlformats.org/presentationml/2006/ole">
            <mc:AlternateContent xmlns:mc="http://schemas.openxmlformats.org/markup-compatibility/2006">
              <mc:Choice xmlns:v="urn:schemas-microsoft-com:vml" Requires="v">
                <p:oleObj r:id="rId2" imgW="1168400" imgH="457200" progId="Equation.DSMT4">
                  <p:embed/>
                </p:oleObj>
              </mc:Choice>
              <mc:Fallback>
                <p:oleObj r:id="rId2" imgW="1168400" imgH="457200" progId="Equation.DSMT4">
                  <p:embed/>
                  <p:pic>
                    <p:nvPicPr>
                      <p:cNvPr id="0" name="图片 3121"/>
                      <p:cNvPicPr/>
                      <p:nvPr/>
                    </p:nvPicPr>
                    <p:blipFill>
                      <a:blip r:embed="rId3"/>
                      <a:stretch>
                        <a:fillRect/>
                      </a:stretch>
                    </p:blipFill>
                    <p:spPr>
                      <a:xfrm>
                        <a:off x="900113" y="2370138"/>
                        <a:ext cx="3527425" cy="1379537"/>
                      </a:xfrm>
                      <a:prstGeom prst="rect">
                        <a:avLst/>
                      </a:prstGeom>
                      <a:noFill/>
                      <a:ln w="38100">
                        <a:noFill/>
                        <a:miter/>
                      </a:ln>
                    </p:spPr>
                  </p:pic>
                </p:oleObj>
              </mc:Fallback>
            </mc:AlternateContent>
          </a:graphicData>
        </a:graphic>
      </p:graphicFrame>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5" name="对象 62465"/>
          <p:cNvGraphicFramePr/>
          <p:nvPr/>
        </p:nvGraphicFramePr>
        <p:xfrm>
          <a:off x="5724525" y="2997200"/>
          <a:ext cx="2447925" cy="1147763"/>
        </p:xfrm>
        <a:graphic>
          <a:graphicData uri="http://schemas.openxmlformats.org/presentationml/2006/ole">
            <mc:AlternateContent xmlns:mc="http://schemas.openxmlformats.org/markup-compatibility/2006">
              <mc:Choice xmlns:v="urn:schemas-microsoft-com:vml" Requires="v">
                <p:oleObj r:id="rId2" imgW="698500" imgH="431800" progId="Equation.3">
                  <p:embed/>
                </p:oleObj>
              </mc:Choice>
              <mc:Fallback>
                <p:oleObj r:id="rId2" imgW="698500" imgH="431800" progId="Equation.3">
                  <p:embed/>
                  <p:pic>
                    <p:nvPicPr>
                      <p:cNvPr id="0" name="图片 3122"/>
                      <p:cNvPicPr/>
                      <p:nvPr/>
                    </p:nvPicPr>
                    <p:blipFill>
                      <a:blip r:embed="rId3"/>
                      <a:stretch>
                        <a:fillRect/>
                      </a:stretch>
                    </p:blipFill>
                    <p:spPr>
                      <a:xfrm>
                        <a:off x="5724525" y="2997200"/>
                        <a:ext cx="2447925" cy="1147763"/>
                      </a:xfrm>
                      <a:prstGeom prst="rect">
                        <a:avLst/>
                      </a:prstGeom>
                      <a:noFill/>
                      <a:ln w="38100">
                        <a:noFill/>
                        <a:miter/>
                      </a:ln>
                    </p:spPr>
                  </p:pic>
                </p:oleObj>
              </mc:Fallback>
            </mc:AlternateContent>
          </a:graphicData>
        </a:graphic>
      </p:graphicFrame>
      <p:graphicFrame>
        <p:nvGraphicFramePr>
          <p:cNvPr id="41986" name="对象 62466"/>
          <p:cNvGraphicFramePr/>
          <p:nvPr/>
        </p:nvGraphicFramePr>
        <p:xfrm>
          <a:off x="3492500" y="1052513"/>
          <a:ext cx="2232025" cy="1033462"/>
        </p:xfrm>
        <a:graphic>
          <a:graphicData uri="http://schemas.openxmlformats.org/presentationml/2006/ole">
            <mc:AlternateContent xmlns:mc="http://schemas.openxmlformats.org/markup-compatibility/2006">
              <mc:Choice xmlns:v="urn:schemas-microsoft-com:vml" Requires="v">
                <p:oleObj r:id="rId4" imgW="824865" imgH="431800" progId="Equation.DSMT4">
                  <p:embed/>
                </p:oleObj>
              </mc:Choice>
              <mc:Fallback>
                <p:oleObj r:id="rId4" imgW="824865" imgH="431800" progId="Equation.DSMT4">
                  <p:embed/>
                  <p:pic>
                    <p:nvPicPr>
                      <p:cNvPr id="0" name="图片 3119"/>
                      <p:cNvPicPr/>
                      <p:nvPr/>
                    </p:nvPicPr>
                    <p:blipFill>
                      <a:blip r:embed="rId5"/>
                      <a:stretch>
                        <a:fillRect/>
                      </a:stretch>
                    </p:blipFill>
                    <p:spPr>
                      <a:xfrm>
                        <a:off x="3492500" y="1052513"/>
                        <a:ext cx="2232025" cy="1033462"/>
                      </a:xfrm>
                      <a:prstGeom prst="rect">
                        <a:avLst/>
                      </a:prstGeom>
                      <a:noFill/>
                      <a:ln w="38100">
                        <a:noFill/>
                        <a:miter/>
                      </a:ln>
                    </p:spPr>
                  </p:pic>
                </p:oleObj>
              </mc:Fallback>
            </mc:AlternateContent>
          </a:graphicData>
        </a:graphic>
      </p:graphicFrame>
      <p:sp>
        <p:nvSpPr>
          <p:cNvPr id="41987" name="文本框 62467"/>
          <p:cNvSpPr txBox="1"/>
          <p:nvPr/>
        </p:nvSpPr>
        <p:spPr>
          <a:xfrm>
            <a:off x="1116013" y="2420938"/>
            <a:ext cx="3230562" cy="579437"/>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对</a:t>
            </a:r>
            <a:r>
              <a:rPr lang="en-US" altLang="zh-CN" sz="3200" b="1" err="1">
                <a:latin typeface="Arial" panose="020B0604020202020204" pitchFamily="34" charset="0"/>
                <a:ea typeface="宋体" panose="02010600030101010101" pitchFamily="2" charset="-122"/>
              </a:rPr>
              <a:t>E(k</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微分</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得到</a:t>
            </a:r>
            <a:r>
              <a:rPr lang="en-US" altLang="zh-CN" sz="3200" b="1">
                <a:latin typeface="Arial" panose="020B0604020202020204" pitchFamily="34" charset="0"/>
                <a:ea typeface="宋体" panose="02010600030101010101" pitchFamily="2" charset="-122"/>
              </a:rPr>
              <a:t>:</a:t>
            </a:r>
            <a:endParaRPr lang="en-US" altLang="zh-CN" sz="3200" b="1">
              <a:latin typeface="Arial" panose="020B0604020202020204" pitchFamily="34" charset="0"/>
              <a:ea typeface="Arial" panose="020B0604020202020204" pitchFamily="34" charset="0"/>
            </a:endParaRPr>
          </a:p>
        </p:txBody>
      </p:sp>
      <p:sp>
        <p:nvSpPr>
          <p:cNvPr id="41988" name="文本框 62469"/>
          <p:cNvSpPr txBox="1"/>
          <p:nvPr/>
        </p:nvSpPr>
        <p:spPr>
          <a:xfrm>
            <a:off x="611188" y="620713"/>
            <a:ext cx="996950" cy="641350"/>
          </a:xfrm>
          <a:prstGeom prst="rect">
            <a:avLst/>
          </a:prstGeom>
          <a:noFill/>
          <a:ln w="12700">
            <a:noFill/>
          </a:ln>
        </p:spPr>
        <p:txBody>
          <a:bodyPr wrap="none" anchor="t" anchorCtr="0">
            <a:spAutoFit/>
          </a:bodyPr>
          <a:lstStyle/>
          <a:p>
            <a:pPr eaLnBrk="0" hangingPunct="0"/>
            <a:r>
              <a:rPr lang="en-US" altLang="zh-CN" sz="3600" b="1" i="1" err="1">
                <a:latin typeface="Arial" panose="020B0604020202020204" pitchFamily="34" charset="0"/>
                <a:ea typeface="宋体" panose="02010600030101010101" pitchFamily="2" charset="-122"/>
              </a:rPr>
              <a:t>v</a:t>
            </a:r>
            <a:r>
              <a:rPr lang="en-US" altLang="zh-CN" sz="3600" b="1" err="1">
                <a:latin typeface="Arial" panose="020B0604020202020204" pitchFamily="34" charset="0"/>
                <a:ea typeface="宋体" panose="02010600030101010101" pitchFamily="2" charset="-122"/>
              </a:rPr>
              <a:t>(k</a:t>
            </a:r>
            <a:r>
              <a:rPr lang="en-US" altLang="zh-CN" sz="3600" b="1">
                <a:latin typeface="Arial" panose="020B0604020202020204" pitchFamily="34" charset="0"/>
                <a:ea typeface="宋体" panose="02010600030101010101" pitchFamily="2" charset="-122"/>
              </a:rPr>
              <a:t>)</a:t>
            </a:r>
            <a:endParaRPr lang="en-US" altLang="zh-CN" sz="3600" b="1">
              <a:latin typeface="Arial" panose="020B0604020202020204" pitchFamily="34" charset="0"/>
              <a:ea typeface="Arial" panose="020B0604020202020204" pitchFamily="34" charset="0"/>
            </a:endParaRPr>
          </a:p>
        </p:txBody>
      </p:sp>
      <p:sp>
        <p:nvSpPr>
          <p:cNvPr id="41989" name="文本框 62472"/>
          <p:cNvSpPr txBox="1"/>
          <p:nvPr/>
        </p:nvSpPr>
        <p:spPr>
          <a:xfrm>
            <a:off x="1042988" y="4508500"/>
            <a:ext cx="5106987" cy="579438"/>
          </a:xfrm>
          <a:prstGeom prst="rect">
            <a:avLst/>
          </a:prstGeom>
          <a:noFill/>
          <a:ln w="9525">
            <a:noFill/>
          </a:ln>
        </p:spPr>
        <p:txBody>
          <a:bodyPr wrap="none" anchor="t" anchorCtr="0">
            <a:spAutoFit/>
          </a:bodyPr>
          <a:lstStyle/>
          <a:p>
            <a:r>
              <a:rPr lang="zh-CN" altLang="en-US" sz="3200" b="1" dirty="0">
                <a:latin typeface="Times New Roman" panose="02020603050405020304" pitchFamily="18" charset="0"/>
                <a:ea typeface="宋体" panose="02010600030101010101" pitchFamily="2" charset="-122"/>
              </a:rPr>
              <a:t>电子速度</a:t>
            </a:r>
            <a:r>
              <a:rPr lang="en-US" altLang="zh-CN" sz="3200" b="1" i="1">
                <a:latin typeface="Times New Roman" panose="02020603050405020304" pitchFamily="18" charset="0"/>
                <a:ea typeface="宋体" panose="02010600030101010101" pitchFamily="2" charset="-122"/>
              </a:rPr>
              <a:t>v</a:t>
            </a:r>
            <a:r>
              <a:rPr lang="zh-CN" altLang="en-US" sz="3200" b="1" dirty="0">
                <a:latin typeface="Times New Roman" panose="02020603050405020304" pitchFamily="18" charset="0"/>
                <a:ea typeface="宋体" panose="02010600030101010101" pitchFamily="2" charset="-122"/>
              </a:rPr>
              <a:t>与</a:t>
            </a:r>
            <a:r>
              <a:rPr lang="en-US" altLang="zh-CN" sz="3200" b="1" dirty="0">
                <a:latin typeface="Times New Roman" panose="02020603050405020304" pitchFamily="18" charset="0"/>
                <a:ea typeface="宋体" panose="02010600030101010101" pitchFamily="2" charset="-122"/>
              </a:rPr>
              <a:t>E</a:t>
            </a:r>
            <a:r>
              <a:rPr lang="zh-CN" altLang="en-US" sz="3200" b="1" dirty="0">
                <a:latin typeface="Times New Roman" panose="02020603050405020304" pitchFamily="18" charset="0"/>
                <a:ea typeface="宋体" panose="02010600030101010101" pitchFamily="2" charset="-122"/>
              </a:rPr>
              <a:t>分布的关系：</a:t>
            </a:r>
          </a:p>
        </p:txBody>
      </p:sp>
      <p:graphicFrame>
        <p:nvGraphicFramePr>
          <p:cNvPr id="41990" name="对象 62473"/>
          <p:cNvGraphicFramePr/>
          <p:nvPr/>
        </p:nvGraphicFramePr>
        <p:xfrm>
          <a:off x="2411413" y="3068638"/>
          <a:ext cx="2376487" cy="928687"/>
        </p:xfrm>
        <a:graphic>
          <a:graphicData uri="http://schemas.openxmlformats.org/presentationml/2006/ole">
            <mc:AlternateContent xmlns:mc="http://schemas.openxmlformats.org/markup-compatibility/2006">
              <mc:Choice xmlns:v="urn:schemas-microsoft-com:vml" Requires="v">
                <p:oleObj r:id="rId6" imgW="1168400" imgH="457200" progId="Equation.DSMT4">
                  <p:embed/>
                </p:oleObj>
              </mc:Choice>
              <mc:Fallback>
                <p:oleObj r:id="rId6" imgW="1168400" imgH="457200" progId="Equation.DSMT4">
                  <p:embed/>
                  <p:pic>
                    <p:nvPicPr>
                      <p:cNvPr id="0" name="图片 3123"/>
                      <p:cNvPicPr/>
                      <p:nvPr/>
                    </p:nvPicPr>
                    <p:blipFill>
                      <a:blip r:embed="rId7"/>
                      <a:stretch>
                        <a:fillRect/>
                      </a:stretch>
                    </p:blipFill>
                    <p:spPr>
                      <a:xfrm>
                        <a:off x="2411413" y="3068638"/>
                        <a:ext cx="2376487" cy="928687"/>
                      </a:xfrm>
                      <a:prstGeom prst="rect">
                        <a:avLst/>
                      </a:prstGeom>
                      <a:noFill/>
                      <a:ln w="38100">
                        <a:noFill/>
                        <a:miter/>
                      </a:ln>
                    </p:spPr>
                  </p:pic>
                </p:oleObj>
              </mc:Fallback>
            </mc:AlternateContent>
          </a:graphicData>
        </a:graphic>
      </p:graphicFrame>
      <p:sp>
        <p:nvSpPr>
          <p:cNvPr id="41991" name="右箭头 62474"/>
          <p:cNvSpPr/>
          <p:nvPr/>
        </p:nvSpPr>
        <p:spPr>
          <a:xfrm>
            <a:off x="4932363" y="3429000"/>
            <a:ext cx="647700" cy="144463"/>
          </a:xfrm>
          <a:prstGeom prst="rightArrow">
            <a:avLst>
              <a:gd name="adj1" fmla="val 50000"/>
              <a:gd name="adj2" fmla="val 112066"/>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graphicFrame>
        <p:nvGraphicFramePr>
          <p:cNvPr id="41992" name="对象 62475"/>
          <p:cNvGraphicFramePr/>
          <p:nvPr/>
        </p:nvGraphicFramePr>
        <p:xfrm>
          <a:off x="3708400" y="5229225"/>
          <a:ext cx="2232025" cy="1011238"/>
        </p:xfrm>
        <a:graphic>
          <a:graphicData uri="http://schemas.openxmlformats.org/presentationml/2006/ole">
            <mc:AlternateContent xmlns:mc="http://schemas.openxmlformats.org/markup-compatibility/2006">
              <mc:Choice xmlns:v="urn:schemas-microsoft-com:vml" Requires="v">
                <p:oleObj r:id="rId8" imgW="951865" imgH="431800" progId="Equation.3">
                  <p:embed/>
                </p:oleObj>
              </mc:Choice>
              <mc:Fallback>
                <p:oleObj r:id="rId8" imgW="951865" imgH="431800" progId="Equation.3">
                  <p:embed/>
                  <p:pic>
                    <p:nvPicPr>
                      <p:cNvPr id="0" name="图片 3120"/>
                      <p:cNvPicPr/>
                      <p:nvPr/>
                    </p:nvPicPr>
                    <p:blipFill>
                      <a:blip r:embed="rId9"/>
                      <a:stretch>
                        <a:fillRect/>
                      </a:stretch>
                    </p:blipFill>
                    <p:spPr>
                      <a:xfrm>
                        <a:off x="3708400" y="5229225"/>
                        <a:ext cx="2232025" cy="1011238"/>
                      </a:xfrm>
                      <a:prstGeom prst="rect">
                        <a:avLst/>
                      </a:prstGeom>
                      <a:solidFill>
                        <a:schemeClr val="accent1"/>
                      </a:solidFill>
                      <a:ln w="38100">
                        <a:noFill/>
                        <a:miter/>
                      </a:ln>
                    </p:spPr>
                  </p:pic>
                </p:oleObj>
              </mc:Fallback>
            </mc:AlternateContent>
          </a:graphicData>
        </a:graphic>
      </p:graphicFrame>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文本占位符 116738"/>
          <p:cNvSpPr>
            <a:spLocks noGrp="1"/>
          </p:cNvSpPr>
          <p:nvPr>
            <p:ph type="body" sz="half" idx="1"/>
          </p:nvPr>
        </p:nvSpPr>
        <p:spPr>
          <a:xfrm>
            <a:off x="468313" y="765175"/>
            <a:ext cx="5410200" cy="2374900"/>
          </a:xfrm>
        </p:spPr>
        <p:txBody>
          <a:bodyPr anchor="t" anchorCtr="0"/>
          <a:lstStyle/>
          <a:p>
            <a:pPr>
              <a:lnSpc>
                <a:spcPct val="90000"/>
              </a:lnSpc>
              <a:buClr>
                <a:schemeClr val="bg2"/>
              </a:buClr>
              <a:buSzPct val="75000"/>
              <a:buFont typeface="Wingdings" panose="05000000000000000000" pitchFamily="2" charset="2"/>
              <a:buNone/>
            </a:pPr>
            <a:r>
              <a:rPr lang="zh-CN" altLang="en-US" sz="3600" b="1" dirty="0"/>
              <a:t>加速度 </a:t>
            </a:r>
            <a:r>
              <a:rPr lang="en-US" altLang="zh-CN" sz="3600" b="1" i="1">
                <a:latin typeface="Times New Roman" panose="02020603050405020304" pitchFamily="18" charset="0"/>
                <a:ea typeface="楷体_GB2312" pitchFamily="49" charset="-122"/>
              </a:rPr>
              <a:t>a</a:t>
            </a:r>
          </a:p>
          <a:p>
            <a:pPr>
              <a:lnSpc>
                <a:spcPct val="90000"/>
              </a:lnSpc>
              <a:buClr>
                <a:schemeClr val="bg2"/>
              </a:buClr>
              <a:buSzPct val="75000"/>
              <a:buFont typeface="Wingdings" panose="05000000000000000000" pitchFamily="2" charset="2"/>
              <a:buNone/>
            </a:pPr>
            <a:r>
              <a:rPr lang="en-US" altLang="zh-CN" sz="2800" b="1" dirty="0"/>
              <a:t>		</a:t>
            </a:r>
            <a:r>
              <a:rPr lang="zh-CN" altLang="en-US" sz="2800" b="1" dirty="0"/>
              <a:t>有外力</a:t>
            </a:r>
            <a:r>
              <a:rPr lang="en-US" altLang="zh-CN" sz="2800" b="1" dirty="0"/>
              <a:t>F</a:t>
            </a:r>
            <a:r>
              <a:rPr lang="zh-CN" altLang="en-US" sz="2800" b="1" dirty="0"/>
              <a:t>作用于电子</a:t>
            </a:r>
            <a:r>
              <a:rPr lang="en-US" altLang="zh-CN" sz="2800" b="1" dirty="0"/>
              <a:t>,</a:t>
            </a:r>
            <a:r>
              <a:rPr lang="zh-CN" altLang="en-US" sz="2800" b="1" dirty="0"/>
              <a:t>在</a:t>
            </a:r>
            <a:r>
              <a:rPr lang="en-US" altLang="zh-CN" sz="2800" b="1" i="1" err="1"/>
              <a:t>dt</a:t>
            </a:r>
            <a:r>
              <a:rPr lang="en-US" altLang="zh-CN" sz="2800" b="1" i="1"/>
              <a:t> </a:t>
            </a:r>
            <a:r>
              <a:rPr lang="zh-CN" altLang="en-US" sz="2800" b="1" dirty="0"/>
              <a:t>时间内</a:t>
            </a:r>
            <a:r>
              <a:rPr lang="en-US" altLang="zh-CN" sz="2800" b="1" dirty="0"/>
              <a:t>, </a:t>
            </a:r>
            <a:r>
              <a:rPr lang="zh-CN" altLang="en-US" sz="2800" b="1" dirty="0"/>
              <a:t>电子位移了</a:t>
            </a:r>
            <a:r>
              <a:rPr lang="en-US" altLang="zh-CN" sz="2800" b="1" i="1" err="1"/>
              <a:t>ds</a:t>
            </a:r>
            <a:r>
              <a:rPr lang="en-US" altLang="zh-CN" sz="2800" b="1" dirty="0"/>
              <a:t> </a:t>
            </a:r>
            <a:r>
              <a:rPr lang="zh-CN" altLang="en-US" sz="2800" b="1" dirty="0"/>
              <a:t>距离</a:t>
            </a:r>
            <a:endParaRPr lang="zh-CN" altLang="en-US" sz="2800" b="1"/>
          </a:p>
          <a:p>
            <a:pPr>
              <a:lnSpc>
                <a:spcPct val="90000"/>
              </a:lnSpc>
              <a:buClr>
                <a:schemeClr val="bg2"/>
              </a:buClr>
              <a:buSzPct val="75000"/>
              <a:buFont typeface="Wingdings" panose="05000000000000000000" pitchFamily="2" charset="2"/>
              <a:buNone/>
            </a:pPr>
            <a:r>
              <a:rPr lang="zh-CN" altLang="en-US" sz="2800" b="1" dirty="0"/>
              <a:t>		外力对电子所作的功等于能量的变化</a:t>
            </a:r>
            <a:r>
              <a:rPr lang="en-US" altLang="zh-CN" sz="2800" b="1" dirty="0"/>
              <a:t>,</a:t>
            </a:r>
            <a:r>
              <a:rPr lang="zh-CN" altLang="en-US" sz="2800" b="1" dirty="0"/>
              <a:t>即</a:t>
            </a:r>
            <a:r>
              <a:rPr lang="en-US" altLang="zh-CN" sz="2800" b="1"/>
              <a:t>:</a:t>
            </a:r>
          </a:p>
        </p:txBody>
      </p:sp>
      <p:graphicFrame>
        <p:nvGraphicFramePr>
          <p:cNvPr id="43010" name="内容占位符 116741"/>
          <p:cNvGraphicFramePr>
            <a:graphicFrameLocks noGrp="1"/>
          </p:cNvGraphicFramePr>
          <p:nvPr>
            <p:ph type="body" sz="half" idx="1"/>
          </p:nvPr>
        </p:nvGraphicFramePr>
        <p:xfrm>
          <a:off x="2484438" y="3357563"/>
          <a:ext cx="4105275" cy="542925"/>
        </p:xfrm>
        <a:graphic>
          <a:graphicData uri="http://schemas.openxmlformats.org/presentationml/2006/ole">
            <mc:AlternateContent xmlns:mc="http://schemas.openxmlformats.org/markup-compatibility/2006">
              <mc:Choice xmlns:v="urn:schemas-microsoft-com:vml" Requires="v">
                <p:oleObj r:id="rId2" imgW="1090295" imgH="177800" progId="Equation.DSMT4">
                  <p:embed/>
                </p:oleObj>
              </mc:Choice>
              <mc:Fallback>
                <p:oleObj r:id="rId2" imgW="1090295" imgH="177800" progId="Equation.DSMT4">
                  <p:embed/>
                  <p:pic>
                    <p:nvPicPr>
                      <p:cNvPr id="0" name="图片 3126"/>
                      <p:cNvPicPr/>
                      <p:nvPr/>
                    </p:nvPicPr>
                    <p:blipFill>
                      <a:blip r:embed="rId3"/>
                      <a:stretch>
                        <a:fillRect/>
                      </a:stretch>
                    </p:blipFill>
                    <p:spPr>
                      <a:xfrm>
                        <a:off x="2484438" y="3357563"/>
                        <a:ext cx="4105275" cy="542925"/>
                      </a:xfrm>
                      <a:prstGeom prst="rect">
                        <a:avLst/>
                      </a:prstGeom>
                      <a:noFill/>
                      <a:ln w="38100">
                        <a:miter/>
                      </a:ln>
                    </p:spPr>
                  </p:pic>
                </p:oleObj>
              </mc:Fallback>
            </mc:AlternateContent>
          </a:graphicData>
        </a:graphic>
      </p:graphicFrame>
      <p:graphicFrame>
        <p:nvGraphicFramePr>
          <p:cNvPr id="43011" name="对象 116745"/>
          <p:cNvGraphicFramePr/>
          <p:nvPr/>
        </p:nvGraphicFramePr>
        <p:xfrm>
          <a:off x="1835150" y="4365625"/>
          <a:ext cx="2879725" cy="1103313"/>
        </p:xfrm>
        <a:graphic>
          <a:graphicData uri="http://schemas.openxmlformats.org/presentationml/2006/ole">
            <mc:AlternateContent xmlns:mc="http://schemas.openxmlformats.org/markup-compatibility/2006">
              <mc:Choice xmlns:v="urn:schemas-microsoft-com:vml" Requires="v">
                <p:oleObj r:id="rId4" imgW="862965" imgH="393700" progId="Equation.3">
                  <p:embed/>
                </p:oleObj>
              </mc:Choice>
              <mc:Fallback>
                <p:oleObj r:id="rId4" imgW="862965" imgH="393700" progId="Equation.3">
                  <p:embed/>
                  <p:pic>
                    <p:nvPicPr>
                      <p:cNvPr id="0" name="图片 3125"/>
                      <p:cNvPicPr/>
                      <p:nvPr/>
                    </p:nvPicPr>
                    <p:blipFill>
                      <a:blip r:embed="rId5"/>
                      <a:stretch>
                        <a:fillRect/>
                      </a:stretch>
                    </p:blipFill>
                    <p:spPr>
                      <a:xfrm>
                        <a:off x="1835150" y="4365625"/>
                        <a:ext cx="2879725" cy="1103313"/>
                      </a:xfrm>
                      <a:prstGeom prst="rect">
                        <a:avLst/>
                      </a:prstGeom>
                      <a:noFill/>
                      <a:ln w="38100">
                        <a:noFill/>
                        <a:miter/>
                      </a:ln>
                    </p:spPr>
                  </p:pic>
                </p:oleObj>
              </mc:Fallback>
            </mc:AlternateContent>
          </a:graphicData>
        </a:graphic>
      </p:graphicFrame>
      <p:graphicFrame>
        <p:nvGraphicFramePr>
          <p:cNvPr id="43012" name="内容占位符 116747"/>
          <p:cNvGraphicFramePr>
            <a:graphicFrameLocks noGrp="1"/>
          </p:cNvGraphicFramePr>
          <p:nvPr>
            <p:ph sz="half" idx="2"/>
          </p:nvPr>
        </p:nvGraphicFramePr>
        <p:xfrm>
          <a:off x="6084888" y="4437063"/>
          <a:ext cx="1584325" cy="896937"/>
        </p:xfrm>
        <a:graphic>
          <a:graphicData uri="http://schemas.openxmlformats.org/presentationml/2006/ole">
            <mc:AlternateContent xmlns:mc="http://schemas.openxmlformats.org/markup-compatibility/2006">
              <mc:Choice xmlns:v="urn:schemas-microsoft-com:vml" Requires="v">
                <p:oleObj r:id="rId6" imgW="596900" imgH="393700" progId="Equation.DSMT4">
                  <p:embed/>
                </p:oleObj>
              </mc:Choice>
              <mc:Fallback>
                <p:oleObj r:id="rId6" imgW="596900" imgH="393700" progId="Equation.DSMT4">
                  <p:embed/>
                  <p:pic>
                    <p:nvPicPr>
                      <p:cNvPr id="0" name="图片 3132"/>
                      <p:cNvPicPr/>
                      <p:nvPr/>
                    </p:nvPicPr>
                    <p:blipFill>
                      <a:blip r:embed="rId7"/>
                      <a:stretch>
                        <a:fillRect/>
                      </a:stretch>
                    </p:blipFill>
                    <p:spPr>
                      <a:xfrm>
                        <a:off x="6084888" y="4437063"/>
                        <a:ext cx="1584325" cy="896937"/>
                      </a:xfrm>
                      <a:prstGeom prst="rect">
                        <a:avLst/>
                      </a:prstGeom>
                      <a:noFill/>
                      <a:ln w="38100">
                        <a:miter/>
                      </a:ln>
                    </p:spPr>
                  </p:pic>
                </p:oleObj>
              </mc:Fallback>
            </mc:AlternateContent>
          </a:graphicData>
        </a:graphic>
      </p:graphicFrame>
      <p:sp>
        <p:nvSpPr>
          <p:cNvPr id="43013" name="右箭头 116750"/>
          <p:cNvSpPr/>
          <p:nvPr/>
        </p:nvSpPr>
        <p:spPr>
          <a:xfrm>
            <a:off x="4859338" y="4724400"/>
            <a:ext cx="1008062" cy="360363"/>
          </a:xfrm>
          <a:prstGeom prst="rightArrow">
            <a:avLst>
              <a:gd name="adj1" fmla="val 50000"/>
              <a:gd name="adj2" fmla="val 69920"/>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43014" name="椭圆 116751"/>
          <p:cNvSpPr/>
          <p:nvPr/>
        </p:nvSpPr>
        <p:spPr>
          <a:xfrm>
            <a:off x="6516688" y="1917700"/>
            <a:ext cx="360362" cy="360363"/>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sz="3200">
                <a:latin typeface="Times New Roman" panose="02020603050405020304" pitchFamily="18" charset="0"/>
                <a:ea typeface="宋体" panose="02010600030101010101" pitchFamily="2" charset="-122"/>
              </a:rPr>
              <a:t>-</a:t>
            </a:r>
          </a:p>
        </p:txBody>
      </p:sp>
      <p:sp>
        <p:nvSpPr>
          <p:cNvPr id="43015" name="直接连接符 116752"/>
          <p:cNvSpPr/>
          <p:nvPr/>
        </p:nvSpPr>
        <p:spPr>
          <a:xfrm>
            <a:off x="6948488" y="2133600"/>
            <a:ext cx="1223962" cy="0"/>
          </a:xfrm>
          <a:prstGeom prst="line">
            <a:avLst/>
          </a:prstGeom>
          <a:ln w="9525" cap="flat" cmpd="sng">
            <a:solidFill>
              <a:schemeClr val="tx1"/>
            </a:solidFill>
            <a:prstDash val="solid"/>
            <a:round/>
            <a:headEnd type="none" w="med" len="med"/>
            <a:tailEnd type="triangle" w="med" len="med"/>
          </a:ln>
        </p:spPr>
      </p:sp>
      <p:sp>
        <p:nvSpPr>
          <p:cNvPr id="43016" name="文本框 116753"/>
          <p:cNvSpPr txBox="1"/>
          <p:nvPr/>
        </p:nvSpPr>
        <p:spPr>
          <a:xfrm>
            <a:off x="7380288" y="1341438"/>
            <a:ext cx="488950" cy="641350"/>
          </a:xfrm>
          <a:prstGeom prst="rect">
            <a:avLst/>
          </a:prstGeom>
          <a:noFill/>
          <a:ln w="9525">
            <a:noFill/>
          </a:ln>
        </p:spPr>
        <p:txBody>
          <a:bodyPr wrap="none" anchor="t" anchorCtr="0">
            <a:spAutoFit/>
          </a:bodyPr>
          <a:lstStyle/>
          <a:p>
            <a:r>
              <a:rPr lang="en-US" altLang="zh-CN" sz="3600" b="1" i="1">
                <a:latin typeface="Times New Roman" panose="02020603050405020304" pitchFamily="18" charset="0"/>
                <a:ea typeface="宋体" panose="02010600030101010101" pitchFamily="2" charset="-122"/>
              </a:rPr>
              <a:t>F</a:t>
            </a:r>
          </a:p>
        </p:txBody>
      </p:sp>
      <p:sp>
        <p:nvSpPr>
          <p:cNvPr id="43017" name="文本框 116754"/>
          <p:cNvSpPr txBox="1"/>
          <p:nvPr/>
        </p:nvSpPr>
        <p:spPr>
          <a:xfrm>
            <a:off x="7288213" y="2074863"/>
            <a:ext cx="500062" cy="519112"/>
          </a:xfrm>
          <a:prstGeom prst="rect">
            <a:avLst/>
          </a:prstGeom>
          <a:noFill/>
          <a:ln w="9525">
            <a:noFill/>
          </a:ln>
        </p:spPr>
        <p:txBody>
          <a:bodyPr wrap="none" anchor="t" anchorCtr="0">
            <a:spAutoFit/>
          </a:bodyPr>
          <a:lstStyle/>
          <a:p>
            <a:r>
              <a:rPr lang="en-US" altLang="zh-CN" sz="2800" b="1" i="1" err="1">
                <a:latin typeface="Times New Roman" panose="02020603050405020304" pitchFamily="18" charset="0"/>
                <a:ea typeface="宋体" panose="02010600030101010101" pitchFamily="2" charset="-122"/>
              </a:rPr>
              <a:t>ds</a:t>
            </a:r>
            <a:endParaRPr lang="en-US" altLang="zh-CN" sz="2800" b="1" i="1">
              <a:latin typeface="Times New Roman" panose="02020603050405020304" pitchFamily="18" charset="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3" name="对象 64513"/>
          <p:cNvGraphicFramePr/>
          <p:nvPr/>
        </p:nvGraphicFramePr>
        <p:xfrm>
          <a:off x="2124075" y="1412875"/>
          <a:ext cx="4772025" cy="4108450"/>
        </p:xfrm>
        <a:graphic>
          <a:graphicData uri="http://schemas.openxmlformats.org/presentationml/2006/ole">
            <mc:AlternateContent xmlns:mc="http://schemas.openxmlformats.org/markup-compatibility/2006">
              <mc:Choice xmlns:v="urn:schemas-microsoft-com:vml" Requires="v">
                <p:oleObj r:id="rId2" imgW="1549400" imgH="1333500" progId="Equation.DSMT4">
                  <p:embed/>
                </p:oleObj>
              </mc:Choice>
              <mc:Fallback>
                <p:oleObj r:id="rId2" imgW="1549400" imgH="1333500" progId="Equation.DSMT4">
                  <p:embed/>
                  <p:pic>
                    <p:nvPicPr>
                      <p:cNvPr id="0" name="图片 3124"/>
                      <p:cNvPicPr/>
                      <p:nvPr/>
                    </p:nvPicPr>
                    <p:blipFill>
                      <a:blip r:embed="rId3"/>
                      <a:stretch>
                        <a:fillRect/>
                      </a:stretch>
                    </p:blipFill>
                    <p:spPr>
                      <a:xfrm>
                        <a:off x="2124075" y="1412875"/>
                        <a:ext cx="4772025" cy="4108450"/>
                      </a:xfrm>
                      <a:prstGeom prst="rect">
                        <a:avLst/>
                      </a:prstGeom>
                      <a:noFill/>
                      <a:ln w="38100">
                        <a:noFill/>
                        <a:miter/>
                      </a:ln>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文本框 66561"/>
          <p:cNvSpPr txBox="1"/>
          <p:nvPr/>
        </p:nvSpPr>
        <p:spPr>
          <a:xfrm>
            <a:off x="611188" y="620713"/>
            <a:ext cx="4465637" cy="641350"/>
          </a:xfrm>
          <a:prstGeom prst="rect">
            <a:avLst/>
          </a:prstGeom>
          <a:noFill/>
          <a:ln w="12700">
            <a:noFill/>
          </a:ln>
        </p:spPr>
        <p:txBody>
          <a:bodyPr anchor="t" anchorCtr="0">
            <a:spAutoFit/>
          </a:bodyPr>
          <a:lstStyle/>
          <a:p>
            <a:r>
              <a:rPr lang="zh-CN" altLang="en-US" sz="3600" b="1" dirty="0">
                <a:latin typeface="Times New Roman" panose="02020603050405020304" pitchFamily="18" charset="0"/>
                <a:ea typeface="宋体" panose="02010600030101010101" pitchFamily="2" charset="-122"/>
              </a:rPr>
              <a:t>以一维情况为例</a:t>
            </a:r>
            <a:endParaRPr lang="zh-CN" altLang="en-US" sz="3600" b="1">
              <a:latin typeface="Times New Roman" panose="02020603050405020304" pitchFamily="18" charset="0"/>
              <a:ea typeface="宋体" panose="02010600030101010101" pitchFamily="2" charset="-122"/>
            </a:endParaRPr>
          </a:p>
        </p:txBody>
      </p:sp>
      <p:sp>
        <p:nvSpPr>
          <p:cNvPr id="46082" name="文本框 66562"/>
          <p:cNvSpPr txBox="1"/>
          <p:nvPr/>
        </p:nvSpPr>
        <p:spPr>
          <a:xfrm>
            <a:off x="914400" y="1295400"/>
            <a:ext cx="7905115" cy="2061210"/>
          </a:xfrm>
          <a:prstGeom prst="rect">
            <a:avLst/>
          </a:prstGeom>
          <a:noFill/>
          <a:ln w="12700">
            <a:noFill/>
          </a:ln>
        </p:spPr>
        <p:txBody>
          <a:bodyPr wrap="square" anchor="t" anchorCtr="0">
            <a:spAutoFit/>
          </a:bodyPr>
          <a:lstStyle/>
          <a:p>
            <a:r>
              <a:rPr lang="zh-CN" altLang="en-US" sz="3200" b="1" dirty="0">
                <a:latin typeface="宋体" panose="02010600030101010101" pitchFamily="2" charset="-122"/>
                <a:ea typeface="宋体" panose="02010600030101010101" pitchFamily="2" charset="-122"/>
              </a:rPr>
              <a:t>设</a:t>
            </a:r>
            <a:r>
              <a:rPr lang="en-US" altLang="zh-CN" sz="3200" b="1" err="1">
                <a:latin typeface="宋体" panose="02010600030101010101" pitchFamily="2" charset="-122"/>
                <a:ea typeface="宋体" panose="02010600030101010101" pitchFamily="2" charset="-122"/>
              </a:rPr>
              <a:t>E(k</a:t>
            </a:r>
            <a:r>
              <a:rPr lang="en-US" altLang="zh-CN" sz="3200" b="1" dirty="0">
                <a:latin typeface="宋体" panose="02010600030101010101" pitchFamily="2" charset="-122"/>
                <a:ea typeface="宋体" panose="02010600030101010101" pitchFamily="2" charset="-122"/>
              </a:rPr>
              <a:t>)</a:t>
            </a:r>
            <a:r>
              <a:rPr lang="zh-CN" altLang="en-US" sz="3200" b="1" dirty="0">
                <a:latin typeface="宋体" panose="02010600030101010101" pitchFamily="2" charset="-122"/>
                <a:ea typeface="宋体" panose="02010600030101010101" pitchFamily="2" charset="-122"/>
              </a:rPr>
              <a:t>在</a:t>
            </a:r>
            <a:r>
              <a:rPr lang="en-US" altLang="zh-CN" sz="3200" b="1" dirty="0">
                <a:latin typeface="宋体" panose="02010600030101010101" pitchFamily="2" charset="-122"/>
                <a:ea typeface="宋体" panose="02010600030101010101" pitchFamily="2" charset="-122"/>
              </a:rPr>
              <a:t>k=0</a:t>
            </a:r>
            <a:r>
              <a:rPr lang="zh-CN" altLang="en-US" sz="3200" b="1" dirty="0">
                <a:latin typeface="宋体" panose="02010600030101010101" pitchFamily="2" charset="-122"/>
                <a:ea typeface="宋体" panose="02010600030101010101" pitchFamily="2" charset="-122"/>
              </a:rPr>
              <a:t>处取得极值，</a:t>
            </a:r>
            <a:r>
              <a:rPr kumimoji="1" lang="zh-CN" altLang="en-US" sz="3200" b="0" kern="0" noProof="0" dirty="0">
                <a:ln>
                  <a:noFill/>
                </a:ln>
                <a:effectLst/>
                <a:uLnTx/>
                <a:uFillTx/>
                <a:latin typeface="黑体" panose="02010609060101010101" pitchFamily="49" charset="-122"/>
                <a:ea typeface="黑体" panose="02010609060101010101" pitchFamily="49" charset="-122"/>
                <a:sym typeface="+mn-ea"/>
              </a:rPr>
              <a:t>起主要作用的是处于能带顶部和底部的电子。在能带顶部和底部的电子能量为</a:t>
            </a:r>
            <a:r>
              <a:rPr lang="zh-CN" altLang="en-US" sz="3200" b="1" dirty="0">
                <a:latin typeface="宋体" panose="02010600030101010101" pitchFamily="2" charset="-122"/>
                <a:ea typeface="宋体" panose="02010600030101010101" pitchFamily="2" charset="-122"/>
              </a:rPr>
              <a:t>在极值附近按泰勒级数展开：</a:t>
            </a:r>
          </a:p>
        </p:txBody>
      </p:sp>
      <p:graphicFrame>
        <p:nvGraphicFramePr>
          <p:cNvPr id="46083" name="对象 66563"/>
          <p:cNvGraphicFramePr/>
          <p:nvPr/>
        </p:nvGraphicFramePr>
        <p:xfrm>
          <a:off x="1259523" y="3068638"/>
          <a:ext cx="7058025" cy="1100137"/>
        </p:xfrm>
        <a:graphic>
          <a:graphicData uri="http://schemas.openxmlformats.org/presentationml/2006/ole">
            <mc:AlternateContent xmlns:mc="http://schemas.openxmlformats.org/markup-compatibility/2006">
              <mc:Choice xmlns:v="urn:schemas-microsoft-com:vml" Requires="v">
                <p:oleObj r:id="rId2" imgW="2692400" imgH="419100" progId="Equation.DSMT4">
                  <p:embed/>
                </p:oleObj>
              </mc:Choice>
              <mc:Fallback>
                <p:oleObj r:id="rId2" imgW="2692400" imgH="419100" progId="Equation.DSMT4">
                  <p:embed/>
                  <p:pic>
                    <p:nvPicPr>
                      <p:cNvPr id="0" name="图片 3077"/>
                      <p:cNvPicPr/>
                      <p:nvPr/>
                    </p:nvPicPr>
                    <p:blipFill>
                      <a:blip r:embed="rId3"/>
                      <a:stretch>
                        <a:fillRect/>
                      </a:stretch>
                    </p:blipFill>
                    <p:spPr>
                      <a:xfrm>
                        <a:off x="1259523" y="3068638"/>
                        <a:ext cx="7058025" cy="1100137"/>
                      </a:xfrm>
                      <a:prstGeom prst="rect">
                        <a:avLst/>
                      </a:prstGeom>
                      <a:noFill/>
                      <a:ln w="38100">
                        <a:noFill/>
                        <a:miter/>
                      </a:ln>
                    </p:spPr>
                  </p:pic>
                </p:oleObj>
              </mc:Fallback>
            </mc:AlternateContent>
          </a:graphicData>
        </a:graphic>
      </p:graphicFrame>
      <p:graphicFrame>
        <p:nvGraphicFramePr>
          <p:cNvPr id="46084" name="对象 66567"/>
          <p:cNvGraphicFramePr/>
          <p:nvPr/>
        </p:nvGraphicFramePr>
        <p:xfrm>
          <a:off x="2771458" y="4293235"/>
          <a:ext cx="2087562" cy="1014413"/>
        </p:xfrm>
        <a:graphic>
          <a:graphicData uri="http://schemas.openxmlformats.org/presentationml/2006/ole">
            <mc:AlternateContent xmlns:mc="http://schemas.openxmlformats.org/markup-compatibility/2006">
              <mc:Choice xmlns:v="urn:schemas-microsoft-com:vml" Requires="v">
                <p:oleObj r:id="rId4" imgW="913765" imgH="444500" progId="Equation.DSMT4">
                  <p:embed/>
                </p:oleObj>
              </mc:Choice>
              <mc:Fallback>
                <p:oleObj r:id="rId4" imgW="913765" imgH="444500" progId="Equation.DSMT4">
                  <p:embed/>
                  <p:pic>
                    <p:nvPicPr>
                      <p:cNvPr id="0" name="图片 3080"/>
                      <p:cNvPicPr/>
                      <p:nvPr/>
                    </p:nvPicPr>
                    <p:blipFill>
                      <a:blip r:embed="rId5"/>
                      <a:stretch>
                        <a:fillRect/>
                      </a:stretch>
                    </p:blipFill>
                    <p:spPr>
                      <a:xfrm>
                        <a:off x="2771458" y="4293235"/>
                        <a:ext cx="2087562" cy="1014413"/>
                      </a:xfrm>
                      <a:prstGeom prst="rect">
                        <a:avLst/>
                      </a:prstGeom>
                      <a:noFill/>
                      <a:ln w="38100">
                        <a:noFill/>
                        <a:miter/>
                      </a:ln>
                    </p:spPr>
                  </p:pic>
                </p:oleObj>
              </mc:Fallback>
            </mc:AlternateContent>
          </a:graphicData>
        </a:graphic>
      </p:graphicFrame>
      <p:graphicFrame>
        <p:nvGraphicFramePr>
          <p:cNvPr id="46085" name="对象 66568"/>
          <p:cNvGraphicFramePr/>
          <p:nvPr/>
        </p:nvGraphicFramePr>
        <p:xfrm>
          <a:off x="2644140" y="5373053"/>
          <a:ext cx="4289425" cy="1173162"/>
        </p:xfrm>
        <a:graphic>
          <a:graphicData uri="http://schemas.openxmlformats.org/presentationml/2006/ole">
            <mc:AlternateContent xmlns:mc="http://schemas.openxmlformats.org/markup-compatibility/2006">
              <mc:Choice xmlns:v="urn:schemas-microsoft-com:vml" Requires="v">
                <p:oleObj r:id="rId6" imgW="1764665" imgH="482600" progId="Equation.3">
                  <p:embed/>
                </p:oleObj>
              </mc:Choice>
              <mc:Fallback>
                <p:oleObj r:id="rId6" imgW="1764665" imgH="482600" progId="Equation.3">
                  <p:embed/>
                  <p:pic>
                    <p:nvPicPr>
                      <p:cNvPr id="0" name="图片 3076"/>
                      <p:cNvPicPr/>
                      <p:nvPr/>
                    </p:nvPicPr>
                    <p:blipFill>
                      <a:blip r:embed="rId7"/>
                      <a:stretch>
                        <a:fillRect/>
                      </a:stretch>
                    </p:blipFill>
                    <p:spPr>
                      <a:xfrm>
                        <a:off x="2644140" y="5373053"/>
                        <a:ext cx="4289425" cy="1173162"/>
                      </a:xfrm>
                      <a:prstGeom prst="rect">
                        <a:avLst/>
                      </a:prstGeom>
                      <a:noFill/>
                      <a:ln w="38100">
                        <a:noFill/>
                        <a:miter/>
                      </a:ln>
                    </p:spPr>
                  </p:pic>
                </p:oleObj>
              </mc:Fallback>
            </mc:AlternateContent>
          </a:graphicData>
        </a:graphic>
      </p:graphicFrame>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文本框 120836"/>
          <p:cNvSpPr txBox="1"/>
          <p:nvPr/>
        </p:nvSpPr>
        <p:spPr>
          <a:xfrm>
            <a:off x="1403350" y="1058863"/>
            <a:ext cx="641350" cy="641350"/>
          </a:xfrm>
          <a:prstGeom prst="rect">
            <a:avLst/>
          </a:prstGeom>
          <a:noFill/>
          <a:ln w="9525">
            <a:noFill/>
          </a:ln>
        </p:spPr>
        <p:txBody>
          <a:bodyPr wrap="none" anchor="t" anchorCtr="0">
            <a:spAutoFit/>
          </a:bodyPr>
          <a:lstStyle/>
          <a:p>
            <a:r>
              <a:rPr lang="zh-CN" altLang="en-US" sz="3600" b="1" dirty="0">
                <a:latin typeface="Times New Roman" panose="02020603050405020304" pitchFamily="18" charset="0"/>
                <a:ea typeface="宋体" panose="02010600030101010101" pitchFamily="2" charset="-122"/>
              </a:rPr>
              <a:t>令</a:t>
            </a:r>
          </a:p>
        </p:txBody>
      </p:sp>
      <p:sp>
        <p:nvSpPr>
          <p:cNvPr id="47106" name="文本框 120838"/>
          <p:cNvSpPr txBox="1"/>
          <p:nvPr/>
        </p:nvSpPr>
        <p:spPr>
          <a:xfrm>
            <a:off x="1404938" y="2614613"/>
            <a:ext cx="641350" cy="641350"/>
          </a:xfrm>
          <a:prstGeom prst="rect">
            <a:avLst/>
          </a:prstGeom>
          <a:noFill/>
          <a:ln w="9525">
            <a:noFill/>
          </a:ln>
        </p:spPr>
        <p:txBody>
          <a:bodyPr wrap="none" anchor="t" anchorCtr="0">
            <a:spAutoFit/>
          </a:bodyPr>
          <a:lstStyle/>
          <a:p>
            <a:r>
              <a:rPr lang="zh-CN" altLang="en-US" sz="3600" b="1" dirty="0">
                <a:latin typeface="Times New Roman" panose="02020603050405020304" pitchFamily="18" charset="0"/>
                <a:ea typeface="宋体" panose="02010600030101010101" pitchFamily="2" charset="-122"/>
              </a:rPr>
              <a:t>则</a:t>
            </a:r>
          </a:p>
        </p:txBody>
      </p:sp>
      <p:graphicFrame>
        <p:nvGraphicFramePr>
          <p:cNvPr id="47107" name="对象 120839"/>
          <p:cNvGraphicFramePr/>
          <p:nvPr/>
        </p:nvGraphicFramePr>
        <p:xfrm>
          <a:off x="2339975" y="2492375"/>
          <a:ext cx="3084513" cy="1033463"/>
        </p:xfrm>
        <a:graphic>
          <a:graphicData uri="http://schemas.openxmlformats.org/presentationml/2006/ole">
            <mc:AlternateContent xmlns:mc="http://schemas.openxmlformats.org/markup-compatibility/2006">
              <mc:Choice xmlns:v="urn:schemas-microsoft-com:vml" Requires="v">
                <p:oleObj r:id="rId2" imgW="1257300" imgH="457200" progId="Equation.DSMT4">
                  <p:embed/>
                </p:oleObj>
              </mc:Choice>
              <mc:Fallback>
                <p:oleObj r:id="rId2" imgW="1257300" imgH="457200" progId="Equation.DSMT4">
                  <p:embed/>
                  <p:pic>
                    <p:nvPicPr>
                      <p:cNvPr id="0" name="图片 3078"/>
                      <p:cNvPicPr/>
                      <p:nvPr/>
                    </p:nvPicPr>
                    <p:blipFill>
                      <a:blip r:embed="rId3"/>
                      <a:stretch>
                        <a:fillRect/>
                      </a:stretch>
                    </p:blipFill>
                    <p:spPr>
                      <a:xfrm>
                        <a:off x="2339975" y="2492375"/>
                        <a:ext cx="3084513" cy="1033463"/>
                      </a:xfrm>
                      <a:prstGeom prst="rect">
                        <a:avLst/>
                      </a:prstGeom>
                      <a:noFill/>
                      <a:ln w="38100">
                        <a:noFill/>
                        <a:miter/>
                      </a:ln>
                    </p:spPr>
                  </p:pic>
                </p:oleObj>
              </mc:Fallback>
            </mc:AlternateContent>
          </a:graphicData>
        </a:graphic>
      </p:graphicFrame>
      <p:sp>
        <p:nvSpPr>
          <p:cNvPr id="47108" name="文本框 120840"/>
          <p:cNvSpPr txBox="1"/>
          <p:nvPr/>
        </p:nvSpPr>
        <p:spPr>
          <a:xfrm>
            <a:off x="1835150" y="4941888"/>
            <a:ext cx="6180138" cy="1066800"/>
          </a:xfrm>
          <a:prstGeom prst="rect">
            <a:avLst/>
          </a:prstGeom>
          <a:noFill/>
          <a:ln w="9525">
            <a:noFill/>
          </a:ln>
        </p:spPr>
        <p:txBody>
          <a:bodyPr anchor="t" anchorCtr="0">
            <a:spAutoFit/>
          </a:bodyPr>
          <a:lstStyle/>
          <a:p>
            <a:r>
              <a:rPr lang="zh-CN" altLang="en-US" sz="3200" b="1" dirty="0">
                <a:latin typeface="Times New Roman" panose="02020603050405020304" pitchFamily="18" charset="0"/>
                <a:ea typeface="宋体" panose="02010600030101010101" pitchFamily="2" charset="-122"/>
              </a:rPr>
              <a:t>能带底：</a:t>
            </a:r>
            <a:r>
              <a:rPr lang="en-US" altLang="zh-CN" sz="3200" b="1" err="1">
                <a:latin typeface="Times New Roman" panose="02020603050405020304" pitchFamily="18" charset="0"/>
                <a:ea typeface="宋体" panose="02010600030101010101" pitchFamily="2" charset="-122"/>
              </a:rPr>
              <a:t>E(k) &gt; E(0),  m</a:t>
            </a:r>
            <a:r>
              <a:rPr lang="en-US" altLang="zh-CN" sz="3200" b="1" baseline="-25000" err="1">
                <a:latin typeface="Times New Roman" panose="02020603050405020304" pitchFamily="18" charset="0"/>
                <a:ea typeface="宋体" panose="02010600030101010101" pitchFamily="2" charset="-122"/>
              </a:rPr>
              <a:t>n</a:t>
            </a:r>
            <a:r>
              <a:rPr lang="en-US" altLang="zh-CN" sz="3200" b="1" baseline="30000">
                <a:latin typeface="Times New Roman" panose="02020603050405020304" pitchFamily="18" charset="0"/>
                <a:ea typeface="宋体" panose="02010600030101010101" pitchFamily="2" charset="-122"/>
              </a:rPr>
              <a:t>*</a:t>
            </a:r>
            <a:r>
              <a:rPr lang="en-US" altLang="zh-CN" sz="3200" b="1">
                <a:latin typeface="Times New Roman" panose="02020603050405020304" pitchFamily="18" charset="0"/>
                <a:ea typeface="宋体" panose="02010600030101010101" pitchFamily="2" charset="-122"/>
              </a:rPr>
              <a:t>&gt; 0</a:t>
            </a:r>
          </a:p>
          <a:p>
            <a:r>
              <a:rPr lang="zh-CN" altLang="en-US" sz="3200" b="1" dirty="0">
                <a:latin typeface="Times New Roman" panose="02020603050405020304" pitchFamily="18" charset="0"/>
                <a:ea typeface="宋体" panose="02010600030101010101" pitchFamily="2" charset="-122"/>
              </a:rPr>
              <a:t>能带顶：</a:t>
            </a:r>
            <a:r>
              <a:rPr lang="en-US" altLang="zh-CN" sz="3200" b="1" err="1">
                <a:latin typeface="Times New Roman" panose="02020603050405020304" pitchFamily="18" charset="0"/>
                <a:ea typeface="宋体" panose="02010600030101010101" pitchFamily="2" charset="-122"/>
              </a:rPr>
              <a:t>E(k) &lt; E(0),  m</a:t>
            </a:r>
            <a:r>
              <a:rPr lang="en-US" altLang="zh-CN" sz="3200" b="1" baseline="-25000" err="1">
                <a:latin typeface="Times New Roman" panose="02020603050405020304" pitchFamily="18" charset="0"/>
                <a:ea typeface="宋体" panose="02010600030101010101" pitchFamily="2" charset="-122"/>
              </a:rPr>
              <a:t>n</a:t>
            </a:r>
            <a:r>
              <a:rPr lang="en-US" altLang="zh-CN" sz="3200" b="1">
                <a:latin typeface="Times New Roman" panose="02020603050405020304" pitchFamily="18" charset="0"/>
                <a:ea typeface="宋体" panose="02010600030101010101" pitchFamily="2" charset="-122"/>
              </a:rPr>
              <a:t>*&lt; 0</a:t>
            </a:r>
          </a:p>
        </p:txBody>
      </p:sp>
      <p:sp>
        <p:nvSpPr>
          <p:cNvPr id="47109" name="文本框 120841"/>
          <p:cNvSpPr txBox="1"/>
          <p:nvPr/>
        </p:nvSpPr>
        <p:spPr>
          <a:xfrm>
            <a:off x="1547813" y="3860800"/>
            <a:ext cx="5099050" cy="579438"/>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称</a:t>
            </a:r>
            <a:r>
              <a:rPr lang="en-US" altLang="zh-CN" sz="3200" b="1" err="1">
                <a:latin typeface="Arial" panose="020B0604020202020204" pitchFamily="34" charset="0"/>
                <a:ea typeface="宋体" panose="02010600030101010101" pitchFamily="2" charset="-122"/>
              </a:rPr>
              <a:t>m</a:t>
            </a:r>
            <a:r>
              <a:rPr lang="en-US" altLang="zh-CN" sz="3200" b="1" baseline="-25000" err="1">
                <a:latin typeface="Arial" panose="020B0604020202020204" pitchFamily="34" charset="0"/>
                <a:ea typeface="宋体" panose="02010600030101010101" pitchFamily="2" charset="-122"/>
              </a:rPr>
              <a:t>n</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为</a:t>
            </a:r>
            <a:r>
              <a:rPr lang="zh-CN" altLang="en-US" sz="3200" b="1" dirty="0">
                <a:solidFill>
                  <a:srgbClr val="A50021"/>
                </a:solidFill>
                <a:latin typeface="Arial" panose="020B0604020202020204" pitchFamily="34" charset="0"/>
                <a:ea typeface="宋体" panose="02010600030101010101" pitchFamily="2" charset="-122"/>
              </a:rPr>
              <a:t>电子的有效质量</a:t>
            </a:r>
            <a:endParaRPr lang="zh-CN" altLang="en-US" sz="3200" b="1" dirty="0">
              <a:solidFill>
                <a:srgbClr val="A50021"/>
              </a:solidFill>
              <a:latin typeface="Arial" panose="020B0604020202020204" pitchFamily="34" charset="0"/>
              <a:ea typeface="Arial" panose="020B0604020202020204" pitchFamily="34" charset="0"/>
            </a:endParaRPr>
          </a:p>
        </p:txBody>
      </p:sp>
      <p:graphicFrame>
        <p:nvGraphicFramePr>
          <p:cNvPr id="47110" name="内容占位符 120844"/>
          <p:cNvGraphicFramePr>
            <a:graphicFrameLocks noGrp="1"/>
          </p:cNvGraphicFramePr>
          <p:nvPr>
            <p:ph idx="4294967295"/>
          </p:nvPr>
        </p:nvGraphicFramePr>
        <p:xfrm>
          <a:off x="2555875" y="893763"/>
          <a:ext cx="3167063" cy="1196975"/>
        </p:xfrm>
        <a:graphic>
          <a:graphicData uri="http://schemas.openxmlformats.org/presentationml/2006/ole">
            <mc:AlternateContent xmlns:mc="http://schemas.openxmlformats.org/markup-compatibility/2006">
              <mc:Choice xmlns:v="urn:schemas-microsoft-com:vml" Requires="v">
                <p:oleObj r:id="rId4" imgW="1180465" imgH="482600" progId="Equation.3">
                  <p:embed/>
                </p:oleObj>
              </mc:Choice>
              <mc:Fallback>
                <p:oleObj r:id="rId4" imgW="1180465" imgH="482600" progId="Equation.3">
                  <p:embed/>
                  <p:pic>
                    <p:nvPicPr>
                      <p:cNvPr id="0" name="图片 3079"/>
                      <p:cNvPicPr/>
                      <p:nvPr/>
                    </p:nvPicPr>
                    <p:blipFill>
                      <a:blip r:embed="rId5"/>
                      <a:stretch>
                        <a:fillRect/>
                      </a:stretch>
                    </p:blipFill>
                    <p:spPr>
                      <a:xfrm>
                        <a:off x="2555875" y="893763"/>
                        <a:ext cx="3167063" cy="1196975"/>
                      </a:xfrm>
                      <a:prstGeom prst="rect">
                        <a:avLst/>
                      </a:prstGeom>
                      <a:noFill/>
                      <a:ln w="38100">
                        <a:miter/>
                      </a:ln>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29" name="对象 119811"/>
          <p:cNvGraphicFramePr/>
          <p:nvPr/>
        </p:nvGraphicFramePr>
        <p:xfrm>
          <a:off x="3132138" y="2565400"/>
          <a:ext cx="2520950" cy="1062038"/>
        </p:xfrm>
        <a:graphic>
          <a:graphicData uri="http://schemas.openxmlformats.org/presentationml/2006/ole">
            <mc:AlternateContent xmlns:mc="http://schemas.openxmlformats.org/markup-compatibility/2006">
              <mc:Choice xmlns:v="urn:schemas-microsoft-com:vml" Requires="v">
                <p:oleObj r:id="rId2" imgW="799465" imgH="393700" progId="Equation.DSMT4">
                  <p:embed/>
                </p:oleObj>
              </mc:Choice>
              <mc:Fallback>
                <p:oleObj r:id="rId2" imgW="799465" imgH="393700" progId="Equation.DSMT4">
                  <p:embed/>
                  <p:pic>
                    <p:nvPicPr>
                      <p:cNvPr id="0" name="图片 3085"/>
                      <p:cNvPicPr/>
                      <p:nvPr/>
                    </p:nvPicPr>
                    <p:blipFill>
                      <a:blip r:embed="rId3"/>
                      <a:stretch>
                        <a:fillRect/>
                      </a:stretch>
                    </p:blipFill>
                    <p:spPr>
                      <a:xfrm>
                        <a:off x="3132138" y="2565400"/>
                        <a:ext cx="2520950" cy="1062038"/>
                      </a:xfrm>
                      <a:prstGeom prst="rect">
                        <a:avLst/>
                      </a:prstGeom>
                      <a:noFill/>
                      <a:ln w="38100">
                        <a:noFill/>
                        <a:miter/>
                      </a:ln>
                    </p:spPr>
                  </p:pic>
                </p:oleObj>
              </mc:Fallback>
            </mc:AlternateContent>
          </a:graphicData>
        </a:graphic>
      </p:graphicFrame>
      <p:graphicFrame>
        <p:nvGraphicFramePr>
          <p:cNvPr id="48130" name="对象 119812"/>
          <p:cNvGraphicFramePr/>
          <p:nvPr/>
        </p:nvGraphicFramePr>
        <p:xfrm>
          <a:off x="1908175" y="4654550"/>
          <a:ext cx="2111375" cy="1082675"/>
        </p:xfrm>
        <a:graphic>
          <a:graphicData uri="http://schemas.openxmlformats.org/presentationml/2006/ole">
            <mc:AlternateContent xmlns:mc="http://schemas.openxmlformats.org/markup-compatibility/2006">
              <mc:Choice xmlns:v="urn:schemas-microsoft-com:vml" Requires="v">
                <p:oleObj r:id="rId4" imgW="698500" imgH="393700" progId="Equation.DSMT4">
                  <p:embed/>
                </p:oleObj>
              </mc:Choice>
              <mc:Fallback>
                <p:oleObj r:id="rId4" imgW="698500" imgH="393700" progId="Equation.DSMT4">
                  <p:embed/>
                  <p:pic>
                    <p:nvPicPr>
                      <p:cNvPr id="0" name="图片 3086"/>
                      <p:cNvPicPr/>
                      <p:nvPr/>
                    </p:nvPicPr>
                    <p:blipFill>
                      <a:blip r:embed="rId5"/>
                      <a:stretch>
                        <a:fillRect/>
                      </a:stretch>
                    </p:blipFill>
                    <p:spPr>
                      <a:xfrm>
                        <a:off x="1908175" y="4654550"/>
                        <a:ext cx="2111375" cy="1082675"/>
                      </a:xfrm>
                      <a:prstGeom prst="rect">
                        <a:avLst/>
                      </a:prstGeom>
                      <a:noFill/>
                      <a:ln w="38100">
                        <a:noFill/>
                        <a:miter/>
                      </a:ln>
                    </p:spPr>
                  </p:pic>
                </p:oleObj>
              </mc:Fallback>
            </mc:AlternateContent>
          </a:graphicData>
        </a:graphic>
      </p:graphicFrame>
      <p:graphicFrame>
        <p:nvGraphicFramePr>
          <p:cNvPr id="48131" name="对象 119813"/>
          <p:cNvGraphicFramePr/>
          <p:nvPr/>
        </p:nvGraphicFramePr>
        <p:xfrm>
          <a:off x="4716463" y="4654550"/>
          <a:ext cx="2663825" cy="1084263"/>
        </p:xfrm>
        <a:graphic>
          <a:graphicData uri="http://schemas.openxmlformats.org/presentationml/2006/ole">
            <mc:AlternateContent xmlns:mc="http://schemas.openxmlformats.org/markup-compatibility/2006">
              <mc:Choice xmlns:v="urn:schemas-microsoft-com:vml" Requires="v">
                <p:oleObj r:id="rId6" imgW="964565" imgH="393700" progId="Equation.DSMT4">
                  <p:embed/>
                </p:oleObj>
              </mc:Choice>
              <mc:Fallback>
                <p:oleObj r:id="rId6" imgW="964565" imgH="393700" progId="Equation.DSMT4">
                  <p:embed/>
                  <p:pic>
                    <p:nvPicPr>
                      <p:cNvPr id="0" name="图片 3082"/>
                      <p:cNvPicPr/>
                      <p:nvPr/>
                    </p:nvPicPr>
                    <p:blipFill>
                      <a:blip r:embed="rId7"/>
                      <a:stretch>
                        <a:fillRect/>
                      </a:stretch>
                    </p:blipFill>
                    <p:spPr>
                      <a:xfrm>
                        <a:off x="4716463" y="4654550"/>
                        <a:ext cx="2663825" cy="1084263"/>
                      </a:xfrm>
                      <a:prstGeom prst="rect">
                        <a:avLst/>
                      </a:prstGeom>
                      <a:noFill/>
                      <a:ln w="38100">
                        <a:noFill/>
                        <a:miter/>
                      </a:ln>
                    </p:spPr>
                  </p:pic>
                </p:oleObj>
              </mc:Fallback>
            </mc:AlternateContent>
          </a:graphicData>
        </a:graphic>
      </p:graphicFrame>
      <p:sp>
        <p:nvSpPr>
          <p:cNvPr id="48132" name="文本框 119814"/>
          <p:cNvSpPr txBox="1"/>
          <p:nvPr/>
        </p:nvSpPr>
        <p:spPr>
          <a:xfrm>
            <a:off x="1258888" y="1485900"/>
            <a:ext cx="7200900" cy="1066800"/>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晶体中作共有化运动的电子平均速度与能量的关系</a:t>
            </a:r>
            <a:r>
              <a:rPr lang="en-US" altLang="zh-CN" sz="3200" b="1">
                <a:latin typeface="Arial" panose="020B0604020202020204" pitchFamily="34" charset="0"/>
                <a:ea typeface="宋体" panose="02010600030101010101" pitchFamily="2" charset="-122"/>
              </a:rPr>
              <a:t>:</a:t>
            </a:r>
          </a:p>
        </p:txBody>
      </p:sp>
      <p:sp>
        <p:nvSpPr>
          <p:cNvPr id="48133" name="文本框 119815"/>
          <p:cNvSpPr txBox="1"/>
          <p:nvPr/>
        </p:nvSpPr>
        <p:spPr>
          <a:xfrm>
            <a:off x="611188" y="765175"/>
            <a:ext cx="2520950" cy="641350"/>
          </a:xfrm>
          <a:prstGeom prst="rect">
            <a:avLst/>
          </a:prstGeom>
          <a:noFill/>
          <a:ln w="12700">
            <a:noFill/>
          </a:ln>
        </p:spPr>
        <p:txBody>
          <a:bodyPr anchor="t" anchorCtr="0">
            <a:spAutoFit/>
          </a:bodyPr>
          <a:lstStyle/>
          <a:p>
            <a:pPr eaLnBrk="0" hangingPunct="0"/>
            <a:r>
              <a:rPr lang="zh-CN" altLang="en-US" sz="3600" b="1" dirty="0">
                <a:latin typeface="Arial" panose="020B0604020202020204" pitchFamily="34" charset="0"/>
                <a:ea typeface="宋体" panose="02010600030101010101" pitchFamily="2" charset="-122"/>
              </a:rPr>
              <a:t>速度 </a:t>
            </a:r>
            <a:r>
              <a:rPr lang="en-US" altLang="zh-CN" sz="3600" b="1" i="1">
                <a:latin typeface="Arial" panose="020B0604020202020204" pitchFamily="34" charset="0"/>
                <a:ea typeface="宋体" panose="02010600030101010101" pitchFamily="2" charset="-122"/>
              </a:rPr>
              <a:t>v</a:t>
            </a:r>
          </a:p>
        </p:txBody>
      </p:sp>
      <p:sp>
        <p:nvSpPr>
          <p:cNvPr id="48134" name="文本框 119816"/>
          <p:cNvSpPr txBox="1"/>
          <p:nvPr/>
        </p:nvSpPr>
        <p:spPr>
          <a:xfrm>
            <a:off x="1276350" y="3857625"/>
            <a:ext cx="2224088" cy="579438"/>
          </a:xfrm>
          <a:prstGeom prst="rect">
            <a:avLst/>
          </a:prstGeom>
          <a:noFill/>
          <a:ln w="9525">
            <a:noFill/>
          </a:ln>
        </p:spPr>
        <p:txBody>
          <a:bodyPr wrap="none" anchor="t" anchorCtr="0">
            <a:spAutoFit/>
          </a:bodyPr>
          <a:lstStyle/>
          <a:p>
            <a:r>
              <a:rPr lang="zh-CN" altLang="en-US" sz="3200" b="1" dirty="0">
                <a:latin typeface="Times New Roman" panose="02020603050405020304" pitchFamily="18" charset="0"/>
                <a:ea typeface="宋体" panose="02010600030101010101" pitchFamily="2" charset="-122"/>
              </a:rPr>
              <a:t>极值点处：</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文本框 67585"/>
          <p:cNvSpPr txBox="1"/>
          <p:nvPr/>
        </p:nvSpPr>
        <p:spPr>
          <a:xfrm>
            <a:off x="900113" y="3194050"/>
            <a:ext cx="5895975" cy="579438"/>
          </a:xfrm>
          <a:prstGeom prst="rect">
            <a:avLst/>
          </a:prstGeom>
          <a:noFill/>
          <a:ln w="12700">
            <a:noFill/>
          </a:ln>
        </p:spPr>
        <p:txBody>
          <a:bodyPr wrap="none" anchor="t" anchorCtr="0">
            <a:spAutoFit/>
          </a:bodyPr>
          <a:lstStyle/>
          <a:p>
            <a:r>
              <a:rPr lang="zh-CN" altLang="en-US" sz="3200" b="1" dirty="0">
                <a:latin typeface="Times New Roman" panose="02020603050405020304" pitchFamily="18" charset="0"/>
                <a:ea typeface="宋体" panose="02010600030101010101" pitchFamily="2" charset="-122"/>
              </a:rPr>
              <a:t>得到能带极值附近电子的速度为</a:t>
            </a:r>
            <a:endParaRPr lang="zh-CN" altLang="en-US" sz="3200" b="1">
              <a:latin typeface="Times New Roman" panose="02020603050405020304" pitchFamily="18" charset="0"/>
              <a:ea typeface="宋体" panose="02010600030101010101" pitchFamily="2" charset="-122"/>
            </a:endParaRPr>
          </a:p>
        </p:txBody>
      </p:sp>
      <p:graphicFrame>
        <p:nvGraphicFramePr>
          <p:cNvPr id="49154" name="对象 67586"/>
          <p:cNvGraphicFramePr/>
          <p:nvPr/>
        </p:nvGraphicFramePr>
        <p:xfrm>
          <a:off x="2339975" y="4076700"/>
          <a:ext cx="1584325" cy="1419225"/>
        </p:xfrm>
        <a:graphic>
          <a:graphicData uri="http://schemas.openxmlformats.org/presentationml/2006/ole">
            <mc:AlternateContent xmlns:mc="http://schemas.openxmlformats.org/markup-compatibility/2006">
              <mc:Choice xmlns:v="urn:schemas-microsoft-com:vml" Requires="v">
                <p:oleObj r:id="rId2" imgW="482600" imgH="431800" progId="Equation.DSMT4">
                  <p:embed/>
                </p:oleObj>
              </mc:Choice>
              <mc:Fallback>
                <p:oleObj r:id="rId2" imgW="482600" imgH="431800" progId="Equation.DSMT4">
                  <p:embed/>
                  <p:pic>
                    <p:nvPicPr>
                      <p:cNvPr id="0" name="图片 3087"/>
                      <p:cNvPicPr/>
                      <p:nvPr/>
                    </p:nvPicPr>
                    <p:blipFill>
                      <a:blip r:embed="rId3"/>
                      <a:stretch>
                        <a:fillRect/>
                      </a:stretch>
                    </p:blipFill>
                    <p:spPr>
                      <a:xfrm>
                        <a:off x="2339975" y="4076700"/>
                        <a:ext cx="1584325" cy="1419225"/>
                      </a:xfrm>
                      <a:prstGeom prst="rect">
                        <a:avLst/>
                      </a:prstGeom>
                      <a:noFill/>
                      <a:ln w="38100">
                        <a:noFill/>
                        <a:miter/>
                      </a:ln>
                    </p:spPr>
                  </p:pic>
                </p:oleObj>
              </mc:Fallback>
            </mc:AlternateContent>
          </a:graphicData>
        </a:graphic>
      </p:graphicFrame>
      <p:graphicFrame>
        <p:nvGraphicFramePr>
          <p:cNvPr id="49155" name="对象 67587"/>
          <p:cNvGraphicFramePr/>
          <p:nvPr/>
        </p:nvGraphicFramePr>
        <p:xfrm>
          <a:off x="1476375" y="1700213"/>
          <a:ext cx="3097213" cy="1125537"/>
        </p:xfrm>
        <a:graphic>
          <a:graphicData uri="http://schemas.openxmlformats.org/presentationml/2006/ole">
            <mc:AlternateContent xmlns:mc="http://schemas.openxmlformats.org/markup-compatibility/2006">
              <mc:Choice xmlns:v="urn:schemas-microsoft-com:vml" Requires="v">
                <p:oleObj r:id="rId4" imgW="1257300" imgH="457200" progId="Equation.DSMT4">
                  <p:embed/>
                </p:oleObj>
              </mc:Choice>
              <mc:Fallback>
                <p:oleObj r:id="rId4" imgW="1257300" imgH="457200" progId="Equation.DSMT4">
                  <p:embed/>
                  <p:pic>
                    <p:nvPicPr>
                      <p:cNvPr id="0" name="图片 3083"/>
                      <p:cNvPicPr/>
                      <p:nvPr/>
                    </p:nvPicPr>
                    <p:blipFill>
                      <a:blip r:embed="rId5"/>
                      <a:stretch>
                        <a:fillRect/>
                      </a:stretch>
                    </p:blipFill>
                    <p:spPr>
                      <a:xfrm>
                        <a:off x="1476375" y="1700213"/>
                        <a:ext cx="3097213" cy="1125537"/>
                      </a:xfrm>
                      <a:prstGeom prst="rect">
                        <a:avLst/>
                      </a:prstGeom>
                      <a:noFill/>
                      <a:ln w="38100">
                        <a:noFill/>
                        <a:miter/>
                      </a:ln>
                    </p:spPr>
                  </p:pic>
                </p:oleObj>
              </mc:Fallback>
            </mc:AlternateContent>
          </a:graphicData>
        </a:graphic>
      </p:graphicFrame>
      <p:sp>
        <p:nvSpPr>
          <p:cNvPr id="49156" name="文本框 67588"/>
          <p:cNvSpPr txBox="1"/>
          <p:nvPr/>
        </p:nvSpPr>
        <p:spPr>
          <a:xfrm>
            <a:off x="539750" y="765175"/>
            <a:ext cx="2936875" cy="641350"/>
          </a:xfrm>
          <a:prstGeom prst="rect">
            <a:avLst/>
          </a:prstGeom>
          <a:noFill/>
          <a:ln w="9525">
            <a:noFill/>
          </a:ln>
        </p:spPr>
        <p:txBody>
          <a:bodyPr wrap="none" anchor="t" anchorCtr="0">
            <a:spAutoFit/>
          </a:bodyPr>
          <a:lstStyle/>
          <a:p>
            <a:r>
              <a:rPr lang="zh-CN" altLang="en-US" sz="3600" b="1" dirty="0">
                <a:latin typeface="Times New Roman" panose="02020603050405020304" pitchFamily="18" charset="0"/>
                <a:ea typeface="宋体" panose="02010600030101010101" pitchFamily="2" charset="-122"/>
              </a:rPr>
              <a:t>极值点附近：</a:t>
            </a:r>
          </a:p>
        </p:txBody>
      </p:sp>
      <p:sp>
        <p:nvSpPr>
          <p:cNvPr id="49157" name="右箭头 67590"/>
          <p:cNvSpPr/>
          <p:nvPr/>
        </p:nvSpPr>
        <p:spPr>
          <a:xfrm>
            <a:off x="4787900" y="2060575"/>
            <a:ext cx="1152525" cy="288925"/>
          </a:xfrm>
          <a:prstGeom prst="rightArrow">
            <a:avLst>
              <a:gd name="adj1" fmla="val 50000"/>
              <a:gd name="adj2" fmla="val 99706"/>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graphicFrame>
        <p:nvGraphicFramePr>
          <p:cNvPr id="49158" name="对象 67591"/>
          <p:cNvGraphicFramePr/>
          <p:nvPr/>
        </p:nvGraphicFramePr>
        <p:xfrm>
          <a:off x="6084888" y="1700213"/>
          <a:ext cx="1584325" cy="1096962"/>
        </p:xfrm>
        <a:graphic>
          <a:graphicData uri="http://schemas.openxmlformats.org/presentationml/2006/ole">
            <mc:AlternateContent xmlns:mc="http://schemas.openxmlformats.org/markup-compatibility/2006">
              <mc:Choice xmlns:v="urn:schemas-microsoft-com:vml" Requires="v">
                <p:oleObj r:id="rId6" imgW="660400" imgH="457200" progId="Equation.DSMT4">
                  <p:embed/>
                </p:oleObj>
              </mc:Choice>
              <mc:Fallback>
                <p:oleObj r:id="rId6" imgW="660400" imgH="457200" progId="Equation.DSMT4">
                  <p:embed/>
                  <p:pic>
                    <p:nvPicPr>
                      <p:cNvPr id="0" name="图片 3084"/>
                      <p:cNvPicPr/>
                      <p:nvPr/>
                    </p:nvPicPr>
                    <p:blipFill>
                      <a:blip r:embed="rId7"/>
                      <a:stretch>
                        <a:fillRect/>
                      </a:stretch>
                    </p:blipFill>
                    <p:spPr>
                      <a:xfrm>
                        <a:off x="6084888" y="1700213"/>
                        <a:ext cx="1584325" cy="1096962"/>
                      </a:xfrm>
                      <a:prstGeom prst="rect">
                        <a:avLst/>
                      </a:prstGeom>
                      <a:noFill/>
                      <a:ln w="38100">
                        <a:noFill/>
                        <a:miter/>
                      </a:ln>
                    </p:spPr>
                  </p:pic>
                </p:oleObj>
              </mc:Fallback>
            </mc:AlternateContent>
          </a:graphicData>
        </a:graphic>
      </p:graphicFrame>
      <p:sp>
        <p:nvSpPr>
          <p:cNvPr id="49159" name="文本框 67592"/>
          <p:cNvSpPr txBox="1"/>
          <p:nvPr/>
        </p:nvSpPr>
        <p:spPr>
          <a:xfrm>
            <a:off x="4408488" y="4494213"/>
            <a:ext cx="3756025" cy="519112"/>
          </a:xfrm>
          <a:prstGeom prst="rect">
            <a:avLst/>
          </a:prstGeom>
          <a:noFill/>
          <a:ln w="9525">
            <a:noFill/>
          </a:ln>
        </p:spPr>
        <p:txBody>
          <a:bodyPr wrap="none" anchor="t" anchorCtr="0">
            <a:spAutoFit/>
          </a:bodyPr>
          <a:lstStyle/>
          <a:p>
            <a:r>
              <a:rPr lang="zh-CN" altLang="en-US" sz="2800" b="1" dirty="0">
                <a:latin typeface="Times New Roman" panose="02020603050405020304" pitchFamily="18" charset="0"/>
                <a:ea typeface="宋体" panose="02010600030101010101" pitchFamily="2" charset="-122"/>
              </a:rPr>
              <a:t>电子运动波包的群速度</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7" name="对象 68610"/>
          <p:cNvGraphicFramePr/>
          <p:nvPr/>
        </p:nvGraphicFramePr>
        <p:xfrm>
          <a:off x="2555875" y="2563813"/>
          <a:ext cx="2952750" cy="684212"/>
        </p:xfrm>
        <a:graphic>
          <a:graphicData uri="http://schemas.openxmlformats.org/presentationml/2006/ole">
            <mc:AlternateContent xmlns:mc="http://schemas.openxmlformats.org/markup-compatibility/2006">
              <mc:Choice xmlns:v="urn:schemas-microsoft-com:vml" Requires="v">
                <p:oleObj r:id="rId2" imgW="875665" imgH="203200" progId="Equation.3">
                  <p:embed/>
                </p:oleObj>
              </mc:Choice>
              <mc:Fallback>
                <p:oleObj r:id="rId2" imgW="875665" imgH="203200" progId="Equation.3">
                  <p:embed/>
                  <p:pic>
                    <p:nvPicPr>
                      <p:cNvPr id="0" name="图片 3088"/>
                      <p:cNvPicPr/>
                      <p:nvPr/>
                    </p:nvPicPr>
                    <p:blipFill>
                      <a:blip r:embed="rId3"/>
                      <a:stretch>
                        <a:fillRect/>
                      </a:stretch>
                    </p:blipFill>
                    <p:spPr>
                      <a:xfrm>
                        <a:off x="2555875" y="2563813"/>
                        <a:ext cx="2952750" cy="684212"/>
                      </a:xfrm>
                      <a:prstGeom prst="rect">
                        <a:avLst/>
                      </a:prstGeom>
                      <a:noFill/>
                      <a:ln w="38100">
                        <a:noFill/>
                        <a:miter/>
                      </a:ln>
                    </p:spPr>
                  </p:pic>
                </p:oleObj>
              </mc:Fallback>
            </mc:AlternateContent>
          </a:graphicData>
        </a:graphic>
      </p:graphicFrame>
      <p:sp>
        <p:nvSpPr>
          <p:cNvPr id="50178" name="文本框 68611"/>
          <p:cNvSpPr txBox="1"/>
          <p:nvPr/>
        </p:nvSpPr>
        <p:spPr>
          <a:xfrm>
            <a:off x="323850" y="1196975"/>
            <a:ext cx="6583363" cy="519113"/>
          </a:xfrm>
          <a:prstGeom prst="rect">
            <a:avLst/>
          </a:prstGeom>
          <a:noFill/>
          <a:ln w="12700">
            <a:noFill/>
          </a:ln>
        </p:spPr>
        <p:txBody>
          <a:bodyPr wrap="none" anchor="t" anchorCtr="0">
            <a:spAutoFit/>
          </a:bodyPr>
          <a:lstStyle/>
          <a:p>
            <a:pPr eaLnBrk="0" hangingPunct="0"/>
            <a:r>
              <a:rPr lang="en-US" altLang="zh-CN" sz="2800" b="1" dirty="0">
                <a:latin typeface="Arial" panose="020B0604020202020204" pitchFamily="34" charset="0"/>
                <a:ea typeface="宋体" panose="02010600030101010101" pitchFamily="2" charset="-122"/>
              </a:rPr>
              <a:t>(1)</a:t>
            </a:r>
            <a:r>
              <a:rPr lang="zh-CN" altLang="en-US" sz="2800" b="1" dirty="0">
                <a:latin typeface="Arial" panose="020B0604020202020204" pitchFamily="34" charset="0"/>
                <a:ea typeface="宋体" panose="02010600030101010101" pitchFamily="2" charset="-122"/>
              </a:rPr>
              <a:t>在整个布里渊区内，</a:t>
            </a:r>
            <a:r>
              <a:rPr lang="en-US" altLang="zh-CN" sz="2800" b="1" err="1">
                <a:latin typeface="Arial" panose="020B0604020202020204" pitchFamily="34" charset="0"/>
                <a:ea typeface="宋体" panose="02010600030101010101" pitchFamily="2" charset="-122"/>
              </a:rPr>
              <a:t>v~k</a:t>
            </a:r>
            <a:r>
              <a:rPr lang="zh-CN" altLang="en-US" sz="2800" b="1" dirty="0">
                <a:latin typeface="Arial" panose="020B0604020202020204" pitchFamily="34" charset="0"/>
                <a:ea typeface="宋体" panose="02010600030101010101" pitchFamily="2" charset="-122"/>
              </a:rPr>
              <a:t>不是线形关系</a:t>
            </a:r>
          </a:p>
        </p:txBody>
      </p:sp>
      <p:sp>
        <p:nvSpPr>
          <p:cNvPr id="50179" name="文本框 68612"/>
          <p:cNvSpPr txBox="1"/>
          <p:nvPr/>
        </p:nvSpPr>
        <p:spPr>
          <a:xfrm>
            <a:off x="323850" y="1844675"/>
            <a:ext cx="7848600" cy="519113"/>
          </a:xfrm>
          <a:prstGeom prst="rect">
            <a:avLst/>
          </a:prstGeom>
          <a:noFill/>
          <a:ln w="12700">
            <a:noFill/>
          </a:ln>
        </p:spPr>
        <p:txBody>
          <a:bodyPr anchor="t" anchorCtr="0">
            <a:spAutoFit/>
          </a:bodyPr>
          <a:lstStyle/>
          <a:p>
            <a:pPr eaLnBrk="0" hangingPunct="0"/>
            <a:r>
              <a:rPr lang="en-US" altLang="zh-CN" sz="2800" b="1" dirty="0">
                <a:latin typeface="Arial" panose="020B0604020202020204" pitchFamily="34" charset="0"/>
                <a:ea typeface="宋体" panose="02010600030101010101" pitchFamily="2" charset="-122"/>
              </a:rPr>
              <a:t>(2)</a:t>
            </a:r>
            <a:r>
              <a:rPr lang="zh-CN" altLang="en-US" sz="2800" b="1" dirty="0">
                <a:latin typeface="Arial" panose="020B0604020202020204" pitchFamily="34" charset="0"/>
                <a:ea typeface="宋体" panose="02010600030101010101" pitchFamily="2" charset="-122"/>
              </a:rPr>
              <a:t>正负</a:t>
            </a:r>
            <a:r>
              <a:rPr lang="en-US" altLang="zh-CN" sz="2800" b="1" dirty="0">
                <a:latin typeface="Arial" panose="020B0604020202020204" pitchFamily="34" charset="0"/>
                <a:ea typeface="宋体" panose="02010600030101010101" pitchFamily="2" charset="-122"/>
              </a:rPr>
              <a:t>k</a:t>
            </a:r>
            <a:r>
              <a:rPr lang="zh-CN" altLang="en-US" sz="2800" b="1" dirty="0">
                <a:latin typeface="Arial" panose="020B0604020202020204" pitchFamily="34" charset="0"/>
                <a:ea typeface="宋体" panose="02010600030101010101" pitchFamily="2" charset="-122"/>
              </a:rPr>
              <a:t>态电子的运动速度大小相等</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符号相反</a:t>
            </a:r>
            <a:r>
              <a:rPr lang="en-US" altLang="zh-CN" sz="2800" b="1">
                <a:latin typeface="Arial" panose="020B0604020202020204" pitchFamily="34" charset="0"/>
                <a:ea typeface="宋体" panose="02010600030101010101" pitchFamily="2" charset="-122"/>
              </a:rPr>
              <a:t>.</a:t>
            </a:r>
          </a:p>
        </p:txBody>
      </p:sp>
      <p:graphicFrame>
        <p:nvGraphicFramePr>
          <p:cNvPr id="50180" name="对象 68613"/>
          <p:cNvGraphicFramePr/>
          <p:nvPr/>
        </p:nvGraphicFramePr>
        <p:xfrm>
          <a:off x="1476375" y="3355975"/>
          <a:ext cx="6048375" cy="1050925"/>
        </p:xfrm>
        <a:graphic>
          <a:graphicData uri="http://schemas.openxmlformats.org/presentationml/2006/ole">
            <mc:AlternateContent xmlns:mc="http://schemas.openxmlformats.org/markup-compatibility/2006">
              <mc:Choice xmlns:v="urn:schemas-microsoft-com:vml" Requires="v">
                <p:oleObj r:id="rId4" imgW="2413000" imgH="419100" progId="Equation.3">
                  <p:embed/>
                </p:oleObj>
              </mc:Choice>
              <mc:Fallback>
                <p:oleObj r:id="rId4" imgW="2413000" imgH="419100" progId="Equation.3">
                  <p:embed/>
                  <p:pic>
                    <p:nvPicPr>
                      <p:cNvPr id="0" name="图片 3081"/>
                      <p:cNvPicPr/>
                      <p:nvPr/>
                    </p:nvPicPr>
                    <p:blipFill>
                      <a:blip r:embed="rId5"/>
                      <a:stretch>
                        <a:fillRect/>
                      </a:stretch>
                    </p:blipFill>
                    <p:spPr>
                      <a:xfrm>
                        <a:off x="1476375" y="3355975"/>
                        <a:ext cx="6048375" cy="1050925"/>
                      </a:xfrm>
                      <a:prstGeom prst="rect">
                        <a:avLst/>
                      </a:prstGeom>
                      <a:noFill/>
                      <a:ln w="38100">
                        <a:noFill/>
                        <a:miter/>
                      </a:ln>
                    </p:spPr>
                  </p:pic>
                </p:oleObj>
              </mc:Fallback>
            </mc:AlternateContent>
          </a:graphicData>
        </a:graphic>
      </p:graphicFrame>
      <p:sp>
        <p:nvSpPr>
          <p:cNvPr id="50181" name="矩形 68614"/>
          <p:cNvSpPr/>
          <p:nvPr/>
        </p:nvSpPr>
        <p:spPr>
          <a:xfrm>
            <a:off x="468313" y="404813"/>
            <a:ext cx="1150937" cy="576262"/>
          </a:xfrm>
          <a:prstGeom prst="rect">
            <a:avLst/>
          </a:prstGeom>
          <a:effectLst>
            <a:glow rad="63500">
              <a:schemeClr val="accent1">
                <a:alpha val="39000"/>
              </a:schemeClr>
            </a:glow>
            <a:softEdge rad="12700"/>
          </a:effectLst>
        </p:spPr>
        <p:txBody>
          <a:bodyPr wrap="none" fromWordArt="1">
            <a:prstTxWarp prst="textPlain">
              <a:avLst>
                <a:gd name="adj" fmla="val 50000"/>
              </a:avLst>
            </a:prstTxWarp>
            <a:normAutofit fontScale="92500" lnSpcReduction="10000"/>
          </a:bodyPr>
          <a:lstStyle/>
          <a:p>
            <a:pPr algn="ctr"/>
            <a:r>
              <a:rPr lang="zh-CN" altLang="en-US" sz="3600" b="1">
                <a:ln w="9525" cap="flat" cmpd="sng">
                  <a:solidFill>
                    <a:srgbClr val="A50021"/>
                  </a:solidFill>
                  <a:prstDash val="lgDash"/>
                  <a:round/>
                  <a:headEnd type="none" w="med" len="med"/>
                  <a:tailEnd type="none" w="med" len="med"/>
                </a:ln>
                <a:solidFill>
                  <a:schemeClr val="accent1"/>
                </a:solidFill>
                <a:effectLst>
                  <a:outerShdw dist="35921" dir="2699999" algn="ctr" rotWithShape="0">
                    <a:srgbClr val="C0C0C0">
                      <a:alpha val="80000"/>
                    </a:srgbClr>
                  </a:outerShdw>
                </a:effectLst>
                <a:latin typeface="楷体_GB2312" charset="0"/>
                <a:ea typeface="楷体_GB2312" charset="0"/>
              </a:rPr>
              <a:t>注意</a:t>
            </a:r>
          </a:p>
        </p:txBody>
      </p:sp>
      <p:sp>
        <p:nvSpPr>
          <p:cNvPr id="50182" name="文本框 68615"/>
          <p:cNvSpPr txBox="1"/>
          <p:nvPr/>
        </p:nvSpPr>
        <p:spPr>
          <a:xfrm>
            <a:off x="323850" y="4486275"/>
            <a:ext cx="5321300" cy="519113"/>
          </a:xfrm>
          <a:prstGeom prst="rect">
            <a:avLst/>
          </a:prstGeom>
          <a:noFill/>
          <a:ln w="12700">
            <a:noFill/>
          </a:ln>
        </p:spPr>
        <p:txBody>
          <a:bodyPr wrap="none" anchor="t" anchorCtr="0">
            <a:spAutoFit/>
          </a:bodyPr>
          <a:lstStyle/>
          <a:p>
            <a:pPr eaLnBrk="0" hangingPunct="0"/>
            <a:r>
              <a:rPr lang="en-US" altLang="zh-CN" sz="2800" b="1" err="1">
                <a:latin typeface="Arial" panose="020B0604020202020204" pitchFamily="34" charset="0"/>
                <a:ea typeface="宋体" panose="02010600030101010101" pitchFamily="2" charset="-122"/>
              </a:rPr>
              <a:t>(3) V(k</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的大小与能带的宽窄有关</a:t>
            </a:r>
          </a:p>
        </p:txBody>
      </p:sp>
      <p:graphicFrame>
        <p:nvGraphicFramePr>
          <p:cNvPr id="50183" name="对象 68616"/>
          <p:cNvGraphicFramePr/>
          <p:nvPr/>
        </p:nvGraphicFramePr>
        <p:xfrm>
          <a:off x="1258888" y="5156200"/>
          <a:ext cx="2763837" cy="1163638"/>
        </p:xfrm>
        <a:graphic>
          <a:graphicData uri="http://schemas.openxmlformats.org/presentationml/2006/ole">
            <mc:AlternateContent xmlns:mc="http://schemas.openxmlformats.org/markup-compatibility/2006">
              <mc:Choice xmlns:v="urn:schemas-microsoft-com:vml" Requires="v">
                <p:oleObj r:id="rId6" imgW="799465" imgH="393700" progId="Equation.DSMT4">
                  <p:embed/>
                </p:oleObj>
              </mc:Choice>
              <mc:Fallback>
                <p:oleObj r:id="rId6" imgW="799465" imgH="393700" progId="Equation.DSMT4">
                  <p:embed/>
                  <p:pic>
                    <p:nvPicPr>
                      <p:cNvPr id="0" name="图片 3092"/>
                      <p:cNvPicPr/>
                      <p:nvPr/>
                    </p:nvPicPr>
                    <p:blipFill>
                      <a:blip r:embed="rId7"/>
                      <a:stretch>
                        <a:fillRect/>
                      </a:stretch>
                    </p:blipFill>
                    <p:spPr>
                      <a:xfrm>
                        <a:off x="1258888" y="5156200"/>
                        <a:ext cx="2763837" cy="1163638"/>
                      </a:xfrm>
                      <a:prstGeom prst="rect">
                        <a:avLst/>
                      </a:prstGeom>
                      <a:noFill/>
                      <a:ln w="38100">
                        <a:noFill/>
                        <a:miter/>
                      </a:ln>
                    </p:spPr>
                  </p:pic>
                </p:oleObj>
              </mc:Fallback>
            </mc:AlternateContent>
          </a:graphicData>
        </a:graphic>
      </p:graphicFrame>
      <p:sp>
        <p:nvSpPr>
          <p:cNvPr id="50184" name="文本框 68617"/>
          <p:cNvSpPr txBox="1"/>
          <p:nvPr/>
        </p:nvSpPr>
        <p:spPr>
          <a:xfrm>
            <a:off x="4643438" y="5156200"/>
            <a:ext cx="3871912" cy="579438"/>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内层</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能带窄</a:t>
            </a:r>
            <a:r>
              <a:rPr lang="en-US" altLang="zh-CN" sz="3200" b="1" err="1">
                <a:latin typeface="Arial" panose="020B0604020202020204" pitchFamily="34" charset="0"/>
                <a:ea typeface="宋体" panose="02010600030101010101" pitchFamily="2" charset="-122"/>
              </a:rPr>
              <a:t>, V(k</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小</a:t>
            </a:r>
            <a:r>
              <a:rPr lang="en-US" altLang="zh-CN" sz="3200" b="1">
                <a:latin typeface="Arial" panose="020B0604020202020204" pitchFamily="34" charset="0"/>
                <a:ea typeface="宋体" panose="02010600030101010101" pitchFamily="2" charset="-122"/>
              </a:rPr>
              <a:t>.</a:t>
            </a:r>
          </a:p>
        </p:txBody>
      </p:sp>
      <p:sp>
        <p:nvSpPr>
          <p:cNvPr id="50185" name="文本框 68618"/>
          <p:cNvSpPr txBox="1"/>
          <p:nvPr/>
        </p:nvSpPr>
        <p:spPr>
          <a:xfrm>
            <a:off x="4643438" y="5876925"/>
            <a:ext cx="3759200" cy="579438"/>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外层</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能带宽</a:t>
            </a:r>
            <a:r>
              <a:rPr lang="en-US" altLang="zh-CN" sz="3200" b="1" err="1">
                <a:latin typeface="Arial" panose="020B0604020202020204" pitchFamily="34" charset="0"/>
                <a:ea typeface="宋体" panose="02010600030101010101" pitchFamily="2" charset="-122"/>
              </a:rPr>
              <a:t>,V(k</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大</a:t>
            </a:r>
            <a:r>
              <a:rPr lang="en-US" altLang="zh-CN" sz="3200" b="1">
                <a:latin typeface="Arial" panose="020B0604020202020204" pitchFamily="34" charset="0"/>
                <a:ea typeface="宋体" panose="02010600030101010101" pitchFamily="2" charset="-122"/>
              </a:rPr>
              <a:t>.</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01" name="对象 121859"/>
          <p:cNvGraphicFramePr/>
          <p:nvPr/>
        </p:nvGraphicFramePr>
        <p:xfrm>
          <a:off x="6443663" y="2924175"/>
          <a:ext cx="1368425" cy="985838"/>
        </p:xfrm>
        <a:graphic>
          <a:graphicData uri="http://schemas.openxmlformats.org/presentationml/2006/ole">
            <mc:AlternateContent xmlns:mc="http://schemas.openxmlformats.org/markup-compatibility/2006">
              <mc:Choice xmlns:v="urn:schemas-microsoft-com:vml" Requires="v">
                <p:oleObj r:id="rId2" imgW="546100" imgH="393700" progId="Equation.DSMT4">
                  <p:embed/>
                </p:oleObj>
              </mc:Choice>
              <mc:Fallback>
                <p:oleObj r:id="rId2" imgW="546100" imgH="393700" progId="Equation.DSMT4">
                  <p:embed/>
                  <p:pic>
                    <p:nvPicPr>
                      <p:cNvPr id="0" name="图片 3095"/>
                      <p:cNvPicPr/>
                      <p:nvPr/>
                    </p:nvPicPr>
                    <p:blipFill>
                      <a:blip r:embed="rId3"/>
                      <a:stretch>
                        <a:fillRect/>
                      </a:stretch>
                    </p:blipFill>
                    <p:spPr>
                      <a:xfrm>
                        <a:off x="6443663" y="2924175"/>
                        <a:ext cx="1368425" cy="985838"/>
                      </a:xfrm>
                      <a:prstGeom prst="rect">
                        <a:avLst/>
                      </a:prstGeom>
                      <a:noFill/>
                      <a:ln w="38100">
                        <a:noFill/>
                        <a:miter/>
                      </a:ln>
                    </p:spPr>
                  </p:pic>
                </p:oleObj>
              </mc:Fallback>
            </mc:AlternateContent>
          </a:graphicData>
        </a:graphic>
      </p:graphicFrame>
      <p:sp>
        <p:nvSpPr>
          <p:cNvPr id="51202" name="文本框 121860"/>
          <p:cNvSpPr txBox="1"/>
          <p:nvPr/>
        </p:nvSpPr>
        <p:spPr>
          <a:xfrm>
            <a:off x="755650" y="663575"/>
            <a:ext cx="3311525" cy="641350"/>
          </a:xfrm>
          <a:prstGeom prst="rect">
            <a:avLst/>
          </a:prstGeom>
          <a:noFill/>
          <a:ln w="12700">
            <a:noFill/>
          </a:ln>
        </p:spPr>
        <p:txBody>
          <a:bodyPr anchor="t" anchorCtr="0">
            <a:spAutoFit/>
          </a:bodyPr>
          <a:lstStyle/>
          <a:p>
            <a:r>
              <a:rPr lang="zh-CN" altLang="en-US" sz="3600" b="1" dirty="0">
                <a:latin typeface="Times New Roman" panose="02020603050405020304" pitchFamily="18" charset="0"/>
                <a:ea typeface="宋体" panose="02010600030101010101" pitchFamily="2" charset="-122"/>
              </a:rPr>
              <a:t>加速度</a:t>
            </a:r>
            <a:r>
              <a:rPr lang="zh-CN" altLang="en-US" sz="3600" b="1" i="1" dirty="0">
                <a:latin typeface="Times New Roman" panose="02020603050405020304" pitchFamily="18" charset="0"/>
                <a:ea typeface="宋体" panose="02010600030101010101" pitchFamily="2" charset="-122"/>
              </a:rPr>
              <a:t> </a:t>
            </a:r>
            <a:r>
              <a:rPr lang="en-US" altLang="zh-CN" sz="3600" b="1" i="1">
                <a:latin typeface="Times New Roman" panose="02020603050405020304" pitchFamily="18" charset="0"/>
                <a:ea typeface="宋体" panose="02010600030101010101" pitchFamily="2" charset="-122"/>
              </a:rPr>
              <a:t>a</a:t>
            </a:r>
          </a:p>
        </p:txBody>
      </p:sp>
      <p:graphicFrame>
        <p:nvGraphicFramePr>
          <p:cNvPr id="51203" name="对象 12186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r:id="rId4" imgW="127635" imgH="198755" progId="Equation.DSMT4">
                  <p:embed/>
                </p:oleObj>
              </mc:Choice>
              <mc:Fallback>
                <p:oleObj r:id="rId4" imgW="127635" imgH="198755" progId="Equation.DSMT4">
                  <p:embed/>
                  <p:pic>
                    <p:nvPicPr>
                      <p:cNvPr id="0" name="图片 3091"/>
                      <p:cNvPicPr/>
                      <p:nvPr/>
                    </p:nvPicPr>
                    <p:blipFill>
                      <a:blip r:embed="rId5"/>
                      <a:stretch>
                        <a:fillRect/>
                      </a:stretch>
                    </p:blipFill>
                    <p:spPr>
                      <a:xfrm>
                        <a:off x="0" y="0"/>
                        <a:ext cx="914400" cy="198438"/>
                      </a:xfrm>
                      <a:prstGeom prst="rect">
                        <a:avLst/>
                      </a:prstGeom>
                      <a:noFill/>
                      <a:ln w="38100">
                        <a:noFill/>
                        <a:miter/>
                      </a:ln>
                    </p:spPr>
                  </p:pic>
                </p:oleObj>
              </mc:Fallback>
            </mc:AlternateContent>
          </a:graphicData>
        </a:graphic>
      </p:graphicFrame>
      <p:graphicFrame>
        <p:nvGraphicFramePr>
          <p:cNvPr id="51204" name="对象 121863"/>
          <p:cNvGraphicFramePr/>
          <p:nvPr/>
        </p:nvGraphicFramePr>
        <p:xfrm>
          <a:off x="2987675" y="5445125"/>
          <a:ext cx="2232025" cy="731838"/>
        </p:xfrm>
        <a:graphic>
          <a:graphicData uri="http://schemas.openxmlformats.org/presentationml/2006/ole">
            <mc:AlternateContent xmlns:mc="http://schemas.openxmlformats.org/markup-compatibility/2006">
              <mc:Choice xmlns:v="urn:schemas-microsoft-com:vml" Requires="v">
                <p:oleObj r:id="rId6" imgW="735965" imgH="241300" progId="Equation.DSMT4">
                  <p:embed/>
                </p:oleObj>
              </mc:Choice>
              <mc:Fallback>
                <p:oleObj r:id="rId6" imgW="735965" imgH="241300" progId="Equation.DSMT4">
                  <p:embed/>
                  <p:pic>
                    <p:nvPicPr>
                      <p:cNvPr id="0" name="图片 3089"/>
                      <p:cNvPicPr/>
                      <p:nvPr/>
                    </p:nvPicPr>
                    <p:blipFill>
                      <a:blip r:embed="rId7"/>
                      <a:stretch>
                        <a:fillRect/>
                      </a:stretch>
                    </p:blipFill>
                    <p:spPr>
                      <a:xfrm>
                        <a:off x="2987675" y="5445125"/>
                        <a:ext cx="2232025" cy="731838"/>
                      </a:xfrm>
                      <a:prstGeom prst="rect">
                        <a:avLst/>
                      </a:prstGeom>
                      <a:noFill/>
                      <a:ln w="38100">
                        <a:noFill/>
                        <a:miter/>
                      </a:ln>
                    </p:spPr>
                  </p:pic>
                </p:oleObj>
              </mc:Fallback>
            </mc:AlternateContent>
          </a:graphicData>
        </a:graphic>
      </p:graphicFrame>
      <p:sp>
        <p:nvSpPr>
          <p:cNvPr id="51205" name="矩形 121864"/>
          <p:cNvSpPr/>
          <p:nvPr/>
        </p:nvSpPr>
        <p:spPr>
          <a:xfrm>
            <a:off x="1692275" y="1484313"/>
            <a:ext cx="4067175" cy="579437"/>
          </a:xfrm>
          <a:prstGeom prst="rect">
            <a:avLst/>
          </a:prstGeom>
          <a:noFill/>
          <a:ln w="9525">
            <a:noFill/>
          </a:ln>
        </p:spPr>
        <p:txBody>
          <a:bodyPr wrap="none" anchor="t" anchorCtr="0">
            <a:spAutoFit/>
          </a:bodyPr>
          <a:lstStyle/>
          <a:p>
            <a:r>
              <a:rPr lang="zh-CN" altLang="en-US" sz="3200" dirty="0">
                <a:latin typeface="Times New Roman" panose="02020603050405020304" pitchFamily="18" charset="0"/>
                <a:ea typeface="宋体" panose="02010600030101010101" pitchFamily="2" charset="-122"/>
              </a:rPr>
              <a:t>外力</a:t>
            </a:r>
            <a:r>
              <a:rPr lang="en-US" altLang="zh-CN" sz="3200" dirty="0">
                <a:latin typeface="Times New Roman" panose="02020603050405020304" pitchFamily="18" charset="0"/>
                <a:ea typeface="宋体" panose="02010600030101010101" pitchFamily="2" charset="-122"/>
              </a:rPr>
              <a:t>F</a:t>
            </a:r>
            <a:r>
              <a:rPr lang="zh-CN" altLang="en-US" sz="3200" dirty="0">
                <a:latin typeface="Times New Roman" panose="02020603050405020304" pitchFamily="18" charset="0"/>
                <a:ea typeface="宋体" panose="02010600030101010101" pitchFamily="2" charset="-122"/>
              </a:rPr>
              <a:t>作用于电子时：</a:t>
            </a:r>
          </a:p>
        </p:txBody>
      </p:sp>
      <p:graphicFrame>
        <p:nvGraphicFramePr>
          <p:cNvPr id="51206" name="内容占位符 121865"/>
          <p:cNvGraphicFramePr>
            <a:graphicFrameLocks noGrp="1"/>
          </p:cNvGraphicFramePr>
          <p:nvPr>
            <p:ph sz="half" idx="1"/>
          </p:nvPr>
        </p:nvGraphicFramePr>
        <p:xfrm>
          <a:off x="2627313" y="2205038"/>
          <a:ext cx="4297362" cy="601662"/>
        </p:xfrm>
        <a:graphic>
          <a:graphicData uri="http://schemas.openxmlformats.org/presentationml/2006/ole">
            <mc:AlternateContent xmlns:mc="http://schemas.openxmlformats.org/markup-compatibility/2006">
              <mc:Choice xmlns:v="urn:schemas-microsoft-com:vml" Requires="v">
                <p:oleObj r:id="rId8" imgW="1090295" imgH="177800" progId="Equation.DSMT4">
                  <p:embed/>
                </p:oleObj>
              </mc:Choice>
              <mc:Fallback>
                <p:oleObj r:id="rId8" imgW="1090295" imgH="177800" progId="Equation.DSMT4">
                  <p:embed/>
                  <p:pic>
                    <p:nvPicPr>
                      <p:cNvPr id="0" name="图片 3090"/>
                      <p:cNvPicPr/>
                      <p:nvPr/>
                    </p:nvPicPr>
                    <p:blipFill>
                      <a:blip r:embed="rId9"/>
                      <a:stretch>
                        <a:fillRect/>
                      </a:stretch>
                    </p:blipFill>
                    <p:spPr>
                      <a:xfrm>
                        <a:off x="2627313" y="2205038"/>
                        <a:ext cx="4297362" cy="601662"/>
                      </a:xfrm>
                      <a:prstGeom prst="rect">
                        <a:avLst/>
                      </a:prstGeom>
                      <a:noFill/>
                      <a:ln w="38100">
                        <a:miter/>
                      </a:ln>
                    </p:spPr>
                  </p:pic>
                </p:oleObj>
              </mc:Fallback>
            </mc:AlternateContent>
          </a:graphicData>
        </a:graphic>
      </p:graphicFrame>
      <p:graphicFrame>
        <p:nvGraphicFramePr>
          <p:cNvPr id="51207" name="对象 121867"/>
          <p:cNvGraphicFramePr/>
          <p:nvPr/>
        </p:nvGraphicFramePr>
        <p:xfrm>
          <a:off x="2627313" y="2940050"/>
          <a:ext cx="2376487" cy="935038"/>
        </p:xfrm>
        <a:graphic>
          <a:graphicData uri="http://schemas.openxmlformats.org/presentationml/2006/ole">
            <mc:AlternateContent xmlns:mc="http://schemas.openxmlformats.org/markup-compatibility/2006">
              <mc:Choice xmlns:v="urn:schemas-microsoft-com:vml" Requires="v">
                <p:oleObj r:id="rId10" imgW="1104265" imgH="393700" progId="Equation.DSMT4">
                  <p:embed/>
                </p:oleObj>
              </mc:Choice>
              <mc:Fallback>
                <p:oleObj r:id="rId10" imgW="1104265" imgH="393700" progId="Equation.DSMT4">
                  <p:embed/>
                  <p:pic>
                    <p:nvPicPr>
                      <p:cNvPr id="0" name="图片 3094"/>
                      <p:cNvPicPr/>
                      <p:nvPr/>
                    </p:nvPicPr>
                    <p:blipFill>
                      <a:blip r:embed="rId11"/>
                      <a:stretch>
                        <a:fillRect/>
                      </a:stretch>
                    </p:blipFill>
                    <p:spPr>
                      <a:xfrm>
                        <a:off x="2627313" y="2940050"/>
                        <a:ext cx="2376487" cy="935038"/>
                      </a:xfrm>
                      <a:prstGeom prst="rect">
                        <a:avLst/>
                      </a:prstGeom>
                      <a:noFill/>
                      <a:ln w="38100">
                        <a:noFill/>
                        <a:miter/>
                      </a:ln>
                    </p:spPr>
                  </p:pic>
                </p:oleObj>
              </mc:Fallback>
            </mc:AlternateContent>
          </a:graphicData>
        </a:graphic>
      </p:graphicFrame>
      <p:sp>
        <p:nvSpPr>
          <p:cNvPr id="51208" name="右箭头 121868"/>
          <p:cNvSpPr/>
          <p:nvPr/>
        </p:nvSpPr>
        <p:spPr>
          <a:xfrm>
            <a:off x="1331913" y="3227388"/>
            <a:ext cx="1150937" cy="288925"/>
          </a:xfrm>
          <a:prstGeom prst="rightArrow">
            <a:avLst>
              <a:gd name="adj1" fmla="val 50000"/>
              <a:gd name="adj2" fmla="val 99569"/>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51209" name="右箭头 121869"/>
          <p:cNvSpPr/>
          <p:nvPr/>
        </p:nvSpPr>
        <p:spPr>
          <a:xfrm>
            <a:off x="5148263" y="3227388"/>
            <a:ext cx="1150937" cy="288925"/>
          </a:xfrm>
          <a:prstGeom prst="rightArrow">
            <a:avLst>
              <a:gd name="adj1" fmla="val 50000"/>
              <a:gd name="adj2" fmla="val 99569"/>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graphicFrame>
        <p:nvGraphicFramePr>
          <p:cNvPr id="51210" name="内容占位符 121870"/>
          <p:cNvGraphicFramePr>
            <a:graphicFrameLocks noGrp="1"/>
          </p:cNvGraphicFramePr>
          <p:nvPr>
            <p:ph sz="half" idx="2"/>
          </p:nvPr>
        </p:nvGraphicFramePr>
        <p:xfrm>
          <a:off x="2555875" y="4149725"/>
          <a:ext cx="3671888" cy="1050925"/>
        </p:xfrm>
        <a:graphic>
          <a:graphicData uri="http://schemas.openxmlformats.org/presentationml/2006/ole">
            <mc:AlternateContent xmlns:mc="http://schemas.openxmlformats.org/markup-compatibility/2006">
              <mc:Choice xmlns:v="urn:schemas-microsoft-com:vml" Requires="v">
                <p:oleObj r:id="rId12" imgW="1294765" imgH="431800" progId="Equation.3">
                  <p:embed/>
                </p:oleObj>
              </mc:Choice>
              <mc:Fallback>
                <p:oleObj r:id="rId12" imgW="1294765" imgH="431800" progId="Equation.3">
                  <p:embed/>
                  <p:pic>
                    <p:nvPicPr>
                      <p:cNvPr id="0" name="图片 3093"/>
                      <p:cNvPicPr/>
                      <p:nvPr/>
                    </p:nvPicPr>
                    <p:blipFill>
                      <a:blip r:embed="rId13"/>
                      <a:stretch>
                        <a:fillRect/>
                      </a:stretch>
                    </p:blipFill>
                    <p:spPr>
                      <a:xfrm>
                        <a:off x="2555875" y="4149725"/>
                        <a:ext cx="3671888" cy="1050925"/>
                      </a:xfrm>
                      <a:prstGeom prst="rect">
                        <a:avLst/>
                      </a:prstGeom>
                      <a:noFill/>
                      <a:ln w="38100">
                        <a:miter/>
                      </a:ln>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矩形 146433"/>
          <p:cNvSpPr/>
          <p:nvPr/>
        </p:nvSpPr>
        <p:spPr>
          <a:xfrm>
            <a:off x="2462213" y="477838"/>
            <a:ext cx="3600450" cy="575945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nchorCtr="0"/>
          <a:lstStyle/>
          <a:p>
            <a:pPr algn="ctr"/>
            <a:endParaRPr lang="zh-CN" dirty="0">
              <a:latin typeface="Times New Roman" panose="02020603050405020304" pitchFamily="18" charset="0"/>
              <a:ea typeface="宋体" panose="02010600030101010101" pitchFamily="2" charset="-122"/>
            </a:endParaRPr>
          </a:p>
        </p:txBody>
      </p:sp>
      <p:sp>
        <p:nvSpPr>
          <p:cNvPr id="52226" name="文本框 146434"/>
          <p:cNvSpPr txBox="1"/>
          <p:nvPr/>
        </p:nvSpPr>
        <p:spPr>
          <a:xfrm flipH="1" flipV="1">
            <a:off x="250825" y="1052513"/>
            <a:ext cx="2133600" cy="2044700"/>
          </a:xfrm>
          <a:prstGeom prst="rect">
            <a:avLst/>
          </a:prstGeom>
          <a:noFill/>
          <a:ln w="9525">
            <a:noFill/>
          </a:ln>
        </p:spPr>
        <p:txBody>
          <a:bodyPr rot="10800000" anchor="t" anchorCtr="0">
            <a:spAutoFit/>
          </a:bodyPr>
          <a:lstStyle/>
          <a:p>
            <a:endParaRPr lang="en-US" altLang="zh-CN" sz="1600" b="1" dirty="0">
              <a:solidFill>
                <a:srgbClr val="A50021"/>
              </a:solidFill>
              <a:latin typeface="Arial" panose="020B0604020202020204" pitchFamily="34" charset="0"/>
              <a:ea typeface="宋体" panose="02010600030101010101" pitchFamily="2" charset="-122"/>
            </a:endParaRPr>
          </a:p>
          <a:p>
            <a:r>
              <a:rPr lang="zh-CN" altLang="en-US" sz="2800" b="1" dirty="0">
                <a:solidFill>
                  <a:srgbClr val="A50021"/>
                </a:solidFill>
                <a:latin typeface="Arial" panose="020B0604020202020204" pitchFamily="34" charset="0"/>
                <a:ea typeface="宋体" panose="02010600030101010101" pitchFamily="2" charset="-122"/>
              </a:rPr>
              <a:t>能量</a:t>
            </a:r>
            <a:r>
              <a:rPr lang="en-US" altLang="zh-CN" sz="2800" b="1" i="1">
                <a:solidFill>
                  <a:srgbClr val="A50021"/>
                </a:solidFill>
                <a:latin typeface="Arial" panose="020B0604020202020204" pitchFamily="34" charset="0"/>
                <a:ea typeface="宋体" panose="02010600030101010101" pitchFamily="2" charset="-122"/>
              </a:rPr>
              <a:t>E</a:t>
            </a:r>
            <a:r>
              <a:rPr lang="zh-CN" altLang="en-US" sz="2800" b="1" dirty="0">
                <a:solidFill>
                  <a:srgbClr val="A50021"/>
                </a:solidFill>
                <a:latin typeface="Arial" panose="020B0604020202020204" pitchFamily="34" charset="0"/>
                <a:ea typeface="宋体" panose="02010600030101010101" pitchFamily="2" charset="-122"/>
              </a:rPr>
              <a:t>、速度</a:t>
            </a:r>
            <a:r>
              <a:rPr lang="en-US" altLang="zh-CN" sz="2800" b="1" i="1">
                <a:solidFill>
                  <a:srgbClr val="A50021"/>
                </a:solidFill>
                <a:latin typeface="Arial" panose="020B0604020202020204" pitchFamily="34" charset="0"/>
                <a:ea typeface="宋体" panose="02010600030101010101" pitchFamily="2" charset="-122"/>
              </a:rPr>
              <a:t>v</a:t>
            </a:r>
            <a:r>
              <a:rPr lang="zh-CN" altLang="en-US" sz="2800" b="1" dirty="0">
                <a:solidFill>
                  <a:srgbClr val="A50021"/>
                </a:solidFill>
                <a:latin typeface="Arial" panose="020B0604020202020204" pitchFamily="34" charset="0"/>
                <a:ea typeface="宋体" panose="02010600030101010101" pitchFamily="2" charset="-122"/>
              </a:rPr>
              <a:t>和有效质量</a:t>
            </a:r>
            <a:r>
              <a:rPr lang="en-US" altLang="zh-CN" sz="2800" b="1">
                <a:solidFill>
                  <a:srgbClr val="A50021"/>
                </a:solidFill>
                <a:latin typeface="Arial" panose="020B0604020202020204" pitchFamily="34" charset="0"/>
                <a:ea typeface="宋体" panose="02010600030101010101" pitchFamily="2" charset="-122"/>
              </a:rPr>
              <a:t>m</a:t>
            </a:r>
            <a:r>
              <a:rPr lang="en-US" altLang="zh-CN" sz="2800" b="1" baseline="30000">
                <a:solidFill>
                  <a:srgbClr val="A50021"/>
                </a:solidFill>
                <a:latin typeface="Arial" panose="020B0604020202020204" pitchFamily="34" charset="0"/>
                <a:ea typeface="宋体" panose="02010600030101010101" pitchFamily="2" charset="-122"/>
              </a:rPr>
              <a:t>*</a:t>
            </a:r>
            <a:r>
              <a:rPr lang="zh-CN" altLang="en-US" sz="2800" b="1" dirty="0">
                <a:solidFill>
                  <a:srgbClr val="A50021"/>
                </a:solidFill>
                <a:latin typeface="Arial" panose="020B0604020202020204" pitchFamily="34" charset="0"/>
                <a:ea typeface="宋体" panose="02010600030101010101" pitchFamily="2" charset="-122"/>
              </a:rPr>
              <a:t>与波矢</a:t>
            </a:r>
            <a:r>
              <a:rPr lang="en-US" altLang="zh-CN" sz="2800" b="1" i="1">
                <a:solidFill>
                  <a:srgbClr val="A50021"/>
                </a:solidFill>
                <a:latin typeface="Arial" panose="020B0604020202020204" pitchFamily="34" charset="0"/>
                <a:ea typeface="宋体" panose="02010600030101010101" pitchFamily="2" charset="-122"/>
              </a:rPr>
              <a:t>k</a:t>
            </a:r>
            <a:r>
              <a:rPr lang="zh-CN" altLang="en-US" sz="2800" b="1" dirty="0">
                <a:solidFill>
                  <a:srgbClr val="A50021"/>
                </a:solidFill>
                <a:latin typeface="Arial" panose="020B0604020202020204" pitchFamily="34" charset="0"/>
                <a:ea typeface="宋体" panose="02010600030101010101" pitchFamily="2" charset="-122"/>
              </a:rPr>
              <a:t>的关系</a:t>
            </a:r>
          </a:p>
        </p:txBody>
      </p:sp>
      <p:sp>
        <p:nvSpPr>
          <p:cNvPr id="52227" name="右箭头 146435"/>
          <p:cNvSpPr/>
          <p:nvPr/>
        </p:nvSpPr>
        <p:spPr>
          <a:xfrm>
            <a:off x="539750" y="3500438"/>
            <a:ext cx="1768475" cy="638175"/>
          </a:xfrm>
          <a:prstGeom prst="rightArrow">
            <a:avLst>
              <a:gd name="adj1" fmla="val 50000"/>
              <a:gd name="adj2" fmla="val 69265"/>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52228" name="直接连接符 146437"/>
          <p:cNvSpPr/>
          <p:nvPr/>
        </p:nvSpPr>
        <p:spPr>
          <a:xfrm>
            <a:off x="3228975" y="1973263"/>
            <a:ext cx="2362200" cy="0"/>
          </a:xfrm>
          <a:prstGeom prst="line">
            <a:avLst/>
          </a:prstGeom>
          <a:ln w="9525" cap="flat" cmpd="sng">
            <a:solidFill>
              <a:schemeClr val="tx1"/>
            </a:solidFill>
            <a:prstDash val="solid"/>
            <a:miter/>
            <a:headEnd type="none" w="med" len="med"/>
            <a:tailEnd type="none" w="med" len="med"/>
          </a:ln>
        </p:spPr>
      </p:sp>
      <p:sp>
        <p:nvSpPr>
          <p:cNvPr id="52229" name="直接连接符 146438"/>
          <p:cNvSpPr/>
          <p:nvPr/>
        </p:nvSpPr>
        <p:spPr>
          <a:xfrm>
            <a:off x="3228975" y="830263"/>
            <a:ext cx="0" cy="5029200"/>
          </a:xfrm>
          <a:prstGeom prst="line">
            <a:avLst/>
          </a:prstGeom>
          <a:ln w="9525" cap="flat" cmpd="sng">
            <a:solidFill>
              <a:schemeClr val="tx1"/>
            </a:solidFill>
            <a:prstDash val="dash"/>
            <a:miter/>
            <a:headEnd type="none" w="med" len="med"/>
            <a:tailEnd type="none" w="med" len="med"/>
          </a:ln>
        </p:spPr>
      </p:sp>
      <p:sp>
        <p:nvSpPr>
          <p:cNvPr id="52230" name="直接连接符 146439"/>
          <p:cNvSpPr/>
          <p:nvPr/>
        </p:nvSpPr>
        <p:spPr>
          <a:xfrm>
            <a:off x="3457575" y="844550"/>
            <a:ext cx="12700" cy="5033963"/>
          </a:xfrm>
          <a:prstGeom prst="line">
            <a:avLst/>
          </a:prstGeom>
          <a:ln w="9525" cap="flat" cmpd="sng">
            <a:solidFill>
              <a:schemeClr val="tx1"/>
            </a:solidFill>
            <a:prstDash val="dash"/>
            <a:miter/>
            <a:headEnd type="none" w="med" len="med"/>
            <a:tailEnd type="none" w="med" len="med"/>
          </a:ln>
        </p:spPr>
      </p:sp>
      <p:sp>
        <p:nvSpPr>
          <p:cNvPr id="52231" name="直接连接符 146440"/>
          <p:cNvSpPr/>
          <p:nvPr/>
        </p:nvSpPr>
        <p:spPr>
          <a:xfrm>
            <a:off x="5362575" y="830263"/>
            <a:ext cx="0" cy="5029200"/>
          </a:xfrm>
          <a:prstGeom prst="line">
            <a:avLst/>
          </a:prstGeom>
          <a:ln w="9525" cap="flat" cmpd="sng">
            <a:solidFill>
              <a:schemeClr val="tx1"/>
            </a:solidFill>
            <a:prstDash val="dash"/>
            <a:miter/>
            <a:headEnd type="none" w="med" len="med"/>
            <a:tailEnd type="none" w="med" len="med"/>
          </a:ln>
        </p:spPr>
      </p:sp>
      <p:sp>
        <p:nvSpPr>
          <p:cNvPr id="52232" name="直接连接符 146441"/>
          <p:cNvSpPr/>
          <p:nvPr/>
        </p:nvSpPr>
        <p:spPr>
          <a:xfrm>
            <a:off x="5133975" y="836613"/>
            <a:ext cx="0" cy="5029200"/>
          </a:xfrm>
          <a:prstGeom prst="line">
            <a:avLst/>
          </a:prstGeom>
          <a:ln w="9525" cap="flat" cmpd="sng">
            <a:solidFill>
              <a:schemeClr val="tx1"/>
            </a:solidFill>
            <a:prstDash val="dash"/>
            <a:miter/>
            <a:headEnd type="none" w="med" len="med"/>
            <a:tailEnd type="none" w="med" len="med"/>
          </a:ln>
        </p:spPr>
      </p:sp>
      <p:sp>
        <p:nvSpPr>
          <p:cNvPr id="52233" name="直接连接符 146442"/>
          <p:cNvSpPr/>
          <p:nvPr/>
        </p:nvSpPr>
        <p:spPr>
          <a:xfrm>
            <a:off x="3076575" y="3116263"/>
            <a:ext cx="2590800" cy="0"/>
          </a:xfrm>
          <a:prstGeom prst="line">
            <a:avLst/>
          </a:prstGeom>
          <a:ln w="9525" cap="flat" cmpd="sng">
            <a:solidFill>
              <a:schemeClr val="tx1"/>
            </a:solidFill>
            <a:prstDash val="solid"/>
            <a:miter/>
            <a:headEnd type="none" w="med" len="med"/>
            <a:tailEnd type="none" w="med" len="med"/>
          </a:ln>
        </p:spPr>
      </p:sp>
      <p:sp>
        <p:nvSpPr>
          <p:cNvPr id="52234" name="直接连接符 146443"/>
          <p:cNvSpPr/>
          <p:nvPr/>
        </p:nvSpPr>
        <p:spPr>
          <a:xfrm>
            <a:off x="3000375" y="4792663"/>
            <a:ext cx="2819400" cy="0"/>
          </a:xfrm>
          <a:prstGeom prst="line">
            <a:avLst/>
          </a:prstGeom>
          <a:ln w="9525" cap="flat" cmpd="sng">
            <a:solidFill>
              <a:schemeClr val="tx1"/>
            </a:solidFill>
            <a:prstDash val="solid"/>
            <a:miter/>
            <a:headEnd type="none" w="med" len="med"/>
            <a:tailEnd type="none" w="med" len="med"/>
          </a:ln>
        </p:spPr>
      </p:sp>
      <p:sp>
        <p:nvSpPr>
          <p:cNvPr id="52235" name="直接连接符 146444"/>
          <p:cNvSpPr/>
          <p:nvPr/>
        </p:nvSpPr>
        <p:spPr>
          <a:xfrm flipV="1">
            <a:off x="4295775" y="906463"/>
            <a:ext cx="0" cy="1066800"/>
          </a:xfrm>
          <a:prstGeom prst="line">
            <a:avLst/>
          </a:prstGeom>
          <a:ln w="9525" cap="flat" cmpd="sng">
            <a:solidFill>
              <a:schemeClr val="tx1"/>
            </a:solidFill>
            <a:prstDash val="solid"/>
            <a:miter/>
            <a:headEnd type="none" w="med" len="med"/>
            <a:tailEnd type="triangle" w="med" len="med"/>
          </a:ln>
        </p:spPr>
      </p:sp>
      <p:sp>
        <p:nvSpPr>
          <p:cNvPr id="52236" name="直接连接符 146445"/>
          <p:cNvSpPr/>
          <p:nvPr/>
        </p:nvSpPr>
        <p:spPr>
          <a:xfrm flipV="1">
            <a:off x="4295775" y="2354263"/>
            <a:ext cx="0" cy="1447800"/>
          </a:xfrm>
          <a:prstGeom prst="line">
            <a:avLst/>
          </a:prstGeom>
          <a:ln w="9525" cap="flat" cmpd="sng">
            <a:solidFill>
              <a:schemeClr val="tx1"/>
            </a:solidFill>
            <a:prstDash val="solid"/>
            <a:miter/>
            <a:headEnd type="none" w="med" len="med"/>
            <a:tailEnd type="triangle" w="med" len="med"/>
          </a:ln>
        </p:spPr>
      </p:sp>
      <p:sp>
        <p:nvSpPr>
          <p:cNvPr id="52237" name="直接连接符 146446"/>
          <p:cNvSpPr/>
          <p:nvPr/>
        </p:nvSpPr>
        <p:spPr>
          <a:xfrm flipV="1">
            <a:off x="4319588" y="4030663"/>
            <a:ext cx="0" cy="1828800"/>
          </a:xfrm>
          <a:prstGeom prst="line">
            <a:avLst/>
          </a:prstGeom>
          <a:ln w="9525" cap="flat" cmpd="sng">
            <a:solidFill>
              <a:schemeClr val="tx1"/>
            </a:solidFill>
            <a:prstDash val="solid"/>
            <a:miter/>
            <a:headEnd type="none" w="med" len="med"/>
            <a:tailEnd type="triangle" w="med" len="med"/>
          </a:ln>
        </p:spPr>
      </p:sp>
      <p:sp>
        <p:nvSpPr>
          <p:cNvPr id="52238" name="直接连接符 146447"/>
          <p:cNvSpPr/>
          <p:nvPr/>
        </p:nvSpPr>
        <p:spPr>
          <a:xfrm flipV="1">
            <a:off x="4016375" y="4567238"/>
            <a:ext cx="720725" cy="0"/>
          </a:xfrm>
          <a:prstGeom prst="line">
            <a:avLst/>
          </a:prstGeom>
          <a:ln w="57150" cap="flat" cmpd="sng">
            <a:solidFill>
              <a:srgbClr val="FFFF00"/>
            </a:solidFill>
            <a:prstDash val="solid"/>
            <a:miter/>
            <a:headEnd type="none" w="med" len="med"/>
            <a:tailEnd type="none" w="med" len="med"/>
          </a:ln>
        </p:spPr>
      </p:sp>
      <p:sp>
        <p:nvSpPr>
          <p:cNvPr id="52239" name="任意多边形 146448"/>
          <p:cNvSpPr/>
          <p:nvPr/>
        </p:nvSpPr>
        <p:spPr>
          <a:xfrm>
            <a:off x="4702175" y="4229100"/>
            <a:ext cx="423863" cy="354013"/>
          </a:xfrm>
          <a:custGeom>
            <a:avLst/>
            <a:gdLst/>
            <a:ahLst/>
            <a:cxnLst/>
            <a:rect l="0" t="0" r="0" b="0"/>
            <a:pathLst>
              <a:path w="267" h="223">
                <a:moveTo>
                  <a:pt x="0" y="216"/>
                </a:moveTo>
                <a:cubicBezTo>
                  <a:pt x="33" y="213"/>
                  <a:pt x="154" y="223"/>
                  <a:pt x="198" y="187"/>
                </a:cubicBezTo>
                <a:cubicBezTo>
                  <a:pt x="242" y="151"/>
                  <a:pt x="253" y="39"/>
                  <a:pt x="267" y="0"/>
                </a:cubicBezTo>
              </a:path>
            </a:pathLst>
          </a:custGeom>
          <a:noFill/>
          <a:ln w="57150" cap="flat" cmpd="sng">
            <a:solidFill>
              <a:srgbClr val="FFFF00"/>
            </a:solidFill>
            <a:prstDash val="solid"/>
            <a:miter/>
            <a:headEnd type="none" w="med" len="med"/>
            <a:tailEnd type="none" w="med" len="med"/>
          </a:ln>
        </p:spPr>
        <p:txBody>
          <a:bodyPr/>
          <a:lstStyle/>
          <a:p>
            <a:endParaRPr lang="zh-CN" altLang="en-US"/>
          </a:p>
        </p:txBody>
      </p:sp>
      <p:sp>
        <p:nvSpPr>
          <p:cNvPr id="52240" name="任意多边形 146449"/>
          <p:cNvSpPr/>
          <p:nvPr/>
        </p:nvSpPr>
        <p:spPr>
          <a:xfrm>
            <a:off x="3457575" y="4217988"/>
            <a:ext cx="592138" cy="363537"/>
          </a:xfrm>
          <a:custGeom>
            <a:avLst/>
            <a:gdLst/>
            <a:ahLst/>
            <a:cxnLst/>
            <a:rect l="0" t="0" r="0" b="0"/>
            <a:pathLst>
              <a:path w="373" h="229">
                <a:moveTo>
                  <a:pt x="0" y="0"/>
                </a:moveTo>
                <a:cubicBezTo>
                  <a:pt x="16" y="80"/>
                  <a:pt x="34" y="155"/>
                  <a:pt x="96" y="192"/>
                </a:cubicBezTo>
                <a:cubicBezTo>
                  <a:pt x="158" y="229"/>
                  <a:pt x="315" y="215"/>
                  <a:pt x="373" y="221"/>
                </a:cubicBezTo>
              </a:path>
            </a:pathLst>
          </a:custGeom>
          <a:noFill/>
          <a:ln w="57150" cap="flat" cmpd="sng">
            <a:solidFill>
              <a:srgbClr val="FFFF00"/>
            </a:solidFill>
            <a:prstDash val="solid"/>
            <a:miter/>
            <a:headEnd type="none" w="med" len="med"/>
            <a:tailEnd type="none" w="med" len="med"/>
          </a:ln>
        </p:spPr>
        <p:txBody>
          <a:bodyPr/>
          <a:lstStyle/>
          <a:p>
            <a:endParaRPr lang="zh-CN" altLang="en-US"/>
          </a:p>
        </p:txBody>
      </p:sp>
      <p:sp>
        <p:nvSpPr>
          <p:cNvPr id="52241" name="任意多边形 146450"/>
          <p:cNvSpPr/>
          <p:nvPr/>
        </p:nvSpPr>
        <p:spPr>
          <a:xfrm>
            <a:off x="3228975" y="1160463"/>
            <a:ext cx="2133600" cy="825500"/>
          </a:xfrm>
          <a:custGeom>
            <a:avLst/>
            <a:gdLst/>
            <a:ahLst/>
            <a:cxnLst/>
            <a:rect l="0" t="0" r="0" b="0"/>
            <a:pathLst>
              <a:path w="1344" h="520">
                <a:moveTo>
                  <a:pt x="0" y="32"/>
                </a:moveTo>
                <a:cubicBezTo>
                  <a:pt x="16" y="40"/>
                  <a:pt x="32" y="48"/>
                  <a:pt x="144" y="128"/>
                </a:cubicBezTo>
                <a:cubicBezTo>
                  <a:pt x="256" y="208"/>
                  <a:pt x="496" y="520"/>
                  <a:pt x="672" y="512"/>
                </a:cubicBezTo>
                <a:cubicBezTo>
                  <a:pt x="848" y="504"/>
                  <a:pt x="1088" y="160"/>
                  <a:pt x="1200" y="80"/>
                </a:cubicBezTo>
                <a:cubicBezTo>
                  <a:pt x="1312" y="0"/>
                  <a:pt x="1328" y="16"/>
                  <a:pt x="1344" y="32"/>
                </a:cubicBezTo>
              </a:path>
            </a:pathLst>
          </a:custGeom>
          <a:noFill/>
          <a:ln w="57150" cap="flat" cmpd="sng">
            <a:solidFill>
              <a:srgbClr val="FFFF00"/>
            </a:solidFill>
            <a:prstDash val="solid"/>
            <a:miter/>
            <a:headEnd type="none" w="med" len="med"/>
            <a:tailEnd type="none" w="med" len="med"/>
          </a:ln>
        </p:spPr>
        <p:txBody>
          <a:bodyPr/>
          <a:lstStyle/>
          <a:p>
            <a:endParaRPr lang="zh-CN" altLang="en-US"/>
          </a:p>
        </p:txBody>
      </p:sp>
      <p:sp>
        <p:nvSpPr>
          <p:cNvPr id="52242" name="任意多边形 146451"/>
          <p:cNvSpPr/>
          <p:nvPr/>
        </p:nvSpPr>
        <p:spPr>
          <a:xfrm>
            <a:off x="3228975" y="5173663"/>
            <a:ext cx="228600" cy="457200"/>
          </a:xfrm>
          <a:custGeom>
            <a:avLst/>
            <a:gdLst/>
            <a:ahLst/>
            <a:cxnLst/>
            <a:rect l="0" t="0" r="0" b="0"/>
            <a:pathLst>
              <a:path w="144" h="288">
                <a:moveTo>
                  <a:pt x="0" y="0"/>
                </a:moveTo>
                <a:cubicBezTo>
                  <a:pt x="36" y="0"/>
                  <a:pt x="72" y="0"/>
                  <a:pt x="96" y="48"/>
                </a:cubicBezTo>
                <a:cubicBezTo>
                  <a:pt x="120" y="96"/>
                  <a:pt x="136" y="248"/>
                  <a:pt x="144" y="288"/>
                </a:cubicBezTo>
              </a:path>
            </a:pathLst>
          </a:custGeom>
          <a:noFill/>
          <a:ln w="57150" cap="flat" cmpd="sng">
            <a:solidFill>
              <a:srgbClr val="FFFF00"/>
            </a:solidFill>
            <a:prstDash val="solid"/>
            <a:miter/>
            <a:headEnd type="none" w="med" len="med"/>
            <a:tailEnd type="none" w="med" len="med"/>
          </a:ln>
        </p:spPr>
        <p:txBody>
          <a:bodyPr/>
          <a:lstStyle/>
          <a:p>
            <a:endParaRPr lang="zh-CN" altLang="en-US"/>
          </a:p>
        </p:txBody>
      </p:sp>
      <p:sp>
        <p:nvSpPr>
          <p:cNvPr id="52243" name="任意多边形 146452"/>
          <p:cNvSpPr/>
          <p:nvPr/>
        </p:nvSpPr>
        <p:spPr>
          <a:xfrm>
            <a:off x="5126038" y="5151438"/>
            <a:ext cx="236537" cy="509587"/>
          </a:xfrm>
          <a:custGeom>
            <a:avLst/>
            <a:gdLst/>
            <a:ahLst/>
            <a:cxnLst/>
            <a:rect l="0" t="0" r="0" b="0"/>
            <a:pathLst>
              <a:path w="144" h="398">
                <a:moveTo>
                  <a:pt x="144" y="14"/>
                </a:moveTo>
                <a:cubicBezTo>
                  <a:pt x="128" y="22"/>
                  <a:pt x="72" y="0"/>
                  <a:pt x="48" y="64"/>
                </a:cubicBezTo>
                <a:cubicBezTo>
                  <a:pt x="24" y="128"/>
                  <a:pt x="10" y="329"/>
                  <a:pt x="0" y="398"/>
                </a:cubicBezTo>
              </a:path>
            </a:pathLst>
          </a:custGeom>
          <a:noFill/>
          <a:ln w="57150" cap="flat" cmpd="sng">
            <a:solidFill>
              <a:srgbClr val="FFFF00"/>
            </a:solidFill>
            <a:prstDash val="solid"/>
            <a:miter/>
            <a:headEnd type="none" w="med" len="med"/>
            <a:tailEnd type="none" w="med" len="med"/>
          </a:ln>
        </p:spPr>
        <p:txBody>
          <a:bodyPr/>
          <a:lstStyle/>
          <a:p>
            <a:endParaRPr lang="zh-CN" altLang="en-US"/>
          </a:p>
        </p:txBody>
      </p:sp>
      <p:sp>
        <p:nvSpPr>
          <p:cNvPr id="52244" name="文本框 146453"/>
          <p:cNvSpPr txBox="1"/>
          <p:nvPr/>
        </p:nvSpPr>
        <p:spPr>
          <a:xfrm>
            <a:off x="4508500" y="4833938"/>
            <a:ext cx="336550" cy="457200"/>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0</a:t>
            </a:r>
          </a:p>
        </p:txBody>
      </p:sp>
      <p:sp>
        <p:nvSpPr>
          <p:cNvPr id="52245" name="文本框 146454"/>
          <p:cNvSpPr txBox="1"/>
          <p:nvPr/>
        </p:nvSpPr>
        <p:spPr>
          <a:xfrm>
            <a:off x="4432300" y="3919538"/>
            <a:ext cx="522288" cy="457200"/>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m</a:t>
            </a:r>
            <a:r>
              <a:rPr lang="en-US" altLang="zh-CN" sz="2400" baseline="30000">
                <a:latin typeface="Times New Roman" panose="02020603050405020304" pitchFamily="18" charset="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52246" name="任意多边形 146455"/>
          <p:cNvSpPr/>
          <p:nvPr/>
        </p:nvSpPr>
        <p:spPr>
          <a:xfrm>
            <a:off x="3228975" y="2659063"/>
            <a:ext cx="2133600" cy="914400"/>
          </a:xfrm>
          <a:custGeom>
            <a:avLst/>
            <a:gdLst/>
            <a:ahLst/>
            <a:cxnLst/>
            <a:rect l="0" t="0" r="0" b="0"/>
            <a:pathLst>
              <a:path w="1344" h="576">
                <a:moveTo>
                  <a:pt x="0" y="288"/>
                </a:moveTo>
                <a:cubicBezTo>
                  <a:pt x="16" y="432"/>
                  <a:pt x="32" y="576"/>
                  <a:pt x="144" y="576"/>
                </a:cubicBezTo>
                <a:cubicBezTo>
                  <a:pt x="256" y="576"/>
                  <a:pt x="496" y="384"/>
                  <a:pt x="672" y="288"/>
                </a:cubicBezTo>
                <a:cubicBezTo>
                  <a:pt x="848" y="192"/>
                  <a:pt x="1088" y="0"/>
                  <a:pt x="1200" y="0"/>
                </a:cubicBezTo>
                <a:cubicBezTo>
                  <a:pt x="1312" y="0"/>
                  <a:pt x="1328" y="144"/>
                  <a:pt x="1344" y="288"/>
                </a:cubicBezTo>
              </a:path>
            </a:pathLst>
          </a:custGeom>
          <a:noFill/>
          <a:ln w="57150" cap="flat" cmpd="sng">
            <a:solidFill>
              <a:srgbClr val="FFFF00"/>
            </a:solidFill>
            <a:prstDash val="solid"/>
            <a:miter/>
            <a:headEnd type="none" w="med" len="med"/>
            <a:tailEnd type="none" w="med" len="med"/>
          </a:ln>
        </p:spPr>
        <p:txBody>
          <a:bodyPr/>
          <a:lstStyle/>
          <a:p>
            <a:endParaRPr lang="zh-CN" altLang="en-US"/>
          </a:p>
        </p:txBody>
      </p:sp>
      <p:sp>
        <p:nvSpPr>
          <p:cNvPr id="52247" name="文本框 146456"/>
          <p:cNvSpPr txBox="1"/>
          <p:nvPr/>
        </p:nvSpPr>
        <p:spPr>
          <a:xfrm>
            <a:off x="4356100" y="3081338"/>
            <a:ext cx="336550" cy="457200"/>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0</a:t>
            </a:r>
          </a:p>
        </p:txBody>
      </p:sp>
      <p:sp>
        <p:nvSpPr>
          <p:cNvPr id="52248" name="文本框 146457"/>
          <p:cNvSpPr txBox="1"/>
          <p:nvPr/>
        </p:nvSpPr>
        <p:spPr>
          <a:xfrm>
            <a:off x="3898900" y="871538"/>
            <a:ext cx="369888" cy="457200"/>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52249" name="直接连接符 146458"/>
          <p:cNvSpPr/>
          <p:nvPr/>
        </p:nvSpPr>
        <p:spPr>
          <a:xfrm>
            <a:off x="4600575" y="2049463"/>
            <a:ext cx="381000" cy="0"/>
          </a:xfrm>
          <a:prstGeom prst="line">
            <a:avLst/>
          </a:prstGeom>
          <a:ln w="9525" cap="flat" cmpd="sng">
            <a:solidFill>
              <a:schemeClr val="tx1"/>
            </a:solidFill>
            <a:prstDash val="solid"/>
            <a:miter/>
            <a:headEnd type="none" w="med" len="med"/>
            <a:tailEnd type="triangle" w="med" len="med"/>
          </a:ln>
        </p:spPr>
      </p:sp>
      <p:sp>
        <p:nvSpPr>
          <p:cNvPr id="52250" name="文本框 146459"/>
          <p:cNvSpPr txBox="1"/>
          <p:nvPr/>
        </p:nvSpPr>
        <p:spPr>
          <a:xfrm>
            <a:off x="5667375" y="1744663"/>
            <a:ext cx="336550" cy="457200"/>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k</a:t>
            </a:r>
          </a:p>
        </p:txBody>
      </p:sp>
      <p:sp>
        <p:nvSpPr>
          <p:cNvPr id="52251" name="文本框 146460"/>
          <p:cNvSpPr txBox="1"/>
          <p:nvPr/>
        </p:nvSpPr>
        <p:spPr>
          <a:xfrm>
            <a:off x="2924175" y="1897063"/>
            <a:ext cx="654050" cy="366712"/>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-1/2a</a:t>
            </a:r>
          </a:p>
        </p:txBody>
      </p:sp>
      <p:sp>
        <p:nvSpPr>
          <p:cNvPr id="52252" name="直接连接符 146461"/>
          <p:cNvSpPr/>
          <p:nvPr/>
        </p:nvSpPr>
        <p:spPr>
          <a:xfrm flipV="1">
            <a:off x="5819775" y="4106863"/>
            <a:ext cx="0" cy="533400"/>
          </a:xfrm>
          <a:prstGeom prst="line">
            <a:avLst/>
          </a:prstGeom>
          <a:ln w="9525" cap="flat" cmpd="sng">
            <a:solidFill>
              <a:schemeClr val="tx1"/>
            </a:solidFill>
            <a:prstDash val="solid"/>
            <a:miter/>
            <a:headEnd type="none" w="med" len="med"/>
            <a:tailEnd type="triangle" w="med" len="med"/>
          </a:ln>
        </p:spPr>
      </p:sp>
      <p:sp>
        <p:nvSpPr>
          <p:cNvPr id="52253" name="文本框 146462"/>
          <p:cNvSpPr txBox="1"/>
          <p:nvPr/>
        </p:nvSpPr>
        <p:spPr>
          <a:xfrm>
            <a:off x="2555875" y="4149725"/>
            <a:ext cx="733425" cy="396875"/>
          </a:xfrm>
          <a:prstGeom prst="rect">
            <a:avLst/>
          </a:prstGeom>
          <a:noFill/>
          <a:ln w="9525">
            <a:noFill/>
          </a:ln>
        </p:spPr>
        <p:txBody>
          <a:bodyPr wrap="none" anchor="t" anchorCtr="0">
            <a:spAutoFit/>
          </a:bodyPr>
          <a:lstStyle/>
          <a:p>
            <a:r>
              <a:rPr lang="en-US" altLang="zh-CN" sz="2000">
                <a:solidFill>
                  <a:srgbClr val="EAFD37"/>
                </a:solidFill>
                <a:latin typeface="Times New Roman" panose="02020603050405020304" pitchFamily="18" charset="0"/>
                <a:ea typeface="宋体" panose="02010600030101010101" pitchFamily="2" charset="-122"/>
              </a:rPr>
              <a:t>m</a:t>
            </a:r>
            <a:r>
              <a:rPr lang="en-US" altLang="zh-CN" sz="2000" baseline="30000">
                <a:solidFill>
                  <a:srgbClr val="EAFD37"/>
                </a:solidFill>
                <a:latin typeface="Times New Roman" panose="02020603050405020304" pitchFamily="18" charset="0"/>
                <a:ea typeface="宋体" panose="02010600030101010101" pitchFamily="2" charset="-122"/>
              </a:rPr>
              <a:t>*</a:t>
            </a:r>
            <a:r>
              <a:rPr lang="en-US" altLang="zh-CN" sz="2000">
                <a:solidFill>
                  <a:srgbClr val="EAFD37"/>
                </a:solidFill>
                <a:latin typeface="Times New Roman" panose="02020603050405020304" pitchFamily="18" charset="0"/>
                <a:ea typeface="宋体" panose="02010600030101010101" pitchFamily="2" charset="-122"/>
              </a:rPr>
              <a:t>&gt;0</a:t>
            </a:r>
          </a:p>
        </p:txBody>
      </p:sp>
      <p:sp>
        <p:nvSpPr>
          <p:cNvPr id="52254" name="直接连接符 146463"/>
          <p:cNvSpPr/>
          <p:nvPr/>
        </p:nvSpPr>
        <p:spPr>
          <a:xfrm>
            <a:off x="5819775" y="4945063"/>
            <a:ext cx="0" cy="533400"/>
          </a:xfrm>
          <a:prstGeom prst="line">
            <a:avLst/>
          </a:prstGeom>
          <a:ln w="9525" cap="flat" cmpd="sng">
            <a:solidFill>
              <a:schemeClr val="tx1"/>
            </a:solidFill>
            <a:prstDash val="solid"/>
            <a:miter/>
            <a:headEnd type="none" w="med" len="med"/>
            <a:tailEnd type="triangle" w="med" len="med"/>
          </a:ln>
        </p:spPr>
      </p:sp>
      <p:sp>
        <p:nvSpPr>
          <p:cNvPr id="52255" name="文本框 146465"/>
          <p:cNvSpPr txBox="1"/>
          <p:nvPr/>
        </p:nvSpPr>
        <p:spPr>
          <a:xfrm>
            <a:off x="4143375" y="1897063"/>
            <a:ext cx="336550" cy="457200"/>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0</a:t>
            </a:r>
          </a:p>
        </p:txBody>
      </p:sp>
      <p:sp>
        <p:nvSpPr>
          <p:cNvPr id="52256" name="文本框 146466"/>
          <p:cNvSpPr txBox="1"/>
          <p:nvPr/>
        </p:nvSpPr>
        <p:spPr>
          <a:xfrm>
            <a:off x="5133975" y="1897063"/>
            <a:ext cx="577850" cy="366712"/>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1/2a</a:t>
            </a:r>
          </a:p>
        </p:txBody>
      </p:sp>
      <p:sp>
        <p:nvSpPr>
          <p:cNvPr id="52257" name="文本框 146467"/>
          <p:cNvSpPr txBox="1"/>
          <p:nvPr/>
        </p:nvSpPr>
        <p:spPr>
          <a:xfrm>
            <a:off x="4279900" y="2212975"/>
            <a:ext cx="354013" cy="396875"/>
          </a:xfrm>
          <a:prstGeom prst="rect">
            <a:avLst/>
          </a:prstGeom>
          <a:noFill/>
          <a:ln w="12700">
            <a:noFill/>
          </a:ln>
        </p:spPr>
        <p:txBody>
          <a:bodyPr wrap="none" anchor="t" anchorCtr="0">
            <a:spAutoFit/>
          </a:bodyPr>
          <a:lstStyle/>
          <a:p>
            <a:pPr eaLnBrk="0" hangingPunct="0"/>
            <a:r>
              <a:rPr lang="en-US" altLang="zh-CN" sz="2000">
                <a:latin typeface="Arial" panose="020B0604020202020204" pitchFamily="34" charset="0"/>
                <a:ea typeface="宋体" panose="02010600030101010101" pitchFamily="2" charset="-122"/>
              </a:rPr>
              <a:t>V</a:t>
            </a:r>
          </a:p>
        </p:txBody>
      </p:sp>
      <p:graphicFrame>
        <p:nvGraphicFramePr>
          <p:cNvPr id="52258" name="对象 146468"/>
          <p:cNvGraphicFramePr/>
          <p:nvPr/>
        </p:nvGraphicFramePr>
        <p:xfrm>
          <a:off x="6588125" y="2852738"/>
          <a:ext cx="1944688" cy="819150"/>
        </p:xfrm>
        <a:graphic>
          <a:graphicData uri="http://schemas.openxmlformats.org/presentationml/2006/ole">
            <mc:AlternateContent xmlns:mc="http://schemas.openxmlformats.org/markup-compatibility/2006">
              <mc:Choice xmlns:v="urn:schemas-microsoft-com:vml" Requires="v">
                <p:oleObj r:id="rId2" imgW="799465" imgH="393700" progId="Equation.DSMT4">
                  <p:embed/>
                </p:oleObj>
              </mc:Choice>
              <mc:Fallback>
                <p:oleObj r:id="rId2" imgW="799465" imgH="393700" progId="Equation.DSMT4">
                  <p:embed/>
                  <p:pic>
                    <p:nvPicPr>
                      <p:cNvPr id="0" name="图片 3096"/>
                      <p:cNvPicPr/>
                      <p:nvPr/>
                    </p:nvPicPr>
                    <p:blipFill>
                      <a:blip r:embed="rId3"/>
                      <a:stretch>
                        <a:fillRect/>
                      </a:stretch>
                    </p:blipFill>
                    <p:spPr>
                      <a:xfrm>
                        <a:off x="6588125" y="2852738"/>
                        <a:ext cx="1944688" cy="819150"/>
                      </a:xfrm>
                      <a:prstGeom prst="rect">
                        <a:avLst/>
                      </a:prstGeom>
                      <a:noFill/>
                      <a:ln w="38100">
                        <a:noFill/>
                        <a:miter/>
                      </a:ln>
                    </p:spPr>
                  </p:pic>
                </p:oleObj>
              </mc:Fallback>
            </mc:AlternateContent>
          </a:graphicData>
        </a:graphic>
      </p:graphicFrame>
      <p:graphicFrame>
        <p:nvGraphicFramePr>
          <p:cNvPr id="52259" name="对象 146469"/>
          <p:cNvGraphicFramePr/>
          <p:nvPr/>
        </p:nvGraphicFramePr>
        <p:xfrm>
          <a:off x="6443663" y="1341438"/>
          <a:ext cx="2376487" cy="863600"/>
        </p:xfrm>
        <a:graphic>
          <a:graphicData uri="http://schemas.openxmlformats.org/presentationml/2006/ole">
            <mc:AlternateContent xmlns:mc="http://schemas.openxmlformats.org/markup-compatibility/2006">
              <mc:Choice xmlns:v="urn:schemas-microsoft-com:vml" Requires="v">
                <p:oleObj r:id="rId4" imgW="1257300" imgH="457200" progId="Equation.DSMT4">
                  <p:embed/>
                </p:oleObj>
              </mc:Choice>
              <mc:Fallback>
                <p:oleObj r:id="rId4" imgW="1257300" imgH="457200" progId="Equation.DSMT4">
                  <p:embed/>
                  <p:pic>
                    <p:nvPicPr>
                      <p:cNvPr id="0" name="图片 3098"/>
                      <p:cNvPicPr/>
                      <p:nvPr/>
                    </p:nvPicPr>
                    <p:blipFill>
                      <a:blip r:embed="rId5"/>
                      <a:stretch>
                        <a:fillRect/>
                      </a:stretch>
                    </p:blipFill>
                    <p:spPr>
                      <a:xfrm>
                        <a:off x="6443663" y="1341438"/>
                        <a:ext cx="2376487" cy="863600"/>
                      </a:xfrm>
                      <a:prstGeom prst="rect">
                        <a:avLst/>
                      </a:prstGeom>
                      <a:noFill/>
                      <a:ln w="38100">
                        <a:noFill/>
                        <a:miter/>
                      </a:ln>
                    </p:spPr>
                  </p:pic>
                </p:oleObj>
              </mc:Fallback>
            </mc:AlternateContent>
          </a:graphicData>
        </a:graphic>
      </p:graphicFrame>
      <p:sp>
        <p:nvSpPr>
          <p:cNvPr id="52260" name="文本框 146471"/>
          <p:cNvSpPr txBox="1"/>
          <p:nvPr/>
        </p:nvSpPr>
        <p:spPr>
          <a:xfrm>
            <a:off x="2543175" y="5084763"/>
            <a:ext cx="733425" cy="396875"/>
          </a:xfrm>
          <a:prstGeom prst="rect">
            <a:avLst/>
          </a:prstGeom>
          <a:noFill/>
          <a:ln w="9525">
            <a:noFill/>
          </a:ln>
        </p:spPr>
        <p:txBody>
          <a:bodyPr wrap="none" anchor="t" anchorCtr="0">
            <a:spAutoFit/>
          </a:bodyPr>
          <a:lstStyle/>
          <a:p>
            <a:r>
              <a:rPr lang="en-US" altLang="zh-CN" sz="2000">
                <a:solidFill>
                  <a:srgbClr val="EAFD37"/>
                </a:solidFill>
                <a:latin typeface="Times New Roman" panose="02020603050405020304" pitchFamily="18" charset="0"/>
                <a:ea typeface="宋体" panose="02010600030101010101" pitchFamily="2" charset="-122"/>
              </a:rPr>
              <a:t>m</a:t>
            </a:r>
            <a:r>
              <a:rPr lang="en-US" altLang="zh-CN" sz="2000" baseline="30000">
                <a:solidFill>
                  <a:srgbClr val="EAFD37"/>
                </a:solidFill>
                <a:latin typeface="Times New Roman" panose="02020603050405020304" pitchFamily="18" charset="0"/>
                <a:ea typeface="宋体" panose="02010600030101010101" pitchFamily="2" charset="-122"/>
              </a:rPr>
              <a:t>*</a:t>
            </a:r>
            <a:r>
              <a:rPr lang="en-US" altLang="zh-CN" sz="2000">
                <a:solidFill>
                  <a:srgbClr val="EAFD37"/>
                </a:solidFill>
                <a:latin typeface="Times New Roman" panose="02020603050405020304" pitchFamily="18" charset="0"/>
                <a:ea typeface="宋体" panose="02010600030101010101" pitchFamily="2" charset="-122"/>
              </a:rPr>
              <a:t>&lt;0</a:t>
            </a:r>
          </a:p>
        </p:txBody>
      </p:sp>
      <p:graphicFrame>
        <p:nvGraphicFramePr>
          <p:cNvPr id="52261" name="对象 146472"/>
          <p:cNvGraphicFramePr/>
          <p:nvPr/>
        </p:nvGraphicFramePr>
        <p:xfrm>
          <a:off x="6588125" y="4292600"/>
          <a:ext cx="1609725" cy="1460500"/>
        </p:xfrm>
        <a:graphic>
          <a:graphicData uri="http://schemas.openxmlformats.org/presentationml/2006/ole">
            <mc:AlternateContent xmlns:mc="http://schemas.openxmlformats.org/markup-compatibility/2006">
              <mc:Choice xmlns:v="urn:schemas-microsoft-com:vml" Requires="v">
                <p:oleObj r:id="rId6" imgW="685800" imgH="622300" progId="Equation.3">
                  <p:embed/>
                </p:oleObj>
              </mc:Choice>
              <mc:Fallback>
                <p:oleObj r:id="rId6" imgW="685800" imgH="622300" progId="Equation.3">
                  <p:embed/>
                  <p:pic>
                    <p:nvPicPr>
                      <p:cNvPr id="0" name="图片 3097"/>
                      <p:cNvPicPr/>
                      <p:nvPr/>
                    </p:nvPicPr>
                    <p:blipFill>
                      <a:blip r:embed="rId7"/>
                      <a:stretch>
                        <a:fillRect/>
                      </a:stretch>
                    </p:blipFill>
                    <p:spPr>
                      <a:xfrm>
                        <a:off x="6588125" y="4292600"/>
                        <a:ext cx="1609725" cy="1460500"/>
                      </a:xfrm>
                      <a:prstGeom prst="rect">
                        <a:avLst/>
                      </a:prstGeom>
                      <a:noFill/>
                      <a:ln w="38100">
                        <a:noFill/>
                        <a:miter/>
                      </a:ln>
                    </p:spPr>
                  </p:pic>
                </p:oleObj>
              </mc:Fallback>
            </mc:AlternateContent>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6" name="圆角矩形 182275"/>
          <p:cNvSpPr/>
          <p:nvPr/>
        </p:nvSpPr>
        <p:spPr>
          <a:xfrm>
            <a:off x="611188" y="1268413"/>
            <a:ext cx="1668462" cy="800100"/>
          </a:xfrm>
          <a:prstGeom prst="roundRect">
            <a:avLst>
              <a:gd name="adj" fmla="val 16667"/>
            </a:avLst>
          </a:prstGeom>
          <a:solidFill>
            <a:schemeClr val="folHlink"/>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Verdana" panose="020B0604030504040204" pitchFamily="34" charset="0"/>
                <a:ea typeface="宋体" panose="02010600030101010101" pitchFamily="2" charset="-122"/>
              </a:rPr>
              <a:t>电子在外力</a:t>
            </a:r>
          </a:p>
          <a:p>
            <a:pPr algn="ctr"/>
            <a:r>
              <a:rPr lang="zh-CN" altLang="en-US" sz="2000" b="1" dirty="0">
                <a:latin typeface="Verdana" panose="020B0604030504040204" pitchFamily="34" charset="0"/>
                <a:ea typeface="宋体" panose="02010600030101010101" pitchFamily="2" charset="-122"/>
              </a:rPr>
              <a:t>作用下运动</a:t>
            </a:r>
          </a:p>
        </p:txBody>
      </p:sp>
      <p:sp>
        <p:nvSpPr>
          <p:cNvPr id="182277" name="圆角矩形 182276"/>
          <p:cNvSpPr/>
          <p:nvPr/>
        </p:nvSpPr>
        <p:spPr>
          <a:xfrm>
            <a:off x="611188" y="2565400"/>
            <a:ext cx="1873250" cy="800100"/>
          </a:xfrm>
          <a:prstGeom prst="roundRect">
            <a:avLst>
              <a:gd name="adj" fmla="val 16667"/>
            </a:avLst>
          </a:prstGeom>
          <a:solidFill>
            <a:schemeClr val="folHlink"/>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Verdana" panose="020B0604030504040204" pitchFamily="34" charset="0"/>
                <a:ea typeface="宋体" panose="02010600030101010101" pitchFamily="2" charset="-122"/>
              </a:rPr>
              <a:t>受到外电场力</a:t>
            </a:r>
          </a:p>
          <a:p>
            <a:pPr algn="ctr"/>
            <a:r>
              <a:rPr lang="en-US" altLang="zh-CN" sz="2000" b="1">
                <a:latin typeface="Verdana" panose="020B0604030504040204" pitchFamily="34" charset="0"/>
                <a:ea typeface="宋体" panose="02010600030101010101" pitchFamily="2" charset="-122"/>
              </a:rPr>
              <a:t>F</a:t>
            </a:r>
            <a:r>
              <a:rPr lang="zh-CN" altLang="en-US" sz="1000" b="1" dirty="0">
                <a:latin typeface="Verdana" panose="020B0604030504040204" pitchFamily="34" charset="0"/>
                <a:ea typeface="宋体" panose="02010600030101010101" pitchFamily="2" charset="-122"/>
              </a:rPr>
              <a:t>外</a:t>
            </a:r>
            <a:r>
              <a:rPr lang="zh-CN" altLang="en-US" sz="2000" b="1" dirty="0">
                <a:latin typeface="Verdana" panose="020B0604030504040204" pitchFamily="34" charset="0"/>
                <a:ea typeface="宋体" panose="02010600030101010101" pitchFamily="2" charset="-122"/>
              </a:rPr>
              <a:t>的作用</a:t>
            </a:r>
          </a:p>
        </p:txBody>
      </p:sp>
      <p:sp>
        <p:nvSpPr>
          <p:cNvPr id="182278" name="圆角矩形 182277"/>
          <p:cNvSpPr/>
          <p:nvPr/>
        </p:nvSpPr>
        <p:spPr>
          <a:xfrm>
            <a:off x="6213475" y="1268413"/>
            <a:ext cx="1655763" cy="800100"/>
          </a:xfrm>
          <a:prstGeom prst="roundRect">
            <a:avLst>
              <a:gd name="adj" fmla="val 16667"/>
            </a:avLst>
          </a:prstGeom>
          <a:solidFill>
            <a:schemeClr val="folHlink"/>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Verdana" panose="020B0604030504040204" pitchFamily="34" charset="0"/>
                <a:ea typeface="宋体" panose="02010600030101010101" pitchFamily="2" charset="-122"/>
              </a:rPr>
              <a:t>内部原子、</a:t>
            </a:r>
          </a:p>
          <a:p>
            <a:pPr algn="ctr"/>
            <a:r>
              <a:rPr lang="zh-CN" altLang="en-US" sz="2000" b="1" dirty="0">
                <a:latin typeface="Verdana" panose="020B0604030504040204" pitchFamily="34" charset="0"/>
                <a:ea typeface="宋体" panose="02010600030101010101" pitchFamily="2" charset="-122"/>
              </a:rPr>
              <a:t>电子相互作用</a:t>
            </a:r>
          </a:p>
        </p:txBody>
      </p:sp>
      <p:sp>
        <p:nvSpPr>
          <p:cNvPr id="182279" name="圆角矩形 182278"/>
          <p:cNvSpPr/>
          <p:nvPr/>
        </p:nvSpPr>
        <p:spPr>
          <a:xfrm>
            <a:off x="6084888" y="2565400"/>
            <a:ext cx="2087562" cy="771525"/>
          </a:xfrm>
          <a:prstGeom prst="roundRect">
            <a:avLst>
              <a:gd name="adj" fmla="val 16667"/>
            </a:avLst>
          </a:prstGeom>
          <a:solidFill>
            <a:schemeClr val="folHlink"/>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Verdana" panose="020B0604030504040204" pitchFamily="34" charset="0"/>
                <a:ea typeface="宋体" panose="02010600030101010101" pitchFamily="2" charset="-122"/>
              </a:rPr>
              <a:t>内部势场 </a:t>
            </a:r>
            <a:r>
              <a:rPr lang="en-US" altLang="zh-CN" sz="2000" b="1">
                <a:latin typeface="Verdana" panose="020B0604030504040204" pitchFamily="34" charset="0"/>
                <a:ea typeface="宋体" panose="02010600030101010101" pitchFamily="2" charset="-122"/>
              </a:rPr>
              <a:t>F</a:t>
            </a:r>
            <a:r>
              <a:rPr lang="zh-CN" altLang="en-US" sz="1000" b="1" dirty="0">
                <a:latin typeface="Verdana" panose="020B0604030504040204" pitchFamily="34" charset="0"/>
                <a:ea typeface="宋体" panose="02010600030101010101" pitchFamily="2" charset="-122"/>
              </a:rPr>
              <a:t>内 </a:t>
            </a:r>
            <a:r>
              <a:rPr lang="zh-CN" altLang="en-US" sz="2000" b="1" dirty="0">
                <a:latin typeface="Verdana" panose="020B0604030504040204" pitchFamily="34" charset="0"/>
                <a:ea typeface="宋体" panose="02010600030101010101" pitchFamily="2" charset="-122"/>
              </a:rPr>
              <a:t>作用</a:t>
            </a:r>
          </a:p>
        </p:txBody>
      </p:sp>
      <p:sp>
        <p:nvSpPr>
          <p:cNvPr id="182280" name="圆角矩形 182279"/>
          <p:cNvSpPr/>
          <p:nvPr/>
        </p:nvSpPr>
        <p:spPr>
          <a:xfrm>
            <a:off x="3348038" y="3460750"/>
            <a:ext cx="1655762" cy="936625"/>
          </a:xfrm>
          <a:prstGeom prst="roundRect">
            <a:avLst>
              <a:gd name="adj" fmla="val 16667"/>
            </a:avLst>
          </a:prstGeom>
          <a:solidFill>
            <a:srgbClr val="CCFFCC"/>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Verdana" panose="020B0604030504040204" pitchFamily="34" charset="0"/>
                <a:ea typeface="宋体" panose="02010600030101010101" pitchFamily="2" charset="-122"/>
              </a:rPr>
              <a:t>引入有效质量</a:t>
            </a:r>
          </a:p>
        </p:txBody>
      </p:sp>
      <p:sp>
        <p:nvSpPr>
          <p:cNvPr id="182281" name="圆角矩形 182280"/>
          <p:cNvSpPr/>
          <p:nvPr/>
        </p:nvSpPr>
        <p:spPr>
          <a:xfrm>
            <a:off x="2987675" y="5373688"/>
            <a:ext cx="2232025" cy="1223962"/>
          </a:xfrm>
          <a:prstGeom prst="roundRect">
            <a:avLst>
              <a:gd name="adj" fmla="val 16667"/>
            </a:avLst>
          </a:prstGeom>
          <a:solidFill>
            <a:srgbClr val="CCFFCC"/>
          </a:solidFill>
          <a:ln w="9525" cap="flat" cmpd="sng">
            <a:solidFill>
              <a:schemeClr val="tx1"/>
            </a:solidFill>
            <a:prstDash val="solid"/>
            <a:round/>
            <a:headEnd type="none" w="med" len="med"/>
            <a:tailEnd type="none" w="med" len="med"/>
          </a:ln>
        </p:spPr>
        <p:txBody>
          <a:bodyPr wrap="none" anchor="ctr" anchorCtr="0"/>
          <a:lstStyle/>
          <a:p>
            <a:pPr algn="ctr"/>
            <a:r>
              <a:rPr lang="zh-CN" altLang="en-US" sz="2400" b="1" dirty="0">
                <a:latin typeface="Verdana" panose="020B0604030504040204" pitchFamily="34" charset="0"/>
                <a:ea typeface="宋体" panose="02010600030101010101" pitchFamily="2" charset="-122"/>
              </a:rPr>
              <a:t>外力</a:t>
            </a:r>
            <a:r>
              <a:rPr lang="en-US" altLang="zh-CN" sz="2400" b="1" dirty="0">
                <a:latin typeface="Verdana" panose="020B0604030504040204" pitchFamily="34" charset="0"/>
                <a:ea typeface="宋体" panose="02010600030101010101" pitchFamily="2" charset="-122"/>
              </a:rPr>
              <a:t>f</a:t>
            </a:r>
            <a:r>
              <a:rPr lang="zh-CN" altLang="en-US" sz="2400" b="1" dirty="0">
                <a:latin typeface="Verdana" panose="020B0604030504040204" pitchFamily="34" charset="0"/>
                <a:ea typeface="宋体" panose="02010600030101010101" pitchFamily="2" charset="-122"/>
              </a:rPr>
              <a:t>和电子的</a:t>
            </a:r>
          </a:p>
          <a:p>
            <a:pPr algn="ctr"/>
            <a:r>
              <a:rPr lang="zh-CN" altLang="en-US" sz="2400" b="1" dirty="0">
                <a:latin typeface="Verdana" panose="020B0604030504040204" pitchFamily="34" charset="0"/>
                <a:ea typeface="宋体" panose="02010600030101010101" pitchFamily="2" charset="-122"/>
              </a:rPr>
              <a:t>加速度相联系</a:t>
            </a:r>
          </a:p>
        </p:txBody>
      </p:sp>
      <p:sp>
        <p:nvSpPr>
          <p:cNvPr id="182282" name="圆角矩形 182281"/>
          <p:cNvSpPr/>
          <p:nvPr/>
        </p:nvSpPr>
        <p:spPr>
          <a:xfrm>
            <a:off x="6156325" y="4292600"/>
            <a:ext cx="1655763" cy="936625"/>
          </a:xfrm>
          <a:prstGeom prst="roundRect">
            <a:avLst>
              <a:gd name="adj" fmla="val 16667"/>
            </a:avLst>
          </a:prstGeom>
          <a:solidFill>
            <a:srgbClr val="CCFFCC"/>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solidFill>
                  <a:srgbClr val="A50021"/>
                </a:solidFill>
                <a:latin typeface="Verdana" panose="020B0604030504040204" pitchFamily="34" charset="0"/>
                <a:ea typeface="宋体" panose="02010600030101010101" pitchFamily="2" charset="-122"/>
              </a:rPr>
              <a:t>有效质量概括</a:t>
            </a:r>
          </a:p>
          <a:p>
            <a:pPr algn="ctr"/>
            <a:r>
              <a:rPr lang="zh-CN" altLang="en-US" sz="2000" b="1" dirty="0">
                <a:solidFill>
                  <a:srgbClr val="A50021"/>
                </a:solidFill>
                <a:latin typeface="Verdana" panose="020B0604030504040204" pitchFamily="34" charset="0"/>
                <a:ea typeface="宋体" panose="02010600030101010101" pitchFamily="2" charset="-122"/>
              </a:rPr>
              <a:t>内部势场作用</a:t>
            </a:r>
          </a:p>
        </p:txBody>
      </p:sp>
      <p:sp>
        <p:nvSpPr>
          <p:cNvPr id="182283" name="右箭头 182282"/>
          <p:cNvSpPr/>
          <p:nvPr/>
        </p:nvSpPr>
        <p:spPr>
          <a:xfrm rot="972372">
            <a:off x="2049463" y="3394075"/>
            <a:ext cx="1312862" cy="358775"/>
          </a:xfrm>
          <a:prstGeom prst="rightArrow">
            <a:avLst>
              <a:gd name="adj1" fmla="val 30768"/>
              <a:gd name="adj2" fmla="val 139900"/>
            </a:avLst>
          </a:prstGeom>
          <a:solidFill>
            <a:schemeClr val="hlink"/>
          </a:solidFill>
          <a:ln w="9525" cap="flat" cmpd="sng">
            <a:solidFill>
              <a:schemeClr val="tx1"/>
            </a:solidFill>
            <a:prstDash val="solid"/>
            <a:miter/>
            <a:headEnd type="none" w="med" len="med"/>
            <a:tailEnd type="none" w="med" len="med"/>
          </a:ln>
        </p:spPr>
        <p:txBody>
          <a:bodyPr wrap="none" anchor="ctr" anchorCtr="0"/>
          <a:lstStyle/>
          <a:p>
            <a:pPr algn="ctr"/>
            <a:endParaRPr lang="zh-CN" sz="2000" b="1" dirty="0">
              <a:latin typeface="Verdana" panose="020B0604030504040204" pitchFamily="34" charset="0"/>
              <a:ea typeface="宋体" panose="02010600030101010101" pitchFamily="2" charset="-122"/>
            </a:endParaRPr>
          </a:p>
        </p:txBody>
      </p:sp>
      <p:sp>
        <p:nvSpPr>
          <p:cNvPr id="182284" name="右箭头 182283"/>
          <p:cNvSpPr/>
          <p:nvPr/>
        </p:nvSpPr>
        <p:spPr>
          <a:xfrm rot="5400000">
            <a:off x="1119188" y="2208213"/>
            <a:ext cx="568325" cy="288925"/>
          </a:xfrm>
          <a:prstGeom prst="rightArrow">
            <a:avLst>
              <a:gd name="adj1" fmla="val 30768"/>
              <a:gd name="adj2" fmla="val 75202"/>
            </a:avLst>
          </a:prstGeom>
          <a:solidFill>
            <a:schemeClr val="folHlink"/>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82285" name="右箭头 182284"/>
          <p:cNvSpPr/>
          <p:nvPr/>
        </p:nvSpPr>
        <p:spPr>
          <a:xfrm rot="9796597">
            <a:off x="4973638" y="3394075"/>
            <a:ext cx="1389062" cy="358775"/>
          </a:xfrm>
          <a:prstGeom prst="rightArrow">
            <a:avLst>
              <a:gd name="adj1" fmla="val 30768"/>
              <a:gd name="adj2" fmla="val 148020"/>
            </a:avLst>
          </a:prstGeom>
          <a:solidFill>
            <a:schemeClr val="hlink"/>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82286" name="右箭头 182285"/>
          <p:cNvSpPr/>
          <p:nvPr/>
        </p:nvSpPr>
        <p:spPr>
          <a:xfrm rot="5400000">
            <a:off x="3651250" y="4706938"/>
            <a:ext cx="1046163" cy="358775"/>
          </a:xfrm>
          <a:prstGeom prst="rightArrow">
            <a:avLst>
              <a:gd name="adj1" fmla="val 30768"/>
              <a:gd name="adj2" fmla="val 111480"/>
            </a:avLst>
          </a:prstGeom>
          <a:solidFill>
            <a:srgbClr val="CCFFCC"/>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182287" name="右箭头 182286"/>
          <p:cNvSpPr/>
          <p:nvPr/>
        </p:nvSpPr>
        <p:spPr>
          <a:xfrm rot="-8886782">
            <a:off x="5508625" y="3789363"/>
            <a:ext cx="935038" cy="358775"/>
          </a:xfrm>
          <a:prstGeom prst="rightArrow">
            <a:avLst>
              <a:gd name="adj1" fmla="val 30768"/>
              <a:gd name="adj2" fmla="val 99638"/>
            </a:avLst>
          </a:prstGeom>
          <a:solidFill>
            <a:srgbClr val="CCFFCC"/>
          </a:solidFill>
          <a:ln w="9525" cap="flat" cmpd="sng">
            <a:solidFill>
              <a:schemeClr val="tx1"/>
            </a:solidFill>
            <a:prstDash val="solid"/>
            <a:miter/>
            <a:headEnd type="none" w="med" len="med"/>
            <a:tailEnd type="none" w="med" len="med"/>
          </a:ln>
        </p:spPr>
        <p:txBody>
          <a:bodyPr rot="10800000" wrap="none" anchor="ctr" anchorCtr="0"/>
          <a:lstStyle/>
          <a:p>
            <a:pPr algn="ctr"/>
            <a:endParaRPr lang="zh-CN" sz="2000" b="1" dirty="0">
              <a:latin typeface="Verdana" panose="020B0604030504040204" pitchFamily="34" charset="0"/>
              <a:ea typeface="宋体" panose="02010600030101010101" pitchFamily="2" charset="-122"/>
            </a:endParaRPr>
          </a:p>
        </p:txBody>
      </p:sp>
      <p:sp>
        <p:nvSpPr>
          <p:cNvPr id="182288" name="右箭头 182287"/>
          <p:cNvSpPr/>
          <p:nvPr/>
        </p:nvSpPr>
        <p:spPr>
          <a:xfrm rot="5400000">
            <a:off x="6697663" y="2205038"/>
            <a:ext cx="568325" cy="288925"/>
          </a:xfrm>
          <a:prstGeom prst="rightArrow">
            <a:avLst>
              <a:gd name="adj1" fmla="val 30768"/>
              <a:gd name="adj2" fmla="val 75202"/>
            </a:avLst>
          </a:prstGeom>
          <a:solidFill>
            <a:schemeClr val="folHlink"/>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53262" name="文本框 182290"/>
          <p:cNvSpPr txBox="1"/>
          <p:nvPr/>
        </p:nvSpPr>
        <p:spPr>
          <a:xfrm>
            <a:off x="2771775" y="2060575"/>
            <a:ext cx="3001963" cy="592138"/>
          </a:xfrm>
          <a:prstGeom prst="rect">
            <a:avLst/>
          </a:prstGeom>
          <a:solidFill>
            <a:srgbClr val="EAFD37"/>
          </a:solidFill>
          <a:ln w="12700" cap="sq" cmpd="sng">
            <a:solidFill>
              <a:srgbClr val="A50021"/>
            </a:solidFill>
            <a:prstDash val="solid"/>
            <a:miter/>
            <a:headEnd type="none" w="sm" len="sm"/>
            <a:tailEnd type="none" w="sm" len="sm"/>
          </a:ln>
        </p:spPr>
        <p:txBody>
          <a:bodyPr wrap="none" anchor="t" anchorCtr="0">
            <a:spAutoFit/>
          </a:bodyPr>
          <a:lstStyle/>
          <a:p>
            <a:pPr eaLnBrk="0" hangingPunct="0"/>
            <a:r>
              <a:rPr lang="en-US" altLang="zh-CN" sz="3200" b="1" i="1">
                <a:latin typeface="Arial" panose="020B0604020202020204" pitchFamily="34" charset="0"/>
                <a:ea typeface="宋体" panose="02010600030101010101" pitchFamily="2" charset="-122"/>
              </a:rPr>
              <a:t>F</a:t>
            </a:r>
            <a:r>
              <a:rPr lang="zh-CN" altLang="en-US" sz="3200" b="1" i="1" baseline="-25000" dirty="0">
                <a:latin typeface="Arial" panose="020B0604020202020204" pitchFamily="34" charset="0"/>
                <a:ea typeface="宋体" panose="02010600030101010101" pitchFamily="2" charset="-122"/>
              </a:rPr>
              <a:t>外 </a:t>
            </a:r>
            <a:r>
              <a:rPr lang="en-US" altLang="zh-CN" sz="3200" b="1" i="1">
                <a:latin typeface="Arial" panose="020B0604020202020204" pitchFamily="34" charset="0"/>
                <a:ea typeface="宋体" panose="02010600030101010101" pitchFamily="2" charset="-122"/>
              </a:rPr>
              <a:t>+ F</a:t>
            </a:r>
            <a:r>
              <a:rPr lang="zh-CN" altLang="en-US" sz="3200" b="1" i="1" baseline="-25000" dirty="0">
                <a:latin typeface="Arial" panose="020B0604020202020204" pitchFamily="34" charset="0"/>
                <a:ea typeface="宋体" panose="02010600030101010101" pitchFamily="2" charset="-122"/>
              </a:rPr>
              <a:t>内  </a:t>
            </a:r>
            <a:r>
              <a:rPr lang="en-US" altLang="zh-CN" sz="3200" b="1" i="1">
                <a:latin typeface="Arial" panose="020B0604020202020204" pitchFamily="34" charset="0"/>
                <a:ea typeface="宋体" panose="02010600030101010101" pitchFamily="2" charset="-122"/>
              </a:rPr>
              <a:t>=  m</a:t>
            </a:r>
            <a:r>
              <a:rPr lang="en-US" altLang="zh-CN" sz="3200" b="1" i="1" baseline="-25000">
                <a:latin typeface="Arial" panose="020B0604020202020204" pitchFamily="34" charset="0"/>
                <a:ea typeface="宋体" panose="02010600030101010101" pitchFamily="2" charset="-122"/>
              </a:rPr>
              <a:t>0</a:t>
            </a:r>
            <a:r>
              <a:rPr lang="en-US" altLang="zh-CN" sz="3200" b="1" i="1">
                <a:latin typeface="Arial" panose="020B0604020202020204" pitchFamily="34" charset="0"/>
                <a:ea typeface="宋体" panose="02010600030101010101" pitchFamily="2" charset="-122"/>
              </a:rPr>
              <a:t>a</a:t>
            </a:r>
            <a:endParaRPr lang="en-US" altLang="zh-CN" sz="3200" b="1" i="1">
              <a:latin typeface="Arial" panose="020B0604020202020204" pitchFamily="34" charset="0"/>
              <a:ea typeface="Arial" panose="020B0604020202020204" pitchFamily="34" charset="0"/>
            </a:endParaRPr>
          </a:p>
        </p:txBody>
      </p:sp>
      <p:sp>
        <p:nvSpPr>
          <p:cNvPr id="53263" name="矩形 182291"/>
          <p:cNvSpPr/>
          <p:nvPr/>
        </p:nvSpPr>
        <p:spPr>
          <a:xfrm>
            <a:off x="468313" y="476250"/>
            <a:ext cx="5194300" cy="749300"/>
          </a:xfrm>
          <a:prstGeom prst="rect">
            <a:avLst/>
          </a:prstGeom>
          <a:noFill/>
          <a:ln w="9525">
            <a:noFill/>
          </a:ln>
        </p:spPr>
        <p:txBody>
          <a:bodyPr anchor="t" anchorCtr="0"/>
          <a:lstStyle/>
          <a:p>
            <a:pPr marL="342900" indent="-342900">
              <a:spcBef>
                <a:spcPct val="20000"/>
              </a:spcBef>
              <a:buClr>
                <a:schemeClr val="bg2"/>
              </a:buClr>
              <a:buSzPct val="75000"/>
            </a:pPr>
            <a:r>
              <a:rPr lang="en-US" altLang="zh-CN" sz="3600" b="1">
                <a:latin typeface="Arial" panose="020B0604020202020204" pitchFamily="34" charset="0"/>
                <a:ea typeface="宋体" panose="02010600030101010101" pitchFamily="2" charset="-122"/>
              </a:rPr>
              <a:t>3. </a:t>
            </a:r>
            <a:r>
              <a:rPr lang="zh-CN" altLang="en-US" sz="3600" b="1" dirty="0">
                <a:latin typeface="Arial" panose="020B0604020202020204" pitchFamily="34" charset="0"/>
                <a:ea typeface="宋体" panose="02010600030101010101" pitchFamily="2" charset="-122"/>
              </a:rPr>
              <a:t>有效质量的意义</a:t>
            </a:r>
            <a:endParaRPr lang="zh-CN" altLang="en-US" sz="3600" b="1" dirty="0">
              <a:latin typeface="Arial" panose="020B0604020202020204" pitchFamily="34" charset="0"/>
              <a:ea typeface="Arial" panose="020B0604020202020204" pitchFamily="34" charset="0"/>
            </a:endParaRPr>
          </a:p>
        </p:txBody>
      </p:sp>
      <p:sp>
        <p:nvSpPr>
          <p:cNvPr id="53264" name="直接连接符 182292"/>
          <p:cNvSpPr/>
          <p:nvPr/>
        </p:nvSpPr>
        <p:spPr>
          <a:xfrm flipH="1">
            <a:off x="1908175" y="2781300"/>
            <a:ext cx="1223963" cy="2735263"/>
          </a:xfrm>
          <a:prstGeom prst="line">
            <a:avLst/>
          </a:prstGeom>
          <a:ln w="57150" cap="flat" cmpd="sng">
            <a:solidFill>
              <a:schemeClr val="accent1"/>
            </a:solidFill>
            <a:prstDash val="solid"/>
            <a:round/>
            <a:headEnd type="none" w="med" len="med"/>
            <a:tailEnd type="triangle" w="med" len="med"/>
          </a:ln>
        </p:spPr>
      </p:sp>
      <p:sp>
        <p:nvSpPr>
          <p:cNvPr id="53265" name="文本框 182294"/>
          <p:cNvSpPr txBox="1"/>
          <p:nvPr/>
        </p:nvSpPr>
        <p:spPr>
          <a:xfrm>
            <a:off x="684213" y="5661025"/>
            <a:ext cx="2105025" cy="592138"/>
          </a:xfrm>
          <a:prstGeom prst="rect">
            <a:avLst/>
          </a:prstGeom>
          <a:solidFill>
            <a:srgbClr val="EAFD37"/>
          </a:solidFill>
          <a:ln w="12700" cap="sq" cmpd="sng">
            <a:solidFill>
              <a:srgbClr val="A50021"/>
            </a:solidFill>
            <a:prstDash val="solid"/>
            <a:miter/>
            <a:headEnd type="none" w="sm" len="sm"/>
            <a:tailEnd type="none" w="sm" len="sm"/>
          </a:ln>
        </p:spPr>
        <p:txBody>
          <a:bodyPr wrap="none" anchor="t" anchorCtr="0">
            <a:spAutoFit/>
          </a:bodyPr>
          <a:lstStyle/>
          <a:p>
            <a:pPr eaLnBrk="0" hangingPunct="0"/>
            <a:r>
              <a:rPr lang="en-US" altLang="zh-CN" sz="3200" b="1" i="1">
                <a:latin typeface="Arial" panose="020B0604020202020204" pitchFamily="34" charset="0"/>
                <a:ea typeface="宋体" panose="02010600030101010101" pitchFamily="2" charset="-122"/>
              </a:rPr>
              <a:t>F</a:t>
            </a:r>
            <a:r>
              <a:rPr lang="zh-CN" altLang="en-US" sz="3200" b="1" i="1" baseline="-25000" dirty="0">
                <a:latin typeface="Arial" panose="020B0604020202020204" pitchFamily="34" charset="0"/>
                <a:ea typeface="宋体" panose="02010600030101010101" pitchFamily="2" charset="-122"/>
              </a:rPr>
              <a:t>外 </a:t>
            </a:r>
            <a:r>
              <a:rPr lang="en-US" altLang="zh-CN" sz="3200" b="1" i="1">
                <a:latin typeface="Arial" panose="020B0604020202020204" pitchFamily="34" charset="0"/>
                <a:ea typeface="宋体" panose="02010600030101010101" pitchFamily="2" charset="-122"/>
              </a:rPr>
              <a:t>=  </a:t>
            </a:r>
            <a:r>
              <a:rPr lang="en-US" altLang="zh-CN" sz="3200" b="1" i="1" err="1">
                <a:latin typeface="Arial" panose="020B0604020202020204" pitchFamily="34" charset="0"/>
                <a:ea typeface="宋体" panose="02010600030101010101" pitchFamily="2" charset="-122"/>
              </a:rPr>
              <a:t>m</a:t>
            </a:r>
            <a:r>
              <a:rPr lang="en-US" altLang="zh-CN" sz="3200" b="1" i="1" baseline="-25000" err="1">
                <a:latin typeface="Arial" panose="020B0604020202020204" pitchFamily="34" charset="0"/>
                <a:ea typeface="宋体" panose="02010600030101010101" pitchFamily="2" charset="-122"/>
              </a:rPr>
              <a:t>n</a:t>
            </a:r>
            <a:r>
              <a:rPr lang="en-US" altLang="zh-CN" sz="3200" b="1" i="1" baseline="30000">
                <a:latin typeface="Arial" panose="020B0604020202020204" pitchFamily="34" charset="0"/>
                <a:ea typeface="宋体" panose="02010600030101010101" pitchFamily="2" charset="-122"/>
              </a:rPr>
              <a:t>*</a:t>
            </a:r>
            <a:r>
              <a:rPr lang="en-US" altLang="zh-CN" sz="3200" b="1" i="1">
                <a:latin typeface="Arial" panose="020B0604020202020204" pitchFamily="34" charset="0"/>
                <a:ea typeface="宋体" panose="02010600030101010101" pitchFamily="2" charset="-122"/>
              </a:rPr>
              <a:t>a</a:t>
            </a:r>
            <a:endParaRPr lang="en-US" altLang="zh-CN" sz="3200" b="1" i="1">
              <a:latin typeface="Arial" panose="020B0604020202020204" pitchFamily="34" charset="0"/>
              <a:ea typeface="Arial" panose="020B0604020202020204" pitchFamily="34" charset="0"/>
            </a:endParaRPr>
          </a:p>
        </p:txBody>
      </p:sp>
      <p:sp>
        <p:nvSpPr>
          <p:cNvPr id="53266" name="矩形 182295"/>
          <p:cNvSpPr/>
          <p:nvPr/>
        </p:nvSpPr>
        <p:spPr>
          <a:xfrm>
            <a:off x="5364163" y="5516563"/>
            <a:ext cx="3529012" cy="831850"/>
          </a:xfrm>
          <a:prstGeom prst="rect">
            <a:avLst/>
          </a:prstGeom>
          <a:noFill/>
          <a:ln w="9525" cap="flat" cmpd="sng">
            <a:solidFill>
              <a:srgbClr val="A50021"/>
            </a:solidFill>
            <a:prstDash val="solid"/>
            <a:miter/>
            <a:headEnd type="none" w="med" len="med"/>
            <a:tailEnd type="none" w="med" len="med"/>
          </a:ln>
        </p:spPr>
        <p:txBody>
          <a:bodyPr anchor="t" anchorCtr="0">
            <a:spAutoFit/>
          </a:bodyPr>
          <a:lstStyle/>
          <a:p>
            <a:r>
              <a:rPr lang="zh-CN" altLang="en-US" sz="2400" b="1" dirty="0">
                <a:solidFill>
                  <a:srgbClr val="A50021"/>
                </a:solidFill>
                <a:latin typeface="Times New Roman" panose="02020603050405020304" pitchFamily="18" charset="0"/>
                <a:ea typeface="宋体" panose="02010600030101010101" pitchFamily="2" charset="-122"/>
              </a:rPr>
              <a:t>讨论半导体中电子运动时，可不涉及内部势场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2276"/>
                                        </p:tgtEl>
                                        <p:attrNameLst>
                                          <p:attrName>style.visibility</p:attrName>
                                        </p:attrNameLst>
                                      </p:cBhvr>
                                      <p:to>
                                        <p:strVal val="visible"/>
                                      </p:to>
                                    </p:set>
                                    <p:animEffect transition="in" filter="strips(downRight)">
                                      <p:cBhvr>
                                        <p:cTn id="7" dur="500"/>
                                        <p:tgtEl>
                                          <p:spTgt spid="18227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82284"/>
                                        </p:tgtEl>
                                        <p:attrNameLst>
                                          <p:attrName>style.visibility</p:attrName>
                                        </p:attrNameLst>
                                      </p:cBhvr>
                                      <p:to>
                                        <p:strVal val="visible"/>
                                      </p:to>
                                    </p:set>
                                    <p:animEffect transition="in" filter="strips(downRight)">
                                      <p:cBhvr>
                                        <p:cTn id="11" dur="500"/>
                                        <p:tgtEl>
                                          <p:spTgt spid="182284"/>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182277"/>
                                        </p:tgtEl>
                                        <p:attrNameLst>
                                          <p:attrName>style.visibility</p:attrName>
                                        </p:attrNameLst>
                                      </p:cBhvr>
                                      <p:to>
                                        <p:strVal val="visible"/>
                                      </p:to>
                                    </p:set>
                                    <p:animEffect transition="in" filter="strips(downRight)">
                                      <p:cBhvr>
                                        <p:cTn id="16" dur="500"/>
                                        <p:tgtEl>
                                          <p:spTgt spid="182277"/>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182278"/>
                                        </p:tgtEl>
                                        <p:attrNameLst>
                                          <p:attrName>style.visibility</p:attrName>
                                        </p:attrNameLst>
                                      </p:cBhvr>
                                      <p:to>
                                        <p:strVal val="visible"/>
                                      </p:to>
                                    </p:set>
                                    <p:animEffect transition="in" filter="strips(downLeft)">
                                      <p:cBhvr>
                                        <p:cTn id="21" dur="500"/>
                                        <p:tgtEl>
                                          <p:spTgt spid="182278"/>
                                        </p:tgtEl>
                                      </p:cBhvr>
                                    </p:animEffect>
                                  </p:childTnLst>
                                </p:cTn>
                              </p:par>
                            </p:childTnLst>
                          </p:cTn>
                        </p:par>
                        <p:par>
                          <p:cTn id="22" fill="hold">
                            <p:stCondLst>
                              <p:cond delay="500"/>
                            </p:stCondLst>
                            <p:childTnLst>
                              <p:par>
                                <p:cTn id="23" presetID="18" presetClass="entr" presetSubtype="12" fill="hold" nodeType="afterEffect">
                                  <p:stCondLst>
                                    <p:cond delay="0"/>
                                  </p:stCondLst>
                                  <p:childTnLst>
                                    <p:set>
                                      <p:cBhvr>
                                        <p:cTn id="24" dur="1" fill="hold">
                                          <p:stCondLst>
                                            <p:cond delay="0"/>
                                          </p:stCondLst>
                                        </p:cTn>
                                        <p:tgtEl>
                                          <p:spTgt spid="182288"/>
                                        </p:tgtEl>
                                        <p:attrNameLst>
                                          <p:attrName>style.visibility</p:attrName>
                                        </p:attrNameLst>
                                      </p:cBhvr>
                                      <p:to>
                                        <p:strVal val="visible"/>
                                      </p:to>
                                    </p:set>
                                    <p:animEffect transition="in" filter="strips(downLeft)">
                                      <p:cBhvr>
                                        <p:cTn id="25" dur="500"/>
                                        <p:tgtEl>
                                          <p:spTgt spid="182288"/>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12" fill="hold" grpId="0" nodeType="clickEffect">
                                  <p:stCondLst>
                                    <p:cond delay="0"/>
                                  </p:stCondLst>
                                  <p:childTnLst>
                                    <p:set>
                                      <p:cBhvr>
                                        <p:cTn id="29" dur="1" fill="hold">
                                          <p:stCondLst>
                                            <p:cond delay="0"/>
                                          </p:stCondLst>
                                        </p:cTn>
                                        <p:tgtEl>
                                          <p:spTgt spid="182279"/>
                                        </p:tgtEl>
                                        <p:attrNameLst>
                                          <p:attrName>style.visibility</p:attrName>
                                        </p:attrNameLst>
                                      </p:cBhvr>
                                      <p:to>
                                        <p:strVal val="visible"/>
                                      </p:to>
                                    </p:set>
                                    <p:animEffect transition="in" filter="strips(downLeft)">
                                      <p:cBhvr>
                                        <p:cTn id="30" dur="500"/>
                                        <p:tgtEl>
                                          <p:spTgt spid="182279"/>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182283"/>
                                        </p:tgtEl>
                                        <p:attrNameLst>
                                          <p:attrName>style.visibility</p:attrName>
                                        </p:attrNameLst>
                                      </p:cBhvr>
                                      <p:to>
                                        <p:strVal val="visible"/>
                                      </p:to>
                                    </p:set>
                                    <p:animEffect transition="in" filter="strips(downRight)">
                                      <p:cBhvr>
                                        <p:cTn id="35" dur="500"/>
                                        <p:tgtEl>
                                          <p:spTgt spid="182283"/>
                                        </p:tgtEl>
                                      </p:cBhvr>
                                    </p:animEffect>
                                  </p:childTnLst>
                                </p:cTn>
                              </p:par>
                              <p:par>
                                <p:cTn id="36" presetID="18" presetClass="entr" presetSubtype="12" fill="hold" nodeType="withEffect">
                                  <p:stCondLst>
                                    <p:cond delay="0"/>
                                  </p:stCondLst>
                                  <p:childTnLst>
                                    <p:set>
                                      <p:cBhvr>
                                        <p:cTn id="37" dur="1" fill="hold">
                                          <p:stCondLst>
                                            <p:cond delay="0"/>
                                          </p:stCondLst>
                                        </p:cTn>
                                        <p:tgtEl>
                                          <p:spTgt spid="182285"/>
                                        </p:tgtEl>
                                        <p:attrNameLst>
                                          <p:attrName>style.visibility</p:attrName>
                                        </p:attrNameLst>
                                      </p:cBhvr>
                                      <p:to>
                                        <p:strVal val="visible"/>
                                      </p:to>
                                    </p:set>
                                    <p:animEffect transition="in" filter="strips(downLeft)">
                                      <p:cBhvr>
                                        <p:cTn id="38" dur="500"/>
                                        <p:tgtEl>
                                          <p:spTgt spid="182285"/>
                                        </p:tgtEl>
                                      </p:cBhvr>
                                    </p:animEffect>
                                  </p:childTnLst>
                                </p:cTn>
                              </p:par>
                            </p:childTnLst>
                          </p:cTn>
                        </p:par>
                        <p:par>
                          <p:cTn id="39" fill="hold">
                            <p:stCondLst>
                              <p:cond delay="500"/>
                            </p:stCondLst>
                            <p:childTnLst>
                              <p:par>
                                <p:cTn id="40" presetID="18" presetClass="entr" presetSubtype="6" fill="hold" grpId="0" nodeType="afterEffect">
                                  <p:stCondLst>
                                    <p:cond delay="0"/>
                                  </p:stCondLst>
                                  <p:childTnLst>
                                    <p:set>
                                      <p:cBhvr>
                                        <p:cTn id="41" dur="1" fill="hold">
                                          <p:stCondLst>
                                            <p:cond delay="0"/>
                                          </p:stCondLst>
                                        </p:cTn>
                                        <p:tgtEl>
                                          <p:spTgt spid="182280"/>
                                        </p:tgtEl>
                                        <p:attrNameLst>
                                          <p:attrName>style.visibility</p:attrName>
                                        </p:attrNameLst>
                                      </p:cBhvr>
                                      <p:to>
                                        <p:strVal val="visible"/>
                                      </p:to>
                                    </p:set>
                                    <p:animEffect transition="in" filter="strips(downRight)">
                                      <p:cBhvr>
                                        <p:cTn id="42" dur="500"/>
                                        <p:tgtEl>
                                          <p:spTgt spid="182280"/>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182286"/>
                                        </p:tgtEl>
                                        <p:attrNameLst>
                                          <p:attrName>style.visibility</p:attrName>
                                        </p:attrNameLst>
                                      </p:cBhvr>
                                      <p:to>
                                        <p:strVal val="visible"/>
                                      </p:to>
                                    </p:set>
                                    <p:animEffect transition="in" filter="strips(downLeft)">
                                      <p:cBhvr>
                                        <p:cTn id="47" dur="500"/>
                                        <p:tgtEl>
                                          <p:spTgt spid="182286"/>
                                        </p:tgtEl>
                                      </p:cBhvr>
                                    </p:animEffect>
                                  </p:childTnLst>
                                </p:cTn>
                              </p:par>
                              <p:par>
                                <p:cTn id="48" presetID="18" presetClass="entr" presetSubtype="6" fill="hold" grpId="0" nodeType="withEffect">
                                  <p:stCondLst>
                                    <p:cond delay="0"/>
                                  </p:stCondLst>
                                  <p:childTnLst>
                                    <p:set>
                                      <p:cBhvr>
                                        <p:cTn id="49" dur="1" fill="hold">
                                          <p:stCondLst>
                                            <p:cond delay="0"/>
                                          </p:stCondLst>
                                        </p:cTn>
                                        <p:tgtEl>
                                          <p:spTgt spid="182287"/>
                                        </p:tgtEl>
                                        <p:attrNameLst>
                                          <p:attrName>style.visibility</p:attrName>
                                        </p:attrNameLst>
                                      </p:cBhvr>
                                      <p:to>
                                        <p:strVal val="visible"/>
                                      </p:to>
                                    </p:set>
                                    <p:animEffect transition="in" filter="strips(downRight)">
                                      <p:cBhvr>
                                        <p:cTn id="50" dur="500"/>
                                        <p:tgtEl>
                                          <p:spTgt spid="182287"/>
                                        </p:tgtEl>
                                      </p:cBhvr>
                                    </p:animEffect>
                                  </p:childTnLst>
                                </p:cTn>
                              </p:par>
                              <p:par>
                                <p:cTn id="51" presetID="18" presetClass="entr" presetSubtype="12" fill="hold" grpId="0" nodeType="withEffect">
                                  <p:stCondLst>
                                    <p:cond delay="0"/>
                                  </p:stCondLst>
                                  <p:childTnLst>
                                    <p:set>
                                      <p:cBhvr>
                                        <p:cTn id="52" dur="1" fill="hold">
                                          <p:stCondLst>
                                            <p:cond delay="0"/>
                                          </p:stCondLst>
                                        </p:cTn>
                                        <p:tgtEl>
                                          <p:spTgt spid="182281"/>
                                        </p:tgtEl>
                                        <p:attrNameLst>
                                          <p:attrName>style.visibility</p:attrName>
                                        </p:attrNameLst>
                                      </p:cBhvr>
                                      <p:to>
                                        <p:strVal val="visible"/>
                                      </p:to>
                                    </p:set>
                                    <p:animEffect transition="in" filter="strips(downLeft)">
                                      <p:cBhvr>
                                        <p:cTn id="53" dur="500"/>
                                        <p:tgtEl>
                                          <p:spTgt spid="182281"/>
                                        </p:tgtEl>
                                      </p:cBhvr>
                                    </p:animEffect>
                                  </p:childTnLst>
                                </p:cTn>
                              </p:par>
                              <p:par>
                                <p:cTn id="54" presetID="18" presetClass="entr" presetSubtype="6" fill="hold" grpId="0" nodeType="withEffect">
                                  <p:stCondLst>
                                    <p:cond delay="0"/>
                                  </p:stCondLst>
                                  <p:childTnLst>
                                    <p:set>
                                      <p:cBhvr>
                                        <p:cTn id="55" dur="1" fill="hold">
                                          <p:stCondLst>
                                            <p:cond delay="0"/>
                                          </p:stCondLst>
                                        </p:cTn>
                                        <p:tgtEl>
                                          <p:spTgt spid="182282"/>
                                        </p:tgtEl>
                                        <p:attrNameLst>
                                          <p:attrName>style.visibility</p:attrName>
                                        </p:attrNameLst>
                                      </p:cBhvr>
                                      <p:to>
                                        <p:strVal val="visible"/>
                                      </p:to>
                                    </p:set>
                                    <p:animEffect transition="in" filter="strips(downRight)">
                                      <p:cBhvr>
                                        <p:cTn id="56" dur="500"/>
                                        <p:tgtEl>
                                          <p:spTgt spid="182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6" grpId="0" bldLvl="0" animBg="1"/>
      <p:bldP spid="182277" grpId="0" bldLvl="0" animBg="1"/>
      <p:bldP spid="182278" grpId="0" bldLvl="0" animBg="1"/>
      <p:bldP spid="182279" grpId="0" bldLvl="0" animBg="1"/>
      <p:bldP spid="182280" grpId="0" bldLvl="0" animBg="1"/>
      <p:bldP spid="182281" grpId="0" bldLvl="0" animBg="1"/>
      <p:bldP spid="182282" grpId="0" bldLvl="0" animBg="1"/>
      <p:bldP spid="182283" grpId="0" bldLvl="0" animBg="1"/>
      <p:bldP spid="182287"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73" name="对象 75777"/>
          <p:cNvGraphicFramePr/>
          <p:nvPr/>
        </p:nvGraphicFramePr>
        <p:xfrm>
          <a:off x="4067175" y="3070225"/>
          <a:ext cx="865188" cy="931863"/>
        </p:xfrm>
        <a:graphic>
          <a:graphicData uri="http://schemas.openxmlformats.org/presentationml/2006/ole">
            <mc:AlternateContent xmlns:mc="http://schemas.openxmlformats.org/markup-compatibility/2006">
              <mc:Choice xmlns:v="urn:schemas-microsoft-com:vml" Requires="v">
                <p:oleObj r:id="rId2" imgW="330200" imgH="419100" progId="Equation.3">
                  <p:embed/>
                </p:oleObj>
              </mc:Choice>
              <mc:Fallback>
                <p:oleObj r:id="rId2" imgW="330200" imgH="419100" progId="Equation.3">
                  <p:embed/>
                  <p:pic>
                    <p:nvPicPr>
                      <p:cNvPr id="0" name="图片 3099"/>
                      <p:cNvPicPr/>
                      <p:nvPr/>
                    </p:nvPicPr>
                    <p:blipFill>
                      <a:blip r:embed="rId3"/>
                      <a:stretch>
                        <a:fillRect/>
                      </a:stretch>
                    </p:blipFill>
                    <p:spPr>
                      <a:xfrm>
                        <a:off x="4067175" y="3070225"/>
                        <a:ext cx="865188" cy="931863"/>
                      </a:xfrm>
                      <a:prstGeom prst="rect">
                        <a:avLst/>
                      </a:prstGeom>
                      <a:solidFill>
                        <a:srgbClr val="CCECFF"/>
                      </a:solidFill>
                      <a:ln w="38100">
                        <a:noFill/>
                        <a:miter/>
                      </a:ln>
                    </p:spPr>
                  </p:pic>
                </p:oleObj>
              </mc:Fallback>
            </mc:AlternateContent>
          </a:graphicData>
        </a:graphic>
      </p:graphicFrame>
      <p:graphicFrame>
        <p:nvGraphicFramePr>
          <p:cNvPr id="54274" name="对象 75778"/>
          <p:cNvGraphicFramePr/>
          <p:nvPr/>
        </p:nvGraphicFramePr>
        <p:xfrm>
          <a:off x="4067175" y="4043363"/>
          <a:ext cx="857250" cy="935037"/>
        </p:xfrm>
        <a:graphic>
          <a:graphicData uri="http://schemas.openxmlformats.org/presentationml/2006/ole">
            <mc:AlternateContent xmlns:mc="http://schemas.openxmlformats.org/markup-compatibility/2006">
              <mc:Choice xmlns:v="urn:schemas-microsoft-com:vml" Requires="v">
                <p:oleObj r:id="rId4" imgW="330200" imgH="419100" progId="Equation.3">
                  <p:embed/>
                </p:oleObj>
              </mc:Choice>
              <mc:Fallback>
                <p:oleObj r:id="rId4" imgW="330200" imgH="419100" progId="Equation.3">
                  <p:embed/>
                  <p:pic>
                    <p:nvPicPr>
                      <p:cNvPr id="0" name="图片 3100"/>
                      <p:cNvPicPr/>
                      <p:nvPr/>
                    </p:nvPicPr>
                    <p:blipFill>
                      <a:blip r:embed="rId5"/>
                      <a:stretch>
                        <a:fillRect/>
                      </a:stretch>
                    </p:blipFill>
                    <p:spPr>
                      <a:xfrm>
                        <a:off x="4067175" y="4043363"/>
                        <a:ext cx="857250" cy="935037"/>
                      </a:xfrm>
                      <a:prstGeom prst="rect">
                        <a:avLst/>
                      </a:prstGeom>
                      <a:solidFill>
                        <a:srgbClr val="CCECFF"/>
                      </a:solidFill>
                      <a:ln w="38100">
                        <a:noFill/>
                        <a:miter/>
                      </a:ln>
                    </p:spPr>
                  </p:pic>
                </p:oleObj>
              </mc:Fallback>
            </mc:AlternateContent>
          </a:graphicData>
        </a:graphic>
      </p:graphicFrame>
      <p:sp>
        <p:nvSpPr>
          <p:cNvPr id="54275" name="文本框 75779"/>
          <p:cNvSpPr txBox="1"/>
          <p:nvPr/>
        </p:nvSpPr>
        <p:spPr>
          <a:xfrm>
            <a:off x="323850" y="549275"/>
            <a:ext cx="4464050" cy="701675"/>
          </a:xfrm>
          <a:prstGeom prst="rect">
            <a:avLst/>
          </a:prstGeom>
          <a:noFill/>
          <a:ln w="12700">
            <a:noFill/>
          </a:ln>
        </p:spPr>
        <p:txBody>
          <a:bodyPr anchor="t" anchorCtr="0">
            <a:spAutoFit/>
          </a:bodyPr>
          <a:lstStyle/>
          <a:p>
            <a:pPr eaLnBrk="0" hangingPunct="0"/>
            <a:r>
              <a:rPr lang="en-US" altLang="zh-CN" sz="4000" b="1">
                <a:solidFill>
                  <a:srgbClr val="A50021"/>
                </a:solidFill>
                <a:latin typeface="Arial" panose="020B0604020202020204" pitchFamily="34" charset="0"/>
                <a:ea typeface="宋体" panose="02010600030101010101" pitchFamily="2" charset="-122"/>
              </a:rPr>
              <a:t>m*</a:t>
            </a:r>
            <a:r>
              <a:rPr lang="en-US" altLang="zh-CN" sz="3600" b="1" dirty="0">
                <a:solidFill>
                  <a:srgbClr val="A50021"/>
                </a:solidFill>
                <a:latin typeface="Arial" panose="020B0604020202020204" pitchFamily="34" charset="0"/>
                <a:ea typeface="宋体" panose="02010600030101010101" pitchFamily="2" charset="-122"/>
              </a:rPr>
              <a:t> </a:t>
            </a:r>
            <a:r>
              <a:rPr lang="zh-CN" altLang="en-US" sz="3600" b="1" dirty="0">
                <a:solidFill>
                  <a:srgbClr val="A50021"/>
                </a:solidFill>
                <a:latin typeface="Arial" panose="020B0604020202020204" pitchFamily="34" charset="0"/>
                <a:ea typeface="宋体" panose="02010600030101010101" pitchFamily="2" charset="-122"/>
              </a:rPr>
              <a:t>的特点</a:t>
            </a:r>
            <a:endParaRPr lang="zh-CN" altLang="en-US" sz="3600" b="1" dirty="0">
              <a:solidFill>
                <a:srgbClr val="A50021"/>
              </a:solidFill>
              <a:latin typeface="Arial" panose="020B0604020202020204" pitchFamily="34" charset="0"/>
              <a:ea typeface="Arial" panose="020B0604020202020204" pitchFamily="34" charset="0"/>
            </a:endParaRPr>
          </a:p>
        </p:txBody>
      </p:sp>
      <p:sp>
        <p:nvSpPr>
          <p:cNvPr id="54276" name="文本框 75780"/>
          <p:cNvSpPr txBox="1"/>
          <p:nvPr/>
        </p:nvSpPr>
        <p:spPr>
          <a:xfrm>
            <a:off x="1187450" y="1341438"/>
            <a:ext cx="2859088" cy="641350"/>
          </a:xfrm>
          <a:prstGeom prst="rect">
            <a:avLst/>
          </a:prstGeom>
          <a:noFill/>
          <a:ln w="12700">
            <a:noFill/>
          </a:ln>
        </p:spPr>
        <p:txBody>
          <a:bodyPr wrap="none" anchor="t" anchorCtr="0">
            <a:spAutoFit/>
          </a:bodyPr>
          <a:lstStyle/>
          <a:p>
            <a:pPr eaLnBrk="0" hangingPunct="0"/>
            <a:r>
              <a:rPr lang="en-US" altLang="zh-CN" sz="3600" b="1" dirty="0">
                <a:latin typeface="Arial" panose="020B0604020202020204" pitchFamily="34" charset="0"/>
                <a:ea typeface="宋体" panose="02010600030101010101" pitchFamily="2" charset="-122"/>
              </a:rPr>
              <a:t>1.</a:t>
            </a:r>
            <a:r>
              <a:rPr lang="zh-CN" altLang="en-US" sz="3600" b="1" dirty="0">
                <a:latin typeface="Arial" panose="020B0604020202020204" pitchFamily="34" charset="0"/>
                <a:ea typeface="宋体" panose="02010600030101010101" pitchFamily="2" charset="-122"/>
              </a:rPr>
              <a:t>决定于材料</a:t>
            </a:r>
          </a:p>
        </p:txBody>
      </p:sp>
      <p:sp>
        <p:nvSpPr>
          <p:cNvPr id="54277" name="文本框 75782"/>
          <p:cNvSpPr txBox="1"/>
          <p:nvPr/>
        </p:nvSpPr>
        <p:spPr>
          <a:xfrm>
            <a:off x="1212850" y="2193925"/>
            <a:ext cx="2851150" cy="641350"/>
          </a:xfrm>
          <a:prstGeom prst="rect">
            <a:avLst/>
          </a:prstGeom>
          <a:noFill/>
          <a:ln w="12700">
            <a:noFill/>
          </a:ln>
        </p:spPr>
        <p:txBody>
          <a:bodyPr wrap="none" anchor="t" anchorCtr="0">
            <a:spAutoFit/>
          </a:bodyPr>
          <a:lstStyle/>
          <a:p>
            <a:pPr eaLnBrk="0" hangingPunct="0"/>
            <a:r>
              <a:rPr lang="en-US" altLang="zh-CN" sz="3600" b="1" dirty="0">
                <a:latin typeface="Arial" panose="020B0604020202020204" pitchFamily="34" charset="0"/>
                <a:ea typeface="宋体" panose="02010600030101010101" pitchFamily="2" charset="-122"/>
              </a:rPr>
              <a:t>2.</a:t>
            </a:r>
            <a:r>
              <a:rPr lang="zh-CN" altLang="en-US" sz="3600" b="1" dirty="0">
                <a:latin typeface="Arial" panose="020B0604020202020204" pitchFamily="34" charset="0"/>
                <a:ea typeface="宋体" panose="02010600030101010101" pitchFamily="2" charset="-122"/>
              </a:rPr>
              <a:t>与能带有关</a:t>
            </a:r>
          </a:p>
        </p:txBody>
      </p:sp>
      <p:sp>
        <p:nvSpPr>
          <p:cNvPr id="54278" name="文本框 75783"/>
          <p:cNvSpPr txBox="1"/>
          <p:nvPr/>
        </p:nvSpPr>
        <p:spPr>
          <a:xfrm>
            <a:off x="1590675" y="3148013"/>
            <a:ext cx="5603875" cy="641350"/>
          </a:xfrm>
          <a:prstGeom prst="rect">
            <a:avLst/>
          </a:prstGeom>
          <a:noFill/>
          <a:ln w="12700">
            <a:noFill/>
          </a:ln>
        </p:spPr>
        <p:txBody>
          <a:bodyPr wrap="none" anchor="t" anchorCtr="0">
            <a:spAutoFit/>
          </a:bodyPr>
          <a:lstStyle/>
          <a:p>
            <a:pPr eaLnBrk="0" hangingPunct="0"/>
            <a:r>
              <a:rPr lang="zh-CN" altLang="en-US" sz="3600" b="1" dirty="0">
                <a:latin typeface="Arial" panose="020B0604020202020204" pitchFamily="34" charset="0"/>
                <a:ea typeface="宋体" panose="02010600030101010101" pitchFamily="2" charset="-122"/>
              </a:rPr>
              <a:t>内层</a:t>
            </a:r>
            <a:r>
              <a:rPr lang="en-US" altLang="zh-CN" sz="3600" b="1" dirty="0">
                <a:latin typeface="Arial" panose="020B0604020202020204" pitchFamily="34" charset="0"/>
                <a:ea typeface="宋体" panose="02010600030101010101" pitchFamily="2" charset="-122"/>
              </a:rPr>
              <a:t>:</a:t>
            </a:r>
            <a:r>
              <a:rPr lang="zh-CN" altLang="en-US" sz="3600" b="1" dirty="0">
                <a:latin typeface="Arial" panose="020B0604020202020204" pitchFamily="34" charset="0"/>
                <a:ea typeface="宋体" panose="02010600030101010101" pitchFamily="2" charset="-122"/>
              </a:rPr>
              <a:t>带窄</a:t>
            </a:r>
            <a:r>
              <a:rPr lang="en-US" altLang="zh-CN" sz="3600" b="1" dirty="0">
                <a:latin typeface="Arial" panose="020B0604020202020204" pitchFamily="34" charset="0"/>
                <a:ea typeface="宋体" panose="02010600030101010101" pitchFamily="2" charset="-122"/>
              </a:rPr>
              <a:t>,            </a:t>
            </a:r>
            <a:r>
              <a:rPr lang="zh-CN" altLang="en-US" sz="3600" b="1" dirty="0">
                <a:latin typeface="Arial" panose="020B0604020202020204" pitchFamily="34" charset="0"/>
                <a:ea typeface="宋体" panose="02010600030101010101" pitchFamily="2" charset="-122"/>
              </a:rPr>
              <a:t>小</a:t>
            </a:r>
            <a:r>
              <a:rPr lang="en-US" altLang="zh-CN" sz="3600" b="1">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m*</a:t>
            </a:r>
            <a:r>
              <a:rPr lang="zh-CN" altLang="en-US" sz="3600" b="1" dirty="0">
                <a:latin typeface="Arial" panose="020B0604020202020204" pitchFamily="34" charset="0"/>
                <a:ea typeface="宋体" panose="02010600030101010101" pitchFamily="2" charset="-122"/>
              </a:rPr>
              <a:t>大</a:t>
            </a:r>
            <a:r>
              <a:rPr lang="en-US" altLang="zh-CN" sz="3600" b="1">
                <a:latin typeface="Arial" panose="020B0604020202020204" pitchFamily="34" charset="0"/>
                <a:ea typeface="宋体" panose="02010600030101010101" pitchFamily="2" charset="-122"/>
              </a:rPr>
              <a:t>:</a:t>
            </a:r>
            <a:endParaRPr lang="en-US" altLang="zh-CN" sz="3600" b="1">
              <a:latin typeface="Arial" panose="020B0604020202020204" pitchFamily="34" charset="0"/>
              <a:ea typeface="Arial" panose="020B0604020202020204" pitchFamily="34" charset="0"/>
            </a:endParaRPr>
          </a:p>
        </p:txBody>
      </p:sp>
      <p:sp>
        <p:nvSpPr>
          <p:cNvPr id="54279" name="文本框 75784"/>
          <p:cNvSpPr txBox="1"/>
          <p:nvPr/>
        </p:nvSpPr>
        <p:spPr>
          <a:xfrm>
            <a:off x="1593850" y="4132263"/>
            <a:ext cx="5578475" cy="641350"/>
          </a:xfrm>
          <a:prstGeom prst="rect">
            <a:avLst/>
          </a:prstGeom>
          <a:noFill/>
          <a:ln w="12700">
            <a:noFill/>
          </a:ln>
        </p:spPr>
        <p:txBody>
          <a:bodyPr wrap="none" anchor="t" anchorCtr="0">
            <a:spAutoFit/>
          </a:bodyPr>
          <a:lstStyle/>
          <a:p>
            <a:pPr eaLnBrk="0" hangingPunct="0"/>
            <a:r>
              <a:rPr lang="zh-CN" altLang="en-US" sz="3600" b="1" dirty="0">
                <a:latin typeface="Arial" panose="020B0604020202020204" pitchFamily="34" charset="0"/>
                <a:ea typeface="宋体" panose="02010600030101010101" pitchFamily="2" charset="-122"/>
              </a:rPr>
              <a:t>外层</a:t>
            </a:r>
            <a:r>
              <a:rPr lang="en-US" altLang="zh-CN" sz="3600" b="1" dirty="0">
                <a:latin typeface="Arial" panose="020B0604020202020204" pitchFamily="34" charset="0"/>
                <a:ea typeface="宋体" panose="02010600030101010101" pitchFamily="2" charset="-122"/>
              </a:rPr>
              <a:t>:</a:t>
            </a:r>
            <a:r>
              <a:rPr lang="zh-CN" altLang="en-US" sz="3600" b="1" dirty="0">
                <a:latin typeface="Arial" panose="020B0604020202020204" pitchFamily="34" charset="0"/>
                <a:ea typeface="宋体" panose="02010600030101010101" pitchFamily="2" charset="-122"/>
              </a:rPr>
              <a:t>带宽</a:t>
            </a:r>
            <a:r>
              <a:rPr lang="en-US" altLang="zh-CN" sz="3600" b="1" dirty="0">
                <a:latin typeface="Arial" panose="020B0604020202020204" pitchFamily="34" charset="0"/>
                <a:ea typeface="宋体" panose="02010600030101010101" pitchFamily="2" charset="-122"/>
              </a:rPr>
              <a:t>,            </a:t>
            </a:r>
            <a:r>
              <a:rPr lang="zh-CN" altLang="en-US" sz="3600" b="1" dirty="0">
                <a:latin typeface="Arial" panose="020B0604020202020204" pitchFamily="34" charset="0"/>
                <a:ea typeface="宋体" panose="02010600030101010101" pitchFamily="2" charset="-122"/>
              </a:rPr>
              <a:t>大</a:t>
            </a:r>
            <a:r>
              <a:rPr lang="en-US" altLang="zh-CN" sz="3600" b="1">
                <a:latin typeface="Arial" panose="020B0604020202020204" pitchFamily="34" charset="0"/>
                <a:ea typeface="宋体" panose="02010600030101010101" pitchFamily="2" charset="-122"/>
              </a:rPr>
              <a:t>,</a:t>
            </a:r>
            <a:r>
              <a:rPr lang="en-US" altLang="zh-CN" sz="3600" b="1" dirty="0">
                <a:latin typeface="Arial" panose="020B0604020202020204" pitchFamily="34" charset="0"/>
                <a:ea typeface="宋体" panose="02010600030101010101" pitchFamily="2" charset="-122"/>
              </a:rPr>
              <a:t>m*</a:t>
            </a:r>
            <a:r>
              <a:rPr lang="zh-CN" altLang="en-US" sz="3600" b="1" dirty="0">
                <a:latin typeface="Arial" panose="020B0604020202020204" pitchFamily="34" charset="0"/>
                <a:ea typeface="宋体" panose="02010600030101010101" pitchFamily="2" charset="-122"/>
              </a:rPr>
              <a:t>小</a:t>
            </a:r>
            <a:r>
              <a:rPr lang="en-US" altLang="zh-CN" sz="3600" b="1">
                <a:latin typeface="Arial" panose="020B0604020202020204" pitchFamily="34" charset="0"/>
                <a:ea typeface="宋体" panose="02010600030101010101" pitchFamily="2" charset="-122"/>
              </a:rPr>
              <a:t>.</a:t>
            </a:r>
            <a:endParaRPr lang="en-US" altLang="zh-CN" sz="3600" b="1">
              <a:latin typeface="Arial" panose="020B0604020202020204" pitchFamily="34" charset="0"/>
              <a:ea typeface="Arial" panose="020B0604020202020204" pitchFamily="34" charset="0"/>
            </a:endParaRPr>
          </a:p>
        </p:txBody>
      </p:sp>
      <p:sp>
        <p:nvSpPr>
          <p:cNvPr id="54280" name="文本框 75785"/>
          <p:cNvSpPr txBox="1"/>
          <p:nvPr/>
        </p:nvSpPr>
        <p:spPr>
          <a:xfrm>
            <a:off x="1187450" y="5194300"/>
            <a:ext cx="7559675" cy="1190625"/>
          </a:xfrm>
          <a:prstGeom prst="rect">
            <a:avLst/>
          </a:prstGeom>
          <a:noFill/>
          <a:ln w="9525">
            <a:noFill/>
          </a:ln>
        </p:spPr>
        <p:txBody>
          <a:bodyPr anchor="t" anchorCtr="0">
            <a:spAutoFit/>
          </a:bodyPr>
          <a:lstStyle/>
          <a:p>
            <a:r>
              <a:rPr lang="zh-CN" altLang="en-US" sz="3600" b="1" dirty="0">
                <a:latin typeface="Arial" panose="020B0604020202020204" pitchFamily="34" charset="0"/>
                <a:ea typeface="宋体" panose="02010600030101010101" pitchFamily="2" charset="-122"/>
              </a:rPr>
              <a:t>外层电子，在外力作用下可以获得较大的加速度。</a:t>
            </a:r>
            <a:endParaRPr lang="zh-CN" altLang="en-US" sz="3600" b="1">
              <a:latin typeface="Arial" panose="020B0604020202020204" pitchFamily="34" charset="0"/>
              <a:ea typeface="宋体" panose="02010600030101010101" pitchFamily="2" charset="-122"/>
            </a:endParaRPr>
          </a:p>
        </p:txBody>
      </p:sp>
      <p:graphicFrame>
        <p:nvGraphicFramePr>
          <p:cNvPr id="54281" name="对象 75789"/>
          <p:cNvGraphicFramePr/>
          <p:nvPr/>
        </p:nvGraphicFramePr>
        <p:xfrm>
          <a:off x="6300788" y="1268413"/>
          <a:ext cx="1609725" cy="1460500"/>
        </p:xfrm>
        <a:graphic>
          <a:graphicData uri="http://schemas.openxmlformats.org/presentationml/2006/ole">
            <mc:AlternateContent xmlns:mc="http://schemas.openxmlformats.org/markup-compatibility/2006">
              <mc:Choice xmlns:v="urn:schemas-microsoft-com:vml" Requires="v">
                <p:oleObj r:id="rId6" imgW="685800" imgH="622300" progId="Equation.3">
                  <p:embed/>
                </p:oleObj>
              </mc:Choice>
              <mc:Fallback>
                <p:oleObj r:id="rId6" imgW="685800" imgH="622300" progId="Equation.3">
                  <p:embed/>
                  <p:pic>
                    <p:nvPicPr>
                      <p:cNvPr id="0" name="图片 3101"/>
                      <p:cNvPicPr/>
                      <p:nvPr/>
                    </p:nvPicPr>
                    <p:blipFill>
                      <a:blip r:embed="rId7"/>
                      <a:stretch>
                        <a:fillRect/>
                      </a:stretch>
                    </p:blipFill>
                    <p:spPr>
                      <a:xfrm>
                        <a:off x="6300788" y="1268413"/>
                        <a:ext cx="1609725" cy="1460500"/>
                      </a:xfrm>
                      <a:prstGeom prst="rect">
                        <a:avLst/>
                      </a:prstGeom>
                      <a:noFill/>
                      <a:ln w="38100">
                        <a:noFill/>
                        <a:miter/>
                      </a:ln>
                    </p:spPr>
                  </p:pic>
                </p:oleObj>
              </mc:Fallback>
            </mc:AlternateContent>
          </a:graphicData>
        </a:graphic>
      </p:graphicFrame>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297" name="对象 78849"/>
          <p:cNvGraphicFramePr/>
          <p:nvPr/>
        </p:nvGraphicFramePr>
        <p:xfrm>
          <a:off x="5592763" y="1646238"/>
          <a:ext cx="779462" cy="990600"/>
        </p:xfrm>
        <a:graphic>
          <a:graphicData uri="http://schemas.openxmlformats.org/presentationml/2006/ole">
            <mc:AlternateContent xmlns:mc="http://schemas.openxmlformats.org/markup-compatibility/2006">
              <mc:Choice xmlns:v="urn:schemas-microsoft-com:vml" Requires="v">
                <p:oleObj r:id="rId2" imgW="330200" imgH="419100" progId="Equation.3">
                  <p:embed/>
                </p:oleObj>
              </mc:Choice>
              <mc:Fallback>
                <p:oleObj r:id="rId2" imgW="330200" imgH="419100" progId="Equation.3">
                  <p:embed/>
                  <p:pic>
                    <p:nvPicPr>
                      <p:cNvPr id="0" name="图片 3102"/>
                      <p:cNvPicPr/>
                      <p:nvPr/>
                    </p:nvPicPr>
                    <p:blipFill>
                      <a:blip r:embed="rId3"/>
                      <a:stretch>
                        <a:fillRect/>
                      </a:stretch>
                    </p:blipFill>
                    <p:spPr>
                      <a:xfrm>
                        <a:off x="5592763" y="1646238"/>
                        <a:ext cx="779462" cy="990600"/>
                      </a:xfrm>
                      <a:prstGeom prst="rect">
                        <a:avLst/>
                      </a:prstGeom>
                      <a:solidFill>
                        <a:srgbClr val="CCECFF"/>
                      </a:solidFill>
                      <a:ln w="38100">
                        <a:noFill/>
                        <a:miter/>
                      </a:ln>
                    </p:spPr>
                  </p:pic>
                </p:oleObj>
              </mc:Fallback>
            </mc:AlternateContent>
          </a:graphicData>
        </a:graphic>
      </p:graphicFrame>
      <p:graphicFrame>
        <p:nvGraphicFramePr>
          <p:cNvPr id="55298" name="对象 78850"/>
          <p:cNvGraphicFramePr/>
          <p:nvPr/>
        </p:nvGraphicFramePr>
        <p:xfrm>
          <a:off x="5580063" y="2895600"/>
          <a:ext cx="779462" cy="990600"/>
        </p:xfrm>
        <a:graphic>
          <a:graphicData uri="http://schemas.openxmlformats.org/presentationml/2006/ole">
            <mc:AlternateContent xmlns:mc="http://schemas.openxmlformats.org/markup-compatibility/2006">
              <mc:Choice xmlns:v="urn:schemas-microsoft-com:vml" Requires="v">
                <p:oleObj r:id="rId4" imgW="330200" imgH="419100" progId="Equation.3">
                  <p:embed/>
                </p:oleObj>
              </mc:Choice>
              <mc:Fallback>
                <p:oleObj r:id="rId4" imgW="330200" imgH="419100" progId="Equation.3">
                  <p:embed/>
                  <p:pic>
                    <p:nvPicPr>
                      <p:cNvPr id="0" name="图片 3103"/>
                      <p:cNvPicPr/>
                      <p:nvPr/>
                    </p:nvPicPr>
                    <p:blipFill>
                      <a:blip r:embed="rId3"/>
                      <a:stretch>
                        <a:fillRect/>
                      </a:stretch>
                    </p:blipFill>
                    <p:spPr>
                      <a:xfrm>
                        <a:off x="5580063" y="2895600"/>
                        <a:ext cx="779462" cy="990600"/>
                      </a:xfrm>
                      <a:prstGeom prst="rect">
                        <a:avLst/>
                      </a:prstGeom>
                      <a:solidFill>
                        <a:srgbClr val="CCECFF"/>
                      </a:solidFill>
                      <a:ln w="38100">
                        <a:noFill/>
                        <a:miter/>
                      </a:ln>
                    </p:spPr>
                  </p:pic>
                </p:oleObj>
              </mc:Fallback>
            </mc:AlternateContent>
          </a:graphicData>
        </a:graphic>
      </p:graphicFrame>
      <p:sp>
        <p:nvSpPr>
          <p:cNvPr id="55299" name="文本框 78851"/>
          <p:cNvSpPr txBox="1"/>
          <p:nvPr/>
        </p:nvSpPr>
        <p:spPr>
          <a:xfrm>
            <a:off x="6386513" y="1916113"/>
            <a:ext cx="2289175" cy="579437"/>
          </a:xfrm>
          <a:prstGeom prst="rect">
            <a:avLst/>
          </a:prstGeom>
          <a:noFill/>
          <a:ln w="12700">
            <a:noFill/>
          </a:ln>
        </p:spPr>
        <p:txBody>
          <a:bodyPr anchor="t" anchorCtr="0">
            <a:spAutoFit/>
          </a:bodyPr>
          <a:lstStyle/>
          <a:p>
            <a:r>
              <a:rPr lang="en-US" altLang="zh-CN" sz="3200" b="1">
                <a:latin typeface="Times New Roman" panose="02020603050405020304" pitchFamily="18" charset="0"/>
                <a:ea typeface="宋体" panose="02010600030101010101" pitchFamily="2" charset="-122"/>
              </a:rPr>
              <a:t>&gt;0, </a:t>
            </a:r>
            <a:r>
              <a:rPr lang="en-US" altLang="zh-CN" sz="3200" b="1" i="1">
                <a:latin typeface="Times New Roman" panose="02020603050405020304" pitchFamily="18" charset="0"/>
                <a:ea typeface="宋体" panose="02010600030101010101" pitchFamily="2" charset="-122"/>
              </a:rPr>
              <a:t>m</a:t>
            </a:r>
            <a:r>
              <a:rPr lang="en-US" altLang="zh-CN" sz="3200" b="1" baseline="30000">
                <a:latin typeface="Times New Roman" panose="02020603050405020304" pitchFamily="18" charset="0"/>
                <a:ea typeface="宋体" panose="02010600030101010101" pitchFamily="2" charset="-122"/>
              </a:rPr>
              <a:t>*</a:t>
            </a:r>
            <a:r>
              <a:rPr lang="en-US" altLang="zh-CN" sz="3200" b="1">
                <a:latin typeface="宋体" panose="02010600030101010101" pitchFamily="2" charset="-122"/>
                <a:ea typeface="宋体" panose="02010600030101010101" pitchFamily="2" charset="-122"/>
              </a:rPr>
              <a:t>&gt;</a:t>
            </a:r>
            <a:r>
              <a:rPr lang="en-US" altLang="zh-CN" sz="3200" b="1">
                <a:latin typeface="Times New Roman" panose="02020603050405020304" pitchFamily="18" charset="0"/>
                <a:ea typeface="宋体" panose="02010600030101010101" pitchFamily="2" charset="-122"/>
              </a:rPr>
              <a:t>0</a:t>
            </a:r>
            <a:r>
              <a:rPr lang="zh-CN" altLang="en-US" sz="3200" b="1">
                <a:latin typeface="宋体" panose="02010600030101010101" pitchFamily="2" charset="-122"/>
                <a:ea typeface="宋体" panose="02010600030101010101" pitchFamily="2" charset="-122"/>
              </a:rPr>
              <a:t>。</a:t>
            </a:r>
            <a:r>
              <a:rPr lang="zh-CN" altLang="en-US" sz="3200" b="1">
                <a:latin typeface="Times New Roman" panose="02020603050405020304" pitchFamily="18" charset="0"/>
                <a:ea typeface="宋体" panose="02010600030101010101" pitchFamily="2" charset="-122"/>
              </a:rPr>
              <a:t> </a:t>
            </a:r>
          </a:p>
        </p:txBody>
      </p:sp>
      <p:sp>
        <p:nvSpPr>
          <p:cNvPr id="55300" name="文本框 78852"/>
          <p:cNvSpPr txBox="1"/>
          <p:nvPr/>
        </p:nvSpPr>
        <p:spPr>
          <a:xfrm>
            <a:off x="6372225" y="3141663"/>
            <a:ext cx="2289175" cy="579437"/>
          </a:xfrm>
          <a:prstGeom prst="rect">
            <a:avLst/>
          </a:prstGeom>
          <a:noFill/>
          <a:ln w="12700">
            <a:noFill/>
          </a:ln>
        </p:spPr>
        <p:txBody>
          <a:bodyPr anchor="t" anchorCtr="0">
            <a:spAutoFit/>
          </a:bodyPr>
          <a:lstStyle/>
          <a:p>
            <a:r>
              <a:rPr lang="en-US" altLang="zh-CN" sz="3200" b="1">
                <a:latin typeface="Times New Roman" panose="02020603050405020304" pitchFamily="18" charset="0"/>
                <a:ea typeface="宋体" panose="02010600030101010101" pitchFamily="2" charset="-122"/>
              </a:rPr>
              <a:t>&lt;0, </a:t>
            </a:r>
            <a:r>
              <a:rPr lang="en-US" altLang="zh-CN" sz="3200" b="1" i="1">
                <a:latin typeface="Times New Roman" panose="02020603050405020304" pitchFamily="18" charset="0"/>
                <a:ea typeface="宋体" panose="02010600030101010101" pitchFamily="2" charset="-122"/>
              </a:rPr>
              <a:t>m</a:t>
            </a:r>
            <a:r>
              <a:rPr lang="en-US" altLang="zh-CN" sz="3200" b="1" baseline="30000">
                <a:latin typeface="Times New Roman" panose="02020603050405020304" pitchFamily="18" charset="0"/>
                <a:ea typeface="宋体" panose="02010600030101010101" pitchFamily="2" charset="-122"/>
              </a:rPr>
              <a:t>*</a:t>
            </a:r>
            <a:r>
              <a:rPr lang="en-US" altLang="zh-CN" sz="3200" b="1">
                <a:latin typeface="宋体" panose="02010600030101010101" pitchFamily="2" charset="-122"/>
                <a:ea typeface="宋体" panose="02010600030101010101" pitchFamily="2" charset="-122"/>
              </a:rPr>
              <a:t>&lt;</a:t>
            </a:r>
            <a:r>
              <a:rPr lang="en-US" altLang="zh-CN" sz="3200" b="1">
                <a:latin typeface="Times New Roman" panose="02020603050405020304" pitchFamily="18" charset="0"/>
                <a:ea typeface="宋体" panose="02010600030101010101" pitchFamily="2" charset="-122"/>
              </a:rPr>
              <a:t>0</a:t>
            </a:r>
            <a:r>
              <a:rPr lang="zh-CN" altLang="en-US" sz="3200" b="1">
                <a:latin typeface="宋体" panose="02010600030101010101" pitchFamily="2" charset="-122"/>
                <a:ea typeface="宋体" panose="02010600030101010101" pitchFamily="2" charset="-122"/>
              </a:rPr>
              <a:t>。</a:t>
            </a:r>
            <a:r>
              <a:rPr lang="zh-CN" altLang="en-US" sz="3200" b="1">
                <a:latin typeface="Times New Roman" panose="02020603050405020304" pitchFamily="18" charset="0"/>
                <a:ea typeface="宋体" panose="02010600030101010101" pitchFamily="2" charset="-122"/>
              </a:rPr>
              <a:t> </a:t>
            </a:r>
          </a:p>
        </p:txBody>
      </p:sp>
      <p:sp>
        <p:nvSpPr>
          <p:cNvPr id="55301" name="文本框 78853"/>
          <p:cNvSpPr txBox="1"/>
          <p:nvPr/>
        </p:nvSpPr>
        <p:spPr>
          <a:xfrm>
            <a:off x="1265238" y="4548188"/>
            <a:ext cx="1408112" cy="579437"/>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能带底</a:t>
            </a:r>
          </a:p>
        </p:txBody>
      </p:sp>
      <p:sp>
        <p:nvSpPr>
          <p:cNvPr id="55302" name="文本框 78854"/>
          <p:cNvSpPr txBox="1"/>
          <p:nvPr/>
        </p:nvSpPr>
        <p:spPr>
          <a:xfrm>
            <a:off x="1265238" y="5229225"/>
            <a:ext cx="1408112" cy="579438"/>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能带顶</a:t>
            </a:r>
          </a:p>
        </p:txBody>
      </p:sp>
      <p:sp>
        <p:nvSpPr>
          <p:cNvPr id="55303" name="文本框 78855"/>
          <p:cNvSpPr txBox="1"/>
          <p:nvPr/>
        </p:nvSpPr>
        <p:spPr>
          <a:xfrm>
            <a:off x="539750" y="765175"/>
            <a:ext cx="3887788" cy="641350"/>
          </a:xfrm>
          <a:prstGeom prst="rect">
            <a:avLst/>
          </a:prstGeom>
          <a:noFill/>
          <a:ln w="12700">
            <a:noFill/>
          </a:ln>
        </p:spPr>
        <p:txBody>
          <a:bodyPr anchor="t" anchorCtr="0">
            <a:spAutoFit/>
          </a:bodyPr>
          <a:lstStyle/>
          <a:p>
            <a:pPr eaLnBrk="0" hangingPunct="0"/>
            <a:r>
              <a:rPr lang="en-US" altLang="zh-CN" sz="3600" b="1">
                <a:latin typeface="Arial" panose="020B0604020202020204" pitchFamily="34" charset="0"/>
                <a:ea typeface="宋体" panose="02010600030101010101" pitchFamily="2" charset="-122"/>
              </a:rPr>
              <a:t>3.</a:t>
            </a:r>
            <a:r>
              <a:rPr lang="en-US" altLang="zh-CN" sz="3600" b="1" dirty="0">
                <a:latin typeface="Arial" panose="020B0604020202020204" pitchFamily="34" charset="0"/>
                <a:ea typeface="宋体" panose="02010600030101010101" pitchFamily="2" charset="-122"/>
              </a:rPr>
              <a:t>m*</a:t>
            </a:r>
            <a:r>
              <a:rPr lang="zh-CN" altLang="en-US" sz="3600" b="1" dirty="0">
                <a:latin typeface="Arial" panose="020B0604020202020204" pitchFamily="34" charset="0"/>
                <a:ea typeface="宋体" panose="02010600030101010101" pitchFamily="2" charset="-122"/>
              </a:rPr>
              <a:t>有正负之分</a:t>
            </a:r>
            <a:endParaRPr lang="zh-CN" altLang="en-US" sz="3600" b="1" dirty="0">
              <a:latin typeface="Arial" panose="020B0604020202020204" pitchFamily="34" charset="0"/>
              <a:ea typeface="Arial" panose="020B0604020202020204" pitchFamily="34" charset="0"/>
            </a:endParaRPr>
          </a:p>
        </p:txBody>
      </p:sp>
      <p:sp>
        <p:nvSpPr>
          <p:cNvPr id="55304" name="文本框 78856"/>
          <p:cNvSpPr txBox="1"/>
          <p:nvPr/>
        </p:nvSpPr>
        <p:spPr>
          <a:xfrm>
            <a:off x="808038" y="1924050"/>
            <a:ext cx="4327525" cy="579438"/>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当</a:t>
            </a:r>
            <a:r>
              <a:rPr lang="en-US" altLang="zh-CN" sz="3200" b="1" err="1">
                <a:latin typeface="Arial" panose="020B0604020202020204" pitchFamily="34" charset="0"/>
                <a:ea typeface="宋体" panose="02010600030101010101" pitchFamily="2" charset="-122"/>
              </a:rPr>
              <a:t>E(k</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曲线开口向上时</a:t>
            </a:r>
            <a:r>
              <a:rPr lang="en-US" altLang="zh-CN" sz="3200" b="1">
                <a:latin typeface="Arial" panose="020B0604020202020204" pitchFamily="34" charset="0"/>
                <a:ea typeface="宋体" panose="02010600030101010101" pitchFamily="2" charset="-122"/>
              </a:rPr>
              <a:t>,</a:t>
            </a:r>
            <a:endParaRPr lang="en-US" altLang="zh-CN" sz="3200" b="1">
              <a:latin typeface="Arial" panose="020B0604020202020204" pitchFamily="34" charset="0"/>
              <a:ea typeface="Arial" panose="020B0604020202020204" pitchFamily="34" charset="0"/>
            </a:endParaRPr>
          </a:p>
        </p:txBody>
      </p:sp>
      <p:sp>
        <p:nvSpPr>
          <p:cNvPr id="55305" name="文本框 78857"/>
          <p:cNvSpPr txBox="1"/>
          <p:nvPr/>
        </p:nvSpPr>
        <p:spPr>
          <a:xfrm>
            <a:off x="808038" y="3097213"/>
            <a:ext cx="4327525" cy="579437"/>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当</a:t>
            </a:r>
            <a:r>
              <a:rPr lang="en-US" altLang="zh-CN" sz="3200" b="1" err="1">
                <a:latin typeface="Arial" panose="020B0604020202020204" pitchFamily="34" charset="0"/>
                <a:ea typeface="宋体" panose="02010600030101010101" pitchFamily="2" charset="-122"/>
              </a:rPr>
              <a:t>E(k</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曲线开口向下时</a:t>
            </a:r>
            <a:r>
              <a:rPr lang="en-US" altLang="zh-CN" sz="3200" b="1">
                <a:latin typeface="Arial" panose="020B0604020202020204" pitchFamily="34" charset="0"/>
                <a:ea typeface="宋体" panose="02010600030101010101" pitchFamily="2" charset="-122"/>
              </a:rPr>
              <a:t>,</a:t>
            </a:r>
            <a:endParaRPr lang="en-US" altLang="zh-CN" sz="3200" b="1">
              <a:latin typeface="Arial" panose="020B0604020202020204" pitchFamily="34" charset="0"/>
              <a:ea typeface="Arial" panose="020B0604020202020204" pitchFamily="34" charset="0"/>
            </a:endParaRPr>
          </a:p>
        </p:txBody>
      </p:sp>
      <p:sp>
        <p:nvSpPr>
          <p:cNvPr id="55306" name="文本框 78858"/>
          <p:cNvSpPr txBox="1"/>
          <p:nvPr/>
        </p:nvSpPr>
        <p:spPr>
          <a:xfrm>
            <a:off x="3475038" y="4545013"/>
            <a:ext cx="2527300" cy="579437"/>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电子的</a:t>
            </a:r>
            <a:r>
              <a:rPr lang="en-US" altLang="zh-CN" sz="3200" b="1">
                <a:latin typeface="Arial" panose="020B0604020202020204" pitchFamily="34" charset="0"/>
                <a:ea typeface="宋体" panose="02010600030101010101" pitchFamily="2" charset="-122"/>
              </a:rPr>
              <a:t>m*&gt;0;</a:t>
            </a:r>
            <a:endParaRPr lang="en-US" altLang="zh-CN" sz="3200" b="1">
              <a:latin typeface="Arial" panose="020B0604020202020204" pitchFamily="34" charset="0"/>
              <a:ea typeface="Arial" panose="020B0604020202020204" pitchFamily="34" charset="0"/>
            </a:endParaRPr>
          </a:p>
        </p:txBody>
      </p:sp>
      <p:sp>
        <p:nvSpPr>
          <p:cNvPr id="55307" name="文本框 78859"/>
          <p:cNvSpPr txBox="1"/>
          <p:nvPr/>
        </p:nvSpPr>
        <p:spPr>
          <a:xfrm>
            <a:off x="3475038" y="5302250"/>
            <a:ext cx="2527300" cy="579438"/>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电子的</a:t>
            </a:r>
            <a:r>
              <a:rPr lang="en-US" altLang="zh-CN" sz="3200" b="1">
                <a:latin typeface="Arial" panose="020B0604020202020204" pitchFamily="34" charset="0"/>
                <a:ea typeface="宋体" panose="02010600030101010101" pitchFamily="2" charset="-122"/>
              </a:rPr>
              <a:t>m*&lt;0;</a:t>
            </a:r>
            <a:endParaRPr lang="en-US" altLang="zh-CN" sz="3200" b="1">
              <a:latin typeface="Arial" panose="020B0604020202020204" pitchFamily="34" charset="0"/>
              <a:ea typeface="Arial" panose="020B0604020202020204" pitchFamily="34"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539750" y="1916113"/>
            <a:ext cx="8110538" cy="4191000"/>
          </a:xfrm>
        </p:spPr>
        <p:txBody>
          <a:bodyPr vert="horz" wrap="square" lIns="91440" tIns="45720" rIns="91440" bIns="45720" numCol="1" anchor="t" anchorCtr="0" compatLnSpc="1"/>
          <a:lstStyle/>
          <a:p>
            <a:pPr marL="101600" marR="0" lvl="0" indent="-101600" algn="l" defTabSz="914400" rtl="0" eaLnBrk="1" fontAlgn="base" latinLnBrk="0" hangingPunct="1">
              <a:lnSpc>
                <a:spcPct val="90000"/>
              </a:lnSpc>
              <a:spcBef>
                <a:spcPct val="0"/>
              </a:spcBef>
              <a:spcAft>
                <a:spcPct val="0"/>
              </a:spcAft>
              <a:buClr>
                <a:schemeClr val="folHlink"/>
              </a:buClr>
              <a:buSzPct val="75000"/>
              <a:buFont typeface="Wingdings" panose="05000000000000000000" pitchFamily="2" charset="2"/>
              <a:buNone/>
              <a:defRPr/>
            </a:pPr>
            <a:r>
              <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3.</a:t>
            </a: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有效质量的意义</a:t>
            </a:r>
            <a:endPar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加速度公式中，外力作用于有效质量而不是惯性质量。其原因是，电子受的总力为外电场力和内部原子的势场力。因此，加速度是内外场作用的综合效果。使用有效质量可以使问题变简单：可以不涉及半导体的内部势场，而又可以从实验测定有效质量。</a:t>
            </a:r>
          </a:p>
          <a:p>
            <a:pPr marL="0" marR="0" lvl="0" indent="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在</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k=0</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附近，内部势场很弱，接近自由电子，有效质量为正。在布里渊区边界，内部势场对电子的作用很强，大于外场，使有效质量呈现负值。</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en-US" altLang="zh-CN" sz="5400" b="0" i="0" u="none" strike="noStrike" kern="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rPr>
              <a:t> </a:t>
            </a:r>
            <a:endParaRPr kumimoji="1" lang="zh-CN" altLang="en-US" sz="5400" b="0" i="0" u="none" strike="noStrike" kern="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endParaRPr>
          </a:p>
        </p:txBody>
      </p:sp>
      <p:sp>
        <p:nvSpPr>
          <p:cNvPr id="29698" name="Rectangle 2"/>
          <p:cNvSpPr>
            <a:spLocks noGrp="1"/>
          </p:cNvSpPr>
          <p:nvPr>
            <p:ph type="title"/>
          </p:nvPr>
        </p:nvSpPr>
        <p:spPr>
          <a:xfrm>
            <a:off x="490538" y="900113"/>
            <a:ext cx="8653462" cy="769937"/>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3</a:t>
            </a:r>
            <a:r>
              <a:rPr lang="zh-CN" altLang="en-US" dirty="0">
                <a:latin typeface="华文新魏" panose="02010800040101010101" pitchFamily="2" charset="-122"/>
                <a:ea typeface="华文新魏" panose="02010800040101010101" pitchFamily="2" charset="-122"/>
              </a:rPr>
              <a:t>  半导体中电子的运动 有效质量</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80897"/>
          <p:cNvSpPr>
            <a:spLocks noGrp="1"/>
          </p:cNvSpPr>
          <p:nvPr>
            <p:ph type="title"/>
          </p:nvPr>
        </p:nvSpPr>
        <p:spPr>
          <a:xfrm>
            <a:off x="539750" y="476250"/>
            <a:ext cx="8001000" cy="1295400"/>
          </a:xfrm>
        </p:spPr>
        <p:txBody>
          <a:bodyPr anchor="ctr" anchorCtr="0"/>
          <a:lstStyle/>
          <a:p>
            <a:r>
              <a:rPr lang="zh-CN" altLang="en-US" sz="3600" b="1" dirty="0"/>
              <a:t>§</a:t>
            </a:r>
            <a:r>
              <a:rPr lang="en-US" altLang="zh-CN" sz="3600" b="1" dirty="0"/>
              <a:t>1.4 </a:t>
            </a:r>
            <a:r>
              <a:rPr lang="zh-CN" altLang="en-US" sz="3600" b="1" dirty="0"/>
              <a:t>半导体中载流子产生及导电机构</a:t>
            </a:r>
          </a:p>
        </p:txBody>
      </p:sp>
      <p:sp>
        <p:nvSpPr>
          <p:cNvPr id="56322" name="文本占位符 80898"/>
          <p:cNvSpPr>
            <a:spLocks noGrp="1"/>
          </p:cNvSpPr>
          <p:nvPr>
            <p:ph idx="1"/>
          </p:nvPr>
        </p:nvSpPr>
        <p:spPr>
          <a:xfrm>
            <a:off x="900113" y="1844675"/>
            <a:ext cx="4348162" cy="658813"/>
          </a:xfrm>
        </p:spPr>
        <p:txBody>
          <a:bodyPr anchor="t" anchorCtr="0"/>
          <a:lstStyle/>
          <a:p>
            <a:pPr>
              <a:buNone/>
            </a:pPr>
            <a:r>
              <a:rPr lang="en-US" altLang="zh-CN" b="1" dirty="0"/>
              <a:t>1.  </a:t>
            </a:r>
            <a:r>
              <a:rPr lang="zh-CN" altLang="en-US" b="1" dirty="0"/>
              <a:t>载流子的产生</a:t>
            </a:r>
          </a:p>
        </p:txBody>
      </p:sp>
      <p:sp>
        <p:nvSpPr>
          <p:cNvPr id="56323" name="文本框 80965"/>
          <p:cNvSpPr txBox="1"/>
          <p:nvPr/>
        </p:nvSpPr>
        <p:spPr>
          <a:xfrm>
            <a:off x="1811338" y="2992438"/>
            <a:ext cx="1700212" cy="579437"/>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满带</a:t>
            </a:r>
          </a:p>
        </p:txBody>
      </p:sp>
      <p:sp>
        <p:nvSpPr>
          <p:cNvPr id="56324" name="直接连接符 80966"/>
          <p:cNvSpPr/>
          <p:nvPr/>
        </p:nvSpPr>
        <p:spPr>
          <a:xfrm>
            <a:off x="3322638" y="3297238"/>
            <a:ext cx="1066800" cy="0"/>
          </a:xfrm>
          <a:prstGeom prst="line">
            <a:avLst/>
          </a:prstGeom>
          <a:ln w="28575" cap="sq" cmpd="sng">
            <a:solidFill>
              <a:schemeClr val="tx1"/>
            </a:solidFill>
            <a:prstDash val="solid"/>
            <a:miter/>
            <a:headEnd type="none" w="sm" len="sm"/>
            <a:tailEnd type="none" w="sm" len="sm"/>
          </a:ln>
        </p:spPr>
      </p:sp>
      <p:sp>
        <p:nvSpPr>
          <p:cNvPr id="56325" name="文本框 80967"/>
          <p:cNvSpPr txBox="1"/>
          <p:nvPr/>
        </p:nvSpPr>
        <p:spPr>
          <a:xfrm>
            <a:off x="4541838" y="2992438"/>
            <a:ext cx="2622550" cy="579437"/>
          </a:xfrm>
          <a:prstGeom prst="rect">
            <a:avLst/>
          </a:prstGeom>
          <a:noFill/>
          <a:ln w="12700">
            <a:noFill/>
          </a:ln>
        </p:spPr>
        <p:txBody>
          <a:bodyPr wrap="none" anchor="t" anchorCtr="0">
            <a:spAutoFit/>
          </a:bodyPr>
          <a:lstStyle/>
          <a:p>
            <a:pPr eaLnBrk="0" hangingPunct="0"/>
            <a:r>
              <a:rPr lang="zh-CN" altLang="en-US" sz="3200" dirty="0">
                <a:latin typeface="Arial" panose="020B0604020202020204" pitchFamily="34" charset="0"/>
                <a:ea typeface="宋体" panose="02010600030101010101" pitchFamily="2" charset="-122"/>
              </a:rPr>
              <a:t>对电流无贡献</a:t>
            </a:r>
          </a:p>
        </p:txBody>
      </p:sp>
      <p:sp>
        <p:nvSpPr>
          <p:cNvPr id="56326" name="文本框 80968"/>
          <p:cNvSpPr txBox="1"/>
          <p:nvPr/>
        </p:nvSpPr>
        <p:spPr>
          <a:xfrm>
            <a:off x="1692275" y="3860800"/>
            <a:ext cx="2117725" cy="579438"/>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不满带</a:t>
            </a:r>
          </a:p>
        </p:txBody>
      </p:sp>
      <p:sp>
        <p:nvSpPr>
          <p:cNvPr id="56327" name="文本框 80969"/>
          <p:cNvSpPr txBox="1"/>
          <p:nvPr/>
        </p:nvSpPr>
        <p:spPr>
          <a:xfrm>
            <a:off x="4541838" y="3860800"/>
            <a:ext cx="2622550" cy="579438"/>
          </a:xfrm>
          <a:prstGeom prst="rect">
            <a:avLst/>
          </a:prstGeom>
          <a:noFill/>
          <a:ln w="12700">
            <a:noFill/>
          </a:ln>
        </p:spPr>
        <p:txBody>
          <a:bodyPr wrap="none" anchor="t" anchorCtr="0">
            <a:spAutoFit/>
          </a:bodyPr>
          <a:lstStyle/>
          <a:p>
            <a:pPr eaLnBrk="0" hangingPunct="0"/>
            <a:r>
              <a:rPr lang="zh-CN" altLang="en-US" sz="3200" dirty="0">
                <a:latin typeface="Arial" panose="020B0604020202020204" pitchFamily="34" charset="0"/>
                <a:ea typeface="宋体" panose="02010600030101010101" pitchFamily="2" charset="-122"/>
              </a:rPr>
              <a:t>对电流有贡献</a:t>
            </a:r>
          </a:p>
        </p:txBody>
      </p:sp>
      <p:sp>
        <p:nvSpPr>
          <p:cNvPr id="56328" name="直接连接符 80970"/>
          <p:cNvSpPr/>
          <p:nvPr/>
        </p:nvSpPr>
        <p:spPr>
          <a:xfrm>
            <a:off x="3551238" y="4165600"/>
            <a:ext cx="1066800" cy="0"/>
          </a:xfrm>
          <a:prstGeom prst="line">
            <a:avLst/>
          </a:prstGeom>
          <a:ln w="28575" cap="sq" cmpd="sng">
            <a:solidFill>
              <a:schemeClr val="tx1"/>
            </a:solidFill>
            <a:prstDash val="solid"/>
            <a:miter/>
            <a:headEnd type="none" w="sm" len="sm"/>
            <a:tailEnd type="none" w="sm" len="sm"/>
          </a:ln>
        </p:spPr>
      </p:sp>
      <p:sp>
        <p:nvSpPr>
          <p:cNvPr id="56329" name="矩形 80971"/>
          <p:cNvSpPr/>
          <p:nvPr/>
        </p:nvSpPr>
        <p:spPr>
          <a:xfrm>
            <a:off x="4859338" y="4724400"/>
            <a:ext cx="2089150" cy="1223963"/>
          </a:xfrm>
          <a:prstGeom prst="rect">
            <a:avLst/>
          </a:prstGeom>
          <a:solidFill>
            <a:srgbClr val="FFFF99"/>
          </a:solidFill>
          <a:ln w="9525" cap="flat" cmpd="sng">
            <a:solidFill>
              <a:srgbClr val="000000"/>
            </a:solidFill>
            <a:prstDash val="solid"/>
            <a:miter/>
            <a:headEnd type="none" w="med" len="med"/>
            <a:tailEnd type="none" w="med" len="med"/>
          </a:ln>
        </p:spPr>
        <p:txBody>
          <a:bodyPr wrap="none" anchor="ctr" anchorCtr="0"/>
          <a:lstStyle/>
          <a:p>
            <a:pPr algn="ctr"/>
            <a:r>
              <a:rPr lang="zh-CN" altLang="en-US" sz="2400" b="1" dirty="0">
                <a:solidFill>
                  <a:srgbClr val="000000"/>
                </a:solidFill>
                <a:latin typeface="Times New Roman" panose="02020603050405020304" pitchFamily="18" charset="0"/>
                <a:ea typeface="宋体" panose="02010600030101010101" pitchFamily="2" charset="-122"/>
              </a:rPr>
              <a:t>不满带中</a:t>
            </a:r>
          </a:p>
          <a:p>
            <a:pPr algn="ctr"/>
            <a:r>
              <a:rPr lang="zh-CN" altLang="en-US" sz="2400" b="1" dirty="0">
                <a:solidFill>
                  <a:srgbClr val="000000"/>
                </a:solidFill>
                <a:latin typeface="Times New Roman" panose="02020603050405020304" pitchFamily="18" charset="0"/>
                <a:ea typeface="宋体" panose="02010600030101010101" pitchFamily="2" charset="-122"/>
              </a:rPr>
              <a:t>的电子</a:t>
            </a:r>
          </a:p>
        </p:txBody>
      </p:sp>
      <p:sp>
        <p:nvSpPr>
          <p:cNvPr id="56330" name="左箭头 80972"/>
          <p:cNvSpPr/>
          <p:nvPr/>
        </p:nvSpPr>
        <p:spPr>
          <a:xfrm>
            <a:off x="3962400" y="5156200"/>
            <a:ext cx="792163" cy="288925"/>
          </a:xfrm>
          <a:prstGeom prst="leftArrow">
            <a:avLst>
              <a:gd name="adj1" fmla="val 50000"/>
              <a:gd name="adj2" fmla="val 68531"/>
            </a:avLst>
          </a:prstGeom>
          <a:solidFill>
            <a:srgbClr val="FFFF99"/>
          </a:solidFill>
          <a:ln w="9525" cap="flat" cmpd="sng">
            <a:solidFill>
              <a:srgbClr val="000000"/>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56331" name="椭圆 80973"/>
          <p:cNvSpPr/>
          <p:nvPr/>
        </p:nvSpPr>
        <p:spPr>
          <a:xfrm>
            <a:off x="1979613" y="4868863"/>
            <a:ext cx="1838325" cy="863600"/>
          </a:xfrm>
          <a:prstGeom prst="ellipse">
            <a:avLst/>
          </a:prstGeom>
          <a:solidFill>
            <a:srgbClr val="FFFF99"/>
          </a:solidFill>
          <a:ln w="9525" cap="flat" cmpd="sng">
            <a:solidFill>
              <a:srgbClr val="000000"/>
            </a:solidFill>
            <a:prstDash val="solid"/>
            <a:round/>
            <a:headEnd type="none" w="med" len="med"/>
            <a:tailEnd type="none" w="med" len="med"/>
          </a:ln>
        </p:spPr>
        <p:txBody>
          <a:bodyPr wrap="none" anchor="ctr" anchorCtr="0"/>
          <a:lstStyle/>
          <a:p>
            <a:pPr algn="ctr"/>
            <a:r>
              <a:rPr lang="zh-CN" altLang="en-US" sz="2400" b="1" dirty="0">
                <a:solidFill>
                  <a:srgbClr val="000000"/>
                </a:solidFill>
                <a:latin typeface="Times New Roman" panose="02020603050405020304" pitchFamily="18" charset="0"/>
                <a:ea typeface="宋体" panose="02010600030101010101" pitchFamily="2" charset="-122"/>
              </a:rPr>
              <a:t>电流</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文本框 81921"/>
          <p:cNvSpPr txBox="1"/>
          <p:nvPr/>
        </p:nvSpPr>
        <p:spPr>
          <a:xfrm>
            <a:off x="1258888" y="836613"/>
            <a:ext cx="4465637" cy="519112"/>
          </a:xfrm>
          <a:prstGeom prst="rect">
            <a:avLst/>
          </a:prstGeom>
          <a:noFill/>
          <a:ln w="12700">
            <a:noFill/>
          </a:ln>
        </p:spPr>
        <p:txBody>
          <a:bodyPr anchor="t" anchorCtr="0">
            <a:spAutoFit/>
          </a:bodyPr>
          <a:lstStyle/>
          <a:p>
            <a:pPr eaLnBrk="0" hangingPunct="0"/>
            <a:r>
              <a:rPr lang="zh-CN" altLang="en-US" sz="2800" b="1" dirty="0">
                <a:latin typeface="Arial" panose="020B0604020202020204" pitchFamily="34" charset="0"/>
                <a:ea typeface="宋体" panose="02010600030101010101" pitchFamily="2" charset="-122"/>
              </a:rPr>
              <a:t>满带：电子数</a:t>
            </a:r>
            <a:r>
              <a:rPr lang="en-US" altLang="zh-CN" sz="2800" b="1" dirty="0">
                <a:latin typeface="Arial" panose="020B0604020202020204" pitchFamily="34" charset="0"/>
                <a:ea typeface="宋体" panose="02010600030101010101" pitchFamily="2" charset="-122"/>
              </a:rPr>
              <a:t>=</a:t>
            </a:r>
            <a:r>
              <a:rPr lang="zh-CN" altLang="en-US" sz="2800" b="1" dirty="0">
                <a:latin typeface="Arial" panose="020B0604020202020204" pitchFamily="34" charset="0"/>
                <a:ea typeface="宋体" panose="02010600030101010101" pitchFamily="2" charset="-122"/>
              </a:rPr>
              <a:t>状态数</a:t>
            </a:r>
            <a:endParaRPr lang="zh-CN" altLang="en-US" sz="2800" b="1">
              <a:latin typeface="Arial" panose="020B0604020202020204" pitchFamily="34" charset="0"/>
              <a:ea typeface="宋体" panose="02010600030101010101" pitchFamily="2" charset="-122"/>
            </a:endParaRPr>
          </a:p>
        </p:txBody>
      </p:sp>
      <p:sp>
        <p:nvSpPr>
          <p:cNvPr id="57346" name="文本框 81922"/>
          <p:cNvSpPr txBox="1"/>
          <p:nvPr/>
        </p:nvSpPr>
        <p:spPr>
          <a:xfrm>
            <a:off x="1219200" y="2068513"/>
            <a:ext cx="1606550" cy="519112"/>
          </a:xfrm>
          <a:prstGeom prst="rect">
            <a:avLst/>
          </a:prstGeom>
          <a:noFill/>
          <a:ln w="12700">
            <a:noFill/>
          </a:ln>
        </p:spPr>
        <p:txBody>
          <a:bodyPr wrap="none" anchor="t" anchorCtr="0">
            <a:spAutoFit/>
          </a:bodyPr>
          <a:lstStyle/>
          <a:p>
            <a:pPr eaLnBrk="0" hangingPunct="0"/>
            <a:r>
              <a:rPr lang="zh-CN" altLang="en-US" sz="2800" b="1" dirty="0">
                <a:latin typeface="Arial" panose="020B0604020202020204" pitchFamily="34" charset="0"/>
                <a:ea typeface="宋体" panose="02010600030101010101" pitchFamily="2" charset="-122"/>
              </a:rPr>
              <a:t>不满带：</a:t>
            </a:r>
          </a:p>
        </p:txBody>
      </p:sp>
      <p:sp>
        <p:nvSpPr>
          <p:cNvPr id="57347" name="左大括号 81923"/>
          <p:cNvSpPr/>
          <p:nvPr/>
        </p:nvSpPr>
        <p:spPr>
          <a:xfrm>
            <a:off x="2819400" y="1993900"/>
            <a:ext cx="168275" cy="742950"/>
          </a:xfrm>
          <a:prstGeom prst="leftBrace">
            <a:avLst>
              <a:gd name="adj1" fmla="val 36772"/>
              <a:gd name="adj2" fmla="val 50000"/>
            </a:avLst>
          </a:prstGeom>
          <a:noFill/>
          <a:ln w="28575" cap="sq" cmpd="sng">
            <a:solidFill>
              <a:schemeClr val="tx1"/>
            </a:solidFill>
            <a:prstDash val="solid"/>
            <a:miter/>
            <a:headEnd type="none" w="sm" len="sm"/>
            <a:tailEnd type="none" w="sm" len="sm"/>
          </a:ln>
        </p:spPr>
        <p:txBody>
          <a:bodyPr wrap="none" anchor="ctr" anchorCtr="0"/>
          <a:lstStyle/>
          <a:p>
            <a:pPr algn="ctr" eaLnBrk="0" hangingPunct="0"/>
            <a:endParaRPr lang="zh-CN" sz="2800" b="1" dirty="0">
              <a:latin typeface="Arial" panose="020B0604020202020204" pitchFamily="34" charset="0"/>
              <a:ea typeface="宋体" panose="02010600030101010101" pitchFamily="2" charset="-122"/>
            </a:endParaRPr>
          </a:p>
        </p:txBody>
      </p:sp>
      <p:sp>
        <p:nvSpPr>
          <p:cNvPr id="57348" name="文本框 81924"/>
          <p:cNvSpPr txBox="1"/>
          <p:nvPr/>
        </p:nvSpPr>
        <p:spPr>
          <a:xfrm>
            <a:off x="3132138" y="1757363"/>
            <a:ext cx="3028950" cy="519112"/>
          </a:xfrm>
          <a:prstGeom prst="rect">
            <a:avLst/>
          </a:prstGeom>
          <a:noFill/>
          <a:ln w="12700">
            <a:noFill/>
          </a:ln>
        </p:spPr>
        <p:txBody>
          <a:bodyPr wrap="none" anchor="t" anchorCtr="0">
            <a:spAutoFit/>
          </a:bodyPr>
          <a:lstStyle/>
          <a:p>
            <a:pPr eaLnBrk="0" hangingPunct="0"/>
            <a:r>
              <a:rPr lang="zh-CN" altLang="en-US" sz="2800" b="1" dirty="0">
                <a:latin typeface="Arial" panose="020B0604020202020204" pitchFamily="34" charset="0"/>
                <a:ea typeface="宋体" panose="02010600030101010101" pitchFamily="2" charset="-122"/>
              </a:rPr>
              <a:t>价带：产生空状态</a:t>
            </a:r>
            <a:endParaRPr lang="zh-CN" altLang="en-US" sz="2800" b="1">
              <a:latin typeface="Arial" panose="020B0604020202020204" pitchFamily="34" charset="0"/>
              <a:ea typeface="宋体" panose="02010600030101010101" pitchFamily="2" charset="-122"/>
            </a:endParaRPr>
          </a:p>
        </p:txBody>
      </p:sp>
      <p:sp>
        <p:nvSpPr>
          <p:cNvPr id="57349" name="文本框 81925"/>
          <p:cNvSpPr txBox="1"/>
          <p:nvPr/>
        </p:nvSpPr>
        <p:spPr>
          <a:xfrm>
            <a:off x="3087688" y="2405063"/>
            <a:ext cx="2673350" cy="519112"/>
          </a:xfrm>
          <a:prstGeom prst="rect">
            <a:avLst/>
          </a:prstGeom>
          <a:noFill/>
          <a:ln w="12700">
            <a:noFill/>
          </a:ln>
        </p:spPr>
        <p:txBody>
          <a:bodyPr wrap="none" anchor="t" anchorCtr="0">
            <a:spAutoFit/>
          </a:bodyPr>
          <a:lstStyle/>
          <a:p>
            <a:pPr eaLnBrk="0" hangingPunct="0"/>
            <a:r>
              <a:rPr lang="zh-CN" altLang="en-US" sz="2800" b="1" dirty="0">
                <a:latin typeface="Arial" panose="020B0604020202020204" pitchFamily="34" charset="0"/>
                <a:ea typeface="宋体" panose="02010600030101010101" pitchFamily="2" charset="-122"/>
              </a:rPr>
              <a:t>导带：存在电子</a:t>
            </a:r>
            <a:endParaRPr lang="zh-CN" altLang="en-US" sz="2800" b="1">
              <a:latin typeface="Arial" panose="020B0604020202020204" pitchFamily="34" charset="0"/>
              <a:ea typeface="宋体" panose="02010600030101010101" pitchFamily="2" charset="-122"/>
            </a:endParaRPr>
          </a:p>
        </p:txBody>
      </p:sp>
      <p:sp>
        <p:nvSpPr>
          <p:cNvPr id="57350" name="矩形 81927"/>
          <p:cNvSpPr/>
          <p:nvPr/>
        </p:nvSpPr>
        <p:spPr>
          <a:xfrm>
            <a:off x="684213" y="2924175"/>
            <a:ext cx="3527425" cy="3455988"/>
          </a:xfrm>
          <a:prstGeom prst="rect">
            <a:avLst/>
          </a:prstGeom>
          <a:solidFill>
            <a:schemeClr val="accent2"/>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grpSp>
        <p:nvGrpSpPr>
          <p:cNvPr id="57351" name="组合 81981"/>
          <p:cNvGrpSpPr/>
          <p:nvPr/>
        </p:nvGrpSpPr>
        <p:grpSpPr>
          <a:xfrm>
            <a:off x="900113" y="3070225"/>
            <a:ext cx="3024187" cy="3170238"/>
            <a:chOff x="567" y="1934"/>
            <a:chExt cx="1905" cy="1997"/>
          </a:xfrm>
        </p:grpSpPr>
        <p:grpSp>
          <p:nvGrpSpPr>
            <p:cNvPr id="57352" name="组合 81928"/>
            <p:cNvGrpSpPr/>
            <p:nvPr/>
          </p:nvGrpSpPr>
          <p:grpSpPr>
            <a:xfrm>
              <a:off x="567" y="1934"/>
              <a:ext cx="1905" cy="1997"/>
              <a:chOff x="476" y="1933"/>
              <a:chExt cx="2268" cy="2269"/>
            </a:xfrm>
          </p:grpSpPr>
          <p:sp>
            <p:nvSpPr>
              <p:cNvPr id="57353" name="直接连接符 81929"/>
              <p:cNvSpPr/>
              <p:nvPr/>
            </p:nvSpPr>
            <p:spPr>
              <a:xfrm>
                <a:off x="476" y="1979"/>
                <a:ext cx="2223" cy="2222"/>
              </a:xfrm>
              <a:prstGeom prst="line">
                <a:avLst/>
              </a:prstGeom>
              <a:ln w="9525" cap="flat" cmpd="sng">
                <a:solidFill>
                  <a:schemeClr val="tx1"/>
                </a:solidFill>
                <a:prstDash val="solid"/>
                <a:round/>
                <a:headEnd type="none" w="med" len="med"/>
                <a:tailEnd type="none" w="med" len="med"/>
              </a:ln>
            </p:spPr>
          </p:sp>
          <p:sp>
            <p:nvSpPr>
              <p:cNvPr id="57354" name="直接连接符 81930"/>
              <p:cNvSpPr/>
              <p:nvPr/>
            </p:nvSpPr>
            <p:spPr>
              <a:xfrm>
                <a:off x="521" y="1933"/>
                <a:ext cx="2223" cy="2223"/>
              </a:xfrm>
              <a:prstGeom prst="line">
                <a:avLst/>
              </a:prstGeom>
              <a:ln w="9525" cap="flat" cmpd="sng">
                <a:solidFill>
                  <a:schemeClr val="tx1"/>
                </a:solidFill>
                <a:prstDash val="solid"/>
                <a:round/>
                <a:headEnd type="none" w="med" len="med"/>
                <a:tailEnd type="none" w="med" len="med"/>
              </a:ln>
            </p:spPr>
          </p:sp>
          <p:sp>
            <p:nvSpPr>
              <p:cNvPr id="57355" name="直接连接符 81931"/>
              <p:cNvSpPr/>
              <p:nvPr/>
            </p:nvSpPr>
            <p:spPr>
              <a:xfrm>
                <a:off x="1338" y="1933"/>
                <a:ext cx="1406" cy="1406"/>
              </a:xfrm>
              <a:prstGeom prst="line">
                <a:avLst/>
              </a:prstGeom>
              <a:ln w="9525" cap="flat" cmpd="sng">
                <a:solidFill>
                  <a:schemeClr val="tx1"/>
                </a:solidFill>
                <a:prstDash val="solid"/>
                <a:round/>
                <a:headEnd type="none" w="med" len="med"/>
                <a:tailEnd type="none" w="med" len="med"/>
              </a:ln>
            </p:spPr>
          </p:sp>
          <p:sp>
            <p:nvSpPr>
              <p:cNvPr id="57356" name="直接连接符 81932"/>
              <p:cNvSpPr/>
              <p:nvPr/>
            </p:nvSpPr>
            <p:spPr>
              <a:xfrm>
                <a:off x="2154" y="1933"/>
                <a:ext cx="590" cy="590"/>
              </a:xfrm>
              <a:prstGeom prst="line">
                <a:avLst/>
              </a:prstGeom>
              <a:ln w="9525" cap="flat" cmpd="sng">
                <a:solidFill>
                  <a:schemeClr val="tx1"/>
                </a:solidFill>
                <a:prstDash val="solid"/>
                <a:round/>
                <a:headEnd type="none" w="med" len="med"/>
                <a:tailEnd type="none" w="med" len="med"/>
              </a:ln>
            </p:spPr>
          </p:sp>
          <p:sp>
            <p:nvSpPr>
              <p:cNvPr id="57357" name="直接连接符 81933"/>
              <p:cNvSpPr/>
              <p:nvPr/>
            </p:nvSpPr>
            <p:spPr>
              <a:xfrm flipV="1">
                <a:off x="476" y="1933"/>
                <a:ext cx="2223" cy="2223"/>
              </a:xfrm>
              <a:prstGeom prst="line">
                <a:avLst/>
              </a:prstGeom>
              <a:ln w="9525" cap="flat" cmpd="sng">
                <a:solidFill>
                  <a:schemeClr val="tx1"/>
                </a:solidFill>
                <a:prstDash val="solid"/>
                <a:round/>
                <a:headEnd type="none" w="med" len="med"/>
                <a:tailEnd type="none" w="med" len="med"/>
              </a:ln>
            </p:spPr>
          </p:sp>
          <p:sp>
            <p:nvSpPr>
              <p:cNvPr id="57358" name="直接连接符 81934"/>
              <p:cNvSpPr/>
              <p:nvPr/>
            </p:nvSpPr>
            <p:spPr>
              <a:xfrm flipV="1">
                <a:off x="521" y="1979"/>
                <a:ext cx="2223" cy="2222"/>
              </a:xfrm>
              <a:prstGeom prst="line">
                <a:avLst/>
              </a:prstGeom>
              <a:ln w="9525" cap="flat" cmpd="sng">
                <a:solidFill>
                  <a:schemeClr val="tx1"/>
                </a:solidFill>
                <a:prstDash val="solid"/>
                <a:round/>
                <a:headEnd type="none" w="med" len="med"/>
                <a:tailEnd type="none" w="med" len="med"/>
              </a:ln>
            </p:spPr>
          </p:sp>
          <p:sp>
            <p:nvSpPr>
              <p:cNvPr id="57359" name="直接连接符 81935"/>
              <p:cNvSpPr/>
              <p:nvPr/>
            </p:nvSpPr>
            <p:spPr>
              <a:xfrm flipH="1">
                <a:off x="476" y="1933"/>
                <a:ext cx="1406" cy="1406"/>
              </a:xfrm>
              <a:prstGeom prst="line">
                <a:avLst/>
              </a:prstGeom>
              <a:ln w="9525" cap="flat" cmpd="sng">
                <a:solidFill>
                  <a:schemeClr val="tx1"/>
                </a:solidFill>
                <a:prstDash val="solid"/>
                <a:round/>
                <a:headEnd type="none" w="med" len="med"/>
                <a:tailEnd type="none" w="med" len="med"/>
              </a:ln>
            </p:spPr>
          </p:sp>
          <p:sp>
            <p:nvSpPr>
              <p:cNvPr id="57360" name="直接连接符 81936"/>
              <p:cNvSpPr/>
              <p:nvPr/>
            </p:nvSpPr>
            <p:spPr>
              <a:xfrm flipH="1">
                <a:off x="521" y="1979"/>
                <a:ext cx="1406" cy="1406"/>
              </a:xfrm>
              <a:prstGeom prst="line">
                <a:avLst/>
              </a:prstGeom>
              <a:ln w="9525" cap="flat" cmpd="sng">
                <a:solidFill>
                  <a:schemeClr val="tx1"/>
                </a:solidFill>
                <a:prstDash val="solid"/>
                <a:round/>
                <a:headEnd type="none" w="med" len="med"/>
                <a:tailEnd type="none" w="med" len="med"/>
              </a:ln>
            </p:spPr>
          </p:sp>
          <p:sp>
            <p:nvSpPr>
              <p:cNvPr id="57361" name="直接连接符 81937"/>
              <p:cNvSpPr/>
              <p:nvPr/>
            </p:nvSpPr>
            <p:spPr>
              <a:xfrm>
                <a:off x="1292" y="1979"/>
                <a:ext cx="1406" cy="1406"/>
              </a:xfrm>
              <a:prstGeom prst="line">
                <a:avLst/>
              </a:prstGeom>
              <a:ln w="9525" cap="flat" cmpd="sng">
                <a:solidFill>
                  <a:schemeClr val="tx1"/>
                </a:solidFill>
                <a:prstDash val="solid"/>
                <a:round/>
                <a:headEnd type="none" w="med" len="med"/>
                <a:tailEnd type="none" w="med" len="med"/>
              </a:ln>
            </p:spPr>
          </p:sp>
          <p:sp>
            <p:nvSpPr>
              <p:cNvPr id="57362" name="直接连接符 81938"/>
              <p:cNvSpPr/>
              <p:nvPr/>
            </p:nvSpPr>
            <p:spPr>
              <a:xfrm>
                <a:off x="522" y="2749"/>
                <a:ext cx="1406" cy="1406"/>
              </a:xfrm>
              <a:prstGeom prst="line">
                <a:avLst/>
              </a:prstGeom>
              <a:ln w="9525" cap="flat" cmpd="sng">
                <a:solidFill>
                  <a:schemeClr val="tx1"/>
                </a:solidFill>
                <a:prstDash val="solid"/>
                <a:round/>
                <a:headEnd type="none" w="med" len="med"/>
                <a:tailEnd type="none" w="med" len="med"/>
              </a:ln>
            </p:spPr>
          </p:sp>
          <p:sp>
            <p:nvSpPr>
              <p:cNvPr id="57363" name="直接连接符 81939"/>
              <p:cNvSpPr/>
              <p:nvPr/>
            </p:nvSpPr>
            <p:spPr>
              <a:xfrm>
                <a:off x="476" y="2795"/>
                <a:ext cx="1406" cy="1406"/>
              </a:xfrm>
              <a:prstGeom prst="line">
                <a:avLst/>
              </a:prstGeom>
              <a:ln w="9525" cap="flat" cmpd="sng">
                <a:solidFill>
                  <a:schemeClr val="tx1"/>
                </a:solidFill>
                <a:prstDash val="solid"/>
                <a:round/>
                <a:headEnd type="none" w="med" len="med"/>
                <a:tailEnd type="none" w="med" len="med"/>
              </a:ln>
            </p:spPr>
          </p:sp>
          <p:sp>
            <p:nvSpPr>
              <p:cNvPr id="57364" name="直接连接符 81940"/>
              <p:cNvSpPr/>
              <p:nvPr/>
            </p:nvSpPr>
            <p:spPr>
              <a:xfrm>
                <a:off x="2109" y="1979"/>
                <a:ext cx="590" cy="589"/>
              </a:xfrm>
              <a:prstGeom prst="line">
                <a:avLst/>
              </a:prstGeom>
              <a:ln w="9525" cap="flat" cmpd="sng">
                <a:solidFill>
                  <a:schemeClr val="tx1"/>
                </a:solidFill>
                <a:prstDash val="solid"/>
                <a:round/>
                <a:headEnd type="none" w="med" len="med"/>
                <a:tailEnd type="none" w="med" len="med"/>
              </a:ln>
            </p:spPr>
          </p:sp>
          <p:sp>
            <p:nvSpPr>
              <p:cNvPr id="57365" name="直接连接符 81941"/>
              <p:cNvSpPr/>
              <p:nvPr/>
            </p:nvSpPr>
            <p:spPr>
              <a:xfrm>
                <a:off x="521" y="3566"/>
                <a:ext cx="590" cy="590"/>
              </a:xfrm>
              <a:prstGeom prst="line">
                <a:avLst/>
              </a:prstGeom>
              <a:ln w="9525" cap="flat" cmpd="sng">
                <a:solidFill>
                  <a:schemeClr val="tx1"/>
                </a:solidFill>
                <a:prstDash val="solid"/>
                <a:round/>
                <a:headEnd type="none" w="med" len="med"/>
                <a:tailEnd type="none" w="med" len="med"/>
              </a:ln>
            </p:spPr>
          </p:sp>
          <p:sp>
            <p:nvSpPr>
              <p:cNvPr id="57366" name="直接连接符 81942"/>
              <p:cNvSpPr/>
              <p:nvPr/>
            </p:nvSpPr>
            <p:spPr>
              <a:xfrm>
                <a:off x="476" y="3612"/>
                <a:ext cx="590" cy="589"/>
              </a:xfrm>
              <a:prstGeom prst="line">
                <a:avLst/>
              </a:prstGeom>
              <a:ln w="9525" cap="flat" cmpd="sng">
                <a:solidFill>
                  <a:schemeClr val="tx1"/>
                </a:solidFill>
                <a:prstDash val="solid"/>
                <a:round/>
                <a:headEnd type="none" w="med" len="med"/>
                <a:tailEnd type="none" w="med" len="med"/>
              </a:ln>
            </p:spPr>
          </p:sp>
          <p:sp>
            <p:nvSpPr>
              <p:cNvPr id="57367" name="直接连接符 81943"/>
              <p:cNvSpPr/>
              <p:nvPr/>
            </p:nvSpPr>
            <p:spPr>
              <a:xfrm flipH="1">
                <a:off x="1293" y="2750"/>
                <a:ext cx="1406" cy="1406"/>
              </a:xfrm>
              <a:prstGeom prst="line">
                <a:avLst/>
              </a:prstGeom>
              <a:ln w="9525" cap="flat" cmpd="sng">
                <a:solidFill>
                  <a:schemeClr val="tx1"/>
                </a:solidFill>
                <a:prstDash val="solid"/>
                <a:round/>
                <a:headEnd type="none" w="med" len="med"/>
                <a:tailEnd type="none" w="med" len="med"/>
              </a:ln>
            </p:spPr>
          </p:sp>
          <p:sp>
            <p:nvSpPr>
              <p:cNvPr id="57368" name="直接连接符 81944"/>
              <p:cNvSpPr/>
              <p:nvPr/>
            </p:nvSpPr>
            <p:spPr>
              <a:xfrm flipH="1">
                <a:off x="1338" y="2796"/>
                <a:ext cx="1406" cy="1406"/>
              </a:xfrm>
              <a:prstGeom prst="line">
                <a:avLst/>
              </a:prstGeom>
              <a:ln w="9525" cap="flat" cmpd="sng">
                <a:solidFill>
                  <a:schemeClr val="tx1"/>
                </a:solidFill>
                <a:prstDash val="solid"/>
                <a:round/>
                <a:headEnd type="none" w="med" len="med"/>
                <a:tailEnd type="none" w="med" len="med"/>
              </a:ln>
            </p:spPr>
          </p:sp>
          <p:sp>
            <p:nvSpPr>
              <p:cNvPr id="57369" name="直接连接符 81945"/>
              <p:cNvSpPr/>
              <p:nvPr/>
            </p:nvSpPr>
            <p:spPr>
              <a:xfrm flipV="1">
                <a:off x="476" y="1933"/>
                <a:ext cx="635" cy="635"/>
              </a:xfrm>
              <a:prstGeom prst="line">
                <a:avLst/>
              </a:prstGeom>
              <a:ln w="9525" cap="flat" cmpd="sng">
                <a:solidFill>
                  <a:schemeClr val="tx1"/>
                </a:solidFill>
                <a:prstDash val="solid"/>
                <a:round/>
                <a:headEnd type="none" w="med" len="med"/>
                <a:tailEnd type="none" w="med" len="med"/>
              </a:ln>
            </p:spPr>
          </p:sp>
          <p:sp>
            <p:nvSpPr>
              <p:cNvPr id="57370" name="直接连接符 81946"/>
              <p:cNvSpPr/>
              <p:nvPr/>
            </p:nvSpPr>
            <p:spPr>
              <a:xfrm flipV="1">
                <a:off x="521" y="1979"/>
                <a:ext cx="635" cy="635"/>
              </a:xfrm>
              <a:prstGeom prst="line">
                <a:avLst/>
              </a:prstGeom>
              <a:ln w="9525" cap="flat" cmpd="sng">
                <a:solidFill>
                  <a:schemeClr val="tx1"/>
                </a:solidFill>
                <a:prstDash val="solid"/>
                <a:round/>
                <a:headEnd type="none" w="med" len="med"/>
                <a:tailEnd type="none" w="med" len="med"/>
              </a:ln>
            </p:spPr>
          </p:sp>
          <p:sp>
            <p:nvSpPr>
              <p:cNvPr id="57371" name="直接连接符 81947"/>
              <p:cNvSpPr/>
              <p:nvPr/>
            </p:nvSpPr>
            <p:spPr>
              <a:xfrm flipV="1">
                <a:off x="2064" y="3520"/>
                <a:ext cx="635" cy="635"/>
              </a:xfrm>
              <a:prstGeom prst="line">
                <a:avLst/>
              </a:prstGeom>
              <a:ln w="9525" cap="flat" cmpd="sng">
                <a:solidFill>
                  <a:schemeClr val="tx1"/>
                </a:solidFill>
                <a:prstDash val="solid"/>
                <a:round/>
                <a:headEnd type="none" w="med" len="med"/>
                <a:tailEnd type="none" w="med" len="med"/>
              </a:ln>
            </p:spPr>
          </p:sp>
          <p:sp>
            <p:nvSpPr>
              <p:cNvPr id="57372" name="直接连接符 81948"/>
              <p:cNvSpPr/>
              <p:nvPr/>
            </p:nvSpPr>
            <p:spPr>
              <a:xfrm flipV="1">
                <a:off x="2109" y="3566"/>
                <a:ext cx="635" cy="635"/>
              </a:xfrm>
              <a:prstGeom prst="line">
                <a:avLst/>
              </a:prstGeom>
              <a:ln w="9525" cap="flat" cmpd="sng">
                <a:solidFill>
                  <a:schemeClr val="tx1"/>
                </a:solidFill>
                <a:prstDash val="solid"/>
                <a:round/>
                <a:headEnd type="none" w="med" len="med"/>
                <a:tailEnd type="none" w="med" len="med"/>
              </a:ln>
            </p:spPr>
          </p:sp>
          <p:sp>
            <p:nvSpPr>
              <p:cNvPr id="57373" name="椭圆 81949"/>
              <p:cNvSpPr/>
              <p:nvPr/>
            </p:nvSpPr>
            <p:spPr>
              <a:xfrm>
                <a:off x="703" y="2160"/>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74" name="椭圆 81950"/>
              <p:cNvSpPr/>
              <p:nvPr/>
            </p:nvSpPr>
            <p:spPr>
              <a:xfrm>
                <a:off x="694" y="2967"/>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75" name="椭圆 81951"/>
              <p:cNvSpPr/>
              <p:nvPr/>
            </p:nvSpPr>
            <p:spPr>
              <a:xfrm>
                <a:off x="694" y="3774"/>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76" name="椭圆 81952"/>
              <p:cNvSpPr/>
              <p:nvPr/>
            </p:nvSpPr>
            <p:spPr>
              <a:xfrm>
                <a:off x="1501" y="2151"/>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77" name="椭圆 81953"/>
              <p:cNvSpPr/>
              <p:nvPr/>
            </p:nvSpPr>
            <p:spPr>
              <a:xfrm>
                <a:off x="1492" y="2958"/>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78" name="椭圆 81954"/>
              <p:cNvSpPr/>
              <p:nvPr/>
            </p:nvSpPr>
            <p:spPr>
              <a:xfrm>
                <a:off x="1492" y="3765"/>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79" name="椭圆 81955"/>
              <p:cNvSpPr/>
              <p:nvPr/>
            </p:nvSpPr>
            <p:spPr>
              <a:xfrm>
                <a:off x="2299" y="2160"/>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80" name="椭圆 81956"/>
              <p:cNvSpPr/>
              <p:nvPr/>
            </p:nvSpPr>
            <p:spPr>
              <a:xfrm>
                <a:off x="2290" y="2967"/>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81" name="椭圆 81957"/>
              <p:cNvSpPr/>
              <p:nvPr/>
            </p:nvSpPr>
            <p:spPr>
              <a:xfrm>
                <a:off x="2290" y="3774"/>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82" name="椭圆 81958"/>
              <p:cNvSpPr/>
              <p:nvPr/>
            </p:nvSpPr>
            <p:spPr>
              <a:xfrm>
                <a:off x="1093" y="2540"/>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83" name="椭圆 81959"/>
              <p:cNvSpPr/>
              <p:nvPr/>
            </p:nvSpPr>
            <p:spPr>
              <a:xfrm>
                <a:off x="1084" y="3358"/>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84" name="椭圆 81960"/>
              <p:cNvSpPr/>
              <p:nvPr/>
            </p:nvSpPr>
            <p:spPr>
              <a:xfrm>
                <a:off x="1918" y="2550"/>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sp>
            <p:nvSpPr>
              <p:cNvPr id="57385" name="椭圆 81961"/>
              <p:cNvSpPr/>
              <p:nvPr/>
            </p:nvSpPr>
            <p:spPr>
              <a:xfrm>
                <a:off x="1909" y="3368"/>
                <a:ext cx="227" cy="227"/>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a:r>
                  <a:rPr lang="en-US" altLang="zh-CN">
                    <a:latin typeface="Times New Roman" panose="02020603050405020304" pitchFamily="18" charset="0"/>
                    <a:ea typeface="宋体" panose="02010600030101010101" pitchFamily="2" charset="-122"/>
                  </a:rPr>
                  <a:t>Si</a:t>
                </a:r>
              </a:p>
            </p:txBody>
          </p:sp>
        </p:grpSp>
        <p:sp>
          <p:nvSpPr>
            <p:cNvPr id="57386" name="椭圆 81962"/>
            <p:cNvSpPr/>
            <p:nvPr/>
          </p:nvSpPr>
          <p:spPr>
            <a:xfrm>
              <a:off x="1792" y="2161"/>
              <a:ext cx="91" cy="90"/>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zh-CN" altLang="en-US" dirty="0">
                  <a:solidFill>
                    <a:srgbClr val="FF0000"/>
                  </a:solidFill>
                  <a:latin typeface="Times New Roman" panose="02020603050405020304" pitchFamily="18" charset="0"/>
                  <a:ea typeface="宋体" panose="02010600030101010101" pitchFamily="2" charset="-122"/>
                </a:rPr>
                <a:t>－</a:t>
              </a:r>
            </a:p>
          </p:txBody>
        </p:sp>
        <p:sp>
          <p:nvSpPr>
            <p:cNvPr id="57387" name="椭圆 81963"/>
            <p:cNvSpPr/>
            <p:nvPr/>
          </p:nvSpPr>
          <p:spPr>
            <a:xfrm>
              <a:off x="1021" y="2750"/>
              <a:ext cx="91" cy="90"/>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en-US" altLang="zh-CN">
                  <a:solidFill>
                    <a:srgbClr val="FF0000"/>
                  </a:solidFill>
                  <a:latin typeface="Times New Roman" panose="02020603050405020304" pitchFamily="18" charset="0"/>
                  <a:ea typeface="宋体" panose="02010600030101010101" pitchFamily="2" charset="-122"/>
                </a:rPr>
                <a:t>+</a:t>
              </a:r>
            </a:p>
          </p:txBody>
        </p:sp>
      </p:grpSp>
      <p:grpSp>
        <p:nvGrpSpPr>
          <p:cNvPr id="57388" name="组合 81964"/>
          <p:cNvGrpSpPr/>
          <p:nvPr/>
        </p:nvGrpSpPr>
        <p:grpSpPr>
          <a:xfrm>
            <a:off x="4500563" y="2925763"/>
            <a:ext cx="3960812" cy="3455987"/>
            <a:chOff x="2835" y="1117"/>
            <a:chExt cx="2495" cy="2177"/>
          </a:xfrm>
        </p:grpSpPr>
        <p:sp>
          <p:nvSpPr>
            <p:cNvPr id="57389" name="矩形 81965"/>
            <p:cNvSpPr/>
            <p:nvPr/>
          </p:nvSpPr>
          <p:spPr>
            <a:xfrm>
              <a:off x="2835" y="1117"/>
              <a:ext cx="2495" cy="2177"/>
            </a:xfrm>
            <a:prstGeom prst="rect">
              <a:avLst/>
            </a:prstGeom>
            <a:solidFill>
              <a:schemeClr val="accent2"/>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57390" name="矩形 81966"/>
            <p:cNvSpPr/>
            <p:nvPr/>
          </p:nvSpPr>
          <p:spPr>
            <a:xfrm>
              <a:off x="3098" y="1208"/>
              <a:ext cx="1905" cy="635"/>
            </a:xfrm>
            <a:prstGeom prst="rect">
              <a:avLst/>
            </a:prstGeom>
            <a:pattFill prst="dkHorz">
              <a:fgClr>
                <a:schemeClr val="accent1"/>
              </a:fgClr>
              <a:bgClr>
                <a:schemeClr val="bg1"/>
              </a:bgClr>
            </a:pattFill>
            <a:ln w="9525">
              <a:noFill/>
            </a:ln>
          </p:spPr>
          <p:txBody>
            <a:bodyPr wrap="none" anchor="ctr" anchorCtr="0"/>
            <a:lstStyle/>
            <a:p>
              <a:pPr algn="ctr"/>
              <a:r>
                <a:rPr lang="zh-CN" altLang="en-US" b="1" dirty="0">
                  <a:latin typeface="Times New Roman" panose="02020603050405020304" pitchFamily="18" charset="0"/>
                  <a:ea typeface="宋体" panose="02010600030101010101" pitchFamily="2" charset="-122"/>
                </a:rPr>
                <a:t>导带</a:t>
              </a:r>
            </a:p>
          </p:txBody>
        </p:sp>
        <p:sp>
          <p:nvSpPr>
            <p:cNvPr id="57391" name="矩形 81967"/>
            <p:cNvSpPr/>
            <p:nvPr/>
          </p:nvSpPr>
          <p:spPr>
            <a:xfrm>
              <a:off x="3098" y="2569"/>
              <a:ext cx="1905" cy="635"/>
            </a:xfrm>
            <a:prstGeom prst="rect">
              <a:avLst/>
            </a:prstGeom>
            <a:pattFill prst="ltHorz">
              <a:fgClr>
                <a:schemeClr val="accent1"/>
              </a:fgClr>
              <a:bgClr>
                <a:schemeClr val="bg1"/>
              </a:bgClr>
            </a:pattFill>
            <a:ln w="9525">
              <a:noFill/>
            </a:ln>
          </p:spPr>
          <p:txBody>
            <a:bodyPr wrap="none" anchor="ctr" anchorCtr="0"/>
            <a:lstStyle/>
            <a:p>
              <a:pPr algn="ctr"/>
              <a:r>
                <a:rPr lang="zh-CN" altLang="en-US" b="1" dirty="0">
                  <a:latin typeface="Times New Roman" panose="02020603050405020304" pitchFamily="18" charset="0"/>
                  <a:ea typeface="宋体" panose="02010600030101010101" pitchFamily="2" charset="-122"/>
                </a:rPr>
                <a:t>价带</a:t>
              </a:r>
            </a:p>
          </p:txBody>
        </p:sp>
        <p:sp>
          <p:nvSpPr>
            <p:cNvPr id="57392" name="文本框 81968"/>
            <p:cNvSpPr txBox="1"/>
            <p:nvPr/>
          </p:nvSpPr>
          <p:spPr>
            <a:xfrm>
              <a:off x="4141" y="2115"/>
              <a:ext cx="303" cy="250"/>
            </a:xfrm>
            <a:prstGeom prst="rect">
              <a:avLst/>
            </a:prstGeom>
            <a:noFill/>
            <a:ln w="9525">
              <a:noFill/>
            </a:ln>
          </p:spPr>
          <p:txBody>
            <a:bodyPr wrap="none" anchor="t" anchorCtr="0">
              <a:spAutoFit/>
            </a:bodyPr>
            <a:lstStyle/>
            <a:p>
              <a:r>
                <a:rPr lang="en-US" altLang="zh-CN" sz="2000" b="1" err="1">
                  <a:latin typeface="Times New Roman" panose="02020603050405020304" pitchFamily="18" charset="0"/>
                  <a:ea typeface="宋体" panose="02010600030101010101" pitchFamily="2" charset="-122"/>
                </a:rPr>
                <a:t>Eg</a:t>
              </a:r>
              <a:endParaRPr lang="en-US" altLang="zh-CN" sz="2000" b="1">
                <a:latin typeface="Times New Roman" panose="02020603050405020304" pitchFamily="18" charset="0"/>
                <a:ea typeface="宋体" panose="02010600030101010101" pitchFamily="2" charset="-122"/>
              </a:endParaRPr>
            </a:p>
          </p:txBody>
        </p:sp>
        <p:sp>
          <p:nvSpPr>
            <p:cNvPr id="57393" name="文本框 81969"/>
            <p:cNvSpPr txBox="1"/>
            <p:nvPr/>
          </p:nvSpPr>
          <p:spPr>
            <a:xfrm>
              <a:off x="5013" y="1638"/>
              <a:ext cx="285" cy="250"/>
            </a:xfrm>
            <a:prstGeom prst="rect">
              <a:avLst/>
            </a:prstGeom>
            <a:noFill/>
            <a:ln w="9525">
              <a:noFill/>
            </a:ln>
          </p:spPr>
          <p:txBody>
            <a:bodyPr wrap="none" anchor="t" anchorCtr="0">
              <a:spAutoFit/>
            </a:bodyPr>
            <a:lstStyle/>
            <a:p>
              <a:r>
                <a:rPr lang="en-US" altLang="zh-CN" sz="2000" err="1">
                  <a:solidFill>
                    <a:srgbClr val="A50021"/>
                  </a:solidFill>
                  <a:latin typeface="Times New Roman" panose="02020603050405020304" pitchFamily="18" charset="0"/>
                  <a:ea typeface="宋体" panose="02010600030101010101" pitchFamily="2" charset="-122"/>
                </a:rPr>
                <a:t>Ec</a:t>
              </a:r>
              <a:endParaRPr lang="en-US" altLang="zh-CN" sz="2000">
                <a:solidFill>
                  <a:srgbClr val="A50021"/>
                </a:solidFill>
                <a:latin typeface="Times New Roman" panose="02020603050405020304" pitchFamily="18" charset="0"/>
                <a:ea typeface="宋体" panose="02010600030101010101" pitchFamily="2" charset="-122"/>
              </a:endParaRPr>
            </a:p>
          </p:txBody>
        </p:sp>
        <p:sp>
          <p:nvSpPr>
            <p:cNvPr id="57394" name="文本框 81970"/>
            <p:cNvSpPr txBox="1"/>
            <p:nvPr/>
          </p:nvSpPr>
          <p:spPr>
            <a:xfrm>
              <a:off x="5013" y="2455"/>
              <a:ext cx="294" cy="250"/>
            </a:xfrm>
            <a:prstGeom prst="rect">
              <a:avLst/>
            </a:prstGeom>
            <a:noFill/>
            <a:ln w="9525">
              <a:noFill/>
            </a:ln>
          </p:spPr>
          <p:txBody>
            <a:bodyPr wrap="none" anchor="t" anchorCtr="0">
              <a:spAutoFit/>
            </a:bodyPr>
            <a:lstStyle/>
            <a:p>
              <a:r>
                <a:rPr lang="en-US" altLang="zh-CN" sz="2000" err="1">
                  <a:solidFill>
                    <a:srgbClr val="A50021"/>
                  </a:solidFill>
                  <a:latin typeface="Times New Roman" panose="02020603050405020304" pitchFamily="18" charset="0"/>
                  <a:ea typeface="宋体" panose="02010600030101010101" pitchFamily="2" charset="-122"/>
                </a:rPr>
                <a:t>Ev</a:t>
              </a:r>
              <a:endParaRPr lang="en-US" altLang="zh-CN" sz="2000">
                <a:solidFill>
                  <a:srgbClr val="A50021"/>
                </a:solidFill>
                <a:latin typeface="Times New Roman" panose="02020603050405020304" pitchFamily="18" charset="0"/>
                <a:ea typeface="宋体" panose="02010600030101010101" pitchFamily="2" charset="-122"/>
              </a:endParaRPr>
            </a:p>
          </p:txBody>
        </p:sp>
        <p:sp>
          <p:nvSpPr>
            <p:cNvPr id="57395" name="直接连接符 81971"/>
            <p:cNvSpPr/>
            <p:nvPr/>
          </p:nvSpPr>
          <p:spPr>
            <a:xfrm>
              <a:off x="4151" y="1843"/>
              <a:ext cx="0" cy="726"/>
            </a:xfrm>
            <a:prstGeom prst="line">
              <a:avLst/>
            </a:prstGeom>
            <a:ln w="9525" cap="flat" cmpd="sng">
              <a:solidFill>
                <a:schemeClr val="tx1"/>
              </a:solidFill>
              <a:prstDash val="solid"/>
              <a:round/>
              <a:headEnd type="triangle" w="med" len="med"/>
              <a:tailEnd type="triangle" w="med" len="med"/>
            </a:ln>
          </p:spPr>
        </p:sp>
        <p:sp>
          <p:nvSpPr>
            <p:cNvPr id="57396" name="椭圆 81972"/>
            <p:cNvSpPr/>
            <p:nvPr/>
          </p:nvSpPr>
          <p:spPr>
            <a:xfrm>
              <a:off x="4468" y="2523"/>
              <a:ext cx="91" cy="90"/>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en-US" altLang="zh-CN">
                  <a:solidFill>
                    <a:srgbClr val="FF0000"/>
                  </a:solidFill>
                  <a:latin typeface="Times New Roman" panose="02020603050405020304" pitchFamily="18" charset="0"/>
                  <a:ea typeface="宋体" panose="02010600030101010101" pitchFamily="2" charset="-122"/>
                </a:rPr>
                <a:t>+</a:t>
              </a:r>
            </a:p>
          </p:txBody>
        </p:sp>
        <p:sp>
          <p:nvSpPr>
            <p:cNvPr id="57397" name="椭圆 81973"/>
            <p:cNvSpPr/>
            <p:nvPr/>
          </p:nvSpPr>
          <p:spPr>
            <a:xfrm>
              <a:off x="4604" y="2569"/>
              <a:ext cx="91" cy="90"/>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en-US" altLang="zh-CN">
                  <a:solidFill>
                    <a:srgbClr val="FF0000"/>
                  </a:solidFill>
                  <a:latin typeface="Times New Roman" panose="02020603050405020304" pitchFamily="18" charset="0"/>
                  <a:ea typeface="宋体" panose="02010600030101010101" pitchFamily="2" charset="-122"/>
                </a:rPr>
                <a:t>+</a:t>
              </a:r>
            </a:p>
          </p:txBody>
        </p:sp>
        <p:sp>
          <p:nvSpPr>
            <p:cNvPr id="57398" name="椭圆 81974"/>
            <p:cNvSpPr/>
            <p:nvPr/>
          </p:nvSpPr>
          <p:spPr>
            <a:xfrm>
              <a:off x="4740" y="2523"/>
              <a:ext cx="91" cy="90"/>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en-US" altLang="zh-CN">
                  <a:solidFill>
                    <a:srgbClr val="FF0000"/>
                  </a:solidFill>
                  <a:latin typeface="Times New Roman" panose="02020603050405020304" pitchFamily="18" charset="0"/>
                  <a:ea typeface="宋体" panose="02010600030101010101" pitchFamily="2" charset="-122"/>
                </a:rPr>
                <a:t>+</a:t>
              </a:r>
            </a:p>
          </p:txBody>
        </p:sp>
        <p:sp>
          <p:nvSpPr>
            <p:cNvPr id="57399" name="椭圆 81975"/>
            <p:cNvSpPr/>
            <p:nvPr/>
          </p:nvSpPr>
          <p:spPr>
            <a:xfrm>
              <a:off x="4876" y="2569"/>
              <a:ext cx="91" cy="90"/>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en-US" altLang="zh-CN">
                  <a:solidFill>
                    <a:srgbClr val="FF0000"/>
                  </a:solidFill>
                  <a:latin typeface="Times New Roman" panose="02020603050405020304" pitchFamily="18" charset="0"/>
                  <a:ea typeface="宋体" panose="02010600030101010101" pitchFamily="2" charset="-122"/>
                </a:rPr>
                <a:t>+</a:t>
              </a:r>
            </a:p>
          </p:txBody>
        </p:sp>
        <p:sp>
          <p:nvSpPr>
            <p:cNvPr id="57400" name="椭圆 81976"/>
            <p:cNvSpPr/>
            <p:nvPr/>
          </p:nvSpPr>
          <p:spPr>
            <a:xfrm>
              <a:off x="4468" y="1752"/>
              <a:ext cx="91" cy="90"/>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zh-CN" altLang="en-US" dirty="0">
                  <a:solidFill>
                    <a:srgbClr val="FF0000"/>
                  </a:solidFill>
                  <a:latin typeface="Times New Roman" panose="02020603050405020304" pitchFamily="18" charset="0"/>
                  <a:ea typeface="宋体" panose="02010600030101010101" pitchFamily="2" charset="-122"/>
                </a:rPr>
                <a:t>－</a:t>
              </a:r>
            </a:p>
          </p:txBody>
        </p:sp>
        <p:sp>
          <p:nvSpPr>
            <p:cNvPr id="57401" name="椭圆 81977"/>
            <p:cNvSpPr/>
            <p:nvPr/>
          </p:nvSpPr>
          <p:spPr>
            <a:xfrm>
              <a:off x="4604" y="1798"/>
              <a:ext cx="91" cy="90"/>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zh-CN" altLang="en-US" dirty="0">
                  <a:solidFill>
                    <a:srgbClr val="FF0000"/>
                  </a:solidFill>
                  <a:latin typeface="Times New Roman" panose="02020603050405020304" pitchFamily="18" charset="0"/>
                  <a:ea typeface="宋体" panose="02010600030101010101" pitchFamily="2" charset="-122"/>
                </a:rPr>
                <a:t>－</a:t>
              </a:r>
            </a:p>
          </p:txBody>
        </p:sp>
        <p:sp>
          <p:nvSpPr>
            <p:cNvPr id="57402" name="椭圆 81978"/>
            <p:cNvSpPr/>
            <p:nvPr/>
          </p:nvSpPr>
          <p:spPr>
            <a:xfrm>
              <a:off x="4740" y="1752"/>
              <a:ext cx="91" cy="90"/>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zh-CN" altLang="en-US" dirty="0">
                  <a:solidFill>
                    <a:srgbClr val="FF0000"/>
                  </a:solidFill>
                  <a:latin typeface="Times New Roman" panose="02020603050405020304" pitchFamily="18" charset="0"/>
                  <a:ea typeface="宋体" panose="02010600030101010101" pitchFamily="2" charset="-122"/>
                </a:rPr>
                <a:t>－</a:t>
              </a:r>
            </a:p>
          </p:txBody>
        </p:sp>
        <p:sp>
          <p:nvSpPr>
            <p:cNvPr id="57403" name="椭圆 81979"/>
            <p:cNvSpPr/>
            <p:nvPr/>
          </p:nvSpPr>
          <p:spPr>
            <a:xfrm>
              <a:off x="4876" y="1798"/>
              <a:ext cx="91" cy="90"/>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zh-CN" altLang="en-US" dirty="0">
                  <a:solidFill>
                    <a:srgbClr val="FF0000"/>
                  </a:solidFill>
                  <a:latin typeface="Times New Roman" panose="02020603050405020304" pitchFamily="18" charset="0"/>
                  <a:ea typeface="宋体" panose="02010600030101010101" pitchFamily="2" charset="-122"/>
                </a:rPr>
                <a:t>－</a:t>
              </a:r>
            </a:p>
          </p:txBody>
        </p:sp>
      </p:grpSp>
      <p:sp>
        <p:nvSpPr>
          <p:cNvPr id="57404" name="下箭头 81982"/>
          <p:cNvSpPr/>
          <p:nvPr/>
        </p:nvSpPr>
        <p:spPr>
          <a:xfrm>
            <a:off x="1619250" y="1484313"/>
            <a:ext cx="287338" cy="504825"/>
          </a:xfrm>
          <a:prstGeom prst="downArrow">
            <a:avLst>
              <a:gd name="adj1" fmla="val 50000"/>
              <a:gd name="adj2" fmla="val 43914"/>
            </a:avLst>
          </a:prstGeom>
          <a:solidFill>
            <a:schemeClr val="accent1"/>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57405" name="文本框 81983"/>
          <p:cNvSpPr txBox="1"/>
          <p:nvPr/>
        </p:nvSpPr>
        <p:spPr>
          <a:xfrm>
            <a:off x="684213" y="1484313"/>
            <a:ext cx="898525" cy="519112"/>
          </a:xfrm>
          <a:prstGeom prst="rect">
            <a:avLst/>
          </a:prstGeom>
          <a:noFill/>
          <a:ln w="9525">
            <a:noFill/>
          </a:ln>
        </p:spPr>
        <p:txBody>
          <a:bodyPr wrap="none" anchor="t" anchorCtr="0">
            <a:spAutoFit/>
          </a:bodyPr>
          <a:lstStyle/>
          <a:p>
            <a:r>
              <a:rPr lang="zh-CN" altLang="en-US" sz="2800" b="1" dirty="0">
                <a:solidFill>
                  <a:srgbClr val="A50021"/>
                </a:solidFill>
                <a:latin typeface="Times New Roman" panose="02020603050405020304" pitchFamily="18" charset="0"/>
                <a:ea typeface="宋体" panose="02010600030101010101" pitchFamily="2" charset="-122"/>
              </a:rPr>
              <a:t>激发</a:t>
            </a:r>
          </a:p>
        </p:txBody>
      </p:sp>
      <p:sp>
        <p:nvSpPr>
          <p:cNvPr id="57406" name="椭圆 81984"/>
          <p:cNvSpPr/>
          <p:nvPr/>
        </p:nvSpPr>
        <p:spPr>
          <a:xfrm>
            <a:off x="6948488" y="4797425"/>
            <a:ext cx="1008062" cy="863600"/>
          </a:xfrm>
          <a:prstGeom prst="ellipse">
            <a:avLst/>
          </a:prstGeom>
          <a:noFill/>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57407" name="文本框 81985"/>
          <p:cNvSpPr txBox="1"/>
          <p:nvPr/>
        </p:nvSpPr>
        <p:spPr>
          <a:xfrm>
            <a:off x="7092950" y="5229225"/>
            <a:ext cx="796925" cy="823913"/>
          </a:xfrm>
          <a:prstGeom prst="rect">
            <a:avLst/>
          </a:prstGeom>
          <a:noFill/>
          <a:ln w="9525">
            <a:noFill/>
          </a:ln>
        </p:spPr>
        <p:txBody>
          <a:bodyPr wrap="none" anchor="t" anchorCtr="0">
            <a:spAutoFit/>
          </a:bodyPr>
          <a:lstStyle/>
          <a:p>
            <a:r>
              <a:rPr lang="zh-CN" altLang="en-US" sz="4800" b="1" i="1" dirty="0">
                <a:solidFill>
                  <a:srgbClr val="A50021"/>
                </a:solidFill>
                <a:latin typeface="Times New Roman" panose="02020603050405020304" pitchFamily="18" charset="0"/>
                <a:ea typeface="宋体" panose="02010600030101010101" pitchFamily="2" charset="-122"/>
              </a:rPr>
              <a:t>？</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直接连接符 134147"/>
          <p:cNvSpPr/>
          <p:nvPr/>
        </p:nvSpPr>
        <p:spPr>
          <a:xfrm>
            <a:off x="539750" y="1989138"/>
            <a:ext cx="2303463" cy="0"/>
          </a:xfrm>
          <a:prstGeom prst="line">
            <a:avLst/>
          </a:prstGeom>
          <a:ln w="9525" cap="flat" cmpd="sng">
            <a:solidFill>
              <a:schemeClr val="tx1"/>
            </a:solidFill>
            <a:prstDash val="solid"/>
            <a:round/>
            <a:headEnd type="none" w="med" len="med"/>
            <a:tailEnd type="triangle" w="med" len="med"/>
          </a:ln>
        </p:spPr>
      </p:sp>
      <p:sp>
        <p:nvSpPr>
          <p:cNvPr id="58370" name="直接连接符 134148"/>
          <p:cNvSpPr/>
          <p:nvPr/>
        </p:nvSpPr>
        <p:spPr>
          <a:xfrm flipV="1">
            <a:off x="1692275" y="620713"/>
            <a:ext cx="0" cy="1584325"/>
          </a:xfrm>
          <a:prstGeom prst="line">
            <a:avLst/>
          </a:prstGeom>
          <a:ln w="9525" cap="flat" cmpd="sng">
            <a:solidFill>
              <a:schemeClr val="tx1"/>
            </a:solidFill>
            <a:prstDash val="solid"/>
            <a:round/>
            <a:headEnd type="none" w="med" len="med"/>
            <a:tailEnd type="triangle" w="med" len="med"/>
          </a:ln>
        </p:spPr>
      </p:sp>
      <p:sp>
        <p:nvSpPr>
          <p:cNvPr id="58371" name="任意多边形 134149"/>
          <p:cNvSpPr/>
          <p:nvPr/>
        </p:nvSpPr>
        <p:spPr>
          <a:xfrm>
            <a:off x="688975" y="1219200"/>
            <a:ext cx="2001838" cy="769938"/>
          </a:xfrm>
          <a:custGeom>
            <a:avLst/>
            <a:gdLst/>
            <a:ahLst/>
            <a:cxnLst/>
            <a:rect l="0" t="0" r="0" b="0"/>
            <a:pathLst>
              <a:path w="1261" h="485">
                <a:moveTo>
                  <a:pt x="0" y="0"/>
                </a:moveTo>
                <a:cubicBezTo>
                  <a:pt x="37" y="15"/>
                  <a:pt x="155" y="58"/>
                  <a:pt x="219" y="101"/>
                </a:cubicBezTo>
                <a:cubicBezTo>
                  <a:pt x="283" y="144"/>
                  <a:pt x="338" y="203"/>
                  <a:pt x="384" y="256"/>
                </a:cubicBezTo>
                <a:cubicBezTo>
                  <a:pt x="430" y="309"/>
                  <a:pt x="452" y="383"/>
                  <a:pt x="493" y="421"/>
                </a:cubicBezTo>
                <a:cubicBezTo>
                  <a:pt x="534" y="459"/>
                  <a:pt x="588" y="485"/>
                  <a:pt x="632" y="485"/>
                </a:cubicBezTo>
                <a:cubicBezTo>
                  <a:pt x="676" y="485"/>
                  <a:pt x="697" y="485"/>
                  <a:pt x="758" y="421"/>
                </a:cubicBezTo>
                <a:cubicBezTo>
                  <a:pt x="819" y="357"/>
                  <a:pt x="912" y="171"/>
                  <a:pt x="996" y="101"/>
                </a:cubicBezTo>
                <a:cubicBezTo>
                  <a:pt x="1080" y="31"/>
                  <a:pt x="1206" y="21"/>
                  <a:pt x="1261" y="0"/>
                </a:cubicBezTo>
              </a:path>
            </a:pathLst>
          </a:custGeom>
          <a:noFill/>
          <a:ln w="50800" cap="flat" cmpd="sng">
            <a:solidFill>
              <a:schemeClr val="hlink"/>
            </a:solidFill>
            <a:prstDash val="sysDot"/>
            <a:round/>
            <a:headEnd type="none" w="med" len="med"/>
            <a:tailEnd type="none" w="med" len="med"/>
          </a:ln>
        </p:spPr>
        <p:txBody>
          <a:bodyPr/>
          <a:lstStyle/>
          <a:p>
            <a:endParaRPr lang="zh-CN" altLang="en-US"/>
          </a:p>
        </p:txBody>
      </p:sp>
      <p:sp>
        <p:nvSpPr>
          <p:cNvPr id="58372" name="直接连接符 134153"/>
          <p:cNvSpPr/>
          <p:nvPr/>
        </p:nvSpPr>
        <p:spPr>
          <a:xfrm>
            <a:off x="539750" y="3500438"/>
            <a:ext cx="2303463" cy="0"/>
          </a:xfrm>
          <a:prstGeom prst="line">
            <a:avLst/>
          </a:prstGeom>
          <a:ln w="9525" cap="flat" cmpd="sng">
            <a:solidFill>
              <a:schemeClr val="tx1"/>
            </a:solidFill>
            <a:prstDash val="solid"/>
            <a:round/>
            <a:headEnd type="none" w="med" len="med"/>
            <a:tailEnd type="triangle" w="med" len="med"/>
          </a:ln>
        </p:spPr>
      </p:sp>
      <p:sp>
        <p:nvSpPr>
          <p:cNvPr id="58373" name="直接连接符 134154"/>
          <p:cNvSpPr/>
          <p:nvPr/>
        </p:nvSpPr>
        <p:spPr>
          <a:xfrm flipV="1">
            <a:off x="1692275" y="2276475"/>
            <a:ext cx="0" cy="1512888"/>
          </a:xfrm>
          <a:prstGeom prst="line">
            <a:avLst/>
          </a:prstGeom>
          <a:ln w="9525" cap="flat" cmpd="sng">
            <a:solidFill>
              <a:schemeClr val="tx1"/>
            </a:solidFill>
            <a:prstDash val="solid"/>
            <a:round/>
            <a:headEnd type="none" w="med" len="med"/>
            <a:tailEnd type="triangle" w="med" len="med"/>
          </a:ln>
        </p:spPr>
      </p:sp>
      <p:sp>
        <p:nvSpPr>
          <p:cNvPr id="58374" name="任意多边形 134155"/>
          <p:cNvSpPr/>
          <p:nvPr/>
        </p:nvSpPr>
        <p:spPr>
          <a:xfrm>
            <a:off x="688975" y="2730500"/>
            <a:ext cx="2001838" cy="769938"/>
          </a:xfrm>
          <a:custGeom>
            <a:avLst/>
            <a:gdLst/>
            <a:ahLst/>
            <a:cxnLst/>
            <a:rect l="0" t="0" r="0" b="0"/>
            <a:pathLst>
              <a:path w="1261" h="485">
                <a:moveTo>
                  <a:pt x="0" y="0"/>
                </a:moveTo>
                <a:cubicBezTo>
                  <a:pt x="37" y="15"/>
                  <a:pt x="155" y="58"/>
                  <a:pt x="219" y="101"/>
                </a:cubicBezTo>
                <a:cubicBezTo>
                  <a:pt x="283" y="144"/>
                  <a:pt x="338" y="203"/>
                  <a:pt x="384" y="256"/>
                </a:cubicBezTo>
                <a:cubicBezTo>
                  <a:pt x="430" y="309"/>
                  <a:pt x="452" y="383"/>
                  <a:pt x="493" y="421"/>
                </a:cubicBezTo>
                <a:cubicBezTo>
                  <a:pt x="534" y="459"/>
                  <a:pt x="588" y="485"/>
                  <a:pt x="632" y="485"/>
                </a:cubicBezTo>
                <a:cubicBezTo>
                  <a:pt x="676" y="485"/>
                  <a:pt x="697" y="485"/>
                  <a:pt x="758" y="421"/>
                </a:cubicBezTo>
                <a:cubicBezTo>
                  <a:pt x="819" y="357"/>
                  <a:pt x="912" y="171"/>
                  <a:pt x="996" y="101"/>
                </a:cubicBezTo>
                <a:cubicBezTo>
                  <a:pt x="1080" y="31"/>
                  <a:pt x="1206" y="21"/>
                  <a:pt x="1261" y="0"/>
                </a:cubicBezTo>
              </a:path>
            </a:pathLst>
          </a:custGeom>
          <a:noFill/>
          <a:ln w="50800" cap="flat" cmpd="sng">
            <a:solidFill>
              <a:schemeClr val="hlink"/>
            </a:solidFill>
            <a:prstDash val="sysDot"/>
            <a:round/>
            <a:headEnd type="none" w="med" len="med"/>
            <a:tailEnd type="none" w="med" len="med"/>
          </a:ln>
        </p:spPr>
        <p:txBody>
          <a:bodyPr/>
          <a:lstStyle/>
          <a:p>
            <a:endParaRPr lang="zh-CN" altLang="en-US"/>
          </a:p>
        </p:txBody>
      </p:sp>
      <p:sp>
        <p:nvSpPr>
          <p:cNvPr id="58375" name="直接连接符 134158"/>
          <p:cNvSpPr/>
          <p:nvPr/>
        </p:nvSpPr>
        <p:spPr>
          <a:xfrm>
            <a:off x="539750" y="5229225"/>
            <a:ext cx="2303463" cy="0"/>
          </a:xfrm>
          <a:prstGeom prst="line">
            <a:avLst/>
          </a:prstGeom>
          <a:ln w="9525" cap="flat" cmpd="sng">
            <a:solidFill>
              <a:schemeClr val="tx1"/>
            </a:solidFill>
            <a:prstDash val="solid"/>
            <a:round/>
            <a:headEnd type="none" w="med" len="med"/>
            <a:tailEnd type="triangle" w="med" len="med"/>
          </a:ln>
        </p:spPr>
      </p:sp>
      <p:sp>
        <p:nvSpPr>
          <p:cNvPr id="58376" name="直接连接符 134159"/>
          <p:cNvSpPr/>
          <p:nvPr/>
        </p:nvSpPr>
        <p:spPr>
          <a:xfrm flipV="1">
            <a:off x="1692275" y="3860800"/>
            <a:ext cx="0" cy="1584325"/>
          </a:xfrm>
          <a:prstGeom prst="line">
            <a:avLst/>
          </a:prstGeom>
          <a:ln w="9525" cap="flat" cmpd="sng">
            <a:solidFill>
              <a:schemeClr val="tx1"/>
            </a:solidFill>
            <a:prstDash val="solid"/>
            <a:round/>
            <a:headEnd type="none" w="med" len="med"/>
            <a:tailEnd type="triangle" w="med" len="med"/>
          </a:ln>
        </p:spPr>
      </p:sp>
      <p:sp>
        <p:nvSpPr>
          <p:cNvPr id="58377" name="任意多边形 134160"/>
          <p:cNvSpPr/>
          <p:nvPr/>
        </p:nvSpPr>
        <p:spPr>
          <a:xfrm>
            <a:off x="688975" y="4459288"/>
            <a:ext cx="2001838" cy="769937"/>
          </a:xfrm>
          <a:custGeom>
            <a:avLst/>
            <a:gdLst/>
            <a:ahLst/>
            <a:cxnLst/>
            <a:rect l="0" t="0" r="0" b="0"/>
            <a:pathLst>
              <a:path w="1261" h="485">
                <a:moveTo>
                  <a:pt x="0" y="0"/>
                </a:moveTo>
                <a:cubicBezTo>
                  <a:pt x="37" y="15"/>
                  <a:pt x="155" y="58"/>
                  <a:pt x="219" y="101"/>
                </a:cubicBezTo>
                <a:cubicBezTo>
                  <a:pt x="283" y="144"/>
                  <a:pt x="338" y="203"/>
                  <a:pt x="384" y="256"/>
                </a:cubicBezTo>
                <a:cubicBezTo>
                  <a:pt x="430" y="309"/>
                  <a:pt x="452" y="383"/>
                  <a:pt x="493" y="421"/>
                </a:cubicBezTo>
                <a:cubicBezTo>
                  <a:pt x="534" y="459"/>
                  <a:pt x="588" y="485"/>
                  <a:pt x="632" y="485"/>
                </a:cubicBezTo>
                <a:cubicBezTo>
                  <a:pt x="676" y="485"/>
                  <a:pt x="697" y="485"/>
                  <a:pt x="758" y="421"/>
                </a:cubicBezTo>
                <a:cubicBezTo>
                  <a:pt x="819" y="357"/>
                  <a:pt x="912" y="171"/>
                  <a:pt x="996" y="101"/>
                </a:cubicBezTo>
                <a:cubicBezTo>
                  <a:pt x="1080" y="31"/>
                  <a:pt x="1206" y="21"/>
                  <a:pt x="1261" y="0"/>
                </a:cubicBezTo>
              </a:path>
            </a:pathLst>
          </a:custGeom>
          <a:noFill/>
          <a:ln w="50800" cap="flat" cmpd="sng">
            <a:solidFill>
              <a:schemeClr val="hlink"/>
            </a:solidFill>
            <a:prstDash val="sysDot"/>
            <a:round/>
            <a:headEnd type="none" w="med" len="med"/>
            <a:tailEnd type="none" w="med" len="med"/>
          </a:ln>
        </p:spPr>
        <p:txBody>
          <a:bodyPr/>
          <a:lstStyle/>
          <a:p>
            <a:endParaRPr lang="zh-CN" altLang="en-US"/>
          </a:p>
        </p:txBody>
      </p:sp>
      <p:sp>
        <p:nvSpPr>
          <p:cNvPr id="58378" name="直接连接符 134163"/>
          <p:cNvSpPr/>
          <p:nvPr/>
        </p:nvSpPr>
        <p:spPr>
          <a:xfrm>
            <a:off x="5087938" y="1989138"/>
            <a:ext cx="2303462" cy="0"/>
          </a:xfrm>
          <a:prstGeom prst="line">
            <a:avLst/>
          </a:prstGeom>
          <a:ln w="9525" cap="flat" cmpd="sng">
            <a:solidFill>
              <a:schemeClr val="tx1"/>
            </a:solidFill>
            <a:prstDash val="solid"/>
            <a:round/>
            <a:headEnd type="none" w="med" len="med"/>
            <a:tailEnd type="triangle" w="med" len="med"/>
          </a:ln>
        </p:spPr>
      </p:sp>
      <p:sp>
        <p:nvSpPr>
          <p:cNvPr id="58379" name="直接连接符 134164"/>
          <p:cNvSpPr/>
          <p:nvPr/>
        </p:nvSpPr>
        <p:spPr>
          <a:xfrm flipV="1">
            <a:off x="6240463" y="620713"/>
            <a:ext cx="0" cy="1584325"/>
          </a:xfrm>
          <a:prstGeom prst="line">
            <a:avLst/>
          </a:prstGeom>
          <a:ln w="9525" cap="flat" cmpd="sng">
            <a:solidFill>
              <a:schemeClr val="tx1"/>
            </a:solidFill>
            <a:prstDash val="solid"/>
            <a:round/>
            <a:headEnd type="none" w="med" len="med"/>
            <a:tailEnd type="triangle" w="med" len="med"/>
          </a:ln>
        </p:spPr>
      </p:sp>
      <p:sp>
        <p:nvSpPr>
          <p:cNvPr id="58380" name="任意多边形 134165"/>
          <p:cNvSpPr/>
          <p:nvPr/>
        </p:nvSpPr>
        <p:spPr>
          <a:xfrm>
            <a:off x="5237163" y="1219200"/>
            <a:ext cx="2001837" cy="769938"/>
          </a:xfrm>
          <a:custGeom>
            <a:avLst/>
            <a:gdLst/>
            <a:ahLst/>
            <a:cxnLst/>
            <a:rect l="0" t="0" r="0" b="0"/>
            <a:pathLst>
              <a:path w="1261" h="485">
                <a:moveTo>
                  <a:pt x="0" y="0"/>
                </a:moveTo>
                <a:cubicBezTo>
                  <a:pt x="37" y="15"/>
                  <a:pt x="155" y="58"/>
                  <a:pt x="219" y="101"/>
                </a:cubicBezTo>
                <a:cubicBezTo>
                  <a:pt x="283" y="144"/>
                  <a:pt x="338" y="203"/>
                  <a:pt x="384" y="256"/>
                </a:cubicBezTo>
                <a:cubicBezTo>
                  <a:pt x="430" y="309"/>
                  <a:pt x="452" y="383"/>
                  <a:pt x="493" y="421"/>
                </a:cubicBezTo>
                <a:cubicBezTo>
                  <a:pt x="534" y="459"/>
                  <a:pt x="588" y="485"/>
                  <a:pt x="632" y="485"/>
                </a:cubicBezTo>
                <a:cubicBezTo>
                  <a:pt x="676" y="485"/>
                  <a:pt x="697" y="485"/>
                  <a:pt x="758" y="421"/>
                </a:cubicBezTo>
                <a:cubicBezTo>
                  <a:pt x="819" y="357"/>
                  <a:pt x="912" y="171"/>
                  <a:pt x="996" y="101"/>
                </a:cubicBezTo>
                <a:cubicBezTo>
                  <a:pt x="1080" y="31"/>
                  <a:pt x="1206" y="21"/>
                  <a:pt x="1261" y="0"/>
                </a:cubicBezTo>
              </a:path>
            </a:pathLst>
          </a:custGeom>
          <a:noFill/>
          <a:ln w="50800" cap="flat" cmpd="sng">
            <a:solidFill>
              <a:schemeClr val="hlink"/>
            </a:solidFill>
            <a:prstDash val="sysDot"/>
            <a:round/>
            <a:headEnd type="none" w="med" len="med"/>
            <a:tailEnd type="none" w="med" len="med"/>
          </a:ln>
        </p:spPr>
        <p:txBody>
          <a:bodyPr/>
          <a:lstStyle/>
          <a:p>
            <a:endParaRPr lang="zh-CN" altLang="en-US"/>
          </a:p>
        </p:txBody>
      </p:sp>
      <p:sp>
        <p:nvSpPr>
          <p:cNvPr id="58381" name="椭圆 134166"/>
          <p:cNvSpPr/>
          <p:nvPr/>
        </p:nvSpPr>
        <p:spPr>
          <a:xfrm>
            <a:off x="7175500" y="1125538"/>
            <a:ext cx="144463" cy="142875"/>
          </a:xfrm>
          <a:prstGeom prst="ellipse">
            <a:avLst/>
          </a:prstGeom>
          <a:solidFill>
            <a:srgbClr val="FF0000"/>
          </a:solidFill>
          <a:ln w="9525" cap="flat" cmpd="sng">
            <a:solidFill>
              <a:schemeClr val="tx1"/>
            </a:solidFill>
            <a:prstDash val="solid"/>
            <a:round/>
            <a:headEnd type="none" w="med" len="med"/>
            <a:tailEnd type="none" w="med" len="med"/>
          </a:ln>
        </p:spPr>
        <p:txBody>
          <a:bodyPr wrap="none" anchor="ctr" anchorCtr="0"/>
          <a:lstStyle/>
          <a:p>
            <a:pPr algn="ctr"/>
            <a:endParaRPr lang="zh-CN" dirty="0">
              <a:latin typeface="Times New Roman" panose="02020603050405020304" pitchFamily="18" charset="0"/>
              <a:ea typeface="宋体" panose="02010600030101010101" pitchFamily="2" charset="-122"/>
            </a:endParaRPr>
          </a:p>
        </p:txBody>
      </p:sp>
      <p:sp>
        <p:nvSpPr>
          <p:cNvPr id="58382" name="文本框 134167"/>
          <p:cNvSpPr txBox="1"/>
          <p:nvPr/>
        </p:nvSpPr>
        <p:spPr>
          <a:xfrm>
            <a:off x="7175500" y="908050"/>
            <a:ext cx="3492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A</a:t>
            </a:r>
          </a:p>
        </p:txBody>
      </p:sp>
      <p:sp>
        <p:nvSpPr>
          <p:cNvPr id="58383" name="直接连接符 134168"/>
          <p:cNvSpPr/>
          <p:nvPr/>
        </p:nvSpPr>
        <p:spPr>
          <a:xfrm>
            <a:off x="5087938" y="3500438"/>
            <a:ext cx="2303462" cy="0"/>
          </a:xfrm>
          <a:prstGeom prst="line">
            <a:avLst/>
          </a:prstGeom>
          <a:ln w="9525" cap="flat" cmpd="sng">
            <a:solidFill>
              <a:schemeClr val="tx1"/>
            </a:solidFill>
            <a:prstDash val="solid"/>
            <a:round/>
            <a:headEnd type="none" w="med" len="med"/>
            <a:tailEnd type="triangle" w="med" len="med"/>
          </a:ln>
        </p:spPr>
      </p:sp>
      <p:sp>
        <p:nvSpPr>
          <p:cNvPr id="58384" name="直接连接符 134169"/>
          <p:cNvSpPr/>
          <p:nvPr/>
        </p:nvSpPr>
        <p:spPr>
          <a:xfrm flipV="1">
            <a:off x="6240463" y="2276475"/>
            <a:ext cx="0" cy="1512888"/>
          </a:xfrm>
          <a:prstGeom prst="line">
            <a:avLst/>
          </a:prstGeom>
          <a:ln w="9525" cap="flat" cmpd="sng">
            <a:solidFill>
              <a:schemeClr val="tx1"/>
            </a:solidFill>
            <a:prstDash val="solid"/>
            <a:round/>
            <a:headEnd type="none" w="med" len="med"/>
            <a:tailEnd type="triangle" w="med" len="med"/>
          </a:ln>
        </p:spPr>
      </p:sp>
      <p:sp>
        <p:nvSpPr>
          <p:cNvPr id="58385" name="任意多边形 134170"/>
          <p:cNvSpPr/>
          <p:nvPr/>
        </p:nvSpPr>
        <p:spPr>
          <a:xfrm>
            <a:off x="5237163" y="2730500"/>
            <a:ext cx="2001837" cy="769938"/>
          </a:xfrm>
          <a:custGeom>
            <a:avLst/>
            <a:gdLst/>
            <a:ahLst/>
            <a:cxnLst/>
            <a:rect l="0" t="0" r="0" b="0"/>
            <a:pathLst>
              <a:path w="1261" h="485">
                <a:moveTo>
                  <a:pt x="0" y="0"/>
                </a:moveTo>
                <a:cubicBezTo>
                  <a:pt x="37" y="15"/>
                  <a:pt x="155" y="58"/>
                  <a:pt x="219" y="101"/>
                </a:cubicBezTo>
                <a:cubicBezTo>
                  <a:pt x="283" y="144"/>
                  <a:pt x="338" y="203"/>
                  <a:pt x="384" y="256"/>
                </a:cubicBezTo>
                <a:cubicBezTo>
                  <a:pt x="430" y="309"/>
                  <a:pt x="452" y="383"/>
                  <a:pt x="493" y="421"/>
                </a:cubicBezTo>
                <a:cubicBezTo>
                  <a:pt x="534" y="459"/>
                  <a:pt x="588" y="485"/>
                  <a:pt x="632" y="485"/>
                </a:cubicBezTo>
                <a:cubicBezTo>
                  <a:pt x="676" y="485"/>
                  <a:pt x="697" y="485"/>
                  <a:pt x="758" y="421"/>
                </a:cubicBezTo>
                <a:cubicBezTo>
                  <a:pt x="819" y="357"/>
                  <a:pt x="912" y="171"/>
                  <a:pt x="996" y="101"/>
                </a:cubicBezTo>
                <a:cubicBezTo>
                  <a:pt x="1080" y="31"/>
                  <a:pt x="1206" y="21"/>
                  <a:pt x="1261" y="0"/>
                </a:cubicBezTo>
              </a:path>
            </a:pathLst>
          </a:custGeom>
          <a:noFill/>
          <a:ln w="50800" cap="flat" cmpd="sng">
            <a:solidFill>
              <a:schemeClr val="hlink"/>
            </a:solidFill>
            <a:prstDash val="sysDot"/>
            <a:round/>
            <a:headEnd type="none" w="med" len="med"/>
            <a:tailEnd type="none" w="med" len="med"/>
          </a:ln>
        </p:spPr>
        <p:txBody>
          <a:bodyPr/>
          <a:lstStyle/>
          <a:p>
            <a:endParaRPr lang="zh-CN" altLang="en-US"/>
          </a:p>
        </p:txBody>
      </p:sp>
      <p:sp>
        <p:nvSpPr>
          <p:cNvPr id="58386" name="椭圆 134171"/>
          <p:cNvSpPr/>
          <p:nvPr/>
        </p:nvSpPr>
        <p:spPr>
          <a:xfrm>
            <a:off x="6961188" y="2708275"/>
            <a:ext cx="146050" cy="144463"/>
          </a:xfrm>
          <a:prstGeom prst="ellipse">
            <a:avLst/>
          </a:prstGeom>
          <a:solidFill>
            <a:srgbClr val="FF0000"/>
          </a:solidFill>
          <a:ln w="9525" cap="flat" cmpd="sng">
            <a:solidFill>
              <a:schemeClr val="tx1"/>
            </a:solidFill>
            <a:prstDash val="solid"/>
            <a:round/>
            <a:headEnd type="none" w="med" len="med"/>
            <a:tailEnd type="none" w="med" len="med"/>
          </a:ln>
        </p:spPr>
        <p:txBody>
          <a:bodyPr wrap="none" anchor="ctr" anchorCtr="0"/>
          <a:lstStyle/>
          <a:p>
            <a:pPr algn="ctr"/>
            <a:endParaRPr lang="zh-CN" dirty="0">
              <a:latin typeface="Times New Roman" panose="02020603050405020304" pitchFamily="18" charset="0"/>
              <a:ea typeface="宋体" panose="02010600030101010101" pitchFamily="2" charset="-122"/>
            </a:endParaRPr>
          </a:p>
        </p:txBody>
      </p:sp>
      <p:sp>
        <p:nvSpPr>
          <p:cNvPr id="58387" name="文本框 134172"/>
          <p:cNvSpPr txBox="1"/>
          <p:nvPr/>
        </p:nvSpPr>
        <p:spPr>
          <a:xfrm>
            <a:off x="6743700" y="2349500"/>
            <a:ext cx="3492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A</a:t>
            </a:r>
          </a:p>
        </p:txBody>
      </p:sp>
      <p:sp>
        <p:nvSpPr>
          <p:cNvPr id="58388" name="直接连接符 134173"/>
          <p:cNvSpPr/>
          <p:nvPr/>
        </p:nvSpPr>
        <p:spPr>
          <a:xfrm>
            <a:off x="5087938" y="5229225"/>
            <a:ext cx="2303462" cy="0"/>
          </a:xfrm>
          <a:prstGeom prst="line">
            <a:avLst/>
          </a:prstGeom>
          <a:ln w="9525" cap="flat" cmpd="sng">
            <a:solidFill>
              <a:schemeClr val="tx1"/>
            </a:solidFill>
            <a:prstDash val="solid"/>
            <a:round/>
            <a:headEnd type="none" w="med" len="med"/>
            <a:tailEnd type="triangle" w="med" len="med"/>
          </a:ln>
        </p:spPr>
      </p:sp>
      <p:sp>
        <p:nvSpPr>
          <p:cNvPr id="58389" name="直接连接符 134174"/>
          <p:cNvSpPr/>
          <p:nvPr/>
        </p:nvSpPr>
        <p:spPr>
          <a:xfrm flipV="1">
            <a:off x="6240463" y="3860800"/>
            <a:ext cx="0" cy="1584325"/>
          </a:xfrm>
          <a:prstGeom prst="line">
            <a:avLst/>
          </a:prstGeom>
          <a:ln w="9525" cap="flat" cmpd="sng">
            <a:solidFill>
              <a:schemeClr val="tx1"/>
            </a:solidFill>
            <a:prstDash val="solid"/>
            <a:round/>
            <a:headEnd type="none" w="med" len="med"/>
            <a:tailEnd type="triangle" w="med" len="med"/>
          </a:ln>
        </p:spPr>
      </p:sp>
      <p:sp>
        <p:nvSpPr>
          <p:cNvPr id="58390" name="任意多边形 134175"/>
          <p:cNvSpPr/>
          <p:nvPr/>
        </p:nvSpPr>
        <p:spPr>
          <a:xfrm>
            <a:off x="5237163" y="4459288"/>
            <a:ext cx="2001837" cy="769937"/>
          </a:xfrm>
          <a:custGeom>
            <a:avLst/>
            <a:gdLst/>
            <a:ahLst/>
            <a:cxnLst/>
            <a:rect l="0" t="0" r="0" b="0"/>
            <a:pathLst>
              <a:path w="1261" h="485">
                <a:moveTo>
                  <a:pt x="0" y="0"/>
                </a:moveTo>
                <a:cubicBezTo>
                  <a:pt x="37" y="15"/>
                  <a:pt x="155" y="58"/>
                  <a:pt x="219" y="101"/>
                </a:cubicBezTo>
                <a:cubicBezTo>
                  <a:pt x="283" y="144"/>
                  <a:pt x="338" y="203"/>
                  <a:pt x="384" y="256"/>
                </a:cubicBezTo>
                <a:cubicBezTo>
                  <a:pt x="430" y="309"/>
                  <a:pt x="452" y="383"/>
                  <a:pt x="493" y="421"/>
                </a:cubicBezTo>
                <a:cubicBezTo>
                  <a:pt x="534" y="459"/>
                  <a:pt x="588" y="485"/>
                  <a:pt x="632" y="485"/>
                </a:cubicBezTo>
                <a:cubicBezTo>
                  <a:pt x="676" y="485"/>
                  <a:pt x="697" y="485"/>
                  <a:pt x="758" y="421"/>
                </a:cubicBezTo>
                <a:cubicBezTo>
                  <a:pt x="819" y="357"/>
                  <a:pt x="912" y="171"/>
                  <a:pt x="996" y="101"/>
                </a:cubicBezTo>
                <a:cubicBezTo>
                  <a:pt x="1080" y="31"/>
                  <a:pt x="1206" y="21"/>
                  <a:pt x="1261" y="0"/>
                </a:cubicBezTo>
              </a:path>
            </a:pathLst>
          </a:custGeom>
          <a:noFill/>
          <a:ln w="50800" cap="flat" cmpd="sng">
            <a:solidFill>
              <a:schemeClr val="hlink"/>
            </a:solidFill>
            <a:prstDash val="sysDot"/>
            <a:round/>
            <a:headEnd type="none" w="med" len="med"/>
            <a:tailEnd type="none" w="med" len="med"/>
          </a:ln>
        </p:spPr>
        <p:txBody>
          <a:bodyPr/>
          <a:lstStyle/>
          <a:p>
            <a:endParaRPr lang="zh-CN" altLang="en-US"/>
          </a:p>
        </p:txBody>
      </p:sp>
      <p:sp>
        <p:nvSpPr>
          <p:cNvPr id="58391" name="椭圆 134176"/>
          <p:cNvSpPr/>
          <p:nvPr/>
        </p:nvSpPr>
        <p:spPr>
          <a:xfrm>
            <a:off x="6888163" y="4437063"/>
            <a:ext cx="144462" cy="144462"/>
          </a:xfrm>
          <a:prstGeom prst="ellipse">
            <a:avLst/>
          </a:prstGeom>
          <a:solidFill>
            <a:srgbClr val="FF0000"/>
          </a:solidFill>
          <a:ln w="9525" cap="flat" cmpd="sng">
            <a:solidFill>
              <a:schemeClr val="tx1"/>
            </a:solidFill>
            <a:prstDash val="solid"/>
            <a:round/>
            <a:headEnd type="none" w="med" len="med"/>
            <a:tailEnd type="none" w="med" len="med"/>
          </a:ln>
        </p:spPr>
        <p:txBody>
          <a:bodyPr wrap="none" anchor="ctr" anchorCtr="0"/>
          <a:lstStyle/>
          <a:p>
            <a:pPr algn="ctr"/>
            <a:endParaRPr lang="zh-CN" dirty="0">
              <a:latin typeface="Times New Roman" panose="02020603050405020304" pitchFamily="18" charset="0"/>
              <a:ea typeface="宋体" panose="02010600030101010101" pitchFamily="2" charset="-122"/>
            </a:endParaRPr>
          </a:p>
        </p:txBody>
      </p:sp>
      <p:sp>
        <p:nvSpPr>
          <p:cNvPr id="58392" name="文本框 134177"/>
          <p:cNvSpPr txBox="1"/>
          <p:nvPr/>
        </p:nvSpPr>
        <p:spPr>
          <a:xfrm>
            <a:off x="6672263" y="4076700"/>
            <a:ext cx="3492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A</a:t>
            </a:r>
          </a:p>
        </p:txBody>
      </p:sp>
      <p:sp>
        <p:nvSpPr>
          <p:cNvPr id="58393" name="直接连接符 134178"/>
          <p:cNvSpPr/>
          <p:nvPr/>
        </p:nvSpPr>
        <p:spPr>
          <a:xfrm>
            <a:off x="5087938" y="476250"/>
            <a:ext cx="1223962" cy="0"/>
          </a:xfrm>
          <a:prstGeom prst="line">
            <a:avLst/>
          </a:prstGeom>
          <a:ln w="38100" cap="flat" cmpd="sng">
            <a:solidFill>
              <a:srgbClr val="A50021"/>
            </a:solidFill>
            <a:prstDash val="solid"/>
            <a:round/>
            <a:headEnd type="none" w="med" len="med"/>
            <a:tailEnd type="triangle" w="med" len="med"/>
          </a:ln>
        </p:spPr>
      </p:sp>
      <p:sp>
        <p:nvSpPr>
          <p:cNvPr id="58394" name="文本框 134179"/>
          <p:cNvSpPr txBox="1"/>
          <p:nvPr/>
        </p:nvSpPr>
        <p:spPr>
          <a:xfrm>
            <a:off x="6384925" y="333375"/>
            <a:ext cx="431800" cy="366713"/>
          </a:xfrm>
          <a:prstGeom prst="rect">
            <a:avLst/>
          </a:prstGeom>
          <a:noFill/>
          <a:ln w="9525">
            <a:noFill/>
          </a:ln>
        </p:spPr>
        <p:txBody>
          <a:bodyPr anchor="t" anchorCtr="0">
            <a:spAutoFit/>
          </a:bodyPr>
          <a:lstStyle/>
          <a:p>
            <a:r>
              <a:rPr lang="en-US" altLang="zh-CN" b="1">
                <a:solidFill>
                  <a:srgbClr val="FF0000"/>
                </a:solidFill>
                <a:latin typeface="Times New Roman" panose="02020603050405020304" pitchFamily="18" charset="0"/>
                <a:ea typeface="宋体" panose="02010600030101010101" pitchFamily="2" charset="-122"/>
              </a:rPr>
              <a:t>E</a:t>
            </a:r>
          </a:p>
        </p:txBody>
      </p:sp>
      <p:sp>
        <p:nvSpPr>
          <p:cNvPr id="58395" name="文本框 134180"/>
          <p:cNvSpPr txBox="1"/>
          <p:nvPr/>
        </p:nvSpPr>
        <p:spPr>
          <a:xfrm>
            <a:off x="971550" y="5516563"/>
            <a:ext cx="1327150" cy="366712"/>
          </a:xfrm>
          <a:prstGeom prst="rect">
            <a:avLst/>
          </a:prstGeom>
          <a:noFill/>
          <a:ln w="9525">
            <a:noFill/>
          </a:ln>
        </p:spPr>
        <p:txBody>
          <a:bodyPr wrap="none" anchor="t" anchorCtr="0">
            <a:spAutoFit/>
          </a:bodyPr>
          <a:lstStyle/>
          <a:p>
            <a:r>
              <a:rPr lang="zh-CN" altLang="en-US" dirty="0">
                <a:latin typeface="Times New Roman" panose="02020603050405020304" pitchFamily="18" charset="0"/>
                <a:ea typeface="宋体" panose="02010600030101010101" pitchFamily="2" charset="-122"/>
              </a:rPr>
              <a:t>满带不导电</a:t>
            </a:r>
            <a:endParaRPr lang="zh-CN" altLang="en-US">
              <a:latin typeface="Times New Roman" panose="02020603050405020304" pitchFamily="18" charset="0"/>
              <a:ea typeface="宋体" panose="02010600030101010101" pitchFamily="2" charset="-122"/>
            </a:endParaRPr>
          </a:p>
        </p:txBody>
      </p:sp>
      <p:sp>
        <p:nvSpPr>
          <p:cNvPr id="58396" name="文本框 134181"/>
          <p:cNvSpPr txBox="1"/>
          <p:nvPr/>
        </p:nvSpPr>
        <p:spPr>
          <a:xfrm>
            <a:off x="5946775" y="5516563"/>
            <a:ext cx="869950" cy="366712"/>
          </a:xfrm>
          <a:prstGeom prst="rect">
            <a:avLst/>
          </a:prstGeom>
          <a:noFill/>
          <a:ln w="9525">
            <a:noFill/>
          </a:ln>
        </p:spPr>
        <p:txBody>
          <a:bodyPr wrap="none" anchor="t" anchorCtr="0">
            <a:spAutoFit/>
          </a:bodyPr>
          <a:lstStyle/>
          <a:p>
            <a:r>
              <a:rPr lang="zh-CN" altLang="en-US" dirty="0">
                <a:latin typeface="Times New Roman" panose="02020603050405020304" pitchFamily="18" charset="0"/>
                <a:ea typeface="宋体" panose="02010600030101010101" pitchFamily="2" charset="-122"/>
              </a:rPr>
              <a:t>不满带</a:t>
            </a:r>
          </a:p>
        </p:txBody>
      </p:sp>
      <p:sp>
        <p:nvSpPr>
          <p:cNvPr id="58397" name="文本框 134182"/>
          <p:cNvSpPr txBox="1"/>
          <p:nvPr/>
        </p:nvSpPr>
        <p:spPr>
          <a:xfrm>
            <a:off x="1187450" y="6021388"/>
            <a:ext cx="6408738" cy="519112"/>
          </a:xfrm>
          <a:prstGeom prst="rect">
            <a:avLst/>
          </a:prstGeom>
          <a:noFill/>
          <a:ln w="9525">
            <a:noFill/>
          </a:ln>
        </p:spPr>
        <p:txBody>
          <a:bodyPr anchor="t" anchorCtr="0">
            <a:spAutoFit/>
          </a:bodyPr>
          <a:lstStyle/>
          <a:p>
            <a:r>
              <a:rPr lang="zh-CN" altLang="en-US" sz="2800" b="1" dirty="0">
                <a:latin typeface="Times New Roman" panose="02020603050405020304" pitchFamily="18" charset="0"/>
                <a:ea typeface="宋体" panose="02010600030101010101" pitchFamily="2" charset="-122"/>
              </a:rPr>
              <a:t>空状态在外部电场</a:t>
            </a:r>
            <a:r>
              <a:rPr lang="en-US" altLang="zh-CN" sz="2800" b="1" dirty="0">
                <a:latin typeface="Times New Roman" panose="02020603050405020304" pitchFamily="18" charset="0"/>
                <a:ea typeface="宋体" panose="02010600030101010101" pitchFamily="2" charset="-122"/>
              </a:rPr>
              <a:t>E</a:t>
            </a:r>
            <a:r>
              <a:rPr lang="zh-CN" altLang="en-US" sz="2800" b="1" dirty="0">
                <a:latin typeface="Times New Roman" panose="02020603050405020304" pitchFamily="18" charset="0"/>
                <a:ea typeface="宋体" panose="02010600030101010101" pitchFamily="2" charset="-122"/>
              </a:rPr>
              <a:t>作用下的</a:t>
            </a:r>
            <a:r>
              <a:rPr lang="zh-CN" altLang="en-US" sz="2800" b="1" dirty="0">
                <a:solidFill>
                  <a:srgbClr val="A50021"/>
                </a:solidFill>
                <a:latin typeface="Times New Roman" panose="02020603050405020304" pitchFamily="18" charset="0"/>
                <a:ea typeface="宋体" panose="02010600030101010101" pitchFamily="2" charset="-122"/>
              </a:rPr>
              <a:t>空穴导电</a:t>
            </a:r>
          </a:p>
        </p:txBody>
      </p:sp>
      <p:sp>
        <p:nvSpPr>
          <p:cNvPr id="58398" name="文本框 134183"/>
          <p:cNvSpPr txBox="1"/>
          <p:nvPr/>
        </p:nvSpPr>
        <p:spPr>
          <a:xfrm>
            <a:off x="5087938" y="836613"/>
            <a:ext cx="349250" cy="366712"/>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X</a:t>
            </a:r>
          </a:p>
        </p:txBody>
      </p:sp>
      <p:sp>
        <p:nvSpPr>
          <p:cNvPr id="58399" name="文本框 134184"/>
          <p:cNvSpPr txBox="1"/>
          <p:nvPr/>
        </p:nvSpPr>
        <p:spPr>
          <a:xfrm>
            <a:off x="7043738" y="2349500"/>
            <a:ext cx="3492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X</a:t>
            </a:r>
          </a:p>
        </p:txBody>
      </p:sp>
      <p:sp>
        <p:nvSpPr>
          <p:cNvPr id="58400" name="文本框 134185"/>
          <p:cNvSpPr txBox="1"/>
          <p:nvPr/>
        </p:nvSpPr>
        <p:spPr>
          <a:xfrm>
            <a:off x="6899275" y="4076700"/>
            <a:ext cx="3492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X</a:t>
            </a:r>
          </a:p>
        </p:txBody>
      </p:sp>
      <p:sp>
        <p:nvSpPr>
          <p:cNvPr id="58401" name="文本框 134186"/>
          <p:cNvSpPr txBox="1"/>
          <p:nvPr/>
        </p:nvSpPr>
        <p:spPr>
          <a:xfrm>
            <a:off x="5303838" y="908050"/>
            <a:ext cx="3492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Y</a:t>
            </a:r>
          </a:p>
        </p:txBody>
      </p:sp>
      <p:sp>
        <p:nvSpPr>
          <p:cNvPr id="58402" name="文本框 134187"/>
          <p:cNvSpPr txBox="1"/>
          <p:nvPr/>
        </p:nvSpPr>
        <p:spPr>
          <a:xfrm>
            <a:off x="5087938" y="2341563"/>
            <a:ext cx="349250" cy="366712"/>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Y</a:t>
            </a:r>
          </a:p>
        </p:txBody>
      </p:sp>
      <p:sp>
        <p:nvSpPr>
          <p:cNvPr id="58403" name="文本框 134188"/>
          <p:cNvSpPr txBox="1"/>
          <p:nvPr/>
        </p:nvSpPr>
        <p:spPr>
          <a:xfrm>
            <a:off x="7115175" y="4076700"/>
            <a:ext cx="349250" cy="366713"/>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文本框 84993"/>
          <p:cNvSpPr txBox="1"/>
          <p:nvPr/>
        </p:nvSpPr>
        <p:spPr>
          <a:xfrm>
            <a:off x="827088" y="1844675"/>
            <a:ext cx="7724775" cy="946150"/>
          </a:xfrm>
          <a:prstGeom prst="rect">
            <a:avLst/>
          </a:prstGeom>
          <a:noFill/>
          <a:ln w="9525">
            <a:noFill/>
          </a:ln>
        </p:spPr>
        <p:txBody>
          <a:bodyPr anchor="t" anchorCtr="0">
            <a:spAutoFit/>
          </a:bodyPr>
          <a:lstStyle/>
          <a:p>
            <a:r>
              <a:rPr lang="zh-CN" altLang="en-US" sz="2800" b="1" dirty="0">
                <a:latin typeface="Times New Roman" panose="02020603050405020304" pitchFamily="18" charset="0"/>
                <a:ea typeface="宋体" panose="02010600030101010101" pitchFamily="2" charset="-122"/>
              </a:rPr>
              <a:t>假设价带内失去一个</a:t>
            </a:r>
            <a:r>
              <a:rPr lang="en-US" altLang="zh-CN" sz="2800" b="1" i="1">
                <a:latin typeface="Times New Roman" panose="02020603050405020304" pitchFamily="18" charset="0"/>
                <a:ea typeface="宋体" panose="02010600030101010101" pitchFamily="2" charset="-122"/>
              </a:rPr>
              <a:t>k</a:t>
            </a:r>
            <a:r>
              <a:rPr lang="zh-CN" altLang="en-US" sz="2800" b="1" dirty="0">
                <a:latin typeface="Times New Roman" panose="02020603050405020304" pitchFamily="18" charset="0"/>
                <a:ea typeface="宋体" panose="02010600030101010101" pitchFamily="2" charset="-122"/>
              </a:rPr>
              <a:t>态的电子，而价带中其它能级均有电子占据。</a:t>
            </a:r>
          </a:p>
        </p:txBody>
      </p:sp>
      <p:sp>
        <p:nvSpPr>
          <p:cNvPr id="59394" name="矩形 85000"/>
          <p:cNvSpPr/>
          <p:nvPr/>
        </p:nvSpPr>
        <p:spPr>
          <a:xfrm>
            <a:off x="1116013" y="3429000"/>
            <a:ext cx="7127875" cy="519113"/>
          </a:xfrm>
          <a:prstGeom prst="rect">
            <a:avLst/>
          </a:prstGeom>
          <a:noFill/>
          <a:ln w="9525">
            <a:noFill/>
          </a:ln>
        </p:spPr>
        <p:txBody>
          <a:bodyPr anchor="t" anchorCtr="0">
            <a:spAutoFit/>
          </a:bodyPr>
          <a:lstStyle/>
          <a:p>
            <a:r>
              <a:rPr lang="zh-CN" altLang="en-US" sz="2800" b="1" dirty="0">
                <a:latin typeface="Times New Roman" panose="02020603050405020304" pitchFamily="18" charset="0"/>
                <a:ea typeface="宋体" panose="02010600030101010101" pitchFamily="2" charset="-122"/>
              </a:rPr>
              <a:t>用  </a:t>
            </a:r>
            <a:r>
              <a:rPr lang="en-US" altLang="zh-CN" sz="2800" b="1" i="1">
                <a:latin typeface="Times New Roman" panose="02020603050405020304" pitchFamily="18" charset="0"/>
                <a:ea typeface="宋体" panose="02010600030101010101" pitchFamily="2" charset="-122"/>
              </a:rPr>
              <a:t>J  </a:t>
            </a:r>
            <a:r>
              <a:rPr lang="zh-CN" altLang="en-US" sz="2800" b="1" dirty="0">
                <a:latin typeface="Times New Roman" panose="02020603050405020304" pitchFamily="18" charset="0"/>
                <a:ea typeface="宋体" panose="02010600030101010101" pitchFamily="2" charset="-122"/>
              </a:rPr>
              <a:t>表示该价带空状态引起的电流密度。 </a:t>
            </a:r>
          </a:p>
        </p:txBody>
      </p:sp>
      <p:sp>
        <p:nvSpPr>
          <p:cNvPr id="59395" name="矩形 85004"/>
          <p:cNvSpPr/>
          <p:nvPr/>
        </p:nvSpPr>
        <p:spPr>
          <a:xfrm>
            <a:off x="971550" y="4365625"/>
            <a:ext cx="6983413" cy="946150"/>
          </a:xfrm>
          <a:prstGeom prst="rect">
            <a:avLst/>
          </a:prstGeom>
          <a:noFill/>
          <a:ln w="9525">
            <a:noFill/>
          </a:ln>
        </p:spPr>
        <p:txBody>
          <a:bodyPr anchor="ctr" anchorCtr="0">
            <a:spAutoFit/>
          </a:bodyPr>
          <a:lstStyle/>
          <a:p>
            <a:r>
              <a:rPr lang="zh-CN" altLang="en-US" sz="2800" b="1" dirty="0">
                <a:latin typeface="Times New Roman" panose="02020603050405020304" pitchFamily="18" charset="0"/>
                <a:ea typeface="宋体" panose="02010600030101010101" pitchFamily="2" charset="-122"/>
              </a:rPr>
              <a:t>如果设想有一个电子填充到空的</a:t>
            </a:r>
            <a:r>
              <a:rPr lang="en-US" altLang="zh-CN" sz="2800" b="1" i="1">
                <a:latin typeface="Times New Roman" panose="02020603050405020304" pitchFamily="18" charset="0"/>
                <a:ea typeface="宋体" panose="02010600030101010101" pitchFamily="2" charset="-122"/>
              </a:rPr>
              <a:t>k</a:t>
            </a:r>
            <a:r>
              <a:rPr lang="zh-CN" altLang="en-US" sz="2800" b="1" dirty="0">
                <a:latin typeface="Times New Roman" panose="02020603050405020304" pitchFamily="18" charset="0"/>
                <a:ea typeface="宋体" panose="02010600030101010101" pitchFamily="2" charset="-122"/>
              </a:rPr>
              <a:t>态，这个电子引起的电流密度为（</a:t>
            </a:r>
            <a:r>
              <a:rPr lang="en-US" altLang="zh-CN" sz="2800" b="1" dirty="0">
                <a:latin typeface="Times New Roman" panose="02020603050405020304" pitchFamily="18" charset="0"/>
                <a:ea typeface="宋体" panose="02010600030101010101" pitchFamily="2" charset="-122"/>
              </a:rPr>
              <a:t>-q</a:t>
            </a:r>
            <a:r>
              <a:rPr lang="zh-CN" altLang="en-US" sz="2800" b="1" dirty="0">
                <a:latin typeface="Times New Roman" panose="02020603050405020304" pitchFamily="18" charset="0"/>
                <a:ea typeface="宋体" panose="02010600030101010101" pitchFamily="2" charset="-122"/>
              </a:rPr>
              <a:t>）</a:t>
            </a:r>
            <a:r>
              <a:rPr lang="en-US" altLang="zh-CN" sz="2800" b="1" i="1">
                <a:latin typeface="Times New Roman" panose="02020603050405020304" pitchFamily="18" charset="0"/>
                <a:ea typeface="宋体" panose="02010600030101010101" pitchFamily="2" charset="-122"/>
              </a:rPr>
              <a:t>v</a:t>
            </a:r>
            <a:r>
              <a:rPr lang="zh-CN" altLang="en-US" sz="2800" b="1" dirty="0">
                <a:latin typeface="Times New Roman" panose="02020603050405020304" pitchFamily="18" charset="0"/>
                <a:ea typeface="宋体" panose="02010600030101010101" pitchFamily="2" charset="-122"/>
              </a:rPr>
              <a:t>（</a:t>
            </a:r>
            <a:r>
              <a:rPr lang="en-US" altLang="zh-CN" sz="2800" b="1" i="1">
                <a:latin typeface="Times New Roman" panose="02020603050405020304" pitchFamily="18" charset="0"/>
                <a:ea typeface="宋体" panose="02010600030101010101" pitchFamily="2" charset="-122"/>
              </a:rPr>
              <a:t>k</a:t>
            </a:r>
            <a:r>
              <a:rPr lang="zh-CN" altLang="en-US" sz="2800" b="1" dirty="0">
                <a:latin typeface="Times New Roman" panose="02020603050405020304" pitchFamily="18" charset="0"/>
                <a:ea typeface="宋体" panose="02010600030101010101" pitchFamily="2" charset="-122"/>
              </a:rPr>
              <a:t>）。</a:t>
            </a:r>
          </a:p>
        </p:txBody>
      </p:sp>
      <p:sp>
        <p:nvSpPr>
          <p:cNvPr id="59396" name="矩形 85008"/>
          <p:cNvSpPr/>
          <p:nvPr/>
        </p:nvSpPr>
        <p:spPr>
          <a:xfrm>
            <a:off x="250825" y="836613"/>
            <a:ext cx="5329238" cy="579437"/>
          </a:xfrm>
          <a:prstGeom prst="rect">
            <a:avLst/>
          </a:prstGeom>
          <a:noFill/>
          <a:ln w="9525">
            <a:noFill/>
          </a:ln>
        </p:spPr>
        <p:txBody>
          <a:bodyPr anchor="t" anchorCtr="0">
            <a:spAutoFit/>
          </a:bodyPr>
          <a:lstStyle/>
          <a:p>
            <a:r>
              <a:rPr lang="zh-CN" altLang="en-US" sz="3200" b="1" dirty="0">
                <a:latin typeface="Times New Roman" panose="02020603050405020304" pitchFamily="18" charset="0"/>
                <a:ea typeface="宋体" panose="02010600030101010101" pitchFamily="2" charset="-122"/>
              </a:rPr>
              <a:t>价带内的</a:t>
            </a:r>
            <a:r>
              <a:rPr lang="zh-CN" altLang="en-US" sz="3200" b="1" dirty="0">
                <a:solidFill>
                  <a:srgbClr val="A50021"/>
                </a:solidFill>
                <a:latin typeface="Times New Roman" panose="02020603050405020304" pitchFamily="18" charset="0"/>
                <a:ea typeface="宋体" panose="02010600030101010101" pitchFamily="2" charset="-122"/>
              </a:rPr>
              <a:t>空穴导电机理</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17" name="对象 86018"/>
          <p:cNvGraphicFramePr/>
          <p:nvPr/>
        </p:nvGraphicFramePr>
        <p:xfrm>
          <a:off x="2700338" y="2924175"/>
          <a:ext cx="2489200" cy="660400"/>
        </p:xfrm>
        <a:graphic>
          <a:graphicData uri="http://schemas.openxmlformats.org/presentationml/2006/ole">
            <mc:AlternateContent xmlns:mc="http://schemas.openxmlformats.org/markup-compatibility/2006">
              <mc:Choice xmlns:v="urn:schemas-microsoft-com:vml" Requires="v">
                <p:oleObj r:id="rId2" imgW="761365" imgH="203200" progId="Equation.DSMT4">
                  <p:embed/>
                </p:oleObj>
              </mc:Choice>
              <mc:Fallback>
                <p:oleObj r:id="rId2" imgW="761365" imgH="203200" progId="Equation.DSMT4">
                  <p:embed/>
                  <p:pic>
                    <p:nvPicPr>
                      <p:cNvPr id="0" name="图片 3106"/>
                      <p:cNvPicPr/>
                      <p:nvPr/>
                    </p:nvPicPr>
                    <p:blipFill>
                      <a:blip r:embed="rId3"/>
                      <a:stretch>
                        <a:fillRect/>
                      </a:stretch>
                    </p:blipFill>
                    <p:spPr>
                      <a:xfrm>
                        <a:off x="2700338" y="2924175"/>
                        <a:ext cx="2489200" cy="660400"/>
                      </a:xfrm>
                      <a:prstGeom prst="rect">
                        <a:avLst/>
                      </a:prstGeom>
                      <a:noFill/>
                      <a:ln w="38100">
                        <a:noFill/>
                        <a:miter/>
                      </a:ln>
                    </p:spPr>
                  </p:pic>
                </p:oleObj>
              </mc:Fallback>
            </mc:AlternateContent>
          </a:graphicData>
        </a:graphic>
      </p:graphicFrame>
      <p:sp>
        <p:nvSpPr>
          <p:cNvPr id="60418" name="矩形 86019"/>
          <p:cNvSpPr/>
          <p:nvPr/>
        </p:nvSpPr>
        <p:spPr>
          <a:xfrm>
            <a:off x="1187450" y="3860800"/>
            <a:ext cx="7127875" cy="1373188"/>
          </a:xfrm>
          <a:prstGeom prst="rect">
            <a:avLst/>
          </a:prstGeom>
          <a:noFill/>
          <a:ln w="9525">
            <a:noFill/>
          </a:ln>
        </p:spPr>
        <p:txBody>
          <a:bodyPr anchor="ctr" anchorCtr="0">
            <a:spAutoFit/>
          </a:bodyPr>
          <a:lstStyle/>
          <a:p>
            <a:r>
              <a:rPr lang="zh-CN" altLang="en-US" sz="2800" b="1" dirty="0">
                <a:solidFill>
                  <a:srgbClr val="A50021"/>
                </a:solidFill>
                <a:latin typeface="Times New Roman" panose="02020603050405020304" pitchFamily="18" charset="0"/>
                <a:ea typeface="宋体" panose="02010600030101010101" pitchFamily="2" charset="-122"/>
              </a:rPr>
              <a:t>价带内</a:t>
            </a:r>
            <a:r>
              <a:rPr lang="en-US" altLang="zh-CN" sz="2800" b="1" i="1">
                <a:solidFill>
                  <a:srgbClr val="A50021"/>
                </a:solidFill>
                <a:latin typeface="Times New Roman" panose="02020603050405020304" pitchFamily="18" charset="0"/>
                <a:ea typeface="宋体" panose="02010600030101010101" pitchFamily="2" charset="-122"/>
              </a:rPr>
              <a:t>k</a:t>
            </a:r>
            <a:r>
              <a:rPr lang="zh-CN" altLang="en-US" sz="2800" b="1" dirty="0">
                <a:solidFill>
                  <a:srgbClr val="A50021"/>
                </a:solidFill>
                <a:latin typeface="Times New Roman" panose="02020603050405020304" pitchFamily="18" charset="0"/>
                <a:ea typeface="宋体" panose="02010600030101010101" pitchFamily="2" charset="-122"/>
              </a:rPr>
              <a:t>态空出时，价带的电子产生的总电流，就如同一个带正电荷</a:t>
            </a:r>
            <a:r>
              <a:rPr lang="en-US" altLang="zh-CN" sz="2800" b="1" i="1">
                <a:solidFill>
                  <a:srgbClr val="A50021"/>
                </a:solidFill>
                <a:latin typeface="Times New Roman" panose="02020603050405020304" pitchFamily="18" charset="0"/>
                <a:ea typeface="宋体" panose="02010600030101010101" pitchFamily="2" charset="-122"/>
              </a:rPr>
              <a:t>q</a:t>
            </a:r>
            <a:r>
              <a:rPr lang="zh-CN" altLang="en-US" sz="2800" b="1" dirty="0">
                <a:solidFill>
                  <a:srgbClr val="A50021"/>
                </a:solidFill>
                <a:latin typeface="Times New Roman" panose="02020603050405020304" pitchFamily="18" charset="0"/>
                <a:ea typeface="宋体" panose="02010600030101010101" pitchFamily="2" charset="-122"/>
              </a:rPr>
              <a:t>的粒子以相同</a:t>
            </a:r>
            <a:r>
              <a:rPr lang="en-US" altLang="zh-CN" sz="2800" b="1" i="1">
                <a:solidFill>
                  <a:srgbClr val="A50021"/>
                </a:solidFill>
                <a:latin typeface="Times New Roman" panose="02020603050405020304" pitchFamily="18" charset="0"/>
                <a:ea typeface="宋体" panose="02010600030101010101" pitchFamily="2" charset="-122"/>
              </a:rPr>
              <a:t>k</a:t>
            </a:r>
            <a:r>
              <a:rPr lang="zh-CN" altLang="en-US" sz="2800" b="1" dirty="0">
                <a:solidFill>
                  <a:srgbClr val="A50021"/>
                </a:solidFill>
                <a:latin typeface="Times New Roman" panose="02020603050405020304" pitchFamily="18" charset="0"/>
                <a:ea typeface="宋体" panose="02010600030101010101" pitchFamily="2" charset="-122"/>
              </a:rPr>
              <a:t>状态的电子速度</a:t>
            </a:r>
            <a:r>
              <a:rPr lang="en-US" altLang="zh-CN" sz="2800" b="1" i="1">
                <a:solidFill>
                  <a:srgbClr val="A50021"/>
                </a:solidFill>
                <a:latin typeface="Times New Roman" panose="02020603050405020304" pitchFamily="18" charset="0"/>
                <a:ea typeface="宋体" panose="02010600030101010101" pitchFamily="2" charset="-122"/>
              </a:rPr>
              <a:t>v</a:t>
            </a:r>
            <a:r>
              <a:rPr lang="zh-CN" altLang="en-US" sz="2800" b="1" dirty="0">
                <a:solidFill>
                  <a:srgbClr val="A50021"/>
                </a:solidFill>
                <a:latin typeface="Times New Roman" panose="02020603050405020304" pitchFamily="18" charset="0"/>
                <a:ea typeface="宋体" panose="02010600030101010101" pitchFamily="2" charset="-122"/>
              </a:rPr>
              <a:t>（</a:t>
            </a:r>
            <a:r>
              <a:rPr lang="en-US" altLang="zh-CN" sz="2800" b="1" i="1">
                <a:solidFill>
                  <a:srgbClr val="A50021"/>
                </a:solidFill>
                <a:latin typeface="Times New Roman" panose="02020603050405020304" pitchFamily="18" charset="0"/>
                <a:ea typeface="宋体" panose="02010600030101010101" pitchFamily="2" charset="-122"/>
              </a:rPr>
              <a:t>k</a:t>
            </a:r>
            <a:r>
              <a:rPr lang="zh-CN" altLang="en-US" sz="2800" b="1" dirty="0">
                <a:solidFill>
                  <a:srgbClr val="A50021"/>
                </a:solidFill>
                <a:latin typeface="Times New Roman" panose="02020603050405020304" pitchFamily="18" charset="0"/>
                <a:ea typeface="宋体" panose="02010600030101010101" pitchFamily="2" charset="-122"/>
              </a:rPr>
              <a:t>）运动时所产生的电流。 </a:t>
            </a:r>
          </a:p>
        </p:txBody>
      </p:sp>
      <p:sp>
        <p:nvSpPr>
          <p:cNvPr id="60419" name="文本框 86020"/>
          <p:cNvSpPr txBox="1"/>
          <p:nvPr/>
        </p:nvSpPr>
        <p:spPr>
          <a:xfrm>
            <a:off x="684213" y="5445125"/>
            <a:ext cx="6030912" cy="579438"/>
          </a:xfrm>
          <a:prstGeom prst="rect">
            <a:avLst/>
          </a:prstGeom>
          <a:noFill/>
          <a:ln w="9525">
            <a:noFill/>
          </a:ln>
        </p:spPr>
        <p:txBody>
          <a:bodyPr anchor="t" anchorCtr="0">
            <a:spAutoFit/>
          </a:bodyPr>
          <a:lstStyle/>
          <a:p>
            <a:r>
              <a:rPr lang="zh-CN" altLang="en-US" sz="2800" b="1" dirty="0">
                <a:latin typeface="Times New Roman" panose="02020603050405020304" pitchFamily="18" charset="0"/>
                <a:ea typeface="宋体" panose="02010600030101010101" pitchFamily="2" charset="-122"/>
              </a:rPr>
              <a:t>这个带正电的准粒子就是</a:t>
            </a:r>
            <a:r>
              <a:rPr lang="zh-CN" altLang="en-US" sz="3200" b="1" dirty="0">
                <a:solidFill>
                  <a:srgbClr val="A50021"/>
                </a:solidFill>
                <a:latin typeface="Times New Roman" panose="02020603050405020304" pitchFamily="18" charset="0"/>
                <a:ea typeface="宋体" panose="02010600030101010101" pitchFamily="2" charset="-122"/>
              </a:rPr>
              <a:t>空穴</a:t>
            </a:r>
            <a:r>
              <a:rPr lang="zh-CN" altLang="en-US" sz="2800" b="1" dirty="0">
                <a:latin typeface="Times New Roman" panose="02020603050405020304" pitchFamily="18" charset="0"/>
                <a:ea typeface="宋体" panose="02010600030101010101" pitchFamily="2" charset="-122"/>
              </a:rPr>
              <a:t>。</a:t>
            </a:r>
          </a:p>
        </p:txBody>
      </p:sp>
      <p:sp>
        <p:nvSpPr>
          <p:cNvPr id="60420" name="矩形 86023"/>
          <p:cNvSpPr/>
          <p:nvPr/>
        </p:nvSpPr>
        <p:spPr>
          <a:xfrm>
            <a:off x="611188" y="908050"/>
            <a:ext cx="7200900" cy="946150"/>
          </a:xfrm>
          <a:prstGeom prst="rect">
            <a:avLst/>
          </a:prstGeom>
          <a:noFill/>
          <a:ln w="9525">
            <a:noFill/>
          </a:ln>
        </p:spPr>
        <p:txBody>
          <a:bodyPr anchor="t" anchorCtr="0">
            <a:spAutoFit/>
          </a:bodyPr>
          <a:lstStyle/>
          <a:p>
            <a:r>
              <a:rPr lang="zh-CN" altLang="en-US" sz="2800" b="1" dirty="0">
                <a:latin typeface="Times New Roman" panose="02020603050405020304" pitchFamily="18" charset="0"/>
                <a:ea typeface="宋体" panose="02010600030101010101" pitchFamily="2" charset="-122"/>
              </a:rPr>
              <a:t>在填入这个电子后，该价带又成了满带，总电流密度应为零，即</a:t>
            </a:r>
          </a:p>
        </p:txBody>
      </p:sp>
      <p:graphicFrame>
        <p:nvGraphicFramePr>
          <p:cNvPr id="60421" name="对象 86024"/>
          <p:cNvGraphicFramePr/>
          <p:nvPr/>
        </p:nvGraphicFramePr>
        <p:xfrm>
          <a:off x="2771775" y="2060575"/>
          <a:ext cx="3254375" cy="628650"/>
        </p:xfrm>
        <a:graphic>
          <a:graphicData uri="http://schemas.openxmlformats.org/presentationml/2006/ole">
            <mc:AlternateContent xmlns:mc="http://schemas.openxmlformats.org/markup-compatibility/2006">
              <mc:Choice xmlns:v="urn:schemas-microsoft-com:vml" Requires="v">
                <p:oleObj r:id="rId4" imgW="1053465" imgH="203200" progId="Equation.DSMT4">
                  <p:embed/>
                </p:oleObj>
              </mc:Choice>
              <mc:Fallback>
                <p:oleObj r:id="rId4" imgW="1053465" imgH="203200" progId="Equation.DSMT4">
                  <p:embed/>
                  <p:pic>
                    <p:nvPicPr>
                      <p:cNvPr id="0" name="图片 3107"/>
                      <p:cNvPicPr/>
                      <p:nvPr/>
                    </p:nvPicPr>
                    <p:blipFill>
                      <a:blip r:embed="rId5"/>
                      <a:stretch>
                        <a:fillRect/>
                      </a:stretch>
                    </p:blipFill>
                    <p:spPr>
                      <a:xfrm>
                        <a:off x="2771775" y="2060575"/>
                        <a:ext cx="3254375" cy="628650"/>
                      </a:xfrm>
                      <a:prstGeom prst="rect">
                        <a:avLst/>
                      </a:prstGeom>
                      <a:noFill/>
                      <a:ln w="38100">
                        <a:noFill/>
                        <a:miter/>
                      </a:ln>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文本框 158723"/>
          <p:cNvSpPr txBox="1"/>
          <p:nvPr/>
        </p:nvSpPr>
        <p:spPr>
          <a:xfrm>
            <a:off x="684213" y="620713"/>
            <a:ext cx="7273925" cy="579437"/>
          </a:xfrm>
          <a:prstGeom prst="rect">
            <a:avLst/>
          </a:prstGeom>
          <a:noFill/>
          <a:ln w="12700">
            <a:noFill/>
          </a:ln>
        </p:spPr>
        <p:txBody>
          <a:bodyPr anchor="t" anchorCtr="0">
            <a:spAutoFit/>
          </a:bodyPr>
          <a:lstStyle/>
          <a:p>
            <a:pPr>
              <a:spcBef>
                <a:spcPct val="50000"/>
              </a:spcBef>
            </a:pPr>
            <a:r>
              <a:rPr lang="zh-CN" altLang="en-US" sz="2800" b="1" dirty="0">
                <a:solidFill>
                  <a:srgbClr val="A50021"/>
                </a:solidFill>
                <a:latin typeface="Times New Roman" panose="02020603050405020304" pitchFamily="18" charset="0"/>
                <a:ea typeface="宋体" panose="02010600030101010101" pitchFamily="2" charset="-122"/>
              </a:rPr>
              <a:t>半导体中的</a:t>
            </a:r>
            <a:r>
              <a:rPr lang="zh-CN" altLang="en-US" sz="3200" b="1" u="sng" dirty="0">
                <a:solidFill>
                  <a:srgbClr val="A50021"/>
                </a:solidFill>
                <a:latin typeface="Times New Roman" panose="02020603050405020304" pitchFamily="18" charset="0"/>
                <a:ea typeface="宋体" panose="02010600030101010101" pitchFamily="2" charset="-122"/>
              </a:rPr>
              <a:t>载流子</a:t>
            </a:r>
            <a:r>
              <a:rPr lang="zh-CN" altLang="en-US" sz="2800" b="1" dirty="0">
                <a:solidFill>
                  <a:srgbClr val="A50021"/>
                </a:solidFill>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能够导电的自由粒子</a:t>
            </a:r>
          </a:p>
        </p:txBody>
      </p:sp>
      <p:sp>
        <p:nvSpPr>
          <p:cNvPr id="61442" name="文本框 158724"/>
          <p:cNvSpPr txBox="1"/>
          <p:nvPr/>
        </p:nvSpPr>
        <p:spPr>
          <a:xfrm>
            <a:off x="468313" y="1787525"/>
            <a:ext cx="4105275" cy="3873500"/>
          </a:xfrm>
          <a:prstGeom prst="rect">
            <a:avLst/>
          </a:prstGeom>
          <a:noFill/>
          <a:ln w="12700">
            <a:noFill/>
          </a:ln>
        </p:spPr>
        <p:txBody>
          <a:bodyPr anchor="t" anchorCtr="0">
            <a:spAutoFit/>
          </a:bodyPr>
          <a:lstStyle/>
          <a:p>
            <a:pPr>
              <a:spcBef>
                <a:spcPct val="50000"/>
              </a:spcBef>
            </a:pPr>
            <a:r>
              <a:rPr lang="zh-CN" altLang="en-US" sz="3200" b="1" dirty="0">
                <a:solidFill>
                  <a:srgbClr val="A50021"/>
                </a:solidFill>
                <a:latin typeface="Times New Roman" panose="02020603050405020304" pitchFamily="18" charset="0"/>
                <a:ea typeface="宋体" panose="02010600030101010101" pitchFamily="2" charset="-122"/>
              </a:rPr>
              <a:t>电子</a:t>
            </a:r>
            <a:r>
              <a:rPr lang="zh-CN" altLang="en-US" sz="2800" b="1" dirty="0">
                <a:solidFill>
                  <a:srgbClr val="A50021"/>
                </a:solidFill>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带负电的导电载流子，是价电子脱离原子束缚后形成的自由电子，对应于导带中占据的电子</a:t>
            </a:r>
          </a:p>
          <a:p>
            <a:pPr>
              <a:spcBef>
                <a:spcPct val="50000"/>
              </a:spcBef>
            </a:pPr>
            <a:r>
              <a:rPr lang="zh-CN" altLang="en-US" sz="3200" b="1" dirty="0">
                <a:solidFill>
                  <a:srgbClr val="A50021"/>
                </a:solidFill>
                <a:latin typeface="Times New Roman" panose="02020603050405020304" pitchFamily="18" charset="0"/>
                <a:ea typeface="宋体" panose="02010600030101010101" pitchFamily="2" charset="-122"/>
              </a:rPr>
              <a:t>空穴</a:t>
            </a:r>
            <a:r>
              <a:rPr lang="zh-CN" altLang="en-US" sz="2800" b="1" dirty="0">
                <a:solidFill>
                  <a:srgbClr val="A50021"/>
                </a:solidFill>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带正电的导电载流子，是价电子脱离原子束缚后形成的电子空位，对应于价带中的电子空位</a:t>
            </a:r>
          </a:p>
        </p:txBody>
      </p:sp>
      <p:sp>
        <p:nvSpPr>
          <p:cNvPr id="61443" name="矩形 158726"/>
          <p:cNvSpPr/>
          <p:nvPr/>
        </p:nvSpPr>
        <p:spPr>
          <a:xfrm>
            <a:off x="5205413" y="2205038"/>
            <a:ext cx="3024187" cy="1008062"/>
          </a:xfrm>
          <a:prstGeom prst="rect">
            <a:avLst/>
          </a:prstGeom>
          <a:pattFill prst="dkHorz">
            <a:fgClr>
              <a:schemeClr val="accent1"/>
            </a:fgClr>
            <a:bgClr>
              <a:schemeClr val="bg1"/>
            </a:bgClr>
          </a:pattFill>
          <a:ln w="9525">
            <a:noFill/>
          </a:ln>
        </p:spPr>
        <p:txBody>
          <a:bodyPr wrap="none" anchor="ctr" anchorCtr="0"/>
          <a:lstStyle/>
          <a:p>
            <a:pPr algn="ctr"/>
            <a:r>
              <a:rPr lang="zh-CN" altLang="en-US" b="1" dirty="0">
                <a:latin typeface="Times New Roman" panose="02020603050405020304" pitchFamily="18" charset="0"/>
                <a:ea typeface="宋体" panose="02010600030101010101" pitchFamily="2" charset="-122"/>
              </a:rPr>
              <a:t>导带</a:t>
            </a:r>
          </a:p>
        </p:txBody>
      </p:sp>
      <p:sp>
        <p:nvSpPr>
          <p:cNvPr id="61444" name="矩形 158727"/>
          <p:cNvSpPr/>
          <p:nvPr/>
        </p:nvSpPr>
        <p:spPr>
          <a:xfrm>
            <a:off x="5205413" y="4365625"/>
            <a:ext cx="3024187" cy="1008063"/>
          </a:xfrm>
          <a:prstGeom prst="rect">
            <a:avLst/>
          </a:prstGeom>
          <a:pattFill prst="ltHorz">
            <a:fgClr>
              <a:schemeClr val="accent1"/>
            </a:fgClr>
            <a:bgClr>
              <a:schemeClr val="bg1"/>
            </a:bgClr>
          </a:pattFill>
          <a:ln w="9525">
            <a:noFill/>
          </a:ln>
        </p:spPr>
        <p:txBody>
          <a:bodyPr wrap="none" anchor="ctr" anchorCtr="0"/>
          <a:lstStyle/>
          <a:p>
            <a:pPr algn="ctr"/>
            <a:r>
              <a:rPr lang="zh-CN" altLang="en-US" b="1" dirty="0">
                <a:latin typeface="Times New Roman" panose="02020603050405020304" pitchFamily="18" charset="0"/>
                <a:ea typeface="宋体" panose="02010600030101010101" pitchFamily="2" charset="-122"/>
              </a:rPr>
              <a:t>价带</a:t>
            </a:r>
          </a:p>
        </p:txBody>
      </p:sp>
      <p:sp>
        <p:nvSpPr>
          <p:cNvPr id="61445" name="文本框 158728"/>
          <p:cNvSpPr txBox="1"/>
          <p:nvPr/>
        </p:nvSpPr>
        <p:spPr>
          <a:xfrm>
            <a:off x="6861175" y="3644900"/>
            <a:ext cx="481013" cy="396875"/>
          </a:xfrm>
          <a:prstGeom prst="rect">
            <a:avLst/>
          </a:prstGeom>
          <a:noFill/>
          <a:ln w="9525">
            <a:noFill/>
          </a:ln>
        </p:spPr>
        <p:txBody>
          <a:bodyPr wrap="none" anchor="t" anchorCtr="0">
            <a:spAutoFit/>
          </a:bodyPr>
          <a:lstStyle/>
          <a:p>
            <a:r>
              <a:rPr lang="en-US" altLang="zh-CN" sz="2000" b="1" err="1">
                <a:solidFill>
                  <a:srgbClr val="A50021"/>
                </a:solidFill>
                <a:latin typeface="Times New Roman" panose="02020603050405020304" pitchFamily="18" charset="0"/>
                <a:ea typeface="宋体" panose="02010600030101010101" pitchFamily="2" charset="-122"/>
              </a:rPr>
              <a:t>Eg</a:t>
            </a:r>
            <a:endParaRPr lang="en-US" altLang="zh-CN" sz="2000" b="1">
              <a:solidFill>
                <a:srgbClr val="A50021"/>
              </a:solidFill>
              <a:latin typeface="Times New Roman" panose="02020603050405020304" pitchFamily="18" charset="0"/>
              <a:ea typeface="宋体" panose="02010600030101010101" pitchFamily="2" charset="-122"/>
            </a:endParaRPr>
          </a:p>
        </p:txBody>
      </p:sp>
      <p:sp>
        <p:nvSpPr>
          <p:cNvPr id="61446" name="文本框 158729"/>
          <p:cNvSpPr txBox="1"/>
          <p:nvPr/>
        </p:nvSpPr>
        <p:spPr>
          <a:xfrm>
            <a:off x="8245475" y="2887663"/>
            <a:ext cx="466725" cy="396875"/>
          </a:xfrm>
          <a:prstGeom prst="rect">
            <a:avLst/>
          </a:prstGeom>
          <a:noFill/>
          <a:ln w="9525">
            <a:noFill/>
          </a:ln>
        </p:spPr>
        <p:txBody>
          <a:bodyPr wrap="none" anchor="t" anchorCtr="0">
            <a:spAutoFit/>
          </a:bodyPr>
          <a:lstStyle/>
          <a:p>
            <a:r>
              <a:rPr lang="en-US" altLang="zh-CN" sz="2000" b="1" err="1">
                <a:solidFill>
                  <a:srgbClr val="A50021"/>
                </a:solidFill>
                <a:latin typeface="Times New Roman" panose="02020603050405020304" pitchFamily="18" charset="0"/>
                <a:ea typeface="宋体" panose="02010600030101010101" pitchFamily="2" charset="-122"/>
              </a:rPr>
              <a:t>Ec</a:t>
            </a:r>
            <a:endParaRPr lang="en-US" altLang="zh-CN" sz="2000" b="1">
              <a:solidFill>
                <a:srgbClr val="A50021"/>
              </a:solidFill>
              <a:latin typeface="Times New Roman" panose="02020603050405020304" pitchFamily="18" charset="0"/>
              <a:ea typeface="宋体" panose="02010600030101010101" pitchFamily="2" charset="-122"/>
            </a:endParaRPr>
          </a:p>
        </p:txBody>
      </p:sp>
      <p:sp>
        <p:nvSpPr>
          <p:cNvPr id="61447" name="文本框 158730"/>
          <p:cNvSpPr txBox="1"/>
          <p:nvPr/>
        </p:nvSpPr>
        <p:spPr>
          <a:xfrm>
            <a:off x="8245475" y="4184650"/>
            <a:ext cx="481013" cy="396875"/>
          </a:xfrm>
          <a:prstGeom prst="rect">
            <a:avLst/>
          </a:prstGeom>
          <a:noFill/>
          <a:ln w="9525">
            <a:noFill/>
          </a:ln>
        </p:spPr>
        <p:txBody>
          <a:bodyPr wrap="none" anchor="t" anchorCtr="0">
            <a:spAutoFit/>
          </a:bodyPr>
          <a:lstStyle/>
          <a:p>
            <a:r>
              <a:rPr lang="en-US" altLang="zh-CN" sz="2000" b="1" err="1">
                <a:solidFill>
                  <a:srgbClr val="A50021"/>
                </a:solidFill>
                <a:latin typeface="Times New Roman" panose="02020603050405020304" pitchFamily="18" charset="0"/>
                <a:ea typeface="宋体" panose="02010600030101010101" pitchFamily="2" charset="-122"/>
              </a:rPr>
              <a:t>Ev</a:t>
            </a:r>
            <a:endParaRPr lang="en-US" altLang="zh-CN" sz="2000" b="1">
              <a:solidFill>
                <a:srgbClr val="A50021"/>
              </a:solidFill>
              <a:latin typeface="Times New Roman" panose="02020603050405020304" pitchFamily="18" charset="0"/>
              <a:ea typeface="宋体" panose="02010600030101010101" pitchFamily="2" charset="-122"/>
            </a:endParaRPr>
          </a:p>
        </p:txBody>
      </p:sp>
      <p:sp>
        <p:nvSpPr>
          <p:cNvPr id="61448" name="直接连接符 158731"/>
          <p:cNvSpPr/>
          <p:nvPr/>
        </p:nvSpPr>
        <p:spPr>
          <a:xfrm>
            <a:off x="6877050" y="3213100"/>
            <a:ext cx="0" cy="1152525"/>
          </a:xfrm>
          <a:prstGeom prst="line">
            <a:avLst/>
          </a:prstGeom>
          <a:ln w="9525" cap="flat" cmpd="sng">
            <a:solidFill>
              <a:schemeClr val="tx1"/>
            </a:solidFill>
            <a:prstDash val="solid"/>
            <a:round/>
            <a:headEnd type="triangle" w="med" len="med"/>
            <a:tailEnd type="triangle" w="med" len="med"/>
          </a:ln>
        </p:spPr>
      </p:sp>
      <p:sp>
        <p:nvSpPr>
          <p:cNvPr id="61449" name="椭圆 158732"/>
          <p:cNvSpPr/>
          <p:nvPr/>
        </p:nvSpPr>
        <p:spPr>
          <a:xfrm>
            <a:off x="7380288" y="4292600"/>
            <a:ext cx="144462" cy="142875"/>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en-US" altLang="zh-CN">
                <a:solidFill>
                  <a:srgbClr val="FF0000"/>
                </a:solidFill>
                <a:latin typeface="Times New Roman" panose="02020603050405020304" pitchFamily="18" charset="0"/>
                <a:ea typeface="宋体" panose="02010600030101010101" pitchFamily="2" charset="-122"/>
              </a:rPr>
              <a:t>+</a:t>
            </a:r>
          </a:p>
        </p:txBody>
      </p:sp>
      <p:sp>
        <p:nvSpPr>
          <p:cNvPr id="61450" name="椭圆 158733"/>
          <p:cNvSpPr/>
          <p:nvPr/>
        </p:nvSpPr>
        <p:spPr>
          <a:xfrm>
            <a:off x="7596188" y="4365625"/>
            <a:ext cx="144462" cy="142875"/>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en-US" altLang="zh-CN">
                <a:solidFill>
                  <a:srgbClr val="FF0000"/>
                </a:solidFill>
                <a:latin typeface="Times New Roman" panose="02020603050405020304" pitchFamily="18" charset="0"/>
                <a:ea typeface="宋体" panose="02010600030101010101" pitchFamily="2" charset="-122"/>
              </a:rPr>
              <a:t>+</a:t>
            </a:r>
          </a:p>
        </p:txBody>
      </p:sp>
      <p:sp>
        <p:nvSpPr>
          <p:cNvPr id="61451" name="椭圆 158734"/>
          <p:cNvSpPr/>
          <p:nvPr/>
        </p:nvSpPr>
        <p:spPr>
          <a:xfrm>
            <a:off x="7812088" y="4292600"/>
            <a:ext cx="144462" cy="142875"/>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en-US" altLang="zh-CN">
                <a:solidFill>
                  <a:srgbClr val="FF0000"/>
                </a:solidFill>
                <a:latin typeface="Times New Roman" panose="02020603050405020304" pitchFamily="18" charset="0"/>
                <a:ea typeface="宋体" panose="02010600030101010101" pitchFamily="2" charset="-122"/>
              </a:rPr>
              <a:t>+</a:t>
            </a:r>
          </a:p>
        </p:txBody>
      </p:sp>
      <p:sp>
        <p:nvSpPr>
          <p:cNvPr id="61452" name="椭圆 158735"/>
          <p:cNvSpPr/>
          <p:nvPr/>
        </p:nvSpPr>
        <p:spPr>
          <a:xfrm>
            <a:off x="8027988" y="4365625"/>
            <a:ext cx="144462" cy="142875"/>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en-US" altLang="zh-CN">
                <a:solidFill>
                  <a:srgbClr val="FF0000"/>
                </a:solidFill>
                <a:latin typeface="Times New Roman" panose="02020603050405020304" pitchFamily="18" charset="0"/>
                <a:ea typeface="宋体" panose="02010600030101010101" pitchFamily="2" charset="-122"/>
              </a:rPr>
              <a:t>+</a:t>
            </a:r>
          </a:p>
        </p:txBody>
      </p:sp>
      <p:sp>
        <p:nvSpPr>
          <p:cNvPr id="61453" name="椭圆 158736"/>
          <p:cNvSpPr/>
          <p:nvPr/>
        </p:nvSpPr>
        <p:spPr>
          <a:xfrm>
            <a:off x="7380288" y="3068638"/>
            <a:ext cx="144462" cy="142875"/>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zh-CN" altLang="en-US" dirty="0">
                <a:solidFill>
                  <a:srgbClr val="FF0000"/>
                </a:solidFill>
                <a:latin typeface="Times New Roman" panose="02020603050405020304" pitchFamily="18" charset="0"/>
                <a:ea typeface="宋体" panose="02010600030101010101" pitchFamily="2" charset="-122"/>
              </a:rPr>
              <a:t>－</a:t>
            </a:r>
          </a:p>
        </p:txBody>
      </p:sp>
      <p:sp>
        <p:nvSpPr>
          <p:cNvPr id="61454" name="椭圆 158737"/>
          <p:cNvSpPr/>
          <p:nvPr/>
        </p:nvSpPr>
        <p:spPr>
          <a:xfrm>
            <a:off x="7596188" y="3141663"/>
            <a:ext cx="144462" cy="142875"/>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zh-CN" altLang="en-US" dirty="0">
                <a:solidFill>
                  <a:srgbClr val="FF0000"/>
                </a:solidFill>
                <a:latin typeface="Times New Roman" panose="02020603050405020304" pitchFamily="18" charset="0"/>
                <a:ea typeface="宋体" panose="02010600030101010101" pitchFamily="2" charset="-122"/>
              </a:rPr>
              <a:t>－</a:t>
            </a:r>
          </a:p>
        </p:txBody>
      </p:sp>
      <p:sp>
        <p:nvSpPr>
          <p:cNvPr id="61455" name="椭圆 158738"/>
          <p:cNvSpPr/>
          <p:nvPr/>
        </p:nvSpPr>
        <p:spPr>
          <a:xfrm>
            <a:off x="7812088" y="3068638"/>
            <a:ext cx="144462" cy="142875"/>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zh-CN" altLang="en-US" dirty="0">
                <a:solidFill>
                  <a:srgbClr val="FF0000"/>
                </a:solidFill>
                <a:latin typeface="Times New Roman" panose="02020603050405020304" pitchFamily="18" charset="0"/>
                <a:ea typeface="宋体" panose="02010600030101010101" pitchFamily="2" charset="-122"/>
              </a:rPr>
              <a:t>－</a:t>
            </a:r>
          </a:p>
        </p:txBody>
      </p:sp>
      <p:sp>
        <p:nvSpPr>
          <p:cNvPr id="61456" name="椭圆 158739"/>
          <p:cNvSpPr/>
          <p:nvPr/>
        </p:nvSpPr>
        <p:spPr>
          <a:xfrm>
            <a:off x="8027988" y="3141663"/>
            <a:ext cx="144462" cy="142875"/>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nchorCtr="0"/>
          <a:lstStyle/>
          <a:p>
            <a:pPr algn="ctr"/>
            <a:r>
              <a:rPr lang="zh-CN" altLang="en-US" dirty="0">
                <a:solidFill>
                  <a:srgbClr val="FF0000"/>
                </a:solidFill>
                <a:latin typeface="Times New Roman" panose="02020603050405020304" pitchFamily="18" charset="0"/>
                <a:ea typeface="宋体" panose="02010600030101010101" pitchFamily="2" charset="-122"/>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文本框 87041"/>
          <p:cNvSpPr txBox="1"/>
          <p:nvPr/>
        </p:nvSpPr>
        <p:spPr>
          <a:xfrm>
            <a:off x="611188" y="908050"/>
            <a:ext cx="7561262" cy="641350"/>
          </a:xfrm>
          <a:prstGeom prst="rect">
            <a:avLst/>
          </a:prstGeom>
          <a:noFill/>
          <a:ln w="12700">
            <a:noFill/>
          </a:ln>
        </p:spPr>
        <p:txBody>
          <a:bodyPr anchor="t" anchorCtr="0">
            <a:spAutoFit/>
          </a:bodyPr>
          <a:lstStyle/>
          <a:p>
            <a:pPr eaLnBrk="0" hangingPunct="0"/>
            <a:r>
              <a:rPr lang="en-US" altLang="zh-CN" sz="3600" b="1" dirty="0">
                <a:latin typeface="Arial" panose="020B0604020202020204" pitchFamily="34" charset="0"/>
                <a:ea typeface="宋体" panose="02010600030101010101" pitchFamily="2" charset="-122"/>
              </a:rPr>
              <a:t>2. </a:t>
            </a:r>
            <a:r>
              <a:rPr lang="zh-CN" altLang="en-US" sz="3600" b="1" dirty="0">
                <a:latin typeface="Arial" panose="020B0604020202020204" pitchFamily="34" charset="0"/>
                <a:ea typeface="宋体" panose="02010600030101010101" pitchFamily="2" charset="-122"/>
              </a:rPr>
              <a:t>半导体中空穴的运动状态</a:t>
            </a:r>
          </a:p>
        </p:txBody>
      </p:sp>
      <p:sp>
        <p:nvSpPr>
          <p:cNvPr id="62466" name="文本框 87042"/>
          <p:cNvSpPr txBox="1"/>
          <p:nvPr/>
        </p:nvSpPr>
        <p:spPr>
          <a:xfrm>
            <a:off x="827088" y="1916113"/>
            <a:ext cx="5421312" cy="579437"/>
          </a:xfrm>
          <a:prstGeom prst="rect">
            <a:avLst/>
          </a:prstGeom>
          <a:noFill/>
          <a:ln w="9525">
            <a:noFill/>
          </a:ln>
        </p:spPr>
        <p:txBody>
          <a:bodyPr anchor="t" anchorCtr="0">
            <a:spAutoFit/>
          </a:bodyPr>
          <a:lstStyle/>
          <a:p>
            <a:r>
              <a:rPr lang="zh-CN" altLang="en-US" sz="3200" b="1" dirty="0">
                <a:solidFill>
                  <a:srgbClr val="A50021"/>
                </a:solidFill>
                <a:latin typeface="Times New Roman" panose="02020603050405020304" pitchFamily="18" charset="0"/>
                <a:ea typeface="宋体" panose="02010600030101010101" pitchFamily="2" charset="-122"/>
              </a:rPr>
              <a:t>空穴的波矢 </a:t>
            </a:r>
            <a:r>
              <a:rPr lang="en-US" altLang="zh-CN" sz="3200" b="1" err="1">
                <a:solidFill>
                  <a:srgbClr val="A50021"/>
                </a:solidFill>
                <a:latin typeface="Times New Roman" panose="02020603050405020304" pitchFamily="18" charset="0"/>
                <a:ea typeface="宋体" panose="02010600030101010101" pitchFamily="2" charset="-122"/>
              </a:rPr>
              <a:t>k</a:t>
            </a:r>
            <a:r>
              <a:rPr lang="en-US" altLang="zh-CN" sz="3200" b="1" baseline="-25000" err="1">
                <a:solidFill>
                  <a:srgbClr val="A50021"/>
                </a:solidFill>
                <a:latin typeface="Times New Roman" panose="02020603050405020304" pitchFamily="18" charset="0"/>
                <a:ea typeface="宋体" panose="02010600030101010101" pitchFamily="2" charset="-122"/>
              </a:rPr>
              <a:t>p</a:t>
            </a:r>
            <a:r>
              <a:rPr lang="zh-CN" altLang="en-US" sz="3200" b="1" dirty="0">
                <a:solidFill>
                  <a:srgbClr val="A50021"/>
                </a:solidFill>
                <a:latin typeface="Times New Roman" panose="02020603050405020304" pitchFamily="18" charset="0"/>
                <a:ea typeface="宋体" panose="02010600030101010101" pitchFamily="2" charset="-122"/>
              </a:rPr>
              <a:t>和速度</a:t>
            </a:r>
            <a:endParaRPr lang="zh-CN" altLang="en-US" sz="3200" b="1">
              <a:solidFill>
                <a:srgbClr val="A50021"/>
              </a:solidFill>
              <a:latin typeface="Times New Roman" panose="02020603050405020304" pitchFamily="18" charset="0"/>
              <a:ea typeface="宋体" panose="02010600030101010101" pitchFamily="2" charset="-122"/>
            </a:endParaRPr>
          </a:p>
        </p:txBody>
      </p:sp>
      <p:sp>
        <p:nvSpPr>
          <p:cNvPr id="62467" name="矩形 87044"/>
          <p:cNvSpPr/>
          <p:nvPr/>
        </p:nvSpPr>
        <p:spPr>
          <a:xfrm>
            <a:off x="611188" y="2597150"/>
            <a:ext cx="8281987" cy="1630363"/>
          </a:xfrm>
          <a:prstGeom prst="rect">
            <a:avLst/>
          </a:prstGeom>
          <a:noFill/>
          <a:ln w="9525">
            <a:noFill/>
          </a:ln>
        </p:spPr>
        <p:txBody>
          <a:bodyPr anchor="ctr" anchorCtr="0">
            <a:spAutoFit/>
          </a:bodyPr>
          <a:lstStyle/>
          <a:p>
            <a:pPr>
              <a:lnSpc>
                <a:spcPct val="120000"/>
              </a:lnSpc>
            </a:pPr>
            <a:r>
              <a:rPr lang="zh-CN" altLang="en-US" sz="2800" b="1" dirty="0">
                <a:latin typeface="Times New Roman" panose="02020603050405020304" pitchFamily="18" charset="0"/>
                <a:ea typeface="宋体" panose="02010600030101010101" pitchFamily="2" charset="-122"/>
              </a:rPr>
              <a:t>假设价带内失去一个</a:t>
            </a:r>
            <a:r>
              <a:rPr lang="en-US" altLang="zh-CN" sz="2800" b="1" i="1" err="1">
                <a:latin typeface="Times New Roman" panose="02020603050405020304" pitchFamily="18" charset="0"/>
                <a:ea typeface="宋体" panose="02010600030101010101" pitchFamily="2" charset="-122"/>
              </a:rPr>
              <a:t>k</a:t>
            </a:r>
            <a:r>
              <a:rPr lang="en-US" altLang="zh-CN" sz="2800" b="1" baseline="-25000" err="1">
                <a:latin typeface="Times New Roman" panose="02020603050405020304" pitchFamily="18" charset="0"/>
                <a:ea typeface="宋体" panose="02010600030101010101" pitchFamily="2" charset="-122"/>
              </a:rPr>
              <a:t>e</a:t>
            </a:r>
            <a:r>
              <a:rPr lang="zh-CN" altLang="en-US" sz="2800" b="1" dirty="0">
                <a:latin typeface="Times New Roman" panose="02020603050405020304" pitchFamily="18" charset="0"/>
                <a:ea typeface="宋体" panose="02010600030101010101" pitchFamily="2" charset="-122"/>
              </a:rPr>
              <a:t>态的电子，而价带中其它能级均有电子占据，</a:t>
            </a:r>
          </a:p>
          <a:p>
            <a:pPr>
              <a:lnSpc>
                <a:spcPct val="120000"/>
              </a:lnSpc>
            </a:pPr>
            <a:r>
              <a:rPr lang="zh-CN" altLang="en-US" sz="2800" b="1" dirty="0">
                <a:latin typeface="Times New Roman" panose="02020603050405020304" pitchFamily="18" charset="0"/>
                <a:ea typeface="宋体" panose="02010600030101010101" pitchFamily="2" charset="-122"/>
              </a:rPr>
              <a:t>	电子波矢总和 </a:t>
            </a:r>
            <a:r>
              <a:rPr lang="en-US" altLang="zh-CN" sz="2800" b="1" i="1" dirty="0">
                <a:latin typeface="Times New Roman" panose="02020603050405020304" pitchFamily="18" charset="0"/>
                <a:ea typeface="宋体" panose="02010600030101010101" pitchFamily="2" charset="-122"/>
              </a:rPr>
              <a:t>∑‘</a:t>
            </a:r>
            <a:r>
              <a:rPr lang="en-US" altLang="zh-CN" sz="2800" b="1" i="1" err="1">
                <a:latin typeface="Times New Roman" panose="02020603050405020304" pitchFamily="18" charset="0"/>
                <a:ea typeface="宋体" panose="02010600030101010101" pitchFamily="2" charset="-122"/>
              </a:rPr>
              <a:t>k = k</a:t>
            </a:r>
            <a:r>
              <a:rPr lang="en-US" altLang="zh-CN" sz="2800" b="1" i="1" baseline="-25000" err="1">
                <a:latin typeface="Times New Roman" panose="02020603050405020304" pitchFamily="18" charset="0"/>
                <a:ea typeface="宋体" panose="02010600030101010101" pitchFamily="2" charset="-122"/>
              </a:rPr>
              <a:t>p</a:t>
            </a:r>
            <a:r>
              <a:rPr lang="en-US" altLang="zh-CN" sz="2800" b="1" baseline="-2500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空穴波矢</a:t>
            </a:r>
            <a:endParaRPr lang="zh-CN" altLang="en-US" sz="2800" b="1">
              <a:latin typeface="Times New Roman" panose="02020603050405020304" pitchFamily="18" charset="0"/>
              <a:ea typeface="宋体" panose="02010600030101010101" pitchFamily="2" charset="-122"/>
            </a:endParaRPr>
          </a:p>
        </p:txBody>
      </p:sp>
      <p:sp>
        <p:nvSpPr>
          <p:cNvPr id="62468" name="矩形 87045"/>
          <p:cNvSpPr/>
          <p:nvPr/>
        </p:nvSpPr>
        <p:spPr>
          <a:xfrm>
            <a:off x="892175" y="4494213"/>
            <a:ext cx="5988050" cy="519112"/>
          </a:xfrm>
          <a:prstGeom prst="rect">
            <a:avLst/>
          </a:prstGeom>
          <a:noFill/>
          <a:ln w="9525">
            <a:noFill/>
          </a:ln>
        </p:spPr>
        <p:txBody>
          <a:bodyPr wrap="none" anchor="ctr" anchorCtr="0">
            <a:spAutoFit/>
          </a:bodyPr>
          <a:lstStyle/>
          <a:p>
            <a:r>
              <a:rPr lang="zh-CN" altLang="en-US" sz="2800" b="1" dirty="0">
                <a:latin typeface="Times New Roman" panose="02020603050405020304" pitchFamily="18" charset="0"/>
                <a:ea typeface="宋体" panose="02010600030101010101" pitchFamily="2" charset="-122"/>
              </a:rPr>
              <a:t>空状态中填入一个电子形成满带时： </a:t>
            </a:r>
          </a:p>
        </p:txBody>
      </p:sp>
      <p:sp>
        <p:nvSpPr>
          <p:cNvPr id="62469" name="矩形 87046"/>
          <p:cNvSpPr/>
          <p:nvPr/>
        </p:nvSpPr>
        <p:spPr>
          <a:xfrm>
            <a:off x="1908175" y="5157788"/>
            <a:ext cx="2163763" cy="519112"/>
          </a:xfrm>
          <a:prstGeom prst="rect">
            <a:avLst/>
          </a:prstGeom>
          <a:noFill/>
          <a:ln w="9525">
            <a:noFill/>
          </a:ln>
        </p:spPr>
        <p:txBody>
          <a:bodyPr wrap="none" anchor="ctr" anchorCtr="0">
            <a:spAutoFit/>
          </a:bodyPr>
          <a:lstStyle/>
          <a:p>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a:t>
            </a:r>
            <a:r>
              <a:rPr lang="en-US" altLang="zh-CN" sz="2800" b="1" err="1">
                <a:latin typeface="Times New Roman" panose="02020603050405020304" pitchFamily="18" charset="0"/>
                <a:ea typeface="宋体" panose="02010600030101010101" pitchFamily="2" charset="-122"/>
              </a:rPr>
              <a:t>k+ k</a:t>
            </a:r>
            <a:r>
              <a:rPr lang="en-US" altLang="zh-CN" sz="2800" b="1" baseline="-25000" err="1">
                <a:latin typeface="Times New Roman" panose="02020603050405020304" pitchFamily="18" charset="0"/>
                <a:ea typeface="宋体" panose="02010600030101010101" pitchFamily="2" charset="-122"/>
              </a:rPr>
              <a:t>e</a:t>
            </a:r>
            <a:r>
              <a:rPr lang="en-US" altLang="zh-CN" sz="2800" b="1">
                <a:latin typeface="Times New Roman" panose="02020603050405020304" pitchFamily="18" charset="0"/>
                <a:ea typeface="宋体" panose="02010600030101010101" pitchFamily="2" charset="-122"/>
              </a:rPr>
              <a:t>=0 </a:t>
            </a:r>
          </a:p>
        </p:txBody>
      </p:sp>
      <p:sp>
        <p:nvSpPr>
          <p:cNvPr id="62470" name="矩形 87047"/>
          <p:cNvSpPr/>
          <p:nvPr/>
        </p:nvSpPr>
        <p:spPr>
          <a:xfrm>
            <a:off x="4500563" y="5157788"/>
            <a:ext cx="1881187" cy="519112"/>
          </a:xfrm>
          <a:prstGeom prst="rect">
            <a:avLst/>
          </a:prstGeom>
          <a:noFill/>
          <a:ln w="9525">
            <a:noFill/>
          </a:ln>
        </p:spPr>
        <p:txBody>
          <a:bodyPr wrap="none" anchor="ctr" anchorCtr="0">
            <a:spAutoFit/>
          </a:bodyPr>
          <a:lstStyle/>
          <a:p>
            <a:r>
              <a:rPr lang="en-US" altLang="zh-CN" sz="2800" b="1" dirty="0">
                <a:latin typeface="Times New Roman" panose="02020603050405020304" pitchFamily="18" charset="0"/>
                <a:ea typeface="宋体" panose="02010600030101010101" pitchFamily="2" charset="-122"/>
              </a:rPr>
              <a:t> ∑’k=</a:t>
            </a:r>
            <a:r>
              <a:rPr lang="zh-CN" altLang="en-US" sz="2800" b="1" dirty="0">
                <a:latin typeface="Times New Roman" panose="02020603050405020304" pitchFamily="18" charset="0"/>
                <a:ea typeface="宋体" panose="02010600030101010101" pitchFamily="2" charset="-122"/>
              </a:rPr>
              <a:t>－</a:t>
            </a:r>
            <a:r>
              <a:rPr lang="en-US" altLang="zh-CN" sz="2800" b="1" err="1">
                <a:latin typeface="Times New Roman" panose="02020603050405020304" pitchFamily="18" charset="0"/>
                <a:ea typeface="宋体" panose="02010600030101010101" pitchFamily="2" charset="-122"/>
              </a:rPr>
              <a:t>k</a:t>
            </a:r>
            <a:r>
              <a:rPr lang="en-US" altLang="zh-CN" sz="2800" b="1" baseline="-25000" err="1">
                <a:latin typeface="Times New Roman" panose="02020603050405020304" pitchFamily="18" charset="0"/>
                <a:ea typeface="宋体" panose="02010600030101010101" pitchFamily="2" charset="-122"/>
              </a:rPr>
              <a:t>e</a:t>
            </a:r>
            <a:r>
              <a:rPr lang="en-US" altLang="zh-CN" sz="2800" b="1">
                <a:latin typeface="Times New Roman" panose="02020603050405020304" pitchFamily="18" charset="0"/>
                <a:ea typeface="宋体" panose="02010600030101010101" pitchFamily="2" charset="-122"/>
              </a:rPr>
              <a:t> </a:t>
            </a:r>
          </a:p>
        </p:txBody>
      </p:sp>
      <p:sp>
        <p:nvSpPr>
          <p:cNvPr id="62471" name="矩形 87048"/>
          <p:cNvSpPr/>
          <p:nvPr/>
        </p:nvSpPr>
        <p:spPr>
          <a:xfrm>
            <a:off x="1258888" y="5775325"/>
            <a:ext cx="3889375" cy="579438"/>
          </a:xfrm>
          <a:prstGeom prst="rect">
            <a:avLst/>
          </a:prstGeom>
          <a:noFill/>
          <a:ln w="9525">
            <a:noFill/>
          </a:ln>
        </p:spPr>
        <p:txBody>
          <a:bodyPr anchor="ctr" anchorCtr="0">
            <a:spAutoFit/>
          </a:bodyPr>
          <a:lstStyle/>
          <a:p>
            <a:r>
              <a:rPr lang="en-US" altLang="zh-CN" sz="2800" b="1" dirty="0">
                <a:latin typeface="Times New Roman" panose="02020603050405020304" pitchFamily="18" charset="0"/>
                <a:ea typeface="宋体" panose="02010600030101010101" pitchFamily="2" charset="-122"/>
              </a:rPr>
              <a:t>∴</a:t>
            </a:r>
            <a:r>
              <a:rPr lang="zh-CN" altLang="en-US" sz="2800" b="1" dirty="0">
                <a:latin typeface="Times New Roman" panose="02020603050405020304" pitchFamily="18" charset="0"/>
                <a:ea typeface="宋体" panose="02010600030101010101" pitchFamily="2" charset="-122"/>
              </a:rPr>
              <a:t>空穴的波矢  </a:t>
            </a:r>
            <a:r>
              <a:rPr lang="en-US" altLang="zh-CN" sz="3200" b="1" i="1" err="1">
                <a:solidFill>
                  <a:srgbClr val="A50021"/>
                </a:solidFill>
                <a:latin typeface="Times New Roman" panose="02020603050405020304" pitchFamily="18" charset="0"/>
                <a:ea typeface="宋体" panose="02010600030101010101" pitchFamily="2" charset="-122"/>
              </a:rPr>
              <a:t>k</a:t>
            </a:r>
            <a:r>
              <a:rPr lang="en-US" altLang="zh-CN" sz="3200" b="1" i="1" baseline="-25000" err="1">
                <a:solidFill>
                  <a:srgbClr val="A50021"/>
                </a:solidFill>
                <a:latin typeface="Times New Roman" panose="02020603050405020304" pitchFamily="18" charset="0"/>
                <a:ea typeface="宋体" panose="02010600030101010101" pitchFamily="2" charset="-122"/>
              </a:rPr>
              <a:t>P</a:t>
            </a:r>
            <a:r>
              <a:rPr lang="en-US" altLang="zh-CN" sz="3200" b="1" i="1" baseline="-25000">
                <a:solidFill>
                  <a:srgbClr val="A50021"/>
                </a:solidFill>
                <a:latin typeface="Times New Roman" panose="02020603050405020304" pitchFamily="18" charset="0"/>
                <a:ea typeface="宋体" panose="02010600030101010101" pitchFamily="2" charset="-122"/>
              </a:rPr>
              <a:t> </a:t>
            </a:r>
            <a:r>
              <a:rPr lang="en-US" altLang="zh-CN" sz="3200" b="1" i="1" err="1">
                <a:solidFill>
                  <a:srgbClr val="A50021"/>
                </a:solidFill>
                <a:latin typeface="Times New Roman" panose="02020603050405020304" pitchFamily="18" charset="0"/>
                <a:ea typeface="宋体" panose="02010600030101010101" pitchFamily="2" charset="-122"/>
              </a:rPr>
              <a:t>= - k</a:t>
            </a:r>
            <a:r>
              <a:rPr lang="en-US" altLang="zh-CN" sz="3200" b="1" i="1" baseline="-25000" err="1">
                <a:solidFill>
                  <a:srgbClr val="A50021"/>
                </a:solidFill>
                <a:latin typeface="Times New Roman" panose="02020603050405020304" pitchFamily="18" charset="0"/>
                <a:ea typeface="宋体" panose="02010600030101010101" pitchFamily="2" charset="-122"/>
              </a:rPr>
              <a:t>e</a:t>
            </a:r>
            <a:r>
              <a:rPr lang="en-US" altLang="zh-CN" sz="2800" b="1">
                <a:latin typeface="Times New Roman" panose="02020603050405020304" pitchFamily="18" charset="0"/>
                <a:ea typeface="宋体" panose="02010600030101010101" pitchFamily="2" charset="-122"/>
              </a:rPr>
              <a:t>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矩形 89089"/>
          <p:cNvSpPr/>
          <p:nvPr/>
        </p:nvSpPr>
        <p:spPr>
          <a:xfrm>
            <a:off x="900113" y="549275"/>
            <a:ext cx="1727200" cy="641350"/>
          </a:xfrm>
          <a:prstGeom prst="rect">
            <a:avLst/>
          </a:prstGeom>
          <a:noFill/>
          <a:ln w="9525">
            <a:noFill/>
          </a:ln>
        </p:spPr>
        <p:txBody>
          <a:bodyPr anchor="ctr" anchorCtr="0">
            <a:spAutoFit/>
          </a:bodyPr>
          <a:lstStyle/>
          <a:p>
            <a:r>
              <a:rPr lang="zh-CN" altLang="en-US" sz="3600" b="1" dirty="0">
                <a:solidFill>
                  <a:srgbClr val="A50021"/>
                </a:solidFill>
                <a:latin typeface="Times New Roman" panose="02020603050405020304" pitchFamily="18" charset="0"/>
                <a:ea typeface="宋体" panose="02010600030101010101" pitchFamily="2" charset="-122"/>
              </a:rPr>
              <a:t>速度 </a:t>
            </a:r>
            <a:r>
              <a:rPr lang="en-US" altLang="zh-CN" sz="3600" b="1">
                <a:solidFill>
                  <a:srgbClr val="A50021"/>
                </a:solidFill>
                <a:latin typeface="Times New Roman" panose="02020603050405020304" pitchFamily="18" charset="0"/>
                <a:ea typeface="宋体" panose="02010600030101010101" pitchFamily="2" charset="-122"/>
              </a:rPr>
              <a:t>v</a:t>
            </a:r>
          </a:p>
        </p:txBody>
      </p:sp>
      <p:sp>
        <p:nvSpPr>
          <p:cNvPr id="63490" name="矩形 89090"/>
          <p:cNvSpPr/>
          <p:nvPr/>
        </p:nvSpPr>
        <p:spPr>
          <a:xfrm>
            <a:off x="1187450" y="1341438"/>
            <a:ext cx="6840538" cy="946150"/>
          </a:xfrm>
          <a:prstGeom prst="rect">
            <a:avLst/>
          </a:prstGeom>
          <a:noFill/>
          <a:ln w="9525">
            <a:noFill/>
          </a:ln>
        </p:spPr>
        <p:txBody>
          <a:bodyPr anchor="ctr" anchorCtr="0">
            <a:spAutoFit/>
          </a:bodyPr>
          <a:lstStyle/>
          <a:p>
            <a:r>
              <a:rPr lang="zh-CN" altLang="en-US" sz="2800" b="1" dirty="0">
                <a:latin typeface="Times New Roman" panose="02020603050405020304" pitchFamily="18" charset="0"/>
                <a:ea typeface="宋体" panose="02010600030101010101" pitchFamily="2" charset="-122"/>
              </a:rPr>
              <a:t>价带所有电子形成的总电流密度为 </a:t>
            </a:r>
            <a:r>
              <a:rPr lang="en-US" altLang="zh-CN" sz="2800" b="1" dirty="0">
                <a:latin typeface="Times New Roman" panose="02020603050405020304" pitchFamily="18" charset="0"/>
                <a:ea typeface="宋体" panose="02010600030101010101" pitchFamily="2" charset="-122"/>
              </a:rPr>
              <a:t>J </a:t>
            </a:r>
            <a:r>
              <a:rPr lang="zh-CN" altLang="en-US" sz="2800" b="1" dirty="0">
                <a:latin typeface="Times New Roman" panose="02020603050405020304" pitchFamily="18" charset="0"/>
                <a:ea typeface="宋体" panose="02010600030101010101" pitchFamily="2" charset="-122"/>
              </a:rPr>
              <a:t>即为空穴形成的电流密度，那么：</a:t>
            </a:r>
          </a:p>
        </p:txBody>
      </p:sp>
      <p:graphicFrame>
        <p:nvGraphicFramePr>
          <p:cNvPr id="63491" name="对象 89091"/>
          <p:cNvGraphicFramePr/>
          <p:nvPr/>
        </p:nvGraphicFramePr>
        <p:xfrm>
          <a:off x="2195513" y="2276475"/>
          <a:ext cx="4387850" cy="2870200"/>
        </p:xfrm>
        <a:graphic>
          <a:graphicData uri="http://schemas.openxmlformats.org/presentationml/2006/ole">
            <mc:AlternateContent xmlns:mc="http://schemas.openxmlformats.org/markup-compatibility/2006">
              <mc:Choice xmlns:v="urn:schemas-microsoft-com:vml" Requires="v">
                <p:oleObj r:id="rId2" imgW="1689100" imgH="1104900" progId="Equation.DSMT4">
                  <p:embed/>
                </p:oleObj>
              </mc:Choice>
              <mc:Fallback>
                <p:oleObj r:id="rId2" imgW="1689100" imgH="1104900" progId="Equation.DSMT4">
                  <p:embed/>
                  <p:pic>
                    <p:nvPicPr>
                      <p:cNvPr id="0" name="图片 3108"/>
                      <p:cNvPicPr/>
                      <p:nvPr/>
                    </p:nvPicPr>
                    <p:blipFill>
                      <a:blip r:embed="rId3"/>
                      <a:stretch>
                        <a:fillRect/>
                      </a:stretch>
                    </p:blipFill>
                    <p:spPr>
                      <a:xfrm>
                        <a:off x="2195513" y="2276475"/>
                        <a:ext cx="4387850" cy="2870200"/>
                      </a:xfrm>
                      <a:prstGeom prst="rect">
                        <a:avLst/>
                      </a:prstGeom>
                      <a:noFill/>
                      <a:ln w="38100">
                        <a:noFill/>
                        <a:miter/>
                      </a:ln>
                    </p:spPr>
                  </p:pic>
                </p:oleObj>
              </mc:Fallback>
            </mc:AlternateContent>
          </a:graphicData>
        </a:graphic>
      </p:graphicFrame>
      <p:graphicFrame>
        <p:nvGraphicFramePr>
          <p:cNvPr id="63492" name="对象 89092"/>
          <p:cNvGraphicFramePr/>
          <p:nvPr/>
        </p:nvGraphicFramePr>
        <p:xfrm>
          <a:off x="2609850" y="5300663"/>
          <a:ext cx="3257550" cy="803275"/>
        </p:xfrm>
        <a:graphic>
          <a:graphicData uri="http://schemas.openxmlformats.org/presentationml/2006/ole">
            <mc:AlternateContent xmlns:mc="http://schemas.openxmlformats.org/markup-compatibility/2006">
              <mc:Choice xmlns:v="urn:schemas-microsoft-com:vml" Requires="v">
                <p:oleObj r:id="rId4" imgW="977265" imgH="241300" progId="Equation.DSMT4">
                  <p:embed/>
                </p:oleObj>
              </mc:Choice>
              <mc:Fallback>
                <p:oleObj r:id="rId4" imgW="977265" imgH="241300" progId="Equation.DSMT4">
                  <p:embed/>
                  <p:pic>
                    <p:nvPicPr>
                      <p:cNvPr id="0" name="图片 3109"/>
                      <p:cNvPicPr/>
                      <p:nvPr/>
                    </p:nvPicPr>
                    <p:blipFill>
                      <a:blip r:embed="rId5"/>
                      <a:stretch>
                        <a:fillRect/>
                      </a:stretch>
                    </p:blipFill>
                    <p:spPr>
                      <a:xfrm>
                        <a:off x="2609850" y="5300663"/>
                        <a:ext cx="3257550" cy="803275"/>
                      </a:xfrm>
                      <a:prstGeom prst="rect">
                        <a:avLst/>
                      </a:prstGeom>
                      <a:solidFill>
                        <a:schemeClr val="accent1"/>
                      </a:solidFill>
                      <a:ln w="38100">
                        <a:noFill/>
                        <a:miter/>
                      </a:ln>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矩形 90113"/>
          <p:cNvSpPr/>
          <p:nvPr/>
        </p:nvSpPr>
        <p:spPr>
          <a:xfrm>
            <a:off x="611188" y="620713"/>
            <a:ext cx="2881312" cy="579437"/>
          </a:xfrm>
          <a:prstGeom prst="rect">
            <a:avLst/>
          </a:prstGeom>
          <a:noFill/>
          <a:ln w="9525">
            <a:noFill/>
          </a:ln>
        </p:spPr>
        <p:txBody>
          <a:bodyPr anchor="ctr" anchorCtr="0">
            <a:spAutoFit/>
          </a:bodyPr>
          <a:lstStyle/>
          <a:p>
            <a:r>
              <a:rPr lang="zh-CN" altLang="en-US" sz="3200" b="1" dirty="0">
                <a:solidFill>
                  <a:srgbClr val="A50021"/>
                </a:solidFill>
                <a:latin typeface="Times New Roman" panose="02020603050405020304" pitchFamily="18" charset="0"/>
                <a:ea typeface="宋体" panose="02010600030101010101" pitchFamily="2" charset="-122"/>
              </a:rPr>
              <a:t>空穴的能量</a:t>
            </a:r>
          </a:p>
        </p:txBody>
      </p:sp>
      <p:grpSp>
        <p:nvGrpSpPr>
          <p:cNvPr id="64514" name="组合 90129"/>
          <p:cNvGrpSpPr/>
          <p:nvPr/>
        </p:nvGrpSpPr>
        <p:grpSpPr>
          <a:xfrm>
            <a:off x="2987675" y="1989138"/>
            <a:ext cx="2690813" cy="2306637"/>
            <a:chOff x="3243" y="785"/>
            <a:chExt cx="2112" cy="1654"/>
          </a:xfrm>
        </p:grpSpPr>
        <p:sp>
          <p:nvSpPr>
            <p:cNvPr id="64515" name="直接连接符 90114"/>
            <p:cNvSpPr/>
            <p:nvPr/>
          </p:nvSpPr>
          <p:spPr>
            <a:xfrm>
              <a:off x="3243" y="935"/>
              <a:ext cx="1678" cy="1"/>
            </a:xfrm>
            <a:prstGeom prst="line">
              <a:avLst/>
            </a:prstGeom>
            <a:ln w="38100" cap="flat" cmpd="sng">
              <a:solidFill>
                <a:schemeClr val="tx1"/>
              </a:solidFill>
              <a:prstDash val="solid"/>
              <a:round/>
              <a:headEnd type="none" w="med" len="med"/>
              <a:tailEnd type="none" w="med" len="med"/>
            </a:ln>
          </p:spPr>
        </p:sp>
        <p:sp>
          <p:nvSpPr>
            <p:cNvPr id="64516" name="直接连接符 90115"/>
            <p:cNvSpPr/>
            <p:nvPr/>
          </p:nvSpPr>
          <p:spPr>
            <a:xfrm>
              <a:off x="3288" y="1933"/>
              <a:ext cx="1679" cy="1"/>
            </a:xfrm>
            <a:prstGeom prst="line">
              <a:avLst/>
            </a:prstGeom>
            <a:ln w="38100" cap="flat" cmpd="sng">
              <a:solidFill>
                <a:schemeClr val="tx1"/>
              </a:solidFill>
              <a:prstDash val="solid"/>
              <a:round/>
              <a:headEnd type="none" w="med" len="med"/>
              <a:tailEnd type="none" w="med" len="med"/>
            </a:ln>
          </p:spPr>
        </p:sp>
        <p:sp>
          <p:nvSpPr>
            <p:cNvPr id="64517" name="直接连接符 90116"/>
            <p:cNvSpPr/>
            <p:nvPr/>
          </p:nvSpPr>
          <p:spPr>
            <a:xfrm>
              <a:off x="3833" y="2251"/>
              <a:ext cx="680" cy="1"/>
            </a:xfrm>
            <a:prstGeom prst="line">
              <a:avLst/>
            </a:prstGeom>
            <a:ln w="28575" cap="flat" cmpd="sng">
              <a:solidFill>
                <a:schemeClr val="tx1"/>
              </a:solidFill>
              <a:prstDash val="solid"/>
              <a:round/>
              <a:headEnd type="none" w="med" len="med"/>
              <a:tailEnd type="none" w="med" len="med"/>
            </a:ln>
          </p:spPr>
        </p:sp>
        <p:sp>
          <p:nvSpPr>
            <p:cNvPr id="64518" name="文本框 90117"/>
            <p:cNvSpPr txBox="1"/>
            <p:nvPr/>
          </p:nvSpPr>
          <p:spPr>
            <a:xfrm>
              <a:off x="4014" y="2132"/>
              <a:ext cx="284" cy="218"/>
            </a:xfrm>
            <a:prstGeom prst="rect">
              <a:avLst/>
            </a:prstGeom>
            <a:noFill/>
            <a:ln w="9525">
              <a:noFill/>
            </a:ln>
          </p:spPr>
          <p:txBody>
            <a:bodyPr wrap="none" anchor="t" anchorCtr="0">
              <a:spAutoFit/>
            </a:bodyPr>
            <a:lstStyle/>
            <a:p>
              <a:r>
                <a:rPr lang="en-US" altLang="zh-CN" sz="1400" b="1">
                  <a:latin typeface="Times New Roman" panose="02020603050405020304" pitchFamily="18" charset="0"/>
                  <a:ea typeface="宋体" panose="02010600030101010101" pitchFamily="2" charset="-122"/>
                </a:rPr>
                <a:t>○</a:t>
              </a:r>
            </a:p>
          </p:txBody>
        </p:sp>
        <p:sp>
          <p:nvSpPr>
            <p:cNvPr id="64519" name="文本框 90118"/>
            <p:cNvSpPr txBox="1"/>
            <p:nvPr/>
          </p:nvSpPr>
          <p:spPr>
            <a:xfrm>
              <a:off x="4014" y="799"/>
              <a:ext cx="272" cy="218"/>
            </a:xfrm>
            <a:prstGeom prst="rect">
              <a:avLst/>
            </a:prstGeom>
            <a:noFill/>
            <a:ln w="9525">
              <a:noFill/>
            </a:ln>
          </p:spPr>
          <p:txBody>
            <a:bodyPr anchor="t" anchorCtr="0">
              <a:spAutoFit/>
            </a:bodyPr>
            <a:lstStyle/>
            <a:p>
              <a:r>
                <a:rPr lang="en-US" altLang="zh-CN" sz="1400" b="1">
                  <a:latin typeface="Times New Roman" panose="02020603050405020304" pitchFamily="18" charset="0"/>
                  <a:ea typeface="宋体" panose="02010600030101010101" pitchFamily="2" charset="-122"/>
                </a:rPr>
                <a:t>●</a:t>
              </a:r>
            </a:p>
          </p:txBody>
        </p:sp>
        <p:sp>
          <p:nvSpPr>
            <p:cNvPr id="64520" name="直接连接符 90119"/>
            <p:cNvSpPr/>
            <p:nvPr/>
          </p:nvSpPr>
          <p:spPr>
            <a:xfrm flipV="1">
              <a:off x="4123" y="935"/>
              <a:ext cx="1" cy="1225"/>
            </a:xfrm>
            <a:prstGeom prst="line">
              <a:avLst/>
            </a:prstGeom>
            <a:ln w="9525" cap="flat" cmpd="sng">
              <a:solidFill>
                <a:schemeClr val="tx1"/>
              </a:solidFill>
              <a:prstDash val="solid"/>
              <a:round/>
              <a:headEnd type="none" w="med" len="med"/>
              <a:tailEnd type="triangle" w="med" len="med"/>
            </a:ln>
          </p:spPr>
        </p:sp>
        <p:sp>
          <p:nvSpPr>
            <p:cNvPr id="64521" name="文本框 90120"/>
            <p:cNvSpPr txBox="1"/>
            <p:nvPr/>
          </p:nvSpPr>
          <p:spPr>
            <a:xfrm>
              <a:off x="4966" y="785"/>
              <a:ext cx="336" cy="285"/>
            </a:xfrm>
            <a:prstGeom prst="rect">
              <a:avLst/>
            </a:prstGeom>
            <a:noFill/>
            <a:ln w="9525">
              <a:noFill/>
            </a:ln>
          </p:spPr>
          <p:txBody>
            <a:bodyPr wrap="none" anchor="t" anchorCtr="0">
              <a:spAutoFit/>
            </a:bodyPr>
            <a:lstStyle/>
            <a:p>
              <a:r>
                <a:rPr lang="en-US" altLang="zh-CN" sz="2000" b="1" err="1">
                  <a:latin typeface="Times New Roman" panose="02020603050405020304" pitchFamily="18" charset="0"/>
                  <a:ea typeface="宋体" panose="02010600030101010101" pitchFamily="2" charset="-122"/>
                </a:rPr>
                <a:t>E</a:t>
              </a:r>
              <a:r>
                <a:rPr lang="en-US" altLang="zh-CN" sz="2000" b="1" baseline="-25000" err="1">
                  <a:latin typeface="Times New Roman" panose="02020603050405020304" pitchFamily="18" charset="0"/>
                  <a:ea typeface="宋体" panose="02010600030101010101" pitchFamily="2" charset="-122"/>
                </a:rPr>
                <a:t>c</a:t>
              </a:r>
              <a:endParaRPr lang="en-US" altLang="zh-CN" sz="2000" b="1">
                <a:latin typeface="Times New Roman" panose="02020603050405020304" pitchFamily="18" charset="0"/>
                <a:ea typeface="宋体" panose="02010600030101010101" pitchFamily="2" charset="-122"/>
              </a:endParaRPr>
            </a:p>
          </p:txBody>
        </p:sp>
        <p:sp>
          <p:nvSpPr>
            <p:cNvPr id="64522" name="文本框 90121"/>
            <p:cNvSpPr txBox="1"/>
            <p:nvPr/>
          </p:nvSpPr>
          <p:spPr>
            <a:xfrm>
              <a:off x="5013" y="1783"/>
              <a:ext cx="342" cy="285"/>
            </a:xfrm>
            <a:prstGeom prst="rect">
              <a:avLst/>
            </a:prstGeom>
            <a:noFill/>
            <a:ln w="9525">
              <a:noFill/>
            </a:ln>
          </p:spPr>
          <p:txBody>
            <a:bodyPr wrap="none" anchor="t" anchorCtr="0">
              <a:spAutoFit/>
            </a:bodyPr>
            <a:lstStyle/>
            <a:p>
              <a:r>
                <a:rPr lang="en-US" altLang="zh-CN" sz="2000" b="1" err="1">
                  <a:latin typeface="Times New Roman" panose="02020603050405020304" pitchFamily="18" charset="0"/>
                  <a:ea typeface="宋体" panose="02010600030101010101" pitchFamily="2" charset="-122"/>
                </a:rPr>
                <a:t>E</a:t>
              </a:r>
              <a:r>
                <a:rPr lang="en-US" altLang="zh-CN" sz="2000" b="1" baseline="-25000" err="1">
                  <a:latin typeface="Times New Roman" panose="02020603050405020304" pitchFamily="18" charset="0"/>
                  <a:ea typeface="宋体" panose="02010600030101010101" pitchFamily="2" charset="-122"/>
                </a:rPr>
                <a:t>v</a:t>
              </a:r>
              <a:endParaRPr lang="en-US" altLang="zh-CN" sz="2000" b="1">
                <a:latin typeface="Times New Roman" panose="02020603050405020304" pitchFamily="18" charset="0"/>
                <a:ea typeface="宋体" panose="02010600030101010101" pitchFamily="2" charset="-122"/>
              </a:endParaRPr>
            </a:p>
          </p:txBody>
        </p:sp>
        <p:sp>
          <p:nvSpPr>
            <p:cNvPr id="64523" name="文本框 90122"/>
            <p:cNvSpPr txBox="1"/>
            <p:nvPr/>
          </p:nvSpPr>
          <p:spPr>
            <a:xfrm>
              <a:off x="4558" y="2111"/>
              <a:ext cx="626" cy="328"/>
            </a:xfrm>
            <a:prstGeom prst="rect">
              <a:avLst/>
            </a:prstGeom>
            <a:noFill/>
            <a:ln w="9525">
              <a:noFill/>
            </a:ln>
          </p:spPr>
          <p:txBody>
            <a:bodyPr wrap="none" anchor="t" anchorCtr="0">
              <a:spAutoFit/>
            </a:bodyPr>
            <a:lstStyle/>
            <a:p>
              <a:r>
                <a:rPr lang="en-US" altLang="zh-CN" sz="2000" b="1" err="1">
                  <a:latin typeface="Times New Roman" panose="02020603050405020304" pitchFamily="18" charset="0"/>
                  <a:ea typeface="宋体" panose="02010600030101010101" pitchFamily="2" charset="-122"/>
                </a:rPr>
                <a:t>E(k</a:t>
              </a:r>
              <a:r>
                <a:rPr lang="en-US" altLang="zh-CN" sz="3600" b="1" baseline="-25000" err="1">
                  <a:latin typeface="Times New Roman" panose="02020603050405020304" pitchFamily="18" charset="0"/>
                  <a:ea typeface="宋体" panose="02010600030101010101" pitchFamily="2" charset="-122"/>
                </a:rPr>
                <a:t>e</a:t>
              </a:r>
              <a:r>
                <a:rPr lang="en-US" altLang="zh-CN" sz="2000" b="1">
                  <a:latin typeface="Times New Roman" panose="02020603050405020304" pitchFamily="18" charset="0"/>
                  <a:ea typeface="宋体" panose="02010600030101010101" pitchFamily="2" charset="-122"/>
                </a:rPr>
                <a:t>)</a:t>
              </a:r>
            </a:p>
          </p:txBody>
        </p:sp>
        <p:sp>
          <p:nvSpPr>
            <p:cNvPr id="64524" name="直接连接符 90124"/>
            <p:cNvSpPr/>
            <p:nvPr/>
          </p:nvSpPr>
          <p:spPr>
            <a:xfrm>
              <a:off x="3923" y="1933"/>
              <a:ext cx="1" cy="318"/>
            </a:xfrm>
            <a:prstGeom prst="line">
              <a:avLst/>
            </a:prstGeom>
            <a:ln w="9525" cap="flat" cmpd="sng">
              <a:solidFill>
                <a:schemeClr val="tx1"/>
              </a:solidFill>
              <a:prstDash val="solid"/>
              <a:round/>
              <a:headEnd type="triangle" w="med" len="med"/>
              <a:tailEnd type="triangle" w="med" len="med"/>
            </a:ln>
          </p:spPr>
        </p:sp>
        <p:sp>
          <p:nvSpPr>
            <p:cNvPr id="64525" name="文本框 90125"/>
            <p:cNvSpPr txBox="1"/>
            <p:nvPr/>
          </p:nvSpPr>
          <p:spPr>
            <a:xfrm>
              <a:off x="3502" y="1994"/>
              <a:ext cx="444" cy="263"/>
            </a:xfrm>
            <a:prstGeom prst="rect">
              <a:avLst/>
            </a:prstGeom>
            <a:noFill/>
            <a:ln w="9525">
              <a:noFill/>
            </a:ln>
          </p:spPr>
          <p:txBody>
            <a:bodyPr wrap="none" anchor="t" anchorCtr="0">
              <a:spAutoFit/>
            </a:bodyPr>
            <a:lstStyle/>
            <a:p>
              <a:r>
                <a:rPr lang="en-US" altLang="zh-CN" b="1">
                  <a:latin typeface="Times New Roman" panose="02020603050405020304" pitchFamily="18" charset="0"/>
                  <a:ea typeface="宋体" panose="02010600030101010101" pitchFamily="2" charset="-122"/>
                </a:rPr>
                <a:t>△E</a:t>
              </a:r>
            </a:p>
          </p:txBody>
        </p:sp>
      </p:grpSp>
      <p:sp>
        <p:nvSpPr>
          <p:cNvPr id="64526" name="直接连接符 90130"/>
          <p:cNvSpPr/>
          <p:nvPr/>
        </p:nvSpPr>
        <p:spPr>
          <a:xfrm flipV="1">
            <a:off x="2784475" y="2132013"/>
            <a:ext cx="0" cy="1871662"/>
          </a:xfrm>
          <a:prstGeom prst="line">
            <a:avLst/>
          </a:prstGeom>
          <a:ln w="57150" cap="flat" cmpd="sng">
            <a:solidFill>
              <a:srgbClr val="0000FF"/>
            </a:solidFill>
            <a:prstDash val="solid"/>
            <a:round/>
            <a:headEnd type="none" w="med" len="med"/>
            <a:tailEnd type="triangle" w="med" len="med"/>
          </a:ln>
        </p:spPr>
      </p:sp>
      <p:sp>
        <p:nvSpPr>
          <p:cNvPr id="64527" name="直接连接符 90131"/>
          <p:cNvSpPr/>
          <p:nvPr/>
        </p:nvSpPr>
        <p:spPr>
          <a:xfrm>
            <a:off x="5807075" y="2133600"/>
            <a:ext cx="1588" cy="1798638"/>
          </a:xfrm>
          <a:prstGeom prst="line">
            <a:avLst/>
          </a:prstGeom>
          <a:ln w="38100" cap="flat" cmpd="sng">
            <a:solidFill>
              <a:srgbClr val="A50021"/>
            </a:solidFill>
            <a:prstDash val="solid"/>
            <a:round/>
            <a:headEnd type="none" w="med" len="med"/>
            <a:tailEnd type="triangle" w="med" len="med"/>
          </a:ln>
        </p:spPr>
      </p:sp>
      <p:sp>
        <p:nvSpPr>
          <p:cNvPr id="64528" name="文本框 90132"/>
          <p:cNvSpPr txBox="1"/>
          <p:nvPr/>
        </p:nvSpPr>
        <p:spPr>
          <a:xfrm>
            <a:off x="2332038" y="2427288"/>
            <a:ext cx="307975" cy="1190625"/>
          </a:xfrm>
          <a:prstGeom prst="rect">
            <a:avLst/>
          </a:prstGeom>
          <a:noFill/>
          <a:ln w="9525">
            <a:noFill/>
          </a:ln>
        </p:spPr>
        <p:txBody>
          <a:bodyPr anchor="t" anchorCtr="0">
            <a:spAutoFit/>
          </a:bodyPr>
          <a:lstStyle/>
          <a:p>
            <a:r>
              <a:rPr lang="zh-CN" altLang="en-US" b="1" dirty="0">
                <a:solidFill>
                  <a:srgbClr val="0000FF"/>
                </a:solidFill>
                <a:latin typeface="Times New Roman" panose="02020603050405020304" pitchFamily="18" charset="0"/>
                <a:ea typeface="宋体" panose="02010600030101010101" pitchFamily="2" charset="-122"/>
              </a:rPr>
              <a:t>电子能量</a:t>
            </a:r>
          </a:p>
        </p:txBody>
      </p:sp>
      <p:sp>
        <p:nvSpPr>
          <p:cNvPr id="64529" name="文本框 90133"/>
          <p:cNvSpPr txBox="1"/>
          <p:nvPr/>
        </p:nvSpPr>
        <p:spPr>
          <a:xfrm>
            <a:off x="5807075" y="2420938"/>
            <a:ext cx="361950" cy="1190625"/>
          </a:xfrm>
          <a:prstGeom prst="rect">
            <a:avLst/>
          </a:prstGeom>
          <a:noFill/>
          <a:ln w="9525">
            <a:noFill/>
          </a:ln>
        </p:spPr>
        <p:txBody>
          <a:bodyPr anchor="t" anchorCtr="0">
            <a:spAutoFit/>
          </a:bodyPr>
          <a:lstStyle/>
          <a:p>
            <a:r>
              <a:rPr lang="zh-CN" altLang="en-US" b="1" dirty="0">
                <a:solidFill>
                  <a:srgbClr val="A50021"/>
                </a:solidFill>
                <a:latin typeface="Times New Roman" panose="02020603050405020304" pitchFamily="18" charset="0"/>
                <a:ea typeface="宋体" panose="02010600030101010101" pitchFamily="2" charset="-122"/>
              </a:rPr>
              <a:t>空穴能量</a:t>
            </a:r>
          </a:p>
        </p:txBody>
      </p:sp>
      <p:graphicFrame>
        <p:nvGraphicFramePr>
          <p:cNvPr id="64530" name="对象 90142"/>
          <p:cNvGraphicFramePr/>
          <p:nvPr/>
        </p:nvGraphicFramePr>
        <p:xfrm>
          <a:off x="2843213" y="5157788"/>
          <a:ext cx="3192462" cy="736600"/>
        </p:xfrm>
        <a:graphic>
          <a:graphicData uri="http://schemas.openxmlformats.org/presentationml/2006/ole">
            <mc:AlternateContent xmlns:mc="http://schemas.openxmlformats.org/markup-compatibility/2006">
              <mc:Choice xmlns:v="urn:schemas-microsoft-com:vml" Requires="v">
                <p:oleObj r:id="rId2" imgW="989965" imgH="228600" progId="Equation.DSMT4">
                  <p:embed/>
                </p:oleObj>
              </mc:Choice>
              <mc:Fallback>
                <p:oleObj r:id="rId2" imgW="989965" imgH="228600" progId="Equation.DSMT4">
                  <p:embed/>
                  <p:pic>
                    <p:nvPicPr>
                      <p:cNvPr id="0" name="图片 3105"/>
                      <p:cNvPicPr/>
                      <p:nvPr/>
                    </p:nvPicPr>
                    <p:blipFill>
                      <a:blip r:embed="rId3"/>
                      <a:stretch>
                        <a:fillRect/>
                      </a:stretch>
                    </p:blipFill>
                    <p:spPr>
                      <a:xfrm>
                        <a:off x="2843213" y="5157788"/>
                        <a:ext cx="3192462" cy="736600"/>
                      </a:xfrm>
                      <a:prstGeom prst="rect">
                        <a:avLst/>
                      </a:prstGeom>
                      <a:noFill/>
                      <a:ln w="38100">
                        <a:noFill/>
                        <a:miter/>
                      </a:ln>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矩形 92161"/>
          <p:cNvSpPr/>
          <p:nvPr/>
        </p:nvSpPr>
        <p:spPr>
          <a:xfrm>
            <a:off x="684213" y="2765425"/>
            <a:ext cx="5111750" cy="519113"/>
          </a:xfrm>
          <a:prstGeom prst="rect">
            <a:avLst/>
          </a:prstGeom>
          <a:noFill/>
          <a:ln w="9525">
            <a:noFill/>
          </a:ln>
        </p:spPr>
        <p:txBody>
          <a:bodyPr anchor="ctr" anchorCtr="0">
            <a:spAutoFit/>
          </a:bodyPr>
          <a:lstStyle/>
          <a:p>
            <a:r>
              <a:rPr lang="zh-CN" altLang="en-US" sz="2800" b="1" dirty="0">
                <a:latin typeface="Times New Roman" panose="02020603050405020304" pitchFamily="18" charset="0"/>
                <a:ea typeface="宋体" panose="02010600030101010101" pitchFamily="2" charset="-122"/>
              </a:rPr>
              <a:t>空穴的有效质量记为</a:t>
            </a:r>
            <a:r>
              <a:rPr lang="en-US" altLang="zh-CN" sz="2800" b="1">
                <a:latin typeface="Times New Roman" panose="02020603050405020304" pitchFamily="18" charset="0"/>
                <a:ea typeface="宋体" panose="02010600030101010101" pitchFamily="2" charset="-122"/>
              </a:rPr>
              <a:t>m</a:t>
            </a:r>
            <a:r>
              <a:rPr lang="en-US" altLang="zh-CN" sz="2800" b="1" baseline="-30000">
                <a:latin typeface="Times New Roman" panose="02020603050405020304" pitchFamily="18" charset="0"/>
                <a:ea typeface="宋体" panose="02010600030101010101" pitchFamily="2" charset="-122"/>
              </a:rPr>
              <a:t>p</a:t>
            </a:r>
            <a:r>
              <a:rPr lang="en-US" altLang="zh-CN" sz="2800" b="1" baseline="3000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，令</a:t>
            </a:r>
          </a:p>
        </p:txBody>
      </p:sp>
      <p:graphicFrame>
        <p:nvGraphicFramePr>
          <p:cNvPr id="65538" name="对象 92162"/>
          <p:cNvGraphicFramePr/>
          <p:nvPr/>
        </p:nvGraphicFramePr>
        <p:xfrm>
          <a:off x="5508625" y="2708275"/>
          <a:ext cx="2232025" cy="777875"/>
        </p:xfrm>
        <a:graphic>
          <a:graphicData uri="http://schemas.openxmlformats.org/presentationml/2006/ole">
            <mc:AlternateContent xmlns:mc="http://schemas.openxmlformats.org/markup-compatibility/2006">
              <mc:Choice xmlns:v="urn:schemas-microsoft-com:vml" Requires="v">
                <p:oleObj r:id="rId2" imgW="698500" imgH="241300" progId="Equation.DSMT4">
                  <p:embed/>
                </p:oleObj>
              </mc:Choice>
              <mc:Fallback>
                <p:oleObj r:id="rId2" imgW="698500" imgH="241300" progId="Equation.DSMT4">
                  <p:embed/>
                  <p:pic>
                    <p:nvPicPr>
                      <p:cNvPr id="0" name="图片 3104"/>
                      <p:cNvPicPr/>
                      <p:nvPr/>
                    </p:nvPicPr>
                    <p:blipFill>
                      <a:blip r:embed="rId3"/>
                      <a:stretch>
                        <a:fillRect/>
                      </a:stretch>
                    </p:blipFill>
                    <p:spPr>
                      <a:xfrm>
                        <a:off x="5508625" y="2708275"/>
                        <a:ext cx="2232025" cy="777875"/>
                      </a:xfrm>
                      <a:prstGeom prst="rect">
                        <a:avLst/>
                      </a:prstGeom>
                      <a:solidFill>
                        <a:schemeClr val="folHlink"/>
                      </a:solidFill>
                      <a:ln w="9525" cap="flat" cmpd="sng">
                        <a:solidFill>
                          <a:srgbClr val="A50021"/>
                        </a:solidFill>
                        <a:prstDash val="solid"/>
                        <a:miter/>
                        <a:headEnd type="none" w="med" len="med"/>
                        <a:tailEnd type="none" w="med" len="med"/>
                      </a:ln>
                    </p:spPr>
                  </p:pic>
                </p:oleObj>
              </mc:Fallback>
            </mc:AlternateContent>
          </a:graphicData>
        </a:graphic>
      </p:graphicFrame>
      <p:sp>
        <p:nvSpPr>
          <p:cNvPr id="65539" name="矩形 92163"/>
          <p:cNvSpPr/>
          <p:nvPr/>
        </p:nvSpPr>
        <p:spPr>
          <a:xfrm>
            <a:off x="4195763" y="4508500"/>
            <a:ext cx="219075" cy="260350"/>
          </a:xfrm>
          <a:prstGeom prst="rect">
            <a:avLst/>
          </a:prstGeom>
          <a:noFill/>
          <a:ln w="9525">
            <a:noFill/>
          </a:ln>
        </p:spPr>
        <p:txBody>
          <a:bodyPr wrap="none" anchor="ctr" anchorCtr="0">
            <a:spAutoFit/>
          </a:bodyPr>
          <a:lstStyle/>
          <a:p>
            <a:r>
              <a:rPr lang="en-US" altLang="zh-CN" sz="11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65540" name="矩形 92164"/>
          <p:cNvSpPr/>
          <p:nvPr/>
        </p:nvSpPr>
        <p:spPr>
          <a:xfrm>
            <a:off x="1331913" y="3716338"/>
            <a:ext cx="2051050" cy="519112"/>
          </a:xfrm>
          <a:prstGeom prst="rect">
            <a:avLst/>
          </a:prstGeom>
          <a:noFill/>
          <a:ln w="9525">
            <a:noFill/>
          </a:ln>
        </p:spPr>
        <p:txBody>
          <a:bodyPr wrap="none" anchor="ctr" anchorCtr="0">
            <a:spAutoFit/>
          </a:bodyPr>
          <a:lstStyle/>
          <a:p>
            <a:r>
              <a:rPr lang="zh-CN" altLang="en-US" sz="2800" b="1" dirty="0">
                <a:latin typeface="Times New Roman" panose="02020603050405020304" pitchFamily="18" charset="0"/>
                <a:ea typeface="宋体" panose="02010600030101010101" pitchFamily="2" charset="-122"/>
              </a:rPr>
              <a:t>在价带顶： </a:t>
            </a:r>
          </a:p>
        </p:txBody>
      </p:sp>
      <p:graphicFrame>
        <p:nvGraphicFramePr>
          <p:cNvPr id="65541" name="对象 92166"/>
          <p:cNvGraphicFramePr/>
          <p:nvPr/>
        </p:nvGraphicFramePr>
        <p:xfrm>
          <a:off x="3492500" y="3716338"/>
          <a:ext cx="1439863" cy="623887"/>
        </p:xfrm>
        <a:graphic>
          <a:graphicData uri="http://schemas.openxmlformats.org/presentationml/2006/ole">
            <mc:AlternateContent xmlns:mc="http://schemas.openxmlformats.org/markup-compatibility/2006">
              <mc:Choice xmlns:v="urn:schemas-microsoft-com:vml" Requires="v">
                <p:oleObj r:id="rId4" imgW="495300" imgH="241300" progId="Equation.DSMT4">
                  <p:embed/>
                </p:oleObj>
              </mc:Choice>
              <mc:Fallback>
                <p:oleObj r:id="rId4" imgW="495300" imgH="241300" progId="Equation.DSMT4">
                  <p:embed/>
                  <p:pic>
                    <p:nvPicPr>
                      <p:cNvPr id="0" name="图片 3145"/>
                      <p:cNvPicPr/>
                      <p:nvPr/>
                    </p:nvPicPr>
                    <p:blipFill>
                      <a:blip r:embed="rId5"/>
                      <a:stretch>
                        <a:fillRect/>
                      </a:stretch>
                    </p:blipFill>
                    <p:spPr>
                      <a:xfrm>
                        <a:off x="3492500" y="3716338"/>
                        <a:ext cx="1439863" cy="623887"/>
                      </a:xfrm>
                      <a:prstGeom prst="rect">
                        <a:avLst/>
                      </a:prstGeom>
                      <a:noFill/>
                      <a:ln w="38100">
                        <a:noFill/>
                        <a:miter/>
                      </a:ln>
                    </p:spPr>
                  </p:pic>
                </p:oleObj>
              </mc:Fallback>
            </mc:AlternateContent>
          </a:graphicData>
        </a:graphic>
      </p:graphicFrame>
      <p:sp>
        <p:nvSpPr>
          <p:cNvPr id="65542" name="文本框 92167"/>
          <p:cNvSpPr txBox="1"/>
          <p:nvPr/>
        </p:nvSpPr>
        <p:spPr>
          <a:xfrm>
            <a:off x="684213" y="4724400"/>
            <a:ext cx="6985000" cy="519113"/>
          </a:xfrm>
          <a:prstGeom prst="rect">
            <a:avLst/>
          </a:prstGeom>
          <a:noFill/>
          <a:ln w="9525">
            <a:noFill/>
          </a:ln>
        </p:spPr>
        <p:txBody>
          <a:bodyPr anchor="t" anchorCtr="0">
            <a:spAutoFit/>
          </a:bodyPr>
          <a:lstStyle/>
          <a:p>
            <a:r>
              <a:rPr lang="zh-CN" altLang="en-US" sz="2800" b="1" dirty="0">
                <a:latin typeface="Times New Roman" panose="02020603050405020304" pitchFamily="18" charset="0"/>
                <a:ea typeface="宋体" panose="02010600030101010101" pitchFamily="2" charset="-122"/>
              </a:rPr>
              <a:t>在价带顶附近空穴的有效质量为正的恒量</a:t>
            </a:r>
          </a:p>
        </p:txBody>
      </p:sp>
      <p:sp>
        <p:nvSpPr>
          <p:cNvPr id="65543" name="矩形 92168"/>
          <p:cNvSpPr/>
          <p:nvPr/>
        </p:nvSpPr>
        <p:spPr>
          <a:xfrm>
            <a:off x="1258888" y="5507038"/>
            <a:ext cx="3249612" cy="519112"/>
          </a:xfrm>
          <a:prstGeom prst="rect">
            <a:avLst/>
          </a:prstGeom>
          <a:noFill/>
          <a:ln w="9525">
            <a:noFill/>
          </a:ln>
        </p:spPr>
        <p:txBody>
          <a:bodyPr wrap="none" anchor="ctr" anchorCtr="0">
            <a:spAutoFit/>
          </a:bodyPr>
          <a:lstStyle/>
          <a:p>
            <a:r>
              <a:rPr lang="zh-CN" altLang="en-US" sz="2800" b="1" dirty="0">
                <a:latin typeface="Times New Roman" panose="02020603050405020304" pitchFamily="18" charset="0"/>
                <a:ea typeface="宋体" panose="02010600030101010101" pitchFamily="2" charset="-122"/>
              </a:rPr>
              <a:t>空穴运动的加速度 </a:t>
            </a:r>
            <a:r>
              <a:rPr lang="en-US" altLang="zh-CN" sz="2800" b="1">
                <a:latin typeface="Times New Roman" panose="02020603050405020304" pitchFamily="18" charset="0"/>
                <a:ea typeface="宋体" panose="02010600030101010101" pitchFamily="2" charset="-122"/>
              </a:rPr>
              <a:t>:</a:t>
            </a:r>
          </a:p>
        </p:txBody>
      </p:sp>
      <p:graphicFrame>
        <p:nvGraphicFramePr>
          <p:cNvPr id="65544" name="对象 92170"/>
          <p:cNvGraphicFramePr/>
          <p:nvPr/>
        </p:nvGraphicFramePr>
        <p:xfrm>
          <a:off x="4643438" y="5300663"/>
          <a:ext cx="1441450" cy="1119187"/>
        </p:xfrm>
        <a:graphic>
          <a:graphicData uri="http://schemas.openxmlformats.org/presentationml/2006/ole">
            <mc:AlternateContent xmlns:mc="http://schemas.openxmlformats.org/markup-compatibility/2006">
              <mc:Choice xmlns:v="urn:schemas-microsoft-com:vml" Requires="v">
                <p:oleObj r:id="rId6" imgW="508000" imgH="444500" progId="Equation.DSMT4">
                  <p:embed/>
                </p:oleObj>
              </mc:Choice>
              <mc:Fallback>
                <p:oleObj r:id="rId6" imgW="508000" imgH="444500" progId="Equation.DSMT4">
                  <p:embed/>
                  <p:pic>
                    <p:nvPicPr>
                      <p:cNvPr id="0" name="图片 3140"/>
                      <p:cNvPicPr/>
                      <p:nvPr/>
                    </p:nvPicPr>
                    <p:blipFill>
                      <a:blip r:embed="rId7"/>
                      <a:stretch>
                        <a:fillRect/>
                      </a:stretch>
                    </p:blipFill>
                    <p:spPr>
                      <a:xfrm>
                        <a:off x="4643438" y="5300663"/>
                        <a:ext cx="1441450" cy="1119187"/>
                      </a:xfrm>
                      <a:prstGeom prst="rect">
                        <a:avLst/>
                      </a:prstGeom>
                      <a:noFill/>
                      <a:ln w="38100">
                        <a:noFill/>
                        <a:miter/>
                      </a:ln>
                    </p:spPr>
                  </p:pic>
                </p:oleObj>
              </mc:Fallback>
            </mc:AlternateContent>
          </a:graphicData>
        </a:graphic>
      </p:graphicFrame>
      <p:sp>
        <p:nvSpPr>
          <p:cNvPr id="65545" name="矩形 92171"/>
          <p:cNvSpPr/>
          <p:nvPr/>
        </p:nvSpPr>
        <p:spPr>
          <a:xfrm>
            <a:off x="395288" y="333375"/>
            <a:ext cx="5616575" cy="579438"/>
          </a:xfrm>
          <a:prstGeom prst="rect">
            <a:avLst/>
          </a:prstGeom>
          <a:noFill/>
          <a:ln w="9525">
            <a:noFill/>
          </a:ln>
        </p:spPr>
        <p:txBody>
          <a:bodyPr anchor="ctr" anchorCtr="0">
            <a:spAutoFit/>
          </a:bodyPr>
          <a:lstStyle/>
          <a:p>
            <a:r>
              <a:rPr lang="zh-CN" altLang="en-US" sz="3200" b="1" dirty="0">
                <a:solidFill>
                  <a:srgbClr val="A50021"/>
                </a:solidFill>
                <a:latin typeface="Times New Roman" panose="02020603050405020304" pitchFamily="18" charset="0"/>
                <a:ea typeface="宋体" panose="02010600030101010101" pitchFamily="2" charset="-122"/>
              </a:rPr>
              <a:t>空穴的有效质量和加速度</a:t>
            </a:r>
          </a:p>
        </p:txBody>
      </p:sp>
      <p:sp>
        <p:nvSpPr>
          <p:cNvPr id="65546" name="矩形 92172"/>
          <p:cNvSpPr/>
          <p:nvPr/>
        </p:nvSpPr>
        <p:spPr>
          <a:xfrm>
            <a:off x="1258888" y="1700213"/>
            <a:ext cx="3286125" cy="519112"/>
          </a:xfrm>
          <a:prstGeom prst="rect">
            <a:avLst/>
          </a:prstGeom>
          <a:noFill/>
          <a:ln w="9525">
            <a:noFill/>
          </a:ln>
        </p:spPr>
        <p:txBody>
          <a:bodyPr wrap="none" anchor="ctr" anchorCtr="0">
            <a:spAutoFit/>
          </a:bodyPr>
          <a:lstStyle/>
          <a:p>
            <a:r>
              <a:rPr lang="zh-CN" altLang="en-US" sz="2800" b="1" dirty="0">
                <a:latin typeface="Times New Roman" panose="02020603050405020304" pitchFamily="18" charset="0"/>
                <a:ea typeface="宋体" panose="02010600030101010101" pitchFamily="2" charset="-122"/>
              </a:rPr>
              <a:t>电子的有效质量</a:t>
            </a:r>
            <a:r>
              <a:rPr lang="en-US" altLang="zh-CN" sz="2800" b="1">
                <a:latin typeface="Times New Roman" panose="02020603050405020304" pitchFamily="18" charset="0"/>
                <a:ea typeface="宋体" panose="02010600030101010101" pitchFamily="2" charset="-122"/>
              </a:rPr>
              <a:t>m</a:t>
            </a:r>
            <a:r>
              <a:rPr lang="en-US" altLang="zh-CN" sz="2800" b="1" baseline="-30000">
                <a:latin typeface="Times New Roman" panose="02020603050405020304" pitchFamily="18" charset="0"/>
                <a:ea typeface="宋体" panose="02010600030101010101" pitchFamily="2" charset="-122"/>
              </a:rPr>
              <a:t>e</a:t>
            </a:r>
            <a:r>
              <a:rPr lang="en-US" altLang="zh-CN" sz="2800" b="1" baseline="30000">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 </a:t>
            </a:r>
          </a:p>
        </p:txBody>
      </p:sp>
      <p:graphicFrame>
        <p:nvGraphicFramePr>
          <p:cNvPr id="65547" name="对象 92173"/>
          <p:cNvGraphicFramePr/>
          <p:nvPr/>
        </p:nvGraphicFramePr>
        <p:xfrm>
          <a:off x="4932363" y="1300163"/>
          <a:ext cx="1439862" cy="1265237"/>
        </p:xfrm>
        <a:graphic>
          <a:graphicData uri="http://schemas.openxmlformats.org/presentationml/2006/ole">
            <mc:AlternateContent xmlns:mc="http://schemas.openxmlformats.org/markup-compatibility/2006">
              <mc:Choice xmlns:v="urn:schemas-microsoft-com:vml" Requires="v">
                <p:oleObj r:id="rId8" imgW="711200" imgH="622300" progId="Equation.DSMT4">
                  <p:embed/>
                </p:oleObj>
              </mc:Choice>
              <mc:Fallback>
                <p:oleObj r:id="rId8" imgW="711200" imgH="622300" progId="Equation.DSMT4">
                  <p:embed/>
                  <p:pic>
                    <p:nvPicPr>
                      <p:cNvPr id="0" name="图片 3147"/>
                      <p:cNvPicPr/>
                      <p:nvPr/>
                    </p:nvPicPr>
                    <p:blipFill>
                      <a:blip r:embed="rId9"/>
                      <a:stretch>
                        <a:fillRect/>
                      </a:stretch>
                    </p:blipFill>
                    <p:spPr>
                      <a:xfrm>
                        <a:off x="4932363" y="1300163"/>
                        <a:ext cx="1439862" cy="1265237"/>
                      </a:xfrm>
                      <a:prstGeom prst="rect">
                        <a:avLst/>
                      </a:prstGeom>
                      <a:noFill/>
                      <a:ln w="38100">
                        <a:noFill/>
                        <a:miter/>
                      </a:ln>
                    </p:spPr>
                  </p:pic>
                </p:oleObj>
              </mc:Fallback>
            </mc:AlternateContent>
          </a:graphicData>
        </a:graphic>
      </p:graphicFrame>
      <p:sp>
        <p:nvSpPr>
          <p:cNvPr id="65548" name="矩形 92174"/>
          <p:cNvSpPr/>
          <p:nvPr/>
        </p:nvSpPr>
        <p:spPr>
          <a:xfrm>
            <a:off x="684213" y="1052513"/>
            <a:ext cx="2058987" cy="519112"/>
          </a:xfrm>
          <a:prstGeom prst="rect">
            <a:avLst/>
          </a:prstGeom>
          <a:noFill/>
          <a:ln w="9525">
            <a:noFill/>
          </a:ln>
        </p:spPr>
        <p:txBody>
          <a:bodyPr wrap="none" anchor="ctr" anchorCtr="0">
            <a:spAutoFit/>
          </a:bodyPr>
          <a:lstStyle/>
          <a:p>
            <a:r>
              <a:rPr lang="zh-CN" altLang="en-US" sz="2800" b="1" dirty="0">
                <a:latin typeface="Times New Roman" panose="02020603050405020304" pitchFamily="18" charset="0"/>
                <a:ea typeface="宋体" panose="02010600030101010101" pitchFamily="2" charset="-122"/>
              </a:rPr>
              <a:t>在价带顶： </a:t>
            </a:r>
          </a:p>
        </p:txBody>
      </p:sp>
      <p:sp>
        <p:nvSpPr>
          <p:cNvPr id="65549" name="矩形 92175"/>
          <p:cNvSpPr/>
          <p:nvPr/>
        </p:nvSpPr>
        <p:spPr>
          <a:xfrm>
            <a:off x="6588125" y="1651000"/>
            <a:ext cx="654050" cy="519113"/>
          </a:xfrm>
          <a:prstGeom prst="rect">
            <a:avLst/>
          </a:prstGeom>
          <a:noFill/>
          <a:ln w="9525">
            <a:noFill/>
          </a:ln>
        </p:spPr>
        <p:txBody>
          <a:bodyPr wrap="none" anchor="t" anchorCtr="0">
            <a:spAutoFit/>
          </a:bodyPr>
          <a:lstStyle/>
          <a:p>
            <a:r>
              <a:rPr lang="en-US" altLang="zh-CN" sz="2800" b="1">
                <a:latin typeface="Times New Roman" panose="02020603050405020304" pitchFamily="18" charset="0"/>
                <a:ea typeface="宋体" panose="02010600030101010101" pitchFamily="2" charset="-122"/>
              </a:rPr>
              <a:t>&lt; 0</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矩形 93185"/>
          <p:cNvSpPr/>
          <p:nvPr/>
        </p:nvSpPr>
        <p:spPr>
          <a:xfrm>
            <a:off x="611188" y="981075"/>
            <a:ext cx="7777162" cy="1066800"/>
          </a:xfrm>
          <a:prstGeom prst="rect">
            <a:avLst/>
          </a:prstGeom>
          <a:noFill/>
          <a:ln w="9525">
            <a:noFill/>
          </a:ln>
        </p:spPr>
        <p:txBody>
          <a:bodyPr anchor="ctr" anchorCtr="0">
            <a:spAutoFit/>
          </a:bodyPr>
          <a:lstStyle/>
          <a:p>
            <a:r>
              <a:rPr lang="zh-CN" altLang="en-US" sz="3200" b="1" dirty="0">
                <a:latin typeface="Times New Roman" panose="02020603050405020304" pitchFamily="18" charset="0"/>
                <a:ea typeface="宋体" panose="02010600030101010101" pitchFamily="2" charset="-122"/>
              </a:rPr>
              <a:t>空穴的波矢</a:t>
            </a:r>
            <a:r>
              <a:rPr lang="en-US" altLang="zh-CN" sz="3200" b="1" i="1" err="1">
                <a:latin typeface="Times New Roman" panose="02020603050405020304" pitchFamily="18" charset="0"/>
                <a:ea typeface="宋体" panose="02010600030101010101" pitchFamily="2" charset="-122"/>
              </a:rPr>
              <a:t>k</a:t>
            </a:r>
            <a:r>
              <a:rPr lang="en-US" altLang="zh-CN" sz="3200" b="1" baseline="-25000" err="1">
                <a:latin typeface="Times New Roman" panose="02020603050405020304" pitchFamily="18" charset="0"/>
                <a:ea typeface="宋体" panose="02010600030101010101" pitchFamily="2" charset="-122"/>
              </a:rPr>
              <a:t>P</a:t>
            </a:r>
            <a:r>
              <a:rPr lang="zh-CN" altLang="en-US" sz="3200" b="1" dirty="0">
                <a:latin typeface="Times New Roman" panose="02020603050405020304" pitchFamily="18" charset="0"/>
                <a:ea typeface="宋体" panose="02010600030101010101" pitchFamily="2" charset="-122"/>
              </a:rPr>
              <a:t>、能量</a:t>
            </a:r>
            <a:r>
              <a:rPr lang="en-US" altLang="zh-CN" sz="3200" b="1" i="1" err="1">
                <a:latin typeface="Times New Roman" panose="02020603050405020304" pitchFamily="18" charset="0"/>
                <a:ea typeface="宋体" panose="02010600030101010101" pitchFamily="2" charset="-122"/>
              </a:rPr>
              <a:t>E(k</a:t>
            </a:r>
            <a:r>
              <a:rPr lang="en-US" altLang="zh-CN" sz="3200" b="1" i="1" baseline="-25000" err="1">
                <a:latin typeface="Times New Roman" panose="02020603050405020304" pitchFamily="18" charset="0"/>
                <a:ea typeface="宋体" panose="02010600030101010101" pitchFamily="2" charset="-122"/>
              </a:rPr>
              <a:t>p</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、有效质量</a:t>
            </a:r>
            <a:r>
              <a:rPr lang="en-US" altLang="zh-CN" sz="3200" b="1" i="1">
                <a:latin typeface="Times New Roman" panose="02020603050405020304" pitchFamily="18" charset="0"/>
                <a:ea typeface="宋体" panose="02010600030101010101" pitchFamily="2" charset="-122"/>
              </a:rPr>
              <a:t>m*</a:t>
            </a:r>
            <a:r>
              <a:rPr lang="en-US" altLang="zh-CN" sz="3200" b="1" baseline="-25000">
                <a:latin typeface="Times New Roman" panose="02020603050405020304" pitchFamily="18" charset="0"/>
                <a:ea typeface="宋体" panose="02010600030101010101" pitchFamily="2" charset="-122"/>
              </a:rPr>
              <a:t>p</a:t>
            </a:r>
            <a:r>
              <a:rPr lang="zh-CN" altLang="en-US" sz="3200" b="1" dirty="0">
                <a:latin typeface="Times New Roman" panose="02020603050405020304" pitchFamily="18" charset="0"/>
                <a:ea typeface="宋体" panose="02010600030101010101" pitchFamily="2" charset="-122"/>
              </a:rPr>
              <a:t>及加速度 ：</a:t>
            </a:r>
          </a:p>
        </p:txBody>
      </p:sp>
      <p:sp>
        <p:nvSpPr>
          <p:cNvPr id="66562" name="矩形 93186"/>
          <p:cNvSpPr/>
          <p:nvPr/>
        </p:nvSpPr>
        <p:spPr>
          <a:xfrm>
            <a:off x="0" y="3309938"/>
            <a:ext cx="9144000" cy="0"/>
          </a:xfrm>
          <a:prstGeom prst="rect">
            <a:avLst/>
          </a:prstGeom>
          <a:noFill/>
          <a:ln w="9525">
            <a:noFill/>
          </a:ln>
        </p:spPr>
        <p:txBody>
          <a:bodyPr anchor="t" anchorCtr="0"/>
          <a:lstStyle/>
          <a:p>
            <a:endParaRPr lang="zh-CN" altLang="en-US">
              <a:latin typeface="Times New Roman" panose="02020603050405020304" pitchFamily="18" charset="0"/>
              <a:ea typeface="宋体" panose="02010600030101010101" pitchFamily="2" charset="-122"/>
            </a:endParaRPr>
          </a:p>
        </p:txBody>
      </p:sp>
      <p:graphicFrame>
        <p:nvGraphicFramePr>
          <p:cNvPr id="66563" name="对象 93187"/>
          <p:cNvGraphicFramePr/>
          <p:nvPr/>
        </p:nvGraphicFramePr>
        <p:xfrm>
          <a:off x="2771775" y="2103438"/>
          <a:ext cx="1512888" cy="660400"/>
        </p:xfrm>
        <a:graphic>
          <a:graphicData uri="http://schemas.openxmlformats.org/presentationml/2006/ole">
            <mc:AlternateContent xmlns:mc="http://schemas.openxmlformats.org/markup-compatibility/2006">
              <mc:Choice xmlns:v="urn:schemas-microsoft-com:vml" Requires="v">
                <p:oleObj r:id="rId2" imgW="546100" imgH="241300" progId="Equation.DSMT4">
                  <p:embed/>
                </p:oleObj>
              </mc:Choice>
              <mc:Fallback>
                <p:oleObj r:id="rId2" imgW="546100" imgH="241300" progId="Equation.DSMT4">
                  <p:embed/>
                  <p:pic>
                    <p:nvPicPr>
                      <p:cNvPr id="0" name="图片 3143"/>
                      <p:cNvPicPr/>
                      <p:nvPr/>
                    </p:nvPicPr>
                    <p:blipFill>
                      <a:blip r:embed="rId3"/>
                      <a:stretch>
                        <a:fillRect/>
                      </a:stretch>
                    </p:blipFill>
                    <p:spPr>
                      <a:xfrm>
                        <a:off x="2771775" y="2103438"/>
                        <a:ext cx="1512888" cy="660400"/>
                      </a:xfrm>
                      <a:prstGeom prst="rect">
                        <a:avLst/>
                      </a:prstGeom>
                      <a:noFill/>
                      <a:ln w="38100">
                        <a:noFill/>
                        <a:miter/>
                      </a:ln>
                    </p:spPr>
                  </p:pic>
                </p:oleObj>
              </mc:Fallback>
            </mc:AlternateContent>
          </a:graphicData>
        </a:graphic>
      </p:graphicFrame>
      <p:sp>
        <p:nvSpPr>
          <p:cNvPr id="66564" name="矩形 93188"/>
          <p:cNvSpPr/>
          <p:nvPr/>
        </p:nvSpPr>
        <p:spPr>
          <a:xfrm>
            <a:off x="0" y="3309938"/>
            <a:ext cx="9144000" cy="0"/>
          </a:xfrm>
          <a:prstGeom prst="rect">
            <a:avLst/>
          </a:prstGeom>
          <a:noFill/>
          <a:ln w="9525">
            <a:noFill/>
          </a:ln>
        </p:spPr>
        <p:txBody>
          <a:bodyPr anchor="t" anchorCtr="0"/>
          <a:lstStyle/>
          <a:p>
            <a:endParaRPr lang="zh-CN" altLang="en-US">
              <a:latin typeface="Times New Roman" panose="02020603050405020304" pitchFamily="18" charset="0"/>
              <a:ea typeface="宋体" panose="02010600030101010101" pitchFamily="2" charset="-122"/>
            </a:endParaRPr>
          </a:p>
        </p:txBody>
      </p:sp>
      <p:graphicFrame>
        <p:nvGraphicFramePr>
          <p:cNvPr id="66565" name="对象 93189"/>
          <p:cNvGraphicFramePr/>
          <p:nvPr/>
        </p:nvGraphicFramePr>
        <p:xfrm>
          <a:off x="2771775" y="2854325"/>
          <a:ext cx="2808288" cy="647700"/>
        </p:xfrm>
        <a:graphic>
          <a:graphicData uri="http://schemas.openxmlformats.org/presentationml/2006/ole">
            <mc:AlternateContent xmlns:mc="http://schemas.openxmlformats.org/markup-compatibility/2006">
              <mc:Choice xmlns:v="urn:schemas-microsoft-com:vml" Requires="v">
                <p:oleObj r:id="rId4" imgW="1028065" imgH="241300" progId="Equation.DSMT4">
                  <p:embed/>
                </p:oleObj>
              </mc:Choice>
              <mc:Fallback>
                <p:oleObj r:id="rId4" imgW="1028065" imgH="241300" progId="Equation.DSMT4">
                  <p:embed/>
                  <p:pic>
                    <p:nvPicPr>
                      <p:cNvPr id="0" name="图片 3146"/>
                      <p:cNvPicPr/>
                      <p:nvPr/>
                    </p:nvPicPr>
                    <p:blipFill>
                      <a:blip r:embed="rId5"/>
                      <a:stretch>
                        <a:fillRect/>
                      </a:stretch>
                    </p:blipFill>
                    <p:spPr>
                      <a:xfrm>
                        <a:off x="2771775" y="2854325"/>
                        <a:ext cx="2808288" cy="647700"/>
                      </a:xfrm>
                      <a:prstGeom prst="rect">
                        <a:avLst/>
                      </a:prstGeom>
                      <a:noFill/>
                      <a:ln w="38100">
                        <a:noFill/>
                        <a:miter/>
                      </a:ln>
                    </p:spPr>
                  </p:pic>
                </p:oleObj>
              </mc:Fallback>
            </mc:AlternateContent>
          </a:graphicData>
        </a:graphic>
      </p:graphicFrame>
      <p:graphicFrame>
        <p:nvGraphicFramePr>
          <p:cNvPr id="66566" name="对象 93191"/>
          <p:cNvGraphicFramePr/>
          <p:nvPr/>
        </p:nvGraphicFramePr>
        <p:xfrm>
          <a:off x="2771775" y="4365625"/>
          <a:ext cx="2057400" cy="839788"/>
        </p:xfrm>
        <a:graphic>
          <a:graphicData uri="http://schemas.openxmlformats.org/presentationml/2006/ole">
            <mc:AlternateContent xmlns:mc="http://schemas.openxmlformats.org/markup-compatibility/2006">
              <mc:Choice xmlns:v="urn:schemas-microsoft-com:vml" Requires="v">
                <p:oleObj r:id="rId6" imgW="621665" imgH="254000" progId="Equation.DSMT4">
                  <p:embed/>
                </p:oleObj>
              </mc:Choice>
              <mc:Fallback>
                <p:oleObj r:id="rId6" imgW="621665" imgH="254000" progId="Equation.DSMT4">
                  <p:embed/>
                  <p:pic>
                    <p:nvPicPr>
                      <p:cNvPr id="0" name="图片 3141"/>
                      <p:cNvPicPr/>
                      <p:nvPr/>
                    </p:nvPicPr>
                    <p:blipFill>
                      <a:blip r:embed="rId7"/>
                      <a:stretch>
                        <a:fillRect/>
                      </a:stretch>
                    </p:blipFill>
                    <p:spPr>
                      <a:xfrm>
                        <a:off x="2771775" y="4365625"/>
                        <a:ext cx="2057400" cy="839788"/>
                      </a:xfrm>
                      <a:prstGeom prst="rect">
                        <a:avLst/>
                      </a:prstGeom>
                      <a:noFill/>
                      <a:ln w="38100">
                        <a:noFill/>
                        <a:miter/>
                      </a:ln>
                    </p:spPr>
                  </p:pic>
                </p:oleObj>
              </mc:Fallback>
            </mc:AlternateContent>
          </a:graphicData>
        </a:graphic>
      </p:graphicFrame>
      <p:graphicFrame>
        <p:nvGraphicFramePr>
          <p:cNvPr id="66567" name="对象 93193"/>
          <p:cNvGraphicFramePr/>
          <p:nvPr/>
        </p:nvGraphicFramePr>
        <p:xfrm>
          <a:off x="2771775" y="5302250"/>
          <a:ext cx="2125663" cy="835025"/>
        </p:xfrm>
        <a:graphic>
          <a:graphicData uri="http://schemas.openxmlformats.org/presentationml/2006/ole">
            <mc:AlternateContent xmlns:mc="http://schemas.openxmlformats.org/markup-compatibility/2006">
              <mc:Choice xmlns:v="urn:schemas-microsoft-com:vml" Requires="v">
                <p:oleObj r:id="rId8" imgW="647065" imgH="254000" progId="Equation.DSMT4">
                  <p:embed/>
                </p:oleObj>
              </mc:Choice>
              <mc:Fallback>
                <p:oleObj r:id="rId8" imgW="647065" imgH="254000" progId="Equation.DSMT4">
                  <p:embed/>
                  <p:pic>
                    <p:nvPicPr>
                      <p:cNvPr id="0" name="图片 3142"/>
                      <p:cNvPicPr/>
                      <p:nvPr/>
                    </p:nvPicPr>
                    <p:blipFill>
                      <a:blip r:embed="rId9"/>
                      <a:stretch>
                        <a:fillRect/>
                      </a:stretch>
                    </p:blipFill>
                    <p:spPr>
                      <a:xfrm>
                        <a:off x="2771775" y="5302250"/>
                        <a:ext cx="2125663" cy="835025"/>
                      </a:xfrm>
                      <a:prstGeom prst="rect">
                        <a:avLst/>
                      </a:prstGeom>
                      <a:noFill/>
                      <a:ln w="38100">
                        <a:noFill/>
                        <a:miter/>
                      </a:ln>
                    </p:spPr>
                  </p:pic>
                </p:oleObj>
              </mc:Fallback>
            </mc:AlternateContent>
          </a:graphicData>
        </a:graphic>
      </p:graphicFrame>
      <p:graphicFrame>
        <p:nvGraphicFramePr>
          <p:cNvPr id="66568" name="对象 93194"/>
          <p:cNvGraphicFramePr/>
          <p:nvPr/>
        </p:nvGraphicFramePr>
        <p:xfrm>
          <a:off x="2771775" y="3573463"/>
          <a:ext cx="2530475" cy="717550"/>
        </p:xfrm>
        <a:graphic>
          <a:graphicData uri="http://schemas.openxmlformats.org/presentationml/2006/ole">
            <mc:AlternateContent xmlns:mc="http://schemas.openxmlformats.org/markup-compatibility/2006">
              <mc:Choice xmlns:v="urn:schemas-microsoft-com:vml" Requires="v">
                <p:oleObj r:id="rId10" imgW="850265" imgH="241300" progId="Equation.DSMT4">
                  <p:embed/>
                </p:oleObj>
              </mc:Choice>
              <mc:Fallback>
                <p:oleObj r:id="rId10" imgW="850265" imgH="241300" progId="Equation.DSMT4">
                  <p:embed/>
                  <p:pic>
                    <p:nvPicPr>
                      <p:cNvPr id="0" name="图片 3144"/>
                      <p:cNvPicPr/>
                      <p:nvPr/>
                    </p:nvPicPr>
                    <p:blipFill>
                      <a:blip r:embed="rId11"/>
                      <a:stretch>
                        <a:fillRect/>
                      </a:stretch>
                    </p:blipFill>
                    <p:spPr>
                      <a:xfrm>
                        <a:off x="2771775" y="3573463"/>
                        <a:ext cx="2530475" cy="717550"/>
                      </a:xfrm>
                      <a:prstGeom prst="rect">
                        <a:avLst/>
                      </a:prstGeom>
                      <a:noFill/>
                      <a:ln w="38100">
                        <a:noFill/>
                        <a:miter/>
                      </a:ln>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矩形 186371"/>
          <p:cNvSpPr/>
          <p:nvPr/>
        </p:nvSpPr>
        <p:spPr>
          <a:xfrm>
            <a:off x="755650" y="476250"/>
            <a:ext cx="6251575" cy="762000"/>
          </a:xfrm>
          <a:prstGeom prst="rect">
            <a:avLst/>
          </a:prstGeom>
          <a:noFill/>
          <a:ln w="9525">
            <a:noFill/>
          </a:ln>
        </p:spPr>
        <p:txBody>
          <a:bodyPr wrap="none" anchor="t" anchorCtr="0">
            <a:spAutoFit/>
          </a:bodyPr>
          <a:lstStyle/>
          <a:p>
            <a:r>
              <a:rPr lang="zh-CN" altLang="en-US" sz="4400" b="1" dirty="0">
                <a:latin typeface="Times New Roman" panose="02020603050405020304" pitchFamily="18" charset="0"/>
                <a:ea typeface="宋体" panose="02010600030101010101" pitchFamily="2" charset="-122"/>
              </a:rPr>
              <a:t>§</a:t>
            </a:r>
            <a:r>
              <a:rPr lang="en-US" altLang="zh-CN" sz="4400" b="1" dirty="0">
                <a:latin typeface="Times New Roman" panose="02020603050405020304" pitchFamily="18" charset="0"/>
                <a:ea typeface="宋体" panose="02010600030101010101" pitchFamily="2" charset="-122"/>
              </a:rPr>
              <a:t>1-5  </a:t>
            </a:r>
            <a:r>
              <a:rPr lang="zh-CN" altLang="en-US" sz="4400" b="1" dirty="0">
                <a:latin typeface="Times New Roman" panose="02020603050405020304" pitchFamily="18" charset="0"/>
                <a:ea typeface="宋体" panose="02010600030101010101" pitchFamily="2" charset="-122"/>
              </a:rPr>
              <a:t>半导体的能带结构</a:t>
            </a:r>
          </a:p>
        </p:txBody>
      </p:sp>
      <p:sp>
        <p:nvSpPr>
          <p:cNvPr id="67586" name="矩形 186372"/>
          <p:cNvSpPr/>
          <p:nvPr/>
        </p:nvSpPr>
        <p:spPr>
          <a:xfrm>
            <a:off x="1619250" y="2133600"/>
            <a:ext cx="6048375" cy="1554163"/>
          </a:xfrm>
          <a:prstGeom prst="rect">
            <a:avLst/>
          </a:prstGeom>
          <a:noFill/>
          <a:ln w="9525">
            <a:noFill/>
          </a:ln>
        </p:spPr>
        <p:txBody>
          <a:bodyPr anchor="ctr" anchorCtr="0">
            <a:spAutoFit/>
          </a:bodyPr>
          <a:lstStyle/>
          <a:p>
            <a:r>
              <a:rPr lang="zh-CN" altLang="en-US" sz="3200" b="1" dirty="0">
                <a:latin typeface="Times New Roman" panose="02020603050405020304" pitchFamily="18" charset="0"/>
                <a:ea typeface="宋体" panose="02010600030101010101" pitchFamily="2" charset="-122"/>
              </a:rPr>
              <a:t>掌握硅、锗的能带结构特点</a:t>
            </a:r>
          </a:p>
          <a:p>
            <a:endParaRPr lang="zh-CN" altLang="en-US" sz="3200" b="1" dirty="0">
              <a:latin typeface="Times New Roman" panose="02020603050405020304" pitchFamily="18" charset="0"/>
              <a:ea typeface="宋体" panose="02010600030101010101" pitchFamily="2" charset="-122"/>
            </a:endParaRPr>
          </a:p>
          <a:p>
            <a:r>
              <a:rPr lang="zh-CN" altLang="en-US" sz="3200" b="1" dirty="0">
                <a:latin typeface="Times New Roman" panose="02020603050405020304" pitchFamily="18" charset="0"/>
                <a:ea typeface="宋体" panose="02010600030101010101" pitchFamily="2" charset="-122"/>
              </a:rPr>
              <a:t>掌握砷化镓的能带结构特点</a:t>
            </a:r>
          </a:p>
        </p:txBody>
      </p:sp>
      <p:sp>
        <p:nvSpPr>
          <p:cNvPr id="67587" name="矩形 186373"/>
          <p:cNvSpPr/>
          <p:nvPr/>
        </p:nvSpPr>
        <p:spPr>
          <a:xfrm>
            <a:off x="1763688" y="4221088"/>
            <a:ext cx="3141663" cy="1066800"/>
          </a:xfrm>
          <a:prstGeom prst="rect">
            <a:avLst/>
          </a:prstGeom>
          <a:noFill/>
          <a:ln w="9525">
            <a:noFill/>
          </a:ln>
        </p:spPr>
        <p:txBody>
          <a:bodyPr wrap="none" anchor="ctr" anchorCtr="0">
            <a:spAutoFit/>
          </a:bodyPr>
          <a:lstStyle/>
          <a:p>
            <a:r>
              <a:rPr lang="zh-CN" altLang="en-US" sz="3200" b="1" dirty="0">
                <a:latin typeface="Times New Roman" panose="02020603050405020304" pitchFamily="18" charset="0"/>
                <a:ea typeface="宋体" panose="02010600030101010101" pitchFamily="2" charset="-122"/>
              </a:rPr>
              <a:t>间接带隙半导体</a:t>
            </a:r>
          </a:p>
          <a:p>
            <a:r>
              <a:rPr lang="zh-CN" altLang="en-US" sz="3200" b="1" dirty="0">
                <a:latin typeface="Times New Roman" panose="02020603050405020304" pitchFamily="18" charset="0"/>
                <a:ea typeface="宋体" panose="02010600030101010101" pitchFamily="2" charset="-122"/>
              </a:rPr>
              <a:t>直接带隙半导体</a:t>
            </a:r>
            <a:r>
              <a:rPr lang="zh-CN" altLang="en-US" sz="3200" dirty="0">
                <a:latin typeface="Times New Roman" panose="02020603050405020304" pitchFamily="18" charset="0"/>
                <a:ea typeface="宋体" panose="02010600030101010101" pitchFamily="2" charset="-122"/>
              </a:rPr>
              <a:t>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文本框 94210"/>
          <p:cNvSpPr txBox="1"/>
          <p:nvPr/>
        </p:nvSpPr>
        <p:spPr>
          <a:xfrm>
            <a:off x="468313" y="908050"/>
            <a:ext cx="6553200" cy="641350"/>
          </a:xfrm>
          <a:prstGeom prst="rect">
            <a:avLst/>
          </a:prstGeom>
          <a:noFill/>
          <a:ln w="12700">
            <a:noFill/>
          </a:ln>
        </p:spPr>
        <p:txBody>
          <a:bodyPr wrap="none" anchor="t" anchorCtr="0">
            <a:spAutoFit/>
          </a:bodyPr>
          <a:lstStyle/>
          <a:p>
            <a:pPr eaLnBrk="0" hangingPunct="0"/>
            <a:r>
              <a:rPr lang="zh-CN" altLang="en-US" sz="3600" b="1" dirty="0">
                <a:latin typeface="Arial" panose="020B0604020202020204" pitchFamily="34" charset="0"/>
                <a:ea typeface="宋体" panose="02010600030101010101" pitchFamily="2" charset="-122"/>
              </a:rPr>
              <a:t>半导体能带极值附近</a:t>
            </a:r>
            <a:r>
              <a:rPr lang="en-US" altLang="zh-CN" sz="3600" b="1" err="1">
                <a:latin typeface="Arial" panose="020B0604020202020204" pitchFamily="34" charset="0"/>
                <a:ea typeface="宋体" panose="02010600030101010101" pitchFamily="2" charset="-122"/>
              </a:rPr>
              <a:t>E(k</a:t>
            </a:r>
            <a:r>
              <a:rPr lang="en-US" altLang="zh-CN" sz="3600" b="1" dirty="0">
                <a:latin typeface="Arial" panose="020B0604020202020204" pitchFamily="34" charset="0"/>
                <a:ea typeface="宋体" panose="02010600030101010101" pitchFamily="2" charset="-122"/>
              </a:rPr>
              <a:t>)</a:t>
            </a:r>
            <a:r>
              <a:rPr lang="zh-CN" altLang="en-US" sz="3600" b="1" dirty="0">
                <a:latin typeface="Arial" panose="020B0604020202020204" pitchFamily="34" charset="0"/>
                <a:ea typeface="宋体" panose="02010600030101010101" pitchFamily="2" charset="-122"/>
              </a:rPr>
              <a:t>的分布</a:t>
            </a:r>
            <a:endParaRPr lang="zh-CN" altLang="en-US" sz="3600" b="1" dirty="0">
              <a:latin typeface="Arial" panose="020B0604020202020204" pitchFamily="34" charset="0"/>
              <a:ea typeface="Arial" panose="020B0604020202020204" pitchFamily="34" charset="0"/>
            </a:endParaRPr>
          </a:p>
        </p:txBody>
      </p:sp>
      <p:sp>
        <p:nvSpPr>
          <p:cNvPr id="68610" name="直接连接符 94217"/>
          <p:cNvSpPr/>
          <p:nvPr/>
        </p:nvSpPr>
        <p:spPr>
          <a:xfrm>
            <a:off x="1514475" y="4278313"/>
            <a:ext cx="1595438" cy="0"/>
          </a:xfrm>
          <a:prstGeom prst="line">
            <a:avLst/>
          </a:prstGeom>
          <a:ln w="9525" cap="flat" cmpd="sng">
            <a:solidFill>
              <a:schemeClr val="tx1"/>
            </a:solidFill>
            <a:prstDash val="solid"/>
            <a:miter/>
            <a:headEnd type="none" w="med" len="med"/>
            <a:tailEnd type="none" w="med" len="med"/>
          </a:ln>
        </p:spPr>
      </p:sp>
      <p:sp>
        <p:nvSpPr>
          <p:cNvPr id="68611" name="文本框 94220"/>
          <p:cNvSpPr txBox="1"/>
          <p:nvPr/>
        </p:nvSpPr>
        <p:spPr>
          <a:xfrm>
            <a:off x="2794000" y="3894138"/>
            <a:ext cx="317500" cy="457200"/>
          </a:xfrm>
          <a:prstGeom prst="rect">
            <a:avLst/>
          </a:prstGeom>
          <a:noFill/>
          <a:ln w="9525">
            <a:noFill/>
          </a:ln>
        </p:spPr>
        <p:txBody>
          <a:bodyPr wrap="none" anchor="t" anchorCtr="0">
            <a:spAutoFit/>
          </a:bodyPr>
          <a:lstStyle/>
          <a:p>
            <a:r>
              <a:rPr lang="en-US" altLang="zh-CN" sz="2400" i="1">
                <a:latin typeface="Times New Roman" panose="02020603050405020304" pitchFamily="18" charset="0"/>
                <a:ea typeface="宋体" panose="02010600030101010101" pitchFamily="2" charset="-122"/>
              </a:rPr>
              <a:t>k</a:t>
            </a:r>
          </a:p>
        </p:txBody>
      </p:sp>
      <p:sp>
        <p:nvSpPr>
          <p:cNvPr id="68612" name="文本框 94221"/>
          <p:cNvSpPr txBox="1"/>
          <p:nvPr/>
        </p:nvSpPr>
        <p:spPr>
          <a:xfrm>
            <a:off x="2201863" y="1970088"/>
            <a:ext cx="368300" cy="457200"/>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68613" name="任意多边形 94225"/>
          <p:cNvSpPr/>
          <p:nvPr/>
        </p:nvSpPr>
        <p:spPr>
          <a:xfrm>
            <a:off x="1684338" y="4265613"/>
            <a:ext cx="582612" cy="657225"/>
          </a:xfrm>
          <a:custGeom>
            <a:avLst/>
            <a:gdLst/>
            <a:ahLst/>
            <a:cxnLst/>
            <a:rect l="0" t="0" r="0" b="0"/>
            <a:pathLst>
              <a:path w="316" h="415">
                <a:moveTo>
                  <a:pt x="0" y="415"/>
                </a:moveTo>
                <a:cubicBezTo>
                  <a:pt x="18" y="402"/>
                  <a:pt x="72" y="393"/>
                  <a:pt x="108" y="337"/>
                </a:cubicBezTo>
                <a:cubicBezTo>
                  <a:pt x="144" y="281"/>
                  <a:pt x="182" y="137"/>
                  <a:pt x="217" y="81"/>
                </a:cubicBezTo>
                <a:cubicBezTo>
                  <a:pt x="252" y="25"/>
                  <a:pt x="296" y="17"/>
                  <a:pt x="316" y="0"/>
                </a:cubicBezTo>
              </a:path>
            </a:pathLst>
          </a:custGeom>
          <a:noFill/>
          <a:ln w="28575" cap="flat" cmpd="sng">
            <a:solidFill>
              <a:srgbClr val="A50021"/>
            </a:solidFill>
            <a:prstDash val="solid"/>
            <a:round/>
            <a:headEnd type="none" w="med" len="med"/>
            <a:tailEnd type="none" w="med" len="med"/>
          </a:ln>
        </p:spPr>
        <p:txBody>
          <a:bodyPr/>
          <a:lstStyle/>
          <a:p>
            <a:endParaRPr lang="zh-CN" altLang="en-US"/>
          </a:p>
        </p:txBody>
      </p:sp>
      <p:sp>
        <p:nvSpPr>
          <p:cNvPr id="68614" name="任意多边形 94226"/>
          <p:cNvSpPr/>
          <p:nvPr/>
        </p:nvSpPr>
        <p:spPr>
          <a:xfrm>
            <a:off x="2276475" y="4265613"/>
            <a:ext cx="582613" cy="657225"/>
          </a:xfrm>
          <a:custGeom>
            <a:avLst/>
            <a:gdLst/>
            <a:ahLst/>
            <a:cxnLst/>
            <a:rect l="0" t="0" r="0" b="0"/>
            <a:pathLst>
              <a:path w="315" h="415">
                <a:moveTo>
                  <a:pt x="315" y="415"/>
                </a:moveTo>
                <a:cubicBezTo>
                  <a:pt x="297" y="402"/>
                  <a:pt x="246" y="396"/>
                  <a:pt x="209" y="340"/>
                </a:cubicBezTo>
                <a:cubicBezTo>
                  <a:pt x="172" y="284"/>
                  <a:pt x="128" y="138"/>
                  <a:pt x="93" y="81"/>
                </a:cubicBezTo>
                <a:cubicBezTo>
                  <a:pt x="58" y="24"/>
                  <a:pt x="19" y="17"/>
                  <a:pt x="0" y="0"/>
                </a:cubicBezTo>
              </a:path>
            </a:pathLst>
          </a:custGeom>
          <a:noFill/>
          <a:ln w="28575" cap="flat" cmpd="sng">
            <a:solidFill>
              <a:srgbClr val="A50021"/>
            </a:solidFill>
            <a:prstDash val="solid"/>
            <a:round/>
            <a:headEnd type="none" w="med" len="med"/>
            <a:tailEnd type="none" w="med" len="med"/>
          </a:ln>
        </p:spPr>
        <p:txBody>
          <a:bodyPr/>
          <a:lstStyle/>
          <a:p>
            <a:endParaRPr lang="zh-CN" altLang="en-US"/>
          </a:p>
        </p:txBody>
      </p:sp>
      <p:sp>
        <p:nvSpPr>
          <p:cNvPr id="68615" name="任意多边形 94227"/>
          <p:cNvSpPr/>
          <p:nvPr/>
        </p:nvSpPr>
        <p:spPr>
          <a:xfrm>
            <a:off x="2268538" y="2708275"/>
            <a:ext cx="582612" cy="1311275"/>
          </a:xfrm>
          <a:custGeom>
            <a:avLst/>
            <a:gdLst/>
            <a:ahLst/>
            <a:cxnLst/>
            <a:rect l="0" t="0" r="0" b="0"/>
            <a:pathLst>
              <a:path w="315" h="830">
                <a:moveTo>
                  <a:pt x="0" y="830"/>
                </a:moveTo>
                <a:cubicBezTo>
                  <a:pt x="15" y="809"/>
                  <a:pt x="58" y="821"/>
                  <a:pt x="93" y="702"/>
                </a:cubicBezTo>
                <a:cubicBezTo>
                  <a:pt x="128" y="583"/>
                  <a:pt x="175" y="234"/>
                  <a:pt x="212" y="117"/>
                </a:cubicBezTo>
                <a:cubicBezTo>
                  <a:pt x="249" y="0"/>
                  <a:pt x="294" y="25"/>
                  <a:pt x="315" y="1"/>
                </a:cubicBezTo>
              </a:path>
            </a:pathLst>
          </a:custGeom>
          <a:noFill/>
          <a:ln w="28575" cap="flat" cmpd="sng">
            <a:solidFill>
              <a:srgbClr val="A50021"/>
            </a:solidFill>
            <a:prstDash val="solid"/>
            <a:round/>
            <a:headEnd type="none" w="med" len="med"/>
            <a:tailEnd type="none" w="med" len="med"/>
          </a:ln>
        </p:spPr>
        <p:txBody>
          <a:bodyPr/>
          <a:lstStyle/>
          <a:p>
            <a:endParaRPr lang="zh-CN" altLang="en-US"/>
          </a:p>
        </p:txBody>
      </p:sp>
      <p:sp>
        <p:nvSpPr>
          <p:cNvPr id="68616" name="任意多边形 94228"/>
          <p:cNvSpPr/>
          <p:nvPr/>
        </p:nvSpPr>
        <p:spPr>
          <a:xfrm>
            <a:off x="1693863" y="2697163"/>
            <a:ext cx="579437" cy="1368425"/>
          </a:xfrm>
          <a:custGeom>
            <a:avLst/>
            <a:gdLst/>
            <a:ahLst/>
            <a:cxnLst/>
            <a:rect l="0" t="0" r="0" b="0"/>
            <a:pathLst>
              <a:path w="313" h="865">
                <a:moveTo>
                  <a:pt x="313" y="831"/>
                </a:moveTo>
                <a:cubicBezTo>
                  <a:pt x="300" y="817"/>
                  <a:pt x="269" y="865"/>
                  <a:pt x="233" y="750"/>
                </a:cubicBezTo>
                <a:cubicBezTo>
                  <a:pt x="197" y="635"/>
                  <a:pt x="135" y="269"/>
                  <a:pt x="96" y="144"/>
                </a:cubicBezTo>
                <a:cubicBezTo>
                  <a:pt x="57" y="19"/>
                  <a:pt x="20" y="30"/>
                  <a:pt x="0" y="0"/>
                </a:cubicBezTo>
              </a:path>
            </a:pathLst>
          </a:custGeom>
          <a:noFill/>
          <a:ln w="28575" cap="flat" cmpd="sng">
            <a:solidFill>
              <a:srgbClr val="A50021"/>
            </a:solidFill>
            <a:prstDash val="solid"/>
            <a:round/>
            <a:headEnd type="none" w="med" len="med"/>
            <a:tailEnd type="none" w="med" len="med"/>
          </a:ln>
        </p:spPr>
        <p:txBody>
          <a:bodyPr/>
          <a:lstStyle/>
          <a:p>
            <a:endParaRPr lang="zh-CN" altLang="en-US"/>
          </a:p>
        </p:txBody>
      </p:sp>
      <p:sp>
        <p:nvSpPr>
          <p:cNvPr id="68617" name="直接连接符 94229"/>
          <p:cNvSpPr/>
          <p:nvPr/>
        </p:nvSpPr>
        <p:spPr>
          <a:xfrm flipH="1" flipV="1">
            <a:off x="2271713" y="2112963"/>
            <a:ext cx="4762" cy="3470275"/>
          </a:xfrm>
          <a:prstGeom prst="line">
            <a:avLst/>
          </a:prstGeom>
          <a:ln w="9525" cap="flat" cmpd="sng">
            <a:solidFill>
              <a:schemeClr val="tx1"/>
            </a:solidFill>
            <a:prstDash val="solid"/>
            <a:miter/>
            <a:headEnd type="none" w="med" len="med"/>
            <a:tailEnd type="none" w="med" len="med"/>
          </a:ln>
        </p:spPr>
      </p:sp>
      <p:graphicFrame>
        <p:nvGraphicFramePr>
          <p:cNvPr id="68618" name="对象 94234"/>
          <p:cNvGraphicFramePr/>
          <p:nvPr/>
        </p:nvGraphicFramePr>
        <p:xfrm>
          <a:off x="4211638" y="2276475"/>
          <a:ext cx="3097212" cy="1125538"/>
        </p:xfrm>
        <a:graphic>
          <a:graphicData uri="http://schemas.openxmlformats.org/presentationml/2006/ole">
            <mc:AlternateContent xmlns:mc="http://schemas.openxmlformats.org/markup-compatibility/2006">
              <mc:Choice xmlns:v="urn:schemas-microsoft-com:vml" Requires="v">
                <p:oleObj r:id="rId2" imgW="1257300" imgH="457200" progId="Equation.DSMT4">
                  <p:embed/>
                </p:oleObj>
              </mc:Choice>
              <mc:Fallback>
                <p:oleObj r:id="rId2" imgW="1257300" imgH="457200" progId="Equation.DSMT4">
                  <p:embed/>
                  <p:pic>
                    <p:nvPicPr>
                      <p:cNvPr id="0" name="图片 3148"/>
                      <p:cNvPicPr/>
                      <p:nvPr/>
                    </p:nvPicPr>
                    <p:blipFill>
                      <a:blip r:embed="rId3"/>
                      <a:stretch>
                        <a:fillRect/>
                      </a:stretch>
                    </p:blipFill>
                    <p:spPr>
                      <a:xfrm>
                        <a:off x="4211638" y="2276475"/>
                        <a:ext cx="3097212" cy="1125538"/>
                      </a:xfrm>
                      <a:prstGeom prst="rect">
                        <a:avLst/>
                      </a:prstGeom>
                      <a:noFill/>
                      <a:ln w="38100">
                        <a:noFill/>
                        <a:miter/>
                      </a:ln>
                    </p:spPr>
                  </p:pic>
                </p:oleObj>
              </mc:Fallback>
            </mc:AlternateContent>
          </a:graphicData>
        </a:graphic>
      </p:graphicFrame>
      <p:graphicFrame>
        <p:nvGraphicFramePr>
          <p:cNvPr id="68619" name="对象 94235"/>
          <p:cNvGraphicFramePr/>
          <p:nvPr/>
        </p:nvGraphicFramePr>
        <p:xfrm>
          <a:off x="4211638" y="4148138"/>
          <a:ext cx="3349625" cy="1181100"/>
        </p:xfrm>
        <a:graphic>
          <a:graphicData uri="http://schemas.openxmlformats.org/presentationml/2006/ole">
            <mc:AlternateContent xmlns:mc="http://schemas.openxmlformats.org/markup-compatibility/2006">
              <mc:Choice xmlns:v="urn:schemas-microsoft-com:vml" Requires="v">
                <p:oleObj r:id="rId4" imgW="1333500" imgH="469900" progId="Equation.3">
                  <p:embed/>
                </p:oleObj>
              </mc:Choice>
              <mc:Fallback>
                <p:oleObj r:id="rId4" imgW="1333500" imgH="469900" progId="Equation.3">
                  <p:embed/>
                  <p:pic>
                    <p:nvPicPr>
                      <p:cNvPr id="0" name="图片 3149"/>
                      <p:cNvPicPr/>
                      <p:nvPr/>
                    </p:nvPicPr>
                    <p:blipFill>
                      <a:blip r:embed="rId5"/>
                      <a:stretch>
                        <a:fillRect/>
                      </a:stretch>
                    </p:blipFill>
                    <p:spPr>
                      <a:xfrm>
                        <a:off x="4211638" y="4148138"/>
                        <a:ext cx="3349625" cy="1181100"/>
                      </a:xfrm>
                      <a:prstGeom prst="rect">
                        <a:avLst/>
                      </a:prstGeom>
                      <a:noFill/>
                      <a:ln w="38100">
                        <a:noFill/>
                        <a:miter/>
                      </a:ln>
                    </p:spPr>
                  </p:pic>
                </p:oleObj>
              </mc:Fallback>
            </mc:AlternateContent>
          </a:graphicData>
        </a:graphic>
      </p:graphicFrame>
      <p:sp>
        <p:nvSpPr>
          <p:cNvPr id="68620" name="直接连接符 94236"/>
          <p:cNvSpPr/>
          <p:nvPr/>
        </p:nvSpPr>
        <p:spPr>
          <a:xfrm flipH="1">
            <a:off x="2916238" y="2997200"/>
            <a:ext cx="1150937" cy="287338"/>
          </a:xfrm>
          <a:prstGeom prst="line">
            <a:avLst/>
          </a:prstGeom>
          <a:ln w="38100" cap="flat" cmpd="sng">
            <a:solidFill>
              <a:schemeClr val="tx1"/>
            </a:solidFill>
            <a:prstDash val="solid"/>
            <a:round/>
            <a:headEnd type="none" w="med" len="med"/>
            <a:tailEnd type="triangle" w="med" len="med"/>
          </a:ln>
        </p:spPr>
      </p:sp>
      <p:sp>
        <p:nvSpPr>
          <p:cNvPr id="68621" name="直接连接符 94237"/>
          <p:cNvSpPr/>
          <p:nvPr/>
        </p:nvSpPr>
        <p:spPr>
          <a:xfrm flipH="1">
            <a:off x="3203575" y="4724400"/>
            <a:ext cx="863600" cy="0"/>
          </a:xfrm>
          <a:prstGeom prst="line">
            <a:avLst/>
          </a:prstGeom>
          <a:ln w="38100" cap="flat" cmpd="sng">
            <a:solidFill>
              <a:schemeClr val="tx1"/>
            </a:solidFill>
            <a:prstDash val="solid"/>
            <a:round/>
            <a:headEnd type="none" w="med" len="med"/>
            <a:tailEnd type="triangle" w="med" len="med"/>
          </a:ln>
        </p:spPr>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文本框 95236"/>
          <p:cNvSpPr txBox="1"/>
          <p:nvPr/>
        </p:nvSpPr>
        <p:spPr>
          <a:xfrm>
            <a:off x="539750" y="692150"/>
            <a:ext cx="4176713" cy="641350"/>
          </a:xfrm>
          <a:prstGeom prst="rect">
            <a:avLst/>
          </a:prstGeom>
          <a:noFill/>
          <a:ln w="12700">
            <a:noFill/>
          </a:ln>
        </p:spPr>
        <p:txBody>
          <a:bodyPr anchor="t" anchorCtr="0">
            <a:spAutoFit/>
          </a:bodyPr>
          <a:lstStyle/>
          <a:p>
            <a:pPr eaLnBrk="0" hangingPunct="0"/>
            <a:r>
              <a:rPr lang="en-US" altLang="zh-CN" sz="3600" b="1">
                <a:latin typeface="Times New Roman" panose="02020603050405020304" pitchFamily="18" charset="0"/>
                <a:ea typeface="宋体" panose="02010600030101010101" pitchFamily="2" charset="-122"/>
              </a:rPr>
              <a:t>1.</a:t>
            </a:r>
            <a:r>
              <a:rPr lang="en-US" altLang="zh-CN" sz="2000">
                <a:latin typeface="Times New Roman" panose="02020603050405020304" pitchFamily="18" charset="0"/>
                <a:ea typeface="宋体" panose="02010600030101010101" pitchFamily="2" charset="-122"/>
              </a:rPr>
              <a:t>  </a:t>
            </a:r>
            <a:r>
              <a:rPr lang="en-US" altLang="zh-CN" sz="3600" b="1" dirty="0">
                <a:latin typeface="Arial" panose="020B0604020202020204" pitchFamily="34" charset="0"/>
                <a:ea typeface="宋体" panose="02010600030101010101" pitchFamily="2" charset="-122"/>
              </a:rPr>
              <a:t>k </a:t>
            </a:r>
            <a:r>
              <a:rPr lang="zh-CN" altLang="en-US" sz="3600" b="1" dirty="0">
                <a:latin typeface="Arial" panose="020B0604020202020204" pitchFamily="34" charset="0"/>
                <a:ea typeface="宋体" panose="02010600030101010101" pitchFamily="2" charset="-122"/>
              </a:rPr>
              <a:t>空间的等能面</a:t>
            </a:r>
          </a:p>
        </p:txBody>
      </p:sp>
      <p:sp>
        <p:nvSpPr>
          <p:cNvPr id="69634" name="文本框 95237"/>
          <p:cNvSpPr txBox="1"/>
          <p:nvPr/>
        </p:nvSpPr>
        <p:spPr>
          <a:xfrm>
            <a:off x="1192672" y="3486944"/>
            <a:ext cx="4679950" cy="519113"/>
          </a:xfrm>
          <a:prstGeom prst="rect">
            <a:avLst/>
          </a:prstGeom>
          <a:noFill/>
          <a:ln w="12700">
            <a:noFill/>
          </a:ln>
        </p:spPr>
        <p:txBody>
          <a:bodyPr anchor="t" anchorCtr="0">
            <a:spAutoFit/>
          </a:bodyPr>
          <a:lstStyle/>
          <a:p>
            <a:pPr marL="342900" indent="-342900" eaLnBrk="0" hangingPunct="0"/>
            <a:r>
              <a:rPr lang="en-US" altLang="zh-CN" sz="2800" b="1" dirty="0">
                <a:latin typeface="Arial" panose="020B0604020202020204" pitchFamily="34" charset="0"/>
                <a:ea typeface="宋体" panose="02010600030101010101" pitchFamily="2" charset="-122"/>
              </a:rPr>
              <a:t>b. </a:t>
            </a:r>
            <a:r>
              <a:rPr lang="zh-CN" altLang="en-US" sz="2800" b="1" dirty="0">
                <a:latin typeface="Arial" panose="020B0604020202020204" pitchFamily="34" charset="0"/>
                <a:ea typeface="宋体" panose="02010600030101010101" pitchFamily="2" charset="-122"/>
              </a:rPr>
              <a:t>极值点</a:t>
            </a:r>
            <a:r>
              <a:rPr lang="en-US" altLang="zh-CN" sz="2800" b="1" dirty="0">
                <a:latin typeface="Arial" panose="020B0604020202020204" pitchFamily="34" charset="0"/>
                <a:ea typeface="宋体" panose="02010600030101010101" pitchFamily="2" charset="-122"/>
              </a:rPr>
              <a:t>k</a:t>
            </a:r>
            <a:r>
              <a:rPr lang="en-US" altLang="zh-CN" sz="2800" b="1" baseline="-25000" dirty="0">
                <a:latin typeface="Arial" panose="020B0604020202020204" pitchFamily="34" charset="0"/>
                <a:ea typeface="宋体" panose="02010600030101010101" pitchFamily="2" charset="-122"/>
              </a:rPr>
              <a:t>0</a:t>
            </a:r>
            <a:r>
              <a:rPr lang="en-US" altLang="zh-CN" sz="2800" b="1" dirty="0">
                <a:latin typeface="Arial" panose="020B0604020202020204" pitchFamily="34" charset="0"/>
                <a:ea typeface="宋体" panose="02010600030101010101" pitchFamily="2" charset="-122"/>
              </a:rPr>
              <a:t>=k</a:t>
            </a:r>
            <a:r>
              <a:rPr lang="en-US" altLang="zh-CN" b="1"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a:t>
            </a:r>
            <a:r>
              <a:rPr lang="en-US" altLang="zh-CN" sz="2800" b="1" dirty="0">
                <a:latin typeface="Arial" panose="020B0604020202020204" pitchFamily="34" charset="0"/>
                <a:ea typeface="宋体" panose="02010600030101010101" pitchFamily="2" charset="-122"/>
              </a:rPr>
              <a:t>(k</a:t>
            </a:r>
            <a:r>
              <a:rPr lang="en-US" altLang="zh-CN" sz="2800" b="1" baseline="-25000" dirty="0">
                <a:latin typeface="Arial" panose="020B0604020202020204" pitchFamily="34" charset="0"/>
                <a:ea typeface="宋体" panose="02010600030101010101" pitchFamily="2" charset="-122"/>
              </a:rPr>
              <a:t>x0</a:t>
            </a:r>
            <a:r>
              <a:rPr lang="en-US" altLang="zh-CN" sz="2800" b="1" dirty="0">
                <a:latin typeface="Arial" panose="020B0604020202020204" pitchFamily="34" charset="0"/>
                <a:ea typeface="宋体" panose="02010600030101010101" pitchFamily="2" charset="-122"/>
              </a:rPr>
              <a:t>,k</a:t>
            </a:r>
            <a:r>
              <a:rPr lang="en-US" altLang="zh-CN" sz="2800" b="1" baseline="-25000" dirty="0">
                <a:latin typeface="Arial" panose="020B0604020202020204" pitchFamily="34" charset="0"/>
                <a:ea typeface="宋体" panose="02010600030101010101" pitchFamily="2" charset="-122"/>
              </a:rPr>
              <a:t>y0</a:t>
            </a:r>
            <a:r>
              <a:rPr lang="en-US" altLang="zh-CN" sz="2800" b="1" dirty="0">
                <a:latin typeface="Arial" panose="020B0604020202020204" pitchFamily="34" charset="0"/>
                <a:ea typeface="宋体" panose="02010600030101010101" pitchFamily="2" charset="-122"/>
              </a:rPr>
              <a:t>,k</a:t>
            </a:r>
            <a:r>
              <a:rPr lang="en-US" altLang="zh-CN" sz="2800" b="1" baseline="-25000" dirty="0">
                <a:latin typeface="Arial" panose="020B0604020202020204" pitchFamily="34" charset="0"/>
                <a:ea typeface="宋体" panose="02010600030101010101" pitchFamily="2" charset="-122"/>
              </a:rPr>
              <a:t>z0</a:t>
            </a:r>
            <a:r>
              <a:rPr lang="en-US" altLang="zh-CN" sz="2800" b="1" dirty="0">
                <a:latin typeface="Arial" panose="020B0604020202020204" pitchFamily="34" charset="0"/>
                <a:ea typeface="宋体" panose="02010600030101010101" pitchFamily="2" charset="-122"/>
              </a:rPr>
              <a:t>)</a:t>
            </a:r>
            <a:endParaRPr lang="en-US" altLang="zh-CN" sz="2800" b="1" dirty="0">
              <a:latin typeface="Arial" panose="020B0604020202020204" pitchFamily="34" charset="0"/>
              <a:ea typeface="Arial" panose="020B0604020202020204" pitchFamily="34" charset="0"/>
            </a:endParaRPr>
          </a:p>
        </p:txBody>
      </p:sp>
      <p:pic>
        <p:nvPicPr>
          <p:cNvPr id="69635" name="图片 95239"/>
          <p:cNvPicPr>
            <a:picLocks noChangeAspect="1"/>
          </p:cNvPicPr>
          <p:nvPr/>
        </p:nvPicPr>
        <p:blipFill>
          <a:blip r:embed="rId2"/>
          <a:stretch>
            <a:fillRect/>
          </a:stretch>
        </p:blipFill>
        <p:spPr>
          <a:xfrm>
            <a:off x="5651500" y="1800225"/>
            <a:ext cx="2962275" cy="2417763"/>
          </a:xfrm>
          <a:prstGeom prst="rect">
            <a:avLst/>
          </a:prstGeom>
          <a:noFill/>
          <a:ln w="9525">
            <a:noFill/>
          </a:ln>
        </p:spPr>
      </p:pic>
      <p:sp>
        <p:nvSpPr>
          <p:cNvPr id="69636" name="矩形 95241"/>
          <p:cNvSpPr/>
          <p:nvPr/>
        </p:nvSpPr>
        <p:spPr>
          <a:xfrm>
            <a:off x="1042988" y="1484313"/>
            <a:ext cx="2819400" cy="641350"/>
          </a:xfrm>
          <a:prstGeom prst="rect">
            <a:avLst/>
          </a:prstGeom>
          <a:noFill/>
          <a:ln w="9525">
            <a:noFill/>
          </a:ln>
        </p:spPr>
        <p:txBody>
          <a:bodyPr wrap="none" anchor="t" anchorCtr="0">
            <a:spAutoFit/>
          </a:bodyPr>
          <a:lstStyle/>
          <a:p>
            <a:r>
              <a:rPr lang="en-US" altLang="zh-CN" sz="3600" b="1" dirty="0">
                <a:solidFill>
                  <a:srgbClr val="A50021"/>
                </a:solidFill>
                <a:latin typeface="Times New Roman" panose="02020603050405020304" pitchFamily="18" charset="0"/>
                <a:ea typeface="宋体" panose="02010600030101010101" pitchFamily="2" charset="-122"/>
              </a:rPr>
              <a:t>(1) </a:t>
            </a:r>
            <a:r>
              <a:rPr lang="zh-CN" altLang="en-US" sz="3600" b="1" dirty="0">
                <a:solidFill>
                  <a:srgbClr val="A50021"/>
                </a:solidFill>
                <a:latin typeface="Times New Roman" panose="02020603050405020304" pitchFamily="18" charset="0"/>
                <a:ea typeface="宋体" panose="02010600030101010101" pitchFamily="2" charset="-122"/>
              </a:rPr>
              <a:t>一般情况</a:t>
            </a:r>
            <a:r>
              <a:rPr lang="en-US" altLang="zh-CN" sz="3600" b="1">
                <a:solidFill>
                  <a:srgbClr val="A50021"/>
                </a:solidFill>
                <a:latin typeface="Times New Roman" panose="02020603050405020304" pitchFamily="18" charset="0"/>
                <a:ea typeface="宋体" panose="02010600030101010101" pitchFamily="2" charset="-122"/>
              </a:rPr>
              <a:t>:</a:t>
            </a:r>
          </a:p>
        </p:txBody>
      </p:sp>
      <p:sp>
        <p:nvSpPr>
          <p:cNvPr id="69637" name="文本框 95242"/>
          <p:cNvSpPr txBox="1"/>
          <p:nvPr/>
        </p:nvSpPr>
        <p:spPr>
          <a:xfrm>
            <a:off x="1187450" y="2592388"/>
            <a:ext cx="4679950" cy="519112"/>
          </a:xfrm>
          <a:prstGeom prst="rect">
            <a:avLst/>
          </a:prstGeom>
          <a:noFill/>
          <a:ln w="12700">
            <a:noFill/>
          </a:ln>
        </p:spPr>
        <p:txBody>
          <a:bodyPr anchor="t" anchorCtr="0">
            <a:spAutoFit/>
          </a:bodyPr>
          <a:lstStyle/>
          <a:p>
            <a:pPr marL="342900" indent="-342900" eaLnBrk="0" hangingPunct="0">
              <a:buAutoNum type="alphaLcPeriod"/>
            </a:pPr>
            <a:r>
              <a:rPr lang="zh-CN" altLang="en-US" sz="2800" b="1" dirty="0">
                <a:latin typeface="Arial" panose="020B0604020202020204" pitchFamily="34" charset="0"/>
                <a:ea typeface="宋体" panose="02010600030101010101" pitchFamily="2" charset="-122"/>
              </a:rPr>
              <a:t>三维晶体</a:t>
            </a:r>
            <a:r>
              <a:rPr lang="en-US" altLang="zh-CN" sz="2800" b="1" dirty="0">
                <a:latin typeface="Arial" panose="020B0604020202020204" pitchFamily="34" charset="0"/>
                <a:ea typeface="宋体" panose="02010600030101010101" pitchFamily="2" charset="-122"/>
              </a:rPr>
              <a:t>. k=k(</a:t>
            </a:r>
            <a:r>
              <a:rPr lang="en-US" altLang="zh-CN" sz="2800" b="1" dirty="0" err="1">
                <a:latin typeface="Times New Roman" panose="02020603050405020304" pitchFamily="18" charset="0"/>
                <a:ea typeface="宋体" panose="02010600030101010101" pitchFamily="2" charset="-122"/>
              </a:rPr>
              <a:t>k</a:t>
            </a:r>
            <a:r>
              <a:rPr lang="en-US" altLang="zh-CN" sz="2800" b="1" baseline="-25000" dirty="0" err="1">
                <a:latin typeface="Arial" panose="020B0604020202020204" pitchFamily="34" charset="0"/>
                <a:ea typeface="宋体" panose="02010600030101010101" pitchFamily="2" charset="-122"/>
              </a:rPr>
              <a:t>x</a:t>
            </a:r>
            <a:r>
              <a:rPr lang="en-US" altLang="zh-CN" sz="2800" b="1" dirty="0" err="1">
                <a:latin typeface="Times New Roman" panose="02020603050405020304" pitchFamily="18" charset="0"/>
                <a:ea typeface="宋体" panose="02010600030101010101" pitchFamily="2" charset="-122"/>
              </a:rPr>
              <a:t>,k</a:t>
            </a:r>
            <a:r>
              <a:rPr lang="en-US" altLang="zh-CN" sz="2800" b="1" baseline="-25000" dirty="0" err="1">
                <a:latin typeface="Arial" panose="020B0604020202020204" pitchFamily="34" charset="0"/>
                <a:ea typeface="宋体" panose="02010600030101010101" pitchFamily="2" charset="-122"/>
              </a:rPr>
              <a:t>y</a:t>
            </a:r>
            <a:r>
              <a:rPr lang="en-US" altLang="zh-CN" sz="2800" b="1" dirty="0" err="1">
                <a:latin typeface="Times New Roman" panose="02020603050405020304" pitchFamily="18" charset="0"/>
                <a:ea typeface="宋体" panose="02010600030101010101" pitchFamily="2" charset="-122"/>
              </a:rPr>
              <a:t>,k</a:t>
            </a:r>
            <a:r>
              <a:rPr lang="en-US" altLang="zh-CN" sz="2800" b="1" baseline="-25000" dirty="0" err="1">
                <a:latin typeface="Arial" panose="020B0604020202020204" pitchFamily="34" charset="0"/>
                <a:ea typeface="宋体" panose="02010600030101010101" pitchFamily="2" charset="-122"/>
              </a:rPr>
              <a:t>z</a:t>
            </a:r>
            <a:r>
              <a:rPr lang="en-US" altLang="zh-CN" sz="2800" b="1" dirty="0">
                <a:latin typeface="Arial" panose="020B0604020202020204" pitchFamily="34" charset="0"/>
                <a:ea typeface="宋体" panose="02010600030101010101" pitchFamily="2" charset="-122"/>
              </a:rPr>
              <a:t>)</a:t>
            </a:r>
            <a:endParaRPr lang="en-US" altLang="zh-CN" sz="2800" b="1" dirty="0">
              <a:latin typeface="Arial" panose="020B0604020202020204" pitchFamily="34" charset="0"/>
              <a:ea typeface="Arial" panose="020B0604020202020204" pitchFamily="34" charset="0"/>
            </a:endParaRPr>
          </a:p>
        </p:txBody>
      </p:sp>
      <p:sp>
        <p:nvSpPr>
          <p:cNvPr id="69638" name="文本框 95243"/>
          <p:cNvSpPr txBox="1"/>
          <p:nvPr/>
        </p:nvSpPr>
        <p:spPr>
          <a:xfrm>
            <a:off x="1187450" y="4465638"/>
            <a:ext cx="4679950" cy="946150"/>
          </a:xfrm>
          <a:prstGeom prst="rect">
            <a:avLst/>
          </a:prstGeom>
          <a:noFill/>
          <a:ln w="12700">
            <a:noFill/>
          </a:ln>
        </p:spPr>
        <p:txBody>
          <a:bodyPr anchor="t" anchorCtr="0">
            <a:spAutoFit/>
          </a:bodyPr>
          <a:lstStyle/>
          <a:p>
            <a:pPr marL="342900" indent="-342900" eaLnBrk="0" hangingPunct="0"/>
            <a:r>
              <a:rPr lang="en-US" altLang="zh-CN" sz="2800" b="1" dirty="0">
                <a:latin typeface="Arial" panose="020B0604020202020204" pitchFamily="34" charset="0"/>
                <a:ea typeface="宋体" panose="02010600030101010101" pitchFamily="2" charset="-122"/>
              </a:rPr>
              <a:t>c. </a:t>
            </a:r>
            <a:r>
              <a:rPr lang="zh-CN" altLang="en-US" sz="2800" b="1" dirty="0">
                <a:latin typeface="Arial" panose="020B0604020202020204" pitchFamily="34" charset="0"/>
                <a:ea typeface="宋体" panose="02010600030101010101" pitchFamily="2" charset="-122"/>
              </a:rPr>
              <a:t>各向异性晶体 </a:t>
            </a:r>
            <a:r>
              <a:rPr lang="en-US" altLang="zh-CN" sz="2800" b="1" dirty="0">
                <a:latin typeface="Arial" panose="020B0604020202020204" pitchFamily="34" charset="0"/>
                <a:ea typeface="宋体" panose="02010600030101010101" pitchFamily="2" charset="-122"/>
              </a:rPr>
              <a:t>m*=m*(m*</a:t>
            </a:r>
            <a:r>
              <a:rPr lang="en-US" altLang="zh-CN" sz="2800" b="1" baseline="-25000" dirty="0" err="1">
                <a:latin typeface="Arial" panose="020B0604020202020204" pitchFamily="34" charset="0"/>
                <a:ea typeface="宋体" panose="02010600030101010101" pitchFamily="2" charset="-122"/>
              </a:rPr>
              <a:t>x</a:t>
            </a:r>
            <a:r>
              <a:rPr lang="en-US" altLang="zh-CN" sz="2800" b="1" dirty="0" err="1">
                <a:latin typeface="Arial" panose="020B0604020202020204" pitchFamily="34" charset="0"/>
                <a:ea typeface="宋体" panose="02010600030101010101" pitchFamily="2" charset="-122"/>
              </a:rPr>
              <a:t>,m</a:t>
            </a:r>
            <a:r>
              <a:rPr lang="en-US" altLang="zh-CN" sz="2800" b="1" dirty="0">
                <a:latin typeface="Arial" panose="020B0604020202020204" pitchFamily="34" charset="0"/>
                <a:ea typeface="宋体" panose="02010600030101010101" pitchFamily="2" charset="-122"/>
              </a:rPr>
              <a:t>*</a:t>
            </a:r>
            <a:r>
              <a:rPr lang="en-US" altLang="zh-CN" sz="2800" b="1" baseline="-25000" dirty="0" err="1">
                <a:latin typeface="Arial" panose="020B0604020202020204" pitchFamily="34" charset="0"/>
                <a:ea typeface="宋体" panose="02010600030101010101" pitchFamily="2" charset="-122"/>
              </a:rPr>
              <a:t>y</a:t>
            </a:r>
            <a:r>
              <a:rPr lang="en-US" altLang="zh-CN" sz="2800" b="1" dirty="0" err="1">
                <a:latin typeface="Arial" panose="020B0604020202020204" pitchFamily="34" charset="0"/>
                <a:ea typeface="宋体" panose="02010600030101010101" pitchFamily="2" charset="-122"/>
              </a:rPr>
              <a:t>,m</a:t>
            </a:r>
            <a:r>
              <a:rPr lang="en-US" altLang="zh-CN" sz="2800" b="1" dirty="0">
                <a:latin typeface="Arial" panose="020B0604020202020204" pitchFamily="34" charset="0"/>
                <a:ea typeface="宋体" panose="02010600030101010101" pitchFamily="2" charset="-122"/>
              </a:rPr>
              <a:t>*</a:t>
            </a:r>
            <a:r>
              <a:rPr lang="en-US" altLang="zh-CN" sz="2800" b="1" baseline="-25000" dirty="0">
                <a:latin typeface="Arial" panose="020B0604020202020204" pitchFamily="34" charset="0"/>
                <a:ea typeface="宋体" panose="02010600030101010101" pitchFamily="2" charset="-122"/>
              </a:rPr>
              <a:t>z</a:t>
            </a:r>
            <a:r>
              <a:rPr lang="en-US" altLang="zh-CN" sz="2800" b="1" dirty="0">
                <a:latin typeface="Arial" panose="020B0604020202020204" pitchFamily="34" charset="0"/>
                <a:ea typeface="宋体" panose="02010600030101010101" pitchFamily="2" charset="-122"/>
              </a:rPr>
              <a:t>).</a:t>
            </a:r>
            <a:endParaRPr lang="en-US" altLang="zh-CN" sz="2800" b="1" dirty="0">
              <a:latin typeface="Arial" panose="020B0604020202020204" pitchFamily="34" charset="0"/>
              <a:ea typeface="Arial" panose="020B0604020202020204" pitchFamily="34" charset="0"/>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57" name="对象 187397"/>
          <p:cNvGraphicFramePr/>
          <p:nvPr/>
        </p:nvGraphicFramePr>
        <p:xfrm>
          <a:off x="1187450" y="2060575"/>
          <a:ext cx="6911975" cy="1127125"/>
        </p:xfrm>
        <a:graphic>
          <a:graphicData uri="http://schemas.openxmlformats.org/presentationml/2006/ole">
            <mc:AlternateContent xmlns:mc="http://schemas.openxmlformats.org/markup-compatibility/2006">
              <mc:Choice xmlns:v="urn:schemas-microsoft-com:vml" Requires="v">
                <p:oleObj r:id="rId2" imgW="2754630" imgH="495300" progId="Equation.3">
                  <p:embed/>
                </p:oleObj>
              </mc:Choice>
              <mc:Fallback>
                <p:oleObj r:id="rId2" imgW="2754630" imgH="495300" progId="Equation.3">
                  <p:embed/>
                  <p:pic>
                    <p:nvPicPr>
                      <p:cNvPr id="0" name="图片 3152"/>
                      <p:cNvPicPr/>
                      <p:nvPr/>
                    </p:nvPicPr>
                    <p:blipFill>
                      <a:blip r:embed="rId3"/>
                      <a:stretch>
                        <a:fillRect/>
                      </a:stretch>
                    </p:blipFill>
                    <p:spPr>
                      <a:xfrm>
                        <a:off x="1187450" y="2060575"/>
                        <a:ext cx="6911975" cy="1127125"/>
                      </a:xfrm>
                      <a:prstGeom prst="rect">
                        <a:avLst/>
                      </a:prstGeom>
                      <a:noFill/>
                      <a:ln w="38100">
                        <a:noFill/>
                        <a:miter/>
                      </a:ln>
                    </p:spPr>
                  </p:pic>
                </p:oleObj>
              </mc:Fallback>
            </mc:AlternateContent>
          </a:graphicData>
        </a:graphic>
      </p:graphicFrame>
      <p:sp>
        <p:nvSpPr>
          <p:cNvPr id="70658" name="文本框 187398"/>
          <p:cNvSpPr txBox="1"/>
          <p:nvPr/>
        </p:nvSpPr>
        <p:spPr>
          <a:xfrm>
            <a:off x="1331913" y="3573463"/>
            <a:ext cx="1408112" cy="579437"/>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其中：</a:t>
            </a:r>
          </a:p>
        </p:txBody>
      </p:sp>
      <p:graphicFrame>
        <p:nvGraphicFramePr>
          <p:cNvPr id="70659" name="对象 187399"/>
          <p:cNvGraphicFramePr/>
          <p:nvPr/>
        </p:nvGraphicFramePr>
        <p:xfrm>
          <a:off x="3563938" y="3716338"/>
          <a:ext cx="2665412" cy="1957387"/>
        </p:xfrm>
        <a:graphic>
          <a:graphicData uri="http://schemas.openxmlformats.org/presentationml/2006/ole">
            <mc:AlternateContent xmlns:mc="http://schemas.openxmlformats.org/markup-compatibility/2006">
              <mc:Choice xmlns:v="urn:schemas-microsoft-com:vml" Requires="v">
                <p:oleObj r:id="rId4" imgW="862965" imgH="698500" progId="Equation.3">
                  <p:embed/>
                </p:oleObj>
              </mc:Choice>
              <mc:Fallback>
                <p:oleObj r:id="rId4" imgW="862965" imgH="698500" progId="Equation.3">
                  <p:embed/>
                  <p:pic>
                    <p:nvPicPr>
                      <p:cNvPr id="0" name="图片 3156"/>
                      <p:cNvPicPr/>
                      <p:nvPr/>
                    </p:nvPicPr>
                    <p:blipFill>
                      <a:blip r:embed="rId5"/>
                      <a:stretch>
                        <a:fillRect/>
                      </a:stretch>
                    </p:blipFill>
                    <p:spPr>
                      <a:xfrm>
                        <a:off x="3563938" y="3716338"/>
                        <a:ext cx="2665412" cy="1957387"/>
                      </a:xfrm>
                      <a:prstGeom prst="rect">
                        <a:avLst/>
                      </a:prstGeom>
                      <a:noFill/>
                      <a:ln w="38100">
                        <a:noFill/>
                        <a:miter/>
                      </a:ln>
                    </p:spPr>
                  </p:pic>
                </p:oleObj>
              </mc:Fallback>
            </mc:AlternateContent>
          </a:graphicData>
        </a:graphic>
      </p:graphicFrame>
      <p:sp>
        <p:nvSpPr>
          <p:cNvPr id="70660" name="文本框 187400"/>
          <p:cNvSpPr txBox="1"/>
          <p:nvPr/>
        </p:nvSpPr>
        <p:spPr>
          <a:xfrm>
            <a:off x="827088" y="1052513"/>
            <a:ext cx="6697662" cy="579437"/>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能量</a:t>
            </a:r>
            <a:r>
              <a:rPr lang="en-US" altLang="zh-CN" sz="3200" b="1" dirty="0">
                <a:latin typeface="Arial" panose="020B0604020202020204" pitchFamily="34" charset="0"/>
                <a:ea typeface="宋体" panose="02010600030101010101" pitchFamily="2" charset="-122"/>
              </a:rPr>
              <a:t>E</a:t>
            </a:r>
            <a:r>
              <a:rPr lang="zh-CN" altLang="en-US" sz="3200" b="1" dirty="0">
                <a:latin typeface="Arial" panose="020B0604020202020204" pitchFamily="34" charset="0"/>
                <a:ea typeface="宋体" panose="02010600030101010101" pitchFamily="2" charset="-122"/>
              </a:rPr>
              <a:t>在极值点</a:t>
            </a:r>
            <a:r>
              <a:rPr lang="en-US" altLang="zh-CN" sz="3200" b="1">
                <a:latin typeface="Arial" panose="020B0604020202020204" pitchFamily="34" charset="0"/>
                <a:ea typeface="宋体" panose="02010600030101010101" pitchFamily="2" charset="-122"/>
              </a:rPr>
              <a:t>k</a:t>
            </a:r>
            <a:r>
              <a:rPr lang="en-US" altLang="zh-CN" sz="3200" b="1" baseline="-25000">
                <a:latin typeface="Arial" panose="020B0604020202020204" pitchFamily="34" charset="0"/>
                <a:ea typeface="宋体" panose="02010600030101010101" pitchFamily="2" charset="-122"/>
              </a:rPr>
              <a:t>0</a:t>
            </a:r>
            <a:r>
              <a:rPr lang="zh-CN" altLang="en-US" sz="3200" b="1" dirty="0">
                <a:latin typeface="Arial" panose="020B0604020202020204" pitchFamily="34" charset="0"/>
                <a:ea typeface="宋体" panose="02010600030101010101" pitchFamily="2" charset="-122"/>
              </a:rPr>
              <a:t>附近展开</a:t>
            </a:r>
            <a:endParaRPr lang="zh-CN" altLang="en-US" sz="3200" b="1" dirty="0">
              <a:latin typeface="Arial" panose="020B0604020202020204" pitchFamily="34" charset="0"/>
              <a:ea typeface="Arial" panose="020B060402020202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1" name="对象 96258"/>
          <p:cNvGraphicFramePr/>
          <p:nvPr/>
        </p:nvGraphicFramePr>
        <p:xfrm>
          <a:off x="539750" y="1268413"/>
          <a:ext cx="8229600" cy="1395412"/>
        </p:xfrm>
        <a:graphic>
          <a:graphicData uri="http://schemas.openxmlformats.org/presentationml/2006/ole">
            <mc:AlternateContent xmlns:mc="http://schemas.openxmlformats.org/markup-compatibility/2006">
              <mc:Choice xmlns:v="urn:schemas-microsoft-com:vml" Requires="v">
                <p:oleObj r:id="rId2" imgW="4201795" imgH="660400" progId="Equation.DSMT4">
                  <p:embed/>
                </p:oleObj>
              </mc:Choice>
              <mc:Fallback>
                <p:oleObj r:id="rId2" imgW="4201795" imgH="660400" progId="Equation.DSMT4">
                  <p:embed/>
                  <p:pic>
                    <p:nvPicPr>
                      <p:cNvPr id="0" name="图片 3155"/>
                      <p:cNvPicPr/>
                      <p:nvPr/>
                    </p:nvPicPr>
                    <p:blipFill>
                      <a:blip r:embed="rId3"/>
                      <a:stretch>
                        <a:fillRect/>
                      </a:stretch>
                    </p:blipFill>
                    <p:spPr>
                      <a:xfrm>
                        <a:off x="539750" y="1268413"/>
                        <a:ext cx="8229600" cy="1395412"/>
                      </a:xfrm>
                      <a:prstGeom prst="rect">
                        <a:avLst/>
                      </a:prstGeom>
                      <a:noFill/>
                      <a:ln w="38100">
                        <a:noFill/>
                        <a:miter/>
                      </a:ln>
                    </p:spPr>
                  </p:pic>
                </p:oleObj>
              </mc:Fallback>
            </mc:AlternateContent>
          </a:graphicData>
        </a:graphic>
      </p:graphicFrame>
      <p:graphicFrame>
        <p:nvGraphicFramePr>
          <p:cNvPr id="71682" name="对象 96259"/>
          <p:cNvGraphicFramePr/>
          <p:nvPr/>
        </p:nvGraphicFramePr>
        <p:xfrm>
          <a:off x="1403350" y="2924175"/>
          <a:ext cx="6264275" cy="1206500"/>
        </p:xfrm>
        <a:graphic>
          <a:graphicData uri="http://schemas.openxmlformats.org/presentationml/2006/ole">
            <mc:AlternateContent xmlns:mc="http://schemas.openxmlformats.org/markup-compatibility/2006">
              <mc:Choice xmlns:v="urn:schemas-microsoft-com:vml" Requires="v">
                <p:oleObj r:id="rId4" imgW="2171700" imgH="419100" progId="Equation.3">
                  <p:embed/>
                </p:oleObj>
              </mc:Choice>
              <mc:Fallback>
                <p:oleObj r:id="rId4" imgW="2171700" imgH="419100" progId="Equation.3">
                  <p:embed/>
                  <p:pic>
                    <p:nvPicPr>
                      <p:cNvPr id="0" name="图片 3150"/>
                      <p:cNvPicPr/>
                      <p:nvPr/>
                    </p:nvPicPr>
                    <p:blipFill>
                      <a:blip r:embed="rId5"/>
                      <a:stretch>
                        <a:fillRect/>
                      </a:stretch>
                    </p:blipFill>
                    <p:spPr>
                      <a:xfrm>
                        <a:off x="1403350" y="2924175"/>
                        <a:ext cx="6264275" cy="1206500"/>
                      </a:xfrm>
                      <a:prstGeom prst="rect">
                        <a:avLst/>
                      </a:prstGeom>
                      <a:noFill/>
                      <a:ln w="38100">
                        <a:noFill/>
                        <a:miter/>
                      </a:ln>
                    </p:spPr>
                  </p:pic>
                </p:oleObj>
              </mc:Fallback>
            </mc:AlternateContent>
          </a:graphicData>
        </a:graphic>
      </p:graphicFrame>
      <p:sp>
        <p:nvSpPr>
          <p:cNvPr id="71683" name="矩形 96260"/>
          <p:cNvSpPr/>
          <p:nvPr/>
        </p:nvSpPr>
        <p:spPr>
          <a:xfrm>
            <a:off x="611188" y="476250"/>
            <a:ext cx="1809750" cy="579438"/>
          </a:xfrm>
          <a:prstGeom prst="rect">
            <a:avLst/>
          </a:prstGeom>
          <a:noFill/>
          <a:ln w="9525">
            <a:noFill/>
          </a:ln>
        </p:spPr>
        <p:txBody>
          <a:bodyPr wrap="none" anchor="ctr" anchorCtr="0">
            <a:spAutoFit/>
          </a:bodyPr>
          <a:lstStyle/>
          <a:p>
            <a:r>
              <a:rPr lang="zh-CN" altLang="en-US" sz="3200" b="1" dirty="0">
                <a:latin typeface="Times New Roman" panose="02020603050405020304" pitchFamily="18" charset="0"/>
                <a:ea typeface="宋体" panose="02010600030101010101" pitchFamily="2" charset="-122"/>
              </a:rPr>
              <a:t>移项后：</a:t>
            </a:r>
          </a:p>
        </p:txBody>
      </p:sp>
      <p:graphicFrame>
        <p:nvGraphicFramePr>
          <p:cNvPr id="71684" name="对象 96261"/>
          <p:cNvGraphicFramePr/>
          <p:nvPr/>
        </p:nvGraphicFramePr>
        <p:xfrm>
          <a:off x="755650" y="4221163"/>
          <a:ext cx="4032250" cy="1152525"/>
        </p:xfrm>
        <a:graphic>
          <a:graphicData uri="http://schemas.openxmlformats.org/presentationml/2006/ole">
            <mc:AlternateContent xmlns:mc="http://schemas.openxmlformats.org/markup-compatibility/2006">
              <mc:Choice xmlns:v="urn:schemas-microsoft-com:vml" Requires="v">
                <p:oleObj r:id="rId6" imgW="1536065" imgH="431800" progId="Equation.3">
                  <p:embed/>
                </p:oleObj>
              </mc:Choice>
              <mc:Fallback>
                <p:oleObj r:id="rId6" imgW="1536065" imgH="431800" progId="Equation.3">
                  <p:embed/>
                  <p:pic>
                    <p:nvPicPr>
                      <p:cNvPr id="0" name="图片 3151"/>
                      <p:cNvPicPr/>
                      <p:nvPr/>
                    </p:nvPicPr>
                    <p:blipFill>
                      <a:blip r:embed="rId7"/>
                      <a:stretch>
                        <a:fillRect/>
                      </a:stretch>
                    </p:blipFill>
                    <p:spPr>
                      <a:xfrm>
                        <a:off x="755650" y="4221163"/>
                        <a:ext cx="4032250" cy="1152525"/>
                      </a:xfrm>
                      <a:prstGeom prst="rect">
                        <a:avLst/>
                      </a:prstGeom>
                      <a:noFill/>
                      <a:ln w="38100">
                        <a:noFill/>
                        <a:miter/>
                      </a:ln>
                    </p:spPr>
                  </p:pic>
                </p:oleObj>
              </mc:Fallback>
            </mc:AlternateContent>
          </a:graphicData>
        </a:graphic>
      </p:graphicFrame>
      <p:graphicFrame>
        <p:nvGraphicFramePr>
          <p:cNvPr id="71685" name="对象 96262"/>
          <p:cNvGraphicFramePr/>
          <p:nvPr/>
        </p:nvGraphicFramePr>
        <p:xfrm>
          <a:off x="827088" y="5157788"/>
          <a:ext cx="4032250" cy="1160462"/>
        </p:xfrm>
        <a:graphic>
          <a:graphicData uri="http://schemas.openxmlformats.org/presentationml/2006/ole">
            <mc:AlternateContent xmlns:mc="http://schemas.openxmlformats.org/markup-compatibility/2006">
              <mc:Choice xmlns:v="urn:schemas-microsoft-com:vml" Requires="v">
                <p:oleObj r:id="rId8" imgW="1536065" imgH="444500" progId="Equation.3">
                  <p:embed/>
                </p:oleObj>
              </mc:Choice>
              <mc:Fallback>
                <p:oleObj r:id="rId8" imgW="1536065" imgH="444500" progId="Equation.3">
                  <p:embed/>
                  <p:pic>
                    <p:nvPicPr>
                      <p:cNvPr id="0" name="图片 3154"/>
                      <p:cNvPicPr/>
                      <p:nvPr/>
                    </p:nvPicPr>
                    <p:blipFill>
                      <a:blip r:embed="rId9"/>
                      <a:stretch>
                        <a:fillRect/>
                      </a:stretch>
                    </p:blipFill>
                    <p:spPr>
                      <a:xfrm>
                        <a:off x="827088" y="5157788"/>
                        <a:ext cx="4032250" cy="1160462"/>
                      </a:xfrm>
                      <a:prstGeom prst="rect">
                        <a:avLst/>
                      </a:prstGeom>
                      <a:noFill/>
                      <a:ln w="38100">
                        <a:noFill/>
                        <a:miter/>
                      </a:ln>
                    </p:spPr>
                  </p:pic>
                </p:oleObj>
              </mc:Fallback>
            </mc:AlternateContent>
          </a:graphicData>
        </a:graphic>
      </p:graphicFrame>
      <p:graphicFrame>
        <p:nvGraphicFramePr>
          <p:cNvPr id="71686" name="对象 96263"/>
          <p:cNvGraphicFramePr/>
          <p:nvPr/>
        </p:nvGraphicFramePr>
        <p:xfrm>
          <a:off x="5003800" y="4652963"/>
          <a:ext cx="3960813" cy="1227137"/>
        </p:xfrm>
        <a:graphic>
          <a:graphicData uri="http://schemas.openxmlformats.org/presentationml/2006/ole">
            <mc:AlternateContent xmlns:mc="http://schemas.openxmlformats.org/markup-compatibility/2006">
              <mc:Choice xmlns:v="urn:schemas-microsoft-com:vml" Requires="v">
                <p:oleObj r:id="rId10" imgW="1523365" imgH="431800" progId="Equation.3">
                  <p:embed/>
                </p:oleObj>
              </mc:Choice>
              <mc:Fallback>
                <p:oleObj r:id="rId10" imgW="1523365" imgH="431800" progId="Equation.3">
                  <p:embed/>
                  <p:pic>
                    <p:nvPicPr>
                      <p:cNvPr id="0" name="图片 3153"/>
                      <p:cNvPicPr/>
                      <p:nvPr/>
                    </p:nvPicPr>
                    <p:blipFill>
                      <a:blip r:embed="rId11"/>
                      <a:stretch>
                        <a:fillRect/>
                      </a:stretch>
                    </p:blipFill>
                    <p:spPr>
                      <a:xfrm>
                        <a:off x="5003800" y="4652963"/>
                        <a:ext cx="3960813" cy="1227137"/>
                      </a:xfrm>
                      <a:prstGeom prst="rect">
                        <a:avLst/>
                      </a:prstGeom>
                      <a:noFill/>
                      <a:ln w="38100">
                        <a:noFill/>
                        <a:miter/>
                      </a:ln>
                    </p:spPr>
                  </p:pic>
                </p:oleObj>
              </mc:Fallback>
            </mc:AlternateContent>
          </a:graphicData>
        </a:graphic>
      </p:graphicFrame>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5" name="组合 98317"/>
          <p:cNvGrpSpPr/>
          <p:nvPr/>
        </p:nvGrpSpPr>
        <p:grpSpPr>
          <a:xfrm>
            <a:off x="2555875" y="620713"/>
            <a:ext cx="4911725" cy="4176712"/>
            <a:chOff x="1003" y="436"/>
            <a:chExt cx="3152" cy="2898"/>
          </a:xfrm>
        </p:grpSpPr>
        <p:sp>
          <p:nvSpPr>
            <p:cNvPr id="72706" name="直接连接符 98305"/>
            <p:cNvSpPr/>
            <p:nvPr/>
          </p:nvSpPr>
          <p:spPr>
            <a:xfrm>
              <a:off x="1781" y="2260"/>
              <a:ext cx="2064" cy="0"/>
            </a:xfrm>
            <a:prstGeom prst="line">
              <a:avLst/>
            </a:prstGeom>
            <a:ln w="28575" cap="sq" cmpd="sng">
              <a:solidFill>
                <a:schemeClr val="tx1"/>
              </a:solidFill>
              <a:prstDash val="solid"/>
              <a:miter/>
              <a:headEnd type="none" w="sm" len="sm"/>
              <a:tailEnd type="triangle" w="sm" len="sm"/>
            </a:ln>
          </p:spPr>
        </p:sp>
        <p:sp>
          <p:nvSpPr>
            <p:cNvPr id="72707" name="直接连接符 98306"/>
            <p:cNvSpPr/>
            <p:nvPr/>
          </p:nvSpPr>
          <p:spPr>
            <a:xfrm flipV="1">
              <a:off x="1781" y="580"/>
              <a:ext cx="0" cy="1680"/>
            </a:xfrm>
            <a:prstGeom prst="line">
              <a:avLst/>
            </a:prstGeom>
            <a:ln w="28575" cap="sq" cmpd="sng">
              <a:solidFill>
                <a:schemeClr val="tx1"/>
              </a:solidFill>
              <a:prstDash val="solid"/>
              <a:miter/>
              <a:headEnd type="none" w="sm" len="sm"/>
              <a:tailEnd type="triangle" w="sm" len="sm"/>
            </a:ln>
          </p:spPr>
        </p:sp>
        <p:sp>
          <p:nvSpPr>
            <p:cNvPr id="72708" name="直接连接符 98307"/>
            <p:cNvSpPr/>
            <p:nvPr/>
          </p:nvSpPr>
          <p:spPr>
            <a:xfrm flipH="1">
              <a:off x="1013" y="2260"/>
              <a:ext cx="768" cy="816"/>
            </a:xfrm>
            <a:prstGeom prst="line">
              <a:avLst/>
            </a:prstGeom>
            <a:ln w="28575" cap="sq" cmpd="sng">
              <a:solidFill>
                <a:schemeClr val="tx1"/>
              </a:solidFill>
              <a:prstDash val="solid"/>
              <a:miter/>
              <a:headEnd type="none" w="sm" len="sm"/>
              <a:tailEnd type="triangle" w="sm" len="sm"/>
            </a:ln>
          </p:spPr>
        </p:sp>
        <p:sp>
          <p:nvSpPr>
            <p:cNvPr id="72709" name="椭圆 98308"/>
            <p:cNvSpPr/>
            <p:nvPr/>
          </p:nvSpPr>
          <p:spPr>
            <a:xfrm rot="2132260">
              <a:off x="2180" y="1065"/>
              <a:ext cx="1152" cy="336"/>
            </a:xfrm>
            <a:prstGeom prst="ellipse">
              <a:avLst/>
            </a:prstGeom>
            <a:solidFill>
              <a:schemeClr val="accent1"/>
            </a:solidFill>
            <a:ln w="12700" cap="sq" cmpd="sng">
              <a:solidFill>
                <a:schemeClr val="tx1"/>
              </a:solidFill>
              <a:prstDash val="solid"/>
              <a:miter/>
              <a:headEnd type="none" w="sm" len="sm"/>
              <a:tailEnd type="none" w="sm" len="sm"/>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72710" name="椭圆 98309"/>
            <p:cNvSpPr/>
            <p:nvPr/>
          </p:nvSpPr>
          <p:spPr>
            <a:xfrm rot="2212194">
              <a:off x="2707" y="1064"/>
              <a:ext cx="144" cy="336"/>
            </a:xfrm>
            <a:prstGeom prst="ellipse">
              <a:avLst/>
            </a:prstGeom>
            <a:solidFill>
              <a:schemeClr val="accent1"/>
            </a:solidFill>
            <a:ln w="12700" cap="sq" cmpd="sng">
              <a:solidFill>
                <a:schemeClr val="tx1"/>
              </a:solidFill>
              <a:prstDash val="solid"/>
              <a:miter/>
              <a:headEnd type="none" w="sm" len="sm"/>
              <a:tailEnd type="none" w="sm" len="sm"/>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72711" name="文本框 98310"/>
            <p:cNvSpPr txBox="1"/>
            <p:nvPr/>
          </p:nvSpPr>
          <p:spPr>
            <a:xfrm>
              <a:off x="2694" y="1156"/>
              <a:ext cx="183" cy="149"/>
            </a:xfrm>
            <a:prstGeom prst="rect">
              <a:avLst/>
            </a:prstGeom>
            <a:noFill/>
            <a:ln w="12700">
              <a:noFill/>
            </a:ln>
          </p:spPr>
          <p:txBody>
            <a:bodyPr wrap="none" anchor="t" anchorCtr="0">
              <a:spAutoFit/>
            </a:bodyPr>
            <a:lstStyle/>
            <a:p>
              <a:pPr eaLnBrk="0" hangingPunct="0"/>
              <a:r>
                <a:rPr lang="en-US" altLang="zh-CN" sz="800">
                  <a:latin typeface="Arial" panose="020B0604020202020204" pitchFamily="34" charset="0"/>
                  <a:ea typeface="宋体" panose="02010600030101010101" pitchFamily="2" charset="-122"/>
                </a:rPr>
                <a:t>●</a:t>
              </a:r>
            </a:p>
          </p:txBody>
        </p:sp>
        <p:sp>
          <p:nvSpPr>
            <p:cNvPr id="72712" name="文本框 98311"/>
            <p:cNvSpPr txBox="1"/>
            <p:nvPr/>
          </p:nvSpPr>
          <p:spPr>
            <a:xfrm>
              <a:off x="2789" y="820"/>
              <a:ext cx="319" cy="361"/>
            </a:xfrm>
            <a:prstGeom prst="rect">
              <a:avLst/>
            </a:prstGeom>
            <a:noFill/>
            <a:ln w="12700">
              <a:noFill/>
            </a:ln>
          </p:spPr>
          <p:txBody>
            <a:bodyPr wrap="none" anchor="t" anchorCtr="0">
              <a:spAutoFit/>
            </a:bodyPr>
            <a:lstStyle/>
            <a:p>
              <a:pPr eaLnBrk="0" hangingPunct="0"/>
              <a:r>
                <a:rPr lang="en-US" altLang="zh-CN" sz="2800" err="1">
                  <a:latin typeface="Arial" panose="020B0604020202020204" pitchFamily="34" charset="0"/>
                  <a:ea typeface="宋体" panose="02010600030101010101" pitchFamily="2" charset="-122"/>
                </a:rPr>
                <a:t>k</a:t>
              </a:r>
              <a:r>
                <a:rPr lang="en-US" altLang="zh-CN" sz="2800" baseline="-25000" err="1">
                  <a:latin typeface="Arial" panose="020B0604020202020204" pitchFamily="34" charset="0"/>
                  <a:ea typeface="宋体" panose="02010600030101010101" pitchFamily="2" charset="-122"/>
                </a:rPr>
                <a:t>o</a:t>
              </a:r>
              <a:endParaRPr lang="en-US" altLang="zh-CN" sz="2800">
                <a:latin typeface="Arial" panose="020B0604020202020204" pitchFamily="34" charset="0"/>
                <a:ea typeface="宋体" panose="02010600030101010101" pitchFamily="2" charset="-122"/>
              </a:endParaRPr>
            </a:p>
          </p:txBody>
        </p:sp>
        <p:sp>
          <p:nvSpPr>
            <p:cNvPr id="72713" name="文本框 98312"/>
            <p:cNvSpPr txBox="1"/>
            <p:nvPr/>
          </p:nvSpPr>
          <p:spPr>
            <a:xfrm>
              <a:off x="1003" y="2974"/>
              <a:ext cx="310" cy="360"/>
            </a:xfrm>
            <a:prstGeom prst="rect">
              <a:avLst/>
            </a:prstGeom>
            <a:noFill/>
            <a:ln w="12700">
              <a:noFill/>
            </a:ln>
          </p:spPr>
          <p:txBody>
            <a:bodyPr wrap="none" anchor="t" anchorCtr="0">
              <a:spAutoFit/>
            </a:bodyPr>
            <a:lstStyle/>
            <a:p>
              <a:pPr eaLnBrk="0" hangingPunct="0"/>
              <a:r>
                <a:rPr lang="en-US" altLang="zh-CN" sz="2800" err="1">
                  <a:latin typeface="Arial" panose="020B0604020202020204" pitchFamily="34" charset="0"/>
                  <a:ea typeface="宋体" panose="02010600030101010101" pitchFamily="2" charset="-122"/>
                </a:rPr>
                <a:t>k</a:t>
              </a:r>
              <a:r>
                <a:rPr lang="en-US" altLang="zh-CN" sz="2800" baseline="-25000" err="1">
                  <a:latin typeface="Arial" panose="020B0604020202020204" pitchFamily="34" charset="0"/>
                  <a:ea typeface="宋体" panose="02010600030101010101" pitchFamily="2" charset="-122"/>
                </a:rPr>
                <a:t>x</a:t>
              </a:r>
              <a:endParaRPr lang="en-US" altLang="zh-CN" sz="2800">
                <a:latin typeface="Arial" panose="020B0604020202020204" pitchFamily="34" charset="0"/>
                <a:ea typeface="宋体" panose="02010600030101010101" pitchFamily="2" charset="-122"/>
              </a:endParaRPr>
            </a:p>
          </p:txBody>
        </p:sp>
        <p:sp>
          <p:nvSpPr>
            <p:cNvPr id="72714" name="文本框 98313"/>
            <p:cNvSpPr txBox="1"/>
            <p:nvPr/>
          </p:nvSpPr>
          <p:spPr>
            <a:xfrm>
              <a:off x="3845" y="2212"/>
              <a:ext cx="310" cy="361"/>
            </a:xfrm>
            <a:prstGeom prst="rect">
              <a:avLst/>
            </a:prstGeom>
            <a:noFill/>
            <a:ln w="12700">
              <a:noFill/>
            </a:ln>
          </p:spPr>
          <p:txBody>
            <a:bodyPr wrap="none" anchor="t" anchorCtr="0">
              <a:spAutoFit/>
            </a:bodyPr>
            <a:lstStyle/>
            <a:p>
              <a:pPr eaLnBrk="0" hangingPunct="0"/>
              <a:r>
                <a:rPr lang="en-US" altLang="zh-CN" sz="2800" err="1">
                  <a:latin typeface="Arial" panose="020B0604020202020204" pitchFamily="34" charset="0"/>
                  <a:ea typeface="宋体" panose="02010600030101010101" pitchFamily="2" charset="-122"/>
                </a:rPr>
                <a:t>k</a:t>
              </a:r>
              <a:r>
                <a:rPr lang="en-US" altLang="zh-CN" sz="2800" baseline="-25000" err="1">
                  <a:latin typeface="Arial" panose="020B0604020202020204" pitchFamily="34" charset="0"/>
                  <a:ea typeface="宋体" panose="02010600030101010101" pitchFamily="2" charset="-122"/>
                </a:rPr>
                <a:t>y</a:t>
              </a:r>
              <a:endParaRPr lang="en-US" altLang="zh-CN" sz="2800">
                <a:latin typeface="Arial" panose="020B0604020202020204" pitchFamily="34" charset="0"/>
                <a:ea typeface="宋体" panose="02010600030101010101" pitchFamily="2" charset="-122"/>
              </a:endParaRPr>
            </a:p>
          </p:txBody>
        </p:sp>
        <p:sp>
          <p:nvSpPr>
            <p:cNvPr id="72715" name="文本框 98314"/>
            <p:cNvSpPr txBox="1"/>
            <p:nvPr/>
          </p:nvSpPr>
          <p:spPr>
            <a:xfrm>
              <a:off x="1791" y="436"/>
              <a:ext cx="310" cy="360"/>
            </a:xfrm>
            <a:prstGeom prst="rect">
              <a:avLst/>
            </a:prstGeom>
            <a:noFill/>
            <a:ln w="12700">
              <a:noFill/>
            </a:ln>
          </p:spPr>
          <p:txBody>
            <a:bodyPr wrap="none" anchor="t" anchorCtr="0">
              <a:spAutoFit/>
            </a:bodyPr>
            <a:lstStyle/>
            <a:p>
              <a:pPr eaLnBrk="0" hangingPunct="0"/>
              <a:r>
                <a:rPr lang="en-US" altLang="zh-CN" sz="2800" err="1">
                  <a:latin typeface="Arial" panose="020B0604020202020204" pitchFamily="34" charset="0"/>
                  <a:ea typeface="宋体" panose="02010600030101010101" pitchFamily="2" charset="-122"/>
                </a:rPr>
                <a:t>k</a:t>
              </a:r>
              <a:r>
                <a:rPr lang="en-US" altLang="zh-CN" sz="2800" baseline="-25000" err="1">
                  <a:latin typeface="Arial" panose="020B0604020202020204" pitchFamily="34" charset="0"/>
                  <a:ea typeface="宋体" panose="02010600030101010101" pitchFamily="2" charset="-122"/>
                </a:rPr>
                <a:t>z</a:t>
              </a:r>
              <a:endParaRPr lang="en-US" altLang="zh-CN" sz="2800">
                <a:latin typeface="Arial" panose="020B0604020202020204" pitchFamily="34" charset="0"/>
                <a:ea typeface="宋体" panose="02010600030101010101" pitchFamily="2" charset="-122"/>
              </a:endParaRPr>
            </a:p>
          </p:txBody>
        </p:sp>
      </p:grpSp>
      <p:sp>
        <p:nvSpPr>
          <p:cNvPr id="72716" name="文本框 98315"/>
          <p:cNvSpPr txBox="1"/>
          <p:nvPr/>
        </p:nvSpPr>
        <p:spPr>
          <a:xfrm>
            <a:off x="1763713" y="5359400"/>
            <a:ext cx="5761037" cy="579438"/>
          </a:xfrm>
          <a:prstGeom prst="rect">
            <a:avLst/>
          </a:prstGeom>
          <a:noFill/>
          <a:ln w="12700">
            <a:noFill/>
          </a:ln>
        </p:spPr>
        <p:txBody>
          <a:bodyPr wrap="none" anchor="t" anchorCtr="0">
            <a:spAutoFit/>
          </a:bodyPr>
          <a:lstStyle/>
          <a:p>
            <a:pPr eaLnBrk="0" hangingPunct="0"/>
            <a:r>
              <a:rPr lang="zh-CN" altLang="en-US" sz="3200" dirty="0">
                <a:latin typeface="Arial" panose="020B0604020202020204" pitchFamily="34" charset="0"/>
                <a:ea typeface="宋体" panose="02010600030101010101" pitchFamily="2" charset="-122"/>
              </a:rPr>
              <a:t>在长轴方向</a:t>
            </a:r>
            <a:r>
              <a:rPr lang="en-US" altLang="zh-CN" sz="3200">
                <a:latin typeface="Arial" panose="020B0604020202020204" pitchFamily="34" charset="0"/>
                <a:ea typeface="宋体" panose="02010600030101010101" pitchFamily="2" charset="-122"/>
              </a:rPr>
              <a:t>:</a:t>
            </a:r>
            <a:r>
              <a:rPr lang="en-US" altLang="zh-CN" sz="3200" dirty="0">
                <a:latin typeface="Arial" panose="020B0604020202020204" pitchFamily="34" charset="0"/>
                <a:ea typeface="宋体" panose="02010600030101010101" pitchFamily="2" charset="-122"/>
              </a:rPr>
              <a:t>m*</a:t>
            </a:r>
            <a:r>
              <a:rPr lang="zh-CN" altLang="en-US" sz="3200" dirty="0">
                <a:latin typeface="Arial" panose="020B0604020202020204" pitchFamily="34" charset="0"/>
                <a:ea typeface="宋体" panose="02010600030101010101" pitchFamily="2" charset="-122"/>
              </a:rPr>
              <a:t>大</a:t>
            </a:r>
            <a:r>
              <a:rPr lang="en-US" altLang="zh-CN" sz="3200" dirty="0">
                <a:latin typeface="Arial" panose="020B0604020202020204" pitchFamily="34" charset="0"/>
                <a:ea typeface="宋体" panose="02010600030101010101" pitchFamily="2" charset="-122"/>
              </a:rPr>
              <a:t>,E</a:t>
            </a:r>
            <a:r>
              <a:rPr lang="zh-CN" altLang="en-US" sz="3200" dirty="0">
                <a:latin typeface="Arial" panose="020B0604020202020204" pitchFamily="34" charset="0"/>
                <a:ea typeface="宋体" panose="02010600030101010101" pitchFamily="2" charset="-122"/>
              </a:rPr>
              <a:t>的变化缓慢</a:t>
            </a:r>
            <a:r>
              <a:rPr lang="en-US" altLang="zh-CN" sz="3200">
                <a:latin typeface="Arial" panose="020B0604020202020204" pitchFamily="34" charset="0"/>
                <a:ea typeface="宋体" panose="02010600030101010101" pitchFamily="2" charset="-122"/>
              </a:rPr>
              <a:t>,</a:t>
            </a:r>
            <a:endParaRPr lang="en-US" altLang="zh-CN" sz="3200">
              <a:latin typeface="Arial" panose="020B0604020202020204" pitchFamily="34" charset="0"/>
              <a:ea typeface="Arial" panose="020B0604020202020204" pitchFamily="34" charset="0"/>
            </a:endParaRPr>
          </a:p>
        </p:txBody>
      </p:sp>
      <p:sp>
        <p:nvSpPr>
          <p:cNvPr id="72717" name="文本框 98316"/>
          <p:cNvSpPr txBox="1"/>
          <p:nvPr/>
        </p:nvSpPr>
        <p:spPr>
          <a:xfrm>
            <a:off x="1763713" y="5945188"/>
            <a:ext cx="5354637" cy="579437"/>
          </a:xfrm>
          <a:prstGeom prst="rect">
            <a:avLst/>
          </a:prstGeom>
          <a:noFill/>
          <a:ln w="12700">
            <a:noFill/>
          </a:ln>
        </p:spPr>
        <p:txBody>
          <a:bodyPr wrap="none" anchor="t" anchorCtr="0">
            <a:spAutoFit/>
          </a:bodyPr>
          <a:lstStyle/>
          <a:p>
            <a:pPr eaLnBrk="0" hangingPunct="0"/>
            <a:r>
              <a:rPr lang="zh-CN" altLang="en-US" sz="3200" dirty="0">
                <a:latin typeface="Arial" panose="020B0604020202020204" pitchFamily="34" charset="0"/>
                <a:ea typeface="宋体" panose="02010600030101010101" pitchFamily="2" charset="-122"/>
              </a:rPr>
              <a:t>在短轴方向</a:t>
            </a:r>
            <a:r>
              <a:rPr lang="en-US" altLang="zh-CN" sz="3200">
                <a:latin typeface="Arial" panose="020B0604020202020204" pitchFamily="34" charset="0"/>
                <a:ea typeface="宋体" panose="02010600030101010101" pitchFamily="2" charset="-122"/>
              </a:rPr>
              <a:t>:</a:t>
            </a:r>
            <a:r>
              <a:rPr lang="en-US" altLang="zh-CN" sz="3200" dirty="0">
                <a:latin typeface="Arial" panose="020B0604020202020204" pitchFamily="34" charset="0"/>
                <a:ea typeface="宋体" panose="02010600030101010101" pitchFamily="2" charset="-122"/>
              </a:rPr>
              <a:t>m*</a:t>
            </a:r>
            <a:r>
              <a:rPr lang="zh-CN" altLang="en-US" sz="3200" dirty="0">
                <a:latin typeface="Arial" panose="020B0604020202020204" pitchFamily="34" charset="0"/>
                <a:ea typeface="宋体" panose="02010600030101010101" pitchFamily="2" charset="-122"/>
              </a:rPr>
              <a:t>小</a:t>
            </a:r>
            <a:r>
              <a:rPr lang="en-US" altLang="zh-CN" sz="3200" dirty="0">
                <a:latin typeface="Arial" panose="020B0604020202020204" pitchFamily="34" charset="0"/>
                <a:ea typeface="宋体" panose="02010600030101010101" pitchFamily="2" charset="-122"/>
              </a:rPr>
              <a:t>,E</a:t>
            </a:r>
            <a:r>
              <a:rPr lang="zh-CN" altLang="en-US" sz="3200" dirty="0">
                <a:latin typeface="Arial" panose="020B0604020202020204" pitchFamily="34" charset="0"/>
                <a:ea typeface="宋体" panose="02010600030101010101" pitchFamily="2" charset="-122"/>
              </a:rPr>
              <a:t>的变化快</a:t>
            </a:r>
            <a:r>
              <a:rPr lang="en-US" altLang="zh-CN" sz="3200">
                <a:latin typeface="Arial" panose="020B0604020202020204" pitchFamily="34" charset="0"/>
                <a:ea typeface="宋体" panose="02010600030101010101" pitchFamily="2" charset="-122"/>
              </a:rPr>
              <a:t>.</a:t>
            </a:r>
            <a:endParaRPr lang="en-US" altLang="zh-CN" sz="3200">
              <a:latin typeface="Arial" panose="020B0604020202020204" pitchFamily="34" charset="0"/>
              <a:ea typeface="Arial" panose="020B0604020202020204" pitchFamily="34" charset="0"/>
            </a:endParaRPr>
          </a:p>
        </p:txBody>
      </p:sp>
      <p:sp>
        <p:nvSpPr>
          <p:cNvPr id="72718" name="文本框 98320"/>
          <p:cNvSpPr txBox="1"/>
          <p:nvPr/>
        </p:nvSpPr>
        <p:spPr>
          <a:xfrm>
            <a:off x="4356100" y="2544763"/>
            <a:ext cx="1970088" cy="519112"/>
          </a:xfrm>
          <a:prstGeom prst="rect">
            <a:avLst/>
          </a:prstGeom>
          <a:noFill/>
          <a:ln w="9525">
            <a:noFill/>
          </a:ln>
        </p:spPr>
        <p:txBody>
          <a:bodyPr wrap="none" anchor="t" anchorCtr="0">
            <a:spAutoFit/>
          </a:bodyPr>
          <a:lstStyle/>
          <a:p>
            <a:r>
              <a:rPr lang="zh-CN" altLang="en-US" sz="2800" b="1" dirty="0">
                <a:solidFill>
                  <a:srgbClr val="A50021"/>
                </a:solidFill>
                <a:latin typeface="Times New Roman" panose="02020603050405020304" pitchFamily="18" charset="0"/>
                <a:ea typeface="宋体" panose="02010600030101010101" pitchFamily="2" charset="-122"/>
              </a:rPr>
              <a:t>椭球等能面</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文本框 99331"/>
          <p:cNvSpPr txBox="1"/>
          <p:nvPr/>
        </p:nvSpPr>
        <p:spPr>
          <a:xfrm>
            <a:off x="468313" y="620713"/>
            <a:ext cx="6799262" cy="641350"/>
          </a:xfrm>
          <a:prstGeom prst="rect">
            <a:avLst/>
          </a:prstGeom>
          <a:noFill/>
          <a:ln w="12700">
            <a:noFill/>
          </a:ln>
        </p:spPr>
        <p:txBody>
          <a:bodyPr wrap="none" anchor="t" anchorCtr="0">
            <a:spAutoFit/>
          </a:bodyPr>
          <a:lstStyle/>
          <a:p>
            <a:pPr eaLnBrk="0" hangingPunct="0"/>
            <a:r>
              <a:rPr lang="en-US" altLang="zh-CN" sz="3600" b="1" dirty="0">
                <a:solidFill>
                  <a:srgbClr val="A50021"/>
                </a:solidFill>
                <a:latin typeface="Arial" panose="020B0604020202020204" pitchFamily="34" charset="0"/>
                <a:ea typeface="宋体" panose="02010600030101010101" pitchFamily="2" charset="-122"/>
              </a:rPr>
              <a:t>(2) </a:t>
            </a:r>
            <a:r>
              <a:rPr lang="zh-CN" altLang="en-US" sz="3600" b="1" dirty="0">
                <a:solidFill>
                  <a:srgbClr val="A50021"/>
                </a:solidFill>
                <a:latin typeface="Arial" panose="020B0604020202020204" pitchFamily="34" charset="0"/>
                <a:ea typeface="宋体" panose="02010600030101010101" pitchFamily="2" charset="-122"/>
              </a:rPr>
              <a:t>极值点</a:t>
            </a:r>
            <a:r>
              <a:rPr lang="en-US" altLang="zh-CN" sz="3600" b="1">
                <a:solidFill>
                  <a:srgbClr val="A50021"/>
                </a:solidFill>
                <a:latin typeface="Arial" panose="020B0604020202020204" pitchFamily="34" charset="0"/>
                <a:ea typeface="宋体" panose="02010600030101010101" pitchFamily="2" charset="-122"/>
              </a:rPr>
              <a:t>k</a:t>
            </a:r>
            <a:r>
              <a:rPr lang="en-US" altLang="zh-CN" sz="3600" b="1" baseline="-25000">
                <a:solidFill>
                  <a:srgbClr val="A50021"/>
                </a:solidFill>
                <a:latin typeface="Arial" panose="020B0604020202020204" pitchFamily="34" charset="0"/>
                <a:ea typeface="宋体" panose="02010600030101010101" pitchFamily="2" charset="-122"/>
              </a:rPr>
              <a:t>0</a:t>
            </a:r>
            <a:r>
              <a:rPr lang="zh-CN" altLang="en-US" sz="3600" b="1" dirty="0">
                <a:solidFill>
                  <a:srgbClr val="A50021"/>
                </a:solidFill>
                <a:latin typeface="Arial" panose="020B0604020202020204" pitchFamily="34" charset="0"/>
                <a:ea typeface="宋体" panose="02010600030101010101" pitchFamily="2" charset="-122"/>
              </a:rPr>
              <a:t>正好在某一坐标轴上</a:t>
            </a:r>
            <a:endParaRPr lang="zh-CN" altLang="en-US" sz="3600" b="1" dirty="0">
              <a:solidFill>
                <a:srgbClr val="A50021"/>
              </a:solidFill>
              <a:latin typeface="Arial" panose="020B0604020202020204" pitchFamily="34" charset="0"/>
              <a:ea typeface="Arial" panose="020B0604020202020204" pitchFamily="34" charset="0"/>
            </a:endParaRPr>
          </a:p>
        </p:txBody>
      </p:sp>
      <p:sp>
        <p:nvSpPr>
          <p:cNvPr id="73730" name="文本框 99333"/>
          <p:cNvSpPr txBox="1"/>
          <p:nvPr/>
        </p:nvSpPr>
        <p:spPr>
          <a:xfrm>
            <a:off x="1331913" y="1470025"/>
            <a:ext cx="4721225" cy="519113"/>
          </a:xfrm>
          <a:prstGeom prst="rect">
            <a:avLst/>
          </a:prstGeom>
          <a:noFill/>
          <a:ln w="12700">
            <a:noFill/>
          </a:ln>
        </p:spPr>
        <p:txBody>
          <a:bodyPr wrap="none" anchor="t" anchorCtr="0">
            <a:spAutoFit/>
          </a:bodyPr>
          <a:lstStyle/>
          <a:p>
            <a:pPr eaLnBrk="0" hangingPunct="0"/>
            <a:r>
              <a:rPr lang="zh-CN" altLang="en-US" sz="2800" b="1" dirty="0">
                <a:latin typeface="Arial" panose="020B0604020202020204" pitchFamily="34" charset="0"/>
                <a:ea typeface="宋体" panose="02010600030101010101" pitchFamily="2" charset="-122"/>
              </a:rPr>
              <a:t>设</a:t>
            </a:r>
            <a:r>
              <a:rPr lang="en-US" altLang="zh-CN" sz="2800" b="1">
                <a:latin typeface="Arial" panose="020B0604020202020204" pitchFamily="34" charset="0"/>
                <a:ea typeface="宋体" panose="02010600030101010101" pitchFamily="2" charset="-122"/>
              </a:rPr>
              <a:t>k</a:t>
            </a:r>
            <a:r>
              <a:rPr lang="en-US" altLang="zh-CN" sz="2800" b="1" baseline="-25000">
                <a:latin typeface="Arial" panose="020B0604020202020204" pitchFamily="34" charset="0"/>
                <a:ea typeface="宋体" panose="02010600030101010101" pitchFamily="2" charset="-122"/>
              </a:rPr>
              <a:t>0</a:t>
            </a:r>
            <a:r>
              <a:rPr lang="zh-CN" altLang="en-US" sz="2800" b="1" dirty="0">
                <a:latin typeface="Arial" panose="020B0604020202020204" pitchFamily="34" charset="0"/>
                <a:ea typeface="宋体" panose="02010600030101010101" pitchFamily="2" charset="-122"/>
              </a:rPr>
              <a:t>在</a:t>
            </a:r>
            <a:r>
              <a:rPr lang="en-US" altLang="zh-CN" sz="2800" b="1" dirty="0">
                <a:latin typeface="Arial" panose="020B0604020202020204" pitchFamily="34" charset="0"/>
                <a:ea typeface="宋体" panose="02010600030101010101" pitchFamily="2" charset="-122"/>
              </a:rPr>
              <a:t>Z</a:t>
            </a:r>
            <a:r>
              <a:rPr lang="zh-CN" altLang="en-US" sz="2800" b="1" dirty="0">
                <a:latin typeface="Arial" panose="020B0604020202020204" pitchFamily="34" charset="0"/>
                <a:ea typeface="宋体" panose="02010600030101010101" pitchFamily="2" charset="-122"/>
              </a:rPr>
              <a:t>轴上</a:t>
            </a:r>
            <a:r>
              <a:rPr lang="en-US" altLang="zh-CN" sz="2800" b="1" dirty="0">
                <a:latin typeface="Arial" panose="020B060402020202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以</a:t>
            </a:r>
            <a:r>
              <a:rPr lang="en-US" altLang="zh-CN" sz="2800" b="1" dirty="0">
                <a:latin typeface="Arial" panose="020B0604020202020204" pitchFamily="34" charset="0"/>
                <a:ea typeface="宋体" panose="02010600030101010101" pitchFamily="2" charset="-122"/>
              </a:rPr>
              <a:t>Z</a:t>
            </a:r>
            <a:r>
              <a:rPr lang="zh-CN" altLang="en-US" sz="2800" b="1" dirty="0">
                <a:latin typeface="Arial" panose="020B0604020202020204" pitchFamily="34" charset="0"/>
                <a:ea typeface="宋体" panose="02010600030101010101" pitchFamily="2" charset="-122"/>
              </a:rPr>
              <a:t>轴为旋转轴</a:t>
            </a:r>
            <a:endParaRPr lang="zh-CN" altLang="en-US" sz="2800" b="1" dirty="0">
              <a:latin typeface="Arial" panose="020B0604020202020204" pitchFamily="34" charset="0"/>
              <a:ea typeface="Arial" panose="020B0604020202020204" pitchFamily="34" charset="0"/>
            </a:endParaRPr>
          </a:p>
        </p:txBody>
      </p:sp>
      <p:grpSp>
        <p:nvGrpSpPr>
          <p:cNvPr id="73731" name="组合 99345"/>
          <p:cNvGrpSpPr/>
          <p:nvPr/>
        </p:nvGrpSpPr>
        <p:grpSpPr>
          <a:xfrm>
            <a:off x="2339975" y="1989138"/>
            <a:ext cx="4865688" cy="3576637"/>
            <a:chOff x="1276" y="768"/>
            <a:chExt cx="3155" cy="2968"/>
          </a:xfrm>
        </p:grpSpPr>
        <p:sp>
          <p:nvSpPr>
            <p:cNvPr id="73732" name="直接连接符 99346"/>
            <p:cNvSpPr/>
            <p:nvPr/>
          </p:nvSpPr>
          <p:spPr>
            <a:xfrm>
              <a:off x="2102" y="2592"/>
              <a:ext cx="2064" cy="0"/>
            </a:xfrm>
            <a:prstGeom prst="line">
              <a:avLst/>
            </a:prstGeom>
            <a:ln w="28575" cap="sq" cmpd="sng">
              <a:solidFill>
                <a:schemeClr val="tx1"/>
              </a:solidFill>
              <a:prstDash val="solid"/>
              <a:miter/>
              <a:headEnd type="none" w="sm" len="sm"/>
              <a:tailEnd type="triangle" w="sm" len="sm"/>
            </a:ln>
          </p:spPr>
        </p:sp>
        <p:sp>
          <p:nvSpPr>
            <p:cNvPr id="73733" name="直接连接符 99347"/>
            <p:cNvSpPr/>
            <p:nvPr/>
          </p:nvSpPr>
          <p:spPr>
            <a:xfrm flipV="1">
              <a:off x="2102" y="912"/>
              <a:ext cx="0" cy="1680"/>
            </a:xfrm>
            <a:prstGeom prst="line">
              <a:avLst/>
            </a:prstGeom>
            <a:ln w="28575" cap="sq" cmpd="sng">
              <a:solidFill>
                <a:schemeClr val="tx1"/>
              </a:solidFill>
              <a:prstDash val="solid"/>
              <a:miter/>
              <a:headEnd type="none" w="sm" len="sm"/>
              <a:tailEnd type="triangle" w="sm" len="sm"/>
            </a:ln>
          </p:spPr>
        </p:sp>
        <p:sp>
          <p:nvSpPr>
            <p:cNvPr id="73734" name="直接连接符 99348"/>
            <p:cNvSpPr/>
            <p:nvPr/>
          </p:nvSpPr>
          <p:spPr>
            <a:xfrm flipH="1">
              <a:off x="1334" y="2592"/>
              <a:ext cx="768" cy="816"/>
            </a:xfrm>
            <a:prstGeom prst="line">
              <a:avLst/>
            </a:prstGeom>
            <a:ln w="28575" cap="sq" cmpd="sng">
              <a:solidFill>
                <a:schemeClr val="tx1"/>
              </a:solidFill>
              <a:prstDash val="solid"/>
              <a:miter/>
              <a:headEnd type="none" w="sm" len="sm"/>
              <a:tailEnd type="triangle" w="sm" len="sm"/>
            </a:ln>
          </p:spPr>
        </p:sp>
        <p:sp>
          <p:nvSpPr>
            <p:cNvPr id="73735" name="椭圆 99349"/>
            <p:cNvSpPr/>
            <p:nvPr/>
          </p:nvSpPr>
          <p:spPr>
            <a:xfrm rot="5400000">
              <a:off x="1598" y="984"/>
              <a:ext cx="1104" cy="1536"/>
            </a:xfrm>
            <a:prstGeom prst="ellipse">
              <a:avLst/>
            </a:prstGeom>
            <a:solidFill>
              <a:schemeClr val="accent1"/>
            </a:solidFill>
            <a:ln w="12700" cap="sq" cmpd="sng">
              <a:solidFill>
                <a:schemeClr val="tx1"/>
              </a:solidFill>
              <a:prstDash val="solid"/>
              <a:miter/>
              <a:headEnd type="none" w="sm" len="sm"/>
              <a:tailEnd type="none" w="sm" len="sm"/>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73736" name="椭圆 99350"/>
            <p:cNvSpPr/>
            <p:nvPr/>
          </p:nvSpPr>
          <p:spPr>
            <a:xfrm rot="5257721">
              <a:off x="2021" y="990"/>
              <a:ext cx="255" cy="1536"/>
            </a:xfrm>
            <a:prstGeom prst="ellipse">
              <a:avLst/>
            </a:prstGeom>
            <a:solidFill>
              <a:schemeClr val="accent1"/>
            </a:solidFill>
            <a:ln w="12700" cap="sq" cmpd="sng">
              <a:solidFill>
                <a:schemeClr val="tx1"/>
              </a:solidFill>
              <a:prstDash val="solid"/>
              <a:miter/>
              <a:headEnd type="none" w="sm" len="sm"/>
              <a:tailEnd type="none" w="sm" len="sm"/>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73737" name="文本框 99351"/>
            <p:cNvSpPr txBox="1"/>
            <p:nvPr/>
          </p:nvSpPr>
          <p:spPr>
            <a:xfrm>
              <a:off x="1958" y="1632"/>
              <a:ext cx="186" cy="178"/>
            </a:xfrm>
            <a:prstGeom prst="rect">
              <a:avLst/>
            </a:prstGeom>
            <a:noFill/>
            <a:ln w="12700">
              <a:noFill/>
            </a:ln>
          </p:spPr>
          <p:txBody>
            <a:bodyPr wrap="none" anchor="t" anchorCtr="0">
              <a:spAutoFit/>
            </a:bodyPr>
            <a:lstStyle/>
            <a:p>
              <a:pPr eaLnBrk="0" hangingPunct="0"/>
              <a:r>
                <a:rPr lang="en-US" altLang="zh-CN" sz="800">
                  <a:latin typeface="Arial" panose="020B0604020202020204" pitchFamily="34" charset="0"/>
                  <a:ea typeface="宋体" panose="02010600030101010101" pitchFamily="2" charset="-122"/>
                </a:rPr>
                <a:t>●</a:t>
              </a:r>
            </a:p>
          </p:txBody>
        </p:sp>
        <p:sp>
          <p:nvSpPr>
            <p:cNvPr id="73738" name="文本框 99352"/>
            <p:cNvSpPr txBox="1"/>
            <p:nvPr/>
          </p:nvSpPr>
          <p:spPr>
            <a:xfrm>
              <a:off x="2054" y="1583"/>
              <a:ext cx="248" cy="305"/>
            </a:xfrm>
            <a:prstGeom prst="rect">
              <a:avLst/>
            </a:prstGeom>
            <a:noFill/>
            <a:ln w="12700">
              <a:noFill/>
            </a:ln>
          </p:spPr>
          <p:txBody>
            <a:bodyPr wrap="none" anchor="t" anchorCtr="0">
              <a:spAutoFit/>
            </a:bodyPr>
            <a:lstStyle/>
            <a:p>
              <a:pPr eaLnBrk="0" hangingPunct="0"/>
              <a:r>
                <a:rPr lang="en-US" altLang="zh-CN" err="1">
                  <a:latin typeface="Arial" panose="020B0604020202020204" pitchFamily="34" charset="0"/>
                  <a:ea typeface="宋体" panose="02010600030101010101" pitchFamily="2" charset="-122"/>
                </a:rPr>
                <a:t>k</a:t>
              </a:r>
              <a:r>
                <a:rPr lang="en-US" altLang="zh-CN" baseline="-25000" err="1">
                  <a:latin typeface="Arial" panose="020B0604020202020204" pitchFamily="34" charset="0"/>
                  <a:ea typeface="宋体" panose="02010600030101010101" pitchFamily="2" charset="-122"/>
                </a:rPr>
                <a:t>o</a:t>
              </a:r>
              <a:endParaRPr lang="en-US" altLang="zh-CN">
                <a:latin typeface="Arial" panose="020B0604020202020204" pitchFamily="34" charset="0"/>
                <a:ea typeface="宋体" panose="02010600030101010101" pitchFamily="2" charset="-122"/>
              </a:endParaRPr>
            </a:p>
          </p:txBody>
        </p:sp>
        <p:sp>
          <p:nvSpPr>
            <p:cNvPr id="73739" name="文本框 99353"/>
            <p:cNvSpPr txBox="1"/>
            <p:nvPr/>
          </p:nvSpPr>
          <p:spPr>
            <a:xfrm>
              <a:off x="1276" y="3305"/>
              <a:ext cx="313" cy="431"/>
            </a:xfrm>
            <a:prstGeom prst="rect">
              <a:avLst/>
            </a:prstGeom>
            <a:noFill/>
            <a:ln w="12700">
              <a:noFill/>
            </a:ln>
          </p:spPr>
          <p:txBody>
            <a:bodyPr wrap="none" anchor="t" anchorCtr="0">
              <a:spAutoFit/>
            </a:bodyPr>
            <a:lstStyle/>
            <a:p>
              <a:pPr eaLnBrk="0" hangingPunct="0"/>
              <a:r>
                <a:rPr lang="en-US" altLang="zh-CN" sz="2800" err="1">
                  <a:latin typeface="Arial" panose="020B0604020202020204" pitchFamily="34" charset="0"/>
                  <a:ea typeface="宋体" panose="02010600030101010101" pitchFamily="2" charset="-122"/>
                </a:rPr>
                <a:t>k</a:t>
              </a:r>
              <a:r>
                <a:rPr lang="en-US" altLang="zh-CN" sz="2800" baseline="-25000" err="1">
                  <a:latin typeface="Arial" panose="020B0604020202020204" pitchFamily="34" charset="0"/>
                  <a:ea typeface="宋体" panose="02010600030101010101" pitchFamily="2" charset="-122"/>
                </a:rPr>
                <a:t>x</a:t>
              </a:r>
              <a:endParaRPr lang="en-US" altLang="zh-CN" sz="2800">
                <a:latin typeface="Arial" panose="020B0604020202020204" pitchFamily="34" charset="0"/>
                <a:ea typeface="宋体" panose="02010600030101010101" pitchFamily="2" charset="-122"/>
              </a:endParaRPr>
            </a:p>
          </p:txBody>
        </p:sp>
        <p:sp>
          <p:nvSpPr>
            <p:cNvPr id="73740" name="文本框 99354"/>
            <p:cNvSpPr txBox="1"/>
            <p:nvPr/>
          </p:nvSpPr>
          <p:spPr>
            <a:xfrm>
              <a:off x="4118" y="2544"/>
              <a:ext cx="313" cy="431"/>
            </a:xfrm>
            <a:prstGeom prst="rect">
              <a:avLst/>
            </a:prstGeom>
            <a:noFill/>
            <a:ln w="12700">
              <a:noFill/>
            </a:ln>
          </p:spPr>
          <p:txBody>
            <a:bodyPr wrap="none" anchor="t" anchorCtr="0">
              <a:spAutoFit/>
            </a:bodyPr>
            <a:lstStyle/>
            <a:p>
              <a:pPr eaLnBrk="0" hangingPunct="0"/>
              <a:r>
                <a:rPr lang="en-US" altLang="zh-CN" sz="2800" err="1">
                  <a:latin typeface="Arial" panose="020B0604020202020204" pitchFamily="34" charset="0"/>
                  <a:ea typeface="宋体" panose="02010600030101010101" pitchFamily="2" charset="-122"/>
                </a:rPr>
                <a:t>k</a:t>
              </a:r>
              <a:r>
                <a:rPr lang="en-US" altLang="zh-CN" sz="2800" baseline="-25000" err="1">
                  <a:latin typeface="Arial" panose="020B0604020202020204" pitchFamily="34" charset="0"/>
                  <a:ea typeface="宋体" panose="02010600030101010101" pitchFamily="2" charset="-122"/>
                </a:rPr>
                <a:t>y</a:t>
              </a:r>
              <a:endParaRPr lang="en-US" altLang="zh-CN" sz="2800">
                <a:latin typeface="Arial" panose="020B0604020202020204" pitchFamily="34" charset="0"/>
                <a:ea typeface="宋体" panose="02010600030101010101" pitchFamily="2" charset="-122"/>
              </a:endParaRPr>
            </a:p>
          </p:txBody>
        </p:sp>
        <p:sp>
          <p:nvSpPr>
            <p:cNvPr id="73741" name="文本框 99355"/>
            <p:cNvSpPr txBox="1"/>
            <p:nvPr/>
          </p:nvSpPr>
          <p:spPr>
            <a:xfrm>
              <a:off x="1670" y="768"/>
              <a:ext cx="313" cy="431"/>
            </a:xfrm>
            <a:prstGeom prst="rect">
              <a:avLst/>
            </a:prstGeom>
            <a:noFill/>
            <a:ln w="12700">
              <a:noFill/>
            </a:ln>
          </p:spPr>
          <p:txBody>
            <a:bodyPr wrap="none" anchor="t" anchorCtr="0">
              <a:spAutoFit/>
            </a:bodyPr>
            <a:lstStyle/>
            <a:p>
              <a:pPr eaLnBrk="0" hangingPunct="0"/>
              <a:r>
                <a:rPr lang="en-US" altLang="zh-CN" sz="2800" err="1">
                  <a:latin typeface="Arial" panose="020B0604020202020204" pitchFamily="34" charset="0"/>
                  <a:ea typeface="宋体" panose="02010600030101010101" pitchFamily="2" charset="-122"/>
                </a:rPr>
                <a:t>k</a:t>
              </a:r>
              <a:r>
                <a:rPr lang="en-US" altLang="zh-CN" sz="2800" baseline="-25000" err="1">
                  <a:latin typeface="Arial" panose="020B0604020202020204" pitchFamily="34" charset="0"/>
                  <a:ea typeface="宋体" panose="02010600030101010101" pitchFamily="2" charset="-122"/>
                </a:rPr>
                <a:t>z</a:t>
              </a:r>
              <a:endParaRPr lang="en-US" altLang="zh-CN" sz="2800">
                <a:latin typeface="Arial" panose="020B0604020202020204" pitchFamily="34" charset="0"/>
                <a:ea typeface="宋体" panose="02010600030101010101" pitchFamily="2" charset="-122"/>
              </a:endParaRPr>
            </a:p>
          </p:txBody>
        </p:sp>
      </p:grpSp>
      <p:sp>
        <p:nvSpPr>
          <p:cNvPr id="73742" name="文本框 99357"/>
          <p:cNvSpPr txBox="1"/>
          <p:nvPr/>
        </p:nvSpPr>
        <p:spPr>
          <a:xfrm>
            <a:off x="611188" y="5729288"/>
            <a:ext cx="7777162" cy="579437"/>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能量</a:t>
            </a:r>
            <a:r>
              <a:rPr lang="en-US" altLang="zh-CN" sz="3200" b="1" dirty="0">
                <a:latin typeface="Arial" panose="020B0604020202020204" pitchFamily="34" charset="0"/>
                <a:ea typeface="宋体" panose="02010600030101010101" pitchFamily="2" charset="-122"/>
              </a:rPr>
              <a:t>E</a:t>
            </a:r>
            <a:r>
              <a:rPr lang="zh-CN" altLang="en-US" sz="3200" b="1" dirty="0">
                <a:latin typeface="Arial" panose="020B0604020202020204" pitchFamily="34" charset="0"/>
                <a:ea typeface="宋体" panose="02010600030101010101" pitchFamily="2" charset="-122"/>
              </a:rPr>
              <a:t>在</a:t>
            </a:r>
            <a:r>
              <a:rPr lang="en-US" altLang="zh-CN" sz="3200" b="1" dirty="0">
                <a:latin typeface="Arial" panose="020B0604020202020204" pitchFamily="34" charset="0"/>
                <a:ea typeface="宋体" panose="02010600030101010101" pitchFamily="2" charset="-122"/>
              </a:rPr>
              <a:t>k</a:t>
            </a:r>
            <a:r>
              <a:rPr lang="zh-CN" altLang="en-US" sz="3200" b="1" dirty="0">
                <a:latin typeface="Arial" panose="020B0604020202020204" pitchFamily="34" charset="0"/>
                <a:ea typeface="宋体" panose="02010600030101010101" pitchFamily="2" charset="-122"/>
              </a:rPr>
              <a:t>空间的分布为一</a:t>
            </a:r>
            <a:r>
              <a:rPr lang="zh-CN" altLang="en-US" sz="3200" b="1" dirty="0">
                <a:solidFill>
                  <a:srgbClr val="A50021"/>
                </a:solidFill>
                <a:latin typeface="Arial" panose="020B0604020202020204" pitchFamily="34" charset="0"/>
                <a:ea typeface="宋体" panose="02010600030101010101" pitchFamily="2" charset="-122"/>
              </a:rPr>
              <a:t>旋转椭球曲面</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53" name="对象 101377"/>
          <p:cNvGraphicFramePr/>
          <p:nvPr/>
        </p:nvGraphicFramePr>
        <p:xfrm>
          <a:off x="2239963" y="908050"/>
          <a:ext cx="3024187" cy="2413000"/>
        </p:xfrm>
        <a:graphic>
          <a:graphicData uri="http://schemas.openxmlformats.org/presentationml/2006/ole">
            <mc:AlternateContent xmlns:mc="http://schemas.openxmlformats.org/markup-compatibility/2006">
              <mc:Choice xmlns:v="urn:schemas-microsoft-com:vml" Requires="v">
                <p:oleObj r:id="rId2" imgW="939800" imgH="749300" progId="Equation.3">
                  <p:embed/>
                </p:oleObj>
              </mc:Choice>
              <mc:Fallback>
                <p:oleObj r:id="rId2" imgW="939800" imgH="749300" progId="Equation.3">
                  <p:embed/>
                  <p:pic>
                    <p:nvPicPr>
                      <p:cNvPr id="0" name="图片 3157"/>
                      <p:cNvPicPr/>
                      <p:nvPr/>
                    </p:nvPicPr>
                    <p:blipFill>
                      <a:blip r:embed="rId3"/>
                      <a:stretch>
                        <a:fillRect/>
                      </a:stretch>
                    </p:blipFill>
                    <p:spPr>
                      <a:xfrm>
                        <a:off x="2239963" y="908050"/>
                        <a:ext cx="3024187" cy="2413000"/>
                      </a:xfrm>
                      <a:prstGeom prst="rect">
                        <a:avLst/>
                      </a:prstGeom>
                      <a:solidFill>
                        <a:srgbClr val="CCECFF"/>
                      </a:solidFill>
                      <a:ln w="38100">
                        <a:noFill/>
                        <a:miter/>
                      </a:ln>
                    </p:spPr>
                  </p:pic>
                </p:oleObj>
              </mc:Fallback>
            </mc:AlternateContent>
          </a:graphicData>
        </a:graphic>
      </p:graphicFrame>
      <p:sp>
        <p:nvSpPr>
          <p:cNvPr id="74754" name="文本框 101378"/>
          <p:cNvSpPr txBox="1"/>
          <p:nvPr/>
        </p:nvSpPr>
        <p:spPr>
          <a:xfrm>
            <a:off x="944563" y="3549650"/>
            <a:ext cx="7121525" cy="579438"/>
          </a:xfrm>
          <a:prstGeom prst="rect">
            <a:avLst/>
          </a:prstGeom>
          <a:noFill/>
          <a:ln w="12700">
            <a:noFill/>
          </a:ln>
        </p:spPr>
        <p:txBody>
          <a:bodyPr wrap="none" anchor="t" anchorCtr="0">
            <a:spAutoFit/>
          </a:bodyPr>
          <a:lstStyle/>
          <a:p>
            <a:pPr eaLnBrk="0" hangingPunct="0"/>
            <a:r>
              <a:rPr lang="en-US" altLang="zh-CN" sz="3200" b="1" err="1">
                <a:latin typeface="Arial" panose="020B0604020202020204" pitchFamily="34" charset="0"/>
                <a:ea typeface="宋体" panose="02010600030101010101" pitchFamily="2" charset="-122"/>
              </a:rPr>
              <a:t>m</a:t>
            </a:r>
            <a:r>
              <a:rPr lang="en-US" altLang="zh-CN" sz="3200" b="1" baseline="-25000" err="1">
                <a:latin typeface="Arial" panose="020B0604020202020204" pitchFamily="34" charset="0"/>
                <a:ea typeface="宋体" panose="02010600030101010101" pitchFamily="2" charset="-122"/>
              </a:rPr>
              <a:t>t</a:t>
            </a:r>
            <a:r>
              <a:rPr lang="zh-CN" altLang="en-US" sz="3200" b="1" dirty="0">
                <a:latin typeface="Arial" panose="020B0604020202020204" pitchFamily="34" charset="0"/>
                <a:ea typeface="宋体" panose="02010600030101010101" pitchFamily="2" charset="-122"/>
              </a:rPr>
              <a:t>为</a:t>
            </a:r>
            <a:r>
              <a:rPr lang="zh-CN" altLang="en-US" sz="3200" b="1" dirty="0">
                <a:solidFill>
                  <a:srgbClr val="A50021"/>
                </a:solidFill>
                <a:latin typeface="Arial" panose="020B0604020202020204" pitchFamily="34" charset="0"/>
                <a:ea typeface="宋体" panose="02010600030101010101" pitchFamily="2" charset="-122"/>
              </a:rPr>
              <a:t>横向有效质量</a:t>
            </a:r>
            <a:r>
              <a:rPr lang="en-US" altLang="zh-CN" sz="3200" b="1">
                <a:latin typeface="Arial" panose="020B0604020202020204" pitchFamily="34" charset="0"/>
                <a:ea typeface="宋体" panose="02010600030101010101" pitchFamily="2" charset="-122"/>
              </a:rPr>
              <a:t>,  m</a:t>
            </a:r>
            <a:r>
              <a:rPr lang="en-US" altLang="zh-CN" sz="3200" b="1" baseline="-25000">
                <a:latin typeface="Arial" panose="020B0604020202020204" pitchFamily="34" charset="0"/>
                <a:ea typeface="宋体" panose="02010600030101010101" pitchFamily="2" charset="-122"/>
              </a:rPr>
              <a:t>l</a:t>
            </a:r>
            <a:r>
              <a:rPr lang="zh-CN" altLang="en-US" sz="3200" b="1" dirty="0">
                <a:latin typeface="Arial" panose="020B0604020202020204" pitchFamily="34" charset="0"/>
                <a:ea typeface="宋体" panose="02010600030101010101" pitchFamily="2" charset="-122"/>
              </a:rPr>
              <a:t>为</a:t>
            </a:r>
            <a:r>
              <a:rPr lang="zh-CN" altLang="en-US" sz="3200" b="1" dirty="0">
                <a:solidFill>
                  <a:srgbClr val="A50021"/>
                </a:solidFill>
                <a:latin typeface="Arial" panose="020B0604020202020204" pitchFamily="34" charset="0"/>
                <a:ea typeface="宋体" panose="02010600030101010101" pitchFamily="2" charset="-122"/>
              </a:rPr>
              <a:t>纵向有效质量</a:t>
            </a:r>
            <a:endParaRPr lang="zh-CN" altLang="en-US" sz="3200" b="1" dirty="0">
              <a:solidFill>
                <a:srgbClr val="A50021"/>
              </a:solidFill>
              <a:latin typeface="Arial" panose="020B0604020202020204" pitchFamily="34" charset="0"/>
              <a:ea typeface="Arial" panose="020B0604020202020204" pitchFamily="34" charset="0"/>
            </a:endParaRPr>
          </a:p>
        </p:txBody>
      </p:sp>
      <p:sp>
        <p:nvSpPr>
          <p:cNvPr id="74755" name="文本框 101379"/>
          <p:cNvSpPr txBox="1"/>
          <p:nvPr/>
        </p:nvSpPr>
        <p:spPr>
          <a:xfrm>
            <a:off x="1339850" y="4408488"/>
            <a:ext cx="4503738" cy="579437"/>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若 </a:t>
            </a:r>
            <a:r>
              <a:rPr lang="en-US" altLang="zh-CN" sz="3200" b="1">
                <a:latin typeface="Arial" panose="020B0604020202020204" pitchFamily="34" charset="0"/>
                <a:ea typeface="宋体" panose="02010600030101010101" pitchFamily="2" charset="-122"/>
              </a:rPr>
              <a:t>m</a:t>
            </a:r>
            <a:r>
              <a:rPr lang="en-US" altLang="zh-CN" sz="3200" b="1" baseline="-25000">
                <a:latin typeface="Arial" panose="020B0604020202020204" pitchFamily="34" charset="0"/>
                <a:ea typeface="宋体" panose="02010600030101010101" pitchFamily="2" charset="-122"/>
              </a:rPr>
              <a:t>l</a:t>
            </a:r>
            <a:r>
              <a:rPr lang="en-US" altLang="zh-CN" sz="3200" b="1" err="1">
                <a:latin typeface="Arial" panose="020B0604020202020204" pitchFamily="34" charset="0"/>
                <a:ea typeface="宋体" panose="02010600030101010101" pitchFamily="2" charset="-122"/>
              </a:rPr>
              <a:t>&gt;m</a:t>
            </a:r>
            <a:r>
              <a:rPr lang="en-US" altLang="zh-CN" sz="3200" b="1" baseline="-25000" err="1">
                <a:latin typeface="Arial" panose="020B0604020202020204" pitchFamily="34" charset="0"/>
                <a:ea typeface="宋体" panose="02010600030101010101" pitchFamily="2" charset="-122"/>
              </a:rPr>
              <a:t>t</a:t>
            </a:r>
            <a:r>
              <a:rPr lang="en-US" altLang="zh-CN" sz="3200" b="1" dirty="0">
                <a:latin typeface="Arial" panose="020B0604020202020204" pitchFamily="34" charset="0"/>
                <a:ea typeface="宋体" panose="02010600030101010101" pitchFamily="2" charset="-122"/>
              </a:rPr>
              <a:t>, </a:t>
            </a:r>
            <a:r>
              <a:rPr lang="zh-CN" altLang="en-US" sz="3200" b="1" dirty="0">
                <a:latin typeface="Arial" panose="020B0604020202020204" pitchFamily="34" charset="0"/>
                <a:ea typeface="宋体" panose="02010600030101010101" pitchFamily="2" charset="-122"/>
              </a:rPr>
              <a:t>为长旋转椭球</a:t>
            </a:r>
            <a:endParaRPr lang="zh-CN" altLang="en-US" sz="3200" b="1" dirty="0">
              <a:latin typeface="Arial" panose="020B0604020202020204" pitchFamily="34" charset="0"/>
              <a:ea typeface="Arial" panose="020B0604020202020204" pitchFamily="34" charset="0"/>
            </a:endParaRPr>
          </a:p>
        </p:txBody>
      </p:sp>
      <p:sp>
        <p:nvSpPr>
          <p:cNvPr id="74756" name="文本框 101380"/>
          <p:cNvSpPr txBox="1"/>
          <p:nvPr/>
        </p:nvSpPr>
        <p:spPr>
          <a:xfrm>
            <a:off x="1952625" y="5349875"/>
            <a:ext cx="4391025" cy="579438"/>
          </a:xfrm>
          <a:prstGeom prst="rect">
            <a:avLst/>
          </a:prstGeom>
          <a:noFill/>
          <a:ln w="12700">
            <a:noFill/>
          </a:ln>
        </p:spPr>
        <p:txBody>
          <a:bodyPr wrap="none" anchor="t" anchorCtr="0">
            <a:spAutoFit/>
          </a:bodyPr>
          <a:lstStyle/>
          <a:p>
            <a:pPr eaLnBrk="0" hangingPunct="0"/>
            <a:r>
              <a:rPr lang="en-US" altLang="zh-CN" sz="3200" b="1" err="1">
                <a:latin typeface="Arial" panose="020B0604020202020204" pitchFamily="34" charset="0"/>
                <a:ea typeface="宋体" panose="02010600030101010101" pitchFamily="2" charset="-122"/>
              </a:rPr>
              <a:t>m</a:t>
            </a:r>
            <a:r>
              <a:rPr lang="en-US" altLang="zh-CN" sz="3200" b="1" baseline="-25000" err="1">
                <a:latin typeface="Arial" panose="020B0604020202020204" pitchFamily="34" charset="0"/>
                <a:ea typeface="宋体" panose="02010600030101010101" pitchFamily="2" charset="-122"/>
              </a:rPr>
              <a:t>t</a:t>
            </a:r>
            <a:r>
              <a:rPr lang="en-US" altLang="zh-CN" sz="3200" b="1">
                <a:latin typeface="Arial" panose="020B0604020202020204" pitchFamily="34" charset="0"/>
                <a:ea typeface="宋体" panose="02010600030101010101" pitchFamily="2" charset="-122"/>
              </a:rPr>
              <a:t>&gt;m</a:t>
            </a:r>
            <a:r>
              <a:rPr lang="en-US" altLang="zh-CN" sz="3200" b="1" baseline="-25000">
                <a:latin typeface="Arial" panose="020B0604020202020204" pitchFamily="34" charset="0"/>
                <a:ea typeface="宋体" panose="02010600030101010101" pitchFamily="2" charset="-122"/>
              </a:rPr>
              <a:t>l</a:t>
            </a:r>
            <a:r>
              <a:rPr lang="en-US" altLang="zh-CN" sz="3200" b="1" dirty="0">
                <a:latin typeface="Arial" panose="020B0604020202020204" pitchFamily="34" charset="0"/>
                <a:ea typeface="宋体" panose="02010600030101010101" pitchFamily="2" charset="-122"/>
              </a:rPr>
              <a:t>, </a:t>
            </a:r>
            <a:r>
              <a:rPr lang="zh-CN" altLang="en-US" sz="3200" b="1" dirty="0">
                <a:latin typeface="Arial" panose="020B0604020202020204" pitchFamily="34" charset="0"/>
                <a:ea typeface="宋体" panose="02010600030101010101" pitchFamily="2" charset="-122"/>
              </a:rPr>
              <a:t>为扁形旋转椭球</a:t>
            </a:r>
            <a:endParaRPr lang="zh-CN" altLang="en-US" sz="3200" b="1" dirty="0">
              <a:latin typeface="Arial" panose="020B0604020202020204" pitchFamily="34" charset="0"/>
              <a:ea typeface="Arial" panose="020B0604020202020204" pitchFamily="34" charset="0"/>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文本框 102402"/>
          <p:cNvSpPr txBox="1"/>
          <p:nvPr/>
        </p:nvSpPr>
        <p:spPr>
          <a:xfrm>
            <a:off x="684213" y="476250"/>
            <a:ext cx="4037012" cy="641350"/>
          </a:xfrm>
          <a:prstGeom prst="rect">
            <a:avLst/>
          </a:prstGeom>
          <a:noFill/>
          <a:ln w="12700">
            <a:noFill/>
          </a:ln>
        </p:spPr>
        <p:txBody>
          <a:bodyPr wrap="none" anchor="t" anchorCtr="0">
            <a:spAutoFit/>
          </a:bodyPr>
          <a:lstStyle/>
          <a:p>
            <a:pPr eaLnBrk="0" hangingPunct="0"/>
            <a:r>
              <a:rPr lang="en-US" altLang="zh-CN" sz="3600" b="1" dirty="0">
                <a:solidFill>
                  <a:srgbClr val="A50021"/>
                </a:solidFill>
                <a:latin typeface="Arial" panose="020B0604020202020204" pitchFamily="34" charset="0"/>
                <a:ea typeface="宋体" panose="02010600030101010101" pitchFamily="2" charset="-122"/>
              </a:rPr>
              <a:t>(3) </a:t>
            </a:r>
            <a:r>
              <a:rPr lang="zh-CN" altLang="en-US" sz="3600" b="1" dirty="0">
                <a:solidFill>
                  <a:srgbClr val="A50021"/>
                </a:solidFill>
                <a:latin typeface="Arial" panose="020B0604020202020204" pitchFamily="34" charset="0"/>
                <a:ea typeface="宋体" panose="02010600030101010101" pitchFamily="2" charset="-122"/>
              </a:rPr>
              <a:t>极值点</a:t>
            </a:r>
            <a:r>
              <a:rPr lang="en-US" altLang="zh-CN" sz="3600" b="1">
                <a:solidFill>
                  <a:srgbClr val="A50021"/>
                </a:solidFill>
                <a:latin typeface="Arial" panose="020B0604020202020204" pitchFamily="34" charset="0"/>
                <a:ea typeface="宋体" panose="02010600030101010101" pitchFamily="2" charset="-122"/>
              </a:rPr>
              <a:t>k</a:t>
            </a:r>
            <a:r>
              <a:rPr lang="en-US" altLang="zh-CN" sz="3600" b="1" baseline="-25000">
                <a:solidFill>
                  <a:srgbClr val="A50021"/>
                </a:solidFill>
                <a:latin typeface="Arial" panose="020B0604020202020204" pitchFamily="34" charset="0"/>
                <a:ea typeface="宋体" panose="02010600030101010101" pitchFamily="2" charset="-122"/>
              </a:rPr>
              <a:t>0</a:t>
            </a:r>
            <a:r>
              <a:rPr lang="zh-CN" altLang="en-US" sz="3600" b="1" dirty="0">
                <a:solidFill>
                  <a:srgbClr val="A50021"/>
                </a:solidFill>
                <a:latin typeface="Arial" panose="020B0604020202020204" pitchFamily="34" charset="0"/>
                <a:ea typeface="宋体" panose="02010600030101010101" pitchFamily="2" charset="-122"/>
              </a:rPr>
              <a:t>在原点</a:t>
            </a:r>
            <a:endParaRPr lang="zh-CN" altLang="en-US" sz="3600" b="1" dirty="0">
              <a:solidFill>
                <a:srgbClr val="A50021"/>
              </a:solidFill>
              <a:latin typeface="Arial" panose="020B0604020202020204" pitchFamily="34" charset="0"/>
              <a:ea typeface="Arial" panose="020B0604020202020204" pitchFamily="34" charset="0"/>
            </a:endParaRPr>
          </a:p>
        </p:txBody>
      </p:sp>
      <p:sp>
        <p:nvSpPr>
          <p:cNvPr id="75778" name="文本框 102403"/>
          <p:cNvSpPr txBox="1"/>
          <p:nvPr/>
        </p:nvSpPr>
        <p:spPr>
          <a:xfrm>
            <a:off x="971550" y="5710238"/>
            <a:ext cx="6551613" cy="579437"/>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能量</a:t>
            </a:r>
            <a:r>
              <a:rPr lang="en-US" altLang="zh-CN" sz="3200" b="1" dirty="0">
                <a:latin typeface="Arial" panose="020B0604020202020204" pitchFamily="34" charset="0"/>
                <a:ea typeface="宋体" panose="02010600030101010101" pitchFamily="2" charset="-122"/>
              </a:rPr>
              <a:t>E</a:t>
            </a:r>
            <a:r>
              <a:rPr lang="zh-CN" altLang="en-US" sz="3200" b="1" dirty="0">
                <a:latin typeface="Arial" panose="020B0604020202020204" pitchFamily="34" charset="0"/>
                <a:ea typeface="宋体" panose="02010600030101010101" pitchFamily="2" charset="-122"/>
              </a:rPr>
              <a:t>在波矢空间的分布为</a:t>
            </a:r>
            <a:r>
              <a:rPr lang="zh-CN" altLang="en-US" sz="3200" b="1" dirty="0">
                <a:solidFill>
                  <a:srgbClr val="A50021"/>
                </a:solidFill>
                <a:latin typeface="Arial" panose="020B0604020202020204" pitchFamily="34" charset="0"/>
                <a:ea typeface="宋体" panose="02010600030101010101" pitchFamily="2" charset="-122"/>
              </a:rPr>
              <a:t>球形曲面</a:t>
            </a:r>
          </a:p>
        </p:txBody>
      </p:sp>
      <p:grpSp>
        <p:nvGrpSpPr>
          <p:cNvPr id="75779" name="组合 102404"/>
          <p:cNvGrpSpPr/>
          <p:nvPr/>
        </p:nvGrpSpPr>
        <p:grpSpPr>
          <a:xfrm>
            <a:off x="2987675" y="1196975"/>
            <a:ext cx="3911600" cy="4089400"/>
            <a:chOff x="1414" y="890"/>
            <a:chExt cx="2464" cy="2576"/>
          </a:xfrm>
        </p:grpSpPr>
        <p:sp>
          <p:nvSpPr>
            <p:cNvPr id="75780" name="直接连接符 102405"/>
            <p:cNvSpPr/>
            <p:nvPr/>
          </p:nvSpPr>
          <p:spPr>
            <a:xfrm>
              <a:off x="2278" y="2426"/>
              <a:ext cx="1440" cy="0"/>
            </a:xfrm>
            <a:prstGeom prst="line">
              <a:avLst/>
            </a:prstGeom>
            <a:ln w="28575" cap="sq" cmpd="sng">
              <a:solidFill>
                <a:schemeClr val="tx1"/>
              </a:solidFill>
              <a:prstDash val="solid"/>
              <a:miter/>
              <a:headEnd type="none" w="sm" len="sm"/>
              <a:tailEnd type="triangle" w="sm" len="sm"/>
            </a:ln>
          </p:spPr>
        </p:sp>
        <p:sp>
          <p:nvSpPr>
            <p:cNvPr id="75781" name="直接连接符 102406"/>
            <p:cNvSpPr/>
            <p:nvPr/>
          </p:nvSpPr>
          <p:spPr>
            <a:xfrm flipV="1">
              <a:off x="2278" y="1082"/>
              <a:ext cx="0" cy="1344"/>
            </a:xfrm>
            <a:prstGeom prst="line">
              <a:avLst/>
            </a:prstGeom>
            <a:ln w="28575" cap="sq" cmpd="sng">
              <a:solidFill>
                <a:schemeClr val="tx1"/>
              </a:solidFill>
              <a:prstDash val="solid"/>
              <a:miter/>
              <a:headEnd type="none" w="sm" len="sm"/>
              <a:tailEnd type="triangle" w="sm" len="sm"/>
            </a:ln>
          </p:spPr>
        </p:sp>
        <p:sp>
          <p:nvSpPr>
            <p:cNvPr id="75782" name="直接连接符 102407"/>
            <p:cNvSpPr/>
            <p:nvPr/>
          </p:nvSpPr>
          <p:spPr>
            <a:xfrm flipH="1">
              <a:off x="1414" y="2426"/>
              <a:ext cx="768" cy="816"/>
            </a:xfrm>
            <a:prstGeom prst="line">
              <a:avLst/>
            </a:prstGeom>
            <a:ln w="28575" cap="sq" cmpd="sng">
              <a:solidFill>
                <a:schemeClr val="tx1"/>
              </a:solidFill>
              <a:prstDash val="solid"/>
              <a:miter/>
              <a:headEnd type="none" w="sm" len="sm"/>
              <a:tailEnd type="triangle" w="sm" len="sm"/>
            </a:ln>
          </p:spPr>
        </p:sp>
        <p:sp>
          <p:nvSpPr>
            <p:cNvPr id="75783" name="椭圆 102408"/>
            <p:cNvSpPr/>
            <p:nvPr/>
          </p:nvSpPr>
          <p:spPr>
            <a:xfrm rot="5400000">
              <a:off x="1846" y="1898"/>
              <a:ext cx="864" cy="864"/>
            </a:xfrm>
            <a:prstGeom prst="ellipse">
              <a:avLst/>
            </a:prstGeom>
            <a:solidFill>
              <a:schemeClr val="accent1"/>
            </a:solidFill>
            <a:ln w="12700" cap="sq" cmpd="sng">
              <a:solidFill>
                <a:schemeClr val="tx1"/>
              </a:solidFill>
              <a:prstDash val="solid"/>
              <a:miter/>
              <a:headEnd type="none" w="sm" len="sm"/>
              <a:tailEnd type="none" w="sm" len="sm"/>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75784" name="椭圆 102409"/>
            <p:cNvSpPr/>
            <p:nvPr/>
          </p:nvSpPr>
          <p:spPr>
            <a:xfrm rot="5400000">
              <a:off x="2182" y="1946"/>
              <a:ext cx="192" cy="864"/>
            </a:xfrm>
            <a:prstGeom prst="ellipse">
              <a:avLst/>
            </a:prstGeom>
            <a:solidFill>
              <a:schemeClr val="accent1"/>
            </a:solidFill>
            <a:ln w="12700" cap="sq" cmpd="sng">
              <a:solidFill>
                <a:schemeClr val="tx1"/>
              </a:solidFill>
              <a:prstDash val="solid"/>
              <a:miter/>
              <a:headEnd type="none" w="sm" len="sm"/>
              <a:tailEnd type="none" w="sm" len="sm"/>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75785" name="文本框 102410"/>
            <p:cNvSpPr txBox="1"/>
            <p:nvPr/>
          </p:nvSpPr>
          <p:spPr>
            <a:xfrm>
              <a:off x="2230" y="2282"/>
              <a:ext cx="180" cy="135"/>
            </a:xfrm>
            <a:prstGeom prst="rect">
              <a:avLst/>
            </a:prstGeom>
            <a:noFill/>
            <a:ln w="12700">
              <a:noFill/>
            </a:ln>
          </p:spPr>
          <p:txBody>
            <a:bodyPr wrap="none" anchor="t" anchorCtr="0">
              <a:spAutoFit/>
            </a:bodyPr>
            <a:lstStyle/>
            <a:p>
              <a:pPr eaLnBrk="0" hangingPunct="0"/>
              <a:r>
                <a:rPr lang="en-US" altLang="zh-CN" sz="800">
                  <a:latin typeface="Arial" panose="020B0604020202020204" pitchFamily="34" charset="0"/>
                  <a:ea typeface="宋体" panose="02010600030101010101" pitchFamily="2" charset="-122"/>
                </a:rPr>
                <a:t>●</a:t>
              </a:r>
            </a:p>
          </p:txBody>
        </p:sp>
        <p:sp>
          <p:nvSpPr>
            <p:cNvPr id="75786" name="文本框 102411"/>
            <p:cNvSpPr txBox="1"/>
            <p:nvPr/>
          </p:nvSpPr>
          <p:spPr>
            <a:xfrm>
              <a:off x="2278" y="2186"/>
              <a:ext cx="241" cy="231"/>
            </a:xfrm>
            <a:prstGeom prst="rect">
              <a:avLst/>
            </a:prstGeom>
            <a:noFill/>
            <a:ln w="12700">
              <a:noFill/>
            </a:ln>
          </p:spPr>
          <p:txBody>
            <a:bodyPr wrap="none" anchor="t" anchorCtr="0">
              <a:spAutoFit/>
            </a:bodyPr>
            <a:lstStyle/>
            <a:p>
              <a:pPr eaLnBrk="0" hangingPunct="0"/>
              <a:r>
                <a:rPr lang="en-US" altLang="zh-CN" err="1">
                  <a:latin typeface="Arial" panose="020B0604020202020204" pitchFamily="34" charset="0"/>
                  <a:ea typeface="宋体" panose="02010600030101010101" pitchFamily="2" charset="-122"/>
                </a:rPr>
                <a:t>k</a:t>
              </a:r>
              <a:r>
                <a:rPr lang="en-US" altLang="zh-CN" baseline="-25000" err="1">
                  <a:latin typeface="Arial" panose="020B0604020202020204" pitchFamily="34" charset="0"/>
                  <a:ea typeface="宋体" panose="02010600030101010101" pitchFamily="2" charset="-122"/>
                </a:rPr>
                <a:t>o</a:t>
              </a:r>
              <a:endParaRPr lang="en-US" altLang="zh-CN">
                <a:latin typeface="Arial" panose="020B0604020202020204" pitchFamily="34" charset="0"/>
                <a:ea typeface="宋体" panose="02010600030101010101" pitchFamily="2" charset="-122"/>
              </a:endParaRPr>
            </a:p>
          </p:txBody>
        </p:sp>
        <p:sp>
          <p:nvSpPr>
            <p:cNvPr id="75787" name="文本框 102412"/>
            <p:cNvSpPr txBox="1"/>
            <p:nvPr/>
          </p:nvSpPr>
          <p:spPr>
            <a:xfrm>
              <a:off x="1452" y="3139"/>
              <a:ext cx="304" cy="327"/>
            </a:xfrm>
            <a:prstGeom prst="rect">
              <a:avLst/>
            </a:prstGeom>
            <a:noFill/>
            <a:ln w="12700">
              <a:noFill/>
            </a:ln>
          </p:spPr>
          <p:txBody>
            <a:bodyPr wrap="none" anchor="t" anchorCtr="0">
              <a:spAutoFit/>
            </a:bodyPr>
            <a:lstStyle/>
            <a:p>
              <a:pPr eaLnBrk="0" hangingPunct="0"/>
              <a:r>
                <a:rPr lang="en-US" altLang="zh-CN" sz="2800" err="1">
                  <a:latin typeface="Arial" panose="020B0604020202020204" pitchFamily="34" charset="0"/>
                  <a:ea typeface="宋体" panose="02010600030101010101" pitchFamily="2" charset="-122"/>
                </a:rPr>
                <a:t>k</a:t>
              </a:r>
              <a:r>
                <a:rPr lang="en-US" altLang="zh-CN" sz="2800" baseline="-25000" err="1">
                  <a:latin typeface="Arial" panose="020B0604020202020204" pitchFamily="34" charset="0"/>
                  <a:ea typeface="宋体" panose="02010600030101010101" pitchFamily="2" charset="-122"/>
                </a:rPr>
                <a:t>x</a:t>
              </a:r>
              <a:endParaRPr lang="en-US" altLang="zh-CN" sz="2800">
                <a:latin typeface="Arial" panose="020B0604020202020204" pitchFamily="34" charset="0"/>
                <a:ea typeface="宋体" panose="02010600030101010101" pitchFamily="2" charset="-122"/>
              </a:endParaRPr>
            </a:p>
          </p:txBody>
        </p:sp>
        <p:sp>
          <p:nvSpPr>
            <p:cNvPr id="75788" name="文本框 102413"/>
            <p:cNvSpPr txBox="1"/>
            <p:nvPr/>
          </p:nvSpPr>
          <p:spPr>
            <a:xfrm>
              <a:off x="3574" y="2570"/>
              <a:ext cx="304" cy="327"/>
            </a:xfrm>
            <a:prstGeom prst="rect">
              <a:avLst/>
            </a:prstGeom>
            <a:noFill/>
            <a:ln w="12700">
              <a:noFill/>
            </a:ln>
          </p:spPr>
          <p:txBody>
            <a:bodyPr wrap="none" anchor="t" anchorCtr="0">
              <a:spAutoFit/>
            </a:bodyPr>
            <a:lstStyle/>
            <a:p>
              <a:pPr eaLnBrk="0" hangingPunct="0"/>
              <a:r>
                <a:rPr lang="en-US" altLang="zh-CN" sz="2800" err="1">
                  <a:latin typeface="Arial" panose="020B0604020202020204" pitchFamily="34" charset="0"/>
                  <a:ea typeface="宋体" panose="02010600030101010101" pitchFamily="2" charset="-122"/>
                </a:rPr>
                <a:t>k</a:t>
              </a:r>
              <a:r>
                <a:rPr lang="en-US" altLang="zh-CN" sz="2800" baseline="-25000" err="1">
                  <a:latin typeface="Arial" panose="020B0604020202020204" pitchFamily="34" charset="0"/>
                  <a:ea typeface="宋体" panose="02010600030101010101" pitchFamily="2" charset="-122"/>
                </a:rPr>
                <a:t>y</a:t>
              </a:r>
              <a:endParaRPr lang="en-US" altLang="zh-CN" sz="2800">
                <a:latin typeface="Arial" panose="020B0604020202020204" pitchFamily="34" charset="0"/>
                <a:ea typeface="宋体" panose="02010600030101010101" pitchFamily="2" charset="-122"/>
              </a:endParaRPr>
            </a:p>
          </p:txBody>
        </p:sp>
        <p:sp>
          <p:nvSpPr>
            <p:cNvPr id="75789" name="文本框 102414"/>
            <p:cNvSpPr txBox="1"/>
            <p:nvPr/>
          </p:nvSpPr>
          <p:spPr>
            <a:xfrm>
              <a:off x="1846" y="890"/>
              <a:ext cx="304" cy="327"/>
            </a:xfrm>
            <a:prstGeom prst="rect">
              <a:avLst/>
            </a:prstGeom>
            <a:noFill/>
            <a:ln w="12700">
              <a:noFill/>
            </a:ln>
          </p:spPr>
          <p:txBody>
            <a:bodyPr wrap="none" anchor="t" anchorCtr="0">
              <a:spAutoFit/>
            </a:bodyPr>
            <a:lstStyle/>
            <a:p>
              <a:pPr eaLnBrk="0" hangingPunct="0"/>
              <a:r>
                <a:rPr lang="en-US" altLang="zh-CN" sz="2800" err="1">
                  <a:latin typeface="Arial" panose="020B0604020202020204" pitchFamily="34" charset="0"/>
                  <a:ea typeface="宋体" panose="02010600030101010101" pitchFamily="2" charset="-122"/>
                </a:rPr>
                <a:t>k</a:t>
              </a:r>
              <a:r>
                <a:rPr lang="en-US" altLang="zh-CN" sz="2800" baseline="-25000" err="1">
                  <a:latin typeface="Arial" panose="020B0604020202020204" pitchFamily="34" charset="0"/>
                  <a:ea typeface="宋体" panose="02010600030101010101" pitchFamily="2" charset="-122"/>
                </a:rPr>
                <a:t>z</a:t>
              </a:r>
              <a:endParaRPr lang="en-US" altLang="zh-CN" sz="2800">
                <a:latin typeface="Arial" panose="020B0604020202020204" pitchFamily="34" charset="0"/>
                <a:ea typeface="宋体" panose="02010600030101010101" pitchFamily="2" charset="-122"/>
              </a:endParaRPr>
            </a:p>
          </p:txBody>
        </p:sp>
      </p:gr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文本框 105473"/>
          <p:cNvSpPr txBox="1"/>
          <p:nvPr/>
        </p:nvSpPr>
        <p:spPr>
          <a:xfrm>
            <a:off x="971550" y="3141663"/>
            <a:ext cx="4870450" cy="641350"/>
          </a:xfrm>
          <a:prstGeom prst="rect">
            <a:avLst/>
          </a:prstGeom>
          <a:noFill/>
          <a:ln w="12700">
            <a:noFill/>
          </a:ln>
        </p:spPr>
        <p:txBody>
          <a:bodyPr wrap="none" anchor="t" anchorCtr="0">
            <a:spAutoFit/>
          </a:bodyPr>
          <a:lstStyle/>
          <a:p>
            <a:pPr eaLnBrk="0" hangingPunct="0"/>
            <a:r>
              <a:rPr lang="en-US" altLang="zh-CN" sz="3600" b="1" err="1">
                <a:latin typeface="Arial" panose="020B0604020202020204" pitchFamily="34" charset="0"/>
                <a:ea typeface="宋体" panose="02010600030101010101" pitchFamily="2" charset="-122"/>
              </a:rPr>
              <a:t>E(k</a:t>
            </a:r>
            <a:r>
              <a:rPr lang="en-US" altLang="zh-CN" sz="3600" b="1" dirty="0">
                <a:latin typeface="Arial" panose="020B0604020202020204" pitchFamily="34" charset="0"/>
                <a:ea typeface="宋体" panose="02010600030101010101" pitchFamily="2" charset="-122"/>
              </a:rPr>
              <a:t>)</a:t>
            </a:r>
            <a:r>
              <a:rPr lang="zh-CN" altLang="en-US" sz="3600" b="1" dirty="0">
                <a:latin typeface="Arial" panose="020B0604020202020204" pitchFamily="34" charset="0"/>
                <a:ea typeface="宋体" panose="02010600030101010101" pitchFamily="2" charset="-122"/>
              </a:rPr>
              <a:t>等能面的球半径为</a:t>
            </a:r>
            <a:r>
              <a:rPr lang="en-US" altLang="zh-CN" sz="3600" b="1">
                <a:latin typeface="Arial" panose="020B0604020202020204" pitchFamily="34" charset="0"/>
                <a:ea typeface="宋体" panose="02010600030101010101" pitchFamily="2" charset="-122"/>
              </a:rPr>
              <a:t>:</a:t>
            </a:r>
            <a:endParaRPr lang="en-US" altLang="zh-CN" sz="3600" b="1">
              <a:latin typeface="Arial" panose="020B0604020202020204" pitchFamily="34" charset="0"/>
              <a:ea typeface="Arial" panose="020B0604020202020204" pitchFamily="34" charset="0"/>
            </a:endParaRPr>
          </a:p>
        </p:txBody>
      </p:sp>
      <p:graphicFrame>
        <p:nvGraphicFramePr>
          <p:cNvPr id="76802" name="对象 105474"/>
          <p:cNvGraphicFramePr/>
          <p:nvPr/>
        </p:nvGraphicFramePr>
        <p:xfrm>
          <a:off x="1547813" y="4076700"/>
          <a:ext cx="6781800" cy="1873250"/>
        </p:xfrm>
        <a:graphic>
          <a:graphicData uri="http://schemas.openxmlformats.org/presentationml/2006/ole">
            <mc:AlternateContent xmlns:mc="http://schemas.openxmlformats.org/markup-compatibility/2006">
              <mc:Choice xmlns:v="urn:schemas-microsoft-com:vml" Requires="v">
                <p:oleObj r:id="rId2" imgW="1689100" imgH="558800" progId="Equation.DSMT4">
                  <p:embed/>
                </p:oleObj>
              </mc:Choice>
              <mc:Fallback>
                <p:oleObj r:id="rId2" imgW="1689100" imgH="558800" progId="Equation.DSMT4">
                  <p:embed/>
                  <p:pic>
                    <p:nvPicPr>
                      <p:cNvPr id="0" name="图片 3158"/>
                      <p:cNvPicPr/>
                      <p:nvPr/>
                    </p:nvPicPr>
                    <p:blipFill>
                      <a:blip r:embed="rId3"/>
                      <a:stretch>
                        <a:fillRect/>
                      </a:stretch>
                    </p:blipFill>
                    <p:spPr>
                      <a:xfrm>
                        <a:off x="1547813" y="4076700"/>
                        <a:ext cx="6781800" cy="1873250"/>
                      </a:xfrm>
                      <a:prstGeom prst="rect">
                        <a:avLst/>
                      </a:prstGeom>
                      <a:solidFill>
                        <a:srgbClr val="CCECFF"/>
                      </a:solidFill>
                      <a:ln w="38100">
                        <a:noFill/>
                        <a:miter/>
                      </a:ln>
                    </p:spPr>
                  </p:pic>
                </p:oleObj>
              </mc:Fallback>
            </mc:AlternateContent>
          </a:graphicData>
        </a:graphic>
      </p:graphicFrame>
      <p:graphicFrame>
        <p:nvGraphicFramePr>
          <p:cNvPr id="76803" name="对象 105475"/>
          <p:cNvGraphicFramePr/>
          <p:nvPr/>
        </p:nvGraphicFramePr>
        <p:xfrm>
          <a:off x="2124075" y="1125538"/>
          <a:ext cx="3733800" cy="1814512"/>
        </p:xfrm>
        <a:graphic>
          <a:graphicData uri="http://schemas.openxmlformats.org/presentationml/2006/ole">
            <mc:AlternateContent xmlns:mc="http://schemas.openxmlformats.org/markup-compatibility/2006">
              <mc:Choice xmlns:v="urn:schemas-microsoft-com:vml" Requires="v">
                <p:oleObj r:id="rId4" imgW="989965" imgH="482600" progId="Equation.3">
                  <p:embed/>
                </p:oleObj>
              </mc:Choice>
              <mc:Fallback>
                <p:oleObj r:id="rId4" imgW="989965" imgH="482600" progId="Equation.3">
                  <p:embed/>
                  <p:pic>
                    <p:nvPicPr>
                      <p:cNvPr id="0" name="图片 3159"/>
                      <p:cNvPicPr/>
                      <p:nvPr/>
                    </p:nvPicPr>
                    <p:blipFill>
                      <a:blip r:embed="rId5"/>
                      <a:stretch>
                        <a:fillRect/>
                      </a:stretch>
                    </p:blipFill>
                    <p:spPr>
                      <a:xfrm>
                        <a:off x="2124075" y="1125538"/>
                        <a:ext cx="3733800" cy="1814512"/>
                      </a:xfrm>
                      <a:prstGeom prst="rect">
                        <a:avLst/>
                      </a:prstGeom>
                      <a:solidFill>
                        <a:srgbClr val="CCECFF"/>
                      </a:solidFill>
                      <a:ln w="38100">
                        <a:noFill/>
                        <a:miter/>
                      </a:ln>
                    </p:spPr>
                  </p:pic>
                </p:oleObj>
              </mc:Fallback>
            </mc:AlternateContent>
          </a:graphicData>
        </a:graphic>
      </p:graphicFrame>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825" name="对象 191489"/>
          <p:cNvGraphicFramePr/>
          <p:nvPr/>
        </p:nvGraphicFramePr>
        <p:xfrm>
          <a:off x="1835150" y="4652963"/>
          <a:ext cx="1728788" cy="1427162"/>
        </p:xfrm>
        <a:graphic>
          <a:graphicData uri="http://schemas.openxmlformats.org/presentationml/2006/ole">
            <mc:AlternateContent xmlns:mc="http://schemas.openxmlformats.org/markup-compatibility/2006">
              <mc:Choice xmlns:v="urn:schemas-microsoft-com:vml" Requires="v">
                <p:oleObj r:id="rId2" imgW="558800" imgH="393700" progId="Equation.3">
                  <p:embed/>
                </p:oleObj>
              </mc:Choice>
              <mc:Fallback>
                <p:oleObj r:id="rId2" imgW="558800" imgH="393700" progId="Equation.3">
                  <p:embed/>
                  <p:pic>
                    <p:nvPicPr>
                      <p:cNvPr id="0" name="图片 3135"/>
                      <p:cNvPicPr/>
                      <p:nvPr/>
                    </p:nvPicPr>
                    <p:blipFill>
                      <a:blip r:embed="rId3"/>
                      <a:stretch>
                        <a:fillRect/>
                      </a:stretch>
                    </p:blipFill>
                    <p:spPr>
                      <a:xfrm>
                        <a:off x="1835150" y="4652963"/>
                        <a:ext cx="1728788" cy="1427162"/>
                      </a:xfrm>
                      <a:prstGeom prst="rect">
                        <a:avLst/>
                      </a:prstGeom>
                      <a:solidFill>
                        <a:srgbClr val="CCECFF"/>
                      </a:solidFill>
                      <a:ln w="38100">
                        <a:noFill/>
                        <a:miter/>
                      </a:ln>
                    </p:spPr>
                  </p:pic>
                </p:oleObj>
              </mc:Fallback>
            </mc:AlternateContent>
          </a:graphicData>
        </a:graphic>
      </p:graphicFrame>
      <p:sp>
        <p:nvSpPr>
          <p:cNvPr id="77826" name="文本框 191490"/>
          <p:cNvSpPr txBox="1"/>
          <p:nvPr/>
        </p:nvSpPr>
        <p:spPr>
          <a:xfrm>
            <a:off x="323850" y="1844675"/>
            <a:ext cx="5616575" cy="2528888"/>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将一半导体样品放在一均匀恒定的磁场</a:t>
            </a:r>
            <a:r>
              <a:rPr lang="en-US" altLang="zh-CN" sz="3200" b="1" dirty="0">
                <a:latin typeface="Arial" panose="020B0604020202020204" pitchFamily="34" charset="0"/>
                <a:ea typeface="宋体" panose="02010600030101010101" pitchFamily="2" charset="-122"/>
              </a:rPr>
              <a:t>B</a:t>
            </a:r>
            <a:r>
              <a:rPr lang="zh-CN" altLang="en-US" sz="3200" b="1" dirty="0">
                <a:latin typeface="Arial" panose="020B0604020202020204" pitchFamily="34" charset="0"/>
                <a:ea typeface="宋体" panose="02010600030101010101" pitchFamily="2" charset="-122"/>
              </a:rPr>
              <a:t>中</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电子在磁场中作螺旋运动</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它的回旋频率</a:t>
            </a:r>
            <a:r>
              <a:rPr lang="el-GR" altLang="zh-CN" sz="3200" b="1" dirty="0">
                <a:latin typeface="Arial" panose="020B0604020202020204" pitchFamily="34" charset="0"/>
                <a:ea typeface="宋体" panose="02010600030101010101" pitchFamily="2" charset="-122"/>
              </a:rPr>
              <a:t>ω</a:t>
            </a:r>
            <a:r>
              <a:rPr lang="en-US" altLang="zh-CN" sz="3200" b="1" baseline="-25000">
                <a:latin typeface="Arial" panose="020B0604020202020204" pitchFamily="34" charset="0"/>
                <a:ea typeface="宋体" panose="02010600030101010101" pitchFamily="2" charset="-122"/>
              </a:rPr>
              <a:t>c</a:t>
            </a:r>
            <a:r>
              <a:rPr lang="zh-CN" altLang="en-US" sz="3200" b="1" dirty="0">
                <a:latin typeface="Arial" panose="020B0604020202020204" pitchFamily="34" charset="0"/>
                <a:ea typeface="宋体" panose="02010600030101010101" pitchFamily="2" charset="-122"/>
              </a:rPr>
              <a:t>与有效质量</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对于球形等能面</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的关系为</a:t>
            </a:r>
            <a:r>
              <a:rPr lang="en-US" altLang="zh-CN" sz="3200" b="1">
                <a:latin typeface="Arial" panose="020B0604020202020204" pitchFamily="34" charset="0"/>
                <a:ea typeface="宋体" panose="02010600030101010101" pitchFamily="2" charset="-122"/>
              </a:rPr>
              <a:t>:</a:t>
            </a:r>
            <a:endParaRPr lang="en-US" altLang="zh-CN" sz="3200" b="1">
              <a:latin typeface="Arial" panose="020B0604020202020204" pitchFamily="34" charset="0"/>
              <a:ea typeface="Arial" panose="020B0604020202020204" pitchFamily="34" charset="0"/>
            </a:endParaRPr>
          </a:p>
        </p:txBody>
      </p:sp>
      <p:graphicFrame>
        <p:nvGraphicFramePr>
          <p:cNvPr id="77827" name="对象 19149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4" imgW="114300" imgH="215265" progId="Equation.3">
                  <p:embed/>
                </p:oleObj>
              </mc:Choice>
              <mc:Fallback>
                <p:oleObj r:id="rId4" imgW="114300" imgH="215265" progId="Equation.3">
                  <p:embed/>
                  <p:pic>
                    <p:nvPicPr>
                      <p:cNvPr id="0" name="图片 3136"/>
                      <p:cNvPicPr/>
                      <p:nvPr/>
                    </p:nvPicPr>
                    <p:blipFill>
                      <a:blip r:embed="rId5"/>
                      <a:stretch>
                        <a:fillRect/>
                      </a:stretch>
                    </p:blipFill>
                    <p:spPr>
                      <a:xfrm>
                        <a:off x="4514850" y="3321050"/>
                        <a:ext cx="114300" cy="215900"/>
                      </a:xfrm>
                      <a:prstGeom prst="rect">
                        <a:avLst/>
                      </a:prstGeom>
                      <a:noFill/>
                      <a:ln w="38100">
                        <a:noFill/>
                        <a:miter/>
                      </a:ln>
                    </p:spPr>
                  </p:pic>
                </p:oleObj>
              </mc:Fallback>
            </mc:AlternateContent>
          </a:graphicData>
        </a:graphic>
      </p:graphicFrame>
      <p:sp>
        <p:nvSpPr>
          <p:cNvPr id="77828" name="文本框 191492"/>
          <p:cNvSpPr txBox="1"/>
          <p:nvPr/>
        </p:nvSpPr>
        <p:spPr>
          <a:xfrm>
            <a:off x="323850" y="981075"/>
            <a:ext cx="3168650" cy="641350"/>
          </a:xfrm>
          <a:prstGeom prst="rect">
            <a:avLst/>
          </a:prstGeom>
          <a:noFill/>
          <a:ln w="12700">
            <a:noFill/>
          </a:ln>
        </p:spPr>
        <p:txBody>
          <a:bodyPr anchor="t" anchorCtr="0">
            <a:spAutoFit/>
          </a:bodyPr>
          <a:lstStyle/>
          <a:p>
            <a:pPr eaLnBrk="0" hangingPunct="0"/>
            <a:r>
              <a:rPr lang="en-US" altLang="zh-CN" sz="3600" b="1" dirty="0">
                <a:latin typeface="Arial" panose="020B0604020202020204" pitchFamily="34" charset="0"/>
                <a:ea typeface="宋体" panose="02010600030101010101" pitchFamily="2" charset="-122"/>
              </a:rPr>
              <a:t>2. </a:t>
            </a:r>
            <a:r>
              <a:rPr lang="zh-CN" altLang="en-US" sz="3600" b="1" dirty="0">
                <a:latin typeface="Arial" panose="020B0604020202020204" pitchFamily="34" charset="0"/>
                <a:ea typeface="宋体" panose="02010600030101010101" pitchFamily="2" charset="-122"/>
              </a:rPr>
              <a:t>回旋共振</a:t>
            </a:r>
          </a:p>
        </p:txBody>
      </p:sp>
      <p:pic>
        <p:nvPicPr>
          <p:cNvPr id="77829" name="图片 191493"/>
          <p:cNvPicPr>
            <a:picLocks noChangeAspect="1"/>
          </p:cNvPicPr>
          <p:nvPr/>
        </p:nvPicPr>
        <p:blipFill>
          <a:blip r:embed="rId6">
            <a:lum bright="-47998" contrast="35999"/>
          </a:blip>
          <a:srcRect b="17796"/>
          <a:stretch>
            <a:fillRect/>
          </a:stretch>
        </p:blipFill>
        <p:spPr>
          <a:xfrm>
            <a:off x="6084888" y="1628775"/>
            <a:ext cx="2894012" cy="3600450"/>
          </a:xfrm>
          <a:prstGeom prst="rect">
            <a:avLst/>
          </a:prstGeom>
          <a:noFill/>
          <a:ln w="9525">
            <a:noFill/>
          </a:ln>
        </p:spPr>
      </p:pic>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idx="1"/>
          </p:nvPr>
        </p:nvSpPr>
        <p:spPr>
          <a:xfrm>
            <a:off x="539750" y="1773238"/>
            <a:ext cx="8001000" cy="489585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当</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E(k)</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为某一定值的面称为等能面（</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1.6-4</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）式表示的是</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一系列半径为 </a:t>
            </a: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zh-CN" altLang="en-US" sz="2400" b="0" i="0" u="none" strike="noStrike" kern="0" cap="none" spc="0" normalizeH="0" baseline="0" noProof="0" dirty="0">
              <a:ln>
                <a:noFill/>
              </a:ln>
              <a:solidFill>
                <a:schemeClr val="tx1"/>
              </a:solidFill>
              <a:effectLst/>
              <a:uLnTx/>
              <a:uFillTx/>
              <a:latin typeface="+mn-ea"/>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endParaRPr kumimoji="1" lang="en-US" altLang="zh-CN" sz="2400" b="0" i="0" u="none" strike="noStrike" kern="0" cap="none" spc="0" normalizeH="0" baseline="0" noProof="0" dirty="0">
              <a:ln>
                <a:noFill/>
              </a:ln>
              <a:solidFill>
                <a:schemeClr val="tx1"/>
              </a:solidFill>
              <a:effectLst/>
              <a:uLnTx/>
              <a:uFillTx/>
              <a:latin typeface="+mn-ea"/>
              <a:ea typeface="+mn-ea"/>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的球面。如图，表示的是等能面</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在</a:t>
            </a:r>
            <a:r>
              <a:rPr kumimoji="1" lang="en-US" altLang="zh-CN" sz="2400" b="0" i="1" u="none" strike="noStrike" kern="0" cap="none" spc="0" normalizeH="0" baseline="0" noProof="0" dirty="0" err="1">
                <a:ln>
                  <a:noFill/>
                </a:ln>
                <a:solidFill>
                  <a:schemeClr val="tx1"/>
                </a:solidFill>
                <a:effectLst/>
                <a:uLnTx/>
                <a:uFillTx/>
                <a:latin typeface="+mn-ea"/>
                <a:ea typeface="+mn-ea"/>
                <a:cs typeface="+mn-cs"/>
              </a:rPr>
              <a:t>k</a:t>
            </a:r>
            <a:r>
              <a:rPr kumimoji="1" lang="en-US" altLang="zh-CN" sz="2400" b="0" i="1" u="none" strike="noStrike" kern="0" cap="none" spc="0" normalizeH="0" baseline="-25000" noProof="0" dirty="0" err="1">
                <a:ln>
                  <a:noFill/>
                </a:ln>
                <a:solidFill>
                  <a:schemeClr val="tx1"/>
                </a:solidFill>
                <a:effectLst/>
                <a:uLnTx/>
                <a:uFillTx/>
                <a:latin typeface="+mn-ea"/>
                <a:ea typeface="+mn-ea"/>
                <a:cs typeface="+mn-cs"/>
              </a:rPr>
              <a:t>y</a:t>
            </a:r>
            <a:r>
              <a:rPr kumimoji="1" lang="en-US" altLang="zh-CN" sz="2400" b="0" i="1" u="none" strike="noStrike" kern="0" cap="none" spc="0" normalizeH="0" baseline="0" noProof="0" dirty="0" err="1">
                <a:ln>
                  <a:noFill/>
                </a:ln>
                <a:solidFill>
                  <a:schemeClr val="tx1"/>
                </a:solidFill>
                <a:effectLst/>
                <a:uLnTx/>
                <a:uFillTx/>
                <a:latin typeface="+mn-ea"/>
                <a:ea typeface="+mn-ea"/>
                <a:cs typeface="+mn-cs"/>
              </a:rPr>
              <a:t>k</a:t>
            </a:r>
            <a:r>
              <a:rPr kumimoji="1" lang="en-US" altLang="zh-CN" sz="2400" b="0" i="1" u="none" strike="noStrike" kern="0" cap="none" spc="0" normalizeH="0" baseline="-25000" noProof="0" dirty="0" err="1">
                <a:ln>
                  <a:noFill/>
                </a:ln>
                <a:solidFill>
                  <a:schemeClr val="tx1"/>
                </a:solidFill>
                <a:effectLst/>
                <a:uLnTx/>
                <a:uFillTx/>
                <a:latin typeface="+mn-ea"/>
                <a:ea typeface="+mn-ea"/>
                <a:cs typeface="+mn-cs"/>
              </a:rPr>
              <a:t>z</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平面上的截面图，它是一</a:t>
            </a: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系列环绕坐标原点的圆。</a:t>
            </a:r>
          </a:p>
        </p:txBody>
      </p:sp>
      <p:graphicFrame>
        <p:nvGraphicFramePr>
          <p:cNvPr id="38914" name="Object 3"/>
          <p:cNvGraphicFramePr>
            <a:graphicFrameLocks noChangeAspect="1"/>
          </p:cNvGraphicFramePr>
          <p:nvPr/>
        </p:nvGraphicFramePr>
        <p:xfrm>
          <a:off x="683260" y="2636520"/>
          <a:ext cx="3326130" cy="1007745"/>
        </p:xfrm>
        <a:graphic>
          <a:graphicData uri="http://schemas.openxmlformats.org/presentationml/2006/ole">
            <mc:AlternateContent xmlns:mc="http://schemas.openxmlformats.org/markup-compatibility/2006">
              <mc:Choice xmlns:v="urn:schemas-microsoft-com:vml" Requires="v">
                <p:oleObj r:id="rId3" imgW="1701800" imgH="609600" progId="Equation.3">
                  <p:embed/>
                </p:oleObj>
              </mc:Choice>
              <mc:Fallback>
                <p:oleObj r:id="rId3" imgW="1701800" imgH="609600" progId="Equation.3">
                  <p:embed/>
                  <p:pic>
                    <p:nvPicPr>
                      <p:cNvPr id="0" name="图片 3098"/>
                      <p:cNvPicPr/>
                      <p:nvPr/>
                    </p:nvPicPr>
                    <p:blipFill>
                      <a:blip r:embed="rId4"/>
                      <a:stretch>
                        <a:fillRect/>
                      </a:stretch>
                    </p:blipFill>
                    <p:spPr>
                      <a:xfrm>
                        <a:off x="683260" y="2636520"/>
                        <a:ext cx="3326130" cy="1007745"/>
                      </a:xfrm>
                      <a:prstGeom prst="rect">
                        <a:avLst/>
                      </a:prstGeom>
                      <a:noFill/>
                      <a:ln w="38100">
                        <a:noFill/>
                        <a:miter/>
                      </a:ln>
                    </p:spPr>
                  </p:pic>
                </p:oleObj>
              </mc:Fallback>
            </mc:AlternateContent>
          </a:graphicData>
        </a:graphic>
      </p:graphicFrame>
      <p:pic>
        <p:nvPicPr>
          <p:cNvPr id="38915" name="Picture 2"/>
          <p:cNvPicPr>
            <a:picLocks noChangeAspect="1"/>
          </p:cNvPicPr>
          <p:nvPr/>
        </p:nvPicPr>
        <p:blipFill>
          <a:blip r:embed="rId5"/>
          <a:stretch>
            <a:fillRect/>
          </a:stretch>
        </p:blipFill>
        <p:spPr>
          <a:xfrm>
            <a:off x="5075555" y="2564765"/>
            <a:ext cx="3978275" cy="2752090"/>
          </a:xfrm>
          <a:prstGeom prst="rect">
            <a:avLst/>
          </a:prstGeom>
          <a:noFill/>
          <a:ln w="9525">
            <a:noFill/>
          </a:ln>
        </p:spPr>
      </p:pic>
      <p:sp>
        <p:nvSpPr>
          <p:cNvPr id="38916" name="Rectangle 2"/>
          <p:cNvSpPr>
            <a:spLocks noGrp="1"/>
          </p:cNvSpPr>
          <p:nvPr>
            <p:ph type="title"/>
          </p:nvPr>
        </p:nvSpPr>
        <p:spPr>
          <a:xfrm>
            <a:off x="490538" y="908050"/>
            <a:ext cx="8653462" cy="769938"/>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5</a:t>
            </a:r>
            <a:r>
              <a:rPr lang="zh-CN" altLang="en-US" dirty="0">
                <a:latin typeface="华文新魏" panose="02010800040101010101" pitchFamily="2" charset="-122"/>
                <a:ea typeface="华文新魏" panose="02010800040101010101" pitchFamily="2" charset="-122"/>
              </a:rPr>
              <a:t>  回旋共振</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idx="1"/>
          </p:nvPr>
        </p:nvSpPr>
        <p:spPr>
          <a:xfrm>
            <a:off x="395288" y="1916113"/>
            <a:ext cx="8569325" cy="41910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对各向异性的晶体，</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E(</a:t>
            </a:r>
            <a:r>
              <a:rPr kumimoji="1" lang="en-US" altLang="zh-CN" sz="2400" b="1" i="1" u="none" strike="noStrike" kern="0" cap="none" spc="0" normalizeH="0" baseline="0" noProof="0" dirty="0">
                <a:ln>
                  <a:noFill/>
                </a:ln>
                <a:solidFill>
                  <a:schemeClr val="tx1"/>
                </a:solidFill>
                <a:effectLst/>
                <a:uLnTx/>
                <a:uFillTx/>
                <a:latin typeface="+mn-ea"/>
                <a:ea typeface="+mn-ea"/>
                <a:cs typeface="+mn-cs"/>
              </a:rPr>
              <a:t>k</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与</a:t>
            </a:r>
            <a:r>
              <a:rPr kumimoji="1" lang="en-US" altLang="zh-CN" sz="2400" b="1" i="1" u="none" strike="noStrike" kern="0" cap="none" spc="0" normalizeH="0" baseline="0" noProof="0" dirty="0">
                <a:ln>
                  <a:noFill/>
                </a:ln>
                <a:solidFill>
                  <a:schemeClr val="tx1"/>
                </a:solidFill>
                <a:effectLst/>
                <a:uLnTx/>
                <a:uFillTx/>
                <a:latin typeface="+mn-ea"/>
                <a:ea typeface="+mn-ea"/>
                <a:cs typeface="+mn-cs"/>
              </a:rPr>
              <a:t>k</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的关系沿不同的</a:t>
            </a:r>
            <a:r>
              <a:rPr kumimoji="1" lang="en-US" altLang="zh-CN" sz="2400" b="1" i="1" u="none" strike="noStrike" kern="0" cap="none" spc="0" normalizeH="0" baseline="0" noProof="0" dirty="0">
                <a:ln>
                  <a:noFill/>
                </a:ln>
                <a:solidFill>
                  <a:schemeClr val="tx1"/>
                </a:solidFill>
                <a:effectLst/>
                <a:uLnTx/>
                <a:uFillTx/>
                <a:latin typeface="+mn-ea"/>
                <a:ea typeface="+mn-ea"/>
                <a:cs typeface="+mn-cs"/>
              </a:rPr>
              <a:t>k</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方向不一定</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相同反映在沿不同的</a:t>
            </a:r>
            <a:r>
              <a:rPr kumimoji="1" lang="en-US" altLang="zh-CN" sz="2400" b="1" i="1" u="none" strike="noStrike" kern="0" cap="none" spc="0" normalizeH="0" baseline="0" noProof="0" dirty="0">
                <a:ln>
                  <a:noFill/>
                </a:ln>
                <a:solidFill>
                  <a:schemeClr val="tx1"/>
                </a:solidFill>
                <a:effectLst/>
                <a:uLnTx/>
                <a:uFillTx/>
                <a:latin typeface="+mn-ea"/>
                <a:ea typeface="+mn-ea"/>
                <a:cs typeface="+mn-cs"/>
              </a:rPr>
              <a:t>k</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方向，电子的有效质量不一定相同，而</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且能带极值不一定位于</a:t>
            </a:r>
            <a:r>
              <a:rPr kumimoji="1" lang="en-US" altLang="zh-CN" sz="2400" b="1" i="1" u="none" strike="noStrike" kern="0" cap="none" spc="0" normalizeH="0" baseline="0" noProof="0" dirty="0">
                <a:ln>
                  <a:noFill/>
                </a:ln>
                <a:solidFill>
                  <a:schemeClr val="tx1"/>
                </a:solidFill>
                <a:effectLst/>
                <a:uLnTx/>
                <a:uFillTx/>
                <a:latin typeface="+mn-ea"/>
                <a:ea typeface="+mn-ea"/>
                <a:cs typeface="+mn-cs"/>
              </a:rPr>
              <a:t>k</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=0</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处。</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设导带底位于</a:t>
            </a:r>
            <a:r>
              <a:rPr kumimoji="1" lang="en-US" altLang="zh-CN" sz="2400" b="1" i="1" u="none" strike="noStrike" kern="0" cap="none" spc="0" normalizeH="0" baseline="0" noProof="0" dirty="0">
                <a:ln>
                  <a:noFill/>
                </a:ln>
                <a:solidFill>
                  <a:schemeClr val="tx1"/>
                </a:solidFill>
                <a:effectLst/>
                <a:uLnTx/>
                <a:uFillTx/>
                <a:latin typeface="+mn-ea"/>
                <a:ea typeface="+mn-ea"/>
                <a:cs typeface="+mn-cs"/>
              </a:rPr>
              <a:t>k</a:t>
            </a:r>
            <a:r>
              <a:rPr kumimoji="1" lang="en-US" altLang="zh-CN" sz="2400" b="1" i="1" u="none" strike="noStrike" kern="0" cap="none" spc="0" normalizeH="0" baseline="-25000" noProof="0" dirty="0">
                <a:ln>
                  <a:noFill/>
                </a:ln>
                <a:solidFill>
                  <a:schemeClr val="tx1"/>
                </a:solidFill>
                <a:effectLst/>
                <a:uLnTx/>
                <a:uFillTx/>
                <a:latin typeface="+mn-ea"/>
                <a:ea typeface="+mn-ea"/>
                <a:cs typeface="+mn-cs"/>
              </a:rPr>
              <a:t>0</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处，能量为</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E(</a:t>
            </a:r>
            <a:r>
              <a:rPr kumimoji="1" lang="en-US" altLang="zh-CN" sz="2400" b="1" i="1" u="none" strike="noStrike" kern="0" cap="none" spc="0" normalizeH="0" baseline="0" noProof="0" dirty="0">
                <a:ln>
                  <a:noFill/>
                </a:ln>
                <a:solidFill>
                  <a:schemeClr val="tx1"/>
                </a:solidFill>
                <a:effectLst/>
                <a:uLnTx/>
                <a:uFillTx/>
                <a:latin typeface="+mn-ea"/>
                <a:ea typeface="+mn-ea"/>
                <a:cs typeface="+mn-cs"/>
              </a:rPr>
              <a:t>k</a:t>
            </a:r>
            <a:r>
              <a:rPr kumimoji="1" lang="en-US" altLang="zh-CN" sz="2400" b="1" i="1" u="none" strike="noStrike" kern="0" cap="none" spc="0" normalizeH="0" baseline="-25000" noProof="0" dirty="0">
                <a:ln>
                  <a:noFill/>
                </a:ln>
                <a:solidFill>
                  <a:schemeClr val="tx1"/>
                </a:solidFill>
                <a:effectLst/>
                <a:uLnTx/>
                <a:uFillTx/>
                <a:latin typeface="+mn-ea"/>
                <a:ea typeface="+mn-ea"/>
                <a:cs typeface="+mn-cs"/>
              </a:rPr>
              <a:t>0</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在晶体中选取适当的坐标轴</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en-US" altLang="zh-CN" sz="2400" b="0" i="1" u="none" strike="noStrike" kern="0" cap="none" spc="0" normalizeH="0" baseline="0" noProof="0" dirty="0" err="1">
                <a:ln>
                  <a:noFill/>
                </a:ln>
                <a:solidFill>
                  <a:schemeClr val="tx1"/>
                </a:solidFill>
                <a:effectLst/>
                <a:uLnTx/>
                <a:uFillTx/>
                <a:latin typeface="+mn-ea"/>
                <a:ea typeface="+mn-ea"/>
                <a:cs typeface="+mn-cs"/>
              </a:rPr>
              <a:t>k</a:t>
            </a:r>
            <a:r>
              <a:rPr kumimoji="1" lang="en-US" altLang="zh-CN" sz="2400" b="0" i="1" u="none" strike="noStrike" kern="0" cap="none" spc="0" normalizeH="0" baseline="-25000" noProof="0" dirty="0" err="1">
                <a:ln>
                  <a:noFill/>
                </a:ln>
                <a:solidFill>
                  <a:schemeClr val="tx1"/>
                </a:solidFill>
                <a:effectLst/>
                <a:uLnTx/>
                <a:uFillTx/>
                <a:latin typeface="+mn-ea"/>
                <a:ea typeface="+mn-ea"/>
                <a:cs typeface="+mn-cs"/>
              </a:rPr>
              <a:t>x</a:t>
            </a:r>
            <a:r>
              <a:rPr kumimoji="1" lang="en-US" altLang="zh-CN" sz="2400" b="0" i="1" u="none" strike="noStrike" kern="0" cap="none" spc="0" normalizeH="0" baseline="0" noProof="0" dirty="0" err="1">
                <a:ln>
                  <a:noFill/>
                </a:ln>
                <a:solidFill>
                  <a:schemeClr val="tx1"/>
                </a:solidFill>
                <a:effectLst/>
                <a:uLnTx/>
                <a:uFillTx/>
                <a:latin typeface="+mn-ea"/>
                <a:ea typeface="+mn-ea"/>
                <a:cs typeface="+mn-cs"/>
              </a:rPr>
              <a:t>、k</a:t>
            </a:r>
            <a:r>
              <a:rPr kumimoji="1" lang="en-US" altLang="zh-CN" sz="2400" b="0" i="1" u="none" strike="noStrike" kern="0" cap="none" spc="0" normalizeH="0" baseline="-25000" noProof="0" dirty="0" err="1">
                <a:ln>
                  <a:noFill/>
                </a:ln>
                <a:solidFill>
                  <a:schemeClr val="tx1"/>
                </a:solidFill>
                <a:effectLst/>
                <a:uLnTx/>
                <a:uFillTx/>
                <a:latin typeface="+mn-ea"/>
                <a:ea typeface="+mn-ea"/>
                <a:cs typeface="+mn-cs"/>
              </a:rPr>
              <a:t>y</a:t>
            </a:r>
            <a:r>
              <a:rPr kumimoji="1" lang="en-US" altLang="zh-CN" sz="2400" b="0" i="1" u="none" strike="noStrike" kern="0" cap="none" spc="0" normalizeH="0" baseline="0" noProof="0" dirty="0" err="1">
                <a:ln>
                  <a:noFill/>
                </a:ln>
                <a:solidFill>
                  <a:schemeClr val="tx1"/>
                </a:solidFill>
                <a:effectLst/>
                <a:uLnTx/>
                <a:uFillTx/>
                <a:latin typeface="+mn-ea"/>
                <a:ea typeface="+mn-ea"/>
                <a:cs typeface="+mn-cs"/>
              </a:rPr>
              <a:t>、k</a:t>
            </a:r>
            <a:r>
              <a:rPr kumimoji="1" lang="en-US" altLang="zh-CN" sz="2400" b="0" i="1" u="none" strike="noStrike" kern="0" cap="none" spc="0" normalizeH="0" baseline="-25000" noProof="0" dirty="0" err="1">
                <a:ln>
                  <a:noFill/>
                </a:ln>
                <a:solidFill>
                  <a:schemeClr val="tx1"/>
                </a:solidFill>
                <a:effectLst/>
                <a:uLnTx/>
                <a:uFillTx/>
                <a:latin typeface="+mn-ea"/>
                <a:ea typeface="+mn-ea"/>
                <a:cs typeface="+mn-cs"/>
              </a:rPr>
              <a:t>z</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并令</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m</a:t>
            </a:r>
            <a:r>
              <a:rPr kumimoji="1" lang="en-US" altLang="zh-CN" sz="2400" b="0" i="0" u="none" strike="noStrike" kern="0" cap="none" spc="0" normalizeH="0" baseline="-25000" noProof="0" dirty="0">
                <a:ln>
                  <a:noFill/>
                </a:ln>
                <a:solidFill>
                  <a:schemeClr val="tx1"/>
                </a:solidFill>
                <a:effectLst/>
                <a:uLnTx/>
                <a:uFillTx/>
                <a:latin typeface="+mn-ea"/>
                <a:ea typeface="+mn-ea"/>
                <a:cs typeface="+mn-cs"/>
              </a:rPr>
              <a:t>x</a:t>
            </a:r>
            <a:r>
              <a:rPr kumimoji="1" lang="en-US" altLang="zh-CN" sz="2400" b="0" i="0" u="none" strike="noStrike" kern="0" cap="none" spc="0" normalizeH="0" baseline="30000" noProof="0" dirty="0">
                <a:ln>
                  <a:noFill/>
                </a:ln>
                <a:solidFill>
                  <a:schemeClr val="tx1"/>
                </a:solidFill>
                <a:effectLst/>
                <a:uLnTx/>
                <a:uFillTx/>
                <a:latin typeface="+mn-ea"/>
                <a:ea typeface="+mn-ea"/>
                <a:cs typeface="+mn-cs"/>
              </a:rPr>
              <a:t>*</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、m</a:t>
            </a:r>
            <a:r>
              <a:rPr kumimoji="1" lang="en-US" altLang="zh-CN" sz="2400" b="0" i="0" u="none" strike="noStrike" kern="0" cap="none" spc="0" normalizeH="0" baseline="-25000" noProof="0" dirty="0">
                <a:ln>
                  <a:noFill/>
                </a:ln>
                <a:solidFill>
                  <a:schemeClr val="tx1"/>
                </a:solidFill>
                <a:effectLst/>
                <a:uLnTx/>
                <a:uFillTx/>
                <a:latin typeface="+mn-ea"/>
                <a:ea typeface="+mn-ea"/>
                <a:cs typeface="+mn-cs"/>
              </a:rPr>
              <a:t>y</a:t>
            </a:r>
            <a:r>
              <a:rPr kumimoji="1" lang="en-US" altLang="zh-CN" sz="2400" b="0" i="0" u="none" strike="noStrike" kern="0" cap="none" spc="0" normalizeH="0" baseline="30000" noProof="0" dirty="0">
                <a:ln>
                  <a:noFill/>
                </a:ln>
                <a:solidFill>
                  <a:schemeClr val="tx1"/>
                </a:solidFill>
                <a:effectLst/>
                <a:uLnTx/>
                <a:uFillTx/>
                <a:latin typeface="+mn-ea"/>
                <a:ea typeface="+mn-ea"/>
                <a:cs typeface="+mn-cs"/>
              </a:rPr>
              <a:t>*</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m</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z</a:t>
            </a:r>
            <a:r>
              <a:rPr kumimoji="1" lang="en-US" altLang="zh-CN" sz="2400" b="0" i="0" u="none" strike="noStrike" kern="0" cap="none" spc="0" normalizeH="0" baseline="30000" noProof="0" dirty="0">
                <a:ln>
                  <a:noFill/>
                </a:ln>
                <a:solidFill>
                  <a:schemeClr val="tx1"/>
                </a:solidFill>
                <a:effectLst/>
                <a:uLnTx/>
                <a:uFillTx/>
                <a:latin typeface="+mn-ea"/>
                <a:ea typeface="+mn-ea"/>
                <a:cs typeface="+mn-cs"/>
              </a:rPr>
              <a:t>*</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分别表示沿</a:t>
            </a:r>
            <a:r>
              <a:rPr kumimoji="1" lang="en-US" altLang="zh-CN" sz="2400" b="0" i="1" u="none" strike="noStrike" kern="0" cap="none" spc="0" normalizeH="0" baseline="0" noProof="0" dirty="0" err="1">
                <a:ln>
                  <a:noFill/>
                </a:ln>
                <a:solidFill>
                  <a:schemeClr val="tx1"/>
                </a:solidFill>
                <a:effectLst/>
                <a:uLnTx/>
                <a:uFillTx/>
                <a:latin typeface="+mn-ea"/>
                <a:ea typeface="+mn-ea"/>
                <a:cs typeface="+mn-cs"/>
              </a:rPr>
              <a:t>k</a:t>
            </a:r>
            <a:r>
              <a:rPr kumimoji="1" lang="en-US" altLang="zh-CN" sz="2400" b="0" i="1" u="none" strike="noStrike" kern="0" cap="none" spc="0" normalizeH="0" baseline="-25000" noProof="0" dirty="0" err="1">
                <a:ln>
                  <a:noFill/>
                </a:ln>
                <a:solidFill>
                  <a:schemeClr val="tx1"/>
                </a:solidFill>
                <a:effectLst/>
                <a:uLnTx/>
                <a:uFillTx/>
                <a:latin typeface="+mn-ea"/>
                <a:ea typeface="+mn-ea"/>
                <a:cs typeface="+mn-cs"/>
              </a:rPr>
              <a:t>x</a:t>
            </a:r>
            <a:r>
              <a:rPr kumimoji="1" lang="en-US" altLang="zh-CN" sz="2400" b="0" i="1" u="none" strike="noStrike" kern="0" cap="none" spc="0" normalizeH="0" baseline="0" noProof="0" dirty="0" err="1">
                <a:ln>
                  <a:noFill/>
                </a:ln>
                <a:solidFill>
                  <a:schemeClr val="tx1"/>
                </a:solidFill>
                <a:effectLst/>
                <a:uLnTx/>
                <a:uFillTx/>
                <a:latin typeface="+mn-ea"/>
                <a:ea typeface="+mn-ea"/>
                <a:cs typeface="+mn-cs"/>
              </a:rPr>
              <a:t>、k</a:t>
            </a:r>
            <a:r>
              <a:rPr kumimoji="1" lang="en-US" altLang="zh-CN" sz="2400" b="0" i="1" u="none" strike="noStrike" kern="0" cap="none" spc="0" normalizeH="0" baseline="-25000" noProof="0" dirty="0" err="1">
                <a:ln>
                  <a:noFill/>
                </a:ln>
                <a:solidFill>
                  <a:schemeClr val="tx1"/>
                </a:solidFill>
                <a:effectLst/>
                <a:uLnTx/>
                <a:uFillTx/>
                <a:latin typeface="+mn-ea"/>
                <a:ea typeface="+mn-ea"/>
                <a:cs typeface="+mn-cs"/>
              </a:rPr>
              <a:t>y</a:t>
            </a:r>
            <a:r>
              <a:rPr kumimoji="1" lang="en-US" altLang="zh-CN" sz="2400" b="0" i="1" u="none" strike="noStrike" kern="0" cap="none" spc="0" normalizeH="0" baseline="0" noProof="0" dirty="0" err="1">
                <a:ln>
                  <a:noFill/>
                </a:ln>
                <a:solidFill>
                  <a:schemeClr val="tx1"/>
                </a:solidFill>
                <a:effectLst/>
                <a:uLnTx/>
                <a:uFillTx/>
                <a:latin typeface="+mn-ea"/>
                <a:ea typeface="+mn-ea"/>
                <a:cs typeface="+mn-cs"/>
              </a:rPr>
              <a:t>、k</a:t>
            </a:r>
            <a:r>
              <a:rPr kumimoji="1" lang="en-US" altLang="zh-CN" sz="2400" b="0" i="1" u="none" strike="noStrike" kern="0" cap="none" spc="0" normalizeH="0" baseline="-25000" noProof="0" dirty="0" err="1">
                <a:ln>
                  <a:noFill/>
                </a:ln>
                <a:solidFill>
                  <a:schemeClr val="tx1"/>
                </a:solidFill>
                <a:effectLst/>
                <a:uLnTx/>
                <a:uFillTx/>
                <a:latin typeface="+mn-ea"/>
                <a:ea typeface="+mn-ea"/>
                <a:cs typeface="+mn-cs"/>
              </a:rPr>
              <a:t>z</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三个方向</a:t>
            </a:r>
            <a:endPar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的导带底电子的有效质量，</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E(k)</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用泰勒级数在极值</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k0</a:t>
            </a: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附近展开</a:t>
            </a:r>
            <a:r>
              <a:rPr kumimoji="1" lang="en-US" altLang="zh-CN"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p>
          <a:p>
            <a:pPr marL="342900" marR="0" lvl="0" indent="-342900" algn="just"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略去高次项，得</a:t>
            </a:r>
          </a:p>
        </p:txBody>
      </p:sp>
      <p:graphicFrame>
        <p:nvGraphicFramePr>
          <p:cNvPr id="40962" name="Object 3"/>
          <p:cNvGraphicFramePr>
            <a:graphicFrameLocks noChangeAspect="1"/>
          </p:cNvGraphicFramePr>
          <p:nvPr/>
        </p:nvGraphicFramePr>
        <p:xfrm>
          <a:off x="684213" y="5013325"/>
          <a:ext cx="6858000" cy="1143000"/>
        </p:xfrm>
        <a:graphic>
          <a:graphicData uri="http://schemas.openxmlformats.org/presentationml/2006/ole">
            <mc:AlternateContent xmlns:mc="http://schemas.openxmlformats.org/markup-compatibility/2006">
              <mc:Choice xmlns:v="urn:schemas-microsoft-com:vml" Requires="v">
                <p:oleObj r:id="rId2" imgW="3594100" imgH="647700" progId="Equation.3">
                  <p:embed/>
                </p:oleObj>
              </mc:Choice>
              <mc:Fallback>
                <p:oleObj r:id="rId2" imgW="3594100" imgH="647700" progId="Equation.3">
                  <p:embed/>
                  <p:pic>
                    <p:nvPicPr>
                      <p:cNvPr id="0" name="图片 3077"/>
                      <p:cNvPicPr/>
                      <p:nvPr/>
                    </p:nvPicPr>
                    <p:blipFill>
                      <a:blip r:embed="rId3"/>
                      <a:stretch>
                        <a:fillRect/>
                      </a:stretch>
                    </p:blipFill>
                    <p:spPr>
                      <a:xfrm>
                        <a:off x="684213" y="5013325"/>
                        <a:ext cx="6858000" cy="1143000"/>
                      </a:xfrm>
                      <a:prstGeom prst="rect">
                        <a:avLst/>
                      </a:prstGeom>
                      <a:noFill/>
                      <a:ln w="38100">
                        <a:noFill/>
                        <a:miter/>
                      </a:ln>
                    </p:spPr>
                  </p:pic>
                </p:oleObj>
              </mc:Fallback>
            </mc:AlternateContent>
          </a:graphicData>
        </a:graphic>
      </p:graphicFrame>
      <p:sp>
        <p:nvSpPr>
          <p:cNvPr id="40963" name="Text Box 4"/>
          <p:cNvSpPr txBox="1"/>
          <p:nvPr/>
        </p:nvSpPr>
        <p:spPr>
          <a:xfrm>
            <a:off x="7712075" y="5229225"/>
            <a:ext cx="1581150" cy="461963"/>
          </a:xfrm>
          <a:prstGeom prst="rect">
            <a:avLst/>
          </a:prstGeom>
          <a:noFill/>
          <a:ln w="9525">
            <a:noFill/>
          </a:ln>
        </p:spPr>
        <p:txBody>
          <a:bodyPr wrap="none" anchor="t" anchorCtr="0">
            <a:spAutoFit/>
          </a:bodyPr>
          <a:lstStyle/>
          <a:p>
            <a:pPr>
              <a:buClrTx/>
              <a:buFontTx/>
            </a:pPr>
            <a:r>
              <a:rPr lang="zh-CN" altLang="en-US" b="0" dirty="0">
                <a:latin typeface="黑体" panose="02010609060101010101" pitchFamily="49" charset="-122"/>
                <a:ea typeface="黑体" panose="02010609060101010101" pitchFamily="49" charset="-122"/>
              </a:rPr>
              <a:t>（</a:t>
            </a:r>
            <a:r>
              <a:rPr lang="en-US" altLang="zh-CN" b="0" dirty="0">
                <a:latin typeface="黑体" panose="02010609060101010101" pitchFamily="49" charset="-122"/>
                <a:ea typeface="黑体" panose="02010609060101010101" pitchFamily="49" charset="-122"/>
              </a:rPr>
              <a:t>1.6-5</a:t>
            </a:r>
            <a:r>
              <a:rPr lang="zh-CN" altLang="en-US" b="0" dirty="0">
                <a:latin typeface="黑体" panose="02010609060101010101" pitchFamily="49" charset="-122"/>
                <a:ea typeface="黑体" panose="02010609060101010101" pitchFamily="49" charset="-122"/>
              </a:rPr>
              <a:t>）</a:t>
            </a:r>
          </a:p>
        </p:txBody>
      </p:sp>
      <p:sp>
        <p:nvSpPr>
          <p:cNvPr id="40964" name="Rectangle 2"/>
          <p:cNvSpPr>
            <a:spLocks noGrp="1"/>
          </p:cNvSpPr>
          <p:nvPr>
            <p:ph type="title"/>
          </p:nvPr>
        </p:nvSpPr>
        <p:spPr>
          <a:xfrm>
            <a:off x="490538" y="908050"/>
            <a:ext cx="8653462" cy="769938"/>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5</a:t>
            </a:r>
            <a:r>
              <a:rPr lang="zh-CN" altLang="en-US" dirty="0">
                <a:latin typeface="华文新魏" panose="02010800040101010101" pitchFamily="2" charset="-122"/>
                <a:ea typeface="华文新魏" panose="02010800040101010101" pitchFamily="2" charset="-122"/>
              </a:rPr>
              <a:t>  回旋共振</a:t>
            </a:r>
          </a:p>
        </p:txBody>
      </p:sp>
      <mc:AlternateContent xmlns:mc="http://schemas.openxmlformats.org/markup-compatibility/2006">
        <mc:Choice xmlns:p14="http://schemas.microsoft.com/office/powerpoint/2010/main" Requires="p14">
          <p:contentPart p14:bwMode="auto" r:id="rId4">
            <p14:nvContentPartPr>
              <p14:cNvPr id="2" name="墨迹 1">
                <a:extLst>
                  <a:ext uri="{FF2B5EF4-FFF2-40B4-BE49-F238E27FC236}">
                    <a16:creationId xmlns:a16="http://schemas.microsoft.com/office/drawing/2014/main" id="{7236DF1C-162E-EC7F-23B6-81EA2515125E}"/>
                  </a:ext>
                </a:extLst>
              </p14:cNvPr>
              <p14:cNvContentPartPr/>
              <p14:nvPr/>
            </p14:nvContentPartPr>
            <p14:xfrm>
              <a:off x="835312" y="2899533"/>
              <a:ext cx="3378240" cy="129600"/>
            </p14:xfrm>
          </p:contentPart>
        </mc:Choice>
        <mc:Fallback>
          <p:pic>
            <p:nvPicPr>
              <p:cNvPr id="2" name="墨迹 1">
                <a:extLst>
                  <a:ext uri="{FF2B5EF4-FFF2-40B4-BE49-F238E27FC236}">
                    <a16:creationId xmlns:a16="http://schemas.microsoft.com/office/drawing/2014/main" id="{7236DF1C-162E-EC7F-23B6-81EA2515125E}"/>
                  </a:ext>
                </a:extLst>
              </p:cNvPr>
              <p:cNvPicPr/>
              <p:nvPr/>
            </p:nvPicPr>
            <p:blipFill>
              <a:blip r:embed="rId5"/>
              <a:stretch>
                <a:fillRect/>
              </a:stretch>
            </p:blipFill>
            <p:spPr>
              <a:xfrm>
                <a:off x="781672" y="2791893"/>
                <a:ext cx="3485880" cy="345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墨迹 2">
                <a:extLst>
                  <a:ext uri="{FF2B5EF4-FFF2-40B4-BE49-F238E27FC236}">
                    <a16:creationId xmlns:a16="http://schemas.microsoft.com/office/drawing/2014/main" id="{3670F0CC-700E-2678-7AD0-D8189AACFAF8}"/>
                  </a:ext>
                </a:extLst>
              </p14:cNvPr>
              <p14:cNvContentPartPr/>
              <p14:nvPr/>
            </p14:nvContentPartPr>
            <p14:xfrm>
              <a:off x="3077032" y="3390933"/>
              <a:ext cx="5517360" cy="70200"/>
            </p14:xfrm>
          </p:contentPart>
        </mc:Choice>
        <mc:Fallback>
          <p:pic>
            <p:nvPicPr>
              <p:cNvPr id="3" name="墨迹 2">
                <a:extLst>
                  <a:ext uri="{FF2B5EF4-FFF2-40B4-BE49-F238E27FC236}">
                    <a16:creationId xmlns:a16="http://schemas.microsoft.com/office/drawing/2014/main" id="{3670F0CC-700E-2678-7AD0-D8189AACFAF8}"/>
                  </a:ext>
                </a:extLst>
              </p:cNvPr>
              <p:cNvPicPr/>
              <p:nvPr/>
            </p:nvPicPr>
            <p:blipFill>
              <a:blip r:embed="rId7"/>
              <a:stretch>
                <a:fillRect/>
              </a:stretch>
            </p:blipFill>
            <p:spPr>
              <a:xfrm>
                <a:off x="3023392" y="3283293"/>
                <a:ext cx="562500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墨迹 3">
                <a:extLst>
                  <a:ext uri="{FF2B5EF4-FFF2-40B4-BE49-F238E27FC236}">
                    <a16:creationId xmlns:a16="http://schemas.microsoft.com/office/drawing/2014/main" id="{F6580428-551C-2613-E3BF-454DE8C282AA}"/>
                  </a:ext>
                </a:extLst>
              </p14:cNvPr>
              <p14:cNvContentPartPr/>
              <p14:nvPr/>
            </p14:nvContentPartPr>
            <p14:xfrm>
              <a:off x="618952" y="3980613"/>
              <a:ext cx="7414200" cy="159840"/>
            </p14:xfrm>
          </p:contentPart>
        </mc:Choice>
        <mc:Fallback>
          <p:pic>
            <p:nvPicPr>
              <p:cNvPr id="4" name="墨迹 3">
                <a:extLst>
                  <a:ext uri="{FF2B5EF4-FFF2-40B4-BE49-F238E27FC236}">
                    <a16:creationId xmlns:a16="http://schemas.microsoft.com/office/drawing/2014/main" id="{F6580428-551C-2613-E3BF-454DE8C282AA}"/>
                  </a:ext>
                </a:extLst>
              </p:cNvPr>
              <p:cNvPicPr/>
              <p:nvPr/>
            </p:nvPicPr>
            <p:blipFill>
              <a:blip r:embed="rId9"/>
              <a:stretch>
                <a:fillRect/>
              </a:stretch>
            </p:blipFill>
            <p:spPr>
              <a:xfrm>
                <a:off x="564952" y="3872973"/>
                <a:ext cx="7521840" cy="375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墨迹 4">
                <a:extLst>
                  <a:ext uri="{FF2B5EF4-FFF2-40B4-BE49-F238E27FC236}">
                    <a16:creationId xmlns:a16="http://schemas.microsoft.com/office/drawing/2014/main" id="{170F2AE8-3442-51EE-B6CE-934CCE9EDA67}"/>
                  </a:ext>
                </a:extLst>
              </p14:cNvPr>
              <p14:cNvContentPartPr/>
              <p14:nvPr/>
            </p14:nvContentPartPr>
            <p14:xfrm>
              <a:off x="2162632" y="4650213"/>
              <a:ext cx="799560" cy="46440"/>
            </p14:xfrm>
          </p:contentPart>
        </mc:Choice>
        <mc:Fallback>
          <p:pic>
            <p:nvPicPr>
              <p:cNvPr id="5" name="墨迹 4">
                <a:extLst>
                  <a:ext uri="{FF2B5EF4-FFF2-40B4-BE49-F238E27FC236}">
                    <a16:creationId xmlns:a16="http://schemas.microsoft.com/office/drawing/2014/main" id="{170F2AE8-3442-51EE-B6CE-934CCE9EDA67}"/>
                  </a:ext>
                </a:extLst>
              </p:cNvPr>
              <p:cNvPicPr/>
              <p:nvPr/>
            </p:nvPicPr>
            <p:blipFill>
              <a:blip r:embed="rId11"/>
              <a:stretch>
                <a:fillRect/>
              </a:stretch>
            </p:blipFill>
            <p:spPr>
              <a:xfrm>
                <a:off x="2108632" y="4542213"/>
                <a:ext cx="907200" cy="262080"/>
              </a:xfrm>
              <a:prstGeom prst="rect">
                <a:avLst/>
              </a:prstGeom>
            </p:spPr>
          </p:pic>
        </mc:Fallback>
      </mc:AlternateContent>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p:cNvSpPr>
            <a:spLocks noGrp="1"/>
          </p:cNvSpPr>
          <p:nvPr>
            <p:ph idx="1"/>
          </p:nvPr>
        </p:nvSpPr>
        <p:spPr>
          <a:xfrm>
            <a:off x="685800" y="1916113"/>
            <a:ext cx="7199313" cy="4179887"/>
          </a:xfrm>
        </p:spPr>
        <p:txBody>
          <a:bodyPr vert="horz" wrap="square" lIns="91440" tIns="45720" rIns="91440" bIns="45720" anchor="t" anchorCtr="0"/>
          <a:lstStyle/>
          <a:p>
            <a:pPr eaLnBrk="1" hangingPunct="1">
              <a:buNone/>
            </a:pPr>
            <a:r>
              <a:rPr lang="zh-CN" altLang="en-US" sz="2400" dirty="0">
                <a:latin typeface="黑体" panose="02010609060101010101" pitchFamily="49" charset="-122"/>
                <a:ea typeface="黑体" panose="02010609060101010101" pitchFamily="49" charset="-122"/>
              </a:rPr>
              <a:t>式中</a:t>
            </a:r>
            <a:endParaRPr lang="en-US" altLang="zh-CN" sz="2400" dirty="0">
              <a:latin typeface="黑体" panose="02010609060101010101" pitchFamily="49" charset="-122"/>
              <a:ea typeface="黑体" panose="02010609060101010101" pitchFamily="49" charset="-122"/>
            </a:endParaRPr>
          </a:p>
          <a:p>
            <a:pPr eaLnBrk="1" hangingPunct="1">
              <a:buNone/>
            </a:pPr>
            <a:endParaRPr lang="en-US" altLang="zh-CN" sz="2400" dirty="0"/>
          </a:p>
          <a:p>
            <a:pPr eaLnBrk="1" hangingPunct="1">
              <a:buNone/>
            </a:pPr>
            <a:endParaRPr lang="en-US" altLang="zh-CN" sz="2400" dirty="0"/>
          </a:p>
          <a:p>
            <a:pPr eaLnBrk="1" hangingPunct="1">
              <a:buNone/>
            </a:pPr>
            <a:endParaRPr lang="en-US" altLang="zh-CN" sz="2400" dirty="0"/>
          </a:p>
          <a:p>
            <a:pPr eaLnBrk="1" hangingPunct="1">
              <a:buNone/>
            </a:pPr>
            <a:endParaRPr lang="en-US" altLang="zh-CN" sz="2400" dirty="0"/>
          </a:p>
          <a:p>
            <a:pPr eaLnBrk="1" hangingPunct="1">
              <a:buNone/>
            </a:pPr>
            <a:endParaRPr lang="en-US" altLang="zh-CN" sz="2400" dirty="0"/>
          </a:p>
          <a:p>
            <a:pPr eaLnBrk="1" hangingPunct="1">
              <a:buNone/>
            </a:pPr>
            <a:endParaRPr lang="en-US" altLang="zh-CN" sz="2400" dirty="0"/>
          </a:p>
          <a:p>
            <a:pPr eaLnBrk="1" hangingPunct="1">
              <a:buNone/>
            </a:pPr>
            <a:endParaRPr lang="en-US" altLang="zh-CN" sz="2400" dirty="0">
              <a:solidFill>
                <a:srgbClr val="000000"/>
              </a:solidFill>
              <a:latin typeface="Times New Roman" panose="02020603050405020304" pitchFamily="18" charset="0"/>
            </a:endParaRPr>
          </a:p>
          <a:p>
            <a:pPr eaLnBrk="1" hangingPunct="1">
              <a:buNone/>
            </a:pPr>
            <a:r>
              <a:rPr lang="zh-CN" altLang="en-US" sz="2400" dirty="0">
                <a:latin typeface="黑体" panose="02010609060101010101" pitchFamily="49" charset="-122"/>
                <a:ea typeface="黑体" panose="02010609060101010101" pitchFamily="49" charset="-122"/>
              </a:rPr>
              <a:t>也可将（</a:t>
            </a:r>
            <a:r>
              <a:rPr lang="en-US" altLang="zh-CN" sz="2400" dirty="0">
                <a:latin typeface="黑体" panose="02010609060101010101" pitchFamily="49" charset="-122"/>
                <a:ea typeface="黑体" panose="02010609060101010101" pitchFamily="49" charset="-122"/>
              </a:rPr>
              <a:t>1.6-5</a:t>
            </a:r>
            <a:r>
              <a:rPr lang="zh-CN" altLang="en-US" sz="2400" dirty="0">
                <a:latin typeface="黑体" panose="02010609060101010101" pitchFamily="49" charset="-122"/>
                <a:ea typeface="黑体" panose="02010609060101010101" pitchFamily="49" charset="-122"/>
              </a:rPr>
              <a:t>）写为如下形式</a:t>
            </a:r>
          </a:p>
          <a:p>
            <a:pPr eaLnBrk="1" hangingPunct="1">
              <a:buNone/>
            </a:pPr>
            <a:endParaRPr lang="zh-CN" altLang="en-US" sz="2400" dirty="0"/>
          </a:p>
        </p:txBody>
      </p:sp>
      <p:graphicFrame>
        <p:nvGraphicFramePr>
          <p:cNvPr id="41986" name="Object 4"/>
          <p:cNvGraphicFramePr>
            <a:graphicFrameLocks noChangeAspect="1"/>
          </p:cNvGraphicFramePr>
          <p:nvPr/>
        </p:nvGraphicFramePr>
        <p:xfrm>
          <a:off x="2484438" y="2047875"/>
          <a:ext cx="2965450" cy="3297238"/>
        </p:xfrm>
        <a:graphic>
          <a:graphicData uri="http://schemas.openxmlformats.org/presentationml/2006/ole">
            <mc:AlternateContent xmlns:mc="http://schemas.openxmlformats.org/markup-compatibility/2006">
              <mc:Choice xmlns:v="urn:schemas-microsoft-com:vml" Requires="v">
                <p:oleObj r:id="rId2" imgW="1168400" imgH="1790700" progId="Equation.DSMT4">
                  <p:embed/>
                </p:oleObj>
              </mc:Choice>
              <mc:Fallback>
                <p:oleObj r:id="rId2" imgW="1168400" imgH="1790700" progId="Equation.DSMT4">
                  <p:embed/>
                  <p:pic>
                    <p:nvPicPr>
                      <p:cNvPr id="0" name="图片 3078"/>
                      <p:cNvPicPr/>
                      <p:nvPr/>
                    </p:nvPicPr>
                    <p:blipFill>
                      <a:blip r:embed="rId3"/>
                      <a:stretch>
                        <a:fillRect/>
                      </a:stretch>
                    </p:blipFill>
                    <p:spPr>
                      <a:xfrm>
                        <a:off x="2484438" y="2047875"/>
                        <a:ext cx="2965450" cy="3297238"/>
                      </a:xfrm>
                      <a:prstGeom prst="rect">
                        <a:avLst/>
                      </a:prstGeom>
                      <a:noFill/>
                      <a:ln w="38100">
                        <a:noFill/>
                        <a:miter/>
                      </a:ln>
                    </p:spPr>
                  </p:pic>
                </p:oleObj>
              </mc:Fallback>
            </mc:AlternateContent>
          </a:graphicData>
        </a:graphic>
      </p:graphicFrame>
      <p:sp>
        <p:nvSpPr>
          <p:cNvPr id="41987" name="Text Box 8"/>
          <p:cNvSpPr txBox="1"/>
          <p:nvPr/>
        </p:nvSpPr>
        <p:spPr>
          <a:xfrm>
            <a:off x="5622925" y="2073275"/>
            <a:ext cx="184150" cy="641350"/>
          </a:xfrm>
          <a:prstGeom prst="rect">
            <a:avLst/>
          </a:prstGeom>
          <a:noFill/>
          <a:ln w="9525">
            <a:noFill/>
          </a:ln>
        </p:spPr>
        <p:txBody>
          <a:bodyPr wrap="none" anchor="t" anchorCtr="0">
            <a:spAutoFit/>
          </a:bodyPr>
          <a:lstStyle/>
          <a:p>
            <a:pPr>
              <a:buClrTx/>
              <a:buFontTx/>
            </a:pPr>
            <a:endParaRPr lang="zh-CN" altLang="en-US" sz="3600" b="0" dirty="0">
              <a:solidFill>
                <a:srgbClr val="000000"/>
              </a:solidFill>
              <a:latin typeface="Times New Roman" panose="02020603050405020304" pitchFamily="18" charset="0"/>
            </a:endParaRPr>
          </a:p>
        </p:txBody>
      </p:sp>
      <p:sp>
        <p:nvSpPr>
          <p:cNvPr id="41988" name="Text Box 9"/>
          <p:cNvSpPr txBox="1"/>
          <p:nvPr/>
        </p:nvSpPr>
        <p:spPr>
          <a:xfrm>
            <a:off x="6011863" y="3429000"/>
            <a:ext cx="1581150" cy="461963"/>
          </a:xfrm>
          <a:prstGeom prst="rect">
            <a:avLst/>
          </a:prstGeom>
          <a:noFill/>
          <a:ln w="9525">
            <a:noFill/>
          </a:ln>
        </p:spPr>
        <p:txBody>
          <a:bodyPr wrap="none" anchor="t" anchorCtr="0">
            <a:spAutoFit/>
          </a:bodyPr>
          <a:lstStyle/>
          <a:p>
            <a:pPr>
              <a:buClrTx/>
              <a:buFontTx/>
            </a:pPr>
            <a:r>
              <a:rPr lang="zh-CN" altLang="en-US" b="0" dirty="0">
                <a:latin typeface="黑体" panose="02010609060101010101" pitchFamily="49" charset="-122"/>
                <a:ea typeface="黑体" panose="02010609060101010101" pitchFamily="49" charset="-122"/>
              </a:rPr>
              <a:t>（</a:t>
            </a:r>
            <a:r>
              <a:rPr lang="en-US" altLang="zh-CN" b="0" dirty="0">
                <a:latin typeface="黑体" panose="02010609060101010101" pitchFamily="49" charset="-122"/>
                <a:ea typeface="黑体" panose="02010609060101010101" pitchFamily="49" charset="-122"/>
              </a:rPr>
              <a:t>1.6-6</a:t>
            </a:r>
            <a:r>
              <a:rPr lang="zh-CN" altLang="en-US" b="0" dirty="0">
                <a:latin typeface="黑体" panose="02010609060101010101" pitchFamily="49" charset="-122"/>
                <a:ea typeface="黑体" panose="02010609060101010101" pitchFamily="49" charset="-122"/>
              </a:rPr>
              <a:t>）</a:t>
            </a:r>
          </a:p>
        </p:txBody>
      </p:sp>
      <p:sp>
        <p:nvSpPr>
          <p:cNvPr id="41989" name="Rectangle 2"/>
          <p:cNvSpPr>
            <a:spLocks noGrp="1"/>
          </p:cNvSpPr>
          <p:nvPr>
            <p:ph type="title"/>
          </p:nvPr>
        </p:nvSpPr>
        <p:spPr>
          <a:xfrm>
            <a:off x="490538" y="908050"/>
            <a:ext cx="8653462" cy="769938"/>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5</a:t>
            </a:r>
            <a:r>
              <a:rPr lang="zh-CN" altLang="en-US" dirty="0">
                <a:latin typeface="华文新魏" panose="02010800040101010101" pitchFamily="2" charset="-122"/>
                <a:ea typeface="华文新魏" panose="02010800040101010101" pitchFamily="2" charset="-122"/>
              </a:rPr>
              <a:t>  回旋共振</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09" name="Object 3"/>
          <p:cNvGraphicFramePr>
            <a:graphicFrameLocks noGrp="1" noChangeAspect="1"/>
          </p:cNvGraphicFramePr>
          <p:nvPr>
            <p:ph idx="1"/>
          </p:nvPr>
        </p:nvGraphicFramePr>
        <p:xfrm>
          <a:off x="1042988" y="1844675"/>
          <a:ext cx="5754687" cy="1439863"/>
        </p:xfrm>
        <a:graphic>
          <a:graphicData uri="http://schemas.openxmlformats.org/presentationml/2006/ole">
            <mc:AlternateContent xmlns:mc="http://schemas.openxmlformats.org/markup-compatibility/2006">
              <mc:Choice xmlns:v="urn:schemas-microsoft-com:vml" Requires="v">
                <p:oleObj r:id="rId2" imgW="3390900" imgH="876300" progId="Equation.3">
                  <p:embed/>
                </p:oleObj>
              </mc:Choice>
              <mc:Fallback>
                <p:oleObj r:id="rId2" imgW="3390900" imgH="876300" progId="Equation.3">
                  <p:embed/>
                  <p:pic>
                    <p:nvPicPr>
                      <p:cNvPr id="0" name="图片 3075"/>
                      <p:cNvPicPr/>
                      <p:nvPr/>
                    </p:nvPicPr>
                    <p:blipFill>
                      <a:blip r:embed="rId3"/>
                      <a:stretch>
                        <a:fillRect/>
                      </a:stretch>
                    </p:blipFill>
                    <p:spPr>
                      <a:xfrm>
                        <a:off x="1042988" y="1844675"/>
                        <a:ext cx="5754687" cy="1439863"/>
                      </a:xfrm>
                      <a:prstGeom prst="rect">
                        <a:avLst/>
                      </a:prstGeom>
                      <a:noFill/>
                      <a:ln w="38100">
                        <a:miter/>
                      </a:ln>
                    </p:spPr>
                  </p:pic>
                </p:oleObj>
              </mc:Fallback>
            </mc:AlternateContent>
          </a:graphicData>
        </a:graphic>
      </p:graphicFrame>
      <p:sp>
        <p:nvSpPr>
          <p:cNvPr id="43010" name="Text Box 4"/>
          <p:cNvSpPr txBox="1"/>
          <p:nvPr/>
        </p:nvSpPr>
        <p:spPr>
          <a:xfrm>
            <a:off x="7308850" y="2133600"/>
            <a:ext cx="1444625" cy="461963"/>
          </a:xfrm>
          <a:prstGeom prst="rect">
            <a:avLst/>
          </a:prstGeom>
          <a:noFill/>
          <a:ln w="9525">
            <a:noFill/>
          </a:ln>
        </p:spPr>
        <p:txBody>
          <a:bodyPr wrap="none" anchor="t" anchorCtr="0">
            <a:spAutoFit/>
          </a:bodyPr>
          <a:lstStyle/>
          <a:p>
            <a:pPr>
              <a:buClrTx/>
              <a:buFontTx/>
            </a:pPr>
            <a:r>
              <a:rPr lang="zh-CN" altLang="en-US" b="0" dirty="0">
                <a:solidFill>
                  <a:srgbClr val="000000"/>
                </a:solidFill>
                <a:latin typeface="Times New Roman" panose="02020603050405020304" pitchFamily="18" charset="0"/>
              </a:rPr>
              <a:t>（</a:t>
            </a:r>
            <a:r>
              <a:rPr lang="en-US" altLang="zh-CN" b="0" dirty="0">
                <a:solidFill>
                  <a:srgbClr val="000000"/>
                </a:solidFill>
                <a:latin typeface="Times New Roman" panose="02020603050405020304" pitchFamily="18" charset="0"/>
              </a:rPr>
              <a:t>1.6-7</a:t>
            </a:r>
            <a:r>
              <a:rPr lang="zh-CN" altLang="en-US" b="0" dirty="0">
                <a:solidFill>
                  <a:srgbClr val="000000"/>
                </a:solidFill>
                <a:latin typeface="Times New Roman" panose="02020603050405020304" pitchFamily="18" charset="0"/>
              </a:rPr>
              <a:t>）</a:t>
            </a:r>
          </a:p>
        </p:txBody>
      </p:sp>
      <p:sp>
        <p:nvSpPr>
          <p:cNvPr id="41988" name="Text Box 5"/>
          <p:cNvSpPr txBox="1">
            <a:spLocks noChangeArrowheads="1"/>
          </p:cNvSpPr>
          <p:nvPr/>
        </p:nvSpPr>
        <p:spPr bwMode="auto">
          <a:xfrm>
            <a:off x="395288" y="3357563"/>
            <a:ext cx="4032250"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Verdana" panose="020B0604030504040204" pitchFamily="34" charset="0"/>
                <a:ea typeface="宋体" panose="02010600030101010101" pitchFamily="2" charset="-122"/>
              </a:defRPr>
            </a:lvl1pPr>
            <a:lvl2pPr marL="742950" indent="-285750" eaLnBrk="0" hangingPunct="0">
              <a:defRPr kumimoji="1" sz="2400" b="1">
                <a:solidFill>
                  <a:schemeClr val="tx1"/>
                </a:solidFill>
                <a:latin typeface="Verdana" panose="020B0604030504040204" pitchFamily="34" charset="0"/>
                <a:ea typeface="宋体" panose="02010600030101010101" pitchFamily="2" charset="-122"/>
              </a:defRPr>
            </a:lvl2pPr>
            <a:lvl3pPr marL="1143000" indent="-228600" eaLnBrk="0" hangingPunct="0">
              <a:defRPr kumimoji="1" sz="2400" b="1">
                <a:solidFill>
                  <a:schemeClr val="tx1"/>
                </a:solidFill>
                <a:latin typeface="Verdana" panose="020B0604030504040204" pitchFamily="34" charset="0"/>
                <a:ea typeface="宋体" panose="02010600030101010101" pitchFamily="2" charset="-122"/>
              </a:defRPr>
            </a:lvl3pPr>
            <a:lvl4pPr marL="1600200" indent="-228600" eaLnBrk="0" hangingPunct="0">
              <a:defRPr kumimoji="1" sz="2400" b="1">
                <a:solidFill>
                  <a:schemeClr val="tx1"/>
                </a:solidFill>
                <a:latin typeface="Verdana" panose="020B0604030504040204" pitchFamily="34" charset="0"/>
                <a:ea typeface="宋体" panose="02010600030101010101" pitchFamily="2" charset="-122"/>
              </a:defRPr>
            </a:lvl4pPr>
            <a:lvl5pPr marL="2057400" indent="-228600" eaLnBrk="0" hangingPunct="0">
              <a:defRPr kumimoji="1" sz="24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rgbClr val="000000"/>
                </a:solidFill>
                <a:effectLst/>
                <a:uLnTx/>
                <a:uFillTx/>
                <a:latin typeface="+mn-ea"/>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式中</a:t>
            </a:r>
            <a:r>
              <a:rPr kumimoji="1" lang="en-US" altLang="zh-CN" sz="2400" b="0" i="0" u="none" strike="noStrike" kern="1200" cap="none" spc="0" normalizeH="0" baseline="0" noProof="0" dirty="0" err="1">
                <a:ln>
                  <a:noFill/>
                </a:ln>
                <a:solidFill>
                  <a:srgbClr val="000000"/>
                </a:solidFill>
                <a:effectLst/>
                <a:uLnTx/>
                <a:uFillTx/>
                <a:latin typeface="+mn-ea"/>
                <a:ea typeface="+mn-ea"/>
                <a:cs typeface="+mn-cs"/>
              </a:rPr>
              <a:t>E</a:t>
            </a:r>
            <a:r>
              <a:rPr kumimoji="1" lang="en-US" altLang="zh-CN" sz="2400" b="0" i="0" u="none" strike="noStrike" kern="1200" cap="none" spc="0" normalizeH="0" baseline="-25000" noProof="0" dirty="0" err="1">
                <a:ln>
                  <a:noFill/>
                </a:ln>
                <a:solidFill>
                  <a:srgbClr val="000000"/>
                </a:solidFill>
                <a:effectLst/>
                <a:uLnTx/>
                <a:uFillTx/>
                <a:latin typeface="+mn-ea"/>
                <a:ea typeface="+mn-ea"/>
                <a:cs typeface="+mn-cs"/>
              </a:rPr>
              <a:t>c</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表示</a:t>
            </a:r>
            <a:r>
              <a:rPr kumimoji="1" lang="en-US" altLang="zh-CN" sz="2400" b="0" i="0" u="none" strike="noStrike" kern="1200" cap="none" spc="0" normalizeH="0" baseline="0" noProof="0" dirty="0">
                <a:ln>
                  <a:noFill/>
                </a:ln>
                <a:solidFill>
                  <a:srgbClr val="000000"/>
                </a:solidFill>
                <a:effectLst/>
                <a:uLnTx/>
                <a:uFillTx/>
                <a:latin typeface="+mn-ea"/>
                <a:ea typeface="+mn-ea"/>
                <a:cs typeface="+mn-cs"/>
              </a:rPr>
              <a:t>E(</a:t>
            </a:r>
            <a:r>
              <a:rPr kumimoji="1" lang="en-US" altLang="zh-CN" sz="2400" b="0" i="1" u="none" strike="noStrike" kern="1200" cap="none" spc="0" normalizeH="0" baseline="0" noProof="0" dirty="0">
                <a:ln>
                  <a:noFill/>
                </a:ln>
                <a:solidFill>
                  <a:srgbClr val="000000"/>
                </a:solidFill>
                <a:effectLst/>
                <a:uLnTx/>
                <a:uFillTx/>
                <a:latin typeface="+mn-ea"/>
                <a:ea typeface="+mn-ea"/>
                <a:cs typeface="+mn-cs"/>
              </a:rPr>
              <a:t>k</a:t>
            </a:r>
            <a:r>
              <a:rPr kumimoji="1" lang="en-US" altLang="zh-CN" sz="2400" b="0" i="1" u="none" strike="noStrike" kern="1200" cap="none" spc="0" normalizeH="0" baseline="-25000" noProof="0" dirty="0">
                <a:ln>
                  <a:noFill/>
                </a:ln>
                <a:solidFill>
                  <a:srgbClr val="000000"/>
                </a:solidFill>
                <a:effectLst/>
                <a:uLnTx/>
                <a:uFillTx/>
                <a:latin typeface="+mn-ea"/>
                <a:ea typeface="+mn-ea"/>
                <a:cs typeface="+mn-cs"/>
              </a:rPr>
              <a:t>0</a:t>
            </a:r>
            <a:r>
              <a:rPr kumimoji="1" lang="en-US" altLang="zh-CN" sz="2400" b="0" i="0" u="none" strike="noStrike" kern="1200" cap="none" spc="0" normalizeH="0" baseline="0" noProof="0" dirty="0">
                <a:ln>
                  <a:noFill/>
                </a:ln>
                <a:solidFill>
                  <a:srgbClr val="000000"/>
                </a:solidFill>
                <a:effectLst/>
                <a:uLnTx/>
                <a:uFillTx/>
                <a:latin typeface="+mn-ea"/>
                <a:ea typeface="+mn-ea"/>
                <a:cs typeface="+mn-cs"/>
              </a:rPr>
              <a:t>)</a:t>
            </a:r>
          </a:p>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这是一个椭球方程，各项的</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分母等于椭球各半轴长的平</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方，这种情况下的等能面是</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环绕</a:t>
            </a:r>
            <a:r>
              <a:rPr kumimoji="1" lang="en-US" altLang="zh-CN" sz="2400" b="0" i="1" u="none" strike="noStrike" kern="1200" cap="none" spc="0" normalizeH="0" baseline="0" noProof="0" dirty="0">
                <a:ln>
                  <a:noFill/>
                </a:ln>
                <a:solidFill>
                  <a:srgbClr val="000000"/>
                </a:solidFill>
                <a:effectLst/>
                <a:uLnTx/>
                <a:uFillTx/>
                <a:latin typeface="+mn-ea"/>
                <a:ea typeface="+mn-ea"/>
                <a:cs typeface="+mn-cs"/>
              </a:rPr>
              <a:t>k</a:t>
            </a:r>
            <a:r>
              <a:rPr kumimoji="1" lang="en-US" altLang="zh-CN" sz="2400" b="0" i="1" u="none" strike="noStrike" kern="1200" cap="none" spc="0" normalizeH="0" baseline="-25000" noProof="0" dirty="0">
                <a:ln>
                  <a:noFill/>
                </a:ln>
                <a:solidFill>
                  <a:srgbClr val="000000"/>
                </a:solidFill>
                <a:effectLst/>
                <a:uLnTx/>
                <a:uFillTx/>
                <a:latin typeface="+mn-ea"/>
                <a:ea typeface="+mn-ea"/>
                <a:cs typeface="+mn-cs"/>
              </a:rPr>
              <a:t>0</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的一系列椭球面。如</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图，为等能面在</a:t>
            </a:r>
            <a:r>
              <a:rPr kumimoji="1" lang="en-US" altLang="zh-CN" sz="2400" b="0" i="1" u="none" strike="noStrike" kern="1200" cap="none" spc="0" normalizeH="0" baseline="0" noProof="0" dirty="0" err="1">
                <a:ln>
                  <a:noFill/>
                </a:ln>
                <a:solidFill>
                  <a:srgbClr val="000000"/>
                </a:solidFill>
                <a:effectLst/>
                <a:uLnTx/>
                <a:uFillTx/>
                <a:latin typeface="+mn-ea"/>
                <a:ea typeface="+mn-ea"/>
                <a:cs typeface="+mn-cs"/>
              </a:rPr>
              <a:t>k</a:t>
            </a:r>
            <a:r>
              <a:rPr kumimoji="1" lang="en-US" altLang="zh-CN" sz="2400" b="0" i="1" u="none" strike="noStrike" kern="1200" cap="none" spc="0" normalizeH="0" baseline="-25000" noProof="0" dirty="0" err="1">
                <a:ln>
                  <a:noFill/>
                </a:ln>
                <a:solidFill>
                  <a:srgbClr val="000000"/>
                </a:solidFill>
                <a:effectLst/>
                <a:uLnTx/>
                <a:uFillTx/>
                <a:latin typeface="+mn-ea"/>
                <a:ea typeface="+mn-ea"/>
                <a:cs typeface="+mn-cs"/>
              </a:rPr>
              <a:t>y</a:t>
            </a:r>
            <a:r>
              <a:rPr kumimoji="1" lang="en-US" altLang="zh-CN" sz="2400" b="0" i="1" u="none" strike="noStrike" kern="1200" cap="none" spc="0" normalizeH="0" baseline="0" noProof="0" dirty="0" err="1">
                <a:ln>
                  <a:noFill/>
                </a:ln>
                <a:solidFill>
                  <a:srgbClr val="000000"/>
                </a:solidFill>
                <a:effectLst/>
                <a:uLnTx/>
                <a:uFillTx/>
                <a:latin typeface="+mn-ea"/>
                <a:ea typeface="+mn-ea"/>
                <a:cs typeface="+mn-cs"/>
              </a:rPr>
              <a:t>k</a:t>
            </a:r>
            <a:r>
              <a:rPr kumimoji="1" lang="en-US" altLang="zh-CN" sz="2400" b="0" i="1" u="none" strike="noStrike" kern="1200" cap="none" spc="0" normalizeH="0" baseline="-25000" noProof="0" dirty="0" err="1">
                <a:ln>
                  <a:noFill/>
                </a:ln>
                <a:solidFill>
                  <a:srgbClr val="000000"/>
                </a:solidFill>
                <a:effectLst/>
                <a:uLnTx/>
                <a:uFillTx/>
                <a:latin typeface="+mn-ea"/>
                <a:ea typeface="+mn-ea"/>
                <a:cs typeface="+mn-cs"/>
              </a:rPr>
              <a:t>z</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平面上</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的截面图，它是一系列椭</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圆。</a:t>
            </a: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rgbClr val="000000"/>
              </a:solidFill>
              <a:effectLst/>
              <a:uLnTx/>
              <a:uFillTx/>
              <a:latin typeface="+mn-ea"/>
              <a:ea typeface="+mn-ea"/>
              <a:cs typeface="+mn-cs"/>
            </a:endParaRPr>
          </a:p>
        </p:txBody>
      </p:sp>
      <p:pic>
        <p:nvPicPr>
          <p:cNvPr id="43012" name="Picture 4"/>
          <p:cNvPicPr>
            <a:picLocks noChangeAspect="1"/>
          </p:cNvPicPr>
          <p:nvPr/>
        </p:nvPicPr>
        <p:blipFill>
          <a:blip r:embed="rId4"/>
          <a:stretch>
            <a:fillRect/>
          </a:stretch>
        </p:blipFill>
        <p:spPr>
          <a:xfrm>
            <a:off x="4427538" y="3276600"/>
            <a:ext cx="4540250" cy="3208338"/>
          </a:xfrm>
          <a:prstGeom prst="rect">
            <a:avLst/>
          </a:prstGeom>
          <a:noFill/>
          <a:ln w="9525">
            <a:noFill/>
          </a:ln>
        </p:spPr>
      </p:pic>
      <p:sp>
        <p:nvSpPr>
          <p:cNvPr id="43013" name="Rectangle 2"/>
          <p:cNvSpPr>
            <a:spLocks noGrp="1"/>
          </p:cNvSpPr>
          <p:nvPr>
            <p:ph type="title"/>
          </p:nvPr>
        </p:nvSpPr>
        <p:spPr>
          <a:xfrm>
            <a:off x="490538" y="908050"/>
            <a:ext cx="8653462" cy="769938"/>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5</a:t>
            </a:r>
            <a:r>
              <a:rPr lang="zh-CN" altLang="en-US" dirty="0">
                <a:latin typeface="华文新魏" panose="02010800040101010101" pitchFamily="2" charset="-122"/>
                <a:ea typeface="华文新魏" panose="02010800040101010101" pitchFamily="2" charset="-122"/>
              </a:rPr>
              <a:t>  回旋共振</a:t>
            </a:r>
          </a:p>
        </p:txBody>
      </p:sp>
      <mc:AlternateContent xmlns:mc="http://schemas.openxmlformats.org/markup-compatibility/2006">
        <mc:Choice xmlns:p14="http://schemas.microsoft.com/office/powerpoint/2010/main" Requires="p14">
          <p:contentPart p14:bwMode="auto" r:id="rId5">
            <p14:nvContentPartPr>
              <p14:cNvPr id="2" name="墨迹 1">
                <a:extLst>
                  <a:ext uri="{FF2B5EF4-FFF2-40B4-BE49-F238E27FC236}">
                    <a16:creationId xmlns:a16="http://schemas.microsoft.com/office/drawing/2014/main" id="{C0106333-5D7E-87C2-DB86-3D3E8501C7A6}"/>
                  </a:ext>
                </a:extLst>
              </p14:cNvPr>
              <p14:cNvContentPartPr/>
              <p14:nvPr/>
            </p14:nvContentPartPr>
            <p14:xfrm>
              <a:off x="580072" y="3901413"/>
              <a:ext cx="3591000" cy="101160"/>
            </p14:xfrm>
          </p:contentPart>
        </mc:Choice>
        <mc:Fallback>
          <p:pic>
            <p:nvPicPr>
              <p:cNvPr id="2" name="墨迹 1">
                <a:extLst>
                  <a:ext uri="{FF2B5EF4-FFF2-40B4-BE49-F238E27FC236}">
                    <a16:creationId xmlns:a16="http://schemas.microsoft.com/office/drawing/2014/main" id="{C0106333-5D7E-87C2-DB86-3D3E8501C7A6}"/>
                  </a:ext>
                </a:extLst>
              </p:cNvPr>
              <p:cNvPicPr/>
              <p:nvPr/>
            </p:nvPicPr>
            <p:blipFill>
              <a:blip r:embed="rId6"/>
              <a:stretch>
                <a:fillRect/>
              </a:stretch>
            </p:blipFill>
            <p:spPr>
              <a:xfrm>
                <a:off x="526072" y="3793413"/>
                <a:ext cx="3698640" cy="316800"/>
              </a:xfrm>
              <a:prstGeom prst="rect">
                <a:avLst/>
              </a:prstGeom>
            </p:spPr>
          </p:pic>
        </mc:Fallback>
      </mc:AlternateContent>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3"/>
          <p:cNvSpPr>
            <a:spLocks noGrp="1" noChangeArrowheads="1"/>
          </p:cNvSpPr>
          <p:nvPr>
            <p:ph idx="1"/>
          </p:nvPr>
        </p:nvSpPr>
        <p:spPr>
          <a:xfrm>
            <a:off x="539750" y="1905000"/>
            <a:ext cx="7848600" cy="4837113"/>
          </a:xfrm>
        </p:spPr>
        <p:txBody>
          <a:bodyPr vert="horz" wrap="square" lIns="91440" tIns="45720" rIns="91440" bIns="45720" numCol="1" anchor="t" anchorCtr="0" compatLnSpc="1"/>
          <a:lstStyle/>
          <a:p>
            <a:pPr marL="101600" marR="0" lvl="0" indent="-101600" algn="l" defTabSz="914400" rtl="0" eaLnBrk="1" fontAlgn="base" latinLnBrk="0" hangingPunct="1">
              <a:lnSpc>
                <a:spcPct val="90000"/>
              </a:lnSpc>
              <a:spcBef>
                <a:spcPct val="0"/>
              </a:spcBef>
              <a:spcAft>
                <a:spcPct val="0"/>
              </a:spcAft>
              <a:buClr>
                <a:schemeClr val="folHlink"/>
              </a:buClr>
              <a:buSzPct val="75000"/>
              <a:buFont typeface="Wingdings" panose="05000000000000000000" pitchFamily="2" charset="2"/>
              <a:buNone/>
              <a:defRPr/>
            </a:pP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2. 回旋共振</a:t>
            </a:r>
            <a:endPar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磁场强度为</a:t>
            </a:r>
            <a:r>
              <a:rPr kumimoji="1" lang="en-US" altLang="zh-CN" sz="2400" b="0" i="1" u="none" strike="noStrike" kern="0" cap="none" spc="0" normalizeH="0" baseline="0" noProof="0" dirty="0">
                <a:ln>
                  <a:noFill/>
                </a:ln>
                <a:solidFill>
                  <a:schemeClr val="tx1"/>
                </a:solidFill>
                <a:effectLst/>
                <a:uLnTx/>
                <a:uFillTx/>
                <a:latin typeface="+mn-ea"/>
                <a:ea typeface="+mn-ea"/>
                <a:cs typeface="+mn-cs"/>
              </a:rPr>
              <a:t>B</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作用在速度为</a:t>
            </a:r>
            <a:r>
              <a:rPr kumimoji="1" lang="en-US" altLang="zh-CN" sz="2400" b="0" i="1" u="none" strike="noStrike" kern="0" cap="none" spc="0" normalizeH="0" baseline="0" noProof="0" dirty="0">
                <a:ln>
                  <a:noFill/>
                </a:ln>
                <a:solidFill>
                  <a:schemeClr val="tx1"/>
                </a:solidFill>
                <a:effectLst/>
                <a:uLnTx/>
                <a:uFillTx/>
                <a:latin typeface="+mn-ea"/>
                <a:ea typeface="+mn-ea"/>
                <a:cs typeface="+mn-cs"/>
              </a:rPr>
              <a:t>v</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的电子上，磁场力为</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0" i="0" u="none" strike="noStrike" kern="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电子作回旋运动，回旋速度和加速度分别为</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1" i="0" u="none" strike="noStrike" kern="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由此导出的回旋频率为</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0" i="0" u="none" strike="noStrike" kern="0" cap="none" spc="0" normalizeH="0" baseline="0" noProof="0" dirty="0">
              <a:ln>
                <a:noFill/>
              </a:ln>
              <a:solidFill>
                <a:schemeClr val="tx1"/>
              </a:solidFill>
              <a:effectLst/>
              <a:uLnTx/>
              <a:uFillTx/>
              <a:latin typeface="+mn-ea"/>
              <a:ea typeface="+mn-ea"/>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外加交变电场，则电子会吸收电场能量，加快回旋。测量被吸收的电场能量，可以得到吸收谱：</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rgbClr val="FF3300"/>
                </a:solidFill>
                <a:effectLst/>
                <a:uLnTx/>
                <a:uFillTx/>
                <a:latin typeface="+mn-ea"/>
                <a:ea typeface="+mn-ea"/>
                <a:cs typeface="+mn-cs"/>
              </a:rPr>
              <a:t> </a:t>
            </a:r>
            <a:r>
              <a:rPr kumimoji="1" lang="zh-CN" altLang="en-US" sz="2400" b="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rPr>
              <a:t>(1) 在回旋频率有较大的吸收峰</a:t>
            </a:r>
          </a:p>
          <a:p>
            <a:pPr marL="0" marR="0" lvl="0" indent="0" algn="l" defTabSz="914400" rtl="0" eaLnBrk="0" fontAlgn="base" latinLnBrk="0" hangingPunct="0">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rPr>
              <a:t> (2) 有几个吸收峰就有几个有效质量。</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zh-CN" altLang="en-US" sz="2400" b="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1" i="0" u="none" strike="noStrike" kern="0" cap="none" spc="0" normalizeH="0" baseline="0" noProof="0" dirty="0">
              <a:ln>
                <a:noFill/>
              </a:ln>
              <a:solidFill>
                <a:schemeClr val="tx1"/>
              </a:solidFill>
              <a:effectLst/>
              <a:uLnTx/>
              <a:uFillTx/>
              <a:latin typeface="+mn-ea"/>
              <a:ea typeface="+mn-ea"/>
              <a:cs typeface="+mn-cs"/>
            </a:endParaRPr>
          </a:p>
        </p:txBody>
      </p:sp>
      <p:graphicFrame>
        <p:nvGraphicFramePr>
          <p:cNvPr id="134148" name="Object 4"/>
          <p:cNvGraphicFramePr>
            <a:graphicFrameLocks noChangeAspect="1"/>
          </p:cNvGraphicFramePr>
          <p:nvPr/>
        </p:nvGraphicFramePr>
        <p:xfrm>
          <a:off x="3059113" y="2852738"/>
          <a:ext cx="1371600" cy="365125"/>
        </p:xfrm>
        <a:graphic>
          <a:graphicData uri="http://schemas.openxmlformats.org/presentationml/2006/ole">
            <mc:AlternateContent xmlns:mc="http://schemas.openxmlformats.org/markup-compatibility/2006">
              <mc:Choice xmlns:v="urn:schemas-microsoft-com:vml" Requires="v">
                <p:oleObj r:id="rId2" imgW="761365" imgH="203200" progId="Equation.3">
                  <p:embed/>
                </p:oleObj>
              </mc:Choice>
              <mc:Fallback>
                <p:oleObj r:id="rId2" imgW="761365" imgH="203200" progId="Equation.3">
                  <p:embed/>
                  <p:pic>
                    <p:nvPicPr>
                      <p:cNvPr id="0" name="图片 3104"/>
                      <p:cNvPicPr/>
                      <p:nvPr/>
                    </p:nvPicPr>
                    <p:blipFill>
                      <a:blip r:embed="rId3"/>
                      <a:stretch>
                        <a:fillRect/>
                      </a:stretch>
                    </p:blipFill>
                    <p:spPr>
                      <a:xfrm>
                        <a:off x="3059113" y="2852738"/>
                        <a:ext cx="1371600" cy="365125"/>
                      </a:xfrm>
                      <a:prstGeom prst="rect">
                        <a:avLst/>
                      </a:prstGeom>
                      <a:noFill/>
                      <a:ln w="38100">
                        <a:noFill/>
                        <a:miter/>
                      </a:ln>
                    </p:spPr>
                  </p:pic>
                </p:oleObj>
              </mc:Fallback>
            </mc:AlternateContent>
          </a:graphicData>
        </a:graphic>
      </p:graphicFrame>
      <p:graphicFrame>
        <p:nvGraphicFramePr>
          <p:cNvPr id="134150" name="Object 6"/>
          <p:cNvGraphicFramePr>
            <a:graphicFrameLocks noChangeAspect="1"/>
          </p:cNvGraphicFramePr>
          <p:nvPr/>
        </p:nvGraphicFramePr>
        <p:xfrm>
          <a:off x="3059113" y="4394200"/>
          <a:ext cx="1371600" cy="784225"/>
        </p:xfrm>
        <a:graphic>
          <a:graphicData uri="http://schemas.openxmlformats.org/presentationml/2006/ole">
            <mc:AlternateContent xmlns:mc="http://schemas.openxmlformats.org/markup-compatibility/2006">
              <mc:Choice xmlns:v="urn:schemas-microsoft-com:vml" Requires="v">
                <p:oleObj r:id="rId4" imgW="571500" imgH="444500" progId="Equation.3">
                  <p:embed/>
                </p:oleObj>
              </mc:Choice>
              <mc:Fallback>
                <p:oleObj r:id="rId4" imgW="571500" imgH="444500" progId="Equation.3">
                  <p:embed/>
                  <p:pic>
                    <p:nvPicPr>
                      <p:cNvPr id="0" name="图片 3102"/>
                      <p:cNvPicPr/>
                      <p:nvPr/>
                    </p:nvPicPr>
                    <p:blipFill>
                      <a:blip r:embed="rId5"/>
                      <a:stretch>
                        <a:fillRect/>
                      </a:stretch>
                    </p:blipFill>
                    <p:spPr>
                      <a:xfrm>
                        <a:off x="3059113" y="4394200"/>
                        <a:ext cx="1371600" cy="784225"/>
                      </a:xfrm>
                      <a:prstGeom prst="rect">
                        <a:avLst/>
                      </a:prstGeom>
                      <a:noFill/>
                      <a:ln w="38100">
                        <a:noFill/>
                        <a:miter/>
                      </a:ln>
                    </p:spPr>
                  </p:pic>
                </p:oleObj>
              </mc:Fallback>
            </mc:AlternateContent>
          </a:graphicData>
        </a:graphic>
      </p:graphicFrame>
      <p:graphicFrame>
        <p:nvGraphicFramePr>
          <p:cNvPr id="134152" name="Object 8"/>
          <p:cNvGraphicFramePr>
            <a:graphicFrameLocks noChangeAspect="1"/>
          </p:cNvGraphicFramePr>
          <p:nvPr/>
        </p:nvGraphicFramePr>
        <p:xfrm>
          <a:off x="3059113" y="3709988"/>
          <a:ext cx="2209800" cy="460375"/>
        </p:xfrm>
        <a:graphic>
          <a:graphicData uri="http://schemas.openxmlformats.org/presentationml/2006/ole">
            <mc:AlternateContent xmlns:mc="http://schemas.openxmlformats.org/markup-compatibility/2006">
              <mc:Choice xmlns:v="urn:schemas-microsoft-com:vml" Requires="v">
                <p:oleObj r:id="rId6" imgW="1218565" imgH="254000" progId="Equation.3">
                  <p:embed/>
                </p:oleObj>
              </mc:Choice>
              <mc:Fallback>
                <p:oleObj r:id="rId6" imgW="1218565" imgH="254000" progId="Equation.3">
                  <p:embed/>
                  <p:pic>
                    <p:nvPicPr>
                      <p:cNvPr id="0" name="图片 3103"/>
                      <p:cNvPicPr/>
                      <p:nvPr/>
                    </p:nvPicPr>
                    <p:blipFill>
                      <a:blip r:embed="rId7"/>
                      <a:stretch>
                        <a:fillRect/>
                      </a:stretch>
                    </p:blipFill>
                    <p:spPr>
                      <a:xfrm>
                        <a:off x="3059113" y="3709988"/>
                        <a:ext cx="2209800" cy="460375"/>
                      </a:xfrm>
                      <a:prstGeom prst="rect">
                        <a:avLst/>
                      </a:prstGeom>
                      <a:noFill/>
                      <a:ln w="38100">
                        <a:noFill/>
                        <a:miter/>
                      </a:ln>
                    </p:spPr>
                  </p:pic>
                </p:oleObj>
              </mc:Fallback>
            </mc:AlternateContent>
          </a:graphicData>
        </a:graphic>
      </p:graphicFrame>
      <p:sp>
        <p:nvSpPr>
          <p:cNvPr id="44037" name="Rectangle 2"/>
          <p:cNvSpPr>
            <a:spLocks noGrp="1"/>
          </p:cNvSpPr>
          <p:nvPr>
            <p:ph type="title"/>
          </p:nvPr>
        </p:nvSpPr>
        <p:spPr>
          <a:xfrm>
            <a:off x="490538" y="908050"/>
            <a:ext cx="8653462" cy="769938"/>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5</a:t>
            </a:r>
            <a:r>
              <a:rPr lang="zh-CN" altLang="en-US" dirty="0">
                <a:latin typeface="华文新魏" panose="02010800040101010101" pitchFamily="2" charset="-122"/>
                <a:ea typeface="华文新魏" panose="02010800040101010101" pitchFamily="2" charset="-122"/>
              </a:rPr>
              <a:t>  回旋共振</a:t>
            </a:r>
          </a:p>
        </p:txBody>
      </p:sp>
      <mc:AlternateContent xmlns:mc="http://schemas.openxmlformats.org/markup-compatibility/2006">
        <mc:Choice xmlns:p14="http://schemas.microsoft.com/office/powerpoint/2010/main" Requires="p14">
          <p:contentPart p14:bwMode="auto" r:id="rId8">
            <p14:nvContentPartPr>
              <p14:cNvPr id="2" name="墨迹 1">
                <a:extLst>
                  <a:ext uri="{FF2B5EF4-FFF2-40B4-BE49-F238E27FC236}">
                    <a16:creationId xmlns:a16="http://schemas.microsoft.com/office/drawing/2014/main" id="{8BE55B79-CE40-7D9F-4FCA-407A291C0E4F}"/>
                  </a:ext>
                </a:extLst>
              </p14:cNvPr>
              <p14:cNvContentPartPr/>
              <p14:nvPr/>
            </p14:nvContentPartPr>
            <p14:xfrm>
              <a:off x="835312" y="2515773"/>
              <a:ext cx="5164560" cy="171000"/>
            </p14:xfrm>
          </p:contentPart>
        </mc:Choice>
        <mc:Fallback>
          <p:pic>
            <p:nvPicPr>
              <p:cNvPr id="2" name="墨迹 1">
                <a:extLst>
                  <a:ext uri="{FF2B5EF4-FFF2-40B4-BE49-F238E27FC236}">
                    <a16:creationId xmlns:a16="http://schemas.microsoft.com/office/drawing/2014/main" id="{8BE55B79-CE40-7D9F-4FCA-407A291C0E4F}"/>
                  </a:ext>
                </a:extLst>
              </p:cNvPr>
              <p:cNvPicPr/>
              <p:nvPr/>
            </p:nvPicPr>
            <p:blipFill>
              <a:blip r:embed="rId9"/>
              <a:stretch>
                <a:fillRect/>
              </a:stretch>
            </p:blipFill>
            <p:spPr>
              <a:xfrm>
                <a:off x="781672" y="2407773"/>
                <a:ext cx="5272200" cy="3866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 name="墨迹 2">
                <a:extLst>
                  <a:ext uri="{FF2B5EF4-FFF2-40B4-BE49-F238E27FC236}">
                    <a16:creationId xmlns:a16="http://schemas.microsoft.com/office/drawing/2014/main" id="{B7491FD4-E4CE-7252-EDAB-79747EF827F0}"/>
                  </a:ext>
                </a:extLst>
              </p14:cNvPr>
              <p14:cNvContentPartPr/>
              <p14:nvPr/>
            </p14:nvContentPartPr>
            <p14:xfrm>
              <a:off x="1248232" y="4267533"/>
              <a:ext cx="1946160" cy="128160"/>
            </p14:xfrm>
          </p:contentPart>
        </mc:Choice>
        <mc:Fallback>
          <p:pic>
            <p:nvPicPr>
              <p:cNvPr id="3" name="墨迹 2">
                <a:extLst>
                  <a:ext uri="{FF2B5EF4-FFF2-40B4-BE49-F238E27FC236}">
                    <a16:creationId xmlns:a16="http://schemas.microsoft.com/office/drawing/2014/main" id="{B7491FD4-E4CE-7252-EDAB-79747EF827F0}"/>
                  </a:ext>
                </a:extLst>
              </p:cNvPr>
              <p:cNvPicPr/>
              <p:nvPr/>
            </p:nvPicPr>
            <p:blipFill>
              <a:blip r:embed="rId11"/>
              <a:stretch>
                <a:fillRect/>
              </a:stretch>
            </p:blipFill>
            <p:spPr>
              <a:xfrm>
                <a:off x="1194592" y="4159893"/>
                <a:ext cx="205380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 name="墨迹 3">
                <a:extLst>
                  <a:ext uri="{FF2B5EF4-FFF2-40B4-BE49-F238E27FC236}">
                    <a16:creationId xmlns:a16="http://schemas.microsoft.com/office/drawing/2014/main" id="{60449C53-2688-EBED-88BD-BADCD3C99D2F}"/>
                  </a:ext>
                </a:extLst>
              </p14:cNvPr>
              <p14:cNvContentPartPr/>
              <p14:nvPr/>
            </p14:nvContentPartPr>
            <p14:xfrm>
              <a:off x="2467552" y="5122173"/>
              <a:ext cx="4748040" cy="128160"/>
            </p14:xfrm>
          </p:contentPart>
        </mc:Choice>
        <mc:Fallback>
          <p:pic>
            <p:nvPicPr>
              <p:cNvPr id="4" name="墨迹 3">
                <a:extLst>
                  <a:ext uri="{FF2B5EF4-FFF2-40B4-BE49-F238E27FC236}">
                    <a16:creationId xmlns:a16="http://schemas.microsoft.com/office/drawing/2014/main" id="{60449C53-2688-EBED-88BD-BADCD3C99D2F}"/>
                  </a:ext>
                </a:extLst>
              </p:cNvPr>
              <p:cNvPicPr/>
              <p:nvPr/>
            </p:nvPicPr>
            <p:blipFill>
              <a:blip r:embed="rId13"/>
              <a:stretch>
                <a:fillRect/>
              </a:stretch>
            </p:blipFill>
            <p:spPr>
              <a:xfrm>
                <a:off x="2413912" y="5014173"/>
                <a:ext cx="485568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 name="墨迹 4">
                <a:extLst>
                  <a:ext uri="{FF2B5EF4-FFF2-40B4-BE49-F238E27FC236}">
                    <a16:creationId xmlns:a16="http://schemas.microsoft.com/office/drawing/2014/main" id="{ED6BDE6C-8E05-15E4-D702-2806672A31DC}"/>
                  </a:ext>
                </a:extLst>
              </p14:cNvPr>
              <p14:cNvContentPartPr/>
              <p14:nvPr/>
            </p14:nvContentPartPr>
            <p14:xfrm>
              <a:off x="837832" y="5563893"/>
              <a:ext cx="5376240" cy="89640"/>
            </p14:xfrm>
          </p:contentPart>
        </mc:Choice>
        <mc:Fallback>
          <p:pic>
            <p:nvPicPr>
              <p:cNvPr id="5" name="墨迹 4">
                <a:extLst>
                  <a:ext uri="{FF2B5EF4-FFF2-40B4-BE49-F238E27FC236}">
                    <a16:creationId xmlns:a16="http://schemas.microsoft.com/office/drawing/2014/main" id="{ED6BDE6C-8E05-15E4-D702-2806672A31DC}"/>
                  </a:ext>
                </a:extLst>
              </p:cNvPr>
              <p:cNvPicPr/>
              <p:nvPr/>
            </p:nvPicPr>
            <p:blipFill>
              <a:blip r:embed="rId15"/>
              <a:stretch>
                <a:fillRect/>
              </a:stretch>
            </p:blipFill>
            <p:spPr>
              <a:xfrm>
                <a:off x="783832" y="5456253"/>
                <a:ext cx="5483880" cy="3052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blinds(horizontal)">
                                      <p:cBhvr>
                                        <p:cTn id="7" dur="500"/>
                                        <p:tgtEl>
                                          <p:spTgt spid="134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4147">
                                            <p:txEl>
                                              <p:pRg st="1" end="1"/>
                                            </p:txEl>
                                          </p:spTgt>
                                        </p:tgtEl>
                                        <p:attrNameLst>
                                          <p:attrName>style.visibility</p:attrName>
                                        </p:attrNameLst>
                                      </p:cBhvr>
                                      <p:to>
                                        <p:strVal val="visible"/>
                                      </p:to>
                                    </p:set>
                                    <p:animEffect transition="in" filter="blinds(horizontal)">
                                      <p:cBhvr>
                                        <p:cTn id="12" dur="500"/>
                                        <p:tgtEl>
                                          <p:spTgt spid="134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34148"/>
                                        </p:tgtEl>
                                        <p:attrNameLst>
                                          <p:attrName>style.visibility</p:attrName>
                                        </p:attrNameLst>
                                      </p:cBhvr>
                                      <p:to>
                                        <p:strVal val="visible"/>
                                      </p:to>
                                    </p:set>
                                    <p:animEffect transition="in" filter="checkerboard(across)">
                                      <p:cBhvr>
                                        <p:cTn id="17" dur="500"/>
                                        <p:tgtEl>
                                          <p:spTgt spid="13414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4147">
                                            <p:txEl>
                                              <p:pRg st="3" end="3"/>
                                            </p:txEl>
                                          </p:spTgt>
                                        </p:tgtEl>
                                        <p:attrNameLst>
                                          <p:attrName>style.visibility</p:attrName>
                                        </p:attrNameLst>
                                      </p:cBhvr>
                                      <p:to>
                                        <p:strVal val="visible"/>
                                      </p:to>
                                    </p:set>
                                    <p:animEffect transition="in" filter="blinds(horizontal)">
                                      <p:cBhvr>
                                        <p:cTn id="22" dur="500"/>
                                        <p:tgtEl>
                                          <p:spTgt spid="134147">
                                            <p:txEl>
                                              <p:pRg st="3" end="3"/>
                                            </p:txEl>
                                          </p:spTgt>
                                        </p:tgtEl>
                                      </p:cBhvr>
                                    </p:animEffect>
                                  </p:childTnLst>
                                </p:cTn>
                              </p:par>
                            </p:childTnLst>
                          </p:cTn>
                        </p:par>
                        <p:par>
                          <p:cTn id="23" fill="hold">
                            <p:stCondLst>
                              <p:cond delay="500"/>
                            </p:stCondLst>
                            <p:childTnLst>
                              <p:par>
                                <p:cTn id="24" presetID="3" presetClass="entr" presetSubtype="10" fill="hold" nodeType="afterEffect">
                                  <p:stCondLst>
                                    <p:cond delay="0"/>
                                  </p:stCondLst>
                                  <p:childTnLst>
                                    <p:set>
                                      <p:cBhvr>
                                        <p:cTn id="25" dur="1" fill="hold">
                                          <p:stCondLst>
                                            <p:cond delay="0"/>
                                          </p:stCondLst>
                                        </p:cTn>
                                        <p:tgtEl>
                                          <p:spTgt spid="134152"/>
                                        </p:tgtEl>
                                        <p:attrNameLst>
                                          <p:attrName>style.visibility</p:attrName>
                                        </p:attrNameLst>
                                      </p:cBhvr>
                                      <p:to>
                                        <p:strVal val="visible"/>
                                      </p:to>
                                    </p:set>
                                    <p:animEffect transition="in" filter="blinds(horizontal)">
                                      <p:cBhvr>
                                        <p:cTn id="26" dur="500"/>
                                        <p:tgtEl>
                                          <p:spTgt spid="134152"/>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34147">
                                            <p:txEl>
                                              <p:pRg st="5" end="5"/>
                                            </p:txEl>
                                          </p:spTgt>
                                        </p:tgtEl>
                                        <p:attrNameLst>
                                          <p:attrName>style.visibility</p:attrName>
                                        </p:attrNameLst>
                                      </p:cBhvr>
                                      <p:to>
                                        <p:strVal val="visible"/>
                                      </p:to>
                                    </p:set>
                                    <p:animEffect transition="in" filter="blinds(horizontal)">
                                      <p:cBhvr>
                                        <p:cTn id="31" dur="500"/>
                                        <p:tgtEl>
                                          <p:spTgt spid="134147">
                                            <p:txEl>
                                              <p:pRg st="5" end="5"/>
                                            </p:txEl>
                                          </p:spTgt>
                                        </p:tgtEl>
                                      </p:cBhvr>
                                    </p:animEffect>
                                  </p:childTnLst>
                                </p:cTn>
                              </p:par>
                            </p:childTnLst>
                          </p:cTn>
                        </p:par>
                        <p:par>
                          <p:cTn id="32" fill="hold">
                            <p:stCondLst>
                              <p:cond delay="500"/>
                            </p:stCondLst>
                            <p:childTnLst>
                              <p:par>
                                <p:cTn id="33" presetID="2" presetClass="entr" presetSubtype="8" fill="hold" nodeType="afterEffect">
                                  <p:stCondLst>
                                    <p:cond delay="0"/>
                                  </p:stCondLst>
                                  <p:childTnLst>
                                    <p:set>
                                      <p:cBhvr>
                                        <p:cTn id="34" dur="1" fill="hold">
                                          <p:stCondLst>
                                            <p:cond delay="0"/>
                                          </p:stCondLst>
                                        </p:cTn>
                                        <p:tgtEl>
                                          <p:spTgt spid="134150"/>
                                        </p:tgtEl>
                                        <p:attrNameLst>
                                          <p:attrName>style.visibility</p:attrName>
                                        </p:attrNameLst>
                                      </p:cBhvr>
                                      <p:to>
                                        <p:strVal val="visible"/>
                                      </p:to>
                                    </p:set>
                                    <p:anim calcmode="lin" valueType="num">
                                      <p:cBhvr additive="base">
                                        <p:cTn id="35" dur="500" fill="hold"/>
                                        <p:tgtEl>
                                          <p:spTgt spid="134150"/>
                                        </p:tgtEl>
                                        <p:attrNameLst>
                                          <p:attrName>ppt_x</p:attrName>
                                        </p:attrNameLst>
                                      </p:cBhvr>
                                      <p:tavLst>
                                        <p:tav tm="0">
                                          <p:val>
                                            <p:strVal val="0-#ppt_w/2"/>
                                          </p:val>
                                        </p:tav>
                                        <p:tav tm="100000">
                                          <p:val>
                                            <p:strVal val="#ppt_x"/>
                                          </p:val>
                                        </p:tav>
                                      </p:tavLst>
                                    </p:anim>
                                    <p:anim calcmode="lin" valueType="num">
                                      <p:cBhvr additive="base">
                                        <p:cTn id="36" dur="500" fill="hold"/>
                                        <p:tgtEl>
                                          <p:spTgt spid="134150"/>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34147">
                                            <p:txEl>
                                              <p:pRg st="7" end="7"/>
                                            </p:txEl>
                                          </p:spTgt>
                                        </p:tgtEl>
                                        <p:attrNameLst>
                                          <p:attrName>style.visibility</p:attrName>
                                        </p:attrNameLst>
                                      </p:cBhvr>
                                      <p:to>
                                        <p:strVal val="visible"/>
                                      </p:to>
                                    </p:set>
                                    <p:animEffect transition="in" filter="blinds(horizontal)">
                                      <p:cBhvr>
                                        <p:cTn id="41" dur="500"/>
                                        <p:tgtEl>
                                          <p:spTgt spid="134147">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34147">
                                            <p:txEl>
                                              <p:pRg st="8" end="8"/>
                                            </p:txEl>
                                          </p:spTgt>
                                        </p:tgtEl>
                                        <p:attrNameLst>
                                          <p:attrName>style.visibility</p:attrName>
                                        </p:attrNameLst>
                                      </p:cBhvr>
                                      <p:to>
                                        <p:strVal val="visible"/>
                                      </p:to>
                                    </p:set>
                                    <p:animEffect transition="in" filter="blinds(horizontal)">
                                      <p:cBhvr>
                                        <p:cTn id="46" dur="500"/>
                                        <p:tgtEl>
                                          <p:spTgt spid="134147">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34147">
                                            <p:txEl>
                                              <p:pRg st="9" end="9"/>
                                            </p:txEl>
                                          </p:spTgt>
                                        </p:tgtEl>
                                        <p:attrNameLst>
                                          <p:attrName>style.visibility</p:attrName>
                                        </p:attrNameLst>
                                      </p:cBhvr>
                                      <p:to>
                                        <p:strVal val="visible"/>
                                      </p:to>
                                    </p:set>
                                    <p:animEffect transition="in" filter="blinds(horizontal)">
                                      <p:cBhvr>
                                        <p:cTn id="51" dur="500"/>
                                        <p:tgtEl>
                                          <p:spTgt spid="13414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uiExpand="1"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611188" y="1905000"/>
            <a:ext cx="7923213" cy="4692650"/>
          </a:xfrm>
        </p:spPr>
        <p:txBody>
          <a:bodyPr vert="horz" wrap="square" lIns="91440" tIns="45720" rIns="91440" bIns="45720" numCol="1" anchor="t" anchorCtr="0" compatLnSpc="1"/>
          <a:lstStyle/>
          <a:p>
            <a:pPr marL="101600" marR="0" lvl="0" indent="-101600" algn="l" defTabSz="914400" rtl="0" eaLnBrk="1" fontAlgn="base" latinLnBrk="0" hangingPunct="1">
              <a:lnSpc>
                <a:spcPct val="90000"/>
              </a:lnSpc>
              <a:spcBef>
                <a:spcPct val="0"/>
              </a:spcBef>
              <a:spcAft>
                <a:spcPct val="0"/>
              </a:spcAft>
              <a:buClr>
                <a:schemeClr val="folHlink"/>
              </a:buClr>
              <a:buSzPct val="75000"/>
              <a:buFont typeface="Wingdings" panose="05000000000000000000" pitchFamily="2" charset="2"/>
              <a:buNone/>
              <a:defRPr/>
            </a:pPr>
            <a:r>
              <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3.</a:t>
            </a: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计算方法</a:t>
            </a:r>
            <a:endPar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取磁场</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B</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为任意方向</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经过计算，各向异性的回旋频率也满足上式，只是</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分别为</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B</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分别在三个方向的方向余弦。</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若</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m</a:t>
            </a:r>
            <a:r>
              <a:rPr kumimoji="1" lang="en-US" altLang="zh-CN" sz="2400" b="0" i="0" u="none" strike="noStrike" kern="0" cap="none" spc="0" normalizeH="0" baseline="-25000" noProof="0" dirty="0">
                <a:ln>
                  <a:noFill/>
                </a:ln>
                <a:solidFill>
                  <a:schemeClr val="tx1"/>
                </a:solidFill>
                <a:effectLst/>
                <a:uLnTx/>
                <a:uFillTx/>
                <a:latin typeface="+mn-lt"/>
                <a:ea typeface="+mn-ea"/>
                <a:cs typeface="+mn-cs"/>
              </a:rPr>
              <a:t>x</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 m</a:t>
            </a:r>
            <a:r>
              <a:rPr kumimoji="1" lang="en-US" altLang="zh-CN" sz="2400" b="0" i="0" u="none" strike="noStrike" kern="0" cap="none" spc="0" normalizeH="0" baseline="-25000" noProof="0" dirty="0">
                <a:ln>
                  <a:noFill/>
                </a:ln>
                <a:solidFill>
                  <a:schemeClr val="tx1"/>
                </a:solidFill>
                <a:effectLst/>
                <a:uLnTx/>
                <a:uFillTx/>
                <a:latin typeface="+mn-lt"/>
                <a:ea typeface="+mn-ea"/>
                <a:cs typeface="+mn-cs"/>
              </a:rPr>
              <a:t>y </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=m</a:t>
            </a:r>
            <a:r>
              <a:rPr kumimoji="1" lang="en-US" altLang="zh-CN" sz="2400" b="0" i="0" u="none" strike="noStrike" kern="0" cap="none" spc="0" normalizeH="0" baseline="-25000" noProof="0" dirty="0">
                <a:ln>
                  <a:noFill/>
                </a:ln>
                <a:solidFill>
                  <a:schemeClr val="tx1"/>
                </a:solidFill>
                <a:effectLst/>
                <a:uLnTx/>
                <a:uFillTx/>
                <a:latin typeface="+mn-lt"/>
                <a:ea typeface="+mn-ea"/>
                <a:cs typeface="+mn-cs"/>
              </a:rPr>
              <a:t>t</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m</a:t>
            </a:r>
            <a:r>
              <a:rPr kumimoji="1" lang="en-US" altLang="zh-CN" sz="2400" b="0" i="0" u="none" strike="noStrike" kern="0" cap="none" spc="0" normalizeH="0" baseline="-25000" noProof="0" dirty="0">
                <a:ln>
                  <a:noFill/>
                </a:ln>
                <a:solidFill>
                  <a:schemeClr val="tx1"/>
                </a:solidFill>
                <a:effectLst/>
                <a:uLnTx/>
                <a:uFillTx/>
                <a:latin typeface="+mn-lt"/>
                <a:ea typeface="+mn-ea"/>
                <a:cs typeface="+mn-cs"/>
              </a:rPr>
              <a:t>x</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m</a:t>
            </a:r>
            <a:r>
              <a:rPr kumimoji="1" lang="en-US" altLang="zh-CN" sz="2400" b="0" i="0" u="none" strike="noStrike" kern="0" cap="none" spc="0" normalizeH="0" baseline="-25000" noProof="0" dirty="0">
                <a:ln>
                  <a:noFill/>
                </a:ln>
                <a:solidFill>
                  <a:schemeClr val="tx1"/>
                </a:solidFill>
                <a:effectLst/>
                <a:uLnTx/>
                <a:uFillTx/>
                <a:latin typeface="+mn-lt"/>
                <a:ea typeface="+mn-ea"/>
                <a:cs typeface="+mn-cs"/>
              </a:rPr>
              <a:t>l</a:t>
            </a: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可以得出结论：等能面椭球的径向与</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B</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的夹角余弦决定了有效质量。</a:t>
            </a: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zh-CN" altLang="en-US"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zh-CN" altLang="en-US" sz="2400" b="0" i="0" u="none" strike="noStrike" kern="0" cap="none" spc="0" normalizeH="0" baseline="0" noProof="0" dirty="0">
              <a:ln>
                <a:noFill/>
              </a:ln>
              <a:solidFill>
                <a:schemeClr val="tx1"/>
              </a:solidFill>
              <a:effectLst/>
              <a:uLnTx/>
              <a:uFillTx/>
              <a:latin typeface="+mn-lt"/>
              <a:ea typeface="+mn-ea"/>
              <a:cs typeface="+mn-cs"/>
            </a:endParaRPr>
          </a:p>
        </p:txBody>
      </p:sp>
      <p:graphicFrame>
        <p:nvGraphicFramePr>
          <p:cNvPr id="45058" name="Object 4"/>
          <p:cNvGraphicFramePr>
            <a:graphicFrameLocks noChangeAspect="1"/>
          </p:cNvGraphicFramePr>
          <p:nvPr/>
        </p:nvGraphicFramePr>
        <p:xfrm>
          <a:off x="3314700" y="2492375"/>
          <a:ext cx="3276600" cy="762000"/>
        </p:xfrm>
        <a:graphic>
          <a:graphicData uri="http://schemas.openxmlformats.org/presentationml/2006/ole">
            <mc:AlternateContent xmlns:mc="http://schemas.openxmlformats.org/markup-compatibility/2006">
              <mc:Choice xmlns:v="urn:schemas-microsoft-com:vml" Requires="v">
                <p:oleObj r:id="rId2" imgW="1828800" imgH="558800" progId="Equation.3">
                  <p:embed/>
                </p:oleObj>
              </mc:Choice>
              <mc:Fallback>
                <p:oleObj r:id="rId2" imgW="1828800" imgH="558800" progId="Equation.3">
                  <p:embed/>
                  <p:pic>
                    <p:nvPicPr>
                      <p:cNvPr id="0" name="图片 3085"/>
                      <p:cNvPicPr/>
                      <p:nvPr/>
                    </p:nvPicPr>
                    <p:blipFill>
                      <a:blip r:embed="rId3"/>
                      <a:stretch>
                        <a:fillRect/>
                      </a:stretch>
                    </p:blipFill>
                    <p:spPr>
                      <a:xfrm>
                        <a:off x="3314700" y="2492375"/>
                        <a:ext cx="3276600" cy="762000"/>
                      </a:xfrm>
                      <a:prstGeom prst="rect">
                        <a:avLst/>
                      </a:prstGeom>
                      <a:noFill/>
                      <a:ln w="38100">
                        <a:noFill/>
                        <a:miter/>
                      </a:ln>
                    </p:spPr>
                  </p:pic>
                </p:oleObj>
              </mc:Fallback>
            </mc:AlternateContent>
          </a:graphicData>
        </a:graphic>
      </p:graphicFrame>
      <p:graphicFrame>
        <p:nvGraphicFramePr>
          <p:cNvPr id="45059" name="Object 5"/>
          <p:cNvGraphicFramePr>
            <a:graphicFrameLocks noChangeAspect="1"/>
          </p:cNvGraphicFramePr>
          <p:nvPr/>
        </p:nvGraphicFramePr>
        <p:xfrm>
          <a:off x="7380288" y="3213100"/>
          <a:ext cx="990600" cy="452438"/>
        </p:xfrm>
        <a:graphic>
          <a:graphicData uri="http://schemas.openxmlformats.org/presentationml/2006/ole">
            <mc:AlternateContent xmlns:mc="http://schemas.openxmlformats.org/markup-compatibility/2006">
              <mc:Choice xmlns:v="urn:schemas-microsoft-com:vml" Requires="v">
                <p:oleObj r:id="rId4" imgW="444500" imgH="203200" progId="Equation.3">
                  <p:embed/>
                </p:oleObj>
              </mc:Choice>
              <mc:Fallback>
                <p:oleObj r:id="rId4" imgW="444500" imgH="203200" progId="Equation.3">
                  <p:embed/>
                  <p:pic>
                    <p:nvPicPr>
                      <p:cNvPr id="0" name="图片 3087"/>
                      <p:cNvPicPr/>
                      <p:nvPr/>
                    </p:nvPicPr>
                    <p:blipFill>
                      <a:blip r:embed="rId5"/>
                      <a:stretch>
                        <a:fillRect/>
                      </a:stretch>
                    </p:blipFill>
                    <p:spPr>
                      <a:xfrm>
                        <a:off x="7380288" y="3213100"/>
                        <a:ext cx="990600" cy="452438"/>
                      </a:xfrm>
                      <a:prstGeom prst="rect">
                        <a:avLst/>
                      </a:prstGeom>
                      <a:noFill/>
                      <a:ln w="38100">
                        <a:noFill/>
                        <a:miter/>
                      </a:ln>
                    </p:spPr>
                  </p:pic>
                </p:oleObj>
              </mc:Fallback>
            </mc:AlternateContent>
          </a:graphicData>
        </a:graphic>
      </p:graphicFrame>
      <p:graphicFrame>
        <p:nvGraphicFramePr>
          <p:cNvPr id="45060" name="Object 8"/>
          <p:cNvGraphicFramePr>
            <a:graphicFrameLocks noChangeAspect="1"/>
          </p:cNvGraphicFramePr>
          <p:nvPr/>
        </p:nvGraphicFramePr>
        <p:xfrm>
          <a:off x="4953000" y="4149725"/>
          <a:ext cx="1868488" cy="452438"/>
        </p:xfrm>
        <a:graphic>
          <a:graphicData uri="http://schemas.openxmlformats.org/presentationml/2006/ole">
            <mc:AlternateContent xmlns:mc="http://schemas.openxmlformats.org/markup-compatibility/2006">
              <mc:Choice xmlns:v="urn:schemas-microsoft-com:vml" Requires="v">
                <p:oleObj r:id="rId6" imgW="837565" imgH="203200" progId="Equation.3">
                  <p:embed/>
                </p:oleObj>
              </mc:Choice>
              <mc:Fallback>
                <p:oleObj r:id="rId6" imgW="837565" imgH="203200" progId="Equation.3">
                  <p:embed/>
                  <p:pic>
                    <p:nvPicPr>
                      <p:cNvPr id="0" name="图片 3082"/>
                      <p:cNvPicPr/>
                      <p:nvPr/>
                    </p:nvPicPr>
                    <p:blipFill>
                      <a:blip r:embed="rId7"/>
                      <a:stretch>
                        <a:fillRect/>
                      </a:stretch>
                    </p:blipFill>
                    <p:spPr>
                      <a:xfrm>
                        <a:off x="4953000" y="4149725"/>
                        <a:ext cx="1868488" cy="452438"/>
                      </a:xfrm>
                      <a:prstGeom prst="rect">
                        <a:avLst/>
                      </a:prstGeom>
                      <a:noFill/>
                      <a:ln w="38100">
                        <a:noFill/>
                        <a:miter/>
                      </a:ln>
                    </p:spPr>
                  </p:pic>
                </p:oleObj>
              </mc:Fallback>
            </mc:AlternateContent>
          </a:graphicData>
        </a:graphic>
      </p:graphicFrame>
      <p:graphicFrame>
        <p:nvGraphicFramePr>
          <p:cNvPr id="45061" name="Object 9"/>
          <p:cNvGraphicFramePr>
            <a:graphicFrameLocks noChangeAspect="1"/>
          </p:cNvGraphicFramePr>
          <p:nvPr/>
        </p:nvGraphicFramePr>
        <p:xfrm>
          <a:off x="3314700" y="4724400"/>
          <a:ext cx="3003550" cy="693738"/>
        </p:xfrm>
        <a:graphic>
          <a:graphicData uri="http://schemas.openxmlformats.org/presentationml/2006/ole">
            <mc:AlternateContent xmlns:mc="http://schemas.openxmlformats.org/markup-compatibility/2006">
              <mc:Choice xmlns:v="urn:schemas-microsoft-com:vml" Requires="v">
                <p:oleObj r:id="rId8" imgW="1676400" imgH="508000" progId="Equation.3">
                  <p:embed/>
                </p:oleObj>
              </mc:Choice>
              <mc:Fallback>
                <p:oleObj r:id="rId8" imgW="1676400" imgH="508000" progId="Equation.3">
                  <p:embed/>
                  <p:pic>
                    <p:nvPicPr>
                      <p:cNvPr id="0" name="图片 3092"/>
                      <p:cNvPicPr/>
                      <p:nvPr/>
                    </p:nvPicPr>
                    <p:blipFill>
                      <a:blip r:embed="rId9"/>
                      <a:stretch>
                        <a:fillRect/>
                      </a:stretch>
                    </p:blipFill>
                    <p:spPr>
                      <a:xfrm>
                        <a:off x="3314700" y="4724400"/>
                        <a:ext cx="3003550" cy="693738"/>
                      </a:xfrm>
                      <a:prstGeom prst="rect">
                        <a:avLst/>
                      </a:prstGeom>
                      <a:noFill/>
                      <a:ln w="38100">
                        <a:noFill/>
                        <a:miter/>
                      </a:ln>
                    </p:spPr>
                  </p:pic>
                </p:oleObj>
              </mc:Fallback>
            </mc:AlternateContent>
          </a:graphicData>
        </a:graphic>
      </p:graphicFrame>
      <p:sp>
        <p:nvSpPr>
          <p:cNvPr id="45062" name="Rectangle 2"/>
          <p:cNvSpPr>
            <a:spLocks noGrp="1"/>
          </p:cNvSpPr>
          <p:nvPr>
            <p:ph type="title"/>
          </p:nvPr>
        </p:nvSpPr>
        <p:spPr>
          <a:xfrm>
            <a:off x="490538" y="908050"/>
            <a:ext cx="8653462" cy="769938"/>
          </a:xfrm>
        </p:spPr>
        <p:txBody>
          <a:bodyPr vert="horz" wrap="square" lIns="91440" tIns="45720" rIns="91440" bIns="45720" anchor="b" anchorCtr="0">
            <a:spAutoFit/>
          </a:bodyPr>
          <a:lstStyle/>
          <a:p>
            <a:pPr eaLnBrk="1" hangingPunct="1">
              <a:buNone/>
            </a:pPr>
            <a:r>
              <a:rPr lang="zh-CN" altLang="en-US" dirty="0">
                <a:latin typeface="华文新魏" panose="02010800040101010101" pitchFamily="2" charset="-122"/>
                <a:ea typeface="华文新魏" panose="02010800040101010101" pitchFamily="2" charset="-122"/>
              </a:rPr>
              <a:t>1.</a:t>
            </a:r>
            <a:r>
              <a:rPr lang="en-US" altLang="zh-CN" dirty="0">
                <a:latin typeface="华文新魏" panose="02010800040101010101" pitchFamily="2" charset="-122"/>
                <a:ea typeface="华文新魏" panose="02010800040101010101" pitchFamily="2" charset="-122"/>
              </a:rPr>
              <a:t>5</a:t>
            </a:r>
            <a:r>
              <a:rPr lang="zh-CN" altLang="en-US" dirty="0">
                <a:latin typeface="华文新魏" panose="02010800040101010101" pitchFamily="2" charset="-122"/>
                <a:ea typeface="华文新魏" panose="02010800040101010101" pitchFamily="2" charset="-122"/>
              </a:rPr>
              <a:t>  回旋共振</a:t>
            </a:r>
          </a:p>
        </p:txBody>
      </p:sp>
      <mc:AlternateContent xmlns:mc="http://schemas.openxmlformats.org/markup-compatibility/2006">
        <mc:Choice xmlns:p14="http://schemas.microsoft.com/office/powerpoint/2010/main" Requires="p14">
          <p:contentPart p14:bwMode="auto" r:id="rId10">
            <p14:nvContentPartPr>
              <p14:cNvPr id="2" name="墨迹 1">
                <a:extLst>
                  <a:ext uri="{FF2B5EF4-FFF2-40B4-BE49-F238E27FC236}">
                    <a16:creationId xmlns:a16="http://schemas.microsoft.com/office/drawing/2014/main" id="{28B25BC2-679D-5DD9-E5AE-1D78D34EE2BF}"/>
                  </a:ext>
                </a:extLst>
              </p14:cNvPr>
              <p14:cNvContentPartPr/>
              <p14:nvPr/>
            </p14:nvContentPartPr>
            <p14:xfrm>
              <a:off x="1090912" y="2476893"/>
              <a:ext cx="1584000" cy="142920"/>
            </p14:xfrm>
          </p:contentPart>
        </mc:Choice>
        <mc:Fallback>
          <p:pic>
            <p:nvPicPr>
              <p:cNvPr id="2" name="墨迹 1">
                <a:extLst>
                  <a:ext uri="{FF2B5EF4-FFF2-40B4-BE49-F238E27FC236}">
                    <a16:creationId xmlns:a16="http://schemas.microsoft.com/office/drawing/2014/main" id="{28B25BC2-679D-5DD9-E5AE-1D78D34EE2BF}"/>
                  </a:ext>
                </a:extLst>
              </p:cNvPr>
              <p:cNvPicPr/>
              <p:nvPr/>
            </p:nvPicPr>
            <p:blipFill>
              <a:blip r:embed="rId11"/>
              <a:stretch>
                <a:fillRect/>
              </a:stretch>
            </p:blipFill>
            <p:spPr>
              <a:xfrm>
                <a:off x="1036912" y="2369253"/>
                <a:ext cx="1691640" cy="358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 name="墨迹 2">
                <a:extLst>
                  <a:ext uri="{FF2B5EF4-FFF2-40B4-BE49-F238E27FC236}">
                    <a16:creationId xmlns:a16="http://schemas.microsoft.com/office/drawing/2014/main" id="{47880EE3-E7DE-7AB6-8FA5-D82A1EE13E7A}"/>
                  </a:ext>
                </a:extLst>
              </p14:cNvPr>
              <p14:cNvContentPartPr/>
              <p14:nvPr/>
            </p14:nvContentPartPr>
            <p14:xfrm>
              <a:off x="1798672" y="3331893"/>
              <a:ext cx="5989320" cy="169200"/>
            </p14:xfrm>
          </p:contentPart>
        </mc:Choice>
        <mc:Fallback>
          <p:pic>
            <p:nvPicPr>
              <p:cNvPr id="3" name="墨迹 2">
                <a:extLst>
                  <a:ext uri="{FF2B5EF4-FFF2-40B4-BE49-F238E27FC236}">
                    <a16:creationId xmlns:a16="http://schemas.microsoft.com/office/drawing/2014/main" id="{47880EE3-E7DE-7AB6-8FA5-D82A1EE13E7A}"/>
                  </a:ext>
                </a:extLst>
              </p:cNvPr>
              <p:cNvPicPr/>
              <p:nvPr/>
            </p:nvPicPr>
            <p:blipFill>
              <a:blip r:embed="rId13"/>
              <a:stretch>
                <a:fillRect/>
              </a:stretch>
            </p:blipFill>
            <p:spPr>
              <a:xfrm>
                <a:off x="1745032" y="3224253"/>
                <a:ext cx="6096960" cy="384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 name="墨迹 3">
                <a:extLst>
                  <a:ext uri="{FF2B5EF4-FFF2-40B4-BE49-F238E27FC236}">
                    <a16:creationId xmlns:a16="http://schemas.microsoft.com/office/drawing/2014/main" id="{3081957B-4311-A0D2-6247-6A295AA6EC3A}"/>
                  </a:ext>
                </a:extLst>
              </p14:cNvPr>
              <p14:cNvContentPartPr/>
              <p14:nvPr/>
            </p14:nvContentPartPr>
            <p14:xfrm>
              <a:off x="1208272" y="3834093"/>
              <a:ext cx="5241600" cy="60120"/>
            </p14:xfrm>
          </p:contentPart>
        </mc:Choice>
        <mc:Fallback>
          <p:pic>
            <p:nvPicPr>
              <p:cNvPr id="4" name="墨迹 3">
                <a:extLst>
                  <a:ext uri="{FF2B5EF4-FFF2-40B4-BE49-F238E27FC236}">
                    <a16:creationId xmlns:a16="http://schemas.microsoft.com/office/drawing/2014/main" id="{3081957B-4311-A0D2-6247-6A295AA6EC3A}"/>
                  </a:ext>
                </a:extLst>
              </p:cNvPr>
              <p:cNvPicPr/>
              <p:nvPr/>
            </p:nvPicPr>
            <p:blipFill>
              <a:blip r:embed="rId15"/>
              <a:stretch>
                <a:fillRect/>
              </a:stretch>
            </p:blipFill>
            <p:spPr>
              <a:xfrm>
                <a:off x="1154632" y="3726093"/>
                <a:ext cx="534924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 name="墨迹 4">
                <a:extLst>
                  <a:ext uri="{FF2B5EF4-FFF2-40B4-BE49-F238E27FC236}">
                    <a16:creationId xmlns:a16="http://schemas.microsoft.com/office/drawing/2014/main" id="{4B2758A7-EBB6-3EB7-1427-EF6120C03A5F}"/>
                  </a:ext>
                </a:extLst>
              </p14:cNvPr>
              <p14:cNvContentPartPr/>
              <p14:nvPr/>
            </p14:nvContentPartPr>
            <p14:xfrm>
              <a:off x="1533712" y="5671893"/>
              <a:ext cx="6144840" cy="120240"/>
            </p14:xfrm>
          </p:contentPart>
        </mc:Choice>
        <mc:Fallback>
          <p:pic>
            <p:nvPicPr>
              <p:cNvPr id="5" name="墨迹 4">
                <a:extLst>
                  <a:ext uri="{FF2B5EF4-FFF2-40B4-BE49-F238E27FC236}">
                    <a16:creationId xmlns:a16="http://schemas.microsoft.com/office/drawing/2014/main" id="{4B2758A7-EBB6-3EB7-1427-EF6120C03A5F}"/>
                  </a:ext>
                </a:extLst>
              </p:cNvPr>
              <p:cNvPicPr/>
              <p:nvPr/>
            </p:nvPicPr>
            <p:blipFill>
              <a:blip r:embed="rId17"/>
              <a:stretch>
                <a:fillRect/>
              </a:stretch>
            </p:blipFill>
            <p:spPr>
              <a:xfrm>
                <a:off x="1479712" y="5563893"/>
                <a:ext cx="625248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6" name="墨迹 5">
                <a:extLst>
                  <a:ext uri="{FF2B5EF4-FFF2-40B4-BE49-F238E27FC236}">
                    <a16:creationId xmlns:a16="http://schemas.microsoft.com/office/drawing/2014/main" id="{43A66CB4-6EAA-5E8D-C56C-946B2B8A5314}"/>
                  </a:ext>
                </a:extLst>
              </p14:cNvPr>
              <p14:cNvContentPartPr/>
              <p14:nvPr/>
            </p14:nvContentPartPr>
            <p14:xfrm>
              <a:off x="785992" y="6144933"/>
              <a:ext cx="1152000" cy="97920"/>
            </p14:xfrm>
          </p:contentPart>
        </mc:Choice>
        <mc:Fallback>
          <p:pic>
            <p:nvPicPr>
              <p:cNvPr id="6" name="墨迹 5">
                <a:extLst>
                  <a:ext uri="{FF2B5EF4-FFF2-40B4-BE49-F238E27FC236}">
                    <a16:creationId xmlns:a16="http://schemas.microsoft.com/office/drawing/2014/main" id="{43A66CB4-6EAA-5E8D-C56C-946B2B8A5314}"/>
                  </a:ext>
                </a:extLst>
              </p:cNvPr>
              <p:cNvPicPr/>
              <p:nvPr/>
            </p:nvPicPr>
            <p:blipFill>
              <a:blip r:embed="rId19"/>
              <a:stretch>
                <a:fillRect/>
              </a:stretch>
            </p:blipFill>
            <p:spPr>
              <a:xfrm>
                <a:off x="732352" y="6037293"/>
                <a:ext cx="1259640" cy="313560"/>
              </a:xfrm>
              <a:prstGeom prst="rect">
                <a:avLst/>
              </a:prstGeom>
            </p:spPr>
          </p:pic>
        </mc:Fallback>
      </mc:AlternateContent>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文本框 106498"/>
          <p:cNvSpPr txBox="1"/>
          <p:nvPr/>
        </p:nvSpPr>
        <p:spPr>
          <a:xfrm>
            <a:off x="304800" y="685800"/>
            <a:ext cx="7734300" cy="701675"/>
          </a:xfrm>
          <a:prstGeom prst="rect">
            <a:avLst/>
          </a:prstGeom>
          <a:noFill/>
          <a:ln w="12700">
            <a:noFill/>
          </a:ln>
        </p:spPr>
        <p:txBody>
          <a:bodyPr wrap="none" anchor="t" anchorCtr="0">
            <a:spAutoFit/>
          </a:bodyPr>
          <a:lstStyle/>
          <a:p>
            <a:pPr eaLnBrk="0" hangingPunct="0"/>
            <a:r>
              <a:rPr lang="en-US" altLang="zh-CN" sz="4000" b="1">
                <a:latin typeface="Arial" panose="020B0604020202020204" pitchFamily="34" charset="0"/>
                <a:ea typeface="宋体" panose="02010600030101010101" pitchFamily="2" charset="-122"/>
              </a:rPr>
              <a:t>3. </a:t>
            </a:r>
            <a:r>
              <a:rPr lang="en-US" altLang="zh-CN" sz="4000" b="1" err="1">
                <a:latin typeface="Arial" panose="020B0604020202020204" pitchFamily="34" charset="0"/>
                <a:ea typeface="宋体" panose="02010600030101010101" pitchFamily="2" charset="-122"/>
              </a:rPr>
              <a:t> Si.Ge.GaAs</a:t>
            </a:r>
            <a:r>
              <a:rPr lang="zh-CN" altLang="en-US" sz="4000" b="1" dirty="0">
                <a:latin typeface="Arial" panose="020B0604020202020204" pitchFamily="34" charset="0"/>
                <a:ea typeface="宋体" panose="02010600030101010101" pitchFamily="2" charset="-122"/>
              </a:rPr>
              <a:t>半导体的能带结构</a:t>
            </a:r>
            <a:endParaRPr lang="zh-CN" altLang="en-US" sz="4000" b="1" dirty="0">
              <a:latin typeface="Arial" panose="020B0604020202020204" pitchFamily="34" charset="0"/>
              <a:ea typeface="Arial" panose="020B0604020202020204" pitchFamily="34" charset="0"/>
            </a:endParaRPr>
          </a:p>
        </p:txBody>
      </p:sp>
      <p:sp>
        <p:nvSpPr>
          <p:cNvPr id="78850" name="文本框 106499"/>
          <p:cNvSpPr txBox="1"/>
          <p:nvPr/>
        </p:nvSpPr>
        <p:spPr>
          <a:xfrm>
            <a:off x="533400" y="1878013"/>
            <a:ext cx="4360863" cy="579437"/>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元素半导体</a:t>
            </a:r>
            <a:r>
              <a:rPr lang="en-US" altLang="zh-CN" sz="3200" b="1">
                <a:latin typeface="Arial" panose="020B0604020202020204" pitchFamily="34" charset="0"/>
                <a:ea typeface="宋体" panose="02010600030101010101" pitchFamily="2" charset="-122"/>
              </a:rPr>
              <a:t>S</a:t>
            </a:r>
            <a:r>
              <a:rPr lang="en-US" altLang="zh-CN" sz="3200" b="1" dirty="0">
                <a:latin typeface="Arial" panose="020B0604020202020204" pitchFamily="34" charset="0"/>
                <a:ea typeface="宋体" panose="02010600030101010101" pitchFamily="2" charset="-122"/>
              </a:rPr>
              <a:t>i</a:t>
            </a:r>
            <a:r>
              <a:rPr lang="zh-CN" altLang="en-US" sz="3200" b="1" dirty="0">
                <a:latin typeface="Arial" panose="020B0604020202020204" pitchFamily="34" charset="0"/>
                <a:ea typeface="宋体" panose="02010600030101010101" pitchFamily="2" charset="-122"/>
              </a:rPr>
              <a:t>、</a:t>
            </a:r>
            <a:r>
              <a:rPr lang="en-US" altLang="zh-CN" sz="3200" b="1" err="1">
                <a:latin typeface="Arial" panose="020B0604020202020204" pitchFamily="34" charset="0"/>
                <a:ea typeface="宋体" panose="02010600030101010101" pitchFamily="2" charset="-122"/>
              </a:rPr>
              <a:t>Ge</a:t>
            </a:r>
            <a:r>
              <a:rPr lang="zh-CN" altLang="en-US" sz="3200" b="1" dirty="0">
                <a:latin typeface="Arial" panose="020B0604020202020204" pitchFamily="34" charset="0"/>
                <a:ea typeface="宋体" panose="02010600030101010101" pitchFamily="2" charset="-122"/>
              </a:rPr>
              <a:t>结构</a:t>
            </a:r>
            <a:endParaRPr lang="zh-CN" altLang="en-US" sz="3200" b="1" dirty="0">
              <a:latin typeface="Arial" panose="020B0604020202020204" pitchFamily="34" charset="0"/>
              <a:ea typeface="Arial" panose="020B0604020202020204" pitchFamily="34" charset="0"/>
            </a:endParaRPr>
          </a:p>
        </p:txBody>
      </p:sp>
      <p:sp>
        <p:nvSpPr>
          <p:cNvPr id="78851" name="文本框 106500"/>
          <p:cNvSpPr txBox="1"/>
          <p:nvPr/>
        </p:nvSpPr>
        <p:spPr>
          <a:xfrm>
            <a:off x="3276600" y="6021388"/>
            <a:ext cx="2362200" cy="519112"/>
          </a:xfrm>
          <a:prstGeom prst="rect">
            <a:avLst/>
          </a:prstGeom>
          <a:noFill/>
          <a:ln w="12700">
            <a:noFill/>
          </a:ln>
        </p:spPr>
        <p:txBody>
          <a:bodyPr anchor="t" anchorCtr="0">
            <a:spAutoFit/>
          </a:bodyPr>
          <a:lstStyle/>
          <a:p>
            <a:pPr eaLnBrk="0" hangingPunct="0"/>
            <a:r>
              <a:rPr lang="zh-CN" altLang="en-US" sz="2800" b="1" dirty="0">
                <a:latin typeface="Arial" panose="020B0604020202020204" pitchFamily="34" charset="0"/>
                <a:ea typeface="宋体" panose="02010600030101010101" pitchFamily="2" charset="-122"/>
              </a:rPr>
              <a:t>金刚石结构</a:t>
            </a:r>
          </a:p>
        </p:txBody>
      </p:sp>
      <p:pic>
        <p:nvPicPr>
          <p:cNvPr id="78852" name="图片 106501"/>
          <p:cNvPicPr>
            <a:picLocks noChangeAspect="1"/>
          </p:cNvPicPr>
          <p:nvPr/>
        </p:nvPicPr>
        <p:blipFill>
          <a:blip r:embed="rId2"/>
          <a:stretch>
            <a:fillRect/>
          </a:stretch>
        </p:blipFill>
        <p:spPr>
          <a:xfrm>
            <a:off x="1692275" y="2697163"/>
            <a:ext cx="3455988" cy="3163887"/>
          </a:xfrm>
          <a:prstGeom prst="rect">
            <a:avLst/>
          </a:prstGeom>
          <a:noFill/>
          <a:ln w="9525">
            <a:noFill/>
          </a:ln>
        </p:spPr>
      </p:pic>
      <p:sp>
        <p:nvSpPr>
          <p:cNvPr id="78853" name="文本框 106502"/>
          <p:cNvSpPr txBox="1"/>
          <p:nvPr/>
        </p:nvSpPr>
        <p:spPr>
          <a:xfrm>
            <a:off x="5795963" y="3933825"/>
            <a:ext cx="3168650" cy="579438"/>
          </a:xfrm>
          <a:prstGeom prst="rect">
            <a:avLst/>
          </a:prstGeom>
          <a:noFill/>
          <a:ln w="9525">
            <a:noFill/>
          </a:ln>
        </p:spPr>
        <p:txBody>
          <a:bodyPr anchor="t" anchorCtr="0">
            <a:spAutoFit/>
          </a:bodyPr>
          <a:lstStyle/>
          <a:p>
            <a:r>
              <a:rPr lang="en-US" altLang="zh-CN" sz="3200" b="1">
                <a:solidFill>
                  <a:srgbClr val="A50021"/>
                </a:solidFill>
                <a:latin typeface="Times New Roman" panose="02020603050405020304" pitchFamily="18" charset="0"/>
                <a:ea typeface="宋体" panose="02010600030101010101" pitchFamily="2" charset="-122"/>
              </a:rPr>
              <a:t>Si: </a:t>
            </a:r>
            <a:r>
              <a:rPr lang="en-US" altLang="zh-CN" sz="3200" b="1" i="1">
                <a:solidFill>
                  <a:srgbClr val="A50021"/>
                </a:solidFill>
                <a:latin typeface="Times New Roman" panose="02020603050405020304" pitchFamily="18" charset="0"/>
                <a:ea typeface="宋体" panose="02010600030101010101" pitchFamily="2" charset="-122"/>
              </a:rPr>
              <a:t>a</a:t>
            </a:r>
            <a:r>
              <a:rPr lang="en-US" altLang="zh-CN" sz="3200" b="1">
                <a:solidFill>
                  <a:srgbClr val="A50021"/>
                </a:solidFill>
                <a:latin typeface="Times New Roman" panose="02020603050405020304" pitchFamily="18" charset="0"/>
                <a:ea typeface="宋体" panose="02010600030101010101" pitchFamily="2" charset="-122"/>
              </a:rPr>
              <a:t>=5.65754Ǻ</a:t>
            </a:r>
            <a:endParaRPr lang="en-US" altLang="zh-CN" sz="3200" b="1">
              <a:solidFill>
                <a:srgbClr val="A50021"/>
              </a:solidFill>
              <a:latin typeface="Times New Roman" panose="02020603050405020304" pitchFamily="18" charset="0"/>
              <a:ea typeface="Times New Roman" panose="02020603050405020304" pitchFamily="18" charset="0"/>
            </a:endParaRPr>
          </a:p>
        </p:txBody>
      </p:sp>
      <p:sp>
        <p:nvSpPr>
          <p:cNvPr id="78854" name="文本框 106503"/>
          <p:cNvSpPr txBox="1"/>
          <p:nvPr/>
        </p:nvSpPr>
        <p:spPr>
          <a:xfrm>
            <a:off x="5795963" y="5157788"/>
            <a:ext cx="3097212" cy="579437"/>
          </a:xfrm>
          <a:prstGeom prst="rect">
            <a:avLst/>
          </a:prstGeom>
          <a:noFill/>
          <a:ln w="9525">
            <a:noFill/>
          </a:ln>
        </p:spPr>
        <p:txBody>
          <a:bodyPr anchor="t" anchorCtr="0">
            <a:spAutoFit/>
          </a:bodyPr>
          <a:lstStyle/>
          <a:p>
            <a:r>
              <a:rPr lang="en-US" altLang="zh-CN" sz="3200" b="1" err="1">
                <a:solidFill>
                  <a:srgbClr val="A50021"/>
                </a:solidFill>
                <a:latin typeface="Times New Roman" panose="02020603050405020304" pitchFamily="18" charset="0"/>
                <a:ea typeface="宋体" panose="02010600030101010101" pitchFamily="2" charset="-122"/>
              </a:rPr>
              <a:t>Ge</a:t>
            </a:r>
            <a:r>
              <a:rPr lang="en-US" altLang="zh-CN" sz="3200" b="1">
                <a:solidFill>
                  <a:srgbClr val="A50021"/>
                </a:solidFill>
                <a:latin typeface="Times New Roman" panose="02020603050405020304" pitchFamily="18" charset="0"/>
                <a:ea typeface="宋体" panose="02010600030101010101" pitchFamily="2" charset="-122"/>
              </a:rPr>
              <a:t>: </a:t>
            </a:r>
            <a:r>
              <a:rPr lang="en-US" altLang="zh-CN" sz="3200" b="1" i="1">
                <a:solidFill>
                  <a:srgbClr val="A50021"/>
                </a:solidFill>
                <a:latin typeface="Times New Roman" panose="02020603050405020304" pitchFamily="18" charset="0"/>
                <a:ea typeface="宋体" panose="02010600030101010101" pitchFamily="2" charset="-122"/>
              </a:rPr>
              <a:t>a</a:t>
            </a:r>
            <a:r>
              <a:rPr lang="en-US" altLang="zh-CN" sz="3200" b="1">
                <a:solidFill>
                  <a:srgbClr val="A50021"/>
                </a:solidFill>
                <a:latin typeface="Times New Roman" panose="02020603050405020304" pitchFamily="18" charset="0"/>
                <a:ea typeface="宋体" panose="02010600030101010101" pitchFamily="2" charset="-122"/>
              </a:rPr>
              <a:t>=5.43089Ǻ</a:t>
            </a:r>
            <a:endParaRPr lang="en-US" altLang="zh-CN" sz="3200" b="1">
              <a:solidFill>
                <a:srgbClr val="A50021"/>
              </a:solidFill>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idx="1"/>
          </p:nvPr>
        </p:nvSpPr>
        <p:spPr>
          <a:xfrm>
            <a:off x="468313" y="1773238"/>
            <a:ext cx="7989888" cy="4398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硅和锗的价带结构也是一方面通过理论计算，求出</a:t>
            </a: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E(</a:t>
            </a:r>
            <a:r>
              <a:rPr kumimoji="1" lang="en-US" altLang="zh-CN" sz="24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k</a:t>
            </a:r>
            <a:r>
              <a:rPr kumimoji="1"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a:t>
            </a:r>
            <a:endPar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与</a:t>
            </a:r>
            <a:r>
              <a:rPr kumimoji="1" lang="en-US" altLang="zh-CN" sz="24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k</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的关系，另一方面由回旋共振试验定出其系数，从而算</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出空穴有效质量。</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通过理论计算及</a:t>
            </a: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p</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型样品的实验结果指出，价带顶位于</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en-US" altLang="zh-CN" sz="24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k</a:t>
            </a:r>
            <a:r>
              <a:rPr kumimoji="1"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=0，</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即在布里渊区的中心，能带是简并的。如不考虑自旋，</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硅和锗的价带是三度简并的。计入自旋，成为六度简并。计算指出，如果考虑自旋-轨道耦合，可以取消部分并，</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得到一组四度简并的状态和另一组二度简并的状态，分为</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两支。</a:t>
            </a:r>
          </a:p>
        </p:txBody>
      </p:sp>
      <p:sp>
        <p:nvSpPr>
          <p:cNvPr id="4" name="Rectangle 2"/>
          <p:cNvSpPr txBox="1">
            <a:spLocks noChangeArrowheads="1"/>
          </p:cNvSpPr>
          <p:nvPr/>
        </p:nvSpPr>
        <p:spPr>
          <a:xfrm>
            <a:off x="490538" y="908050"/>
            <a:ext cx="8653463" cy="76993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1.</a:t>
            </a:r>
            <a:r>
              <a:rPr kumimoji="1" lang="en-US" altLang="zh-CN"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6</a:t>
            </a: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  硅和锗的导带结构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idx="1"/>
          </p:nvPr>
        </p:nvSpPr>
        <p:spPr>
          <a:xfrm>
            <a:off x="468313" y="1773238"/>
            <a:ext cx="7989888" cy="4398963"/>
          </a:xfrm>
        </p:spPr>
        <p:txBody>
          <a:bodyPr vert="horz" wrap="square" lIns="91440" tIns="45720" rIns="91440" bIns="45720" numCol="1" anchor="t" anchorCtr="0" compatLnSpc="1"/>
          <a:lstStyle/>
          <a:p>
            <a:pPr marL="101600" marR="0" lvl="0" indent="-101600" algn="l" defTabSz="914400" rtl="0" eaLnBrk="1" fontAlgn="base" latinLnBrk="0" hangingPunct="1">
              <a:lnSpc>
                <a:spcPct val="90000"/>
              </a:lnSpc>
              <a:spcBef>
                <a:spcPct val="0"/>
              </a:spcBef>
              <a:spcAft>
                <a:spcPct val="0"/>
              </a:spcAft>
              <a:buClr>
                <a:schemeClr val="folHlink"/>
              </a:buClr>
              <a:buSzPct val="75000"/>
              <a:buFont typeface="Wingdings" panose="05000000000000000000" pitchFamily="2" charset="2"/>
              <a:buNone/>
              <a:defRPr/>
            </a:pPr>
            <a:r>
              <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  2</a:t>
            </a:r>
            <a:r>
              <a:rPr kumimoji="1" lang="zh-CN" altLang="en-US"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rPr>
              <a:t>、硅和锗的价带结构</a:t>
            </a:r>
            <a:endParaRPr kumimoji="1" lang="en-US" altLang="zh-CN" sz="2800" b="1" i="0" u="none" strike="noStrike" kern="1200" cap="none" spc="0" normalizeH="0" baseline="0" noProof="0" dirty="0">
              <a:ln>
                <a:noFill/>
              </a:ln>
              <a:solidFill>
                <a:srgbClr val="0033CC"/>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en-US" altLang="zh-CN" sz="2800" b="1" i="0" u="none" strike="noStrike" kern="0" cap="none" spc="0" normalizeH="0" baseline="0" noProof="0" dirty="0">
              <a:ln>
                <a:noFill/>
              </a:ln>
              <a:solidFill>
                <a:srgbClr val="002060"/>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endParaRPr kumimoji="1" lang="zh-CN" altLang="en-US" sz="2800" b="1" i="0" u="none" strike="noStrike" kern="0" cap="none" spc="0" normalizeH="0" baseline="0" noProof="0" dirty="0">
              <a:ln>
                <a:noFill/>
              </a:ln>
              <a:solidFill>
                <a:srgbClr val="002060"/>
              </a:solidFill>
              <a:effectLst/>
              <a:uLnTx/>
              <a:uFillTx/>
              <a:latin typeface="+mn-ea"/>
              <a:ea typeface="+mn-ea"/>
              <a:cs typeface="+mn-cs"/>
            </a:endParaRPr>
          </a:p>
        </p:txBody>
      </p:sp>
      <p:pic>
        <p:nvPicPr>
          <p:cNvPr id="55298" name="Picture 4"/>
          <p:cNvPicPr>
            <a:picLocks noChangeAspect="1"/>
          </p:cNvPicPr>
          <p:nvPr/>
        </p:nvPicPr>
        <p:blipFill>
          <a:blip r:embed="rId3"/>
          <a:stretch>
            <a:fillRect/>
          </a:stretch>
        </p:blipFill>
        <p:spPr>
          <a:xfrm>
            <a:off x="900113" y="2492375"/>
            <a:ext cx="7535862" cy="3376613"/>
          </a:xfrm>
          <a:prstGeom prst="rect">
            <a:avLst/>
          </a:prstGeom>
          <a:noFill/>
          <a:ln w="9525">
            <a:noFill/>
          </a:ln>
        </p:spPr>
      </p:pic>
      <p:sp>
        <p:nvSpPr>
          <p:cNvPr id="55299" name="Text Box 4"/>
          <p:cNvSpPr txBox="1"/>
          <p:nvPr/>
        </p:nvSpPr>
        <p:spPr>
          <a:xfrm>
            <a:off x="1841500" y="5867400"/>
            <a:ext cx="5416550" cy="461963"/>
          </a:xfrm>
          <a:prstGeom prst="rect">
            <a:avLst/>
          </a:prstGeom>
          <a:noFill/>
          <a:ln w="9525">
            <a:noFill/>
          </a:ln>
        </p:spPr>
        <p:txBody>
          <a:bodyPr wrap="none" anchor="t" anchorCtr="0">
            <a:spAutoFit/>
          </a:bodyPr>
          <a:lstStyle/>
          <a:p>
            <a:pPr algn="ctr">
              <a:buClrTx/>
              <a:buFontTx/>
            </a:pPr>
            <a:r>
              <a:rPr lang="zh-CN" altLang="en-US" b="0" dirty="0">
                <a:latin typeface="黑体" panose="02010609060101010101" pitchFamily="49" charset="-122"/>
                <a:ea typeface="黑体" panose="02010609060101010101" pitchFamily="49" charset="-122"/>
              </a:rPr>
              <a:t>硅和锗在布里渊区中导带等能面示意图</a:t>
            </a:r>
          </a:p>
        </p:txBody>
      </p:sp>
      <p:sp>
        <p:nvSpPr>
          <p:cNvPr id="6" name="Rectangle 2"/>
          <p:cNvSpPr txBox="1">
            <a:spLocks noChangeArrowheads="1"/>
          </p:cNvSpPr>
          <p:nvPr/>
        </p:nvSpPr>
        <p:spPr>
          <a:xfrm>
            <a:off x="490538" y="908050"/>
            <a:ext cx="8653463" cy="76993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1.</a:t>
            </a:r>
            <a:r>
              <a:rPr kumimoji="1" lang="en-US" altLang="zh-CN"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6</a:t>
            </a: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  硅和锗的导带结构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文本框 107524"/>
          <p:cNvSpPr txBox="1"/>
          <p:nvPr/>
        </p:nvSpPr>
        <p:spPr>
          <a:xfrm>
            <a:off x="3419475" y="6165850"/>
            <a:ext cx="3311525" cy="641350"/>
          </a:xfrm>
          <a:prstGeom prst="rect">
            <a:avLst/>
          </a:prstGeom>
          <a:noFill/>
          <a:ln w="12700">
            <a:noFill/>
          </a:ln>
        </p:spPr>
        <p:txBody>
          <a:bodyPr anchor="t" anchorCtr="0">
            <a:spAutoFit/>
          </a:bodyPr>
          <a:lstStyle/>
          <a:p>
            <a:pPr eaLnBrk="0" hangingPunct="0"/>
            <a:r>
              <a:rPr lang="zh-CN" altLang="en-US" sz="3600" b="1" dirty="0">
                <a:latin typeface="Arial" panose="020B0604020202020204" pitchFamily="34" charset="0"/>
                <a:ea typeface="宋体" panose="02010600030101010101" pitchFamily="2" charset="-122"/>
              </a:rPr>
              <a:t>硅的能带结构</a:t>
            </a:r>
          </a:p>
        </p:txBody>
      </p:sp>
      <p:grpSp>
        <p:nvGrpSpPr>
          <p:cNvPr id="79874" name="组合 107543"/>
          <p:cNvGrpSpPr/>
          <p:nvPr/>
        </p:nvGrpSpPr>
        <p:grpSpPr>
          <a:xfrm>
            <a:off x="2447925" y="1341438"/>
            <a:ext cx="6372225" cy="4932362"/>
            <a:chOff x="1542" y="510"/>
            <a:chExt cx="4014" cy="3444"/>
          </a:xfrm>
        </p:grpSpPr>
        <p:sp>
          <p:nvSpPr>
            <p:cNvPr id="79875" name="矩形 107531"/>
            <p:cNvSpPr/>
            <p:nvPr/>
          </p:nvSpPr>
          <p:spPr>
            <a:xfrm>
              <a:off x="1607" y="510"/>
              <a:ext cx="2767" cy="3130"/>
            </a:xfrm>
            <a:prstGeom prst="rect">
              <a:avLst/>
            </a:prstGeom>
            <a:solidFill>
              <a:schemeClr val="accent2"/>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79876" name="椭圆形标注 107522"/>
            <p:cNvSpPr/>
            <p:nvPr/>
          </p:nvSpPr>
          <p:spPr>
            <a:xfrm>
              <a:off x="4596" y="782"/>
              <a:ext cx="960" cy="576"/>
            </a:xfrm>
            <a:prstGeom prst="wedgeEllipseCallout">
              <a:avLst>
                <a:gd name="adj1" fmla="val -70315"/>
                <a:gd name="adj2" fmla="val 49829"/>
              </a:avLst>
            </a:prstGeom>
            <a:solidFill>
              <a:srgbClr val="FF0000"/>
            </a:solidFill>
            <a:ln w="12700" cap="sq" cmpd="sng">
              <a:solidFill>
                <a:schemeClr val="tx1"/>
              </a:solidFill>
              <a:prstDash val="solid"/>
              <a:miter/>
              <a:headEnd type="none" w="sm" len="sm"/>
              <a:tailEnd type="none" w="sm" len="sm"/>
            </a:ln>
          </p:spPr>
          <p:txBody>
            <a:bodyPr anchor="t" anchorCtr="0"/>
            <a:lstStyle/>
            <a:p>
              <a:pPr algn="ctr" eaLnBrk="0" hangingPunct="0"/>
              <a:r>
                <a:rPr lang="zh-CN" altLang="en-US" sz="3200" b="1" dirty="0">
                  <a:latin typeface="Arial" panose="020B0604020202020204" pitchFamily="34" charset="0"/>
                  <a:ea typeface="宋体" panose="02010600030101010101" pitchFamily="2" charset="-122"/>
                </a:rPr>
                <a:t>导带</a:t>
              </a:r>
            </a:p>
          </p:txBody>
        </p:sp>
        <p:sp>
          <p:nvSpPr>
            <p:cNvPr id="79877" name="圆角矩形标注 107523"/>
            <p:cNvSpPr/>
            <p:nvPr/>
          </p:nvSpPr>
          <p:spPr>
            <a:xfrm>
              <a:off x="4732" y="3186"/>
              <a:ext cx="726" cy="454"/>
            </a:xfrm>
            <a:prstGeom prst="wedgeRoundRectCallout">
              <a:avLst>
                <a:gd name="adj1" fmla="val -201653"/>
                <a:gd name="adj2" fmla="val 2204"/>
                <a:gd name="adj3" fmla="val 16667"/>
              </a:avLst>
            </a:prstGeom>
            <a:solidFill>
              <a:srgbClr val="FFFF00"/>
            </a:solidFill>
            <a:ln w="12700" cap="sq" cmpd="sng">
              <a:solidFill>
                <a:schemeClr val="tx1"/>
              </a:solidFill>
              <a:prstDash val="solid"/>
              <a:miter/>
              <a:headEnd type="none" w="sm" len="sm"/>
              <a:tailEnd type="none" w="sm" len="sm"/>
            </a:ln>
          </p:spPr>
          <p:txBody>
            <a:bodyPr anchor="t" anchorCtr="0"/>
            <a:lstStyle/>
            <a:p>
              <a:pPr algn="ctr" eaLnBrk="0" hangingPunct="0"/>
              <a:r>
                <a:rPr lang="zh-CN" altLang="en-US" sz="3200" b="1" dirty="0">
                  <a:solidFill>
                    <a:srgbClr val="000000"/>
                  </a:solidFill>
                  <a:latin typeface="Arial" panose="020B0604020202020204" pitchFamily="34" charset="0"/>
                  <a:ea typeface="宋体" panose="02010600030101010101" pitchFamily="2" charset="-122"/>
                </a:rPr>
                <a:t>价带</a:t>
              </a:r>
            </a:p>
          </p:txBody>
        </p:sp>
        <p:sp>
          <p:nvSpPr>
            <p:cNvPr id="79878" name="直接连接符 107525"/>
            <p:cNvSpPr/>
            <p:nvPr/>
          </p:nvSpPr>
          <p:spPr>
            <a:xfrm>
              <a:off x="1602" y="2233"/>
              <a:ext cx="2767" cy="0"/>
            </a:xfrm>
            <a:prstGeom prst="line">
              <a:avLst/>
            </a:prstGeom>
            <a:ln w="9525" cap="flat" cmpd="sng">
              <a:solidFill>
                <a:schemeClr val="tx1"/>
              </a:solidFill>
              <a:prstDash val="solid"/>
              <a:round/>
              <a:headEnd type="none" w="med" len="med"/>
              <a:tailEnd type="none" w="med" len="med"/>
            </a:ln>
          </p:spPr>
        </p:sp>
        <p:sp>
          <p:nvSpPr>
            <p:cNvPr id="79879" name="直接连接符 107526"/>
            <p:cNvSpPr/>
            <p:nvPr/>
          </p:nvSpPr>
          <p:spPr>
            <a:xfrm>
              <a:off x="2922" y="510"/>
              <a:ext cx="0" cy="3130"/>
            </a:xfrm>
            <a:prstGeom prst="line">
              <a:avLst/>
            </a:prstGeom>
            <a:ln w="9525" cap="flat" cmpd="sng">
              <a:solidFill>
                <a:schemeClr val="tx1"/>
              </a:solidFill>
              <a:prstDash val="solid"/>
              <a:round/>
              <a:headEnd type="none" w="med" len="med"/>
              <a:tailEnd type="none" w="med" len="med"/>
            </a:ln>
          </p:spPr>
        </p:sp>
        <p:sp>
          <p:nvSpPr>
            <p:cNvPr id="79880" name="任意多边形 107528"/>
            <p:cNvSpPr/>
            <p:nvPr/>
          </p:nvSpPr>
          <p:spPr>
            <a:xfrm>
              <a:off x="1611" y="600"/>
              <a:ext cx="2758" cy="1239"/>
            </a:xfrm>
            <a:custGeom>
              <a:avLst/>
              <a:gdLst/>
              <a:ahLst/>
              <a:cxnLst/>
              <a:rect l="0" t="0" r="0" b="0"/>
              <a:pathLst>
                <a:path w="2743" h="1229">
                  <a:moveTo>
                    <a:pt x="0" y="890"/>
                  </a:moveTo>
                  <a:cubicBezTo>
                    <a:pt x="73" y="875"/>
                    <a:pt x="325" y="849"/>
                    <a:pt x="448" y="799"/>
                  </a:cubicBezTo>
                  <a:cubicBezTo>
                    <a:pt x="571" y="749"/>
                    <a:pt x="657" y="666"/>
                    <a:pt x="741" y="588"/>
                  </a:cubicBezTo>
                  <a:cubicBezTo>
                    <a:pt x="825" y="510"/>
                    <a:pt x="887" y="414"/>
                    <a:pt x="951" y="332"/>
                  </a:cubicBezTo>
                  <a:cubicBezTo>
                    <a:pt x="1015" y="250"/>
                    <a:pt x="1067" y="150"/>
                    <a:pt x="1125" y="95"/>
                  </a:cubicBezTo>
                  <a:cubicBezTo>
                    <a:pt x="1183" y="40"/>
                    <a:pt x="1242" y="0"/>
                    <a:pt x="1298" y="3"/>
                  </a:cubicBezTo>
                  <a:cubicBezTo>
                    <a:pt x="1354" y="6"/>
                    <a:pt x="1407" y="19"/>
                    <a:pt x="1463" y="113"/>
                  </a:cubicBezTo>
                  <a:cubicBezTo>
                    <a:pt x="1519" y="207"/>
                    <a:pt x="1567" y="413"/>
                    <a:pt x="1637" y="570"/>
                  </a:cubicBezTo>
                  <a:cubicBezTo>
                    <a:pt x="1707" y="727"/>
                    <a:pt x="1817" y="950"/>
                    <a:pt x="1884" y="1055"/>
                  </a:cubicBezTo>
                  <a:cubicBezTo>
                    <a:pt x="1951" y="1160"/>
                    <a:pt x="1989" y="1178"/>
                    <a:pt x="2039" y="1201"/>
                  </a:cubicBezTo>
                  <a:cubicBezTo>
                    <a:pt x="2089" y="1224"/>
                    <a:pt x="2132" y="1229"/>
                    <a:pt x="2185" y="1192"/>
                  </a:cubicBezTo>
                  <a:cubicBezTo>
                    <a:pt x="2238" y="1155"/>
                    <a:pt x="2297" y="1042"/>
                    <a:pt x="2359" y="981"/>
                  </a:cubicBezTo>
                  <a:cubicBezTo>
                    <a:pt x="2421" y="920"/>
                    <a:pt x="2496" y="864"/>
                    <a:pt x="2560" y="826"/>
                  </a:cubicBezTo>
                  <a:cubicBezTo>
                    <a:pt x="2624" y="788"/>
                    <a:pt x="2705" y="768"/>
                    <a:pt x="2743" y="753"/>
                  </a:cubicBezTo>
                </a:path>
              </a:pathLst>
            </a:custGeom>
            <a:noFill/>
            <a:ln w="44450" cap="flat" cmpd="sng">
              <a:solidFill>
                <a:srgbClr val="A50021"/>
              </a:solidFill>
              <a:prstDash val="solid"/>
              <a:round/>
              <a:headEnd type="none" w="med" len="med"/>
              <a:tailEnd type="none" w="med" len="med"/>
            </a:ln>
          </p:spPr>
          <p:txBody>
            <a:bodyPr/>
            <a:lstStyle/>
            <a:p>
              <a:endParaRPr lang="zh-CN" altLang="en-US"/>
            </a:p>
          </p:txBody>
        </p:sp>
        <p:sp>
          <p:nvSpPr>
            <p:cNvPr id="79881" name="任意多边形 107529"/>
            <p:cNvSpPr/>
            <p:nvPr/>
          </p:nvSpPr>
          <p:spPr>
            <a:xfrm>
              <a:off x="1602" y="2230"/>
              <a:ext cx="1955" cy="1410"/>
            </a:xfrm>
            <a:custGeom>
              <a:avLst/>
              <a:gdLst/>
              <a:ahLst/>
              <a:cxnLst/>
              <a:rect l="0" t="0" r="0" b="0"/>
              <a:pathLst>
                <a:path w="1955" h="1410">
                  <a:moveTo>
                    <a:pt x="0" y="861"/>
                  </a:moveTo>
                  <a:cubicBezTo>
                    <a:pt x="88" y="838"/>
                    <a:pt x="400" y="789"/>
                    <a:pt x="539" y="724"/>
                  </a:cubicBezTo>
                  <a:cubicBezTo>
                    <a:pt x="678" y="659"/>
                    <a:pt x="739" y="569"/>
                    <a:pt x="832" y="468"/>
                  </a:cubicBezTo>
                  <a:cubicBezTo>
                    <a:pt x="925" y="367"/>
                    <a:pt x="1016" y="197"/>
                    <a:pt x="1097" y="120"/>
                  </a:cubicBezTo>
                  <a:cubicBezTo>
                    <a:pt x="1178" y="43"/>
                    <a:pt x="1245" y="0"/>
                    <a:pt x="1320" y="3"/>
                  </a:cubicBezTo>
                  <a:cubicBezTo>
                    <a:pt x="1395" y="6"/>
                    <a:pt x="1463" y="25"/>
                    <a:pt x="1545" y="139"/>
                  </a:cubicBezTo>
                  <a:cubicBezTo>
                    <a:pt x="1627" y="253"/>
                    <a:pt x="1742" y="475"/>
                    <a:pt x="1810" y="687"/>
                  </a:cubicBezTo>
                  <a:cubicBezTo>
                    <a:pt x="1878" y="899"/>
                    <a:pt x="1925" y="1260"/>
                    <a:pt x="1955" y="1410"/>
                  </a:cubicBezTo>
                </a:path>
              </a:pathLst>
            </a:custGeom>
            <a:noFill/>
            <a:ln w="44450" cap="flat" cmpd="sng">
              <a:solidFill>
                <a:srgbClr val="A50021"/>
              </a:solidFill>
              <a:prstDash val="solid"/>
              <a:round/>
              <a:headEnd type="none" w="med" len="med"/>
              <a:tailEnd type="none" w="med" len="med"/>
            </a:ln>
          </p:spPr>
          <p:txBody>
            <a:bodyPr/>
            <a:lstStyle/>
            <a:p>
              <a:endParaRPr lang="zh-CN" altLang="en-US"/>
            </a:p>
          </p:txBody>
        </p:sp>
        <p:sp>
          <p:nvSpPr>
            <p:cNvPr id="79882" name="任意多边形 107530"/>
            <p:cNvSpPr/>
            <p:nvPr/>
          </p:nvSpPr>
          <p:spPr>
            <a:xfrm>
              <a:off x="2469" y="2232"/>
              <a:ext cx="779" cy="1408"/>
            </a:xfrm>
            <a:custGeom>
              <a:avLst/>
              <a:gdLst/>
              <a:ahLst/>
              <a:cxnLst/>
              <a:rect l="0" t="0" r="0" b="0"/>
              <a:pathLst>
                <a:path w="779" h="1408">
                  <a:moveTo>
                    <a:pt x="0" y="1408"/>
                  </a:moveTo>
                  <a:cubicBezTo>
                    <a:pt x="23" y="1188"/>
                    <a:pt x="50" y="972"/>
                    <a:pt x="91" y="772"/>
                  </a:cubicBezTo>
                  <a:cubicBezTo>
                    <a:pt x="132" y="572"/>
                    <a:pt x="188" y="338"/>
                    <a:pt x="248" y="210"/>
                  </a:cubicBezTo>
                  <a:cubicBezTo>
                    <a:pt x="308" y="82"/>
                    <a:pt x="391" y="0"/>
                    <a:pt x="453" y="1"/>
                  </a:cubicBezTo>
                  <a:cubicBezTo>
                    <a:pt x="515" y="2"/>
                    <a:pt x="576" y="88"/>
                    <a:pt x="623" y="219"/>
                  </a:cubicBezTo>
                  <a:cubicBezTo>
                    <a:pt x="670" y="350"/>
                    <a:pt x="707" y="590"/>
                    <a:pt x="733" y="786"/>
                  </a:cubicBezTo>
                  <a:cubicBezTo>
                    <a:pt x="759" y="982"/>
                    <a:pt x="770" y="1271"/>
                    <a:pt x="779" y="1398"/>
                  </a:cubicBezTo>
                </a:path>
              </a:pathLst>
            </a:custGeom>
            <a:noFill/>
            <a:ln w="44450" cap="flat" cmpd="sng">
              <a:solidFill>
                <a:srgbClr val="A50021"/>
              </a:solidFill>
              <a:prstDash val="solid"/>
              <a:round/>
              <a:headEnd type="none" w="med" len="med"/>
              <a:tailEnd type="none" w="med" len="med"/>
            </a:ln>
          </p:spPr>
          <p:txBody>
            <a:bodyPr/>
            <a:lstStyle/>
            <a:p>
              <a:endParaRPr lang="zh-CN" altLang="en-US"/>
            </a:p>
          </p:txBody>
        </p:sp>
        <p:sp>
          <p:nvSpPr>
            <p:cNvPr id="79883" name="直接连接符 107532"/>
            <p:cNvSpPr/>
            <p:nvPr/>
          </p:nvSpPr>
          <p:spPr>
            <a:xfrm>
              <a:off x="2472" y="3821"/>
              <a:ext cx="1089" cy="0"/>
            </a:xfrm>
            <a:prstGeom prst="line">
              <a:avLst/>
            </a:prstGeom>
            <a:ln w="9525" cap="flat" cmpd="sng">
              <a:solidFill>
                <a:schemeClr val="tx1"/>
              </a:solidFill>
              <a:prstDash val="solid"/>
              <a:round/>
              <a:headEnd type="triangle" w="med" len="med"/>
              <a:tailEnd type="triangle" w="med" len="med"/>
            </a:ln>
          </p:spPr>
        </p:sp>
        <p:sp>
          <p:nvSpPr>
            <p:cNvPr id="79884" name="文本框 107534"/>
            <p:cNvSpPr txBox="1"/>
            <p:nvPr/>
          </p:nvSpPr>
          <p:spPr>
            <a:xfrm>
              <a:off x="3548" y="3698"/>
              <a:ext cx="428" cy="256"/>
            </a:xfrm>
            <a:prstGeom prst="rect">
              <a:avLst/>
            </a:prstGeom>
            <a:noFill/>
            <a:ln w="9525">
              <a:noFill/>
            </a:ln>
          </p:spPr>
          <p:txBody>
            <a:bodyPr wrap="none" anchor="t" anchorCtr="0">
              <a:spAutoFit/>
            </a:bodyPr>
            <a:lstStyle/>
            <a:p>
              <a:r>
                <a:rPr lang="en-US" altLang="zh-CN" b="1">
                  <a:latin typeface="Times New Roman" panose="02020603050405020304" pitchFamily="18" charset="0"/>
                  <a:ea typeface="宋体" panose="02010600030101010101" pitchFamily="2" charset="-122"/>
                </a:rPr>
                <a:t>[100]</a:t>
              </a:r>
            </a:p>
          </p:txBody>
        </p:sp>
        <p:sp>
          <p:nvSpPr>
            <p:cNvPr id="79885" name="文本框 107535"/>
            <p:cNvSpPr txBox="1"/>
            <p:nvPr/>
          </p:nvSpPr>
          <p:spPr>
            <a:xfrm>
              <a:off x="1882" y="3685"/>
              <a:ext cx="428" cy="256"/>
            </a:xfrm>
            <a:prstGeom prst="rect">
              <a:avLst/>
            </a:prstGeom>
            <a:noFill/>
            <a:ln w="9525">
              <a:noFill/>
            </a:ln>
          </p:spPr>
          <p:txBody>
            <a:bodyPr wrap="none" anchor="t" anchorCtr="0">
              <a:spAutoFit/>
            </a:bodyPr>
            <a:lstStyle/>
            <a:p>
              <a:r>
                <a:rPr lang="en-US" altLang="zh-CN" b="1">
                  <a:latin typeface="Times New Roman" panose="02020603050405020304" pitchFamily="18" charset="0"/>
                  <a:ea typeface="宋体" panose="02010600030101010101" pitchFamily="2" charset="-122"/>
                </a:rPr>
                <a:t>[111]</a:t>
              </a:r>
            </a:p>
          </p:txBody>
        </p:sp>
        <p:sp>
          <p:nvSpPr>
            <p:cNvPr id="79886" name="文本框 107536"/>
            <p:cNvSpPr txBox="1"/>
            <p:nvPr/>
          </p:nvSpPr>
          <p:spPr>
            <a:xfrm>
              <a:off x="2802" y="3635"/>
              <a:ext cx="260" cy="256"/>
            </a:xfrm>
            <a:prstGeom prst="rect">
              <a:avLst/>
            </a:prstGeom>
            <a:noFill/>
            <a:ln w="9525">
              <a:noFill/>
            </a:ln>
          </p:spPr>
          <p:txBody>
            <a:bodyPr wrap="none" anchor="t" anchorCtr="0">
              <a:spAutoFit/>
            </a:bodyPr>
            <a:lstStyle/>
            <a:p>
              <a:r>
                <a:rPr lang="el-GR" altLang="zh-CN" b="1" dirty="0">
                  <a:latin typeface="Times New Roman" panose="02020603050405020304" pitchFamily="18" charset="0"/>
                  <a:ea typeface="宋体" panose="02010600030101010101" pitchFamily="2" charset="-122"/>
                </a:rPr>
                <a:t>Γ</a:t>
              </a:r>
              <a:endParaRPr lang="el-GR" altLang="zh-CN" b="1" dirty="0">
                <a:latin typeface="Times New Roman" panose="02020603050405020304" pitchFamily="18" charset="0"/>
                <a:ea typeface="Times New Roman" panose="02020603050405020304" pitchFamily="18" charset="0"/>
              </a:endParaRPr>
            </a:p>
          </p:txBody>
        </p:sp>
        <p:sp>
          <p:nvSpPr>
            <p:cNvPr id="79887" name="文本框 107537"/>
            <p:cNvSpPr txBox="1"/>
            <p:nvPr/>
          </p:nvSpPr>
          <p:spPr>
            <a:xfrm>
              <a:off x="1542" y="3635"/>
              <a:ext cx="212" cy="256"/>
            </a:xfrm>
            <a:prstGeom prst="rect">
              <a:avLst/>
            </a:prstGeom>
            <a:noFill/>
            <a:ln w="9525">
              <a:noFill/>
            </a:ln>
          </p:spPr>
          <p:txBody>
            <a:bodyPr wrap="none" anchor="t" anchorCtr="0">
              <a:spAutoFit/>
            </a:bodyPr>
            <a:lstStyle/>
            <a:p>
              <a:r>
                <a:rPr lang="en-US" altLang="zh-CN" b="1">
                  <a:latin typeface="Times New Roman" panose="02020603050405020304" pitchFamily="18" charset="0"/>
                  <a:ea typeface="宋体" panose="02010600030101010101" pitchFamily="2" charset="-122"/>
                </a:rPr>
                <a:t>L</a:t>
              </a:r>
            </a:p>
          </p:txBody>
        </p:sp>
        <p:sp>
          <p:nvSpPr>
            <p:cNvPr id="79888" name="文本框 107538"/>
            <p:cNvSpPr txBox="1"/>
            <p:nvPr/>
          </p:nvSpPr>
          <p:spPr>
            <a:xfrm>
              <a:off x="4173" y="3635"/>
              <a:ext cx="220" cy="256"/>
            </a:xfrm>
            <a:prstGeom prst="rect">
              <a:avLst/>
            </a:prstGeom>
            <a:noFill/>
            <a:ln w="9525">
              <a:noFill/>
            </a:ln>
          </p:spPr>
          <p:txBody>
            <a:bodyPr wrap="none" anchor="t" anchorCtr="0">
              <a:spAutoFit/>
            </a:bodyPr>
            <a:lstStyle/>
            <a:p>
              <a:r>
                <a:rPr lang="en-US" altLang="zh-CN" b="1">
                  <a:latin typeface="Times New Roman" panose="02020603050405020304" pitchFamily="18" charset="0"/>
                  <a:ea typeface="宋体" panose="02010600030101010101" pitchFamily="2" charset="-122"/>
                </a:rPr>
                <a:t>X</a:t>
              </a:r>
            </a:p>
          </p:txBody>
        </p:sp>
      </p:grpSp>
      <p:sp>
        <p:nvSpPr>
          <p:cNvPr id="79889" name="直接连接符 107540"/>
          <p:cNvSpPr/>
          <p:nvPr/>
        </p:nvSpPr>
        <p:spPr>
          <a:xfrm>
            <a:off x="5508625" y="2636838"/>
            <a:ext cx="719138" cy="0"/>
          </a:xfrm>
          <a:prstGeom prst="line">
            <a:avLst/>
          </a:prstGeom>
          <a:ln w="9525" cap="flat" cmpd="sng">
            <a:solidFill>
              <a:schemeClr val="tx1"/>
            </a:solidFill>
            <a:prstDash val="solid"/>
            <a:round/>
            <a:headEnd type="none" w="med" len="med"/>
            <a:tailEnd type="none" w="med" len="med"/>
          </a:ln>
        </p:spPr>
      </p:sp>
      <p:sp>
        <p:nvSpPr>
          <p:cNvPr id="79890" name="文本框 107541"/>
          <p:cNvSpPr txBox="1"/>
          <p:nvPr/>
        </p:nvSpPr>
        <p:spPr>
          <a:xfrm>
            <a:off x="5703888" y="2801938"/>
            <a:ext cx="400050" cy="366712"/>
          </a:xfrm>
          <a:prstGeom prst="rect">
            <a:avLst/>
          </a:prstGeom>
          <a:noFill/>
          <a:ln w="9525">
            <a:noFill/>
          </a:ln>
        </p:spPr>
        <p:txBody>
          <a:bodyPr wrap="none" anchor="t" anchorCtr="0">
            <a:spAutoFit/>
          </a:bodyPr>
          <a:lstStyle/>
          <a:p>
            <a:r>
              <a:rPr lang="en-US" altLang="zh-CN" err="1">
                <a:latin typeface="Times New Roman" panose="02020603050405020304" pitchFamily="18" charset="0"/>
                <a:ea typeface="宋体" panose="02010600030101010101" pitchFamily="2" charset="-122"/>
              </a:rPr>
              <a:t>E</a:t>
            </a:r>
            <a:r>
              <a:rPr lang="en-US" altLang="zh-CN" baseline="-25000" err="1">
                <a:latin typeface="Times New Roman" panose="02020603050405020304" pitchFamily="18" charset="0"/>
                <a:ea typeface="宋体" panose="02010600030101010101" pitchFamily="2" charset="-122"/>
              </a:rPr>
              <a:t>g</a:t>
            </a:r>
            <a:endParaRPr lang="en-US" altLang="zh-CN" baseline="-25000">
              <a:latin typeface="Times New Roman" panose="02020603050405020304" pitchFamily="18" charset="0"/>
              <a:ea typeface="宋体" panose="02010600030101010101" pitchFamily="2" charset="-122"/>
            </a:endParaRPr>
          </a:p>
        </p:txBody>
      </p:sp>
      <p:sp>
        <p:nvSpPr>
          <p:cNvPr id="79891" name="矩形 107542"/>
          <p:cNvSpPr/>
          <p:nvPr/>
        </p:nvSpPr>
        <p:spPr>
          <a:xfrm>
            <a:off x="179388" y="476250"/>
            <a:ext cx="3194050" cy="641350"/>
          </a:xfrm>
          <a:prstGeom prst="rect">
            <a:avLst/>
          </a:prstGeom>
          <a:noFill/>
          <a:ln w="9525">
            <a:noFill/>
          </a:ln>
        </p:spPr>
        <p:txBody>
          <a:bodyPr wrap="none" anchor="t" anchorCtr="0">
            <a:spAutoFit/>
          </a:bodyPr>
          <a:lstStyle/>
          <a:p>
            <a:r>
              <a:rPr lang="en-US" altLang="zh-CN" sz="3600" b="1" dirty="0">
                <a:latin typeface="Times New Roman" panose="02020603050405020304" pitchFamily="18" charset="0"/>
                <a:ea typeface="宋体" panose="02010600030101010101" pitchFamily="2" charset="-122"/>
              </a:rPr>
              <a:t>1.</a:t>
            </a:r>
            <a:r>
              <a:rPr lang="zh-CN" altLang="en-US" sz="3600" b="1" dirty="0">
                <a:latin typeface="Times New Roman" panose="02020603050405020304" pitchFamily="18" charset="0"/>
                <a:ea typeface="宋体" panose="02010600030101010101" pitchFamily="2" charset="-122"/>
              </a:rPr>
              <a:t>元素半导体</a:t>
            </a:r>
            <a:r>
              <a:rPr lang="en-US" altLang="zh-CN" sz="3600" b="1">
                <a:latin typeface="Times New Roman" panose="02020603050405020304" pitchFamily="18" charset="0"/>
                <a:ea typeface="宋体" panose="02010600030101010101" pitchFamily="2" charset="-122"/>
              </a:rPr>
              <a:t>Si</a:t>
            </a:r>
          </a:p>
        </p:txBody>
      </p:sp>
      <p:sp>
        <p:nvSpPr>
          <p:cNvPr id="79892" name="文本框 107544"/>
          <p:cNvSpPr txBox="1"/>
          <p:nvPr/>
        </p:nvSpPr>
        <p:spPr>
          <a:xfrm>
            <a:off x="395288" y="3141663"/>
            <a:ext cx="1944687" cy="592137"/>
          </a:xfrm>
          <a:prstGeom prst="rect">
            <a:avLst/>
          </a:prstGeom>
          <a:noFill/>
          <a:ln w="12700" cap="sq" cmpd="sng">
            <a:solidFill>
              <a:srgbClr val="FFFF00"/>
            </a:solidFill>
            <a:prstDash val="solid"/>
            <a:miter/>
            <a:headEnd type="none" w="sm" len="sm"/>
            <a:tailEnd type="none" w="sm" len="sm"/>
          </a:ln>
        </p:spPr>
        <p:txBody>
          <a:bodyPr anchor="t" anchorCtr="0">
            <a:spAutoFit/>
          </a:bodyPr>
          <a:lstStyle/>
          <a:p>
            <a:pPr eaLnBrk="0" hangingPunct="0"/>
            <a:r>
              <a:rPr lang="zh-CN" altLang="en-US" sz="3200" b="1" dirty="0">
                <a:solidFill>
                  <a:srgbClr val="A50021"/>
                </a:solidFill>
                <a:latin typeface="Arial" panose="020B0604020202020204" pitchFamily="34" charset="0"/>
                <a:ea typeface="宋体" panose="02010600030101010101" pitchFamily="2" charset="-122"/>
              </a:rPr>
              <a:t>间接带隙</a:t>
            </a:r>
            <a:endParaRPr lang="zh-CN" altLang="en-US" sz="3200" b="1">
              <a:solidFill>
                <a:srgbClr val="A50021"/>
              </a:solidFill>
              <a:latin typeface="Arial" panose="020B0604020202020204" pitchFamily="34" charset="0"/>
              <a:ea typeface="宋体" panose="02010600030101010101" pitchFamily="2" charset="-122"/>
            </a:endParaRPr>
          </a:p>
        </p:txBody>
      </p:sp>
      <p:sp>
        <p:nvSpPr>
          <p:cNvPr id="79893" name="矩形 107545"/>
          <p:cNvSpPr/>
          <p:nvPr/>
        </p:nvSpPr>
        <p:spPr>
          <a:xfrm>
            <a:off x="5580063" y="4005263"/>
            <a:ext cx="884237" cy="376237"/>
          </a:xfrm>
          <a:prstGeom prst="rect">
            <a:avLst/>
          </a:prstGeom>
          <a:solidFill>
            <a:schemeClr val="bg1"/>
          </a:solidFill>
          <a:ln w="9525" cap="flat" cmpd="sng">
            <a:solidFill>
              <a:schemeClr val="bg1"/>
            </a:solidFill>
            <a:prstDash val="solid"/>
            <a:miter/>
            <a:headEnd type="none" w="med" len="med"/>
            <a:tailEnd type="none" w="med" len="med"/>
          </a:ln>
        </p:spPr>
        <p:txBody>
          <a:bodyPr wrap="none" anchor="t" anchorCtr="0">
            <a:spAutoFit/>
          </a:bodyPr>
          <a:lstStyle/>
          <a:p>
            <a:r>
              <a:rPr lang="zh-CN" altLang="en-US" b="1" dirty="0">
                <a:solidFill>
                  <a:srgbClr val="A50021"/>
                </a:solidFill>
                <a:latin typeface="Times New Roman" panose="02020603050405020304" pitchFamily="18" charset="0"/>
                <a:ea typeface="宋体" panose="02010600030101010101" pitchFamily="2" charset="-122"/>
              </a:rPr>
              <a:t>重空穴</a:t>
            </a:r>
          </a:p>
        </p:txBody>
      </p:sp>
      <p:sp>
        <p:nvSpPr>
          <p:cNvPr id="79894" name="矩形 107546"/>
          <p:cNvSpPr/>
          <p:nvPr/>
        </p:nvSpPr>
        <p:spPr>
          <a:xfrm>
            <a:off x="5724525" y="4797425"/>
            <a:ext cx="884238" cy="376238"/>
          </a:xfrm>
          <a:prstGeom prst="rect">
            <a:avLst/>
          </a:prstGeom>
          <a:solidFill>
            <a:schemeClr val="bg1"/>
          </a:solidFill>
          <a:ln w="9525" cap="flat" cmpd="sng">
            <a:solidFill>
              <a:schemeClr val="bg1"/>
            </a:solidFill>
            <a:prstDash val="solid"/>
            <a:miter/>
            <a:headEnd type="none" w="med" len="med"/>
            <a:tailEnd type="none" w="med" len="med"/>
          </a:ln>
        </p:spPr>
        <p:txBody>
          <a:bodyPr wrap="none" anchor="t" anchorCtr="0">
            <a:spAutoFit/>
          </a:bodyPr>
          <a:lstStyle/>
          <a:p>
            <a:r>
              <a:rPr lang="zh-CN" altLang="en-US" b="1" dirty="0">
                <a:solidFill>
                  <a:srgbClr val="A50021"/>
                </a:solidFill>
                <a:latin typeface="Times New Roman" panose="02020603050405020304" pitchFamily="18" charset="0"/>
                <a:ea typeface="宋体" panose="02010600030101010101" pitchFamily="2" charset="-122"/>
              </a:rPr>
              <a:t>轻空穴</a:t>
            </a:r>
          </a:p>
        </p:txBody>
      </p:sp>
      <p:sp>
        <p:nvSpPr>
          <p:cNvPr id="79895" name="直接连接符 107547"/>
          <p:cNvSpPr/>
          <p:nvPr/>
        </p:nvSpPr>
        <p:spPr>
          <a:xfrm flipH="1">
            <a:off x="5219700" y="4149725"/>
            <a:ext cx="431800" cy="142875"/>
          </a:xfrm>
          <a:prstGeom prst="line">
            <a:avLst/>
          </a:prstGeom>
          <a:ln w="38100" cap="flat" cmpd="sng">
            <a:solidFill>
              <a:schemeClr val="tx1"/>
            </a:solidFill>
            <a:prstDash val="solid"/>
            <a:round/>
            <a:headEnd type="none" w="med" len="med"/>
            <a:tailEnd type="triangle" w="med" len="med"/>
          </a:ln>
        </p:spPr>
      </p:sp>
      <p:sp>
        <p:nvSpPr>
          <p:cNvPr id="79896" name="直接连接符 107548"/>
          <p:cNvSpPr/>
          <p:nvPr/>
        </p:nvSpPr>
        <p:spPr>
          <a:xfrm flipH="1">
            <a:off x="5148263" y="5013325"/>
            <a:ext cx="647700" cy="215900"/>
          </a:xfrm>
          <a:prstGeom prst="line">
            <a:avLst/>
          </a:prstGeom>
          <a:ln w="38100" cap="flat" cmpd="sng">
            <a:solidFill>
              <a:schemeClr val="tx1"/>
            </a:solidFill>
            <a:prstDash val="solid"/>
            <a:round/>
            <a:headEnd type="none" w="med" len="med"/>
            <a:tailEnd type="triangle" w="med" len="med"/>
          </a:ln>
        </p:spPr>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1" name="Picture 3"/>
          <p:cNvPicPr>
            <a:picLocks noGrp="1" noChangeAspect="1"/>
          </p:cNvPicPr>
          <p:nvPr>
            <p:ph idx="1"/>
          </p:nvPr>
        </p:nvPicPr>
        <p:blipFill>
          <a:blip r:embed="rId2"/>
          <a:stretch>
            <a:fillRect/>
          </a:stretch>
        </p:blipFill>
        <p:spPr>
          <a:xfrm>
            <a:off x="179388" y="1844675"/>
            <a:ext cx="5284787" cy="4687888"/>
          </a:xfrm>
        </p:spPr>
      </p:pic>
      <p:sp>
        <p:nvSpPr>
          <p:cNvPr id="61442" name="Text Box 4"/>
          <p:cNvSpPr txBox="1"/>
          <p:nvPr/>
        </p:nvSpPr>
        <p:spPr>
          <a:xfrm>
            <a:off x="5651500" y="3589338"/>
            <a:ext cx="3570288" cy="1200150"/>
          </a:xfrm>
          <a:prstGeom prst="rect">
            <a:avLst/>
          </a:prstGeom>
          <a:noFill/>
          <a:ln w="9525">
            <a:noFill/>
          </a:ln>
        </p:spPr>
        <p:txBody>
          <a:bodyPr wrap="none" anchor="t" anchorCtr="0">
            <a:spAutoFit/>
          </a:bodyPr>
          <a:lstStyle/>
          <a:p>
            <a:pPr>
              <a:buClrTx/>
              <a:buFontTx/>
            </a:pPr>
            <a:r>
              <a:rPr lang="zh-CN" altLang="en-US" b="0" dirty="0">
                <a:latin typeface="黑体" panose="02010609060101010101" pitchFamily="49" charset="-122"/>
                <a:ea typeface="黑体" panose="02010609060101010101" pitchFamily="49" charset="-122"/>
              </a:rPr>
              <a:t>理论和实验相结合得出的</a:t>
            </a:r>
            <a:endParaRPr lang="en-US" altLang="zh-CN" b="0" dirty="0">
              <a:latin typeface="黑体" panose="02010609060101010101" pitchFamily="49" charset="-122"/>
              <a:ea typeface="黑体" panose="02010609060101010101" pitchFamily="49" charset="-122"/>
            </a:endParaRPr>
          </a:p>
          <a:p>
            <a:pPr>
              <a:buClrTx/>
              <a:buFontTx/>
            </a:pPr>
            <a:r>
              <a:rPr lang="zh-CN" altLang="en-US" b="0" dirty="0">
                <a:latin typeface="黑体" panose="02010609060101010101" pitchFamily="49" charset="-122"/>
                <a:ea typeface="黑体" panose="02010609060101010101" pitchFamily="49" charset="-122"/>
              </a:rPr>
              <a:t>硅、锗沿&lt;111&gt;和&lt;100&gt;方</a:t>
            </a:r>
            <a:endParaRPr lang="en-US" altLang="zh-CN" b="0" dirty="0">
              <a:latin typeface="黑体" panose="02010609060101010101" pitchFamily="49" charset="-122"/>
              <a:ea typeface="黑体" panose="02010609060101010101" pitchFamily="49" charset="-122"/>
            </a:endParaRPr>
          </a:p>
          <a:p>
            <a:pPr>
              <a:buClrTx/>
              <a:buFontTx/>
            </a:pPr>
            <a:r>
              <a:rPr lang="zh-CN" altLang="en-US" b="0" dirty="0">
                <a:latin typeface="黑体" panose="02010609060101010101" pitchFamily="49" charset="-122"/>
                <a:ea typeface="黑体" panose="02010609060101010101" pitchFamily="49" charset="-122"/>
              </a:rPr>
              <a:t>向上的能带结构图。</a:t>
            </a:r>
          </a:p>
        </p:txBody>
      </p:sp>
      <p:sp>
        <p:nvSpPr>
          <p:cNvPr id="5" name="Rectangle 2"/>
          <p:cNvSpPr txBox="1">
            <a:spLocks noChangeArrowheads="1"/>
          </p:cNvSpPr>
          <p:nvPr/>
        </p:nvSpPr>
        <p:spPr>
          <a:xfrm>
            <a:off x="490538" y="908050"/>
            <a:ext cx="8653463" cy="76993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1.</a:t>
            </a:r>
            <a:r>
              <a:rPr kumimoji="1" lang="en-US" altLang="zh-CN"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6</a:t>
            </a: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  硅和锗的导带结构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idx="1"/>
          </p:nvPr>
        </p:nvSpPr>
        <p:spPr>
          <a:xfrm>
            <a:off x="179388" y="1844675"/>
            <a:ext cx="8610600" cy="43926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3200" b="0" i="0" u="none" strike="noStrike" kern="0" cap="none" spc="0" normalizeH="0" baseline="0" noProof="0" dirty="0">
                <a:ln>
                  <a:noFill/>
                </a:ln>
                <a:solidFill>
                  <a:schemeClr val="tx1"/>
                </a:solidFill>
                <a:effectLst/>
                <a:uLnTx/>
                <a:uFillTx/>
                <a:latin typeface="+mn-lt"/>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对于同一个</a:t>
            </a:r>
            <a:r>
              <a:rPr kumimoji="1" lang="en-US" altLang="zh-CN" sz="2400" b="1" i="1" u="none" strike="noStrike" kern="0" cap="none" spc="0" normalizeH="0" baseline="0" noProof="0" dirty="0" err="1">
                <a:ln>
                  <a:noFill/>
                </a:ln>
                <a:solidFill>
                  <a:schemeClr val="tx1"/>
                </a:solidFill>
                <a:effectLst/>
                <a:uLnTx/>
                <a:uFillTx/>
                <a:latin typeface="+mn-ea"/>
                <a:ea typeface="+mn-ea"/>
                <a:cs typeface="+mn-cs"/>
              </a:rPr>
              <a:t>k</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a:t>
            </a:r>
            <a:r>
              <a:rPr kumimoji="1" lang="en-US" altLang="zh-CN" sz="2400" b="1" i="1" u="none" strike="noStrike" kern="0" cap="none" spc="0" normalizeH="0" baseline="0" noProof="0" dirty="0">
                <a:ln>
                  <a:noFill/>
                </a:ln>
                <a:solidFill>
                  <a:schemeClr val="tx1"/>
                </a:solidFill>
                <a:effectLst/>
                <a:uLnTx/>
                <a:uFillTx/>
                <a:latin typeface="+mn-ea"/>
                <a:ea typeface="+mn-ea"/>
                <a:cs typeface="+mn-cs"/>
              </a:rPr>
              <a:t>k</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可以有两个值，在</a:t>
            </a:r>
            <a:r>
              <a:rPr kumimoji="1" lang="en-US" altLang="zh-CN" sz="2400" b="1" i="1" u="none" strike="noStrike" kern="0" cap="none" spc="0" normalizeH="0" baseline="0" noProof="0" dirty="0">
                <a:ln>
                  <a:noFill/>
                </a:ln>
                <a:solidFill>
                  <a:schemeClr val="tx1"/>
                </a:solidFill>
                <a:effectLst/>
                <a:uLnTx/>
                <a:uFillTx/>
                <a:latin typeface="+mn-ea"/>
                <a:ea typeface="+mn-ea"/>
                <a:cs typeface="+mn-cs"/>
              </a:rPr>
              <a:t>k</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=0</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处，能量相重合，这对应于极大值相重合的两个能带，表明硅、锗有两种有效质量不同的空穴。</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如根式前取负号，得到有效质量较大的空穴，称为重空穴，有效质量用</a:t>
            </a:r>
            <a:r>
              <a:rPr kumimoji="1" lang="zh-CN" altLang="en-US" sz="2400" b="0" i="0" u="none" strike="noStrike" kern="0" cap="none" spc="0" normalizeH="0" baseline="0" noProof="0" dirty="0">
                <a:ln>
                  <a:noFill/>
                </a:ln>
                <a:solidFill>
                  <a:schemeClr val="tx1"/>
                </a:solidFill>
                <a:effectLst/>
                <a:uLnTx/>
                <a:uFillTx/>
                <a:latin typeface="+mn-ea"/>
                <a:ea typeface="+mn-ea"/>
                <a:cs typeface="+mn-cs"/>
              </a:rPr>
              <a:t>(</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m</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p</a:t>
            </a:r>
            <a:r>
              <a:rPr kumimoji="1" lang="en-US" altLang="zh-CN" sz="2400" b="0" i="0" u="none" strike="noStrike" kern="0" cap="none" spc="0" normalizeH="0" baseline="30000" noProof="0" dirty="0">
                <a:ln>
                  <a:noFill/>
                </a:ln>
                <a:solidFill>
                  <a:schemeClr val="tx1"/>
                </a:solidFill>
                <a:effectLst/>
                <a:uLnTx/>
                <a:uFillTx/>
                <a:latin typeface="+mn-ea"/>
                <a:ea typeface="+mn-ea"/>
                <a:cs typeface="+mn-cs"/>
              </a:rPr>
              <a:t>*</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a:t>
            </a:r>
            <a:r>
              <a:rPr kumimoji="1" lang="en-US" altLang="zh-CN" sz="2400" b="0" i="0" u="none" strike="noStrike" kern="0" cap="none" spc="0" normalizeH="0" baseline="-25000" noProof="0" dirty="0">
                <a:ln>
                  <a:noFill/>
                </a:ln>
                <a:solidFill>
                  <a:schemeClr val="tx1"/>
                </a:solidFill>
                <a:effectLst/>
                <a:uLnTx/>
                <a:uFillTx/>
                <a:latin typeface="+mn-ea"/>
                <a:ea typeface="+mn-ea"/>
                <a:cs typeface="+mn-cs"/>
              </a:rPr>
              <a:t>h</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表示；</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如取正号，则的有效质量较小的空穴，称为轻空穴，有效质量用</a:t>
            </a:r>
            <a:r>
              <a:rPr kumimoji="1" lang="zh-CN" altLang="en-US" sz="2400" b="0" i="0" u="none" strike="noStrike" kern="0" cap="none" spc="0" normalizeH="0" baseline="0" noProof="0" dirty="0">
                <a:ln>
                  <a:noFill/>
                </a:ln>
                <a:solidFill>
                  <a:schemeClr val="tx1"/>
                </a:solidFill>
                <a:effectLst/>
                <a:uLnTx/>
                <a:uFillTx/>
                <a:latin typeface="+mn-ea"/>
                <a:ea typeface="+mn-ea"/>
                <a:cs typeface="+mn-cs"/>
              </a:rPr>
              <a:t>(</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m</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p</a:t>
            </a:r>
            <a:r>
              <a:rPr kumimoji="1" lang="en-US" altLang="zh-CN" sz="2400" b="0" i="0" u="none" strike="noStrike" kern="0" cap="none" spc="0" normalizeH="0" baseline="30000" noProof="0" dirty="0">
                <a:ln>
                  <a:noFill/>
                </a:ln>
                <a:solidFill>
                  <a:schemeClr val="tx1"/>
                </a:solidFill>
                <a:effectLst/>
                <a:uLnTx/>
                <a:uFillTx/>
                <a:latin typeface="+mn-ea"/>
                <a:ea typeface="+mn-ea"/>
                <a:cs typeface="+mn-cs"/>
              </a:rPr>
              <a:t>*</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a:t>
            </a:r>
            <a:r>
              <a:rPr kumimoji="1" lang="en-US" altLang="zh-CN" sz="2400" b="0" i="0" u="none" strike="noStrike" kern="0" cap="none" spc="0" normalizeH="0" baseline="-25000" noProof="0" dirty="0">
                <a:ln>
                  <a:noFill/>
                </a:ln>
                <a:solidFill>
                  <a:schemeClr val="tx1"/>
                </a:solidFill>
                <a:effectLst/>
                <a:uLnTx/>
                <a:uFillTx/>
                <a:latin typeface="+mn-ea"/>
                <a:ea typeface="+mn-ea"/>
                <a:cs typeface="+mn-cs"/>
              </a:rPr>
              <a:t>l</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表示。</a:t>
            </a:r>
          </a:p>
        </p:txBody>
      </p:sp>
      <p:sp>
        <p:nvSpPr>
          <p:cNvPr id="4" name="Rectangle 2"/>
          <p:cNvSpPr txBox="1">
            <a:spLocks noChangeArrowheads="1"/>
          </p:cNvSpPr>
          <p:nvPr/>
        </p:nvSpPr>
        <p:spPr>
          <a:xfrm>
            <a:off x="490538" y="908050"/>
            <a:ext cx="8653463" cy="76993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1.</a:t>
            </a:r>
            <a:r>
              <a:rPr kumimoji="1" lang="en-US" altLang="zh-CN"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6</a:t>
            </a: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  硅和锗的导带结构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文本框 108559"/>
          <p:cNvSpPr txBox="1"/>
          <p:nvPr/>
        </p:nvSpPr>
        <p:spPr>
          <a:xfrm>
            <a:off x="6155690" y="4364990"/>
            <a:ext cx="2545715" cy="337185"/>
          </a:xfrm>
          <a:prstGeom prst="rect">
            <a:avLst/>
          </a:prstGeom>
          <a:noFill/>
          <a:ln w="9525">
            <a:noFill/>
          </a:ln>
        </p:spPr>
        <p:txBody>
          <a:bodyPr wrap="square" anchor="t" anchorCtr="0">
            <a:spAutoFit/>
          </a:bodyPr>
          <a:lstStyle/>
          <a:p>
            <a:r>
              <a:rPr lang="zh-CN" altLang="en-US" sz="1600" b="1" dirty="0">
                <a:latin typeface="Times New Roman" panose="02020603050405020304" pitchFamily="18" charset="0"/>
                <a:ea typeface="宋体" panose="02010600030101010101" pitchFamily="2" charset="-122"/>
              </a:rPr>
              <a:t>硅导带等能面示意图</a:t>
            </a:r>
          </a:p>
        </p:txBody>
      </p:sp>
      <p:sp>
        <p:nvSpPr>
          <p:cNvPr id="80898" name="文本框 108562"/>
          <p:cNvSpPr txBox="1"/>
          <p:nvPr/>
        </p:nvSpPr>
        <p:spPr>
          <a:xfrm>
            <a:off x="140335" y="1412875"/>
            <a:ext cx="4726305" cy="2245360"/>
          </a:xfrm>
          <a:prstGeom prst="rect">
            <a:avLst/>
          </a:prstGeom>
          <a:noFill/>
          <a:ln w="12700">
            <a:noFill/>
          </a:ln>
        </p:spPr>
        <p:txBody>
          <a:bodyPr wrap="square" anchor="t" anchorCtr="0">
            <a:spAutoFit/>
          </a:bodyPr>
          <a:lstStyle/>
          <a:p>
            <a:pPr eaLnBrk="0" hangingPunct="0"/>
            <a:r>
              <a:rPr lang="zh-CN" altLang="en-US" sz="2800" dirty="0">
                <a:latin typeface="Arial" panose="020B0604020202020204" pitchFamily="34" charset="0"/>
                <a:ea typeface="宋体" panose="02010600030101010101" pitchFamily="2" charset="-122"/>
              </a:rPr>
              <a:t>极小值点</a:t>
            </a:r>
            <a:r>
              <a:rPr lang="en-US" altLang="zh-CN" sz="2800">
                <a:latin typeface="Arial" panose="020B0604020202020204" pitchFamily="34" charset="0"/>
                <a:ea typeface="宋体" panose="02010600030101010101" pitchFamily="2" charset="-122"/>
              </a:rPr>
              <a:t>k</a:t>
            </a:r>
            <a:r>
              <a:rPr lang="en-US" altLang="zh-CN" sz="2800" baseline="-25000">
                <a:latin typeface="Arial" panose="020B0604020202020204" pitchFamily="34" charset="0"/>
                <a:ea typeface="宋体" panose="02010600030101010101" pitchFamily="2" charset="-122"/>
              </a:rPr>
              <a:t>0</a:t>
            </a:r>
            <a:r>
              <a:rPr lang="zh-CN" altLang="en-US" sz="2800" dirty="0">
                <a:latin typeface="Arial" panose="020B0604020202020204" pitchFamily="34" charset="0"/>
                <a:ea typeface="宋体" panose="02010600030101010101" pitchFamily="2" charset="-122"/>
              </a:rPr>
              <a:t>在坐标轴</a:t>
            </a:r>
            <a:r>
              <a:rPr lang="en-US" altLang="zh-CN" sz="2800" dirty="0">
                <a:latin typeface="Arial" panose="020B0604020202020204" pitchFamily="34" charset="0"/>
                <a:ea typeface="宋体" panose="02010600030101010101" pitchFamily="2" charset="-122"/>
              </a:rPr>
              <a:t>[100]</a:t>
            </a:r>
            <a:r>
              <a:rPr lang="zh-CN" altLang="en-US" sz="2800" dirty="0">
                <a:latin typeface="Arial" panose="020B0604020202020204" pitchFamily="34" charset="0"/>
                <a:ea typeface="宋体" panose="02010600030101010101" pitchFamily="2" charset="-122"/>
              </a:rPr>
              <a:t>上。</a:t>
            </a:r>
          </a:p>
          <a:p>
            <a:pPr eaLnBrk="0" hangingPunct="0"/>
            <a:endParaRPr lang="zh-CN" altLang="en-US" sz="2800" dirty="0">
              <a:latin typeface="Arial" panose="020B0604020202020204" pitchFamily="34" charset="0"/>
              <a:ea typeface="宋体" panose="02010600030101010101" pitchFamily="2" charset="-122"/>
            </a:endParaRPr>
          </a:p>
          <a:p>
            <a:pPr eaLnBrk="0" hangingPunct="0"/>
            <a:r>
              <a:rPr lang="zh-CN" altLang="en-US" sz="2800" dirty="0">
                <a:latin typeface="Arial" panose="020B0604020202020204" pitchFamily="34" charset="0"/>
                <a:ea typeface="宋体" panose="02010600030101010101" pitchFamily="2" charset="-122"/>
              </a:rPr>
              <a:t>共有</a:t>
            </a:r>
            <a:r>
              <a:rPr lang="en-US" altLang="zh-CN" sz="2800" dirty="0">
                <a:latin typeface="Arial" panose="020B0604020202020204" pitchFamily="34" charset="0"/>
                <a:ea typeface="宋体" panose="02010600030101010101" pitchFamily="2" charset="-122"/>
              </a:rPr>
              <a:t>6</a:t>
            </a:r>
            <a:r>
              <a:rPr lang="zh-CN" altLang="en-US" sz="2800" dirty="0">
                <a:latin typeface="Arial" panose="020B0604020202020204" pitchFamily="34" charset="0"/>
                <a:ea typeface="宋体" panose="02010600030101010101" pitchFamily="2" charset="-122"/>
              </a:rPr>
              <a:t>个形状一样的旋转椭球等能面</a:t>
            </a:r>
            <a:endParaRPr lang="zh-CN" altLang="en-US" sz="2800" dirty="0">
              <a:latin typeface="Arial" panose="020B0604020202020204" pitchFamily="34" charset="0"/>
              <a:ea typeface="Arial" panose="020B0604020202020204" pitchFamily="34" charset="0"/>
            </a:endParaRPr>
          </a:p>
        </p:txBody>
      </p:sp>
      <p:sp>
        <p:nvSpPr>
          <p:cNvPr id="80899" name="文本框 108563"/>
          <p:cNvSpPr txBox="1"/>
          <p:nvPr/>
        </p:nvSpPr>
        <p:spPr>
          <a:xfrm>
            <a:off x="611188" y="620713"/>
            <a:ext cx="2238375" cy="641350"/>
          </a:xfrm>
          <a:prstGeom prst="rect">
            <a:avLst/>
          </a:prstGeom>
          <a:noFill/>
          <a:ln w="12700">
            <a:noFill/>
          </a:ln>
        </p:spPr>
        <p:txBody>
          <a:bodyPr anchor="t" anchorCtr="0">
            <a:spAutoFit/>
          </a:bodyPr>
          <a:lstStyle/>
          <a:p>
            <a:pPr eaLnBrk="0" hangingPunct="0"/>
            <a:r>
              <a:rPr lang="en-US" altLang="zh-CN" sz="3600" b="1" dirty="0">
                <a:latin typeface="Arial" panose="020B0604020202020204" pitchFamily="34" charset="0"/>
                <a:ea typeface="宋体" panose="02010600030101010101" pitchFamily="2" charset="-122"/>
              </a:rPr>
              <a:t>(1)</a:t>
            </a:r>
            <a:r>
              <a:rPr lang="zh-CN" altLang="en-US" sz="3600" b="1" dirty="0">
                <a:latin typeface="Arial" panose="020B0604020202020204" pitchFamily="34" charset="0"/>
                <a:ea typeface="宋体" panose="02010600030101010101" pitchFamily="2" charset="-122"/>
              </a:rPr>
              <a:t>导带</a:t>
            </a:r>
          </a:p>
        </p:txBody>
      </p:sp>
      <p:grpSp>
        <p:nvGrpSpPr>
          <p:cNvPr id="80900" name="组合 108578"/>
          <p:cNvGrpSpPr/>
          <p:nvPr/>
        </p:nvGrpSpPr>
        <p:grpSpPr>
          <a:xfrm>
            <a:off x="5434965" y="933450"/>
            <a:ext cx="3352165" cy="3123565"/>
            <a:chOff x="2765" y="806"/>
            <a:chExt cx="2668" cy="2542"/>
          </a:xfrm>
        </p:grpSpPr>
        <p:sp>
          <p:nvSpPr>
            <p:cNvPr id="80901" name="直接连接符 108546"/>
            <p:cNvSpPr/>
            <p:nvPr/>
          </p:nvSpPr>
          <p:spPr>
            <a:xfrm>
              <a:off x="3567" y="2038"/>
              <a:ext cx="1056" cy="0"/>
            </a:xfrm>
            <a:prstGeom prst="line">
              <a:avLst/>
            </a:prstGeom>
            <a:ln w="9525" cap="flat" cmpd="sng">
              <a:solidFill>
                <a:schemeClr val="tx1"/>
              </a:solidFill>
              <a:prstDash val="solid"/>
              <a:round/>
              <a:headEnd type="none" w="med" len="med"/>
              <a:tailEnd type="none" w="med" len="med"/>
            </a:ln>
          </p:spPr>
        </p:sp>
        <p:sp>
          <p:nvSpPr>
            <p:cNvPr id="80902" name="椭圆 108547"/>
            <p:cNvSpPr/>
            <p:nvPr/>
          </p:nvSpPr>
          <p:spPr>
            <a:xfrm>
              <a:off x="3231" y="1990"/>
              <a:ext cx="336" cy="144"/>
            </a:xfrm>
            <a:prstGeom prst="ellipse">
              <a:avLst/>
            </a:prstGeom>
            <a:solidFill>
              <a:srgbClr val="CC99FF"/>
            </a:solidFill>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80903" name="椭圆 108548"/>
            <p:cNvSpPr/>
            <p:nvPr/>
          </p:nvSpPr>
          <p:spPr>
            <a:xfrm>
              <a:off x="4623" y="1990"/>
              <a:ext cx="288" cy="144"/>
            </a:xfrm>
            <a:prstGeom prst="ellipse">
              <a:avLst/>
            </a:prstGeom>
            <a:solidFill>
              <a:srgbClr val="CC99FF"/>
            </a:solidFill>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80904" name="直接连接符 108549"/>
            <p:cNvSpPr/>
            <p:nvPr/>
          </p:nvSpPr>
          <p:spPr>
            <a:xfrm>
              <a:off x="4143" y="1414"/>
              <a:ext cx="0" cy="1344"/>
            </a:xfrm>
            <a:prstGeom prst="line">
              <a:avLst/>
            </a:prstGeom>
            <a:ln w="9525" cap="flat" cmpd="sng">
              <a:solidFill>
                <a:schemeClr val="tx1"/>
              </a:solidFill>
              <a:prstDash val="solid"/>
              <a:round/>
              <a:headEnd type="none" w="med" len="med"/>
              <a:tailEnd type="none" w="med" len="med"/>
            </a:ln>
          </p:spPr>
        </p:sp>
        <p:sp>
          <p:nvSpPr>
            <p:cNvPr id="80905" name="椭圆 108550"/>
            <p:cNvSpPr/>
            <p:nvPr/>
          </p:nvSpPr>
          <p:spPr>
            <a:xfrm>
              <a:off x="4047" y="1126"/>
              <a:ext cx="144" cy="288"/>
            </a:xfrm>
            <a:prstGeom prst="ellipse">
              <a:avLst/>
            </a:prstGeom>
            <a:solidFill>
              <a:srgbClr val="CC99FF"/>
            </a:solidFill>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80906" name="椭圆 108551"/>
            <p:cNvSpPr/>
            <p:nvPr/>
          </p:nvSpPr>
          <p:spPr>
            <a:xfrm>
              <a:off x="4095" y="2710"/>
              <a:ext cx="144" cy="288"/>
            </a:xfrm>
            <a:prstGeom prst="ellipse">
              <a:avLst/>
            </a:prstGeom>
            <a:solidFill>
              <a:srgbClr val="CC99FF"/>
            </a:solidFill>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80907" name="直接连接符 108552"/>
            <p:cNvSpPr/>
            <p:nvPr/>
          </p:nvSpPr>
          <p:spPr>
            <a:xfrm flipV="1">
              <a:off x="3855" y="1606"/>
              <a:ext cx="720" cy="720"/>
            </a:xfrm>
            <a:prstGeom prst="line">
              <a:avLst/>
            </a:prstGeom>
            <a:ln w="9525" cap="flat" cmpd="sng">
              <a:solidFill>
                <a:schemeClr val="tx1"/>
              </a:solidFill>
              <a:prstDash val="solid"/>
              <a:round/>
              <a:headEnd type="none" w="med" len="med"/>
              <a:tailEnd type="none" w="med" len="med"/>
            </a:ln>
          </p:spPr>
        </p:sp>
        <p:sp>
          <p:nvSpPr>
            <p:cNvPr id="80908" name="椭圆 108560"/>
            <p:cNvSpPr/>
            <p:nvPr/>
          </p:nvSpPr>
          <p:spPr>
            <a:xfrm rot="-1463344">
              <a:off x="3615" y="2326"/>
              <a:ext cx="288" cy="144"/>
            </a:xfrm>
            <a:prstGeom prst="ellipse">
              <a:avLst/>
            </a:prstGeom>
            <a:solidFill>
              <a:srgbClr val="CC99FF"/>
            </a:solidFill>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80909" name="椭圆 108561"/>
            <p:cNvSpPr/>
            <p:nvPr/>
          </p:nvSpPr>
          <p:spPr>
            <a:xfrm rot="-1826428">
              <a:off x="4527" y="1414"/>
              <a:ext cx="336" cy="144"/>
            </a:xfrm>
            <a:prstGeom prst="ellipse">
              <a:avLst/>
            </a:prstGeom>
            <a:solidFill>
              <a:srgbClr val="CC99FF"/>
            </a:solidFill>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80910" name="文本框 108564"/>
            <p:cNvSpPr txBox="1"/>
            <p:nvPr/>
          </p:nvSpPr>
          <p:spPr>
            <a:xfrm>
              <a:off x="3663" y="2086"/>
              <a:ext cx="244" cy="375"/>
            </a:xfrm>
            <a:prstGeom prst="rect">
              <a:avLst/>
            </a:prstGeom>
            <a:noFill/>
            <a:ln w="12700">
              <a:noFill/>
            </a:ln>
          </p:spPr>
          <p:txBody>
            <a:bodyPr wrap="square" anchor="t" anchorCtr="0">
              <a:spAutoFit/>
            </a:bodyPr>
            <a:lstStyle/>
            <a:p>
              <a:pPr eaLnBrk="0" hangingPunct="0"/>
              <a:r>
                <a:rPr lang="en-US" altLang="zh-CN" sz="2400">
                  <a:latin typeface="Arial" panose="020B0604020202020204" pitchFamily="34" charset="0"/>
                  <a:ea typeface="宋体" panose="02010600030101010101" pitchFamily="2" charset="-122"/>
                </a:rPr>
                <a:t>A</a:t>
              </a:r>
            </a:p>
          </p:txBody>
        </p:sp>
        <p:sp>
          <p:nvSpPr>
            <p:cNvPr id="80911" name="文本框 108565"/>
            <p:cNvSpPr txBox="1"/>
            <p:nvPr/>
          </p:nvSpPr>
          <p:spPr>
            <a:xfrm>
              <a:off x="4431" y="1270"/>
              <a:ext cx="244" cy="375"/>
            </a:xfrm>
            <a:prstGeom prst="rect">
              <a:avLst/>
            </a:prstGeom>
            <a:noFill/>
            <a:ln w="12700">
              <a:noFill/>
            </a:ln>
          </p:spPr>
          <p:txBody>
            <a:bodyPr wrap="square" anchor="t" anchorCtr="0">
              <a:spAutoFit/>
            </a:bodyPr>
            <a:lstStyle/>
            <a:p>
              <a:pPr eaLnBrk="0" hangingPunct="0"/>
              <a:r>
                <a:rPr lang="en-US" altLang="zh-CN" sz="2400">
                  <a:latin typeface="Arial" panose="020B0604020202020204" pitchFamily="34" charset="0"/>
                  <a:ea typeface="宋体" panose="02010600030101010101" pitchFamily="2" charset="-122"/>
                </a:rPr>
                <a:t>B</a:t>
              </a:r>
            </a:p>
          </p:txBody>
        </p:sp>
        <p:sp>
          <p:nvSpPr>
            <p:cNvPr id="80912" name="文本框 108566"/>
            <p:cNvSpPr txBox="1"/>
            <p:nvPr/>
          </p:nvSpPr>
          <p:spPr>
            <a:xfrm>
              <a:off x="3317" y="1727"/>
              <a:ext cx="255" cy="375"/>
            </a:xfrm>
            <a:prstGeom prst="rect">
              <a:avLst/>
            </a:prstGeom>
            <a:noFill/>
            <a:ln w="12700">
              <a:noFill/>
            </a:ln>
          </p:spPr>
          <p:txBody>
            <a:bodyPr wrap="square" anchor="t" anchorCtr="0">
              <a:spAutoFit/>
            </a:bodyPr>
            <a:lstStyle/>
            <a:p>
              <a:pPr eaLnBrk="0" hangingPunct="0"/>
              <a:r>
                <a:rPr lang="en-US" altLang="zh-CN" sz="2400">
                  <a:latin typeface="Arial" panose="020B0604020202020204" pitchFamily="34" charset="0"/>
                  <a:ea typeface="宋体" panose="02010600030101010101" pitchFamily="2" charset="-122"/>
                </a:rPr>
                <a:t>C</a:t>
              </a:r>
            </a:p>
          </p:txBody>
        </p:sp>
        <p:sp>
          <p:nvSpPr>
            <p:cNvPr id="80913" name="文本框 108567"/>
            <p:cNvSpPr txBox="1"/>
            <p:nvPr/>
          </p:nvSpPr>
          <p:spPr>
            <a:xfrm>
              <a:off x="4613" y="1775"/>
              <a:ext cx="255" cy="375"/>
            </a:xfrm>
            <a:prstGeom prst="rect">
              <a:avLst/>
            </a:prstGeom>
            <a:noFill/>
            <a:ln w="12700">
              <a:noFill/>
            </a:ln>
          </p:spPr>
          <p:txBody>
            <a:bodyPr wrap="square" anchor="t" anchorCtr="0">
              <a:spAutoFit/>
            </a:bodyPr>
            <a:lstStyle/>
            <a:p>
              <a:pPr eaLnBrk="0" hangingPunct="0"/>
              <a:r>
                <a:rPr lang="en-US" altLang="zh-CN" sz="2400">
                  <a:latin typeface="Arial" panose="020B0604020202020204" pitchFamily="34" charset="0"/>
                  <a:ea typeface="宋体" panose="02010600030101010101" pitchFamily="2" charset="-122"/>
                </a:rPr>
                <a:t>D</a:t>
              </a:r>
            </a:p>
          </p:txBody>
        </p:sp>
        <p:graphicFrame>
          <p:nvGraphicFramePr>
            <p:cNvPr id="80914" name="对象 108571"/>
            <p:cNvGraphicFramePr/>
            <p:nvPr/>
          </p:nvGraphicFramePr>
          <p:xfrm>
            <a:off x="3968" y="3058"/>
            <a:ext cx="499" cy="290"/>
          </p:xfrm>
          <a:graphic>
            <a:graphicData uri="http://schemas.openxmlformats.org/presentationml/2006/ole">
              <mc:AlternateContent xmlns:mc="http://schemas.openxmlformats.org/markup-compatibility/2006">
                <mc:Choice xmlns:v="urn:schemas-microsoft-com:vml" Requires="v">
                  <p:oleObj r:id="rId2" imgW="393700" imgH="228600" progId="Equation.DSMT4">
                    <p:embed/>
                  </p:oleObj>
                </mc:Choice>
                <mc:Fallback>
                  <p:oleObj r:id="rId2" imgW="393700" imgH="228600" progId="Equation.DSMT4">
                    <p:embed/>
                    <p:pic>
                      <p:nvPicPr>
                        <p:cNvPr id="0" name="图片 3137"/>
                        <p:cNvPicPr/>
                        <p:nvPr/>
                      </p:nvPicPr>
                      <p:blipFill>
                        <a:blip r:embed="rId3"/>
                        <a:stretch>
                          <a:fillRect/>
                        </a:stretch>
                      </p:blipFill>
                      <p:spPr>
                        <a:xfrm>
                          <a:off x="3968" y="3058"/>
                          <a:ext cx="499" cy="290"/>
                        </a:xfrm>
                        <a:prstGeom prst="rect">
                          <a:avLst/>
                        </a:prstGeom>
                        <a:noFill/>
                        <a:ln w="38100">
                          <a:noFill/>
                          <a:miter/>
                        </a:ln>
                      </p:spPr>
                    </p:pic>
                  </p:oleObj>
                </mc:Fallback>
              </mc:AlternateContent>
            </a:graphicData>
          </a:graphic>
        </p:graphicFrame>
        <p:graphicFrame>
          <p:nvGraphicFramePr>
            <p:cNvPr id="80915" name="对象 108572"/>
            <p:cNvGraphicFramePr/>
            <p:nvPr/>
          </p:nvGraphicFramePr>
          <p:xfrm>
            <a:off x="3923" y="806"/>
            <a:ext cx="451" cy="257"/>
          </p:xfrm>
          <a:graphic>
            <a:graphicData uri="http://schemas.openxmlformats.org/presentationml/2006/ole">
              <mc:AlternateContent xmlns:mc="http://schemas.openxmlformats.org/markup-compatibility/2006">
                <mc:Choice xmlns:v="urn:schemas-microsoft-com:vml" Requires="v">
                  <p:oleObj r:id="rId4" imgW="355600" imgH="203200" progId="Equation.DSMT4">
                    <p:embed/>
                  </p:oleObj>
                </mc:Choice>
                <mc:Fallback>
                  <p:oleObj r:id="rId4" imgW="355600" imgH="203200" progId="Equation.DSMT4">
                    <p:embed/>
                    <p:pic>
                      <p:nvPicPr>
                        <p:cNvPr id="0" name="图片 3138"/>
                        <p:cNvPicPr/>
                        <p:nvPr/>
                      </p:nvPicPr>
                      <p:blipFill>
                        <a:blip r:embed="rId5"/>
                        <a:stretch>
                          <a:fillRect/>
                        </a:stretch>
                      </p:blipFill>
                      <p:spPr>
                        <a:xfrm>
                          <a:off x="3923" y="806"/>
                          <a:ext cx="451" cy="257"/>
                        </a:xfrm>
                        <a:prstGeom prst="rect">
                          <a:avLst/>
                        </a:prstGeom>
                        <a:noFill/>
                        <a:ln w="38100">
                          <a:noFill/>
                          <a:miter/>
                        </a:ln>
                      </p:spPr>
                    </p:pic>
                  </p:oleObj>
                </mc:Fallback>
              </mc:AlternateContent>
            </a:graphicData>
          </a:graphic>
        </p:graphicFrame>
        <p:graphicFrame>
          <p:nvGraphicFramePr>
            <p:cNvPr id="80916" name="对象 108574"/>
            <p:cNvGraphicFramePr/>
            <p:nvPr/>
          </p:nvGraphicFramePr>
          <p:xfrm>
            <a:off x="4822" y="1046"/>
            <a:ext cx="467" cy="289"/>
          </p:xfrm>
          <a:graphic>
            <a:graphicData uri="http://schemas.openxmlformats.org/presentationml/2006/ole">
              <mc:AlternateContent xmlns:mc="http://schemas.openxmlformats.org/markup-compatibility/2006">
                <mc:Choice xmlns:v="urn:schemas-microsoft-com:vml" Requires="v">
                  <p:oleObj r:id="rId6" imgW="368300" imgH="228600" progId="Equation.DSMT4">
                    <p:embed/>
                  </p:oleObj>
                </mc:Choice>
                <mc:Fallback>
                  <p:oleObj r:id="rId6" imgW="368300" imgH="228600" progId="Equation.DSMT4">
                    <p:embed/>
                    <p:pic>
                      <p:nvPicPr>
                        <p:cNvPr id="0" name="图片 3139"/>
                        <p:cNvPicPr/>
                        <p:nvPr/>
                      </p:nvPicPr>
                      <p:blipFill>
                        <a:blip r:embed="rId7"/>
                        <a:stretch>
                          <a:fillRect/>
                        </a:stretch>
                      </p:blipFill>
                      <p:spPr>
                        <a:xfrm>
                          <a:off x="4822" y="1046"/>
                          <a:ext cx="467" cy="289"/>
                        </a:xfrm>
                        <a:prstGeom prst="rect">
                          <a:avLst/>
                        </a:prstGeom>
                        <a:noFill/>
                        <a:ln w="38100">
                          <a:noFill/>
                          <a:miter/>
                        </a:ln>
                      </p:spPr>
                    </p:pic>
                  </p:oleObj>
                </mc:Fallback>
              </mc:AlternateContent>
            </a:graphicData>
          </a:graphic>
        </p:graphicFrame>
        <p:graphicFrame>
          <p:nvGraphicFramePr>
            <p:cNvPr id="80917" name="对象 108575"/>
            <p:cNvGraphicFramePr/>
            <p:nvPr/>
          </p:nvGraphicFramePr>
          <p:xfrm>
            <a:off x="3213" y="2575"/>
            <a:ext cx="435" cy="257"/>
          </p:xfrm>
          <a:graphic>
            <a:graphicData uri="http://schemas.openxmlformats.org/presentationml/2006/ole">
              <mc:AlternateContent xmlns:mc="http://schemas.openxmlformats.org/markup-compatibility/2006">
                <mc:Choice xmlns:v="urn:schemas-microsoft-com:vml" Requires="v">
                  <p:oleObj r:id="rId8" imgW="342900" imgH="203200" progId="Equation.DSMT4">
                    <p:embed/>
                  </p:oleObj>
                </mc:Choice>
                <mc:Fallback>
                  <p:oleObj r:id="rId8" imgW="342900" imgH="203200" progId="Equation.DSMT4">
                    <p:embed/>
                    <p:pic>
                      <p:nvPicPr>
                        <p:cNvPr id="0" name="图片 3163"/>
                        <p:cNvPicPr/>
                        <p:nvPr/>
                      </p:nvPicPr>
                      <p:blipFill>
                        <a:blip r:embed="rId9"/>
                        <a:stretch>
                          <a:fillRect/>
                        </a:stretch>
                      </p:blipFill>
                      <p:spPr>
                        <a:xfrm>
                          <a:off x="3213" y="2575"/>
                          <a:ext cx="435" cy="257"/>
                        </a:xfrm>
                        <a:prstGeom prst="rect">
                          <a:avLst/>
                        </a:prstGeom>
                        <a:noFill/>
                        <a:ln w="38100">
                          <a:noFill/>
                          <a:miter/>
                        </a:ln>
                      </p:spPr>
                    </p:pic>
                  </p:oleObj>
                </mc:Fallback>
              </mc:AlternateContent>
            </a:graphicData>
          </a:graphic>
        </p:graphicFrame>
        <p:graphicFrame>
          <p:nvGraphicFramePr>
            <p:cNvPr id="80918" name="对象 108576"/>
            <p:cNvGraphicFramePr/>
            <p:nvPr/>
          </p:nvGraphicFramePr>
          <p:xfrm>
            <a:off x="2765" y="1908"/>
            <a:ext cx="483" cy="289"/>
          </p:xfrm>
          <a:graphic>
            <a:graphicData uri="http://schemas.openxmlformats.org/presentationml/2006/ole">
              <mc:AlternateContent xmlns:mc="http://schemas.openxmlformats.org/markup-compatibility/2006">
                <mc:Choice xmlns:v="urn:schemas-microsoft-com:vml" Requires="v">
                  <p:oleObj r:id="rId10" imgW="381000" imgH="228600" progId="Equation.DSMT4">
                    <p:embed/>
                  </p:oleObj>
                </mc:Choice>
                <mc:Fallback>
                  <p:oleObj r:id="rId10" imgW="381000" imgH="228600" progId="Equation.DSMT4">
                    <p:embed/>
                    <p:pic>
                      <p:nvPicPr>
                        <p:cNvPr id="0" name="图片 3160"/>
                        <p:cNvPicPr/>
                        <p:nvPr/>
                      </p:nvPicPr>
                      <p:blipFill>
                        <a:blip r:embed="rId11"/>
                        <a:stretch>
                          <a:fillRect/>
                        </a:stretch>
                      </p:blipFill>
                      <p:spPr>
                        <a:xfrm>
                          <a:off x="2765" y="1908"/>
                          <a:ext cx="483" cy="289"/>
                        </a:xfrm>
                        <a:prstGeom prst="rect">
                          <a:avLst/>
                        </a:prstGeom>
                        <a:noFill/>
                        <a:ln w="38100">
                          <a:noFill/>
                          <a:miter/>
                        </a:ln>
                      </p:spPr>
                    </p:pic>
                  </p:oleObj>
                </mc:Fallback>
              </mc:AlternateContent>
            </a:graphicData>
          </a:graphic>
        </p:graphicFrame>
        <p:graphicFrame>
          <p:nvGraphicFramePr>
            <p:cNvPr id="80919" name="对象 108577"/>
            <p:cNvGraphicFramePr/>
            <p:nvPr/>
          </p:nvGraphicFramePr>
          <p:xfrm>
            <a:off x="4982" y="1894"/>
            <a:ext cx="451" cy="257"/>
          </p:xfrm>
          <a:graphic>
            <a:graphicData uri="http://schemas.openxmlformats.org/presentationml/2006/ole">
              <mc:AlternateContent xmlns:mc="http://schemas.openxmlformats.org/markup-compatibility/2006">
                <mc:Choice xmlns:v="urn:schemas-microsoft-com:vml" Requires="v">
                  <p:oleObj r:id="rId12" imgW="355600" imgH="203200" progId="Equation.DSMT4">
                    <p:embed/>
                  </p:oleObj>
                </mc:Choice>
                <mc:Fallback>
                  <p:oleObj r:id="rId12" imgW="355600" imgH="203200" progId="Equation.DSMT4">
                    <p:embed/>
                    <p:pic>
                      <p:nvPicPr>
                        <p:cNvPr id="0" name="图片 3161"/>
                        <p:cNvPicPr/>
                        <p:nvPr/>
                      </p:nvPicPr>
                      <p:blipFill>
                        <a:blip r:embed="rId13"/>
                        <a:stretch>
                          <a:fillRect/>
                        </a:stretch>
                      </p:blipFill>
                      <p:spPr>
                        <a:xfrm>
                          <a:off x="4982" y="1894"/>
                          <a:ext cx="451" cy="257"/>
                        </a:xfrm>
                        <a:prstGeom prst="rect">
                          <a:avLst/>
                        </a:prstGeom>
                        <a:noFill/>
                        <a:ln w="38100">
                          <a:noFill/>
                          <a:miter/>
                        </a:ln>
                      </p:spPr>
                    </p:pic>
                  </p:oleObj>
                </mc:Fallback>
              </mc:AlternateContent>
            </a:graphicData>
          </a:graphic>
        </p:graphicFrame>
      </p:grpSp>
      <p:pic>
        <p:nvPicPr>
          <p:cNvPr id="80920" name="图片 108579"/>
          <p:cNvPicPr>
            <a:picLocks noChangeAspect="1"/>
          </p:cNvPicPr>
          <p:nvPr/>
        </p:nvPicPr>
        <p:blipFill>
          <a:blip r:embed="rId14"/>
          <a:stretch>
            <a:fillRect/>
          </a:stretch>
        </p:blipFill>
        <p:spPr>
          <a:xfrm>
            <a:off x="1042988" y="3719513"/>
            <a:ext cx="2921000" cy="3138487"/>
          </a:xfrm>
          <a:prstGeom prst="rect">
            <a:avLst/>
          </a:prstGeom>
          <a:noFill/>
          <a:ln w="12700">
            <a:noFill/>
          </a:ln>
        </p:spPr>
      </p:pic>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文本框 109569"/>
          <p:cNvSpPr txBox="1"/>
          <p:nvPr/>
        </p:nvSpPr>
        <p:spPr>
          <a:xfrm>
            <a:off x="539750" y="620713"/>
            <a:ext cx="3024188" cy="701675"/>
          </a:xfrm>
          <a:prstGeom prst="rect">
            <a:avLst/>
          </a:prstGeom>
          <a:noFill/>
          <a:ln w="12700">
            <a:noFill/>
          </a:ln>
        </p:spPr>
        <p:txBody>
          <a:bodyPr anchor="t" anchorCtr="0">
            <a:spAutoFit/>
          </a:bodyPr>
          <a:lstStyle/>
          <a:p>
            <a:r>
              <a:rPr lang="zh-CN" altLang="en-US" sz="4000" b="1" dirty="0">
                <a:latin typeface="Tahoma" panose="020B0604030504040204" pitchFamily="34" charset="0"/>
                <a:ea typeface="宋体" panose="02010600030101010101" pitchFamily="2" charset="-122"/>
              </a:rPr>
              <a:t>（</a:t>
            </a:r>
            <a:r>
              <a:rPr lang="en-US" altLang="zh-CN" sz="4000" b="1" dirty="0">
                <a:latin typeface="Tahoma" panose="020B0604030504040204" pitchFamily="34" charset="0"/>
                <a:ea typeface="宋体" panose="02010600030101010101" pitchFamily="2" charset="-122"/>
              </a:rPr>
              <a:t>2</a:t>
            </a:r>
            <a:r>
              <a:rPr lang="zh-CN" altLang="en-US" sz="4000" b="1" dirty="0">
                <a:latin typeface="Tahoma" panose="020B0604030504040204" pitchFamily="34" charset="0"/>
                <a:ea typeface="宋体" panose="02010600030101010101" pitchFamily="2" charset="-122"/>
              </a:rPr>
              <a:t>）价带</a:t>
            </a:r>
          </a:p>
        </p:txBody>
      </p:sp>
      <p:sp>
        <p:nvSpPr>
          <p:cNvPr id="81922" name="文本框 109570"/>
          <p:cNvSpPr txBox="1"/>
          <p:nvPr/>
        </p:nvSpPr>
        <p:spPr>
          <a:xfrm>
            <a:off x="684213" y="1658938"/>
            <a:ext cx="7920037" cy="1554162"/>
          </a:xfrm>
          <a:prstGeom prst="rect">
            <a:avLst/>
          </a:prstGeom>
          <a:noFill/>
          <a:ln w="12700">
            <a:noFill/>
          </a:ln>
        </p:spPr>
        <p:txBody>
          <a:bodyPr anchor="t" anchorCtr="0">
            <a:spAutoFit/>
          </a:bodyPr>
          <a:lstStyle/>
          <a:p>
            <a:pPr eaLnBrk="0" hangingPunct="0"/>
            <a:r>
              <a:rPr lang="zh-CN" altLang="en-US" sz="3200" dirty="0">
                <a:latin typeface="Arial" panose="020B0604020202020204" pitchFamily="34" charset="0"/>
                <a:ea typeface="宋体" panose="02010600030101010101" pitchFamily="2" charset="-122"/>
              </a:rPr>
              <a:t>极大值点在坐标原点，</a:t>
            </a:r>
            <a:r>
              <a:rPr lang="en-US" altLang="zh-CN" sz="3200">
                <a:latin typeface="Arial" panose="020B0604020202020204" pitchFamily="34" charset="0"/>
                <a:ea typeface="宋体" panose="02010600030101010101" pitchFamily="2" charset="-122"/>
              </a:rPr>
              <a:t>k</a:t>
            </a:r>
            <a:r>
              <a:rPr lang="en-US" altLang="zh-CN" sz="3200" baseline="-25000">
                <a:latin typeface="Arial" panose="020B0604020202020204" pitchFamily="34" charset="0"/>
                <a:ea typeface="宋体" panose="02010600030101010101" pitchFamily="2" charset="-122"/>
              </a:rPr>
              <a:t>0</a:t>
            </a:r>
            <a:r>
              <a:rPr lang="en-US" altLang="zh-CN" sz="3200" dirty="0">
                <a:latin typeface="Arial" panose="020B0604020202020204" pitchFamily="34" charset="0"/>
                <a:ea typeface="宋体" panose="02010600030101010101" pitchFamily="2" charset="-122"/>
              </a:rPr>
              <a:t>=0</a:t>
            </a:r>
            <a:r>
              <a:rPr lang="zh-CN" altLang="en-US" sz="3200" dirty="0">
                <a:latin typeface="Arial" panose="020B0604020202020204" pitchFamily="34" charset="0"/>
                <a:ea typeface="宋体" panose="02010600030101010101" pitchFamily="2" charset="-122"/>
              </a:rPr>
              <a:t>，</a:t>
            </a:r>
            <a:r>
              <a:rPr lang="en-US" altLang="zh-CN" sz="3200" dirty="0">
                <a:latin typeface="Arial" panose="020B0604020202020204" pitchFamily="34" charset="0"/>
                <a:ea typeface="宋体" panose="02010600030101010101" pitchFamily="2" charset="-122"/>
              </a:rPr>
              <a:t>E(</a:t>
            </a:r>
            <a:r>
              <a:rPr lang="zh-CN" altLang="en-US" sz="3200" dirty="0">
                <a:latin typeface="Arial" panose="020B0604020202020204" pitchFamily="34" charset="0"/>
                <a:ea typeface="宋体" panose="02010600030101010101" pitchFamily="2" charset="-122"/>
              </a:rPr>
              <a:t>ｋ</a:t>
            </a:r>
            <a:r>
              <a:rPr lang="en-US" altLang="zh-CN" sz="3200" dirty="0">
                <a:latin typeface="Arial" panose="020B0604020202020204" pitchFamily="34" charset="0"/>
                <a:ea typeface="宋体" panose="02010600030101010101" pitchFamily="2" charset="-122"/>
              </a:rPr>
              <a:t>)</a:t>
            </a:r>
            <a:r>
              <a:rPr lang="zh-CN" altLang="en-US" sz="3200" dirty="0">
                <a:latin typeface="Arial" panose="020B0604020202020204" pitchFamily="34" charset="0"/>
                <a:ea typeface="宋体" panose="02010600030101010101" pitchFamily="2" charset="-122"/>
              </a:rPr>
              <a:t>为球形等能面，但有两个曲率不同的面，即有两个价带</a:t>
            </a:r>
            <a:endParaRPr lang="zh-CN" altLang="en-US" sz="3200" dirty="0">
              <a:latin typeface="Arial" panose="020B0604020202020204" pitchFamily="34" charset="0"/>
              <a:ea typeface="Arial" panose="020B0604020202020204" pitchFamily="34" charset="0"/>
            </a:endParaRPr>
          </a:p>
        </p:txBody>
      </p:sp>
      <p:sp>
        <p:nvSpPr>
          <p:cNvPr id="81923" name="文本框 109571"/>
          <p:cNvSpPr txBox="1"/>
          <p:nvPr/>
        </p:nvSpPr>
        <p:spPr>
          <a:xfrm>
            <a:off x="944563" y="3644900"/>
            <a:ext cx="7156450" cy="579438"/>
          </a:xfrm>
          <a:prstGeom prst="rect">
            <a:avLst/>
          </a:prstGeom>
          <a:noFill/>
          <a:ln w="12700">
            <a:noFill/>
          </a:ln>
        </p:spPr>
        <p:txBody>
          <a:bodyPr anchor="t" anchorCtr="0">
            <a:spAutoFit/>
          </a:bodyPr>
          <a:lstStyle/>
          <a:p>
            <a:pPr eaLnBrk="0" hangingPunct="0"/>
            <a:r>
              <a:rPr lang="zh-CN" altLang="en-US" sz="3200" dirty="0">
                <a:latin typeface="Arial" panose="020B0604020202020204" pitchFamily="34" charset="0"/>
                <a:ea typeface="宋体" panose="02010600030101010101" pitchFamily="2" charset="-122"/>
              </a:rPr>
              <a:t>外层：能量变化慢，</a:t>
            </a:r>
            <a:r>
              <a:rPr lang="en-US" altLang="zh-CN" sz="3200">
                <a:latin typeface="Arial" panose="020B0604020202020204" pitchFamily="34" charset="0"/>
                <a:ea typeface="宋体" panose="02010600030101010101" pitchFamily="2" charset="-122"/>
              </a:rPr>
              <a:t>m</a:t>
            </a:r>
            <a:r>
              <a:rPr lang="en-US" altLang="zh-CN" sz="3200" baseline="-25000">
                <a:latin typeface="Arial" panose="020B0604020202020204" pitchFamily="34" charset="0"/>
                <a:ea typeface="宋体" panose="02010600030101010101" pitchFamily="2" charset="-122"/>
              </a:rPr>
              <a:t>p</a:t>
            </a:r>
            <a:r>
              <a:rPr lang="en-US" altLang="zh-CN" sz="3200" dirty="0">
                <a:latin typeface="Arial" panose="020B0604020202020204" pitchFamily="34" charset="0"/>
                <a:ea typeface="宋体" panose="02010600030101010101" pitchFamily="2" charset="-122"/>
              </a:rPr>
              <a:t>*</a:t>
            </a:r>
            <a:r>
              <a:rPr lang="zh-CN" altLang="en-US" sz="3200" dirty="0">
                <a:latin typeface="Arial" panose="020B0604020202020204" pitchFamily="34" charset="0"/>
                <a:ea typeface="宋体" panose="02010600030101010101" pitchFamily="2" charset="-122"/>
              </a:rPr>
              <a:t>大；</a:t>
            </a:r>
            <a:r>
              <a:rPr lang="en-US" altLang="zh-CN" sz="3200">
                <a:latin typeface="Arial" panose="020B0604020202020204" pitchFamily="34" charset="0"/>
                <a:ea typeface="宋体" panose="02010600030101010101" pitchFamily="2" charset="-122"/>
              </a:rPr>
              <a:t>→</a:t>
            </a:r>
            <a:r>
              <a:rPr lang="zh-CN" altLang="en-US" sz="3200" b="1" dirty="0">
                <a:solidFill>
                  <a:srgbClr val="A50021"/>
                </a:solidFill>
                <a:latin typeface="Arial" panose="020B0604020202020204" pitchFamily="34" charset="0"/>
                <a:ea typeface="宋体" panose="02010600030101010101" pitchFamily="2" charset="-122"/>
              </a:rPr>
              <a:t>重空穴</a:t>
            </a:r>
            <a:endParaRPr lang="zh-CN" altLang="en-US" sz="3200" b="1" dirty="0">
              <a:solidFill>
                <a:srgbClr val="A50021"/>
              </a:solidFill>
              <a:latin typeface="Arial" panose="020B0604020202020204" pitchFamily="34" charset="0"/>
              <a:ea typeface="Arial" panose="020B0604020202020204" pitchFamily="34" charset="0"/>
            </a:endParaRPr>
          </a:p>
        </p:txBody>
      </p:sp>
      <p:sp>
        <p:nvSpPr>
          <p:cNvPr id="81924" name="文本框 109572"/>
          <p:cNvSpPr txBox="1"/>
          <p:nvPr/>
        </p:nvSpPr>
        <p:spPr>
          <a:xfrm>
            <a:off x="971550" y="4581525"/>
            <a:ext cx="7200900" cy="579438"/>
          </a:xfrm>
          <a:prstGeom prst="rect">
            <a:avLst/>
          </a:prstGeom>
          <a:noFill/>
          <a:ln w="12700">
            <a:noFill/>
          </a:ln>
        </p:spPr>
        <p:txBody>
          <a:bodyPr anchor="t" anchorCtr="0">
            <a:spAutoFit/>
          </a:bodyPr>
          <a:lstStyle/>
          <a:p>
            <a:pPr eaLnBrk="0" hangingPunct="0"/>
            <a:r>
              <a:rPr lang="zh-CN" altLang="en-US" sz="3200" dirty="0">
                <a:latin typeface="Arial" panose="020B0604020202020204" pitchFamily="34" charset="0"/>
                <a:ea typeface="宋体" panose="02010600030101010101" pitchFamily="2" charset="-122"/>
              </a:rPr>
              <a:t>内层：能量变化快，</a:t>
            </a:r>
            <a:r>
              <a:rPr lang="en-US" altLang="zh-CN" sz="3200">
                <a:latin typeface="Arial" panose="020B0604020202020204" pitchFamily="34" charset="0"/>
                <a:ea typeface="宋体" panose="02010600030101010101" pitchFamily="2" charset="-122"/>
              </a:rPr>
              <a:t>m</a:t>
            </a:r>
            <a:r>
              <a:rPr lang="en-US" altLang="zh-CN" sz="3200" baseline="-25000">
                <a:latin typeface="Arial" panose="020B0604020202020204" pitchFamily="34" charset="0"/>
                <a:ea typeface="宋体" panose="02010600030101010101" pitchFamily="2" charset="-122"/>
              </a:rPr>
              <a:t>p</a:t>
            </a:r>
            <a:r>
              <a:rPr lang="en-US" altLang="zh-CN" sz="3200" dirty="0">
                <a:latin typeface="Arial" panose="020B0604020202020204" pitchFamily="34" charset="0"/>
                <a:ea typeface="宋体" panose="02010600030101010101" pitchFamily="2" charset="-122"/>
              </a:rPr>
              <a:t>*</a:t>
            </a:r>
            <a:r>
              <a:rPr lang="zh-CN" altLang="en-US" sz="3200" dirty="0">
                <a:latin typeface="Arial" panose="020B0604020202020204" pitchFamily="34" charset="0"/>
                <a:ea typeface="宋体" panose="02010600030101010101" pitchFamily="2" charset="-122"/>
              </a:rPr>
              <a:t>小；</a:t>
            </a:r>
            <a:r>
              <a:rPr lang="en-US" altLang="zh-CN" sz="3200">
                <a:latin typeface="Arial" panose="020B0604020202020204" pitchFamily="34" charset="0"/>
                <a:ea typeface="宋体" panose="02010600030101010101" pitchFamily="2" charset="-122"/>
              </a:rPr>
              <a:t>→</a:t>
            </a:r>
            <a:r>
              <a:rPr lang="zh-CN" altLang="en-US" sz="3200" b="1" dirty="0">
                <a:solidFill>
                  <a:srgbClr val="A50021"/>
                </a:solidFill>
                <a:latin typeface="Arial" panose="020B0604020202020204" pitchFamily="34" charset="0"/>
                <a:ea typeface="宋体" panose="02010600030101010101" pitchFamily="2" charset="-122"/>
              </a:rPr>
              <a:t>轻空穴</a:t>
            </a:r>
            <a:endParaRPr lang="zh-CN" altLang="en-US" sz="3200" b="1" dirty="0">
              <a:solidFill>
                <a:srgbClr val="A50021"/>
              </a:solidFill>
              <a:latin typeface="Arial" panose="020B0604020202020204" pitchFamily="34" charset="0"/>
              <a:ea typeface="Arial" panose="020B0604020202020204" pitchFamily="34" charset="0"/>
            </a:endParaRPr>
          </a:p>
        </p:txBody>
      </p:sp>
      <p:graphicFrame>
        <p:nvGraphicFramePr>
          <p:cNvPr id="81925" name="对象 109573"/>
          <p:cNvGraphicFramePr/>
          <p:nvPr/>
        </p:nvGraphicFramePr>
        <p:xfrm>
          <a:off x="8027988" y="3644900"/>
          <a:ext cx="903287" cy="571500"/>
        </p:xfrm>
        <a:graphic>
          <a:graphicData uri="http://schemas.openxmlformats.org/presentationml/2006/ole">
            <mc:AlternateContent xmlns:mc="http://schemas.openxmlformats.org/markup-compatibility/2006">
              <mc:Choice xmlns:v="urn:schemas-microsoft-com:vml" Requires="v">
                <p:oleObj r:id="rId2" imgW="381000" imgH="241300" progId="Equation.DSMT4">
                  <p:embed/>
                </p:oleObj>
              </mc:Choice>
              <mc:Fallback>
                <p:oleObj r:id="rId2" imgW="381000" imgH="241300" progId="Equation.DSMT4">
                  <p:embed/>
                  <p:pic>
                    <p:nvPicPr>
                      <p:cNvPr id="0" name="图片 3164"/>
                      <p:cNvPicPr/>
                      <p:nvPr/>
                    </p:nvPicPr>
                    <p:blipFill>
                      <a:blip r:embed="rId3"/>
                      <a:stretch>
                        <a:fillRect/>
                      </a:stretch>
                    </p:blipFill>
                    <p:spPr>
                      <a:xfrm>
                        <a:off x="8027988" y="3644900"/>
                        <a:ext cx="903287" cy="571500"/>
                      </a:xfrm>
                      <a:prstGeom prst="rect">
                        <a:avLst/>
                      </a:prstGeom>
                      <a:noFill/>
                      <a:ln w="38100">
                        <a:noFill/>
                        <a:miter/>
                      </a:ln>
                    </p:spPr>
                  </p:pic>
                </p:oleObj>
              </mc:Fallback>
            </mc:AlternateContent>
          </a:graphicData>
        </a:graphic>
      </p:graphicFrame>
      <p:graphicFrame>
        <p:nvGraphicFramePr>
          <p:cNvPr id="81926" name="对象 109574"/>
          <p:cNvGraphicFramePr/>
          <p:nvPr/>
        </p:nvGraphicFramePr>
        <p:xfrm>
          <a:off x="7980363" y="4700588"/>
          <a:ext cx="922337" cy="603250"/>
        </p:xfrm>
        <a:graphic>
          <a:graphicData uri="http://schemas.openxmlformats.org/presentationml/2006/ole">
            <mc:AlternateContent xmlns:mc="http://schemas.openxmlformats.org/markup-compatibility/2006">
              <mc:Choice xmlns:v="urn:schemas-microsoft-com:vml" Requires="v">
                <p:oleObj r:id="rId4" imgW="368300" imgH="241300" progId="Equation.DSMT4">
                  <p:embed/>
                </p:oleObj>
              </mc:Choice>
              <mc:Fallback>
                <p:oleObj r:id="rId4" imgW="368300" imgH="241300" progId="Equation.DSMT4">
                  <p:embed/>
                  <p:pic>
                    <p:nvPicPr>
                      <p:cNvPr id="0" name="图片 3162"/>
                      <p:cNvPicPr/>
                      <p:nvPr/>
                    </p:nvPicPr>
                    <p:blipFill>
                      <a:blip r:embed="rId5"/>
                      <a:stretch>
                        <a:fillRect/>
                      </a:stretch>
                    </p:blipFill>
                    <p:spPr>
                      <a:xfrm>
                        <a:off x="7980363" y="4700588"/>
                        <a:ext cx="922337" cy="603250"/>
                      </a:xfrm>
                      <a:prstGeom prst="rect">
                        <a:avLst/>
                      </a:prstGeom>
                      <a:noFill/>
                      <a:ln w="38100">
                        <a:noFill/>
                        <a:miter/>
                      </a:ln>
                    </p:spPr>
                  </p:pic>
                </p:oleObj>
              </mc:Fallback>
            </mc:AlternateContent>
          </a:graphicData>
        </a:graphic>
      </p:graphicFrame>
      <mc:AlternateContent xmlns:mc="http://schemas.openxmlformats.org/markup-compatibility/2006">
        <mc:Choice xmlns:p14="http://schemas.microsoft.com/office/powerpoint/2010/main" Requires="p14">
          <p:contentPart p14:bwMode="auto" r:id="rId6">
            <p14:nvContentPartPr>
              <p14:cNvPr id="2" name="墨迹 1">
                <a:extLst>
                  <a:ext uri="{FF2B5EF4-FFF2-40B4-BE49-F238E27FC236}">
                    <a16:creationId xmlns:a16="http://schemas.microsoft.com/office/drawing/2014/main" id="{4299377E-D043-890B-5B75-8DC67959EAD0}"/>
                  </a:ext>
                </a:extLst>
              </p14:cNvPr>
              <p14:cNvContentPartPr/>
              <p14:nvPr/>
            </p14:nvContentPartPr>
            <p14:xfrm>
              <a:off x="4551952" y="3568773"/>
              <a:ext cx="10080" cy="360"/>
            </p14:xfrm>
          </p:contentPart>
        </mc:Choice>
        <mc:Fallback>
          <p:pic>
            <p:nvPicPr>
              <p:cNvPr id="2" name="墨迹 1">
                <a:extLst>
                  <a:ext uri="{FF2B5EF4-FFF2-40B4-BE49-F238E27FC236}">
                    <a16:creationId xmlns:a16="http://schemas.microsoft.com/office/drawing/2014/main" id="{4299377E-D043-890B-5B75-8DC67959EAD0}"/>
                  </a:ext>
                </a:extLst>
              </p:cNvPr>
              <p:cNvPicPr/>
              <p:nvPr/>
            </p:nvPicPr>
            <p:blipFill>
              <a:blip r:embed="rId7"/>
              <a:stretch>
                <a:fillRect/>
              </a:stretch>
            </p:blipFill>
            <p:spPr>
              <a:xfrm>
                <a:off x="4498312" y="3461133"/>
                <a:ext cx="117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 name="墨迹 2">
                <a:extLst>
                  <a:ext uri="{FF2B5EF4-FFF2-40B4-BE49-F238E27FC236}">
                    <a16:creationId xmlns:a16="http://schemas.microsoft.com/office/drawing/2014/main" id="{B556493A-49B4-88F5-1F71-9F3C3003906F}"/>
                  </a:ext>
                </a:extLst>
              </p14:cNvPr>
              <p14:cNvContentPartPr/>
              <p14:nvPr/>
            </p14:nvContentPartPr>
            <p14:xfrm>
              <a:off x="1069312" y="3844893"/>
              <a:ext cx="7465680" cy="167400"/>
            </p14:xfrm>
          </p:contentPart>
        </mc:Choice>
        <mc:Fallback>
          <p:pic>
            <p:nvPicPr>
              <p:cNvPr id="3" name="墨迹 2">
                <a:extLst>
                  <a:ext uri="{FF2B5EF4-FFF2-40B4-BE49-F238E27FC236}">
                    <a16:creationId xmlns:a16="http://schemas.microsoft.com/office/drawing/2014/main" id="{B556493A-49B4-88F5-1F71-9F3C3003906F}"/>
                  </a:ext>
                </a:extLst>
              </p:cNvPr>
              <p:cNvPicPr/>
              <p:nvPr/>
            </p:nvPicPr>
            <p:blipFill>
              <a:blip r:embed="rId9"/>
              <a:stretch>
                <a:fillRect/>
              </a:stretch>
            </p:blipFill>
            <p:spPr>
              <a:xfrm>
                <a:off x="1015672" y="3736893"/>
                <a:ext cx="7573320" cy="383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 name="墨迹 3">
                <a:extLst>
                  <a:ext uri="{FF2B5EF4-FFF2-40B4-BE49-F238E27FC236}">
                    <a16:creationId xmlns:a16="http://schemas.microsoft.com/office/drawing/2014/main" id="{446057C0-936A-26F8-2A2F-AA5765EC3A0A}"/>
                  </a:ext>
                </a:extLst>
              </p14:cNvPr>
              <p14:cNvContentPartPr/>
              <p14:nvPr/>
            </p14:nvContentPartPr>
            <p14:xfrm>
              <a:off x="1122232" y="4865133"/>
              <a:ext cx="7835400" cy="110520"/>
            </p14:xfrm>
          </p:contentPart>
        </mc:Choice>
        <mc:Fallback>
          <p:pic>
            <p:nvPicPr>
              <p:cNvPr id="4" name="墨迹 3">
                <a:extLst>
                  <a:ext uri="{FF2B5EF4-FFF2-40B4-BE49-F238E27FC236}">
                    <a16:creationId xmlns:a16="http://schemas.microsoft.com/office/drawing/2014/main" id="{446057C0-936A-26F8-2A2F-AA5765EC3A0A}"/>
                  </a:ext>
                </a:extLst>
              </p:cNvPr>
              <p:cNvPicPr/>
              <p:nvPr/>
            </p:nvPicPr>
            <p:blipFill>
              <a:blip r:embed="rId11"/>
              <a:stretch>
                <a:fillRect/>
              </a:stretch>
            </p:blipFill>
            <p:spPr>
              <a:xfrm>
                <a:off x="1068232" y="4757493"/>
                <a:ext cx="7943040" cy="326160"/>
              </a:xfrm>
              <a:prstGeom prst="rect">
                <a:avLst/>
              </a:prstGeom>
            </p:spPr>
          </p:pic>
        </mc:Fallback>
      </mc:AlternateContent>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文本框 110594"/>
          <p:cNvSpPr txBox="1"/>
          <p:nvPr/>
        </p:nvSpPr>
        <p:spPr>
          <a:xfrm>
            <a:off x="179388" y="333375"/>
            <a:ext cx="4608512" cy="641350"/>
          </a:xfrm>
          <a:prstGeom prst="rect">
            <a:avLst/>
          </a:prstGeom>
          <a:noFill/>
          <a:ln w="12700">
            <a:noFill/>
          </a:ln>
        </p:spPr>
        <p:txBody>
          <a:bodyPr anchor="t" anchorCtr="0">
            <a:spAutoFit/>
          </a:bodyPr>
          <a:lstStyle/>
          <a:p>
            <a:pPr eaLnBrk="0" hangingPunct="0"/>
            <a:r>
              <a:rPr lang="en-US" altLang="zh-CN" sz="3600" b="1" dirty="0">
                <a:latin typeface="Arial" panose="020B0604020202020204" pitchFamily="34" charset="0"/>
                <a:ea typeface="宋体" panose="02010600030101010101" pitchFamily="2" charset="-122"/>
              </a:rPr>
              <a:t>2. </a:t>
            </a:r>
            <a:r>
              <a:rPr lang="zh-CN" altLang="en-US" sz="3600" b="1" dirty="0">
                <a:latin typeface="Arial" panose="020B0604020202020204" pitchFamily="34" charset="0"/>
                <a:ea typeface="宋体" panose="02010600030101010101" pitchFamily="2" charset="-122"/>
              </a:rPr>
              <a:t>元素半导体</a:t>
            </a:r>
            <a:r>
              <a:rPr lang="en-US" altLang="zh-CN" sz="3600" b="1" err="1">
                <a:latin typeface="Arial" panose="020B0604020202020204" pitchFamily="34" charset="0"/>
                <a:ea typeface="宋体" panose="02010600030101010101" pitchFamily="2" charset="-122"/>
              </a:rPr>
              <a:t>Ge</a:t>
            </a:r>
            <a:endParaRPr lang="en-US" altLang="zh-CN" sz="3600" b="1">
              <a:latin typeface="Arial" panose="020B0604020202020204" pitchFamily="34" charset="0"/>
              <a:ea typeface="Arial" panose="020B0604020202020204" pitchFamily="34" charset="0"/>
            </a:endParaRPr>
          </a:p>
        </p:txBody>
      </p:sp>
      <p:sp>
        <p:nvSpPr>
          <p:cNvPr id="82946" name="文本框 110610"/>
          <p:cNvSpPr txBox="1"/>
          <p:nvPr/>
        </p:nvSpPr>
        <p:spPr>
          <a:xfrm>
            <a:off x="3132138" y="6237288"/>
            <a:ext cx="3311525" cy="641350"/>
          </a:xfrm>
          <a:prstGeom prst="rect">
            <a:avLst/>
          </a:prstGeom>
          <a:noFill/>
          <a:ln w="12700">
            <a:noFill/>
          </a:ln>
        </p:spPr>
        <p:txBody>
          <a:bodyPr anchor="t" anchorCtr="0">
            <a:spAutoFit/>
          </a:bodyPr>
          <a:lstStyle/>
          <a:p>
            <a:pPr eaLnBrk="0" hangingPunct="0"/>
            <a:r>
              <a:rPr lang="zh-CN" altLang="en-US" sz="3600" b="1" dirty="0">
                <a:latin typeface="Arial" panose="020B0604020202020204" pitchFamily="34" charset="0"/>
                <a:ea typeface="宋体" panose="02010600030101010101" pitchFamily="2" charset="-122"/>
              </a:rPr>
              <a:t>锗的能带结构</a:t>
            </a:r>
          </a:p>
        </p:txBody>
      </p:sp>
      <p:grpSp>
        <p:nvGrpSpPr>
          <p:cNvPr id="82947" name="组合 110619"/>
          <p:cNvGrpSpPr/>
          <p:nvPr/>
        </p:nvGrpSpPr>
        <p:grpSpPr>
          <a:xfrm>
            <a:off x="2592388" y="881063"/>
            <a:ext cx="6372225" cy="5427662"/>
            <a:chOff x="1633" y="555"/>
            <a:chExt cx="4014" cy="3419"/>
          </a:xfrm>
        </p:grpSpPr>
        <p:grpSp>
          <p:nvGrpSpPr>
            <p:cNvPr id="82948" name="组合 110596"/>
            <p:cNvGrpSpPr/>
            <p:nvPr/>
          </p:nvGrpSpPr>
          <p:grpSpPr>
            <a:xfrm>
              <a:off x="1633" y="555"/>
              <a:ext cx="4014" cy="3419"/>
              <a:chOff x="1315" y="346"/>
              <a:chExt cx="4014" cy="3419"/>
            </a:xfrm>
          </p:grpSpPr>
          <p:sp>
            <p:nvSpPr>
              <p:cNvPr id="82949" name="矩形 110597"/>
              <p:cNvSpPr/>
              <p:nvPr/>
            </p:nvSpPr>
            <p:spPr>
              <a:xfrm>
                <a:off x="1383" y="346"/>
                <a:ext cx="2767" cy="3130"/>
              </a:xfrm>
              <a:prstGeom prst="rect">
                <a:avLst/>
              </a:prstGeom>
              <a:solidFill>
                <a:schemeClr val="accent2"/>
              </a:solidFill>
              <a:ln w="9525" cap="flat" cmpd="sng">
                <a:solidFill>
                  <a:srgbClr val="A50021"/>
                </a:solidFill>
                <a:prstDash val="solid"/>
                <a:miter/>
                <a:headEnd type="none" w="med" len="med"/>
                <a:tailEnd type="none" w="med" len="med"/>
              </a:ln>
            </p:spPr>
            <p:txBody>
              <a:bodyPr wrap="none" anchor="ctr" anchorCtr="0"/>
              <a:lstStyle/>
              <a:p>
                <a:pPr algn="ctr"/>
                <a:endParaRPr lang="zh-CN" dirty="0">
                  <a:latin typeface="Times New Roman" panose="02020603050405020304" pitchFamily="18" charset="0"/>
                  <a:ea typeface="宋体" panose="02010600030101010101" pitchFamily="2" charset="-122"/>
                </a:endParaRPr>
              </a:p>
            </p:txBody>
          </p:sp>
          <p:sp>
            <p:nvSpPr>
              <p:cNvPr id="82950" name="椭圆形标注 110598"/>
              <p:cNvSpPr/>
              <p:nvPr/>
            </p:nvSpPr>
            <p:spPr>
              <a:xfrm>
                <a:off x="4369" y="618"/>
                <a:ext cx="960" cy="576"/>
              </a:xfrm>
              <a:prstGeom prst="wedgeEllipseCallout">
                <a:avLst>
                  <a:gd name="adj1" fmla="val -72190"/>
                  <a:gd name="adj2" fmla="val 70315"/>
                </a:avLst>
              </a:prstGeom>
              <a:solidFill>
                <a:srgbClr val="FF0000"/>
              </a:solidFill>
              <a:ln w="12700" cap="sq" cmpd="sng">
                <a:solidFill>
                  <a:schemeClr val="tx1"/>
                </a:solidFill>
                <a:prstDash val="solid"/>
                <a:miter/>
                <a:headEnd type="none" w="sm" len="sm"/>
                <a:tailEnd type="none" w="sm" len="sm"/>
              </a:ln>
            </p:spPr>
            <p:txBody>
              <a:bodyPr anchor="t" anchorCtr="0"/>
              <a:lstStyle/>
              <a:p>
                <a:pPr algn="ctr" eaLnBrk="0" hangingPunct="0"/>
                <a:r>
                  <a:rPr lang="zh-CN" altLang="en-US" sz="3200" b="1" dirty="0">
                    <a:latin typeface="Arial" panose="020B0604020202020204" pitchFamily="34" charset="0"/>
                    <a:ea typeface="宋体" panose="02010600030101010101" pitchFamily="2" charset="-122"/>
                  </a:rPr>
                  <a:t>导带</a:t>
                </a:r>
              </a:p>
            </p:txBody>
          </p:sp>
          <p:sp>
            <p:nvSpPr>
              <p:cNvPr id="82951" name="圆角矩形标注 110599"/>
              <p:cNvSpPr/>
              <p:nvPr/>
            </p:nvSpPr>
            <p:spPr>
              <a:xfrm>
                <a:off x="4505" y="3022"/>
                <a:ext cx="726" cy="454"/>
              </a:xfrm>
              <a:prstGeom prst="wedgeRoundRectCallout">
                <a:avLst>
                  <a:gd name="adj1" fmla="val -201653"/>
                  <a:gd name="adj2" fmla="val 2204"/>
                  <a:gd name="adj3" fmla="val 16667"/>
                </a:avLst>
              </a:prstGeom>
              <a:solidFill>
                <a:srgbClr val="FFFF00"/>
              </a:solidFill>
              <a:ln w="12700" cap="sq" cmpd="sng">
                <a:solidFill>
                  <a:schemeClr val="tx1"/>
                </a:solidFill>
                <a:prstDash val="solid"/>
                <a:miter/>
                <a:headEnd type="none" w="sm" len="sm"/>
                <a:tailEnd type="none" w="sm" len="sm"/>
              </a:ln>
            </p:spPr>
            <p:txBody>
              <a:bodyPr anchor="t" anchorCtr="0"/>
              <a:lstStyle/>
              <a:p>
                <a:pPr algn="ctr" eaLnBrk="0" hangingPunct="0"/>
                <a:r>
                  <a:rPr lang="zh-CN" altLang="en-US" sz="3200" b="1" dirty="0">
                    <a:solidFill>
                      <a:srgbClr val="000000"/>
                    </a:solidFill>
                    <a:latin typeface="Arial" panose="020B0604020202020204" pitchFamily="34" charset="0"/>
                    <a:ea typeface="宋体" panose="02010600030101010101" pitchFamily="2" charset="-122"/>
                  </a:rPr>
                  <a:t>价带</a:t>
                </a:r>
              </a:p>
            </p:txBody>
          </p:sp>
          <p:sp>
            <p:nvSpPr>
              <p:cNvPr id="82952" name="直接连接符 110600"/>
              <p:cNvSpPr/>
              <p:nvPr/>
            </p:nvSpPr>
            <p:spPr>
              <a:xfrm>
                <a:off x="1375" y="2069"/>
                <a:ext cx="2767" cy="0"/>
              </a:xfrm>
              <a:prstGeom prst="line">
                <a:avLst/>
              </a:prstGeom>
              <a:ln w="9525" cap="flat" cmpd="sng">
                <a:solidFill>
                  <a:schemeClr val="tx1"/>
                </a:solidFill>
                <a:prstDash val="solid"/>
                <a:round/>
                <a:headEnd type="none" w="med" len="med"/>
                <a:tailEnd type="none" w="med" len="med"/>
              </a:ln>
            </p:spPr>
          </p:sp>
          <p:sp>
            <p:nvSpPr>
              <p:cNvPr id="82953" name="直接连接符 110601"/>
              <p:cNvSpPr/>
              <p:nvPr/>
            </p:nvSpPr>
            <p:spPr>
              <a:xfrm>
                <a:off x="2695" y="346"/>
                <a:ext cx="0" cy="3130"/>
              </a:xfrm>
              <a:prstGeom prst="line">
                <a:avLst/>
              </a:prstGeom>
              <a:ln w="9525" cap="flat" cmpd="sng">
                <a:solidFill>
                  <a:schemeClr val="tx1"/>
                </a:solidFill>
                <a:prstDash val="solid"/>
                <a:round/>
                <a:headEnd type="none" w="med" len="med"/>
                <a:tailEnd type="none" w="med" len="med"/>
              </a:ln>
            </p:spPr>
          </p:sp>
          <p:sp>
            <p:nvSpPr>
              <p:cNvPr id="82954" name="任意多边形 110602"/>
              <p:cNvSpPr/>
              <p:nvPr/>
            </p:nvSpPr>
            <p:spPr>
              <a:xfrm>
                <a:off x="1375" y="2063"/>
                <a:ext cx="2090" cy="1402"/>
              </a:xfrm>
              <a:custGeom>
                <a:avLst/>
                <a:gdLst/>
                <a:ahLst/>
                <a:cxnLst/>
                <a:rect l="0" t="0" r="0" b="0"/>
                <a:pathLst>
                  <a:path w="2090" h="1402">
                    <a:moveTo>
                      <a:pt x="0" y="864"/>
                    </a:moveTo>
                    <a:cubicBezTo>
                      <a:pt x="88" y="823"/>
                      <a:pt x="392" y="696"/>
                      <a:pt x="527" y="616"/>
                    </a:cubicBezTo>
                    <a:cubicBezTo>
                      <a:pt x="662" y="536"/>
                      <a:pt x="717" y="469"/>
                      <a:pt x="810" y="387"/>
                    </a:cubicBezTo>
                    <a:cubicBezTo>
                      <a:pt x="903" y="305"/>
                      <a:pt x="999" y="185"/>
                      <a:pt x="1084" y="122"/>
                    </a:cubicBezTo>
                    <a:cubicBezTo>
                      <a:pt x="1169" y="59"/>
                      <a:pt x="1242" y="0"/>
                      <a:pt x="1320" y="6"/>
                    </a:cubicBezTo>
                    <a:cubicBezTo>
                      <a:pt x="1398" y="12"/>
                      <a:pt x="1467" y="19"/>
                      <a:pt x="1551" y="159"/>
                    </a:cubicBezTo>
                    <a:cubicBezTo>
                      <a:pt x="1635" y="299"/>
                      <a:pt x="1735" y="637"/>
                      <a:pt x="1825" y="844"/>
                    </a:cubicBezTo>
                    <a:cubicBezTo>
                      <a:pt x="1915" y="1051"/>
                      <a:pt x="2035" y="1286"/>
                      <a:pt x="2090" y="1402"/>
                    </a:cubicBezTo>
                  </a:path>
                </a:pathLst>
              </a:custGeom>
              <a:noFill/>
              <a:ln w="44450" cap="flat" cmpd="sng">
                <a:solidFill>
                  <a:srgbClr val="A50021"/>
                </a:solidFill>
                <a:prstDash val="solid"/>
                <a:round/>
                <a:headEnd type="none" w="med" len="med"/>
                <a:tailEnd type="none" w="med" len="med"/>
              </a:ln>
            </p:spPr>
            <p:txBody>
              <a:bodyPr/>
              <a:lstStyle/>
              <a:p>
                <a:endParaRPr lang="zh-CN" altLang="en-US"/>
              </a:p>
            </p:txBody>
          </p:sp>
          <p:sp>
            <p:nvSpPr>
              <p:cNvPr id="82955" name="任意多边形 110603"/>
              <p:cNvSpPr/>
              <p:nvPr/>
            </p:nvSpPr>
            <p:spPr>
              <a:xfrm>
                <a:off x="2350" y="2066"/>
                <a:ext cx="768" cy="1408"/>
              </a:xfrm>
              <a:custGeom>
                <a:avLst/>
                <a:gdLst/>
                <a:ahLst/>
                <a:cxnLst/>
                <a:rect l="0" t="0" r="0" b="0"/>
                <a:pathLst>
                  <a:path w="768" h="1408">
                    <a:moveTo>
                      <a:pt x="0" y="1399"/>
                    </a:moveTo>
                    <a:cubicBezTo>
                      <a:pt x="11" y="1297"/>
                      <a:pt x="37" y="989"/>
                      <a:pt x="64" y="796"/>
                    </a:cubicBezTo>
                    <a:cubicBezTo>
                      <a:pt x="91" y="603"/>
                      <a:pt x="117" y="370"/>
                      <a:pt x="164" y="238"/>
                    </a:cubicBezTo>
                    <a:cubicBezTo>
                      <a:pt x="211" y="106"/>
                      <a:pt x="287" y="6"/>
                      <a:pt x="345" y="3"/>
                    </a:cubicBezTo>
                    <a:cubicBezTo>
                      <a:pt x="403" y="0"/>
                      <a:pt x="461" y="90"/>
                      <a:pt x="515" y="221"/>
                    </a:cubicBezTo>
                    <a:cubicBezTo>
                      <a:pt x="569" y="352"/>
                      <a:pt x="625" y="589"/>
                      <a:pt x="667" y="787"/>
                    </a:cubicBezTo>
                    <a:cubicBezTo>
                      <a:pt x="709" y="985"/>
                      <a:pt x="747" y="1279"/>
                      <a:pt x="768" y="1408"/>
                    </a:cubicBezTo>
                  </a:path>
                </a:pathLst>
              </a:custGeom>
              <a:noFill/>
              <a:ln w="44450" cap="flat" cmpd="sng">
                <a:solidFill>
                  <a:srgbClr val="A50021"/>
                </a:solidFill>
                <a:prstDash val="solid"/>
                <a:round/>
                <a:headEnd type="none" w="med" len="med"/>
                <a:tailEnd type="none" w="med" len="med"/>
              </a:ln>
            </p:spPr>
            <p:txBody>
              <a:bodyPr/>
              <a:lstStyle/>
              <a:p>
                <a:endParaRPr lang="zh-CN" altLang="en-US"/>
              </a:p>
            </p:txBody>
          </p:sp>
          <p:sp>
            <p:nvSpPr>
              <p:cNvPr id="82956" name="直接连接符 110604"/>
              <p:cNvSpPr/>
              <p:nvPr/>
            </p:nvSpPr>
            <p:spPr>
              <a:xfrm>
                <a:off x="2245" y="3657"/>
                <a:ext cx="1089" cy="0"/>
              </a:xfrm>
              <a:prstGeom prst="line">
                <a:avLst/>
              </a:prstGeom>
              <a:ln w="9525" cap="flat" cmpd="sng">
                <a:solidFill>
                  <a:schemeClr val="tx1"/>
                </a:solidFill>
                <a:prstDash val="solid"/>
                <a:round/>
                <a:headEnd type="triangle" w="med" len="med"/>
                <a:tailEnd type="triangle" w="med" len="med"/>
              </a:ln>
            </p:spPr>
          </p:sp>
          <p:sp>
            <p:nvSpPr>
              <p:cNvPr id="82957" name="文本框 110605"/>
              <p:cNvSpPr txBox="1"/>
              <p:nvPr/>
            </p:nvSpPr>
            <p:spPr>
              <a:xfrm>
                <a:off x="3321" y="3534"/>
                <a:ext cx="428"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[100]</a:t>
                </a:r>
              </a:p>
            </p:txBody>
          </p:sp>
          <p:sp>
            <p:nvSpPr>
              <p:cNvPr id="82958" name="文本框 110606"/>
              <p:cNvSpPr txBox="1"/>
              <p:nvPr/>
            </p:nvSpPr>
            <p:spPr>
              <a:xfrm>
                <a:off x="1655" y="3521"/>
                <a:ext cx="428"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[111]</a:t>
                </a:r>
              </a:p>
            </p:txBody>
          </p:sp>
          <p:sp>
            <p:nvSpPr>
              <p:cNvPr id="82959" name="文本框 110607"/>
              <p:cNvSpPr txBox="1"/>
              <p:nvPr/>
            </p:nvSpPr>
            <p:spPr>
              <a:xfrm>
                <a:off x="2575" y="3471"/>
                <a:ext cx="260" cy="231"/>
              </a:xfrm>
              <a:prstGeom prst="rect">
                <a:avLst/>
              </a:prstGeom>
              <a:noFill/>
              <a:ln w="9525">
                <a:noFill/>
              </a:ln>
            </p:spPr>
            <p:txBody>
              <a:bodyPr wrap="none" anchor="t" anchorCtr="0">
                <a:spAutoFit/>
              </a:bodyPr>
              <a:lstStyle/>
              <a:p>
                <a:r>
                  <a:rPr lang="el-GR" altLang="zh-CN" dirty="0">
                    <a:latin typeface="Times New Roman" panose="02020603050405020304" pitchFamily="18" charset="0"/>
                    <a:ea typeface="宋体" panose="02010600030101010101" pitchFamily="2" charset="-122"/>
                  </a:rPr>
                  <a:t>Γ</a:t>
                </a:r>
                <a:endParaRPr lang="el-GR" altLang="zh-CN" dirty="0">
                  <a:latin typeface="Times New Roman" panose="02020603050405020304" pitchFamily="18" charset="0"/>
                  <a:ea typeface="Times New Roman" panose="02020603050405020304" pitchFamily="18" charset="0"/>
                </a:endParaRPr>
              </a:p>
            </p:txBody>
          </p:sp>
          <p:sp>
            <p:nvSpPr>
              <p:cNvPr id="82960" name="文本框 110608"/>
              <p:cNvSpPr txBox="1"/>
              <p:nvPr/>
            </p:nvSpPr>
            <p:spPr>
              <a:xfrm>
                <a:off x="1315" y="3471"/>
                <a:ext cx="204"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L</a:t>
                </a:r>
              </a:p>
            </p:txBody>
          </p:sp>
          <p:sp>
            <p:nvSpPr>
              <p:cNvPr id="82961" name="文本框 110609"/>
              <p:cNvSpPr txBox="1"/>
              <p:nvPr/>
            </p:nvSpPr>
            <p:spPr>
              <a:xfrm>
                <a:off x="3946" y="3471"/>
                <a:ext cx="220" cy="23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X</a:t>
                </a:r>
              </a:p>
            </p:txBody>
          </p:sp>
        </p:grpSp>
        <p:sp>
          <p:nvSpPr>
            <p:cNvPr id="82962" name="任意多边形 110611"/>
            <p:cNvSpPr/>
            <p:nvPr/>
          </p:nvSpPr>
          <p:spPr>
            <a:xfrm>
              <a:off x="1701" y="685"/>
              <a:ext cx="2759" cy="1413"/>
            </a:xfrm>
            <a:custGeom>
              <a:avLst/>
              <a:gdLst/>
              <a:ahLst/>
              <a:cxnLst/>
              <a:rect l="0" t="0" r="0" b="0"/>
              <a:pathLst>
                <a:path w="2759" h="1413">
                  <a:moveTo>
                    <a:pt x="0" y="1413"/>
                  </a:moveTo>
                  <a:cubicBezTo>
                    <a:pt x="99" y="1371"/>
                    <a:pt x="454" y="1263"/>
                    <a:pt x="592" y="1162"/>
                  </a:cubicBezTo>
                  <a:cubicBezTo>
                    <a:pt x="730" y="1061"/>
                    <a:pt x="765" y="865"/>
                    <a:pt x="830" y="805"/>
                  </a:cubicBezTo>
                  <a:cubicBezTo>
                    <a:pt x="895" y="745"/>
                    <a:pt x="935" y="769"/>
                    <a:pt x="985" y="805"/>
                  </a:cubicBezTo>
                  <a:cubicBezTo>
                    <a:pt x="1035" y="841"/>
                    <a:pt x="1076" y="961"/>
                    <a:pt x="1131" y="1024"/>
                  </a:cubicBezTo>
                  <a:cubicBezTo>
                    <a:pt x="1186" y="1087"/>
                    <a:pt x="1243" y="1218"/>
                    <a:pt x="1316" y="1186"/>
                  </a:cubicBezTo>
                  <a:cubicBezTo>
                    <a:pt x="1389" y="1154"/>
                    <a:pt x="1474" y="1010"/>
                    <a:pt x="1570" y="832"/>
                  </a:cubicBezTo>
                  <a:cubicBezTo>
                    <a:pt x="1666" y="654"/>
                    <a:pt x="1803" y="238"/>
                    <a:pt x="1890" y="119"/>
                  </a:cubicBezTo>
                  <a:cubicBezTo>
                    <a:pt x="1977" y="0"/>
                    <a:pt x="2024" y="63"/>
                    <a:pt x="2091" y="119"/>
                  </a:cubicBezTo>
                  <a:cubicBezTo>
                    <a:pt x="2158" y="175"/>
                    <a:pt x="2258" y="400"/>
                    <a:pt x="2292" y="458"/>
                  </a:cubicBezTo>
                  <a:cubicBezTo>
                    <a:pt x="2326" y="516"/>
                    <a:pt x="2254" y="417"/>
                    <a:pt x="2292" y="467"/>
                  </a:cubicBezTo>
                  <a:cubicBezTo>
                    <a:pt x="2330" y="517"/>
                    <a:pt x="2443" y="694"/>
                    <a:pt x="2521" y="759"/>
                  </a:cubicBezTo>
                  <a:cubicBezTo>
                    <a:pt x="2599" y="824"/>
                    <a:pt x="2709" y="839"/>
                    <a:pt x="2759" y="860"/>
                  </a:cubicBezTo>
                </a:path>
              </a:pathLst>
            </a:custGeom>
            <a:noFill/>
            <a:ln w="44450" cap="flat" cmpd="sng">
              <a:solidFill>
                <a:srgbClr val="A50021"/>
              </a:solidFill>
              <a:prstDash val="solid"/>
              <a:round/>
              <a:headEnd type="none" w="med" len="med"/>
              <a:tailEnd type="none" w="med" len="med"/>
            </a:ln>
          </p:spPr>
          <p:txBody>
            <a:bodyPr/>
            <a:lstStyle/>
            <a:p>
              <a:endParaRPr lang="zh-CN" altLang="en-US"/>
            </a:p>
          </p:txBody>
        </p:sp>
        <p:sp>
          <p:nvSpPr>
            <p:cNvPr id="82963" name="任意多边形 110612"/>
            <p:cNvSpPr/>
            <p:nvPr/>
          </p:nvSpPr>
          <p:spPr>
            <a:xfrm>
              <a:off x="2608" y="556"/>
              <a:ext cx="1852" cy="1189"/>
            </a:xfrm>
            <a:custGeom>
              <a:avLst/>
              <a:gdLst/>
              <a:ahLst/>
              <a:cxnLst/>
              <a:rect l="0" t="0" r="0" b="0"/>
              <a:pathLst>
                <a:path w="1852" h="1189">
                  <a:moveTo>
                    <a:pt x="0" y="0"/>
                  </a:moveTo>
                  <a:cubicBezTo>
                    <a:pt x="30" y="40"/>
                    <a:pt x="111" y="164"/>
                    <a:pt x="179" y="239"/>
                  </a:cubicBezTo>
                  <a:cubicBezTo>
                    <a:pt x="247" y="314"/>
                    <a:pt x="311" y="387"/>
                    <a:pt x="409" y="453"/>
                  </a:cubicBezTo>
                  <a:cubicBezTo>
                    <a:pt x="507" y="519"/>
                    <a:pt x="664" y="578"/>
                    <a:pt x="764" y="632"/>
                  </a:cubicBezTo>
                  <a:cubicBezTo>
                    <a:pt x="864" y="686"/>
                    <a:pt x="926" y="718"/>
                    <a:pt x="1011" y="779"/>
                  </a:cubicBezTo>
                  <a:cubicBezTo>
                    <a:pt x="1096" y="840"/>
                    <a:pt x="1192" y="932"/>
                    <a:pt x="1276" y="998"/>
                  </a:cubicBezTo>
                  <a:cubicBezTo>
                    <a:pt x="1360" y="1064"/>
                    <a:pt x="1443" y="1155"/>
                    <a:pt x="1513" y="1172"/>
                  </a:cubicBezTo>
                  <a:cubicBezTo>
                    <a:pt x="1583" y="1189"/>
                    <a:pt x="1640" y="1132"/>
                    <a:pt x="1696" y="1099"/>
                  </a:cubicBezTo>
                  <a:cubicBezTo>
                    <a:pt x="1752" y="1066"/>
                    <a:pt x="1820" y="998"/>
                    <a:pt x="1852" y="971"/>
                  </a:cubicBezTo>
                </a:path>
              </a:pathLst>
            </a:custGeom>
            <a:noFill/>
            <a:ln w="44450" cap="flat" cmpd="sng">
              <a:solidFill>
                <a:srgbClr val="A50021"/>
              </a:solidFill>
              <a:prstDash val="solid"/>
              <a:round/>
              <a:headEnd type="none" w="med" len="med"/>
              <a:tailEnd type="none" w="med" len="med"/>
            </a:ln>
          </p:spPr>
          <p:txBody>
            <a:bodyPr/>
            <a:lstStyle/>
            <a:p>
              <a:endParaRPr lang="zh-CN" altLang="en-US"/>
            </a:p>
          </p:txBody>
        </p:sp>
        <p:sp>
          <p:nvSpPr>
            <p:cNvPr id="82964" name="任意多边形 110613"/>
            <p:cNvSpPr/>
            <p:nvPr/>
          </p:nvSpPr>
          <p:spPr>
            <a:xfrm>
              <a:off x="2518" y="556"/>
              <a:ext cx="907" cy="465"/>
            </a:xfrm>
            <a:custGeom>
              <a:avLst/>
              <a:gdLst/>
              <a:ahLst/>
              <a:cxnLst/>
              <a:rect l="0" t="0" r="0" b="0"/>
              <a:pathLst>
                <a:path w="907" h="465">
                  <a:moveTo>
                    <a:pt x="0" y="0"/>
                  </a:moveTo>
                  <a:cubicBezTo>
                    <a:pt x="43" y="54"/>
                    <a:pt x="176" y="246"/>
                    <a:pt x="259" y="321"/>
                  </a:cubicBezTo>
                  <a:cubicBezTo>
                    <a:pt x="342" y="396"/>
                    <a:pt x="417" y="465"/>
                    <a:pt x="499" y="453"/>
                  </a:cubicBezTo>
                  <a:cubicBezTo>
                    <a:pt x="581" y="441"/>
                    <a:pt x="685" y="323"/>
                    <a:pt x="753" y="248"/>
                  </a:cubicBezTo>
                  <a:cubicBezTo>
                    <a:pt x="821" y="173"/>
                    <a:pt x="875" y="52"/>
                    <a:pt x="907" y="0"/>
                  </a:cubicBezTo>
                </a:path>
              </a:pathLst>
            </a:custGeom>
            <a:noFill/>
            <a:ln w="44450" cap="flat" cmpd="sng">
              <a:solidFill>
                <a:srgbClr val="A50021"/>
              </a:solidFill>
              <a:prstDash val="solid"/>
              <a:round/>
              <a:headEnd type="none" w="med" len="med"/>
              <a:tailEnd type="none" w="med" len="med"/>
            </a:ln>
          </p:spPr>
          <p:txBody>
            <a:bodyPr/>
            <a:lstStyle/>
            <a:p>
              <a:endParaRPr lang="zh-CN" altLang="en-US"/>
            </a:p>
          </p:txBody>
        </p:sp>
        <p:grpSp>
          <p:nvGrpSpPr>
            <p:cNvPr id="82965" name="组合 110614"/>
            <p:cNvGrpSpPr/>
            <p:nvPr/>
          </p:nvGrpSpPr>
          <p:grpSpPr>
            <a:xfrm>
              <a:off x="1701" y="2034"/>
              <a:ext cx="706" cy="231"/>
              <a:chOff x="1383" y="1824"/>
              <a:chExt cx="706" cy="231"/>
            </a:xfrm>
          </p:grpSpPr>
          <p:sp>
            <p:nvSpPr>
              <p:cNvPr id="82966" name="直接连接符 110615"/>
              <p:cNvSpPr/>
              <p:nvPr/>
            </p:nvSpPr>
            <p:spPr>
              <a:xfrm>
                <a:off x="1383" y="1888"/>
                <a:ext cx="454" cy="0"/>
              </a:xfrm>
              <a:prstGeom prst="line">
                <a:avLst/>
              </a:prstGeom>
              <a:ln w="9525" cap="flat" cmpd="sng">
                <a:solidFill>
                  <a:schemeClr val="tx1"/>
                </a:solidFill>
                <a:prstDash val="solid"/>
                <a:round/>
                <a:headEnd type="none" w="med" len="med"/>
                <a:tailEnd type="none" w="med" len="med"/>
              </a:ln>
            </p:spPr>
          </p:sp>
          <p:sp>
            <p:nvSpPr>
              <p:cNvPr id="82967" name="文本框 110616"/>
              <p:cNvSpPr txBox="1"/>
              <p:nvPr/>
            </p:nvSpPr>
            <p:spPr>
              <a:xfrm>
                <a:off x="1837" y="1824"/>
                <a:ext cx="252" cy="231"/>
              </a:xfrm>
              <a:prstGeom prst="rect">
                <a:avLst/>
              </a:prstGeom>
              <a:noFill/>
              <a:ln w="9525">
                <a:noFill/>
              </a:ln>
            </p:spPr>
            <p:txBody>
              <a:bodyPr wrap="none" anchor="t" anchorCtr="0">
                <a:spAutoFit/>
              </a:bodyPr>
              <a:lstStyle/>
              <a:p>
                <a:r>
                  <a:rPr lang="en-US" altLang="zh-CN" err="1">
                    <a:latin typeface="Times New Roman" panose="02020603050405020304" pitchFamily="18" charset="0"/>
                    <a:ea typeface="宋体" panose="02010600030101010101" pitchFamily="2" charset="-122"/>
                  </a:rPr>
                  <a:t>E</a:t>
                </a:r>
                <a:r>
                  <a:rPr lang="en-US" altLang="zh-CN" baseline="-25000" err="1">
                    <a:latin typeface="Times New Roman" panose="02020603050405020304" pitchFamily="18" charset="0"/>
                    <a:ea typeface="宋体" panose="02010600030101010101" pitchFamily="2" charset="-122"/>
                  </a:rPr>
                  <a:t>g</a:t>
                </a:r>
                <a:endParaRPr lang="en-US" altLang="zh-CN" baseline="-25000">
                  <a:latin typeface="Times New Roman" panose="02020603050405020304" pitchFamily="18" charset="0"/>
                  <a:ea typeface="宋体" panose="02010600030101010101" pitchFamily="2" charset="-122"/>
                </a:endParaRPr>
              </a:p>
            </p:txBody>
          </p:sp>
        </p:grpSp>
      </p:grpSp>
      <p:sp>
        <p:nvSpPr>
          <p:cNvPr id="82968" name="文本框 110620"/>
          <p:cNvSpPr txBox="1"/>
          <p:nvPr/>
        </p:nvSpPr>
        <p:spPr>
          <a:xfrm>
            <a:off x="395288" y="3141663"/>
            <a:ext cx="1944687" cy="592137"/>
          </a:xfrm>
          <a:prstGeom prst="rect">
            <a:avLst/>
          </a:prstGeom>
          <a:noFill/>
          <a:ln w="12700" cap="sq" cmpd="sng">
            <a:solidFill>
              <a:srgbClr val="FFFF00"/>
            </a:solidFill>
            <a:prstDash val="solid"/>
            <a:miter/>
            <a:headEnd type="none" w="sm" len="sm"/>
            <a:tailEnd type="none" w="sm" len="sm"/>
          </a:ln>
        </p:spPr>
        <p:txBody>
          <a:bodyPr anchor="t" anchorCtr="0">
            <a:spAutoFit/>
          </a:bodyPr>
          <a:lstStyle/>
          <a:p>
            <a:pPr eaLnBrk="0" hangingPunct="0"/>
            <a:r>
              <a:rPr lang="zh-CN" altLang="en-US" sz="3200" b="1" dirty="0">
                <a:solidFill>
                  <a:srgbClr val="A50021"/>
                </a:solidFill>
                <a:latin typeface="Arial" panose="020B0604020202020204" pitchFamily="34" charset="0"/>
                <a:ea typeface="宋体" panose="02010600030101010101" pitchFamily="2" charset="-122"/>
              </a:rPr>
              <a:t>间接带隙</a:t>
            </a:r>
            <a:endParaRPr lang="zh-CN" altLang="en-US" sz="3200" b="1">
              <a:solidFill>
                <a:srgbClr val="A5002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文本框 130077"/>
          <p:cNvSpPr txBox="1"/>
          <p:nvPr/>
        </p:nvSpPr>
        <p:spPr>
          <a:xfrm>
            <a:off x="323850" y="1484313"/>
            <a:ext cx="5186363" cy="2041525"/>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导带的极小值在</a:t>
            </a:r>
            <a:r>
              <a:rPr lang="en-US" altLang="zh-CN" sz="3200" b="1" dirty="0">
                <a:latin typeface="Arial" panose="020B0604020202020204" pitchFamily="34" charset="0"/>
                <a:ea typeface="宋体" panose="02010600030101010101" pitchFamily="2" charset="-122"/>
              </a:rPr>
              <a:t>[111]</a:t>
            </a:r>
            <a:r>
              <a:rPr lang="zh-CN" altLang="en-US" sz="3200" b="1" dirty="0">
                <a:latin typeface="Arial" panose="020B0604020202020204" pitchFamily="34" charset="0"/>
                <a:ea typeface="宋体" panose="02010600030101010101" pitchFamily="2" charset="-122"/>
              </a:rPr>
              <a:t>方向的布区边界，</a:t>
            </a:r>
            <a:r>
              <a:rPr lang="en-US" altLang="zh-CN" sz="3200" b="1" err="1">
                <a:latin typeface="Arial" panose="020B0604020202020204" pitchFamily="34" charset="0"/>
                <a:ea typeface="宋体" panose="02010600030101010101" pitchFamily="2" charset="-122"/>
              </a:rPr>
              <a:t>E(k</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为以</a:t>
            </a:r>
            <a:r>
              <a:rPr lang="en-US" altLang="zh-CN" sz="3200" b="1" dirty="0">
                <a:latin typeface="Arial" panose="020B0604020202020204" pitchFamily="34" charset="0"/>
                <a:ea typeface="宋体" panose="02010600030101010101" pitchFamily="2" charset="-122"/>
              </a:rPr>
              <a:t>[111]</a:t>
            </a:r>
            <a:r>
              <a:rPr lang="zh-CN" altLang="en-US" sz="3200" b="1" dirty="0">
                <a:latin typeface="Arial" panose="020B0604020202020204" pitchFamily="34" charset="0"/>
                <a:ea typeface="宋体" panose="02010600030101010101" pitchFamily="2" charset="-122"/>
              </a:rPr>
              <a:t>方向为旋转轴的椭圆等能面</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有</a:t>
            </a:r>
            <a:r>
              <a:rPr lang="en-US" altLang="zh-CN" sz="3200" b="1" dirty="0">
                <a:latin typeface="Arial" panose="020B0604020202020204" pitchFamily="34" charset="0"/>
                <a:ea typeface="宋体" panose="02010600030101010101" pitchFamily="2" charset="-122"/>
              </a:rPr>
              <a:t>8</a:t>
            </a:r>
            <a:r>
              <a:rPr lang="zh-CN" altLang="en-US" sz="3200" b="1" dirty="0">
                <a:latin typeface="Arial" panose="020B0604020202020204" pitchFamily="34" charset="0"/>
                <a:ea typeface="宋体" panose="02010600030101010101" pitchFamily="2" charset="-122"/>
              </a:rPr>
              <a:t>个半椭球。</a:t>
            </a:r>
          </a:p>
        </p:txBody>
      </p:sp>
      <p:sp>
        <p:nvSpPr>
          <p:cNvPr id="83970" name="矩形 130078"/>
          <p:cNvSpPr/>
          <p:nvPr/>
        </p:nvSpPr>
        <p:spPr>
          <a:xfrm>
            <a:off x="395288" y="620713"/>
            <a:ext cx="3584575" cy="641350"/>
          </a:xfrm>
          <a:prstGeom prst="rect">
            <a:avLst/>
          </a:prstGeom>
          <a:noFill/>
          <a:ln w="9525">
            <a:noFill/>
          </a:ln>
        </p:spPr>
        <p:txBody>
          <a:bodyPr wrap="none" anchor="t" anchorCtr="0">
            <a:spAutoFit/>
          </a:bodyPr>
          <a:lstStyle/>
          <a:p>
            <a:r>
              <a:rPr lang="en-US" altLang="zh-CN" sz="3600" b="1" dirty="0">
                <a:latin typeface="Times New Roman" panose="02020603050405020304" pitchFamily="18" charset="0"/>
                <a:ea typeface="宋体" panose="02010600030101010101" pitchFamily="2" charset="-122"/>
              </a:rPr>
              <a:t>(1) </a:t>
            </a:r>
            <a:r>
              <a:rPr lang="zh-CN" altLang="en-US" sz="3600" b="1" dirty="0">
                <a:latin typeface="Times New Roman" panose="02020603050405020304" pitchFamily="18" charset="0"/>
                <a:ea typeface="宋体" panose="02010600030101010101" pitchFamily="2" charset="-122"/>
              </a:rPr>
              <a:t>导带的极小值</a:t>
            </a:r>
          </a:p>
        </p:txBody>
      </p:sp>
      <p:sp>
        <p:nvSpPr>
          <p:cNvPr id="83971" name="矩形 130079"/>
          <p:cNvSpPr/>
          <p:nvPr/>
        </p:nvSpPr>
        <p:spPr>
          <a:xfrm>
            <a:off x="395288" y="3860800"/>
            <a:ext cx="5614987" cy="641350"/>
          </a:xfrm>
          <a:prstGeom prst="rect">
            <a:avLst/>
          </a:prstGeom>
          <a:noFill/>
          <a:ln w="12700">
            <a:noFill/>
          </a:ln>
        </p:spPr>
        <p:txBody>
          <a:bodyPr anchor="t" anchorCtr="0">
            <a:spAutoFit/>
          </a:bodyPr>
          <a:lstStyle/>
          <a:p>
            <a:pPr eaLnBrk="0" hangingPunct="0"/>
            <a:r>
              <a:rPr lang="en-US" altLang="zh-CN" sz="3600" b="1" dirty="0">
                <a:latin typeface="Arial" panose="020B0604020202020204" pitchFamily="34" charset="0"/>
                <a:ea typeface="宋体" panose="02010600030101010101" pitchFamily="2" charset="-122"/>
              </a:rPr>
              <a:t>(2) </a:t>
            </a:r>
            <a:r>
              <a:rPr lang="zh-CN" altLang="en-US" sz="3600" b="1" dirty="0">
                <a:latin typeface="Arial" panose="020B0604020202020204" pitchFamily="34" charset="0"/>
                <a:ea typeface="宋体" panose="02010600030101010101" pitchFamily="2" charset="-122"/>
              </a:rPr>
              <a:t>价带的极大值点</a:t>
            </a:r>
          </a:p>
        </p:txBody>
      </p:sp>
      <p:sp>
        <p:nvSpPr>
          <p:cNvPr id="83972" name="文本框 130080"/>
          <p:cNvSpPr txBox="1"/>
          <p:nvPr/>
        </p:nvSpPr>
        <p:spPr>
          <a:xfrm>
            <a:off x="755650" y="4941888"/>
            <a:ext cx="7272338" cy="1066800"/>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在坐标原点</a:t>
            </a:r>
            <a:r>
              <a:rPr lang="en-US" altLang="zh-CN" sz="3200" b="1" dirty="0">
                <a:latin typeface="Arial" panose="020B0604020202020204" pitchFamily="34" charset="0"/>
                <a:ea typeface="宋体" panose="02010600030101010101" pitchFamily="2" charset="-122"/>
              </a:rPr>
              <a:t>,k=0,</a:t>
            </a:r>
            <a:r>
              <a:rPr lang="zh-CN" altLang="en-US" sz="3200" b="1" dirty="0">
                <a:latin typeface="Arial" panose="020B0604020202020204" pitchFamily="34" charset="0"/>
                <a:ea typeface="宋体" panose="02010600030101010101" pitchFamily="2" charset="-122"/>
              </a:rPr>
              <a:t>等能面为球形</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也有</a:t>
            </a:r>
          </a:p>
          <a:p>
            <a:pPr eaLnBrk="0" hangingPunct="0"/>
            <a:r>
              <a:rPr lang="zh-CN" altLang="en-US" sz="3200" b="1" dirty="0">
                <a:latin typeface="Arial" panose="020B0604020202020204" pitchFamily="34" charset="0"/>
                <a:ea typeface="宋体" panose="02010600030101010101" pitchFamily="2" charset="-122"/>
              </a:rPr>
              <a:t>两个价带</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分重、轻空穴</a:t>
            </a:r>
            <a:endParaRPr lang="zh-CN" altLang="zh-CN" sz="3200" b="1" dirty="0">
              <a:latin typeface="Arial" panose="020B0604020202020204" pitchFamily="34" charset="0"/>
              <a:ea typeface="宋体" panose="02010600030101010101" pitchFamily="2" charset="-122"/>
            </a:endParaRPr>
          </a:p>
        </p:txBody>
      </p:sp>
      <p:pic>
        <p:nvPicPr>
          <p:cNvPr id="83973" name="图片 130081"/>
          <p:cNvPicPr>
            <a:picLocks noChangeAspect="1"/>
          </p:cNvPicPr>
          <p:nvPr/>
        </p:nvPicPr>
        <p:blipFill>
          <a:blip r:embed="rId2"/>
          <a:stretch>
            <a:fillRect/>
          </a:stretch>
        </p:blipFill>
        <p:spPr>
          <a:xfrm>
            <a:off x="5580063" y="1052513"/>
            <a:ext cx="3170237" cy="3306762"/>
          </a:xfrm>
          <a:prstGeom prst="rect">
            <a:avLst/>
          </a:prstGeom>
          <a:noFill/>
          <a:ln w="12700">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idx="1"/>
          </p:nvPr>
        </p:nvSpPr>
        <p:spPr>
          <a:xfrm>
            <a:off x="107950" y="1916113"/>
            <a:ext cx="8686800" cy="37512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硅和锗的价带顶</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1" u="none" strike="noStrike" kern="0" cap="none" spc="0" normalizeH="0" baseline="-25000" noProof="0" dirty="0" err="1">
                <a:ln>
                  <a:noFill/>
                </a:ln>
                <a:solidFill>
                  <a:schemeClr val="tx1"/>
                </a:solidFill>
                <a:effectLst/>
                <a:uLnTx/>
                <a:uFillTx/>
                <a:latin typeface="+mn-ea"/>
                <a:ea typeface="+mn-ea"/>
                <a:cs typeface="+mn-cs"/>
              </a:rPr>
              <a:t>v</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都位于布里渊区中心，而导带底</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1" u="none" strike="noStrike" kern="0" cap="none" spc="0" normalizeH="0" baseline="-25000" noProof="0" dirty="0" err="1">
                <a:ln>
                  <a:noFill/>
                </a:ln>
                <a:solidFill>
                  <a:schemeClr val="tx1"/>
                </a:solidFill>
                <a:effectLst/>
                <a:uLnTx/>
                <a:uFillTx/>
                <a:latin typeface="+mn-ea"/>
                <a:ea typeface="+mn-ea"/>
                <a:cs typeface="+mn-cs"/>
              </a:rPr>
              <a:t>c</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则分别</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位于&lt;100&gt;方向的布里渊区中心到布里渊区边界的0.85倍处和简</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约布里渊区边界上，即导带底与价带顶的能量对应的波矢不同。</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这种半导体称为</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间接禁带半导体</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最后指出，硅、锗的禁带宽度是随温度变化的。在</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T=0K</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时，硅、锗的禁带宽度</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g</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分别趋近于   </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ea"/>
                <a:ea typeface="+mn-ea"/>
                <a:cs typeface="+mn-cs"/>
              </a:rPr>
              <a:t>             </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gSi</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=1.170eV， </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gGe</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=0.7437eV</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随着温度升高，</a:t>
            </a: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g</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按（</a:t>
            </a:r>
            <a:r>
              <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1.6-18</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）的规律减小。</a:t>
            </a:r>
          </a:p>
        </p:txBody>
      </p:sp>
      <p:graphicFrame>
        <p:nvGraphicFramePr>
          <p:cNvPr id="62466" name="Object 4"/>
          <p:cNvGraphicFramePr>
            <a:graphicFrameLocks noChangeAspect="1"/>
          </p:cNvGraphicFramePr>
          <p:nvPr/>
        </p:nvGraphicFramePr>
        <p:xfrm>
          <a:off x="2339975" y="5629275"/>
          <a:ext cx="2373313" cy="720725"/>
        </p:xfrm>
        <a:graphic>
          <a:graphicData uri="http://schemas.openxmlformats.org/presentationml/2006/ole">
            <mc:AlternateContent xmlns:mc="http://schemas.openxmlformats.org/markup-compatibility/2006">
              <mc:Choice xmlns:v="urn:schemas-microsoft-com:vml" Requires="v">
                <p:oleObj r:id="rId2" imgW="1549400" imgH="469900" progId="Equation.3">
                  <p:embed/>
                </p:oleObj>
              </mc:Choice>
              <mc:Fallback>
                <p:oleObj r:id="rId2" imgW="1549400" imgH="469900" progId="Equation.3">
                  <p:embed/>
                  <p:pic>
                    <p:nvPicPr>
                      <p:cNvPr id="0" name="图片 3076"/>
                      <p:cNvPicPr/>
                      <p:nvPr/>
                    </p:nvPicPr>
                    <p:blipFill>
                      <a:blip r:embed="rId3"/>
                      <a:stretch>
                        <a:fillRect/>
                      </a:stretch>
                    </p:blipFill>
                    <p:spPr>
                      <a:xfrm>
                        <a:off x="2339975" y="5629275"/>
                        <a:ext cx="2373313" cy="720725"/>
                      </a:xfrm>
                      <a:prstGeom prst="rect">
                        <a:avLst/>
                      </a:prstGeom>
                      <a:noFill/>
                      <a:ln w="38100">
                        <a:noFill/>
                        <a:miter/>
                      </a:ln>
                    </p:spPr>
                  </p:pic>
                </p:oleObj>
              </mc:Fallback>
            </mc:AlternateContent>
          </a:graphicData>
        </a:graphic>
      </p:graphicFrame>
      <p:sp>
        <p:nvSpPr>
          <p:cNvPr id="62467" name="Text Box 5"/>
          <p:cNvSpPr txBox="1"/>
          <p:nvPr/>
        </p:nvSpPr>
        <p:spPr>
          <a:xfrm>
            <a:off x="7070725" y="5778500"/>
            <a:ext cx="1724025" cy="460375"/>
          </a:xfrm>
          <a:prstGeom prst="rect">
            <a:avLst/>
          </a:prstGeom>
          <a:noFill/>
          <a:ln w="9525">
            <a:noFill/>
          </a:ln>
        </p:spPr>
        <p:txBody>
          <a:bodyPr wrap="none" anchor="t" anchorCtr="0">
            <a:spAutoFit/>
          </a:bodyPr>
          <a:lstStyle/>
          <a:p>
            <a:pPr>
              <a:buClrTx/>
              <a:buFontTx/>
            </a:pPr>
            <a:r>
              <a:rPr lang="zh-CN" altLang="en-US" b="0" dirty="0">
                <a:latin typeface="黑体" panose="02010609060101010101" pitchFamily="49" charset="-122"/>
                <a:ea typeface="黑体" panose="02010609060101010101" pitchFamily="49" charset="-122"/>
              </a:rPr>
              <a:t>（</a:t>
            </a:r>
            <a:r>
              <a:rPr lang="en-US" altLang="zh-CN" b="0" dirty="0">
                <a:latin typeface="黑体" panose="02010609060101010101" pitchFamily="49" charset="-122"/>
                <a:ea typeface="黑体" panose="02010609060101010101" pitchFamily="49" charset="-122"/>
              </a:rPr>
              <a:t>1.6-18</a:t>
            </a:r>
            <a:r>
              <a:rPr lang="zh-CN" altLang="en-US" b="0" dirty="0">
                <a:latin typeface="黑体" panose="02010609060101010101" pitchFamily="49" charset="-122"/>
                <a:ea typeface="黑体" panose="02010609060101010101" pitchFamily="49" charset="-122"/>
              </a:rPr>
              <a:t>）</a:t>
            </a:r>
          </a:p>
        </p:txBody>
      </p:sp>
      <p:sp>
        <p:nvSpPr>
          <p:cNvPr id="6" name="Rectangle 2"/>
          <p:cNvSpPr txBox="1">
            <a:spLocks noChangeArrowheads="1"/>
          </p:cNvSpPr>
          <p:nvPr/>
        </p:nvSpPr>
        <p:spPr>
          <a:xfrm>
            <a:off x="490538" y="908050"/>
            <a:ext cx="8653463" cy="76993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1.</a:t>
            </a:r>
            <a:r>
              <a:rPr kumimoji="1" lang="en-US" altLang="zh-CN"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6</a:t>
            </a: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  硅和锗的导带结构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a:xfrm>
            <a:off x="539750" y="1773238"/>
            <a:ext cx="8382000" cy="50847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式中</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g</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(T)</a:t>
            </a:r>
            <a:r>
              <a:rPr kumimoji="1" lang="zh-CN" altLang="en-US" sz="2400" b="0" i="0" u="none" strike="noStrike" kern="0" cap="none" spc="0" normalizeH="0" baseline="0" noProof="0" dirty="0">
                <a:ln>
                  <a:noFill/>
                </a:ln>
                <a:solidFill>
                  <a:schemeClr val="tx1"/>
                </a:solidFill>
                <a:effectLst/>
                <a:uLnTx/>
                <a:uFillTx/>
                <a:latin typeface="+mn-ea"/>
                <a:ea typeface="+mn-ea"/>
                <a:cs typeface="+mn-cs"/>
              </a:rPr>
              <a:t>和</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g</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(0)</a:t>
            </a: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分别表示温度为</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T</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和</a:t>
            </a:r>
            <a:r>
              <a:rPr kumimoji="1" lang="zh-CN" altLang="en-US" sz="2400" b="0" i="0" u="none" strike="noStrike" kern="0" cap="none" spc="0" normalizeH="0" baseline="0" noProof="0" dirty="0">
                <a:ln>
                  <a:noFill/>
                </a:ln>
                <a:solidFill>
                  <a:schemeClr val="tx1"/>
                </a:solidFill>
                <a:effectLst/>
                <a:uLnTx/>
                <a:uFillTx/>
                <a:latin typeface="+mn-ea"/>
                <a:ea typeface="+mn-ea"/>
                <a:cs typeface="+mn-cs"/>
              </a:rPr>
              <a:t>0</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K</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时的禁带宽度。温</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度系数</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α</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和</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β</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分别为：</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硅：</a:t>
            </a: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α= 4.73×10</a:t>
            </a:r>
            <a:r>
              <a:rPr kumimoji="1" lang="en-US" altLang="zh-CN" sz="2400" b="0" i="0" u="none" strike="noStrike" kern="0" cap="none" spc="0" normalizeH="0" baseline="30000" noProof="0" dirty="0">
                <a:ln>
                  <a:noFill/>
                </a:ln>
                <a:solidFill>
                  <a:schemeClr val="tx1"/>
                </a:solidFill>
                <a:effectLst/>
                <a:uLnTx/>
                <a:uFillTx/>
                <a:latin typeface="+mn-ea"/>
                <a:ea typeface="+mn-ea"/>
                <a:cs typeface="+mn-cs"/>
              </a:rPr>
              <a:t>-4</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eV/K          β= 636K</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ea"/>
                <a:ea typeface="+mn-ea"/>
                <a:cs typeface="+mn-cs"/>
              </a:rPr>
              <a:t>     </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锗：</a:t>
            </a: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α= 4.774×10</a:t>
            </a:r>
            <a:r>
              <a:rPr kumimoji="1" lang="en-US" altLang="zh-CN" sz="2400" b="0" i="0" u="none" strike="noStrike" kern="0" cap="none" spc="0" normalizeH="0" baseline="30000" noProof="0" dirty="0">
                <a:ln>
                  <a:noFill/>
                </a:ln>
                <a:solidFill>
                  <a:schemeClr val="tx1"/>
                </a:solidFill>
                <a:effectLst/>
                <a:uLnTx/>
                <a:uFillTx/>
                <a:latin typeface="+mn-ea"/>
                <a:ea typeface="+mn-ea"/>
                <a:cs typeface="+mn-cs"/>
              </a:rPr>
              <a:t>-4</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eV/K         β= 235K</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mn-ea"/>
                <a:ea typeface="+mn-ea"/>
                <a:cs typeface="+mn-cs"/>
              </a:rPr>
              <a:t>   </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T=300K</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时，</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gSi</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=1.12eV，</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gGe</a:t>
            </a:r>
            <a:r>
              <a:rPr kumimoji="1" lang="en-US" altLang="zh-CN" sz="2400" b="0" i="0" u="none" strike="noStrike" kern="0" cap="none" spc="0" normalizeH="0" baseline="0" noProof="0" dirty="0">
                <a:ln>
                  <a:noFill/>
                </a:ln>
                <a:solidFill>
                  <a:schemeClr val="tx1"/>
                </a:solidFill>
                <a:effectLst/>
                <a:uLnTx/>
                <a:uFillTx/>
                <a:latin typeface="+mn-ea"/>
                <a:ea typeface="+mn-ea"/>
                <a:cs typeface="+mn-cs"/>
              </a:rPr>
              <a:t>=0.67eV,</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所以</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g</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具有负温度系</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数。对半导体来说，导带底和价</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带顶的能量差，即禁带宽度</a:t>
            </a:r>
            <a:r>
              <a:rPr kumimoji="1" lang="en-US" altLang="zh-CN" sz="2400" b="0" i="0" u="none" strike="noStrike" kern="0" cap="none" spc="0" normalizeH="0" baseline="0" noProof="0" dirty="0" err="1">
                <a:ln>
                  <a:noFill/>
                </a:ln>
                <a:solidFill>
                  <a:schemeClr val="tx1"/>
                </a:solidFill>
                <a:effectLst/>
                <a:uLnTx/>
                <a:uFillTx/>
                <a:latin typeface="+mn-ea"/>
                <a:ea typeface="+mn-ea"/>
                <a:cs typeface="+mn-cs"/>
              </a:rPr>
              <a:t>E</a:t>
            </a:r>
            <a:r>
              <a:rPr kumimoji="1" lang="en-US" altLang="zh-CN" sz="2400" b="0" i="0" u="none" strike="noStrike" kern="0" cap="none" spc="0" normalizeH="0" baseline="-25000" noProof="0" dirty="0" err="1">
                <a:ln>
                  <a:noFill/>
                </a:ln>
                <a:solidFill>
                  <a:schemeClr val="tx1"/>
                </a:solidFill>
                <a:effectLst/>
                <a:uLnTx/>
                <a:uFillTx/>
                <a:latin typeface="+mn-ea"/>
                <a:ea typeface="+mn-ea"/>
                <a:cs typeface="+mn-cs"/>
              </a:rPr>
              <a:t>g</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是</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十分重要的量，因此采用一种简</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化的能带图。图的水平向常表示</a:t>
            </a:r>
            <a:endParaRPr kumimoji="1" lang="en-US" altLang="zh-CN"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实际空间的坐标。</a:t>
            </a: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mn-cs"/>
              </a:rPr>
              <a:t>              </a:t>
            </a:r>
            <a:endParaRPr kumimoji="1" lang="zh-CN" altLang="en-US"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75000"/>
              <a:buFont typeface="Wingdings" panose="05000000000000000000" pitchFamily="2" charset="2"/>
              <a:buNone/>
              <a:defRPr/>
            </a:pPr>
            <a:r>
              <a:rPr kumimoji="1" lang="zh-CN" altLang="en-US" sz="3200" b="0" i="0" u="none" strike="noStrike" kern="0" cap="none" spc="0" normalizeH="0" baseline="0" noProof="0" dirty="0">
                <a:ln>
                  <a:noFill/>
                </a:ln>
                <a:solidFill>
                  <a:schemeClr val="tx1"/>
                </a:solidFill>
                <a:effectLst/>
                <a:uLnTx/>
                <a:uFillTx/>
                <a:latin typeface="+mn-lt"/>
                <a:ea typeface="+mn-ea"/>
                <a:cs typeface="+mn-cs"/>
              </a:rPr>
              <a:t>        </a:t>
            </a:r>
          </a:p>
        </p:txBody>
      </p:sp>
      <p:pic>
        <p:nvPicPr>
          <p:cNvPr id="63490" name="Picture 3"/>
          <p:cNvPicPr>
            <a:picLocks noChangeAspect="1"/>
          </p:cNvPicPr>
          <p:nvPr/>
        </p:nvPicPr>
        <p:blipFill>
          <a:blip r:embed="rId2"/>
          <a:stretch>
            <a:fillRect/>
          </a:stretch>
        </p:blipFill>
        <p:spPr>
          <a:xfrm>
            <a:off x="5235575" y="3660775"/>
            <a:ext cx="3908425" cy="2894013"/>
          </a:xfrm>
          <a:prstGeom prst="rect">
            <a:avLst/>
          </a:prstGeom>
          <a:noFill/>
          <a:ln w="9525">
            <a:noFill/>
          </a:ln>
        </p:spPr>
      </p:pic>
      <p:sp>
        <p:nvSpPr>
          <p:cNvPr id="5" name="Rectangle 2"/>
          <p:cNvSpPr txBox="1">
            <a:spLocks noChangeArrowheads="1"/>
          </p:cNvSpPr>
          <p:nvPr/>
        </p:nvSpPr>
        <p:spPr>
          <a:xfrm>
            <a:off x="490538" y="908050"/>
            <a:ext cx="8653463" cy="769938"/>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kumimoji="1" sz="44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1.</a:t>
            </a:r>
            <a:r>
              <a:rPr kumimoji="1" lang="en-US" altLang="zh-CN"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6</a:t>
            </a:r>
            <a:r>
              <a:rPr kumimoji="1" lang="zh-CN" altLang="en-US" sz="4400" b="0" i="0" u="none" strike="noStrike" kern="0" cap="none" spc="0" normalizeH="0" baseline="0" noProof="0" dirty="0">
                <a:ln>
                  <a:noFill/>
                </a:ln>
                <a:solidFill>
                  <a:schemeClr val="tx2"/>
                </a:solidFill>
                <a:effectLst/>
                <a:uLnTx/>
                <a:uFillTx/>
                <a:latin typeface="华文新魏" panose="02010800040101010101" pitchFamily="2" charset="-122"/>
                <a:ea typeface="华文新魏" panose="02010800040101010101" pitchFamily="2" charset="-122"/>
                <a:cs typeface="+mj-cs"/>
              </a:rPr>
              <a:t>  硅和锗的导带结构 </a:t>
            </a:r>
          </a:p>
        </p:txBody>
      </p:sp>
      <mc:AlternateContent xmlns:mc="http://schemas.openxmlformats.org/markup-compatibility/2006">
        <mc:Choice xmlns:p14="http://schemas.microsoft.com/office/powerpoint/2010/main" Requires="p14">
          <p:contentPart p14:bwMode="auto" r:id="rId3">
            <p14:nvContentPartPr>
              <p14:cNvPr id="2" name="墨迹 1">
                <a:extLst>
                  <a:ext uri="{FF2B5EF4-FFF2-40B4-BE49-F238E27FC236}">
                    <a16:creationId xmlns:a16="http://schemas.microsoft.com/office/drawing/2014/main" id="{8FE87EEF-F41B-3B5E-C2B7-38F8B76DBBDC}"/>
                  </a:ext>
                </a:extLst>
              </p14:cNvPr>
              <p14:cNvContentPartPr/>
              <p14:nvPr/>
            </p14:nvContentPartPr>
            <p14:xfrm>
              <a:off x="569632" y="4520613"/>
              <a:ext cx="3717000" cy="131400"/>
            </p14:xfrm>
          </p:contentPart>
        </mc:Choice>
        <mc:Fallback>
          <p:pic>
            <p:nvPicPr>
              <p:cNvPr id="2" name="墨迹 1">
                <a:extLst>
                  <a:ext uri="{FF2B5EF4-FFF2-40B4-BE49-F238E27FC236}">
                    <a16:creationId xmlns:a16="http://schemas.microsoft.com/office/drawing/2014/main" id="{8FE87EEF-F41B-3B5E-C2B7-38F8B76DBBDC}"/>
                  </a:ext>
                </a:extLst>
              </p:cNvPr>
              <p:cNvPicPr/>
              <p:nvPr/>
            </p:nvPicPr>
            <p:blipFill>
              <a:blip r:embed="rId4"/>
              <a:stretch>
                <a:fillRect/>
              </a:stretch>
            </p:blipFill>
            <p:spPr>
              <a:xfrm>
                <a:off x="515992" y="4412973"/>
                <a:ext cx="382464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墨迹 2">
                <a:extLst>
                  <a:ext uri="{FF2B5EF4-FFF2-40B4-BE49-F238E27FC236}">
                    <a16:creationId xmlns:a16="http://schemas.microsoft.com/office/drawing/2014/main" id="{7D613316-EB15-937E-52C2-8F9D7627C692}"/>
                  </a:ext>
                </a:extLst>
              </p14:cNvPr>
              <p14:cNvContentPartPr/>
              <p14:nvPr/>
            </p14:nvContentPartPr>
            <p14:xfrm>
              <a:off x="953392" y="5189853"/>
              <a:ext cx="2429640" cy="72000"/>
            </p14:xfrm>
          </p:contentPart>
        </mc:Choice>
        <mc:Fallback>
          <p:pic>
            <p:nvPicPr>
              <p:cNvPr id="3" name="墨迹 2">
                <a:extLst>
                  <a:ext uri="{FF2B5EF4-FFF2-40B4-BE49-F238E27FC236}">
                    <a16:creationId xmlns:a16="http://schemas.microsoft.com/office/drawing/2014/main" id="{7D613316-EB15-937E-52C2-8F9D7627C692}"/>
                  </a:ext>
                </a:extLst>
              </p:cNvPr>
              <p:cNvPicPr/>
              <p:nvPr/>
            </p:nvPicPr>
            <p:blipFill>
              <a:blip r:embed="rId6"/>
              <a:stretch>
                <a:fillRect/>
              </a:stretch>
            </p:blipFill>
            <p:spPr>
              <a:xfrm>
                <a:off x="899752" y="5082213"/>
                <a:ext cx="2537280" cy="287640"/>
              </a:xfrm>
              <a:prstGeom prst="rect">
                <a:avLst/>
              </a:prstGeom>
            </p:spPr>
          </p:pic>
        </mc:Fallback>
      </mc:AlternateContent>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文本框 112642"/>
          <p:cNvSpPr txBox="1"/>
          <p:nvPr/>
        </p:nvSpPr>
        <p:spPr>
          <a:xfrm>
            <a:off x="468313" y="765175"/>
            <a:ext cx="4638675" cy="641350"/>
          </a:xfrm>
          <a:prstGeom prst="rect">
            <a:avLst/>
          </a:prstGeom>
          <a:noFill/>
          <a:ln w="12700">
            <a:noFill/>
          </a:ln>
        </p:spPr>
        <p:txBody>
          <a:bodyPr wrap="none" anchor="t" anchorCtr="0">
            <a:spAutoFit/>
          </a:bodyPr>
          <a:lstStyle/>
          <a:p>
            <a:pPr eaLnBrk="0" hangingPunct="0"/>
            <a:r>
              <a:rPr lang="en-US" altLang="zh-CN" sz="3600" b="1">
                <a:latin typeface="Arial" panose="020B0604020202020204" pitchFamily="34" charset="0"/>
                <a:ea typeface="宋体" panose="02010600030101010101" pitchFamily="2" charset="-122"/>
              </a:rPr>
              <a:t>3. </a:t>
            </a:r>
            <a:r>
              <a:rPr lang="en-US" altLang="zh-CN" sz="3600" b="1" err="1">
                <a:latin typeface="Arial" panose="020B0604020202020204" pitchFamily="34" charset="0"/>
                <a:ea typeface="宋体" panose="02010600030101010101" pitchFamily="2" charset="-122"/>
              </a:rPr>
              <a:t>GaAs</a:t>
            </a:r>
            <a:r>
              <a:rPr lang="zh-CN" altLang="en-US" sz="3600" b="1" dirty="0">
                <a:latin typeface="Arial" panose="020B0604020202020204" pitchFamily="34" charset="0"/>
                <a:ea typeface="宋体" panose="02010600030101010101" pitchFamily="2" charset="-122"/>
              </a:rPr>
              <a:t>化合物半导体</a:t>
            </a:r>
            <a:endParaRPr lang="zh-CN" altLang="en-US" sz="3600" b="1" dirty="0">
              <a:latin typeface="Arial" panose="020B0604020202020204" pitchFamily="34" charset="0"/>
              <a:ea typeface="Arial" panose="020B0604020202020204" pitchFamily="34" charset="0"/>
            </a:endParaRPr>
          </a:p>
        </p:txBody>
      </p:sp>
      <p:sp>
        <p:nvSpPr>
          <p:cNvPr id="84994" name="文本框 112643"/>
          <p:cNvSpPr txBox="1"/>
          <p:nvPr/>
        </p:nvSpPr>
        <p:spPr>
          <a:xfrm>
            <a:off x="1031875" y="1725613"/>
            <a:ext cx="3232150" cy="579437"/>
          </a:xfrm>
          <a:prstGeom prst="rect">
            <a:avLst/>
          </a:prstGeom>
          <a:noFill/>
          <a:ln w="12700">
            <a:noFill/>
          </a:ln>
        </p:spPr>
        <p:txBody>
          <a:bodyPr wrap="none" anchor="t" anchorCtr="0">
            <a:spAutoFit/>
          </a:bodyPr>
          <a:lstStyle/>
          <a:p>
            <a:pPr eaLnBrk="0" hangingPunct="0"/>
            <a:r>
              <a:rPr lang="en-US" altLang="zh-CN" sz="3200" err="1">
                <a:latin typeface="Arial" panose="020B0604020202020204" pitchFamily="34" charset="0"/>
                <a:ea typeface="宋体" panose="02010600030101010101" pitchFamily="2" charset="-122"/>
              </a:rPr>
              <a:t>GaAs</a:t>
            </a:r>
            <a:r>
              <a:rPr lang="zh-CN" altLang="en-US" sz="3200" dirty="0">
                <a:latin typeface="Arial" panose="020B0604020202020204" pitchFamily="34" charset="0"/>
                <a:ea typeface="宋体" panose="02010600030101010101" pitchFamily="2" charset="-122"/>
              </a:rPr>
              <a:t>闪锌矿结构</a:t>
            </a:r>
            <a:endParaRPr lang="zh-CN" altLang="en-US" sz="3200" dirty="0">
              <a:latin typeface="Arial" panose="020B0604020202020204" pitchFamily="34" charset="0"/>
              <a:ea typeface="Arial" panose="020B0604020202020204" pitchFamily="34" charset="0"/>
            </a:endParaRPr>
          </a:p>
        </p:txBody>
      </p:sp>
      <p:sp>
        <p:nvSpPr>
          <p:cNvPr id="84995" name="文本框 112645"/>
          <p:cNvSpPr txBox="1"/>
          <p:nvPr/>
        </p:nvSpPr>
        <p:spPr>
          <a:xfrm>
            <a:off x="3779838" y="5805488"/>
            <a:ext cx="2470150" cy="641350"/>
          </a:xfrm>
          <a:prstGeom prst="rect">
            <a:avLst/>
          </a:prstGeom>
          <a:noFill/>
          <a:ln w="12700">
            <a:noFill/>
          </a:ln>
        </p:spPr>
        <p:txBody>
          <a:bodyPr wrap="none" anchor="t" anchorCtr="0">
            <a:spAutoFit/>
          </a:bodyPr>
          <a:lstStyle/>
          <a:p>
            <a:pPr eaLnBrk="0" hangingPunct="0"/>
            <a:r>
              <a:rPr lang="zh-CN" altLang="en-US" sz="3600" dirty="0">
                <a:latin typeface="Arial" panose="020B0604020202020204" pitchFamily="34" charset="0"/>
                <a:ea typeface="宋体" panose="02010600030101010101" pitchFamily="2" charset="-122"/>
              </a:rPr>
              <a:t>闪锌矿结构</a:t>
            </a:r>
            <a:endParaRPr lang="zh-CN" altLang="en-US" sz="3600" dirty="0">
              <a:latin typeface="Arial" panose="020B0604020202020204" pitchFamily="34" charset="0"/>
              <a:ea typeface="Arial" panose="020B0604020202020204" pitchFamily="34" charset="0"/>
            </a:endParaRPr>
          </a:p>
        </p:txBody>
      </p:sp>
      <p:pic>
        <p:nvPicPr>
          <p:cNvPr id="84996" name="图片 112646"/>
          <p:cNvPicPr>
            <a:picLocks noChangeAspect="1"/>
          </p:cNvPicPr>
          <p:nvPr/>
        </p:nvPicPr>
        <p:blipFill>
          <a:blip r:embed="rId2"/>
          <a:stretch>
            <a:fillRect/>
          </a:stretch>
        </p:blipFill>
        <p:spPr>
          <a:xfrm>
            <a:off x="1835150" y="2565400"/>
            <a:ext cx="3249613" cy="3182938"/>
          </a:xfrm>
          <a:prstGeom prst="rect">
            <a:avLst/>
          </a:prstGeom>
          <a:noFill/>
          <a:ln w="9525">
            <a:noFill/>
          </a:ln>
        </p:spPr>
      </p:pic>
      <p:sp>
        <p:nvSpPr>
          <p:cNvPr id="84997" name="文本框 112647"/>
          <p:cNvSpPr txBox="1"/>
          <p:nvPr/>
        </p:nvSpPr>
        <p:spPr>
          <a:xfrm>
            <a:off x="5435600" y="3933825"/>
            <a:ext cx="3529013" cy="579438"/>
          </a:xfrm>
          <a:prstGeom prst="rect">
            <a:avLst/>
          </a:prstGeom>
          <a:noFill/>
          <a:ln w="9525">
            <a:noFill/>
          </a:ln>
        </p:spPr>
        <p:txBody>
          <a:bodyPr anchor="t" anchorCtr="0">
            <a:spAutoFit/>
          </a:bodyPr>
          <a:lstStyle/>
          <a:p>
            <a:r>
              <a:rPr lang="en-US" altLang="zh-CN" sz="3200" b="1" err="1">
                <a:solidFill>
                  <a:srgbClr val="A50021"/>
                </a:solidFill>
                <a:latin typeface="Times New Roman" panose="02020603050405020304" pitchFamily="18" charset="0"/>
                <a:ea typeface="宋体" panose="02010600030101010101" pitchFamily="2" charset="-122"/>
              </a:rPr>
              <a:t>GaAs</a:t>
            </a:r>
            <a:r>
              <a:rPr lang="en-US" altLang="zh-CN" sz="3200" b="1">
                <a:solidFill>
                  <a:srgbClr val="A50021"/>
                </a:solidFill>
                <a:latin typeface="Times New Roman" panose="02020603050405020304" pitchFamily="18" charset="0"/>
                <a:ea typeface="宋体" panose="02010600030101010101" pitchFamily="2" charset="-122"/>
              </a:rPr>
              <a:t>: </a:t>
            </a:r>
            <a:r>
              <a:rPr lang="en-US" altLang="zh-CN" sz="3200" b="1" i="1">
                <a:solidFill>
                  <a:srgbClr val="A50021"/>
                </a:solidFill>
                <a:latin typeface="Times New Roman" panose="02020603050405020304" pitchFamily="18" charset="0"/>
                <a:ea typeface="宋体" panose="02010600030101010101" pitchFamily="2" charset="-122"/>
              </a:rPr>
              <a:t>a</a:t>
            </a:r>
            <a:r>
              <a:rPr lang="en-US" altLang="zh-CN" sz="3200" b="1">
                <a:solidFill>
                  <a:srgbClr val="A50021"/>
                </a:solidFill>
                <a:latin typeface="Times New Roman" panose="02020603050405020304" pitchFamily="18" charset="0"/>
                <a:ea typeface="宋体" panose="02010600030101010101" pitchFamily="2" charset="-122"/>
              </a:rPr>
              <a:t>=5.65325Ǻ</a:t>
            </a:r>
            <a:endParaRPr lang="en-US" altLang="zh-CN" sz="3200" b="1">
              <a:solidFill>
                <a:srgbClr val="A50021"/>
              </a:solidFill>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矩形 166915"/>
          <p:cNvSpPr/>
          <p:nvPr/>
        </p:nvSpPr>
        <p:spPr>
          <a:xfrm>
            <a:off x="755650" y="260350"/>
            <a:ext cx="3105150" cy="641350"/>
          </a:xfrm>
          <a:prstGeom prst="rect">
            <a:avLst/>
          </a:prstGeom>
          <a:noFill/>
          <a:ln w="9525">
            <a:noFill/>
          </a:ln>
        </p:spPr>
        <p:txBody>
          <a:bodyPr wrap="none" anchor="t" anchorCtr="0">
            <a:spAutoFit/>
          </a:bodyPr>
          <a:lstStyle/>
          <a:p>
            <a:r>
              <a:rPr lang="en-US" altLang="zh-CN" sz="3600" b="1" err="1">
                <a:latin typeface="Times New Roman" panose="02020603050405020304" pitchFamily="18" charset="0"/>
                <a:ea typeface="宋体" panose="02010600030101010101" pitchFamily="2" charset="-122"/>
              </a:rPr>
              <a:t>GaAs</a:t>
            </a:r>
            <a:r>
              <a:rPr lang="zh-CN" altLang="en-US" sz="3600" b="1" dirty="0">
                <a:latin typeface="Times New Roman" panose="02020603050405020304" pitchFamily="18" charset="0"/>
                <a:ea typeface="宋体" panose="02010600030101010101" pitchFamily="2" charset="-122"/>
              </a:rPr>
              <a:t>能带结构</a:t>
            </a:r>
            <a:endParaRPr lang="zh-CN" altLang="en-US" sz="3600" b="1">
              <a:latin typeface="Times New Roman" panose="02020603050405020304" pitchFamily="18" charset="0"/>
              <a:ea typeface="宋体" panose="02010600030101010101" pitchFamily="2" charset="-122"/>
            </a:endParaRPr>
          </a:p>
        </p:txBody>
      </p:sp>
      <p:grpSp>
        <p:nvGrpSpPr>
          <p:cNvPr id="86018" name="组合 166916"/>
          <p:cNvGrpSpPr/>
          <p:nvPr/>
        </p:nvGrpSpPr>
        <p:grpSpPr>
          <a:xfrm>
            <a:off x="2484438" y="908050"/>
            <a:ext cx="4614862" cy="5730875"/>
            <a:chOff x="3334" y="554"/>
            <a:chExt cx="2263" cy="2831"/>
          </a:xfrm>
        </p:grpSpPr>
        <p:sp>
          <p:nvSpPr>
            <p:cNvPr id="86019" name="矩形 166917"/>
            <p:cNvSpPr/>
            <p:nvPr/>
          </p:nvSpPr>
          <p:spPr>
            <a:xfrm>
              <a:off x="3651" y="663"/>
              <a:ext cx="1860" cy="2359"/>
            </a:xfrm>
            <a:prstGeom prst="rect">
              <a:avLst/>
            </a:prstGeom>
            <a:solidFill>
              <a:schemeClr val="accent2"/>
            </a:solidFill>
            <a:ln w="9525"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18" charset="0"/>
                <a:ea typeface="宋体" panose="02010600030101010101" pitchFamily="2" charset="-122"/>
              </a:endParaRPr>
            </a:p>
          </p:txBody>
        </p:sp>
        <p:sp>
          <p:nvSpPr>
            <p:cNvPr id="86020" name="直接连接符 166918"/>
            <p:cNvSpPr/>
            <p:nvPr/>
          </p:nvSpPr>
          <p:spPr>
            <a:xfrm>
              <a:off x="4592" y="672"/>
              <a:ext cx="0" cy="2352"/>
            </a:xfrm>
            <a:prstGeom prst="line">
              <a:avLst/>
            </a:prstGeom>
            <a:ln w="9525" cap="flat" cmpd="sng">
              <a:solidFill>
                <a:schemeClr val="tx1"/>
              </a:solidFill>
              <a:prstDash val="solid"/>
              <a:miter/>
              <a:headEnd type="none" w="med" len="med"/>
              <a:tailEnd type="none" w="med" len="med"/>
            </a:ln>
          </p:spPr>
        </p:sp>
        <p:sp>
          <p:nvSpPr>
            <p:cNvPr id="86021" name="直接连接符 166919"/>
            <p:cNvSpPr/>
            <p:nvPr/>
          </p:nvSpPr>
          <p:spPr>
            <a:xfrm>
              <a:off x="3632" y="2256"/>
              <a:ext cx="1872" cy="0"/>
            </a:xfrm>
            <a:prstGeom prst="line">
              <a:avLst/>
            </a:prstGeom>
            <a:ln w="9525" cap="flat" cmpd="sng">
              <a:solidFill>
                <a:schemeClr val="tx1"/>
              </a:solidFill>
              <a:prstDash val="solid"/>
              <a:miter/>
              <a:headEnd type="none" w="med" len="med"/>
              <a:tailEnd type="none" w="med" len="med"/>
            </a:ln>
          </p:spPr>
        </p:sp>
        <p:sp>
          <p:nvSpPr>
            <p:cNvPr id="86022" name="任意多边形 166920"/>
            <p:cNvSpPr/>
            <p:nvPr/>
          </p:nvSpPr>
          <p:spPr>
            <a:xfrm>
              <a:off x="3639" y="771"/>
              <a:ext cx="1872" cy="1149"/>
            </a:xfrm>
            <a:custGeom>
              <a:avLst/>
              <a:gdLst/>
              <a:ahLst/>
              <a:cxnLst/>
              <a:rect l="0" t="0" r="0" b="0"/>
              <a:pathLst>
                <a:path w="1872" h="1149">
                  <a:moveTo>
                    <a:pt x="0" y="984"/>
                  </a:moveTo>
                  <a:cubicBezTo>
                    <a:pt x="59" y="950"/>
                    <a:pt x="252" y="885"/>
                    <a:pt x="356" y="792"/>
                  </a:cubicBezTo>
                  <a:cubicBezTo>
                    <a:pt x="460" y="699"/>
                    <a:pt x="546" y="398"/>
                    <a:pt x="622" y="427"/>
                  </a:cubicBezTo>
                  <a:cubicBezTo>
                    <a:pt x="698" y="456"/>
                    <a:pt x="759" y="846"/>
                    <a:pt x="814" y="966"/>
                  </a:cubicBezTo>
                  <a:cubicBezTo>
                    <a:pt x="869" y="1086"/>
                    <a:pt x="912" y="1149"/>
                    <a:pt x="951" y="1149"/>
                  </a:cubicBezTo>
                  <a:cubicBezTo>
                    <a:pt x="990" y="1149"/>
                    <a:pt x="1010" y="1134"/>
                    <a:pt x="1051" y="966"/>
                  </a:cubicBezTo>
                  <a:cubicBezTo>
                    <a:pt x="1092" y="798"/>
                    <a:pt x="1148" y="286"/>
                    <a:pt x="1198" y="143"/>
                  </a:cubicBezTo>
                  <a:cubicBezTo>
                    <a:pt x="1248" y="0"/>
                    <a:pt x="1291" y="20"/>
                    <a:pt x="1353" y="107"/>
                  </a:cubicBezTo>
                  <a:cubicBezTo>
                    <a:pt x="1415" y="194"/>
                    <a:pt x="1486" y="553"/>
                    <a:pt x="1572" y="664"/>
                  </a:cubicBezTo>
                  <a:cubicBezTo>
                    <a:pt x="1658" y="775"/>
                    <a:pt x="1810" y="750"/>
                    <a:pt x="1872" y="773"/>
                  </a:cubicBezTo>
                </a:path>
              </a:pathLst>
            </a:custGeom>
            <a:noFill/>
            <a:ln w="44450" cap="flat" cmpd="sng">
              <a:solidFill>
                <a:srgbClr val="A50021"/>
              </a:solidFill>
              <a:prstDash val="solid"/>
              <a:miter/>
              <a:headEnd type="none" w="med" len="med"/>
              <a:tailEnd type="none" w="med" len="med"/>
            </a:ln>
          </p:spPr>
          <p:txBody>
            <a:bodyPr/>
            <a:lstStyle/>
            <a:p>
              <a:endParaRPr lang="zh-CN" altLang="en-US"/>
            </a:p>
          </p:txBody>
        </p:sp>
        <p:sp>
          <p:nvSpPr>
            <p:cNvPr id="86023" name="任意多边形 166921"/>
            <p:cNvSpPr/>
            <p:nvPr/>
          </p:nvSpPr>
          <p:spPr>
            <a:xfrm>
              <a:off x="3651" y="2246"/>
              <a:ext cx="1588" cy="776"/>
            </a:xfrm>
            <a:custGeom>
              <a:avLst/>
              <a:gdLst/>
              <a:ahLst/>
              <a:cxnLst/>
              <a:rect l="0" t="0" r="0" b="0"/>
              <a:pathLst>
                <a:path w="1588" h="776">
                  <a:moveTo>
                    <a:pt x="0" y="450"/>
                  </a:moveTo>
                  <a:cubicBezTo>
                    <a:pt x="112" y="439"/>
                    <a:pt x="230" y="430"/>
                    <a:pt x="385" y="357"/>
                  </a:cubicBezTo>
                  <a:cubicBezTo>
                    <a:pt x="540" y="284"/>
                    <a:pt x="786" y="24"/>
                    <a:pt x="930" y="12"/>
                  </a:cubicBezTo>
                  <a:cubicBezTo>
                    <a:pt x="1074" y="0"/>
                    <a:pt x="1140" y="160"/>
                    <a:pt x="1250" y="287"/>
                  </a:cubicBezTo>
                  <a:cubicBezTo>
                    <a:pt x="1360" y="414"/>
                    <a:pt x="1518" y="674"/>
                    <a:pt x="1588" y="776"/>
                  </a:cubicBezTo>
                </a:path>
              </a:pathLst>
            </a:custGeom>
            <a:noFill/>
            <a:ln w="44450" cap="flat" cmpd="sng">
              <a:solidFill>
                <a:srgbClr val="A50021"/>
              </a:solidFill>
              <a:prstDash val="solid"/>
              <a:miter/>
              <a:headEnd type="none" w="med" len="med"/>
              <a:tailEnd type="none" w="med" len="med"/>
            </a:ln>
          </p:spPr>
          <p:txBody>
            <a:bodyPr/>
            <a:lstStyle/>
            <a:p>
              <a:endParaRPr lang="zh-CN" altLang="en-US"/>
            </a:p>
          </p:txBody>
        </p:sp>
        <p:sp>
          <p:nvSpPr>
            <p:cNvPr id="86024" name="任意多边形 166922"/>
            <p:cNvSpPr/>
            <p:nvPr/>
          </p:nvSpPr>
          <p:spPr>
            <a:xfrm>
              <a:off x="4304" y="2395"/>
              <a:ext cx="672" cy="629"/>
            </a:xfrm>
            <a:custGeom>
              <a:avLst/>
              <a:gdLst/>
              <a:ahLst/>
              <a:cxnLst/>
              <a:rect l="0" t="0" r="0" b="0"/>
              <a:pathLst>
                <a:path w="672" h="629">
                  <a:moveTo>
                    <a:pt x="0" y="629"/>
                  </a:moveTo>
                  <a:cubicBezTo>
                    <a:pt x="48" y="524"/>
                    <a:pt x="174" y="0"/>
                    <a:pt x="286" y="0"/>
                  </a:cubicBezTo>
                  <a:cubicBezTo>
                    <a:pt x="398" y="0"/>
                    <a:pt x="592" y="498"/>
                    <a:pt x="672" y="629"/>
                  </a:cubicBezTo>
                </a:path>
              </a:pathLst>
            </a:custGeom>
            <a:noFill/>
            <a:ln w="44450" cap="flat" cmpd="sng">
              <a:solidFill>
                <a:srgbClr val="A50021"/>
              </a:solidFill>
              <a:prstDash val="solid"/>
              <a:miter/>
              <a:headEnd type="none" w="med" len="med"/>
              <a:tailEnd type="none" w="med" len="med"/>
            </a:ln>
          </p:spPr>
          <p:txBody>
            <a:bodyPr/>
            <a:lstStyle/>
            <a:p>
              <a:endParaRPr lang="zh-CN" altLang="en-US"/>
            </a:p>
          </p:txBody>
        </p:sp>
        <p:sp>
          <p:nvSpPr>
            <p:cNvPr id="86025" name="文本框 166923"/>
            <p:cNvSpPr txBox="1"/>
            <p:nvPr/>
          </p:nvSpPr>
          <p:spPr>
            <a:xfrm>
              <a:off x="3334" y="554"/>
              <a:ext cx="181" cy="226"/>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E</a:t>
              </a:r>
            </a:p>
          </p:txBody>
        </p:sp>
        <p:sp>
          <p:nvSpPr>
            <p:cNvPr id="86026" name="文本框 166924"/>
            <p:cNvSpPr txBox="1"/>
            <p:nvPr/>
          </p:nvSpPr>
          <p:spPr>
            <a:xfrm>
              <a:off x="3696" y="709"/>
              <a:ext cx="431" cy="226"/>
            </a:xfrm>
            <a:prstGeom prst="rect">
              <a:avLst/>
            </a:prstGeom>
            <a:noFill/>
            <a:ln w="9525">
              <a:noFill/>
            </a:ln>
          </p:spPr>
          <p:txBody>
            <a:bodyPr wrap="none" anchor="t" anchorCtr="0">
              <a:spAutoFit/>
            </a:bodyPr>
            <a:lstStyle/>
            <a:p>
              <a:r>
                <a:rPr lang="en-US" altLang="zh-CN" sz="2400" err="1">
                  <a:latin typeface="Times New Roman" panose="02020603050405020304" pitchFamily="18" charset="0"/>
                  <a:ea typeface="宋体" panose="02010600030101010101" pitchFamily="2" charset="-122"/>
                </a:rPr>
                <a:t>GaAs</a:t>
              </a:r>
              <a:endParaRPr lang="en-US" altLang="zh-CN" sz="2400">
                <a:latin typeface="Times New Roman" panose="02020603050405020304" pitchFamily="18" charset="0"/>
                <a:ea typeface="宋体" panose="02010600030101010101" pitchFamily="2" charset="-122"/>
              </a:endParaRPr>
            </a:p>
          </p:txBody>
        </p:sp>
        <p:sp>
          <p:nvSpPr>
            <p:cNvPr id="86027" name="直接连接符 166925"/>
            <p:cNvSpPr/>
            <p:nvPr/>
          </p:nvSpPr>
          <p:spPr>
            <a:xfrm>
              <a:off x="3878" y="1933"/>
              <a:ext cx="688" cy="0"/>
            </a:xfrm>
            <a:prstGeom prst="line">
              <a:avLst/>
            </a:prstGeom>
            <a:ln w="9525" cap="flat" cmpd="sng">
              <a:solidFill>
                <a:schemeClr val="tx1"/>
              </a:solidFill>
              <a:prstDash val="solid"/>
              <a:miter/>
              <a:headEnd type="none" w="med" len="med"/>
              <a:tailEnd type="none" w="med" len="med"/>
            </a:ln>
          </p:spPr>
        </p:sp>
        <p:sp>
          <p:nvSpPr>
            <p:cNvPr id="86028" name="直接连接符 166926"/>
            <p:cNvSpPr/>
            <p:nvPr/>
          </p:nvSpPr>
          <p:spPr>
            <a:xfrm>
              <a:off x="4468" y="1933"/>
              <a:ext cx="0" cy="331"/>
            </a:xfrm>
            <a:prstGeom prst="line">
              <a:avLst/>
            </a:prstGeom>
            <a:ln w="9525" cap="flat" cmpd="sng">
              <a:solidFill>
                <a:schemeClr val="tx1"/>
              </a:solidFill>
              <a:prstDash val="solid"/>
              <a:miter/>
              <a:headEnd type="triangle" w="med" len="med"/>
              <a:tailEnd type="triangle" w="med" len="med"/>
            </a:ln>
          </p:spPr>
        </p:sp>
        <p:sp>
          <p:nvSpPr>
            <p:cNvPr id="86029" name="直接连接符 166927"/>
            <p:cNvSpPr/>
            <p:nvPr/>
          </p:nvSpPr>
          <p:spPr>
            <a:xfrm flipV="1">
              <a:off x="3923" y="1741"/>
              <a:ext cx="0" cy="192"/>
            </a:xfrm>
            <a:prstGeom prst="line">
              <a:avLst/>
            </a:prstGeom>
            <a:ln w="9525" cap="flat" cmpd="sng">
              <a:solidFill>
                <a:schemeClr val="tx1"/>
              </a:solidFill>
              <a:prstDash val="solid"/>
              <a:miter/>
              <a:headEnd type="triangle" w="med" len="med"/>
              <a:tailEnd type="triangle" w="med" len="med"/>
            </a:ln>
          </p:spPr>
        </p:sp>
        <p:sp>
          <p:nvSpPr>
            <p:cNvPr id="86030" name="文本框 166928"/>
            <p:cNvSpPr txBox="1"/>
            <p:nvPr/>
          </p:nvSpPr>
          <p:spPr>
            <a:xfrm>
              <a:off x="4174" y="1979"/>
              <a:ext cx="229" cy="196"/>
            </a:xfrm>
            <a:prstGeom prst="rect">
              <a:avLst/>
            </a:prstGeom>
            <a:noFill/>
            <a:ln w="9525">
              <a:noFill/>
            </a:ln>
          </p:spPr>
          <p:txBody>
            <a:bodyPr wrap="none" anchor="t" anchorCtr="0">
              <a:spAutoFit/>
            </a:bodyPr>
            <a:lstStyle/>
            <a:p>
              <a:r>
                <a:rPr lang="en-US" altLang="zh-CN" sz="2000" err="1">
                  <a:latin typeface="Times New Roman" panose="02020603050405020304" pitchFamily="18" charset="0"/>
                  <a:ea typeface="宋体" panose="02010600030101010101" pitchFamily="2" charset="-122"/>
                </a:rPr>
                <a:t>Eg</a:t>
              </a:r>
              <a:endParaRPr lang="en-US" altLang="zh-CN" sz="2000">
                <a:latin typeface="Times New Roman" panose="02020603050405020304" pitchFamily="18" charset="0"/>
                <a:ea typeface="宋体" panose="02010600030101010101" pitchFamily="2" charset="-122"/>
              </a:endParaRPr>
            </a:p>
          </p:txBody>
        </p:sp>
        <p:sp>
          <p:nvSpPr>
            <p:cNvPr id="86031" name="文本框 166929"/>
            <p:cNvSpPr txBox="1"/>
            <p:nvPr/>
          </p:nvSpPr>
          <p:spPr>
            <a:xfrm>
              <a:off x="3923" y="1752"/>
              <a:ext cx="381" cy="167"/>
            </a:xfrm>
            <a:prstGeom prst="rect">
              <a:avLst/>
            </a:prstGeom>
            <a:noFill/>
            <a:ln w="9525">
              <a:noFill/>
            </a:ln>
          </p:spPr>
          <p:txBody>
            <a:bodyPr wrap="none" anchor="t" anchorCtr="0">
              <a:spAutoFit/>
            </a:bodyPr>
            <a:lstStyle/>
            <a:p>
              <a:r>
                <a:rPr lang="en-US" altLang="zh-CN" sz="1600">
                  <a:latin typeface="Times New Roman" panose="02020603050405020304" pitchFamily="18" charset="0"/>
                  <a:ea typeface="宋体" panose="02010600030101010101" pitchFamily="2" charset="-122"/>
                </a:rPr>
                <a:t>0</a:t>
              </a:r>
              <a:r>
                <a:rPr lang="en-US" altLang="zh-CN" sz="1600">
                  <a:latin typeface="Times New Roman" panose="02020603050405020304" pitchFamily="18" charset="0"/>
                  <a:ea typeface="Times New Roman" panose="02020603050405020304" pitchFamily="18" charset="0"/>
                </a:rPr>
                <a:t>·</a:t>
              </a:r>
              <a:r>
                <a:rPr lang="en-US" altLang="zh-CN" sz="1600">
                  <a:latin typeface="Times New Roman" panose="02020603050405020304" pitchFamily="18" charset="0"/>
                  <a:ea typeface="宋体" panose="02010600030101010101" pitchFamily="2" charset="-122"/>
                </a:rPr>
                <a:t>29eV</a:t>
              </a:r>
            </a:p>
          </p:txBody>
        </p:sp>
        <p:sp>
          <p:nvSpPr>
            <p:cNvPr id="86032" name="文本框 166930"/>
            <p:cNvSpPr txBox="1"/>
            <p:nvPr/>
          </p:nvSpPr>
          <p:spPr>
            <a:xfrm>
              <a:off x="3526" y="3002"/>
              <a:ext cx="182" cy="226"/>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L</a:t>
              </a:r>
            </a:p>
          </p:txBody>
        </p:sp>
        <p:sp>
          <p:nvSpPr>
            <p:cNvPr id="86033" name="文本框 166931"/>
            <p:cNvSpPr txBox="1"/>
            <p:nvPr/>
          </p:nvSpPr>
          <p:spPr>
            <a:xfrm>
              <a:off x="4486" y="1165"/>
              <a:ext cx="90" cy="226"/>
            </a:xfrm>
            <a:prstGeom prst="rect">
              <a:avLst/>
            </a:prstGeom>
            <a:noFill/>
            <a:ln w="9525">
              <a:noFill/>
            </a:ln>
          </p:spPr>
          <p:txBody>
            <a:bodyPr wrap="none" anchor="t" anchorCtr="0">
              <a:spAutoFit/>
            </a:bodyPr>
            <a:lstStyle/>
            <a:p>
              <a:endParaRPr lang="zh-CN" sz="2400" dirty="0">
                <a:latin typeface="Times New Roman" panose="02020603050405020304" pitchFamily="18" charset="0"/>
                <a:ea typeface="宋体" panose="02010600030101010101" pitchFamily="2" charset="-122"/>
              </a:endParaRPr>
            </a:p>
          </p:txBody>
        </p:sp>
        <p:sp>
          <p:nvSpPr>
            <p:cNvPr id="86034" name="文本框 166932"/>
            <p:cNvSpPr txBox="1"/>
            <p:nvPr/>
          </p:nvSpPr>
          <p:spPr>
            <a:xfrm>
              <a:off x="4496" y="3024"/>
              <a:ext cx="240" cy="226"/>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Γ</a:t>
              </a:r>
            </a:p>
          </p:txBody>
        </p:sp>
        <p:sp>
          <p:nvSpPr>
            <p:cNvPr id="86035" name="文本框 166933"/>
            <p:cNvSpPr txBox="1"/>
            <p:nvPr/>
          </p:nvSpPr>
          <p:spPr>
            <a:xfrm>
              <a:off x="5398" y="3050"/>
              <a:ext cx="199" cy="226"/>
            </a:xfrm>
            <a:prstGeom prst="rect">
              <a:avLst/>
            </a:prstGeom>
            <a:noFill/>
            <a:ln w="9525">
              <a:noFill/>
            </a:ln>
          </p:spPr>
          <p:txBody>
            <a:bodyPr wrap="none" anchor="t" anchorCtr="0">
              <a:spAutoFit/>
            </a:bodyPr>
            <a:lstStyle/>
            <a:p>
              <a:r>
                <a:rPr lang="en-US" altLang="zh-CN" sz="2400">
                  <a:latin typeface="Times New Roman" panose="02020603050405020304" pitchFamily="18" charset="0"/>
                  <a:ea typeface="宋体" panose="02010600030101010101" pitchFamily="2" charset="-122"/>
                </a:rPr>
                <a:t>X</a:t>
              </a:r>
            </a:p>
          </p:txBody>
        </p:sp>
        <p:sp>
          <p:nvSpPr>
            <p:cNvPr id="86036" name="文本框 166934"/>
            <p:cNvSpPr txBox="1"/>
            <p:nvPr/>
          </p:nvSpPr>
          <p:spPr>
            <a:xfrm>
              <a:off x="3832" y="3204"/>
              <a:ext cx="333" cy="18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[111]</a:t>
              </a:r>
            </a:p>
          </p:txBody>
        </p:sp>
        <p:sp>
          <p:nvSpPr>
            <p:cNvPr id="86037" name="直接连接符 166935"/>
            <p:cNvSpPr/>
            <p:nvPr/>
          </p:nvSpPr>
          <p:spPr>
            <a:xfrm flipH="1">
              <a:off x="4360" y="3302"/>
              <a:ext cx="144" cy="0"/>
            </a:xfrm>
            <a:prstGeom prst="line">
              <a:avLst/>
            </a:prstGeom>
            <a:ln w="9525" cap="flat" cmpd="sng">
              <a:solidFill>
                <a:schemeClr val="tx1"/>
              </a:solidFill>
              <a:prstDash val="solid"/>
              <a:miter/>
              <a:headEnd type="none" w="med" len="med"/>
              <a:tailEnd type="triangle" w="med" len="med"/>
            </a:ln>
          </p:spPr>
        </p:sp>
        <p:sp>
          <p:nvSpPr>
            <p:cNvPr id="86038" name="直接连接符 166936"/>
            <p:cNvSpPr/>
            <p:nvPr/>
          </p:nvSpPr>
          <p:spPr>
            <a:xfrm>
              <a:off x="4504" y="3302"/>
              <a:ext cx="336" cy="0"/>
            </a:xfrm>
            <a:prstGeom prst="line">
              <a:avLst/>
            </a:prstGeom>
            <a:ln w="9525" cap="flat" cmpd="sng">
              <a:solidFill>
                <a:schemeClr val="tx1"/>
              </a:solidFill>
              <a:prstDash val="solid"/>
              <a:miter/>
              <a:headEnd type="none" w="med" len="med"/>
              <a:tailEnd type="triangle" w="med" len="med"/>
            </a:ln>
          </p:spPr>
        </p:sp>
        <p:sp>
          <p:nvSpPr>
            <p:cNvPr id="86039" name="文本框 166937"/>
            <p:cNvSpPr txBox="1"/>
            <p:nvPr/>
          </p:nvSpPr>
          <p:spPr>
            <a:xfrm>
              <a:off x="4888" y="3204"/>
              <a:ext cx="333" cy="181"/>
            </a:xfrm>
            <a:prstGeom prst="rect">
              <a:avLst/>
            </a:prstGeom>
            <a:noFill/>
            <a:ln w="9525">
              <a:noFill/>
            </a:ln>
          </p:spPr>
          <p:txBody>
            <a:bodyPr wrap="none" anchor="t" anchorCtr="0">
              <a:spAutoFit/>
            </a:bodyPr>
            <a:lstStyle/>
            <a:p>
              <a:r>
                <a:rPr lang="en-US" altLang="zh-CN">
                  <a:latin typeface="Times New Roman" panose="02020603050405020304" pitchFamily="18" charset="0"/>
                  <a:ea typeface="宋体" panose="02010600030101010101" pitchFamily="2" charset="-122"/>
                </a:rPr>
                <a:t>[100]</a:t>
              </a:r>
            </a:p>
          </p:txBody>
        </p:sp>
        <p:sp>
          <p:nvSpPr>
            <p:cNvPr id="86040" name="直接连接符 166938"/>
            <p:cNvSpPr/>
            <p:nvPr/>
          </p:nvSpPr>
          <p:spPr>
            <a:xfrm>
              <a:off x="3651" y="1752"/>
              <a:ext cx="544" cy="0"/>
            </a:xfrm>
            <a:prstGeom prst="line">
              <a:avLst/>
            </a:prstGeom>
            <a:ln w="9525" cap="flat" cmpd="sng">
              <a:solidFill>
                <a:schemeClr val="tx1"/>
              </a:solidFill>
              <a:prstDash val="solid"/>
              <a:round/>
              <a:headEnd type="none" w="med" len="med"/>
              <a:tailEnd type="none" w="med" len="med"/>
            </a:ln>
          </p:spPr>
        </p:sp>
        <p:sp>
          <p:nvSpPr>
            <p:cNvPr id="86041" name="任意多边形 166939"/>
            <p:cNvSpPr/>
            <p:nvPr/>
          </p:nvSpPr>
          <p:spPr>
            <a:xfrm>
              <a:off x="3651" y="2251"/>
              <a:ext cx="953" cy="589"/>
            </a:xfrm>
            <a:custGeom>
              <a:avLst/>
              <a:gdLst/>
              <a:ahLst/>
              <a:cxnLst/>
              <a:rect l="0" t="0" r="0" b="0"/>
              <a:pathLst>
                <a:path w="953" h="589">
                  <a:moveTo>
                    <a:pt x="0" y="589"/>
                  </a:moveTo>
                  <a:cubicBezTo>
                    <a:pt x="83" y="570"/>
                    <a:pt x="166" y="552"/>
                    <a:pt x="272" y="499"/>
                  </a:cubicBezTo>
                  <a:cubicBezTo>
                    <a:pt x="378" y="446"/>
                    <a:pt x="544" y="340"/>
                    <a:pt x="635" y="272"/>
                  </a:cubicBezTo>
                  <a:cubicBezTo>
                    <a:pt x="726" y="204"/>
                    <a:pt x="764" y="135"/>
                    <a:pt x="817" y="90"/>
                  </a:cubicBezTo>
                  <a:cubicBezTo>
                    <a:pt x="870" y="45"/>
                    <a:pt x="911" y="22"/>
                    <a:pt x="953" y="0"/>
                  </a:cubicBezTo>
                </a:path>
              </a:pathLst>
            </a:custGeom>
            <a:noFill/>
            <a:ln w="41275" cap="flat" cmpd="sng">
              <a:solidFill>
                <a:srgbClr val="A50021"/>
              </a:solidFill>
              <a:prstDash val="solid"/>
              <a:round/>
              <a:headEnd type="none" w="med" len="med"/>
              <a:tailEnd type="none" w="med" len="med"/>
            </a:ln>
          </p:spPr>
          <p:txBody>
            <a:bodyPr/>
            <a:lstStyle/>
            <a:p>
              <a:endParaRPr lang="zh-CN" altLang="en-US"/>
            </a:p>
          </p:txBody>
        </p:sp>
      </p:grpSp>
      <p:sp>
        <p:nvSpPr>
          <p:cNvPr id="86042" name="文本框 166940"/>
          <p:cNvSpPr txBox="1"/>
          <p:nvPr/>
        </p:nvSpPr>
        <p:spPr>
          <a:xfrm>
            <a:off x="611188" y="3789363"/>
            <a:ext cx="2089150" cy="592137"/>
          </a:xfrm>
          <a:prstGeom prst="rect">
            <a:avLst/>
          </a:prstGeom>
          <a:noFill/>
          <a:ln w="12700" cap="sq" cmpd="sng">
            <a:solidFill>
              <a:srgbClr val="FFFF00"/>
            </a:solidFill>
            <a:prstDash val="solid"/>
            <a:miter/>
            <a:headEnd type="none" w="sm" len="sm"/>
            <a:tailEnd type="none" w="sm" len="sm"/>
          </a:ln>
        </p:spPr>
        <p:txBody>
          <a:bodyPr anchor="t" anchorCtr="0">
            <a:spAutoFit/>
          </a:bodyPr>
          <a:lstStyle/>
          <a:p>
            <a:pPr eaLnBrk="0" hangingPunct="0"/>
            <a:r>
              <a:rPr lang="zh-CN" altLang="en-US" sz="3200" b="1" dirty="0">
                <a:solidFill>
                  <a:srgbClr val="A50021"/>
                </a:solidFill>
                <a:latin typeface="Arial" panose="020B0604020202020204" pitchFamily="34" charset="0"/>
                <a:ea typeface="宋体" panose="02010600030101010101" pitchFamily="2" charset="-122"/>
              </a:rPr>
              <a:t>直接带隙</a:t>
            </a:r>
            <a:endParaRPr lang="zh-CN" altLang="en-US" sz="3200" b="1">
              <a:solidFill>
                <a:srgbClr val="A50021"/>
              </a:solidFill>
              <a:latin typeface="Arial" panose="020B0604020202020204" pitchFamily="34" charset="0"/>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文本框 113691"/>
          <p:cNvSpPr txBox="1"/>
          <p:nvPr/>
        </p:nvSpPr>
        <p:spPr>
          <a:xfrm>
            <a:off x="900113" y="836613"/>
            <a:ext cx="7345362" cy="2287587"/>
          </a:xfrm>
          <a:prstGeom prst="rect">
            <a:avLst/>
          </a:prstGeom>
          <a:noFill/>
          <a:ln w="12700">
            <a:noFill/>
          </a:ln>
        </p:spPr>
        <p:txBody>
          <a:bodyPr anchor="t" anchorCtr="0">
            <a:spAutoFit/>
          </a:bodyPr>
          <a:lstStyle/>
          <a:p>
            <a:pPr eaLnBrk="0" hangingPunct="0"/>
            <a:r>
              <a:rPr lang="en-US" altLang="zh-CN" sz="3200" b="1" dirty="0">
                <a:latin typeface="Arial" panose="020B0604020202020204" pitchFamily="34" charset="0"/>
                <a:ea typeface="宋体" panose="02010600030101010101" pitchFamily="2" charset="-122"/>
              </a:rPr>
              <a:t>(1) </a:t>
            </a:r>
            <a:r>
              <a:rPr lang="zh-CN" altLang="en-US" sz="3200" b="1" dirty="0">
                <a:latin typeface="Arial" panose="020B0604020202020204" pitchFamily="34" charset="0"/>
                <a:ea typeface="宋体" panose="02010600030101010101" pitchFamily="2" charset="-122"/>
              </a:rPr>
              <a:t>导带有两个极小值：</a:t>
            </a:r>
            <a:endParaRPr lang="zh-CN" altLang="en-US" sz="2800" b="1" dirty="0">
              <a:latin typeface="Arial" panose="020B0604020202020204" pitchFamily="34" charset="0"/>
              <a:ea typeface="宋体" panose="02010600030101010101" pitchFamily="2" charset="-122"/>
            </a:endParaRPr>
          </a:p>
          <a:p>
            <a:pPr eaLnBrk="0" hangingPunct="0"/>
            <a:r>
              <a:rPr lang="zh-CN" altLang="en-US" sz="2800" b="1" dirty="0">
                <a:latin typeface="Arial" panose="020B0604020202020204" pitchFamily="34" charset="0"/>
                <a:ea typeface="宋体" panose="02010600030101010101" pitchFamily="2" charset="-122"/>
              </a:rPr>
              <a:t>一个在</a:t>
            </a:r>
            <a:r>
              <a:rPr lang="en-US" altLang="zh-CN" sz="2800" b="1" dirty="0">
                <a:latin typeface="Arial" panose="020B0604020202020204" pitchFamily="34" charset="0"/>
                <a:ea typeface="宋体" panose="02010600030101010101" pitchFamily="2" charset="-122"/>
              </a:rPr>
              <a:t>k=0</a:t>
            </a:r>
            <a:r>
              <a:rPr lang="zh-CN" altLang="en-US" sz="2800" b="1" dirty="0">
                <a:latin typeface="Arial" panose="020B0604020202020204" pitchFamily="34" charset="0"/>
                <a:ea typeface="宋体" panose="02010600030101010101" pitchFamily="2" charset="-122"/>
              </a:rPr>
              <a:t>处，为球形等能面，      </a:t>
            </a:r>
          </a:p>
          <a:p>
            <a:pPr eaLnBrk="0" hangingPunct="0"/>
            <a:endParaRPr lang="zh-CN" altLang="en-US" sz="2800" b="1" dirty="0">
              <a:latin typeface="Arial" panose="020B0604020202020204" pitchFamily="34" charset="0"/>
              <a:ea typeface="宋体" panose="02010600030101010101" pitchFamily="2" charset="-122"/>
            </a:endParaRPr>
          </a:p>
          <a:p>
            <a:pPr eaLnBrk="0" hangingPunct="0"/>
            <a:r>
              <a:rPr lang="zh-CN" altLang="en-US" sz="2800" b="1" dirty="0">
                <a:latin typeface="Arial" panose="020B0604020202020204" pitchFamily="34" charset="0"/>
                <a:ea typeface="宋体" panose="02010600030101010101" pitchFamily="2" charset="-122"/>
              </a:rPr>
              <a:t>另一个在</a:t>
            </a:r>
            <a:r>
              <a:rPr lang="en-US" altLang="zh-CN" sz="2800" b="1" dirty="0">
                <a:latin typeface="Arial" panose="020B0604020202020204" pitchFamily="34" charset="0"/>
                <a:ea typeface="宋体" panose="02010600030101010101" pitchFamily="2" charset="-122"/>
              </a:rPr>
              <a:t>[111]</a:t>
            </a:r>
            <a:r>
              <a:rPr lang="zh-CN" altLang="en-US" sz="2800" b="1" dirty="0">
                <a:latin typeface="Arial" panose="020B0604020202020204" pitchFamily="34" charset="0"/>
                <a:ea typeface="宋体" panose="02010600030101010101" pitchFamily="2" charset="-122"/>
              </a:rPr>
              <a:t>方向，为椭球等能面，能量比</a:t>
            </a:r>
            <a:r>
              <a:rPr lang="en-US" altLang="zh-CN" sz="2800" b="1" dirty="0">
                <a:latin typeface="Arial" panose="020B0604020202020204" pitchFamily="34" charset="0"/>
                <a:ea typeface="宋体" panose="02010600030101010101" pitchFamily="2" charset="-122"/>
              </a:rPr>
              <a:t>k=0</a:t>
            </a:r>
            <a:r>
              <a:rPr lang="zh-CN" altLang="en-US" sz="2800" b="1" dirty="0">
                <a:latin typeface="Arial" panose="020B0604020202020204" pitchFamily="34" charset="0"/>
                <a:ea typeface="宋体" panose="02010600030101010101" pitchFamily="2" charset="-122"/>
              </a:rPr>
              <a:t>处的高</a:t>
            </a:r>
            <a:r>
              <a:rPr lang="en-US" altLang="zh-CN" sz="2800" b="1" dirty="0">
                <a:latin typeface="Arial" panose="020B0604020202020204" pitchFamily="34" charset="0"/>
                <a:ea typeface="宋体" panose="02010600030101010101" pitchFamily="2" charset="-122"/>
              </a:rPr>
              <a:t>0.29ev</a:t>
            </a:r>
            <a:r>
              <a:rPr lang="zh-CN" altLang="en-US" sz="2800" b="1" dirty="0">
                <a:latin typeface="Arial" panose="020B0604020202020204" pitchFamily="34" charset="0"/>
                <a:ea typeface="宋体" panose="02010600030101010101" pitchFamily="2" charset="-122"/>
              </a:rPr>
              <a:t>，</a:t>
            </a:r>
            <a:endParaRPr lang="en-US" altLang="en-US" sz="2800" b="1">
              <a:latin typeface="Arial" panose="020B0604020202020204" pitchFamily="34" charset="0"/>
              <a:ea typeface="Arial" panose="020B0604020202020204" pitchFamily="34" charset="0"/>
            </a:endParaRPr>
          </a:p>
        </p:txBody>
      </p:sp>
      <p:graphicFrame>
        <p:nvGraphicFramePr>
          <p:cNvPr id="87042" name="对象 113692"/>
          <p:cNvGraphicFramePr/>
          <p:nvPr/>
        </p:nvGraphicFramePr>
        <p:xfrm>
          <a:off x="5724525" y="1300163"/>
          <a:ext cx="1944688" cy="544512"/>
        </p:xfrm>
        <a:graphic>
          <a:graphicData uri="http://schemas.openxmlformats.org/presentationml/2006/ole">
            <mc:AlternateContent xmlns:mc="http://schemas.openxmlformats.org/markup-compatibility/2006">
              <mc:Choice xmlns:v="urn:schemas-microsoft-com:vml" Requires="v">
                <p:oleObj r:id="rId2" imgW="862965" imgH="241300" progId="Equation.DSMT4">
                  <p:embed/>
                </p:oleObj>
              </mc:Choice>
              <mc:Fallback>
                <p:oleObj r:id="rId2" imgW="862965" imgH="241300" progId="Equation.DSMT4">
                  <p:embed/>
                  <p:pic>
                    <p:nvPicPr>
                      <p:cNvPr id="0" name="图片 3165"/>
                      <p:cNvPicPr/>
                      <p:nvPr/>
                    </p:nvPicPr>
                    <p:blipFill>
                      <a:blip r:embed="rId3"/>
                      <a:stretch>
                        <a:fillRect/>
                      </a:stretch>
                    </p:blipFill>
                    <p:spPr>
                      <a:xfrm>
                        <a:off x="5724525" y="1300163"/>
                        <a:ext cx="1944688" cy="544512"/>
                      </a:xfrm>
                      <a:prstGeom prst="rect">
                        <a:avLst/>
                      </a:prstGeom>
                      <a:noFill/>
                      <a:ln w="38100">
                        <a:noFill/>
                        <a:miter/>
                      </a:ln>
                    </p:spPr>
                  </p:pic>
                </p:oleObj>
              </mc:Fallback>
            </mc:AlternateContent>
          </a:graphicData>
        </a:graphic>
      </p:graphicFrame>
      <p:graphicFrame>
        <p:nvGraphicFramePr>
          <p:cNvPr id="87043" name="对象 113693"/>
          <p:cNvGraphicFramePr/>
          <p:nvPr/>
        </p:nvGraphicFramePr>
        <p:xfrm>
          <a:off x="4211638" y="2708275"/>
          <a:ext cx="1728787" cy="530225"/>
        </p:xfrm>
        <a:graphic>
          <a:graphicData uri="http://schemas.openxmlformats.org/presentationml/2006/ole">
            <mc:AlternateContent xmlns:mc="http://schemas.openxmlformats.org/markup-compatibility/2006">
              <mc:Choice xmlns:v="urn:schemas-microsoft-com:vml" Requires="v">
                <p:oleObj r:id="rId4" imgW="786765" imgH="241300" progId="Equation.DSMT4">
                  <p:embed/>
                </p:oleObj>
              </mc:Choice>
              <mc:Fallback>
                <p:oleObj r:id="rId4" imgW="786765" imgH="241300" progId="Equation.DSMT4">
                  <p:embed/>
                  <p:pic>
                    <p:nvPicPr>
                      <p:cNvPr id="0" name="图片 3166"/>
                      <p:cNvPicPr/>
                      <p:nvPr/>
                    </p:nvPicPr>
                    <p:blipFill>
                      <a:blip r:embed="rId5"/>
                      <a:stretch>
                        <a:fillRect/>
                      </a:stretch>
                    </p:blipFill>
                    <p:spPr>
                      <a:xfrm>
                        <a:off x="4211638" y="2708275"/>
                        <a:ext cx="1728787" cy="530225"/>
                      </a:xfrm>
                      <a:prstGeom prst="rect">
                        <a:avLst/>
                      </a:prstGeom>
                      <a:noFill/>
                      <a:ln w="38100">
                        <a:noFill/>
                        <a:miter/>
                      </a:ln>
                    </p:spPr>
                  </p:pic>
                </p:oleObj>
              </mc:Fallback>
            </mc:AlternateContent>
          </a:graphicData>
        </a:graphic>
      </p:graphicFrame>
      <p:sp>
        <p:nvSpPr>
          <p:cNvPr id="87044" name="文本框 113698"/>
          <p:cNvSpPr txBox="1"/>
          <p:nvPr/>
        </p:nvSpPr>
        <p:spPr>
          <a:xfrm>
            <a:off x="1042988" y="4859338"/>
            <a:ext cx="7200900" cy="946150"/>
          </a:xfrm>
          <a:prstGeom prst="rect">
            <a:avLst/>
          </a:prstGeom>
          <a:noFill/>
          <a:ln w="12700">
            <a:noFill/>
          </a:ln>
        </p:spPr>
        <p:txBody>
          <a:bodyPr anchor="t" anchorCtr="0">
            <a:spAutoFit/>
          </a:bodyPr>
          <a:lstStyle/>
          <a:p>
            <a:pPr eaLnBrk="0" hangingPunct="0"/>
            <a:r>
              <a:rPr lang="zh-CN" altLang="en-US" sz="2800" b="1" dirty="0">
                <a:latin typeface="Arial" panose="020B0604020202020204" pitchFamily="34" charset="0"/>
                <a:ea typeface="宋体" panose="02010600030101010101" pitchFamily="2" charset="-122"/>
              </a:rPr>
              <a:t>价带顶也在坐标原点，</a:t>
            </a:r>
            <a:r>
              <a:rPr lang="en-US" altLang="zh-CN" sz="2800" b="1" dirty="0">
                <a:latin typeface="Arial" panose="020B0604020202020204" pitchFamily="34" charset="0"/>
                <a:ea typeface="宋体" panose="02010600030101010101" pitchFamily="2" charset="-122"/>
              </a:rPr>
              <a:t>k=0</a:t>
            </a:r>
            <a:r>
              <a:rPr lang="zh-CN" altLang="en-US" sz="2800" b="1" dirty="0">
                <a:latin typeface="Arial" panose="020B0604020202020204" pitchFamily="34" charset="0"/>
                <a:ea typeface="宋体" panose="02010600030101010101" pitchFamily="2" charset="-122"/>
              </a:rPr>
              <a:t>，球形等能面，也有两个价带，存在重、轻空穴。</a:t>
            </a:r>
            <a:endParaRPr lang="zh-CN" altLang="en-US" sz="2800" b="1" dirty="0">
              <a:latin typeface="Arial" panose="020B0604020202020204" pitchFamily="34" charset="0"/>
              <a:ea typeface="Arial" panose="020B0604020202020204" pitchFamily="34" charset="0"/>
            </a:endParaRPr>
          </a:p>
        </p:txBody>
      </p:sp>
      <p:sp>
        <p:nvSpPr>
          <p:cNvPr id="87045" name="矩形 113699"/>
          <p:cNvSpPr/>
          <p:nvPr/>
        </p:nvSpPr>
        <p:spPr>
          <a:xfrm>
            <a:off x="1116013" y="4076700"/>
            <a:ext cx="2376487" cy="579438"/>
          </a:xfrm>
          <a:prstGeom prst="rect">
            <a:avLst/>
          </a:prstGeom>
          <a:noFill/>
          <a:ln w="9525">
            <a:noFill/>
          </a:ln>
        </p:spPr>
        <p:txBody>
          <a:bodyPr anchor="t" anchorCtr="0">
            <a:spAutoFit/>
          </a:bodyPr>
          <a:lstStyle/>
          <a:p>
            <a:r>
              <a:rPr lang="en-US" altLang="zh-CN" sz="3200" b="1" dirty="0">
                <a:latin typeface="Times New Roman" panose="02020603050405020304" pitchFamily="18" charset="0"/>
                <a:ea typeface="宋体" panose="02010600030101010101" pitchFamily="2" charset="-122"/>
              </a:rPr>
              <a:t>(2) </a:t>
            </a:r>
            <a:r>
              <a:rPr lang="zh-CN" altLang="en-US" sz="3200" b="1" dirty="0">
                <a:latin typeface="Times New Roman" panose="02020603050405020304" pitchFamily="18" charset="0"/>
                <a:ea typeface="宋体" panose="02010600030101010101" pitchFamily="2" charset="-122"/>
              </a:rPr>
              <a:t>价带</a:t>
            </a:r>
          </a:p>
        </p:txBody>
      </p:sp>
      <mc:AlternateContent xmlns:mc="http://schemas.openxmlformats.org/markup-compatibility/2006">
        <mc:Choice xmlns:p14="http://schemas.microsoft.com/office/powerpoint/2010/main" Requires="p14">
          <p:contentPart p14:bwMode="auto" r:id="rId6">
            <p14:nvContentPartPr>
              <p14:cNvPr id="2" name="墨迹 1">
                <a:extLst>
                  <a:ext uri="{FF2B5EF4-FFF2-40B4-BE49-F238E27FC236}">
                    <a16:creationId xmlns:a16="http://schemas.microsoft.com/office/drawing/2014/main" id="{11375032-F5CA-5C79-AA8A-AC980461A27A}"/>
                  </a:ext>
                </a:extLst>
              </p14:cNvPr>
              <p14:cNvContentPartPr/>
              <p14:nvPr/>
            </p14:nvContentPartPr>
            <p14:xfrm>
              <a:off x="1572592" y="1483653"/>
              <a:ext cx="5733360" cy="108720"/>
            </p14:xfrm>
          </p:contentPart>
        </mc:Choice>
        <mc:Fallback>
          <p:pic>
            <p:nvPicPr>
              <p:cNvPr id="2" name="墨迹 1">
                <a:extLst>
                  <a:ext uri="{FF2B5EF4-FFF2-40B4-BE49-F238E27FC236}">
                    <a16:creationId xmlns:a16="http://schemas.microsoft.com/office/drawing/2014/main" id="{11375032-F5CA-5C79-AA8A-AC980461A27A}"/>
                  </a:ext>
                </a:extLst>
              </p:cNvPr>
              <p:cNvPicPr/>
              <p:nvPr/>
            </p:nvPicPr>
            <p:blipFill>
              <a:blip r:embed="rId7"/>
              <a:stretch>
                <a:fillRect/>
              </a:stretch>
            </p:blipFill>
            <p:spPr>
              <a:xfrm>
                <a:off x="1518952" y="1375653"/>
                <a:ext cx="5841000" cy="324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 name="墨迹 2">
                <a:extLst>
                  <a:ext uri="{FF2B5EF4-FFF2-40B4-BE49-F238E27FC236}">
                    <a16:creationId xmlns:a16="http://schemas.microsoft.com/office/drawing/2014/main" id="{749465F8-1313-3C6A-8F2F-78EA0951FAC3}"/>
                  </a:ext>
                </a:extLst>
              </p14:cNvPr>
              <p14:cNvContentPartPr/>
              <p14:nvPr/>
            </p14:nvContentPartPr>
            <p14:xfrm>
              <a:off x="1307272" y="2438013"/>
              <a:ext cx="1266480" cy="199080"/>
            </p14:xfrm>
          </p:contentPart>
        </mc:Choice>
        <mc:Fallback>
          <p:pic>
            <p:nvPicPr>
              <p:cNvPr id="3" name="墨迹 2">
                <a:extLst>
                  <a:ext uri="{FF2B5EF4-FFF2-40B4-BE49-F238E27FC236}">
                    <a16:creationId xmlns:a16="http://schemas.microsoft.com/office/drawing/2014/main" id="{749465F8-1313-3C6A-8F2F-78EA0951FAC3}"/>
                  </a:ext>
                </a:extLst>
              </p:cNvPr>
              <p:cNvPicPr/>
              <p:nvPr/>
            </p:nvPicPr>
            <p:blipFill>
              <a:blip r:embed="rId9"/>
              <a:stretch>
                <a:fillRect/>
              </a:stretch>
            </p:blipFill>
            <p:spPr>
              <a:xfrm>
                <a:off x="1253632" y="2330373"/>
                <a:ext cx="1374120" cy="414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 name="墨迹 3">
                <a:extLst>
                  <a:ext uri="{FF2B5EF4-FFF2-40B4-BE49-F238E27FC236}">
                    <a16:creationId xmlns:a16="http://schemas.microsoft.com/office/drawing/2014/main" id="{4ACB88C4-AD04-ECE6-1296-25B4F210F040}"/>
                  </a:ext>
                </a:extLst>
              </p14:cNvPr>
              <p14:cNvContentPartPr/>
              <p14:nvPr/>
            </p14:nvContentPartPr>
            <p14:xfrm>
              <a:off x="1484392" y="5319093"/>
              <a:ext cx="3436920" cy="513000"/>
            </p14:xfrm>
          </p:contentPart>
        </mc:Choice>
        <mc:Fallback>
          <p:pic>
            <p:nvPicPr>
              <p:cNvPr id="4" name="墨迹 3">
                <a:extLst>
                  <a:ext uri="{FF2B5EF4-FFF2-40B4-BE49-F238E27FC236}">
                    <a16:creationId xmlns:a16="http://schemas.microsoft.com/office/drawing/2014/main" id="{4ACB88C4-AD04-ECE6-1296-25B4F210F040}"/>
                  </a:ext>
                </a:extLst>
              </p:cNvPr>
              <p:cNvPicPr/>
              <p:nvPr/>
            </p:nvPicPr>
            <p:blipFill>
              <a:blip r:embed="rId11"/>
              <a:stretch>
                <a:fillRect/>
              </a:stretch>
            </p:blipFill>
            <p:spPr>
              <a:xfrm>
                <a:off x="1430392" y="5211093"/>
                <a:ext cx="3544560" cy="728640"/>
              </a:xfrm>
              <a:prstGeom prst="rect">
                <a:avLst/>
              </a:prstGeom>
            </p:spPr>
          </p:pic>
        </mc:Fallback>
      </mc:AlternateContent>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文本框 114690"/>
          <p:cNvSpPr txBox="1"/>
          <p:nvPr/>
        </p:nvSpPr>
        <p:spPr>
          <a:xfrm>
            <a:off x="468313" y="2924175"/>
            <a:ext cx="8286750" cy="1739900"/>
          </a:xfrm>
          <a:prstGeom prst="rect">
            <a:avLst/>
          </a:prstGeom>
          <a:noFill/>
          <a:ln w="12700">
            <a:noFill/>
          </a:ln>
        </p:spPr>
        <p:txBody>
          <a:bodyPr wrap="none" anchor="t" anchorCtr="0">
            <a:spAutoFit/>
          </a:bodyPr>
          <a:lstStyle/>
          <a:p>
            <a:pPr eaLnBrk="0" hangingPunct="0"/>
            <a:r>
              <a:rPr lang="en-US" altLang="zh-CN" sz="3600" b="1" err="1">
                <a:latin typeface="Arial" panose="020B0604020202020204" pitchFamily="34" charset="0"/>
                <a:ea typeface="宋体" panose="02010600030101010101" pitchFamily="2" charset="-122"/>
              </a:rPr>
              <a:t>GaAs</a:t>
            </a:r>
            <a:r>
              <a:rPr lang="zh-CN" altLang="en-US" sz="3600" b="1" dirty="0">
                <a:latin typeface="Arial" panose="020B0604020202020204" pitchFamily="34" charset="0"/>
                <a:ea typeface="宋体" panose="02010600030101010101" pitchFamily="2" charset="-122"/>
              </a:rPr>
              <a:t>的导带的极小值点和价带的极大值</a:t>
            </a:r>
          </a:p>
          <a:p>
            <a:pPr eaLnBrk="0" hangingPunct="0"/>
            <a:r>
              <a:rPr lang="zh-CN" altLang="en-US" sz="3600" b="1" dirty="0">
                <a:latin typeface="Arial" panose="020B0604020202020204" pitchFamily="34" charset="0"/>
                <a:ea typeface="宋体" panose="02010600030101010101" pitchFamily="2" charset="-122"/>
              </a:rPr>
              <a:t>点为于</a:t>
            </a:r>
            <a:r>
              <a:rPr lang="en-US" altLang="zh-CN" sz="3600" b="1" dirty="0">
                <a:latin typeface="Arial" panose="020B0604020202020204" pitchFamily="34" charset="0"/>
                <a:ea typeface="宋体" panose="02010600030101010101" pitchFamily="2" charset="-122"/>
              </a:rPr>
              <a:t>K</a:t>
            </a:r>
            <a:r>
              <a:rPr lang="zh-CN" altLang="en-US" sz="3600" b="1" dirty="0">
                <a:latin typeface="Arial" panose="020B0604020202020204" pitchFamily="34" charset="0"/>
                <a:ea typeface="宋体" panose="02010600030101010101" pitchFamily="2" charset="-122"/>
              </a:rPr>
              <a:t>空间的同一点，这种半导体称为</a:t>
            </a:r>
          </a:p>
          <a:p>
            <a:pPr eaLnBrk="0" hangingPunct="0"/>
            <a:r>
              <a:rPr lang="zh-CN" altLang="en-US" sz="3600" b="1" dirty="0">
                <a:solidFill>
                  <a:srgbClr val="A50021"/>
                </a:solidFill>
                <a:latin typeface="Arial" panose="020B0604020202020204" pitchFamily="34" charset="0"/>
                <a:ea typeface="宋体" panose="02010600030101010101" pitchFamily="2" charset="-122"/>
              </a:rPr>
              <a:t>直接带隙</a:t>
            </a:r>
            <a:r>
              <a:rPr lang="zh-CN" altLang="en-US" sz="3600" b="1" dirty="0">
                <a:latin typeface="Arial" panose="020B0604020202020204" pitchFamily="34" charset="0"/>
                <a:ea typeface="宋体" panose="02010600030101010101" pitchFamily="2" charset="-122"/>
              </a:rPr>
              <a:t>半导体。</a:t>
            </a:r>
            <a:endParaRPr lang="zh-CN" altLang="en-US" sz="3600" b="1" dirty="0">
              <a:latin typeface="Arial" panose="020B0604020202020204" pitchFamily="34" charset="0"/>
              <a:ea typeface="Arial" panose="020B0604020202020204" pitchFamily="34" charset="0"/>
            </a:endParaRPr>
          </a:p>
        </p:txBody>
      </p:sp>
      <p:sp>
        <p:nvSpPr>
          <p:cNvPr id="88066" name="文本框 114692"/>
          <p:cNvSpPr txBox="1"/>
          <p:nvPr/>
        </p:nvSpPr>
        <p:spPr>
          <a:xfrm>
            <a:off x="611188" y="1125538"/>
            <a:ext cx="7642225" cy="1190625"/>
          </a:xfrm>
          <a:prstGeom prst="rect">
            <a:avLst/>
          </a:prstGeom>
          <a:noFill/>
          <a:ln w="12700">
            <a:noFill/>
          </a:ln>
        </p:spPr>
        <p:txBody>
          <a:bodyPr anchor="t" anchorCtr="0">
            <a:spAutoFit/>
          </a:bodyPr>
          <a:lstStyle/>
          <a:p>
            <a:pPr eaLnBrk="0" hangingPunct="0"/>
            <a:r>
              <a:rPr lang="en-US" altLang="zh-CN" sz="3600" b="1" err="1">
                <a:latin typeface="Arial" panose="020B0604020202020204" pitchFamily="34" charset="0"/>
                <a:ea typeface="宋体" panose="02010600030101010101" pitchFamily="2" charset="-122"/>
              </a:rPr>
              <a:t>Si,Ge</a:t>
            </a:r>
            <a:r>
              <a:rPr lang="en-US" altLang="zh-CN" sz="3600" b="1" dirty="0">
                <a:latin typeface="Arial" panose="020B0604020202020204" pitchFamily="34" charset="0"/>
                <a:ea typeface="宋体" panose="02010600030101010101" pitchFamily="2" charset="-122"/>
              </a:rPr>
              <a:t>: </a:t>
            </a:r>
            <a:r>
              <a:rPr lang="zh-CN" altLang="en-US" sz="3600" b="1" dirty="0">
                <a:latin typeface="Arial" panose="020B0604020202020204" pitchFamily="34" charset="0"/>
                <a:ea typeface="宋体" panose="02010600030101010101" pitchFamily="2" charset="-122"/>
              </a:rPr>
              <a:t>导带底和价带顶不在</a:t>
            </a:r>
            <a:r>
              <a:rPr lang="en-US" altLang="zh-CN" sz="3600" b="1" dirty="0">
                <a:latin typeface="Arial" panose="020B0604020202020204" pitchFamily="34" charset="0"/>
                <a:ea typeface="宋体" panose="02010600030101010101" pitchFamily="2" charset="-122"/>
              </a:rPr>
              <a:t>k</a:t>
            </a:r>
            <a:r>
              <a:rPr lang="zh-CN" altLang="en-US" sz="3600" b="1" dirty="0">
                <a:latin typeface="Arial" panose="020B0604020202020204" pitchFamily="34" charset="0"/>
                <a:ea typeface="宋体" panose="02010600030101010101" pitchFamily="2" charset="-122"/>
              </a:rPr>
              <a:t>空间同一点的半导体称为</a:t>
            </a:r>
            <a:r>
              <a:rPr lang="zh-CN" altLang="en-US" sz="3600" b="1" dirty="0">
                <a:solidFill>
                  <a:srgbClr val="A50021"/>
                </a:solidFill>
                <a:latin typeface="Arial" panose="020B0604020202020204" pitchFamily="34" charset="0"/>
                <a:ea typeface="宋体" panose="02010600030101010101" pitchFamily="2" charset="-122"/>
              </a:rPr>
              <a:t>间接带隙</a:t>
            </a:r>
            <a:r>
              <a:rPr lang="zh-CN" altLang="en-US" sz="3600" b="1" dirty="0">
                <a:latin typeface="Arial" panose="020B0604020202020204" pitchFamily="34" charset="0"/>
                <a:ea typeface="宋体" panose="02010600030101010101" pitchFamily="2" charset="-122"/>
              </a:rPr>
              <a:t>半导体。</a:t>
            </a:r>
            <a:endParaRPr lang="zh-CN" altLang="en-US" sz="3600" b="1" dirty="0">
              <a:latin typeface="Arial" panose="020B0604020202020204" pitchFamily="34" charset="0"/>
              <a:ea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2" name="墨迹 1">
                <a:extLst>
                  <a:ext uri="{FF2B5EF4-FFF2-40B4-BE49-F238E27FC236}">
                    <a16:creationId xmlns:a16="http://schemas.microsoft.com/office/drawing/2014/main" id="{DA18FD93-11E5-92A2-C51A-FBE1C0A175EB}"/>
                  </a:ext>
                </a:extLst>
              </p14:cNvPr>
              <p14:cNvContentPartPr/>
              <p14:nvPr/>
            </p14:nvContentPartPr>
            <p14:xfrm>
              <a:off x="2487352" y="1395813"/>
              <a:ext cx="5289840" cy="335880"/>
            </p14:xfrm>
          </p:contentPart>
        </mc:Choice>
        <mc:Fallback>
          <p:pic>
            <p:nvPicPr>
              <p:cNvPr id="2" name="墨迹 1">
                <a:extLst>
                  <a:ext uri="{FF2B5EF4-FFF2-40B4-BE49-F238E27FC236}">
                    <a16:creationId xmlns:a16="http://schemas.microsoft.com/office/drawing/2014/main" id="{DA18FD93-11E5-92A2-C51A-FBE1C0A175EB}"/>
                  </a:ext>
                </a:extLst>
              </p:cNvPr>
              <p:cNvPicPr/>
              <p:nvPr/>
            </p:nvPicPr>
            <p:blipFill>
              <a:blip r:embed="rId3"/>
              <a:stretch>
                <a:fillRect/>
              </a:stretch>
            </p:blipFill>
            <p:spPr>
              <a:xfrm>
                <a:off x="2433352" y="1287813"/>
                <a:ext cx="5397480" cy="5515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墨迹 2">
                <a:extLst>
                  <a:ext uri="{FF2B5EF4-FFF2-40B4-BE49-F238E27FC236}">
                    <a16:creationId xmlns:a16="http://schemas.microsoft.com/office/drawing/2014/main" id="{1D0B6B62-DF0C-CDBB-E10A-52985321DC2E}"/>
                  </a:ext>
                </a:extLst>
              </p14:cNvPr>
              <p14:cNvContentPartPr/>
              <p14:nvPr/>
            </p14:nvContentPartPr>
            <p14:xfrm>
              <a:off x="1100632" y="1907373"/>
              <a:ext cx="6028200" cy="344520"/>
            </p14:xfrm>
          </p:contentPart>
        </mc:Choice>
        <mc:Fallback>
          <p:pic>
            <p:nvPicPr>
              <p:cNvPr id="3" name="墨迹 2">
                <a:extLst>
                  <a:ext uri="{FF2B5EF4-FFF2-40B4-BE49-F238E27FC236}">
                    <a16:creationId xmlns:a16="http://schemas.microsoft.com/office/drawing/2014/main" id="{1D0B6B62-DF0C-CDBB-E10A-52985321DC2E}"/>
                  </a:ext>
                </a:extLst>
              </p:cNvPr>
              <p:cNvPicPr/>
              <p:nvPr/>
            </p:nvPicPr>
            <p:blipFill>
              <a:blip r:embed="rId5"/>
              <a:stretch>
                <a:fillRect/>
              </a:stretch>
            </p:blipFill>
            <p:spPr>
              <a:xfrm>
                <a:off x="1046992" y="1799373"/>
                <a:ext cx="6135840" cy="5601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墨迹 3">
                <a:extLst>
                  <a:ext uri="{FF2B5EF4-FFF2-40B4-BE49-F238E27FC236}">
                    <a16:creationId xmlns:a16="http://schemas.microsoft.com/office/drawing/2014/main" id="{188DD4D3-BBC6-0A78-4629-D4438BD961A5}"/>
                  </a:ext>
                </a:extLst>
              </p14:cNvPr>
              <p14:cNvContentPartPr/>
              <p14:nvPr/>
            </p14:nvContentPartPr>
            <p14:xfrm>
              <a:off x="609232" y="3263133"/>
              <a:ext cx="7380000" cy="217800"/>
            </p14:xfrm>
          </p:contentPart>
        </mc:Choice>
        <mc:Fallback>
          <p:pic>
            <p:nvPicPr>
              <p:cNvPr id="4" name="墨迹 3">
                <a:extLst>
                  <a:ext uri="{FF2B5EF4-FFF2-40B4-BE49-F238E27FC236}">
                    <a16:creationId xmlns:a16="http://schemas.microsoft.com/office/drawing/2014/main" id="{188DD4D3-BBC6-0A78-4629-D4438BD961A5}"/>
                  </a:ext>
                </a:extLst>
              </p:cNvPr>
              <p:cNvPicPr/>
              <p:nvPr/>
            </p:nvPicPr>
            <p:blipFill>
              <a:blip r:embed="rId7"/>
              <a:stretch>
                <a:fillRect/>
              </a:stretch>
            </p:blipFill>
            <p:spPr>
              <a:xfrm>
                <a:off x="555232" y="3155133"/>
                <a:ext cx="7487640" cy="433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墨迹 4">
                <a:extLst>
                  <a:ext uri="{FF2B5EF4-FFF2-40B4-BE49-F238E27FC236}">
                    <a16:creationId xmlns:a16="http://schemas.microsoft.com/office/drawing/2014/main" id="{CB479506-582B-028E-CD8D-2D647E912C2C}"/>
                  </a:ext>
                </a:extLst>
              </p14:cNvPr>
              <p14:cNvContentPartPr/>
              <p14:nvPr/>
            </p14:nvContentPartPr>
            <p14:xfrm>
              <a:off x="1621912" y="3637533"/>
              <a:ext cx="5510880" cy="326160"/>
            </p14:xfrm>
          </p:contentPart>
        </mc:Choice>
        <mc:Fallback>
          <p:pic>
            <p:nvPicPr>
              <p:cNvPr id="5" name="墨迹 4">
                <a:extLst>
                  <a:ext uri="{FF2B5EF4-FFF2-40B4-BE49-F238E27FC236}">
                    <a16:creationId xmlns:a16="http://schemas.microsoft.com/office/drawing/2014/main" id="{CB479506-582B-028E-CD8D-2D647E912C2C}"/>
                  </a:ext>
                </a:extLst>
              </p:cNvPr>
              <p:cNvPicPr/>
              <p:nvPr/>
            </p:nvPicPr>
            <p:blipFill>
              <a:blip r:embed="rId9"/>
              <a:stretch>
                <a:fillRect/>
              </a:stretch>
            </p:blipFill>
            <p:spPr>
              <a:xfrm>
                <a:off x="1567912" y="3529533"/>
                <a:ext cx="5618520" cy="541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墨迹 5">
                <a:extLst>
                  <a:ext uri="{FF2B5EF4-FFF2-40B4-BE49-F238E27FC236}">
                    <a16:creationId xmlns:a16="http://schemas.microsoft.com/office/drawing/2014/main" id="{8E631BDA-8266-1FB3-FC8F-7A700006028F}"/>
                  </a:ext>
                </a:extLst>
              </p14:cNvPr>
              <p14:cNvContentPartPr/>
              <p14:nvPr/>
            </p14:nvContentPartPr>
            <p14:xfrm>
              <a:off x="1749712" y="4493253"/>
              <a:ext cx="3852000" cy="312840"/>
            </p14:xfrm>
          </p:contentPart>
        </mc:Choice>
        <mc:Fallback>
          <p:pic>
            <p:nvPicPr>
              <p:cNvPr id="6" name="墨迹 5">
                <a:extLst>
                  <a:ext uri="{FF2B5EF4-FFF2-40B4-BE49-F238E27FC236}">
                    <a16:creationId xmlns:a16="http://schemas.microsoft.com/office/drawing/2014/main" id="{8E631BDA-8266-1FB3-FC8F-7A700006028F}"/>
                  </a:ext>
                </a:extLst>
              </p:cNvPr>
              <p:cNvPicPr/>
              <p:nvPr/>
            </p:nvPicPr>
            <p:blipFill>
              <a:blip r:embed="rId11"/>
              <a:stretch>
                <a:fillRect/>
              </a:stretch>
            </p:blipFill>
            <p:spPr>
              <a:xfrm>
                <a:off x="1695712" y="4385253"/>
                <a:ext cx="3959640" cy="528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墨迹 6">
                <a:extLst>
                  <a:ext uri="{FF2B5EF4-FFF2-40B4-BE49-F238E27FC236}">
                    <a16:creationId xmlns:a16="http://schemas.microsoft.com/office/drawing/2014/main" id="{307471F8-4213-22C7-86A8-95844C3C3BE7}"/>
                  </a:ext>
                </a:extLst>
              </p14:cNvPr>
              <p14:cNvContentPartPr/>
              <p14:nvPr/>
            </p14:nvContentPartPr>
            <p14:xfrm>
              <a:off x="2231752" y="6184173"/>
              <a:ext cx="360" cy="360"/>
            </p14:xfrm>
          </p:contentPart>
        </mc:Choice>
        <mc:Fallback>
          <p:pic>
            <p:nvPicPr>
              <p:cNvPr id="7" name="墨迹 6">
                <a:extLst>
                  <a:ext uri="{FF2B5EF4-FFF2-40B4-BE49-F238E27FC236}">
                    <a16:creationId xmlns:a16="http://schemas.microsoft.com/office/drawing/2014/main" id="{307471F8-4213-22C7-86A8-95844C3C3BE7}"/>
                  </a:ext>
                </a:extLst>
              </p:cNvPr>
              <p:cNvPicPr/>
              <p:nvPr/>
            </p:nvPicPr>
            <p:blipFill>
              <a:blip r:embed="rId13"/>
              <a:stretch>
                <a:fillRect/>
              </a:stretch>
            </p:blipFill>
            <p:spPr>
              <a:xfrm>
                <a:off x="2177752" y="6076173"/>
                <a:ext cx="108000" cy="216000"/>
              </a:xfrm>
              <a:prstGeom prst="rect">
                <a:avLst/>
              </a:prstGeom>
            </p:spPr>
          </p:pic>
        </mc:Fallback>
      </mc:AlternateContent>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文本框 115713"/>
          <p:cNvSpPr txBox="1"/>
          <p:nvPr/>
        </p:nvSpPr>
        <p:spPr>
          <a:xfrm>
            <a:off x="2209800" y="914400"/>
            <a:ext cx="3657600" cy="701675"/>
          </a:xfrm>
          <a:prstGeom prst="rect">
            <a:avLst/>
          </a:prstGeom>
          <a:noFill/>
          <a:ln w="12700">
            <a:noFill/>
          </a:ln>
        </p:spPr>
        <p:txBody>
          <a:bodyPr anchor="t" anchorCtr="0">
            <a:spAutoFit/>
          </a:bodyPr>
          <a:lstStyle/>
          <a:p>
            <a:pPr eaLnBrk="0" hangingPunct="0"/>
            <a:r>
              <a:rPr lang="zh-CN" altLang="en-US" sz="4000" b="1" dirty="0">
                <a:latin typeface="Arial" panose="020B0604020202020204" pitchFamily="34" charset="0"/>
                <a:ea typeface="宋体" panose="02010600030101010101" pitchFamily="2" charset="-122"/>
              </a:rPr>
              <a:t>第一章  小结</a:t>
            </a:r>
          </a:p>
        </p:txBody>
      </p:sp>
      <p:sp>
        <p:nvSpPr>
          <p:cNvPr id="89090" name="文本框 115714"/>
          <p:cNvSpPr txBox="1"/>
          <p:nvPr/>
        </p:nvSpPr>
        <p:spPr>
          <a:xfrm>
            <a:off x="900113" y="2060575"/>
            <a:ext cx="7416800" cy="2528888"/>
          </a:xfrm>
          <a:prstGeom prst="rect">
            <a:avLst/>
          </a:prstGeom>
          <a:noFill/>
          <a:ln w="12700">
            <a:noFill/>
          </a:ln>
        </p:spPr>
        <p:txBody>
          <a:bodyPr anchor="t" anchorCtr="0">
            <a:spAutoFit/>
          </a:bodyPr>
          <a:lstStyle/>
          <a:p>
            <a:pPr eaLnBrk="0" hangingPunct="0">
              <a:buFont typeface="Wingdings" panose="05000000000000000000" pitchFamily="2" charset="2"/>
            </a:pPr>
            <a:r>
              <a:rPr lang="en-US" altLang="zh-CN" sz="2800" b="1">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半导体中电子的状态、运动及极值附近的能带结构。</a:t>
            </a:r>
          </a:p>
          <a:p>
            <a:pPr eaLnBrk="0" hangingPunct="0">
              <a:buFont typeface="Wingdings" panose="05000000000000000000" pitchFamily="2" charset="2"/>
            </a:pPr>
            <a:r>
              <a:rPr lang="zh-CN" altLang="en-US" sz="2800" b="1">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有效质量的概念及物理意义。</a:t>
            </a:r>
          </a:p>
          <a:p>
            <a:pPr eaLnBrk="0" hangingPunct="0">
              <a:buFont typeface="Wingdings" panose="05000000000000000000" pitchFamily="2" charset="2"/>
            </a:pPr>
            <a:r>
              <a:rPr lang="zh-CN" altLang="en-US" sz="2800" b="1">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两种载流子  电子</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空穴</a:t>
            </a:r>
            <a:endParaRPr lang="zh-CN" altLang="en-US" sz="3200" b="1">
              <a:latin typeface="Arial" panose="020B0604020202020204" pitchFamily="34" charset="0"/>
              <a:ea typeface="宋体" panose="02010600030101010101" pitchFamily="2" charset="-122"/>
            </a:endParaRPr>
          </a:p>
          <a:p>
            <a:pPr eaLnBrk="0" hangingPunct="0">
              <a:buFont typeface="Wingdings" panose="05000000000000000000" pitchFamily="2" charset="2"/>
            </a:pPr>
            <a:r>
              <a:rPr lang="zh-CN" altLang="en-US" sz="28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直接带隙半导体</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间接带隙半导体</a:t>
            </a:r>
            <a:endParaRPr lang="zh-CN" altLang="en-US" sz="2800" b="1" dirty="0">
              <a:latin typeface="Arial" panose="020B0604020202020204" pitchFamily="34" charset="0"/>
              <a:ea typeface="宋体" panose="02010600030101010101" pitchFamily="2" charset="-122"/>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文本框 123906"/>
          <p:cNvSpPr txBox="1"/>
          <p:nvPr/>
        </p:nvSpPr>
        <p:spPr>
          <a:xfrm>
            <a:off x="900113" y="1484313"/>
            <a:ext cx="7467600" cy="3990975"/>
          </a:xfrm>
          <a:prstGeom prst="rect">
            <a:avLst/>
          </a:prstGeom>
          <a:noFill/>
          <a:ln w="12700">
            <a:noFill/>
          </a:ln>
        </p:spPr>
        <p:txBody>
          <a:bodyPr anchor="t" anchorCtr="0">
            <a:spAutoFit/>
          </a:bodyPr>
          <a:lstStyle/>
          <a:p>
            <a:pPr marL="342900" indent="-342900" algn="just" eaLnBrk="0" hangingPunct="0">
              <a:buFont typeface="Wingdings" panose="05000000000000000000" pitchFamily="2" charset="2"/>
              <a:buChar char="n"/>
            </a:pPr>
            <a:r>
              <a:rPr lang="zh-CN" altLang="en-US" sz="3200" b="1" dirty="0">
                <a:latin typeface="Arial" panose="020B0604020202020204" pitchFamily="34" charset="0"/>
                <a:ea typeface="宋体" panose="02010600030101010101" pitchFamily="2" charset="-122"/>
              </a:rPr>
              <a:t>在完整的半导体中，电子的能谱是一些密集的能级组成的带（能带），能带与能带之间被禁带隔开。在每个能带中，电子的能量</a:t>
            </a:r>
            <a:r>
              <a:rPr lang="en-US" altLang="zh-CN" sz="3200" b="1" dirty="0">
                <a:latin typeface="Arial" panose="020B0604020202020204" pitchFamily="34" charset="0"/>
                <a:ea typeface="宋体" panose="02010600030101010101" pitchFamily="2" charset="-122"/>
              </a:rPr>
              <a:t>E</a:t>
            </a:r>
            <a:r>
              <a:rPr lang="zh-CN" altLang="en-US" sz="3200" b="1" dirty="0">
                <a:latin typeface="Arial" panose="020B0604020202020204" pitchFamily="34" charset="0"/>
                <a:ea typeface="宋体" panose="02010600030101010101" pitchFamily="2" charset="-122"/>
              </a:rPr>
              <a:t>可表示成波矢的函数</a:t>
            </a:r>
            <a:r>
              <a:rPr lang="en-US" altLang="zh-CN" sz="3200" b="1" err="1">
                <a:latin typeface="Arial" panose="020B0604020202020204" pitchFamily="34" charset="0"/>
                <a:ea typeface="宋体" panose="02010600030101010101" pitchFamily="2" charset="-122"/>
              </a:rPr>
              <a:t>E(k</a:t>
            </a:r>
            <a:r>
              <a:rPr lang="en-US" altLang="zh-CN" sz="3200" b="1">
                <a:latin typeface="Arial" panose="020B0604020202020204" pitchFamily="34" charset="0"/>
                <a:ea typeface="宋体" panose="02010600030101010101" pitchFamily="2" charset="-122"/>
              </a:rPr>
              <a:t>)</a:t>
            </a:r>
          </a:p>
          <a:p>
            <a:pPr marL="342900" indent="-342900" algn="just" eaLnBrk="0" hangingPunct="0">
              <a:buFont typeface="Wingdings" panose="05000000000000000000" pitchFamily="2" charset="2"/>
              <a:buChar char="n"/>
            </a:pPr>
            <a:endParaRPr lang="en-US" altLang="zh-CN" sz="3200" b="1">
              <a:latin typeface="Arial" panose="020B0604020202020204" pitchFamily="34" charset="0"/>
              <a:ea typeface="宋体" panose="02010600030101010101" pitchFamily="2" charset="-122"/>
            </a:endParaRPr>
          </a:p>
          <a:p>
            <a:pPr marL="342900" indent="-342900" algn="just" eaLnBrk="0" hangingPunct="0">
              <a:buFont typeface="Wingdings" panose="05000000000000000000" pitchFamily="2" charset="2"/>
              <a:buChar char="n"/>
            </a:pPr>
            <a:r>
              <a:rPr lang="zh-CN" altLang="en-US" sz="3200" b="1" dirty="0">
                <a:latin typeface="Arial" panose="020B0604020202020204" pitchFamily="34" charset="0"/>
                <a:ea typeface="宋体" panose="02010600030101010101" pitchFamily="2" charset="-122"/>
              </a:rPr>
              <a:t>在绝对</a:t>
            </a:r>
            <a:r>
              <a:rPr lang="en-US" altLang="zh-CN" sz="3200" b="1" dirty="0">
                <a:latin typeface="Arial" panose="020B0604020202020204" pitchFamily="34" charset="0"/>
                <a:ea typeface="宋体" panose="02010600030101010101" pitchFamily="2" charset="-122"/>
              </a:rPr>
              <a:t>0K</a:t>
            </a:r>
            <a:r>
              <a:rPr lang="zh-CN" altLang="en-US" sz="3200" b="1" dirty="0">
                <a:latin typeface="Arial" panose="020B0604020202020204" pitchFamily="34" charset="0"/>
                <a:ea typeface="宋体" panose="02010600030101010101" pitchFamily="2" charset="-122"/>
              </a:rPr>
              <a:t>时，完全被电子充满的最高能带，称为价带，能量最低的空带称为导带。</a:t>
            </a:r>
          </a:p>
        </p:txBody>
      </p:sp>
      <mc:AlternateContent xmlns:mc="http://schemas.openxmlformats.org/markup-compatibility/2006">
        <mc:Choice xmlns:p14="http://schemas.microsoft.com/office/powerpoint/2010/main" Requires="p14">
          <p:contentPart p14:bwMode="auto" r:id="rId2">
            <p14:nvContentPartPr>
              <p14:cNvPr id="2" name="墨迹 1">
                <a:extLst>
                  <a:ext uri="{FF2B5EF4-FFF2-40B4-BE49-F238E27FC236}">
                    <a16:creationId xmlns:a16="http://schemas.microsoft.com/office/drawing/2014/main" id="{5BBB4216-2775-FC14-5A78-CB29ADA10101}"/>
                  </a:ext>
                </a:extLst>
              </p14:cNvPr>
              <p14:cNvContentPartPr/>
              <p14:nvPr/>
            </p14:nvContentPartPr>
            <p14:xfrm>
              <a:off x="1543432" y="4158813"/>
              <a:ext cx="6195240" cy="119160"/>
            </p14:xfrm>
          </p:contentPart>
        </mc:Choice>
        <mc:Fallback>
          <p:pic>
            <p:nvPicPr>
              <p:cNvPr id="2" name="墨迹 1">
                <a:extLst>
                  <a:ext uri="{FF2B5EF4-FFF2-40B4-BE49-F238E27FC236}">
                    <a16:creationId xmlns:a16="http://schemas.microsoft.com/office/drawing/2014/main" id="{5BBB4216-2775-FC14-5A78-CB29ADA10101}"/>
                  </a:ext>
                </a:extLst>
              </p:cNvPr>
              <p:cNvPicPr/>
              <p:nvPr/>
            </p:nvPicPr>
            <p:blipFill>
              <a:blip r:embed="rId3"/>
              <a:stretch>
                <a:fillRect/>
              </a:stretch>
            </p:blipFill>
            <p:spPr>
              <a:xfrm>
                <a:off x="1489432" y="4050813"/>
                <a:ext cx="6302880" cy="3348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墨迹 2">
                <a:extLst>
                  <a:ext uri="{FF2B5EF4-FFF2-40B4-BE49-F238E27FC236}">
                    <a16:creationId xmlns:a16="http://schemas.microsoft.com/office/drawing/2014/main" id="{9ADCCEC4-3308-0D0A-C154-F1A98F004DFA}"/>
                  </a:ext>
                </a:extLst>
              </p14:cNvPr>
              <p14:cNvContentPartPr/>
              <p14:nvPr/>
            </p14:nvContentPartPr>
            <p14:xfrm>
              <a:off x="1435072" y="4708533"/>
              <a:ext cx="6658560" cy="129600"/>
            </p14:xfrm>
          </p:contentPart>
        </mc:Choice>
        <mc:Fallback>
          <p:pic>
            <p:nvPicPr>
              <p:cNvPr id="3" name="墨迹 2">
                <a:extLst>
                  <a:ext uri="{FF2B5EF4-FFF2-40B4-BE49-F238E27FC236}">
                    <a16:creationId xmlns:a16="http://schemas.microsoft.com/office/drawing/2014/main" id="{9ADCCEC4-3308-0D0A-C154-F1A98F004DFA}"/>
                  </a:ext>
                </a:extLst>
              </p:cNvPr>
              <p:cNvPicPr/>
              <p:nvPr/>
            </p:nvPicPr>
            <p:blipFill>
              <a:blip r:embed="rId5"/>
              <a:stretch>
                <a:fillRect/>
              </a:stretch>
            </p:blipFill>
            <p:spPr>
              <a:xfrm>
                <a:off x="1381432" y="4600533"/>
                <a:ext cx="6766200" cy="345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墨迹 3">
                <a:extLst>
                  <a:ext uri="{FF2B5EF4-FFF2-40B4-BE49-F238E27FC236}">
                    <a16:creationId xmlns:a16="http://schemas.microsoft.com/office/drawing/2014/main" id="{155B9B36-0D46-B13D-A0CC-7D958A405D81}"/>
                  </a:ext>
                </a:extLst>
              </p14:cNvPr>
              <p14:cNvContentPartPr/>
              <p14:nvPr/>
            </p14:nvContentPartPr>
            <p14:xfrm>
              <a:off x="1533712" y="5426733"/>
              <a:ext cx="928080" cy="360"/>
            </p14:xfrm>
          </p:contentPart>
        </mc:Choice>
        <mc:Fallback>
          <p:pic>
            <p:nvPicPr>
              <p:cNvPr id="4" name="墨迹 3">
                <a:extLst>
                  <a:ext uri="{FF2B5EF4-FFF2-40B4-BE49-F238E27FC236}">
                    <a16:creationId xmlns:a16="http://schemas.microsoft.com/office/drawing/2014/main" id="{155B9B36-0D46-B13D-A0CC-7D958A405D81}"/>
                  </a:ext>
                </a:extLst>
              </p:cNvPr>
              <p:cNvPicPr/>
              <p:nvPr/>
            </p:nvPicPr>
            <p:blipFill>
              <a:blip r:embed="rId7"/>
              <a:stretch>
                <a:fillRect/>
              </a:stretch>
            </p:blipFill>
            <p:spPr>
              <a:xfrm>
                <a:off x="1479712" y="5319093"/>
                <a:ext cx="1035720" cy="216000"/>
              </a:xfrm>
              <a:prstGeom prst="rect">
                <a:avLst/>
              </a:prstGeom>
            </p:spPr>
          </p:pic>
        </mc:Fallback>
      </mc:AlternateContent>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矩形 124929"/>
          <p:cNvSpPr/>
          <p:nvPr/>
        </p:nvSpPr>
        <p:spPr>
          <a:xfrm>
            <a:off x="1187450" y="1268413"/>
            <a:ext cx="5986463" cy="579437"/>
          </a:xfrm>
          <a:prstGeom prst="rect">
            <a:avLst/>
          </a:prstGeom>
          <a:noFill/>
          <a:ln w="12700">
            <a:noFill/>
          </a:ln>
        </p:spPr>
        <p:txBody>
          <a:bodyPr wrap="none" anchor="t" anchorCtr="0">
            <a:spAutoFit/>
          </a:bodyPr>
          <a:lstStyle/>
          <a:p>
            <a:pPr eaLnBrk="0" hangingPunct="0"/>
            <a:r>
              <a:rPr lang="en-US" altLang="zh-CN" sz="3200" b="1" dirty="0">
                <a:latin typeface="Arial" panose="020B0604020202020204" pitchFamily="34" charset="0"/>
                <a:ea typeface="宋体" panose="02010600030101010101" pitchFamily="2" charset="-122"/>
              </a:rPr>
              <a:t>● </a:t>
            </a:r>
            <a:r>
              <a:rPr lang="zh-CN" altLang="en-US" sz="3200" b="1" dirty="0">
                <a:latin typeface="Arial" panose="020B0604020202020204" pitchFamily="34" charset="0"/>
                <a:ea typeface="宋体" panose="02010600030101010101" pitchFamily="2" charset="-122"/>
              </a:rPr>
              <a:t>有效质量的概念及物理意义。</a:t>
            </a:r>
          </a:p>
        </p:txBody>
      </p:sp>
      <p:graphicFrame>
        <p:nvGraphicFramePr>
          <p:cNvPr id="91138" name="对象 124930"/>
          <p:cNvGraphicFramePr/>
          <p:nvPr/>
        </p:nvGraphicFramePr>
        <p:xfrm>
          <a:off x="3348038" y="2565400"/>
          <a:ext cx="2209800" cy="2041525"/>
        </p:xfrm>
        <a:graphic>
          <a:graphicData uri="http://schemas.openxmlformats.org/presentationml/2006/ole">
            <mc:AlternateContent xmlns:mc="http://schemas.openxmlformats.org/markup-compatibility/2006">
              <mc:Choice xmlns:v="urn:schemas-microsoft-com:vml" Requires="v">
                <p:oleObj r:id="rId2" imgW="673100" imgH="622300" progId="Equation.DSMT4">
                  <p:embed/>
                </p:oleObj>
              </mc:Choice>
              <mc:Fallback>
                <p:oleObj r:id="rId2" imgW="673100" imgH="622300" progId="Equation.DSMT4">
                  <p:embed/>
                  <p:pic>
                    <p:nvPicPr>
                      <p:cNvPr id="0" name="图片 3167"/>
                      <p:cNvPicPr/>
                      <p:nvPr/>
                    </p:nvPicPr>
                    <p:blipFill>
                      <a:blip r:embed="rId3"/>
                      <a:stretch>
                        <a:fillRect/>
                      </a:stretch>
                    </p:blipFill>
                    <p:spPr>
                      <a:xfrm>
                        <a:off x="3348038" y="2565400"/>
                        <a:ext cx="2209800" cy="2041525"/>
                      </a:xfrm>
                      <a:prstGeom prst="rect">
                        <a:avLst/>
                      </a:prstGeom>
                      <a:noFill/>
                      <a:ln w="38100">
                        <a:noFill/>
                        <a:miter/>
                      </a:ln>
                    </p:spPr>
                  </p:pic>
                </p:oleObj>
              </mc:Fallback>
            </mc:AlternateContent>
          </a:graphicData>
        </a:graphic>
      </p:graphicFrame>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矩形 125953"/>
          <p:cNvSpPr/>
          <p:nvPr/>
        </p:nvSpPr>
        <p:spPr>
          <a:xfrm>
            <a:off x="611188" y="1125538"/>
            <a:ext cx="4681537" cy="579437"/>
          </a:xfrm>
          <a:prstGeom prst="rect">
            <a:avLst/>
          </a:prstGeom>
          <a:noFill/>
          <a:ln w="12700">
            <a:noFill/>
          </a:ln>
        </p:spPr>
        <p:txBody>
          <a:bodyPr anchor="t" anchorCtr="0">
            <a:spAutoFit/>
          </a:bodyPr>
          <a:lstStyle/>
          <a:p>
            <a:pPr eaLnBrk="0" hangingPunct="0"/>
            <a:r>
              <a:rPr lang="en-US" altLang="zh-CN" sz="3200" b="1" dirty="0">
                <a:latin typeface="Arial" panose="020B0604020202020204" pitchFamily="34" charset="0"/>
                <a:ea typeface="宋体" panose="02010600030101010101" pitchFamily="2" charset="-122"/>
              </a:rPr>
              <a:t>● </a:t>
            </a:r>
            <a:r>
              <a:rPr lang="zh-CN" altLang="en-US" sz="3200" b="1" dirty="0">
                <a:latin typeface="Arial" panose="020B0604020202020204" pitchFamily="34" charset="0"/>
                <a:ea typeface="宋体" panose="02010600030101010101" pitchFamily="2" charset="-122"/>
              </a:rPr>
              <a:t>两种载流子</a:t>
            </a:r>
          </a:p>
        </p:txBody>
      </p:sp>
      <p:sp>
        <p:nvSpPr>
          <p:cNvPr id="92162" name="文本框 125954"/>
          <p:cNvSpPr txBox="1"/>
          <p:nvPr/>
        </p:nvSpPr>
        <p:spPr>
          <a:xfrm>
            <a:off x="1042988" y="1844675"/>
            <a:ext cx="7345362" cy="2041525"/>
          </a:xfrm>
          <a:prstGeom prst="rect">
            <a:avLst/>
          </a:prstGeom>
          <a:noFill/>
          <a:ln w="12700">
            <a:noFill/>
          </a:ln>
        </p:spPr>
        <p:txBody>
          <a:bodyPr anchor="t" anchorCtr="0">
            <a:spAutoFit/>
          </a:bodyPr>
          <a:lstStyle/>
          <a:p>
            <a:pPr eaLnBrk="0" hangingPunct="0"/>
            <a:r>
              <a:rPr lang="zh-CN" altLang="en-US" sz="3200" b="1" dirty="0">
                <a:latin typeface="Arial" panose="020B0604020202020204" pitchFamily="34" charset="0"/>
                <a:ea typeface="宋体" panose="02010600030101010101" pitchFamily="2" charset="-122"/>
              </a:rPr>
              <a:t>价带顶的空状态，称为空穴。可以把它看成是一个携带电荷（</a:t>
            </a:r>
            <a:r>
              <a:rPr lang="en-US" altLang="zh-CN" sz="3200" b="1" dirty="0">
                <a:latin typeface="Arial" panose="020B0604020202020204" pitchFamily="34" charset="0"/>
                <a:ea typeface="宋体" panose="02010600030101010101" pitchFamily="2" charset="-122"/>
              </a:rPr>
              <a:t>+q)</a:t>
            </a:r>
            <a:r>
              <a:rPr lang="zh-CN" altLang="en-US" sz="3200" b="1" dirty="0">
                <a:latin typeface="Arial" panose="020B0604020202020204" pitchFamily="34" charset="0"/>
                <a:ea typeface="宋体" panose="02010600030101010101" pitchFamily="2" charset="-122"/>
              </a:rPr>
              <a:t>、以与空状态相对应的电子速度运动的粒子。</a:t>
            </a:r>
          </a:p>
          <a:p>
            <a:pPr eaLnBrk="0" hangingPunct="0"/>
            <a:r>
              <a:rPr lang="zh-CN" altLang="en-US" sz="3200" b="1" dirty="0">
                <a:latin typeface="Arial" panose="020B0604020202020204" pitchFamily="34" charset="0"/>
                <a:ea typeface="宋体" panose="02010600030101010101" pitchFamily="2" charset="-122"/>
              </a:rPr>
              <a:t>空穴具有正的有效质量。</a:t>
            </a:r>
            <a:endParaRPr lang="zh-CN" altLang="en-US" sz="3200" b="1">
              <a:latin typeface="Arial" panose="020B0604020202020204" pitchFamily="34" charset="0"/>
              <a:ea typeface="宋体" panose="02010600030101010101" pitchFamily="2" charset="-122"/>
            </a:endParaRPr>
          </a:p>
        </p:txBody>
      </p:sp>
      <p:sp>
        <p:nvSpPr>
          <p:cNvPr id="92163" name="矩形 125955"/>
          <p:cNvSpPr/>
          <p:nvPr/>
        </p:nvSpPr>
        <p:spPr>
          <a:xfrm>
            <a:off x="684213" y="4437063"/>
            <a:ext cx="7775575" cy="1066800"/>
          </a:xfrm>
          <a:prstGeom prst="rect">
            <a:avLst/>
          </a:prstGeom>
          <a:noFill/>
          <a:ln w="12700">
            <a:noFill/>
          </a:ln>
        </p:spPr>
        <p:txBody>
          <a:bodyPr anchor="t" anchorCtr="0">
            <a:spAutoFit/>
          </a:bodyPr>
          <a:lstStyle/>
          <a:p>
            <a:pPr eaLnBrk="0" hangingPunct="0"/>
            <a:r>
              <a:rPr lang="en-US" altLang="zh-CN" sz="3200" b="1" err="1">
                <a:latin typeface="Arial" panose="020B0604020202020204" pitchFamily="34" charset="0"/>
                <a:ea typeface="宋体" panose="02010600030101010101" pitchFamily="2" charset="-122"/>
              </a:rPr>
              <a:t>● Si,Ge,GaAs</a:t>
            </a:r>
            <a:r>
              <a:rPr lang="zh-CN" altLang="en-US" sz="3200" b="1" dirty="0">
                <a:latin typeface="Arial" panose="020B0604020202020204" pitchFamily="34" charset="0"/>
                <a:ea typeface="宋体" panose="02010600030101010101" pitchFamily="2" charset="-122"/>
              </a:rPr>
              <a:t>能带结构特点；</a:t>
            </a:r>
          </a:p>
          <a:p>
            <a:pPr eaLnBrk="0" hangingPunct="0"/>
            <a:r>
              <a:rPr lang="zh-CN" altLang="en-US" sz="3200" b="1" dirty="0">
                <a:latin typeface="Arial" panose="020B0604020202020204" pitchFamily="34" charset="0"/>
                <a:ea typeface="宋体" panose="02010600030101010101" pitchFamily="2" charset="-122"/>
              </a:rPr>
              <a:t>	直接带隙半导体和间接带隙半导体</a:t>
            </a: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92513"/>
          <p:cNvSpPr>
            <a:spLocks noGrp="1"/>
          </p:cNvSpPr>
          <p:nvPr>
            <p:ph type="title"/>
          </p:nvPr>
        </p:nvSpPr>
        <p:spPr>
          <a:xfrm>
            <a:off x="395288" y="188913"/>
            <a:ext cx="8229600" cy="1371600"/>
          </a:xfrm>
        </p:spPr>
        <p:txBody>
          <a:bodyPr anchor="ctr" anchorCtr="0"/>
          <a:lstStyle/>
          <a:p>
            <a:r>
              <a:rPr lang="zh-CN" altLang="en-US" sz="3200" b="1" dirty="0"/>
              <a:t>第一章思考题与自测题：</a:t>
            </a:r>
          </a:p>
        </p:txBody>
      </p:sp>
      <p:sp>
        <p:nvSpPr>
          <p:cNvPr id="93186" name="文本占位符 192514"/>
          <p:cNvSpPr>
            <a:spLocks noGrp="1"/>
          </p:cNvSpPr>
          <p:nvPr>
            <p:ph idx="1"/>
          </p:nvPr>
        </p:nvSpPr>
        <p:spPr>
          <a:xfrm>
            <a:off x="468313" y="1125538"/>
            <a:ext cx="8229600" cy="5543550"/>
          </a:xfrm>
        </p:spPr>
        <p:txBody>
          <a:bodyPr anchor="t" anchorCtr="0"/>
          <a:lstStyle/>
          <a:p>
            <a:pPr>
              <a:lnSpc>
                <a:spcPct val="80000"/>
              </a:lnSpc>
              <a:buFont typeface="Wingdings" panose="05000000000000000000" pitchFamily="2" charset="2"/>
              <a:buAutoNum type="arabicPeriod"/>
            </a:pPr>
            <a:r>
              <a:rPr lang="zh-CN" altLang="en-US" sz="1800" b="1" dirty="0"/>
              <a:t>原子中的电子和晶体中电子受势场作用情况以及运动情况有何不同？原子中内层电子和外层电子参与共有化运动有何不同？</a:t>
            </a:r>
          </a:p>
          <a:p>
            <a:pPr>
              <a:lnSpc>
                <a:spcPct val="80000"/>
              </a:lnSpc>
              <a:buFont typeface="Wingdings" panose="05000000000000000000" pitchFamily="2" charset="2"/>
              <a:buAutoNum type="arabicPeriod"/>
            </a:pPr>
            <a:r>
              <a:rPr lang="zh-CN" altLang="en-US" sz="1800" b="1" dirty="0"/>
              <a:t>晶体体积的大小对能级和能带有什么影响？</a:t>
            </a:r>
          </a:p>
          <a:p>
            <a:pPr>
              <a:lnSpc>
                <a:spcPct val="80000"/>
              </a:lnSpc>
              <a:buFont typeface="Wingdings" panose="05000000000000000000" pitchFamily="2" charset="2"/>
              <a:buAutoNum type="arabicPeriod"/>
            </a:pPr>
            <a:r>
              <a:rPr lang="zh-CN" altLang="en-US" sz="1800" b="1" dirty="0"/>
              <a:t>描述半导体中电子运动为什么要引入“有效质量”的概念？用电子的惯性质量描述能带中电子运动有何局限性？</a:t>
            </a:r>
          </a:p>
          <a:p>
            <a:pPr>
              <a:lnSpc>
                <a:spcPct val="80000"/>
              </a:lnSpc>
              <a:buFont typeface="Wingdings" panose="05000000000000000000" pitchFamily="2" charset="2"/>
              <a:buAutoNum type="arabicPeriod"/>
            </a:pPr>
            <a:r>
              <a:rPr lang="zh-CN" altLang="en-US" sz="1800" b="1" dirty="0"/>
              <a:t>一般来说，对应于高能级的能带较宽，而禁带较窄，是否如此？为什么？</a:t>
            </a:r>
          </a:p>
          <a:p>
            <a:pPr>
              <a:lnSpc>
                <a:spcPct val="80000"/>
              </a:lnSpc>
              <a:buFont typeface="Wingdings" panose="05000000000000000000" pitchFamily="2" charset="2"/>
              <a:buAutoNum type="arabicPeriod"/>
            </a:pPr>
            <a:r>
              <a:rPr lang="zh-CN" altLang="en-US" sz="1800" b="1" dirty="0"/>
              <a:t>有效质量对能带的宽度有什么影响？有人说：“有效质量愈大，能量密度也愈大，因而能带愈窄。”是否如此？为什么？</a:t>
            </a:r>
          </a:p>
          <a:p>
            <a:pPr>
              <a:lnSpc>
                <a:spcPct val="80000"/>
              </a:lnSpc>
              <a:buFont typeface="Wingdings" panose="05000000000000000000" pitchFamily="2" charset="2"/>
              <a:buAutoNum type="arabicPeriod"/>
            </a:pPr>
            <a:r>
              <a:rPr lang="zh-CN" altLang="en-US" sz="1800" b="1" dirty="0"/>
              <a:t>简述有效质量与能带结构的关系？</a:t>
            </a:r>
          </a:p>
          <a:p>
            <a:pPr>
              <a:lnSpc>
                <a:spcPct val="80000"/>
              </a:lnSpc>
              <a:buFont typeface="Wingdings" panose="05000000000000000000" pitchFamily="2" charset="2"/>
              <a:buAutoNum type="arabicPeriod"/>
            </a:pPr>
            <a:r>
              <a:rPr lang="zh-CN" altLang="en-US" sz="1800" b="1" dirty="0"/>
              <a:t>对于自由电子，加速反向与外力作用反向一致，这个结论是否适用于布洛赫电子？</a:t>
            </a:r>
          </a:p>
          <a:p>
            <a:pPr>
              <a:lnSpc>
                <a:spcPct val="80000"/>
              </a:lnSpc>
              <a:buFont typeface="Wingdings" panose="05000000000000000000" pitchFamily="2" charset="2"/>
              <a:buAutoNum type="arabicPeriod"/>
            </a:pPr>
            <a:r>
              <a:rPr lang="zh-CN" altLang="en-US" sz="1800" b="1" dirty="0"/>
              <a:t>从能带底到能带顶，晶体中电子的有效质量将如何变化？外场对电子的作用效果有什么不同？</a:t>
            </a:r>
          </a:p>
          <a:p>
            <a:pPr>
              <a:lnSpc>
                <a:spcPct val="80000"/>
              </a:lnSpc>
              <a:buFont typeface="Wingdings" panose="05000000000000000000" pitchFamily="2" charset="2"/>
              <a:buAutoNum type="arabicPeriod"/>
            </a:pPr>
            <a:r>
              <a:rPr lang="zh-CN" altLang="en-US" sz="1800" b="1" dirty="0"/>
              <a:t>试述在周期性势场中运动的电子具有哪些一般属性？</a:t>
            </a:r>
          </a:p>
          <a:p>
            <a:pPr>
              <a:lnSpc>
                <a:spcPct val="80000"/>
              </a:lnSpc>
              <a:buFont typeface="Wingdings" panose="05000000000000000000" pitchFamily="2" charset="2"/>
              <a:buAutoNum type="arabicPeriod"/>
            </a:pPr>
            <a:r>
              <a:rPr lang="zh-CN" altLang="en-US" sz="1800" b="1" dirty="0"/>
              <a:t>以硅的本征激发为例，说明半导体能带图的物理意义及其与硅晶格结构的联系？为什么电子从其价键上挣脱出来所需的最小能量就是半导体的禁带宽度？</a:t>
            </a:r>
          </a:p>
          <a:p>
            <a:pPr>
              <a:lnSpc>
                <a:spcPct val="80000"/>
              </a:lnSpc>
              <a:buFont typeface="Wingdings" panose="05000000000000000000" pitchFamily="2" charset="2"/>
              <a:buAutoNum type="arabicPeriod"/>
            </a:pPr>
            <a:r>
              <a:rPr lang="zh-CN" altLang="en-US" sz="1800" b="1" dirty="0"/>
              <a:t>为什么半导体满带中的少量空状态可以用具有正电荷和一定质量的空穴来描述？</a:t>
            </a:r>
          </a:p>
          <a:p>
            <a:pPr>
              <a:lnSpc>
                <a:spcPct val="80000"/>
              </a:lnSpc>
              <a:buFont typeface="Wingdings" panose="05000000000000000000" pitchFamily="2" charset="2"/>
              <a:buAutoNum type="arabicPeriod"/>
            </a:pPr>
            <a:r>
              <a:rPr lang="zh-CN" altLang="en-US" sz="1800" b="1" dirty="0"/>
              <a:t>有两块硅单晶，其中一块的重量是另一块重量的二倍。这两块晶体价带中的能级数是否相等？彼此有何联系？</a:t>
            </a:r>
          </a:p>
          <a:p>
            <a:pPr>
              <a:lnSpc>
                <a:spcPct val="80000"/>
              </a:lnSpc>
              <a:buFont typeface="Wingdings" panose="05000000000000000000" pitchFamily="2" charset="2"/>
              <a:buAutoNum type="arabicPeriod"/>
            </a:pPr>
            <a:r>
              <a:rPr lang="zh-CN" altLang="en-US" sz="1800" b="1" dirty="0"/>
              <a:t>说明布里渊区和</a:t>
            </a:r>
            <a:r>
              <a:rPr lang="en-US" altLang="zh-CN" sz="1800" b="1" dirty="0"/>
              <a:t>k</a:t>
            </a:r>
            <a:r>
              <a:rPr lang="zh-CN" altLang="en-US" sz="1800" b="1" dirty="0"/>
              <a:t>空间等能面这两个物理概念的不同。</a:t>
            </a:r>
          </a:p>
        </p:txBody>
      </p:sp>
      <mc:AlternateContent xmlns:mc="http://schemas.openxmlformats.org/markup-compatibility/2006">
        <mc:Choice xmlns:p14="http://schemas.microsoft.com/office/powerpoint/2010/main" Requires="p14">
          <p:contentPart p14:bwMode="auto" r:id="rId2">
            <p14:nvContentPartPr>
              <p14:cNvPr id="2" name="墨迹 1">
                <a:extLst>
                  <a:ext uri="{FF2B5EF4-FFF2-40B4-BE49-F238E27FC236}">
                    <a16:creationId xmlns:a16="http://schemas.microsoft.com/office/drawing/2014/main" id="{BDB27F79-629E-9573-9DFC-E19AF672724C}"/>
                  </a:ext>
                </a:extLst>
              </p14:cNvPr>
              <p14:cNvContentPartPr/>
              <p14:nvPr/>
            </p14:nvContentPartPr>
            <p14:xfrm>
              <a:off x="9418792" y="3254133"/>
              <a:ext cx="360" cy="360"/>
            </p14:xfrm>
          </p:contentPart>
        </mc:Choice>
        <mc:Fallback>
          <p:pic>
            <p:nvPicPr>
              <p:cNvPr id="2" name="墨迹 1">
                <a:extLst>
                  <a:ext uri="{FF2B5EF4-FFF2-40B4-BE49-F238E27FC236}">
                    <a16:creationId xmlns:a16="http://schemas.microsoft.com/office/drawing/2014/main" id="{BDB27F79-629E-9573-9DFC-E19AF672724C}"/>
                  </a:ext>
                </a:extLst>
              </p:cNvPr>
              <p:cNvPicPr/>
              <p:nvPr/>
            </p:nvPicPr>
            <p:blipFill>
              <a:blip r:embed="rId3"/>
              <a:stretch>
                <a:fillRect/>
              </a:stretch>
            </p:blipFill>
            <p:spPr>
              <a:xfrm>
                <a:off x="9364792" y="3146493"/>
                <a:ext cx="108000" cy="216000"/>
              </a:xfrm>
              <a:prstGeom prst="rect">
                <a:avLst/>
              </a:prstGeom>
            </p:spPr>
          </p:pic>
        </mc:Fallback>
      </mc:AlternateContent>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文本框 126977"/>
          <p:cNvSpPr txBox="1"/>
          <p:nvPr/>
        </p:nvSpPr>
        <p:spPr>
          <a:xfrm>
            <a:off x="3048000" y="404813"/>
            <a:ext cx="3179763" cy="641350"/>
          </a:xfrm>
          <a:prstGeom prst="rect">
            <a:avLst/>
          </a:prstGeom>
          <a:noFill/>
          <a:ln w="12700">
            <a:noFill/>
          </a:ln>
        </p:spPr>
        <p:txBody>
          <a:bodyPr anchor="t" anchorCtr="0">
            <a:spAutoFit/>
          </a:bodyPr>
          <a:lstStyle/>
          <a:p>
            <a:pPr eaLnBrk="0" hangingPunct="0"/>
            <a:r>
              <a:rPr lang="zh-CN" altLang="en-US" sz="3600" b="1" dirty="0">
                <a:latin typeface="Arial" panose="020B0604020202020204" pitchFamily="34" charset="0"/>
                <a:ea typeface="宋体" panose="02010600030101010101" pitchFamily="2" charset="-122"/>
              </a:rPr>
              <a:t>第一章 习题</a:t>
            </a:r>
          </a:p>
        </p:txBody>
      </p:sp>
      <p:sp>
        <p:nvSpPr>
          <p:cNvPr id="94210" name="文本框 126978"/>
          <p:cNvSpPr txBox="1"/>
          <p:nvPr/>
        </p:nvSpPr>
        <p:spPr>
          <a:xfrm>
            <a:off x="1042988" y="1196975"/>
            <a:ext cx="3921125" cy="583565"/>
          </a:xfrm>
          <a:prstGeom prst="rect">
            <a:avLst/>
          </a:prstGeom>
          <a:noFill/>
          <a:ln w="12700">
            <a:noFill/>
          </a:ln>
        </p:spPr>
        <p:txBody>
          <a:bodyPr anchor="t" anchorCtr="0">
            <a:spAutoFit/>
          </a:bodyPr>
          <a:lstStyle/>
          <a:p>
            <a:pPr eaLnBrk="0" hangingPunct="0"/>
            <a:r>
              <a:rPr lang="en-US" altLang="zh-CN" sz="3200" b="1" dirty="0">
                <a:latin typeface="Arial" panose="020B0604020202020204" pitchFamily="34" charset="0"/>
                <a:ea typeface="宋体" panose="02010600030101010101" pitchFamily="2" charset="-122"/>
              </a:rPr>
              <a:t>1</a:t>
            </a:r>
            <a:r>
              <a:rPr lang="zh-CN" altLang="en-US" sz="3200" b="1" dirty="0">
                <a:latin typeface="Arial" panose="020B0604020202020204" pitchFamily="34" charset="0"/>
                <a:ea typeface="宋体" panose="02010600030101010101" pitchFamily="2" charset="-122"/>
              </a:rPr>
              <a:t>、</a:t>
            </a:r>
            <a:r>
              <a:rPr lang="en-US" altLang="zh-CN" sz="3200" b="1">
                <a:latin typeface="Arial" panose="020B0604020202020204" pitchFamily="34" charset="0"/>
                <a:ea typeface="宋体" panose="02010600030101010101" pitchFamily="2" charset="-122"/>
              </a:rPr>
              <a:t>2. P</a:t>
            </a:r>
            <a:r>
              <a:rPr lang="en-US" altLang="zh-CN" sz="3200" b="1" baseline="-25000">
                <a:latin typeface="Arial" panose="020B0604020202020204" pitchFamily="34" charset="0"/>
                <a:ea typeface="宋体" panose="02010600030101010101" pitchFamily="2" charset="-122"/>
              </a:rPr>
              <a:t>44	</a:t>
            </a:r>
            <a:r>
              <a:rPr lang="zh-CN" altLang="en-US" sz="3200" b="1" dirty="0">
                <a:latin typeface="Arial" panose="020B0604020202020204" pitchFamily="34" charset="0"/>
                <a:ea typeface="宋体" panose="02010600030101010101" pitchFamily="2" charset="-122"/>
              </a:rPr>
              <a:t>习题</a:t>
            </a:r>
            <a:r>
              <a:rPr lang="en-US" altLang="zh-CN" sz="3200" b="1" dirty="0">
                <a:latin typeface="Arial" panose="020B0604020202020204" pitchFamily="34" charset="0"/>
                <a:ea typeface="宋体" panose="02010600030101010101" pitchFamily="2" charset="-122"/>
              </a:rPr>
              <a:t>1</a:t>
            </a:r>
            <a:r>
              <a:rPr lang="zh-CN" altLang="en-US" sz="3200" b="1" dirty="0">
                <a:latin typeface="Arial" panose="020B0604020202020204" pitchFamily="34" charset="0"/>
                <a:ea typeface="宋体" panose="02010600030101010101" pitchFamily="2" charset="-122"/>
              </a:rPr>
              <a:t>、</a:t>
            </a:r>
            <a:r>
              <a:rPr lang="en-US" altLang="zh-CN" sz="3200" b="1">
                <a:latin typeface="Arial" panose="020B0604020202020204" pitchFamily="34" charset="0"/>
                <a:ea typeface="宋体" panose="02010600030101010101" pitchFamily="2" charset="-122"/>
              </a:rPr>
              <a:t>2</a:t>
            </a:r>
          </a:p>
        </p:txBody>
      </p:sp>
      <p:sp>
        <p:nvSpPr>
          <p:cNvPr id="94211" name="文本框 126979"/>
          <p:cNvSpPr txBox="1"/>
          <p:nvPr/>
        </p:nvSpPr>
        <p:spPr>
          <a:xfrm>
            <a:off x="1049338" y="2290763"/>
            <a:ext cx="7483475" cy="579437"/>
          </a:xfrm>
          <a:prstGeom prst="rect">
            <a:avLst/>
          </a:prstGeom>
          <a:noFill/>
          <a:ln w="12700">
            <a:noFill/>
          </a:ln>
        </p:spPr>
        <p:txBody>
          <a:bodyPr anchor="t" anchorCtr="0">
            <a:spAutoFit/>
          </a:bodyPr>
          <a:lstStyle/>
          <a:p>
            <a:pPr eaLnBrk="0" hangingPunct="0"/>
            <a:r>
              <a:rPr lang="en-US" altLang="zh-CN" sz="3200" b="1" dirty="0">
                <a:latin typeface="Arial" panose="020B0604020202020204" pitchFamily="34" charset="0"/>
                <a:ea typeface="宋体" panose="02010600030101010101" pitchFamily="2" charset="-122"/>
              </a:rPr>
              <a:t>3.</a:t>
            </a:r>
            <a:r>
              <a:rPr lang="zh-CN" altLang="en-US" sz="3200" b="1" dirty="0">
                <a:latin typeface="Arial" panose="020B0604020202020204" pitchFamily="34" charset="0"/>
                <a:ea typeface="宋体" panose="02010600030101010101" pitchFamily="2" charset="-122"/>
              </a:rPr>
              <a:t>已知一维晶体的电子能带可写成：                </a:t>
            </a:r>
          </a:p>
        </p:txBody>
      </p:sp>
      <p:graphicFrame>
        <p:nvGraphicFramePr>
          <p:cNvPr id="94212" name="对象 126980"/>
          <p:cNvGraphicFramePr/>
          <p:nvPr/>
        </p:nvGraphicFramePr>
        <p:xfrm>
          <a:off x="1884363" y="2971800"/>
          <a:ext cx="5856287" cy="1116013"/>
        </p:xfrm>
        <a:graphic>
          <a:graphicData uri="http://schemas.openxmlformats.org/presentationml/2006/ole">
            <mc:AlternateContent xmlns:mc="http://schemas.openxmlformats.org/markup-compatibility/2006">
              <mc:Choice xmlns:v="urn:schemas-microsoft-com:vml" Requires="v">
                <p:oleObj r:id="rId2" imgW="2197100" imgH="419100" progId="Equation.DSMT4">
                  <p:embed/>
                </p:oleObj>
              </mc:Choice>
              <mc:Fallback>
                <p:oleObj r:id="rId2" imgW="2197100" imgH="419100" progId="Equation.DSMT4">
                  <p:embed/>
                  <p:pic>
                    <p:nvPicPr>
                      <p:cNvPr id="0" name="图片 3168"/>
                      <p:cNvPicPr/>
                      <p:nvPr/>
                    </p:nvPicPr>
                    <p:blipFill>
                      <a:blip r:embed="rId3"/>
                      <a:stretch>
                        <a:fillRect/>
                      </a:stretch>
                    </p:blipFill>
                    <p:spPr>
                      <a:xfrm>
                        <a:off x="1884363" y="2971800"/>
                        <a:ext cx="5856287" cy="1116013"/>
                      </a:xfrm>
                      <a:prstGeom prst="rect">
                        <a:avLst/>
                      </a:prstGeom>
                      <a:noFill/>
                      <a:ln w="38100">
                        <a:noFill/>
                        <a:miter/>
                      </a:ln>
                    </p:spPr>
                  </p:pic>
                </p:oleObj>
              </mc:Fallback>
            </mc:AlternateContent>
          </a:graphicData>
        </a:graphic>
      </p:graphicFrame>
      <p:sp>
        <p:nvSpPr>
          <p:cNvPr id="94213" name="文本框 126981"/>
          <p:cNvSpPr txBox="1"/>
          <p:nvPr/>
        </p:nvSpPr>
        <p:spPr>
          <a:xfrm>
            <a:off x="1204913" y="4346575"/>
            <a:ext cx="7570787" cy="1554163"/>
          </a:xfrm>
          <a:prstGeom prst="rect">
            <a:avLst/>
          </a:prstGeom>
          <a:noFill/>
          <a:ln w="12700">
            <a:noFill/>
          </a:ln>
        </p:spPr>
        <p:txBody>
          <a:bodyPr wrap="none" anchor="t" anchorCtr="0">
            <a:spAutoFit/>
          </a:bodyPr>
          <a:lstStyle/>
          <a:p>
            <a:pPr eaLnBrk="0" hangingPunct="0"/>
            <a:r>
              <a:rPr lang="zh-CN" altLang="en-US" sz="3200" b="1" dirty="0">
                <a:latin typeface="Arial" panose="020B0604020202020204" pitchFamily="34" charset="0"/>
                <a:ea typeface="宋体" panose="02010600030101010101" pitchFamily="2" charset="-122"/>
              </a:rPr>
              <a:t>式中</a:t>
            </a:r>
            <a:r>
              <a:rPr lang="en-US" altLang="zh-CN" sz="3200" b="1" i="1">
                <a:latin typeface="Times New Roman" panose="02020603050405020304" pitchFamily="18" charset="0"/>
                <a:ea typeface="宋体" panose="02010600030101010101" pitchFamily="2" charset="-122"/>
              </a:rPr>
              <a:t>a</a:t>
            </a:r>
            <a:r>
              <a:rPr lang="zh-CN" altLang="en-US" sz="3200" b="1" dirty="0">
                <a:latin typeface="Arial" panose="020B0604020202020204" pitchFamily="34" charset="0"/>
                <a:ea typeface="宋体" panose="02010600030101010101" pitchFamily="2" charset="-122"/>
              </a:rPr>
              <a:t>是晶格常数，试求：</a:t>
            </a:r>
          </a:p>
          <a:p>
            <a:pPr eaLnBrk="0" hangingPunct="0"/>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1</a:t>
            </a:r>
            <a:r>
              <a:rPr lang="zh-CN" altLang="en-US" sz="3200" b="1" dirty="0">
                <a:latin typeface="Arial" panose="020B0604020202020204" pitchFamily="34" charset="0"/>
                <a:ea typeface="宋体" panose="02010600030101010101" pitchFamily="2" charset="-122"/>
              </a:rPr>
              <a:t>）能带宽度的表达式。</a:t>
            </a:r>
          </a:p>
          <a:p>
            <a:pPr eaLnBrk="0" hangingPunct="0"/>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2</a:t>
            </a:r>
            <a:r>
              <a:rPr lang="zh-CN" altLang="en-US" sz="3200" b="1" dirty="0">
                <a:latin typeface="Arial" panose="020B0604020202020204" pitchFamily="34" charset="0"/>
                <a:ea typeface="宋体" panose="02010600030101010101" pitchFamily="2" charset="-122"/>
              </a:rPr>
              <a:t>）电子在波矢</a:t>
            </a:r>
            <a:r>
              <a:rPr lang="en-US" altLang="zh-CN" sz="3200" b="1" dirty="0">
                <a:latin typeface="Arial" panose="020B0604020202020204" pitchFamily="34" charset="0"/>
                <a:ea typeface="宋体" panose="02010600030101010101" pitchFamily="2" charset="-122"/>
              </a:rPr>
              <a:t>k</a:t>
            </a:r>
            <a:r>
              <a:rPr lang="zh-CN" altLang="en-US" sz="3200" b="1" dirty="0">
                <a:latin typeface="Arial" panose="020B0604020202020204" pitchFamily="34" charset="0"/>
                <a:ea typeface="宋体" panose="02010600030101010101" pitchFamily="2" charset="-122"/>
              </a:rPr>
              <a:t>状态时的速度表达式。</a:t>
            </a:r>
            <a:endParaRPr lang="zh-CN" altLang="en-US" sz="3200" b="1">
              <a:latin typeface="Arial" panose="020B0604020202020204" pitchFamily="34" charset="0"/>
              <a:ea typeface="宋体" panose="02010600030101010101" pitchFamily="2" charset="-122"/>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文本框 128001"/>
          <p:cNvSpPr txBox="1"/>
          <p:nvPr/>
        </p:nvSpPr>
        <p:spPr>
          <a:xfrm>
            <a:off x="395288" y="333375"/>
            <a:ext cx="7385050" cy="579438"/>
          </a:xfrm>
          <a:prstGeom prst="rect">
            <a:avLst/>
          </a:prstGeom>
          <a:noFill/>
          <a:ln w="12700">
            <a:noFill/>
          </a:ln>
        </p:spPr>
        <p:txBody>
          <a:bodyPr wrap="none" anchor="t" anchorCtr="0">
            <a:spAutoFit/>
          </a:bodyPr>
          <a:lstStyle/>
          <a:p>
            <a:pPr eaLnBrk="0" hangingPunct="0"/>
            <a:r>
              <a:rPr lang="en-US" altLang="zh-CN" sz="3200" b="1" dirty="0">
                <a:latin typeface="Arial" panose="020B0604020202020204" pitchFamily="34" charset="0"/>
                <a:ea typeface="宋体" panose="02010600030101010101" pitchFamily="2" charset="-122"/>
              </a:rPr>
              <a:t>4.</a:t>
            </a:r>
            <a:r>
              <a:rPr lang="zh-CN" altLang="en-US" sz="3200" b="1" dirty="0">
                <a:latin typeface="Arial" panose="020B0604020202020204" pitchFamily="34" charset="0"/>
                <a:ea typeface="宋体" panose="02010600030101010101" pitchFamily="2" charset="-122"/>
              </a:rPr>
              <a:t>右图为能量曲线</a:t>
            </a:r>
            <a:r>
              <a:rPr lang="en-US" altLang="zh-CN" sz="3200" b="1" err="1">
                <a:latin typeface="Arial" panose="020B0604020202020204" pitchFamily="34" charset="0"/>
                <a:ea typeface="宋体" panose="02010600030101010101" pitchFamily="2" charset="-122"/>
              </a:rPr>
              <a:t>E(k</a:t>
            </a:r>
            <a:r>
              <a:rPr lang="en-US" altLang="zh-CN" sz="3200" b="1" dirty="0">
                <a:latin typeface="Arial" panose="020B0604020202020204" pitchFamily="34" charset="0"/>
                <a:ea typeface="宋体" panose="02010600030101010101" pitchFamily="2" charset="-122"/>
              </a:rPr>
              <a:t>)</a:t>
            </a:r>
            <a:r>
              <a:rPr lang="zh-CN" altLang="en-US" sz="3200" b="1" dirty="0">
                <a:latin typeface="Arial" panose="020B0604020202020204" pitchFamily="34" charset="0"/>
                <a:ea typeface="宋体" panose="02010600030101010101" pitchFamily="2" charset="-122"/>
              </a:rPr>
              <a:t>的形状，试回答：</a:t>
            </a:r>
            <a:endParaRPr lang="zh-CN" altLang="en-US" sz="3200" b="1">
              <a:latin typeface="Arial" panose="020B0604020202020204" pitchFamily="34" charset="0"/>
              <a:ea typeface="宋体" panose="02010600030101010101" pitchFamily="2" charset="-122"/>
            </a:endParaRPr>
          </a:p>
        </p:txBody>
      </p:sp>
      <p:sp>
        <p:nvSpPr>
          <p:cNvPr id="95234" name="文本框 128002"/>
          <p:cNvSpPr txBox="1"/>
          <p:nvPr/>
        </p:nvSpPr>
        <p:spPr>
          <a:xfrm>
            <a:off x="304800" y="1066800"/>
            <a:ext cx="5257800" cy="5453063"/>
          </a:xfrm>
          <a:prstGeom prst="rect">
            <a:avLst/>
          </a:prstGeom>
          <a:noFill/>
          <a:ln w="12700">
            <a:noFill/>
          </a:ln>
        </p:spPr>
        <p:txBody>
          <a:bodyPr anchor="t" anchorCtr="0">
            <a:spAutoFit/>
          </a:bodyPr>
          <a:lstStyle/>
          <a:p>
            <a:pPr algn="just" eaLnBrk="0" hangingPunct="0"/>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1</a:t>
            </a:r>
            <a:r>
              <a:rPr lang="zh-CN" altLang="en-US" sz="3200" b="1" dirty="0">
                <a:latin typeface="Arial" panose="020B0604020202020204" pitchFamily="34" charset="0"/>
                <a:ea typeface="宋体" panose="02010600030101010101" pitchFamily="2" charset="-122"/>
              </a:rPr>
              <a:t>）在</a:t>
            </a:r>
            <a:r>
              <a:rPr lang="en-US" altLang="zh-CN" sz="3200" b="1" dirty="0">
                <a:latin typeface="Arial" panose="020B0604020202020204" pitchFamily="34" charset="0"/>
                <a:ea typeface="宋体" panose="02010600030101010101" pitchFamily="2" charset="-122"/>
              </a:rPr>
              <a:t>Ⅰ</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Ⅱ</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Ⅲ</a:t>
            </a:r>
            <a:r>
              <a:rPr lang="zh-CN" altLang="en-US" sz="3200" b="1" dirty="0">
                <a:latin typeface="Arial" panose="020B0604020202020204" pitchFamily="34" charset="0"/>
                <a:ea typeface="宋体" panose="02010600030101010101" pitchFamily="2" charset="-122"/>
              </a:rPr>
              <a:t>三个带中，哪一个带的电子有效质量数值最小？</a:t>
            </a:r>
          </a:p>
          <a:p>
            <a:pPr algn="just" eaLnBrk="0" hangingPunct="0"/>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2</a:t>
            </a:r>
            <a:r>
              <a:rPr lang="zh-CN" altLang="en-US" sz="3200" b="1" dirty="0">
                <a:latin typeface="Arial" panose="020B0604020202020204" pitchFamily="34" charset="0"/>
                <a:ea typeface="宋体" panose="02010600030101010101" pitchFamily="2" charset="-122"/>
              </a:rPr>
              <a:t>）考虑</a:t>
            </a:r>
            <a:r>
              <a:rPr lang="en-US" altLang="zh-CN" sz="3200" b="1" dirty="0">
                <a:latin typeface="Arial" panose="020B0604020202020204" pitchFamily="34" charset="0"/>
                <a:ea typeface="宋体" panose="02010600030101010101" pitchFamily="2" charset="-122"/>
              </a:rPr>
              <a:t>Ⅰ</a:t>
            </a:r>
            <a:r>
              <a:rPr lang="zh-CN" altLang="en-US" sz="3200" b="1" dirty="0">
                <a:latin typeface="Arial" panose="020B0604020202020204" pitchFamily="34" charset="0"/>
                <a:ea typeface="宋体" panose="02010600030101010101" pitchFamily="2" charset="-122"/>
              </a:rPr>
              <a:t>、</a:t>
            </a:r>
            <a:r>
              <a:rPr lang="en-US" altLang="zh-CN" sz="3200" b="1" dirty="0">
                <a:latin typeface="Arial" panose="020B0604020202020204" pitchFamily="34" charset="0"/>
                <a:ea typeface="宋体" panose="02010600030101010101" pitchFamily="2" charset="-122"/>
              </a:rPr>
              <a:t>Ⅱ</a:t>
            </a:r>
            <a:r>
              <a:rPr lang="zh-CN" altLang="en-US" sz="3200" b="1" dirty="0">
                <a:latin typeface="Arial" panose="020B0604020202020204" pitchFamily="34" charset="0"/>
                <a:ea typeface="宋体" panose="02010600030101010101" pitchFamily="2" charset="-122"/>
              </a:rPr>
              <a:t>两个带充满电子，而第</a:t>
            </a:r>
            <a:r>
              <a:rPr lang="en-US" altLang="zh-CN" sz="3200" b="1" dirty="0">
                <a:latin typeface="Arial" panose="020B0604020202020204" pitchFamily="34" charset="0"/>
                <a:ea typeface="宋体" panose="02010600030101010101" pitchFamily="2" charset="-122"/>
              </a:rPr>
              <a:t>Ⅲ</a:t>
            </a:r>
            <a:r>
              <a:rPr lang="zh-CN" altLang="en-US" sz="3200" b="1" dirty="0">
                <a:latin typeface="Arial" panose="020B0604020202020204" pitchFamily="34" charset="0"/>
                <a:ea typeface="宋体" panose="02010600030101010101" pitchFamily="2" charset="-122"/>
              </a:rPr>
              <a:t>个带全空的情况，如果少量电子进入第</a:t>
            </a:r>
            <a:r>
              <a:rPr lang="en-US" altLang="zh-CN" sz="3200" b="1" dirty="0">
                <a:latin typeface="Arial" panose="020B0604020202020204" pitchFamily="34" charset="0"/>
                <a:ea typeface="宋体" panose="02010600030101010101" pitchFamily="2" charset="-122"/>
              </a:rPr>
              <a:t>Ⅲ</a:t>
            </a:r>
            <a:r>
              <a:rPr lang="zh-CN" altLang="en-US" sz="3200" b="1" dirty="0">
                <a:latin typeface="Arial" panose="020B0604020202020204" pitchFamily="34" charset="0"/>
                <a:ea typeface="宋体" panose="02010600030101010101" pitchFamily="2" charset="-122"/>
              </a:rPr>
              <a:t>个带，在</a:t>
            </a:r>
            <a:r>
              <a:rPr lang="en-US" altLang="zh-CN" sz="3200" b="1" dirty="0">
                <a:latin typeface="Arial" panose="020B0604020202020204" pitchFamily="34" charset="0"/>
                <a:ea typeface="宋体" panose="02010600030101010101" pitchFamily="2" charset="-122"/>
              </a:rPr>
              <a:t>Ⅱ</a:t>
            </a:r>
            <a:r>
              <a:rPr lang="zh-CN" altLang="en-US" sz="3200" b="1" dirty="0">
                <a:latin typeface="Arial" panose="020B0604020202020204" pitchFamily="34" charset="0"/>
                <a:ea typeface="宋体" panose="02010600030101010101" pitchFamily="2" charset="-122"/>
              </a:rPr>
              <a:t>带中产生同样数目的空穴，那么</a:t>
            </a:r>
            <a:r>
              <a:rPr lang="en-US" altLang="zh-CN" sz="3200" b="1" dirty="0">
                <a:latin typeface="Arial" panose="020B0604020202020204" pitchFamily="34" charset="0"/>
                <a:ea typeface="宋体" panose="02010600030101010101" pitchFamily="2" charset="-122"/>
              </a:rPr>
              <a:t>Ⅱ</a:t>
            </a:r>
            <a:r>
              <a:rPr lang="zh-CN" altLang="en-US" sz="3200" b="1" dirty="0">
                <a:latin typeface="Arial" panose="020B0604020202020204" pitchFamily="34" charset="0"/>
                <a:ea typeface="宋体" panose="02010600030101010101" pitchFamily="2" charset="-122"/>
              </a:rPr>
              <a:t>带中的空穴有效质量同</a:t>
            </a:r>
            <a:r>
              <a:rPr lang="en-US" altLang="zh-CN" sz="3200" b="1" dirty="0">
                <a:latin typeface="Arial" panose="020B0604020202020204" pitchFamily="34" charset="0"/>
                <a:ea typeface="宋体" panose="02010600030101010101" pitchFamily="2" charset="-122"/>
              </a:rPr>
              <a:t>Ⅲ</a:t>
            </a:r>
            <a:r>
              <a:rPr lang="zh-CN" altLang="en-US" sz="3200" b="1" dirty="0">
                <a:latin typeface="Arial" panose="020B0604020202020204" pitchFamily="34" charset="0"/>
                <a:ea typeface="宋体" panose="02010600030101010101" pitchFamily="2" charset="-122"/>
              </a:rPr>
              <a:t>带中的电子有效质量相比，是一样？还是大或小？</a:t>
            </a:r>
          </a:p>
        </p:txBody>
      </p:sp>
      <p:grpSp>
        <p:nvGrpSpPr>
          <p:cNvPr id="95235" name="组合 128041"/>
          <p:cNvGrpSpPr/>
          <p:nvPr/>
        </p:nvGrpSpPr>
        <p:grpSpPr>
          <a:xfrm>
            <a:off x="6229350" y="1485900"/>
            <a:ext cx="2298700" cy="4017963"/>
            <a:chOff x="3878" y="709"/>
            <a:chExt cx="1359" cy="2425"/>
          </a:xfrm>
        </p:grpSpPr>
        <p:sp>
          <p:nvSpPr>
            <p:cNvPr id="95236" name="文本框 128004"/>
            <p:cNvSpPr txBox="1"/>
            <p:nvPr/>
          </p:nvSpPr>
          <p:spPr>
            <a:xfrm>
              <a:off x="4785" y="2617"/>
              <a:ext cx="245" cy="221"/>
            </a:xfrm>
            <a:prstGeom prst="rect">
              <a:avLst/>
            </a:prstGeom>
            <a:noFill/>
            <a:ln w="12700">
              <a:noFill/>
            </a:ln>
          </p:spPr>
          <p:txBody>
            <a:bodyPr wrap="none" anchor="t" anchorCtr="0">
              <a:spAutoFit/>
            </a:bodyPr>
            <a:lstStyle/>
            <a:p>
              <a:pPr eaLnBrk="0" hangingPunct="0"/>
              <a:r>
                <a:rPr lang="en-US" altLang="zh-CN" b="1">
                  <a:latin typeface="Arial" panose="020B0604020202020204" pitchFamily="34" charset="0"/>
                  <a:ea typeface="宋体" panose="02010600030101010101" pitchFamily="2" charset="-122"/>
                </a:rPr>
                <a:t>Ⅰ</a:t>
              </a:r>
            </a:p>
          </p:txBody>
        </p:sp>
        <p:sp>
          <p:nvSpPr>
            <p:cNvPr id="95237" name="文本框 128005"/>
            <p:cNvSpPr txBox="1"/>
            <p:nvPr/>
          </p:nvSpPr>
          <p:spPr>
            <a:xfrm>
              <a:off x="4785" y="2205"/>
              <a:ext cx="227" cy="221"/>
            </a:xfrm>
            <a:prstGeom prst="rect">
              <a:avLst/>
            </a:prstGeom>
            <a:noFill/>
            <a:ln w="12700">
              <a:noFill/>
            </a:ln>
          </p:spPr>
          <p:txBody>
            <a:bodyPr anchor="t" anchorCtr="0">
              <a:spAutoFit/>
            </a:bodyPr>
            <a:lstStyle/>
            <a:p>
              <a:pPr eaLnBrk="0" hangingPunct="0"/>
              <a:r>
                <a:rPr lang="en-US" altLang="zh-CN" b="1">
                  <a:latin typeface="Arial" panose="020B0604020202020204" pitchFamily="34" charset="0"/>
                  <a:ea typeface="宋体" panose="02010600030101010101" pitchFamily="2" charset="-122"/>
                </a:rPr>
                <a:t>Ⅱ</a:t>
              </a:r>
            </a:p>
          </p:txBody>
        </p:sp>
        <p:sp>
          <p:nvSpPr>
            <p:cNvPr id="95238" name="文本框 128006"/>
            <p:cNvSpPr txBox="1"/>
            <p:nvPr/>
          </p:nvSpPr>
          <p:spPr>
            <a:xfrm>
              <a:off x="4785" y="1347"/>
              <a:ext cx="245" cy="221"/>
            </a:xfrm>
            <a:prstGeom prst="rect">
              <a:avLst/>
            </a:prstGeom>
            <a:noFill/>
            <a:ln w="12700">
              <a:noFill/>
            </a:ln>
          </p:spPr>
          <p:txBody>
            <a:bodyPr wrap="none" anchor="t" anchorCtr="0">
              <a:spAutoFit/>
            </a:bodyPr>
            <a:lstStyle/>
            <a:p>
              <a:pPr eaLnBrk="0" hangingPunct="0"/>
              <a:r>
                <a:rPr lang="en-US" altLang="zh-CN" b="1">
                  <a:latin typeface="Arial" panose="020B0604020202020204" pitchFamily="34" charset="0"/>
                  <a:ea typeface="宋体" panose="02010600030101010101" pitchFamily="2" charset="-122"/>
                </a:rPr>
                <a:t>Ⅲ</a:t>
              </a:r>
            </a:p>
          </p:txBody>
        </p:sp>
        <p:sp>
          <p:nvSpPr>
            <p:cNvPr id="95239" name="文本框 128007"/>
            <p:cNvSpPr txBox="1"/>
            <p:nvPr/>
          </p:nvSpPr>
          <p:spPr>
            <a:xfrm>
              <a:off x="3878" y="2931"/>
              <a:ext cx="383" cy="203"/>
            </a:xfrm>
            <a:prstGeom prst="rect">
              <a:avLst/>
            </a:prstGeom>
            <a:noFill/>
            <a:ln w="12700">
              <a:noFill/>
            </a:ln>
          </p:spPr>
          <p:txBody>
            <a:bodyPr wrap="none" anchor="t" anchorCtr="0">
              <a:spAutoFit/>
            </a:bodyPr>
            <a:lstStyle/>
            <a:p>
              <a:pPr eaLnBrk="0" hangingPunct="0"/>
              <a:r>
                <a:rPr lang="en-US" altLang="zh-CN" sz="1600" b="1">
                  <a:latin typeface="Arial" panose="020B0604020202020204" pitchFamily="34" charset="0"/>
                  <a:ea typeface="宋体" panose="02010600030101010101" pitchFamily="2" charset="-122"/>
                </a:rPr>
                <a:t>-1/2a</a:t>
              </a:r>
            </a:p>
          </p:txBody>
        </p:sp>
        <p:sp>
          <p:nvSpPr>
            <p:cNvPr id="95240" name="文本框 128008"/>
            <p:cNvSpPr txBox="1"/>
            <p:nvPr/>
          </p:nvSpPr>
          <p:spPr>
            <a:xfrm>
              <a:off x="4649" y="2931"/>
              <a:ext cx="342" cy="203"/>
            </a:xfrm>
            <a:prstGeom prst="rect">
              <a:avLst/>
            </a:prstGeom>
            <a:noFill/>
            <a:ln w="12700">
              <a:noFill/>
            </a:ln>
          </p:spPr>
          <p:txBody>
            <a:bodyPr wrap="none" anchor="t" anchorCtr="0">
              <a:spAutoFit/>
            </a:bodyPr>
            <a:lstStyle/>
            <a:p>
              <a:pPr eaLnBrk="0" hangingPunct="0"/>
              <a:r>
                <a:rPr lang="en-US" altLang="zh-CN" sz="1600" b="1">
                  <a:latin typeface="Arial" panose="020B0604020202020204" pitchFamily="34" charset="0"/>
                  <a:ea typeface="宋体" panose="02010600030101010101" pitchFamily="2" charset="-122"/>
                </a:rPr>
                <a:t>1/2a</a:t>
              </a:r>
            </a:p>
          </p:txBody>
        </p:sp>
        <p:sp>
          <p:nvSpPr>
            <p:cNvPr id="95241" name="直接连接符 128026"/>
            <p:cNvSpPr/>
            <p:nvPr/>
          </p:nvSpPr>
          <p:spPr>
            <a:xfrm>
              <a:off x="3969" y="2833"/>
              <a:ext cx="1005" cy="0"/>
            </a:xfrm>
            <a:prstGeom prst="line">
              <a:avLst/>
            </a:prstGeom>
            <a:ln w="9525" cap="flat" cmpd="sng">
              <a:solidFill>
                <a:schemeClr val="tx1"/>
              </a:solidFill>
              <a:prstDash val="solid"/>
              <a:miter/>
              <a:headEnd type="none" w="med" len="med"/>
              <a:tailEnd type="none" w="med" len="med"/>
            </a:ln>
          </p:spPr>
        </p:sp>
        <p:sp>
          <p:nvSpPr>
            <p:cNvPr id="95242" name="直接连接符 128027"/>
            <p:cNvSpPr/>
            <p:nvPr/>
          </p:nvSpPr>
          <p:spPr>
            <a:xfrm flipV="1">
              <a:off x="4074" y="2778"/>
              <a:ext cx="0" cy="55"/>
            </a:xfrm>
            <a:prstGeom prst="line">
              <a:avLst/>
            </a:prstGeom>
            <a:ln w="9525" cap="flat" cmpd="sng">
              <a:solidFill>
                <a:schemeClr val="tx1"/>
              </a:solidFill>
              <a:prstDash val="solid"/>
              <a:miter/>
              <a:headEnd type="none" w="med" len="med"/>
              <a:tailEnd type="none" w="med" len="med"/>
            </a:ln>
          </p:spPr>
        </p:sp>
        <p:sp>
          <p:nvSpPr>
            <p:cNvPr id="95243" name="直接连接符 128028"/>
            <p:cNvSpPr/>
            <p:nvPr/>
          </p:nvSpPr>
          <p:spPr>
            <a:xfrm flipV="1">
              <a:off x="4809" y="2778"/>
              <a:ext cx="0" cy="55"/>
            </a:xfrm>
            <a:prstGeom prst="line">
              <a:avLst/>
            </a:prstGeom>
            <a:ln w="9525" cap="flat" cmpd="sng">
              <a:solidFill>
                <a:schemeClr val="tx1"/>
              </a:solidFill>
              <a:prstDash val="solid"/>
              <a:miter/>
              <a:headEnd type="none" w="med" len="med"/>
              <a:tailEnd type="none" w="med" len="med"/>
            </a:ln>
          </p:spPr>
        </p:sp>
        <p:sp>
          <p:nvSpPr>
            <p:cNvPr id="95244" name="文本框 128029"/>
            <p:cNvSpPr txBox="1"/>
            <p:nvPr/>
          </p:nvSpPr>
          <p:spPr>
            <a:xfrm>
              <a:off x="5028" y="2786"/>
              <a:ext cx="209" cy="276"/>
            </a:xfrm>
            <a:prstGeom prst="rect">
              <a:avLst/>
            </a:prstGeom>
            <a:noFill/>
            <a:ln w="9525">
              <a:noFill/>
            </a:ln>
          </p:spPr>
          <p:txBody>
            <a:bodyPr wrap="none" anchor="t" anchorCtr="0">
              <a:spAutoFit/>
            </a:bodyPr>
            <a:lstStyle/>
            <a:p>
              <a:r>
                <a:rPr lang="en-US" altLang="zh-CN" sz="2400" b="1">
                  <a:latin typeface="Times New Roman" panose="02020603050405020304" pitchFamily="18" charset="0"/>
                  <a:ea typeface="宋体" panose="02010600030101010101" pitchFamily="2" charset="-122"/>
                </a:rPr>
                <a:t>k</a:t>
              </a:r>
            </a:p>
          </p:txBody>
        </p:sp>
        <p:sp>
          <p:nvSpPr>
            <p:cNvPr id="95245" name="文本框 128030"/>
            <p:cNvSpPr txBox="1"/>
            <p:nvPr/>
          </p:nvSpPr>
          <p:spPr>
            <a:xfrm>
              <a:off x="4402" y="709"/>
              <a:ext cx="229" cy="276"/>
            </a:xfrm>
            <a:prstGeom prst="rect">
              <a:avLst/>
            </a:prstGeom>
            <a:noFill/>
            <a:ln w="9525">
              <a:noFill/>
            </a:ln>
          </p:spPr>
          <p:txBody>
            <a:bodyPr wrap="none" anchor="t" anchorCtr="0">
              <a:spAutoFit/>
            </a:bodyPr>
            <a:lstStyle/>
            <a:p>
              <a:r>
                <a:rPr lang="en-US" altLang="zh-CN" sz="2400" b="1">
                  <a:latin typeface="Times New Roman" panose="02020603050405020304" pitchFamily="18" charset="0"/>
                  <a:ea typeface="宋体" panose="02010600030101010101" pitchFamily="2" charset="-122"/>
                </a:rPr>
                <a:t>E</a:t>
              </a:r>
            </a:p>
          </p:txBody>
        </p:sp>
        <p:sp>
          <p:nvSpPr>
            <p:cNvPr id="95246" name="直接连接符 128031"/>
            <p:cNvSpPr/>
            <p:nvPr/>
          </p:nvSpPr>
          <p:spPr>
            <a:xfrm flipV="1">
              <a:off x="4809" y="1071"/>
              <a:ext cx="0" cy="1808"/>
            </a:xfrm>
            <a:prstGeom prst="line">
              <a:avLst/>
            </a:prstGeom>
            <a:ln w="3175" cap="flat" cmpd="sng">
              <a:solidFill>
                <a:schemeClr val="tx1"/>
              </a:solidFill>
              <a:prstDash val="lgDashDotDot"/>
              <a:round/>
              <a:headEnd type="none" w="med" len="med"/>
              <a:tailEnd type="none" w="med" len="med"/>
            </a:ln>
          </p:spPr>
        </p:sp>
        <p:sp>
          <p:nvSpPr>
            <p:cNvPr id="95247" name="直接连接符 128032"/>
            <p:cNvSpPr/>
            <p:nvPr/>
          </p:nvSpPr>
          <p:spPr>
            <a:xfrm flipV="1">
              <a:off x="4074" y="1071"/>
              <a:ext cx="0" cy="1808"/>
            </a:xfrm>
            <a:prstGeom prst="line">
              <a:avLst/>
            </a:prstGeom>
            <a:ln w="3175" cap="flat" cmpd="sng">
              <a:solidFill>
                <a:schemeClr val="tx1"/>
              </a:solidFill>
              <a:prstDash val="lgDashDotDot"/>
              <a:round/>
              <a:headEnd type="none" w="med" len="med"/>
              <a:tailEnd type="none" w="med" len="med"/>
            </a:ln>
          </p:spPr>
        </p:sp>
        <p:sp>
          <p:nvSpPr>
            <p:cNvPr id="95248" name="任意多边形 128033"/>
            <p:cNvSpPr/>
            <p:nvPr/>
          </p:nvSpPr>
          <p:spPr>
            <a:xfrm>
              <a:off x="4074" y="2664"/>
              <a:ext cx="735" cy="123"/>
            </a:xfrm>
            <a:custGeom>
              <a:avLst/>
              <a:gdLst/>
              <a:ahLst/>
              <a:cxnLst/>
              <a:rect l="0" t="0" r="0" b="0"/>
              <a:pathLst>
                <a:path w="630" h="124">
                  <a:moveTo>
                    <a:pt x="0" y="8"/>
                  </a:moveTo>
                  <a:cubicBezTo>
                    <a:pt x="12" y="11"/>
                    <a:pt x="18" y="10"/>
                    <a:pt x="70" y="29"/>
                  </a:cubicBezTo>
                  <a:cubicBezTo>
                    <a:pt x="122" y="48"/>
                    <a:pt x="229" y="124"/>
                    <a:pt x="310" y="122"/>
                  </a:cubicBezTo>
                  <a:cubicBezTo>
                    <a:pt x="391" y="120"/>
                    <a:pt x="502" y="38"/>
                    <a:pt x="555" y="19"/>
                  </a:cubicBezTo>
                  <a:cubicBezTo>
                    <a:pt x="608" y="0"/>
                    <a:pt x="615" y="10"/>
                    <a:pt x="630" y="8"/>
                  </a:cubicBezTo>
                </a:path>
              </a:pathLst>
            </a:custGeom>
            <a:noFill/>
            <a:ln w="38100" cap="flat" cmpd="sng">
              <a:solidFill>
                <a:srgbClr val="A50021"/>
              </a:solidFill>
              <a:prstDash val="solid"/>
              <a:round/>
              <a:headEnd type="none" w="med" len="med"/>
              <a:tailEnd type="none" w="med" len="med"/>
            </a:ln>
          </p:spPr>
          <p:txBody>
            <a:bodyPr/>
            <a:lstStyle/>
            <a:p>
              <a:endParaRPr lang="zh-CN" altLang="en-US"/>
            </a:p>
          </p:txBody>
        </p:sp>
        <p:sp>
          <p:nvSpPr>
            <p:cNvPr id="95249" name="任意多边形 128034"/>
            <p:cNvSpPr/>
            <p:nvPr/>
          </p:nvSpPr>
          <p:spPr>
            <a:xfrm>
              <a:off x="4076" y="2155"/>
              <a:ext cx="367" cy="414"/>
            </a:xfrm>
            <a:custGeom>
              <a:avLst/>
              <a:gdLst/>
              <a:ahLst/>
              <a:cxnLst/>
              <a:rect l="0" t="0" r="0" b="0"/>
              <a:pathLst>
                <a:path w="316" h="415">
                  <a:moveTo>
                    <a:pt x="0" y="415"/>
                  </a:moveTo>
                  <a:cubicBezTo>
                    <a:pt x="18" y="402"/>
                    <a:pt x="72" y="393"/>
                    <a:pt x="108" y="337"/>
                  </a:cubicBezTo>
                  <a:cubicBezTo>
                    <a:pt x="144" y="281"/>
                    <a:pt x="182" y="137"/>
                    <a:pt x="217" y="81"/>
                  </a:cubicBezTo>
                  <a:cubicBezTo>
                    <a:pt x="252" y="25"/>
                    <a:pt x="296" y="17"/>
                    <a:pt x="316" y="0"/>
                  </a:cubicBezTo>
                </a:path>
              </a:pathLst>
            </a:custGeom>
            <a:noFill/>
            <a:ln w="38100" cap="flat" cmpd="sng">
              <a:solidFill>
                <a:srgbClr val="A50021"/>
              </a:solidFill>
              <a:prstDash val="solid"/>
              <a:round/>
              <a:headEnd type="none" w="med" len="med"/>
              <a:tailEnd type="none" w="med" len="med"/>
            </a:ln>
          </p:spPr>
          <p:txBody>
            <a:bodyPr/>
            <a:lstStyle/>
            <a:p>
              <a:endParaRPr lang="zh-CN" altLang="en-US"/>
            </a:p>
          </p:txBody>
        </p:sp>
        <p:sp>
          <p:nvSpPr>
            <p:cNvPr id="95250" name="任意多边形 128035"/>
            <p:cNvSpPr/>
            <p:nvPr/>
          </p:nvSpPr>
          <p:spPr>
            <a:xfrm>
              <a:off x="4449" y="2155"/>
              <a:ext cx="367" cy="414"/>
            </a:xfrm>
            <a:custGeom>
              <a:avLst/>
              <a:gdLst/>
              <a:ahLst/>
              <a:cxnLst/>
              <a:rect l="0" t="0" r="0" b="0"/>
              <a:pathLst>
                <a:path w="315" h="415">
                  <a:moveTo>
                    <a:pt x="315" y="415"/>
                  </a:moveTo>
                  <a:cubicBezTo>
                    <a:pt x="297" y="402"/>
                    <a:pt x="246" y="396"/>
                    <a:pt x="209" y="340"/>
                  </a:cubicBezTo>
                  <a:cubicBezTo>
                    <a:pt x="172" y="284"/>
                    <a:pt x="128" y="138"/>
                    <a:pt x="93" y="81"/>
                  </a:cubicBezTo>
                  <a:cubicBezTo>
                    <a:pt x="58" y="24"/>
                    <a:pt x="19" y="17"/>
                    <a:pt x="0" y="0"/>
                  </a:cubicBezTo>
                </a:path>
              </a:pathLst>
            </a:custGeom>
            <a:noFill/>
            <a:ln w="38100" cap="flat" cmpd="sng">
              <a:solidFill>
                <a:srgbClr val="A50021"/>
              </a:solidFill>
              <a:prstDash val="solid"/>
              <a:round/>
              <a:headEnd type="none" w="med" len="med"/>
              <a:tailEnd type="none" w="med" len="med"/>
            </a:ln>
          </p:spPr>
          <p:txBody>
            <a:bodyPr/>
            <a:lstStyle/>
            <a:p>
              <a:endParaRPr lang="zh-CN" altLang="en-US"/>
            </a:p>
          </p:txBody>
        </p:sp>
        <p:sp>
          <p:nvSpPr>
            <p:cNvPr id="95251" name="任意多边形 128036"/>
            <p:cNvSpPr/>
            <p:nvPr/>
          </p:nvSpPr>
          <p:spPr>
            <a:xfrm>
              <a:off x="4444" y="1174"/>
              <a:ext cx="367" cy="826"/>
            </a:xfrm>
            <a:custGeom>
              <a:avLst/>
              <a:gdLst/>
              <a:ahLst/>
              <a:cxnLst/>
              <a:rect l="0" t="0" r="0" b="0"/>
              <a:pathLst>
                <a:path w="315" h="830">
                  <a:moveTo>
                    <a:pt x="0" y="830"/>
                  </a:moveTo>
                  <a:cubicBezTo>
                    <a:pt x="15" y="809"/>
                    <a:pt x="58" y="821"/>
                    <a:pt x="93" y="702"/>
                  </a:cubicBezTo>
                  <a:cubicBezTo>
                    <a:pt x="128" y="583"/>
                    <a:pt x="175" y="234"/>
                    <a:pt x="212" y="117"/>
                  </a:cubicBezTo>
                  <a:cubicBezTo>
                    <a:pt x="249" y="0"/>
                    <a:pt x="294" y="25"/>
                    <a:pt x="315" y="1"/>
                  </a:cubicBezTo>
                </a:path>
              </a:pathLst>
            </a:custGeom>
            <a:noFill/>
            <a:ln w="38100" cap="flat" cmpd="sng">
              <a:solidFill>
                <a:srgbClr val="A50021"/>
              </a:solidFill>
              <a:prstDash val="solid"/>
              <a:round/>
              <a:headEnd type="none" w="med" len="med"/>
              <a:tailEnd type="none" w="med" len="med"/>
            </a:ln>
          </p:spPr>
          <p:txBody>
            <a:bodyPr/>
            <a:lstStyle/>
            <a:p>
              <a:endParaRPr lang="zh-CN" altLang="en-US"/>
            </a:p>
          </p:txBody>
        </p:sp>
        <p:sp>
          <p:nvSpPr>
            <p:cNvPr id="95252" name="任意多边形 128037"/>
            <p:cNvSpPr/>
            <p:nvPr/>
          </p:nvSpPr>
          <p:spPr>
            <a:xfrm>
              <a:off x="4082" y="1167"/>
              <a:ext cx="365" cy="862"/>
            </a:xfrm>
            <a:custGeom>
              <a:avLst/>
              <a:gdLst/>
              <a:ahLst/>
              <a:cxnLst/>
              <a:rect l="0" t="0" r="0" b="0"/>
              <a:pathLst>
                <a:path w="313" h="865">
                  <a:moveTo>
                    <a:pt x="313" y="831"/>
                  </a:moveTo>
                  <a:cubicBezTo>
                    <a:pt x="300" y="817"/>
                    <a:pt x="269" y="865"/>
                    <a:pt x="233" y="750"/>
                  </a:cubicBezTo>
                  <a:cubicBezTo>
                    <a:pt x="197" y="635"/>
                    <a:pt x="135" y="269"/>
                    <a:pt x="96" y="144"/>
                  </a:cubicBezTo>
                  <a:cubicBezTo>
                    <a:pt x="57" y="19"/>
                    <a:pt x="20" y="30"/>
                    <a:pt x="0" y="0"/>
                  </a:cubicBezTo>
                </a:path>
              </a:pathLst>
            </a:custGeom>
            <a:noFill/>
            <a:ln w="38100" cap="flat" cmpd="sng">
              <a:solidFill>
                <a:srgbClr val="A50021"/>
              </a:solidFill>
              <a:prstDash val="solid"/>
              <a:round/>
              <a:headEnd type="none" w="med" len="med"/>
              <a:tailEnd type="none" w="med" len="med"/>
            </a:ln>
          </p:spPr>
          <p:txBody>
            <a:bodyPr/>
            <a:lstStyle/>
            <a:p>
              <a:endParaRPr lang="zh-CN" altLang="en-US"/>
            </a:p>
          </p:txBody>
        </p:sp>
        <p:sp>
          <p:nvSpPr>
            <p:cNvPr id="95253" name="直接连接符 128038"/>
            <p:cNvSpPr/>
            <p:nvPr/>
          </p:nvSpPr>
          <p:spPr>
            <a:xfrm flipH="1" flipV="1">
              <a:off x="4446" y="799"/>
              <a:ext cx="3" cy="2187"/>
            </a:xfrm>
            <a:prstGeom prst="line">
              <a:avLst/>
            </a:prstGeom>
            <a:ln w="9525" cap="flat" cmpd="sng">
              <a:solidFill>
                <a:schemeClr val="tx1"/>
              </a:solidFill>
              <a:prstDash val="solid"/>
              <a:miter/>
              <a:headEnd type="none" w="med" len="med"/>
              <a:tailEnd type="none" w="med" len="med"/>
            </a:ln>
          </p:spPr>
        </p:sp>
      </p:grpSp>
    </p:spTree>
  </p:cSld>
  <p:clrMapOvr>
    <a:masterClrMapping/>
  </p:clrMapOvr>
  <p:transition/>
</p:sld>
</file>

<file path=ppt/theme/theme1.xml><?xml version="1.0" encoding="utf-8"?>
<a:theme xmlns:a="http://schemas.openxmlformats.org/drawingml/2006/main" name="Bold Stripes">
  <a:themeElements>
    <a:clrScheme name="Bold Stripe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fontScheme name="Bold Stripes">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Bold Stripes 1">
        <a:dk1>
          <a:srgbClr val="356677"/>
        </a:dk1>
        <a:lt1>
          <a:srgbClr val="FFFFFF"/>
        </a:lt1>
        <a:dk2>
          <a:srgbClr val="3E798E"/>
        </a:dk2>
        <a:lt2>
          <a:srgbClr val="FFFFCC"/>
        </a:lt2>
        <a:accent1>
          <a:srgbClr val="7FA0B1"/>
        </a:accent1>
        <a:accent2>
          <a:srgbClr val="3A7184"/>
        </a:accent2>
        <a:accent3>
          <a:srgbClr val="AFBEC6"/>
        </a:accent3>
        <a:accent4>
          <a:srgbClr val="DADADA"/>
        </a:accent4>
        <a:accent5>
          <a:srgbClr val="C0CDD5"/>
        </a:accent5>
        <a:accent6>
          <a:srgbClr val="346677"/>
        </a:accent6>
        <a:hlink>
          <a:srgbClr val="FFBF0B"/>
        </a:hlink>
        <a:folHlink>
          <a:srgbClr val="CC9900"/>
        </a:folHlink>
      </a:clrScheme>
      <a:clrMap bg1="dk2" tx1="lt1" bg2="dk1" tx2="lt2" accent1="accent1" accent2="accent2" accent3="accent3" accent4="accent4" accent5="accent5" accent6="accent6" hlink="hlink" folHlink="folHlink"/>
    </a:extraClrScheme>
    <a:extraClrScheme>
      <a:clrScheme name="Bold Stripe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clrMap bg1="lt1" tx1="dk1" bg2="lt2" tx2="dk2" accent1="accent1" accent2="accent2" accent3="accent3" accent4="accent4" accent5="accent5" accent6="accent6" hlink="hlink" folHlink="folHlink"/>
    </a:extraClrScheme>
    <a:extraClrScheme>
      <a:clrScheme name="Bold Stripes 3">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777777"/>
        </a:hlink>
        <a:folHlink>
          <a:srgbClr val="969696"/>
        </a:folHlink>
      </a:clrScheme>
      <a:clrMap bg1="lt1" tx1="dk1" bg2="lt2" tx2="dk2" accent1="accent1" accent2="accent2" accent3="accent3" accent4="accent4" accent5="accent5" accent6="accent6" hlink="hlink" folHlink="folHlink"/>
    </a:extraClrScheme>
    <a:extraClrScheme>
      <a:clrScheme name="Bold Stripes 4">
        <a:dk1>
          <a:srgbClr val="492417"/>
        </a:dk1>
        <a:lt1>
          <a:srgbClr val="D4D5C3"/>
        </a:lt1>
        <a:dk2>
          <a:srgbClr val="6E4900"/>
        </a:dk2>
        <a:lt2>
          <a:srgbClr val="B9BA9C"/>
        </a:lt2>
        <a:accent1>
          <a:srgbClr val="DBD8CF"/>
        </a:accent1>
        <a:accent2>
          <a:srgbClr val="C7C8B0"/>
        </a:accent2>
        <a:accent3>
          <a:srgbClr val="E6E7DE"/>
        </a:accent3>
        <a:accent4>
          <a:srgbClr val="3D1D12"/>
        </a:accent4>
        <a:accent5>
          <a:srgbClr val="EAE9E4"/>
        </a:accent5>
        <a:accent6>
          <a:srgbClr val="B4B59F"/>
        </a:accent6>
        <a:hlink>
          <a:srgbClr val="CC9900"/>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old Stripes">
  <a:themeElements>
    <a:clrScheme name="Bold Stripe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fontScheme name="Bold Stripes">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Bold Stripes 1">
        <a:dk1>
          <a:srgbClr val="356677"/>
        </a:dk1>
        <a:lt1>
          <a:srgbClr val="FFFFFF"/>
        </a:lt1>
        <a:dk2>
          <a:srgbClr val="3E798E"/>
        </a:dk2>
        <a:lt2>
          <a:srgbClr val="FFFFCC"/>
        </a:lt2>
        <a:accent1>
          <a:srgbClr val="7FA0B1"/>
        </a:accent1>
        <a:accent2>
          <a:srgbClr val="3A7184"/>
        </a:accent2>
        <a:accent3>
          <a:srgbClr val="AFBEC6"/>
        </a:accent3>
        <a:accent4>
          <a:srgbClr val="DADADA"/>
        </a:accent4>
        <a:accent5>
          <a:srgbClr val="C0CDD5"/>
        </a:accent5>
        <a:accent6>
          <a:srgbClr val="346677"/>
        </a:accent6>
        <a:hlink>
          <a:srgbClr val="FFBF0B"/>
        </a:hlink>
        <a:folHlink>
          <a:srgbClr val="CC9900"/>
        </a:folHlink>
      </a:clrScheme>
      <a:clrMap bg1="dk2" tx1="lt1" bg2="dk1" tx2="lt2" accent1="accent1" accent2="accent2" accent3="accent3" accent4="accent4" accent5="accent5" accent6="accent6" hlink="hlink" folHlink="folHlink"/>
    </a:extraClrScheme>
    <a:extraClrScheme>
      <a:clrScheme name="Bold Stripe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clrMap bg1="lt1" tx1="dk1" bg2="lt2" tx2="dk2" accent1="accent1" accent2="accent2" accent3="accent3" accent4="accent4" accent5="accent5" accent6="accent6" hlink="hlink" folHlink="folHlink"/>
    </a:extraClrScheme>
    <a:extraClrScheme>
      <a:clrScheme name="Bold Stripes 3">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777777"/>
        </a:hlink>
        <a:folHlink>
          <a:srgbClr val="969696"/>
        </a:folHlink>
      </a:clrScheme>
      <a:clrMap bg1="lt1" tx1="dk1" bg2="lt2" tx2="dk2" accent1="accent1" accent2="accent2" accent3="accent3" accent4="accent4" accent5="accent5" accent6="accent6" hlink="hlink" folHlink="folHlink"/>
    </a:extraClrScheme>
    <a:extraClrScheme>
      <a:clrScheme name="Bold Stripes 4">
        <a:dk1>
          <a:srgbClr val="492417"/>
        </a:dk1>
        <a:lt1>
          <a:srgbClr val="D4D5C3"/>
        </a:lt1>
        <a:dk2>
          <a:srgbClr val="6E4900"/>
        </a:dk2>
        <a:lt2>
          <a:srgbClr val="B9BA9C"/>
        </a:lt2>
        <a:accent1>
          <a:srgbClr val="DBD8CF"/>
        </a:accent1>
        <a:accent2>
          <a:srgbClr val="C7C8B0"/>
        </a:accent2>
        <a:accent3>
          <a:srgbClr val="E6E7DE"/>
        </a:accent3>
        <a:accent4>
          <a:srgbClr val="3D1D12"/>
        </a:accent4>
        <a:accent5>
          <a:srgbClr val="EAE9E4"/>
        </a:accent5>
        <a:accent6>
          <a:srgbClr val="B4B59F"/>
        </a:accent6>
        <a:hlink>
          <a:srgbClr val="CC9900"/>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Designs\Bold Stripes.pot</Template>
  <TotalTime>537</TotalTime>
  <Words>6791</Words>
  <Application>Microsoft Office PowerPoint</Application>
  <PresentationFormat>全屏显示(4:3)</PresentationFormat>
  <Paragraphs>860</Paragraphs>
  <Slides>112</Slides>
  <Notes>4</Notes>
  <HiddenSlides>1</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3</vt:i4>
      </vt:variant>
      <vt:variant>
        <vt:lpstr>幻灯片标题</vt:lpstr>
      </vt:variant>
      <vt:variant>
        <vt:i4>112</vt:i4>
      </vt:variant>
    </vt:vector>
  </HeadingPairs>
  <TitlesOfParts>
    <vt:vector size="128" baseType="lpstr">
      <vt:lpstr>黑体</vt:lpstr>
      <vt:lpstr>华文新魏</vt:lpstr>
      <vt:lpstr>楷体_GB2312</vt:lpstr>
      <vt:lpstr>宋体</vt:lpstr>
      <vt:lpstr>Arial</vt:lpstr>
      <vt:lpstr>Arial Black</vt:lpstr>
      <vt:lpstr>Calibri</vt:lpstr>
      <vt:lpstr>Tahoma</vt:lpstr>
      <vt:lpstr>Times New Roman</vt:lpstr>
      <vt:lpstr>Verdana</vt:lpstr>
      <vt:lpstr>Wingdings</vt:lpstr>
      <vt:lpstr>Bold Stripes</vt:lpstr>
      <vt:lpstr>1_Bold Stripes</vt:lpstr>
      <vt:lpstr>Equation.3</vt:lpstr>
      <vt:lpstr>Equation.DSMT4</vt:lpstr>
      <vt:lpstr>图像.文件</vt:lpstr>
      <vt:lpstr>半 导 体 物 理 学</vt:lpstr>
      <vt:lpstr>简 介</vt:lpstr>
      <vt:lpstr>应用范围</vt:lpstr>
      <vt:lpstr>课程概括</vt:lpstr>
      <vt:lpstr>第一章 半导体中的电子状态</vt:lpstr>
      <vt:lpstr>1.1  半导体的晶格结构和结合性质</vt:lpstr>
      <vt:lpstr>1.1  半导体的晶格结构和结合性质</vt:lpstr>
      <vt:lpstr>1.1  半导体的晶格结构和结合性质</vt:lpstr>
      <vt:lpstr>1.1  半导体的晶格结构和结合性质</vt:lpstr>
      <vt:lpstr>1.1  半导体的晶格结构和结合性质</vt:lpstr>
      <vt:lpstr>1.1  半导体的晶格结构和结合性质</vt:lpstr>
      <vt:lpstr>2.闪锌矿型结构和混合键</vt:lpstr>
      <vt:lpstr>1.1  半导体的晶格结构和结合性质</vt:lpstr>
      <vt:lpstr>§ 1.2  半导体中的电子状态与能带</vt:lpstr>
      <vt:lpstr>PowerPoint 演示文稿</vt:lpstr>
      <vt:lpstr>PowerPoint 演示文稿</vt:lpstr>
      <vt:lpstr>1.2  半导体中的电子状态和能带</vt:lpstr>
      <vt:lpstr>电子的共有化运动示意图</vt:lpstr>
      <vt:lpstr>1.2  半导体中的电子状态和能带</vt:lpstr>
      <vt:lpstr>1.2  半导体中的电子状态和能带</vt:lpstr>
      <vt:lpstr>3. 能带的形成</vt:lpstr>
      <vt:lpstr>PowerPoint 演示文稿</vt:lpstr>
      <vt:lpstr>能带的形成 </vt:lpstr>
      <vt:lpstr>PowerPoint 演示文稿</vt:lpstr>
      <vt:lpstr>半导体（硅、锗）能带的特点：</vt:lpstr>
      <vt:lpstr>3.半导体电子状态与能带</vt:lpstr>
      <vt:lpstr>PowerPoint 演示文稿</vt:lpstr>
      <vt:lpstr>PowerPoint 演示文稿</vt:lpstr>
      <vt:lpstr>1.2  半导体中的电子状态和能带</vt:lpstr>
      <vt:lpstr>1.2  半导体中的电子状态和能带</vt:lpstr>
      <vt:lpstr>PowerPoint 演示文稿</vt:lpstr>
      <vt:lpstr>1.2  半导体中的电子状态和能带</vt:lpstr>
      <vt:lpstr>1.2  半导体中的电子状态和能带</vt:lpstr>
      <vt:lpstr>PowerPoint 演示文稿</vt:lpstr>
      <vt:lpstr>PowerPoint 演示文稿</vt:lpstr>
      <vt:lpstr>PowerPoint 演示文稿</vt:lpstr>
      <vt:lpstr>PowerPoint 演示文稿</vt:lpstr>
      <vt:lpstr>PowerPoint 演示文稿</vt:lpstr>
      <vt:lpstr>PowerPoint 演示文稿</vt:lpstr>
      <vt:lpstr>布里渊区与能带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1.3  半导体中电子的运动 有效质量</vt:lpstr>
      <vt:lpstr>§1.4 半导体中载流子产生及导电机构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1.5  回旋共振</vt:lpstr>
      <vt:lpstr>1.5  回旋共振</vt:lpstr>
      <vt:lpstr>1.5  回旋共振</vt:lpstr>
      <vt:lpstr>1.5  回旋共振</vt:lpstr>
      <vt:lpstr>1.5  回旋共振</vt:lpstr>
      <vt:lpstr>1.5  回旋共振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第一章思考题与自测题：</vt:lpstr>
      <vt:lpstr>PowerPoint 演示文稿</vt:lpstr>
      <vt:lpstr>PowerPoint 演示文稿</vt:lpstr>
    </vt:vector>
  </TitlesOfParts>
  <Company>family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半 导 体 物 理 学</dc:title>
  <dc:creator>caowq</dc:creator>
  <cp:lastModifiedBy>韦 弘昊</cp:lastModifiedBy>
  <cp:revision>226</cp:revision>
  <dcterms:created xsi:type="dcterms:W3CDTF">2003-02-17T08:46:00Z</dcterms:created>
  <dcterms:modified xsi:type="dcterms:W3CDTF">2022-11-24T12:50:12Z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6BD6CFD8711D41878726A4A44549905F</vt:lpwstr>
  </property>
  <property fmtid="{D5CDD505-2E9C-101B-9397-08002B2CF9AE}" pid="3" name="KSOProductBuildVer">
    <vt:lpwstr>2052-11.1.0.10938</vt:lpwstr>
  </property>
</Properties>
</file>