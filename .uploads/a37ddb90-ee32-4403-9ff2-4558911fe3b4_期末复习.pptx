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88" r:id="rId2"/>
    <p:sldId id="689" r:id="rId3"/>
    <p:sldId id="690" r:id="rId4"/>
    <p:sldId id="691" r:id="rId5"/>
    <p:sldId id="684" r:id="rId6"/>
    <p:sldId id="692" r:id="rId7"/>
    <p:sldId id="685" r:id="rId8"/>
    <p:sldId id="69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1DF84-7527-4CC1-819A-C94A75DA3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572968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87757-347E-423E-B234-17D1DA55CA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1854037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9F9B4-1032-4660-AF9B-55FA500D5F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4427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E7B91-2CE5-4E54-A14B-469C416FA6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89754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39F47-10EE-49AF-8670-4C6690FA9B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5610335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B6DC6-D7E7-4C98-81D6-F8AADA0BC0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16691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B0861-84C6-4B74-BEA6-02A1B765D1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36070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5CBE0-B1AD-4C48-995D-7864DE7673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428220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983E2-8E1F-4A74-9FEE-EAE3A6851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805057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294EA-3970-456C-BE61-8F49E84B32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89865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DBC1-5623-4EE4-A9A8-5E2DE07FFA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543435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20F8A"/>
            </a:gs>
            <a:gs pos="100000">
              <a:srgbClr val="5E2C0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smtClean="0"/>
            </a:lvl1pPr>
          </a:lstStyle>
          <a:p>
            <a:pPr>
              <a:defRPr/>
            </a:pPr>
            <a:fld id="{EEC7E87E-D754-4728-AF45-EC91D10F8E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67139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442FA-8E28-41AE-B9CA-1918ED0D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8156"/>
            <a:ext cx="7772400" cy="1297858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复变函数</a:t>
            </a:r>
            <a:endParaRPr lang="en-US" altLang="zh-CN" dirty="0"/>
          </a:p>
          <a:p>
            <a:pPr lvl="1"/>
            <a:r>
              <a:rPr lang="zh-CN" altLang="en-US" dirty="0"/>
              <a:t>三角函数，双曲函数，指数，对数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EE67B3-B2D0-4BCA-B1BD-1CA637DA874C}"/>
              </a:ext>
            </a:extLst>
          </p:cNvPr>
          <p:cNvSpPr/>
          <p:nvPr/>
        </p:nvSpPr>
        <p:spPr bwMode="auto">
          <a:xfrm>
            <a:off x="1626282" y="1241982"/>
            <a:ext cx="4609356" cy="784952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7">
            <a:extLst>
              <a:ext uri="{FF2B5EF4-FFF2-40B4-BE49-F238E27FC236}">
                <a16:creationId xmlns:a16="http://schemas.microsoft.com/office/drawing/2014/main" id="{BBFC9E32-8315-458C-B37D-B2EF3E7B8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605157"/>
              </p:ext>
            </p:extLst>
          </p:nvPr>
        </p:nvGraphicFramePr>
        <p:xfrm>
          <a:off x="1691075" y="1292049"/>
          <a:ext cx="2272281" cy="440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914400" imgH="177480" progId="Equation.DSMT4">
                  <p:embed/>
                </p:oleObj>
              </mc:Choice>
              <mc:Fallback>
                <p:oleObj name="Equation" r:id="rId3" imgW="914400" imgH="177480" progId="Equation.DSMT4">
                  <p:embed/>
                  <p:pic>
                    <p:nvPicPr>
                      <p:cNvPr id="3994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075" y="1292049"/>
                        <a:ext cx="2272281" cy="440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8">
            <a:extLst>
              <a:ext uri="{FF2B5EF4-FFF2-40B4-BE49-F238E27FC236}">
                <a16:creationId xmlns:a16="http://schemas.microsoft.com/office/drawing/2014/main" id="{DC5F8D0C-2BCF-4AD5-AD22-5E810C695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0736"/>
              </p:ext>
            </p:extLst>
          </p:nvPr>
        </p:nvGraphicFramePr>
        <p:xfrm>
          <a:off x="3963356" y="1230034"/>
          <a:ext cx="2023760" cy="39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5" imgW="901440" imgH="177480" progId="Equation.DSMT4">
                  <p:embed/>
                </p:oleObj>
              </mc:Choice>
              <mc:Fallback>
                <p:oleObj name="Equation" r:id="rId5" imgW="901440" imgH="177480" progId="Equation.DSMT4">
                  <p:embed/>
                  <p:pic>
                    <p:nvPicPr>
                      <p:cNvPr id="39944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356" y="1230034"/>
                        <a:ext cx="2023760" cy="398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1CE7803-828A-464C-B349-BDB2F363F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643727"/>
              </p:ext>
            </p:extLst>
          </p:nvPr>
        </p:nvGraphicFramePr>
        <p:xfrm>
          <a:off x="1691077" y="1651813"/>
          <a:ext cx="2272280" cy="440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7" imgW="914400" imgH="177480" progId="Equation.DSMT4">
                  <p:embed/>
                </p:oleObj>
              </mc:Choice>
              <mc:Fallback>
                <p:oleObj name="Equation" r:id="rId7" imgW="914400" imgH="177480" progId="Equation.DSMT4">
                  <p:embed/>
                  <p:pic>
                    <p:nvPicPr>
                      <p:cNvPr id="11" name="对象 7">
                        <a:extLst>
                          <a:ext uri="{FF2B5EF4-FFF2-40B4-BE49-F238E27FC236}">
                            <a16:creationId xmlns:a16="http://schemas.microsoft.com/office/drawing/2014/main" id="{EDF4EE67-1C5D-44F1-9B7A-F5DC1B81F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077" y="1651813"/>
                        <a:ext cx="2272280" cy="440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101852-9638-41FC-AECF-181982115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62745"/>
              </p:ext>
            </p:extLst>
          </p:nvPr>
        </p:nvGraphicFramePr>
        <p:xfrm>
          <a:off x="3963357" y="1579887"/>
          <a:ext cx="2272280" cy="447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9" imgW="901440" imgH="177480" progId="Equation.DSMT4">
                  <p:embed/>
                </p:oleObj>
              </mc:Choice>
              <mc:Fallback>
                <p:oleObj name="Equation" r:id="rId9" imgW="901440" imgH="177480" progId="Equation.DSMT4">
                  <p:embed/>
                  <p:pic>
                    <p:nvPicPr>
                      <p:cNvPr id="12" name="对象 8">
                        <a:extLst>
                          <a:ext uri="{FF2B5EF4-FFF2-40B4-BE49-F238E27FC236}">
                            <a16:creationId xmlns:a16="http://schemas.microsoft.com/office/drawing/2014/main" id="{1F422993-3F5E-45DC-ADD8-E90365AD28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3357" y="1579887"/>
                        <a:ext cx="2272280" cy="447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CC9E640-868B-44D0-A930-25C3CC74515E}"/>
              </a:ext>
            </a:extLst>
          </p:cNvPr>
          <p:cNvSpPr txBox="1">
            <a:spLocks/>
          </p:cNvSpPr>
          <p:nvPr/>
        </p:nvSpPr>
        <p:spPr bwMode="auto">
          <a:xfrm>
            <a:off x="759542" y="2216504"/>
            <a:ext cx="7772400" cy="1297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特殊函数：</a:t>
            </a:r>
            <a:r>
              <a:rPr lang="en-US" altLang="zh-CN" dirty="0"/>
              <a:t>Γ</a:t>
            </a:r>
            <a:r>
              <a:rPr lang="zh-CN" altLang="en-US" dirty="0"/>
              <a:t>函数，高斯函数，</a:t>
            </a:r>
            <a:r>
              <a:rPr lang="en-US" altLang="zh-CN" dirty="0" err="1"/>
              <a:t>sinc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复变函数的导数</a:t>
            </a:r>
            <a:endParaRPr lang="en-US" altLang="zh-CN" dirty="0"/>
          </a:p>
          <a:p>
            <a:pPr lvl="2"/>
            <a:r>
              <a:rPr lang="zh-CN" altLang="en-US" dirty="0"/>
              <a:t>柯西</a:t>
            </a:r>
            <a:r>
              <a:rPr lang="en-US" altLang="zh-CN" dirty="0"/>
              <a:t>-</a:t>
            </a:r>
            <a:r>
              <a:rPr lang="zh-CN" altLang="en-US" dirty="0"/>
              <a:t>黎曼（</a:t>
            </a:r>
            <a:r>
              <a:rPr lang="en-US" altLang="zh-CN" dirty="0"/>
              <a:t>C.R.</a:t>
            </a:r>
            <a:r>
              <a:rPr lang="zh-CN" altLang="en-US" dirty="0"/>
              <a:t>）条件</a:t>
            </a:r>
            <a:r>
              <a:rPr lang="zh-CN" altLang="en-US" dirty="0">
                <a:solidFill>
                  <a:srgbClr val="FFFF00"/>
                </a:solidFill>
              </a:rPr>
              <a:t>（重要）</a:t>
            </a:r>
            <a:endParaRPr lang="en-US" altLang="zh-CN" dirty="0">
              <a:solidFill>
                <a:srgbClr val="FFFF00"/>
              </a:solidFill>
            </a:endParaRPr>
          </a:p>
          <a:p>
            <a:pPr lvl="2"/>
            <a:r>
              <a:rPr lang="zh-CN" altLang="en-US" dirty="0"/>
              <a:t>宗量</a:t>
            </a:r>
            <a:r>
              <a:rPr lang="en-US" altLang="zh-CN" dirty="0"/>
              <a:t>-</a:t>
            </a:r>
            <a:r>
              <a:rPr lang="zh-CN" altLang="en-US" dirty="0"/>
              <a:t>函数：直角坐标</a:t>
            </a:r>
            <a:r>
              <a:rPr lang="en-US" altLang="zh-CN" dirty="0"/>
              <a:t>-</a:t>
            </a:r>
            <a:r>
              <a:rPr lang="zh-CN" altLang="en-US" dirty="0"/>
              <a:t>极坐标</a:t>
            </a:r>
            <a:endParaRPr lang="en-US" altLang="zh-CN" dirty="0"/>
          </a:p>
          <a:p>
            <a:pPr lvl="1"/>
            <a:r>
              <a:rPr lang="zh-CN" altLang="en-US" dirty="0"/>
              <a:t>解析函数：共轭调和函数</a:t>
            </a:r>
            <a:endParaRPr lang="en-US" altLang="zh-CN" dirty="0"/>
          </a:p>
          <a:p>
            <a:pPr lvl="2"/>
            <a:r>
              <a:rPr lang="zh-CN" altLang="en-US" dirty="0"/>
              <a:t>已知一个，求另一个和整个复变函数</a:t>
            </a:r>
            <a:endParaRPr lang="en-US" altLang="zh-CN" dirty="0"/>
          </a:p>
          <a:p>
            <a:pPr lvl="1"/>
            <a:r>
              <a:rPr lang="zh-CN" altLang="en-US" dirty="0"/>
              <a:t>多值函数</a:t>
            </a:r>
            <a:endParaRPr lang="en-US" altLang="zh-CN" dirty="0"/>
          </a:p>
          <a:p>
            <a:pPr lvl="2"/>
            <a:r>
              <a:rPr lang="zh-CN" altLang="en-US" dirty="0"/>
              <a:t>反三角函数（双曲三角函数）</a:t>
            </a:r>
            <a:endParaRPr lang="en-US" altLang="zh-CN" dirty="0"/>
          </a:p>
          <a:p>
            <a:pPr lvl="2"/>
            <a:r>
              <a:rPr lang="zh-CN" altLang="en-US" dirty="0"/>
              <a:t>级数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757280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1442E-EB90-4419-B0B0-00F5B533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4800"/>
            <a:ext cx="7772400" cy="5899355"/>
          </a:xfrm>
        </p:spPr>
        <p:txBody>
          <a:bodyPr/>
          <a:lstStyle/>
          <a:p>
            <a:r>
              <a:rPr lang="en-US" altLang="zh-CN" sz="2800" dirty="0"/>
              <a:t>2.</a:t>
            </a:r>
            <a:r>
              <a:rPr lang="zh-CN" altLang="en-US" sz="2800" dirty="0"/>
              <a:t>复变积分</a:t>
            </a:r>
            <a:endParaRPr lang="en-US" altLang="zh-CN" sz="2800" dirty="0"/>
          </a:p>
          <a:p>
            <a:pPr lvl="1"/>
            <a:r>
              <a:rPr lang="zh-CN" altLang="en-US" sz="2400" dirty="0"/>
              <a:t>柯西定理</a:t>
            </a:r>
            <a:endParaRPr lang="en-US" altLang="zh-CN" sz="2400" dirty="0"/>
          </a:p>
          <a:p>
            <a:pPr lvl="2"/>
            <a:r>
              <a:rPr lang="zh-CN" altLang="en-US" sz="2000" dirty="0"/>
              <a:t>单连通</a:t>
            </a:r>
            <a:endParaRPr lang="en-US" altLang="zh-CN" sz="2000" dirty="0"/>
          </a:p>
          <a:p>
            <a:pPr lvl="2"/>
            <a:r>
              <a:rPr lang="zh-CN" altLang="en-US" sz="2000" dirty="0"/>
              <a:t>复联通→留数定理</a:t>
            </a:r>
            <a:endParaRPr lang="en-US" altLang="zh-CN" sz="2000" dirty="0"/>
          </a:p>
          <a:p>
            <a:pPr lvl="1"/>
            <a:r>
              <a:rPr lang="zh-CN" altLang="en-US" sz="2400" dirty="0"/>
              <a:t>柯西公式</a:t>
            </a:r>
            <a:endParaRPr lang="en-US" altLang="zh-CN" sz="2400" dirty="0"/>
          </a:p>
          <a:p>
            <a:pPr lvl="2"/>
            <a:r>
              <a:rPr lang="zh-CN" altLang="en-US" sz="2000" dirty="0"/>
              <a:t>计算积分</a:t>
            </a:r>
            <a:endParaRPr lang="en-US" altLang="zh-CN" sz="2000" dirty="0"/>
          </a:p>
          <a:p>
            <a:pPr lvl="2"/>
            <a:r>
              <a:rPr lang="zh-CN" altLang="en-US" sz="2000" dirty="0"/>
              <a:t>厄米（拉盖尔）多项式母函数的证明</a:t>
            </a:r>
            <a:endParaRPr lang="en-US" altLang="zh-CN" sz="2000" dirty="0"/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级数</a:t>
            </a:r>
            <a:endParaRPr lang="en-US" altLang="zh-CN" sz="2800" dirty="0"/>
          </a:p>
          <a:p>
            <a:pPr lvl="1"/>
            <a:r>
              <a:rPr lang="zh-CN" altLang="en-US" sz="2400" dirty="0"/>
              <a:t>泰勒级数</a:t>
            </a:r>
            <a:endParaRPr lang="en-US" altLang="zh-CN" sz="2400" dirty="0"/>
          </a:p>
          <a:p>
            <a:pPr lvl="2"/>
            <a:r>
              <a:rPr lang="zh-CN" altLang="en-US" sz="2000" dirty="0"/>
              <a:t>幂（多值性），指数，对数，</a:t>
            </a:r>
            <a:endParaRPr lang="en-US" altLang="zh-CN" sz="2000" dirty="0"/>
          </a:p>
          <a:p>
            <a:pPr lvl="2"/>
            <a:r>
              <a:rPr lang="zh-CN" altLang="en-US" sz="2000" dirty="0"/>
              <a:t>三角函数，高斯函数，</a:t>
            </a:r>
            <a:r>
              <a:rPr lang="en-US" altLang="zh-CN" sz="2000" dirty="0" err="1"/>
              <a:t>sinc</a:t>
            </a:r>
            <a:r>
              <a:rPr lang="zh-CN" altLang="en-US" sz="2000" dirty="0"/>
              <a:t>函数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FFFF00"/>
                </a:solidFill>
              </a:rPr>
              <a:t>及其变体</a:t>
            </a:r>
            <a:endParaRPr lang="en-US" altLang="zh-CN" sz="2000" dirty="0">
              <a:solidFill>
                <a:srgbClr val="FFFF00"/>
              </a:solidFill>
            </a:endParaRPr>
          </a:p>
          <a:p>
            <a:pPr lvl="1"/>
            <a:r>
              <a:rPr lang="zh-CN" altLang="en-US" sz="2400" dirty="0"/>
              <a:t>洛朗级数：</a:t>
            </a:r>
            <a:endParaRPr lang="en-US" altLang="zh-CN" sz="2400" dirty="0"/>
          </a:p>
          <a:p>
            <a:pPr lvl="2"/>
            <a:r>
              <a:rPr lang="zh-CN" altLang="en-US" sz="2000" dirty="0"/>
              <a:t>等比级数</a:t>
            </a:r>
            <a:r>
              <a:rPr lang="zh-CN" altLang="en-US" sz="2000" dirty="0">
                <a:solidFill>
                  <a:srgbClr val="FFFF00"/>
                </a:solidFill>
              </a:rPr>
              <a:t>及其变体</a:t>
            </a:r>
            <a:endParaRPr lang="en-US" altLang="zh-CN" sz="2000" dirty="0">
              <a:solidFill>
                <a:srgbClr val="FFFF00"/>
              </a:solidFill>
            </a:endParaRPr>
          </a:p>
          <a:p>
            <a:pPr lvl="1"/>
            <a:r>
              <a:rPr lang="zh-CN" altLang="en-US" sz="2400" dirty="0"/>
              <a:t>奇点分类：可去、极点、本性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6D19B4-B677-4F56-9B05-2F0EBA40A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6644"/>
            <a:ext cx="4338437" cy="1814536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351203-4B3A-4164-B11A-7D93DF79D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742418"/>
              </p:ext>
            </p:extLst>
          </p:nvPr>
        </p:nvGraphicFramePr>
        <p:xfrm>
          <a:off x="5140505" y="3907660"/>
          <a:ext cx="3693037" cy="229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4" imgW="2349360" imgH="1460160" progId="Equation.DSMT4">
                  <p:embed/>
                </p:oleObj>
              </mc:Choice>
              <mc:Fallback>
                <p:oleObj name="Equation" r:id="rId4" imgW="2349360" imgH="1460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0505" y="3907660"/>
                        <a:ext cx="3693037" cy="2296495"/>
                      </a:xfrm>
                      <a:prstGeom prst="rect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05692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8177B-66D5-49F0-8295-FE7DD8C5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64" y="113071"/>
            <a:ext cx="7772400" cy="624348"/>
          </a:xfrm>
        </p:spPr>
        <p:txBody>
          <a:bodyPr/>
          <a:lstStyle/>
          <a:p>
            <a:r>
              <a:rPr lang="zh-CN" altLang="en-US" dirty="0"/>
              <a:t>留数定理：</a:t>
            </a:r>
            <a:endParaRPr lang="en-US" altLang="zh-CN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C1217EE-85C9-49F5-B9A0-8FAA8248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93" y="908720"/>
            <a:ext cx="2637224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lang="en-US" altLang="zh-CN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.</a:t>
            </a:r>
            <a:r>
              <a:rPr lang="zh-CN" altLang="en-US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有理分式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E463976-E639-494D-8E33-D48BAA99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506417"/>
            <a:ext cx="5472608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.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三角函数（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0,2π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E9E58CF-9107-4A85-A76A-FAE19B8D6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40" y="1697172"/>
            <a:ext cx="4084736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F(x)e</a:t>
            </a:r>
            <a:r>
              <a:rPr lang="en-US" altLang="zh-CN" sz="3600" b="1" baseline="3000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imx</a:t>
            </a:r>
            <a:endParaRPr kumimoji="1" lang="en-US" altLang="zh-CN" sz="3600" b="1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58E8F1-053E-430C-9ACE-2D666F1853C4}"/>
              </a:ext>
            </a:extLst>
          </p:cNvPr>
          <p:cNvSpPr/>
          <p:nvPr/>
        </p:nvSpPr>
        <p:spPr>
          <a:xfrm>
            <a:off x="2841097" y="1439438"/>
            <a:ext cx="1633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(-</a:t>
            </a:r>
            <a:r>
              <a:rPr lang="zh-CN" altLang="en-US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∞</a:t>
            </a:r>
            <a:r>
              <a:rPr lang="en-US" altLang="zh-CN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,+</a:t>
            </a:r>
            <a:r>
              <a:rPr lang="zh-CN" altLang="en-US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∞</a:t>
            </a:r>
            <a:r>
              <a:rPr lang="en-US" altLang="zh-CN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) </a:t>
            </a:r>
          </a:p>
        </p:txBody>
      </p:sp>
      <p:grpSp>
        <p:nvGrpSpPr>
          <p:cNvPr id="8" name="Group 40">
            <a:extLst>
              <a:ext uri="{FF2B5EF4-FFF2-40B4-BE49-F238E27FC236}">
                <a16:creationId xmlns:a16="http://schemas.microsoft.com/office/drawing/2014/main" id="{8C81BA4D-59F9-4F49-AB28-2FAD27885B36}"/>
              </a:ext>
            </a:extLst>
          </p:cNvPr>
          <p:cNvGrpSpPr>
            <a:grpSpLocks/>
          </p:cNvGrpSpPr>
          <p:nvPr/>
        </p:nvGrpSpPr>
        <p:grpSpPr bwMode="auto">
          <a:xfrm>
            <a:off x="5796136" y="175119"/>
            <a:ext cx="2046109" cy="1899634"/>
            <a:chOff x="3643" y="2496"/>
            <a:chExt cx="1652" cy="1440"/>
          </a:xfrm>
        </p:grpSpPr>
        <p:sp>
          <p:nvSpPr>
            <p:cNvPr id="9" name="Oval 29">
              <a:extLst>
                <a:ext uri="{FF2B5EF4-FFF2-40B4-BE49-F238E27FC236}">
                  <a16:creationId xmlns:a16="http://schemas.microsoft.com/office/drawing/2014/main" id="{3400AC3D-C53C-4E1C-8218-459AF64CD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1152" cy="110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Rectangle 30">
              <a:extLst>
                <a:ext uri="{FF2B5EF4-FFF2-40B4-BE49-F238E27FC236}">
                  <a16:creationId xmlns:a16="http://schemas.microsoft.com/office/drawing/2014/main" id="{E0F2BC6B-B85A-4DB9-A4D3-F1AA90F11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200" cy="52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83B6571B-70B4-4A50-BF30-ECF0E3621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408"/>
              <a:ext cx="14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31">
              <a:extLst>
                <a:ext uri="{FF2B5EF4-FFF2-40B4-BE49-F238E27FC236}">
                  <a16:creationId xmlns:a16="http://schemas.microsoft.com/office/drawing/2014/main" id="{2C124688-D80D-4BFC-BE77-73546FC94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4" y="2976"/>
              <a:ext cx="96" cy="14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32">
              <a:extLst>
                <a:ext uri="{FF2B5EF4-FFF2-40B4-BE49-F238E27FC236}">
                  <a16:creationId xmlns:a16="http://schemas.microsoft.com/office/drawing/2014/main" id="{B95D82F7-BA1D-4D94-9AC2-C7C90F60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168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4" name="Object 33">
              <a:extLst>
                <a:ext uri="{FF2B5EF4-FFF2-40B4-BE49-F238E27FC236}">
                  <a16:creationId xmlns:a16="http://schemas.microsoft.com/office/drawing/2014/main" id="{BF94DF94-3416-4C11-A12C-B1E2D91E37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2880"/>
            <a:ext cx="314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公式" r:id="rId3" imgW="91440" imgH="152290" progId="Equation.3">
                    <p:embed/>
                  </p:oleObj>
                </mc:Choice>
                <mc:Fallback>
                  <p:oleObj name="公式" r:id="rId3" imgW="91440" imgH="152290" progId="Equation.3">
                    <p:embed/>
                    <p:pic>
                      <p:nvPicPr>
                        <p:cNvPr id="13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880"/>
                          <a:ext cx="314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34">
              <a:extLst>
                <a:ext uri="{FF2B5EF4-FFF2-40B4-BE49-F238E27FC236}">
                  <a16:creationId xmlns:a16="http://schemas.microsoft.com/office/drawing/2014/main" id="{C2FEBC5E-D7DE-4A63-8710-C53B9EB05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120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Oval 35">
              <a:extLst>
                <a:ext uri="{FF2B5EF4-FFF2-40B4-BE49-F238E27FC236}">
                  <a16:creationId xmlns:a16="http://schemas.microsoft.com/office/drawing/2014/main" id="{05375743-2EF4-4A68-AFF0-442E56400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36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Text Box 36">
              <a:extLst>
                <a:ext uri="{FF2B5EF4-FFF2-40B4-BE49-F238E27FC236}">
                  <a16:creationId xmlns:a16="http://schemas.microsoft.com/office/drawing/2014/main" id="{4A926412-B313-4924-9E1C-F5D10EED6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312"/>
              <a:ext cx="29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0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panose="02040602050305030304" pitchFamily="18" charset="0"/>
                  <a:ea typeface="楷体_GB2312" pitchFamily="49" charset="-122"/>
                  <a:cs typeface="+mn-cs"/>
                </a:rPr>
                <a:t>o</a:t>
              </a:r>
              <a:endPara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8" name="Text Box 37">
              <a:extLst>
                <a:ext uri="{FF2B5EF4-FFF2-40B4-BE49-F238E27FC236}">
                  <a16:creationId xmlns:a16="http://schemas.microsoft.com/office/drawing/2014/main" id="{BDBA9C31-0BEA-4710-B3C4-519F486FE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" y="3446"/>
              <a:ext cx="4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panose="02040602050305030304" pitchFamily="18" charset="0"/>
                  <a:ea typeface="楷体_GB2312" pitchFamily="49" charset="-122"/>
                  <a:cs typeface="+mn-cs"/>
                </a:rPr>
                <a:t>-R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9" name="Text Box 38">
              <a:extLst>
                <a:ext uri="{FF2B5EF4-FFF2-40B4-BE49-F238E27FC236}">
                  <a16:creationId xmlns:a16="http://schemas.microsoft.com/office/drawing/2014/main" id="{8EDA37EC-C876-464B-8A45-20AD69E07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4" y="3408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panose="02040602050305030304" pitchFamily="18" charset="0"/>
                  <a:ea typeface="楷体_GB2312" pitchFamily="49" charset="-122"/>
                  <a:cs typeface="+mn-cs"/>
                </a:rPr>
                <a:t>R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0" name="Text Box 39">
              <a:extLst>
                <a:ext uri="{FF2B5EF4-FFF2-40B4-BE49-F238E27FC236}">
                  <a16:creationId xmlns:a16="http://schemas.microsoft.com/office/drawing/2014/main" id="{EBB1D7F9-EF61-4202-A403-CE7FAB582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panose="02040602050305030304" pitchFamily="18" charset="0"/>
                  <a:ea typeface="楷体_GB2312" pitchFamily="49" charset="-122"/>
                  <a:cs typeface="+mn-cs"/>
                </a:rPr>
                <a:t>C</a:t>
              </a:r>
              <a:r>
                <a:rPr kumimoji="1" lang="en-US" altLang="zh-CN" sz="3200" b="1" i="1" u="none" strike="noStrike" kern="120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ook Antiqua" panose="02040602050305030304" pitchFamily="18" charset="0"/>
                  <a:ea typeface="楷体_GB2312" pitchFamily="49" charset="-122"/>
                  <a:cs typeface="+mn-cs"/>
                </a:rPr>
                <a:t>R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21" name="Oval 29">
            <a:extLst>
              <a:ext uri="{FF2B5EF4-FFF2-40B4-BE49-F238E27FC236}">
                <a16:creationId xmlns:a16="http://schemas.microsoft.com/office/drawing/2014/main" id="{1BA55AB7-9BB4-441F-AED1-5C602B7E8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453" y="2264716"/>
            <a:ext cx="1426827" cy="1456386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2DB63128-875C-4329-A928-8641A9543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40" y="3532405"/>
            <a:ext cx="657201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4.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实轴上有奇点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（单极点！）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30C4C43-F8EC-4C35-9556-589774B23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50" y="4437112"/>
            <a:ext cx="3163103" cy="214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3537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/>
      <p:bldP spid="6" grpId="0" build="p" autoUpdateAnimBg="0"/>
      <p:bldP spid="2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D777B-3CFB-413C-B003-2E7B1604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34297"/>
            <a:ext cx="7772400" cy="5761703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傅里叶变换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）傅里叶级数→分离变量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）傅里叶变换：附录一（</a:t>
            </a:r>
            <a:r>
              <a:rPr lang="en-US" altLang="zh-CN" dirty="0"/>
              <a:t>1-19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高斯函数，</a:t>
            </a:r>
            <a:r>
              <a:rPr lang="en-US" altLang="zh-CN" dirty="0" err="1"/>
              <a:t>sinc</a:t>
            </a:r>
            <a:r>
              <a:rPr lang="zh-CN" altLang="en-US" dirty="0"/>
              <a:t>函数，</a:t>
            </a:r>
            <a:r>
              <a:rPr lang="en-US" altLang="zh-CN" dirty="0"/>
              <a:t>exp</a:t>
            </a:r>
            <a:r>
              <a:rPr lang="zh-CN" altLang="en-US" dirty="0"/>
              <a:t>（</a:t>
            </a:r>
            <a:r>
              <a:rPr lang="en-US" altLang="zh-CN" dirty="0"/>
              <a:t>-</a:t>
            </a:r>
            <a:r>
              <a:rPr lang="en-US" altLang="zh-CN" dirty="0" err="1"/>
              <a:t>a|x</a:t>
            </a:r>
            <a:r>
              <a:rPr lang="en-US" altLang="zh-CN" dirty="0"/>
              <a:t>|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拉普拉斯变换</a:t>
            </a:r>
            <a:endParaRPr lang="en-US" altLang="zh-CN" dirty="0"/>
          </a:p>
          <a:p>
            <a:pPr lvl="1"/>
            <a:r>
              <a:rPr lang="zh-CN" altLang="en-US" dirty="0"/>
              <a:t>常系数微分方程求解</a:t>
            </a:r>
            <a:endParaRPr lang="en-US" altLang="zh-CN" dirty="0"/>
          </a:p>
          <a:p>
            <a:pPr lvl="2"/>
            <a:r>
              <a:rPr lang="zh-CN" altLang="en-US" dirty="0"/>
              <a:t>耦合方程：</a:t>
            </a:r>
            <a:r>
              <a:rPr lang="en-US" altLang="zh-CN" dirty="0" err="1"/>
              <a:t>P102</a:t>
            </a: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 err="1"/>
              <a:t>P103</a:t>
            </a:r>
            <a:r>
              <a:rPr lang="en-US" altLang="zh-CN" dirty="0"/>
              <a:t> 1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计算积分：</a:t>
            </a:r>
            <a:r>
              <a:rPr lang="en-US" altLang="zh-CN" dirty="0" err="1"/>
              <a:t>P104</a:t>
            </a:r>
            <a:r>
              <a:rPr lang="en-US" altLang="zh-CN" dirty="0"/>
              <a:t> 12</a:t>
            </a:r>
          </a:p>
        </p:txBody>
      </p:sp>
    </p:spTree>
    <p:extLst>
      <p:ext uri="{BB962C8B-B14F-4D97-AF65-F5344CB8AC3E}">
        <p14:creationId xmlns:p14="http://schemas.microsoft.com/office/powerpoint/2010/main" val="2065564735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96552" y="-99392"/>
            <a:ext cx="10297144" cy="1143000"/>
          </a:xfrm>
        </p:spPr>
        <p:txBody>
          <a:bodyPr/>
          <a:lstStyle/>
          <a:p>
            <a:r>
              <a:rPr lang="zh-CN" altLang="en-US" sz="4000" dirty="0"/>
              <a:t>求解微分方程的步骤（非常重要！！！）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43608"/>
            <a:ext cx="8280920" cy="5562872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建立微分方程（三种微分方程的形式）</a:t>
            </a:r>
            <a:endParaRPr lang="en-US" altLang="zh-CN" dirty="0"/>
          </a:p>
          <a:p>
            <a:pPr lvl="1"/>
            <a:r>
              <a:rPr lang="zh-CN" altLang="en-US" dirty="0"/>
              <a:t>波动，输运，定态方程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行波法：</a:t>
            </a:r>
            <a:endParaRPr lang="en-US" altLang="zh-CN" dirty="0"/>
          </a:p>
          <a:p>
            <a:pPr lvl="1"/>
            <a:r>
              <a:rPr lang="zh-CN" altLang="en-US" dirty="0"/>
              <a:t>达朗贝尔公式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分离系数：</a:t>
            </a:r>
            <a:endParaRPr lang="en-US" altLang="zh-CN" dirty="0"/>
          </a:p>
          <a:p>
            <a:pPr lvl="1"/>
            <a:r>
              <a:rPr lang="zh-CN" altLang="en-US" dirty="0"/>
              <a:t>有初等函数解的方程</a:t>
            </a:r>
            <a:endParaRPr lang="en-US" altLang="zh-CN" dirty="0"/>
          </a:p>
          <a:p>
            <a:pPr lvl="2"/>
            <a:r>
              <a:rPr lang="zh-CN" altLang="en-US" dirty="0"/>
              <a:t>常系数、欧拉方程</a:t>
            </a:r>
            <a:endParaRPr lang="en-US" altLang="zh-CN" dirty="0"/>
          </a:p>
          <a:p>
            <a:pPr lvl="1"/>
            <a:r>
              <a:rPr lang="zh-CN" altLang="en-US" dirty="0"/>
              <a:t>三角函数解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下弧形箭头 3"/>
          <p:cNvSpPr/>
          <p:nvPr/>
        </p:nvSpPr>
        <p:spPr bwMode="auto">
          <a:xfrm rot="16200000">
            <a:off x="3265141" y="3737087"/>
            <a:ext cx="2074605" cy="539113"/>
          </a:xfrm>
          <a:prstGeom prst="curvedUpArrow">
            <a:avLst>
              <a:gd name="adj1" fmla="val 19661"/>
              <a:gd name="adj2" fmla="val 50000"/>
              <a:gd name="adj3" fmla="val 25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0D81C9-5699-44CE-A815-2486D185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20" y="2526890"/>
            <a:ext cx="4191900" cy="31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94752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57C8C-9D19-451F-8019-5DE5B08F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502" y="437535"/>
            <a:ext cx="8428703" cy="4114800"/>
          </a:xfrm>
        </p:spPr>
        <p:txBody>
          <a:bodyPr/>
          <a:lstStyle/>
          <a:p>
            <a:r>
              <a:rPr lang="zh-CN" altLang="en-US" dirty="0"/>
              <a:t>分离系数法进阶版</a:t>
            </a:r>
            <a:endParaRPr lang="en-US" altLang="zh-CN" dirty="0"/>
          </a:p>
          <a:p>
            <a:pPr lvl="1"/>
            <a:r>
              <a:rPr lang="zh-CN" altLang="en-US" dirty="0"/>
              <a:t>直接坐标系：平面波</a:t>
            </a:r>
            <a:endParaRPr lang="en-US" altLang="zh-CN" dirty="0"/>
          </a:p>
          <a:p>
            <a:pPr lvl="1"/>
            <a:r>
              <a:rPr lang="zh-CN" altLang="en-US" dirty="0"/>
              <a:t>球、柱坐标的形式：拉普拉斯算符展开式</a:t>
            </a:r>
            <a:endParaRPr lang="en-US" altLang="zh-CN" dirty="0"/>
          </a:p>
          <a:p>
            <a:pPr lvl="1"/>
            <a:r>
              <a:rPr lang="zh-CN" altLang="en-US" dirty="0"/>
              <a:t>分离系数的过程</a:t>
            </a:r>
            <a:endParaRPr lang="en-US" altLang="zh-CN" dirty="0"/>
          </a:p>
          <a:p>
            <a:pPr lvl="2"/>
            <a:r>
              <a:rPr lang="en-US" altLang="zh-CN" dirty="0" err="1"/>
              <a:t>P189</a:t>
            </a:r>
            <a:endParaRPr lang="en-US" altLang="zh-CN" dirty="0"/>
          </a:p>
          <a:p>
            <a:pPr lvl="2"/>
            <a:r>
              <a:rPr lang="zh-CN" altLang="en-US" dirty="0"/>
              <a:t>薛定谔方程的分离系数：要求把能解的部分解出来</a:t>
            </a:r>
            <a:endParaRPr lang="en-US" altLang="zh-CN" dirty="0"/>
          </a:p>
          <a:p>
            <a:pPr lvl="2"/>
            <a:r>
              <a:rPr lang="zh-CN" altLang="en-US" dirty="0"/>
              <a:t>空间旋转不变性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求解常微分方程：</a:t>
            </a:r>
            <a:endParaRPr lang="en-US" altLang="zh-CN" dirty="0"/>
          </a:p>
          <a:p>
            <a:pPr lvl="1"/>
            <a:r>
              <a:rPr lang="zh-CN" altLang="en-US" dirty="0"/>
              <a:t>解析解：三角函数（常系数），欧拉方程</a:t>
            </a:r>
            <a:endParaRPr lang="en-US" altLang="zh-CN" dirty="0"/>
          </a:p>
          <a:p>
            <a:pPr lvl="1"/>
            <a:r>
              <a:rPr lang="zh-CN" altLang="en-US" dirty="0"/>
              <a:t>常点领域：</a:t>
            </a:r>
            <a:endParaRPr lang="en-US" altLang="zh-CN" dirty="0"/>
          </a:p>
          <a:p>
            <a:pPr lvl="2"/>
            <a:r>
              <a:rPr lang="zh-CN" altLang="en-US" dirty="0"/>
              <a:t>勒让德方程</a:t>
            </a:r>
            <a:endParaRPr lang="en-US" altLang="zh-CN" dirty="0"/>
          </a:p>
          <a:p>
            <a:pPr lvl="2"/>
            <a:r>
              <a:rPr lang="zh-CN" altLang="en-US" dirty="0"/>
              <a:t>厄米方程</a:t>
            </a:r>
            <a:endParaRPr lang="en-US" altLang="zh-CN" dirty="0"/>
          </a:p>
          <a:p>
            <a:pPr lvl="1"/>
            <a:r>
              <a:rPr lang="zh-CN" altLang="en-US" strike="dblStrike" dirty="0"/>
              <a:t>奇点邻域：贝塞尔方程</a:t>
            </a:r>
            <a:endParaRPr lang="en-US" altLang="zh-CN" strike="dblStrike" dirty="0"/>
          </a:p>
          <a:p>
            <a:pPr lvl="2"/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864709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583" y="727576"/>
            <a:ext cx="7772400" cy="5187280"/>
          </a:xfrm>
        </p:spPr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边界条件：</a:t>
            </a:r>
            <a:endParaRPr lang="en-US" altLang="zh-CN" dirty="0"/>
          </a:p>
          <a:p>
            <a:pPr lvl="1"/>
            <a:r>
              <a:rPr lang="zh-CN" altLang="en-US" dirty="0"/>
              <a:t>球坐标系：</a:t>
            </a:r>
            <a:endParaRPr lang="en-US" altLang="zh-CN" dirty="0"/>
          </a:p>
          <a:p>
            <a:pPr lvl="2"/>
            <a:r>
              <a:rPr lang="zh-CN" altLang="en-US" dirty="0"/>
              <a:t>轴对称球函数</a:t>
            </a:r>
            <a:endParaRPr lang="en-US" altLang="zh-CN" dirty="0"/>
          </a:p>
          <a:p>
            <a:pPr lvl="2"/>
            <a:r>
              <a:rPr lang="zh-CN" altLang="en-US" dirty="0"/>
              <a:t>勒让德函数</a:t>
            </a:r>
            <a:r>
              <a:rPr lang="en-US" altLang="zh-CN" dirty="0"/>
              <a:t>-</a:t>
            </a:r>
            <a:r>
              <a:rPr lang="zh-CN" altLang="en-US" dirty="0"/>
              <a:t>连带勒让德函数</a:t>
            </a:r>
            <a:endParaRPr lang="en-US" altLang="zh-CN" dirty="0"/>
          </a:p>
          <a:p>
            <a:pPr lvl="3"/>
            <a:r>
              <a:rPr lang="zh-CN" altLang="en-US" dirty="0"/>
              <a:t>微分形式</a:t>
            </a:r>
            <a:endParaRPr lang="en-US" altLang="zh-CN" dirty="0"/>
          </a:p>
          <a:p>
            <a:pPr lvl="2"/>
            <a:r>
              <a:rPr lang="zh-CN" altLang="en-US" dirty="0"/>
              <a:t>球谐函数</a:t>
            </a:r>
            <a:endParaRPr lang="en-US" altLang="zh-CN" dirty="0"/>
          </a:p>
          <a:p>
            <a:pPr lvl="2"/>
            <a:r>
              <a:rPr lang="zh-CN" altLang="en-US" dirty="0"/>
              <a:t>球贝塞尔函数</a:t>
            </a:r>
            <a:endParaRPr lang="en-US" altLang="zh-CN" dirty="0"/>
          </a:p>
          <a:p>
            <a:pPr lvl="3"/>
            <a:r>
              <a:rPr lang="zh-CN" altLang="en-US" dirty="0"/>
              <a:t>球对称球贝塞尔函数</a:t>
            </a:r>
            <a:endParaRPr lang="en-US" altLang="zh-CN" dirty="0"/>
          </a:p>
          <a:p>
            <a:pPr lvl="3"/>
            <a:r>
              <a:rPr lang="zh-CN" altLang="en-US" dirty="0"/>
              <a:t>零阶球贝塞尔函数：</a:t>
            </a:r>
            <a:r>
              <a:rPr lang="en-US" altLang="zh-CN" dirty="0" err="1"/>
              <a:t>sinc</a:t>
            </a:r>
            <a:endParaRPr lang="en-US" altLang="zh-CN" dirty="0"/>
          </a:p>
          <a:p>
            <a:pPr lvl="1"/>
            <a:r>
              <a:rPr lang="zh-CN" altLang="en-US" dirty="0"/>
              <a:t>柱坐标系：贝塞尔函数</a:t>
            </a:r>
            <a:endParaRPr lang="en-US" altLang="zh-CN" dirty="0"/>
          </a:p>
          <a:p>
            <a:pPr lvl="2"/>
            <a:r>
              <a:rPr lang="en-US" altLang="zh-CN" strike="dblStrike" dirty="0"/>
              <a:t>1. </a:t>
            </a:r>
            <a:r>
              <a:rPr lang="zh-CN" altLang="en-US" strike="dblStrike" dirty="0"/>
              <a:t>柱面齐次边界条件：</a:t>
            </a:r>
            <a:r>
              <a:rPr lang="en-US" altLang="zh-CN" strike="dblStrike" dirty="0"/>
              <a:t>×</a:t>
            </a:r>
          </a:p>
          <a:p>
            <a:pPr lvl="2"/>
            <a:r>
              <a:rPr lang="en-US" altLang="zh-CN" dirty="0"/>
              <a:t>2. </a:t>
            </a:r>
            <a:r>
              <a:rPr lang="zh-CN" altLang="en-US" dirty="0"/>
              <a:t>底面齐次边界条件：最简单的情况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右大括号 4"/>
          <p:cNvSpPr/>
          <p:nvPr/>
        </p:nvSpPr>
        <p:spPr bwMode="auto">
          <a:xfrm>
            <a:off x="5688124" y="1563458"/>
            <a:ext cx="360040" cy="3028207"/>
          </a:xfrm>
          <a:prstGeom prst="rightBrace">
            <a:avLst>
              <a:gd name="adj1" fmla="val 36111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83640" y="1997006"/>
            <a:ext cx="25156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lumMod val="40000"/>
                    <a:lumOff val="6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解要求记下来，要求可以带入齐次边界条件，做简单求解。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94761" y="2923161"/>
            <a:ext cx="6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60CFF117-DFC2-46D8-87C7-70EA771D8E0B}"/>
              </a:ext>
            </a:extLst>
          </p:cNvPr>
          <p:cNvSpPr/>
          <p:nvPr/>
        </p:nvSpPr>
        <p:spPr bwMode="auto">
          <a:xfrm>
            <a:off x="3202112" y="854006"/>
            <a:ext cx="1547847" cy="30255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F79A91-12FA-47CA-9A4E-F0FB78E537D2}"/>
              </a:ext>
            </a:extLst>
          </p:cNvPr>
          <p:cNvSpPr txBox="1"/>
          <p:nvPr/>
        </p:nvSpPr>
        <p:spPr>
          <a:xfrm>
            <a:off x="5045398" y="727576"/>
            <a:ext cx="329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广义傅里叶变换</a:t>
            </a:r>
          </a:p>
        </p:txBody>
      </p:sp>
    </p:spTree>
    <p:extLst>
      <p:ext uri="{BB962C8B-B14F-4D97-AF65-F5344CB8AC3E}">
        <p14:creationId xmlns:p14="http://schemas.microsoft.com/office/powerpoint/2010/main" val="667079237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430AD-288C-4A49-ACBA-1932463AD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" y="693174"/>
            <a:ext cx="7772400" cy="4114800"/>
          </a:xfrm>
        </p:spPr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函数空间</a:t>
            </a:r>
            <a:r>
              <a:rPr lang="en-US" altLang="zh-CN" dirty="0"/>
              <a:t>-</a:t>
            </a:r>
            <a:r>
              <a:rPr lang="zh-CN" altLang="en-US" dirty="0"/>
              <a:t>矩阵解法：</a:t>
            </a:r>
            <a:endParaRPr lang="en-US" altLang="zh-CN" dirty="0"/>
          </a:p>
          <a:p>
            <a:pPr lvl="1"/>
            <a:r>
              <a:rPr lang="zh-CN" altLang="en-US" dirty="0"/>
              <a:t>狄拉克符号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矩阵解法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B8A468-9021-4F29-AEED-5489C6715A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896348"/>
              </p:ext>
            </p:extLst>
          </p:nvPr>
        </p:nvGraphicFramePr>
        <p:xfrm>
          <a:off x="1576875" y="1902820"/>
          <a:ext cx="3417302" cy="631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1511280" imgH="279360" progId="Equation.DSMT4">
                  <p:embed/>
                </p:oleObj>
              </mc:Choice>
              <mc:Fallback>
                <p:oleObj name="Equation" r:id="rId3" imgW="1511280" imgH="279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6875" y="1902820"/>
                        <a:ext cx="3417302" cy="631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4716193-5305-41E7-975E-4790E3E15C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677106"/>
              </p:ext>
            </p:extLst>
          </p:nvPr>
        </p:nvGraphicFramePr>
        <p:xfrm>
          <a:off x="1576875" y="3429000"/>
          <a:ext cx="270033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5" imgW="1193760" imgH="228600" progId="Equation.DSMT4">
                  <p:embed/>
                </p:oleObj>
              </mc:Choice>
              <mc:Fallback>
                <p:oleObj name="Equation" r:id="rId5" imgW="1193760" imgH="2286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6875" y="3429000"/>
                        <a:ext cx="2700338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9">
            <a:extLst>
              <a:ext uri="{FF2B5EF4-FFF2-40B4-BE49-F238E27FC236}">
                <a16:creationId xmlns:a16="http://schemas.microsoft.com/office/drawing/2014/main" id="{625EDC99-0ADC-4368-8F8C-166AE4DFCF3F}"/>
              </a:ext>
            </a:extLst>
          </p:cNvPr>
          <p:cNvSpPr/>
          <p:nvPr/>
        </p:nvSpPr>
        <p:spPr bwMode="auto">
          <a:xfrm>
            <a:off x="1086302" y="4938649"/>
            <a:ext cx="2232248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560AF7-D4AA-40F4-A41C-A2E9FD49BF11}"/>
              </a:ext>
            </a:extLst>
          </p:cNvPr>
          <p:cNvSpPr txBox="1"/>
          <p:nvPr/>
        </p:nvSpPr>
        <p:spPr>
          <a:xfrm>
            <a:off x="3401058" y="4807974"/>
            <a:ext cx="3708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如：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32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的波函数</a:t>
            </a:r>
          </a:p>
        </p:txBody>
      </p:sp>
    </p:spTree>
    <p:extLst>
      <p:ext uri="{BB962C8B-B14F-4D97-AF65-F5344CB8AC3E}">
        <p14:creationId xmlns:p14="http://schemas.microsoft.com/office/powerpoint/2010/main" val="2392683423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436</Words>
  <Application>Microsoft Office PowerPoint</Application>
  <PresentationFormat>全屏显示(4:3)</PresentationFormat>
  <Paragraphs>86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楷体_GB2312</vt:lpstr>
      <vt:lpstr>宋体</vt:lpstr>
      <vt:lpstr>Arial</vt:lpstr>
      <vt:lpstr>Book Antiqua</vt:lpstr>
      <vt:lpstr>Symbol</vt:lpstr>
      <vt:lpstr>Times New Roman</vt:lpstr>
      <vt:lpstr>默认设计模板</vt:lpstr>
      <vt:lpstr>Equation</vt:lpstr>
      <vt:lpstr>MathType 6.0 Equation</vt:lpstr>
      <vt:lpstr>公式</vt:lpstr>
      <vt:lpstr>PowerPoint 演示文稿</vt:lpstr>
      <vt:lpstr>PowerPoint 演示文稿</vt:lpstr>
      <vt:lpstr>PowerPoint 演示文稿</vt:lpstr>
      <vt:lpstr>PowerPoint 演示文稿</vt:lpstr>
      <vt:lpstr>求解微分方程的步骤（非常重要！！！）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8</cp:revision>
  <dcterms:created xsi:type="dcterms:W3CDTF">2023-06-03T10:59:27Z</dcterms:created>
  <dcterms:modified xsi:type="dcterms:W3CDTF">2023-06-03T11:56:44Z</dcterms:modified>
</cp:coreProperties>
</file>