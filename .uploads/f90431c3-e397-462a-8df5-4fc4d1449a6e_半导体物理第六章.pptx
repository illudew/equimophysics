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85" r:id="rId3"/>
    <p:sldId id="459" r:id="rId4"/>
    <p:sldId id="460" r:id="rId6"/>
    <p:sldId id="315" r:id="rId7"/>
    <p:sldId id="461" r:id="rId8"/>
    <p:sldId id="314" r:id="rId9"/>
    <p:sldId id="316" r:id="rId10"/>
    <p:sldId id="348" r:id="rId11"/>
    <p:sldId id="351" r:id="rId12"/>
    <p:sldId id="352" r:id="rId13"/>
    <p:sldId id="353" r:id="rId14"/>
    <p:sldId id="462" r:id="rId15"/>
    <p:sldId id="463" r:id="rId16"/>
    <p:sldId id="350" r:id="rId17"/>
    <p:sldId id="354" r:id="rId18"/>
    <p:sldId id="355" r:id="rId19"/>
    <p:sldId id="347" r:id="rId20"/>
    <p:sldId id="357" r:id="rId21"/>
    <p:sldId id="349" r:id="rId22"/>
    <p:sldId id="359" r:id="rId23"/>
    <p:sldId id="360" r:id="rId24"/>
    <p:sldId id="361" r:id="rId25"/>
    <p:sldId id="362" r:id="rId26"/>
    <p:sldId id="363" r:id="rId27"/>
    <p:sldId id="386" r:id="rId28"/>
    <p:sldId id="297" r:id="rId29"/>
    <p:sldId id="300" r:id="rId30"/>
    <p:sldId id="301" r:id="rId31"/>
    <p:sldId id="305" r:id="rId32"/>
    <p:sldId id="345" r:id="rId33"/>
    <p:sldId id="322" r:id="rId34"/>
    <p:sldId id="332" r:id="rId35"/>
    <p:sldId id="333" r:id="rId36"/>
    <p:sldId id="346" r:id="rId37"/>
    <p:sldId id="387" r:id="rId38"/>
    <p:sldId id="388" r:id="rId39"/>
    <p:sldId id="389" r:id="rId40"/>
    <p:sldId id="323" r:id="rId41"/>
    <p:sldId id="327" r:id="rId42"/>
    <p:sldId id="392" r:id="rId43"/>
    <p:sldId id="287" r:id="rId44"/>
    <p:sldId id="258" r:id="rId45"/>
    <p:sldId id="259" r:id="rId46"/>
    <p:sldId id="288" r:id="rId47"/>
    <p:sldId id="289" r:id="rId48"/>
    <p:sldId id="290" r:id="rId49"/>
    <p:sldId id="291" r:id="rId50"/>
    <p:sldId id="292" r:id="rId51"/>
    <p:sldId id="295" r:id="rId52"/>
    <p:sldId id="294" r:id="rId53"/>
    <p:sldId id="293" r:id="rId54"/>
    <p:sldId id="299" r:id="rId55"/>
    <p:sldId id="298" r:id="rId56"/>
    <p:sldId id="318" r:id="rId57"/>
    <p:sldId id="393" r:id="rId58"/>
    <p:sldId id="296" r:id="rId59"/>
    <p:sldId id="260" r:id="rId60"/>
    <p:sldId id="394" r:id="rId61"/>
    <p:sldId id="395" r:id="rId62"/>
    <p:sldId id="319" r:id="rId63"/>
    <p:sldId id="396" r:id="rId64"/>
    <p:sldId id="302" r:id="rId65"/>
    <p:sldId id="309" r:id="rId66"/>
    <p:sldId id="308" r:id="rId67"/>
    <p:sldId id="307" r:id="rId68"/>
    <p:sldId id="310" r:id="rId69"/>
    <p:sldId id="306" r:id="rId70"/>
    <p:sldId id="397" r:id="rId71"/>
    <p:sldId id="398" r:id="rId72"/>
    <p:sldId id="313" r:id="rId73"/>
    <p:sldId id="317" r:id="rId74"/>
    <p:sldId id="312" r:id="rId75"/>
    <p:sldId id="311" r:id="rId76"/>
    <p:sldId id="399" r:id="rId77"/>
    <p:sldId id="400" r:id="rId78"/>
    <p:sldId id="321" r:id="rId79"/>
    <p:sldId id="365" r:id="rId80"/>
    <p:sldId id="358" r:id="rId81"/>
    <p:sldId id="369" r:id="rId82"/>
    <p:sldId id="368" r:id="rId83"/>
    <p:sldId id="370" r:id="rId84"/>
    <p:sldId id="371" r:id="rId85"/>
    <p:sldId id="367" r:id="rId86"/>
    <p:sldId id="372" r:id="rId87"/>
    <p:sldId id="374" r:id="rId88"/>
    <p:sldId id="381" r:id="rId89"/>
    <p:sldId id="382" r:id="rId90"/>
    <p:sldId id="383" r:id="rId91"/>
    <p:sldId id="384" r:id="rId92"/>
    <p:sldId id="385" r:id="rId9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636" autoAdjust="0"/>
    <p:restoredTop sz="94660"/>
  </p:normalViewPr>
  <p:slideViewPr>
    <p:cSldViewPr snapToGrid="0">
      <p:cViewPr varScale="1">
        <p:scale>
          <a:sx n="93" d="100"/>
          <a:sy n="93" d="100"/>
        </p:scale>
        <p:origin x="365"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6" Type="http://schemas.openxmlformats.org/officeDocument/2006/relationships/tableStyles" Target="tableStyles.xml"/><Relationship Id="rId95" Type="http://schemas.openxmlformats.org/officeDocument/2006/relationships/viewProps" Target="viewProps.xml"/><Relationship Id="rId94" Type="http://schemas.openxmlformats.org/officeDocument/2006/relationships/presProps" Target="presProps.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notesMaster" Target="notesMasters/notesMaster1.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2.vml.rels><?xml version="1.0" encoding="UTF-8" standalone="yes"?>
<Relationships xmlns="http://schemas.openxmlformats.org/package/2006/relationships"><Relationship Id="rId9" Type="http://schemas.openxmlformats.org/officeDocument/2006/relationships/image" Target="../media/image30.wmf"/><Relationship Id="rId8" Type="http://schemas.openxmlformats.org/officeDocument/2006/relationships/image" Target="../media/image29.wmf"/><Relationship Id="rId7" Type="http://schemas.openxmlformats.org/officeDocument/2006/relationships/image" Target="../media/image28.wmf"/><Relationship Id="rId6" Type="http://schemas.openxmlformats.org/officeDocument/2006/relationships/image" Target="../media/image27.wmf"/><Relationship Id="rId5" Type="http://schemas.openxmlformats.org/officeDocument/2006/relationships/image" Target="../media/image26.wmf"/><Relationship Id="rId4" Type="http://schemas.openxmlformats.org/officeDocument/2006/relationships/image" Target="../media/image25.wmf"/><Relationship Id="rId3" Type="http://schemas.openxmlformats.org/officeDocument/2006/relationships/image" Target="../media/image24.wmf"/><Relationship Id="rId2" Type="http://schemas.openxmlformats.org/officeDocument/2006/relationships/image" Target="../media/image23.wmf"/><Relationship Id="rId11" Type="http://schemas.openxmlformats.org/officeDocument/2006/relationships/image" Target="../media/image32.wmf"/><Relationship Id="rId10" Type="http://schemas.openxmlformats.org/officeDocument/2006/relationships/image" Target="../media/image31.wmf"/><Relationship Id="rId1" Type="http://schemas.openxmlformats.org/officeDocument/2006/relationships/image" Target="../media/image22.wmf"/></Relationships>
</file>

<file path=ppt/drawings/_rels/vmlDrawing3.vml.rels><?xml version="1.0" encoding="UTF-8" standalone="yes"?>
<Relationships xmlns="http://schemas.openxmlformats.org/package/2006/relationships"><Relationship Id="rId6" Type="http://schemas.openxmlformats.org/officeDocument/2006/relationships/image" Target="../media/image38.wmf"/><Relationship Id="rId5" Type="http://schemas.openxmlformats.org/officeDocument/2006/relationships/image" Target="../media/image37.wmf"/><Relationship Id="rId4" Type="http://schemas.openxmlformats.org/officeDocument/2006/relationships/image" Target="../media/image36.wmf"/><Relationship Id="rId3" Type="http://schemas.openxmlformats.org/officeDocument/2006/relationships/image" Target="../media/image35.wmf"/><Relationship Id="rId2" Type="http://schemas.openxmlformats.org/officeDocument/2006/relationships/image" Target="../media/image34.wmf"/><Relationship Id="rId1" Type="http://schemas.openxmlformats.org/officeDocument/2006/relationships/image" Target="../media/image33.wmf"/></Relationships>
</file>

<file path=ppt/drawings/_rels/vmlDrawing4.vml.rels><?xml version="1.0" encoding="UTF-8" standalone="yes"?>
<Relationships xmlns="http://schemas.openxmlformats.org/package/2006/relationships"><Relationship Id="rId9" Type="http://schemas.openxmlformats.org/officeDocument/2006/relationships/image" Target="../media/image47.wmf"/><Relationship Id="rId8" Type="http://schemas.openxmlformats.org/officeDocument/2006/relationships/image" Target="../media/image46.wmf"/><Relationship Id="rId7" Type="http://schemas.openxmlformats.org/officeDocument/2006/relationships/image" Target="../media/image45.wmf"/><Relationship Id="rId6" Type="http://schemas.openxmlformats.org/officeDocument/2006/relationships/image" Target="../media/image44.wmf"/><Relationship Id="rId5" Type="http://schemas.openxmlformats.org/officeDocument/2006/relationships/image" Target="../media/image43.wmf"/><Relationship Id="rId4" Type="http://schemas.openxmlformats.org/officeDocument/2006/relationships/image" Target="../media/image42.wmf"/><Relationship Id="rId3" Type="http://schemas.openxmlformats.org/officeDocument/2006/relationships/image" Target="../media/image41.wmf"/><Relationship Id="rId2" Type="http://schemas.openxmlformats.org/officeDocument/2006/relationships/image" Target="../media/image40.wmf"/><Relationship Id="rId1" Type="http://schemas.openxmlformats.org/officeDocument/2006/relationships/image" Target="../media/image39.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46.wmf"/></Relationships>
</file>

<file path=ppt/drawings/_rels/vmlDrawing6.vml.rels><?xml version="1.0" encoding="UTF-8" standalone="yes"?>
<Relationships xmlns="http://schemas.openxmlformats.org/package/2006/relationships"><Relationship Id="rId9" Type="http://schemas.openxmlformats.org/officeDocument/2006/relationships/image" Target="../media/image55.wmf"/><Relationship Id="rId8" Type="http://schemas.openxmlformats.org/officeDocument/2006/relationships/image" Target="../media/image54.wmf"/><Relationship Id="rId7" Type="http://schemas.openxmlformats.org/officeDocument/2006/relationships/image" Target="../media/image53.wmf"/><Relationship Id="rId6" Type="http://schemas.openxmlformats.org/officeDocument/2006/relationships/image" Target="../media/image52.wmf"/><Relationship Id="rId5" Type="http://schemas.openxmlformats.org/officeDocument/2006/relationships/image" Target="../media/image51.wmf"/><Relationship Id="rId4" Type="http://schemas.openxmlformats.org/officeDocument/2006/relationships/image" Target="../media/image50.wmf"/><Relationship Id="rId3" Type="http://schemas.openxmlformats.org/officeDocument/2006/relationships/image" Target="../media/image49.wmf"/><Relationship Id="rId2" Type="http://schemas.openxmlformats.org/officeDocument/2006/relationships/image" Target="../media/image48.wmf"/><Relationship Id="rId10" Type="http://schemas.openxmlformats.org/officeDocument/2006/relationships/image" Target="../media/image57.wmf"/><Relationship Id="rId1" Type="http://schemas.openxmlformats.org/officeDocument/2006/relationships/image" Target="../media/image23.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59.wmf"/></Relationships>
</file>

<file path=ppt/drawings/_rels/vmlDrawing8.vml.rels><?xml version="1.0" encoding="UTF-8" standalone="yes"?>
<Relationships xmlns="http://schemas.openxmlformats.org/package/2006/relationships"><Relationship Id="rId4" Type="http://schemas.openxmlformats.org/officeDocument/2006/relationships/image" Target="../media/image69.wmf"/><Relationship Id="rId3" Type="http://schemas.openxmlformats.org/officeDocument/2006/relationships/image" Target="../media/image68.wmf"/><Relationship Id="rId2" Type="http://schemas.openxmlformats.org/officeDocument/2006/relationships/image" Target="../media/image67.wmf"/><Relationship Id="rId1" Type="http://schemas.openxmlformats.org/officeDocument/2006/relationships/image" Target="../media/image66.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73.wmf"/><Relationship Id="rId2" Type="http://schemas.openxmlformats.org/officeDocument/2006/relationships/image" Target="../media/image72.wmf"/><Relationship Id="rId1" Type="http://schemas.openxmlformats.org/officeDocument/2006/relationships/image" Target="../media/image71.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79.wmf"/><Relationship Id="rId1" Type="http://schemas.openxmlformats.org/officeDocument/2006/relationships/image" Target="../media/image78.wmf"/></Relationships>
</file>

<file path=ppt/drawings/_rels/vmlDrawing11.vml.rels><?xml version="1.0" encoding="UTF-8" standalone="yes"?>
<Relationships xmlns="http://schemas.openxmlformats.org/package/2006/relationships"><Relationship Id="rId6" Type="http://schemas.openxmlformats.org/officeDocument/2006/relationships/image" Target="../media/image90.wmf"/><Relationship Id="rId5" Type="http://schemas.openxmlformats.org/officeDocument/2006/relationships/image" Target="../media/image89.wmf"/><Relationship Id="rId4" Type="http://schemas.openxmlformats.org/officeDocument/2006/relationships/image" Target="../media/image88.wmf"/><Relationship Id="rId3" Type="http://schemas.openxmlformats.org/officeDocument/2006/relationships/image" Target="../media/image87.wmf"/><Relationship Id="rId2" Type="http://schemas.openxmlformats.org/officeDocument/2006/relationships/image" Target="../media/image86.wmf"/><Relationship Id="rId1" Type="http://schemas.openxmlformats.org/officeDocument/2006/relationships/image" Target="../media/image85.wmf"/></Relationships>
</file>

<file path=ppt/drawings/_rels/vmlDrawing12.vml.rels><?xml version="1.0" encoding="UTF-8" standalone="yes"?>
<Relationships xmlns="http://schemas.openxmlformats.org/package/2006/relationships"><Relationship Id="rId8" Type="http://schemas.openxmlformats.org/officeDocument/2006/relationships/image" Target="../media/image101.wmf"/><Relationship Id="rId7" Type="http://schemas.openxmlformats.org/officeDocument/2006/relationships/image" Target="../media/image100.wmf"/><Relationship Id="rId6" Type="http://schemas.openxmlformats.org/officeDocument/2006/relationships/image" Target="../media/image99.wmf"/><Relationship Id="rId5" Type="http://schemas.openxmlformats.org/officeDocument/2006/relationships/image" Target="../media/image23.wmf"/><Relationship Id="rId4" Type="http://schemas.openxmlformats.org/officeDocument/2006/relationships/image" Target="../media/image98.wmf"/><Relationship Id="rId3" Type="http://schemas.openxmlformats.org/officeDocument/2006/relationships/image" Target="../media/image97.wmf"/><Relationship Id="rId2" Type="http://schemas.openxmlformats.org/officeDocument/2006/relationships/image" Target="../media/image94.wmf"/><Relationship Id="rId1" Type="http://schemas.openxmlformats.org/officeDocument/2006/relationships/image" Target="../media/image93.wmf"/></Relationships>
</file>

<file path=ppt/drawings/_rels/vmlDrawing13.vml.rels><?xml version="1.0" encoding="UTF-8" standalone="yes"?>
<Relationships xmlns="http://schemas.openxmlformats.org/package/2006/relationships"><Relationship Id="rId4" Type="http://schemas.openxmlformats.org/officeDocument/2006/relationships/image" Target="../media/image182.wmf"/><Relationship Id="rId3" Type="http://schemas.openxmlformats.org/officeDocument/2006/relationships/image" Target="../media/image181.wmf"/><Relationship Id="rId2" Type="http://schemas.openxmlformats.org/officeDocument/2006/relationships/image" Target="../media/image180.wmf"/><Relationship Id="rId1" Type="http://schemas.openxmlformats.org/officeDocument/2006/relationships/image" Target="../media/image179.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185.wmf"/><Relationship Id="rId2" Type="http://schemas.openxmlformats.org/officeDocument/2006/relationships/image" Target="../media/image184.wmf"/><Relationship Id="rId1" Type="http://schemas.openxmlformats.org/officeDocument/2006/relationships/image" Target="../media/image183.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188.wmf"/><Relationship Id="rId2" Type="http://schemas.openxmlformats.org/officeDocument/2006/relationships/image" Target="../media/image187.wmf"/><Relationship Id="rId1" Type="http://schemas.openxmlformats.org/officeDocument/2006/relationships/image" Target="../media/image18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96DC41-DF20-4A2D-8701-327A3C019D29}"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FA60FF2-0D68-478C-8DFB-B09151FC1EA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p:nvPr>
            <p:ph type="sldNum" sz="quarter" idx="2"/>
          </p:nvPr>
        </p:nvSpPr>
        <p:spPr/>
        <p:txBody>
          <a:bodyPr/>
          <a:p>
            <a:pPr lvl="0" algn="r"/>
            <a:fld id="{9A0DB2DC-4C9A-4742-B13C-FB6460FD3503}" type="slidenum">
              <a:rPr lang="zh-CN" altLang="en-US" sz="1200" dirty="0"/>
            </a:fld>
            <a:endParaRPr lang="zh-CN" altLang="en-US" sz="1200" dirty="0"/>
          </a:p>
        </p:txBody>
      </p:sp>
      <p:sp>
        <p:nvSpPr>
          <p:cNvPr id="5122" name="幻灯片图像占位符 5121"/>
          <p:cNvSpPr>
            <a:spLocks noRot="1" noTextEdit="1"/>
          </p:cNvSpPr>
          <p:nvPr>
            <p:ph type="sldImg"/>
          </p:nvPr>
        </p:nvSpPr>
        <p:spPr/>
      </p:sp>
      <p:sp>
        <p:nvSpPr>
          <p:cNvPr id="5123" name="文本占位符 5122"/>
          <p:cNvSpPr>
            <a:spLocks noGrp="1"/>
          </p:cNvSpPr>
          <p:nvPr>
            <p:ph type="body" idx="1"/>
          </p:nvPr>
        </p:nvSpPr>
        <p:spPr>
          <a:xfrm>
            <a:off x="914400" y="4343400"/>
            <a:ext cx="5029200" cy="4114800"/>
          </a:xfrm>
        </p:spPr>
        <p:txBody>
          <a:bodyPr/>
          <a:p>
            <a:pPr lvl="0"/>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ED29C589-9DE6-46A1-9AC8-05965A75FDCF}"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290818" name="Rectangle 2"/>
          <p:cNvSpPr>
            <a:spLocks noGrp="1" noRot="1" noChangeAspect="1" noChangeArrowheads="1" noTextEdit="1"/>
          </p:cNvSpPr>
          <p:nvPr>
            <p:ph type="sldImg"/>
          </p:nvPr>
        </p:nvSpPr>
        <p:spPr>
          <a:xfrm>
            <a:off x="1144588" y="685800"/>
            <a:ext cx="4572000" cy="3429000"/>
          </a:xfrm>
        </p:spPr>
      </p:sp>
      <p:sp>
        <p:nvSpPr>
          <p:cNvPr id="290819" name="Rectangle 3"/>
          <p:cNvSpPr>
            <a:spLocks noGrp="1" noChangeArrowheads="1"/>
          </p:cNvSpPr>
          <p:nvPr>
            <p:ph type="body" idx="1"/>
          </p:nvPr>
        </p:nvSpPr>
        <p:spPr/>
        <p:txBody>
          <a:bodyPr/>
          <a:lstStyle/>
          <a:p>
            <a:r>
              <a:rPr lang="en-US" altLang="zh-CN">
                <a:ea typeface="宋体" panose="02010600030101010101" pitchFamily="2" charset="-122"/>
              </a:rPr>
              <a:t>Content Layouts</a:t>
            </a:r>
            <a:endParaRPr lang="en-US" altLang="zh-CN">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p:nvPr>
            <p:ph type="sldNum" sz="quarter" idx="2"/>
          </p:nvPr>
        </p:nvSpPr>
        <p:spPr/>
        <p:txBody>
          <a:bodyPr/>
          <a:p>
            <a:pPr lvl="0" algn="r"/>
            <a:fld id="{9A0DB2DC-4C9A-4742-B13C-FB6460FD3503}" type="slidenum">
              <a:rPr lang="zh-CN" altLang="en-US" sz="1200" dirty="0"/>
            </a:fld>
            <a:endParaRPr lang="zh-CN" altLang="en-US" sz="1200" dirty="0"/>
          </a:p>
        </p:txBody>
      </p:sp>
      <p:sp>
        <p:nvSpPr>
          <p:cNvPr id="10242" name="幻灯片图像占位符 10241"/>
          <p:cNvSpPr>
            <a:spLocks noRot="1" noTextEdit="1"/>
          </p:cNvSpPr>
          <p:nvPr>
            <p:ph type="sldImg"/>
          </p:nvPr>
        </p:nvSpPr>
        <p:spPr/>
      </p:sp>
      <p:sp>
        <p:nvSpPr>
          <p:cNvPr id="10243" name="文本占位符 10242"/>
          <p:cNvSpPr>
            <a:spLocks noGrp="1"/>
          </p:cNvSpPr>
          <p:nvPr>
            <p:ph type="body" idx="1"/>
          </p:nvPr>
        </p:nvSpPr>
        <p:spPr>
          <a:xfrm>
            <a:off x="914400" y="4343400"/>
            <a:ext cx="5029200" cy="4114800"/>
          </a:xfrm>
        </p:spPr>
        <p:txBody>
          <a:bodyPr/>
          <a:p>
            <a:pPr lvl="0"/>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p:nvPr>
            <p:ph type="sldNum" sz="quarter" idx="2"/>
          </p:nvPr>
        </p:nvSpPr>
        <p:spPr/>
        <p:txBody>
          <a:bodyPr/>
          <a:p>
            <a:pPr lvl="0" algn="r"/>
            <a:fld id="{9A0DB2DC-4C9A-4742-B13C-FB6460FD3503}" type="slidenum">
              <a:rPr lang="zh-CN" altLang="en-US" sz="1200" dirty="0"/>
            </a:fld>
            <a:endParaRPr lang="zh-CN" altLang="en-US" sz="1200" dirty="0"/>
          </a:p>
        </p:txBody>
      </p:sp>
      <p:sp>
        <p:nvSpPr>
          <p:cNvPr id="12290" name="幻灯片图像占位符 12289"/>
          <p:cNvSpPr>
            <a:spLocks noRot="1" noTextEdit="1"/>
          </p:cNvSpPr>
          <p:nvPr>
            <p:ph type="sldImg"/>
          </p:nvPr>
        </p:nvSpPr>
        <p:spPr/>
      </p:sp>
      <p:sp>
        <p:nvSpPr>
          <p:cNvPr id="12291" name="文本占位符 12290"/>
          <p:cNvSpPr>
            <a:spLocks noGrp="1"/>
          </p:cNvSpPr>
          <p:nvPr>
            <p:ph type="body" idx="1"/>
          </p:nvPr>
        </p:nvSpPr>
        <p:spPr>
          <a:xfrm>
            <a:off x="914400" y="4343400"/>
            <a:ext cx="5029200" cy="4114800"/>
          </a:xfrm>
        </p:spPr>
        <p:txBody>
          <a:bodyPr/>
          <a:p>
            <a:pPr lvl="0"/>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471255C2-2E8C-4CA6-B142-6E3C3B70A941}" type="slidenum">
              <a:rPr lang="zh-CN" altLang="en-US"/>
            </a:fld>
            <a:endParaRPr lang="en-US" altLang="zh-CN"/>
          </a:p>
        </p:txBody>
      </p:sp>
      <p:sp>
        <p:nvSpPr>
          <p:cNvPr id="53250" name="Rectangle 2"/>
          <p:cNvSpPr>
            <a:spLocks noGrp="1" noRot="1" noChangeAspect="1" noChangeArrowheads="1" noTextEdit="1"/>
          </p:cNvSpPr>
          <p:nvPr>
            <p:ph type="sldImg"/>
          </p:nvPr>
        </p:nvSpPr>
        <p:spPr>
          <a:xfrm>
            <a:off x="1144588" y="685800"/>
            <a:ext cx="4572000" cy="3429000"/>
          </a:xfrm>
        </p:spPr>
      </p:sp>
      <p:sp>
        <p:nvSpPr>
          <p:cNvPr id="53251" name="Rectangle 3"/>
          <p:cNvSpPr>
            <a:spLocks noGrp="1" noChangeArrowheads="1"/>
          </p:cNvSpPr>
          <p:nvPr>
            <p:ph type="body" idx="1"/>
          </p:nvPr>
        </p:nvSpPr>
        <p:spPr/>
        <p:txBody>
          <a:bodyPr/>
          <a:lstStyle/>
          <a:p>
            <a:r>
              <a:rPr lang="en-US" altLang="zh-CN">
                <a:ea typeface="宋体" panose="02010600030101010101" pitchFamily="2" charset="-122"/>
              </a:rPr>
              <a:t>Content Layouts</a:t>
            </a:r>
            <a:endParaRPr lang="en-US" altLang="zh-CN">
              <a:ea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039A9050-B2CB-4AD9-9BFF-8A41304E7498}" type="slidenum">
              <a:rPr lang="zh-CN" altLang="en-US"/>
            </a:fld>
            <a:endParaRPr lang="en-US" altLang="zh-CN"/>
          </a:p>
        </p:txBody>
      </p:sp>
      <p:sp>
        <p:nvSpPr>
          <p:cNvPr id="56322" name="Rectangle 2"/>
          <p:cNvSpPr>
            <a:spLocks noGrp="1" noRot="1" noChangeAspect="1" noChangeArrowheads="1" noTextEdit="1"/>
          </p:cNvSpPr>
          <p:nvPr>
            <p:ph type="sldImg"/>
          </p:nvPr>
        </p:nvSpPr>
        <p:spPr>
          <a:xfrm>
            <a:off x="1144588" y="685800"/>
            <a:ext cx="4572000" cy="3429000"/>
          </a:xfrm>
        </p:spPr>
      </p:sp>
      <p:sp>
        <p:nvSpPr>
          <p:cNvPr id="56323" name="Rectangle 3"/>
          <p:cNvSpPr>
            <a:spLocks noGrp="1" noChangeArrowheads="1"/>
          </p:cNvSpPr>
          <p:nvPr>
            <p:ph type="body" idx="1"/>
          </p:nvPr>
        </p:nvSpPr>
        <p:spPr/>
        <p:txBody>
          <a:bodyPr/>
          <a:lstStyle/>
          <a:p>
            <a:r>
              <a:rPr lang="en-US" altLang="zh-CN">
                <a:ea typeface="宋体" panose="02010600030101010101" pitchFamily="2" charset="-122"/>
              </a:rPr>
              <a:t>Content Layouts</a:t>
            </a:r>
            <a:endParaRPr lang="en-US" altLang="zh-CN">
              <a:ea typeface="宋体"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9D844840-816E-4878-A76E-69868DBD7795}" type="slidenum">
              <a:rPr lang="zh-CN" altLang="en-US"/>
            </a:fld>
            <a:endParaRPr lang="en-US" altLang="zh-CN"/>
          </a:p>
        </p:txBody>
      </p:sp>
      <p:sp>
        <p:nvSpPr>
          <p:cNvPr id="58370" name="Rectangle 2"/>
          <p:cNvSpPr>
            <a:spLocks noGrp="1" noRot="1" noChangeAspect="1" noChangeArrowheads="1" noTextEdit="1"/>
          </p:cNvSpPr>
          <p:nvPr>
            <p:ph type="sldImg"/>
          </p:nvPr>
        </p:nvSpPr>
        <p:spPr>
          <a:xfrm>
            <a:off x="382588" y="685800"/>
            <a:ext cx="6096000" cy="3429000"/>
          </a:xfrm>
        </p:spPr>
      </p:sp>
      <p:sp>
        <p:nvSpPr>
          <p:cNvPr id="58371" name="Rectangle 3"/>
          <p:cNvSpPr>
            <a:spLocks noGrp="1" noChangeArrowheads="1"/>
          </p:cNvSpPr>
          <p:nvPr>
            <p:ph type="body" idx="1"/>
          </p:nvPr>
        </p:nvSpPr>
        <p:spPr/>
        <p:txBody>
          <a:bodyPr/>
          <a:lstStyle/>
          <a:p>
            <a:r>
              <a:rPr lang="en-US" altLang="zh-CN">
                <a:ea typeface="宋体" panose="02010600030101010101" pitchFamily="2" charset="-122"/>
              </a:rPr>
              <a:t>Content Layouts</a:t>
            </a:r>
            <a:endParaRPr lang="en-US" altLang="zh-CN">
              <a:ea typeface="宋体" panose="02010600030101010101"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A2001416-46B2-4D3F-842A-CD36965B4078}" type="slidenum">
              <a:rPr lang="zh-CN" altLang="en-US"/>
            </a:fld>
            <a:endParaRPr lang="en-US" altLang="zh-CN"/>
          </a:p>
        </p:txBody>
      </p:sp>
      <p:sp>
        <p:nvSpPr>
          <p:cNvPr id="11266" name="Rectangle 2"/>
          <p:cNvSpPr>
            <a:spLocks noGrp="1" noRot="1" noChangeAspect="1" noChangeArrowheads="1" noTextEdit="1"/>
          </p:cNvSpPr>
          <p:nvPr>
            <p:ph type="sldImg"/>
          </p:nvPr>
        </p:nvSpPr>
        <p:spPr>
          <a:xfrm>
            <a:off x="1144588" y="685800"/>
            <a:ext cx="4572000" cy="3429000"/>
          </a:xfrm>
        </p:spPr>
      </p:sp>
      <p:sp>
        <p:nvSpPr>
          <p:cNvPr id="11267" name="Rectangle 3"/>
          <p:cNvSpPr>
            <a:spLocks noGrp="1" noChangeArrowheads="1"/>
          </p:cNvSpPr>
          <p:nvPr>
            <p:ph type="body" idx="1"/>
          </p:nvPr>
        </p:nvSpPr>
        <p:spPr/>
        <p:txBody>
          <a:bodyPr/>
          <a:lstStyle/>
          <a:p>
            <a:r>
              <a:rPr lang="en-US" altLang="zh-CN">
                <a:ea typeface="宋体" panose="02010600030101010101" pitchFamily="2" charset="-122"/>
              </a:rPr>
              <a:t>Content Layouts</a:t>
            </a:r>
            <a:endParaRPr lang="en-US" altLang="zh-CN">
              <a:ea typeface="宋体" panose="02010600030101010101"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48122378-7779-4C9E-B6DF-1A4F92BB9CAB}" type="slidenum">
              <a:rPr lang="zh-CN" altLang="en-US"/>
            </a:fld>
            <a:endParaRPr lang="en-US" altLang="zh-CN"/>
          </a:p>
        </p:txBody>
      </p:sp>
      <p:sp>
        <p:nvSpPr>
          <p:cNvPr id="67586" name="Rectangle 2"/>
          <p:cNvSpPr>
            <a:spLocks noGrp="1" noRot="1" noChangeAspect="1" noChangeArrowheads="1" noTextEdit="1"/>
          </p:cNvSpPr>
          <p:nvPr>
            <p:ph type="sldImg"/>
          </p:nvPr>
        </p:nvSpPr>
        <p:spPr>
          <a:xfrm>
            <a:off x="1144588" y="685800"/>
            <a:ext cx="4572000" cy="3429000"/>
          </a:xfrm>
        </p:spPr>
      </p:sp>
      <p:sp>
        <p:nvSpPr>
          <p:cNvPr id="67587" name="Rectangle 3"/>
          <p:cNvSpPr>
            <a:spLocks noGrp="1" noChangeArrowheads="1"/>
          </p:cNvSpPr>
          <p:nvPr>
            <p:ph type="body" idx="1"/>
          </p:nvPr>
        </p:nvSpPr>
        <p:spPr/>
        <p:txBody>
          <a:bodyPr/>
          <a:lstStyle/>
          <a:p>
            <a:r>
              <a:rPr lang="en-US" altLang="zh-CN">
                <a:ea typeface="宋体" panose="02010600030101010101" pitchFamily="2" charset="-122"/>
              </a:rPr>
              <a:t>Content Layouts</a:t>
            </a:r>
            <a:endParaRPr lang="en-US" altLang="zh-CN">
              <a:ea typeface="宋体"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8FE99849-DF10-427F-B832-9BE5ADB9F461}" type="slidenum">
              <a:rPr lang="zh-CN" altLang="en-US"/>
            </a:fld>
            <a:endParaRPr lang="en-US" altLang="zh-CN"/>
          </a:p>
        </p:txBody>
      </p:sp>
      <p:sp>
        <p:nvSpPr>
          <p:cNvPr id="77826" name="Rectangle 2"/>
          <p:cNvSpPr>
            <a:spLocks noGrp="1" noRot="1" noChangeAspect="1" noChangeArrowheads="1" noTextEdit="1"/>
          </p:cNvSpPr>
          <p:nvPr>
            <p:ph type="sldImg"/>
          </p:nvPr>
        </p:nvSpPr>
        <p:spPr>
          <a:xfrm>
            <a:off x="1144588" y="685800"/>
            <a:ext cx="4572000" cy="3429000"/>
          </a:xfrm>
        </p:spPr>
      </p:sp>
      <p:sp>
        <p:nvSpPr>
          <p:cNvPr id="77827" name="Rectangle 3"/>
          <p:cNvSpPr>
            <a:spLocks noGrp="1" noChangeArrowheads="1"/>
          </p:cNvSpPr>
          <p:nvPr>
            <p:ph type="body" idx="1"/>
          </p:nvPr>
        </p:nvSpPr>
        <p:spPr/>
        <p:txBody>
          <a:bodyPr/>
          <a:lstStyle/>
          <a:p>
            <a:r>
              <a:rPr lang="en-US" altLang="zh-CN">
                <a:ea typeface="宋体" panose="02010600030101010101" pitchFamily="2" charset="-122"/>
              </a:rPr>
              <a:t>Content Layouts</a:t>
            </a:r>
            <a:endParaRPr lang="en-US" altLang="zh-CN">
              <a:ea typeface="宋体" panose="02010600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567BC567-3269-44E4-9483-38D294D5A64A}" type="slidenum">
              <a:rPr lang="zh-CN" altLang="en-US"/>
            </a:fld>
            <a:endParaRPr lang="en-US" altLang="zh-CN"/>
          </a:p>
        </p:txBody>
      </p:sp>
      <p:sp>
        <p:nvSpPr>
          <p:cNvPr id="108546" name="Rectangle 2"/>
          <p:cNvSpPr>
            <a:spLocks noGrp="1" noRot="1" noChangeAspect="1" noChangeArrowheads="1" noTextEdit="1"/>
          </p:cNvSpPr>
          <p:nvPr>
            <p:ph type="sldImg"/>
          </p:nvPr>
        </p:nvSpPr>
        <p:spPr>
          <a:xfrm>
            <a:off x="1144588" y="685800"/>
            <a:ext cx="4572000" cy="3429000"/>
          </a:xfrm>
        </p:spPr>
      </p:sp>
      <p:sp>
        <p:nvSpPr>
          <p:cNvPr id="108547" name="Rectangle 3"/>
          <p:cNvSpPr>
            <a:spLocks noGrp="1" noChangeArrowheads="1"/>
          </p:cNvSpPr>
          <p:nvPr>
            <p:ph type="body" idx="1"/>
          </p:nvPr>
        </p:nvSpPr>
        <p:spPr/>
        <p:txBody>
          <a:bodyPr/>
          <a:lstStyle/>
          <a:p>
            <a:r>
              <a:rPr lang="en-US" altLang="zh-CN">
                <a:ea typeface="宋体" panose="02010600030101010101" pitchFamily="2" charset="-122"/>
              </a:rPr>
              <a:t>Content Layouts</a:t>
            </a:r>
            <a:endParaRPr lang="en-US" altLang="zh-CN">
              <a:ea typeface="宋体" panose="02010600030101010101" pitchFamily="2"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A3587233-B594-43BA-983C-FF381BA0406E}" type="slidenum">
              <a:rPr lang="zh-CN" altLang="en-US"/>
            </a:fld>
            <a:endParaRPr lang="en-US" altLang="zh-CN"/>
          </a:p>
        </p:txBody>
      </p:sp>
      <p:sp>
        <p:nvSpPr>
          <p:cNvPr id="110594" name="Rectangle 2"/>
          <p:cNvSpPr>
            <a:spLocks noGrp="1" noRot="1" noChangeAspect="1" noChangeArrowheads="1" noTextEdit="1"/>
          </p:cNvSpPr>
          <p:nvPr>
            <p:ph type="sldImg"/>
          </p:nvPr>
        </p:nvSpPr>
        <p:spPr>
          <a:xfrm>
            <a:off x="1144588" y="685800"/>
            <a:ext cx="4572000" cy="3429000"/>
          </a:xfrm>
        </p:spPr>
      </p:sp>
      <p:sp>
        <p:nvSpPr>
          <p:cNvPr id="110595" name="Rectangle 3"/>
          <p:cNvSpPr>
            <a:spLocks noGrp="1" noChangeArrowheads="1"/>
          </p:cNvSpPr>
          <p:nvPr>
            <p:ph type="body" idx="1"/>
          </p:nvPr>
        </p:nvSpPr>
        <p:spPr/>
        <p:txBody>
          <a:bodyPr/>
          <a:lstStyle/>
          <a:p>
            <a:r>
              <a:rPr lang="en-US" altLang="zh-CN">
                <a:ea typeface="宋体" panose="02010600030101010101" pitchFamily="2" charset="-122"/>
              </a:rPr>
              <a:t>Content Layouts</a:t>
            </a:r>
            <a:endParaRPr lang="en-US" altLang="zh-CN">
              <a:ea typeface="宋体" panose="02010600030101010101" pitchFamily="2"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86184671-AD85-41EB-AB5D-C0CF7AA0FDDD}" type="slidenum">
              <a:rPr lang="zh-CN" altLang="en-US"/>
            </a:fld>
            <a:endParaRPr lang="en-US" altLang="zh-CN"/>
          </a:p>
        </p:txBody>
      </p:sp>
      <p:sp>
        <p:nvSpPr>
          <p:cNvPr id="71682" name="Rectangle 2"/>
          <p:cNvSpPr>
            <a:spLocks noGrp="1" noRot="1" noChangeAspect="1" noChangeArrowheads="1" noTextEdit="1"/>
          </p:cNvSpPr>
          <p:nvPr>
            <p:ph type="sldImg"/>
          </p:nvPr>
        </p:nvSpPr>
        <p:spPr>
          <a:xfrm>
            <a:off x="382588" y="685800"/>
            <a:ext cx="6096000" cy="3429000"/>
          </a:xfrm>
        </p:spPr>
      </p:sp>
      <p:sp>
        <p:nvSpPr>
          <p:cNvPr id="71683" name="Rectangle 3"/>
          <p:cNvSpPr>
            <a:spLocks noGrp="1" noChangeArrowheads="1"/>
          </p:cNvSpPr>
          <p:nvPr>
            <p:ph type="body" idx="1"/>
          </p:nvPr>
        </p:nvSpPr>
        <p:spPr/>
        <p:txBody>
          <a:bodyPr/>
          <a:lstStyle/>
          <a:p>
            <a:r>
              <a:rPr lang="en-US" altLang="zh-CN">
                <a:ea typeface="宋体" panose="02010600030101010101" pitchFamily="2" charset="-122"/>
              </a:rPr>
              <a:t>Content Layouts</a:t>
            </a:r>
            <a:endParaRPr lang="en-US" altLang="zh-CN">
              <a:ea typeface="宋体" panose="02010600030101010101" pitchFamily="2"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BE81AF46-CF38-4FD1-A51E-0B237BF3B9B7}" type="slidenum">
              <a:rPr lang="zh-CN" altLang="en-US"/>
            </a:fld>
            <a:endParaRPr lang="en-US" altLang="zh-CN"/>
          </a:p>
        </p:txBody>
      </p:sp>
      <p:sp>
        <p:nvSpPr>
          <p:cNvPr id="86018" name="Rectangle 2"/>
          <p:cNvSpPr>
            <a:spLocks noGrp="1" noRot="1" noChangeAspect="1" noChangeArrowheads="1" noTextEdit="1"/>
          </p:cNvSpPr>
          <p:nvPr>
            <p:ph type="sldImg"/>
          </p:nvPr>
        </p:nvSpPr>
        <p:spPr>
          <a:xfrm>
            <a:off x="1144588" y="685800"/>
            <a:ext cx="4572000" cy="3429000"/>
          </a:xfrm>
        </p:spPr>
      </p:sp>
      <p:sp>
        <p:nvSpPr>
          <p:cNvPr id="86019" name="Rectangle 3"/>
          <p:cNvSpPr>
            <a:spLocks noGrp="1" noChangeArrowheads="1"/>
          </p:cNvSpPr>
          <p:nvPr>
            <p:ph type="body" idx="1"/>
          </p:nvPr>
        </p:nvSpPr>
        <p:spPr/>
        <p:txBody>
          <a:bodyPr/>
          <a:lstStyle/>
          <a:p>
            <a:r>
              <a:rPr lang="en-US" altLang="zh-CN">
                <a:ea typeface="宋体" panose="02010600030101010101" pitchFamily="2" charset="-122"/>
              </a:rPr>
              <a:t>Content Layouts</a:t>
            </a:r>
            <a:endParaRPr lang="en-US" altLang="zh-CN">
              <a:ea typeface="宋体" panose="02010600030101010101" pitchFamily="2"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FEC7F33A-ED70-4D97-B956-90FBA0B07BBA}" type="slidenum">
              <a:rPr lang="zh-CN" altLang="en-US"/>
            </a:fld>
            <a:endParaRPr lang="en-US" altLang="zh-CN"/>
          </a:p>
        </p:txBody>
      </p:sp>
      <p:sp>
        <p:nvSpPr>
          <p:cNvPr id="83970" name="Rectangle 2"/>
          <p:cNvSpPr>
            <a:spLocks noGrp="1" noRot="1" noChangeAspect="1" noChangeArrowheads="1" noTextEdit="1"/>
          </p:cNvSpPr>
          <p:nvPr>
            <p:ph type="sldImg"/>
          </p:nvPr>
        </p:nvSpPr>
        <p:spPr>
          <a:xfrm>
            <a:off x="1144588" y="685800"/>
            <a:ext cx="4572000" cy="3429000"/>
          </a:xfrm>
        </p:spPr>
      </p:sp>
      <p:sp>
        <p:nvSpPr>
          <p:cNvPr id="83971" name="Rectangle 3"/>
          <p:cNvSpPr>
            <a:spLocks noGrp="1" noChangeArrowheads="1"/>
          </p:cNvSpPr>
          <p:nvPr>
            <p:ph type="body" idx="1"/>
          </p:nvPr>
        </p:nvSpPr>
        <p:spPr/>
        <p:txBody>
          <a:bodyPr/>
          <a:lstStyle/>
          <a:p>
            <a:r>
              <a:rPr lang="en-US" altLang="zh-CN">
                <a:ea typeface="宋体" panose="02010600030101010101" pitchFamily="2" charset="-122"/>
              </a:rPr>
              <a:t>Content Layouts</a:t>
            </a:r>
            <a:endParaRPr lang="en-US" altLang="zh-CN">
              <a:ea typeface="宋体" panose="02010600030101010101" pitchFamily="2"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14ED10D0-B53A-4108-B605-A1FB30D2F814}" type="slidenum">
              <a:rPr lang="zh-CN" altLang="en-US"/>
            </a:fld>
            <a:endParaRPr lang="en-US" altLang="zh-CN"/>
          </a:p>
        </p:txBody>
      </p:sp>
      <p:sp>
        <p:nvSpPr>
          <p:cNvPr id="81922" name="Rectangle 2"/>
          <p:cNvSpPr>
            <a:spLocks noGrp="1" noRot="1" noChangeAspect="1" noChangeArrowheads="1" noTextEdit="1"/>
          </p:cNvSpPr>
          <p:nvPr>
            <p:ph type="sldImg"/>
          </p:nvPr>
        </p:nvSpPr>
        <p:spPr>
          <a:xfrm>
            <a:off x="1144588" y="685800"/>
            <a:ext cx="4572000" cy="3429000"/>
          </a:xfrm>
        </p:spPr>
      </p:sp>
      <p:sp>
        <p:nvSpPr>
          <p:cNvPr id="81923" name="Rectangle 3"/>
          <p:cNvSpPr>
            <a:spLocks noGrp="1" noChangeArrowheads="1"/>
          </p:cNvSpPr>
          <p:nvPr>
            <p:ph type="body" idx="1"/>
          </p:nvPr>
        </p:nvSpPr>
        <p:spPr/>
        <p:txBody>
          <a:bodyPr/>
          <a:lstStyle/>
          <a:p>
            <a:r>
              <a:rPr lang="en-US" altLang="zh-CN">
                <a:ea typeface="宋体" panose="02010600030101010101" pitchFamily="2" charset="-122"/>
              </a:rPr>
              <a:t>Content Layouts</a:t>
            </a:r>
            <a:endParaRPr lang="en-US" altLang="zh-CN">
              <a:ea typeface="宋体" panose="02010600030101010101" pitchFamily="2"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8F901E10-9DE8-4D3F-8E4C-30DD190FEA45}" type="slidenum">
              <a:rPr lang="zh-CN" altLang="en-US"/>
            </a:fld>
            <a:endParaRPr lang="en-US" altLang="zh-CN"/>
          </a:p>
        </p:txBody>
      </p:sp>
      <p:sp>
        <p:nvSpPr>
          <p:cNvPr id="79874" name="Rectangle 2"/>
          <p:cNvSpPr>
            <a:spLocks noGrp="1" noRot="1" noChangeAspect="1" noChangeArrowheads="1" noTextEdit="1"/>
          </p:cNvSpPr>
          <p:nvPr>
            <p:ph type="sldImg"/>
          </p:nvPr>
        </p:nvSpPr>
        <p:spPr>
          <a:xfrm>
            <a:off x="1144588" y="685800"/>
            <a:ext cx="4572000" cy="3429000"/>
          </a:xfrm>
        </p:spPr>
      </p:sp>
      <p:sp>
        <p:nvSpPr>
          <p:cNvPr id="79875" name="Rectangle 3"/>
          <p:cNvSpPr>
            <a:spLocks noGrp="1" noChangeArrowheads="1"/>
          </p:cNvSpPr>
          <p:nvPr>
            <p:ph type="body" idx="1"/>
          </p:nvPr>
        </p:nvSpPr>
        <p:spPr/>
        <p:txBody>
          <a:bodyPr/>
          <a:lstStyle/>
          <a:p>
            <a:r>
              <a:rPr lang="en-US" altLang="zh-CN">
                <a:ea typeface="宋体" panose="02010600030101010101" pitchFamily="2" charset="-122"/>
              </a:rPr>
              <a:t>Content Layouts</a:t>
            </a:r>
            <a:endParaRPr lang="en-US" altLang="zh-CN">
              <a:ea typeface="宋体" panose="02010600030101010101" pitchFamily="2" charset="-12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1B1E0074-0FED-4571-ABDB-540CF2ED24B1}" type="slidenum">
              <a:rPr lang="zh-CN" altLang="en-US"/>
            </a:fld>
            <a:endParaRPr lang="en-US" altLang="zh-CN"/>
          </a:p>
        </p:txBody>
      </p:sp>
      <p:sp>
        <p:nvSpPr>
          <p:cNvPr id="69634" name="Rectangle 2"/>
          <p:cNvSpPr>
            <a:spLocks noGrp="1" noRot="1" noChangeAspect="1" noChangeArrowheads="1" noTextEdit="1"/>
          </p:cNvSpPr>
          <p:nvPr>
            <p:ph type="sldImg"/>
          </p:nvPr>
        </p:nvSpPr>
        <p:spPr>
          <a:xfrm>
            <a:off x="1144588" y="685800"/>
            <a:ext cx="4572000" cy="3429000"/>
          </a:xfrm>
        </p:spPr>
      </p:sp>
      <p:sp>
        <p:nvSpPr>
          <p:cNvPr id="69635" name="Rectangle 3"/>
          <p:cNvSpPr>
            <a:spLocks noGrp="1" noChangeArrowheads="1"/>
          </p:cNvSpPr>
          <p:nvPr>
            <p:ph type="body" idx="1"/>
          </p:nvPr>
        </p:nvSpPr>
        <p:spPr/>
        <p:txBody>
          <a:bodyPr/>
          <a:lstStyle/>
          <a:p>
            <a:r>
              <a:rPr lang="en-US" altLang="zh-CN">
                <a:ea typeface="宋体" panose="02010600030101010101" pitchFamily="2" charset="-122"/>
              </a:rPr>
              <a:t>Content Layouts</a:t>
            </a:r>
            <a:endParaRPr lang="en-US" altLang="zh-CN">
              <a:ea typeface="宋体" panose="02010600030101010101" pitchFamily="2" charset="-122"/>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137CC75E-F764-4E31-AAF9-6EC92EC90B35}" type="slidenum">
              <a:rPr lang="zh-CN" altLang="en-US"/>
            </a:fld>
            <a:endParaRPr lang="en-US" altLang="zh-CN"/>
          </a:p>
        </p:txBody>
      </p:sp>
      <p:sp>
        <p:nvSpPr>
          <p:cNvPr id="95234" name="Rectangle 2"/>
          <p:cNvSpPr>
            <a:spLocks noGrp="1" noRot="1" noChangeAspect="1" noChangeArrowheads="1" noTextEdit="1"/>
          </p:cNvSpPr>
          <p:nvPr>
            <p:ph type="sldImg"/>
          </p:nvPr>
        </p:nvSpPr>
        <p:spPr>
          <a:xfrm>
            <a:off x="1144588" y="685800"/>
            <a:ext cx="4572000" cy="3429000"/>
          </a:xfrm>
        </p:spPr>
      </p:sp>
      <p:sp>
        <p:nvSpPr>
          <p:cNvPr id="95235" name="Rectangle 3"/>
          <p:cNvSpPr>
            <a:spLocks noGrp="1" noChangeArrowheads="1"/>
          </p:cNvSpPr>
          <p:nvPr>
            <p:ph type="body" idx="1"/>
          </p:nvPr>
        </p:nvSpPr>
        <p:spPr/>
        <p:txBody>
          <a:bodyPr/>
          <a:lstStyle/>
          <a:p>
            <a:r>
              <a:rPr lang="en-US" altLang="zh-CN">
                <a:ea typeface="宋体" panose="02010600030101010101" pitchFamily="2" charset="-122"/>
              </a:rPr>
              <a:t>Content Layouts</a:t>
            </a:r>
            <a:endParaRPr lang="en-US" altLang="zh-CN">
              <a:ea typeface="宋体" panose="02010600030101010101" pitchFamily="2" charset="-122"/>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CA9B330C-8285-49DD-84E6-5A8C7CA5F33C}" type="slidenum">
              <a:rPr lang="zh-CN" altLang="en-US"/>
            </a:fld>
            <a:endParaRPr lang="en-US" altLang="zh-CN"/>
          </a:p>
        </p:txBody>
      </p:sp>
      <p:sp>
        <p:nvSpPr>
          <p:cNvPr id="93186" name="Rectangle 2"/>
          <p:cNvSpPr>
            <a:spLocks noGrp="1" noRot="1" noChangeAspect="1" noChangeArrowheads="1" noTextEdit="1"/>
          </p:cNvSpPr>
          <p:nvPr>
            <p:ph type="sldImg"/>
          </p:nvPr>
        </p:nvSpPr>
        <p:spPr>
          <a:xfrm>
            <a:off x="1144588" y="685800"/>
            <a:ext cx="4572000" cy="3429000"/>
          </a:xfrm>
        </p:spPr>
      </p:sp>
      <p:sp>
        <p:nvSpPr>
          <p:cNvPr id="93187" name="Rectangle 3"/>
          <p:cNvSpPr>
            <a:spLocks noGrp="1" noChangeArrowheads="1"/>
          </p:cNvSpPr>
          <p:nvPr>
            <p:ph type="body" idx="1"/>
          </p:nvPr>
        </p:nvSpPr>
        <p:spPr/>
        <p:txBody>
          <a:bodyPr/>
          <a:lstStyle/>
          <a:p>
            <a:r>
              <a:rPr lang="en-US" altLang="zh-CN">
                <a:ea typeface="宋体" panose="02010600030101010101" pitchFamily="2" charset="-122"/>
              </a:rPr>
              <a:t>Content Layouts</a:t>
            </a:r>
            <a:endParaRPr lang="en-US" altLang="zh-CN">
              <a:ea typeface="宋体" panose="02010600030101010101" pitchFamily="2" charset="-122"/>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80EA5EC5-BC99-4CFF-B8BF-1BFBD88C1819}" type="slidenum">
              <a:rPr lang="zh-CN" altLang="en-US"/>
            </a:fld>
            <a:endParaRPr lang="en-US" altLang="zh-CN"/>
          </a:p>
        </p:txBody>
      </p:sp>
      <p:sp>
        <p:nvSpPr>
          <p:cNvPr id="105474" name="Rectangle 2"/>
          <p:cNvSpPr>
            <a:spLocks noGrp="1" noRot="1" noChangeAspect="1" noChangeArrowheads="1" noTextEdit="1"/>
          </p:cNvSpPr>
          <p:nvPr>
            <p:ph type="sldImg"/>
          </p:nvPr>
        </p:nvSpPr>
        <p:spPr>
          <a:xfrm>
            <a:off x="1144588" y="685800"/>
            <a:ext cx="4572000" cy="3429000"/>
          </a:xfrm>
        </p:spPr>
      </p:sp>
      <p:sp>
        <p:nvSpPr>
          <p:cNvPr id="105475" name="Rectangle 3"/>
          <p:cNvSpPr>
            <a:spLocks noGrp="1" noChangeArrowheads="1"/>
          </p:cNvSpPr>
          <p:nvPr>
            <p:ph type="body" idx="1"/>
          </p:nvPr>
        </p:nvSpPr>
        <p:spPr/>
        <p:txBody>
          <a:bodyPr/>
          <a:lstStyle/>
          <a:p>
            <a:r>
              <a:rPr lang="en-US" altLang="zh-CN">
                <a:ea typeface="宋体" panose="02010600030101010101" pitchFamily="2" charset="-122"/>
              </a:rPr>
              <a:t>Content Layouts</a:t>
            </a:r>
            <a:endParaRPr lang="en-US" altLang="zh-CN">
              <a:ea typeface="宋体" panose="02010600030101010101" pitchFamily="2" charset="-122"/>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F46F811E-9DB4-47E8-9A06-9648AB5C2B3B}" type="slidenum">
              <a:rPr lang="zh-CN" altLang="en-US"/>
            </a:fld>
            <a:endParaRPr lang="en-US" altLang="zh-CN"/>
          </a:p>
        </p:txBody>
      </p:sp>
      <p:sp>
        <p:nvSpPr>
          <p:cNvPr id="91138" name="Rectangle 2"/>
          <p:cNvSpPr>
            <a:spLocks noGrp="1" noRot="1" noChangeAspect="1" noChangeArrowheads="1" noTextEdit="1"/>
          </p:cNvSpPr>
          <p:nvPr>
            <p:ph type="sldImg"/>
          </p:nvPr>
        </p:nvSpPr>
        <p:spPr>
          <a:xfrm>
            <a:off x="1144588" y="685800"/>
            <a:ext cx="4572000" cy="3429000"/>
          </a:xfrm>
        </p:spPr>
      </p:sp>
      <p:sp>
        <p:nvSpPr>
          <p:cNvPr id="91139" name="Rectangle 3"/>
          <p:cNvSpPr>
            <a:spLocks noGrp="1" noChangeArrowheads="1"/>
          </p:cNvSpPr>
          <p:nvPr>
            <p:ph type="body" idx="1"/>
          </p:nvPr>
        </p:nvSpPr>
        <p:spPr/>
        <p:txBody>
          <a:bodyPr/>
          <a:lstStyle/>
          <a:p>
            <a:r>
              <a:rPr lang="en-US" altLang="zh-CN">
                <a:ea typeface="宋体" panose="02010600030101010101" pitchFamily="2" charset="-122"/>
              </a:rPr>
              <a:t>Content Layouts</a:t>
            </a:r>
            <a:endParaRPr lang="en-US" altLang="zh-CN">
              <a:ea typeface="宋体" panose="02010600030101010101" pitchFamily="2" charset="-122"/>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2DA21C74-38F1-4C21-AA1B-8E2C5C877984}" type="slidenum">
              <a:rPr lang="zh-CN" altLang="en-US"/>
            </a:fld>
            <a:endParaRPr lang="en-US" altLang="zh-CN"/>
          </a:p>
        </p:txBody>
      </p:sp>
      <p:sp>
        <p:nvSpPr>
          <p:cNvPr id="89090" name="Rectangle 2"/>
          <p:cNvSpPr>
            <a:spLocks noGrp="1" noRot="1" noChangeAspect="1" noChangeArrowheads="1" noTextEdit="1"/>
          </p:cNvSpPr>
          <p:nvPr>
            <p:ph type="sldImg"/>
          </p:nvPr>
        </p:nvSpPr>
        <p:spPr>
          <a:xfrm>
            <a:off x="1144588" y="685800"/>
            <a:ext cx="4572000" cy="3429000"/>
          </a:xfrm>
        </p:spPr>
      </p:sp>
      <p:sp>
        <p:nvSpPr>
          <p:cNvPr id="89091" name="Rectangle 3"/>
          <p:cNvSpPr>
            <a:spLocks noGrp="1" noChangeArrowheads="1"/>
          </p:cNvSpPr>
          <p:nvPr>
            <p:ph type="body" idx="1"/>
          </p:nvPr>
        </p:nvSpPr>
        <p:spPr/>
        <p:txBody>
          <a:bodyPr/>
          <a:lstStyle/>
          <a:p>
            <a:r>
              <a:rPr lang="en-US" altLang="zh-CN">
                <a:ea typeface="宋体" panose="02010600030101010101" pitchFamily="2" charset="-122"/>
              </a:rPr>
              <a:t>Content Layouts</a:t>
            </a:r>
            <a:endParaRPr lang="en-US" altLang="zh-CN">
              <a:ea typeface="宋体" panose="02010600030101010101" pitchFamily="2" charset="-122"/>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826657B0-502B-4AB9-9DB4-6E9587957A67}" type="slidenum">
              <a:rPr lang="zh-CN" altLang="en-US"/>
            </a:fld>
            <a:endParaRPr lang="en-US" altLang="zh-CN"/>
          </a:p>
        </p:txBody>
      </p:sp>
      <p:sp>
        <p:nvSpPr>
          <p:cNvPr id="99330" name="Rectangle 2"/>
          <p:cNvSpPr>
            <a:spLocks noGrp="1" noRot="1" noChangeAspect="1" noChangeArrowheads="1" noTextEdit="1"/>
          </p:cNvSpPr>
          <p:nvPr>
            <p:ph type="sldImg"/>
          </p:nvPr>
        </p:nvSpPr>
        <p:spPr>
          <a:xfrm>
            <a:off x="1144588" y="685800"/>
            <a:ext cx="4572000" cy="3429000"/>
          </a:xfrm>
        </p:spPr>
      </p:sp>
      <p:sp>
        <p:nvSpPr>
          <p:cNvPr id="99331" name="Rectangle 3"/>
          <p:cNvSpPr>
            <a:spLocks noGrp="1" noChangeArrowheads="1"/>
          </p:cNvSpPr>
          <p:nvPr>
            <p:ph type="body" idx="1"/>
          </p:nvPr>
        </p:nvSpPr>
        <p:spPr/>
        <p:txBody>
          <a:bodyPr/>
          <a:lstStyle/>
          <a:p>
            <a:r>
              <a:rPr lang="en-US" altLang="zh-CN">
                <a:ea typeface="宋体" panose="02010600030101010101" pitchFamily="2" charset="-122"/>
              </a:rPr>
              <a:t>Content Layouts</a:t>
            </a:r>
            <a:endParaRPr lang="en-US" altLang="zh-CN">
              <a:ea typeface="宋体" panose="02010600030101010101" pitchFamily="2" charset="-122"/>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787D4FD5-919B-477D-92F9-71E66A03EAEA}" type="slidenum">
              <a:rPr lang="zh-CN" altLang="en-US"/>
            </a:fld>
            <a:endParaRPr lang="en-US" altLang="zh-CN"/>
          </a:p>
        </p:txBody>
      </p:sp>
      <p:sp>
        <p:nvSpPr>
          <p:cNvPr id="97282" name="Rectangle 2"/>
          <p:cNvSpPr>
            <a:spLocks noGrp="1" noRot="1" noChangeAspect="1" noChangeArrowheads="1" noTextEdit="1"/>
          </p:cNvSpPr>
          <p:nvPr>
            <p:ph type="sldImg"/>
          </p:nvPr>
        </p:nvSpPr>
        <p:spPr>
          <a:xfrm>
            <a:off x="1144588" y="685800"/>
            <a:ext cx="4572000" cy="3429000"/>
          </a:xfrm>
        </p:spPr>
      </p:sp>
      <p:sp>
        <p:nvSpPr>
          <p:cNvPr id="97283" name="Rectangle 3"/>
          <p:cNvSpPr>
            <a:spLocks noGrp="1" noChangeArrowheads="1"/>
          </p:cNvSpPr>
          <p:nvPr>
            <p:ph type="body" idx="1"/>
          </p:nvPr>
        </p:nvSpPr>
        <p:spPr/>
        <p:txBody>
          <a:bodyPr/>
          <a:lstStyle/>
          <a:p>
            <a:r>
              <a:rPr lang="en-US" altLang="zh-CN">
                <a:ea typeface="宋体" panose="02010600030101010101" pitchFamily="2" charset="-122"/>
              </a:rPr>
              <a:t>Content Layouts</a:t>
            </a:r>
            <a:endParaRPr lang="en-US" altLang="zh-CN">
              <a:ea typeface="宋体" panose="02010600030101010101" pitchFamily="2" charset="-122"/>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830F89F8-A82B-428A-B8BF-1987623CDBAF}" type="slidenum">
              <a:rPr lang="zh-CN" altLang="en-US"/>
            </a:fld>
            <a:endParaRPr lang="en-US" altLang="zh-CN"/>
          </a:p>
        </p:txBody>
      </p:sp>
      <p:sp>
        <p:nvSpPr>
          <p:cNvPr id="112642" name="Rectangle 2"/>
          <p:cNvSpPr>
            <a:spLocks noGrp="1" noRot="1" noChangeAspect="1" noChangeArrowheads="1" noTextEdit="1"/>
          </p:cNvSpPr>
          <p:nvPr>
            <p:ph type="sldImg"/>
          </p:nvPr>
        </p:nvSpPr>
        <p:spPr>
          <a:xfrm>
            <a:off x="1144588" y="685800"/>
            <a:ext cx="4572000" cy="3429000"/>
          </a:xfrm>
        </p:spPr>
      </p:sp>
      <p:sp>
        <p:nvSpPr>
          <p:cNvPr id="112643" name="Rectangle 3"/>
          <p:cNvSpPr>
            <a:spLocks noGrp="1" noChangeArrowheads="1"/>
          </p:cNvSpPr>
          <p:nvPr>
            <p:ph type="body" idx="1"/>
          </p:nvPr>
        </p:nvSpPr>
        <p:spPr/>
        <p:txBody>
          <a:bodyPr/>
          <a:lstStyle/>
          <a:p>
            <a:r>
              <a:rPr lang="en-US" altLang="zh-CN">
                <a:ea typeface="宋体" panose="02010600030101010101" pitchFamily="2" charset="-122"/>
              </a:rPr>
              <a:t>Content Layouts</a:t>
            </a:r>
            <a:endParaRPr lang="en-US" altLang="zh-CN">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showMasterSp="0">
  <p:cSld name="标题幻灯片">
    <p:bg bwMode="gray">
      <p:bgPr>
        <a:solidFill>
          <a:srgbClr val="FFFFFF"/>
        </a:solidFill>
        <a:effectLst/>
      </p:bgPr>
    </p:bg>
    <p:spTree>
      <p:nvGrpSpPr>
        <p:cNvPr id="1" name=""/>
        <p:cNvGrpSpPr/>
        <p:nvPr/>
      </p:nvGrpSpPr>
      <p:grpSpPr>
        <a:xfrm>
          <a:off x="0" y="0"/>
          <a:ext cx="0" cy="0"/>
          <a:chOff x="0" y="0"/>
          <a:chExt cx="0" cy="0"/>
        </a:xfrm>
      </p:grpSpPr>
      <p:sp>
        <p:nvSpPr>
          <p:cNvPr id="3077" name="Rectangle 5"/>
          <p:cNvSpPr>
            <a:spLocks noGrp="1" noChangeArrowheads="1"/>
          </p:cNvSpPr>
          <p:nvPr>
            <p:ph type="ftr" sz="quarter" idx="3"/>
          </p:nvPr>
        </p:nvSpPr>
        <p:spPr bwMode="gray">
          <a:xfrm>
            <a:off x="101600" y="6477000"/>
            <a:ext cx="3860800" cy="304800"/>
          </a:xfrm>
        </p:spPr>
        <p:txBody>
          <a:bodyPr/>
          <a:lstStyle>
            <a:lvl1pPr algn="l">
              <a:defRPr sz="1700">
                <a:solidFill>
                  <a:srgbClr val="000000"/>
                </a:solidFill>
              </a:defRPr>
            </a:lvl1pPr>
          </a:lstStyle>
          <a:p>
            <a:pPr fontAlgn="base">
              <a:spcBef>
                <a:spcPct val="0"/>
              </a:spcBef>
              <a:spcAft>
                <a:spcPct val="0"/>
              </a:spcAft>
            </a:pPr>
            <a:endParaRPr lang="zh-CN" altLang="en-US">
              <a:latin typeface="Arial" panose="020B0604020202020204" pitchFamily="34" charset="0"/>
            </a:endParaRPr>
          </a:p>
        </p:txBody>
      </p:sp>
      <p:sp>
        <p:nvSpPr>
          <p:cNvPr id="3075" name="Rectangle 3"/>
          <p:cNvSpPr>
            <a:spLocks noGrp="1" noChangeArrowheads="1"/>
          </p:cNvSpPr>
          <p:nvPr>
            <p:ph type="subTitle" idx="1"/>
          </p:nvPr>
        </p:nvSpPr>
        <p:spPr>
          <a:xfrm>
            <a:off x="1422400" y="3581400"/>
            <a:ext cx="9347200" cy="381000"/>
          </a:xfrm>
          <a:extLst>
            <a:ext uri="{AF507438-7753-43E0-B8FC-AC1667EBCBE1}">
              <a14:hiddenEffects xmlns:a14="http://schemas.microsoft.com/office/drawing/2010/main">
                <a:effectLst>
                  <a:outerShdw dist="17961" dir="2700000" algn="ctr" rotWithShape="0">
                    <a:srgbClr val="000000"/>
                  </a:outerShdw>
                </a:effectLst>
              </a14:hiddenEffects>
            </a:ext>
          </a:extLst>
        </p:spPr>
        <p:txBody>
          <a:bodyPr/>
          <a:lstStyle>
            <a:lvl1pPr marL="0" indent="0" algn="ctr">
              <a:buFont typeface="Wingdings" panose="05000000000000000000" pitchFamily="2" charset="2"/>
              <a:buNone/>
              <a:defRPr sz="2000" b="0">
                <a:solidFill>
                  <a:srgbClr val="000000"/>
                </a:solidFill>
              </a:defRPr>
            </a:lvl1pPr>
          </a:lstStyle>
          <a:p>
            <a:pPr lvl="0"/>
            <a:r>
              <a:rPr lang="en-US" altLang="zh-CN" noProof="0"/>
              <a:t>Click to edit Master subtitle style</a:t>
            </a:r>
            <a:endParaRPr lang="en-US" altLang="zh-CN" noProof="0"/>
          </a:p>
        </p:txBody>
      </p:sp>
      <p:sp>
        <p:nvSpPr>
          <p:cNvPr id="3226" name="Rectangle 154"/>
          <p:cNvSpPr>
            <a:spLocks noGrp="1" noChangeArrowheads="1"/>
          </p:cNvSpPr>
          <p:nvPr>
            <p:ph type="dt" sz="quarter" idx="2"/>
          </p:nvPr>
        </p:nvSpPr>
        <p:spPr bwMode="auto">
          <a:xfrm>
            <a:off x="8432800" y="6477001"/>
            <a:ext cx="2844800" cy="244475"/>
          </a:xfrm>
        </p:spPr>
        <p:txBody>
          <a:bodyPr/>
          <a:lstStyle>
            <a:lvl1pPr algn="ctr">
              <a:defRPr sz="1400" b="0">
                <a:solidFill>
                  <a:schemeClr val="tx1"/>
                </a:solidFill>
                <a:latin typeface="Arial" panose="020B0604020202020204" pitchFamily="34" charset="0"/>
              </a:defRPr>
            </a:lvl1pPr>
          </a:lstStyle>
          <a:p>
            <a:pPr fontAlgn="base">
              <a:spcBef>
                <a:spcPct val="0"/>
              </a:spcBef>
              <a:spcAft>
                <a:spcPct val="0"/>
              </a:spcAft>
            </a:pPr>
            <a:endParaRPr lang="en-US" altLang="zh-CN">
              <a:solidFill>
                <a:srgbClr val="000000"/>
              </a:solidFill>
            </a:endParaRPr>
          </a:p>
        </p:txBody>
      </p:sp>
      <p:sp>
        <p:nvSpPr>
          <p:cNvPr id="3227" name="Rectangle 155"/>
          <p:cNvSpPr>
            <a:spLocks noGrp="1" noChangeArrowheads="1"/>
          </p:cNvSpPr>
          <p:nvPr>
            <p:ph type="sldNum" sz="quarter" idx="4"/>
          </p:nvPr>
        </p:nvSpPr>
        <p:spPr bwMode="auto">
          <a:xfrm>
            <a:off x="11379200" y="6477001"/>
            <a:ext cx="609600" cy="244475"/>
          </a:xfrm>
        </p:spPr>
        <p:txBody>
          <a:bodyPr/>
          <a:lstStyle>
            <a:lvl1pPr algn="ctr">
              <a:defRPr sz="1400">
                <a:latin typeface="Arial" panose="020B0604020202020204" pitchFamily="34" charset="0"/>
              </a:defRPr>
            </a:lvl1pPr>
          </a:lstStyle>
          <a:p>
            <a:pPr fontAlgn="base">
              <a:spcBef>
                <a:spcPct val="0"/>
              </a:spcBef>
              <a:spcAft>
                <a:spcPct val="0"/>
              </a:spcAft>
            </a:pPr>
            <a:fld id="{E6D895E5-D056-478D-963B-A2EF1A6E5828}" type="slidenum">
              <a:rPr lang="zh-CN" altLang="en-US" smtClean="0">
                <a:solidFill>
                  <a:srgbClr val="FFFFFF"/>
                </a:solidFill>
              </a:rPr>
            </a:fld>
            <a:endParaRPr lang="en-US" altLang="zh-CN">
              <a:solidFill>
                <a:srgbClr val="FFFFFF"/>
              </a:solidFill>
            </a:endParaRPr>
          </a:p>
        </p:txBody>
      </p:sp>
      <p:sp>
        <p:nvSpPr>
          <p:cNvPr id="3074" name="Rectangle 2"/>
          <p:cNvSpPr>
            <a:spLocks noGrp="1" noChangeArrowheads="1"/>
          </p:cNvSpPr>
          <p:nvPr>
            <p:ph type="ctrTitle"/>
          </p:nvPr>
        </p:nvSpPr>
        <p:spPr>
          <a:xfrm>
            <a:off x="1422400" y="2514600"/>
            <a:ext cx="9347200" cy="685800"/>
          </a:xfrm>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28398" dir="3806097" algn="ctr" rotWithShape="0">
                    <a:srgbClr val="000000"/>
                  </a:outerShdw>
                </a:effectLst>
              </a14:hiddenEffects>
            </a:ext>
          </a:extLst>
        </p:spPr>
        <p:txBody>
          <a:bodyPr/>
          <a:lstStyle>
            <a:lvl1pPr algn="ctr">
              <a:defRPr sz="4500">
                <a:latin typeface="Arial" panose="020B0604020202020204" pitchFamily="34" charset="0"/>
              </a:defRPr>
            </a:lvl1pPr>
          </a:lstStyle>
          <a:p>
            <a:pPr lvl="0"/>
            <a:r>
              <a:rPr lang="en-US" altLang="zh-CN" noProof="0"/>
              <a:t>Click to edit Master title style</a:t>
            </a:r>
            <a:endParaRPr lang="en-US" altLang="zh-CN" noProof="0"/>
          </a:p>
        </p:txBody>
      </p:sp>
      <p:sp>
        <p:nvSpPr>
          <p:cNvPr id="3086" name="Text Box 14"/>
          <p:cNvSpPr txBox="1">
            <a:spLocks noChangeArrowheads="1"/>
          </p:cNvSpPr>
          <p:nvPr/>
        </p:nvSpPr>
        <p:spPr bwMode="gray">
          <a:xfrm>
            <a:off x="4673600" y="5943600"/>
            <a:ext cx="3352800" cy="457200"/>
          </a:xfrm>
          <a:prstGeom prst="rect">
            <a:avLst/>
          </a:prstGeom>
          <a:noFill/>
          <a:ln>
            <a:noFill/>
          </a:ln>
          <a:effectLst/>
          <a:extLst>
            <a:ext uri="{909E8E84-426E-40DD-AFC4-6F175D3DCCD1}">
              <a14:hiddenFill xmlns:a14="http://schemas.microsoft.com/office/drawing/2010/main">
                <a:solidFill>
                  <a:srgbClr val="CC33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a:ln>
                  <a:noFill/>
                </a:ln>
                <a:solidFill>
                  <a:srgbClr val="D43636"/>
                </a:solidFill>
                <a:effectLst/>
                <a:uLnTx/>
                <a:uFillTx/>
                <a:latin typeface="Arial Black" panose="020B0A04020102020204" pitchFamily="34" charset="0"/>
                <a:ea typeface="宋体" panose="02010600030101010101" pitchFamily="2" charset="-122"/>
                <a:cs typeface="+mn-cs"/>
              </a:rPr>
              <a:t>L/O/G/O</a:t>
            </a:r>
            <a:endParaRPr kumimoji="0" lang="en-US" altLang="zh-CN" sz="2400" b="0" i="0" u="none" strike="noStrike" kern="1200" cap="none" spc="0" normalizeH="0" baseline="0" noProof="0">
              <a:ln>
                <a:noFill/>
              </a:ln>
              <a:solidFill>
                <a:srgbClr val="D43636"/>
              </a:solidFill>
              <a:effectLst/>
              <a:uLnTx/>
              <a:uFillTx/>
              <a:latin typeface="Arial Black" panose="020B0A04020102020204" pitchFamily="34" charset="0"/>
              <a:ea typeface="宋体" panose="02010600030101010101" pitchFamily="2" charset="-122"/>
              <a:cs typeface="+mn-cs"/>
            </a:endParaRPr>
          </a:p>
        </p:txBody>
      </p:sp>
      <p:grpSp>
        <p:nvGrpSpPr>
          <p:cNvPr id="3236" name="Group 164"/>
          <p:cNvGrpSpPr/>
          <p:nvPr/>
        </p:nvGrpSpPr>
        <p:grpSpPr bwMode="auto">
          <a:xfrm>
            <a:off x="0" y="0"/>
            <a:ext cx="12192000" cy="6858000"/>
            <a:chOff x="0" y="0"/>
            <a:chExt cx="5760" cy="4320"/>
          </a:xfrm>
        </p:grpSpPr>
        <p:pic>
          <p:nvPicPr>
            <p:cNvPr id="3233" name="Picture 161" descr="artplus_nature_naturalcity38_g"/>
            <p:cNvPicPr>
              <a:picLocks noChangeAspect="1" noChangeArrowheads="1"/>
            </p:cNvPicPr>
            <p:nvPr userDrawn="1"/>
          </p:nvPicPr>
          <p:blipFill>
            <a:blip r:embed="rId2">
              <a:lum bright="6000" contrast="6000"/>
              <a:extLst>
                <a:ext uri="{28A0092B-C50C-407E-A947-70E740481C1C}">
                  <a14:useLocalDpi xmlns:a14="http://schemas.microsoft.com/office/drawing/2010/main" val="0"/>
                </a:ext>
              </a:extLst>
            </a:blip>
            <a:srcRect l="12500"/>
            <a:stretch>
              <a:fillRect/>
            </a:stretch>
          </p:blipFill>
          <p:spPr bwMode="auto">
            <a:xfrm>
              <a:off x="1200" y="2949"/>
              <a:ext cx="1241" cy="1131"/>
            </a:xfrm>
            <a:prstGeom prst="rect">
              <a:avLst/>
            </a:prstGeom>
            <a:noFill/>
            <a:extLst>
              <a:ext uri="{909E8E84-426E-40DD-AFC4-6F175D3DCCD1}">
                <a14:hiddenFill xmlns:a14="http://schemas.microsoft.com/office/drawing/2010/main">
                  <a:solidFill>
                    <a:srgbClr val="FFFFFF"/>
                  </a:solidFill>
                </a14:hiddenFill>
              </a:ext>
            </a:extLst>
          </p:spPr>
        </p:pic>
        <p:pic>
          <p:nvPicPr>
            <p:cNvPr id="3232" name="Picture 160" descr="artplus_nature_naturalcity38_g"/>
            <p:cNvPicPr>
              <a:picLocks noChangeAspect="1" noChangeArrowheads="1"/>
            </p:cNvPicPr>
            <p:nvPr userDrawn="1"/>
          </p:nvPicPr>
          <p:blipFill>
            <a:blip r:embed="rId2">
              <a:lum bright="6000" contrast="6000"/>
              <a:extLst>
                <a:ext uri="{28A0092B-C50C-407E-A947-70E740481C1C}">
                  <a14:useLocalDpi xmlns:a14="http://schemas.microsoft.com/office/drawing/2010/main" val="0"/>
                </a:ext>
              </a:extLst>
            </a:blip>
            <a:srcRect l="12500"/>
            <a:stretch>
              <a:fillRect/>
            </a:stretch>
          </p:blipFill>
          <p:spPr bwMode="auto">
            <a:xfrm>
              <a:off x="0" y="2019"/>
              <a:ext cx="1884" cy="2061"/>
            </a:xfrm>
            <a:prstGeom prst="rect">
              <a:avLst/>
            </a:prstGeom>
            <a:noFill/>
            <a:extLst>
              <a:ext uri="{909E8E84-426E-40DD-AFC4-6F175D3DCCD1}">
                <a14:hiddenFill xmlns:a14="http://schemas.microsoft.com/office/drawing/2010/main">
                  <a:solidFill>
                    <a:srgbClr val="FFFFFF"/>
                  </a:solidFill>
                </a14:hiddenFill>
              </a:ext>
            </a:extLst>
          </p:spPr>
        </p:pic>
        <p:pic>
          <p:nvPicPr>
            <p:cNvPr id="3231" name="Picture 159" descr="artplus_nature_naturalcity38_e"/>
            <p:cNvPicPr>
              <a:picLocks noChangeAspect="1" noChangeArrowheads="1"/>
            </p:cNvPicPr>
            <p:nvPr userDrawn="1"/>
          </p:nvPicPr>
          <p:blipFill>
            <a:blip r:embed="rId3">
              <a:extLst>
                <a:ext uri="{28A0092B-C50C-407E-A947-70E740481C1C}">
                  <a14:useLocalDpi xmlns:a14="http://schemas.microsoft.com/office/drawing/2010/main" val="0"/>
                </a:ext>
              </a:extLst>
            </a:blip>
            <a:srcRect b="11525"/>
            <a:stretch>
              <a:fillRect/>
            </a:stretch>
          </p:blipFill>
          <p:spPr bwMode="auto">
            <a:xfrm>
              <a:off x="0" y="2592"/>
              <a:ext cx="5760" cy="1728"/>
            </a:xfrm>
            <a:prstGeom prst="rect">
              <a:avLst/>
            </a:prstGeom>
            <a:noFill/>
            <a:extLst>
              <a:ext uri="{909E8E84-426E-40DD-AFC4-6F175D3DCCD1}">
                <a14:hiddenFill xmlns:a14="http://schemas.microsoft.com/office/drawing/2010/main">
                  <a:solidFill>
                    <a:srgbClr val="FFFFFF"/>
                  </a:solidFill>
                </a14:hiddenFill>
              </a:ext>
            </a:extLst>
          </p:spPr>
        </p:pic>
        <p:grpSp>
          <p:nvGrpSpPr>
            <p:cNvPr id="3234" name="Group 162"/>
            <p:cNvGrpSpPr/>
            <p:nvPr userDrawn="1"/>
          </p:nvGrpSpPr>
          <p:grpSpPr bwMode="auto">
            <a:xfrm>
              <a:off x="0" y="0"/>
              <a:ext cx="5760" cy="2016"/>
              <a:chOff x="0" y="0"/>
              <a:chExt cx="5760" cy="2016"/>
            </a:xfrm>
          </p:grpSpPr>
          <p:pic>
            <p:nvPicPr>
              <p:cNvPr id="3225" name="Picture 153" descr="7"/>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0"/>
                <a:ext cx="5760" cy="2016"/>
              </a:xfrm>
              <a:prstGeom prst="rect">
                <a:avLst/>
              </a:prstGeom>
              <a:noFill/>
              <a:extLst>
                <a:ext uri="{909E8E84-426E-40DD-AFC4-6F175D3DCCD1}">
                  <a14:hiddenFill xmlns:a14="http://schemas.microsoft.com/office/drawing/2010/main">
                    <a:solidFill>
                      <a:srgbClr val="FFFFFF"/>
                    </a:solidFill>
                  </a14:hiddenFill>
                </a:ext>
              </a:extLst>
            </p:spPr>
          </p:pic>
          <p:pic>
            <p:nvPicPr>
              <p:cNvPr id="3212" name="Picture 140" descr="04"/>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360" y="0"/>
                <a:ext cx="858" cy="733"/>
              </a:xfrm>
              <a:prstGeom prst="rect">
                <a:avLst/>
              </a:prstGeom>
              <a:noFill/>
              <a:extLst>
                <a:ext uri="{909E8E84-426E-40DD-AFC4-6F175D3DCCD1}">
                  <a14:hiddenFill xmlns:a14="http://schemas.microsoft.com/office/drawing/2010/main">
                    <a:solidFill>
                      <a:srgbClr val="FFFFFF"/>
                    </a:solidFill>
                  </a14:hiddenFill>
                </a:ext>
              </a:extLst>
            </p:spPr>
          </p:pic>
        </p:grpSp>
        <p:pic>
          <p:nvPicPr>
            <p:cNvPr id="3235" name="Picture 163" descr="water_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480" y="576"/>
              <a:ext cx="546" cy="336"/>
            </a:xfrm>
            <a:prstGeom prst="rect">
              <a:avLst/>
            </a:prstGeom>
            <a:noFill/>
            <a:extLst>
              <a:ext uri="{909E8E84-426E-40DD-AFC4-6F175D3DCCD1}">
                <a14:hiddenFill xmlns:a14="http://schemas.microsoft.com/office/drawing/2010/main">
                  <a:solidFill>
                    <a:srgbClr val="FFFFFF"/>
                  </a:solidFill>
                </a14:hiddenFill>
              </a:ext>
            </a:extLst>
          </p:spPr>
        </p:pic>
      </p:gr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lvl1pPr>
              <a:defRPr/>
            </a:lvl1pPr>
          </a:lstStyle>
          <a:p>
            <a:pPr algn="r" fontAlgn="base">
              <a:spcBef>
                <a:spcPct val="0"/>
              </a:spcBef>
              <a:spcAft>
                <a:spcPct val="0"/>
              </a:spcAft>
            </a:pPr>
            <a:endParaRPr lang="zh-CN" altLang="en-US">
              <a:solidFill>
                <a:srgbClr val="FFFFFF"/>
              </a:solidFill>
            </a:endParaRPr>
          </a:p>
        </p:txBody>
      </p:sp>
      <p:sp>
        <p:nvSpPr>
          <p:cNvPr id="5" name="灯片编号占位符 4"/>
          <p:cNvSpPr>
            <a:spLocks noGrp="1"/>
          </p:cNvSpPr>
          <p:nvPr>
            <p:ph type="sldNum" sz="quarter" idx="11"/>
          </p:nvPr>
        </p:nvSpPr>
        <p:spPr/>
        <p:txBody>
          <a:bodyPr/>
          <a:lstStyle>
            <a:lvl1pPr>
              <a:defRPr/>
            </a:lvl1pPr>
          </a:lstStyle>
          <a:p>
            <a:pPr fontAlgn="base">
              <a:spcBef>
                <a:spcPct val="0"/>
              </a:spcBef>
              <a:spcAft>
                <a:spcPct val="0"/>
              </a:spcAft>
            </a:pPr>
            <a:fld id="{DA9E66A2-E1E2-4C26-888E-B230A5B7194F}" type="slidenum">
              <a:rPr lang="zh-CN" altLang="en-US" smtClean="0">
                <a:solidFill>
                  <a:srgbClr val="FFFFFF"/>
                </a:solidFill>
              </a:rPr>
            </a:fld>
            <a:endParaRPr lang="en-US" altLang="zh-CN">
              <a:solidFill>
                <a:srgbClr val="FFFFFF"/>
              </a:solidFill>
            </a:endParaRPr>
          </a:p>
        </p:txBody>
      </p:sp>
      <p:sp>
        <p:nvSpPr>
          <p:cNvPr id="6" name="页脚占位符 5"/>
          <p:cNvSpPr>
            <a:spLocks noGrp="1"/>
          </p:cNvSpPr>
          <p:nvPr>
            <p:ph type="ftr" sz="quarter" idx="12"/>
          </p:nvPr>
        </p:nvSpPr>
        <p:spPr/>
        <p:txBody>
          <a:bodyPr/>
          <a:lstStyle>
            <a:lvl1pPr>
              <a:defRPr/>
            </a:lvl1pPr>
          </a:lstStyle>
          <a:p>
            <a:pPr fontAlgn="base">
              <a:spcBef>
                <a:spcPct val="0"/>
              </a:spcBef>
              <a:spcAft>
                <a:spcPct val="0"/>
              </a:spcAft>
            </a:pPr>
            <a:endParaRPr lang="en-US" altLang="zh-CN">
              <a:solidFill>
                <a:srgbClr val="FFFFFF"/>
              </a:solidFill>
              <a:latin typeface="Arial" panose="020B0604020202020204" pitchFamily="34" charset="0"/>
            </a:endParaRPr>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117600" y="350838"/>
            <a:ext cx="9652000" cy="563562"/>
          </a:xfrm>
        </p:spPr>
        <p:txBody>
          <a:bodyPr/>
          <a:lstStyle/>
          <a:p>
            <a:r>
              <a:rPr lang="zh-CN" altLang="en-US"/>
              <a:t>单击此处编辑母版标题样式</a:t>
            </a:r>
            <a:endParaRPr lang="zh-CN" altLang="en-US"/>
          </a:p>
        </p:txBody>
      </p:sp>
      <p:sp>
        <p:nvSpPr>
          <p:cNvPr id="3" name="文本占位符 2"/>
          <p:cNvSpPr>
            <a:spLocks noGrp="1"/>
          </p:cNvSpPr>
          <p:nvPr>
            <p:ph type="body" sz="half" idx="1" hasCustomPrompt="1"/>
          </p:nvPr>
        </p:nvSpPr>
        <p:spPr>
          <a:xfrm>
            <a:off x="406400" y="1219200"/>
            <a:ext cx="5486400" cy="5105400"/>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096000" y="1219200"/>
            <a:ext cx="5486400" cy="5105400"/>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a:xfrm>
            <a:off x="5486400" y="6537326"/>
            <a:ext cx="2844800" cy="244475"/>
          </a:xfrm>
        </p:spPr>
        <p:txBody>
          <a:bodyPr/>
          <a:lstStyle>
            <a:lvl1pPr>
              <a:defRPr/>
            </a:lvl1pPr>
          </a:lstStyle>
          <a:p>
            <a:pPr algn="r" fontAlgn="base">
              <a:spcBef>
                <a:spcPct val="0"/>
              </a:spcBef>
              <a:spcAft>
                <a:spcPct val="0"/>
              </a:spcAft>
            </a:pPr>
            <a:endParaRPr lang="zh-CN" altLang="en-US">
              <a:solidFill>
                <a:srgbClr val="FFFFFF"/>
              </a:solidFill>
            </a:endParaRPr>
          </a:p>
        </p:txBody>
      </p:sp>
      <p:sp>
        <p:nvSpPr>
          <p:cNvPr id="6" name="灯片编号占位符 5"/>
          <p:cNvSpPr>
            <a:spLocks noGrp="1"/>
          </p:cNvSpPr>
          <p:nvPr>
            <p:ph type="sldNum" sz="quarter" idx="11"/>
          </p:nvPr>
        </p:nvSpPr>
        <p:spPr>
          <a:xfrm>
            <a:off x="406400" y="6537326"/>
            <a:ext cx="711200" cy="244475"/>
          </a:xfrm>
        </p:spPr>
        <p:txBody>
          <a:bodyPr/>
          <a:lstStyle>
            <a:lvl1pPr>
              <a:defRPr/>
            </a:lvl1pPr>
          </a:lstStyle>
          <a:p>
            <a:pPr fontAlgn="base">
              <a:spcBef>
                <a:spcPct val="0"/>
              </a:spcBef>
              <a:spcAft>
                <a:spcPct val="0"/>
              </a:spcAft>
            </a:pPr>
            <a:fld id="{2C128BFF-4DF0-4CE0-86A5-220B045FB87E}" type="slidenum">
              <a:rPr lang="zh-CN" altLang="en-US" smtClean="0">
                <a:solidFill>
                  <a:srgbClr val="FFFFFF"/>
                </a:solidFill>
              </a:rPr>
            </a:fld>
            <a:endParaRPr lang="en-US" altLang="zh-CN">
              <a:solidFill>
                <a:srgbClr val="FFFFFF"/>
              </a:solidFill>
            </a:endParaRPr>
          </a:p>
        </p:txBody>
      </p:sp>
      <p:sp>
        <p:nvSpPr>
          <p:cNvPr id="7" name="页脚占位符 6"/>
          <p:cNvSpPr>
            <a:spLocks noGrp="1"/>
          </p:cNvSpPr>
          <p:nvPr>
            <p:ph type="ftr" sz="quarter" idx="12"/>
          </p:nvPr>
        </p:nvSpPr>
        <p:spPr>
          <a:xfrm>
            <a:off x="1219200" y="6537326"/>
            <a:ext cx="3860800" cy="244475"/>
          </a:xfrm>
        </p:spPr>
        <p:txBody>
          <a:bodyPr/>
          <a:lstStyle>
            <a:lvl1pPr>
              <a:defRPr/>
            </a:lvl1pPr>
          </a:lstStyle>
          <a:p>
            <a:pPr fontAlgn="base">
              <a:spcBef>
                <a:spcPct val="0"/>
              </a:spcBef>
              <a:spcAft>
                <a:spcPct val="0"/>
              </a:spcAft>
            </a:pPr>
            <a:endParaRPr lang="en-US" altLang="zh-CN">
              <a:solidFill>
                <a:srgbClr val="FFFFFF"/>
              </a:solidFill>
              <a:latin typeface="Arial" panose="020B0604020202020204" pitchFamily="34" charset="0"/>
            </a:endParaRPr>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pPr algn="r" fontAlgn="base">
              <a:spcBef>
                <a:spcPct val="0"/>
              </a:spcBef>
              <a:spcAft>
                <a:spcPct val="0"/>
              </a:spcAft>
            </a:pPr>
            <a:endParaRPr lang="zh-CN" altLang="en-US">
              <a:solidFill>
                <a:srgbClr val="FFFFFF"/>
              </a:solidFill>
            </a:endParaRPr>
          </a:p>
        </p:txBody>
      </p:sp>
      <p:sp>
        <p:nvSpPr>
          <p:cNvPr id="3" name="灯片编号占位符 2"/>
          <p:cNvSpPr>
            <a:spLocks noGrp="1"/>
          </p:cNvSpPr>
          <p:nvPr>
            <p:ph type="sldNum" sz="quarter" idx="11"/>
          </p:nvPr>
        </p:nvSpPr>
        <p:spPr/>
        <p:txBody>
          <a:bodyPr/>
          <a:lstStyle>
            <a:lvl1pPr>
              <a:defRPr/>
            </a:lvl1pPr>
          </a:lstStyle>
          <a:p>
            <a:pPr fontAlgn="base">
              <a:spcBef>
                <a:spcPct val="0"/>
              </a:spcBef>
              <a:spcAft>
                <a:spcPct val="0"/>
              </a:spcAft>
            </a:pPr>
            <a:fld id="{BE24014D-8F88-4880-8A29-505C9A7995DD}" type="slidenum">
              <a:rPr lang="zh-CN" altLang="en-US" smtClean="0">
                <a:solidFill>
                  <a:srgbClr val="FFFFFF"/>
                </a:solidFill>
              </a:rPr>
            </a:fld>
            <a:endParaRPr lang="en-US" altLang="zh-CN">
              <a:solidFill>
                <a:srgbClr val="FFFFFF"/>
              </a:solidFill>
            </a:endParaRPr>
          </a:p>
        </p:txBody>
      </p:sp>
      <p:sp>
        <p:nvSpPr>
          <p:cNvPr id="4" name="页脚占位符 3"/>
          <p:cNvSpPr>
            <a:spLocks noGrp="1"/>
          </p:cNvSpPr>
          <p:nvPr>
            <p:ph type="ftr" sz="quarter" idx="12"/>
          </p:nvPr>
        </p:nvSpPr>
        <p:spPr/>
        <p:txBody>
          <a:bodyPr/>
          <a:lstStyle>
            <a:lvl1pPr>
              <a:defRPr/>
            </a:lvl1pPr>
          </a:lstStyle>
          <a:p>
            <a:pPr fontAlgn="base">
              <a:spcBef>
                <a:spcPct val="0"/>
              </a:spcBef>
              <a:spcAft>
                <a:spcPct val="0"/>
              </a:spcAft>
            </a:pPr>
            <a:endParaRPr lang="en-US" altLang="zh-CN">
              <a:solidFill>
                <a:srgbClr val="FFFFFF"/>
              </a:solidFill>
              <a:latin typeface="Arial" panose="020B0604020202020204" pitchFamily="34" charset="0"/>
            </a:endParaRPr>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1074400" cy="1143000"/>
          </a:xfrm>
        </p:spPr>
        <p:txBody>
          <a:bodyPr>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lang="zh-CN" altLang="en-US"/>
              <a:t>单击此处编辑母版标题样式</a:t>
            </a:r>
            <a:endParaRPr lang="en-US"/>
          </a:p>
        </p:txBody>
      </p:sp>
      <p:sp>
        <p:nvSpPr>
          <p:cNvPr id="3" name="Date Placeholder 9"/>
          <p:cNvSpPr>
            <a:spLocks noGrp="1"/>
          </p:cNvSpPr>
          <p:nvPr>
            <p:ph type="dt" sz="half" idx="10"/>
          </p:nvPr>
        </p:nvSpPr>
        <p:spPr/>
        <p:txBody>
          <a:bodyPr/>
          <a:lstStyle>
            <a:lvl1pPr>
              <a:defRPr/>
            </a:lvl1pPr>
          </a:lstStyle>
          <a:p>
            <a:pPr>
              <a:defRPr/>
            </a:pPr>
            <a:endParaRPr lang="en-US" altLang="zh-CN"/>
          </a:p>
        </p:txBody>
      </p:sp>
      <p:sp>
        <p:nvSpPr>
          <p:cNvPr id="4" name="Footer Placeholder 21"/>
          <p:cNvSpPr>
            <a:spLocks noGrp="1"/>
          </p:cNvSpPr>
          <p:nvPr>
            <p:ph type="ftr" sz="quarter" idx="11"/>
          </p:nvPr>
        </p:nvSpPr>
        <p:spPr/>
        <p:txBody>
          <a:bodyPr/>
          <a:lstStyle>
            <a:lvl1pPr>
              <a:defRPr/>
            </a:lvl1pPr>
          </a:lstStyle>
          <a:p>
            <a:pPr>
              <a:defRPr/>
            </a:pPr>
            <a:endParaRPr lang="en-US" altLang="zh-CN"/>
          </a:p>
        </p:txBody>
      </p:sp>
      <p:sp>
        <p:nvSpPr>
          <p:cNvPr id="5" name="Slide Number Placeholder 17"/>
          <p:cNvSpPr>
            <a:spLocks noGrp="1"/>
          </p:cNvSpPr>
          <p:nvPr>
            <p:ph type="sldNum" sz="quarter" idx="12"/>
          </p:nvPr>
        </p:nvSpPr>
        <p:spPr/>
        <p:txBody>
          <a:bodyPr/>
          <a:lstStyle>
            <a:lvl1pPr>
              <a:defRPr/>
            </a:lvl1pPr>
          </a:lstStyle>
          <a:p>
            <a:fld id="{E115594E-5D9E-47E3-BDBC-08692F86E125}" type="slidenum">
              <a:rPr lang="en-US" altLang="zh-CN"/>
            </a:fld>
            <a:endParaRPr lang="en-US" altLang="zh-CN"/>
          </a:p>
        </p:txBody>
      </p:sp>
    </p:spTree>
  </p:cSld>
  <p:clrMapOvr>
    <a:masterClrMapping/>
  </p:clrMapOvr>
  <p:transition/>
</p:sldLayout>
</file>

<file path=ppt/slideMasters/_rels/slideMaster1.xml.rels><?xml version="1.0" encoding="UTF-8" standalone="yes"?>
<Relationships xmlns="http://schemas.openxmlformats.org/package/2006/relationships"><Relationship Id="rId9" Type="http://schemas.openxmlformats.org/officeDocument/2006/relationships/image" Target="../media/image1.png"/><Relationship Id="rId8" Type="http://schemas.openxmlformats.org/officeDocument/2006/relationships/image" Target="../media/image8.png"/><Relationship Id="rId7" Type="http://schemas.openxmlformats.org/officeDocument/2006/relationships/image" Target="../media/image7.png"/><Relationship Id="rId6" Type="http://schemas.openxmlformats.org/officeDocument/2006/relationships/image" Target="../media/image6.png"/><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0"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grpSp>
        <p:nvGrpSpPr>
          <p:cNvPr id="1190" name="Group 166"/>
          <p:cNvGrpSpPr/>
          <p:nvPr/>
        </p:nvGrpSpPr>
        <p:grpSpPr bwMode="auto">
          <a:xfrm>
            <a:off x="0" y="0"/>
            <a:ext cx="12192000" cy="6858000"/>
            <a:chOff x="0" y="0"/>
            <a:chExt cx="5760" cy="4320"/>
          </a:xfrm>
        </p:grpSpPr>
        <p:grpSp>
          <p:nvGrpSpPr>
            <p:cNvPr id="1189" name="Group 165"/>
            <p:cNvGrpSpPr/>
            <p:nvPr/>
          </p:nvGrpSpPr>
          <p:grpSpPr bwMode="auto">
            <a:xfrm>
              <a:off x="0" y="0"/>
              <a:ext cx="5760" cy="1224"/>
              <a:chOff x="0" y="0"/>
              <a:chExt cx="5760" cy="1224"/>
            </a:xfrm>
          </p:grpSpPr>
          <p:pic>
            <p:nvPicPr>
              <p:cNvPr id="1173" name="Picture 149" descr="4_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gray">
              <a:xfrm>
                <a:off x="0" y="0"/>
                <a:ext cx="5760" cy="1224"/>
              </a:xfrm>
              <a:prstGeom prst="rect">
                <a:avLst/>
              </a:prstGeom>
              <a:noFill/>
              <a:extLst>
                <a:ext uri="{909E8E84-426E-40DD-AFC4-6F175D3DCCD1}">
                  <a14:hiddenFill xmlns:a14="http://schemas.microsoft.com/office/drawing/2010/main">
                    <a:solidFill>
                      <a:srgbClr val="FFFFFF"/>
                    </a:solidFill>
                  </a14:hiddenFill>
                </a:ext>
              </a:extLst>
            </p:spPr>
          </p:pic>
          <p:pic>
            <p:nvPicPr>
              <p:cNvPr id="1177" name="Picture 153" descr="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gray">
              <a:xfrm>
                <a:off x="5094" y="0"/>
                <a:ext cx="666" cy="846"/>
              </a:xfrm>
              <a:prstGeom prst="rect">
                <a:avLst/>
              </a:prstGeom>
              <a:noFill/>
              <a:extLst>
                <a:ext uri="{909E8E84-426E-40DD-AFC4-6F175D3DCCD1}">
                  <a14:hiddenFill xmlns:a14="http://schemas.microsoft.com/office/drawing/2010/main">
                    <a:solidFill>
                      <a:srgbClr val="FFFFFF"/>
                    </a:solidFill>
                  </a14:hiddenFill>
                </a:ext>
              </a:extLst>
            </p:spPr>
          </p:pic>
          <p:pic>
            <p:nvPicPr>
              <p:cNvPr id="1182" name="Picture 158" descr="12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gray">
              <a:xfrm rot="930090">
                <a:off x="48" y="96"/>
                <a:ext cx="543" cy="524"/>
              </a:xfrm>
              <a:prstGeom prst="rect">
                <a:avLst/>
              </a:prstGeom>
              <a:noFill/>
              <a:extLst>
                <a:ext uri="{909E8E84-426E-40DD-AFC4-6F175D3DCCD1}">
                  <a14:hiddenFill xmlns:a14="http://schemas.microsoft.com/office/drawing/2010/main">
                    <a:solidFill>
                      <a:srgbClr val="FFFFFF"/>
                    </a:solidFill>
                  </a14:hiddenFill>
                </a:ext>
              </a:extLst>
            </p:spPr>
          </p:pic>
        </p:grpSp>
        <p:sp>
          <p:nvSpPr>
            <p:cNvPr id="1188" name="Rectangle 164"/>
            <p:cNvSpPr>
              <a:spLocks noChangeArrowheads="1"/>
            </p:cNvSpPr>
            <p:nvPr/>
          </p:nvSpPr>
          <p:spPr bwMode="gray">
            <a:xfrm>
              <a:off x="0" y="4128"/>
              <a:ext cx="5760" cy="192"/>
            </a:xfrm>
            <a:prstGeom prst="rect">
              <a:avLst/>
            </a:prstGeom>
            <a:gradFill rotWithShape="1">
              <a:gsLst>
                <a:gs pos="0">
                  <a:schemeClr val="hlink"/>
                </a:gs>
                <a:gs pos="100000">
                  <a:schemeClr val="hlink">
                    <a:gamma/>
                    <a:shade val="69804"/>
                    <a:invGamma/>
                  </a:schemeClr>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00"/>
            </a:p>
          </p:txBody>
        </p:sp>
        <p:pic>
          <p:nvPicPr>
            <p:cNvPr id="1187" name="Picture 163" descr="artplus_nature_naturalcity38_g"/>
            <p:cNvPicPr>
              <a:picLocks noChangeAspect="1" noChangeArrowheads="1"/>
            </p:cNvPicPr>
            <p:nvPr/>
          </p:nvPicPr>
          <p:blipFill>
            <a:blip r:embed="rId9">
              <a:lum bright="12000" contrast="12000"/>
              <a:extLst>
                <a:ext uri="{28A0092B-C50C-407E-A947-70E740481C1C}">
                  <a14:useLocalDpi xmlns:a14="http://schemas.microsoft.com/office/drawing/2010/main" val="0"/>
                </a:ext>
              </a:extLst>
            </a:blip>
            <a:srcRect r="31580"/>
            <a:stretch>
              <a:fillRect/>
            </a:stretch>
          </p:blipFill>
          <p:spPr bwMode="gray">
            <a:xfrm>
              <a:off x="4752" y="3353"/>
              <a:ext cx="1008" cy="967"/>
            </a:xfrm>
            <a:prstGeom prst="rect">
              <a:avLst/>
            </a:prstGeom>
            <a:noFill/>
            <a:extLst>
              <a:ext uri="{909E8E84-426E-40DD-AFC4-6F175D3DCCD1}">
                <a14:hiddenFill xmlns:a14="http://schemas.microsoft.com/office/drawing/2010/main">
                  <a:solidFill>
                    <a:srgbClr val="FFFFFF"/>
                  </a:solidFill>
                </a14:hiddenFill>
              </a:ext>
            </a:extLst>
          </p:spPr>
        </p:pic>
      </p:grpSp>
      <p:sp>
        <p:nvSpPr>
          <p:cNvPr id="1028" name="Rectangle 4"/>
          <p:cNvSpPr>
            <a:spLocks noGrp="1" noChangeArrowheads="1"/>
          </p:cNvSpPr>
          <p:nvPr>
            <p:ph type="dt" sz="half" idx="2"/>
          </p:nvPr>
        </p:nvSpPr>
        <p:spPr bwMode="gray">
          <a:xfrm>
            <a:off x="5486400" y="6537326"/>
            <a:ext cx="284480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000" b="1">
                <a:solidFill>
                  <a:schemeClr val="bg1"/>
                </a:solidFill>
                <a:latin typeface="+mn-lt"/>
                <a:ea typeface="宋体" panose="02010600030101010101" pitchFamily="2" charset="-122"/>
              </a:defRPr>
            </a:lvl1pPr>
          </a:lstStyle>
          <a:p>
            <a:endParaRPr lang="zh-CN" altLang="en-US"/>
          </a:p>
        </p:txBody>
      </p:sp>
      <p:sp>
        <p:nvSpPr>
          <p:cNvPr id="1027" name="Rectangle 3"/>
          <p:cNvSpPr>
            <a:spLocks noGrp="1" noChangeArrowheads="1"/>
          </p:cNvSpPr>
          <p:nvPr>
            <p:ph type="body" idx="1"/>
          </p:nvPr>
        </p:nvSpPr>
        <p:spPr bwMode="gray">
          <a:xfrm>
            <a:off x="406400" y="1219200"/>
            <a:ext cx="11176000" cy="510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en-US" altLang="zh-CN"/>
          </a:p>
        </p:txBody>
      </p:sp>
      <p:sp>
        <p:nvSpPr>
          <p:cNvPr id="1030" name="Rectangle 6"/>
          <p:cNvSpPr>
            <a:spLocks noGrp="1" noChangeArrowheads="1"/>
          </p:cNvSpPr>
          <p:nvPr>
            <p:ph type="sldNum" sz="quarter" idx="4"/>
          </p:nvPr>
        </p:nvSpPr>
        <p:spPr bwMode="gray">
          <a:xfrm>
            <a:off x="406400" y="6537326"/>
            <a:ext cx="71120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l">
              <a:defRPr sz="1000">
                <a:solidFill>
                  <a:schemeClr val="bg1"/>
                </a:solidFill>
                <a:latin typeface="+mn-lt"/>
                <a:ea typeface="宋体" panose="02010600030101010101" pitchFamily="2" charset="-122"/>
              </a:defRPr>
            </a:lvl1pPr>
          </a:lstStyle>
          <a:p>
            <a:fld id="{0D348F7C-007D-46CD-BB45-659E5B12D089}" type="slidenum">
              <a:rPr lang="zh-CN" altLang="en-US"/>
            </a:fld>
            <a:endParaRPr lang="en-US" altLang="zh-CN"/>
          </a:p>
        </p:txBody>
      </p:sp>
      <p:sp>
        <p:nvSpPr>
          <p:cNvPr id="1159" name="Line 135"/>
          <p:cNvSpPr>
            <a:spLocks noChangeShapeType="1"/>
          </p:cNvSpPr>
          <p:nvPr/>
        </p:nvSpPr>
        <p:spPr bwMode="white">
          <a:xfrm>
            <a:off x="12700" y="5967413"/>
            <a:ext cx="855133" cy="0"/>
          </a:xfrm>
          <a:prstGeom prst="line">
            <a:avLst/>
          </a:prstGeom>
          <a:noFill/>
          <a:ln w="12700">
            <a:solidFill>
              <a:srgbClr val="FFFF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p>
        </p:txBody>
      </p:sp>
      <p:sp>
        <p:nvSpPr>
          <p:cNvPr id="1026" name="Rectangle 2"/>
          <p:cNvSpPr>
            <a:spLocks noGrp="1" noChangeArrowheads="1"/>
          </p:cNvSpPr>
          <p:nvPr>
            <p:ph type="title"/>
          </p:nvPr>
        </p:nvSpPr>
        <p:spPr bwMode="gray">
          <a:xfrm>
            <a:off x="1117600" y="350838"/>
            <a:ext cx="9652000" cy="563562"/>
          </a:xfrm>
          <a:prstGeom prst="rect">
            <a:avLst/>
          </a:prstGeom>
          <a:noFill/>
          <a:ln>
            <a:noFill/>
          </a:ln>
          <a:effectLst>
            <a:outerShdw dist="28398" dir="1593903" algn="ctr" rotWithShape="0">
              <a:schemeClr val="bg1">
                <a:alpha val="50000"/>
              </a:schemeClr>
            </a:outer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ctr" anchorCtr="0" compatLnSpc="1"/>
          <a:lstStyle/>
          <a:p>
            <a:pPr lvl="0"/>
            <a:r>
              <a:rPr lang="en-US" altLang="zh-CN"/>
              <a:t>Click to edit Master title style</a:t>
            </a:r>
            <a:endParaRPr lang="en-US" altLang="zh-CN"/>
          </a:p>
        </p:txBody>
      </p:sp>
      <p:sp>
        <p:nvSpPr>
          <p:cNvPr id="1183" name="Rectangle 159"/>
          <p:cNvSpPr>
            <a:spLocks noGrp="1" noChangeArrowheads="1"/>
          </p:cNvSpPr>
          <p:nvPr>
            <p:ph type="ftr" sz="quarter" idx="3"/>
          </p:nvPr>
        </p:nvSpPr>
        <p:spPr bwMode="auto">
          <a:xfrm>
            <a:off x="1219200" y="6537326"/>
            <a:ext cx="386080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solidFill>
                  <a:schemeClr val="bg1"/>
                </a:solidFill>
                <a:ea typeface="宋体" panose="02010600030101010101" pitchFamily="2" charset="-122"/>
              </a:defRPr>
            </a:lvl1pPr>
          </a:lstStyle>
          <a:p>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ransition/>
  <p:txStyles>
    <p:titleStyle>
      <a:lvl1pPr algn="l" rtl="0" fontAlgn="base">
        <a:spcBef>
          <a:spcPct val="0"/>
        </a:spcBef>
        <a:spcAft>
          <a:spcPct val="0"/>
        </a:spcAft>
        <a:defRPr sz="3200" b="1" kern="1200">
          <a:solidFill>
            <a:srgbClr val="000000"/>
          </a:solidFill>
          <a:latin typeface="+mj-lt"/>
          <a:ea typeface="+mj-ea"/>
          <a:cs typeface="+mj-cs"/>
        </a:defRPr>
      </a:lvl1pPr>
      <a:lvl2pPr algn="l" rtl="0" fontAlgn="base">
        <a:spcBef>
          <a:spcPct val="0"/>
        </a:spcBef>
        <a:spcAft>
          <a:spcPct val="0"/>
        </a:spcAft>
        <a:defRPr sz="3200" b="1">
          <a:solidFill>
            <a:srgbClr val="000000"/>
          </a:solidFill>
          <a:latin typeface="Verdana" panose="020B0604030504040204" pitchFamily="34" charset="0"/>
        </a:defRPr>
      </a:lvl2pPr>
      <a:lvl3pPr algn="l" rtl="0" fontAlgn="base">
        <a:spcBef>
          <a:spcPct val="0"/>
        </a:spcBef>
        <a:spcAft>
          <a:spcPct val="0"/>
        </a:spcAft>
        <a:defRPr sz="3200" b="1">
          <a:solidFill>
            <a:srgbClr val="000000"/>
          </a:solidFill>
          <a:latin typeface="Verdana" panose="020B0604030504040204" pitchFamily="34" charset="0"/>
        </a:defRPr>
      </a:lvl3pPr>
      <a:lvl4pPr algn="l" rtl="0" fontAlgn="base">
        <a:spcBef>
          <a:spcPct val="0"/>
        </a:spcBef>
        <a:spcAft>
          <a:spcPct val="0"/>
        </a:spcAft>
        <a:defRPr sz="3200" b="1">
          <a:solidFill>
            <a:srgbClr val="000000"/>
          </a:solidFill>
          <a:latin typeface="Verdana" panose="020B0604030504040204" pitchFamily="34" charset="0"/>
        </a:defRPr>
      </a:lvl4pPr>
      <a:lvl5pPr algn="l" rtl="0" fontAlgn="base">
        <a:spcBef>
          <a:spcPct val="0"/>
        </a:spcBef>
        <a:spcAft>
          <a:spcPct val="0"/>
        </a:spcAft>
        <a:defRPr sz="3200" b="1">
          <a:solidFill>
            <a:srgbClr val="000000"/>
          </a:solidFill>
          <a:latin typeface="Verdana" panose="020B0604030504040204" pitchFamily="34" charset="0"/>
        </a:defRPr>
      </a:lvl5pPr>
      <a:lvl6pPr marL="457200" algn="l" rtl="0" fontAlgn="base">
        <a:spcBef>
          <a:spcPct val="0"/>
        </a:spcBef>
        <a:spcAft>
          <a:spcPct val="0"/>
        </a:spcAft>
        <a:defRPr sz="3200" b="1">
          <a:solidFill>
            <a:srgbClr val="000000"/>
          </a:solidFill>
          <a:latin typeface="Verdana" panose="020B0604030504040204" pitchFamily="34" charset="0"/>
        </a:defRPr>
      </a:lvl6pPr>
      <a:lvl7pPr marL="914400" algn="l" rtl="0" fontAlgn="base">
        <a:spcBef>
          <a:spcPct val="0"/>
        </a:spcBef>
        <a:spcAft>
          <a:spcPct val="0"/>
        </a:spcAft>
        <a:defRPr sz="3200" b="1">
          <a:solidFill>
            <a:srgbClr val="000000"/>
          </a:solidFill>
          <a:latin typeface="Verdana" panose="020B0604030504040204" pitchFamily="34" charset="0"/>
        </a:defRPr>
      </a:lvl7pPr>
      <a:lvl8pPr marL="1371600" algn="l" rtl="0" fontAlgn="base">
        <a:spcBef>
          <a:spcPct val="0"/>
        </a:spcBef>
        <a:spcAft>
          <a:spcPct val="0"/>
        </a:spcAft>
        <a:defRPr sz="3200" b="1">
          <a:solidFill>
            <a:srgbClr val="000000"/>
          </a:solidFill>
          <a:latin typeface="Verdana" panose="020B0604030504040204" pitchFamily="34" charset="0"/>
        </a:defRPr>
      </a:lvl8pPr>
      <a:lvl9pPr marL="1828800" algn="l" rtl="0" fontAlgn="base">
        <a:spcBef>
          <a:spcPct val="0"/>
        </a:spcBef>
        <a:spcAft>
          <a:spcPct val="0"/>
        </a:spcAft>
        <a:defRPr sz="3200" b="1">
          <a:solidFill>
            <a:srgbClr val="000000"/>
          </a:solidFill>
          <a:latin typeface="Verdana" panose="020B0604030504040204" pitchFamily="34" charset="0"/>
        </a:defRPr>
      </a:lvl9pPr>
    </p:titleStyle>
    <p:bodyStyle>
      <a:lvl1pPr marL="342900" indent="-342900" algn="l" rtl="0" fontAlgn="base">
        <a:spcBef>
          <a:spcPct val="20000"/>
        </a:spcBef>
        <a:spcAft>
          <a:spcPct val="0"/>
        </a:spcAft>
        <a:buClr>
          <a:schemeClr val="tx1"/>
        </a:buClr>
        <a:buFont typeface="Wingdings" panose="05000000000000000000" pitchFamily="2" charset="2"/>
        <a:buChar char="v"/>
        <a:defRPr sz="2800" b="1" kern="1200">
          <a:solidFill>
            <a:schemeClr val="tx1"/>
          </a:solidFill>
          <a:latin typeface="+mn-lt"/>
          <a:ea typeface="+mn-ea"/>
          <a:cs typeface="+mn-cs"/>
        </a:defRPr>
      </a:lvl1pPr>
      <a:lvl2pPr marL="742950" indent="-285750" algn="l" rtl="0" fontAlgn="base">
        <a:spcBef>
          <a:spcPct val="20000"/>
        </a:spcBef>
        <a:spcAft>
          <a:spcPct val="0"/>
        </a:spcAft>
        <a:buClr>
          <a:schemeClr val="tx2"/>
        </a:buClr>
        <a:buFont typeface="Wingdings" panose="05000000000000000000" pitchFamily="2" charset="2"/>
        <a:buChar char="§"/>
        <a:defRPr sz="2800" kern="1200">
          <a:solidFill>
            <a:schemeClr val="tx1"/>
          </a:solidFill>
          <a:latin typeface="Arial" panose="020B0604020202020204" pitchFamily="34" charset="0"/>
          <a:ea typeface="+mn-ea"/>
          <a:cs typeface="+mn-cs"/>
        </a:defRPr>
      </a:lvl2pPr>
      <a:lvl3pPr marL="1143000" indent="-228600" algn="l" rtl="0" fontAlgn="base">
        <a:spcBef>
          <a:spcPct val="20000"/>
        </a:spcBef>
        <a:spcAft>
          <a:spcPct val="0"/>
        </a:spcAft>
        <a:buClr>
          <a:schemeClr val="hlink"/>
        </a:buClr>
        <a:buChar char="•"/>
        <a:defRPr sz="2400" kern="1200">
          <a:solidFill>
            <a:schemeClr val="tx1"/>
          </a:solidFill>
          <a:latin typeface="Arial" panose="020B0604020202020204" pitchFamily="34" charset="0"/>
          <a:ea typeface="+mn-ea"/>
          <a:cs typeface="+mn-cs"/>
        </a:defRPr>
      </a:lvl3pPr>
      <a:lvl4pPr marL="1600200" indent="-228600" algn="l" rtl="0" fontAlgn="base">
        <a:spcBef>
          <a:spcPct val="20000"/>
        </a:spcBef>
        <a:spcAft>
          <a:spcPct val="0"/>
        </a:spcAft>
        <a:buChar char="–"/>
        <a:defRPr sz="2000" kern="1200">
          <a:solidFill>
            <a:schemeClr val="tx1"/>
          </a:solidFill>
          <a:latin typeface="Arial" panose="020B0604020202020204" pitchFamily="34" charset="0"/>
          <a:ea typeface="+mn-ea"/>
          <a:cs typeface="+mn-cs"/>
        </a:defRPr>
      </a:lvl4pPr>
      <a:lvl5pPr marL="2057400" indent="-228600" algn="l" rtl="0" fontAlgn="base">
        <a:spcBef>
          <a:spcPct val="20000"/>
        </a:spcBef>
        <a:spcAft>
          <a:spcPct val="0"/>
        </a:spcAft>
        <a:buChar char="»"/>
        <a:defRPr sz="200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9.wmf"/><Relationship Id="rId1" Type="http://schemas.openxmlformats.org/officeDocument/2006/relationships/oleObject" Target="../embeddings/oleObject1.bin"/></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2.xml"/><Relationship Id="rId2" Type="http://schemas.openxmlformats.org/officeDocument/2006/relationships/image" Target="../media/image18.png"/><Relationship Id="rId1" Type="http://schemas.openxmlformats.org/officeDocument/2006/relationships/image" Target="../media/image17.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1.png"/><Relationship Id="rId1" Type="http://schemas.openxmlformats.org/officeDocument/2006/relationships/image" Target="../media/image20.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18.xml.rels><?xml version="1.0" encoding="UTF-8" standalone="yes"?>
<Relationships xmlns="http://schemas.openxmlformats.org/package/2006/relationships"><Relationship Id="rId9" Type="http://schemas.openxmlformats.org/officeDocument/2006/relationships/oleObject" Target="../embeddings/oleObject6.bin"/><Relationship Id="rId8" Type="http://schemas.openxmlformats.org/officeDocument/2006/relationships/image" Target="../media/image25.wmf"/><Relationship Id="rId7" Type="http://schemas.openxmlformats.org/officeDocument/2006/relationships/oleObject" Target="../embeddings/oleObject5.bin"/><Relationship Id="rId6" Type="http://schemas.openxmlformats.org/officeDocument/2006/relationships/image" Target="../media/image24.wmf"/><Relationship Id="rId5" Type="http://schemas.openxmlformats.org/officeDocument/2006/relationships/oleObject" Target="../embeddings/oleObject4.bin"/><Relationship Id="rId4" Type="http://schemas.openxmlformats.org/officeDocument/2006/relationships/image" Target="../media/image23.wmf"/><Relationship Id="rId3" Type="http://schemas.openxmlformats.org/officeDocument/2006/relationships/oleObject" Target="../embeddings/oleObject3.bin"/><Relationship Id="rId24" Type="http://schemas.openxmlformats.org/officeDocument/2006/relationships/vmlDrawing" Target="../drawings/vmlDrawing2.vml"/><Relationship Id="rId23" Type="http://schemas.openxmlformats.org/officeDocument/2006/relationships/slideLayout" Target="../slideLayouts/slideLayout3.xml"/><Relationship Id="rId22" Type="http://schemas.openxmlformats.org/officeDocument/2006/relationships/image" Target="../media/image32.wmf"/><Relationship Id="rId21" Type="http://schemas.openxmlformats.org/officeDocument/2006/relationships/oleObject" Target="../embeddings/oleObject12.bin"/><Relationship Id="rId20" Type="http://schemas.openxmlformats.org/officeDocument/2006/relationships/image" Target="../media/image31.wmf"/><Relationship Id="rId2" Type="http://schemas.openxmlformats.org/officeDocument/2006/relationships/image" Target="../media/image22.wmf"/><Relationship Id="rId19" Type="http://schemas.openxmlformats.org/officeDocument/2006/relationships/oleObject" Target="../embeddings/oleObject11.bin"/><Relationship Id="rId18" Type="http://schemas.openxmlformats.org/officeDocument/2006/relationships/image" Target="../media/image30.wmf"/><Relationship Id="rId17" Type="http://schemas.openxmlformats.org/officeDocument/2006/relationships/oleObject" Target="../embeddings/oleObject10.bin"/><Relationship Id="rId16" Type="http://schemas.openxmlformats.org/officeDocument/2006/relationships/image" Target="../media/image29.wmf"/><Relationship Id="rId15" Type="http://schemas.openxmlformats.org/officeDocument/2006/relationships/oleObject" Target="../embeddings/oleObject9.bin"/><Relationship Id="rId14" Type="http://schemas.openxmlformats.org/officeDocument/2006/relationships/image" Target="../media/image28.wmf"/><Relationship Id="rId13" Type="http://schemas.openxmlformats.org/officeDocument/2006/relationships/oleObject" Target="../embeddings/oleObject8.bin"/><Relationship Id="rId12" Type="http://schemas.openxmlformats.org/officeDocument/2006/relationships/image" Target="../media/image27.wmf"/><Relationship Id="rId11" Type="http://schemas.openxmlformats.org/officeDocument/2006/relationships/oleObject" Target="../embeddings/oleObject7.bin"/><Relationship Id="rId10" Type="http://schemas.openxmlformats.org/officeDocument/2006/relationships/image" Target="../media/image26.wmf"/><Relationship Id="rId1" Type="http://schemas.openxmlformats.org/officeDocument/2006/relationships/oleObject" Target="../embeddings/oleObject2.bin"/></Relationships>
</file>

<file path=ppt/slides/_rels/slide19.xml.rels><?xml version="1.0" encoding="UTF-8" standalone="yes"?>
<Relationships xmlns="http://schemas.openxmlformats.org/package/2006/relationships"><Relationship Id="rId9" Type="http://schemas.openxmlformats.org/officeDocument/2006/relationships/oleObject" Target="../embeddings/oleObject17.bin"/><Relationship Id="rId8" Type="http://schemas.openxmlformats.org/officeDocument/2006/relationships/image" Target="../media/image36.wmf"/><Relationship Id="rId7" Type="http://schemas.openxmlformats.org/officeDocument/2006/relationships/oleObject" Target="../embeddings/oleObject16.bin"/><Relationship Id="rId6" Type="http://schemas.openxmlformats.org/officeDocument/2006/relationships/image" Target="../media/image35.wmf"/><Relationship Id="rId5" Type="http://schemas.openxmlformats.org/officeDocument/2006/relationships/oleObject" Target="../embeddings/oleObject15.bin"/><Relationship Id="rId4" Type="http://schemas.openxmlformats.org/officeDocument/2006/relationships/image" Target="../media/image34.wmf"/><Relationship Id="rId3" Type="http://schemas.openxmlformats.org/officeDocument/2006/relationships/oleObject" Target="../embeddings/oleObject14.bin"/><Relationship Id="rId2" Type="http://schemas.openxmlformats.org/officeDocument/2006/relationships/image" Target="../media/image33.wmf"/><Relationship Id="rId14" Type="http://schemas.openxmlformats.org/officeDocument/2006/relationships/vmlDrawing" Target="../drawings/vmlDrawing3.vml"/><Relationship Id="rId13" Type="http://schemas.openxmlformats.org/officeDocument/2006/relationships/slideLayout" Target="../slideLayouts/slideLayout2.xml"/><Relationship Id="rId12" Type="http://schemas.openxmlformats.org/officeDocument/2006/relationships/image" Target="../media/image38.wmf"/><Relationship Id="rId11" Type="http://schemas.openxmlformats.org/officeDocument/2006/relationships/oleObject" Target="../embeddings/oleObject18.bin"/><Relationship Id="rId10" Type="http://schemas.openxmlformats.org/officeDocument/2006/relationships/image" Target="../media/image37.wmf"/><Relationship Id="rId1" Type="http://schemas.openxmlformats.org/officeDocument/2006/relationships/oleObject" Target="../embeddings/oleObject13.bin"/></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21.xml.rels><?xml version="1.0" encoding="UTF-8" standalone="yes"?>
<Relationships xmlns="http://schemas.openxmlformats.org/package/2006/relationships"><Relationship Id="rId9" Type="http://schemas.openxmlformats.org/officeDocument/2006/relationships/oleObject" Target="../embeddings/oleObject23.bin"/><Relationship Id="rId8" Type="http://schemas.openxmlformats.org/officeDocument/2006/relationships/image" Target="../media/image42.wmf"/><Relationship Id="rId7" Type="http://schemas.openxmlformats.org/officeDocument/2006/relationships/oleObject" Target="../embeddings/oleObject22.bin"/><Relationship Id="rId6" Type="http://schemas.openxmlformats.org/officeDocument/2006/relationships/image" Target="../media/image41.wmf"/><Relationship Id="rId5" Type="http://schemas.openxmlformats.org/officeDocument/2006/relationships/oleObject" Target="../embeddings/oleObject21.bin"/><Relationship Id="rId4" Type="http://schemas.openxmlformats.org/officeDocument/2006/relationships/image" Target="../media/image40.wmf"/><Relationship Id="rId3" Type="http://schemas.openxmlformats.org/officeDocument/2006/relationships/oleObject" Target="../embeddings/oleObject20.bin"/><Relationship Id="rId20" Type="http://schemas.openxmlformats.org/officeDocument/2006/relationships/vmlDrawing" Target="../drawings/vmlDrawing4.vml"/><Relationship Id="rId2" Type="http://schemas.openxmlformats.org/officeDocument/2006/relationships/image" Target="../media/image39.wmf"/><Relationship Id="rId19" Type="http://schemas.openxmlformats.org/officeDocument/2006/relationships/slideLayout" Target="../slideLayouts/slideLayout2.xml"/><Relationship Id="rId18" Type="http://schemas.openxmlformats.org/officeDocument/2006/relationships/image" Target="../media/image47.wmf"/><Relationship Id="rId17" Type="http://schemas.openxmlformats.org/officeDocument/2006/relationships/oleObject" Target="../embeddings/oleObject27.bin"/><Relationship Id="rId16" Type="http://schemas.openxmlformats.org/officeDocument/2006/relationships/image" Target="../media/image46.wmf"/><Relationship Id="rId15" Type="http://schemas.openxmlformats.org/officeDocument/2006/relationships/oleObject" Target="../embeddings/oleObject26.bin"/><Relationship Id="rId14" Type="http://schemas.openxmlformats.org/officeDocument/2006/relationships/image" Target="../media/image45.wmf"/><Relationship Id="rId13" Type="http://schemas.openxmlformats.org/officeDocument/2006/relationships/oleObject" Target="../embeddings/oleObject25.bin"/><Relationship Id="rId12" Type="http://schemas.openxmlformats.org/officeDocument/2006/relationships/image" Target="../media/image44.wmf"/><Relationship Id="rId11" Type="http://schemas.openxmlformats.org/officeDocument/2006/relationships/oleObject" Target="../embeddings/oleObject24.bin"/><Relationship Id="rId10" Type="http://schemas.openxmlformats.org/officeDocument/2006/relationships/image" Target="../media/image43.wmf"/><Relationship Id="rId1" Type="http://schemas.openxmlformats.org/officeDocument/2006/relationships/oleObject" Target="../embeddings/oleObject19.bin"/></Relationships>
</file>

<file path=ppt/slides/_rels/slide22.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2.xml"/><Relationship Id="rId2" Type="http://schemas.openxmlformats.org/officeDocument/2006/relationships/image" Target="../media/image46.wmf"/><Relationship Id="rId1" Type="http://schemas.openxmlformats.org/officeDocument/2006/relationships/oleObject" Target="../embeddings/oleObject28.bin"/></Relationships>
</file>

<file path=ppt/slides/_rels/slide23.xml.rels><?xml version="1.0" encoding="UTF-8" standalone="yes"?>
<Relationships xmlns="http://schemas.openxmlformats.org/package/2006/relationships"><Relationship Id="rId9" Type="http://schemas.openxmlformats.org/officeDocument/2006/relationships/oleObject" Target="../embeddings/oleObject33.bin"/><Relationship Id="rId8" Type="http://schemas.openxmlformats.org/officeDocument/2006/relationships/image" Target="../media/image50.wmf"/><Relationship Id="rId7" Type="http://schemas.openxmlformats.org/officeDocument/2006/relationships/oleObject" Target="../embeddings/oleObject32.bin"/><Relationship Id="rId6" Type="http://schemas.openxmlformats.org/officeDocument/2006/relationships/image" Target="../media/image49.wmf"/><Relationship Id="rId5" Type="http://schemas.openxmlformats.org/officeDocument/2006/relationships/oleObject" Target="../embeddings/oleObject31.bin"/><Relationship Id="rId4" Type="http://schemas.openxmlformats.org/officeDocument/2006/relationships/image" Target="../media/image48.wmf"/><Relationship Id="rId3" Type="http://schemas.openxmlformats.org/officeDocument/2006/relationships/oleObject" Target="../embeddings/oleObject30.bin"/><Relationship Id="rId24" Type="http://schemas.openxmlformats.org/officeDocument/2006/relationships/vmlDrawing" Target="../drawings/vmlDrawing6.vml"/><Relationship Id="rId23" Type="http://schemas.openxmlformats.org/officeDocument/2006/relationships/slideLayout" Target="../slideLayouts/slideLayout2.xml"/><Relationship Id="rId22" Type="http://schemas.openxmlformats.org/officeDocument/2006/relationships/image" Target="../media/image58.png"/><Relationship Id="rId21" Type="http://schemas.openxmlformats.org/officeDocument/2006/relationships/image" Target="../media/image57.wmf"/><Relationship Id="rId20" Type="http://schemas.openxmlformats.org/officeDocument/2006/relationships/oleObject" Target="../embeddings/oleObject38.bin"/><Relationship Id="rId2" Type="http://schemas.openxmlformats.org/officeDocument/2006/relationships/image" Target="../media/image23.wmf"/><Relationship Id="rId19" Type="http://schemas.openxmlformats.org/officeDocument/2006/relationships/image" Target="../media/image56.png"/><Relationship Id="rId18" Type="http://schemas.openxmlformats.org/officeDocument/2006/relationships/image" Target="../media/image55.wmf"/><Relationship Id="rId17" Type="http://schemas.openxmlformats.org/officeDocument/2006/relationships/oleObject" Target="../embeddings/oleObject37.bin"/><Relationship Id="rId16" Type="http://schemas.openxmlformats.org/officeDocument/2006/relationships/image" Target="../media/image54.wmf"/><Relationship Id="rId15" Type="http://schemas.openxmlformats.org/officeDocument/2006/relationships/oleObject" Target="../embeddings/oleObject36.bin"/><Relationship Id="rId14" Type="http://schemas.openxmlformats.org/officeDocument/2006/relationships/image" Target="../media/image53.wmf"/><Relationship Id="rId13" Type="http://schemas.openxmlformats.org/officeDocument/2006/relationships/oleObject" Target="../embeddings/oleObject35.bin"/><Relationship Id="rId12" Type="http://schemas.openxmlformats.org/officeDocument/2006/relationships/image" Target="../media/image52.wmf"/><Relationship Id="rId11" Type="http://schemas.openxmlformats.org/officeDocument/2006/relationships/oleObject" Target="../embeddings/oleObject34.bin"/><Relationship Id="rId10" Type="http://schemas.openxmlformats.org/officeDocument/2006/relationships/image" Target="../media/image51.wmf"/><Relationship Id="rId1" Type="http://schemas.openxmlformats.org/officeDocument/2006/relationships/oleObject" Target="../embeddings/oleObject29.bin"/></Relationships>
</file>

<file path=ppt/slides/_rels/slide24.xml.rels><?xml version="1.0" encoding="UTF-8" standalone="yes"?>
<Relationships xmlns="http://schemas.openxmlformats.org/package/2006/relationships"><Relationship Id="rId5" Type="http://schemas.openxmlformats.org/officeDocument/2006/relationships/vmlDrawing" Target="../drawings/vmlDrawing7.vml"/><Relationship Id="rId4" Type="http://schemas.openxmlformats.org/officeDocument/2006/relationships/slideLayout" Target="../slideLayouts/slideLayout2.xml"/><Relationship Id="rId3" Type="http://schemas.openxmlformats.org/officeDocument/2006/relationships/image" Target="../media/image60.png"/><Relationship Id="rId2" Type="http://schemas.openxmlformats.org/officeDocument/2006/relationships/image" Target="../media/image59.wmf"/><Relationship Id="rId1" Type="http://schemas.openxmlformats.org/officeDocument/2006/relationships/oleObject" Target="../embeddings/oleObject39.bin"/></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61.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62.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63.png"/></Relationships>
</file>

<file path=ppt/slides/_rels/slide29.xml.rels><?xml version="1.0" encoding="UTF-8" standalone="yes"?>
<Relationships xmlns="http://schemas.openxmlformats.org/package/2006/relationships"><Relationship Id="rId9" Type="http://schemas.openxmlformats.org/officeDocument/2006/relationships/oleObject" Target="../embeddings/oleObject43.bin"/><Relationship Id="rId8" Type="http://schemas.openxmlformats.org/officeDocument/2006/relationships/image" Target="../media/image68.wmf"/><Relationship Id="rId7" Type="http://schemas.openxmlformats.org/officeDocument/2006/relationships/oleObject" Target="../embeddings/oleObject42.bin"/><Relationship Id="rId6" Type="http://schemas.openxmlformats.org/officeDocument/2006/relationships/image" Target="../media/image67.wmf"/><Relationship Id="rId5" Type="http://schemas.openxmlformats.org/officeDocument/2006/relationships/oleObject" Target="../embeddings/oleObject41.bin"/><Relationship Id="rId4" Type="http://schemas.openxmlformats.org/officeDocument/2006/relationships/image" Target="../media/image66.wmf"/><Relationship Id="rId3" Type="http://schemas.openxmlformats.org/officeDocument/2006/relationships/oleObject" Target="../embeddings/oleObject40.bin"/><Relationship Id="rId2" Type="http://schemas.openxmlformats.org/officeDocument/2006/relationships/image" Target="../media/image65.png"/><Relationship Id="rId12" Type="http://schemas.openxmlformats.org/officeDocument/2006/relationships/vmlDrawing" Target="../drawings/vmlDrawing8.vml"/><Relationship Id="rId11" Type="http://schemas.openxmlformats.org/officeDocument/2006/relationships/slideLayout" Target="../slideLayouts/slideLayout5.xml"/><Relationship Id="rId10" Type="http://schemas.openxmlformats.org/officeDocument/2006/relationships/image" Target="../media/image69.wmf"/><Relationship Id="rId1" Type="http://schemas.openxmlformats.org/officeDocument/2006/relationships/image" Target="../media/image64.wmf"/></Relationships>
</file>

<file path=ppt/slides/_rels/slide30.xml.rels><?xml version="1.0" encoding="UTF-8" standalone="yes"?>
<Relationships xmlns="http://schemas.openxmlformats.org/package/2006/relationships"><Relationship Id="rId9" Type="http://schemas.openxmlformats.org/officeDocument/2006/relationships/vmlDrawing" Target="../drawings/vmlDrawing9.vml"/><Relationship Id="rId8" Type="http://schemas.openxmlformats.org/officeDocument/2006/relationships/slideLayout" Target="../slideLayouts/slideLayout4.xml"/><Relationship Id="rId7" Type="http://schemas.openxmlformats.org/officeDocument/2006/relationships/image" Target="../media/image73.wmf"/><Relationship Id="rId6" Type="http://schemas.openxmlformats.org/officeDocument/2006/relationships/oleObject" Target="../embeddings/oleObject46.bin"/><Relationship Id="rId5" Type="http://schemas.openxmlformats.org/officeDocument/2006/relationships/image" Target="../media/image72.wmf"/><Relationship Id="rId4" Type="http://schemas.openxmlformats.org/officeDocument/2006/relationships/oleObject" Target="../embeddings/oleObject45.bin"/><Relationship Id="rId3" Type="http://schemas.openxmlformats.org/officeDocument/2006/relationships/image" Target="../media/image71.wmf"/><Relationship Id="rId2" Type="http://schemas.openxmlformats.org/officeDocument/2006/relationships/oleObject" Target="../embeddings/oleObject44.bin"/><Relationship Id="rId1" Type="http://schemas.openxmlformats.org/officeDocument/2006/relationships/image" Target="../media/image7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9" Type="http://schemas.openxmlformats.org/officeDocument/2006/relationships/slideLayout" Target="../slideLayouts/slideLayout4.xml"/><Relationship Id="rId8" Type="http://schemas.openxmlformats.org/officeDocument/2006/relationships/image" Target="../media/image79.wmf"/><Relationship Id="rId7" Type="http://schemas.openxmlformats.org/officeDocument/2006/relationships/oleObject" Target="../embeddings/oleObject48.bin"/><Relationship Id="rId6" Type="http://schemas.openxmlformats.org/officeDocument/2006/relationships/image" Target="../media/image78.wmf"/><Relationship Id="rId5" Type="http://schemas.openxmlformats.org/officeDocument/2006/relationships/oleObject" Target="../embeddings/oleObject47.bin"/><Relationship Id="rId4" Type="http://schemas.openxmlformats.org/officeDocument/2006/relationships/image" Target="../media/image77.png"/><Relationship Id="rId3" Type="http://schemas.openxmlformats.org/officeDocument/2006/relationships/image" Target="../media/image76.png"/><Relationship Id="rId2" Type="http://schemas.openxmlformats.org/officeDocument/2006/relationships/image" Target="../media/image75.png"/><Relationship Id="rId10" Type="http://schemas.openxmlformats.org/officeDocument/2006/relationships/vmlDrawing" Target="../drawings/vmlDrawing10.vml"/><Relationship Id="rId1" Type="http://schemas.openxmlformats.org/officeDocument/2006/relationships/image" Target="../media/image74.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80.png"/></Relationships>
</file>

<file path=ppt/slides/_rels/slide34.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image" Target="../media/image81.png"/></Relationships>
</file>

<file path=ppt/slides/_rels/slide35.xml.rels><?xml version="1.0" encoding="UTF-8" standalone="yes"?>
<Relationships xmlns="http://schemas.openxmlformats.org/package/2006/relationships"><Relationship Id="rId9" Type="http://schemas.openxmlformats.org/officeDocument/2006/relationships/image" Target="../media/image88.wmf"/><Relationship Id="rId8" Type="http://schemas.openxmlformats.org/officeDocument/2006/relationships/oleObject" Target="../embeddings/oleObject52.bin"/><Relationship Id="rId7" Type="http://schemas.openxmlformats.org/officeDocument/2006/relationships/image" Target="../media/image87.wmf"/><Relationship Id="rId6" Type="http://schemas.openxmlformats.org/officeDocument/2006/relationships/oleObject" Target="../embeddings/oleObject51.bin"/><Relationship Id="rId5" Type="http://schemas.openxmlformats.org/officeDocument/2006/relationships/image" Target="../media/image86.wmf"/><Relationship Id="rId4" Type="http://schemas.openxmlformats.org/officeDocument/2006/relationships/oleObject" Target="../embeddings/oleObject50.bin"/><Relationship Id="rId3" Type="http://schemas.openxmlformats.org/officeDocument/2006/relationships/image" Target="../media/image85.wmf"/><Relationship Id="rId2" Type="http://schemas.openxmlformats.org/officeDocument/2006/relationships/oleObject" Target="../embeddings/oleObject49.bin"/><Relationship Id="rId16" Type="http://schemas.openxmlformats.org/officeDocument/2006/relationships/vmlDrawing" Target="../drawings/vmlDrawing11.vml"/><Relationship Id="rId15" Type="http://schemas.openxmlformats.org/officeDocument/2006/relationships/slideLayout" Target="../slideLayouts/slideLayout4.xml"/><Relationship Id="rId14" Type="http://schemas.openxmlformats.org/officeDocument/2006/relationships/image" Target="../media/image91.png"/><Relationship Id="rId13" Type="http://schemas.openxmlformats.org/officeDocument/2006/relationships/image" Target="../media/image90.wmf"/><Relationship Id="rId12" Type="http://schemas.openxmlformats.org/officeDocument/2006/relationships/oleObject" Target="../embeddings/oleObject54.bin"/><Relationship Id="rId11" Type="http://schemas.openxmlformats.org/officeDocument/2006/relationships/image" Target="../media/image89.wmf"/><Relationship Id="rId10" Type="http://schemas.openxmlformats.org/officeDocument/2006/relationships/oleObject" Target="../embeddings/oleObject53.bin"/><Relationship Id="rId1" Type="http://schemas.openxmlformats.org/officeDocument/2006/relationships/image" Target="../media/image84.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92.png"/></Relationships>
</file>

<file path=ppt/slides/_rels/slide37.xml.rels><?xml version="1.0" encoding="UTF-8" standalone="yes"?>
<Relationships xmlns="http://schemas.openxmlformats.org/package/2006/relationships"><Relationship Id="rId9" Type="http://schemas.openxmlformats.org/officeDocument/2006/relationships/oleObject" Target="../embeddings/oleObject58.bin"/><Relationship Id="rId8" Type="http://schemas.openxmlformats.org/officeDocument/2006/relationships/image" Target="../media/image97.wmf"/><Relationship Id="rId7" Type="http://schemas.openxmlformats.org/officeDocument/2006/relationships/oleObject" Target="../embeddings/oleObject57.bin"/><Relationship Id="rId6" Type="http://schemas.openxmlformats.org/officeDocument/2006/relationships/image" Target="../media/image96.png"/><Relationship Id="rId5" Type="http://schemas.openxmlformats.org/officeDocument/2006/relationships/image" Target="../media/image95.png"/><Relationship Id="rId4" Type="http://schemas.openxmlformats.org/officeDocument/2006/relationships/image" Target="../media/image94.wmf"/><Relationship Id="rId3" Type="http://schemas.openxmlformats.org/officeDocument/2006/relationships/oleObject" Target="../embeddings/oleObject56.bin"/><Relationship Id="rId20" Type="http://schemas.openxmlformats.org/officeDocument/2006/relationships/vmlDrawing" Target="../drawings/vmlDrawing12.vml"/><Relationship Id="rId2" Type="http://schemas.openxmlformats.org/officeDocument/2006/relationships/image" Target="../media/image93.wmf"/><Relationship Id="rId19" Type="http://schemas.openxmlformats.org/officeDocument/2006/relationships/slideLayout" Target="../slideLayouts/slideLayout4.xml"/><Relationship Id="rId18" Type="http://schemas.openxmlformats.org/officeDocument/2006/relationships/image" Target="../media/image101.wmf"/><Relationship Id="rId17" Type="http://schemas.openxmlformats.org/officeDocument/2006/relationships/oleObject" Target="../embeddings/oleObject62.bin"/><Relationship Id="rId16" Type="http://schemas.openxmlformats.org/officeDocument/2006/relationships/image" Target="../media/image100.wmf"/><Relationship Id="rId15" Type="http://schemas.openxmlformats.org/officeDocument/2006/relationships/oleObject" Target="../embeddings/oleObject61.bin"/><Relationship Id="rId14" Type="http://schemas.openxmlformats.org/officeDocument/2006/relationships/image" Target="../media/image99.wmf"/><Relationship Id="rId13" Type="http://schemas.openxmlformats.org/officeDocument/2006/relationships/oleObject" Target="../embeddings/oleObject60.bin"/><Relationship Id="rId12" Type="http://schemas.openxmlformats.org/officeDocument/2006/relationships/image" Target="../media/image23.wmf"/><Relationship Id="rId11" Type="http://schemas.openxmlformats.org/officeDocument/2006/relationships/oleObject" Target="../embeddings/oleObject59.bin"/><Relationship Id="rId10" Type="http://schemas.openxmlformats.org/officeDocument/2006/relationships/image" Target="../media/image98.wmf"/><Relationship Id="rId1" Type="http://schemas.openxmlformats.org/officeDocument/2006/relationships/oleObject" Target="../embeddings/oleObject55.bin"/></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02.wmf"/></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4.jpeg"/><Relationship Id="rId1" Type="http://schemas.openxmlformats.org/officeDocument/2006/relationships/image" Target="../media/image103.png"/></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4.jpeg"/><Relationship Id="rId1" Type="http://schemas.openxmlformats.org/officeDocument/2006/relationships/image" Target="../media/image11.png"/></Relationships>
</file>

<file path=ppt/slides/_rels/slide43.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106.png"/><Relationship Id="rId2" Type="http://schemas.openxmlformats.org/officeDocument/2006/relationships/image" Target="../media/image105.png"/><Relationship Id="rId1" Type="http://schemas.openxmlformats.org/officeDocument/2006/relationships/image" Target="../media/image104.jpeg"/></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07.png"/><Relationship Id="rId1" Type="http://schemas.openxmlformats.org/officeDocument/2006/relationships/image" Target="../media/image104.jpe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104.jpeg"/></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7.png"/><Relationship Id="rId1" Type="http://schemas.openxmlformats.org/officeDocument/2006/relationships/image" Target="../media/image104.jpeg"/></Relationships>
</file>

<file path=ppt/slides/_rels/slide47.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2.xml"/><Relationship Id="rId2" Type="http://schemas.openxmlformats.org/officeDocument/2006/relationships/image" Target="../media/image108.wmf"/><Relationship Id="rId1" Type="http://schemas.openxmlformats.org/officeDocument/2006/relationships/image" Target="../media/image104.jpeg"/></Relationships>
</file>

<file path=ppt/slides/_rels/slide48.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2.xml"/><Relationship Id="rId2" Type="http://schemas.openxmlformats.org/officeDocument/2006/relationships/image" Target="../media/image109.wmf"/><Relationship Id="rId1" Type="http://schemas.openxmlformats.org/officeDocument/2006/relationships/image" Target="../media/image104.jpeg"/></Relationships>
</file>

<file path=ppt/slides/_rels/slide49.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13.wmf"/><Relationship Id="rId4" Type="http://schemas.openxmlformats.org/officeDocument/2006/relationships/image" Target="../media/image112.wmf"/><Relationship Id="rId3" Type="http://schemas.openxmlformats.org/officeDocument/2006/relationships/image" Target="../media/image111.wmf"/><Relationship Id="rId2" Type="http://schemas.openxmlformats.org/officeDocument/2006/relationships/image" Target="../media/image110.wmf"/><Relationship Id="rId1" Type="http://schemas.openxmlformats.org/officeDocument/2006/relationships/image" Target="../media/image104.jpeg"/></Relationships>
</file>

<file path=ppt/slides/_rels/slide5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04.jpeg"/><Relationship Id="rId2" Type="http://schemas.openxmlformats.org/officeDocument/2006/relationships/image" Target="../media/image114.wmf"/><Relationship Id="rId1" Type="http://schemas.openxmlformats.org/officeDocument/2006/relationships/image" Target="../media/image112.wmf"/></Relationships>
</file>

<file path=ppt/slides/_rels/slide5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04.jpeg"/><Relationship Id="rId2" Type="http://schemas.openxmlformats.org/officeDocument/2006/relationships/image" Target="../media/image116.wmf"/><Relationship Id="rId1" Type="http://schemas.openxmlformats.org/officeDocument/2006/relationships/image" Target="../media/image115.wmf"/></Relationships>
</file>

<file path=ppt/slides/_rels/slide5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18.png"/><Relationship Id="rId2" Type="http://schemas.openxmlformats.org/officeDocument/2006/relationships/image" Target="../media/image117.png"/><Relationship Id="rId1" Type="http://schemas.openxmlformats.org/officeDocument/2006/relationships/image" Target="../media/image104.jpeg"/></Relationships>
</file>

<file path=ppt/slides/_rels/slide5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21.png"/><Relationship Id="rId3" Type="http://schemas.openxmlformats.org/officeDocument/2006/relationships/image" Target="../media/image120.wmf"/><Relationship Id="rId2" Type="http://schemas.openxmlformats.org/officeDocument/2006/relationships/image" Target="../media/image119.wmf"/><Relationship Id="rId1" Type="http://schemas.openxmlformats.org/officeDocument/2006/relationships/image" Target="../media/image104.jpeg"/></Relationships>
</file>

<file path=ppt/slides/_rels/slide5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23.wmf"/><Relationship Id="rId2" Type="http://schemas.openxmlformats.org/officeDocument/2006/relationships/image" Target="../media/image122.wmf"/><Relationship Id="rId1" Type="http://schemas.openxmlformats.org/officeDocument/2006/relationships/image" Target="../media/image104.jpeg"/></Relationships>
</file>

<file path=ppt/slides/_rels/slide5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26.png"/><Relationship Id="rId3" Type="http://schemas.openxmlformats.org/officeDocument/2006/relationships/image" Target="../media/image125.png"/><Relationship Id="rId2" Type="http://schemas.openxmlformats.org/officeDocument/2006/relationships/image" Target="../media/image124.wmf"/><Relationship Id="rId1" Type="http://schemas.openxmlformats.org/officeDocument/2006/relationships/image" Target="../media/image104.jpeg"/></Relationships>
</file>

<file path=ppt/slides/_rels/slide5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28.wmf"/><Relationship Id="rId2" Type="http://schemas.openxmlformats.org/officeDocument/2006/relationships/image" Target="../media/image127.png"/><Relationship Id="rId1" Type="http://schemas.openxmlformats.org/officeDocument/2006/relationships/image" Target="../media/image104.jpeg"/></Relationships>
</file>

<file path=ppt/slides/_rels/slide57.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2.xml"/><Relationship Id="rId2" Type="http://schemas.openxmlformats.org/officeDocument/2006/relationships/image" Target="../media/image104.jpeg"/><Relationship Id="rId1" Type="http://schemas.openxmlformats.org/officeDocument/2006/relationships/image" Target="../media/image129.wmf"/></Relationships>
</file>

<file path=ppt/slides/_rels/slide58.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2.xml"/><Relationship Id="rId4" Type="http://schemas.openxmlformats.org/officeDocument/2006/relationships/image" Target="../media/image132.png"/><Relationship Id="rId3" Type="http://schemas.openxmlformats.org/officeDocument/2006/relationships/image" Target="../media/image104.jpeg"/><Relationship Id="rId2" Type="http://schemas.openxmlformats.org/officeDocument/2006/relationships/image" Target="../media/image131.wmf"/><Relationship Id="rId1" Type="http://schemas.openxmlformats.org/officeDocument/2006/relationships/image" Target="../media/image130.wmf"/></Relationships>
</file>

<file path=ppt/slides/_rels/slide59.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2.xml"/><Relationship Id="rId3" Type="http://schemas.openxmlformats.org/officeDocument/2006/relationships/image" Target="../media/image104.jpeg"/><Relationship Id="rId2" Type="http://schemas.openxmlformats.org/officeDocument/2006/relationships/image" Target="../media/image134.wmf"/><Relationship Id="rId1" Type="http://schemas.openxmlformats.org/officeDocument/2006/relationships/image" Target="../media/image133.wmf"/></Relationships>
</file>

<file path=ppt/slides/_rels/slide60.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2.xml"/><Relationship Id="rId3" Type="http://schemas.openxmlformats.org/officeDocument/2006/relationships/image" Target="../media/image136.wmf"/><Relationship Id="rId2" Type="http://schemas.openxmlformats.org/officeDocument/2006/relationships/image" Target="../media/image135.wmf"/><Relationship Id="rId1" Type="http://schemas.openxmlformats.org/officeDocument/2006/relationships/image" Target="../media/image104.jpeg"/></Relationships>
</file>

<file path=ppt/slides/_rels/slide61.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2.xml"/><Relationship Id="rId2" Type="http://schemas.openxmlformats.org/officeDocument/2006/relationships/image" Target="../media/image137.wmf"/><Relationship Id="rId1" Type="http://schemas.openxmlformats.org/officeDocument/2006/relationships/image" Target="../media/image104.jpeg"/></Relationships>
</file>

<file path=ppt/slides/_rels/slide62.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2.xml"/><Relationship Id="rId3" Type="http://schemas.openxmlformats.org/officeDocument/2006/relationships/image" Target="../media/image139.wmf"/><Relationship Id="rId2" Type="http://schemas.openxmlformats.org/officeDocument/2006/relationships/image" Target="../media/image138.png"/><Relationship Id="rId1" Type="http://schemas.openxmlformats.org/officeDocument/2006/relationships/image" Target="../media/image104.jpeg"/></Relationships>
</file>

<file path=ppt/slides/_rels/slide63.xml.rels><?xml version="1.0" encoding="UTF-8" standalone="yes"?>
<Relationships xmlns="http://schemas.openxmlformats.org/package/2006/relationships"><Relationship Id="rId7" Type="http://schemas.openxmlformats.org/officeDocument/2006/relationships/notesSlide" Target="../notesSlides/notesSlide14.xml"/><Relationship Id="rId6" Type="http://schemas.openxmlformats.org/officeDocument/2006/relationships/slideLayout" Target="../slideLayouts/slideLayout2.xml"/><Relationship Id="rId5" Type="http://schemas.openxmlformats.org/officeDocument/2006/relationships/image" Target="../media/image143.wmf"/><Relationship Id="rId4" Type="http://schemas.openxmlformats.org/officeDocument/2006/relationships/image" Target="../media/image142.wmf"/><Relationship Id="rId3" Type="http://schemas.openxmlformats.org/officeDocument/2006/relationships/image" Target="../media/image141.wmf"/><Relationship Id="rId2" Type="http://schemas.openxmlformats.org/officeDocument/2006/relationships/image" Target="../media/image140.png"/><Relationship Id="rId1" Type="http://schemas.openxmlformats.org/officeDocument/2006/relationships/image" Target="../media/image104.jpeg"/></Relationships>
</file>

<file path=ppt/slides/_rels/slide64.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2.xml"/><Relationship Id="rId2" Type="http://schemas.openxmlformats.org/officeDocument/2006/relationships/image" Target="../media/image144.png"/><Relationship Id="rId1" Type="http://schemas.openxmlformats.org/officeDocument/2006/relationships/image" Target="../media/image104.jpeg"/></Relationships>
</file>

<file path=ppt/slides/_rels/slide65.xml.rels><?xml version="1.0" encoding="UTF-8" standalone="yes"?>
<Relationships xmlns="http://schemas.openxmlformats.org/package/2006/relationships"><Relationship Id="rId5" Type="http://schemas.openxmlformats.org/officeDocument/2006/relationships/notesSlide" Target="../notesSlides/notesSlide16.xml"/><Relationship Id="rId4" Type="http://schemas.openxmlformats.org/officeDocument/2006/relationships/slideLayout" Target="../slideLayouts/slideLayout2.xml"/><Relationship Id="rId3" Type="http://schemas.openxmlformats.org/officeDocument/2006/relationships/image" Target="../media/image146.png"/><Relationship Id="rId2" Type="http://schemas.openxmlformats.org/officeDocument/2006/relationships/image" Target="../media/image145.wmf"/><Relationship Id="rId1" Type="http://schemas.openxmlformats.org/officeDocument/2006/relationships/image" Target="../media/image104.jpeg"/></Relationships>
</file>

<file path=ppt/slides/_rels/slide66.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50.wmf"/><Relationship Id="rId4" Type="http://schemas.openxmlformats.org/officeDocument/2006/relationships/image" Target="../media/image149.wmf"/><Relationship Id="rId3" Type="http://schemas.openxmlformats.org/officeDocument/2006/relationships/image" Target="../media/image148.png"/><Relationship Id="rId2" Type="http://schemas.openxmlformats.org/officeDocument/2006/relationships/image" Target="../media/image147.wmf"/><Relationship Id="rId1" Type="http://schemas.openxmlformats.org/officeDocument/2006/relationships/image" Target="../media/image104.jpeg"/></Relationships>
</file>

<file path=ppt/slides/_rels/slide67.xml.rels><?xml version="1.0" encoding="UTF-8" standalone="yes"?>
<Relationships xmlns="http://schemas.openxmlformats.org/package/2006/relationships"><Relationship Id="rId8" Type="http://schemas.openxmlformats.org/officeDocument/2006/relationships/notesSlide" Target="../notesSlides/notesSlide17.xml"/><Relationship Id="rId7" Type="http://schemas.openxmlformats.org/officeDocument/2006/relationships/slideLayout" Target="../slideLayouts/slideLayout2.xml"/><Relationship Id="rId6" Type="http://schemas.openxmlformats.org/officeDocument/2006/relationships/image" Target="../media/image155.wmf"/><Relationship Id="rId5" Type="http://schemas.openxmlformats.org/officeDocument/2006/relationships/image" Target="../media/image154.wmf"/><Relationship Id="rId4" Type="http://schemas.openxmlformats.org/officeDocument/2006/relationships/image" Target="../media/image153.wmf"/><Relationship Id="rId3" Type="http://schemas.openxmlformats.org/officeDocument/2006/relationships/image" Target="../media/image152.wmf"/><Relationship Id="rId2" Type="http://schemas.openxmlformats.org/officeDocument/2006/relationships/image" Target="../media/image151.wmf"/><Relationship Id="rId1" Type="http://schemas.openxmlformats.org/officeDocument/2006/relationships/image" Target="../media/image104.jpeg"/></Relationships>
</file>

<file path=ppt/slides/_rels/slide6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2.xml"/><Relationship Id="rId2" Type="http://schemas.openxmlformats.org/officeDocument/2006/relationships/image" Target="../media/image156.wmf"/><Relationship Id="rId1" Type="http://schemas.openxmlformats.org/officeDocument/2006/relationships/image" Target="../media/image104.jpeg"/></Relationships>
</file>

<file path=ppt/slides/_rels/slide69.xml.rels><?xml version="1.0" encoding="UTF-8" standalone="yes"?>
<Relationships xmlns="http://schemas.openxmlformats.org/package/2006/relationships"><Relationship Id="rId8" Type="http://schemas.openxmlformats.org/officeDocument/2006/relationships/notesSlide" Target="../notesSlides/notesSlide19.xml"/><Relationship Id="rId7" Type="http://schemas.openxmlformats.org/officeDocument/2006/relationships/slideLayout" Target="../slideLayouts/slideLayout2.xml"/><Relationship Id="rId6" Type="http://schemas.openxmlformats.org/officeDocument/2006/relationships/image" Target="../media/image161.png"/><Relationship Id="rId5" Type="http://schemas.openxmlformats.org/officeDocument/2006/relationships/image" Target="../media/image160.wmf"/><Relationship Id="rId4" Type="http://schemas.openxmlformats.org/officeDocument/2006/relationships/image" Target="../media/image159.wmf"/><Relationship Id="rId3" Type="http://schemas.openxmlformats.org/officeDocument/2006/relationships/image" Target="../media/image158.wmf"/><Relationship Id="rId2" Type="http://schemas.openxmlformats.org/officeDocument/2006/relationships/image" Target="../media/image157.wmf"/><Relationship Id="rId1" Type="http://schemas.openxmlformats.org/officeDocument/2006/relationships/image" Target="../media/image104.jpeg"/></Relationships>
</file>

<file path=ppt/slides/_rels/slide70.xml.rels><?xml version="1.0" encoding="UTF-8" standalone="yes"?>
<Relationships xmlns="http://schemas.openxmlformats.org/package/2006/relationships"><Relationship Id="rId6" Type="http://schemas.openxmlformats.org/officeDocument/2006/relationships/notesSlide" Target="../notesSlides/notesSlide20.xml"/><Relationship Id="rId5" Type="http://schemas.openxmlformats.org/officeDocument/2006/relationships/slideLayout" Target="../slideLayouts/slideLayout2.xml"/><Relationship Id="rId4" Type="http://schemas.openxmlformats.org/officeDocument/2006/relationships/image" Target="../media/image164.wmf"/><Relationship Id="rId3" Type="http://schemas.openxmlformats.org/officeDocument/2006/relationships/image" Target="../media/image163.wmf"/><Relationship Id="rId2" Type="http://schemas.openxmlformats.org/officeDocument/2006/relationships/image" Target="../media/image162.wmf"/><Relationship Id="rId1" Type="http://schemas.openxmlformats.org/officeDocument/2006/relationships/image" Target="../media/image104.jpeg"/></Relationships>
</file>

<file path=ppt/slides/_rels/slide71.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2.xml"/><Relationship Id="rId2" Type="http://schemas.openxmlformats.org/officeDocument/2006/relationships/image" Target="../media/image165.wmf"/><Relationship Id="rId1" Type="http://schemas.openxmlformats.org/officeDocument/2006/relationships/image" Target="../media/image104.jpeg"/></Relationships>
</file>

<file path=ppt/slides/_rels/slide72.xml.rels><?xml version="1.0" encoding="UTF-8" standalone="yes"?>
<Relationships xmlns="http://schemas.openxmlformats.org/package/2006/relationships"><Relationship Id="rId6" Type="http://schemas.openxmlformats.org/officeDocument/2006/relationships/notesSlide" Target="../notesSlides/notesSlide22.xml"/><Relationship Id="rId5" Type="http://schemas.openxmlformats.org/officeDocument/2006/relationships/slideLayout" Target="../slideLayouts/slideLayout2.xml"/><Relationship Id="rId4" Type="http://schemas.openxmlformats.org/officeDocument/2006/relationships/image" Target="../media/image168.png"/><Relationship Id="rId3" Type="http://schemas.openxmlformats.org/officeDocument/2006/relationships/image" Target="../media/image167.wmf"/><Relationship Id="rId2" Type="http://schemas.openxmlformats.org/officeDocument/2006/relationships/image" Target="../media/image166.png"/><Relationship Id="rId1" Type="http://schemas.openxmlformats.org/officeDocument/2006/relationships/image" Target="../media/image104.jpeg"/></Relationships>
</file>

<file path=ppt/slides/_rels/slide73.xml.rels><?xml version="1.0" encoding="UTF-8" standalone="yes"?>
<Relationships xmlns="http://schemas.openxmlformats.org/package/2006/relationships"><Relationship Id="rId5" Type="http://schemas.openxmlformats.org/officeDocument/2006/relationships/notesSlide" Target="../notesSlides/notesSlide23.xml"/><Relationship Id="rId4" Type="http://schemas.openxmlformats.org/officeDocument/2006/relationships/slideLayout" Target="../slideLayouts/slideLayout2.xml"/><Relationship Id="rId3" Type="http://schemas.openxmlformats.org/officeDocument/2006/relationships/image" Target="../media/image169.png"/><Relationship Id="rId2" Type="http://schemas.openxmlformats.org/officeDocument/2006/relationships/image" Target="../media/image164.wmf"/><Relationship Id="rId1" Type="http://schemas.openxmlformats.org/officeDocument/2006/relationships/image" Target="../media/image104.jpeg"/></Relationships>
</file>

<file path=ppt/slides/_rels/slide74.xml.rels><?xml version="1.0" encoding="UTF-8" standalone="yes"?>
<Relationships xmlns="http://schemas.openxmlformats.org/package/2006/relationships"><Relationship Id="rId5" Type="http://schemas.openxmlformats.org/officeDocument/2006/relationships/notesSlide" Target="../notesSlides/notesSlide24.xml"/><Relationship Id="rId4" Type="http://schemas.openxmlformats.org/officeDocument/2006/relationships/slideLayout" Target="../slideLayouts/slideLayout2.xml"/><Relationship Id="rId3" Type="http://schemas.openxmlformats.org/officeDocument/2006/relationships/image" Target="../media/image171.wmf"/><Relationship Id="rId2" Type="http://schemas.openxmlformats.org/officeDocument/2006/relationships/image" Target="../media/image170.png"/><Relationship Id="rId1" Type="http://schemas.openxmlformats.org/officeDocument/2006/relationships/image" Target="../media/image104.jpeg"/></Relationships>
</file>

<file path=ppt/slides/_rels/slide75.xml.rels><?xml version="1.0" encoding="UTF-8" standalone="yes"?>
<Relationships xmlns="http://schemas.openxmlformats.org/package/2006/relationships"><Relationship Id="rId7" Type="http://schemas.openxmlformats.org/officeDocument/2006/relationships/notesSlide" Target="../notesSlides/notesSlide25.xml"/><Relationship Id="rId6" Type="http://schemas.openxmlformats.org/officeDocument/2006/relationships/slideLayout" Target="../slideLayouts/slideLayout2.xml"/><Relationship Id="rId5" Type="http://schemas.openxmlformats.org/officeDocument/2006/relationships/image" Target="../media/image175.png"/><Relationship Id="rId4" Type="http://schemas.openxmlformats.org/officeDocument/2006/relationships/image" Target="../media/image174.png"/><Relationship Id="rId3" Type="http://schemas.openxmlformats.org/officeDocument/2006/relationships/image" Target="../media/image173.png"/><Relationship Id="rId2" Type="http://schemas.openxmlformats.org/officeDocument/2006/relationships/image" Target="../media/image172.wmf"/><Relationship Id="rId1" Type="http://schemas.openxmlformats.org/officeDocument/2006/relationships/image" Target="../media/image104.jpeg"/></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image" Target="../media/image104.jpeg"/></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6.png"/></Relationships>
</file>

<file path=ppt/slides/_rels/slide7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7.png"/></Relationships>
</file>

<file path=ppt/slides/_rels/slide80.xml.rels><?xml version="1.0" encoding="UTF-8" standalone="yes"?>
<Relationships xmlns="http://schemas.openxmlformats.org/package/2006/relationships"><Relationship Id="rId9" Type="http://schemas.openxmlformats.org/officeDocument/2006/relationships/oleObject" Target="../embeddings/oleObject67.bin"/><Relationship Id="rId8" Type="http://schemas.openxmlformats.org/officeDocument/2006/relationships/oleObject" Target="../embeddings/oleObject66.bin"/><Relationship Id="rId7" Type="http://schemas.openxmlformats.org/officeDocument/2006/relationships/image" Target="../media/image181.wmf"/><Relationship Id="rId6" Type="http://schemas.openxmlformats.org/officeDocument/2006/relationships/oleObject" Target="../embeddings/oleObject65.bin"/><Relationship Id="rId5" Type="http://schemas.openxmlformats.org/officeDocument/2006/relationships/image" Target="../media/image180.wmf"/><Relationship Id="rId4" Type="http://schemas.openxmlformats.org/officeDocument/2006/relationships/oleObject" Target="../embeddings/oleObject64.bin"/><Relationship Id="rId3" Type="http://schemas.openxmlformats.org/officeDocument/2006/relationships/image" Target="../media/image179.wmf"/><Relationship Id="rId2" Type="http://schemas.openxmlformats.org/officeDocument/2006/relationships/oleObject" Target="../embeddings/oleObject63.bin"/><Relationship Id="rId12" Type="http://schemas.openxmlformats.org/officeDocument/2006/relationships/vmlDrawing" Target="../drawings/vmlDrawing13.vml"/><Relationship Id="rId11" Type="http://schemas.openxmlformats.org/officeDocument/2006/relationships/slideLayout" Target="../slideLayouts/slideLayout2.xml"/><Relationship Id="rId10" Type="http://schemas.openxmlformats.org/officeDocument/2006/relationships/image" Target="../media/image182.wmf"/><Relationship Id="rId1" Type="http://schemas.openxmlformats.org/officeDocument/2006/relationships/image" Target="../media/image178.png"/></Relationships>
</file>

<file path=ppt/slides/_rels/slide81.xml.rels><?xml version="1.0" encoding="UTF-8" standalone="yes"?>
<Relationships xmlns="http://schemas.openxmlformats.org/package/2006/relationships"><Relationship Id="rId8" Type="http://schemas.openxmlformats.org/officeDocument/2006/relationships/vmlDrawing" Target="../drawings/vmlDrawing14.vml"/><Relationship Id="rId7" Type="http://schemas.openxmlformats.org/officeDocument/2006/relationships/slideLayout" Target="../slideLayouts/slideLayout2.xml"/><Relationship Id="rId6" Type="http://schemas.openxmlformats.org/officeDocument/2006/relationships/image" Target="../media/image185.wmf"/><Relationship Id="rId5" Type="http://schemas.openxmlformats.org/officeDocument/2006/relationships/oleObject" Target="../embeddings/oleObject70.bin"/><Relationship Id="rId4" Type="http://schemas.openxmlformats.org/officeDocument/2006/relationships/image" Target="../media/image184.wmf"/><Relationship Id="rId3" Type="http://schemas.openxmlformats.org/officeDocument/2006/relationships/oleObject" Target="../embeddings/oleObject69.bin"/><Relationship Id="rId2" Type="http://schemas.openxmlformats.org/officeDocument/2006/relationships/image" Target="../media/image183.wmf"/><Relationship Id="rId1" Type="http://schemas.openxmlformats.org/officeDocument/2006/relationships/oleObject" Target="../embeddings/oleObject68.bin"/></Relationships>
</file>

<file path=ppt/slides/_rels/slide82.xml.rels><?xml version="1.0" encoding="UTF-8" standalone="yes"?>
<Relationships xmlns="http://schemas.openxmlformats.org/package/2006/relationships"><Relationship Id="rId8" Type="http://schemas.openxmlformats.org/officeDocument/2006/relationships/vmlDrawing" Target="../drawings/vmlDrawing15.vml"/><Relationship Id="rId7" Type="http://schemas.openxmlformats.org/officeDocument/2006/relationships/slideLayout" Target="../slideLayouts/slideLayout2.xml"/><Relationship Id="rId6" Type="http://schemas.openxmlformats.org/officeDocument/2006/relationships/image" Target="../media/image188.wmf"/><Relationship Id="rId5" Type="http://schemas.openxmlformats.org/officeDocument/2006/relationships/oleObject" Target="../embeddings/oleObject73.bin"/><Relationship Id="rId4" Type="http://schemas.openxmlformats.org/officeDocument/2006/relationships/image" Target="../media/image187.wmf"/><Relationship Id="rId3" Type="http://schemas.openxmlformats.org/officeDocument/2006/relationships/oleObject" Target="../embeddings/oleObject72.bin"/><Relationship Id="rId2" Type="http://schemas.openxmlformats.org/officeDocument/2006/relationships/image" Target="../media/image186.wmf"/><Relationship Id="rId1" Type="http://schemas.openxmlformats.org/officeDocument/2006/relationships/oleObject" Target="../embeddings/oleObject71.bin"/></Relationships>
</file>

<file path=ppt/slides/_rels/slide8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90.png"/><Relationship Id="rId1" Type="http://schemas.openxmlformats.org/officeDocument/2006/relationships/image" Target="../media/image189.png"/></Relationships>
</file>

<file path=ppt/slides/_rels/slide8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1.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6" name="Rectangle 4"/>
          <p:cNvSpPr>
            <a:spLocks noGrp="1" noChangeArrowheads="1"/>
          </p:cNvSpPr>
          <p:nvPr>
            <p:ph type="ctrTitle"/>
          </p:nvPr>
        </p:nvSpPr>
        <p:spPr>
          <a:xfrm>
            <a:off x="2819400" y="2438400"/>
            <a:ext cx="6705600" cy="990600"/>
          </a:xfrm>
        </p:spPr>
        <p:txBody>
          <a:bodyPr/>
          <a:lstStyle/>
          <a:p>
            <a:pPr>
              <a:tabLst>
                <a:tab pos="2743200" algn="l"/>
              </a:tabLst>
            </a:pPr>
            <a:r>
              <a:rPr lang="en-US" altLang="zh-CN" sz="4000">
                <a:solidFill>
                  <a:schemeClr val="accent2"/>
                </a:solidFill>
                <a:ea typeface="宋体" panose="02010600030101010101" pitchFamily="2" charset="-122"/>
              </a:rPr>
              <a:t> </a:t>
            </a:r>
            <a:r>
              <a:rPr lang="zh-CN" altLang="en-US" sz="4000">
                <a:solidFill>
                  <a:schemeClr val="accent2"/>
                </a:solidFill>
                <a:ea typeface="宋体" panose="02010600030101010101" pitchFamily="2" charset="-122"/>
              </a:rPr>
              <a:t>第六章  </a:t>
            </a:r>
            <a:r>
              <a:rPr lang="en-US" altLang="zh-CN" sz="4000">
                <a:solidFill>
                  <a:schemeClr val="accent2"/>
                </a:solidFill>
                <a:ea typeface="宋体" panose="02010600030101010101" pitchFamily="2" charset="-122"/>
              </a:rPr>
              <a:t>pn</a:t>
            </a:r>
            <a:r>
              <a:rPr lang="zh-CN" altLang="en-US" sz="4000">
                <a:solidFill>
                  <a:schemeClr val="accent2"/>
                </a:solidFill>
                <a:ea typeface="宋体" panose="02010600030101010101" pitchFamily="2" charset="-122"/>
              </a:rPr>
              <a:t>结</a:t>
            </a:r>
            <a:endParaRPr lang="zh-CN" altLang="en-US" sz="4000">
              <a:ea typeface="宋体" panose="02010600030101010101" pitchFamily="2" charset="-122"/>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4" name="标题 3073"/>
          <p:cNvSpPr>
            <a:spLocks noGrp="1" noRot="1"/>
          </p:cNvSpPr>
          <p:nvPr>
            <p:ph type="title"/>
          </p:nvPr>
        </p:nvSpPr>
        <p:spPr>
          <a:xfrm>
            <a:off x="1850073" y="714058"/>
            <a:ext cx="7829550" cy="947737"/>
          </a:xfrm>
          <a:gradFill rotWithShape="0">
            <a:gsLst>
              <a:gs pos="0">
                <a:srgbClr val="009900"/>
              </a:gs>
              <a:gs pos="50000">
                <a:srgbClr val="009900">
                  <a:gamma/>
                  <a:shade val="46275"/>
                  <a:invGamma/>
                </a:srgbClr>
              </a:gs>
              <a:gs pos="100000">
                <a:srgbClr val="009900"/>
              </a:gs>
            </a:gsLst>
            <a:lin ang="5400000" scaled="1"/>
            <a:tileRect/>
          </a:gradFill>
          <a:scene3d>
            <a:camera prst="legacyObliqueTopRight">
              <a:rot lat="0" lon="0" rev="0"/>
            </a:camera>
            <a:lightRig rig="legacyFlat3" dir="b"/>
          </a:scene3d>
          <a:sp3d extrusionH="430200" prstMaterial="legacyMatte">
            <a:bevelT w="13500" h="13500" prst="angle"/>
            <a:bevelB w="13500" h="13500" prst="angle"/>
            <a:extrusionClr>
              <a:srgbClr val="009900"/>
            </a:extrusionClr>
          </a:sp3d>
        </p:spPr>
        <p:txBody>
          <a:bodyPr anchor="ctr" anchorCtr="0">
            <a:flatTx/>
          </a:bodyPr>
          <a:p>
            <a:r>
              <a:rPr lang="zh-CN" altLang="en-US" sz="3600" b="1" dirty="0"/>
              <a:t>第六章  </a:t>
            </a:r>
            <a:r>
              <a:rPr lang="en-US" altLang="zh-CN" sz="3600" b="1"/>
              <a:t>p-n</a:t>
            </a:r>
            <a:r>
              <a:rPr lang="zh-CN" altLang="en-US" sz="3600" b="1" dirty="0"/>
              <a:t>结</a:t>
            </a:r>
            <a:endParaRPr lang="zh-CN" altLang="en-US" sz="3600" b="1" dirty="0"/>
          </a:p>
        </p:txBody>
      </p:sp>
      <p:sp>
        <p:nvSpPr>
          <p:cNvPr id="3075" name="文本占位符 3074"/>
          <p:cNvSpPr>
            <a:spLocks noGrp="1" noRot="1"/>
          </p:cNvSpPr>
          <p:nvPr>
            <p:ph type="body" idx="1"/>
          </p:nvPr>
        </p:nvSpPr>
        <p:spPr>
          <a:xfrm>
            <a:off x="410845" y="2108835"/>
            <a:ext cx="11176000" cy="5105400"/>
          </a:xfrm>
        </p:spPr>
        <p:txBody>
          <a:bodyPr/>
          <a:p>
            <a:pPr>
              <a:lnSpc>
                <a:spcPct val="110000"/>
              </a:lnSpc>
              <a:buNone/>
            </a:pPr>
            <a:r>
              <a:rPr lang="en-US" altLang="zh-CN" b="1">
                <a:solidFill>
                  <a:srgbClr val="0000CC"/>
                </a:solidFill>
                <a:latin typeface="宋体" panose="02010600030101010101" pitchFamily="2" charset="-122"/>
              </a:rPr>
              <a:t>  </a:t>
            </a:r>
            <a:r>
              <a:rPr lang="zh-CN" altLang="en-US" sz="3600" b="1">
                <a:latin typeface="宋体" panose="02010600030101010101" pitchFamily="2" charset="-122"/>
              </a:rPr>
              <a:t>§</a:t>
            </a:r>
            <a:r>
              <a:rPr lang="en-US" altLang="zh-CN" sz="3600" b="1"/>
              <a:t>1   p-n</a:t>
            </a:r>
            <a:r>
              <a:rPr lang="zh-CN" altLang="en-US" sz="3600" b="1" dirty="0"/>
              <a:t>结及其能带图</a:t>
            </a:r>
            <a:endParaRPr lang="zh-CN" altLang="en-US" sz="3600" b="1" dirty="0"/>
          </a:p>
          <a:p>
            <a:pPr>
              <a:lnSpc>
                <a:spcPct val="110000"/>
              </a:lnSpc>
              <a:buNone/>
            </a:pPr>
            <a:r>
              <a:rPr lang="zh-CN" altLang="en-US" sz="3600" b="1" dirty="0"/>
              <a:t>  </a:t>
            </a:r>
            <a:r>
              <a:rPr lang="zh-CN" altLang="en-US" sz="3600" b="1">
                <a:latin typeface="宋体" panose="02010600030101010101" pitchFamily="2" charset="-122"/>
              </a:rPr>
              <a:t>§</a:t>
            </a:r>
            <a:r>
              <a:rPr lang="en-US" altLang="zh-CN" sz="3600" b="1"/>
              <a:t>2   </a:t>
            </a:r>
            <a:r>
              <a:rPr lang="en-US" altLang="zh-CN" sz="3600" b="1" err="1"/>
              <a:t>p-n</a:t>
            </a:r>
            <a:r>
              <a:rPr lang="zh-CN" altLang="en-US" sz="3600" b="1" dirty="0"/>
              <a:t>结的电流电压特性    </a:t>
            </a:r>
            <a:endParaRPr lang="zh-CN" altLang="en-US" sz="3600" b="1" dirty="0"/>
          </a:p>
          <a:p>
            <a:pPr>
              <a:lnSpc>
                <a:spcPct val="110000"/>
              </a:lnSpc>
              <a:buNone/>
            </a:pPr>
            <a:r>
              <a:rPr lang="zh-CN" altLang="en-US" sz="3600" b="1" dirty="0"/>
              <a:t>  </a:t>
            </a:r>
            <a:r>
              <a:rPr lang="zh-CN" altLang="en-US" sz="3600" b="1">
                <a:latin typeface="宋体" panose="02010600030101010101" pitchFamily="2" charset="-122"/>
              </a:rPr>
              <a:t>§</a:t>
            </a:r>
            <a:r>
              <a:rPr lang="en-US" altLang="zh-CN" sz="3600" b="1"/>
              <a:t>3   </a:t>
            </a:r>
            <a:r>
              <a:rPr lang="en-US" altLang="zh-CN" sz="3600" b="1" err="1"/>
              <a:t>p-n</a:t>
            </a:r>
            <a:r>
              <a:rPr lang="zh-CN" altLang="en-US" sz="3600" b="1" dirty="0"/>
              <a:t>结电容</a:t>
            </a:r>
            <a:endParaRPr lang="zh-CN" altLang="en-US" sz="3600" b="1" dirty="0"/>
          </a:p>
          <a:p>
            <a:pPr>
              <a:lnSpc>
                <a:spcPct val="110000"/>
              </a:lnSpc>
              <a:buNone/>
            </a:pPr>
            <a:r>
              <a:rPr lang="zh-CN" altLang="en-US" sz="3600" b="1" dirty="0">
                <a:latin typeface="宋体" panose="02010600030101010101" pitchFamily="2" charset="-122"/>
              </a:rPr>
              <a:t> </a:t>
            </a:r>
            <a:r>
              <a:rPr lang="zh-CN" altLang="en-US" sz="3600" b="1">
                <a:latin typeface="宋体" panose="02010600030101010101" pitchFamily="2" charset="-122"/>
              </a:rPr>
              <a:t>§</a:t>
            </a:r>
            <a:r>
              <a:rPr lang="en-US" altLang="zh-CN" sz="3600">
                <a:sym typeface="+mn-ea"/>
              </a:rPr>
              <a:t>4</a:t>
            </a:r>
            <a:r>
              <a:rPr lang="en-US" altLang="zh-CN" sz="3600" b="1">
                <a:latin typeface="宋体" panose="02010600030101010101" pitchFamily="2" charset="-122"/>
              </a:rPr>
              <a:t>  </a:t>
            </a:r>
            <a:r>
              <a:rPr lang="en-US" altLang="zh-CN" sz="3600" b="1" err="1"/>
              <a:t>p-n</a:t>
            </a:r>
            <a:r>
              <a:rPr lang="zh-CN" altLang="en-US" sz="3600" b="1" dirty="0">
                <a:latin typeface="宋体" panose="02010600030101010101" pitchFamily="2" charset="-122"/>
              </a:rPr>
              <a:t>结击穿</a:t>
            </a:r>
            <a:endParaRPr lang="zh-CN" altLang="en-US" sz="3600" b="1" dirty="0"/>
          </a:p>
          <a:p>
            <a:pPr>
              <a:lnSpc>
                <a:spcPct val="110000"/>
              </a:lnSpc>
              <a:buNone/>
            </a:pPr>
            <a:r>
              <a:rPr lang="zh-CN" altLang="en-US" sz="3600" b="1">
                <a:latin typeface="宋体" panose="02010600030101010101" pitchFamily="2" charset="-122"/>
              </a:rPr>
              <a:t> §</a:t>
            </a:r>
            <a:r>
              <a:rPr lang="en-US" altLang="zh-CN" sz="3600">
                <a:sym typeface="+mn-ea"/>
              </a:rPr>
              <a:t>5</a:t>
            </a:r>
            <a:r>
              <a:rPr lang="en-US" altLang="zh-CN" sz="3600" b="1">
                <a:latin typeface="宋体" panose="02010600030101010101" pitchFamily="2" charset="-122"/>
              </a:rPr>
              <a:t>  </a:t>
            </a:r>
            <a:r>
              <a:rPr lang="en-US" altLang="zh-CN" sz="3600" b="1" err="1"/>
              <a:t>p-n</a:t>
            </a:r>
            <a:r>
              <a:rPr lang="zh-CN" altLang="en-US" sz="3600" b="1" dirty="0">
                <a:latin typeface="宋体" panose="02010600030101010101" pitchFamily="2" charset="-122"/>
              </a:rPr>
              <a:t>结隧道效应</a:t>
            </a:r>
            <a:endParaRPr lang="zh-CN" altLang="en-US" sz="3600" b="1">
              <a:latin typeface="宋体" panose="02010600030101010101" pitchFamily="2" charset="-122"/>
            </a:endParaRPr>
          </a:p>
        </p:txBody>
      </p:sp>
      <p:graphicFrame>
        <p:nvGraphicFramePr>
          <p:cNvPr id="3076" name="对象 3075"/>
          <p:cNvGraphicFramePr/>
          <p:nvPr/>
        </p:nvGraphicFramePr>
        <p:xfrm>
          <a:off x="6038850" y="3340100"/>
          <a:ext cx="114300" cy="177800"/>
        </p:xfrm>
        <a:graphic>
          <a:graphicData uri="http://schemas.openxmlformats.org/presentationml/2006/ole">
            <mc:AlternateContent xmlns:mc="http://schemas.openxmlformats.org/markup-compatibility/2006">
              <mc:Choice xmlns:v="urn:schemas-microsoft-com:vml" Requires="v">
                <p:oleObj spid="_x0000_s3077" name="" r:id="rId1" imgW="114300" imgH="177800" progId="Equation.DSMT4">
                  <p:embed/>
                </p:oleObj>
              </mc:Choice>
              <mc:Fallback>
                <p:oleObj name="" r:id="rId1" imgW="114300" imgH="177800" progId="Equation.DSMT4">
                  <p:embed/>
                  <p:pic>
                    <p:nvPicPr>
                      <p:cNvPr id="0" name="图片 3076"/>
                      <p:cNvPicPr/>
                      <p:nvPr/>
                    </p:nvPicPr>
                    <p:blipFill>
                      <a:blip r:embed="rId2"/>
                      <a:stretch>
                        <a:fillRect/>
                      </a:stretch>
                    </p:blipFill>
                    <p:spPr>
                      <a:xfrm>
                        <a:off x="6038850" y="3340100"/>
                        <a:ext cx="114300" cy="177800"/>
                      </a:xfrm>
                      <a:prstGeom prst="rect">
                        <a:avLst/>
                      </a:prstGeom>
                      <a:noFill/>
                      <a:ln w="38100">
                        <a:noFill/>
                        <a:miter/>
                      </a:ln>
                    </p:spPr>
                  </p:pic>
                </p:oleObj>
              </mc:Fallback>
            </mc:AlternateContent>
          </a:graphicData>
        </a:graphic>
      </p:graphicFrame>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148" name="图片 6147"/>
          <p:cNvPicPr>
            <a:picLocks noChangeAspect="1"/>
          </p:cNvPicPr>
          <p:nvPr/>
        </p:nvPicPr>
        <p:blipFill>
          <a:blip r:embed="rId1"/>
          <a:stretch>
            <a:fillRect/>
          </a:stretch>
        </p:blipFill>
        <p:spPr>
          <a:xfrm>
            <a:off x="1774825" y="692150"/>
            <a:ext cx="8642350" cy="4054475"/>
          </a:xfrm>
          <a:prstGeom prst="rect">
            <a:avLst/>
          </a:prstGeom>
          <a:noFill/>
          <a:ln w="9525">
            <a:noFill/>
          </a:ln>
        </p:spPr>
      </p:pic>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46" name="Rectangle 2"/>
          <p:cNvSpPr>
            <a:spLocks noGrp="1" noChangeArrowheads="1"/>
          </p:cNvSpPr>
          <p:nvPr>
            <p:ph type="title"/>
          </p:nvPr>
        </p:nvSpPr>
        <p:spPr/>
        <p:txBody>
          <a:bodyPr/>
          <a:lstStyle/>
          <a:p>
            <a:r>
              <a:rPr lang="en-US" altLang="zh-CN">
                <a:latin typeface="楷体_GB2312" pitchFamily="49" charset="-122"/>
                <a:ea typeface="楷体_GB2312" pitchFamily="49" charset="-122"/>
              </a:rPr>
              <a:t>6.1  pn</a:t>
            </a:r>
            <a:r>
              <a:rPr lang="zh-CN" altLang="en-US">
                <a:latin typeface="楷体_GB2312" pitchFamily="49" charset="-122"/>
                <a:ea typeface="楷体_GB2312" pitchFamily="49" charset="-122"/>
              </a:rPr>
              <a:t>结的形成和杂质分布</a:t>
            </a:r>
            <a:endParaRPr lang="zh-CN" altLang="en-US">
              <a:latin typeface="楷体_GB2312" pitchFamily="49" charset="-122"/>
              <a:ea typeface="楷体_GB2312" pitchFamily="49" charset="-122"/>
            </a:endParaRPr>
          </a:p>
        </p:txBody>
      </p:sp>
      <p:grpSp>
        <p:nvGrpSpPr>
          <p:cNvPr id="287747" name="Group 3"/>
          <p:cNvGrpSpPr/>
          <p:nvPr/>
        </p:nvGrpSpPr>
        <p:grpSpPr bwMode="auto">
          <a:xfrm>
            <a:off x="3451226" y="3308351"/>
            <a:ext cx="5311775" cy="688975"/>
            <a:chOff x="720" y="1392"/>
            <a:chExt cx="4058" cy="480"/>
          </a:xfrm>
        </p:grpSpPr>
        <p:sp>
          <p:nvSpPr>
            <p:cNvPr id="287748" name="AutoShape 4"/>
            <p:cNvSpPr>
              <a:spLocks noChangeArrowheads="1"/>
            </p:cNvSpPr>
            <p:nvPr/>
          </p:nvSpPr>
          <p:spPr bwMode="gray">
            <a:xfrm>
              <a:off x="720" y="1392"/>
              <a:ext cx="4058" cy="480"/>
            </a:xfrm>
            <a:prstGeom prst="roundRect">
              <a:avLst>
                <a:gd name="adj" fmla="val 17509"/>
              </a:avLst>
            </a:prstGeom>
            <a:gradFill rotWithShape="1">
              <a:gsLst>
                <a:gs pos="0">
                  <a:schemeClr val="accent2"/>
                </a:gs>
                <a:gs pos="50000">
                  <a:schemeClr val="accent2">
                    <a:gamma/>
                    <a:shade val="92157"/>
                    <a:invGamma/>
                  </a:schemeClr>
                </a:gs>
                <a:gs pos="100000">
                  <a:schemeClr val="accent2"/>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fontAlgn="base">
                <a:spcBef>
                  <a:spcPct val="0"/>
                </a:spcBef>
                <a:spcAft>
                  <a:spcPct val="0"/>
                </a:spcAft>
              </a:pPr>
              <a:endParaRPr lang="zh-CN" altLang="en-US">
                <a:solidFill>
                  <a:srgbClr val="000000"/>
                </a:solidFill>
                <a:latin typeface="Arial" panose="020B0604020202020204" pitchFamily="34" charset="0"/>
              </a:endParaRPr>
            </a:p>
          </p:txBody>
        </p:sp>
        <p:grpSp>
          <p:nvGrpSpPr>
            <p:cNvPr id="287749" name="Group 5"/>
            <p:cNvGrpSpPr/>
            <p:nvPr/>
          </p:nvGrpSpPr>
          <p:grpSpPr bwMode="auto">
            <a:xfrm>
              <a:off x="730" y="1407"/>
              <a:ext cx="4043" cy="444"/>
              <a:chOff x="744" y="1407"/>
              <a:chExt cx="3988" cy="444"/>
            </a:xfrm>
          </p:grpSpPr>
          <p:sp>
            <p:nvSpPr>
              <p:cNvPr id="287750" name="AutoShape 6"/>
              <p:cNvSpPr>
                <a:spLocks noChangeArrowheads="1"/>
              </p:cNvSpPr>
              <p:nvPr/>
            </p:nvSpPr>
            <p:spPr bwMode="gray">
              <a:xfrm>
                <a:off x="744" y="1736"/>
                <a:ext cx="3988" cy="115"/>
              </a:xfrm>
              <a:prstGeom prst="roundRect">
                <a:avLst>
                  <a:gd name="adj" fmla="val 50000"/>
                </a:avLst>
              </a:prstGeom>
              <a:gradFill rotWithShape="1">
                <a:gsLst>
                  <a:gs pos="0">
                    <a:schemeClr val="accent2">
                      <a:alpha val="0"/>
                    </a:schemeClr>
                  </a:gs>
                  <a:gs pos="100000">
                    <a:schemeClr val="accent2">
                      <a:gamma/>
                      <a:tint val="0"/>
                      <a:invGamma/>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287751" name="AutoShape 7"/>
              <p:cNvSpPr>
                <a:spLocks noChangeArrowheads="1"/>
              </p:cNvSpPr>
              <p:nvPr/>
            </p:nvSpPr>
            <p:spPr bwMode="gray">
              <a:xfrm>
                <a:off x="744" y="1407"/>
                <a:ext cx="3988" cy="115"/>
              </a:xfrm>
              <a:prstGeom prst="roundRect">
                <a:avLst>
                  <a:gd name="adj" fmla="val 50000"/>
                </a:avLst>
              </a:prstGeom>
              <a:gradFill rotWithShape="1">
                <a:gsLst>
                  <a:gs pos="0">
                    <a:schemeClr val="accent2">
                      <a:gamma/>
                      <a:tint val="0"/>
                      <a:invGamma/>
                    </a:schemeClr>
                  </a:gs>
                  <a:gs pos="100000">
                    <a:schemeClr val="accent2">
                      <a:alpha val="0"/>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fontAlgn="base">
                  <a:spcBef>
                    <a:spcPct val="0"/>
                  </a:spcBef>
                  <a:spcAft>
                    <a:spcPct val="0"/>
                  </a:spcAft>
                </a:pPr>
                <a:endParaRPr lang="zh-CN" altLang="en-US">
                  <a:solidFill>
                    <a:srgbClr val="000000"/>
                  </a:solidFill>
                  <a:latin typeface="Arial" panose="020B0604020202020204" pitchFamily="34" charset="0"/>
                </a:endParaRPr>
              </a:p>
            </p:txBody>
          </p:sp>
        </p:grpSp>
      </p:grpSp>
      <p:grpSp>
        <p:nvGrpSpPr>
          <p:cNvPr id="287752" name="Group 8"/>
          <p:cNvGrpSpPr/>
          <p:nvPr/>
        </p:nvGrpSpPr>
        <p:grpSpPr bwMode="auto">
          <a:xfrm>
            <a:off x="3429001" y="4191001"/>
            <a:ext cx="5311775" cy="688975"/>
            <a:chOff x="720" y="1392"/>
            <a:chExt cx="4058" cy="480"/>
          </a:xfrm>
        </p:grpSpPr>
        <p:sp>
          <p:nvSpPr>
            <p:cNvPr id="287753" name="AutoShape 9"/>
            <p:cNvSpPr>
              <a:spLocks noChangeArrowheads="1"/>
            </p:cNvSpPr>
            <p:nvPr/>
          </p:nvSpPr>
          <p:spPr bwMode="gray">
            <a:xfrm>
              <a:off x="720" y="1392"/>
              <a:ext cx="4058" cy="480"/>
            </a:xfrm>
            <a:prstGeom prst="roundRect">
              <a:avLst>
                <a:gd name="adj" fmla="val 17509"/>
              </a:avLst>
            </a:prstGeom>
            <a:gradFill rotWithShape="1">
              <a:gsLst>
                <a:gs pos="0">
                  <a:schemeClr val="hlink"/>
                </a:gs>
                <a:gs pos="50000">
                  <a:schemeClr val="hlink">
                    <a:gamma/>
                    <a:shade val="92157"/>
                    <a:invGamma/>
                  </a:schemeClr>
                </a:gs>
                <a:gs pos="100000">
                  <a:schemeClr val="hlink"/>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fontAlgn="base">
                <a:spcBef>
                  <a:spcPct val="0"/>
                </a:spcBef>
                <a:spcAft>
                  <a:spcPct val="0"/>
                </a:spcAft>
              </a:pPr>
              <a:endParaRPr lang="zh-CN" altLang="en-US">
                <a:solidFill>
                  <a:srgbClr val="000000"/>
                </a:solidFill>
                <a:latin typeface="Arial" panose="020B0604020202020204" pitchFamily="34" charset="0"/>
              </a:endParaRPr>
            </a:p>
          </p:txBody>
        </p:sp>
        <p:grpSp>
          <p:nvGrpSpPr>
            <p:cNvPr id="287754" name="Group 10"/>
            <p:cNvGrpSpPr/>
            <p:nvPr/>
          </p:nvGrpSpPr>
          <p:grpSpPr bwMode="auto">
            <a:xfrm>
              <a:off x="730" y="1407"/>
              <a:ext cx="4043" cy="444"/>
              <a:chOff x="744" y="1407"/>
              <a:chExt cx="3988" cy="444"/>
            </a:xfrm>
          </p:grpSpPr>
          <p:sp>
            <p:nvSpPr>
              <p:cNvPr id="287755" name="AutoShape 11"/>
              <p:cNvSpPr>
                <a:spLocks noChangeArrowheads="1"/>
              </p:cNvSpPr>
              <p:nvPr/>
            </p:nvSpPr>
            <p:spPr bwMode="gray">
              <a:xfrm>
                <a:off x="744" y="1736"/>
                <a:ext cx="3988" cy="115"/>
              </a:xfrm>
              <a:prstGeom prst="roundRect">
                <a:avLst>
                  <a:gd name="adj" fmla="val 50000"/>
                </a:avLst>
              </a:prstGeom>
              <a:gradFill rotWithShape="1">
                <a:gsLst>
                  <a:gs pos="0">
                    <a:schemeClr val="hlink">
                      <a:alpha val="0"/>
                    </a:schemeClr>
                  </a:gs>
                  <a:gs pos="100000">
                    <a:schemeClr val="hlink">
                      <a:gamma/>
                      <a:tint val="0"/>
                      <a:invGamma/>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287756" name="AutoShape 12"/>
              <p:cNvSpPr>
                <a:spLocks noChangeArrowheads="1"/>
              </p:cNvSpPr>
              <p:nvPr/>
            </p:nvSpPr>
            <p:spPr bwMode="gray">
              <a:xfrm>
                <a:off x="744" y="1407"/>
                <a:ext cx="3988" cy="115"/>
              </a:xfrm>
              <a:prstGeom prst="roundRect">
                <a:avLst>
                  <a:gd name="adj" fmla="val 50000"/>
                </a:avLst>
              </a:prstGeom>
              <a:gradFill rotWithShape="1">
                <a:gsLst>
                  <a:gs pos="0">
                    <a:schemeClr val="hlink">
                      <a:gamma/>
                      <a:tint val="0"/>
                      <a:invGamma/>
                    </a:schemeClr>
                  </a:gs>
                  <a:gs pos="100000">
                    <a:schemeClr val="hlink">
                      <a:alpha val="0"/>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fontAlgn="base">
                  <a:spcBef>
                    <a:spcPct val="0"/>
                  </a:spcBef>
                  <a:spcAft>
                    <a:spcPct val="0"/>
                  </a:spcAft>
                </a:pPr>
                <a:endParaRPr lang="zh-CN" altLang="en-US">
                  <a:solidFill>
                    <a:srgbClr val="000000"/>
                  </a:solidFill>
                  <a:latin typeface="Arial" panose="020B0604020202020204" pitchFamily="34" charset="0"/>
                </a:endParaRPr>
              </a:p>
            </p:txBody>
          </p:sp>
        </p:grpSp>
      </p:grpSp>
      <p:grpSp>
        <p:nvGrpSpPr>
          <p:cNvPr id="287757" name="Group 13"/>
          <p:cNvGrpSpPr/>
          <p:nvPr/>
        </p:nvGrpSpPr>
        <p:grpSpPr bwMode="auto">
          <a:xfrm>
            <a:off x="3451226" y="5030789"/>
            <a:ext cx="5311775" cy="688975"/>
            <a:chOff x="720" y="1392"/>
            <a:chExt cx="4058" cy="480"/>
          </a:xfrm>
        </p:grpSpPr>
        <p:sp>
          <p:nvSpPr>
            <p:cNvPr id="287758" name="AutoShape 14"/>
            <p:cNvSpPr>
              <a:spLocks noChangeArrowheads="1"/>
            </p:cNvSpPr>
            <p:nvPr/>
          </p:nvSpPr>
          <p:spPr bwMode="gray">
            <a:xfrm>
              <a:off x="720" y="1392"/>
              <a:ext cx="4058" cy="480"/>
            </a:xfrm>
            <a:prstGeom prst="roundRect">
              <a:avLst>
                <a:gd name="adj" fmla="val 17509"/>
              </a:avLst>
            </a:prstGeom>
            <a:gradFill rotWithShape="1">
              <a:gsLst>
                <a:gs pos="0">
                  <a:schemeClr val="folHlink"/>
                </a:gs>
                <a:gs pos="50000">
                  <a:schemeClr val="folHlink">
                    <a:gamma/>
                    <a:shade val="92157"/>
                    <a:invGamma/>
                  </a:schemeClr>
                </a:gs>
                <a:gs pos="100000">
                  <a:schemeClr val="folHlink"/>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fontAlgn="base">
                <a:spcBef>
                  <a:spcPct val="0"/>
                </a:spcBef>
                <a:spcAft>
                  <a:spcPct val="0"/>
                </a:spcAft>
              </a:pPr>
              <a:endParaRPr lang="zh-CN" altLang="en-US">
                <a:solidFill>
                  <a:srgbClr val="000000"/>
                </a:solidFill>
                <a:latin typeface="Arial" panose="020B0604020202020204" pitchFamily="34" charset="0"/>
              </a:endParaRPr>
            </a:p>
          </p:txBody>
        </p:sp>
        <p:grpSp>
          <p:nvGrpSpPr>
            <p:cNvPr id="287759" name="Group 15"/>
            <p:cNvGrpSpPr/>
            <p:nvPr/>
          </p:nvGrpSpPr>
          <p:grpSpPr bwMode="auto">
            <a:xfrm>
              <a:off x="730" y="1407"/>
              <a:ext cx="4043" cy="444"/>
              <a:chOff x="744" y="1407"/>
              <a:chExt cx="3988" cy="444"/>
            </a:xfrm>
          </p:grpSpPr>
          <p:sp>
            <p:nvSpPr>
              <p:cNvPr id="287760" name="AutoShape 16"/>
              <p:cNvSpPr>
                <a:spLocks noChangeArrowheads="1"/>
              </p:cNvSpPr>
              <p:nvPr/>
            </p:nvSpPr>
            <p:spPr bwMode="gray">
              <a:xfrm>
                <a:off x="744" y="1736"/>
                <a:ext cx="3988" cy="115"/>
              </a:xfrm>
              <a:prstGeom prst="roundRect">
                <a:avLst>
                  <a:gd name="adj" fmla="val 50000"/>
                </a:avLst>
              </a:prstGeom>
              <a:gradFill rotWithShape="1">
                <a:gsLst>
                  <a:gs pos="0">
                    <a:schemeClr val="folHlink">
                      <a:alpha val="0"/>
                    </a:schemeClr>
                  </a:gs>
                  <a:gs pos="100000">
                    <a:schemeClr val="folHlink">
                      <a:gamma/>
                      <a:tint val="0"/>
                      <a:invGamma/>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287761" name="AutoShape 17"/>
              <p:cNvSpPr>
                <a:spLocks noChangeArrowheads="1"/>
              </p:cNvSpPr>
              <p:nvPr/>
            </p:nvSpPr>
            <p:spPr bwMode="gray">
              <a:xfrm>
                <a:off x="744" y="1407"/>
                <a:ext cx="3988" cy="115"/>
              </a:xfrm>
              <a:prstGeom prst="roundRect">
                <a:avLst>
                  <a:gd name="adj" fmla="val 50000"/>
                </a:avLst>
              </a:prstGeom>
              <a:gradFill rotWithShape="1">
                <a:gsLst>
                  <a:gs pos="0">
                    <a:schemeClr val="folHlink">
                      <a:gamma/>
                      <a:tint val="0"/>
                      <a:invGamma/>
                    </a:schemeClr>
                  </a:gs>
                  <a:gs pos="100000">
                    <a:schemeClr val="folHlink">
                      <a:alpha val="0"/>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fontAlgn="base">
                  <a:spcBef>
                    <a:spcPct val="0"/>
                  </a:spcBef>
                  <a:spcAft>
                    <a:spcPct val="0"/>
                  </a:spcAft>
                </a:pPr>
                <a:endParaRPr lang="zh-CN" altLang="en-US">
                  <a:solidFill>
                    <a:srgbClr val="000000"/>
                  </a:solidFill>
                  <a:latin typeface="Arial" panose="020B0604020202020204" pitchFamily="34" charset="0"/>
                </a:endParaRPr>
              </a:p>
            </p:txBody>
          </p:sp>
        </p:grpSp>
      </p:grpSp>
      <p:grpSp>
        <p:nvGrpSpPr>
          <p:cNvPr id="287762" name="Group 18"/>
          <p:cNvGrpSpPr/>
          <p:nvPr/>
        </p:nvGrpSpPr>
        <p:grpSpPr bwMode="auto">
          <a:xfrm>
            <a:off x="3429001" y="2438401"/>
            <a:ext cx="5311775" cy="688975"/>
            <a:chOff x="720" y="1392"/>
            <a:chExt cx="4058" cy="480"/>
          </a:xfrm>
        </p:grpSpPr>
        <p:sp>
          <p:nvSpPr>
            <p:cNvPr id="287763" name="AutoShape 19"/>
            <p:cNvSpPr>
              <a:spLocks noChangeArrowheads="1"/>
            </p:cNvSpPr>
            <p:nvPr/>
          </p:nvSpPr>
          <p:spPr bwMode="gray">
            <a:xfrm>
              <a:off x="720" y="1392"/>
              <a:ext cx="4058" cy="480"/>
            </a:xfrm>
            <a:prstGeom prst="roundRect">
              <a:avLst>
                <a:gd name="adj" fmla="val 17509"/>
              </a:avLst>
            </a:prstGeom>
            <a:gradFill rotWithShape="1">
              <a:gsLst>
                <a:gs pos="0">
                  <a:schemeClr val="accent1"/>
                </a:gs>
                <a:gs pos="50000">
                  <a:schemeClr val="accent1">
                    <a:gamma/>
                    <a:shade val="92157"/>
                    <a:invGamma/>
                  </a:schemeClr>
                </a:gs>
                <a:gs pos="100000">
                  <a:schemeClr val="accent1"/>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fontAlgn="base">
                <a:spcBef>
                  <a:spcPct val="0"/>
                </a:spcBef>
                <a:spcAft>
                  <a:spcPct val="0"/>
                </a:spcAft>
              </a:pPr>
              <a:endParaRPr lang="zh-CN" altLang="en-US">
                <a:solidFill>
                  <a:srgbClr val="000000"/>
                </a:solidFill>
                <a:latin typeface="Arial" panose="020B0604020202020204" pitchFamily="34" charset="0"/>
              </a:endParaRPr>
            </a:p>
          </p:txBody>
        </p:sp>
        <p:grpSp>
          <p:nvGrpSpPr>
            <p:cNvPr id="287764" name="Group 20"/>
            <p:cNvGrpSpPr/>
            <p:nvPr/>
          </p:nvGrpSpPr>
          <p:grpSpPr bwMode="auto">
            <a:xfrm>
              <a:off x="730" y="1407"/>
              <a:ext cx="4043" cy="444"/>
              <a:chOff x="744" y="1407"/>
              <a:chExt cx="3988" cy="444"/>
            </a:xfrm>
          </p:grpSpPr>
          <p:sp>
            <p:nvSpPr>
              <p:cNvPr id="287765" name="AutoShape 21"/>
              <p:cNvSpPr>
                <a:spLocks noChangeArrowheads="1"/>
              </p:cNvSpPr>
              <p:nvPr/>
            </p:nvSpPr>
            <p:spPr bwMode="gray">
              <a:xfrm>
                <a:off x="744" y="1736"/>
                <a:ext cx="3988" cy="115"/>
              </a:xfrm>
              <a:prstGeom prst="roundRect">
                <a:avLst>
                  <a:gd name="adj" fmla="val 50000"/>
                </a:avLst>
              </a:prstGeom>
              <a:gradFill rotWithShape="1">
                <a:gsLst>
                  <a:gs pos="0">
                    <a:schemeClr val="accent1">
                      <a:alpha val="0"/>
                    </a:schemeClr>
                  </a:gs>
                  <a:gs pos="100000">
                    <a:schemeClr val="accent1">
                      <a:gamma/>
                      <a:tint val="0"/>
                      <a:invGamma/>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287766" name="AutoShape 22"/>
              <p:cNvSpPr>
                <a:spLocks noChangeArrowheads="1"/>
              </p:cNvSpPr>
              <p:nvPr/>
            </p:nvSpPr>
            <p:spPr bwMode="gray">
              <a:xfrm>
                <a:off x="744" y="1407"/>
                <a:ext cx="3988" cy="115"/>
              </a:xfrm>
              <a:prstGeom prst="roundRect">
                <a:avLst>
                  <a:gd name="adj" fmla="val 50000"/>
                </a:avLst>
              </a:prstGeom>
              <a:gradFill rotWithShape="1">
                <a:gsLst>
                  <a:gs pos="0">
                    <a:schemeClr val="accent1">
                      <a:gamma/>
                      <a:tint val="0"/>
                      <a:invGamma/>
                    </a:schemeClr>
                  </a:gs>
                  <a:gs pos="100000">
                    <a:schemeClr val="accent1">
                      <a:alpha val="0"/>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fontAlgn="base">
                  <a:spcBef>
                    <a:spcPct val="0"/>
                  </a:spcBef>
                  <a:spcAft>
                    <a:spcPct val="0"/>
                  </a:spcAft>
                </a:pPr>
                <a:endParaRPr lang="zh-CN" altLang="en-US">
                  <a:solidFill>
                    <a:srgbClr val="000000"/>
                  </a:solidFill>
                  <a:latin typeface="Arial" panose="020B0604020202020204" pitchFamily="34" charset="0"/>
                </a:endParaRPr>
              </a:p>
            </p:txBody>
          </p:sp>
        </p:grpSp>
      </p:grpSp>
      <p:sp>
        <p:nvSpPr>
          <p:cNvPr id="287767" name="Text Box 23"/>
          <p:cNvSpPr txBox="1">
            <a:spLocks noChangeArrowheads="1"/>
          </p:cNvSpPr>
          <p:nvPr/>
        </p:nvSpPr>
        <p:spPr bwMode="white">
          <a:xfrm>
            <a:off x="3917950" y="2559050"/>
            <a:ext cx="449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292929">
                      <a:alpha val="50000"/>
                    </a:srgbClr>
                  </a:outerShdw>
                </a:effectLst>
              </a14:hiddenEffects>
            </a:ext>
          </a:extLst>
        </p:spPr>
        <p:txBody>
          <a:bodyPr>
            <a:spAutoFit/>
          </a:bodyPr>
          <a:lstStyle>
            <a:lvl1pPr marL="457200" indent="-457200" algn="l">
              <a:defRPr>
                <a:solidFill>
                  <a:schemeClr val="tx1"/>
                </a:solidFill>
                <a:latin typeface="Arial" panose="020B0604020202020204" pitchFamily="34" charset="0"/>
              </a:defRPr>
            </a:lvl1pPr>
            <a:lvl2pPr marL="914400" indent="-457200" algn="l">
              <a:defRPr>
                <a:solidFill>
                  <a:schemeClr val="tx1"/>
                </a:solidFill>
                <a:latin typeface="Arial" panose="020B0604020202020204" pitchFamily="34" charset="0"/>
              </a:defRPr>
            </a:lvl2pPr>
            <a:lvl3pPr marL="1371600" indent="-457200" algn="l">
              <a:defRPr>
                <a:solidFill>
                  <a:schemeClr val="tx1"/>
                </a:solidFill>
                <a:latin typeface="Arial" panose="020B0604020202020204" pitchFamily="34" charset="0"/>
              </a:defRPr>
            </a:lvl3pPr>
            <a:lvl4pPr marL="1828800" indent="-457200" algn="l">
              <a:defRPr>
                <a:solidFill>
                  <a:schemeClr val="tx1"/>
                </a:solidFill>
                <a:latin typeface="Arial" panose="020B0604020202020204" pitchFamily="34" charset="0"/>
              </a:defRPr>
            </a:lvl4pPr>
            <a:lvl5pPr marL="2286000" indent="-457200" algn="l">
              <a:defRPr>
                <a:solidFill>
                  <a:schemeClr val="tx1"/>
                </a:solidFill>
                <a:latin typeface="Arial" panose="020B0604020202020204" pitchFamily="34" charset="0"/>
              </a:defRPr>
            </a:lvl5pPr>
            <a:lvl6pPr marL="2743200" indent="-457200" fontAlgn="base">
              <a:spcBef>
                <a:spcPct val="0"/>
              </a:spcBef>
              <a:spcAft>
                <a:spcPct val="0"/>
              </a:spcAft>
              <a:defRPr>
                <a:solidFill>
                  <a:schemeClr val="tx1"/>
                </a:solidFill>
                <a:latin typeface="Arial" panose="020B0604020202020204" pitchFamily="34" charset="0"/>
              </a:defRPr>
            </a:lvl6pPr>
            <a:lvl7pPr marL="3200400" indent="-457200" fontAlgn="base">
              <a:spcBef>
                <a:spcPct val="0"/>
              </a:spcBef>
              <a:spcAft>
                <a:spcPct val="0"/>
              </a:spcAft>
              <a:defRPr>
                <a:solidFill>
                  <a:schemeClr val="tx1"/>
                </a:solidFill>
                <a:latin typeface="Arial" panose="020B0604020202020204" pitchFamily="34" charset="0"/>
              </a:defRPr>
            </a:lvl7pPr>
            <a:lvl8pPr marL="3657600" indent="-457200" fontAlgn="base">
              <a:spcBef>
                <a:spcPct val="0"/>
              </a:spcBef>
              <a:spcAft>
                <a:spcPct val="0"/>
              </a:spcAft>
              <a:defRPr>
                <a:solidFill>
                  <a:schemeClr val="tx1"/>
                </a:solidFill>
                <a:latin typeface="Arial" panose="020B0604020202020204" pitchFamily="34" charset="0"/>
              </a:defRPr>
            </a:lvl8pPr>
            <a:lvl9pPr marL="4114800" indent="-457200" fontAlgn="base">
              <a:spcBef>
                <a:spcPct val="0"/>
              </a:spcBef>
              <a:spcAft>
                <a:spcPct val="0"/>
              </a:spcAft>
              <a:defRPr>
                <a:solidFill>
                  <a:schemeClr val="tx1"/>
                </a:solidFill>
                <a:latin typeface="Arial" panose="020B0604020202020204" pitchFamily="34" charset="0"/>
              </a:defRPr>
            </a:lvl9pPr>
          </a:lstStyle>
          <a:p>
            <a:pPr fontAlgn="base">
              <a:spcBef>
                <a:spcPct val="50000"/>
              </a:spcBef>
              <a:spcAft>
                <a:spcPct val="0"/>
              </a:spcAft>
              <a:buClr>
                <a:srgbClr val="000000"/>
              </a:buClr>
            </a:pPr>
            <a:r>
              <a:rPr lang="en-US" altLang="zh-CN" sz="2400" b="1">
                <a:solidFill>
                  <a:srgbClr val="FFFFFF"/>
                </a:solidFill>
                <a:ea typeface="宋体" panose="02010600030101010101" pitchFamily="2" charset="-122"/>
                <a:cs typeface="Arial" panose="020B0604020202020204" pitchFamily="34" charset="0"/>
              </a:rPr>
              <a:t>    </a:t>
            </a:r>
            <a:r>
              <a:rPr lang="en-US" altLang="zh-CN" sz="2400" b="1">
                <a:solidFill>
                  <a:srgbClr val="FFFFFF"/>
                </a:solidFill>
                <a:latin typeface="楷体_GB2312" pitchFamily="49" charset="-122"/>
                <a:ea typeface="楷体_GB2312" pitchFamily="49" charset="-122"/>
                <a:cs typeface="Arial" panose="020B0604020202020204" pitchFamily="34" charset="0"/>
              </a:rPr>
              <a:t>6.1.2  </a:t>
            </a:r>
            <a:r>
              <a:rPr lang="zh-CN" altLang="en-US" sz="2400" b="1">
                <a:solidFill>
                  <a:srgbClr val="FFFFFF"/>
                </a:solidFill>
                <a:latin typeface="楷体_GB2312" pitchFamily="49" charset="-122"/>
                <a:ea typeface="楷体_GB2312" pitchFamily="49" charset="-122"/>
                <a:cs typeface="Arial" panose="020B0604020202020204" pitchFamily="34" charset="0"/>
              </a:rPr>
              <a:t>空间电荷区</a:t>
            </a:r>
            <a:r>
              <a:rPr lang="zh-CN" altLang="en-US" sz="2400" b="1">
                <a:solidFill>
                  <a:srgbClr val="FFFFFF"/>
                </a:solidFill>
                <a:ea typeface="宋体" panose="02010600030101010101" pitchFamily="2" charset="-122"/>
                <a:cs typeface="Arial" panose="020B0604020202020204" pitchFamily="34" charset="0"/>
              </a:rPr>
              <a:t> </a:t>
            </a:r>
            <a:endParaRPr lang="zh-CN" altLang="en-US" sz="2400" b="1">
              <a:solidFill>
                <a:srgbClr val="FFFFFF"/>
              </a:solidFill>
              <a:ea typeface="宋体" panose="02010600030101010101" pitchFamily="2" charset="-122"/>
              <a:cs typeface="Arial" panose="020B0604020202020204" pitchFamily="34" charset="0"/>
            </a:endParaRPr>
          </a:p>
        </p:txBody>
      </p:sp>
      <p:sp>
        <p:nvSpPr>
          <p:cNvPr id="287768" name="Text Box 24"/>
          <p:cNvSpPr txBox="1">
            <a:spLocks noChangeArrowheads="1"/>
          </p:cNvSpPr>
          <p:nvPr/>
        </p:nvSpPr>
        <p:spPr bwMode="white">
          <a:xfrm>
            <a:off x="3929063" y="3416300"/>
            <a:ext cx="449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292929">
                      <a:alpha val="50000"/>
                    </a:srgbClr>
                  </a:outerShdw>
                </a:effectLst>
              </a14:hiddenEffects>
            </a:ext>
          </a:extLst>
        </p:spPr>
        <p:txBody>
          <a:bodyPr>
            <a:spAutoFit/>
          </a:bodyPr>
          <a:lstStyle>
            <a:lvl1pPr marL="457200" indent="-457200" algn="l">
              <a:defRPr>
                <a:solidFill>
                  <a:schemeClr val="tx1"/>
                </a:solidFill>
                <a:latin typeface="Arial" panose="020B0604020202020204" pitchFamily="34" charset="0"/>
              </a:defRPr>
            </a:lvl1pPr>
            <a:lvl2pPr marL="914400" indent="-457200" algn="l">
              <a:defRPr>
                <a:solidFill>
                  <a:schemeClr val="tx1"/>
                </a:solidFill>
                <a:latin typeface="Arial" panose="020B0604020202020204" pitchFamily="34" charset="0"/>
              </a:defRPr>
            </a:lvl2pPr>
            <a:lvl3pPr marL="1371600" indent="-457200" algn="l">
              <a:defRPr>
                <a:solidFill>
                  <a:schemeClr val="tx1"/>
                </a:solidFill>
                <a:latin typeface="Arial" panose="020B0604020202020204" pitchFamily="34" charset="0"/>
              </a:defRPr>
            </a:lvl3pPr>
            <a:lvl4pPr marL="1828800" indent="-457200" algn="l">
              <a:defRPr>
                <a:solidFill>
                  <a:schemeClr val="tx1"/>
                </a:solidFill>
                <a:latin typeface="Arial" panose="020B0604020202020204" pitchFamily="34" charset="0"/>
              </a:defRPr>
            </a:lvl4pPr>
            <a:lvl5pPr marL="2286000" indent="-457200" algn="l">
              <a:defRPr>
                <a:solidFill>
                  <a:schemeClr val="tx1"/>
                </a:solidFill>
                <a:latin typeface="Arial" panose="020B0604020202020204" pitchFamily="34" charset="0"/>
              </a:defRPr>
            </a:lvl5pPr>
            <a:lvl6pPr marL="2743200" indent="-457200" fontAlgn="base">
              <a:spcBef>
                <a:spcPct val="0"/>
              </a:spcBef>
              <a:spcAft>
                <a:spcPct val="0"/>
              </a:spcAft>
              <a:defRPr>
                <a:solidFill>
                  <a:schemeClr val="tx1"/>
                </a:solidFill>
                <a:latin typeface="Arial" panose="020B0604020202020204" pitchFamily="34" charset="0"/>
              </a:defRPr>
            </a:lvl6pPr>
            <a:lvl7pPr marL="3200400" indent="-457200" fontAlgn="base">
              <a:spcBef>
                <a:spcPct val="0"/>
              </a:spcBef>
              <a:spcAft>
                <a:spcPct val="0"/>
              </a:spcAft>
              <a:defRPr>
                <a:solidFill>
                  <a:schemeClr val="tx1"/>
                </a:solidFill>
                <a:latin typeface="Arial" panose="020B0604020202020204" pitchFamily="34" charset="0"/>
              </a:defRPr>
            </a:lvl7pPr>
            <a:lvl8pPr marL="3657600" indent="-457200" fontAlgn="base">
              <a:spcBef>
                <a:spcPct val="0"/>
              </a:spcBef>
              <a:spcAft>
                <a:spcPct val="0"/>
              </a:spcAft>
              <a:defRPr>
                <a:solidFill>
                  <a:schemeClr val="tx1"/>
                </a:solidFill>
                <a:latin typeface="Arial" panose="020B0604020202020204" pitchFamily="34" charset="0"/>
              </a:defRPr>
            </a:lvl8pPr>
            <a:lvl9pPr marL="4114800" indent="-457200" fontAlgn="base">
              <a:spcBef>
                <a:spcPct val="0"/>
              </a:spcBef>
              <a:spcAft>
                <a:spcPct val="0"/>
              </a:spcAft>
              <a:defRPr>
                <a:solidFill>
                  <a:schemeClr val="tx1"/>
                </a:solidFill>
                <a:latin typeface="Arial" panose="020B0604020202020204" pitchFamily="34" charset="0"/>
              </a:defRPr>
            </a:lvl9pPr>
          </a:lstStyle>
          <a:p>
            <a:pPr fontAlgn="base">
              <a:spcBef>
                <a:spcPct val="50000"/>
              </a:spcBef>
              <a:spcAft>
                <a:spcPct val="0"/>
              </a:spcAft>
              <a:buClr>
                <a:srgbClr val="000000"/>
              </a:buClr>
            </a:pPr>
            <a:r>
              <a:rPr lang="en-US" altLang="zh-CN" sz="2400" b="1" dirty="0">
                <a:solidFill>
                  <a:srgbClr val="FFFFFF"/>
                </a:solidFill>
                <a:latin typeface="楷体_GB2312" pitchFamily="49" charset="-122"/>
                <a:ea typeface="楷体_GB2312" pitchFamily="49" charset="-122"/>
                <a:cs typeface="Arial" panose="020B0604020202020204" pitchFamily="34" charset="0"/>
              </a:rPr>
              <a:t>    6.1.3  </a:t>
            </a:r>
            <a:r>
              <a:rPr lang="en-US" altLang="zh-CN" sz="2400" b="1" dirty="0" err="1">
                <a:solidFill>
                  <a:srgbClr val="FFFFFF"/>
                </a:solidFill>
                <a:latin typeface="楷体_GB2312" pitchFamily="49" charset="-122"/>
                <a:ea typeface="楷体_GB2312" pitchFamily="49" charset="-122"/>
                <a:cs typeface="Arial" panose="020B0604020202020204" pitchFamily="34" charset="0"/>
              </a:rPr>
              <a:t>pn</a:t>
            </a:r>
            <a:r>
              <a:rPr lang="zh-CN" altLang="en-US" sz="2400" b="1" dirty="0">
                <a:solidFill>
                  <a:srgbClr val="FFFFFF"/>
                </a:solidFill>
                <a:latin typeface="楷体_GB2312" pitchFamily="49" charset="-122"/>
                <a:ea typeface="楷体_GB2312" pitchFamily="49" charset="-122"/>
                <a:cs typeface="Arial" panose="020B0604020202020204" pitchFamily="34" charset="0"/>
              </a:rPr>
              <a:t>结能带图</a:t>
            </a:r>
            <a:r>
              <a:rPr lang="zh-CN" altLang="en-US" sz="2400" b="1" dirty="0">
                <a:solidFill>
                  <a:srgbClr val="FFFFFF"/>
                </a:solidFill>
                <a:ea typeface="宋体" panose="02010600030101010101" pitchFamily="2" charset="-122"/>
                <a:cs typeface="Arial" panose="020B0604020202020204" pitchFamily="34" charset="0"/>
              </a:rPr>
              <a:t>  </a:t>
            </a:r>
            <a:endParaRPr lang="zh-CN" altLang="en-US" sz="2400" b="1" dirty="0">
              <a:solidFill>
                <a:srgbClr val="FFFFFF"/>
              </a:solidFill>
              <a:ea typeface="宋体" panose="02010600030101010101" pitchFamily="2" charset="-122"/>
              <a:cs typeface="Arial" panose="020B0604020202020204" pitchFamily="34" charset="0"/>
            </a:endParaRPr>
          </a:p>
        </p:txBody>
      </p:sp>
      <p:sp>
        <p:nvSpPr>
          <p:cNvPr id="287769" name="Text Box 25"/>
          <p:cNvSpPr txBox="1">
            <a:spLocks noChangeArrowheads="1"/>
          </p:cNvSpPr>
          <p:nvPr/>
        </p:nvSpPr>
        <p:spPr bwMode="white">
          <a:xfrm>
            <a:off x="3929063" y="4275138"/>
            <a:ext cx="449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292929">
                      <a:alpha val="50000"/>
                    </a:srgbClr>
                  </a:outerShdw>
                </a:effectLst>
              </a14:hiddenEffects>
            </a:ext>
          </a:extLst>
        </p:spPr>
        <p:txBody>
          <a:bodyPr>
            <a:spAutoFit/>
          </a:bodyPr>
          <a:lstStyle>
            <a:lvl1pPr marL="457200" indent="-457200" algn="l">
              <a:defRPr>
                <a:solidFill>
                  <a:schemeClr val="tx1"/>
                </a:solidFill>
                <a:latin typeface="Arial" panose="020B0604020202020204" pitchFamily="34" charset="0"/>
              </a:defRPr>
            </a:lvl1pPr>
            <a:lvl2pPr marL="914400" indent="-457200" algn="l">
              <a:defRPr>
                <a:solidFill>
                  <a:schemeClr val="tx1"/>
                </a:solidFill>
                <a:latin typeface="Arial" panose="020B0604020202020204" pitchFamily="34" charset="0"/>
              </a:defRPr>
            </a:lvl2pPr>
            <a:lvl3pPr marL="1371600" indent="-457200" algn="l">
              <a:defRPr>
                <a:solidFill>
                  <a:schemeClr val="tx1"/>
                </a:solidFill>
                <a:latin typeface="Arial" panose="020B0604020202020204" pitchFamily="34" charset="0"/>
              </a:defRPr>
            </a:lvl3pPr>
            <a:lvl4pPr marL="1828800" indent="-457200" algn="l">
              <a:defRPr>
                <a:solidFill>
                  <a:schemeClr val="tx1"/>
                </a:solidFill>
                <a:latin typeface="Arial" panose="020B0604020202020204" pitchFamily="34" charset="0"/>
              </a:defRPr>
            </a:lvl4pPr>
            <a:lvl5pPr marL="2286000" indent="-457200" algn="l">
              <a:defRPr>
                <a:solidFill>
                  <a:schemeClr val="tx1"/>
                </a:solidFill>
                <a:latin typeface="Arial" panose="020B0604020202020204" pitchFamily="34" charset="0"/>
              </a:defRPr>
            </a:lvl5pPr>
            <a:lvl6pPr marL="2743200" indent="-457200" fontAlgn="base">
              <a:spcBef>
                <a:spcPct val="0"/>
              </a:spcBef>
              <a:spcAft>
                <a:spcPct val="0"/>
              </a:spcAft>
              <a:defRPr>
                <a:solidFill>
                  <a:schemeClr val="tx1"/>
                </a:solidFill>
                <a:latin typeface="Arial" panose="020B0604020202020204" pitchFamily="34" charset="0"/>
              </a:defRPr>
            </a:lvl6pPr>
            <a:lvl7pPr marL="3200400" indent="-457200" fontAlgn="base">
              <a:spcBef>
                <a:spcPct val="0"/>
              </a:spcBef>
              <a:spcAft>
                <a:spcPct val="0"/>
              </a:spcAft>
              <a:defRPr>
                <a:solidFill>
                  <a:schemeClr val="tx1"/>
                </a:solidFill>
                <a:latin typeface="Arial" panose="020B0604020202020204" pitchFamily="34" charset="0"/>
              </a:defRPr>
            </a:lvl7pPr>
            <a:lvl8pPr marL="3657600" indent="-457200" fontAlgn="base">
              <a:spcBef>
                <a:spcPct val="0"/>
              </a:spcBef>
              <a:spcAft>
                <a:spcPct val="0"/>
              </a:spcAft>
              <a:defRPr>
                <a:solidFill>
                  <a:schemeClr val="tx1"/>
                </a:solidFill>
                <a:latin typeface="Arial" panose="020B0604020202020204" pitchFamily="34" charset="0"/>
              </a:defRPr>
            </a:lvl8pPr>
            <a:lvl9pPr marL="4114800" indent="-457200" fontAlgn="base">
              <a:spcBef>
                <a:spcPct val="0"/>
              </a:spcBef>
              <a:spcAft>
                <a:spcPct val="0"/>
              </a:spcAft>
              <a:defRPr>
                <a:solidFill>
                  <a:schemeClr val="tx1"/>
                </a:solidFill>
                <a:latin typeface="Arial" panose="020B0604020202020204" pitchFamily="34" charset="0"/>
              </a:defRPr>
            </a:lvl9pPr>
          </a:lstStyle>
          <a:p>
            <a:pPr fontAlgn="base">
              <a:spcBef>
                <a:spcPct val="50000"/>
              </a:spcBef>
              <a:spcAft>
                <a:spcPct val="0"/>
              </a:spcAft>
              <a:buClr>
                <a:srgbClr val="000000"/>
              </a:buClr>
            </a:pPr>
            <a:r>
              <a:rPr lang="en-US" altLang="zh-CN" sz="2400" b="1">
                <a:solidFill>
                  <a:srgbClr val="FFFFFF"/>
                </a:solidFill>
                <a:ea typeface="宋体" panose="02010600030101010101" pitchFamily="2" charset="-122"/>
                <a:cs typeface="Arial" panose="020B0604020202020204" pitchFamily="34" charset="0"/>
              </a:rPr>
              <a:t>    </a:t>
            </a:r>
            <a:r>
              <a:rPr lang="en-US" altLang="zh-CN" sz="2400" b="1">
                <a:solidFill>
                  <a:srgbClr val="FFFFFF"/>
                </a:solidFill>
                <a:latin typeface="楷体_GB2312" pitchFamily="49" charset="-122"/>
                <a:ea typeface="楷体_GB2312" pitchFamily="49" charset="-122"/>
                <a:cs typeface="Arial" panose="020B0604020202020204" pitchFamily="34" charset="0"/>
              </a:rPr>
              <a:t>6.1.4  pn</a:t>
            </a:r>
            <a:r>
              <a:rPr lang="zh-CN" altLang="en-US" sz="2400" b="1">
                <a:solidFill>
                  <a:srgbClr val="FFFFFF"/>
                </a:solidFill>
                <a:latin typeface="楷体_GB2312" pitchFamily="49" charset="-122"/>
                <a:ea typeface="楷体_GB2312" pitchFamily="49" charset="-122"/>
                <a:cs typeface="Arial" panose="020B0604020202020204" pitchFamily="34" charset="0"/>
              </a:rPr>
              <a:t>结接触电势差</a:t>
            </a:r>
            <a:endParaRPr lang="zh-CN" altLang="en-US" sz="2400" b="1">
              <a:solidFill>
                <a:srgbClr val="FFFFFF"/>
              </a:solidFill>
              <a:latin typeface="楷体_GB2312" pitchFamily="49" charset="-122"/>
              <a:ea typeface="楷体_GB2312" pitchFamily="49" charset="-122"/>
              <a:cs typeface="Arial" panose="020B0604020202020204" pitchFamily="34" charset="0"/>
            </a:endParaRPr>
          </a:p>
        </p:txBody>
      </p:sp>
      <p:sp>
        <p:nvSpPr>
          <p:cNvPr id="287770" name="Text Box 26"/>
          <p:cNvSpPr txBox="1">
            <a:spLocks noChangeArrowheads="1"/>
          </p:cNvSpPr>
          <p:nvPr/>
        </p:nvSpPr>
        <p:spPr bwMode="white">
          <a:xfrm>
            <a:off x="3929063" y="5122863"/>
            <a:ext cx="449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292929">
                      <a:alpha val="50000"/>
                    </a:srgbClr>
                  </a:outerShdw>
                </a:effectLst>
              </a14:hiddenEffects>
            </a:ext>
          </a:extLst>
        </p:spPr>
        <p:txBody>
          <a:bodyPr>
            <a:spAutoFit/>
          </a:bodyPr>
          <a:lstStyle>
            <a:lvl1pPr marL="457200" indent="-457200" algn="l">
              <a:defRPr>
                <a:solidFill>
                  <a:schemeClr val="tx1"/>
                </a:solidFill>
                <a:latin typeface="Arial" panose="020B0604020202020204" pitchFamily="34" charset="0"/>
              </a:defRPr>
            </a:lvl1pPr>
            <a:lvl2pPr marL="914400" indent="-457200" algn="l">
              <a:defRPr>
                <a:solidFill>
                  <a:schemeClr val="tx1"/>
                </a:solidFill>
                <a:latin typeface="Arial" panose="020B0604020202020204" pitchFamily="34" charset="0"/>
              </a:defRPr>
            </a:lvl2pPr>
            <a:lvl3pPr marL="1371600" indent="-457200" algn="l">
              <a:defRPr>
                <a:solidFill>
                  <a:schemeClr val="tx1"/>
                </a:solidFill>
                <a:latin typeface="Arial" panose="020B0604020202020204" pitchFamily="34" charset="0"/>
              </a:defRPr>
            </a:lvl3pPr>
            <a:lvl4pPr marL="1828800" indent="-457200" algn="l">
              <a:defRPr>
                <a:solidFill>
                  <a:schemeClr val="tx1"/>
                </a:solidFill>
                <a:latin typeface="Arial" panose="020B0604020202020204" pitchFamily="34" charset="0"/>
              </a:defRPr>
            </a:lvl4pPr>
            <a:lvl5pPr marL="2286000" indent="-457200" algn="l">
              <a:defRPr>
                <a:solidFill>
                  <a:schemeClr val="tx1"/>
                </a:solidFill>
                <a:latin typeface="Arial" panose="020B0604020202020204" pitchFamily="34" charset="0"/>
              </a:defRPr>
            </a:lvl5pPr>
            <a:lvl6pPr marL="2743200" indent="-457200" fontAlgn="base">
              <a:spcBef>
                <a:spcPct val="0"/>
              </a:spcBef>
              <a:spcAft>
                <a:spcPct val="0"/>
              </a:spcAft>
              <a:defRPr>
                <a:solidFill>
                  <a:schemeClr val="tx1"/>
                </a:solidFill>
                <a:latin typeface="Arial" panose="020B0604020202020204" pitchFamily="34" charset="0"/>
              </a:defRPr>
            </a:lvl6pPr>
            <a:lvl7pPr marL="3200400" indent="-457200" fontAlgn="base">
              <a:spcBef>
                <a:spcPct val="0"/>
              </a:spcBef>
              <a:spcAft>
                <a:spcPct val="0"/>
              </a:spcAft>
              <a:defRPr>
                <a:solidFill>
                  <a:schemeClr val="tx1"/>
                </a:solidFill>
                <a:latin typeface="Arial" panose="020B0604020202020204" pitchFamily="34" charset="0"/>
              </a:defRPr>
            </a:lvl7pPr>
            <a:lvl8pPr marL="3657600" indent="-457200" fontAlgn="base">
              <a:spcBef>
                <a:spcPct val="0"/>
              </a:spcBef>
              <a:spcAft>
                <a:spcPct val="0"/>
              </a:spcAft>
              <a:defRPr>
                <a:solidFill>
                  <a:schemeClr val="tx1"/>
                </a:solidFill>
                <a:latin typeface="Arial" panose="020B0604020202020204" pitchFamily="34" charset="0"/>
              </a:defRPr>
            </a:lvl8pPr>
            <a:lvl9pPr marL="4114800" indent="-457200" fontAlgn="base">
              <a:spcBef>
                <a:spcPct val="0"/>
              </a:spcBef>
              <a:spcAft>
                <a:spcPct val="0"/>
              </a:spcAft>
              <a:defRPr>
                <a:solidFill>
                  <a:schemeClr val="tx1"/>
                </a:solidFill>
                <a:latin typeface="Arial" panose="020B0604020202020204" pitchFamily="34" charset="0"/>
              </a:defRPr>
            </a:lvl9pPr>
          </a:lstStyle>
          <a:p>
            <a:pPr fontAlgn="base">
              <a:spcBef>
                <a:spcPct val="50000"/>
              </a:spcBef>
              <a:spcAft>
                <a:spcPct val="0"/>
              </a:spcAft>
              <a:buClr>
                <a:srgbClr val="000000"/>
              </a:buClr>
            </a:pPr>
            <a:r>
              <a:rPr lang="en-US" altLang="zh-CN" sz="2400" b="1">
                <a:solidFill>
                  <a:srgbClr val="FFFFFF"/>
                </a:solidFill>
                <a:ea typeface="宋体" panose="02010600030101010101" pitchFamily="2" charset="-122"/>
                <a:cs typeface="Arial" panose="020B0604020202020204" pitchFamily="34" charset="0"/>
              </a:rPr>
              <a:t>    </a:t>
            </a:r>
            <a:r>
              <a:rPr lang="en-US" altLang="zh-CN" sz="2400" b="1">
                <a:solidFill>
                  <a:srgbClr val="FFFFFF"/>
                </a:solidFill>
                <a:latin typeface="楷体_GB2312" pitchFamily="49" charset="-122"/>
                <a:ea typeface="楷体_GB2312" pitchFamily="49" charset="-122"/>
                <a:cs typeface="Arial" panose="020B0604020202020204" pitchFamily="34" charset="0"/>
              </a:rPr>
              <a:t>6.1.5  pn</a:t>
            </a:r>
            <a:r>
              <a:rPr lang="zh-CN" altLang="en-US" sz="2400" b="1">
                <a:solidFill>
                  <a:srgbClr val="FFFFFF"/>
                </a:solidFill>
                <a:latin typeface="楷体_GB2312" pitchFamily="49" charset="-122"/>
                <a:ea typeface="楷体_GB2312" pitchFamily="49" charset="-122"/>
                <a:cs typeface="Arial" panose="020B0604020202020204" pitchFamily="34" charset="0"/>
              </a:rPr>
              <a:t>结的载流子分布</a:t>
            </a:r>
            <a:r>
              <a:rPr lang="zh-CN" altLang="en-US" sz="2400" b="1">
                <a:solidFill>
                  <a:srgbClr val="FFFFFF"/>
                </a:solidFill>
                <a:ea typeface="宋体" panose="02010600030101010101" pitchFamily="2" charset="-122"/>
                <a:cs typeface="Arial" panose="020B0604020202020204" pitchFamily="34" charset="0"/>
              </a:rPr>
              <a:t>     </a:t>
            </a:r>
            <a:endParaRPr lang="zh-CN" altLang="en-US" sz="2400" b="1">
              <a:solidFill>
                <a:srgbClr val="FFFFFF"/>
              </a:solidFill>
              <a:ea typeface="宋体" panose="02010600030101010101" pitchFamily="2" charset="-122"/>
              <a:cs typeface="Arial" panose="020B0604020202020204" pitchFamily="34" charset="0"/>
            </a:endParaRPr>
          </a:p>
        </p:txBody>
      </p:sp>
      <p:pic>
        <p:nvPicPr>
          <p:cNvPr id="287771" name="Picture 27" descr="1"/>
          <p:cNvPicPr>
            <a:picLocks noChangeAspect="1" noChangeArrowheads="1"/>
          </p:cNvPicPr>
          <p:nvPr/>
        </p:nvPicPr>
        <p:blipFill>
          <a:blip r:embed="rId1">
            <a:lum bright="-6000" contrast="24000"/>
            <a:extLst>
              <a:ext uri="{28A0092B-C50C-407E-A947-70E740481C1C}">
                <a14:useLocalDpi xmlns:a14="http://schemas.microsoft.com/office/drawing/2010/main" val="0"/>
              </a:ext>
            </a:extLst>
          </a:blip>
          <a:srcRect l="42606" t="64474" r="19473"/>
          <a:stretch>
            <a:fillRect/>
          </a:stretch>
        </p:blipFill>
        <p:spPr bwMode="auto">
          <a:xfrm>
            <a:off x="3251201" y="4994276"/>
            <a:ext cx="792163" cy="949325"/>
          </a:xfrm>
          <a:prstGeom prst="rect">
            <a:avLst/>
          </a:prstGeom>
          <a:noFill/>
          <a:extLst>
            <a:ext uri="{909E8E84-426E-40DD-AFC4-6F175D3DCCD1}">
              <a14:hiddenFill xmlns:a14="http://schemas.microsoft.com/office/drawing/2010/main">
                <a:solidFill>
                  <a:srgbClr val="FFFFFF"/>
                </a:solidFill>
              </a14:hiddenFill>
            </a:ext>
          </a:extLst>
        </p:spPr>
      </p:pic>
      <p:pic>
        <p:nvPicPr>
          <p:cNvPr id="287772" name="Picture 28" descr="1"/>
          <p:cNvPicPr>
            <a:picLocks noChangeAspect="1" noChangeArrowheads="1"/>
          </p:cNvPicPr>
          <p:nvPr/>
        </p:nvPicPr>
        <p:blipFill>
          <a:blip r:embed="rId1">
            <a:lum bright="-6000" contrast="24000"/>
            <a:extLst>
              <a:ext uri="{28A0092B-C50C-407E-A947-70E740481C1C}">
                <a14:useLocalDpi xmlns:a14="http://schemas.microsoft.com/office/drawing/2010/main" val="0"/>
              </a:ext>
            </a:extLst>
          </a:blip>
          <a:srcRect l="42606" t="64474" r="19473"/>
          <a:stretch>
            <a:fillRect/>
          </a:stretch>
        </p:blipFill>
        <p:spPr bwMode="auto">
          <a:xfrm>
            <a:off x="3267076" y="4148139"/>
            <a:ext cx="792163" cy="949325"/>
          </a:xfrm>
          <a:prstGeom prst="rect">
            <a:avLst/>
          </a:prstGeom>
          <a:noFill/>
          <a:extLst>
            <a:ext uri="{909E8E84-426E-40DD-AFC4-6F175D3DCCD1}">
              <a14:hiddenFill xmlns:a14="http://schemas.microsoft.com/office/drawing/2010/main">
                <a:solidFill>
                  <a:srgbClr val="FFFFFF"/>
                </a:solidFill>
              </a14:hiddenFill>
            </a:ext>
          </a:extLst>
        </p:spPr>
      </p:pic>
      <p:pic>
        <p:nvPicPr>
          <p:cNvPr id="287773" name="Picture 29" descr="1"/>
          <p:cNvPicPr>
            <a:picLocks noChangeAspect="1" noChangeArrowheads="1"/>
          </p:cNvPicPr>
          <p:nvPr/>
        </p:nvPicPr>
        <p:blipFill>
          <a:blip r:embed="rId1">
            <a:lum bright="-6000" contrast="24000"/>
            <a:extLst>
              <a:ext uri="{28A0092B-C50C-407E-A947-70E740481C1C}">
                <a14:useLocalDpi xmlns:a14="http://schemas.microsoft.com/office/drawing/2010/main" val="0"/>
              </a:ext>
            </a:extLst>
          </a:blip>
          <a:srcRect l="42606" t="64474" r="19473"/>
          <a:stretch>
            <a:fillRect/>
          </a:stretch>
        </p:blipFill>
        <p:spPr bwMode="auto">
          <a:xfrm>
            <a:off x="3267076" y="3297239"/>
            <a:ext cx="792163" cy="949325"/>
          </a:xfrm>
          <a:prstGeom prst="rect">
            <a:avLst/>
          </a:prstGeom>
          <a:noFill/>
          <a:extLst>
            <a:ext uri="{909E8E84-426E-40DD-AFC4-6F175D3DCCD1}">
              <a14:hiddenFill xmlns:a14="http://schemas.microsoft.com/office/drawing/2010/main">
                <a:solidFill>
                  <a:srgbClr val="FFFFFF"/>
                </a:solidFill>
              </a14:hiddenFill>
            </a:ext>
          </a:extLst>
        </p:spPr>
      </p:pic>
      <p:pic>
        <p:nvPicPr>
          <p:cNvPr id="287774" name="Picture 30" descr="1"/>
          <p:cNvPicPr>
            <a:picLocks noChangeAspect="1" noChangeArrowheads="1"/>
          </p:cNvPicPr>
          <p:nvPr/>
        </p:nvPicPr>
        <p:blipFill>
          <a:blip r:embed="rId1">
            <a:lum bright="-6000" contrast="24000"/>
            <a:extLst>
              <a:ext uri="{28A0092B-C50C-407E-A947-70E740481C1C}">
                <a14:useLocalDpi xmlns:a14="http://schemas.microsoft.com/office/drawing/2010/main" val="0"/>
              </a:ext>
            </a:extLst>
          </a:blip>
          <a:srcRect l="42606" t="64474" r="19473"/>
          <a:stretch>
            <a:fillRect/>
          </a:stretch>
        </p:blipFill>
        <p:spPr bwMode="auto">
          <a:xfrm>
            <a:off x="3255963" y="2439989"/>
            <a:ext cx="792162" cy="949325"/>
          </a:xfrm>
          <a:prstGeom prst="rect">
            <a:avLst/>
          </a:prstGeom>
          <a:noFill/>
          <a:extLst>
            <a:ext uri="{909E8E84-426E-40DD-AFC4-6F175D3DCCD1}">
              <a14:hiddenFill xmlns:a14="http://schemas.microsoft.com/office/drawing/2010/main">
                <a:solidFill>
                  <a:srgbClr val="FFFFFF"/>
                </a:solidFill>
              </a14:hiddenFill>
            </a:ext>
          </a:extLst>
        </p:spPr>
      </p:pic>
      <p:sp>
        <p:nvSpPr>
          <p:cNvPr id="287776" name="Text Box 32"/>
          <p:cNvSpPr txBox="1">
            <a:spLocks noChangeArrowheads="1"/>
          </p:cNvSpPr>
          <p:nvPr/>
        </p:nvSpPr>
        <p:spPr bwMode="white">
          <a:xfrm>
            <a:off x="3576638" y="2536825"/>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pPr>
            <a:r>
              <a:rPr lang="en-US" altLang="zh-CN" sz="2400" b="1">
                <a:solidFill>
                  <a:srgbClr val="FFFFFF"/>
                </a:solidFill>
                <a:latin typeface="Arial" panose="020B0604020202020204" pitchFamily="34" charset="0"/>
                <a:ea typeface="宋体" panose="02010600030101010101" pitchFamily="2" charset="-122"/>
                <a:cs typeface="Arial" panose="020B0604020202020204" pitchFamily="34" charset="0"/>
              </a:rPr>
              <a:t>2</a:t>
            </a:r>
            <a:endParaRPr lang="en-US" altLang="zh-CN" sz="2400" b="1">
              <a:solidFill>
                <a:srgbClr val="FFFFFF"/>
              </a:solidFill>
              <a:latin typeface="Arial" panose="020B0604020202020204" pitchFamily="34" charset="0"/>
              <a:ea typeface="宋体" panose="02010600030101010101" pitchFamily="2" charset="-122"/>
              <a:cs typeface="Arial" panose="020B0604020202020204" pitchFamily="34" charset="0"/>
            </a:endParaRPr>
          </a:p>
        </p:txBody>
      </p:sp>
      <p:sp>
        <p:nvSpPr>
          <p:cNvPr id="287777" name="Text Box 33"/>
          <p:cNvSpPr txBox="1">
            <a:spLocks noChangeArrowheads="1"/>
          </p:cNvSpPr>
          <p:nvPr/>
        </p:nvSpPr>
        <p:spPr bwMode="white">
          <a:xfrm>
            <a:off x="3589338" y="3395663"/>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pPr>
            <a:r>
              <a:rPr lang="en-US" altLang="zh-CN" sz="2400" b="1">
                <a:solidFill>
                  <a:srgbClr val="FFFFFF"/>
                </a:solidFill>
                <a:latin typeface="Arial" panose="020B0604020202020204" pitchFamily="34" charset="0"/>
                <a:ea typeface="宋体" panose="02010600030101010101" pitchFamily="2" charset="-122"/>
                <a:cs typeface="Arial" panose="020B0604020202020204" pitchFamily="34" charset="0"/>
              </a:rPr>
              <a:t>3</a:t>
            </a:r>
            <a:endParaRPr lang="en-US" altLang="zh-CN" sz="2400" b="1">
              <a:solidFill>
                <a:srgbClr val="FFFFFF"/>
              </a:solidFill>
              <a:latin typeface="Arial" panose="020B0604020202020204" pitchFamily="34" charset="0"/>
              <a:ea typeface="宋体" panose="02010600030101010101" pitchFamily="2" charset="-122"/>
              <a:cs typeface="Arial" panose="020B0604020202020204" pitchFamily="34" charset="0"/>
            </a:endParaRPr>
          </a:p>
        </p:txBody>
      </p:sp>
      <p:sp>
        <p:nvSpPr>
          <p:cNvPr id="287778" name="Text Box 34"/>
          <p:cNvSpPr txBox="1">
            <a:spLocks noChangeArrowheads="1"/>
          </p:cNvSpPr>
          <p:nvPr/>
        </p:nvSpPr>
        <p:spPr bwMode="white">
          <a:xfrm>
            <a:off x="3589338" y="4283075"/>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pPr>
            <a:r>
              <a:rPr lang="en-US" altLang="zh-CN" sz="2400" b="1">
                <a:solidFill>
                  <a:srgbClr val="FFFFFF"/>
                </a:solidFill>
                <a:latin typeface="Arial" panose="020B0604020202020204" pitchFamily="34" charset="0"/>
                <a:ea typeface="宋体" panose="02010600030101010101" pitchFamily="2" charset="-122"/>
                <a:cs typeface="Arial" panose="020B0604020202020204" pitchFamily="34" charset="0"/>
              </a:rPr>
              <a:t>4</a:t>
            </a:r>
            <a:endParaRPr lang="en-US" altLang="zh-CN" sz="2400" b="1">
              <a:solidFill>
                <a:srgbClr val="FFFFFF"/>
              </a:solidFill>
              <a:latin typeface="Arial" panose="020B0604020202020204" pitchFamily="34" charset="0"/>
              <a:ea typeface="宋体" panose="02010600030101010101" pitchFamily="2" charset="-122"/>
              <a:cs typeface="Arial" panose="020B0604020202020204" pitchFamily="34" charset="0"/>
            </a:endParaRPr>
          </a:p>
        </p:txBody>
      </p:sp>
      <p:sp>
        <p:nvSpPr>
          <p:cNvPr id="287779" name="AutoShape 35"/>
          <p:cNvSpPr>
            <a:spLocks noChangeArrowheads="1"/>
          </p:cNvSpPr>
          <p:nvPr/>
        </p:nvSpPr>
        <p:spPr bwMode="auto">
          <a:xfrm>
            <a:off x="2743200" y="1524001"/>
            <a:ext cx="6553200" cy="720725"/>
          </a:xfrm>
          <a:prstGeom prst="roundRect">
            <a:avLst>
              <a:gd name="adj" fmla="val 42181"/>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C0C0C0"/>
                </a:solidFill>
                <a:prstDash val="sysDot"/>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lang="en-US" altLang="zh-CN" b="1">
              <a:solidFill>
                <a:srgbClr val="000000"/>
              </a:solidFill>
              <a:latin typeface="Arial" panose="020B0604020202020204" pitchFamily="34" charset="0"/>
              <a:ea typeface="宋体" panose="02010600030101010101" pitchFamily="2" charset="-122"/>
              <a:cs typeface="Arial" panose="020B0604020202020204" pitchFamily="34" charset="0"/>
            </a:endParaRPr>
          </a:p>
        </p:txBody>
      </p:sp>
      <p:grpSp>
        <p:nvGrpSpPr>
          <p:cNvPr id="287781" name="Group 37"/>
          <p:cNvGrpSpPr/>
          <p:nvPr/>
        </p:nvGrpSpPr>
        <p:grpSpPr bwMode="auto">
          <a:xfrm>
            <a:off x="3429001" y="1600201"/>
            <a:ext cx="5311775" cy="688975"/>
            <a:chOff x="720" y="1392"/>
            <a:chExt cx="4058" cy="480"/>
          </a:xfrm>
        </p:grpSpPr>
        <p:sp>
          <p:nvSpPr>
            <p:cNvPr id="287782" name="AutoShape 38"/>
            <p:cNvSpPr>
              <a:spLocks noChangeArrowheads="1"/>
            </p:cNvSpPr>
            <p:nvPr/>
          </p:nvSpPr>
          <p:spPr bwMode="gray">
            <a:xfrm>
              <a:off x="720" y="1392"/>
              <a:ext cx="4058" cy="480"/>
            </a:xfrm>
            <a:prstGeom prst="roundRect">
              <a:avLst>
                <a:gd name="adj" fmla="val 17509"/>
              </a:avLst>
            </a:prstGeom>
            <a:gradFill rotWithShape="1">
              <a:gsLst>
                <a:gs pos="0">
                  <a:schemeClr val="folHlink"/>
                </a:gs>
                <a:gs pos="50000">
                  <a:schemeClr val="folHlink">
                    <a:gamma/>
                    <a:shade val="92157"/>
                    <a:invGamma/>
                  </a:schemeClr>
                </a:gs>
                <a:gs pos="100000">
                  <a:schemeClr val="folHlink"/>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fontAlgn="base">
                <a:spcBef>
                  <a:spcPct val="0"/>
                </a:spcBef>
                <a:spcAft>
                  <a:spcPct val="0"/>
                </a:spcAft>
              </a:pPr>
              <a:endParaRPr lang="zh-CN" altLang="en-US">
                <a:solidFill>
                  <a:srgbClr val="000000"/>
                </a:solidFill>
                <a:latin typeface="Arial" panose="020B0604020202020204" pitchFamily="34" charset="0"/>
              </a:endParaRPr>
            </a:p>
          </p:txBody>
        </p:sp>
        <p:grpSp>
          <p:nvGrpSpPr>
            <p:cNvPr id="287783" name="Group 39"/>
            <p:cNvGrpSpPr/>
            <p:nvPr/>
          </p:nvGrpSpPr>
          <p:grpSpPr bwMode="auto">
            <a:xfrm>
              <a:off x="730" y="1407"/>
              <a:ext cx="4043" cy="444"/>
              <a:chOff x="744" y="1407"/>
              <a:chExt cx="3988" cy="444"/>
            </a:xfrm>
          </p:grpSpPr>
          <p:sp>
            <p:nvSpPr>
              <p:cNvPr id="287784" name="AutoShape 40"/>
              <p:cNvSpPr>
                <a:spLocks noChangeArrowheads="1"/>
              </p:cNvSpPr>
              <p:nvPr/>
            </p:nvSpPr>
            <p:spPr bwMode="gray">
              <a:xfrm>
                <a:off x="744" y="1736"/>
                <a:ext cx="3988" cy="115"/>
              </a:xfrm>
              <a:prstGeom prst="roundRect">
                <a:avLst>
                  <a:gd name="adj" fmla="val 50000"/>
                </a:avLst>
              </a:prstGeom>
              <a:gradFill rotWithShape="1">
                <a:gsLst>
                  <a:gs pos="0">
                    <a:schemeClr val="folHlink">
                      <a:alpha val="0"/>
                    </a:schemeClr>
                  </a:gs>
                  <a:gs pos="100000">
                    <a:schemeClr val="folHlink">
                      <a:gamma/>
                      <a:tint val="0"/>
                      <a:invGamma/>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287785" name="AutoShape 41"/>
              <p:cNvSpPr>
                <a:spLocks noChangeArrowheads="1"/>
              </p:cNvSpPr>
              <p:nvPr/>
            </p:nvSpPr>
            <p:spPr bwMode="gray">
              <a:xfrm>
                <a:off x="744" y="1407"/>
                <a:ext cx="3988" cy="115"/>
              </a:xfrm>
              <a:prstGeom prst="roundRect">
                <a:avLst>
                  <a:gd name="adj" fmla="val 50000"/>
                </a:avLst>
              </a:prstGeom>
              <a:gradFill rotWithShape="1">
                <a:gsLst>
                  <a:gs pos="0">
                    <a:schemeClr val="folHlink">
                      <a:gamma/>
                      <a:tint val="0"/>
                      <a:invGamma/>
                    </a:schemeClr>
                  </a:gs>
                  <a:gs pos="100000">
                    <a:schemeClr val="folHlink">
                      <a:alpha val="0"/>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fontAlgn="base">
                  <a:spcBef>
                    <a:spcPct val="0"/>
                  </a:spcBef>
                  <a:spcAft>
                    <a:spcPct val="0"/>
                  </a:spcAft>
                </a:pPr>
                <a:endParaRPr lang="zh-CN" altLang="en-US">
                  <a:solidFill>
                    <a:srgbClr val="000000"/>
                  </a:solidFill>
                  <a:latin typeface="Arial" panose="020B0604020202020204" pitchFamily="34" charset="0"/>
                </a:endParaRPr>
              </a:p>
            </p:txBody>
          </p:sp>
        </p:grpSp>
      </p:grpSp>
      <p:pic>
        <p:nvPicPr>
          <p:cNvPr id="287789" name="Picture 45" descr="1"/>
          <p:cNvPicPr>
            <a:picLocks noChangeAspect="1" noChangeArrowheads="1"/>
          </p:cNvPicPr>
          <p:nvPr/>
        </p:nvPicPr>
        <p:blipFill>
          <a:blip r:embed="rId1">
            <a:lum bright="-6000" contrast="24000"/>
            <a:extLst>
              <a:ext uri="{28A0092B-C50C-407E-A947-70E740481C1C}">
                <a14:useLocalDpi xmlns:a14="http://schemas.microsoft.com/office/drawing/2010/main" val="0"/>
              </a:ext>
            </a:extLst>
          </a:blip>
          <a:srcRect l="42606" t="64474" r="19473"/>
          <a:stretch>
            <a:fillRect/>
          </a:stretch>
        </p:blipFill>
        <p:spPr bwMode="auto">
          <a:xfrm>
            <a:off x="3276601" y="1600201"/>
            <a:ext cx="792163" cy="949325"/>
          </a:xfrm>
          <a:prstGeom prst="rect">
            <a:avLst/>
          </a:prstGeom>
          <a:noFill/>
          <a:extLst>
            <a:ext uri="{909E8E84-426E-40DD-AFC4-6F175D3DCCD1}">
              <a14:hiddenFill xmlns:a14="http://schemas.microsoft.com/office/drawing/2010/main">
                <a:solidFill>
                  <a:srgbClr val="FFFFFF"/>
                </a:solidFill>
              </a14:hiddenFill>
            </a:ext>
          </a:extLst>
        </p:spPr>
      </p:pic>
      <p:sp>
        <p:nvSpPr>
          <p:cNvPr id="287790" name="Text Box 46"/>
          <p:cNvSpPr txBox="1">
            <a:spLocks noChangeArrowheads="1"/>
          </p:cNvSpPr>
          <p:nvPr/>
        </p:nvSpPr>
        <p:spPr bwMode="white">
          <a:xfrm>
            <a:off x="3581401" y="5105400"/>
            <a:ext cx="3730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pPr>
            <a:r>
              <a:rPr lang="en-US" altLang="zh-CN" sz="2400" b="1">
                <a:solidFill>
                  <a:srgbClr val="FFFFFF"/>
                </a:solidFill>
                <a:latin typeface="Arial" panose="020B0604020202020204" pitchFamily="34" charset="0"/>
                <a:ea typeface="宋体" panose="02010600030101010101" pitchFamily="2" charset="-122"/>
                <a:cs typeface="Arial" panose="020B0604020202020204" pitchFamily="34" charset="0"/>
              </a:rPr>
              <a:t>5</a:t>
            </a:r>
            <a:endParaRPr lang="en-US" altLang="zh-CN" sz="2400" b="1">
              <a:solidFill>
                <a:srgbClr val="FFFFFF"/>
              </a:solidFill>
              <a:latin typeface="Arial" panose="020B0604020202020204" pitchFamily="34" charset="0"/>
              <a:ea typeface="宋体" panose="02010600030101010101" pitchFamily="2" charset="-122"/>
              <a:cs typeface="Arial" panose="020B0604020202020204" pitchFamily="34" charset="0"/>
            </a:endParaRPr>
          </a:p>
        </p:txBody>
      </p:sp>
      <p:sp>
        <p:nvSpPr>
          <p:cNvPr id="287791" name="Text Box 47"/>
          <p:cNvSpPr txBox="1">
            <a:spLocks noChangeArrowheads="1"/>
          </p:cNvSpPr>
          <p:nvPr/>
        </p:nvSpPr>
        <p:spPr bwMode="white">
          <a:xfrm>
            <a:off x="3581400" y="16764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pPr>
            <a:r>
              <a:rPr lang="en-US" altLang="zh-CN" sz="2400" b="1">
                <a:solidFill>
                  <a:srgbClr val="FFFFFF"/>
                </a:solidFill>
                <a:latin typeface="Arial" panose="020B0604020202020204" pitchFamily="34" charset="0"/>
                <a:ea typeface="宋体" panose="02010600030101010101" pitchFamily="2" charset="-122"/>
                <a:cs typeface="Arial" panose="020B0604020202020204" pitchFamily="34" charset="0"/>
              </a:rPr>
              <a:t>1</a:t>
            </a:r>
            <a:endParaRPr lang="en-US" altLang="zh-CN" sz="2400" b="1">
              <a:solidFill>
                <a:srgbClr val="FFFFFF"/>
              </a:solidFill>
              <a:latin typeface="Arial" panose="020B0604020202020204" pitchFamily="34" charset="0"/>
              <a:ea typeface="宋体" panose="02010600030101010101" pitchFamily="2" charset="-122"/>
              <a:cs typeface="Arial" panose="020B0604020202020204" pitchFamily="34" charset="0"/>
            </a:endParaRPr>
          </a:p>
        </p:txBody>
      </p:sp>
      <p:sp>
        <p:nvSpPr>
          <p:cNvPr id="287792" name="Text Box 48"/>
          <p:cNvSpPr txBox="1">
            <a:spLocks noChangeArrowheads="1"/>
          </p:cNvSpPr>
          <p:nvPr/>
        </p:nvSpPr>
        <p:spPr bwMode="white">
          <a:xfrm>
            <a:off x="4114800" y="1676400"/>
            <a:ext cx="449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292929">
                      <a:alpha val="50000"/>
                    </a:srgbClr>
                  </a:outerShdw>
                </a:effectLst>
              </a14:hiddenEffects>
            </a:ext>
          </a:extLst>
        </p:spPr>
        <p:txBody>
          <a:bodyPr>
            <a:spAutoFit/>
          </a:bodyPr>
          <a:lstStyle>
            <a:lvl1pPr marL="457200" indent="-457200" algn="l">
              <a:defRPr>
                <a:solidFill>
                  <a:schemeClr val="tx1"/>
                </a:solidFill>
                <a:latin typeface="Arial" panose="020B0604020202020204" pitchFamily="34" charset="0"/>
              </a:defRPr>
            </a:lvl1pPr>
            <a:lvl2pPr marL="914400" indent="-457200" algn="l">
              <a:defRPr>
                <a:solidFill>
                  <a:schemeClr val="tx1"/>
                </a:solidFill>
                <a:latin typeface="Arial" panose="020B0604020202020204" pitchFamily="34" charset="0"/>
              </a:defRPr>
            </a:lvl2pPr>
            <a:lvl3pPr marL="1371600" indent="-457200" algn="l">
              <a:defRPr>
                <a:solidFill>
                  <a:schemeClr val="tx1"/>
                </a:solidFill>
                <a:latin typeface="Arial" panose="020B0604020202020204" pitchFamily="34" charset="0"/>
              </a:defRPr>
            </a:lvl3pPr>
            <a:lvl4pPr marL="1828800" indent="-457200" algn="l">
              <a:defRPr>
                <a:solidFill>
                  <a:schemeClr val="tx1"/>
                </a:solidFill>
                <a:latin typeface="Arial" panose="020B0604020202020204" pitchFamily="34" charset="0"/>
              </a:defRPr>
            </a:lvl4pPr>
            <a:lvl5pPr marL="2286000" indent="-457200" algn="l">
              <a:defRPr>
                <a:solidFill>
                  <a:schemeClr val="tx1"/>
                </a:solidFill>
                <a:latin typeface="Arial" panose="020B0604020202020204" pitchFamily="34" charset="0"/>
              </a:defRPr>
            </a:lvl5pPr>
            <a:lvl6pPr marL="2743200" indent="-457200" fontAlgn="base">
              <a:spcBef>
                <a:spcPct val="0"/>
              </a:spcBef>
              <a:spcAft>
                <a:spcPct val="0"/>
              </a:spcAft>
              <a:defRPr>
                <a:solidFill>
                  <a:schemeClr val="tx1"/>
                </a:solidFill>
                <a:latin typeface="Arial" panose="020B0604020202020204" pitchFamily="34" charset="0"/>
              </a:defRPr>
            </a:lvl6pPr>
            <a:lvl7pPr marL="3200400" indent="-457200" fontAlgn="base">
              <a:spcBef>
                <a:spcPct val="0"/>
              </a:spcBef>
              <a:spcAft>
                <a:spcPct val="0"/>
              </a:spcAft>
              <a:defRPr>
                <a:solidFill>
                  <a:schemeClr val="tx1"/>
                </a:solidFill>
                <a:latin typeface="Arial" panose="020B0604020202020204" pitchFamily="34" charset="0"/>
              </a:defRPr>
            </a:lvl7pPr>
            <a:lvl8pPr marL="3657600" indent="-457200" fontAlgn="base">
              <a:spcBef>
                <a:spcPct val="0"/>
              </a:spcBef>
              <a:spcAft>
                <a:spcPct val="0"/>
              </a:spcAft>
              <a:defRPr>
                <a:solidFill>
                  <a:schemeClr val="tx1"/>
                </a:solidFill>
                <a:latin typeface="Arial" panose="020B0604020202020204" pitchFamily="34" charset="0"/>
              </a:defRPr>
            </a:lvl8pPr>
            <a:lvl9pPr marL="4114800" indent="-457200" fontAlgn="base">
              <a:spcBef>
                <a:spcPct val="0"/>
              </a:spcBef>
              <a:spcAft>
                <a:spcPct val="0"/>
              </a:spcAft>
              <a:defRPr>
                <a:solidFill>
                  <a:schemeClr val="tx1"/>
                </a:solidFill>
                <a:latin typeface="Arial" panose="020B0604020202020204" pitchFamily="34" charset="0"/>
              </a:defRPr>
            </a:lvl9pPr>
          </a:lstStyle>
          <a:p>
            <a:pPr algn="ctr" fontAlgn="base">
              <a:spcBef>
                <a:spcPct val="50000"/>
              </a:spcBef>
              <a:spcAft>
                <a:spcPct val="0"/>
              </a:spcAft>
              <a:buClr>
                <a:srgbClr val="000000"/>
              </a:buClr>
            </a:pPr>
            <a:r>
              <a:rPr lang="en-US" altLang="zh-CN" sz="2400" b="1">
                <a:solidFill>
                  <a:srgbClr val="FFFFFF"/>
                </a:solidFill>
                <a:latin typeface="楷体_GB2312" pitchFamily="49" charset="-122"/>
                <a:ea typeface="楷体_GB2312" pitchFamily="49" charset="-122"/>
                <a:cs typeface="Arial" panose="020B0604020202020204" pitchFamily="34" charset="0"/>
              </a:rPr>
              <a:t> 6.1.1  pn</a:t>
            </a:r>
            <a:r>
              <a:rPr lang="zh-CN" altLang="en-US" sz="2400" b="1">
                <a:solidFill>
                  <a:srgbClr val="FFFFFF"/>
                </a:solidFill>
                <a:latin typeface="楷体_GB2312" pitchFamily="49" charset="-122"/>
                <a:ea typeface="楷体_GB2312" pitchFamily="49" charset="-122"/>
                <a:cs typeface="Arial" panose="020B0604020202020204" pitchFamily="34" charset="0"/>
              </a:rPr>
              <a:t>结的形成和杂质分布</a:t>
            </a:r>
            <a:r>
              <a:rPr lang="zh-CN" altLang="en-US" sz="2400" b="1">
                <a:solidFill>
                  <a:srgbClr val="FFFFFF"/>
                </a:solidFill>
                <a:ea typeface="宋体" panose="02010600030101010101" pitchFamily="2" charset="-122"/>
                <a:cs typeface="Arial" panose="020B0604020202020204" pitchFamily="34" charset="0"/>
              </a:rPr>
              <a:t>    </a:t>
            </a:r>
            <a:endParaRPr lang="zh-CN" altLang="en-US" sz="2400" b="1">
              <a:solidFill>
                <a:srgbClr val="FFFFFF"/>
              </a:solidFill>
              <a:ea typeface="宋体" panose="02010600030101010101" pitchFamily="2" charset="-122"/>
              <a:cs typeface="Arial" panose="020B0604020202020204" pitchFamily="34" charset="0"/>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8114" name="标题 218113"/>
          <p:cNvSpPr>
            <a:spLocks noGrp="1" noRot="1"/>
          </p:cNvSpPr>
          <p:nvPr>
            <p:ph type="title"/>
          </p:nvPr>
        </p:nvSpPr>
        <p:spPr/>
        <p:txBody>
          <a:bodyPr anchor="ctr" anchorCtr="0"/>
          <a:p>
            <a:r>
              <a:rPr lang="en-US" altLang="zh-CN"/>
              <a:t>6.1 </a:t>
            </a:r>
            <a:r>
              <a:rPr lang="en-US" altLang="zh-CN" err="1"/>
              <a:t>pn</a:t>
            </a:r>
            <a:r>
              <a:rPr lang="zh-CN" altLang="en-US" dirty="0"/>
              <a:t>结及其能带图</a:t>
            </a:r>
            <a:endParaRPr lang="zh-CN" altLang="en-US" dirty="0"/>
          </a:p>
        </p:txBody>
      </p:sp>
      <p:sp>
        <p:nvSpPr>
          <p:cNvPr id="218115" name="文本占位符 218114"/>
          <p:cNvSpPr>
            <a:spLocks noGrp="1" noRot="1"/>
          </p:cNvSpPr>
          <p:nvPr>
            <p:ph type="body" idx="1"/>
          </p:nvPr>
        </p:nvSpPr>
        <p:spPr>
          <a:xfrm>
            <a:off x="1828483" y="1219518"/>
            <a:ext cx="8229600" cy="4114800"/>
          </a:xfrm>
        </p:spPr>
        <p:txBody>
          <a:bodyPr/>
          <a:p>
            <a:r>
              <a:rPr lang="en-US" altLang="zh-CN" sz="1800"/>
              <a:t>6.1.1 </a:t>
            </a:r>
            <a:r>
              <a:rPr lang="en-US" altLang="zh-CN" sz="1800" err="1"/>
              <a:t>pn</a:t>
            </a:r>
            <a:r>
              <a:rPr lang="zh-CN" altLang="en-US" sz="1800" dirty="0"/>
              <a:t>结的形成和杂质分析</a:t>
            </a:r>
            <a:endParaRPr lang="zh-CN" altLang="en-US" sz="1800" dirty="0"/>
          </a:p>
          <a:p>
            <a:pPr>
              <a:buNone/>
            </a:pPr>
            <a:endParaRPr lang="zh-CN" altLang="en-US" dirty="0"/>
          </a:p>
        </p:txBody>
      </p:sp>
      <p:sp>
        <p:nvSpPr>
          <p:cNvPr id="218116" name="文本框 218115"/>
          <p:cNvSpPr txBox="1"/>
          <p:nvPr/>
        </p:nvSpPr>
        <p:spPr>
          <a:xfrm>
            <a:off x="2102168" y="1769269"/>
            <a:ext cx="7767637" cy="1642745"/>
          </a:xfrm>
          <a:prstGeom prst="rect">
            <a:avLst/>
          </a:prstGeom>
          <a:noFill/>
          <a:ln w="38100">
            <a:noFill/>
          </a:ln>
        </p:spPr>
        <p:txBody>
          <a:bodyPr lIns="90000" tIns="46800" rIns="90000" bIns="46800" anchor="ctr" anchorCtr="0">
            <a:spAutoFit/>
          </a:bodyPr>
          <a:p>
            <a:pPr indent="669925">
              <a:lnSpc>
                <a:spcPct val="120000"/>
              </a:lnSpc>
              <a:spcBef>
                <a:spcPct val="50000"/>
              </a:spcBef>
            </a:pPr>
            <a:r>
              <a:rPr lang="zh-CN" altLang="en-US" sz="2800" b="1" dirty="0">
                <a:latin typeface="宋体" panose="02010600030101010101" pitchFamily="2" charset="-122"/>
                <a:ea typeface="宋体" panose="02010600030101010101" pitchFamily="2" charset="-122"/>
              </a:rPr>
              <a:t>在同一片半导体基片上，分别制造</a:t>
            </a:r>
            <a:r>
              <a:rPr lang="en-US" altLang="zh-CN" sz="2800" b="1" i="1">
                <a:latin typeface="Times New Roman" panose="02020603050405020304" pitchFamily="18" charset="0"/>
                <a:ea typeface="宋体" panose="02010600030101010101" pitchFamily="2" charset="-122"/>
              </a:rPr>
              <a:t>P </a:t>
            </a:r>
            <a:r>
              <a:rPr lang="zh-CN" altLang="en-US" sz="2800" b="1" dirty="0">
                <a:latin typeface="宋体" panose="02010600030101010101" pitchFamily="2" charset="-122"/>
                <a:ea typeface="宋体" panose="02010600030101010101" pitchFamily="2" charset="-122"/>
              </a:rPr>
              <a:t>型半导体和</a:t>
            </a:r>
            <a:r>
              <a:rPr lang="en-US" altLang="zh-CN" sz="2800" b="1" i="1">
                <a:latin typeface="Times New Roman" panose="02020603050405020304" pitchFamily="18" charset="0"/>
                <a:ea typeface="宋体" panose="02010600030101010101" pitchFamily="2" charset="-122"/>
              </a:rPr>
              <a:t>N </a:t>
            </a:r>
            <a:r>
              <a:rPr lang="zh-CN" altLang="en-US" sz="2800" b="1" dirty="0">
                <a:latin typeface="宋体" panose="02010600030101010101" pitchFamily="2" charset="-122"/>
                <a:ea typeface="宋体" panose="02010600030101010101" pitchFamily="2" charset="-122"/>
              </a:rPr>
              <a:t>型半导体，经过载流子的扩散，在它们的交界面处就形成了</a:t>
            </a:r>
            <a:r>
              <a:rPr lang="en-US" altLang="zh-CN" sz="2800" b="1" i="1">
                <a:latin typeface="Times New Roman" panose="02020603050405020304" pitchFamily="18" charset="0"/>
                <a:ea typeface="宋体" panose="02010600030101010101" pitchFamily="2" charset="-122"/>
              </a:rPr>
              <a:t>PN </a:t>
            </a:r>
            <a:r>
              <a:rPr lang="zh-CN" altLang="en-US" sz="2800" b="1" dirty="0">
                <a:latin typeface="宋体" panose="02010600030101010101" pitchFamily="2" charset="-122"/>
                <a:ea typeface="宋体" panose="02010600030101010101" pitchFamily="2" charset="-122"/>
              </a:rPr>
              <a:t>结。</a:t>
            </a:r>
            <a:endParaRPr lang="zh-CN" altLang="en-US" sz="2800" b="1">
              <a:latin typeface="宋体" panose="02010600030101010101" pitchFamily="2" charset="-122"/>
              <a:ea typeface="宋体" panose="02010600030101010101" pitchFamily="2" charset="-122"/>
            </a:endParaRPr>
          </a:p>
        </p:txBody>
      </p:sp>
      <p:sp>
        <p:nvSpPr>
          <p:cNvPr id="218117" name="矩形 218116"/>
          <p:cNvSpPr/>
          <p:nvPr/>
        </p:nvSpPr>
        <p:spPr>
          <a:xfrm>
            <a:off x="1992313" y="3528378"/>
            <a:ext cx="7772400" cy="1512887"/>
          </a:xfrm>
          <a:prstGeom prst="rect">
            <a:avLst/>
          </a:prstGeom>
          <a:noFill/>
          <a:ln w="9525">
            <a:noFill/>
          </a:ln>
        </p:spPr>
        <p: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sz="32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2" panose="05020102010507070707" pitchFamily="18" charset="2"/>
              <a:buChar char=""/>
              <a:defRPr sz="28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Tx/>
              <a:buFont typeface="Wingdings 2" panose="05020102010507070707" pitchFamily="18" charset="2"/>
              <a:buChar char="¡"/>
              <a:defRPr sz="24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2" panose="05020102010507070707" pitchFamily="18" charset="2"/>
              <a:buChar char=""/>
              <a:defRPr sz="20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Tx/>
              <a:buFont typeface="Wingdings 2" panose="05020102010507070707" pitchFamily="18" charset="2"/>
              <a:buChar char="¡"/>
              <a:defRPr sz="2000" b="0" i="0" u="none" kern="1200" baseline="0">
                <a:solidFill>
                  <a:schemeClr val="tx1"/>
                </a:solidFill>
                <a:latin typeface="Arial" panose="020B0604020202020204" pitchFamily="34" charset="0"/>
                <a:ea typeface="宋体" panose="02010600030101010101" pitchFamily="2" charset="-122"/>
              </a:defRPr>
            </a:lvl5pPr>
          </a:lstStyle>
          <a:p>
            <a:pPr lvl="0" algn="just"/>
            <a:r>
              <a:rPr lang="en-US" altLang="zh-CN" b="1">
                <a:solidFill>
                  <a:schemeClr val="accent2"/>
                </a:solidFill>
              </a:rPr>
              <a:t>PN</a:t>
            </a:r>
            <a:r>
              <a:rPr lang="zh-CN" altLang="en-US" b="1" dirty="0">
                <a:solidFill>
                  <a:schemeClr val="accent2"/>
                </a:solidFill>
              </a:rPr>
              <a:t>结是构造半导体器件的基本单元。其中，最简单的晶体二极管就是由</a:t>
            </a:r>
            <a:r>
              <a:rPr lang="en-US" altLang="zh-CN" b="1">
                <a:solidFill>
                  <a:schemeClr val="accent2"/>
                </a:solidFill>
              </a:rPr>
              <a:t>PN</a:t>
            </a:r>
            <a:r>
              <a:rPr lang="zh-CN" altLang="en-US" b="1" dirty="0">
                <a:solidFill>
                  <a:schemeClr val="accent2"/>
                </a:solidFill>
              </a:rPr>
              <a:t>结构成的。</a:t>
            </a:r>
            <a:endParaRPr lang="zh-CN" altLang="en-US" b="1">
              <a:solidFill>
                <a:schemeClr val="accent2"/>
              </a:solidFill>
            </a:endParaRPr>
          </a:p>
        </p:txBody>
      </p:sp>
      <p:grpSp>
        <p:nvGrpSpPr>
          <p:cNvPr id="218118" name="组合 218117"/>
          <p:cNvGrpSpPr/>
          <p:nvPr/>
        </p:nvGrpSpPr>
        <p:grpSpPr>
          <a:xfrm>
            <a:off x="4463733" y="4970780"/>
            <a:ext cx="3352800" cy="762000"/>
            <a:chOff x="1824" y="2832"/>
            <a:chExt cx="2112" cy="480"/>
          </a:xfrm>
        </p:grpSpPr>
        <p:sp>
          <p:nvSpPr>
            <p:cNvPr id="218119" name="矩形 218118"/>
            <p:cNvSpPr/>
            <p:nvPr/>
          </p:nvSpPr>
          <p:spPr>
            <a:xfrm>
              <a:off x="2304" y="2832"/>
              <a:ext cx="576" cy="480"/>
            </a:xfrm>
            <a:prstGeom prst="rect">
              <a:avLst/>
            </a:prstGeom>
            <a:solidFill>
              <a:srgbClr val="FFFF99">
                <a:alpha val="39999"/>
              </a:srgbClr>
            </a:solidFill>
            <a:ln w="19050" cap="flat" cmpd="sng">
              <a:solidFill>
                <a:schemeClr val="tx1"/>
              </a:solidFill>
              <a:prstDash val="solid"/>
              <a:miter/>
              <a:headEnd type="none" w="med" len="med"/>
              <a:tailEnd type="none" w="med" len="med"/>
            </a:ln>
          </p:spPr>
          <p:txBody>
            <a:bodyPr wrap="none" anchor="ctr" anchorCtr="0"/>
            <a:p>
              <a:pPr algn="ctr"/>
              <a:r>
                <a:rPr lang="en-US" altLang="zh-CN" sz="2800" b="1">
                  <a:latin typeface="Arial" panose="020B0604020202020204" pitchFamily="34" charset="0"/>
                  <a:ea typeface="宋体" panose="02010600030101010101" pitchFamily="2" charset="-122"/>
                </a:rPr>
                <a:t>P</a:t>
              </a:r>
              <a:endParaRPr lang="en-US" altLang="zh-CN" sz="2800" b="1">
                <a:latin typeface="Arial" panose="020B0604020202020204" pitchFamily="34" charset="0"/>
                <a:ea typeface="宋体" panose="02010600030101010101" pitchFamily="2" charset="-122"/>
              </a:endParaRPr>
            </a:p>
          </p:txBody>
        </p:sp>
        <p:sp>
          <p:nvSpPr>
            <p:cNvPr id="218120" name="矩形 218119"/>
            <p:cNvSpPr/>
            <p:nvPr/>
          </p:nvSpPr>
          <p:spPr>
            <a:xfrm>
              <a:off x="2880" y="2832"/>
              <a:ext cx="576" cy="480"/>
            </a:xfrm>
            <a:prstGeom prst="rect">
              <a:avLst/>
            </a:prstGeom>
            <a:solidFill>
              <a:srgbClr val="CCFFCC">
                <a:alpha val="39999"/>
              </a:srgbClr>
            </a:solidFill>
            <a:ln w="19050" cap="flat" cmpd="sng">
              <a:solidFill>
                <a:schemeClr val="tx1"/>
              </a:solidFill>
              <a:prstDash val="solid"/>
              <a:miter/>
              <a:headEnd type="none" w="med" len="med"/>
              <a:tailEnd type="none" w="med" len="med"/>
            </a:ln>
          </p:spPr>
          <p:txBody>
            <a:bodyPr wrap="none" anchor="ctr" anchorCtr="0"/>
            <a:p>
              <a:pPr algn="ctr"/>
              <a:r>
                <a:rPr lang="en-US" altLang="zh-CN" sz="2800" b="1">
                  <a:latin typeface="Arial" panose="020B0604020202020204" pitchFamily="34" charset="0"/>
                  <a:ea typeface="宋体" panose="02010600030101010101" pitchFamily="2" charset="-122"/>
                </a:rPr>
                <a:t>N</a:t>
              </a:r>
              <a:endParaRPr lang="en-US" altLang="zh-CN" sz="2800" b="1">
                <a:latin typeface="Arial" panose="020B0604020202020204" pitchFamily="34" charset="0"/>
                <a:ea typeface="宋体" panose="02010600030101010101" pitchFamily="2" charset="-122"/>
              </a:endParaRPr>
            </a:p>
          </p:txBody>
        </p:sp>
        <p:sp>
          <p:nvSpPr>
            <p:cNvPr id="218121" name="直接连接符 218120"/>
            <p:cNvSpPr/>
            <p:nvPr/>
          </p:nvSpPr>
          <p:spPr>
            <a:xfrm>
              <a:off x="3456" y="3072"/>
              <a:ext cx="384" cy="0"/>
            </a:xfrm>
            <a:prstGeom prst="line">
              <a:avLst/>
            </a:prstGeom>
            <a:ln w="19050" cap="flat" cmpd="sng">
              <a:solidFill>
                <a:schemeClr val="tx1"/>
              </a:solidFill>
              <a:prstDash val="solid"/>
              <a:headEnd type="none" w="med" len="med"/>
              <a:tailEnd type="none" w="med" len="med"/>
            </a:ln>
          </p:spPr>
        </p:sp>
        <p:sp>
          <p:nvSpPr>
            <p:cNvPr id="218122" name="直接连接符 218121"/>
            <p:cNvSpPr/>
            <p:nvPr/>
          </p:nvSpPr>
          <p:spPr>
            <a:xfrm>
              <a:off x="1920" y="3072"/>
              <a:ext cx="384" cy="0"/>
            </a:xfrm>
            <a:prstGeom prst="line">
              <a:avLst/>
            </a:prstGeom>
            <a:ln w="19050" cap="flat" cmpd="sng">
              <a:solidFill>
                <a:schemeClr val="tx1"/>
              </a:solidFill>
              <a:prstDash val="solid"/>
              <a:headEnd type="none" w="med" len="med"/>
              <a:tailEnd type="none" w="med" len="med"/>
            </a:ln>
          </p:spPr>
        </p:sp>
        <p:sp>
          <p:nvSpPr>
            <p:cNvPr id="218123" name="椭圆 218122"/>
            <p:cNvSpPr/>
            <p:nvPr/>
          </p:nvSpPr>
          <p:spPr>
            <a:xfrm>
              <a:off x="3840" y="3024"/>
              <a:ext cx="96" cy="96"/>
            </a:xfrm>
            <a:prstGeom prst="ellipse">
              <a:avLst/>
            </a:prstGeom>
            <a:noFill/>
            <a:ln w="19050" cap="flat" cmpd="sng">
              <a:solidFill>
                <a:schemeClr val="tx1"/>
              </a:solidFill>
              <a:prstDash val="solid"/>
              <a:headEnd type="none" w="med" len="med"/>
              <a:tailEnd type="none" w="med" len="med"/>
            </a:ln>
          </p:spPr>
          <p:txBody>
            <a:bodyPr/>
            <a:p>
              <a:endParaRPr lang="zh-CN" altLang="en-US"/>
            </a:p>
          </p:txBody>
        </p:sp>
        <p:sp>
          <p:nvSpPr>
            <p:cNvPr id="218124" name="椭圆 218123"/>
            <p:cNvSpPr/>
            <p:nvPr/>
          </p:nvSpPr>
          <p:spPr>
            <a:xfrm>
              <a:off x="1824" y="3024"/>
              <a:ext cx="96" cy="96"/>
            </a:xfrm>
            <a:prstGeom prst="ellipse">
              <a:avLst/>
            </a:prstGeom>
            <a:noFill/>
            <a:ln w="19050" cap="flat" cmpd="sng">
              <a:solidFill>
                <a:schemeClr val="tx1"/>
              </a:solidFill>
              <a:prstDash val="solid"/>
              <a:headEnd type="none" w="med" len="med"/>
              <a:tailEnd type="none" w="med" len="med"/>
            </a:ln>
          </p:spPr>
          <p:txBody>
            <a:bodyPr/>
            <a:p>
              <a:endParaRPr lang="zh-CN" alt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218116"/>
                                        </p:tgtEl>
                                        <p:attrNameLst>
                                          <p:attrName>style.visibility</p:attrName>
                                        </p:attrNameLst>
                                      </p:cBhvr>
                                      <p:to>
                                        <p:strVal val="visible"/>
                                      </p:to>
                                    </p:set>
                                    <p:animEffect transition="in" filter="blinds(vertical)">
                                      <p:cBhvr>
                                        <p:cTn id="7" dur="500"/>
                                        <p:tgtEl>
                                          <p:spTgt spid="2181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811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2"/>
          <p:cNvSpPr>
            <a:spLocks noGrp="1" noChangeArrowheads="1"/>
          </p:cNvSpPr>
          <p:nvPr>
            <p:ph type="title"/>
          </p:nvPr>
        </p:nvSpPr>
        <p:spPr/>
        <p:txBody>
          <a:bodyPr/>
          <a:lstStyle/>
          <a:p>
            <a:r>
              <a:rPr lang="en-US" altLang="zh-CN" sz="3600">
                <a:solidFill>
                  <a:schemeClr val="tx1"/>
                </a:solidFill>
                <a:latin typeface="楷体_GB2312" pitchFamily="49" charset="-122"/>
                <a:ea typeface="楷体_GB2312" pitchFamily="49" charset="-122"/>
              </a:rPr>
              <a:t>6.1.1  pn</a:t>
            </a:r>
            <a:r>
              <a:rPr lang="zh-CN" altLang="en-US" sz="3600">
                <a:solidFill>
                  <a:schemeClr val="tx1"/>
                </a:solidFill>
                <a:latin typeface="楷体_GB2312" pitchFamily="49" charset="-122"/>
                <a:ea typeface="楷体_GB2312" pitchFamily="49" charset="-122"/>
              </a:rPr>
              <a:t>结的形成和杂质分布</a:t>
            </a:r>
            <a:endParaRPr lang="en-US" altLang="zh-CN" sz="3600">
              <a:solidFill>
                <a:schemeClr val="tx1"/>
              </a:solidFill>
              <a:latin typeface="楷体_GB2312" pitchFamily="49" charset="-122"/>
              <a:ea typeface="楷体_GB2312" pitchFamily="49" charset="-122"/>
            </a:endParaRPr>
          </a:p>
        </p:txBody>
      </p:sp>
      <p:sp>
        <p:nvSpPr>
          <p:cNvPr id="193539" name="Rectangle 3"/>
          <p:cNvSpPr>
            <a:spLocks noGrp="1" noChangeArrowheads="1"/>
          </p:cNvSpPr>
          <p:nvPr>
            <p:ph type="body" idx="1"/>
          </p:nvPr>
        </p:nvSpPr>
        <p:spPr>
          <a:xfrm>
            <a:off x="2438401" y="1524000"/>
            <a:ext cx="7127875" cy="3227388"/>
          </a:xfrm>
        </p:spPr>
        <p:txBody>
          <a:bodyPr/>
          <a:lstStyle/>
          <a:p>
            <a:r>
              <a:rPr lang="zh-CN" altLang="en-US" b="0">
                <a:latin typeface="楷体_GB2312" pitchFamily="49" charset="-122"/>
                <a:ea typeface="楷体_GB2312" pitchFamily="49" charset="-122"/>
              </a:rPr>
              <a:t>在一块</a:t>
            </a:r>
            <a:r>
              <a:rPr lang="en-US" altLang="zh-CN" b="0">
                <a:latin typeface="楷体_GB2312" pitchFamily="49" charset="-122"/>
                <a:ea typeface="楷体_GB2312" pitchFamily="49" charset="-122"/>
              </a:rPr>
              <a:t>n</a:t>
            </a:r>
            <a:r>
              <a:rPr lang="zh-CN" altLang="en-US" b="0">
                <a:latin typeface="楷体_GB2312" pitchFamily="49" charset="-122"/>
                <a:ea typeface="楷体_GB2312" pitchFamily="49" charset="-122"/>
              </a:rPr>
              <a:t>型 </a:t>
            </a:r>
            <a:r>
              <a:rPr lang="en-US" altLang="zh-CN" b="0">
                <a:latin typeface="楷体_GB2312" pitchFamily="49" charset="-122"/>
                <a:ea typeface="楷体_GB2312" pitchFamily="49" charset="-122"/>
              </a:rPr>
              <a:t>(</a:t>
            </a:r>
            <a:r>
              <a:rPr lang="zh-CN" altLang="en-US" b="0">
                <a:latin typeface="楷体_GB2312" pitchFamily="49" charset="-122"/>
                <a:ea typeface="楷体_GB2312" pitchFamily="49" charset="-122"/>
              </a:rPr>
              <a:t>或</a:t>
            </a:r>
            <a:r>
              <a:rPr lang="en-US" altLang="zh-CN" b="0">
                <a:latin typeface="楷体_GB2312" pitchFamily="49" charset="-122"/>
                <a:ea typeface="楷体_GB2312" pitchFamily="49" charset="-122"/>
              </a:rPr>
              <a:t>p</a:t>
            </a:r>
            <a:r>
              <a:rPr lang="zh-CN" altLang="en-US" b="0">
                <a:latin typeface="楷体_GB2312" pitchFamily="49" charset="-122"/>
                <a:ea typeface="楷体_GB2312" pitchFamily="49" charset="-122"/>
              </a:rPr>
              <a:t>型</a:t>
            </a:r>
            <a:r>
              <a:rPr lang="en-US" altLang="zh-CN" b="0">
                <a:latin typeface="楷体_GB2312" pitchFamily="49" charset="-122"/>
                <a:ea typeface="楷体_GB2312" pitchFamily="49" charset="-122"/>
              </a:rPr>
              <a:t>)</a:t>
            </a:r>
            <a:r>
              <a:rPr lang="zh-CN" altLang="en-US" b="0">
                <a:latin typeface="楷体_GB2312" pitchFamily="49" charset="-122"/>
                <a:ea typeface="楷体_GB2312" pitchFamily="49" charset="-122"/>
              </a:rPr>
              <a:t>半导体单晶上，用适当的工艺方法 </a:t>
            </a:r>
            <a:r>
              <a:rPr lang="en-US" altLang="zh-CN" b="0">
                <a:latin typeface="楷体_GB2312" pitchFamily="49" charset="-122"/>
                <a:ea typeface="楷体_GB2312" pitchFamily="49" charset="-122"/>
              </a:rPr>
              <a:t>(</a:t>
            </a:r>
            <a:r>
              <a:rPr lang="zh-CN" altLang="en-US" b="0">
                <a:latin typeface="楷体_GB2312" pitchFamily="49" charset="-122"/>
                <a:ea typeface="楷体_GB2312" pitchFamily="49" charset="-122"/>
              </a:rPr>
              <a:t>如合金法、扩散法、生长法、离子注入法等</a:t>
            </a:r>
            <a:r>
              <a:rPr lang="en-US" altLang="zh-CN" b="0">
                <a:latin typeface="楷体_GB2312" pitchFamily="49" charset="-122"/>
                <a:ea typeface="楷体_GB2312" pitchFamily="49" charset="-122"/>
              </a:rPr>
              <a:t>)</a:t>
            </a:r>
            <a:r>
              <a:rPr lang="zh-CN" altLang="en-US" b="0">
                <a:latin typeface="楷体_GB2312" pitchFamily="49" charset="-122"/>
                <a:ea typeface="楷体_GB2312" pitchFamily="49" charset="-122"/>
              </a:rPr>
              <a:t>把</a:t>
            </a:r>
            <a:r>
              <a:rPr lang="en-US" altLang="zh-CN" b="0">
                <a:latin typeface="楷体_GB2312" pitchFamily="49" charset="-122"/>
                <a:ea typeface="楷体_GB2312" pitchFamily="49" charset="-122"/>
              </a:rPr>
              <a:t>p</a:t>
            </a:r>
            <a:r>
              <a:rPr lang="zh-CN" altLang="en-US" b="0">
                <a:latin typeface="楷体_GB2312" pitchFamily="49" charset="-122"/>
                <a:ea typeface="楷体_GB2312" pitchFamily="49" charset="-122"/>
              </a:rPr>
              <a:t>型 </a:t>
            </a:r>
            <a:r>
              <a:rPr lang="en-US" altLang="zh-CN" b="0">
                <a:latin typeface="楷体_GB2312" pitchFamily="49" charset="-122"/>
                <a:ea typeface="楷体_GB2312" pitchFamily="49" charset="-122"/>
              </a:rPr>
              <a:t>(</a:t>
            </a:r>
            <a:r>
              <a:rPr lang="zh-CN" altLang="en-US" b="0">
                <a:latin typeface="楷体_GB2312" pitchFamily="49" charset="-122"/>
                <a:ea typeface="楷体_GB2312" pitchFamily="49" charset="-122"/>
              </a:rPr>
              <a:t>或</a:t>
            </a:r>
            <a:r>
              <a:rPr lang="en-US" altLang="zh-CN" b="0">
                <a:latin typeface="楷体_GB2312" pitchFamily="49" charset="-122"/>
                <a:ea typeface="楷体_GB2312" pitchFamily="49" charset="-122"/>
              </a:rPr>
              <a:t>n</a:t>
            </a:r>
            <a:r>
              <a:rPr lang="zh-CN" altLang="en-US" b="0">
                <a:latin typeface="楷体_GB2312" pitchFamily="49" charset="-122"/>
                <a:ea typeface="楷体_GB2312" pitchFamily="49" charset="-122"/>
              </a:rPr>
              <a:t>型</a:t>
            </a:r>
            <a:r>
              <a:rPr lang="en-US" altLang="zh-CN" b="0">
                <a:latin typeface="楷体_GB2312" pitchFamily="49" charset="-122"/>
                <a:ea typeface="楷体_GB2312" pitchFamily="49" charset="-122"/>
              </a:rPr>
              <a:t>)</a:t>
            </a:r>
            <a:r>
              <a:rPr lang="zh-CN" altLang="en-US" b="0">
                <a:latin typeface="楷体_GB2312" pitchFamily="49" charset="-122"/>
                <a:ea typeface="楷体_GB2312" pitchFamily="49" charset="-122"/>
              </a:rPr>
              <a:t>杂质掺入其中，使这块单晶的不同区域分别具有</a:t>
            </a:r>
            <a:r>
              <a:rPr lang="en-US" altLang="zh-CN" b="0">
                <a:latin typeface="楷体_GB2312" pitchFamily="49" charset="-122"/>
                <a:ea typeface="楷体_GB2312" pitchFamily="49" charset="-122"/>
              </a:rPr>
              <a:t>n</a:t>
            </a:r>
            <a:r>
              <a:rPr lang="zh-CN" altLang="en-US" b="0">
                <a:latin typeface="楷体_GB2312" pitchFamily="49" charset="-122"/>
                <a:ea typeface="楷体_GB2312" pitchFamily="49" charset="-122"/>
              </a:rPr>
              <a:t>型和</a:t>
            </a:r>
            <a:r>
              <a:rPr lang="en-US" altLang="zh-CN" b="0">
                <a:latin typeface="楷体_GB2312" pitchFamily="49" charset="-122"/>
                <a:ea typeface="楷体_GB2312" pitchFamily="49" charset="-122"/>
              </a:rPr>
              <a:t>p</a:t>
            </a:r>
            <a:r>
              <a:rPr lang="zh-CN" altLang="en-US" b="0">
                <a:latin typeface="楷体_GB2312" pitchFamily="49" charset="-122"/>
                <a:ea typeface="楷体_GB2312" pitchFamily="49" charset="-122"/>
              </a:rPr>
              <a:t>型的导电类型，在两者的交界面处就形成了</a:t>
            </a:r>
            <a:r>
              <a:rPr lang="en-US" altLang="zh-CN" b="0">
                <a:latin typeface="楷体_GB2312" pitchFamily="49" charset="-122"/>
                <a:ea typeface="楷体_GB2312" pitchFamily="49" charset="-122"/>
              </a:rPr>
              <a:t>pn</a:t>
            </a:r>
            <a:r>
              <a:rPr lang="zh-CN" altLang="en-US" b="0">
                <a:latin typeface="楷体_GB2312" pitchFamily="49" charset="-122"/>
                <a:ea typeface="楷体_GB2312" pitchFamily="49" charset="-122"/>
              </a:rPr>
              <a:t>结。</a:t>
            </a:r>
            <a:endParaRPr lang="en-US" altLang="zh-CN" sz="3200" b="0">
              <a:latin typeface="楷体_GB2312" pitchFamily="49" charset="-122"/>
              <a:ea typeface="楷体_GB2312" pitchFamily="49" charset="-122"/>
            </a:endParaRPr>
          </a:p>
          <a:p>
            <a:endParaRPr lang="en-US" altLang="zh-CN" b="0">
              <a:ea typeface="宋体" panose="02010600030101010101" pitchFamily="2" charset="-122"/>
            </a:endParaRPr>
          </a:p>
          <a:p>
            <a:pPr lvl="1">
              <a:buFont typeface="Wingdings" panose="05000000000000000000" pitchFamily="2" charset="2"/>
              <a:buNone/>
            </a:pPr>
            <a:endParaRPr lang="en-US" altLang="zh-CN" sz="2400">
              <a:ea typeface="宋体" panose="02010600030101010101" pitchFamily="2" charset="-122"/>
            </a:endParaRPr>
          </a:p>
        </p:txBody>
      </p:sp>
      <p:pic>
        <p:nvPicPr>
          <p:cNvPr id="193544" name="Picture 8"/>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791200" y="3810000"/>
            <a:ext cx="2438400" cy="243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770" name="Rectangle 2"/>
          <p:cNvSpPr>
            <a:spLocks noGrp="1" noChangeArrowheads="1"/>
          </p:cNvSpPr>
          <p:nvPr>
            <p:ph type="title"/>
          </p:nvPr>
        </p:nvSpPr>
        <p:spPr/>
        <p:txBody>
          <a:bodyPr/>
          <a:lstStyle/>
          <a:p>
            <a:r>
              <a:rPr lang="zh-CN" altLang="en-US" sz="3600" dirty="0">
                <a:ea typeface="楷体_GB2312" pitchFamily="49" charset="-122"/>
              </a:rPr>
              <a:t>合金法</a:t>
            </a:r>
            <a:endParaRPr lang="zh-CN" altLang="en-US" sz="3600" dirty="0">
              <a:ea typeface="楷体_GB2312" pitchFamily="49" charset="-122"/>
            </a:endParaRPr>
          </a:p>
        </p:txBody>
      </p:sp>
      <p:sp>
        <p:nvSpPr>
          <p:cNvPr id="288807" name="Text Box 39"/>
          <p:cNvSpPr txBox="1">
            <a:spLocks noChangeArrowheads="1"/>
          </p:cNvSpPr>
          <p:nvPr/>
        </p:nvSpPr>
        <p:spPr bwMode="auto">
          <a:xfrm>
            <a:off x="2438400" y="1143001"/>
            <a:ext cx="7620000" cy="2227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lang="zh-CN" altLang="en-US" sz="2800">
                <a:solidFill>
                  <a:srgbClr val="000000"/>
                </a:solidFill>
                <a:latin typeface="Arial" panose="020B0604020202020204" pitchFamily="34" charset="0"/>
                <a:ea typeface="宋体" panose="02010600030101010101" pitchFamily="2" charset="-122"/>
              </a:rPr>
              <a:t>      把一小粒铝放在一块</a:t>
            </a:r>
            <a:r>
              <a:rPr lang="en-US" altLang="zh-CN" sz="2800">
                <a:solidFill>
                  <a:srgbClr val="000000"/>
                </a:solidFill>
                <a:latin typeface="Arial" panose="020B0604020202020204" pitchFamily="34" charset="0"/>
                <a:ea typeface="宋体" panose="02010600030101010101" pitchFamily="2" charset="-122"/>
              </a:rPr>
              <a:t>n</a:t>
            </a:r>
            <a:r>
              <a:rPr lang="zh-CN" altLang="en-US" sz="2800">
                <a:solidFill>
                  <a:srgbClr val="000000"/>
                </a:solidFill>
                <a:latin typeface="Arial" panose="020B0604020202020204" pitchFamily="34" charset="0"/>
                <a:ea typeface="宋体" panose="02010600030101010101" pitchFamily="2" charset="-122"/>
              </a:rPr>
              <a:t>型单晶硅片上，加热到一定的温度，形成铝硅的熔融体，然后降低温度，熔融体开始凝固，在</a:t>
            </a:r>
            <a:r>
              <a:rPr lang="en-US" altLang="zh-CN" sz="2800">
                <a:solidFill>
                  <a:srgbClr val="000000"/>
                </a:solidFill>
                <a:latin typeface="Arial" panose="020B0604020202020204" pitchFamily="34" charset="0"/>
                <a:ea typeface="宋体" panose="02010600030101010101" pitchFamily="2" charset="-122"/>
              </a:rPr>
              <a:t>n</a:t>
            </a:r>
            <a:r>
              <a:rPr lang="zh-CN" altLang="en-US" sz="2800">
                <a:solidFill>
                  <a:srgbClr val="000000"/>
                </a:solidFill>
                <a:latin typeface="Arial" panose="020B0604020202020204" pitchFamily="34" charset="0"/>
                <a:ea typeface="宋体" panose="02010600030101010101" pitchFamily="2" charset="-122"/>
              </a:rPr>
              <a:t>型硅片上形成一含有高浓度铝的</a:t>
            </a:r>
            <a:r>
              <a:rPr lang="en-US" altLang="zh-CN" sz="2800">
                <a:solidFill>
                  <a:srgbClr val="000000"/>
                </a:solidFill>
                <a:latin typeface="Arial" panose="020B0604020202020204" pitchFamily="34" charset="0"/>
                <a:ea typeface="宋体" panose="02010600030101010101" pitchFamily="2" charset="-122"/>
              </a:rPr>
              <a:t>p</a:t>
            </a:r>
            <a:r>
              <a:rPr lang="zh-CN" altLang="en-US" sz="2800">
                <a:solidFill>
                  <a:srgbClr val="000000"/>
                </a:solidFill>
                <a:latin typeface="Arial" panose="020B0604020202020204" pitchFamily="34" charset="0"/>
                <a:ea typeface="宋体" panose="02010600030101010101" pitchFamily="2" charset="-122"/>
              </a:rPr>
              <a:t>型硅薄层，它与</a:t>
            </a:r>
            <a:r>
              <a:rPr lang="en-US" altLang="zh-CN" sz="2800">
                <a:solidFill>
                  <a:srgbClr val="000000"/>
                </a:solidFill>
                <a:latin typeface="Arial" panose="020B0604020202020204" pitchFamily="34" charset="0"/>
                <a:ea typeface="宋体" panose="02010600030101010101" pitchFamily="2" charset="-122"/>
              </a:rPr>
              <a:t>n</a:t>
            </a:r>
            <a:r>
              <a:rPr lang="zh-CN" altLang="en-US" sz="2800">
                <a:solidFill>
                  <a:srgbClr val="000000"/>
                </a:solidFill>
                <a:latin typeface="Arial" panose="020B0604020202020204" pitchFamily="34" charset="0"/>
                <a:ea typeface="宋体" panose="02010600030101010101" pitchFamily="2" charset="-122"/>
              </a:rPr>
              <a:t>型硅衬底的交界面处即为</a:t>
            </a:r>
            <a:r>
              <a:rPr lang="en-US" altLang="zh-CN" sz="2800">
                <a:solidFill>
                  <a:srgbClr val="000000"/>
                </a:solidFill>
                <a:latin typeface="Arial" panose="020B0604020202020204" pitchFamily="34" charset="0"/>
                <a:ea typeface="宋体" panose="02010600030101010101" pitchFamily="2" charset="-122"/>
              </a:rPr>
              <a:t>pn</a:t>
            </a:r>
            <a:r>
              <a:rPr lang="zh-CN" altLang="en-US" sz="2800">
                <a:solidFill>
                  <a:srgbClr val="000000"/>
                </a:solidFill>
                <a:latin typeface="Arial" panose="020B0604020202020204" pitchFamily="34" charset="0"/>
                <a:ea typeface="宋体" panose="02010600030101010101" pitchFamily="2" charset="-122"/>
              </a:rPr>
              <a:t>结 </a:t>
            </a:r>
            <a:r>
              <a:rPr lang="en-US" altLang="zh-CN" sz="2800">
                <a:solidFill>
                  <a:srgbClr val="000000"/>
                </a:solidFill>
                <a:latin typeface="Arial" panose="020B0604020202020204" pitchFamily="34" charset="0"/>
                <a:ea typeface="宋体" panose="02010600030101010101" pitchFamily="2" charset="-122"/>
              </a:rPr>
              <a:t>(</a:t>
            </a:r>
            <a:r>
              <a:rPr lang="zh-CN" altLang="en-US" sz="2800">
                <a:solidFill>
                  <a:srgbClr val="000000"/>
                </a:solidFill>
                <a:latin typeface="Arial" panose="020B0604020202020204" pitchFamily="34" charset="0"/>
                <a:ea typeface="宋体" panose="02010600030101010101" pitchFamily="2" charset="-122"/>
              </a:rPr>
              <a:t>这时称为铝硅合金结）。</a:t>
            </a:r>
            <a:endParaRPr lang="en-US" altLang="zh-CN" sz="2800">
              <a:solidFill>
                <a:srgbClr val="000000"/>
              </a:solidFill>
              <a:latin typeface="Arial" panose="020B0604020202020204" pitchFamily="34" charset="0"/>
              <a:ea typeface="宋体" panose="02010600030101010101" pitchFamily="2" charset="-122"/>
            </a:endParaRPr>
          </a:p>
        </p:txBody>
      </p:sp>
      <p:pic>
        <p:nvPicPr>
          <p:cNvPr id="288808" name="Picture 4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66988" y="3789364"/>
            <a:ext cx="6769100" cy="2085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730" name="Rectangle 2"/>
          <p:cNvSpPr>
            <a:spLocks noGrp="1" noChangeArrowheads="1"/>
          </p:cNvSpPr>
          <p:nvPr>
            <p:ph type="title"/>
          </p:nvPr>
        </p:nvSpPr>
        <p:spPr/>
        <p:txBody>
          <a:bodyPr/>
          <a:lstStyle/>
          <a:p>
            <a:r>
              <a:rPr lang="zh-CN" altLang="en-US" sz="3600">
                <a:ea typeface="楷体_GB2312" pitchFamily="49" charset="-122"/>
              </a:rPr>
              <a:t>合金法</a:t>
            </a:r>
            <a:endParaRPr lang="zh-CN" altLang="en-US" sz="3600">
              <a:ea typeface="楷体_GB2312" pitchFamily="49" charset="-122"/>
            </a:endParaRPr>
          </a:p>
        </p:txBody>
      </p:sp>
      <p:sp>
        <p:nvSpPr>
          <p:cNvPr id="329734" name="Text Box 6"/>
          <p:cNvSpPr txBox="1">
            <a:spLocks noChangeArrowheads="1"/>
          </p:cNvSpPr>
          <p:nvPr/>
        </p:nvSpPr>
        <p:spPr bwMode="auto">
          <a:xfrm>
            <a:off x="2590800" y="1295401"/>
            <a:ext cx="3886200"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zh-CN" altLang="en-US" sz="2400">
                <a:solidFill>
                  <a:srgbClr val="000000"/>
                </a:solidFill>
                <a:latin typeface="楷体_GB2312" pitchFamily="49" charset="-122"/>
                <a:ea typeface="楷体_GB2312" pitchFamily="49" charset="-122"/>
              </a:rPr>
              <a:t>   合金结的杂质分布如图</a:t>
            </a:r>
            <a:r>
              <a:rPr lang="en-US" altLang="zh-CN" sz="2400">
                <a:solidFill>
                  <a:srgbClr val="000000"/>
                </a:solidFill>
                <a:latin typeface="楷体_GB2312" pitchFamily="49" charset="-122"/>
                <a:ea typeface="楷体_GB2312" pitchFamily="49" charset="-122"/>
              </a:rPr>
              <a:t>6-3</a:t>
            </a:r>
            <a:r>
              <a:rPr lang="zh-CN" altLang="en-US" sz="2400">
                <a:solidFill>
                  <a:srgbClr val="000000"/>
                </a:solidFill>
                <a:latin typeface="楷体_GB2312" pitchFamily="49" charset="-122"/>
                <a:ea typeface="楷体_GB2312" pitchFamily="49" charset="-122"/>
              </a:rPr>
              <a:t>所示，其特点是，</a:t>
            </a:r>
            <a:r>
              <a:rPr lang="en-US" altLang="zh-CN" sz="2400">
                <a:solidFill>
                  <a:srgbClr val="000000"/>
                </a:solidFill>
                <a:latin typeface="楷体_GB2312" pitchFamily="49" charset="-122"/>
                <a:ea typeface="楷体_GB2312" pitchFamily="49" charset="-122"/>
              </a:rPr>
              <a:t>n</a:t>
            </a:r>
            <a:r>
              <a:rPr lang="zh-CN" altLang="en-US" sz="2400">
                <a:solidFill>
                  <a:srgbClr val="000000"/>
                </a:solidFill>
                <a:latin typeface="楷体_GB2312" pitchFamily="49" charset="-122"/>
                <a:ea typeface="楷体_GB2312" pitchFamily="49" charset="-122"/>
              </a:rPr>
              <a:t>型区中施主杂质浓度</a:t>
            </a:r>
            <a:r>
              <a:rPr lang="en-US" altLang="zh-CN" sz="2400">
                <a:solidFill>
                  <a:srgbClr val="000000"/>
                </a:solidFill>
                <a:latin typeface="楷体_GB2312" pitchFamily="49" charset="-122"/>
                <a:ea typeface="楷体_GB2312" pitchFamily="49" charset="-122"/>
              </a:rPr>
              <a:t>N</a:t>
            </a:r>
            <a:r>
              <a:rPr lang="en-US" altLang="zh-CN" sz="2400" baseline="-25000">
                <a:solidFill>
                  <a:srgbClr val="000000"/>
                </a:solidFill>
                <a:latin typeface="楷体_GB2312" pitchFamily="49" charset="-122"/>
                <a:ea typeface="楷体_GB2312" pitchFamily="49" charset="-122"/>
              </a:rPr>
              <a:t>D</a:t>
            </a:r>
            <a:r>
              <a:rPr lang="en-US" altLang="zh-CN" sz="2400">
                <a:solidFill>
                  <a:srgbClr val="000000"/>
                </a:solidFill>
                <a:latin typeface="楷体_GB2312" pitchFamily="49" charset="-122"/>
                <a:ea typeface="楷体_GB2312" pitchFamily="49" charset="-122"/>
              </a:rPr>
              <a:t> </a:t>
            </a:r>
            <a:r>
              <a:rPr lang="zh-CN" altLang="en-US" sz="2400">
                <a:solidFill>
                  <a:srgbClr val="000000"/>
                </a:solidFill>
                <a:latin typeface="楷体_GB2312" pitchFamily="49" charset="-122"/>
                <a:ea typeface="楷体_GB2312" pitchFamily="49" charset="-122"/>
              </a:rPr>
              <a:t>，而且均匀分布</a:t>
            </a:r>
            <a:r>
              <a:rPr lang="en-US" altLang="zh-CN" sz="2400">
                <a:solidFill>
                  <a:srgbClr val="000000"/>
                </a:solidFill>
                <a:latin typeface="楷体_GB2312" pitchFamily="49" charset="-122"/>
                <a:ea typeface="楷体_GB2312" pitchFamily="49" charset="-122"/>
              </a:rPr>
              <a:t>; p</a:t>
            </a:r>
            <a:r>
              <a:rPr lang="zh-CN" altLang="en-US" sz="2400">
                <a:solidFill>
                  <a:srgbClr val="000000"/>
                </a:solidFill>
                <a:latin typeface="楷体_GB2312" pitchFamily="49" charset="-122"/>
                <a:ea typeface="楷体_GB2312" pitchFamily="49" charset="-122"/>
              </a:rPr>
              <a:t>型区中受主杂质浓度为</a:t>
            </a:r>
            <a:r>
              <a:rPr lang="en-US" altLang="zh-CN" sz="2400">
                <a:solidFill>
                  <a:srgbClr val="000000"/>
                </a:solidFill>
                <a:latin typeface="楷体_GB2312" pitchFamily="49" charset="-122"/>
                <a:ea typeface="楷体_GB2312" pitchFamily="49" charset="-122"/>
              </a:rPr>
              <a:t>N</a:t>
            </a:r>
            <a:r>
              <a:rPr lang="en-US" altLang="zh-CN" sz="2400" baseline="-25000">
                <a:solidFill>
                  <a:srgbClr val="000000"/>
                </a:solidFill>
                <a:latin typeface="楷体_GB2312" pitchFamily="49" charset="-122"/>
                <a:ea typeface="楷体_GB2312" pitchFamily="49" charset="-122"/>
              </a:rPr>
              <a:t>A</a:t>
            </a:r>
            <a:r>
              <a:rPr lang="zh-CN" altLang="en-US" sz="2400">
                <a:solidFill>
                  <a:srgbClr val="000000"/>
                </a:solidFill>
                <a:latin typeface="楷体_GB2312" pitchFamily="49" charset="-122"/>
                <a:ea typeface="楷体_GB2312" pitchFamily="49" charset="-122"/>
              </a:rPr>
              <a:t>，也是均匀分布。在交界面处，杂质浓度由</a:t>
            </a:r>
            <a:r>
              <a:rPr lang="en-US" altLang="zh-CN" sz="2400">
                <a:solidFill>
                  <a:srgbClr val="000000"/>
                </a:solidFill>
                <a:latin typeface="楷体_GB2312" pitchFamily="49" charset="-122"/>
                <a:ea typeface="楷体_GB2312" pitchFamily="49" charset="-122"/>
              </a:rPr>
              <a:t>N</a:t>
            </a:r>
            <a:r>
              <a:rPr lang="en-US" altLang="zh-CN" sz="2400" baseline="-25000">
                <a:solidFill>
                  <a:srgbClr val="000000"/>
                </a:solidFill>
                <a:latin typeface="楷体_GB2312" pitchFamily="49" charset="-122"/>
                <a:ea typeface="楷体_GB2312" pitchFamily="49" charset="-122"/>
              </a:rPr>
              <a:t>A </a:t>
            </a:r>
            <a:r>
              <a:rPr lang="en-US" altLang="zh-CN" sz="2400">
                <a:solidFill>
                  <a:srgbClr val="000000"/>
                </a:solidFill>
                <a:latin typeface="楷体_GB2312" pitchFamily="49" charset="-122"/>
                <a:ea typeface="楷体_GB2312" pitchFamily="49" charset="-122"/>
              </a:rPr>
              <a:t>( p</a:t>
            </a:r>
            <a:r>
              <a:rPr lang="zh-CN" altLang="en-US" sz="2400">
                <a:solidFill>
                  <a:srgbClr val="000000"/>
                </a:solidFill>
                <a:latin typeface="楷体_GB2312" pitchFamily="49" charset="-122"/>
                <a:ea typeface="楷体_GB2312" pitchFamily="49" charset="-122"/>
              </a:rPr>
              <a:t>型</a:t>
            </a:r>
            <a:r>
              <a:rPr lang="en-US" altLang="zh-CN" sz="2400">
                <a:solidFill>
                  <a:srgbClr val="000000"/>
                </a:solidFill>
                <a:latin typeface="楷体_GB2312" pitchFamily="49" charset="-122"/>
                <a:ea typeface="楷体_GB2312" pitchFamily="49" charset="-122"/>
              </a:rPr>
              <a:t>)</a:t>
            </a:r>
            <a:r>
              <a:rPr lang="zh-CN" altLang="en-US" sz="2400">
                <a:solidFill>
                  <a:srgbClr val="000000"/>
                </a:solidFill>
                <a:latin typeface="楷体_GB2312" pitchFamily="49" charset="-122"/>
                <a:ea typeface="楷体_GB2312" pitchFamily="49" charset="-122"/>
              </a:rPr>
              <a:t>突变为</a:t>
            </a:r>
            <a:r>
              <a:rPr lang="en-US" altLang="zh-CN" sz="2400">
                <a:solidFill>
                  <a:srgbClr val="000000"/>
                </a:solidFill>
                <a:latin typeface="楷体_GB2312" pitchFamily="49" charset="-122"/>
                <a:ea typeface="楷体_GB2312" pitchFamily="49" charset="-122"/>
              </a:rPr>
              <a:t>N</a:t>
            </a:r>
            <a:r>
              <a:rPr lang="en-US" altLang="zh-CN" sz="2400" baseline="-25000">
                <a:solidFill>
                  <a:srgbClr val="000000"/>
                </a:solidFill>
                <a:latin typeface="楷体_GB2312" pitchFamily="49" charset="-122"/>
                <a:ea typeface="楷体_GB2312" pitchFamily="49" charset="-122"/>
              </a:rPr>
              <a:t>D</a:t>
            </a:r>
            <a:r>
              <a:rPr lang="en-US" altLang="zh-CN" sz="2400">
                <a:solidFill>
                  <a:srgbClr val="000000"/>
                </a:solidFill>
                <a:latin typeface="楷体_GB2312" pitchFamily="49" charset="-122"/>
                <a:ea typeface="楷体_GB2312" pitchFamily="49" charset="-122"/>
              </a:rPr>
              <a:t> (n</a:t>
            </a:r>
            <a:r>
              <a:rPr lang="zh-CN" altLang="en-US" sz="2400">
                <a:solidFill>
                  <a:srgbClr val="000000"/>
                </a:solidFill>
                <a:latin typeface="楷体_GB2312" pitchFamily="49" charset="-122"/>
                <a:ea typeface="楷体_GB2312" pitchFamily="49" charset="-122"/>
              </a:rPr>
              <a:t>型</a:t>
            </a:r>
            <a:r>
              <a:rPr lang="en-US" altLang="zh-CN" sz="2400">
                <a:solidFill>
                  <a:srgbClr val="000000"/>
                </a:solidFill>
                <a:latin typeface="楷体_GB2312" pitchFamily="49" charset="-122"/>
                <a:ea typeface="楷体_GB2312" pitchFamily="49" charset="-122"/>
              </a:rPr>
              <a:t>)</a:t>
            </a:r>
            <a:r>
              <a:rPr lang="zh-CN" altLang="en-US" sz="2400">
                <a:solidFill>
                  <a:srgbClr val="000000"/>
                </a:solidFill>
                <a:latin typeface="楷体_GB2312" pitchFamily="49" charset="-122"/>
                <a:ea typeface="楷体_GB2312" pitchFamily="49" charset="-122"/>
              </a:rPr>
              <a:t>，具有这种杂质分布的</a:t>
            </a:r>
            <a:r>
              <a:rPr lang="en-US" altLang="zh-CN" sz="2400">
                <a:solidFill>
                  <a:srgbClr val="000000"/>
                </a:solidFill>
                <a:latin typeface="楷体_GB2312" pitchFamily="49" charset="-122"/>
                <a:ea typeface="楷体_GB2312" pitchFamily="49" charset="-122"/>
              </a:rPr>
              <a:t>pn</a:t>
            </a:r>
            <a:r>
              <a:rPr lang="zh-CN" altLang="en-US" sz="2400">
                <a:solidFill>
                  <a:srgbClr val="000000"/>
                </a:solidFill>
                <a:latin typeface="楷体_GB2312" pitchFamily="49" charset="-122"/>
                <a:ea typeface="楷体_GB2312" pitchFamily="49" charset="-122"/>
              </a:rPr>
              <a:t>结称为</a:t>
            </a:r>
            <a:r>
              <a:rPr lang="zh-CN" altLang="en-US" sz="2400">
                <a:solidFill>
                  <a:srgbClr val="D7181F"/>
                </a:solidFill>
                <a:latin typeface="楷体_GB2312" pitchFamily="49" charset="-122"/>
                <a:ea typeface="楷体_GB2312" pitchFamily="49" charset="-122"/>
              </a:rPr>
              <a:t>突变结</a:t>
            </a:r>
            <a:r>
              <a:rPr lang="zh-CN" altLang="en-US" sz="2400">
                <a:solidFill>
                  <a:srgbClr val="000000"/>
                </a:solidFill>
                <a:latin typeface="楷体_GB2312" pitchFamily="49" charset="-122"/>
                <a:ea typeface="楷体_GB2312" pitchFamily="49" charset="-122"/>
              </a:rPr>
              <a:t>。</a:t>
            </a:r>
            <a:endParaRPr lang="zh-CN" altLang="en-US" sz="2400">
              <a:solidFill>
                <a:srgbClr val="000000"/>
              </a:solidFill>
              <a:latin typeface="楷体_GB2312" pitchFamily="49" charset="-122"/>
              <a:ea typeface="楷体_GB2312" pitchFamily="49" charset="-122"/>
            </a:endParaRPr>
          </a:p>
          <a:p>
            <a:pPr fontAlgn="base">
              <a:spcBef>
                <a:spcPct val="0"/>
              </a:spcBef>
              <a:spcAft>
                <a:spcPct val="0"/>
              </a:spcAft>
            </a:pPr>
            <a:r>
              <a:rPr lang="zh-CN" altLang="en-US" sz="2400">
                <a:solidFill>
                  <a:srgbClr val="000000"/>
                </a:solidFill>
                <a:latin typeface="楷体_GB2312" pitchFamily="49" charset="-122"/>
                <a:ea typeface="楷体_GB2312" pitchFamily="49" charset="-122"/>
              </a:rPr>
              <a:t>设</a:t>
            </a:r>
            <a:r>
              <a:rPr lang="en-US" altLang="zh-CN" sz="2400">
                <a:solidFill>
                  <a:srgbClr val="000000"/>
                </a:solidFill>
                <a:latin typeface="楷体_GB2312" pitchFamily="49" charset="-122"/>
                <a:ea typeface="楷体_GB2312" pitchFamily="49" charset="-122"/>
              </a:rPr>
              <a:t>pn</a:t>
            </a:r>
            <a:r>
              <a:rPr lang="zh-CN" altLang="en-US" sz="2400">
                <a:solidFill>
                  <a:srgbClr val="000000"/>
                </a:solidFill>
                <a:latin typeface="楷体_GB2312" pitchFamily="49" charset="-122"/>
                <a:ea typeface="楷体_GB2312" pitchFamily="49" charset="-122"/>
              </a:rPr>
              <a:t>结位置在</a:t>
            </a:r>
            <a:r>
              <a:rPr lang="en-US" altLang="zh-CN" sz="2400">
                <a:solidFill>
                  <a:srgbClr val="000000"/>
                </a:solidFill>
                <a:latin typeface="楷体_GB2312" pitchFamily="49" charset="-122"/>
                <a:ea typeface="楷体_GB2312" pitchFamily="49" charset="-122"/>
              </a:rPr>
              <a:t>x=xj</a:t>
            </a:r>
            <a:r>
              <a:rPr lang="zh-CN" altLang="en-US" sz="2400">
                <a:solidFill>
                  <a:srgbClr val="000000"/>
                </a:solidFill>
                <a:latin typeface="楷体_GB2312" pitchFamily="49" charset="-122"/>
                <a:ea typeface="楷体_GB2312" pitchFamily="49" charset="-122"/>
              </a:rPr>
              <a:t>，则突变结中的杂质分布可表示为：</a:t>
            </a:r>
            <a:endParaRPr lang="zh-CN" altLang="en-US" sz="2400">
              <a:solidFill>
                <a:srgbClr val="000000"/>
              </a:solidFill>
              <a:latin typeface="楷体_GB2312" pitchFamily="49" charset="-122"/>
              <a:ea typeface="楷体_GB2312" pitchFamily="49" charset="-122"/>
            </a:endParaRPr>
          </a:p>
          <a:p>
            <a:pPr algn="r" fontAlgn="base">
              <a:spcBef>
                <a:spcPct val="50000"/>
              </a:spcBef>
              <a:spcAft>
                <a:spcPct val="0"/>
              </a:spcAft>
            </a:pPr>
            <a:endParaRPr lang="zh-CN" altLang="en-US" sz="2400">
              <a:solidFill>
                <a:srgbClr val="000000"/>
              </a:solidFill>
              <a:latin typeface="Arial" panose="020B0604020202020204" pitchFamily="34" charset="0"/>
              <a:ea typeface="宋体" panose="02010600030101010101" pitchFamily="2" charset="-122"/>
            </a:endParaRPr>
          </a:p>
        </p:txBody>
      </p:sp>
      <p:sp>
        <p:nvSpPr>
          <p:cNvPr id="329735" name="AutoShape 7"/>
          <p:cNvSpPr/>
          <p:nvPr/>
        </p:nvSpPr>
        <p:spPr bwMode="auto">
          <a:xfrm>
            <a:off x="7010400" y="1295400"/>
            <a:ext cx="152400" cy="914400"/>
          </a:xfrm>
          <a:prstGeom prst="leftBrace">
            <a:avLst>
              <a:gd name="adj1" fmla="val 50000"/>
              <a:gd name="adj2" fmla="val 50000"/>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lang="zh-CN" altLang="en-US">
              <a:solidFill>
                <a:srgbClr val="000000"/>
              </a:solidFill>
              <a:latin typeface="Arial" panose="020B0604020202020204" pitchFamily="34" charset="0"/>
              <a:ea typeface="宋体" panose="02010600030101010101" pitchFamily="2" charset="-122"/>
            </a:endParaRPr>
          </a:p>
        </p:txBody>
      </p:sp>
      <p:sp>
        <p:nvSpPr>
          <p:cNvPr id="329737" name="Text Box 9"/>
          <p:cNvSpPr txBox="1">
            <a:spLocks noChangeArrowheads="1"/>
          </p:cNvSpPr>
          <p:nvPr/>
        </p:nvSpPr>
        <p:spPr bwMode="auto">
          <a:xfrm>
            <a:off x="7239000" y="1371601"/>
            <a:ext cx="2362200" cy="779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lang="en-US" altLang="zh-CN">
                <a:solidFill>
                  <a:srgbClr val="000000"/>
                </a:solidFill>
                <a:latin typeface="Arial" panose="020B0604020202020204" pitchFamily="34" charset="0"/>
                <a:ea typeface="宋体" panose="02010600030101010101" pitchFamily="2" charset="-122"/>
              </a:rPr>
              <a:t>x&lt;xj,      N(x)=N</a:t>
            </a:r>
            <a:r>
              <a:rPr lang="en-US" altLang="zh-CN" baseline="-25000">
                <a:solidFill>
                  <a:srgbClr val="000000"/>
                </a:solidFill>
                <a:latin typeface="Arial" panose="020B0604020202020204" pitchFamily="34" charset="0"/>
                <a:ea typeface="宋体" panose="02010600030101010101" pitchFamily="2" charset="-122"/>
              </a:rPr>
              <a:t>A</a:t>
            </a:r>
            <a:r>
              <a:rPr lang="en-US" altLang="zh-CN">
                <a:solidFill>
                  <a:srgbClr val="000000"/>
                </a:solidFill>
                <a:latin typeface="Arial" panose="020B0604020202020204" pitchFamily="34" charset="0"/>
                <a:ea typeface="宋体" panose="02010600030101010101" pitchFamily="2" charset="-122"/>
              </a:rPr>
              <a:t>  </a:t>
            </a:r>
            <a:endParaRPr lang="en-US" altLang="zh-CN">
              <a:solidFill>
                <a:srgbClr val="000000"/>
              </a:solidFill>
              <a:latin typeface="Arial" panose="020B0604020202020204" pitchFamily="34" charset="0"/>
              <a:ea typeface="宋体" panose="02010600030101010101" pitchFamily="2" charset="-122"/>
            </a:endParaRPr>
          </a:p>
          <a:p>
            <a:pPr fontAlgn="base">
              <a:spcBef>
                <a:spcPct val="50000"/>
              </a:spcBef>
              <a:spcAft>
                <a:spcPct val="0"/>
              </a:spcAft>
            </a:pPr>
            <a:r>
              <a:rPr lang="en-US" altLang="zh-CN">
                <a:solidFill>
                  <a:srgbClr val="000000"/>
                </a:solidFill>
                <a:latin typeface="Arial" panose="020B0604020202020204" pitchFamily="34" charset="0"/>
                <a:ea typeface="宋体" panose="02010600030101010101" pitchFamily="2" charset="-122"/>
              </a:rPr>
              <a:t>X&gt;xj,     N(x)=N</a:t>
            </a:r>
            <a:r>
              <a:rPr lang="en-US" altLang="zh-CN" baseline="-25000">
                <a:solidFill>
                  <a:srgbClr val="000000"/>
                </a:solidFill>
                <a:latin typeface="Arial" panose="020B0604020202020204" pitchFamily="34" charset="0"/>
                <a:ea typeface="宋体" panose="02010600030101010101" pitchFamily="2" charset="-122"/>
              </a:rPr>
              <a:t>D</a:t>
            </a:r>
            <a:endParaRPr lang="en-US" altLang="zh-CN" baseline="-25000">
              <a:solidFill>
                <a:srgbClr val="000000"/>
              </a:solidFill>
              <a:latin typeface="Arial" panose="020B0604020202020204" pitchFamily="34" charset="0"/>
              <a:ea typeface="宋体" panose="02010600030101010101" pitchFamily="2" charset="-122"/>
            </a:endParaRPr>
          </a:p>
        </p:txBody>
      </p:sp>
      <p:pic>
        <p:nvPicPr>
          <p:cNvPr id="329738" name="Picture 1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781801" y="2286001"/>
            <a:ext cx="2663825" cy="3457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2802" name="Rectangle 2"/>
          <p:cNvSpPr>
            <a:spLocks noGrp="1" noChangeArrowheads="1"/>
          </p:cNvSpPr>
          <p:nvPr>
            <p:ph type="title"/>
          </p:nvPr>
        </p:nvSpPr>
        <p:spPr/>
        <p:txBody>
          <a:bodyPr/>
          <a:lstStyle/>
          <a:p>
            <a:r>
              <a:rPr lang="zh-CN" altLang="en-US" sz="3600">
                <a:ea typeface="楷体_GB2312" pitchFamily="49" charset="-122"/>
              </a:rPr>
              <a:t>扩散法</a:t>
            </a:r>
            <a:endParaRPr lang="zh-CN" altLang="en-US" sz="3600">
              <a:ea typeface="楷体_GB2312" pitchFamily="49" charset="-122"/>
            </a:endParaRPr>
          </a:p>
        </p:txBody>
      </p:sp>
      <p:sp>
        <p:nvSpPr>
          <p:cNvPr id="332803" name="Rectangle 3"/>
          <p:cNvSpPr>
            <a:spLocks noGrp="1" noChangeArrowheads="1"/>
          </p:cNvSpPr>
          <p:nvPr>
            <p:ph type="body" idx="1"/>
          </p:nvPr>
        </p:nvSpPr>
        <p:spPr/>
        <p:txBody>
          <a:bodyPr/>
          <a:lstStyle/>
          <a:p>
            <a:pPr>
              <a:spcBef>
                <a:spcPct val="0"/>
              </a:spcBef>
              <a:buClrTx/>
              <a:buFontTx/>
              <a:buNone/>
            </a:pPr>
            <a:r>
              <a:rPr lang="zh-CN" altLang="en-US" b="0">
                <a:ea typeface="宋体" panose="02010600030101010101" pitchFamily="2" charset="-122"/>
              </a:rPr>
              <a:t>        </a:t>
            </a:r>
            <a:r>
              <a:rPr lang="zh-CN" altLang="en-US" b="0">
                <a:latin typeface="楷体_GB2312" pitchFamily="49" charset="-122"/>
                <a:ea typeface="楷体_GB2312" pitchFamily="49" charset="-122"/>
              </a:rPr>
              <a:t>图</a:t>
            </a:r>
            <a:r>
              <a:rPr lang="en-US" altLang="zh-CN" b="0">
                <a:latin typeface="楷体_GB2312" pitchFamily="49" charset="-122"/>
                <a:ea typeface="楷体_GB2312" pitchFamily="49" charset="-122"/>
              </a:rPr>
              <a:t>6-4</a:t>
            </a:r>
            <a:r>
              <a:rPr lang="zh-CN" altLang="en-US" b="0">
                <a:latin typeface="楷体_GB2312" pitchFamily="49" charset="-122"/>
                <a:ea typeface="楷体_GB2312" pitchFamily="49" charset="-122"/>
              </a:rPr>
              <a:t>表示用扩散法制造</a:t>
            </a:r>
            <a:r>
              <a:rPr lang="en-US" altLang="zh-CN" b="0">
                <a:latin typeface="楷体_GB2312" pitchFamily="49" charset="-122"/>
                <a:ea typeface="楷体_GB2312" pitchFamily="49" charset="-122"/>
              </a:rPr>
              <a:t>pn</a:t>
            </a:r>
            <a:r>
              <a:rPr lang="zh-CN" altLang="en-US" b="0">
                <a:latin typeface="楷体_GB2312" pitchFamily="49" charset="-122"/>
                <a:ea typeface="楷体_GB2312" pitchFamily="49" charset="-122"/>
              </a:rPr>
              <a:t>结的过程。它是在</a:t>
            </a:r>
            <a:r>
              <a:rPr lang="en-US" altLang="zh-CN" b="0">
                <a:latin typeface="楷体_GB2312" pitchFamily="49" charset="-122"/>
                <a:ea typeface="楷体_GB2312" pitchFamily="49" charset="-122"/>
              </a:rPr>
              <a:t>n</a:t>
            </a:r>
            <a:r>
              <a:rPr lang="zh-CN" altLang="en-US" b="0">
                <a:latin typeface="楷体_GB2312" pitchFamily="49" charset="-122"/>
                <a:ea typeface="楷体_GB2312" pitchFamily="49" charset="-122"/>
              </a:rPr>
              <a:t>型单晶硅片上，通过氧化、光刻、扩散等工艺制得的</a:t>
            </a:r>
            <a:r>
              <a:rPr lang="en-US" altLang="zh-CN" b="0">
                <a:latin typeface="楷体_GB2312" pitchFamily="49" charset="-122"/>
                <a:ea typeface="楷体_GB2312" pitchFamily="49" charset="-122"/>
              </a:rPr>
              <a:t>pn</a:t>
            </a:r>
            <a:r>
              <a:rPr lang="zh-CN" altLang="en-US" b="0">
                <a:latin typeface="楷体_GB2312" pitchFamily="49" charset="-122"/>
                <a:ea typeface="楷体_GB2312" pitchFamily="49" charset="-122"/>
              </a:rPr>
              <a:t>结。其杂质分布由扩散过程及杂质补偿决定。在这种结中，杂质浓度从</a:t>
            </a:r>
            <a:r>
              <a:rPr lang="en-US" altLang="zh-CN" b="0">
                <a:latin typeface="楷体_GB2312" pitchFamily="49" charset="-122"/>
                <a:ea typeface="楷体_GB2312" pitchFamily="49" charset="-122"/>
              </a:rPr>
              <a:t>p</a:t>
            </a:r>
            <a:r>
              <a:rPr lang="zh-CN" altLang="en-US" b="0">
                <a:latin typeface="楷体_GB2312" pitchFamily="49" charset="-122"/>
                <a:ea typeface="楷体_GB2312" pitchFamily="49" charset="-122"/>
              </a:rPr>
              <a:t>区到</a:t>
            </a:r>
            <a:r>
              <a:rPr lang="en-US" altLang="zh-CN" b="0">
                <a:latin typeface="楷体_GB2312" pitchFamily="49" charset="-122"/>
                <a:ea typeface="楷体_GB2312" pitchFamily="49" charset="-122"/>
              </a:rPr>
              <a:t>n</a:t>
            </a:r>
            <a:r>
              <a:rPr lang="zh-CN" altLang="en-US" b="0">
                <a:latin typeface="楷体_GB2312" pitchFamily="49" charset="-122"/>
                <a:ea typeface="楷体_GB2312" pitchFamily="49" charset="-122"/>
              </a:rPr>
              <a:t>区是逐渐变化的，通常称为</a:t>
            </a:r>
            <a:r>
              <a:rPr lang="zh-CN" altLang="en-US" b="0">
                <a:solidFill>
                  <a:srgbClr val="D7181F"/>
                </a:solidFill>
                <a:latin typeface="楷体_GB2312" pitchFamily="49" charset="-122"/>
                <a:ea typeface="楷体_GB2312" pitchFamily="49" charset="-122"/>
              </a:rPr>
              <a:t>缓变结</a:t>
            </a:r>
            <a:r>
              <a:rPr lang="zh-CN" altLang="en-US" b="0">
                <a:latin typeface="楷体_GB2312" pitchFamily="49" charset="-122"/>
                <a:ea typeface="楷体_GB2312" pitchFamily="49" charset="-122"/>
              </a:rPr>
              <a:t>。</a:t>
            </a:r>
            <a:endParaRPr lang="zh-CN" altLang="en-US" b="0">
              <a:latin typeface="楷体_GB2312" pitchFamily="49" charset="-122"/>
              <a:ea typeface="楷体_GB2312" pitchFamily="49" charset="-122"/>
            </a:endParaRPr>
          </a:p>
          <a:p>
            <a:endParaRPr lang="zh-CN" altLang="en-US">
              <a:ea typeface="宋体" panose="02010600030101010101" pitchFamily="2" charset="-122"/>
            </a:endParaRPr>
          </a:p>
        </p:txBody>
      </p:sp>
      <p:pic>
        <p:nvPicPr>
          <p:cNvPr id="332804"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86001" y="3505201"/>
            <a:ext cx="6481763" cy="1825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3826" name="Rectangle 2"/>
          <p:cNvSpPr>
            <a:spLocks noGrp="1" noChangeArrowheads="1"/>
          </p:cNvSpPr>
          <p:nvPr>
            <p:ph type="title"/>
          </p:nvPr>
        </p:nvSpPr>
        <p:spPr>
          <a:xfrm>
            <a:off x="2286000" y="381001"/>
            <a:ext cx="7239000" cy="563563"/>
          </a:xfrm>
        </p:spPr>
        <p:txBody>
          <a:bodyPr/>
          <a:lstStyle/>
          <a:p>
            <a:r>
              <a:rPr lang="zh-CN" altLang="en-US">
                <a:ea typeface="楷体_GB2312" pitchFamily="49" charset="-122"/>
              </a:rPr>
              <a:t>扩散法</a:t>
            </a:r>
            <a:endParaRPr lang="zh-CN" altLang="en-US">
              <a:ea typeface="楷体_GB2312" pitchFamily="49" charset="-122"/>
            </a:endParaRPr>
          </a:p>
        </p:txBody>
      </p:sp>
      <p:sp>
        <p:nvSpPr>
          <p:cNvPr id="333827" name="Rectangle 3"/>
          <p:cNvSpPr>
            <a:spLocks noGrp="1" noChangeArrowheads="1"/>
          </p:cNvSpPr>
          <p:nvPr>
            <p:ph type="body" idx="1"/>
          </p:nvPr>
        </p:nvSpPr>
        <p:spPr/>
        <p:txBody>
          <a:bodyPr/>
          <a:lstStyle/>
          <a:p>
            <a:r>
              <a:rPr lang="zh-CN" altLang="en-US" sz="2000" b="0">
                <a:latin typeface="楷体_GB2312" pitchFamily="49" charset="-122"/>
                <a:ea typeface="楷体_GB2312" pitchFamily="49" charset="-122"/>
              </a:rPr>
              <a:t>设</a:t>
            </a:r>
            <a:r>
              <a:rPr lang="en-US" altLang="zh-CN" sz="2000" b="0">
                <a:latin typeface="楷体_GB2312" pitchFamily="49" charset="-122"/>
                <a:ea typeface="楷体_GB2312" pitchFamily="49" charset="-122"/>
              </a:rPr>
              <a:t>pn</a:t>
            </a:r>
            <a:r>
              <a:rPr lang="zh-CN" altLang="en-US" sz="2000" b="0">
                <a:latin typeface="楷体_GB2312" pitchFamily="49" charset="-122"/>
                <a:ea typeface="楷体_GB2312" pitchFamily="49" charset="-122"/>
              </a:rPr>
              <a:t>结位置在</a:t>
            </a:r>
            <a:r>
              <a:rPr lang="en-US" altLang="zh-CN" sz="2000" b="0">
                <a:latin typeface="楷体_GB2312" pitchFamily="49" charset="-122"/>
                <a:ea typeface="楷体_GB2312" pitchFamily="49" charset="-122"/>
              </a:rPr>
              <a:t>x=x</a:t>
            </a:r>
            <a:r>
              <a:rPr lang="en-US" altLang="zh-CN" sz="2000" b="0" baseline="-25000">
                <a:latin typeface="楷体_GB2312" pitchFamily="49" charset="-122"/>
                <a:ea typeface="楷体_GB2312" pitchFamily="49" charset="-122"/>
              </a:rPr>
              <a:t>j</a:t>
            </a:r>
            <a:r>
              <a:rPr lang="en-US" altLang="zh-CN" sz="2000" b="0">
                <a:latin typeface="楷体_GB2312" pitchFamily="49" charset="-122"/>
                <a:ea typeface="楷体_GB2312" pitchFamily="49" charset="-122"/>
              </a:rPr>
              <a:t> </a:t>
            </a:r>
            <a:r>
              <a:rPr lang="zh-CN" altLang="en-US" sz="2000" b="0">
                <a:latin typeface="楷体_GB2312" pitchFamily="49" charset="-122"/>
                <a:ea typeface="楷体_GB2312" pitchFamily="49" charset="-122"/>
              </a:rPr>
              <a:t>，则结中的杂质分布可表示为</a:t>
            </a:r>
            <a:endParaRPr lang="zh-CN" altLang="en-US" sz="2000" b="0">
              <a:latin typeface="楷体_GB2312" pitchFamily="49" charset="-122"/>
              <a:ea typeface="楷体_GB2312" pitchFamily="49" charset="-122"/>
            </a:endParaRPr>
          </a:p>
        </p:txBody>
      </p:sp>
      <p:sp>
        <p:nvSpPr>
          <p:cNvPr id="333828" name="AutoShape 4"/>
          <p:cNvSpPr/>
          <p:nvPr/>
        </p:nvSpPr>
        <p:spPr bwMode="auto">
          <a:xfrm>
            <a:off x="6623221" y="1000125"/>
            <a:ext cx="76200" cy="838200"/>
          </a:xfrm>
          <a:prstGeom prst="leftBrace">
            <a:avLst>
              <a:gd name="adj1" fmla="val 91667"/>
              <a:gd name="adj2" fmla="val 50000"/>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lang="zh-CN" altLang="en-US">
              <a:solidFill>
                <a:srgbClr val="000000"/>
              </a:solidFill>
              <a:latin typeface="Arial" panose="020B0604020202020204" pitchFamily="34" charset="0"/>
              <a:ea typeface="宋体" panose="02010600030101010101" pitchFamily="2" charset="-122"/>
            </a:endParaRPr>
          </a:p>
        </p:txBody>
      </p:sp>
      <p:sp>
        <p:nvSpPr>
          <p:cNvPr id="333829" name="Text Box 5"/>
          <p:cNvSpPr txBox="1">
            <a:spLocks noChangeArrowheads="1"/>
          </p:cNvSpPr>
          <p:nvPr/>
        </p:nvSpPr>
        <p:spPr bwMode="auto">
          <a:xfrm>
            <a:off x="6925962" y="988220"/>
            <a:ext cx="1600200" cy="779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lang="en-US" altLang="zh-CN" dirty="0">
                <a:solidFill>
                  <a:srgbClr val="000000"/>
                </a:solidFill>
                <a:latin typeface="Arial" panose="020B0604020202020204" pitchFamily="34" charset="0"/>
                <a:ea typeface="宋体" panose="02010600030101010101" pitchFamily="2" charset="-122"/>
              </a:rPr>
              <a:t>x&lt;</a:t>
            </a:r>
            <a:r>
              <a:rPr lang="en-US" altLang="zh-CN" dirty="0" err="1">
                <a:solidFill>
                  <a:srgbClr val="000000"/>
                </a:solidFill>
                <a:latin typeface="Arial" panose="020B0604020202020204" pitchFamily="34" charset="0"/>
                <a:ea typeface="宋体" panose="02010600030101010101" pitchFamily="2" charset="-122"/>
              </a:rPr>
              <a:t>xj</a:t>
            </a:r>
            <a:r>
              <a:rPr lang="en-US" altLang="zh-CN" dirty="0">
                <a:solidFill>
                  <a:srgbClr val="000000"/>
                </a:solidFill>
                <a:latin typeface="Arial" panose="020B0604020202020204" pitchFamily="34" charset="0"/>
                <a:ea typeface="宋体" panose="02010600030101010101" pitchFamily="2" charset="-122"/>
              </a:rPr>
              <a:t>,  N</a:t>
            </a:r>
            <a:r>
              <a:rPr lang="en-US" altLang="zh-CN" baseline="-25000" dirty="0">
                <a:solidFill>
                  <a:srgbClr val="000000"/>
                </a:solidFill>
                <a:latin typeface="Arial" panose="020B0604020202020204" pitchFamily="34" charset="0"/>
                <a:ea typeface="宋体" panose="02010600030101010101" pitchFamily="2" charset="-122"/>
              </a:rPr>
              <a:t>A</a:t>
            </a:r>
            <a:r>
              <a:rPr lang="en-US" altLang="zh-CN" dirty="0">
                <a:solidFill>
                  <a:srgbClr val="000000"/>
                </a:solidFill>
                <a:latin typeface="Arial" panose="020B0604020202020204" pitchFamily="34" charset="0"/>
                <a:ea typeface="宋体" panose="02010600030101010101" pitchFamily="2" charset="-122"/>
              </a:rPr>
              <a:t>&gt;N</a:t>
            </a:r>
            <a:r>
              <a:rPr lang="en-US" altLang="zh-CN" baseline="-25000" dirty="0">
                <a:solidFill>
                  <a:srgbClr val="000000"/>
                </a:solidFill>
                <a:latin typeface="Arial" panose="020B0604020202020204" pitchFamily="34" charset="0"/>
                <a:ea typeface="宋体" panose="02010600030101010101" pitchFamily="2" charset="-122"/>
              </a:rPr>
              <a:t>D</a:t>
            </a:r>
            <a:endParaRPr lang="en-US" altLang="zh-CN" baseline="-25000" dirty="0">
              <a:solidFill>
                <a:srgbClr val="000000"/>
              </a:solidFill>
              <a:latin typeface="Arial" panose="020B0604020202020204" pitchFamily="34" charset="0"/>
              <a:ea typeface="宋体" panose="02010600030101010101" pitchFamily="2" charset="-122"/>
            </a:endParaRPr>
          </a:p>
          <a:p>
            <a:pPr fontAlgn="base">
              <a:spcBef>
                <a:spcPct val="50000"/>
              </a:spcBef>
              <a:spcAft>
                <a:spcPct val="0"/>
              </a:spcAft>
            </a:pPr>
            <a:r>
              <a:rPr lang="en-US" altLang="zh-CN" dirty="0">
                <a:solidFill>
                  <a:srgbClr val="000000"/>
                </a:solidFill>
                <a:latin typeface="Arial" panose="020B0604020202020204" pitchFamily="34" charset="0"/>
                <a:ea typeface="宋体" panose="02010600030101010101" pitchFamily="2" charset="-122"/>
              </a:rPr>
              <a:t>x&gt;</a:t>
            </a:r>
            <a:r>
              <a:rPr lang="en-US" altLang="zh-CN" dirty="0" err="1">
                <a:solidFill>
                  <a:srgbClr val="000000"/>
                </a:solidFill>
                <a:latin typeface="Arial" panose="020B0604020202020204" pitchFamily="34" charset="0"/>
                <a:ea typeface="宋体" panose="02010600030101010101" pitchFamily="2" charset="-122"/>
              </a:rPr>
              <a:t>xj,N</a:t>
            </a:r>
            <a:r>
              <a:rPr lang="en-US" altLang="zh-CN" baseline="-25000" dirty="0" err="1">
                <a:solidFill>
                  <a:srgbClr val="000000"/>
                </a:solidFill>
                <a:latin typeface="Arial" panose="020B0604020202020204" pitchFamily="34" charset="0"/>
                <a:ea typeface="宋体" panose="02010600030101010101" pitchFamily="2" charset="-122"/>
              </a:rPr>
              <a:t>D</a:t>
            </a:r>
            <a:r>
              <a:rPr lang="en-US" altLang="zh-CN" dirty="0">
                <a:solidFill>
                  <a:srgbClr val="000000"/>
                </a:solidFill>
                <a:latin typeface="Arial" panose="020B0604020202020204" pitchFamily="34" charset="0"/>
                <a:ea typeface="宋体" panose="02010600030101010101" pitchFamily="2" charset="-122"/>
              </a:rPr>
              <a:t>&gt;N</a:t>
            </a:r>
            <a:r>
              <a:rPr lang="en-US" altLang="zh-CN" baseline="-25000" dirty="0">
                <a:solidFill>
                  <a:srgbClr val="000000"/>
                </a:solidFill>
                <a:latin typeface="Arial" panose="020B0604020202020204" pitchFamily="34" charset="0"/>
                <a:ea typeface="宋体" panose="02010600030101010101" pitchFamily="2" charset="-122"/>
              </a:rPr>
              <a:t>A</a:t>
            </a:r>
            <a:endParaRPr lang="en-US" altLang="zh-CN" baseline="-25000" dirty="0">
              <a:solidFill>
                <a:srgbClr val="000000"/>
              </a:solidFill>
              <a:latin typeface="Arial" panose="020B0604020202020204" pitchFamily="34" charset="0"/>
              <a:ea typeface="宋体" panose="02010600030101010101" pitchFamily="2" charset="-122"/>
            </a:endParaRPr>
          </a:p>
        </p:txBody>
      </p:sp>
      <p:sp>
        <p:nvSpPr>
          <p:cNvPr id="333833" name="Text Box 9"/>
          <p:cNvSpPr txBox="1">
            <a:spLocks noChangeArrowheads="1"/>
          </p:cNvSpPr>
          <p:nvPr/>
        </p:nvSpPr>
        <p:spPr bwMode="auto">
          <a:xfrm>
            <a:off x="2286000" y="1905001"/>
            <a:ext cx="7467600" cy="192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lang="zh-CN" altLang="en-US" sz="2000">
                <a:solidFill>
                  <a:srgbClr val="000000"/>
                </a:solidFill>
                <a:latin typeface="楷体_GB2312" pitchFamily="49" charset="-122"/>
                <a:ea typeface="楷体_GB2312" pitchFamily="49" charset="-122"/>
              </a:rPr>
              <a:t>在扩散结中若杂质分布可用</a:t>
            </a:r>
            <a:r>
              <a:rPr lang="en-US" altLang="zh-CN" sz="2000">
                <a:solidFill>
                  <a:srgbClr val="000000"/>
                </a:solidFill>
                <a:latin typeface="楷体_GB2312" pitchFamily="49" charset="-122"/>
                <a:ea typeface="楷体_GB2312" pitchFamily="49" charset="-122"/>
              </a:rPr>
              <a:t>x=x</a:t>
            </a:r>
            <a:r>
              <a:rPr lang="en-US" altLang="zh-CN" sz="2000" baseline="-25000">
                <a:solidFill>
                  <a:srgbClr val="000000"/>
                </a:solidFill>
                <a:latin typeface="楷体_GB2312" pitchFamily="49" charset="-122"/>
                <a:ea typeface="楷体_GB2312" pitchFamily="49" charset="-122"/>
              </a:rPr>
              <a:t>j</a:t>
            </a:r>
            <a:r>
              <a:rPr lang="zh-CN" altLang="en-US" sz="2000">
                <a:solidFill>
                  <a:srgbClr val="000000"/>
                </a:solidFill>
                <a:latin typeface="楷体_GB2312" pitchFamily="49" charset="-122"/>
                <a:ea typeface="楷体_GB2312" pitchFamily="49" charset="-122"/>
              </a:rPr>
              <a:t>处切线近似表示，则称为线性缓变结，如图</a:t>
            </a:r>
            <a:r>
              <a:rPr lang="en-US" altLang="zh-CN" sz="2000">
                <a:solidFill>
                  <a:srgbClr val="000000"/>
                </a:solidFill>
                <a:latin typeface="楷体_GB2312" pitchFamily="49" charset="-122"/>
                <a:ea typeface="楷体_GB2312" pitchFamily="49" charset="-122"/>
              </a:rPr>
              <a:t>6-5</a:t>
            </a:r>
            <a:r>
              <a:rPr lang="zh-CN" altLang="en-US" sz="2000">
                <a:solidFill>
                  <a:srgbClr val="000000"/>
                </a:solidFill>
                <a:latin typeface="楷体_GB2312" pitchFamily="49" charset="-122"/>
                <a:ea typeface="楷体_GB2312" pitchFamily="49" charset="-122"/>
              </a:rPr>
              <a:t>（</a:t>
            </a:r>
            <a:r>
              <a:rPr lang="en-US" altLang="zh-CN" sz="2000">
                <a:solidFill>
                  <a:srgbClr val="000000"/>
                </a:solidFill>
                <a:latin typeface="楷体_GB2312" pitchFamily="49" charset="-122"/>
                <a:ea typeface="楷体_GB2312" pitchFamily="49" charset="-122"/>
              </a:rPr>
              <a:t>b</a:t>
            </a:r>
            <a:r>
              <a:rPr lang="zh-CN" altLang="en-US" sz="2000">
                <a:solidFill>
                  <a:srgbClr val="000000"/>
                </a:solidFill>
                <a:latin typeface="楷体_GB2312" pitchFamily="49" charset="-122"/>
                <a:ea typeface="楷体_GB2312" pitchFamily="49" charset="-122"/>
              </a:rPr>
              <a:t>）所示。其杂质浓度表示为</a:t>
            </a:r>
            <a:r>
              <a:rPr lang="en-US" altLang="zh-CN" sz="2000">
                <a:solidFill>
                  <a:srgbClr val="000000"/>
                </a:solidFill>
                <a:latin typeface="楷体_GB2312" pitchFamily="49" charset="-122"/>
                <a:ea typeface="楷体_GB2312" pitchFamily="49" charset="-122"/>
              </a:rPr>
              <a:t>N</a:t>
            </a:r>
            <a:r>
              <a:rPr lang="en-US" altLang="zh-CN" sz="2000" baseline="-25000">
                <a:solidFill>
                  <a:srgbClr val="000000"/>
                </a:solidFill>
                <a:latin typeface="楷体_GB2312" pitchFamily="49" charset="-122"/>
                <a:ea typeface="楷体_GB2312" pitchFamily="49" charset="-122"/>
              </a:rPr>
              <a:t>D</a:t>
            </a:r>
            <a:r>
              <a:rPr lang="en-US" altLang="zh-CN" sz="2000">
                <a:solidFill>
                  <a:srgbClr val="000000"/>
                </a:solidFill>
                <a:latin typeface="楷体_GB2312" pitchFamily="49" charset="-122"/>
                <a:ea typeface="楷体_GB2312" pitchFamily="49" charset="-122"/>
              </a:rPr>
              <a:t>-N</a:t>
            </a:r>
            <a:r>
              <a:rPr lang="en-US" altLang="zh-CN" sz="2000" baseline="-25000">
                <a:solidFill>
                  <a:srgbClr val="000000"/>
                </a:solidFill>
                <a:latin typeface="楷体_GB2312" pitchFamily="49" charset="-122"/>
                <a:ea typeface="楷体_GB2312" pitchFamily="49" charset="-122"/>
              </a:rPr>
              <a:t>A</a:t>
            </a:r>
            <a:r>
              <a:rPr lang="en-US" altLang="zh-CN" sz="2000">
                <a:solidFill>
                  <a:srgbClr val="000000"/>
                </a:solidFill>
                <a:latin typeface="楷体_GB2312" pitchFamily="49" charset="-122"/>
                <a:ea typeface="楷体_GB2312" pitchFamily="49" charset="-122"/>
              </a:rPr>
              <a:t>=a</a:t>
            </a:r>
            <a:r>
              <a:rPr lang="en-US" altLang="zh-CN" sz="2000" baseline="-25000">
                <a:solidFill>
                  <a:srgbClr val="000000"/>
                </a:solidFill>
                <a:latin typeface="楷体_GB2312" pitchFamily="49" charset="-122"/>
                <a:ea typeface="楷体_GB2312" pitchFamily="49" charset="-122"/>
              </a:rPr>
              <a:t>j</a:t>
            </a:r>
            <a:r>
              <a:rPr lang="en-US" altLang="zh-CN" sz="2000">
                <a:solidFill>
                  <a:srgbClr val="000000"/>
                </a:solidFill>
                <a:latin typeface="楷体_GB2312" pitchFamily="49" charset="-122"/>
                <a:ea typeface="楷体_GB2312" pitchFamily="49" charset="-122"/>
              </a:rPr>
              <a:t>(x-x</a:t>
            </a:r>
            <a:r>
              <a:rPr lang="en-US" altLang="zh-CN" sz="2000" baseline="-25000">
                <a:solidFill>
                  <a:srgbClr val="000000"/>
                </a:solidFill>
                <a:latin typeface="楷体_GB2312" pitchFamily="49" charset="-122"/>
                <a:ea typeface="楷体_GB2312" pitchFamily="49" charset="-122"/>
              </a:rPr>
              <a:t>j</a:t>
            </a:r>
            <a:r>
              <a:rPr lang="en-US" altLang="zh-CN" sz="2000">
                <a:solidFill>
                  <a:srgbClr val="000000"/>
                </a:solidFill>
                <a:latin typeface="楷体_GB2312" pitchFamily="49" charset="-122"/>
                <a:ea typeface="楷体_GB2312" pitchFamily="49" charset="-122"/>
              </a:rPr>
              <a:t>)</a:t>
            </a:r>
            <a:r>
              <a:rPr lang="zh-CN" altLang="en-US" sz="2000">
                <a:solidFill>
                  <a:srgbClr val="000000"/>
                </a:solidFill>
                <a:latin typeface="楷体_GB2312" pitchFamily="49" charset="-122"/>
                <a:ea typeface="楷体_GB2312" pitchFamily="49" charset="-122"/>
              </a:rPr>
              <a:t>。式中</a:t>
            </a:r>
            <a:r>
              <a:rPr lang="en-US" altLang="zh-CN" sz="2000">
                <a:solidFill>
                  <a:srgbClr val="000000"/>
                </a:solidFill>
                <a:latin typeface="楷体_GB2312" pitchFamily="49" charset="-122"/>
                <a:ea typeface="楷体_GB2312" pitchFamily="49" charset="-122"/>
              </a:rPr>
              <a:t>a</a:t>
            </a:r>
            <a:r>
              <a:rPr lang="en-US" altLang="zh-CN" sz="2000" baseline="-25000">
                <a:solidFill>
                  <a:srgbClr val="000000"/>
                </a:solidFill>
                <a:latin typeface="楷体_GB2312" pitchFamily="49" charset="-122"/>
                <a:ea typeface="楷体_GB2312" pitchFamily="49" charset="-122"/>
              </a:rPr>
              <a:t>j</a:t>
            </a:r>
            <a:r>
              <a:rPr lang="zh-CN" altLang="en-US" sz="2000">
                <a:solidFill>
                  <a:srgbClr val="000000"/>
                </a:solidFill>
                <a:latin typeface="楷体_GB2312" pitchFamily="49" charset="-122"/>
                <a:ea typeface="楷体_GB2312" pitchFamily="49" charset="-122"/>
              </a:rPr>
              <a:t>是</a:t>
            </a:r>
            <a:r>
              <a:rPr lang="en-US" altLang="zh-CN" sz="2000">
                <a:solidFill>
                  <a:srgbClr val="000000"/>
                </a:solidFill>
                <a:latin typeface="楷体_GB2312" pitchFamily="49" charset="-122"/>
                <a:ea typeface="楷体_GB2312" pitchFamily="49" charset="-122"/>
              </a:rPr>
              <a:t>x=x</a:t>
            </a:r>
            <a:r>
              <a:rPr lang="en-US" altLang="zh-CN" sz="2000" baseline="-25000">
                <a:solidFill>
                  <a:srgbClr val="000000"/>
                </a:solidFill>
                <a:latin typeface="楷体_GB2312" pitchFamily="49" charset="-122"/>
                <a:ea typeface="楷体_GB2312" pitchFamily="49" charset="-122"/>
              </a:rPr>
              <a:t>j</a:t>
            </a:r>
            <a:r>
              <a:rPr lang="zh-CN" altLang="en-US" sz="2000">
                <a:solidFill>
                  <a:srgbClr val="000000"/>
                </a:solidFill>
                <a:latin typeface="楷体_GB2312" pitchFamily="49" charset="-122"/>
                <a:ea typeface="楷体_GB2312" pitchFamily="49" charset="-122"/>
              </a:rPr>
              <a:t>处切线的斜率，称为杂质浓度梯度，它决定于扩散杂质的实际分布，可以用实验方法测定。但是对于高表面浓度的浅扩散结，</a:t>
            </a:r>
            <a:r>
              <a:rPr lang="en-US" altLang="zh-CN" sz="2000">
                <a:solidFill>
                  <a:srgbClr val="000000"/>
                </a:solidFill>
                <a:latin typeface="楷体_GB2312" pitchFamily="49" charset="-122"/>
                <a:ea typeface="楷体_GB2312" pitchFamily="49" charset="-122"/>
              </a:rPr>
              <a:t>x</a:t>
            </a:r>
            <a:r>
              <a:rPr lang="en-US" altLang="zh-CN" sz="2000" baseline="-25000">
                <a:solidFill>
                  <a:srgbClr val="000000"/>
                </a:solidFill>
                <a:latin typeface="楷体_GB2312" pitchFamily="49" charset="-122"/>
                <a:ea typeface="楷体_GB2312" pitchFamily="49" charset="-122"/>
              </a:rPr>
              <a:t>j</a:t>
            </a:r>
            <a:r>
              <a:rPr lang="zh-CN" altLang="en-US" sz="2000">
                <a:solidFill>
                  <a:srgbClr val="000000"/>
                </a:solidFill>
                <a:latin typeface="楷体_GB2312" pitchFamily="49" charset="-122"/>
                <a:ea typeface="楷体_GB2312" pitchFamily="49" charset="-122"/>
              </a:rPr>
              <a:t>处的斜率</a:t>
            </a:r>
            <a:r>
              <a:rPr lang="en-US" altLang="zh-CN" sz="2000">
                <a:solidFill>
                  <a:srgbClr val="000000"/>
                </a:solidFill>
                <a:latin typeface="楷体_GB2312" pitchFamily="49" charset="-122"/>
                <a:ea typeface="楷体_GB2312" pitchFamily="49" charset="-122"/>
              </a:rPr>
              <a:t>a</a:t>
            </a:r>
            <a:r>
              <a:rPr lang="en-US" altLang="zh-CN" sz="2000" baseline="-25000">
                <a:solidFill>
                  <a:srgbClr val="000000"/>
                </a:solidFill>
                <a:latin typeface="楷体_GB2312" pitchFamily="49" charset="-122"/>
                <a:ea typeface="楷体_GB2312" pitchFamily="49" charset="-122"/>
              </a:rPr>
              <a:t>j</a:t>
            </a:r>
            <a:r>
              <a:rPr lang="zh-CN" altLang="en-US" sz="2000">
                <a:solidFill>
                  <a:srgbClr val="000000"/>
                </a:solidFill>
                <a:latin typeface="楷体_GB2312" pitchFamily="49" charset="-122"/>
                <a:ea typeface="楷体_GB2312" pitchFamily="49" charset="-122"/>
              </a:rPr>
              <a:t>很大，这时扩散结用突变结来近似，如图</a:t>
            </a:r>
            <a:r>
              <a:rPr lang="en-US" altLang="zh-CN" sz="2000">
                <a:solidFill>
                  <a:srgbClr val="000000"/>
                </a:solidFill>
                <a:latin typeface="楷体_GB2312" pitchFamily="49" charset="-122"/>
                <a:ea typeface="楷体_GB2312" pitchFamily="49" charset="-122"/>
              </a:rPr>
              <a:t>6-5</a:t>
            </a:r>
            <a:r>
              <a:rPr lang="zh-CN" altLang="en-US" sz="2000">
                <a:solidFill>
                  <a:srgbClr val="000000"/>
                </a:solidFill>
                <a:latin typeface="楷体_GB2312" pitchFamily="49" charset="-122"/>
                <a:ea typeface="楷体_GB2312" pitchFamily="49" charset="-122"/>
              </a:rPr>
              <a:t>（</a:t>
            </a:r>
            <a:r>
              <a:rPr lang="en-US" altLang="zh-CN" sz="2000">
                <a:solidFill>
                  <a:srgbClr val="000000"/>
                </a:solidFill>
                <a:latin typeface="楷体_GB2312" pitchFamily="49" charset="-122"/>
                <a:ea typeface="楷体_GB2312" pitchFamily="49" charset="-122"/>
              </a:rPr>
              <a:t>c</a:t>
            </a:r>
            <a:r>
              <a:rPr lang="zh-CN" altLang="en-US" sz="2000">
                <a:solidFill>
                  <a:srgbClr val="000000"/>
                </a:solidFill>
                <a:latin typeface="楷体_GB2312" pitchFamily="49" charset="-122"/>
                <a:ea typeface="楷体_GB2312" pitchFamily="49" charset="-122"/>
              </a:rPr>
              <a:t>）所示。</a:t>
            </a:r>
            <a:endParaRPr lang="en-US" altLang="zh-CN" sz="2000">
              <a:solidFill>
                <a:srgbClr val="000000"/>
              </a:solidFill>
              <a:latin typeface="楷体_GB2312" pitchFamily="49" charset="-122"/>
              <a:ea typeface="楷体_GB2312" pitchFamily="49" charset="-122"/>
            </a:endParaRPr>
          </a:p>
        </p:txBody>
      </p:sp>
      <p:pic>
        <p:nvPicPr>
          <p:cNvPr id="333835" name="Picture 1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667000" y="3962401"/>
            <a:ext cx="6629400" cy="2428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4850" name="Rectangle 2"/>
          <p:cNvSpPr>
            <a:spLocks noGrp="1" noChangeArrowheads="1"/>
          </p:cNvSpPr>
          <p:nvPr>
            <p:ph type="title"/>
          </p:nvPr>
        </p:nvSpPr>
        <p:spPr/>
        <p:txBody>
          <a:bodyPr/>
          <a:lstStyle/>
          <a:p>
            <a:r>
              <a:rPr lang="zh-CN" altLang="en-US">
                <a:ea typeface="楷体_GB2312" pitchFamily="49" charset="-122"/>
              </a:rPr>
              <a:t>扩散法</a:t>
            </a:r>
            <a:endParaRPr lang="zh-CN" altLang="en-US">
              <a:ea typeface="楷体_GB2312" pitchFamily="49" charset="-122"/>
            </a:endParaRPr>
          </a:p>
        </p:txBody>
      </p:sp>
      <p:sp>
        <p:nvSpPr>
          <p:cNvPr id="334851" name="Rectangle 3"/>
          <p:cNvSpPr>
            <a:spLocks noGrp="1" noChangeArrowheads="1"/>
          </p:cNvSpPr>
          <p:nvPr>
            <p:ph type="body" idx="1"/>
          </p:nvPr>
        </p:nvSpPr>
        <p:spPr/>
        <p:txBody>
          <a:bodyPr/>
          <a:lstStyle/>
          <a:p>
            <a:pPr>
              <a:spcBef>
                <a:spcPct val="0"/>
              </a:spcBef>
              <a:buClrTx/>
              <a:buFontTx/>
              <a:buNone/>
            </a:pPr>
            <a:r>
              <a:rPr lang="en-US" altLang="zh-CN" b="0">
                <a:latin typeface="楷体_GB2312" pitchFamily="49" charset="-122"/>
                <a:ea typeface="楷体_GB2312" pitchFamily="49" charset="-122"/>
              </a:rPr>
              <a:t>  pn</a:t>
            </a:r>
            <a:r>
              <a:rPr lang="zh-CN" altLang="en-US" b="0">
                <a:latin typeface="楷体_GB2312" pitchFamily="49" charset="-122"/>
                <a:ea typeface="楷体_GB2312" pitchFamily="49" charset="-122"/>
              </a:rPr>
              <a:t>结的杂质分布一般可以归纳为两种情况，即突变结和线性缓变结。合金结和高表面浓度的浅扩散结 </a:t>
            </a:r>
            <a:r>
              <a:rPr lang="en-US" altLang="zh-CN" b="0">
                <a:latin typeface="楷体_GB2312" pitchFamily="49" charset="-122"/>
                <a:ea typeface="楷体_GB2312" pitchFamily="49" charset="-122"/>
              </a:rPr>
              <a:t>(p+ n</a:t>
            </a:r>
            <a:r>
              <a:rPr lang="zh-CN" altLang="en-US" b="0">
                <a:latin typeface="楷体_GB2312" pitchFamily="49" charset="-122"/>
                <a:ea typeface="楷体_GB2312" pitchFamily="49" charset="-122"/>
              </a:rPr>
              <a:t>结或</a:t>
            </a:r>
            <a:r>
              <a:rPr lang="en-US" altLang="zh-CN" b="0">
                <a:latin typeface="楷体_GB2312" pitchFamily="49" charset="-122"/>
                <a:ea typeface="楷体_GB2312" pitchFamily="49" charset="-122"/>
              </a:rPr>
              <a:t>n+ p</a:t>
            </a:r>
            <a:r>
              <a:rPr lang="zh-CN" altLang="en-US" b="0">
                <a:latin typeface="楷体_GB2312" pitchFamily="49" charset="-122"/>
                <a:ea typeface="楷体_GB2312" pitchFamily="49" charset="-122"/>
              </a:rPr>
              <a:t>结</a:t>
            </a:r>
            <a:r>
              <a:rPr lang="en-US" altLang="zh-CN" b="0">
                <a:latin typeface="楷体_GB2312" pitchFamily="49" charset="-122"/>
                <a:ea typeface="楷体_GB2312" pitchFamily="49" charset="-122"/>
              </a:rPr>
              <a:t>)</a:t>
            </a:r>
            <a:r>
              <a:rPr lang="zh-CN" altLang="en-US" b="0">
                <a:latin typeface="楷体_GB2312" pitchFamily="49" charset="-122"/>
                <a:ea typeface="楷体_GB2312" pitchFamily="49" charset="-122"/>
              </a:rPr>
              <a:t>一般可认为是突变结。而低表面浓度的深扩散结，一般可以认为是线性缓变结。</a:t>
            </a:r>
            <a:endParaRPr lang="zh-CN" altLang="en-US" b="0">
              <a:latin typeface="楷体_GB2312" pitchFamily="49" charset="-122"/>
              <a:ea typeface="楷体_GB2312" pitchFamily="49" charset="-122"/>
            </a:endParaRPr>
          </a:p>
          <a:p>
            <a:endParaRPr lang="zh-CN" altLang="en-US">
              <a:latin typeface="楷体_GB2312" pitchFamily="49" charset="-122"/>
              <a:ea typeface="楷体_GB2312" pitchFamily="49" charset="-122"/>
            </a:endParaRP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标题 9217"/>
          <p:cNvSpPr>
            <a:spLocks noGrp="1" noRot="1"/>
          </p:cNvSpPr>
          <p:nvPr>
            <p:ph type="title"/>
          </p:nvPr>
        </p:nvSpPr>
        <p:spPr>
          <a:xfrm flipV="1">
            <a:off x="2063750" y="487363"/>
            <a:ext cx="8064500" cy="76200"/>
          </a:xfrm>
        </p:spPr>
        <p:txBody>
          <a:bodyPr anchor="ctr" anchorCtr="0"/>
          <a:p>
            <a:r>
              <a:rPr lang="en-US" altLang="zh-CN"/>
              <a:t>   </a:t>
            </a:r>
            <a:endParaRPr lang="en-US" altLang="zh-CN"/>
          </a:p>
        </p:txBody>
      </p:sp>
      <p:sp>
        <p:nvSpPr>
          <p:cNvPr id="9219" name="文本占位符 9218"/>
          <p:cNvSpPr>
            <a:spLocks noGrp="1" noRot="1"/>
          </p:cNvSpPr>
          <p:nvPr>
            <p:ph type="body" idx="1"/>
          </p:nvPr>
        </p:nvSpPr>
        <p:spPr>
          <a:xfrm>
            <a:off x="2209800" y="609600"/>
            <a:ext cx="7772400" cy="5486400"/>
          </a:xfrm>
        </p:spPr>
        <p:txBody>
          <a:bodyPr/>
          <a:p>
            <a:pPr algn="just">
              <a:lnSpc>
                <a:spcPct val="90000"/>
              </a:lnSpc>
              <a:buClr>
                <a:schemeClr val="tx1"/>
              </a:buClr>
              <a:buNone/>
            </a:pPr>
            <a:r>
              <a:rPr lang="en-US" altLang="zh-CN" sz="3600" b="1">
                <a:solidFill>
                  <a:schemeClr val="folHlink"/>
                </a:solidFill>
                <a:ea typeface="华文隶书" panose="02010800040101010101" pitchFamily="2" charset="-122"/>
              </a:rPr>
              <a:t>      </a:t>
            </a:r>
            <a:r>
              <a:rPr lang="en-US" altLang="zh-CN" b="1">
                <a:solidFill>
                  <a:srgbClr val="C00000"/>
                </a:solidFill>
                <a:ea typeface="华文隶书" panose="02010800040101010101" pitchFamily="2" charset="-122"/>
              </a:rPr>
              <a:t>★    </a:t>
            </a:r>
            <a:r>
              <a:rPr lang="en-US" altLang="zh-CN" b="1">
                <a:solidFill>
                  <a:srgbClr val="C00000"/>
                </a:solidFill>
                <a:latin typeface="华文隶书" panose="02010800040101010101" pitchFamily="2" charset="-122"/>
                <a:ea typeface="华文隶书" panose="02010800040101010101" pitchFamily="2" charset="-122"/>
              </a:rPr>
              <a:t>p-n</a:t>
            </a:r>
            <a:r>
              <a:rPr lang="zh-CN" altLang="en-US" b="1" dirty="0">
                <a:solidFill>
                  <a:srgbClr val="C00000"/>
                </a:solidFill>
                <a:latin typeface="华文隶书" panose="02010800040101010101" pitchFamily="2" charset="-122"/>
                <a:ea typeface="华文隶书" panose="02010800040101010101" pitchFamily="2" charset="-122"/>
              </a:rPr>
              <a:t>结的形成</a:t>
            </a:r>
            <a:endParaRPr lang="zh-CN" altLang="en-US" b="1" dirty="0">
              <a:solidFill>
                <a:srgbClr val="C00000"/>
              </a:solidFill>
              <a:latin typeface="华文隶书" panose="02010800040101010101" pitchFamily="2" charset="-122"/>
              <a:ea typeface="华文隶书" panose="02010800040101010101" pitchFamily="2" charset="-122"/>
            </a:endParaRPr>
          </a:p>
          <a:p>
            <a:pPr algn="just">
              <a:lnSpc>
                <a:spcPct val="90000"/>
              </a:lnSpc>
              <a:buClr>
                <a:schemeClr val="tx1"/>
              </a:buClr>
            </a:pPr>
            <a:r>
              <a:rPr lang="en-US" altLang="zh-CN" b="1" err="1">
                <a:solidFill>
                  <a:srgbClr val="C00000"/>
                </a:solidFill>
                <a:latin typeface="宋体" panose="02010600030101010101" pitchFamily="2" charset="-122"/>
              </a:rPr>
              <a:t>p-n</a:t>
            </a:r>
            <a:r>
              <a:rPr lang="zh-CN" altLang="en-US" b="1" dirty="0">
                <a:solidFill>
                  <a:srgbClr val="C00000"/>
                </a:solidFill>
                <a:latin typeface="宋体" panose="02010600030101010101" pitchFamily="2" charset="-122"/>
              </a:rPr>
              <a:t>结的形成</a:t>
            </a:r>
            <a:endParaRPr lang="zh-CN" altLang="en-US" b="1" dirty="0">
              <a:solidFill>
                <a:srgbClr val="C00000"/>
              </a:solidFill>
              <a:latin typeface="宋体" panose="02010600030101010101" pitchFamily="2" charset="-122"/>
            </a:endParaRPr>
          </a:p>
          <a:p>
            <a:pPr algn="just">
              <a:lnSpc>
                <a:spcPct val="90000"/>
              </a:lnSpc>
              <a:buClr>
                <a:schemeClr val="tx1"/>
              </a:buClr>
              <a:buNone/>
            </a:pPr>
            <a:r>
              <a:rPr lang="zh-CN" altLang="en-US" b="1">
                <a:solidFill>
                  <a:srgbClr val="00FF00"/>
                </a:solidFill>
                <a:latin typeface="华文楷体" panose="02010600040101010101" pitchFamily="2" charset="-122"/>
                <a:ea typeface="华文楷体" panose="02010600040101010101" pitchFamily="2" charset="-122"/>
                <a:sym typeface="Wingdings" panose="05000000000000000000" pitchFamily="2" charset="2"/>
              </a:rPr>
              <a:t>   ♦</a:t>
            </a:r>
            <a:r>
              <a:rPr lang="zh-CN" altLang="en-US" b="1" dirty="0">
                <a:latin typeface="华文楷体" panose="02010600040101010101" pitchFamily="2" charset="-122"/>
                <a:ea typeface="华文楷体" panose="02010600040101010101" pitchFamily="2" charset="-122"/>
              </a:rPr>
              <a:t>控制同一块半导体的掺杂</a:t>
            </a:r>
            <a:r>
              <a:rPr lang="en-US" altLang="zh-CN" b="1">
                <a:latin typeface="华文楷体" panose="02010600040101010101" pitchFamily="2" charset="-122"/>
                <a:ea typeface="华文楷体" panose="02010600040101010101" pitchFamily="2" charset="-122"/>
              </a:rPr>
              <a:t>,</a:t>
            </a:r>
            <a:r>
              <a:rPr lang="zh-CN" altLang="en-US" b="1" dirty="0">
                <a:latin typeface="华文楷体" panose="02010600040101010101" pitchFamily="2" charset="-122"/>
                <a:ea typeface="华文楷体" panose="02010600040101010101" pitchFamily="2" charset="-122"/>
              </a:rPr>
              <a:t>形成</a:t>
            </a:r>
            <a:r>
              <a:rPr lang="en-US" altLang="zh-CN" b="1" err="1">
                <a:latin typeface="华文楷体" panose="02010600040101010101" pitchFamily="2" charset="-122"/>
                <a:ea typeface="华文楷体" panose="02010600040101010101" pitchFamily="2" charset="-122"/>
              </a:rPr>
              <a:t>pn</a:t>
            </a:r>
            <a:r>
              <a:rPr lang="zh-CN" altLang="en-US" b="1" dirty="0">
                <a:latin typeface="华文楷体" panose="02010600040101010101" pitchFamily="2" charset="-122"/>
                <a:ea typeface="华文楷体" panose="02010600040101010101" pitchFamily="2" charset="-122"/>
              </a:rPr>
              <a:t>结   </a:t>
            </a:r>
            <a:r>
              <a:rPr lang="en-US" altLang="zh-CN" b="1">
                <a:latin typeface="华文楷体" panose="02010600040101010101" pitchFamily="2" charset="-122"/>
                <a:ea typeface="华文楷体" panose="02010600040101010101" pitchFamily="2" charset="-122"/>
              </a:rPr>
              <a:t>(</a:t>
            </a:r>
            <a:r>
              <a:rPr lang="zh-CN" altLang="en-US" b="1" dirty="0">
                <a:latin typeface="华文楷体" panose="02010600040101010101" pitchFamily="2" charset="-122"/>
                <a:ea typeface="华文楷体" panose="02010600040101010101" pitchFamily="2" charset="-122"/>
              </a:rPr>
              <a:t>合金法</a:t>
            </a:r>
            <a:r>
              <a:rPr lang="en-US" altLang="zh-CN" b="1">
                <a:latin typeface="华文楷体" panose="02010600040101010101" pitchFamily="2" charset="-122"/>
                <a:ea typeface="华文楷体" panose="02010600040101010101" pitchFamily="2" charset="-122"/>
              </a:rPr>
              <a:t>; </a:t>
            </a:r>
            <a:r>
              <a:rPr lang="zh-CN" altLang="en-US" b="1" dirty="0">
                <a:latin typeface="华文楷体" panose="02010600040101010101" pitchFamily="2" charset="-122"/>
                <a:ea typeface="华文楷体" panose="02010600040101010101" pitchFamily="2" charset="-122"/>
              </a:rPr>
              <a:t>扩散法</a:t>
            </a:r>
            <a:r>
              <a:rPr lang="en-US" altLang="zh-CN" b="1">
                <a:latin typeface="华文楷体" panose="02010600040101010101" pitchFamily="2" charset="-122"/>
                <a:ea typeface="华文楷体" panose="02010600040101010101" pitchFamily="2" charset="-122"/>
              </a:rPr>
              <a:t>; </a:t>
            </a:r>
            <a:r>
              <a:rPr lang="zh-CN" altLang="en-US" b="1" dirty="0">
                <a:latin typeface="华文楷体" panose="02010600040101010101" pitchFamily="2" charset="-122"/>
                <a:ea typeface="华文楷体" panose="02010600040101010101" pitchFamily="2" charset="-122"/>
              </a:rPr>
              <a:t>离子注入法等</a:t>
            </a:r>
            <a:r>
              <a:rPr lang="en-US" altLang="zh-CN" b="1">
                <a:latin typeface="华文楷体" panose="02010600040101010101" pitchFamily="2" charset="-122"/>
                <a:ea typeface="华文楷体" panose="02010600040101010101" pitchFamily="2" charset="-122"/>
              </a:rPr>
              <a:t>)</a:t>
            </a:r>
            <a:endParaRPr lang="en-US" altLang="zh-CN" b="1">
              <a:latin typeface="华文楷体" panose="02010600040101010101" pitchFamily="2" charset="-122"/>
              <a:ea typeface="华文楷体" panose="02010600040101010101" pitchFamily="2" charset="-122"/>
              <a:sym typeface="Wingdings" panose="05000000000000000000" pitchFamily="2" charset="2"/>
            </a:endParaRPr>
          </a:p>
          <a:p>
            <a:pPr algn="just">
              <a:lnSpc>
                <a:spcPct val="90000"/>
              </a:lnSpc>
              <a:buClr>
                <a:schemeClr val="tx1"/>
              </a:buClr>
              <a:buNone/>
            </a:pPr>
            <a:r>
              <a:rPr lang="en-US" altLang="zh-CN" b="1">
                <a:solidFill>
                  <a:srgbClr val="00FF00"/>
                </a:solidFill>
                <a:latin typeface="华文楷体" panose="02010600040101010101" pitchFamily="2" charset="-122"/>
                <a:ea typeface="华文楷体" panose="02010600040101010101" pitchFamily="2" charset="-122"/>
                <a:sym typeface="Wingdings" panose="05000000000000000000" pitchFamily="2" charset="2"/>
              </a:rPr>
              <a:t>   </a:t>
            </a:r>
            <a:r>
              <a:rPr lang="zh-CN" altLang="en-US" b="1">
                <a:solidFill>
                  <a:srgbClr val="00FF00"/>
                </a:solidFill>
                <a:latin typeface="华文楷体" panose="02010600040101010101" pitchFamily="2" charset="-122"/>
                <a:ea typeface="华文楷体" panose="02010600040101010101" pitchFamily="2" charset="-122"/>
                <a:sym typeface="Wingdings" panose="05000000000000000000" pitchFamily="2" charset="2"/>
              </a:rPr>
              <a:t>♦</a:t>
            </a:r>
            <a:r>
              <a:rPr lang="zh-CN" altLang="en-US" b="1" dirty="0">
                <a:latin typeface="华文楷体" panose="02010600040101010101" pitchFamily="2" charset="-122"/>
                <a:ea typeface="华文楷体" panose="02010600040101010101" pitchFamily="2" charset="-122"/>
                <a:sym typeface="Wingdings" panose="05000000000000000000" pitchFamily="2" charset="2"/>
              </a:rPr>
              <a:t>在</a:t>
            </a:r>
            <a:r>
              <a:rPr lang="en-US" altLang="zh-CN" b="1" err="1">
                <a:latin typeface="华文楷体" panose="02010600040101010101" pitchFamily="2" charset="-122"/>
                <a:ea typeface="华文楷体" panose="02010600040101010101" pitchFamily="2" charset="-122"/>
                <a:sym typeface="Wingdings" panose="05000000000000000000" pitchFamily="2" charset="2"/>
              </a:rPr>
              <a:t>p(n</a:t>
            </a:r>
            <a:r>
              <a:rPr lang="en-US" altLang="zh-CN" b="1">
                <a:latin typeface="华文楷体" panose="02010600040101010101" pitchFamily="2" charset="-122"/>
                <a:ea typeface="华文楷体" panose="02010600040101010101" pitchFamily="2" charset="-122"/>
                <a:sym typeface="Wingdings" panose="05000000000000000000" pitchFamily="2" charset="2"/>
              </a:rPr>
              <a:t>)</a:t>
            </a:r>
            <a:r>
              <a:rPr lang="zh-CN" altLang="en-US" b="1" dirty="0">
                <a:latin typeface="华文楷体" panose="02010600040101010101" pitchFamily="2" charset="-122"/>
                <a:ea typeface="华文楷体" panose="02010600040101010101" pitchFamily="2" charset="-122"/>
                <a:sym typeface="Wingdings" panose="05000000000000000000" pitchFamily="2" charset="2"/>
              </a:rPr>
              <a:t>型半导体上外延生长</a:t>
            </a:r>
            <a:r>
              <a:rPr lang="en-US" altLang="zh-CN" b="1" err="1">
                <a:latin typeface="华文楷体" panose="02010600040101010101" pitchFamily="2" charset="-122"/>
                <a:ea typeface="华文楷体" panose="02010600040101010101" pitchFamily="2" charset="-122"/>
                <a:sym typeface="Wingdings" panose="05000000000000000000" pitchFamily="2" charset="2"/>
              </a:rPr>
              <a:t>n(p</a:t>
            </a:r>
            <a:r>
              <a:rPr lang="en-US" altLang="zh-CN" b="1">
                <a:latin typeface="华文楷体" panose="02010600040101010101" pitchFamily="2" charset="-122"/>
                <a:ea typeface="华文楷体" panose="02010600040101010101" pitchFamily="2" charset="-122"/>
                <a:sym typeface="Wingdings" panose="05000000000000000000" pitchFamily="2" charset="2"/>
              </a:rPr>
              <a:t>)</a:t>
            </a:r>
            <a:r>
              <a:rPr lang="zh-CN" altLang="en-US" b="1" dirty="0">
                <a:latin typeface="华文楷体" panose="02010600040101010101" pitchFamily="2" charset="-122"/>
                <a:ea typeface="华文楷体" panose="02010600040101010101" pitchFamily="2" charset="-122"/>
                <a:sym typeface="Wingdings" panose="05000000000000000000" pitchFamily="2" charset="2"/>
              </a:rPr>
              <a:t>型半导体</a:t>
            </a:r>
            <a:endParaRPr lang="zh-CN" altLang="en-US" b="1">
              <a:latin typeface="华文楷体" panose="02010600040101010101" pitchFamily="2" charset="-122"/>
              <a:ea typeface="华文楷体" panose="02010600040101010101" pitchFamily="2" charset="-122"/>
            </a:endParaRPr>
          </a:p>
          <a:p>
            <a:pPr algn="just">
              <a:lnSpc>
                <a:spcPct val="90000"/>
              </a:lnSpc>
              <a:buClr>
                <a:schemeClr val="tx1"/>
              </a:buClr>
            </a:pPr>
            <a:r>
              <a:rPr lang="zh-CN" altLang="en-US" b="1" dirty="0">
                <a:solidFill>
                  <a:srgbClr val="C00000"/>
                </a:solidFill>
                <a:latin typeface="宋体" panose="02010600030101010101" pitchFamily="2" charset="-122"/>
              </a:rPr>
              <a:t>同质结和异质结</a:t>
            </a:r>
            <a:endParaRPr lang="zh-CN" altLang="en-US" b="1" dirty="0">
              <a:solidFill>
                <a:srgbClr val="C00000"/>
              </a:solidFill>
              <a:latin typeface="宋体" panose="02010600030101010101" pitchFamily="2" charset="-122"/>
            </a:endParaRPr>
          </a:p>
          <a:p>
            <a:pPr algn="just">
              <a:lnSpc>
                <a:spcPct val="90000"/>
              </a:lnSpc>
              <a:buClr>
                <a:schemeClr val="tx1"/>
              </a:buClr>
              <a:buNone/>
            </a:pPr>
            <a:r>
              <a:rPr lang="zh-CN" altLang="en-US" b="1">
                <a:solidFill>
                  <a:srgbClr val="00FF00"/>
                </a:solidFill>
                <a:latin typeface="华文楷体" panose="02010600040101010101" pitchFamily="2" charset="-122"/>
                <a:ea typeface="华文楷体" panose="02010600040101010101" pitchFamily="2" charset="-122"/>
                <a:sym typeface="Wingdings" panose="05000000000000000000" pitchFamily="2" charset="2"/>
              </a:rPr>
              <a:t>   ♦</a:t>
            </a:r>
            <a:r>
              <a:rPr lang="zh-CN" altLang="en-US" b="1" dirty="0">
                <a:latin typeface="华文楷体" panose="02010600040101010101" pitchFamily="2" charset="-122"/>
                <a:ea typeface="华文楷体" panose="02010600040101010101" pitchFamily="2" charset="-122"/>
              </a:rPr>
              <a:t>由导电类型相反的同一种半导体单晶材料组成的</a:t>
            </a:r>
            <a:r>
              <a:rPr lang="en-US" altLang="zh-CN" b="1" err="1">
                <a:latin typeface="华文楷体" panose="02010600040101010101" pitchFamily="2" charset="-122"/>
                <a:ea typeface="华文楷体" panose="02010600040101010101" pitchFamily="2" charset="-122"/>
              </a:rPr>
              <a:t>pn</a:t>
            </a:r>
            <a:r>
              <a:rPr lang="zh-CN" altLang="en-US" b="1" dirty="0">
                <a:latin typeface="华文楷体" panose="02010600040101010101" pitchFamily="2" charset="-122"/>
                <a:ea typeface="华文楷体" panose="02010600040101010101" pitchFamily="2" charset="-122"/>
              </a:rPr>
              <a:t>结</a:t>
            </a:r>
            <a:r>
              <a:rPr lang="en-US" altLang="zh-CN" b="1">
                <a:latin typeface="华文楷体" panose="02010600040101010101" pitchFamily="2" charset="-122"/>
                <a:ea typeface="华文楷体" panose="02010600040101010101" pitchFamily="2" charset="-122"/>
              </a:rPr>
              <a:t>--</a:t>
            </a:r>
            <a:r>
              <a:rPr lang="zh-CN" altLang="en-US" b="1" dirty="0">
                <a:solidFill>
                  <a:srgbClr val="C00000"/>
                </a:solidFill>
                <a:latin typeface="华文楷体" panose="02010600040101010101" pitchFamily="2" charset="-122"/>
                <a:ea typeface="华文楷体" panose="02010600040101010101" pitchFamily="2" charset="-122"/>
              </a:rPr>
              <a:t>同质结</a:t>
            </a:r>
            <a:endParaRPr lang="zh-CN" altLang="en-US" b="1" dirty="0">
              <a:solidFill>
                <a:schemeClr val="folHlink"/>
              </a:solidFill>
              <a:latin typeface="华文楷体" panose="02010600040101010101" pitchFamily="2" charset="-122"/>
              <a:ea typeface="华文楷体" panose="02010600040101010101" pitchFamily="2" charset="-122"/>
            </a:endParaRPr>
          </a:p>
          <a:p>
            <a:pPr algn="just">
              <a:lnSpc>
                <a:spcPct val="90000"/>
              </a:lnSpc>
              <a:buClr>
                <a:schemeClr val="tx1"/>
              </a:buClr>
              <a:buNone/>
            </a:pPr>
            <a:r>
              <a:rPr lang="zh-CN" altLang="en-US" b="1">
                <a:solidFill>
                  <a:srgbClr val="00FF00"/>
                </a:solidFill>
                <a:latin typeface="华文楷体" panose="02010600040101010101" pitchFamily="2" charset="-122"/>
                <a:ea typeface="华文楷体" panose="02010600040101010101" pitchFamily="2" charset="-122"/>
                <a:sym typeface="Wingdings" panose="05000000000000000000" pitchFamily="2" charset="2"/>
              </a:rPr>
              <a:t>   ♦</a:t>
            </a:r>
            <a:r>
              <a:rPr lang="zh-CN" altLang="en-US" b="1" dirty="0">
                <a:latin typeface="华文楷体" panose="02010600040101010101" pitchFamily="2" charset="-122"/>
                <a:ea typeface="华文楷体" panose="02010600040101010101" pitchFamily="2" charset="-122"/>
              </a:rPr>
              <a:t>由两种不同的半导体单晶材料组成的结</a:t>
            </a:r>
            <a:r>
              <a:rPr lang="en-US" altLang="zh-CN" b="1">
                <a:latin typeface="华文楷体" panose="02010600040101010101" pitchFamily="2" charset="-122"/>
                <a:ea typeface="华文楷体" panose="02010600040101010101" pitchFamily="2" charset="-122"/>
              </a:rPr>
              <a:t>—</a:t>
            </a:r>
            <a:r>
              <a:rPr lang="zh-CN" altLang="en-US" b="1" dirty="0">
                <a:solidFill>
                  <a:srgbClr val="C00000"/>
                </a:solidFill>
                <a:latin typeface="华文楷体" panose="02010600040101010101" pitchFamily="2" charset="-122"/>
                <a:ea typeface="华文楷体" panose="02010600040101010101" pitchFamily="2" charset="-122"/>
              </a:rPr>
              <a:t>异质结</a:t>
            </a:r>
            <a:endParaRPr lang="zh-CN" altLang="en-US" b="1" dirty="0">
              <a:solidFill>
                <a:srgbClr val="C00000"/>
              </a:solidFill>
              <a:latin typeface="华文楷体" panose="02010600040101010101" pitchFamily="2" charset="-122"/>
              <a:ea typeface="华文楷体" panose="02010600040101010101" pitchFamily="2" charset="-122"/>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7" name="文本占位符 11266"/>
          <p:cNvSpPr>
            <a:spLocks noGrp="1" noRot="1"/>
          </p:cNvSpPr>
          <p:nvPr>
            <p:ph type="body" idx="1"/>
          </p:nvPr>
        </p:nvSpPr>
        <p:spPr>
          <a:xfrm>
            <a:off x="2209800" y="765175"/>
            <a:ext cx="7772400" cy="5330825"/>
          </a:xfrm>
        </p:spPr>
        <p:txBody>
          <a:bodyPr/>
          <a:p>
            <a:pPr algn="just">
              <a:buClr>
                <a:schemeClr val="tx1"/>
              </a:buClr>
            </a:pPr>
            <a:r>
              <a:rPr lang="zh-CN" altLang="en-US" sz="2800" b="1" dirty="0"/>
              <a:t>工艺简介</a:t>
            </a:r>
            <a:r>
              <a:rPr lang="en-US" altLang="zh-CN" sz="2800" b="1"/>
              <a:t>: </a:t>
            </a:r>
            <a:endParaRPr lang="en-US" altLang="zh-CN" sz="2800" b="1"/>
          </a:p>
          <a:p>
            <a:pPr algn="just">
              <a:buClr>
                <a:schemeClr val="tx1"/>
              </a:buClr>
              <a:buNone/>
            </a:pPr>
            <a:r>
              <a:rPr lang="en-US" altLang="zh-CN" sz="2800" b="1">
                <a:solidFill>
                  <a:srgbClr val="00FF00"/>
                </a:solidFill>
                <a:latin typeface="华文楷体" panose="02010600040101010101" pitchFamily="2" charset="-122"/>
                <a:ea typeface="华文楷体" panose="02010600040101010101" pitchFamily="2" charset="-122"/>
                <a:sym typeface="Wingdings" panose="05000000000000000000" pitchFamily="2" charset="2"/>
              </a:rPr>
              <a:t>    </a:t>
            </a:r>
            <a:r>
              <a:rPr lang="zh-CN" altLang="en-US" sz="2800" b="1">
                <a:solidFill>
                  <a:srgbClr val="00FF00"/>
                </a:solidFill>
                <a:latin typeface="华文楷体" panose="02010600040101010101" pitchFamily="2" charset="-122"/>
                <a:ea typeface="华文楷体" panose="02010600040101010101" pitchFamily="2" charset="-122"/>
                <a:sym typeface="Wingdings" panose="05000000000000000000" pitchFamily="2" charset="2"/>
              </a:rPr>
              <a:t>♦ </a:t>
            </a:r>
            <a:r>
              <a:rPr lang="zh-CN" altLang="en-US" sz="2800" b="1" dirty="0">
                <a:solidFill>
                  <a:schemeClr val="folHlink"/>
                </a:solidFill>
              </a:rPr>
              <a:t>合金法</a:t>
            </a:r>
            <a:r>
              <a:rPr lang="en-US" altLang="zh-CN" sz="2800" b="1">
                <a:latin typeface="Arial" panose="020B0604020202020204" pitchFamily="34" charset="0"/>
              </a:rPr>
              <a:t>—</a:t>
            </a:r>
            <a:r>
              <a:rPr lang="zh-CN" altLang="en-US" sz="2800" b="1" dirty="0"/>
              <a:t>合金烧结方法形成</a:t>
            </a:r>
            <a:r>
              <a:rPr lang="en-US" altLang="zh-CN" sz="2800" b="1" err="1"/>
              <a:t>pn</a:t>
            </a:r>
            <a:r>
              <a:rPr lang="zh-CN" altLang="en-US" sz="2800" b="1" dirty="0"/>
              <a:t>结</a:t>
            </a:r>
            <a:endParaRPr lang="zh-CN" altLang="en-US" sz="2800" b="1" dirty="0">
              <a:solidFill>
                <a:schemeClr val="folHlink"/>
              </a:solidFill>
            </a:endParaRPr>
          </a:p>
          <a:p>
            <a:pPr algn="just">
              <a:buClr>
                <a:schemeClr val="tx1"/>
              </a:buClr>
              <a:buNone/>
            </a:pPr>
            <a:r>
              <a:rPr lang="zh-CN" altLang="en-US" sz="2800" b="1">
                <a:solidFill>
                  <a:srgbClr val="00FF00"/>
                </a:solidFill>
                <a:latin typeface="华文楷体" panose="02010600040101010101" pitchFamily="2" charset="-122"/>
                <a:ea typeface="华文楷体" panose="02010600040101010101" pitchFamily="2" charset="-122"/>
                <a:sym typeface="Wingdings" panose="05000000000000000000" pitchFamily="2" charset="2"/>
              </a:rPr>
              <a:t>    ♦ </a:t>
            </a:r>
            <a:r>
              <a:rPr lang="zh-CN" altLang="en-US" sz="2800" b="1" dirty="0">
                <a:solidFill>
                  <a:schemeClr val="folHlink"/>
                </a:solidFill>
              </a:rPr>
              <a:t>扩散法</a:t>
            </a:r>
            <a:r>
              <a:rPr lang="en-US" altLang="zh-CN" sz="2800" b="1">
                <a:latin typeface="Arial" panose="020B0604020202020204" pitchFamily="34" charset="0"/>
              </a:rPr>
              <a:t>—</a:t>
            </a:r>
            <a:r>
              <a:rPr lang="zh-CN" altLang="en-US" sz="2800" b="1" dirty="0"/>
              <a:t>高温下热扩散</a:t>
            </a:r>
            <a:r>
              <a:rPr lang="en-US" altLang="zh-CN" sz="2800" b="1"/>
              <a:t>,</a:t>
            </a:r>
            <a:r>
              <a:rPr lang="zh-CN" altLang="en-US" sz="2800" b="1" dirty="0"/>
              <a:t>进行掺杂</a:t>
            </a:r>
            <a:endParaRPr lang="zh-CN" altLang="en-US" sz="2800" b="1" dirty="0">
              <a:solidFill>
                <a:schemeClr val="folHlink"/>
              </a:solidFill>
            </a:endParaRPr>
          </a:p>
          <a:p>
            <a:pPr algn="just">
              <a:buClr>
                <a:schemeClr val="tx1"/>
              </a:buClr>
              <a:buNone/>
            </a:pPr>
            <a:r>
              <a:rPr lang="zh-CN" altLang="en-US" sz="2800" b="1">
                <a:solidFill>
                  <a:srgbClr val="00FF00"/>
                </a:solidFill>
                <a:latin typeface="华文楷体" panose="02010600040101010101" pitchFamily="2" charset="-122"/>
                <a:ea typeface="华文楷体" panose="02010600040101010101" pitchFamily="2" charset="-122"/>
                <a:sym typeface="Wingdings" panose="05000000000000000000" pitchFamily="2" charset="2"/>
              </a:rPr>
              <a:t>    ♦</a:t>
            </a:r>
            <a:r>
              <a:rPr lang="zh-CN" altLang="en-US" sz="2800" b="1" dirty="0">
                <a:solidFill>
                  <a:schemeClr val="folHlink"/>
                </a:solidFill>
              </a:rPr>
              <a:t>离子注入法</a:t>
            </a:r>
            <a:r>
              <a:rPr lang="en-US" altLang="zh-CN" sz="2800" b="1">
                <a:latin typeface="Arial" panose="020B0604020202020204" pitchFamily="34" charset="0"/>
              </a:rPr>
              <a:t>—</a:t>
            </a:r>
            <a:r>
              <a:rPr lang="zh-CN" altLang="en-US" sz="2800" b="1" dirty="0"/>
              <a:t>将杂质离子轰击到半导体基片中掺杂分布主要由离子质量和注入离子的能量决定（典型的离子能量是</a:t>
            </a:r>
            <a:r>
              <a:rPr lang="en-US" altLang="zh-CN" sz="2800" b="1"/>
              <a:t>30-300keV,</a:t>
            </a:r>
            <a:r>
              <a:rPr lang="zh-CN" altLang="en-US" sz="2800" b="1" dirty="0"/>
              <a:t>注入剂量是在</a:t>
            </a:r>
            <a:r>
              <a:rPr lang="en-US" altLang="zh-CN" sz="2800" b="1"/>
              <a:t>10</a:t>
            </a:r>
            <a:r>
              <a:rPr lang="en-US" altLang="zh-CN" sz="2800" b="1" baseline="30000"/>
              <a:t>11</a:t>
            </a:r>
            <a:r>
              <a:rPr lang="en-US" altLang="zh-CN" sz="2800" b="1"/>
              <a:t>-10</a:t>
            </a:r>
            <a:r>
              <a:rPr lang="en-US" altLang="zh-CN" sz="2800" b="1" baseline="30000"/>
              <a:t>16</a:t>
            </a:r>
            <a:r>
              <a:rPr lang="zh-CN" altLang="en-US" sz="2800" b="1" dirty="0"/>
              <a:t>离子数</a:t>
            </a:r>
            <a:r>
              <a:rPr lang="en-US" altLang="zh-CN" sz="2800" b="1"/>
              <a:t>/cm2</a:t>
            </a:r>
            <a:r>
              <a:rPr lang="zh-CN" altLang="en-US" sz="2800" b="1" dirty="0"/>
              <a:t>范围），用于形成浅结</a:t>
            </a:r>
            <a:endParaRPr lang="zh-CN" altLang="en-US" sz="2800" b="1">
              <a:solidFill>
                <a:schemeClr val="folHlink"/>
              </a:solidFill>
            </a:endParaRPr>
          </a:p>
          <a:p>
            <a:pPr algn="just">
              <a:buClr>
                <a:schemeClr val="tx1"/>
              </a:buClr>
            </a:pPr>
            <a:r>
              <a:rPr lang="zh-CN" altLang="en-US" sz="2800" b="1" dirty="0"/>
              <a:t>杂质分布的简化</a:t>
            </a:r>
            <a:r>
              <a:rPr lang="en-US" altLang="zh-CN" sz="2800" b="1"/>
              <a:t>: </a:t>
            </a:r>
            <a:endParaRPr lang="en-US" altLang="zh-CN" sz="2800" b="1"/>
          </a:p>
          <a:p>
            <a:pPr algn="just">
              <a:buClr>
                <a:schemeClr val="tx1"/>
              </a:buClr>
              <a:buNone/>
            </a:pPr>
            <a:r>
              <a:rPr lang="en-US" altLang="zh-CN" sz="2800" b="1">
                <a:solidFill>
                  <a:srgbClr val="00FF00"/>
                </a:solidFill>
                <a:latin typeface="华文楷体" panose="02010600040101010101" pitchFamily="2" charset="-122"/>
                <a:ea typeface="华文楷体" panose="02010600040101010101" pitchFamily="2" charset="-122"/>
                <a:sym typeface="Wingdings" panose="05000000000000000000" pitchFamily="2" charset="2"/>
              </a:rPr>
              <a:t>    </a:t>
            </a:r>
            <a:r>
              <a:rPr lang="zh-CN" altLang="en-US" sz="2800" b="1">
                <a:solidFill>
                  <a:srgbClr val="00FF00"/>
                </a:solidFill>
                <a:latin typeface="华文楷体" panose="02010600040101010101" pitchFamily="2" charset="-122"/>
                <a:ea typeface="华文楷体" panose="02010600040101010101" pitchFamily="2" charset="-122"/>
                <a:sym typeface="Wingdings" panose="05000000000000000000" pitchFamily="2" charset="2"/>
              </a:rPr>
              <a:t>♦</a:t>
            </a:r>
            <a:r>
              <a:rPr lang="zh-CN" altLang="en-US" sz="2800" b="1" dirty="0">
                <a:solidFill>
                  <a:schemeClr val="folHlink"/>
                </a:solidFill>
              </a:rPr>
              <a:t>突变结</a:t>
            </a:r>
            <a:endParaRPr lang="zh-CN" altLang="en-US" sz="2800" b="1">
              <a:solidFill>
                <a:schemeClr val="folHlink"/>
              </a:solidFill>
            </a:endParaRPr>
          </a:p>
          <a:p>
            <a:pPr algn="just">
              <a:buClr>
                <a:schemeClr val="tx1"/>
              </a:buClr>
              <a:buNone/>
            </a:pPr>
            <a:r>
              <a:rPr lang="zh-CN" altLang="en-US" sz="2800" b="1">
                <a:solidFill>
                  <a:srgbClr val="00FF00"/>
                </a:solidFill>
                <a:latin typeface="华文楷体" panose="02010600040101010101" pitchFamily="2" charset="-122"/>
                <a:ea typeface="华文楷体" panose="02010600040101010101" pitchFamily="2" charset="-122"/>
                <a:sym typeface="Wingdings" panose="05000000000000000000" pitchFamily="2" charset="2"/>
              </a:rPr>
              <a:t>    ♦</a:t>
            </a:r>
            <a:r>
              <a:rPr lang="zh-CN" altLang="en-US" sz="2800" b="1" dirty="0">
                <a:solidFill>
                  <a:schemeClr val="folHlink"/>
                </a:solidFill>
              </a:rPr>
              <a:t>线性缓变结</a:t>
            </a:r>
            <a:endParaRPr lang="zh-CN" altLang="en-US" sz="2800" b="1" dirty="0">
              <a:solidFill>
                <a:schemeClr val="folHlink"/>
              </a:solidFill>
            </a:endParaRPr>
          </a:p>
        </p:txBody>
      </p:sp>
      <p:pic>
        <p:nvPicPr>
          <p:cNvPr id="11268" name="图片 11267"/>
          <p:cNvPicPr>
            <a:picLocks noChangeAspect="1"/>
          </p:cNvPicPr>
          <p:nvPr/>
        </p:nvPicPr>
        <p:blipFill>
          <a:blip r:embed="rId1"/>
          <a:stretch>
            <a:fillRect/>
          </a:stretch>
        </p:blipFill>
        <p:spPr>
          <a:xfrm>
            <a:off x="5159375" y="5013325"/>
            <a:ext cx="2276475" cy="571500"/>
          </a:xfrm>
          <a:prstGeom prst="rect">
            <a:avLst/>
          </a:prstGeom>
          <a:noFill/>
          <a:ln w="9525">
            <a:noFill/>
          </a:ln>
        </p:spPr>
      </p:pic>
      <p:pic>
        <p:nvPicPr>
          <p:cNvPr id="11269" name="图片 11268"/>
          <p:cNvPicPr>
            <a:picLocks noChangeAspect="1"/>
          </p:cNvPicPr>
          <p:nvPr/>
        </p:nvPicPr>
        <p:blipFill>
          <a:blip r:embed="rId2"/>
          <a:stretch>
            <a:fillRect/>
          </a:stretch>
        </p:blipFill>
        <p:spPr>
          <a:xfrm>
            <a:off x="5159375" y="5661025"/>
            <a:ext cx="2533650" cy="428625"/>
          </a:xfrm>
          <a:prstGeom prst="rect">
            <a:avLst/>
          </a:prstGeom>
          <a:noFill/>
          <a:ln w="9525">
            <a:noFill/>
          </a:ln>
        </p:spPr>
      </p:pic>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1778" name="Rectangle 2"/>
          <p:cNvSpPr>
            <a:spLocks noGrp="1" noChangeArrowheads="1"/>
          </p:cNvSpPr>
          <p:nvPr>
            <p:ph type="title"/>
          </p:nvPr>
        </p:nvSpPr>
        <p:spPr/>
        <p:txBody>
          <a:bodyPr/>
          <a:lstStyle/>
          <a:p>
            <a:r>
              <a:rPr lang="en-US" altLang="zh-CN" sz="3600">
                <a:solidFill>
                  <a:schemeClr val="tx1"/>
                </a:solidFill>
                <a:latin typeface="楷体_GB2312" pitchFamily="49" charset="-122"/>
                <a:ea typeface="楷体_GB2312" pitchFamily="49" charset="-122"/>
              </a:rPr>
              <a:t>6.1.2  </a:t>
            </a:r>
            <a:r>
              <a:rPr lang="zh-CN" altLang="en-US" sz="3600">
                <a:solidFill>
                  <a:schemeClr val="tx1"/>
                </a:solidFill>
                <a:latin typeface="楷体_GB2312" pitchFamily="49" charset="-122"/>
                <a:ea typeface="楷体_GB2312" pitchFamily="49" charset="-122"/>
              </a:rPr>
              <a:t>空间电荷区</a:t>
            </a:r>
            <a:r>
              <a:rPr lang="zh-CN" altLang="en-US" sz="2800">
                <a:solidFill>
                  <a:schemeClr val="bg1"/>
                </a:solidFill>
                <a:ea typeface="宋体" panose="02010600030101010101" pitchFamily="2" charset="-122"/>
              </a:rPr>
              <a:t> </a:t>
            </a:r>
            <a:br>
              <a:rPr lang="zh-CN" altLang="en-US" sz="2800">
                <a:solidFill>
                  <a:schemeClr val="bg1"/>
                </a:solidFill>
                <a:ea typeface="宋体" panose="02010600030101010101" pitchFamily="2" charset="-122"/>
              </a:rPr>
            </a:br>
            <a:endParaRPr lang="zh-CN" altLang="en-US" sz="2800">
              <a:solidFill>
                <a:schemeClr val="bg1"/>
              </a:solidFill>
              <a:ea typeface="宋体" panose="02010600030101010101" pitchFamily="2" charset="-122"/>
            </a:endParaRPr>
          </a:p>
        </p:txBody>
      </p:sp>
      <p:sp>
        <p:nvSpPr>
          <p:cNvPr id="331779" name="Rectangle 3"/>
          <p:cNvSpPr>
            <a:spLocks noGrp="1" noChangeArrowheads="1"/>
          </p:cNvSpPr>
          <p:nvPr>
            <p:ph type="body" idx="1"/>
          </p:nvPr>
        </p:nvSpPr>
        <p:spPr/>
        <p:txBody>
          <a:bodyPr/>
          <a:lstStyle/>
          <a:p>
            <a:r>
              <a:rPr lang="zh-CN" altLang="en-US" sz="2400" b="0">
                <a:latin typeface="楷体_GB2312" pitchFamily="49" charset="-122"/>
                <a:ea typeface="楷体_GB2312" pitchFamily="49" charset="-122"/>
              </a:rPr>
              <a:t>单独的</a:t>
            </a:r>
            <a:r>
              <a:rPr lang="en-US" altLang="zh-CN" sz="2400" b="0">
                <a:latin typeface="楷体_GB2312" pitchFamily="49" charset="-122"/>
                <a:ea typeface="楷体_GB2312" pitchFamily="49" charset="-122"/>
              </a:rPr>
              <a:t>n</a:t>
            </a:r>
            <a:r>
              <a:rPr lang="zh-CN" altLang="en-US" sz="2400" b="0">
                <a:latin typeface="楷体_GB2312" pitchFamily="49" charset="-122"/>
                <a:ea typeface="楷体_GB2312" pitchFamily="49" charset="-122"/>
              </a:rPr>
              <a:t>型或</a:t>
            </a:r>
            <a:r>
              <a:rPr lang="en-US" altLang="zh-CN" sz="2400" b="0">
                <a:latin typeface="楷体_GB2312" pitchFamily="49" charset="-122"/>
                <a:ea typeface="楷体_GB2312" pitchFamily="49" charset="-122"/>
              </a:rPr>
              <a:t>p</a:t>
            </a:r>
            <a:r>
              <a:rPr lang="zh-CN" altLang="en-US" sz="2400" b="0">
                <a:latin typeface="楷体_GB2312" pitchFamily="49" charset="-122"/>
                <a:ea typeface="楷体_GB2312" pitchFamily="49" charset="-122"/>
              </a:rPr>
              <a:t>型半导体是电中性的。当它们结合在一起形成</a:t>
            </a:r>
            <a:r>
              <a:rPr lang="en-US" altLang="zh-CN" sz="2400" b="0">
                <a:latin typeface="楷体_GB2312" pitchFamily="49" charset="-122"/>
                <a:ea typeface="楷体_GB2312" pitchFamily="49" charset="-122"/>
              </a:rPr>
              <a:t>pn</a:t>
            </a:r>
            <a:r>
              <a:rPr lang="zh-CN" altLang="en-US" sz="2400" b="0">
                <a:latin typeface="楷体_GB2312" pitchFamily="49" charset="-122"/>
                <a:ea typeface="楷体_GB2312" pitchFamily="49" charset="-122"/>
              </a:rPr>
              <a:t>结时，由于它们之间存在着载流子浓度梯度，导致了空穴从</a:t>
            </a:r>
            <a:r>
              <a:rPr lang="en-US" altLang="zh-CN" sz="2400" b="0">
                <a:latin typeface="楷体_GB2312" pitchFamily="49" charset="-122"/>
                <a:ea typeface="楷体_GB2312" pitchFamily="49" charset="-122"/>
              </a:rPr>
              <a:t>p</a:t>
            </a:r>
            <a:r>
              <a:rPr lang="zh-CN" altLang="en-US" sz="2400" b="0">
                <a:latin typeface="楷体_GB2312" pitchFamily="49" charset="-122"/>
                <a:ea typeface="楷体_GB2312" pitchFamily="49" charset="-122"/>
              </a:rPr>
              <a:t>区到</a:t>
            </a:r>
            <a:r>
              <a:rPr lang="en-US" altLang="zh-CN" sz="2400" b="0">
                <a:latin typeface="楷体_GB2312" pitchFamily="49" charset="-122"/>
                <a:ea typeface="楷体_GB2312" pitchFamily="49" charset="-122"/>
              </a:rPr>
              <a:t>n</a:t>
            </a:r>
            <a:r>
              <a:rPr lang="zh-CN" altLang="en-US" sz="2400" b="0">
                <a:latin typeface="楷体_GB2312" pitchFamily="49" charset="-122"/>
                <a:ea typeface="楷体_GB2312" pitchFamily="49" charset="-122"/>
              </a:rPr>
              <a:t>区、电子从</a:t>
            </a:r>
            <a:r>
              <a:rPr lang="en-US" altLang="zh-CN" sz="2400" b="0">
                <a:latin typeface="楷体_GB2312" pitchFamily="49" charset="-122"/>
                <a:ea typeface="楷体_GB2312" pitchFamily="49" charset="-122"/>
              </a:rPr>
              <a:t>n</a:t>
            </a:r>
            <a:r>
              <a:rPr lang="zh-CN" altLang="en-US" sz="2400" b="0">
                <a:latin typeface="楷体_GB2312" pitchFamily="49" charset="-122"/>
                <a:ea typeface="楷体_GB2312" pitchFamily="49" charset="-122"/>
              </a:rPr>
              <a:t>区到</a:t>
            </a:r>
            <a:r>
              <a:rPr lang="en-US" altLang="zh-CN" sz="2400" b="0">
                <a:latin typeface="楷体_GB2312" pitchFamily="49" charset="-122"/>
                <a:ea typeface="楷体_GB2312" pitchFamily="49" charset="-122"/>
              </a:rPr>
              <a:t>p</a:t>
            </a:r>
            <a:r>
              <a:rPr lang="zh-CN" altLang="en-US" sz="2400" b="0">
                <a:latin typeface="楷体_GB2312" pitchFamily="49" charset="-122"/>
                <a:ea typeface="楷体_GB2312" pitchFamily="49" charset="-122"/>
              </a:rPr>
              <a:t>区的扩散运动。对于</a:t>
            </a:r>
            <a:r>
              <a:rPr lang="en-US" altLang="zh-CN" sz="2400" b="0">
                <a:latin typeface="楷体_GB2312" pitchFamily="49" charset="-122"/>
                <a:ea typeface="楷体_GB2312" pitchFamily="49" charset="-122"/>
              </a:rPr>
              <a:t>p</a:t>
            </a:r>
            <a:r>
              <a:rPr lang="zh-CN" altLang="en-US" sz="2400" b="0">
                <a:latin typeface="楷体_GB2312" pitchFamily="49" charset="-122"/>
                <a:ea typeface="楷体_GB2312" pitchFamily="49" charset="-122"/>
              </a:rPr>
              <a:t>区，空穴离开后，留下了不可动的带负电荷的电离受主，这些电离受主，没有正电荷与之保持电中性。因此，在</a:t>
            </a:r>
            <a:r>
              <a:rPr lang="en-US" altLang="zh-CN" sz="2400" b="0">
                <a:latin typeface="楷体_GB2312" pitchFamily="49" charset="-122"/>
                <a:ea typeface="楷体_GB2312" pitchFamily="49" charset="-122"/>
              </a:rPr>
              <a:t>p-n</a:t>
            </a:r>
            <a:r>
              <a:rPr lang="zh-CN" altLang="en-US" sz="2400" b="0">
                <a:latin typeface="楷体_GB2312" pitchFamily="49" charset="-122"/>
                <a:ea typeface="楷体_GB2312" pitchFamily="49" charset="-122"/>
              </a:rPr>
              <a:t>结附近</a:t>
            </a:r>
            <a:r>
              <a:rPr lang="en-US" altLang="zh-CN" sz="2400" b="0">
                <a:latin typeface="楷体_GB2312" pitchFamily="49" charset="-122"/>
                <a:ea typeface="楷体_GB2312" pitchFamily="49" charset="-122"/>
              </a:rPr>
              <a:t>p</a:t>
            </a:r>
            <a:r>
              <a:rPr lang="zh-CN" altLang="en-US" sz="2400" b="0">
                <a:latin typeface="楷体_GB2312" pitchFamily="49" charset="-122"/>
                <a:ea typeface="楷体_GB2312" pitchFamily="49" charset="-122"/>
              </a:rPr>
              <a:t>区一侧出现了一个负电荷区。同理，在</a:t>
            </a:r>
            <a:r>
              <a:rPr lang="en-US" altLang="zh-CN" sz="2400" b="0">
                <a:latin typeface="楷体_GB2312" pitchFamily="49" charset="-122"/>
                <a:ea typeface="楷体_GB2312" pitchFamily="49" charset="-122"/>
              </a:rPr>
              <a:t>p-n</a:t>
            </a:r>
            <a:r>
              <a:rPr lang="zh-CN" altLang="en-US" sz="2400" b="0">
                <a:latin typeface="楷体_GB2312" pitchFamily="49" charset="-122"/>
                <a:ea typeface="楷体_GB2312" pitchFamily="49" charset="-122"/>
              </a:rPr>
              <a:t>结附近</a:t>
            </a:r>
            <a:r>
              <a:rPr lang="en-US" altLang="zh-CN" sz="2400" b="0">
                <a:latin typeface="楷体_GB2312" pitchFamily="49" charset="-122"/>
                <a:ea typeface="楷体_GB2312" pitchFamily="49" charset="-122"/>
              </a:rPr>
              <a:t>n</a:t>
            </a:r>
            <a:r>
              <a:rPr lang="zh-CN" altLang="en-US" sz="2400" b="0">
                <a:latin typeface="楷体_GB2312" pitchFamily="49" charset="-122"/>
                <a:ea typeface="楷体_GB2312" pitchFamily="49" charset="-122"/>
              </a:rPr>
              <a:t>区一侧出现了由电离施主构成的一个正电荷区，通常就把在</a:t>
            </a:r>
            <a:r>
              <a:rPr lang="en-US" altLang="zh-CN" sz="2400" b="0">
                <a:latin typeface="楷体_GB2312" pitchFamily="49" charset="-122"/>
                <a:ea typeface="楷体_GB2312" pitchFamily="49" charset="-122"/>
              </a:rPr>
              <a:t>p-n</a:t>
            </a:r>
            <a:r>
              <a:rPr lang="zh-CN" altLang="en-US" sz="2400" b="0">
                <a:latin typeface="楷体_GB2312" pitchFamily="49" charset="-122"/>
                <a:ea typeface="楷体_GB2312" pitchFamily="49" charset="-122"/>
              </a:rPr>
              <a:t>结附近的这些电离施主和电离受主所带电荷称为空间电荷。它们所存在的区域称为空间电荷区</a:t>
            </a:r>
            <a:r>
              <a:rPr lang="zh-CN" altLang="en-US" sz="2400">
                <a:latin typeface="楷体_GB2312" pitchFamily="49" charset="-122"/>
                <a:ea typeface="楷体_GB2312" pitchFamily="49" charset="-122"/>
              </a:rPr>
              <a:t>。</a:t>
            </a:r>
            <a:endParaRPr lang="zh-CN" altLang="en-US" sz="2400">
              <a:latin typeface="楷体_GB2312" pitchFamily="49" charset="-122"/>
              <a:ea typeface="楷体_GB2312" pitchFamily="49" charset="-122"/>
            </a:endParaRPr>
          </a:p>
          <a:p>
            <a:endParaRPr lang="zh-CN" altLang="en-US" sz="2400">
              <a:latin typeface="楷体_GB2312" pitchFamily="49" charset="-122"/>
              <a:ea typeface="楷体_GB2312" pitchFamily="49" charset="-122"/>
            </a:endParaRPr>
          </a:p>
          <a:p>
            <a:endParaRPr lang="zh-CN" altLang="en-US" sz="2400">
              <a:latin typeface="楷体_GB2312" pitchFamily="49" charset="-122"/>
              <a:ea typeface="楷体_GB2312" pitchFamily="49" charset="-122"/>
            </a:endParaRPr>
          </a:p>
        </p:txBody>
      </p:sp>
      <p:pic>
        <p:nvPicPr>
          <p:cNvPr id="331780"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248400" y="4572001"/>
            <a:ext cx="2895600" cy="1927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6898" name="Rectangle 2"/>
          <p:cNvSpPr>
            <a:spLocks noGrp="1" noChangeArrowheads="1"/>
          </p:cNvSpPr>
          <p:nvPr>
            <p:ph type="title"/>
          </p:nvPr>
        </p:nvSpPr>
        <p:spPr/>
        <p:txBody>
          <a:bodyPr/>
          <a:lstStyle/>
          <a:p>
            <a:r>
              <a:rPr lang="en-US" altLang="zh-CN" sz="3600">
                <a:solidFill>
                  <a:schemeClr val="tx1"/>
                </a:solidFill>
                <a:latin typeface="楷体_GB2312" pitchFamily="49" charset="-122"/>
                <a:ea typeface="楷体_GB2312" pitchFamily="49" charset="-122"/>
              </a:rPr>
              <a:t>6.1.2  </a:t>
            </a:r>
            <a:r>
              <a:rPr lang="zh-CN" altLang="en-US" sz="3600">
                <a:solidFill>
                  <a:schemeClr val="tx1"/>
                </a:solidFill>
                <a:latin typeface="楷体_GB2312" pitchFamily="49" charset="-122"/>
                <a:ea typeface="楷体_GB2312" pitchFamily="49" charset="-122"/>
              </a:rPr>
              <a:t>空间电荷区</a:t>
            </a:r>
            <a:endParaRPr lang="zh-CN" altLang="en-US" sz="3600">
              <a:solidFill>
                <a:schemeClr val="tx1"/>
              </a:solidFill>
              <a:latin typeface="楷体_GB2312" pitchFamily="49" charset="-122"/>
              <a:ea typeface="楷体_GB2312" pitchFamily="49" charset="-122"/>
            </a:endParaRPr>
          </a:p>
        </p:txBody>
      </p:sp>
      <p:sp>
        <p:nvSpPr>
          <p:cNvPr id="336899" name="Rectangle 3"/>
          <p:cNvSpPr>
            <a:spLocks noGrp="1" noChangeArrowheads="1"/>
          </p:cNvSpPr>
          <p:nvPr>
            <p:ph type="body" idx="1"/>
          </p:nvPr>
        </p:nvSpPr>
        <p:spPr>
          <a:xfrm>
            <a:off x="1828800" y="1143000"/>
            <a:ext cx="8382000" cy="5105400"/>
          </a:xfrm>
        </p:spPr>
        <p:txBody>
          <a:bodyPr/>
          <a:lstStyle/>
          <a:p>
            <a:r>
              <a:rPr lang="zh-CN" altLang="en-US" sz="1800" b="0">
                <a:latin typeface="楷体_GB2312" pitchFamily="49" charset="-122"/>
                <a:ea typeface="楷体_GB2312" pitchFamily="49" charset="-122"/>
              </a:rPr>
              <a:t>空间电荷区中的这些电荷产生了从</a:t>
            </a:r>
            <a:r>
              <a:rPr lang="en-US" altLang="zh-CN" sz="1800" b="0">
                <a:latin typeface="楷体_GB2312" pitchFamily="49" charset="-122"/>
                <a:ea typeface="楷体_GB2312" pitchFamily="49" charset="-122"/>
              </a:rPr>
              <a:t>n</a:t>
            </a:r>
            <a:r>
              <a:rPr lang="zh-CN" altLang="en-US" sz="1800" b="0">
                <a:latin typeface="楷体_GB2312" pitchFamily="49" charset="-122"/>
                <a:ea typeface="楷体_GB2312" pitchFamily="49" charset="-122"/>
              </a:rPr>
              <a:t>区指向</a:t>
            </a:r>
            <a:r>
              <a:rPr lang="en-US" altLang="zh-CN" sz="1800" b="0">
                <a:latin typeface="楷体_GB2312" pitchFamily="49" charset="-122"/>
                <a:ea typeface="楷体_GB2312" pitchFamily="49" charset="-122"/>
              </a:rPr>
              <a:t>p</a:t>
            </a:r>
            <a:r>
              <a:rPr lang="zh-CN" altLang="en-US" sz="1800" b="0">
                <a:latin typeface="楷体_GB2312" pitchFamily="49" charset="-122"/>
                <a:ea typeface="楷体_GB2312" pitchFamily="49" charset="-122"/>
              </a:rPr>
              <a:t>区，即从正电荷指向负电荷的电场，称为内建电场。在内建电场作用下，载流子作漂移运动。随着扩散运动的进行，空间电荷逐渐增多，空间电荷区也逐渐扩展</a:t>
            </a:r>
            <a:r>
              <a:rPr lang="en-US" altLang="zh-CN" sz="1800" b="0">
                <a:latin typeface="楷体_GB2312" pitchFamily="49" charset="-122"/>
                <a:ea typeface="楷体_GB2312" pitchFamily="49" charset="-122"/>
              </a:rPr>
              <a:t>;</a:t>
            </a:r>
            <a:r>
              <a:rPr lang="zh-CN" altLang="en-US" sz="1800" b="0">
                <a:latin typeface="楷体_GB2312" pitchFamily="49" charset="-122"/>
                <a:ea typeface="楷体_GB2312" pitchFamily="49" charset="-122"/>
              </a:rPr>
              <a:t>同时，内建电场逐渐增强，载流子的漂移运动也逐渐加强。在无外加电压的情况下，载流子的扩散和漂移最终将达到动态平衡。</a:t>
            </a:r>
            <a:endParaRPr lang="zh-CN" altLang="en-US" sz="1800" b="0">
              <a:latin typeface="楷体_GB2312" pitchFamily="49" charset="-122"/>
              <a:ea typeface="楷体_GB2312" pitchFamily="49" charset="-122"/>
            </a:endParaRPr>
          </a:p>
          <a:p>
            <a:r>
              <a:rPr lang="zh-CN" altLang="en-US" sz="1800" b="0">
                <a:latin typeface="楷体_GB2312" pitchFamily="49" charset="-122"/>
                <a:ea typeface="楷体_GB2312" pitchFamily="49" charset="-122"/>
              </a:rPr>
              <a:t>这时电子的扩散电流和漂移电流的大小相等、方向相反而互相抵消。对于空穴，情况完全相似。因此，没有电流流过</a:t>
            </a:r>
            <a:r>
              <a:rPr lang="en-US" altLang="zh-CN" sz="1800" b="0">
                <a:latin typeface="楷体_GB2312" pitchFamily="49" charset="-122"/>
                <a:ea typeface="楷体_GB2312" pitchFamily="49" charset="-122"/>
              </a:rPr>
              <a:t>p-n</a:t>
            </a:r>
            <a:r>
              <a:rPr lang="zh-CN" altLang="en-US" sz="1800" b="0">
                <a:latin typeface="楷体_GB2312" pitchFamily="49" charset="-122"/>
                <a:ea typeface="楷体_GB2312" pitchFamily="49" charset="-122"/>
              </a:rPr>
              <a:t>结。或者说流过</a:t>
            </a:r>
            <a:r>
              <a:rPr lang="en-US" altLang="zh-CN" sz="1800" b="0">
                <a:latin typeface="楷体_GB2312" pitchFamily="49" charset="-122"/>
                <a:ea typeface="楷体_GB2312" pitchFamily="49" charset="-122"/>
              </a:rPr>
              <a:t>p-n</a:t>
            </a:r>
            <a:r>
              <a:rPr lang="zh-CN" altLang="en-US" sz="1800" b="0">
                <a:latin typeface="楷体_GB2312" pitchFamily="49" charset="-122"/>
                <a:ea typeface="楷体_GB2312" pitchFamily="49" charset="-122"/>
              </a:rPr>
              <a:t>结的净电流为零。这时空间电荷的数量一定，空间电荷区不再继续扩展，保持一定的宽度，其中存在一定的内建电场。一般称这种情况为热平衡状态下的</a:t>
            </a:r>
            <a:r>
              <a:rPr lang="en-US" altLang="zh-CN" sz="1800" b="0">
                <a:latin typeface="楷体_GB2312" pitchFamily="49" charset="-122"/>
                <a:ea typeface="楷体_GB2312" pitchFamily="49" charset="-122"/>
              </a:rPr>
              <a:t>p-n</a:t>
            </a:r>
            <a:r>
              <a:rPr lang="zh-CN" altLang="en-US" sz="1800" b="0">
                <a:latin typeface="楷体_GB2312" pitchFamily="49" charset="-122"/>
                <a:ea typeface="楷体_GB2312" pitchFamily="49" charset="-122"/>
              </a:rPr>
              <a:t>结 </a:t>
            </a:r>
            <a:r>
              <a:rPr lang="en-US" altLang="zh-CN" sz="1800" b="0">
                <a:latin typeface="楷体_GB2312" pitchFamily="49" charset="-122"/>
                <a:ea typeface="楷体_GB2312" pitchFamily="49" charset="-122"/>
              </a:rPr>
              <a:t>(</a:t>
            </a:r>
            <a:r>
              <a:rPr lang="zh-CN" altLang="en-US" sz="1800" b="0">
                <a:latin typeface="楷体_GB2312" pitchFamily="49" charset="-122"/>
                <a:ea typeface="楷体_GB2312" pitchFamily="49" charset="-122"/>
              </a:rPr>
              <a:t>简称为平衡</a:t>
            </a:r>
            <a:r>
              <a:rPr lang="en-US" altLang="zh-CN" sz="1800" b="0">
                <a:latin typeface="楷体_GB2312" pitchFamily="49" charset="-122"/>
                <a:ea typeface="楷体_GB2312" pitchFamily="49" charset="-122"/>
              </a:rPr>
              <a:t>p-n</a:t>
            </a:r>
            <a:r>
              <a:rPr lang="zh-CN" altLang="en-US" sz="1800" b="0">
                <a:latin typeface="楷体_GB2312" pitchFamily="49" charset="-122"/>
                <a:ea typeface="楷体_GB2312" pitchFamily="49" charset="-122"/>
              </a:rPr>
              <a:t>结</a:t>
            </a:r>
            <a:r>
              <a:rPr lang="en-US" altLang="zh-CN" sz="1800" b="0">
                <a:latin typeface="楷体_GB2312" pitchFamily="49" charset="-122"/>
                <a:ea typeface="楷体_GB2312" pitchFamily="49" charset="-122"/>
              </a:rPr>
              <a:t>)</a:t>
            </a:r>
            <a:r>
              <a:rPr lang="zh-CN" altLang="en-US" sz="1800" b="0">
                <a:latin typeface="楷体_GB2312" pitchFamily="49" charset="-122"/>
                <a:ea typeface="楷体_GB2312" pitchFamily="49" charset="-122"/>
              </a:rPr>
              <a:t>。</a:t>
            </a:r>
            <a:endParaRPr lang="zh-CN" altLang="en-US" sz="1800" b="0">
              <a:latin typeface="楷体_GB2312" pitchFamily="49" charset="-122"/>
              <a:ea typeface="楷体_GB2312" pitchFamily="49" charset="-122"/>
            </a:endParaRPr>
          </a:p>
          <a:p>
            <a:r>
              <a:rPr lang="zh-CN" altLang="en-US" sz="1800" b="0">
                <a:ea typeface="宋体" panose="02010600030101010101" pitchFamily="2" charset="-122"/>
              </a:rPr>
              <a:t> </a:t>
            </a:r>
            <a:endParaRPr lang="zh-CN" altLang="en-US" sz="1800" b="0">
              <a:ea typeface="宋体" panose="02010600030101010101" pitchFamily="2" charset="-122"/>
            </a:endParaRPr>
          </a:p>
          <a:p>
            <a:endParaRPr lang="zh-CN" altLang="en-US" sz="1800">
              <a:ea typeface="宋体" panose="02010600030101010101" pitchFamily="2" charset="-122"/>
            </a:endParaRPr>
          </a:p>
        </p:txBody>
      </p:sp>
      <p:sp>
        <p:nvSpPr>
          <p:cNvPr id="336935" name="Line 39"/>
          <p:cNvSpPr>
            <a:spLocks noChangeShapeType="1"/>
          </p:cNvSpPr>
          <p:nvPr/>
        </p:nvSpPr>
        <p:spPr bwMode="auto">
          <a:xfrm>
            <a:off x="6172200" y="4144963"/>
            <a:ext cx="2819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36936" name="Line 40"/>
          <p:cNvSpPr>
            <a:spLocks noChangeShapeType="1"/>
          </p:cNvSpPr>
          <p:nvPr/>
        </p:nvSpPr>
        <p:spPr bwMode="auto">
          <a:xfrm>
            <a:off x="6172200" y="5440363"/>
            <a:ext cx="28956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36937" name="Line 41"/>
          <p:cNvSpPr>
            <a:spLocks noChangeShapeType="1"/>
          </p:cNvSpPr>
          <p:nvPr/>
        </p:nvSpPr>
        <p:spPr bwMode="auto">
          <a:xfrm>
            <a:off x="7543800" y="4144963"/>
            <a:ext cx="0" cy="1295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36938" name="Text Box 42"/>
          <p:cNvSpPr txBox="1">
            <a:spLocks noChangeArrowheads="1"/>
          </p:cNvSpPr>
          <p:nvPr/>
        </p:nvSpPr>
        <p:spPr bwMode="auto">
          <a:xfrm>
            <a:off x="6384926" y="5481638"/>
            <a:ext cx="354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2400">
                <a:solidFill>
                  <a:srgbClr val="000000"/>
                </a:solidFill>
                <a:latin typeface="Times New Roman" panose="02020603050405020304" pitchFamily="18" charset="0"/>
                <a:ea typeface="宋体" panose="02010600030101010101" pitchFamily="2" charset="-122"/>
              </a:rPr>
              <a:t>P</a:t>
            </a:r>
            <a:endParaRPr kumimoji="1" lang="en-US" altLang="zh-CN" sz="2400">
              <a:solidFill>
                <a:srgbClr val="000000"/>
              </a:solidFill>
              <a:latin typeface="Times New Roman" panose="02020603050405020304" pitchFamily="18" charset="0"/>
              <a:ea typeface="宋体" panose="02010600030101010101" pitchFamily="2" charset="-122"/>
            </a:endParaRPr>
          </a:p>
        </p:txBody>
      </p:sp>
      <p:sp>
        <p:nvSpPr>
          <p:cNvPr id="336939" name="Text Box 43"/>
          <p:cNvSpPr txBox="1">
            <a:spLocks noChangeArrowheads="1"/>
          </p:cNvSpPr>
          <p:nvPr/>
        </p:nvSpPr>
        <p:spPr bwMode="auto">
          <a:xfrm>
            <a:off x="8289926" y="5557838"/>
            <a:ext cx="4048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2400">
                <a:solidFill>
                  <a:srgbClr val="000000"/>
                </a:solidFill>
                <a:latin typeface="Times New Roman" panose="02020603050405020304" pitchFamily="18" charset="0"/>
                <a:ea typeface="宋体" panose="02010600030101010101" pitchFamily="2" charset="-122"/>
              </a:rPr>
              <a:t>N</a:t>
            </a:r>
            <a:endParaRPr kumimoji="1" lang="en-US" altLang="zh-CN" sz="2400">
              <a:solidFill>
                <a:srgbClr val="000000"/>
              </a:solidFill>
              <a:latin typeface="Times New Roman" panose="02020603050405020304" pitchFamily="18" charset="0"/>
              <a:ea typeface="宋体" panose="02010600030101010101" pitchFamily="2" charset="-122"/>
            </a:endParaRPr>
          </a:p>
        </p:txBody>
      </p:sp>
      <p:sp>
        <p:nvSpPr>
          <p:cNvPr id="336940" name="Text Box 44"/>
          <p:cNvSpPr txBox="1">
            <a:spLocks noChangeArrowheads="1"/>
          </p:cNvSpPr>
          <p:nvPr/>
        </p:nvSpPr>
        <p:spPr bwMode="auto">
          <a:xfrm>
            <a:off x="6537325" y="4414838"/>
            <a:ext cx="488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240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240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36941" name="Line 45"/>
          <p:cNvSpPr>
            <a:spLocks noChangeShapeType="1"/>
          </p:cNvSpPr>
          <p:nvPr/>
        </p:nvSpPr>
        <p:spPr bwMode="auto">
          <a:xfrm>
            <a:off x="6781800" y="4602163"/>
            <a:ext cx="12192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36942" name="Text Box 46"/>
          <p:cNvSpPr txBox="1">
            <a:spLocks noChangeArrowheads="1"/>
          </p:cNvSpPr>
          <p:nvPr/>
        </p:nvSpPr>
        <p:spPr bwMode="auto">
          <a:xfrm>
            <a:off x="7908926" y="4719638"/>
            <a:ext cx="2905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240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240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36943" name="Line 47"/>
          <p:cNvSpPr>
            <a:spLocks noChangeShapeType="1"/>
          </p:cNvSpPr>
          <p:nvPr/>
        </p:nvSpPr>
        <p:spPr bwMode="auto">
          <a:xfrm flipH="1">
            <a:off x="6705600" y="4983163"/>
            <a:ext cx="12954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36944" name="Text Box 48"/>
          <p:cNvSpPr txBox="1">
            <a:spLocks noChangeArrowheads="1"/>
          </p:cNvSpPr>
          <p:nvPr/>
        </p:nvSpPr>
        <p:spPr bwMode="auto">
          <a:xfrm>
            <a:off x="7315200" y="4191001"/>
            <a:ext cx="274434" cy="22775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1400">
                <a:solidFill>
                  <a:srgbClr val="000000"/>
                </a:solidFill>
                <a:latin typeface="Times New Roman" panose="02020603050405020304" pitchFamily="18" charset="0"/>
                <a:ea typeface="宋体" panose="02010600030101010101" pitchFamily="2" charset="-122"/>
              </a:rPr>
              <a:t>_</a:t>
            </a:r>
            <a:endParaRPr kumimoji="1" lang="en-US" altLang="zh-CN" sz="1400">
              <a:solidFill>
                <a:srgbClr val="000000"/>
              </a:solidFill>
              <a:latin typeface="Times New Roman" panose="02020603050405020304" pitchFamily="18" charset="0"/>
              <a:ea typeface="宋体" panose="02010600030101010101" pitchFamily="2" charset="-122"/>
            </a:endParaRPr>
          </a:p>
          <a:p>
            <a:pPr fontAlgn="base">
              <a:spcBef>
                <a:spcPct val="0"/>
              </a:spcBef>
              <a:spcAft>
                <a:spcPct val="0"/>
              </a:spcAft>
            </a:pPr>
            <a:r>
              <a:rPr kumimoji="1" lang="en-US" altLang="zh-CN" sz="1400">
                <a:solidFill>
                  <a:srgbClr val="000000"/>
                </a:solidFill>
                <a:latin typeface="Times New Roman" panose="02020603050405020304" pitchFamily="18" charset="0"/>
                <a:ea typeface="宋体" panose="02010600030101010101" pitchFamily="2" charset="-122"/>
              </a:rPr>
              <a:t>_</a:t>
            </a:r>
            <a:endParaRPr kumimoji="1" lang="en-US" altLang="zh-CN" sz="1400">
              <a:solidFill>
                <a:srgbClr val="000000"/>
              </a:solidFill>
              <a:latin typeface="Times New Roman" panose="02020603050405020304" pitchFamily="18" charset="0"/>
              <a:ea typeface="宋体" panose="02010600030101010101" pitchFamily="2" charset="-122"/>
            </a:endParaRPr>
          </a:p>
          <a:p>
            <a:pPr fontAlgn="base">
              <a:spcBef>
                <a:spcPct val="0"/>
              </a:spcBef>
              <a:spcAft>
                <a:spcPct val="0"/>
              </a:spcAft>
            </a:pPr>
            <a:r>
              <a:rPr kumimoji="1" lang="en-US" altLang="zh-CN" sz="1400">
                <a:solidFill>
                  <a:srgbClr val="000000"/>
                </a:solidFill>
                <a:latin typeface="Times New Roman" panose="02020603050405020304" pitchFamily="18" charset="0"/>
                <a:ea typeface="宋体" panose="02010600030101010101" pitchFamily="2" charset="-122"/>
              </a:rPr>
              <a:t>_</a:t>
            </a:r>
            <a:endParaRPr kumimoji="1" lang="en-US" altLang="zh-CN" sz="1400">
              <a:solidFill>
                <a:srgbClr val="000000"/>
              </a:solidFill>
              <a:latin typeface="Times New Roman" panose="02020603050405020304" pitchFamily="18" charset="0"/>
              <a:ea typeface="宋体" panose="02010600030101010101" pitchFamily="2" charset="-122"/>
            </a:endParaRPr>
          </a:p>
          <a:p>
            <a:pPr fontAlgn="base">
              <a:spcBef>
                <a:spcPct val="0"/>
              </a:spcBef>
              <a:spcAft>
                <a:spcPct val="0"/>
              </a:spcAft>
            </a:pPr>
            <a:r>
              <a:rPr kumimoji="1" lang="en-US" altLang="zh-CN" sz="1400">
                <a:solidFill>
                  <a:srgbClr val="000000"/>
                </a:solidFill>
                <a:latin typeface="Times New Roman" panose="02020603050405020304" pitchFamily="18" charset="0"/>
                <a:ea typeface="宋体" panose="02010600030101010101" pitchFamily="2" charset="-122"/>
              </a:rPr>
              <a:t>_</a:t>
            </a:r>
            <a:endParaRPr kumimoji="1" lang="en-US" altLang="zh-CN" sz="1400">
              <a:solidFill>
                <a:srgbClr val="000000"/>
              </a:solidFill>
              <a:latin typeface="Times New Roman" panose="02020603050405020304" pitchFamily="18" charset="0"/>
              <a:ea typeface="宋体" panose="02010600030101010101" pitchFamily="2" charset="-122"/>
            </a:endParaRPr>
          </a:p>
          <a:p>
            <a:pPr fontAlgn="base">
              <a:spcBef>
                <a:spcPct val="0"/>
              </a:spcBef>
              <a:spcAft>
                <a:spcPct val="0"/>
              </a:spcAft>
            </a:pPr>
            <a:r>
              <a:rPr kumimoji="1" lang="en-US" altLang="zh-CN" sz="1400">
                <a:solidFill>
                  <a:srgbClr val="000000"/>
                </a:solidFill>
                <a:latin typeface="Times New Roman" panose="02020603050405020304" pitchFamily="18" charset="0"/>
                <a:ea typeface="宋体" panose="02010600030101010101" pitchFamily="2" charset="-122"/>
              </a:rPr>
              <a:t>_</a:t>
            </a:r>
            <a:endParaRPr kumimoji="1" lang="en-US" altLang="zh-CN" sz="1400">
              <a:solidFill>
                <a:srgbClr val="000000"/>
              </a:solidFill>
              <a:latin typeface="Times New Roman" panose="02020603050405020304" pitchFamily="18" charset="0"/>
              <a:ea typeface="宋体" panose="02010600030101010101" pitchFamily="2" charset="-122"/>
            </a:endParaRPr>
          </a:p>
          <a:p>
            <a:pPr fontAlgn="base">
              <a:spcBef>
                <a:spcPct val="0"/>
              </a:spcBef>
              <a:spcAft>
                <a:spcPct val="0"/>
              </a:spcAft>
            </a:pPr>
            <a:endParaRPr kumimoji="1" lang="en-US" altLang="zh-CN" sz="2400">
              <a:solidFill>
                <a:srgbClr val="000000"/>
              </a:solidFill>
              <a:latin typeface="Times New Roman" panose="02020603050405020304" pitchFamily="18" charset="0"/>
              <a:ea typeface="宋体" panose="02010600030101010101" pitchFamily="2" charset="-122"/>
            </a:endParaRPr>
          </a:p>
          <a:p>
            <a:pPr fontAlgn="base">
              <a:spcBef>
                <a:spcPct val="0"/>
              </a:spcBef>
              <a:spcAft>
                <a:spcPct val="0"/>
              </a:spcAft>
            </a:pPr>
            <a:endParaRPr kumimoji="1" lang="en-US" altLang="zh-CN" sz="2400">
              <a:solidFill>
                <a:srgbClr val="000000"/>
              </a:solidFill>
              <a:latin typeface="Times New Roman" panose="02020603050405020304" pitchFamily="18" charset="0"/>
              <a:ea typeface="宋体" panose="02010600030101010101" pitchFamily="2" charset="-122"/>
            </a:endParaRPr>
          </a:p>
          <a:p>
            <a:pPr fontAlgn="base">
              <a:spcBef>
                <a:spcPct val="0"/>
              </a:spcBef>
              <a:spcAft>
                <a:spcPct val="0"/>
              </a:spcAft>
            </a:pPr>
            <a:endParaRPr kumimoji="1" lang="zh-CN" altLang="en-US" sz="2400">
              <a:solidFill>
                <a:srgbClr val="000000"/>
              </a:solidFill>
              <a:latin typeface="Times New Roman" panose="02020603050405020304" pitchFamily="18" charset="0"/>
              <a:ea typeface="宋体" panose="02010600030101010101" pitchFamily="2" charset="-122"/>
            </a:endParaRPr>
          </a:p>
        </p:txBody>
      </p:sp>
      <p:sp>
        <p:nvSpPr>
          <p:cNvPr id="336945" name="Text Box 49"/>
          <p:cNvSpPr txBox="1">
            <a:spLocks noChangeArrowheads="1"/>
          </p:cNvSpPr>
          <p:nvPr/>
        </p:nvSpPr>
        <p:spPr bwMode="auto">
          <a:xfrm>
            <a:off x="7543800" y="4221163"/>
            <a:ext cx="298450" cy="1314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1600">
                <a:solidFill>
                  <a:srgbClr val="000000"/>
                </a:solidFill>
                <a:latin typeface="Times New Roman" panose="02020603050405020304" pitchFamily="18" charset="0"/>
                <a:ea typeface="宋体" panose="02010600030101010101" pitchFamily="2" charset="-122"/>
              </a:rPr>
              <a:t>+</a:t>
            </a:r>
            <a:endParaRPr kumimoji="1" lang="en-US" altLang="zh-CN" sz="1600">
              <a:solidFill>
                <a:srgbClr val="000000"/>
              </a:solidFill>
              <a:latin typeface="Times New Roman" panose="02020603050405020304" pitchFamily="18" charset="0"/>
              <a:ea typeface="宋体" panose="02010600030101010101" pitchFamily="2" charset="-122"/>
            </a:endParaRPr>
          </a:p>
          <a:p>
            <a:pPr fontAlgn="base">
              <a:spcBef>
                <a:spcPct val="0"/>
              </a:spcBef>
              <a:spcAft>
                <a:spcPct val="0"/>
              </a:spcAft>
            </a:pPr>
            <a:r>
              <a:rPr kumimoji="1" lang="en-US" altLang="zh-CN" sz="1600">
                <a:solidFill>
                  <a:srgbClr val="000000"/>
                </a:solidFill>
                <a:latin typeface="Times New Roman" panose="02020603050405020304" pitchFamily="18" charset="0"/>
                <a:ea typeface="宋体" panose="02010600030101010101" pitchFamily="2" charset="-122"/>
              </a:rPr>
              <a:t>+</a:t>
            </a:r>
            <a:endParaRPr kumimoji="1" lang="en-US" altLang="zh-CN" sz="1600">
              <a:solidFill>
                <a:srgbClr val="000000"/>
              </a:solidFill>
              <a:latin typeface="Times New Roman" panose="02020603050405020304" pitchFamily="18" charset="0"/>
              <a:ea typeface="宋体" panose="02010600030101010101" pitchFamily="2" charset="-122"/>
            </a:endParaRPr>
          </a:p>
          <a:p>
            <a:pPr fontAlgn="base">
              <a:spcBef>
                <a:spcPct val="0"/>
              </a:spcBef>
              <a:spcAft>
                <a:spcPct val="0"/>
              </a:spcAft>
            </a:pPr>
            <a:r>
              <a:rPr kumimoji="1" lang="en-US" altLang="zh-CN" sz="1600">
                <a:solidFill>
                  <a:srgbClr val="000000"/>
                </a:solidFill>
                <a:latin typeface="Times New Roman" panose="02020603050405020304" pitchFamily="18" charset="0"/>
                <a:ea typeface="宋体" panose="02010600030101010101" pitchFamily="2" charset="-122"/>
              </a:rPr>
              <a:t>+</a:t>
            </a:r>
            <a:endParaRPr kumimoji="1" lang="en-US" altLang="zh-CN" sz="1600">
              <a:solidFill>
                <a:srgbClr val="000000"/>
              </a:solidFill>
              <a:latin typeface="Times New Roman" panose="02020603050405020304" pitchFamily="18" charset="0"/>
              <a:ea typeface="宋体" panose="02010600030101010101" pitchFamily="2" charset="-122"/>
            </a:endParaRPr>
          </a:p>
          <a:p>
            <a:pPr fontAlgn="base">
              <a:spcBef>
                <a:spcPct val="0"/>
              </a:spcBef>
              <a:spcAft>
                <a:spcPct val="0"/>
              </a:spcAft>
            </a:pPr>
            <a:r>
              <a:rPr kumimoji="1" lang="en-US" altLang="zh-CN" sz="1600">
                <a:solidFill>
                  <a:srgbClr val="000000"/>
                </a:solidFill>
                <a:latin typeface="Times New Roman" panose="02020603050405020304" pitchFamily="18" charset="0"/>
                <a:ea typeface="宋体" panose="02010600030101010101" pitchFamily="2" charset="-122"/>
              </a:rPr>
              <a:t>+</a:t>
            </a:r>
            <a:endParaRPr kumimoji="1" lang="en-US" altLang="zh-CN" sz="1600">
              <a:solidFill>
                <a:srgbClr val="000000"/>
              </a:solidFill>
              <a:latin typeface="Times New Roman" panose="02020603050405020304" pitchFamily="18" charset="0"/>
              <a:ea typeface="宋体" panose="02010600030101010101" pitchFamily="2" charset="-122"/>
            </a:endParaRPr>
          </a:p>
          <a:p>
            <a:pPr fontAlgn="base">
              <a:spcBef>
                <a:spcPct val="0"/>
              </a:spcBef>
              <a:spcAft>
                <a:spcPct val="0"/>
              </a:spcAft>
            </a:pPr>
            <a:r>
              <a:rPr kumimoji="1" lang="en-US" altLang="zh-CN" sz="1600">
                <a:solidFill>
                  <a:srgbClr val="000000"/>
                </a:solidFill>
                <a:latin typeface="Times New Roman" panose="02020603050405020304" pitchFamily="18" charset="0"/>
                <a:ea typeface="宋体" panose="02010600030101010101" pitchFamily="2" charset="-122"/>
              </a:rPr>
              <a:t>+</a:t>
            </a:r>
            <a:endParaRPr kumimoji="1" lang="en-US" altLang="zh-CN" sz="1600">
              <a:solidFill>
                <a:srgbClr val="000000"/>
              </a:solidFill>
              <a:latin typeface="Times New Roman" panose="02020603050405020304" pitchFamily="18" charset="0"/>
              <a:ea typeface="宋体" panose="02010600030101010101" pitchFamily="2" charset="-122"/>
            </a:endParaRPr>
          </a:p>
        </p:txBody>
      </p:sp>
      <p:sp>
        <p:nvSpPr>
          <p:cNvPr id="336946" name="Line 50"/>
          <p:cNvSpPr>
            <a:spLocks noChangeShapeType="1"/>
          </p:cNvSpPr>
          <p:nvPr/>
        </p:nvSpPr>
        <p:spPr bwMode="auto">
          <a:xfrm flipH="1">
            <a:off x="7010400" y="5821363"/>
            <a:ext cx="7620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36947" name="Text Box 51"/>
          <p:cNvSpPr txBox="1">
            <a:spLocks noChangeArrowheads="1"/>
          </p:cNvSpPr>
          <p:nvPr/>
        </p:nvSpPr>
        <p:spPr bwMode="auto">
          <a:xfrm>
            <a:off x="7250113" y="5407025"/>
            <a:ext cx="387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400" b="1" i="1">
                <a:solidFill>
                  <a:srgbClr val="000000"/>
                </a:solidFill>
                <a:latin typeface="Times New Roman" panose="02020603050405020304" pitchFamily="18" charset="0"/>
                <a:ea typeface="宋体" panose="02010600030101010101" pitchFamily="2" charset="-122"/>
              </a:rPr>
              <a:t>E</a:t>
            </a:r>
            <a:endParaRPr kumimoji="1" lang="en-US" altLang="zh-CN" sz="2400" b="1" i="1">
              <a:solidFill>
                <a:srgbClr val="000000"/>
              </a:solidFill>
              <a:latin typeface="Times New Roman" panose="02020603050405020304" pitchFamily="18" charset="0"/>
              <a:ea typeface="宋体" panose="02010600030101010101" pitchFamily="2" charset="-122"/>
            </a:endParaRPr>
          </a:p>
        </p:txBody>
      </p:sp>
      <p:sp>
        <p:nvSpPr>
          <p:cNvPr id="336948" name="Line 52"/>
          <p:cNvSpPr>
            <a:spLocks noChangeShapeType="1"/>
          </p:cNvSpPr>
          <p:nvPr/>
        </p:nvSpPr>
        <p:spPr bwMode="auto">
          <a:xfrm>
            <a:off x="7010400" y="3886200"/>
            <a:ext cx="7620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36949" name="Line 53"/>
          <p:cNvSpPr>
            <a:spLocks noChangeShapeType="1"/>
          </p:cNvSpPr>
          <p:nvPr/>
        </p:nvSpPr>
        <p:spPr bwMode="auto">
          <a:xfrm flipH="1">
            <a:off x="7086600" y="6278563"/>
            <a:ext cx="6858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36950" name="Text Box 54"/>
          <p:cNvSpPr txBox="1">
            <a:spLocks noChangeArrowheads="1"/>
          </p:cNvSpPr>
          <p:nvPr/>
        </p:nvSpPr>
        <p:spPr bwMode="auto">
          <a:xfrm>
            <a:off x="7924801" y="6096000"/>
            <a:ext cx="5064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400">
                <a:solidFill>
                  <a:srgbClr val="000000"/>
                </a:solidFill>
                <a:latin typeface="Times New Roman" panose="02020603050405020304" pitchFamily="18" charset="0"/>
                <a:ea typeface="宋体" panose="02010600030101010101" pitchFamily="2" charset="-122"/>
              </a:rPr>
              <a:t>J</a:t>
            </a:r>
            <a:r>
              <a:rPr kumimoji="1" lang="zh-CN" altLang="en-US" sz="2400" baseline="-25000">
                <a:solidFill>
                  <a:srgbClr val="000000"/>
                </a:solidFill>
                <a:latin typeface="Times New Roman" panose="02020603050405020304" pitchFamily="18" charset="0"/>
                <a:ea typeface="宋体" panose="02010600030101010101" pitchFamily="2" charset="-122"/>
              </a:rPr>
              <a:t>漂</a:t>
            </a:r>
            <a:endParaRPr kumimoji="1" lang="zh-CN" altLang="en-US" sz="2400">
              <a:solidFill>
                <a:srgbClr val="000000"/>
              </a:solidFill>
              <a:latin typeface="Times New Roman" panose="02020603050405020304" pitchFamily="18" charset="0"/>
              <a:ea typeface="宋体" panose="02010600030101010101" pitchFamily="2" charset="-122"/>
            </a:endParaRPr>
          </a:p>
        </p:txBody>
      </p:sp>
      <p:sp>
        <p:nvSpPr>
          <p:cNvPr id="336952" name="Text Box 56"/>
          <p:cNvSpPr txBox="1">
            <a:spLocks noChangeArrowheads="1"/>
          </p:cNvSpPr>
          <p:nvPr/>
        </p:nvSpPr>
        <p:spPr bwMode="auto">
          <a:xfrm>
            <a:off x="5257800" y="3810001"/>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fontAlgn="base">
              <a:spcBef>
                <a:spcPct val="0"/>
              </a:spcBef>
              <a:spcAft>
                <a:spcPct val="0"/>
              </a:spcAft>
            </a:pPr>
            <a:endParaRPr lang="zh-CN" altLang="en-US">
              <a:solidFill>
                <a:srgbClr val="000000"/>
              </a:solidFill>
              <a:latin typeface="Arial" panose="020B0604020202020204" pitchFamily="34" charset="0"/>
              <a:ea typeface="宋体" panose="02010600030101010101" pitchFamily="2" charset="-122"/>
            </a:endParaRPr>
          </a:p>
        </p:txBody>
      </p:sp>
      <p:sp>
        <p:nvSpPr>
          <p:cNvPr id="336953" name="Text Box 57"/>
          <p:cNvSpPr txBox="1">
            <a:spLocks noChangeArrowheads="1"/>
          </p:cNvSpPr>
          <p:nvPr/>
        </p:nvSpPr>
        <p:spPr bwMode="auto">
          <a:xfrm>
            <a:off x="7772400" y="3733801"/>
            <a:ext cx="762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fontAlgn="base">
              <a:spcBef>
                <a:spcPct val="50000"/>
              </a:spcBef>
              <a:spcAft>
                <a:spcPct val="0"/>
              </a:spcAft>
            </a:pPr>
            <a:r>
              <a:rPr kumimoji="1" lang="en-US" altLang="zh-CN">
                <a:solidFill>
                  <a:srgbClr val="000000"/>
                </a:solidFill>
                <a:latin typeface="Arial" panose="020B0604020202020204" pitchFamily="34" charset="0"/>
                <a:ea typeface="宋体" panose="02010600030101010101" pitchFamily="2" charset="-122"/>
              </a:rPr>
              <a:t>J</a:t>
            </a:r>
            <a:r>
              <a:rPr kumimoji="1" lang="zh-CN" altLang="en-US">
                <a:solidFill>
                  <a:srgbClr val="000000"/>
                </a:solidFill>
                <a:latin typeface="Arial" panose="020B0604020202020204" pitchFamily="34" charset="0"/>
                <a:ea typeface="宋体" panose="02010600030101010101" pitchFamily="2" charset="-122"/>
              </a:rPr>
              <a:t>扩</a:t>
            </a:r>
            <a:endParaRPr kumimoji="1" lang="zh-CN" altLang="en-US">
              <a:solidFill>
                <a:srgbClr val="000000"/>
              </a:solidFill>
              <a:latin typeface="Arial" panose="020B0604020202020204" pitchFamily="34" charset="0"/>
              <a:ea typeface="宋体" panose="02010600030101010101" pitchFamily="2" charset="-122"/>
            </a:endParaRPr>
          </a:p>
        </p:txBody>
      </p:sp>
      <p:pic>
        <p:nvPicPr>
          <p:cNvPr id="336954" name="Picture 58"/>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438400" y="4495801"/>
            <a:ext cx="2895600" cy="1927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22" name="Rectangle 2"/>
          <p:cNvSpPr>
            <a:spLocks noGrp="1" noChangeArrowheads="1"/>
          </p:cNvSpPr>
          <p:nvPr>
            <p:ph type="title"/>
          </p:nvPr>
        </p:nvSpPr>
        <p:spPr/>
        <p:txBody>
          <a:bodyPr/>
          <a:lstStyle/>
          <a:p>
            <a:r>
              <a:rPr lang="en-US" altLang="zh-CN" sz="3600">
                <a:solidFill>
                  <a:schemeClr val="tx1"/>
                </a:solidFill>
                <a:latin typeface="楷体_GB2312" pitchFamily="49" charset="-122"/>
                <a:ea typeface="楷体_GB2312" pitchFamily="49" charset="-122"/>
              </a:rPr>
              <a:t>6.1.3  pn</a:t>
            </a:r>
            <a:r>
              <a:rPr lang="zh-CN" altLang="en-US" sz="3600">
                <a:solidFill>
                  <a:schemeClr val="tx1"/>
                </a:solidFill>
                <a:latin typeface="楷体_GB2312" pitchFamily="49" charset="-122"/>
                <a:ea typeface="楷体_GB2312" pitchFamily="49" charset="-122"/>
              </a:rPr>
              <a:t>结能带图</a:t>
            </a:r>
            <a:endParaRPr lang="zh-CN" altLang="en-US" sz="3600">
              <a:solidFill>
                <a:schemeClr val="tx1"/>
              </a:solidFill>
              <a:latin typeface="楷体_GB2312" pitchFamily="49" charset="-122"/>
              <a:ea typeface="楷体_GB2312" pitchFamily="49" charset="-122"/>
            </a:endParaRPr>
          </a:p>
        </p:txBody>
      </p:sp>
      <p:sp>
        <p:nvSpPr>
          <p:cNvPr id="337923" name="Rectangle 3"/>
          <p:cNvSpPr>
            <a:spLocks noGrp="1" noChangeArrowheads="1"/>
          </p:cNvSpPr>
          <p:nvPr>
            <p:ph type="body" idx="1"/>
          </p:nvPr>
        </p:nvSpPr>
        <p:spPr/>
        <p:txBody>
          <a:bodyPr/>
          <a:lstStyle/>
          <a:p>
            <a:pPr>
              <a:spcBef>
                <a:spcPct val="0"/>
              </a:spcBef>
              <a:buClrTx/>
              <a:buFontTx/>
              <a:buNone/>
            </a:pPr>
            <a:r>
              <a:rPr lang="zh-CN" altLang="en-US" sz="2400" b="0">
                <a:ea typeface="宋体" panose="02010600030101010101" pitchFamily="2" charset="-122"/>
              </a:rPr>
              <a:t>        </a:t>
            </a:r>
            <a:r>
              <a:rPr lang="zh-CN" altLang="en-US" sz="2400" b="0">
                <a:latin typeface="楷体_GB2312" pitchFamily="49" charset="-122"/>
                <a:ea typeface="楷体_GB2312" pitchFamily="49" charset="-122"/>
              </a:rPr>
              <a:t>图中</a:t>
            </a:r>
            <a:r>
              <a:rPr lang="en-US" altLang="zh-CN" sz="2400" b="0">
                <a:latin typeface="楷体_GB2312" pitchFamily="49" charset="-122"/>
                <a:ea typeface="楷体_GB2312" pitchFamily="49" charset="-122"/>
              </a:rPr>
              <a:t>E</a:t>
            </a:r>
            <a:r>
              <a:rPr lang="en-US" altLang="zh-CN" sz="2400" b="0" baseline="-25000">
                <a:latin typeface="楷体_GB2312" pitchFamily="49" charset="-122"/>
                <a:ea typeface="楷体_GB2312" pitchFamily="49" charset="-122"/>
              </a:rPr>
              <a:t>Fn</a:t>
            </a:r>
            <a:r>
              <a:rPr lang="zh-CN" altLang="en-US" sz="2400" b="0">
                <a:latin typeface="楷体_GB2312" pitchFamily="49" charset="-122"/>
                <a:ea typeface="楷体_GB2312" pitchFamily="49" charset="-122"/>
              </a:rPr>
              <a:t>和</a:t>
            </a:r>
            <a:r>
              <a:rPr lang="en-US" altLang="zh-CN" sz="2400" b="0">
                <a:latin typeface="楷体_GB2312" pitchFamily="49" charset="-122"/>
                <a:ea typeface="楷体_GB2312" pitchFamily="49" charset="-122"/>
              </a:rPr>
              <a:t>E</a:t>
            </a:r>
            <a:r>
              <a:rPr lang="en-US" altLang="zh-CN" sz="2400" b="0" baseline="-25000">
                <a:latin typeface="楷体_GB2312" pitchFamily="49" charset="-122"/>
                <a:ea typeface="楷体_GB2312" pitchFamily="49" charset="-122"/>
              </a:rPr>
              <a:t>Fp</a:t>
            </a:r>
            <a:r>
              <a:rPr lang="zh-CN" altLang="en-US" sz="2400" b="0">
                <a:latin typeface="楷体_GB2312" pitchFamily="49" charset="-122"/>
                <a:ea typeface="楷体_GB2312" pitchFamily="49" charset="-122"/>
              </a:rPr>
              <a:t>分别表示</a:t>
            </a:r>
            <a:r>
              <a:rPr lang="en-US" altLang="zh-CN" sz="2400" b="0">
                <a:latin typeface="楷体_GB2312" pitchFamily="49" charset="-122"/>
                <a:ea typeface="楷体_GB2312" pitchFamily="49" charset="-122"/>
              </a:rPr>
              <a:t>n</a:t>
            </a:r>
            <a:r>
              <a:rPr lang="zh-CN" altLang="en-US" sz="2400" b="0">
                <a:latin typeface="楷体_GB2312" pitchFamily="49" charset="-122"/>
                <a:ea typeface="楷体_GB2312" pitchFamily="49" charset="-122"/>
              </a:rPr>
              <a:t>型和</a:t>
            </a:r>
            <a:r>
              <a:rPr lang="en-US" altLang="zh-CN" sz="2400" b="0">
                <a:latin typeface="楷体_GB2312" pitchFamily="49" charset="-122"/>
                <a:ea typeface="楷体_GB2312" pitchFamily="49" charset="-122"/>
              </a:rPr>
              <a:t>p</a:t>
            </a:r>
            <a:r>
              <a:rPr lang="zh-CN" altLang="en-US" sz="2400" b="0">
                <a:latin typeface="楷体_GB2312" pitchFamily="49" charset="-122"/>
                <a:ea typeface="楷体_GB2312" pitchFamily="49" charset="-122"/>
              </a:rPr>
              <a:t>型半导体的费米能级。当两块半导体结合形成</a:t>
            </a:r>
            <a:r>
              <a:rPr lang="en-US" altLang="zh-CN" sz="2400" b="0">
                <a:latin typeface="楷体_GB2312" pitchFamily="49" charset="-122"/>
                <a:ea typeface="楷体_GB2312" pitchFamily="49" charset="-122"/>
              </a:rPr>
              <a:t>p-n</a:t>
            </a:r>
            <a:r>
              <a:rPr lang="zh-CN" altLang="en-US" sz="2400" b="0">
                <a:latin typeface="楷体_GB2312" pitchFamily="49" charset="-122"/>
                <a:ea typeface="楷体_GB2312" pitchFamily="49" charset="-122"/>
              </a:rPr>
              <a:t>结时，按照费米能级的意义，电子将从费米能级高的</a:t>
            </a:r>
            <a:r>
              <a:rPr lang="en-US" altLang="zh-CN" sz="2400" b="0">
                <a:latin typeface="楷体_GB2312" pitchFamily="49" charset="-122"/>
                <a:ea typeface="楷体_GB2312" pitchFamily="49" charset="-122"/>
              </a:rPr>
              <a:t>n</a:t>
            </a:r>
            <a:r>
              <a:rPr lang="zh-CN" altLang="en-US" sz="2400" b="0">
                <a:latin typeface="楷体_GB2312" pitchFamily="49" charset="-122"/>
                <a:ea typeface="楷体_GB2312" pitchFamily="49" charset="-122"/>
              </a:rPr>
              <a:t>区流向费米能级低的</a:t>
            </a:r>
            <a:r>
              <a:rPr lang="en-US" altLang="zh-CN" sz="2400" b="0">
                <a:latin typeface="楷体_GB2312" pitchFamily="49" charset="-122"/>
                <a:ea typeface="楷体_GB2312" pitchFamily="49" charset="-122"/>
              </a:rPr>
              <a:t>p</a:t>
            </a:r>
            <a:r>
              <a:rPr lang="zh-CN" altLang="en-US" sz="2400" b="0">
                <a:latin typeface="楷体_GB2312" pitchFamily="49" charset="-122"/>
                <a:ea typeface="楷体_GB2312" pitchFamily="49" charset="-122"/>
              </a:rPr>
              <a:t>区，空穴则从</a:t>
            </a:r>
            <a:r>
              <a:rPr lang="en-US" altLang="zh-CN" sz="2400" b="0">
                <a:latin typeface="楷体_GB2312" pitchFamily="49" charset="-122"/>
                <a:ea typeface="楷体_GB2312" pitchFamily="49" charset="-122"/>
              </a:rPr>
              <a:t>p</a:t>
            </a:r>
            <a:r>
              <a:rPr lang="zh-CN" altLang="en-US" sz="2400" b="0">
                <a:latin typeface="楷体_GB2312" pitchFamily="49" charset="-122"/>
                <a:ea typeface="楷体_GB2312" pitchFamily="49" charset="-122"/>
              </a:rPr>
              <a:t>区流向</a:t>
            </a:r>
            <a:r>
              <a:rPr lang="en-US" altLang="zh-CN" sz="2400" b="0">
                <a:latin typeface="楷体_GB2312" pitchFamily="49" charset="-122"/>
                <a:ea typeface="楷体_GB2312" pitchFamily="49" charset="-122"/>
              </a:rPr>
              <a:t>n</a:t>
            </a:r>
            <a:r>
              <a:rPr lang="zh-CN" altLang="en-US" sz="2400" b="0">
                <a:latin typeface="楷体_GB2312" pitchFamily="49" charset="-122"/>
                <a:ea typeface="楷体_GB2312" pitchFamily="49" charset="-122"/>
              </a:rPr>
              <a:t>区，因而</a:t>
            </a:r>
            <a:r>
              <a:rPr lang="en-US" altLang="zh-CN" sz="2400" b="0">
                <a:latin typeface="楷体_GB2312" pitchFamily="49" charset="-122"/>
                <a:ea typeface="楷体_GB2312" pitchFamily="49" charset="-122"/>
              </a:rPr>
              <a:t>E</a:t>
            </a:r>
            <a:r>
              <a:rPr lang="en-US" altLang="zh-CN" sz="2400" b="0" baseline="-25000">
                <a:latin typeface="楷体_GB2312" pitchFamily="49" charset="-122"/>
                <a:ea typeface="楷体_GB2312" pitchFamily="49" charset="-122"/>
              </a:rPr>
              <a:t>Fn</a:t>
            </a:r>
            <a:r>
              <a:rPr lang="zh-CN" altLang="en-US" sz="2400" b="0">
                <a:latin typeface="楷体_GB2312" pitchFamily="49" charset="-122"/>
                <a:ea typeface="楷体_GB2312" pitchFamily="49" charset="-122"/>
              </a:rPr>
              <a:t>不断下移，且</a:t>
            </a:r>
            <a:r>
              <a:rPr lang="en-US" altLang="zh-CN" sz="2400" b="0">
                <a:latin typeface="楷体_GB2312" pitchFamily="49" charset="-122"/>
                <a:ea typeface="楷体_GB2312" pitchFamily="49" charset="-122"/>
              </a:rPr>
              <a:t>E</a:t>
            </a:r>
            <a:r>
              <a:rPr lang="en-US" altLang="zh-CN" sz="2400" b="0" baseline="-25000">
                <a:latin typeface="楷体_GB2312" pitchFamily="49" charset="-122"/>
                <a:ea typeface="楷体_GB2312" pitchFamily="49" charset="-122"/>
              </a:rPr>
              <a:t>Fp</a:t>
            </a:r>
            <a:r>
              <a:rPr lang="zh-CN" altLang="en-US" sz="2400" b="0">
                <a:latin typeface="楷体_GB2312" pitchFamily="49" charset="-122"/>
                <a:ea typeface="楷体_GB2312" pitchFamily="49" charset="-122"/>
              </a:rPr>
              <a:t>不断上移，直至</a:t>
            </a:r>
            <a:r>
              <a:rPr lang="en-US" altLang="zh-CN" sz="2400" b="0">
                <a:latin typeface="楷体_GB2312" pitchFamily="49" charset="-122"/>
                <a:ea typeface="楷体_GB2312" pitchFamily="49" charset="-122"/>
              </a:rPr>
              <a:t>E</a:t>
            </a:r>
            <a:r>
              <a:rPr lang="en-US" altLang="zh-CN" sz="2400" b="0" baseline="-25000">
                <a:latin typeface="楷体_GB2312" pitchFamily="49" charset="-122"/>
                <a:ea typeface="楷体_GB2312" pitchFamily="49" charset="-122"/>
              </a:rPr>
              <a:t>Fn</a:t>
            </a:r>
            <a:r>
              <a:rPr lang="zh-CN" altLang="en-US" sz="2400" b="0" baseline="-25000">
                <a:latin typeface="楷体_GB2312" pitchFamily="49" charset="-122"/>
                <a:ea typeface="楷体_GB2312" pitchFamily="49" charset="-122"/>
              </a:rPr>
              <a:t> </a:t>
            </a:r>
            <a:r>
              <a:rPr lang="en-US" altLang="zh-CN" sz="2400" b="0">
                <a:latin typeface="楷体_GB2312" pitchFamily="49" charset="-122"/>
                <a:ea typeface="楷体_GB2312" pitchFamily="49" charset="-122"/>
              </a:rPr>
              <a:t>=E</a:t>
            </a:r>
            <a:r>
              <a:rPr lang="en-US" altLang="zh-CN" sz="2400" b="0" baseline="-25000">
                <a:latin typeface="楷体_GB2312" pitchFamily="49" charset="-122"/>
                <a:ea typeface="楷体_GB2312" pitchFamily="49" charset="-122"/>
              </a:rPr>
              <a:t>Fp</a:t>
            </a:r>
            <a:r>
              <a:rPr lang="zh-CN" altLang="en-US" sz="2400" b="0">
                <a:latin typeface="楷体_GB2312" pitchFamily="49" charset="-122"/>
                <a:ea typeface="楷体_GB2312" pitchFamily="49" charset="-122"/>
              </a:rPr>
              <a:t>时为止。这时</a:t>
            </a:r>
            <a:r>
              <a:rPr lang="en-US" altLang="zh-CN" sz="2400" b="0">
                <a:latin typeface="楷体_GB2312" pitchFamily="49" charset="-122"/>
                <a:ea typeface="楷体_GB2312" pitchFamily="49" charset="-122"/>
              </a:rPr>
              <a:t>pn</a:t>
            </a:r>
            <a:r>
              <a:rPr lang="zh-CN" altLang="en-US" sz="2400" b="0">
                <a:latin typeface="楷体_GB2312" pitchFamily="49" charset="-122"/>
                <a:ea typeface="楷体_GB2312" pitchFamily="49" charset="-122"/>
              </a:rPr>
              <a:t>结中有统一的费米能级</a:t>
            </a:r>
            <a:r>
              <a:rPr lang="en-US" altLang="zh-CN" sz="2400" b="0">
                <a:latin typeface="楷体_GB2312" pitchFamily="49" charset="-122"/>
                <a:ea typeface="楷体_GB2312" pitchFamily="49" charset="-122"/>
              </a:rPr>
              <a:t>E</a:t>
            </a:r>
            <a:r>
              <a:rPr lang="en-US" altLang="zh-CN" sz="2400" b="0" baseline="-25000">
                <a:latin typeface="楷体_GB2312" pitchFamily="49" charset="-122"/>
                <a:ea typeface="楷体_GB2312" pitchFamily="49" charset="-122"/>
              </a:rPr>
              <a:t>F</a:t>
            </a:r>
            <a:r>
              <a:rPr lang="en-US" altLang="zh-CN" sz="2400" b="0">
                <a:latin typeface="楷体_GB2312" pitchFamily="49" charset="-122"/>
                <a:ea typeface="楷体_GB2312" pitchFamily="49" charset="-122"/>
              </a:rPr>
              <a:t>, p-n</a:t>
            </a:r>
            <a:r>
              <a:rPr lang="zh-CN" altLang="en-US" sz="2400" b="0">
                <a:latin typeface="楷体_GB2312" pitchFamily="49" charset="-122"/>
                <a:ea typeface="楷体_GB2312" pitchFamily="49" charset="-122"/>
              </a:rPr>
              <a:t>结处于平衡状态。</a:t>
            </a:r>
            <a:r>
              <a:rPr lang="zh-CN" altLang="en-US" b="0">
                <a:latin typeface="楷体_GB2312" pitchFamily="49" charset="-122"/>
                <a:ea typeface="楷体_GB2312" pitchFamily="49" charset="-122"/>
              </a:rPr>
              <a:t> </a:t>
            </a:r>
            <a:endParaRPr lang="zh-CN" altLang="en-US" b="0">
              <a:latin typeface="楷体_GB2312" pitchFamily="49" charset="-122"/>
              <a:ea typeface="楷体_GB2312" pitchFamily="49" charset="-122"/>
            </a:endParaRPr>
          </a:p>
          <a:p>
            <a:endParaRPr lang="zh-CN" altLang="en-US">
              <a:latin typeface="楷体_GB2312" pitchFamily="49" charset="-122"/>
              <a:ea typeface="楷体_GB2312" pitchFamily="49" charset="-122"/>
            </a:endParaRPr>
          </a:p>
        </p:txBody>
      </p:sp>
      <p:pic>
        <p:nvPicPr>
          <p:cNvPr id="337924"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90800" y="3810001"/>
            <a:ext cx="2971800" cy="264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37925"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91201" y="3810000"/>
            <a:ext cx="3095625" cy="2478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706" name="Rectangle 2"/>
          <p:cNvSpPr>
            <a:spLocks noGrp="1" noChangeArrowheads="1"/>
          </p:cNvSpPr>
          <p:nvPr>
            <p:ph type="title"/>
          </p:nvPr>
        </p:nvSpPr>
        <p:spPr/>
        <p:txBody>
          <a:bodyPr/>
          <a:lstStyle/>
          <a:p>
            <a:r>
              <a:rPr lang="en-US" altLang="zh-CN" sz="3600">
                <a:solidFill>
                  <a:schemeClr val="tx1"/>
                </a:solidFill>
                <a:latin typeface="楷体_GB2312" pitchFamily="49" charset="-122"/>
                <a:ea typeface="楷体_GB2312" pitchFamily="49" charset="-122"/>
              </a:rPr>
              <a:t>6.1.3  pn</a:t>
            </a:r>
            <a:r>
              <a:rPr lang="zh-CN" altLang="en-US" sz="3600">
                <a:solidFill>
                  <a:schemeClr val="tx1"/>
                </a:solidFill>
                <a:latin typeface="楷体_GB2312" pitchFamily="49" charset="-122"/>
                <a:ea typeface="楷体_GB2312" pitchFamily="49" charset="-122"/>
              </a:rPr>
              <a:t>结能带图</a:t>
            </a:r>
            <a:endParaRPr lang="zh-CN" altLang="en-US" sz="3600">
              <a:solidFill>
                <a:schemeClr val="tx1"/>
              </a:solidFill>
              <a:latin typeface="楷体_GB2312" pitchFamily="49" charset="-122"/>
              <a:ea typeface="楷体_GB2312" pitchFamily="49" charset="-122"/>
            </a:endParaRPr>
          </a:p>
        </p:txBody>
      </p:sp>
      <p:sp>
        <p:nvSpPr>
          <p:cNvPr id="328707" name="Rectangle 3"/>
          <p:cNvSpPr>
            <a:spLocks noGrp="1" noChangeArrowheads="1"/>
          </p:cNvSpPr>
          <p:nvPr>
            <p:ph type="body" idx="1"/>
          </p:nvPr>
        </p:nvSpPr>
        <p:spPr/>
        <p:txBody>
          <a:bodyPr/>
          <a:lstStyle/>
          <a:p>
            <a:pPr>
              <a:spcBef>
                <a:spcPct val="0"/>
              </a:spcBef>
              <a:buClrTx/>
              <a:buFontTx/>
              <a:buNone/>
            </a:pPr>
            <a:r>
              <a:rPr lang="zh-CN" altLang="en-US" b="0">
                <a:ea typeface="宋体" panose="02010600030101010101" pitchFamily="2" charset="-122"/>
              </a:rPr>
              <a:t>        </a:t>
            </a:r>
            <a:r>
              <a:rPr lang="zh-CN" altLang="en-US" sz="2400" b="0">
                <a:latin typeface="楷体_GB2312" pitchFamily="49" charset="-122"/>
                <a:ea typeface="楷体_GB2312" pitchFamily="49" charset="-122"/>
              </a:rPr>
              <a:t>能带相对移动的原因是</a:t>
            </a:r>
            <a:r>
              <a:rPr lang="en-US" altLang="zh-CN" sz="2400" b="0">
                <a:latin typeface="楷体_GB2312" pitchFamily="49" charset="-122"/>
                <a:ea typeface="楷体_GB2312" pitchFamily="49" charset="-122"/>
              </a:rPr>
              <a:t>pn</a:t>
            </a:r>
            <a:r>
              <a:rPr lang="zh-CN" altLang="en-US" sz="2400" b="0">
                <a:latin typeface="楷体_GB2312" pitchFamily="49" charset="-122"/>
                <a:ea typeface="楷体_GB2312" pitchFamily="49" charset="-122"/>
              </a:rPr>
              <a:t>结空间电荷区中存在内建电场的结果。随着从</a:t>
            </a:r>
            <a:r>
              <a:rPr lang="en-US" altLang="zh-CN" sz="2400" b="0">
                <a:latin typeface="楷体_GB2312" pitchFamily="49" charset="-122"/>
                <a:ea typeface="楷体_GB2312" pitchFamily="49" charset="-122"/>
              </a:rPr>
              <a:t>n</a:t>
            </a:r>
            <a:r>
              <a:rPr lang="zh-CN" altLang="en-US" sz="2400" b="0">
                <a:latin typeface="楷体_GB2312" pitchFamily="49" charset="-122"/>
                <a:ea typeface="楷体_GB2312" pitchFamily="49" charset="-122"/>
              </a:rPr>
              <a:t>区指向</a:t>
            </a:r>
            <a:r>
              <a:rPr lang="en-US" altLang="zh-CN" sz="2400" b="0">
                <a:latin typeface="楷体_GB2312" pitchFamily="49" charset="-122"/>
                <a:ea typeface="楷体_GB2312" pitchFamily="49" charset="-122"/>
              </a:rPr>
              <a:t>p</a:t>
            </a:r>
            <a:r>
              <a:rPr lang="zh-CN" altLang="en-US" sz="2400" b="0">
                <a:latin typeface="楷体_GB2312" pitchFamily="49" charset="-122"/>
                <a:ea typeface="楷体_GB2312" pitchFamily="49" charset="-122"/>
              </a:rPr>
              <a:t>区的内建电场的不断增加，空间电荷区内电势 </a:t>
            </a:r>
            <a:r>
              <a:rPr lang="en-US" altLang="zh-CN" sz="2400" b="0">
                <a:latin typeface="楷体_GB2312" pitchFamily="49" charset="-122"/>
                <a:ea typeface="楷体_GB2312" pitchFamily="49" charset="-122"/>
              </a:rPr>
              <a:t>V (x)</a:t>
            </a:r>
            <a:r>
              <a:rPr lang="zh-CN" altLang="en-US" sz="2400" b="0">
                <a:latin typeface="楷体_GB2312" pitchFamily="49" charset="-122"/>
                <a:ea typeface="楷体_GB2312" pitchFamily="49" charset="-122"/>
              </a:rPr>
              <a:t>由</a:t>
            </a:r>
            <a:r>
              <a:rPr lang="en-US" altLang="zh-CN" sz="2400" b="0">
                <a:latin typeface="楷体_GB2312" pitchFamily="49" charset="-122"/>
                <a:ea typeface="楷体_GB2312" pitchFamily="49" charset="-122"/>
              </a:rPr>
              <a:t>n</a:t>
            </a:r>
            <a:r>
              <a:rPr lang="zh-CN" altLang="en-US" sz="2400" b="0">
                <a:latin typeface="楷体_GB2312" pitchFamily="49" charset="-122"/>
                <a:ea typeface="楷体_GB2312" pitchFamily="49" charset="-122"/>
              </a:rPr>
              <a:t>区向</a:t>
            </a:r>
            <a:r>
              <a:rPr lang="en-US" altLang="zh-CN" sz="2400" b="0">
                <a:latin typeface="楷体_GB2312" pitchFamily="49" charset="-122"/>
                <a:ea typeface="楷体_GB2312" pitchFamily="49" charset="-122"/>
              </a:rPr>
              <a:t>p</a:t>
            </a:r>
            <a:r>
              <a:rPr lang="zh-CN" altLang="en-US" sz="2400" b="0">
                <a:latin typeface="楷体_GB2312" pitchFamily="49" charset="-122"/>
                <a:ea typeface="楷体_GB2312" pitchFamily="49" charset="-122"/>
              </a:rPr>
              <a:t>区不断降低，而电子的电势能</a:t>
            </a:r>
            <a:r>
              <a:rPr lang="en-US" altLang="zh-CN" sz="2400" b="0">
                <a:latin typeface="楷体_GB2312" pitchFamily="49" charset="-122"/>
                <a:ea typeface="楷体_GB2312" pitchFamily="49" charset="-122"/>
              </a:rPr>
              <a:t>-qV(x)</a:t>
            </a:r>
            <a:r>
              <a:rPr lang="zh-CN" altLang="en-US" sz="2400" b="0">
                <a:latin typeface="楷体_GB2312" pitchFamily="49" charset="-122"/>
                <a:ea typeface="楷体_GB2312" pitchFamily="49" charset="-122"/>
              </a:rPr>
              <a:t>则由</a:t>
            </a:r>
            <a:r>
              <a:rPr lang="en-US" altLang="zh-CN" sz="2400" b="0">
                <a:latin typeface="楷体_GB2312" pitchFamily="49" charset="-122"/>
                <a:ea typeface="楷体_GB2312" pitchFamily="49" charset="-122"/>
              </a:rPr>
              <a:t>n</a:t>
            </a:r>
            <a:r>
              <a:rPr lang="zh-CN" altLang="en-US" sz="2400" b="0">
                <a:latin typeface="楷体_GB2312" pitchFamily="49" charset="-122"/>
                <a:ea typeface="楷体_GB2312" pitchFamily="49" charset="-122"/>
              </a:rPr>
              <a:t>区向</a:t>
            </a:r>
            <a:r>
              <a:rPr lang="en-US" altLang="zh-CN" sz="2400" b="0">
                <a:latin typeface="楷体_GB2312" pitchFamily="49" charset="-122"/>
                <a:ea typeface="楷体_GB2312" pitchFamily="49" charset="-122"/>
              </a:rPr>
              <a:t>p</a:t>
            </a:r>
            <a:r>
              <a:rPr lang="zh-CN" altLang="en-US" sz="2400" b="0">
                <a:latin typeface="楷体_GB2312" pitchFamily="49" charset="-122"/>
                <a:ea typeface="楷体_GB2312" pitchFamily="49" charset="-122"/>
              </a:rPr>
              <a:t>区不断升高，所以，</a:t>
            </a:r>
            <a:r>
              <a:rPr lang="en-US" altLang="zh-CN" sz="2400" b="0">
                <a:latin typeface="楷体_GB2312" pitchFamily="49" charset="-122"/>
                <a:ea typeface="楷体_GB2312" pitchFamily="49" charset="-122"/>
              </a:rPr>
              <a:t>p</a:t>
            </a:r>
            <a:r>
              <a:rPr lang="zh-CN" altLang="en-US" sz="2400" b="0">
                <a:latin typeface="楷体_GB2312" pitchFamily="49" charset="-122"/>
                <a:ea typeface="楷体_GB2312" pitchFamily="49" charset="-122"/>
              </a:rPr>
              <a:t>区的能带相对</a:t>
            </a:r>
            <a:r>
              <a:rPr lang="en-US" altLang="zh-CN" sz="2400" b="0">
                <a:latin typeface="楷体_GB2312" pitchFamily="49" charset="-122"/>
                <a:ea typeface="楷体_GB2312" pitchFamily="49" charset="-122"/>
              </a:rPr>
              <a:t>n</a:t>
            </a:r>
            <a:r>
              <a:rPr lang="zh-CN" altLang="en-US" sz="2400" b="0">
                <a:latin typeface="楷体_GB2312" pitchFamily="49" charset="-122"/>
                <a:ea typeface="楷体_GB2312" pitchFamily="49" charset="-122"/>
              </a:rPr>
              <a:t>区上移，而</a:t>
            </a:r>
            <a:r>
              <a:rPr lang="en-US" altLang="zh-CN" sz="2400" b="0">
                <a:latin typeface="楷体_GB2312" pitchFamily="49" charset="-122"/>
                <a:ea typeface="楷体_GB2312" pitchFamily="49" charset="-122"/>
              </a:rPr>
              <a:t>n</a:t>
            </a:r>
            <a:r>
              <a:rPr lang="zh-CN" altLang="en-US" sz="2400" b="0">
                <a:latin typeface="楷体_GB2312" pitchFamily="49" charset="-122"/>
                <a:ea typeface="楷体_GB2312" pitchFamily="49" charset="-122"/>
              </a:rPr>
              <a:t>区能带相对</a:t>
            </a:r>
            <a:r>
              <a:rPr lang="en-US" altLang="zh-CN" sz="2400" b="0">
                <a:latin typeface="楷体_GB2312" pitchFamily="49" charset="-122"/>
                <a:ea typeface="楷体_GB2312" pitchFamily="49" charset="-122"/>
              </a:rPr>
              <a:t>p</a:t>
            </a:r>
            <a:r>
              <a:rPr lang="zh-CN" altLang="en-US" sz="2400" b="0">
                <a:latin typeface="楷体_GB2312" pitchFamily="49" charset="-122"/>
                <a:ea typeface="楷体_GB2312" pitchFamily="49" charset="-122"/>
              </a:rPr>
              <a:t>区下移，直至费米能级处处相等时，能带才停止相对移动，</a:t>
            </a:r>
            <a:r>
              <a:rPr lang="en-US" altLang="zh-CN" sz="2400" b="0">
                <a:latin typeface="楷体_GB2312" pitchFamily="49" charset="-122"/>
                <a:ea typeface="楷体_GB2312" pitchFamily="49" charset="-122"/>
              </a:rPr>
              <a:t>p-n</a:t>
            </a:r>
            <a:r>
              <a:rPr lang="zh-CN" altLang="en-US" sz="2400" b="0">
                <a:latin typeface="楷体_GB2312" pitchFamily="49" charset="-122"/>
                <a:ea typeface="楷体_GB2312" pitchFamily="49" charset="-122"/>
              </a:rPr>
              <a:t>结达到平衡状态，因此，</a:t>
            </a:r>
            <a:r>
              <a:rPr lang="en-US" altLang="zh-CN" sz="2400" b="0">
                <a:latin typeface="楷体_GB2312" pitchFamily="49" charset="-122"/>
                <a:ea typeface="楷体_GB2312" pitchFamily="49" charset="-122"/>
              </a:rPr>
              <a:t>p-n</a:t>
            </a:r>
            <a:r>
              <a:rPr lang="zh-CN" altLang="en-US" sz="2400" b="0">
                <a:latin typeface="楷体_GB2312" pitchFamily="49" charset="-122"/>
                <a:ea typeface="楷体_GB2312" pitchFamily="49" charset="-122"/>
              </a:rPr>
              <a:t>结中费米能级处处相等恰好标志了每一种载流子的扩散电流和漂移电流互相抵消，没有净电流通过</a:t>
            </a:r>
            <a:r>
              <a:rPr lang="en-US" altLang="zh-CN" sz="2400" b="0">
                <a:latin typeface="楷体_GB2312" pitchFamily="49" charset="-122"/>
                <a:ea typeface="楷体_GB2312" pitchFamily="49" charset="-122"/>
              </a:rPr>
              <a:t>p-n</a:t>
            </a:r>
            <a:r>
              <a:rPr lang="zh-CN" altLang="en-US" sz="2400" b="0">
                <a:latin typeface="楷体_GB2312" pitchFamily="49" charset="-122"/>
                <a:ea typeface="楷体_GB2312" pitchFamily="49" charset="-122"/>
              </a:rPr>
              <a:t>结。</a:t>
            </a:r>
            <a:r>
              <a:rPr lang="zh-CN" altLang="en-US" sz="2400" b="0">
                <a:ea typeface="宋体" panose="02010600030101010101" pitchFamily="2" charset="-122"/>
              </a:rPr>
              <a:t> </a:t>
            </a:r>
            <a:endParaRPr lang="zh-CN" altLang="en-US" sz="2400" b="0">
              <a:ea typeface="宋体" panose="02010600030101010101" pitchFamily="2" charset="-122"/>
            </a:endParaRPr>
          </a:p>
          <a:p>
            <a:endParaRPr lang="zh-CN" altLang="en-US" sz="2400" b="0">
              <a:ea typeface="宋体" panose="02010600030101010101" pitchFamily="2" charset="-122"/>
            </a:endParaRPr>
          </a:p>
        </p:txBody>
      </p:sp>
      <p:pic>
        <p:nvPicPr>
          <p:cNvPr id="328708"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038601" y="4343400"/>
            <a:ext cx="3095625" cy="2173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9971" name="Rectangle 3"/>
          <p:cNvSpPr>
            <a:spLocks noGrp="1" noChangeArrowheads="1"/>
          </p:cNvSpPr>
          <p:nvPr>
            <p:ph type="body" sz="half" idx="1"/>
          </p:nvPr>
        </p:nvSpPr>
        <p:spPr>
          <a:xfrm>
            <a:off x="1709094" y="336852"/>
            <a:ext cx="8773812" cy="6019800"/>
          </a:xfrm>
        </p:spPr>
        <p:txBody>
          <a:bodyPr/>
          <a:lstStyle/>
          <a:p>
            <a:pPr>
              <a:spcBef>
                <a:spcPct val="0"/>
              </a:spcBef>
              <a:buClrTx/>
              <a:buFontTx/>
              <a:buNone/>
            </a:pPr>
            <a:r>
              <a:rPr lang="zh-CN" altLang="en-US" sz="2000" b="0" dirty="0">
                <a:solidFill>
                  <a:srgbClr val="000000"/>
                </a:solidFill>
                <a:ea typeface="楷体_GB2312" pitchFamily="49" charset="-122"/>
              </a:rPr>
              <a:t>这一结论可以通过电流密度方程式推出。</a:t>
            </a:r>
            <a:endParaRPr lang="zh-CN" altLang="en-US" sz="2000" b="0" dirty="0">
              <a:solidFill>
                <a:srgbClr val="000000"/>
              </a:solidFill>
              <a:ea typeface="楷体_GB2312" pitchFamily="49" charset="-122"/>
            </a:endParaRPr>
          </a:p>
          <a:p>
            <a:r>
              <a:rPr lang="zh-CN" altLang="en-US" sz="2000" b="0" dirty="0">
                <a:latin typeface="楷体_GB2312" pitchFamily="49" charset="-122"/>
                <a:ea typeface="楷体_GB2312" pitchFamily="49" charset="-122"/>
              </a:rPr>
              <a:t>首先考虑电子电流，流过</a:t>
            </a:r>
            <a:r>
              <a:rPr lang="en-US" altLang="zh-CN" sz="2000" b="0" dirty="0" err="1">
                <a:latin typeface="楷体_GB2312" pitchFamily="49" charset="-122"/>
                <a:ea typeface="楷体_GB2312" pitchFamily="49" charset="-122"/>
              </a:rPr>
              <a:t>pn</a:t>
            </a:r>
            <a:r>
              <a:rPr lang="zh-CN" altLang="en-US" sz="2000" b="0" dirty="0">
                <a:latin typeface="楷体_GB2312" pitchFamily="49" charset="-122"/>
                <a:ea typeface="楷体_GB2312" pitchFamily="49" charset="-122"/>
              </a:rPr>
              <a:t>结的总电子电流密度</a:t>
            </a:r>
            <a:r>
              <a:rPr lang="en-US" altLang="zh-CN" sz="2000" b="0" dirty="0">
                <a:latin typeface="楷体_GB2312" pitchFamily="49" charset="-122"/>
                <a:ea typeface="楷体_GB2312" pitchFamily="49" charset="-122"/>
              </a:rPr>
              <a:t>Jn</a:t>
            </a:r>
            <a:r>
              <a:rPr lang="zh-CN" altLang="en-US" sz="2000" b="0" dirty="0">
                <a:latin typeface="楷体_GB2312" pitchFamily="49" charset="-122"/>
                <a:ea typeface="楷体_GB2312" pitchFamily="49" charset="-122"/>
              </a:rPr>
              <a:t>应等于电子的漂移电流密度          与扩散电流密度                    之和</a:t>
            </a:r>
            <a:r>
              <a:rPr lang="en-US" altLang="zh-CN" sz="2000" b="0" dirty="0">
                <a:latin typeface="楷体_GB2312" pitchFamily="49" charset="-122"/>
                <a:ea typeface="楷体_GB2312" pitchFamily="49" charset="-122"/>
              </a:rPr>
              <a:t>.</a:t>
            </a:r>
            <a:endParaRPr lang="en-US" altLang="zh-CN" sz="2000" b="0" dirty="0">
              <a:latin typeface="楷体_GB2312" pitchFamily="49" charset="-122"/>
              <a:ea typeface="楷体_GB2312" pitchFamily="49" charset="-122"/>
            </a:endParaRPr>
          </a:p>
          <a:p>
            <a:endParaRPr lang="zh-CN" altLang="en-US" sz="2000" b="0" dirty="0">
              <a:latin typeface="楷体_GB2312" pitchFamily="49" charset="-122"/>
              <a:ea typeface="楷体_GB2312" pitchFamily="49" charset="-122"/>
            </a:endParaRPr>
          </a:p>
          <a:p>
            <a:endParaRPr lang="zh-CN" altLang="en-US" sz="2000" b="0" dirty="0">
              <a:latin typeface="楷体_GB2312" pitchFamily="49" charset="-122"/>
              <a:ea typeface="楷体_GB2312" pitchFamily="49" charset="-122"/>
            </a:endParaRPr>
          </a:p>
          <a:p>
            <a:r>
              <a:rPr lang="zh-CN" altLang="en-US" sz="2000" b="0" dirty="0">
                <a:latin typeface="楷体_GB2312" pitchFamily="49" charset="-122"/>
                <a:ea typeface="楷体_GB2312" pitchFamily="49" charset="-122"/>
              </a:rPr>
              <a:t>因                   </a:t>
            </a:r>
            <a:r>
              <a:rPr lang="en-US" altLang="zh-CN" sz="2000" b="0" dirty="0">
                <a:latin typeface="楷体_GB2312" pitchFamily="49" charset="-122"/>
                <a:ea typeface="楷体_GB2312" pitchFamily="49" charset="-122"/>
              </a:rPr>
              <a:t>,</a:t>
            </a:r>
            <a:r>
              <a:rPr lang="zh-CN" altLang="en-US" sz="2000" b="0" dirty="0">
                <a:latin typeface="楷体_GB2312" pitchFamily="49" charset="-122"/>
                <a:ea typeface="楷体_GB2312" pitchFamily="49" charset="-122"/>
              </a:rPr>
              <a:t>则</a:t>
            </a:r>
            <a:endParaRPr lang="zh-CN" altLang="en-US" sz="2000" b="0" dirty="0">
              <a:latin typeface="楷体_GB2312" pitchFamily="49" charset="-122"/>
              <a:ea typeface="楷体_GB2312" pitchFamily="49" charset="-122"/>
            </a:endParaRPr>
          </a:p>
          <a:p>
            <a:endParaRPr lang="zh-CN" altLang="en-US" sz="2000" b="0" dirty="0">
              <a:latin typeface="楷体_GB2312" pitchFamily="49" charset="-122"/>
              <a:ea typeface="楷体_GB2312" pitchFamily="49" charset="-122"/>
            </a:endParaRPr>
          </a:p>
          <a:p>
            <a:r>
              <a:rPr lang="zh-CN" altLang="en-US" sz="2000" b="0" dirty="0">
                <a:latin typeface="楷体_GB2312" pitchFamily="49" charset="-122"/>
                <a:ea typeface="楷体_GB2312" pitchFamily="49" charset="-122"/>
              </a:rPr>
              <a:t>又因为                                    ，所以</a:t>
            </a:r>
            <a:endParaRPr lang="zh-CN" altLang="en-US" sz="2000" b="0" dirty="0">
              <a:latin typeface="楷体_GB2312" pitchFamily="49" charset="-122"/>
              <a:ea typeface="楷体_GB2312" pitchFamily="49" charset="-122"/>
            </a:endParaRPr>
          </a:p>
          <a:p>
            <a:r>
              <a:rPr lang="en-US" altLang="zh-CN" sz="2000" b="0" dirty="0">
                <a:latin typeface="楷体_GB2312" pitchFamily="49" charset="-122"/>
                <a:ea typeface="楷体_GB2312" pitchFamily="49" charset="-122"/>
              </a:rPr>
              <a:t>      </a:t>
            </a:r>
            <a:endParaRPr lang="en-US" altLang="zh-CN" sz="2000" b="0" dirty="0">
              <a:latin typeface="楷体_GB2312" pitchFamily="49" charset="-122"/>
              <a:ea typeface="楷体_GB2312" pitchFamily="49" charset="-122"/>
            </a:endParaRPr>
          </a:p>
          <a:p>
            <a:endParaRPr lang="zh-CN" altLang="en-US" sz="2000" b="0" dirty="0">
              <a:latin typeface="楷体_GB2312" pitchFamily="49" charset="-122"/>
              <a:ea typeface="楷体_GB2312" pitchFamily="49" charset="-122"/>
            </a:endParaRPr>
          </a:p>
          <a:p>
            <a:endParaRPr lang="zh-CN" altLang="en-US" sz="2000" b="0" dirty="0">
              <a:latin typeface="楷体_GB2312" pitchFamily="49" charset="-122"/>
              <a:ea typeface="楷体_GB2312" pitchFamily="49" charset="-122"/>
            </a:endParaRPr>
          </a:p>
          <a:p>
            <a:endParaRPr lang="zh-CN" altLang="en-US" sz="2000" b="0" dirty="0">
              <a:latin typeface="楷体_GB2312" pitchFamily="49" charset="-122"/>
              <a:ea typeface="楷体_GB2312" pitchFamily="49" charset="-122"/>
            </a:endParaRPr>
          </a:p>
          <a:p>
            <a:r>
              <a:rPr lang="zh-CN" altLang="en-US" sz="2000" b="0" dirty="0">
                <a:latin typeface="楷体_GB2312" pitchFamily="49" charset="-122"/>
                <a:ea typeface="楷体_GB2312" pitchFamily="49" charset="-122"/>
              </a:rPr>
              <a:t>则</a:t>
            </a:r>
            <a:endParaRPr lang="zh-CN" altLang="en-US" sz="2000" b="0" dirty="0">
              <a:latin typeface="楷体_GB2312" pitchFamily="49" charset="-122"/>
              <a:ea typeface="楷体_GB2312" pitchFamily="49" charset="-122"/>
            </a:endParaRPr>
          </a:p>
          <a:p>
            <a:endParaRPr lang="zh-CN" altLang="en-US" sz="2000" b="0" dirty="0">
              <a:latin typeface="楷体_GB2312" pitchFamily="49" charset="-122"/>
              <a:ea typeface="楷体_GB2312" pitchFamily="49" charset="-122"/>
            </a:endParaRPr>
          </a:p>
          <a:p>
            <a:r>
              <a:rPr lang="zh-CN" altLang="en-US" sz="2000" b="0" dirty="0">
                <a:latin typeface="楷体_GB2312" pitchFamily="49" charset="-122"/>
                <a:ea typeface="楷体_GB2312" pitchFamily="49" charset="-122"/>
              </a:rPr>
              <a:t>而本征费米能级</a:t>
            </a:r>
            <a:r>
              <a:rPr lang="en-US" altLang="zh-CN" sz="2000" b="0" dirty="0" err="1">
                <a:latin typeface="楷体_GB2312" pitchFamily="49" charset="-122"/>
                <a:ea typeface="楷体_GB2312" pitchFamily="49" charset="-122"/>
              </a:rPr>
              <a:t>Ei</a:t>
            </a:r>
            <a:r>
              <a:rPr lang="zh-CN" altLang="en-US" sz="2000" b="0" dirty="0">
                <a:latin typeface="楷体_GB2312" pitchFamily="49" charset="-122"/>
                <a:ea typeface="楷体_GB2312" pitchFamily="49" charset="-122"/>
              </a:rPr>
              <a:t>的变化与电子电势能</a:t>
            </a:r>
            <a:r>
              <a:rPr lang="en-US" altLang="zh-CN" sz="2000" b="0" dirty="0">
                <a:latin typeface="楷体_GB2312" pitchFamily="49" charset="-122"/>
                <a:ea typeface="楷体_GB2312" pitchFamily="49" charset="-122"/>
              </a:rPr>
              <a:t>-qv(x)</a:t>
            </a:r>
            <a:r>
              <a:rPr lang="zh-CN" altLang="en-US" sz="2000" b="0" dirty="0">
                <a:latin typeface="楷体_GB2312" pitchFamily="49" charset="-122"/>
                <a:ea typeface="楷体_GB2312" pitchFamily="49" charset="-122"/>
              </a:rPr>
              <a:t>的变化一致，所以</a:t>
            </a:r>
            <a:endParaRPr lang="zh-CN" altLang="en-US" sz="2000" b="0" dirty="0">
              <a:latin typeface="楷体_GB2312" pitchFamily="49" charset="-122"/>
              <a:ea typeface="楷体_GB2312" pitchFamily="49" charset="-122"/>
            </a:endParaRPr>
          </a:p>
          <a:p>
            <a:endParaRPr lang="zh-CN" altLang="en-US" sz="2000" b="0" dirty="0">
              <a:latin typeface="楷体_GB2312" pitchFamily="49" charset="-122"/>
              <a:ea typeface="楷体_GB2312" pitchFamily="49" charset="-122"/>
            </a:endParaRPr>
          </a:p>
          <a:p>
            <a:endParaRPr lang="zh-CN" altLang="en-US" sz="2000" b="0" dirty="0">
              <a:latin typeface="楷体_GB2312" pitchFamily="49" charset="-122"/>
              <a:ea typeface="楷体_GB2312" pitchFamily="49" charset="-122"/>
            </a:endParaRPr>
          </a:p>
          <a:p>
            <a:endParaRPr lang="zh-CN" altLang="en-US" sz="2000" b="0" dirty="0">
              <a:latin typeface="楷体_GB2312" pitchFamily="49" charset="-122"/>
              <a:ea typeface="楷体_GB2312" pitchFamily="49" charset="-122"/>
            </a:endParaRPr>
          </a:p>
        </p:txBody>
      </p:sp>
      <p:graphicFrame>
        <p:nvGraphicFramePr>
          <p:cNvPr id="339981" name="Object 13"/>
          <p:cNvGraphicFramePr>
            <a:graphicFrameLocks noGrp="1" noChangeAspect="1"/>
          </p:cNvGraphicFramePr>
          <p:nvPr>
            <p:ph sz="half" idx="2"/>
          </p:nvPr>
        </p:nvGraphicFramePr>
        <p:xfrm>
          <a:off x="2743200" y="1008061"/>
          <a:ext cx="685800" cy="363538"/>
        </p:xfrm>
        <a:graphic>
          <a:graphicData uri="http://schemas.openxmlformats.org/presentationml/2006/ole">
            <mc:AlternateContent xmlns:mc="http://schemas.openxmlformats.org/markup-compatibility/2006">
              <mc:Choice xmlns:v="urn:schemas-microsoft-com:vml" Requires="v">
                <p:oleObj spid="_x0000_s1071" name="Equation" r:id="rId1" imgW="431800" imgH="228600" progId="Equation.DSMT4">
                  <p:embed/>
                </p:oleObj>
              </mc:Choice>
              <mc:Fallback>
                <p:oleObj name="Equation" r:id="rId1" imgW="431800" imgH="228600" progId="Equation.DSMT4">
                  <p:embed/>
                  <p:pic>
                    <p:nvPicPr>
                      <p:cNvPr id="0" name="Object 1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3200" y="1008061"/>
                        <a:ext cx="685800"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39999" name="Object 31"/>
          <p:cNvGraphicFramePr>
            <a:graphicFrameLocks noChangeAspect="1"/>
          </p:cNvGraphicFramePr>
          <p:nvPr/>
        </p:nvGraphicFramePr>
        <p:xfrm>
          <a:off x="6038850" y="3340100"/>
          <a:ext cx="114300" cy="177800"/>
        </p:xfrm>
        <a:graphic>
          <a:graphicData uri="http://schemas.openxmlformats.org/presentationml/2006/ole">
            <mc:AlternateContent xmlns:mc="http://schemas.openxmlformats.org/markup-compatibility/2006">
              <mc:Choice xmlns:v="urn:schemas-microsoft-com:vml" Requires="v">
                <p:oleObj spid="_x0000_s1072" name="Equation" r:id="rId3" imgW="114300" imgH="177800" progId="Equation.DSMT4">
                  <p:embed/>
                </p:oleObj>
              </mc:Choice>
              <mc:Fallback>
                <p:oleObj name="Equation" r:id="rId3" imgW="114300" imgH="177800" progId="Equation.DSMT4">
                  <p:embed/>
                  <p:pic>
                    <p:nvPicPr>
                      <p:cNvPr id="0" name="Object 3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38850" y="3340100"/>
                        <a:ext cx="114300" cy="177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40002" name="Object 34"/>
          <p:cNvGraphicFramePr>
            <a:graphicFrameLocks noChangeAspect="1"/>
          </p:cNvGraphicFramePr>
          <p:nvPr/>
        </p:nvGraphicFramePr>
        <p:xfrm>
          <a:off x="6038850" y="1066800"/>
          <a:ext cx="1066800" cy="304800"/>
        </p:xfrm>
        <a:graphic>
          <a:graphicData uri="http://schemas.openxmlformats.org/presentationml/2006/ole">
            <mc:AlternateContent xmlns:mc="http://schemas.openxmlformats.org/markup-compatibility/2006">
              <mc:Choice xmlns:v="urn:schemas-microsoft-com:vml" Requires="v">
                <p:oleObj spid="_x0000_s1073" name="Equation" r:id="rId5" imgW="711200" imgH="203200" progId="Equation.DSMT4">
                  <p:embed/>
                </p:oleObj>
              </mc:Choice>
              <mc:Fallback>
                <p:oleObj name="Equation" r:id="rId5" imgW="711200" imgH="203200" progId="Equation.DSMT4">
                  <p:embed/>
                  <p:pic>
                    <p:nvPicPr>
                      <p:cNvPr id="0" name="Object 3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38850" y="1066800"/>
                        <a:ext cx="1066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40006" name="Object 38"/>
          <p:cNvGraphicFramePr>
            <a:graphicFrameLocks noChangeAspect="1"/>
          </p:cNvGraphicFramePr>
          <p:nvPr/>
        </p:nvGraphicFramePr>
        <p:xfrm>
          <a:off x="3048000" y="2819400"/>
          <a:ext cx="2286000" cy="381000"/>
        </p:xfrm>
        <a:graphic>
          <a:graphicData uri="http://schemas.openxmlformats.org/presentationml/2006/ole">
            <mc:AlternateContent xmlns:mc="http://schemas.openxmlformats.org/markup-compatibility/2006">
              <mc:Choice xmlns:v="urn:schemas-microsoft-com:vml" Requires="v">
                <p:oleObj spid="_x0000_s1074" name="Equation" r:id="rId7" imgW="1778000" imgH="279400" progId="Equation.DSMT4">
                  <p:embed/>
                </p:oleObj>
              </mc:Choice>
              <mc:Fallback>
                <p:oleObj name="Equation" r:id="rId7" imgW="1778000" imgH="279400" progId="Equation.DSMT4">
                  <p:embed/>
                  <p:pic>
                    <p:nvPicPr>
                      <p:cNvPr id="0" name="Object 3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48000" y="2819400"/>
                        <a:ext cx="22860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40008" name="Object 40"/>
          <p:cNvGraphicFramePr>
            <a:graphicFrameLocks noChangeAspect="1"/>
          </p:cNvGraphicFramePr>
          <p:nvPr/>
        </p:nvGraphicFramePr>
        <p:xfrm>
          <a:off x="4800600" y="1371600"/>
          <a:ext cx="1905000" cy="573088"/>
        </p:xfrm>
        <a:graphic>
          <a:graphicData uri="http://schemas.openxmlformats.org/presentationml/2006/ole">
            <mc:AlternateContent xmlns:mc="http://schemas.openxmlformats.org/markup-compatibility/2006">
              <mc:Choice xmlns:v="urn:schemas-microsoft-com:vml" Requires="v">
                <p:oleObj spid="_x0000_s1075" name="Equation" r:id="rId9" imgW="1307465" imgH="393700" progId="Equation.DSMT4">
                  <p:embed/>
                </p:oleObj>
              </mc:Choice>
              <mc:Fallback>
                <p:oleObj name="Equation" r:id="rId9" imgW="1307465" imgH="393700" progId="Equation.DSMT4">
                  <p:embed/>
                  <p:pic>
                    <p:nvPicPr>
                      <p:cNvPr id="0" name="Object 4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800600" y="1371600"/>
                        <a:ext cx="1905000" cy="573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40009" name="Object 41"/>
          <p:cNvGraphicFramePr>
            <a:graphicFrameLocks noChangeAspect="1"/>
          </p:cNvGraphicFramePr>
          <p:nvPr/>
        </p:nvGraphicFramePr>
        <p:xfrm>
          <a:off x="4953000" y="3124200"/>
          <a:ext cx="1752600" cy="590550"/>
        </p:xfrm>
        <a:graphic>
          <a:graphicData uri="http://schemas.openxmlformats.org/presentationml/2006/ole">
            <mc:AlternateContent xmlns:mc="http://schemas.openxmlformats.org/markup-compatibility/2006">
              <mc:Choice xmlns:v="urn:schemas-microsoft-com:vml" Requires="v">
                <p:oleObj spid="_x0000_s1076" name="Equation" r:id="rId11" imgW="1282700" imgH="431800" progId="Equation.DSMT4">
                  <p:embed/>
                </p:oleObj>
              </mc:Choice>
              <mc:Fallback>
                <p:oleObj name="Equation" r:id="rId11" imgW="1282700" imgH="431800" progId="Equation.DSMT4">
                  <p:embed/>
                  <p:pic>
                    <p:nvPicPr>
                      <p:cNvPr id="0" name="Object 4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953000" y="3124200"/>
                        <a:ext cx="1752600" cy="590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40010" name="Object 42"/>
          <p:cNvGraphicFramePr>
            <a:graphicFrameLocks noChangeAspect="1"/>
          </p:cNvGraphicFramePr>
          <p:nvPr/>
        </p:nvGraphicFramePr>
        <p:xfrm>
          <a:off x="4724400" y="3886200"/>
          <a:ext cx="2514600" cy="539750"/>
        </p:xfrm>
        <a:graphic>
          <a:graphicData uri="http://schemas.openxmlformats.org/presentationml/2006/ole">
            <mc:AlternateContent xmlns:mc="http://schemas.openxmlformats.org/markup-compatibility/2006">
              <mc:Choice xmlns:v="urn:schemas-microsoft-com:vml" Requires="v">
                <p:oleObj spid="_x0000_s1077" name="Equation" r:id="rId13" imgW="1714500" imgH="431800" progId="Equation.DSMT4">
                  <p:embed/>
                </p:oleObj>
              </mc:Choice>
              <mc:Fallback>
                <p:oleObj name="Equation" r:id="rId13" imgW="1714500" imgH="431800" progId="Equation.DSMT4">
                  <p:embed/>
                  <p:pic>
                    <p:nvPicPr>
                      <p:cNvPr id="0" name="Object 4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724400" y="3886200"/>
                        <a:ext cx="2514600" cy="539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40012" name="Object 44"/>
          <p:cNvGraphicFramePr>
            <a:graphicFrameLocks noChangeAspect="1"/>
          </p:cNvGraphicFramePr>
          <p:nvPr/>
        </p:nvGraphicFramePr>
        <p:xfrm>
          <a:off x="4724400" y="4648201"/>
          <a:ext cx="2209800" cy="530225"/>
        </p:xfrm>
        <a:graphic>
          <a:graphicData uri="http://schemas.openxmlformats.org/presentationml/2006/ole">
            <mc:AlternateContent xmlns:mc="http://schemas.openxmlformats.org/markup-compatibility/2006">
              <mc:Choice xmlns:v="urn:schemas-microsoft-com:vml" Requires="v">
                <p:oleObj spid="_x0000_s1078" name="Equation" r:id="rId15" imgW="1905000" imgH="457200" progId="Equation.DSMT4">
                  <p:embed/>
                </p:oleObj>
              </mc:Choice>
              <mc:Fallback>
                <p:oleObj name="Equation" r:id="rId15" imgW="1905000" imgH="457200" progId="Equation.DSMT4">
                  <p:embed/>
                  <p:pic>
                    <p:nvPicPr>
                      <p:cNvPr id="0" name="Object 4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724400" y="4648201"/>
                        <a:ext cx="2209800"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40013" name="Object 45"/>
          <p:cNvGraphicFramePr>
            <a:graphicFrameLocks noChangeAspect="1"/>
          </p:cNvGraphicFramePr>
          <p:nvPr/>
        </p:nvGraphicFramePr>
        <p:xfrm>
          <a:off x="5720715" y="2225675"/>
          <a:ext cx="2438400" cy="617538"/>
        </p:xfrm>
        <a:graphic>
          <a:graphicData uri="http://schemas.openxmlformats.org/presentationml/2006/ole">
            <mc:AlternateContent xmlns:mc="http://schemas.openxmlformats.org/markup-compatibility/2006">
              <mc:Choice xmlns:v="urn:schemas-microsoft-com:vml" Requires="v">
                <p:oleObj spid="_x0000_s1079" name="Equation" r:id="rId17" imgW="1803400" imgH="457200" progId="Equation.DSMT4">
                  <p:embed/>
                </p:oleObj>
              </mc:Choice>
              <mc:Fallback>
                <p:oleObj name="Equation" r:id="rId17" imgW="1803400" imgH="457200" progId="Equation.DSMT4">
                  <p:embed/>
                  <p:pic>
                    <p:nvPicPr>
                      <p:cNvPr id="0" name="Object 45"/>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720715" y="2225675"/>
                        <a:ext cx="2438400" cy="617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40014" name="Object 46"/>
          <p:cNvGraphicFramePr>
            <a:graphicFrameLocks noChangeAspect="1"/>
          </p:cNvGraphicFramePr>
          <p:nvPr/>
        </p:nvGraphicFramePr>
        <p:xfrm>
          <a:off x="2476500" y="2129631"/>
          <a:ext cx="1219200" cy="350838"/>
        </p:xfrm>
        <a:graphic>
          <a:graphicData uri="http://schemas.openxmlformats.org/presentationml/2006/ole">
            <mc:AlternateContent xmlns:mc="http://schemas.openxmlformats.org/markup-compatibility/2006">
              <mc:Choice xmlns:v="urn:schemas-microsoft-com:vml" Requires="v">
                <p:oleObj spid="_x0000_s1080" name="Equation" r:id="rId19" imgW="927100" imgH="228600" progId="Equation.DSMT4">
                  <p:embed/>
                </p:oleObj>
              </mc:Choice>
              <mc:Fallback>
                <p:oleObj name="Equation" r:id="rId19" imgW="927100" imgH="228600" progId="Equation.DSMT4">
                  <p:embed/>
                  <p:pic>
                    <p:nvPicPr>
                      <p:cNvPr id="0" name="Object 46"/>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476500" y="2129631"/>
                        <a:ext cx="1219200" cy="350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40017" name="Object 49"/>
          <p:cNvGraphicFramePr>
            <a:graphicFrameLocks noChangeAspect="1"/>
          </p:cNvGraphicFramePr>
          <p:nvPr/>
        </p:nvGraphicFramePr>
        <p:xfrm>
          <a:off x="4572000" y="5791200"/>
          <a:ext cx="2133600" cy="630238"/>
        </p:xfrm>
        <a:graphic>
          <a:graphicData uri="http://schemas.openxmlformats.org/presentationml/2006/ole">
            <mc:AlternateContent xmlns:mc="http://schemas.openxmlformats.org/markup-compatibility/2006">
              <mc:Choice xmlns:v="urn:schemas-microsoft-com:vml" Requires="v">
                <p:oleObj spid="_x0000_s1081" name="Equation" r:id="rId21" imgW="1333500" imgH="393700" progId="Equation.DSMT4">
                  <p:embed/>
                </p:oleObj>
              </mc:Choice>
              <mc:Fallback>
                <p:oleObj name="Equation" r:id="rId21" imgW="1333500" imgH="393700" progId="Equation.DSMT4">
                  <p:embed/>
                  <p:pic>
                    <p:nvPicPr>
                      <p:cNvPr id="0" name="Object 49"/>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572000" y="5791200"/>
                        <a:ext cx="2133600" cy="630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40018" name="Text Box 50"/>
          <p:cNvSpPr txBox="1">
            <a:spLocks noChangeArrowheads="1"/>
          </p:cNvSpPr>
          <p:nvPr/>
        </p:nvSpPr>
        <p:spPr bwMode="auto">
          <a:xfrm>
            <a:off x="8458200" y="1524001"/>
            <a:ext cx="609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fontAlgn="base">
              <a:spcBef>
                <a:spcPct val="50000"/>
              </a:spcBef>
              <a:spcAft>
                <a:spcPct val="0"/>
              </a:spcAft>
            </a:pPr>
            <a:r>
              <a:rPr lang="en-US" altLang="zh-CN">
                <a:solidFill>
                  <a:srgbClr val="000000"/>
                </a:solidFill>
                <a:latin typeface="Arial" panose="020B0604020202020204" pitchFamily="34" charset="0"/>
                <a:ea typeface="宋体" panose="02010600030101010101" pitchFamily="2" charset="-122"/>
              </a:rPr>
              <a:t>(1)</a:t>
            </a:r>
            <a:endParaRPr lang="en-US" altLang="zh-CN">
              <a:solidFill>
                <a:srgbClr val="000000"/>
              </a:solidFill>
              <a:latin typeface="Arial" panose="020B0604020202020204" pitchFamily="34" charset="0"/>
              <a:ea typeface="宋体" panose="02010600030101010101" pitchFamily="2" charset="-122"/>
            </a:endParaRPr>
          </a:p>
        </p:txBody>
      </p:sp>
      <p:sp>
        <p:nvSpPr>
          <p:cNvPr id="340019" name="Text Box 51"/>
          <p:cNvSpPr txBox="1">
            <a:spLocks noChangeArrowheads="1"/>
          </p:cNvSpPr>
          <p:nvPr/>
        </p:nvSpPr>
        <p:spPr bwMode="auto">
          <a:xfrm>
            <a:off x="8382000" y="2438401"/>
            <a:ext cx="762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fontAlgn="base">
              <a:spcBef>
                <a:spcPct val="50000"/>
              </a:spcBef>
              <a:spcAft>
                <a:spcPct val="0"/>
              </a:spcAft>
            </a:pPr>
            <a:r>
              <a:rPr lang="en-US" altLang="zh-CN">
                <a:solidFill>
                  <a:srgbClr val="000000"/>
                </a:solidFill>
                <a:latin typeface="Arial" panose="020B0604020202020204" pitchFamily="34" charset="0"/>
                <a:ea typeface="宋体" panose="02010600030101010101" pitchFamily="2" charset="-122"/>
              </a:rPr>
              <a:t>(2)</a:t>
            </a:r>
            <a:endParaRPr lang="en-US" altLang="zh-CN">
              <a:solidFill>
                <a:srgbClr val="000000"/>
              </a:solidFill>
              <a:latin typeface="Arial" panose="020B0604020202020204" pitchFamily="34" charset="0"/>
              <a:ea typeface="宋体" panose="02010600030101010101" pitchFamily="2" charset="-122"/>
            </a:endParaRPr>
          </a:p>
        </p:txBody>
      </p:sp>
      <p:sp>
        <p:nvSpPr>
          <p:cNvPr id="340021" name="Text Box 53"/>
          <p:cNvSpPr txBox="1">
            <a:spLocks noChangeArrowheads="1"/>
          </p:cNvSpPr>
          <p:nvPr/>
        </p:nvSpPr>
        <p:spPr bwMode="auto">
          <a:xfrm>
            <a:off x="8534400" y="3276601"/>
            <a:ext cx="609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fontAlgn="base">
              <a:spcBef>
                <a:spcPct val="50000"/>
              </a:spcBef>
              <a:spcAft>
                <a:spcPct val="0"/>
              </a:spcAft>
            </a:pPr>
            <a:r>
              <a:rPr lang="en-US" altLang="zh-CN">
                <a:solidFill>
                  <a:srgbClr val="000000"/>
                </a:solidFill>
                <a:latin typeface="Arial" panose="020B0604020202020204" pitchFamily="34" charset="0"/>
                <a:ea typeface="宋体" panose="02010600030101010101" pitchFamily="2" charset="-122"/>
              </a:rPr>
              <a:t>(3)</a:t>
            </a:r>
            <a:endParaRPr lang="en-US" altLang="zh-CN">
              <a:solidFill>
                <a:srgbClr val="000000"/>
              </a:solidFill>
              <a:latin typeface="Arial" panose="020B0604020202020204" pitchFamily="34" charset="0"/>
              <a:ea typeface="宋体" panose="02010600030101010101" pitchFamily="2" charset="-122"/>
            </a:endParaRPr>
          </a:p>
        </p:txBody>
      </p:sp>
      <p:sp>
        <p:nvSpPr>
          <p:cNvPr id="340022" name="Text Box 54"/>
          <p:cNvSpPr txBox="1">
            <a:spLocks noChangeArrowheads="1"/>
          </p:cNvSpPr>
          <p:nvPr/>
        </p:nvSpPr>
        <p:spPr bwMode="auto">
          <a:xfrm>
            <a:off x="8763000" y="3962401"/>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fontAlgn="base">
              <a:spcBef>
                <a:spcPct val="0"/>
              </a:spcBef>
              <a:spcAft>
                <a:spcPct val="0"/>
              </a:spcAft>
            </a:pPr>
            <a:endParaRPr lang="zh-CN" altLang="en-US">
              <a:solidFill>
                <a:srgbClr val="000000"/>
              </a:solidFill>
              <a:latin typeface="Arial" panose="020B0604020202020204" pitchFamily="34" charset="0"/>
              <a:ea typeface="宋体" panose="02010600030101010101" pitchFamily="2" charset="-122"/>
            </a:endParaRPr>
          </a:p>
        </p:txBody>
      </p:sp>
      <p:sp>
        <p:nvSpPr>
          <p:cNvPr id="340023" name="Text Box 55"/>
          <p:cNvSpPr txBox="1">
            <a:spLocks noChangeArrowheads="1"/>
          </p:cNvSpPr>
          <p:nvPr/>
        </p:nvSpPr>
        <p:spPr bwMode="auto">
          <a:xfrm>
            <a:off x="8305800" y="3962401"/>
            <a:ext cx="838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fontAlgn="base">
              <a:spcBef>
                <a:spcPct val="50000"/>
              </a:spcBef>
              <a:spcAft>
                <a:spcPct val="0"/>
              </a:spcAft>
            </a:pPr>
            <a:r>
              <a:rPr lang="en-US" altLang="zh-CN">
                <a:solidFill>
                  <a:srgbClr val="000000"/>
                </a:solidFill>
                <a:latin typeface="Arial" panose="020B0604020202020204" pitchFamily="34" charset="0"/>
                <a:ea typeface="宋体" panose="02010600030101010101" pitchFamily="2" charset="-122"/>
              </a:rPr>
              <a:t>(4)</a:t>
            </a:r>
            <a:endParaRPr lang="en-US" altLang="zh-CN">
              <a:solidFill>
                <a:srgbClr val="000000"/>
              </a:solidFill>
              <a:latin typeface="Arial" panose="020B0604020202020204" pitchFamily="34" charset="0"/>
              <a:ea typeface="宋体" panose="02010600030101010101" pitchFamily="2" charset="-122"/>
            </a:endParaRPr>
          </a:p>
        </p:txBody>
      </p:sp>
      <p:sp>
        <p:nvSpPr>
          <p:cNvPr id="340024" name="Text Box 56"/>
          <p:cNvSpPr txBox="1">
            <a:spLocks noChangeArrowheads="1"/>
          </p:cNvSpPr>
          <p:nvPr/>
        </p:nvSpPr>
        <p:spPr bwMode="auto">
          <a:xfrm>
            <a:off x="8686800" y="4724401"/>
            <a:ext cx="457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fontAlgn="base">
              <a:spcBef>
                <a:spcPct val="50000"/>
              </a:spcBef>
              <a:spcAft>
                <a:spcPct val="0"/>
              </a:spcAft>
            </a:pPr>
            <a:endParaRPr lang="zh-CN" altLang="en-US">
              <a:solidFill>
                <a:srgbClr val="000000"/>
              </a:solidFill>
              <a:latin typeface="Arial" panose="020B0604020202020204" pitchFamily="34" charset="0"/>
              <a:ea typeface="宋体" panose="02010600030101010101" pitchFamily="2" charset="-122"/>
            </a:endParaRPr>
          </a:p>
        </p:txBody>
      </p:sp>
      <p:sp>
        <p:nvSpPr>
          <p:cNvPr id="340026" name="Text Box 58"/>
          <p:cNvSpPr txBox="1">
            <a:spLocks noChangeArrowheads="1"/>
          </p:cNvSpPr>
          <p:nvPr/>
        </p:nvSpPr>
        <p:spPr bwMode="auto">
          <a:xfrm>
            <a:off x="8534400" y="4876801"/>
            <a:ext cx="609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fontAlgn="base">
              <a:spcBef>
                <a:spcPct val="50000"/>
              </a:spcBef>
              <a:spcAft>
                <a:spcPct val="0"/>
              </a:spcAft>
            </a:pPr>
            <a:r>
              <a:rPr lang="en-US" altLang="zh-CN">
                <a:solidFill>
                  <a:srgbClr val="000000"/>
                </a:solidFill>
                <a:latin typeface="Arial" panose="020B0604020202020204" pitchFamily="34" charset="0"/>
                <a:ea typeface="宋体" panose="02010600030101010101" pitchFamily="2" charset="-122"/>
              </a:rPr>
              <a:t>(5)</a:t>
            </a:r>
            <a:endParaRPr lang="en-US" altLang="zh-CN">
              <a:solidFill>
                <a:srgbClr val="000000"/>
              </a:solidFill>
              <a:latin typeface="Arial" panose="020B0604020202020204" pitchFamily="34" charset="0"/>
              <a:ea typeface="宋体" panose="02010600030101010101" pitchFamily="2" charset="-122"/>
            </a:endParaRPr>
          </a:p>
        </p:txBody>
      </p:sp>
      <p:sp>
        <p:nvSpPr>
          <p:cNvPr id="340027" name="Text Box 59"/>
          <p:cNvSpPr txBox="1">
            <a:spLocks noChangeArrowheads="1"/>
          </p:cNvSpPr>
          <p:nvPr/>
        </p:nvSpPr>
        <p:spPr bwMode="auto">
          <a:xfrm>
            <a:off x="8686800" y="5943601"/>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fontAlgn="base">
              <a:spcBef>
                <a:spcPct val="0"/>
              </a:spcBef>
              <a:spcAft>
                <a:spcPct val="0"/>
              </a:spcAft>
            </a:pPr>
            <a:endParaRPr lang="zh-CN" altLang="en-US">
              <a:solidFill>
                <a:srgbClr val="000000"/>
              </a:solidFill>
              <a:latin typeface="Arial" panose="020B0604020202020204" pitchFamily="34" charset="0"/>
              <a:ea typeface="宋体" panose="02010600030101010101" pitchFamily="2" charset="-122"/>
            </a:endParaRPr>
          </a:p>
        </p:txBody>
      </p:sp>
      <p:sp>
        <p:nvSpPr>
          <p:cNvPr id="340028" name="Text Box 60"/>
          <p:cNvSpPr txBox="1">
            <a:spLocks noChangeArrowheads="1"/>
          </p:cNvSpPr>
          <p:nvPr/>
        </p:nvSpPr>
        <p:spPr bwMode="auto">
          <a:xfrm>
            <a:off x="8534400" y="6019801"/>
            <a:ext cx="6858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fontAlgn="base">
              <a:spcBef>
                <a:spcPct val="50000"/>
              </a:spcBef>
              <a:spcAft>
                <a:spcPct val="0"/>
              </a:spcAft>
            </a:pPr>
            <a:r>
              <a:rPr lang="en-US" altLang="zh-CN">
                <a:solidFill>
                  <a:srgbClr val="000000"/>
                </a:solidFill>
                <a:latin typeface="Arial" panose="020B0604020202020204" pitchFamily="34" charset="0"/>
                <a:ea typeface="宋体" panose="02010600030101010101" pitchFamily="2" charset="-122"/>
              </a:rPr>
              <a:t>(6)</a:t>
            </a:r>
            <a:endParaRPr lang="en-US" altLang="zh-CN">
              <a:solidFill>
                <a:srgbClr val="000000"/>
              </a:solidFill>
              <a:latin typeface="Arial" panose="020B0604020202020204" pitchFamily="34" charset="0"/>
              <a:ea typeface="宋体" panose="02010600030101010101" pitchFamily="2" charset="-122"/>
            </a:endParaRP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755" name="Rectangle 3"/>
          <p:cNvSpPr>
            <a:spLocks noGrp="1" noChangeArrowheads="1"/>
          </p:cNvSpPr>
          <p:nvPr>
            <p:ph type="body" idx="1"/>
          </p:nvPr>
        </p:nvSpPr>
        <p:spPr>
          <a:xfrm>
            <a:off x="1828800" y="304800"/>
            <a:ext cx="8382000" cy="6019800"/>
          </a:xfrm>
        </p:spPr>
        <p:txBody>
          <a:bodyPr/>
          <a:lstStyle/>
          <a:p>
            <a:r>
              <a:rPr lang="zh-CN" altLang="en-US" sz="2000" b="0">
                <a:latin typeface="楷体_GB2312" pitchFamily="49" charset="-122"/>
                <a:ea typeface="楷体_GB2312" pitchFamily="49" charset="-122"/>
              </a:rPr>
              <a:t>  将（</a:t>
            </a:r>
            <a:r>
              <a:rPr lang="en-US" altLang="zh-CN" sz="2000" b="0">
                <a:latin typeface="楷体_GB2312" pitchFamily="49" charset="-122"/>
                <a:ea typeface="楷体_GB2312" pitchFamily="49" charset="-122"/>
              </a:rPr>
              <a:t>6</a:t>
            </a:r>
            <a:r>
              <a:rPr lang="zh-CN" altLang="en-US" sz="2000" b="0">
                <a:latin typeface="楷体_GB2312" pitchFamily="49" charset="-122"/>
                <a:ea typeface="楷体_GB2312" pitchFamily="49" charset="-122"/>
              </a:rPr>
              <a:t>）式代入（</a:t>
            </a:r>
            <a:r>
              <a:rPr lang="en-US" altLang="zh-CN" sz="2000" b="0">
                <a:latin typeface="楷体_GB2312" pitchFamily="49" charset="-122"/>
                <a:ea typeface="楷体_GB2312" pitchFamily="49" charset="-122"/>
              </a:rPr>
              <a:t>5</a:t>
            </a:r>
            <a:r>
              <a:rPr lang="zh-CN" altLang="en-US" sz="2000" b="0">
                <a:latin typeface="楷体_GB2312" pitchFamily="49" charset="-122"/>
                <a:ea typeface="楷体_GB2312" pitchFamily="49" charset="-122"/>
              </a:rPr>
              <a:t>）式得</a:t>
            </a:r>
            <a:endParaRPr lang="zh-CN" altLang="en-US" sz="2000" b="0">
              <a:latin typeface="楷体_GB2312" pitchFamily="49" charset="-122"/>
              <a:ea typeface="楷体_GB2312" pitchFamily="49" charset="-122"/>
            </a:endParaRPr>
          </a:p>
          <a:p>
            <a:endParaRPr lang="zh-CN" altLang="en-US" b="0">
              <a:latin typeface="楷体_GB2312" pitchFamily="49" charset="-122"/>
              <a:ea typeface="楷体_GB2312" pitchFamily="49" charset="-122"/>
            </a:endParaRPr>
          </a:p>
          <a:p>
            <a:endParaRPr lang="zh-CN" altLang="en-US">
              <a:ea typeface="宋体" panose="02010600030101010101" pitchFamily="2" charset="-122"/>
            </a:endParaRPr>
          </a:p>
        </p:txBody>
      </p:sp>
      <p:sp>
        <p:nvSpPr>
          <p:cNvPr id="330756" name="AutoShape 4"/>
          <p:cNvSpPr/>
          <p:nvPr/>
        </p:nvSpPr>
        <p:spPr bwMode="auto">
          <a:xfrm>
            <a:off x="2590800" y="914400"/>
            <a:ext cx="76200" cy="1066800"/>
          </a:xfrm>
          <a:prstGeom prst="leftBrace">
            <a:avLst>
              <a:gd name="adj1" fmla="val 116667"/>
              <a:gd name="adj2" fmla="val 50000"/>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fontAlgn="base">
              <a:spcBef>
                <a:spcPct val="0"/>
              </a:spcBef>
              <a:spcAft>
                <a:spcPct val="0"/>
              </a:spcAft>
            </a:pPr>
            <a:endParaRPr lang="zh-CN" altLang="en-US">
              <a:solidFill>
                <a:srgbClr val="000000"/>
              </a:solidFill>
              <a:latin typeface="Arial" panose="020B0604020202020204" pitchFamily="34" charset="0"/>
            </a:endParaRPr>
          </a:p>
        </p:txBody>
      </p:sp>
      <p:graphicFrame>
        <p:nvGraphicFramePr>
          <p:cNvPr id="330757" name="Object 5"/>
          <p:cNvGraphicFramePr>
            <a:graphicFrameLocks noChangeAspect="1"/>
          </p:cNvGraphicFramePr>
          <p:nvPr/>
        </p:nvGraphicFramePr>
        <p:xfrm>
          <a:off x="3786189" y="1062039"/>
          <a:ext cx="200025" cy="242887"/>
        </p:xfrm>
        <a:graphic>
          <a:graphicData uri="http://schemas.openxmlformats.org/presentationml/2006/ole">
            <mc:AlternateContent xmlns:mc="http://schemas.openxmlformats.org/markup-compatibility/2006">
              <mc:Choice xmlns:v="urn:schemas-microsoft-com:vml" Requires="v">
                <p:oleObj spid="_x0000_s2074" name="Equation" r:id="rId1" imgW="114300" imgH="177800" progId="Equation.DSMT4">
                  <p:embed/>
                </p:oleObj>
              </mc:Choice>
              <mc:Fallback>
                <p:oleObj name="Equation" r:id="rId1" imgW="114300" imgH="177800" progId="Equation.DSMT4">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86189" y="1062039"/>
                        <a:ext cx="200025" cy="242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30758" name="Object 6"/>
          <p:cNvGraphicFramePr>
            <a:graphicFrameLocks noChangeAspect="1"/>
          </p:cNvGraphicFramePr>
          <p:nvPr/>
        </p:nvGraphicFramePr>
        <p:xfrm>
          <a:off x="2895600" y="1524000"/>
          <a:ext cx="1371600" cy="590550"/>
        </p:xfrm>
        <a:graphic>
          <a:graphicData uri="http://schemas.openxmlformats.org/presentationml/2006/ole">
            <mc:AlternateContent xmlns:mc="http://schemas.openxmlformats.org/markup-compatibility/2006">
              <mc:Choice xmlns:v="urn:schemas-microsoft-com:vml" Requires="v">
                <p:oleObj spid="_x0000_s2075" name="Equation" r:id="rId3" imgW="736600" imgH="431800" progId="Equation.DSMT4">
                  <p:embed/>
                </p:oleObj>
              </mc:Choice>
              <mc:Fallback>
                <p:oleObj name="Equation" r:id="rId3" imgW="736600" imgH="431800" progId="Equation.DSMT4">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95600" y="1524000"/>
                        <a:ext cx="1371600" cy="590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30759" name="Text Box 7"/>
          <p:cNvSpPr txBox="1">
            <a:spLocks noChangeArrowheads="1"/>
          </p:cNvSpPr>
          <p:nvPr/>
        </p:nvSpPr>
        <p:spPr bwMode="auto">
          <a:xfrm>
            <a:off x="4343400" y="990601"/>
            <a:ext cx="2667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fontAlgn="base">
              <a:spcBef>
                <a:spcPct val="50000"/>
              </a:spcBef>
              <a:spcAft>
                <a:spcPct val="0"/>
              </a:spcAft>
            </a:pPr>
            <a:r>
              <a:rPr lang="zh-CN" altLang="en-US" sz="2000">
                <a:solidFill>
                  <a:srgbClr val="000000"/>
                </a:solidFill>
                <a:latin typeface="楷体_GB2312" pitchFamily="49" charset="-122"/>
                <a:ea typeface="楷体_GB2312" pitchFamily="49" charset="-122"/>
              </a:rPr>
              <a:t>同理，空穴电流密度</a:t>
            </a:r>
            <a:endParaRPr lang="zh-CN" altLang="en-US" sz="2000">
              <a:solidFill>
                <a:srgbClr val="000000"/>
              </a:solidFill>
              <a:latin typeface="楷体_GB2312" pitchFamily="49" charset="-122"/>
              <a:ea typeface="楷体_GB2312" pitchFamily="49" charset="-122"/>
            </a:endParaRPr>
          </a:p>
        </p:txBody>
      </p:sp>
      <p:sp>
        <p:nvSpPr>
          <p:cNvPr id="330760" name="AutoShape 8"/>
          <p:cNvSpPr/>
          <p:nvPr/>
        </p:nvSpPr>
        <p:spPr bwMode="auto">
          <a:xfrm>
            <a:off x="7162800" y="838200"/>
            <a:ext cx="76200" cy="1143000"/>
          </a:xfrm>
          <a:prstGeom prst="leftBrace">
            <a:avLst>
              <a:gd name="adj1" fmla="val 125000"/>
              <a:gd name="adj2" fmla="val 50000"/>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fontAlgn="base">
              <a:spcBef>
                <a:spcPct val="0"/>
              </a:spcBef>
              <a:spcAft>
                <a:spcPct val="0"/>
              </a:spcAft>
            </a:pPr>
            <a:endParaRPr lang="zh-CN" altLang="en-US">
              <a:solidFill>
                <a:srgbClr val="000000"/>
              </a:solidFill>
              <a:latin typeface="Arial" panose="020B0604020202020204" pitchFamily="34" charset="0"/>
            </a:endParaRPr>
          </a:p>
        </p:txBody>
      </p:sp>
      <p:graphicFrame>
        <p:nvGraphicFramePr>
          <p:cNvPr id="330761" name="Object 9"/>
          <p:cNvGraphicFramePr>
            <a:graphicFrameLocks noChangeAspect="1"/>
          </p:cNvGraphicFramePr>
          <p:nvPr/>
        </p:nvGraphicFramePr>
        <p:xfrm>
          <a:off x="7543800" y="1447800"/>
          <a:ext cx="1219200" cy="763588"/>
        </p:xfrm>
        <a:graphic>
          <a:graphicData uri="http://schemas.openxmlformats.org/presentationml/2006/ole">
            <mc:AlternateContent xmlns:mc="http://schemas.openxmlformats.org/markup-compatibility/2006">
              <mc:Choice xmlns:v="urn:schemas-microsoft-com:vml" Requires="v">
                <p:oleObj spid="_x0000_s2076" name="Equation" r:id="rId5" imgW="749300" imgH="469900" progId="Equation.DSMT4">
                  <p:embed/>
                </p:oleObj>
              </mc:Choice>
              <mc:Fallback>
                <p:oleObj name="Equation" r:id="rId5" imgW="749300" imgH="469900" progId="Equation.DSMT4">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43800" y="1447800"/>
                        <a:ext cx="1219200" cy="763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30762" name="Object 10"/>
          <p:cNvGraphicFramePr>
            <a:graphicFrameLocks noChangeAspect="1"/>
          </p:cNvGraphicFramePr>
          <p:nvPr/>
        </p:nvGraphicFramePr>
        <p:xfrm>
          <a:off x="7562850" y="762000"/>
          <a:ext cx="1333500" cy="598488"/>
        </p:xfrm>
        <a:graphic>
          <a:graphicData uri="http://schemas.openxmlformats.org/presentationml/2006/ole">
            <mc:AlternateContent xmlns:mc="http://schemas.openxmlformats.org/markup-compatibility/2006">
              <mc:Choice xmlns:v="urn:schemas-microsoft-com:vml" Requires="v">
                <p:oleObj spid="_x0000_s2077" name="Equation" r:id="rId7" imgW="875665" imgH="393700" progId="Equation.DSMT4">
                  <p:embed/>
                </p:oleObj>
              </mc:Choice>
              <mc:Fallback>
                <p:oleObj name="Equation" r:id="rId7" imgW="875665" imgH="393700" progId="Equation.DSMT4">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562850" y="762000"/>
                        <a:ext cx="1333500" cy="598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30763" name="Object 11"/>
          <p:cNvGraphicFramePr>
            <a:graphicFrameLocks noChangeAspect="1"/>
          </p:cNvGraphicFramePr>
          <p:nvPr/>
        </p:nvGraphicFramePr>
        <p:xfrm>
          <a:off x="2971800" y="838201"/>
          <a:ext cx="1295400" cy="582613"/>
        </p:xfrm>
        <a:graphic>
          <a:graphicData uri="http://schemas.openxmlformats.org/presentationml/2006/ole">
            <mc:AlternateContent xmlns:mc="http://schemas.openxmlformats.org/markup-compatibility/2006">
              <mc:Choice xmlns:v="urn:schemas-microsoft-com:vml" Requires="v">
                <p:oleObj spid="_x0000_s2078" name="Equation" r:id="rId9" imgW="875665" imgH="393700" progId="Equation.DSMT4">
                  <p:embed/>
                </p:oleObj>
              </mc:Choice>
              <mc:Fallback>
                <p:oleObj name="Equation" r:id="rId9" imgW="875665" imgH="393700" progId="Equation.DSMT4">
                  <p:embed/>
                  <p:pic>
                    <p:nvPicPr>
                      <p:cNvPr id="0"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971800" y="838201"/>
                        <a:ext cx="1295400" cy="582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30764" name="Text Box 12"/>
          <p:cNvSpPr txBox="1">
            <a:spLocks noChangeArrowheads="1"/>
          </p:cNvSpPr>
          <p:nvPr/>
        </p:nvSpPr>
        <p:spPr bwMode="auto">
          <a:xfrm>
            <a:off x="2438400" y="2286001"/>
            <a:ext cx="67818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lang="zh-CN" altLang="en-US" sz="2000">
                <a:solidFill>
                  <a:srgbClr val="000000"/>
                </a:solidFill>
                <a:latin typeface="楷体_GB2312" pitchFamily="49" charset="-122"/>
                <a:ea typeface="楷体_GB2312" pitchFamily="49" charset="-122"/>
              </a:rPr>
              <a:t>以上两式表示了费米能级随位置的变化和电流密度的关系。对于</a:t>
            </a:r>
            <a:r>
              <a:rPr lang="en-US" altLang="zh-CN" sz="2000">
                <a:solidFill>
                  <a:srgbClr val="000000"/>
                </a:solidFill>
                <a:latin typeface="楷体_GB2312" pitchFamily="49" charset="-122"/>
                <a:ea typeface="楷体_GB2312" pitchFamily="49" charset="-122"/>
              </a:rPr>
              <a:t>pn</a:t>
            </a:r>
            <a:r>
              <a:rPr lang="zh-CN" altLang="en-US" sz="2000">
                <a:solidFill>
                  <a:srgbClr val="000000"/>
                </a:solidFill>
                <a:latin typeface="楷体_GB2312" pitchFamily="49" charset="-122"/>
                <a:ea typeface="楷体_GB2312" pitchFamily="49" charset="-122"/>
              </a:rPr>
              <a:t>结，</a:t>
            </a:r>
            <a:r>
              <a:rPr lang="en-US" altLang="zh-CN" sz="2000">
                <a:solidFill>
                  <a:srgbClr val="000000"/>
                </a:solidFill>
                <a:latin typeface="楷体_GB2312" pitchFamily="49" charset="-122"/>
                <a:ea typeface="楷体_GB2312" pitchFamily="49" charset="-122"/>
              </a:rPr>
              <a:t>Jn</a:t>
            </a:r>
            <a:r>
              <a:rPr lang="zh-CN" altLang="en-US" sz="2000">
                <a:solidFill>
                  <a:srgbClr val="000000"/>
                </a:solidFill>
                <a:latin typeface="楷体_GB2312" pitchFamily="49" charset="-122"/>
                <a:ea typeface="楷体_GB2312" pitchFamily="49" charset="-122"/>
              </a:rPr>
              <a:t>、</a:t>
            </a:r>
            <a:r>
              <a:rPr lang="en-US" altLang="zh-CN" sz="2000">
                <a:solidFill>
                  <a:srgbClr val="000000"/>
                </a:solidFill>
                <a:latin typeface="楷体_GB2312" pitchFamily="49" charset="-122"/>
                <a:ea typeface="楷体_GB2312" pitchFamily="49" charset="-122"/>
              </a:rPr>
              <a:t>Jp</a:t>
            </a:r>
            <a:r>
              <a:rPr lang="zh-CN" altLang="en-US" sz="2000">
                <a:solidFill>
                  <a:srgbClr val="000000"/>
                </a:solidFill>
                <a:latin typeface="楷体_GB2312" pitchFamily="49" charset="-122"/>
                <a:ea typeface="楷体_GB2312" pitchFamily="49" charset="-122"/>
              </a:rPr>
              <a:t>均为零，因此</a:t>
            </a:r>
            <a:endParaRPr lang="zh-CN" altLang="en-US" sz="2000">
              <a:solidFill>
                <a:srgbClr val="000000"/>
              </a:solidFill>
              <a:latin typeface="楷体_GB2312" pitchFamily="49" charset="-122"/>
              <a:ea typeface="楷体_GB2312" pitchFamily="49" charset="-122"/>
            </a:endParaRPr>
          </a:p>
        </p:txBody>
      </p:sp>
      <p:graphicFrame>
        <p:nvGraphicFramePr>
          <p:cNvPr id="330765" name="Object 13"/>
          <p:cNvGraphicFramePr>
            <a:graphicFrameLocks noChangeAspect="1"/>
          </p:cNvGraphicFramePr>
          <p:nvPr/>
        </p:nvGraphicFramePr>
        <p:xfrm>
          <a:off x="3733800" y="3124201"/>
          <a:ext cx="914400" cy="658813"/>
        </p:xfrm>
        <a:graphic>
          <a:graphicData uri="http://schemas.openxmlformats.org/presentationml/2006/ole">
            <mc:AlternateContent xmlns:mc="http://schemas.openxmlformats.org/markup-compatibility/2006">
              <mc:Choice xmlns:v="urn:schemas-microsoft-com:vml" Requires="v">
                <p:oleObj spid="_x0000_s2079" name="Equation" r:id="rId11" imgW="546100" imgH="393700" progId="Equation.DSMT4">
                  <p:embed/>
                </p:oleObj>
              </mc:Choice>
              <mc:Fallback>
                <p:oleObj name="Equation" r:id="rId11" imgW="546100" imgH="393700" progId="Equation.DSMT4">
                  <p:embed/>
                  <p:pic>
                    <p:nvPicPr>
                      <p:cNvPr id="0" name="Object 1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733800" y="3124201"/>
                        <a:ext cx="914400" cy="658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30766" name="Text Box 14"/>
          <p:cNvSpPr txBox="1">
            <a:spLocks noChangeArrowheads="1"/>
          </p:cNvSpPr>
          <p:nvPr/>
        </p:nvSpPr>
        <p:spPr bwMode="auto">
          <a:xfrm>
            <a:off x="5943600" y="3276601"/>
            <a:ext cx="1447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fontAlgn="base">
              <a:spcBef>
                <a:spcPct val="50000"/>
              </a:spcBef>
              <a:spcAft>
                <a:spcPct val="0"/>
              </a:spcAft>
            </a:pPr>
            <a:r>
              <a:rPr lang="en-US" altLang="zh-CN">
                <a:solidFill>
                  <a:srgbClr val="000000"/>
                </a:solidFill>
                <a:latin typeface="Arial" panose="020B0604020202020204" pitchFamily="34" charset="0"/>
                <a:ea typeface="宋体" panose="02010600030101010101" pitchFamily="2" charset="-122"/>
              </a:rPr>
              <a:t>E</a:t>
            </a:r>
            <a:r>
              <a:rPr lang="en-US" altLang="zh-CN" baseline="-25000">
                <a:solidFill>
                  <a:srgbClr val="000000"/>
                </a:solidFill>
                <a:latin typeface="Arial" panose="020B0604020202020204" pitchFamily="34" charset="0"/>
                <a:ea typeface="宋体" panose="02010600030101010101" pitchFamily="2" charset="-122"/>
              </a:rPr>
              <a:t>F</a:t>
            </a:r>
            <a:r>
              <a:rPr lang="en-US" altLang="zh-CN">
                <a:solidFill>
                  <a:srgbClr val="000000"/>
                </a:solidFill>
                <a:latin typeface="Arial" panose="020B0604020202020204" pitchFamily="34" charset="0"/>
                <a:ea typeface="宋体" panose="02010600030101010101" pitchFamily="2" charset="-122"/>
              </a:rPr>
              <a:t>=</a:t>
            </a:r>
            <a:r>
              <a:rPr lang="zh-CN" altLang="en-US" sz="2000">
                <a:solidFill>
                  <a:srgbClr val="000000"/>
                </a:solidFill>
                <a:latin typeface="楷体_GB2312" pitchFamily="49" charset="-122"/>
                <a:ea typeface="楷体_GB2312" pitchFamily="49" charset="-122"/>
              </a:rPr>
              <a:t>常数</a:t>
            </a:r>
            <a:endParaRPr lang="zh-CN" altLang="en-US" sz="2000">
              <a:solidFill>
                <a:srgbClr val="000000"/>
              </a:solidFill>
              <a:latin typeface="楷体_GB2312" pitchFamily="49" charset="-122"/>
              <a:ea typeface="楷体_GB2312" pitchFamily="49" charset="-122"/>
            </a:endParaRPr>
          </a:p>
        </p:txBody>
      </p:sp>
      <p:sp>
        <p:nvSpPr>
          <p:cNvPr id="330767" name="Text Box 15"/>
          <p:cNvSpPr txBox="1">
            <a:spLocks noChangeArrowheads="1"/>
          </p:cNvSpPr>
          <p:nvPr/>
        </p:nvSpPr>
        <p:spPr bwMode="auto">
          <a:xfrm>
            <a:off x="2590800" y="3886201"/>
            <a:ext cx="678180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50000"/>
              </a:spcBef>
              <a:spcAft>
                <a:spcPct val="0"/>
              </a:spcAft>
            </a:pPr>
            <a:r>
              <a:rPr lang="zh-CN" altLang="en-US" sz="2000" dirty="0">
                <a:solidFill>
                  <a:srgbClr val="000000"/>
                </a:solidFill>
                <a:latin typeface="楷体_GB2312" pitchFamily="49" charset="-122"/>
                <a:ea typeface="楷体_GB2312" pitchFamily="49" charset="-122"/>
              </a:rPr>
              <a:t>上两式还表示了当电流密度一定时，载流子浓度大的地方， </a:t>
            </a:r>
            <a:r>
              <a:rPr lang="en-US" altLang="zh-CN" sz="2000" dirty="0">
                <a:solidFill>
                  <a:srgbClr val="000000"/>
                </a:solidFill>
                <a:latin typeface="楷体_GB2312" pitchFamily="49" charset="-122"/>
                <a:ea typeface="楷体_GB2312" pitchFamily="49" charset="-122"/>
              </a:rPr>
              <a:t>E</a:t>
            </a:r>
            <a:r>
              <a:rPr lang="en-US" altLang="zh-CN" sz="2000" baseline="-25000" dirty="0">
                <a:solidFill>
                  <a:srgbClr val="000000"/>
                </a:solidFill>
                <a:latin typeface="楷体_GB2312" pitchFamily="49" charset="-122"/>
                <a:ea typeface="楷体_GB2312" pitchFamily="49" charset="-122"/>
              </a:rPr>
              <a:t>F</a:t>
            </a:r>
            <a:r>
              <a:rPr lang="zh-CN" altLang="en-US" sz="2000" dirty="0">
                <a:solidFill>
                  <a:srgbClr val="000000"/>
                </a:solidFill>
                <a:latin typeface="楷体_GB2312" pitchFamily="49" charset="-122"/>
                <a:ea typeface="楷体_GB2312" pitchFamily="49" charset="-122"/>
              </a:rPr>
              <a:t>随位置变化小，而载流子浓度小的地方，</a:t>
            </a:r>
            <a:r>
              <a:rPr lang="en-US" altLang="zh-CN" sz="2000" dirty="0">
                <a:solidFill>
                  <a:srgbClr val="000000"/>
                </a:solidFill>
                <a:latin typeface="楷体_GB2312" pitchFamily="49" charset="-122"/>
                <a:ea typeface="楷体_GB2312" pitchFamily="49" charset="-122"/>
              </a:rPr>
              <a:t>E</a:t>
            </a:r>
            <a:r>
              <a:rPr lang="en-US" altLang="zh-CN" sz="2000" baseline="-25000" dirty="0">
                <a:solidFill>
                  <a:srgbClr val="000000"/>
                </a:solidFill>
                <a:latin typeface="楷体_GB2312" pitchFamily="49" charset="-122"/>
                <a:ea typeface="楷体_GB2312" pitchFamily="49" charset="-122"/>
              </a:rPr>
              <a:t>F</a:t>
            </a:r>
            <a:r>
              <a:rPr lang="zh-CN" altLang="en-US" sz="2000" dirty="0">
                <a:solidFill>
                  <a:srgbClr val="000000"/>
                </a:solidFill>
                <a:latin typeface="楷体_GB2312" pitchFamily="49" charset="-122"/>
                <a:ea typeface="楷体_GB2312" pitchFamily="49" charset="-122"/>
              </a:rPr>
              <a:t>随位置变化大。</a:t>
            </a:r>
            <a:endParaRPr lang="zh-CN" altLang="en-US" sz="2000" dirty="0">
              <a:solidFill>
                <a:srgbClr val="000000"/>
              </a:solidFill>
              <a:latin typeface="楷体_GB2312" pitchFamily="49" charset="-122"/>
              <a:ea typeface="楷体_GB2312" pitchFamily="49" charset="-122"/>
            </a:endParaRP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2021" name="Picture 5"/>
          <p:cNvPicPr>
            <a:picLocks noGrp="1" noChangeAspect="1" noChangeArrowheads="1"/>
          </p:cNvPicPr>
          <p:nvPr>
            <p:ph type="body" idx="1"/>
          </p:nvPr>
        </p:nvPicPr>
        <p:blipFill>
          <a:blip r:embed="rId1">
            <a:extLst>
              <a:ext uri="{28A0092B-C50C-407E-A947-70E740481C1C}">
                <a14:useLocalDpi xmlns:a14="http://schemas.microsoft.com/office/drawing/2010/main" val="0"/>
              </a:ext>
            </a:extLst>
          </a:blip>
          <a:srcRect/>
          <a:stretch>
            <a:fillRect/>
          </a:stretch>
        </p:blipFill>
        <p:spPr bwMode="auto">
          <a:xfrm>
            <a:off x="3657600" y="3962400"/>
            <a:ext cx="4114800" cy="2159000"/>
          </a:xfrm>
          <a:noFill/>
        </p:spPr>
      </p:pic>
      <p:sp>
        <p:nvSpPr>
          <p:cNvPr id="342022" name="Text Box 6"/>
          <p:cNvSpPr txBox="1">
            <a:spLocks noChangeArrowheads="1"/>
          </p:cNvSpPr>
          <p:nvPr/>
        </p:nvSpPr>
        <p:spPr bwMode="auto">
          <a:xfrm>
            <a:off x="2438400" y="1219200"/>
            <a:ext cx="7239000"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lang="zh-CN" altLang="en-US" sz="2400">
                <a:solidFill>
                  <a:srgbClr val="000000"/>
                </a:solidFill>
                <a:latin typeface="楷体_GB2312" pitchFamily="49" charset="-122"/>
                <a:ea typeface="楷体_GB2312" pitchFamily="49" charset="-122"/>
              </a:rPr>
              <a:t>从下图可以看出，在</a:t>
            </a:r>
            <a:r>
              <a:rPr lang="en-US" altLang="zh-CN" sz="2400">
                <a:solidFill>
                  <a:srgbClr val="000000"/>
                </a:solidFill>
                <a:latin typeface="楷体_GB2312" pitchFamily="49" charset="-122"/>
                <a:ea typeface="楷体_GB2312" pitchFamily="49" charset="-122"/>
              </a:rPr>
              <a:t>pn</a:t>
            </a:r>
            <a:r>
              <a:rPr lang="zh-CN" altLang="en-US" sz="2400">
                <a:solidFill>
                  <a:srgbClr val="000000"/>
                </a:solidFill>
                <a:latin typeface="楷体_GB2312" pitchFamily="49" charset="-122"/>
                <a:ea typeface="楷体_GB2312" pitchFamily="49" charset="-122"/>
              </a:rPr>
              <a:t>结的空间电荷区中能带发生弯曲，这是空间电荷区中电势能变化的结果。因能带弯曲，电子从势能低的</a:t>
            </a:r>
            <a:r>
              <a:rPr lang="en-US" altLang="zh-CN" sz="2400">
                <a:solidFill>
                  <a:srgbClr val="000000"/>
                </a:solidFill>
                <a:latin typeface="楷体_GB2312" pitchFamily="49" charset="-122"/>
                <a:ea typeface="楷体_GB2312" pitchFamily="49" charset="-122"/>
              </a:rPr>
              <a:t>n</a:t>
            </a:r>
            <a:r>
              <a:rPr lang="zh-CN" altLang="en-US" sz="2400">
                <a:solidFill>
                  <a:srgbClr val="000000"/>
                </a:solidFill>
                <a:latin typeface="楷体_GB2312" pitchFamily="49" charset="-122"/>
                <a:ea typeface="楷体_GB2312" pitchFamily="49" charset="-122"/>
              </a:rPr>
              <a:t>区向势能高的</a:t>
            </a:r>
            <a:r>
              <a:rPr lang="en-US" altLang="zh-CN" sz="2400">
                <a:solidFill>
                  <a:srgbClr val="000000"/>
                </a:solidFill>
                <a:latin typeface="楷体_GB2312" pitchFamily="49" charset="-122"/>
                <a:ea typeface="楷体_GB2312" pitchFamily="49" charset="-122"/>
              </a:rPr>
              <a:t>p</a:t>
            </a:r>
            <a:r>
              <a:rPr lang="zh-CN" altLang="en-US" sz="2400">
                <a:solidFill>
                  <a:srgbClr val="000000"/>
                </a:solidFill>
                <a:latin typeface="楷体_GB2312" pitchFamily="49" charset="-122"/>
                <a:ea typeface="楷体_GB2312" pitchFamily="49" charset="-122"/>
              </a:rPr>
              <a:t>区运动时，必须克服这一势能</a:t>
            </a:r>
            <a:r>
              <a:rPr lang="zh-CN" altLang="en-US" sz="2400">
                <a:solidFill>
                  <a:srgbClr val="000000"/>
                </a:solidFill>
                <a:latin typeface="Arial" panose="020B0604020202020204" pitchFamily="34" charset="0"/>
                <a:ea typeface="楷体_GB2312" pitchFamily="49" charset="-122"/>
              </a:rPr>
              <a:t>“</a:t>
            </a:r>
            <a:r>
              <a:rPr lang="zh-CN" altLang="en-US" sz="2400">
                <a:solidFill>
                  <a:srgbClr val="000000"/>
                </a:solidFill>
                <a:latin typeface="楷体_GB2312" pitchFamily="49" charset="-122"/>
                <a:ea typeface="楷体_GB2312" pitchFamily="49" charset="-122"/>
              </a:rPr>
              <a:t>高坡</a:t>
            </a:r>
            <a:r>
              <a:rPr lang="zh-CN" altLang="en-US" sz="2400">
                <a:solidFill>
                  <a:srgbClr val="000000"/>
                </a:solidFill>
                <a:latin typeface="Arial" panose="020B0604020202020204" pitchFamily="34" charset="0"/>
                <a:ea typeface="楷体_GB2312" pitchFamily="49" charset="-122"/>
              </a:rPr>
              <a:t>”</a:t>
            </a:r>
            <a:r>
              <a:rPr lang="zh-CN" altLang="en-US" sz="2400">
                <a:solidFill>
                  <a:srgbClr val="000000"/>
                </a:solidFill>
                <a:latin typeface="楷体_GB2312" pitchFamily="49" charset="-122"/>
                <a:ea typeface="楷体_GB2312" pitchFamily="49" charset="-122"/>
              </a:rPr>
              <a:t>，才能到达</a:t>
            </a:r>
            <a:r>
              <a:rPr lang="en-US" altLang="zh-CN" sz="2400">
                <a:solidFill>
                  <a:srgbClr val="000000"/>
                </a:solidFill>
                <a:latin typeface="楷体_GB2312" pitchFamily="49" charset="-122"/>
                <a:ea typeface="楷体_GB2312" pitchFamily="49" charset="-122"/>
              </a:rPr>
              <a:t>p</a:t>
            </a:r>
            <a:r>
              <a:rPr lang="zh-CN" altLang="en-US" sz="2400">
                <a:solidFill>
                  <a:srgbClr val="000000"/>
                </a:solidFill>
                <a:latin typeface="楷体_GB2312" pitchFamily="49" charset="-122"/>
                <a:ea typeface="楷体_GB2312" pitchFamily="49" charset="-122"/>
              </a:rPr>
              <a:t>区；同理，空穴也必须克服这一势能</a:t>
            </a:r>
            <a:r>
              <a:rPr lang="zh-CN" altLang="en-US" sz="2400">
                <a:solidFill>
                  <a:srgbClr val="000000"/>
                </a:solidFill>
                <a:latin typeface="Arial" panose="020B0604020202020204" pitchFamily="34" charset="0"/>
                <a:ea typeface="楷体_GB2312" pitchFamily="49" charset="-122"/>
              </a:rPr>
              <a:t>“</a:t>
            </a:r>
            <a:r>
              <a:rPr lang="zh-CN" altLang="en-US" sz="2400">
                <a:solidFill>
                  <a:srgbClr val="000000"/>
                </a:solidFill>
                <a:latin typeface="楷体_GB2312" pitchFamily="49" charset="-122"/>
                <a:ea typeface="楷体_GB2312" pitchFamily="49" charset="-122"/>
              </a:rPr>
              <a:t>高坡</a:t>
            </a:r>
            <a:r>
              <a:rPr lang="zh-CN" altLang="en-US" sz="2400">
                <a:solidFill>
                  <a:srgbClr val="000000"/>
                </a:solidFill>
                <a:latin typeface="Arial" panose="020B0604020202020204" pitchFamily="34" charset="0"/>
                <a:ea typeface="楷体_GB2312" pitchFamily="49" charset="-122"/>
              </a:rPr>
              <a:t>”</a:t>
            </a:r>
            <a:r>
              <a:rPr lang="zh-CN" altLang="en-US" sz="2400">
                <a:solidFill>
                  <a:srgbClr val="000000"/>
                </a:solidFill>
                <a:latin typeface="楷体_GB2312" pitchFamily="49" charset="-122"/>
                <a:ea typeface="楷体_GB2312" pitchFamily="49" charset="-122"/>
              </a:rPr>
              <a:t>，才能从</a:t>
            </a:r>
            <a:r>
              <a:rPr lang="en-US" altLang="zh-CN" sz="2400">
                <a:solidFill>
                  <a:srgbClr val="000000"/>
                </a:solidFill>
                <a:latin typeface="楷体_GB2312" pitchFamily="49" charset="-122"/>
                <a:ea typeface="楷体_GB2312" pitchFamily="49" charset="-122"/>
              </a:rPr>
              <a:t>p</a:t>
            </a:r>
            <a:r>
              <a:rPr lang="zh-CN" altLang="en-US" sz="2400">
                <a:solidFill>
                  <a:srgbClr val="000000"/>
                </a:solidFill>
                <a:latin typeface="楷体_GB2312" pitchFamily="49" charset="-122"/>
                <a:ea typeface="楷体_GB2312" pitchFamily="49" charset="-122"/>
              </a:rPr>
              <a:t>区到达</a:t>
            </a:r>
            <a:r>
              <a:rPr lang="en-US" altLang="zh-CN" sz="2400">
                <a:solidFill>
                  <a:srgbClr val="000000"/>
                </a:solidFill>
                <a:latin typeface="楷体_GB2312" pitchFamily="49" charset="-122"/>
                <a:ea typeface="楷体_GB2312" pitchFamily="49" charset="-122"/>
              </a:rPr>
              <a:t>n</a:t>
            </a:r>
            <a:r>
              <a:rPr lang="zh-CN" altLang="en-US" sz="2400">
                <a:solidFill>
                  <a:srgbClr val="000000"/>
                </a:solidFill>
                <a:latin typeface="楷体_GB2312" pitchFamily="49" charset="-122"/>
                <a:ea typeface="楷体_GB2312" pitchFamily="49" charset="-122"/>
              </a:rPr>
              <a:t>区，这一势能</a:t>
            </a:r>
            <a:r>
              <a:rPr lang="zh-CN" altLang="en-US" sz="2400">
                <a:solidFill>
                  <a:srgbClr val="000000"/>
                </a:solidFill>
                <a:latin typeface="Arial" panose="020B0604020202020204" pitchFamily="34" charset="0"/>
                <a:ea typeface="楷体_GB2312" pitchFamily="49" charset="-122"/>
              </a:rPr>
              <a:t>“</a:t>
            </a:r>
            <a:r>
              <a:rPr lang="zh-CN" altLang="en-US" sz="2400">
                <a:solidFill>
                  <a:srgbClr val="000000"/>
                </a:solidFill>
                <a:latin typeface="楷体_GB2312" pitchFamily="49" charset="-122"/>
                <a:ea typeface="楷体_GB2312" pitchFamily="49" charset="-122"/>
              </a:rPr>
              <a:t>高坡</a:t>
            </a:r>
            <a:r>
              <a:rPr lang="zh-CN" altLang="en-US" sz="2400">
                <a:solidFill>
                  <a:srgbClr val="000000"/>
                </a:solidFill>
                <a:latin typeface="Arial" panose="020B0604020202020204" pitchFamily="34" charset="0"/>
                <a:ea typeface="楷体_GB2312" pitchFamily="49" charset="-122"/>
              </a:rPr>
              <a:t>”</a:t>
            </a:r>
            <a:r>
              <a:rPr lang="zh-CN" altLang="en-US" sz="2400">
                <a:solidFill>
                  <a:srgbClr val="000000"/>
                </a:solidFill>
                <a:latin typeface="楷体_GB2312" pitchFamily="49" charset="-122"/>
                <a:ea typeface="楷体_GB2312" pitchFamily="49" charset="-122"/>
              </a:rPr>
              <a:t>通常称为</a:t>
            </a:r>
            <a:r>
              <a:rPr lang="en-US" altLang="zh-CN" sz="2400">
                <a:solidFill>
                  <a:srgbClr val="000000"/>
                </a:solidFill>
                <a:latin typeface="楷体_GB2312" pitchFamily="49" charset="-122"/>
                <a:ea typeface="楷体_GB2312" pitchFamily="49" charset="-122"/>
              </a:rPr>
              <a:t>pn</a:t>
            </a:r>
            <a:r>
              <a:rPr lang="zh-CN" altLang="en-US" sz="2400">
                <a:solidFill>
                  <a:srgbClr val="000000"/>
                </a:solidFill>
                <a:latin typeface="楷体_GB2312" pitchFamily="49" charset="-122"/>
                <a:ea typeface="楷体_GB2312" pitchFamily="49" charset="-122"/>
              </a:rPr>
              <a:t>结的势垒，故空间电荷区也叫势垒区。</a:t>
            </a:r>
            <a:endParaRPr lang="zh-CN" altLang="en-US" sz="2400">
              <a:solidFill>
                <a:srgbClr val="000000"/>
              </a:solidFill>
              <a:latin typeface="楷体_GB2312" pitchFamily="49" charset="-122"/>
              <a:ea typeface="楷体_GB2312" pitchFamily="49" charset="-122"/>
            </a:endParaRP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043" name="Rectangle 3"/>
          <p:cNvSpPr>
            <a:spLocks noGrp="1" noChangeArrowheads="1"/>
          </p:cNvSpPr>
          <p:nvPr>
            <p:ph type="body" idx="1"/>
          </p:nvPr>
        </p:nvSpPr>
        <p:spPr/>
        <p:txBody>
          <a:bodyPr/>
          <a:lstStyle/>
          <a:p>
            <a:r>
              <a:rPr lang="zh-CN" altLang="en-US" sz="2000" b="0">
                <a:latin typeface="楷体_GB2312" pitchFamily="49" charset="-122"/>
                <a:ea typeface="楷体_GB2312" pitchFamily="49" charset="-122"/>
              </a:rPr>
              <a:t>平衡</a:t>
            </a:r>
            <a:r>
              <a:rPr lang="en-US" altLang="zh-CN" sz="2000" b="0">
                <a:latin typeface="楷体_GB2312" pitchFamily="49" charset="-122"/>
                <a:ea typeface="楷体_GB2312" pitchFamily="49" charset="-122"/>
              </a:rPr>
              <a:t>pn</a:t>
            </a:r>
            <a:r>
              <a:rPr lang="zh-CN" altLang="en-US" sz="2000" b="0">
                <a:latin typeface="楷体_GB2312" pitchFamily="49" charset="-122"/>
                <a:ea typeface="楷体_GB2312" pitchFamily="49" charset="-122"/>
              </a:rPr>
              <a:t>结的空间电荷区两端间的电势差 </a:t>
            </a:r>
            <a:r>
              <a:rPr lang="en-US" altLang="zh-CN" sz="2000" b="0">
                <a:latin typeface="楷体_GB2312" pitchFamily="49" charset="-122"/>
                <a:ea typeface="楷体_GB2312" pitchFamily="49" charset="-122"/>
              </a:rPr>
              <a:t>V</a:t>
            </a:r>
            <a:r>
              <a:rPr lang="en-US" altLang="zh-CN" sz="2000" b="0" baseline="-25000">
                <a:latin typeface="楷体_GB2312" pitchFamily="49" charset="-122"/>
                <a:ea typeface="楷体_GB2312" pitchFamily="49" charset="-122"/>
              </a:rPr>
              <a:t>D</a:t>
            </a:r>
            <a:r>
              <a:rPr lang="zh-CN" altLang="en-US" sz="2000" b="0">
                <a:latin typeface="楷体_GB2312" pitchFamily="49" charset="-122"/>
                <a:ea typeface="楷体_GB2312" pitchFamily="49" charset="-122"/>
              </a:rPr>
              <a:t>称为</a:t>
            </a:r>
            <a:r>
              <a:rPr lang="en-US" altLang="zh-CN" sz="2000" b="0">
                <a:latin typeface="楷体_GB2312" pitchFamily="49" charset="-122"/>
                <a:ea typeface="楷体_GB2312" pitchFamily="49" charset="-122"/>
              </a:rPr>
              <a:t>pn</a:t>
            </a:r>
            <a:r>
              <a:rPr lang="zh-CN" altLang="en-US" sz="2000" b="0">
                <a:latin typeface="楷体_GB2312" pitchFamily="49" charset="-122"/>
                <a:ea typeface="楷体_GB2312" pitchFamily="49" charset="-122"/>
              </a:rPr>
              <a:t>结的接触电势差或内建电势差</a:t>
            </a:r>
            <a:r>
              <a:rPr lang="en-US" altLang="zh-CN" sz="2000" b="0">
                <a:latin typeface="楷体_GB2312" pitchFamily="49" charset="-122"/>
                <a:ea typeface="楷体_GB2312" pitchFamily="49" charset="-122"/>
              </a:rPr>
              <a:t>.</a:t>
            </a:r>
            <a:r>
              <a:rPr lang="zh-CN" altLang="en-US" sz="2000" b="0">
                <a:latin typeface="楷体_GB2312" pitchFamily="49" charset="-122"/>
                <a:ea typeface="楷体_GB2312" pitchFamily="49" charset="-122"/>
              </a:rPr>
              <a:t>势垒高度正好补偿了</a:t>
            </a:r>
            <a:r>
              <a:rPr lang="en-US" altLang="zh-CN" sz="2000" b="0">
                <a:latin typeface="楷体_GB2312" pitchFamily="49" charset="-122"/>
                <a:ea typeface="楷体_GB2312" pitchFamily="49" charset="-122"/>
              </a:rPr>
              <a:t>n</a:t>
            </a:r>
            <a:r>
              <a:rPr lang="zh-CN" altLang="en-US" sz="2000" b="0">
                <a:latin typeface="楷体_GB2312" pitchFamily="49" charset="-122"/>
                <a:ea typeface="楷体_GB2312" pitchFamily="49" charset="-122"/>
              </a:rPr>
              <a:t>区和</a:t>
            </a:r>
            <a:r>
              <a:rPr lang="en-US" altLang="zh-CN" sz="2000" b="0">
                <a:latin typeface="楷体_GB2312" pitchFamily="49" charset="-122"/>
                <a:ea typeface="楷体_GB2312" pitchFamily="49" charset="-122"/>
              </a:rPr>
              <a:t>p</a:t>
            </a:r>
            <a:r>
              <a:rPr lang="zh-CN" altLang="en-US" sz="2000" b="0">
                <a:latin typeface="楷体_GB2312" pitchFamily="49" charset="-122"/>
                <a:ea typeface="楷体_GB2312" pitchFamily="49" charset="-122"/>
              </a:rPr>
              <a:t>区费米能级之差，使平衡的</a:t>
            </a:r>
            <a:r>
              <a:rPr lang="en-US" altLang="zh-CN" sz="2000" b="0">
                <a:latin typeface="楷体_GB2312" pitchFamily="49" charset="-122"/>
                <a:ea typeface="楷体_GB2312" pitchFamily="49" charset="-122"/>
              </a:rPr>
              <a:t>pn</a:t>
            </a:r>
            <a:r>
              <a:rPr lang="zh-CN" altLang="en-US" sz="2000" b="0">
                <a:latin typeface="楷体_GB2312" pitchFamily="49" charset="-122"/>
                <a:ea typeface="楷体_GB2312" pitchFamily="49" charset="-122"/>
              </a:rPr>
              <a:t>结的费米能级处处相等。因此，</a:t>
            </a:r>
            <a:endParaRPr lang="zh-CN" altLang="en-US" sz="2000" b="0">
              <a:latin typeface="楷体_GB2312" pitchFamily="49" charset="-122"/>
              <a:ea typeface="楷体_GB2312" pitchFamily="49" charset="-122"/>
            </a:endParaRPr>
          </a:p>
        </p:txBody>
      </p:sp>
      <p:sp>
        <p:nvSpPr>
          <p:cNvPr id="343045" name="Rectangle 5"/>
          <p:cNvSpPr>
            <a:spLocks noGrp="1" noChangeArrowheads="1"/>
          </p:cNvSpPr>
          <p:nvPr>
            <p:ph type="title"/>
          </p:nvPr>
        </p:nvSpPr>
        <p:spPr/>
        <p:txBody>
          <a:bodyPr/>
          <a:lstStyle/>
          <a:p>
            <a:r>
              <a:rPr lang="en-US" altLang="zh-CN">
                <a:solidFill>
                  <a:schemeClr val="tx1"/>
                </a:solidFill>
                <a:latin typeface="楷体_GB2312" pitchFamily="49" charset="-122"/>
                <a:ea typeface="楷体_GB2312" pitchFamily="49" charset="-122"/>
              </a:rPr>
              <a:t>6.1.4  pn</a:t>
            </a:r>
            <a:r>
              <a:rPr lang="zh-CN" altLang="en-US">
                <a:solidFill>
                  <a:schemeClr val="tx1"/>
                </a:solidFill>
                <a:latin typeface="楷体_GB2312" pitchFamily="49" charset="-122"/>
                <a:ea typeface="楷体_GB2312" pitchFamily="49" charset="-122"/>
              </a:rPr>
              <a:t>结接触电势差</a:t>
            </a:r>
            <a:endParaRPr lang="zh-CN" altLang="en-US">
              <a:solidFill>
                <a:schemeClr val="tx1"/>
              </a:solidFill>
              <a:latin typeface="楷体_GB2312" pitchFamily="49" charset="-122"/>
              <a:ea typeface="楷体_GB2312" pitchFamily="49" charset="-122"/>
            </a:endParaRPr>
          </a:p>
        </p:txBody>
      </p:sp>
      <p:graphicFrame>
        <p:nvGraphicFramePr>
          <p:cNvPr id="343048" name="Object 8"/>
          <p:cNvGraphicFramePr>
            <a:graphicFrameLocks noChangeAspect="1"/>
          </p:cNvGraphicFramePr>
          <p:nvPr/>
        </p:nvGraphicFramePr>
        <p:xfrm>
          <a:off x="4876800" y="2286001"/>
          <a:ext cx="1524000" cy="390525"/>
        </p:xfrm>
        <a:graphic>
          <a:graphicData uri="http://schemas.openxmlformats.org/presentationml/2006/ole">
            <mc:AlternateContent xmlns:mc="http://schemas.openxmlformats.org/markup-compatibility/2006">
              <mc:Choice xmlns:v="urn:schemas-microsoft-com:vml" Requires="v">
                <p:oleObj spid="_x0000_s3110" name="Equation" r:id="rId1" imgW="989965" imgH="254000" progId="Equation.DSMT4">
                  <p:embed/>
                </p:oleObj>
              </mc:Choice>
              <mc:Fallback>
                <p:oleObj name="Equation" r:id="rId1" imgW="989965" imgH="254000" progId="Equation.DSMT4">
                  <p:embed/>
                  <p:pic>
                    <p:nvPicPr>
                      <p:cNvPr id="0" name="Object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76800" y="2286001"/>
                        <a:ext cx="1524000"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43049" name="Text Box 9"/>
          <p:cNvSpPr txBox="1">
            <a:spLocks noChangeArrowheads="1"/>
          </p:cNvSpPr>
          <p:nvPr/>
        </p:nvSpPr>
        <p:spPr bwMode="auto">
          <a:xfrm>
            <a:off x="2438400" y="2811464"/>
            <a:ext cx="75438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lang="zh-CN" altLang="en-US">
                <a:solidFill>
                  <a:srgbClr val="000000"/>
                </a:solidFill>
                <a:latin typeface="楷体_GB2312" pitchFamily="49" charset="-122"/>
                <a:ea typeface="楷体_GB2312" pitchFamily="49" charset="-122"/>
              </a:rPr>
              <a:t>令</a:t>
            </a:r>
            <a:r>
              <a:rPr lang="zh-CN" altLang="en-US">
                <a:solidFill>
                  <a:srgbClr val="000000"/>
                </a:solidFill>
                <a:latin typeface="Arial" panose="020B0604020202020204" pitchFamily="34" charset="0"/>
                <a:ea typeface="宋体" panose="02010600030101010101" pitchFamily="2" charset="-122"/>
              </a:rPr>
              <a:t>         、         </a:t>
            </a:r>
            <a:r>
              <a:rPr lang="zh-CN" altLang="en-US">
                <a:solidFill>
                  <a:srgbClr val="000000"/>
                </a:solidFill>
                <a:latin typeface="楷体_GB2312" pitchFamily="49" charset="-122"/>
                <a:ea typeface="楷体_GB2312" pitchFamily="49" charset="-122"/>
              </a:rPr>
              <a:t>分别表示</a:t>
            </a:r>
            <a:r>
              <a:rPr lang="en-US" altLang="zh-CN">
                <a:solidFill>
                  <a:srgbClr val="000000"/>
                </a:solidFill>
                <a:latin typeface="楷体_GB2312" pitchFamily="49" charset="-122"/>
                <a:ea typeface="楷体_GB2312" pitchFamily="49" charset="-122"/>
              </a:rPr>
              <a:t>n</a:t>
            </a:r>
            <a:r>
              <a:rPr lang="zh-CN" altLang="en-US">
                <a:solidFill>
                  <a:srgbClr val="000000"/>
                </a:solidFill>
                <a:latin typeface="楷体_GB2312" pitchFamily="49" charset="-122"/>
                <a:ea typeface="楷体_GB2312" pitchFamily="49" charset="-122"/>
              </a:rPr>
              <a:t>区和</a:t>
            </a:r>
            <a:r>
              <a:rPr lang="en-US" altLang="zh-CN">
                <a:solidFill>
                  <a:srgbClr val="000000"/>
                </a:solidFill>
                <a:latin typeface="楷体_GB2312" pitchFamily="49" charset="-122"/>
                <a:ea typeface="楷体_GB2312" pitchFamily="49" charset="-122"/>
              </a:rPr>
              <a:t>p</a:t>
            </a:r>
            <a:r>
              <a:rPr lang="zh-CN" altLang="en-US">
                <a:solidFill>
                  <a:srgbClr val="000000"/>
                </a:solidFill>
                <a:latin typeface="楷体_GB2312" pitchFamily="49" charset="-122"/>
                <a:ea typeface="楷体_GB2312" pitchFamily="49" charset="-122"/>
              </a:rPr>
              <a:t>区的平衡电子浓度，对非简并半导体可得</a:t>
            </a:r>
            <a:endParaRPr lang="zh-CN" altLang="en-US">
              <a:solidFill>
                <a:srgbClr val="000000"/>
              </a:solidFill>
              <a:latin typeface="楷体_GB2312" pitchFamily="49" charset="-122"/>
              <a:ea typeface="楷体_GB2312" pitchFamily="49" charset="-122"/>
            </a:endParaRPr>
          </a:p>
        </p:txBody>
      </p:sp>
      <p:graphicFrame>
        <p:nvGraphicFramePr>
          <p:cNvPr id="343051" name="Object 11"/>
          <p:cNvGraphicFramePr>
            <a:graphicFrameLocks noChangeAspect="1"/>
          </p:cNvGraphicFramePr>
          <p:nvPr/>
        </p:nvGraphicFramePr>
        <p:xfrm>
          <a:off x="2895601" y="2819400"/>
          <a:ext cx="360363" cy="381000"/>
        </p:xfrm>
        <a:graphic>
          <a:graphicData uri="http://schemas.openxmlformats.org/presentationml/2006/ole">
            <mc:AlternateContent xmlns:mc="http://schemas.openxmlformats.org/markup-compatibility/2006">
              <mc:Choice xmlns:v="urn:schemas-microsoft-com:vml" Requires="v">
                <p:oleObj spid="_x0000_s3111" name="Equation" r:id="rId3" imgW="215900" imgH="228600" progId="Equation.DSMT4">
                  <p:embed/>
                </p:oleObj>
              </mc:Choice>
              <mc:Fallback>
                <p:oleObj name="Equation" r:id="rId3" imgW="215900" imgH="228600" progId="Equation.DSMT4">
                  <p:embed/>
                  <p:pic>
                    <p:nvPicPr>
                      <p:cNvPr id="0"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95601" y="2819400"/>
                        <a:ext cx="360363"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43052" name="Object 12"/>
          <p:cNvGraphicFramePr>
            <a:graphicFrameLocks noChangeAspect="1"/>
          </p:cNvGraphicFramePr>
          <p:nvPr/>
        </p:nvGraphicFramePr>
        <p:xfrm>
          <a:off x="3581400" y="2743200"/>
          <a:ext cx="433388" cy="457200"/>
        </p:xfrm>
        <a:graphic>
          <a:graphicData uri="http://schemas.openxmlformats.org/presentationml/2006/ole">
            <mc:AlternateContent xmlns:mc="http://schemas.openxmlformats.org/markup-compatibility/2006">
              <mc:Choice xmlns:v="urn:schemas-microsoft-com:vml" Requires="v">
                <p:oleObj spid="_x0000_s3112" name="Equation" r:id="rId5" imgW="228600" imgH="241300" progId="Equation.DSMT4">
                  <p:embed/>
                </p:oleObj>
              </mc:Choice>
              <mc:Fallback>
                <p:oleObj name="Equation" r:id="rId5" imgW="228600" imgH="241300" progId="Equation.DSMT4">
                  <p:embed/>
                  <p:pic>
                    <p:nvPicPr>
                      <p:cNvPr id="0"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81400" y="2743200"/>
                        <a:ext cx="4333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43054" name="Object 14"/>
          <p:cNvGraphicFramePr>
            <a:graphicFrameLocks noChangeAspect="1"/>
          </p:cNvGraphicFramePr>
          <p:nvPr/>
        </p:nvGraphicFramePr>
        <p:xfrm>
          <a:off x="6324600" y="3276600"/>
          <a:ext cx="2057400" cy="685800"/>
        </p:xfrm>
        <a:graphic>
          <a:graphicData uri="http://schemas.openxmlformats.org/presentationml/2006/ole">
            <mc:AlternateContent xmlns:mc="http://schemas.openxmlformats.org/markup-compatibility/2006">
              <mc:Choice xmlns:v="urn:schemas-microsoft-com:vml" Requires="v">
                <p:oleObj spid="_x0000_s3113" name="Equation" r:id="rId7" imgW="1371600" imgH="457200" progId="Equation.DSMT4">
                  <p:embed/>
                </p:oleObj>
              </mc:Choice>
              <mc:Fallback>
                <p:oleObj name="Equation" r:id="rId7" imgW="1371600" imgH="457200" progId="Equation.DSMT4">
                  <p:embed/>
                  <p:pic>
                    <p:nvPicPr>
                      <p:cNvPr id="0" name="Object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324600" y="3276600"/>
                        <a:ext cx="20574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43055" name="Text Box 15"/>
          <p:cNvSpPr txBox="1">
            <a:spLocks noChangeArrowheads="1"/>
          </p:cNvSpPr>
          <p:nvPr/>
        </p:nvSpPr>
        <p:spPr bwMode="auto">
          <a:xfrm>
            <a:off x="2514600" y="4038601"/>
            <a:ext cx="2743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lang="zh-CN" altLang="en-US">
                <a:solidFill>
                  <a:srgbClr val="000000"/>
                </a:solidFill>
                <a:latin typeface="楷体_GB2312" pitchFamily="49" charset="-122"/>
                <a:ea typeface="楷体_GB2312" pitchFamily="49" charset="-122"/>
              </a:rPr>
              <a:t>两式相除取对数得</a:t>
            </a:r>
            <a:endParaRPr lang="zh-CN" altLang="en-US">
              <a:solidFill>
                <a:srgbClr val="000000"/>
              </a:solidFill>
              <a:latin typeface="楷体_GB2312" pitchFamily="49" charset="-122"/>
              <a:ea typeface="楷体_GB2312" pitchFamily="49" charset="-122"/>
            </a:endParaRPr>
          </a:p>
        </p:txBody>
      </p:sp>
      <p:graphicFrame>
        <p:nvGraphicFramePr>
          <p:cNvPr id="343057" name="Object 17"/>
          <p:cNvGraphicFramePr>
            <a:graphicFrameLocks noChangeAspect="1"/>
          </p:cNvGraphicFramePr>
          <p:nvPr/>
        </p:nvGraphicFramePr>
        <p:xfrm>
          <a:off x="4648200" y="4038601"/>
          <a:ext cx="2133600" cy="638175"/>
        </p:xfrm>
        <a:graphic>
          <a:graphicData uri="http://schemas.openxmlformats.org/presentationml/2006/ole">
            <mc:AlternateContent xmlns:mc="http://schemas.openxmlformats.org/markup-compatibility/2006">
              <mc:Choice xmlns:v="urn:schemas-microsoft-com:vml" Requires="v">
                <p:oleObj spid="_x0000_s3114" name="Equation" r:id="rId9" imgW="1485265" imgH="444500" progId="Equation.DSMT4">
                  <p:embed/>
                </p:oleObj>
              </mc:Choice>
              <mc:Fallback>
                <p:oleObj name="Equation" r:id="rId9" imgW="1485265" imgH="444500" progId="Equation.DSMT4">
                  <p:embed/>
                  <p:pic>
                    <p:nvPicPr>
                      <p:cNvPr id="0" name="Object 1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648200" y="4038601"/>
                        <a:ext cx="2133600" cy="638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43058" name="Text Box 18"/>
          <p:cNvSpPr txBox="1">
            <a:spLocks noChangeArrowheads="1"/>
          </p:cNvSpPr>
          <p:nvPr/>
        </p:nvSpPr>
        <p:spPr bwMode="auto">
          <a:xfrm>
            <a:off x="2438400" y="4724400"/>
            <a:ext cx="468122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50000"/>
              </a:spcBef>
              <a:spcAft>
                <a:spcPct val="0"/>
              </a:spcAft>
            </a:pPr>
            <a:r>
              <a:rPr lang="zh-CN" altLang="en-US">
                <a:solidFill>
                  <a:srgbClr val="000000"/>
                </a:solidFill>
                <a:latin typeface="楷体_GB2312" pitchFamily="49" charset="-122"/>
                <a:ea typeface="楷体_GB2312" pitchFamily="49" charset="-122"/>
              </a:rPr>
              <a:t>因为          </a:t>
            </a:r>
            <a:r>
              <a:rPr lang="en-US" altLang="zh-CN">
                <a:solidFill>
                  <a:srgbClr val="000000"/>
                </a:solidFill>
                <a:latin typeface="楷体_GB2312" pitchFamily="49" charset="-122"/>
                <a:ea typeface="楷体_GB2312" pitchFamily="49" charset="-122"/>
              </a:rPr>
              <a:t>,          , </a:t>
            </a:r>
            <a:r>
              <a:rPr lang="zh-CN" altLang="en-US">
                <a:solidFill>
                  <a:srgbClr val="000000"/>
                </a:solidFill>
                <a:latin typeface="楷体_GB2312" pitchFamily="49" charset="-122"/>
                <a:ea typeface="楷体_GB2312" pitchFamily="49" charset="-122"/>
              </a:rPr>
              <a:t>则</a:t>
            </a:r>
            <a:endParaRPr lang="zh-CN" altLang="en-US">
              <a:solidFill>
                <a:srgbClr val="000000"/>
              </a:solidFill>
              <a:latin typeface="楷体_GB2312" pitchFamily="49" charset="-122"/>
              <a:ea typeface="楷体_GB2312" pitchFamily="49" charset="-122"/>
            </a:endParaRPr>
          </a:p>
        </p:txBody>
      </p:sp>
      <p:graphicFrame>
        <p:nvGraphicFramePr>
          <p:cNvPr id="343060" name="Object 20"/>
          <p:cNvGraphicFramePr>
            <a:graphicFrameLocks noChangeAspect="1"/>
          </p:cNvGraphicFramePr>
          <p:nvPr/>
        </p:nvGraphicFramePr>
        <p:xfrm>
          <a:off x="3200400" y="4800601"/>
          <a:ext cx="838200" cy="334963"/>
        </p:xfrm>
        <a:graphic>
          <a:graphicData uri="http://schemas.openxmlformats.org/presentationml/2006/ole">
            <mc:AlternateContent xmlns:mc="http://schemas.openxmlformats.org/markup-compatibility/2006">
              <mc:Choice xmlns:v="urn:schemas-microsoft-com:vml" Requires="v">
                <p:oleObj spid="_x0000_s3115" name="Equation" r:id="rId11" imgW="571500" imgH="228600" progId="Equation.DSMT4">
                  <p:embed/>
                </p:oleObj>
              </mc:Choice>
              <mc:Fallback>
                <p:oleObj name="Equation" r:id="rId11" imgW="571500" imgH="228600" progId="Equation.DSMT4">
                  <p:embed/>
                  <p:pic>
                    <p:nvPicPr>
                      <p:cNvPr id="0" name="Object 2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200400" y="4800601"/>
                        <a:ext cx="838200" cy="334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43061" name="Object 21"/>
          <p:cNvGraphicFramePr>
            <a:graphicFrameLocks noChangeAspect="1"/>
          </p:cNvGraphicFramePr>
          <p:nvPr/>
        </p:nvGraphicFramePr>
        <p:xfrm>
          <a:off x="4321810" y="4772843"/>
          <a:ext cx="914400" cy="465138"/>
        </p:xfrm>
        <a:graphic>
          <a:graphicData uri="http://schemas.openxmlformats.org/presentationml/2006/ole">
            <mc:AlternateContent xmlns:mc="http://schemas.openxmlformats.org/markup-compatibility/2006">
              <mc:Choice xmlns:v="urn:schemas-microsoft-com:vml" Requires="v">
                <p:oleObj spid="_x0000_s3116" name="Equation" r:id="rId13" imgW="774065" imgH="393700" progId="Equation.DSMT4">
                  <p:embed/>
                </p:oleObj>
              </mc:Choice>
              <mc:Fallback>
                <p:oleObj name="Equation" r:id="rId13" imgW="774065" imgH="393700" progId="Equation.DSMT4">
                  <p:embed/>
                  <p:pic>
                    <p:nvPicPr>
                      <p:cNvPr id="0" name="Object 2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321810" y="4772843"/>
                        <a:ext cx="914400"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43063" name="Object 23"/>
          <p:cNvGraphicFramePr>
            <a:graphicFrameLocks noChangeAspect="1"/>
          </p:cNvGraphicFramePr>
          <p:nvPr/>
        </p:nvGraphicFramePr>
        <p:xfrm>
          <a:off x="3352800" y="5334001"/>
          <a:ext cx="4648200" cy="714375"/>
        </p:xfrm>
        <a:graphic>
          <a:graphicData uri="http://schemas.openxmlformats.org/presentationml/2006/ole">
            <mc:AlternateContent xmlns:mc="http://schemas.openxmlformats.org/markup-compatibility/2006">
              <mc:Choice xmlns:v="urn:schemas-microsoft-com:vml" Requires="v">
                <p:oleObj spid="_x0000_s3117" name="Equation" r:id="rId15" imgW="3136900" imgH="482600" progId="Equation.DSMT4">
                  <p:embed/>
                </p:oleObj>
              </mc:Choice>
              <mc:Fallback>
                <p:oleObj name="Equation" r:id="rId15" imgW="3136900" imgH="482600" progId="Equation.DSMT4">
                  <p:embed/>
                  <p:pic>
                    <p:nvPicPr>
                      <p:cNvPr id="0" name="Object 2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352800" y="5334001"/>
                        <a:ext cx="4648200" cy="714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43064" name="Object 24"/>
          <p:cNvGraphicFramePr>
            <a:graphicFrameLocks noChangeAspect="1"/>
          </p:cNvGraphicFramePr>
          <p:nvPr/>
        </p:nvGraphicFramePr>
        <p:xfrm>
          <a:off x="3429000" y="3276600"/>
          <a:ext cx="1981200" cy="674688"/>
        </p:xfrm>
        <a:graphic>
          <a:graphicData uri="http://schemas.openxmlformats.org/presentationml/2006/ole">
            <mc:AlternateContent xmlns:mc="http://schemas.openxmlformats.org/markup-compatibility/2006">
              <mc:Choice xmlns:v="urn:schemas-microsoft-com:vml" Requires="v">
                <p:oleObj spid="_x0000_s3118" name="Equation" r:id="rId17" imgW="1346200" imgH="457200" progId="Equation.DSMT4">
                  <p:embed/>
                </p:oleObj>
              </mc:Choice>
              <mc:Fallback>
                <p:oleObj name="Equation" r:id="rId17" imgW="1346200" imgH="457200" progId="Equation.DSMT4">
                  <p:embed/>
                  <p:pic>
                    <p:nvPicPr>
                      <p:cNvPr id="0" name="Object 24"/>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429000" y="3276600"/>
                        <a:ext cx="1981200" cy="674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066" name="Rectangle 2"/>
          <p:cNvSpPr>
            <a:spLocks noGrp="1" noChangeArrowheads="1"/>
          </p:cNvSpPr>
          <p:nvPr>
            <p:ph type="title"/>
          </p:nvPr>
        </p:nvSpPr>
        <p:spPr/>
        <p:txBody>
          <a:bodyPr/>
          <a:lstStyle/>
          <a:p>
            <a:r>
              <a:rPr lang="en-US" altLang="zh-CN" sz="3600">
                <a:solidFill>
                  <a:schemeClr val="tx1"/>
                </a:solidFill>
                <a:latin typeface="楷体_GB2312" pitchFamily="49" charset="-122"/>
                <a:ea typeface="楷体_GB2312" pitchFamily="49" charset="-122"/>
              </a:rPr>
              <a:t>6.1.4  pn</a:t>
            </a:r>
            <a:r>
              <a:rPr lang="zh-CN" altLang="en-US" sz="3600">
                <a:solidFill>
                  <a:schemeClr val="tx1"/>
                </a:solidFill>
                <a:latin typeface="楷体_GB2312" pitchFamily="49" charset="-122"/>
                <a:ea typeface="楷体_GB2312" pitchFamily="49" charset="-122"/>
              </a:rPr>
              <a:t>结接触电势差</a:t>
            </a:r>
            <a:endParaRPr lang="zh-CN" altLang="en-US" sz="3600">
              <a:solidFill>
                <a:schemeClr val="tx1"/>
              </a:solidFill>
              <a:latin typeface="楷体_GB2312" pitchFamily="49" charset="-122"/>
              <a:ea typeface="楷体_GB2312" pitchFamily="49" charset="-122"/>
            </a:endParaRPr>
          </a:p>
        </p:txBody>
      </p:sp>
      <p:graphicFrame>
        <p:nvGraphicFramePr>
          <p:cNvPr id="344068" name="Object 4"/>
          <p:cNvGraphicFramePr>
            <a:graphicFrameLocks noGrp="1" noChangeAspect="1"/>
          </p:cNvGraphicFramePr>
          <p:nvPr>
            <p:ph type="body" idx="1"/>
          </p:nvPr>
        </p:nvGraphicFramePr>
        <p:xfrm>
          <a:off x="3124200" y="1600201"/>
          <a:ext cx="5181600" cy="796925"/>
        </p:xfrm>
        <a:graphic>
          <a:graphicData uri="http://schemas.openxmlformats.org/presentationml/2006/ole">
            <mc:AlternateContent xmlns:mc="http://schemas.openxmlformats.org/markup-compatibility/2006">
              <mc:Choice xmlns:v="urn:schemas-microsoft-com:vml" Requires="v">
                <p:oleObj spid="_x0000_s4101" name="Equation" r:id="rId1" imgW="3136900" imgH="482600" progId="Equation.DSMT4">
                  <p:embed/>
                </p:oleObj>
              </mc:Choice>
              <mc:Fallback>
                <p:oleObj name="Equation" r:id="rId1" imgW="3136900" imgH="482600" progId="Equation.DSMT4">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4200" y="1600201"/>
                        <a:ext cx="5181600" cy="796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44069" name="Text Box 5"/>
          <p:cNvSpPr txBox="1">
            <a:spLocks noChangeArrowheads="1"/>
          </p:cNvSpPr>
          <p:nvPr/>
        </p:nvSpPr>
        <p:spPr bwMode="auto">
          <a:xfrm>
            <a:off x="2590800" y="2743200"/>
            <a:ext cx="685800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lang="zh-CN" altLang="en-US" sz="2400">
                <a:solidFill>
                  <a:srgbClr val="000000"/>
                </a:solidFill>
                <a:latin typeface="楷体_GB2312" pitchFamily="49" charset="-122"/>
                <a:ea typeface="楷体_GB2312" pitchFamily="49" charset="-122"/>
              </a:rPr>
              <a:t>上式表明</a:t>
            </a:r>
            <a:r>
              <a:rPr lang="en-US" altLang="zh-CN" sz="2400">
                <a:solidFill>
                  <a:srgbClr val="000000"/>
                </a:solidFill>
                <a:latin typeface="楷体_GB2312" pitchFamily="49" charset="-122"/>
                <a:ea typeface="楷体_GB2312" pitchFamily="49" charset="-122"/>
              </a:rPr>
              <a:t>,V</a:t>
            </a:r>
            <a:r>
              <a:rPr lang="en-US" altLang="zh-CN" sz="2400" baseline="-25000">
                <a:solidFill>
                  <a:srgbClr val="000000"/>
                </a:solidFill>
                <a:latin typeface="楷体_GB2312" pitchFamily="49" charset="-122"/>
                <a:ea typeface="楷体_GB2312" pitchFamily="49" charset="-122"/>
              </a:rPr>
              <a:t>D</a:t>
            </a:r>
            <a:r>
              <a:rPr lang="zh-CN" altLang="en-US" sz="2400">
                <a:solidFill>
                  <a:srgbClr val="000000"/>
                </a:solidFill>
                <a:latin typeface="楷体_GB2312" pitchFamily="49" charset="-122"/>
                <a:ea typeface="楷体_GB2312" pitchFamily="49" charset="-122"/>
              </a:rPr>
              <a:t>和</a:t>
            </a:r>
            <a:r>
              <a:rPr lang="en-US" altLang="zh-CN" sz="2400">
                <a:solidFill>
                  <a:srgbClr val="000000"/>
                </a:solidFill>
                <a:latin typeface="楷体_GB2312" pitchFamily="49" charset="-122"/>
                <a:ea typeface="楷体_GB2312" pitchFamily="49" charset="-122"/>
              </a:rPr>
              <a:t>pn</a:t>
            </a:r>
            <a:r>
              <a:rPr lang="zh-CN" altLang="en-US" sz="2400">
                <a:solidFill>
                  <a:srgbClr val="000000"/>
                </a:solidFill>
                <a:latin typeface="楷体_GB2312" pitchFamily="49" charset="-122"/>
                <a:ea typeface="楷体_GB2312" pitchFamily="49" charset="-122"/>
              </a:rPr>
              <a:t>结两边的掺杂浓度、温度、材料的禁带宽度有关。在一定的温度下，突变结两边掺杂浓度越高，接触电势差</a:t>
            </a:r>
            <a:r>
              <a:rPr lang="en-US" altLang="zh-CN" sz="2400">
                <a:solidFill>
                  <a:srgbClr val="000000"/>
                </a:solidFill>
                <a:latin typeface="楷体_GB2312" pitchFamily="49" charset="-122"/>
                <a:ea typeface="楷体_GB2312" pitchFamily="49" charset="-122"/>
              </a:rPr>
              <a:t>V</a:t>
            </a:r>
            <a:r>
              <a:rPr lang="en-US" altLang="zh-CN" sz="2400" baseline="-25000">
                <a:solidFill>
                  <a:srgbClr val="000000"/>
                </a:solidFill>
                <a:latin typeface="楷体_GB2312" pitchFamily="49" charset="-122"/>
                <a:ea typeface="楷体_GB2312" pitchFamily="49" charset="-122"/>
              </a:rPr>
              <a:t>D</a:t>
            </a:r>
            <a:r>
              <a:rPr lang="zh-CN" altLang="en-US" sz="2400">
                <a:solidFill>
                  <a:srgbClr val="000000"/>
                </a:solidFill>
                <a:latin typeface="楷体_GB2312" pitchFamily="49" charset="-122"/>
                <a:ea typeface="楷体_GB2312" pitchFamily="49" charset="-122"/>
              </a:rPr>
              <a:t>越大</a:t>
            </a:r>
            <a:r>
              <a:rPr lang="en-US" altLang="zh-CN" sz="2400">
                <a:solidFill>
                  <a:srgbClr val="000000"/>
                </a:solidFill>
                <a:latin typeface="楷体_GB2312" pitchFamily="49" charset="-122"/>
                <a:ea typeface="楷体_GB2312" pitchFamily="49" charset="-122"/>
              </a:rPr>
              <a:t>;</a:t>
            </a:r>
            <a:r>
              <a:rPr lang="zh-CN" altLang="en-US" sz="2400">
                <a:solidFill>
                  <a:srgbClr val="000000"/>
                </a:solidFill>
                <a:latin typeface="楷体_GB2312" pitchFamily="49" charset="-122"/>
                <a:ea typeface="楷体_GB2312" pitchFamily="49" charset="-122"/>
              </a:rPr>
              <a:t>禁带宽度越大，</a:t>
            </a:r>
            <a:r>
              <a:rPr lang="en-US" altLang="zh-CN" sz="2400">
                <a:solidFill>
                  <a:srgbClr val="000000"/>
                </a:solidFill>
                <a:latin typeface="楷体_GB2312" pitchFamily="49" charset="-122"/>
                <a:ea typeface="楷体_GB2312" pitchFamily="49" charset="-122"/>
              </a:rPr>
              <a:t>n</a:t>
            </a:r>
            <a:r>
              <a:rPr lang="en-US" altLang="zh-CN" sz="2400" baseline="-25000">
                <a:solidFill>
                  <a:srgbClr val="000000"/>
                </a:solidFill>
                <a:latin typeface="楷体_GB2312" pitchFamily="49" charset="-122"/>
                <a:ea typeface="楷体_GB2312" pitchFamily="49" charset="-122"/>
              </a:rPr>
              <a:t>i</a:t>
            </a:r>
            <a:r>
              <a:rPr lang="zh-CN" altLang="en-US" sz="2400">
                <a:solidFill>
                  <a:srgbClr val="000000"/>
                </a:solidFill>
                <a:latin typeface="楷体_GB2312" pitchFamily="49" charset="-122"/>
                <a:ea typeface="楷体_GB2312" pitchFamily="49" charset="-122"/>
              </a:rPr>
              <a:t>越小，</a:t>
            </a:r>
            <a:r>
              <a:rPr lang="en-US" altLang="zh-CN" sz="2400">
                <a:solidFill>
                  <a:srgbClr val="000000"/>
                </a:solidFill>
                <a:latin typeface="楷体_GB2312" pitchFamily="49" charset="-122"/>
                <a:ea typeface="楷体_GB2312" pitchFamily="49" charset="-122"/>
              </a:rPr>
              <a:t>V</a:t>
            </a:r>
            <a:r>
              <a:rPr lang="en-US" altLang="zh-CN" sz="2400" baseline="-25000">
                <a:solidFill>
                  <a:srgbClr val="000000"/>
                </a:solidFill>
                <a:latin typeface="楷体_GB2312" pitchFamily="49" charset="-122"/>
                <a:ea typeface="楷体_GB2312" pitchFamily="49" charset="-122"/>
              </a:rPr>
              <a:t>D</a:t>
            </a:r>
            <a:r>
              <a:rPr lang="zh-CN" altLang="en-US" sz="2400">
                <a:solidFill>
                  <a:srgbClr val="000000"/>
                </a:solidFill>
                <a:latin typeface="楷体_GB2312" pitchFamily="49" charset="-122"/>
                <a:ea typeface="楷体_GB2312" pitchFamily="49" charset="-122"/>
              </a:rPr>
              <a:t>也越大。所以，硅</a:t>
            </a:r>
            <a:r>
              <a:rPr lang="en-US" altLang="zh-CN" sz="2400">
                <a:solidFill>
                  <a:srgbClr val="000000"/>
                </a:solidFill>
                <a:latin typeface="楷体_GB2312" pitchFamily="49" charset="-122"/>
                <a:ea typeface="楷体_GB2312" pitchFamily="49" charset="-122"/>
              </a:rPr>
              <a:t>pn</a:t>
            </a:r>
            <a:r>
              <a:rPr lang="zh-CN" altLang="en-US" sz="2400">
                <a:solidFill>
                  <a:srgbClr val="000000"/>
                </a:solidFill>
                <a:latin typeface="楷体_GB2312" pitchFamily="49" charset="-122"/>
                <a:ea typeface="楷体_GB2312" pitchFamily="49" charset="-122"/>
              </a:rPr>
              <a:t>结的</a:t>
            </a:r>
            <a:r>
              <a:rPr lang="en-US" altLang="zh-CN" sz="2400">
                <a:solidFill>
                  <a:srgbClr val="000000"/>
                </a:solidFill>
                <a:latin typeface="楷体_GB2312" pitchFamily="49" charset="-122"/>
                <a:ea typeface="楷体_GB2312" pitchFamily="49" charset="-122"/>
              </a:rPr>
              <a:t>V</a:t>
            </a:r>
            <a:r>
              <a:rPr lang="en-US" altLang="zh-CN" sz="2400" baseline="-25000">
                <a:solidFill>
                  <a:srgbClr val="000000"/>
                </a:solidFill>
                <a:latin typeface="楷体_GB2312" pitchFamily="49" charset="-122"/>
                <a:ea typeface="楷体_GB2312" pitchFamily="49" charset="-122"/>
              </a:rPr>
              <a:t>D</a:t>
            </a:r>
            <a:r>
              <a:rPr lang="zh-CN" altLang="en-US" sz="2400">
                <a:solidFill>
                  <a:srgbClr val="000000"/>
                </a:solidFill>
                <a:latin typeface="楷体_GB2312" pitchFamily="49" charset="-122"/>
                <a:ea typeface="楷体_GB2312" pitchFamily="49" charset="-122"/>
              </a:rPr>
              <a:t>比锗</a:t>
            </a:r>
            <a:r>
              <a:rPr lang="en-US" altLang="zh-CN" sz="2400">
                <a:solidFill>
                  <a:srgbClr val="000000"/>
                </a:solidFill>
                <a:latin typeface="楷体_GB2312" pitchFamily="49" charset="-122"/>
                <a:ea typeface="楷体_GB2312" pitchFamily="49" charset="-122"/>
              </a:rPr>
              <a:t>pn</a:t>
            </a:r>
            <a:r>
              <a:rPr lang="zh-CN" altLang="en-US" sz="2400">
                <a:solidFill>
                  <a:srgbClr val="000000"/>
                </a:solidFill>
                <a:latin typeface="楷体_GB2312" pitchFamily="49" charset="-122"/>
                <a:ea typeface="楷体_GB2312" pitchFamily="49" charset="-122"/>
              </a:rPr>
              <a:t>结的</a:t>
            </a:r>
            <a:r>
              <a:rPr lang="en-US" altLang="zh-CN" sz="2400">
                <a:solidFill>
                  <a:srgbClr val="000000"/>
                </a:solidFill>
                <a:latin typeface="楷体_GB2312" pitchFamily="49" charset="-122"/>
                <a:ea typeface="楷体_GB2312" pitchFamily="49" charset="-122"/>
              </a:rPr>
              <a:t>V</a:t>
            </a:r>
            <a:r>
              <a:rPr lang="en-US" altLang="zh-CN" sz="2400" baseline="-25000">
                <a:solidFill>
                  <a:srgbClr val="000000"/>
                </a:solidFill>
                <a:latin typeface="楷体_GB2312" pitchFamily="49" charset="-122"/>
                <a:ea typeface="楷体_GB2312" pitchFamily="49" charset="-122"/>
              </a:rPr>
              <a:t>D</a:t>
            </a:r>
            <a:r>
              <a:rPr lang="zh-CN" altLang="en-US" sz="2400">
                <a:solidFill>
                  <a:srgbClr val="000000"/>
                </a:solidFill>
                <a:latin typeface="楷体_GB2312" pitchFamily="49" charset="-122"/>
                <a:ea typeface="楷体_GB2312" pitchFamily="49" charset="-122"/>
              </a:rPr>
              <a:t>大。若</a:t>
            </a:r>
            <a:r>
              <a:rPr lang="en-US" altLang="zh-CN" sz="2400">
                <a:solidFill>
                  <a:srgbClr val="000000"/>
                </a:solidFill>
                <a:latin typeface="楷体_GB2312" pitchFamily="49" charset="-122"/>
                <a:ea typeface="楷体_GB2312" pitchFamily="49" charset="-122"/>
              </a:rPr>
              <a:t>N</a:t>
            </a:r>
            <a:r>
              <a:rPr lang="en-US" altLang="zh-CN" sz="2400" baseline="-25000">
                <a:solidFill>
                  <a:srgbClr val="000000"/>
                </a:solidFill>
                <a:latin typeface="楷体_GB2312" pitchFamily="49" charset="-122"/>
                <a:ea typeface="楷体_GB2312" pitchFamily="49" charset="-122"/>
              </a:rPr>
              <a:t>A</a:t>
            </a:r>
            <a:r>
              <a:rPr lang="en-US" altLang="zh-CN" sz="2400">
                <a:solidFill>
                  <a:srgbClr val="000000"/>
                </a:solidFill>
                <a:latin typeface="楷体_GB2312" pitchFamily="49" charset="-122"/>
                <a:ea typeface="楷体_GB2312" pitchFamily="49" charset="-122"/>
              </a:rPr>
              <a:t>=10</a:t>
            </a:r>
            <a:r>
              <a:rPr lang="en-US" altLang="zh-CN" sz="2400" baseline="30000">
                <a:solidFill>
                  <a:srgbClr val="000000"/>
                </a:solidFill>
                <a:latin typeface="楷体_GB2312" pitchFamily="49" charset="-122"/>
                <a:ea typeface="楷体_GB2312" pitchFamily="49" charset="-122"/>
              </a:rPr>
              <a:t>17</a:t>
            </a:r>
            <a:r>
              <a:rPr lang="en-US" altLang="zh-CN" sz="2400">
                <a:solidFill>
                  <a:srgbClr val="000000"/>
                </a:solidFill>
                <a:latin typeface="楷体_GB2312" pitchFamily="49" charset="-122"/>
                <a:ea typeface="楷体_GB2312" pitchFamily="49" charset="-122"/>
              </a:rPr>
              <a:t>cm</a:t>
            </a:r>
            <a:r>
              <a:rPr lang="en-US" altLang="zh-CN" sz="2400" baseline="30000">
                <a:solidFill>
                  <a:srgbClr val="000000"/>
                </a:solidFill>
                <a:latin typeface="楷体_GB2312" pitchFamily="49" charset="-122"/>
                <a:ea typeface="楷体_GB2312" pitchFamily="49" charset="-122"/>
              </a:rPr>
              <a:t>-3</a:t>
            </a:r>
            <a:r>
              <a:rPr lang="en-US" altLang="zh-CN" sz="2400">
                <a:solidFill>
                  <a:srgbClr val="000000"/>
                </a:solidFill>
                <a:latin typeface="楷体_GB2312" pitchFamily="49" charset="-122"/>
                <a:ea typeface="楷体_GB2312" pitchFamily="49" charset="-122"/>
              </a:rPr>
              <a:t>,N</a:t>
            </a:r>
            <a:r>
              <a:rPr lang="en-US" altLang="zh-CN" sz="2400" baseline="-25000">
                <a:solidFill>
                  <a:srgbClr val="000000"/>
                </a:solidFill>
                <a:latin typeface="楷体_GB2312" pitchFamily="49" charset="-122"/>
                <a:ea typeface="楷体_GB2312" pitchFamily="49" charset="-122"/>
              </a:rPr>
              <a:t>D</a:t>
            </a:r>
            <a:r>
              <a:rPr lang="en-US" altLang="zh-CN" sz="2400">
                <a:solidFill>
                  <a:srgbClr val="000000"/>
                </a:solidFill>
                <a:latin typeface="楷体_GB2312" pitchFamily="49" charset="-122"/>
                <a:ea typeface="楷体_GB2312" pitchFamily="49" charset="-122"/>
              </a:rPr>
              <a:t>=10</a:t>
            </a:r>
            <a:r>
              <a:rPr lang="en-US" altLang="zh-CN" sz="2400" baseline="30000">
                <a:solidFill>
                  <a:srgbClr val="000000"/>
                </a:solidFill>
                <a:latin typeface="楷体_GB2312" pitchFamily="49" charset="-122"/>
                <a:ea typeface="楷体_GB2312" pitchFamily="49" charset="-122"/>
              </a:rPr>
              <a:t>15</a:t>
            </a:r>
            <a:r>
              <a:rPr lang="en-US" altLang="zh-CN" sz="2400">
                <a:solidFill>
                  <a:srgbClr val="000000"/>
                </a:solidFill>
                <a:latin typeface="楷体_GB2312" pitchFamily="49" charset="-122"/>
                <a:ea typeface="楷体_GB2312" pitchFamily="49" charset="-122"/>
              </a:rPr>
              <a:t>cm</a:t>
            </a:r>
            <a:r>
              <a:rPr lang="en-US" altLang="zh-CN" sz="2400" baseline="30000">
                <a:solidFill>
                  <a:srgbClr val="000000"/>
                </a:solidFill>
                <a:latin typeface="楷体_GB2312" pitchFamily="49" charset="-122"/>
                <a:ea typeface="楷体_GB2312" pitchFamily="49" charset="-122"/>
              </a:rPr>
              <a:t>-3</a:t>
            </a:r>
            <a:r>
              <a:rPr lang="en-US" altLang="zh-CN" sz="2400">
                <a:solidFill>
                  <a:srgbClr val="000000"/>
                </a:solidFill>
                <a:latin typeface="楷体_GB2312" pitchFamily="49" charset="-122"/>
                <a:ea typeface="楷体_GB2312" pitchFamily="49" charset="-122"/>
              </a:rPr>
              <a:t>,</a:t>
            </a:r>
            <a:r>
              <a:rPr lang="zh-CN" altLang="en-US" sz="2400">
                <a:solidFill>
                  <a:srgbClr val="000000"/>
                </a:solidFill>
                <a:latin typeface="楷体_GB2312" pitchFamily="49" charset="-122"/>
                <a:ea typeface="楷体_GB2312" pitchFamily="49" charset="-122"/>
              </a:rPr>
              <a:t>在室温下可以算得硅的</a:t>
            </a:r>
            <a:r>
              <a:rPr lang="en-US" altLang="zh-CN" sz="2400">
                <a:solidFill>
                  <a:srgbClr val="000000"/>
                </a:solidFill>
                <a:latin typeface="楷体_GB2312" pitchFamily="49" charset="-122"/>
                <a:ea typeface="楷体_GB2312" pitchFamily="49" charset="-122"/>
              </a:rPr>
              <a:t>V</a:t>
            </a:r>
            <a:r>
              <a:rPr lang="en-US" altLang="zh-CN" sz="2400" baseline="-25000">
                <a:solidFill>
                  <a:srgbClr val="000000"/>
                </a:solidFill>
                <a:latin typeface="楷体_GB2312" pitchFamily="49" charset="-122"/>
                <a:ea typeface="楷体_GB2312" pitchFamily="49" charset="-122"/>
              </a:rPr>
              <a:t>D</a:t>
            </a:r>
            <a:r>
              <a:rPr lang="en-US" altLang="zh-CN" sz="2400">
                <a:solidFill>
                  <a:srgbClr val="000000"/>
                </a:solidFill>
                <a:latin typeface="楷体_GB2312" pitchFamily="49" charset="-122"/>
                <a:ea typeface="楷体_GB2312" pitchFamily="49" charset="-122"/>
              </a:rPr>
              <a:t>=0.70V,</a:t>
            </a:r>
            <a:r>
              <a:rPr lang="zh-CN" altLang="en-US" sz="2400">
                <a:solidFill>
                  <a:srgbClr val="000000"/>
                </a:solidFill>
                <a:latin typeface="楷体_GB2312" pitchFamily="49" charset="-122"/>
                <a:ea typeface="楷体_GB2312" pitchFamily="49" charset="-122"/>
              </a:rPr>
              <a:t>锗的</a:t>
            </a:r>
            <a:r>
              <a:rPr lang="en-US" altLang="zh-CN" sz="2400">
                <a:solidFill>
                  <a:srgbClr val="000000"/>
                </a:solidFill>
                <a:latin typeface="楷体_GB2312" pitchFamily="49" charset="-122"/>
                <a:ea typeface="楷体_GB2312" pitchFamily="49" charset="-122"/>
              </a:rPr>
              <a:t>V</a:t>
            </a:r>
            <a:r>
              <a:rPr lang="en-US" altLang="zh-CN" sz="2400" baseline="-25000">
                <a:solidFill>
                  <a:srgbClr val="000000"/>
                </a:solidFill>
                <a:latin typeface="楷体_GB2312" pitchFamily="49" charset="-122"/>
                <a:ea typeface="楷体_GB2312" pitchFamily="49" charset="-122"/>
              </a:rPr>
              <a:t>D</a:t>
            </a:r>
            <a:r>
              <a:rPr lang="en-US" altLang="zh-CN" sz="2400">
                <a:solidFill>
                  <a:srgbClr val="000000"/>
                </a:solidFill>
                <a:latin typeface="楷体_GB2312" pitchFamily="49" charset="-122"/>
                <a:ea typeface="楷体_GB2312" pitchFamily="49" charset="-122"/>
              </a:rPr>
              <a:t>=0.32V</a:t>
            </a:r>
            <a:r>
              <a:rPr lang="zh-CN" altLang="en-US">
                <a:solidFill>
                  <a:srgbClr val="000000"/>
                </a:solidFill>
                <a:latin typeface="Arial" panose="020B0604020202020204" pitchFamily="34" charset="0"/>
                <a:ea typeface="宋体" panose="02010600030101010101" pitchFamily="2" charset="-122"/>
              </a:rPr>
              <a:t>。</a:t>
            </a:r>
            <a:endParaRPr lang="zh-CN" altLang="en-US">
              <a:solidFill>
                <a:srgbClr val="000000"/>
              </a:solidFill>
              <a:latin typeface="Arial" panose="020B0604020202020204" pitchFamily="34" charset="0"/>
              <a:ea typeface="宋体" panose="02010600030101010101" pitchFamily="2" charset="-122"/>
            </a:endParaRP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4306" name="Rectangle 2"/>
          <p:cNvSpPr>
            <a:spLocks noGrp="1" noChangeArrowheads="1"/>
          </p:cNvSpPr>
          <p:nvPr>
            <p:ph type="title"/>
          </p:nvPr>
        </p:nvSpPr>
        <p:spPr/>
        <p:txBody>
          <a:bodyPr/>
          <a:lstStyle/>
          <a:p>
            <a:r>
              <a:rPr lang="en-US" altLang="zh-CN">
                <a:solidFill>
                  <a:schemeClr val="tx1"/>
                </a:solidFill>
                <a:latin typeface="楷体_GB2312" pitchFamily="49" charset="-122"/>
                <a:ea typeface="楷体_GB2312" pitchFamily="49" charset="-122"/>
              </a:rPr>
              <a:t>6.1.5  pn</a:t>
            </a:r>
            <a:r>
              <a:rPr lang="zh-CN" altLang="en-US">
                <a:solidFill>
                  <a:schemeClr val="tx1"/>
                </a:solidFill>
                <a:latin typeface="楷体_GB2312" pitchFamily="49" charset="-122"/>
                <a:ea typeface="楷体_GB2312" pitchFamily="49" charset="-122"/>
              </a:rPr>
              <a:t>结的载流子分布</a:t>
            </a:r>
            <a:endParaRPr lang="zh-CN" altLang="en-US">
              <a:solidFill>
                <a:schemeClr val="tx1"/>
              </a:solidFill>
              <a:latin typeface="楷体_GB2312" pitchFamily="49" charset="-122"/>
              <a:ea typeface="楷体_GB2312" pitchFamily="49" charset="-122"/>
            </a:endParaRPr>
          </a:p>
        </p:txBody>
      </p:sp>
      <p:sp>
        <p:nvSpPr>
          <p:cNvPr id="354310" name="Text Box 6"/>
          <p:cNvSpPr txBox="1">
            <a:spLocks noChangeArrowheads="1"/>
          </p:cNvSpPr>
          <p:nvPr/>
        </p:nvSpPr>
        <p:spPr bwMode="auto">
          <a:xfrm>
            <a:off x="2057400" y="1066801"/>
            <a:ext cx="8153400"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lang="zh-CN" altLang="en-US" sz="2000">
                <a:solidFill>
                  <a:srgbClr val="000000"/>
                </a:solidFill>
                <a:latin typeface="楷体_GB2312" pitchFamily="49" charset="-122"/>
                <a:ea typeface="楷体_GB2312" pitchFamily="49" charset="-122"/>
              </a:rPr>
              <a:t>取</a:t>
            </a:r>
            <a:r>
              <a:rPr lang="en-US" altLang="zh-CN" sz="2000">
                <a:solidFill>
                  <a:srgbClr val="000000"/>
                </a:solidFill>
                <a:latin typeface="楷体_GB2312" pitchFamily="49" charset="-122"/>
                <a:ea typeface="楷体_GB2312" pitchFamily="49" charset="-122"/>
              </a:rPr>
              <a:t>p</a:t>
            </a:r>
            <a:r>
              <a:rPr lang="zh-CN" altLang="en-US" sz="2000">
                <a:solidFill>
                  <a:srgbClr val="000000"/>
                </a:solidFill>
                <a:latin typeface="楷体_GB2312" pitchFamily="49" charset="-122"/>
                <a:ea typeface="楷体_GB2312" pitchFamily="49" charset="-122"/>
              </a:rPr>
              <a:t>区电势为</a:t>
            </a:r>
            <a:r>
              <a:rPr lang="en-US" altLang="zh-CN" sz="2000">
                <a:solidFill>
                  <a:srgbClr val="000000"/>
                </a:solidFill>
                <a:latin typeface="楷体_GB2312" pitchFamily="49" charset="-122"/>
                <a:ea typeface="楷体_GB2312" pitchFamily="49" charset="-122"/>
              </a:rPr>
              <a:t>0</a:t>
            </a:r>
            <a:r>
              <a:rPr lang="zh-CN" altLang="en-US" sz="2000">
                <a:solidFill>
                  <a:srgbClr val="000000"/>
                </a:solidFill>
                <a:latin typeface="楷体_GB2312" pitchFamily="49" charset="-122"/>
                <a:ea typeface="楷体_GB2312" pitchFamily="49" charset="-122"/>
              </a:rPr>
              <a:t>，则势垒区内点</a:t>
            </a:r>
            <a:r>
              <a:rPr lang="en-US" altLang="zh-CN" sz="2000">
                <a:solidFill>
                  <a:srgbClr val="000000"/>
                </a:solidFill>
                <a:latin typeface="楷体_GB2312" pitchFamily="49" charset="-122"/>
                <a:ea typeface="楷体_GB2312" pitchFamily="49" charset="-122"/>
              </a:rPr>
              <a:t>x</a:t>
            </a:r>
            <a:r>
              <a:rPr lang="zh-CN" altLang="en-US" sz="2000">
                <a:solidFill>
                  <a:srgbClr val="000000"/>
                </a:solidFill>
                <a:latin typeface="楷体_GB2312" pitchFamily="49" charset="-122"/>
                <a:ea typeface="楷体_GB2312" pitchFamily="49" charset="-122"/>
              </a:rPr>
              <a:t>处的电势能为</a:t>
            </a:r>
            <a:endParaRPr lang="zh-CN" altLang="en-US" sz="2000">
              <a:solidFill>
                <a:srgbClr val="000000"/>
              </a:solidFill>
              <a:latin typeface="楷体_GB2312" pitchFamily="49" charset="-122"/>
              <a:ea typeface="楷体_GB2312" pitchFamily="49" charset="-122"/>
            </a:endParaRPr>
          </a:p>
          <a:p>
            <a:pPr fontAlgn="base">
              <a:spcBef>
                <a:spcPct val="50000"/>
              </a:spcBef>
              <a:spcAft>
                <a:spcPct val="0"/>
              </a:spcAft>
            </a:pPr>
            <a:r>
              <a:rPr lang="en-US" altLang="zh-CN">
                <a:solidFill>
                  <a:srgbClr val="000000"/>
                </a:solidFill>
                <a:latin typeface="Arial" panose="020B0604020202020204" pitchFamily="34" charset="0"/>
                <a:ea typeface="宋体" panose="02010600030101010101" pitchFamily="2" charset="-122"/>
              </a:rPr>
              <a:t>E(x)=-qV(x)</a:t>
            </a:r>
            <a:r>
              <a:rPr lang="zh-CN" altLang="en-US">
                <a:solidFill>
                  <a:srgbClr val="000000"/>
                </a:solidFill>
                <a:latin typeface="Arial" panose="020B0604020202020204" pitchFamily="34" charset="0"/>
                <a:ea typeface="宋体" panose="02010600030101010101" pitchFamily="2" charset="-122"/>
              </a:rPr>
              <a:t>，</a:t>
            </a:r>
            <a:r>
              <a:rPr lang="zh-CN" altLang="en-US" sz="2000">
                <a:solidFill>
                  <a:srgbClr val="000000"/>
                </a:solidFill>
                <a:latin typeface="楷体_GB2312" pitchFamily="49" charset="-122"/>
                <a:ea typeface="楷体_GB2312" pitchFamily="49" charset="-122"/>
              </a:rPr>
              <a:t>点</a:t>
            </a:r>
            <a:r>
              <a:rPr lang="en-US" altLang="zh-CN" sz="2000">
                <a:solidFill>
                  <a:srgbClr val="000000"/>
                </a:solidFill>
                <a:latin typeface="楷体_GB2312" pitchFamily="49" charset="-122"/>
                <a:ea typeface="楷体_GB2312" pitchFamily="49" charset="-122"/>
              </a:rPr>
              <a:t>x</a:t>
            </a:r>
            <a:r>
              <a:rPr lang="zh-CN" altLang="en-US" sz="2000">
                <a:solidFill>
                  <a:srgbClr val="000000"/>
                </a:solidFill>
                <a:latin typeface="楷体_GB2312" pitchFamily="49" charset="-122"/>
                <a:ea typeface="楷体_GB2312" pitchFamily="49" charset="-122"/>
              </a:rPr>
              <a:t>处的电子浓度</a:t>
            </a:r>
            <a:r>
              <a:rPr lang="en-US" altLang="zh-CN" sz="2000">
                <a:solidFill>
                  <a:srgbClr val="000000"/>
                </a:solidFill>
                <a:latin typeface="楷体_GB2312" pitchFamily="49" charset="-122"/>
                <a:ea typeface="楷体_GB2312" pitchFamily="49" charset="-122"/>
              </a:rPr>
              <a:t>n(x)</a:t>
            </a:r>
            <a:r>
              <a:rPr lang="zh-CN" altLang="en-US" sz="2000">
                <a:solidFill>
                  <a:srgbClr val="000000"/>
                </a:solidFill>
                <a:latin typeface="楷体_GB2312" pitchFamily="49" charset="-122"/>
                <a:ea typeface="楷体_GB2312" pitchFamily="49" charset="-122"/>
              </a:rPr>
              <a:t>为</a:t>
            </a:r>
            <a:endParaRPr lang="zh-CN" altLang="en-US" sz="2000">
              <a:solidFill>
                <a:srgbClr val="000000"/>
              </a:solidFill>
              <a:latin typeface="楷体_GB2312" pitchFamily="49" charset="-122"/>
              <a:ea typeface="楷体_GB2312" pitchFamily="49" charset="-122"/>
            </a:endParaRPr>
          </a:p>
          <a:p>
            <a:pPr fontAlgn="base">
              <a:spcBef>
                <a:spcPct val="50000"/>
              </a:spcBef>
              <a:spcAft>
                <a:spcPct val="0"/>
              </a:spcAft>
            </a:pPr>
            <a:endParaRPr lang="zh-CN" altLang="en-US" sz="2000">
              <a:solidFill>
                <a:srgbClr val="000000"/>
              </a:solidFill>
              <a:latin typeface="楷体_GB2312" pitchFamily="49" charset="-122"/>
              <a:ea typeface="楷体_GB2312" pitchFamily="49" charset="-122"/>
            </a:endParaRPr>
          </a:p>
        </p:txBody>
      </p:sp>
      <p:graphicFrame>
        <p:nvGraphicFramePr>
          <p:cNvPr id="354312" name="Object 8"/>
          <p:cNvGraphicFramePr>
            <a:graphicFrameLocks noChangeAspect="1"/>
          </p:cNvGraphicFramePr>
          <p:nvPr/>
        </p:nvGraphicFramePr>
        <p:xfrm>
          <a:off x="6038850" y="3340100"/>
          <a:ext cx="114300" cy="177800"/>
        </p:xfrm>
        <a:graphic>
          <a:graphicData uri="http://schemas.openxmlformats.org/presentationml/2006/ole">
            <mc:AlternateContent xmlns:mc="http://schemas.openxmlformats.org/markup-compatibility/2006">
              <mc:Choice xmlns:v="urn:schemas-microsoft-com:vml" Requires="v">
                <p:oleObj spid="_x0000_s5163" name="Equation" r:id="rId1" imgW="114300" imgH="177800" progId="Equation.DSMT4">
                  <p:embed/>
                </p:oleObj>
              </mc:Choice>
              <mc:Fallback>
                <p:oleObj name="Equation" r:id="rId1" imgW="114300" imgH="177800" progId="Equation.DSMT4">
                  <p:embed/>
                  <p:pic>
                    <p:nvPicPr>
                      <p:cNvPr id="0" name="Object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38850" y="3340100"/>
                        <a:ext cx="114300" cy="177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54314" name="Object 10"/>
          <p:cNvGraphicFramePr>
            <a:graphicFrameLocks noChangeAspect="1"/>
          </p:cNvGraphicFramePr>
          <p:nvPr/>
        </p:nvGraphicFramePr>
        <p:xfrm>
          <a:off x="2286000" y="1981200"/>
          <a:ext cx="4267200" cy="584200"/>
        </p:xfrm>
        <a:graphic>
          <a:graphicData uri="http://schemas.openxmlformats.org/presentationml/2006/ole">
            <mc:AlternateContent xmlns:mc="http://schemas.openxmlformats.org/markup-compatibility/2006">
              <mc:Choice xmlns:v="urn:schemas-microsoft-com:vml" Requires="v">
                <p:oleObj spid="_x0000_s5164" name="Equation" r:id="rId3" imgW="3340100" imgH="533400" progId="Equation.DSMT4">
                  <p:embed/>
                </p:oleObj>
              </mc:Choice>
              <mc:Fallback>
                <p:oleObj name="Equation" r:id="rId3" imgW="3340100" imgH="533400" progId="Equation.DSMT4">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0" y="1981200"/>
                        <a:ext cx="4267200"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54315" name="Text Box 11"/>
          <p:cNvSpPr txBox="1">
            <a:spLocks noChangeArrowheads="1"/>
          </p:cNvSpPr>
          <p:nvPr/>
        </p:nvSpPr>
        <p:spPr bwMode="auto">
          <a:xfrm>
            <a:off x="2209800" y="2659063"/>
            <a:ext cx="64770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lang="zh-CN" altLang="en-US">
                <a:solidFill>
                  <a:srgbClr val="000000"/>
                </a:solidFill>
                <a:latin typeface="楷体_GB2312" pitchFamily="49" charset="-122"/>
                <a:ea typeface="楷体_GB2312" pitchFamily="49" charset="-122"/>
              </a:rPr>
              <a:t>令</a:t>
            </a:r>
            <a:endParaRPr lang="zh-CN" altLang="en-US">
              <a:solidFill>
                <a:srgbClr val="000000"/>
              </a:solidFill>
              <a:latin typeface="楷体_GB2312" pitchFamily="49" charset="-122"/>
              <a:ea typeface="楷体_GB2312" pitchFamily="49" charset="-122"/>
            </a:endParaRPr>
          </a:p>
        </p:txBody>
      </p:sp>
      <p:graphicFrame>
        <p:nvGraphicFramePr>
          <p:cNvPr id="354316" name="Object 12"/>
          <p:cNvGraphicFramePr>
            <a:graphicFrameLocks noChangeAspect="1"/>
          </p:cNvGraphicFramePr>
          <p:nvPr/>
        </p:nvGraphicFramePr>
        <p:xfrm>
          <a:off x="2743200" y="2667000"/>
          <a:ext cx="1358900" cy="457200"/>
        </p:xfrm>
        <a:graphic>
          <a:graphicData uri="http://schemas.openxmlformats.org/presentationml/2006/ole">
            <mc:AlternateContent xmlns:mc="http://schemas.openxmlformats.org/markup-compatibility/2006">
              <mc:Choice xmlns:v="urn:schemas-microsoft-com:vml" Requires="v">
                <p:oleObj spid="_x0000_s5165" name="Equation" r:id="rId5" imgW="1358900" imgH="457200" progId="Equation.DSMT4">
                  <p:embed/>
                </p:oleObj>
              </mc:Choice>
              <mc:Fallback>
                <p:oleObj name="Equation" r:id="rId5" imgW="1358900" imgH="457200" progId="Equation.DSMT4">
                  <p:embed/>
                  <p:pic>
                    <p:nvPicPr>
                      <p:cNvPr id="0"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43200" y="2667000"/>
                        <a:ext cx="1358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54317" name="Text Box 13"/>
          <p:cNvSpPr txBox="1">
            <a:spLocks noChangeArrowheads="1"/>
          </p:cNvSpPr>
          <p:nvPr/>
        </p:nvSpPr>
        <p:spPr bwMode="auto">
          <a:xfrm>
            <a:off x="4419600" y="2667001"/>
            <a:ext cx="3886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lang="zh-CN" altLang="en-US">
                <a:solidFill>
                  <a:srgbClr val="000000"/>
                </a:solidFill>
                <a:latin typeface="楷体_GB2312" pitchFamily="49" charset="-122"/>
                <a:ea typeface="楷体_GB2312" pitchFamily="49" charset="-122"/>
              </a:rPr>
              <a:t>经变换可得：</a:t>
            </a:r>
            <a:endParaRPr lang="zh-CN" altLang="en-US">
              <a:solidFill>
                <a:srgbClr val="000000"/>
              </a:solidFill>
              <a:latin typeface="楷体_GB2312" pitchFamily="49" charset="-122"/>
              <a:ea typeface="楷体_GB2312" pitchFamily="49" charset="-122"/>
            </a:endParaRPr>
          </a:p>
        </p:txBody>
      </p:sp>
      <p:graphicFrame>
        <p:nvGraphicFramePr>
          <p:cNvPr id="354319" name="Object 15"/>
          <p:cNvGraphicFramePr>
            <a:graphicFrameLocks noChangeAspect="1"/>
          </p:cNvGraphicFramePr>
          <p:nvPr/>
        </p:nvGraphicFramePr>
        <p:xfrm>
          <a:off x="5943600" y="2667000"/>
          <a:ext cx="2362200" cy="674688"/>
        </p:xfrm>
        <a:graphic>
          <a:graphicData uri="http://schemas.openxmlformats.org/presentationml/2006/ole">
            <mc:AlternateContent xmlns:mc="http://schemas.openxmlformats.org/markup-compatibility/2006">
              <mc:Choice xmlns:v="urn:schemas-microsoft-com:vml" Requires="v">
                <p:oleObj spid="_x0000_s5166" name="Equation" r:id="rId7" imgW="1688465" imgH="482600" progId="Equation.DSMT4">
                  <p:embed/>
                </p:oleObj>
              </mc:Choice>
              <mc:Fallback>
                <p:oleObj name="Equation" r:id="rId7" imgW="1688465" imgH="482600" progId="Equation.DSMT4">
                  <p:embed/>
                  <p:pic>
                    <p:nvPicPr>
                      <p:cNvPr id="0" name="Object 1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943600" y="2667000"/>
                        <a:ext cx="2362200" cy="674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54321" name="Text Box 17"/>
          <p:cNvSpPr txBox="1">
            <a:spLocks noChangeArrowheads="1"/>
          </p:cNvSpPr>
          <p:nvPr/>
        </p:nvSpPr>
        <p:spPr bwMode="auto">
          <a:xfrm>
            <a:off x="2057400" y="3352801"/>
            <a:ext cx="67818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lang="zh-CN" altLang="en-US">
                <a:solidFill>
                  <a:srgbClr val="000000"/>
                </a:solidFill>
                <a:latin typeface="楷体_GB2312" pitchFamily="49" charset="-122"/>
                <a:ea typeface="楷体_GB2312" pitchFamily="49" charset="-122"/>
              </a:rPr>
              <a:t>因为</a:t>
            </a:r>
            <a:r>
              <a:rPr lang="zh-CN" altLang="en-US">
                <a:solidFill>
                  <a:srgbClr val="000000"/>
                </a:solidFill>
                <a:latin typeface="Arial" panose="020B0604020202020204" pitchFamily="34" charset="0"/>
                <a:ea typeface="宋体" panose="02010600030101010101" pitchFamily="2" charset="-122"/>
              </a:rPr>
              <a:t>                         ，                                 ，                           ，</a:t>
            </a:r>
            <a:endParaRPr lang="zh-CN" altLang="en-US">
              <a:solidFill>
                <a:srgbClr val="000000"/>
              </a:solidFill>
              <a:latin typeface="Arial" panose="020B0604020202020204" pitchFamily="34" charset="0"/>
              <a:ea typeface="宋体" panose="02010600030101010101" pitchFamily="2" charset="-122"/>
            </a:endParaRPr>
          </a:p>
        </p:txBody>
      </p:sp>
      <p:graphicFrame>
        <p:nvGraphicFramePr>
          <p:cNvPr id="354322" name="Object 18"/>
          <p:cNvGraphicFramePr>
            <a:graphicFrameLocks noChangeAspect="1"/>
          </p:cNvGraphicFramePr>
          <p:nvPr/>
        </p:nvGraphicFramePr>
        <p:xfrm>
          <a:off x="2667000" y="3352801"/>
          <a:ext cx="1447800" cy="371475"/>
        </p:xfrm>
        <a:graphic>
          <a:graphicData uri="http://schemas.openxmlformats.org/presentationml/2006/ole">
            <mc:AlternateContent xmlns:mc="http://schemas.openxmlformats.org/markup-compatibility/2006">
              <mc:Choice xmlns:v="urn:schemas-microsoft-com:vml" Requires="v">
                <p:oleObj spid="_x0000_s5167" name="Equation" r:id="rId9" imgW="989965" imgH="254000" progId="Equation.DSMT4">
                  <p:embed/>
                </p:oleObj>
              </mc:Choice>
              <mc:Fallback>
                <p:oleObj name="Equation" r:id="rId9" imgW="989965" imgH="254000" progId="Equation.DSMT4">
                  <p:embed/>
                  <p:pic>
                    <p:nvPicPr>
                      <p:cNvPr id="0" name="Object 1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667000" y="3352801"/>
                        <a:ext cx="1447800"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54323" name="Object 19"/>
          <p:cNvGraphicFramePr>
            <a:graphicFrameLocks noChangeAspect="1"/>
          </p:cNvGraphicFramePr>
          <p:nvPr/>
        </p:nvGraphicFramePr>
        <p:xfrm>
          <a:off x="6038850" y="3340100"/>
          <a:ext cx="114300" cy="177800"/>
        </p:xfrm>
        <a:graphic>
          <a:graphicData uri="http://schemas.openxmlformats.org/presentationml/2006/ole">
            <mc:AlternateContent xmlns:mc="http://schemas.openxmlformats.org/markup-compatibility/2006">
              <mc:Choice xmlns:v="urn:schemas-microsoft-com:vml" Requires="v">
                <p:oleObj spid="_x0000_s5168" name="Equation" r:id="rId11" imgW="114300" imgH="177800" progId="Equation.DSMT4">
                  <p:embed/>
                </p:oleObj>
              </mc:Choice>
              <mc:Fallback>
                <p:oleObj name="Equation" r:id="rId11" imgW="114300" imgH="177800" progId="Equation.DSMT4">
                  <p:embed/>
                  <p:pic>
                    <p:nvPicPr>
                      <p:cNvPr id="0" name="Object 1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038850" y="3340100"/>
                        <a:ext cx="114300" cy="177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54324" name="Object 20"/>
          <p:cNvGraphicFramePr>
            <a:graphicFrameLocks noChangeAspect="1"/>
          </p:cNvGraphicFramePr>
          <p:nvPr/>
        </p:nvGraphicFramePr>
        <p:xfrm>
          <a:off x="4419600" y="3200401"/>
          <a:ext cx="1905000" cy="612775"/>
        </p:xfrm>
        <a:graphic>
          <a:graphicData uri="http://schemas.openxmlformats.org/presentationml/2006/ole">
            <mc:AlternateContent xmlns:mc="http://schemas.openxmlformats.org/markup-compatibility/2006">
              <mc:Choice xmlns:v="urn:schemas-microsoft-com:vml" Requires="v">
                <p:oleObj spid="_x0000_s5169" name="Equation" r:id="rId13" imgW="1497965" imgH="482600" progId="Equation.DSMT4">
                  <p:embed/>
                </p:oleObj>
              </mc:Choice>
              <mc:Fallback>
                <p:oleObj name="Equation" r:id="rId13" imgW="1497965" imgH="482600" progId="Equation.DSMT4">
                  <p:embed/>
                  <p:pic>
                    <p:nvPicPr>
                      <p:cNvPr id="0" name="Object 2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419600" y="3200401"/>
                        <a:ext cx="1905000" cy="612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54325" name="Object 21"/>
          <p:cNvGraphicFramePr>
            <a:graphicFrameLocks noChangeAspect="1"/>
          </p:cNvGraphicFramePr>
          <p:nvPr/>
        </p:nvGraphicFramePr>
        <p:xfrm>
          <a:off x="6858000" y="3276601"/>
          <a:ext cx="1219200" cy="385763"/>
        </p:xfrm>
        <a:graphic>
          <a:graphicData uri="http://schemas.openxmlformats.org/presentationml/2006/ole">
            <mc:AlternateContent xmlns:mc="http://schemas.openxmlformats.org/markup-compatibility/2006">
              <mc:Choice xmlns:v="urn:schemas-microsoft-com:vml" Requires="v">
                <p:oleObj spid="_x0000_s5170" name="Equation" r:id="rId15" imgW="723900" imgH="228600" progId="Equation.DSMT4">
                  <p:embed/>
                </p:oleObj>
              </mc:Choice>
              <mc:Fallback>
                <p:oleObj name="Equation" r:id="rId15" imgW="723900" imgH="228600" progId="Equation.DSMT4">
                  <p:embed/>
                  <p:pic>
                    <p:nvPicPr>
                      <p:cNvPr id="0" name="Object 2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858000" y="3276601"/>
                        <a:ext cx="1219200" cy="38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54328" name="Object 24"/>
          <p:cNvGraphicFramePr>
            <a:graphicFrameLocks noChangeAspect="1"/>
          </p:cNvGraphicFramePr>
          <p:nvPr/>
        </p:nvGraphicFramePr>
        <p:xfrm>
          <a:off x="2133600" y="3810000"/>
          <a:ext cx="4114800" cy="603250"/>
        </p:xfrm>
        <a:graphic>
          <a:graphicData uri="http://schemas.openxmlformats.org/presentationml/2006/ole">
            <mc:AlternateContent xmlns:mc="http://schemas.openxmlformats.org/markup-compatibility/2006">
              <mc:Choice xmlns:v="urn:schemas-microsoft-com:vml" Requires="v">
                <p:oleObj spid="_x0000_s5171" name="Equation" r:id="rId17" imgW="3289300" imgH="482600" progId="Equation.DSMT4">
                  <p:embed/>
                </p:oleObj>
              </mc:Choice>
              <mc:Fallback>
                <p:oleObj name="Equation" r:id="rId17" imgW="3289300" imgH="482600" progId="Equation.DSMT4">
                  <p:embed/>
                  <p:pic>
                    <p:nvPicPr>
                      <p:cNvPr id="0" name="Object 24"/>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133600" y="3810000"/>
                        <a:ext cx="4114800" cy="603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354329" name="Picture 25" descr="QQ截图未命名8"/>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6400801" y="3657600"/>
            <a:ext cx="4086225" cy="2876550"/>
          </a:xfrm>
          <a:prstGeom prst="rect">
            <a:avLst/>
          </a:prstGeom>
          <a:noFill/>
          <a:extLst>
            <a:ext uri="{909E8E84-426E-40DD-AFC4-6F175D3DCCD1}">
              <a14:hiddenFill xmlns:a14="http://schemas.microsoft.com/office/drawing/2010/main">
                <a:solidFill>
                  <a:srgbClr val="FFFFFF"/>
                </a:solidFill>
              </a14:hiddenFill>
            </a:ext>
          </a:extLst>
        </p:spPr>
      </p:pic>
      <p:sp>
        <p:nvSpPr>
          <p:cNvPr id="354330" name="Text Box 26"/>
          <p:cNvSpPr txBox="1">
            <a:spLocks noChangeArrowheads="1"/>
          </p:cNvSpPr>
          <p:nvPr/>
        </p:nvSpPr>
        <p:spPr bwMode="auto">
          <a:xfrm>
            <a:off x="6019800" y="4419601"/>
            <a:ext cx="6858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lang="en-US" altLang="zh-CN">
                <a:solidFill>
                  <a:srgbClr val="000000"/>
                </a:solidFill>
                <a:latin typeface="Arial" panose="020B0604020202020204" pitchFamily="34" charset="0"/>
                <a:ea typeface="宋体" panose="02010600030101010101" pitchFamily="2" charset="-122"/>
              </a:rPr>
              <a:t>E</a:t>
            </a:r>
            <a:r>
              <a:rPr lang="en-US" altLang="zh-CN" baseline="-25000">
                <a:solidFill>
                  <a:srgbClr val="000000"/>
                </a:solidFill>
                <a:latin typeface="Arial" panose="020B0604020202020204" pitchFamily="34" charset="0"/>
                <a:ea typeface="宋体" panose="02010600030101010101" pitchFamily="2" charset="-122"/>
              </a:rPr>
              <a:t>cp</a:t>
            </a:r>
            <a:endParaRPr lang="en-US" altLang="zh-CN" baseline="-25000">
              <a:solidFill>
                <a:srgbClr val="000000"/>
              </a:solidFill>
              <a:latin typeface="Arial" panose="020B0604020202020204" pitchFamily="34" charset="0"/>
              <a:ea typeface="宋体" panose="02010600030101010101" pitchFamily="2" charset="-122"/>
            </a:endParaRPr>
          </a:p>
        </p:txBody>
      </p:sp>
      <p:sp>
        <p:nvSpPr>
          <p:cNvPr id="354331" name="Text Box 27"/>
          <p:cNvSpPr txBox="1">
            <a:spLocks noChangeArrowheads="1"/>
          </p:cNvSpPr>
          <p:nvPr/>
        </p:nvSpPr>
        <p:spPr bwMode="auto">
          <a:xfrm>
            <a:off x="6096000" y="5334001"/>
            <a:ext cx="838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lang="en-US" altLang="zh-CN">
                <a:solidFill>
                  <a:srgbClr val="000000"/>
                </a:solidFill>
                <a:latin typeface="Arial" panose="020B0604020202020204" pitchFamily="34" charset="0"/>
                <a:ea typeface="宋体" panose="02010600030101010101" pitchFamily="2" charset="-122"/>
              </a:rPr>
              <a:t>E</a:t>
            </a:r>
            <a:r>
              <a:rPr lang="en-US" altLang="zh-CN" baseline="-25000">
                <a:solidFill>
                  <a:srgbClr val="000000"/>
                </a:solidFill>
                <a:latin typeface="Arial" panose="020B0604020202020204" pitchFamily="34" charset="0"/>
                <a:ea typeface="宋体" panose="02010600030101010101" pitchFamily="2" charset="-122"/>
              </a:rPr>
              <a:t>vp</a:t>
            </a:r>
            <a:endParaRPr lang="en-US" altLang="zh-CN" baseline="-25000">
              <a:solidFill>
                <a:srgbClr val="000000"/>
              </a:solidFill>
              <a:latin typeface="Arial" panose="020B0604020202020204" pitchFamily="34" charset="0"/>
              <a:ea typeface="宋体" panose="02010600030101010101" pitchFamily="2" charset="-122"/>
            </a:endParaRPr>
          </a:p>
        </p:txBody>
      </p:sp>
      <p:sp>
        <p:nvSpPr>
          <p:cNvPr id="354332" name="Text Box 28"/>
          <p:cNvSpPr txBox="1">
            <a:spLocks noChangeArrowheads="1"/>
          </p:cNvSpPr>
          <p:nvPr/>
        </p:nvSpPr>
        <p:spPr bwMode="auto">
          <a:xfrm>
            <a:off x="10096500" y="4953001"/>
            <a:ext cx="1143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lang="en-US" altLang="zh-CN">
                <a:solidFill>
                  <a:srgbClr val="000000"/>
                </a:solidFill>
                <a:latin typeface="Arial" panose="020B0604020202020204" pitchFamily="34" charset="0"/>
                <a:ea typeface="宋体" panose="02010600030101010101" pitchFamily="2" charset="-122"/>
              </a:rPr>
              <a:t>E</a:t>
            </a:r>
            <a:r>
              <a:rPr lang="en-US" altLang="zh-CN" baseline="-25000">
                <a:solidFill>
                  <a:srgbClr val="000000"/>
                </a:solidFill>
                <a:latin typeface="Arial" panose="020B0604020202020204" pitchFamily="34" charset="0"/>
                <a:ea typeface="宋体" panose="02010600030101010101" pitchFamily="2" charset="-122"/>
              </a:rPr>
              <a:t>cn</a:t>
            </a:r>
            <a:endParaRPr lang="en-US" altLang="zh-CN" baseline="-25000">
              <a:solidFill>
                <a:srgbClr val="000000"/>
              </a:solidFill>
              <a:latin typeface="Arial" panose="020B0604020202020204" pitchFamily="34" charset="0"/>
              <a:ea typeface="宋体" panose="02010600030101010101" pitchFamily="2" charset="-122"/>
            </a:endParaRPr>
          </a:p>
        </p:txBody>
      </p:sp>
      <p:sp>
        <p:nvSpPr>
          <p:cNvPr id="354333" name="Text Box 29"/>
          <p:cNvSpPr txBox="1">
            <a:spLocks noChangeArrowheads="1"/>
          </p:cNvSpPr>
          <p:nvPr/>
        </p:nvSpPr>
        <p:spPr bwMode="auto">
          <a:xfrm>
            <a:off x="10134600" y="5410201"/>
            <a:ext cx="10668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lang="en-US" altLang="zh-CN">
                <a:solidFill>
                  <a:srgbClr val="000000"/>
                </a:solidFill>
                <a:latin typeface="Arial" panose="020B0604020202020204" pitchFamily="34" charset="0"/>
                <a:ea typeface="宋体" panose="02010600030101010101" pitchFamily="2" charset="-122"/>
              </a:rPr>
              <a:t>E</a:t>
            </a:r>
            <a:r>
              <a:rPr lang="en-US" altLang="zh-CN" baseline="-25000">
                <a:solidFill>
                  <a:srgbClr val="000000"/>
                </a:solidFill>
                <a:latin typeface="Arial" panose="020B0604020202020204" pitchFamily="34" charset="0"/>
                <a:ea typeface="宋体" panose="02010600030101010101" pitchFamily="2" charset="-122"/>
              </a:rPr>
              <a:t>F</a:t>
            </a:r>
            <a:endParaRPr lang="en-US" altLang="zh-CN" baseline="-25000">
              <a:solidFill>
                <a:srgbClr val="000000"/>
              </a:solidFill>
              <a:latin typeface="Arial" panose="020B0604020202020204" pitchFamily="34" charset="0"/>
              <a:ea typeface="宋体" panose="02010600030101010101" pitchFamily="2" charset="-122"/>
            </a:endParaRPr>
          </a:p>
        </p:txBody>
      </p:sp>
      <p:sp>
        <p:nvSpPr>
          <p:cNvPr id="354334" name="Text Box 30"/>
          <p:cNvSpPr txBox="1">
            <a:spLocks noChangeArrowheads="1"/>
          </p:cNvSpPr>
          <p:nvPr/>
        </p:nvSpPr>
        <p:spPr bwMode="auto">
          <a:xfrm>
            <a:off x="10134600" y="6096001"/>
            <a:ext cx="10668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lang="en-US" altLang="zh-CN">
                <a:solidFill>
                  <a:srgbClr val="000000"/>
                </a:solidFill>
                <a:latin typeface="Arial" panose="020B0604020202020204" pitchFamily="34" charset="0"/>
                <a:ea typeface="宋体" panose="02010600030101010101" pitchFamily="2" charset="-122"/>
              </a:rPr>
              <a:t>E</a:t>
            </a:r>
            <a:r>
              <a:rPr lang="en-US" altLang="zh-CN" baseline="-25000">
                <a:solidFill>
                  <a:srgbClr val="000000"/>
                </a:solidFill>
                <a:latin typeface="Arial" panose="020B0604020202020204" pitchFamily="34" charset="0"/>
                <a:ea typeface="宋体" panose="02010600030101010101" pitchFamily="2" charset="-122"/>
              </a:rPr>
              <a:t>vn</a:t>
            </a:r>
            <a:endParaRPr lang="en-US" altLang="zh-CN" baseline="-25000">
              <a:solidFill>
                <a:srgbClr val="000000"/>
              </a:solidFill>
              <a:latin typeface="Arial" panose="020B0604020202020204" pitchFamily="34" charset="0"/>
              <a:ea typeface="宋体" panose="02010600030101010101" pitchFamily="2" charset="-122"/>
            </a:endParaRPr>
          </a:p>
        </p:txBody>
      </p:sp>
      <p:sp>
        <p:nvSpPr>
          <p:cNvPr id="354336" name="Text Box 32"/>
          <p:cNvSpPr txBox="1">
            <a:spLocks noChangeArrowheads="1"/>
          </p:cNvSpPr>
          <p:nvPr/>
        </p:nvSpPr>
        <p:spPr bwMode="auto">
          <a:xfrm>
            <a:off x="2133600" y="4572000"/>
            <a:ext cx="36576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lang="zh-CN" altLang="en-US">
                <a:solidFill>
                  <a:srgbClr val="000000"/>
                </a:solidFill>
                <a:latin typeface="楷体_GB2312" pitchFamily="49" charset="-122"/>
                <a:ea typeface="楷体_GB2312" pitchFamily="49" charset="-122"/>
              </a:rPr>
              <a:t>当</a:t>
            </a:r>
            <a:r>
              <a:rPr lang="en-US" altLang="zh-CN">
                <a:solidFill>
                  <a:srgbClr val="000000"/>
                </a:solidFill>
                <a:latin typeface="楷体_GB2312" pitchFamily="49" charset="-122"/>
                <a:ea typeface="楷体_GB2312" pitchFamily="49" charset="-122"/>
              </a:rPr>
              <a:t>x=x</a:t>
            </a:r>
            <a:r>
              <a:rPr lang="en-US" altLang="zh-CN" baseline="-25000">
                <a:solidFill>
                  <a:srgbClr val="000000"/>
                </a:solidFill>
                <a:latin typeface="楷体_GB2312" pitchFamily="49" charset="-122"/>
                <a:ea typeface="楷体_GB2312" pitchFamily="49" charset="-122"/>
              </a:rPr>
              <a:t>n</a:t>
            </a:r>
            <a:r>
              <a:rPr lang="zh-CN" altLang="en-US">
                <a:solidFill>
                  <a:srgbClr val="000000"/>
                </a:solidFill>
                <a:latin typeface="楷体_GB2312" pitchFamily="49" charset="-122"/>
                <a:ea typeface="楷体_GB2312" pitchFamily="49" charset="-122"/>
              </a:rPr>
              <a:t>时，</a:t>
            </a:r>
            <a:r>
              <a:rPr lang="en-US" altLang="zh-CN">
                <a:solidFill>
                  <a:srgbClr val="000000"/>
                </a:solidFill>
                <a:latin typeface="楷体_GB2312" pitchFamily="49" charset="-122"/>
                <a:ea typeface="楷体_GB2312" pitchFamily="49" charset="-122"/>
              </a:rPr>
              <a:t>V(x)=V</a:t>
            </a:r>
            <a:r>
              <a:rPr lang="en-US" altLang="zh-CN" baseline="-25000">
                <a:solidFill>
                  <a:srgbClr val="000000"/>
                </a:solidFill>
                <a:latin typeface="楷体_GB2312" pitchFamily="49" charset="-122"/>
                <a:ea typeface="楷体_GB2312" pitchFamily="49" charset="-122"/>
              </a:rPr>
              <a:t>D</a:t>
            </a:r>
            <a:r>
              <a:rPr lang="en-US" altLang="zh-CN">
                <a:solidFill>
                  <a:srgbClr val="000000"/>
                </a:solidFill>
                <a:latin typeface="楷体_GB2312" pitchFamily="49" charset="-122"/>
                <a:ea typeface="楷体_GB2312" pitchFamily="49" charset="-122"/>
              </a:rPr>
              <a:t>,n(x</a:t>
            </a:r>
            <a:r>
              <a:rPr lang="en-US" altLang="zh-CN" baseline="-25000">
                <a:solidFill>
                  <a:srgbClr val="000000"/>
                </a:solidFill>
                <a:latin typeface="楷体_GB2312" pitchFamily="49" charset="-122"/>
                <a:ea typeface="楷体_GB2312" pitchFamily="49" charset="-122"/>
              </a:rPr>
              <a:t>n</a:t>
            </a:r>
            <a:r>
              <a:rPr lang="en-US" altLang="zh-CN">
                <a:solidFill>
                  <a:srgbClr val="000000"/>
                </a:solidFill>
                <a:latin typeface="楷体_GB2312" pitchFamily="49" charset="-122"/>
                <a:ea typeface="楷体_GB2312" pitchFamily="49" charset="-122"/>
              </a:rPr>
              <a:t>)=n</a:t>
            </a:r>
            <a:r>
              <a:rPr lang="en-US" altLang="zh-CN" baseline="-25000">
                <a:solidFill>
                  <a:srgbClr val="000000"/>
                </a:solidFill>
                <a:latin typeface="楷体_GB2312" pitchFamily="49" charset="-122"/>
                <a:ea typeface="楷体_GB2312" pitchFamily="49" charset="-122"/>
              </a:rPr>
              <a:t>n0</a:t>
            </a:r>
            <a:r>
              <a:rPr lang="en-US" altLang="zh-CN">
                <a:solidFill>
                  <a:srgbClr val="000000"/>
                </a:solidFill>
                <a:latin typeface="楷体_GB2312" pitchFamily="49" charset="-122"/>
                <a:ea typeface="楷体_GB2312" pitchFamily="49" charset="-122"/>
              </a:rPr>
              <a:t>;</a:t>
            </a:r>
            <a:r>
              <a:rPr lang="zh-CN" altLang="en-US">
                <a:solidFill>
                  <a:srgbClr val="000000"/>
                </a:solidFill>
                <a:latin typeface="楷体_GB2312" pitchFamily="49" charset="-122"/>
                <a:ea typeface="楷体_GB2312" pitchFamily="49" charset="-122"/>
              </a:rPr>
              <a:t>当</a:t>
            </a:r>
            <a:r>
              <a:rPr lang="en-US" altLang="zh-CN">
                <a:solidFill>
                  <a:srgbClr val="000000"/>
                </a:solidFill>
                <a:latin typeface="楷体_GB2312" pitchFamily="49" charset="-122"/>
                <a:ea typeface="楷体_GB2312" pitchFamily="49" charset="-122"/>
              </a:rPr>
              <a:t>x=-x</a:t>
            </a:r>
            <a:r>
              <a:rPr lang="en-US" altLang="zh-CN" baseline="-25000">
                <a:solidFill>
                  <a:srgbClr val="000000"/>
                </a:solidFill>
                <a:latin typeface="楷体_GB2312" pitchFamily="49" charset="-122"/>
                <a:ea typeface="楷体_GB2312" pitchFamily="49" charset="-122"/>
              </a:rPr>
              <a:t>p</a:t>
            </a:r>
            <a:r>
              <a:rPr lang="zh-CN" altLang="en-US">
                <a:solidFill>
                  <a:srgbClr val="000000"/>
                </a:solidFill>
                <a:latin typeface="楷体_GB2312" pitchFamily="49" charset="-122"/>
                <a:ea typeface="楷体_GB2312" pitchFamily="49" charset="-122"/>
              </a:rPr>
              <a:t>时，</a:t>
            </a:r>
            <a:r>
              <a:rPr lang="en-US" altLang="zh-CN">
                <a:solidFill>
                  <a:srgbClr val="000000"/>
                </a:solidFill>
                <a:latin typeface="楷体_GB2312" pitchFamily="49" charset="-122"/>
                <a:ea typeface="楷体_GB2312" pitchFamily="49" charset="-122"/>
              </a:rPr>
              <a:t>V(x)=0,</a:t>
            </a:r>
            <a:r>
              <a:rPr lang="zh-CN" altLang="en-US">
                <a:solidFill>
                  <a:srgbClr val="000000"/>
                </a:solidFill>
                <a:latin typeface="楷体_GB2312" pitchFamily="49" charset="-122"/>
                <a:ea typeface="楷体_GB2312" pitchFamily="49" charset="-122"/>
              </a:rPr>
              <a:t>则</a:t>
            </a:r>
            <a:endParaRPr lang="zh-CN" altLang="en-US">
              <a:solidFill>
                <a:srgbClr val="000000"/>
              </a:solidFill>
              <a:latin typeface="楷体_GB2312" pitchFamily="49" charset="-122"/>
              <a:ea typeface="楷体_GB2312" pitchFamily="49" charset="-122"/>
            </a:endParaRPr>
          </a:p>
        </p:txBody>
      </p:sp>
      <p:graphicFrame>
        <p:nvGraphicFramePr>
          <p:cNvPr id="354339" name="Object 35"/>
          <p:cNvGraphicFramePr>
            <a:graphicFrameLocks noChangeAspect="1"/>
          </p:cNvGraphicFramePr>
          <p:nvPr/>
        </p:nvGraphicFramePr>
        <p:xfrm>
          <a:off x="2286000" y="5943601"/>
          <a:ext cx="2895600" cy="709613"/>
        </p:xfrm>
        <a:graphic>
          <a:graphicData uri="http://schemas.openxmlformats.org/presentationml/2006/ole">
            <mc:AlternateContent xmlns:mc="http://schemas.openxmlformats.org/markup-compatibility/2006">
              <mc:Choice xmlns:v="urn:schemas-microsoft-com:vml" Requires="v">
                <p:oleObj spid="_x0000_s5172" name="Equation" r:id="rId20" imgW="1968500" imgH="482600" progId="Equation.DSMT4">
                  <p:embed/>
                </p:oleObj>
              </mc:Choice>
              <mc:Fallback>
                <p:oleObj name="Equation" r:id="rId20" imgW="1968500" imgH="482600" progId="Equation.DSMT4">
                  <p:embed/>
                  <p:pic>
                    <p:nvPicPr>
                      <p:cNvPr id="0" name="Object 35"/>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286000" y="5943601"/>
                        <a:ext cx="2895600" cy="709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54341" name="AutoShape 37"/>
          <p:cNvSpPr>
            <a:spLocks noChangeArrowheads="1"/>
          </p:cNvSpPr>
          <p:nvPr/>
        </p:nvSpPr>
        <p:spPr bwMode="auto">
          <a:xfrm>
            <a:off x="3962400" y="5181600"/>
            <a:ext cx="1447800" cy="685800"/>
          </a:xfrm>
          <a:prstGeom prst="wedgeRoundRectCallout">
            <a:avLst>
              <a:gd name="adj1" fmla="val -38597"/>
              <a:gd name="adj2" fmla="val 82639"/>
              <a:gd name="adj3" fmla="val 16667"/>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fontAlgn="base">
              <a:spcBef>
                <a:spcPct val="0"/>
              </a:spcBef>
              <a:spcAft>
                <a:spcPct val="0"/>
              </a:spcAft>
            </a:pPr>
            <a:r>
              <a:rPr lang="zh-CN" altLang="en-US">
                <a:solidFill>
                  <a:srgbClr val="000000"/>
                </a:solidFill>
                <a:latin typeface="Arial" panose="020B0604020202020204" pitchFamily="34" charset="0"/>
                <a:ea typeface="宋体" panose="02010600030101010101" pitchFamily="2" charset="-122"/>
              </a:rPr>
              <a:t>即为</a:t>
            </a:r>
            <a:r>
              <a:rPr lang="en-US" altLang="zh-CN">
                <a:solidFill>
                  <a:srgbClr val="000000"/>
                </a:solidFill>
                <a:latin typeface="Arial" panose="020B0604020202020204" pitchFamily="34" charset="0"/>
                <a:ea typeface="宋体" panose="02010600030101010101" pitchFamily="2" charset="-122"/>
              </a:rPr>
              <a:t>p</a:t>
            </a:r>
            <a:r>
              <a:rPr lang="zh-CN" altLang="en-US">
                <a:solidFill>
                  <a:srgbClr val="000000"/>
                </a:solidFill>
                <a:latin typeface="Arial" panose="020B0604020202020204" pitchFamily="34" charset="0"/>
                <a:ea typeface="宋体" panose="02010600030101010101" pitchFamily="2" charset="-122"/>
              </a:rPr>
              <a:t>区中电子的浓度</a:t>
            </a:r>
            <a:endParaRPr lang="zh-CN" altLang="en-US">
              <a:solidFill>
                <a:srgbClr val="000000"/>
              </a:solidFill>
              <a:latin typeface="Arial" panose="020B0604020202020204" pitchFamily="34" charset="0"/>
              <a:ea typeface="宋体" panose="02010600030101010101" pitchFamily="2" charset="-122"/>
            </a:endParaRPr>
          </a:p>
        </p:txBody>
      </p:sp>
      <p:pic>
        <p:nvPicPr>
          <p:cNvPr id="354342" name="Picture 38" descr="QQ截图未命名4"/>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7162801" y="990601"/>
            <a:ext cx="3019425" cy="14192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5330" name="Rectangle 2"/>
          <p:cNvSpPr>
            <a:spLocks noGrp="1" noChangeArrowheads="1"/>
          </p:cNvSpPr>
          <p:nvPr>
            <p:ph type="title"/>
          </p:nvPr>
        </p:nvSpPr>
        <p:spPr/>
        <p:txBody>
          <a:bodyPr/>
          <a:lstStyle/>
          <a:p>
            <a:r>
              <a:rPr lang="en-US" altLang="zh-CN">
                <a:solidFill>
                  <a:schemeClr val="tx1"/>
                </a:solidFill>
                <a:latin typeface="楷体_GB2312" pitchFamily="49" charset="-122"/>
                <a:ea typeface="楷体_GB2312" pitchFamily="49" charset="-122"/>
              </a:rPr>
              <a:t>6.1.5  pn</a:t>
            </a:r>
            <a:r>
              <a:rPr lang="zh-CN" altLang="en-US">
                <a:solidFill>
                  <a:schemeClr val="tx1"/>
                </a:solidFill>
                <a:latin typeface="楷体_GB2312" pitchFamily="49" charset="-122"/>
                <a:ea typeface="楷体_GB2312" pitchFamily="49" charset="-122"/>
              </a:rPr>
              <a:t>结的载流子分布</a:t>
            </a:r>
            <a:endParaRPr lang="zh-CN" altLang="en-US">
              <a:solidFill>
                <a:schemeClr val="tx1"/>
              </a:solidFill>
              <a:latin typeface="楷体_GB2312" pitchFamily="49" charset="-122"/>
              <a:ea typeface="楷体_GB2312" pitchFamily="49" charset="-122"/>
            </a:endParaRPr>
          </a:p>
        </p:txBody>
      </p:sp>
      <p:sp>
        <p:nvSpPr>
          <p:cNvPr id="355331" name="Rectangle 3"/>
          <p:cNvSpPr>
            <a:spLocks noGrp="1" noChangeArrowheads="1"/>
          </p:cNvSpPr>
          <p:nvPr>
            <p:ph type="body" idx="1"/>
          </p:nvPr>
        </p:nvSpPr>
        <p:spPr/>
        <p:txBody>
          <a:bodyPr/>
          <a:lstStyle/>
          <a:p>
            <a:r>
              <a:rPr lang="zh-CN" altLang="en-US" sz="2000" b="0">
                <a:latin typeface="楷体_GB2312" pitchFamily="49" charset="-122"/>
                <a:ea typeface="楷体_GB2312" pitchFamily="49" charset="-122"/>
              </a:rPr>
              <a:t>同理可得</a:t>
            </a:r>
            <a:r>
              <a:rPr lang="en-US" altLang="zh-CN" sz="2000" b="0">
                <a:latin typeface="楷体_GB2312" pitchFamily="49" charset="-122"/>
                <a:ea typeface="楷体_GB2312" pitchFamily="49" charset="-122"/>
              </a:rPr>
              <a:t>p</a:t>
            </a:r>
            <a:r>
              <a:rPr lang="zh-CN" altLang="en-US" sz="2000" b="0">
                <a:latin typeface="楷体_GB2312" pitchFamily="49" charset="-122"/>
                <a:ea typeface="楷体_GB2312" pitchFamily="49" charset="-122"/>
              </a:rPr>
              <a:t>区中平衡多数载流子</a:t>
            </a:r>
            <a:r>
              <a:rPr lang="en-US" altLang="zh-CN" sz="2000" b="0">
                <a:ea typeface="楷体_GB2312" pitchFamily="49" charset="-122"/>
              </a:rPr>
              <a:t>——</a:t>
            </a:r>
            <a:r>
              <a:rPr lang="zh-CN" altLang="en-US" sz="2000" b="0">
                <a:latin typeface="楷体_GB2312" pitchFamily="49" charset="-122"/>
                <a:ea typeface="楷体_GB2312" pitchFamily="49" charset="-122"/>
              </a:rPr>
              <a:t>空穴的浓度为</a:t>
            </a:r>
            <a:endParaRPr lang="zh-CN" altLang="en-US" sz="2000" b="0">
              <a:latin typeface="楷体_GB2312" pitchFamily="49" charset="-122"/>
              <a:ea typeface="楷体_GB2312" pitchFamily="49" charset="-122"/>
            </a:endParaRPr>
          </a:p>
        </p:txBody>
      </p:sp>
      <p:graphicFrame>
        <p:nvGraphicFramePr>
          <p:cNvPr id="355333" name="Object 5"/>
          <p:cNvGraphicFramePr>
            <a:graphicFrameLocks noChangeAspect="1"/>
          </p:cNvGraphicFramePr>
          <p:nvPr/>
        </p:nvGraphicFramePr>
        <p:xfrm>
          <a:off x="3352800" y="1752600"/>
          <a:ext cx="2743200" cy="939800"/>
        </p:xfrm>
        <a:graphic>
          <a:graphicData uri="http://schemas.openxmlformats.org/presentationml/2006/ole">
            <mc:AlternateContent xmlns:mc="http://schemas.openxmlformats.org/markup-compatibility/2006">
              <mc:Choice xmlns:v="urn:schemas-microsoft-com:vml" Requires="v">
                <p:oleObj spid="_x0000_s6149" name="Equation" r:id="rId1" imgW="1409065" imgH="482600" progId="Equation.DSMT4">
                  <p:embed/>
                </p:oleObj>
              </mc:Choice>
              <mc:Fallback>
                <p:oleObj name="Equation" r:id="rId1" imgW="1409065" imgH="482600" progId="Equation.DSMT4">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52800" y="1752600"/>
                        <a:ext cx="2743200" cy="93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55334" name="Text Box 6"/>
          <p:cNvSpPr txBox="1">
            <a:spLocks noChangeArrowheads="1"/>
          </p:cNvSpPr>
          <p:nvPr/>
        </p:nvSpPr>
        <p:spPr bwMode="auto">
          <a:xfrm>
            <a:off x="1905000" y="2743201"/>
            <a:ext cx="83820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lang="zh-CN" altLang="en-US" sz="2000">
                <a:solidFill>
                  <a:srgbClr val="000000"/>
                </a:solidFill>
                <a:latin typeface="楷体_GB2312" pitchFamily="49" charset="-122"/>
                <a:ea typeface="楷体_GB2312" pitchFamily="49" charset="-122"/>
              </a:rPr>
              <a:t>则以上两式表示了同一种载流子在势垒区两边的浓度关系服从玻尔兹曼分布函数，如下图所示。</a:t>
            </a:r>
            <a:endParaRPr lang="en-US" altLang="zh-CN" sz="2000">
              <a:solidFill>
                <a:srgbClr val="000000"/>
              </a:solidFill>
              <a:latin typeface="楷体_GB2312" pitchFamily="49" charset="-122"/>
              <a:ea typeface="楷体_GB2312" pitchFamily="49" charset="-122"/>
            </a:endParaRPr>
          </a:p>
        </p:txBody>
      </p:sp>
      <p:pic>
        <p:nvPicPr>
          <p:cNvPr id="355336" name="Picture 8" descr="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8400" y="3733800"/>
            <a:ext cx="2743200" cy="2497138"/>
          </a:xfrm>
          <a:prstGeom prst="rect">
            <a:avLst/>
          </a:prstGeom>
          <a:noFill/>
          <a:extLst>
            <a:ext uri="{909E8E84-426E-40DD-AFC4-6F175D3DCCD1}">
              <a14:hiddenFill xmlns:a14="http://schemas.microsoft.com/office/drawing/2010/main">
                <a:solidFill>
                  <a:srgbClr val="FFFFFF"/>
                </a:solidFill>
              </a14:hiddenFill>
            </a:ext>
          </a:extLst>
        </p:spPr>
      </p:pic>
      <p:sp>
        <p:nvSpPr>
          <p:cNvPr id="355337" name="Text Box 9"/>
          <p:cNvSpPr txBox="1">
            <a:spLocks noChangeArrowheads="1"/>
          </p:cNvSpPr>
          <p:nvPr/>
        </p:nvSpPr>
        <p:spPr bwMode="auto">
          <a:xfrm>
            <a:off x="2057400" y="4648201"/>
            <a:ext cx="6858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fontAlgn="base">
              <a:spcBef>
                <a:spcPct val="50000"/>
              </a:spcBef>
              <a:spcAft>
                <a:spcPct val="0"/>
              </a:spcAft>
            </a:pPr>
            <a:r>
              <a:rPr lang="en-US" altLang="zh-CN">
                <a:solidFill>
                  <a:srgbClr val="000000"/>
                </a:solidFill>
                <a:latin typeface="Arial" panose="020B0604020202020204" pitchFamily="34" charset="0"/>
                <a:ea typeface="宋体" panose="02010600030101010101" pitchFamily="2" charset="-122"/>
              </a:rPr>
              <a:t>p</a:t>
            </a:r>
            <a:r>
              <a:rPr lang="en-US" altLang="zh-CN" baseline="-25000">
                <a:solidFill>
                  <a:srgbClr val="000000"/>
                </a:solidFill>
                <a:latin typeface="Arial" panose="020B0604020202020204" pitchFamily="34" charset="0"/>
                <a:ea typeface="宋体" panose="02010600030101010101" pitchFamily="2" charset="-122"/>
              </a:rPr>
              <a:t>po</a:t>
            </a:r>
            <a:endParaRPr lang="en-US" altLang="zh-CN" baseline="-25000">
              <a:solidFill>
                <a:srgbClr val="000000"/>
              </a:solidFill>
              <a:latin typeface="Arial" panose="020B0604020202020204" pitchFamily="34" charset="0"/>
              <a:ea typeface="宋体" panose="02010600030101010101" pitchFamily="2" charset="-122"/>
            </a:endParaRPr>
          </a:p>
        </p:txBody>
      </p:sp>
      <p:sp>
        <p:nvSpPr>
          <p:cNvPr id="355338" name="Text Box 10"/>
          <p:cNvSpPr txBox="1">
            <a:spLocks noChangeArrowheads="1"/>
          </p:cNvSpPr>
          <p:nvPr/>
        </p:nvSpPr>
        <p:spPr bwMode="auto">
          <a:xfrm>
            <a:off x="1828800" y="5410201"/>
            <a:ext cx="914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fontAlgn="base">
              <a:spcBef>
                <a:spcPct val="50000"/>
              </a:spcBef>
              <a:spcAft>
                <a:spcPct val="0"/>
              </a:spcAft>
            </a:pPr>
            <a:r>
              <a:rPr lang="en-US" altLang="zh-CN">
                <a:solidFill>
                  <a:srgbClr val="000000"/>
                </a:solidFill>
                <a:latin typeface="Arial" panose="020B0604020202020204" pitchFamily="34" charset="0"/>
                <a:ea typeface="宋体" panose="02010600030101010101" pitchFamily="2" charset="-122"/>
              </a:rPr>
              <a:t>n</a:t>
            </a:r>
            <a:r>
              <a:rPr lang="en-US" altLang="zh-CN" baseline="-25000">
                <a:solidFill>
                  <a:srgbClr val="000000"/>
                </a:solidFill>
                <a:latin typeface="Arial" panose="020B0604020202020204" pitchFamily="34" charset="0"/>
                <a:ea typeface="宋体" panose="02010600030101010101" pitchFamily="2" charset="-122"/>
              </a:rPr>
              <a:t>p0</a:t>
            </a:r>
            <a:endParaRPr lang="en-US" altLang="zh-CN" baseline="-25000">
              <a:solidFill>
                <a:srgbClr val="000000"/>
              </a:solidFill>
              <a:latin typeface="Arial" panose="020B0604020202020204" pitchFamily="34" charset="0"/>
              <a:ea typeface="宋体" panose="02010600030101010101" pitchFamily="2" charset="-122"/>
            </a:endParaRPr>
          </a:p>
        </p:txBody>
      </p:sp>
      <p:sp>
        <p:nvSpPr>
          <p:cNvPr id="355339" name="Text Box 11"/>
          <p:cNvSpPr txBox="1">
            <a:spLocks noChangeArrowheads="1"/>
          </p:cNvSpPr>
          <p:nvPr/>
        </p:nvSpPr>
        <p:spPr bwMode="auto">
          <a:xfrm>
            <a:off x="4876800" y="4495801"/>
            <a:ext cx="914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lang="en-US" altLang="zh-CN">
                <a:solidFill>
                  <a:srgbClr val="000000"/>
                </a:solidFill>
                <a:latin typeface="Arial" panose="020B0604020202020204" pitchFamily="34" charset="0"/>
                <a:ea typeface="宋体" panose="02010600030101010101" pitchFamily="2" charset="-122"/>
              </a:rPr>
              <a:t>n</a:t>
            </a:r>
            <a:r>
              <a:rPr lang="en-US" altLang="zh-CN" baseline="-25000">
                <a:solidFill>
                  <a:srgbClr val="000000"/>
                </a:solidFill>
                <a:latin typeface="Arial" panose="020B0604020202020204" pitchFamily="34" charset="0"/>
                <a:ea typeface="宋体" panose="02010600030101010101" pitchFamily="2" charset="-122"/>
              </a:rPr>
              <a:t>n0</a:t>
            </a:r>
            <a:endParaRPr lang="en-US" altLang="zh-CN" baseline="-25000">
              <a:solidFill>
                <a:srgbClr val="000000"/>
              </a:solidFill>
              <a:latin typeface="Arial" panose="020B0604020202020204" pitchFamily="34" charset="0"/>
              <a:ea typeface="宋体" panose="02010600030101010101" pitchFamily="2" charset="-122"/>
            </a:endParaRPr>
          </a:p>
        </p:txBody>
      </p:sp>
      <p:sp>
        <p:nvSpPr>
          <p:cNvPr id="355340" name="Text Box 12"/>
          <p:cNvSpPr txBox="1">
            <a:spLocks noChangeArrowheads="1"/>
          </p:cNvSpPr>
          <p:nvPr/>
        </p:nvSpPr>
        <p:spPr bwMode="auto">
          <a:xfrm>
            <a:off x="4953000" y="5562601"/>
            <a:ext cx="990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lang="en-US" altLang="zh-CN">
                <a:solidFill>
                  <a:srgbClr val="000000"/>
                </a:solidFill>
                <a:latin typeface="Arial" panose="020B0604020202020204" pitchFamily="34" charset="0"/>
                <a:ea typeface="宋体" panose="02010600030101010101" pitchFamily="2" charset="-122"/>
              </a:rPr>
              <a:t>p</a:t>
            </a:r>
            <a:r>
              <a:rPr lang="en-US" altLang="zh-CN" baseline="-25000">
                <a:solidFill>
                  <a:srgbClr val="000000"/>
                </a:solidFill>
                <a:latin typeface="Arial" panose="020B0604020202020204" pitchFamily="34" charset="0"/>
                <a:ea typeface="宋体" panose="02010600030101010101" pitchFamily="2" charset="-122"/>
              </a:rPr>
              <a:t>n0</a:t>
            </a:r>
            <a:endParaRPr lang="en-US" altLang="zh-CN" baseline="-25000">
              <a:solidFill>
                <a:srgbClr val="000000"/>
              </a:solidFill>
              <a:latin typeface="Arial" panose="020B0604020202020204" pitchFamily="34" charset="0"/>
              <a:ea typeface="宋体" panose="02010600030101010101" pitchFamily="2" charset="-122"/>
            </a:endParaRPr>
          </a:p>
        </p:txBody>
      </p:sp>
      <p:sp>
        <p:nvSpPr>
          <p:cNvPr id="355341" name="Text Box 13"/>
          <p:cNvSpPr txBox="1">
            <a:spLocks noChangeArrowheads="1"/>
          </p:cNvSpPr>
          <p:nvPr/>
        </p:nvSpPr>
        <p:spPr bwMode="auto">
          <a:xfrm>
            <a:off x="5562600" y="3581401"/>
            <a:ext cx="4191000" cy="253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lang="zh-CN" altLang="en-US" sz="2000">
                <a:solidFill>
                  <a:srgbClr val="000000"/>
                </a:solidFill>
                <a:latin typeface="楷体_GB2312" pitchFamily="49" charset="-122"/>
                <a:ea typeface="楷体_GB2312" pitchFamily="49" charset="-122"/>
              </a:rPr>
              <a:t>一般室温附近，对于绝大部分势垒区，其中杂质虽然都已电离，但载流子浓度比起</a:t>
            </a:r>
            <a:r>
              <a:rPr lang="en-US" altLang="zh-CN" sz="2000">
                <a:solidFill>
                  <a:srgbClr val="000000"/>
                </a:solidFill>
                <a:latin typeface="楷体_GB2312" pitchFamily="49" charset="-122"/>
                <a:ea typeface="楷体_GB2312" pitchFamily="49" charset="-122"/>
              </a:rPr>
              <a:t>n</a:t>
            </a:r>
            <a:r>
              <a:rPr lang="zh-CN" altLang="en-US" sz="2000">
                <a:solidFill>
                  <a:srgbClr val="000000"/>
                </a:solidFill>
                <a:latin typeface="楷体_GB2312" pitchFamily="49" charset="-122"/>
                <a:ea typeface="楷体_GB2312" pitchFamily="49" charset="-122"/>
              </a:rPr>
              <a:t>区和</a:t>
            </a:r>
            <a:r>
              <a:rPr lang="en-US" altLang="zh-CN" sz="2000">
                <a:solidFill>
                  <a:srgbClr val="000000"/>
                </a:solidFill>
                <a:latin typeface="楷体_GB2312" pitchFamily="49" charset="-122"/>
                <a:ea typeface="楷体_GB2312" pitchFamily="49" charset="-122"/>
              </a:rPr>
              <a:t>p</a:t>
            </a:r>
            <a:r>
              <a:rPr lang="zh-CN" altLang="en-US" sz="2000">
                <a:solidFill>
                  <a:srgbClr val="000000"/>
                </a:solidFill>
                <a:latin typeface="楷体_GB2312" pitchFamily="49" charset="-122"/>
                <a:ea typeface="楷体_GB2312" pitchFamily="49" charset="-122"/>
              </a:rPr>
              <a:t>区的多数载流子浓度小得多，好像已经耗尽了。所以通常也称势垒区为</a:t>
            </a:r>
            <a:r>
              <a:rPr lang="zh-CN" altLang="en-US" sz="2000">
                <a:solidFill>
                  <a:srgbClr val="D43636"/>
                </a:solidFill>
                <a:latin typeface="楷体_GB2312" pitchFamily="49" charset="-122"/>
                <a:ea typeface="楷体_GB2312" pitchFamily="49" charset="-122"/>
              </a:rPr>
              <a:t>耗尽层</a:t>
            </a:r>
            <a:r>
              <a:rPr lang="zh-CN" altLang="en-US" sz="2000">
                <a:solidFill>
                  <a:srgbClr val="000000"/>
                </a:solidFill>
                <a:latin typeface="楷体_GB2312" pitchFamily="49" charset="-122"/>
                <a:ea typeface="楷体_GB2312" pitchFamily="49" charset="-122"/>
              </a:rPr>
              <a:t>，即认为其中载流子的浓度很小，可以忽略，空间电荷密度就等于电离杂质浓度。</a:t>
            </a:r>
            <a:endParaRPr lang="zh-CN" altLang="en-US" sz="2000">
              <a:solidFill>
                <a:srgbClr val="000000"/>
              </a:solidFill>
              <a:latin typeface="楷体_GB2312" pitchFamily="49" charset="-122"/>
              <a:ea typeface="楷体_GB2312" pitchFamily="49" charset="-122"/>
            </a:endParaRP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063552" y="2132856"/>
            <a:ext cx="8604448" cy="1440160"/>
          </a:xfrm>
        </p:spPr>
        <p:txBody>
          <a:bodyPr>
            <a:normAutofit/>
          </a:bodyPr>
          <a:lstStyle/>
          <a:p>
            <a:pPr fontAlgn="auto">
              <a:spcAft>
                <a:spcPts val="0"/>
              </a:spcAft>
              <a:defRPr/>
            </a:pPr>
            <a:r>
              <a:rPr lang="en-US" altLang="zh-CN" sz="6000" dirty="0"/>
              <a:t>6.2   </a:t>
            </a:r>
            <a:r>
              <a:rPr lang="en-US" altLang="zh-CN" sz="6000" dirty="0" err="1"/>
              <a:t>pn</a:t>
            </a:r>
            <a:r>
              <a:rPr lang="zh-CN" altLang="en-US" sz="6000" dirty="0"/>
              <a:t>结电流电压特性</a:t>
            </a:r>
            <a:endParaRPr lang="zh-CN" altLang="en-US" sz="6000" dirty="0"/>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a:xfrm>
            <a:off x="2052394" y="471659"/>
            <a:ext cx="8229600" cy="710952"/>
          </a:xfrm>
        </p:spPr>
        <p:txBody>
          <a:bodyPr/>
          <a:lstStyle/>
          <a:p>
            <a:pPr fontAlgn="auto">
              <a:spcAft>
                <a:spcPts val="0"/>
              </a:spcAft>
              <a:defRPr/>
            </a:pPr>
            <a:r>
              <a:rPr lang="en-US" altLang="zh-CN" sz="4000" dirty="0"/>
              <a:t>6.2.1  </a:t>
            </a:r>
            <a:r>
              <a:rPr lang="zh-CN" altLang="en-US" sz="4000" dirty="0"/>
              <a:t>非平衡状态下的</a:t>
            </a:r>
            <a:r>
              <a:rPr lang="en-US" altLang="zh-CN" sz="4000" dirty="0" err="1"/>
              <a:t>pn</a:t>
            </a:r>
            <a:r>
              <a:rPr lang="zh-CN" altLang="en-US" sz="4000" dirty="0"/>
              <a:t>结</a:t>
            </a:r>
            <a:endParaRPr lang="zh-CN" altLang="en-US" sz="4000" dirty="0"/>
          </a:p>
        </p:txBody>
      </p:sp>
      <p:sp>
        <p:nvSpPr>
          <p:cNvPr id="6147" name="Text Box 4"/>
          <p:cNvSpPr txBox="1">
            <a:spLocks noChangeArrowheads="1"/>
          </p:cNvSpPr>
          <p:nvPr/>
        </p:nvSpPr>
        <p:spPr bwMode="auto">
          <a:xfrm>
            <a:off x="2092325" y="1204914"/>
            <a:ext cx="7778750" cy="942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t>平衡</a:t>
            </a:r>
            <a:r>
              <a:rPr lang="en-US" altLang="zh-CN" sz="2400" b="1"/>
              <a:t>p-n</a:t>
            </a:r>
            <a:r>
              <a:rPr lang="zh-CN" altLang="en-US" sz="2400" b="1"/>
              <a:t>结中，载流子的扩散电流和漂移电流相互抵消，</a:t>
            </a:r>
            <a:endParaRPr lang="en-US" altLang="zh-CN" sz="2400" b="1"/>
          </a:p>
          <a:p>
            <a:pPr eaLnBrk="1" hangingPunct="1">
              <a:lnSpc>
                <a:spcPct val="150000"/>
              </a:lnSpc>
            </a:pPr>
            <a:r>
              <a:rPr lang="zh-CN" altLang="en-US" sz="2400" b="1"/>
              <a:t>没有净电流通过</a:t>
            </a:r>
            <a:r>
              <a:rPr lang="zh-CN" altLang="en-US" sz="2400" b="1">
                <a:solidFill>
                  <a:schemeClr val="tx2"/>
                </a:solidFill>
              </a:rPr>
              <a:t>。</a:t>
            </a:r>
            <a:endParaRPr lang="zh-CN" altLang="en-US" sz="2400" b="1">
              <a:solidFill>
                <a:schemeClr val="tx2"/>
              </a:solidFill>
            </a:endParaRPr>
          </a:p>
        </p:txBody>
      </p:sp>
      <p:sp>
        <p:nvSpPr>
          <p:cNvPr id="6148" name="Text Box 5"/>
          <p:cNvSpPr txBox="1">
            <a:spLocks noChangeArrowheads="1"/>
          </p:cNvSpPr>
          <p:nvPr/>
        </p:nvSpPr>
        <p:spPr bwMode="auto">
          <a:xfrm>
            <a:off x="1774826" y="2492375"/>
            <a:ext cx="4652963" cy="3416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zh-CN" altLang="en-US" sz="2400" b="1"/>
              <a:t>当</a:t>
            </a:r>
            <a:r>
              <a:rPr lang="en-US" altLang="zh-CN" sz="2400" b="1"/>
              <a:t>p-n</a:t>
            </a:r>
            <a:r>
              <a:rPr lang="zh-CN" altLang="en-US" sz="2400" b="1"/>
              <a:t>结加正向偏压时，由于势垒区载流子浓度很小，电阻很大，所以外加电压基本落在势垒区。正向偏压在势垒区产生了与内建电场相反的电场，减弱了势垒高度。</a:t>
            </a:r>
            <a:endParaRPr lang="zh-CN" altLang="en-US" sz="2400" b="1"/>
          </a:p>
        </p:txBody>
      </p:sp>
      <p:pic>
        <p:nvPicPr>
          <p:cNvPr id="6149" name="图片 3"/>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6311900" y="2492375"/>
            <a:ext cx="3970338"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4"/>
          <p:cNvSpPr>
            <a:spLocks noChangeArrowheads="1"/>
          </p:cNvSpPr>
          <p:nvPr/>
        </p:nvSpPr>
        <p:spPr bwMode="auto">
          <a:xfrm>
            <a:off x="3013076" y="820738"/>
            <a:ext cx="6264275" cy="1020762"/>
          </a:xfrm>
          <a:prstGeom prst="rect">
            <a:avLst/>
          </a:prstGeom>
          <a:solidFill>
            <a:schemeClr val="bg1"/>
          </a:solidFill>
          <a:ln w="28575">
            <a:solidFill>
              <a:srgbClr val="FF00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latin typeface="Times New Roman" panose="02020603050405020304" pitchFamily="18" charset="0"/>
              </a:rPr>
              <a:t>     P      </a:t>
            </a:r>
            <a:r>
              <a:rPr kumimoji="1" lang="zh-CN" altLang="en-US" sz="2000" b="1">
                <a:latin typeface="Times New Roman" panose="02020603050405020304" pitchFamily="18" charset="0"/>
              </a:rPr>
              <a:t>电子扩散区        结区     空穴扩散区          </a:t>
            </a:r>
            <a:r>
              <a:rPr kumimoji="1" lang="en-US" altLang="zh-CN" sz="2000" b="1">
                <a:latin typeface="Times New Roman" panose="02020603050405020304" pitchFamily="18" charset="0"/>
              </a:rPr>
              <a:t>N</a:t>
            </a:r>
            <a:endParaRPr kumimoji="1" lang="en-US" altLang="zh-CN" sz="2000" b="1">
              <a:latin typeface="Times New Roman" panose="02020603050405020304" pitchFamily="18" charset="0"/>
            </a:endParaRPr>
          </a:p>
        </p:txBody>
      </p:sp>
      <p:sp>
        <p:nvSpPr>
          <p:cNvPr id="7171" name="Line 5"/>
          <p:cNvSpPr>
            <a:spLocks noChangeShapeType="1"/>
          </p:cNvSpPr>
          <p:nvPr/>
        </p:nvSpPr>
        <p:spPr bwMode="auto">
          <a:xfrm>
            <a:off x="4097338" y="796926"/>
            <a:ext cx="0" cy="1420813"/>
          </a:xfrm>
          <a:prstGeom prst="line">
            <a:avLst/>
          </a:prstGeom>
          <a:noFill/>
          <a:ln w="9525">
            <a:solidFill>
              <a:schemeClr val="hlink"/>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172" name="Line 6"/>
          <p:cNvSpPr>
            <a:spLocks noChangeShapeType="1"/>
          </p:cNvSpPr>
          <p:nvPr/>
        </p:nvSpPr>
        <p:spPr bwMode="auto">
          <a:xfrm>
            <a:off x="8134350" y="796926"/>
            <a:ext cx="0" cy="1420813"/>
          </a:xfrm>
          <a:prstGeom prst="line">
            <a:avLst/>
          </a:prstGeom>
          <a:noFill/>
          <a:ln w="9525">
            <a:solidFill>
              <a:schemeClr val="hlink"/>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173" name="Line 7"/>
          <p:cNvSpPr>
            <a:spLocks noChangeShapeType="1"/>
          </p:cNvSpPr>
          <p:nvPr/>
        </p:nvSpPr>
        <p:spPr bwMode="auto">
          <a:xfrm>
            <a:off x="5651500" y="796926"/>
            <a:ext cx="0" cy="1420813"/>
          </a:xfrm>
          <a:prstGeom prst="line">
            <a:avLst/>
          </a:prstGeom>
          <a:noFill/>
          <a:ln w="9525">
            <a:solidFill>
              <a:schemeClr val="hlink"/>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174" name="Line 8"/>
          <p:cNvSpPr>
            <a:spLocks noChangeShapeType="1"/>
          </p:cNvSpPr>
          <p:nvPr/>
        </p:nvSpPr>
        <p:spPr bwMode="auto">
          <a:xfrm>
            <a:off x="6567488" y="796926"/>
            <a:ext cx="0" cy="1420813"/>
          </a:xfrm>
          <a:prstGeom prst="line">
            <a:avLst/>
          </a:prstGeom>
          <a:noFill/>
          <a:ln w="9525">
            <a:solidFill>
              <a:schemeClr val="hlink"/>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175" name="Text Box 9"/>
          <p:cNvSpPr txBox="1">
            <a:spLocks noChangeArrowheads="1"/>
          </p:cNvSpPr>
          <p:nvPr/>
        </p:nvSpPr>
        <p:spPr bwMode="auto">
          <a:xfrm>
            <a:off x="4224338" y="196850"/>
            <a:ext cx="34480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a:solidFill>
                  <a:srgbClr val="FF6600"/>
                </a:solidFill>
                <a:latin typeface="Garamond" panose="02020404030301010803" pitchFamily="18" charset="0"/>
              </a:rPr>
              <a:t>正向偏压的电注入</a:t>
            </a:r>
            <a:endParaRPr lang="zh-CN" altLang="en-US" sz="3200" b="1">
              <a:solidFill>
                <a:srgbClr val="FF6600"/>
              </a:solidFill>
              <a:latin typeface="Garamond" panose="02020404030301010803" pitchFamily="18" charset="0"/>
            </a:endParaRPr>
          </a:p>
        </p:txBody>
      </p:sp>
      <p:sp>
        <p:nvSpPr>
          <p:cNvPr id="7176" name="Text Box 10"/>
          <p:cNvSpPr txBox="1">
            <a:spLocks noChangeArrowheads="1"/>
          </p:cNvSpPr>
          <p:nvPr/>
        </p:nvSpPr>
        <p:spPr bwMode="auto">
          <a:xfrm>
            <a:off x="2038350" y="1908176"/>
            <a:ext cx="8135938" cy="170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en-US" altLang="zh-CN" b="1"/>
              <a:t>       </a:t>
            </a:r>
            <a:r>
              <a:rPr lang="zh-CN" altLang="en-US" b="1"/>
              <a:t>加正向偏压时，扩散电流大于漂移电流，</a:t>
            </a:r>
            <a:r>
              <a:rPr lang="en-US" altLang="zh-CN" b="1"/>
              <a:t>n</a:t>
            </a:r>
            <a:r>
              <a:rPr lang="zh-CN" altLang="en-US" b="1"/>
              <a:t>区中的电子通过势垒区扩散进入</a:t>
            </a:r>
            <a:r>
              <a:rPr lang="en-US" altLang="zh-CN" b="1"/>
              <a:t>p</a:t>
            </a:r>
            <a:r>
              <a:rPr lang="zh-CN" altLang="en-US" b="1"/>
              <a:t>区，形成了扩散电流，在扩散的过程中电子与</a:t>
            </a:r>
            <a:r>
              <a:rPr lang="en-US" altLang="zh-CN" b="1"/>
              <a:t>p</a:t>
            </a:r>
            <a:r>
              <a:rPr lang="zh-CN" altLang="en-US" b="1"/>
              <a:t>区的空穴相复合，转化为空穴电流，直到电子全部复合，电子电流全部转化为空穴电流为止。这样形成了一稳定的比扩散距离大若干倍的扩散区。空穴也如此。</a:t>
            </a:r>
            <a:endParaRPr lang="zh-CN" altLang="en-US" b="1"/>
          </a:p>
        </p:txBody>
      </p:sp>
      <p:cxnSp>
        <p:nvCxnSpPr>
          <p:cNvPr id="3" name="直接连接符 2"/>
          <p:cNvCxnSpPr>
            <a:endCxn id="7170" idx="1"/>
          </p:cNvCxnSpPr>
          <p:nvPr/>
        </p:nvCxnSpPr>
        <p:spPr>
          <a:xfrm>
            <a:off x="1866901" y="1331913"/>
            <a:ext cx="1146175" cy="0"/>
          </a:xfrm>
          <a:prstGeom prst="line">
            <a:avLst/>
          </a:prstGeom>
          <a:ln w="12700" cmpd="sng"/>
        </p:spPr>
        <p:style>
          <a:lnRef idx="1">
            <a:schemeClr val="accent1"/>
          </a:lnRef>
          <a:fillRef idx="0">
            <a:schemeClr val="accent1"/>
          </a:fillRef>
          <a:effectRef idx="0">
            <a:schemeClr val="accent1"/>
          </a:effectRef>
          <a:fontRef idx="minor">
            <a:schemeClr val="tx1"/>
          </a:fontRef>
        </p:style>
      </p:cxnSp>
      <p:cxnSp>
        <p:nvCxnSpPr>
          <p:cNvPr id="5" name="直接连接符 4"/>
          <p:cNvCxnSpPr>
            <a:stCxn id="7170" idx="3"/>
          </p:cNvCxnSpPr>
          <p:nvPr/>
        </p:nvCxnSpPr>
        <p:spPr>
          <a:xfrm>
            <a:off x="9277350" y="1331913"/>
            <a:ext cx="1136650" cy="0"/>
          </a:xfrm>
          <a:prstGeom prst="line">
            <a:avLst/>
          </a:prstGeom>
        </p:spPr>
        <p:style>
          <a:lnRef idx="1">
            <a:schemeClr val="accent1"/>
          </a:lnRef>
          <a:fillRef idx="0">
            <a:schemeClr val="accent1"/>
          </a:fillRef>
          <a:effectRef idx="0">
            <a:schemeClr val="accent1"/>
          </a:effectRef>
          <a:fontRef idx="minor">
            <a:schemeClr val="tx1"/>
          </a:fontRef>
        </p:style>
      </p:cxnSp>
      <p:sp>
        <p:nvSpPr>
          <p:cNvPr id="7179" name="Text Box 13"/>
          <p:cNvSpPr txBox="1">
            <a:spLocks noChangeArrowheads="1"/>
          </p:cNvSpPr>
          <p:nvPr/>
        </p:nvSpPr>
        <p:spPr bwMode="auto">
          <a:xfrm>
            <a:off x="2346326" y="1411288"/>
            <a:ext cx="365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a:latin typeface="Times New Roman" panose="02020603050405020304" pitchFamily="18" charset="0"/>
              </a:rPr>
              <a:t>+</a:t>
            </a:r>
            <a:endParaRPr kumimoji="1" lang="en-US" altLang="zh-CN" sz="2400">
              <a:latin typeface="Times New Roman" panose="02020603050405020304" pitchFamily="18" charset="0"/>
            </a:endParaRPr>
          </a:p>
        </p:txBody>
      </p:sp>
      <p:sp>
        <p:nvSpPr>
          <p:cNvPr id="7180" name="Text Box 14"/>
          <p:cNvSpPr txBox="1">
            <a:spLocks noChangeArrowheads="1"/>
          </p:cNvSpPr>
          <p:nvPr/>
        </p:nvSpPr>
        <p:spPr bwMode="auto">
          <a:xfrm>
            <a:off x="9537700" y="1411288"/>
            <a:ext cx="488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a:latin typeface="Times New Roman" panose="02020603050405020304" pitchFamily="18" charset="0"/>
              </a:rPr>
              <a:t>－</a:t>
            </a:r>
            <a:endParaRPr kumimoji="1" lang="zh-CN" altLang="en-US" sz="2400">
              <a:latin typeface="Times New Roman" panose="02020603050405020304" pitchFamily="18" charset="0"/>
            </a:endParaRPr>
          </a:p>
        </p:txBody>
      </p:sp>
      <p:sp>
        <p:nvSpPr>
          <p:cNvPr id="7181" name="TextBox 25"/>
          <p:cNvSpPr txBox="1">
            <a:spLocks noChangeArrowheads="1"/>
          </p:cNvSpPr>
          <p:nvPr/>
        </p:nvSpPr>
        <p:spPr bwMode="auto">
          <a:xfrm>
            <a:off x="5416551" y="3608388"/>
            <a:ext cx="4919663" cy="300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zh-CN" altLang="en-US"/>
              <a:t>      </a:t>
            </a:r>
            <a:r>
              <a:rPr lang="zh-CN" altLang="en-US" b="1"/>
              <a:t>在平行于</a:t>
            </a:r>
            <a:r>
              <a:rPr lang="en-US" altLang="zh-CN" b="1"/>
              <a:t>pp’</a:t>
            </a:r>
            <a:r>
              <a:rPr lang="zh-CN" altLang="en-US" b="1"/>
              <a:t>的任何截面处通过的电子电流和空穴电流并不相等，但是根据电流的连续性原理，通过</a:t>
            </a:r>
            <a:r>
              <a:rPr lang="en-US" altLang="zh-CN" b="1"/>
              <a:t>pn</a:t>
            </a:r>
            <a:r>
              <a:rPr lang="zh-CN" altLang="en-US" b="1"/>
              <a:t>结中任意截面的总电流是相等的，只是不同的截面电子电流和空穴电流的比例不同，在假定通过势垒区的电子电流和空穴电流保持不变的情况下，通过</a:t>
            </a:r>
            <a:r>
              <a:rPr lang="en-US" altLang="zh-CN" b="1"/>
              <a:t>pn</a:t>
            </a:r>
            <a:r>
              <a:rPr lang="zh-CN" altLang="en-US" b="1"/>
              <a:t>结的总电流是电子扩散电流和空穴扩散电流之和。</a:t>
            </a:r>
            <a:endParaRPr lang="zh-CN" altLang="en-US" b="1"/>
          </a:p>
        </p:txBody>
      </p:sp>
      <p:pic>
        <p:nvPicPr>
          <p:cNvPr id="7182" name="Picture 3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160589" y="3575051"/>
            <a:ext cx="3214687" cy="300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5"/>
          <p:cNvSpPr txBox="1">
            <a:spLocks noChangeArrowheads="1"/>
          </p:cNvSpPr>
          <p:nvPr/>
        </p:nvSpPr>
        <p:spPr bwMode="auto">
          <a:xfrm>
            <a:off x="4733925" y="549276"/>
            <a:ext cx="5703888" cy="6126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en-US" altLang="zh-CN" sz="2400"/>
              <a:t>        </a:t>
            </a:r>
            <a:r>
              <a:rPr lang="zh-CN" altLang="en-US" sz="2000" b="1"/>
              <a:t>当</a:t>
            </a:r>
            <a:r>
              <a:rPr lang="en-US" altLang="zh-CN" sz="2000" b="1"/>
              <a:t>pn</a:t>
            </a:r>
            <a:r>
              <a:rPr lang="zh-CN" altLang="en-US" sz="2000" b="1"/>
              <a:t>结加反向偏压时，反向偏压在势垒区产生的电场与内建电场方向一致，势垒区的电场增强，势垒区也变宽。势垒区电场增强，使漂移流大于扩散流。这时</a:t>
            </a:r>
            <a:r>
              <a:rPr lang="en-US" altLang="zh-CN" sz="2000" b="1"/>
              <a:t>n</a:t>
            </a:r>
            <a:r>
              <a:rPr lang="zh-CN" altLang="en-US" sz="2000" b="1"/>
              <a:t>区边界</a:t>
            </a:r>
            <a:r>
              <a:rPr lang="en-US" altLang="zh-CN" sz="2000" b="1"/>
              <a:t>nn’</a:t>
            </a:r>
            <a:r>
              <a:rPr lang="zh-CN" altLang="en-US" sz="2000" b="1"/>
              <a:t>处的空穴被势垒区的强电场驱向</a:t>
            </a:r>
            <a:r>
              <a:rPr lang="en-US" altLang="zh-CN" sz="2000" b="1"/>
              <a:t>p</a:t>
            </a:r>
            <a:r>
              <a:rPr lang="zh-CN" altLang="en-US" sz="2000" b="1"/>
              <a:t>区，而</a:t>
            </a:r>
            <a:r>
              <a:rPr lang="en-US" altLang="zh-CN" sz="2000" b="1"/>
              <a:t>p</a:t>
            </a:r>
            <a:r>
              <a:rPr lang="zh-CN" altLang="en-US" sz="2000" b="1"/>
              <a:t>区边界</a:t>
            </a:r>
            <a:r>
              <a:rPr lang="en-US" altLang="zh-CN" sz="2000" b="1"/>
              <a:t>pp’</a:t>
            </a:r>
            <a:r>
              <a:rPr lang="zh-CN" altLang="en-US" sz="2000" b="1"/>
              <a:t>处的电子被驱向</a:t>
            </a:r>
            <a:r>
              <a:rPr lang="en-US" altLang="zh-CN" sz="2000" b="1"/>
              <a:t>n</a:t>
            </a:r>
            <a:r>
              <a:rPr lang="zh-CN" altLang="en-US" sz="2000" b="1"/>
              <a:t>区。当这些少数载流子被电场驱走后，内部的少子就来补充，形成了反向偏压下的电子扩散电流和空穴扩散电流，这种情况好像少数载流子不断地被抽出来，所以称为少数载流子的抽取或吸出。</a:t>
            </a:r>
            <a:endParaRPr lang="zh-CN" altLang="en-US" sz="2000" b="1"/>
          </a:p>
          <a:p>
            <a:pPr eaLnBrk="1" hangingPunct="1">
              <a:lnSpc>
                <a:spcPct val="150000"/>
              </a:lnSpc>
            </a:pPr>
            <a:r>
              <a:rPr lang="zh-CN" altLang="en-US" sz="2000" b="1"/>
              <a:t>       </a:t>
            </a:r>
            <a:r>
              <a:rPr lang="en-US" altLang="zh-CN" sz="2000" b="1"/>
              <a:t>pn</a:t>
            </a:r>
            <a:r>
              <a:rPr lang="zh-CN" altLang="en-US" sz="2000" b="1"/>
              <a:t>结中总的反向电流等于势垒区边界</a:t>
            </a:r>
            <a:r>
              <a:rPr lang="en-US" altLang="zh-CN" sz="2000" b="1"/>
              <a:t>nn</a:t>
            </a:r>
            <a:r>
              <a:rPr lang="zh-CN" altLang="en-US" sz="2000" b="1"/>
              <a:t>’和</a:t>
            </a:r>
            <a:r>
              <a:rPr lang="en-US" altLang="zh-CN" sz="2000" b="1"/>
              <a:t>pp</a:t>
            </a:r>
            <a:r>
              <a:rPr lang="zh-CN" altLang="en-US" sz="2000" b="1"/>
              <a:t>’附近的少数载流子扩散电流之和。在反向偏压下，</a:t>
            </a:r>
            <a:r>
              <a:rPr lang="en-US" altLang="zh-CN" sz="2000" b="1"/>
              <a:t>pn</a:t>
            </a:r>
            <a:r>
              <a:rPr lang="zh-CN" altLang="en-US" sz="2000" b="1"/>
              <a:t>结的电流较小并且趋于不变。</a:t>
            </a:r>
            <a:endParaRPr lang="zh-CN" altLang="en-US" sz="2000" b="1"/>
          </a:p>
        </p:txBody>
      </p:sp>
      <p:sp>
        <p:nvSpPr>
          <p:cNvPr id="5123" name="Rectangle 6"/>
          <p:cNvSpPr>
            <a:spLocks noGrp="1" noChangeArrowheads="1"/>
          </p:cNvSpPr>
          <p:nvPr>
            <p:ph type="title"/>
          </p:nvPr>
        </p:nvSpPr>
        <p:spPr>
          <a:xfrm>
            <a:off x="1981200" y="115889"/>
            <a:ext cx="8229600" cy="649287"/>
          </a:xfrm>
        </p:spPr>
        <p:txBody>
          <a:bodyPr/>
          <a:lstStyle/>
          <a:p>
            <a:pPr fontAlgn="auto">
              <a:spcAft>
                <a:spcPts val="0"/>
              </a:spcAft>
              <a:defRPr/>
            </a:pPr>
            <a:r>
              <a:rPr lang="en-US" altLang="zh-CN" sz="3200" dirty="0"/>
              <a:t>2</a:t>
            </a:r>
            <a:r>
              <a:rPr lang="en-US" altLang="zh-CN" sz="3200" dirty="0">
                <a:solidFill>
                  <a:schemeClr val="tx1"/>
                </a:solidFill>
              </a:rPr>
              <a:t>. </a:t>
            </a:r>
            <a:r>
              <a:rPr lang="en-US" altLang="zh-CN" sz="3200" dirty="0" err="1">
                <a:solidFill>
                  <a:schemeClr val="tx1"/>
                </a:solidFill>
              </a:rPr>
              <a:t>pn</a:t>
            </a:r>
            <a:r>
              <a:rPr lang="zh-CN" altLang="en-US" sz="3200" dirty="0">
                <a:solidFill>
                  <a:schemeClr val="tx1"/>
                </a:solidFill>
              </a:rPr>
              <a:t>结反向偏压时</a:t>
            </a:r>
            <a:endParaRPr lang="zh-CN" altLang="en-US" sz="3200" dirty="0">
              <a:solidFill>
                <a:schemeClr val="tx1"/>
              </a:solidFill>
            </a:endParaRPr>
          </a:p>
        </p:txBody>
      </p:sp>
      <p:pic>
        <p:nvPicPr>
          <p:cNvPr id="8196"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697039" y="1565275"/>
            <a:ext cx="3032125" cy="446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4"/>
          <p:cNvSpPr>
            <a:spLocks noGrp="1" noChangeArrowheads="1"/>
          </p:cNvSpPr>
          <p:nvPr>
            <p:ph type="title"/>
          </p:nvPr>
        </p:nvSpPr>
        <p:spPr>
          <a:xfrm>
            <a:off x="2135188" y="333375"/>
            <a:ext cx="6145212" cy="719138"/>
          </a:xfrm>
        </p:spPr>
        <p:txBody>
          <a:bodyPr>
            <a:normAutofit fontScale="90000"/>
          </a:bodyPr>
          <a:lstStyle/>
          <a:p>
            <a:pPr fontAlgn="auto">
              <a:spcAft>
                <a:spcPts val="0"/>
              </a:spcAft>
              <a:defRPr/>
            </a:pPr>
            <a:r>
              <a:rPr lang="zh-CN" altLang="en-US" sz="3200" dirty="0"/>
              <a:t>外加直流电压下，</a:t>
            </a:r>
            <a:r>
              <a:rPr lang="en-US" altLang="zh-CN" sz="3200" dirty="0"/>
              <a:t>p-n</a:t>
            </a:r>
            <a:r>
              <a:rPr lang="zh-CN" altLang="en-US" sz="3200" dirty="0"/>
              <a:t>结的能带图</a:t>
            </a:r>
            <a:endParaRPr lang="zh-CN" altLang="en-US" sz="3200" dirty="0"/>
          </a:p>
        </p:txBody>
      </p:sp>
      <p:sp>
        <p:nvSpPr>
          <p:cNvPr id="9219" name="Text Box 5"/>
          <p:cNvSpPr txBox="1">
            <a:spLocks noChangeArrowheads="1"/>
          </p:cNvSpPr>
          <p:nvPr/>
        </p:nvSpPr>
        <p:spPr bwMode="auto">
          <a:xfrm>
            <a:off x="1774826" y="982664"/>
            <a:ext cx="7993063" cy="8695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en-US" altLang="zh-CN" b="1"/>
              <a:t>      </a:t>
            </a:r>
            <a:r>
              <a:rPr lang="zh-CN" altLang="en-US" b="1"/>
              <a:t>在正向偏压下</a:t>
            </a:r>
            <a:r>
              <a:rPr lang="zh-CN" altLang="en-US"/>
              <a:t>，</a:t>
            </a:r>
            <a:r>
              <a:rPr lang="zh-CN" altLang="en-US" b="1"/>
              <a:t>由于有非平衡少数载流子的注入，必须用电子的准费米能级     和空穴的准费米能级</a:t>
            </a:r>
            <a:r>
              <a:rPr lang="en-US" altLang="zh-CN" b="1"/>
              <a:t>       </a:t>
            </a:r>
            <a:r>
              <a:rPr lang="zh-CN" altLang="en-US" b="1"/>
              <a:t>取代原来平衡时的统一费米能级       。</a:t>
            </a:r>
            <a:endParaRPr lang="zh-CN" altLang="en-US" b="1"/>
          </a:p>
        </p:txBody>
      </p:sp>
      <p:sp>
        <p:nvSpPr>
          <p:cNvPr id="9220" name="Text Box 6"/>
          <p:cNvSpPr txBox="1">
            <a:spLocks noChangeArrowheads="1"/>
          </p:cNvSpPr>
          <p:nvPr/>
        </p:nvSpPr>
        <p:spPr bwMode="auto">
          <a:xfrm>
            <a:off x="1724025" y="1896745"/>
            <a:ext cx="9255125" cy="1753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en-US" altLang="zh-CN"/>
              <a:t>       </a:t>
            </a:r>
            <a:r>
              <a:rPr lang="zh-CN" altLang="en-US" b="1"/>
              <a:t>在空穴扩散区内，电子浓度高，电子的准费米能级变化很小，可近似看做不变；</a:t>
            </a:r>
            <a:endParaRPr lang="zh-CN" altLang="en-US" b="1"/>
          </a:p>
          <a:p>
            <a:pPr eaLnBrk="1" hangingPunct="1">
              <a:lnSpc>
                <a:spcPct val="150000"/>
              </a:lnSpc>
            </a:pPr>
            <a:r>
              <a:rPr lang="zh-CN" altLang="en-US" b="1"/>
              <a:t>但空穴浓度很小，故空穴的准费米能级变化很大。从</a:t>
            </a:r>
            <a:r>
              <a:rPr lang="en-US" altLang="zh-CN" b="1"/>
              <a:t>p</a:t>
            </a:r>
            <a:r>
              <a:rPr lang="zh-CN" altLang="en-US" b="1"/>
              <a:t>区注入</a:t>
            </a:r>
            <a:r>
              <a:rPr lang="en-US" altLang="zh-CN" b="1"/>
              <a:t>n</a:t>
            </a:r>
            <a:r>
              <a:rPr lang="zh-CN" altLang="en-US" b="1"/>
              <a:t>区的空穴，在边界</a:t>
            </a:r>
            <a:r>
              <a:rPr lang="en-US" altLang="zh-CN" b="1"/>
              <a:t>nn’</a:t>
            </a:r>
            <a:endParaRPr lang="en-US" altLang="zh-CN" b="1"/>
          </a:p>
          <a:p>
            <a:pPr eaLnBrk="1" hangingPunct="1">
              <a:lnSpc>
                <a:spcPct val="150000"/>
              </a:lnSpc>
            </a:pPr>
            <a:r>
              <a:rPr lang="zh-CN" altLang="en-US" b="1"/>
              <a:t>处浓度很大，随着远离</a:t>
            </a:r>
            <a:r>
              <a:rPr lang="en-US" altLang="zh-CN" b="1"/>
              <a:t>nn’</a:t>
            </a:r>
            <a:r>
              <a:rPr lang="zh-CN" altLang="en-US" b="1"/>
              <a:t>，由于电子与空穴的复合，空穴浓度逐渐减小为零，其</a:t>
            </a:r>
            <a:endParaRPr lang="en-US" altLang="zh-CN" b="1"/>
          </a:p>
          <a:p>
            <a:pPr eaLnBrk="1" hangingPunct="1">
              <a:lnSpc>
                <a:spcPct val="150000"/>
              </a:lnSpc>
            </a:pPr>
            <a:r>
              <a:rPr lang="zh-CN" altLang="en-US" b="1"/>
              <a:t>变化为一斜线，这时电子空穴的准费米能级相等。在电子扩散区域内也类似。</a:t>
            </a:r>
            <a:endParaRPr lang="zh-CN" altLang="en-US" b="1"/>
          </a:p>
        </p:txBody>
      </p:sp>
      <p:sp>
        <p:nvSpPr>
          <p:cNvPr id="9221" name="Text Box 8"/>
          <p:cNvSpPr txBox="1">
            <a:spLocks noChangeArrowheads="1"/>
          </p:cNvSpPr>
          <p:nvPr/>
        </p:nvSpPr>
        <p:spPr bwMode="auto">
          <a:xfrm>
            <a:off x="6997700" y="3716338"/>
            <a:ext cx="3743332" cy="12850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zh-CN" altLang="en-US" b="1"/>
              <a:t>正向偏压下，势垒降低为</a:t>
            </a:r>
            <a:r>
              <a:rPr lang="en-US" altLang="zh-CN" b="1"/>
              <a:t>q(     -V</a:t>
            </a:r>
            <a:r>
              <a:rPr lang="zh-CN" altLang="en-US" b="1"/>
              <a:t>）</a:t>
            </a:r>
            <a:endParaRPr lang="en-US" altLang="zh-CN" b="1"/>
          </a:p>
          <a:p>
            <a:pPr eaLnBrk="1" hangingPunct="1">
              <a:lnSpc>
                <a:spcPct val="150000"/>
              </a:lnSpc>
            </a:pPr>
            <a:r>
              <a:rPr lang="zh-CN" altLang="en-US" b="1"/>
              <a:t>由图可见电子的准费米能级与空穴</a:t>
            </a:r>
            <a:endParaRPr lang="en-US" altLang="zh-CN" b="1"/>
          </a:p>
          <a:p>
            <a:pPr eaLnBrk="1" hangingPunct="1">
              <a:lnSpc>
                <a:spcPct val="150000"/>
              </a:lnSpc>
            </a:pPr>
            <a:r>
              <a:rPr lang="zh-CN" altLang="en-US" b="1"/>
              <a:t>的准费米能级之差正好等于</a:t>
            </a:r>
            <a:r>
              <a:rPr lang="en-US" altLang="zh-CN" b="1"/>
              <a:t>qV</a:t>
            </a:r>
            <a:r>
              <a:rPr lang="zh-CN" altLang="en-US" b="1"/>
              <a:t>。</a:t>
            </a:r>
            <a:endParaRPr lang="zh-CN" altLang="en-US" b="1"/>
          </a:p>
        </p:txBody>
      </p:sp>
      <p:pic>
        <p:nvPicPr>
          <p:cNvPr id="9222" name="Picture 9" descr="33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175500" y="5373688"/>
            <a:ext cx="2376488"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3"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24026" y="3565526"/>
            <a:ext cx="5273675" cy="3146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9224" name="对象 8"/>
          <p:cNvGraphicFramePr>
            <a:graphicFrameLocks noChangeAspect="1"/>
          </p:cNvGraphicFramePr>
          <p:nvPr/>
        </p:nvGraphicFramePr>
        <p:xfrm>
          <a:off x="9837739" y="3829051"/>
          <a:ext cx="327025" cy="392113"/>
        </p:xfrm>
        <a:graphic>
          <a:graphicData uri="http://schemas.openxmlformats.org/presentationml/2006/ole">
            <mc:AlternateContent xmlns:mc="http://schemas.openxmlformats.org/markup-compatibility/2006">
              <mc:Choice xmlns:v="urn:schemas-microsoft-com:vml" Requires="v">
                <p:oleObj spid="_x0000_s10254" name="Equation" r:id="rId3" imgW="190500" imgH="228600" progId="Equation.DSMT4">
                  <p:embed/>
                </p:oleObj>
              </mc:Choice>
              <mc:Fallback>
                <p:oleObj name="Equation" r:id="rId3" imgW="190500" imgH="228600" progId="Equation.DSMT4">
                  <p:embed/>
                  <p:pic>
                    <p:nvPicPr>
                      <p:cNvPr id="0" name="对象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837739" y="3829051"/>
                        <a:ext cx="327025" cy="392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225" name="AutoShape 11"/>
          <p:cNvSpPr>
            <a:spLocks noChangeAspect="1" noChangeArrowheads="1"/>
          </p:cNvSpPr>
          <p:nvPr/>
        </p:nvSpPr>
        <p:spPr bwMode="auto">
          <a:xfrm>
            <a:off x="7032625" y="5589588"/>
            <a:ext cx="2376488" cy="59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9226" name="对象 1"/>
          <p:cNvGraphicFramePr>
            <a:graphicFrameLocks noChangeAspect="1"/>
          </p:cNvGraphicFramePr>
          <p:nvPr/>
        </p:nvGraphicFramePr>
        <p:xfrm>
          <a:off x="2063750" y="1444625"/>
          <a:ext cx="431800" cy="431800"/>
        </p:xfrm>
        <a:graphic>
          <a:graphicData uri="http://schemas.openxmlformats.org/presentationml/2006/ole">
            <mc:AlternateContent xmlns:mc="http://schemas.openxmlformats.org/markup-compatibility/2006">
              <mc:Choice xmlns:v="urn:schemas-microsoft-com:vml" Requires="v">
                <p:oleObj spid="_x0000_s10255" name="Equation" r:id="rId5" imgW="241300" imgH="241300" progId="Equation.DSMT4">
                  <p:embed/>
                </p:oleObj>
              </mc:Choice>
              <mc:Fallback>
                <p:oleObj name="Equation" r:id="rId5" imgW="241300" imgH="241300" progId="Equation.DSMT4">
                  <p:embed/>
                  <p:pic>
                    <p:nvPicPr>
                      <p:cNvPr id="0" name="对象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63750" y="1444625"/>
                        <a:ext cx="4318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227" name="对象 2"/>
          <p:cNvGraphicFramePr>
            <a:graphicFrameLocks noChangeAspect="1"/>
          </p:cNvGraphicFramePr>
          <p:nvPr/>
        </p:nvGraphicFramePr>
        <p:xfrm>
          <a:off x="4511675" y="1450976"/>
          <a:ext cx="431800" cy="455613"/>
        </p:xfrm>
        <a:graphic>
          <a:graphicData uri="http://schemas.openxmlformats.org/presentationml/2006/ole">
            <mc:AlternateContent xmlns:mc="http://schemas.openxmlformats.org/markup-compatibility/2006">
              <mc:Choice xmlns:v="urn:schemas-microsoft-com:vml" Requires="v">
                <p:oleObj spid="_x0000_s10256" name="Equation" r:id="rId7" imgW="228600" imgH="241300" progId="Equation.DSMT4">
                  <p:embed/>
                </p:oleObj>
              </mc:Choice>
              <mc:Fallback>
                <p:oleObj name="Equation" r:id="rId7" imgW="228600" imgH="241300" progId="Equation.DSMT4">
                  <p:embed/>
                  <p:pic>
                    <p:nvPicPr>
                      <p:cNvPr id="0" name="对象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11675" y="1450976"/>
                        <a:ext cx="43180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228" name="对象 3"/>
          <p:cNvGraphicFramePr>
            <a:graphicFrameLocks noChangeAspect="1"/>
          </p:cNvGraphicFramePr>
          <p:nvPr/>
        </p:nvGraphicFramePr>
        <p:xfrm>
          <a:off x="8221663" y="1473201"/>
          <a:ext cx="330200" cy="384175"/>
        </p:xfrm>
        <a:graphic>
          <a:graphicData uri="http://schemas.openxmlformats.org/presentationml/2006/ole">
            <mc:AlternateContent xmlns:mc="http://schemas.openxmlformats.org/markup-compatibility/2006">
              <mc:Choice xmlns:v="urn:schemas-microsoft-com:vml" Requires="v">
                <p:oleObj spid="_x0000_s10257" name="Equation" r:id="rId9" imgW="215900" imgH="228600" progId="Equation.DSMT4">
                  <p:embed/>
                </p:oleObj>
              </mc:Choice>
              <mc:Fallback>
                <p:oleObj name="Equation" r:id="rId9" imgW="215900" imgH="228600" progId="Equation.DSMT4">
                  <p:embed/>
                  <p:pic>
                    <p:nvPicPr>
                      <p:cNvPr id="0" name="对象 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221663" y="1473201"/>
                        <a:ext cx="330200"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Box 1"/>
          <p:cNvSpPr txBox="1">
            <a:spLocks noChangeArrowheads="1"/>
          </p:cNvSpPr>
          <p:nvPr/>
        </p:nvSpPr>
        <p:spPr bwMode="auto">
          <a:xfrm>
            <a:off x="2495550" y="692150"/>
            <a:ext cx="6985000"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zh-CN" altLang="en-US" sz="2000" b="1"/>
              <a:t>当</a:t>
            </a:r>
            <a:r>
              <a:rPr lang="en-US" altLang="zh-CN" sz="2000" b="1"/>
              <a:t>pn</a:t>
            </a:r>
            <a:r>
              <a:rPr lang="zh-CN" altLang="en-US" sz="2000" b="1"/>
              <a:t>结加反向偏压时</a:t>
            </a:r>
            <a:r>
              <a:rPr lang="zh-CN" altLang="en-US" sz="2000"/>
              <a:t>，</a:t>
            </a:r>
            <a:r>
              <a:rPr lang="zh-CN" altLang="en-US" sz="2000" b="1"/>
              <a:t>在电子扩散区、势垒区、空穴扩散区中，电子和空穴的准费米能级的变化规律与正向偏压时基本类似，不同的只是                 的相对位置变化，正向偏压时，                   ，反向偏压时                     ，如图所示。</a:t>
            </a:r>
            <a:endParaRPr lang="zh-CN" altLang="en-US" sz="2000" b="1"/>
          </a:p>
        </p:txBody>
      </p:sp>
      <p:pic>
        <p:nvPicPr>
          <p:cNvPr id="10243"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711451" y="2989264"/>
            <a:ext cx="6480175" cy="3463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10244" name="对象 2"/>
          <p:cNvGraphicFramePr>
            <a:graphicFrameLocks noChangeAspect="1"/>
          </p:cNvGraphicFramePr>
          <p:nvPr/>
        </p:nvGraphicFramePr>
        <p:xfrm>
          <a:off x="4800601" y="1693863"/>
          <a:ext cx="1008063" cy="438150"/>
        </p:xfrm>
        <a:graphic>
          <a:graphicData uri="http://schemas.openxmlformats.org/presentationml/2006/ole">
            <mc:AlternateContent xmlns:mc="http://schemas.openxmlformats.org/markup-compatibility/2006">
              <mc:Choice xmlns:v="urn:schemas-microsoft-com:vml" Requires="v">
                <p:oleObj spid="_x0000_s11275" name="Equation" r:id="rId2" imgW="584200" imgH="254000" progId="Equation.DSMT4">
                  <p:embed/>
                </p:oleObj>
              </mc:Choice>
              <mc:Fallback>
                <p:oleObj name="Equation" r:id="rId2" imgW="584200" imgH="254000" progId="Equation.DSMT4">
                  <p:embed/>
                  <p:pic>
                    <p:nvPicPr>
                      <p:cNvPr id="0" name="对象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0601" y="1693863"/>
                        <a:ext cx="1008063"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245" name="对象 3"/>
          <p:cNvGraphicFramePr>
            <a:graphicFrameLocks noChangeAspect="1"/>
          </p:cNvGraphicFramePr>
          <p:nvPr/>
        </p:nvGraphicFramePr>
        <p:xfrm>
          <a:off x="3071813" y="2192338"/>
          <a:ext cx="1270000" cy="438150"/>
        </p:xfrm>
        <a:graphic>
          <a:graphicData uri="http://schemas.openxmlformats.org/presentationml/2006/ole">
            <mc:AlternateContent xmlns:mc="http://schemas.openxmlformats.org/markup-compatibility/2006">
              <mc:Choice xmlns:v="urn:schemas-microsoft-com:vml" Requires="v">
                <p:oleObj spid="_x0000_s11276" name="Equation" r:id="rId4" imgW="735965" imgH="254000" progId="Equation.DSMT4">
                  <p:embed/>
                </p:oleObj>
              </mc:Choice>
              <mc:Fallback>
                <p:oleObj name="Equation" r:id="rId4" imgW="735965" imgH="254000" progId="Equation.DSMT4">
                  <p:embed/>
                  <p:pic>
                    <p:nvPicPr>
                      <p:cNvPr id="0" name="对象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71813" y="2192338"/>
                        <a:ext cx="1270000"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246" name="对象 4"/>
          <p:cNvGraphicFramePr>
            <a:graphicFrameLocks noChangeAspect="1"/>
          </p:cNvGraphicFramePr>
          <p:nvPr/>
        </p:nvGraphicFramePr>
        <p:xfrm>
          <a:off x="6096000" y="2181225"/>
          <a:ext cx="1270000" cy="438150"/>
        </p:xfrm>
        <a:graphic>
          <a:graphicData uri="http://schemas.openxmlformats.org/presentationml/2006/ole">
            <mc:AlternateContent xmlns:mc="http://schemas.openxmlformats.org/markup-compatibility/2006">
              <mc:Choice xmlns:v="urn:schemas-microsoft-com:vml" Requires="v">
                <p:oleObj spid="_x0000_s11277" name="Equation" r:id="rId6" imgW="735965" imgH="254000" progId="Equation.DSMT4">
                  <p:embed/>
                </p:oleObj>
              </mc:Choice>
              <mc:Fallback>
                <p:oleObj name="Equation" r:id="rId6" imgW="735965" imgH="254000" progId="Equation.DSMT4">
                  <p:embed/>
                  <p:pic>
                    <p:nvPicPr>
                      <p:cNvPr id="0" name="对象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96000" y="2181225"/>
                        <a:ext cx="1270000"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 Box 2"/>
          <p:cNvSpPr txBox="1">
            <a:spLocks noChangeArrowheads="1"/>
          </p:cNvSpPr>
          <p:nvPr/>
        </p:nvSpPr>
        <p:spPr bwMode="auto">
          <a:xfrm>
            <a:off x="2208214" y="338138"/>
            <a:ext cx="6631940" cy="64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3600" b="1">
                <a:latin typeface="Garamond" panose="02020404030301010803" pitchFamily="18" charset="0"/>
              </a:rPr>
              <a:t> </a:t>
            </a:r>
            <a:r>
              <a:rPr lang="en-US" altLang="zh-CN" sz="3200" b="1">
                <a:latin typeface="Garamond" panose="02020404030301010803" pitchFamily="18" charset="0"/>
              </a:rPr>
              <a:t>6.2.2  </a:t>
            </a:r>
            <a:r>
              <a:rPr lang="zh-CN" altLang="en-US" sz="3200" b="1">
                <a:latin typeface="Garamond" panose="02020404030301010803" pitchFamily="18" charset="0"/>
              </a:rPr>
              <a:t>理想</a:t>
            </a:r>
            <a:r>
              <a:rPr lang="en-US" altLang="zh-CN" sz="3200" b="1">
                <a:latin typeface="Garamond" panose="02020404030301010803" pitchFamily="18" charset="0"/>
              </a:rPr>
              <a:t>pn</a:t>
            </a:r>
            <a:r>
              <a:rPr lang="zh-CN" altLang="en-US" sz="3200" b="1">
                <a:latin typeface="Garamond" panose="02020404030301010803" pitchFamily="18" charset="0"/>
              </a:rPr>
              <a:t>结模型及电流电压方程</a:t>
            </a:r>
            <a:endParaRPr lang="zh-CN" altLang="en-US" sz="3200" b="1">
              <a:latin typeface="Garamond" panose="02020404030301010803" pitchFamily="18" charset="0"/>
            </a:endParaRPr>
          </a:p>
        </p:txBody>
      </p:sp>
      <p:sp>
        <p:nvSpPr>
          <p:cNvPr id="11267" name="Text Box 3"/>
          <p:cNvSpPr txBox="1">
            <a:spLocks noChangeArrowheads="1"/>
          </p:cNvSpPr>
          <p:nvPr/>
        </p:nvSpPr>
        <p:spPr bwMode="auto">
          <a:xfrm>
            <a:off x="2063750" y="979489"/>
            <a:ext cx="8020050" cy="5153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zh-CN" altLang="en-US" sz="2800" b="1">
                <a:latin typeface="Garamond" panose="02020404030301010803" pitchFamily="18" charset="0"/>
                <a:sym typeface="Symbol" panose="05050102010706020507" pitchFamily="18" charset="2"/>
              </a:rPr>
              <a:t>理想</a:t>
            </a:r>
            <a:r>
              <a:rPr lang="en-US" altLang="zh-CN" sz="2800" b="1">
                <a:latin typeface="Garamond" panose="02020404030301010803" pitchFamily="18" charset="0"/>
                <a:sym typeface="Symbol" panose="05050102010706020507" pitchFamily="18" charset="2"/>
              </a:rPr>
              <a:t>pn</a:t>
            </a:r>
            <a:r>
              <a:rPr lang="zh-CN" altLang="en-US" sz="2800" b="1">
                <a:latin typeface="Garamond" panose="02020404030301010803" pitchFamily="18" charset="0"/>
                <a:sym typeface="Symbol" panose="05050102010706020507" pitchFamily="18" charset="2"/>
              </a:rPr>
              <a:t>结模型</a:t>
            </a:r>
            <a:endParaRPr lang="en-US" altLang="zh-CN" sz="2800" b="1">
              <a:latin typeface="Garamond" panose="02020404030301010803" pitchFamily="18" charset="0"/>
              <a:sym typeface="Symbol" panose="05050102010706020507" pitchFamily="18" charset="2"/>
            </a:endParaRPr>
          </a:p>
          <a:p>
            <a:pPr eaLnBrk="1" hangingPunct="1">
              <a:lnSpc>
                <a:spcPct val="130000"/>
              </a:lnSpc>
            </a:pPr>
            <a:r>
              <a:rPr lang="zh-CN" altLang="en-US" sz="2500" b="1">
                <a:latin typeface="Garamond" panose="02020404030301010803" pitchFamily="18" charset="0"/>
                <a:sym typeface="Symbol" panose="05050102010706020507" pitchFamily="18" charset="2"/>
              </a:rPr>
              <a:t>小注入条件</a:t>
            </a:r>
            <a:endParaRPr lang="zh-CN" altLang="en-US" sz="2500" b="1">
              <a:latin typeface="Garamond" panose="02020404030301010803" pitchFamily="18" charset="0"/>
              <a:sym typeface="Symbol" panose="05050102010706020507" pitchFamily="18" charset="2"/>
            </a:endParaRPr>
          </a:p>
          <a:p>
            <a:pPr eaLnBrk="1" hangingPunct="1">
              <a:lnSpc>
                <a:spcPct val="130000"/>
              </a:lnSpc>
              <a:buFont typeface="Symbol" panose="05050102010706020507" pitchFamily="18" charset="2"/>
              <a:buNone/>
            </a:pPr>
            <a:r>
              <a:rPr lang="zh-CN" altLang="en-US" sz="2500" b="1">
                <a:latin typeface="Garamond" panose="02020404030301010803" pitchFamily="18" charset="0"/>
                <a:sym typeface="Symbol" panose="05050102010706020507" pitchFamily="18" charset="2"/>
              </a:rPr>
              <a:t>       －注入的少子浓度比平衡多子浓度小得多</a:t>
            </a:r>
            <a:endParaRPr lang="zh-CN" altLang="en-US" sz="2500" b="1">
              <a:latin typeface="Garamond" panose="02020404030301010803" pitchFamily="18" charset="0"/>
              <a:sym typeface="Symbol" panose="05050102010706020507" pitchFamily="18" charset="2"/>
            </a:endParaRPr>
          </a:p>
          <a:p>
            <a:pPr eaLnBrk="1" hangingPunct="1">
              <a:lnSpc>
                <a:spcPct val="130000"/>
              </a:lnSpc>
            </a:pPr>
            <a:r>
              <a:rPr lang="zh-CN" altLang="en-US" sz="2500" b="1">
                <a:latin typeface="Garamond" panose="02020404030301010803" pitchFamily="18" charset="0"/>
                <a:sym typeface="Symbol" panose="05050102010706020507" pitchFamily="18" charset="2"/>
              </a:rPr>
              <a:t>突变耗尽层条件</a:t>
            </a:r>
            <a:endParaRPr lang="zh-CN" altLang="en-US" sz="2500" b="1">
              <a:latin typeface="Garamond" panose="02020404030301010803" pitchFamily="18" charset="0"/>
              <a:sym typeface="Symbol" panose="05050102010706020507" pitchFamily="18" charset="2"/>
            </a:endParaRPr>
          </a:p>
          <a:p>
            <a:pPr eaLnBrk="1" hangingPunct="1">
              <a:lnSpc>
                <a:spcPct val="130000"/>
              </a:lnSpc>
              <a:buFont typeface="Symbol" panose="05050102010706020507" pitchFamily="18" charset="2"/>
              <a:buNone/>
            </a:pPr>
            <a:r>
              <a:rPr lang="zh-CN" altLang="en-US" sz="2500" b="1">
                <a:latin typeface="Garamond" panose="02020404030301010803" pitchFamily="18" charset="0"/>
                <a:sym typeface="Symbol" panose="05050102010706020507" pitchFamily="18" charset="2"/>
              </a:rPr>
              <a:t>       －注入的少子在</a:t>
            </a:r>
            <a:r>
              <a:rPr lang="en-US" altLang="zh-CN" sz="2500" b="1">
                <a:latin typeface="Garamond" panose="02020404030301010803" pitchFamily="18" charset="0"/>
                <a:sym typeface="Symbol" panose="05050102010706020507" pitchFamily="18" charset="2"/>
              </a:rPr>
              <a:t>p</a:t>
            </a:r>
            <a:r>
              <a:rPr lang="zh-CN" altLang="en-US" sz="2500" b="1">
                <a:latin typeface="Garamond" panose="02020404030301010803" pitchFamily="18" charset="0"/>
                <a:sym typeface="Symbol" panose="05050102010706020507" pitchFamily="18" charset="2"/>
              </a:rPr>
              <a:t>区和</a:t>
            </a:r>
            <a:r>
              <a:rPr lang="en-US" altLang="zh-CN" sz="2500" b="1">
                <a:latin typeface="Garamond" panose="02020404030301010803" pitchFamily="18" charset="0"/>
                <a:sym typeface="Symbol" panose="05050102010706020507" pitchFamily="18" charset="2"/>
              </a:rPr>
              <a:t>n</a:t>
            </a:r>
            <a:r>
              <a:rPr lang="zh-CN" altLang="en-US" sz="2500" b="1">
                <a:latin typeface="Garamond" panose="02020404030301010803" pitchFamily="18" charset="0"/>
                <a:sym typeface="Symbol" panose="05050102010706020507" pitchFamily="18" charset="2"/>
              </a:rPr>
              <a:t>区是纯扩散运动</a:t>
            </a:r>
            <a:endParaRPr lang="zh-CN" altLang="en-US" sz="2500" b="1">
              <a:latin typeface="Garamond" panose="02020404030301010803" pitchFamily="18" charset="0"/>
              <a:sym typeface="Symbol" panose="05050102010706020507" pitchFamily="18" charset="2"/>
            </a:endParaRPr>
          </a:p>
          <a:p>
            <a:pPr eaLnBrk="1" hangingPunct="1">
              <a:lnSpc>
                <a:spcPct val="130000"/>
              </a:lnSpc>
              <a:buFont typeface="Symbol" panose="05050102010706020507" pitchFamily="18" charset="2"/>
              <a:buNone/>
            </a:pPr>
            <a:r>
              <a:rPr lang="zh-CN" altLang="en-US" sz="2500" b="1">
                <a:latin typeface="Garamond" panose="02020404030301010803" pitchFamily="18" charset="0"/>
                <a:sym typeface="Symbol" panose="05050102010706020507" pitchFamily="18" charset="2"/>
              </a:rPr>
              <a:t>通过耗尽层的电子和空穴电流为常量</a:t>
            </a:r>
            <a:endParaRPr lang="zh-CN" altLang="en-US" sz="2500" b="1">
              <a:latin typeface="Garamond" panose="02020404030301010803" pitchFamily="18" charset="0"/>
              <a:sym typeface="Symbol" panose="05050102010706020507" pitchFamily="18" charset="2"/>
            </a:endParaRPr>
          </a:p>
          <a:p>
            <a:pPr eaLnBrk="1" hangingPunct="1">
              <a:lnSpc>
                <a:spcPct val="130000"/>
              </a:lnSpc>
              <a:buFont typeface="Symbol" panose="05050102010706020507" pitchFamily="18" charset="2"/>
              <a:buNone/>
            </a:pPr>
            <a:r>
              <a:rPr lang="zh-CN" altLang="en-US" sz="2500" b="1">
                <a:latin typeface="Garamond" panose="02020404030301010803" pitchFamily="18" charset="0"/>
                <a:sym typeface="Symbol" panose="05050102010706020507" pitchFamily="18" charset="2"/>
              </a:rPr>
              <a:t>       －不考虑耗尽层中载流子的产生和复合作用</a:t>
            </a:r>
            <a:endParaRPr lang="zh-CN" altLang="en-US" sz="2500" b="1">
              <a:latin typeface="Garamond" panose="02020404030301010803" pitchFamily="18" charset="0"/>
              <a:sym typeface="Symbol" panose="05050102010706020507" pitchFamily="18" charset="2"/>
            </a:endParaRPr>
          </a:p>
          <a:p>
            <a:pPr eaLnBrk="1" hangingPunct="1">
              <a:lnSpc>
                <a:spcPct val="130000"/>
              </a:lnSpc>
              <a:buFont typeface="Symbol" panose="05050102010706020507" pitchFamily="18" charset="2"/>
              <a:buNone/>
            </a:pPr>
            <a:r>
              <a:rPr lang="zh-CN" altLang="en-US" sz="2500" b="1">
                <a:latin typeface="Garamond" panose="02020404030301010803" pitchFamily="18" charset="0"/>
                <a:sym typeface="Symbol" panose="05050102010706020507" pitchFamily="18" charset="2"/>
              </a:rPr>
              <a:t>玻耳兹曼边界条件</a:t>
            </a:r>
            <a:endParaRPr lang="zh-CN" altLang="en-US" sz="2500" b="1">
              <a:latin typeface="Garamond" panose="02020404030301010803" pitchFamily="18" charset="0"/>
              <a:sym typeface="Symbol" panose="05050102010706020507" pitchFamily="18" charset="2"/>
            </a:endParaRPr>
          </a:p>
          <a:p>
            <a:pPr eaLnBrk="1" hangingPunct="1">
              <a:lnSpc>
                <a:spcPct val="130000"/>
              </a:lnSpc>
              <a:buFont typeface="Symbol" panose="05050102010706020507" pitchFamily="18" charset="2"/>
              <a:buNone/>
            </a:pPr>
            <a:r>
              <a:rPr lang="zh-CN" altLang="en-US" sz="2500" b="1">
                <a:latin typeface="Garamond" panose="02020404030301010803" pitchFamily="18" charset="0"/>
                <a:sym typeface="Symbol" panose="05050102010706020507" pitchFamily="18" charset="2"/>
              </a:rPr>
              <a:t>       －在耗尽层两端，载流子分布满足玻氏分布</a:t>
            </a:r>
            <a:endParaRPr lang="zh-CN" altLang="en-US" sz="2500" b="1">
              <a:latin typeface="Garamond" panose="02020404030301010803" pitchFamily="18" charset="0"/>
              <a:sym typeface="Symbol" panose="05050102010706020507" pitchFamily="18" charset="2"/>
            </a:endParaRPr>
          </a:p>
          <a:p>
            <a:pPr eaLnBrk="1" hangingPunct="1">
              <a:lnSpc>
                <a:spcPct val="130000"/>
              </a:lnSpc>
              <a:buFont typeface="Symbol" panose="05050102010706020507" pitchFamily="18" charset="2"/>
              <a:buNone/>
            </a:pPr>
            <a:r>
              <a:rPr lang="zh-CN" altLang="en-US" sz="2500" b="1">
                <a:latin typeface="Garamond" panose="02020404030301010803" pitchFamily="18" charset="0"/>
                <a:sym typeface="Symbol" panose="05050102010706020507" pitchFamily="18" charset="2"/>
              </a:rPr>
              <a:t>                          </a:t>
            </a:r>
            <a:endParaRPr lang="zh-CN" altLang="en-US" sz="2500" b="1">
              <a:latin typeface="Garamond" panose="02020404030301010803" pitchFamily="18" charset="0"/>
              <a:sym typeface="Symbol" panose="05050102010706020507" pitchFamily="18" charset="2"/>
            </a:endParaRP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5"/>
          <p:cNvSpPr txBox="1">
            <a:spLocks noChangeArrowheads="1"/>
          </p:cNvSpPr>
          <p:nvPr/>
        </p:nvSpPr>
        <p:spPr bwMode="auto">
          <a:xfrm>
            <a:off x="1957388" y="255588"/>
            <a:ext cx="4743450" cy="1262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t>电流电压方程</a:t>
            </a:r>
            <a:endParaRPr lang="en-US" altLang="zh-CN" sz="2800" b="1"/>
          </a:p>
          <a:p>
            <a:pPr eaLnBrk="1" hangingPunct="1"/>
            <a:endParaRPr lang="en-US" altLang="zh-CN" sz="2800" b="1"/>
          </a:p>
          <a:p>
            <a:pPr eaLnBrk="1" hangingPunct="1"/>
            <a:r>
              <a:rPr lang="en-US" altLang="zh-CN" sz="2000" b="1"/>
              <a:t>P</a:t>
            </a:r>
            <a:r>
              <a:rPr lang="zh-CN" altLang="en-US" sz="2000" b="1"/>
              <a:t>区载流子浓度及准费米能级的关系为：</a:t>
            </a:r>
            <a:endParaRPr lang="zh-CN" altLang="en-US" sz="2000" b="1"/>
          </a:p>
        </p:txBody>
      </p:sp>
      <p:pic>
        <p:nvPicPr>
          <p:cNvPr id="12291" name="Picture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151314" y="1541463"/>
            <a:ext cx="3095625" cy="155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292" name="Text Box 7"/>
          <p:cNvSpPr txBox="1">
            <a:spLocks noChangeArrowheads="1"/>
          </p:cNvSpPr>
          <p:nvPr/>
        </p:nvSpPr>
        <p:spPr bwMode="auto">
          <a:xfrm>
            <a:off x="2119314" y="3224214"/>
            <a:ext cx="1577975"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t>相乘后得到</a:t>
            </a:r>
            <a:r>
              <a:rPr lang="zh-CN" altLang="en-US"/>
              <a:t>：</a:t>
            </a:r>
            <a:endParaRPr lang="zh-CN" altLang="en-US"/>
          </a:p>
        </p:txBody>
      </p:sp>
      <p:pic>
        <p:nvPicPr>
          <p:cNvPr id="12293"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95750" y="3036889"/>
            <a:ext cx="3206750" cy="746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294"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19314" y="3819526"/>
            <a:ext cx="6911975" cy="1412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295" name="Picture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8214" y="5661026"/>
            <a:ext cx="5457825" cy="72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296" name="Text Box 11"/>
          <p:cNvSpPr txBox="1">
            <a:spLocks noChangeArrowheads="1"/>
          </p:cNvSpPr>
          <p:nvPr/>
        </p:nvSpPr>
        <p:spPr bwMode="auto">
          <a:xfrm>
            <a:off x="2208214" y="5245100"/>
            <a:ext cx="860425"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t>代入</a:t>
            </a:r>
            <a:r>
              <a:rPr lang="zh-CN" altLang="en-US"/>
              <a:t>：</a:t>
            </a:r>
            <a:endParaRPr lang="zh-CN" altLang="en-US"/>
          </a:p>
        </p:txBody>
      </p:sp>
      <p:graphicFrame>
        <p:nvGraphicFramePr>
          <p:cNvPr id="12297" name="Object 12"/>
          <p:cNvGraphicFramePr>
            <a:graphicFrameLocks noChangeAspect="1"/>
          </p:cNvGraphicFramePr>
          <p:nvPr/>
        </p:nvGraphicFramePr>
        <p:xfrm>
          <a:off x="2927350" y="5141913"/>
          <a:ext cx="1549400" cy="461962"/>
        </p:xfrm>
        <a:graphic>
          <a:graphicData uri="http://schemas.openxmlformats.org/presentationml/2006/ole">
            <mc:AlternateContent xmlns:mc="http://schemas.openxmlformats.org/markup-compatibility/2006">
              <mc:Choice xmlns:v="urn:schemas-microsoft-com:vml" Requires="v">
                <p:oleObj spid="_x0000_s2" name="Equation" r:id="rId5" imgW="914400" imgH="241300" progId="Equation.DSMT4">
                  <p:embed/>
                </p:oleObj>
              </mc:Choice>
              <mc:Fallback>
                <p:oleObj name="Equation" r:id="rId5" imgW="914400" imgH="241300" progId="Equation.DSMT4">
                  <p:embed/>
                  <p:pic>
                    <p:nvPicPr>
                      <p:cNvPr id="0"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27350" y="5141913"/>
                        <a:ext cx="15494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298" name="Object 13"/>
          <p:cNvGraphicFramePr>
            <a:graphicFrameLocks noChangeAspect="1"/>
          </p:cNvGraphicFramePr>
          <p:nvPr/>
        </p:nvGraphicFramePr>
        <p:xfrm>
          <a:off x="4511675" y="5165725"/>
          <a:ext cx="1435100" cy="463550"/>
        </p:xfrm>
        <a:graphic>
          <a:graphicData uri="http://schemas.openxmlformats.org/presentationml/2006/ole">
            <mc:AlternateContent xmlns:mc="http://schemas.openxmlformats.org/markup-compatibility/2006">
              <mc:Choice xmlns:v="urn:schemas-microsoft-com:vml" Requires="v">
                <p:oleObj spid="_x0000_s3" name="Equation" r:id="rId7" imgW="786765" imgH="254000" progId="Equation.DSMT4">
                  <p:embed/>
                </p:oleObj>
              </mc:Choice>
              <mc:Fallback>
                <p:oleObj name="Equation" r:id="rId7" imgW="786765" imgH="254000" progId="Equation.DSMT4">
                  <p:embed/>
                  <p:pic>
                    <p:nvPicPr>
                      <p:cNvPr id="0" name="Object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11675" y="5165725"/>
                        <a:ext cx="1435100"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299" name="Text Box 14"/>
          <p:cNvSpPr txBox="1">
            <a:spLocks noChangeArrowheads="1"/>
          </p:cNvSpPr>
          <p:nvPr/>
        </p:nvSpPr>
        <p:spPr bwMode="auto">
          <a:xfrm>
            <a:off x="5951538" y="5232400"/>
            <a:ext cx="881062"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t>得到</a:t>
            </a:r>
            <a:r>
              <a:rPr lang="zh-CN" altLang="en-US"/>
              <a:t>：</a:t>
            </a:r>
            <a:endParaRPr lang="zh-CN" altLang="en-US"/>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图片 4"/>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774825" y="306070"/>
            <a:ext cx="9234805" cy="5848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Box 1"/>
          <p:cNvSpPr txBox="1">
            <a:spLocks noChangeArrowheads="1"/>
          </p:cNvSpPr>
          <p:nvPr/>
        </p:nvSpPr>
        <p:spPr bwMode="auto">
          <a:xfrm>
            <a:off x="2208213" y="765175"/>
            <a:ext cx="12954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t>解方程得</a:t>
            </a:r>
            <a:r>
              <a:rPr lang="zh-CN" altLang="en-US"/>
              <a:t>：</a:t>
            </a:r>
            <a:endParaRPr lang="zh-CN" altLang="en-US"/>
          </a:p>
        </p:txBody>
      </p:sp>
      <p:pic>
        <p:nvPicPr>
          <p:cNvPr id="14339" name="图片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3359151" y="652464"/>
            <a:ext cx="5400675"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0" name="TextBox 3"/>
          <p:cNvSpPr txBox="1">
            <a:spLocks noChangeArrowheads="1"/>
          </p:cNvSpPr>
          <p:nvPr/>
        </p:nvSpPr>
        <p:spPr bwMode="auto">
          <a:xfrm>
            <a:off x="9048750" y="652463"/>
            <a:ext cx="11509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t>（</a:t>
            </a:r>
            <a:r>
              <a:rPr lang="en-US" altLang="zh-CN"/>
              <a:t>6 - 29</a:t>
            </a:r>
            <a:r>
              <a:rPr lang="zh-CN" altLang="en-US"/>
              <a:t>）</a:t>
            </a:r>
            <a:endParaRPr lang="zh-CN" altLang="en-US"/>
          </a:p>
        </p:txBody>
      </p:sp>
      <p:sp>
        <p:nvSpPr>
          <p:cNvPr id="14341" name="TextBox 4"/>
          <p:cNvSpPr txBox="1">
            <a:spLocks noChangeArrowheads="1"/>
          </p:cNvSpPr>
          <p:nvPr/>
        </p:nvSpPr>
        <p:spPr bwMode="auto">
          <a:xfrm>
            <a:off x="2063751" y="1303339"/>
            <a:ext cx="79914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t>同理，对于注入</a:t>
            </a:r>
            <a:r>
              <a:rPr lang="en-US" altLang="zh-CN" b="1"/>
              <a:t>p</a:t>
            </a:r>
            <a:r>
              <a:rPr lang="zh-CN" altLang="en-US" b="1"/>
              <a:t>区的非平衡少数载流子可以求得</a:t>
            </a:r>
            <a:endParaRPr lang="zh-CN" altLang="en-US" b="1"/>
          </a:p>
        </p:txBody>
      </p:sp>
      <p:pic>
        <p:nvPicPr>
          <p:cNvPr id="14342" name="图片 6"/>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090864" y="1881188"/>
            <a:ext cx="5011737"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3" name="TextBox 7"/>
          <p:cNvSpPr txBox="1">
            <a:spLocks noChangeArrowheads="1"/>
          </p:cNvSpPr>
          <p:nvPr/>
        </p:nvSpPr>
        <p:spPr bwMode="auto">
          <a:xfrm>
            <a:off x="9048751" y="2019300"/>
            <a:ext cx="10080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t>（</a:t>
            </a:r>
            <a:r>
              <a:rPr lang="en-US" altLang="zh-CN"/>
              <a:t>6 - 30</a:t>
            </a:r>
            <a:r>
              <a:rPr lang="zh-CN" altLang="en-US"/>
              <a:t>）</a:t>
            </a:r>
            <a:endParaRPr lang="zh-CN" altLang="en-US"/>
          </a:p>
        </p:txBody>
      </p:sp>
      <p:sp>
        <p:nvSpPr>
          <p:cNvPr id="14344" name="TextBox 8"/>
          <p:cNvSpPr txBox="1">
            <a:spLocks noChangeArrowheads="1"/>
          </p:cNvSpPr>
          <p:nvPr/>
        </p:nvSpPr>
        <p:spPr bwMode="auto">
          <a:xfrm>
            <a:off x="6165850" y="2735580"/>
            <a:ext cx="4869815" cy="29997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zh-CN" altLang="en-US" b="1"/>
              <a:t>（</a:t>
            </a:r>
            <a:r>
              <a:rPr lang="en-US" altLang="zh-CN" b="1"/>
              <a:t>6 - 29</a:t>
            </a:r>
            <a:r>
              <a:rPr lang="zh-CN" altLang="en-US" b="1"/>
              <a:t>） 与（</a:t>
            </a:r>
            <a:r>
              <a:rPr lang="en-US" altLang="zh-CN" b="1"/>
              <a:t>6 – 30</a:t>
            </a:r>
            <a:r>
              <a:rPr lang="zh-CN" altLang="en-US" b="1"/>
              <a:t>）式表示，当</a:t>
            </a:r>
            <a:r>
              <a:rPr lang="en-US" altLang="zh-CN" b="1"/>
              <a:t>pn</a:t>
            </a:r>
            <a:r>
              <a:rPr lang="zh-CN" altLang="en-US" b="1"/>
              <a:t>结有外加电压时，非平衡载流子在扩散区中的分布。</a:t>
            </a:r>
            <a:endParaRPr lang="en-US" altLang="zh-CN" b="1"/>
          </a:p>
          <a:p>
            <a:pPr eaLnBrk="1" hangingPunct="1">
              <a:lnSpc>
                <a:spcPct val="150000"/>
              </a:lnSpc>
            </a:pPr>
            <a:r>
              <a:rPr lang="zh-CN" altLang="en-US" b="1"/>
              <a:t>在外加正向偏压下，当</a:t>
            </a:r>
            <a:r>
              <a:rPr lang="en-US" altLang="zh-CN" b="1"/>
              <a:t>V</a:t>
            </a:r>
            <a:r>
              <a:rPr lang="zh-CN" altLang="en-US" b="1"/>
              <a:t>一定时，在势垒区边界处非平衡载流子浓度一定，对稳定区形成了稳定的边界浓度，是一稳定边界浓度的一维扩散</a:t>
            </a:r>
            <a:endParaRPr lang="en-US" altLang="zh-CN" b="1"/>
          </a:p>
          <a:p>
            <a:pPr eaLnBrk="1" hangingPunct="1">
              <a:lnSpc>
                <a:spcPct val="150000"/>
              </a:lnSpc>
            </a:pPr>
            <a:r>
              <a:rPr lang="zh-CN" altLang="en-US" b="1"/>
              <a:t>在扩散区，非平衡载流子按指数规律衰减。</a:t>
            </a:r>
            <a:endParaRPr lang="en-US" altLang="zh-CN" b="1"/>
          </a:p>
        </p:txBody>
      </p:sp>
      <p:pic>
        <p:nvPicPr>
          <p:cNvPr id="14345" name="图片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703388" y="2852738"/>
            <a:ext cx="4356100" cy="318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6" name="TextBox 3"/>
          <p:cNvSpPr txBox="1">
            <a:spLocks noChangeArrowheads="1"/>
          </p:cNvSpPr>
          <p:nvPr/>
        </p:nvSpPr>
        <p:spPr bwMode="auto">
          <a:xfrm>
            <a:off x="2063750" y="6165850"/>
            <a:ext cx="367188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t>（</a:t>
            </a:r>
            <a:r>
              <a:rPr lang="en-US" altLang="zh-CN" sz="1600" b="1"/>
              <a:t>a)</a:t>
            </a:r>
            <a:r>
              <a:rPr lang="zh-CN" altLang="en-US" sz="1600" b="1"/>
              <a:t>正向偏压下非平衡少子的分布</a:t>
            </a:r>
            <a:endParaRPr lang="zh-CN" altLang="en-US" sz="1600" b="1"/>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图片 3"/>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774825" y="765175"/>
            <a:ext cx="4033838" cy="3240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3" name="TextBox 4"/>
          <p:cNvSpPr txBox="1">
            <a:spLocks noChangeArrowheads="1"/>
          </p:cNvSpPr>
          <p:nvPr/>
        </p:nvSpPr>
        <p:spPr bwMode="auto">
          <a:xfrm>
            <a:off x="5664201" y="981075"/>
            <a:ext cx="4392613" cy="3138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zh-CN" altLang="en-US" b="1"/>
              <a:t>在外加反向偏压下，如果</a:t>
            </a:r>
            <a:r>
              <a:rPr lang="en-US" altLang="zh-CN" b="1"/>
              <a:t>q|V|»</a:t>
            </a:r>
            <a:r>
              <a:rPr lang="zh-CN" altLang="en-US" b="1"/>
              <a:t>则                     ，对于</a:t>
            </a:r>
            <a:r>
              <a:rPr lang="en-US" altLang="zh-CN" b="1"/>
              <a:t>n</a:t>
            </a:r>
            <a:r>
              <a:rPr lang="zh-CN" altLang="en-US" b="1"/>
              <a:t>区来说，</a:t>
            </a:r>
            <a:endParaRPr lang="en-US" altLang="zh-CN" b="1"/>
          </a:p>
          <a:p>
            <a:pPr eaLnBrk="1" hangingPunct="1"/>
            <a:endParaRPr lang="en-US" altLang="zh-CN" b="1"/>
          </a:p>
          <a:p>
            <a:pPr eaLnBrk="1" hangingPunct="1"/>
            <a:endParaRPr lang="en-US" altLang="zh-CN" b="1"/>
          </a:p>
          <a:p>
            <a:pPr eaLnBrk="1" hangingPunct="1"/>
            <a:endParaRPr lang="en-US" altLang="zh-CN" b="1"/>
          </a:p>
          <a:p>
            <a:pPr eaLnBrk="1" hangingPunct="1"/>
            <a:endParaRPr lang="en-US" altLang="zh-CN" b="1"/>
          </a:p>
          <a:p>
            <a:pPr eaLnBrk="1" hangingPunct="1"/>
            <a:endParaRPr lang="en-US" altLang="zh-CN" b="1"/>
          </a:p>
          <a:p>
            <a:pPr eaLnBrk="1" hangingPunct="1"/>
            <a:r>
              <a:rPr lang="zh-CN" altLang="en-US" b="1"/>
              <a:t>在</a:t>
            </a:r>
            <a:r>
              <a:rPr lang="en-US" altLang="zh-CN" b="1"/>
              <a:t>n</a:t>
            </a:r>
            <a:r>
              <a:rPr lang="zh-CN" altLang="en-US" b="1"/>
              <a:t>区内部，即</a:t>
            </a:r>
            <a:endParaRPr lang="en-US" altLang="zh-CN" b="1"/>
          </a:p>
          <a:p>
            <a:pPr eaLnBrk="1" hangingPunct="1"/>
            <a:endParaRPr lang="en-US" altLang="zh-CN" b="1"/>
          </a:p>
          <a:p>
            <a:pPr eaLnBrk="1" hangingPunct="1"/>
            <a:r>
              <a:rPr lang="zh-CN" altLang="en-US" b="1"/>
              <a:t>则</a:t>
            </a:r>
            <a:endParaRPr lang="zh-CN" altLang="en-US" b="1"/>
          </a:p>
        </p:txBody>
      </p:sp>
      <p:graphicFrame>
        <p:nvGraphicFramePr>
          <p:cNvPr id="15364" name="对象 5"/>
          <p:cNvGraphicFramePr>
            <a:graphicFrameLocks noChangeAspect="1"/>
          </p:cNvGraphicFramePr>
          <p:nvPr/>
        </p:nvGraphicFramePr>
        <p:xfrm>
          <a:off x="8904289" y="1062039"/>
          <a:ext cx="363537" cy="407987"/>
        </p:xfrm>
        <a:graphic>
          <a:graphicData uri="http://schemas.openxmlformats.org/presentationml/2006/ole">
            <mc:AlternateContent xmlns:mc="http://schemas.openxmlformats.org/markup-compatibility/2006">
              <mc:Choice xmlns:v="urn:schemas-microsoft-com:vml" Requires="v">
                <p:oleObj spid="_x0000_s13332" name="Equation" r:id="rId2" imgW="266700" imgH="228600" progId="Equation.DSMT4">
                  <p:embed/>
                </p:oleObj>
              </mc:Choice>
              <mc:Fallback>
                <p:oleObj name="Equation" r:id="rId2" imgW="266700" imgH="228600" progId="Equation.DSMT4">
                  <p:embed/>
                  <p:pic>
                    <p:nvPicPr>
                      <p:cNvPr id="0" name="对象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04289" y="1062039"/>
                        <a:ext cx="363537" cy="407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365" name="对象 6"/>
          <p:cNvGraphicFramePr>
            <a:graphicFrameLocks noChangeAspect="1"/>
          </p:cNvGraphicFramePr>
          <p:nvPr/>
        </p:nvGraphicFramePr>
        <p:xfrm>
          <a:off x="5951538" y="1341439"/>
          <a:ext cx="1439862" cy="688975"/>
        </p:xfrm>
        <a:graphic>
          <a:graphicData uri="http://schemas.openxmlformats.org/presentationml/2006/ole">
            <mc:AlternateContent xmlns:mc="http://schemas.openxmlformats.org/markup-compatibility/2006">
              <mc:Choice xmlns:v="urn:schemas-microsoft-com:vml" Requires="v">
                <p:oleObj spid="_x0000_s13333" name="Equation" r:id="rId4" imgW="901065" imgH="431800" progId="Equation.DSMT4">
                  <p:embed/>
                </p:oleObj>
              </mc:Choice>
              <mc:Fallback>
                <p:oleObj name="Equation" r:id="rId4" imgW="901065" imgH="431800" progId="Equation.DSMT4">
                  <p:embed/>
                  <p:pic>
                    <p:nvPicPr>
                      <p:cNvPr id="0" name="对象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51538" y="1341439"/>
                        <a:ext cx="1439862" cy="68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366" name="对象 7"/>
          <p:cNvGraphicFramePr>
            <a:graphicFrameLocks noChangeAspect="1"/>
          </p:cNvGraphicFramePr>
          <p:nvPr/>
        </p:nvGraphicFramePr>
        <p:xfrm>
          <a:off x="5664201" y="1681163"/>
          <a:ext cx="4348163" cy="855662"/>
        </p:xfrm>
        <a:graphic>
          <a:graphicData uri="http://schemas.openxmlformats.org/presentationml/2006/ole">
            <mc:AlternateContent xmlns:mc="http://schemas.openxmlformats.org/markup-compatibility/2006">
              <mc:Choice xmlns:v="urn:schemas-microsoft-com:vml" Requires="v">
                <p:oleObj spid="_x0000_s13334" name="Equation" r:id="rId6" imgW="2578100" imgH="508000" progId="Equation.DSMT4">
                  <p:embed/>
                </p:oleObj>
              </mc:Choice>
              <mc:Fallback>
                <p:oleObj name="Equation" r:id="rId6" imgW="2578100" imgH="508000" progId="Equation.DSMT4">
                  <p:embed/>
                  <p:pic>
                    <p:nvPicPr>
                      <p:cNvPr id="0" name="对象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664201" y="1681163"/>
                        <a:ext cx="4348163" cy="855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367" name="对象 8"/>
          <p:cNvGraphicFramePr>
            <a:graphicFrameLocks noChangeAspect="1"/>
          </p:cNvGraphicFramePr>
          <p:nvPr/>
        </p:nvGraphicFramePr>
        <p:xfrm>
          <a:off x="5686426" y="2536826"/>
          <a:ext cx="4265613" cy="409575"/>
        </p:xfrm>
        <a:graphic>
          <a:graphicData uri="http://schemas.openxmlformats.org/presentationml/2006/ole">
            <mc:AlternateContent xmlns:mc="http://schemas.openxmlformats.org/markup-compatibility/2006">
              <mc:Choice xmlns:v="urn:schemas-microsoft-com:vml" Requires="v">
                <p:oleObj spid="_x0000_s13335" name="Equation" r:id="rId8" imgW="2387600" imgH="228600" progId="Equation.DSMT4">
                  <p:embed/>
                </p:oleObj>
              </mc:Choice>
              <mc:Fallback>
                <p:oleObj name="Equation" r:id="rId8" imgW="2387600" imgH="228600" progId="Equation.DSMT4">
                  <p:embed/>
                  <p:pic>
                    <p:nvPicPr>
                      <p:cNvPr id="0" name="对象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686426" y="2536826"/>
                        <a:ext cx="4265613"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368" name="对象 9"/>
          <p:cNvGraphicFramePr>
            <a:graphicFrameLocks noChangeAspect="1"/>
          </p:cNvGraphicFramePr>
          <p:nvPr/>
        </p:nvGraphicFramePr>
        <p:xfrm>
          <a:off x="7319963" y="2997201"/>
          <a:ext cx="2927350" cy="747713"/>
        </p:xfrm>
        <a:graphic>
          <a:graphicData uri="http://schemas.openxmlformats.org/presentationml/2006/ole">
            <mc:AlternateContent xmlns:mc="http://schemas.openxmlformats.org/markup-compatibility/2006">
              <mc:Choice xmlns:v="urn:schemas-microsoft-com:vml" Requires="v">
                <p:oleObj spid="_x0000_s13336" name="Equation" r:id="rId10" imgW="1739900" imgH="444500" progId="Equation.DSMT4">
                  <p:embed/>
                </p:oleObj>
              </mc:Choice>
              <mc:Fallback>
                <p:oleObj name="Equation" r:id="rId10" imgW="1739900" imgH="444500" progId="Equation.DSMT4">
                  <p:embed/>
                  <p:pic>
                    <p:nvPicPr>
                      <p:cNvPr id="0" name="对象 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319963" y="2997201"/>
                        <a:ext cx="2927350" cy="747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369" name="对象 10"/>
          <p:cNvGraphicFramePr>
            <a:graphicFrameLocks noChangeAspect="1"/>
          </p:cNvGraphicFramePr>
          <p:nvPr/>
        </p:nvGraphicFramePr>
        <p:xfrm>
          <a:off x="6167439" y="3708401"/>
          <a:ext cx="1362075" cy="384175"/>
        </p:xfrm>
        <a:graphic>
          <a:graphicData uri="http://schemas.openxmlformats.org/presentationml/2006/ole">
            <mc:AlternateContent xmlns:mc="http://schemas.openxmlformats.org/markup-compatibility/2006">
              <mc:Choice xmlns:v="urn:schemas-microsoft-com:vml" Requires="v">
                <p:oleObj spid="_x0000_s13337" name="Equation" r:id="rId12" imgW="812165" imgH="228600" progId="Equation.DSMT4">
                  <p:embed/>
                </p:oleObj>
              </mc:Choice>
              <mc:Fallback>
                <p:oleObj name="Equation" r:id="rId12" imgW="812165" imgH="228600" progId="Equation.DSMT4">
                  <p:embed/>
                  <p:pic>
                    <p:nvPicPr>
                      <p:cNvPr id="0" name="对象 1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167439" y="3708401"/>
                        <a:ext cx="1362075"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370" name="TextBox 12"/>
          <p:cNvSpPr txBox="1">
            <a:spLocks noChangeArrowheads="1"/>
          </p:cNvSpPr>
          <p:nvPr/>
        </p:nvSpPr>
        <p:spPr bwMode="auto">
          <a:xfrm>
            <a:off x="2081213" y="4005263"/>
            <a:ext cx="3384550"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t>（</a:t>
            </a:r>
            <a:r>
              <a:rPr lang="en-US" altLang="zh-CN" sz="1600" b="1"/>
              <a:t>a)</a:t>
            </a:r>
            <a:r>
              <a:rPr lang="zh-CN" altLang="en-US" sz="1600" b="1"/>
              <a:t>反向偏压下非平衡少子的分布</a:t>
            </a:r>
            <a:endParaRPr lang="zh-CN" altLang="en-US" sz="1600" b="1"/>
          </a:p>
          <a:p>
            <a:pPr eaLnBrk="1" hangingPunct="1"/>
            <a:endParaRPr lang="zh-CN" altLang="en-US"/>
          </a:p>
        </p:txBody>
      </p:sp>
      <p:pic>
        <p:nvPicPr>
          <p:cNvPr id="15371" name="图片 13"/>
          <p:cNvPicPr>
            <a:picLocks noChangeAspect="1"/>
          </p:cNvPicPr>
          <p:nvPr/>
        </p:nvPicPr>
        <p:blipFill>
          <a:blip r:embed="rId14">
            <a:extLst>
              <a:ext uri="{28A0092B-C50C-407E-A947-70E740481C1C}">
                <a14:useLocalDpi xmlns:a14="http://schemas.microsoft.com/office/drawing/2010/main" val="0"/>
              </a:ext>
            </a:extLst>
          </a:blip>
          <a:srcRect/>
          <a:stretch>
            <a:fillRect/>
          </a:stretch>
        </p:blipFill>
        <p:spPr bwMode="auto">
          <a:xfrm>
            <a:off x="1774826" y="4437063"/>
            <a:ext cx="8715375" cy="221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774825" y="659130"/>
            <a:ext cx="9482455" cy="4843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410" name="对象 1"/>
          <p:cNvGraphicFramePr>
            <a:graphicFrameLocks noChangeAspect="1"/>
          </p:cNvGraphicFramePr>
          <p:nvPr/>
        </p:nvGraphicFramePr>
        <p:xfrm>
          <a:off x="2092325" y="2486026"/>
          <a:ext cx="3036888" cy="1057275"/>
        </p:xfrm>
        <a:graphic>
          <a:graphicData uri="http://schemas.openxmlformats.org/presentationml/2006/ole">
            <mc:AlternateContent xmlns:mc="http://schemas.openxmlformats.org/markup-compatibility/2006">
              <mc:Choice xmlns:v="urn:schemas-microsoft-com:vml" Requires="v">
                <p:oleObj spid="_x0000_s14362" name="Equation" r:id="rId1" imgW="1143000" imgH="508000" progId="Equation.DSMT4">
                  <p:embed/>
                </p:oleObj>
              </mc:Choice>
              <mc:Fallback>
                <p:oleObj name="Equation" r:id="rId1" imgW="1143000" imgH="508000" progId="Equation.DSMT4">
                  <p:embed/>
                  <p:pic>
                    <p:nvPicPr>
                      <p:cNvPr id="0" name="对象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92325" y="2486026"/>
                        <a:ext cx="3036888" cy="105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411" name="矩形 2"/>
          <p:cNvSpPr>
            <a:spLocks noChangeArrowheads="1"/>
          </p:cNvSpPr>
          <p:nvPr/>
        </p:nvSpPr>
        <p:spPr bwMode="auto">
          <a:xfrm>
            <a:off x="2165351" y="595313"/>
            <a:ext cx="30527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a:t>Pn</a:t>
            </a:r>
            <a:r>
              <a:rPr lang="zh-CN" altLang="en-US" sz="2400" b="1"/>
              <a:t>结具有单向导电性</a:t>
            </a:r>
            <a:endParaRPr lang="zh-CN" altLang="en-US" sz="2400" b="1"/>
          </a:p>
        </p:txBody>
      </p:sp>
      <p:sp>
        <p:nvSpPr>
          <p:cNvPr id="17412" name="TextBox 3"/>
          <p:cNvSpPr txBox="1">
            <a:spLocks noChangeArrowheads="1"/>
          </p:cNvSpPr>
          <p:nvPr/>
        </p:nvSpPr>
        <p:spPr bwMode="auto">
          <a:xfrm>
            <a:off x="2008188" y="1146175"/>
            <a:ext cx="4159250" cy="12850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zh-CN" altLang="en-US" b="1"/>
              <a:t>正向偏压下正向电流密度随正向偏压指数关系增大，一般外加正向偏压约零点几伏故</a:t>
            </a:r>
            <a:endParaRPr lang="zh-CN" altLang="en-US" b="1"/>
          </a:p>
        </p:txBody>
      </p:sp>
      <p:sp>
        <p:nvSpPr>
          <p:cNvPr id="17413" name="TextBox 4"/>
          <p:cNvSpPr txBox="1">
            <a:spLocks noChangeArrowheads="1"/>
          </p:cNvSpPr>
          <p:nvPr/>
        </p:nvSpPr>
        <p:spPr bwMode="auto">
          <a:xfrm>
            <a:off x="1941514" y="3548064"/>
            <a:ext cx="3500437" cy="922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t>反向偏压下，</a:t>
            </a:r>
            <a:r>
              <a:rPr lang="en-US" altLang="zh-CN" b="1"/>
              <a:t>V&lt;0,</a:t>
            </a:r>
            <a:r>
              <a:rPr lang="zh-CN" altLang="en-US" b="1"/>
              <a:t>当</a:t>
            </a:r>
            <a:r>
              <a:rPr lang="en-US" altLang="zh-CN" b="1"/>
              <a:t>q|V|&gt;&gt;         </a:t>
            </a:r>
            <a:endParaRPr lang="en-US" altLang="zh-CN" b="1"/>
          </a:p>
          <a:p>
            <a:pPr eaLnBrk="1" hangingPunct="1"/>
            <a:endParaRPr lang="en-US" altLang="zh-CN" b="1"/>
          </a:p>
          <a:p>
            <a:pPr eaLnBrk="1" hangingPunct="1"/>
            <a:r>
              <a:rPr lang="zh-CN" altLang="en-US" b="1"/>
              <a:t>时</a:t>
            </a:r>
            <a:endParaRPr lang="zh-CN" altLang="en-US" b="1"/>
          </a:p>
        </p:txBody>
      </p:sp>
      <p:graphicFrame>
        <p:nvGraphicFramePr>
          <p:cNvPr id="17414" name="对象 5"/>
          <p:cNvGraphicFramePr>
            <a:graphicFrameLocks noChangeAspect="1"/>
          </p:cNvGraphicFramePr>
          <p:nvPr/>
        </p:nvGraphicFramePr>
        <p:xfrm>
          <a:off x="1766889" y="4468813"/>
          <a:ext cx="3849687" cy="1009650"/>
        </p:xfrm>
        <a:graphic>
          <a:graphicData uri="http://schemas.openxmlformats.org/presentationml/2006/ole">
            <mc:AlternateContent xmlns:mc="http://schemas.openxmlformats.org/markup-compatibility/2006">
              <mc:Choice xmlns:v="urn:schemas-microsoft-com:vml" Requires="v">
                <p:oleObj spid="_x0000_s14363" name="Equation" r:id="rId3" imgW="2057400" imgH="508000" progId="Equation.DSMT4">
                  <p:embed/>
                </p:oleObj>
              </mc:Choice>
              <mc:Fallback>
                <p:oleObj name="Equation" r:id="rId3" imgW="2057400" imgH="508000" progId="Equation.DSMT4">
                  <p:embed/>
                  <p:pic>
                    <p:nvPicPr>
                      <p:cNvPr id="0" name="对象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6889" y="4468813"/>
                        <a:ext cx="3849687"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TextBox 7"/>
          <p:cNvSpPr txBox="1">
            <a:spLocks noRot="1" noChangeAspect="1" noMove="1" noResize="1" noEditPoints="1" noAdjustHandles="1" noChangeArrowheads="1" noChangeShapeType="1" noTextEdit="1"/>
          </p:cNvSpPr>
          <p:nvPr/>
        </p:nvSpPr>
        <p:spPr>
          <a:xfrm>
            <a:off x="1703512" y="5276801"/>
            <a:ext cx="4464496" cy="1379545"/>
          </a:xfrm>
          <a:prstGeom prst="rect">
            <a:avLst/>
          </a:prstGeom>
          <a:blipFill rotWithShape="1">
            <a:blip r:embed="rId5"/>
            <a:stretch>
              <a:fillRect l="-1091" r="-3138"/>
            </a:stretch>
          </a:blipFill>
        </p:spPr>
        <p:txBody>
          <a:bodyPr/>
          <a:lstStyle/>
          <a:p>
            <a:r>
              <a:rPr lang="zh-CN" altLang="en-US">
                <a:noFill/>
              </a:rPr>
              <a:t> </a:t>
            </a:r>
            <a:endParaRPr lang="zh-CN" altLang="en-US">
              <a:noFill/>
            </a:endParaRPr>
          </a:p>
        </p:txBody>
      </p:sp>
      <p:pic>
        <p:nvPicPr>
          <p:cNvPr id="17416"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35789" y="1800226"/>
            <a:ext cx="2828925" cy="2390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417" name="TextBox 8"/>
          <p:cNvSpPr txBox="1">
            <a:spLocks noChangeArrowheads="1"/>
          </p:cNvSpPr>
          <p:nvPr/>
        </p:nvSpPr>
        <p:spPr bwMode="auto">
          <a:xfrm>
            <a:off x="7026275" y="4468813"/>
            <a:ext cx="2978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t>图</a:t>
            </a:r>
            <a:r>
              <a:rPr lang="en-US" altLang="zh-CN" b="1"/>
              <a:t>6-16 </a:t>
            </a:r>
            <a:r>
              <a:rPr lang="zh-CN" altLang="en-US" b="1"/>
              <a:t>理想</a:t>
            </a:r>
            <a:r>
              <a:rPr lang="en-US" altLang="zh-CN" b="1"/>
              <a:t>pn</a:t>
            </a:r>
            <a:r>
              <a:rPr lang="zh-CN" altLang="en-US" b="1"/>
              <a:t>结的</a:t>
            </a:r>
            <a:r>
              <a:rPr lang="en-US" altLang="zh-CN" b="1"/>
              <a:t>J-V</a:t>
            </a:r>
            <a:r>
              <a:rPr lang="zh-CN" altLang="en-US" b="1"/>
              <a:t>曲线</a:t>
            </a:r>
            <a:endParaRPr lang="zh-CN" altLang="en-US" b="1"/>
          </a:p>
        </p:txBody>
      </p:sp>
      <p:sp>
        <p:nvSpPr>
          <p:cNvPr id="17418" name="TextBox 9"/>
          <p:cNvSpPr txBox="1">
            <a:spLocks noChangeArrowheads="1"/>
          </p:cNvSpPr>
          <p:nvPr/>
        </p:nvSpPr>
        <p:spPr bwMode="auto">
          <a:xfrm>
            <a:off x="6970713" y="5084763"/>
            <a:ext cx="3097212" cy="12850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zh-CN" altLang="en-US" b="1"/>
              <a:t>可见在正向及反向偏压下，曲线是不对称，表现出</a:t>
            </a:r>
            <a:r>
              <a:rPr lang="en-US" altLang="zh-CN" b="1"/>
              <a:t>pn</a:t>
            </a:r>
            <a:r>
              <a:rPr lang="zh-CN" altLang="en-US" b="1"/>
              <a:t>结具有单向导电性或整流效应</a:t>
            </a:r>
            <a:endParaRPr lang="zh-CN" altLang="en-US" b="1"/>
          </a:p>
        </p:txBody>
      </p:sp>
      <p:graphicFrame>
        <p:nvGraphicFramePr>
          <p:cNvPr id="17419" name="对象 6"/>
          <p:cNvGraphicFramePr>
            <a:graphicFrameLocks noChangeAspect="1"/>
          </p:cNvGraphicFramePr>
          <p:nvPr/>
        </p:nvGraphicFramePr>
        <p:xfrm>
          <a:off x="2841625" y="1916114"/>
          <a:ext cx="2101850" cy="720725"/>
        </p:xfrm>
        <a:graphic>
          <a:graphicData uri="http://schemas.openxmlformats.org/presentationml/2006/ole">
            <mc:AlternateContent xmlns:mc="http://schemas.openxmlformats.org/markup-compatibility/2006">
              <mc:Choice xmlns:v="urn:schemas-microsoft-com:vml" Requires="v">
                <p:oleObj spid="_x0000_s14364" name="Equation" r:id="rId7" imgW="1016000" imgH="508000" progId="Equation.DSMT4">
                  <p:embed/>
                </p:oleObj>
              </mc:Choice>
              <mc:Fallback>
                <p:oleObj name="Equation" r:id="rId7" imgW="1016000" imgH="508000" progId="Equation.DSMT4">
                  <p:embed/>
                  <p:pic>
                    <p:nvPicPr>
                      <p:cNvPr id="0" name="对象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41625" y="1916114"/>
                        <a:ext cx="2101850"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420" name="对象 10"/>
          <p:cNvGraphicFramePr>
            <a:graphicFrameLocks noChangeAspect="1"/>
          </p:cNvGraphicFramePr>
          <p:nvPr/>
        </p:nvGraphicFramePr>
        <p:xfrm>
          <a:off x="4872039" y="3548064"/>
          <a:ext cx="490537" cy="420687"/>
        </p:xfrm>
        <a:graphic>
          <a:graphicData uri="http://schemas.openxmlformats.org/presentationml/2006/ole">
            <mc:AlternateContent xmlns:mc="http://schemas.openxmlformats.org/markup-compatibility/2006">
              <mc:Choice xmlns:v="urn:schemas-microsoft-com:vml" Requires="v">
                <p:oleObj spid="_x0000_s14365" name="Equation" r:id="rId9" imgW="266700" imgH="228600" progId="Equation.DSMT4">
                  <p:embed/>
                </p:oleObj>
              </mc:Choice>
              <mc:Fallback>
                <p:oleObj name="Equation" r:id="rId9" imgW="266700" imgH="228600" progId="Equation.DSMT4">
                  <p:embed/>
                  <p:pic>
                    <p:nvPicPr>
                      <p:cNvPr id="0" name="对象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872039" y="3548064"/>
                        <a:ext cx="490537" cy="42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421" name="对象 11"/>
          <p:cNvGraphicFramePr>
            <a:graphicFrameLocks noChangeAspect="1"/>
          </p:cNvGraphicFramePr>
          <p:nvPr/>
        </p:nvGraphicFramePr>
        <p:xfrm>
          <a:off x="6038850" y="3340100"/>
          <a:ext cx="114300" cy="177800"/>
        </p:xfrm>
        <a:graphic>
          <a:graphicData uri="http://schemas.openxmlformats.org/presentationml/2006/ole">
            <mc:AlternateContent xmlns:mc="http://schemas.openxmlformats.org/markup-compatibility/2006">
              <mc:Choice xmlns:v="urn:schemas-microsoft-com:vml" Requires="v">
                <p:oleObj spid="_x0000_s14366" name="Equation" r:id="rId11" imgW="114300" imgH="177800" progId="Equation.DSMT4">
                  <p:embed/>
                </p:oleObj>
              </mc:Choice>
              <mc:Fallback>
                <p:oleObj name="Equation" r:id="rId11" imgW="114300" imgH="177800" progId="Equation.DSMT4">
                  <p:embed/>
                  <p:pic>
                    <p:nvPicPr>
                      <p:cNvPr id="0" name="对象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038850" y="3340100"/>
                        <a:ext cx="114300" cy="17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422" name="对象 12"/>
          <p:cNvGraphicFramePr>
            <a:graphicFrameLocks noChangeAspect="1"/>
          </p:cNvGraphicFramePr>
          <p:nvPr/>
        </p:nvGraphicFramePr>
        <p:xfrm>
          <a:off x="2255839" y="3910013"/>
          <a:ext cx="1831975" cy="742950"/>
        </p:xfrm>
        <a:graphic>
          <a:graphicData uri="http://schemas.openxmlformats.org/presentationml/2006/ole">
            <mc:AlternateContent xmlns:mc="http://schemas.openxmlformats.org/markup-compatibility/2006">
              <mc:Choice xmlns:v="urn:schemas-microsoft-com:vml" Requires="v">
                <p:oleObj spid="_x0000_s14367" name="Equation" r:id="rId13" imgW="1028700" imgH="508000" progId="Equation.DSMT4">
                  <p:embed/>
                </p:oleObj>
              </mc:Choice>
              <mc:Fallback>
                <p:oleObj name="Equation" r:id="rId13" imgW="1028700" imgH="508000" progId="Equation.DSMT4">
                  <p:embed/>
                  <p:pic>
                    <p:nvPicPr>
                      <p:cNvPr id="0" name="对象 1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255839" y="3910013"/>
                        <a:ext cx="1831975"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423" name="对象 13"/>
          <p:cNvGraphicFramePr>
            <a:graphicFrameLocks noChangeAspect="1"/>
          </p:cNvGraphicFramePr>
          <p:nvPr/>
        </p:nvGraphicFramePr>
        <p:xfrm>
          <a:off x="5808663" y="241300"/>
          <a:ext cx="1943100" cy="1169988"/>
        </p:xfrm>
        <a:graphic>
          <a:graphicData uri="http://schemas.openxmlformats.org/presentationml/2006/ole">
            <mc:AlternateContent xmlns:mc="http://schemas.openxmlformats.org/markup-compatibility/2006">
              <mc:Choice xmlns:v="urn:schemas-microsoft-com:vml" Requires="v">
                <p:oleObj spid="_x0000_s14368" name="Equation" r:id="rId15" imgW="1016000" imgH="533400" progId="Equation.DSMT4">
                  <p:embed/>
                </p:oleObj>
              </mc:Choice>
              <mc:Fallback>
                <p:oleObj name="Equation" r:id="rId15" imgW="1016000" imgH="533400" progId="Equation.DSMT4">
                  <p:embed/>
                  <p:pic>
                    <p:nvPicPr>
                      <p:cNvPr id="0" name="对象 1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808663" y="241300"/>
                        <a:ext cx="1943100" cy="1169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424" name="对象 14"/>
          <p:cNvGraphicFramePr>
            <a:graphicFrameLocks noChangeAspect="1"/>
          </p:cNvGraphicFramePr>
          <p:nvPr/>
        </p:nvGraphicFramePr>
        <p:xfrm>
          <a:off x="8039100" y="328613"/>
          <a:ext cx="2628900" cy="995362"/>
        </p:xfrm>
        <a:graphic>
          <a:graphicData uri="http://schemas.openxmlformats.org/presentationml/2006/ole">
            <mc:AlternateContent xmlns:mc="http://schemas.openxmlformats.org/markup-compatibility/2006">
              <mc:Choice xmlns:v="urn:schemas-microsoft-com:vml" Requires="v">
                <p:oleObj spid="_x0000_s14369" name="Equation" r:id="rId17" imgW="1435100" imgH="469900" progId="Equation.DSMT4">
                  <p:embed/>
                </p:oleObj>
              </mc:Choice>
              <mc:Fallback>
                <p:oleObj name="Equation" r:id="rId17" imgW="1435100" imgH="469900" progId="Equation.DSMT4">
                  <p:embed/>
                  <p:pic>
                    <p:nvPicPr>
                      <p:cNvPr id="0" name="对象 14"/>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8039100" y="328613"/>
                        <a:ext cx="2628900" cy="995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2"/>
          <p:cNvSpPr txBox="1">
            <a:spLocks noChangeArrowheads="1"/>
          </p:cNvSpPr>
          <p:nvPr/>
        </p:nvSpPr>
        <p:spPr bwMode="auto">
          <a:xfrm>
            <a:off x="1824038" y="836613"/>
            <a:ext cx="884396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3200" b="1">
                <a:latin typeface="Garamond" panose="02020404030301010803" pitchFamily="18" charset="0"/>
              </a:rPr>
              <a:t>6.2.3</a:t>
            </a:r>
            <a:r>
              <a:rPr lang="zh-CN" altLang="en-US" sz="3200" b="1">
                <a:latin typeface="Garamond" panose="02020404030301010803" pitchFamily="18" charset="0"/>
              </a:rPr>
              <a:t>影响</a:t>
            </a:r>
            <a:r>
              <a:rPr lang="en-US" altLang="zh-CN" sz="3200" b="1">
                <a:latin typeface="Garamond" panose="02020404030301010803" pitchFamily="18" charset="0"/>
              </a:rPr>
              <a:t>pn</a:t>
            </a:r>
            <a:r>
              <a:rPr lang="zh-CN" altLang="en-US" sz="3200" b="1">
                <a:latin typeface="Garamond" panose="02020404030301010803" pitchFamily="18" charset="0"/>
              </a:rPr>
              <a:t>结电流电压特性偏离理想方程的因素</a:t>
            </a:r>
            <a:endParaRPr lang="zh-CN" altLang="en-US" sz="3200" b="1">
              <a:latin typeface="Garamond" panose="02020404030301010803" pitchFamily="18" charset="0"/>
            </a:endParaRPr>
          </a:p>
        </p:txBody>
      </p:sp>
      <p:sp>
        <p:nvSpPr>
          <p:cNvPr id="19459" name="Text Box 3"/>
          <p:cNvSpPr txBox="1">
            <a:spLocks noChangeArrowheads="1"/>
          </p:cNvSpPr>
          <p:nvPr/>
        </p:nvSpPr>
        <p:spPr bwMode="auto">
          <a:xfrm>
            <a:off x="3071814" y="2276475"/>
            <a:ext cx="5578475" cy="2751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5000"/>
              </a:lnSpc>
              <a:buFont typeface="Symbol" panose="05050102010706020507" pitchFamily="18" charset="2"/>
              <a:buChar char="§"/>
            </a:pPr>
            <a:r>
              <a:rPr lang="zh-CN" altLang="en-US" sz="3200" b="1">
                <a:latin typeface="Garamond" panose="02020404030301010803" pitchFamily="18" charset="0"/>
                <a:sym typeface="Symbol" panose="05050102010706020507" pitchFamily="18" charset="2"/>
              </a:rPr>
              <a:t>表面效应</a:t>
            </a:r>
            <a:endParaRPr lang="zh-CN" altLang="en-US" sz="3200" b="1">
              <a:latin typeface="Garamond" panose="02020404030301010803" pitchFamily="18" charset="0"/>
              <a:sym typeface="Symbol" panose="05050102010706020507" pitchFamily="18" charset="2"/>
            </a:endParaRPr>
          </a:p>
          <a:p>
            <a:pPr eaLnBrk="1" hangingPunct="1">
              <a:lnSpc>
                <a:spcPct val="135000"/>
              </a:lnSpc>
              <a:buFont typeface="Symbol" panose="05050102010706020507" pitchFamily="18" charset="2"/>
              <a:buChar char="§"/>
            </a:pPr>
            <a:r>
              <a:rPr lang="zh-CN" altLang="en-US" sz="3200" b="1">
                <a:latin typeface="Garamond" panose="02020404030301010803" pitchFamily="18" charset="0"/>
                <a:sym typeface="Symbol" panose="05050102010706020507" pitchFamily="18" charset="2"/>
              </a:rPr>
              <a:t>势垒区中的产生及复合</a:t>
            </a:r>
            <a:endParaRPr lang="zh-CN" altLang="en-US" sz="3200" b="1">
              <a:latin typeface="Garamond" panose="02020404030301010803" pitchFamily="18" charset="0"/>
              <a:sym typeface="Symbol" panose="05050102010706020507" pitchFamily="18" charset="2"/>
            </a:endParaRPr>
          </a:p>
          <a:p>
            <a:pPr eaLnBrk="1" hangingPunct="1">
              <a:lnSpc>
                <a:spcPct val="135000"/>
              </a:lnSpc>
              <a:buFont typeface="Symbol" panose="05050102010706020507" pitchFamily="18" charset="2"/>
              <a:buChar char="§"/>
            </a:pPr>
            <a:r>
              <a:rPr lang="zh-CN" altLang="en-US" sz="3200" b="1">
                <a:latin typeface="Garamond" panose="02020404030301010803" pitchFamily="18" charset="0"/>
                <a:sym typeface="Symbol" panose="05050102010706020507" pitchFamily="18" charset="2"/>
              </a:rPr>
              <a:t>大注入条件</a:t>
            </a:r>
            <a:endParaRPr lang="zh-CN" altLang="en-US" sz="3200" b="1">
              <a:latin typeface="Garamond" panose="02020404030301010803" pitchFamily="18" charset="0"/>
              <a:sym typeface="Symbol" panose="05050102010706020507" pitchFamily="18" charset="2"/>
            </a:endParaRPr>
          </a:p>
          <a:p>
            <a:pPr eaLnBrk="1" hangingPunct="1">
              <a:lnSpc>
                <a:spcPct val="135000"/>
              </a:lnSpc>
              <a:buFont typeface="Symbol" panose="05050102010706020507" pitchFamily="18" charset="2"/>
              <a:buChar char="§"/>
            </a:pPr>
            <a:r>
              <a:rPr lang="zh-CN" altLang="en-US" sz="3200" b="1">
                <a:latin typeface="Garamond" panose="02020404030301010803" pitchFamily="18" charset="0"/>
                <a:sym typeface="Symbol" panose="05050102010706020507" pitchFamily="18" charset="2"/>
              </a:rPr>
              <a:t>串联电阻效应</a:t>
            </a:r>
            <a:endParaRPr lang="zh-CN" altLang="en-US" sz="3200" b="1">
              <a:latin typeface="Garamond" panose="02020404030301010803" pitchFamily="18" charset="0"/>
              <a:sym typeface="Symbol" panose="05050102010706020507" pitchFamily="18" charset="2"/>
            </a:endParaRP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719514" y="620713"/>
            <a:ext cx="4194175" cy="504031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0483" name="Text Box 3"/>
          <p:cNvSpPr txBox="1">
            <a:spLocks noChangeArrowheads="1"/>
          </p:cNvSpPr>
          <p:nvPr/>
        </p:nvSpPr>
        <p:spPr bwMode="auto">
          <a:xfrm rot="10800000">
            <a:off x="3575051" y="2708275"/>
            <a:ext cx="671513" cy="1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3200">
                <a:latin typeface="Garamond" panose="02020404030301010803" pitchFamily="18" charset="0"/>
              </a:rPr>
              <a:t>J/Js</a:t>
            </a:r>
            <a:endParaRPr lang="en-US" altLang="zh-CN" sz="3200">
              <a:latin typeface="Garamond" panose="02020404030301010803" pitchFamily="18" charset="0"/>
            </a:endParaRPr>
          </a:p>
        </p:txBody>
      </p:sp>
      <p:sp>
        <p:nvSpPr>
          <p:cNvPr id="20484" name="Text Box 4"/>
          <p:cNvSpPr txBox="1">
            <a:spLocks noChangeArrowheads="1"/>
          </p:cNvSpPr>
          <p:nvPr/>
        </p:nvSpPr>
        <p:spPr bwMode="auto">
          <a:xfrm>
            <a:off x="3792539" y="6021388"/>
            <a:ext cx="41497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Garamond" panose="02020404030301010803" pitchFamily="18" charset="0"/>
              </a:rPr>
              <a:t>实际</a:t>
            </a:r>
            <a:r>
              <a:rPr lang="en-US" altLang="zh-CN" sz="2800" b="1">
                <a:latin typeface="Garamond" panose="02020404030301010803" pitchFamily="18" charset="0"/>
              </a:rPr>
              <a:t>pn</a:t>
            </a:r>
            <a:r>
              <a:rPr lang="zh-CN" altLang="en-US" sz="2800" b="1">
                <a:latin typeface="Garamond" panose="02020404030301010803" pitchFamily="18" charset="0"/>
              </a:rPr>
              <a:t>结的电流电压特性</a:t>
            </a:r>
            <a:endParaRPr lang="zh-CN" altLang="en-US" sz="2800" b="1">
              <a:latin typeface="Garamond" panose="02020404030301010803" pitchFamily="18" charset="0"/>
            </a:endParaRP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3863975" y="2205039"/>
            <a:ext cx="6624638" cy="1470025"/>
          </a:xfrm>
        </p:spPr>
        <p:txBody>
          <a:bodyPr/>
          <a:lstStyle/>
          <a:p>
            <a:r>
              <a:rPr lang="en-US" altLang="zh-CN" sz="8000">
                <a:solidFill>
                  <a:schemeClr val="tx2"/>
                </a:solidFill>
                <a:latin typeface="Times New Roman" panose="02020603050405020304" pitchFamily="18" charset="0"/>
                <a:ea typeface="宋体" panose="02010600030101010101" pitchFamily="2" charset="-122"/>
              </a:rPr>
              <a:t>6.3  p-n</a:t>
            </a:r>
            <a:r>
              <a:rPr lang="zh-CN" altLang="en-US" sz="8000">
                <a:solidFill>
                  <a:schemeClr val="tx2"/>
                </a:solidFill>
                <a:latin typeface="Times New Roman" panose="02020603050405020304" pitchFamily="18" charset="0"/>
                <a:ea typeface="宋体" panose="02010600030101010101" pitchFamily="2" charset="-122"/>
              </a:rPr>
              <a:t>结电容</a:t>
            </a:r>
            <a:endParaRPr lang="en-US" altLang="zh-CN" sz="8000">
              <a:solidFill>
                <a:schemeClr val="tx2"/>
              </a:solidFill>
              <a:latin typeface="Times New Roman" panose="02020603050405020304" pitchFamily="18" charset="0"/>
              <a:ea typeface="宋体" panose="02010600030101010101" pitchFamily="2" charset="-122"/>
            </a:endParaRP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Freeform 3"/>
          <p:cNvSpPr/>
          <p:nvPr/>
        </p:nvSpPr>
        <p:spPr bwMode="gray">
          <a:xfrm>
            <a:off x="4340225" y="2843213"/>
            <a:ext cx="1900238" cy="1376362"/>
          </a:xfrm>
          <a:custGeom>
            <a:avLst/>
            <a:gdLst>
              <a:gd name="T0" fmla="*/ 0 w 735"/>
              <a:gd name="T1" fmla="*/ 0 h 532"/>
              <a:gd name="T2" fmla="*/ 382 w 735"/>
              <a:gd name="T3" fmla="*/ 202 h 532"/>
              <a:gd name="T4" fmla="*/ 577 w 735"/>
              <a:gd name="T5" fmla="*/ 202 h 532"/>
              <a:gd name="T6" fmla="*/ 637 w 735"/>
              <a:gd name="T7" fmla="*/ 249 h 532"/>
              <a:gd name="T8" fmla="*/ 639 w 735"/>
              <a:gd name="T9" fmla="*/ 402 h 532"/>
              <a:gd name="T10" fmla="*/ 598 w 735"/>
              <a:gd name="T11" fmla="*/ 400 h 532"/>
              <a:gd name="T12" fmla="*/ 669 w 735"/>
              <a:gd name="T13" fmla="*/ 532 h 532"/>
              <a:gd name="T14" fmla="*/ 735 w 735"/>
              <a:gd name="T15" fmla="*/ 402 h 532"/>
              <a:gd name="T16" fmla="*/ 696 w 735"/>
              <a:gd name="T17" fmla="*/ 402 h 532"/>
              <a:gd name="T18" fmla="*/ 694 w 735"/>
              <a:gd name="T19" fmla="*/ 226 h 532"/>
              <a:gd name="T20" fmla="*/ 616 w 735"/>
              <a:gd name="T21" fmla="*/ 150 h 532"/>
              <a:gd name="T22" fmla="*/ 335 w 735"/>
              <a:gd name="T23" fmla="*/ 149 h 532"/>
              <a:gd name="T24" fmla="*/ 69 w 735"/>
              <a:gd name="T25" fmla="*/ 0 h 532"/>
              <a:gd name="T26" fmla="*/ 0 w 735"/>
              <a:gd name="T27" fmla="*/ 0 h 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35" h="532">
                <a:moveTo>
                  <a:pt x="0" y="0"/>
                </a:moveTo>
                <a:cubicBezTo>
                  <a:pt x="0" y="0"/>
                  <a:pt x="85" y="216"/>
                  <a:pt x="382" y="202"/>
                </a:cubicBezTo>
                <a:cubicBezTo>
                  <a:pt x="479" y="202"/>
                  <a:pt x="577" y="202"/>
                  <a:pt x="577" y="202"/>
                </a:cubicBezTo>
                <a:cubicBezTo>
                  <a:pt x="577" y="202"/>
                  <a:pt x="639" y="201"/>
                  <a:pt x="637" y="249"/>
                </a:cubicBezTo>
                <a:cubicBezTo>
                  <a:pt x="638" y="325"/>
                  <a:pt x="639" y="402"/>
                  <a:pt x="639" y="402"/>
                </a:cubicBezTo>
                <a:lnTo>
                  <a:pt x="598" y="400"/>
                </a:lnTo>
                <a:lnTo>
                  <a:pt x="669" y="532"/>
                </a:lnTo>
                <a:lnTo>
                  <a:pt x="735" y="402"/>
                </a:lnTo>
                <a:lnTo>
                  <a:pt x="696" y="402"/>
                </a:lnTo>
                <a:cubicBezTo>
                  <a:pt x="696" y="402"/>
                  <a:pt x="695" y="314"/>
                  <a:pt x="694" y="226"/>
                </a:cubicBezTo>
                <a:cubicBezTo>
                  <a:pt x="687" y="160"/>
                  <a:pt x="616" y="150"/>
                  <a:pt x="616" y="150"/>
                </a:cubicBezTo>
                <a:cubicBezTo>
                  <a:pt x="556" y="137"/>
                  <a:pt x="473" y="153"/>
                  <a:pt x="335" y="149"/>
                </a:cubicBezTo>
                <a:cubicBezTo>
                  <a:pt x="110" y="126"/>
                  <a:pt x="69" y="0"/>
                  <a:pt x="69" y="0"/>
                </a:cubicBezTo>
                <a:lnTo>
                  <a:pt x="0" y="0"/>
                </a:lnTo>
                <a:close/>
              </a:path>
            </a:pathLst>
          </a:custGeom>
          <a:gradFill rotWithShape="1">
            <a:gsLst>
              <a:gs pos="0">
                <a:schemeClr val="bg1">
                  <a:alpha val="0"/>
                </a:schemeClr>
              </a:gs>
              <a:gs pos="100000">
                <a:srgbClr val="808080"/>
              </a:gs>
            </a:gsLst>
            <a:lin ang="5400000" scaled="1"/>
          </a:gradFill>
          <a:ln>
            <a:noFill/>
          </a:ln>
          <a:effectLst/>
          <a:extLst>
            <a:ext uri="{91240B29-F687-4F45-9708-019B960494DF}">
              <a14:hiddenLine xmlns:a14="http://schemas.microsoft.com/office/drawing/2010/main" w="9525">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292929"/>
                  </a:outerShdw>
                </a:effectLst>
              </a14:hiddenEffects>
            </a:ext>
          </a:extLst>
        </p:spPr>
        <p:txBody>
          <a:bodyPr wrap="none" anchor="ctr"/>
          <a:lstStyle/>
          <a:p>
            <a:endParaRPr lang="zh-CN" altLang="en-US"/>
          </a:p>
        </p:txBody>
      </p:sp>
      <p:sp>
        <p:nvSpPr>
          <p:cNvPr id="50181" name="Freeform 5"/>
          <p:cNvSpPr/>
          <p:nvPr/>
        </p:nvSpPr>
        <p:spPr bwMode="gray">
          <a:xfrm flipH="1">
            <a:off x="6311900" y="2843213"/>
            <a:ext cx="1900238" cy="1376362"/>
          </a:xfrm>
          <a:custGeom>
            <a:avLst/>
            <a:gdLst>
              <a:gd name="T0" fmla="*/ 0 w 735"/>
              <a:gd name="T1" fmla="*/ 0 h 532"/>
              <a:gd name="T2" fmla="*/ 382 w 735"/>
              <a:gd name="T3" fmla="*/ 202 h 532"/>
              <a:gd name="T4" fmla="*/ 577 w 735"/>
              <a:gd name="T5" fmla="*/ 202 h 532"/>
              <a:gd name="T6" fmla="*/ 637 w 735"/>
              <a:gd name="T7" fmla="*/ 249 h 532"/>
              <a:gd name="T8" fmla="*/ 639 w 735"/>
              <a:gd name="T9" fmla="*/ 402 h 532"/>
              <a:gd name="T10" fmla="*/ 598 w 735"/>
              <a:gd name="T11" fmla="*/ 400 h 532"/>
              <a:gd name="T12" fmla="*/ 669 w 735"/>
              <a:gd name="T13" fmla="*/ 532 h 532"/>
              <a:gd name="T14" fmla="*/ 735 w 735"/>
              <a:gd name="T15" fmla="*/ 402 h 532"/>
              <a:gd name="T16" fmla="*/ 696 w 735"/>
              <a:gd name="T17" fmla="*/ 402 h 532"/>
              <a:gd name="T18" fmla="*/ 694 w 735"/>
              <a:gd name="T19" fmla="*/ 226 h 532"/>
              <a:gd name="T20" fmla="*/ 616 w 735"/>
              <a:gd name="T21" fmla="*/ 150 h 532"/>
              <a:gd name="T22" fmla="*/ 335 w 735"/>
              <a:gd name="T23" fmla="*/ 149 h 532"/>
              <a:gd name="T24" fmla="*/ 69 w 735"/>
              <a:gd name="T25" fmla="*/ 0 h 532"/>
              <a:gd name="T26" fmla="*/ 0 w 735"/>
              <a:gd name="T27" fmla="*/ 0 h 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35" h="532">
                <a:moveTo>
                  <a:pt x="0" y="0"/>
                </a:moveTo>
                <a:cubicBezTo>
                  <a:pt x="0" y="0"/>
                  <a:pt x="85" y="216"/>
                  <a:pt x="382" y="202"/>
                </a:cubicBezTo>
                <a:cubicBezTo>
                  <a:pt x="479" y="202"/>
                  <a:pt x="577" y="202"/>
                  <a:pt x="577" y="202"/>
                </a:cubicBezTo>
                <a:cubicBezTo>
                  <a:pt x="577" y="202"/>
                  <a:pt x="639" y="201"/>
                  <a:pt x="637" y="249"/>
                </a:cubicBezTo>
                <a:cubicBezTo>
                  <a:pt x="638" y="325"/>
                  <a:pt x="639" y="402"/>
                  <a:pt x="639" y="402"/>
                </a:cubicBezTo>
                <a:lnTo>
                  <a:pt x="598" y="400"/>
                </a:lnTo>
                <a:lnTo>
                  <a:pt x="669" y="532"/>
                </a:lnTo>
                <a:lnTo>
                  <a:pt x="735" y="402"/>
                </a:lnTo>
                <a:lnTo>
                  <a:pt x="696" y="402"/>
                </a:lnTo>
                <a:cubicBezTo>
                  <a:pt x="696" y="402"/>
                  <a:pt x="695" y="314"/>
                  <a:pt x="694" y="226"/>
                </a:cubicBezTo>
                <a:cubicBezTo>
                  <a:pt x="687" y="160"/>
                  <a:pt x="616" y="150"/>
                  <a:pt x="616" y="150"/>
                </a:cubicBezTo>
                <a:cubicBezTo>
                  <a:pt x="556" y="137"/>
                  <a:pt x="473" y="153"/>
                  <a:pt x="335" y="149"/>
                </a:cubicBezTo>
                <a:cubicBezTo>
                  <a:pt x="110" y="126"/>
                  <a:pt x="69" y="0"/>
                  <a:pt x="69" y="0"/>
                </a:cubicBezTo>
                <a:lnTo>
                  <a:pt x="0" y="0"/>
                </a:lnTo>
                <a:close/>
              </a:path>
            </a:pathLst>
          </a:custGeom>
          <a:gradFill rotWithShape="1">
            <a:gsLst>
              <a:gs pos="0">
                <a:schemeClr val="bg1">
                  <a:alpha val="0"/>
                </a:schemeClr>
              </a:gs>
              <a:gs pos="100000">
                <a:srgbClr val="808080"/>
              </a:gs>
            </a:gsLst>
            <a:lin ang="5400000" scaled="1"/>
          </a:gradFill>
          <a:ln>
            <a:noFill/>
          </a:ln>
          <a:effectLst/>
          <a:extLst>
            <a:ext uri="{91240B29-F687-4F45-9708-019B960494DF}">
              <a14:hiddenLine xmlns:a14="http://schemas.microsoft.com/office/drawing/2010/main" w="9525">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292929"/>
                  </a:outerShdw>
                </a:effectLst>
              </a14:hiddenEffects>
            </a:ext>
          </a:extLst>
        </p:spPr>
        <p:txBody>
          <a:bodyPr wrap="none" anchor="ctr"/>
          <a:lstStyle/>
          <a:p>
            <a:endParaRPr lang="zh-CN" altLang="en-US"/>
          </a:p>
        </p:txBody>
      </p:sp>
      <p:grpSp>
        <p:nvGrpSpPr>
          <p:cNvPr id="50182" name="Group 6"/>
          <p:cNvGrpSpPr/>
          <p:nvPr/>
        </p:nvGrpSpPr>
        <p:grpSpPr bwMode="auto">
          <a:xfrm>
            <a:off x="3549650" y="1443038"/>
            <a:ext cx="1754188" cy="1554162"/>
            <a:chOff x="4320" y="1152"/>
            <a:chExt cx="414" cy="402"/>
          </a:xfrm>
        </p:grpSpPr>
        <p:sp>
          <p:nvSpPr>
            <p:cNvPr id="50183" name="AutoShape 7"/>
            <p:cNvSpPr>
              <a:spLocks noChangeArrowheads="1"/>
            </p:cNvSpPr>
            <p:nvPr/>
          </p:nvSpPr>
          <p:spPr bwMode="gray">
            <a:xfrm>
              <a:off x="4320" y="1152"/>
              <a:ext cx="414" cy="402"/>
            </a:xfrm>
            <a:prstGeom prst="roundRect">
              <a:avLst>
                <a:gd name="adj" fmla="val 11921"/>
              </a:avLst>
            </a:prstGeom>
            <a:gradFill rotWithShape="1">
              <a:gsLst>
                <a:gs pos="0">
                  <a:schemeClr val="accent1"/>
                </a:gs>
                <a:gs pos="100000">
                  <a:schemeClr val="accent1">
                    <a:gamma/>
                    <a:shade val="69804"/>
                    <a:invGamma/>
                  </a:schemeClr>
                </a:gs>
              </a:gsLst>
              <a:lin ang="5400000" scaled="1"/>
            </a:gradFill>
            <a:ln w="25400">
              <a:solidFill>
                <a:srgbClr val="FFFFFF"/>
              </a:solidFill>
              <a:round/>
            </a:ln>
            <a:effectLst>
              <a:outerShdw dist="53882" dir="2700000" algn="ctr" rotWithShape="0">
                <a:srgbClr val="000000">
                  <a:alpha val="50000"/>
                </a:srgbClr>
              </a:outerShdw>
            </a:effectLst>
          </p:spPr>
          <p:txBody>
            <a:bodyPr wrap="none" anchor="ctr"/>
            <a:lstStyle/>
            <a:p>
              <a:endParaRPr lang="zh-CN" altLang="en-US"/>
            </a:p>
          </p:txBody>
        </p:sp>
        <p:sp>
          <p:nvSpPr>
            <p:cNvPr id="50184" name="Freeform 8"/>
            <p:cNvSpPr/>
            <p:nvPr/>
          </p:nvSpPr>
          <p:spPr bwMode="gray">
            <a:xfrm>
              <a:off x="4346" y="1178"/>
              <a:ext cx="206" cy="201"/>
            </a:xfrm>
            <a:custGeom>
              <a:avLst/>
              <a:gdLst>
                <a:gd name="T0" fmla="*/ 118 w 596"/>
                <a:gd name="T1" fmla="*/ 0 h 598"/>
                <a:gd name="T2" fmla="*/ 0 w 596"/>
                <a:gd name="T3" fmla="*/ 118 h 598"/>
                <a:gd name="T4" fmla="*/ 0 w 596"/>
                <a:gd name="T5" fmla="*/ 589 h 598"/>
                <a:gd name="T6" fmla="*/ 161 w 596"/>
                <a:gd name="T7" fmla="*/ 174 h 598"/>
                <a:gd name="T8" fmla="*/ 589 w 596"/>
                <a:gd name="T9" fmla="*/ 0 h 598"/>
                <a:gd name="T10" fmla="*/ 118 w 596"/>
                <a:gd name="T11" fmla="*/ 0 h 598"/>
              </a:gdLst>
              <a:ahLst/>
              <a:cxnLst>
                <a:cxn ang="0">
                  <a:pos x="T0" y="T1"/>
                </a:cxn>
                <a:cxn ang="0">
                  <a:pos x="T2" y="T3"/>
                </a:cxn>
                <a:cxn ang="0">
                  <a:pos x="T4" y="T5"/>
                </a:cxn>
                <a:cxn ang="0">
                  <a:pos x="T6" y="T7"/>
                </a:cxn>
                <a:cxn ang="0">
                  <a:pos x="T8" y="T9"/>
                </a:cxn>
                <a:cxn ang="0">
                  <a:pos x="T10" y="T11"/>
                </a:cxn>
              </a:cxnLst>
              <a:rect l="0" t="0" r="r" b="b"/>
              <a:pathLst>
                <a:path w="596" h="598">
                  <a:moveTo>
                    <a:pt x="118" y="0"/>
                  </a:moveTo>
                  <a:cubicBezTo>
                    <a:pt x="53" y="0"/>
                    <a:pt x="0" y="53"/>
                    <a:pt x="0" y="118"/>
                  </a:cubicBezTo>
                  <a:lnTo>
                    <a:pt x="0" y="589"/>
                  </a:lnTo>
                  <a:cubicBezTo>
                    <a:pt x="27" y="598"/>
                    <a:pt x="12" y="309"/>
                    <a:pt x="161" y="174"/>
                  </a:cubicBezTo>
                  <a:cubicBezTo>
                    <a:pt x="310" y="39"/>
                    <a:pt x="596" y="29"/>
                    <a:pt x="589" y="0"/>
                  </a:cubicBezTo>
                  <a:lnTo>
                    <a:pt x="118" y="0"/>
                  </a:lnTo>
                  <a:close/>
                </a:path>
              </a:pathLst>
            </a:custGeom>
            <a:gradFill rotWithShape="1">
              <a:gsLst>
                <a:gs pos="0">
                  <a:schemeClr val="accent1">
                    <a:gamma/>
                    <a:tint val="48627"/>
                    <a:invGamma/>
                  </a:schemeClr>
                </a:gs>
                <a:gs pos="50000">
                  <a:schemeClr val="accent1">
                    <a:alpha val="0"/>
                  </a:schemeClr>
                </a:gs>
                <a:gs pos="100000">
                  <a:schemeClr val="accent1">
                    <a:gamma/>
                    <a:tint val="48627"/>
                    <a:invGamma/>
                  </a:schemeClr>
                </a:gs>
              </a:gsLst>
              <a:lin ang="2700000" scaled="1"/>
            </a:gradFill>
            <a:ln>
              <a:noFill/>
            </a:ln>
            <a:extLst>
              <a:ext uri="{91240B29-F687-4F45-9708-019B960494DF}">
                <a14:hiddenLine xmlns:a14="http://schemas.microsoft.com/office/drawing/2010/main" w="0">
                  <a:solidFill>
                    <a:srgbClr val="000000"/>
                  </a:solidFill>
                  <a:prstDash val="solid"/>
                  <a:round/>
                </a14:hiddenLine>
              </a:ext>
            </a:extLst>
          </p:spPr>
          <p:txBody>
            <a:bodyPr/>
            <a:lstStyle/>
            <a:p>
              <a:endParaRPr lang="zh-CN" altLang="en-US"/>
            </a:p>
          </p:txBody>
        </p:sp>
      </p:grpSp>
      <p:sp>
        <p:nvSpPr>
          <p:cNvPr id="50185" name="Rectangle 9"/>
          <p:cNvSpPr>
            <a:spLocks noChangeArrowheads="1"/>
          </p:cNvSpPr>
          <p:nvPr/>
        </p:nvSpPr>
        <p:spPr bwMode="gray">
          <a:xfrm>
            <a:off x="3719513" y="1701801"/>
            <a:ext cx="1439862" cy="1006475"/>
          </a:xfrm>
          <a:prstGeom prst="rect">
            <a:avLst/>
          </a:prstGeom>
          <a:noFill/>
          <a:ln>
            <a:noFill/>
          </a:ln>
          <a:effectLst/>
          <a:extLst>
            <a:ext uri="{909E8E84-426E-40DD-AFC4-6F175D3DCCD1}">
              <a14:hiddenFill xmlns:a14="http://schemas.microsoft.com/office/drawing/2010/main">
                <a:gradFill rotWithShape="1">
                  <a:gsLst>
                    <a:gs pos="0">
                      <a:schemeClr val="accent1">
                        <a:gamma/>
                        <a:shade val="72549"/>
                        <a:invGamma/>
                      </a:schemeClr>
                    </a:gs>
                    <a:gs pos="100000">
                      <a:schemeClr val="accent1"/>
                    </a:gs>
                  </a:gsLst>
                  <a:lin ang="189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C0C0C0"/>
                  </a:outerShdw>
                </a:effectLst>
              </a14:hiddenEffects>
            </a:ext>
          </a:extLst>
        </p:spPr>
        <p:txBody>
          <a:bodyPr>
            <a:spAutoFit/>
            <a:flatTx/>
          </a:bodyPr>
          <a:lstStyle/>
          <a:p>
            <a:r>
              <a:rPr lang="zh-CN" altLang="en-US" sz="2000" b="1">
                <a:solidFill>
                  <a:srgbClr val="FFFFFF"/>
                </a:solidFill>
                <a:ea typeface="宋体" panose="02010600030101010101" pitchFamily="2" charset="-122"/>
              </a:rPr>
              <a:t>低频，</a:t>
            </a:r>
            <a:r>
              <a:rPr lang="en-US" altLang="zh-CN" sz="2000" b="1">
                <a:solidFill>
                  <a:srgbClr val="FFFFFF"/>
                </a:solidFill>
                <a:ea typeface="宋体" panose="02010600030101010101" pitchFamily="2" charset="-122"/>
              </a:rPr>
              <a:t>p-n</a:t>
            </a:r>
            <a:r>
              <a:rPr lang="zh-CN" altLang="en-US" sz="2000" b="1">
                <a:solidFill>
                  <a:srgbClr val="FFFFFF"/>
                </a:solidFill>
                <a:ea typeface="宋体" panose="02010600030101010101" pitchFamily="2" charset="-122"/>
              </a:rPr>
              <a:t>结有整流作用</a:t>
            </a:r>
            <a:endParaRPr lang="en-US" altLang="zh-CN" sz="2000" b="1">
              <a:solidFill>
                <a:srgbClr val="FFFFFF"/>
              </a:solidFill>
              <a:ea typeface="宋体" panose="02010600030101010101" pitchFamily="2" charset="-122"/>
            </a:endParaRPr>
          </a:p>
        </p:txBody>
      </p:sp>
      <p:grpSp>
        <p:nvGrpSpPr>
          <p:cNvPr id="50189" name="Group 13"/>
          <p:cNvGrpSpPr/>
          <p:nvPr/>
        </p:nvGrpSpPr>
        <p:grpSpPr bwMode="auto">
          <a:xfrm>
            <a:off x="6888163" y="1485900"/>
            <a:ext cx="1727200" cy="1511300"/>
            <a:chOff x="4320" y="1152"/>
            <a:chExt cx="414" cy="402"/>
          </a:xfrm>
        </p:grpSpPr>
        <p:sp>
          <p:nvSpPr>
            <p:cNvPr id="50190" name="AutoShape 14"/>
            <p:cNvSpPr>
              <a:spLocks noChangeArrowheads="1"/>
            </p:cNvSpPr>
            <p:nvPr/>
          </p:nvSpPr>
          <p:spPr bwMode="gray">
            <a:xfrm>
              <a:off x="4320" y="1152"/>
              <a:ext cx="414" cy="402"/>
            </a:xfrm>
            <a:prstGeom prst="roundRect">
              <a:avLst>
                <a:gd name="adj" fmla="val 11921"/>
              </a:avLst>
            </a:prstGeom>
            <a:gradFill rotWithShape="1">
              <a:gsLst>
                <a:gs pos="0">
                  <a:schemeClr val="hlink"/>
                </a:gs>
                <a:gs pos="100000">
                  <a:schemeClr val="hlink">
                    <a:gamma/>
                    <a:shade val="69804"/>
                    <a:invGamma/>
                  </a:schemeClr>
                </a:gs>
              </a:gsLst>
              <a:lin ang="5400000" scaled="1"/>
            </a:gradFill>
            <a:ln w="25400">
              <a:solidFill>
                <a:srgbClr val="FFFFFF"/>
              </a:solidFill>
              <a:round/>
            </a:ln>
            <a:effectLst>
              <a:outerShdw dist="53882" dir="2700000" algn="ctr" rotWithShape="0">
                <a:srgbClr val="000000">
                  <a:alpha val="50000"/>
                </a:srgbClr>
              </a:outerShdw>
            </a:effectLst>
          </p:spPr>
          <p:txBody>
            <a:bodyPr wrap="none" anchor="ctr"/>
            <a:lstStyle/>
            <a:p>
              <a:endParaRPr lang="zh-CN" altLang="en-US"/>
            </a:p>
          </p:txBody>
        </p:sp>
        <p:sp>
          <p:nvSpPr>
            <p:cNvPr id="50191" name="Freeform 15"/>
            <p:cNvSpPr/>
            <p:nvPr/>
          </p:nvSpPr>
          <p:spPr bwMode="gray">
            <a:xfrm>
              <a:off x="4346" y="1178"/>
              <a:ext cx="206" cy="201"/>
            </a:xfrm>
            <a:custGeom>
              <a:avLst/>
              <a:gdLst>
                <a:gd name="T0" fmla="*/ 118 w 596"/>
                <a:gd name="T1" fmla="*/ 0 h 598"/>
                <a:gd name="T2" fmla="*/ 0 w 596"/>
                <a:gd name="T3" fmla="*/ 118 h 598"/>
                <a:gd name="T4" fmla="*/ 0 w 596"/>
                <a:gd name="T5" fmla="*/ 589 h 598"/>
                <a:gd name="T6" fmla="*/ 161 w 596"/>
                <a:gd name="T7" fmla="*/ 174 h 598"/>
                <a:gd name="T8" fmla="*/ 589 w 596"/>
                <a:gd name="T9" fmla="*/ 0 h 598"/>
                <a:gd name="T10" fmla="*/ 118 w 596"/>
                <a:gd name="T11" fmla="*/ 0 h 598"/>
              </a:gdLst>
              <a:ahLst/>
              <a:cxnLst>
                <a:cxn ang="0">
                  <a:pos x="T0" y="T1"/>
                </a:cxn>
                <a:cxn ang="0">
                  <a:pos x="T2" y="T3"/>
                </a:cxn>
                <a:cxn ang="0">
                  <a:pos x="T4" y="T5"/>
                </a:cxn>
                <a:cxn ang="0">
                  <a:pos x="T6" y="T7"/>
                </a:cxn>
                <a:cxn ang="0">
                  <a:pos x="T8" y="T9"/>
                </a:cxn>
                <a:cxn ang="0">
                  <a:pos x="T10" y="T11"/>
                </a:cxn>
              </a:cxnLst>
              <a:rect l="0" t="0" r="r" b="b"/>
              <a:pathLst>
                <a:path w="596" h="598">
                  <a:moveTo>
                    <a:pt x="118" y="0"/>
                  </a:moveTo>
                  <a:cubicBezTo>
                    <a:pt x="53" y="0"/>
                    <a:pt x="0" y="53"/>
                    <a:pt x="0" y="118"/>
                  </a:cubicBezTo>
                  <a:lnTo>
                    <a:pt x="0" y="589"/>
                  </a:lnTo>
                  <a:cubicBezTo>
                    <a:pt x="27" y="598"/>
                    <a:pt x="12" y="309"/>
                    <a:pt x="161" y="174"/>
                  </a:cubicBezTo>
                  <a:cubicBezTo>
                    <a:pt x="310" y="39"/>
                    <a:pt x="596" y="29"/>
                    <a:pt x="589" y="0"/>
                  </a:cubicBezTo>
                  <a:lnTo>
                    <a:pt x="118" y="0"/>
                  </a:lnTo>
                  <a:close/>
                </a:path>
              </a:pathLst>
            </a:custGeom>
            <a:gradFill rotWithShape="1">
              <a:gsLst>
                <a:gs pos="0">
                  <a:schemeClr val="hlink">
                    <a:gamma/>
                    <a:tint val="48627"/>
                    <a:invGamma/>
                  </a:schemeClr>
                </a:gs>
                <a:gs pos="50000">
                  <a:schemeClr val="hlink">
                    <a:alpha val="0"/>
                  </a:schemeClr>
                </a:gs>
                <a:gs pos="100000">
                  <a:schemeClr val="hlink">
                    <a:gamma/>
                    <a:tint val="48627"/>
                    <a:invGamma/>
                  </a:schemeClr>
                </a:gs>
              </a:gsLst>
              <a:lin ang="2700000" scaled="1"/>
            </a:gradFill>
            <a:ln>
              <a:noFill/>
            </a:ln>
            <a:extLst>
              <a:ext uri="{91240B29-F687-4F45-9708-019B960494DF}">
                <a14:hiddenLine xmlns:a14="http://schemas.microsoft.com/office/drawing/2010/main" w="0">
                  <a:solidFill>
                    <a:srgbClr val="000000"/>
                  </a:solidFill>
                  <a:prstDash val="solid"/>
                  <a:round/>
                </a14:hiddenLine>
              </a:ext>
            </a:extLst>
          </p:spPr>
          <p:txBody>
            <a:bodyPr/>
            <a:lstStyle/>
            <a:p>
              <a:endParaRPr lang="zh-CN" altLang="en-US"/>
            </a:p>
          </p:txBody>
        </p:sp>
      </p:grpSp>
      <p:sp>
        <p:nvSpPr>
          <p:cNvPr id="50193" name="Rectangle 17"/>
          <p:cNvSpPr>
            <a:spLocks noChangeArrowheads="1"/>
          </p:cNvSpPr>
          <p:nvPr/>
        </p:nvSpPr>
        <p:spPr bwMode="gray">
          <a:xfrm>
            <a:off x="6888163" y="1541464"/>
            <a:ext cx="1655762" cy="1311275"/>
          </a:xfrm>
          <a:prstGeom prst="rect">
            <a:avLst/>
          </a:prstGeom>
          <a:noFill/>
          <a:ln>
            <a:noFill/>
          </a:ln>
          <a:effectLst/>
          <a:extLst>
            <a:ext uri="{909E8E84-426E-40DD-AFC4-6F175D3DCCD1}">
              <a14:hiddenFill xmlns:a14="http://schemas.microsoft.com/office/drawing/2010/main">
                <a:gradFill rotWithShape="1">
                  <a:gsLst>
                    <a:gs pos="0">
                      <a:schemeClr val="accent1">
                        <a:gamma/>
                        <a:shade val="72549"/>
                        <a:invGamma/>
                      </a:schemeClr>
                    </a:gs>
                    <a:gs pos="100000">
                      <a:schemeClr val="accent1"/>
                    </a:gs>
                  </a:gsLst>
                  <a:lin ang="189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C0C0C0"/>
                  </a:outerShdw>
                </a:effectLst>
              </a14:hiddenEffects>
            </a:ext>
          </a:extLst>
        </p:spPr>
        <p:txBody>
          <a:bodyPr>
            <a:spAutoFit/>
            <a:flatTx/>
          </a:bodyPr>
          <a:lstStyle/>
          <a:p>
            <a:r>
              <a:rPr lang="zh-CN" altLang="en-US" sz="2000" b="1">
                <a:solidFill>
                  <a:srgbClr val="FFFFFF"/>
                </a:solidFill>
                <a:ea typeface="宋体" panose="02010600030101010101" pitchFamily="2" charset="-122"/>
              </a:rPr>
              <a:t>高频，整流特性变坏甚至没有整流作用</a:t>
            </a:r>
            <a:endParaRPr lang="en-US" altLang="zh-CN" sz="2000" b="1">
              <a:solidFill>
                <a:srgbClr val="FFFFFF"/>
              </a:solidFill>
              <a:ea typeface="宋体" panose="02010600030101010101" pitchFamily="2" charset="-122"/>
            </a:endParaRPr>
          </a:p>
        </p:txBody>
      </p:sp>
      <p:pic>
        <p:nvPicPr>
          <p:cNvPr id="50196" name="Picture 20" descr="YG_circle00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159376" y="4149726"/>
            <a:ext cx="2232025" cy="2232025"/>
          </a:xfrm>
          <a:prstGeom prst="rect">
            <a:avLst/>
          </a:prstGeom>
          <a:noFill/>
          <a:extLst>
            <a:ext uri="{909E8E84-426E-40DD-AFC4-6F175D3DCCD1}">
              <a14:hiddenFill xmlns:a14="http://schemas.microsoft.com/office/drawing/2010/main">
                <a:solidFill>
                  <a:srgbClr val="FFFFFF"/>
                </a:solidFill>
              </a14:hiddenFill>
            </a:ext>
          </a:extLst>
        </p:spPr>
      </p:pic>
      <p:sp>
        <p:nvSpPr>
          <p:cNvPr id="50197" name="Text Box 21"/>
          <p:cNvSpPr txBox="1">
            <a:spLocks noChangeArrowheads="1"/>
          </p:cNvSpPr>
          <p:nvPr/>
        </p:nvSpPr>
        <p:spPr bwMode="gray">
          <a:xfrm>
            <a:off x="5399089" y="4838701"/>
            <a:ext cx="170497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tx1"/>
                  </a:outerShdw>
                </a:effectLst>
              </a14:hiddenEffects>
            </a:ext>
          </a:extLst>
        </p:spPr>
        <p:txBody>
          <a:bodyPr>
            <a:spAutoFit/>
          </a:bodyPr>
          <a:lstStyle/>
          <a:p>
            <a:pPr eaLnBrk="0" hangingPunct="0"/>
            <a:r>
              <a:rPr lang="en-US" altLang="zh-CN" sz="2400" b="1">
                <a:solidFill>
                  <a:schemeClr val="tx2"/>
                </a:solidFill>
                <a:ea typeface="宋体" panose="02010600030101010101" pitchFamily="2" charset="-122"/>
              </a:rPr>
              <a:t>p-n</a:t>
            </a:r>
            <a:r>
              <a:rPr lang="zh-CN" altLang="en-US" sz="2400" b="1">
                <a:solidFill>
                  <a:schemeClr val="tx2"/>
                </a:solidFill>
                <a:ea typeface="宋体" panose="02010600030101010101" pitchFamily="2" charset="-122"/>
              </a:rPr>
              <a:t>结具有电容特性</a:t>
            </a:r>
            <a:endParaRPr lang="en-US" altLang="zh-CN" sz="2400" b="1">
              <a:solidFill>
                <a:schemeClr val="tx2"/>
              </a:solidFill>
              <a:ea typeface="宋体" panose="02010600030101010101" pitchFamily="2" charset="-122"/>
            </a:endParaRPr>
          </a:p>
        </p:txBody>
      </p:sp>
      <p:sp>
        <p:nvSpPr>
          <p:cNvPr id="50199" name="Text Box 23" descr="2"/>
          <p:cNvSpPr txBox="1">
            <a:spLocks noChangeArrowheads="1"/>
          </p:cNvSpPr>
          <p:nvPr/>
        </p:nvSpPr>
        <p:spPr bwMode="gray">
          <a:xfrm>
            <a:off x="1487488" y="333375"/>
            <a:ext cx="4392613" cy="579438"/>
          </a:xfrm>
          <a:prstGeom prst="rect">
            <a:avLst/>
          </a:prstGeom>
          <a:noFill/>
          <a:ln>
            <a:noFill/>
          </a:ln>
          <a:effectLst/>
          <a:extLst>
            <a:ext uri="{909E8E84-426E-40DD-AFC4-6F175D3DCCD1}">
              <a14:hiddenFill xmlns:a14="http://schemas.microsoft.com/office/drawing/2010/main">
                <a:blipFill dpi="0" rotWithShape="1">
                  <a:blip r:embed="rId2"/>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3200" b="1">
                <a:solidFill>
                  <a:srgbClr val="FFFFFF"/>
                </a:solidFill>
                <a:ea typeface="宋体" panose="02010600030101010101" pitchFamily="2" charset="-122"/>
              </a:rPr>
              <a:t>1.  p-n</a:t>
            </a:r>
            <a:r>
              <a:rPr lang="zh-CN" altLang="en-US" sz="3200" b="1">
                <a:solidFill>
                  <a:srgbClr val="FFFFFF"/>
                </a:solidFill>
                <a:ea typeface="宋体" panose="02010600030101010101" pitchFamily="2" charset="-122"/>
              </a:rPr>
              <a:t>结电容的来源</a:t>
            </a:r>
            <a:endParaRPr lang="zh-CN" altLang="en-US" sz="3200" b="1">
              <a:solidFill>
                <a:srgbClr val="FFFFFF"/>
              </a:solidFill>
              <a:ea typeface="宋体" panose="02010600030101010101" pitchFamily="2" charset="-122"/>
            </a:endParaRP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171" name="Group 3"/>
          <p:cNvGrpSpPr/>
          <p:nvPr/>
        </p:nvGrpSpPr>
        <p:grpSpPr bwMode="auto">
          <a:xfrm>
            <a:off x="3451226" y="3819526"/>
            <a:ext cx="5311775" cy="688975"/>
            <a:chOff x="720" y="1392"/>
            <a:chExt cx="4058" cy="480"/>
          </a:xfrm>
        </p:grpSpPr>
        <p:sp>
          <p:nvSpPr>
            <p:cNvPr id="7172" name="AutoShape 4"/>
            <p:cNvSpPr>
              <a:spLocks noChangeArrowheads="1"/>
            </p:cNvSpPr>
            <p:nvPr/>
          </p:nvSpPr>
          <p:spPr bwMode="gray">
            <a:xfrm>
              <a:off x="720" y="1392"/>
              <a:ext cx="4058" cy="480"/>
            </a:xfrm>
            <a:prstGeom prst="roundRect">
              <a:avLst>
                <a:gd name="adj" fmla="val 17509"/>
              </a:avLst>
            </a:prstGeom>
            <a:gradFill rotWithShape="1">
              <a:gsLst>
                <a:gs pos="0">
                  <a:schemeClr val="accent2"/>
                </a:gs>
                <a:gs pos="50000">
                  <a:schemeClr val="accent2">
                    <a:gamma/>
                    <a:shade val="92157"/>
                    <a:invGamma/>
                  </a:schemeClr>
                </a:gs>
                <a:gs pos="100000">
                  <a:schemeClr val="accent2"/>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7173" name="Group 5"/>
            <p:cNvGrpSpPr/>
            <p:nvPr/>
          </p:nvGrpSpPr>
          <p:grpSpPr bwMode="auto">
            <a:xfrm>
              <a:off x="730" y="1407"/>
              <a:ext cx="4043" cy="444"/>
              <a:chOff x="744" y="1407"/>
              <a:chExt cx="3988" cy="444"/>
            </a:xfrm>
          </p:grpSpPr>
          <p:sp>
            <p:nvSpPr>
              <p:cNvPr id="7174" name="AutoShape 6"/>
              <p:cNvSpPr>
                <a:spLocks noChangeArrowheads="1"/>
              </p:cNvSpPr>
              <p:nvPr/>
            </p:nvSpPr>
            <p:spPr bwMode="gray">
              <a:xfrm>
                <a:off x="744" y="1736"/>
                <a:ext cx="3988" cy="115"/>
              </a:xfrm>
              <a:prstGeom prst="roundRect">
                <a:avLst>
                  <a:gd name="adj" fmla="val 50000"/>
                </a:avLst>
              </a:prstGeom>
              <a:gradFill rotWithShape="1">
                <a:gsLst>
                  <a:gs pos="0">
                    <a:schemeClr val="accent2">
                      <a:alpha val="0"/>
                    </a:schemeClr>
                  </a:gs>
                  <a:gs pos="100000">
                    <a:schemeClr val="accent2">
                      <a:gamma/>
                      <a:tint val="0"/>
                      <a:invGamma/>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75" name="AutoShape 7"/>
              <p:cNvSpPr>
                <a:spLocks noChangeArrowheads="1"/>
              </p:cNvSpPr>
              <p:nvPr/>
            </p:nvSpPr>
            <p:spPr bwMode="gray">
              <a:xfrm>
                <a:off x="744" y="1407"/>
                <a:ext cx="3988" cy="115"/>
              </a:xfrm>
              <a:prstGeom prst="roundRect">
                <a:avLst>
                  <a:gd name="adj" fmla="val 50000"/>
                </a:avLst>
              </a:prstGeom>
              <a:gradFill rotWithShape="1">
                <a:gsLst>
                  <a:gs pos="0">
                    <a:schemeClr val="accent2">
                      <a:gamma/>
                      <a:tint val="0"/>
                      <a:invGamma/>
                    </a:schemeClr>
                  </a:gs>
                  <a:gs pos="100000">
                    <a:schemeClr val="accent2">
                      <a:alpha val="0"/>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7186" name="Group 18"/>
          <p:cNvGrpSpPr/>
          <p:nvPr/>
        </p:nvGrpSpPr>
        <p:grpSpPr bwMode="auto">
          <a:xfrm>
            <a:off x="3451226" y="2636839"/>
            <a:ext cx="5311775" cy="688975"/>
            <a:chOff x="720" y="1392"/>
            <a:chExt cx="4058" cy="480"/>
          </a:xfrm>
        </p:grpSpPr>
        <p:sp>
          <p:nvSpPr>
            <p:cNvPr id="7187" name="AutoShape 19"/>
            <p:cNvSpPr>
              <a:spLocks noChangeArrowheads="1"/>
            </p:cNvSpPr>
            <p:nvPr/>
          </p:nvSpPr>
          <p:spPr bwMode="gray">
            <a:xfrm>
              <a:off x="720" y="1392"/>
              <a:ext cx="4058" cy="480"/>
            </a:xfrm>
            <a:prstGeom prst="roundRect">
              <a:avLst>
                <a:gd name="adj" fmla="val 17509"/>
              </a:avLst>
            </a:prstGeom>
            <a:gradFill rotWithShape="1">
              <a:gsLst>
                <a:gs pos="0">
                  <a:schemeClr val="accent1"/>
                </a:gs>
                <a:gs pos="50000">
                  <a:schemeClr val="accent1">
                    <a:gamma/>
                    <a:shade val="92157"/>
                    <a:invGamma/>
                  </a:schemeClr>
                </a:gs>
                <a:gs pos="100000">
                  <a:schemeClr val="accent1"/>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7188" name="Group 20"/>
            <p:cNvGrpSpPr/>
            <p:nvPr/>
          </p:nvGrpSpPr>
          <p:grpSpPr bwMode="auto">
            <a:xfrm>
              <a:off x="730" y="1407"/>
              <a:ext cx="4043" cy="444"/>
              <a:chOff x="744" y="1407"/>
              <a:chExt cx="3988" cy="444"/>
            </a:xfrm>
          </p:grpSpPr>
          <p:sp>
            <p:nvSpPr>
              <p:cNvPr id="7189" name="AutoShape 21"/>
              <p:cNvSpPr>
                <a:spLocks noChangeArrowheads="1"/>
              </p:cNvSpPr>
              <p:nvPr/>
            </p:nvSpPr>
            <p:spPr bwMode="gray">
              <a:xfrm>
                <a:off x="744" y="1736"/>
                <a:ext cx="3988" cy="115"/>
              </a:xfrm>
              <a:prstGeom prst="roundRect">
                <a:avLst>
                  <a:gd name="adj" fmla="val 50000"/>
                </a:avLst>
              </a:prstGeom>
              <a:gradFill rotWithShape="1">
                <a:gsLst>
                  <a:gs pos="0">
                    <a:schemeClr val="accent1">
                      <a:alpha val="0"/>
                    </a:schemeClr>
                  </a:gs>
                  <a:gs pos="100000">
                    <a:schemeClr val="accent1">
                      <a:gamma/>
                      <a:tint val="0"/>
                      <a:invGamma/>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90" name="AutoShape 22"/>
              <p:cNvSpPr>
                <a:spLocks noChangeArrowheads="1"/>
              </p:cNvSpPr>
              <p:nvPr/>
            </p:nvSpPr>
            <p:spPr bwMode="gray">
              <a:xfrm>
                <a:off x="744" y="1407"/>
                <a:ext cx="3988" cy="115"/>
              </a:xfrm>
              <a:prstGeom prst="roundRect">
                <a:avLst>
                  <a:gd name="adj" fmla="val 50000"/>
                </a:avLst>
              </a:prstGeom>
              <a:gradFill rotWithShape="1">
                <a:gsLst>
                  <a:gs pos="0">
                    <a:schemeClr val="accent1">
                      <a:gamma/>
                      <a:tint val="0"/>
                      <a:invGamma/>
                    </a:schemeClr>
                  </a:gs>
                  <a:gs pos="100000">
                    <a:schemeClr val="accent1">
                      <a:alpha val="0"/>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7191" name="Text Box 23"/>
          <p:cNvSpPr txBox="1">
            <a:spLocks noChangeArrowheads="1"/>
          </p:cNvSpPr>
          <p:nvPr/>
        </p:nvSpPr>
        <p:spPr bwMode="white">
          <a:xfrm>
            <a:off x="3917950" y="2636839"/>
            <a:ext cx="44958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292929">
                      <a:alpha val="50000"/>
                    </a:srgbClr>
                  </a:outerShdw>
                </a:effectLst>
              </a14:hiddenEffects>
            </a:ext>
          </a:extLst>
        </p:spPr>
        <p:txBody>
          <a:bodyPr>
            <a:spAutoFit/>
          </a:bodyPr>
          <a:lstStyle>
            <a:lvl1pPr marL="457200" indent="-457200" algn="l">
              <a:defRPr>
                <a:solidFill>
                  <a:schemeClr val="tx1"/>
                </a:solidFill>
                <a:latin typeface="Arial" panose="020B0604020202020204" pitchFamily="34" charset="0"/>
              </a:defRPr>
            </a:lvl1pPr>
            <a:lvl2pPr marL="914400" indent="-457200" algn="l">
              <a:defRPr>
                <a:solidFill>
                  <a:schemeClr val="tx1"/>
                </a:solidFill>
                <a:latin typeface="Arial" panose="020B0604020202020204" pitchFamily="34" charset="0"/>
              </a:defRPr>
            </a:lvl2pPr>
            <a:lvl3pPr marL="1371600" indent="-457200" algn="l">
              <a:defRPr>
                <a:solidFill>
                  <a:schemeClr val="tx1"/>
                </a:solidFill>
                <a:latin typeface="Arial" panose="020B0604020202020204" pitchFamily="34" charset="0"/>
              </a:defRPr>
            </a:lvl3pPr>
            <a:lvl4pPr marL="1828800" indent="-457200" algn="l">
              <a:defRPr>
                <a:solidFill>
                  <a:schemeClr val="tx1"/>
                </a:solidFill>
                <a:latin typeface="Arial" panose="020B0604020202020204" pitchFamily="34" charset="0"/>
              </a:defRPr>
            </a:lvl4pPr>
            <a:lvl5pPr marL="2286000" indent="-457200" algn="l">
              <a:defRPr>
                <a:solidFill>
                  <a:schemeClr val="tx1"/>
                </a:solidFill>
                <a:latin typeface="Arial" panose="020B0604020202020204" pitchFamily="34" charset="0"/>
              </a:defRPr>
            </a:lvl5pPr>
            <a:lvl6pPr marL="2743200" indent="-457200" fontAlgn="base">
              <a:spcBef>
                <a:spcPct val="0"/>
              </a:spcBef>
              <a:spcAft>
                <a:spcPct val="0"/>
              </a:spcAft>
              <a:defRPr>
                <a:solidFill>
                  <a:schemeClr val="tx1"/>
                </a:solidFill>
                <a:latin typeface="Arial" panose="020B0604020202020204" pitchFamily="34" charset="0"/>
              </a:defRPr>
            </a:lvl6pPr>
            <a:lvl7pPr marL="3200400" indent="-457200" fontAlgn="base">
              <a:spcBef>
                <a:spcPct val="0"/>
              </a:spcBef>
              <a:spcAft>
                <a:spcPct val="0"/>
              </a:spcAft>
              <a:defRPr>
                <a:solidFill>
                  <a:schemeClr val="tx1"/>
                </a:solidFill>
                <a:latin typeface="Arial" panose="020B0604020202020204" pitchFamily="34" charset="0"/>
              </a:defRPr>
            </a:lvl7pPr>
            <a:lvl8pPr marL="3657600" indent="-457200" fontAlgn="base">
              <a:spcBef>
                <a:spcPct val="0"/>
              </a:spcBef>
              <a:spcAft>
                <a:spcPct val="0"/>
              </a:spcAft>
              <a:defRPr>
                <a:solidFill>
                  <a:schemeClr val="tx1"/>
                </a:solidFill>
                <a:latin typeface="Arial" panose="020B0604020202020204" pitchFamily="34" charset="0"/>
              </a:defRPr>
            </a:lvl8pPr>
            <a:lvl9pPr marL="4114800" indent="-457200" fontAlgn="base">
              <a:spcBef>
                <a:spcPct val="0"/>
              </a:spcBef>
              <a:spcAft>
                <a:spcPct val="0"/>
              </a:spcAft>
              <a:defRPr>
                <a:solidFill>
                  <a:schemeClr val="tx1"/>
                </a:solidFill>
                <a:latin typeface="Arial" panose="020B0604020202020204" pitchFamily="34" charset="0"/>
              </a:defRPr>
            </a:lvl9pPr>
          </a:lstStyle>
          <a:p>
            <a:pPr algn="ctr">
              <a:spcBef>
                <a:spcPct val="50000"/>
              </a:spcBef>
              <a:buClr>
                <a:schemeClr val="tx1"/>
              </a:buClr>
            </a:pPr>
            <a:r>
              <a:rPr lang="zh-CN" altLang="en-US" sz="3200" b="1">
                <a:solidFill>
                  <a:srgbClr val="FFFFFF"/>
                </a:solidFill>
                <a:ea typeface="宋体" panose="02010600030101010101" pitchFamily="2" charset="-122"/>
                <a:cs typeface="Arial" panose="020B0604020202020204" pitchFamily="34" charset="0"/>
              </a:rPr>
              <a:t>势垒电容    </a:t>
            </a:r>
            <a:endParaRPr lang="zh-CN" altLang="en-US" sz="3200" b="1">
              <a:solidFill>
                <a:srgbClr val="FFFFFF"/>
              </a:solidFill>
              <a:ea typeface="宋体" panose="02010600030101010101" pitchFamily="2" charset="-122"/>
              <a:cs typeface="Arial" panose="020B0604020202020204" pitchFamily="34" charset="0"/>
            </a:endParaRPr>
          </a:p>
        </p:txBody>
      </p:sp>
      <p:sp>
        <p:nvSpPr>
          <p:cNvPr id="7192" name="Text Box 24"/>
          <p:cNvSpPr txBox="1">
            <a:spLocks noChangeArrowheads="1"/>
          </p:cNvSpPr>
          <p:nvPr/>
        </p:nvSpPr>
        <p:spPr bwMode="white">
          <a:xfrm>
            <a:off x="3929063" y="3857625"/>
            <a:ext cx="44958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292929">
                      <a:alpha val="50000"/>
                    </a:srgbClr>
                  </a:outerShdw>
                </a:effectLst>
              </a14:hiddenEffects>
            </a:ext>
          </a:extLst>
        </p:spPr>
        <p:txBody>
          <a:bodyPr>
            <a:spAutoFit/>
          </a:bodyPr>
          <a:lstStyle>
            <a:lvl1pPr marL="457200" indent="-457200" algn="l">
              <a:defRPr>
                <a:solidFill>
                  <a:schemeClr val="tx1"/>
                </a:solidFill>
                <a:latin typeface="Arial" panose="020B0604020202020204" pitchFamily="34" charset="0"/>
              </a:defRPr>
            </a:lvl1pPr>
            <a:lvl2pPr marL="914400" indent="-457200" algn="l">
              <a:defRPr>
                <a:solidFill>
                  <a:schemeClr val="tx1"/>
                </a:solidFill>
                <a:latin typeface="Arial" panose="020B0604020202020204" pitchFamily="34" charset="0"/>
              </a:defRPr>
            </a:lvl2pPr>
            <a:lvl3pPr marL="1371600" indent="-457200" algn="l">
              <a:defRPr>
                <a:solidFill>
                  <a:schemeClr val="tx1"/>
                </a:solidFill>
                <a:latin typeface="Arial" panose="020B0604020202020204" pitchFamily="34" charset="0"/>
              </a:defRPr>
            </a:lvl3pPr>
            <a:lvl4pPr marL="1828800" indent="-457200" algn="l">
              <a:defRPr>
                <a:solidFill>
                  <a:schemeClr val="tx1"/>
                </a:solidFill>
                <a:latin typeface="Arial" panose="020B0604020202020204" pitchFamily="34" charset="0"/>
              </a:defRPr>
            </a:lvl4pPr>
            <a:lvl5pPr marL="2286000" indent="-457200" algn="l">
              <a:defRPr>
                <a:solidFill>
                  <a:schemeClr val="tx1"/>
                </a:solidFill>
                <a:latin typeface="Arial" panose="020B0604020202020204" pitchFamily="34" charset="0"/>
              </a:defRPr>
            </a:lvl5pPr>
            <a:lvl6pPr marL="2743200" indent="-457200" fontAlgn="base">
              <a:spcBef>
                <a:spcPct val="0"/>
              </a:spcBef>
              <a:spcAft>
                <a:spcPct val="0"/>
              </a:spcAft>
              <a:defRPr>
                <a:solidFill>
                  <a:schemeClr val="tx1"/>
                </a:solidFill>
                <a:latin typeface="Arial" panose="020B0604020202020204" pitchFamily="34" charset="0"/>
              </a:defRPr>
            </a:lvl6pPr>
            <a:lvl7pPr marL="3200400" indent="-457200" fontAlgn="base">
              <a:spcBef>
                <a:spcPct val="0"/>
              </a:spcBef>
              <a:spcAft>
                <a:spcPct val="0"/>
              </a:spcAft>
              <a:defRPr>
                <a:solidFill>
                  <a:schemeClr val="tx1"/>
                </a:solidFill>
                <a:latin typeface="Arial" panose="020B0604020202020204" pitchFamily="34" charset="0"/>
              </a:defRPr>
            </a:lvl7pPr>
            <a:lvl8pPr marL="3657600" indent="-457200" fontAlgn="base">
              <a:spcBef>
                <a:spcPct val="0"/>
              </a:spcBef>
              <a:spcAft>
                <a:spcPct val="0"/>
              </a:spcAft>
              <a:defRPr>
                <a:solidFill>
                  <a:schemeClr val="tx1"/>
                </a:solidFill>
                <a:latin typeface="Arial" panose="020B0604020202020204" pitchFamily="34" charset="0"/>
              </a:defRPr>
            </a:lvl8pPr>
            <a:lvl9pPr marL="4114800" indent="-457200" fontAlgn="base">
              <a:spcBef>
                <a:spcPct val="0"/>
              </a:spcBef>
              <a:spcAft>
                <a:spcPct val="0"/>
              </a:spcAft>
              <a:defRPr>
                <a:solidFill>
                  <a:schemeClr val="tx1"/>
                </a:solidFill>
                <a:latin typeface="Arial" panose="020B0604020202020204" pitchFamily="34" charset="0"/>
              </a:defRPr>
            </a:lvl9pPr>
          </a:lstStyle>
          <a:p>
            <a:pPr algn="ctr">
              <a:spcBef>
                <a:spcPct val="50000"/>
              </a:spcBef>
              <a:buClr>
                <a:schemeClr val="tx1"/>
              </a:buClr>
            </a:pPr>
            <a:r>
              <a:rPr lang="zh-CN" altLang="en-US" sz="3200" b="1">
                <a:solidFill>
                  <a:srgbClr val="FFFFFF"/>
                </a:solidFill>
                <a:ea typeface="宋体" panose="02010600030101010101" pitchFamily="2" charset="-122"/>
                <a:cs typeface="Arial" panose="020B0604020202020204" pitchFamily="34" charset="0"/>
              </a:rPr>
              <a:t>扩散电容 </a:t>
            </a:r>
            <a:r>
              <a:rPr lang="zh-CN" altLang="en-US" sz="2400" b="1">
                <a:solidFill>
                  <a:srgbClr val="FFFFFF"/>
                </a:solidFill>
                <a:ea typeface="宋体" panose="02010600030101010101" pitchFamily="2" charset="-122"/>
                <a:cs typeface="Arial" panose="020B0604020202020204" pitchFamily="34" charset="0"/>
              </a:rPr>
              <a:t>   </a:t>
            </a:r>
            <a:endParaRPr lang="zh-CN" altLang="en-US" sz="2400" b="1">
              <a:solidFill>
                <a:srgbClr val="FFFFFF"/>
              </a:solidFill>
              <a:ea typeface="宋体" panose="02010600030101010101" pitchFamily="2" charset="-122"/>
              <a:cs typeface="Arial" panose="020B0604020202020204" pitchFamily="34" charset="0"/>
            </a:endParaRPr>
          </a:p>
        </p:txBody>
      </p:sp>
      <p:sp>
        <p:nvSpPr>
          <p:cNvPr id="7193" name="Text Box 25"/>
          <p:cNvSpPr txBox="1">
            <a:spLocks noChangeArrowheads="1"/>
          </p:cNvSpPr>
          <p:nvPr/>
        </p:nvSpPr>
        <p:spPr bwMode="white">
          <a:xfrm>
            <a:off x="3929063" y="4427538"/>
            <a:ext cx="449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292929">
                      <a:alpha val="50000"/>
                    </a:srgbClr>
                  </a:outerShdw>
                </a:effectLst>
              </a14:hiddenEffects>
            </a:ext>
          </a:extLst>
        </p:spPr>
        <p:txBody>
          <a:bodyPr>
            <a:spAutoFit/>
          </a:bodyPr>
          <a:lstStyle>
            <a:lvl1pPr marL="457200" indent="-457200" algn="l">
              <a:defRPr>
                <a:solidFill>
                  <a:schemeClr val="tx1"/>
                </a:solidFill>
                <a:latin typeface="Arial" panose="020B0604020202020204" pitchFamily="34" charset="0"/>
              </a:defRPr>
            </a:lvl1pPr>
            <a:lvl2pPr marL="914400" indent="-457200" algn="l">
              <a:defRPr>
                <a:solidFill>
                  <a:schemeClr val="tx1"/>
                </a:solidFill>
                <a:latin typeface="Arial" panose="020B0604020202020204" pitchFamily="34" charset="0"/>
              </a:defRPr>
            </a:lvl2pPr>
            <a:lvl3pPr marL="1371600" indent="-457200" algn="l">
              <a:defRPr>
                <a:solidFill>
                  <a:schemeClr val="tx1"/>
                </a:solidFill>
                <a:latin typeface="Arial" panose="020B0604020202020204" pitchFamily="34" charset="0"/>
              </a:defRPr>
            </a:lvl3pPr>
            <a:lvl4pPr marL="1828800" indent="-457200" algn="l">
              <a:defRPr>
                <a:solidFill>
                  <a:schemeClr val="tx1"/>
                </a:solidFill>
                <a:latin typeface="Arial" panose="020B0604020202020204" pitchFamily="34" charset="0"/>
              </a:defRPr>
            </a:lvl4pPr>
            <a:lvl5pPr marL="2286000" indent="-457200" algn="l">
              <a:defRPr>
                <a:solidFill>
                  <a:schemeClr val="tx1"/>
                </a:solidFill>
                <a:latin typeface="Arial" panose="020B0604020202020204" pitchFamily="34" charset="0"/>
              </a:defRPr>
            </a:lvl5pPr>
            <a:lvl6pPr marL="2743200" indent="-457200" fontAlgn="base">
              <a:spcBef>
                <a:spcPct val="0"/>
              </a:spcBef>
              <a:spcAft>
                <a:spcPct val="0"/>
              </a:spcAft>
              <a:defRPr>
                <a:solidFill>
                  <a:schemeClr val="tx1"/>
                </a:solidFill>
                <a:latin typeface="Arial" panose="020B0604020202020204" pitchFamily="34" charset="0"/>
              </a:defRPr>
            </a:lvl6pPr>
            <a:lvl7pPr marL="3200400" indent="-457200" fontAlgn="base">
              <a:spcBef>
                <a:spcPct val="0"/>
              </a:spcBef>
              <a:spcAft>
                <a:spcPct val="0"/>
              </a:spcAft>
              <a:defRPr>
                <a:solidFill>
                  <a:schemeClr val="tx1"/>
                </a:solidFill>
                <a:latin typeface="Arial" panose="020B0604020202020204" pitchFamily="34" charset="0"/>
              </a:defRPr>
            </a:lvl7pPr>
            <a:lvl8pPr marL="3657600" indent="-457200" fontAlgn="base">
              <a:spcBef>
                <a:spcPct val="0"/>
              </a:spcBef>
              <a:spcAft>
                <a:spcPct val="0"/>
              </a:spcAft>
              <a:defRPr>
                <a:solidFill>
                  <a:schemeClr val="tx1"/>
                </a:solidFill>
                <a:latin typeface="Arial" panose="020B0604020202020204" pitchFamily="34" charset="0"/>
              </a:defRPr>
            </a:lvl8pPr>
            <a:lvl9pPr marL="4114800" indent="-457200" fontAlgn="base">
              <a:spcBef>
                <a:spcPct val="0"/>
              </a:spcBef>
              <a:spcAft>
                <a:spcPct val="0"/>
              </a:spcAft>
              <a:defRPr>
                <a:solidFill>
                  <a:schemeClr val="tx1"/>
                </a:solidFill>
                <a:latin typeface="Arial" panose="020B0604020202020204" pitchFamily="34" charset="0"/>
              </a:defRPr>
            </a:lvl9pPr>
          </a:lstStyle>
          <a:p>
            <a:pPr algn="ctr">
              <a:spcBef>
                <a:spcPct val="50000"/>
              </a:spcBef>
              <a:buClr>
                <a:schemeClr val="tx1"/>
              </a:buClr>
            </a:pPr>
            <a:r>
              <a:rPr lang="en-US" altLang="zh-CN" sz="2400" b="1">
                <a:solidFill>
                  <a:srgbClr val="FFFFFF"/>
                </a:solidFill>
                <a:ea typeface="宋体" panose="02010600030101010101" pitchFamily="2" charset="-122"/>
                <a:cs typeface="Arial" panose="020B0604020202020204" pitchFamily="34" charset="0"/>
              </a:rPr>
              <a:t>Click to add title in here    </a:t>
            </a:r>
            <a:endParaRPr lang="en-US" altLang="zh-CN" sz="2400" b="1">
              <a:solidFill>
                <a:srgbClr val="FFFFFF"/>
              </a:solidFill>
              <a:ea typeface="宋体" panose="02010600030101010101" pitchFamily="2" charset="-122"/>
              <a:cs typeface="Arial" panose="020B0604020202020204" pitchFamily="34" charset="0"/>
            </a:endParaRPr>
          </a:p>
        </p:txBody>
      </p:sp>
      <p:pic>
        <p:nvPicPr>
          <p:cNvPr id="7197" name="Picture 29" descr="1"/>
          <p:cNvPicPr>
            <a:picLocks noChangeAspect="1" noChangeArrowheads="1"/>
          </p:cNvPicPr>
          <p:nvPr/>
        </p:nvPicPr>
        <p:blipFill>
          <a:blip r:embed="rId1">
            <a:lum bright="-6000" contrast="24000"/>
            <a:extLst>
              <a:ext uri="{28A0092B-C50C-407E-A947-70E740481C1C}">
                <a14:useLocalDpi xmlns:a14="http://schemas.microsoft.com/office/drawing/2010/main" val="0"/>
              </a:ext>
            </a:extLst>
          </a:blip>
          <a:srcRect l="42606" t="64474" r="19473"/>
          <a:stretch>
            <a:fillRect/>
          </a:stretch>
        </p:blipFill>
        <p:spPr bwMode="auto">
          <a:xfrm>
            <a:off x="3267076" y="3789364"/>
            <a:ext cx="792163" cy="949325"/>
          </a:xfrm>
          <a:prstGeom prst="rect">
            <a:avLst/>
          </a:prstGeom>
          <a:noFill/>
          <a:extLst>
            <a:ext uri="{909E8E84-426E-40DD-AFC4-6F175D3DCCD1}">
              <a14:hiddenFill xmlns:a14="http://schemas.microsoft.com/office/drawing/2010/main">
                <a:solidFill>
                  <a:srgbClr val="FFFFFF"/>
                </a:solidFill>
              </a14:hiddenFill>
            </a:ext>
          </a:extLst>
        </p:spPr>
      </p:pic>
      <p:pic>
        <p:nvPicPr>
          <p:cNvPr id="7198" name="Picture 30" descr="1"/>
          <p:cNvPicPr>
            <a:picLocks noChangeAspect="1" noChangeArrowheads="1"/>
          </p:cNvPicPr>
          <p:nvPr/>
        </p:nvPicPr>
        <p:blipFill>
          <a:blip r:embed="rId1">
            <a:lum bright="-6000" contrast="24000"/>
            <a:extLst>
              <a:ext uri="{28A0092B-C50C-407E-A947-70E740481C1C}">
                <a14:useLocalDpi xmlns:a14="http://schemas.microsoft.com/office/drawing/2010/main" val="0"/>
              </a:ext>
            </a:extLst>
          </a:blip>
          <a:srcRect l="42606" t="64474" r="19473"/>
          <a:stretch>
            <a:fillRect/>
          </a:stretch>
        </p:blipFill>
        <p:spPr bwMode="auto">
          <a:xfrm>
            <a:off x="3255963" y="2592389"/>
            <a:ext cx="792162" cy="949325"/>
          </a:xfrm>
          <a:prstGeom prst="rect">
            <a:avLst/>
          </a:prstGeom>
          <a:noFill/>
          <a:extLst>
            <a:ext uri="{909E8E84-426E-40DD-AFC4-6F175D3DCCD1}">
              <a14:hiddenFill xmlns:a14="http://schemas.microsoft.com/office/drawing/2010/main">
                <a:solidFill>
                  <a:srgbClr val="FFFFFF"/>
                </a:solidFill>
              </a14:hiddenFill>
            </a:ext>
          </a:extLst>
        </p:spPr>
      </p:pic>
      <p:sp>
        <p:nvSpPr>
          <p:cNvPr id="7200" name="Text Box 32"/>
          <p:cNvSpPr txBox="1">
            <a:spLocks noChangeArrowheads="1"/>
          </p:cNvSpPr>
          <p:nvPr/>
        </p:nvSpPr>
        <p:spPr bwMode="white">
          <a:xfrm>
            <a:off x="3576638" y="2689225"/>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1">
                <a:solidFill>
                  <a:srgbClr val="FFFFFF"/>
                </a:solidFill>
                <a:ea typeface="宋体" panose="02010600030101010101" pitchFamily="2" charset="-122"/>
                <a:cs typeface="Arial" panose="020B0604020202020204" pitchFamily="34" charset="0"/>
              </a:rPr>
              <a:t>1</a:t>
            </a:r>
            <a:endParaRPr lang="en-US" altLang="zh-CN" sz="2400" b="1">
              <a:solidFill>
                <a:srgbClr val="FFFFFF"/>
              </a:solidFill>
              <a:ea typeface="宋体" panose="02010600030101010101" pitchFamily="2" charset="-122"/>
              <a:cs typeface="Arial" panose="020B0604020202020204" pitchFamily="34" charset="0"/>
            </a:endParaRPr>
          </a:p>
        </p:txBody>
      </p:sp>
      <p:sp>
        <p:nvSpPr>
          <p:cNvPr id="7201" name="Text Box 33"/>
          <p:cNvSpPr txBox="1">
            <a:spLocks noChangeArrowheads="1"/>
          </p:cNvSpPr>
          <p:nvPr/>
        </p:nvSpPr>
        <p:spPr bwMode="white">
          <a:xfrm>
            <a:off x="3589338" y="3908425"/>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1">
                <a:solidFill>
                  <a:srgbClr val="FFFFFF"/>
                </a:solidFill>
                <a:ea typeface="宋体" panose="02010600030101010101" pitchFamily="2" charset="-122"/>
                <a:cs typeface="Arial" panose="020B0604020202020204" pitchFamily="34" charset="0"/>
              </a:rPr>
              <a:t>2</a:t>
            </a:r>
            <a:endParaRPr lang="en-US" altLang="zh-CN" sz="2400" b="1">
              <a:solidFill>
                <a:srgbClr val="FFFFFF"/>
              </a:solidFill>
              <a:ea typeface="宋体" panose="02010600030101010101" pitchFamily="2" charset="-122"/>
              <a:cs typeface="Arial" panose="020B0604020202020204" pitchFamily="34" charset="0"/>
            </a:endParaRPr>
          </a:p>
        </p:txBody>
      </p:sp>
      <p:sp>
        <p:nvSpPr>
          <p:cNvPr id="7202" name="Text Box 34"/>
          <p:cNvSpPr txBox="1">
            <a:spLocks noChangeArrowheads="1"/>
          </p:cNvSpPr>
          <p:nvPr/>
        </p:nvSpPr>
        <p:spPr bwMode="white">
          <a:xfrm>
            <a:off x="3589338" y="4435475"/>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1">
                <a:solidFill>
                  <a:srgbClr val="FFFFFF"/>
                </a:solidFill>
                <a:ea typeface="宋体" panose="02010600030101010101" pitchFamily="2" charset="-122"/>
                <a:cs typeface="Arial" panose="020B0604020202020204" pitchFamily="34" charset="0"/>
              </a:rPr>
              <a:t>3</a:t>
            </a:r>
            <a:endParaRPr lang="en-US" altLang="zh-CN" sz="2400" b="1">
              <a:solidFill>
                <a:srgbClr val="FFFFFF"/>
              </a:solidFill>
              <a:ea typeface="宋体" panose="02010600030101010101" pitchFamily="2" charset="-122"/>
              <a:cs typeface="Arial" panose="020B0604020202020204" pitchFamily="34" charset="0"/>
            </a:endParaRPr>
          </a:p>
        </p:txBody>
      </p:sp>
      <p:sp>
        <p:nvSpPr>
          <p:cNvPr id="7206" name="Rectangle 38" descr="2"/>
          <p:cNvSpPr>
            <a:spLocks noChangeArrowheads="1"/>
          </p:cNvSpPr>
          <p:nvPr/>
        </p:nvSpPr>
        <p:spPr bwMode="gray">
          <a:xfrm>
            <a:off x="1776413" y="1419225"/>
            <a:ext cx="5327650" cy="641350"/>
          </a:xfrm>
          <a:prstGeom prst="rect">
            <a:avLst/>
          </a:prstGeom>
          <a:noFill/>
          <a:ln>
            <a:noFill/>
          </a:ln>
          <a:effectLst/>
          <a:extLst>
            <a:ext uri="{909E8E84-426E-40DD-AFC4-6F175D3DCCD1}">
              <a14:hiddenFill xmlns:a14="http://schemas.microsoft.com/office/drawing/2010/main">
                <a:blipFill dpi="0" rotWithShape="1">
                  <a:blip r:embed="rId2"/>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3600" b="1">
                <a:solidFill>
                  <a:schemeClr val="tx2"/>
                </a:solidFill>
                <a:ea typeface="宋体" panose="02010600030101010101" pitchFamily="2" charset="-122"/>
              </a:rPr>
              <a:t>p-n</a:t>
            </a:r>
            <a:r>
              <a:rPr lang="zh-CN" altLang="en-US" sz="3600" b="1">
                <a:solidFill>
                  <a:schemeClr val="tx2"/>
                </a:solidFill>
                <a:ea typeface="宋体" panose="02010600030101010101" pitchFamily="2" charset="-122"/>
              </a:rPr>
              <a:t>结电容包括两部分：</a:t>
            </a:r>
            <a:endParaRPr lang="zh-CN" altLang="en-US" sz="3600" b="1">
              <a:solidFill>
                <a:schemeClr val="tx2"/>
              </a:solidFill>
              <a:ea typeface="宋体" panose="02010600030101010101" pitchFamily="2" charset="-122"/>
            </a:endParaRP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sz="half" idx="1"/>
          </p:nvPr>
        </p:nvSpPr>
        <p:spPr>
          <a:xfrm>
            <a:off x="1919288" y="1700214"/>
            <a:ext cx="8424862" cy="1944687"/>
          </a:xfrm>
        </p:spPr>
        <p:txBody>
          <a:bodyPr/>
          <a:lstStyle/>
          <a:p>
            <a:pPr>
              <a:buFontTx/>
              <a:buNone/>
            </a:pPr>
            <a:r>
              <a:rPr lang="zh-CN" altLang="en-US" b="1">
                <a:solidFill>
                  <a:schemeClr val="tx2"/>
                </a:solidFill>
                <a:ea typeface="宋体" panose="02010600030101010101" pitchFamily="2" charset="-122"/>
              </a:rPr>
              <a:t>   当</a:t>
            </a:r>
            <a:r>
              <a:rPr lang="en-US" altLang="zh-CN" b="1">
                <a:solidFill>
                  <a:schemeClr val="tx2"/>
                </a:solidFill>
                <a:ea typeface="宋体" panose="02010600030101010101" pitchFamily="2" charset="-122"/>
              </a:rPr>
              <a:t>p-n</a:t>
            </a:r>
            <a:r>
              <a:rPr lang="zh-CN" altLang="en-US" b="1">
                <a:solidFill>
                  <a:schemeClr val="tx2"/>
                </a:solidFill>
                <a:ea typeface="宋体" panose="02010600030101010101" pitchFamily="2" charset="-122"/>
              </a:rPr>
              <a:t>结加正向偏压时，势垒区的电场随正向偏压的增加而减弱，势垒区宽度变窄，空间电荷数量减少，如下图所示：</a:t>
            </a:r>
            <a:endParaRPr lang="zh-CN" altLang="en-US" b="1">
              <a:solidFill>
                <a:schemeClr val="tx2"/>
              </a:solidFill>
              <a:ea typeface="宋体" panose="02010600030101010101" pitchFamily="2" charset="-122"/>
            </a:endParaRPr>
          </a:p>
        </p:txBody>
      </p:sp>
      <p:sp>
        <p:nvSpPr>
          <p:cNvPr id="8198" name="Text Box 6" descr="2"/>
          <p:cNvSpPr txBox="1">
            <a:spLocks noChangeArrowheads="1"/>
          </p:cNvSpPr>
          <p:nvPr/>
        </p:nvSpPr>
        <p:spPr bwMode="gray">
          <a:xfrm>
            <a:off x="1416051" y="333375"/>
            <a:ext cx="3959225" cy="641350"/>
          </a:xfrm>
          <a:prstGeom prst="rect">
            <a:avLst/>
          </a:prstGeom>
          <a:noFill/>
          <a:ln>
            <a:noFill/>
          </a:ln>
          <a:effectLst/>
          <a:extLst>
            <a:ext uri="{909E8E84-426E-40DD-AFC4-6F175D3DCCD1}">
              <a14:hiddenFill xmlns:a14="http://schemas.microsoft.com/office/drawing/2010/main">
                <a:blipFill dpi="0" rotWithShape="1">
                  <a:blip r:embed="rId1"/>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3600" b="1">
                <a:solidFill>
                  <a:srgbClr val="FFFFFF"/>
                </a:solidFill>
                <a:ea typeface="宋体" panose="02010600030101010101" pitchFamily="2" charset="-122"/>
              </a:rPr>
              <a:t>（</a:t>
            </a:r>
            <a:r>
              <a:rPr lang="en-US" altLang="zh-CN" sz="3600" b="1">
                <a:solidFill>
                  <a:srgbClr val="FFFFFF"/>
                </a:solidFill>
                <a:ea typeface="宋体" panose="02010600030101010101" pitchFamily="2" charset="-122"/>
              </a:rPr>
              <a:t>1</a:t>
            </a:r>
            <a:r>
              <a:rPr lang="zh-CN" altLang="en-US" sz="3600" b="1">
                <a:solidFill>
                  <a:srgbClr val="FFFFFF"/>
                </a:solidFill>
                <a:ea typeface="宋体" panose="02010600030101010101" pitchFamily="2" charset="-122"/>
              </a:rPr>
              <a:t>）势垒电容</a:t>
            </a:r>
            <a:endParaRPr lang="zh-CN" altLang="en-US" sz="3600" b="1">
              <a:solidFill>
                <a:srgbClr val="FFFFFF"/>
              </a:solidFill>
              <a:ea typeface="宋体" panose="02010600030101010101" pitchFamily="2" charset="-122"/>
            </a:endParaRPr>
          </a:p>
        </p:txBody>
      </p:sp>
      <p:pic>
        <p:nvPicPr>
          <p:cNvPr id="8199" name="Picture 7" descr="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2351088" y="3500438"/>
            <a:ext cx="2952750" cy="1054100"/>
          </a:xfrm>
          <a:prstGeom prst="rect">
            <a:avLst/>
          </a:prstGeom>
          <a:noFill/>
          <a:ln>
            <a:noFill/>
          </a:ln>
          <a:effectLst/>
          <a:extLst>
            <a:ext uri="{909E8E84-426E-40DD-AFC4-6F175D3DCCD1}">
              <a14:hiddenFill xmlns:a14="http://schemas.microsoft.com/office/drawing/2010/main">
                <a:blipFill dpi="0" rotWithShape="1">
                  <a:blip/>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200" name="Picture 8" descr="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gray">
          <a:xfrm>
            <a:off x="2351088" y="4868864"/>
            <a:ext cx="2881312" cy="960437"/>
          </a:xfrm>
          <a:prstGeom prst="rect">
            <a:avLst/>
          </a:prstGeom>
          <a:noFill/>
          <a:ln>
            <a:noFill/>
          </a:ln>
          <a:effectLst/>
          <a:extLst>
            <a:ext uri="{909E8E84-426E-40DD-AFC4-6F175D3DCCD1}">
              <a14:hiddenFill xmlns:a14="http://schemas.microsoft.com/office/drawing/2010/main">
                <a:blipFill dpi="0" rotWithShape="1">
                  <a:blip/>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201" name="Text Box 9" descr="2"/>
          <p:cNvSpPr txBox="1">
            <a:spLocks noChangeArrowheads="1"/>
          </p:cNvSpPr>
          <p:nvPr/>
        </p:nvSpPr>
        <p:spPr bwMode="gray">
          <a:xfrm>
            <a:off x="5735639" y="3763963"/>
            <a:ext cx="3743325" cy="457200"/>
          </a:xfrm>
          <a:prstGeom prst="rect">
            <a:avLst/>
          </a:prstGeom>
          <a:noFill/>
          <a:ln>
            <a:noFill/>
          </a:ln>
          <a:effectLst/>
          <a:extLst>
            <a:ext uri="{909E8E84-426E-40DD-AFC4-6F175D3DCCD1}">
              <a14:hiddenFill xmlns:a14="http://schemas.microsoft.com/office/drawing/2010/main">
                <a:blipFill dpi="0" rotWithShape="1">
                  <a:blip r:embed="rId1"/>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a:solidFill>
                  <a:schemeClr val="tx2"/>
                </a:solidFill>
                <a:ea typeface="宋体" panose="02010600030101010101" pitchFamily="2" charset="-122"/>
              </a:rPr>
              <a:t>平衡</a:t>
            </a:r>
            <a:r>
              <a:rPr lang="en-US" altLang="zh-CN" sz="2400">
                <a:solidFill>
                  <a:schemeClr val="tx2"/>
                </a:solidFill>
                <a:ea typeface="宋体" panose="02010600030101010101" pitchFamily="2" charset="-122"/>
              </a:rPr>
              <a:t>p-n</a:t>
            </a:r>
            <a:r>
              <a:rPr lang="zh-CN" altLang="en-US" sz="2400">
                <a:solidFill>
                  <a:schemeClr val="tx2"/>
                </a:solidFill>
                <a:ea typeface="宋体" panose="02010600030101010101" pitchFamily="2" charset="-122"/>
              </a:rPr>
              <a:t>结势垒区</a:t>
            </a:r>
            <a:endParaRPr lang="zh-CN" altLang="en-US" sz="2400">
              <a:solidFill>
                <a:schemeClr val="tx2"/>
              </a:solidFill>
              <a:ea typeface="宋体" panose="02010600030101010101" pitchFamily="2" charset="-122"/>
            </a:endParaRPr>
          </a:p>
        </p:txBody>
      </p:sp>
      <p:sp>
        <p:nvSpPr>
          <p:cNvPr id="8202" name="Text Box 10" descr="2"/>
          <p:cNvSpPr txBox="1">
            <a:spLocks noChangeArrowheads="1"/>
          </p:cNvSpPr>
          <p:nvPr/>
        </p:nvSpPr>
        <p:spPr bwMode="gray">
          <a:xfrm>
            <a:off x="6024564" y="5059363"/>
            <a:ext cx="3095625" cy="457200"/>
          </a:xfrm>
          <a:prstGeom prst="rect">
            <a:avLst/>
          </a:prstGeom>
          <a:noFill/>
          <a:ln>
            <a:noFill/>
          </a:ln>
          <a:effectLst/>
          <a:extLst>
            <a:ext uri="{909E8E84-426E-40DD-AFC4-6F175D3DCCD1}">
              <a14:hiddenFill xmlns:a14="http://schemas.microsoft.com/office/drawing/2010/main">
                <a:blipFill dpi="0" rotWithShape="1">
                  <a:blip r:embed="rId1"/>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a:solidFill>
                  <a:schemeClr val="tx2"/>
                </a:solidFill>
                <a:ea typeface="宋体" panose="02010600030101010101" pitchFamily="2" charset="-122"/>
              </a:rPr>
              <a:t>正偏时，势垒区变窄</a:t>
            </a:r>
            <a:endParaRPr lang="zh-CN" altLang="en-US" sz="2400">
              <a:solidFill>
                <a:schemeClr val="tx2"/>
              </a:solidFill>
              <a:ea typeface="宋体" panose="02010600030101010101" pitchFamily="2" charset="-122"/>
            </a:endParaRP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body" sz="half" idx="1"/>
          </p:nvPr>
        </p:nvSpPr>
        <p:spPr>
          <a:xfrm>
            <a:off x="1882776" y="1268413"/>
            <a:ext cx="8101013" cy="2087562"/>
          </a:xfrm>
        </p:spPr>
        <p:txBody>
          <a:bodyPr/>
          <a:lstStyle/>
          <a:p>
            <a:pPr fontAlgn="t">
              <a:lnSpc>
                <a:spcPct val="90000"/>
              </a:lnSpc>
              <a:buFontTx/>
              <a:buNone/>
            </a:pPr>
            <a:r>
              <a:rPr lang="zh-CN" altLang="en-US" sz="2000">
                <a:solidFill>
                  <a:schemeClr val="tx2"/>
                </a:solidFill>
                <a:ea typeface="宋体" panose="02010600030101010101" pitchFamily="2" charset="-122"/>
              </a:rPr>
              <a:t>     </a:t>
            </a:r>
            <a:r>
              <a:rPr lang="zh-CN" altLang="en-US" sz="2400">
                <a:solidFill>
                  <a:schemeClr val="tx2"/>
                </a:solidFill>
                <a:ea typeface="宋体" panose="02010600030101010101" pitchFamily="2" charset="-122"/>
              </a:rPr>
              <a:t>空间电荷的减少是由于</a:t>
            </a:r>
            <a:r>
              <a:rPr lang="en-US" altLang="zh-CN" sz="2400">
                <a:solidFill>
                  <a:schemeClr val="tx2"/>
                </a:solidFill>
                <a:ea typeface="宋体" panose="02010600030101010101" pitchFamily="2" charset="-122"/>
              </a:rPr>
              <a:t>n</a:t>
            </a:r>
            <a:r>
              <a:rPr lang="zh-CN" altLang="en-US" sz="2400">
                <a:solidFill>
                  <a:schemeClr val="tx2"/>
                </a:solidFill>
                <a:ea typeface="宋体" panose="02010600030101010101" pitchFamily="2" charset="-122"/>
              </a:rPr>
              <a:t>区的电子和</a:t>
            </a:r>
            <a:r>
              <a:rPr lang="en-US" altLang="zh-CN" sz="2400">
                <a:solidFill>
                  <a:schemeClr val="tx2"/>
                </a:solidFill>
                <a:ea typeface="宋体" panose="02010600030101010101" pitchFamily="2" charset="-122"/>
              </a:rPr>
              <a:t>p</a:t>
            </a:r>
            <a:r>
              <a:rPr lang="zh-CN" altLang="en-US" sz="2400">
                <a:solidFill>
                  <a:schemeClr val="tx2"/>
                </a:solidFill>
                <a:ea typeface="宋体" panose="02010600030101010101" pitchFamily="2" charset="-122"/>
              </a:rPr>
              <a:t>区的空穴过来中和了势垒区中一部分电离施主和电离受主（如图箭头</a:t>
            </a:r>
            <a:r>
              <a:rPr lang="en-US" altLang="zh-CN" sz="2400">
                <a:solidFill>
                  <a:schemeClr val="tx2"/>
                </a:solidFill>
                <a:ea typeface="宋体" panose="02010600030101010101" pitchFamily="2" charset="-122"/>
              </a:rPr>
              <a:t>A</a:t>
            </a:r>
            <a:r>
              <a:rPr lang="zh-CN" altLang="en-US" sz="2400">
                <a:solidFill>
                  <a:schemeClr val="tx2"/>
                </a:solidFill>
                <a:ea typeface="宋体" panose="02010600030101010101" pitchFamily="2" charset="-122"/>
              </a:rPr>
              <a:t>），在外加正向偏压增加时，将有一部分电子和空穴“存入”势垒区。 反之，当正向偏压减小时，势垒区的电场增强，势垒区宽度增加，空间电荷数量增多，这就是有一部分电子和空穴从势垒区中“取出”。</a:t>
            </a:r>
            <a:endParaRPr lang="zh-CN" altLang="en-US" sz="2400">
              <a:solidFill>
                <a:schemeClr val="tx2"/>
              </a:solidFill>
              <a:ea typeface="宋体" panose="02010600030101010101" pitchFamily="2" charset="-122"/>
            </a:endParaRPr>
          </a:p>
        </p:txBody>
      </p:sp>
      <p:sp>
        <p:nvSpPr>
          <p:cNvPr id="51203" name="Text Box 3" descr="2"/>
          <p:cNvSpPr txBox="1">
            <a:spLocks noChangeArrowheads="1"/>
          </p:cNvSpPr>
          <p:nvPr/>
        </p:nvSpPr>
        <p:spPr bwMode="gray">
          <a:xfrm>
            <a:off x="1487487" y="333375"/>
            <a:ext cx="3959226" cy="641350"/>
          </a:xfrm>
          <a:prstGeom prst="rect">
            <a:avLst/>
          </a:prstGeom>
          <a:noFill/>
          <a:ln>
            <a:noFill/>
          </a:ln>
          <a:effectLst/>
          <a:extLst>
            <a:ext uri="{909E8E84-426E-40DD-AFC4-6F175D3DCCD1}">
              <a14:hiddenFill xmlns:a14="http://schemas.microsoft.com/office/drawing/2010/main">
                <a:blipFill dpi="0" rotWithShape="1">
                  <a:blip r:embed="rId1"/>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3600" b="1">
                <a:solidFill>
                  <a:srgbClr val="FFFFFF"/>
                </a:solidFill>
                <a:ea typeface="宋体" panose="02010600030101010101" pitchFamily="2" charset="-122"/>
              </a:rPr>
              <a:t>（</a:t>
            </a:r>
            <a:r>
              <a:rPr lang="en-US" altLang="zh-CN" sz="3600" b="1">
                <a:solidFill>
                  <a:srgbClr val="FFFFFF"/>
                </a:solidFill>
                <a:ea typeface="宋体" panose="02010600030101010101" pitchFamily="2" charset="-122"/>
              </a:rPr>
              <a:t>1</a:t>
            </a:r>
            <a:r>
              <a:rPr lang="zh-CN" altLang="en-US" sz="3600" b="1">
                <a:solidFill>
                  <a:srgbClr val="FFFFFF"/>
                </a:solidFill>
                <a:ea typeface="宋体" panose="02010600030101010101" pitchFamily="2" charset="-122"/>
              </a:rPr>
              <a:t>）势垒电容</a:t>
            </a:r>
            <a:endParaRPr lang="zh-CN" altLang="en-US" sz="3600" b="1">
              <a:solidFill>
                <a:srgbClr val="FFFFFF"/>
              </a:solidFill>
              <a:ea typeface="宋体" panose="02010600030101010101" pitchFamily="2" charset="-122"/>
            </a:endParaRPr>
          </a:p>
        </p:txBody>
      </p:sp>
      <p:pic>
        <p:nvPicPr>
          <p:cNvPr id="51208" name="Picture 8" descr="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4583114" y="3286126"/>
            <a:ext cx="3108325" cy="3311525"/>
          </a:xfrm>
          <a:prstGeom prst="rect">
            <a:avLst/>
          </a:prstGeom>
          <a:noFill/>
          <a:ln>
            <a:noFill/>
          </a:ln>
          <a:effectLst/>
          <a:extLst>
            <a:ext uri="{909E8E84-426E-40DD-AFC4-6F175D3DCCD1}">
              <a14:hiddenFill xmlns:a14="http://schemas.microsoft.com/office/drawing/2010/main">
                <a:blipFill dpi="0" rotWithShape="1">
                  <a:blip/>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2263" name="Group 39"/>
          <p:cNvGrpSpPr/>
          <p:nvPr/>
        </p:nvGrpSpPr>
        <p:grpSpPr bwMode="auto">
          <a:xfrm>
            <a:off x="2782889" y="2060575"/>
            <a:ext cx="6408737" cy="3024188"/>
            <a:chOff x="3413" y="1863"/>
            <a:chExt cx="1795" cy="1734"/>
          </a:xfrm>
        </p:grpSpPr>
        <p:sp>
          <p:nvSpPr>
            <p:cNvPr id="52227" name="AutoShape 3"/>
            <p:cNvSpPr>
              <a:spLocks noChangeArrowheads="1"/>
            </p:cNvSpPr>
            <p:nvPr/>
          </p:nvSpPr>
          <p:spPr bwMode="gray">
            <a:xfrm>
              <a:off x="3413" y="1863"/>
              <a:ext cx="1795" cy="1734"/>
            </a:xfrm>
            <a:prstGeom prst="roundRect">
              <a:avLst>
                <a:gd name="adj" fmla="val 8014"/>
              </a:avLst>
            </a:prstGeom>
            <a:solidFill>
              <a:srgbClr val="F8F8F8"/>
            </a:solidFill>
            <a:ln w="9525">
              <a:solidFill>
                <a:schemeClr val="accent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228" name="AutoShape 4"/>
            <p:cNvSpPr>
              <a:spLocks noChangeArrowheads="1"/>
            </p:cNvSpPr>
            <p:nvPr/>
          </p:nvSpPr>
          <p:spPr bwMode="gray">
            <a:xfrm>
              <a:off x="3470" y="1888"/>
              <a:ext cx="1703" cy="1645"/>
            </a:xfrm>
            <a:prstGeom prst="roundRect">
              <a:avLst>
                <a:gd name="adj" fmla="val 7912"/>
              </a:avLst>
            </a:prstGeom>
            <a:gradFill rotWithShape="1">
              <a:gsLst>
                <a:gs pos="0">
                  <a:schemeClr val="accent1">
                    <a:gamma/>
                    <a:tint val="38039"/>
                    <a:invGamma/>
                  </a:schemeClr>
                </a:gs>
                <a:gs pos="100000">
                  <a:schemeClr val="accent1">
                    <a:alpha val="50000"/>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2243" name="Text Box 19"/>
          <p:cNvSpPr txBox="1">
            <a:spLocks noChangeArrowheads="1"/>
          </p:cNvSpPr>
          <p:nvPr/>
        </p:nvSpPr>
        <p:spPr bwMode="gray">
          <a:xfrm>
            <a:off x="3216276" y="2420938"/>
            <a:ext cx="5616575"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r>
              <a:rPr lang="zh-CN" altLang="en-US" sz="2400" b="1">
                <a:solidFill>
                  <a:srgbClr val="000000"/>
                </a:solidFill>
                <a:ea typeface="宋体" panose="02010600030101010101" pitchFamily="2" charset="-122"/>
                <a:cs typeface="Arial" panose="020B0604020202020204" pitchFamily="34" charset="0"/>
              </a:rPr>
              <a:t>总之，</a:t>
            </a:r>
            <a:r>
              <a:rPr lang="en-US" altLang="zh-CN" sz="2400" b="1">
                <a:solidFill>
                  <a:srgbClr val="000000"/>
                </a:solidFill>
                <a:ea typeface="宋体" panose="02010600030101010101" pitchFamily="2" charset="-122"/>
                <a:cs typeface="Arial" panose="020B0604020202020204" pitchFamily="34" charset="0"/>
              </a:rPr>
              <a:t>p-n</a:t>
            </a:r>
            <a:r>
              <a:rPr lang="zh-CN" altLang="en-US" sz="2400" b="1">
                <a:solidFill>
                  <a:srgbClr val="000000"/>
                </a:solidFill>
                <a:ea typeface="宋体" panose="02010600030101010101" pitchFamily="2" charset="-122"/>
                <a:cs typeface="Arial" panose="020B0604020202020204" pitchFamily="34" charset="0"/>
              </a:rPr>
              <a:t>结上外加电压的变化，引起了电子和空穴在势垒区的“存入”和“取出”作用，导致势垒区的空间电荷数量随外加电压而变化，这和一个电容器的充放电作用相似。这种</a:t>
            </a:r>
            <a:r>
              <a:rPr lang="en-US" altLang="zh-CN" sz="2400" b="1">
                <a:solidFill>
                  <a:srgbClr val="000000"/>
                </a:solidFill>
                <a:ea typeface="宋体" panose="02010600030101010101" pitchFamily="2" charset="-122"/>
                <a:cs typeface="Arial" panose="020B0604020202020204" pitchFamily="34" charset="0"/>
              </a:rPr>
              <a:t>p-n</a:t>
            </a:r>
            <a:r>
              <a:rPr lang="zh-CN" altLang="en-US" sz="2400" b="1">
                <a:solidFill>
                  <a:srgbClr val="000000"/>
                </a:solidFill>
                <a:ea typeface="宋体" panose="02010600030101010101" pitchFamily="2" charset="-122"/>
                <a:cs typeface="Arial" panose="020B0604020202020204" pitchFamily="34" charset="0"/>
              </a:rPr>
              <a:t>结的电容效应称为势垒电容，以</a:t>
            </a:r>
            <a:r>
              <a:rPr lang="en-US" altLang="zh-CN" sz="2400" b="1">
                <a:solidFill>
                  <a:srgbClr val="000000"/>
                </a:solidFill>
                <a:ea typeface="宋体" panose="02010600030101010101" pitchFamily="2" charset="-122"/>
                <a:cs typeface="Arial" panose="020B0604020202020204" pitchFamily="34" charset="0"/>
              </a:rPr>
              <a:t>C</a:t>
            </a:r>
            <a:r>
              <a:rPr lang="en-US" altLang="zh-CN" sz="2400" b="1" baseline="-25000">
                <a:solidFill>
                  <a:srgbClr val="000000"/>
                </a:solidFill>
                <a:ea typeface="宋体" panose="02010600030101010101" pitchFamily="2" charset="-122"/>
                <a:cs typeface="Arial" panose="020B0604020202020204" pitchFamily="34" charset="0"/>
              </a:rPr>
              <a:t>T</a:t>
            </a:r>
            <a:r>
              <a:rPr lang="zh-CN" altLang="en-US" sz="2400" b="1">
                <a:solidFill>
                  <a:srgbClr val="000000"/>
                </a:solidFill>
                <a:ea typeface="宋体" panose="02010600030101010101" pitchFamily="2" charset="-122"/>
                <a:cs typeface="Arial" panose="020B0604020202020204" pitchFamily="34" charset="0"/>
              </a:rPr>
              <a:t>表示。</a:t>
            </a:r>
            <a:endParaRPr lang="zh-CN" altLang="en-US" sz="2400" b="1">
              <a:solidFill>
                <a:srgbClr val="000000"/>
              </a:solidFill>
              <a:ea typeface="宋体" panose="02010600030101010101" pitchFamily="2" charset="-122"/>
              <a:cs typeface="Arial" panose="020B0604020202020204" pitchFamily="34" charset="0"/>
            </a:endParaRPr>
          </a:p>
        </p:txBody>
      </p:sp>
      <p:sp>
        <p:nvSpPr>
          <p:cNvPr id="52264" name="Text Box 40" descr="2"/>
          <p:cNvSpPr txBox="1">
            <a:spLocks noChangeArrowheads="1"/>
          </p:cNvSpPr>
          <p:nvPr/>
        </p:nvSpPr>
        <p:spPr bwMode="gray">
          <a:xfrm>
            <a:off x="1416051" y="333375"/>
            <a:ext cx="3959225" cy="641350"/>
          </a:xfrm>
          <a:prstGeom prst="rect">
            <a:avLst/>
          </a:prstGeom>
          <a:noFill/>
          <a:ln>
            <a:noFill/>
          </a:ln>
          <a:effectLst/>
          <a:extLst>
            <a:ext uri="{909E8E84-426E-40DD-AFC4-6F175D3DCCD1}">
              <a14:hiddenFill xmlns:a14="http://schemas.microsoft.com/office/drawing/2010/main">
                <a:blipFill dpi="0" rotWithShape="1">
                  <a:blip r:embed="rId1"/>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3600" b="1">
                <a:solidFill>
                  <a:srgbClr val="FFFFFF"/>
                </a:solidFill>
                <a:ea typeface="宋体" panose="02010600030101010101" pitchFamily="2" charset="-122"/>
              </a:rPr>
              <a:t>（</a:t>
            </a:r>
            <a:r>
              <a:rPr lang="en-US" altLang="zh-CN" sz="3600" b="1">
                <a:solidFill>
                  <a:srgbClr val="FFFFFF"/>
                </a:solidFill>
                <a:ea typeface="宋体" panose="02010600030101010101" pitchFamily="2" charset="-122"/>
              </a:rPr>
              <a:t>1</a:t>
            </a:r>
            <a:r>
              <a:rPr lang="zh-CN" altLang="en-US" sz="3600" b="1">
                <a:solidFill>
                  <a:srgbClr val="FFFFFF"/>
                </a:solidFill>
                <a:ea typeface="宋体" panose="02010600030101010101" pitchFamily="2" charset="-122"/>
              </a:rPr>
              <a:t>）势垒电容</a:t>
            </a:r>
            <a:endParaRPr lang="zh-CN" altLang="en-US" sz="3600" b="1">
              <a:solidFill>
                <a:srgbClr val="FFFFFF"/>
              </a:solidFill>
              <a:ea typeface="宋体" panose="02010600030101010101" pitchFamily="2" charset="-122"/>
            </a:endParaRP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84" name="Text Box 12"/>
          <p:cNvSpPr txBox="1">
            <a:spLocks noChangeArrowheads="1"/>
          </p:cNvSpPr>
          <p:nvPr/>
        </p:nvSpPr>
        <p:spPr bwMode="white">
          <a:xfrm>
            <a:off x="3917950" y="2636839"/>
            <a:ext cx="44958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292929">
                      <a:alpha val="50000"/>
                    </a:srgbClr>
                  </a:outerShdw>
                </a:effectLst>
              </a14:hiddenEffects>
            </a:ext>
          </a:extLst>
        </p:spPr>
        <p:txBody>
          <a:bodyPr>
            <a:spAutoFit/>
          </a:bodyPr>
          <a:lstStyle>
            <a:lvl1pPr marL="457200" indent="-457200" algn="l">
              <a:defRPr>
                <a:solidFill>
                  <a:schemeClr val="tx1"/>
                </a:solidFill>
                <a:latin typeface="Arial" panose="020B0604020202020204" pitchFamily="34" charset="0"/>
              </a:defRPr>
            </a:lvl1pPr>
            <a:lvl2pPr marL="914400" indent="-457200" algn="l">
              <a:defRPr>
                <a:solidFill>
                  <a:schemeClr val="tx1"/>
                </a:solidFill>
                <a:latin typeface="Arial" panose="020B0604020202020204" pitchFamily="34" charset="0"/>
              </a:defRPr>
            </a:lvl2pPr>
            <a:lvl3pPr marL="1371600" indent="-457200" algn="l">
              <a:defRPr>
                <a:solidFill>
                  <a:schemeClr val="tx1"/>
                </a:solidFill>
                <a:latin typeface="Arial" panose="020B0604020202020204" pitchFamily="34" charset="0"/>
              </a:defRPr>
            </a:lvl3pPr>
            <a:lvl4pPr marL="1828800" indent="-457200" algn="l">
              <a:defRPr>
                <a:solidFill>
                  <a:schemeClr val="tx1"/>
                </a:solidFill>
                <a:latin typeface="Arial" panose="020B0604020202020204" pitchFamily="34" charset="0"/>
              </a:defRPr>
            </a:lvl4pPr>
            <a:lvl5pPr marL="2286000" indent="-457200" algn="l">
              <a:defRPr>
                <a:solidFill>
                  <a:schemeClr val="tx1"/>
                </a:solidFill>
                <a:latin typeface="Arial" panose="020B0604020202020204" pitchFamily="34" charset="0"/>
              </a:defRPr>
            </a:lvl5pPr>
            <a:lvl6pPr marL="2743200" indent="-457200" fontAlgn="base">
              <a:spcBef>
                <a:spcPct val="0"/>
              </a:spcBef>
              <a:spcAft>
                <a:spcPct val="0"/>
              </a:spcAft>
              <a:defRPr>
                <a:solidFill>
                  <a:schemeClr val="tx1"/>
                </a:solidFill>
                <a:latin typeface="Arial" panose="020B0604020202020204" pitchFamily="34" charset="0"/>
              </a:defRPr>
            </a:lvl6pPr>
            <a:lvl7pPr marL="3200400" indent="-457200" fontAlgn="base">
              <a:spcBef>
                <a:spcPct val="0"/>
              </a:spcBef>
              <a:spcAft>
                <a:spcPct val="0"/>
              </a:spcAft>
              <a:defRPr>
                <a:solidFill>
                  <a:schemeClr val="tx1"/>
                </a:solidFill>
                <a:latin typeface="Arial" panose="020B0604020202020204" pitchFamily="34" charset="0"/>
              </a:defRPr>
            </a:lvl7pPr>
            <a:lvl8pPr marL="3657600" indent="-457200" fontAlgn="base">
              <a:spcBef>
                <a:spcPct val="0"/>
              </a:spcBef>
              <a:spcAft>
                <a:spcPct val="0"/>
              </a:spcAft>
              <a:defRPr>
                <a:solidFill>
                  <a:schemeClr val="tx1"/>
                </a:solidFill>
                <a:latin typeface="Arial" panose="020B0604020202020204" pitchFamily="34" charset="0"/>
              </a:defRPr>
            </a:lvl8pPr>
            <a:lvl9pPr marL="4114800" indent="-457200" fontAlgn="base">
              <a:spcBef>
                <a:spcPct val="0"/>
              </a:spcBef>
              <a:spcAft>
                <a:spcPct val="0"/>
              </a:spcAft>
              <a:defRPr>
                <a:solidFill>
                  <a:schemeClr val="tx1"/>
                </a:solidFill>
                <a:latin typeface="Arial" panose="020B0604020202020204" pitchFamily="34" charset="0"/>
              </a:defRPr>
            </a:lvl9pPr>
          </a:lstStyle>
          <a:p>
            <a:pPr algn="ctr">
              <a:spcBef>
                <a:spcPct val="50000"/>
              </a:spcBef>
              <a:buClr>
                <a:schemeClr val="tx1"/>
              </a:buClr>
            </a:pPr>
            <a:r>
              <a:rPr lang="zh-CN" altLang="en-US" sz="3200" b="1">
                <a:solidFill>
                  <a:srgbClr val="FFFFFF"/>
                </a:solidFill>
                <a:ea typeface="宋体" panose="02010600030101010101" pitchFamily="2" charset="-122"/>
                <a:cs typeface="Arial" panose="020B0604020202020204" pitchFamily="34" charset="0"/>
              </a:rPr>
              <a:t>势垒电容    </a:t>
            </a:r>
            <a:endParaRPr lang="zh-CN" altLang="en-US" sz="3200" b="1">
              <a:solidFill>
                <a:srgbClr val="FFFFFF"/>
              </a:solidFill>
              <a:ea typeface="宋体" panose="02010600030101010101" pitchFamily="2" charset="-122"/>
              <a:cs typeface="Arial" panose="020B0604020202020204" pitchFamily="34" charset="0"/>
            </a:endParaRPr>
          </a:p>
        </p:txBody>
      </p:sp>
      <p:sp>
        <p:nvSpPr>
          <p:cNvPr id="54285" name="Text Box 13"/>
          <p:cNvSpPr txBox="1">
            <a:spLocks noChangeArrowheads="1"/>
          </p:cNvSpPr>
          <p:nvPr/>
        </p:nvSpPr>
        <p:spPr bwMode="white">
          <a:xfrm>
            <a:off x="3929063" y="3500439"/>
            <a:ext cx="44958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292929">
                      <a:alpha val="50000"/>
                    </a:srgbClr>
                  </a:outerShdw>
                </a:effectLst>
              </a14:hiddenEffects>
            </a:ext>
          </a:extLst>
        </p:spPr>
        <p:txBody>
          <a:bodyPr>
            <a:spAutoFit/>
          </a:bodyPr>
          <a:lstStyle>
            <a:lvl1pPr marL="457200" indent="-457200" algn="l">
              <a:defRPr>
                <a:solidFill>
                  <a:schemeClr val="tx1"/>
                </a:solidFill>
                <a:latin typeface="Arial" panose="020B0604020202020204" pitchFamily="34" charset="0"/>
              </a:defRPr>
            </a:lvl1pPr>
            <a:lvl2pPr marL="914400" indent="-457200" algn="l">
              <a:defRPr>
                <a:solidFill>
                  <a:schemeClr val="tx1"/>
                </a:solidFill>
                <a:latin typeface="Arial" panose="020B0604020202020204" pitchFamily="34" charset="0"/>
              </a:defRPr>
            </a:lvl2pPr>
            <a:lvl3pPr marL="1371600" indent="-457200" algn="l">
              <a:defRPr>
                <a:solidFill>
                  <a:schemeClr val="tx1"/>
                </a:solidFill>
                <a:latin typeface="Arial" panose="020B0604020202020204" pitchFamily="34" charset="0"/>
              </a:defRPr>
            </a:lvl3pPr>
            <a:lvl4pPr marL="1828800" indent="-457200" algn="l">
              <a:defRPr>
                <a:solidFill>
                  <a:schemeClr val="tx1"/>
                </a:solidFill>
                <a:latin typeface="Arial" panose="020B0604020202020204" pitchFamily="34" charset="0"/>
              </a:defRPr>
            </a:lvl4pPr>
            <a:lvl5pPr marL="2286000" indent="-457200" algn="l">
              <a:defRPr>
                <a:solidFill>
                  <a:schemeClr val="tx1"/>
                </a:solidFill>
                <a:latin typeface="Arial" panose="020B0604020202020204" pitchFamily="34" charset="0"/>
              </a:defRPr>
            </a:lvl5pPr>
            <a:lvl6pPr marL="2743200" indent="-457200" fontAlgn="base">
              <a:spcBef>
                <a:spcPct val="0"/>
              </a:spcBef>
              <a:spcAft>
                <a:spcPct val="0"/>
              </a:spcAft>
              <a:defRPr>
                <a:solidFill>
                  <a:schemeClr val="tx1"/>
                </a:solidFill>
                <a:latin typeface="Arial" panose="020B0604020202020204" pitchFamily="34" charset="0"/>
              </a:defRPr>
            </a:lvl6pPr>
            <a:lvl7pPr marL="3200400" indent="-457200" fontAlgn="base">
              <a:spcBef>
                <a:spcPct val="0"/>
              </a:spcBef>
              <a:spcAft>
                <a:spcPct val="0"/>
              </a:spcAft>
              <a:defRPr>
                <a:solidFill>
                  <a:schemeClr val="tx1"/>
                </a:solidFill>
                <a:latin typeface="Arial" panose="020B0604020202020204" pitchFamily="34" charset="0"/>
              </a:defRPr>
            </a:lvl7pPr>
            <a:lvl8pPr marL="3657600" indent="-457200" fontAlgn="base">
              <a:spcBef>
                <a:spcPct val="0"/>
              </a:spcBef>
              <a:spcAft>
                <a:spcPct val="0"/>
              </a:spcAft>
              <a:defRPr>
                <a:solidFill>
                  <a:schemeClr val="tx1"/>
                </a:solidFill>
                <a:latin typeface="Arial" panose="020B0604020202020204" pitchFamily="34" charset="0"/>
              </a:defRPr>
            </a:lvl8pPr>
            <a:lvl9pPr marL="4114800" indent="-457200" fontAlgn="base">
              <a:spcBef>
                <a:spcPct val="0"/>
              </a:spcBef>
              <a:spcAft>
                <a:spcPct val="0"/>
              </a:spcAft>
              <a:defRPr>
                <a:solidFill>
                  <a:schemeClr val="tx1"/>
                </a:solidFill>
                <a:latin typeface="Arial" panose="020B0604020202020204" pitchFamily="34" charset="0"/>
              </a:defRPr>
            </a:lvl9pPr>
          </a:lstStyle>
          <a:p>
            <a:pPr algn="ctr">
              <a:spcBef>
                <a:spcPct val="50000"/>
              </a:spcBef>
              <a:buClr>
                <a:schemeClr val="tx1"/>
              </a:buClr>
            </a:pPr>
            <a:r>
              <a:rPr lang="zh-CN" altLang="en-US" sz="3200" b="1">
                <a:solidFill>
                  <a:srgbClr val="FFFFFF"/>
                </a:solidFill>
                <a:ea typeface="宋体" panose="02010600030101010101" pitchFamily="2" charset="-122"/>
                <a:cs typeface="Arial" panose="020B0604020202020204" pitchFamily="34" charset="0"/>
              </a:rPr>
              <a:t>扩散电容 </a:t>
            </a:r>
            <a:r>
              <a:rPr lang="zh-CN" altLang="en-US" sz="2400" b="1">
                <a:solidFill>
                  <a:srgbClr val="FFFFFF"/>
                </a:solidFill>
                <a:ea typeface="宋体" panose="02010600030101010101" pitchFamily="2" charset="-122"/>
                <a:cs typeface="Arial" panose="020B0604020202020204" pitchFamily="34" charset="0"/>
              </a:rPr>
              <a:t>   </a:t>
            </a:r>
            <a:endParaRPr lang="zh-CN" altLang="en-US" sz="2400" b="1">
              <a:solidFill>
                <a:srgbClr val="FFFFFF"/>
              </a:solidFill>
              <a:ea typeface="宋体" panose="02010600030101010101" pitchFamily="2" charset="-122"/>
              <a:cs typeface="Arial" panose="020B0604020202020204" pitchFamily="34" charset="0"/>
            </a:endParaRPr>
          </a:p>
        </p:txBody>
      </p:sp>
      <p:sp>
        <p:nvSpPr>
          <p:cNvPr id="54286" name="Text Box 14"/>
          <p:cNvSpPr txBox="1">
            <a:spLocks noChangeArrowheads="1"/>
          </p:cNvSpPr>
          <p:nvPr/>
        </p:nvSpPr>
        <p:spPr bwMode="white">
          <a:xfrm>
            <a:off x="3929063" y="4427538"/>
            <a:ext cx="449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292929">
                      <a:alpha val="50000"/>
                    </a:srgbClr>
                  </a:outerShdw>
                </a:effectLst>
              </a14:hiddenEffects>
            </a:ext>
          </a:extLst>
        </p:spPr>
        <p:txBody>
          <a:bodyPr>
            <a:spAutoFit/>
          </a:bodyPr>
          <a:lstStyle>
            <a:lvl1pPr marL="457200" indent="-457200" algn="l">
              <a:defRPr>
                <a:solidFill>
                  <a:schemeClr val="tx1"/>
                </a:solidFill>
                <a:latin typeface="Arial" panose="020B0604020202020204" pitchFamily="34" charset="0"/>
              </a:defRPr>
            </a:lvl1pPr>
            <a:lvl2pPr marL="914400" indent="-457200" algn="l">
              <a:defRPr>
                <a:solidFill>
                  <a:schemeClr val="tx1"/>
                </a:solidFill>
                <a:latin typeface="Arial" panose="020B0604020202020204" pitchFamily="34" charset="0"/>
              </a:defRPr>
            </a:lvl2pPr>
            <a:lvl3pPr marL="1371600" indent="-457200" algn="l">
              <a:defRPr>
                <a:solidFill>
                  <a:schemeClr val="tx1"/>
                </a:solidFill>
                <a:latin typeface="Arial" panose="020B0604020202020204" pitchFamily="34" charset="0"/>
              </a:defRPr>
            </a:lvl3pPr>
            <a:lvl4pPr marL="1828800" indent="-457200" algn="l">
              <a:defRPr>
                <a:solidFill>
                  <a:schemeClr val="tx1"/>
                </a:solidFill>
                <a:latin typeface="Arial" panose="020B0604020202020204" pitchFamily="34" charset="0"/>
              </a:defRPr>
            </a:lvl4pPr>
            <a:lvl5pPr marL="2286000" indent="-457200" algn="l">
              <a:defRPr>
                <a:solidFill>
                  <a:schemeClr val="tx1"/>
                </a:solidFill>
                <a:latin typeface="Arial" panose="020B0604020202020204" pitchFamily="34" charset="0"/>
              </a:defRPr>
            </a:lvl5pPr>
            <a:lvl6pPr marL="2743200" indent="-457200" fontAlgn="base">
              <a:spcBef>
                <a:spcPct val="0"/>
              </a:spcBef>
              <a:spcAft>
                <a:spcPct val="0"/>
              </a:spcAft>
              <a:defRPr>
                <a:solidFill>
                  <a:schemeClr val="tx1"/>
                </a:solidFill>
                <a:latin typeface="Arial" panose="020B0604020202020204" pitchFamily="34" charset="0"/>
              </a:defRPr>
            </a:lvl6pPr>
            <a:lvl7pPr marL="3200400" indent="-457200" fontAlgn="base">
              <a:spcBef>
                <a:spcPct val="0"/>
              </a:spcBef>
              <a:spcAft>
                <a:spcPct val="0"/>
              </a:spcAft>
              <a:defRPr>
                <a:solidFill>
                  <a:schemeClr val="tx1"/>
                </a:solidFill>
                <a:latin typeface="Arial" panose="020B0604020202020204" pitchFamily="34" charset="0"/>
              </a:defRPr>
            </a:lvl7pPr>
            <a:lvl8pPr marL="3657600" indent="-457200" fontAlgn="base">
              <a:spcBef>
                <a:spcPct val="0"/>
              </a:spcBef>
              <a:spcAft>
                <a:spcPct val="0"/>
              </a:spcAft>
              <a:defRPr>
                <a:solidFill>
                  <a:schemeClr val="tx1"/>
                </a:solidFill>
                <a:latin typeface="Arial" panose="020B0604020202020204" pitchFamily="34" charset="0"/>
              </a:defRPr>
            </a:lvl8pPr>
            <a:lvl9pPr marL="4114800" indent="-457200" fontAlgn="base">
              <a:spcBef>
                <a:spcPct val="0"/>
              </a:spcBef>
              <a:spcAft>
                <a:spcPct val="0"/>
              </a:spcAft>
              <a:defRPr>
                <a:solidFill>
                  <a:schemeClr val="tx1"/>
                </a:solidFill>
                <a:latin typeface="Arial" panose="020B0604020202020204" pitchFamily="34" charset="0"/>
              </a:defRPr>
            </a:lvl9pPr>
          </a:lstStyle>
          <a:p>
            <a:pPr algn="ctr">
              <a:spcBef>
                <a:spcPct val="50000"/>
              </a:spcBef>
              <a:buClr>
                <a:schemeClr val="tx1"/>
              </a:buClr>
            </a:pPr>
            <a:r>
              <a:rPr lang="en-US" altLang="zh-CN" sz="2400" b="1">
                <a:solidFill>
                  <a:srgbClr val="FFFFFF"/>
                </a:solidFill>
                <a:ea typeface="宋体" panose="02010600030101010101" pitchFamily="2" charset="-122"/>
                <a:cs typeface="Arial" panose="020B0604020202020204" pitchFamily="34" charset="0"/>
              </a:rPr>
              <a:t>Click to add title in here    </a:t>
            </a:r>
            <a:endParaRPr lang="en-US" altLang="zh-CN" sz="2400" b="1">
              <a:solidFill>
                <a:srgbClr val="FFFFFF"/>
              </a:solidFill>
              <a:ea typeface="宋体" panose="02010600030101010101" pitchFamily="2" charset="-122"/>
              <a:cs typeface="Arial" panose="020B0604020202020204" pitchFamily="34" charset="0"/>
            </a:endParaRPr>
          </a:p>
        </p:txBody>
      </p:sp>
      <p:sp>
        <p:nvSpPr>
          <p:cNvPr id="54292" name="Text Box 20"/>
          <p:cNvSpPr txBox="1">
            <a:spLocks noChangeArrowheads="1"/>
          </p:cNvSpPr>
          <p:nvPr/>
        </p:nvSpPr>
        <p:spPr bwMode="white">
          <a:xfrm>
            <a:off x="3589338" y="4435475"/>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1">
                <a:solidFill>
                  <a:srgbClr val="FFFFFF"/>
                </a:solidFill>
                <a:ea typeface="宋体" panose="02010600030101010101" pitchFamily="2" charset="-122"/>
                <a:cs typeface="Arial" panose="020B0604020202020204" pitchFamily="34" charset="0"/>
              </a:rPr>
              <a:t>3</a:t>
            </a:r>
            <a:endParaRPr lang="en-US" altLang="zh-CN" sz="2400" b="1">
              <a:solidFill>
                <a:srgbClr val="FFFFFF"/>
              </a:solidFill>
              <a:ea typeface="宋体" panose="02010600030101010101" pitchFamily="2" charset="-122"/>
              <a:cs typeface="Arial" panose="020B0604020202020204" pitchFamily="34" charset="0"/>
            </a:endParaRPr>
          </a:p>
        </p:txBody>
      </p:sp>
      <p:sp>
        <p:nvSpPr>
          <p:cNvPr id="54294" name="Text Box 22" descr="2"/>
          <p:cNvSpPr txBox="1">
            <a:spLocks noChangeArrowheads="1"/>
          </p:cNvSpPr>
          <p:nvPr/>
        </p:nvSpPr>
        <p:spPr bwMode="gray">
          <a:xfrm>
            <a:off x="1416051" y="333375"/>
            <a:ext cx="3959225" cy="641350"/>
          </a:xfrm>
          <a:prstGeom prst="rect">
            <a:avLst/>
          </a:prstGeom>
          <a:noFill/>
          <a:ln>
            <a:noFill/>
          </a:ln>
          <a:effectLst/>
          <a:extLst>
            <a:ext uri="{909E8E84-426E-40DD-AFC4-6F175D3DCCD1}">
              <a14:hiddenFill xmlns:a14="http://schemas.microsoft.com/office/drawing/2010/main">
                <a:blipFill dpi="0" rotWithShape="1">
                  <a:blip r:embed="rId1"/>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3600" b="1">
                <a:solidFill>
                  <a:srgbClr val="FFFFFF"/>
                </a:solidFill>
                <a:ea typeface="宋体" panose="02010600030101010101" pitchFamily="2" charset="-122"/>
              </a:rPr>
              <a:t>（</a:t>
            </a:r>
            <a:r>
              <a:rPr lang="en-US" altLang="zh-CN" sz="3600" b="1">
                <a:solidFill>
                  <a:srgbClr val="FFFFFF"/>
                </a:solidFill>
                <a:ea typeface="宋体" panose="02010600030101010101" pitchFamily="2" charset="-122"/>
              </a:rPr>
              <a:t>2</a:t>
            </a:r>
            <a:r>
              <a:rPr lang="zh-CN" altLang="en-US" sz="3600" b="1">
                <a:solidFill>
                  <a:srgbClr val="FFFFFF"/>
                </a:solidFill>
                <a:ea typeface="宋体" panose="02010600030101010101" pitchFamily="2" charset="-122"/>
              </a:rPr>
              <a:t>）扩散电容</a:t>
            </a:r>
            <a:endParaRPr lang="zh-CN" altLang="en-US" sz="3600" b="1">
              <a:solidFill>
                <a:srgbClr val="FFFFFF"/>
              </a:solidFill>
              <a:ea typeface="宋体" panose="02010600030101010101" pitchFamily="2" charset="-122"/>
            </a:endParaRPr>
          </a:p>
        </p:txBody>
      </p:sp>
      <p:sp>
        <p:nvSpPr>
          <p:cNvPr id="54295" name="Text Box 23" descr="2"/>
          <p:cNvSpPr txBox="1">
            <a:spLocks noChangeArrowheads="1"/>
          </p:cNvSpPr>
          <p:nvPr/>
        </p:nvSpPr>
        <p:spPr bwMode="gray">
          <a:xfrm>
            <a:off x="1524000" y="1177926"/>
            <a:ext cx="6300788" cy="5262979"/>
          </a:xfrm>
          <a:prstGeom prst="rect">
            <a:avLst/>
          </a:prstGeom>
          <a:noFill/>
          <a:ln>
            <a:noFill/>
          </a:ln>
          <a:effectLst/>
          <a:extLst>
            <a:ext uri="{909E8E84-426E-40DD-AFC4-6F175D3DCCD1}">
              <a14:hiddenFill xmlns:a14="http://schemas.microsoft.com/office/drawing/2010/main">
                <a:blipFill dpi="0" rotWithShape="1">
                  <a:blip r:embed="rId1"/>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400" b="1">
                <a:solidFill>
                  <a:schemeClr val="tx2"/>
                </a:solidFill>
                <a:ea typeface="宋体" panose="02010600030101010101" pitchFamily="2" charset="-122"/>
              </a:rPr>
              <a:t>正向偏压时，有空穴从</a:t>
            </a:r>
            <a:r>
              <a:rPr lang="en-US" altLang="zh-CN" sz="2400" b="1">
                <a:solidFill>
                  <a:schemeClr val="tx2"/>
                </a:solidFill>
                <a:ea typeface="宋体" panose="02010600030101010101" pitchFamily="2" charset="-122"/>
              </a:rPr>
              <a:t>p</a:t>
            </a:r>
            <a:r>
              <a:rPr lang="zh-CN" altLang="en-US" sz="2400" b="1">
                <a:solidFill>
                  <a:schemeClr val="tx2"/>
                </a:solidFill>
                <a:ea typeface="宋体" panose="02010600030101010101" pitchFamily="2" charset="-122"/>
              </a:rPr>
              <a:t>区注入</a:t>
            </a:r>
            <a:r>
              <a:rPr lang="en-US" altLang="zh-CN" sz="2400" b="1">
                <a:solidFill>
                  <a:schemeClr val="tx2"/>
                </a:solidFill>
                <a:ea typeface="宋体" panose="02010600030101010101" pitchFamily="2" charset="-122"/>
              </a:rPr>
              <a:t>n</a:t>
            </a:r>
            <a:r>
              <a:rPr lang="zh-CN" altLang="en-US" sz="2400" b="1">
                <a:solidFill>
                  <a:schemeClr val="tx2"/>
                </a:solidFill>
                <a:ea typeface="宋体" panose="02010600030101010101" pitchFamily="2" charset="-122"/>
              </a:rPr>
              <a:t>区，于是在势垒区与</a:t>
            </a:r>
            <a:r>
              <a:rPr lang="en-US" altLang="zh-CN" sz="2400" b="1">
                <a:solidFill>
                  <a:schemeClr val="tx2"/>
                </a:solidFill>
                <a:ea typeface="宋体" panose="02010600030101010101" pitchFamily="2" charset="-122"/>
              </a:rPr>
              <a:t>n</a:t>
            </a:r>
            <a:r>
              <a:rPr lang="zh-CN" altLang="en-US" sz="2400" b="1">
                <a:solidFill>
                  <a:schemeClr val="tx2"/>
                </a:solidFill>
                <a:ea typeface="宋体" panose="02010600030101010101" pitchFamily="2" charset="-122"/>
              </a:rPr>
              <a:t>区边界</a:t>
            </a:r>
            <a:r>
              <a:rPr lang="en-US" altLang="zh-CN" sz="2400" b="1">
                <a:solidFill>
                  <a:schemeClr val="tx2"/>
                </a:solidFill>
                <a:ea typeface="宋体" panose="02010600030101010101" pitchFamily="2" charset="-122"/>
              </a:rPr>
              <a:t>n</a:t>
            </a:r>
            <a:r>
              <a:rPr lang="zh-CN" altLang="en-US" sz="2400" b="1">
                <a:solidFill>
                  <a:schemeClr val="tx2"/>
                </a:solidFill>
                <a:ea typeface="宋体" panose="02010600030101010101" pitchFamily="2" charset="-122"/>
              </a:rPr>
              <a:t>区一侧一个扩散长度内，形成了非平衡空穴和电子的积累，同样在</a:t>
            </a:r>
            <a:r>
              <a:rPr lang="en-US" altLang="zh-CN" sz="2400" b="1">
                <a:solidFill>
                  <a:schemeClr val="tx2"/>
                </a:solidFill>
                <a:ea typeface="宋体" panose="02010600030101010101" pitchFamily="2" charset="-122"/>
              </a:rPr>
              <a:t>p</a:t>
            </a:r>
            <a:r>
              <a:rPr lang="zh-CN" altLang="en-US" sz="2400" b="1">
                <a:solidFill>
                  <a:schemeClr val="tx2"/>
                </a:solidFill>
                <a:ea typeface="宋体" panose="02010600030101010101" pitchFamily="2" charset="-122"/>
              </a:rPr>
              <a:t>区也有非平衡电子和空穴的积累。当正向偏压增加时，由</a:t>
            </a:r>
            <a:r>
              <a:rPr lang="en-US" altLang="zh-CN" sz="2400" b="1">
                <a:solidFill>
                  <a:schemeClr val="tx2"/>
                </a:solidFill>
                <a:ea typeface="宋体" panose="02010600030101010101" pitchFamily="2" charset="-122"/>
              </a:rPr>
              <a:t>p</a:t>
            </a:r>
            <a:r>
              <a:rPr lang="zh-CN" altLang="en-US" sz="2400" b="1">
                <a:solidFill>
                  <a:schemeClr val="tx2"/>
                </a:solidFill>
                <a:ea typeface="宋体" panose="02010600030101010101" pitchFamily="2" charset="-122"/>
              </a:rPr>
              <a:t>区注入到</a:t>
            </a:r>
            <a:r>
              <a:rPr lang="en-US" altLang="zh-CN" sz="2400" b="1">
                <a:solidFill>
                  <a:schemeClr val="tx2"/>
                </a:solidFill>
                <a:ea typeface="宋体" panose="02010600030101010101" pitchFamily="2" charset="-122"/>
              </a:rPr>
              <a:t>n</a:t>
            </a:r>
            <a:r>
              <a:rPr lang="zh-CN" altLang="en-US" sz="2400" b="1">
                <a:solidFill>
                  <a:schemeClr val="tx2"/>
                </a:solidFill>
                <a:ea typeface="宋体" panose="02010600030101010101" pitchFamily="2" charset="-122"/>
              </a:rPr>
              <a:t>区的空穴增加，注入的空穴一部分扩散走了，如图中的箭头</a:t>
            </a:r>
            <a:r>
              <a:rPr lang="en-US" altLang="zh-CN" sz="2400" b="1">
                <a:solidFill>
                  <a:schemeClr val="tx2"/>
                </a:solidFill>
                <a:ea typeface="宋体" panose="02010600030101010101" pitchFamily="2" charset="-122"/>
              </a:rPr>
              <a:t>B</a:t>
            </a:r>
            <a:r>
              <a:rPr lang="zh-CN" altLang="en-US" sz="2400" b="1">
                <a:solidFill>
                  <a:schemeClr val="tx2"/>
                </a:solidFill>
                <a:ea typeface="宋体" panose="02010600030101010101" pitchFamily="2" charset="-122"/>
              </a:rPr>
              <a:t>，一部分则增加了</a:t>
            </a:r>
            <a:r>
              <a:rPr lang="en-US" altLang="zh-CN" sz="2400" b="1">
                <a:solidFill>
                  <a:schemeClr val="tx2"/>
                </a:solidFill>
                <a:ea typeface="宋体" panose="02010600030101010101" pitchFamily="2" charset="-122"/>
              </a:rPr>
              <a:t>n</a:t>
            </a:r>
            <a:r>
              <a:rPr lang="zh-CN" altLang="en-US" sz="2400" b="1">
                <a:solidFill>
                  <a:schemeClr val="tx2"/>
                </a:solidFill>
                <a:ea typeface="宋体" panose="02010600030101010101" pitchFamily="2" charset="-122"/>
              </a:rPr>
              <a:t>区的空穴积累，增加了浓度梯度，如图中的箭头</a:t>
            </a:r>
            <a:r>
              <a:rPr lang="en-US" altLang="zh-CN" sz="2400" b="1">
                <a:solidFill>
                  <a:schemeClr val="tx2"/>
                </a:solidFill>
                <a:ea typeface="宋体" panose="02010600030101010101" pitchFamily="2" charset="-122"/>
              </a:rPr>
              <a:t>C</a:t>
            </a:r>
            <a:r>
              <a:rPr lang="zh-CN" altLang="en-US" sz="2400" b="1">
                <a:solidFill>
                  <a:schemeClr val="tx2"/>
                </a:solidFill>
                <a:ea typeface="宋体" panose="02010600030101010101" pitchFamily="2" charset="-122"/>
              </a:rPr>
              <a:t>。所以外加电压变化时，</a:t>
            </a:r>
            <a:r>
              <a:rPr lang="en-US" altLang="zh-CN" sz="2400" b="1">
                <a:solidFill>
                  <a:schemeClr val="tx2"/>
                </a:solidFill>
                <a:ea typeface="宋体" panose="02010600030101010101" pitchFamily="2" charset="-122"/>
              </a:rPr>
              <a:t>n</a:t>
            </a:r>
            <a:r>
              <a:rPr lang="zh-CN" altLang="en-US" sz="2400" b="1">
                <a:solidFill>
                  <a:schemeClr val="tx2"/>
                </a:solidFill>
                <a:ea typeface="宋体" panose="02010600030101010101" pitchFamily="2" charset="-122"/>
              </a:rPr>
              <a:t>区扩散区内积累的非平衡空穴也增加，与它保持电中性的电子也相应增加。同样，</a:t>
            </a:r>
            <a:r>
              <a:rPr lang="en-US" altLang="zh-CN" sz="2400" b="1">
                <a:solidFill>
                  <a:schemeClr val="tx2"/>
                </a:solidFill>
                <a:ea typeface="宋体" panose="02010600030101010101" pitchFamily="2" charset="-122"/>
              </a:rPr>
              <a:t>p</a:t>
            </a:r>
            <a:r>
              <a:rPr lang="zh-CN" altLang="en-US" sz="2400" b="1">
                <a:solidFill>
                  <a:schemeClr val="tx2"/>
                </a:solidFill>
                <a:ea typeface="宋体" panose="02010600030101010101" pitchFamily="2" charset="-122"/>
              </a:rPr>
              <a:t>区扩散区内积累的非平衡电子和与它保持电中性的空穴也要增加。这种由扩散区的电荷数量随外加电压的变化所产生的电容效应，称为</a:t>
            </a:r>
            <a:r>
              <a:rPr lang="en-US" altLang="zh-CN" sz="2400" b="1">
                <a:solidFill>
                  <a:schemeClr val="tx2"/>
                </a:solidFill>
                <a:ea typeface="宋体" panose="02010600030101010101" pitchFamily="2" charset="-122"/>
              </a:rPr>
              <a:t>p-n</a:t>
            </a:r>
            <a:r>
              <a:rPr lang="zh-CN" altLang="en-US" sz="2400" b="1">
                <a:solidFill>
                  <a:schemeClr val="tx2"/>
                </a:solidFill>
                <a:ea typeface="宋体" panose="02010600030101010101" pitchFamily="2" charset="-122"/>
              </a:rPr>
              <a:t>结的扩散电容。用</a:t>
            </a:r>
            <a:r>
              <a:rPr lang="en-US" altLang="zh-CN" sz="2400" b="1">
                <a:solidFill>
                  <a:schemeClr val="tx2"/>
                </a:solidFill>
                <a:ea typeface="宋体" panose="02010600030101010101" pitchFamily="2" charset="-122"/>
              </a:rPr>
              <a:t>C</a:t>
            </a:r>
            <a:r>
              <a:rPr lang="en-US" altLang="zh-CN" sz="2400" b="1" baseline="-25000">
                <a:solidFill>
                  <a:schemeClr val="tx2"/>
                </a:solidFill>
                <a:ea typeface="宋体" panose="02010600030101010101" pitchFamily="2" charset="-122"/>
              </a:rPr>
              <a:t>D</a:t>
            </a:r>
            <a:r>
              <a:rPr lang="zh-CN" altLang="en-US" sz="2400" b="1">
                <a:solidFill>
                  <a:schemeClr val="tx2"/>
                </a:solidFill>
                <a:ea typeface="宋体" panose="02010600030101010101" pitchFamily="2" charset="-122"/>
              </a:rPr>
              <a:t>表示。</a:t>
            </a:r>
            <a:endParaRPr lang="zh-CN" altLang="en-US" sz="2400" b="1">
              <a:solidFill>
                <a:schemeClr val="tx2"/>
              </a:solidFill>
              <a:ea typeface="宋体" panose="02010600030101010101" pitchFamily="2" charset="-122"/>
            </a:endParaRPr>
          </a:p>
        </p:txBody>
      </p:sp>
      <p:pic>
        <p:nvPicPr>
          <p:cNvPr id="54296" name="Picture 24" descr="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7729538" y="1916113"/>
            <a:ext cx="2938462" cy="3168650"/>
          </a:xfrm>
          <a:prstGeom prst="rect">
            <a:avLst/>
          </a:prstGeom>
          <a:noFill/>
          <a:ln>
            <a:noFill/>
          </a:ln>
          <a:effectLst/>
          <a:extLst>
            <a:ext uri="{909E8E84-426E-40DD-AFC4-6F175D3DCCD1}">
              <a14:hiddenFill xmlns:a14="http://schemas.microsoft.com/office/drawing/2010/main">
                <a:blipFill dpi="0" rotWithShape="1">
                  <a:blip/>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1" name="Text Box 5"/>
          <p:cNvSpPr txBox="1">
            <a:spLocks noChangeArrowheads="1"/>
          </p:cNvSpPr>
          <p:nvPr/>
        </p:nvSpPr>
        <p:spPr bwMode="gray">
          <a:xfrm>
            <a:off x="2927350" y="2060576"/>
            <a:ext cx="6192838" cy="2227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r>
              <a:rPr lang="zh-CN" altLang="en-US" sz="2800" b="1">
                <a:solidFill>
                  <a:srgbClr val="000000"/>
                </a:solidFill>
                <a:ea typeface="宋体" panose="02010600030101010101" pitchFamily="2" charset="-122"/>
                <a:cs typeface="Arial" panose="020B0604020202020204" pitchFamily="34" charset="0"/>
              </a:rPr>
              <a:t>当</a:t>
            </a:r>
            <a:r>
              <a:rPr lang="en-US" altLang="zh-CN" sz="2800" b="1">
                <a:solidFill>
                  <a:srgbClr val="000000"/>
                </a:solidFill>
                <a:ea typeface="宋体" panose="02010600030101010101" pitchFamily="2" charset="-122"/>
                <a:cs typeface="Arial" panose="020B0604020202020204" pitchFamily="34" charset="0"/>
              </a:rPr>
              <a:t>p-n</a:t>
            </a:r>
            <a:r>
              <a:rPr lang="zh-CN" altLang="en-US" sz="2800" b="1">
                <a:solidFill>
                  <a:srgbClr val="000000"/>
                </a:solidFill>
                <a:ea typeface="宋体" panose="02010600030101010101" pitchFamily="2" charset="-122"/>
                <a:cs typeface="Arial" panose="020B0604020202020204" pitchFamily="34" charset="0"/>
              </a:rPr>
              <a:t>结在一个固定直流偏压</a:t>
            </a:r>
            <a:r>
              <a:rPr lang="en-US" altLang="zh-CN" sz="2800" b="1">
                <a:solidFill>
                  <a:srgbClr val="000000"/>
                </a:solidFill>
                <a:ea typeface="宋体" panose="02010600030101010101" pitchFamily="2" charset="-122"/>
                <a:cs typeface="Arial" panose="020B0604020202020204" pitchFamily="34" charset="0"/>
              </a:rPr>
              <a:t>V</a:t>
            </a:r>
            <a:r>
              <a:rPr lang="zh-CN" altLang="en-US" sz="2800" b="1">
                <a:solidFill>
                  <a:srgbClr val="000000"/>
                </a:solidFill>
                <a:ea typeface="宋体" panose="02010600030101010101" pitchFamily="2" charset="-122"/>
                <a:cs typeface="Arial" panose="020B0604020202020204" pitchFamily="34" charset="0"/>
              </a:rPr>
              <a:t>的作用下，叠加一个微小的交流电压</a:t>
            </a:r>
            <a:r>
              <a:rPr lang="en-US" altLang="zh-CN" sz="2800" b="1">
                <a:solidFill>
                  <a:srgbClr val="000000"/>
                </a:solidFill>
                <a:ea typeface="宋体" panose="02010600030101010101" pitchFamily="2" charset="-122"/>
                <a:cs typeface="Arial" panose="020B0604020202020204" pitchFamily="34" charset="0"/>
              </a:rPr>
              <a:t>dV</a:t>
            </a:r>
            <a:r>
              <a:rPr lang="zh-CN" altLang="en-US" sz="2800" b="1">
                <a:solidFill>
                  <a:srgbClr val="000000"/>
                </a:solidFill>
                <a:ea typeface="宋体" panose="02010600030101010101" pitchFamily="2" charset="-122"/>
                <a:cs typeface="Arial" panose="020B0604020202020204" pitchFamily="34" charset="0"/>
              </a:rPr>
              <a:t>时，这个微小的电压变化</a:t>
            </a:r>
            <a:r>
              <a:rPr lang="en-US" altLang="zh-CN" sz="2800" b="1">
                <a:solidFill>
                  <a:srgbClr val="000000"/>
                </a:solidFill>
                <a:ea typeface="宋体" panose="02010600030101010101" pitchFamily="2" charset="-122"/>
                <a:cs typeface="Arial" panose="020B0604020202020204" pitchFamily="34" charset="0"/>
              </a:rPr>
              <a:t>dV</a:t>
            </a:r>
            <a:r>
              <a:rPr lang="zh-CN" altLang="en-US" sz="2800" b="1">
                <a:solidFill>
                  <a:srgbClr val="000000"/>
                </a:solidFill>
                <a:ea typeface="宋体" panose="02010600030101010101" pitchFamily="2" charset="-122"/>
                <a:cs typeface="Arial" panose="020B0604020202020204" pitchFamily="34" charset="0"/>
              </a:rPr>
              <a:t>所引起的电荷变化</a:t>
            </a:r>
            <a:r>
              <a:rPr lang="en-US" altLang="zh-CN" sz="2800" b="1">
                <a:solidFill>
                  <a:srgbClr val="000000"/>
                </a:solidFill>
                <a:ea typeface="宋体" panose="02010600030101010101" pitchFamily="2" charset="-122"/>
                <a:cs typeface="Arial" panose="020B0604020202020204" pitchFamily="34" charset="0"/>
              </a:rPr>
              <a:t>dQ</a:t>
            </a:r>
            <a:r>
              <a:rPr lang="zh-CN" altLang="en-US" sz="2800" b="1">
                <a:solidFill>
                  <a:srgbClr val="000000"/>
                </a:solidFill>
                <a:ea typeface="宋体" panose="02010600030101010101" pitchFamily="2" charset="-122"/>
                <a:cs typeface="Arial" panose="020B0604020202020204" pitchFamily="34" charset="0"/>
              </a:rPr>
              <a:t>，称为这个直流偏压下的微分电容。</a:t>
            </a:r>
            <a:endParaRPr lang="zh-CN" altLang="en-US" sz="2800" b="1">
              <a:solidFill>
                <a:srgbClr val="000000"/>
              </a:solidFill>
              <a:ea typeface="宋体" panose="02010600030101010101" pitchFamily="2" charset="-122"/>
              <a:cs typeface="Arial" panose="020B0604020202020204" pitchFamily="34" charset="0"/>
            </a:endParaRPr>
          </a:p>
        </p:txBody>
      </p:sp>
      <p:sp>
        <p:nvSpPr>
          <p:cNvPr id="55302" name="Text Box 6" descr="2"/>
          <p:cNvSpPr txBox="1">
            <a:spLocks noChangeArrowheads="1"/>
          </p:cNvSpPr>
          <p:nvPr/>
        </p:nvSpPr>
        <p:spPr bwMode="gray">
          <a:xfrm>
            <a:off x="1416051" y="333375"/>
            <a:ext cx="3959225" cy="641350"/>
          </a:xfrm>
          <a:prstGeom prst="rect">
            <a:avLst/>
          </a:prstGeom>
          <a:noFill/>
          <a:ln>
            <a:noFill/>
          </a:ln>
          <a:effectLst/>
          <a:extLst>
            <a:ext uri="{909E8E84-426E-40DD-AFC4-6F175D3DCCD1}">
              <a14:hiddenFill xmlns:a14="http://schemas.microsoft.com/office/drawing/2010/main">
                <a:blipFill dpi="0" rotWithShape="1">
                  <a:blip r:embed="rId1"/>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3600" b="1">
                <a:solidFill>
                  <a:srgbClr val="FFFFFF"/>
                </a:solidFill>
                <a:ea typeface="宋体" panose="02010600030101010101" pitchFamily="2" charset="-122"/>
              </a:rPr>
              <a:t>微分电容</a:t>
            </a:r>
            <a:endParaRPr lang="zh-CN" altLang="en-US" sz="3600" b="1">
              <a:solidFill>
                <a:srgbClr val="FFFFFF"/>
              </a:solidFill>
              <a:ea typeface="宋体" panose="02010600030101010101" pitchFamily="2" charset="-122"/>
            </a:endParaRPr>
          </a:p>
        </p:txBody>
      </p:sp>
      <p:pic>
        <p:nvPicPr>
          <p:cNvPr id="55312" name="Picture 16" descr="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4800600" y="4868863"/>
            <a:ext cx="1709738" cy="900112"/>
          </a:xfrm>
          <a:prstGeom prst="rect">
            <a:avLst/>
          </a:prstGeom>
          <a:noFill/>
          <a:ln>
            <a:noFill/>
          </a:ln>
          <a:effectLst/>
          <a:extLst>
            <a:ext uri="{909E8E84-426E-40DD-AFC4-6F175D3DCCD1}">
              <a14:hiddenFill xmlns:a14="http://schemas.microsoft.com/office/drawing/2010/main">
                <a:blipFill dpi="0" rotWithShape="1">
                  <a:blip/>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5313" name="AutoShape 17"/>
          <p:cNvSpPr>
            <a:spLocks noChangeArrowheads="1"/>
          </p:cNvSpPr>
          <p:nvPr/>
        </p:nvSpPr>
        <p:spPr bwMode="gray">
          <a:xfrm>
            <a:off x="2422526" y="1557339"/>
            <a:ext cx="6697663" cy="2879725"/>
          </a:xfrm>
          <a:prstGeom prst="roundRect">
            <a:avLst>
              <a:gd name="adj" fmla="val 9523"/>
            </a:avLst>
          </a:prstGeom>
          <a:solidFill>
            <a:schemeClr val="accent1">
              <a:alpha val="25000"/>
            </a:scheme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ext Box 2"/>
          <p:cNvSpPr txBox="1">
            <a:spLocks noChangeArrowheads="1"/>
          </p:cNvSpPr>
          <p:nvPr/>
        </p:nvSpPr>
        <p:spPr bwMode="gray">
          <a:xfrm>
            <a:off x="1021492" y="1196976"/>
            <a:ext cx="673027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eaLnBrk="0" hangingPunct="0">
              <a:buClr>
                <a:schemeClr val="tx2"/>
              </a:buClr>
              <a:buFont typeface="Wingdings" panose="05000000000000000000" pitchFamily="2" charset="2"/>
              <a:buNone/>
            </a:pPr>
            <a:r>
              <a:rPr lang="zh-CN" altLang="en-US" sz="2800" b="1" dirty="0">
                <a:solidFill>
                  <a:srgbClr val="000000"/>
                </a:solidFill>
                <a:ea typeface="宋体" panose="02010600030101010101" pitchFamily="2" charset="-122"/>
                <a:cs typeface="Arial" panose="020B0604020202020204" pitchFamily="34" charset="0"/>
              </a:rPr>
              <a:t>（</a:t>
            </a:r>
            <a:r>
              <a:rPr lang="en-US" altLang="zh-CN" sz="2800" b="1" dirty="0">
                <a:solidFill>
                  <a:srgbClr val="000000"/>
                </a:solidFill>
                <a:ea typeface="宋体" panose="02010600030101010101" pitchFamily="2" charset="-122"/>
                <a:cs typeface="Arial" panose="020B0604020202020204" pitchFamily="34" charset="0"/>
              </a:rPr>
              <a:t>1</a:t>
            </a:r>
            <a:r>
              <a:rPr lang="zh-CN" altLang="en-US" sz="2800" b="1" dirty="0">
                <a:solidFill>
                  <a:srgbClr val="000000"/>
                </a:solidFill>
                <a:ea typeface="宋体" panose="02010600030101010101" pitchFamily="2" charset="-122"/>
                <a:cs typeface="Arial" panose="020B0604020202020204" pitchFamily="34" charset="0"/>
              </a:rPr>
              <a:t>）突变结势垒区中的电场、电势分布</a:t>
            </a:r>
            <a:endParaRPr lang="zh-CN" altLang="en-US" sz="2800" b="1" dirty="0">
              <a:solidFill>
                <a:srgbClr val="000000"/>
              </a:solidFill>
              <a:ea typeface="宋体" panose="02010600030101010101" pitchFamily="2" charset="-122"/>
              <a:cs typeface="Arial" panose="020B0604020202020204" pitchFamily="34" charset="0"/>
            </a:endParaRPr>
          </a:p>
        </p:txBody>
      </p:sp>
      <p:sp>
        <p:nvSpPr>
          <p:cNvPr id="57347" name="Text Box 3" descr="2"/>
          <p:cNvSpPr txBox="1">
            <a:spLocks noChangeArrowheads="1"/>
          </p:cNvSpPr>
          <p:nvPr/>
        </p:nvSpPr>
        <p:spPr bwMode="gray">
          <a:xfrm>
            <a:off x="1847851" y="333375"/>
            <a:ext cx="4824413" cy="641350"/>
          </a:xfrm>
          <a:prstGeom prst="rect">
            <a:avLst/>
          </a:prstGeom>
          <a:noFill/>
          <a:ln>
            <a:noFill/>
          </a:ln>
          <a:effectLst/>
          <a:extLst>
            <a:ext uri="{909E8E84-426E-40DD-AFC4-6F175D3DCCD1}">
              <a14:hiddenFill xmlns:a14="http://schemas.microsoft.com/office/drawing/2010/main">
                <a:blipFill dpi="0" rotWithShape="1">
                  <a:blip r:embed="rId1"/>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3600" b="1">
                <a:solidFill>
                  <a:srgbClr val="FFFFFF"/>
                </a:solidFill>
                <a:ea typeface="宋体" panose="02010600030101010101" pitchFamily="2" charset="-122"/>
              </a:rPr>
              <a:t>2.  </a:t>
            </a:r>
            <a:r>
              <a:rPr lang="zh-CN" altLang="en-US" sz="3600" b="1">
                <a:solidFill>
                  <a:srgbClr val="FFFFFF"/>
                </a:solidFill>
                <a:ea typeface="宋体" panose="02010600030101010101" pitchFamily="2" charset="-122"/>
              </a:rPr>
              <a:t>突变结的势垒电容</a:t>
            </a:r>
            <a:endParaRPr lang="zh-CN" altLang="en-US" sz="3600" b="1">
              <a:solidFill>
                <a:srgbClr val="FFFFFF"/>
              </a:solidFill>
              <a:ea typeface="宋体" panose="02010600030101010101" pitchFamily="2" charset="-122"/>
            </a:endParaRPr>
          </a:p>
        </p:txBody>
      </p:sp>
      <p:sp>
        <p:nvSpPr>
          <p:cNvPr id="57350" name="Text Box 6" descr="2"/>
          <p:cNvSpPr txBox="1">
            <a:spLocks noChangeArrowheads="1"/>
          </p:cNvSpPr>
          <p:nvPr/>
        </p:nvSpPr>
        <p:spPr bwMode="gray">
          <a:xfrm>
            <a:off x="1703388" y="1700213"/>
            <a:ext cx="5905500" cy="4362450"/>
          </a:xfrm>
          <a:prstGeom prst="rect">
            <a:avLst/>
          </a:prstGeom>
          <a:noFill/>
          <a:ln>
            <a:noFill/>
          </a:ln>
          <a:effectLst/>
          <a:extLst>
            <a:ext uri="{909E8E84-426E-40DD-AFC4-6F175D3DCCD1}">
              <a14:hiddenFill xmlns:a14="http://schemas.microsoft.com/office/drawing/2010/main">
                <a:blipFill dpi="0" rotWithShape="1">
                  <a:blip r:embed="rId1"/>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800">
                <a:solidFill>
                  <a:schemeClr val="tx2"/>
                </a:solidFill>
                <a:ea typeface="宋体" panose="02010600030101010101" pitchFamily="2" charset="-122"/>
              </a:rPr>
              <a:t>在</a:t>
            </a:r>
            <a:r>
              <a:rPr lang="en-US" altLang="zh-CN" sz="2800">
                <a:solidFill>
                  <a:schemeClr val="tx2"/>
                </a:solidFill>
                <a:ea typeface="宋体" panose="02010600030101010101" pitchFamily="2" charset="-122"/>
              </a:rPr>
              <a:t>p-n</a:t>
            </a:r>
            <a:r>
              <a:rPr lang="zh-CN" altLang="en-US" sz="2800">
                <a:solidFill>
                  <a:schemeClr val="tx2"/>
                </a:solidFill>
                <a:ea typeface="宋体" panose="02010600030101010101" pitchFamily="2" charset="-122"/>
              </a:rPr>
              <a:t>结势垒区中，在耗尽层近似以及杂质完全电离的情况下，空间电荷由电离施主和电离受主组成。势垒区靠近</a:t>
            </a:r>
            <a:r>
              <a:rPr lang="en-US" altLang="zh-CN" sz="2800">
                <a:solidFill>
                  <a:schemeClr val="tx2"/>
                </a:solidFill>
                <a:ea typeface="宋体" panose="02010600030101010101" pitchFamily="2" charset="-122"/>
              </a:rPr>
              <a:t>n</a:t>
            </a:r>
            <a:r>
              <a:rPr lang="zh-CN" altLang="en-US" sz="2800">
                <a:solidFill>
                  <a:schemeClr val="tx2"/>
                </a:solidFill>
                <a:ea typeface="宋体" panose="02010600030101010101" pitchFamily="2" charset="-122"/>
              </a:rPr>
              <a:t>区一侧的电荷密度完全由施主浓度决定，靠近</a:t>
            </a:r>
            <a:r>
              <a:rPr lang="en-US" altLang="zh-CN" sz="2800">
                <a:solidFill>
                  <a:schemeClr val="tx2"/>
                </a:solidFill>
                <a:ea typeface="宋体" panose="02010600030101010101" pitchFamily="2" charset="-122"/>
              </a:rPr>
              <a:t>p</a:t>
            </a:r>
            <a:r>
              <a:rPr lang="zh-CN" altLang="en-US" sz="2800">
                <a:solidFill>
                  <a:schemeClr val="tx2"/>
                </a:solidFill>
                <a:ea typeface="宋体" panose="02010600030101010101" pitchFamily="2" charset="-122"/>
              </a:rPr>
              <a:t>区一侧的电荷密度完全由受主浓度决定。对突变结来说，</a:t>
            </a:r>
            <a:r>
              <a:rPr lang="en-US" altLang="zh-CN" sz="2800">
                <a:solidFill>
                  <a:schemeClr val="tx2"/>
                </a:solidFill>
                <a:ea typeface="宋体" panose="02010600030101010101" pitchFamily="2" charset="-122"/>
              </a:rPr>
              <a:t>n</a:t>
            </a:r>
            <a:r>
              <a:rPr lang="zh-CN" altLang="en-US" sz="2800">
                <a:solidFill>
                  <a:schemeClr val="tx2"/>
                </a:solidFill>
                <a:ea typeface="宋体" panose="02010600030101010101" pitchFamily="2" charset="-122"/>
              </a:rPr>
              <a:t>区有均匀施主杂质浓度</a:t>
            </a:r>
            <a:r>
              <a:rPr lang="en-US" altLang="zh-CN" sz="2800">
                <a:solidFill>
                  <a:schemeClr val="tx2"/>
                </a:solidFill>
                <a:ea typeface="宋体" panose="02010600030101010101" pitchFamily="2" charset="-122"/>
              </a:rPr>
              <a:t>N</a:t>
            </a:r>
            <a:r>
              <a:rPr lang="en-US" altLang="zh-CN" sz="2800" baseline="-25000">
                <a:solidFill>
                  <a:schemeClr val="tx2"/>
                </a:solidFill>
                <a:ea typeface="宋体" panose="02010600030101010101" pitchFamily="2" charset="-122"/>
              </a:rPr>
              <a:t>D</a:t>
            </a:r>
            <a:r>
              <a:rPr lang="zh-CN" altLang="en-US" sz="2800">
                <a:solidFill>
                  <a:schemeClr val="tx2"/>
                </a:solidFill>
                <a:ea typeface="宋体" panose="02010600030101010101" pitchFamily="2" charset="-122"/>
              </a:rPr>
              <a:t>，</a:t>
            </a:r>
            <a:r>
              <a:rPr lang="en-US" altLang="zh-CN" sz="2800">
                <a:solidFill>
                  <a:schemeClr val="tx2"/>
                </a:solidFill>
                <a:ea typeface="宋体" panose="02010600030101010101" pitchFamily="2" charset="-122"/>
              </a:rPr>
              <a:t>p</a:t>
            </a:r>
            <a:r>
              <a:rPr lang="zh-CN" altLang="en-US" sz="2800">
                <a:solidFill>
                  <a:schemeClr val="tx2"/>
                </a:solidFill>
                <a:ea typeface="宋体" panose="02010600030101010101" pitchFamily="2" charset="-122"/>
              </a:rPr>
              <a:t>区有均匀受主杂质浓度</a:t>
            </a:r>
            <a:r>
              <a:rPr lang="en-US" altLang="zh-CN" sz="2800">
                <a:solidFill>
                  <a:schemeClr val="tx2"/>
                </a:solidFill>
                <a:ea typeface="宋体" panose="02010600030101010101" pitchFamily="2" charset="-122"/>
              </a:rPr>
              <a:t>N</a:t>
            </a:r>
            <a:r>
              <a:rPr lang="en-US" altLang="zh-CN" sz="2800" baseline="-25000">
                <a:solidFill>
                  <a:schemeClr val="tx2"/>
                </a:solidFill>
                <a:ea typeface="宋体" panose="02010600030101010101" pitchFamily="2" charset="-122"/>
              </a:rPr>
              <a:t>A</a:t>
            </a:r>
            <a:r>
              <a:rPr lang="zh-CN" altLang="en-US" sz="2800">
                <a:solidFill>
                  <a:schemeClr val="tx2"/>
                </a:solidFill>
                <a:ea typeface="宋体" panose="02010600030101010101" pitchFamily="2" charset="-122"/>
              </a:rPr>
              <a:t>，若势垒区的正负空间电荷区的宽度分别为</a:t>
            </a:r>
            <a:r>
              <a:rPr lang="en-US" altLang="zh-CN" sz="2800">
                <a:solidFill>
                  <a:schemeClr val="tx2"/>
                </a:solidFill>
                <a:ea typeface="宋体" panose="02010600030101010101" pitchFamily="2" charset="-122"/>
              </a:rPr>
              <a:t>x</a:t>
            </a:r>
            <a:r>
              <a:rPr lang="en-US" altLang="zh-CN" sz="2800" baseline="-25000">
                <a:solidFill>
                  <a:schemeClr val="tx2"/>
                </a:solidFill>
                <a:ea typeface="宋体" panose="02010600030101010101" pitchFamily="2" charset="-122"/>
              </a:rPr>
              <a:t>n</a:t>
            </a:r>
            <a:r>
              <a:rPr lang="zh-CN" altLang="en-US" sz="2800">
                <a:solidFill>
                  <a:schemeClr val="tx2"/>
                </a:solidFill>
                <a:ea typeface="宋体" panose="02010600030101010101" pitchFamily="2" charset="-122"/>
              </a:rPr>
              <a:t>和</a:t>
            </a:r>
            <a:r>
              <a:rPr lang="en-US" altLang="zh-CN" sz="2800">
                <a:solidFill>
                  <a:schemeClr val="tx2"/>
                </a:solidFill>
                <a:ea typeface="宋体" panose="02010600030101010101" pitchFamily="2" charset="-122"/>
              </a:rPr>
              <a:t>-x</a:t>
            </a:r>
            <a:r>
              <a:rPr lang="en-US" altLang="zh-CN" sz="2800" baseline="-25000">
                <a:solidFill>
                  <a:schemeClr val="tx2"/>
                </a:solidFill>
                <a:ea typeface="宋体" panose="02010600030101010101" pitchFamily="2" charset="-122"/>
              </a:rPr>
              <a:t>p</a:t>
            </a:r>
            <a:r>
              <a:rPr lang="zh-CN" altLang="en-US" sz="2800">
                <a:solidFill>
                  <a:schemeClr val="tx2"/>
                </a:solidFill>
                <a:ea typeface="宋体" panose="02010600030101010101" pitchFamily="2" charset="-122"/>
              </a:rPr>
              <a:t>，且取</a:t>
            </a:r>
            <a:r>
              <a:rPr lang="en-US" altLang="zh-CN" sz="2800">
                <a:solidFill>
                  <a:schemeClr val="tx2"/>
                </a:solidFill>
                <a:ea typeface="宋体" panose="02010600030101010101" pitchFamily="2" charset="-122"/>
              </a:rPr>
              <a:t>x=0</a:t>
            </a:r>
            <a:r>
              <a:rPr lang="zh-CN" altLang="en-US" sz="2800">
                <a:solidFill>
                  <a:schemeClr val="tx2"/>
                </a:solidFill>
                <a:ea typeface="宋体" panose="02010600030101010101" pitchFamily="2" charset="-122"/>
              </a:rPr>
              <a:t>处为交界面，如图</a:t>
            </a:r>
            <a:endParaRPr lang="zh-CN" altLang="en-US" sz="2800">
              <a:solidFill>
                <a:schemeClr val="tx2"/>
              </a:solidFill>
              <a:ea typeface="宋体" panose="02010600030101010101" pitchFamily="2" charset="-122"/>
            </a:endParaRPr>
          </a:p>
        </p:txBody>
      </p:sp>
      <p:pic>
        <p:nvPicPr>
          <p:cNvPr id="57352" name="Picture 8" descr="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7680325" y="1268413"/>
            <a:ext cx="2755900" cy="5256212"/>
          </a:xfrm>
          <a:prstGeom prst="rect">
            <a:avLst/>
          </a:prstGeom>
          <a:noFill/>
          <a:ln>
            <a:noFill/>
          </a:ln>
          <a:effectLst/>
          <a:extLst>
            <a:ext uri="{909E8E84-426E-40DD-AFC4-6F175D3DCCD1}">
              <a14:hiddenFill xmlns:a14="http://schemas.microsoft.com/office/drawing/2010/main">
                <a:blipFill dpi="0" rotWithShape="1">
                  <a:blip/>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2" name="Text Box 12"/>
          <p:cNvSpPr txBox="1">
            <a:spLocks noChangeArrowheads="1"/>
          </p:cNvSpPr>
          <p:nvPr/>
        </p:nvSpPr>
        <p:spPr bwMode="white">
          <a:xfrm>
            <a:off x="3917950" y="2636839"/>
            <a:ext cx="44958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292929">
                      <a:alpha val="50000"/>
                    </a:srgbClr>
                  </a:outerShdw>
                </a:effectLst>
              </a14:hiddenEffects>
            </a:ext>
          </a:extLst>
        </p:spPr>
        <p:txBody>
          <a:bodyPr>
            <a:spAutoFit/>
          </a:bodyPr>
          <a:lstStyle>
            <a:lvl1pPr marL="457200" indent="-457200" algn="l">
              <a:defRPr>
                <a:solidFill>
                  <a:schemeClr val="tx1"/>
                </a:solidFill>
                <a:latin typeface="Arial" panose="020B0604020202020204" pitchFamily="34" charset="0"/>
              </a:defRPr>
            </a:lvl1pPr>
            <a:lvl2pPr marL="914400" indent="-457200" algn="l">
              <a:defRPr>
                <a:solidFill>
                  <a:schemeClr val="tx1"/>
                </a:solidFill>
                <a:latin typeface="Arial" panose="020B0604020202020204" pitchFamily="34" charset="0"/>
              </a:defRPr>
            </a:lvl2pPr>
            <a:lvl3pPr marL="1371600" indent="-457200" algn="l">
              <a:defRPr>
                <a:solidFill>
                  <a:schemeClr val="tx1"/>
                </a:solidFill>
                <a:latin typeface="Arial" panose="020B0604020202020204" pitchFamily="34" charset="0"/>
              </a:defRPr>
            </a:lvl3pPr>
            <a:lvl4pPr marL="1828800" indent="-457200" algn="l">
              <a:defRPr>
                <a:solidFill>
                  <a:schemeClr val="tx1"/>
                </a:solidFill>
                <a:latin typeface="Arial" panose="020B0604020202020204" pitchFamily="34" charset="0"/>
              </a:defRPr>
            </a:lvl4pPr>
            <a:lvl5pPr marL="2286000" indent="-457200" algn="l">
              <a:defRPr>
                <a:solidFill>
                  <a:schemeClr val="tx1"/>
                </a:solidFill>
                <a:latin typeface="Arial" panose="020B0604020202020204" pitchFamily="34" charset="0"/>
              </a:defRPr>
            </a:lvl5pPr>
            <a:lvl6pPr marL="2743200" indent="-457200" fontAlgn="base">
              <a:spcBef>
                <a:spcPct val="0"/>
              </a:spcBef>
              <a:spcAft>
                <a:spcPct val="0"/>
              </a:spcAft>
              <a:defRPr>
                <a:solidFill>
                  <a:schemeClr val="tx1"/>
                </a:solidFill>
                <a:latin typeface="Arial" panose="020B0604020202020204" pitchFamily="34" charset="0"/>
              </a:defRPr>
            </a:lvl6pPr>
            <a:lvl7pPr marL="3200400" indent="-457200" fontAlgn="base">
              <a:spcBef>
                <a:spcPct val="0"/>
              </a:spcBef>
              <a:spcAft>
                <a:spcPct val="0"/>
              </a:spcAft>
              <a:defRPr>
                <a:solidFill>
                  <a:schemeClr val="tx1"/>
                </a:solidFill>
                <a:latin typeface="Arial" panose="020B0604020202020204" pitchFamily="34" charset="0"/>
              </a:defRPr>
            </a:lvl7pPr>
            <a:lvl8pPr marL="3657600" indent="-457200" fontAlgn="base">
              <a:spcBef>
                <a:spcPct val="0"/>
              </a:spcBef>
              <a:spcAft>
                <a:spcPct val="0"/>
              </a:spcAft>
              <a:defRPr>
                <a:solidFill>
                  <a:schemeClr val="tx1"/>
                </a:solidFill>
                <a:latin typeface="Arial" panose="020B0604020202020204" pitchFamily="34" charset="0"/>
              </a:defRPr>
            </a:lvl8pPr>
            <a:lvl9pPr marL="4114800" indent="-457200" fontAlgn="base">
              <a:spcBef>
                <a:spcPct val="0"/>
              </a:spcBef>
              <a:spcAft>
                <a:spcPct val="0"/>
              </a:spcAft>
              <a:defRPr>
                <a:solidFill>
                  <a:schemeClr val="tx1"/>
                </a:solidFill>
                <a:latin typeface="Arial" panose="020B0604020202020204" pitchFamily="34" charset="0"/>
              </a:defRPr>
            </a:lvl9pPr>
          </a:lstStyle>
          <a:p>
            <a:pPr algn="ctr">
              <a:spcBef>
                <a:spcPct val="50000"/>
              </a:spcBef>
              <a:buClr>
                <a:schemeClr val="tx1"/>
              </a:buClr>
            </a:pPr>
            <a:r>
              <a:rPr lang="zh-CN" altLang="en-US" sz="3200" b="1">
                <a:solidFill>
                  <a:srgbClr val="FFFFFF"/>
                </a:solidFill>
                <a:ea typeface="宋体" panose="02010600030101010101" pitchFamily="2" charset="-122"/>
                <a:cs typeface="Arial" panose="020B0604020202020204" pitchFamily="34" charset="0"/>
              </a:rPr>
              <a:t>势垒电容    </a:t>
            </a:r>
            <a:endParaRPr lang="zh-CN" altLang="en-US" sz="3200" b="1">
              <a:solidFill>
                <a:srgbClr val="FFFFFF"/>
              </a:solidFill>
              <a:ea typeface="宋体" panose="02010600030101010101" pitchFamily="2" charset="-122"/>
              <a:cs typeface="Arial" panose="020B0604020202020204" pitchFamily="34" charset="0"/>
            </a:endParaRPr>
          </a:p>
        </p:txBody>
      </p:sp>
      <p:sp>
        <p:nvSpPr>
          <p:cNvPr id="61460" name="Text Box 20"/>
          <p:cNvSpPr txBox="1">
            <a:spLocks noChangeArrowheads="1"/>
          </p:cNvSpPr>
          <p:nvPr/>
        </p:nvSpPr>
        <p:spPr bwMode="white">
          <a:xfrm>
            <a:off x="3589338" y="4435475"/>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1">
                <a:solidFill>
                  <a:srgbClr val="FFFFFF"/>
                </a:solidFill>
                <a:ea typeface="宋体" panose="02010600030101010101" pitchFamily="2" charset="-122"/>
                <a:cs typeface="Arial" panose="020B0604020202020204" pitchFamily="34" charset="0"/>
              </a:rPr>
              <a:t>3</a:t>
            </a:r>
            <a:endParaRPr lang="en-US" altLang="zh-CN" sz="2400" b="1">
              <a:solidFill>
                <a:srgbClr val="FFFFFF"/>
              </a:solidFill>
              <a:ea typeface="宋体" panose="02010600030101010101" pitchFamily="2" charset="-122"/>
              <a:cs typeface="Arial" panose="020B0604020202020204" pitchFamily="34" charset="0"/>
            </a:endParaRPr>
          </a:p>
        </p:txBody>
      </p:sp>
      <p:sp>
        <p:nvSpPr>
          <p:cNvPr id="61462" name="Text Box 22" descr="2"/>
          <p:cNvSpPr txBox="1">
            <a:spLocks noChangeArrowheads="1"/>
          </p:cNvSpPr>
          <p:nvPr/>
        </p:nvSpPr>
        <p:spPr bwMode="gray">
          <a:xfrm>
            <a:off x="1703388" y="1268413"/>
            <a:ext cx="3313112" cy="457200"/>
          </a:xfrm>
          <a:prstGeom prst="rect">
            <a:avLst/>
          </a:prstGeom>
          <a:noFill/>
          <a:ln>
            <a:noFill/>
          </a:ln>
          <a:effectLst/>
          <a:extLst>
            <a:ext uri="{909E8E84-426E-40DD-AFC4-6F175D3DCCD1}">
              <a14:hiddenFill xmlns:a14="http://schemas.microsoft.com/office/drawing/2010/main">
                <a:blipFill dpi="0" rotWithShape="1">
                  <a:blip r:embed="rId1"/>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b="1">
                <a:solidFill>
                  <a:schemeClr val="tx2"/>
                </a:solidFill>
                <a:ea typeface="宋体" panose="02010600030101010101" pitchFamily="2" charset="-122"/>
              </a:rPr>
              <a:t>势垒区的电荷密度为：</a:t>
            </a:r>
            <a:endParaRPr lang="zh-CN" altLang="en-US" sz="2400" b="1">
              <a:solidFill>
                <a:schemeClr val="tx2"/>
              </a:solidFill>
              <a:ea typeface="宋体" panose="02010600030101010101" pitchFamily="2" charset="-122"/>
            </a:endParaRPr>
          </a:p>
        </p:txBody>
      </p:sp>
      <p:pic>
        <p:nvPicPr>
          <p:cNvPr id="61463" name="Picture 23" descr="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1774825" y="1989139"/>
            <a:ext cx="5329238" cy="1031875"/>
          </a:xfrm>
          <a:prstGeom prst="rect">
            <a:avLst/>
          </a:prstGeom>
          <a:noFill/>
          <a:ln>
            <a:noFill/>
          </a:ln>
          <a:effectLst/>
          <a:extLst>
            <a:ext uri="{909E8E84-426E-40DD-AFC4-6F175D3DCCD1}">
              <a14:hiddenFill xmlns:a14="http://schemas.microsoft.com/office/drawing/2010/main">
                <a:blipFill dpi="0" rotWithShape="1">
                  <a:blip/>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1465" name="Text Box 25" descr="2"/>
          <p:cNvSpPr txBox="1">
            <a:spLocks noChangeArrowheads="1"/>
          </p:cNvSpPr>
          <p:nvPr/>
        </p:nvSpPr>
        <p:spPr bwMode="gray">
          <a:xfrm>
            <a:off x="1270001" y="2997200"/>
            <a:ext cx="3097213" cy="457200"/>
          </a:xfrm>
          <a:prstGeom prst="rect">
            <a:avLst/>
          </a:prstGeom>
          <a:noFill/>
          <a:ln>
            <a:noFill/>
          </a:ln>
          <a:effectLst/>
          <a:extLst>
            <a:ext uri="{909E8E84-426E-40DD-AFC4-6F175D3DCCD1}">
              <a14:hiddenFill xmlns:a14="http://schemas.microsoft.com/office/drawing/2010/main">
                <a:blipFill dpi="0" rotWithShape="1">
                  <a:blip r:embed="rId1"/>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b="1">
                <a:solidFill>
                  <a:schemeClr val="tx2"/>
                </a:solidFill>
                <a:ea typeface="宋体" panose="02010600030101010101" pitchFamily="2" charset="-122"/>
              </a:rPr>
              <a:t>势垒区宽度：</a:t>
            </a:r>
            <a:endParaRPr lang="zh-CN" altLang="en-US" sz="2400" b="1">
              <a:solidFill>
                <a:schemeClr val="tx2"/>
              </a:solidFill>
              <a:ea typeface="宋体" panose="02010600030101010101" pitchFamily="2" charset="-122"/>
            </a:endParaRPr>
          </a:p>
        </p:txBody>
      </p:sp>
      <p:pic>
        <p:nvPicPr>
          <p:cNvPr id="61466" name="Picture 26" descr="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gray">
          <a:xfrm>
            <a:off x="3878263" y="3327400"/>
            <a:ext cx="2578100" cy="533400"/>
          </a:xfrm>
          <a:prstGeom prst="rect">
            <a:avLst/>
          </a:prstGeom>
          <a:noFill/>
          <a:ln>
            <a:noFill/>
          </a:ln>
          <a:effectLst/>
          <a:extLst>
            <a:ext uri="{909E8E84-426E-40DD-AFC4-6F175D3DCCD1}">
              <a14:hiddenFill xmlns:a14="http://schemas.microsoft.com/office/drawing/2010/main">
                <a:blipFill dpi="0" rotWithShape="1">
                  <a:blip/>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67" name="Picture 27" descr="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gray">
          <a:xfrm>
            <a:off x="4079876" y="5003801"/>
            <a:ext cx="4125913" cy="657225"/>
          </a:xfrm>
          <a:prstGeom prst="rect">
            <a:avLst/>
          </a:prstGeom>
          <a:noFill/>
          <a:ln>
            <a:noFill/>
          </a:ln>
          <a:effectLst/>
          <a:extLst>
            <a:ext uri="{909E8E84-426E-40DD-AFC4-6F175D3DCCD1}">
              <a14:hiddenFill xmlns:a14="http://schemas.microsoft.com/office/drawing/2010/main">
                <a:blipFill dpi="0" rotWithShape="1">
                  <a:blip/>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1468" name="Text Box 28" descr="2"/>
          <p:cNvSpPr txBox="1">
            <a:spLocks noChangeArrowheads="1"/>
          </p:cNvSpPr>
          <p:nvPr/>
        </p:nvSpPr>
        <p:spPr bwMode="gray">
          <a:xfrm>
            <a:off x="1774826" y="4411663"/>
            <a:ext cx="8208963" cy="457200"/>
          </a:xfrm>
          <a:prstGeom prst="rect">
            <a:avLst/>
          </a:prstGeom>
          <a:noFill/>
          <a:ln>
            <a:noFill/>
          </a:ln>
          <a:effectLst/>
          <a:extLst>
            <a:ext uri="{909E8E84-426E-40DD-AFC4-6F175D3DCCD1}">
              <a14:hiddenFill xmlns:a14="http://schemas.microsoft.com/office/drawing/2010/main">
                <a:blipFill dpi="0" rotWithShape="1">
                  <a:blip r:embed="rId1"/>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b="1">
                <a:solidFill>
                  <a:schemeClr val="tx2"/>
                </a:solidFill>
                <a:ea typeface="宋体" panose="02010600030101010101" pitchFamily="2" charset="-122"/>
              </a:rPr>
              <a:t>由于半导体满足电中性条件，势垒区内正负电荷总量相等：</a:t>
            </a:r>
            <a:endParaRPr lang="zh-CN" altLang="en-US" sz="2400" b="1">
              <a:solidFill>
                <a:schemeClr val="tx2"/>
              </a:solidFill>
              <a:ea typeface="宋体" panose="02010600030101010101" pitchFamily="2" charset="-122"/>
            </a:endParaRPr>
          </a:p>
        </p:txBody>
      </p:sp>
      <p:sp>
        <p:nvSpPr>
          <p:cNvPr id="61470" name="Text Box 30" descr="2"/>
          <p:cNvSpPr txBox="1">
            <a:spLocks noChangeArrowheads="1"/>
          </p:cNvSpPr>
          <p:nvPr/>
        </p:nvSpPr>
        <p:spPr bwMode="gray">
          <a:xfrm>
            <a:off x="1524001" y="5789613"/>
            <a:ext cx="8893175" cy="519112"/>
          </a:xfrm>
          <a:prstGeom prst="rect">
            <a:avLst/>
          </a:prstGeom>
          <a:noFill/>
          <a:ln>
            <a:noFill/>
          </a:ln>
          <a:effectLst/>
          <a:extLst>
            <a:ext uri="{909E8E84-426E-40DD-AFC4-6F175D3DCCD1}">
              <a14:hiddenFill xmlns:a14="http://schemas.microsoft.com/office/drawing/2010/main">
                <a:blipFill dpi="0" rotWithShape="1">
                  <a:blip r:embed="rId1"/>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b="1">
                <a:solidFill>
                  <a:schemeClr val="tx2"/>
                </a:solidFill>
                <a:ea typeface="宋体" panose="02010600030101010101" pitchFamily="2" charset="-122"/>
              </a:rPr>
              <a:t>Q</a:t>
            </a:r>
            <a:r>
              <a:rPr lang="zh-CN" altLang="en-US" sz="2800" b="1">
                <a:solidFill>
                  <a:schemeClr val="tx2"/>
                </a:solidFill>
                <a:ea typeface="宋体" panose="02010600030101010101" pitchFamily="2" charset="-122"/>
              </a:rPr>
              <a:t>即为势垒区单位面积上所积累的空间电荷的数值</a:t>
            </a:r>
            <a:endParaRPr lang="zh-CN" altLang="en-US" sz="2800" b="1">
              <a:solidFill>
                <a:schemeClr val="tx2"/>
              </a:solidFill>
              <a:ea typeface="宋体" panose="02010600030101010101" pitchFamily="2" charset="-122"/>
            </a:endParaRPr>
          </a:p>
        </p:txBody>
      </p:sp>
      <p:pic>
        <p:nvPicPr>
          <p:cNvPr id="61471" name="Picture 31" descr="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gray">
          <a:xfrm>
            <a:off x="7248525" y="1341439"/>
            <a:ext cx="3233738" cy="2630487"/>
          </a:xfrm>
          <a:prstGeom prst="rect">
            <a:avLst/>
          </a:prstGeom>
          <a:noFill/>
          <a:ln>
            <a:noFill/>
          </a:ln>
          <a:effectLst/>
          <a:extLst>
            <a:ext uri="{909E8E84-426E-40DD-AFC4-6F175D3DCCD1}">
              <a14:hiddenFill xmlns:a14="http://schemas.microsoft.com/office/drawing/2010/main">
                <a:blipFill dpi="0" rotWithShape="1">
                  <a:blip/>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30" name="Text Box 14"/>
          <p:cNvSpPr txBox="1">
            <a:spLocks noChangeArrowheads="1"/>
          </p:cNvSpPr>
          <p:nvPr/>
        </p:nvSpPr>
        <p:spPr bwMode="white">
          <a:xfrm>
            <a:off x="3929063" y="4427538"/>
            <a:ext cx="449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292929">
                      <a:alpha val="50000"/>
                    </a:srgbClr>
                  </a:outerShdw>
                </a:effectLst>
              </a14:hiddenEffects>
            </a:ext>
          </a:extLst>
        </p:spPr>
        <p:txBody>
          <a:bodyPr>
            <a:spAutoFit/>
          </a:bodyPr>
          <a:lstStyle>
            <a:lvl1pPr marL="457200" indent="-457200" algn="l">
              <a:defRPr>
                <a:solidFill>
                  <a:schemeClr val="tx1"/>
                </a:solidFill>
                <a:latin typeface="Arial" panose="020B0604020202020204" pitchFamily="34" charset="0"/>
              </a:defRPr>
            </a:lvl1pPr>
            <a:lvl2pPr marL="914400" indent="-457200" algn="l">
              <a:defRPr>
                <a:solidFill>
                  <a:schemeClr val="tx1"/>
                </a:solidFill>
                <a:latin typeface="Arial" panose="020B0604020202020204" pitchFamily="34" charset="0"/>
              </a:defRPr>
            </a:lvl2pPr>
            <a:lvl3pPr marL="1371600" indent="-457200" algn="l">
              <a:defRPr>
                <a:solidFill>
                  <a:schemeClr val="tx1"/>
                </a:solidFill>
                <a:latin typeface="Arial" panose="020B0604020202020204" pitchFamily="34" charset="0"/>
              </a:defRPr>
            </a:lvl3pPr>
            <a:lvl4pPr marL="1828800" indent="-457200" algn="l">
              <a:defRPr>
                <a:solidFill>
                  <a:schemeClr val="tx1"/>
                </a:solidFill>
                <a:latin typeface="Arial" panose="020B0604020202020204" pitchFamily="34" charset="0"/>
              </a:defRPr>
            </a:lvl4pPr>
            <a:lvl5pPr marL="2286000" indent="-457200" algn="l">
              <a:defRPr>
                <a:solidFill>
                  <a:schemeClr val="tx1"/>
                </a:solidFill>
                <a:latin typeface="Arial" panose="020B0604020202020204" pitchFamily="34" charset="0"/>
              </a:defRPr>
            </a:lvl5pPr>
            <a:lvl6pPr marL="2743200" indent="-457200" fontAlgn="base">
              <a:spcBef>
                <a:spcPct val="0"/>
              </a:spcBef>
              <a:spcAft>
                <a:spcPct val="0"/>
              </a:spcAft>
              <a:defRPr>
                <a:solidFill>
                  <a:schemeClr val="tx1"/>
                </a:solidFill>
                <a:latin typeface="Arial" panose="020B0604020202020204" pitchFamily="34" charset="0"/>
              </a:defRPr>
            </a:lvl6pPr>
            <a:lvl7pPr marL="3200400" indent="-457200" fontAlgn="base">
              <a:spcBef>
                <a:spcPct val="0"/>
              </a:spcBef>
              <a:spcAft>
                <a:spcPct val="0"/>
              </a:spcAft>
              <a:defRPr>
                <a:solidFill>
                  <a:schemeClr val="tx1"/>
                </a:solidFill>
                <a:latin typeface="Arial" panose="020B0604020202020204" pitchFamily="34" charset="0"/>
              </a:defRPr>
            </a:lvl7pPr>
            <a:lvl8pPr marL="3657600" indent="-457200" fontAlgn="base">
              <a:spcBef>
                <a:spcPct val="0"/>
              </a:spcBef>
              <a:spcAft>
                <a:spcPct val="0"/>
              </a:spcAft>
              <a:defRPr>
                <a:solidFill>
                  <a:schemeClr val="tx1"/>
                </a:solidFill>
                <a:latin typeface="Arial" panose="020B0604020202020204" pitchFamily="34" charset="0"/>
              </a:defRPr>
            </a:lvl8pPr>
            <a:lvl9pPr marL="4114800" indent="-457200" fontAlgn="base">
              <a:spcBef>
                <a:spcPct val="0"/>
              </a:spcBef>
              <a:spcAft>
                <a:spcPct val="0"/>
              </a:spcAft>
              <a:defRPr>
                <a:solidFill>
                  <a:schemeClr val="tx1"/>
                </a:solidFill>
                <a:latin typeface="Arial" panose="020B0604020202020204" pitchFamily="34" charset="0"/>
              </a:defRPr>
            </a:lvl9pPr>
          </a:lstStyle>
          <a:p>
            <a:pPr algn="ctr">
              <a:spcBef>
                <a:spcPct val="50000"/>
              </a:spcBef>
              <a:buClr>
                <a:schemeClr val="tx1"/>
              </a:buClr>
            </a:pPr>
            <a:r>
              <a:rPr lang="en-US" altLang="zh-CN" sz="2400" b="1">
                <a:solidFill>
                  <a:srgbClr val="FFFFFF"/>
                </a:solidFill>
                <a:ea typeface="宋体" panose="02010600030101010101" pitchFamily="2" charset="-122"/>
                <a:cs typeface="Arial" panose="020B0604020202020204" pitchFamily="34" charset="0"/>
              </a:rPr>
              <a:t>Click to add title in here    </a:t>
            </a:r>
            <a:endParaRPr lang="en-US" altLang="zh-CN" sz="2400" b="1">
              <a:solidFill>
                <a:srgbClr val="FFFFFF"/>
              </a:solidFill>
              <a:ea typeface="宋体" panose="02010600030101010101" pitchFamily="2" charset="-122"/>
              <a:cs typeface="Arial" panose="020B0604020202020204" pitchFamily="34" charset="0"/>
            </a:endParaRPr>
          </a:p>
        </p:txBody>
      </p:sp>
      <p:sp>
        <p:nvSpPr>
          <p:cNvPr id="60436" name="Text Box 20"/>
          <p:cNvSpPr txBox="1">
            <a:spLocks noChangeArrowheads="1"/>
          </p:cNvSpPr>
          <p:nvPr/>
        </p:nvSpPr>
        <p:spPr bwMode="white">
          <a:xfrm>
            <a:off x="3589338" y="4435475"/>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1">
                <a:solidFill>
                  <a:srgbClr val="FFFFFF"/>
                </a:solidFill>
                <a:ea typeface="宋体" panose="02010600030101010101" pitchFamily="2" charset="-122"/>
                <a:cs typeface="Arial" panose="020B0604020202020204" pitchFamily="34" charset="0"/>
              </a:rPr>
              <a:t>3</a:t>
            </a:r>
            <a:endParaRPr lang="en-US" altLang="zh-CN" sz="2400" b="1">
              <a:solidFill>
                <a:srgbClr val="FFFFFF"/>
              </a:solidFill>
              <a:ea typeface="宋体" panose="02010600030101010101" pitchFamily="2" charset="-122"/>
              <a:cs typeface="Arial" panose="020B0604020202020204" pitchFamily="34" charset="0"/>
            </a:endParaRPr>
          </a:p>
        </p:txBody>
      </p:sp>
      <p:pic>
        <p:nvPicPr>
          <p:cNvPr id="60438" name="Picture 22" descr="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gray">
          <a:xfrm>
            <a:off x="1774826" y="1989139"/>
            <a:ext cx="4125913" cy="657225"/>
          </a:xfrm>
          <a:prstGeom prst="rect">
            <a:avLst/>
          </a:prstGeom>
          <a:noFill/>
          <a:ln>
            <a:noFill/>
          </a:ln>
          <a:effectLst/>
          <a:extLst>
            <a:ext uri="{909E8E84-426E-40DD-AFC4-6F175D3DCCD1}">
              <a14:hiddenFill xmlns:a14="http://schemas.microsoft.com/office/drawing/2010/main">
                <a:blipFill dpi="0" rotWithShape="1">
                  <a:blip/>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0439" name="AutoShape 23"/>
          <p:cNvSpPr>
            <a:spLocks noChangeArrowheads="1"/>
          </p:cNvSpPr>
          <p:nvPr/>
        </p:nvSpPr>
        <p:spPr bwMode="gray">
          <a:xfrm>
            <a:off x="6148388" y="2133601"/>
            <a:ext cx="595312" cy="301625"/>
          </a:xfrm>
          <a:prstGeom prst="rightArrow">
            <a:avLst>
              <a:gd name="adj1" fmla="val 50000"/>
              <a:gd name="adj2" fmla="val 88478"/>
            </a:avLst>
          </a:prstGeom>
          <a:solidFill>
            <a:srgbClr val="00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28398" dir="1593903" algn="ctr" rotWithShape="0">
                    <a:srgbClr val="333333">
                      <a:alpha val="50000"/>
                    </a:srgbClr>
                  </a:outerShdw>
                </a:effectLst>
              </a14:hiddenEffects>
            </a:ext>
          </a:extLst>
        </p:spPr>
        <p:txBody>
          <a:bodyPr wrap="none" anchor="ctr"/>
          <a:lstStyle/>
          <a:p>
            <a:endParaRPr lang="zh-CN" altLang="en-US"/>
          </a:p>
        </p:txBody>
      </p:sp>
      <p:pic>
        <p:nvPicPr>
          <p:cNvPr id="60440" name="Picture 24" descr="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6888164" y="1981200"/>
            <a:ext cx="3095625" cy="655638"/>
          </a:xfrm>
          <a:prstGeom prst="rect">
            <a:avLst/>
          </a:prstGeom>
          <a:noFill/>
          <a:ln>
            <a:noFill/>
          </a:ln>
          <a:effectLst/>
          <a:extLst>
            <a:ext uri="{909E8E84-426E-40DD-AFC4-6F175D3DCCD1}">
              <a14:hiddenFill xmlns:a14="http://schemas.microsoft.com/office/drawing/2010/main">
                <a:blipFill dpi="0" rotWithShape="1">
                  <a:blip/>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0441" name="Text Box 25" descr="2"/>
          <p:cNvSpPr txBox="1">
            <a:spLocks noChangeArrowheads="1"/>
          </p:cNvSpPr>
          <p:nvPr/>
        </p:nvSpPr>
        <p:spPr bwMode="gray">
          <a:xfrm>
            <a:off x="2135188" y="3429000"/>
            <a:ext cx="7561262" cy="1569660"/>
          </a:xfrm>
          <a:prstGeom prst="rect">
            <a:avLst/>
          </a:prstGeom>
          <a:noFill/>
          <a:ln>
            <a:noFill/>
          </a:ln>
          <a:effectLst/>
          <a:extLst>
            <a:ext uri="{909E8E84-426E-40DD-AFC4-6F175D3DCCD1}">
              <a14:hiddenFill xmlns:a14="http://schemas.microsoft.com/office/drawing/2010/main">
                <a:blipFill dpi="0" rotWithShape="1">
                  <a:blip r:embed="rId3"/>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3200" b="1">
                <a:solidFill>
                  <a:schemeClr val="tx2"/>
                </a:solidFill>
                <a:ea typeface="宋体" panose="02010600030101010101" pitchFamily="2" charset="-122"/>
              </a:rPr>
              <a:t>可以看出，杂质浓度高的一边宽度小，杂质浓度低的一边宽度大。所以势垒区主要向杂质浓度低的一边扩展。</a:t>
            </a:r>
            <a:endParaRPr lang="zh-CN" altLang="en-US" sz="3200" b="1">
              <a:solidFill>
                <a:schemeClr val="tx2"/>
              </a:solidFill>
              <a:ea typeface="宋体" panose="02010600030101010101" pitchFamily="2" charset="-122"/>
            </a:endParaRP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404" name="Text Box 12"/>
          <p:cNvSpPr txBox="1">
            <a:spLocks noChangeArrowheads="1"/>
          </p:cNvSpPr>
          <p:nvPr/>
        </p:nvSpPr>
        <p:spPr bwMode="white">
          <a:xfrm>
            <a:off x="3917950" y="2636839"/>
            <a:ext cx="44958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292929">
                      <a:alpha val="50000"/>
                    </a:srgbClr>
                  </a:outerShdw>
                </a:effectLst>
              </a14:hiddenEffects>
            </a:ext>
          </a:extLst>
        </p:spPr>
        <p:txBody>
          <a:bodyPr>
            <a:spAutoFit/>
          </a:bodyPr>
          <a:lstStyle>
            <a:lvl1pPr marL="457200" indent="-457200" algn="l">
              <a:defRPr>
                <a:solidFill>
                  <a:schemeClr val="tx1"/>
                </a:solidFill>
                <a:latin typeface="Arial" panose="020B0604020202020204" pitchFamily="34" charset="0"/>
              </a:defRPr>
            </a:lvl1pPr>
            <a:lvl2pPr marL="914400" indent="-457200" algn="l">
              <a:defRPr>
                <a:solidFill>
                  <a:schemeClr val="tx1"/>
                </a:solidFill>
                <a:latin typeface="Arial" panose="020B0604020202020204" pitchFamily="34" charset="0"/>
              </a:defRPr>
            </a:lvl2pPr>
            <a:lvl3pPr marL="1371600" indent="-457200" algn="l">
              <a:defRPr>
                <a:solidFill>
                  <a:schemeClr val="tx1"/>
                </a:solidFill>
                <a:latin typeface="Arial" panose="020B0604020202020204" pitchFamily="34" charset="0"/>
              </a:defRPr>
            </a:lvl3pPr>
            <a:lvl4pPr marL="1828800" indent="-457200" algn="l">
              <a:defRPr>
                <a:solidFill>
                  <a:schemeClr val="tx1"/>
                </a:solidFill>
                <a:latin typeface="Arial" panose="020B0604020202020204" pitchFamily="34" charset="0"/>
              </a:defRPr>
            </a:lvl4pPr>
            <a:lvl5pPr marL="2286000" indent="-457200" algn="l">
              <a:defRPr>
                <a:solidFill>
                  <a:schemeClr val="tx1"/>
                </a:solidFill>
                <a:latin typeface="Arial" panose="020B0604020202020204" pitchFamily="34" charset="0"/>
              </a:defRPr>
            </a:lvl5pPr>
            <a:lvl6pPr marL="2743200" indent="-457200" fontAlgn="base">
              <a:spcBef>
                <a:spcPct val="0"/>
              </a:spcBef>
              <a:spcAft>
                <a:spcPct val="0"/>
              </a:spcAft>
              <a:defRPr>
                <a:solidFill>
                  <a:schemeClr val="tx1"/>
                </a:solidFill>
                <a:latin typeface="Arial" panose="020B0604020202020204" pitchFamily="34" charset="0"/>
              </a:defRPr>
            </a:lvl6pPr>
            <a:lvl7pPr marL="3200400" indent="-457200" fontAlgn="base">
              <a:spcBef>
                <a:spcPct val="0"/>
              </a:spcBef>
              <a:spcAft>
                <a:spcPct val="0"/>
              </a:spcAft>
              <a:defRPr>
                <a:solidFill>
                  <a:schemeClr val="tx1"/>
                </a:solidFill>
                <a:latin typeface="Arial" panose="020B0604020202020204" pitchFamily="34" charset="0"/>
              </a:defRPr>
            </a:lvl7pPr>
            <a:lvl8pPr marL="3657600" indent="-457200" fontAlgn="base">
              <a:spcBef>
                <a:spcPct val="0"/>
              </a:spcBef>
              <a:spcAft>
                <a:spcPct val="0"/>
              </a:spcAft>
              <a:defRPr>
                <a:solidFill>
                  <a:schemeClr val="tx1"/>
                </a:solidFill>
                <a:latin typeface="Arial" panose="020B0604020202020204" pitchFamily="34" charset="0"/>
              </a:defRPr>
            </a:lvl8pPr>
            <a:lvl9pPr marL="4114800" indent="-457200" fontAlgn="base">
              <a:spcBef>
                <a:spcPct val="0"/>
              </a:spcBef>
              <a:spcAft>
                <a:spcPct val="0"/>
              </a:spcAft>
              <a:defRPr>
                <a:solidFill>
                  <a:schemeClr val="tx1"/>
                </a:solidFill>
                <a:latin typeface="Arial" panose="020B0604020202020204" pitchFamily="34" charset="0"/>
              </a:defRPr>
            </a:lvl9pPr>
          </a:lstStyle>
          <a:p>
            <a:pPr algn="ctr">
              <a:spcBef>
                <a:spcPct val="50000"/>
              </a:spcBef>
              <a:buClr>
                <a:schemeClr val="tx1"/>
              </a:buClr>
            </a:pPr>
            <a:r>
              <a:rPr lang="zh-CN" altLang="en-US" sz="3200" b="1">
                <a:solidFill>
                  <a:srgbClr val="FFFFFF"/>
                </a:solidFill>
                <a:ea typeface="宋体" panose="02010600030101010101" pitchFamily="2" charset="-122"/>
                <a:cs typeface="Arial" panose="020B0604020202020204" pitchFamily="34" charset="0"/>
              </a:rPr>
              <a:t>势垒电容    </a:t>
            </a:r>
            <a:endParaRPr lang="zh-CN" altLang="en-US" sz="3200" b="1">
              <a:solidFill>
                <a:srgbClr val="FFFFFF"/>
              </a:solidFill>
              <a:ea typeface="宋体" panose="02010600030101010101" pitchFamily="2" charset="-122"/>
              <a:cs typeface="Arial" panose="020B0604020202020204" pitchFamily="34" charset="0"/>
            </a:endParaRPr>
          </a:p>
        </p:txBody>
      </p:sp>
      <p:sp>
        <p:nvSpPr>
          <p:cNvPr id="59407" name="Text Box 15"/>
          <p:cNvSpPr txBox="1">
            <a:spLocks noChangeArrowheads="1"/>
          </p:cNvSpPr>
          <p:nvPr/>
        </p:nvSpPr>
        <p:spPr bwMode="white">
          <a:xfrm>
            <a:off x="3929063" y="5275263"/>
            <a:ext cx="449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292929">
                      <a:alpha val="50000"/>
                    </a:srgbClr>
                  </a:outerShdw>
                </a:effectLst>
              </a14:hiddenEffects>
            </a:ext>
          </a:extLst>
        </p:spPr>
        <p:txBody>
          <a:bodyPr>
            <a:spAutoFit/>
          </a:bodyPr>
          <a:lstStyle>
            <a:lvl1pPr marL="457200" indent="-457200" algn="l">
              <a:defRPr>
                <a:solidFill>
                  <a:schemeClr val="tx1"/>
                </a:solidFill>
                <a:latin typeface="Arial" panose="020B0604020202020204" pitchFamily="34" charset="0"/>
              </a:defRPr>
            </a:lvl1pPr>
            <a:lvl2pPr marL="914400" indent="-457200" algn="l">
              <a:defRPr>
                <a:solidFill>
                  <a:schemeClr val="tx1"/>
                </a:solidFill>
                <a:latin typeface="Arial" panose="020B0604020202020204" pitchFamily="34" charset="0"/>
              </a:defRPr>
            </a:lvl2pPr>
            <a:lvl3pPr marL="1371600" indent="-457200" algn="l">
              <a:defRPr>
                <a:solidFill>
                  <a:schemeClr val="tx1"/>
                </a:solidFill>
                <a:latin typeface="Arial" panose="020B0604020202020204" pitchFamily="34" charset="0"/>
              </a:defRPr>
            </a:lvl3pPr>
            <a:lvl4pPr marL="1828800" indent="-457200" algn="l">
              <a:defRPr>
                <a:solidFill>
                  <a:schemeClr val="tx1"/>
                </a:solidFill>
                <a:latin typeface="Arial" panose="020B0604020202020204" pitchFamily="34" charset="0"/>
              </a:defRPr>
            </a:lvl4pPr>
            <a:lvl5pPr marL="2286000" indent="-457200" algn="l">
              <a:defRPr>
                <a:solidFill>
                  <a:schemeClr val="tx1"/>
                </a:solidFill>
                <a:latin typeface="Arial" panose="020B0604020202020204" pitchFamily="34" charset="0"/>
              </a:defRPr>
            </a:lvl5pPr>
            <a:lvl6pPr marL="2743200" indent="-457200" fontAlgn="base">
              <a:spcBef>
                <a:spcPct val="0"/>
              </a:spcBef>
              <a:spcAft>
                <a:spcPct val="0"/>
              </a:spcAft>
              <a:defRPr>
                <a:solidFill>
                  <a:schemeClr val="tx1"/>
                </a:solidFill>
                <a:latin typeface="Arial" panose="020B0604020202020204" pitchFamily="34" charset="0"/>
              </a:defRPr>
            </a:lvl6pPr>
            <a:lvl7pPr marL="3200400" indent="-457200" fontAlgn="base">
              <a:spcBef>
                <a:spcPct val="0"/>
              </a:spcBef>
              <a:spcAft>
                <a:spcPct val="0"/>
              </a:spcAft>
              <a:defRPr>
                <a:solidFill>
                  <a:schemeClr val="tx1"/>
                </a:solidFill>
                <a:latin typeface="Arial" panose="020B0604020202020204" pitchFamily="34" charset="0"/>
              </a:defRPr>
            </a:lvl7pPr>
            <a:lvl8pPr marL="3657600" indent="-457200" fontAlgn="base">
              <a:spcBef>
                <a:spcPct val="0"/>
              </a:spcBef>
              <a:spcAft>
                <a:spcPct val="0"/>
              </a:spcAft>
              <a:defRPr>
                <a:solidFill>
                  <a:schemeClr val="tx1"/>
                </a:solidFill>
                <a:latin typeface="Arial" panose="020B0604020202020204" pitchFamily="34" charset="0"/>
              </a:defRPr>
            </a:lvl8pPr>
            <a:lvl9pPr marL="4114800" indent="-457200" fontAlgn="base">
              <a:spcBef>
                <a:spcPct val="0"/>
              </a:spcBef>
              <a:spcAft>
                <a:spcPct val="0"/>
              </a:spcAft>
              <a:defRPr>
                <a:solidFill>
                  <a:schemeClr val="tx1"/>
                </a:solidFill>
                <a:latin typeface="Arial" panose="020B0604020202020204" pitchFamily="34" charset="0"/>
              </a:defRPr>
            </a:lvl9pPr>
          </a:lstStyle>
          <a:p>
            <a:pPr algn="ctr">
              <a:spcBef>
                <a:spcPct val="50000"/>
              </a:spcBef>
              <a:buClr>
                <a:schemeClr val="tx1"/>
              </a:buClr>
            </a:pPr>
            <a:r>
              <a:rPr lang="en-US" altLang="zh-CN" sz="2400" b="1">
                <a:solidFill>
                  <a:srgbClr val="FFFFFF"/>
                </a:solidFill>
                <a:ea typeface="宋体" panose="02010600030101010101" pitchFamily="2" charset="-122"/>
                <a:cs typeface="Arial" panose="020B0604020202020204" pitchFamily="34" charset="0"/>
              </a:rPr>
              <a:t>Click to add title in here    </a:t>
            </a:r>
            <a:endParaRPr lang="en-US" altLang="zh-CN" sz="2400" b="1">
              <a:solidFill>
                <a:srgbClr val="FFFFFF"/>
              </a:solidFill>
              <a:ea typeface="宋体" panose="02010600030101010101" pitchFamily="2" charset="-122"/>
              <a:cs typeface="Arial" panose="020B0604020202020204" pitchFamily="34" charset="0"/>
            </a:endParaRPr>
          </a:p>
        </p:txBody>
      </p:sp>
      <p:sp>
        <p:nvSpPr>
          <p:cNvPr id="59412" name="Text Box 20"/>
          <p:cNvSpPr txBox="1">
            <a:spLocks noChangeArrowheads="1"/>
          </p:cNvSpPr>
          <p:nvPr/>
        </p:nvSpPr>
        <p:spPr bwMode="white">
          <a:xfrm>
            <a:off x="3589338" y="4435475"/>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1">
                <a:solidFill>
                  <a:srgbClr val="FFFFFF"/>
                </a:solidFill>
                <a:ea typeface="宋体" panose="02010600030101010101" pitchFamily="2" charset="-122"/>
                <a:cs typeface="Arial" panose="020B0604020202020204" pitchFamily="34" charset="0"/>
              </a:rPr>
              <a:t>3</a:t>
            </a:r>
            <a:endParaRPr lang="en-US" altLang="zh-CN" sz="2400" b="1">
              <a:solidFill>
                <a:srgbClr val="FFFFFF"/>
              </a:solidFill>
              <a:ea typeface="宋体" panose="02010600030101010101" pitchFamily="2" charset="-122"/>
              <a:cs typeface="Arial" panose="020B0604020202020204" pitchFamily="34" charset="0"/>
            </a:endParaRPr>
          </a:p>
        </p:txBody>
      </p:sp>
      <p:pic>
        <p:nvPicPr>
          <p:cNvPr id="59414" name="Picture 22" descr="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gray">
          <a:xfrm>
            <a:off x="1992313" y="1817688"/>
            <a:ext cx="5111750" cy="1611312"/>
          </a:xfrm>
          <a:prstGeom prst="rect">
            <a:avLst/>
          </a:prstGeom>
          <a:noFill/>
          <a:ln>
            <a:noFill/>
          </a:ln>
          <a:effectLst/>
          <a:extLst>
            <a:ext uri="{909E8E84-426E-40DD-AFC4-6F175D3DCCD1}">
              <a14:hiddenFill xmlns:a14="http://schemas.microsoft.com/office/drawing/2010/main">
                <a:blipFill dpi="0" rotWithShape="1">
                  <a:blip/>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9415" name="Picture 23" descr="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1992313" y="4797426"/>
            <a:ext cx="5218112" cy="1317625"/>
          </a:xfrm>
          <a:prstGeom prst="rect">
            <a:avLst/>
          </a:prstGeom>
          <a:noFill/>
          <a:ln>
            <a:noFill/>
          </a:ln>
          <a:effectLst/>
          <a:extLst>
            <a:ext uri="{909E8E84-426E-40DD-AFC4-6F175D3DCCD1}">
              <a14:hiddenFill xmlns:a14="http://schemas.microsoft.com/office/drawing/2010/main">
                <a:blipFill dpi="0" rotWithShape="1">
                  <a:blip/>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9416" name="Text Box 24" descr="2"/>
          <p:cNvSpPr txBox="1">
            <a:spLocks noChangeArrowheads="1"/>
          </p:cNvSpPr>
          <p:nvPr/>
        </p:nvSpPr>
        <p:spPr bwMode="gray">
          <a:xfrm>
            <a:off x="1416050" y="1196975"/>
            <a:ext cx="5329238" cy="457200"/>
          </a:xfrm>
          <a:prstGeom prst="rect">
            <a:avLst/>
          </a:prstGeom>
          <a:noFill/>
          <a:ln>
            <a:noFill/>
          </a:ln>
          <a:effectLst/>
          <a:extLst>
            <a:ext uri="{909E8E84-426E-40DD-AFC4-6F175D3DCCD1}">
              <a14:hiddenFill xmlns:a14="http://schemas.microsoft.com/office/drawing/2010/main">
                <a:blipFill dpi="0" rotWithShape="1">
                  <a:blip r:embed="rId3"/>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b="1">
                <a:solidFill>
                  <a:schemeClr val="tx2"/>
                </a:solidFill>
                <a:ea typeface="宋体" panose="02010600030101010101" pitchFamily="2" charset="-122"/>
              </a:rPr>
              <a:t>突变结势垒区内的泊松方程为：</a:t>
            </a:r>
            <a:endParaRPr lang="zh-CN" altLang="en-US" sz="2400" b="1">
              <a:solidFill>
                <a:schemeClr val="tx2"/>
              </a:solidFill>
              <a:ea typeface="宋体" panose="02010600030101010101" pitchFamily="2" charset="-122"/>
            </a:endParaRPr>
          </a:p>
        </p:txBody>
      </p:sp>
      <p:sp>
        <p:nvSpPr>
          <p:cNvPr id="59417" name="Text Box 25" descr="2"/>
          <p:cNvSpPr txBox="1">
            <a:spLocks noChangeArrowheads="1"/>
          </p:cNvSpPr>
          <p:nvPr/>
        </p:nvSpPr>
        <p:spPr bwMode="gray">
          <a:xfrm>
            <a:off x="6959601" y="2133601"/>
            <a:ext cx="3529013" cy="701675"/>
          </a:xfrm>
          <a:prstGeom prst="rect">
            <a:avLst/>
          </a:prstGeom>
          <a:noFill/>
          <a:ln>
            <a:noFill/>
          </a:ln>
          <a:effectLst/>
          <a:extLst>
            <a:ext uri="{909E8E84-426E-40DD-AFC4-6F175D3DCCD1}">
              <a14:hiddenFill xmlns:a14="http://schemas.microsoft.com/office/drawing/2010/main">
                <a:blipFill dpi="0" rotWithShape="1">
                  <a:blip r:embed="rId3"/>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a:solidFill>
                  <a:schemeClr val="tx2"/>
                </a:solidFill>
                <a:ea typeface="宋体" panose="02010600030101010101" pitchFamily="2" charset="-122"/>
              </a:rPr>
              <a:t>  </a:t>
            </a:r>
            <a:r>
              <a:rPr lang="zh-CN" altLang="en-US" sz="2000">
                <a:solidFill>
                  <a:schemeClr val="tx2"/>
                </a:solidFill>
                <a:ea typeface="宋体" panose="02010600030101010101" pitchFamily="2" charset="-122"/>
              </a:rPr>
              <a:t>式中</a:t>
            </a:r>
            <a:r>
              <a:rPr lang="en-US" altLang="zh-CN" sz="2000">
                <a:solidFill>
                  <a:schemeClr val="tx2"/>
                </a:solidFill>
                <a:ea typeface="宋体" panose="02010600030101010101" pitchFamily="2" charset="-122"/>
              </a:rPr>
              <a:t>V</a:t>
            </a:r>
            <a:r>
              <a:rPr lang="en-US" altLang="zh-CN" sz="2000" baseline="-25000">
                <a:solidFill>
                  <a:schemeClr val="tx2"/>
                </a:solidFill>
                <a:ea typeface="宋体" panose="02010600030101010101" pitchFamily="2" charset="-122"/>
              </a:rPr>
              <a:t>1</a:t>
            </a:r>
            <a:r>
              <a:rPr lang="en-US" altLang="zh-CN" sz="2000">
                <a:solidFill>
                  <a:schemeClr val="tx2"/>
                </a:solidFill>
                <a:ea typeface="宋体" panose="02010600030101010101" pitchFamily="2" charset="-122"/>
              </a:rPr>
              <a:t>(x)</a:t>
            </a:r>
            <a:r>
              <a:rPr lang="zh-CN" altLang="en-US" sz="2000">
                <a:solidFill>
                  <a:schemeClr val="tx2"/>
                </a:solidFill>
                <a:ea typeface="宋体" panose="02010600030101010101" pitchFamily="2" charset="-122"/>
              </a:rPr>
              <a:t>和</a:t>
            </a:r>
            <a:r>
              <a:rPr lang="en-US" altLang="zh-CN" sz="2000">
                <a:solidFill>
                  <a:schemeClr val="tx2"/>
                </a:solidFill>
                <a:ea typeface="宋体" panose="02010600030101010101" pitchFamily="2" charset="-122"/>
              </a:rPr>
              <a:t>V</a:t>
            </a:r>
            <a:r>
              <a:rPr lang="en-US" altLang="zh-CN" sz="2000" baseline="-25000">
                <a:solidFill>
                  <a:schemeClr val="tx2"/>
                </a:solidFill>
                <a:ea typeface="宋体" panose="02010600030101010101" pitchFamily="2" charset="-122"/>
              </a:rPr>
              <a:t>2</a:t>
            </a:r>
            <a:r>
              <a:rPr lang="en-US" altLang="zh-CN" sz="2000">
                <a:solidFill>
                  <a:schemeClr val="tx2"/>
                </a:solidFill>
                <a:ea typeface="宋体" panose="02010600030101010101" pitchFamily="2" charset="-122"/>
              </a:rPr>
              <a:t>(x)</a:t>
            </a:r>
            <a:r>
              <a:rPr lang="zh-CN" altLang="en-US" sz="2000">
                <a:solidFill>
                  <a:schemeClr val="tx2"/>
                </a:solidFill>
                <a:ea typeface="宋体" panose="02010600030101010101" pitchFamily="2" charset="-122"/>
              </a:rPr>
              <a:t>分别是负、正空间电荷区的各点电势</a:t>
            </a:r>
            <a:endParaRPr lang="zh-CN" altLang="en-US" sz="2000">
              <a:solidFill>
                <a:schemeClr val="tx2"/>
              </a:solidFill>
              <a:ea typeface="宋体" panose="02010600030101010101" pitchFamily="2" charset="-122"/>
            </a:endParaRPr>
          </a:p>
        </p:txBody>
      </p:sp>
      <p:sp>
        <p:nvSpPr>
          <p:cNvPr id="59418" name="AutoShape 26"/>
          <p:cNvSpPr>
            <a:spLocks noChangeArrowheads="1"/>
          </p:cNvSpPr>
          <p:nvPr/>
        </p:nvSpPr>
        <p:spPr bwMode="blackGray">
          <a:xfrm rot="16200000" flipH="1" flipV="1">
            <a:off x="3663157" y="3702844"/>
            <a:ext cx="1446212" cy="755650"/>
          </a:xfrm>
          <a:prstGeom prst="rightArrow">
            <a:avLst>
              <a:gd name="adj1" fmla="val 46509"/>
              <a:gd name="adj2" fmla="val 42052"/>
            </a:avLst>
          </a:prstGeom>
          <a:gradFill rotWithShape="1">
            <a:gsLst>
              <a:gs pos="0">
                <a:schemeClr val="accent2">
                  <a:gamma/>
                  <a:tint val="0"/>
                  <a:invGamma/>
                  <a:alpha val="0"/>
                </a:schemeClr>
              </a:gs>
              <a:gs pos="100000">
                <a:schemeClr val="accent2"/>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419" name="Text Box 27" descr="2"/>
          <p:cNvSpPr txBox="1">
            <a:spLocks noChangeArrowheads="1"/>
          </p:cNvSpPr>
          <p:nvPr/>
        </p:nvSpPr>
        <p:spPr bwMode="gray">
          <a:xfrm>
            <a:off x="4583113" y="3860801"/>
            <a:ext cx="1439862" cy="396875"/>
          </a:xfrm>
          <a:prstGeom prst="rect">
            <a:avLst/>
          </a:prstGeom>
          <a:noFill/>
          <a:ln>
            <a:noFill/>
          </a:ln>
          <a:effectLst/>
          <a:extLst>
            <a:ext uri="{909E8E84-426E-40DD-AFC4-6F175D3DCCD1}">
              <a14:hiddenFill xmlns:a14="http://schemas.microsoft.com/office/drawing/2010/main">
                <a:blipFill dpi="0" rotWithShape="1">
                  <a:blip r:embed="rId3"/>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b="1">
                <a:solidFill>
                  <a:srgbClr val="6600CC"/>
                </a:solidFill>
                <a:ea typeface="宋体" panose="02010600030101010101" pitchFamily="2" charset="-122"/>
              </a:rPr>
              <a:t>积分一次</a:t>
            </a:r>
            <a:endParaRPr lang="zh-CN" altLang="en-US" sz="2000" b="1">
              <a:solidFill>
                <a:srgbClr val="6600CC"/>
              </a:solidFill>
              <a:ea typeface="宋体" panose="02010600030101010101" pitchFamily="2" charset="-122"/>
            </a:endParaRPr>
          </a:p>
        </p:txBody>
      </p:sp>
      <p:sp>
        <p:nvSpPr>
          <p:cNvPr id="59420" name="Text Box 28" descr="2"/>
          <p:cNvSpPr txBox="1">
            <a:spLocks noChangeArrowheads="1"/>
          </p:cNvSpPr>
          <p:nvPr/>
        </p:nvSpPr>
        <p:spPr bwMode="gray">
          <a:xfrm>
            <a:off x="6959600" y="5157788"/>
            <a:ext cx="2520950" cy="457200"/>
          </a:xfrm>
          <a:prstGeom prst="rect">
            <a:avLst/>
          </a:prstGeom>
          <a:noFill/>
          <a:ln>
            <a:noFill/>
          </a:ln>
          <a:effectLst/>
          <a:extLst>
            <a:ext uri="{909E8E84-426E-40DD-AFC4-6F175D3DCCD1}">
              <a14:hiddenFill xmlns:a14="http://schemas.microsoft.com/office/drawing/2010/main">
                <a:blipFill dpi="0" rotWithShape="1">
                  <a:blip r:embed="rId3"/>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a:solidFill>
                  <a:schemeClr val="tx2"/>
                </a:solidFill>
                <a:ea typeface="宋体" panose="02010600030101010101" pitchFamily="2" charset="-122"/>
              </a:rPr>
              <a:t>（</a:t>
            </a:r>
            <a:r>
              <a:rPr lang="en-US" altLang="zh-CN" sz="2400">
                <a:solidFill>
                  <a:schemeClr val="tx2"/>
                </a:solidFill>
                <a:ea typeface="宋体" panose="02010600030101010101" pitchFamily="2" charset="-122"/>
              </a:rPr>
              <a:t>6-74</a:t>
            </a:r>
            <a:r>
              <a:rPr lang="zh-CN" altLang="en-US" sz="2400">
                <a:solidFill>
                  <a:schemeClr val="tx2"/>
                </a:solidFill>
                <a:ea typeface="宋体" panose="02010600030101010101" pitchFamily="2" charset="-122"/>
              </a:rPr>
              <a:t>）</a:t>
            </a:r>
            <a:endParaRPr lang="zh-CN" altLang="en-US" sz="2400">
              <a:solidFill>
                <a:schemeClr val="tx2"/>
              </a:solidFill>
              <a:ea typeface="宋体" panose="02010600030101010101" pitchFamily="2" charset="-122"/>
            </a:endParaRPr>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ext Box 2"/>
          <p:cNvSpPr txBox="1">
            <a:spLocks noChangeArrowheads="1"/>
          </p:cNvSpPr>
          <p:nvPr/>
        </p:nvSpPr>
        <p:spPr bwMode="white">
          <a:xfrm>
            <a:off x="3917950" y="2636839"/>
            <a:ext cx="44958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292929">
                      <a:alpha val="50000"/>
                    </a:srgbClr>
                  </a:outerShdw>
                </a:effectLst>
              </a14:hiddenEffects>
            </a:ext>
          </a:extLst>
        </p:spPr>
        <p:txBody>
          <a:bodyPr>
            <a:spAutoFit/>
          </a:bodyPr>
          <a:lstStyle>
            <a:lvl1pPr marL="457200" indent="-457200" algn="l">
              <a:defRPr>
                <a:solidFill>
                  <a:schemeClr val="tx1"/>
                </a:solidFill>
                <a:latin typeface="Arial" panose="020B0604020202020204" pitchFamily="34" charset="0"/>
              </a:defRPr>
            </a:lvl1pPr>
            <a:lvl2pPr marL="914400" indent="-457200" algn="l">
              <a:defRPr>
                <a:solidFill>
                  <a:schemeClr val="tx1"/>
                </a:solidFill>
                <a:latin typeface="Arial" panose="020B0604020202020204" pitchFamily="34" charset="0"/>
              </a:defRPr>
            </a:lvl2pPr>
            <a:lvl3pPr marL="1371600" indent="-457200" algn="l">
              <a:defRPr>
                <a:solidFill>
                  <a:schemeClr val="tx1"/>
                </a:solidFill>
                <a:latin typeface="Arial" panose="020B0604020202020204" pitchFamily="34" charset="0"/>
              </a:defRPr>
            </a:lvl3pPr>
            <a:lvl4pPr marL="1828800" indent="-457200" algn="l">
              <a:defRPr>
                <a:solidFill>
                  <a:schemeClr val="tx1"/>
                </a:solidFill>
                <a:latin typeface="Arial" panose="020B0604020202020204" pitchFamily="34" charset="0"/>
              </a:defRPr>
            </a:lvl4pPr>
            <a:lvl5pPr marL="2286000" indent="-457200" algn="l">
              <a:defRPr>
                <a:solidFill>
                  <a:schemeClr val="tx1"/>
                </a:solidFill>
                <a:latin typeface="Arial" panose="020B0604020202020204" pitchFamily="34" charset="0"/>
              </a:defRPr>
            </a:lvl5pPr>
            <a:lvl6pPr marL="2743200" indent="-457200" fontAlgn="base">
              <a:spcBef>
                <a:spcPct val="0"/>
              </a:spcBef>
              <a:spcAft>
                <a:spcPct val="0"/>
              </a:spcAft>
              <a:defRPr>
                <a:solidFill>
                  <a:schemeClr val="tx1"/>
                </a:solidFill>
                <a:latin typeface="Arial" panose="020B0604020202020204" pitchFamily="34" charset="0"/>
              </a:defRPr>
            </a:lvl6pPr>
            <a:lvl7pPr marL="3200400" indent="-457200" fontAlgn="base">
              <a:spcBef>
                <a:spcPct val="0"/>
              </a:spcBef>
              <a:spcAft>
                <a:spcPct val="0"/>
              </a:spcAft>
              <a:defRPr>
                <a:solidFill>
                  <a:schemeClr val="tx1"/>
                </a:solidFill>
                <a:latin typeface="Arial" panose="020B0604020202020204" pitchFamily="34" charset="0"/>
              </a:defRPr>
            </a:lvl7pPr>
            <a:lvl8pPr marL="3657600" indent="-457200" fontAlgn="base">
              <a:spcBef>
                <a:spcPct val="0"/>
              </a:spcBef>
              <a:spcAft>
                <a:spcPct val="0"/>
              </a:spcAft>
              <a:defRPr>
                <a:solidFill>
                  <a:schemeClr val="tx1"/>
                </a:solidFill>
                <a:latin typeface="Arial" panose="020B0604020202020204" pitchFamily="34" charset="0"/>
              </a:defRPr>
            </a:lvl8pPr>
            <a:lvl9pPr marL="4114800" indent="-457200" fontAlgn="base">
              <a:spcBef>
                <a:spcPct val="0"/>
              </a:spcBef>
              <a:spcAft>
                <a:spcPct val="0"/>
              </a:spcAft>
              <a:defRPr>
                <a:solidFill>
                  <a:schemeClr val="tx1"/>
                </a:solidFill>
                <a:latin typeface="Arial" panose="020B0604020202020204" pitchFamily="34" charset="0"/>
              </a:defRPr>
            </a:lvl9pPr>
          </a:lstStyle>
          <a:p>
            <a:pPr algn="ctr">
              <a:spcBef>
                <a:spcPct val="50000"/>
              </a:spcBef>
              <a:buClr>
                <a:schemeClr val="tx1"/>
              </a:buClr>
            </a:pPr>
            <a:r>
              <a:rPr lang="zh-CN" altLang="en-US" sz="3200" b="1">
                <a:solidFill>
                  <a:srgbClr val="FFFFFF"/>
                </a:solidFill>
                <a:ea typeface="宋体" panose="02010600030101010101" pitchFamily="2" charset="-122"/>
                <a:cs typeface="Arial" panose="020B0604020202020204" pitchFamily="34" charset="0"/>
              </a:rPr>
              <a:t>势垒电容    </a:t>
            </a:r>
            <a:endParaRPr lang="zh-CN" altLang="en-US" sz="3200" b="1">
              <a:solidFill>
                <a:srgbClr val="FFFFFF"/>
              </a:solidFill>
              <a:ea typeface="宋体" panose="02010600030101010101" pitchFamily="2" charset="-122"/>
              <a:cs typeface="Arial" panose="020B0604020202020204" pitchFamily="34" charset="0"/>
            </a:endParaRPr>
          </a:p>
        </p:txBody>
      </p:sp>
      <p:sp>
        <p:nvSpPr>
          <p:cNvPr id="65540" name="Text Box 4"/>
          <p:cNvSpPr txBox="1">
            <a:spLocks noChangeArrowheads="1"/>
          </p:cNvSpPr>
          <p:nvPr/>
        </p:nvSpPr>
        <p:spPr bwMode="white">
          <a:xfrm>
            <a:off x="3589338" y="4435475"/>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1">
                <a:solidFill>
                  <a:srgbClr val="FFFFFF"/>
                </a:solidFill>
                <a:ea typeface="宋体" panose="02010600030101010101" pitchFamily="2" charset="-122"/>
                <a:cs typeface="Arial" panose="020B0604020202020204" pitchFamily="34" charset="0"/>
              </a:rPr>
              <a:t>3</a:t>
            </a:r>
            <a:endParaRPr lang="en-US" altLang="zh-CN" sz="2400" b="1">
              <a:solidFill>
                <a:srgbClr val="FFFFFF"/>
              </a:solidFill>
              <a:ea typeface="宋体" panose="02010600030101010101" pitchFamily="2" charset="-122"/>
              <a:cs typeface="Arial" panose="020B0604020202020204" pitchFamily="34" charset="0"/>
            </a:endParaRPr>
          </a:p>
        </p:txBody>
      </p:sp>
      <p:sp>
        <p:nvSpPr>
          <p:cNvPr id="65547" name="Text Box 11" descr="2"/>
          <p:cNvSpPr txBox="1">
            <a:spLocks noChangeArrowheads="1"/>
          </p:cNvSpPr>
          <p:nvPr/>
        </p:nvSpPr>
        <p:spPr bwMode="gray">
          <a:xfrm>
            <a:off x="2028826" y="1341438"/>
            <a:ext cx="6804025" cy="946150"/>
          </a:xfrm>
          <a:prstGeom prst="rect">
            <a:avLst/>
          </a:prstGeom>
          <a:noFill/>
          <a:ln>
            <a:noFill/>
          </a:ln>
          <a:effectLst/>
          <a:extLst>
            <a:ext uri="{909E8E84-426E-40DD-AFC4-6F175D3DCCD1}">
              <a14:hiddenFill xmlns:a14="http://schemas.microsoft.com/office/drawing/2010/main">
                <a:blipFill dpi="0" rotWithShape="1">
                  <a:blip r:embed="rId1"/>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b="1">
                <a:solidFill>
                  <a:schemeClr val="tx2"/>
                </a:solidFill>
                <a:latin typeface="宋体" panose="02010600030101010101" pitchFamily="2" charset="-122"/>
                <a:ea typeface="宋体" panose="02010600030101010101" pitchFamily="2" charset="-122"/>
              </a:rPr>
              <a:t>因为势垒区以外是电中性的，电场集中在势垒区内，故边界条件为：</a:t>
            </a:r>
            <a:endParaRPr lang="zh-CN" altLang="en-US" sz="2800" b="1">
              <a:solidFill>
                <a:schemeClr val="tx2"/>
              </a:solidFill>
              <a:latin typeface="宋体" panose="02010600030101010101" pitchFamily="2" charset="-122"/>
              <a:ea typeface="宋体" panose="02010600030101010101" pitchFamily="2" charset="-122"/>
            </a:endParaRPr>
          </a:p>
        </p:txBody>
      </p:sp>
      <p:pic>
        <p:nvPicPr>
          <p:cNvPr id="65548" name="Picture 12" descr="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3384551" y="2420939"/>
            <a:ext cx="4943475" cy="1703387"/>
          </a:xfrm>
          <a:prstGeom prst="rect">
            <a:avLst/>
          </a:prstGeom>
          <a:noFill/>
          <a:ln>
            <a:noFill/>
          </a:ln>
          <a:effectLst/>
          <a:extLst>
            <a:ext uri="{909E8E84-426E-40DD-AFC4-6F175D3DCCD1}">
              <a14:hiddenFill xmlns:a14="http://schemas.microsoft.com/office/drawing/2010/main">
                <a:blipFill dpi="0" rotWithShape="1">
                  <a:blip/>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5549" name="Text Box 13" descr="2"/>
          <p:cNvSpPr txBox="1">
            <a:spLocks noChangeArrowheads="1"/>
          </p:cNvSpPr>
          <p:nvPr/>
        </p:nvSpPr>
        <p:spPr bwMode="gray">
          <a:xfrm>
            <a:off x="1847851" y="4508501"/>
            <a:ext cx="3095625" cy="830997"/>
          </a:xfrm>
          <a:prstGeom prst="rect">
            <a:avLst/>
          </a:prstGeom>
          <a:noFill/>
          <a:ln>
            <a:noFill/>
          </a:ln>
          <a:effectLst/>
          <a:extLst>
            <a:ext uri="{909E8E84-426E-40DD-AFC4-6F175D3DCCD1}">
              <a14:hiddenFill xmlns:a14="http://schemas.microsoft.com/office/drawing/2010/main">
                <a:blipFill dpi="0" rotWithShape="1">
                  <a:blip r:embed="rId1"/>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b="1">
                <a:solidFill>
                  <a:schemeClr val="tx2"/>
                </a:solidFill>
                <a:latin typeface="宋体" panose="02010600030101010101" pitchFamily="2" charset="-122"/>
                <a:ea typeface="宋体" panose="02010600030101010101" pitchFamily="2" charset="-122"/>
              </a:rPr>
              <a:t>将上式代入（</a:t>
            </a:r>
            <a:r>
              <a:rPr lang="en-US" altLang="zh-CN" sz="2400" b="1">
                <a:solidFill>
                  <a:schemeClr val="tx2"/>
                </a:solidFill>
                <a:latin typeface="宋体" panose="02010600030101010101" pitchFamily="2" charset="-122"/>
                <a:ea typeface="宋体" panose="02010600030101010101" pitchFamily="2" charset="-122"/>
              </a:rPr>
              <a:t>6-74</a:t>
            </a:r>
            <a:r>
              <a:rPr lang="zh-CN" altLang="en-US" sz="2400" b="1">
                <a:solidFill>
                  <a:schemeClr val="tx2"/>
                </a:solidFill>
                <a:latin typeface="宋体" panose="02010600030101010101" pitchFamily="2" charset="-122"/>
                <a:ea typeface="宋体" panose="02010600030101010101" pitchFamily="2" charset="-122"/>
              </a:rPr>
              <a:t>）可以得出：</a:t>
            </a:r>
            <a:endParaRPr lang="zh-CN" altLang="en-US" sz="2400" b="1">
              <a:solidFill>
                <a:schemeClr val="tx2"/>
              </a:solidFill>
              <a:latin typeface="宋体" panose="02010600030101010101" pitchFamily="2" charset="-122"/>
              <a:ea typeface="宋体" panose="02010600030101010101" pitchFamily="2" charset="-122"/>
            </a:endParaRPr>
          </a:p>
        </p:txBody>
      </p:sp>
      <p:pic>
        <p:nvPicPr>
          <p:cNvPr id="65550" name="Picture 14" descr="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gray">
          <a:xfrm>
            <a:off x="4872038" y="4365625"/>
            <a:ext cx="4895850" cy="947738"/>
          </a:xfrm>
          <a:prstGeom prst="rect">
            <a:avLst/>
          </a:prstGeom>
          <a:noFill/>
          <a:ln>
            <a:noFill/>
          </a:ln>
          <a:effectLst/>
          <a:extLst>
            <a:ext uri="{909E8E84-426E-40DD-AFC4-6F175D3DCCD1}">
              <a14:hiddenFill xmlns:a14="http://schemas.microsoft.com/office/drawing/2010/main">
                <a:blipFill dpi="0" rotWithShape="1">
                  <a:blip/>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5551" name="Text Box 15" descr="2"/>
          <p:cNvSpPr txBox="1">
            <a:spLocks noChangeArrowheads="1"/>
          </p:cNvSpPr>
          <p:nvPr/>
        </p:nvSpPr>
        <p:spPr bwMode="gray">
          <a:xfrm>
            <a:off x="1847851" y="5513389"/>
            <a:ext cx="3743325" cy="579437"/>
          </a:xfrm>
          <a:prstGeom prst="rect">
            <a:avLst/>
          </a:prstGeom>
          <a:noFill/>
          <a:ln>
            <a:noFill/>
          </a:ln>
          <a:effectLst/>
          <a:extLst>
            <a:ext uri="{909E8E84-426E-40DD-AFC4-6F175D3DCCD1}">
              <a14:hiddenFill xmlns:a14="http://schemas.microsoft.com/office/drawing/2010/main">
                <a:blipFill dpi="0" rotWithShape="1">
                  <a:blip r:embed="rId1"/>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3200" b="1">
                <a:solidFill>
                  <a:schemeClr val="tx2"/>
                </a:solidFill>
                <a:latin typeface="宋体" panose="02010600030101010101" pitchFamily="2" charset="-122"/>
                <a:ea typeface="宋体" panose="02010600030101010101" pitchFamily="2" charset="-122"/>
              </a:rPr>
              <a:t>   因 </a:t>
            </a:r>
            <a:r>
              <a:rPr lang="en-US" altLang="zh-CN" sz="3200" b="1">
                <a:solidFill>
                  <a:schemeClr val="tx2"/>
                </a:solidFill>
                <a:latin typeface="宋体" panose="02010600030101010101" pitchFamily="2" charset="-122"/>
                <a:ea typeface="宋体" panose="02010600030101010101" pitchFamily="2" charset="-122"/>
              </a:rPr>
              <a:t>N</a:t>
            </a:r>
            <a:r>
              <a:rPr lang="en-US" altLang="zh-CN" sz="3200" b="1" baseline="-25000">
                <a:solidFill>
                  <a:schemeClr val="tx2"/>
                </a:solidFill>
                <a:latin typeface="宋体" panose="02010600030101010101" pitchFamily="2" charset="-122"/>
                <a:ea typeface="宋体" panose="02010600030101010101" pitchFamily="2" charset="-122"/>
              </a:rPr>
              <a:t>A</a:t>
            </a:r>
            <a:r>
              <a:rPr lang="en-US" altLang="zh-CN" sz="3200" b="1">
                <a:solidFill>
                  <a:schemeClr val="tx2"/>
                </a:solidFill>
                <a:latin typeface="宋体" panose="02010600030101010101" pitchFamily="2" charset="-122"/>
                <a:ea typeface="宋体" panose="02010600030101010101" pitchFamily="2" charset="-122"/>
              </a:rPr>
              <a:t>x</a:t>
            </a:r>
            <a:r>
              <a:rPr lang="en-US" altLang="zh-CN" sz="3200" b="1" baseline="-25000">
                <a:solidFill>
                  <a:schemeClr val="tx2"/>
                </a:solidFill>
                <a:latin typeface="宋体" panose="02010600030101010101" pitchFamily="2" charset="-122"/>
                <a:ea typeface="宋体" panose="02010600030101010101" pitchFamily="2" charset="-122"/>
              </a:rPr>
              <a:t>p</a:t>
            </a:r>
            <a:r>
              <a:rPr lang="en-US" altLang="zh-CN" sz="3200" b="1">
                <a:solidFill>
                  <a:schemeClr val="tx2"/>
                </a:solidFill>
                <a:latin typeface="宋体" panose="02010600030101010101" pitchFamily="2" charset="-122"/>
                <a:ea typeface="宋体" panose="02010600030101010101" pitchFamily="2" charset="-122"/>
              </a:rPr>
              <a:t>=N</a:t>
            </a:r>
            <a:r>
              <a:rPr lang="en-US" altLang="zh-CN" sz="3200" b="1" baseline="-25000">
                <a:solidFill>
                  <a:schemeClr val="tx2"/>
                </a:solidFill>
                <a:latin typeface="宋体" panose="02010600030101010101" pitchFamily="2" charset="-122"/>
                <a:ea typeface="宋体" panose="02010600030101010101" pitchFamily="2" charset="-122"/>
              </a:rPr>
              <a:t>D</a:t>
            </a:r>
            <a:r>
              <a:rPr lang="en-US" altLang="zh-CN" sz="3200" b="1">
                <a:solidFill>
                  <a:schemeClr val="tx2"/>
                </a:solidFill>
                <a:latin typeface="宋体" panose="02010600030101010101" pitchFamily="2" charset="-122"/>
                <a:ea typeface="宋体" panose="02010600030101010101" pitchFamily="2" charset="-122"/>
              </a:rPr>
              <a:t>x</a:t>
            </a:r>
            <a:r>
              <a:rPr lang="en-US" altLang="zh-CN" sz="3200" b="1" baseline="-25000">
                <a:solidFill>
                  <a:schemeClr val="tx2"/>
                </a:solidFill>
                <a:latin typeface="宋体" panose="02010600030101010101" pitchFamily="2" charset="-122"/>
                <a:ea typeface="宋体" panose="02010600030101010101" pitchFamily="2" charset="-122"/>
              </a:rPr>
              <a:t>n</a:t>
            </a:r>
            <a:endParaRPr lang="zh-CN" altLang="en-US" sz="3200" b="1" baseline="-25000">
              <a:solidFill>
                <a:schemeClr val="tx2"/>
              </a:solidFill>
              <a:latin typeface="宋体" panose="02010600030101010101" pitchFamily="2" charset="-122"/>
              <a:ea typeface="宋体" panose="02010600030101010101" pitchFamily="2" charset="-122"/>
            </a:endParaRPr>
          </a:p>
        </p:txBody>
      </p:sp>
      <p:sp>
        <p:nvSpPr>
          <p:cNvPr id="65552" name="Text Box 16" descr="2"/>
          <p:cNvSpPr txBox="1">
            <a:spLocks noChangeArrowheads="1"/>
          </p:cNvSpPr>
          <p:nvPr/>
        </p:nvSpPr>
        <p:spPr bwMode="gray">
          <a:xfrm>
            <a:off x="5376864" y="5573713"/>
            <a:ext cx="2663825" cy="519112"/>
          </a:xfrm>
          <a:prstGeom prst="rect">
            <a:avLst/>
          </a:prstGeom>
          <a:noFill/>
          <a:ln>
            <a:noFill/>
          </a:ln>
          <a:effectLst/>
          <a:extLst>
            <a:ext uri="{909E8E84-426E-40DD-AFC4-6F175D3DCCD1}">
              <a14:hiddenFill xmlns:a14="http://schemas.microsoft.com/office/drawing/2010/main">
                <a:blipFill dpi="0" rotWithShape="1">
                  <a:blip r:embed="rId1"/>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b="1">
                <a:solidFill>
                  <a:schemeClr val="tx2"/>
                </a:solidFill>
                <a:latin typeface="宋体" panose="02010600030101010101" pitchFamily="2" charset="-122"/>
                <a:ea typeface="宋体" panose="02010600030101010101" pitchFamily="2" charset="-122"/>
              </a:rPr>
              <a:t>所以  </a:t>
            </a:r>
            <a:r>
              <a:rPr lang="en-US" altLang="zh-CN" sz="2800" b="1">
                <a:solidFill>
                  <a:schemeClr val="tx2"/>
                </a:solidFill>
                <a:latin typeface="宋体" panose="02010600030101010101" pitchFamily="2" charset="-122"/>
                <a:ea typeface="宋体" panose="02010600030101010101" pitchFamily="2" charset="-122"/>
              </a:rPr>
              <a:t>C</a:t>
            </a:r>
            <a:r>
              <a:rPr lang="en-US" altLang="zh-CN" sz="2800" b="1" baseline="-25000">
                <a:solidFill>
                  <a:schemeClr val="tx2"/>
                </a:solidFill>
                <a:latin typeface="宋体" panose="02010600030101010101" pitchFamily="2" charset="-122"/>
                <a:ea typeface="宋体" panose="02010600030101010101" pitchFamily="2" charset="-122"/>
              </a:rPr>
              <a:t>1</a:t>
            </a:r>
            <a:r>
              <a:rPr lang="en-US" altLang="zh-CN" sz="2800" b="1">
                <a:solidFill>
                  <a:schemeClr val="tx2"/>
                </a:solidFill>
                <a:latin typeface="宋体" panose="02010600030101010101" pitchFamily="2" charset="-122"/>
                <a:ea typeface="宋体" panose="02010600030101010101" pitchFamily="2" charset="-122"/>
              </a:rPr>
              <a:t>=C</a:t>
            </a:r>
            <a:r>
              <a:rPr lang="en-US" altLang="zh-CN" sz="2800" b="1" baseline="-25000">
                <a:solidFill>
                  <a:schemeClr val="tx2"/>
                </a:solidFill>
                <a:latin typeface="宋体" panose="02010600030101010101" pitchFamily="2" charset="-122"/>
                <a:ea typeface="宋体" panose="02010600030101010101" pitchFamily="2" charset="-122"/>
              </a:rPr>
              <a:t>2</a:t>
            </a:r>
            <a:endParaRPr lang="en-US" altLang="zh-CN" sz="2800" b="1" baseline="-25000">
              <a:solidFill>
                <a:schemeClr val="tx2"/>
              </a:solidFill>
              <a:latin typeface="宋体" panose="02010600030101010101" pitchFamily="2" charset="-122"/>
              <a:ea typeface="宋体" panose="02010600030101010101" pitchFamily="2" charset="-122"/>
            </a:endParaRPr>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ext Box 2"/>
          <p:cNvSpPr txBox="1">
            <a:spLocks noChangeArrowheads="1"/>
          </p:cNvSpPr>
          <p:nvPr/>
        </p:nvSpPr>
        <p:spPr bwMode="white">
          <a:xfrm>
            <a:off x="3917950" y="2636839"/>
            <a:ext cx="44958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292929">
                      <a:alpha val="50000"/>
                    </a:srgbClr>
                  </a:outerShdw>
                </a:effectLst>
              </a14:hiddenEffects>
            </a:ext>
          </a:extLst>
        </p:spPr>
        <p:txBody>
          <a:bodyPr>
            <a:spAutoFit/>
          </a:bodyPr>
          <a:lstStyle>
            <a:lvl1pPr marL="457200" indent="-457200" algn="l">
              <a:defRPr>
                <a:solidFill>
                  <a:schemeClr val="tx1"/>
                </a:solidFill>
                <a:latin typeface="Arial" panose="020B0604020202020204" pitchFamily="34" charset="0"/>
              </a:defRPr>
            </a:lvl1pPr>
            <a:lvl2pPr marL="914400" indent="-457200" algn="l">
              <a:defRPr>
                <a:solidFill>
                  <a:schemeClr val="tx1"/>
                </a:solidFill>
                <a:latin typeface="Arial" panose="020B0604020202020204" pitchFamily="34" charset="0"/>
              </a:defRPr>
            </a:lvl2pPr>
            <a:lvl3pPr marL="1371600" indent="-457200" algn="l">
              <a:defRPr>
                <a:solidFill>
                  <a:schemeClr val="tx1"/>
                </a:solidFill>
                <a:latin typeface="Arial" panose="020B0604020202020204" pitchFamily="34" charset="0"/>
              </a:defRPr>
            </a:lvl3pPr>
            <a:lvl4pPr marL="1828800" indent="-457200" algn="l">
              <a:defRPr>
                <a:solidFill>
                  <a:schemeClr val="tx1"/>
                </a:solidFill>
                <a:latin typeface="Arial" panose="020B0604020202020204" pitchFamily="34" charset="0"/>
              </a:defRPr>
            </a:lvl4pPr>
            <a:lvl5pPr marL="2286000" indent="-457200" algn="l">
              <a:defRPr>
                <a:solidFill>
                  <a:schemeClr val="tx1"/>
                </a:solidFill>
                <a:latin typeface="Arial" panose="020B0604020202020204" pitchFamily="34" charset="0"/>
              </a:defRPr>
            </a:lvl5pPr>
            <a:lvl6pPr marL="2743200" indent="-457200" fontAlgn="base">
              <a:spcBef>
                <a:spcPct val="0"/>
              </a:spcBef>
              <a:spcAft>
                <a:spcPct val="0"/>
              </a:spcAft>
              <a:defRPr>
                <a:solidFill>
                  <a:schemeClr val="tx1"/>
                </a:solidFill>
                <a:latin typeface="Arial" panose="020B0604020202020204" pitchFamily="34" charset="0"/>
              </a:defRPr>
            </a:lvl6pPr>
            <a:lvl7pPr marL="3200400" indent="-457200" fontAlgn="base">
              <a:spcBef>
                <a:spcPct val="0"/>
              </a:spcBef>
              <a:spcAft>
                <a:spcPct val="0"/>
              </a:spcAft>
              <a:defRPr>
                <a:solidFill>
                  <a:schemeClr val="tx1"/>
                </a:solidFill>
                <a:latin typeface="Arial" panose="020B0604020202020204" pitchFamily="34" charset="0"/>
              </a:defRPr>
            </a:lvl7pPr>
            <a:lvl8pPr marL="3657600" indent="-457200" fontAlgn="base">
              <a:spcBef>
                <a:spcPct val="0"/>
              </a:spcBef>
              <a:spcAft>
                <a:spcPct val="0"/>
              </a:spcAft>
              <a:defRPr>
                <a:solidFill>
                  <a:schemeClr val="tx1"/>
                </a:solidFill>
                <a:latin typeface="Arial" panose="020B0604020202020204" pitchFamily="34" charset="0"/>
              </a:defRPr>
            </a:lvl8pPr>
            <a:lvl9pPr marL="4114800" indent="-457200" fontAlgn="base">
              <a:spcBef>
                <a:spcPct val="0"/>
              </a:spcBef>
              <a:spcAft>
                <a:spcPct val="0"/>
              </a:spcAft>
              <a:defRPr>
                <a:solidFill>
                  <a:schemeClr val="tx1"/>
                </a:solidFill>
                <a:latin typeface="Arial" panose="020B0604020202020204" pitchFamily="34" charset="0"/>
              </a:defRPr>
            </a:lvl9pPr>
          </a:lstStyle>
          <a:p>
            <a:pPr algn="ctr">
              <a:spcBef>
                <a:spcPct val="50000"/>
              </a:spcBef>
              <a:buClr>
                <a:schemeClr val="tx1"/>
              </a:buClr>
            </a:pPr>
            <a:r>
              <a:rPr lang="zh-CN" altLang="en-US" sz="3200" b="1">
                <a:solidFill>
                  <a:srgbClr val="FFFFFF"/>
                </a:solidFill>
                <a:ea typeface="宋体" panose="02010600030101010101" pitchFamily="2" charset="-122"/>
                <a:cs typeface="Arial" panose="020B0604020202020204" pitchFamily="34" charset="0"/>
              </a:rPr>
              <a:t>势垒电容    </a:t>
            </a:r>
            <a:endParaRPr lang="zh-CN" altLang="en-US" sz="3200" b="1">
              <a:solidFill>
                <a:srgbClr val="FFFFFF"/>
              </a:solidFill>
              <a:ea typeface="宋体" panose="02010600030101010101" pitchFamily="2" charset="-122"/>
              <a:cs typeface="Arial" panose="020B0604020202020204" pitchFamily="34" charset="0"/>
            </a:endParaRPr>
          </a:p>
        </p:txBody>
      </p:sp>
      <p:sp>
        <p:nvSpPr>
          <p:cNvPr id="64515" name="Text Box 3"/>
          <p:cNvSpPr txBox="1">
            <a:spLocks noChangeArrowheads="1"/>
          </p:cNvSpPr>
          <p:nvPr/>
        </p:nvSpPr>
        <p:spPr bwMode="white">
          <a:xfrm>
            <a:off x="3929063" y="5275263"/>
            <a:ext cx="449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292929">
                      <a:alpha val="50000"/>
                    </a:srgbClr>
                  </a:outerShdw>
                </a:effectLst>
              </a14:hiddenEffects>
            </a:ext>
          </a:extLst>
        </p:spPr>
        <p:txBody>
          <a:bodyPr>
            <a:spAutoFit/>
          </a:bodyPr>
          <a:lstStyle>
            <a:lvl1pPr marL="457200" indent="-457200" algn="l">
              <a:defRPr>
                <a:solidFill>
                  <a:schemeClr val="tx1"/>
                </a:solidFill>
                <a:latin typeface="Arial" panose="020B0604020202020204" pitchFamily="34" charset="0"/>
              </a:defRPr>
            </a:lvl1pPr>
            <a:lvl2pPr marL="914400" indent="-457200" algn="l">
              <a:defRPr>
                <a:solidFill>
                  <a:schemeClr val="tx1"/>
                </a:solidFill>
                <a:latin typeface="Arial" panose="020B0604020202020204" pitchFamily="34" charset="0"/>
              </a:defRPr>
            </a:lvl2pPr>
            <a:lvl3pPr marL="1371600" indent="-457200" algn="l">
              <a:defRPr>
                <a:solidFill>
                  <a:schemeClr val="tx1"/>
                </a:solidFill>
                <a:latin typeface="Arial" panose="020B0604020202020204" pitchFamily="34" charset="0"/>
              </a:defRPr>
            </a:lvl3pPr>
            <a:lvl4pPr marL="1828800" indent="-457200" algn="l">
              <a:defRPr>
                <a:solidFill>
                  <a:schemeClr val="tx1"/>
                </a:solidFill>
                <a:latin typeface="Arial" panose="020B0604020202020204" pitchFamily="34" charset="0"/>
              </a:defRPr>
            </a:lvl4pPr>
            <a:lvl5pPr marL="2286000" indent="-457200" algn="l">
              <a:defRPr>
                <a:solidFill>
                  <a:schemeClr val="tx1"/>
                </a:solidFill>
                <a:latin typeface="Arial" panose="020B0604020202020204" pitchFamily="34" charset="0"/>
              </a:defRPr>
            </a:lvl5pPr>
            <a:lvl6pPr marL="2743200" indent="-457200" fontAlgn="base">
              <a:spcBef>
                <a:spcPct val="0"/>
              </a:spcBef>
              <a:spcAft>
                <a:spcPct val="0"/>
              </a:spcAft>
              <a:defRPr>
                <a:solidFill>
                  <a:schemeClr val="tx1"/>
                </a:solidFill>
                <a:latin typeface="Arial" panose="020B0604020202020204" pitchFamily="34" charset="0"/>
              </a:defRPr>
            </a:lvl6pPr>
            <a:lvl7pPr marL="3200400" indent="-457200" fontAlgn="base">
              <a:spcBef>
                <a:spcPct val="0"/>
              </a:spcBef>
              <a:spcAft>
                <a:spcPct val="0"/>
              </a:spcAft>
              <a:defRPr>
                <a:solidFill>
                  <a:schemeClr val="tx1"/>
                </a:solidFill>
                <a:latin typeface="Arial" panose="020B0604020202020204" pitchFamily="34" charset="0"/>
              </a:defRPr>
            </a:lvl7pPr>
            <a:lvl8pPr marL="3657600" indent="-457200" fontAlgn="base">
              <a:spcBef>
                <a:spcPct val="0"/>
              </a:spcBef>
              <a:spcAft>
                <a:spcPct val="0"/>
              </a:spcAft>
              <a:defRPr>
                <a:solidFill>
                  <a:schemeClr val="tx1"/>
                </a:solidFill>
                <a:latin typeface="Arial" panose="020B0604020202020204" pitchFamily="34" charset="0"/>
              </a:defRPr>
            </a:lvl8pPr>
            <a:lvl9pPr marL="4114800" indent="-457200" fontAlgn="base">
              <a:spcBef>
                <a:spcPct val="0"/>
              </a:spcBef>
              <a:spcAft>
                <a:spcPct val="0"/>
              </a:spcAft>
              <a:defRPr>
                <a:solidFill>
                  <a:schemeClr val="tx1"/>
                </a:solidFill>
                <a:latin typeface="Arial" panose="020B0604020202020204" pitchFamily="34" charset="0"/>
              </a:defRPr>
            </a:lvl9pPr>
          </a:lstStyle>
          <a:p>
            <a:pPr algn="ctr">
              <a:spcBef>
                <a:spcPct val="50000"/>
              </a:spcBef>
              <a:buClr>
                <a:schemeClr val="tx1"/>
              </a:buClr>
            </a:pPr>
            <a:r>
              <a:rPr lang="en-US" altLang="zh-CN" sz="2400" b="1">
                <a:solidFill>
                  <a:srgbClr val="FFFFFF"/>
                </a:solidFill>
                <a:ea typeface="宋体" panose="02010600030101010101" pitchFamily="2" charset="-122"/>
                <a:cs typeface="Arial" panose="020B0604020202020204" pitchFamily="34" charset="0"/>
              </a:rPr>
              <a:t>Click to add title in here    </a:t>
            </a:r>
            <a:endParaRPr lang="en-US" altLang="zh-CN" sz="2400" b="1">
              <a:solidFill>
                <a:srgbClr val="FFFFFF"/>
              </a:solidFill>
              <a:ea typeface="宋体" panose="02010600030101010101" pitchFamily="2" charset="-122"/>
              <a:cs typeface="Arial" panose="020B0604020202020204" pitchFamily="34" charset="0"/>
            </a:endParaRPr>
          </a:p>
        </p:txBody>
      </p:sp>
      <p:sp>
        <p:nvSpPr>
          <p:cNvPr id="64516" name="Text Box 4"/>
          <p:cNvSpPr txBox="1">
            <a:spLocks noChangeArrowheads="1"/>
          </p:cNvSpPr>
          <p:nvPr/>
        </p:nvSpPr>
        <p:spPr bwMode="white">
          <a:xfrm>
            <a:off x="3589338" y="4435475"/>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1">
                <a:solidFill>
                  <a:srgbClr val="FFFFFF"/>
                </a:solidFill>
                <a:ea typeface="宋体" panose="02010600030101010101" pitchFamily="2" charset="-122"/>
                <a:cs typeface="Arial" panose="020B0604020202020204" pitchFamily="34" charset="0"/>
              </a:rPr>
              <a:t>3</a:t>
            </a:r>
            <a:endParaRPr lang="en-US" altLang="zh-CN" sz="2400" b="1">
              <a:solidFill>
                <a:srgbClr val="FFFFFF"/>
              </a:solidFill>
              <a:ea typeface="宋体" panose="02010600030101010101" pitchFamily="2" charset="-122"/>
              <a:cs typeface="Arial" panose="020B0604020202020204" pitchFamily="34" charset="0"/>
            </a:endParaRPr>
          </a:p>
        </p:txBody>
      </p:sp>
      <p:sp>
        <p:nvSpPr>
          <p:cNvPr id="64519" name="Text Box 7" descr="2"/>
          <p:cNvSpPr txBox="1">
            <a:spLocks noChangeArrowheads="1"/>
          </p:cNvSpPr>
          <p:nvPr/>
        </p:nvSpPr>
        <p:spPr bwMode="gray">
          <a:xfrm>
            <a:off x="1703388" y="1341438"/>
            <a:ext cx="4716462" cy="519112"/>
          </a:xfrm>
          <a:prstGeom prst="rect">
            <a:avLst/>
          </a:prstGeom>
          <a:noFill/>
          <a:ln>
            <a:noFill/>
          </a:ln>
          <a:effectLst/>
          <a:extLst>
            <a:ext uri="{909E8E84-426E-40DD-AFC4-6F175D3DCCD1}">
              <a14:hiddenFill xmlns:a14="http://schemas.microsoft.com/office/drawing/2010/main">
                <a:blipFill dpi="0" rotWithShape="1">
                  <a:blip r:embed="rId1"/>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b="1">
                <a:solidFill>
                  <a:schemeClr val="tx2"/>
                </a:solidFill>
                <a:ea typeface="宋体" panose="02010600030101010101" pitchFamily="2" charset="-122"/>
              </a:rPr>
              <a:t>由此势垒区中的电场为：</a:t>
            </a:r>
            <a:endParaRPr lang="zh-CN" altLang="en-US" sz="2800" b="1">
              <a:solidFill>
                <a:schemeClr val="tx2"/>
              </a:solidFill>
              <a:ea typeface="宋体" panose="02010600030101010101" pitchFamily="2" charset="-122"/>
            </a:endParaRPr>
          </a:p>
        </p:txBody>
      </p:sp>
      <p:pic>
        <p:nvPicPr>
          <p:cNvPr id="64523" name="Picture 11" descr="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1846264" y="2174875"/>
            <a:ext cx="7489825" cy="1398588"/>
          </a:xfrm>
          <a:prstGeom prst="rect">
            <a:avLst/>
          </a:prstGeom>
          <a:noFill/>
          <a:ln>
            <a:noFill/>
          </a:ln>
          <a:effectLst/>
          <a:extLst>
            <a:ext uri="{909E8E84-426E-40DD-AFC4-6F175D3DCCD1}">
              <a14:hiddenFill xmlns:a14="http://schemas.microsoft.com/office/drawing/2010/main">
                <a:blipFill dpi="0" rotWithShape="1">
                  <a:blip/>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4524" name="Text Box 12" descr="2"/>
          <p:cNvSpPr txBox="1">
            <a:spLocks noChangeArrowheads="1"/>
          </p:cNvSpPr>
          <p:nvPr/>
        </p:nvSpPr>
        <p:spPr bwMode="gray">
          <a:xfrm>
            <a:off x="1919288" y="3644901"/>
            <a:ext cx="7993062" cy="1200329"/>
          </a:xfrm>
          <a:prstGeom prst="rect">
            <a:avLst/>
          </a:prstGeom>
          <a:noFill/>
          <a:ln>
            <a:noFill/>
          </a:ln>
          <a:effectLst/>
          <a:extLst>
            <a:ext uri="{909E8E84-426E-40DD-AFC4-6F175D3DCCD1}">
              <a14:hiddenFill xmlns:a14="http://schemas.microsoft.com/office/drawing/2010/main">
                <a:blipFill dpi="0" rotWithShape="1">
                  <a:blip r:embed="rId1"/>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400" b="1">
                <a:solidFill>
                  <a:schemeClr val="tx2"/>
                </a:solidFill>
                <a:ea typeface="宋体" panose="02010600030101010101" pitchFamily="2" charset="-122"/>
              </a:rPr>
              <a:t>可以看出，在平衡突变结势垒区中，电场强度是位置</a:t>
            </a:r>
            <a:r>
              <a:rPr lang="en-US" altLang="zh-CN" sz="2400" b="1">
                <a:solidFill>
                  <a:schemeClr val="tx2"/>
                </a:solidFill>
                <a:ea typeface="宋体" panose="02010600030101010101" pitchFamily="2" charset="-122"/>
              </a:rPr>
              <a:t>x</a:t>
            </a:r>
            <a:r>
              <a:rPr lang="zh-CN" altLang="en-US" sz="2400" b="1">
                <a:solidFill>
                  <a:schemeClr val="tx2"/>
                </a:solidFill>
                <a:ea typeface="宋体" panose="02010600030101010101" pitchFamily="2" charset="-122"/>
              </a:rPr>
              <a:t>的线性函数。电场方向从</a:t>
            </a:r>
            <a:r>
              <a:rPr lang="en-US" altLang="zh-CN" sz="2400" b="1">
                <a:solidFill>
                  <a:schemeClr val="tx2"/>
                </a:solidFill>
                <a:ea typeface="宋体" panose="02010600030101010101" pitchFamily="2" charset="-122"/>
              </a:rPr>
              <a:t>n</a:t>
            </a:r>
            <a:r>
              <a:rPr lang="zh-CN" altLang="en-US" sz="2400" b="1">
                <a:solidFill>
                  <a:schemeClr val="tx2"/>
                </a:solidFill>
                <a:ea typeface="宋体" panose="02010600030101010101" pitchFamily="2" charset="-122"/>
              </a:rPr>
              <a:t>区指向</a:t>
            </a:r>
            <a:r>
              <a:rPr lang="en-US" altLang="zh-CN" sz="2400" b="1">
                <a:solidFill>
                  <a:schemeClr val="tx2"/>
                </a:solidFill>
                <a:ea typeface="宋体" panose="02010600030101010101" pitchFamily="2" charset="-122"/>
              </a:rPr>
              <a:t>p</a:t>
            </a:r>
            <a:r>
              <a:rPr lang="zh-CN" altLang="en-US" sz="2400" b="1">
                <a:solidFill>
                  <a:schemeClr val="tx2"/>
                </a:solidFill>
                <a:ea typeface="宋体" panose="02010600030101010101" pitchFamily="2" charset="-122"/>
              </a:rPr>
              <a:t>区。在</a:t>
            </a:r>
            <a:r>
              <a:rPr lang="en-US" altLang="zh-CN" sz="2400" b="1">
                <a:solidFill>
                  <a:schemeClr val="tx2"/>
                </a:solidFill>
                <a:ea typeface="宋体" panose="02010600030101010101" pitchFamily="2" charset="-122"/>
              </a:rPr>
              <a:t>x=0</a:t>
            </a:r>
            <a:r>
              <a:rPr lang="zh-CN" altLang="en-US" sz="2400" b="1">
                <a:solidFill>
                  <a:schemeClr val="tx2"/>
                </a:solidFill>
                <a:ea typeface="宋体" panose="02010600030101010101" pitchFamily="2" charset="-122"/>
              </a:rPr>
              <a:t>处达到最大值：</a:t>
            </a:r>
            <a:endParaRPr lang="zh-CN" altLang="en-US" sz="2400" b="1">
              <a:solidFill>
                <a:schemeClr val="tx2"/>
              </a:solidFill>
              <a:ea typeface="宋体" panose="02010600030101010101" pitchFamily="2" charset="-122"/>
            </a:endParaRPr>
          </a:p>
        </p:txBody>
      </p:sp>
      <p:pic>
        <p:nvPicPr>
          <p:cNvPr id="64525" name="Picture 13" descr="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gray">
          <a:xfrm>
            <a:off x="2424113" y="4581525"/>
            <a:ext cx="7561262" cy="1574800"/>
          </a:xfrm>
          <a:prstGeom prst="rect">
            <a:avLst/>
          </a:prstGeom>
          <a:noFill/>
          <a:ln>
            <a:noFill/>
          </a:ln>
          <a:effectLst/>
          <a:extLst>
            <a:ext uri="{909E8E84-426E-40DD-AFC4-6F175D3DCCD1}">
              <a14:hiddenFill xmlns:a14="http://schemas.microsoft.com/office/drawing/2010/main">
                <a:blipFill dpi="0" rotWithShape="1">
                  <a:blip/>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4526" name="Picture 14" descr="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gray">
          <a:xfrm>
            <a:off x="6656389" y="85726"/>
            <a:ext cx="3832225" cy="1806575"/>
          </a:xfrm>
          <a:prstGeom prst="rect">
            <a:avLst/>
          </a:prstGeom>
          <a:noFill/>
          <a:ln>
            <a:noFill/>
          </a:ln>
          <a:effectLst/>
          <a:extLst>
            <a:ext uri="{909E8E84-426E-40DD-AFC4-6F175D3DCCD1}">
              <a14:hiddenFill xmlns:a14="http://schemas.microsoft.com/office/drawing/2010/main">
                <a:blipFill dpi="0" rotWithShape="1">
                  <a:blip/>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4527" name="Text Box 15" descr="2"/>
          <p:cNvSpPr txBox="1">
            <a:spLocks noChangeArrowheads="1"/>
          </p:cNvSpPr>
          <p:nvPr/>
        </p:nvSpPr>
        <p:spPr bwMode="gray">
          <a:xfrm>
            <a:off x="9048751" y="2636839"/>
            <a:ext cx="1655763" cy="396875"/>
          </a:xfrm>
          <a:prstGeom prst="rect">
            <a:avLst/>
          </a:prstGeom>
          <a:noFill/>
          <a:ln>
            <a:noFill/>
          </a:ln>
          <a:effectLst/>
          <a:extLst>
            <a:ext uri="{909E8E84-426E-40DD-AFC4-6F175D3DCCD1}">
              <a14:hiddenFill xmlns:a14="http://schemas.microsoft.com/office/drawing/2010/main">
                <a:blipFill dpi="0" rotWithShape="1">
                  <a:blip r:embed="rId1"/>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solidFill>
                  <a:schemeClr val="tx2"/>
                </a:solidFill>
                <a:ea typeface="宋体" panose="02010600030101010101" pitchFamily="2" charset="-122"/>
              </a:rPr>
              <a:t>（</a:t>
            </a:r>
            <a:r>
              <a:rPr lang="en-US" altLang="zh-CN" sz="2000">
                <a:solidFill>
                  <a:schemeClr val="tx2"/>
                </a:solidFill>
                <a:ea typeface="宋体" panose="02010600030101010101" pitchFamily="2" charset="-122"/>
              </a:rPr>
              <a:t>6-77</a:t>
            </a:r>
            <a:r>
              <a:rPr lang="zh-CN" altLang="en-US" sz="2000">
                <a:solidFill>
                  <a:schemeClr val="tx2"/>
                </a:solidFill>
                <a:ea typeface="宋体" panose="02010600030101010101" pitchFamily="2" charset="-122"/>
              </a:rPr>
              <a:t>）</a:t>
            </a:r>
            <a:endParaRPr lang="zh-CN" altLang="en-US" sz="2000">
              <a:solidFill>
                <a:schemeClr val="tx2"/>
              </a:solidFill>
              <a:ea typeface="宋体" panose="02010600030101010101" pitchFamily="2" charset="-122"/>
            </a:endParaRPr>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Text Box 2"/>
          <p:cNvSpPr txBox="1">
            <a:spLocks noChangeArrowheads="1"/>
          </p:cNvSpPr>
          <p:nvPr/>
        </p:nvSpPr>
        <p:spPr bwMode="white">
          <a:xfrm>
            <a:off x="3917950" y="2636839"/>
            <a:ext cx="44958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292929">
                      <a:alpha val="50000"/>
                    </a:srgbClr>
                  </a:outerShdw>
                </a:effectLst>
              </a14:hiddenEffects>
            </a:ext>
          </a:extLst>
        </p:spPr>
        <p:txBody>
          <a:bodyPr>
            <a:spAutoFit/>
          </a:bodyPr>
          <a:lstStyle>
            <a:lvl1pPr marL="457200" indent="-457200" algn="l">
              <a:defRPr>
                <a:solidFill>
                  <a:schemeClr val="tx1"/>
                </a:solidFill>
                <a:latin typeface="Arial" panose="020B0604020202020204" pitchFamily="34" charset="0"/>
              </a:defRPr>
            </a:lvl1pPr>
            <a:lvl2pPr marL="914400" indent="-457200" algn="l">
              <a:defRPr>
                <a:solidFill>
                  <a:schemeClr val="tx1"/>
                </a:solidFill>
                <a:latin typeface="Arial" panose="020B0604020202020204" pitchFamily="34" charset="0"/>
              </a:defRPr>
            </a:lvl2pPr>
            <a:lvl3pPr marL="1371600" indent="-457200" algn="l">
              <a:defRPr>
                <a:solidFill>
                  <a:schemeClr val="tx1"/>
                </a:solidFill>
                <a:latin typeface="Arial" panose="020B0604020202020204" pitchFamily="34" charset="0"/>
              </a:defRPr>
            </a:lvl3pPr>
            <a:lvl4pPr marL="1828800" indent="-457200" algn="l">
              <a:defRPr>
                <a:solidFill>
                  <a:schemeClr val="tx1"/>
                </a:solidFill>
                <a:latin typeface="Arial" panose="020B0604020202020204" pitchFamily="34" charset="0"/>
              </a:defRPr>
            </a:lvl4pPr>
            <a:lvl5pPr marL="2286000" indent="-457200" algn="l">
              <a:defRPr>
                <a:solidFill>
                  <a:schemeClr val="tx1"/>
                </a:solidFill>
                <a:latin typeface="Arial" panose="020B0604020202020204" pitchFamily="34" charset="0"/>
              </a:defRPr>
            </a:lvl5pPr>
            <a:lvl6pPr marL="2743200" indent="-457200" fontAlgn="base">
              <a:spcBef>
                <a:spcPct val="0"/>
              </a:spcBef>
              <a:spcAft>
                <a:spcPct val="0"/>
              </a:spcAft>
              <a:defRPr>
                <a:solidFill>
                  <a:schemeClr val="tx1"/>
                </a:solidFill>
                <a:latin typeface="Arial" panose="020B0604020202020204" pitchFamily="34" charset="0"/>
              </a:defRPr>
            </a:lvl6pPr>
            <a:lvl7pPr marL="3200400" indent="-457200" fontAlgn="base">
              <a:spcBef>
                <a:spcPct val="0"/>
              </a:spcBef>
              <a:spcAft>
                <a:spcPct val="0"/>
              </a:spcAft>
              <a:defRPr>
                <a:solidFill>
                  <a:schemeClr val="tx1"/>
                </a:solidFill>
                <a:latin typeface="Arial" panose="020B0604020202020204" pitchFamily="34" charset="0"/>
              </a:defRPr>
            </a:lvl7pPr>
            <a:lvl8pPr marL="3657600" indent="-457200" fontAlgn="base">
              <a:spcBef>
                <a:spcPct val="0"/>
              </a:spcBef>
              <a:spcAft>
                <a:spcPct val="0"/>
              </a:spcAft>
              <a:defRPr>
                <a:solidFill>
                  <a:schemeClr val="tx1"/>
                </a:solidFill>
                <a:latin typeface="Arial" panose="020B0604020202020204" pitchFamily="34" charset="0"/>
              </a:defRPr>
            </a:lvl8pPr>
            <a:lvl9pPr marL="4114800" indent="-457200" fontAlgn="base">
              <a:spcBef>
                <a:spcPct val="0"/>
              </a:spcBef>
              <a:spcAft>
                <a:spcPct val="0"/>
              </a:spcAft>
              <a:defRPr>
                <a:solidFill>
                  <a:schemeClr val="tx1"/>
                </a:solidFill>
                <a:latin typeface="Arial" panose="020B0604020202020204" pitchFamily="34" charset="0"/>
              </a:defRPr>
            </a:lvl9pPr>
          </a:lstStyle>
          <a:p>
            <a:pPr algn="ctr">
              <a:spcBef>
                <a:spcPct val="50000"/>
              </a:spcBef>
              <a:buClr>
                <a:schemeClr val="tx1"/>
              </a:buClr>
            </a:pPr>
            <a:r>
              <a:rPr lang="zh-CN" altLang="en-US" sz="3200" b="1">
                <a:solidFill>
                  <a:srgbClr val="FFFFFF"/>
                </a:solidFill>
                <a:ea typeface="宋体" panose="02010600030101010101" pitchFamily="2" charset="-122"/>
                <a:cs typeface="Arial" panose="020B0604020202020204" pitchFamily="34" charset="0"/>
              </a:rPr>
              <a:t>势垒电容    </a:t>
            </a:r>
            <a:endParaRPr lang="zh-CN" altLang="en-US" sz="3200" b="1">
              <a:solidFill>
                <a:srgbClr val="FFFFFF"/>
              </a:solidFill>
              <a:ea typeface="宋体" panose="02010600030101010101" pitchFamily="2" charset="-122"/>
              <a:cs typeface="Arial" panose="020B0604020202020204" pitchFamily="34" charset="0"/>
            </a:endParaRPr>
          </a:p>
        </p:txBody>
      </p:sp>
      <p:sp>
        <p:nvSpPr>
          <p:cNvPr id="106500" name="Text Box 4"/>
          <p:cNvSpPr txBox="1">
            <a:spLocks noChangeArrowheads="1"/>
          </p:cNvSpPr>
          <p:nvPr/>
        </p:nvSpPr>
        <p:spPr bwMode="white">
          <a:xfrm>
            <a:off x="3589338" y="4435475"/>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1">
                <a:solidFill>
                  <a:srgbClr val="FFFFFF"/>
                </a:solidFill>
                <a:ea typeface="宋体" panose="02010600030101010101" pitchFamily="2" charset="-122"/>
                <a:cs typeface="Arial" panose="020B0604020202020204" pitchFamily="34" charset="0"/>
              </a:rPr>
              <a:t>3</a:t>
            </a:r>
            <a:endParaRPr lang="en-US" altLang="zh-CN" sz="2400" b="1">
              <a:solidFill>
                <a:srgbClr val="FFFFFF"/>
              </a:solidFill>
              <a:ea typeface="宋体" panose="02010600030101010101" pitchFamily="2" charset="-122"/>
              <a:cs typeface="Arial" panose="020B0604020202020204" pitchFamily="34" charset="0"/>
            </a:endParaRPr>
          </a:p>
        </p:txBody>
      </p:sp>
      <p:sp>
        <p:nvSpPr>
          <p:cNvPr id="106501" name="Text Box 5" descr="2"/>
          <p:cNvSpPr txBox="1">
            <a:spLocks noChangeArrowheads="1"/>
          </p:cNvSpPr>
          <p:nvPr/>
        </p:nvSpPr>
        <p:spPr bwMode="gray">
          <a:xfrm>
            <a:off x="1703389" y="1341439"/>
            <a:ext cx="8137525" cy="1800225"/>
          </a:xfrm>
          <a:prstGeom prst="rect">
            <a:avLst/>
          </a:prstGeom>
          <a:noFill/>
          <a:ln>
            <a:noFill/>
          </a:ln>
          <a:effectLst/>
          <a:extLst>
            <a:ext uri="{909E8E84-426E-40DD-AFC4-6F175D3DCCD1}">
              <a14:hiddenFill xmlns:a14="http://schemas.microsoft.com/office/drawing/2010/main">
                <a:blipFill dpi="0" rotWithShape="1">
                  <a:blip r:embed="rId1"/>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b="1">
                <a:solidFill>
                  <a:schemeClr val="tx2"/>
                </a:solidFill>
                <a:ea typeface="宋体" panose="02010600030101010101" pitchFamily="2" charset="-122"/>
              </a:rPr>
              <a:t>对于</a:t>
            </a:r>
            <a:r>
              <a:rPr lang="en-US" altLang="zh-CN" sz="2800" b="1">
                <a:solidFill>
                  <a:schemeClr val="tx2"/>
                </a:solidFill>
                <a:ea typeface="宋体" panose="02010600030101010101" pitchFamily="2" charset="-122"/>
              </a:rPr>
              <a:t>p</a:t>
            </a:r>
            <a:r>
              <a:rPr lang="en-US" altLang="zh-CN" sz="2800" b="1" baseline="30000">
                <a:solidFill>
                  <a:schemeClr val="tx2"/>
                </a:solidFill>
                <a:ea typeface="宋体" panose="02010600030101010101" pitchFamily="2" charset="-122"/>
              </a:rPr>
              <a:t>+</a:t>
            </a:r>
            <a:r>
              <a:rPr lang="en-US" altLang="zh-CN" sz="2800" b="1">
                <a:solidFill>
                  <a:schemeClr val="tx2"/>
                </a:solidFill>
                <a:ea typeface="宋体" panose="02010600030101010101" pitchFamily="2" charset="-122"/>
              </a:rPr>
              <a:t>-n</a:t>
            </a:r>
            <a:r>
              <a:rPr lang="zh-CN" altLang="en-US" sz="2800" b="1">
                <a:solidFill>
                  <a:schemeClr val="tx2"/>
                </a:solidFill>
                <a:ea typeface="宋体" panose="02010600030101010101" pitchFamily="2" charset="-122"/>
              </a:rPr>
              <a:t>结，</a:t>
            </a:r>
            <a:r>
              <a:rPr lang="en-US" altLang="zh-CN" sz="2800" b="1">
                <a:solidFill>
                  <a:schemeClr val="tx2"/>
                </a:solidFill>
                <a:ea typeface="宋体" panose="02010600030101010101" pitchFamily="2" charset="-122"/>
              </a:rPr>
              <a:t>p</a:t>
            </a:r>
            <a:r>
              <a:rPr lang="zh-CN" altLang="en-US" sz="2800" b="1">
                <a:solidFill>
                  <a:schemeClr val="tx2"/>
                </a:solidFill>
                <a:ea typeface="宋体" panose="02010600030101010101" pitchFamily="2" charset="-122"/>
              </a:rPr>
              <a:t>区中电荷密度很大，使势垒区的扩展几乎都发生在</a:t>
            </a:r>
            <a:r>
              <a:rPr lang="en-US" altLang="zh-CN" sz="2800" b="1">
                <a:solidFill>
                  <a:schemeClr val="tx2"/>
                </a:solidFill>
                <a:ea typeface="宋体" panose="02010600030101010101" pitchFamily="2" charset="-122"/>
              </a:rPr>
              <a:t>n</a:t>
            </a:r>
            <a:r>
              <a:rPr lang="zh-CN" altLang="en-US" sz="2800" b="1">
                <a:solidFill>
                  <a:schemeClr val="tx2"/>
                </a:solidFill>
                <a:ea typeface="宋体" panose="02010600030101010101" pitchFamily="2" charset="-122"/>
              </a:rPr>
              <a:t>区中，反之，对于</a:t>
            </a:r>
            <a:r>
              <a:rPr lang="en-US" altLang="zh-CN" sz="2800" b="1">
                <a:solidFill>
                  <a:schemeClr val="tx2"/>
                </a:solidFill>
                <a:ea typeface="宋体" panose="02010600030101010101" pitchFamily="2" charset="-122"/>
              </a:rPr>
              <a:t>n</a:t>
            </a:r>
            <a:r>
              <a:rPr lang="en-US" altLang="zh-CN" sz="2800" b="1" baseline="30000">
                <a:solidFill>
                  <a:schemeClr val="tx2"/>
                </a:solidFill>
                <a:ea typeface="宋体" panose="02010600030101010101" pitchFamily="2" charset="-122"/>
              </a:rPr>
              <a:t>+</a:t>
            </a:r>
            <a:r>
              <a:rPr lang="en-US" altLang="zh-CN" sz="2800" b="1">
                <a:solidFill>
                  <a:schemeClr val="tx2"/>
                </a:solidFill>
                <a:ea typeface="宋体" panose="02010600030101010101" pitchFamily="2" charset="-122"/>
              </a:rPr>
              <a:t>-p</a:t>
            </a:r>
            <a:r>
              <a:rPr lang="zh-CN" altLang="en-US" sz="2800" b="1">
                <a:solidFill>
                  <a:schemeClr val="tx2"/>
                </a:solidFill>
                <a:ea typeface="宋体" panose="02010600030101010101" pitchFamily="2" charset="-122"/>
              </a:rPr>
              <a:t>结，势垒扩展主要发生在</a:t>
            </a:r>
            <a:r>
              <a:rPr lang="en-US" altLang="zh-CN" sz="2800" b="1">
                <a:solidFill>
                  <a:schemeClr val="tx2"/>
                </a:solidFill>
                <a:ea typeface="宋体" panose="02010600030101010101" pitchFamily="2" charset="-122"/>
              </a:rPr>
              <a:t>p</a:t>
            </a:r>
            <a:r>
              <a:rPr lang="zh-CN" altLang="en-US" sz="2800" b="1">
                <a:solidFill>
                  <a:schemeClr val="tx2"/>
                </a:solidFill>
                <a:ea typeface="宋体" panose="02010600030101010101" pitchFamily="2" charset="-122"/>
              </a:rPr>
              <a:t>区中。因为</a:t>
            </a:r>
            <a:r>
              <a:rPr lang="en-US" altLang="zh-CN" sz="2800" b="1">
                <a:solidFill>
                  <a:schemeClr val="tx2"/>
                </a:solidFill>
                <a:ea typeface="宋体" panose="02010600030101010101" pitchFamily="2" charset="-122"/>
              </a:rPr>
              <a:t>X</a:t>
            </a:r>
            <a:r>
              <a:rPr lang="en-US" altLang="zh-CN" sz="2800" b="1" baseline="-25000">
                <a:solidFill>
                  <a:schemeClr val="tx2"/>
                </a:solidFill>
                <a:ea typeface="宋体" panose="02010600030101010101" pitchFamily="2" charset="-122"/>
              </a:rPr>
              <a:t>D</a:t>
            </a:r>
            <a:r>
              <a:rPr lang="en-US" altLang="zh-CN" sz="2800" b="1">
                <a:solidFill>
                  <a:schemeClr val="tx2"/>
                </a:solidFill>
                <a:ea typeface="宋体" panose="02010600030101010101" pitchFamily="2" charset="-122"/>
              </a:rPr>
              <a:t>~x</a:t>
            </a:r>
            <a:r>
              <a:rPr lang="en-US" altLang="zh-CN" sz="2800" b="1" baseline="-25000">
                <a:solidFill>
                  <a:schemeClr val="tx2"/>
                </a:solidFill>
                <a:ea typeface="宋体" panose="02010600030101010101" pitchFamily="2" charset="-122"/>
              </a:rPr>
              <a:t>n</a:t>
            </a:r>
            <a:r>
              <a:rPr lang="en-US" altLang="zh-CN" sz="2800" b="1">
                <a:solidFill>
                  <a:schemeClr val="tx2"/>
                </a:solidFill>
                <a:ea typeface="宋体" panose="02010600030101010101" pitchFamily="2" charset="-122"/>
              </a:rPr>
              <a:t>,</a:t>
            </a:r>
            <a:r>
              <a:rPr lang="zh-CN" altLang="en-US" sz="2800" b="1">
                <a:solidFill>
                  <a:schemeClr val="tx2"/>
                </a:solidFill>
                <a:ea typeface="宋体" panose="02010600030101010101" pitchFamily="2" charset="-122"/>
              </a:rPr>
              <a:t>或</a:t>
            </a:r>
            <a:r>
              <a:rPr lang="en-US" altLang="zh-CN" sz="2800" b="1">
                <a:solidFill>
                  <a:schemeClr val="tx2"/>
                </a:solidFill>
                <a:ea typeface="宋体" panose="02010600030101010101" pitchFamily="2" charset="-122"/>
              </a:rPr>
              <a:t>X</a:t>
            </a:r>
            <a:r>
              <a:rPr lang="en-US" altLang="zh-CN" sz="2800" b="1" baseline="-25000">
                <a:solidFill>
                  <a:schemeClr val="tx2"/>
                </a:solidFill>
                <a:ea typeface="宋体" panose="02010600030101010101" pitchFamily="2" charset="-122"/>
              </a:rPr>
              <a:t>D</a:t>
            </a:r>
            <a:r>
              <a:rPr lang="en-US" altLang="zh-CN" sz="2800" b="1">
                <a:solidFill>
                  <a:schemeClr val="tx2"/>
                </a:solidFill>
                <a:ea typeface="宋体" panose="02010600030101010101" pitchFamily="2" charset="-122"/>
              </a:rPr>
              <a:t>~x</a:t>
            </a:r>
            <a:r>
              <a:rPr lang="en-US" altLang="zh-CN" sz="2800" b="1" baseline="-25000">
                <a:solidFill>
                  <a:schemeClr val="tx2"/>
                </a:solidFill>
                <a:ea typeface="宋体" panose="02010600030101010101" pitchFamily="2" charset="-122"/>
              </a:rPr>
              <a:t>p</a:t>
            </a:r>
            <a:r>
              <a:rPr lang="zh-CN" altLang="en-US" sz="2800" b="1">
                <a:solidFill>
                  <a:schemeClr val="tx2"/>
                </a:solidFill>
                <a:ea typeface="宋体" panose="02010600030101010101" pitchFamily="2" charset="-122"/>
              </a:rPr>
              <a:t>，所以最大电场强度为：</a:t>
            </a:r>
            <a:endParaRPr lang="zh-CN" altLang="en-US" b="1">
              <a:solidFill>
                <a:schemeClr val="tx2"/>
              </a:solidFill>
              <a:ea typeface="宋体" panose="02010600030101010101" pitchFamily="2" charset="-122"/>
            </a:endParaRPr>
          </a:p>
        </p:txBody>
      </p:sp>
      <p:pic>
        <p:nvPicPr>
          <p:cNvPr id="106507" name="Picture 11" descr="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5159376" y="3141664"/>
            <a:ext cx="2665413" cy="814387"/>
          </a:xfrm>
          <a:prstGeom prst="rect">
            <a:avLst/>
          </a:prstGeom>
          <a:noFill/>
          <a:ln>
            <a:noFill/>
          </a:ln>
          <a:effectLst/>
          <a:extLst>
            <a:ext uri="{909E8E84-426E-40DD-AFC4-6F175D3DCCD1}">
              <a14:hiddenFill xmlns:a14="http://schemas.microsoft.com/office/drawing/2010/main">
                <a:blipFill dpi="0" rotWithShape="1">
                  <a:blip/>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6508" name="Picture 12" descr="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gray">
          <a:xfrm>
            <a:off x="5016500" y="3860800"/>
            <a:ext cx="2674938" cy="1519238"/>
          </a:xfrm>
          <a:prstGeom prst="rect">
            <a:avLst/>
          </a:prstGeom>
          <a:noFill/>
          <a:ln>
            <a:noFill/>
          </a:ln>
          <a:effectLst/>
          <a:extLst>
            <a:ext uri="{909E8E84-426E-40DD-AFC4-6F175D3DCCD1}">
              <a14:hiddenFill xmlns:a14="http://schemas.microsoft.com/office/drawing/2010/main">
                <a:blipFill dpi="0" rotWithShape="1">
                  <a:blip/>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6510" name="Text Box 14" descr="2"/>
          <p:cNvSpPr txBox="1">
            <a:spLocks noChangeArrowheads="1"/>
          </p:cNvSpPr>
          <p:nvPr/>
        </p:nvSpPr>
        <p:spPr bwMode="gray">
          <a:xfrm>
            <a:off x="1919289" y="3284538"/>
            <a:ext cx="3563937" cy="1160462"/>
          </a:xfrm>
          <a:prstGeom prst="rect">
            <a:avLst/>
          </a:prstGeom>
          <a:noFill/>
          <a:ln>
            <a:noFill/>
          </a:ln>
          <a:effectLst/>
          <a:extLst>
            <a:ext uri="{909E8E84-426E-40DD-AFC4-6F175D3DCCD1}">
              <a14:hiddenFill xmlns:a14="http://schemas.microsoft.com/office/drawing/2010/main">
                <a:blipFill dpi="0" rotWithShape="1">
                  <a:blip r:embed="rId1"/>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b="1">
                <a:solidFill>
                  <a:schemeClr val="tx2"/>
                </a:solidFill>
                <a:ea typeface="宋体" panose="02010600030101010101" pitchFamily="2" charset="-122"/>
              </a:rPr>
              <a:t>对于</a:t>
            </a:r>
            <a:r>
              <a:rPr lang="en-US" altLang="zh-CN" sz="2800" b="1">
                <a:solidFill>
                  <a:schemeClr val="tx2"/>
                </a:solidFill>
                <a:ea typeface="宋体" panose="02010600030101010101" pitchFamily="2" charset="-122"/>
              </a:rPr>
              <a:t>p</a:t>
            </a:r>
            <a:r>
              <a:rPr lang="en-US" altLang="zh-CN" sz="2800" b="1" baseline="30000">
                <a:solidFill>
                  <a:schemeClr val="tx2"/>
                </a:solidFill>
                <a:ea typeface="宋体" panose="02010600030101010101" pitchFamily="2" charset="-122"/>
              </a:rPr>
              <a:t>+</a:t>
            </a:r>
            <a:r>
              <a:rPr lang="en-US" altLang="zh-CN" sz="2800" b="1">
                <a:solidFill>
                  <a:schemeClr val="tx2"/>
                </a:solidFill>
                <a:ea typeface="宋体" panose="02010600030101010101" pitchFamily="2" charset="-122"/>
              </a:rPr>
              <a:t>-n</a:t>
            </a:r>
            <a:r>
              <a:rPr lang="zh-CN" altLang="en-US" sz="2800" b="1">
                <a:solidFill>
                  <a:schemeClr val="tx2"/>
                </a:solidFill>
                <a:ea typeface="宋体" panose="02010600030101010101" pitchFamily="2" charset="-122"/>
              </a:rPr>
              <a:t>结，</a:t>
            </a:r>
            <a:endParaRPr lang="zh-CN" altLang="en-US" sz="2800" b="1">
              <a:solidFill>
                <a:schemeClr val="tx2"/>
              </a:solidFill>
              <a:ea typeface="宋体" panose="02010600030101010101" pitchFamily="2" charset="-122"/>
            </a:endParaRPr>
          </a:p>
          <a:p>
            <a:pPr>
              <a:spcBef>
                <a:spcPct val="50000"/>
              </a:spcBef>
            </a:pPr>
            <a:r>
              <a:rPr lang="zh-CN" altLang="en-US" sz="2800" b="1">
                <a:solidFill>
                  <a:schemeClr val="tx2"/>
                </a:solidFill>
                <a:ea typeface="宋体" panose="02010600030101010101" pitchFamily="2" charset="-122"/>
              </a:rPr>
              <a:t>对于</a:t>
            </a:r>
            <a:r>
              <a:rPr lang="en-US" altLang="zh-CN" sz="2800" b="1">
                <a:solidFill>
                  <a:schemeClr val="tx2"/>
                </a:solidFill>
                <a:ea typeface="宋体" panose="02010600030101010101" pitchFamily="2" charset="-122"/>
              </a:rPr>
              <a:t>n</a:t>
            </a:r>
            <a:r>
              <a:rPr lang="en-US" altLang="zh-CN" sz="2800" b="1" baseline="30000">
                <a:solidFill>
                  <a:schemeClr val="tx2"/>
                </a:solidFill>
                <a:ea typeface="宋体" panose="02010600030101010101" pitchFamily="2" charset="-122"/>
              </a:rPr>
              <a:t>+</a:t>
            </a:r>
            <a:r>
              <a:rPr lang="en-US" altLang="zh-CN" sz="2800" b="1">
                <a:solidFill>
                  <a:schemeClr val="tx2"/>
                </a:solidFill>
                <a:ea typeface="宋体" panose="02010600030101010101" pitchFamily="2" charset="-122"/>
              </a:rPr>
              <a:t>-p</a:t>
            </a:r>
            <a:r>
              <a:rPr lang="zh-CN" altLang="en-US" sz="2800" b="1">
                <a:solidFill>
                  <a:schemeClr val="tx2"/>
                </a:solidFill>
                <a:ea typeface="宋体" panose="02010600030101010101" pitchFamily="2" charset="-122"/>
              </a:rPr>
              <a:t>结，</a:t>
            </a:r>
            <a:endParaRPr lang="zh-CN" altLang="en-US" b="1">
              <a:solidFill>
                <a:schemeClr val="tx2"/>
              </a:solidFill>
              <a:ea typeface="宋体" panose="02010600030101010101" pitchFamily="2" charset="-122"/>
            </a:endParaRPr>
          </a:p>
        </p:txBody>
      </p:sp>
      <p:sp>
        <p:nvSpPr>
          <p:cNvPr id="106511" name="Text Box 15" descr="2"/>
          <p:cNvSpPr txBox="1">
            <a:spLocks noChangeArrowheads="1"/>
          </p:cNvSpPr>
          <p:nvPr/>
        </p:nvSpPr>
        <p:spPr bwMode="gray">
          <a:xfrm>
            <a:off x="2927351" y="4781551"/>
            <a:ext cx="1152525" cy="519113"/>
          </a:xfrm>
          <a:prstGeom prst="rect">
            <a:avLst/>
          </a:prstGeom>
          <a:noFill/>
          <a:ln>
            <a:noFill/>
          </a:ln>
          <a:effectLst/>
          <a:extLst>
            <a:ext uri="{909E8E84-426E-40DD-AFC4-6F175D3DCCD1}">
              <a14:hiddenFill xmlns:a14="http://schemas.microsoft.com/office/drawing/2010/main">
                <a:blipFill dpi="0" rotWithShape="1">
                  <a:blip r:embed="rId1"/>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b="1">
                <a:solidFill>
                  <a:schemeClr val="tx2"/>
                </a:solidFill>
                <a:ea typeface="宋体" panose="02010600030101010101" pitchFamily="2" charset="-122"/>
              </a:rPr>
              <a:t>则</a:t>
            </a:r>
            <a:endParaRPr lang="zh-CN" altLang="en-US" sz="2800" b="1">
              <a:solidFill>
                <a:schemeClr val="tx2"/>
              </a:solidFill>
              <a:ea typeface="宋体" panose="02010600030101010101" pitchFamily="2" charset="-122"/>
            </a:endParaRPr>
          </a:p>
        </p:txBody>
      </p:sp>
      <p:sp>
        <p:nvSpPr>
          <p:cNvPr id="106512" name="Text Box 16" descr="2"/>
          <p:cNvSpPr txBox="1">
            <a:spLocks noChangeArrowheads="1"/>
          </p:cNvSpPr>
          <p:nvPr/>
        </p:nvSpPr>
        <p:spPr bwMode="gray">
          <a:xfrm>
            <a:off x="2495550" y="5589588"/>
            <a:ext cx="6840538" cy="519112"/>
          </a:xfrm>
          <a:prstGeom prst="rect">
            <a:avLst/>
          </a:prstGeom>
          <a:noFill/>
          <a:ln>
            <a:noFill/>
          </a:ln>
          <a:effectLst/>
          <a:extLst>
            <a:ext uri="{909E8E84-426E-40DD-AFC4-6F175D3DCCD1}">
              <a14:hiddenFill xmlns:a14="http://schemas.microsoft.com/office/drawing/2010/main">
                <a:blipFill dpi="0" rotWithShape="1">
                  <a:blip r:embed="rId1"/>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b="1">
                <a:solidFill>
                  <a:schemeClr val="tx2"/>
                </a:solidFill>
                <a:ea typeface="宋体" panose="02010600030101010101" pitchFamily="2" charset="-122"/>
              </a:rPr>
              <a:t>式中</a:t>
            </a:r>
            <a:r>
              <a:rPr lang="en-US" altLang="zh-CN" sz="2800" b="1">
                <a:solidFill>
                  <a:schemeClr val="tx2"/>
                </a:solidFill>
                <a:ea typeface="宋体" panose="02010600030101010101" pitchFamily="2" charset="-122"/>
              </a:rPr>
              <a:t>N</a:t>
            </a:r>
            <a:r>
              <a:rPr lang="en-US" altLang="zh-CN" sz="2800" b="1" baseline="-25000">
                <a:solidFill>
                  <a:schemeClr val="tx2"/>
                </a:solidFill>
                <a:ea typeface="宋体" panose="02010600030101010101" pitchFamily="2" charset="-122"/>
              </a:rPr>
              <a:t>B</a:t>
            </a:r>
            <a:r>
              <a:rPr lang="zh-CN" altLang="en-US" sz="2800" b="1">
                <a:solidFill>
                  <a:schemeClr val="tx2"/>
                </a:solidFill>
                <a:ea typeface="宋体" panose="02010600030101010101" pitchFamily="2" charset="-122"/>
              </a:rPr>
              <a:t>为轻掺杂一边的杂质浓度</a:t>
            </a:r>
            <a:endParaRPr lang="zh-CN" altLang="en-US" sz="2800" b="1">
              <a:solidFill>
                <a:schemeClr val="tx2"/>
              </a:solidFill>
              <a:ea typeface="宋体" panose="02010600030101010101" pitchFamily="2" charset="-122"/>
            </a:endParaRPr>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ext Box 2"/>
          <p:cNvSpPr txBox="1">
            <a:spLocks noChangeArrowheads="1"/>
          </p:cNvSpPr>
          <p:nvPr/>
        </p:nvSpPr>
        <p:spPr bwMode="white">
          <a:xfrm>
            <a:off x="3917950" y="2636839"/>
            <a:ext cx="44958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292929">
                      <a:alpha val="50000"/>
                    </a:srgbClr>
                  </a:outerShdw>
                </a:effectLst>
              </a14:hiddenEffects>
            </a:ext>
          </a:extLst>
        </p:spPr>
        <p:txBody>
          <a:bodyPr>
            <a:spAutoFit/>
          </a:bodyPr>
          <a:lstStyle>
            <a:lvl1pPr marL="457200" indent="-457200" algn="l">
              <a:defRPr>
                <a:solidFill>
                  <a:schemeClr val="tx1"/>
                </a:solidFill>
                <a:latin typeface="Arial" panose="020B0604020202020204" pitchFamily="34" charset="0"/>
              </a:defRPr>
            </a:lvl1pPr>
            <a:lvl2pPr marL="914400" indent="-457200" algn="l">
              <a:defRPr>
                <a:solidFill>
                  <a:schemeClr val="tx1"/>
                </a:solidFill>
                <a:latin typeface="Arial" panose="020B0604020202020204" pitchFamily="34" charset="0"/>
              </a:defRPr>
            </a:lvl2pPr>
            <a:lvl3pPr marL="1371600" indent="-457200" algn="l">
              <a:defRPr>
                <a:solidFill>
                  <a:schemeClr val="tx1"/>
                </a:solidFill>
                <a:latin typeface="Arial" panose="020B0604020202020204" pitchFamily="34" charset="0"/>
              </a:defRPr>
            </a:lvl3pPr>
            <a:lvl4pPr marL="1828800" indent="-457200" algn="l">
              <a:defRPr>
                <a:solidFill>
                  <a:schemeClr val="tx1"/>
                </a:solidFill>
                <a:latin typeface="Arial" panose="020B0604020202020204" pitchFamily="34" charset="0"/>
              </a:defRPr>
            </a:lvl4pPr>
            <a:lvl5pPr marL="2286000" indent="-457200" algn="l">
              <a:defRPr>
                <a:solidFill>
                  <a:schemeClr val="tx1"/>
                </a:solidFill>
                <a:latin typeface="Arial" panose="020B0604020202020204" pitchFamily="34" charset="0"/>
              </a:defRPr>
            </a:lvl5pPr>
            <a:lvl6pPr marL="2743200" indent="-457200" fontAlgn="base">
              <a:spcBef>
                <a:spcPct val="0"/>
              </a:spcBef>
              <a:spcAft>
                <a:spcPct val="0"/>
              </a:spcAft>
              <a:defRPr>
                <a:solidFill>
                  <a:schemeClr val="tx1"/>
                </a:solidFill>
                <a:latin typeface="Arial" panose="020B0604020202020204" pitchFamily="34" charset="0"/>
              </a:defRPr>
            </a:lvl6pPr>
            <a:lvl7pPr marL="3200400" indent="-457200" fontAlgn="base">
              <a:spcBef>
                <a:spcPct val="0"/>
              </a:spcBef>
              <a:spcAft>
                <a:spcPct val="0"/>
              </a:spcAft>
              <a:defRPr>
                <a:solidFill>
                  <a:schemeClr val="tx1"/>
                </a:solidFill>
                <a:latin typeface="Arial" panose="020B0604020202020204" pitchFamily="34" charset="0"/>
              </a:defRPr>
            </a:lvl7pPr>
            <a:lvl8pPr marL="3657600" indent="-457200" fontAlgn="base">
              <a:spcBef>
                <a:spcPct val="0"/>
              </a:spcBef>
              <a:spcAft>
                <a:spcPct val="0"/>
              </a:spcAft>
              <a:defRPr>
                <a:solidFill>
                  <a:schemeClr val="tx1"/>
                </a:solidFill>
                <a:latin typeface="Arial" panose="020B0604020202020204" pitchFamily="34" charset="0"/>
              </a:defRPr>
            </a:lvl8pPr>
            <a:lvl9pPr marL="4114800" indent="-457200" fontAlgn="base">
              <a:spcBef>
                <a:spcPct val="0"/>
              </a:spcBef>
              <a:spcAft>
                <a:spcPct val="0"/>
              </a:spcAft>
              <a:defRPr>
                <a:solidFill>
                  <a:schemeClr val="tx1"/>
                </a:solidFill>
                <a:latin typeface="Arial" panose="020B0604020202020204" pitchFamily="34" charset="0"/>
              </a:defRPr>
            </a:lvl9pPr>
          </a:lstStyle>
          <a:p>
            <a:pPr algn="ctr">
              <a:spcBef>
                <a:spcPct val="50000"/>
              </a:spcBef>
              <a:buClr>
                <a:schemeClr val="tx1"/>
              </a:buClr>
            </a:pPr>
            <a:r>
              <a:rPr lang="zh-CN" altLang="en-US" sz="3200" b="1">
                <a:solidFill>
                  <a:srgbClr val="FFFFFF"/>
                </a:solidFill>
                <a:ea typeface="宋体" panose="02010600030101010101" pitchFamily="2" charset="-122"/>
                <a:cs typeface="Arial" panose="020B0604020202020204" pitchFamily="34" charset="0"/>
              </a:rPr>
              <a:t>势垒电容    </a:t>
            </a:r>
            <a:endParaRPr lang="zh-CN" altLang="en-US" sz="3200" b="1">
              <a:solidFill>
                <a:srgbClr val="FFFFFF"/>
              </a:solidFill>
              <a:ea typeface="宋体" panose="02010600030101010101" pitchFamily="2" charset="-122"/>
              <a:cs typeface="Arial" panose="020B0604020202020204" pitchFamily="34" charset="0"/>
            </a:endParaRPr>
          </a:p>
        </p:txBody>
      </p:sp>
      <p:sp>
        <p:nvSpPr>
          <p:cNvPr id="63495" name="Text Box 7" descr="2"/>
          <p:cNvSpPr txBox="1">
            <a:spLocks noChangeArrowheads="1"/>
          </p:cNvSpPr>
          <p:nvPr/>
        </p:nvSpPr>
        <p:spPr bwMode="gray">
          <a:xfrm>
            <a:off x="1524000" y="1412876"/>
            <a:ext cx="8388350" cy="519113"/>
          </a:xfrm>
          <a:prstGeom prst="rect">
            <a:avLst/>
          </a:prstGeom>
          <a:noFill/>
          <a:ln>
            <a:noFill/>
          </a:ln>
          <a:effectLst/>
          <a:extLst>
            <a:ext uri="{909E8E84-426E-40DD-AFC4-6F175D3DCCD1}">
              <a14:hiddenFill xmlns:a14="http://schemas.microsoft.com/office/drawing/2010/main">
                <a:blipFill dpi="0" rotWithShape="1">
                  <a:blip r:embed="rId1"/>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b="1">
                <a:solidFill>
                  <a:schemeClr val="tx2"/>
                </a:solidFill>
                <a:ea typeface="宋体" panose="02010600030101010101" pitchFamily="2" charset="-122"/>
              </a:rPr>
              <a:t>对（</a:t>
            </a:r>
            <a:r>
              <a:rPr lang="en-US" altLang="zh-CN" sz="2800" b="1">
                <a:solidFill>
                  <a:schemeClr val="tx2"/>
                </a:solidFill>
                <a:ea typeface="宋体" panose="02010600030101010101" pitchFamily="2" charset="-122"/>
              </a:rPr>
              <a:t>6-77</a:t>
            </a:r>
            <a:r>
              <a:rPr lang="zh-CN" altLang="en-US" sz="2800" b="1">
                <a:solidFill>
                  <a:schemeClr val="tx2"/>
                </a:solidFill>
                <a:ea typeface="宋体" panose="02010600030101010101" pitchFamily="2" charset="-122"/>
              </a:rPr>
              <a:t>）式积分，得到势垒区中各点的电势为：</a:t>
            </a:r>
            <a:endParaRPr lang="zh-CN" altLang="en-US" sz="2800" b="1">
              <a:solidFill>
                <a:schemeClr val="tx2"/>
              </a:solidFill>
              <a:ea typeface="宋体" panose="02010600030101010101" pitchFamily="2" charset="-122"/>
            </a:endParaRPr>
          </a:p>
        </p:txBody>
      </p:sp>
      <p:pic>
        <p:nvPicPr>
          <p:cNvPr id="63500" name="Picture 12" descr="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2208214" y="2146300"/>
            <a:ext cx="7546975" cy="1498600"/>
          </a:xfrm>
          <a:prstGeom prst="rect">
            <a:avLst/>
          </a:prstGeom>
          <a:noFill/>
          <a:ln>
            <a:noFill/>
          </a:ln>
          <a:effectLst/>
          <a:extLst>
            <a:ext uri="{909E8E84-426E-40DD-AFC4-6F175D3DCCD1}">
              <a14:hiddenFill xmlns:a14="http://schemas.microsoft.com/office/drawing/2010/main">
                <a:blipFill dpi="0" rotWithShape="1">
                  <a:blip/>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3501" name="Text Box 13" descr="2"/>
          <p:cNvSpPr txBox="1">
            <a:spLocks noChangeArrowheads="1"/>
          </p:cNvSpPr>
          <p:nvPr/>
        </p:nvSpPr>
        <p:spPr bwMode="gray">
          <a:xfrm>
            <a:off x="1524000" y="3716338"/>
            <a:ext cx="9144000" cy="519112"/>
          </a:xfrm>
          <a:prstGeom prst="rect">
            <a:avLst/>
          </a:prstGeom>
          <a:noFill/>
          <a:ln>
            <a:noFill/>
          </a:ln>
          <a:effectLst/>
          <a:extLst>
            <a:ext uri="{909E8E84-426E-40DD-AFC4-6F175D3DCCD1}">
              <a14:hiddenFill xmlns:a14="http://schemas.microsoft.com/office/drawing/2010/main">
                <a:blipFill dpi="0" rotWithShape="1">
                  <a:blip r:embed="rId1"/>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a:solidFill>
                  <a:schemeClr val="tx2"/>
                </a:solidFill>
                <a:ea typeface="宋体" panose="02010600030101010101" pitchFamily="2" charset="-122"/>
              </a:rPr>
              <a:t>设</a:t>
            </a:r>
            <a:r>
              <a:rPr lang="en-US" altLang="zh-CN" sz="2800">
                <a:solidFill>
                  <a:schemeClr val="tx2"/>
                </a:solidFill>
                <a:ea typeface="宋体" panose="02010600030101010101" pitchFamily="2" charset="-122"/>
              </a:rPr>
              <a:t>p</a:t>
            </a:r>
            <a:r>
              <a:rPr lang="zh-CN" altLang="en-US" sz="2800">
                <a:solidFill>
                  <a:schemeClr val="tx2"/>
                </a:solidFill>
                <a:ea typeface="宋体" panose="02010600030101010101" pitchFamily="2" charset="-122"/>
              </a:rPr>
              <a:t>型中性区的电势为</a:t>
            </a:r>
            <a:r>
              <a:rPr lang="en-US" altLang="zh-CN" sz="2800">
                <a:solidFill>
                  <a:schemeClr val="tx2"/>
                </a:solidFill>
                <a:ea typeface="宋体" panose="02010600030101010101" pitchFamily="2" charset="-122"/>
              </a:rPr>
              <a:t>0</a:t>
            </a:r>
            <a:r>
              <a:rPr lang="zh-CN" altLang="en-US" sz="2800">
                <a:solidFill>
                  <a:schemeClr val="tx2"/>
                </a:solidFill>
                <a:ea typeface="宋体" panose="02010600030101010101" pitchFamily="2" charset="-122"/>
              </a:rPr>
              <a:t>，则在热平衡条件下边界条件为：</a:t>
            </a:r>
            <a:endParaRPr lang="zh-CN" altLang="en-US" sz="2800">
              <a:solidFill>
                <a:schemeClr val="tx2"/>
              </a:solidFill>
              <a:ea typeface="宋体" panose="02010600030101010101" pitchFamily="2" charset="-122"/>
            </a:endParaRPr>
          </a:p>
        </p:txBody>
      </p:sp>
      <p:pic>
        <p:nvPicPr>
          <p:cNvPr id="63502" name="Picture 14" descr="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gray">
          <a:xfrm>
            <a:off x="3503613" y="4292600"/>
            <a:ext cx="5264150" cy="508000"/>
          </a:xfrm>
          <a:prstGeom prst="rect">
            <a:avLst/>
          </a:prstGeom>
          <a:noFill/>
          <a:ln>
            <a:noFill/>
          </a:ln>
          <a:effectLst/>
          <a:extLst>
            <a:ext uri="{909E8E84-426E-40DD-AFC4-6F175D3DCCD1}">
              <a14:hiddenFill xmlns:a14="http://schemas.microsoft.com/office/drawing/2010/main">
                <a:blipFill dpi="0" rotWithShape="1">
                  <a:blip/>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3503" name="Picture 15" descr="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gray">
          <a:xfrm>
            <a:off x="3648076" y="4868864"/>
            <a:ext cx="4824413" cy="695325"/>
          </a:xfrm>
          <a:prstGeom prst="rect">
            <a:avLst/>
          </a:prstGeom>
          <a:noFill/>
          <a:ln>
            <a:noFill/>
          </a:ln>
          <a:effectLst/>
          <a:extLst>
            <a:ext uri="{909E8E84-426E-40DD-AFC4-6F175D3DCCD1}">
              <a14:hiddenFill xmlns:a14="http://schemas.microsoft.com/office/drawing/2010/main">
                <a:blipFill dpi="0" rotWithShape="1">
                  <a:blip/>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3504" name="Text Box 16" descr="2"/>
          <p:cNvSpPr txBox="1">
            <a:spLocks noChangeArrowheads="1"/>
          </p:cNvSpPr>
          <p:nvPr/>
        </p:nvSpPr>
        <p:spPr bwMode="gray">
          <a:xfrm>
            <a:off x="1847850" y="5013325"/>
            <a:ext cx="1511300" cy="457200"/>
          </a:xfrm>
          <a:prstGeom prst="rect">
            <a:avLst/>
          </a:prstGeom>
          <a:noFill/>
          <a:ln>
            <a:noFill/>
          </a:ln>
          <a:effectLst/>
          <a:extLst>
            <a:ext uri="{909E8E84-426E-40DD-AFC4-6F175D3DCCD1}">
              <a14:hiddenFill xmlns:a14="http://schemas.microsoft.com/office/drawing/2010/main">
                <a:blipFill dpi="0" rotWithShape="1">
                  <a:blip r:embed="rId1"/>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a:solidFill>
                  <a:schemeClr val="tx2"/>
                </a:solidFill>
                <a:ea typeface="宋体" panose="02010600030101010101" pitchFamily="2" charset="-122"/>
              </a:rPr>
              <a:t>可得：</a:t>
            </a:r>
            <a:endParaRPr lang="zh-CN" altLang="en-US" sz="2400">
              <a:solidFill>
                <a:schemeClr val="tx2"/>
              </a:solidFill>
              <a:ea typeface="宋体" panose="02010600030101010101" pitchFamily="2" charset="-122"/>
            </a:endParaRPr>
          </a:p>
        </p:txBody>
      </p:sp>
      <p:sp>
        <p:nvSpPr>
          <p:cNvPr id="63505" name="Text Box 17" descr="2"/>
          <p:cNvSpPr txBox="1">
            <a:spLocks noChangeArrowheads="1"/>
          </p:cNvSpPr>
          <p:nvPr/>
        </p:nvSpPr>
        <p:spPr bwMode="gray">
          <a:xfrm>
            <a:off x="2208213" y="5661026"/>
            <a:ext cx="7632700" cy="519113"/>
          </a:xfrm>
          <a:prstGeom prst="rect">
            <a:avLst/>
          </a:prstGeom>
          <a:noFill/>
          <a:ln>
            <a:noFill/>
          </a:ln>
          <a:effectLst/>
          <a:extLst>
            <a:ext uri="{909E8E84-426E-40DD-AFC4-6F175D3DCCD1}">
              <a14:hiddenFill xmlns:a14="http://schemas.microsoft.com/office/drawing/2010/main">
                <a:blipFill dpi="0" rotWithShape="1">
                  <a:blip r:embed="rId1"/>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b="1">
                <a:solidFill>
                  <a:schemeClr val="tx2"/>
                </a:solidFill>
                <a:ea typeface="宋体" panose="02010600030101010101" pitchFamily="2" charset="-122"/>
              </a:rPr>
              <a:t>由于在</a:t>
            </a:r>
            <a:r>
              <a:rPr lang="en-US" altLang="zh-CN" sz="2800" b="1">
                <a:solidFill>
                  <a:schemeClr val="tx2"/>
                </a:solidFill>
                <a:ea typeface="宋体" panose="02010600030101010101" pitchFamily="2" charset="-122"/>
              </a:rPr>
              <a:t>x=0</a:t>
            </a:r>
            <a:r>
              <a:rPr lang="zh-CN" altLang="en-US" sz="2800" b="1">
                <a:solidFill>
                  <a:schemeClr val="tx2"/>
                </a:solidFill>
                <a:ea typeface="宋体" panose="02010600030101010101" pitchFamily="2" charset="-122"/>
              </a:rPr>
              <a:t>处电势是连续的，所以</a:t>
            </a:r>
            <a:r>
              <a:rPr lang="en-US" altLang="zh-CN" sz="2800" b="1">
                <a:solidFill>
                  <a:schemeClr val="tx2"/>
                </a:solidFill>
                <a:ea typeface="宋体" panose="02010600030101010101" pitchFamily="2" charset="-122"/>
              </a:rPr>
              <a:t>D</a:t>
            </a:r>
            <a:r>
              <a:rPr lang="en-US" altLang="zh-CN" sz="2800" b="1" baseline="-25000">
                <a:solidFill>
                  <a:schemeClr val="tx2"/>
                </a:solidFill>
                <a:ea typeface="宋体" panose="02010600030101010101" pitchFamily="2" charset="-122"/>
              </a:rPr>
              <a:t>1</a:t>
            </a:r>
            <a:r>
              <a:rPr lang="en-US" altLang="zh-CN" sz="2800" b="1">
                <a:solidFill>
                  <a:schemeClr val="tx2"/>
                </a:solidFill>
                <a:ea typeface="宋体" panose="02010600030101010101" pitchFamily="2" charset="-122"/>
              </a:rPr>
              <a:t>=D</a:t>
            </a:r>
            <a:r>
              <a:rPr lang="en-US" altLang="zh-CN" sz="2800" b="1" baseline="-25000">
                <a:solidFill>
                  <a:schemeClr val="tx2"/>
                </a:solidFill>
                <a:ea typeface="宋体" panose="02010600030101010101" pitchFamily="2" charset="-122"/>
              </a:rPr>
              <a:t>2</a:t>
            </a:r>
            <a:endParaRPr lang="en-US" altLang="zh-CN" sz="2800" b="1" baseline="-25000">
              <a:solidFill>
                <a:schemeClr val="tx2"/>
              </a:solidFill>
              <a:ea typeface="宋体" panose="02010600030101010101" pitchFamily="2" charset="-122"/>
            </a:endParaRPr>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Text Box 3"/>
          <p:cNvSpPr txBox="1">
            <a:spLocks noChangeArrowheads="1"/>
          </p:cNvSpPr>
          <p:nvPr/>
        </p:nvSpPr>
        <p:spPr bwMode="white">
          <a:xfrm>
            <a:off x="3929063" y="5275263"/>
            <a:ext cx="449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292929">
                      <a:alpha val="50000"/>
                    </a:srgbClr>
                  </a:outerShdw>
                </a:effectLst>
              </a14:hiddenEffects>
            </a:ext>
          </a:extLst>
        </p:spPr>
        <p:txBody>
          <a:bodyPr>
            <a:spAutoFit/>
          </a:bodyPr>
          <a:lstStyle>
            <a:lvl1pPr marL="457200" indent="-457200" algn="l">
              <a:defRPr>
                <a:solidFill>
                  <a:schemeClr val="tx1"/>
                </a:solidFill>
                <a:latin typeface="Arial" panose="020B0604020202020204" pitchFamily="34" charset="0"/>
              </a:defRPr>
            </a:lvl1pPr>
            <a:lvl2pPr marL="914400" indent="-457200" algn="l">
              <a:defRPr>
                <a:solidFill>
                  <a:schemeClr val="tx1"/>
                </a:solidFill>
                <a:latin typeface="Arial" panose="020B0604020202020204" pitchFamily="34" charset="0"/>
              </a:defRPr>
            </a:lvl2pPr>
            <a:lvl3pPr marL="1371600" indent="-457200" algn="l">
              <a:defRPr>
                <a:solidFill>
                  <a:schemeClr val="tx1"/>
                </a:solidFill>
                <a:latin typeface="Arial" panose="020B0604020202020204" pitchFamily="34" charset="0"/>
              </a:defRPr>
            </a:lvl3pPr>
            <a:lvl4pPr marL="1828800" indent="-457200" algn="l">
              <a:defRPr>
                <a:solidFill>
                  <a:schemeClr val="tx1"/>
                </a:solidFill>
                <a:latin typeface="Arial" panose="020B0604020202020204" pitchFamily="34" charset="0"/>
              </a:defRPr>
            </a:lvl4pPr>
            <a:lvl5pPr marL="2286000" indent="-457200" algn="l">
              <a:defRPr>
                <a:solidFill>
                  <a:schemeClr val="tx1"/>
                </a:solidFill>
                <a:latin typeface="Arial" panose="020B0604020202020204" pitchFamily="34" charset="0"/>
              </a:defRPr>
            </a:lvl5pPr>
            <a:lvl6pPr marL="2743200" indent="-457200" fontAlgn="base">
              <a:spcBef>
                <a:spcPct val="0"/>
              </a:spcBef>
              <a:spcAft>
                <a:spcPct val="0"/>
              </a:spcAft>
              <a:defRPr>
                <a:solidFill>
                  <a:schemeClr val="tx1"/>
                </a:solidFill>
                <a:latin typeface="Arial" panose="020B0604020202020204" pitchFamily="34" charset="0"/>
              </a:defRPr>
            </a:lvl6pPr>
            <a:lvl7pPr marL="3200400" indent="-457200" fontAlgn="base">
              <a:spcBef>
                <a:spcPct val="0"/>
              </a:spcBef>
              <a:spcAft>
                <a:spcPct val="0"/>
              </a:spcAft>
              <a:defRPr>
                <a:solidFill>
                  <a:schemeClr val="tx1"/>
                </a:solidFill>
                <a:latin typeface="Arial" panose="020B0604020202020204" pitchFamily="34" charset="0"/>
              </a:defRPr>
            </a:lvl7pPr>
            <a:lvl8pPr marL="3657600" indent="-457200" fontAlgn="base">
              <a:spcBef>
                <a:spcPct val="0"/>
              </a:spcBef>
              <a:spcAft>
                <a:spcPct val="0"/>
              </a:spcAft>
              <a:defRPr>
                <a:solidFill>
                  <a:schemeClr val="tx1"/>
                </a:solidFill>
                <a:latin typeface="Arial" panose="020B0604020202020204" pitchFamily="34" charset="0"/>
              </a:defRPr>
            </a:lvl8pPr>
            <a:lvl9pPr marL="4114800" indent="-457200" fontAlgn="base">
              <a:spcBef>
                <a:spcPct val="0"/>
              </a:spcBef>
              <a:spcAft>
                <a:spcPct val="0"/>
              </a:spcAft>
              <a:defRPr>
                <a:solidFill>
                  <a:schemeClr val="tx1"/>
                </a:solidFill>
                <a:latin typeface="Arial" panose="020B0604020202020204" pitchFamily="34" charset="0"/>
              </a:defRPr>
            </a:lvl9pPr>
          </a:lstStyle>
          <a:p>
            <a:pPr algn="ctr">
              <a:spcBef>
                <a:spcPct val="50000"/>
              </a:spcBef>
              <a:buClr>
                <a:schemeClr val="tx1"/>
              </a:buClr>
            </a:pPr>
            <a:r>
              <a:rPr lang="en-US" altLang="zh-CN" sz="2400" b="1">
                <a:solidFill>
                  <a:srgbClr val="FFFFFF"/>
                </a:solidFill>
                <a:ea typeface="宋体" panose="02010600030101010101" pitchFamily="2" charset="-122"/>
                <a:cs typeface="Arial" panose="020B0604020202020204" pitchFamily="34" charset="0"/>
              </a:rPr>
              <a:t>Click to add title in here    </a:t>
            </a:r>
            <a:endParaRPr lang="en-US" altLang="zh-CN" sz="2400" b="1">
              <a:solidFill>
                <a:srgbClr val="FFFFFF"/>
              </a:solidFill>
              <a:ea typeface="宋体" panose="02010600030101010101" pitchFamily="2" charset="-122"/>
              <a:cs typeface="Arial" panose="020B0604020202020204" pitchFamily="34" charset="0"/>
            </a:endParaRPr>
          </a:p>
        </p:txBody>
      </p:sp>
      <p:sp>
        <p:nvSpPr>
          <p:cNvPr id="62471" name="Text Box 7" descr="2"/>
          <p:cNvSpPr txBox="1">
            <a:spLocks noChangeArrowheads="1"/>
          </p:cNvSpPr>
          <p:nvPr/>
        </p:nvSpPr>
        <p:spPr bwMode="gray">
          <a:xfrm>
            <a:off x="1774826" y="1268413"/>
            <a:ext cx="3241675" cy="519112"/>
          </a:xfrm>
          <a:prstGeom prst="rect">
            <a:avLst/>
          </a:prstGeom>
          <a:noFill/>
          <a:ln>
            <a:noFill/>
          </a:ln>
          <a:effectLst/>
          <a:extLst>
            <a:ext uri="{909E8E84-426E-40DD-AFC4-6F175D3DCCD1}">
              <a14:hiddenFill xmlns:a14="http://schemas.microsoft.com/office/drawing/2010/main">
                <a:blipFill dpi="0" rotWithShape="1">
                  <a:blip r:embed="rId1"/>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b="1">
                <a:solidFill>
                  <a:schemeClr val="tx2"/>
                </a:solidFill>
                <a:latin typeface="宋体" panose="02010600030101010101" pitchFamily="2" charset="-122"/>
                <a:ea typeface="宋体" panose="02010600030101010101" pitchFamily="2" charset="-122"/>
              </a:rPr>
              <a:t>将</a:t>
            </a:r>
            <a:r>
              <a:rPr lang="en-US" altLang="zh-CN" sz="2800" b="1">
                <a:solidFill>
                  <a:schemeClr val="tx2"/>
                </a:solidFill>
                <a:latin typeface="宋体" panose="02010600030101010101" pitchFamily="2" charset="-122"/>
                <a:ea typeface="宋体" panose="02010600030101010101" pitchFamily="2" charset="-122"/>
              </a:rPr>
              <a:t>D</a:t>
            </a:r>
            <a:r>
              <a:rPr lang="en-US" altLang="zh-CN" sz="2800" b="1" baseline="-25000">
                <a:solidFill>
                  <a:schemeClr val="tx2"/>
                </a:solidFill>
                <a:latin typeface="宋体" panose="02010600030101010101" pitchFamily="2" charset="-122"/>
                <a:ea typeface="宋体" panose="02010600030101010101" pitchFamily="2" charset="-122"/>
              </a:rPr>
              <a:t>1</a:t>
            </a:r>
            <a:r>
              <a:rPr lang="en-US" altLang="zh-CN" sz="2800" b="1">
                <a:solidFill>
                  <a:schemeClr val="tx2"/>
                </a:solidFill>
                <a:latin typeface="宋体" panose="02010600030101010101" pitchFamily="2" charset="-122"/>
                <a:ea typeface="宋体" panose="02010600030101010101" pitchFamily="2" charset="-122"/>
              </a:rPr>
              <a:t>=D</a:t>
            </a:r>
            <a:r>
              <a:rPr lang="en-US" altLang="zh-CN" sz="2800" b="1" baseline="-25000">
                <a:solidFill>
                  <a:schemeClr val="tx2"/>
                </a:solidFill>
                <a:latin typeface="宋体" panose="02010600030101010101" pitchFamily="2" charset="-122"/>
                <a:ea typeface="宋体" panose="02010600030101010101" pitchFamily="2" charset="-122"/>
              </a:rPr>
              <a:t>2</a:t>
            </a:r>
            <a:r>
              <a:rPr lang="zh-CN" altLang="en-US" sz="2800" b="1">
                <a:solidFill>
                  <a:schemeClr val="tx2"/>
                </a:solidFill>
                <a:latin typeface="宋体" panose="02010600030101010101" pitchFamily="2" charset="-122"/>
                <a:ea typeface="宋体" panose="02010600030101010101" pitchFamily="2" charset="-122"/>
              </a:rPr>
              <a:t>代入，得</a:t>
            </a:r>
            <a:endParaRPr lang="zh-CN" altLang="en-US" sz="2800" b="1">
              <a:solidFill>
                <a:schemeClr val="tx2"/>
              </a:solidFill>
              <a:latin typeface="宋体" panose="02010600030101010101" pitchFamily="2" charset="-122"/>
              <a:ea typeface="宋体" panose="02010600030101010101" pitchFamily="2" charset="-122"/>
            </a:endParaRPr>
          </a:p>
        </p:txBody>
      </p:sp>
      <p:pic>
        <p:nvPicPr>
          <p:cNvPr id="62476" name="Picture 12" descr="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5448300" y="4149726"/>
            <a:ext cx="4787900" cy="1992313"/>
          </a:xfrm>
          <a:prstGeom prst="rect">
            <a:avLst/>
          </a:prstGeom>
          <a:noFill/>
          <a:ln>
            <a:noFill/>
          </a:ln>
          <a:effectLst/>
          <a:extLst>
            <a:ext uri="{909E8E84-426E-40DD-AFC4-6F175D3DCCD1}">
              <a14:hiddenFill xmlns:a14="http://schemas.microsoft.com/office/drawing/2010/main">
                <a:blipFill dpi="0" rotWithShape="1">
                  <a:blip/>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2477" name="Picture 13" descr="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gray">
          <a:xfrm>
            <a:off x="1739901" y="2119314"/>
            <a:ext cx="8677275" cy="1597025"/>
          </a:xfrm>
          <a:prstGeom prst="rect">
            <a:avLst/>
          </a:prstGeom>
          <a:noFill/>
          <a:ln>
            <a:noFill/>
          </a:ln>
          <a:effectLst/>
          <a:extLst>
            <a:ext uri="{909E8E84-426E-40DD-AFC4-6F175D3DCCD1}">
              <a14:hiddenFill xmlns:a14="http://schemas.microsoft.com/office/drawing/2010/main">
                <a:blipFill dpi="0" rotWithShape="1">
                  <a:blip/>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2478" name="Text Box 14" descr="2"/>
          <p:cNvSpPr txBox="1">
            <a:spLocks noChangeArrowheads="1"/>
          </p:cNvSpPr>
          <p:nvPr/>
        </p:nvSpPr>
        <p:spPr bwMode="gray">
          <a:xfrm>
            <a:off x="1992314" y="4365626"/>
            <a:ext cx="3095625" cy="1200329"/>
          </a:xfrm>
          <a:prstGeom prst="rect">
            <a:avLst/>
          </a:prstGeom>
          <a:noFill/>
          <a:ln>
            <a:noFill/>
          </a:ln>
          <a:effectLst/>
          <a:extLst>
            <a:ext uri="{909E8E84-426E-40DD-AFC4-6F175D3DCCD1}">
              <a14:hiddenFill xmlns:a14="http://schemas.microsoft.com/office/drawing/2010/main">
                <a:blipFill dpi="0" rotWithShape="1">
                  <a:blip r:embed="rId1"/>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400" b="1">
                <a:solidFill>
                  <a:schemeClr val="tx2"/>
                </a:solidFill>
                <a:latin typeface="宋体" panose="02010600030101010101" pitchFamily="2" charset="-122"/>
                <a:ea typeface="宋体" panose="02010600030101010101" pitchFamily="2" charset="-122"/>
              </a:rPr>
              <a:t>在平衡</a:t>
            </a:r>
            <a:r>
              <a:rPr lang="en-US" altLang="zh-CN" sz="2400" b="1">
                <a:solidFill>
                  <a:schemeClr val="tx2"/>
                </a:solidFill>
                <a:latin typeface="宋体" panose="02010600030101010101" pitchFamily="2" charset="-122"/>
                <a:ea typeface="宋体" panose="02010600030101010101" pitchFamily="2" charset="-122"/>
              </a:rPr>
              <a:t>p-n</a:t>
            </a:r>
            <a:r>
              <a:rPr lang="zh-CN" altLang="en-US" sz="2400" b="1">
                <a:solidFill>
                  <a:schemeClr val="tx2"/>
                </a:solidFill>
                <a:latin typeface="宋体" panose="02010600030101010101" pitchFamily="2" charset="-122"/>
                <a:ea typeface="宋体" panose="02010600030101010101" pitchFamily="2" charset="-122"/>
              </a:rPr>
              <a:t>结的势垒区中，电势分布是抛物线形式</a:t>
            </a:r>
            <a:endParaRPr lang="zh-CN" altLang="en-US" sz="2400" b="1">
              <a:solidFill>
                <a:schemeClr val="tx2"/>
              </a:solidFill>
              <a:latin typeface="宋体" panose="02010600030101010101" pitchFamily="2" charset="-122"/>
              <a:ea typeface="宋体" panose="02010600030101010101" pitchFamily="2" charset="-122"/>
            </a:endParaRPr>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221" name="Group 5"/>
          <p:cNvGrpSpPr/>
          <p:nvPr/>
        </p:nvGrpSpPr>
        <p:grpSpPr bwMode="auto">
          <a:xfrm>
            <a:off x="1774826" y="2205039"/>
            <a:ext cx="3673475" cy="3455987"/>
            <a:chOff x="752" y="1413"/>
            <a:chExt cx="1321" cy="294"/>
          </a:xfrm>
        </p:grpSpPr>
        <p:sp>
          <p:nvSpPr>
            <p:cNvPr id="9222" name="AutoShape 6"/>
            <p:cNvSpPr>
              <a:spLocks noChangeArrowheads="1"/>
            </p:cNvSpPr>
            <p:nvPr/>
          </p:nvSpPr>
          <p:spPr bwMode="gray">
            <a:xfrm>
              <a:off x="752" y="1413"/>
              <a:ext cx="1321" cy="294"/>
            </a:xfrm>
            <a:prstGeom prst="roundRect">
              <a:avLst>
                <a:gd name="adj" fmla="val 50000"/>
              </a:avLst>
            </a:prstGeom>
            <a:gradFill rotWithShape="1">
              <a:gsLst>
                <a:gs pos="0">
                  <a:schemeClr val="accent2">
                    <a:gamma/>
                    <a:shade val="79216"/>
                    <a:invGamma/>
                  </a:schemeClr>
                </a:gs>
                <a:gs pos="50000">
                  <a:schemeClr val="accent2"/>
                </a:gs>
                <a:gs pos="100000">
                  <a:schemeClr val="accent2">
                    <a:gamma/>
                    <a:shade val="79216"/>
                    <a:invGamma/>
                  </a:schemeClr>
                </a:gs>
              </a:gsLst>
              <a:lin ang="0" scaled="1"/>
            </a:gradFill>
            <a:ln>
              <a:noFill/>
            </a:ln>
            <a:effectLst>
              <a:outerShdw dist="53882" dir="2700000" algn="ctr" rotWithShape="0">
                <a:srgbClr val="292929">
                  <a:alpha val="50000"/>
                </a:srgbClr>
              </a:outerShdw>
            </a:effectLst>
            <a:extLst>
              <a:ext uri="{91240B29-F687-4F45-9708-019B960494DF}">
                <a14:hiddenLine xmlns:a14="http://schemas.microsoft.com/office/drawing/2010/main" w="12700">
                  <a:solidFill>
                    <a:srgbClr val="659A1E"/>
                  </a:solidFill>
                  <a:round/>
                </a14:hiddenLine>
              </a:ext>
            </a:extLst>
          </p:spPr>
          <p:txBody>
            <a:bodyPr wrap="none" anchor="ctr"/>
            <a:lstStyle/>
            <a:p>
              <a:endParaRPr lang="zh-CN" altLang="en-US"/>
            </a:p>
          </p:txBody>
        </p:sp>
        <p:sp>
          <p:nvSpPr>
            <p:cNvPr id="9223" name="AutoShape 7"/>
            <p:cNvSpPr>
              <a:spLocks noChangeArrowheads="1"/>
            </p:cNvSpPr>
            <p:nvPr/>
          </p:nvSpPr>
          <p:spPr bwMode="gray">
            <a:xfrm flipH="1">
              <a:off x="2007" y="1457"/>
              <a:ext cx="59" cy="204"/>
            </a:xfrm>
            <a:prstGeom prst="moon">
              <a:avLst>
                <a:gd name="adj" fmla="val 22032"/>
              </a:avLst>
            </a:prstGeom>
            <a:gradFill rotWithShape="1">
              <a:gsLst>
                <a:gs pos="0">
                  <a:srgbClr val="FFFFFF">
                    <a:gamma/>
                    <a:shade val="46275"/>
                    <a:invGamma/>
                    <a:alpha val="0"/>
                  </a:srgbClr>
                </a:gs>
                <a:gs pos="50000">
                  <a:srgbClr val="FFFFFF">
                    <a:alpha val="84000"/>
                  </a:srgbClr>
                </a:gs>
                <a:gs pos="100000">
                  <a:srgbClr val="FFFFFF">
                    <a:gamma/>
                    <a:shade val="46275"/>
                    <a:invGamma/>
                    <a:alpha val="0"/>
                  </a:srgb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24" name="AutoShape 8"/>
            <p:cNvSpPr>
              <a:spLocks noChangeArrowheads="1"/>
            </p:cNvSpPr>
            <p:nvPr/>
          </p:nvSpPr>
          <p:spPr bwMode="gray">
            <a:xfrm>
              <a:off x="766" y="1457"/>
              <a:ext cx="59" cy="204"/>
            </a:xfrm>
            <a:prstGeom prst="moon">
              <a:avLst>
                <a:gd name="adj" fmla="val 22032"/>
              </a:avLst>
            </a:prstGeom>
            <a:gradFill rotWithShape="1">
              <a:gsLst>
                <a:gs pos="0">
                  <a:srgbClr val="FFFFFF">
                    <a:gamma/>
                    <a:shade val="46275"/>
                    <a:invGamma/>
                    <a:alpha val="0"/>
                  </a:srgbClr>
                </a:gs>
                <a:gs pos="50000">
                  <a:srgbClr val="FFFFFF">
                    <a:alpha val="84000"/>
                  </a:srgbClr>
                </a:gs>
                <a:gs pos="100000">
                  <a:srgbClr val="FFFFFF">
                    <a:gamma/>
                    <a:shade val="46275"/>
                    <a:invGamma/>
                    <a:alpha val="0"/>
                  </a:srgb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pic>
        <p:nvPicPr>
          <p:cNvPr id="9256" name="Picture 40" descr="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gray">
          <a:xfrm>
            <a:off x="5448300" y="2132014"/>
            <a:ext cx="5018088" cy="3673475"/>
          </a:xfrm>
          <a:prstGeom prst="rect">
            <a:avLst/>
          </a:prstGeom>
          <a:noFill/>
          <a:ln>
            <a:noFill/>
          </a:ln>
          <a:effectLst/>
          <a:extLst>
            <a:ext uri="{909E8E84-426E-40DD-AFC4-6F175D3DCCD1}">
              <a14:hiddenFill xmlns:a14="http://schemas.microsoft.com/office/drawing/2010/main">
                <a:blipFill dpi="0" rotWithShape="1">
                  <a:blip/>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257" name="Text Box 41" descr="2"/>
          <p:cNvSpPr txBox="1">
            <a:spLocks noChangeArrowheads="1"/>
          </p:cNvSpPr>
          <p:nvPr/>
        </p:nvSpPr>
        <p:spPr bwMode="gray">
          <a:xfrm>
            <a:off x="2279650" y="2636838"/>
            <a:ext cx="2952750" cy="2677656"/>
          </a:xfrm>
          <a:prstGeom prst="rect">
            <a:avLst/>
          </a:prstGeom>
          <a:noFill/>
          <a:ln>
            <a:noFill/>
          </a:ln>
          <a:effectLst/>
          <a:extLst>
            <a:ext uri="{909E8E84-426E-40DD-AFC4-6F175D3DCCD1}">
              <a14:hiddenFill xmlns:a14="http://schemas.microsoft.com/office/drawing/2010/main">
                <a:blipFill dpi="0" rotWithShape="1">
                  <a:blip r:embed="rId2"/>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400" b="1">
                <a:solidFill>
                  <a:srgbClr val="FFFFFF"/>
                </a:solidFill>
                <a:ea typeface="宋体" panose="02010600030101010101" pitchFamily="2" charset="-122"/>
              </a:rPr>
              <a:t>因</a:t>
            </a:r>
            <a:r>
              <a:rPr lang="en-US" altLang="zh-CN" sz="2400" b="1">
                <a:solidFill>
                  <a:srgbClr val="FFFFFF"/>
                </a:solidFill>
                <a:ea typeface="宋体" panose="02010600030101010101" pitchFamily="2" charset="-122"/>
              </a:rPr>
              <a:t>V(x)</a:t>
            </a:r>
            <a:r>
              <a:rPr lang="zh-CN" altLang="en-US" sz="2400" b="1">
                <a:solidFill>
                  <a:srgbClr val="FFFFFF"/>
                </a:solidFill>
                <a:ea typeface="宋体" panose="02010600030101010101" pitchFamily="2" charset="-122"/>
              </a:rPr>
              <a:t>表示点</a:t>
            </a:r>
            <a:r>
              <a:rPr lang="en-US" altLang="zh-CN" sz="2400" b="1">
                <a:solidFill>
                  <a:srgbClr val="FFFFFF"/>
                </a:solidFill>
                <a:ea typeface="宋体" panose="02010600030101010101" pitchFamily="2" charset="-122"/>
              </a:rPr>
              <a:t>x</a:t>
            </a:r>
            <a:r>
              <a:rPr lang="zh-CN" altLang="en-US" sz="2400" b="1">
                <a:solidFill>
                  <a:srgbClr val="FFFFFF"/>
                </a:solidFill>
                <a:ea typeface="宋体" panose="02010600030101010101" pitchFamily="2" charset="-122"/>
              </a:rPr>
              <a:t>处的电势，而</a:t>
            </a:r>
            <a:r>
              <a:rPr lang="en-US" altLang="zh-CN" sz="2400" b="1">
                <a:solidFill>
                  <a:srgbClr val="FFFFFF"/>
                </a:solidFill>
                <a:ea typeface="宋体" panose="02010600030101010101" pitchFamily="2" charset="-122"/>
              </a:rPr>
              <a:t>-qV</a:t>
            </a:r>
            <a:r>
              <a:rPr lang="zh-CN" altLang="en-US" sz="2400" b="1">
                <a:solidFill>
                  <a:srgbClr val="FFFFFF"/>
                </a:solidFill>
                <a:ea typeface="宋体" panose="02010600030101010101" pitchFamily="2" charset="-122"/>
              </a:rPr>
              <a:t>（</a:t>
            </a:r>
            <a:r>
              <a:rPr lang="en-US" altLang="zh-CN" sz="2400" b="1">
                <a:solidFill>
                  <a:srgbClr val="FFFFFF"/>
                </a:solidFill>
                <a:ea typeface="宋体" panose="02010600030101010101" pitchFamily="2" charset="-122"/>
              </a:rPr>
              <a:t>x</a:t>
            </a:r>
            <a:r>
              <a:rPr lang="zh-CN" altLang="en-US" sz="2400" b="1">
                <a:solidFill>
                  <a:srgbClr val="FFFFFF"/>
                </a:solidFill>
                <a:ea typeface="宋体" panose="02010600030101010101" pitchFamily="2" charset="-122"/>
              </a:rPr>
              <a:t>）表示电子在</a:t>
            </a:r>
            <a:r>
              <a:rPr lang="en-US" altLang="zh-CN" sz="2400" b="1">
                <a:solidFill>
                  <a:srgbClr val="FFFFFF"/>
                </a:solidFill>
                <a:ea typeface="宋体" panose="02010600030101010101" pitchFamily="2" charset="-122"/>
              </a:rPr>
              <a:t>x</a:t>
            </a:r>
            <a:r>
              <a:rPr lang="zh-CN" altLang="en-US" sz="2400" b="1">
                <a:solidFill>
                  <a:srgbClr val="FFFFFF"/>
                </a:solidFill>
                <a:ea typeface="宋体" panose="02010600030101010101" pitchFamily="2" charset="-122"/>
              </a:rPr>
              <a:t>点的电势能，能带如右图。可见，势垒区中能带变化趋势与电势变化趋势相反。</a:t>
            </a:r>
            <a:endParaRPr lang="zh-CN" altLang="en-US" sz="2400" b="1">
              <a:solidFill>
                <a:srgbClr val="FFFFFF"/>
              </a:solidFill>
              <a:ea typeface="宋体" panose="02010600030101010101" pitchFamily="2" charset="-122"/>
            </a:endParaRPr>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9" name="Text Box 9"/>
          <p:cNvSpPr txBox="1">
            <a:spLocks noChangeArrowheads="1"/>
          </p:cNvSpPr>
          <p:nvPr/>
        </p:nvSpPr>
        <p:spPr bwMode="gray">
          <a:xfrm>
            <a:off x="1524001" y="1341438"/>
            <a:ext cx="64801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buClr>
                <a:schemeClr val="tx2"/>
              </a:buClr>
              <a:buFont typeface="Wingdings" panose="05000000000000000000" pitchFamily="2" charset="2"/>
              <a:buNone/>
            </a:pPr>
            <a:r>
              <a:rPr lang="zh-CN" altLang="en-US" sz="2800" b="1">
                <a:solidFill>
                  <a:srgbClr val="000000"/>
                </a:solidFill>
                <a:ea typeface="宋体" panose="02010600030101010101" pitchFamily="2" charset="-122"/>
                <a:cs typeface="Arial" panose="020B0604020202020204" pitchFamily="34" charset="0"/>
              </a:rPr>
              <a:t>（</a:t>
            </a:r>
            <a:r>
              <a:rPr lang="en-US" altLang="zh-CN" sz="2800" b="1">
                <a:solidFill>
                  <a:srgbClr val="000000"/>
                </a:solidFill>
                <a:ea typeface="宋体" panose="02010600030101010101" pitchFamily="2" charset="-122"/>
                <a:cs typeface="Arial" panose="020B0604020202020204" pitchFamily="34" charset="0"/>
              </a:rPr>
              <a:t>2</a:t>
            </a:r>
            <a:r>
              <a:rPr lang="zh-CN" altLang="en-US" sz="2800" b="1">
                <a:solidFill>
                  <a:srgbClr val="000000"/>
                </a:solidFill>
                <a:ea typeface="宋体" panose="02010600030101010101" pitchFamily="2" charset="-122"/>
                <a:cs typeface="Arial" panose="020B0604020202020204" pitchFamily="34" charset="0"/>
              </a:rPr>
              <a:t>）突变结的势垒宽度</a:t>
            </a:r>
            <a:r>
              <a:rPr lang="en-US" altLang="zh-CN" sz="2800" b="1">
                <a:solidFill>
                  <a:srgbClr val="000000"/>
                </a:solidFill>
                <a:ea typeface="宋体" panose="02010600030101010101" pitchFamily="2" charset="-122"/>
                <a:cs typeface="Arial" panose="020B0604020202020204" pitchFamily="34" charset="0"/>
              </a:rPr>
              <a:t>X</a:t>
            </a:r>
            <a:r>
              <a:rPr lang="en-US" altLang="zh-CN" sz="2800" b="1" baseline="-25000">
                <a:solidFill>
                  <a:srgbClr val="000000"/>
                </a:solidFill>
                <a:ea typeface="宋体" panose="02010600030101010101" pitchFamily="2" charset="-122"/>
                <a:cs typeface="Arial" panose="020B0604020202020204" pitchFamily="34" charset="0"/>
              </a:rPr>
              <a:t>D</a:t>
            </a:r>
            <a:endParaRPr lang="en-US" altLang="zh-CN" sz="2800" b="1" baseline="-25000">
              <a:solidFill>
                <a:srgbClr val="000000"/>
              </a:solidFill>
              <a:ea typeface="宋体" panose="02010600030101010101" pitchFamily="2" charset="-122"/>
              <a:cs typeface="Arial" panose="020B0604020202020204" pitchFamily="34" charset="0"/>
            </a:endParaRPr>
          </a:p>
        </p:txBody>
      </p:sp>
      <p:sp>
        <p:nvSpPr>
          <p:cNvPr id="66570" name="Text Box 10"/>
          <p:cNvSpPr txBox="1">
            <a:spLocks noChangeArrowheads="1"/>
          </p:cNvSpPr>
          <p:nvPr/>
        </p:nvSpPr>
        <p:spPr bwMode="gray">
          <a:xfrm>
            <a:off x="1703389" y="1916113"/>
            <a:ext cx="684053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buClr>
                <a:schemeClr val="tx2"/>
              </a:buClr>
              <a:buFont typeface="Wingdings" panose="05000000000000000000" pitchFamily="2" charset="2"/>
              <a:buNone/>
            </a:pPr>
            <a:r>
              <a:rPr lang="zh-CN" altLang="en-US" sz="2800" b="1">
                <a:solidFill>
                  <a:schemeClr val="tx2"/>
                </a:solidFill>
                <a:ea typeface="宋体" panose="02010600030101010101" pitchFamily="2" charset="-122"/>
                <a:cs typeface="Arial" panose="020B0604020202020204" pitchFamily="34" charset="0"/>
              </a:rPr>
              <a:t>由前两式可以得到突变结接触电势差</a:t>
            </a:r>
            <a:r>
              <a:rPr lang="en-US" altLang="zh-CN" sz="2800" b="1">
                <a:solidFill>
                  <a:schemeClr val="tx2"/>
                </a:solidFill>
                <a:ea typeface="宋体" panose="02010600030101010101" pitchFamily="2" charset="-122"/>
                <a:cs typeface="Arial" panose="020B0604020202020204" pitchFamily="34" charset="0"/>
              </a:rPr>
              <a:t>V</a:t>
            </a:r>
            <a:r>
              <a:rPr lang="en-US" altLang="zh-CN" sz="2800" b="1" baseline="-25000">
                <a:solidFill>
                  <a:schemeClr val="tx2"/>
                </a:solidFill>
                <a:ea typeface="宋体" panose="02010600030101010101" pitchFamily="2" charset="-122"/>
                <a:cs typeface="Arial" panose="020B0604020202020204" pitchFamily="34" charset="0"/>
              </a:rPr>
              <a:t>D</a:t>
            </a:r>
            <a:endParaRPr lang="zh-CN" altLang="en-US" sz="2800" b="1" baseline="-25000">
              <a:solidFill>
                <a:schemeClr val="tx2"/>
              </a:solidFill>
              <a:ea typeface="宋体" panose="02010600030101010101" pitchFamily="2" charset="-122"/>
              <a:cs typeface="Arial" panose="020B0604020202020204" pitchFamily="34" charset="0"/>
            </a:endParaRPr>
          </a:p>
        </p:txBody>
      </p:sp>
      <p:pic>
        <p:nvPicPr>
          <p:cNvPr id="66571" name="Picture 11" descr="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gray">
          <a:xfrm>
            <a:off x="3575050" y="2636839"/>
            <a:ext cx="4489450" cy="865187"/>
          </a:xfrm>
          <a:prstGeom prst="rect">
            <a:avLst/>
          </a:prstGeom>
          <a:noFill/>
          <a:ln>
            <a:noFill/>
          </a:ln>
          <a:effectLst/>
          <a:extLst>
            <a:ext uri="{909E8E84-426E-40DD-AFC4-6F175D3DCCD1}">
              <a14:hiddenFill xmlns:a14="http://schemas.microsoft.com/office/drawing/2010/main">
                <a:blipFill dpi="0" rotWithShape="1">
                  <a:blip/>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6572" name="Text Box 12"/>
          <p:cNvSpPr txBox="1">
            <a:spLocks noChangeArrowheads="1"/>
          </p:cNvSpPr>
          <p:nvPr/>
        </p:nvSpPr>
        <p:spPr bwMode="gray">
          <a:xfrm>
            <a:off x="1919289" y="3573463"/>
            <a:ext cx="64801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buClr>
                <a:schemeClr val="tx2"/>
              </a:buClr>
              <a:buFont typeface="Wingdings" panose="05000000000000000000" pitchFamily="2" charset="2"/>
              <a:buNone/>
            </a:pPr>
            <a:r>
              <a:rPr lang="zh-CN" altLang="en-US" sz="2800" b="1">
                <a:solidFill>
                  <a:schemeClr val="tx2"/>
                </a:solidFill>
                <a:ea typeface="宋体" panose="02010600030101010101" pitchFamily="2" charset="-122"/>
                <a:cs typeface="Arial" panose="020B0604020202020204" pitchFamily="34" charset="0"/>
              </a:rPr>
              <a:t>因为</a:t>
            </a:r>
            <a:r>
              <a:rPr lang="en-US" altLang="zh-CN" sz="2800" b="1">
                <a:solidFill>
                  <a:schemeClr val="tx2"/>
                </a:solidFill>
                <a:ea typeface="宋体" panose="02010600030101010101" pitchFamily="2" charset="-122"/>
                <a:cs typeface="Arial" panose="020B0604020202020204" pitchFamily="34" charset="0"/>
              </a:rPr>
              <a:t>X</a:t>
            </a:r>
            <a:r>
              <a:rPr lang="en-US" altLang="zh-CN" sz="2800" b="1" baseline="-25000">
                <a:solidFill>
                  <a:schemeClr val="tx2"/>
                </a:solidFill>
                <a:ea typeface="宋体" panose="02010600030101010101" pitchFamily="2" charset="-122"/>
                <a:cs typeface="Arial" panose="020B0604020202020204" pitchFamily="34" charset="0"/>
              </a:rPr>
              <a:t>D</a:t>
            </a:r>
            <a:r>
              <a:rPr lang="en-US" altLang="zh-CN" sz="2800" b="1">
                <a:solidFill>
                  <a:schemeClr val="tx2"/>
                </a:solidFill>
                <a:ea typeface="宋体" panose="02010600030101010101" pitchFamily="2" charset="-122"/>
                <a:cs typeface="Arial" panose="020B0604020202020204" pitchFamily="34" charset="0"/>
              </a:rPr>
              <a:t>=x</a:t>
            </a:r>
            <a:r>
              <a:rPr lang="en-US" altLang="zh-CN" sz="2800" b="1" baseline="-25000">
                <a:solidFill>
                  <a:schemeClr val="tx2"/>
                </a:solidFill>
                <a:ea typeface="宋体" panose="02010600030101010101" pitchFamily="2" charset="-122"/>
                <a:cs typeface="Arial" panose="020B0604020202020204" pitchFamily="34" charset="0"/>
              </a:rPr>
              <a:t>n</a:t>
            </a:r>
            <a:r>
              <a:rPr lang="en-US" altLang="zh-CN" sz="2800" b="1">
                <a:solidFill>
                  <a:schemeClr val="tx2"/>
                </a:solidFill>
                <a:ea typeface="宋体" panose="02010600030101010101" pitchFamily="2" charset="-122"/>
                <a:cs typeface="Arial" panose="020B0604020202020204" pitchFamily="34" charset="0"/>
              </a:rPr>
              <a:t>+x</a:t>
            </a:r>
            <a:r>
              <a:rPr lang="en-US" altLang="zh-CN" sz="2800" b="1" baseline="-25000">
                <a:solidFill>
                  <a:schemeClr val="tx2"/>
                </a:solidFill>
                <a:ea typeface="宋体" panose="02010600030101010101" pitchFamily="2" charset="-122"/>
                <a:cs typeface="Arial" panose="020B0604020202020204" pitchFamily="34" charset="0"/>
              </a:rPr>
              <a:t>p</a:t>
            </a:r>
            <a:r>
              <a:rPr lang="zh-CN" altLang="en-US" sz="2800" b="1">
                <a:solidFill>
                  <a:schemeClr val="tx2"/>
                </a:solidFill>
                <a:ea typeface="宋体" panose="02010600030101010101" pitchFamily="2" charset="-122"/>
                <a:cs typeface="Arial" panose="020B0604020202020204" pitchFamily="34" charset="0"/>
              </a:rPr>
              <a:t>，及</a:t>
            </a:r>
            <a:r>
              <a:rPr lang="en-US" altLang="zh-CN" sz="2800" b="1">
                <a:solidFill>
                  <a:schemeClr val="tx2"/>
                </a:solidFill>
                <a:ea typeface="宋体" panose="02010600030101010101" pitchFamily="2" charset="-122"/>
                <a:cs typeface="Arial" panose="020B0604020202020204" pitchFamily="34" charset="0"/>
              </a:rPr>
              <a:t>N</a:t>
            </a:r>
            <a:r>
              <a:rPr lang="en-US" altLang="zh-CN" sz="2800" b="1" baseline="-25000">
                <a:solidFill>
                  <a:schemeClr val="tx2"/>
                </a:solidFill>
                <a:ea typeface="宋体" panose="02010600030101010101" pitchFamily="2" charset="-122"/>
                <a:cs typeface="Arial" panose="020B0604020202020204" pitchFamily="34" charset="0"/>
              </a:rPr>
              <a:t>A</a:t>
            </a:r>
            <a:r>
              <a:rPr lang="en-US" altLang="zh-CN" sz="2800" b="1">
                <a:solidFill>
                  <a:schemeClr val="tx2"/>
                </a:solidFill>
                <a:ea typeface="宋体" panose="02010600030101010101" pitchFamily="2" charset="-122"/>
                <a:cs typeface="Arial" panose="020B0604020202020204" pitchFamily="34" charset="0"/>
              </a:rPr>
              <a:t>x</a:t>
            </a:r>
            <a:r>
              <a:rPr lang="en-US" altLang="zh-CN" sz="2800" b="1" baseline="-25000">
                <a:solidFill>
                  <a:schemeClr val="tx2"/>
                </a:solidFill>
                <a:ea typeface="宋体" panose="02010600030101010101" pitchFamily="2" charset="-122"/>
                <a:cs typeface="Arial" panose="020B0604020202020204" pitchFamily="34" charset="0"/>
              </a:rPr>
              <a:t>p</a:t>
            </a:r>
            <a:r>
              <a:rPr lang="en-US" altLang="zh-CN" sz="2800" b="1">
                <a:solidFill>
                  <a:schemeClr val="tx2"/>
                </a:solidFill>
                <a:ea typeface="宋体" panose="02010600030101010101" pitchFamily="2" charset="-122"/>
                <a:cs typeface="Arial" panose="020B0604020202020204" pitchFamily="34" charset="0"/>
              </a:rPr>
              <a:t>=N</a:t>
            </a:r>
            <a:r>
              <a:rPr lang="en-US" altLang="zh-CN" sz="2800" b="1" baseline="-25000">
                <a:solidFill>
                  <a:schemeClr val="tx2"/>
                </a:solidFill>
                <a:ea typeface="宋体" panose="02010600030101010101" pitchFamily="2" charset="-122"/>
                <a:cs typeface="Arial" panose="020B0604020202020204" pitchFamily="34" charset="0"/>
              </a:rPr>
              <a:t>D</a:t>
            </a:r>
            <a:r>
              <a:rPr lang="en-US" altLang="zh-CN" sz="2800" b="1">
                <a:solidFill>
                  <a:schemeClr val="tx2"/>
                </a:solidFill>
                <a:ea typeface="宋体" panose="02010600030101010101" pitchFamily="2" charset="-122"/>
                <a:cs typeface="Arial" panose="020B0604020202020204" pitchFamily="34" charset="0"/>
              </a:rPr>
              <a:t>x</a:t>
            </a:r>
            <a:r>
              <a:rPr lang="en-US" altLang="zh-CN" sz="2800" b="1" baseline="-25000">
                <a:solidFill>
                  <a:schemeClr val="tx2"/>
                </a:solidFill>
                <a:ea typeface="宋体" panose="02010600030101010101" pitchFamily="2" charset="-122"/>
                <a:cs typeface="Arial" panose="020B0604020202020204" pitchFamily="34" charset="0"/>
              </a:rPr>
              <a:t>n</a:t>
            </a:r>
            <a:r>
              <a:rPr lang="zh-CN" altLang="en-US" sz="2800" b="1" baseline="-25000">
                <a:solidFill>
                  <a:schemeClr val="tx2"/>
                </a:solidFill>
                <a:ea typeface="宋体" panose="02010600030101010101" pitchFamily="2" charset="-122"/>
                <a:cs typeface="Arial" panose="020B0604020202020204" pitchFamily="34" charset="0"/>
              </a:rPr>
              <a:t>，</a:t>
            </a:r>
            <a:r>
              <a:rPr lang="zh-CN" altLang="en-US" sz="2800" b="1">
                <a:solidFill>
                  <a:schemeClr val="tx2"/>
                </a:solidFill>
                <a:ea typeface="宋体" panose="02010600030101010101" pitchFamily="2" charset="-122"/>
                <a:cs typeface="Arial" panose="020B0604020202020204" pitchFamily="34" charset="0"/>
              </a:rPr>
              <a:t>得</a:t>
            </a:r>
            <a:endParaRPr lang="zh-CN" altLang="en-US" sz="2800" b="1">
              <a:solidFill>
                <a:schemeClr val="tx2"/>
              </a:solidFill>
              <a:ea typeface="宋体" panose="02010600030101010101" pitchFamily="2" charset="-122"/>
              <a:cs typeface="Arial" panose="020B0604020202020204" pitchFamily="34" charset="0"/>
            </a:endParaRPr>
          </a:p>
        </p:txBody>
      </p:sp>
      <p:pic>
        <p:nvPicPr>
          <p:cNvPr id="66573" name="Picture 13" descr="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3503614" y="4221164"/>
            <a:ext cx="5641975" cy="828675"/>
          </a:xfrm>
          <a:prstGeom prst="rect">
            <a:avLst/>
          </a:prstGeom>
          <a:noFill/>
          <a:ln>
            <a:noFill/>
          </a:ln>
          <a:effectLst/>
          <a:extLst>
            <a:ext uri="{909E8E84-426E-40DD-AFC4-6F175D3DCCD1}">
              <a14:hiddenFill xmlns:a14="http://schemas.microsoft.com/office/drawing/2010/main">
                <a:blipFill dpi="0" rotWithShape="1">
                  <a:blip/>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6574" name="Text Box 14" descr="2"/>
          <p:cNvSpPr txBox="1">
            <a:spLocks noChangeArrowheads="1"/>
          </p:cNvSpPr>
          <p:nvPr/>
        </p:nvSpPr>
        <p:spPr bwMode="gray">
          <a:xfrm>
            <a:off x="2640013" y="5564188"/>
            <a:ext cx="1295400" cy="457200"/>
          </a:xfrm>
          <a:prstGeom prst="rect">
            <a:avLst/>
          </a:prstGeom>
          <a:noFill/>
          <a:ln>
            <a:noFill/>
          </a:ln>
          <a:effectLst/>
          <a:extLst>
            <a:ext uri="{909E8E84-426E-40DD-AFC4-6F175D3DCCD1}">
              <a14:hiddenFill xmlns:a14="http://schemas.microsoft.com/office/drawing/2010/main">
                <a:blipFill dpi="0" rotWithShape="1">
                  <a:blip r:embed="rId3"/>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a:solidFill>
                  <a:schemeClr val="tx2"/>
                </a:solidFill>
                <a:ea typeface="宋体" panose="02010600030101010101" pitchFamily="2" charset="-122"/>
              </a:rPr>
              <a:t>则</a:t>
            </a:r>
            <a:endParaRPr lang="zh-CN" altLang="en-US" sz="2400">
              <a:solidFill>
                <a:schemeClr val="tx2"/>
              </a:solidFill>
              <a:ea typeface="宋体" panose="02010600030101010101" pitchFamily="2" charset="-122"/>
            </a:endParaRPr>
          </a:p>
        </p:txBody>
      </p:sp>
      <p:pic>
        <p:nvPicPr>
          <p:cNvPr id="66575" name="Picture 15" descr="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gray">
          <a:xfrm>
            <a:off x="3863976" y="5300664"/>
            <a:ext cx="4532313" cy="833437"/>
          </a:xfrm>
          <a:prstGeom prst="rect">
            <a:avLst/>
          </a:prstGeom>
          <a:noFill/>
          <a:ln>
            <a:noFill/>
          </a:ln>
          <a:effectLst/>
          <a:extLst>
            <a:ext uri="{909E8E84-426E-40DD-AFC4-6F175D3DCCD1}">
              <a14:hiddenFill xmlns:a14="http://schemas.microsoft.com/office/drawing/2010/main">
                <a:blipFill dpi="0" rotWithShape="1">
                  <a:blip/>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808" name="Picture 8" descr="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gray">
          <a:xfrm>
            <a:off x="3648075" y="1341439"/>
            <a:ext cx="4910138" cy="935037"/>
          </a:xfrm>
          <a:prstGeom prst="rect">
            <a:avLst/>
          </a:prstGeom>
          <a:noFill/>
          <a:ln>
            <a:noFill/>
          </a:ln>
          <a:effectLst/>
          <a:extLst>
            <a:ext uri="{909E8E84-426E-40DD-AFC4-6F175D3DCCD1}">
              <a14:hiddenFill xmlns:a14="http://schemas.microsoft.com/office/drawing/2010/main">
                <a:blipFill dpi="0" rotWithShape="1">
                  <a:blip/>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6809" name="Picture 9" descr="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2927351" y="2997201"/>
            <a:ext cx="5726113" cy="1000125"/>
          </a:xfrm>
          <a:prstGeom prst="rect">
            <a:avLst/>
          </a:prstGeom>
          <a:noFill/>
          <a:ln>
            <a:noFill/>
          </a:ln>
          <a:effectLst/>
          <a:extLst>
            <a:ext uri="{909E8E84-426E-40DD-AFC4-6F175D3DCCD1}">
              <a14:hiddenFill xmlns:a14="http://schemas.microsoft.com/office/drawing/2010/main">
                <a:blipFill dpi="0" rotWithShape="1">
                  <a:blip/>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6810" name="Text Box 10" descr="2"/>
          <p:cNvSpPr txBox="1">
            <a:spLocks noChangeArrowheads="1"/>
          </p:cNvSpPr>
          <p:nvPr/>
        </p:nvSpPr>
        <p:spPr bwMode="gray">
          <a:xfrm>
            <a:off x="1847851" y="2276476"/>
            <a:ext cx="4176713" cy="519113"/>
          </a:xfrm>
          <a:prstGeom prst="rect">
            <a:avLst/>
          </a:prstGeom>
          <a:noFill/>
          <a:ln>
            <a:noFill/>
          </a:ln>
          <a:effectLst/>
          <a:extLst>
            <a:ext uri="{909E8E84-426E-40DD-AFC4-6F175D3DCCD1}">
              <a14:hiddenFill xmlns:a14="http://schemas.microsoft.com/office/drawing/2010/main">
                <a:blipFill dpi="0" rotWithShape="1">
                  <a:blip r:embed="rId3"/>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800">
                <a:solidFill>
                  <a:schemeClr val="tx2"/>
                </a:solidFill>
                <a:ea typeface="宋体" panose="02010600030101010101" pitchFamily="2" charset="-122"/>
              </a:rPr>
              <a:t>因而势垒宽度</a:t>
            </a:r>
            <a:r>
              <a:rPr lang="en-US" altLang="zh-CN" sz="2800">
                <a:solidFill>
                  <a:schemeClr val="tx2"/>
                </a:solidFill>
                <a:ea typeface="宋体" panose="02010600030101010101" pitchFamily="2" charset="-122"/>
              </a:rPr>
              <a:t>X</a:t>
            </a:r>
            <a:r>
              <a:rPr lang="en-US" altLang="zh-CN" sz="2800" baseline="-25000">
                <a:solidFill>
                  <a:schemeClr val="tx2"/>
                </a:solidFill>
                <a:ea typeface="宋体" panose="02010600030101010101" pitchFamily="2" charset="-122"/>
              </a:rPr>
              <a:t>D</a:t>
            </a:r>
            <a:r>
              <a:rPr lang="zh-CN" altLang="en-US" sz="2800">
                <a:solidFill>
                  <a:schemeClr val="tx2"/>
                </a:solidFill>
                <a:ea typeface="宋体" panose="02010600030101010101" pitchFamily="2" charset="-122"/>
              </a:rPr>
              <a:t>为：</a:t>
            </a:r>
            <a:endParaRPr lang="zh-CN" altLang="en-US" sz="2800">
              <a:solidFill>
                <a:schemeClr val="tx2"/>
              </a:solidFill>
              <a:ea typeface="宋体" panose="02010600030101010101" pitchFamily="2" charset="-122"/>
            </a:endParaRPr>
          </a:p>
        </p:txBody>
      </p:sp>
      <p:sp>
        <p:nvSpPr>
          <p:cNvPr id="76811" name="Text Box 11" descr="2"/>
          <p:cNvSpPr txBox="1">
            <a:spLocks noChangeArrowheads="1"/>
          </p:cNvSpPr>
          <p:nvPr/>
        </p:nvSpPr>
        <p:spPr bwMode="gray">
          <a:xfrm>
            <a:off x="1919289" y="4292601"/>
            <a:ext cx="8135937" cy="1800225"/>
          </a:xfrm>
          <a:prstGeom prst="rect">
            <a:avLst/>
          </a:prstGeom>
          <a:noFill/>
          <a:ln>
            <a:noFill/>
          </a:ln>
          <a:effectLst/>
          <a:extLst>
            <a:ext uri="{909E8E84-426E-40DD-AFC4-6F175D3DCCD1}">
              <a14:hiddenFill xmlns:a14="http://schemas.microsoft.com/office/drawing/2010/main">
                <a:blipFill dpi="0" rotWithShape="1">
                  <a:blip r:embed="rId3"/>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800">
                <a:solidFill>
                  <a:schemeClr val="tx2"/>
                </a:solidFill>
                <a:ea typeface="宋体" panose="02010600030101010101" pitchFamily="2" charset="-122"/>
              </a:rPr>
              <a:t>上式表示了突变结的势垒宽度和杂质浓度以及接触电势差的关系。大体可以认为：杂质浓度越高，势垒宽度越小。当杂质浓度一定时，接触电势差大的突变结对应于宽的势垒宽度。</a:t>
            </a:r>
            <a:endParaRPr lang="zh-CN" altLang="en-US" sz="2800">
              <a:solidFill>
                <a:schemeClr val="tx2"/>
              </a:solidFill>
              <a:ea typeface="宋体" panose="02010600030101010101" pitchFamily="2" charset="-122"/>
            </a:endParaRPr>
          </a:p>
        </p:txBody>
      </p:sp>
      <p:sp>
        <p:nvSpPr>
          <p:cNvPr id="76812" name="Text Box 12" descr="2"/>
          <p:cNvSpPr txBox="1">
            <a:spLocks noChangeArrowheads="1"/>
          </p:cNvSpPr>
          <p:nvPr/>
        </p:nvSpPr>
        <p:spPr bwMode="gray">
          <a:xfrm>
            <a:off x="2279650" y="1557338"/>
            <a:ext cx="1295400" cy="457200"/>
          </a:xfrm>
          <a:prstGeom prst="rect">
            <a:avLst/>
          </a:prstGeom>
          <a:noFill/>
          <a:ln>
            <a:noFill/>
          </a:ln>
          <a:effectLst/>
          <a:extLst>
            <a:ext uri="{909E8E84-426E-40DD-AFC4-6F175D3DCCD1}">
              <a14:hiddenFill xmlns:a14="http://schemas.microsoft.com/office/drawing/2010/main">
                <a:blipFill dpi="0" rotWithShape="1">
                  <a:blip r:embed="rId3"/>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a:solidFill>
                  <a:schemeClr val="tx2"/>
                </a:solidFill>
                <a:ea typeface="宋体" panose="02010600030101010101" pitchFamily="2" charset="-122"/>
              </a:rPr>
              <a:t>于是</a:t>
            </a:r>
            <a:endParaRPr lang="zh-CN" altLang="en-US" sz="2400">
              <a:solidFill>
                <a:schemeClr val="tx2"/>
              </a:solidFill>
              <a:ea typeface="宋体" panose="02010600030101010101" pitchFamily="2" charset="-122"/>
            </a:endParaRPr>
          </a:p>
        </p:txBody>
      </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Text Box 2" descr="2"/>
          <p:cNvSpPr txBox="1">
            <a:spLocks noChangeArrowheads="1"/>
          </p:cNvSpPr>
          <p:nvPr/>
        </p:nvSpPr>
        <p:spPr bwMode="gray">
          <a:xfrm>
            <a:off x="1847851" y="1341438"/>
            <a:ext cx="8353425" cy="519112"/>
          </a:xfrm>
          <a:prstGeom prst="rect">
            <a:avLst/>
          </a:prstGeom>
          <a:noFill/>
          <a:ln>
            <a:noFill/>
          </a:ln>
          <a:effectLst/>
          <a:extLst>
            <a:ext uri="{909E8E84-426E-40DD-AFC4-6F175D3DCCD1}">
              <a14:hiddenFill xmlns:a14="http://schemas.microsoft.com/office/drawing/2010/main">
                <a:blipFill dpi="0" rotWithShape="1">
                  <a:blip r:embed="rId1"/>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800" b="1">
                <a:solidFill>
                  <a:schemeClr val="tx2"/>
                </a:solidFill>
                <a:ea typeface="宋体" panose="02010600030101010101" pitchFamily="2" charset="-122"/>
              </a:rPr>
              <a:t>对于</a:t>
            </a:r>
            <a:r>
              <a:rPr lang="en-US" altLang="zh-CN" sz="2800" b="1">
                <a:solidFill>
                  <a:schemeClr val="tx2"/>
                </a:solidFill>
                <a:ea typeface="宋体" panose="02010600030101010101" pitchFamily="2" charset="-122"/>
              </a:rPr>
              <a:t>p</a:t>
            </a:r>
            <a:r>
              <a:rPr lang="en-US" altLang="zh-CN" sz="2800" b="1" baseline="30000">
                <a:solidFill>
                  <a:schemeClr val="tx2"/>
                </a:solidFill>
                <a:ea typeface="宋体" panose="02010600030101010101" pitchFamily="2" charset="-122"/>
              </a:rPr>
              <a:t>+</a:t>
            </a:r>
            <a:r>
              <a:rPr lang="en-US" altLang="zh-CN" sz="2800" b="1">
                <a:solidFill>
                  <a:schemeClr val="tx2"/>
                </a:solidFill>
                <a:ea typeface="宋体" panose="02010600030101010101" pitchFamily="2" charset="-122"/>
              </a:rPr>
              <a:t>-n</a:t>
            </a:r>
            <a:r>
              <a:rPr lang="zh-CN" altLang="en-US" sz="2800" b="1">
                <a:solidFill>
                  <a:schemeClr val="tx2"/>
                </a:solidFill>
                <a:ea typeface="宋体" panose="02010600030101010101" pitchFamily="2" charset="-122"/>
              </a:rPr>
              <a:t>结，因</a:t>
            </a:r>
            <a:r>
              <a:rPr lang="en-US" altLang="zh-CN" sz="2800" b="1">
                <a:solidFill>
                  <a:schemeClr val="tx2"/>
                </a:solidFill>
                <a:ea typeface="宋体" panose="02010600030101010101" pitchFamily="2" charset="-122"/>
              </a:rPr>
              <a:t>N</a:t>
            </a:r>
            <a:r>
              <a:rPr lang="en-US" altLang="zh-CN" sz="2800" b="1" baseline="-25000">
                <a:solidFill>
                  <a:schemeClr val="tx2"/>
                </a:solidFill>
                <a:ea typeface="宋体" panose="02010600030101010101" pitchFamily="2" charset="-122"/>
              </a:rPr>
              <a:t>A</a:t>
            </a:r>
            <a:r>
              <a:rPr lang="en-US" altLang="zh-CN" sz="2800" b="1">
                <a:solidFill>
                  <a:schemeClr val="tx2"/>
                </a:solidFill>
                <a:ea typeface="宋体" panose="02010600030101010101" pitchFamily="2" charset="-122"/>
              </a:rPr>
              <a:t>》N</a:t>
            </a:r>
            <a:r>
              <a:rPr lang="en-US" altLang="zh-CN" sz="2800" b="1" baseline="-25000">
                <a:solidFill>
                  <a:schemeClr val="tx2"/>
                </a:solidFill>
                <a:ea typeface="宋体" panose="02010600030101010101" pitchFamily="2" charset="-122"/>
              </a:rPr>
              <a:t>D</a:t>
            </a:r>
            <a:r>
              <a:rPr lang="zh-CN" altLang="en-US" sz="2800" b="1">
                <a:solidFill>
                  <a:schemeClr val="tx2"/>
                </a:solidFill>
                <a:ea typeface="宋体" panose="02010600030101010101" pitchFamily="2" charset="-122"/>
              </a:rPr>
              <a:t>，</a:t>
            </a:r>
            <a:r>
              <a:rPr lang="en-US" altLang="zh-CN" sz="2800" b="1">
                <a:solidFill>
                  <a:schemeClr val="tx2"/>
                </a:solidFill>
                <a:ea typeface="宋体" panose="02010600030101010101" pitchFamily="2" charset="-122"/>
              </a:rPr>
              <a:t>x</a:t>
            </a:r>
            <a:r>
              <a:rPr lang="en-US" altLang="zh-CN" sz="2800" b="1" baseline="-25000">
                <a:solidFill>
                  <a:schemeClr val="tx2"/>
                </a:solidFill>
                <a:ea typeface="宋体" panose="02010600030101010101" pitchFamily="2" charset="-122"/>
              </a:rPr>
              <a:t>n</a:t>
            </a:r>
            <a:r>
              <a:rPr lang="en-US" altLang="zh-CN" sz="2800" b="1">
                <a:solidFill>
                  <a:schemeClr val="tx2"/>
                </a:solidFill>
                <a:ea typeface="宋体" panose="02010600030101010101" pitchFamily="2" charset="-122"/>
              </a:rPr>
              <a:t>》x</a:t>
            </a:r>
            <a:r>
              <a:rPr lang="en-US" altLang="zh-CN" sz="2800" b="1" baseline="-25000">
                <a:solidFill>
                  <a:schemeClr val="tx2"/>
                </a:solidFill>
                <a:ea typeface="宋体" panose="02010600030101010101" pitchFamily="2" charset="-122"/>
              </a:rPr>
              <a:t>p</a:t>
            </a:r>
            <a:r>
              <a:rPr lang="zh-CN" altLang="en-US" sz="2800" b="1">
                <a:solidFill>
                  <a:schemeClr val="tx2"/>
                </a:solidFill>
                <a:ea typeface="宋体" panose="02010600030101010101" pitchFamily="2" charset="-122"/>
              </a:rPr>
              <a:t>，故</a:t>
            </a:r>
            <a:r>
              <a:rPr lang="en-US" altLang="zh-CN" sz="2800" b="1">
                <a:solidFill>
                  <a:schemeClr val="tx2"/>
                </a:solidFill>
                <a:ea typeface="宋体" panose="02010600030101010101" pitchFamily="2" charset="-122"/>
              </a:rPr>
              <a:t>X</a:t>
            </a:r>
            <a:r>
              <a:rPr lang="en-US" altLang="zh-CN" sz="2800" b="1" baseline="-25000">
                <a:solidFill>
                  <a:schemeClr val="tx2"/>
                </a:solidFill>
                <a:ea typeface="宋体" panose="02010600030101010101" pitchFamily="2" charset="-122"/>
              </a:rPr>
              <a:t>D</a:t>
            </a:r>
            <a:r>
              <a:rPr lang="en-US" altLang="zh-CN" sz="2800" b="1">
                <a:solidFill>
                  <a:schemeClr val="tx2"/>
                </a:solidFill>
                <a:ea typeface="宋体" panose="02010600030101010101" pitchFamily="2" charset="-122"/>
              </a:rPr>
              <a:t>~x</a:t>
            </a:r>
            <a:r>
              <a:rPr lang="en-US" altLang="zh-CN" sz="2800" b="1" baseline="-25000">
                <a:solidFill>
                  <a:schemeClr val="tx2"/>
                </a:solidFill>
                <a:ea typeface="宋体" panose="02010600030101010101" pitchFamily="2" charset="-122"/>
              </a:rPr>
              <a:t>n</a:t>
            </a:r>
            <a:r>
              <a:rPr lang="zh-CN" altLang="en-US" sz="2800" b="1">
                <a:solidFill>
                  <a:schemeClr val="tx2"/>
                </a:solidFill>
                <a:ea typeface="宋体" panose="02010600030101010101" pitchFamily="2" charset="-122"/>
              </a:rPr>
              <a:t>，则：</a:t>
            </a:r>
            <a:endParaRPr lang="zh-CN" altLang="en-US" sz="2800" b="1">
              <a:solidFill>
                <a:schemeClr val="tx2"/>
              </a:solidFill>
              <a:ea typeface="宋体" panose="02010600030101010101" pitchFamily="2" charset="-122"/>
            </a:endParaRPr>
          </a:p>
        </p:txBody>
      </p:sp>
      <p:sp>
        <p:nvSpPr>
          <p:cNvPr id="107526" name="Text Box 6" descr="2"/>
          <p:cNvSpPr txBox="1">
            <a:spLocks noChangeArrowheads="1"/>
          </p:cNvSpPr>
          <p:nvPr/>
        </p:nvSpPr>
        <p:spPr bwMode="gray">
          <a:xfrm>
            <a:off x="1847850" y="4005264"/>
            <a:ext cx="8496300" cy="954107"/>
          </a:xfrm>
          <a:prstGeom prst="rect">
            <a:avLst/>
          </a:prstGeom>
          <a:noFill/>
          <a:ln>
            <a:noFill/>
          </a:ln>
          <a:effectLst/>
          <a:extLst>
            <a:ext uri="{909E8E84-426E-40DD-AFC4-6F175D3DCCD1}">
              <a14:hiddenFill xmlns:a14="http://schemas.microsoft.com/office/drawing/2010/main">
                <a:blipFill dpi="0" rotWithShape="1">
                  <a:blip r:embed="rId1"/>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800" b="1">
                <a:solidFill>
                  <a:schemeClr val="tx2"/>
                </a:solidFill>
                <a:ea typeface="宋体" panose="02010600030101010101" pitchFamily="2" charset="-122"/>
              </a:rPr>
              <a:t>对于</a:t>
            </a:r>
            <a:r>
              <a:rPr lang="en-US" altLang="zh-CN" sz="2800" b="1">
                <a:solidFill>
                  <a:schemeClr val="tx2"/>
                </a:solidFill>
                <a:ea typeface="宋体" panose="02010600030101010101" pitchFamily="2" charset="-122"/>
              </a:rPr>
              <a:t>n</a:t>
            </a:r>
            <a:r>
              <a:rPr lang="zh-CN" altLang="en-US" sz="2800" b="1">
                <a:solidFill>
                  <a:schemeClr val="tx2"/>
                </a:solidFill>
                <a:ea typeface="宋体" panose="02010600030101010101" pitchFamily="2" charset="-122"/>
              </a:rPr>
              <a:t> </a:t>
            </a:r>
            <a:r>
              <a:rPr lang="en-US" altLang="zh-CN" sz="2800" b="1" baseline="30000">
                <a:solidFill>
                  <a:schemeClr val="tx2"/>
                </a:solidFill>
                <a:ea typeface="宋体" panose="02010600030101010101" pitchFamily="2" charset="-122"/>
              </a:rPr>
              <a:t>+</a:t>
            </a:r>
            <a:r>
              <a:rPr lang="en-US" altLang="zh-CN" sz="2800" b="1">
                <a:solidFill>
                  <a:schemeClr val="tx2"/>
                </a:solidFill>
                <a:ea typeface="宋体" panose="02010600030101010101" pitchFamily="2" charset="-122"/>
              </a:rPr>
              <a:t>- p</a:t>
            </a:r>
            <a:r>
              <a:rPr lang="zh-CN" altLang="en-US" sz="2800" b="1">
                <a:solidFill>
                  <a:schemeClr val="tx2"/>
                </a:solidFill>
                <a:ea typeface="宋体" panose="02010600030101010101" pitchFamily="2" charset="-122"/>
              </a:rPr>
              <a:t>结，因</a:t>
            </a:r>
            <a:r>
              <a:rPr lang="en-US" altLang="zh-CN" sz="2800" b="1">
                <a:solidFill>
                  <a:schemeClr val="tx2"/>
                </a:solidFill>
                <a:ea typeface="宋体" panose="02010600030101010101" pitchFamily="2" charset="-122"/>
              </a:rPr>
              <a:t>N</a:t>
            </a:r>
            <a:r>
              <a:rPr lang="en-US" altLang="zh-CN" sz="2800" b="1" baseline="-25000">
                <a:solidFill>
                  <a:schemeClr val="tx2"/>
                </a:solidFill>
                <a:ea typeface="宋体" panose="02010600030101010101" pitchFamily="2" charset="-122"/>
              </a:rPr>
              <a:t>D</a:t>
            </a:r>
            <a:r>
              <a:rPr lang="en-US" altLang="zh-CN" sz="2800" b="1">
                <a:solidFill>
                  <a:schemeClr val="tx2"/>
                </a:solidFill>
                <a:ea typeface="宋体" panose="02010600030101010101" pitchFamily="2" charset="-122"/>
              </a:rPr>
              <a:t>》N</a:t>
            </a:r>
            <a:r>
              <a:rPr lang="en-US" altLang="zh-CN" sz="2800" b="1" baseline="-25000">
                <a:solidFill>
                  <a:schemeClr val="tx2"/>
                </a:solidFill>
                <a:ea typeface="宋体" panose="02010600030101010101" pitchFamily="2" charset="-122"/>
              </a:rPr>
              <a:t>A</a:t>
            </a:r>
            <a:r>
              <a:rPr lang="zh-CN" altLang="en-US" sz="2800" b="1">
                <a:solidFill>
                  <a:schemeClr val="tx2"/>
                </a:solidFill>
                <a:ea typeface="宋体" panose="02010600030101010101" pitchFamily="2" charset="-122"/>
              </a:rPr>
              <a:t>，</a:t>
            </a:r>
            <a:r>
              <a:rPr lang="en-US" altLang="zh-CN" sz="2800" b="1">
                <a:solidFill>
                  <a:schemeClr val="tx2"/>
                </a:solidFill>
                <a:ea typeface="宋体" panose="02010600030101010101" pitchFamily="2" charset="-122"/>
              </a:rPr>
              <a:t>x</a:t>
            </a:r>
            <a:r>
              <a:rPr lang="en-US" altLang="zh-CN" sz="2800" b="1" baseline="-25000">
                <a:solidFill>
                  <a:schemeClr val="tx2"/>
                </a:solidFill>
                <a:ea typeface="宋体" panose="02010600030101010101" pitchFamily="2" charset="-122"/>
              </a:rPr>
              <a:t>p</a:t>
            </a:r>
            <a:r>
              <a:rPr lang="en-US" altLang="zh-CN" sz="2800" b="1">
                <a:solidFill>
                  <a:schemeClr val="tx2"/>
                </a:solidFill>
                <a:ea typeface="宋体" panose="02010600030101010101" pitchFamily="2" charset="-122"/>
              </a:rPr>
              <a:t>》x</a:t>
            </a:r>
            <a:r>
              <a:rPr lang="en-US" altLang="zh-CN" sz="2800" b="1" baseline="-25000">
                <a:solidFill>
                  <a:schemeClr val="tx2"/>
                </a:solidFill>
                <a:ea typeface="宋体" panose="02010600030101010101" pitchFamily="2" charset="-122"/>
              </a:rPr>
              <a:t>n</a:t>
            </a:r>
            <a:r>
              <a:rPr lang="zh-CN" altLang="en-US" sz="2800" b="1">
                <a:solidFill>
                  <a:schemeClr val="tx2"/>
                </a:solidFill>
                <a:ea typeface="宋体" panose="02010600030101010101" pitchFamily="2" charset="-122"/>
              </a:rPr>
              <a:t>，故</a:t>
            </a:r>
            <a:r>
              <a:rPr lang="en-US" altLang="zh-CN" sz="2800" b="1">
                <a:solidFill>
                  <a:schemeClr val="tx2"/>
                </a:solidFill>
                <a:ea typeface="宋体" panose="02010600030101010101" pitchFamily="2" charset="-122"/>
              </a:rPr>
              <a:t>X</a:t>
            </a:r>
            <a:r>
              <a:rPr lang="en-US" altLang="zh-CN" sz="2800" b="1" baseline="-25000">
                <a:solidFill>
                  <a:schemeClr val="tx2"/>
                </a:solidFill>
                <a:ea typeface="宋体" panose="02010600030101010101" pitchFamily="2" charset="-122"/>
              </a:rPr>
              <a:t>D</a:t>
            </a:r>
            <a:r>
              <a:rPr lang="en-US" altLang="zh-CN" sz="2800" b="1">
                <a:solidFill>
                  <a:schemeClr val="tx2"/>
                </a:solidFill>
                <a:ea typeface="宋体" panose="02010600030101010101" pitchFamily="2" charset="-122"/>
              </a:rPr>
              <a:t>~x</a:t>
            </a:r>
            <a:r>
              <a:rPr lang="en-US" altLang="zh-CN" sz="2800" b="1" baseline="-25000">
                <a:solidFill>
                  <a:schemeClr val="tx2"/>
                </a:solidFill>
                <a:ea typeface="宋体" panose="02010600030101010101" pitchFamily="2" charset="-122"/>
              </a:rPr>
              <a:t>p</a:t>
            </a:r>
            <a:r>
              <a:rPr lang="zh-CN" altLang="en-US" sz="2800" b="1">
                <a:solidFill>
                  <a:schemeClr val="tx2"/>
                </a:solidFill>
                <a:ea typeface="宋体" panose="02010600030101010101" pitchFamily="2" charset="-122"/>
              </a:rPr>
              <a:t>，则：</a:t>
            </a:r>
            <a:endParaRPr lang="zh-CN" altLang="en-US" sz="2800" b="1">
              <a:solidFill>
                <a:schemeClr val="tx2"/>
              </a:solidFill>
              <a:ea typeface="宋体" panose="02010600030101010101" pitchFamily="2" charset="-122"/>
            </a:endParaRPr>
          </a:p>
        </p:txBody>
      </p:sp>
      <p:pic>
        <p:nvPicPr>
          <p:cNvPr id="107527" name="Picture 7" descr="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4511675" y="4725988"/>
            <a:ext cx="3168650" cy="1655762"/>
          </a:xfrm>
          <a:prstGeom prst="rect">
            <a:avLst/>
          </a:prstGeom>
          <a:noFill/>
          <a:ln>
            <a:noFill/>
          </a:ln>
          <a:effectLst/>
          <a:extLst>
            <a:ext uri="{909E8E84-426E-40DD-AFC4-6F175D3DCCD1}">
              <a14:hiddenFill xmlns:a14="http://schemas.microsoft.com/office/drawing/2010/main">
                <a:blipFill dpi="0" rotWithShape="1">
                  <a:blip/>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7528" name="Picture 8" descr="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gray">
          <a:xfrm>
            <a:off x="4367213" y="2060576"/>
            <a:ext cx="3598862" cy="1749425"/>
          </a:xfrm>
          <a:prstGeom prst="rect">
            <a:avLst/>
          </a:prstGeom>
          <a:noFill/>
          <a:ln>
            <a:noFill/>
          </a:ln>
          <a:effectLst/>
          <a:extLst>
            <a:ext uri="{909E8E84-426E-40DD-AFC4-6F175D3DCCD1}">
              <a14:hiddenFill xmlns:a14="http://schemas.microsoft.com/office/drawing/2010/main">
                <a:blipFill dpi="0" rotWithShape="1">
                  <a:blip/>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Text Box 2" descr="2"/>
          <p:cNvSpPr txBox="1">
            <a:spLocks noChangeArrowheads="1"/>
          </p:cNvSpPr>
          <p:nvPr/>
        </p:nvSpPr>
        <p:spPr bwMode="gray">
          <a:xfrm>
            <a:off x="1847851" y="1341439"/>
            <a:ext cx="8353425" cy="3709987"/>
          </a:xfrm>
          <a:prstGeom prst="rect">
            <a:avLst/>
          </a:prstGeom>
          <a:noFill/>
          <a:ln>
            <a:noFill/>
          </a:ln>
          <a:effectLst/>
          <a:extLst>
            <a:ext uri="{909E8E84-426E-40DD-AFC4-6F175D3DCCD1}">
              <a14:hiddenFill xmlns:a14="http://schemas.microsoft.com/office/drawing/2010/main">
                <a:blipFill dpi="0" rotWithShape="1">
                  <a:blip r:embed="rId1"/>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800" b="1">
                <a:solidFill>
                  <a:schemeClr val="tx2"/>
                </a:solidFill>
                <a:ea typeface="宋体" panose="02010600030101010101" pitchFamily="2" charset="-122"/>
              </a:rPr>
              <a:t>由上式可以看出：</a:t>
            </a:r>
            <a:endParaRPr lang="zh-CN" altLang="en-US" sz="2800" b="1">
              <a:solidFill>
                <a:schemeClr val="tx2"/>
              </a:solidFill>
              <a:ea typeface="宋体" panose="02010600030101010101" pitchFamily="2" charset="-122"/>
            </a:endParaRPr>
          </a:p>
          <a:p>
            <a:pPr algn="l">
              <a:spcBef>
                <a:spcPct val="50000"/>
              </a:spcBef>
            </a:pPr>
            <a:r>
              <a:rPr lang="zh-CN" altLang="en-US" sz="2800" b="1">
                <a:solidFill>
                  <a:schemeClr val="tx2"/>
                </a:solidFill>
                <a:ea typeface="宋体" panose="02010600030101010101" pitchFamily="2" charset="-122"/>
              </a:rPr>
              <a:t>（</a:t>
            </a:r>
            <a:r>
              <a:rPr lang="en-US" altLang="zh-CN" sz="2800" b="1">
                <a:solidFill>
                  <a:schemeClr val="tx2"/>
                </a:solidFill>
                <a:ea typeface="宋体" panose="02010600030101010101" pitchFamily="2" charset="-122"/>
              </a:rPr>
              <a:t>1</a:t>
            </a:r>
            <a:r>
              <a:rPr lang="zh-CN" altLang="en-US" sz="2800" b="1">
                <a:solidFill>
                  <a:schemeClr val="tx2"/>
                </a:solidFill>
                <a:ea typeface="宋体" panose="02010600030101010101" pitchFamily="2" charset="-122"/>
              </a:rPr>
              <a:t>）单边突变结的接触电势差随着低掺杂一边的杂质浓度的增加而升高</a:t>
            </a:r>
            <a:endParaRPr lang="zh-CN" altLang="en-US" sz="2800" b="1">
              <a:solidFill>
                <a:schemeClr val="tx2"/>
              </a:solidFill>
              <a:ea typeface="宋体" panose="02010600030101010101" pitchFamily="2" charset="-122"/>
            </a:endParaRPr>
          </a:p>
          <a:p>
            <a:pPr algn="l">
              <a:spcBef>
                <a:spcPct val="50000"/>
              </a:spcBef>
            </a:pPr>
            <a:r>
              <a:rPr lang="zh-CN" altLang="en-US" sz="2800" b="1">
                <a:solidFill>
                  <a:schemeClr val="tx2"/>
                </a:solidFill>
                <a:ea typeface="宋体" panose="02010600030101010101" pitchFamily="2" charset="-122"/>
              </a:rPr>
              <a:t>（</a:t>
            </a:r>
            <a:r>
              <a:rPr lang="en-US" altLang="zh-CN" sz="2800" b="1">
                <a:solidFill>
                  <a:schemeClr val="tx2"/>
                </a:solidFill>
                <a:ea typeface="宋体" panose="02010600030101010101" pitchFamily="2" charset="-122"/>
              </a:rPr>
              <a:t>2</a:t>
            </a:r>
            <a:r>
              <a:rPr lang="zh-CN" altLang="en-US" sz="2800" b="1">
                <a:solidFill>
                  <a:schemeClr val="tx2"/>
                </a:solidFill>
                <a:ea typeface="宋体" panose="02010600030101010101" pitchFamily="2" charset="-122"/>
              </a:rPr>
              <a:t>）单边突变结的势垒宽度随轻掺杂一边的杂质浓 度增大而下降</a:t>
            </a:r>
            <a:endParaRPr lang="zh-CN" altLang="en-US" sz="2800" b="1">
              <a:solidFill>
                <a:schemeClr val="tx2"/>
              </a:solidFill>
              <a:ea typeface="宋体" panose="02010600030101010101" pitchFamily="2" charset="-122"/>
            </a:endParaRPr>
          </a:p>
          <a:p>
            <a:pPr algn="l">
              <a:spcBef>
                <a:spcPct val="50000"/>
              </a:spcBef>
            </a:pPr>
            <a:r>
              <a:rPr lang="zh-CN" altLang="en-US" sz="2800" b="1">
                <a:solidFill>
                  <a:schemeClr val="tx2"/>
                </a:solidFill>
                <a:ea typeface="宋体" panose="02010600030101010101" pitchFamily="2" charset="-122"/>
              </a:rPr>
              <a:t>（</a:t>
            </a:r>
            <a:r>
              <a:rPr lang="en-US" altLang="zh-CN" sz="2800" b="1">
                <a:solidFill>
                  <a:schemeClr val="tx2"/>
                </a:solidFill>
                <a:ea typeface="宋体" panose="02010600030101010101" pitchFamily="2" charset="-122"/>
              </a:rPr>
              <a:t>3</a:t>
            </a:r>
            <a:r>
              <a:rPr lang="zh-CN" altLang="en-US" sz="2800" b="1">
                <a:solidFill>
                  <a:schemeClr val="tx2"/>
                </a:solidFill>
                <a:ea typeface="宋体" panose="02010600030101010101" pitchFamily="2" charset="-122"/>
              </a:rPr>
              <a:t>）</a:t>
            </a:r>
            <a:endParaRPr lang="zh-CN" altLang="en-US" sz="2800" b="1">
              <a:solidFill>
                <a:schemeClr val="tx2"/>
              </a:solidFill>
              <a:ea typeface="宋体" panose="02010600030101010101" pitchFamily="2" charset="-122"/>
            </a:endParaRPr>
          </a:p>
          <a:p>
            <a:pPr algn="l">
              <a:spcBef>
                <a:spcPct val="50000"/>
              </a:spcBef>
            </a:pPr>
            <a:endParaRPr lang="zh-CN" altLang="en-US" b="1">
              <a:solidFill>
                <a:schemeClr val="tx2"/>
              </a:solidFill>
              <a:ea typeface="宋体" panose="02010600030101010101" pitchFamily="2" charset="-122"/>
            </a:endParaRPr>
          </a:p>
        </p:txBody>
      </p:sp>
      <p:sp>
        <p:nvSpPr>
          <p:cNvPr id="109571" name="Text Box 3" descr="2"/>
          <p:cNvSpPr txBox="1">
            <a:spLocks noChangeArrowheads="1"/>
          </p:cNvSpPr>
          <p:nvPr/>
        </p:nvSpPr>
        <p:spPr bwMode="gray">
          <a:xfrm>
            <a:off x="1774825" y="4724400"/>
            <a:ext cx="8281988" cy="1587500"/>
          </a:xfrm>
          <a:prstGeom prst="rect">
            <a:avLst/>
          </a:prstGeom>
          <a:noFill/>
          <a:ln>
            <a:noFill/>
          </a:ln>
          <a:effectLst/>
          <a:extLst>
            <a:ext uri="{909E8E84-426E-40DD-AFC4-6F175D3DCCD1}">
              <a14:hiddenFill xmlns:a14="http://schemas.microsoft.com/office/drawing/2010/main">
                <a:blipFill dpi="0" rotWithShape="1">
                  <a:blip r:embed="rId1"/>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800" b="1">
                <a:solidFill>
                  <a:schemeClr val="tx2"/>
                </a:solidFill>
                <a:ea typeface="宋体" panose="02010600030101010101" pitchFamily="2" charset="-122"/>
              </a:rPr>
              <a:t>接触电势差相当于图中的三角形面积，三角形底边  长为势垒宽度</a:t>
            </a:r>
            <a:r>
              <a:rPr lang="en-US" altLang="zh-CN" sz="2800" b="1">
                <a:solidFill>
                  <a:schemeClr val="tx2"/>
                </a:solidFill>
                <a:ea typeface="宋体" panose="02010600030101010101" pitchFamily="2" charset="-122"/>
              </a:rPr>
              <a:t>X</a:t>
            </a:r>
            <a:r>
              <a:rPr lang="en-US" altLang="zh-CN" sz="2800" b="1" baseline="-25000">
                <a:solidFill>
                  <a:schemeClr val="tx2"/>
                </a:solidFill>
                <a:ea typeface="宋体" panose="02010600030101010101" pitchFamily="2" charset="-122"/>
              </a:rPr>
              <a:t>D</a:t>
            </a:r>
            <a:r>
              <a:rPr lang="zh-CN" altLang="en-US" sz="2800" b="1">
                <a:solidFill>
                  <a:schemeClr val="tx2"/>
                </a:solidFill>
                <a:ea typeface="宋体" panose="02010600030101010101" pitchFamily="2" charset="-122"/>
              </a:rPr>
              <a:t>，高为最大电场强度</a:t>
            </a:r>
            <a:endParaRPr lang="zh-CN" altLang="en-US" sz="2800" b="1">
              <a:solidFill>
                <a:schemeClr val="tx2"/>
              </a:solidFill>
              <a:ea typeface="宋体" panose="02010600030101010101" pitchFamily="2" charset="-122"/>
            </a:endParaRPr>
          </a:p>
          <a:p>
            <a:pPr algn="l">
              <a:spcBef>
                <a:spcPct val="50000"/>
              </a:spcBef>
            </a:pPr>
            <a:r>
              <a:rPr lang="zh-CN" altLang="en-US" sz="2800" b="1">
                <a:solidFill>
                  <a:schemeClr val="tx2"/>
                </a:solidFill>
                <a:ea typeface="宋体" panose="02010600030101010101" pitchFamily="2" charset="-122"/>
              </a:rPr>
              <a:t>（</a:t>
            </a:r>
            <a:r>
              <a:rPr lang="en-US" altLang="zh-CN" sz="2800" b="1">
                <a:solidFill>
                  <a:schemeClr val="tx2"/>
                </a:solidFill>
                <a:ea typeface="宋体" panose="02010600030101010101" pitchFamily="2" charset="-122"/>
              </a:rPr>
              <a:t>4</a:t>
            </a:r>
            <a:r>
              <a:rPr lang="zh-CN" altLang="en-US" sz="2800" b="1">
                <a:solidFill>
                  <a:schemeClr val="tx2"/>
                </a:solidFill>
                <a:ea typeface="宋体" panose="02010600030101010101" pitchFamily="2" charset="-122"/>
              </a:rPr>
              <a:t>）可以估算势垒宽度</a:t>
            </a:r>
            <a:endParaRPr lang="zh-CN" altLang="en-US" sz="2800" b="1">
              <a:solidFill>
                <a:schemeClr val="tx2"/>
              </a:solidFill>
              <a:ea typeface="宋体" panose="02010600030101010101" pitchFamily="2" charset="-122"/>
            </a:endParaRPr>
          </a:p>
        </p:txBody>
      </p:sp>
      <p:pic>
        <p:nvPicPr>
          <p:cNvPr id="109574" name="Picture 6" descr="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3216276" y="4076701"/>
            <a:ext cx="2447925" cy="746125"/>
          </a:xfrm>
          <a:prstGeom prst="rect">
            <a:avLst/>
          </a:prstGeom>
          <a:noFill/>
          <a:ln>
            <a:noFill/>
          </a:ln>
          <a:effectLst/>
          <a:extLst>
            <a:ext uri="{909E8E84-426E-40DD-AFC4-6F175D3DCCD1}">
              <a14:hiddenFill xmlns:a14="http://schemas.microsoft.com/office/drawing/2010/main">
                <a:blipFill dpi="0" rotWithShape="1">
                  <a:blip/>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64" name="Text Box 8" descr="2"/>
          <p:cNvSpPr txBox="1">
            <a:spLocks noChangeArrowheads="1"/>
          </p:cNvSpPr>
          <p:nvPr/>
        </p:nvSpPr>
        <p:spPr bwMode="gray">
          <a:xfrm>
            <a:off x="1919288" y="1196975"/>
            <a:ext cx="7561262" cy="946150"/>
          </a:xfrm>
          <a:prstGeom prst="rect">
            <a:avLst/>
          </a:prstGeom>
          <a:noFill/>
          <a:ln>
            <a:noFill/>
          </a:ln>
          <a:effectLst/>
          <a:extLst>
            <a:ext uri="{909E8E84-426E-40DD-AFC4-6F175D3DCCD1}">
              <a14:hiddenFill xmlns:a14="http://schemas.microsoft.com/office/drawing/2010/main">
                <a:blipFill dpi="0" rotWithShape="1">
                  <a:blip r:embed="rId1"/>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800" b="1">
                <a:solidFill>
                  <a:schemeClr val="tx2"/>
                </a:solidFill>
                <a:ea typeface="宋体" panose="02010600030101010101" pitchFamily="2" charset="-122"/>
              </a:rPr>
              <a:t>当</a:t>
            </a:r>
            <a:r>
              <a:rPr lang="en-US" altLang="zh-CN" sz="2800" b="1">
                <a:solidFill>
                  <a:schemeClr val="tx2"/>
                </a:solidFill>
                <a:ea typeface="宋体" panose="02010600030101010101" pitchFamily="2" charset="-122"/>
              </a:rPr>
              <a:t>p-n</a:t>
            </a:r>
            <a:r>
              <a:rPr lang="zh-CN" altLang="en-US" sz="2800" b="1">
                <a:solidFill>
                  <a:schemeClr val="tx2"/>
                </a:solidFill>
                <a:ea typeface="宋体" panose="02010600030101010101" pitchFamily="2" charset="-122"/>
              </a:rPr>
              <a:t>结上加有外加电压</a:t>
            </a:r>
            <a:r>
              <a:rPr lang="en-US" altLang="zh-CN" sz="2800" b="1">
                <a:solidFill>
                  <a:schemeClr val="tx2"/>
                </a:solidFill>
                <a:ea typeface="宋体" panose="02010600030101010101" pitchFamily="2" charset="-122"/>
              </a:rPr>
              <a:t>V</a:t>
            </a:r>
            <a:r>
              <a:rPr lang="zh-CN" altLang="en-US" sz="2800" b="1">
                <a:solidFill>
                  <a:schemeClr val="tx2"/>
                </a:solidFill>
                <a:ea typeface="宋体" panose="02010600030101010101" pitchFamily="2" charset="-122"/>
              </a:rPr>
              <a:t>时，势垒区上总的电压为</a:t>
            </a:r>
            <a:r>
              <a:rPr lang="en-US" altLang="zh-CN" sz="2800" b="1">
                <a:solidFill>
                  <a:schemeClr val="tx2"/>
                </a:solidFill>
                <a:ea typeface="宋体" panose="02010600030101010101" pitchFamily="2" charset="-122"/>
              </a:rPr>
              <a:t>V</a:t>
            </a:r>
            <a:r>
              <a:rPr lang="en-US" altLang="zh-CN" sz="2800" b="1" baseline="-25000">
                <a:solidFill>
                  <a:schemeClr val="tx2"/>
                </a:solidFill>
                <a:ea typeface="宋体" panose="02010600030101010101" pitchFamily="2" charset="-122"/>
              </a:rPr>
              <a:t>D</a:t>
            </a:r>
            <a:r>
              <a:rPr lang="en-US" altLang="zh-CN" sz="2800" b="1">
                <a:solidFill>
                  <a:schemeClr val="tx2"/>
                </a:solidFill>
                <a:ea typeface="宋体" panose="02010600030101010101" pitchFamily="2" charset="-122"/>
              </a:rPr>
              <a:t>-V</a:t>
            </a:r>
            <a:r>
              <a:rPr lang="zh-CN" altLang="en-US" sz="2800" b="1">
                <a:solidFill>
                  <a:schemeClr val="tx2"/>
                </a:solidFill>
                <a:ea typeface="宋体" panose="02010600030101010101" pitchFamily="2" charset="-122"/>
              </a:rPr>
              <a:t>，正向时</a:t>
            </a:r>
            <a:r>
              <a:rPr lang="en-US" altLang="zh-CN" sz="2800" b="1">
                <a:solidFill>
                  <a:schemeClr val="tx2"/>
                </a:solidFill>
                <a:ea typeface="宋体" panose="02010600030101010101" pitchFamily="2" charset="-122"/>
              </a:rPr>
              <a:t>V&gt;0</a:t>
            </a:r>
            <a:r>
              <a:rPr lang="zh-CN" altLang="en-US" sz="2800" b="1">
                <a:solidFill>
                  <a:schemeClr val="tx2"/>
                </a:solidFill>
                <a:ea typeface="宋体" panose="02010600030101010101" pitchFamily="2" charset="-122"/>
              </a:rPr>
              <a:t>，反向时</a:t>
            </a:r>
            <a:r>
              <a:rPr lang="en-US" altLang="zh-CN" sz="2800" b="1">
                <a:solidFill>
                  <a:schemeClr val="tx2"/>
                </a:solidFill>
                <a:ea typeface="宋体" panose="02010600030101010101" pitchFamily="2" charset="-122"/>
              </a:rPr>
              <a:t>V&lt;0</a:t>
            </a:r>
            <a:r>
              <a:rPr lang="zh-CN" altLang="en-US" sz="2800" b="1">
                <a:solidFill>
                  <a:schemeClr val="tx2"/>
                </a:solidFill>
                <a:ea typeface="宋体" panose="02010600030101010101" pitchFamily="2" charset="-122"/>
              </a:rPr>
              <a:t>。则：</a:t>
            </a:r>
            <a:endParaRPr lang="zh-CN" altLang="en-US" sz="2800" b="1">
              <a:solidFill>
                <a:schemeClr val="tx2"/>
              </a:solidFill>
              <a:ea typeface="宋体" panose="02010600030101010101" pitchFamily="2" charset="-122"/>
            </a:endParaRPr>
          </a:p>
        </p:txBody>
      </p:sp>
      <p:pic>
        <p:nvPicPr>
          <p:cNvPr id="70666" name="Picture 10" descr="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3143250" y="2205039"/>
            <a:ext cx="5257800" cy="860425"/>
          </a:xfrm>
          <a:prstGeom prst="rect">
            <a:avLst/>
          </a:prstGeom>
          <a:noFill/>
          <a:ln>
            <a:noFill/>
          </a:ln>
          <a:effectLst/>
          <a:extLst>
            <a:ext uri="{909E8E84-426E-40DD-AFC4-6F175D3DCCD1}">
              <a14:hiddenFill xmlns:a14="http://schemas.microsoft.com/office/drawing/2010/main">
                <a:blipFill dpi="0" rotWithShape="1">
                  <a:blip/>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0672" name="Text Box 16" descr="2"/>
          <p:cNvSpPr txBox="1">
            <a:spLocks noChangeArrowheads="1"/>
          </p:cNvSpPr>
          <p:nvPr/>
        </p:nvSpPr>
        <p:spPr bwMode="gray">
          <a:xfrm>
            <a:off x="1919289" y="4724400"/>
            <a:ext cx="8137525" cy="1754326"/>
          </a:xfrm>
          <a:prstGeom prst="rect">
            <a:avLst/>
          </a:prstGeom>
          <a:noFill/>
          <a:ln>
            <a:noFill/>
          </a:ln>
          <a:effectLst/>
          <a:extLst>
            <a:ext uri="{909E8E84-426E-40DD-AFC4-6F175D3DCCD1}">
              <a14:hiddenFill xmlns:a14="http://schemas.microsoft.com/office/drawing/2010/main">
                <a:blipFill dpi="0" rotWithShape="1">
                  <a:blip r:embed="rId1"/>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dirty="0">
                <a:solidFill>
                  <a:schemeClr val="tx2"/>
                </a:solidFill>
                <a:ea typeface="宋体" panose="02010600030101010101" pitchFamily="2" charset="-122"/>
              </a:rPr>
              <a:t>可以看出：</a:t>
            </a:r>
            <a:r>
              <a:rPr lang="zh-CN" altLang="en-US" sz="2400" dirty="0">
                <a:solidFill>
                  <a:schemeClr val="tx2"/>
                </a:solidFill>
                <a:ea typeface="宋体" panose="02010600030101010101" pitchFamily="2" charset="-122"/>
                <a:sym typeface="Wingdings" panose="05000000000000000000" pitchFamily="2" charset="2"/>
              </a:rPr>
              <a:t>（</a:t>
            </a:r>
            <a:r>
              <a:rPr lang="en-US" altLang="zh-CN" sz="2400" dirty="0">
                <a:solidFill>
                  <a:schemeClr val="tx2"/>
                </a:solidFill>
                <a:ea typeface="宋体" panose="02010600030101010101" pitchFamily="2" charset="-122"/>
                <a:sym typeface="Wingdings" panose="05000000000000000000" pitchFamily="2" charset="2"/>
              </a:rPr>
              <a:t>1</a:t>
            </a:r>
            <a:r>
              <a:rPr lang="zh-CN" altLang="en-US" sz="2400" dirty="0">
                <a:solidFill>
                  <a:schemeClr val="tx2"/>
                </a:solidFill>
                <a:ea typeface="宋体" panose="02010600030101010101" pitchFamily="2" charset="-122"/>
                <a:sym typeface="Wingdings" panose="05000000000000000000" pitchFamily="2" charset="2"/>
              </a:rPr>
              <a:t>）突变结的势垒宽度与势垒区上的总电压的平方根成正比。</a:t>
            </a:r>
            <a:endParaRPr lang="zh-CN" altLang="en-US" sz="2400" dirty="0">
              <a:solidFill>
                <a:schemeClr val="tx2"/>
              </a:solidFill>
              <a:ea typeface="宋体" panose="02010600030101010101" pitchFamily="2" charset="-122"/>
              <a:sym typeface="Wingdings" panose="05000000000000000000" pitchFamily="2" charset="2"/>
            </a:endParaRPr>
          </a:p>
          <a:p>
            <a:pPr>
              <a:spcBef>
                <a:spcPct val="50000"/>
              </a:spcBef>
            </a:pPr>
            <a:r>
              <a:rPr lang="zh-CN" altLang="en-US" sz="2400" dirty="0">
                <a:solidFill>
                  <a:schemeClr val="tx2"/>
                </a:solidFill>
                <a:ea typeface="宋体" panose="02010600030101010101" pitchFamily="2" charset="-122"/>
                <a:sym typeface="Wingdings" panose="05000000000000000000" pitchFamily="2" charset="2"/>
              </a:rPr>
              <a:t>               （</a:t>
            </a:r>
            <a:r>
              <a:rPr lang="en-US" altLang="zh-CN" sz="2400" dirty="0">
                <a:solidFill>
                  <a:schemeClr val="tx2"/>
                </a:solidFill>
                <a:ea typeface="宋体" panose="02010600030101010101" pitchFamily="2" charset="-122"/>
                <a:sym typeface="Wingdings" panose="05000000000000000000" pitchFamily="2" charset="2"/>
              </a:rPr>
              <a:t>2</a:t>
            </a:r>
            <a:r>
              <a:rPr lang="zh-CN" altLang="en-US" sz="2400" dirty="0">
                <a:solidFill>
                  <a:schemeClr val="tx2"/>
                </a:solidFill>
                <a:ea typeface="宋体" panose="02010600030101010101" pitchFamily="2" charset="-122"/>
                <a:sym typeface="Wingdings" panose="05000000000000000000" pitchFamily="2" charset="2"/>
              </a:rPr>
              <a:t>）外加电压一定，势垒宽度随</a:t>
            </a:r>
            <a:r>
              <a:rPr lang="en-US" altLang="zh-CN" sz="2400" dirty="0">
                <a:solidFill>
                  <a:schemeClr val="tx2"/>
                </a:solidFill>
                <a:ea typeface="宋体" panose="02010600030101010101" pitchFamily="2" charset="-122"/>
                <a:sym typeface="Wingdings" panose="05000000000000000000" pitchFamily="2" charset="2"/>
              </a:rPr>
              <a:t>p-n</a:t>
            </a:r>
            <a:r>
              <a:rPr lang="zh-CN" altLang="en-US" sz="2400" dirty="0">
                <a:solidFill>
                  <a:schemeClr val="tx2"/>
                </a:solidFill>
                <a:ea typeface="宋体" panose="02010600030101010101" pitchFamily="2" charset="-122"/>
                <a:sym typeface="Wingdings" panose="05000000000000000000" pitchFamily="2" charset="2"/>
              </a:rPr>
              <a:t>结两边的杂质浓度的变化而变化。</a:t>
            </a:r>
            <a:endParaRPr lang="zh-CN" altLang="en-US" sz="2400" dirty="0">
              <a:solidFill>
                <a:schemeClr val="tx2"/>
              </a:solidFill>
              <a:ea typeface="宋体" panose="02010600030101010101" pitchFamily="2" charset="-122"/>
            </a:endParaRPr>
          </a:p>
        </p:txBody>
      </p:sp>
      <p:pic>
        <p:nvPicPr>
          <p:cNvPr id="70673" name="Picture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gray">
          <a:xfrm rot="60000">
            <a:off x="4872038" y="3090864"/>
            <a:ext cx="3168650" cy="1633537"/>
          </a:xfrm>
          <a:prstGeom prst="rect">
            <a:avLst/>
          </a:prstGeom>
          <a:blipFill dpi="0" rotWithShape="1">
            <a:blip/>
            <a:srcRect/>
            <a:stretch>
              <a:fillRect/>
            </a:stretch>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0674" name="Text Box 18" descr="2"/>
          <p:cNvSpPr txBox="1">
            <a:spLocks noChangeArrowheads="1"/>
          </p:cNvSpPr>
          <p:nvPr/>
        </p:nvSpPr>
        <p:spPr bwMode="gray">
          <a:xfrm>
            <a:off x="2424114" y="3284539"/>
            <a:ext cx="2592387" cy="1311275"/>
          </a:xfrm>
          <a:prstGeom prst="rect">
            <a:avLst/>
          </a:prstGeom>
          <a:noFill/>
          <a:ln>
            <a:noFill/>
          </a:ln>
          <a:effectLst/>
          <a:extLst>
            <a:ext uri="{909E8E84-426E-40DD-AFC4-6F175D3DCCD1}">
              <a14:hiddenFill xmlns:a14="http://schemas.microsoft.com/office/drawing/2010/main">
                <a:blipFill dpi="0" rotWithShape="1">
                  <a:blip r:embed="rId1"/>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3200" b="1">
                <a:solidFill>
                  <a:schemeClr val="tx2"/>
                </a:solidFill>
                <a:ea typeface="宋体" panose="02010600030101010101" pitchFamily="2" charset="-122"/>
              </a:rPr>
              <a:t>对于</a:t>
            </a:r>
            <a:r>
              <a:rPr lang="en-US" altLang="zh-CN" sz="3200" b="1">
                <a:solidFill>
                  <a:schemeClr val="tx2"/>
                </a:solidFill>
                <a:ea typeface="宋体" panose="02010600030101010101" pitchFamily="2" charset="-122"/>
              </a:rPr>
              <a:t>p</a:t>
            </a:r>
            <a:r>
              <a:rPr lang="en-US" altLang="zh-CN" sz="3200" b="1" baseline="30000">
                <a:solidFill>
                  <a:schemeClr val="tx2"/>
                </a:solidFill>
                <a:ea typeface="宋体" panose="02010600030101010101" pitchFamily="2" charset="-122"/>
              </a:rPr>
              <a:t>+</a:t>
            </a:r>
            <a:r>
              <a:rPr lang="en-US" altLang="zh-CN" sz="3200" b="1">
                <a:solidFill>
                  <a:schemeClr val="tx2"/>
                </a:solidFill>
                <a:ea typeface="宋体" panose="02010600030101010101" pitchFamily="2" charset="-122"/>
              </a:rPr>
              <a:t>-n</a:t>
            </a:r>
            <a:endParaRPr lang="zh-CN" altLang="en-US" sz="3200" b="1">
              <a:solidFill>
                <a:schemeClr val="tx2"/>
              </a:solidFill>
              <a:ea typeface="宋体" panose="02010600030101010101" pitchFamily="2" charset="-122"/>
            </a:endParaRPr>
          </a:p>
          <a:p>
            <a:pPr algn="l">
              <a:spcBef>
                <a:spcPct val="50000"/>
              </a:spcBef>
            </a:pPr>
            <a:r>
              <a:rPr lang="zh-CN" altLang="en-US" sz="3200" b="1">
                <a:solidFill>
                  <a:schemeClr val="tx2"/>
                </a:solidFill>
                <a:ea typeface="宋体" panose="02010600030101010101" pitchFamily="2" charset="-122"/>
              </a:rPr>
              <a:t>对于</a:t>
            </a:r>
            <a:r>
              <a:rPr lang="en-US" altLang="zh-CN" sz="3200" b="1">
                <a:solidFill>
                  <a:schemeClr val="tx2"/>
                </a:solidFill>
                <a:ea typeface="宋体" panose="02010600030101010101" pitchFamily="2" charset="-122"/>
              </a:rPr>
              <a:t>n</a:t>
            </a:r>
            <a:r>
              <a:rPr lang="en-US" altLang="zh-CN" sz="3200" b="1" baseline="30000">
                <a:solidFill>
                  <a:schemeClr val="tx2"/>
                </a:solidFill>
                <a:ea typeface="宋体" panose="02010600030101010101" pitchFamily="2" charset="-122"/>
              </a:rPr>
              <a:t>+</a:t>
            </a:r>
            <a:r>
              <a:rPr lang="en-US" altLang="zh-CN" sz="3200" b="1">
                <a:solidFill>
                  <a:schemeClr val="tx2"/>
                </a:solidFill>
                <a:ea typeface="宋体" panose="02010600030101010101" pitchFamily="2" charset="-122"/>
              </a:rPr>
              <a:t>-p</a:t>
            </a:r>
            <a:endParaRPr lang="en-US" altLang="zh-CN" sz="3200" b="1">
              <a:solidFill>
                <a:schemeClr val="tx2"/>
              </a:solidFill>
              <a:ea typeface="宋体" panose="02010600030101010101" pitchFamily="2" charset="-122"/>
            </a:endParaRPr>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000" name="Text Box 8" descr="2"/>
          <p:cNvSpPr txBox="1">
            <a:spLocks noChangeArrowheads="1"/>
          </p:cNvSpPr>
          <p:nvPr/>
        </p:nvSpPr>
        <p:spPr bwMode="gray">
          <a:xfrm>
            <a:off x="1524001" y="1341438"/>
            <a:ext cx="6372225" cy="1066800"/>
          </a:xfrm>
          <a:prstGeom prst="rect">
            <a:avLst/>
          </a:prstGeom>
          <a:noFill/>
          <a:ln>
            <a:noFill/>
          </a:ln>
          <a:effectLst/>
          <a:extLst>
            <a:ext uri="{909E8E84-426E-40DD-AFC4-6F175D3DCCD1}">
              <a14:hiddenFill xmlns:a14="http://schemas.microsoft.com/office/drawing/2010/main">
                <a:blipFill dpi="0" rotWithShape="1">
                  <a:blip r:embed="rId1"/>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800" b="1">
                <a:solidFill>
                  <a:schemeClr val="tx2"/>
                </a:solidFill>
                <a:ea typeface="宋体" panose="02010600030101010101" pitchFamily="2" charset="-122"/>
              </a:rPr>
              <a:t>（</a:t>
            </a:r>
            <a:r>
              <a:rPr lang="en-US" altLang="zh-CN" sz="2800" b="1">
                <a:solidFill>
                  <a:schemeClr val="tx2"/>
                </a:solidFill>
                <a:ea typeface="宋体" panose="02010600030101010101" pitchFamily="2" charset="-122"/>
              </a:rPr>
              <a:t>3</a:t>
            </a:r>
            <a:r>
              <a:rPr lang="zh-CN" altLang="en-US" sz="2800" b="1">
                <a:solidFill>
                  <a:schemeClr val="tx2"/>
                </a:solidFill>
                <a:ea typeface="宋体" panose="02010600030101010101" pitchFamily="2" charset="-122"/>
              </a:rPr>
              <a:t>）突变结势垒电容</a:t>
            </a:r>
            <a:endParaRPr lang="en-US" altLang="zh-CN" sz="2800" b="1" baseline="-25000">
              <a:solidFill>
                <a:schemeClr val="tx2"/>
              </a:solidFill>
              <a:ea typeface="宋体" panose="02010600030101010101" pitchFamily="2" charset="-122"/>
            </a:endParaRPr>
          </a:p>
          <a:p>
            <a:pPr algn="l">
              <a:spcBef>
                <a:spcPct val="50000"/>
              </a:spcBef>
            </a:pPr>
            <a:r>
              <a:rPr lang="zh-CN" altLang="en-US" sz="2400" b="1">
                <a:solidFill>
                  <a:schemeClr val="tx2"/>
                </a:solidFill>
                <a:ea typeface="宋体" panose="02010600030101010101" pitchFamily="2" charset="-122"/>
              </a:rPr>
              <a:t>  势垒区内单位面积上总电量：</a:t>
            </a:r>
            <a:r>
              <a:rPr lang="en-US" altLang="zh-CN" sz="2400" i="1">
                <a:solidFill>
                  <a:schemeClr val="tx2"/>
                </a:solidFill>
                <a:ea typeface="宋体" panose="02010600030101010101" pitchFamily="2" charset="-122"/>
              </a:rPr>
              <a:t>Q=qN</a:t>
            </a:r>
            <a:r>
              <a:rPr lang="en-US" altLang="zh-CN" sz="2400" i="1" baseline="-25000">
                <a:solidFill>
                  <a:schemeClr val="tx2"/>
                </a:solidFill>
                <a:ea typeface="宋体" panose="02010600030101010101" pitchFamily="2" charset="-122"/>
              </a:rPr>
              <a:t>A</a:t>
            </a:r>
            <a:r>
              <a:rPr lang="en-US" altLang="zh-CN" sz="2400" i="1">
                <a:solidFill>
                  <a:schemeClr val="tx2"/>
                </a:solidFill>
                <a:ea typeface="宋体" panose="02010600030101010101" pitchFamily="2" charset="-122"/>
              </a:rPr>
              <a:t>x</a:t>
            </a:r>
            <a:r>
              <a:rPr lang="en-US" altLang="zh-CN" sz="2400" i="1" baseline="-25000">
                <a:solidFill>
                  <a:schemeClr val="tx2"/>
                </a:solidFill>
                <a:ea typeface="宋体" panose="02010600030101010101" pitchFamily="2" charset="-122"/>
              </a:rPr>
              <a:t>p</a:t>
            </a:r>
            <a:endParaRPr lang="zh-CN" altLang="en-US" sz="2400" i="1" baseline="-25000">
              <a:solidFill>
                <a:schemeClr val="tx2"/>
              </a:solidFill>
              <a:ea typeface="宋体" panose="02010600030101010101" pitchFamily="2" charset="-122"/>
            </a:endParaRPr>
          </a:p>
        </p:txBody>
      </p:sp>
      <p:pic>
        <p:nvPicPr>
          <p:cNvPr id="85002" name="Picture 10" descr="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7248525" y="1773238"/>
            <a:ext cx="2736850" cy="838200"/>
          </a:xfrm>
          <a:prstGeom prst="rect">
            <a:avLst/>
          </a:prstGeom>
          <a:noFill/>
          <a:ln>
            <a:noFill/>
          </a:ln>
          <a:effectLst/>
          <a:extLst>
            <a:ext uri="{909E8E84-426E-40DD-AFC4-6F175D3DCCD1}">
              <a14:hiddenFill xmlns:a14="http://schemas.microsoft.com/office/drawing/2010/main">
                <a:blipFill dpi="0" rotWithShape="1">
                  <a:blip/>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5003" name="Picture 11" descr="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gray">
          <a:xfrm>
            <a:off x="3503614" y="2592388"/>
            <a:ext cx="4897437" cy="1014412"/>
          </a:xfrm>
          <a:prstGeom prst="rect">
            <a:avLst/>
          </a:prstGeom>
          <a:noFill/>
          <a:ln>
            <a:noFill/>
          </a:ln>
          <a:effectLst/>
          <a:extLst>
            <a:ext uri="{909E8E84-426E-40DD-AFC4-6F175D3DCCD1}">
              <a14:hiddenFill xmlns:a14="http://schemas.microsoft.com/office/drawing/2010/main">
                <a:blipFill dpi="0" rotWithShape="1">
                  <a:blip/>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5004" name="Text Box 12" descr="2"/>
          <p:cNvSpPr txBox="1">
            <a:spLocks noChangeArrowheads="1"/>
          </p:cNvSpPr>
          <p:nvPr/>
        </p:nvSpPr>
        <p:spPr bwMode="gray">
          <a:xfrm>
            <a:off x="1703388" y="3860800"/>
            <a:ext cx="4176712" cy="457200"/>
          </a:xfrm>
          <a:prstGeom prst="rect">
            <a:avLst/>
          </a:prstGeom>
          <a:noFill/>
          <a:ln>
            <a:noFill/>
          </a:ln>
          <a:effectLst/>
          <a:extLst>
            <a:ext uri="{909E8E84-426E-40DD-AFC4-6F175D3DCCD1}">
              <a14:hiddenFill xmlns:a14="http://schemas.microsoft.com/office/drawing/2010/main">
                <a:blipFill dpi="0" rotWithShape="1">
                  <a:blip r:embed="rId1"/>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400">
                <a:solidFill>
                  <a:schemeClr val="tx2"/>
                </a:solidFill>
                <a:ea typeface="宋体" panose="02010600030101010101" pitchFamily="2" charset="-122"/>
              </a:rPr>
              <a:t> 单位面积势垒电容为</a:t>
            </a:r>
            <a:endParaRPr lang="zh-CN" altLang="en-US" sz="2400">
              <a:solidFill>
                <a:schemeClr val="tx2"/>
              </a:solidFill>
              <a:ea typeface="宋体" panose="02010600030101010101" pitchFamily="2" charset="-122"/>
            </a:endParaRPr>
          </a:p>
        </p:txBody>
      </p:sp>
      <p:pic>
        <p:nvPicPr>
          <p:cNvPr id="85005" name="Picture 13" descr="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gray">
          <a:xfrm>
            <a:off x="4872038" y="3716338"/>
            <a:ext cx="5256212" cy="768350"/>
          </a:xfrm>
          <a:prstGeom prst="rect">
            <a:avLst/>
          </a:prstGeom>
          <a:noFill/>
          <a:ln>
            <a:noFill/>
          </a:ln>
          <a:effectLst/>
          <a:extLst>
            <a:ext uri="{909E8E84-426E-40DD-AFC4-6F175D3DCCD1}">
              <a14:hiddenFill xmlns:a14="http://schemas.microsoft.com/office/drawing/2010/main">
                <a:blipFill dpi="0" rotWithShape="1">
                  <a:blip/>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5006" name="Text Box 14" descr="2"/>
          <p:cNvSpPr txBox="1">
            <a:spLocks noChangeArrowheads="1"/>
          </p:cNvSpPr>
          <p:nvPr/>
        </p:nvSpPr>
        <p:spPr bwMode="gray">
          <a:xfrm>
            <a:off x="1847851" y="5203825"/>
            <a:ext cx="1800225" cy="457200"/>
          </a:xfrm>
          <a:prstGeom prst="rect">
            <a:avLst/>
          </a:prstGeom>
          <a:noFill/>
          <a:ln>
            <a:noFill/>
          </a:ln>
          <a:effectLst/>
          <a:extLst>
            <a:ext uri="{909E8E84-426E-40DD-AFC4-6F175D3DCCD1}">
              <a14:hiddenFill xmlns:a14="http://schemas.microsoft.com/office/drawing/2010/main">
                <a:blipFill dpi="0" rotWithShape="1">
                  <a:blip r:embed="rId1"/>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400">
                <a:solidFill>
                  <a:schemeClr val="tx2"/>
                </a:solidFill>
                <a:ea typeface="宋体" panose="02010600030101010101" pitchFamily="2" charset="-122"/>
              </a:rPr>
              <a:t>设面积为</a:t>
            </a:r>
            <a:r>
              <a:rPr lang="en-US" altLang="zh-CN" sz="2400">
                <a:solidFill>
                  <a:schemeClr val="tx2"/>
                </a:solidFill>
                <a:ea typeface="宋体" panose="02010600030101010101" pitchFamily="2" charset="-122"/>
              </a:rPr>
              <a:t>A</a:t>
            </a:r>
            <a:endParaRPr lang="en-US" altLang="zh-CN" sz="2400">
              <a:solidFill>
                <a:schemeClr val="tx2"/>
              </a:solidFill>
              <a:ea typeface="宋体" panose="02010600030101010101" pitchFamily="2" charset="-122"/>
            </a:endParaRPr>
          </a:p>
        </p:txBody>
      </p:sp>
      <p:pic>
        <p:nvPicPr>
          <p:cNvPr id="85007" name="Picture 15" descr="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gray">
          <a:xfrm>
            <a:off x="3935413" y="4972050"/>
            <a:ext cx="5935662" cy="833438"/>
          </a:xfrm>
          <a:prstGeom prst="rect">
            <a:avLst/>
          </a:prstGeom>
          <a:noFill/>
          <a:ln>
            <a:noFill/>
          </a:ln>
          <a:effectLst/>
          <a:extLst>
            <a:ext uri="{909E8E84-426E-40DD-AFC4-6F175D3DCCD1}">
              <a14:hiddenFill xmlns:a14="http://schemas.microsoft.com/office/drawing/2010/main">
                <a:blipFill dpi="0" rotWithShape="1">
                  <a:blip/>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52" name="Text Box 8" descr="2"/>
          <p:cNvSpPr txBox="1">
            <a:spLocks noChangeArrowheads="1"/>
          </p:cNvSpPr>
          <p:nvPr/>
        </p:nvSpPr>
        <p:spPr bwMode="gray">
          <a:xfrm>
            <a:off x="2566989" y="2724150"/>
            <a:ext cx="7380287" cy="3081338"/>
          </a:xfrm>
          <a:prstGeom prst="rect">
            <a:avLst/>
          </a:prstGeom>
          <a:noFill/>
          <a:ln>
            <a:noFill/>
          </a:ln>
          <a:effectLst/>
          <a:extLst>
            <a:ext uri="{909E8E84-426E-40DD-AFC4-6F175D3DCCD1}">
              <a14:hiddenFill xmlns:a14="http://schemas.microsoft.com/office/drawing/2010/main">
                <a:blipFill dpi="0" rotWithShape="1">
                  <a:blip r:embed="rId1"/>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800" b="1">
                <a:solidFill>
                  <a:schemeClr val="tx2"/>
                </a:solidFill>
                <a:ea typeface="宋体" panose="02010600030101010101" pitchFamily="2" charset="-122"/>
              </a:rPr>
              <a:t>这一结果与平行板电容器公式在形式上一样。因此，可以把反向偏压下的</a:t>
            </a:r>
            <a:r>
              <a:rPr lang="en-US" altLang="zh-CN" sz="2800" b="1">
                <a:solidFill>
                  <a:schemeClr val="tx2"/>
                </a:solidFill>
                <a:ea typeface="宋体" panose="02010600030101010101" pitchFamily="2" charset="-122"/>
              </a:rPr>
              <a:t>p-n</a:t>
            </a:r>
            <a:r>
              <a:rPr lang="zh-CN" altLang="en-US" sz="2800" b="1">
                <a:solidFill>
                  <a:schemeClr val="tx2"/>
                </a:solidFill>
                <a:ea typeface="宋体" panose="02010600030101010101" pitchFamily="2" charset="-122"/>
              </a:rPr>
              <a:t>结势垒电容等效为一个平行板电容器的电容，势垒区宽度对应于两平行板间的距离。但是</a:t>
            </a:r>
            <a:r>
              <a:rPr lang="en-US" altLang="zh-CN" sz="2800" b="1">
                <a:solidFill>
                  <a:schemeClr val="tx2"/>
                </a:solidFill>
                <a:ea typeface="宋体" panose="02010600030101010101" pitchFamily="2" charset="-122"/>
              </a:rPr>
              <a:t>p-n</a:t>
            </a:r>
            <a:r>
              <a:rPr lang="zh-CN" altLang="en-US" sz="2800" b="1">
                <a:solidFill>
                  <a:schemeClr val="tx2"/>
                </a:solidFill>
                <a:ea typeface="宋体" panose="02010600030101010101" pitchFamily="2" charset="-122"/>
              </a:rPr>
              <a:t>结势垒电容中的势垒宽度与外加电压有关，因此，</a:t>
            </a:r>
            <a:r>
              <a:rPr lang="en-US" altLang="zh-CN" sz="2800" b="1">
                <a:solidFill>
                  <a:schemeClr val="tx2"/>
                </a:solidFill>
                <a:ea typeface="宋体" panose="02010600030101010101" pitchFamily="2" charset="-122"/>
              </a:rPr>
              <a:t>p-n</a:t>
            </a:r>
            <a:r>
              <a:rPr lang="zh-CN" altLang="en-US" sz="2800" b="1">
                <a:solidFill>
                  <a:schemeClr val="tx2"/>
                </a:solidFill>
                <a:ea typeface="宋体" panose="02010600030101010101" pitchFamily="2" charset="-122"/>
              </a:rPr>
              <a:t>结势垒电容是随外加电压而变化的非线性电容，而平行板电容的电容是一个恒量。</a:t>
            </a:r>
            <a:endParaRPr lang="zh-CN" altLang="en-US" sz="2800" b="1">
              <a:solidFill>
                <a:schemeClr val="tx2"/>
              </a:solidFill>
              <a:ea typeface="宋体" panose="02010600030101010101" pitchFamily="2" charset="-122"/>
            </a:endParaRPr>
          </a:p>
        </p:txBody>
      </p:sp>
      <p:sp>
        <p:nvSpPr>
          <p:cNvPr id="82955" name="Text Box 11" descr="2"/>
          <p:cNvSpPr txBox="1">
            <a:spLocks noChangeArrowheads="1"/>
          </p:cNvSpPr>
          <p:nvPr/>
        </p:nvSpPr>
        <p:spPr bwMode="gray">
          <a:xfrm>
            <a:off x="1919288" y="1628775"/>
            <a:ext cx="4032250" cy="457200"/>
          </a:xfrm>
          <a:prstGeom prst="rect">
            <a:avLst/>
          </a:prstGeom>
          <a:noFill/>
          <a:ln>
            <a:noFill/>
          </a:ln>
          <a:effectLst/>
          <a:extLst>
            <a:ext uri="{909E8E84-426E-40DD-AFC4-6F175D3DCCD1}">
              <a14:hiddenFill xmlns:a14="http://schemas.microsoft.com/office/drawing/2010/main">
                <a:blipFill dpi="0" rotWithShape="1">
                  <a:blip r:embed="rId1"/>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400">
                <a:solidFill>
                  <a:schemeClr val="tx2"/>
                </a:solidFill>
                <a:ea typeface="宋体" panose="02010600030101010101" pitchFamily="2" charset="-122"/>
              </a:rPr>
              <a:t>       将</a:t>
            </a:r>
            <a:r>
              <a:rPr lang="en-US" altLang="zh-CN" sz="2400">
                <a:solidFill>
                  <a:schemeClr val="tx2"/>
                </a:solidFill>
                <a:ea typeface="宋体" panose="02010600030101010101" pitchFamily="2" charset="-122"/>
              </a:rPr>
              <a:t>X</a:t>
            </a:r>
            <a:r>
              <a:rPr lang="en-US" altLang="zh-CN" sz="2400" baseline="-25000">
                <a:solidFill>
                  <a:schemeClr val="tx2"/>
                </a:solidFill>
                <a:ea typeface="宋体" panose="02010600030101010101" pitchFamily="2" charset="-122"/>
              </a:rPr>
              <a:t>D</a:t>
            </a:r>
            <a:r>
              <a:rPr lang="zh-CN" altLang="en-US" sz="2400">
                <a:solidFill>
                  <a:schemeClr val="tx2"/>
                </a:solidFill>
                <a:ea typeface="宋体" panose="02010600030101010101" pitchFamily="2" charset="-122"/>
              </a:rPr>
              <a:t>代入上式，得：</a:t>
            </a:r>
            <a:endParaRPr lang="zh-CN" altLang="en-US" sz="2400">
              <a:solidFill>
                <a:schemeClr val="tx2"/>
              </a:solidFill>
              <a:ea typeface="宋体" panose="02010600030101010101" pitchFamily="2" charset="-122"/>
            </a:endParaRPr>
          </a:p>
        </p:txBody>
      </p:sp>
      <p:pic>
        <p:nvPicPr>
          <p:cNvPr id="82956" name="Picture 12" descr="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6048376" y="1412875"/>
            <a:ext cx="2424113" cy="882650"/>
          </a:xfrm>
          <a:prstGeom prst="rect">
            <a:avLst/>
          </a:prstGeom>
          <a:noFill/>
          <a:ln>
            <a:noFill/>
          </a:ln>
          <a:effectLst/>
          <a:extLst>
            <a:ext uri="{909E8E84-426E-40DD-AFC4-6F175D3DCCD1}">
              <a14:hiddenFill xmlns:a14="http://schemas.microsoft.com/office/drawing/2010/main">
                <a:blipFill dpi="0" rotWithShape="1">
                  <a:blip/>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04" name="Text Box 8" descr="2"/>
          <p:cNvSpPr txBox="1">
            <a:spLocks noChangeArrowheads="1"/>
          </p:cNvSpPr>
          <p:nvPr/>
        </p:nvSpPr>
        <p:spPr bwMode="gray">
          <a:xfrm>
            <a:off x="1812925" y="401639"/>
            <a:ext cx="5867400" cy="579437"/>
          </a:xfrm>
          <a:prstGeom prst="rect">
            <a:avLst/>
          </a:prstGeom>
          <a:noFill/>
          <a:ln>
            <a:noFill/>
          </a:ln>
          <a:effectLst/>
          <a:extLst>
            <a:ext uri="{909E8E84-426E-40DD-AFC4-6F175D3DCCD1}">
              <a14:hiddenFill xmlns:a14="http://schemas.microsoft.com/office/drawing/2010/main">
                <a:blipFill dpi="0" rotWithShape="1">
                  <a:blip r:embed="rId1"/>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3200" b="1">
                <a:solidFill>
                  <a:srgbClr val="FFFFFF"/>
                </a:solidFill>
                <a:ea typeface="宋体" panose="02010600030101010101" pitchFamily="2" charset="-122"/>
              </a:rPr>
              <a:t>3.  </a:t>
            </a:r>
            <a:r>
              <a:rPr lang="zh-CN" altLang="en-US" sz="3200" b="1">
                <a:solidFill>
                  <a:srgbClr val="FFFFFF"/>
                </a:solidFill>
                <a:ea typeface="宋体" panose="02010600030101010101" pitchFamily="2" charset="-122"/>
              </a:rPr>
              <a:t>线性缓变结的势垒电容</a:t>
            </a:r>
            <a:endParaRPr lang="zh-CN" altLang="en-US" sz="3200" b="1">
              <a:solidFill>
                <a:srgbClr val="FFFFFF"/>
              </a:solidFill>
              <a:ea typeface="宋体" panose="02010600030101010101" pitchFamily="2" charset="-122"/>
            </a:endParaRPr>
          </a:p>
        </p:txBody>
      </p:sp>
      <p:sp>
        <p:nvSpPr>
          <p:cNvPr id="80905" name="Text Box 9" descr="2"/>
          <p:cNvSpPr txBox="1">
            <a:spLocks noChangeArrowheads="1"/>
          </p:cNvSpPr>
          <p:nvPr/>
        </p:nvSpPr>
        <p:spPr bwMode="gray">
          <a:xfrm>
            <a:off x="1703389" y="1484314"/>
            <a:ext cx="5545137" cy="830997"/>
          </a:xfrm>
          <a:prstGeom prst="rect">
            <a:avLst/>
          </a:prstGeom>
          <a:noFill/>
          <a:ln>
            <a:noFill/>
          </a:ln>
          <a:effectLst/>
          <a:extLst>
            <a:ext uri="{909E8E84-426E-40DD-AFC4-6F175D3DCCD1}">
              <a14:hiddenFill xmlns:a14="http://schemas.microsoft.com/office/drawing/2010/main">
                <a:blipFill dpi="0" rotWithShape="1">
                  <a:blip r:embed="rId1"/>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400">
                <a:solidFill>
                  <a:schemeClr val="tx2"/>
                </a:solidFill>
                <a:ea typeface="宋体" panose="02010600030101010101" pitchFamily="2" charset="-122"/>
              </a:rPr>
              <a:t>对于较深的扩散结，在</a:t>
            </a:r>
            <a:r>
              <a:rPr lang="en-US" altLang="zh-CN" sz="2400">
                <a:solidFill>
                  <a:schemeClr val="tx2"/>
                </a:solidFill>
                <a:ea typeface="宋体" panose="02010600030101010101" pitchFamily="2" charset="-122"/>
              </a:rPr>
              <a:t>p-n</a:t>
            </a:r>
            <a:r>
              <a:rPr lang="zh-CN" altLang="en-US" sz="2400">
                <a:solidFill>
                  <a:schemeClr val="tx2"/>
                </a:solidFill>
                <a:ea typeface="宋体" panose="02010600030101010101" pitchFamily="2" charset="-122"/>
              </a:rPr>
              <a:t>结附近，可以近似作为线性缓变结，电荷分布如图：</a:t>
            </a:r>
            <a:endParaRPr lang="zh-CN" altLang="en-US" sz="2400">
              <a:solidFill>
                <a:schemeClr val="tx2"/>
              </a:solidFill>
              <a:ea typeface="宋体" panose="02010600030101010101" pitchFamily="2" charset="-122"/>
            </a:endParaRPr>
          </a:p>
        </p:txBody>
      </p:sp>
      <p:pic>
        <p:nvPicPr>
          <p:cNvPr id="80906" name="Picture 10" descr="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3825876" y="2276476"/>
            <a:ext cx="4791075" cy="1916113"/>
          </a:xfrm>
          <a:prstGeom prst="rect">
            <a:avLst/>
          </a:prstGeom>
          <a:noFill/>
          <a:ln>
            <a:noFill/>
          </a:ln>
          <a:effectLst/>
          <a:extLst>
            <a:ext uri="{909E8E84-426E-40DD-AFC4-6F175D3DCCD1}">
              <a14:hiddenFill xmlns:a14="http://schemas.microsoft.com/office/drawing/2010/main">
                <a:blipFill dpi="0" rotWithShape="1">
                  <a:blip/>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0907" name="Text Box 11" descr="2"/>
          <p:cNvSpPr txBox="1">
            <a:spLocks noChangeArrowheads="1"/>
          </p:cNvSpPr>
          <p:nvPr/>
        </p:nvSpPr>
        <p:spPr bwMode="gray">
          <a:xfrm>
            <a:off x="1703389" y="4437063"/>
            <a:ext cx="3959225" cy="457200"/>
          </a:xfrm>
          <a:prstGeom prst="rect">
            <a:avLst/>
          </a:prstGeom>
          <a:noFill/>
          <a:ln>
            <a:noFill/>
          </a:ln>
          <a:effectLst/>
          <a:extLst>
            <a:ext uri="{909E8E84-426E-40DD-AFC4-6F175D3DCCD1}">
              <a14:hiddenFill xmlns:a14="http://schemas.microsoft.com/office/drawing/2010/main">
                <a:blipFill dpi="0" rotWithShape="1">
                  <a:blip r:embed="rId1"/>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400">
                <a:solidFill>
                  <a:schemeClr val="tx2"/>
                </a:solidFill>
                <a:ea typeface="宋体" panose="02010600030101010101" pitchFamily="2" charset="-122"/>
              </a:rPr>
              <a:t>势垒区的空间电荷密度设为</a:t>
            </a:r>
            <a:endParaRPr lang="zh-CN" altLang="en-US" sz="2400">
              <a:solidFill>
                <a:schemeClr val="tx2"/>
              </a:solidFill>
              <a:ea typeface="宋体" panose="02010600030101010101" pitchFamily="2" charset="-122"/>
            </a:endParaRPr>
          </a:p>
        </p:txBody>
      </p:sp>
      <p:pic>
        <p:nvPicPr>
          <p:cNvPr id="80908" name="Picture 12" descr="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gray">
          <a:xfrm>
            <a:off x="5629275" y="4365625"/>
            <a:ext cx="4859338" cy="622300"/>
          </a:xfrm>
          <a:prstGeom prst="rect">
            <a:avLst/>
          </a:prstGeom>
          <a:noFill/>
          <a:ln>
            <a:noFill/>
          </a:ln>
          <a:effectLst/>
          <a:extLst>
            <a:ext uri="{909E8E84-426E-40DD-AFC4-6F175D3DCCD1}">
              <a14:hiddenFill xmlns:a14="http://schemas.microsoft.com/office/drawing/2010/main">
                <a:blipFill dpi="0" rotWithShape="1">
                  <a:blip/>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0909" name="Text Box 13" descr="2"/>
          <p:cNvSpPr txBox="1">
            <a:spLocks noChangeArrowheads="1"/>
          </p:cNvSpPr>
          <p:nvPr/>
        </p:nvSpPr>
        <p:spPr bwMode="gray">
          <a:xfrm>
            <a:off x="1703389" y="5013325"/>
            <a:ext cx="8893175" cy="1373188"/>
          </a:xfrm>
          <a:prstGeom prst="rect">
            <a:avLst/>
          </a:prstGeom>
          <a:noFill/>
          <a:ln>
            <a:noFill/>
          </a:ln>
          <a:effectLst/>
          <a:extLst>
            <a:ext uri="{909E8E84-426E-40DD-AFC4-6F175D3DCCD1}">
              <a14:hiddenFill xmlns:a14="http://schemas.microsoft.com/office/drawing/2010/main">
                <a:blipFill dpi="0" rotWithShape="1">
                  <a:blip r:embed="rId1"/>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a:solidFill>
                  <a:schemeClr val="tx2"/>
                </a:solidFill>
                <a:ea typeface="宋体" panose="02010600030101010101" pitchFamily="2" charset="-122"/>
              </a:rPr>
              <a:t>a</a:t>
            </a:r>
            <a:r>
              <a:rPr lang="en-US" altLang="zh-CN" sz="2800" baseline="-25000">
                <a:solidFill>
                  <a:schemeClr val="tx2"/>
                </a:solidFill>
                <a:ea typeface="宋体" panose="02010600030101010101" pitchFamily="2" charset="-122"/>
              </a:rPr>
              <a:t>j</a:t>
            </a:r>
            <a:r>
              <a:rPr lang="zh-CN" altLang="en-US" sz="2800">
                <a:solidFill>
                  <a:schemeClr val="tx2"/>
                </a:solidFill>
                <a:ea typeface="宋体" panose="02010600030101010101" pitchFamily="2" charset="-122"/>
              </a:rPr>
              <a:t>为杂质浓度梯度。因为势垒区内正负空间电荷总量相等，势垒区的边界在</a:t>
            </a:r>
            <a:r>
              <a:rPr lang="en-US" altLang="zh-CN" sz="2800">
                <a:solidFill>
                  <a:schemeClr val="tx2"/>
                </a:solidFill>
                <a:ea typeface="宋体" panose="02010600030101010101" pitchFamily="2" charset="-122"/>
              </a:rPr>
              <a:t>x=±X</a:t>
            </a:r>
            <a:r>
              <a:rPr lang="en-US" altLang="zh-CN" sz="2800" baseline="-25000">
                <a:solidFill>
                  <a:schemeClr val="tx2"/>
                </a:solidFill>
                <a:ea typeface="宋体" panose="02010600030101010101" pitchFamily="2" charset="-122"/>
              </a:rPr>
              <a:t>D</a:t>
            </a:r>
            <a:r>
              <a:rPr lang="en-US" altLang="zh-CN" sz="2800">
                <a:solidFill>
                  <a:schemeClr val="tx2"/>
                </a:solidFill>
                <a:ea typeface="宋体" panose="02010600030101010101" pitchFamily="2" charset="-122"/>
              </a:rPr>
              <a:t>/2</a:t>
            </a:r>
            <a:r>
              <a:rPr lang="zh-CN" altLang="en-US" sz="2800">
                <a:solidFill>
                  <a:schemeClr val="tx2"/>
                </a:solidFill>
                <a:ea typeface="宋体" panose="02010600030101010101" pitchFamily="2" charset="-122"/>
              </a:rPr>
              <a:t>处，即势垒区在</a:t>
            </a:r>
            <a:r>
              <a:rPr lang="en-US" altLang="zh-CN" sz="2800">
                <a:solidFill>
                  <a:schemeClr val="tx2"/>
                </a:solidFill>
                <a:ea typeface="宋体" panose="02010600030101010101" pitchFamily="2" charset="-122"/>
              </a:rPr>
              <a:t>p-n</a:t>
            </a:r>
            <a:r>
              <a:rPr lang="zh-CN" altLang="en-US" sz="2800">
                <a:solidFill>
                  <a:schemeClr val="tx2"/>
                </a:solidFill>
                <a:ea typeface="宋体" panose="02010600030101010101" pitchFamily="2" charset="-122"/>
              </a:rPr>
              <a:t>结两边是对称的。</a:t>
            </a:r>
            <a:endParaRPr lang="zh-CN" altLang="en-US" sz="2800">
              <a:solidFill>
                <a:schemeClr val="tx2"/>
              </a:solidFill>
              <a:ea typeface="宋体" panose="02010600030101010101" pitchFamily="2" charset="-122"/>
            </a:endParaRPr>
          </a:p>
        </p:txBody>
      </p:sp>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55" name="Text Box 15" descr="2"/>
          <p:cNvSpPr txBox="1">
            <a:spLocks noChangeArrowheads="1"/>
          </p:cNvSpPr>
          <p:nvPr/>
        </p:nvSpPr>
        <p:spPr bwMode="gray">
          <a:xfrm>
            <a:off x="1739901" y="1531938"/>
            <a:ext cx="4284663" cy="457200"/>
          </a:xfrm>
          <a:prstGeom prst="rect">
            <a:avLst/>
          </a:prstGeom>
          <a:noFill/>
          <a:ln>
            <a:noFill/>
          </a:ln>
          <a:effectLst/>
          <a:extLst>
            <a:ext uri="{909E8E84-426E-40DD-AFC4-6F175D3DCCD1}">
              <a14:hiddenFill xmlns:a14="http://schemas.microsoft.com/office/drawing/2010/main">
                <a:blipFill dpi="0" rotWithShape="1">
                  <a:blip r:embed="rId1"/>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400">
                <a:solidFill>
                  <a:schemeClr val="tx2"/>
                </a:solidFill>
                <a:ea typeface="宋体" panose="02010600030101010101" pitchFamily="2" charset="-122"/>
              </a:rPr>
              <a:t>将</a:t>
            </a:r>
            <a:r>
              <a:rPr lang="el-GR" altLang="zh-CN" sz="2400" i="1">
                <a:solidFill>
                  <a:schemeClr val="tx2"/>
                </a:solidFill>
                <a:cs typeface="Arial" panose="020B0604020202020204" pitchFamily="34" charset="0"/>
              </a:rPr>
              <a:t>ρ</a:t>
            </a:r>
            <a:r>
              <a:rPr lang="zh-CN" altLang="en-US" sz="2400" i="1">
                <a:solidFill>
                  <a:schemeClr val="tx2"/>
                </a:solidFill>
                <a:ea typeface="宋体" panose="02010600030101010101" pitchFamily="2" charset="-122"/>
                <a:cs typeface="Arial" panose="020B0604020202020204" pitchFamily="34" charset="0"/>
              </a:rPr>
              <a:t>（</a:t>
            </a:r>
            <a:r>
              <a:rPr lang="en-US" altLang="zh-CN" sz="2400" i="1">
                <a:solidFill>
                  <a:schemeClr val="tx2"/>
                </a:solidFill>
                <a:ea typeface="宋体" panose="02010600030101010101" pitchFamily="2" charset="-122"/>
                <a:cs typeface="Arial" panose="020B0604020202020204" pitchFamily="34" charset="0"/>
              </a:rPr>
              <a:t>x</a:t>
            </a:r>
            <a:r>
              <a:rPr lang="zh-CN" altLang="en-US" sz="2400" i="1">
                <a:solidFill>
                  <a:schemeClr val="tx2"/>
                </a:solidFill>
                <a:ea typeface="宋体" panose="02010600030101010101" pitchFamily="2" charset="-122"/>
                <a:cs typeface="Arial" panose="020B0604020202020204" pitchFamily="34" charset="0"/>
              </a:rPr>
              <a:t>）</a:t>
            </a:r>
            <a:r>
              <a:rPr lang="zh-CN" altLang="en-US" sz="2400">
                <a:solidFill>
                  <a:schemeClr val="tx2"/>
                </a:solidFill>
                <a:ea typeface="宋体" panose="02010600030101010101" pitchFamily="2" charset="-122"/>
                <a:cs typeface="Arial" panose="020B0604020202020204" pitchFamily="34" charset="0"/>
              </a:rPr>
              <a:t>代入一维泊松方程：</a:t>
            </a:r>
            <a:endParaRPr lang="zh-CN" altLang="el-GR" sz="2400">
              <a:solidFill>
                <a:schemeClr val="tx2"/>
              </a:solidFill>
              <a:ea typeface="宋体" panose="02010600030101010101" pitchFamily="2" charset="-122"/>
              <a:cs typeface="Arial" panose="020B0604020202020204" pitchFamily="34" charset="0"/>
            </a:endParaRPr>
          </a:p>
        </p:txBody>
      </p:sp>
      <p:pic>
        <p:nvPicPr>
          <p:cNvPr id="87056" name="Picture 16" descr="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6167438" y="1341439"/>
            <a:ext cx="3168650" cy="979487"/>
          </a:xfrm>
          <a:prstGeom prst="rect">
            <a:avLst/>
          </a:prstGeom>
          <a:noFill/>
          <a:ln>
            <a:noFill/>
          </a:ln>
          <a:effectLst/>
          <a:extLst>
            <a:ext uri="{909E8E84-426E-40DD-AFC4-6F175D3DCCD1}">
              <a14:hiddenFill xmlns:a14="http://schemas.microsoft.com/office/drawing/2010/main">
                <a:blipFill dpi="0" rotWithShape="1">
                  <a:blip/>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7057" name="Freeform 17"/>
          <p:cNvSpPr/>
          <p:nvPr/>
        </p:nvSpPr>
        <p:spPr bwMode="gray">
          <a:xfrm>
            <a:off x="7751763" y="2060576"/>
            <a:ext cx="215900" cy="1008063"/>
          </a:xfrm>
          <a:custGeom>
            <a:avLst/>
            <a:gdLst>
              <a:gd name="T0" fmla="*/ 37 w 142"/>
              <a:gd name="T1" fmla="*/ 1 h 604"/>
              <a:gd name="T2" fmla="*/ 45 w 142"/>
              <a:gd name="T3" fmla="*/ 472 h 604"/>
              <a:gd name="T4" fmla="*/ 0 w 142"/>
              <a:gd name="T5" fmla="*/ 474 h 604"/>
              <a:gd name="T6" fmla="*/ 72 w 142"/>
              <a:gd name="T7" fmla="*/ 604 h 604"/>
              <a:gd name="T8" fmla="*/ 142 w 142"/>
              <a:gd name="T9" fmla="*/ 474 h 604"/>
              <a:gd name="T10" fmla="*/ 100 w 142"/>
              <a:gd name="T11" fmla="*/ 474 h 604"/>
              <a:gd name="T12" fmla="*/ 99 w 142"/>
              <a:gd name="T13" fmla="*/ 0 h 604"/>
              <a:gd name="T14" fmla="*/ 37 w 142"/>
              <a:gd name="T15" fmla="*/ 1 h 60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2" h="604">
                <a:moveTo>
                  <a:pt x="37" y="1"/>
                </a:moveTo>
                <a:lnTo>
                  <a:pt x="45" y="472"/>
                </a:lnTo>
                <a:lnTo>
                  <a:pt x="0" y="474"/>
                </a:lnTo>
                <a:lnTo>
                  <a:pt x="72" y="604"/>
                </a:lnTo>
                <a:lnTo>
                  <a:pt x="142" y="474"/>
                </a:lnTo>
                <a:lnTo>
                  <a:pt x="100" y="474"/>
                </a:lnTo>
                <a:lnTo>
                  <a:pt x="99" y="0"/>
                </a:lnTo>
                <a:lnTo>
                  <a:pt x="37" y="1"/>
                </a:lnTo>
                <a:close/>
              </a:path>
            </a:pathLst>
          </a:custGeom>
          <a:gradFill rotWithShape="1">
            <a:gsLst>
              <a:gs pos="0">
                <a:schemeClr val="bg1">
                  <a:alpha val="0"/>
                </a:schemeClr>
              </a:gs>
              <a:gs pos="100000">
                <a:srgbClr val="808080"/>
              </a:gs>
            </a:gsLst>
            <a:lin ang="5400000" scaled="1"/>
          </a:gradFill>
          <a:ln>
            <a:noFill/>
          </a:ln>
          <a:effectLst/>
          <a:extLst>
            <a:ext uri="{91240B29-F687-4F45-9708-019B960494DF}">
              <a14:hiddenLine xmlns:a14="http://schemas.microsoft.com/office/drawing/2010/main" w="9525">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292929"/>
                  </a:outerShdw>
                </a:effectLst>
              </a14:hiddenEffects>
            </a:ext>
          </a:extLst>
        </p:spPr>
        <p:txBody>
          <a:bodyPr wrap="none" anchor="ctr"/>
          <a:lstStyle/>
          <a:p>
            <a:endParaRPr lang="zh-CN" altLang="en-US"/>
          </a:p>
        </p:txBody>
      </p:sp>
      <p:sp>
        <p:nvSpPr>
          <p:cNvPr id="87058" name="Text Box 18" descr="2"/>
          <p:cNvSpPr txBox="1">
            <a:spLocks noChangeArrowheads="1"/>
          </p:cNvSpPr>
          <p:nvPr/>
        </p:nvSpPr>
        <p:spPr bwMode="gray">
          <a:xfrm>
            <a:off x="7824788" y="2420938"/>
            <a:ext cx="1223962" cy="457200"/>
          </a:xfrm>
          <a:prstGeom prst="rect">
            <a:avLst/>
          </a:prstGeom>
          <a:noFill/>
          <a:ln>
            <a:noFill/>
          </a:ln>
          <a:effectLst/>
          <a:extLst>
            <a:ext uri="{909E8E84-426E-40DD-AFC4-6F175D3DCCD1}">
              <a14:hiddenFill xmlns:a14="http://schemas.microsoft.com/office/drawing/2010/main">
                <a:blipFill dpi="0" rotWithShape="1">
                  <a:blip r:embed="rId1"/>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a:solidFill>
                  <a:schemeClr val="tx2"/>
                </a:solidFill>
                <a:ea typeface="宋体" panose="02010600030101010101" pitchFamily="2" charset="-122"/>
              </a:rPr>
              <a:t>积分</a:t>
            </a:r>
            <a:endParaRPr lang="zh-CN" altLang="en-US" sz="2400">
              <a:solidFill>
                <a:schemeClr val="tx2"/>
              </a:solidFill>
              <a:ea typeface="宋体" panose="02010600030101010101" pitchFamily="2" charset="-122"/>
            </a:endParaRPr>
          </a:p>
        </p:txBody>
      </p:sp>
      <p:pic>
        <p:nvPicPr>
          <p:cNvPr id="87059" name="Picture 19" descr="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gray">
          <a:xfrm>
            <a:off x="6238876" y="3141663"/>
            <a:ext cx="3313113" cy="836612"/>
          </a:xfrm>
          <a:prstGeom prst="rect">
            <a:avLst/>
          </a:prstGeom>
          <a:noFill/>
          <a:ln>
            <a:noFill/>
          </a:ln>
          <a:effectLst/>
          <a:extLst>
            <a:ext uri="{909E8E84-426E-40DD-AFC4-6F175D3DCCD1}">
              <a14:hiddenFill xmlns:a14="http://schemas.microsoft.com/office/drawing/2010/main">
                <a:blipFill dpi="0" rotWithShape="1">
                  <a:blip/>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7060" name="Text Box 20" descr="2"/>
          <p:cNvSpPr txBox="1">
            <a:spLocks noChangeArrowheads="1"/>
          </p:cNvSpPr>
          <p:nvPr/>
        </p:nvSpPr>
        <p:spPr bwMode="gray">
          <a:xfrm>
            <a:off x="2351089" y="4340225"/>
            <a:ext cx="2376487" cy="457200"/>
          </a:xfrm>
          <a:prstGeom prst="rect">
            <a:avLst/>
          </a:prstGeom>
          <a:noFill/>
          <a:ln>
            <a:noFill/>
          </a:ln>
          <a:effectLst/>
          <a:extLst>
            <a:ext uri="{909E8E84-426E-40DD-AFC4-6F175D3DCCD1}">
              <a14:hiddenFill xmlns:a14="http://schemas.microsoft.com/office/drawing/2010/main">
                <a:blipFill dpi="0" rotWithShape="1">
                  <a:blip r:embed="rId1"/>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a:solidFill>
                  <a:schemeClr val="tx2"/>
                </a:solidFill>
                <a:ea typeface="宋体" panose="02010600030101010101" pitchFamily="2" charset="-122"/>
              </a:rPr>
              <a:t>边界条件：</a:t>
            </a:r>
            <a:endParaRPr lang="zh-CN" altLang="en-US" sz="2400">
              <a:solidFill>
                <a:schemeClr val="tx2"/>
              </a:solidFill>
              <a:ea typeface="宋体" panose="02010600030101010101" pitchFamily="2" charset="-122"/>
            </a:endParaRPr>
          </a:p>
        </p:txBody>
      </p:sp>
      <p:pic>
        <p:nvPicPr>
          <p:cNvPr id="87061" name="Picture 21" descr="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gray">
          <a:xfrm>
            <a:off x="4656138" y="4076700"/>
            <a:ext cx="5327650" cy="952500"/>
          </a:xfrm>
          <a:prstGeom prst="rect">
            <a:avLst/>
          </a:prstGeom>
          <a:noFill/>
          <a:ln>
            <a:noFill/>
          </a:ln>
          <a:effectLst/>
          <a:extLst>
            <a:ext uri="{909E8E84-426E-40DD-AFC4-6F175D3DCCD1}">
              <a14:hiddenFill xmlns:a14="http://schemas.microsoft.com/office/drawing/2010/main">
                <a:blipFill dpi="0" rotWithShape="1">
                  <a:blip/>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7062" name="Freeform 22"/>
          <p:cNvSpPr/>
          <p:nvPr/>
        </p:nvSpPr>
        <p:spPr bwMode="gray">
          <a:xfrm>
            <a:off x="7032626" y="4797426"/>
            <a:ext cx="288925" cy="576263"/>
          </a:xfrm>
          <a:custGeom>
            <a:avLst/>
            <a:gdLst>
              <a:gd name="T0" fmla="*/ 37 w 142"/>
              <a:gd name="T1" fmla="*/ 1 h 604"/>
              <a:gd name="T2" fmla="*/ 45 w 142"/>
              <a:gd name="T3" fmla="*/ 472 h 604"/>
              <a:gd name="T4" fmla="*/ 0 w 142"/>
              <a:gd name="T5" fmla="*/ 474 h 604"/>
              <a:gd name="T6" fmla="*/ 72 w 142"/>
              <a:gd name="T7" fmla="*/ 604 h 604"/>
              <a:gd name="T8" fmla="*/ 142 w 142"/>
              <a:gd name="T9" fmla="*/ 474 h 604"/>
              <a:gd name="T10" fmla="*/ 100 w 142"/>
              <a:gd name="T11" fmla="*/ 474 h 604"/>
              <a:gd name="T12" fmla="*/ 99 w 142"/>
              <a:gd name="T13" fmla="*/ 0 h 604"/>
              <a:gd name="T14" fmla="*/ 37 w 142"/>
              <a:gd name="T15" fmla="*/ 1 h 60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2" h="604">
                <a:moveTo>
                  <a:pt x="37" y="1"/>
                </a:moveTo>
                <a:lnTo>
                  <a:pt x="45" y="472"/>
                </a:lnTo>
                <a:lnTo>
                  <a:pt x="0" y="474"/>
                </a:lnTo>
                <a:lnTo>
                  <a:pt x="72" y="604"/>
                </a:lnTo>
                <a:lnTo>
                  <a:pt x="142" y="474"/>
                </a:lnTo>
                <a:lnTo>
                  <a:pt x="100" y="474"/>
                </a:lnTo>
                <a:lnTo>
                  <a:pt x="99" y="0"/>
                </a:lnTo>
                <a:lnTo>
                  <a:pt x="37" y="1"/>
                </a:lnTo>
                <a:close/>
              </a:path>
            </a:pathLst>
          </a:custGeom>
          <a:gradFill rotWithShape="1">
            <a:gsLst>
              <a:gs pos="0">
                <a:schemeClr val="bg1">
                  <a:alpha val="0"/>
                </a:schemeClr>
              </a:gs>
              <a:gs pos="100000">
                <a:srgbClr val="808080"/>
              </a:gs>
            </a:gsLst>
            <a:lin ang="5400000" scaled="1"/>
          </a:gradFill>
          <a:ln>
            <a:noFill/>
          </a:ln>
          <a:effectLst/>
          <a:extLst>
            <a:ext uri="{91240B29-F687-4F45-9708-019B960494DF}">
              <a14:hiddenLine xmlns:a14="http://schemas.microsoft.com/office/drawing/2010/main" w="9525">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292929"/>
                  </a:outerShdw>
                </a:effectLst>
              </a14:hiddenEffects>
            </a:ext>
          </a:extLst>
        </p:spPr>
        <p:txBody>
          <a:bodyPr wrap="none" anchor="ctr"/>
          <a:lstStyle/>
          <a:p>
            <a:endParaRPr lang="zh-CN" altLang="en-US"/>
          </a:p>
        </p:txBody>
      </p:sp>
      <p:pic>
        <p:nvPicPr>
          <p:cNvPr id="87063" name="Picture 23" descr="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gray">
          <a:xfrm>
            <a:off x="5735638" y="5373689"/>
            <a:ext cx="2863850" cy="777875"/>
          </a:xfrm>
          <a:prstGeom prst="rect">
            <a:avLst/>
          </a:prstGeom>
          <a:noFill/>
          <a:ln>
            <a:noFill/>
          </a:ln>
          <a:effectLst/>
          <a:extLst>
            <a:ext uri="{909E8E84-426E-40DD-AFC4-6F175D3DCCD1}">
              <a14:hiddenFill xmlns:a14="http://schemas.microsoft.com/office/drawing/2010/main">
                <a:blipFill dpi="0" rotWithShape="1">
                  <a:blip/>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6" name="Text Box 8" descr="2"/>
          <p:cNvSpPr txBox="1">
            <a:spLocks noChangeArrowheads="1"/>
          </p:cNvSpPr>
          <p:nvPr/>
        </p:nvSpPr>
        <p:spPr bwMode="gray">
          <a:xfrm>
            <a:off x="1847850" y="1341438"/>
            <a:ext cx="5111750" cy="457200"/>
          </a:xfrm>
          <a:prstGeom prst="rect">
            <a:avLst/>
          </a:prstGeom>
          <a:noFill/>
          <a:ln>
            <a:noFill/>
          </a:ln>
          <a:effectLst/>
          <a:extLst>
            <a:ext uri="{909E8E84-426E-40DD-AFC4-6F175D3DCCD1}">
              <a14:hiddenFill xmlns:a14="http://schemas.microsoft.com/office/drawing/2010/main">
                <a:blipFill dpi="0" rotWithShape="1">
                  <a:blip r:embed="rId1"/>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400">
                <a:solidFill>
                  <a:schemeClr val="tx2"/>
                </a:solidFill>
                <a:ea typeface="宋体" panose="02010600030101010101" pitchFamily="2" charset="-122"/>
              </a:rPr>
              <a:t>因此，势垒区中各点电场强度为：</a:t>
            </a:r>
            <a:endParaRPr lang="zh-CN" altLang="en-US" sz="2400">
              <a:solidFill>
                <a:schemeClr val="tx2"/>
              </a:solidFill>
              <a:ea typeface="宋体" panose="02010600030101010101" pitchFamily="2" charset="-122"/>
            </a:endParaRPr>
          </a:p>
        </p:txBody>
      </p:sp>
      <p:pic>
        <p:nvPicPr>
          <p:cNvPr id="78857" name="Picture 9" descr="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2855914" y="1916114"/>
            <a:ext cx="5938837" cy="860425"/>
          </a:xfrm>
          <a:prstGeom prst="rect">
            <a:avLst/>
          </a:prstGeom>
          <a:noFill/>
          <a:ln>
            <a:noFill/>
          </a:ln>
          <a:effectLst/>
          <a:extLst>
            <a:ext uri="{909E8E84-426E-40DD-AFC4-6F175D3DCCD1}">
              <a14:hiddenFill xmlns:a14="http://schemas.microsoft.com/office/drawing/2010/main">
                <a:blipFill dpi="0" rotWithShape="1">
                  <a:blip/>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8858" name="Picture 10" descr="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gray">
          <a:xfrm>
            <a:off x="1774826" y="2924176"/>
            <a:ext cx="4391025" cy="1698625"/>
          </a:xfrm>
          <a:prstGeom prst="rect">
            <a:avLst/>
          </a:prstGeom>
          <a:noFill/>
          <a:ln>
            <a:noFill/>
          </a:ln>
          <a:effectLst/>
          <a:extLst>
            <a:ext uri="{909E8E84-426E-40DD-AFC4-6F175D3DCCD1}">
              <a14:hiddenFill xmlns:a14="http://schemas.microsoft.com/office/drawing/2010/main">
                <a:blipFill dpi="0" rotWithShape="1">
                  <a:blip/>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8859" name="Text Box 11" descr="2"/>
          <p:cNvSpPr txBox="1">
            <a:spLocks noChangeArrowheads="1"/>
          </p:cNvSpPr>
          <p:nvPr/>
        </p:nvSpPr>
        <p:spPr bwMode="gray">
          <a:xfrm>
            <a:off x="6527801" y="2997200"/>
            <a:ext cx="3673475" cy="457200"/>
          </a:xfrm>
          <a:prstGeom prst="rect">
            <a:avLst/>
          </a:prstGeom>
          <a:noFill/>
          <a:ln>
            <a:noFill/>
          </a:ln>
          <a:effectLst/>
          <a:extLst>
            <a:ext uri="{909E8E84-426E-40DD-AFC4-6F175D3DCCD1}">
              <a14:hiddenFill xmlns:a14="http://schemas.microsoft.com/office/drawing/2010/main">
                <a:blipFill dpi="0" rotWithShape="1">
                  <a:blip r:embed="rId1"/>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a:solidFill>
                  <a:schemeClr val="tx2"/>
                </a:solidFill>
                <a:ea typeface="宋体" panose="02010600030101010101" pitchFamily="2" charset="-122"/>
              </a:rPr>
              <a:t>X=0</a:t>
            </a:r>
            <a:r>
              <a:rPr lang="zh-CN" altLang="en-US" sz="2400">
                <a:solidFill>
                  <a:schemeClr val="tx2"/>
                </a:solidFill>
                <a:ea typeface="宋体" panose="02010600030101010101" pitchFamily="2" charset="-122"/>
              </a:rPr>
              <a:t>处电场强度达到最大</a:t>
            </a:r>
            <a:endParaRPr lang="zh-CN" altLang="en-US" sz="2400">
              <a:solidFill>
                <a:schemeClr val="tx2"/>
              </a:solidFill>
              <a:ea typeface="宋体" panose="02010600030101010101" pitchFamily="2" charset="-122"/>
            </a:endParaRPr>
          </a:p>
        </p:txBody>
      </p:sp>
      <p:pic>
        <p:nvPicPr>
          <p:cNvPr id="78860" name="Picture 12" descr="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gray">
          <a:xfrm>
            <a:off x="6888163" y="3573464"/>
            <a:ext cx="2728912" cy="820737"/>
          </a:xfrm>
          <a:prstGeom prst="rect">
            <a:avLst/>
          </a:prstGeom>
          <a:noFill/>
          <a:ln>
            <a:noFill/>
          </a:ln>
          <a:effectLst/>
          <a:extLst>
            <a:ext uri="{909E8E84-426E-40DD-AFC4-6F175D3DCCD1}">
              <a14:hiddenFill xmlns:a14="http://schemas.microsoft.com/office/drawing/2010/main">
                <a:blipFill dpi="0" rotWithShape="1">
                  <a:blip/>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8861" name="Text Box 13" descr="2"/>
          <p:cNvSpPr txBox="1">
            <a:spLocks noChangeArrowheads="1"/>
          </p:cNvSpPr>
          <p:nvPr/>
        </p:nvSpPr>
        <p:spPr bwMode="gray">
          <a:xfrm>
            <a:off x="2063750" y="4868863"/>
            <a:ext cx="2089150" cy="457200"/>
          </a:xfrm>
          <a:prstGeom prst="rect">
            <a:avLst/>
          </a:prstGeom>
          <a:noFill/>
          <a:ln>
            <a:noFill/>
          </a:ln>
          <a:effectLst/>
          <a:extLst>
            <a:ext uri="{909E8E84-426E-40DD-AFC4-6F175D3DCCD1}">
              <a14:hiddenFill xmlns:a14="http://schemas.microsoft.com/office/drawing/2010/main">
                <a:blipFill dpi="0" rotWithShape="1">
                  <a:blip r:embed="rId1"/>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400">
                <a:solidFill>
                  <a:schemeClr val="tx2"/>
                </a:solidFill>
                <a:ea typeface="宋体" panose="02010600030101010101" pitchFamily="2" charset="-122"/>
              </a:rPr>
              <a:t>对上式积分：</a:t>
            </a:r>
            <a:endParaRPr lang="zh-CN" altLang="en-US" sz="2400">
              <a:solidFill>
                <a:schemeClr val="tx2"/>
              </a:solidFill>
              <a:ea typeface="宋体" panose="02010600030101010101" pitchFamily="2" charset="-122"/>
            </a:endParaRPr>
          </a:p>
        </p:txBody>
      </p:sp>
      <p:pic>
        <p:nvPicPr>
          <p:cNvPr id="78862" name="Picture 14" descr="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gray">
          <a:xfrm>
            <a:off x="4295776" y="4652963"/>
            <a:ext cx="5616575" cy="823912"/>
          </a:xfrm>
          <a:prstGeom prst="rect">
            <a:avLst/>
          </a:prstGeom>
          <a:noFill/>
          <a:ln>
            <a:noFill/>
          </a:ln>
          <a:effectLst/>
          <a:extLst>
            <a:ext uri="{909E8E84-426E-40DD-AFC4-6F175D3DCCD1}">
              <a14:hiddenFill xmlns:a14="http://schemas.microsoft.com/office/drawing/2010/main">
                <a:blipFill dpi="0" rotWithShape="1">
                  <a:blip/>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8863" name="Text Box 15" descr="2"/>
          <p:cNvSpPr txBox="1">
            <a:spLocks noChangeArrowheads="1"/>
          </p:cNvSpPr>
          <p:nvPr/>
        </p:nvSpPr>
        <p:spPr bwMode="gray">
          <a:xfrm>
            <a:off x="1524001" y="5661026"/>
            <a:ext cx="3635375" cy="830997"/>
          </a:xfrm>
          <a:prstGeom prst="rect">
            <a:avLst/>
          </a:prstGeom>
          <a:noFill/>
          <a:ln>
            <a:noFill/>
          </a:ln>
          <a:effectLst/>
          <a:extLst>
            <a:ext uri="{909E8E84-426E-40DD-AFC4-6F175D3DCCD1}">
              <a14:hiddenFill xmlns:a14="http://schemas.microsoft.com/office/drawing/2010/main">
                <a:blipFill dpi="0" rotWithShape="1">
                  <a:blip r:embed="rId1"/>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a:solidFill>
                  <a:schemeClr val="tx2"/>
                </a:solidFill>
                <a:ea typeface="宋体" panose="02010600030101010101" pitchFamily="2" charset="-122"/>
              </a:rPr>
              <a:t>设</a:t>
            </a:r>
            <a:r>
              <a:rPr lang="en-US" altLang="zh-CN" sz="2400">
                <a:solidFill>
                  <a:schemeClr val="tx2"/>
                </a:solidFill>
                <a:ea typeface="宋体" panose="02010600030101010101" pitchFamily="2" charset="-122"/>
              </a:rPr>
              <a:t>x=0</a:t>
            </a:r>
            <a:r>
              <a:rPr lang="zh-CN" altLang="en-US" sz="2400">
                <a:solidFill>
                  <a:schemeClr val="tx2"/>
                </a:solidFill>
                <a:ea typeface="宋体" panose="02010600030101010101" pitchFamily="2" charset="-122"/>
              </a:rPr>
              <a:t>处，</a:t>
            </a:r>
            <a:r>
              <a:rPr lang="en-US" altLang="zh-CN" sz="2400">
                <a:solidFill>
                  <a:schemeClr val="tx2"/>
                </a:solidFill>
                <a:ea typeface="宋体" panose="02010600030101010101" pitchFamily="2" charset="-122"/>
              </a:rPr>
              <a:t>V</a:t>
            </a:r>
            <a:r>
              <a:rPr lang="zh-CN" altLang="en-US" sz="2400">
                <a:solidFill>
                  <a:schemeClr val="tx2"/>
                </a:solidFill>
                <a:ea typeface="宋体" panose="02010600030101010101" pitchFamily="2" charset="-122"/>
              </a:rPr>
              <a:t>（</a:t>
            </a:r>
            <a:r>
              <a:rPr lang="en-US" altLang="zh-CN" sz="2400">
                <a:solidFill>
                  <a:schemeClr val="tx2"/>
                </a:solidFill>
                <a:ea typeface="宋体" panose="02010600030101010101" pitchFamily="2" charset="-122"/>
              </a:rPr>
              <a:t>0</a:t>
            </a:r>
            <a:r>
              <a:rPr lang="zh-CN" altLang="en-US" sz="2400">
                <a:solidFill>
                  <a:schemeClr val="tx2"/>
                </a:solidFill>
                <a:ea typeface="宋体" panose="02010600030101010101" pitchFamily="2" charset="-122"/>
              </a:rPr>
              <a:t>）</a:t>
            </a:r>
            <a:r>
              <a:rPr lang="en-US" altLang="zh-CN" sz="2400">
                <a:solidFill>
                  <a:schemeClr val="tx2"/>
                </a:solidFill>
                <a:ea typeface="宋体" panose="02010600030101010101" pitchFamily="2" charset="-122"/>
              </a:rPr>
              <a:t>=0</a:t>
            </a:r>
            <a:r>
              <a:rPr lang="zh-CN" altLang="en-US" sz="2400">
                <a:solidFill>
                  <a:schemeClr val="tx2"/>
                </a:solidFill>
                <a:ea typeface="宋体" panose="02010600030101010101" pitchFamily="2" charset="-122"/>
              </a:rPr>
              <a:t>，</a:t>
            </a:r>
            <a:r>
              <a:rPr lang="en-US" altLang="zh-CN" sz="2400">
                <a:solidFill>
                  <a:schemeClr val="tx2"/>
                </a:solidFill>
                <a:ea typeface="宋体" panose="02010600030101010101" pitchFamily="2" charset="-122"/>
              </a:rPr>
              <a:t>B=0</a:t>
            </a:r>
            <a:r>
              <a:rPr lang="zh-CN" altLang="en-US" sz="2400">
                <a:solidFill>
                  <a:schemeClr val="tx2"/>
                </a:solidFill>
                <a:ea typeface="宋体" panose="02010600030101010101" pitchFamily="2" charset="-122"/>
              </a:rPr>
              <a:t>，则</a:t>
            </a:r>
            <a:endParaRPr lang="zh-CN" altLang="en-US" sz="2400">
              <a:solidFill>
                <a:schemeClr val="tx2"/>
              </a:solidFill>
              <a:ea typeface="宋体" panose="02010600030101010101" pitchFamily="2" charset="-122"/>
            </a:endParaRPr>
          </a:p>
        </p:txBody>
      </p:sp>
      <p:pic>
        <p:nvPicPr>
          <p:cNvPr id="78864" name="Picture 16" descr="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gray">
          <a:xfrm>
            <a:off x="4872039" y="5602288"/>
            <a:ext cx="4751387" cy="779462"/>
          </a:xfrm>
          <a:prstGeom prst="rect">
            <a:avLst/>
          </a:prstGeom>
          <a:noFill/>
          <a:ln>
            <a:noFill/>
          </a:ln>
          <a:effectLst/>
          <a:extLst>
            <a:ext uri="{909E8E84-426E-40DD-AFC4-6F175D3DCCD1}">
              <a14:hiddenFill xmlns:a14="http://schemas.microsoft.com/office/drawing/2010/main">
                <a:blipFill dpi="0" rotWithShape="1">
                  <a:blip/>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5" name="Text Box 7" descr="2"/>
          <p:cNvSpPr txBox="1">
            <a:spLocks noChangeArrowheads="1"/>
          </p:cNvSpPr>
          <p:nvPr/>
        </p:nvSpPr>
        <p:spPr bwMode="gray">
          <a:xfrm>
            <a:off x="1774826" y="1341439"/>
            <a:ext cx="3529013" cy="1800225"/>
          </a:xfrm>
          <a:prstGeom prst="rect">
            <a:avLst/>
          </a:prstGeom>
          <a:noFill/>
          <a:ln>
            <a:noFill/>
          </a:ln>
          <a:effectLst/>
          <a:extLst>
            <a:ext uri="{909E8E84-426E-40DD-AFC4-6F175D3DCCD1}">
              <a14:hiddenFill xmlns:a14="http://schemas.microsoft.com/office/drawing/2010/main">
                <a:blipFill dpi="0" rotWithShape="1">
                  <a:blip r:embed="rId1"/>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800" b="1">
                <a:solidFill>
                  <a:schemeClr val="tx2"/>
                </a:solidFill>
                <a:ea typeface="宋体" panose="02010600030101010101" pitchFamily="2" charset="-122"/>
              </a:rPr>
              <a:t>由上式可以看出，电势是按</a:t>
            </a:r>
            <a:r>
              <a:rPr lang="en-US" altLang="zh-CN" sz="2800" b="1">
                <a:solidFill>
                  <a:schemeClr val="tx2"/>
                </a:solidFill>
                <a:ea typeface="宋体" panose="02010600030101010101" pitchFamily="2" charset="-122"/>
              </a:rPr>
              <a:t>x</a:t>
            </a:r>
            <a:r>
              <a:rPr lang="zh-CN" altLang="en-US" sz="2800" b="1">
                <a:solidFill>
                  <a:schemeClr val="tx2"/>
                </a:solidFill>
                <a:ea typeface="宋体" panose="02010600030101010101" pitchFamily="2" charset="-122"/>
              </a:rPr>
              <a:t>的立方曲线形式分布，电势和电势能曲线如图：</a:t>
            </a:r>
            <a:endParaRPr lang="zh-CN" altLang="en-US" sz="2800" b="1">
              <a:solidFill>
                <a:schemeClr val="tx2"/>
              </a:solidFill>
              <a:ea typeface="宋体" panose="02010600030101010101" pitchFamily="2" charset="-122"/>
            </a:endParaRPr>
          </a:p>
        </p:txBody>
      </p:sp>
      <p:pic>
        <p:nvPicPr>
          <p:cNvPr id="68616" name="Picture 8" descr="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5737225" y="2420938"/>
            <a:ext cx="4103688" cy="3586162"/>
          </a:xfrm>
          <a:prstGeom prst="rect">
            <a:avLst/>
          </a:prstGeom>
          <a:noFill/>
          <a:ln>
            <a:noFill/>
          </a:ln>
          <a:effectLst/>
          <a:extLst>
            <a:ext uri="{909E8E84-426E-40DD-AFC4-6F175D3DCCD1}">
              <a14:hiddenFill xmlns:a14="http://schemas.microsoft.com/office/drawing/2010/main">
                <a:blipFill dpi="0" rotWithShape="1">
                  <a:blip/>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Text Box 2" descr="2"/>
          <p:cNvSpPr txBox="1">
            <a:spLocks noChangeArrowheads="1"/>
          </p:cNvSpPr>
          <p:nvPr/>
        </p:nvSpPr>
        <p:spPr bwMode="gray">
          <a:xfrm>
            <a:off x="1774826" y="1341438"/>
            <a:ext cx="3889375" cy="519112"/>
          </a:xfrm>
          <a:prstGeom prst="rect">
            <a:avLst/>
          </a:prstGeom>
          <a:noFill/>
          <a:ln>
            <a:noFill/>
          </a:ln>
          <a:effectLst/>
          <a:extLst>
            <a:ext uri="{909E8E84-426E-40DD-AFC4-6F175D3DCCD1}">
              <a14:hiddenFill xmlns:a14="http://schemas.microsoft.com/office/drawing/2010/main">
                <a:blipFill dpi="0" rotWithShape="1">
                  <a:blip r:embed="rId1"/>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800" b="1">
                <a:solidFill>
                  <a:schemeClr val="tx2"/>
                </a:solidFill>
                <a:ea typeface="宋体" panose="02010600030101010101" pitchFamily="2" charset="-122"/>
              </a:rPr>
              <a:t>势垒区边界处的电势：</a:t>
            </a:r>
            <a:endParaRPr lang="zh-CN" altLang="en-US" sz="2800" b="1">
              <a:solidFill>
                <a:schemeClr val="tx2"/>
              </a:solidFill>
              <a:ea typeface="宋体" panose="02010600030101010101" pitchFamily="2" charset="-122"/>
            </a:endParaRPr>
          </a:p>
        </p:txBody>
      </p:sp>
      <p:pic>
        <p:nvPicPr>
          <p:cNvPr id="94213" name="Picture 5" descr="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3359150" y="1916113"/>
            <a:ext cx="4464050" cy="1611312"/>
          </a:xfrm>
          <a:prstGeom prst="rect">
            <a:avLst/>
          </a:prstGeom>
          <a:noFill/>
          <a:ln>
            <a:noFill/>
          </a:ln>
          <a:effectLst/>
          <a:extLst>
            <a:ext uri="{909E8E84-426E-40DD-AFC4-6F175D3DCCD1}">
              <a14:hiddenFill xmlns:a14="http://schemas.microsoft.com/office/drawing/2010/main">
                <a:blipFill dpi="0" rotWithShape="1">
                  <a:blip/>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4214" name="Text Box 6" descr="2"/>
          <p:cNvSpPr txBox="1">
            <a:spLocks noChangeArrowheads="1"/>
          </p:cNvSpPr>
          <p:nvPr/>
        </p:nvSpPr>
        <p:spPr bwMode="gray">
          <a:xfrm>
            <a:off x="1703389" y="3500438"/>
            <a:ext cx="5616575" cy="519112"/>
          </a:xfrm>
          <a:prstGeom prst="rect">
            <a:avLst/>
          </a:prstGeom>
          <a:noFill/>
          <a:ln>
            <a:noFill/>
          </a:ln>
          <a:effectLst/>
          <a:extLst>
            <a:ext uri="{909E8E84-426E-40DD-AFC4-6F175D3DCCD1}">
              <a14:hiddenFill xmlns:a14="http://schemas.microsoft.com/office/drawing/2010/main">
                <a:blipFill dpi="0" rotWithShape="1">
                  <a:blip r:embed="rId1"/>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800" b="1">
                <a:solidFill>
                  <a:schemeClr val="tx2"/>
                </a:solidFill>
                <a:ea typeface="宋体" panose="02010600030101010101" pitchFamily="2" charset="-122"/>
              </a:rPr>
              <a:t>上两式相减得</a:t>
            </a:r>
            <a:r>
              <a:rPr lang="en-US" altLang="zh-CN" sz="2800" b="1">
                <a:solidFill>
                  <a:schemeClr val="tx2"/>
                </a:solidFill>
                <a:ea typeface="宋体" panose="02010600030101010101" pitchFamily="2" charset="-122"/>
              </a:rPr>
              <a:t>p-n</a:t>
            </a:r>
            <a:r>
              <a:rPr lang="zh-CN" altLang="en-US" sz="2800" b="1">
                <a:solidFill>
                  <a:schemeClr val="tx2"/>
                </a:solidFill>
                <a:ea typeface="宋体" panose="02010600030101010101" pitchFamily="2" charset="-122"/>
              </a:rPr>
              <a:t>结电势差为：</a:t>
            </a:r>
            <a:endParaRPr lang="zh-CN" altLang="en-US" sz="2800" b="1">
              <a:solidFill>
                <a:schemeClr val="tx2"/>
              </a:solidFill>
              <a:ea typeface="宋体" panose="02010600030101010101" pitchFamily="2" charset="-122"/>
            </a:endParaRPr>
          </a:p>
        </p:txBody>
      </p:sp>
      <p:pic>
        <p:nvPicPr>
          <p:cNvPr id="94215"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gray">
          <a:xfrm rot="60000">
            <a:off x="2855914" y="4076701"/>
            <a:ext cx="6472237" cy="777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4216" name="Text Box 8" descr="2"/>
          <p:cNvSpPr txBox="1">
            <a:spLocks noChangeArrowheads="1"/>
          </p:cNvSpPr>
          <p:nvPr/>
        </p:nvSpPr>
        <p:spPr bwMode="gray">
          <a:xfrm>
            <a:off x="1774826" y="4941888"/>
            <a:ext cx="2087563" cy="519112"/>
          </a:xfrm>
          <a:prstGeom prst="rect">
            <a:avLst/>
          </a:prstGeom>
          <a:noFill/>
          <a:ln>
            <a:noFill/>
          </a:ln>
          <a:effectLst/>
          <a:extLst>
            <a:ext uri="{909E8E84-426E-40DD-AFC4-6F175D3DCCD1}">
              <a14:hiddenFill xmlns:a14="http://schemas.microsoft.com/office/drawing/2010/main">
                <a:blipFill dpi="0" rotWithShape="1">
                  <a:blip r:embed="rId1"/>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800" b="1">
                <a:solidFill>
                  <a:schemeClr val="tx2"/>
                </a:solidFill>
                <a:ea typeface="宋体" panose="02010600030101010101" pitchFamily="2" charset="-122"/>
              </a:rPr>
              <a:t>势垒宽度：</a:t>
            </a:r>
            <a:endParaRPr lang="zh-CN" altLang="en-US" sz="2800" b="1">
              <a:solidFill>
                <a:schemeClr val="tx2"/>
              </a:solidFill>
              <a:ea typeface="宋体" panose="02010600030101010101" pitchFamily="2" charset="-122"/>
            </a:endParaRPr>
          </a:p>
        </p:txBody>
      </p:sp>
      <p:pic>
        <p:nvPicPr>
          <p:cNvPr id="94217" name="Picture 9" descr="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gray">
          <a:xfrm>
            <a:off x="3935414" y="4868864"/>
            <a:ext cx="2808287" cy="833437"/>
          </a:xfrm>
          <a:prstGeom prst="rect">
            <a:avLst/>
          </a:prstGeom>
          <a:noFill/>
          <a:ln>
            <a:noFill/>
          </a:ln>
          <a:effectLst/>
          <a:extLst>
            <a:ext uri="{909E8E84-426E-40DD-AFC4-6F175D3DCCD1}">
              <a14:hiddenFill xmlns:a14="http://schemas.microsoft.com/office/drawing/2010/main">
                <a:blipFill dpi="0" rotWithShape="1">
                  <a:blip/>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4218" name="Text Box 10" descr="2"/>
          <p:cNvSpPr txBox="1">
            <a:spLocks noChangeArrowheads="1"/>
          </p:cNvSpPr>
          <p:nvPr/>
        </p:nvSpPr>
        <p:spPr bwMode="gray">
          <a:xfrm>
            <a:off x="1703388" y="5876926"/>
            <a:ext cx="2881312" cy="519113"/>
          </a:xfrm>
          <a:prstGeom prst="rect">
            <a:avLst/>
          </a:prstGeom>
          <a:noFill/>
          <a:ln>
            <a:noFill/>
          </a:ln>
          <a:effectLst/>
          <a:extLst>
            <a:ext uri="{909E8E84-426E-40DD-AFC4-6F175D3DCCD1}">
              <a14:hiddenFill xmlns:a14="http://schemas.microsoft.com/office/drawing/2010/main">
                <a:blipFill dpi="0" rotWithShape="1">
                  <a:blip r:embed="rId1"/>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800" b="1">
                <a:solidFill>
                  <a:schemeClr val="tx2"/>
                </a:solidFill>
                <a:ea typeface="宋体" panose="02010600030101010101" pitchFamily="2" charset="-122"/>
              </a:rPr>
              <a:t>加外加电压时：</a:t>
            </a:r>
            <a:endParaRPr lang="zh-CN" altLang="en-US" sz="2800" b="1">
              <a:solidFill>
                <a:schemeClr val="tx2"/>
              </a:solidFill>
              <a:ea typeface="宋体" panose="02010600030101010101" pitchFamily="2" charset="-122"/>
            </a:endParaRPr>
          </a:p>
        </p:txBody>
      </p:sp>
      <p:pic>
        <p:nvPicPr>
          <p:cNvPr id="94219" name="Picture 11" descr="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gray">
          <a:xfrm>
            <a:off x="4295776" y="5734050"/>
            <a:ext cx="3052763" cy="831850"/>
          </a:xfrm>
          <a:prstGeom prst="rect">
            <a:avLst/>
          </a:prstGeom>
          <a:noFill/>
          <a:ln>
            <a:noFill/>
          </a:ln>
          <a:effectLst/>
          <a:extLst>
            <a:ext uri="{909E8E84-426E-40DD-AFC4-6F175D3DCCD1}">
              <a14:hiddenFill xmlns:a14="http://schemas.microsoft.com/office/drawing/2010/main">
                <a:blipFill dpi="0" rotWithShape="1">
                  <a:blip/>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4220" name="Picture 12" descr="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gray">
          <a:xfrm>
            <a:off x="7535864" y="5734050"/>
            <a:ext cx="2973387" cy="738188"/>
          </a:xfrm>
          <a:prstGeom prst="rect">
            <a:avLst/>
          </a:prstGeom>
          <a:noFill/>
          <a:ln>
            <a:noFill/>
          </a:ln>
          <a:effectLst/>
          <a:extLst>
            <a:ext uri="{909E8E84-426E-40DD-AFC4-6F175D3DCCD1}">
              <a14:hiddenFill xmlns:a14="http://schemas.microsoft.com/office/drawing/2010/main">
                <a:blipFill dpi="0" rotWithShape="1">
                  <a:blip/>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Text Box 2" descr="2"/>
          <p:cNvSpPr txBox="1">
            <a:spLocks noChangeArrowheads="1"/>
          </p:cNvSpPr>
          <p:nvPr/>
        </p:nvSpPr>
        <p:spPr bwMode="gray">
          <a:xfrm>
            <a:off x="1774825" y="1341438"/>
            <a:ext cx="4033838" cy="519112"/>
          </a:xfrm>
          <a:prstGeom prst="rect">
            <a:avLst/>
          </a:prstGeom>
          <a:noFill/>
          <a:ln>
            <a:noFill/>
          </a:ln>
          <a:effectLst/>
          <a:extLst>
            <a:ext uri="{909E8E84-426E-40DD-AFC4-6F175D3DCCD1}">
              <a14:hiddenFill xmlns:a14="http://schemas.microsoft.com/office/drawing/2010/main">
                <a:blipFill dpi="0" rotWithShape="1">
                  <a:blip r:embed="rId1"/>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800" b="1">
                <a:solidFill>
                  <a:schemeClr val="tx2"/>
                </a:solidFill>
                <a:ea typeface="宋体" panose="02010600030101010101" pitchFamily="2" charset="-122"/>
              </a:rPr>
              <a:t>设</a:t>
            </a:r>
            <a:r>
              <a:rPr lang="en-US" altLang="zh-CN" sz="2800" b="1">
                <a:solidFill>
                  <a:schemeClr val="tx2"/>
                </a:solidFill>
                <a:ea typeface="宋体" panose="02010600030101010101" pitchFamily="2" charset="-122"/>
              </a:rPr>
              <a:t>p-n</a:t>
            </a:r>
            <a:r>
              <a:rPr lang="zh-CN" altLang="en-US" sz="2800" b="1">
                <a:solidFill>
                  <a:schemeClr val="tx2"/>
                </a:solidFill>
                <a:ea typeface="宋体" panose="02010600030101010101" pitchFamily="2" charset="-122"/>
              </a:rPr>
              <a:t>结面积为</a:t>
            </a:r>
            <a:r>
              <a:rPr lang="en-US" altLang="zh-CN" sz="2800" b="1">
                <a:solidFill>
                  <a:schemeClr val="tx2"/>
                </a:solidFill>
                <a:ea typeface="宋体" panose="02010600030101010101" pitchFamily="2" charset="-122"/>
              </a:rPr>
              <a:t>A</a:t>
            </a:r>
            <a:r>
              <a:rPr lang="zh-CN" altLang="en-US" sz="2800" b="1">
                <a:solidFill>
                  <a:schemeClr val="tx2"/>
                </a:solidFill>
                <a:ea typeface="宋体" panose="02010600030101010101" pitchFamily="2" charset="-122"/>
              </a:rPr>
              <a:t>，则</a:t>
            </a:r>
            <a:endParaRPr lang="zh-CN" altLang="en-US" sz="2800" b="1">
              <a:solidFill>
                <a:schemeClr val="tx2"/>
              </a:solidFill>
              <a:ea typeface="宋体" panose="02010600030101010101" pitchFamily="2" charset="-122"/>
            </a:endParaRPr>
          </a:p>
        </p:txBody>
      </p:sp>
      <p:pic>
        <p:nvPicPr>
          <p:cNvPr id="92164" name="Picture 4" descr="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2424113" y="1916114"/>
            <a:ext cx="7065962" cy="788987"/>
          </a:xfrm>
          <a:prstGeom prst="rect">
            <a:avLst/>
          </a:prstGeom>
          <a:noFill/>
          <a:ln>
            <a:noFill/>
          </a:ln>
          <a:effectLst/>
          <a:extLst>
            <a:ext uri="{909E8E84-426E-40DD-AFC4-6F175D3DCCD1}">
              <a14:hiddenFill xmlns:a14="http://schemas.microsoft.com/office/drawing/2010/main">
                <a:blipFill dpi="0" rotWithShape="1">
                  <a:blip/>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165" name="Picture 5" descr="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gray">
          <a:xfrm>
            <a:off x="1920875" y="2924175"/>
            <a:ext cx="8351838" cy="776288"/>
          </a:xfrm>
          <a:prstGeom prst="rect">
            <a:avLst/>
          </a:prstGeom>
          <a:noFill/>
          <a:ln>
            <a:noFill/>
          </a:ln>
          <a:effectLst/>
          <a:extLst>
            <a:ext uri="{909E8E84-426E-40DD-AFC4-6F175D3DCCD1}">
              <a14:hiddenFill xmlns:a14="http://schemas.microsoft.com/office/drawing/2010/main">
                <a:blipFill dpi="0" rotWithShape="1">
                  <a:blip/>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2166" name="Text Box 6" descr="2"/>
          <p:cNvSpPr txBox="1">
            <a:spLocks noChangeArrowheads="1"/>
          </p:cNvSpPr>
          <p:nvPr/>
        </p:nvSpPr>
        <p:spPr bwMode="gray">
          <a:xfrm>
            <a:off x="1774825" y="3789363"/>
            <a:ext cx="4897438" cy="519112"/>
          </a:xfrm>
          <a:prstGeom prst="rect">
            <a:avLst/>
          </a:prstGeom>
          <a:noFill/>
          <a:ln>
            <a:noFill/>
          </a:ln>
          <a:effectLst/>
          <a:extLst>
            <a:ext uri="{909E8E84-426E-40DD-AFC4-6F175D3DCCD1}">
              <a14:hiddenFill xmlns:a14="http://schemas.microsoft.com/office/drawing/2010/main">
                <a:blipFill dpi="0" rotWithShape="1">
                  <a:blip r:embed="rId1"/>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800" b="1">
                <a:solidFill>
                  <a:schemeClr val="tx2"/>
                </a:solidFill>
                <a:ea typeface="宋体" panose="02010600030101010101" pitchFamily="2" charset="-122"/>
              </a:rPr>
              <a:t>故线性缓变结的势垒电容为：</a:t>
            </a:r>
            <a:endParaRPr lang="zh-CN" altLang="en-US" sz="2800" b="1">
              <a:solidFill>
                <a:schemeClr val="tx2"/>
              </a:solidFill>
              <a:ea typeface="宋体" panose="02010600030101010101" pitchFamily="2" charset="-122"/>
            </a:endParaRPr>
          </a:p>
        </p:txBody>
      </p:sp>
      <p:pic>
        <p:nvPicPr>
          <p:cNvPr id="92167" name="Picture 7" descr="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gray">
          <a:xfrm>
            <a:off x="3359151" y="4292601"/>
            <a:ext cx="4824413" cy="815975"/>
          </a:xfrm>
          <a:prstGeom prst="rect">
            <a:avLst/>
          </a:prstGeom>
          <a:noFill/>
          <a:ln>
            <a:noFill/>
          </a:ln>
          <a:effectLst/>
          <a:extLst>
            <a:ext uri="{909E8E84-426E-40DD-AFC4-6F175D3DCCD1}">
              <a14:hiddenFill xmlns:a14="http://schemas.microsoft.com/office/drawing/2010/main">
                <a:blipFill dpi="0" rotWithShape="1">
                  <a:blip/>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2168" name="Text Box 8" descr="2"/>
          <p:cNvSpPr txBox="1">
            <a:spLocks noChangeArrowheads="1"/>
          </p:cNvSpPr>
          <p:nvPr/>
        </p:nvSpPr>
        <p:spPr bwMode="gray">
          <a:xfrm>
            <a:off x="1919288" y="5291138"/>
            <a:ext cx="8208962" cy="946150"/>
          </a:xfrm>
          <a:prstGeom prst="rect">
            <a:avLst/>
          </a:prstGeom>
          <a:noFill/>
          <a:ln>
            <a:noFill/>
          </a:ln>
          <a:effectLst/>
          <a:extLst>
            <a:ext uri="{909E8E84-426E-40DD-AFC4-6F175D3DCCD1}">
              <a14:hiddenFill xmlns:a14="http://schemas.microsoft.com/office/drawing/2010/main">
                <a:blipFill dpi="0" rotWithShape="1">
                  <a:blip r:embed="rId1"/>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800" b="1">
                <a:solidFill>
                  <a:schemeClr val="tx2"/>
                </a:solidFill>
                <a:ea typeface="宋体" panose="02010600030101010101" pitchFamily="2" charset="-122"/>
              </a:rPr>
              <a:t>线性缓变结的势垒电容和结面积及杂质浓度梯度的立方根成正比；和（</a:t>
            </a:r>
            <a:r>
              <a:rPr lang="en-US" altLang="zh-CN" sz="2800" b="1">
                <a:solidFill>
                  <a:schemeClr val="tx2"/>
                </a:solidFill>
                <a:ea typeface="宋体" panose="02010600030101010101" pitchFamily="2" charset="-122"/>
              </a:rPr>
              <a:t>V</a:t>
            </a:r>
            <a:r>
              <a:rPr lang="en-US" altLang="zh-CN" sz="2800" b="1" baseline="-25000">
                <a:solidFill>
                  <a:schemeClr val="tx2"/>
                </a:solidFill>
                <a:ea typeface="宋体" panose="02010600030101010101" pitchFamily="2" charset="-122"/>
              </a:rPr>
              <a:t>D</a:t>
            </a:r>
            <a:r>
              <a:rPr lang="en-US" altLang="zh-CN" sz="2800" b="1">
                <a:solidFill>
                  <a:schemeClr val="tx2"/>
                </a:solidFill>
                <a:ea typeface="宋体" panose="02010600030101010101" pitchFamily="2" charset="-122"/>
              </a:rPr>
              <a:t>-V</a:t>
            </a:r>
            <a:r>
              <a:rPr lang="zh-CN" altLang="en-US" sz="2800" b="1">
                <a:solidFill>
                  <a:schemeClr val="tx2"/>
                </a:solidFill>
                <a:ea typeface="宋体" panose="02010600030101010101" pitchFamily="2" charset="-122"/>
              </a:rPr>
              <a:t>）的立方根成反比</a:t>
            </a:r>
            <a:endParaRPr lang="zh-CN" altLang="en-US" sz="2800" b="1">
              <a:solidFill>
                <a:schemeClr val="tx2"/>
              </a:solidFill>
              <a:ea typeface="宋体" panose="02010600030101010101" pitchFamily="2" charset="-122"/>
            </a:endParaRPr>
          </a:p>
        </p:txBody>
      </p:sp>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Text Box 2" descr="2"/>
          <p:cNvSpPr txBox="1">
            <a:spLocks noChangeArrowheads="1"/>
          </p:cNvSpPr>
          <p:nvPr/>
        </p:nvSpPr>
        <p:spPr bwMode="gray">
          <a:xfrm>
            <a:off x="1774825" y="1341438"/>
            <a:ext cx="8497888" cy="519112"/>
          </a:xfrm>
          <a:prstGeom prst="rect">
            <a:avLst/>
          </a:prstGeom>
          <a:noFill/>
          <a:ln>
            <a:noFill/>
          </a:ln>
          <a:effectLst/>
          <a:extLst>
            <a:ext uri="{909E8E84-426E-40DD-AFC4-6F175D3DCCD1}">
              <a14:hiddenFill xmlns:a14="http://schemas.microsoft.com/office/drawing/2010/main">
                <a:blipFill dpi="0" rotWithShape="1">
                  <a:blip r:embed="rId1"/>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800" b="1">
                <a:solidFill>
                  <a:schemeClr val="tx2"/>
                </a:solidFill>
                <a:ea typeface="宋体" panose="02010600030101010101" pitchFamily="2" charset="-122"/>
              </a:rPr>
              <a:t>对于线性缓变结，可得到与平行板电容器一样的公式：</a:t>
            </a:r>
            <a:endParaRPr lang="zh-CN" altLang="en-US" sz="2800" b="1">
              <a:solidFill>
                <a:schemeClr val="tx2"/>
              </a:solidFill>
              <a:ea typeface="宋体" panose="02010600030101010101" pitchFamily="2" charset="-122"/>
            </a:endParaRPr>
          </a:p>
        </p:txBody>
      </p:sp>
      <p:pic>
        <p:nvPicPr>
          <p:cNvPr id="104465" name="Picture 17" descr="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4583114" y="2133601"/>
            <a:ext cx="2390775" cy="1139825"/>
          </a:xfrm>
          <a:prstGeom prst="rect">
            <a:avLst/>
          </a:prstGeom>
          <a:noFill/>
          <a:ln>
            <a:noFill/>
          </a:ln>
          <a:effectLst/>
          <a:extLst>
            <a:ext uri="{909E8E84-426E-40DD-AFC4-6F175D3DCCD1}">
              <a14:hiddenFill xmlns:a14="http://schemas.microsoft.com/office/drawing/2010/main">
                <a:blipFill dpi="0" rotWithShape="1">
                  <a:blip/>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4466" name="Text Box 18" descr="2"/>
          <p:cNvSpPr txBox="1">
            <a:spLocks noChangeArrowheads="1"/>
          </p:cNvSpPr>
          <p:nvPr/>
        </p:nvSpPr>
        <p:spPr bwMode="gray">
          <a:xfrm>
            <a:off x="1847850" y="3500439"/>
            <a:ext cx="8497888" cy="1373187"/>
          </a:xfrm>
          <a:prstGeom prst="rect">
            <a:avLst/>
          </a:prstGeom>
          <a:noFill/>
          <a:ln>
            <a:noFill/>
          </a:ln>
          <a:effectLst/>
          <a:extLst>
            <a:ext uri="{909E8E84-426E-40DD-AFC4-6F175D3DCCD1}">
              <a14:hiddenFill xmlns:a14="http://schemas.microsoft.com/office/drawing/2010/main">
                <a:blipFill dpi="0" rotWithShape="1">
                  <a:blip r:embed="rId1"/>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800" b="1">
                <a:solidFill>
                  <a:schemeClr val="tx2"/>
                </a:solidFill>
                <a:ea typeface="宋体" panose="02010600030101010101" pitchFamily="2" charset="-122"/>
              </a:rPr>
              <a:t>由此可见，不论杂质分布如何，在耗尽层近似下，</a:t>
            </a:r>
            <a:r>
              <a:rPr lang="en-US" altLang="zh-CN" sz="2800" b="1">
                <a:solidFill>
                  <a:schemeClr val="tx2"/>
                </a:solidFill>
                <a:ea typeface="宋体" panose="02010600030101010101" pitchFamily="2" charset="-122"/>
              </a:rPr>
              <a:t>p-n</a:t>
            </a:r>
            <a:r>
              <a:rPr lang="zh-CN" altLang="en-US" sz="2800" b="1">
                <a:solidFill>
                  <a:schemeClr val="tx2"/>
                </a:solidFill>
                <a:ea typeface="宋体" panose="02010600030101010101" pitchFamily="2" charset="-122"/>
              </a:rPr>
              <a:t>结在一定反向电压下的微分电容，都可以等效为一个平行板电容器的电容。</a:t>
            </a:r>
            <a:endParaRPr lang="zh-CN" altLang="en-US" sz="2800" b="1">
              <a:solidFill>
                <a:schemeClr val="tx2"/>
              </a:solidFill>
              <a:ea typeface="宋体" panose="02010600030101010101" pitchFamily="2" charset="-122"/>
            </a:endParaRPr>
          </a:p>
        </p:txBody>
      </p:sp>
    </p:spTree>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Text Box 2" descr="2"/>
          <p:cNvSpPr txBox="1">
            <a:spLocks noChangeArrowheads="1"/>
          </p:cNvSpPr>
          <p:nvPr/>
        </p:nvSpPr>
        <p:spPr bwMode="gray">
          <a:xfrm>
            <a:off x="1703388" y="404813"/>
            <a:ext cx="6697662" cy="519112"/>
          </a:xfrm>
          <a:prstGeom prst="rect">
            <a:avLst/>
          </a:prstGeom>
          <a:noFill/>
          <a:ln>
            <a:noFill/>
          </a:ln>
          <a:effectLst/>
          <a:extLst>
            <a:ext uri="{909E8E84-426E-40DD-AFC4-6F175D3DCCD1}">
              <a14:hiddenFill xmlns:a14="http://schemas.microsoft.com/office/drawing/2010/main">
                <a:blipFill dpi="0" rotWithShape="1">
                  <a:blip r:embed="rId1"/>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800" b="1">
                <a:solidFill>
                  <a:srgbClr val="FFFFFF"/>
                </a:solidFill>
                <a:ea typeface="宋体" panose="02010600030101010101" pitchFamily="2" charset="-122"/>
              </a:rPr>
              <a:t>突变结和线性缓变结的势垒电容的用途</a:t>
            </a:r>
            <a:endParaRPr lang="zh-CN" altLang="en-US" sz="2800" b="1">
              <a:solidFill>
                <a:srgbClr val="FFFFFF"/>
              </a:solidFill>
              <a:ea typeface="宋体" panose="02010600030101010101" pitchFamily="2" charset="-122"/>
            </a:endParaRPr>
          </a:p>
        </p:txBody>
      </p:sp>
      <p:sp>
        <p:nvSpPr>
          <p:cNvPr id="90116" name="Text Box 4" descr="2"/>
          <p:cNvSpPr txBox="1">
            <a:spLocks noChangeArrowheads="1"/>
          </p:cNvSpPr>
          <p:nvPr/>
        </p:nvSpPr>
        <p:spPr bwMode="gray">
          <a:xfrm>
            <a:off x="1524001" y="1268413"/>
            <a:ext cx="5832475" cy="519112"/>
          </a:xfrm>
          <a:prstGeom prst="rect">
            <a:avLst/>
          </a:prstGeom>
          <a:noFill/>
          <a:ln>
            <a:noFill/>
          </a:ln>
          <a:effectLst/>
          <a:extLst>
            <a:ext uri="{909E8E84-426E-40DD-AFC4-6F175D3DCCD1}">
              <a14:hiddenFill xmlns:a14="http://schemas.microsoft.com/office/drawing/2010/main">
                <a:blipFill dpi="0" rotWithShape="1">
                  <a:blip r:embed="rId1"/>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800">
                <a:solidFill>
                  <a:schemeClr val="tx2"/>
                </a:solidFill>
                <a:ea typeface="宋体" panose="02010600030101010101" pitchFamily="2" charset="-122"/>
              </a:rPr>
              <a:t>（</a:t>
            </a:r>
            <a:r>
              <a:rPr lang="en-US" altLang="zh-CN" sz="2800">
                <a:solidFill>
                  <a:schemeClr val="tx2"/>
                </a:solidFill>
                <a:ea typeface="宋体" panose="02010600030101010101" pitchFamily="2" charset="-122"/>
              </a:rPr>
              <a:t>1</a:t>
            </a:r>
            <a:r>
              <a:rPr lang="zh-CN" altLang="en-US" sz="2800">
                <a:solidFill>
                  <a:schemeClr val="tx2"/>
                </a:solidFill>
                <a:ea typeface="宋体" panose="02010600030101010101" pitchFamily="2" charset="-122"/>
              </a:rPr>
              <a:t>）测量单边突变结的杂质浓度：</a:t>
            </a:r>
            <a:endParaRPr lang="zh-CN" altLang="en-US" sz="2800">
              <a:solidFill>
                <a:schemeClr val="tx2"/>
              </a:solidFill>
              <a:ea typeface="宋体" panose="02010600030101010101" pitchFamily="2" charset="-122"/>
            </a:endParaRPr>
          </a:p>
        </p:txBody>
      </p:sp>
      <p:pic>
        <p:nvPicPr>
          <p:cNvPr id="90117" name="Picture 5" descr="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1847850" y="1916113"/>
            <a:ext cx="3600450" cy="914400"/>
          </a:xfrm>
          <a:prstGeom prst="rect">
            <a:avLst/>
          </a:prstGeom>
          <a:noFill/>
          <a:ln>
            <a:noFill/>
          </a:ln>
          <a:effectLst/>
          <a:extLst>
            <a:ext uri="{909E8E84-426E-40DD-AFC4-6F175D3DCCD1}">
              <a14:hiddenFill xmlns:a14="http://schemas.microsoft.com/office/drawing/2010/main">
                <a:blipFill dpi="0" rotWithShape="1">
                  <a:blip/>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0119" name="AutoShape 7"/>
          <p:cNvSpPr>
            <a:spLocks noChangeArrowheads="1"/>
          </p:cNvSpPr>
          <p:nvPr/>
        </p:nvSpPr>
        <p:spPr bwMode="gray">
          <a:xfrm>
            <a:off x="5448301" y="2276476"/>
            <a:ext cx="792163" cy="371475"/>
          </a:xfrm>
          <a:prstGeom prst="rightArrow">
            <a:avLst>
              <a:gd name="adj1" fmla="val 50000"/>
              <a:gd name="adj2" fmla="val 88853"/>
            </a:avLst>
          </a:prstGeom>
          <a:solidFill>
            <a:srgbClr val="FFCC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120" name="Text Box 8" descr="2"/>
          <p:cNvSpPr txBox="1">
            <a:spLocks noChangeArrowheads="1"/>
          </p:cNvSpPr>
          <p:nvPr/>
        </p:nvSpPr>
        <p:spPr bwMode="gray">
          <a:xfrm>
            <a:off x="5160963" y="1916114"/>
            <a:ext cx="1655762" cy="396875"/>
          </a:xfrm>
          <a:prstGeom prst="rect">
            <a:avLst/>
          </a:prstGeom>
          <a:noFill/>
          <a:ln>
            <a:noFill/>
          </a:ln>
          <a:effectLst/>
          <a:extLst>
            <a:ext uri="{909E8E84-426E-40DD-AFC4-6F175D3DCCD1}">
              <a14:hiddenFill xmlns:a14="http://schemas.microsoft.com/office/drawing/2010/main">
                <a:blipFill dpi="0" rotWithShape="1">
                  <a:blip r:embed="rId1"/>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000">
                <a:solidFill>
                  <a:schemeClr val="tx2"/>
                </a:solidFill>
                <a:ea typeface="宋体" panose="02010600030101010101" pitchFamily="2" charset="-122"/>
              </a:rPr>
              <a:t>平方取倒数</a:t>
            </a:r>
            <a:endParaRPr lang="zh-CN" altLang="en-US" sz="2000">
              <a:solidFill>
                <a:schemeClr val="tx2"/>
              </a:solidFill>
              <a:ea typeface="宋体" panose="02010600030101010101" pitchFamily="2" charset="-122"/>
            </a:endParaRPr>
          </a:p>
        </p:txBody>
      </p:sp>
      <p:pic>
        <p:nvPicPr>
          <p:cNvPr id="90121" name="Picture 9" descr="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gray">
          <a:xfrm>
            <a:off x="6600825" y="1922464"/>
            <a:ext cx="3117850" cy="930275"/>
          </a:xfrm>
          <a:prstGeom prst="rect">
            <a:avLst/>
          </a:prstGeom>
          <a:noFill/>
          <a:ln>
            <a:noFill/>
          </a:ln>
          <a:effectLst/>
          <a:extLst>
            <a:ext uri="{909E8E84-426E-40DD-AFC4-6F175D3DCCD1}">
              <a14:hiddenFill xmlns:a14="http://schemas.microsoft.com/office/drawing/2010/main">
                <a:blipFill dpi="0" rotWithShape="1">
                  <a:blip/>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0122" name="AutoShape 10"/>
          <p:cNvSpPr>
            <a:spLocks noChangeArrowheads="1"/>
          </p:cNvSpPr>
          <p:nvPr/>
        </p:nvSpPr>
        <p:spPr bwMode="gray">
          <a:xfrm rot="5400000">
            <a:off x="7541420" y="3134520"/>
            <a:ext cx="792163" cy="371475"/>
          </a:xfrm>
          <a:prstGeom prst="rightArrow">
            <a:avLst>
              <a:gd name="adj1" fmla="val 50000"/>
              <a:gd name="adj2" fmla="val 88853"/>
            </a:avLst>
          </a:prstGeom>
          <a:solidFill>
            <a:srgbClr val="FFCC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90123" name="Picture 11" descr="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gray">
          <a:xfrm>
            <a:off x="6527800" y="3789364"/>
            <a:ext cx="2952750" cy="1062037"/>
          </a:xfrm>
          <a:prstGeom prst="rect">
            <a:avLst/>
          </a:prstGeom>
          <a:noFill/>
          <a:ln>
            <a:noFill/>
          </a:ln>
          <a:effectLst/>
          <a:extLst>
            <a:ext uri="{909E8E84-426E-40DD-AFC4-6F175D3DCCD1}">
              <a14:hiddenFill xmlns:a14="http://schemas.microsoft.com/office/drawing/2010/main">
                <a:blipFill dpi="0" rotWithShape="1">
                  <a:blip/>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0124" name="Text Box 12" descr="2"/>
          <p:cNvSpPr txBox="1">
            <a:spLocks noChangeArrowheads="1"/>
          </p:cNvSpPr>
          <p:nvPr/>
        </p:nvSpPr>
        <p:spPr bwMode="gray">
          <a:xfrm>
            <a:off x="1847850" y="5229225"/>
            <a:ext cx="8280400" cy="946150"/>
          </a:xfrm>
          <a:prstGeom prst="rect">
            <a:avLst/>
          </a:prstGeom>
          <a:noFill/>
          <a:ln>
            <a:noFill/>
          </a:ln>
          <a:effectLst/>
          <a:extLst>
            <a:ext uri="{909E8E84-426E-40DD-AFC4-6F175D3DCCD1}">
              <a14:hiddenFill xmlns:a14="http://schemas.microsoft.com/office/drawing/2010/main">
                <a:blipFill dpi="0" rotWithShape="1">
                  <a:blip r:embed="rId1"/>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800" b="1">
                <a:solidFill>
                  <a:schemeClr val="tx2"/>
                </a:solidFill>
                <a:ea typeface="宋体" panose="02010600030101010101" pitchFamily="2" charset="-122"/>
              </a:rPr>
              <a:t>通过求斜率求得轻掺杂一边的杂质浓度</a:t>
            </a:r>
            <a:r>
              <a:rPr lang="en-US" altLang="zh-CN" sz="2800" b="1">
                <a:solidFill>
                  <a:schemeClr val="tx2"/>
                </a:solidFill>
                <a:ea typeface="宋体" panose="02010600030101010101" pitchFamily="2" charset="-122"/>
              </a:rPr>
              <a:t>N</a:t>
            </a:r>
            <a:r>
              <a:rPr lang="en-US" altLang="zh-CN" sz="2800" b="1" baseline="-25000">
                <a:solidFill>
                  <a:schemeClr val="tx2"/>
                </a:solidFill>
                <a:ea typeface="宋体" panose="02010600030101010101" pitchFamily="2" charset="-122"/>
              </a:rPr>
              <a:t>B</a:t>
            </a:r>
            <a:r>
              <a:rPr lang="zh-CN" altLang="en-US" sz="2800" b="1">
                <a:solidFill>
                  <a:schemeClr val="tx2"/>
                </a:solidFill>
                <a:ea typeface="宋体" panose="02010600030101010101" pitchFamily="2" charset="-122"/>
              </a:rPr>
              <a:t>，从直线的截距，求得</a:t>
            </a:r>
            <a:r>
              <a:rPr lang="en-US" altLang="zh-CN" sz="2800" b="1">
                <a:solidFill>
                  <a:schemeClr val="tx2"/>
                </a:solidFill>
                <a:ea typeface="宋体" panose="02010600030101010101" pitchFamily="2" charset="-122"/>
              </a:rPr>
              <a:t>p-n</a:t>
            </a:r>
            <a:r>
              <a:rPr lang="zh-CN" altLang="en-US" sz="2800" b="1">
                <a:solidFill>
                  <a:schemeClr val="tx2"/>
                </a:solidFill>
                <a:ea typeface="宋体" panose="02010600030101010101" pitchFamily="2" charset="-122"/>
              </a:rPr>
              <a:t>结的接触电势差</a:t>
            </a:r>
            <a:r>
              <a:rPr lang="en-US" altLang="zh-CN" sz="2800" b="1">
                <a:solidFill>
                  <a:schemeClr val="tx2"/>
                </a:solidFill>
                <a:ea typeface="宋体" panose="02010600030101010101" pitchFamily="2" charset="-122"/>
              </a:rPr>
              <a:t>V</a:t>
            </a:r>
            <a:r>
              <a:rPr lang="en-US" altLang="zh-CN" sz="2800" b="1" baseline="-25000">
                <a:solidFill>
                  <a:schemeClr val="tx2"/>
                </a:solidFill>
                <a:ea typeface="宋体" panose="02010600030101010101" pitchFamily="2" charset="-122"/>
              </a:rPr>
              <a:t>D</a:t>
            </a:r>
            <a:endParaRPr lang="en-US" altLang="zh-CN" sz="2800" b="1" baseline="-25000">
              <a:solidFill>
                <a:schemeClr val="tx2"/>
              </a:solidFill>
              <a:ea typeface="宋体" panose="02010600030101010101" pitchFamily="2" charset="-122"/>
            </a:endParaRPr>
          </a:p>
        </p:txBody>
      </p:sp>
    </p:spTree>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Text Box 2" descr="2"/>
          <p:cNvSpPr txBox="1">
            <a:spLocks noChangeArrowheads="1"/>
          </p:cNvSpPr>
          <p:nvPr/>
        </p:nvSpPr>
        <p:spPr bwMode="gray">
          <a:xfrm>
            <a:off x="1774826" y="1341438"/>
            <a:ext cx="6626225" cy="519112"/>
          </a:xfrm>
          <a:prstGeom prst="rect">
            <a:avLst/>
          </a:prstGeom>
          <a:noFill/>
          <a:ln>
            <a:noFill/>
          </a:ln>
          <a:effectLst/>
          <a:extLst>
            <a:ext uri="{909E8E84-426E-40DD-AFC4-6F175D3DCCD1}">
              <a14:hiddenFill xmlns:a14="http://schemas.microsoft.com/office/drawing/2010/main">
                <a:blipFill dpi="0" rotWithShape="1">
                  <a:blip r:embed="rId1"/>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800" b="1">
                <a:solidFill>
                  <a:schemeClr val="tx2"/>
                </a:solidFill>
                <a:ea typeface="宋体" panose="02010600030101010101" pitchFamily="2" charset="-122"/>
              </a:rPr>
              <a:t>（</a:t>
            </a:r>
            <a:r>
              <a:rPr lang="en-US" altLang="zh-CN" sz="2800" b="1">
                <a:solidFill>
                  <a:schemeClr val="tx2"/>
                </a:solidFill>
                <a:ea typeface="宋体" panose="02010600030101010101" pitchFamily="2" charset="-122"/>
              </a:rPr>
              <a:t>2</a:t>
            </a:r>
            <a:r>
              <a:rPr lang="zh-CN" altLang="en-US" sz="2800" b="1">
                <a:solidFill>
                  <a:schemeClr val="tx2"/>
                </a:solidFill>
                <a:ea typeface="宋体" panose="02010600030101010101" pitchFamily="2" charset="-122"/>
              </a:rPr>
              <a:t>）测量线性缓变结的杂质浓度梯度</a:t>
            </a:r>
            <a:endParaRPr lang="zh-CN" altLang="en-US" sz="2800" b="1">
              <a:solidFill>
                <a:schemeClr val="tx2"/>
              </a:solidFill>
              <a:ea typeface="宋体" panose="02010600030101010101" pitchFamily="2" charset="-122"/>
            </a:endParaRPr>
          </a:p>
        </p:txBody>
      </p:sp>
      <p:pic>
        <p:nvPicPr>
          <p:cNvPr id="88068" name="Picture 4" descr="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2711451" y="2060576"/>
            <a:ext cx="4824413" cy="815975"/>
          </a:xfrm>
          <a:prstGeom prst="rect">
            <a:avLst/>
          </a:prstGeom>
          <a:noFill/>
          <a:ln>
            <a:noFill/>
          </a:ln>
          <a:effectLst/>
          <a:extLst>
            <a:ext uri="{909E8E84-426E-40DD-AFC4-6F175D3DCCD1}">
              <a14:hiddenFill xmlns:a14="http://schemas.microsoft.com/office/drawing/2010/main">
                <a:blipFill dpi="0" rotWithShape="1">
                  <a:blip/>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8069" name="AutoShape 5"/>
          <p:cNvSpPr>
            <a:spLocks noChangeArrowheads="1"/>
          </p:cNvSpPr>
          <p:nvPr/>
        </p:nvSpPr>
        <p:spPr bwMode="gray">
          <a:xfrm rot="5400000">
            <a:off x="4949826" y="3279776"/>
            <a:ext cx="936625" cy="371475"/>
          </a:xfrm>
          <a:prstGeom prst="rightArrow">
            <a:avLst>
              <a:gd name="adj1" fmla="val 50000"/>
              <a:gd name="adj2" fmla="val 105057"/>
            </a:avLst>
          </a:prstGeom>
          <a:solidFill>
            <a:srgbClr val="FFCC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070" name="Text Box 6" descr="2"/>
          <p:cNvSpPr txBox="1">
            <a:spLocks noChangeArrowheads="1"/>
          </p:cNvSpPr>
          <p:nvPr/>
        </p:nvSpPr>
        <p:spPr bwMode="gray">
          <a:xfrm>
            <a:off x="5448300" y="3213101"/>
            <a:ext cx="1512888" cy="366713"/>
          </a:xfrm>
          <a:prstGeom prst="rect">
            <a:avLst/>
          </a:prstGeom>
          <a:noFill/>
          <a:ln>
            <a:noFill/>
          </a:ln>
          <a:effectLst/>
          <a:extLst>
            <a:ext uri="{909E8E84-426E-40DD-AFC4-6F175D3DCCD1}">
              <a14:hiddenFill xmlns:a14="http://schemas.microsoft.com/office/drawing/2010/main">
                <a:blipFill dpi="0" rotWithShape="1">
                  <a:blip r:embed="rId1"/>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a:solidFill>
                  <a:schemeClr val="tx2"/>
                </a:solidFill>
                <a:ea typeface="宋体" panose="02010600030101010101" pitchFamily="2" charset="-122"/>
              </a:rPr>
              <a:t>立方取倒数</a:t>
            </a:r>
            <a:endParaRPr lang="zh-CN" altLang="en-US">
              <a:solidFill>
                <a:schemeClr val="tx2"/>
              </a:solidFill>
              <a:ea typeface="宋体" panose="02010600030101010101" pitchFamily="2" charset="-122"/>
            </a:endParaRPr>
          </a:p>
        </p:txBody>
      </p:sp>
      <p:pic>
        <p:nvPicPr>
          <p:cNvPr id="88071" name="Picture 7" descr="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gray">
          <a:xfrm>
            <a:off x="4008439" y="3933825"/>
            <a:ext cx="3025775" cy="1017588"/>
          </a:xfrm>
          <a:prstGeom prst="rect">
            <a:avLst/>
          </a:prstGeom>
          <a:noFill/>
          <a:ln>
            <a:noFill/>
          </a:ln>
          <a:effectLst/>
          <a:extLst>
            <a:ext uri="{909E8E84-426E-40DD-AFC4-6F175D3DCCD1}">
              <a14:hiddenFill xmlns:a14="http://schemas.microsoft.com/office/drawing/2010/main">
                <a:blipFill dpi="0" rotWithShape="1">
                  <a:blip/>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8072" name="Text Box 8" descr="2"/>
          <p:cNvSpPr txBox="1">
            <a:spLocks noChangeArrowheads="1"/>
          </p:cNvSpPr>
          <p:nvPr/>
        </p:nvSpPr>
        <p:spPr bwMode="gray">
          <a:xfrm>
            <a:off x="2495550" y="5141913"/>
            <a:ext cx="7056438" cy="519112"/>
          </a:xfrm>
          <a:prstGeom prst="rect">
            <a:avLst/>
          </a:prstGeom>
          <a:noFill/>
          <a:ln>
            <a:noFill/>
          </a:ln>
          <a:effectLst/>
          <a:extLst>
            <a:ext uri="{909E8E84-426E-40DD-AFC4-6F175D3DCCD1}">
              <a14:hiddenFill xmlns:a14="http://schemas.microsoft.com/office/drawing/2010/main">
                <a:blipFill dpi="0" rotWithShape="1">
                  <a:blip r:embed="rId1"/>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800" b="1">
                <a:solidFill>
                  <a:schemeClr val="tx2"/>
                </a:solidFill>
                <a:ea typeface="宋体" panose="02010600030101010101" pitchFamily="2" charset="-122"/>
              </a:rPr>
              <a:t>可以求出杂质浓度梯度</a:t>
            </a:r>
            <a:r>
              <a:rPr lang="en-US" altLang="zh-CN" sz="2800" b="1">
                <a:solidFill>
                  <a:schemeClr val="tx2"/>
                </a:solidFill>
                <a:ea typeface="宋体" panose="02010600030101010101" pitchFamily="2" charset="-122"/>
              </a:rPr>
              <a:t>a</a:t>
            </a:r>
            <a:r>
              <a:rPr lang="en-US" altLang="zh-CN" sz="2800" b="1" baseline="-25000">
                <a:solidFill>
                  <a:schemeClr val="tx2"/>
                </a:solidFill>
                <a:ea typeface="宋体" panose="02010600030101010101" pitchFamily="2" charset="-122"/>
              </a:rPr>
              <a:t>j</a:t>
            </a:r>
            <a:r>
              <a:rPr lang="zh-CN" altLang="en-US" sz="2800" b="1">
                <a:solidFill>
                  <a:schemeClr val="tx2"/>
                </a:solidFill>
                <a:ea typeface="宋体" panose="02010600030101010101" pitchFamily="2" charset="-122"/>
              </a:rPr>
              <a:t>和接触电势差</a:t>
            </a:r>
            <a:r>
              <a:rPr lang="en-US" altLang="zh-CN" sz="2800" b="1">
                <a:solidFill>
                  <a:schemeClr val="tx2"/>
                </a:solidFill>
                <a:ea typeface="宋体" panose="02010600030101010101" pitchFamily="2" charset="-122"/>
              </a:rPr>
              <a:t>V</a:t>
            </a:r>
            <a:r>
              <a:rPr lang="en-US" altLang="zh-CN" sz="2800" b="1" baseline="-25000">
                <a:solidFill>
                  <a:schemeClr val="tx2"/>
                </a:solidFill>
                <a:ea typeface="宋体" panose="02010600030101010101" pitchFamily="2" charset="-122"/>
              </a:rPr>
              <a:t>D</a:t>
            </a:r>
            <a:endParaRPr lang="en-US" altLang="zh-CN" sz="2800" b="1" baseline="-25000">
              <a:solidFill>
                <a:schemeClr val="tx2"/>
              </a:solidFill>
              <a:ea typeface="宋体" panose="02010600030101010101" pitchFamily="2" charset="-122"/>
            </a:endParaRPr>
          </a:p>
        </p:txBody>
      </p:sp>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Text Box 2" descr="2"/>
          <p:cNvSpPr txBox="1">
            <a:spLocks noChangeArrowheads="1"/>
          </p:cNvSpPr>
          <p:nvPr/>
        </p:nvSpPr>
        <p:spPr bwMode="gray">
          <a:xfrm>
            <a:off x="1524001" y="1196975"/>
            <a:ext cx="8893175" cy="2014538"/>
          </a:xfrm>
          <a:prstGeom prst="rect">
            <a:avLst/>
          </a:prstGeom>
          <a:noFill/>
          <a:ln>
            <a:noFill/>
          </a:ln>
          <a:effectLst/>
          <a:extLst>
            <a:ext uri="{909E8E84-426E-40DD-AFC4-6F175D3DCCD1}">
              <a14:hiddenFill xmlns:a14="http://schemas.microsoft.com/office/drawing/2010/main">
                <a:blipFill dpi="0" rotWithShape="1">
                  <a:blip r:embed="rId1"/>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b="1">
                <a:solidFill>
                  <a:schemeClr val="tx2"/>
                </a:solidFill>
                <a:ea typeface="宋体" panose="02010600030101010101" pitchFamily="2" charset="-122"/>
              </a:rPr>
              <a:t>p-n</a:t>
            </a:r>
            <a:r>
              <a:rPr lang="zh-CN" altLang="en-US" sz="2800" b="1">
                <a:solidFill>
                  <a:schemeClr val="tx2"/>
                </a:solidFill>
                <a:ea typeface="宋体" panose="02010600030101010101" pitchFamily="2" charset="-122"/>
              </a:rPr>
              <a:t>结加正向偏压时，由于少子的注入，在扩散区内，都有一定数量的少子和等量的多子的积累，而且它们的 浓度随正向偏压的变化而变化，从而形成了扩散电容。</a:t>
            </a:r>
            <a:endParaRPr lang="zh-CN" altLang="en-US" sz="2800" b="1">
              <a:solidFill>
                <a:schemeClr val="tx2"/>
              </a:solidFill>
              <a:ea typeface="宋体" panose="02010600030101010101" pitchFamily="2" charset="-122"/>
            </a:endParaRPr>
          </a:p>
          <a:p>
            <a:pPr algn="l">
              <a:spcBef>
                <a:spcPct val="50000"/>
              </a:spcBef>
            </a:pPr>
            <a:r>
              <a:rPr lang="zh-CN" altLang="en-US" sz="2800" b="1">
                <a:solidFill>
                  <a:schemeClr val="tx2"/>
                </a:solidFill>
                <a:ea typeface="宋体" panose="02010600030101010101" pitchFamily="2" charset="-122"/>
              </a:rPr>
              <a:t>  注入到</a:t>
            </a:r>
            <a:r>
              <a:rPr lang="en-US" altLang="zh-CN" sz="2800" b="1">
                <a:solidFill>
                  <a:schemeClr val="tx2"/>
                </a:solidFill>
                <a:ea typeface="宋体" panose="02010600030101010101" pitchFamily="2" charset="-122"/>
              </a:rPr>
              <a:t>n</a:t>
            </a:r>
            <a:r>
              <a:rPr lang="zh-CN" altLang="en-US" sz="2800" b="1">
                <a:solidFill>
                  <a:schemeClr val="tx2"/>
                </a:solidFill>
                <a:ea typeface="宋体" panose="02010600030101010101" pitchFamily="2" charset="-122"/>
              </a:rPr>
              <a:t>区和</a:t>
            </a:r>
            <a:r>
              <a:rPr lang="en-US" altLang="zh-CN" sz="2800" b="1">
                <a:solidFill>
                  <a:schemeClr val="tx2"/>
                </a:solidFill>
                <a:ea typeface="宋体" panose="02010600030101010101" pitchFamily="2" charset="-122"/>
              </a:rPr>
              <a:t>p</a:t>
            </a:r>
            <a:r>
              <a:rPr lang="zh-CN" altLang="en-US" sz="2800" b="1">
                <a:solidFill>
                  <a:schemeClr val="tx2"/>
                </a:solidFill>
                <a:ea typeface="宋体" panose="02010600030101010101" pitchFamily="2" charset="-122"/>
              </a:rPr>
              <a:t>区得非平衡少子分布由下两式决定：</a:t>
            </a:r>
            <a:endParaRPr lang="zh-CN" altLang="en-US" sz="2800" b="1">
              <a:solidFill>
                <a:schemeClr val="tx2"/>
              </a:solidFill>
              <a:ea typeface="宋体" panose="02010600030101010101" pitchFamily="2" charset="-122"/>
            </a:endParaRPr>
          </a:p>
        </p:txBody>
      </p:sp>
      <p:sp>
        <p:nvSpPr>
          <p:cNvPr id="98308" name="Text Box 4" descr="2"/>
          <p:cNvSpPr txBox="1">
            <a:spLocks noChangeArrowheads="1"/>
          </p:cNvSpPr>
          <p:nvPr/>
        </p:nvSpPr>
        <p:spPr bwMode="gray">
          <a:xfrm>
            <a:off x="1703388" y="404813"/>
            <a:ext cx="6697662" cy="519112"/>
          </a:xfrm>
          <a:prstGeom prst="rect">
            <a:avLst/>
          </a:prstGeom>
          <a:noFill/>
          <a:ln>
            <a:noFill/>
          </a:ln>
          <a:effectLst/>
          <a:extLst>
            <a:ext uri="{909E8E84-426E-40DD-AFC4-6F175D3DCCD1}">
              <a14:hiddenFill xmlns:a14="http://schemas.microsoft.com/office/drawing/2010/main">
                <a:blipFill dpi="0" rotWithShape="1">
                  <a:blip r:embed="rId1"/>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800" b="1">
                <a:solidFill>
                  <a:srgbClr val="FFFFFF"/>
                </a:solidFill>
                <a:ea typeface="宋体" panose="02010600030101010101" pitchFamily="2" charset="-122"/>
              </a:rPr>
              <a:t> 4.  </a:t>
            </a:r>
            <a:r>
              <a:rPr lang="zh-CN" altLang="en-US" sz="2800" b="1">
                <a:solidFill>
                  <a:srgbClr val="FFFFFF"/>
                </a:solidFill>
                <a:ea typeface="宋体" panose="02010600030101010101" pitchFamily="2" charset="-122"/>
              </a:rPr>
              <a:t>扩散电容</a:t>
            </a:r>
            <a:endParaRPr lang="zh-CN" altLang="en-US" sz="2800" b="1">
              <a:solidFill>
                <a:srgbClr val="FFFFFF"/>
              </a:solidFill>
              <a:ea typeface="宋体" panose="02010600030101010101" pitchFamily="2" charset="-122"/>
            </a:endParaRPr>
          </a:p>
        </p:txBody>
      </p:sp>
      <p:pic>
        <p:nvPicPr>
          <p:cNvPr id="98309" name="Picture 5" descr="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2782889" y="3213100"/>
            <a:ext cx="5761037" cy="1485900"/>
          </a:xfrm>
          <a:prstGeom prst="rect">
            <a:avLst/>
          </a:prstGeom>
          <a:noFill/>
          <a:ln>
            <a:noFill/>
          </a:ln>
          <a:effectLst/>
          <a:extLst>
            <a:ext uri="{909E8E84-426E-40DD-AFC4-6F175D3DCCD1}">
              <a14:hiddenFill xmlns:a14="http://schemas.microsoft.com/office/drawing/2010/main">
                <a:blipFill dpi="0" rotWithShape="1">
                  <a:blip/>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8310" name="Text Box 6" descr="2"/>
          <p:cNvSpPr txBox="1">
            <a:spLocks noChangeArrowheads="1"/>
          </p:cNvSpPr>
          <p:nvPr/>
        </p:nvSpPr>
        <p:spPr bwMode="gray">
          <a:xfrm>
            <a:off x="1524001" y="4581526"/>
            <a:ext cx="8964613" cy="830997"/>
          </a:xfrm>
          <a:prstGeom prst="rect">
            <a:avLst/>
          </a:prstGeom>
          <a:noFill/>
          <a:ln>
            <a:noFill/>
          </a:ln>
          <a:effectLst/>
          <a:extLst>
            <a:ext uri="{909E8E84-426E-40DD-AFC4-6F175D3DCCD1}">
              <a14:hiddenFill xmlns:a14="http://schemas.microsoft.com/office/drawing/2010/main">
                <a:blipFill dpi="0" rotWithShape="1">
                  <a:blip r:embed="rId1"/>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400" b="1">
                <a:solidFill>
                  <a:schemeClr val="tx2"/>
                </a:solidFill>
                <a:ea typeface="宋体" panose="02010600030101010101" pitchFamily="2" charset="-122"/>
              </a:rPr>
              <a:t>在扩散区内积分，就得到单位面积的扩散区内所积累的载流子总  电荷量</a:t>
            </a:r>
            <a:endParaRPr lang="zh-CN" altLang="en-US" sz="2400" b="1">
              <a:solidFill>
                <a:schemeClr val="tx2"/>
              </a:solidFill>
              <a:ea typeface="宋体" panose="02010600030101010101" pitchFamily="2" charset="-122"/>
            </a:endParaRPr>
          </a:p>
        </p:txBody>
      </p:sp>
      <p:pic>
        <p:nvPicPr>
          <p:cNvPr id="98311" name="Picture 7" descr="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gray">
          <a:xfrm>
            <a:off x="3790950" y="5205413"/>
            <a:ext cx="5689600" cy="1319212"/>
          </a:xfrm>
          <a:prstGeom prst="rect">
            <a:avLst/>
          </a:prstGeom>
          <a:noFill/>
          <a:ln>
            <a:noFill/>
          </a:ln>
          <a:effectLst/>
          <a:extLst>
            <a:ext uri="{909E8E84-426E-40DD-AFC4-6F175D3DCCD1}">
              <a14:hiddenFill xmlns:a14="http://schemas.microsoft.com/office/drawing/2010/main">
                <a:blipFill dpi="0" rotWithShape="1">
                  <a:blip/>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Text Box 2" descr="2"/>
          <p:cNvSpPr txBox="1">
            <a:spLocks noChangeArrowheads="1"/>
          </p:cNvSpPr>
          <p:nvPr/>
        </p:nvSpPr>
        <p:spPr bwMode="gray">
          <a:xfrm>
            <a:off x="1631951" y="1109663"/>
            <a:ext cx="7561263" cy="519112"/>
          </a:xfrm>
          <a:prstGeom prst="rect">
            <a:avLst/>
          </a:prstGeom>
          <a:noFill/>
          <a:ln>
            <a:noFill/>
          </a:ln>
          <a:effectLst/>
          <a:extLst>
            <a:ext uri="{909E8E84-426E-40DD-AFC4-6F175D3DCCD1}">
              <a14:hiddenFill xmlns:a14="http://schemas.microsoft.com/office/drawing/2010/main">
                <a:blipFill dpi="0" rotWithShape="1">
                  <a:blip r:embed="rId1"/>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800" b="1">
                <a:solidFill>
                  <a:schemeClr val="tx2"/>
                </a:solidFill>
                <a:ea typeface="宋体" panose="02010600030101010101" pitchFamily="2" charset="-122"/>
              </a:rPr>
              <a:t>由此算得扩散区单位面积的微分电容为：</a:t>
            </a:r>
            <a:endParaRPr lang="en-US" altLang="zh-CN" sz="2800" b="1">
              <a:solidFill>
                <a:schemeClr val="tx2"/>
              </a:solidFill>
              <a:ea typeface="宋体" panose="02010600030101010101" pitchFamily="2" charset="-122"/>
            </a:endParaRPr>
          </a:p>
        </p:txBody>
      </p:sp>
      <p:pic>
        <p:nvPicPr>
          <p:cNvPr id="96260" name="Picture 4" descr="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3359151" y="1658938"/>
            <a:ext cx="4392613" cy="1414462"/>
          </a:xfrm>
          <a:prstGeom prst="rect">
            <a:avLst/>
          </a:prstGeom>
          <a:noFill/>
          <a:ln>
            <a:noFill/>
          </a:ln>
          <a:effectLst/>
          <a:extLst>
            <a:ext uri="{909E8E84-426E-40DD-AFC4-6F175D3DCCD1}">
              <a14:hiddenFill xmlns:a14="http://schemas.microsoft.com/office/drawing/2010/main">
                <a:blipFill dpi="0" rotWithShape="1">
                  <a:blip/>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6261" name="Text Box 5" descr="2"/>
          <p:cNvSpPr txBox="1">
            <a:spLocks noChangeArrowheads="1"/>
          </p:cNvSpPr>
          <p:nvPr/>
        </p:nvSpPr>
        <p:spPr bwMode="gray">
          <a:xfrm>
            <a:off x="1630364" y="2997201"/>
            <a:ext cx="6842125" cy="519113"/>
          </a:xfrm>
          <a:prstGeom prst="rect">
            <a:avLst/>
          </a:prstGeom>
          <a:noFill/>
          <a:ln>
            <a:noFill/>
          </a:ln>
          <a:effectLst/>
          <a:extLst>
            <a:ext uri="{909E8E84-426E-40DD-AFC4-6F175D3DCCD1}">
              <a14:hiddenFill xmlns:a14="http://schemas.microsoft.com/office/drawing/2010/main">
                <a:blipFill dpi="0" rotWithShape="1">
                  <a:blip r:embed="rId1"/>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800" b="1">
                <a:solidFill>
                  <a:schemeClr val="tx2"/>
                </a:solidFill>
                <a:ea typeface="宋体" panose="02010600030101010101" pitchFamily="2" charset="-122"/>
              </a:rPr>
              <a:t>单位面积总的微分扩散电容为：</a:t>
            </a:r>
            <a:endParaRPr lang="en-US" altLang="zh-CN" sz="2800" b="1">
              <a:solidFill>
                <a:schemeClr val="tx2"/>
              </a:solidFill>
              <a:ea typeface="宋体" panose="02010600030101010101" pitchFamily="2" charset="-122"/>
            </a:endParaRPr>
          </a:p>
        </p:txBody>
      </p:sp>
      <p:pic>
        <p:nvPicPr>
          <p:cNvPr id="96262"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gray">
          <a:xfrm rot="60000">
            <a:off x="2422526" y="3500439"/>
            <a:ext cx="7129463" cy="676275"/>
          </a:xfrm>
          <a:prstGeom prst="rect">
            <a:avLst/>
          </a:prstGeom>
          <a:blipFill dpi="0" rotWithShape="1">
            <a:blip/>
            <a:srcRect/>
            <a:stretch>
              <a:fillRect/>
            </a:stretch>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6263" name="Text Box 7" descr="2"/>
          <p:cNvSpPr txBox="1">
            <a:spLocks noChangeArrowheads="1"/>
          </p:cNvSpPr>
          <p:nvPr/>
        </p:nvSpPr>
        <p:spPr bwMode="gray">
          <a:xfrm>
            <a:off x="1524001" y="4221163"/>
            <a:ext cx="8893175" cy="457200"/>
          </a:xfrm>
          <a:prstGeom prst="rect">
            <a:avLst/>
          </a:prstGeom>
          <a:noFill/>
          <a:ln>
            <a:noFill/>
          </a:ln>
          <a:effectLst/>
          <a:extLst>
            <a:ext uri="{909E8E84-426E-40DD-AFC4-6F175D3DCCD1}">
              <a14:hiddenFill xmlns:a14="http://schemas.microsoft.com/office/drawing/2010/main">
                <a:blipFill dpi="0" rotWithShape="1">
                  <a:blip r:embed="rId1"/>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400" b="1">
                <a:solidFill>
                  <a:schemeClr val="tx2"/>
                </a:solidFill>
                <a:ea typeface="宋体" panose="02010600030101010101" pitchFamily="2" charset="-122"/>
              </a:rPr>
              <a:t>设</a:t>
            </a:r>
            <a:r>
              <a:rPr lang="en-US" altLang="zh-CN" sz="2400" b="1">
                <a:solidFill>
                  <a:schemeClr val="tx2"/>
                </a:solidFill>
                <a:ea typeface="宋体" panose="02010600030101010101" pitchFamily="2" charset="-122"/>
              </a:rPr>
              <a:t>A</a:t>
            </a:r>
            <a:r>
              <a:rPr lang="zh-CN" altLang="en-US" sz="2400" b="1">
                <a:solidFill>
                  <a:schemeClr val="tx2"/>
                </a:solidFill>
                <a:ea typeface="宋体" panose="02010600030101010101" pitchFamily="2" charset="-122"/>
              </a:rPr>
              <a:t>为</a:t>
            </a:r>
            <a:r>
              <a:rPr lang="en-US" altLang="zh-CN" sz="2400" b="1">
                <a:solidFill>
                  <a:schemeClr val="tx2"/>
                </a:solidFill>
                <a:ea typeface="宋体" panose="02010600030101010101" pitchFamily="2" charset="-122"/>
              </a:rPr>
              <a:t>p-n</a:t>
            </a:r>
            <a:r>
              <a:rPr lang="zh-CN" altLang="en-US" sz="2400" b="1">
                <a:solidFill>
                  <a:schemeClr val="tx2"/>
                </a:solidFill>
                <a:ea typeface="宋体" panose="02010600030101010101" pitchFamily="2" charset="-122"/>
              </a:rPr>
              <a:t>结的面积，则加正向偏压时，总的微分扩散电容为：</a:t>
            </a:r>
            <a:endParaRPr lang="en-US" altLang="zh-CN" sz="2400" b="1">
              <a:solidFill>
                <a:schemeClr val="tx2"/>
              </a:solidFill>
              <a:ea typeface="宋体" panose="02010600030101010101" pitchFamily="2" charset="-122"/>
            </a:endParaRPr>
          </a:p>
        </p:txBody>
      </p:sp>
      <p:pic>
        <p:nvPicPr>
          <p:cNvPr id="96264"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gray">
          <a:xfrm rot="60000">
            <a:off x="2781300" y="4724400"/>
            <a:ext cx="6267450" cy="704850"/>
          </a:xfrm>
          <a:prstGeom prst="rect">
            <a:avLst/>
          </a:prstGeom>
          <a:blipFill dpi="0" rotWithShape="1">
            <a:blip/>
            <a:srcRect/>
            <a:stretch>
              <a:fillRect/>
            </a:stretch>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6267" name="Text Box 11" descr="2"/>
          <p:cNvSpPr txBox="1">
            <a:spLocks noChangeArrowheads="1"/>
          </p:cNvSpPr>
          <p:nvPr/>
        </p:nvSpPr>
        <p:spPr bwMode="gray">
          <a:xfrm>
            <a:off x="1558926" y="5718176"/>
            <a:ext cx="2881313" cy="519113"/>
          </a:xfrm>
          <a:prstGeom prst="rect">
            <a:avLst/>
          </a:prstGeom>
          <a:noFill/>
          <a:ln>
            <a:noFill/>
          </a:ln>
          <a:effectLst/>
          <a:extLst>
            <a:ext uri="{909E8E84-426E-40DD-AFC4-6F175D3DCCD1}">
              <a14:hiddenFill xmlns:a14="http://schemas.microsoft.com/office/drawing/2010/main">
                <a:blipFill dpi="0" rotWithShape="1">
                  <a:blip r:embed="rId1"/>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800" b="1">
                <a:solidFill>
                  <a:schemeClr val="tx2"/>
                </a:solidFill>
                <a:ea typeface="宋体" panose="02010600030101010101" pitchFamily="2" charset="-122"/>
              </a:rPr>
              <a:t>对于</a:t>
            </a:r>
            <a:r>
              <a:rPr lang="en-US" altLang="zh-CN" sz="2800" b="1">
                <a:solidFill>
                  <a:schemeClr val="tx2"/>
                </a:solidFill>
                <a:ea typeface="宋体" panose="02010600030101010101" pitchFamily="2" charset="-122"/>
              </a:rPr>
              <a:t>p</a:t>
            </a:r>
            <a:r>
              <a:rPr lang="en-US" altLang="zh-CN" sz="2800" b="1" baseline="30000">
                <a:solidFill>
                  <a:schemeClr val="tx2"/>
                </a:solidFill>
                <a:ea typeface="宋体" panose="02010600030101010101" pitchFamily="2" charset="-122"/>
              </a:rPr>
              <a:t>+</a:t>
            </a:r>
            <a:r>
              <a:rPr lang="en-US" altLang="zh-CN" sz="2800" b="1">
                <a:solidFill>
                  <a:schemeClr val="tx2"/>
                </a:solidFill>
                <a:ea typeface="宋体" panose="02010600030101010101" pitchFamily="2" charset="-122"/>
              </a:rPr>
              <a:t>-n</a:t>
            </a:r>
            <a:r>
              <a:rPr lang="zh-CN" altLang="en-US" sz="2800" b="1">
                <a:solidFill>
                  <a:schemeClr val="tx2"/>
                </a:solidFill>
                <a:ea typeface="宋体" panose="02010600030101010101" pitchFamily="2" charset="-122"/>
              </a:rPr>
              <a:t>结，则：</a:t>
            </a:r>
            <a:endParaRPr lang="en-US" altLang="zh-CN" sz="2800" b="1">
              <a:solidFill>
                <a:schemeClr val="tx2"/>
              </a:solidFill>
              <a:ea typeface="宋体" panose="02010600030101010101" pitchFamily="2" charset="-122"/>
            </a:endParaRPr>
          </a:p>
        </p:txBody>
      </p:sp>
      <p:pic>
        <p:nvPicPr>
          <p:cNvPr id="96268" name="Picture 12" descr="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gray">
          <a:xfrm>
            <a:off x="4727575" y="5589589"/>
            <a:ext cx="4248150" cy="841375"/>
          </a:xfrm>
          <a:prstGeom prst="rect">
            <a:avLst/>
          </a:prstGeom>
          <a:noFill/>
          <a:ln>
            <a:noFill/>
          </a:ln>
          <a:effectLst/>
          <a:extLst>
            <a:ext uri="{909E8E84-426E-40DD-AFC4-6F175D3DCCD1}">
              <a14:hiddenFill xmlns:a14="http://schemas.microsoft.com/office/drawing/2010/main">
                <a:blipFill dpi="0" rotWithShape="1">
                  <a:blip/>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Text Box 2" descr="2"/>
          <p:cNvSpPr txBox="1">
            <a:spLocks noChangeArrowheads="1"/>
          </p:cNvSpPr>
          <p:nvPr/>
        </p:nvSpPr>
        <p:spPr bwMode="gray">
          <a:xfrm>
            <a:off x="1992313" y="2133601"/>
            <a:ext cx="8280400" cy="3293209"/>
          </a:xfrm>
          <a:prstGeom prst="rect">
            <a:avLst/>
          </a:prstGeom>
          <a:noFill/>
          <a:ln>
            <a:noFill/>
          </a:ln>
          <a:effectLst/>
          <a:extLst>
            <a:ext uri="{909E8E84-426E-40DD-AFC4-6F175D3DCCD1}">
              <a14:hiddenFill xmlns:a14="http://schemas.microsoft.com/office/drawing/2010/main">
                <a:blipFill dpi="0" rotWithShape="1">
                  <a:blip r:embed="rId1"/>
                  <a:srcRect/>
                  <a:stretch>
                    <a:fillRect/>
                  </a:stretch>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3200" b="1">
                <a:solidFill>
                  <a:schemeClr val="tx2"/>
                </a:solidFill>
                <a:ea typeface="宋体" panose="02010600030101010101" pitchFamily="2" charset="-122"/>
              </a:rPr>
              <a:t>       因为这里的浓度分布是稳态公式，所以上两式只近似应用于低频情况，进一步分析指出，扩散电容随频率的增加而减小。</a:t>
            </a:r>
            <a:endParaRPr lang="zh-CN" altLang="en-US" sz="3200" b="1">
              <a:solidFill>
                <a:schemeClr val="tx2"/>
              </a:solidFill>
              <a:ea typeface="宋体" panose="02010600030101010101" pitchFamily="2" charset="-122"/>
            </a:endParaRPr>
          </a:p>
          <a:p>
            <a:pPr algn="l">
              <a:spcBef>
                <a:spcPct val="50000"/>
              </a:spcBef>
            </a:pPr>
            <a:r>
              <a:rPr lang="zh-CN" altLang="en-US" sz="3200" b="1">
                <a:solidFill>
                  <a:schemeClr val="tx2"/>
                </a:solidFill>
                <a:ea typeface="宋体" panose="02010600030101010101" pitchFamily="2" charset="-122"/>
              </a:rPr>
              <a:t>       由于扩散电容随正向偏压按指数关系增加，所以在大的正向偏压时，扩散电容便起主要作用。</a:t>
            </a:r>
            <a:endParaRPr lang="zh-CN" altLang="en-US" sz="3200" b="1">
              <a:solidFill>
                <a:schemeClr val="tx2"/>
              </a:solidFill>
              <a:ea typeface="宋体" panose="02010600030101010101" pitchFamily="2" charset="-122"/>
            </a:endParaRPr>
          </a:p>
        </p:txBody>
      </p:sp>
    </p:spTree>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378" name="Rectangle 2"/>
          <p:cNvSpPr>
            <a:spLocks noGrp="1" noChangeArrowheads="1"/>
          </p:cNvSpPr>
          <p:nvPr>
            <p:ph type="title"/>
          </p:nvPr>
        </p:nvSpPr>
        <p:spPr/>
        <p:txBody>
          <a:bodyPr/>
          <a:lstStyle/>
          <a:p>
            <a:r>
              <a:rPr lang="en-US" altLang="zh-CN">
                <a:latin typeface="楷体_GB2312" pitchFamily="49" charset="-122"/>
                <a:ea typeface="楷体_GB2312" pitchFamily="49" charset="-122"/>
              </a:rPr>
              <a:t>6.4  pn</a:t>
            </a:r>
            <a:r>
              <a:rPr lang="zh-CN" altLang="en-US">
                <a:latin typeface="楷体_GB2312" pitchFamily="49" charset="-122"/>
                <a:ea typeface="楷体_GB2312" pitchFamily="49" charset="-122"/>
              </a:rPr>
              <a:t>结击穿</a:t>
            </a:r>
            <a:endParaRPr lang="zh-CN" altLang="en-US">
              <a:latin typeface="楷体_GB2312" pitchFamily="49" charset="-122"/>
              <a:ea typeface="楷体_GB2312" pitchFamily="49" charset="-122"/>
            </a:endParaRPr>
          </a:p>
        </p:txBody>
      </p:sp>
      <p:grpSp>
        <p:nvGrpSpPr>
          <p:cNvPr id="357379" name="Group 3"/>
          <p:cNvGrpSpPr/>
          <p:nvPr/>
        </p:nvGrpSpPr>
        <p:grpSpPr bwMode="auto">
          <a:xfrm>
            <a:off x="3451226" y="3308351"/>
            <a:ext cx="5311775" cy="688975"/>
            <a:chOff x="720" y="1392"/>
            <a:chExt cx="4058" cy="480"/>
          </a:xfrm>
        </p:grpSpPr>
        <p:sp>
          <p:nvSpPr>
            <p:cNvPr id="357380" name="AutoShape 4"/>
            <p:cNvSpPr>
              <a:spLocks noChangeArrowheads="1"/>
            </p:cNvSpPr>
            <p:nvPr/>
          </p:nvSpPr>
          <p:spPr bwMode="gray">
            <a:xfrm>
              <a:off x="720" y="1392"/>
              <a:ext cx="4058" cy="480"/>
            </a:xfrm>
            <a:prstGeom prst="roundRect">
              <a:avLst>
                <a:gd name="adj" fmla="val 17509"/>
              </a:avLst>
            </a:prstGeom>
            <a:gradFill rotWithShape="1">
              <a:gsLst>
                <a:gs pos="0">
                  <a:schemeClr val="accent2"/>
                </a:gs>
                <a:gs pos="50000">
                  <a:schemeClr val="accent2">
                    <a:gamma/>
                    <a:shade val="92157"/>
                    <a:invGamma/>
                  </a:schemeClr>
                </a:gs>
                <a:gs pos="100000">
                  <a:schemeClr val="accent2"/>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fontAlgn="base">
                <a:spcBef>
                  <a:spcPct val="0"/>
                </a:spcBef>
                <a:spcAft>
                  <a:spcPct val="0"/>
                </a:spcAft>
              </a:pPr>
              <a:endParaRPr lang="zh-CN" altLang="en-US">
                <a:solidFill>
                  <a:srgbClr val="000000"/>
                </a:solidFill>
                <a:latin typeface="Arial" panose="020B0604020202020204" pitchFamily="34" charset="0"/>
              </a:endParaRPr>
            </a:p>
          </p:txBody>
        </p:sp>
        <p:grpSp>
          <p:nvGrpSpPr>
            <p:cNvPr id="357381" name="Group 5"/>
            <p:cNvGrpSpPr/>
            <p:nvPr/>
          </p:nvGrpSpPr>
          <p:grpSpPr bwMode="auto">
            <a:xfrm>
              <a:off x="730" y="1407"/>
              <a:ext cx="4043" cy="444"/>
              <a:chOff x="744" y="1407"/>
              <a:chExt cx="3988" cy="444"/>
            </a:xfrm>
          </p:grpSpPr>
          <p:sp>
            <p:nvSpPr>
              <p:cNvPr id="357382" name="AutoShape 6"/>
              <p:cNvSpPr>
                <a:spLocks noChangeArrowheads="1"/>
              </p:cNvSpPr>
              <p:nvPr/>
            </p:nvSpPr>
            <p:spPr bwMode="gray">
              <a:xfrm>
                <a:off x="744" y="1736"/>
                <a:ext cx="3988" cy="115"/>
              </a:xfrm>
              <a:prstGeom prst="roundRect">
                <a:avLst>
                  <a:gd name="adj" fmla="val 50000"/>
                </a:avLst>
              </a:prstGeom>
              <a:gradFill rotWithShape="1">
                <a:gsLst>
                  <a:gs pos="0">
                    <a:schemeClr val="accent2">
                      <a:alpha val="0"/>
                    </a:schemeClr>
                  </a:gs>
                  <a:gs pos="100000">
                    <a:schemeClr val="accent2">
                      <a:gamma/>
                      <a:tint val="0"/>
                      <a:invGamma/>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57383" name="AutoShape 7"/>
              <p:cNvSpPr>
                <a:spLocks noChangeArrowheads="1"/>
              </p:cNvSpPr>
              <p:nvPr/>
            </p:nvSpPr>
            <p:spPr bwMode="gray">
              <a:xfrm>
                <a:off x="744" y="1407"/>
                <a:ext cx="3988" cy="115"/>
              </a:xfrm>
              <a:prstGeom prst="roundRect">
                <a:avLst>
                  <a:gd name="adj" fmla="val 50000"/>
                </a:avLst>
              </a:prstGeom>
              <a:gradFill rotWithShape="1">
                <a:gsLst>
                  <a:gs pos="0">
                    <a:schemeClr val="accent2">
                      <a:gamma/>
                      <a:tint val="0"/>
                      <a:invGamma/>
                    </a:schemeClr>
                  </a:gs>
                  <a:gs pos="100000">
                    <a:schemeClr val="accent2">
                      <a:alpha val="0"/>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fontAlgn="base">
                  <a:spcBef>
                    <a:spcPct val="0"/>
                  </a:spcBef>
                  <a:spcAft>
                    <a:spcPct val="0"/>
                  </a:spcAft>
                </a:pPr>
                <a:endParaRPr lang="zh-CN" altLang="en-US">
                  <a:solidFill>
                    <a:srgbClr val="000000"/>
                  </a:solidFill>
                  <a:latin typeface="Arial" panose="020B0604020202020204" pitchFamily="34" charset="0"/>
                </a:endParaRPr>
              </a:p>
            </p:txBody>
          </p:sp>
        </p:grpSp>
      </p:grpSp>
      <p:grpSp>
        <p:nvGrpSpPr>
          <p:cNvPr id="357394" name="Group 18"/>
          <p:cNvGrpSpPr/>
          <p:nvPr/>
        </p:nvGrpSpPr>
        <p:grpSpPr bwMode="auto">
          <a:xfrm>
            <a:off x="3429001" y="2438401"/>
            <a:ext cx="5311775" cy="688975"/>
            <a:chOff x="720" y="1392"/>
            <a:chExt cx="4058" cy="480"/>
          </a:xfrm>
        </p:grpSpPr>
        <p:sp>
          <p:nvSpPr>
            <p:cNvPr id="357395" name="AutoShape 19"/>
            <p:cNvSpPr>
              <a:spLocks noChangeArrowheads="1"/>
            </p:cNvSpPr>
            <p:nvPr/>
          </p:nvSpPr>
          <p:spPr bwMode="gray">
            <a:xfrm>
              <a:off x="720" y="1392"/>
              <a:ext cx="4058" cy="480"/>
            </a:xfrm>
            <a:prstGeom prst="roundRect">
              <a:avLst>
                <a:gd name="adj" fmla="val 17509"/>
              </a:avLst>
            </a:prstGeom>
            <a:gradFill rotWithShape="1">
              <a:gsLst>
                <a:gs pos="0">
                  <a:schemeClr val="accent1"/>
                </a:gs>
                <a:gs pos="50000">
                  <a:schemeClr val="accent1">
                    <a:gamma/>
                    <a:shade val="92157"/>
                    <a:invGamma/>
                  </a:schemeClr>
                </a:gs>
                <a:gs pos="100000">
                  <a:schemeClr val="accent1"/>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fontAlgn="base">
                <a:spcBef>
                  <a:spcPct val="0"/>
                </a:spcBef>
                <a:spcAft>
                  <a:spcPct val="0"/>
                </a:spcAft>
              </a:pPr>
              <a:endParaRPr lang="zh-CN" altLang="en-US">
                <a:solidFill>
                  <a:srgbClr val="000000"/>
                </a:solidFill>
                <a:latin typeface="Arial" panose="020B0604020202020204" pitchFamily="34" charset="0"/>
              </a:endParaRPr>
            </a:p>
          </p:txBody>
        </p:sp>
        <p:grpSp>
          <p:nvGrpSpPr>
            <p:cNvPr id="357396" name="Group 20"/>
            <p:cNvGrpSpPr/>
            <p:nvPr/>
          </p:nvGrpSpPr>
          <p:grpSpPr bwMode="auto">
            <a:xfrm>
              <a:off x="730" y="1407"/>
              <a:ext cx="4043" cy="444"/>
              <a:chOff x="744" y="1407"/>
              <a:chExt cx="3988" cy="444"/>
            </a:xfrm>
          </p:grpSpPr>
          <p:sp>
            <p:nvSpPr>
              <p:cNvPr id="357397" name="AutoShape 21"/>
              <p:cNvSpPr>
                <a:spLocks noChangeArrowheads="1"/>
              </p:cNvSpPr>
              <p:nvPr/>
            </p:nvSpPr>
            <p:spPr bwMode="gray">
              <a:xfrm>
                <a:off x="744" y="1736"/>
                <a:ext cx="3988" cy="115"/>
              </a:xfrm>
              <a:prstGeom prst="roundRect">
                <a:avLst>
                  <a:gd name="adj" fmla="val 50000"/>
                </a:avLst>
              </a:prstGeom>
              <a:gradFill rotWithShape="1">
                <a:gsLst>
                  <a:gs pos="0">
                    <a:schemeClr val="accent1">
                      <a:alpha val="0"/>
                    </a:schemeClr>
                  </a:gs>
                  <a:gs pos="100000">
                    <a:schemeClr val="accent1">
                      <a:gamma/>
                      <a:tint val="0"/>
                      <a:invGamma/>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57398" name="AutoShape 22"/>
              <p:cNvSpPr>
                <a:spLocks noChangeArrowheads="1"/>
              </p:cNvSpPr>
              <p:nvPr/>
            </p:nvSpPr>
            <p:spPr bwMode="gray">
              <a:xfrm>
                <a:off x="744" y="1407"/>
                <a:ext cx="3988" cy="115"/>
              </a:xfrm>
              <a:prstGeom prst="roundRect">
                <a:avLst>
                  <a:gd name="adj" fmla="val 50000"/>
                </a:avLst>
              </a:prstGeom>
              <a:gradFill rotWithShape="1">
                <a:gsLst>
                  <a:gs pos="0">
                    <a:schemeClr val="accent1">
                      <a:gamma/>
                      <a:tint val="0"/>
                      <a:invGamma/>
                    </a:schemeClr>
                  </a:gs>
                  <a:gs pos="100000">
                    <a:schemeClr val="accent1">
                      <a:alpha val="0"/>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fontAlgn="base">
                  <a:spcBef>
                    <a:spcPct val="0"/>
                  </a:spcBef>
                  <a:spcAft>
                    <a:spcPct val="0"/>
                  </a:spcAft>
                </a:pPr>
                <a:endParaRPr lang="zh-CN" altLang="en-US">
                  <a:solidFill>
                    <a:srgbClr val="000000"/>
                  </a:solidFill>
                  <a:latin typeface="Arial" panose="020B0604020202020204" pitchFamily="34" charset="0"/>
                </a:endParaRPr>
              </a:p>
            </p:txBody>
          </p:sp>
        </p:grpSp>
      </p:grpSp>
      <p:sp>
        <p:nvSpPr>
          <p:cNvPr id="357399" name="Text Box 23"/>
          <p:cNvSpPr txBox="1">
            <a:spLocks noChangeArrowheads="1"/>
          </p:cNvSpPr>
          <p:nvPr/>
        </p:nvSpPr>
        <p:spPr bwMode="white">
          <a:xfrm>
            <a:off x="3917950" y="2559050"/>
            <a:ext cx="449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292929">
                      <a:alpha val="50000"/>
                    </a:srgbClr>
                  </a:outerShdw>
                </a:effectLst>
              </a14:hiddenEffects>
            </a:ext>
          </a:extLst>
        </p:spPr>
        <p:txBody>
          <a:bodyPr>
            <a:spAutoFit/>
          </a:bodyPr>
          <a:lstStyle>
            <a:lvl1pPr marL="457200" indent="-457200" algn="l">
              <a:defRPr>
                <a:solidFill>
                  <a:schemeClr val="tx1"/>
                </a:solidFill>
                <a:latin typeface="Arial" panose="020B0604020202020204" pitchFamily="34" charset="0"/>
              </a:defRPr>
            </a:lvl1pPr>
            <a:lvl2pPr marL="914400" indent="-457200" algn="l">
              <a:defRPr>
                <a:solidFill>
                  <a:schemeClr val="tx1"/>
                </a:solidFill>
                <a:latin typeface="Arial" panose="020B0604020202020204" pitchFamily="34" charset="0"/>
              </a:defRPr>
            </a:lvl2pPr>
            <a:lvl3pPr marL="1371600" indent="-457200" algn="l">
              <a:defRPr>
                <a:solidFill>
                  <a:schemeClr val="tx1"/>
                </a:solidFill>
                <a:latin typeface="Arial" panose="020B0604020202020204" pitchFamily="34" charset="0"/>
              </a:defRPr>
            </a:lvl3pPr>
            <a:lvl4pPr marL="1828800" indent="-457200" algn="l">
              <a:defRPr>
                <a:solidFill>
                  <a:schemeClr val="tx1"/>
                </a:solidFill>
                <a:latin typeface="Arial" panose="020B0604020202020204" pitchFamily="34" charset="0"/>
              </a:defRPr>
            </a:lvl4pPr>
            <a:lvl5pPr marL="2286000" indent="-457200" algn="l">
              <a:defRPr>
                <a:solidFill>
                  <a:schemeClr val="tx1"/>
                </a:solidFill>
                <a:latin typeface="Arial" panose="020B0604020202020204" pitchFamily="34" charset="0"/>
              </a:defRPr>
            </a:lvl5pPr>
            <a:lvl6pPr marL="2743200" indent="-457200" fontAlgn="base">
              <a:spcBef>
                <a:spcPct val="0"/>
              </a:spcBef>
              <a:spcAft>
                <a:spcPct val="0"/>
              </a:spcAft>
              <a:defRPr>
                <a:solidFill>
                  <a:schemeClr val="tx1"/>
                </a:solidFill>
                <a:latin typeface="Arial" panose="020B0604020202020204" pitchFamily="34" charset="0"/>
              </a:defRPr>
            </a:lvl6pPr>
            <a:lvl7pPr marL="3200400" indent="-457200" fontAlgn="base">
              <a:spcBef>
                <a:spcPct val="0"/>
              </a:spcBef>
              <a:spcAft>
                <a:spcPct val="0"/>
              </a:spcAft>
              <a:defRPr>
                <a:solidFill>
                  <a:schemeClr val="tx1"/>
                </a:solidFill>
                <a:latin typeface="Arial" panose="020B0604020202020204" pitchFamily="34" charset="0"/>
              </a:defRPr>
            </a:lvl7pPr>
            <a:lvl8pPr marL="3657600" indent="-457200" fontAlgn="base">
              <a:spcBef>
                <a:spcPct val="0"/>
              </a:spcBef>
              <a:spcAft>
                <a:spcPct val="0"/>
              </a:spcAft>
              <a:defRPr>
                <a:solidFill>
                  <a:schemeClr val="tx1"/>
                </a:solidFill>
                <a:latin typeface="Arial" panose="020B0604020202020204" pitchFamily="34" charset="0"/>
              </a:defRPr>
            </a:lvl8pPr>
            <a:lvl9pPr marL="4114800" indent="-457200" fontAlgn="base">
              <a:spcBef>
                <a:spcPct val="0"/>
              </a:spcBef>
              <a:spcAft>
                <a:spcPct val="0"/>
              </a:spcAft>
              <a:defRPr>
                <a:solidFill>
                  <a:schemeClr val="tx1"/>
                </a:solidFill>
                <a:latin typeface="Arial" panose="020B0604020202020204" pitchFamily="34" charset="0"/>
              </a:defRPr>
            </a:lvl9pPr>
          </a:lstStyle>
          <a:p>
            <a:pPr fontAlgn="base">
              <a:spcBef>
                <a:spcPct val="50000"/>
              </a:spcBef>
              <a:spcAft>
                <a:spcPct val="0"/>
              </a:spcAft>
              <a:buClr>
                <a:srgbClr val="000000"/>
              </a:buClr>
            </a:pPr>
            <a:r>
              <a:rPr lang="en-US" altLang="zh-CN" sz="2400" b="1">
                <a:solidFill>
                  <a:srgbClr val="FFFFFF"/>
                </a:solidFill>
                <a:ea typeface="宋体" panose="02010600030101010101" pitchFamily="2" charset="-122"/>
                <a:cs typeface="Arial" panose="020B0604020202020204" pitchFamily="34" charset="0"/>
              </a:rPr>
              <a:t>  </a:t>
            </a:r>
            <a:r>
              <a:rPr lang="en-US" altLang="zh-CN" sz="2400" b="1">
                <a:solidFill>
                  <a:srgbClr val="FFFFFF"/>
                </a:solidFill>
                <a:latin typeface="楷体_GB2312" pitchFamily="49" charset="-122"/>
                <a:ea typeface="楷体_GB2312" pitchFamily="49" charset="-122"/>
                <a:cs typeface="Arial" panose="020B0604020202020204" pitchFamily="34" charset="0"/>
              </a:rPr>
              <a:t>6.4.2  </a:t>
            </a:r>
            <a:r>
              <a:rPr lang="zh-CN" altLang="en-US" sz="2400" b="1">
                <a:solidFill>
                  <a:srgbClr val="FFFFFF"/>
                </a:solidFill>
                <a:latin typeface="楷体_GB2312" pitchFamily="49" charset="-122"/>
                <a:ea typeface="楷体_GB2312" pitchFamily="49" charset="-122"/>
                <a:cs typeface="Arial" panose="020B0604020202020204" pitchFamily="34" charset="0"/>
              </a:rPr>
              <a:t>隧道击穿（齐纳击穿）</a:t>
            </a:r>
            <a:endParaRPr lang="zh-CN" altLang="en-US" sz="2400" b="1">
              <a:solidFill>
                <a:srgbClr val="FFFFFF"/>
              </a:solidFill>
              <a:ea typeface="宋体" panose="02010600030101010101" pitchFamily="2" charset="-122"/>
              <a:cs typeface="Arial" panose="020B0604020202020204" pitchFamily="34" charset="0"/>
            </a:endParaRPr>
          </a:p>
        </p:txBody>
      </p:sp>
      <p:sp>
        <p:nvSpPr>
          <p:cNvPr id="357400" name="Text Box 24"/>
          <p:cNvSpPr txBox="1">
            <a:spLocks noChangeArrowheads="1"/>
          </p:cNvSpPr>
          <p:nvPr/>
        </p:nvSpPr>
        <p:spPr bwMode="white">
          <a:xfrm>
            <a:off x="3929063" y="3416300"/>
            <a:ext cx="449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292929">
                      <a:alpha val="50000"/>
                    </a:srgbClr>
                  </a:outerShdw>
                </a:effectLst>
              </a14:hiddenEffects>
            </a:ext>
          </a:extLst>
        </p:spPr>
        <p:txBody>
          <a:bodyPr>
            <a:spAutoFit/>
          </a:bodyPr>
          <a:lstStyle>
            <a:lvl1pPr marL="457200" indent="-457200" algn="l">
              <a:defRPr>
                <a:solidFill>
                  <a:schemeClr val="tx1"/>
                </a:solidFill>
                <a:latin typeface="Arial" panose="020B0604020202020204" pitchFamily="34" charset="0"/>
              </a:defRPr>
            </a:lvl1pPr>
            <a:lvl2pPr marL="914400" indent="-457200" algn="l">
              <a:defRPr>
                <a:solidFill>
                  <a:schemeClr val="tx1"/>
                </a:solidFill>
                <a:latin typeface="Arial" panose="020B0604020202020204" pitchFamily="34" charset="0"/>
              </a:defRPr>
            </a:lvl2pPr>
            <a:lvl3pPr marL="1371600" indent="-457200" algn="l">
              <a:defRPr>
                <a:solidFill>
                  <a:schemeClr val="tx1"/>
                </a:solidFill>
                <a:latin typeface="Arial" panose="020B0604020202020204" pitchFamily="34" charset="0"/>
              </a:defRPr>
            </a:lvl3pPr>
            <a:lvl4pPr marL="1828800" indent="-457200" algn="l">
              <a:defRPr>
                <a:solidFill>
                  <a:schemeClr val="tx1"/>
                </a:solidFill>
                <a:latin typeface="Arial" panose="020B0604020202020204" pitchFamily="34" charset="0"/>
              </a:defRPr>
            </a:lvl4pPr>
            <a:lvl5pPr marL="2286000" indent="-457200" algn="l">
              <a:defRPr>
                <a:solidFill>
                  <a:schemeClr val="tx1"/>
                </a:solidFill>
                <a:latin typeface="Arial" panose="020B0604020202020204" pitchFamily="34" charset="0"/>
              </a:defRPr>
            </a:lvl5pPr>
            <a:lvl6pPr marL="2743200" indent="-457200" fontAlgn="base">
              <a:spcBef>
                <a:spcPct val="0"/>
              </a:spcBef>
              <a:spcAft>
                <a:spcPct val="0"/>
              </a:spcAft>
              <a:defRPr>
                <a:solidFill>
                  <a:schemeClr val="tx1"/>
                </a:solidFill>
                <a:latin typeface="Arial" panose="020B0604020202020204" pitchFamily="34" charset="0"/>
              </a:defRPr>
            </a:lvl6pPr>
            <a:lvl7pPr marL="3200400" indent="-457200" fontAlgn="base">
              <a:spcBef>
                <a:spcPct val="0"/>
              </a:spcBef>
              <a:spcAft>
                <a:spcPct val="0"/>
              </a:spcAft>
              <a:defRPr>
                <a:solidFill>
                  <a:schemeClr val="tx1"/>
                </a:solidFill>
                <a:latin typeface="Arial" panose="020B0604020202020204" pitchFamily="34" charset="0"/>
              </a:defRPr>
            </a:lvl7pPr>
            <a:lvl8pPr marL="3657600" indent="-457200" fontAlgn="base">
              <a:spcBef>
                <a:spcPct val="0"/>
              </a:spcBef>
              <a:spcAft>
                <a:spcPct val="0"/>
              </a:spcAft>
              <a:defRPr>
                <a:solidFill>
                  <a:schemeClr val="tx1"/>
                </a:solidFill>
                <a:latin typeface="Arial" panose="020B0604020202020204" pitchFamily="34" charset="0"/>
              </a:defRPr>
            </a:lvl8pPr>
            <a:lvl9pPr marL="4114800" indent="-457200" fontAlgn="base">
              <a:spcBef>
                <a:spcPct val="0"/>
              </a:spcBef>
              <a:spcAft>
                <a:spcPct val="0"/>
              </a:spcAft>
              <a:defRPr>
                <a:solidFill>
                  <a:schemeClr val="tx1"/>
                </a:solidFill>
                <a:latin typeface="Arial" panose="020B0604020202020204" pitchFamily="34" charset="0"/>
              </a:defRPr>
            </a:lvl9pPr>
          </a:lstStyle>
          <a:p>
            <a:pPr fontAlgn="base">
              <a:spcBef>
                <a:spcPct val="50000"/>
              </a:spcBef>
              <a:spcAft>
                <a:spcPct val="0"/>
              </a:spcAft>
              <a:buClr>
                <a:srgbClr val="000000"/>
              </a:buClr>
            </a:pPr>
            <a:r>
              <a:rPr lang="en-US" altLang="zh-CN" sz="2400" b="1">
                <a:solidFill>
                  <a:srgbClr val="FFFFFF"/>
                </a:solidFill>
                <a:latin typeface="楷体_GB2312" pitchFamily="49" charset="-122"/>
                <a:ea typeface="楷体_GB2312" pitchFamily="49" charset="-122"/>
                <a:cs typeface="Arial" panose="020B0604020202020204" pitchFamily="34" charset="0"/>
              </a:rPr>
              <a:t> 6.4.3  </a:t>
            </a:r>
            <a:r>
              <a:rPr lang="zh-CN" altLang="en-US" sz="2400" b="1">
                <a:solidFill>
                  <a:srgbClr val="FFFFFF"/>
                </a:solidFill>
                <a:latin typeface="楷体_GB2312" pitchFamily="49" charset="-122"/>
                <a:ea typeface="楷体_GB2312" pitchFamily="49" charset="-122"/>
                <a:cs typeface="Arial" panose="020B0604020202020204" pitchFamily="34" charset="0"/>
              </a:rPr>
              <a:t>热击穿</a:t>
            </a:r>
            <a:endParaRPr lang="zh-CN" altLang="en-US" sz="2400" b="1">
              <a:solidFill>
                <a:srgbClr val="FFFFFF"/>
              </a:solidFill>
              <a:ea typeface="宋体" panose="02010600030101010101" pitchFamily="2" charset="-122"/>
              <a:cs typeface="Arial" panose="020B0604020202020204" pitchFamily="34" charset="0"/>
            </a:endParaRPr>
          </a:p>
        </p:txBody>
      </p:sp>
      <p:pic>
        <p:nvPicPr>
          <p:cNvPr id="357405" name="Picture 29" descr="1"/>
          <p:cNvPicPr>
            <a:picLocks noChangeAspect="1" noChangeArrowheads="1"/>
          </p:cNvPicPr>
          <p:nvPr/>
        </p:nvPicPr>
        <p:blipFill>
          <a:blip r:embed="rId1">
            <a:lum bright="-6000" contrast="24000"/>
            <a:extLst>
              <a:ext uri="{28A0092B-C50C-407E-A947-70E740481C1C}">
                <a14:useLocalDpi xmlns:a14="http://schemas.microsoft.com/office/drawing/2010/main" val="0"/>
              </a:ext>
            </a:extLst>
          </a:blip>
          <a:srcRect l="42606" t="64474" r="19473"/>
          <a:stretch>
            <a:fillRect/>
          </a:stretch>
        </p:blipFill>
        <p:spPr bwMode="auto">
          <a:xfrm>
            <a:off x="3267076" y="3297239"/>
            <a:ext cx="792163" cy="949325"/>
          </a:xfrm>
          <a:prstGeom prst="rect">
            <a:avLst/>
          </a:prstGeom>
          <a:noFill/>
          <a:extLst>
            <a:ext uri="{909E8E84-426E-40DD-AFC4-6F175D3DCCD1}">
              <a14:hiddenFill xmlns:a14="http://schemas.microsoft.com/office/drawing/2010/main">
                <a:solidFill>
                  <a:srgbClr val="FFFFFF"/>
                </a:solidFill>
              </a14:hiddenFill>
            </a:ext>
          </a:extLst>
        </p:spPr>
      </p:pic>
      <p:pic>
        <p:nvPicPr>
          <p:cNvPr id="357406" name="Picture 30" descr="1"/>
          <p:cNvPicPr>
            <a:picLocks noChangeAspect="1" noChangeArrowheads="1"/>
          </p:cNvPicPr>
          <p:nvPr/>
        </p:nvPicPr>
        <p:blipFill>
          <a:blip r:embed="rId1">
            <a:lum bright="-6000" contrast="24000"/>
            <a:extLst>
              <a:ext uri="{28A0092B-C50C-407E-A947-70E740481C1C}">
                <a14:useLocalDpi xmlns:a14="http://schemas.microsoft.com/office/drawing/2010/main" val="0"/>
              </a:ext>
            </a:extLst>
          </a:blip>
          <a:srcRect l="42606" t="64474" r="19473"/>
          <a:stretch>
            <a:fillRect/>
          </a:stretch>
        </p:blipFill>
        <p:spPr bwMode="auto">
          <a:xfrm>
            <a:off x="3255963" y="2439989"/>
            <a:ext cx="792162" cy="949325"/>
          </a:xfrm>
          <a:prstGeom prst="rect">
            <a:avLst/>
          </a:prstGeom>
          <a:noFill/>
          <a:extLst>
            <a:ext uri="{909E8E84-426E-40DD-AFC4-6F175D3DCCD1}">
              <a14:hiddenFill xmlns:a14="http://schemas.microsoft.com/office/drawing/2010/main">
                <a:solidFill>
                  <a:srgbClr val="FFFFFF"/>
                </a:solidFill>
              </a14:hiddenFill>
            </a:ext>
          </a:extLst>
        </p:spPr>
      </p:pic>
      <p:sp>
        <p:nvSpPr>
          <p:cNvPr id="357407" name="Text Box 31"/>
          <p:cNvSpPr txBox="1">
            <a:spLocks noChangeArrowheads="1"/>
          </p:cNvSpPr>
          <p:nvPr/>
        </p:nvSpPr>
        <p:spPr bwMode="white">
          <a:xfrm>
            <a:off x="3576638" y="2536825"/>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pPr>
            <a:r>
              <a:rPr lang="en-US" altLang="zh-CN" sz="2400" b="1">
                <a:solidFill>
                  <a:srgbClr val="FFFFFF"/>
                </a:solidFill>
                <a:latin typeface="Arial" panose="020B0604020202020204" pitchFamily="34" charset="0"/>
                <a:ea typeface="宋体" panose="02010600030101010101" pitchFamily="2" charset="-122"/>
                <a:cs typeface="Arial" panose="020B0604020202020204" pitchFamily="34" charset="0"/>
              </a:rPr>
              <a:t>2</a:t>
            </a:r>
            <a:endParaRPr lang="en-US" altLang="zh-CN" sz="2400" b="1">
              <a:solidFill>
                <a:srgbClr val="FFFFFF"/>
              </a:solidFill>
              <a:latin typeface="Arial" panose="020B0604020202020204" pitchFamily="34" charset="0"/>
              <a:ea typeface="宋体" panose="02010600030101010101" pitchFamily="2" charset="-122"/>
              <a:cs typeface="Arial" panose="020B0604020202020204" pitchFamily="34" charset="0"/>
            </a:endParaRPr>
          </a:p>
        </p:txBody>
      </p:sp>
      <p:sp>
        <p:nvSpPr>
          <p:cNvPr id="357408" name="Text Box 32"/>
          <p:cNvSpPr txBox="1">
            <a:spLocks noChangeArrowheads="1"/>
          </p:cNvSpPr>
          <p:nvPr/>
        </p:nvSpPr>
        <p:spPr bwMode="white">
          <a:xfrm>
            <a:off x="3589338" y="3395663"/>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pPr>
            <a:r>
              <a:rPr lang="en-US" altLang="zh-CN" sz="2400" b="1">
                <a:solidFill>
                  <a:srgbClr val="FFFFFF"/>
                </a:solidFill>
                <a:latin typeface="Arial" panose="020B0604020202020204" pitchFamily="34" charset="0"/>
                <a:ea typeface="宋体" panose="02010600030101010101" pitchFamily="2" charset="-122"/>
                <a:cs typeface="Arial" panose="020B0604020202020204" pitchFamily="34" charset="0"/>
              </a:rPr>
              <a:t>3</a:t>
            </a:r>
            <a:endParaRPr lang="en-US" altLang="zh-CN" sz="2400" b="1">
              <a:solidFill>
                <a:srgbClr val="FFFFFF"/>
              </a:solidFill>
              <a:latin typeface="Arial" panose="020B0604020202020204" pitchFamily="34" charset="0"/>
              <a:ea typeface="宋体" panose="02010600030101010101" pitchFamily="2" charset="-122"/>
              <a:cs typeface="Arial" panose="020B0604020202020204" pitchFamily="34" charset="0"/>
            </a:endParaRPr>
          </a:p>
        </p:txBody>
      </p:sp>
      <p:sp>
        <p:nvSpPr>
          <p:cNvPr id="357409" name="Text Box 33"/>
          <p:cNvSpPr txBox="1">
            <a:spLocks noChangeArrowheads="1"/>
          </p:cNvSpPr>
          <p:nvPr/>
        </p:nvSpPr>
        <p:spPr bwMode="white">
          <a:xfrm>
            <a:off x="3589338" y="4283075"/>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pPr>
            <a:r>
              <a:rPr lang="en-US" altLang="zh-CN" sz="2400" b="1">
                <a:solidFill>
                  <a:srgbClr val="FFFFFF"/>
                </a:solidFill>
                <a:latin typeface="Arial" panose="020B0604020202020204" pitchFamily="34" charset="0"/>
                <a:ea typeface="宋体" panose="02010600030101010101" pitchFamily="2" charset="-122"/>
                <a:cs typeface="Arial" panose="020B0604020202020204" pitchFamily="34" charset="0"/>
              </a:rPr>
              <a:t>4</a:t>
            </a:r>
            <a:endParaRPr lang="en-US" altLang="zh-CN" sz="2400" b="1">
              <a:solidFill>
                <a:srgbClr val="FFFFFF"/>
              </a:solidFill>
              <a:latin typeface="Arial" panose="020B0604020202020204" pitchFamily="34" charset="0"/>
              <a:ea typeface="宋体" panose="02010600030101010101" pitchFamily="2" charset="-122"/>
              <a:cs typeface="Arial" panose="020B0604020202020204" pitchFamily="34" charset="0"/>
            </a:endParaRPr>
          </a:p>
        </p:txBody>
      </p:sp>
      <p:sp>
        <p:nvSpPr>
          <p:cNvPr id="357410" name="AutoShape 34"/>
          <p:cNvSpPr>
            <a:spLocks noChangeArrowheads="1"/>
          </p:cNvSpPr>
          <p:nvPr/>
        </p:nvSpPr>
        <p:spPr bwMode="auto">
          <a:xfrm>
            <a:off x="2743200" y="1524001"/>
            <a:ext cx="6553200" cy="720725"/>
          </a:xfrm>
          <a:prstGeom prst="roundRect">
            <a:avLst>
              <a:gd name="adj" fmla="val 42181"/>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C0C0C0"/>
                </a:solidFill>
                <a:prstDash val="sysDot"/>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lang="en-US" altLang="zh-CN" b="1">
              <a:solidFill>
                <a:srgbClr val="000000"/>
              </a:solidFill>
              <a:latin typeface="Arial" panose="020B0604020202020204" pitchFamily="34" charset="0"/>
              <a:ea typeface="宋体" panose="02010600030101010101" pitchFamily="2" charset="-122"/>
              <a:cs typeface="Arial" panose="020B0604020202020204" pitchFamily="34" charset="0"/>
            </a:endParaRPr>
          </a:p>
        </p:txBody>
      </p:sp>
      <p:grpSp>
        <p:nvGrpSpPr>
          <p:cNvPr id="357411" name="Group 35"/>
          <p:cNvGrpSpPr/>
          <p:nvPr/>
        </p:nvGrpSpPr>
        <p:grpSpPr bwMode="auto">
          <a:xfrm>
            <a:off x="3429001" y="1600201"/>
            <a:ext cx="5311775" cy="688975"/>
            <a:chOff x="720" y="1392"/>
            <a:chExt cx="4058" cy="480"/>
          </a:xfrm>
        </p:grpSpPr>
        <p:sp>
          <p:nvSpPr>
            <p:cNvPr id="357412" name="AutoShape 36"/>
            <p:cNvSpPr>
              <a:spLocks noChangeArrowheads="1"/>
            </p:cNvSpPr>
            <p:nvPr/>
          </p:nvSpPr>
          <p:spPr bwMode="gray">
            <a:xfrm>
              <a:off x="720" y="1392"/>
              <a:ext cx="4058" cy="480"/>
            </a:xfrm>
            <a:prstGeom prst="roundRect">
              <a:avLst>
                <a:gd name="adj" fmla="val 17509"/>
              </a:avLst>
            </a:prstGeom>
            <a:gradFill rotWithShape="1">
              <a:gsLst>
                <a:gs pos="0">
                  <a:schemeClr val="folHlink"/>
                </a:gs>
                <a:gs pos="50000">
                  <a:schemeClr val="folHlink">
                    <a:gamma/>
                    <a:shade val="92157"/>
                    <a:invGamma/>
                  </a:schemeClr>
                </a:gs>
                <a:gs pos="100000">
                  <a:schemeClr val="folHlink"/>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fontAlgn="base">
                <a:spcBef>
                  <a:spcPct val="0"/>
                </a:spcBef>
                <a:spcAft>
                  <a:spcPct val="0"/>
                </a:spcAft>
              </a:pPr>
              <a:endParaRPr lang="zh-CN" altLang="en-US">
                <a:solidFill>
                  <a:srgbClr val="000000"/>
                </a:solidFill>
                <a:latin typeface="Arial" panose="020B0604020202020204" pitchFamily="34" charset="0"/>
              </a:endParaRPr>
            </a:p>
          </p:txBody>
        </p:sp>
        <p:grpSp>
          <p:nvGrpSpPr>
            <p:cNvPr id="357413" name="Group 37"/>
            <p:cNvGrpSpPr/>
            <p:nvPr/>
          </p:nvGrpSpPr>
          <p:grpSpPr bwMode="auto">
            <a:xfrm>
              <a:off x="730" y="1407"/>
              <a:ext cx="4043" cy="444"/>
              <a:chOff x="744" y="1407"/>
              <a:chExt cx="3988" cy="444"/>
            </a:xfrm>
          </p:grpSpPr>
          <p:sp>
            <p:nvSpPr>
              <p:cNvPr id="357414" name="AutoShape 38"/>
              <p:cNvSpPr>
                <a:spLocks noChangeArrowheads="1"/>
              </p:cNvSpPr>
              <p:nvPr/>
            </p:nvSpPr>
            <p:spPr bwMode="gray">
              <a:xfrm>
                <a:off x="744" y="1736"/>
                <a:ext cx="3988" cy="115"/>
              </a:xfrm>
              <a:prstGeom prst="roundRect">
                <a:avLst>
                  <a:gd name="adj" fmla="val 50000"/>
                </a:avLst>
              </a:prstGeom>
              <a:gradFill rotWithShape="1">
                <a:gsLst>
                  <a:gs pos="0">
                    <a:schemeClr val="folHlink">
                      <a:alpha val="0"/>
                    </a:schemeClr>
                  </a:gs>
                  <a:gs pos="100000">
                    <a:schemeClr val="folHlink">
                      <a:gamma/>
                      <a:tint val="0"/>
                      <a:invGamma/>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57415" name="AutoShape 39"/>
              <p:cNvSpPr>
                <a:spLocks noChangeArrowheads="1"/>
              </p:cNvSpPr>
              <p:nvPr/>
            </p:nvSpPr>
            <p:spPr bwMode="gray">
              <a:xfrm>
                <a:off x="744" y="1407"/>
                <a:ext cx="3988" cy="115"/>
              </a:xfrm>
              <a:prstGeom prst="roundRect">
                <a:avLst>
                  <a:gd name="adj" fmla="val 50000"/>
                </a:avLst>
              </a:prstGeom>
              <a:gradFill rotWithShape="1">
                <a:gsLst>
                  <a:gs pos="0">
                    <a:schemeClr val="folHlink">
                      <a:gamma/>
                      <a:tint val="0"/>
                      <a:invGamma/>
                    </a:schemeClr>
                  </a:gs>
                  <a:gs pos="100000">
                    <a:schemeClr val="folHlink">
                      <a:alpha val="0"/>
                    </a:scheme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fontAlgn="base">
                  <a:spcBef>
                    <a:spcPct val="0"/>
                  </a:spcBef>
                  <a:spcAft>
                    <a:spcPct val="0"/>
                  </a:spcAft>
                </a:pPr>
                <a:endParaRPr lang="zh-CN" altLang="en-US">
                  <a:solidFill>
                    <a:srgbClr val="000000"/>
                  </a:solidFill>
                  <a:latin typeface="Arial" panose="020B0604020202020204" pitchFamily="34" charset="0"/>
                </a:endParaRPr>
              </a:p>
            </p:txBody>
          </p:sp>
        </p:grpSp>
      </p:grpSp>
      <p:pic>
        <p:nvPicPr>
          <p:cNvPr id="357416" name="Picture 40" descr="1"/>
          <p:cNvPicPr>
            <a:picLocks noChangeAspect="1" noChangeArrowheads="1"/>
          </p:cNvPicPr>
          <p:nvPr/>
        </p:nvPicPr>
        <p:blipFill>
          <a:blip r:embed="rId1">
            <a:lum bright="-6000" contrast="24000"/>
            <a:extLst>
              <a:ext uri="{28A0092B-C50C-407E-A947-70E740481C1C}">
                <a14:useLocalDpi xmlns:a14="http://schemas.microsoft.com/office/drawing/2010/main" val="0"/>
              </a:ext>
            </a:extLst>
          </a:blip>
          <a:srcRect l="42606" t="64474" r="19473"/>
          <a:stretch>
            <a:fillRect/>
          </a:stretch>
        </p:blipFill>
        <p:spPr bwMode="auto">
          <a:xfrm>
            <a:off x="3276601" y="1600201"/>
            <a:ext cx="792163" cy="949325"/>
          </a:xfrm>
          <a:prstGeom prst="rect">
            <a:avLst/>
          </a:prstGeom>
          <a:noFill/>
          <a:extLst>
            <a:ext uri="{909E8E84-426E-40DD-AFC4-6F175D3DCCD1}">
              <a14:hiddenFill xmlns:a14="http://schemas.microsoft.com/office/drawing/2010/main">
                <a:solidFill>
                  <a:srgbClr val="FFFFFF"/>
                </a:solidFill>
              </a14:hiddenFill>
            </a:ext>
          </a:extLst>
        </p:spPr>
      </p:pic>
      <p:sp>
        <p:nvSpPr>
          <p:cNvPr id="357418" name="Text Box 42"/>
          <p:cNvSpPr txBox="1">
            <a:spLocks noChangeArrowheads="1"/>
          </p:cNvSpPr>
          <p:nvPr/>
        </p:nvSpPr>
        <p:spPr bwMode="white">
          <a:xfrm>
            <a:off x="3581400" y="16764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pPr>
            <a:r>
              <a:rPr lang="en-US" altLang="zh-CN" sz="2400" b="1">
                <a:solidFill>
                  <a:srgbClr val="FFFFFF"/>
                </a:solidFill>
                <a:latin typeface="Arial" panose="020B0604020202020204" pitchFamily="34" charset="0"/>
                <a:ea typeface="宋体" panose="02010600030101010101" pitchFamily="2" charset="-122"/>
                <a:cs typeface="Arial" panose="020B0604020202020204" pitchFamily="34" charset="0"/>
              </a:rPr>
              <a:t>1</a:t>
            </a:r>
            <a:endParaRPr lang="en-US" altLang="zh-CN" sz="2400" b="1">
              <a:solidFill>
                <a:srgbClr val="FFFFFF"/>
              </a:solidFill>
              <a:latin typeface="Arial" panose="020B0604020202020204" pitchFamily="34" charset="0"/>
              <a:ea typeface="宋体" panose="02010600030101010101" pitchFamily="2" charset="-122"/>
              <a:cs typeface="Arial" panose="020B0604020202020204" pitchFamily="34" charset="0"/>
            </a:endParaRPr>
          </a:p>
        </p:txBody>
      </p:sp>
      <p:sp>
        <p:nvSpPr>
          <p:cNvPr id="357419" name="Text Box 43"/>
          <p:cNvSpPr txBox="1">
            <a:spLocks noChangeArrowheads="1"/>
          </p:cNvSpPr>
          <p:nvPr/>
        </p:nvSpPr>
        <p:spPr bwMode="white">
          <a:xfrm>
            <a:off x="4114800" y="1676400"/>
            <a:ext cx="449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292929">
                      <a:alpha val="50000"/>
                    </a:srgbClr>
                  </a:outerShdw>
                </a:effectLst>
              </a14:hiddenEffects>
            </a:ext>
          </a:extLst>
        </p:spPr>
        <p:txBody>
          <a:bodyPr>
            <a:spAutoFit/>
          </a:bodyPr>
          <a:lstStyle>
            <a:lvl1pPr marL="457200" indent="-457200" algn="l">
              <a:defRPr>
                <a:solidFill>
                  <a:schemeClr val="tx1"/>
                </a:solidFill>
                <a:latin typeface="Arial" panose="020B0604020202020204" pitchFamily="34" charset="0"/>
              </a:defRPr>
            </a:lvl1pPr>
            <a:lvl2pPr marL="914400" indent="-457200" algn="l">
              <a:defRPr>
                <a:solidFill>
                  <a:schemeClr val="tx1"/>
                </a:solidFill>
                <a:latin typeface="Arial" panose="020B0604020202020204" pitchFamily="34" charset="0"/>
              </a:defRPr>
            </a:lvl2pPr>
            <a:lvl3pPr marL="1371600" indent="-457200" algn="l">
              <a:defRPr>
                <a:solidFill>
                  <a:schemeClr val="tx1"/>
                </a:solidFill>
                <a:latin typeface="Arial" panose="020B0604020202020204" pitchFamily="34" charset="0"/>
              </a:defRPr>
            </a:lvl3pPr>
            <a:lvl4pPr marL="1828800" indent="-457200" algn="l">
              <a:defRPr>
                <a:solidFill>
                  <a:schemeClr val="tx1"/>
                </a:solidFill>
                <a:latin typeface="Arial" panose="020B0604020202020204" pitchFamily="34" charset="0"/>
              </a:defRPr>
            </a:lvl4pPr>
            <a:lvl5pPr marL="2286000" indent="-457200" algn="l">
              <a:defRPr>
                <a:solidFill>
                  <a:schemeClr val="tx1"/>
                </a:solidFill>
                <a:latin typeface="Arial" panose="020B0604020202020204" pitchFamily="34" charset="0"/>
              </a:defRPr>
            </a:lvl5pPr>
            <a:lvl6pPr marL="2743200" indent="-457200" fontAlgn="base">
              <a:spcBef>
                <a:spcPct val="0"/>
              </a:spcBef>
              <a:spcAft>
                <a:spcPct val="0"/>
              </a:spcAft>
              <a:defRPr>
                <a:solidFill>
                  <a:schemeClr val="tx1"/>
                </a:solidFill>
                <a:latin typeface="Arial" panose="020B0604020202020204" pitchFamily="34" charset="0"/>
              </a:defRPr>
            </a:lvl6pPr>
            <a:lvl7pPr marL="3200400" indent="-457200" fontAlgn="base">
              <a:spcBef>
                <a:spcPct val="0"/>
              </a:spcBef>
              <a:spcAft>
                <a:spcPct val="0"/>
              </a:spcAft>
              <a:defRPr>
                <a:solidFill>
                  <a:schemeClr val="tx1"/>
                </a:solidFill>
                <a:latin typeface="Arial" panose="020B0604020202020204" pitchFamily="34" charset="0"/>
              </a:defRPr>
            </a:lvl7pPr>
            <a:lvl8pPr marL="3657600" indent="-457200" fontAlgn="base">
              <a:spcBef>
                <a:spcPct val="0"/>
              </a:spcBef>
              <a:spcAft>
                <a:spcPct val="0"/>
              </a:spcAft>
              <a:defRPr>
                <a:solidFill>
                  <a:schemeClr val="tx1"/>
                </a:solidFill>
                <a:latin typeface="Arial" panose="020B0604020202020204" pitchFamily="34" charset="0"/>
              </a:defRPr>
            </a:lvl8pPr>
            <a:lvl9pPr marL="4114800" indent="-457200" fontAlgn="base">
              <a:spcBef>
                <a:spcPct val="0"/>
              </a:spcBef>
              <a:spcAft>
                <a:spcPct val="0"/>
              </a:spcAft>
              <a:defRPr>
                <a:solidFill>
                  <a:schemeClr val="tx1"/>
                </a:solidFill>
                <a:latin typeface="Arial" panose="020B0604020202020204" pitchFamily="34" charset="0"/>
              </a:defRPr>
            </a:lvl9pPr>
          </a:lstStyle>
          <a:p>
            <a:pPr fontAlgn="base">
              <a:spcBef>
                <a:spcPct val="50000"/>
              </a:spcBef>
              <a:spcAft>
                <a:spcPct val="0"/>
              </a:spcAft>
              <a:buClr>
                <a:srgbClr val="000000"/>
              </a:buClr>
            </a:pPr>
            <a:r>
              <a:rPr lang="en-US" altLang="zh-CN" sz="2400" b="1">
                <a:solidFill>
                  <a:srgbClr val="FFFFFF"/>
                </a:solidFill>
                <a:latin typeface="楷体_GB2312" pitchFamily="49" charset="-122"/>
                <a:ea typeface="楷体_GB2312" pitchFamily="49" charset="-122"/>
                <a:cs typeface="Arial" panose="020B0604020202020204" pitchFamily="34" charset="0"/>
              </a:rPr>
              <a:t>6.4.1  </a:t>
            </a:r>
            <a:r>
              <a:rPr lang="zh-CN" altLang="en-US" sz="2400" b="1">
                <a:solidFill>
                  <a:srgbClr val="FFFFFF"/>
                </a:solidFill>
                <a:latin typeface="楷体_GB2312" pitchFamily="49" charset="-122"/>
                <a:ea typeface="楷体_GB2312" pitchFamily="49" charset="-122"/>
                <a:cs typeface="Arial" panose="020B0604020202020204" pitchFamily="34" charset="0"/>
              </a:rPr>
              <a:t>雪崩击穿</a:t>
            </a:r>
            <a:r>
              <a:rPr lang="zh-CN" altLang="en-US" sz="2400" b="1">
                <a:solidFill>
                  <a:srgbClr val="FFFFFF"/>
                </a:solidFill>
                <a:ea typeface="宋体" panose="02010600030101010101" pitchFamily="2" charset="-122"/>
                <a:cs typeface="Arial" panose="020B0604020202020204" pitchFamily="34" charset="0"/>
              </a:rPr>
              <a:t>    </a:t>
            </a:r>
            <a:endParaRPr lang="zh-CN" altLang="en-US" sz="2400" b="1">
              <a:solidFill>
                <a:srgbClr val="FFFFFF"/>
              </a:solidFill>
              <a:ea typeface="宋体" panose="02010600030101010101" pitchFamily="2" charset="-122"/>
              <a:cs typeface="Arial" panose="020B0604020202020204" pitchFamily="34" charset="0"/>
            </a:endParaRPr>
          </a:p>
        </p:txBody>
      </p:sp>
    </p:spTree>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2"/>
          <p:cNvSpPr>
            <a:spLocks noGrp="1" noChangeArrowheads="1"/>
          </p:cNvSpPr>
          <p:nvPr>
            <p:ph type="title"/>
          </p:nvPr>
        </p:nvSpPr>
        <p:spPr/>
        <p:txBody>
          <a:bodyPr/>
          <a:lstStyle/>
          <a:p>
            <a:r>
              <a:rPr kumimoji="1" lang="en-US" altLang="zh-CN" sz="3600">
                <a:solidFill>
                  <a:schemeClr val="tx1"/>
                </a:solidFill>
                <a:latin typeface="楷体_GB2312" pitchFamily="49" charset="-122"/>
                <a:ea typeface="楷体_GB2312" pitchFamily="49" charset="-122"/>
              </a:rPr>
              <a:t>6.4  p-n</a:t>
            </a:r>
            <a:r>
              <a:rPr kumimoji="1" lang="zh-CN" altLang="en-US" sz="3600">
                <a:solidFill>
                  <a:schemeClr val="tx1"/>
                </a:solidFill>
                <a:latin typeface="楷体_GB2312" pitchFamily="49" charset="-122"/>
                <a:ea typeface="楷体_GB2312" pitchFamily="49" charset="-122"/>
              </a:rPr>
              <a:t>结击穿特性</a:t>
            </a:r>
            <a:endParaRPr kumimoji="1" lang="zh-CN" altLang="en-US" sz="3600">
              <a:solidFill>
                <a:schemeClr val="tx1"/>
              </a:solidFill>
              <a:latin typeface="楷体_GB2312" pitchFamily="49" charset="-122"/>
              <a:ea typeface="楷体_GB2312" pitchFamily="49" charset="-122"/>
            </a:endParaRPr>
          </a:p>
        </p:txBody>
      </p:sp>
      <p:sp>
        <p:nvSpPr>
          <p:cNvPr id="340995" name="Rectangle 3"/>
          <p:cNvSpPr>
            <a:spLocks noGrp="1" noChangeArrowheads="1"/>
          </p:cNvSpPr>
          <p:nvPr>
            <p:ph type="body" idx="1"/>
          </p:nvPr>
        </p:nvSpPr>
        <p:spPr/>
        <p:txBody>
          <a:bodyPr/>
          <a:lstStyle/>
          <a:p>
            <a:r>
              <a:rPr kumimoji="1" lang="zh-CN" altLang="en-US" b="0">
                <a:latin typeface="楷体_GB2312" pitchFamily="49" charset="-122"/>
                <a:ea typeface="楷体_GB2312" pitchFamily="49" charset="-122"/>
              </a:rPr>
              <a:t>对</a:t>
            </a:r>
            <a:r>
              <a:rPr kumimoji="1" lang="en-US" altLang="zh-CN" b="0">
                <a:latin typeface="楷体_GB2312" pitchFamily="49" charset="-122"/>
                <a:ea typeface="楷体_GB2312" pitchFamily="49" charset="-122"/>
              </a:rPr>
              <a:t>pn</a:t>
            </a:r>
            <a:r>
              <a:rPr kumimoji="1" lang="zh-CN" altLang="en-US" b="0">
                <a:latin typeface="楷体_GB2312" pitchFamily="49" charset="-122"/>
                <a:ea typeface="楷体_GB2312" pitchFamily="49" charset="-122"/>
              </a:rPr>
              <a:t>结施加的反向偏压增大到某一数值</a:t>
            </a:r>
            <a:r>
              <a:rPr kumimoji="1" lang="en-US" altLang="zh-CN" b="0" i="1">
                <a:latin typeface="楷体_GB2312" pitchFamily="49" charset="-122"/>
                <a:ea typeface="楷体_GB2312" pitchFamily="49" charset="-122"/>
              </a:rPr>
              <a:t>V</a:t>
            </a:r>
            <a:r>
              <a:rPr kumimoji="1" lang="en-US" altLang="zh-CN" b="0" i="1" baseline="-25000">
                <a:latin typeface="楷体_GB2312" pitchFamily="49" charset="-122"/>
                <a:ea typeface="楷体_GB2312" pitchFamily="49" charset="-122"/>
              </a:rPr>
              <a:t>BR</a:t>
            </a:r>
            <a:r>
              <a:rPr kumimoji="1" lang="zh-CN" altLang="en-US" b="0">
                <a:latin typeface="楷体_GB2312" pitchFamily="49" charset="-122"/>
                <a:ea typeface="楷体_GB2312" pitchFamily="49" charset="-122"/>
              </a:rPr>
              <a:t>时，反向电流密度突然开始迅速增大的现象称为</a:t>
            </a:r>
            <a:r>
              <a:rPr kumimoji="1" lang="en-US" altLang="zh-CN" b="0">
                <a:solidFill>
                  <a:srgbClr val="D43636"/>
                </a:solidFill>
                <a:latin typeface="楷体_GB2312" pitchFamily="49" charset="-122"/>
                <a:ea typeface="楷体_GB2312" pitchFamily="49" charset="-122"/>
              </a:rPr>
              <a:t>p-n</a:t>
            </a:r>
            <a:r>
              <a:rPr kumimoji="1" lang="zh-CN" altLang="en-US" b="0">
                <a:solidFill>
                  <a:srgbClr val="D43636"/>
                </a:solidFill>
                <a:latin typeface="楷体_GB2312" pitchFamily="49" charset="-122"/>
                <a:ea typeface="楷体_GB2312" pitchFamily="49" charset="-122"/>
              </a:rPr>
              <a:t>结的击穿</a:t>
            </a:r>
            <a:r>
              <a:rPr kumimoji="1" lang="zh-CN" altLang="en-US" b="0">
                <a:latin typeface="楷体_GB2312" pitchFamily="49" charset="-122"/>
                <a:ea typeface="楷体_GB2312" pitchFamily="49" charset="-122"/>
              </a:rPr>
              <a:t>，发生击穿时的反向偏压称为</a:t>
            </a:r>
            <a:r>
              <a:rPr kumimoji="1" lang="zh-CN" altLang="en-US" b="0">
                <a:solidFill>
                  <a:srgbClr val="D43636"/>
                </a:solidFill>
                <a:latin typeface="楷体_GB2312" pitchFamily="49" charset="-122"/>
                <a:ea typeface="楷体_GB2312" pitchFamily="49" charset="-122"/>
              </a:rPr>
              <a:t>击穿电压</a:t>
            </a:r>
            <a:r>
              <a:rPr kumimoji="1" lang="zh-CN" altLang="en-US" b="0">
                <a:latin typeface="楷体_GB2312" pitchFamily="49" charset="-122"/>
                <a:ea typeface="楷体_GB2312" pitchFamily="49" charset="-122"/>
              </a:rPr>
              <a:t>，用</a:t>
            </a:r>
            <a:r>
              <a:rPr kumimoji="1" lang="en-US" altLang="zh-CN" b="0" i="1">
                <a:latin typeface="楷体_GB2312" pitchFamily="49" charset="-122"/>
                <a:ea typeface="楷体_GB2312" pitchFamily="49" charset="-122"/>
              </a:rPr>
              <a:t>V</a:t>
            </a:r>
            <a:r>
              <a:rPr kumimoji="1" lang="en-US" altLang="zh-CN" b="0" i="1" baseline="-25000">
                <a:latin typeface="楷体_GB2312" pitchFamily="49" charset="-122"/>
                <a:ea typeface="楷体_GB2312" pitchFamily="49" charset="-122"/>
              </a:rPr>
              <a:t>BR</a:t>
            </a:r>
            <a:r>
              <a:rPr kumimoji="1" lang="zh-CN" altLang="en-US" b="0">
                <a:latin typeface="楷体_GB2312" pitchFamily="49" charset="-122"/>
                <a:ea typeface="楷体_GB2312" pitchFamily="49" charset="-122"/>
              </a:rPr>
              <a:t>表示。</a:t>
            </a:r>
            <a:endParaRPr kumimoji="1" lang="zh-CN" altLang="en-US" b="0">
              <a:latin typeface="楷体_GB2312" pitchFamily="49" charset="-122"/>
              <a:ea typeface="楷体_GB2312" pitchFamily="49" charset="-122"/>
            </a:endParaRPr>
          </a:p>
          <a:p>
            <a:r>
              <a:rPr kumimoji="1" lang="zh-CN" altLang="en-US" b="0">
                <a:latin typeface="楷体_GB2312" pitchFamily="49" charset="-122"/>
                <a:ea typeface="楷体_GB2312" pitchFamily="49" charset="-122"/>
              </a:rPr>
              <a:t>击穿现象中，电流增大主要是由于</a:t>
            </a:r>
            <a:r>
              <a:rPr kumimoji="1" lang="zh-CN" altLang="en-US" b="0">
                <a:solidFill>
                  <a:srgbClr val="D43636"/>
                </a:solidFill>
                <a:latin typeface="楷体_GB2312" pitchFamily="49" charset="-122"/>
                <a:ea typeface="楷体_GB2312" pitchFamily="49" charset="-122"/>
              </a:rPr>
              <a:t>载流子数目</a:t>
            </a:r>
            <a:r>
              <a:rPr kumimoji="1" lang="zh-CN" altLang="en-US" b="0">
                <a:latin typeface="楷体_GB2312" pitchFamily="49" charset="-122"/>
                <a:ea typeface="楷体_GB2312" pitchFamily="49" charset="-122"/>
              </a:rPr>
              <a:t>的增加，而不是迁移率的增大。</a:t>
            </a:r>
            <a:endParaRPr kumimoji="1" lang="zh-CN" altLang="en-US" b="0">
              <a:latin typeface="楷体_GB2312" pitchFamily="49" charset="-122"/>
              <a:ea typeface="楷体_GB2312" pitchFamily="49" charset="-122"/>
            </a:endParaRPr>
          </a:p>
        </p:txBody>
      </p:sp>
      <p:pic>
        <p:nvPicPr>
          <p:cNvPr id="340997" name="Picture 5" descr="QQ截图未命名"/>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191001" y="3886200"/>
            <a:ext cx="3267075" cy="1905000"/>
          </a:xfrm>
          <a:prstGeom prst="rect">
            <a:avLst/>
          </a:prstGeom>
          <a:noFill/>
          <a:extLst>
            <a:ext uri="{909E8E84-426E-40DD-AFC4-6F175D3DCCD1}">
              <a14:hiddenFill xmlns:a14="http://schemas.microsoft.com/office/drawing/2010/main">
                <a:solidFill>
                  <a:srgbClr val="FFFFFF"/>
                </a:solidFill>
              </a14:hiddenFill>
            </a:ext>
          </a:extLst>
        </p:spPr>
      </p:pic>
      <p:sp>
        <p:nvSpPr>
          <p:cNvPr id="340998" name="Text Box 6"/>
          <p:cNvSpPr txBox="1">
            <a:spLocks noChangeArrowheads="1"/>
          </p:cNvSpPr>
          <p:nvPr/>
        </p:nvSpPr>
        <p:spPr bwMode="auto">
          <a:xfrm>
            <a:off x="4114800" y="4419601"/>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fontAlgn="base">
              <a:spcBef>
                <a:spcPct val="50000"/>
              </a:spcBef>
              <a:spcAft>
                <a:spcPct val="0"/>
              </a:spcAft>
            </a:pPr>
            <a:r>
              <a:rPr lang="en-US" altLang="zh-CN" sz="2000" b="1">
                <a:solidFill>
                  <a:srgbClr val="000000"/>
                </a:solidFill>
                <a:latin typeface="Arial" panose="020B0604020202020204" pitchFamily="34" charset="0"/>
                <a:ea typeface="宋体" panose="02010600030101010101" pitchFamily="2" charset="-122"/>
              </a:rPr>
              <a:t>V</a:t>
            </a:r>
            <a:r>
              <a:rPr lang="en-US" altLang="zh-CN" sz="2000" b="1" baseline="-25000">
                <a:solidFill>
                  <a:srgbClr val="000000"/>
                </a:solidFill>
                <a:latin typeface="Arial" panose="020B0604020202020204" pitchFamily="34" charset="0"/>
                <a:ea typeface="宋体" panose="02010600030101010101" pitchFamily="2" charset="-122"/>
              </a:rPr>
              <a:t>BR</a:t>
            </a:r>
            <a:endParaRPr lang="en-US" altLang="zh-CN" sz="2000" b="1" baseline="-25000">
              <a:solidFill>
                <a:srgbClr val="000000"/>
              </a:solidFill>
              <a:latin typeface="Arial" panose="020B0604020202020204" pitchFamily="34" charset="0"/>
              <a:ea typeface="宋体" panose="02010600030101010101" pitchFamily="2" charset="-122"/>
            </a:endParaRPr>
          </a:p>
        </p:txBody>
      </p:sp>
    </p:spTree>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1474" name="Rectangle 2"/>
          <p:cNvSpPr>
            <a:spLocks noGrp="1" noChangeArrowheads="1"/>
          </p:cNvSpPr>
          <p:nvPr>
            <p:ph type="title"/>
          </p:nvPr>
        </p:nvSpPr>
        <p:spPr/>
        <p:txBody>
          <a:bodyPr/>
          <a:lstStyle/>
          <a:p>
            <a:r>
              <a:rPr lang="zh-CN" altLang="en-US" sz="3600">
                <a:latin typeface="楷体_GB2312" pitchFamily="49" charset="-122"/>
                <a:ea typeface="楷体_GB2312" pitchFamily="49" charset="-122"/>
              </a:rPr>
              <a:t>雪崩击穿</a:t>
            </a:r>
            <a:endParaRPr lang="zh-CN" altLang="en-US" sz="3600">
              <a:latin typeface="楷体_GB2312" pitchFamily="49" charset="-122"/>
              <a:ea typeface="楷体_GB2312" pitchFamily="49" charset="-122"/>
            </a:endParaRPr>
          </a:p>
        </p:txBody>
      </p:sp>
      <p:pic>
        <p:nvPicPr>
          <p:cNvPr id="361476" name="Picture 4" descr="QQ截图未命名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581400" y="1219201"/>
            <a:ext cx="5029200" cy="1984375"/>
          </a:xfrm>
          <a:prstGeom prst="rect">
            <a:avLst/>
          </a:prstGeom>
          <a:noFill/>
          <a:extLst>
            <a:ext uri="{909E8E84-426E-40DD-AFC4-6F175D3DCCD1}">
              <a14:hiddenFill xmlns:a14="http://schemas.microsoft.com/office/drawing/2010/main">
                <a:solidFill>
                  <a:srgbClr val="FFFFFF"/>
                </a:solidFill>
              </a14:hiddenFill>
            </a:ext>
          </a:extLst>
        </p:spPr>
      </p:pic>
      <p:sp>
        <p:nvSpPr>
          <p:cNvPr id="361477" name="Text Box 5"/>
          <p:cNvSpPr txBox="1">
            <a:spLocks noChangeArrowheads="1"/>
          </p:cNvSpPr>
          <p:nvPr/>
        </p:nvSpPr>
        <p:spPr bwMode="auto">
          <a:xfrm>
            <a:off x="2514600" y="3200401"/>
            <a:ext cx="6934200" cy="2563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lang="zh-CN" altLang="en-US">
                <a:solidFill>
                  <a:srgbClr val="000000"/>
                </a:solidFill>
                <a:latin typeface="楷体_GB2312" pitchFamily="49" charset="-122"/>
                <a:ea typeface="楷体_GB2312" pitchFamily="49" charset="-122"/>
              </a:rPr>
              <a:t>当反向偏压很大时，势垒区中的电场很强，在势垒区内的电子和空穴由于受到强电场的漂移作用，具有很大的动能，与势垒区内的晶格原子碰撞，能把价键上的电子碰撞出来，成为导电电子，同时产生一个空穴。</a:t>
            </a:r>
            <a:r>
              <a:rPr lang="zh-CN" altLang="en-US">
                <a:solidFill>
                  <a:srgbClr val="D43636"/>
                </a:solidFill>
                <a:latin typeface="楷体_GB2312" pitchFamily="49" charset="-122"/>
                <a:ea typeface="楷体_GB2312" pitchFamily="49" charset="-122"/>
              </a:rPr>
              <a:t>从能量观点看来，</a:t>
            </a:r>
            <a:r>
              <a:rPr lang="zh-CN" altLang="en-US">
                <a:solidFill>
                  <a:srgbClr val="000000"/>
                </a:solidFill>
                <a:latin typeface="楷体_GB2312" pitchFamily="49" charset="-122"/>
                <a:ea typeface="楷体_GB2312" pitchFamily="49" charset="-122"/>
              </a:rPr>
              <a:t>就是高能量的电子和空穴把满带中的电子激发到导带，产生电子</a:t>
            </a:r>
            <a:r>
              <a:rPr lang="en-US" altLang="zh-CN">
                <a:solidFill>
                  <a:srgbClr val="000000"/>
                </a:solidFill>
                <a:latin typeface="楷体_GB2312" pitchFamily="49" charset="-122"/>
                <a:ea typeface="楷体_GB2312" pitchFamily="49" charset="-122"/>
              </a:rPr>
              <a:t>-</a:t>
            </a:r>
            <a:r>
              <a:rPr lang="zh-CN" altLang="en-US">
                <a:solidFill>
                  <a:srgbClr val="000000"/>
                </a:solidFill>
                <a:latin typeface="楷体_GB2312" pitchFamily="49" charset="-122"/>
                <a:ea typeface="楷体_GB2312" pitchFamily="49" charset="-122"/>
              </a:rPr>
              <a:t>空穴对。图中电子</a:t>
            </a:r>
            <a:r>
              <a:rPr lang="en-US" altLang="zh-CN">
                <a:solidFill>
                  <a:srgbClr val="000000"/>
                </a:solidFill>
                <a:latin typeface="楷体_GB2312" pitchFamily="49" charset="-122"/>
                <a:ea typeface="楷体_GB2312" pitchFamily="49" charset="-122"/>
              </a:rPr>
              <a:t>1</a:t>
            </a:r>
            <a:r>
              <a:rPr lang="zh-CN" altLang="en-US">
                <a:solidFill>
                  <a:srgbClr val="000000"/>
                </a:solidFill>
                <a:latin typeface="楷体_GB2312" pitchFamily="49" charset="-122"/>
                <a:ea typeface="楷体_GB2312" pitchFamily="49" charset="-122"/>
              </a:rPr>
              <a:t>碰出电子</a:t>
            </a:r>
            <a:r>
              <a:rPr lang="en-US" altLang="zh-CN">
                <a:solidFill>
                  <a:srgbClr val="000000"/>
                </a:solidFill>
                <a:latin typeface="楷体_GB2312" pitchFamily="49" charset="-122"/>
                <a:ea typeface="楷体_GB2312" pitchFamily="49" charset="-122"/>
              </a:rPr>
              <a:t>2</a:t>
            </a:r>
            <a:r>
              <a:rPr lang="zh-CN" altLang="en-US">
                <a:solidFill>
                  <a:srgbClr val="000000"/>
                </a:solidFill>
                <a:latin typeface="楷体_GB2312" pitchFamily="49" charset="-122"/>
                <a:ea typeface="楷体_GB2312" pitchFamily="49" charset="-122"/>
              </a:rPr>
              <a:t>和空穴</a:t>
            </a:r>
            <a:r>
              <a:rPr lang="en-US" altLang="zh-CN">
                <a:solidFill>
                  <a:srgbClr val="000000"/>
                </a:solidFill>
                <a:latin typeface="楷体_GB2312" pitchFamily="49" charset="-122"/>
                <a:ea typeface="楷体_GB2312" pitchFamily="49" charset="-122"/>
              </a:rPr>
              <a:t>2.</a:t>
            </a:r>
            <a:r>
              <a:rPr lang="zh-CN" altLang="en-US">
                <a:solidFill>
                  <a:srgbClr val="000000"/>
                </a:solidFill>
                <a:latin typeface="楷体_GB2312" pitchFamily="49" charset="-122"/>
                <a:ea typeface="楷体_GB2312" pitchFamily="49" charset="-122"/>
              </a:rPr>
              <a:t>一个载流子变成了三个，如此继续下去，载流子就大量增加，这种繁殖载流子的方式称为</a:t>
            </a:r>
            <a:r>
              <a:rPr lang="zh-CN" altLang="en-US">
                <a:solidFill>
                  <a:srgbClr val="D43636"/>
                </a:solidFill>
                <a:latin typeface="楷体_GB2312" pitchFamily="49" charset="-122"/>
                <a:ea typeface="楷体_GB2312" pitchFamily="49" charset="-122"/>
              </a:rPr>
              <a:t>载流子的倍增效应。</a:t>
            </a:r>
            <a:r>
              <a:rPr lang="zh-CN" altLang="en-US">
                <a:solidFill>
                  <a:srgbClr val="000000"/>
                </a:solidFill>
                <a:latin typeface="楷体_GB2312" pitchFamily="49" charset="-122"/>
                <a:ea typeface="楷体_GB2312" pitchFamily="49" charset="-122"/>
              </a:rPr>
              <a:t>由于倍增效应，使势垒区单位时间产生了大量的载流子，迅速增大了反向电流，从而发生</a:t>
            </a:r>
            <a:r>
              <a:rPr lang="en-US" altLang="zh-CN">
                <a:solidFill>
                  <a:srgbClr val="000000"/>
                </a:solidFill>
                <a:latin typeface="楷体_GB2312" pitchFamily="49" charset="-122"/>
                <a:ea typeface="楷体_GB2312" pitchFamily="49" charset="-122"/>
              </a:rPr>
              <a:t>pn</a:t>
            </a:r>
            <a:r>
              <a:rPr lang="zh-CN" altLang="en-US">
                <a:solidFill>
                  <a:srgbClr val="000000"/>
                </a:solidFill>
                <a:latin typeface="楷体_GB2312" pitchFamily="49" charset="-122"/>
                <a:ea typeface="楷体_GB2312" pitchFamily="49" charset="-122"/>
              </a:rPr>
              <a:t>结击穿，这是</a:t>
            </a:r>
            <a:r>
              <a:rPr lang="zh-CN" altLang="en-US">
                <a:solidFill>
                  <a:srgbClr val="D43636"/>
                </a:solidFill>
                <a:latin typeface="楷体_GB2312" pitchFamily="49" charset="-122"/>
                <a:ea typeface="楷体_GB2312" pitchFamily="49" charset="-122"/>
              </a:rPr>
              <a:t>雪崩击穿的原理</a:t>
            </a:r>
            <a:r>
              <a:rPr lang="zh-CN" altLang="en-US">
                <a:solidFill>
                  <a:srgbClr val="000000"/>
                </a:solidFill>
                <a:latin typeface="楷体_GB2312" pitchFamily="49" charset="-122"/>
                <a:ea typeface="楷体_GB2312" pitchFamily="49" charset="-122"/>
              </a:rPr>
              <a:t>。</a:t>
            </a:r>
            <a:endParaRPr lang="zh-CN" altLang="en-US">
              <a:solidFill>
                <a:srgbClr val="000000"/>
              </a:solidFill>
              <a:latin typeface="楷体_GB2312" pitchFamily="49" charset="-122"/>
              <a:ea typeface="楷体_GB2312" pitchFamily="49" charset="-122"/>
            </a:endParaRPr>
          </a:p>
        </p:txBody>
      </p:sp>
    </p:spTree>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0450" name="Rectangle 2"/>
          <p:cNvSpPr>
            <a:spLocks noGrp="1" noChangeArrowheads="1"/>
          </p:cNvSpPr>
          <p:nvPr>
            <p:ph type="title"/>
          </p:nvPr>
        </p:nvSpPr>
        <p:spPr/>
        <p:txBody>
          <a:bodyPr/>
          <a:lstStyle/>
          <a:p>
            <a:r>
              <a:rPr lang="zh-CN" altLang="en-US" sz="3600">
                <a:ea typeface="楷体_GB2312" pitchFamily="49" charset="-122"/>
              </a:rPr>
              <a:t>隧道击穿（齐纳击穿）</a:t>
            </a:r>
            <a:endParaRPr lang="zh-CN" altLang="en-US" sz="3600">
              <a:ea typeface="楷体_GB2312" pitchFamily="49" charset="-122"/>
            </a:endParaRPr>
          </a:p>
        </p:txBody>
      </p:sp>
      <p:sp>
        <p:nvSpPr>
          <p:cNvPr id="360451" name="Rectangle 3"/>
          <p:cNvSpPr>
            <a:spLocks noGrp="1" noChangeArrowheads="1"/>
          </p:cNvSpPr>
          <p:nvPr>
            <p:ph type="body" idx="1"/>
          </p:nvPr>
        </p:nvSpPr>
        <p:spPr/>
        <p:txBody>
          <a:bodyPr/>
          <a:lstStyle/>
          <a:p>
            <a:r>
              <a:rPr lang="zh-CN" altLang="en-US" sz="2400" b="0" dirty="0">
                <a:latin typeface="楷体_GB2312" pitchFamily="49" charset="-122"/>
                <a:ea typeface="楷体_GB2312" pitchFamily="49" charset="-122"/>
              </a:rPr>
              <a:t>隧道击穿是在强场的作用下，由于隧道效应，使大量电子</a:t>
            </a:r>
            <a:r>
              <a:rPr lang="zh-CN" altLang="en-US" sz="2400" b="0" dirty="0">
                <a:solidFill>
                  <a:srgbClr val="D43636"/>
                </a:solidFill>
                <a:latin typeface="楷体_GB2312" pitchFamily="49" charset="-122"/>
                <a:ea typeface="楷体_GB2312" pitchFamily="49" charset="-122"/>
              </a:rPr>
              <a:t>从价带穿过禁带而进入到导带</a:t>
            </a:r>
            <a:r>
              <a:rPr lang="zh-CN" altLang="en-US" sz="2400" b="0" dirty="0">
                <a:latin typeface="楷体_GB2312" pitchFamily="49" charset="-122"/>
                <a:ea typeface="楷体_GB2312" pitchFamily="49" charset="-122"/>
              </a:rPr>
              <a:t>所引起的一种击穿现象。当</a:t>
            </a:r>
            <a:r>
              <a:rPr lang="en-US" altLang="zh-CN" sz="2400" b="0" dirty="0" err="1">
                <a:latin typeface="楷体_GB2312" pitchFamily="49" charset="-122"/>
                <a:ea typeface="楷体_GB2312" pitchFamily="49" charset="-122"/>
              </a:rPr>
              <a:t>pn</a:t>
            </a:r>
            <a:r>
              <a:rPr lang="zh-CN" altLang="en-US" sz="2400" b="0" dirty="0">
                <a:latin typeface="楷体_GB2312" pitchFamily="49" charset="-122"/>
                <a:ea typeface="楷体_GB2312" pitchFamily="49" charset="-122"/>
              </a:rPr>
              <a:t>结的反向偏压</a:t>
            </a:r>
            <a:r>
              <a:rPr lang="zh-CN" altLang="en-US" sz="2400" b="0" dirty="0">
                <a:solidFill>
                  <a:srgbClr val="D43636"/>
                </a:solidFill>
                <a:latin typeface="楷体_GB2312" pitchFamily="49" charset="-122"/>
                <a:ea typeface="楷体_GB2312" pitchFamily="49" charset="-122"/>
              </a:rPr>
              <a:t>越大</a:t>
            </a:r>
            <a:r>
              <a:rPr lang="zh-CN" altLang="en-US" sz="2400" b="0" dirty="0">
                <a:latin typeface="楷体_GB2312" pitchFamily="49" charset="-122"/>
                <a:ea typeface="楷体_GB2312" pitchFamily="49" charset="-122"/>
              </a:rPr>
              <a:t>，势垒</a:t>
            </a:r>
            <a:r>
              <a:rPr lang="zh-CN" altLang="en-US" sz="2400" b="0" dirty="0">
                <a:solidFill>
                  <a:srgbClr val="D43636"/>
                </a:solidFill>
                <a:latin typeface="楷体_GB2312" pitchFamily="49" charset="-122"/>
                <a:ea typeface="楷体_GB2312" pitchFamily="49" charset="-122"/>
              </a:rPr>
              <a:t>越高</a:t>
            </a:r>
            <a:r>
              <a:rPr lang="zh-CN" altLang="en-US" sz="2400" b="0" dirty="0">
                <a:latin typeface="楷体_GB2312" pitchFamily="49" charset="-122"/>
                <a:ea typeface="楷体_GB2312" pitchFamily="49" charset="-122"/>
              </a:rPr>
              <a:t>，内建电场也</a:t>
            </a:r>
            <a:r>
              <a:rPr lang="zh-CN" altLang="en-US" sz="2400" b="0" dirty="0">
                <a:solidFill>
                  <a:srgbClr val="D43636"/>
                </a:solidFill>
                <a:latin typeface="楷体_GB2312" pitchFamily="49" charset="-122"/>
                <a:ea typeface="楷体_GB2312" pitchFamily="49" charset="-122"/>
              </a:rPr>
              <a:t>越强</a:t>
            </a:r>
            <a:r>
              <a:rPr lang="zh-CN" altLang="en-US" sz="2400" b="0" dirty="0">
                <a:latin typeface="楷体_GB2312" pitchFamily="49" charset="-122"/>
                <a:ea typeface="楷体_GB2312" pitchFamily="49" charset="-122"/>
              </a:rPr>
              <a:t>，势垒区的能带也越加</a:t>
            </a:r>
            <a:r>
              <a:rPr lang="zh-CN" altLang="en-US" sz="2400" b="0" dirty="0">
                <a:solidFill>
                  <a:srgbClr val="D43636"/>
                </a:solidFill>
                <a:latin typeface="楷体_GB2312" pitchFamily="49" charset="-122"/>
                <a:ea typeface="楷体_GB2312" pitchFamily="49" charset="-122"/>
              </a:rPr>
              <a:t>倾斜</a:t>
            </a:r>
            <a:r>
              <a:rPr lang="zh-CN" altLang="en-US" sz="2400" b="0" dirty="0">
                <a:latin typeface="楷体_GB2312" pitchFamily="49" charset="-122"/>
                <a:ea typeface="楷体_GB2312" pitchFamily="49" charset="-122"/>
              </a:rPr>
              <a:t>。内建电场   大到某值后，使</a:t>
            </a:r>
            <a:r>
              <a:rPr lang="en-US" altLang="zh-CN" sz="2400" b="0" dirty="0">
                <a:latin typeface="楷体_GB2312" pitchFamily="49" charset="-122"/>
                <a:ea typeface="楷体_GB2312" pitchFamily="49" charset="-122"/>
              </a:rPr>
              <a:t>p</a:t>
            </a:r>
            <a:r>
              <a:rPr lang="zh-CN" altLang="en-US" sz="2400" b="0" dirty="0">
                <a:latin typeface="楷体_GB2312" pitchFamily="49" charset="-122"/>
                <a:ea typeface="楷体_GB2312" pitchFamily="49" charset="-122"/>
              </a:rPr>
              <a:t>区得价带电子得到附加势能       可以大过禁带宽度   ，则</a:t>
            </a:r>
            <a:r>
              <a:rPr lang="en-US" altLang="zh-CN" sz="2400" b="0" dirty="0">
                <a:latin typeface="楷体_GB2312" pitchFamily="49" charset="-122"/>
                <a:ea typeface="楷体_GB2312" pitchFamily="49" charset="-122"/>
              </a:rPr>
              <a:t>p</a:t>
            </a:r>
            <a:r>
              <a:rPr lang="zh-CN" altLang="en-US" sz="2400" b="0" dirty="0">
                <a:latin typeface="楷体_GB2312" pitchFamily="49" charset="-122"/>
                <a:ea typeface="楷体_GB2312" pitchFamily="49" charset="-122"/>
              </a:rPr>
              <a:t>区价带中的</a:t>
            </a:r>
            <a:r>
              <a:rPr lang="en-US" altLang="zh-CN" sz="2400" b="0" dirty="0">
                <a:latin typeface="楷体_GB2312" pitchFamily="49" charset="-122"/>
                <a:ea typeface="楷体_GB2312" pitchFamily="49" charset="-122"/>
              </a:rPr>
              <a:t>A</a:t>
            </a:r>
            <a:r>
              <a:rPr lang="zh-CN" altLang="en-US" sz="2400" b="0" dirty="0">
                <a:latin typeface="楷体_GB2312" pitchFamily="49" charset="-122"/>
                <a:ea typeface="楷体_GB2312" pitchFamily="49" charset="-122"/>
              </a:rPr>
              <a:t>点和</a:t>
            </a:r>
            <a:r>
              <a:rPr lang="en-US" altLang="zh-CN" sz="2400" b="0" dirty="0">
                <a:latin typeface="楷体_GB2312" pitchFamily="49" charset="-122"/>
                <a:ea typeface="楷体_GB2312" pitchFamily="49" charset="-122"/>
              </a:rPr>
              <a:t>n</a:t>
            </a:r>
            <a:r>
              <a:rPr lang="zh-CN" altLang="en-US" sz="2400" b="0" dirty="0">
                <a:latin typeface="楷体_GB2312" pitchFamily="49" charset="-122"/>
                <a:ea typeface="楷体_GB2312" pitchFamily="49" charset="-122"/>
              </a:rPr>
              <a:t>区导带的</a:t>
            </a:r>
            <a:r>
              <a:rPr lang="en-US" altLang="zh-CN" sz="2400" b="0" dirty="0">
                <a:latin typeface="楷体_GB2312" pitchFamily="49" charset="-122"/>
                <a:ea typeface="楷体_GB2312" pitchFamily="49" charset="-122"/>
              </a:rPr>
              <a:t>B</a:t>
            </a:r>
            <a:r>
              <a:rPr lang="zh-CN" altLang="en-US" sz="2400" b="0" dirty="0">
                <a:latin typeface="楷体_GB2312" pitchFamily="49" charset="-122"/>
                <a:ea typeface="楷体_GB2312" pitchFamily="49" charset="-122"/>
              </a:rPr>
              <a:t>有相同能量，则</a:t>
            </a:r>
            <a:r>
              <a:rPr lang="en-US" altLang="zh-CN" sz="2400" b="0" dirty="0">
                <a:latin typeface="楷体_GB2312" pitchFamily="49" charset="-122"/>
                <a:ea typeface="楷体_GB2312" pitchFamily="49" charset="-122"/>
              </a:rPr>
              <a:t>A</a:t>
            </a:r>
            <a:r>
              <a:rPr lang="zh-CN" altLang="en-US" sz="2400" b="0" dirty="0">
                <a:latin typeface="楷体_GB2312" pitchFamily="49" charset="-122"/>
                <a:ea typeface="楷体_GB2312" pitchFamily="49" charset="-122"/>
              </a:rPr>
              <a:t>的电子可以过渡到</a:t>
            </a:r>
            <a:r>
              <a:rPr lang="en-US" altLang="zh-CN" sz="2400" b="0" dirty="0">
                <a:latin typeface="楷体_GB2312" pitchFamily="49" charset="-122"/>
                <a:ea typeface="楷体_GB2312" pitchFamily="49" charset="-122"/>
              </a:rPr>
              <a:t>B</a:t>
            </a:r>
            <a:r>
              <a:rPr lang="zh-CN" altLang="en-US" sz="2400" b="0" dirty="0">
                <a:latin typeface="楷体_GB2312" pitchFamily="49" charset="-122"/>
                <a:ea typeface="楷体_GB2312" pitchFamily="49" charset="-122"/>
              </a:rPr>
              <a:t>区。当电场   大到一定程度，或    短到一定程度时，将使</a:t>
            </a:r>
            <a:r>
              <a:rPr lang="en-US" altLang="zh-CN" sz="2400" b="0" dirty="0">
                <a:latin typeface="楷体_GB2312" pitchFamily="49" charset="-122"/>
                <a:ea typeface="楷体_GB2312" pitchFamily="49" charset="-122"/>
              </a:rPr>
              <a:t>p</a:t>
            </a:r>
            <a:r>
              <a:rPr lang="zh-CN" altLang="en-US" sz="2400" b="0" dirty="0">
                <a:latin typeface="楷体_GB2312" pitchFamily="49" charset="-122"/>
                <a:ea typeface="楷体_GB2312" pitchFamily="49" charset="-122"/>
              </a:rPr>
              <a:t>区价带中大量的电子隧道穿过势垒到达</a:t>
            </a:r>
            <a:r>
              <a:rPr lang="en-US" altLang="zh-CN" sz="2400" b="0" dirty="0">
                <a:latin typeface="楷体_GB2312" pitchFamily="49" charset="-122"/>
                <a:ea typeface="楷体_GB2312" pitchFamily="49" charset="-122"/>
              </a:rPr>
              <a:t>n</a:t>
            </a:r>
            <a:r>
              <a:rPr lang="zh-CN" altLang="en-US" sz="2400" b="0" dirty="0">
                <a:latin typeface="楷体_GB2312" pitchFamily="49" charset="-122"/>
                <a:ea typeface="楷体_GB2312" pitchFamily="49" charset="-122"/>
              </a:rPr>
              <a:t>区导带中去，使反向电流急剧增大，于是</a:t>
            </a:r>
            <a:r>
              <a:rPr lang="en-US" altLang="zh-CN" sz="2400" b="0" dirty="0" err="1">
                <a:latin typeface="楷体_GB2312" pitchFamily="49" charset="-122"/>
                <a:ea typeface="楷体_GB2312" pitchFamily="49" charset="-122"/>
              </a:rPr>
              <a:t>pn</a:t>
            </a:r>
            <a:r>
              <a:rPr lang="zh-CN" altLang="en-US" sz="2400" b="0" dirty="0">
                <a:latin typeface="楷体_GB2312" pitchFamily="49" charset="-122"/>
                <a:ea typeface="楷体_GB2312" pitchFamily="49" charset="-122"/>
              </a:rPr>
              <a:t>结就发生隧道击穿。</a:t>
            </a:r>
            <a:endParaRPr lang="zh-CN" altLang="en-US" sz="2400" b="0" dirty="0">
              <a:latin typeface="楷体_GB2312" pitchFamily="49" charset="-122"/>
              <a:ea typeface="楷体_GB2312" pitchFamily="49" charset="-122"/>
            </a:endParaRPr>
          </a:p>
        </p:txBody>
      </p:sp>
      <p:pic>
        <p:nvPicPr>
          <p:cNvPr id="360452" name="Picture 4" descr="QQ截图未命名3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886200" y="4495800"/>
            <a:ext cx="3467100" cy="207645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60455" name="Object 7"/>
          <p:cNvGraphicFramePr>
            <a:graphicFrameLocks noChangeAspect="1"/>
          </p:cNvGraphicFramePr>
          <p:nvPr/>
        </p:nvGraphicFramePr>
        <p:xfrm>
          <a:off x="7179468" y="1991755"/>
          <a:ext cx="347663" cy="381000"/>
        </p:xfrm>
        <a:graphic>
          <a:graphicData uri="http://schemas.openxmlformats.org/presentationml/2006/ole">
            <mc:AlternateContent xmlns:mc="http://schemas.openxmlformats.org/markup-compatibility/2006">
              <mc:Choice xmlns:v="urn:schemas-microsoft-com:vml" Requires="v">
                <p:oleObj spid="_x0000_s21521" name="Equation" r:id="rId2" imgW="127000" imgH="139700" progId="Equation.DSMT4">
                  <p:embed/>
                </p:oleObj>
              </mc:Choice>
              <mc:Fallback>
                <p:oleObj name="Equation" r:id="rId2" imgW="127000" imgH="139700" progId="Equation.DSMT4">
                  <p:embed/>
                  <p:pic>
                    <p:nvPicPr>
                      <p:cNvPr id="0"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79468" y="1991755"/>
                        <a:ext cx="347663"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60456" name="Object 8"/>
          <p:cNvGraphicFramePr>
            <a:graphicFrameLocks noChangeAspect="1"/>
          </p:cNvGraphicFramePr>
          <p:nvPr/>
        </p:nvGraphicFramePr>
        <p:xfrm>
          <a:off x="3381310" y="2401072"/>
          <a:ext cx="609600" cy="361950"/>
        </p:xfrm>
        <a:graphic>
          <a:graphicData uri="http://schemas.openxmlformats.org/presentationml/2006/ole">
            <mc:AlternateContent xmlns:mc="http://schemas.openxmlformats.org/markup-compatibility/2006">
              <mc:Choice xmlns:v="urn:schemas-microsoft-com:vml" Requires="v">
                <p:oleObj spid="_x0000_s21522" name="Equation" r:id="rId4" imgW="279400" imgH="165100" progId="Equation.DSMT4">
                  <p:embed/>
                </p:oleObj>
              </mc:Choice>
              <mc:Fallback>
                <p:oleObj name="Equation" r:id="rId4" imgW="279400" imgH="165100" progId="Equation.DSMT4">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81310" y="2401072"/>
                        <a:ext cx="609600" cy="361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60457" name="Object 9"/>
          <p:cNvGraphicFramePr>
            <a:graphicFrameLocks noChangeAspect="1"/>
          </p:cNvGraphicFramePr>
          <p:nvPr/>
        </p:nvGraphicFramePr>
        <p:xfrm>
          <a:off x="6793230" y="2353070"/>
          <a:ext cx="385763" cy="457200"/>
        </p:xfrm>
        <a:graphic>
          <a:graphicData uri="http://schemas.openxmlformats.org/presentationml/2006/ole">
            <mc:AlternateContent xmlns:mc="http://schemas.openxmlformats.org/markup-compatibility/2006">
              <mc:Choice xmlns:v="urn:schemas-microsoft-com:vml" Requires="v">
                <p:oleObj spid="_x0000_s21523" name="Equation" r:id="rId6" imgW="203200" imgH="241300" progId="Equation.DSMT4">
                  <p:embed/>
                </p:oleObj>
              </mc:Choice>
              <mc:Fallback>
                <p:oleObj name="Equation" r:id="rId6" imgW="203200" imgH="241300" progId="Equation.DSMT4">
                  <p:embed/>
                  <p:pic>
                    <p:nvPicPr>
                      <p:cNvPr id="0"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93230" y="2353070"/>
                        <a:ext cx="3857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60459" name="Object 11"/>
          <p:cNvGraphicFramePr>
            <a:graphicFrameLocks noChangeAspect="1"/>
          </p:cNvGraphicFramePr>
          <p:nvPr/>
        </p:nvGraphicFramePr>
        <p:xfrm>
          <a:off x="7758746" y="2763022"/>
          <a:ext cx="347663" cy="381000"/>
        </p:xfrm>
        <a:graphic>
          <a:graphicData uri="http://schemas.openxmlformats.org/presentationml/2006/ole">
            <mc:AlternateContent xmlns:mc="http://schemas.openxmlformats.org/markup-compatibility/2006">
              <mc:Choice xmlns:v="urn:schemas-microsoft-com:vml" Requires="v">
                <p:oleObj spid="_x0000_s21524" name="Equation" r:id="rId8" imgW="127000" imgH="139700" progId="Equation.DSMT4">
                  <p:embed/>
                </p:oleObj>
              </mc:Choice>
              <mc:Fallback>
                <p:oleObj name="Equation" r:id="rId8" imgW="127000" imgH="139700" progId="Equation.DSMT4">
                  <p:embed/>
                  <p:pic>
                    <p:nvPicPr>
                      <p:cNvPr id="0" name="Object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58746" y="2763022"/>
                        <a:ext cx="347663"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60461" name="Object 13"/>
          <p:cNvGraphicFramePr>
            <a:graphicFrameLocks noChangeAspect="1"/>
          </p:cNvGraphicFramePr>
          <p:nvPr/>
        </p:nvGraphicFramePr>
        <p:xfrm>
          <a:off x="10669887" y="2763022"/>
          <a:ext cx="381000" cy="314325"/>
        </p:xfrm>
        <a:graphic>
          <a:graphicData uri="http://schemas.openxmlformats.org/presentationml/2006/ole">
            <mc:AlternateContent xmlns:mc="http://schemas.openxmlformats.org/markup-compatibility/2006">
              <mc:Choice xmlns:v="urn:schemas-microsoft-com:vml" Requires="v">
                <p:oleObj spid="_x0000_s21525" name="Equation" r:id="rId9" imgW="215900" imgH="177800" progId="Equation.DSMT4">
                  <p:embed/>
                </p:oleObj>
              </mc:Choice>
              <mc:Fallback>
                <p:oleObj name="Equation" r:id="rId9" imgW="215900" imgH="177800" progId="Equation.DSMT4">
                  <p:embed/>
                  <p:pic>
                    <p:nvPicPr>
                      <p:cNvPr id="0" name="Object 1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669887" y="2763022"/>
                        <a:ext cx="381000" cy="314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2498" name="Rectangle 2"/>
          <p:cNvSpPr>
            <a:spLocks noGrp="1" noChangeArrowheads="1"/>
          </p:cNvSpPr>
          <p:nvPr>
            <p:ph type="title"/>
          </p:nvPr>
        </p:nvSpPr>
        <p:spPr/>
        <p:txBody>
          <a:bodyPr/>
          <a:lstStyle/>
          <a:p>
            <a:r>
              <a:rPr lang="zh-CN" altLang="en-US" sz="4000">
                <a:ea typeface="楷体_GB2312" pitchFamily="49" charset="-122"/>
              </a:rPr>
              <a:t>隧道击穿（齐纳击穿）</a:t>
            </a:r>
            <a:endParaRPr lang="zh-CN" altLang="en-US" sz="4000">
              <a:ea typeface="楷体_GB2312" pitchFamily="49" charset="-122"/>
            </a:endParaRPr>
          </a:p>
        </p:txBody>
      </p:sp>
      <p:sp>
        <p:nvSpPr>
          <p:cNvPr id="362499" name="Rectangle 3"/>
          <p:cNvSpPr>
            <a:spLocks noGrp="1" noChangeArrowheads="1"/>
          </p:cNvSpPr>
          <p:nvPr>
            <p:ph type="body" idx="1"/>
          </p:nvPr>
        </p:nvSpPr>
        <p:spPr/>
        <p:txBody>
          <a:bodyPr/>
          <a:lstStyle/>
          <a:p>
            <a:r>
              <a:rPr lang="zh-CN" altLang="en-US" b="0">
                <a:ea typeface="楷体_GB2312" pitchFamily="49" charset="-122"/>
              </a:rPr>
              <a:t>当杂质浓度较低时，反向偏压大时，势垒宽度增大，隧道长度会变长，不利于隧道击穿，却有利于雪崩倍增效应，所以</a:t>
            </a:r>
            <a:r>
              <a:rPr lang="zh-CN" altLang="en-US" b="0">
                <a:solidFill>
                  <a:srgbClr val="D43636"/>
                </a:solidFill>
                <a:ea typeface="楷体_GB2312" pitchFamily="49" charset="-122"/>
              </a:rPr>
              <a:t>一般杂质浓度时，雪崩击穿是主要的</a:t>
            </a:r>
            <a:r>
              <a:rPr lang="zh-CN" altLang="en-US" b="0">
                <a:ea typeface="楷体_GB2312" pitchFamily="49" charset="-122"/>
              </a:rPr>
              <a:t>。而杂质浓度高时，反向偏压不高的情况下就能发生隧道击穿，由于势垒宽度小，不利于雪崩倍增效应，所以</a:t>
            </a:r>
            <a:r>
              <a:rPr lang="zh-CN" altLang="en-US" b="0">
                <a:solidFill>
                  <a:srgbClr val="D43636"/>
                </a:solidFill>
                <a:ea typeface="楷体_GB2312" pitchFamily="49" charset="-122"/>
              </a:rPr>
              <a:t>在重掺杂的情况下，隧道击穿是主要的</a:t>
            </a:r>
            <a:r>
              <a:rPr lang="zh-CN" altLang="en-US" b="0">
                <a:ea typeface="楷体_GB2312" pitchFamily="49" charset="-122"/>
              </a:rPr>
              <a:t>。</a:t>
            </a:r>
            <a:endParaRPr lang="zh-CN" altLang="en-US" b="0">
              <a:ea typeface="楷体_GB2312" pitchFamily="49" charset="-122"/>
            </a:endParaRPr>
          </a:p>
        </p:txBody>
      </p:sp>
      <p:graphicFrame>
        <p:nvGraphicFramePr>
          <p:cNvPr id="362501" name="Object 5"/>
          <p:cNvGraphicFramePr>
            <a:graphicFrameLocks noChangeAspect="1"/>
          </p:cNvGraphicFramePr>
          <p:nvPr/>
        </p:nvGraphicFramePr>
        <p:xfrm>
          <a:off x="2895600" y="4343400"/>
          <a:ext cx="1143000" cy="554038"/>
        </p:xfrm>
        <a:graphic>
          <a:graphicData uri="http://schemas.openxmlformats.org/presentationml/2006/ole">
            <mc:AlternateContent xmlns:mc="http://schemas.openxmlformats.org/markup-compatibility/2006">
              <mc:Choice xmlns:v="urn:schemas-microsoft-com:vml" Requires="v">
                <p:oleObj spid="_x0000_s22539" name="Equation" r:id="rId1" imgW="787400" imgH="381000" progId="Equation.DSMT4">
                  <p:embed/>
                </p:oleObj>
              </mc:Choice>
              <mc:Fallback>
                <p:oleObj name="Equation" r:id="rId1" imgW="787400" imgH="381000" progId="Equation.DSMT4">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5600" y="4343400"/>
                        <a:ext cx="1143000" cy="554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62502" name="Object 6"/>
          <p:cNvGraphicFramePr>
            <a:graphicFrameLocks noChangeAspect="1"/>
          </p:cNvGraphicFramePr>
          <p:nvPr/>
        </p:nvGraphicFramePr>
        <p:xfrm>
          <a:off x="2895600" y="5105400"/>
          <a:ext cx="1143000" cy="552450"/>
        </p:xfrm>
        <a:graphic>
          <a:graphicData uri="http://schemas.openxmlformats.org/presentationml/2006/ole">
            <mc:AlternateContent xmlns:mc="http://schemas.openxmlformats.org/markup-compatibility/2006">
              <mc:Choice xmlns:v="urn:schemas-microsoft-com:vml" Requires="v">
                <p:oleObj spid="_x0000_s22540" name="Equation" r:id="rId3" imgW="787400" imgH="381000" progId="Equation.DSMT4">
                  <p:embed/>
                </p:oleObj>
              </mc:Choice>
              <mc:Fallback>
                <p:oleObj name="Equation" r:id="rId3" imgW="787400" imgH="381000" progId="Equation.DSMT4">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95600" y="5105400"/>
                        <a:ext cx="1143000" cy="55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62503" name="Object 7"/>
          <p:cNvGraphicFramePr>
            <a:graphicFrameLocks noChangeAspect="1"/>
          </p:cNvGraphicFramePr>
          <p:nvPr/>
        </p:nvGraphicFramePr>
        <p:xfrm>
          <a:off x="2819400" y="5867400"/>
          <a:ext cx="1752600" cy="501650"/>
        </p:xfrm>
        <a:graphic>
          <a:graphicData uri="http://schemas.openxmlformats.org/presentationml/2006/ole">
            <mc:AlternateContent xmlns:mc="http://schemas.openxmlformats.org/markup-compatibility/2006">
              <mc:Choice xmlns:v="urn:schemas-microsoft-com:vml" Requires="v">
                <p:oleObj spid="_x0000_s22541" name="Equation" r:id="rId5" imgW="1333500" imgH="381000" progId="Equation.DSMT4">
                  <p:embed/>
                </p:oleObj>
              </mc:Choice>
              <mc:Fallback>
                <p:oleObj name="Equation" r:id="rId5" imgW="1333500" imgH="381000" progId="Equation.DSMT4">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19400" y="5867400"/>
                        <a:ext cx="1752600" cy="501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62505" name="Text Box 9"/>
          <p:cNvSpPr txBox="1">
            <a:spLocks noChangeArrowheads="1"/>
          </p:cNvSpPr>
          <p:nvPr/>
        </p:nvSpPr>
        <p:spPr bwMode="auto">
          <a:xfrm>
            <a:off x="4648200" y="4495800"/>
            <a:ext cx="2362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lang="zh-CN" altLang="en-US" sz="2400">
                <a:solidFill>
                  <a:srgbClr val="000000"/>
                </a:solidFill>
                <a:latin typeface="楷体_GB2312" pitchFamily="49" charset="-122"/>
                <a:ea typeface="楷体_GB2312" pitchFamily="49" charset="-122"/>
              </a:rPr>
              <a:t>隧道击穿</a:t>
            </a:r>
            <a:endParaRPr lang="zh-CN" altLang="en-US" sz="2400">
              <a:solidFill>
                <a:srgbClr val="000000"/>
              </a:solidFill>
              <a:latin typeface="楷体_GB2312" pitchFamily="49" charset="-122"/>
              <a:ea typeface="楷体_GB2312" pitchFamily="49" charset="-122"/>
            </a:endParaRPr>
          </a:p>
        </p:txBody>
      </p:sp>
      <p:sp>
        <p:nvSpPr>
          <p:cNvPr id="362506" name="Text Box 10"/>
          <p:cNvSpPr txBox="1">
            <a:spLocks noChangeArrowheads="1"/>
          </p:cNvSpPr>
          <p:nvPr/>
        </p:nvSpPr>
        <p:spPr bwMode="auto">
          <a:xfrm>
            <a:off x="4648200" y="5105400"/>
            <a:ext cx="2057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lang="zh-CN" altLang="en-US" sz="2400">
                <a:solidFill>
                  <a:srgbClr val="000000"/>
                </a:solidFill>
                <a:latin typeface="楷体_GB2312" pitchFamily="49" charset="-122"/>
                <a:ea typeface="楷体_GB2312" pitchFamily="49" charset="-122"/>
              </a:rPr>
              <a:t>雪崩击穿</a:t>
            </a:r>
            <a:endParaRPr lang="zh-CN" altLang="en-US" sz="2400">
              <a:solidFill>
                <a:srgbClr val="000000"/>
              </a:solidFill>
              <a:latin typeface="楷体_GB2312" pitchFamily="49" charset="-122"/>
              <a:ea typeface="楷体_GB2312" pitchFamily="49" charset="-122"/>
            </a:endParaRPr>
          </a:p>
        </p:txBody>
      </p:sp>
      <p:sp>
        <p:nvSpPr>
          <p:cNvPr id="362507" name="Text Box 11"/>
          <p:cNvSpPr txBox="1">
            <a:spLocks noChangeArrowheads="1"/>
          </p:cNvSpPr>
          <p:nvPr/>
        </p:nvSpPr>
        <p:spPr bwMode="auto">
          <a:xfrm>
            <a:off x="4724400" y="57912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lang="zh-CN" altLang="en-US" sz="2400">
                <a:solidFill>
                  <a:srgbClr val="000000"/>
                </a:solidFill>
                <a:latin typeface="楷体_GB2312" pitchFamily="49" charset="-122"/>
                <a:ea typeface="楷体_GB2312" pitchFamily="49" charset="-122"/>
              </a:rPr>
              <a:t>两种击穿都存在</a:t>
            </a:r>
            <a:endParaRPr lang="zh-CN" altLang="en-US" sz="2400">
              <a:solidFill>
                <a:srgbClr val="000000"/>
              </a:solidFill>
              <a:latin typeface="楷体_GB2312" pitchFamily="49" charset="-122"/>
              <a:ea typeface="楷体_GB2312" pitchFamily="49" charset="-122"/>
            </a:endParaRPr>
          </a:p>
        </p:txBody>
      </p:sp>
      <p:sp>
        <p:nvSpPr>
          <p:cNvPr id="362508" name="AutoShape 12"/>
          <p:cNvSpPr/>
          <p:nvPr/>
        </p:nvSpPr>
        <p:spPr bwMode="auto">
          <a:xfrm>
            <a:off x="2590800" y="4495800"/>
            <a:ext cx="152400" cy="1828800"/>
          </a:xfrm>
          <a:prstGeom prst="leftBrace">
            <a:avLst>
              <a:gd name="adj1" fmla="val 100000"/>
              <a:gd name="adj2" fmla="val 50000"/>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fontAlgn="base">
              <a:spcBef>
                <a:spcPct val="0"/>
              </a:spcBef>
              <a:spcAft>
                <a:spcPct val="0"/>
              </a:spcAft>
            </a:pPr>
            <a:endParaRPr lang="zh-CN" altLang="en-US">
              <a:solidFill>
                <a:srgbClr val="000000"/>
              </a:solidFill>
              <a:latin typeface="Arial" panose="020B0604020202020204" pitchFamily="34" charset="0"/>
            </a:endParaRPr>
          </a:p>
        </p:txBody>
      </p:sp>
    </p:spTree>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522" name="Rectangle 2"/>
          <p:cNvSpPr>
            <a:spLocks noGrp="1" noChangeArrowheads="1"/>
          </p:cNvSpPr>
          <p:nvPr>
            <p:ph type="title"/>
          </p:nvPr>
        </p:nvSpPr>
        <p:spPr/>
        <p:txBody>
          <a:bodyPr/>
          <a:lstStyle/>
          <a:p>
            <a:r>
              <a:rPr lang="zh-CN" altLang="en-US">
                <a:ea typeface="宋体" panose="02010600030101010101" pitchFamily="2" charset="-122"/>
              </a:rPr>
              <a:t>热电击穿</a:t>
            </a:r>
            <a:endParaRPr lang="zh-CN" altLang="en-US">
              <a:ea typeface="宋体" panose="02010600030101010101" pitchFamily="2" charset="-122"/>
            </a:endParaRPr>
          </a:p>
        </p:txBody>
      </p:sp>
      <p:sp>
        <p:nvSpPr>
          <p:cNvPr id="363523" name="Rectangle 3"/>
          <p:cNvSpPr>
            <a:spLocks noGrp="1" noChangeArrowheads="1"/>
          </p:cNvSpPr>
          <p:nvPr>
            <p:ph type="body" idx="1"/>
          </p:nvPr>
        </p:nvSpPr>
        <p:spPr/>
        <p:txBody>
          <a:bodyPr/>
          <a:lstStyle/>
          <a:p>
            <a:r>
              <a:rPr lang="zh-CN" altLang="en-US" b="0" dirty="0">
                <a:latin typeface="楷体_GB2312" pitchFamily="49" charset="-122"/>
                <a:ea typeface="楷体_GB2312" pitchFamily="49" charset="-122"/>
              </a:rPr>
              <a:t>当</a:t>
            </a:r>
            <a:r>
              <a:rPr lang="en-US" altLang="zh-CN" b="0" dirty="0" err="1">
                <a:latin typeface="楷体_GB2312" pitchFamily="49" charset="-122"/>
                <a:ea typeface="楷体_GB2312" pitchFamily="49" charset="-122"/>
              </a:rPr>
              <a:t>pn</a:t>
            </a:r>
            <a:r>
              <a:rPr lang="zh-CN" altLang="en-US" b="0" dirty="0">
                <a:latin typeface="楷体_GB2312" pitchFamily="49" charset="-122"/>
                <a:ea typeface="楷体_GB2312" pitchFamily="49" charset="-122"/>
              </a:rPr>
              <a:t>结上施加反向电压时，反向电流要引起热损耗，若没有良好的散热条件使这些热能及时传递出去，则将引起结温上升。</a:t>
            </a:r>
            <a:endParaRPr lang="zh-CN" altLang="en-US" b="0" dirty="0">
              <a:latin typeface="楷体_GB2312" pitchFamily="49" charset="-122"/>
              <a:ea typeface="楷体_GB2312" pitchFamily="49" charset="-122"/>
            </a:endParaRPr>
          </a:p>
          <a:p>
            <a:r>
              <a:rPr lang="zh-CN" altLang="en-US" b="0" dirty="0">
                <a:ea typeface="楷体_GB2312" pitchFamily="49" charset="-122"/>
              </a:rPr>
              <a:t>反向饱和电流密度</a:t>
            </a:r>
            <a:r>
              <a:rPr lang="zh-CN" altLang="en-US" dirty="0">
                <a:ea typeface="宋体" panose="02010600030101010101" pitchFamily="2" charset="-122"/>
              </a:rPr>
              <a:t>          </a:t>
            </a:r>
            <a:r>
              <a:rPr lang="zh-CN" altLang="en-US" b="0" dirty="0">
                <a:ea typeface="宋体" panose="02010600030101010101" pitchFamily="2" charset="-122"/>
              </a:rPr>
              <a:t>，</a:t>
            </a:r>
            <a:endParaRPr lang="zh-CN" altLang="en-US" b="0" dirty="0">
              <a:ea typeface="宋体" panose="02010600030101010101" pitchFamily="2" charset="-122"/>
            </a:endParaRPr>
          </a:p>
        </p:txBody>
      </p:sp>
      <p:graphicFrame>
        <p:nvGraphicFramePr>
          <p:cNvPr id="363525" name="Object 5"/>
          <p:cNvGraphicFramePr>
            <a:graphicFrameLocks noChangeAspect="1"/>
          </p:cNvGraphicFramePr>
          <p:nvPr/>
        </p:nvGraphicFramePr>
        <p:xfrm>
          <a:off x="3964459" y="2196587"/>
          <a:ext cx="914400" cy="423863"/>
        </p:xfrm>
        <a:graphic>
          <a:graphicData uri="http://schemas.openxmlformats.org/presentationml/2006/ole">
            <mc:AlternateContent xmlns:mc="http://schemas.openxmlformats.org/markup-compatibility/2006">
              <mc:Choice xmlns:v="urn:schemas-microsoft-com:vml" Requires="v">
                <p:oleObj spid="_x0000_s23564" name="Equation" r:id="rId1" imgW="520700" imgH="241300" progId="Equation.DSMT4">
                  <p:embed/>
                </p:oleObj>
              </mc:Choice>
              <mc:Fallback>
                <p:oleObj name="Equation" r:id="rId1" imgW="520700" imgH="241300" progId="Equation.DSMT4">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64459" y="2196587"/>
                        <a:ext cx="914400" cy="423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63527" name="Object 7"/>
          <p:cNvGraphicFramePr>
            <a:graphicFrameLocks noChangeAspect="1"/>
          </p:cNvGraphicFramePr>
          <p:nvPr/>
        </p:nvGraphicFramePr>
        <p:xfrm>
          <a:off x="5454650" y="2295698"/>
          <a:ext cx="1981200" cy="544513"/>
        </p:xfrm>
        <a:graphic>
          <a:graphicData uri="http://schemas.openxmlformats.org/presentationml/2006/ole">
            <mc:AlternateContent xmlns:mc="http://schemas.openxmlformats.org/markup-compatibility/2006">
              <mc:Choice xmlns:v="urn:schemas-microsoft-com:vml" Requires="v">
                <p:oleObj spid="_x0000_s23565" name="Equation" r:id="rId3" imgW="1663700" imgH="457200" progId="Equation.DSMT4">
                  <p:embed/>
                </p:oleObj>
              </mc:Choice>
              <mc:Fallback>
                <p:oleObj name="Equation" r:id="rId3" imgW="1663700" imgH="457200" progId="Equation.DSMT4">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54650" y="2295698"/>
                        <a:ext cx="1981200" cy="544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63528" name="Text Box 8"/>
          <p:cNvSpPr txBox="1">
            <a:spLocks noChangeArrowheads="1"/>
          </p:cNvSpPr>
          <p:nvPr/>
        </p:nvSpPr>
        <p:spPr bwMode="auto">
          <a:xfrm>
            <a:off x="1517822" y="2925250"/>
            <a:ext cx="7543800" cy="2227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lang="zh-CN" altLang="en-US" sz="2800" dirty="0">
                <a:solidFill>
                  <a:srgbClr val="000000"/>
                </a:solidFill>
                <a:latin typeface="楷体_GB2312" pitchFamily="49" charset="-122"/>
                <a:ea typeface="楷体_GB2312" pitchFamily="49" charset="-122"/>
              </a:rPr>
              <a:t>可见，反向饱和电流密度随温度按指数规律上升的，产生的热能也迅速增加，进而又导致结温上升，反向饱和电流密度增大。如此反复循环下去，最后使</a:t>
            </a:r>
            <a:r>
              <a:rPr lang="en-US" altLang="zh-CN" sz="2800" dirty="0">
                <a:solidFill>
                  <a:srgbClr val="000000"/>
                </a:solidFill>
                <a:latin typeface="楷体_GB2312" pitchFamily="49" charset="-122"/>
                <a:ea typeface="楷体_GB2312" pitchFamily="49" charset="-122"/>
              </a:rPr>
              <a:t>J</a:t>
            </a:r>
            <a:r>
              <a:rPr lang="en-US" altLang="zh-CN" sz="2800" baseline="-25000" dirty="0">
                <a:solidFill>
                  <a:srgbClr val="000000"/>
                </a:solidFill>
                <a:latin typeface="楷体_GB2312" pitchFamily="49" charset="-122"/>
                <a:ea typeface="楷体_GB2312" pitchFamily="49" charset="-122"/>
              </a:rPr>
              <a:t>s</a:t>
            </a:r>
            <a:r>
              <a:rPr lang="zh-CN" altLang="en-US" sz="2800" dirty="0">
                <a:solidFill>
                  <a:srgbClr val="000000"/>
                </a:solidFill>
                <a:latin typeface="楷体_GB2312" pitchFamily="49" charset="-122"/>
                <a:ea typeface="楷体_GB2312" pitchFamily="49" charset="-122"/>
              </a:rPr>
              <a:t>无限增大而发生击穿，这种由于热不稳定性引起的击穿，称为热电击穿。</a:t>
            </a:r>
            <a:endParaRPr lang="zh-CN" altLang="en-US" sz="2800" dirty="0">
              <a:solidFill>
                <a:srgbClr val="000000"/>
              </a:solidFill>
              <a:latin typeface="楷体_GB2312" pitchFamily="49" charset="-122"/>
              <a:ea typeface="楷体_GB2312" pitchFamily="49" charset="-122"/>
            </a:endParaRPr>
          </a:p>
        </p:txBody>
      </p:sp>
      <p:sp>
        <p:nvSpPr>
          <p:cNvPr id="363529" name="Text Box 9"/>
          <p:cNvSpPr txBox="1">
            <a:spLocks noChangeArrowheads="1"/>
          </p:cNvSpPr>
          <p:nvPr/>
        </p:nvSpPr>
        <p:spPr bwMode="auto">
          <a:xfrm>
            <a:off x="1517822" y="5237552"/>
            <a:ext cx="70866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lang="zh-CN" altLang="en-US" sz="3200" dirty="0">
                <a:solidFill>
                  <a:srgbClr val="D43636"/>
                </a:solidFill>
                <a:latin typeface="Arial" panose="020B0604020202020204" pitchFamily="34" charset="0"/>
                <a:ea typeface="宋体" panose="02010600030101010101" pitchFamily="2" charset="-122"/>
              </a:rPr>
              <a:t>热击穿发生的条件：      小，散热条件差的器件</a:t>
            </a:r>
            <a:endParaRPr lang="zh-CN" altLang="en-US" sz="3200" dirty="0">
              <a:solidFill>
                <a:srgbClr val="D43636"/>
              </a:solidFill>
              <a:latin typeface="Arial" panose="020B0604020202020204" pitchFamily="34" charset="0"/>
              <a:ea typeface="宋体" panose="02010600030101010101" pitchFamily="2" charset="-122"/>
            </a:endParaRPr>
          </a:p>
        </p:txBody>
      </p:sp>
      <p:graphicFrame>
        <p:nvGraphicFramePr>
          <p:cNvPr id="363531" name="Object 11"/>
          <p:cNvGraphicFramePr>
            <a:graphicFrameLocks noChangeAspect="1"/>
          </p:cNvGraphicFramePr>
          <p:nvPr/>
        </p:nvGraphicFramePr>
        <p:xfrm>
          <a:off x="5289722" y="5211472"/>
          <a:ext cx="577850" cy="685800"/>
        </p:xfrm>
        <a:graphic>
          <a:graphicData uri="http://schemas.openxmlformats.org/presentationml/2006/ole">
            <mc:AlternateContent xmlns:mc="http://schemas.openxmlformats.org/markup-compatibility/2006">
              <mc:Choice xmlns:v="urn:schemas-microsoft-com:vml" Requires="v">
                <p:oleObj spid="_x0000_s23566" name="Equation" r:id="rId5" imgW="203200" imgH="241300" progId="Equation.DSMT4">
                  <p:embed/>
                </p:oleObj>
              </mc:Choice>
              <mc:Fallback>
                <p:oleObj name="Equation" r:id="rId5" imgW="203200" imgH="241300" progId="Equation.DSMT4">
                  <p:embed/>
                  <p:pic>
                    <p:nvPicPr>
                      <p:cNvPr id="0"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89722" y="5211472"/>
                        <a:ext cx="57785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6" name="Rectangle 2"/>
          <p:cNvSpPr>
            <a:spLocks noGrp="1" noChangeArrowheads="1"/>
          </p:cNvSpPr>
          <p:nvPr>
            <p:ph type="title"/>
          </p:nvPr>
        </p:nvSpPr>
        <p:spPr/>
        <p:txBody>
          <a:bodyPr/>
          <a:lstStyle/>
          <a:p>
            <a:r>
              <a:rPr lang="en-US" altLang="zh-CN" sz="3600">
                <a:latin typeface="楷体_GB2312" pitchFamily="49" charset="-122"/>
                <a:ea typeface="楷体_GB2312" pitchFamily="49" charset="-122"/>
              </a:rPr>
              <a:t>6.5 Pn</a:t>
            </a:r>
            <a:r>
              <a:rPr lang="zh-CN" altLang="en-US" sz="3600">
                <a:latin typeface="楷体_GB2312" pitchFamily="49" charset="-122"/>
                <a:ea typeface="楷体_GB2312" pitchFamily="49" charset="-122"/>
              </a:rPr>
              <a:t>结隧道效应</a:t>
            </a:r>
            <a:endParaRPr lang="zh-CN" altLang="en-US" sz="3600">
              <a:latin typeface="楷体_GB2312" pitchFamily="49" charset="-122"/>
              <a:ea typeface="楷体_GB2312" pitchFamily="49" charset="-122"/>
            </a:endParaRPr>
          </a:p>
        </p:txBody>
      </p:sp>
      <p:sp>
        <p:nvSpPr>
          <p:cNvPr id="359427" name="Rectangle 3"/>
          <p:cNvSpPr>
            <a:spLocks noGrp="1" noChangeArrowheads="1"/>
          </p:cNvSpPr>
          <p:nvPr>
            <p:ph type="body" idx="1"/>
          </p:nvPr>
        </p:nvSpPr>
        <p:spPr/>
        <p:txBody>
          <a:bodyPr/>
          <a:lstStyle/>
          <a:p>
            <a:r>
              <a:rPr lang="zh-CN" altLang="en-US" b="0">
                <a:latin typeface="楷体_GB2312" pitchFamily="49" charset="-122"/>
                <a:ea typeface="楷体_GB2312" pitchFamily="49" charset="-122"/>
              </a:rPr>
              <a:t>重掺杂的</a:t>
            </a:r>
            <a:r>
              <a:rPr lang="en-US" altLang="zh-CN" b="0">
                <a:latin typeface="楷体_GB2312" pitchFamily="49" charset="-122"/>
                <a:ea typeface="楷体_GB2312" pitchFamily="49" charset="-122"/>
              </a:rPr>
              <a:t>p</a:t>
            </a:r>
            <a:r>
              <a:rPr lang="zh-CN" altLang="en-US" b="0">
                <a:latin typeface="楷体_GB2312" pitchFamily="49" charset="-122"/>
                <a:ea typeface="楷体_GB2312" pitchFamily="49" charset="-122"/>
              </a:rPr>
              <a:t>区和</a:t>
            </a:r>
            <a:r>
              <a:rPr lang="en-US" altLang="zh-CN" b="0">
                <a:latin typeface="楷体_GB2312" pitchFamily="49" charset="-122"/>
                <a:ea typeface="楷体_GB2312" pitchFamily="49" charset="-122"/>
              </a:rPr>
              <a:t>n</a:t>
            </a:r>
            <a:r>
              <a:rPr lang="zh-CN" altLang="en-US" b="0">
                <a:latin typeface="楷体_GB2312" pitchFamily="49" charset="-122"/>
                <a:ea typeface="楷体_GB2312" pitchFamily="49" charset="-122"/>
              </a:rPr>
              <a:t>区形成的</a:t>
            </a:r>
            <a:r>
              <a:rPr lang="en-US" altLang="zh-CN" b="0">
                <a:latin typeface="楷体_GB2312" pitchFamily="49" charset="-122"/>
                <a:ea typeface="楷体_GB2312" pitchFamily="49" charset="-122"/>
              </a:rPr>
              <a:t>pn</a:t>
            </a:r>
            <a:r>
              <a:rPr lang="zh-CN" altLang="en-US" b="0">
                <a:latin typeface="楷体_GB2312" pitchFamily="49" charset="-122"/>
                <a:ea typeface="楷体_GB2312" pitchFamily="49" charset="-122"/>
              </a:rPr>
              <a:t>结通常称为隧道结。</a:t>
            </a:r>
            <a:endParaRPr lang="zh-CN" altLang="en-US" b="0">
              <a:latin typeface="楷体_GB2312" pitchFamily="49" charset="-122"/>
              <a:ea typeface="楷体_GB2312" pitchFamily="49" charset="-122"/>
            </a:endParaRPr>
          </a:p>
          <a:p>
            <a:r>
              <a:rPr lang="zh-CN" altLang="en-US" b="0">
                <a:latin typeface="楷体_GB2312" pitchFamily="49" charset="-122"/>
                <a:ea typeface="楷体_GB2312" pitchFamily="49" charset="-122"/>
              </a:rPr>
              <a:t>隧道结的电流电压特性</a:t>
            </a:r>
            <a:endParaRPr lang="zh-CN" altLang="en-US" b="0">
              <a:latin typeface="楷体_GB2312" pitchFamily="49" charset="-122"/>
              <a:ea typeface="楷体_GB2312" pitchFamily="49" charset="-122"/>
            </a:endParaRPr>
          </a:p>
          <a:p>
            <a:r>
              <a:rPr lang="zh-CN" altLang="en-US" b="0">
                <a:latin typeface="楷体_GB2312" pitchFamily="49" charset="-122"/>
                <a:ea typeface="楷体_GB2312" pitchFamily="49" charset="-122"/>
              </a:rPr>
              <a:t>峰值电流 峰值电压  谷值电流  谷值电压</a:t>
            </a:r>
            <a:endParaRPr lang="zh-CN" altLang="en-US" b="0">
              <a:latin typeface="楷体_GB2312" pitchFamily="49" charset="-122"/>
              <a:ea typeface="楷体_GB2312" pitchFamily="49" charset="-122"/>
            </a:endParaRPr>
          </a:p>
          <a:p>
            <a:r>
              <a:rPr lang="zh-CN" altLang="en-US" b="0">
                <a:latin typeface="楷体_GB2312" pitchFamily="49" charset="-122"/>
                <a:ea typeface="楷体_GB2312" pitchFamily="49" charset="-122"/>
              </a:rPr>
              <a:t>正向负阻效应</a:t>
            </a:r>
            <a:endParaRPr lang="zh-CN" altLang="en-US" b="0">
              <a:latin typeface="楷体_GB2312" pitchFamily="49" charset="-122"/>
              <a:ea typeface="楷体_GB2312" pitchFamily="49" charset="-122"/>
            </a:endParaRPr>
          </a:p>
          <a:p>
            <a:r>
              <a:rPr lang="zh-CN" altLang="en-US" b="0">
                <a:ea typeface="楷体_GB2312" pitchFamily="49" charset="-122"/>
              </a:rPr>
              <a:t>用途：微波放大、高速开关、激光振荡源</a:t>
            </a:r>
            <a:endParaRPr lang="zh-CN" altLang="en-US" b="0">
              <a:ea typeface="楷体_GB2312" pitchFamily="49" charset="-122"/>
            </a:endParaRPr>
          </a:p>
        </p:txBody>
      </p:sp>
      <p:pic>
        <p:nvPicPr>
          <p:cNvPr id="359431" name="Picture 7" descr="QQ截图未命名0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57400" y="3810000"/>
            <a:ext cx="2819400" cy="2743200"/>
          </a:xfrm>
          <a:prstGeom prst="rect">
            <a:avLst/>
          </a:prstGeom>
          <a:noFill/>
          <a:extLst>
            <a:ext uri="{909E8E84-426E-40DD-AFC4-6F175D3DCCD1}">
              <a14:hiddenFill xmlns:a14="http://schemas.microsoft.com/office/drawing/2010/main">
                <a:solidFill>
                  <a:srgbClr val="FFFFFF"/>
                </a:solidFill>
              </a14:hiddenFill>
            </a:ext>
          </a:extLst>
        </p:spPr>
      </p:pic>
      <p:pic>
        <p:nvPicPr>
          <p:cNvPr id="359432" name="Picture 8" descr="QQ截图未命名l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15000" y="3763964"/>
            <a:ext cx="3200400" cy="2713037"/>
          </a:xfrm>
          <a:prstGeom prst="rect">
            <a:avLst/>
          </a:prstGeom>
          <a:noFill/>
          <a:extLst>
            <a:ext uri="{909E8E84-426E-40DD-AFC4-6F175D3DCCD1}">
              <a14:hiddenFill xmlns:a14="http://schemas.microsoft.com/office/drawing/2010/main">
                <a:solidFill>
                  <a:srgbClr val="FFFFFF"/>
                </a:solidFill>
              </a14:hiddenFill>
            </a:ext>
          </a:extLst>
        </p:spPr>
      </p:pic>
      <p:sp>
        <p:nvSpPr>
          <p:cNvPr id="359434" name="Text Box 10"/>
          <p:cNvSpPr txBox="1">
            <a:spLocks noChangeArrowheads="1"/>
          </p:cNvSpPr>
          <p:nvPr/>
        </p:nvSpPr>
        <p:spPr bwMode="auto">
          <a:xfrm>
            <a:off x="2286000" y="4038600"/>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fontAlgn="base">
              <a:spcBef>
                <a:spcPct val="50000"/>
              </a:spcBef>
              <a:spcAft>
                <a:spcPct val="0"/>
              </a:spcAft>
            </a:pPr>
            <a:r>
              <a:rPr lang="en-US" altLang="zh-CN" sz="2400">
                <a:solidFill>
                  <a:srgbClr val="000000"/>
                </a:solidFill>
                <a:latin typeface="Arial" panose="020B0604020202020204" pitchFamily="34" charset="0"/>
                <a:ea typeface="宋体" panose="02010600030101010101" pitchFamily="2" charset="-122"/>
              </a:rPr>
              <a:t>I</a:t>
            </a:r>
            <a:r>
              <a:rPr lang="en-US" altLang="zh-CN" sz="2400" baseline="-25000">
                <a:solidFill>
                  <a:srgbClr val="000000"/>
                </a:solidFill>
                <a:latin typeface="Arial" panose="020B0604020202020204" pitchFamily="34" charset="0"/>
                <a:ea typeface="宋体" panose="02010600030101010101" pitchFamily="2" charset="-122"/>
              </a:rPr>
              <a:t>p</a:t>
            </a:r>
            <a:endParaRPr lang="en-US" altLang="zh-CN" sz="2400" baseline="-25000">
              <a:solidFill>
                <a:srgbClr val="000000"/>
              </a:solidFill>
              <a:latin typeface="Arial" panose="020B0604020202020204" pitchFamily="34" charset="0"/>
              <a:ea typeface="宋体" panose="02010600030101010101" pitchFamily="2" charset="-122"/>
            </a:endParaRPr>
          </a:p>
        </p:txBody>
      </p:sp>
      <p:sp>
        <p:nvSpPr>
          <p:cNvPr id="359435" name="Text Box 11"/>
          <p:cNvSpPr txBox="1">
            <a:spLocks noChangeArrowheads="1"/>
          </p:cNvSpPr>
          <p:nvPr/>
        </p:nvSpPr>
        <p:spPr bwMode="auto">
          <a:xfrm>
            <a:off x="2133600" y="3886201"/>
            <a:ext cx="6858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fontAlgn="base">
              <a:spcBef>
                <a:spcPct val="50000"/>
              </a:spcBef>
              <a:spcAft>
                <a:spcPct val="0"/>
              </a:spcAft>
            </a:pPr>
            <a:endParaRPr lang="zh-CN" altLang="en-US">
              <a:solidFill>
                <a:srgbClr val="000000"/>
              </a:solidFill>
              <a:latin typeface="Arial" panose="020B0604020202020204" pitchFamily="34" charset="0"/>
              <a:ea typeface="宋体" panose="02010600030101010101" pitchFamily="2" charset="-122"/>
            </a:endParaRPr>
          </a:p>
        </p:txBody>
      </p:sp>
      <p:sp>
        <p:nvSpPr>
          <p:cNvPr id="359436" name="Text Box 12"/>
          <p:cNvSpPr txBox="1">
            <a:spLocks noChangeArrowheads="1"/>
          </p:cNvSpPr>
          <p:nvPr/>
        </p:nvSpPr>
        <p:spPr bwMode="auto">
          <a:xfrm>
            <a:off x="2133600" y="48768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fontAlgn="base">
              <a:spcBef>
                <a:spcPct val="50000"/>
              </a:spcBef>
              <a:spcAft>
                <a:spcPct val="0"/>
              </a:spcAft>
            </a:pPr>
            <a:r>
              <a:rPr lang="en-US" altLang="zh-CN" sz="2400">
                <a:solidFill>
                  <a:srgbClr val="000000"/>
                </a:solidFill>
                <a:latin typeface="Arial" panose="020B0604020202020204" pitchFamily="34" charset="0"/>
                <a:ea typeface="宋体" panose="02010600030101010101" pitchFamily="2" charset="-122"/>
              </a:rPr>
              <a:t>I</a:t>
            </a:r>
            <a:r>
              <a:rPr lang="en-US" altLang="zh-CN" sz="2400" baseline="-25000">
                <a:solidFill>
                  <a:srgbClr val="000000"/>
                </a:solidFill>
                <a:latin typeface="Arial" panose="020B0604020202020204" pitchFamily="34" charset="0"/>
                <a:ea typeface="宋体" panose="02010600030101010101" pitchFamily="2" charset="-122"/>
              </a:rPr>
              <a:t>v</a:t>
            </a:r>
            <a:endParaRPr lang="en-US" altLang="zh-CN" sz="2400" baseline="-25000">
              <a:solidFill>
                <a:srgbClr val="000000"/>
              </a:solidFill>
              <a:latin typeface="Arial" panose="020B0604020202020204" pitchFamily="34" charset="0"/>
              <a:ea typeface="宋体" panose="02010600030101010101" pitchFamily="2" charset="-122"/>
            </a:endParaRPr>
          </a:p>
        </p:txBody>
      </p:sp>
      <p:sp>
        <p:nvSpPr>
          <p:cNvPr id="359437" name="Text Box 13"/>
          <p:cNvSpPr txBox="1">
            <a:spLocks noChangeArrowheads="1"/>
          </p:cNvSpPr>
          <p:nvPr/>
        </p:nvSpPr>
        <p:spPr bwMode="auto">
          <a:xfrm>
            <a:off x="2819400" y="5410201"/>
            <a:ext cx="609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lang="en-US" altLang="zh-CN">
                <a:solidFill>
                  <a:srgbClr val="000000"/>
                </a:solidFill>
                <a:latin typeface="Arial" panose="020B0604020202020204" pitchFamily="34" charset="0"/>
                <a:ea typeface="宋体" panose="02010600030101010101" pitchFamily="2" charset="-122"/>
              </a:rPr>
              <a:t>V</a:t>
            </a:r>
            <a:r>
              <a:rPr lang="en-US" altLang="zh-CN" baseline="-25000">
                <a:solidFill>
                  <a:srgbClr val="000000"/>
                </a:solidFill>
                <a:latin typeface="Arial" panose="020B0604020202020204" pitchFamily="34" charset="0"/>
                <a:ea typeface="宋体" panose="02010600030101010101" pitchFamily="2" charset="-122"/>
              </a:rPr>
              <a:t>p</a:t>
            </a:r>
            <a:endParaRPr lang="en-US" altLang="zh-CN" baseline="-25000">
              <a:solidFill>
                <a:srgbClr val="000000"/>
              </a:solidFill>
              <a:latin typeface="Arial" panose="020B0604020202020204" pitchFamily="34" charset="0"/>
              <a:ea typeface="宋体" panose="02010600030101010101" pitchFamily="2" charset="-122"/>
            </a:endParaRPr>
          </a:p>
        </p:txBody>
      </p:sp>
      <p:sp>
        <p:nvSpPr>
          <p:cNvPr id="359438" name="Text Box 14"/>
          <p:cNvSpPr txBox="1">
            <a:spLocks noChangeArrowheads="1"/>
          </p:cNvSpPr>
          <p:nvPr/>
        </p:nvSpPr>
        <p:spPr bwMode="auto">
          <a:xfrm>
            <a:off x="3581400" y="5486401"/>
            <a:ext cx="457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fontAlgn="base">
              <a:spcBef>
                <a:spcPct val="50000"/>
              </a:spcBef>
              <a:spcAft>
                <a:spcPct val="0"/>
              </a:spcAft>
            </a:pPr>
            <a:r>
              <a:rPr lang="en-US" altLang="zh-CN">
                <a:solidFill>
                  <a:srgbClr val="000000"/>
                </a:solidFill>
                <a:latin typeface="Arial" panose="020B0604020202020204" pitchFamily="34" charset="0"/>
                <a:ea typeface="宋体" panose="02010600030101010101" pitchFamily="2" charset="-122"/>
              </a:rPr>
              <a:t>V</a:t>
            </a:r>
            <a:r>
              <a:rPr lang="en-US" altLang="zh-CN" baseline="-25000">
                <a:solidFill>
                  <a:srgbClr val="000000"/>
                </a:solidFill>
                <a:latin typeface="Arial" panose="020B0604020202020204" pitchFamily="34" charset="0"/>
                <a:ea typeface="宋体" panose="02010600030101010101" pitchFamily="2" charset="-122"/>
              </a:rPr>
              <a:t>v</a:t>
            </a:r>
            <a:endParaRPr lang="en-US" altLang="zh-CN" baseline="-25000">
              <a:solidFill>
                <a:srgbClr val="000000"/>
              </a:solidFill>
              <a:latin typeface="Arial" panose="020B0604020202020204" pitchFamily="34" charset="0"/>
              <a:ea typeface="宋体" panose="02010600030101010101" pitchFamily="2" charset="-122"/>
            </a:endParaRPr>
          </a:p>
        </p:txBody>
      </p:sp>
    </p:spTree>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546" name="Rectangle 2"/>
          <p:cNvSpPr>
            <a:spLocks noGrp="1" noChangeArrowheads="1"/>
          </p:cNvSpPr>
          <p:nvPr>
            <p:ph type="title"/>
          </p:nvPr>
        </p:nvSpPr>
        <p:spPr/>
        <p:txBody>
          <a:bodyPr/>
          <a:lstStyle/>
          <a:p>
            <a:r>
              <a:rPr lang="en-US" altLang="zh-CN" sz="3600" dirty="0">
                <a:latin typeface="楷体_GB2312" pitchFamily="49" charset="-122"/>
                <a:ea typeface="楷体_GB2312" pitchFamily="49" charset="-122"/>
              </a:rPr>
              <a:t>6.5 </a:t>
            </a:r>
            <a:r>
              <a:rPr lang="en-US" altLang="zh-CN" sz="3600" dirty="0" err="1">
                <a:latin typeface="楷体_GB2312" pitchFamily="49" charset="-122"/>
                <a:ea typeface="楷体_GB2312" pitchFamily="49" charset="-122"/>
              </a:rPr>
              <a:t>Pn</a:t>
            </a:r>
            <a:r>
              <a:rPr lang="zh-CN" altLang="en-US" sz="3600" dirty="0">
                <a:latin typeface="楷体_GB2312" pitchFamily="49" charset="-122"/>
                <a:ea typeface="楷体_GB2312" pitchFamily="49" charset="-122"/>
              </a:rPr>
              <a:t>结隧道效应</a:t>
            </a:r>
            <a:endParaRPr lang="zh-CN" altLang="en-US" sz="3600" dirty="0">
              <a:latin typeface="楷体_GB2312" pitchFamily="49" charset="-122"/>
              <a:ea typeface="楷体_GB2312" pitchFamily="49" charset="-122"/>
            </a:endParaRPr>
          </a:p>
        </p:txBody>
      </p:sp>
      <p:pic>
        <p:nvPicPr>
          <p:cNvPr id="364549" name="Picture 5" descr="QQ截图未命名88"/>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86000" y="1828800"/>
            <a:ext cx="4057650" cy="3676650"/>
          </a:xfrm>
          <a:prstGeom prst="rect">
            <a:avLst/>
          </a:prstGeom>
          <a:noFill/>
          <a:extLst>
            <a:ext uri="{909E8E84-426E-40DD-AFC4-6F175D3DCCD1}">
              <a14:hiddenFill xmlns:a14="http://schemas.microsoft.com/office/drawing/2010/main">
                <a:solidFill>
                  <a:srgbClr val="FFFFFF"/>
                </a:solidFill>
              </a14:hiddenFill>
            </a:ext>
          </a:extLst>
        </p:spPr>
      </p:pic>
      <p:sp>
        <p:nvSpPr>
          <p:cNvPr id="364550" name="Text Box 6"/>
          <p:cNvSpPr txBox="1">
            <a:spLocks noChangeArrowheads="1"/>
          </p:cNvSpPr>
          <p:nvPr/>
        </p:nvSpPr>
        <p:spPr bwMode="auto">
          <a:xfrm>
            <a:off x="2590800" y="3352801"/>
            <a:ext cx="457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fontAlgn="base">
              <a:spcBef>
                <a:spcPct val="50000"/>
              </a:spcBef>
              <a:spcAft>
                <a:spcPct val="0"/>
              </a:spcAft>
            </a:pPr>
            <a:r>
              <a:rPr lang="en-US" altLang="zh-CN">
                <a:solidFill>
                  <a:srgbClr val="000000"/>
                </a:solidFill>
                <a:latin typeface="Arial" panose="020B0604020202020204" pitchFamily="34" charset="0"/>
                <a:ea typeface="宋体" panose="02010600030101010101" pitchFamily="2" charset="-122"/>
              </a:rPr>
              <a:t>Ec</a:t>
            </a:r>
            <a:endParaRPr lang="en-US" altLang="zh-CN">
              <a:solidFill>
                <a:srgbClr val="000000"/>
              </a:solidFill>
              <a:latin typeface="Arial" panose="020B0604020202020204" pitchFamily="34" charset="0"/>
              <a:ea typeface="宋体" panose="02010600030101010101" pitchFamily="2" charset="-122"/>
            </a:endParaRPr>
          </a:p>
        </p:txBody>
      </p:sp>
      <p:sp>
        <p:nvSpPr>
          <p:cNvPr id="364551" name="Text Box 7"/>
          <p:cNvSpPr txBox="1">
            <a:spLocks noChangeArrowheads="1"/>
          </p:cNvSpPr>
          <p:nvPr/>
        </p:nvSpPr>
        <p:spPr bwMode="auto">
          <a:xfrm>
            <a:off x="2362200" y="3657601"/>
            <a:ext cx="6858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fontAlgn="base">
              <a:spcBef>
                <a:spcPct val="50000"/>
              </a:spcBef>
              <a:spcAft>
                <a:spcPct val="0"/>
              </a:spcAft>
            </a:pPr>
            <a:r>
              <a:rPr lang="en-US" altLang="zh-CN">
                <a:solidFill>
                  <a:srgbClr val="000000"/>
                </a:solidFill>
                <a:latin typeface="Arial" panose="020B0604020202020204" pitchFamily="34" charset="0"/>
                <a:ea typeface="宋体" panose="02010600030101010101" pitchFamily="2" charset="-122"/>
              </a:rPr>
              <a:t>Ev</a:t>
            </a:r>
            <a:endParaRPr lang="en-US" altLang="zh-CN">
              <a:solidFill>
                <a:srgbClr val="000000"/>
              </a:solidFill>
              <a:latin typeface="Arial" panose="020B0604020202020204" pitchFamily="34" charset="0"/>
              <a:ea typeface="宋体" panose="02010600030101010101" pitchFamily="2" charset="-122"/>
            </a:endParaRPr>
          </a:p>
        </p:txBody>
      </p:sp>
      <p:sp>
        <p:nvSpPr>
          <p:cNvPr id="364552" name="Text Box 8"/>
          <p:cNvSpPr txBox="1">
            <a:spLocks noChangeArrowheads="1"/>
          </p:cNvSpPr>
          <p:nvPr/>
        </p:nvSpPr>
        <p:spPr bwMode="auto">
          <a:xfrm>
            <a:off x="2362200" y="3886201"/>
            <a:ext cx="6858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fontAlgn="base">
              <a:spcBef>
                <a:spcPct val="50000"/>
              </a:spcBef>
              <a:spcAft>
                <a:spcPct val="0"/>
              </a:spcAft>
            </a:pPr>
            <a:r>
              <a:rPr lang="en-US" altLang="zh-CN">
                <a:solidFill>
                  <a:srgbClr val="000000"/>
                </a:solidFill>
                <a:latin typeface="Arial" panose="020B0604020202020204" pitchFamily="34" charset="0"/>
                <a:ea typeface="宋体" panose="02010600030101010101" pitchFamily="2" charset="-122"/>
              </a:rPr>
              <a:t>E</a:t>
            </a:r>
            <a:r>
              <a:rPr lang="en-US" altLang="zh-CN" baseline="-25000">
                <a:solidFill>
                  <a:srgbClr val="000000"/>
                </a:solidFill>
                <a:latin typeface="Arial" panose="020B0604020202020204" pitchFamily="34" charset="0"/>
                <a:ea typeface="宋体" panose="02010600030101010101" pitchFamily="2" charset="-122"/>
              </a:rPr>
              <a:t>F</a:t>
            </a:r>
            <a:endParaRPr lang="en-US" altLang="zh-CN" baseline="-25000">
              <a:solidFill>
                <a:srgbClr val="000000"/>
              </a:solidFill>
              <a:latin typeface="Arial" panose="020B0604020202020204" pitchFamily="34" charset="0"/>
              <a:ea typeface="宋体" panose="02010600030101010101" pitchFamily="2" charset="-122"/>
            </a:endParaRPr>
          </a:p>
        </p:txBody>
      </p:sp>
      <p:sp>
        <p:nvSpPr>
          <p:cNvPr id="364553" name="Text Box 9"/>
          <p:cNvSpPr txBox="1">
            <a:spLocks noChangeArrowheads="1"/>
          </p:cNvSpPr>
          <p:nvPr/>
        </p:nvSpPr>
        <p:spPr bwMode="auto">
          <a:xfrm>
            <a:off x="6400800" y="1600201"/>
            <a:ext cx="3505200" cy="3749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lang="zh-CN" altLang="en-US" sz="2000">
                <a:solidFill>
                  <a:srgbClr val="000000"/>
                </a:solidFill>
                <a:latin typeface="楷体_GB2312" pitchFamily="49" charset="-122"/>
                <a:ea typeface="楷体_GB2312" pitchFamily="49" charset="-122"/>
              </a:rPr>
              <a:t>从图中看出，</a:t>
            </a:r>
            <a:r>
              <a:rPr lang="en-US" altLang="zh-CN" sz="2000">
                <a:solidFill>
                  <a:srgbClr val="000000"/>
                </a:solidFill>
                <a:latin typeface="楷体_GB2312" pitchFamily="49" charset="-122"/>
                <a:ea typeface="楷体_GB2312" pitchFamily="49" charset="-122"/>
              </a:rPr>
              <a:t>n</a:t>
            </a:r>
            <a:r>
              <a:rPr lang="zh-CN" altLang="en-US" sz="2000">
                <a:solidFill>
                  <a:srgbClr val="000000"/>
                </a:solidFill>
                <a:latin typeface="楷体_GB2312" pitchFamily="49" charset="-122"/>
                <a:ea typeface="楷体_GB2312" pitchFamily="49" charset="-122"/>
              </a:rPr>
              <a:t>区导带底比</a:t>
            </a:r>
            <a:r>
              <a:rPr lang="en-US" altLang="zh-CN" sz="2000">
                <a:solidFill>
                  <a:srgbClr val="000000"/>
                </a:solidFill>
                <a:latin typeface="楷体_GB2312" pitchFamily="49" charset="-122"/>
                <a:ea typeface="楷体_GB2312" pitchFamily="49" charset="-122"/>
              </a:rPr>
              <a:t>p</a:t>
            </a:r>
            <a:r>
              <a:rPr lang="zh-CN" altLang="en-US" sz="2000">
                <a:solidFill>
                  <a:srgbClr val="000000"/>
                </a:solidFill>
                <a:latin typeface="楷体_GB2312" pitchFamily="49" charset="-122"/>
                <a:ea typeface="楷体_GB2312" pitchFamily="49" charset="-122"/>
              </a:rPr>
              <a:t>区价带顶还低，因此，在</a:t>
            </a:r>
            <a:r>
              <a:rPr lang="en-US" altLang="zh-CN" sz="2000">
                <a:solidFill>
                  <a:srgbClr val="000000"/>
                </a:solidFill>
                <a:latin typeface="楷体_GB2312" pitchFamily="49" charset="-122"/>
                <a:ea typeface="楷体_GB2312" pitchFamily="49" charset="-122"/>
              </a:rPr>
              <a:t>n</a:t>
            </a:r>
            <a:r>
              <a:rPr lang="zh-CN" altLang="en-US" sz="2000">
                <a:solidFill>
                  <a:srgbClr val="000000"/>
                </a:solidFill>
                <a:latin typeface="楷体_GB2312" pitchFamily="49" charset="-122"/>
                <a:ea typeface="楷体_GB2312" pitchFamily="49" charset="-122"/>
              </a:rPr>
              <a:t>区的导带和</a:t>
            </a:r>
            <a:r>
              <a:rPr lang="en-US" altLang="zh-CN" sz="2000">
                <a:solidFill>
                  <a:srgbClr val="000000"/>
                </a:solidFill>
                <a:latin typeface="楷体_GB2312" pitchFamily="49" charset="-122"/>
                <a:ea typeface="楷体_GB2312" pitchFamily="49" charset="-122"/>
              </a:rPr>
              <a:t>p</a:t>
            </a:r>
            <a:r>
              <a:rPr lang="zh-CN" altLang="en-US" sz="2000">
                <a:solidFill>
                  <a:srgbClr val="000000"/>
                </a:solidFill>
                <a:latin typeface="楷体_GB2312" pitchFamily="49" charset="-122"/>
                <a:ea typeface="楷体_GB2312" pitchFamily="49" charset="-122"/>
              </a:rPr>
              <a:t>区的价带中出现具有相同能量的量子态。另外，在重掺杂情况下，</a:t>
            </a:r>
            <a:r>
              <a:rPr lang="zh-CN" altLang="en-US" sz="2000">
                <a:solidFill>
                  <a:srgbClr val="D43636"/>
                </a:solidFill>
                <a:latin typeface="楷体_GB2312" pitchFamily="49" charset="-122"/>
                <a:ea typeface="楷体_GB2312" pitchFamily="49" charset="-122"/>
              </a:rPr>
              <a:t>杂质浓度大</a:t>
            </a:r>
            <a:r>
              <a:rPr lang="zh-CN" altLang="en-US" sz="2000">
                <a:solidFill>
                  <a:srgbClr val="000000"/>
                </a:solidFill>
                <a:latin typeface="楷体_GB2312" pitchFamily="49" charset="-122"/>
                <a:ea typeface="楷体_GB2312" pitchFamily="49" charset="-122"/>
              </a:rPr>
              <a:t>，</a:t>
            </a:r>
            <a:r>
              <a:rPr lang="zh-CN" altLang="en-US" sz="2000">
                <a:solidFill>
                  <a:srgbClr val="D43636"/>
                </a:solidFill>
                <a:latin typeface="楷体_GB2312" pitchFamily="49" charset="-122"/>
                <a:ea typeface="楷体_GB2312" pitchFamily="49" charset="-122"/>
              </a:rPr>
              <a:t>势垒区很薄</a:t>
            </a:r>
            <a:r>
              <a:rPr lang="zh-CN" altLang="en-US" sz="2000">
                <a:solidFill>
                  <a:srgbClr val="000000"/>
                </a:solidFill>
                <a:latin typeface="楷体_GB2312" pitchFamily="49" charset="-122"/>
                <a:ea typeface="楷体_GB2312" pitchFamily="49" charset="-122"/>
              </a:rPr>
              <a:t>，由于量子力学的隧道效应，</a:t>
            </a:r>
            <a:r>
              <a:rPr lang="en-US" altLang="zh-CN" sz="2000">
                <a:solidFill>
                  <a:srgbClr val="000000"/>
                </a:solidFill>
                <a:latin typeface="楷体_GB2312" pitchFamily="49" charset="-122"/>
                <a:ea typeface="楷体_GB2312" pitchFamily="49" charset="-122"/>
              </a:rPr>
              <a:t>n</a:t>
            </a:r>
            <a:r>
              <a:rPr lang="zh-CN" altLang="en-US" sz="2000">
                <a:solidFill>
                  <a:srgbClr val="000000"/>
                </a:solidFill>
                <a:latin typeface="楷体_GB2312" pitchFamily="49" charset="-122"/>
                <a:ea typeface="楷体_GB2312" pitchFamily="49" charset="-122"/>
              </a:rPr>
              <a:t>区导带的电子可能穿过禁带到</a:t>
            </a:r>
            <a:r>
              <a:rPr lang="en-US" altLang="zh-CN" sz="2000">
                <a:solidFill>
                  <a:srgbClr val="000000"/>
                </a:solidFill>
                <a:latin typeface="楷体_GB2312" pitchFamily="49" charset="-122"/>
                <a:ea typeface="楷体_GB2312" pitchFamily="49" charset="-122"/>
              </a:rPr>
              <a:t>p</a:t>
            </a:r>
            <a:r>
              <a:rPr lang="zh-CN" altLang="en-US" sz="2000">
                <a:solidFill>
                  <a:srgbClr val="000000"/>
                </a:solidFill>
                <a:latin typeface="楷体_GB2312" pitchFamily="49" charset="-122"/>
                <a:ea typeface="楷体_GB2312" pitchFamily="49" charset="-122"/>
              </a:rPr>
              <a:t>区价带，从而有可能产生隧道电流。</a:t>
            </a:r>
            <a:r>
              <a:rPr lang="zh-CN" altLang="en-US" sz="2000">
                <a:solidFill>
                  <a:srgbClr val="D43636"/>
                </a:solidFill>
                <a:latin typeface="楷体_GB2312" pitchFamily="49" charset="-122"/>
                <a:ea typeface="楷体_GB2312" pitchFamily="49" charset="-122"/>
              </a:rPr>
              <a:t>隧道长度越短</a:t>
            </a:r>
            <a:r>
              <a:rPr lang="zh-CN" altLang="en-US" sz="2000">
                <a:solidFill>
                  <a:srgbClr val="000000"/>
                </a:solidFill>
                <a:latin typeface="楷体_GB2312" pitchFamily="49" charset="-122"/>
                <a:ea typeface="楷体_GB2312" pitchFamily="49" charset="-122"/>
              </a:rPr>
              <a:t>，电子穿过隧道的概率越大，从而可以产生显著的隧道电流。</a:t>
            </a:r>
            <a:endParaRPr lang="zh-CN" altLang="en-US" sz="2000">
              <a:solidFill>
                <a:srgbClr val="000000"/>
              </a:solidFill>
              <a:latin typeface="楷体_GB2312" pitchFamily="49" charset="-122"/>
              <a:ea typeface="楷体_GB2312" pitchFamily="49" charset="-122"/>
            </a:endParaRPr>
          </a:p>
        </p:txBody>
      </p:sp>
    </p:spTree>
  </p:cSld>
  <p:clrMapOvr>
    <a:masterClrMapping/>
  </p:clrMapOv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7618" name="Line 2"/>
          <p:cNvSpPr>
            <a:spLocks noChangeShapeType="1"/>
          </p:cNvSpPr>
          <p:nvPr/>
        </p:nvSpPr>
        <p:spPr bwMode="auto">
          <a:xfrm>
            <a:off x="4572000" y="838200"/>
            <a:ext cx="2057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67619" name="Line 3"/>
          <p:cNvSpPr>
            <a:spLocks noChangeShapeType="1"/>
          </p:cNvSpPr>
          <p:nvPr/>
        </p:nvSpPr>
        <p:spPr bwMode="auto">
          <a:xfrm>
            <a:off x="7772400" y="1981200"/>
            <a:ext cx="22098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67620" name="Line 4"/>
          <p:cNvSpPr>
            <a:spLocks noChangeShapeType="1"/>
          </p:cNvSpPr>
          <p:nvPr/>
        </p:nvSpPr>
        <p:spPr bwMode="auto">
          <a:xfrm>
            <a:off x="4572000" y="1752600"/>
            <a:ext cx="5410200" cy="0"/>
          </a:xfrm>
          <a:prstGeom prst="line">
            <a:avLst/>
          </a:prstGeom>
          <a:noFill/>
          <a:ln w="952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67621" name="Line 5"/>
          <p:cNvSpPr>
            <a:spLocks noChangeShapeType="1"/>
          </p:cNvSpPr>
          <p:nvPr/>
        </p:nvSpPr>
        <p:spPr bwMode="auto">
          <a:xfrm>
            <a:off x="6629400" y="838200"/>
            <a:ext cx="1143000" cy="1143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67622" name="Line 6"/>
          <p:cNvSpPr>
            <a:spLocks noChangeShapeType="1"/>
          </p:cNvSpPr>
          <p:nvPr/>
        </p:nvSpPr>
        <p:spPr bwMode="auto">
          <a:xfrm>
            <a:off x="6629400" y="1295400"/>
            <a:ext cx="1143000" cy="1143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67623" name="Line 7"/>
          <p:cNvSpPr>
            <a:spLocks noChangeShapeType="1"/>
          </p:cNvSpPr>
          <p:nvPr/>
        </p:nvSpPr>
        <p:spPr bwMode="auto">
          <a:xfrm>
            <a:off x="4572000" y="1295400"/>
            <a:ext cx="2057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67624" name="Line 8"/>
          <p:cNvSpPr>
            <a:spLocks noChangeShapeType="1"/>
          </p:cNvSpPr>
          <p:nvPr/>
        </p:nvSpPr>
        <p:spPr bwMode="auto">
          <a:xfrm>
            <a:off x="7772400" y="2438400"/>
            <a:ext cx="22098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67625" name="Line 9"/>
          <p:cNvSpPr>
            <a:spLocks noChangeShapeType="1"/>
          </p:cNvSpPr>
          <p:nvPr/>
        </p:nvSpPr>
        <p:spPr bwMode="auto">
          <a:xfrm flipH="1">
            <a:off x="7848600" y="1752600"/>
            <a:ext cx="152400" cy="228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67626" name="Line 10"/>
          <p:cNvSpPr>
            <a:spLocks noChangeShapeType="1"/>
          </p:cNvSpPr>
          <p:nvPr/>
        </p:nvSpPr>
        <p:spPr bwMode="auto">
          <a:xfrm flipH="1">
            <a:off x="8077200" y="1752600"/>
            <a:ext cx="152400" cy="228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67627" name="Line 11"/>
          <p:cNvSpPr>
            <a:spLocks noChangeShapeType="1"/>
          </p:cNvSpPr>
          <p:nvPr/>
        </p:nvSpPr>
        <p:spPr bwMode="auto">
          <a:xfrm flipH="1">
            <a:off x="8305800" y="1752600"/>
            <a:ext cx="152400" cy="228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67628" name="Line 12"/>
          <p:cNvSpPr>
            <a:spLocks noChangeShapeType="1"/>
          </p:cNvSpPr>
          <p:nvPr/>
        </p:nvSpPr>
        <p:spPr bwMode="auto">
          <a:xfrm flipH="1">
            <a:off x="8534400" y="1752600"/>
            <a:ext cx="152400" cy="228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67629" name="Line 13"/>
          <p:cNvSpPr>
            <a:spLocks noChangeShapeType="1"/>
          </p:cNvSpPr>
          <p:nvPr/>
        </p:nvSpPr>
        <p:spPr bwMode="auto">
          <a:xfrm flipH="1">
            <a:off x="8763000" y="1752600"/>
            <a:ext cx="152400" cy="228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67630" name="Line 14"/>
          <p:cNvSpPr>
            <a:spLocks noChangeShapeType="1"/>
          </p:cNvSpPr>
          <p:nvPr/>
        </p:nvSpPr>
        <p:spPr bwMode="auto">
          <a:xfrm flipH="1">
            <a:off x="9372600" y="1752600"/>
            <a:ext cx="152400" cy="228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67631" name="Line 15"/>
          <p:cNvSpPr>
            <a:spLocks noChangeShapeType="1"/>
          </p:cNvSpPr>
          <p:nvPr/>
        </p:nvSpPr>
        <p:spPr bwMode="auto">
          <a:xfrm flipH="1">
            <a:off x="9144000" y="1752600"/>
            <a:ext cx="152400" cy="228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67632" name="Line 16"/>
          <p:cNvSpPr>
            <a:spLocks noChangeShapeType="1"/>
          </p:cNvSpPr>
          <p:nvPr/>
        </p:nvSpPr>
        <p:spPr bwMode="auto">
          <a:xfrm flipH="1">
            <a:off x="8915400" y="1752600"/>
            <a:ext cx="152400" cy="228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67633" name="Line 17"/>
          <p:cNvSpPr>
            <a:spLocks noChangeShapeType="1"/>
          </p:cNvSpPr>
          <p:nvPr/>
        </p:nvSpPr>
        <p:spPr bwMode="auto">
          <a:xfrm flipH="1">
            <a:off x="9601200" y="1752600"/>
            <a:ext cx="152400" cy="228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67634" name="Line 18"/>
          <p:cNvSpPr>
            <a:spLocks noChangeShapeType="1"/>
          </p:cNvSpPr>
          <p:nvPr/>
        </p:nvSpPr>
        <p:spPr bwMode="auto">
          <a:xfrm flipH="1">
            <a:off x="4572000" y="1752600"/>
            <a:ext cx="304800" cy="3048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67635" name="Line 19"/>
          <p:cNvSpPr>
            <a:spLocks noChangeShapeType="1"/>
          </p:cNvSpPr>
          <p:nvPr/>
        </p:nvSpPr>
        <p:spPr bwMode="auto">
          <a:xfrm flipH="1">
            <a:off x="4572000" y="1752600"/>
            <a:ext cx="533400" cy="533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67636" name="Line 20"/>
          <p:cNvSpPr>
            <a:spLocks noChangeShapeType="1"/>
          </p:cNvSpPr>
          <p:nvPr/>
        </p:nvSpPr>
        <p:spPr bwMode="auto">
          <a:xfrm flipH="1">
            <a:off x="4572000" y="1752600"/>
            <a:ext cx="762000" cy="762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67637" name="Line 21"/>
          <p:cNvSpPr>
            <a:spLocks noChangeShapeType="1"/>
          </p:cNvSpPr>
          <p:nvPr/>
        </p:nvSpPr>
        <p:spPr bwMode="auto">
          <a:xfrm flipH="1">
            <a:off x="4572000" y="1752600"/>
            <a:ext cx="990600" cy="990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67638" name="Line 22"/>
          <p:cNvSpPr>
            <a:spLocks noChangeShapeType="1"/>
          </p:cNvSpPr>
          <p:nvPr/>
        </p:nvSpPr>
        <p:spPr bwMode="auto">
          <a:xfrm flipH="1">
            <a:off x="4572000" y="1752600"/>
            <a:ext cx="1143000" cy="1143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67639" name="Line 23"/>
          <p:cNvSpPr>
            <a:spLocks noChangeShapeType="1"/>
          </p:cNvSpPr>
          <p:nvPr/>
        </p:nvSpPr>
        <p:spPr bwMode="auto">
          <a:xfrm flipH="1">
            <a:off x="4572000" y="1752600"/>
            <a:ext cx="1371600" cy="1371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67640" name="Line 24"/>
          <p:cNvSpPr>
            <a:spLocks noChangeShapeType="1"/>
          </p:cNvSpPr>
          <p:nvPr/>
        </p:nvSpPr>
        <p:spPr bwMode="auto">
          <a:xfrm flipH="1">
            <a:off x="4724400" y="1752600"/>
            <a:ext cx="1524000" cy="1524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67641" name="Line 25"/>
          <p:cNvSpPr>
            <a:spLocks noChangeShapeType="1"/>
          </p:cNvSpPr>
          <p:nvPr/>
        </p:nvSpPr>
        <p:spPr bwMode="auto">
          <a:xfrm flipH="1">
            <a:off x="5029200" y="1752600"/>
            <a:ext cx="1524000" cy="1524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67642" name="Line 26"/>
          <p:cNvSpPr>
            <a:spLocks noChangeShapeType="1"/>
          </p:cNvSpPr>
          <p:nvPr/>
        </p:nvSpPr>
        <p:spPr bwMode="auto">
          <a:xfrm flipH="1">
            <a:off x="5257800" y="1752600"/>
            <a:ext cx="1524000" cy="1524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67643" name="Line 27"/>
          <p:cNvSpPr>
            <a:spLocks noChangeShapeType="1"/>
          </p:cNvSpPr>
          <p:nvPr/>
        </p:nvSpPr>
        <p:spPr bwMode="auto">
          <a:xfrm flipH="1">
            <a:off x="5562600" y="1752600"/>
            <a:ext cx="1524000" cy="1524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67644" name="Line 28"/>
          <p:cNvSpPr>
            <a:spLocks noChangeShapeType="1"/>
          </p:cNvSpPr>
          <p:nvPr/>
        </p:nvSpPr>
        <p:spPr bwMode="auto">
          <a:xfrm flipH="1">
            <a:off x="5791200" y="1905000"/>
            <a:ext cx="1447800" cy="14478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67645" name="Line 29"/>
          <p:cNvSpPr>
            <a:spLocks noChangeShapeType="1"/>
          </p:cNvSpPr>
          <p:nvPr/>
        </p:nvSpPr>
        <p:spPr bwMode="auto">
          <a:xfrm flipH="1">
            <a:off x="6400800" y="2209800"/>
            <a:ext cx="1143000" cy="1143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67646" name="Line 30"/>
          <p:cNvSpPr>
            <a:spLocks noChangeShapeType="1"/>
          </p:cNvSpPr>
          <p:nvPr/>
        </p:nvSpPr>
        <p:spPr bwMode="auto">
          <a:xfrm flipH="1">
            <a:off x="6096000" y="2057400"/>
            <a:ext cx="1295400" cy="1295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67647" name="Line 31"/>
          <p:cNvSpPr>
            <a:spLocks noChangeShapeType="1"/>
          </p:cNvSpPr>
          <p:nvPr/>
        </p:nvSpPr>
        <p:spPr bwMode="auto">
          <a:xfrm flipH="1">
            <a:off x="6629400" y="2362200"/>
            <a:ext cx="1066800" cy="10668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67648" name="Line 32"/>
          <p:cNvSpPr>
            <a:spLocks noChangeShapeType="1"/>
          </p:cNvSpPr>
          <p:nvPr/>
        </p:nvSpPr>
        <p:spPr bwMode="auto">
          <a:xfrm flipH="1">
            <a:off x="6858000" y="2438400"/>
            <a:ext cx="990600" cy="990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67649" name="Line 33"/>
          <p:cNvSpPr>
            <a:spLocks noChangeShapeType="1"/>
          </p:cNvSpPr>
          <p:nvPr/>
        </p:nvSpPr>
        <p:spPr bwMode="auto">
          <a:xfrm flipH="1">
            <a:off x="7162800" y="2438400"/>
            <a:ext cx="990600" cy="990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67650" name="Line 34"/>
          <p:cNvSpPr>
            <a:spLocks noChangeShapeType="1"/>
          </p:cNvSpPr>
          <p:nvPr/>
        </p:nvSpPr>
        <p:spPr bwMode="auto">
          <a:xfrm flipH="1">
            <a:off x="7467600" y="2438400"/>
            <a:ext cx="990600" cy="990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67651" name="Line 35"/>
          <p:cNvSpPr>
            <a:spLocks noChangeShapeType="1"/>
          </p:cNvSpPr>
          <p:nvPr/>
        </p:nvSpPr>
        <p:spPr bwMode="auto">
          <a:xfrm flipH="1">
            <a:off x="7772400" y="2438400"/>
            <a:ext cx="990600" cy="990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67652" name="Line 36"/>
          <p:cNvSpPr>
            <a:spLocks noChangeShapeType="1"/>
          </p:cNvSpPr>
          <p:nvPr/>
        </p:nvSpPr>
        <p:spPr bwMode="auto">
          <a:xfrm flipH="1">
            <a:off x="8001000" y="2438400"/>
            <a:ext cx="990600" cy="990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67653" name="Line 37"/>
          <p:cNvSpPr>
            <a:spLocks noChangeShapeType="1"/>
          </p:cNvSpPr>
          <p:nvPr/>
        </p:nvSpPr>
        <p:spPr bwMode="auto">
          <a:xfrm flipH="1">
            <a:off x="8305800" y="2438400"/>
            <a:ext cx="990600" cy="990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67654" name="Line 38"/>
          <p:cNvSpPr>
            <a:spLocks noChangeShapeType="1"/>
          </p:cNvSpPr>
          <p:nvPr/>
        </p:nvSpPr>
        <p:spPr bwMode="auto">
          <a:xfrm flipH="1">
            <a:off x="8610600" y="2438400"/>
            <a:ext cx="990600" cy="990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67655" name="Line 39"/>
          <p:cNvSpPr>
            <a:spLocks noChangeShapeType="1"/>
          </p:cNvSpPr>
          <p:nvPr/>
        </p:nvSpPr>
        <p:spPr bwMode="auto">
          <a:xfrm flipH="1">
            <a:off x="8839200" y="2438400"/>
            <a:ext cx="990600" cy="990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67656" name="Line 40"/>
          <p:cNvSpPr>
            <a:spLocks noChangeShapeType="1"/>
          </p:cNvSpPr>
          <p:nvPr/>
        </p:nvSpPr>
        <p:spPr bwMode="auto">
          <a:xfrm flipV="1">
            <a:off x="9067800" y="2590800"/>
            <a:ext cx="838200" cy="838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67657" name="Line 41"/>
          <p:cNvSpPr>
            <a:spLocks noChangeShapeType="1"/>
          </p:cNvSpPr>
          <p:nvPr/>
        </p:nvSpPr>
        <p:spPr bwMode="auto">
          <a:xfrm flipV="1">
            <a:off x="9448800" y="2819400"/>
            <a:ext cx="457200" cy="609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67658" name="Text Box 42"/>
          <p:cNvSpPr txBox="1">
            <a:spLocks noChangeArrowheads="1"/>
          </p:cNvSpPr>
          <p:nvPr/>
        </p:nvSpPr>
        <p:spPr bwMode="auto">
          <a:xfrm>
            <a:off x="4079876" y="620713"/>
            <a:ext cx="657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2400">
                <a:solidFill>
                  <a:srgbClr val="000000"/>
                </a:solidFill>
                <a:latin typeface="Times New Roman" panose="02020603050405020304" pitchFamily="18" charset="0"/>
                <a:ea typeface="宋体" panose="02010600030101010101" pitchFamily="2" charset="-122"/>
                <a:cs typeface="Times New Roman" panose="02020603050405020304" pitchFamily="18" charset="0"/>
              </a:rPr>
              <a:t>Ecp</a:t>
            </a:r>
            <a:endParaRPr kumimoji="1" lang="en-US" altLang="zh-CN" sz="240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67659" name="Text Box 43"/>
          <p:cNvSpPr txBox="1">
            <a:spLocks noChangeArrowheads="1"/>
          </p:cNvSpPr>
          <p:nvPr/>
        </p:nvSpPr>
        <p:spPr bwMode="auto">
          <a:xfrm>
            <a:off x="4079875" y="1125538"/>
            <a:ext cx="6746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2400">
                <a:solidFill>
                  <a:srgbClr val="000000"/>
                </a:solidFill>
                <a:latin typeface="Times New Roman" panose="02020603050405020304" pitchFamily="18" charset="0"/>
                <a:ea typeface="宋体" panose="02010600030101010101" pitchFamily="2" charset="-122"/>
                <a:cs typeface="Times New Roman" panose="02020603050405020304" pitchFamily="18" charset="0"/>
              </a:rPr>
              <a:t>Evp</a:t>
            </a:r>
            <a:endParaRPr kumimoji="1" lang="en-US" altLang="zh-CN" sz="240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67660" name="Text Box 44"/>
          <p:cNvSpPr txBox="1">
            <a:spLocks noChangeArrowheads="1"/>
          </p:cNvSpPr>
          <p:nvPr/>
        </p:nvSpPr>
        <p:spPr bwMode="auto">
          <a:xfrm>
            <a:off x="4098925" y="1489075"/>
            <a:ext cx="482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2400">
                <a:solidFill>
                  <a:srgbClr val="000000"/>
                </a:solidFill>
                <a:latin typeface="Times New Roman" panose="02020603050405020304" pitchFamily="18" charset="0"/>
                <a:ea typeface="宋体" panose="02010600030101010101" pitchFamily="2" charset="-122"/>
                <a:cs typeface="Times New Roman" panose="02020603050405020304" pitchFamily="18" charset="0"/>
              </a:rPr>
              <a:t>E</a:t>
            </a:r>
            <a:r>
              <a:rPr kumimoji="1" lang="en-US" altLang="zh-CN" sz="1600">
                <a:solidFill>
                  <a:srgbClr val="000000"/>
                </a:solidFill>
                <a:latin typeface="Times New Roman" panose="02020603050405020304" pitchFamily="18" charset="0"/>
                <a:ea typeface="宋体" panose="02010600030101010101" pitchFamily="2" charset="-122"/>
                <a:cs typeface="Times New Roman" panose="02020603050405020304" pitchFamily="18" charset="0"/>
              </a:rPr>
              <a:t>F</a:t>
            </a:r>
            <a:endParaRPr kumimoji="1" lang="en-US" altLang="zh-CN" sz="160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67661" name="Line 45"/>
          <p:cNvSpPr>
            <a:spLocks noChangeShapeType="1"/>
          </p:cNvSpPr>
          <p:nvPr/>
        </p:nvSpPr>
        <p:spPr bwMode="auto">
          <a:xfrm flipV="1">
            <a:off x="5105400" y="838200"/>
            <a:ext cx="0" cy="2286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67662" name="Line 46"/>
          <p:cNvSpPr>
            <a:spLocks noChangeShapeType="1"/>
          </p:cNvSpPr>
          <p:nvPr/>
        </p:nvSpPr>
        <p:spPr bwMode="auto">
          <a:xfrm>
            <a:off x="5105400" y="990600"/>
            <a:ext cx="0" cy="3048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67663" name="Text Box 47"/>
          <p:cNvSpPr txBox="1">
            <a:spLocks noChangeArrowheads="1"/>
          </p:cNvSpPr>
          <p:nvPr/>
        </p:nvSpPr>
        <p:spPr bwMode="auto">
          <a:xfrm>
            <a:off x="5241925" y="803275"/>
            <a:ext cx="522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2400">
                <a:solidFill>
                  <a:srgbClr val="000000"/>
                </a:solidFill>
                <a:latin typeface="Times New Roman" panose="02020603050405020304" pitchFamily="18" charset="0"/>
                <a:ea typeface="宋体" panose="02010600030101010101" pitchFamily="2" charset="-122"/>
                <a:cs typeface="Times New Roman" panose="02020603050405020304" pitchFamily="18" charset="0"/>
              </a:rPr>
              <a:t>Eg</a:t>
            </a:r>
            <a:endParaRPr kumimoji="1" lang="en-US" altLang="zh-CN" sz="240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67664" name="Rectangle 48"/>
          <p:cNvSpPr>
            <a:spLocks noChangeArrowheads="1"/>
          </p:cNvSpPr>
          <p:nvPr/>
        </p:nvSpPr>
        <p:spPr bwMode="auto">
          <a:xfrm>
            <a:off x="1524001" y="260350"/>
            <a:ext cx="28432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fontAlgn="base">
              <a:spcBef>
                <a:spcPct val="0"/>
              </a:spcBef>
              <a:spcAft>
                <a:spcPct val="0"/>
              </a:spcAft>
            </a:pPr>
            <a:r>
              <a:rPr kumimoji="1" lang="en-US" altLang="zh-CN" sz="3200" b="1">
                <a:solidFill>
                  <a:srgbClr val="D43636"/>
                </a:solidFill>
                <a:latin typeface="Times New Roman" panose="02020603050405020304" pitchFamily="18" charset="0"/>
                <a:ea typeface="宋体" panose="02010600030101010101" pitchFamily="2" charset="-122"/>
              </a:rPr>
              <a:t>(1) </a:t>
            </a:r>
            <a:r>
              <a:rPr kumimoji="1" lang="zh-CN" altLang="en-US" sz="3200" b="1">
                <a:solidFill>
                  <a:srgbClr val="D43636"/>
                </a:solidFill>
                <a:latin typeface="Times New Roman" panose="02020603050405020304" pitchFamily="18" charset="0"/>
                <a:ea typeface="宋体" panose="02010600030101010101" pitchFamily="2" charset="-122"/>
              </a:rPr>
              <a:t>平衡隧道结</a:t>
            </a:r>
            <a:endParaRPr kumimoji="1" lang="zh-CN" altLang="en-US" sz="3200" b="1">
              <a:solidFill>
                <a:srgbClr val="D43636"/>
              </a:solidFill>
              <a:latin typeface="Times New Roman" panose="02020603050405020304" pitchFamily="18" charset="0"/>
              <a:ea typeface="宋体" panose="02010600030101010101" pitchFamily="2" charset="-122"/>
            </a:endParaRPr>
          </a:p>
        </p:txBody>
      </p:sp>
      <p:sp>
        <p:nvSpPr>
          <p:cNvPr id="367665" name="Line 49"/>
          <p:cNvSpPr>
            <a:spLocks noChangeShapeType="1"/>
          </p:cNvSpPr>
          <p:nvPr/>
        </p:nvSpPr>
        <p:spPr bwMode="auto">
          <a:xfrm>
            <a:off x="6629400" y="304800"/>
            <a:ext cx="0" cy="3657600"/>
          </a:xfrm>
          <a:prstGeom prst="line">
            <a:avLst/>
          </a:prstGeom>
          <a:noFill/>
          <a:ln w="952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67666" name="Line 50"/>
          <p:cNvSpPr>
            <a:spLocks noChangeShapeType="1"/>
          </p:cNvSpPr>
          <p:nvPr/>
        </p:nvSpPr>
        <p:spPr bwMode="auto">
          <a:xfrm>
            <a:off x="7772400" y="381000"/>
            <a:ext cx="0" cy="3657600"/>
          </a:xfrm>
          <a:prstGeom prst="line">
            <a:avLst/>
          </a:prstGeom>
          <a:noFill/>
          <a:ln w="952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67667" name="Text Box 51"/>
          <p:cNvSpPr txBox="1">
            <a:spLocks noChangeArrowheads="1"/>
          </p:cNvSpPr>
          <p:nvPr/>
        </p:nvSpPr>
        <p:spPr bwMode="auto">
          <a:xfrm>
            <a:off x="5470526" y="269875"/>
            <a:ext cx="354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2400">
                <a:solidFill>
                  <a:srgbClr val="000000"/>
                </a:solidFill>
                <a:latin typeface="Times New Roman" panose="02020603050405020304" pitchFamily="18" charset="0"/>
                <a:ea typeface="宋体" panose="02010600030101010101" pitchFamily="2" charset="-122"/>
                <a:cs typeface="Times New Roman" panose="02020603050405020304" pitchFamily="18" charset="0"/>
              </a:rPr>
              <a:t>P</a:t>
            </a:r>
            <a:endParaRPr kumimoji="1" lang="en-US" altLang="zh-CN" sz="240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67668" name="Text Box 52"/>
          <p:cNvSpPr txBox="1">
            <a:spLocks noChangeArrowheads="1"/>
          </p:cNvSpPr>
          <p:nvPr/>
        </p:nvSpPr>
        <p:spPr bwMode="auto">
          <a:xfrm>
            <a:off x="8366126" y="346075"/>
            <a:ext cx="4048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2400">
                <a:solidFill>
                  <a:srgbClr val="000000"/>
                </a:solidFill>
                <a:latin typeface="Times New Roman" panose="02020603050405020304" pitchFamily="18" charset="0"/>
                <a:ea typeface="宋体" panose="02010600030101010101" pitchFamily="2" charset="-122"/>
              </a:rPr>
              <a:t>N</a:t>
            </a:r>
            <a:endParaRPr kumimoji="1" lang="en-US" altLang="zh-CN" sz="2400">
              <a:solidFill>
                <a:srgbClr val="000000"/>
              </a:solidFill>
              <a:latin typeface="Times New Roman" panose="02020603050405020304" pitchFamily="18" charset="0"/>
              <a:ea typeface="宋体" panose="02010600030101010101" pitchFamily="2" charset="-122"/>
            </a:endParaRPr>
          </a:p>
        </p:txBody>
      </p:sp>
      <p:sp>
        <p:nvSpPr>
          <p:cNvPr id="367669" name="Rectangle 53"/>
          <p:cNvSpPr>
            <a:spLocks noChangeArrowheads="1"/>
          </p:cNvSpPr>
          <p:nvPr/>
        </p:nvSpPr>
        <p:spPr bwMode="auto">
          <a:xfrm>
            <a:off x="1524001" y="3352800"/>
            <a:ext cx="493236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fontAlgn="base">
              <a:spcBef>
                <a:spcPct val="0"/>
              </a:spcBef>
              <a:spcAft>
                <a:spcPct val="0"/>
              </a:spcAft>
            </a:pPr>
            <a:r>
              <a:rPr kumimoji="1" lang="en-US" altLang="zh-CN" sz="3200" b="1">
                <a:solidFill>
                  <a:srgbClr val="D43636"/>
                </a:solidFill>
                <a:latin typeface="Times New Roman" panose="02020603050405020304" pitchFamily="18" charset="0"/>
                <a:ea typeface="宋体" panose="02010600030101010101" pitchFamily="2" charset="-122"/>
              </a:rPr>
              <a:t>(2) </a:t>
            </a:r>
            <a:r>
              <a:rPr kumimoji="1" lang="zh-CN" altLang="en-US" sz="3200" b="1">
                <a:solidFill>
                  <a:srgbClr val="D43636"/>
                </a:solidFill>
                <a:latin typeface="Times New Roman" panose="02020603050405020304" pitchFamily="18" charset="0"/>
                <a:ea typeface="宋体" panose="02010600030101010101" pitchFamily="2" charset="-122"/>
              </a:rPr>
              <a:t>正偏，电压</a:t>
            </a:r>
            <a:r>
              <a:rPr kumimoji="1" lang="en-US" altLang="zh-CN" sz="3200" b="1">
                <a:solidFill>
                  <a:srgbClr val="D43636"/>
                </a:solidFill>
                <a:latin typeface="Times New Roman" panose="02020603050405020304" pitchFamily="18" charset="0"/>
                <a:ea typeface="宋体" panose="02010600030101010101" pitchFamily="2" charset="-122"/>
              </a:rPr>
              <a:t>0</a:t>
            </a:r>
            <a:r>
              <a:rPr kumimoji="1" lang="zh-CN" altLang="en-US" sz="3200" b="1">
                <a:solidFill>
                  <a:srgbClr val="D43636"/>
                </a:solidFill>
                <a:latin typeface="Times New Roman" panose="02020603050405020304" pitchFamily="18" charset="0"/>
                <a:ea typeface="宋体" panose="02010600030101010101" pitchFamily="2" charset="-122"/>
              </a:rPr>
              <a:t>＜</a:t>
            </a:r>
            <a:r>
              <a:rPr kumimoji="1" lang="en-US" altLang="zh-CN" sz="3200" b="1">
                <a:solidFill>
                  <a:srgbClr val="D43636"/>
                </a:solidFill>
                <a:latin typeface="Times New Roman" panose="02020603050405020304" pitchFamily="18" charset="0"/>
                <a:ea typeface="宋体" panose="02010600030101010101" pitchFamily="2" charset="-122"/>
              </a:rPr>
              <a:t>V</a:t>
            </a:r>
            <a:r>
              <a:rPr kumimoji="1" lang="zh-CN" altLang="en-US" sz="3200" b="1">
                <a:solidFill>
                  <a:srgbClr val="D43636"/>
                </a:solidFill>
                <a:latin typeface="Times New Roman" panose="02020603050405020304" pitchFamily="18" charset="0"/>
                <a:ea typeface="宋体" panose="02010600030101010101" pitchFamily="2" charset="-122"/>
              </a:rPr>
              <a:t>＜</a:t>
            </a:r>
            <a:r>
              <a:rPr kumimoji="1" lang="en-US" altLang="zh-CN" sz="3200" b="1">
                <a:solidFill>
                  <a:srgbClr val="D43636"/>
                </a:solidFill>
                <a:latin typeface="Times New Roman" panose="02020603050405020304" pitchFamily="18" charset="0"/>
                <a:ea typeface="宋体" panose="02010600030101010101" pitchFamily="2" charset="-122"/>
              </a:rPr>
              <a:t>V</a:t>
            </a:r>
            <a:r>
              <a:rPr kumimoji="1" lang="en-US" altLang="zh-CN" sz="3200" b="1" baseline="-30000">
                <a:solidFill>
                  <a:srgbClr val="D43636"/>
                </a:solidFill>
                <a:latin typeface="Times New Roman" panose="02020603050405020304" pitchFamily="18" charset="0"/>
                <a:ea typeface="宋体" panose="02010600030101010101" pitchFamily="2" charset="-122"/>
              </a:rPr>
              <a:t>p</a:t>
            </a:r>
            <a:endParaRPr kumimoji="1" lang="en-US" altLang="zh-CN" sz="3200" b="1">
              <a:solidFill>
                <a:srgbClr val="D43636"/>
              </a:solidFill>
              <a:latin typeface="Times New Roman" panose="02020603050405020304" pitchFamily="18" charset="0"/>
              <a:ea typeface="宋体" panose="02010600030101010101" pitchFamily="2" charset="-122"/>
            </a:endParaRPr>
          </a:p>
        </p:txBody>
      </p:sp>
      <p:sp>
        <p:nvSpPr>
          <p:cNvPr id="367670" name="Line 54"/>
          <p:cNvSpPr>
            <a:spLocks noChangeShapeType="1"/>
          </p:cNvSpPr>
          <p:nvPr/>
        </p:nvSpPr>
        <p:spPr bwMode="auto">
          <a:xfrm flipH="1">
            <a:off x="7696200" y="4953000"/>
            <a:ext cx="152400" cy="228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67671" name="Line 55"/>
          <p:cNvSpPr>
            <a:spLocks noChangeShapeType="1"/>
          </p:cNvSpPr>
          <p:nvPr/>
        </p:nvSpPr>
        <p:spPr bwMode="auto">
          <a:xfrm flipH="1">
            <a:off x="9220200" y="4953000"/>
            <a:ext cx="152400" cy="228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67672" name="Line 56"/>
          <p:cNvSpPr>
            <a:spLocks noChangeShapeType="1"/>
          </p:cNvSpPr>
          <p:nvPr/>
        </p:nvSpPr>
        <p:spPr bwMode="auto">
          <a:xfrm flipH="1">
            <a:off x="9448800" y="4953000"/>
            <a:ext cx="152400" cy="228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67673" name="Line 57"/>
          <p:cNvSpPr>
            <a:spLocks noChangeShapeType="1"/>
          </p:cNvSpPr>
          <p:nvPr/>
        </p:nvSpPr>
        <p:spPr bwMode="auto">
          <a:xfrm flipV="1">
            <a:off x="4953000" y="4038600"/>
            <a:ext cx="0" cy="2286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67674" name="Line 58"/>
          <p:cNvSpPr>
            <a:spLocks noChangeShapeType="1"/>
          </p:cNvSpPr>
          <p:nvPr/>
        </p:nvSpPr>
        <p:spPr bwMode="auto">
          <a:xfrm>
            <a:off x="4392613" y="4017963"/>
            <a:ext cx="2057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67675" name="Line 59"/>
          <p:cNvSpPr>
            <a:spLocks noChangeShapeType="1"/>
          </p:cNvSpPr>
          <p:nvPr/>
        </p:nvSpPr>
        <p:spPr bwMode="auto">
          <a:xfrm>
            <a:off x="7593013" y="5160963"/>
            <a:ext cx="22098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67676" name="Line 60"/>
          <p:cNvSpPr>
            <a:spLocks noChangeShapeType="1"/>
          </p:cNvSpPr>
          <p:nvPr/>
        </p:nvSpPr>
        <p:spPr bwMode="auto">
          <a:xfrm>
            <a:off x="4413250" y="5064125"/>
            <a:ext cx="4032250" cy="0"/>
          </a:xfrm>
          <a:prstGeom prst="line">
            <a:avLst/>
          </a:prstGeom>
          <a:noFill/>
          <a:ln w="952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67677" name="Line 61"/>
          <p:cNvSpPr>
            <a:spLocks noChangeShapeType="1"/>
          </p:cNvSpPr>
          <p:nvPr/>
        </p:nvSpPr>
        <p:spPr bwMode="auto">
          <a:xfrm>
            <a:off x="6450013" y="4017963"/>
            <a:ext cx="1143000" cy="1143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67678" name="Line 62"/>
          <p:cNvSpPr>
            <a:spLocks noChangeShapeType="1"/>
          </p:cNvSpPr>
          <p:nvPr/>
        </p:nvSpPr>
        <p:spPr bwMode="auto">
          <a:xfrm>
            <a:off x="6450013" y="4475163"/>
            <a:ext cx="1143000" cy="1143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67679" name="Line 63"/>
          <p:cNvSpPr>
            <a:spLocks noChangeShapeType="1"/>
          </p:cNvSpPr>
          <p:nvPr/>
        </p:nvSpPr>
        <p:spPr bwMode="auto">
          <a:xfrm>
            <a:off x="4392613" y="4475163"/>
            <a:ext cx="2057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67680" name="Line 64"/>
          <p:cNvSpPr>
            <a:spLocks noChangeShapeType="1"/>
          </p:cNvSpPr>
          <p:nvPr/>
        </p:nvSpPr>
        <p:spPr bwMode="auto">
          <a:xfrm>
            <a:off x="7593013" y="5618163"/>
            <a:ext cx="22098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67681" name="Line 65"/>
          <p:cNvSpPr>
            <a:spLocks noChangeShapeType="1"/>
          </p:cNvSpPr>
          <p:nvPr/>
        </p:nvSpPr>
        <p:spPr bwMode="auto">
          <a:xfrm flipH="1">
            <a:off x="7897813" y="4932363"/>
            <a:ext cx="152400" cy="228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67682" name="Line 66"/>
          <p:cNvSpPr>
            <a:spLocks noChangeShapeType="1"/>
          </p:cNvSpPr>
          <p:nvPr/>
        </p:nvSpPr>
        <p:spPr bwMode="auto">
          <a:xfrm flipH="1">
            <a:off x="8126413" y="4932363"/>
            <a:ext cx="152400" cy="228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67683" name="Line 67"/>
          <p:cNvSpPr>
            <a:spLocks noChangeShapeType="1"/>
          </p:cNvSpPr>
          <p:nvPr/>
        </p:nvSpPr>
        <p:spPr bwMode="auto">
          <a:xfrm flipH="1">
            <a:off x="8355013" y="4932363"/>
            <a:ext cx="152400" cy="228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67684" name="Line 68"/>
          <p:cNvSpPr>
            <a:spLocks noChangeShapeType="1"/>
          </p:cNvSpPr>
          <p:nvPr/>
        </p:nvSpPr>
        <p:spPr bwMode="auto">
          <a:xfrm flipH="1">
            <a:off x="8583613" y="4932363"/>
            <a:ext cx="152400" cy="228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67685" name="Line 69"/>
          <p:cNvSpPr>
            <a:spLocks noChangeShapeType="1"/>
          </p:cNvSpPr>
          <p:nvPr/>
        </p:nvSpPr>
        <p:spPr bwMode="auto">
          <a:xfrm flipH="1">
            <a:off x="8964613" y="4932363"/>
            <a:ext cx="152400" cy="228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67686" name="Line 70"/>
          <p:cNvSpPr>
            <a:spLocks noChangeShapeType="1"/>
          </p:cNvSpPr>
          <p:nvPr/>
        </p:nvSpPr>
        <p:spPr bwMode="auto">
          <a:xfrm flipH="1">
            <a:off x="8736013" y="4932363"/>
            <a:ext cx="152400" cy="228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67687" name="Line 71"/>
          <p:cNvSpPr>
            <a:spLocks noChangeShapeType="1"/>
          </p:cNvSpPr>
          <p:nvPr/>
        </p:nvSpPr>
        <p:spPr bwMode="auto">
          <a:xfrm flipH="1">
            <a:off x="4392614" y="5137151"/>
            <a:ext cx="92075" cy="10001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67688" name="Line 72"/>
          <p:cNvSpPr>
            <a:spLocks noChangeShapeType="1"/>
          </p:cNvSpPr>
          <p:nvPr/>
        </p:nvSpPr>
        <p:spPr bwMode="auto">
          <a:xfrm flipH="1">
            <a:off x="4392613" y="5064125"/>
            <a:ext cx="381000" cy="40163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67689" name="Line 73"/>
          <p:cNvSpPr>
            <a:spLocks noChangeShapeType="1"/>
          </p:cNvSpPr>
          <p:nvPr/>
        </p:nvSpPr>
        <p:spPr bwMode="auto">
          <a:xfrm flipH="1">
            <a:off x="4392614" y="5064125"/>
            <a:ext cx="668337" cy="63023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67690" name="Line 74"/>
          <p:cNvSpPr>
            <a:spLocks noChangeShapeType="1"/>
          </p:cNvSpPr>
          <p:nvPr/>
        </p:nvSpPr>
        <p:spPr bwMode="auto">
          <a:xfrm flipH="1">
            <a:off x="4392614" y="5064125"/>
            <a:ext cx="884237" cy="85883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67691" name="Line 75"/>
          <p:cNvSpPr>
            <a:spLocks noChangeShapeType="1"/>
          </p:cNvSpPr>
          <p:nvPr/>
        </p:nvSpPr>
        <p:spPr bwMode="auto">
          <a:xfrm flipH="1">
            <a:off x="4392613" y="5064125"/>
            <a:ext cx="1028700" cy="101123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67692" name="Line 76"/>
          <p:cNvSpPr>
            <a:spLocks noChangeShapeType="1"/>
          </p:cNvSpPr>
          <p:nvPr/>
        </p:nvSpPr>
        <p:spPr bwMode="auto">
          <a:xfrm flipH="1">
            <a:off x="4392613" y="5064125"/>
            <a:ext cx="1244600" cy="123983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67693" name="Line 77"/>
          <p:cNvSpPr>
            <a:spLocks noChangeShapeType="1"/>
          </p:cNvSpPr>
          <p:nvPr/>
        </p:nvSpPr>
        <p:spPr bwMode="auto">
          <a:xfrm flipH="1">
            <a:off x="4545014" y="5064125"/>
            <a:ext cx="1379537" cy="139223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67694" name="Line 78"/>
          <p:cNvSpPr>
            <a:spLocks noChangeShapeType="1"/>
          </p:cNvSpPr>
          <p:nvPr/>
        </p:nvSpPr>
        <p:spPr bwMode="auto">
          <a:xfrm flipH="1">
            <a:off x="4849813" y="5064125"/>
            <a:ext cx="1363662" cy="139223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67695" name="Line 79"/>
          <p:cNvSpPr>
            <a:spLocks noChangeShapeType="1"/>
          </p:cNvSpPr>
          <p:nvPr/>
        </p:nvSpPr>
        <p:spPr bwMode="auto">
          <a:xfrm flipH="1">
            <a:off x="5078413" y="5064125"/>
            <a:ext cx="1350962" cy="139223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67696" name="Line 80"/>
          <p:cNvSpPr>
            <a:spLocks noChangeShapeType="1"/>
          </p:cNvSpPr>
          <p:nvPr/>
        </p:nvSpPr>
        <p:spPr bwMode="auto">
          <a:xfrm flipH="1">
            <a:off x="5383214" y="5064125"/>
            <a:ext cx="1406525" cy="139223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67697" name="Line 81"/>
          <p:cNvSpPr>
            <a:spLocks noChangeShapeType="1"/>
          </p:cNvSpPr>
          <p:nvPr/>
        </p:nvSpPr>
        <p:spPr bwMode="auto">
          <a:xfrm flipH="1">
            <a:off x="5611813" y="5084763"/>
            <a:ext cx="1447800" cy="14478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67698" name="Line 82"/>
          <p:cNvSpPr>
            <a:spLocks noChangeShapeType="1"/>
          </p:cNvSpPr>
          <p:nvPr/>
        </p:nvSpPr>
        <p:spPr bwMode="auto">
          <a:xfrm flipH="1">
            <a:off x="6221413" y="5389563"/>
            <a:ext cx="1143000" cy="1143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67699" name="Line 83"/>
          <p:cNvSpPr>
            <a:spLocks noChangeShapeType="1"/>
          </p:cNvSpPr>
          <p:nvPr/>
        </p:nvSpPr>
        <p:spPr bwMode="auto">
          <a:xfrm flipH="1">
            <a:off x="5916613" y="5237163"/>
            <a:ext cx="1295400" cy="1295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67700" name="Line 84"/>
          <p:cNvSpPr>
            <a:spLocks noChangeShapeType="1"/>
          </p:cNvSpPr>
          <p:nvPr/>
        </p:nvSpPr>
        <p:spPr bwMode="auto">
          <a:xfrm flipH="1">
            <a:off x="6450013" y="5541963"/>
            <a:ext cx="1066800" cy="10668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67701" name="Line 85"/>
          <p:cNvSpPr>
            <a:spLocks noChangeShapeType="1"/>
          </p:cNvSpPr>
          <p:nvPr/>
        </p:nvSpPr>
        <p:spPr bwMode="auto">
          <a:xfrm flipH="1">
            <a:off x="6678613" y="5618163"/>
            <a:ext cx="990600" cy="990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67702" name="Line 86"/>
          <p:cNvSpPr>
            <a:spLocks noChangeShapeType="1"/>
          </p:cNvSpPr>
          <p:nvPr/>
        </p:nvSpPr>
        <p:spPr bwMode="auto">
          <a:xfrm flipH="1">
            <a:off x="6983413" y="5618163"/>
            <a:ext cx="990600" cy="990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67703" name="Line 87"/>
          <p:cNvSpPr>
            <a:spLocks noChangeShapeType="1"/>
          </p:cNvSpPr>
          <p:nvPr/>
        </p:nvSpPr>
        <p:spPr bwMode="auto">
          <a:xfrm flipH="1">
            <a:off x="7288213" y="5618163"/>
            <a:ext cx="990600" cy="990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67704" name="Line 88"/>
          <p:cNvSpPr>
            <a:spLocks noChangeShapeType="1"/>
          </p:cNvSpPr>
          <p:nvPr/>
        </p:nvSpPr>
        <p:spPr bwMode="auto">
          <a:xfrm flipH="1">
            <a:off x="7593013" y="5618163"/>
            <a:ext cx="990600" cy="990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67705" name="Line 89"/>
          <p:cNvSpPr>
            <a:spLocks noChangeShapeType="1"/>
          </p:cNvSpPr>
          <p:nvPr/>
        </p:nvSpPr>
        <p:spPr bwMode="auto">
          <a:xfrm flipH="1">
            <a:off x="7821613" y="5618163"/>
            <a:ext cx="990600" cy="990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67706" name="Line 90"/>
          <p:cNvSpPr>
            <a:spLocks noChangeShapeType="1"/>
          </p:cNvSpPr>
          <p:nvPr/>
        </p:nvSpPr>
        <p:spPr bwMode="auto">
          <a:xfrm flipH="1">
            <a:off x="8126413" y="5618163"/>
            <a:ext cx="990600" cy="990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67707" name="Line 91"/>
          <p:cNvSpPr>
            <a:spLocks noChangeShapeType="1"/>
          </p:cNvSpPr>
          <p:nvPr/>
        </p:nvSpPr>
        <p:spPr bwMode="auto">
          <a:xfrm flipH="1">
            <a:off x="8431213" y="5618163"/>
            <a:ext cx="990600" cy="990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67708" name="Line 92"/>
          <p:cNvSpPr>
            <a:spLocks noChangeShapeType="1"/>
          </p:cNvSpPr>
          <p:nvPr/>
        </p:nvSpPr>
        <p:spPr bwMode="auto">
          <a:xfrm flipH="1">
            <a:off x="8659813" y="5618163"/>
            <a:ext cx="990600" cy="990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67709" name="Line 93"/>
          <p:cNvSpPr>
            <a:spLocks noChangeShapeType="1"/>
          </p:cNvSpPr>
          <p:nvPr/>
        </p:nvSpPr>
        <p:spPr bwMode="auto">
          <a:xfrm flipV="1">
            <a:off x="8888413" y="5770563"/>
            <a:ext cx="838200" cy="838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67710" name="Line 94"/>
          <p:cNvSpPr>
            <a:spLocks noChangeShapeType="1"/>
          </p:cNvSpPr>
          <p:nvPr/>
        </p:nvSpPr>
        <p:spPr bwMode="auto">
          <a:xfrm flipV="1">
            <a:off x="9269413" y="5999163"/>
            <a:ext cx="457200" cy="609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67711" name="Text Box 95"/>
          <p:cNvSpPr txBox="1">
            <a:spLocks noChangeArrowheads="1"/>
          </p:cNvSpPr>
          <p:nvPr/>
        </p:nvSpPr>
        <p:spPr bwMode="auto">
          <a:xfrm>
            <a:off x="3995739" y="4287838"/>
            <a:ext cx="6746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2400">
                <a:solidFill>
                  <a:srgbClr val="000000"/>
                </a:solidFill>
                <a:latin typeface="Times New Roman" panose="02020603050405020304" pitchFamily="18" charset="0"/>
                <a:ea typeface="宋体" panose="02010600030101010101" pitchFamily="2" charset="-122"/>
                <a:cs typeface="Times New Roman" panose="02020603050405020304" pitchFamily="18" charset="0"/>
              </a:rPr>
              <a:t>Evp</a:t>
            </a:r>
            <a:endParaRPr kumimoji="1" lang="en-US" altLang="zh-CN" sz="240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67712" name="Line 96"/>
          <p:cNvSpPr>
            <a:spLocks noChangeShapeType="1"/>
          </p:cNvSpPr>
          <p:nvPr/>
        </p:nvSpPr>
        <p:spPr bwMode="auto">
          <a:xfrm>
            <a:off x="4926013" y="4170363"/>
            <a:ext cx="0" cy="3048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67713" name="Text Box 97"/>
          <p:cNvSpPr txBox="1">
            <a:spLocks noChangeArrowheads="1"/>
          </p:cNvSpPr>
          <p:nvPr/>
        </p:nvSpPr>
        <p:spPr bwMode="auto">
          <a:xfrm>
            <a:off x="5062539" y="3983038"/>
            <a:ext cx="522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2400">
                <a:solidFill>
                  <a:srgbClr val="000000"/>
                </a:solidFill>
                <a:latin typeface="Times New Roman" panose="02020603050405020304" pitchFamily="18" charset="0"/>
                <a:ea typeface="宋体" panose="02010600030101010101" pitchFamily="2" charset="-122"/>
                <a:cs typeface="Times New Roman" panose="02020603050405020304" pitchFamily="18" charset="0"/>
              </a:rPr>
              <a:t>Eg</a:t>
            </a:r>
            <a:endParaRPr kumimoji="1" lang="en-US" altLang="zh-CN" sz="240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67714" name="Line 98"/>
          <p:cNvSpPr>
            <a:spLocks noChangeShapeType="1"/>
          </p:cNvSpPr>
          <p:nvPr/>
        </p:nvSpPr>
        <p:spPr bwMode="auto">
          <a:xfrm>
            <a:off x="7364413" y="4932363"/>
            <a:ext cx="2514600" cy="0"/>
          </a:xfrm>
          <a:prstGeom prst="line">
            <a:avLst/>
          </a:prstGeom>
          <a:noFill/>
          <a:ln w="952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67715" name="Line 99"/>
          <p:cNvSpPr>
            <a:spLocks noChangeShapeType="1"/>
          </p:cNvSpPr>
          <p:nvPr/>
        </p:nvSpPr>
        <p:spPr bwMode="auto">
          <a:xfrm flipH="1">
            <a:off x="7059613" y="5008563"/>
            <a:ext cx="3048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67716" name="Text Box 100"/>
          <p:cNvSpPr txBox="1">
            <a:spLocks noChangeArrowheads="1"/>
          </p:cNvSpPr>
          <p:nvPr/>
        </p:nvSpPr>
        <p:spPr bwMode="auto">
          <a:xfrm>
            <a:off x="3935414" y="3789363"/>
            <a:ext cx="657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2400">
                <a:solidFill>
                  <a:srgbClr val="000000"/>
                </a:solidFill>
                <a:latin typeface="Times New Roman" panose="02020603050405020304" pitchFamily="18" charset="0"/>
                <a:ea typeface="宋体" panose="02010600030101010101" pitchFamily="2" charset="-122"/>
                <a:cs typeface="Times New Roman" panose="02020603050405020304" pitchFamily="18" charset="0"/>
              </a:rPr>
              <a:t>Ecp</a:t>
            </a:r>
            <a:endParaRPr kumimoji="1" lang="en-US" altLang="zh-CN" sz="240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67717" name="Rectangle 101"/>
          <p:cNvSpPr>
            <a:spLocks noChangeArrowheads="1"/>
          </p:cNvSpPr>
          <p:nvPr/>
        </p:nvSpPr>
        <p:spPr bwMode="auto">
          <a:xfrm>
            <a:off x="7608888" y="4941888"/>
            <a:ext cx="2209800" cy="131762"/>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67718" name="Text Box 102"/>
          <p:cNvSpPr txBox="1">
            <a:spLocks noChangeArrowheads="1"/>
          </p:cNvSpPr>
          <p:nvPr/>
        </p:nvSpPr>
        <p:spPr bwMode="auto">
          <a:xfrm>
            <a:off x="4038601" y="4743450"/>
            <a:ext cx="6016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US" altLang="zh-CN" sz="2400">
                <a:solidFill>
                  <a:srgbClr val="000000"/>
                </a:solidFill>
                <a:latin typeface="Garamond" panose="02020404030301010803" pitchFamily="18" charset="0"/>
                <a:ea typeface="宋体" panose="02010600030101010101" pitchFamily="2" charset="-122"/>
              </a:rPr>
              <a:t>E</a:t>
            </a:r>
            <a:r>
              <a:rPr lang="en-US" altLang="zh-CN" sz="2400" baseline="-25000">
                <a:solidFill>
                  <a:srgbClr val="000000"/>
                </a:solidFill>
                <a:latin typeface="Garamond" panose="02020404030301010803" pitchFamily="18" charset="0"/>
                <a:ea typeface="宋体" panose="02010600030101010101" pitchFamily="2" charset="-122"/>
              </a:rPr>
              <a:t>Fp</a:t>
            </a:r>
            <a:endParaRPr lang="en-US" altLang="zh-CN" sz="2400" baseline="-25000">
              <a:solidFill>
                <a:srgbClr val="000000"/>
              </a:solidFill>
              <a:latin typeface="Garamond" panose="02020404030301010803" pitchFamily="18" charset="0"/>
              <a:ea typeface="宋体" panose="02010600030101010101" pitchFamily="2" charset="-122"/>
            </a:endParaRPr>
          </a:p>
        </p:txBody>
      </p:sp>
      <p:sp>
        <p:nvSpPr>
          <p:cNvPr id="367719" name="Text Box 103"/>
          <p:cNvSpPr txBox="1">
            <a:spLocks noChangeArrowheads="1"/>
          </p:cNvSpPr>
          <p:nvPr/>
        </p:nvSpPr>
        <p:spPr bwMode="auto">
          <a:xfrm>
            <a:off x="7175501" y="4202114"/>
            <a:ext cx="2040943"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zh-CN" altLang="en-US" sz="2400" b="1">
                <a:solidFill>
                  <a:srgbClr val="000000"/>
                </a:solidFill>
                <a:latin typeface="Garamond" panose="02020404030301010803" pitchFamily="18" charset="0"/>
                <a:ea typeface="宋体" panose="02010600030101010101" pitchFamily="2" charset="-122"/>
              </a:rPr>
              <a:t>正向隧道电流</a:t>
            </a:r>
            <a:endParaRPr lang="zh-CN" altLang="en-US" sz="2400" b="1">
              <a:solidFill>
                <a:srgbClr val="000000"/>
              </a:solidFill>
              <a:latin typeface="Garamond" panose="02020404030301010803" pitchFamily="18" charset="0"/>
              <a:ea typeface="宋体" panose="02010600030101010101" pitchFamily="2" charset="-122"/>
            </a:endParaRPr>
          </a:p>
          <a:p>
            <a:pPr fontAlgn="base">
              <a:spcBef>
                <a:spcPct val="0"/>
              </a:spcBef>
              <a:spcAft>
                <a:spcPct val="0"/>
              </a:spcAft>
            </a:pPr>
            <a:endParaRPr lang="zh-CN" altLang="en-US" sz="2400" b="1">
              <a:solidFill>
                <a:srgbClr val="000000"/>
              </a:solidFill>
              <a:latin typeface="Garamond" panose="02020404030301010803" pitchFamily="18" charset="0"/>
              <a:ea typeface="宋体" panose="02010600030101010101" pitchFamily="2" charset="-122"/>
            </a:endParaRPr>
          </a:p>
        </p:txBody>
      </p:sp>
      <p:sp>
        <p:nvSpPr>
          <p:cNvPr id="367721" name="Text Box 105"/>
          <p:cNvSpPr txBox="1">
            <a:spLocks noChangeArrowheads="1"/>
          </p:cNvSpPr>
          <p:nvPr/>
        </p:nvSpPr>
        <p:spPr bwMode="auto">
          <a:xfrm>
            <a:off x="2063750" y="1447801"/>
            <a:ext cx="176683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US" altLang="zh-CN" sz="2400" b="1">
                <a:solidFill>
                  <a:srgbClr val="000000"/>
                </a:solidFill>
                <a:latin typeface="Garamond" panose="02020404030301010803" pitchFamily="18" charset="0"/>
                <a:ea typeface="宋体" panose="02010600030101010101" pitchFamily="2" charset="-122"/>
              </a:rPr>
              <a:t>E</a:t>
            </a:r>
            <a:r>
              <a:rPr lang="en-US" altLang="zh-CN" sz="2400" b="1" baseline="-25000">
                <a:solidFill>
                  <a:srgbClr val="000000"/>
                </a:solidFill>
                <a:latin typeface="Garamond" panose="02020404030301010803" pitchFamily="18" charset="0"/>
                <a:ea typeface="宋体" panose="02010600030101010101" pitchFamily="2" charset="-122"/>
              </a:rPr>
              <a:t>F</a:t>
            </a:r>
            <a:r>
              <a:rPr lang="zh-CN" altLang="en-US" sz="2400" b="1">
                <a:solidFill>
                  <a:srgbClr val="000000"/>
                </a:solidFill>
                <a:latin typeface="Garamond" panose="02020404030301010803" pitchFamily="18" charset="0"/>
                <a:ea typeface="宋体" panose="02010600030101010101" pitchFamily="2" charset="-122"/>
              </a:rPr>
              <a:t>上空态，</a:t>
            </a:r>
            <a:endParaRPr lang="zh-CN" altLang="en-US" sz="2400" b="1">
              <a:solidFill>
                <a:srgbClr val="000000"/>
              </a:solidFill>
              <a:latin typeface="Garamond" panose="02020404030301010803" pitchFamily="18" charset="0"/>
              <a:ea typeface="宋体" panose="02010600030101010101" pitchFamily="2" charset="-122"/>
            </a:endParaRPr>
          </a:p>
          <a:p>
            <a:pPr fontAlgn="base">
              <a:spcBef>
                <a:spcPct val="0"/>
              </a:spcBef>
              <a:spcAft>
                <a:spcPct val="0"/>
              </a:spcAft>
            </a:pPr>
            <a:r>
              <a:rPr lang="en-US" altLang="zh-CN" sz="2400" b="1">
                <a:solidFill>
                  <a:srgbClr val="000000"/>
                </a:solidFill>
                <a:latin typeface="Garamond" panose="02020404030301010803" pitchFamily="18" charset="0"/>
                <a:ea typeface="宋体" panose="02010600030101010101" pitchFamily="2" charset="-122"/>
              </a:rPr>
              <a:t>E</a:t>
            </a:r>
            <a:r>
              <a:rPr lang="en-US" altLang="zh-CN" sz="2400" b="1" baseline="-25000">
                <a:solidFill>
                  <a:srgbClr val="000000"/>
                </a:solidFill>
                <a:latin typeface="Garamond" panose="02020404030301010803" pitchFamily="18" charset="0"/>
                <a:ea typeface="宋体" panose="02010600030101010101" pitchFamily="2" charset="-122"/>
              </a:rPr>
              <a:t>F</a:t>
            </a:r>
            <a:r>
              <a:rPr lang="zh-CN" altLang="en-US" sz="2400" b="1">
                <a:solidFill>
                  <a:srgbClr val="000000"/>
                </a:solidFill>
                <a:latin typeface="Garamond" panose="02020404030301010803" pitchFamily="18" charset="0"/>
                <a:ea typeface="宋体" panose="02010600030101010101" pitchFamily="2" charset="-122"/>
              </a:rPr>
              <a:t>下占满</a:t>
            </a:r>
            <a:endParaRPr lang="zh-CN" altLang="en-US" sz="2400" b="1">
              <a:solidFill>
                <a:srgbClr val="000000"/>
              </a:solidFill>
              <a:latin typeface="Garamond" panose="02020404030301010803" pitchFamily="18" charset="0"/>
              <a:ea typeface="宋体" panose="02010600030101010101" pitchFamily="2" charset="-122"/>
            </a:endParaRPr>
          </a:p>
        </p:txBody>
      </p:sp>
      <p:sp>
        <p:nvSpPr>
          <p:cNvPr id="367722" name="Text Box 106"/>
          <p:cNvSpPr txBox="1">
            <a:spLocks noChangeArrowheads="1"/>
          </p:cNvSpPr>
          <p:nvPr/>
        </p:nvSpPr>
        <p:spPr bwMode="auto">
          <a:xfrm>
            <a:off x="2259013" y="2274889"/>
            <a:ext cx="11493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zh-CN" altLang="en-US" sz="3200">
                <a:solidFill>
                  <a:srgbClr val="000000"/>
                </a:solidFill>
                <a:latin typeface="Garamond" panose="02020404030301010803" pitchFamily="18" charset="0"/>
                <a:ea typeface="宋体" panose="02010600030101010101" pitchFamily="2" charset="-122"/>
                <a:sym typeface="Symbol" panose="05050102010706020507" pitchFamily="18" charset="2"/>
              </a:rPr>
              <a:t></a:t>
            </a:r>
            <a:r>
              <a:rPr lang="en-US" altLang="zh-CN" sz="3200" b="1" i="1">
                <a:solidFill>
                  <a:srgbClr val="000000"/>
                </a:solidFill>
                <a:latin typeface="Garamond" panose="02020404030301010803" pitchFamily="18" charset="0"/>
                <a:ea typeface="宋体" panose="02010600030101010101" pitchFamily="2" charset="-122"/>
                <a:sym typeface="Symbol" panose="05050102010706020507" pitchFamily="18" charset="2"/>
              </a:rPr>
              <a:t>J</a:t>
            </a:r>
            <a:r>
              <a:rPr lang="en-US" altLang="zh-CN" sz="3200">
                <a:solidFill>
                  <a:srgbClr val="000000"/>
                </a:solidFill>
                <a:latin typeface="Garamond" panose="02020404030301010803" pitchFamily="18" charset="0"/>
                <a:ea typeface="宋体" panose="02010600030101010101" pitchFamily="2" charset="-122"/>
                <a:sym typeface="Symbol" panose="05050102010706020507" pitchFamily="18" charset="2"/>
              </a:rPr>
              <a:t>=0</a:t>
            </a:r>
            <a:endParaRPr lang="en-US" altLang="zh-CN" sz="3200">
              <a:solidFill>
                <a:srgbClr val="000000"/>
              </a:solidFill>
              <a:latin typeface="Garamond" panose="02020404030301010803" pitchFamily="18" charset="0"/>
              <a:ea typeface="宋体" panose="02010600030101010101" pitchFamily="2" charset="-122"/>
              <a:sym typeface="Symbol" panose="05050102010706020507" pitchFamily="18" charset="2"/>
            </a:endParaRPr>
          </a:p>
        </p:txBody>
      </p:sp>
      <p:sp>
        <p:nvSpPr>
          <p:cNvPr id="367723" name="Text Box 107"/>
          <p:cNvSpPr txBox="1">
            <a:spLocks noChangeArrowheads="1"/>
          </p:cNvSpPr>
          <p:nvPr/>
        </p:nvSpPr>
        <p:spPr bwMode="auto">
          <a:xfrm>
            <a:off x="10010776" y="1773238"/>
            <a:ext cx="657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2400">
                <a:solidFill>
                  <a:srgbClr val="000000"/>
                </a:solidFill>
                <a:latin typeface="Times New Roman" panose="02020603050405020304" pitchFamily="18" charset="0"/>
                <a:ea typeface="宋体" panose="02010600030101010101" pitchFamily="2" charset="-122"/>
                <a:cs typeface="Times New Roman" panose="02020603050405020304" pitchFamily="18" charset="0"/>
              </a:rPr>
              <a:t>Ecn</a:t>
            </a:r>
            <a:endParaRPr kumimoji="1" lang="en-US" altLang="zh-CN" sz="240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67724" name="Text Box 108"/>
          <p:cNvSpPr txBox="1">
            <a:spLocks noChangeArrowheads="1"/>
          </p:cNvSpPr>
          <p:nvPr/>
        </p:nvSpPr>
        <p:spPr bwMode="auto">
          <a:xfrm>
            <a:off x="9993314" y="2349500"/>
            <a:ext cx="6746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2400">
                <a:solidFill>
                  <a:srgbClr val="000000"/>
                </a:solidFill>
                <a:latin typeface="Times New Roman" panose="02020603050405020304" pitchFamily="18" charset="0"/>
                <a:ea typeface="宋体" panose="02010600030101010101" pitchFamily="2" charset="-122"/>
                <a:cs typeface="Times New Roman" panose="02020603050405020304" pitchFamily="18" charset="0"/>
              </a:rPr>
              <a:t>Evn</a:t>
            </a:r>
            <a:endParaRPr kumimoji="1" lang="en-US" altLang="zh-CN" sz="240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67725" name="Text Box 109"/>
          <p:cNvSpPr txBox="1">
            <a:spLocks noChangeArrowheads="1"/>
          </p:cNvSpPr>
          <p:nvPr/>
        </p:nvSpPr>
        <p:spPr bwMode="auto">
          <a:xfrm>
            <a:off x="9767889" y="5373688"/>
            <a:ext cx="6746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2400">
                <a:solidFill>
                  <a:srgbClr val="000000"/>
                </a:solidFill>
                <a:latin typeface="Times New Roman" panose="02020603050405020304" pitchFamily="18" charset="0"/>
                <a:ea typeface="宋体" panose="02010600030101010101" pitchFamily="2" charset="-122"/>
                <a:cs typeface="Times New Roman" panose="02020603050405020304" pitchFamily="18" charset="0"/>
              </a:rPr>
              <a:t>Evn</a:t>
            </a:r>
            <a:endParaRPr kumimoji="1" lang="en-US" altLang="zh-CN" sz="240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67726" name="Text Box 110"/>
          <p:cNvSpPr txBox="1">
            <a:spLocks noChangeArrowheads="1"/>
          </p:cNvSpPr>
          <p:nvPr/>
        </p:nvSpPr>
        <p:spPr bwMode="auto">
          <a:xfrm>
            <a:off x="10010776" y="4941888"/>
            <a:ext cx="657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400">
                <a:solidFill>
                  <a:srgbClr val="000000"/>
                </a:solidFill>
                <a:latin typeface="Times New Roman" panose="02020603050405020304" pitchFamily="18" charset="0"/>
                <a:ea typeface="宋体" panose="02010600030101010101" pitchFamily="2" charset="-122"/>
                <a:cs typeface="Times New Roman" panose="02020603050405020304" pitchFamily="18" charset="0"/>
              </a:rPr>
              <a:t>Ecn</a:t>
            </a:r>
            <a:endParaRPr kumimoji="1" lang="en-US" altLang="zh-CN" sz="240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67727" name="Text Box 111"/>
          <p:cNvSpPr txBox="1">
            <a:spLocks noChangeArrowheads="1"/>
          </p:cNvSpPr>
          <p:nvPr/>
        </p:nvSpPr>
        <p:spPr bwMode="auto">
          <a:xfrm>
            <a:off x="163830" y="4365625"/>
            <a:ext cx="4131945" cy="1198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0"/>
              </a:spcBef>
              <a:spcAft>
                <a:spcPct val="0"/>
              </a:spcAft>
            </a:pPr>
            <a:r>
              <a:rPr lang="en-US" altLang="zh-CN" sz="2400" b="1">
                <a:solidFill>
                  <a:srgbClr val="000000"/>
                </a:solidFill>
                <a:latin typeface="Garamond" panose="02020404030301010803" pitchFamily="18" charset="0"/>
                <a:ea typeface="宋体" panose="02010600030101010101" pitchFamily="2" charset="-122"/>
              </a:rPr>
              <a:t>V</a:t>
            </a:r>
            <a:r>
              <a:rPr lang="en-US" altLang="zh-CN" sz="2400" b="1">
                <a:solidFill>
                  <a:srgbClr val="000000"/>
                </a:solidFill>
                <a:latin typeface="Garamond" panose="02020404030301010803" pitchFamily="18" charset="0"/>
                <a:ea typeface="宋体" panose="02010600030101010101" pitchFamily="2" charset="-122"/>
                <a:sym typeface="Symbol" panose="05050102010706020507" pitchFamily="18" charset="2"/>
              </a:rPr>
              <a:t>, n</a:t>
            </a:r>
            <a:r>
              <a:rPr lang="zh-CN" altLang="en-US" sz="2400" b="1">
                <a:solidFill>
                  <a:srgbClr val="000000"/>
                </a:solidFill>
                <a:latin typeface="Garamond" panose="02020404030301010803" pitchFamily="18" charset="0"/>
                <a:ea typeface="宋体" panose="02010600030101010101" pitchFamily="2" charset="-122"/>
                <a:sym typeface="Symbol" panose="05050102010706020507" pitchFamily="18" charset="2"/>
              </a:rPr>
              <a:t>区能带相对于</a:t>
            </a:r>
            <a:r>
              <a:rPr lang="en-US" altLang="zh-CN" sz="2400" b="1">
                <a:solidFill>
                  <a:srgbClr val="000000"/>
                </a:solidFill>
                <a:latin typeface="Garamond" panose="02020404030301010803" pitchFamily="18" charset="0"/>
                <a:ea typeface="宋体" panose="02010600030101010101" pitchFamily="2" charset="-122"/>
                <a:sym typeface="Symbol" panose="05050102010706020507" pitchFamily="18" charset="2"/>
              </a:rPr>
              <a:t>p</a:t>
            </a:r>
            <a:r>
              <a:rPr lang="zh-CN" altLang="en-US" sz="2400" b="1">
                <a:solidFill>
                  <a:srgbClr val="000000"/>
                </a:solidFill>
                <a:latin typeface="Garamond" panose="02020404030301010803" pitchFamily="18" charset="0"/>
                <a:ea typeface="宋体" panose="02010600030101010101" pitchFamily="2" charset="-122"/>
                <a:sym typeface="Symbol" panose="05050102010706020507" pitchFamily="18" charset="2"/>
              </a:rPr>
              <a:t>区升</a:t>
            </a:r>
            <a:endParaRPr lang="zh-CN" altLang="en-US" sz="2400" b="1">
              <a:solidFill>
                <a:srgbClr val="000000"/>
              </a:solidFill>
              <a:latin typeface="Garamond" panose="02020404030301010803" pitchFamily="18" charset="0"/>
              <a:ea typeface="宋体" panose="02010600030101010101" pitchFamily="2" charset="-122"/>
              <a:sym typeface="Symbol" panose="05050102010706020507" pitchFamily="18" charset="2"/>
            </a:endParaRPr>
          </a:p>
          <a:p>
            <a:pPr fontAlgn="base">
              <a:spcBef>
                <a:spcPct val="0"/>
              </a:spcBef>
              <a:spcAft>
                <a:spcPct val="0"/>
              </a:spcAft>
            </a:pPr>
            <a:r>
              <a:rPr lang="zh-CN" altLang="en-US" sz="2400" b="1">
                <a:solidFill>
                  <a:srgbClr val="000000"/>
                </a:solidFill>
                <a:latin typeface="Garamond" panose="02020404030301010803" pitchFamily="18" charset="0"/>
                <a:ea typeface="宋体" panose="02010600030101010101" pitchFamily="2" charset="-122"/>
                <a:sym typeface="Symbol" panose="05050102010706020507" pitchFamily="18" charset="2"/>
              </a:rPr>
              <a:t>高</a:t>
            </a:r>
            <a:r>
              <a:rPr lang="en-US" altLang="zh-CN" sz="2400" b="1">
                <a:solidFill>
                  <a:srgbClr val="000000"/>
                </a:solidFill>
                <a:latin typeface="Garamond" panose="02020404030301010803" pitchFamily="18" charset="0"/>
                <a:ea typeface="宋体" panose="02010600030101010101" pitchFamily="2" charset="-122"/>
                <a:sym typeface="Symbol" panose="05050102010706020507" pitchFamily="18" charset="2"/>
              </a:rPr>
              <a:t>qV</a:t>
            </a:r>
            <a:r>
              <a:rPr lang="zh-CN" altLang="en-US" sz="2400" b="1">
                <a:solidFill>
                  <a:srgbClr val="000000"/>
                </a:solidFill>
                <a:latin typeface="Garamond" panose="02020404030301010803" pitchFamily="18" charset="0"/>
                <a:ea typeface="宋体" panose="02010600030101010101" pitchFamily="2" charset="-122"/>
                <a:sym typeface="Symbol" panose="05050102010706020507" pitchFamily="18" charset="2"/>
              </a:rPr>
              <a:t>。</a:t>
            </a:r>
            <a:endParaRPr lang="zh-CN" altLang="en-US" sz="2400" b="1">
              <a:solidFill>
                <a:srgbClr val="000000"/>
              </a:solidFill>
              <a:latin typeface="Garamond" panose="02020404030301010803" pitchFamily="18" charset="0"/>
              <a:ea typeface="宋体" panose="02010600030101010101" pitchFamily="2" charset="-122"/>
              <a:sym typeface="Symbol" panose="05050102010706020507" pitchFamily="18" charset="2"/>
            </a:endParaRPr>
          </a:p>
          <a:p>
            <a:pPr fontAlgn="base">
              <a:spcBef>
                <a:spcPct val="0"/>
              </a:spcBef>
              <a:spcAft>
                <a:spcPct val="0"/>
              </a:spcAft>
            </a:pPr>
            <a:r>
              <a:rPr lang="zh-CN" altLang="en-US" sz="2400" b="1">
                <a:solidFill>
                  <a:srgbClr val="000000"/>
                </a:solidFill>
                <a:latin typeface="Garamond" panose="02020404030301010803" pitchFamily="18" charset="0"/>
                <a:ea typeface="宋体" panose="02010600030101010101" pitchFamily="2" charset="-122"/>
                <a:sym typeface="Symbol" panose="05050102010706020507" pitchFamily="18" charset="2"/>
              </a:rPr>
              <a:t>两边能量相等的量子态中，</a:t>
            </a:r>
            <a:endParaRPr lang="zh-CN" altLang="en-US" sz="2400" b="1">
              <a:solidFill>
                <a:srgbClr val="000000"/>
              </a:solidFill>
              <a:latin typeface="Garamond" panose="02020404030301010803" pitchFamily="18" charset="0"/>
              <a:ea typeface="宋体" panose="02010600030101010101" pitchFamily="2" charset="-122"/>
              <a:sym typeface="Symbol" panose="05050102010706020507" pitchFamily="18" charset="2"/>
            </a:endParaRPr>
          </a:p>
        </p:txBody>
      </p:sp>
      <p:sp>
        <p:nvSpPr>
          <p:cNvPr id="367728" name="Text Box 112"/>
          <p:cNvSpPr txBox="1">
            <a:spLocks noChangeArrowheads="1"/>
          </p:cNvSpPr>
          <p:nvPr/>
        </p:nvSpPr>
        <p:spPr bwMode="auto">
          <a:xfrm>
            <a:off x="5334000" y="6057972"/>
            <a:ext cx="3921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US" altLang="zh-CN" sz="3200" dirty="0">
                <a:solidFill>
                  <a:srgbClr val="000000"/>
                </a:solidFill>
                <a:latin typeface="Garamond" panose="02020404030301010803" pitchFamily="18" charset="0"/>
                <a:ea typeface="宋体" panose="02010600030101010101" pitchFamily="2" charset="-122"/>
              </a:rPr>
              <a:t>p</a:t>
            </a:r>
            <a:endParaRPr lang="en-US" altLang="zh-CN" sz="3200" dirty="0">
              <a:solidFill>
                <a:srgbClr val="000000"/>
              </a:solidFill>
              <a:latin typeface="Garamond" panose="02020404030301010803" pitchFamily="18" charset="0"/>
              <a:ea typeface="宋体" panose="02010600030101010101" pitchFamily="2" charset="-122"/>
            </a:endParaRPr>
          </a:p>
        </p:txBody>
      </p:sp>
      <p:sp>
        <p:nvSpPr>
          <p:cNvPr id="367729" name="Text Box 113"/>
          <p:cNvSpPr txBox="1">
            <a:spLocks noChangeArrowheads="1"/>
          </p:cNvSpPr>
          <p:nvPr/>
        </p:nvSpPr>
        <p:spPr bwMode="auto">
          <a:xfrm>
            <a:off x="8305800" y="6117216"/>
            <a:ext cx="3921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US" altLang="zh-CN" sz="3200" dirty="0">
                <a:solidFill>
                  <a:srgbClr val="000000"/>
                </a:solidFill>
                <a:latin typeface="Garamond" panose="02020404030301010803" pitchFamily="18" charset="0"/>
                <a:ea typeface="宋体" panose="02010600030101010101" pitchFamily="2" charset="-122"/>
              </a:rPr>
              <a:t>n</a:t>
            </a:r>
            <a:endParaRPr lang="en-US" altLang="zh-CN" sz="3200" dirty="0">
              <a:solidFill>
                <a:srgbClr val="000000"/>
              </a:solidFill>
              <a:latin typeface="Garamond" panose="02020404030301010803" pitchFamily="18" charset="0"/>
              <a:ea typeface="宋体" panose="02010600030101010101" pitchFamily="2" charset="-122"/>
            </a:endParaRPr>
          </a:p>
        </p:txBody>
      </p:sp>
      <p:sp>
        <p:nvSpPr>
          <p:cNvPr id="367730" name="Text Box 114"/>
          <p:cNvSpPr txBox="1">
            <a:spLocks noChangeArrowheads="1"/>
          </p:cNvSpPr>
          <p:nvPr/>
        </p:nvSpPr>
        <p:spPr bwMode="auto">
          <a:xfrm>
            <a:off x="9929813" y="4437064"/>
            <a:ext cx="74732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US" altLang="zh-CN" sz="3200">
                <a:solidFill>
                  <a:srgbClr val="000000"/>
                </a:solidFill>
                <a:latin typeface="Garamond" panose="02020404030301010803" pitchFamily="18" charset="0"/>
                <a:ea typeface="宋体" panose="02010600030101010101" pitchFamily="2" charset="-122"/>
              </a:rPr>
              <a:t>E</a:t>
            </a:r>
            <a:r>
              <a:rPr lang="en-US" altLang="zh-CN" sz="3200" baseline="-25000">
                <a:solidFill>
                  <a:srgbClr val="000000"/>
                </a:solidFill>
                <a:latin typeface="Garamond" panose="02020404030301010803" pitchFamily="18" charset="0"/>
                <a:ea typeface="宋体" panose="02010600030101010101" pitchFamily="2" charset="-122"/>
              </a:rPr>
              <a:t>Fn</a:t>
            </a:r>
            <a:endParaRPr lang="en-US" altLang="zh-CN" sz="3200" baseline="-25000">
              <a:solidFill>
                <a:srgbClr val="000000"/>
              </a:solidFill>
              <a:latin typeface="Garamond" panose="02020404030301010803" pitchFamily="18" charset="0"/>
              <a:ea typeface="宋体" panose="02010600030101010101" pitchFamily="2" charset="-122"/>
            </a:endParaRPr>
          </a:p>
        </p:txBody>
      </p:sp>
      <p:sp>
        <p:nvSpPr>
          <p:cNvPr id="367731" name="Text Box 115"/>
          <p:cNvSpPr txBox="1">
            <a:spLocks noChangeArrowheads="1"/>
          </p:cNvSpPr>
          <p:nvPr/>
        </p:nvSpPr>
        <p:spPr bwMode="auto">
          <a:xfrm>
            <a:off x="1893638" y="5564552"/>
            <a:ext cx="1880643"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US" altLang="zh-CN" sz="2400" b="1" dirty="0" err="1">
                <a:solidFill>
                  <a:srgbClr val="000000"/>
                </a:solidFill>
                <a:latin typeface="Garamond" panose="02020404030301010803" pitchFamily="18" charset="0"/>
                <a:ea typeface="宋体" panose="02010600030101010101" pitchFamily="2" charset="-122"/>
              </a:rPr>
              <a:t>E</a:t>
            </a:r>
            <a:r>
              <a:rPr lang="en-US" altLang="zh-CN" sz="2400" b="1" baseline="-25000" dirty="0" err="1">
                <a:solidFill>
                  <a:srgbClr val="000000"/>
                </a:solidFill>
                <a:latin typeface="Garamond" panose="02020404030301010803" pitchFamily="18" charset="0"/>
                <a:ea typeface="宋体" panose="02010600030101010101" pitchFamily="2" charset="-122"/>
              </a:rPr>
              <a:t>Fp</a:t>
            </a:r>
            <a:r>
              <a:rPr lang="zh-CN" altLang="en-US" sz="2400" b="1" dirty="0">
                <a:solidFill>
                  <a:srgbClr val="000000"/>
                </a:solidFill>
                <a:latin typeface="Garamond" panose="02020404030301010803" pitchFamily="18" charset="0"/>
                <a:ea typeface="宋体" panose="02010600030101010101" pitchFamily="2" charset="-122"/>
              </a:rPr>
              <a:t>上空态，</a:t>
            </a:r>
            <a:endParaRPr lang="zh-CN" altLang="en-US" sz="2400" b="1" dirty="0">
              <a:solidFill>
                <a:srgbClr val="000000"/>
              </a:solidFill>
              <a:latin typeface="Garamond" panose="02020404030301010803" pitchFamily="18" charset="0"/>
              <a:ea typeface="宋体" panose="02010600030101010101" pitchFamily="2" charset="-122"/>
            </a:endParaRPr>
          </a:p>
          <a:p>
            <a:pPr fontAlgn="base">
              <a:spcBef>
                <a:spcPct val="0"/>
              </a:spcBef>
              <a:spcAft>
                <a:spcPct val="0"/>
              </a:spcAft>
            </a:pPr>
            <a:r>
              <a:rPr lang="en-US" altLang="zh-CN" sz="2400" b="1" dirty="0" err="1">
                <a:solidFill>
                  <a:srgbClr val="000000"/>
                </a:solidFill>
                <a:latin typeface="Garamond" panose="02020404030301010803" pitchFamily="18" charset="0"/>
                <a:ea typeface="宋体" panose="02010600030101010101" pitchFamily="2" charset="-122"/>
              </a:rPr>
              <a:t>E</a:t>
            </a:r>
            <a:r>
              <a:rPr lang="en-US" altLang="zh-CN" sz="2400" b="1" baseline="-25000" dirty="0" err="1">
                <a:solidFill>
                  <a:srgbClr val="000000"/>
                </a:solidFill>
                <a:latin typeface="Garamond" panose="02020404030301010803" pitchFamily="18" charset="0"/>
                <a:ea typeface="宋体" panose="02010600030101010101" pitchFamily="2" charset="-122"/>
              </a:rPr>
              <a:t>Fn</a:t>
            </a:r>
            <a:r>
              <a:rPr lang="zh-CN" altLang="en-US" sz="2400" b="1" dirty="0">
                <a:solidFill>
                  <a:srgbClr val="000000"/>
                </a:solidFill>
                <a:latin typeface="Garamond" panose="02020404030301010803" pitchFamily="18" charset="0"/>
                <a:ea typeface="宋体" panose="02010600030101010101" pitchFamily="2" charset="-122"/>
              </a:rPr>
              <a:t>下占满</a:t>
            </a:r>
            <a:endParaRPr lang="zh-CN" altLang="en-US" sz="2400" b="1" dirty="0">
              <a:solidFill>
                <a:srgbClr val="000000"/>
              </a:solidFill>
              <a:latin typeface="Garamond" panose="02020404030301010803" pitchFamily="18" charset="0"/>
              <a:ea typeface="宋体" panose="02010600030101010101" pitchFamily="2" charset="-122"/>
            </a:endParaRPr>
          </a:p>
        </p:txBody>
      </p:sp>
    </p:spTree>
  </p:cSld>
  <p:clrMapOvr>
    <a:masterClrMapping/>
  </p:clrMapOv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4786" name="Line 2"/>
          <p:cNvSpPr>
            <a:spLocks noChangeShapeType="1"/>
          </p:cNvSpPr>
          <p:nvPr/>
        </p:nvSpPr>
        <p:spPr bwMode="auto">
          <a:xfrm>
            <a:off x="3816350" y="1641475"/>
            <a:ext cx="2057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4787" name="Line 3"/>
          <p:cNvSpPr>
            <a:spLocks noChangeShapeType="1"/>
          </p:cNvSpPr>
          <p:nvPr/>
        </p:nvSpPr>
        <p:spPr bwMode="auto">
          <a:xfrm>
            <a:off x="3836988" y="2687639"/>
            <a:ext cx="5427662" cy="20637"/>
          </a:xfrm>
          <a:prstGeom prst="line">
            <a:avLst/>
          </a:prstGeom>
          <a:noFill/>
          <a:ln w="952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4788" name="Line 4"/>
          <p:cNvSpPr>
            <a:spLocks noChangeShapeType="1"/>
          </p:cNvSpPr>
          <p:nvPr/>
        </p:nvSpPr>
        <p:spPr bwMode="auto">
          <a:xfrm>
            <a:off x="5873750" y="1641475"/>
            <a:ext cx="1085850" cy="10668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4789" name="Line 5"/>
          <p:cNvSpPr>
            <a:spLocks noChangeShapeType="1"/>
          </p:cNvSpPr>
          <p:nvPr/>
        </p:nvSpPr>
        <p:spPr bwMode="auto">
          <a:xfrm>
            <a:off x="5873750" y="2098675"/>
            <a:ext cx="1143000" cy="1143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4790" name="Line 6"/>
          <p:cNvSpPr>
            <a:spLocks noChangeShapeType="1"/>
          </p:cNvSpPr>
          <p:nvPr/>
        </p:nvSpPr>
        <p:spPr bwMode="auto">
          <a:xfrm>
            <a:off x="3816350" y="2098675"/>
            <a:ext cx="2057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4791" name="Line 7"/>
          <p:cNvSpPr>
            <a:spLocks noChangeShapeType="1"/>
          </p:cNvSpPr>
          <p:nvPr/>
        </p:nvSpPr>
        <p:spPr bwMode="auto">
          <a:xfrm>
            <a:off x="7016750" y="3241675"/>
            <a:ext cx="22098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4792" name="Line 8"/>
          <p:cNvSpPr>
            <a:spLocks noChangeShapeType="1"/>
          </p:cNvSpPr>
          <p:nvPr/>
        </p:nvSpPr>
        <p:spPr bwMode="auto">
          <a:xfrm flipH="1">
            <a:off x="3816351" y="2760663"/>
            <a:ext cx="92075" cy="10001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4793" name="Line 9"/>
          <p:cNvSpPr>
            <a:spLocks noChangeShapeType="1"/>
          </p:cNvSpPr>
          <p:nvPr/>
        </p:nvSpPr>
        <p:spPr bwMode="auto">
          <a:xfrm flipH="1">
            <a:off x="3816350" y="2687639"/>
            <a:ext cx="381000" cy="40163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4794" name="Line 10"/>
          <p:cNvSpPr>
            <a:spLocks noChangeShapeType="1"/>
          </p:cNvSpPr>
          <p:nvPr/>
        </p:nvSpPr>
        <p:spPr bwMode="auto">
          <a:xfrm flipH="1">
            <a:off x="3816350" y="2687639"/>
            <a:ext cx="668338" cy="63023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4795" name="Line 11"/>
          <p:cNvSpPr>
            <a:spLocks noChangeShapeType="1"/>
          </p:cNvSpPr>
          <p:nvPr/>
        </p:nvSpPr>
        <p:spPr bwMode="auto">
          <a:xfrm flipH="1">
            <a:off x="3816350" y="2687639"/>
            <a:ext cx="884238" cy="85883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4796" name="Line 12"/>
          <p:cNvSpPr>
            <a:spLocks noChangeShapeType="1"/>
          </p:cNvSpPr>
          <p:nvPr/>
        </p:nvSpPr>
        <p:spPr bwMode="auto">
          <a:xfrm flipH="1">
            <a:off x="3816350" y="2687639"/>
            <a:ext cx="1028700" cy="101123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4797" name="Line 13"/>
          <p:cNvSpPr>
            <a:spLocks noChangeShapeType="1"/>
          </p:cNvSpPr>
          <p:nvPr/>
        </p:nvSpPr>
        <p:spPr bwMode="auto">
          <a:xfrm flipH="1">
            <a:off x="3816350" y="2687639"/>
            <a:ext cx="1244600" cy="123983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4798" name="Line 14"/>
          <p:cNvSpPr>
            <a:spLocks noChangeShapeType="1"/>
          </p:cNvSpPr>
          <p:nvPr/>
        </p:nvSpPr>
        <p:spPr bwMode="auto">
          <a:xfrm flipH="1">
            <a:off x="3968750" y="2687639"/>
            <a:ext cx="1379538" cy="139223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4799" name="Line 15"/>
          <p:cNvSpPr>
            <a:spLocks noChangeShapeType="1"/>
          </p:cNvSpPr>
          <p:nvPr/>
        </p:nvSpPr>
        <p:spPr bwMode="auto">
          <a:xfrm flipH="1">
            <a:off x="4273551" y="2687639"/>
            <a:ext cx="1363663" cy="139223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4800" name="Line 16"/>
          <p:cNvSpPr>
            <a:spLocks noChangeShapeType="1"/>
          </p:cNvSpPr>
          <p:nvPr/>
        </p:nvSpPr>
        <p:spPr bwMode="auto">
          <a:xfrm flipH="1">
            <a:off x="4502151" y="2687639"/>
            <a:ext cx="1350963" cy="139223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4801" name="Line 17"/>
          <p:cNvSpPr>
            <a:spLocks noChangeShapeType="1"/>
          </p:cNvSpPr>
          <p:nvPr/>
        </p:nvSpPr>
        <p:spPr bwMode="auto">
          <a:xfrm flipH="1">
            <a:off x="4806951" y="2687639"/>
            <a:ext cx="1406525" cy="139223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4802" name="Line 18"/>
          <p:cNvSpPr>
            <a:spLocks noChangeShapeType="1"/>
          </p:cNvSpPr>
          <p:nvPr/>
        </p:nvSpPr>
        <p:spPr bwMode="auto">
          <a:xfrm flipH="1">
            <a:off x="5035550" y="2708275"/>
            <a:ext cx="1447800" cy="14478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4803" name="Line 19"/>
          <p:cNvSpPr>
            <a:spLocks noChangeShapeType="1"/>
          </p:cNvSpPr>
          <p:nvPr/>
        </p:nvSpPr>
        <p:spPr bwMode="auto">
          <a:xfrm flipH="1">
            <a:off x="5645150" y="3013075"/>
            <a:ext cx="1143000" cy="1143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4804" name="Line 20"/>
          <p:cNvSpPr>
            <a:spLocks noChangeShapeType="1"/>
          </p:cNvSpPr>
          <p:nvPr/>
        </p:nvSpPr>
        <p:spPr bwMode="auto">
          <a:xfrm flipH="1">
            <a:off x="5340350" y="2860675"/>
            <a:ext cx="1295400" cy="1295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4805" name="Line 21"/>
          <p:cNvSpPr>
            <a:spLocks noChangeShapeType="1"/>
          </p:cNvSpPr>
          <p:nvPr/>
        </p:nvSpPr>
        <p:spPr bwMode="auto">
          <a:xfrm flipH="1">
            <a:off x="5873750" y="3165475"/>
            <a:ext cx="1066800" cy="10668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4806" name="Line 22"/>
          <p:cNvSpPr>
            <a:spLocks noChangeShapeType="1"/>
          </p:cNvSpPr>
          <p:nvPr/>
        </p:nvSpPr>
        <p:spPr bwMode="auto">
          <a:xfrm flipH="1">
            <a:off x="6102350" y="3241675"/>
            <a:ext cx="990600" cy="990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4807" name="Line 23"/>
          <p:cNvSpPr>
            <a:spLocks noChangeShapeType="1"/>
          </p:cNvSpPr>
          <p:nvPr/>
        </p:nvSpPr>
        <p:spPr bwMode="auto">
          <a:xfrm flipH="1">
            <a:off x="6407150" y="3241675"/>
            <a:ext cx="990600" cy="990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4808" name="Line 24"/>
          <p:cNvSpPr>
            <a:spLocks noChangeShapeType="1"/>
          </p:cNvSpPr>
          <p:nvPr/>
        </p:nvSpPr>
        <p:spPr bwMode="auto">
          <a:xfrm flipH="1">
            <a:off x="6711950" y="3241675"/>
            <a:ext cx="990600" cy="990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4809" name="Line 25"/>
          <p:cNvSpPr>
            <a:spLocks noChangeShapeType="1"/>
          </p:cNvSpPr>
          <p:nvPr/>
        </p:nvSpPr>
        <p:spPr bwMode="auto">
          <a:xfrm flipH="1">
            <a:off x="7016750" y="3241675"/>
            <a:ext cx="990600" cy="990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4810" name="Line 26"/>
          <p:cNvSpPr>
            <a:spLocks noChangeShapeType="1"/>
          </p:cNvSpPr>
          <p:nvPr/>
        </p:nvSpPr>
        <p:spPr bwMode="auto">
          <a:xfrm flipH="1">
            <a:off x="7245350" y="3241675"/>
            <a:ext cx="990600" cy="990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4811" name="Line 27"/>
          <p:cNvSpPr>
            <a:spLocks noChangeShapeType="1"/>
          </p:cNvSpPr>
          <p:nvPr/>
        </p:nvSpPr>
        <p:spPr bwMode="auto">
          <a:xfrm flipH="1">
            <a:off x="7550150" y="3241675"/>
            <a:ext cx="990600" cy="990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4812" name="Line 28"/>
          <p:cNvSpPr>
            <a:spLocks noChangeShapeType="1"/>
          </p:cNvSpPr>
          <p:nvPr/>
        </p:nvSpPr>
        <p:spPr bwMode="auto">
          <a:xfrm flipH="1">
            <a:off x="7854950" y="3241675"/>
            <a:ext cx="990600" cy="990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4813" name="Line 29"/>
          <p:cNvSpPr>
            <a:spLocks noChangeShapeType="1"/>
          </p:cNvSpPr>
          <p:nvPr/>
        </p:nvSpPr>
        <p:spPr bwMode="auto">
          <a:xfrm flipH="1">
            <a:off x="8083550" y="3241675"/>
            <a:ext cx="990600" cy="990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4814" name="Line 30"/>
          <p:cNvSpPr>
            <a:spLocks noChangeShapeType="1"/>
          </p:cNvSpPr>
          <p:nvPr/>
        </p:nvSpPr>
        <p:spPr bwMode="auto">
          <a:xfrm flipV="1">
            <a:off x="8312150" y="3394075"/>
            <a:ext cx="838200" cy="838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4815" name="Line 31"/>
          <p:cNvSpPr>
            <a:spLocks noChangeShapeType="1"/>
          </p:cNvSpPr>
          <p:nvPr/>
        </p:nvSpPr>
        <p:spPr bwMode="auto">
          <a:xfrm flipV="1">
            <a:off x="8693150" y="3622675"/>
            <a:ext cx="457200" cy="609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4816" name="Text Box 32"/>
          <p:cNvSpPr txBox="1">
            <a:spLocks noChangeArrowheads="1"/>
          </p:cNvSpPr>
          <p:nvPr/>
        </p:nvSpPr>
        <p:spPr bwMode="auto">
          <a:xfrm>
            <a:off x="3419475" y="1911350"/>
            <a:ext cx="6746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2400">
                <a:solidFill>
                  <a:srgbClr val="000000"/>
                </a:solidFill>
                <a:latin typeface="Times New Roman" panose="02020603050405020304" pitchFamily="18" charset="0"/>
                <a:ea typeface="宋体" panose="02010600030101010101" pitchFamily="2" charset="-122"/>
                <a:cs typeface="Times New Roman" panose="02020603050405020304" pitchFamily="18" charset="0"/>
              </a:rPr>
              <a:t>Evp</a:t>
            </a:r>
            <a:endParaRPr kumimoji="1" lang="en-US" altLang="zh-CN" sz="240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74817" name="Line 33"/>
          <p:cNvSpPr>
            <a:spLocks noChangeShapeType="1"/>
          </p:cNvSpPr>
          <p:nvPr/>
        </p:nvSpPr>
        <p:spPr bwMode="auto">
          <a:xfrm>
            <a:off x="4349750" y="1793875"/>
            <a:ext cx="0" cy="3048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4818" name="Text Box 34"/>
          <p:cNvSpPr txBox="1">
            <a:spLocks noChangeArrowheads="1"/>
          </p:cNvSpPr>
          <p:nvPr/>
        </p:nvSpPr>
        <p:spPr bwMode="auto">
          <a:xfrm>
            <a:off x="4486275" y="1606550"/>
            <a:ext cx="522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2400">
                <a:solidFill>
                  <a:srgbClr val="000000"/>
                </a:solidFill>
                <a:latin typeface="Times New Roman" panose="02020603050405020304" pitchFamily="18" charset="0"/>
                <a:ea typeface="宋体" panose="02010600030101010101" pitchFamily="2" charset="-122"/>
                <a:cs typeface="Times New Roman" panose="02020603050405020304" pitchFamily="18" charset="0"/>
              </a:rPr>
              <a:t>Eg</a:t>
            </a:r>
            <a:endParaRPr kumimoji="1" lang="en-US" altLang="zh-CN" sz="240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74819" name="Line 35"/>
          <p:cNvSpPr>
            <a:spLocks noChangeShapeType="1"/>
          </p:cNvSpPr>
          <p:nvPr/>
        </p:nvSpPr>
        <p:spPr bwMode="auto">
          <a:xfrm flipH="1">
            <a:off x="6483350" y="2632075"/>
            <a:ext cx="3048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4820" name="Text Box 36"/>
          <p:cNvSpPr txBox="1">
            <a:spLocks noChangeArrowheads="1"/>
          </p:cNvSpPr>
          <p:nvPr/>
        </p:nvSpPr>
        <p:spPr bwMode="auto">
          <a:xfrm>
            <a:off x="3359151" y="1412875"/>
            <a:ext cx="657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2400">
                <a:solidFill>
                  <a:srgbClr val="000000"/>
                </a:solidFill>
                <a:latin typeface="Times New Roman" panose="02020603050405020304" pitchFamily="18" charset="0"/>
                <a:ea typeface="宋体" panose="02010600030101010101" pitchFamily="2" charset="-122"/>
                <a:cs typeface="Times New Roman" panose="02020603050405020304" pitchFamily="18" charset="0"/>
              </a:rPr>
              <a:t>Ecp</a:t>
            </a:r>
            <a:endParaRPr kumimoji="1" lang="en-US" altLang="zh-CN" sz="240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74821" name="Rectangle 37"/>
          <p:cNvSpPr>
            <a:spLocks noChangeArrowheads="1"/>
          </p:cNvSpPr>
          <p:nvPr/>
        </p:nvSpPr>
        <p:spPr bwMode="auto">
          <a:xfrm>
            <a:off x="6959600" y="2492376"/>
            <a:ext cx="2209800" cy="225425"/>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4822" name="Rectangle 38"/>
          <p:cNvSpPr>
            <a:spLocks noChangeArrowheads="1"/>
          </p:cNvSpPr>
          <p:nvPr/>
        </p:nvSpPr>
        <p:spPr bwMode="auto">
          <a:xfrm>
            <a:off x="1847850" y="260350"/>
            <a:ext cx="29527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3200" b="1">
                <a:solidFill>
                  <a:srgbClr val="D43636"/>
                </a:solidFill>
                <a:latin typeface="Times New Roman" panose="02020603050405020304" pitchFamily="18" charset="0"/>
                <a:ea typeface="宋体" panose="02010600030101010101" pitchFamily="2" charset="-122"/>
              </a:rPr>
              <a:t>(3)</a:t>
            </a:r>
            <a:r>
              <a:rPr kumimoji="1" lang="zh-CN" altLang="en-US" sz="3200" b="1">
                <a:solidFill>
                  <a:srgbClr val="D43636"/>
                </a:solidFill>
                <a:latin typeface="楷体_GB2312" pitchFamily="49" charset="-122"/>
                <a:ea typeface="楷体_GB2312" pitchFamily="49" charset="-122"/>
              </a:rPr>
              <a:t>当</a:t>
            </a:r>
            <a:r>
              <a:rPr kumimoji="1" lang="en-US" altLang="zh-CN" sz="3200" b="1">
                <a:solidFill>
                  <a:srgbClr val="D43636"/>
                </a:solidFill>
                <a:latin typeface="楷体_GB2312" pitchFamily="49" charset="-122"/>
                <a:ea typeface="楷体_GB2312" pitchFamily="49" charset="-122"/>
              </a:rPr>
              <a:t>V=V</a:t>
            </a:r>
            <a:r>
              <a:rPr kumimoji="1" lang="en-US" altLang="zh-CN" sz="3200" b="1" baseline="-30000">
                <a:solidFill>
                  <a:srgbClr val="D43636"/>
                </a:solidFill>
                <a:latin typeface="楷体_GB2312" pitchFamily="49" charset="-122"/>
                <a:ea typeface="楷体_GB2312" pitchFamily="49" charset="-122"/>
              </a:rPr>
              <a:t>p</a:t>
            </a:r>
            <a:r>
              <a:rPr kumimoji="1" lang="zh-CN" altLang="en-US" sz="3200" b="1">
                <a:solidFill>
                  <a:srgbClr val="D43636"/>
                </a:solidFill>
                <a:latin typeface="楷体_GB2312" pitchFamily="49" charset="-122"/>
                <a:ea typeface="楷体_GB2312" pitchFamily="49" charset="-122"/>
              </a:rPr>
              <a:t>时</a:t>
            </a:r>
            <a:r>
              <a:rPr kumimoji="1" lang="zh-CN" altLang="en-US" sz="3200" b="1">
                <a:solidFill>
                  <a:srgbClr val="FF00FF"/>
                </a:solidFill>
                <a:latin typeface="楷体_GB2312" pitchFamily="49" charset="-122"/>
                <a:ea typeface="楷体_GB2312" pitchFamily="49" charset="-122"/>
              </a:rPr>
              <a:t> </a:t>
            </a:r>
            <a:endParaRPr kumimoji="1" lang="zh-CN" altLang="en-US" sz="3200" b="1">
              <a:solidFill>
                <a:srgbClr val="FF00FF"/>
              </a:solidFill>
              <a:latin typeface="楷体_GB2312" pitchFamily="49" charset="-122"/>
              <a:ea typeface="楷体_GB2312" pitchFamily="49" charset="-122"/>
            </a:endParaRPr>
          </a:p>
        </p:txBody>
      </p:sp>
      <p:sp>
        <p:nvSpPr>
          <p:cNvPr id="374823" name="Rectangle 39"/>
          <p:cNvSpPr>
            <a:spLocks noChangeArrowheads="1"/>
          </p:cNvSpPr>
          <p:nvPr/>
        </p:nvSpPr>
        <p:spPr bwMode="auto">
          <a:xfrm>
            <a:off x="4727575" y="333375"/>
            <a:ext cx="2133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3200" b="1">
                <a:solidFill>
                  <a:srgbClr val="D43636"/>
                </a:solidFill>
                <a:latin typeface="楷体_GB2312" pitchFamily="49" charset="-122"/>
                <a:ea typeface="楷体_GB2312" pitchFamily="49" charset="-122"/>
              </a:rPr>
              <a:t>(E</a:t>
            </a:r>
            <a:r>
              <a:rPr kumimoji="1" lang="en-US" altLang="zh-CN" sz="3200" b="1" baseline="-30000">
                <a:solidFill>
                  <a:srgbClr val="D43636"/>
                </a:solidFill>
                <a:latin typeface="楷体_GB2312" pitchFamily="49" charset="-122"/>
                <a:ea typeface="楷体_GB2312" pitchFamily="49" charset="-122"/>
              </a:rPr>
              <a:t>F</a:t>
            </a:r>
            <a:r>
              <a:rPr kumimoji="1" lang="en-US" altLang="zh-CN" sz="3200" b="1">
                <a:solidFill>
                  <a:srgbClr val="D43636"/>
                </a:solidFill>
                <a:latin typeface="楷体_GB2312" pitchFamily="49" charset="-122"/>
                <a:ea typeface="楷体_GB2312" pitchFamily="49" charset="-122"/>
              </a:rPr>
              <a:t>)</a:t>
            </a:r>
            <a:r>
              <a:rPr kumimoji="1" lang="en-US" altLang="zh-CN" sz="3200" b="1" baseline="-30000">
                <a:solidFill>
                  <a:srgbClr val="D43636"/>
                </a:solidFill>
                <a:latin typeface="楷体_GB2312" pitchFamily="49" charset="-122"/>
                <a:ea typeface="楷体_GB2312" pitchFamily="49" charset="-122"/>
              </a:rPr>
              <a:t>p</a:t>
            </a:r>
            <a:r>
              <a:rPr kumimoji="1" lang="en-US" altLang="zh-CN" sz="3200" b="1">
                <a:solidFill>
                  <a:srgbClr val="D43636"/>
                </a:solidFill>
                <a:latin typeface="楷体_GB2312" pitchFamily="49" charset="-122"/>
                <a:ea typeface="楷体_GB2312" pitchFamily="49" charset="-122"/>
              </a:rPr>
              <a:t>=E</a:t>
            </a:r>
            <a:r>
              <a:rPr kumimoji="1" lang="en-US" altLang="zh-CN" sz="3200" b="1" baseline="-30000">
                <a:solidFill>
                  <a:srgbClr val="D43636"/>
                </a:solidFill>
                <a:latin typeface="楷体_GB2312" pitchFamily="49" charset="-122"/>
                <a:ea typeface="楷体_GB2312" pitchFamily="49" charset="-122"/>
              </a:rPr>
              <a:t>cn</a:t>
            </a:r>
            <a:r>
              <a:rPr kumimoji="1" lang="en-US" altLang="zh-CN" sz="3200" b="1">
                <a:solidFill>
                  <a:srgbClr val="000000"/>
                </a:solidFill>
                <a:latin typeface="Times New Roman" panose="02020603050405020304" pitchFamily="18" charset="0"/>
                <a:ea typeface="宋体" panose="02010600030101010101" pitchFamily="2" charset="-122"/>
              </a:rPr>
              <a:t> </a:t>
            </a:r>
            <a:endParaRPr kumimoji="1" lang="en-US" altLang="zh-CN" sz="3200" b="1">
              <a:solidFill>
                <a:srgbClr val="000000"/>
              </a:solidFill>
              <a:latin typeface="Times New Roman" panose="02020603050405020304" pitchFamily="18" charset="0"/>
              <a:ea typeface="宋体" panose="02010600030101010101" pitchFamily="2" charset="-122"/>
            </a:endParaRPr>
          </a:p>
        </p:txBody>
      </p:sp>
      <p:sp>
        <p:nvSpPr>
          <p:cNvPr id="374824" name="Text Box 40"/>
          <p:cNvSpPr txBox="1">
            <a:spLocks noChangeArrowheads="1"/>
          </p:cNvSpPr>
          <p:nvPr/>
        </p:nvSpPr>
        <p:spPr bwMode="auto">
          <a:xfrm>
            <a:off x="3267075" y="2360614"/>
            <a:ext cx="74732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US" altLang="zh-CN" sz="3200">
                <a:solidFill>
                  <a:srgbClr val="000000"/>
                </a:solidFill>
                <a:latin typeface="Garamond" panose="02020404030301010803" pitchFamily="18" charset="0"/>
                <a:ea typeface="宋体" panose="02010600030101010101" pitchFamily="2" charset="-122"/>
              </a:rPr>
              <a:t>E</a:t>
            </a:r>
            <a:r>
              <a:rPr lang="en-US" altLang="zh-CN" sz="3200" baseline="-25000">
                <a:solidFill>
                  <a:srgbClr val="000000"/>
                </a:solidFill>
                <a:latin typeface="Garamond" panose="02020404030301010803" pitchFamily="18" charset="0"/>
                <a:ea typeface="宋体" panose="02010600030101010101" pitchFamily="2" charset="-122"/>
              </a:rPr>
              <a:t>Fp</a:t>
            </a:r>
            <a:endParaRPr lang="en-US" altLang="zh-CN" sz="3200" baseline="-25000">
              <a:solidFill>
                <a:srgbClr val="000000"/>
              </a:solidFill>
              <a:latin typeface="Garamond" panose="02020404030301010803" pitchFamily="18" charset="0"/>
              <a:ea typeface="宋体" panose="02010600030101010101" pitchFamily="2" charset="-122"/>
            </a:endParaRPr>
          </a:p>
        </p:txBody>
      </p:sp>
      <p:sp>
        <p:nvSpPr>
          <p:cNvPr id="374825" name="Text Box 41"/>
          <p:cNvSpPr txBox="1">
            <a:spLocks noChangeArrowheads="1"/>
          </p:cNvSpPr>
          <p:nvPr/>
        </p:nvSpPr>
        <p:spPr bwMode="auto">
          <a:xfrm>
            <a:off x="9264650" y="2997200"/>
            <a:ext cx="6746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2400">
                <a:solidFill>
                  <a:srgbClr val="000000"/>
                </a:solidFill>
                <a:latin typeface="Times New Roman" panose="02020603050405020304" pitchFamily="18" charset="0"/>
                <a:ea typeface="宋体" panose="02010600030101010101" pitchFamily="2" charset="-122"/>
                <a:cs typeface="Times New Roman" panose="02020603050405020304" pitchFamily="18" charset="0"/>
              </a:rPr>
              <a:t>Evn</a:t>
            </a:r>
            <a:endParaRPr kumimoji="1" lang="en-US" altLang="zh-CN" sz="240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74826" name="Text Box 42"/>
          <p:cNvSpPr txBox="1">
            <a:spLocks noChangeArrowheads="1"/>
          </p:cNvSpPr>
          <p:nvPr/>
        </p:nvSpPr>
        <p:spPr bwMode="auto">
          <a:xfrm>
            <a:off x="9480551" y="2420938"/>
            <a:ext cx="657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400">
                <a:solidFill>
                  <a:srgbClr val="000000"/>
                </a:solidFill>
                <a:latin typeface="Times New Roman" panose="02020603050405020304" pitchFamily="18" charset="0"/>
                <a:ea typeface="宋体" panose="02010600030101010101" pitchFamily="2" charset="-122"/>
                <a:cs typeface="Times New Roman" panose="02020603050405020304" pitchFamily="18" charset="0"/>
              </a:rPr>
              <a:t>Ecn</a:t>
            </a:r>
            <a:endParaRPr kumimoji="1" lang="en-US" altLang="zh-CN" sz="240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74827" name="Text Box 43"/>
          <p:cNvSpPr txBox="1">
            <a:spLocks noChangeArrowheads="1"/>
          </p:cNvSpPr>
          <p:nvPr/>
        </p:nvSpPr>
        <p:spPr bwMode="auto">
          <a:xfrm>
            <a:off x="7659688" y="4303714"/>
            <a:ext cx="392112"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US" altLang="zh-CN" sz="3200">
                <a:solidFill>
                  <a:srgbClr val="000000"/>
                </a:solidFill>
                <a:latin typeface="Garamond" panose="02020404030301010803" pitchFamily="18" charset="0"/>
                <a:ea typeface="宋体" panose="02010600030101010101" pitchFamily="2" charset="-122"/>
              </a:rPr>
              <a:t>n</a:t>
            </a:r>
            <a:endParaRPr lang="en-US" altLang="zh-CN" sz="3200">
              <a:solidFill>
                <a:srgbClr val="000000"/>
              </a:solidFill>
              <a:latin typeface="Garamond" panose="02020404030301010803" pitchFamily="18" charset="0"/>
              <a:ea typeface="宋体" panose="02010600030101010101" pitchFamily="2" charset="-122"/>
            </a:endParaRPr>
          </a:p>
        </p:txBody>
      </p:sp>
      <p:sp>
        <p:nvSpPr>
          <p:cNvPr id="374828" name="Text Box 44"/>
          <p:cNvSpPr txBox="1">
            <a:spLocks noChangeArrowheads="1"/>
          </p:cNvSpPr>
          <p:nvPr/>
        </p:nvSpPr>
        <p:spPr bwMode="auto">
          <a:xfrm>
            <a:off x="4564063" y="4016375"/>
            <a:ext cx="39211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US" altLang="zh-CN" sz="3200">
                <a:solidFill>
                  <a:srgbClr val="000000"/>
                </a:solidFill>
                <a:latin typeface="Garamond" panose="02020404030301010803" pitchFamily="18" charset="0"/>
                <a:ea typeface="宋体" panose="02010600030101010101" pitchFamily="2" charset="-122"/>
              </a:rPr>
              <a:t>p</a:t>
            </a:r>
            <a:endParaRPr lang="en-US" altLang="zh-CN" sz="3200">
              <a:solidFill>
                <a:srgbClr val="000000"/>
              </a:solidFill>
              <a:latin typeface="Garamond" panose="02020404030301010803" pitchFamily="18" charset="0"/>
              <a:ea typeface="宋体" panose="02010600030101010101" pitchFamily="2" charset="-122"/>
            </a:endParaRPr>
          </a:p>
        </p:txBody>
      </p:sp>
      <p:sp>
        <p:nvSpPr>
          <p:cNvPr id="374829" name="Text Box 45"/>
          <p:cNvSpPr txBox="1">
            <a:spLocks noChangeArrowheads="1"/>
          </p:cNvSpPr>
          <p:nvPr/>
        </p:nvSpPr>
        <p:spPr bwMode="auto">
          <a:xfrm>
            <a:off x="2057401" y="4913314"/>
            <a:ext cx="7604967"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zh-CN" altLang="en-US" sz="2800" b="1">
                <a:solidFill>
                  <a:srgbClr val="000000"/>
                </a:solidFill>
                <a:latin typeface="楷体_GB2312" pitchFamily="49" charset="-122"/>
                <a:ea typeface="楷体_GB2312" pitchFamily="49" charset="-122"/>
              </a:rPr>
              <a:t>结两边能量相同的量子态达最多，</a:t>
            </a:r>
            <a:r>
              <a:rPr lang="en-US" altLang="zh-CN" sz="2800" b="1">
                <a:solidFill>
                  <a:srgbClr val="000000"/>
                </a:solidFill>
                <a:latin typeface="楷体_GB2312" pitchFamily="49" charset="-122"/>
                <a:ea typeface="楷体_GB2312" pitchFamily="49" charset="-122"/>
              </a:rPr>
              <a:t>n</a:t>
            </a:r>
            <a:r>
              <a:rPr lang="zh-CN" altLang="en-US" sz="2800" b="1">
                <a:solidFill>
                  <a:srgbClr val="000000"/>
                </a:solidFill>
                <a:latin typeface="楷体_GB2312" pitchFamily="49" charset="-122"/>
                <a:ea typeface="楷体_GB2312" pitchFamily="49" charset="-122"/>
              </a:rPr>
              <a:t>区的导带中</a:t>
            </a:r>
            <a:endParaRPr lang="zh-CN" altLang="en-US" sz="2800" b="1">
              <a:solidFill>
                <a:srgbClr val="000000"/>
              </a:solidFill>
              <a:latin typeface="楷体_GB2312" pitchFamily="49" charset="-122"/>
              <a:ea typeface="楷体_GB2312" pitchFamily="49" charset="-122"/>
            </a:endParaRPr>
          </a:p>
          <a:p>
            <a:pPr fontAlgn="base">
              <a:spcBef>
                <a:spcPct val="0"/>
              </a:spcBef>
              <a:spcAft>
                <a:spcPct val="0"/>
              </a:spcAft>
            </a:pPr>
            <a:r>
              <a:rPr lang="zh-CN" altLang="en-US" sz="2800" b="1">
                <a:solidFill>
                  <a:srgbClr val="000000"/>
                </a:solidFill>
                <a:latin typeface="楷体_GB2312" pitchFamily="49" charset="-122"/>
                <a:ea typeface="楷体_GB2312" pitchFamily="49" charset="-122"/>
              </a:rPr>
              <a:t>的电子可能全部穿过隧道到</a:t>
            </a:r>
            <a:r>
              <a:rPr lang="en-US" altLang="zh-CN" sz="2800" b="1">
                <a:solidFill>
                  <a:srgbClr val="000000"/>
                </a:solidFill>
                <a:latin typeface="楷体_GB2312" pitchFamily="49" charset="-122"/>
                <a:ea typeface="楷体_GB2312" pitchFamily="49" charset="-122"/>
              </a:rPr>
              <a:t>p</a:t>
            </a:r>
            <a:r>
              <a:rPr lang="zh-CN" altLang="en-US" sz="2800" b="1">
                <a:solidFill>
                  <a:srgbClr val="000000"/>
                </a:solidFill>
                <a:latin typeface="楷体_GB2312" pitchFamily="49" charset="-122"/>
                <a:ea typeface="楷体_GB2312" pitchFamily="49" charset="-122"/>
              </a:rPr>
              <a:t>区价带的空量子态</a:t>
            </a:r>
            <a:endParaRPr lang="zh-CN" altLang="en-US" sz="2800" b="1">
              <a:solidFill>
                <a:srgbClr val="000000"/>
              </a:solidFill>
              <a:latin typeface="楷体_GB2312" pitchFamily="49" charset="-122"/>
              <a:ea typeface="楷体_GB2312" pitchFamily="49" charset="-122"/>
            </a:endParaRPr>
          </a:p>
          <a:p>
            <a:pPr fontAlgn="base">
              <a:spcBef>
                <a:spcPct val="0"/>
              </a:spcBef>
              <a:spcAft>
                <a:spcPct val="0"/>
              </a:spcAft>
            </a:pPr>
            <a:r>
              <a:rPr lang="zh-CN" altLang="en-US" sz="2800" b="1">
                <a:solidFill>
                  <a:srgbClr val="000000"/>
                </a:solidFill>
                <a:latin typeface="楷体_GB2312" pitchFamily="49" charset="-122"/>
                <a:ea typeface="楷体_GB2312" pitchFamily="49" charset="-122"/>
              </a:rPr>
              <a:t>上去，正向电流达到最大值</a:t>
            </a:r>
            <a:r>
              <a:rPr lang="en-US" altLang="zh-CN" sz="2800" b="1">
                <a:solidFill>
                  <a:srgbClr val="000000"/>
                </a:solidFill>
                <a:latin typeface="楷体_GB2312" pitchFamily="49" charset="-122"/>
                <a:ea typeface="楷体_GB2312" pitchFamily="49" charset="-122"/>
              </a:rPr>
              <a:t>I</a:t>
            </a:r>
            <a:r>
              <a:rPr lang="en-US" altLang="zh-CN" sz="2800" b="1" baseline="-25000">
                <a:solidFill>
                  <a:srgbClr val="000000"/>
                </a:solidFill>
                <a:latin typeface="楷体_GB2312" pitchFamily="49" charset="-122"/>
                <a:ea typeface="楷体_GB2312" pitchFamily="49" charset="-122"/>
              </a:rPr>
              <a:t>p</a:t>
            </a:r>
            <a:r>
              <a:rPr lang="zh-CN" altLang="en-US" sz="2800" b="1">
                <a:solidFill>
                  <a:srgbClr val="000000"/>
                </a:solidFill>
                <a:latin typeface="楷体_GB2312" pitchFamily="49" charset="-122"/>
                <a:ea typeface="楷体_GB2312" pitchFamily="49" charset="-122"/>
              </a:rPr>
              <a:t>。</a:t>
            </a:r>
            <a:endParaRPr lang="zh-CN" altLang="en-US" sz="2800" b="1">
              <a:solidFill>
                <a:srgbClr val="000000"/>
              </a:solidFill>
              <a:latin typeface="楷体_GB2312" pitchFamily="49" charset="-122"/>
              <a:ea typeface="楷体_GB2312" pitchFamily="49" charset="-122"/>
            </a:endParaRPr>
          </a:p>
        </p:txBody>
      </p:sp>
      <p:sp>
        <p:nvSpPr>
          <p:cNvPr id="374830" name="Line 46"/>
          <p:cNvSpPr>
            <a:spLocks noChangeShapeType="1"/>
          </p:cNvSpPr>
          <p:nvPr/>
        </p:nvSpPr>
        <p:spPr bwMode="auto">
          <a:xfrm>
            <a:off x="6888164" y="2492375"/>
            <a:ext cx="2592387" cy="0"/>
          </a:xfrm>
          <a:prstGeom prst="line">
            <a:avLst/>
          </a:prstGeom>
          <a:noFill/>
          <a:ln w="952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4831" name="Text Box 47"/>
          <p:cNvSpPr txBox="1">
            <a:spLocks noChangeArrowheads="1"/>
          </p:cNvSpPr>
          <p:nvPr/>
        </p:nvSpPr>
        <p:spPr bwMode="auto">
          <a:xfrm>
            <a:off x="8975725" y="1916114"/>
            <a:ext cx="74732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US" altLang="zh-CN" sz="3200">
                <a:solidFill>
                  <a:srgbClr val="000000"/>
                </a:solidFill>
                <a:latin typeface="Garamond" panose="02020404030301010803" pitchFamily="18" charset="0"/>
                <a:ea typeface="宋体" panose="02010600030101010101" pitchFamily="2" charset="-122"/>
              </a:rPr>
              <a:t>E</a:t>
            </a:r>
            <a:r>
              <a:rPr lang="en-US" altLang="zh-CN" sz="3200" baseline="-25000">
                <a:solidFill>
                  <a:srgbClr val="000000"/>
                </a:solidFill>
                <a:latin typeface="Garamond" panose="02020404030301010803" pitchFamily="18" charset="0"/>
                <a:ea typeface="宋体" panose="02010600030101010101" pitchFamily="2" charset="-122"/>
              </a:rPr>
              <a:t>Fn</a:t>
            </a:r>
            <a:endParaRPr lang="en-US" altLang="zh-CN" sz="3200" baseline="-25000">
              <a:solidFill>
                <a:srgbClr val="000000"/>
              </a:solidFill>
              <a:latin typeface="Garamond" panose="02020404030301010803" pitchFamily="18" charset="0"/>
              <a:ea typeface="宋体" panose="02010600030101010101" pitchFamily="2" charset="-122"/>
            </a:endParaRPr>
          </a:p>
        </p:txBody>
      </p:sp>
    </p:spTree>
  </p:cSld>
  <p:clrMapOvr>
    <a:masterClrMapping/>
  </p:clrMapOv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5810" name="Line 2"/>
          <p:cNvSpPr>
            <a:spLocks noChangeShapeType="1"/>
          </p:cNvSpPr>
          <p:nvPr/>
        </p:nvSpPr>
        <p:spPr bwMode="auto">
          <a:xfrm>
            <a:off x="3384550" y="2362200"/>
            <a:ext cx="2057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5811" name="Line 3"/>
          <p:cNvSpPr>
            <a:spLocks noChangeShapeType="1"/>
          </p:cNvSpPr>
          <p:nvPr/>
        </p:nvSpPr>
        <p:spPr bwMode="auto">
          <a:xfrm>
            <a:off x="6527800" y="3357563"/>
            <a:ext cx="22098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5812" name="Line 4"/>
          <p:cNvSpPr>
            <a:spLocks noChangeShapeType="1"/>
          </p:cNvSpPr>
          <p:nvPr/>
        </p:nvSpPr>
        <p:spPr bwMode="auto">
          <a:xfrm>
            <a:off x="3405188" y="3408364"/>
            <a:ext cx="2546350" cy="20637"/>
          </a:xfrm>
          <a:prstGeom prst="line">
            <a:avLst/>
          </a:prstGeom>
          <a:noFill/>
          <a:ln w="952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5813" name="Line 5"/>
          <p:cNvSpPr>
            <a:spLocks noChangeShapeType="1"/>
          </p:cNvSpPr>
          <p:nvPr/>
        </p:nvSpPr>
        <p:spPr bwMode="auto">
          <a:xfrm>
            <a:off x="5448301" y="2349501"/>
            <a:ext cx="1008063" cy="100806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5814" name="Line 6"/>
          <p:cNvSpPr>
            <a:spLocks noChangeShapeType="1"/>
          </p:cNvSpPr>
          <p:nvPr/>
        </p:nvSpPr>
        <p:spPr bwMode="auto">
          <a:xfrm>
            <a:off x="5664200" y="3141664"/>
            <a:ext cx="920750" cy="82073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5815" name="Line 7"/>
          <p:cNvSpPr>
            <a:spLocks noChangeShapeType="1"/>
          </p:cNvSpPr>
          <p:nvPr/>
        </p:nvSpPr>
        <p:spPr bwMode="auto">
          <a:xfrm>
            <a:off x="3575050" y="3141663"/>
            <a:ext cx="208915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5816" name="Line 8"/>
          <p:cNvSpPr>
            <a:spLocks noChangeShapeType="1"/>
          </p:cNvSpPr>
          <p:nvPr/>
        </p:nvSpPr>
        <p:spPr bwMode="auto">
          <a:xfrm>
            <a:off x="6584950" y="3962400"/>
            <a:ext cx="22098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5817" name="Line 9"/>
          <p:cNvSpPr>
            <a:spLocks noChangeShapeType="1"/>
          </p:cNvSpPr>
          <p:nvPr/>
        </p:nvSpPr>
        <p:spPr bwMode="auto">
          <a:xfrm flipH="1">
            <a:off x="3384551" y="3481388"/>
            <a:ext cx="92075" cy="10001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5818" name="Line 10"/>
          <p:cNvSpPr>
            <a:spLocks noChangeShapeType="1"/>
          </p:cNvSpPr>
          <p:nvPr/>
        </p:nvSpPr>
        <p:spPr bwMode="auto">
          <a:xfrm flipH="1">
            <a:off x="3384550" y="3408364"/>
            <a:ext cx="381000" cy="40163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5819" name="Line 11"/>
          <p:cNvSpPr>
            <a:spLocks noChangeShapeType="1"/>
          </p:cNvSpPr>
          <p:nvPr/>
        </p:nvSpPr>
        <p:spPr bwMode="auto">
          <a:xfrm flipH="1">
            <a:off x="3384550" y="3408364"/>
            <a:ext cx="668338" cy="63023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5820" name="Line 12"/>
          <p:cNvSpPr>
            <a:spLocks noChangeShapeType="1"/>
          </p:cNvSpPr>
          <p:nvPr/>
        </p:nvSpPr>
        <p:spPr bwMode="auto">
          <a:xfrm flipH="1">
            <a:off x="3384550" y="3408364"/>
            <a:ext cx="884238" cy="85883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5821" name="Line 13"/>
          <p:cNvSpPr>
            <a:spLocks noChangeShapeType="1"/>
          </p:cNvSpPr>
          <p:nvPr/>
        </p:nvSpPr>
        <p:spPr bwMode="auto">
          <a:xfrm flipH="1">
            <a:off x="3384550" y="3408364"/>
            <a:ext cx="1028700" cy="101123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5822" name="Line 14"/>
          <p:cNvSpPr>
            <a:spLocks noChangeShapeType="1"/>
          </p:cNvSpPr>
          <p:nvPr/>
        </p:nvSpPr>
        <p:spPr bwMode="auto">
          <a:xfrm flipH="1">
            <a:off x="3384550" y="3408364"/>
            <a:ext cx="1244600" cy="123983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5823" name="Line 15"/>
          <p:cNvSpPr>
            <a:spLocks noChangeShapeType="1"/>
          </p:cNvSpPr>
          <p:nvPr/>
        </p:nvSpPr>
        <p:spPr bwMode="auto">
          <a:xfrm flipH="1">
            <a:off x="3536950" y="3408364"/>
            <a:ext cx="1379538" cy="139223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5824" name="Line 16"/>
          <p:cNvSpPr>
            <a:spLocks noChangeShapeType="1"/>
          </p:cNvSpPr>
          <p:nvPr/>
        </p:nvSpPr>
        <p:spPr bwMode="auto">
          <a:xfrm flipH="1">
            <a:off x="3841751" y="3408364"/>
            <a:ext cx="1363663" cy="139223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5825" name="Line 17"/>
          <p:cNvSpPr>
            <a:spLocks noChangeShapeType="1"/>
          </p:cNvSpPr>
          <p:nvPr/>
        </p:nvSpPr>
        <p:spPr bwMode="auto">
          <a:xfrm flipH="1">
            <a:off x="4070351" y="3408364"/>
            <a:ext cx="1350963" cy="139223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5826" name="Line 18"/>
          <p:cNvSpPr>
            <a:spLocks noChangeShapeType="1"/>
          </p:cNvSpPr>
          <p:nvPr/>
        </p:nvSpPr>
        <p:spPr bwMode="auto">
          <a:xfrm flipH="1">
            <a:off x="4375151" y="3408364"/>
            <a:ext cx="1406525" cy="139223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5827" name="Line 19"/>
          <p:cNvSpPr>
            <a:spLocks noChangeShapeType="1"/>
          </p:cNvSpPr>
          <p:nvPr/>
        </p:nvSpPr>
        <p:spPr bwMode="auto">
          <a:xfrm flipH="1">
            <a:off x="4603750" y="3429000"/>
            <a:ext cx="1447800" cy="14478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5828" name="Line 20"/>
          <p:cNvSpPr>
            <a:spLocks noChangeShapeType="1"/>
          </p:cNvSpPr>
          <p:nvPr/>
        </p:nvSpPr>
        <p:spPr bwMode="auto">
          <a:xfrm flipH="1">
            <a:off x="5213350" y="3733800"/>
            <a:ext cx="1143000" cy="1143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5829" name="Line 21"/>
          <p:cNvSpPr>
            <a:spLocks noChangeShapeType="1"/>
          </p:cNvSpPr>
          <p:nvPr/>
        </p:nvSpPr>
        <p:spPr bwMode="auto">
          <a:xfrm flipH="1">
            <a:off x="4908550" y="3581400"/>
            <a:ext cx="1295400" cy="1295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5830" name="Line 22"/>
          <p:cNvSpPr>
            <a:spLocks noChangeShapeType="1"/>
          </p:cNvSpPr>
          <p:nvPr/>
        </p:nvSpPr>
        <p:spPr bwMode="auto">
          <a:xfrm flipH="1">
            <a:off x="5441950" y="3886200"/>
            <a:ext cx="1066800" cy="10668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5831" name="Line 23"/>
          <p:cNvSpPr>
            <a:spLocks noChangeShapeType="1"/>
          </p:cNvSpPr>
          <p:nvPr/>
        </p:nvSpPr>
        <p:spPr bwMode="auto">
          <a:xfrm flipH="1">
            <a:off x="5670550" y="3962400"/>
            <a:ext cx="990600" cy="990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5832" name="Line 24"/>
          <p:cNvSpPr>
            <a:spLocks noChangeShapeType="1"/>
          </p:cNvSpPr>
          <p:nvPr/>
        </p:nvSpPr>
        <p:spPr bwMode="auto">
          <a:xfrm flipH="1">
            <a:off x="5975350" y="3962400"/>
            <a:ext cx="990600" cy="990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5833" name="Line 25"/>
          <p:cNvSpPr>
            <a:spLocks noChangeShapeType="1"/>
          </p:cNvSpPr>
          <p:nvPr/>
        </p:nvSpPr>
        <p:spPr bwMode="auto">
          <a:xfrm flipH="1">
            <a:off x="6280150" y="3962400"/>
            <a:ext cx="990600" cy="990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5834" name="Line 26"/>
          <p:cNvSpPr>
            <a:spLocks noChangeShapeType="1"/>
          </p:cNvSpPr>
          <p:nvPr/>
        </p:nvSpPr>
        <p:spPr bwMode="auto">
          <a:xfrm flipH="1">
            <a:off x="6584950" y="3962400"/>
            <a:ext cx="990600" cy="990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5835" name="Line 27"/>
          <p:cNvSpPr>
            <a:spLocks noChangeShapeType="1"/>
          </p:cNvSpPr>
          <p:nvPr/>
        </p:nvSpPr>
        <p:spPr bwMode="auto">
          <a:xfrm flipH="1">
            <a:off x="6813550" y="3962400"/>
            <a:ext cx="990600" cy="990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5836" name="Line 28"/>
          <p:cNvSpPr>
            <a:spLocks noChangeShapeType="1"/>
          </p:cNvSpPr>
          <p:nvPr/>
        </p:nvSpPr>
        <p:spPr bwMode="auto">
          <a:xfrm flipH="1">
            <a:off x="7118350" y="3962400"/>
            <a:ext cx="990600" cy="990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5837" name="Line 29"/>
          <p:cNvSpPr>
            <a:spLocks noChangeShapeType="1"/>
          </p:cNvSpPr>
          <p:nvPr/>
        </p:nvSpPr>
        <p:spPr bwMode="auto">
          <a:xfrm flipH="1">
            <a:off x="7423150" y="3962400"/>
            <a:ext cx="990600" cy="990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5838" name="Line 30"/>
          <p:cNvSpPr>
            <a:spLocks noChangeShapeType="1"/>
          </p:cNvSpPr>
          <p:nvPr/>
        </p:nvSpPr>
        <p:spPr bwMode="auto">
          <a:xfrm flipH="1">
            <a:off x="7651750" y="3962400"/>
            <a:ext cx="990600" cy="990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5839" name="Line 31"/>
          <p:cNvSpPr>
            <a:spLocks noChangeShapeType="1"/>
          </p:cNvSpPr>
          <p:nvPr/>
        </p:nvSpPr>
        <p:spPr bwMode="auto">
          <a:xfrm flipV="1">
            <a:off x="7880350" y="4114800"/>
            <a:ext cx="838200" cy="838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5840" name="Line 32"/>
          <p:cNvSpPr>
            <a:spLocks noChangeShapeType="1"/>
          </p:cNvSpPr>
          <p:nvPr/>
        </p:nvSpPr>
        <p:spPr bwMode="auto">
          <a:xfrm flipV="1">
            <a:off x="8261350" y="4343400"/>
            <a:ext cx="457200" cy="609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5841" name="Text Box 33"/>
          <p:cNvSpPr txBox="1">
            <a:spLocks noChangeArrowheads="1"/>
          </p:cNvSpPr>
          <p:nvPr/>
        </p:nvSpPr>
        <p:spPr bwMode="auto">
          <a:xfrm>
            <a:off x="3000375" y="2852738"/>
            <a:ext cx="6746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2400">
                <a:solidFill>
                  <a:srgbClr val="000000"/>
                </a:solidFill>
                <a:latin typeface="Times New Roman" panose="02020603050405020304" pitchFamily="18" charset="0"/>
                <a:ea typeface="宋体" panose="02010600030101010101" pitchFamily="2" charset="-122"/>
                <a:cs typeface="Times New Roman" panose="02020603050405020304" pitchFamily="18" charset="0"/>
              </a:rPr>
              <a:t>Evp</a:t>
            </a:r>
            <a:endParaRPr kumimoji="1" lang="en-US" altLang="zh-CN" sz="240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75842" name="Line 34"/>
          <p:cNvSpPr>
            <a:spLocks noChangeShapeType="1"/>
          </p:cNvSpPr>
          <p:nvPr/>
        </p:nvSpPr>
        <p:spPr bwMode="auto">
          <a:xfrm>
            <a:off x="3935413" y="2349501"/>
            <a:ext cx="0" cy="792163"/>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5843" name="Text Box 35"/>
          <p:cNvSpPr txBox="1">
            <a:spLocks noChangeArrowheads="1"/>
          </p:cNvSpPr>
          <p:nvPr/>
        </p:nvSpPr>
        <p:spPr bwMode="auto">
          <a:xfrm>
            <a:off x="4054475" y="2327275"/>
            <a:ext cx="522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2400">
                <a:solidFill>
                  <a:srgbClr val="000000"/>
                </a:solidFill>
                <a:latin typeface="Times New Roman" panose="02020603050405020304" pitchFamily="18" charset="0"/>
                <a:ea typeface="宋体" panose="02010600030101010101" pitchFamily="2" charset="-122"/>
                <a:cs typeface="Times New Roman" panose="02020603050405020304" pitchFamily="18" charset="0"/>
              </a:rPr>
              <a:t>Eg</a:t>
            </a:r>
            <a:endParaRPr kumimoji="1" lang="en-US" altLang="zh-CN" sz="240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75844" name="Line 36"/>
          <p:cNvSpPr>
            <a:spLocks noChangeShapeType="1"/>
          </p:cNvSpPr>
          <p:nvPr/>
        </p:nvSpPr>
        <p:spPr bwMode="auto">
          <a:xfrm flipH="1">
            <a:off x="6024563" y="3284538"/>
            <a:ext cx="3048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5845" name="Text Box 37"/>
          <p:cNvSpPr txBox="1">
            <a:spLocks noChangeArrowheads="1"/>
          </p:cNvSpPr>
          <p:nvPr/>
        </p:nvSpPr>
        <p:spPr bwMode="auto">
          <a:xfrm>
            <a:off x="3000376" y="2133600"/>
            <a:ext cx="657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2400">
                <a:solidFill>
                  <a:srgbClr val="000000"/>
                </a:solidFill>
                <a:latin typeface="Times New Roman" panose="02020603050405020304" pitchFamily="18" charset="0"/>
                <a:ea typeface="宋体" panose="02010600030101010101" pitchFamily="2" charset="-122"/>
                <a:cs typeface="Times New Roman" panose="02020603050405020304" pitchFamily="18" charset="0"/>
              </a:rPr>
              <a:t>Ecp</a:t>
            </a:r>
            <a:endParaRPr kumimoji="1" lang="en-US" altLang="zh-CN" sz="240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75846" name="Rectangle 38"/>
          <p:cNvSpPr>
            <a:spLocks noChangeArrowheads="1"/>
          </p:cNvSpPr>
          <p:nvPr/>
        </p:nvSpPr>
        <p:spPr bwMode="auto">
          <a:xfrm>
            <a:off x="6456363" y="2997200"/>
            <a:ext cx="2209800" cy="368300"/>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5847" name="Rectangle 39"/>
          <p:cNvSpPr>
            <a:spLocks noChangeArrowheads="1"/>
          </p:cNvSpPr>
          <p:nvPr/>
        </p:nvSpPr>
        <p:spPr bwMode="auto">
          <a:xfrm>
            <a:off x="2279651" y="765175"/>
            <a:ext cx="756126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fontAlgn="base">
              <a:spcBef>
                <a:spcPct val="0"/>
              </a:spcBef>
              <a:spcAft>
                <a:spcPct val="0"/>
              </a:spcAft>
            </a:pPr>
            <a:r>
              <a:rPr kumimoji="1" lang="en-US" altLang="zh-CN" sz="3200" b="1">
                <a:solidFill>
                  <a:srgbClr val="D43636"/>
                </a:solidFill>
                <a:latin typeface="楷体_GB2312" pitchFamily="49" charset="-122"/>
                <a:ea typeface="楷体_GB2312" pitchFamily="49" charset="-122"/>
              </a:rPr>
              <a:t>(4) </a:t>
            </a:r>
            <a:r>
              <a:rPr kumimoji="1" lang="zh-CN" altLang="en-US" sz="3200" b="1">
                <a:solidFill>
                  <a:srgbClr val="D43636"/>
                </a:solidFill>
                <a:latin typeface="楷体_GB2312" pitchFamily="49" charset="-122"/>
                <a:ea typeface="楷体_GB2312" pitchFamily="49" charset="-122"/>
              </a:rPr>
              <a:t>正偏</a:t>
            </a:r>
            <a:r>
              <a:rPr kumimoji="1" lang="en-US" altLang="zh-CN" sz="3200" b="1">
                <a:solidFill>
                  <a:srgbClr val="D43636"/>
                </a:solidFill>
                <a:latin typeface="楷体_GB2312" pitchFamily="49" charset="-122"/>
                <a:ea typeface="楷体_GB2312" pitchFamily="49" charset="-122"/>
              </a:rPr>
              <a:t>V</a:t>
            </a:r>
            <a:r>
              <a:rPr kumimoji="1" lang="zh-CN" altLang="en-US" sz="3200" b="1">
                <a:solidFill>
                  <a:srgbClr val="D43636"/>
                </a:solidFill>
                <a:latin typeface="楷体_GB2312" pitchFamily="49" charset="-122"/>
                <a:ea typeface="楷体_GB2312" pitchFamily="49" charset="-122"/>
              </a:rPr>
              <a:t>继续</a:t>
            </a:r>
            <a:r>
              <a:rPr kumimoji="1" lang="zh-CN" altLang="en-US" sz="3200" b="1">
                <a:solidFill>
                  <a:srgbClr val="D43636"/>
                </a:solidFill>
                <a:latin typeface="楷体_GB2312" pitchFamily="49" charset="-122"/>
                <a:ea typeface="楷体_GB2312" pitchFamily="49" charset="-122"/>
                <a:sym typeface="Symbol" panose="05050102010706020507" pitchFamily="18" charset="2"/>
              </a:rPr>
              <a:t></a:t>
            </a:r>
            <a:r>
              <a:rPr kumimoji="1" lang="zh-CN" altLang="en-US" sz="3200" b="1">
                <a:solidFill>
                  <a:srgbClr val="D43636"/>
                </a:solidFill>
                <a:latin typeface="楷体_GB2312" pitchFamily="49" charset="-122"/>
                <a:ea typeface="楷体_GB2312" pitchFamily="49" charset="-122"/>
              </a:rPr>
              <a:t>，</a:t>
            </a:r>
            <a:r>
              <a:rPr kumimoji="1" lang="en-US" altLang="zh-CN" sz="3200" b="1">
                <a:solidFill>
                  <a:srgbClr val="D43636"/>
                </a:solidFill>
                <a:latin typeface="楷体_GB2312" pitchFamily="49" charset="-122"/>
                <a:ea typeface="楷体_GB2312" pitchFamily="49" charset="-122"/>
                <a:sym typeface="Symbol" panose="05050102010706020507" pitchFamily="18" charset="2"/>
              </a:rPr>
              <a:t>(E</a:t>
            </a:r>
            <a:r>
              <a:rPr kumimoji="1" lang="en-US" altLang="zh-CN" sz="3200" b="1" baseline="-30000">
                <a:solidFill>
                  <a:srgbClr val="D43636"/>
                </a:solidFill>
                <a:latin typeface="楷体_GB2312" pitchFamily="49" charset="-122"/>
                <a:ea typeface="楷体_GB2312" pitchFamily="49" charset="-122"/>
                <a:sym typeface="Symbol" panose="05050102010706020507" pitchFamily="18" charset="2"/>
              </a:rPr>
              <a:t>F</a:t>
            </a:r>
            <a:r>
              <a:rPr kumimoji="1" lang="en-US" altLang="zh-CN" sz="3200" b="1">
                <a:solidFill>
                  <a:srgbClr val="D43636"/>
                </a:solidFill>
                <a:latin typeface="楷体_GB2312" pitchFamily="49" charset="-122"/>
                <a:ea typeface="楷体_GB2312" pitchFamily="49" charset="-122"/>
                <a:sym typeface="Symbol" panose="05050102010706020507" pitchFamily="18" charset="2"/>
              </a:rPr>
              <a:t>)</a:t>
            </a:r>
            <a:r>
              <a:rPr kumimoji="1" lang="en-US" altLang="zh-CN" sz="3200" b="1" baseline="-30000">
                <a:solidFill>
                  <a:srgbClr val="D43636"/>
                </a:solidFill>
                <a:latin typeface="楷体_GB2312" pitchFamily="49" charset="-122"/>
                <a:ea typeface="楷体_GB2312" pitchFamily="49" charset="-122"/>
                <a:sym typeface="Symbol" panose="05050102010706020507" pitchFamily="18" charset="2"/>
              </a:rPr>
              <a:t>n</a:t>
            </a:r>
            <a:r>
              <a:rPr kumimoji="1" lang="en-US" altLang="zh-CN" sz="3200" b="1">
                <a:solidFill>
                  <a:srgbClr val="D43636"/>
                </a:solidFill>
                <a:latin typeface="楷体_GB2312" pitchFamily="49" charset="-122"/>
                <a:ea typeface="楷体_GB2312" pitchFamily="49" charset="-122"/>
                <a:sym typeface="Symbol" panose="05050102010706020507" pitchFamily="18" charset="2"/>
              </a:rPr>
              <a:t>&gt;E</a:t>
            </a:r>
            <a:r>
              <a:rPr kumimoji="1" lang="en-US" altLang="zh-CN" sz="3200" b="1" baseline="-30000">
                <a:solidFill>
                  <a:srgbClr val="D43636"/>
                </a:solidFill>
                <a:latin typeface="楷体_GB2312" pitchFamily="49" charset="-122"/>
                <a:ea typeface="楷体_GB2312" pitchFamily="49" charset="-122"/>
                <a:sym typeface="Symbol" panose="05050102010706020507" pitchFamily="18" charset="2"/>
              </a:rPr>
              <a:t>vp</a:t>
            </a:r>
            <a:r>
              <a:rPr kumimoji="1" lang="zh-CN" altLang="en-US" sz="3200" b="1">
                <a:solidFill>
                  <a:srgbClr val="D43636"/>
                </a:solidFill>
                <a:latin typeface="楷体_GB2312" pitchFamily="49" charset="-122"/>
                <a:ea typeface="楷体_GB2312" pitchFamily="49" charset="-122"/>
                <a:sym typeface="Symbol" panose="05050102010706020507" pitchFamily="18" charset="2"/>
              </a:rPr>
              <a:t>，</a:t>
            </a:r>
            <a:r>
              <a:rPr kumimoji="1" lang="en-US" altLang="zh-CN" sz="3200" b="1">
                <a:solidFill>
                  <a:srgbClr val="D43636"/>
                </a:solidFill>
                <a:latin typeface="楷体_GB2312" pitchFamily="49" charset="-122"/>
                <a:ea typeface="楷体_GB2312" pitchFamily="49" charset="-122"/>
                <a:sym typeface="Symbol" panose="05050102010706020507" pitchFamily="18" charset="2"/>
              </a:rPr>
              <a:t>(E</a:t>
            </a:r>
            <a:r>
              <a:rPr kumimoji="1" lang="en-US" altLang="zh-CN" sz="3200" b="1" baseline="-30000">
                <a:solidFill>
                  <a:srgbClr val="D43636"/>
                </a:solidFill>
                <a:latin typeface="楷体_GB2312" pitchFamily="49" charset="-122"/>
                <a:ea typeface="楷体_GB2312" pitchFamily="49" charset="-122"/>
                <a:sym typeface="Symbol" panose="05050102010706020507" pitchFamily="18" charset="2"/>
              </a:rPr>
              <a:t>F</a:t>
            </a:r>
            <a:r>
              <a:rPr kumimoji="1" lang="en-US" altLang="zh-CN" sz="3200" b="1">
                <a:solidFill>
                  <a:srgbClr val="D43636"/>
                </a:solidFill>
                <a:latin typeface="楷体_GB2312" pitchFamily="49" charset="-122"/>
                <a:ea typeface="楷体_GB2312" pitchFamily="49" charset="-122"/>
                <a:sym typeface="Symbol" panose="05050102010706020507" pitchFamily="18" charset="2"/>
              </a:rPr>
              <a:t>)</a:t>
            </a:r>
            <a:r>
              <a:rPr kumimoji="1" lang="en-US" altLang="zh-CN" sz="3200" b="1" baseline="-30000">
                <a:solidFill>
                  <a:srgbClr val="D43636"/>
                </a:solidFill>
                <a:latin typeface="楷体_GB2312" pitchFamily="49" charset="-122"/>
                <a:ea typeface="楷体_GB2312" pitchFamily="49" charset="-122"/>
                <a:sym typeface="Symbol" panose="05050102010706020507" pitchFamily="18" charset="2"/>
              </a:rPr>
              <a:t>p</a:t>
            </a:r>
            <a:r>
              <a:rPr kumimoji="1" lang="en-US" altLang="zh-CN" sz="3200" b="1">
                <a:solidFill>
                  <a:srgbClr val="D43636"/>
                </a:solidFill>
                <a:latin typeface="楷体_GB2312" pitchFamily="49" charset="-122"/>
                <a:ea typeface="楷体_GB2312" pitchFamily="49" charset="-122"/>
                <a:sym typeface="Symbol" panose="05050102010706020507" pitchFamily="18" charset="2"/>
              </a:rPr>
              <a:t>&lt;E</a:t>
            </a:r>
            <a:r>
              <a:rPr kumimoji="1" lang="en-US" altLang="zh-CN" sz="3200" b="1" baseline="-30000">
                <a:solidFill>
                  <a:srgbClr val="D43636"/>
                </a:solidFill>
                <a:latin typeface="楷体_GB2312" pitchFamily="49" charset="-122"/>
                <a:ea typeface="楷体_GB2312" pitchFamily="49" charset="-122"/>
                <a:sym typeface="Symbol" panose="05050102010706020507" pitchFamily="18" charset="2"/>
              </a:rPr>
              <a:t>cn</a:t>
            </a:r>
            <a:endParaRPr kumimoji="1" lang="en-US" altLang="zh-CN" sz="3200" b="1">
              <a:solidFill>
                <a:srgbClr val="D43636"/>
              </a:solidFill>
              <a:latin typeface="楷体_GB2312" pitchFamily="49" charset="-122"/>
              <a:ea typeface="楷体_GB2312" pitchFamily="49" charset="-122"/>
              <a:sym typeface="Symbol" panose="05050102010706020507" pitchFamily="18" charset="2"/>
            </a:endParaRPr>
          </a:p>
        </p:txBody>
      </p:sp>
      <p:sp>
        <p:nvSpPr>
          <p:cNvPr id="375848" name="Line 40"/>
          <p:cNvSpPr>
            <a:spLocks noChangeShapeType="1"/>
          </p:cNvSpPr>
          <p:nvPr/>
        </p:nvSpPr>
        <p:spPr bwMode="auto">
          <a:xfrm>
            <a:off x="6240464" y="2997200"/>
            <a:ext cx="2592387" cy="0"/>
          </a:xfrm>
          <a:prstGeom prst="line">
            <a:avLst/>
          </a:prstGeom>
          <a:noFill/>
          <a:ln w="952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5849" name="Text Box 41"/>
          <p:cNvSpPr txBox="1">
            <a:spLocks noChangeArrowheads="1"/>
          </p:cNvSpPr>
          <p:nvPr/>
        </p:nvSpPr>
        <p:spPr bwMode="auto">
          <a:xfrm>
            <a:off x="2711451" y="3068639"/>
            <a:ext cx="76174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US" altLang="zh-CN" sz="3200">
                <a:solidFill>
                  <a:srgbClr val="000000"/>
                </a:solidFill>
                <a:latin typeface="Garamond" panose="02020404030301010803" pitchFamily="18" charset="0"/>
                <a:ea typeface="宋体" panose="02010600030101010101" pitchFamily="2" charset="-122"/>
              </a:rPr>
              <a:t>E</a:t>
            </a:r>
            <a:r>
              <a:rPr lang="en-US" altLang="zh-CN" sz="3200" baseline="-25000">
                <a:solidFill>
                  <a:srgbClr val="000000"/>
                </a:solidFill>
                <a:latin typeface="Garamond" panose="02020404030301010803" pitchFamily="18" charset="0"/>
                <a:ea typeface="宋体" panose="02010600030101010101" pitchFamily="2" charset="-122"/>
              </a:rPr>
              <a:t>FP</a:t>
            </a:r>
            <a:endParaRPr lang="en-US" altLang="zh-CN" sz="3200" baseline="-25000">
              <a:solidFill>
                <a:srgbClr val="000000"/>
              </a:solidFill>
              <a:latin typeface="Garamond" panose="02020404030301010803" pitchFamily="18" charset="0"/>
              <a:ea typeface="宋体" panose="02010600030101010101" pitchFamily="2" charset="-122"/>
            </a:endParaRPr>
          </a:p>
        </p:txBody>
      </p:sp>
      <p:sp>
        <p:nvSpPr>
          <p:cNvPr id="375850" name="Text Box 42"/>
          <p:cNvSpPr txBox="1">
            <a:spLocks noChangeArrowheads="1"/>
          </p:cNvSpPr>
          <p:nvPr/>
        </p:nvSpPr>
        <p:spPr bwMode="auto">
          <a:xfrm>
            <a:off x="8904289" y="3716338"/>
            <a:ext cx="6746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2400">
                <a:solidFill>
                  <a:srgbClr val="000000"/>
                </a:solidFill>
                <a:latin typeface="Times New Roman" panose="02020603050405020304" pitchFamily="18" charset="0"/>
                <a:ea typeface="宋体" panose="02010600030101010101" pitchFamily="2" charset="-122"/>
                <a:cs typeface="Times New Roman" panose="02020603050405020304" pitchFamily="18" charset="0"/>
              </a:rPr>
              <a:t>Evn</a:t>
            </a:r>
            <a:endParaRPr kumimoji="1" lang="en-US" altLang="zh-CN" sz="240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75851" name="Text Box 43"/>
          <p:cNvSpPr txBox="1">
            <a:spLocks noChangeArrowheads="1"/>
          </p:cNvSpPr>
          <p:nvPr/>
        </p:nvSpPr>
        <p:spPr bwMode="auto">
          <a:xfrm>
            <a:off x="8832851" y="3141663"/>
            <a:ext cx="657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400">
                <a:solidFill>
                  <a:srgbClr val="000000"/>
                </a:solidFill>
                <a:latin typeface="Times New Roman" panose="02020603050405020304" pitchFamily="18" charset="0"/>
                <a:ea typeface="宋体" panose="02010600030101010101" pitchFamily="2" charset="-122"/>
                <a:cs typeface="Times New Roman" panose="02020603050405020304" pitchFamily="18" charset="0"/>
              </a:rPr>
              <a:t>Ecn</a:t>
            </a:r>
            <a:endParaRPr kumimoji="1" lang="en-US" altLang="zh-CN" sz="240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75852" name="Text Box 44"/>
          <p:cNvSpPr txBox="1">
            <a:spLocks noChangeArrowheads="1"/>
          </p:cNvSpPr>
          <p:nvPr/>
        </p:nvSpPr>
        <p:spPr bwMode="auto">
          <a:xfrm>
            <a:off x="8832850" y="2565401"/>
            <a:ext cx="74732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US" altLang="zh-CN" sz="3200">
                <a:solidFill>
                  <a:srgbClr val="000000"/>
                </a:solidFill>
                <a:latin typeface="Garamond" panose="02020404030301010803" pitchFamily="18" charset="0"/>
                <a:ea typeface="宋体" panose="02010600030101010101" pitchFamily="2" charset="-122"/>
              </a:rPr>
              <a:t>E</a:t>
            </a:r>
            <a:r>
              <a:rPr lang="en-US" altLang="zh-CN" sz="3200" baseline="-25000">
                <a:solidFill>
                  <a:srgbClr val="000000"/>
                </a:solidFill>
                <a:latin typeface="Garamond" panose="02020404030301010803" pitchFamily="18" charset="0"/>
                <a:ea typeface="宋体" panose="02010600030101010101" pitchFamily="2" charset="-122"/>
              </a:rPr>
              <a:t>Fn</a:t>
            </a:r>
            <a:endParaRPr lang="en-US" altLang="zh-CN" sz="3200" baseline="-25000">
              <a:solidFill>
                <a:srgbClr val="000000"/>
              </a:solidFill>
              <a:latin typeface="Garamond" panose="02020404030301010803" pitchFamily="18" charset="0"/>
              <a:ea typeface="宋体" panose="02010600030101010101" pitchFamily="2" charset="-122"/>
            </a:endParaRPr>
          </a:p>
        </p:txBody>
      </p:sp>
      <p:sp>
        <p:nvSpPr>
          <p:cNvPr id="375853" name="Text Box 45"/>
          <p:cNvSpPr txBox="1">
            <a:spLocks noChangeArrowheads="1"/>
          </p:cNvSpPr>
          <p:nvPr/>
        </p:nvSpPr>
        <p:spPr bwMode="auto">
          <a:xfrm>
            <a:off x="1752600" y="4724401"/>
            <a:ext cx="8116888"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US" altLang="zh-CN" sz="2800" b="1">
                <a:solidFill>
                  <a:srgbClr val="000000"/>
                </a:solidFill>
                <a:latin typeface="楷体_GB2312" pitchFamily="49" charset="-122"/>
                <a:ea typeface="楷体_GB2312" pitchFamily="49" charset="-122"/>
              </a:rPr>
              <a:t>V </a:t>
            </a:r>
            <a:r>
              <a:rPr lang="en-US" altLang="zh-CN" sz="2800" b="1">
                <a:solidFill>
                  <a:srgbClr val="000000"/>
                </a:solidFill>
                <a:latin typeface="楷体_GB2312" pitchFamily="49" charset="-122"/>
                <a:ea typeface="楷体_GB2312" pitchFamily="49" charset="-122"/>
                <a:sym typeface="Symbol" panose="05050102010706020507" pitchFamily="18" charset="2"/>
              </a:rPr>
              <a:t>, </a:t>
            </a:r>
            <a:r>
              <a:rPr lang="zh-CN" altLang="en-US" sz="2800" b="1">
                <a:solidFill>
                  <a:srgbClr val="000000"/>
                </a:solidFill>
                <a:latin typeface="楷体_GB2312" pitchFamily="49" charset="-122"/>
                <a:ea typeface="楷体_GB2312" pitchFamily="49" charset="-122"/>
                <a:sym typeface="Symbol" panose="05050102010706020507" pitchFamily="18" charset="2"/>
              </a:rPr>
              <a:t>势垒高度，结两边能量相同的量子态减少，</a:t>
            </a:r>
            <a:endParaRPr lang="zh-CN" altLang="en-US" sz="2800" b="1">
              <a:solidFill>
                <a:srgbClr val="000000"/>
              </a:solidFill>
              <a:latin typeface="楷体_GB2312" pitchFamily="49" charset="-122"/>
              <a:ea typeface="楷体_GB2312" pitchFamily="49" charset="-122"/>
              <a:sym typeface="Symbol" panose="05050102010706020507" pitchFamily="18" charset="2"/>
            </a:endParaRPr>
          </a:p>
          <a:p>
            <a:pPr fontAlgn="base">
              <a:spcBef>
                <a:spcPct val="0"/>
              </a:spcBef>
              <a:spcAft>
                <a:spcPct val="0"/>
              </a:spcAft>
            </a:pPr>
            <a:r>
              <a:rPr lang="zh-CN" altLang="en-US" sz="2800" b="1">
                <a:solidFill>
                  <a:srgbClr val="000000"/>
                </a:solidFill>
                <a:latin typeface="楷体_GB2312" pitchFamily="49" charset="-122"/>
                <a:ea typeface="楷体_GB2312" pitchFamily="49" charset="-122"/>
                <a:sym typeface="Symbol" panose="05050102010706020507" pitchFamily="18" charset="2"/>
              </a:rPr>
              <a:t>使</a:t>
            </a:r>
            <a:r>
              <a:rPr lang="en-US" altLang="zh-CN" sz="2800" b="1">
                <a:solidFill>
                  <a:srgbClr val="000000"/>
                </a:solidFill>
                <a:latin typeface="楷体_GB2312" pitchFamily="49" charset="-122"/>
                <a:ea typeface="楷体_GB2312" pitchFamily="49" charset="-122"/>
                <a:sym typeface="Symbol" panose="05050102010706020507" pitchFamily="18" charset="2"/>
              </a:rPr>
              <a:t>n</a:t>
            </a:r>
            <a:r>
              <a:rPr lang="zh-CN" altLang="en-US" sz="2800" b="1">
                <a:solidFill>
                  <a:srgbClr val="000000"/>
                </a:solidFill>
                <a:latin typeface="楷体_GB2312" pitchFamily="49" charset="-122"/>
                <a:ea typeface="楷体_GB2312" pitchFamily="49" charset="-122"/>
                <a:sym typeface="Symbol" panose="05050102010706020507" pitchFamily="18" charset="2"/>
              </a:rPr>
              <a:t>区导带中可能穿过隧道的电子数以及</a:t>
            </a:r>
            <a:r>
              <a:rPr lang="en-US" altLang="zh-CN" sz="2800" b="1">
                <a:solidFill>
                  <a:srgbClr val="000000"/>
                </a:solidFill>
                <a:latin typeface="楷体_GB2312" pitchFamily="49" charset="-122"/>
                <a:ea typeface="楷体_GB2312" pitchFamily="49" charset="-122"/>
                <a:sym typeface="Symbol" panose="05050102010706020507" pitchFamily="18" charset="2"/>
              </a:rPr>
              <a:t>p</a:t>
            </a:r>
            <a:r>
              <a:rPr lang="zh-CN" altLang="en-US" sz="2800" b="1">
                <a:solidFill>
                  <a:srgbClr val="000000"/>
                </a:solidFill>
                <a:latin typeface="楷体_GB2312" pitchFamily="49" charset="-122"/>
                <a:ea typeface="楷体_GB2312" pitchFamily="49" charset="-122"/>
                <a:sym typeface="Symbol" panose="05050102010706020507" pitchFamily="18" charset="2"/>
              </a:rPr>
              <a:t>区价带</a:t>
            </a:r>
            <a:endParaRPr lang="zh-CN" altLang="en-US" sz="2800" b="1">
              <a:solidFill>
                <a:srgbClr val="000000"/>
              </a:solidFill>
              <a:latin typeface="楷体_GB2312" pitchFamily="49" charset="-122"/>
              <a:ea typeface="楷体_GB2312" pitchFamily="49" charset="-122"/>
              <a:sym typeface="Symbol" panose="05050102010706020507" pitchFamily="18" charset="2"/>
            </a:endParaRPr>
          </a:p>
          <a:p>
            <a:pPr fontAlgn="base">
              <a:spcBef>
                <a:spcPct val="0"/>
              </a:spcBef>
              <a:spcAft>
                <a:spcPct val="0"/>
              </a:spcAft>
            </a:pPr>
            <a:r>
              <a:rPr lang="zh-CN" altLang="en-US" sz="2800" b="1">
                <a:solidFill>
                  <a:srgbClr val="000000"/>
                </a:solidFill>
                <a:latin typeface="楷体_GB2312" pitchFamily="49" charset="-122"/>
                <a:ea typeface="楷体_GB2312" pitchFamily="49" charset="-122"/>
                <a:sym typeface="Symbol" panose="05050102010706020507" pitchFamily="18" charset="2"/>
              </a:rPr>
              <a:t>中空量子数减小，隧道电流减小，出现负阻现象。</a:t>
            </a:r>
            <a:endParaRPr lang="en-US" altLang="zh-CN" sz="2800" b="1">
              <a:solidFill>
                <a:srgbClr val="000000"/>
              </a:solidFill>
              <a:latin typeface="楷体_GB2312" pitchFamily="49" charset="-122"/>
              <a:ea typeface="楷体_GB2312" pitchFamily="49" charset="-122"/>
              <a:sym typeface="Symbol" panose="05050102010706020507" pitchFamily="18" charset="2"/>
            </a:endParaRPr>
          </a:p>
          <a:p>
            <a:pPr fontAlgn="base">
              <a:spcBef>
                <a:spcPct val="0"/>
              </a:spcBef>
              <a:spcAft>
                <a:spcPct val="0"/>
              </a:spcAft>
            </a:pPr>
            <a:endParaRPr lang="zh-CN" altLang="en-US" sz="2800" b="1">
              <a:solidFill>
                <a:srgbClr val="000000"/>
              </a:solidFill>
              <a:latin typeface="楷体_GB2312" pitchFamily="49" charset="-122"/>
              <a:ea typeface="楷体_GB2312" pitchFamily="49" charset="-122"/>
              <a:sym typeface="Symbol" panose="05050102010706020507" pitchFamily="18" charset="2"/>
            </a:endParaRPr>
          </a:p>
        </p:txBody>
      </p:sp>
    </p:spTree>
  </p:cSld>
  <p:clrMapOvr>
    <a:masterClrMapping/>
  </p:clrMapOv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6834" name="Rectangle 2"/>
          <p:cNvSpPr>
            <a:spLocks noChangeArrowheads="1"/>
          </p:cNvSpPr>
          <p:nvPr/>
        </p:nvSpPr>
        <p:spPr bwMode="auto">
          <a:xfrm>
            <a:off x="2279650" y="476250"/>
            <a:ext cx="46482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fontAlgn="base">
              <a:spcBef>
                <a:spcPct val="0"/>
              </a:spcBef>
              <a:spcAft>
                <a:spcPct val="0"/>
              </a:spcAft>
            </a:pPr>
            <a:r>
              <a:rPr kumimoji="1" lang="en-US" altLang="zh-CN" sz="3200" b="1">
                <a:solidFill>
                  <a:srgbClr val="D43636"/>
                </a:solidFill>
                <a:latin typeface="楷体_GB2312" pitchFamily="49" charset="-122"/>
                <a:ea typeface="楷体_GB2312" pitchFamily="49" charset="-122"/>
              </a:rPr>
              <a:t>(5)</a:t>
            </a:r>
            <a:r>
              <a:rPr kumimoji="1" lang="en-US" altLang="zh-CN" sz="3200" b="1">
                <a:solidFill>
                  <a:srgbClr val="D43636"/>
                </a:solidFill>
                <a:latin typeface="Times New Roman" panose="02020603050405020304" pitchFamily="18" charset="0"/>
                <a:ea typeface="宋体" panose="02010600030101010101" pitchFamily="2" charset="-122"/>
              </a:rPr>
              <a:t> </a:t>
            </a:r>
            <a:r>
              <a:rPr kumimoji="1" lang="zh-CN" altLang="en-US" sz="3200" b="1">
                <a:solidFill>
                  <a:srgbClr val="D43636"/>
                </a:solidFill>
                <a:latin typeface="楷体_GB2312" pitchFamily="49" charset="-122"/>
                <a:ea typeface="楷体_GB2312" pitchFamily="49" charset="-122"/>
              </a:rPr>
              <a:t>当</a:t>
            </a:r>
            <a:r>
              <a:rPr kumimoji="1" lang="en-US" altLang="zh-CN" sz="3200" b="1">
                <a:solidFill>
                  <a:srgbClr val="D43636"/>
                </a:solidFill>
                <a:latin typeface="楷体_GB2312" pitchFamily="49" charset="-122"/>
                <a:ea typeface="楷体_GB2312" pitchFamily="49" charset="-122"/>
              </a:rPr>
              <a:t>V=V</a:t>
            </a:r>
            <a:r>
              <a:rPr kumimoji="1" lang="en-US" altLang="zh-CN" sz="3200" b="1" baseline="-30000">
                <a:solidFill>
                  <a:srgbClr val="D43636"/>
                </a:solidFill>
                <a:latin typeface="楷体_GB2312" pitchFamily="49" charset="-122"/>
                <a:ea typeface="楷体_GB2312" pitchFamily="49" charset="-122"/>
              </a:rPr>
              <a:t>V</a:t>
            </a:r>
            <a:r>
              <a:rPr kumimoji="1" lang="zh-CN" altLang="en-US" sz="3200" b="1">
                <a:solidFill>
                  <a:srgbClr val="D43636"/>
                </a:solidFill>
                <a:latin typeface="楷体_GB2312" pitchFamily="49" charset="-122"/>
                <a:ea typeface="楷体_GB2312" pitchFamily="49" charset="-122"/>
              </a:rPr>
              <a:t>时，</a:t>
            </a:r>
            <a:r>
              <a:rPr kumimoji="1" lang="en-US" altLang="zh-CN" sz="3200" b="1">
                <a:solidFill>
                  <a:srgbClr val="D43636"/>
                </a:solidFill>
                <a:latin typeface="楷体_GB2312" pitchFamily="49" charset="-122"/>
                <a:ea typeface="楷体_GB2312" pitchFamily="49" charset="-122"/>
              </a:rPr>
              <a:t>E</a:t>
            </a:r>
            <a:r>
              <a:rPr kumimoji="1" lang="en-US" altLang="zh-CN" sz="3200" b="1" baseline="-30000">
                <a:solidFill>
                  <a:srgbClr val="D43636"/>
                </a:solidFill>
                <a:latin typeface="楷体_GB2312" pitchFamily="49" charset="-122"/>
                <a:ea typeface="楷体_GB2312" pitchFamily="49" charset="-122"/>
              </a:rPr>
              <a:t>cn</a:t>
            </a:r>
            <a:r>
              <a:rPr kumimoji="1" lang="en-US" altLang="zh-CN" sz="3200" b="1">
                <a:solidFill>
                  <a:srgbClr val="D43636"/>
                </a:solidFill>
                <a:latin typeface="楷体_GB2312" pitchFamily="49" charset="-122"/>
                <a:ea typeface="楷体_GB2312" pitchFamily="49" charset="-122"/>
              </a:rPr>
              <a:t>=E</a:t>
            </a:r>
            <a:r>
              <a:rPr kumimoji="1" lang="en-US" altLang="zh-CN" sz="3200" b="1" baseline="-30000">
                <a:solidFill>
                  <a:srgbClr val="D43636"/>
                </a:solidFill>
                <a:latin typeface="楷体_GB2312" pitchFamily="49" charset="-122"/>
                <a:ea typeface="楷体_GB2312" pitchFamily="49" charset="-122"/>
              </a:rPr>
              <a:t>vp</a:t>
            </a:r>
            <a:endParaRPr kumimoji="1" lang="en-US" altLang="zh-CN" sz="3200" b="1">
              <a:solidFill>
                <a:srgbClr val="D43636"/>
              </a:solidFill>
              <a:latin typeface="楷体_GB2312" pitchFamily="49" charset="-122"/>
              <a:ea typeface="楷体_GB2312" pitchFamily="49" charset="-122"/>
            </a:endParaRPr>
          </a:p>
        </p:txBody>
      </p:sp>
      <p:sp>
        <p:nvSpPr>
          <p:cNvPr id="376835" name="Line 3"/>
          <p:cNvSpPr>
            <a:spLocks noChangeShapeType="1"/>
          </p:cNvSpPr>
          <p:nvPr/>
        </p:nvSpPr>
        <p:spPr bwMode="auto">
          <a:xfrm flipV="1">
            <a:off x="3744913" y="1916113"/>
            <a:ext cx="2063750" cy="127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6836" name="Line 4"/>
          <p:cNvSpPr>
            <a:spLocks noChangeShapeType="1"/>
          </p:cNvSpPr>
          <p:nvPr/>
        </p:nvSpPr>
        <p:spPr bwMode="auto">
          <a:xfrm>
            <a:off x="6672263" y="2636838"/>
            <a:ext cx="22098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6837" name="Line 5"/>
          <p:cNvSpPr>
            <a:spLocks noChangeShapeType="1"/>
          </p:cNvSpPr>
          <p:nvPr/>
        </p:nvSpPr>
        <p:spPr bwMode="auto">
          <a:xfrm>
            <a:off x="3765550" y="2974976"/>
            <a:ext cx="2617788" cy="22225"/>
          </a:xfrm>
          <a:prstGeom prst="line">
            <a:avLst/>
          </a:prstGeom>
          <a:noFill/>
          <a:ln w="952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6838" name="Line 6"/>
          <p:cNvSpPr>
            <a:spLocks noChangeShapeType="1"/>
          </p:cNvSpPr>
          <p:nvPr/>
        </p:nvSpPr>
        <p:spPr bwMode="auto">
          <a:xfrm>
            <a:off x="5808663" y="1916114"/>
            <a:ext cx="863600" cy="72072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6839" name="Line 7"/>
          <p:cNvSpPr>
            <a:spLocks noChangeShapeType="1"/>
          </p:cNvSpPr>
          <p:nvPr/>
        </p:nvSpPr>
        <p:spPr bwMode="auto">
          <a:xfrm>
            <a:off x="6096001" y="2708275"/>
            <a:ext cx="849313" cy="82073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6840" name="Line 8"/>
          <p:cNvSpPr>
            <a:spLocks noChangeShapeType="1"/>
          </p:cNvSpPr>
          <p:nvPr/>
        </p:nvSpPr>
        <p:spPr bwMode="auto">
          <a:xfrm>
            <a:off x="4008438" y="2708275"/>
            <a:ext cx="2057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6841" name="Line 9"/>
          <p:cNvSpPr>
            <a:spLocks noChangeShapeType="1"/>
          </p:cNvSpPr>
          <p:nvPr/>
        </p:nvSpPr>
        <p:spPr bwMode="auto">
          <a:xfrm>
            <a:off x="6945313" y="3529013"/>
            <a:ext cx="22098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6842" name="Line 10"/>
          <p:cNvSpPr>
            <a:spLocks noChangeShapeType="1"/>
          </p:cNvSpPr>
          <p:nvPr/>
        </p:nvSpPr>
        <p:spPr bwMode="auto">
          <a:xfrm flipH="1">
            <a:off x="3744914" y="3048001"/>
            <a:ext cx="92075" cy="10001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6843" name="Line 11"/>
          <p:cNvSpPr>
            <a:spLocks noChangeShapeType="1"/>
          </p:cNvSpPr>
          <p:nvPr/>
        </p:nvSpPr>
        <p:spPr bwMode="auto">
          <a:xfrm flipH="1">
            <a:off x="3744913" y="2974975"/>
            <a:ext cx="381000" cy="40163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6844" name="Line 12"/>
          <p:cNvSpPr>
            <a:spLocks noChangeShapeType="1"/>
          </p:cNvSpPr>
          <p:nvPr/>
        </p:nvSpPr>
        <p:spPr bwMode="auto">
          <a:xfrm flipH="1">
            <a:off x="3744914" y="2974975"/>
            <a:ext cx="668337" cy="63023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6845" name="Line 13"/>
          <p:cNvSpPr>
            <a:spLocks noChangeShapeType="1"/>
          </p:cNvSpPr>
          <p:nvPr/>
        </p:nvSpPr>
        <p:spPr bwMode="auto">
          <a:xfrm flipH="1">
            <a:off x="3744914" y="2974975"/>
            <a:ext cx="884237" cy="85883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6846" name="Line 14"/>
          <p:cNvSpPr>
            <a:spLocks noChangeShapeType="1"/>
          </p:cNvSpPr>
          <p:nvPr/>
        </p:nvSpPr>
        <p:spPr bwMode="auto">
          <a:xfrm flipH="1">
            <a:off x="3744913" y="2974975"/>
            <a:ext cx="1028700" cy="101123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6847" name="Line 15"/>
          <p:cNvSpPr>
            <a:spLocks noChangeShapeType="1"/>
          </p:cNvSpPr>
          <p:nvPr/>
        </p:nvSpPr>
        <p:spPr bwMode="auto">
          <a:xfrm flipH="1">
            <a:off x="3744913" y="2974975"/>
            <a:ext cx="1244600" cy="123983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6848" name="Line 16"/>
          <p:cNvSpPr>
            <a:spLocks noChangeShapeType="1"/>
          </p:cNvSpPr>
          <p:nvPr/>
        </p:nvSpPr>
        <p:spPr bwMode="auto">
          <a:xfrm flipH="1">
            <a:off x="3897314" y="2974975"/>
            <a:ext cx="1379537" cy="139223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6849" name="Line 17"/>
          <p:cNvSpPr>
            <a:spLocks noChangeShapeType="1"/>
          </p:cNvSpPr>
          <p:nvPr/>
        </p:nvSpPr>
        <p:spPr bwMode="auto">
          <a:xfrm flipH="1">
            <a:off x="4202113" y="2974975"/>
            <a:ext cx="1363662" cy="139223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6850" name="Line 18"/>
          <p:cNvSpPr>
            <a:spLocks noChangeShapeType="1"/>
          </p:cNvSpPr>
          <p:nvPr/>
        </p:nvSpPr>
        <p:spPr bwMode="auto">
          <a:xfrm flipH="1">
            <a:off x="4430713" y="2974975"/>
            <a:ext cx="1350962" cy="139223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6851" name="Line 19"/>
          <p:cNvSpPr>
            <a:spLocks noChangeShapeType="1"/>
          </p:cNvSpPr>
          <p:nvPr/>
        </p:nvSpPr>
        <p:spPr bwMode="auto">
          <a:xfrm flipH="1">
            <a:off x="4735514" y="2974975"/>
            <a:ext cx="1406525" cy="139223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6852" name="Line 20"/>
          <p:cNvSpPr>
            <a:spLocks noChangeShapeType="1"/>
          </p:cNvSpPr>
          <p:nvPr/>
        </p:nvSpPr>
        <p:spPr bwMode="auto">
          <a:xfrm flipH="1">
            <a:off x="4964113" y="2995613"/>
            <a:ext cx="1447800" cy="14478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6853" name="Line 21"/>
          <p:cNvSpPr>
            <a:spLocks noChangeShapeType="1"/>
          </p:cNvSpPr>
          <p:nvPr/>
        </p:nvSpPr>
        <p:spPr bwMode="auto">
          <a:xfrm flipH="1">
            <a:off x="5573713" y="3300413"/>
            <a:ext cx="1143000" cy="1143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6854" name="Line 22"/>
          <p:cNvSpPr>
            <a:spLocks noChangeShapeType="1"/>
          </p:cNvSpPr>
          <p:nvPr/>
        </p:nvSpPr>
        <p:spPr bwMode="auto">
          <a:xfrm flipH="1">
            <a:off x="5268913" y="3148013"/>
            <a:ext cx="1295400" cy="1295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6855" name="Line 23"/>
          <p:cNvSpPr>
            <a:spLocks noChangeShapeType="1"/>
          </p:cNvSpPr>
          <p:nvPr/>
        </p:nvSpPr>
        <p:spPr bwMode="auto">
          <a:xfrm flipH="1">
            <a:off x="5802313" y="3452813"/>
            <a:ext cx="1066800" cy="10668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6856" name="Line 24"/>
          <p:cNvSpPr>
            <a:spLocks noChangeShapeType="1"/>
          </p:cNvSpPr>
          <p:nvPr/>
        </p:nvSpPr>
        <p:spPr bwMode="auto">
          <a:xfrm flipH="1">
            <a:off x="6030913" y="3529013"/>
            <a:ext cx="990600" cy="990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6857" name="Line 25"/>
          <p:cNvSpPr>
            <a:spLocks noChangeShapeType="1"/>
          </p:cNvSpPr>
          <p:nvPr/>
        </p:nvSpPr>
        <p:spPr bwMode="auto">
          <a:xfrm flipH="1">
            <a:off x="6335713" y="3529013"/>
            <a:ext cx="990600" cy="990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6858" name="Line 26"/>
          <p:cNvSpPr>
            <a:spLocks noChangeShapeType="1"/>
          </p:cNvSpPr>
          <p:nvPr/>
        </p:nvSpPr>
        <p:spPr bwMode="auto">
          <a:xfrm flipH="1">
            <a:off x="6640513" y="3529013"/>
            <a:ext cx="990600" cy="990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6859" name="Line 27"/>
          <p:cNvSpPr>
            <a:spLocks noChangeShapeType="1"/>
          </p:cNvSpPr>
          <p:nvPr/>
        </p:nvSpPr>
        <p:spPr bwMode="auto">
          <a:xfrm flipH="1">
            <a:off x="6945313" y="3529013"/>
            <a:ext cx="990600" cy="990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6860" name="Line 28"/>
          <p:cNvSpPr>
            <a:spLocks noChangeShapeType="1"/>
          </p:cNvSpPr>
          <p:nvPr/>
        </p:nvSpPr>
        <p:spPr bwMode="auto">
          <a:xfrm flipH="1">
            <a:off x="7173913" y="3529013"/>
            <a:ext cx="990600" cy="990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6861" name="Line 29"/>
          <p:cNvSpPr>
            <a:spLocks noChangeShapeType="1"/>
          </p:cNvSpPr>
          <p:nvPr/>
        </p:nvSpPr>
        <p:spPr bwMode="auto">
          <a:xfrm flipH="1">
            <a:off x="7478713" y="3529013"/>
            <a:ext cx="990600" cy="990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6862" name="Line 30"/>
          <p:cNvSpPr>
            <a:spLocks noChangeShapeType="1"/>
          </p:cNvSpPr>
          <p:nvPr/>
        </p:nvSpPr>
        <p:spPr bwMode="auto">
          <a:xfrm flipH="1">
            <a:off x="7783513" y="3529013"/>
            <a:ext cx="990600" cy="990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6863" name="Line 31"/>
          <p:cNvSpPr>
            <a:spLocks noChangeShapeType="1"/>
          </p:cNvSpPr>
          <p:nvPr/>
        </p:nvSpPr>
        <p:spPr bwMode="auto">
          <a:xfrm flipH="1">
            <a:off x="8012113" y="3529013"/>
            <a:ext cx="990600" cy="990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6864" name="Line 32"/>
          <p:cNvSpPr>
            <a:spLocks noChangeShapeType="1"/>
          </p:cNvSpPr>
          <p:nvPr/>
        </p:nvSpPr>
        <p:spPr bwMode="auto">
          <a:xfrm flipV="1">
            <a:off x="8240713" y="3681413"/>
            <a:ext cx="838200" cy="838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6865" name="Line 33"/>
          <p:cNvSpPr>
            <a:spLocks noChangeShapeType="1"/>
          </p:cNvSpPr>
          <p:nvPr/>
        </p:nvSpPr>
        <p:spPr bwMode="auto">
          <a:xfrm flipV="1">
            <a:off x="8621713" y="3910013"/>
            <a:ext cx="457200" cy="609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6866" name="Text Box 34"/>
          <p:cNvSpPr txBox="1">
            <a:spLocks noChangeArrowheads="1"/>
          </p:cNvSpPr>
          <p:nvPr/>
        </p:nvSpPr>
        <p:spPr bwMode="auto">
          <a:xfrm>
            <a:off x="3352800" y="2286000"/>
            <a:ext cx="6746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2400">
                <a:solidFill>
                  <a:srgbClr val="000000"/>
                </a:solidFill>
                <a:latin typeface="Times New Roman" panose="02020603050405020304" pitchFamily="18" charset="0"/>
                <a:ea typeface="宋体" panose="02010600030101010101" pitchFamily="2" charset="-122"/>
                <a:cs typeface="Times New Roman" panose="02020603050405020304" pitchFamily="18" charset="0"/>
              </a:rPr>
              <a:t>Evp</a:t>
            </a:r>
            <a:endParaRPr kumimoji="1" lang="en-US" altLang="zh-CN" sz="240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76867" name="Line 35"/>
          <p:cNvSpPr>
            <a:spLocks noChangeShapeType="1"/>
          </p:cNvSpPr>
          <p:nvPr/>
        </p:nvSpPr>
        <p:spPr bwMode="auto">
          <a:xfrm>
            <a:off x="4295775" y="1916114"/>
            <a:ext cx="0" cy="720725"/>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6868" name="Text Box 36"/>
          <p:cNvSpPr txBox="1">
            <a:spLocks noChangeArrowheads="1"/>
          </p:cNvSpPr>
          <p:nvPr/>
        </p:nvSpPr>
        <p:spPr bwMode="auto">
          <a:xfrm>
            <a:off x="4414839" y="1893888"/>
            <a:ext cx="522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2400">
                <a:solidFill>
                  <a:srgbClr val="000000"/>
                </a:solidFill>
                <a:latin typeface="Times New Roman" panose="02020603050405020304" pitchFamily="18" charset="0"/>
                <a:ea typeface="宋体" panose="02010600030101010101" pitchFamily="2" charset="-122"/>
                <a:cs typeface="Times New Roman" panose="02020603050405020304" pitchFamily="18" charset="0"/>
              </a:rPr>
              <a:t>Eg</a:t>
            </a:r>
            <a:endParaRPr kumimoji="1" lang="en-US" altLang="zh-CN" sz="240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76869" name="Text Box 37"/>
          <p:cNvSpPr txBox="1">
            <a:spLocks noChangeArrowheads="1"/>
          </p:cNvSpPr>
          <p:nvPr/>
        </p:nvSpPr>
        <p:spPr bwMode="auto">
          <a:xfrm>
            <a:off x="3287714" y="1700213"/>
            <a:ext cx="657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2400">
                <a:solidFill>
                  <a:srgbClr val="000000"/>
                </a:solidFill>
                <a:latin typeface="Times New Roman" panose="02020603050405020304" pitchFamily="18" charset="0"/>
                <a:ea typeface="宋体" panose="02010600030101010101" pitchFamily="2" charset="-122"/>
                <a:cs typeface="Times New Roman" panose="02020603050405020304" pitchFamily="18" charset="0"/>
              </a:rPr>
              <a:t>Ecp</a:t>
            </a:r>
            <a:endParaRPr kumimoji="1" lang="en-US" altLang="zh-CN" sz="240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76870" name="Rectangle 38"/>
          <p:cNvSpPr>
            <a:spLocks noChangeArrowheads="1"/>
          </p:cNvSpPr>
          <p:nvPr/>
        </p:nvSpPr>
        <p:spPr bwMode="auto">
          <a:xfrm>
            <a:off x="6672263" y="2349501"/>
            <a:ext cx="2209800" cy="296863"/>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6871" name="Rectangle 39"/>
          <p:cNvSpPr>
            <a:spLocks noChangeArrowheads="1"/>
          </p:cNvSpPr>
          <p:nvPr/>
        </p:nvSpPr>
        <p:spPr bwMode="auto">
          <a:xfrm>
            <a:off x="2351089" y="5516563"/>
            <a:ext cx="6696075"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fontAlgn="base">
              <a:spcBef>
                <a:spcPct val="0"/>
              </a:spcBef>
              <a:spcAft>
                <a:spcPct val="0"/>
              </a:spcAft>
            </a:pPr>
            <a:r>
              <a:rPr kumimoji="1" lang="en-US" altLang="zh-CN" sz="2800" b="1">
                <a:solidFill>
                  <a:srgbClr val="D43636"/>
                </a:solidFill>
                <a:latin typeface="楷体_GB2312" pitchFamily="49" charset="-122"/>
                <a:ea typeface="楷体_GB2312" pitchFamily="49" charset="-122"/>
              </a:rPr>
              <a:t>(6) V</a:t>
            </a:r>
            <a:r>
              <a:rPr kumimoji="1" lang="zh-CN" altLang="en-US" sz="2800" b="1">
                <a:solidFill>
                  <a:srgbClr val="D43636"/>
                </a:solidFill>
                <a:latin typeface="楷体_GB2312" pitchFamily="49" charset="-122"/>
                <a:ea typeface="楷体_GB2312" pitchFamily="49" charset="-122"/>
              </a:rPr>
              <a:t>再</a:t>
            </a:r>
            <a:r>
              <a:rPr kumimoji="1" lang="zh-CN" altLang="en-US" sz="2800" b="1">
                <a:solidFill>
                  <a:srgbClr val="D43636"/>
                </a:solidFill>
                <a:latin typeface="楷体_GB2312" pitchFamily="49" charset="-122"/>
                <a:ea typeface="楷体_GB2312" pitchFamily="49" charset="-122"/>
                <a:sym typeface="Symbol" panose="05050102010706020507" pitchFamily="18" charset="2"/>
              </a:rPr>
              <a:t></a:t>
            </a:r>
            <a:r>
              <a:rPr kumimoji="1" lang="zh-CN" altLang="en-US" sz="2800" b="1">
                <a:solidFill>
                  <a:srgbClr val="D43636"/>
                </a:solidFill>
                <a:latin typeface="楷体_GB2312" pitchFamily="49" charset="-122"/>
                <a:ea typeface="楷体_GB2312" pitchFamily="49" charset="-122"/>
              </a:rPr>
              <a:t>，扩散电流为主，与普通的</a:t>
            </a:r>
            <a:endParaRPr kumimoji="1" lang="zh-CN" altLang="en-US" sz="2800" b="1">
              <a:solidFill>
                <a:srgbClr val="D43636"/>
              </a:solidFill>
              <a:latin typeface="楷体_GB2312" pitchFamily="49" charset="-122"/>
              <a:ea typeface="楷体_GB2312" pitchFamily="49" charset="-122"/>
            </a:endParaRPr>
          </a:p>
          <a:p>
            <a:pPr algn="just" fontAlgn="base">
              <a:spcBef>
                <a:spcPct val="0"/>
              </a:spcBef>
              <a:spcAft>
                <a:spcPct val="0"/>
              </a:spcAft>
            </a:pPr>
            <a:r>
              <a:rPr kumimoji="1" lang="zh-CN" altLang="en-US" sz="2800" b="1">
                <a:solidFill>
                  <a:srgbClr val="D43636"/>
                </a:solidFill>
                <a:latin typeface="楷体_GB2312" pitchFamily="49" charset="-122"/>
                <a:ea typeface="楷体_GB2312" pitchFamily="49" charset="-122"/>
              </a:rPr>
              <a:t>      </a:t>
            </a:r>
            <a:r>
              <a:rPr kumimoji="1" lang="en-US" altLang="zh-CN" sz="2800" b="1">
                <a:solidFill>
                  <a:srgbClr val="D43636"/>
                </a:solidFill>
                <a:latin typeface="楷体_GB2312" pitchFamily="49" charset="-122"/>
                <a:ea typeface="楷体_GB2312" pitchFamily="49" charset="-122"/>
                <a:sym typeface="Symbol" panose="05050102010706020507" pitchFamily="18" charset="2"/>
              </a:rPr>
              <a:t>p-n</a:t>
            </a:r>
            <a:r>
              <a:rPr kumimoji="1" lang="zh-CN" altLang="en-US" sz="2800" b="1">
                <a:solidFill>
                  <a:srgbClr val="D43636"/>
                </a:solidFill>
                <a:latin typeface="楷体_GB2312" pitchFamily="49" charset="-122"/>
                <a:ea typeface="楷体_GB2312" pitchFamily="49" charset="-122"/>
                <a:sym typeface="Symbol" panose="05050102010706020507" pitchFamily="18" charset="2"/>
              </a:rPr>
              <a:t>结一样</a:t>
            </a:r>
            <a:endParaRPr kumimoji="1" lang="zh-CN" altLang="en-US" sz="2800">
              <a:solidFill>
                <a:srgbClr val="D43636"/>
              </a:solidFill>
              <a:latin typeface="楷体_GB2312" pitchFamily="49" charset="-122"/>
              <a:ea typeface="楷体_GB2312" pitchFamily="49" charset="-122"/>
              <a:sym typeface="Symbol" panose="05050102010706020507" pitchFamily="18" charset="2"/>
            </a:endParaRPr>
          </a:p>
        </p:txBody>
      </p:sp>
      <p:sp>
        <p:nvSpPr>
          <p:cNvPr id="376873" name="Text Box 41"/>
          <p:cNvSpPr txBox="1">
            <a:spLocks noChangeArrowheads="1"/>
          </p:cNvSpPr>
          <p:nvPr/>
        </p:nvSpPr>
        <p:spPr bwMode="auto">
          <a:xfrm>
            <a:off x="3124201" y="2590800"/>
            <a:ext cx="752475" cy="9130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en-US" altLang="zh-CN" sz="3200">
                <a:solidFill>
                  <a:srgbClr val="000000"/>
                </a:solidFill>
                <a:latin typeface="Garamond" panose="02020404030301010803" pitchFamily="18" charset="0"/>
                <a:ea typeface="宋体" panose="02010600030101010101" pitchFamily="2" charset="-122"/>
              </a:rPr>
              <a:t>E</a:t>
            </a:r>
            <a:r>
              <a:rPr lang="en-US" altLang="zh-CN" sz="3200" baseline="-25000">
                <a:solidFill>
                  <a:srgbClr val="000000"/>
                </a:solidFill>
                <a:latin typeface="Garamond" panose="02020404030301010803" pitchFamily="18" charset="0"/>
                <a:ea typeface="宋体" panose="02010600030101010101" pitchFamily="2" charset="-122"/>
              </a:rPr>
              <a:t>FP</a:t>
            </a:r>
            <a:endParaRPr lang="en-US" altLang="zh-CN" sz="3200" baseline="-25000">
              <a:solidFill>
                <a:srgbClr val="000000"/>
              </a:solidFill>
              <a:latin typeface="Garamond" panose="02020404030301010803" pitchFamily="18" charset="0"/>
              <a:ea typeface="宋体" panose="02010600030101010101" pitchFamily="2" charset="-122"/>
            </a:endParaRPr>
          </a:p>
        </p:txBody>
      </p:sp>
      <p:sp>
        <p:nvSpPr>
          <p:cNvPr id="376874" name="Line 42"/>
          <p:cNvSpPr>
            <a:spLocks noChangeShapeType="1"/>
          </p:cNvSpPr>
          <p:nvPr/>
        </p:nvSpPr>
        <p:spPr bwMode="auto">
          <a:xfrm>
            <a:off x="6600826" y="2349500"/>
            <a:ext cx="2735263" cy="0"/>
          </a:xfrm>
          <a:prstGeom prst="line">
            <a:avLst/>
          </a:prstGeom>
          <a:noFill/>
          <a:ln w="952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6875" name="Text Box 43"/>
          <p:cNvSpPr txBox="1">
            <a:spLocks noChangeArrowheads="1"/>
          </p:cNvSpPr>
          <p:nvPr/>
        </p:nvSpPr>
        <p:spPr bwMode="auto">
          <a:xfrm>
            <a:off x="9264650" y="2060576"/>
            <a:ext cx="74732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US" altLang="zh-CN" sz="3200">
                <a:solidFill>
                  <a:srgbClr val="000000"/>
                </a:solidFill>
                <a:latin typeface="Garamond" panose="02020404030301010803" pitchFamily="18" charset="0"/>
                <a:ea typeface="宋体" panose="02010600030101010101" pitchFamily="2" charset="-122"/>
              </a:rPr>
              <a:t>E</a:t>
            </a:r>
            <a:r>
              <a:rPr lang="en-US" altLang="zh-CN" sz="3200" baseline="-25000">
                <a:solidFill>
                  <a:srgbClr val="000000"/>
                </a:solidFill>
                <a:latin typeface="Garamond" panose="02020404030301010803" pitchFamily="18" charset="0"/>
                <a:ea typeface="宋体" panose="02010600030101010101" pitchFamily="2" charset="-122"/>
              </a:rPr>
              <a:t>Fn</a:t>
            </a:r>
            <a:endParaRPr lang="en-US" altLang="zh-CN" sz="3200" baseline="-25000">
              <a:solidFill>
                <a:srgbClr val="000000"/>
              </a:solidFill>
              <a:latin typeface="Garamond" panose="02020404030301010803" pitchFamily="18" charset="0"/>
              <a:ea typeface="宋体" panose="02010600030101010101" pitchFamily="2" charset="-122"/>
            </a:endParaRPr>
          </a:p>
        </p:txBody>
      </p:sp>
      <p:sp>
        <p:nvSpPr>
          <p:cNvPr id="376876" name="Text Box 44"/>
          <p:cNvSpPr txBox="1">
            <a:spLocks noChangeArrowheads="1"/>
          </p:cNvSpPr>
          <p:nvPr/>
        </p:nvSpPr>
        <p:spPr bwMode="auto">
          <a:xfrm>
            <a:off x="8832851" y="2565400"/>
            <a:ext cx="657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400">
                <a:solidFill>
                  <a:srgbClr val="000000"/>
                </a:solidFill>
                <a:latin typeface="Times New Roman" panose="02020603050405020304" pitchFamily="18" charset="0"/>
                <a:ea typeface="宋体" panose="02010600030101010101" pitchFamily="2" charset="-122"/>
                <a:cs typeface="Times New Roman" panose="02020603050405020304" pitchFamily="18" charset="0"/>
              </a:rPr>
              <a:t>Ecn</a:t>
            </a:r>
            <a:endParaRPr kumimoji="1" lang="en-US" altLang="zh-CN" sz="240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76877" name="Text Box 45"/>
          <p:cNvSpPr txBox="1">
            <a:spLocks noChangeArrowheads="1"/>
          </p:cNvSpPr>
          <p:nvPr/>
        </p:nvSpPr>
        <p:spPr bwMode="auto">
          <a:xfrm>
            <a:off x="9191625" y="3429000"/>
            <a:ext cx="6746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2400">
                <a:solidFill>
                  <a:srgbClr val="000000"/>
                </a:solidFill>
                <a:latin typeface="Times New Roman" panose="02020603050405020304" pitchFamily="18" charset="0"/>
                <a:ea typeface="宋体" panose="02010600030101010101" pitchFamily="2" charset="-122"/>
                <a:cs typeface="Times New Roman" panose="02020603050405020304" pitchFamily="18" charset="0"/>
              </a:rPr>
              <a:t>Evn</a:t>
            </a:r>
            <a:endParaRPr kumimoji="1" lang="en-US" altLang="zh-CN" sz="240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76878" name="Rectangle 46"/>
          <p:cNvSpPr>
            <a:spLocks noChangeArrowheads="1"/>
          </p:cNvSpPr>
          <p:nvPr/>
        </p:nvSpPr>
        <p:spPr bwMode="auto">
          <a:xfrm>
            <a:off x="2133600" y="4343401"/>
            <a:ext cx="77724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zh-CN" altLang="en-US" sz="2400" b="1">
                <a:solidFill>
                  <a:srgbClr val="000000"/>
                </a:solidFill>
                <a:latin typeface="Garamond" panose="02020404030301010803" pitchFamily="18" charset="0"/>
                <a:ea typeface="楷体_GB2312" pitchFamily="49" charset="-122"/>
                <a:sym typeface="Symbol" panose="05050102010706020507" pitchFamily="18" charset="2"/>
              </a:rPr>
              <a:t>结两边无能量相同的量子态，不发生隧道穿通，但实际存在很小的谷值电流，由于能带边缘的延伸。</a:t>
            </a:r>
            <a:endParaRPr lang="zh-CN" altLang="en-US" sz="2400" b="1">
              <a:solidFill>
                <a:srgbClr val="000000"/>
              </a:solidFill>
              <a:latin typeface="Garamond" panose="02020404030301010803" pitchFamily="18" charset="0"/>
              <a:ea typeface="楷体_GB2312" pitchFamily="49" charset="-122"/>
              <a:sym typeface="Symbol" panose="05050102010706020507" pitchFamily="18" charset="2"/>
            </a:endParaRPr>
          </a:p>
        </p:txBody>
      </p:sp>
    </p:spTree>
  </p:cSld>
  <p:clrMapOvr>
    <a:masterClrMapping/>
  </p:clrMapOv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7858" name="Rectangle 2"/>
          <p:cNvSpPr>
            <a:spLocks noChangeArrowheads="1"/>
          </p:cNvSpPr>
          <p:nvPr/>
        </p:nvSpPr>
        <p:spPr bwMode="auto">
          <a:xfrm>
            <a:off x="1905000" y="1447800"/>
            <a:ext cx="79248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fontAlgn="base">
              <a:spcBef>
                <a:spcPct val="0"/>
              </a:spcBef>
              <a:spcAft>
                <a:spcPct val="0"/>
              </a:spcAft>
            </a:pPr>
            <a:r>
              <a:rPr kumimoji="1" lang="en-US" altLang="zh-CN" sz="3200" b="1">
                <a:solidFill>
                  <a:srgbClr val="D43636"/>
                </a:solidFill>
                <a:latin typeface="楷体_GB2312" pitchFamily="49" charset="-122"/>
                <a:ea typeface="楷体_GB2312" pitchFamily="49" charset="-122"/>
              </a:rPr>
              <a:t>(7) </a:t>
            </a:r>
            <a:r>
              <a:rPr kumimoji="1" lang="zh-CN" altLang="en-US" sz="3200" b="1">
                <a:solidFill>
                  <a:srgbClr val="D43636"/>
                </a:solidFill>
                <a:latin typeface="楷体_GB2312" pitchFamily="49" charset="-122"/>
                <a:ea typeface="楷体_GB2312" pitchFamily="49" charset="-122"/>
              </a:rPr>
              <a:t>加反向电压，</a:t>
            </a:r>
            <a:r>
              <a:rPr kumimoji="1" lang="en-US" altLang="zh-CN" sz="3200" b="1">
                <a:solidFill>
                  <a:srgbClr val="D43636"/>
                </a:solidFill>
                <a:latin typeface="楷体_GB2312" pitchFamily="49" charset="-122"/>
                <a:ea typeface="楷体_GB2312" pitchFamily="49" charset="-122"/>
              </a:rPr>
              <a:t>p</a:t>
            </a:r>
            <a:r>
              <a:rPr kumimoji="1" lang="zh-CN" altLang="en-US" sz="3200" b="1">
                <a:solidFill>
                  <a:srgbClr val="D43636"/>
                </a:solidFill>
                <a:latin typeface="楷体_GB2312" pitchFamily="49" charset="-122"/>
                <a:ea typeface="楷体_GB2312" pitchFamily="49" charset="-122"/>
              </a:rPr>
              <a:t>区能带相对于</a:t>
            </a:r>
            <a:r>
              <a:rPr kumimoji="1" lang="en-US" altLang="zh-CN" sz="3200" b="1">
                <a:solidFill>
                  <a:srgbClr val="D43636"/>
                </a:solidFill>
                <a:latin typeface="楷体_GB2312" pitchFamily="49" charset="-122"/>
                <a:ea typeface="楷体_GB2312" pitchFamily="49" charset="-122"/>
              </a:rPr>
              <a:t>n</a:t>
            </a:r>
            <a:r>
              <a:rPr kumimoji="1" lang="zh-CN" altLang="en-US" sz="3200" b="1">
                <a:solidFill>
                  <a:srgbClr val="D43636"/>
                </a:solidFill>
                <a:latin typeface="楷体_GB2312" pitchFamily="49" charset="-122"/>
                <a:ea typeface="楷体_GB2312" pitchFamily="49" charset="-122"/>
              </a:rPr>
              <a:t>区升高</a:t>
            </a:r>
            <a:endParaRPr kumimoji="1" lang="zh-CN" altLang="en-US" sz="3200" b="1">
              <a:solidFill>
                <a:srgbClr val="D43636"/>
              </a:solidFill>
              <a:latin typeface="楷体_GB2312" pitchFamily="49" charset="-122"/>
              <a:ea typeface="楷体_GB2312" pitchFamily="49" charset="-122"/>
            </a:endParaRPr>
          </a:p>
        </p:txBody>
      </p:sp>
      <p:sp>
        <p:nvSpPr>
          <p:cNvPr id="377859" name="Rectangle 3"/>
          <p:cNvSpPr>
            <a:spLocks noChangeArrowheads="1"/>
          </p:cNvSpPr>
          <p:nvPr/>
        </p:nvSpPr>
        <p:spPr bwMode="auto">
          <a:xfrm>
            <a:off x="3841750" y="3532188"/>
            <a:ext cx="2362200" cy="215900"/>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7860" name="Line 4"/>
          <p:cNvSpPr>
            <a:spLocks noChangeShapeType="1"/>
          </p:cNvSpPr>
          <p:nvPr/>
        </p:nvSpPr>
        <p:spPr bwMode="auto">
          <a:xfrm flipH="1">
            <a:off x="3575050" y="3543300"/>
            <a:ext cx="2590800" cy="0"/>
          </a:xfrm>
          <a:prstGeom prst="line">
            <a:avLst/>
          </a:prstGeom>
          <a:noFill/>
          <a:ln w="952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7861" name="Line 5"/>
          <p:cNvSpPr>
            <a:spLocks noChangeShapeType="1"/>
          </p:cNvSpPr>
          <p:nvPr/>
        </p:nvSpPr>
        <p:spPr bwMode="auto">
          <a:xfrm>
            <a:off x="3575050" y="2781300"/>
            <a:ext cx="23622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7862" name="Line 6"/>
          <p:cNvSpPr>
            <a:spLocks noChangeShapeType="1"/>
          </p:cNvSpPr>
          <p:nvPr/>
        </p:nvSpPr>
        <p:spPr bwMode="auto">
          <a:xfrm>
            <a:off x="7156450" y="4000500"/>
            <a:ext cx="13716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7863" name="Line 7"/>
          <p:cNvSpPr>
            <a:spLocks noChangeShapeType="1"/>
          </p:cNvSpPr>
          <p:nvPr/>
        </p:nvSpPr>
        <p:spPr bwMode="auto">
          <a:xfrm>
            <a:off x="3575050" y="3238500"/>
            <a:ext cx="23622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7864" name="Line 8"/>
          <p:cNvSpPr>
            <a:spLocks noChangeShapeType="1"/>
          </p:cNvSpPr>
          <p:nvPr/>
        </p:nvSpPr>
        <p:spPr bwMode="auto">
          <a:xfrm>
            <a:off x="5937250" y="3238500"/>
            <a:ext cx="990600" cy="990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7865" name="Line 9"/>
          <p:cNvSpPr>
            <a:spLocks noChangeShapeType="1"/>
          </p:cNvSpPr>
          <p:nvPr/>
        </p:nvSpPr>
        <p:spPr bwMode="auto">
          <a:xfrm>
            <a:off x="6927850" y="4229100"/>
            <a:ext cx="16002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7866" name="Line 10"/>
          <p:cNvSpPr>
            <a:spLocks noChangeShapeType="1"/>
          </p:cNvSpPr>
          <p:nvPr/>
        </p:nvSpPr>
        <p:spPr bwMode="auto">
          <a:xfrm flipH="1">
            <a:off x="3575050" y="3543300"/>
            <a:ext cx="228600" cy="381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7867" name="Line 11"/>
          <p:cNvSpPr>
            <a:spLocks noChangeShapeType="1"/>
          </p:cNvSpPr>
          <p:nvPr/>
        </p:nvSpPr>
        <p:spPr bwMode="auto">
          <a:xfrm flipH="1">
            <a:off x="3651250" y="3543300"/>
            <a:ext cx="381000" cy="6858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7868" name="Line 12"/>
          <p:cNvSpPr>
            <a:spLocks noChangeShapeType="1"/>
          </p:cNvSpPr>
          <p:nvPr/>
        </p:nvSpPr>
        <p:spPr bwMode="auto">
          <a:xfrm flipH="1">
            <a:off x="3651250" y="3543300"/>
            <a:ext cx="685800" cy="1143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7869" name="Line 13"/>
          <p:cNvSpPr>
            <a:spLocks noChangeShapeType="1"/>
          </p:cNvSpPr>
          <p:nvPr/>
        </p:nvSpPr>
        <p:spPr bwMode="auto">
          <a:xfrm flipH="1">
            <a:off x="3879850" y="3543300"/>
            <a:ext cx="762000" cy="1219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7870" name="Line 14"/>
          <p:cNvSpPr>
            <a:spLocks noChangeShapeType="1"/>
          </p:cNvSpPr>
          <p:nvPr/>
        </p:nvSpPr>
        <p:spPr bwMode="auto">
          <a:xfrm flipH="1">
            <a:off x="5556250" y="3619500"/>
            <a:ext cx="762000" cy="1219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7871" name="Line 15"/>
          <p:cNvSpPr>
            <a:spLocks noChangeShapeType="1"/>
          </p:cNvSpPr>
          <p:nvPr/>
        </p:nvSpPr>
        <p:spPr bwMode="auto">
          <a:xfrm flipH="1">
            <a:off x="4489450" y="3543300"/>
            <a:ext cx="762000" cy="1219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7872" name="Line 16"/>
          <p:cNvSpPr>
            <a:spLocks noChangeShapeType="1"/>
          </p:cNvSpPr>
          <p:nvPr/>
        </p:nvSpPr>
        <p:spPr bwMode="auto">
          <a:xfrm flipH="1">
            <a:off x="4800600" y="3573463"/>
            <a:ext cx="762000" cy="1219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7873" name="Line 17"/>
          <p:cNvSpPr>
            <a:spLocks noChangeShapeType="1"/>
          </p:cNvSpPr>
          <p:nvPr/>
        </p:nvSpPr>
        <p:spPr bwMode="auto">
          <a:xfrm flipH="1">
            <a:off x="5159375" y="3573463"/>
            <a:ext cx="762000" cy="1219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7874" name="Line 18"/>
          <p:cNvSpPr>
            <a:spLocks noChangeShapeType="1"/>
          </p:cNvSpPr>
          <p:nvPr/>
        </p:nvSpPr>
        <p:spPr bwMode="auto">
          <a:xfrm flipH="1">
            <a:off x="4184650" y="3543300"/>
            <a:ext cx="762000" cy="1219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7875" name="Line 19"/>
          <p:cNvSpPr>
            <a:spLocks noChangeShapeType="1"/>
          </p:cNvSpPr>
          <p:nvPr/>
        </p:nvSpPr>
        <p:spPr bwMode="auto">
          <a:xfrm flipH="1">
            <a:off x="5861050" y="3771900"/>
            <a:ext cx="609600" cy="990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7876" name="Line 20"/>
          <p:cNvSpPr>
            <a:spLocks noChangeShapeType="1"/>
          </p:cNvSpPr>
          <p:nvPr/>
        </p:nvSpPr>
        <p:spPr bwMode="auto">
          <a:xfrm flipH="1">
            <a:off x="6165850" y="3924300"/>
            <a:ext cx="457200" cy="838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7877" name="Line 21"/>
          <p:cNvSpPr>
            <a:spLocks noChangeShapeType="1"/>
          </p:cNvSpPr>
          <p:nvPr/>
        </p:nvSpPr>
        <p:spPr bwMode="auto">
          <a:xfrm flipH="1">
            <a:off x="6394450" y="4076700"/>
            <a:ext cx="381000" cy="6858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7878" name="Line 22"/>
          <p:cNvSpPr>
            <a:spLocks noChangeShapeType="1"/>
          </p:cNvSpPr>
          <p:nvPr/>
        </p:nvSpPr>
        <p:spPr bwMode="auto">
          <a:xfrm flipH="1">
            <a:off x="6623050" y="4229100"/>
            <a:ext cx="304800" cy="533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7879" name="Line 23"/>
          <p:cNvSpPr>
            <a:spLocks noChangeShapeType="1"/>
          </p:cNvSpPr>
          <p:nvPr/>
        </p:nvSpPr>
        <p:spPr bwMode="auto">
          <a:xfrm flipH="1">
            <a:off x="6851650" y="4229100"/>
            <a:ext cx="304800" cy="533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7880" name="Line 24"/>
          <p:cNvSpPr>
            <a:spLocks noChangeShapeType="1"/>
          </p:cNvSpPr>
          <p:nvPr/>
        </p:nvSpPr>
        <p:spPr bwMode="auto">
          <a:xfrm flipH="1">
            <a:off x="7080250" y="4229100"/>
            <a:ext cx="304800" cy="533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7881" name="Line 25"/>
          <p:cNvSpPr>
            <a:spLocks noChangeShapeType="1"/>
          </p:cNvSpPr>
          <p:nvPr/>
        </p:nvSpPr>
        <p:spPr bwMode="auto">
          <a:xfrm flipH="1">
            <a:off x="7308850" y="4229100"/>
            <a:ext cx="304800" cy="533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7882" name="Line 26"/>
          <p:cNvSpPr>
            <a:spLocks noChangeShapeType="1"/>
          </p:cNvSpPr>
          <p:nvPr/>
        </p:nvSpPr>
        <p:spPr bwMode="auto">
          <a:xfrm flipH="1">
            <a:off x="7537450" y="4229100"/>
            <a:ext cx="304800" cy="533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7883" name="Line 27"/>
          <p:cNvSpPr>
            <a:spLocks noChangeShapeType="1"/>
          </p:cNvSpPr>
          <p:nvPr/>
        </p:nvSpPr>
        <p:spPr bwMode="auto">
          <a:xfrm flipH="1">
            <a:off x="7994650" y="4229100"/>
            <a:ext cx="304800" cy="533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7884" name="Line 28"/>
          <p:cNvSpPr>
            <a:spLocks noChangeShapeType="1"/>
          </p:cNvSpPr>
          <p:nvPr/>
        </p:nvSpPr>
        <p:spPr bwMode="auto">
          <a:xfrm flipH="1">
            <a:off x="7766050" y="4229100"/>
            <a:ext cx="304800" cy="533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7885" name="Line 29"/>
          <p:cNvSpPr>
            <a:spLocks noChangeShapeType="1"/>
          </p:cNvSpPr>
          <p:nvPr/>
        </p:nvSpPr>
        <p:spPr bwMode="auto">
          <a:xfrm flipH="1">
            <a:off x="8223250" y="4229100"/>
            <a:ext cx="304800" cy="533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7886" name="Line 30"/>
          <p:cNvSpPr>
            <a:spLocks noChangeShapeType="1"/>
          </p:cNvSpPr>
          <p:nvPr/>
        </p:nvSpPr>
        <p:spPr bwMode="auto">
          <a:xfrm>
            <a:off x="5937250" y="2781300"/>
            <a:ext cx="1219200" cy="1219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7887" name="Line 31"/>
          <p:cNvSpPr>
            <a:spLocks noChangeShapeType="1"/>
          </p:cNvSpPr>
          <p:nvPr/>
        </p:nvSpPr>
        <p:spPr bwMode="auto">
          <a:xfrm>
            <a:off x="6927850" y="3771900"/>
            <a:ext cx="1600200" cy="0"/>
          </a:xfrm>
          <a:prstGeom prst="line">
            <a:avLst/>
          </a:prstGeom>
          <a:noFill/>
          <a:ln w="952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7888" name="Line 32"/>
          <p:cNvSpPr>
            <a:spLocks noChangeShapeType="1"/>
          </p:cNvSpPr>
          <p:nvPr/>
        </p:nvSpPr>
        <p:spPr bwMode="auto">
          <a:xfrm flipH="1">
            <a:off x="7156450" y="3771900"/>
            <a:ext cx="76200" cy="228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7889" name="Line 33"/>
          <p:cNvSpPr>
            <a:spLocks noChangeShapeType="1"/>
          </p:cNvSpPr>
          <p:nvPr/>
        </p:nvSpPr>
        <p:spPr bwMode="auto">
          <a:xfrm flipH="1">
            <a:off x="7308850" y="3771900"/>
            <a:ext cx="76200" cy="228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7890" name="Line 34"/>
          <p:cNvSpPr>
            <a:spLocks noChangeShapeType="1"/>
          </p:cNvSpPr>
          <p:nvPr/>
        </p:nvSpPr>
        <p:spPr bwMode="auto">
          <a:xfrm flipH="1">
            <a:off x="7461250" y="3771900"/>
            <a:ext cx="76200" cy="228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7891" name="Line 35"/>
          <p:cNvSpPr>
            <a:spLocks noChangeShapeType="1"/>
          </p:cNvSpPr>
          <p:nvPr/>
        </p:nvSpPr>
        <p:spPr bwMode="auto">
          <a:xfrm flipH="1">
            <a:off x="7766050" y="3771900"/>
            <a:ext cx="76200" cy="228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7892" name="Line 36"/>
          <p:cNvSpPr>
            <a:spLocks noChangeShapeType="1"/>
          </p:cNvSpPr>
          <p:nvPr/>
        </p:nvSpPr>
        <p:spPr bwMode="auto">
          <a:xfrm flipH="1">
            <a:off x="7613650" y="3771900"/>
            <a:ext cx="76200" cy="228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7893" name="Line 37"/>
          <p:cNvSpPr>
            <a:spLocks noChangeShapeType="1"/>
          </p:cNvSpPr>
          <p:nvPr/>
        </p:nvSpPr>
        <p:spPr bwMode="auto">
          <a:xfrm flipH="1">
            <a:off x="7918450" y="3771900"/>
            <a:ext cx="76200" cy="228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7894" name="Line 38"/>
          <p:cNvSpPr>
            <a:spLocks noChangeShapeType="1"/>
          </p:cNvSpPr>
          <p:nvPr/>
        </p:nvSpPr>
        <p:spPr bwMode="auto">
          <a:xfrm flipH="1">
            <a:off x="8223250" y="3771900"/>
            <a:ext cx="76200" cy="228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7895" name="Line 39"/>
          <p:cNvSpPr>
            <a:spLocks noChangeShapeType="1"/>
          </p:cNvSpPr>
          <p:nvPr/>
        </p:nvSpPr>
        <p:spPr bwMode="auto">
          <a:xfrm flipH="1">
            <a:off x="8070850" y="3771900"/>
            <a:ext cx="76200" cy="228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7896" name="Line 40"/>
          <p:cNvSpPr>
            <a:spLocks noChangeShapeType="1"/>
          </p:cNvSpPr>
          <p:nvPr/>
        </p:nvSpPr>
        <p:spPr bwMode="auto">
          <a:xfrm flipH="1">
            <a:off x="8375650" y="3771900"/>
            <a:ext cx="76200" cy="228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7897" name="Line 41"/>
          <p:cNvSpPr>
            <a:spLocks noChangeShapeType="1"/>
          </p:cNvSpPr>
          <p:nvPr/>
        </p:nvSpPr>
        <p:spPr bwMode="auto">
          <a:xfrm>
            <a:off x="6218238" y="3675063"/>
            <a:ext cx="792162" cy="0"/>
          </a:xfrm>
          <a:prstGeom prst="line">
            <a:avLst/>
          </a:prstGeom>
          <a:noFill/>
          <a:ln w="28575">
            <a:solidFill>
              <a:schemeClr val="hlink"/>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7898" name="Line 42"/>
          <p:cNvSpPr>
            <a:spLocks noChangeShapeType="1"/>
          </p:cNvSpPr>
          <p:nvPr/>
        </p:nvSpPr>
        <p:spPr bwMode="auto">
          <a:xfrm flipH="1">
            <a:off x="3503613" y="3789363"/>
            <a:ext cx="2849562" cy="0"/>
          </a:xfrm>
          <a:prstGeom prst="line">
            <a:avLst/>
          </a:prstGeom>
          <a:noFill/>
          <a:ln w="952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fontAlgn="base">
              <a:spcBef>
                <a:spcPct val="0"/>
              </a:spcBef>
              <a:spcAft>
                <a:spcPct val="0"/>
              </a:spcAft>
            </a:pPr>
            <a:endParaRPr lang="zh-CN" altLang="en-US">
              <a:solidFill>
                <a:srgbClr val="000000"/>
              </a:solidFill>
              <a:latin typeface="Arial" panose="020B0604020202020204" pitchFamily="34" charset="0"/>
            </a:endParaRPr>
          </a:p>
        </p:txBody>
      </p:sp>
      <p:sp>
        <p:nvSpPr>
          <p:cNvPr id="377899" name="Text Box 43"/>
          <p:cNvSpPr txBox="1">
            <a:spLocks noChangeArrowheads="1"/>
          </p:cNvSpPr>
          <p:nvPr/>
        </p:nvSpPr>
        <p:spPr bwMode="auto">
          <a:xfrm>
            <a:off x="6651625" y="2603500"/>
            <a:ext cx="1841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endParaRPr lang="zh-CN" altLang="en-US" sz="3200">
              <a:solidFill>
                <a:srgbClr val="000000"/>
              </a:solidFill>
              <a:latin typeface="Garamond" panose="02020404030301010803" pitchFamily="18" charset="0"/>
              <a:ea typeface="宋体" panose="02010600030101010101" pitchFamily="2" charset="-122"/>
            </a:endParaRPr>
          </a:p>
        </p:txBody>
      </p:sp>
      <p:sp>
        <p:nvSpPr>
          <p:cNvPr id="377900" name="Text Box 44"/>
          <p:cNvSpPr txBox="1">
            <a:spLocks noChangeArrowheads="1"/>
          </p:cNvSpPr>
          <p:nvPr/>
        </p:nvSpPr>
        <p:spPr bwMode="auto">
          <a:xfrm>
            <a:off x="6629401" y="2743201"/>
            <a:ext cx="2040943"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zh-CN" altLang="en-US" sz="2400" b="1">
                <a:solidFill>
                  <a:srgbClr val="000000"/>
                </a:solidFill>
                <a:latin typeface="Garamond" panose="02020404030301010803" pitchFamily="18" charset="0"/>
                <a:ea typeface="宋体" panose="02010600030101010101" pitchFamily="2" charset="-122"/>
              </a:rPr>
              <a:t>反向隧道电流</a:t>
            </a:r>
            <a:endParaRPr lang="zh-CN" altLang="en-US" sz="2400" b="1">
              <a:solidFill>
                <a:srgbClr val="000000"/>
              </a:solidFill>
              <a:latin typeface="Garamond" panose="02020404030301010803" pitchFamily="18" charset="0"/>
              <a:ea typeface="宋体" panose="02010600030101010101" pitchFamily="2" charset="-122"/>
            </a:endParaRPr>
          </a:p>
          <a:p>
            <a:pPr fontAlgn="base">
              <a:spcBef>
                <a:spcPct val="0"/>
              </a:spcBef>
              <a:spcAft>
                <a:spcPct val="0"/>
              </a:spcAft>
            </a:pPr>
            <a:endParaRPr lang="zh-CN" altLang="en-US" sz="2400" b="1">
              <a:solidFill>
                <a:srgbClr val="000000"/>
              </a:solidFill>
              <a:latin typeface="Garamond" panose="02020404030301010803" pitchFamily="18" charset="0"/>
              <a:ea typeface="宋体" panose="02010600030101010101" pitchFamily="2" charset="-122"/>
            </a:endParaRPr>
          </a:p>
        </p:txBody>
      </p:sp>
      <p:sp>
        <p:nvSpPr>
          <p:cNvPr id="377902" name="Text Box 46"/>
          <p:cNvSpPr txBox="1">
            <a:spLocks noChangeArrowheads="1"/>
          </p:cNvSpPr>
          <p:nvPr/>
        </p:nvSpPr>
        <p:spPr bwMode="auto">
          <a:xfrm>
            <a:off x="2927351" y="2565400"/>
            <a:ext cx="657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2400">
                <a:solidFill>
                  <a:srgbClr val="000000"/>
                </a:solidFill>
                <a:latin typeface="Times New Roman" panose="02020603050405020304" pitchFamily="18" charset="0"/>
                <a:ea typeface="宋体" panose="02010600030101010101" pitchFamily="2" charset="-122"/>
                <a:cs typeface="Times New Roman" panose="02020603050405020304" pitchFamily="18" charset="0"/>
              </a:rPr>
              <a:t>Ecp</a:t>
            </a:r>
            <a:endParaRPr kumimoji="1" lang="en-US" altLang="zh-CN" sz="240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77903" name="Text Box 47"/>
          <p:cNvSpPr txBox="1">
            <a:spLocks noChangeArrowheads="1"/>
          </p:cNvSpPr>
          <p:nvPr/>
        </p:nvSpPr>
        <p:spPr bwMode="auto">
          <a:xfrm>
            <a:off x="2711450" y="2924175"/>
            <a:ext cx="6746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2400">
                <a:solidFill>
                  <a:srgbClr val="000000"/>
                </a:solidFill>
                <a:latin typeface="Times New Roman" panose="02020603050405020304" pitchFamily="18" charset="0"/>
                <a:ea typeface="宋体" panose="02010600030101010101" pitchFamily="2" charset="-122"/>
                <a:cs typeface="Times New Roman" panose="02020603050405020304" pitchFamily="18" charset="0"/>
              </a:rPr>
              <a:t>Evp</a:t>
            </a:r>
            <a:endParaRPr kumimoji="1" lang="en-US" altLang="zh-CN" sz="240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77904" name="Text Box 48"/>
          <p:cNvSpPr txBox="1">
            <a:spLocks noChangeArrowheads="1"/>
          </p:cNvSpPr>
          <p:nvPr/>
        </p:nvSpPr>
        <p:spPr bwMode="auto">
          <a:xfrm>
            <a:off x="8616951" y="3789363"/>
            <a:ext cx="657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400">
                <a:solidFill>
                  <a:srgbClr val="000000"/>
                </a:solidFill>
                <a:latin typeface="Times New Roman" panose="02020603050405020304" pitchFamily="18" charset="0"/>
                <a:ea typeface="宋体" panose="02010600030101010101" pitchFamily="2" charset="-122"/>
                <a:cs typeface="Times New Roman" panose="02020603050405020304" pitchFamily="18" charset="0"/>
              </a:rPr>
              <a:t>Ecn</a:t>
            </a:r>
            <a:endParaRPr kumimoji="1" lang="en-US" altLang="zh-CN" sz="240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77905" name="Text Box 49"/>
          <p:cNvSpPr txBox="1">
            <a:spLocks noChangeArrowheads="1"/>
          </p:cNvSpPr>
          <p:nvPr/>
        </p:nvSpPr>
        <p:spPr bwMode="auto">
          <a:xfrm>
            <a:off x="8543925" y="4149725"/>
            <a:ext cx="6746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2400">
                <a:solidFill>
                  <a:srgbClr val="000000"/>
                </a:solidFill>
                <a:latin typeface="Times New Roman" panose="02020603050405020304" pitchFamily="18" charset="0"/>
                <a:ea typeface="宋体" panose="02010600030101010101" pitchFamily="2" charset="-122"/>
                <a:cs typeface="Times New Roman" panose="02020603050405020304" pitchFamily="18" charset="0"/>
              </a:rPr>
              <a:t>Evn</a:t>
            </a:r>
            <a:endParaRPr kumimoji="1" lang="en-US" altLang="zh-CN" sz="240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77906" name="Text Box 50"/>
          <p:cNvSpPr txBox="1">
            <a:spLocks noChangeArrowheads="1"/>
          </p:cNvSpPr>
          <p:nvPr/>
        </p:nvSpPr>
        <p:spPr bwMode="auto">
          <a:xfrm>
            <a:off x="8688388" y="3284539"/>
            <a:ext cx="74732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US" altLang="zh-CN" sz="3200">
                <a:solidFill>
                  <a:srgbClr val="000000"/>
                </a:solidFill>
                <a:latin typeface="Garamond" panose="02020404030301010803" pitchFamily="18" charset="0"/>
                <a:ea typeface="宋体" panose="02010600030101010101" pitchFamily="2" charset="-122"/>
              </a:rPr>
              <a:t>E</a:t>
            </a:r>
            <a:r>
              <a:rPr lang="en-US" altLang="zh-CN" sz="3200" baseline="-25000">
                <a:solidFill>
                  <a:srgbClr val="000000"/>
                </a:solidFill>
                <a:latin typeface="Garamond" panose="02020404030301010803" pitchFamily="18" charset="0"/>
                <a:ea typeface="宋体" panose="02010600030101010101" pitchFamily="2" charset="-122"/>
              </a:rPr>
              <a:t>Fn</a:t>
            </a:r>
            <a:endParaRPr lang="en-US" altLang="zh-CN" sz="3200" baseline="-25000">
              <a:solidFill>
                <a:srgbClr val="000000"/>
              </a:solidFill>
              <a:latin typeface="Garamond" panose="02020404030301010803" pitchFamily="18" charset="0"/>
              <a:ea typeface="宋体" panose="02010600030101010101" pitchFamily="2" charset="-122"/>
            </a:endParaRPr>
          </a:p>
        </p:txBody>
      </p:sp>
      <p:sp>
        <p:nvSpPr>
          <p:cNvPr id="377907" name="Text Box 51"/>
          <p:cNvSpPr txBox="1">
            <a:spLocks noChangeArrowheads="1"/>
          </p:cNvSpPr>
          <p:nvPr/>
        </p:nvSpPr>
        <p:spPr bwMode="auto">
          <a:xfrm>
            <a:off x="2711451" y="3141664"/>
            <a:ext cx="76174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lang="en-US" altLang="zh-CN" sz="3200">
                <a:solidFill>
                  <a:srgbClr val="000000"/>
                </a:solidFill>
                <a:latin typeface="Garamond" panose="02020404030301010803" pitchFamily="18" charset="0"/>
                <a:ea typeface="宋体" panose="02010600030101010101" pitchFamily="2" charset="-122"/>
              </a:rPr>
              <a:t>E</a:t>
            </a:r>
            <a:r>
              <a:rPr lang="en-US" altLang="zh-CN" sz="3200" baseline="-25000">
                <a:solidFill>
                  <a:srgbClr val="000000"/>
                </a:solidFill>
                <a:latin typeface="Garamond" panose="02020404030301010803" pitchFamily="18" charset="0"/>
                <a:ea typeface="宋体" panose="02010600030101010101" pitchFamily="2" charset="-122"/>
              </a:rPr>
              <a:t>FP</a:t>
            </a:r>
            <a:endParaRPr lang="en-US" altLang="zh-CN" sz="3200" baseline="-25000">
              <a:solidFill>
                <a:srgbClr val="000000"/>
              </a:solidFill>
              <a:latin typeface="Garamond" panose="02020404030301010803" pitchFamily="18" charset="0"/>
              <a:ea typeface="宋体" panose="02010600030101010101" pitchFamily="2" charset="-122"/>
            </a:endParaRPr>
          </a:p>
        </p:txBody>
      </p:sp>
      <p:sp>
        <p:nvSpPr>
          <p:cNvPr id="377910" name="Text Box 54"/>
          <p:cNvSpPr txBox="1">
            <a:spLocks noChangeArrowheads="1"/>
          </p:cNvSpPr>
          <p:nvPr/>
        </p:nvSpPr>
        <p:spPr bwMode="auto">
          <a:xfrm>
            <a:off x="1981200" y="4953000"/>
            <a:ext cx="739140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lang="zh-CN" altLang="en-US" sz="2400">
                <a:solidFill>
                  <a:srgbClr val="000000"/>
                </a:solidFill>
                <a:latin typeface="楷体_GB2312" pitchFamily="49" charset="-122"/>
                <a:ea typeface="楷体_GB2312" pitchFamily="49" charset="-122"/>
              </a:rPr>
              <a:t>结两边相同能量的量子态范围内，</a:t>
            </a:r>
            <a:r>
              <a:rPr lang="en-US" altLang="zh-CN" sz="2400">
                <a:solidFill>
                  <a:srgbClr val="000000"/>
                </a:solidFill>
                <a:latin typeface="楷体_GB2312" pitchFamily="49" charset="-122"/>
                <a:ea typeface="楷体_GB2312" pitchFamily="49" charset="-122"/>
              </a:rPr>
              <a:t>p</a:t>
            </a:r>
            <a:r>
              <a:rPr lang="zh-CN" altLang="en-US" sz="2400">
                <a:solidFill>
                  <a:srgbClr val="000000"/>
                </a:solidFill>
                <a:latin typeface="楷体_GB2312" pitchFamily="49" charset="-122"/>
                <a:ea typeface="楷体_GB2312" pitchFamily="49" charset="-122"/>
              </a:rPr>
              <a:t>区价带中费米能级以下的量子态被电子占据，而</a:t>
            </a:r>
            <a:r>
              <a:rPr lang="en-US" altLang="zh-CN" sz="2400">
                <a:solidFill>
                  <a:srgbClr val="000000"/>
                </a:solidFill>
                <a:latin typeface="楷体_GB2312" pitchFamily="49" charset="-122"/>
                <a:ea typeface="楷体_GB2312" pitchFamily="49" charset="-122"/>
              </a:rPr>
              <a:t>n</a:t>
            </a:r>
            <a:r>
              <a:rPr lang="zh-CN" altLang="en-US" sz="2400">
                <a:solidFill>
                  <a:srgbClr val="000000"/>
                </a:solidFill>
                <a:latin typeface="楷体_GB2312" pitchFamily="49" charset="-122"/>
                <a:ea typeface="楷体_GB2312" pitchFamily="49" charset="-122"/>
              </a:rPr>
              <a:t>区导带中费米能级以上有空的量子态。因此，</a:t>
            </a:r>
            <a:r>
              <a:rPr lang="en-US" altLang="zh-CN" sz="2400">
                <a:solidFill>
                  <a:srgbClr val="000000"/>
                </a:solidFill>
                <a:latin typeface="楷体_GB2312" pitchFamily="49" charset="-122"/>
                <a:ea typeface="楷体_GB2312" pitchFamily="49" charset="-122"/>
              </a:rPr>
              <a:t>p</a:t>
            </a:r>
            <a:r>
              <a:rPr lang="zh-CN" altLang="en-US" sz="2400">
                <a:solidFill>
                  <a:srgbClr val="000000"/>
                </a:solidFill>
                <a:latin typeface="楷体_GB2312" pitchFamily="49" charset="-122"/>
                <a:ea typeface="楷体_GB2312" pitchFamily="49" charset="-122"/>
              </a:rPr>
              <a:t>区中的价带电子就可以穿过隧道到</a:t>
            </a:r>
            <a:r>
              <a:rPr lang="en-US" altLang="zh-CN" sz="2400">
                <a:solidFill>
                  <a:srgbClr val="000000"/>
                </a:solidFill>
                <a:latin typeface="楷体_GB2312" pitchFamily="49" charset="-122"/>
                <a:ea typeface="楷体_GB2312" pitchFamily="49" charset="-122"/>
              </a:rPr>
              <a:t>n</a:t>
            </a:r>
            <a:r>
              <a:rPr lang="zh-CN" altLang="en-US" sz="2400">
                <a:solidFill>
                  <a:srgbClr val="000000"/>
                </a:solidFill>
                <a:latin typeface="楷体_GB2312" pitchFamily="49" charset="-122"/>
                <a:ea typeface="楷体_GB2312" pitchFamily="49" charset="-122"/>
              </a:rPr>
              <a:t>区导带中，产生反向隧道电流。</a:t>
            </a:r>
            <a:endParaRPr lang="zh-CN" altLang="en-US" sz="2400">
              <a:solidFill>
                <a:srgbClr val="000000"/>
              </a:solidFill>
              <a:latin typeface="楷体_GB2312" pitchFamily="49" charset="-122"/>
              <a:ea typeface="楷体_GB2312" pitchFamily="49" charset="-122"/>
            </a:endParaRPr>
          </a:p>
        </p:txBody>
      </p:sp>
    </p:spTree>
  </p:cSld>
  <p:clrMapOvr>
    <a:masterClrMapping/>
  </p:clrMapOv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82" name="Text Box 2"/>
          <p:cNvSpPr txBox="1">
            <a:spLocks noChangeArrowheads="1"/>
          </p:cNvSpPr>
          <p:nvPr/>
        </p:nvSpPr>
        <p:spPr bwMode="auto">
          <a:xfrm>
            <a:off x="2927351" y="952501"/>
            <a:ext cx="5184775" cy="2397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lnSpc>
                <a:spcPct val="135000"/>
              </a:lnSpc>
              <a:spcBef>
                <a:spcPct val="0"/>
              </a:spcBef>
              <a:spcAft>
                <a:spcPct val="0"/>
              </a:spcAft>
            </a:pPr>
            <a:r>
              <a:rPr lang="zh-CN" altLang="en-US" sz="2800" b="1">
                <a:solidFill>
                  <a:srgbClr val="000000"/>
                </a:solidFill>
                <a:latin typeface="Garamond" panose="02020404030301010803" pitchFamily="18" charset="0"/>
                <a:ea typeface="楷体_GB2312" pitchFamily="49" charset="-122"/>
                <a:sym typeface="Symbol" panose="05050102010706020507" pitchFamily="18" charset="2"/>
              </a:rPr>
              <a:t>隧道结利用多子隧道效应工作</a:t>
            </a:r>
            <a:endParaRPr lang="zh-CN" altLang="en-US" sz="2800" b="1">
              <a:solidFill>
                <a:srgbClr val="000000"/>
              </a:solidFill>
              <a:latin typeface="Garamond" panose="02020404030301010803" pitchFamily="18" charset="0"/>
              <a:ea typeface="楷体_GB2312" pitchFamily="49" charset="-122"/>
              <a:sym typeface="Symbol" panose="05050102010706020507" pitchFamily="18" charset="2"/>
            </a:endParaRPr>
          </a:p>
          <a:p>
            <a:pPr fontAlgn="base">
              <a:lnSpc>
                <a:spcPct val="135000"/>
              </a:lnSpc>
              <a:spcBef>
                <a:spcPct val="0"/>
              </a:spcBef>
              <a:spcAft>
                <a:spcPct val="0"/>
              </a:spcAft>
            </a:pPr>
            <a:r>
              <a:rPr lang="zh-CN" altLang="en-US" sz="2800" b="1">
                <a:solidFill>
                  <a:srgbClr val="000000"/>
                </a:solidFill>
                <a:latin typeface="Garamond" panose="02020404030301010803" pitchFamily="18" charset="0"/>
                <a:ea typeface="楷体_GB2312" pitchFamily="49" charset="-122"/>
                <a:sym typeface="Symbol" panose="05050102010706020507" pitchFamily="18" charset="2"/>
              </a:rPr>
              <a:t>隧道二极管的噪声低</a:t>
            </a:r>
            <a:endParaRPr lang="zh-CN" altLang="en-US" sz="2800" b="1">
              <a:solidFill>
                <a:srgbClr val="000000"/>
              </a:solidFill>
              <a:latin typeface="Garamond" panose="02020404030301010803" pitchFamily="18" charset="0"/>
              <a:ea typeface="楷体_GB2312" pitchFamily="49" charset="-122"/>
              <a:sym typeface="Symbol" panose="05050102010706020507" pitchFamily="18" charset="2"/>
            </a:endParaRPr>
          </a:p>
          <a:p>
            <a:pPr fontAlgn="base">
              <a:lnSpc>
                <a:spcPct val="135000"/>
              </a:lnSpc>
              <a:spcBef>
                <a:spcPct val="0"/>
              </a:spcBef>
              <a:spcAft>
                <a:spcPct val="0"/>
              </a:spcAft>
            </a:pPr>
            <a:r>
              <a:rPr lang="zh-CN" altLang="en-US" sz="2800" b="1">
                <a:solidFill>
                  <a:srgbClr val="000000"/>
                </a:solidFill>
                <a:latin typeface="Garamond" panose="02020404030301010803" pitchFamily="18" charset="0"/>
                <a:ea typeface="楷体_GB2312" pitchFamily="49" charset="-122"/>
                <a:sym typeface="Symbol" panose="05050102010706020507" pitchFamily="18" charset="2"/>
              </a:rPr>
              <a:t>隧道二极管的工作温度范围大</a:t>
            </a:r>
            <a:endParaRPr lang="zh-CN" altLang="en-US" sz="2800" b="1">
              <a:solidFill>
                <a:srgbClr val="000000"/>
              </a:solidFill>
              <a:latin typeface="Garamond" panose="02020404030301010803" pitchFamily="18" charset="0"/>
              <a:ea typeface="楷体_GB2312" pitchFamily="49" charset="-122"/>
              <a:sym typeface="Symbol" panose="05050102010706020507" pitchFamily="18" charset="2"/>
            </a:endParaRPr>
          </a:p>
          <a:p>
            <a:pPr fontAlgn="base">
              <a:lnSpc>
                <a:spcPct val="135000"/>
              </a:lnSpc>
              <a:spcBef>
                <a:spcPct val="0"/>
              </a:spcBef>
              <a:spcAft>
                <a:spcPct val="0"/>
              </a:spcAft>
            </a:pPr>
            <a:r>
              <a:rPr lang="zh-CN" altLang="en-US" sz="2800" b="1">
                <a:solidFill>
                  <a:srgbClr val="000000"/>
                </a:solidFill>
                <a:latin typeface="Garamond" panose="02020404030301010803" pitchFamily="18" charset="0"/>
                <a:ea typeface="楷体_GB2312" pitchFamily="49" charset="-122"/>
                <a:sym typeface="Symbol" panose="05050102010706020507" pitchFamily="18" charset="2"/>
              </a:rPr>
              <a:t>隧道二极管可在极高频率下工作</a:t>
            </a:r>
            <a:endParaRPr lang="zh-CN" altLang="en-US" sz="2800" b="1">
              <a:solidFill>
                <a:srgbClr val="000000"/>
              </a:solidFill>
              <a:latin typeface="Garamond" panose="02020404030301010803" pitchFamily="18" charset="0"/>
              <a:ea typeface="楷体_GB2312" pitchFamily="49" charset="-122"/>
              <a:sym typeface="Symbol" panose="05050102010706020507" pitchFamily="18" charset="2"/>
            </a:endParaRPr>
          </a:p>
        </p:txBody>
      </p:sp>
      <p:sp>
        <p:nvSpPr>
          <p:cNvPr id="378885" name="Text Box 5"/>
          <p:cNvSpPr txBox="1">
            <a:spLocks noChangeArrowheads="1"/>
          </p:cNvSpPr>
          <p:nvPr/>
        </p:nvSpPr>
        <p:spPr bwMode="auto">
          <a:xfrm>
            <a:off x="2514600" y="381000"/>
            <a:ext cx="65532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lang="zh-CN" altLang="en-US" sz="3600">
                <a:solidFill>
                  <a:srgbClr val="000000"/>
                </a:solidFill>
                <a:latin typeface="楷体_GB2312" pitchFamily="49" charset="-122"/>
                <a:ea typeface="楷体_GB2312" pitchFamily="49" charset="-122"/>
              </a:rPr>
              <a:t>隧道结二极管</a:t>
            </a:r>
            <a:endParaRPr lang="zh-CN" altLang="en-US" sz="3600">
              <a:solidFill>
                <a:srgbClr val="000000"/>
              </a:solidFill>
              <a:latin typeface="楷体_GB2312" pitchFamily="49" charset="-122"/>
              <a:ea typeface="楷体_GB2312" pitchFamily="49" charset="-122"/>
            </a:endParaRPr>
          </a:p>
        </p:txBody>
      </p:sp>
    </p:spTree>
  </p:cSld>
  <p:clrMapOvr>
    <a:masterClrMapping/>
  </p:clrMapOvr>
  <p:transition/>
</p:sld>
</file>

<file path=ppt/theme/theme1.xml><?xml version="1.0" encoding="utf-8"?>
<a:theme xmlns:a="http://schemas.openxmlformats.org/drawingml/2006/main" name="300TGp_natural_light">
  <a:themeElements>
    <a:clrScheme name="300TGp_natural_light 1">
      <a:dk1>
        <a:srgbClr val="000000"/>
      </a:dk1>
      <a:lt1>
        <a:srgbClr val="FFFFFF"/>
      </a:lt1>
      <a:dk2>
        <a:srgbClr val="51944E"/>
      </a:dk2>
      <a:lt2>
        <a:srgbClr val="DDDDDD"/>
      </a:lt2>
      <a:accent1>
        <a:srgbClr val="646ADE"/>
      </a:accent1>
      <a:accent2>
        <a:srgbClr val="1BAFC3"/>
      </a:accent2>
      <a:accent3>
        <a:srgbClr val="FFFFFF"/>
      </a:accent3>
      <a:accent4>
        <a:srgbClr val="000000"/>
      </a:accent4>
      <a:accent5>
        <a:srgbClr val="B8B9EC"/>
      </a:accent5>
      <a:accent6>
        <a:srgbClr val="179EB0"/>
      </a:accent6>
      <a:hlink>
        <a:srgbClr val="98BF1D"/>
      </a:hlink>
      <a:folHlink>
        <a:srgbClr val="90A8B0"/>
      </a:folHlink>
    </a:clrScheme>
    <a:fontScheme name="300TGp_natural_ligh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r" defTabSz="914400" rtl="0" eaLnBrk="1" fontAlgn="base" latinLnBrk="0" hangingPunct="1">
          <a:lnSpc>
            <a:spcPct val="100000"/>
          </a:lnSpc>
          <a:spcBef>
            <a:spcPct val="0"/>
          </a:spcBef>
          <a:spcAft>
            <a:spcPct val="0"/>
          </a:spcAft>
          <a:buClrTx/>
          <a:buSzTx/>
          <a:buFontTx/>
          <a:buNone/>
          <a:defRPr kumimoji="0" lang="en-US" altLang="zh-CN"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r" defTabSz="914400" rtl="0" eaLnBrk="1" fontAlgn="base" latinLnBrk="0" hangingPunct="1">
          <a:lnSpc>
            <a:spcPct val="100000"/>
          </a:lnSpc>
          <a:spcBef>
            <a:spcPct val="0"/>
          </a:spcBef>
          <a:spcAft>
            <a:spcPct val="0"/>
          </a:spcAft>
          <a:buClrTx/>
          <a:buSzTx/>
          <a:buFontTx/>
          <a:buNone/>
          <a:defRPr kumimoji="0" lang="en-US" altLang="zh-CN"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300TGp_natural_light 1">
        <a:dk1>
          <a:srgbClr val="000000"/>
        </a:dk1>
        <a:lt1>
          <a:srgbClr val="FFFFFF"/>
        </a:lt1>
        <a:dk2>
          <a:srgbClr val="51944E"/>
        </a:dk2>
        <a:lt2>
          <a:srgbClr val="DDDDDD"/>
        </a:lt2>
        <a:accent1>
          <a:srgbClr val="646ADE"/>
        </a:accent1>
        <a:accent2>
          <a:srgbClr val="1BAFC3"/>
        </a:accent2>
        <a:accent3>
          <a:srgbClr val="FFFFFF"/>
        </a:accent3>
        <a:accent4>
          <a:srgbClr val="000000"/>
        </a:accent4>
        <a:accent5>
          <a:srgbClr val="B8B9EC"/>
        </a:accent5>
        <a:accent6>
          <a:srgbClr val="179EB0"/>
        </a:accent6>
        <a:hlink>
          <a:srgbClr val="98BF1D"/>
        </a:hlink>
        <a:folHlink>
          <a:srgbClr val="90A8B0"/>
        </a:folHlink>
      </a:clrScheme>
      <a:clrMap bg1="lt1" tx1="dk1" bg2="lt2" tx2="dk2" accent1="accent1" accent2="accent2" accent3="accent3" accent4="accent4" accent5="accent5" accent6="accent6" hlink="hlink" folHlink="folHlink"/>
    </a:extraClrScheme>
    <a:extraClrScheme>
      <a:clrScheme name="300TGp_natural_light 2">
        <a:dk1>
          <a:srgbClr val="4D4D4D"/>
        </a:dk1>
        <a:lt1>
          <a:srgbClr val="FFFFFF"/>
        </a:lt1>
        <a:dk2>
          <a:srgbClr val="347436"/>
        </a:dk2>
        <a:lt2>
          <a:srgbClr val="DDDDDD"/>
        </a:lt2>
        <a:accent1>
          <a:srgbClr val="F28C1C"/>
        </a:accent1>
        <a:accent2>
          <a:srgbClr val="77AE26"/>
        </a:accent2>
        <a:accent3>
          <a:srgbClr val="FFFFFF"/>
        </a:accent3>
        <a:accent4>
          <a:srgbClr val="404040"/>
        </a:accent4>
        <a:accent5>
          <a:srgbClr val="F7C5AB"/>
        </a:accent5>
        <a:accent6>
          <a:srgbClr val="6B9D21"/>
        </a:accent6>
        <a:hlink>
          <a:srgbClr val="449878"/>
        </a:hlink>
        <a:folHlink>
          <a:srgbClr val="90A8B0"/>
        </a:folHlink>
      </a:clrScheme>
      <a:clrMap bg1="lt1" tx1="dk1" bg2="lt2" tx2="dk2" accent1="accent1" accent2="accent2" accent3="accent3" accent4="accent4" accent5="accent5" accent6="accent6" hlink="hlink" folHlink="folHlink"/>
    </a:extraClrScheme>
    <a:extraClrScheme>
      <a:clrScheme name="300TGp_natural_light 3">
        <a:dk1>
          <a:srgbClr val="000000"/>
        </a:dk1>
        <a:lt1>
          <a:srgbClr val="FFFFFF"/>
        </a:lt1>
        <a:dk2>
          <a:srgbClr val="1A578E"/>
        </a:dk2>
        <a:lt2>
          <a:srgbClr val="C0C0C0"/>
        </a:lt2>
        <a:accent1>
          <a:srgbClr val="5EB52D"/>
        </a:accent1>
        <a:accent2>
          <a:srgbClr val="F26D00"/>
        </a:accent2>
        <a:accent3>
          <a:srgbClr val="FFFFFF"/>
        </a:accent3>
        <a:accent4>
          <a:srgbClr val="000000"/>
        </a:accent4>
        <a:accent5>
          <a:srgbClr val="B6D7AD"/>
        </a:accent5>
        <a:accent6>
          <a:srgbClr val="DB6200"/>
        </a:accent6>
        <a:hlink>
          <a:srgbClr val="5983D7"/>
        </a:hlink>
        <a:folHlink>
          <a:srgbClr val="AAAD25"/>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10955</Words>
  <Application>WPS 演示</Application>
  <PresentationFormat>宽屏</PresentationFormat>
  <Paragraphs>861</Paragraphs>
  <Slides>90</Slides>
  <Notes>24</Notes>
  <HiddenSlides>0</HiddenSlides>
  <MMClips>0</MMClips>
  <ScaleCrop>false</ScaleCrop>
  <HeadingPairs>
    <vt:vector size="8" baseType="variant">
      <vt:variant>
        <vt:lpstr>已用的字体</vt:lpstr>
      </vt:variant>
      <vt:variant>
        <vt:i4>16</vt:i4>
      </vt:variant>
      <vt:variant>
        <vt:lpstr>主题</vt:lpstr>
      </vt:variant>
      <vt:variant>
        <vt:i4>1</vt:i4>
      </vt:variant>
      <vt:variant>
        <vt:lpstr>嵌入 OLE 服务器</vt:lpstr>
      </vt:variant>
      <vt:variant>
        <vt:i4>73</vt:i4>
      </vt:variant>
      <vt:variant>
        <vt:lpstr>幻灯片标题</vt:lpstr>
      </vt:variant>
      <vt:variant>
        <vt:i4>90</vt:i4>
      </vt:variant>
    </vt:vector>
  </HeadingPairs>
  <TitlesOfParts>
    <vt:vector size="180" baseType="lpstr">
      <vt:lpstr>Arial</vt:lpstr>
      <vt:lpstr>宋体</vt:lpstr>
      <vt:lpstr>Wingdings</vt:lpstr>
      <vt:lpstr>Verdana</vt:lpstr>
      <vt:lpstr>Arial Black</vt:lpstr>
      <vt:lpstr>楷体_GB2312</vt:lpstr>
      <vt:lpstr>新宋体</vt:lpstr>
      <vt:lpstr>Times New Roman</vt:lpstr>
      <vt:lpstr>Wingdings 2</vt:lpstr>
      <vt:lpstr>微软雅黑</vt:lpstr>
      <vt:lpstr>Arial Unicode MS</vt:lpstr>
      <vt:lpstr>等线</vt:lpstr>
      <vt:lpstr>华文隶书</vt:lpstr>
      <vt:lpstr>华文楷体</vt:lpstr>
      <vt:lpstr>Garamond</vt:lpstr>
      <vt:lpstr>Symbol</vt:lpstr>
      <vt:lpstr>300TGp_natural_light</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 第六章  pn结</vt:lpstr>
      <vt:lpstr>第六章  p-n结</vt:lpstr>
      <vt:lpstr>PowerPoint 演示文稿</vt:lpstr>
      <vt:lpstr>6.1  pn结的形成和杂质分布</vt:lpstr>
      <vt:lpstr>6.1 pn结及其能带图</vt:lpstr>
      <vt:lpstr>6.1.1  pn结的形成和杂质分布</vt:lpstr>
      <vt:lpstr>合金法</vt:lpstr>
      <vt:lpstr>合金法</vt:lpstr>
      <vt:lpstr>扩散法</vt:lpstr>
      <vt:lpstr>扩散法</vt:lpstr>
      <vt:lpstr>扩散法</vt:lpstr>
      <vt:lpstr>   </vt:lpstr>
      <vt:lpstr>PowerPoint 演示文稿</vt:lpstr>
      <vt:lpstr>6.1.2  空间电荷区  </vt:lpstr>
      <vt:lpstr>6.1.2  空间电荷区</vt:lpstr>
      <vt:lpstr>6.1.3  pn结能带图</vt:lpstr>
      <vt:lpstr>6.1.3  pn结能带图</vt:lpstr>
      <vt:lpstr>PowerPoint 演示文稿</vt:lpstr>
      <vt:lpstr>PowerPoint 演示文稿</vt:lpstr>
      <vt:lpstr>PowerPoint 演示文稿</vt:lpstr>
      <vt:lpstr>6.1.4  pn结接触电势差</vt:lpstr>
      <vt:lpstr>6.1.4  pn结接触电势差</vt:lpstr>
      <vt:lpstr>6.1.5  pn结的载流子分布</vt:lpstr>
      <vt:lpstr>6.1.5  pn结的载流子分布</vt:lpstr>
      <vt:lpstr>6.2   pn结电流电压特性</vt:lpstr>
      <vt:lpstr>6.2.1  非平衡状态下的pn结</vt:lpstr>
      <vt:lpstr>PowerPoint 演示文稿</vt:lpstr>
      <vt:lpstr>2. pn结反向偏压时</vt:lpstr>
      <vt:lpstr>外加直流电压下，p-n结的能带图</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6.3  p-n结电容</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6.4  pn结击穿</vt:lpstr>
      <vt:lpstr>6.4  p-n结击穿特性</vt:lpstr>
      <vt:lpstr>雪崩击穿</vt:lpstr>
      <vt:lpstr>隧道击穿（齐纳击穿）</vt:lpstr>
      <vt:lpstr>隧道击穿（齐纳击穿）</vt:lpstr>
      <vt:lpstr>热电击穿</vt:lpstr>
      <vt:lpstr>6.5 Pn结隧道效应</vt:lpstr>
      <vt:lpstr>6.5 Pn结隧道效应</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第六章  pn结</dc:title>
  <dc:creator>Passion knight</dc:creator>
  <cp:lastModifiedBy>Administrator</cp:lastModifiedBy>
  <cp:revision>14</cp:revision>
  <dcterms:created xsi:type="dcterms:W3CDTF">2020-11-18T02:52:00Z</dcterms:created>
  <dcterms:modified xsi:type="dcterms:W3CDTF">2021-12-02T09:55:54Z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EADD84AC3C1141309214C603A36C680F</vt:lpwstr>
  </property>
  <property fmtid="{D5CDD505-2E9C-101B-9397-08002B2CF9AE}" pid="3" name="KSOProductBuildVer">
    <vt:lpwstr>2052-11.1.0.10700</vt:lpwstr>
  </property>
</Properties>
</file>