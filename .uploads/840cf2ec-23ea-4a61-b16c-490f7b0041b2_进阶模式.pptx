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80" r:id="rId2"/>
    <p:sldId id="656" r:id="rId3"/>
    <p:sldId id="654" r:id="rId4"/>
    <p:sldId id="655" r:id="rId5"/>
    <p:sldId id="657" r:id="rId6"/>
    <p:sldId id="658" r:id="rId7"/>
    <p:sldId id="659" r:id="rId8"/>
    <p:sldId id="660" r:id="rId9"/>
    <p:sldId id="627" r:id="rId10"/>
    <p:sldId id="629" r:id="rId11"/>
    <p:sldId id="628" r:id="rId12"/>
    <p:sldId id="633" r:id="rId13"/>
    <p:sldId id="634" r:id="rId14"/>
    <p:sldId id="651" r:id="rId15"/>
    <p:sldId id="635" r:id="rId16"/>
    <p:sldId id="652" r:id="rId17"/>
    <p:sldId id="636" r:id="rId18"/>
    <p:sldId id="630" r:id="rId19"/>
    <p:sldId id="631" r:id="rId20"/>
    <p:sldId id="632" r:id="rId21"/>
    <p:sldId id="653" r:id="rId22"/>
    <p:sldId id="608" r:id="rId23"/>
    <p:sldId id="637" r:id="rId24"/>
    <p:sldId id="638" r:id="rId25"/>
    <p:sldId id="639" r:id="rId26"/>
    <p:sldId id="640" r:id="rId27"/>
    <p:sldId id="641" r:id="rId28"/>
    <p:sldId id="642" r:id="rId29"/>
    <p:sldId id="643" r:id="rId30"/>
    <p:sldId id="644" r:id="rId31"/>
    <p:sldId id="645" r:id="rId32"/>
    <p:sldId id="646" r:id="rId33"/>
    <p:sldId id="647" r:id="rId34"/>
    <p:sldId id="648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90BAE"/>
    <a:srgbClr val="008000"/>
    <a:srgbClr val="DF09CB"/>
    <a:srgbClr val="FF66FF"/>
    <a:srgbClr val="44372C"/>
    <a:srgbClr val="3F3A31"/>
    <a:srgbClr val="100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784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10" Type="http://schemas.openxmlformats.org/officeDocument/2006/relationships/image" Target="../media/image11.w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5" Type="http://schemas.openxmlformats.org/officeDocument/2006/relationships/image" Target="../media/image22.wmf"/><Relationship Id="rId4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9.emf"/><Relationship Id="rId7" Type="http://schemas.openxmlformats.org/officeDocument/2006/relationships/image" Target="../media/image42.w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6" Type="http://schemas.openxmlformats.org/officeDocument/2006/relationships/image" Target="../media/image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emf"/><Relationship Id="rId1" Type="http://schemas.openxmlformats.org/officeDocument/2006/relationships/image" Target="../media/image37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1.w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6" Type="http://schemas.openxmlformats.org/officeDocument/2006/relationships/image" Target="../media/image60.wmf"/><Relationship Id="rId5" Type="http://schemas.openxmlformats.org/officeDocument/2006/relationships/image" Target="../media/image2.emf"/><Relationship Id="rId4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63.wmf"/><Relationship Id="rId1" Type="http://schemas.openxmlformats.org/officeDocument/2006/relationships/image" Target="../media/image62.emf"/><Relationship Id="rId4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30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4" Type="http://schemas.openxmlformats.org/officeDocument/2006/relationships/image" Target="../media/image10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image" Target="../media/image96.wmf"/><Relationship Id="rId7" Type="http://schemas.openxmlformats.org/officeDocument/2006/relationships/image" Target="../media/image105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6" Type="http://schemas.openxmlformats.org/officeDocument/2006/relationships/image" Target="../media/image104.wmf"/><Relationship Id="rId5" Type="http://schemas.openxmlformats.org/officeDocument/2006/relationships/image" Target="../media/image97.wmf"/><Relationship Id="rId10" Type="http://schemas.openxmlformats.org/officeDocument/2006/relationships/image" Target="../media/image110.wmf"/><Relationship Id="rId4" Type="http://schemas.openxmlformats.org/officeDocument/2006/relationships/image" Target="../media/image93.wmf"/><Relationship Id="rId9" Type="http://schemas.openxmlformats.org/officeDocument/2006/relationships/image" Target="../media/image10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222FC33-032D-4B8B-B88F-6377D16CB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BC9D40-CA3B-46A1-9C34-7E6853ECA2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7359024-C432-48AD-85D5-CA9C95A61C81}" type="slidenum">
              <a:rPr lang="en-US" altLang="zh-CN" sz="1200" smtClean="0"/>
              <a:pPr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94C5E-0B2F-4927-ADA1-AEE0EF2D1B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280040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EAA608-46AF-4005-977A-77C7639BA8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85358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44211-0C96-43CE-88BB-E30952ECEC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596864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09C52-9ED1-4F12-9A46-BB2EF71C9B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059220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5D6C6-960A-4E17-8006-36F59EF74F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124235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7B7B6-06B8-40EE-B607-7AEF6D9332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71949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97F60-AC7E-4D23-9191-2154C9EF12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64929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5B3A6-C242-4F44-B483-EAC00C1E29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73584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D7933-DC46-43E6-A1A2-E577CAB1E0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596519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E5082-87D9-49CA-8163-0260FFD6BA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846623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C0347-0C3D-40CD-B084-A1AD9DD635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664482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00256"/>
            </a:gs>
            <a:gs pos="100000">
              <a:srgbClr val="44372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fld id="{5C894673-2157-4153-B4D4-92DF03559A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emf"/><Relationship Id="rId20" Type="http://schemas.openxmlformats.org/officeDocument/2006/relationships/image" Target="../media/image10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Relationship Id="rId22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14.wmf"/><Relationship Id="rId10" Type="http://schemas.openxmlformats.org/officeDocument/2006/relationships/image" Target="../media/image9.e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emf"/><Relationship Id="rId11" Type="http://schemas.openxmlformats.org/officeDocument/2006/relationships/image" Target="../media/image36.png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5.png"/><Relationship Id="rId4" Type="http://schemas.openxmlformats.org/officeDocument/2006/relationships/image" Target="../media/image30.wmf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46.png"/><Relationship Id="rId12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emf"/><Relationship Id="rId11" Type="http://schemas.openxmlformats.org/officeDocument/2006/relationships/image" Target="../media/image48.png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5.w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4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6.png"/><Relationship Id="rId3" Type="http://schemas.openxmlformats.org/officeDocument/2006/relationships/oleObject" Target="../embeddings/oleObject41.bin"/><Relationship Id="rId7" Type="http://schemas.openxmlformats.org/officeDocument/2006/relationships/image" Target="../media/image54.png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55.png"/><Relationship Id="rId4" Type="http://schemas.openxmlformats.org/officeDocument/2006/relationships/image" Target="../media/image50.wmf"/><Relationship Id="rId9" Type="http://schemas.openxmlformats.org/officeDocument/2006/relationships/image" Target="../media/image45.wmf"/><Relationship Id="rId1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59.w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6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3.wmf"/><Relationship Id="rId11" Type="http://schemas.openxmlformats.org/officeDocument/2006/relationships/image" Target="../media/image64.wmf"/><Relationship Id="rId5" Type="http://schemas.openxmlformats.org/officeDocument/2006/relationships/oleObject" Target="../embeddings/oleObject51.bin"/><Relationship Id="rId10" Type="http://schemas.openxmlformats.org/officeDocument/2006/relationships/oleObject" Target="../embeddings/oleObject54.bin"/><Relationship Id="rId4" Type="http://schemas.openxmlformats.org/officeDocument/2006/relationships/image" Target="../media/image62.emf"/><Relationship Id="rId9" Type="http://schemas.openxmlformats.org/officeDocument/2006/relationships/image" Target="../media/image4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5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3.png"/><Relationship Id="rId5" Type="http://schemas.openxmlformats.org/officeDocument/2006/relationships/image" Target="../media/image77.png"/><Relationship Id="rId4" Type="http://schemas.openxmlformats.org/officeDocument/2006/relationships/image" Target="../media/image3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3.png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81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58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6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9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10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109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5.wmf"/><Relationship Id="rId11" Type="http://schemas.openxmlformats.org/officeDocument/2006/relationships/image" Target="../media/image108.png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7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106.w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20" Type="http://schemas.openxmlformats.org/officeDocument/2006/relationships/image" Target="../media/image107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104.wmf"/><Relationship Id="rId22" Type="http://schemas.openxmlformats.org/officeDocument/2006/relationships/image" Target="../media/image1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6" descr="C:\My Documents\05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1588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矩形 1"/>
          <p:cNvSpPr>
            <a:spLocks noChangeArrowheads="1"/>
          </p:cNvSpPr>
          <p:nvPr/>
        </p:nvSpPr>
        <p:spPr bwMode="auto">
          <a:xfrm>
            <a:off x="3655723" y="981075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数理方程</a:t>
            </a:r>
          </a:p>
        </p:txBody>
      </p:sp>
      <p:sp>
        <p:nvSpPr>
          <p:cNvPr id="4100" name="矩形 9"/>
          <p:cNvSpPr>
            <a:spLocks noChangeArrowheads="1"/>
          </p:cNvSpPr>
          <p:nvPr/>
        </p:nvSpPr>
        <p:spPr bwMode="auto">
          <a:xfrm>
            <a:off x="4062413" y="1963738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进阶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3707903" y="3387224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光场调控</a:t>
            </a: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3089946" y="3882369"/>
            <a:ext cx="30684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第一性原理计算</a:t>
            </a:r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85716E9E-C78A-41EF-9E23-EBDA730A8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3" y="2723220"/>
            <a:ext cx="1832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时间部分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4DF342-7593-44B0-B028-BC43B2DFD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908720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课本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374B51-07A7-488F-A842-08E83D96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581128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科研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DFFC18-E572-470E-ACA2-D4C28EA5D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705" y="2522367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开放性问题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AA0AD4B9-8784-48D1-A0D0-B9A1A5B4E64E}"/>
              </a:ext>
            </a:extLst>
          </p:cNvPr>
          <p:cNvSpPr/>
          <p:nvPr/>
        </p:nvSpPr>
        <p:spPr bwMode="auto">
          <a:xfrm>
            <a:off x="1907704" y="1124744"/>
            <a:ext cx="201622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53D886-50B6-45B0-B9BE-A6799DEB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2090" y="908720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答案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5A06291-1437-483C-9563-34FF409C8418}"/>
              </a:ext>
            </a:extLst>
          </p:cNvPr>
          <p:cNvSpPr/>
          <p:nvPr/>
        </p:nvSpPr>
        <p:spPr bwMode="auto">
          <a:xfrm>
            <a:off x="5220072" y="1124744"/>
            <a:ext cx="1156975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7981A-327A-49A6-B4F1-61EF649E1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594" y="904364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考试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DC43941A-F7AA-48F4-B45F-C585E2DBB616}"/>
              </a:ext>
            </a:extLst>
          </p:cNvPr>
          <p:cNvSpPr/>
          <p:nvPr/>
        </p:nvSpPr>
        <p:spPr bwMode="auto">
          <a:xfrm rot="19685271">
            <a:off x="5242651" y="2087291"/>
            <a:ext cx="2304256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24753BF-472F-441F-A00F-96D129AA785A}"/>
              </a:ext>
            </a:extLst>
          </p:cNvPr>
          <p:cNvSpPr/>
          <p:nvPr/>
        </p:nvSpPr>
        <p:spPr bwMode="auto">
          <a:xfrm>
            <a:off x="1907704" y="4801507"/>
            <a:ext cx="2304256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214A62-B33F-47B3-82AD-7027FF032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8112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可能没有答案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0624362-0411-4457-9855-312134F38BC8}"/>
              </a:ext>
            </a:extLst>
          </p:cNvPr>
          <p:cNvSpPr/>
          <p:nvPr/>
        </p:nvSpPr>
        <p:spPr bwMode="auto">
          <a:xfrm rot="5400000">
            <a:off x="-37867" y="2852936"/>
            <a:ext cx="2304256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60054F-6993-4998-896F-72570B09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73" y="2603085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知识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BF3F965-4C0A-4AD0-8EEF-B77A490E1E02}"/>
              </a:ext>
            </a:extLst>
          </p:cNvPr>
          <p:cNvSpPr/>
          <p:nvPr/>
        </p:nvSpPr>
        <p:spPr bwMode="auto">
          <a:xfrm rot="8721848">
            <a:off x="1801086" y="3736108"/>
            <a:ext cx="2304256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6909962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502B6A-1D22-4C06-90A1-9A02756C4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88640"/>
            <a:ext cx="72282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时间部分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非平衡态过程、超快过程</a:t>
            </a:r>
          </a:p>
        </p:txBody>
      </p:sp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2D49F05E-E9BF-448B-B718-74E14C38D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805963"/>
              </p:ext>
            </p:extLst>
          </p:nvPr>
        </p:nvGraphicFramePr>
        <p:xfrm>
          <a:off x="398678" y="1484784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6" name="Equation" r:id="rId3" imgW="830615" imgH="213376" progId="Equation.DSMT4">
                  <p:embed/>
                </p:oleObj>
              </mc:Choice>
              <mc:Fallback>
                <p:oleObj name="Equation" r:id="rId3" imgW="830615" imgH="213376" progId="Equation.DSMT4">
                  <p:embed/>
                  <p:pic>
                    <p:nvPicPr>
                      <p:cNvPr id="3235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78" y="1484784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3">
            <a:extLst>
              <a:ext uri="{FF2B5EF4-FFF2-40B4-BE49-F238E27FC236}">
                <a16:creationId xmlns:a16="http://schemas.microsoft.com/office/drawing/2014/main" id="{F1D4A9FF-C38B-4DB0-9E3B-AF2929F260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8924"/>
              </p:ext>
            </p:extLst>
          </p:nvPr>
        </p:nvGraphicFramePr>
        <p:xfrm>
          <a:off x="1334782" y="2067764"/>
          <a:ext cx="1784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7" name="公式" r:id="rId5" imgW="670702" imgH="144654" progId="Equation.3">
                  <p:embed/>
                </p:oleObj>
              </mc:Choice>
              <mc:Fallback>
                <p:oleObj name="公式" r:id="rId5" imgW="670702" imgH="144654" progId="Equation.3">
                  <p:embed/>
                  <p:pic>
                    <p:nvPicPr>
                      <p:cNvPr id="32463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782" y="2067764"/>
                        <a:ext cx="17843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24">
            <a:extLst>
              <a:ext uri="{FF2B5EF4-FFF2-40B4-BE49-F238E27FC236}">
                <a16:creationId xmlns:a16="http://schemas.microsoft.com/office/drawing/2014/main" id="{E7387A99-6E31-48BF-96AE-9D789EF579F5}"/>
              </a:ext>
            </a:extLst>
          </p:cNvPr>
          <p:cNvSpPr>
            <a:spLocks/>
          </p:cNvSpPr>
          <p:nvPr/>
        </p:nvSpPr>
        <p:spPr bwMode="auto">
          <a:xfrm>
            <a:off x="847420" y="2220164"/>
            <a:ext cx="457200" cy="685800"/>
          </a:xfrm>
          <a:prstGeom prst="leftBrace">
            <a:avLst>
              <a:gd name="adj1" fmla="val 125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0B53E62E-F8D6-4E6F-976F-2B0C93A772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638265"/>
              </p:ext>
            </p:extLst>
          </p:nvPr>
        </p:nvGraphicFramePr>
        <p:xfrm>
          <a:off x="6354457" y="1991564"/>
          <a:ext cx="1168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8" name="公式" r:id="rId7" imgW="426578" imgH="175197" progId="Equation.3">
                  <p:embed/>
                </p:oleObj>
              </mc:Choice>
              <mc:Fallback>
                <p:oleObj name="公式" r:id="rId7" imgW="426578" imgH="175197" progId="Equation.3">
                  <p:embed/>
                  <p:pic>
                    <p:nvPicPr>
                      <p:cNvPr id="32463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457" y="1991564"/>
                        <a:ext cx="11684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7">
            <a:extLst>
              <a:ext uri="{FF2B5EF4-FFF2-40B4-BE49-F238E27FC236}">
                <a16:creationId xmlns:a16="http://schemas.microsoft.com/office/drawing/2014/main" id="{EFAE57DF-FC17-4A57-B840-58DC781F5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948387"/>
              </p:ext>
            </p:extLst>
          </p:nvPr>
        </p:nvGraphicFramePr>
        <p:xfrm>
          <a:off x="6410020" y="2601164"/>
          <a:ext cx="1168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9" name="公式" r:id="rId9" imgW="426578" imgH="175197" progId="Equation.3">
                  <p:embed/>
                </p:oleObj>
              </mc:Choice>
              <mc:Fallback>
                <p:oleObj name="公式" r:id="rId9" imgW="426578" imgH="175197" progId="Equation.3">
                  <p:embed/>
                  <p:pic>
                    <p:nvPicPr>
                      <p:cNvPr id="32463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020" y="2601164"/>
                        <a:ext cx="11684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8">
            <a:extLst>
              <a:ext uri="{FF2B5EF4-FFF2-40B4-BE49-F238E27FC236}">
                <a16:creationId xmlns:a16="http://schemas.microsoft.com/office/drawing/2014/main" id="{ADB42D1C-510B-4399-92B5-5970EDCA0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93500"/>
              </p:ext>
            </p:extLst>
          </p:nvPr>
        </p:nvGraphicFramePr>
        <p:xfrm>
          <a:off x="1304620" y="2601164"/>
          <a:ext cx="38576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0" name="公式" r:id="rId11" imgW="1478351" imgH="144654" progId="Equation.3">
                  <p:embed/>
                </p:oleObj>
              </mc:Choice>
              <mc:Fallback>
                <p:oleObj name="公式" r:id="rId11" imgW="1478351" imgH="144654" progId="Equation.3">
                  <p:embed/>
                  <p:pic>
                    <p:nvPicPr>
                      <p:cNvPr id="32463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620" y="2601164"/>
                        <a:ext cx="38576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1">
            <a:extLst>
              <a:ext uri="{FF2B5EF4-FFF2-40B4-BE49-F238E27FC236}">
                <a16:creationId xmlns:a16="http://schemas.microsoft.com/office/drawing/2014/main" id="{4AE80EF3-0500-4F3D-8E9C-00F611DC47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540467"/>
              </p:ext>
            </p:extLst>
          </p:nvPr>
        </p:nvGraphicFramePr>
        <p:xfrm>
          <a:off x="1118758" y="3180116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1" name="公式" r:id="rId13" imgW="754486" imgH="175197" progId="Equation.3">
                  <p:embed/>
                </p:oleObj>
              </mc:Choice>
              <mc:Fallback>
                <p:oleObj name="公式" r:id="rId13" imgW="754486" imgH="175197" progId="Equation.3">
                  <p:embed/>
                  <p:pic>
                    <p:nvPicPr>
                      <p:cNvPr id="32463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758" y="3180116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32">
            <a:extLst>
              <a:ext uri="{FF2B5EF4-FFF2-40B4-BE49-F238E27FC236}">
                <a16:creationId xmlns:a16="http://schemas.microsoft.com/office/drawing/2014/main" id="{B8854214-9A16-480B-AEA9-D9B7B05D728D}"/>
              </a:ext>
            </a:extLst>
          </p:cNvPr>
          <p:cNvSpPr>
            <a:spLocks/>
          </p:cNvSpPr>
          <p:nvPr/>
        </p:nvSpPr>
        <p:spPr bwMode="auto">
          <a:xfrm>
            <a:off x="267982" y="2524964"/>
            <a:ext cx="533400" cy="976044"/>
          </a:xfrm>
          <a:prstGeom prst="leftBrace">
            <a:avLst>
              <a:gd name="adj1" fmla="val 2261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1" name="Object 3081">
            <a:extLst>
              <a:ext uri="{FF2B5EF4-FFF2-40B4-BE49-F238E27FC236}">
                <a16:creationId xmlns:a16="http://schemas.microsoft.com/office/drawing/2014/main" id="{2AEF0AA4-DDB1-4291-9FEE-3B959B4181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598255"/>
              </p:ext>
            </p:extLst>
          </p:nvPr>
        </p:nvGraphicFramePr>
        <p:xfrm>
          <a:off x="399821" y="3681281"/>
          <a:ext cx="24447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2" name="Equation" r:id="rId15" imgW="807649" imgH="213376" progId="Equation.DSMT4">
                  <p:embed/>
                </p:oleObj>
              </mc:Choice>
              <mc:Fallback>
                <p:oleObj name="Equation" r:id="rId15" imgW="807649" imgH="213376" progId="Equation.DSMT4">
                  <p:embed/>
                  <p:pic>
                    <p:nvPicPr>
                      <p:cNvPr id="334857" name="Object 30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21" y="3681281"/>
                        <a:ext cx="24447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42">
            <a:extLst>
              <a:ext uri="{FF2B5EF4-FFF2-40B4-BE49-F238E27FC236}">
                <a16:creationId xmlns:a16="http://schemas.microsoft.com/office/drawing/2014/main" id="{8E1DA26D-55A2-4A07-8AA5-064BCFC6C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415649"/>
              </p:ext>
            </p:extLst>
          </p:nvPr>
        </p:nvGraphicFramePr>
        <p:xfrm>
          <a:off x="883908" y="4247592"/>
          <a:ext cx="214947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3" name="公式" r:id="rId17" imgW="708554" imgH="198104" progId="Equation.3">
                  <p:embed/>
                </p:oleObj>
              </mc:Choice>
              <mc:Fallback>
                <p:oleObj name="公式" r:id="rId17" imgW="708554" imgH="198104" progId="Equation.3">
                  <p:embed/>
                  <p:pic>
                    <p:nvPicPr>
                      <p:cNvPr id="33589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08" y="4247592"/>
                        <a:ext cx="214947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43">
            <a:extLst>
              <a:ext uri="{FF2B5EF4-FFF2-40B4-BE49-F238E27FC236}">
                <a16:creationId xmlns:a16="http://schemas.microsoft.com/office/drawing/2014/main" id="{62B703A0-9332-40A3-A4AA-51EE8C62CF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628991"/>
              </p:ext>
            </p:extLst>
          </p:nvPr>
        </p:nvGraphicFramePr>
        <p:xfrm>
          <a:off x="883908" y="4929059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4" name="公式" r:id="rId19" imgW="754486" imgH="175197" progId="Equation.3">
                  <p:embed/>
                </p:oleObj>
              </mc:Choice>
              <mc:Fallback>
                <p:oleObj name="公式" r:id="rId19" imgW="754486" imgH="175197" progId="Equation.3">
                  <p:embed/>
                  <p:pic>
                    <p:nvPicPr>
                      <p:cNvPr id="335891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08" y="4929059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32">
            <a:extLst>
              <a:ext uri="{FF2B5EF4-FFF2-40B4-BE49-F238E27FC236}">
                <a16:creationId xmlns:a16="http://schemas.microsoft.com/office/drawing/2014/main" id="{4E39D394-92D4-488A-9CA2-EE7F2FCF0262}"/>
              </a:ext>
            </a:extLst>
          </p:cNvPr>
          <p:cNvSpPr>
            <a:spLocks/>
          </p:cNvSpPr>
          <p:nvPr/>
        </p:nvSpPr>
        <p:spPr bwMode="auto">
          <a:xfrm>
            <a:off x="375165" y="4419970"/>
            <a:ext cx="533400" cy="976044"/>
          </a:xfrm>
          <a:prstGeom prst="leftBrace">
            <a:avLst>
              <a:gd name="adj1" fmla="val 2261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97AF68-DAAA-45C5-8C3B-2CACADDDD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40" y="5583753"/>
            <a:ext cx="30572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真实的数理方程</a:t>
            </a:r>
          </a:p>
        </p:txBody>
      </p:sp>
      <p:graphicFrame>
        <p:nvGraphicFramePr>
          <p:cNvPr id="16" name="Object 3081">
            <a:extLst>
              <a:ext uri="{FF2B5EF4-FFF2-40B4-BE49-F238E27FC236}">
                <a16:creationId xmlns:a16="http://schemas.microsoft.com/office/drawing/2014/main" id="{16E2AFD5-548F-466F-A81E-70E993A30B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998232"/>
              </p:ext>
            </p:extLst>
          </p:nvPr>
        </p:nvGraphicFramePr>
        <p:xfrm>
          <a:off x="626343" y="6132362"/>
          <a:ext cx="2044039" cy="54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5" name="Equation" r:id="rId21" imgW="1269720" imgH="330120" progId="Equation.DSMT4">
                  <p:embed/>
                </p:oleObj>
              </mc:Choice>
              <mc:Fallback>
                <p:oleObj name="Equation" r:id="rId21" imgW="1269720" imgH="330120" progId="Equation.DSMT4">
                  <p:embed/>
                  <p:pic>
                    <p:nvPicPr>
                      <p:cNvPr id="11" name="Object 3081">
                        <a:extLst>
                          <a:ext uri="{FF2B5EF4-FFF2-40B4-BE49-F238E27FC236}">
                            <a16:creationId xmlns:a16="http://schemas.microsoft.com/office/drawing/2014/main" id="{2AEF0AA4-DDB1-4291-9FEE-3B959B418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343" y="6132362"/>
                        <a:ext cx="2044039" cy="545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8E19251E-E58B-4AC3-9515-62F2183D7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4" y="790584"/>
            <a:ext cx="30572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书上的数理方程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D61E72-F1CF-453F-AB07-0A9857F8D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382" y="6112126"/>
            <a:ext cx="21387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</p:spTree>
    <p:extLst>
      <p:ext uri="{BB962C8B-B14F-4D97-AF65-F5344CB8AC3E}">
        <p14:creationId xmlns:p14="http://schemas.microsoft.com/office/powerpoint/2010/main" val="1694931450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F96129-35DF-402A-B31C-27CE94E2B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44624"/>
            <a:ext cx="30572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真实的数理方程</a:t>
            </a:r>
          </a:p>
        </p:txBody>
      </p:sp>
      <p:graphicFrame>
        <p:nvGraphicFramePr>
          <p:cNvPr id="3" name="Object 3081">
            <a:extLst>
              <a:ext uri="{FF2B5EF4-FFF2-40B4-BE49-F238E27FC236}">
                <a16:creationId xmlns:a16="http://schemas.microsoft.com/office/drawing/2014/main" id="{EFD5DD94-7A94-47B5-AE1D-1112B19D9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179319"/>
              </p:ext>
            </p:extLst>
          </p:nvPr>
        </p:nvGraphicFramePr>
        <p:xfrm>
          <a:off x="469007" y="593233"/>
          <a:ext cx="2044039" cy="54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4" name="Equation" r:id="rId3" imgW="1269720" imgH="330120" progId="Equation.DSMT4">
                  <p:embed/>
                </p:oleObj>
              </mc:Choice>
              <mc:Fallback>
                <p:oleObj name="Equation" r:id="rId3" imgW="1269720" imgH="330120" progId="Equation.DSMT4">
                  <p:embed/>
                  <p:pic>
                    <p:nvPicPr>
                      <p:cNvPr id="16" name="Object 3081">
                        <a:extLst>
                          <a:ext uri="{FF2B5EF4-FFF2-40B4-BE49-F238E27FC236}">
                            <a16:creationId xmlns:a16="http://schemas.microsoft.com/office/drawing/2014/main" id="{16E2AFD5-548F-466F-A81E-70E993A30B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007" y="593233"/>
                        <a:ext cx="2044039" cy="545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E9545DC-A69F-4D06-BEC3-867AB79EF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549" y="866053"/>
            <a:ext cx="21387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边界条件</a:t>
            </a:r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6C4EA39D-D29A-4BF4-8E4C-7C50DD934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72371"/>
              </p:ext>
            </p:extLst>
          </p:nvPr>
        </p:nvGraphicFramePr>
        <p:xfrm>
          <a:off x="463147" y="1178009"/>
          <a:ext cx="2308653" cy="597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5" name="Equation" r:id="rId5" imgW="1307880" imgH="330120" progId="Equation.DSMT4">
                  <p:embed/>
                </p:oleObj>
              </mc:Choice>
              <mc:Fallback>
                <p:oleObj name="Equation" r:id="rId5" imgW="1307880" imgH="330120" progId="Equation.DSMT4">
                  <p:embed/>
                  <p:pic>
                    <p:nvPicPr>
                      <p:cNvPr id="3" name="Object 12">
                        <a:extLst>
                          <a:ext uri="{FF2B5EF4-FFF2-40B4-BE49-F238E27FC236}">
                            <a16:creationId xmlns:a16="http://schemas.microsoft.com/office/drawing/2014/main" id="{2D49F05E-E9BF-448B-B718-74E14C38D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147" y="1178009"/>
                        <a:ext cx="2308653" cy="597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0F3BA1C9-2202-4256-8BB5-CC1DE2441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1983"/>
            <a:ext cx="38715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含时怎么办？</a:t>
            </a:r>
          </a:p>
        </p:txBody>
      </p:sp>
      <p:graphicFrame>
        <p:nvGraphicFramePr>
          <p:cNvPr id="8" name="Object 28">
            <a:extLst>
              <a:ext uri="{FF2B5EF4-FFF2-40B4-BE49-F238E27FC236}">
                <a16:creationId xmlns:a16="http://schemas.microsoft.com/office/drawing/2014/main" id="{2177F4C0-A0D6-4504-ADBA-6D5ED24A8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459558"/>
              </p:ext>
            </p:extLst>
          </p:nvPr>
        </p:nvGraphicFramePr>
        <p:xfrm>
          <a:off x="323528" y="2794000"/>
          <a:ext cx="38576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6" name="公式" r:id="rId7" imgW="1478351" imgH="144654" progId="Equation.3">
                  <p:embed/>
                </p:oleObj>
              </mc:Choice>
              <mc:Fallback>
                <p:oleObj name="公式" r:id="rId7" imgW="1478351" imgH="144654" progId="Equation.3">
                  <p:embed/>
                  <p:pic>
                    <p:nvPicPr>
                      <p:cNvPr id="8" name="Object 28">
                        <a:extLst>
                          <a:ext uri="{FF2B5EF4-FFF2-40B4-BE49-F238E27FC236}">
                            <a16:creationId xmlns:a16="http://schemas.microsoft.com/office/drawing/2014/main" id="{ADB42D1C-510B-4399-92B5-5970EDCA01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794000"/>
                        <a:ext cx="38576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42">
            <a:extLst>
              <a:ext uri="{FF2B5EF4-FFF2-40B4-BE49-F238E27FC236}">
                <a16:creationId xmlns:a16="http://schemas.microsoft.com/office/drawing/2014/main" id="{AEAE87B6-9553-4AB1-8A31-74852E79E1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586770"/>
              </p:ext>
            </p:extLst>
          </p:nvPr>
        </p:nvGraphicFramePr>
        <p:xfrm>
          <a:off x="311331" y="4573070"/>
          <a:ext cx="214947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7" name="公式" r:id="rId9" imgW="708554" imgH="198104" progId="Equation.3">
                  <p:embed/>
                </p:oleObj>
              </mc:Choice>
              <mc:Fallback>
                <p:oleObj name="公式" r:id="rId9" imgW="708554" imgH="198104" progId="Equation.3">
                  <p:embed/>
                  <p:pic>
                    <p:nvPicPr>
                      <p:cNvPr id="12" name="Object 1042">
                        <a:extLst>
                          <a:ext uri="{FF2B5EF4-FFF2-40B4-BE49-F238E27FC236}">
                            <a16:creationId xmlns:a16="http://schemas.microsoft.com/office/drawing/2014/main" id="{8E1DA26D-55A2-4A07-8AA5-064BCFC6CA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31" y="4573070"/>
                        <a:ext cx="214947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6668F914-BAC1-415B-8E6E-74653A6BE1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4913" y="2256922"/>
            <a:ext cx="4696565" cy="2755835"/>
          </a:xfrm>
          <a:prstGeom prst="rect">
            <a:avLst/>
          </a:prstGeom>
        </p:spPr>
      </p:pic>
      <p:sp>
        <p:nvSpPr>
          <p:cNvPr id="11" name="箭头: 下 10">
            <a:extLst>
              <a:ext uri="{FF2B5EF4-FFF2-40B4-BE49-F238E27FC236}">
                <a16:creationId xmlns:a16="http://schemas.microsoft.com/office/drawing/2014/main" id="{CE1ADB8E-91B9-467A-A6B5-11A4F314AE29}"/>
              </a:ext>
            </a:extLst>
          </p:cNvPr>
          <p:cNvSpPr/>
          <p:nvPr/>
        </p:nvSpPr>
        <p:spPr bwMode="auto">
          <a:xfrm>
            <a:off x="4550907" y="2323957"/>
            <a:ext cx="288032" cy="38455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A1ACB259-E5BF-4F06-B618-C40CD396ED8A}"/>
              </a:ext>
            </a:extLst>
          </p:cNvPr>
          <p:cNvSpPr/>
          <p:nvPr/>
        </p:nvSpPr>
        <p:spPr bwMode="auto">
          <a:xfrm>
            <a:off x="6683195" y="2325335"/>
            <a:ext cx="288032" cy="38455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Object 3081">
            <a:extLst>
              <a:ext uri="{FF2B5EF4-FFF2-40B4-BE49-F238E27FC236}">
                <a16:creationId xmlns:a16="http://schemas.microsoft.com/office/drawing/2014/main" id="{47E8EEB4-530D-4669-A56D-0BAF47390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18168"/>
              </p:ext>
            </p:extLst>
          </p:nvPr>
        </p:nvGraphicFramePr>
        <p:xfrm>
          <a:off x="463147" y="5318617"/>
          <a:ext cx="210343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8" name="Equation" r:id="rId12" imgW="1307880" imgH="571320" progId="Equation.DSMT4">
                  <p:embed/>
                </p:oleObj>
              </mc:Choice>
              <mc:Fallback>
                <p:oleObj name="Equation" r:id="rId12" imgW="1307880" imgH="571320" progId="Equation.DSMT4">
                  <p:embed/>
                  <p:pic>
                    <p:nvPicPr>
                      <p:cNvPr id="3" name="Object 3081">
                        <a:extLst>
                          <a:ext uri="{FF2B5EF4-FFF2-40B4-BE49-F238E27FC236}">
                            <a16:creationId xmlns:a16="http://schemas.microsoft.com/office/drawing/2014/main" id="{EFD5DD94-7A94-47B5-AE1D-1112B19D97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147" y="5318617"/>
                        <a:ext cx="210343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B23E9443-2C25-4776-84A5-6C53B1515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172910"/>
              </p:ext>
            </p:extLst>
          </p:nvPr>
        </p:nvGraphicFramePr>
        <p:xfrm>
          <a:off x="447968" y="3396692"/>
          <a:ext cx="24669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9" name="Equation" r:id="rId14" imgW="1396800" imgH="596880" progId="Equation.DSMT4">
                  <p:embed/>
                </p:oleObj>
              </mc:Choice>
              <mc:Fallback>
                <p:oleObj name="Equation" r:id="rId14" imgW="1396800" imgH="59688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6C4EA39D-D29A-4BF4-8E4C-7C50DD934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68" y="3396692"/>
                        <a:ext cx="24669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8351970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081">
            <a:extLst>
              <a:ext uri="{FF2B5EF4-FFF2-40B4-BE49-F238E27FC236}">
                <a16:creationId xmlns:a16="http://schemas.microsoft.com/office/drawing/2014/main" id="{EE31BD2B-65A5-4B26-A22A-2058465911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735290"/>
              </p:ext>
            </p:extLst>
          </p:nvPr>
        </p:nvGraphicFramePr>
        <p:xfrm>
          <a:off x="395536" y="188640"/>
          <a:ext cx="2044039" cy="545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name="Equation" r:id="rId3" imgW="1269720" imgH="330120" progId="Equation.DSMT4">
                  <p:embed/>
                </p:oleObj>
              </mc:Choice>
              <mc:Fallback>
                <p:oleObj name="Equation" r:id="rId3" imgW="1269720" imgH="330120" progId="Equation.DSMT4">
                  <p:embed/>
                  <p:pic>
                    <p:nvPicPr>
                      <p:cNvPr id="3" name="Object 3081">
                        <a:extLst>
                          <a:ext uri="{FF2B5EF4-FFF2-40B4-BE49-F238E27FC236}">
                            <a16:creationId xmlns:a16="http://schemas.microsoft.com/office/drawing/2014/main" id="{EFD5DD94-7A94-47B5-AE1D-1112B19D97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88640"/>
                        <a:ext cx="2044039" cy="545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91E1C9C0-C5A3-40F5-B796-0FD1D0F2E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520375"/>
              </p:ext>
            </p:extLst>
          </p:nvPr>
        </p:nvGraphicFramePr>
        <p:xfrm>
          <a:off x="389676" y="773416"/>
          <a:ext cx="2308653" cy="597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Equation" r:id="rId5" imgW="1307880" imgH="330120" progId="Equation.DSMT4">
                  <p:embed/>
                </p:oleObj>
              </mc:Choice>
              <mc:Fallback>
                <p:oleObj name="Equation" r:id="rId5" imgW="1307880" imgH="33012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6C4EA39D-D29A-4BF4-8E4C-7C50DD934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676" y="773416"/>
                        <a:ext cx="2308653" cy="597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4FAE8CB-DE54-4051-AF9E-36041CC8AA98}"/>
              </a:ext>
            </a:extLst>
          </p:cNvPr>
          <p:cNvSpPr txBox="1"/>
          <p:nvPr/>
        </p:nvSpPr>
        <p:spPr>
          <a:xfrm>
            <a:off x="467544" y="1772816"/>
            <a:ext cx="2419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随时间变化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B01316-8738-450A-9F0C-2EE56CF84659}"/>
              </a:ext>
            </a:extLst>
          </p:cNvPr>
          <p:cNvSpPr txBox="1"/>
          <p:nvPr/>
        </p:nvSpPr>
        <p:spPr>
          <a:xfrm>
            <a:off x="315406" y="4838052"/>
            <a:ext cx="2372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随时间变化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8094C0-08D2-4DA7-893F-5BB61B915B23}"/>
              </a:ext>
            </a:extLst>
          </p:cNvPr>
          <p:cNvSpPr txBox="1"/>
          <p:nvPr/>
        </p:nvSpPr>
        <p:spPr>
          <a:xfrm>
            <a:off x="459422" y="4208022"/>
            <a:ext cx="21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边界条件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6877FAF-840E-467F-8B72-93D7C58CB93F}"/>
              </a:ext>
            </a:extLst>
          </p:cNvPr>
          <p:cNvSpPr/>
          <p:nvPr/>
        </p:nvSpPr>
        <p:spPr bwMode="auto">
          <a:xfrm>
            <a:off x="2886796" y="1844823"/>
            <a:ext cx="1685204" cy="4407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C7E0E8-8831-4584-9DAE-5B1763764A14}"/>
              </a:ext>
            </a:extLst>
          </p:cNvPr>
          <p:cNvSpPr txBox="1"/>
          <p:nvPr/>
        </p:nvSpPr>
        <p:spPr>
          <a:xfrm>
            <a:off x="4932040" y="1552435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非线性效应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C3D760-20B3-4448-9961-46A2F99165E7}"/>
              </a:ext>
            </a:extLst>
          </p:cNvPr>
          <p:cNvSpPr txBox="1"/>
          <p:nvPr/>
        </p:nvSpPr>
        <p:spPr>
          <a:xfrm>
            <a:off x="5148064" y="2121155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超快调控</a:t>
            </a:r>
          </a:p>
        </p:txBody>
      </p:sp>
      <p:sp>
        <p:nvSpPr>
          <p:cNvPr id="11" name="箭头: 直角上 10">
            <a:extLst>
              <a:ext uri="{FF2B5EF4-FFF2-40B4-BE49-F238E27FC236}">
                <a16:creationId xmlns:a16="http://schemas.microsoft.com/office/drawing/2014/main" id="{5C28F7C2-E09B-497E-9CD1-D745B727A009}"/>
              </a:ext>
            </a:extLst>
          </p:cNvPr>
          <p:cNvSpPr/>
          <p:nvPr/>
        </p:nvSpPr>
        <p:spPr bwMode="auto">
          <a:xfrm rot="5400000">
            <a:off x="3057654" y="1518002"/>
            <a:ext cx="720080" cy="2884675"/>
          </a:xfrm>
          <a:prstGeom prst="bent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467C6-868A-423D-947A-D0B6CAD504EF}"/>
              </a:ext>
            </a:extLst>
          </p:cNvPr>
          <p:cNvSpPr txBox="1"/>
          <p:nvPr/>
        </p:nvSpPr>
        <p:spPr>
          <a:xfrm>
            <a:off x="5148064" y="2844225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时间晶体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4826DB4-095E-46A6-AA22-6A5ADD064E2E}"/>
              </a:ext>
            </a:extLst>
          </p:cNvPr>
          <p:cNvSpPr/>
          <p:nvPr/>
        </p:nvSpPr>
        <p:spPr bwMode="auto">
          <a:xfrm>
            <a:off x="2886796" y="4653136"/>
            <a:ext cx="2520280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D66937-43D5-4AAB-8D20-23DBDCDC03A9}"/>
              </a:ext>
            </a:extLst>
          </p:cNvPr>
          <p:cNvSpPr txBox="1"/>
          <p:nvPr/>
        </p:nvSpPr>
        <p:spPr>
          <a:xfrm>
            <a:off x="5702698" y="4345425"/>
            <a:ext cx="2448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弛豫时间！</a:t>
            </a:r>
            <a:endParaRPr lang="en-US" altLang="zh-CN" dirty="0"/>
          </a:p>
          <a:p>
            <a:r>
              <a:rPr lang="zh-CN" altLang="en-US" dirty="0"/>
              <a:t>超快过程</a:t>
            </a:r>
          </a:p>
        </p:txBody>
      </p:sp>
    </p:spTree>
    <p:extLst>
      <p:ext uri="{BB962C8B-B14F-4D97-AF65-F5344CB8AC3E}">
        <p14:creationId xmlns:p14="http://schemas.microsoft.com/office/powerpoint/2010/main" val="3636954104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92E7D13-BB58-407F-90C1-09607DE3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764704"/>
            <a:ext cx="7971211" cy="12650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CE98323-E2CF-42E4-8C9D-B8AA14652DE0}"/>
              </a:ext>
            </a:extLst>
          </p:cNvPr>
          <p:cNvSpPr txBox="1"/>
          <p:nvPr/>
        </p:nvSpPr>
        <p:spPr>
          <a:xfrm>
            <a:off x="395536" y="116632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IYPT2020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2A701E-5F20-48AB-8C94-32FC48755805}"/>
              </a:ext>
            </a:extLst>
          </p:cNvPr>
          <p:cNvSpPr txBox="1"/>
          <p:nvPr/>
        </p:nvSpPr>
        <p:spPr>
          <a:xfrm>
            <a:off x="251520" y="2420888"/>
            <a:ext cx="7920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导线的特性：</a:t>
            </a:r>
            <a:endParaRPr lang="en-US" altLang="zh-CN" dirty="0"/>
          </a:p>
          <a:p>
            <a:r>
              <a:rPr lang="en-US" altLang="zh-CN" dirty="0"/>
              <a:t>	1. </a:t>
            </a:r>
            <a:r>
              <a:rPr lang="zh-CN" altLang="en-US" dirty="0"/>
              <a:t>直流：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zh-CN" altLang="en-US" dirty="0">
                <a:solidFill>
                  <a:srgbClr val="FF0000"/>
                </a:solidFill>
              </a:rPr>
              <a:t>交流：感抗，容抗，阻抗</a:t>
            </a: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9AE67FA5-312C-4923-BEAE-52CFA5700A1B}"/>
              </a:ext>
            </a:extLst>
          </p:cNvPr>
          <p:cNvSpPr/>
          <p:nvPr/>
        </p:nvSpPr>
        <p:spPr bwMode="auto">
          <a:xfrm>
            <a:off x="1835696" y="3990548"/>
            <a:ext cx="432048" cy="44656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FCB2EB-B4F4-4D0E-BF3D-14CC2DB7D3B7}"/>
              </a:ext>
            </a:extLst>
          </p:cNvPr>
          <p:cNvSpPr txBox="1"/>
          <p:nvPr/>
        </p:nvSpPr>
        <p:spPr>
          <a:xfrm>
            <a:off x="1547664" y="4535879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频率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3AE2253-ABC9-4F0F-88E1-92F6847B739D}"/>
              </a:ext>
            </a:extLst>
          </p:cNvPr>
          <p:cNvSpPr/>
          <p:nvPr/>
        </p:nvSpPr>
        <p:spPr bwMode="auto">
          <a:xfrm>
            <a:off x="2699792" y="4648246"/>
            <a:ext cx="1440160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1A9452-2E71-4580-A0E6-1545C16A2F60}"/>
              </a:ext>
            </a:extLst>
          </p:cNvPr>
          <p:cNvSpPr txBox="1"/>
          <p:nvPr/>
        </p:nvSpPr>
        <p:spPr>
          <a:xfrm>
            <a:off x="4211960" y="4535879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色散关系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4750A8C8-775C-4B48-BA85-2CD04158E8DE}"/>
              </a:ext>
            </a:extLst>
          </p:cNvPr>
          <p:cNvCxnSpPr/>
          <p:nvPr/>
        </p:nvCxnSpPr>
        <p:spPr bwMode="auto">
          <a:xfrm rot="16200000" flipH="1">
            <a:off x="4517727" y="5318943"/>
            <a:ext cx="1476698" cy="1080120"/>
          </a:xfrm>
          <a:prstGeom prst="bentConnector3">
            <a:avLst>
              <a:gd name="adj1" fmla="val 100603"/>
            </a:avLst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6F149C1-9993-447A-8055-35B176D22981}"/>
              </a:ext>
            </a:extLst>
          </p:cNvPr>
          <p:cNvCxnSpPr/>
          <p:nvPr/>
        </p:nvCxnSpPr>
        <p:spPr bwMode="auto">
          <a:xfrm>
            <a:off x="4716016" y="5517232"/>
            <a:ext cx="1008112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A90FA83-6FB9-44EF-AD14-622FA015655B}"/>
              </a:ext>
            </a:extLst>
          </p:cNvPr>
          <p:cNvCxnSpPr/>
          <p:nvPr/>
        </p:nvCxnSpPr>
        <p:spPr bwMode="auto">
          <a:xfrm>
            <a:off x="4716016" y="6021288"/>
            <a:ext cx="1008112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F6C8527-2CDE-4984-9C51-B46193408753}"/>
              </a:ext>
            </a:extLst>
          </p:cNvPr>
          <p:cNvSpPr txBox="1"/>
          <p:nvPr/>
        </p:nvSpPr>
        <p:spPr>
          <a:xfrm>
            <a:off x="5796136" y="5143119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杂质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39CFAE-F991-43E7-901B-664638BDBC39}"/>
              </a:ext>
            </a:extLst>
          </p:cNvPr>
          <p:cNvSpPr txBox="1"/>
          <p:nvPr/>
        </p:nvSpPr>
        <p:spPr>
          <a:xfrm>
            <a:off x="5868144" y="6273225"/>
            <a:ext cx="3580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晶体本征导电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48B9403-DEF6-41E1-9A58-B166BE62F26D}"/>
              </a:ext>
            </a:extLst>
          </p:cNvPr>
          <p:cNvSpPr txBox="1"/>
          <p:nvPr/>
        </p:nvSpPr>
        <p:spPr>
          <a:xfrm>
            <a:off x="5812944" y="5718439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晶界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6DB0A7-0AAF-4EEF-AB85-6798F6F043B6}"/>
              </a:ext>
            </a:extLst>
          </p:cNvPr>
          <p:cNvSpPr txBox="1"/>
          <p:nvPr/>
        </p:nvSpPr>
        <p:spPr>
          <a:xfrm>
            <a:off x="251520" y="5157755"/>
            <a:ext cx="4248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交流电，微波，</a:t>
            </a:r>
            <a:r>
              <a:rPr lang="en-US" altLang="zh-CN" dirty="0"/>
              <a:t>THz</a:t>
            </a:r>
            <a:r>
              <a:rPr lang="zh-CN" altLang="en-US" dirty="0"/>
              <a:t>波，光波（红外，可见，紫外）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705019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250B6F-2FFC-4246-8937-56E0EBC12ADE}"/>
              </a:ext>
            </a:extLst>
          </p:cNvPr>
          <p:cNvSpPr txBox="1"/>
          <p:nvPr/>
        </p:nvSpPr>
        <p:spPr>
          <a:xfrm>
            <a:off x="163782" y="102564"/>
            <a:ext cx="85846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更进一步，</a:t>
            </a:r>
            <a:r>
              <a:rPr lang="en-US" altLang="zh-CN" dirty="0"/>
              <a:t>f(t)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zh-CN" altLang="en-US" dirty="0"/>
              <a:t>谱函数</a:t>
            </a:r>
            <a:r>
              <a:rPr lang="en-US" altLang="zh-CN" dirty="0"/>
              <a:t>(</a:t>
            </a:r>
            <a:r>
              <a:rPr lang="zh-CN" altLang="en-US" dirty="0"/>
              <a:t>色散关系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——</a:t>
            </a:r>
            <a:r>
              <a:rPr lang="zh-CN" altLang="en-US" dirty="0"/>
              <a:t>傅里叶变换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3A67C7-773B-4DE9-8C99-9CBD3866D697}"/>
              </a:ext>
            </a:extLst>
          </p:cNvPr>
          <p:cNvSpPr txBox="1"/>
          <p:nvPr/>
        </p:nvSpPr>
        <p:spPr>
          <a:xfrm>
            <a:off x="751458" y="3403966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化学反应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52FEF2-3F6F-412D-94B6-0A63B9742741}"/>
              </a:ext>
            </a:extLst>
          </p:cNvPr>
          <p:cNvSpPr txBox="1"/>
          <p:nvPr/>
        </p:nvSpPr>
        <p:spPr>
          <a:xfrm>
            <a:off x="735301" y="1760074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电子导电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8E70A6-0287-4847-B985-1B5A69228B00}"/>
              </a:ext>
            </a:extLst>
          </p:cNvPr>
          <p:cNvSpPr txBox="1"/>
          <p:nvPr/>
        </p:nvSpPr>
        <p:spPr>
          <a:xfrm>
            <a:off x="735301" y="2547202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离子导电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F82513-DBE0-46E2-939C-09249028FF87}"/>
              </a:ext>
            </a:extLst>
          </p:cNvPr>
          <p:cNvSpPr txBox="1"/>
          <p:nvPr/>
        </p:nvSpPr>
        <p:spPr>
          <a:xfrm>
            <a:off x="303253" y="4373083"/>
            <a:ext cx="4795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电子</a:t>
            </a:r>
            <a:r>
              <a:rPr lang="en-US" altLang="zh-CN" dirty="0"/>
              <a:t>-</a:t>
            </a:r>
            <a:r>
              <a:rPr lang="zh-CN" altLang="en-US" dirty="0"/>
              <a:t>声子相互作用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1B7995-3EF2-43BE-AC20-0008E5AE711F}"/>
              </a:ext>
            </a:extLst>
          </p:cNvPr>
          <p:cNvSpPr txBox="1"/>
          <p:nvPr/>
        </p:nvSpPr>
        <p:spPr>
          <a:xfrm>
            <a:off x="267963" y="5312768"/>
            <a:ext cx="4795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声子</a:t>
            </a:r>
            <a:r>
              <a:rPr lang="en-US" altLang="zh-CN" dirty="0"/>
              <a:t>-</a:t>
            </a:r>
            <a:r>
              <a:rPr lang="zh-CN" altLang="en-US" dirty="0"/>
              <a:t>声子相互作用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45A9DA01-E27D-41F0-9EDA-49ED3A9630A5}"/>
              </a:ext>
            </a:extLst>
          </p:cNvPr>
          <p:cNvSpPr/>
          <p:nvPr/>
        </p:nvSpPr>
        <p:spPr bwMode="auto">
          <a:xfrm rot="10800000">
            <a:off x="3687673" y="1828501"/>
            <a:ext cx="576064" cy="4069042"/>
          </a:xfrm>
          <a:prstGeom prst="leftBrace">
            <a:avLst>
              <a:gd name="adj1" fmla="val 74353"/>
              <a:gd name="adj2" fmla="val 64981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26FF0C-C987-4819-B453-22902400BABA}"/>
              </a:ext>
            </a:extLst>
          </p:cNvPr>
          <p:cNvSpPr txBox="1"/>
          <p:nvPr/>
        </p:nvSpPr>
        <p:spPr>
          <a:xfrm>
            <a:off x="4263737" y="2953887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时间尺度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07FBEE-BC2A-4DB6-AE7C-38F1890137AC}"/>
              </a:ext>
            </a:extLst>
          </p:cNvPr>
          <p:cNvSpPr txBox="1"/>
          <p:nvPr/>
        </p:nvSpPr>
        <p:spPr>
          <a:xfrm>
            <a:off x="4149338" y="4079273"/>
            <a:ext cx="2460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超快探测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06705CD-0A24-4F0E-81E6-9D7A8A4869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613" y="632069"/>
            <a:ext cx="4053340" cy="225097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9BC3A89-C582-41BF-8816-02720A06D3D0}"/>
              </a:ext>
            </a:extLst>
          </p:cNvPr>
          <p:cNvSpPr txBox="1"/>
          <p:nvPr/>
        </p:nvSpPr>
        <p:spPr>
          <a:xfrm>
            <a:off x="6495654" y="2988467"/>
            <a:ext cx="266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AH </a:t>
            </a:r>
            <a:r>
              <a:rPr lang="en-US" altLang="zh-CN" sz="1600" dirty="0" err="1"/>
              <a:t>Zewail</a:t>
            </a:r>
            <a:r>
              <a:rPr lang="zh-CN" altLang="en-US" sz="1600" dirty="0"/>
              <a:t>，</a:t>
            </a:r>
            <a:r>
              <a:rPr lang="en-US" altLang="zh-CN" sz="1600" i="1" dirty="0"/>
              <a:t>J. Phys. Chem. A 104, </a:t>
            </a:r>
            <a:r>
              <a:rPr lang="en-US" altLang="zh-CN" sz="1600" dirty="0"/>
              <a:t>5660-5694</a:t>
            </a:r>
            <a:r>
              <a:rPr lang="zh-CN" altLang="en-US" sz="1600" dirty="0"/>
              <a:t>（</a:t>
            </a:r>
            <a:r>
              <a:rPr lang="en-US" altLang="zh-CN" sz="1600" b="1" dirty="0"/>
              <a:t>2000</a:t>
            </a:r>
            <a:r>
              <a:rPr lang="zh-CN" altLang="en-US" sz="1600" b="1" dirty="0"/>
              <a:t>）</a:t>
            </a:r>
            <a:r>
              <a:rPr lang="en-US" altLang="zh-CN" b="1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6421098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540B6B-A705-4C40-A907-2473D0F7EF6D}"/>
              </a:ext>
            </a:extLst>
          </p:cNvPr>
          <p:cNvSpPr txBox="1"/>
          <p:nvPr/>
        </p:nvSpPr>
        <p:spPr>
          <a:xfrm>
            <a:off x="2627784" y="2204864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空间部分</a:t>
            </a:r>
          </a:p>
        </p:txBody>
      </p:sp>
    </p:spTree>
    <p:extLst>
      <p:ext uri="{BB962C8B-B14F-4D97-AF65-F5344CB8AC3E}">
        <p14:creationId xmlns:p14="http://schemas.microsoft.com/office/powerpoint/2010/main" val="2379571337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31"/>
          <p:cNvGraphicFramePr>
            <a:graphicFrameLocks noChangeAspect="1"/>
          </p:cNvGraphicFramePr>
          <p:nvPr/>
        </p:nvGraphicFramePr>
        <p:xfrm>
          <a:off x="1042988" y="476250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8" name="Equation" r:id="rId3" imgW="746831" imgH="167561" progId="Equation.DSMT4">
                  <p:embed/>
                </p:oleObj>
              </mc:Choice>
              <mc:Fallback>
                <p:oleObj name="Equation" r:id="rId3" imgW="746831" imgH="167561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76250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1122363" y="3284538"/>
          <a:ext cx="443388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9" name="公式" r:id="rId5" imgW="1805834" imgH="358030" progId="Equation.3">
                  <p:embed/>
                </p:oleObj>
              </mc:Choice>
              <mc:Fallback>
                <p:oleObj name="公式" r:id="rId5" imgW="1805834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3284538"/>
                        <a:ext cx="443388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1117600" y="4427538"/>
          <a:ext cx="66341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0" name="公式" r:id="rId7" imgW="2720234" imgH="403844" progId="Equation.3">
                  <p:embed/>
                </p:oleObj>
              </mc:Choice>
              <mc:Fallback>
                <p:oleObj name="公式" r:id="rId7" imgW="2720234" imgH="40384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4427538"/>
                        <a:ext cx="66341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3"/>
          <p:cNvSpPr>
            <a:spLocks/>
          </p:cNvSpPr>
          <p:nvPr/>
        </p:nvSpPr>
        <p:spPr bwMode="auto">
          <a:xfrm>
            <a:off x="660400" y="3719513"/>
            <a:ext cx="4572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977900" y="2619375"/>
          <a:ext cx="37560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1" name="Equation" r:id="rId9" imgW="1417533" imgH="198104" progId="Equation.DSMT4">
                  <p:embed/>
                </p:oleObj>
              </mc:Choice>
              <mc:Fallback>
                <p:oleObj name="Equation" r:id="rId9" imgW="1417533" imgH="19810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619375"/>
                        <a:ext cx="3756025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34"/>
          <p:cNvSpPr>
            <a:spLocks noChangeArrowheads="1"/>
          </p:cNvSpPr>
          <p:nvPr/>
        </p:nvSpPr>
        <p:spPr bwMode="auto">
          <a:xfrm>
            <a:off x="6300192" y="5280282"/>
            <a:ext cx="2160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球函数方程</a:t>
            </a:r>
          </a:p>
        </p:txBody>
      </p:sp>
      <p:sp>
        <p:nvSpPr>
          <p:cNvPr id="13" name="Rectangle 1034"/>
          <p:cNvSpPr>
            <a:spLocks noChangeArrowheads="1"/>
          </p:cNvSpPr>
          <p:nvPr/>
        </p:nvSpPr>
        <p:spPr bwMode="auto">
          <a:xfrm>
            <a:off x="5946775" y="3495675"/>
            <a:ext cx="2952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球贝塞尔函数</a:t>
            </a:r>
          </a:p>
        </p:txBody>
      </p:sp>
      <p:sp>
        <p:nvSpPr>
          <p:cNvPr id="14" name="Rectangle 1034"/>
          <p:cNvSpPr>
            <a:spLocks noChangeArrowheads="1"/>
          </p:cNvSpPr>
          <p:nvPr/>
        </p:nvSpPr>
        <p:spPr bwMode="auto">
          <a:xfrm>
            <a:off x="1042988" y="1560513"/>
            <a:ext cx="2952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球坐标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19ABF1-713B-47FA-93F7-7CBEC5BADA6C}"/>
              </a:ext>
            </a:extLst>
          </p:cNvPr>
          <p:cNvSpPr/>
          <p:nvPr/>
        </p:nvSpPr>
        <p:spPr>
          <a:xfrm>
            <a:off x="1898736" y="5918254"/>
            <a:ext cx="68497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21212"/>
                </a:solidFill>
                <a:highlight>
                  <a:srgbClr val="FFFF00"/>
                </a:highlight>
                <a:latin typeface="-apple-system"/>
              </a:rPr>
              <a:t> SO(3) </a:t>
            </a:r>
            <a:r>
              <a:rPr lang="zh-CN" altLang="en-US" dirty="0">
                <a:solidFill>
                  <a:srgbClr val="121212"/>
                </a:solidFill>
                <a:highlight>
                  <a:srgbClr val="FFFF00"/>
                </a:highlight>
                <a:latin typeface="-apple-system"/>
              </a:rPr>
              <a:t>群的不可约表示的基函数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5" name="Rectangle 1034">
            <a:extLst>
              <a:ext uri="{FF2B5EF4-FFF2-40B4-BE49-F238E27FC236}">
                <a16:creationId xmlns:a16="http://schemas.microsoft.com/office/drawing/2014/main" id="{784E70CD-DF51-4A0A-A358-7C30D84D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5936854"/>
            <a:ext cx="2160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群论：</a:t>
            </a:r>
          </a:p>
        </p:txBody>
      </p:sp>
      <p:graphicFrame>
        <p:nvGraphicFramePr>
          <p:cNvPr id="16" name="Object 31">
            <a:extLst>
              <a:ext uri="{FF2B5EF4-FFF2-40B4-BE49-F238E27FC236}">
                <a16:creationId xmlns:a16="http://schemas.microsoft.com/office/drawing/2014/main" id="{C55BDA14-6D05-4FF9-8F24-E0FC7BFAE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742198"/>
              </p:ext>
            </p:extLst>
          </p:nvPr>
        </p:nvGraphicFramePr>
        <p:xfrm>
          <a:off x="5326250" y="255137"/>
          <a:ext cx="2959210" cy="1024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2" name="Equation" r:id="rId11" imgW="1777680" imgH="571320" progId="Equation.DSMT4">
                  <p:embed/>
                </p:oleObj>
              </mc:Choice>
              <mc:Fallback>
                <p:oleObj name="Equation" r:id="rId11" imgW="1777680" imgH="571320" progId="Equation.DSMT4">
                  <p:embed/>
                  <p:pic>
                    <p:nvPicPr>
                      <p:cNvPr id="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250" y="255137"/>
                        <a:ext cx="2959210" cy="1024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6F46B402-8BD1-46F1-94F3-472A982DCEAE}"/>
              </a:ext>
            </a:extLst>
          </p:cNvPr>
          <p:cNvSpPr/>
          <p:nvPr/>
        </p:nvSpPr>
        <p:spPr bwMode="auto">
          <a:xfrm>
            <a:off x="3851920" y="632222"/>
            <a:ext cx="1008112" cy="27067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ED90BB-5F83-4931-9717-EC188C254186}"/>
              </a:ext>
            </a:extLst>
          </p:cNvPr>
          <p:cNvSpPr txBox="1"/>
          <p:nvPr/>
        </p:nvSpPr>
        <p:spPr>
          <a:xfrm>
            <a:off x="4067944" y="1206473"/>
            <a:ext cx="46805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用光场来描述量子力学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build="p" autoUpdateAnimBg="0"/>
      <p:bldP spid="14" grpId="0" build="p" autoUpdateAnimBg="0"/>
      <p:bldP spid="1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31"/>
          <p:cNvGraphicFramePr>
            <a:graphicFrameLocks noChangeAspect="1"/>
          </p:cNvGraphicFramePr>
          <p:nvPr/>
        </p:nvGraphicFramePr>
        <p:xfrm>
          <a:off x="1042988" y="476250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9" name="公式" r:id="rId3" imgW="746831" imgH="167561" progId="Equation.3">
                  <p:embed/>
                </p:oleObj>
              </mc:Choice>
              <mc:Fallback>
                <p:oleObj name="公式" r:id="rId3" imgW="746831" imgH="1675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76250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13"/>
          <p:cNvSpPr>
            <a:spLocks/>
          </p:cNvSpPr>
          <p:nvPr/>
        </p:nvSpPr>
        <p:spPr bwMode="auto">
          <a:xfrm>
            <a:off x="849313" y="3225800"/>
            <a:ext cx="457200" cy="2228850"/>
          </a:xfrm>
          <a:prstGeom prst="leftBrace">
            <a:avLst>
              <a:gd name="adj1" fmla="val 6664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4" name="Rectangle 1034"/>
          <p:cNvSpPr>
            <a:spLocks noChangeArrowheads="1"/>
          </p:cNvSpPr>
          <p:nvPr/>
        </p:nvSpPr>
        <p:spPr bwMode="auto">
          <a:xfrm>
            <a:off x="1042988" y="1560513"/>
            <a:ext cx="2952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柱坐标</a:t>
            </a: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965200" y="2239963"/>
          <a:ext cx="492283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0" name="公式" r:id="rId5" imgW="1653575" imgH="167561" progId="Equation.3">
                  <p:embed/>
                </p:oleObj>
              </mc:Choice>
              <mc:Fallback>
                <p:oleObj name="公式" r:id="rId5" imgW="1653575" imgH="1675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2239963"/>
                        <a:ext cx="492283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2055"/>
          <p:cNvGraphicFramePr>
            <a:graphicFrameLocks noChangeAspect="1"/>
          </p:cNvGraphicFramePr>
          <p:nvPr/>
        </p:nvGraphicFramePr>
        <p:xfrm>
          <a:off x="1539875" y="3051175"/>
          <a:ext cx="37290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1" name="公式" r:id="rId7" imgW="1508973" imgH="167561" progId="Equation.3">
                  <p:embed/>
                </p:oleObj>
              </mc:Choice>
              <mc:Fallback>
                <p:oleObj name="公式" r:id="rId7" imgW="1508973" imgH="167561" progId="Equation.3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3051175"/>
                        <a:ext cx="372903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2056"/>
          <p:cNvGraphicFramePr>
            <a:graphicFrameLocks noChangeAspect="1"/>
          </p:cNvGraphicFramePr>
          <p:nvPr/>
        </p:nvGraphicFramePr>
        <p:xfrm>
          <a:off x="5959475" y="2974975"/>
          <a:ext cx="22653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2" name="公式" r:id="rId9" imgW="899089" imgH="167561" progId="Equation.3">
                  <p:embed/>
                </p:oleObj>
              </mc:Choice>
              <mc:Fallback>
                <p:oleObj name="公式" r:id="rId9" imgW="899089" imgH="167561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2974975"/>
                        <a:ext cx="22653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060"/>
          <p:cNvGraphicFramePr>
            <a:graphicFrameLocks noChangeAspect="1"/>
          </p:cNvGraphicFramePr>
          <p:nvPr/>
        </p:nvGraphicFramePr>
        <p:xfrm>
          <a:off x="1568450" y="3709988"/>
          <a:ext cx="24003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3" name="公式" r:id="rId11" imgW="899089" imgH="380937" progId="Equation.3">
                  <p:embed/>
                </p:oleObj>
              </mc:Choice>
              <mc:Fallback>
                <p:oleObj name="公式" r:id="rId11" imgW="899089" imgH="380937" progId="Equation.3">
                  <p:embed/>
                  <p:pic>
                    <p:nvPicPr>
                      <p:cNvPr id="0" name="Object 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3709988"/>
                        <a:ext cx="24003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59"/>
          <p:cNvGraphicFramePr>
            <a:graphicFrameLocks noChangeAspect="1"/>
          </p:cNvGraphicFramePr>
          <p:nvPr/>
        </p:nvGraphicFramePr>
        <p:xfrm>
          <a:off x="1549400" y="4738688"/>
          <a:ext cx="54848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4" name="公式" r:id="rId13" imgW="2110775" imgH="403844" progId="Equation.3">
                  <p:embed/>
                </p:oleObj>
              </mc:Choice>
              <mc:Fallback>
                <p:oleObj name="公式" r:id="rId13" imgW="2110775" imgH="403844" progId="Equation.3">
                  <p:embed/>
                  <p:pic>
                    <p:nvPicPr>
                      <p:cNvPr id="0" name="Object 2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4738688"/>
                        <a:ext cx="54848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矩形 1"/>
          <p:cNvSpPr>
            <a:spLocks noChangeArrowheads="1"/>
          </p:cNvSpPr>
          <p:nvPr/>
        </p:nvSpPr>
        <p:spPr bwMode="auto">
          <a:xfrm>
            <a:off x="5268913" y="5824538"/>
            <a:ext cx="3101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latin typeface="Book Antiqua" panose="02040602050305030304" pitchFamily="18" charset="0"/>
                <a:ea typeface="楷体_GB2312" pitchFamily="49" charset="-122"/>
              </a:rPr>
              <a:t>m </a:t>
            </a:r>
            <a:r>
              <a:rPr lang="zh-CN" altLang="en-US" b="1">
                <a:latin typeface="Book Antiqua" panose="02040602050305030304" pitchFamily="18" charset="0"/>
                <a:ea typeface="楷体_GB2312" pitchFamily="49" charset="-122"/>
              </a:rPr>
              <a:t>阶贝塞尔方程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539750" y="404813"/>
          <a:ext cx="22955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公式" r:id="rId3" imgW="746831" imgH="167561" progId="Equation.3">
                  <p:embed/>
                </p:oleObj>
              </mc:Choice>
              <mc:Fallback>
                <p:oleObj name="公式" r:id="rId3" imgW="746831" imgH="1675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4813"/>
                        <a:ext cx="22955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文本框 2"/>
          <p:cNvSpPr txBox="1">
            <a:spLocks noChangeArrowheads="1"/>
          </p:cNvSpPr>
          <p:nvPr/>
        </p:nvSpPr>
        <p:spPr bwMode="auto">
          <a:xfrm>
            <a:off x="539750" y="4581525"/>
            <a:ext cx="431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如果</a:t>
            </a:r>
            <a:r>
              <a:rPr lang="en-US" altLang="zh-CN" i="1"/>
              <a:t>k</a:t>
            </a:r>
            <a:r>
              <a:rPr lang="zh-CN" altLang="en-US"/>
              <a:t>不是常数？</a:t>
            </a:r>
          </a:p>
        </p:txBody>
      </p:sp>
      <p:sp>
        <p:nvSpPr>
          <p:cNvPr id="8196" name="文本框 3"/>
          <p:cNvSpPr txBox="1">
            <a:spLocks noChangeArrowheads="1"/>
          </p:cNvSpPr>
          <p:nvPr/>
        </p:nvSpPr>
        <p:spPr bwMode="auto">
          <a:xfrm>
            <a:off x="3924300" y="4578350"/>
            <a:ext cx="431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/>
              <a:t>k = k</a:t>
            </a:r>
            <a:r>
              <a:rPr lang="zh-CN" altLang="en-US"/>
              <a:t>（</a:t>
            </a:r>
            <a:r>
              <a:rPr lang="en-US" altLang="zh-CN" i="1"/>
              <a:t>x</a:t>
            </a:r>
            <a:r>
              <a:rPr lang="zh-CN" altLang="en-US" i="1"/>
              <a:t>，</a:t>
            </a:r>
            <a:r>
              <a:rPr lang="en-US" altLang="zh-CN" i="1"/>
              <a:t>y</a:t>
            </a:r>
            <a:r>
              <a:rPr lang="zh-CN" altLang="en-US" i="1"/>
              <a:t>，</a:t>
            </a:r>
            <a:r>
              <a:rPr lang="en-US" altLang="zh-CN" i="1"/>
              <a:t>z</a:t>
            </a:r>
            <a:r>
              <a:rPr lang="zh-CN" altLang="en-US"/>
              <a:t>）</a:t>
            </a:r>
          </a:p>
        </p:txBody>
      </p:sp>
      <p:sp>
        <p:nvSpPr>
          <p:cNvPr id="8197" name="文本框 2"/>
          <p:cNvSpPr txBox="1">
            <a:spLocks noChangeArrowheads="1"/>
          </p:cNvSpPr>
          <p:nvPr/>
        </p:nvSpPr>
        <p:spPr bwMode="auto">
          <a:xfrm>
            <a:off x="468313" y="1125538"/>
            <a:ext cx="4319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解析延拓</a:t>
            </a:r>
          </a:p>
        </p:txBody>
      </p:sp>
      <p:sp>
        <p:nvSpPr>
          <p:cNvPr id="8198" name="文本框 2"/>
          <p:cNvSpPr txBox="1">
            <a:spLocks noChangeArrowheads="1"/>
          </p:cNvSpPr>
          <p:nvPr/>
        </p:nvSpPr>
        <p:spPr bwMode="auto">
          <a:xfrm>
            <a:off x="611188" y="3089275"/>
            <a:ext cx="4319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/>
              <a:t>k</a:t>
            </a:r>
            <a:r>
              <a:rPr lang="zh-CN" altLang="en-US"/>
              <a:t>是复数</a:t>
            </a:r>
          </a:p>
        </p:txBody>
      </p:sp>
      <p:sp>
        <p:nvSpPr>
          <p:cNvPr id="8199" name="文本框 2"/>
          <p:cNvSpPr txBox="1">
            <a:spLocks noChangeArrowheads="1"/>
          </p:cNvSpPr>
          <p:nvPr/>
        </p:nvSpPr>
        <p:spPr bwMode="auto">
          <a:xfrm>
            <a:off x="539750" y="1866900"/>
            <a:ext cx="431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/>
              <a:t>v</a:t>
            </a:r>
            <a:r>
              <a:rPr lang="zh-CN" altLang="en-US"/>
              <a:t>是复数</a:t>
            </a:r>
          </a:p>
        </p:txBody>
      </p:sp>
      <p:sp>
        <p:nvSpPr>
          <p:cNvPr id="8200" name="文本框 2"/>
          <p:cNvSpPr txBox="1">
            <a:spLocks noChangeArrowheads="1"/>
          </p:cNvSpPr>
          <p:nvPr/>
        </p:nvSpPr>
        <p:spPr bwMode="auto">
          <a:xfrm>
            <a:off x="5292725" y="1866900"/>
            <a:ext cx="182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位相调制</a:t>
            </a:r>
          </a:p>
        </p:txBody>
      </p:sp>
      <p:sp>
        <p:nvSpPr>
          <p:cNvPr id="8201" name="文本框 8"/>
          <p:cNvSpPr txBox="1">
            <a:spLocks noChangeArrowheads="1"/>
          </p:cNvSpPr>
          <p:nvPr/>
        </p:nvSpPr>
        <p:spPr bwMode="auto">
          <a:xfrm>
            <a:off x="4500563" y="3089275"/>
            <a:ext cx="4402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金属结构</a:t>
            </a:r>
            <a:r>
              <a:rPr lang="en-US" altLang="zh-CN"/>
              <a:t>/</a:t>
            </a:r>
            <a:r>
              <a:rPr lang="zh-CN" altLang="en-US"/>
              <a:t>表面等离激元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2"/>
          <p:cNvSpPr txBox="1">
            <a:spLocks noChangeArrowheads="1"/>
          </p:cNvSpPr>
          <p:nvPr/>
        </p:nvSpPr>
        <p:spPr bwMode="auto">
          <a:xfrm>
            <a:off x="388938" y="768350"/>
            <a:ext cx="4319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/>
              <a:t>v</a:t>
            </a:r>
            <a:r>
              <a:rPr lang="zh-CN" altLang="en-US"/>
              <a:t>是复数</a:t>
            </a:r>
          </a:p>
        </p:txBody>
      </p:sp>
      <p:graphicFrame>
        <p:nvGraphicFramePr>
          <p:cNvPr id="9219" name="对象 2"/>
          <p:cNvGraphicFramePr>
            <a:graphicFrameLocks noChangeAspect="1"/>
          </p:cNvGraphicFramePr>
          <p:nvPr/>
        </p:nvGraphicFramePr>
        <p:xfrm>
          <a:off x="381000" y="1390650"/>
          <a:ext cx="3302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1" name="Equation" r:id="rId3" imgW="952200" imgH="241200" progId="Equation.DSMT4">
                  <p:embed/>
                </p:oleObj>
              </mc:Choice>
              <mc:Fallback>
                <p:oleObj name="Equation" r:id="rId3" imgW="952200" imgH="241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90650"/>
                        <a:ext cx="3302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1"/>
          <p:cNvGraphicFramePr>
            <a:graphicFrameLocks noChangeAspect="1"/>
          </p:cNvGraphicFramePr>
          <p:nvPr/>
        </p:nvGraphicFramePr>
        <p:xfrm>
          <a:off x="388938" y="158750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2" name="公式" r:id="rId5" imgW="746831" imgH="167561" progId="Equation.3">
                  <p:embed/>
                </p:oleObj>
              </mc:Choice>
              <mc:Fallback>
                <p:oleObj name="公式" r:id="rId5" imgW="746831" imgH="1675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158750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椭圆 4"/>
          <p:cNvSpPr>
            <a:spLocks noChangeArrowheads="1"/>
          </p:cNvSpPr>
          <p:nvPr/>
        </p:nvSpPr>
        <p:spPr bwMode="auto">
          <a:xfrm>
            <a:off x="1042988" y="1501775"/>
            <a:ext cx="647700" cy="79216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2" name="椭圆 5"/>
          <p:cNvSpPr>
            <a:spLocks noChangeArrowheads="1"/>
          </p:cNvSpPr>
          <p:nvPr/>
        </p:nvSpPr>
        <p:spPr bwMode="auto">
          <a:xfrm>
            <a:off x="3132138" y="1316038"/>
            <a:ext cx="647700" cy="792162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9223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038" y="1574800"/>
            <a:ext cx="519112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文本框 2"/>
          <p:cNvSpPr txBox="1">
            <a:spLocks noChangeArrowheads="1"/>
          </p:cNvSpPr>
          <p:nvPr/>
        </p:nvSpPr>
        <p:spPr bwMode="auto">
          <a:xfrm>
            <a:off x="4453864" y="371886"/>
            <a:ext cx="22844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傍轴近似：</a:t>
            </a:r>
          </a:p>
        </p:txBody>
      </p:sp>
      <p:sp>
        <p:nvSpPr>
          <p:cNvPr id="9225" name="文本框 2"/>
          <p:cNvSpPr txBox="1">
            <a:spLocks noChangeArrowheads="1"/>
          </p:cNvSpPr>
          <p:nvPr/>
        </p:nvSpPr>
        <p:spPr bwMode="auto">
          <a:xfrm>
            <a:off x="388938" y="2974975"/>
            <a:ext cx="5540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不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是定值：位相调制</a:t>
            </a:r>
            <a:endParaRPr lang="zh-CN" altLang="en-US" dirty="0"/>
          </a:p>
        </p:txBody>
      </p:sp>
      <p:sp>
        <p:nvSpPr>
          <p:cNvPr id="9226" name="文本框 2"/>
          <p:cNvSpPr txBox="1">
            <a:spLocks noChangeArrowheads="1"/>
          </p:cNvSpPr>
          <p:nvPr/>
        </p:nvSpPr>
        <p:spPr bwMode="auto">
          <a:xfrm>
            <a:off x="5243643" y="2351087"/>
            <a:ext cx="28717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高斯光束</a:t>
            </a:r>
            <a:endParaRPr lang="zh-CN" altLang="en-US"/>
          </a:p>
        </p:txBody>
      </p:sp>
      <p:sp>
        <p:nvSpPr>
          <p:cNvPr id="9227" name="文本框 2"/>
          <p:cNvSpPr txBox="1">
            <a:spLocks noChangeArrowheads="1"/>
          </p:cNvSpPr>
          <p:nvPr/>
        </p:nvSpPr>
        <p:spPr bwMode="auto">
          <a:xfrm>
            <a:off x="4740275" y="920750"/>
            <a:ext cx="28717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(x,y)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是定值：</a:t>
            </a:r>
            <a:endParaRPr lang="zh-CN" altLang="en-US"/>
          </a:p>
        </p:txBody>
      </p:sp>
      <p:sp>
        <p:nvSpPr>
          <p:cNvPr id="9228" name="矩形 12"/>
          <p:cNvSpPr>
            <a:spLocks noChangeArrowheads="1"/>
          </p:cNvSpPr>
          <p:nvPr/>
        </p:nvSpPr>
        <p:spPr bwMode="auto">
          <a:xfrm>
            <a:off x="442913" y="3622675"/>
            <a:ext cx="12477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(x,y)</a:t>
            </a:r>
            <a:endParaRPr lang="zh-CN" altLang="en-US"/>
          </a:p>
        </p:txBody>
      </p:sp>
      <p:sp>
        <p:nvSpPr>
          <p:cNvPr id="9229" name="左右箭头 13"/>
          <p:cNvSpPr>
            <a:spLocks noChangeArrowheads="1"/>
          </p:cNvSpPr>
          <p:nvPr/>
        </p:nvSpPr>
        <p:spPr bwMode="auto">
          <a:xfrm>
            <a:off x="1758950" y="3948113"/>
            <a:ext cx="2800350" cy="300037"/>
          </a:xfrm>
          <a:prstGeom prst="left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30" name="矩形 14"/>
          <p:cNvSpPr>
            <a:spLocks noChangeArrowheads="1"/>
          </p:cNvSpPr>
          <p:nvPr/>
        </p:nvSpPr>
        <p:spPr bwMode="auto">
          <a:xfrm>
            <a:off x="4748213" y="3562350"/>
            <a:ext cx="12160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(x,y)</a:t>
            </a:r>
            <a:endParaRPr lang="zh-CN" altLang="en-US"/>
          </a:p>
        </p:txBody>
      </p:sp>
      <p:pic>
        <p:nvPicPr>
          <p:cNvPr id="9231" name="图片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4248150"/>
            <a:ext cx="471011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2" name="图片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788" y="4306888"/>
            <a:ext cx="293370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3" name="椭圆 17"/>
          <p:cNvSpPr>
            <a:spLocks noChangeArrowheads="1"/>
          </p:cNvSpPr>
          <p:nvPr/>
        </p:nvSpPr>
        <p:spPr bwMode="auto">
          <a:xfrm>
            <a:off x="6221543" y="4337050"/>
            <a:ext cx="915988" cy="53975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9234" name="图片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88" y="3524250"/>
            <a:ext cx="44926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5" name="文本框 2"/>
          <p:cNvSpPr txBox="1">
            <a:spLocks noChangeArrowheads="1"/>
          </p:cNvSpPr>
          <p:nvPr/>
        </p:nvSpPr>
        <p:spPr bwMode="auto">
          <a:xfrm>
            <a:off x="442913" y="4957763"/>
            <a:ext cx="2871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拉盖尔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高斯光</a:t>
            </a:r>
            <a:endParaRPr lang="zh-CN" altLang="en-US"/>
          </a:p>
        </p:txBody>
      </p:sp>
      <p:pic>
        <p:nvPicPr>
          <p:cNvPr id="9236" name="图片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950" y="4905375"/>
            <a:ext cx="3405188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7" name="文本框 2"/>
          <p:cNvSpPr txBox="1">
            <a:spLocks noChangeArrowheads="1"/>
          </p:cNvSpPr>
          <p:nvPr/>
        </p:nvSpPr>
        <p:spPr bwMode="auto">
          <a:xfrm>
            <a:off x="369888" y="5643563"/>
            <a:ext cx="29765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自加速光场：</a:t>
            </a:r>
          </a:p>
        </p:txBody>
      </p:sp>
      <p:sp>
        <p:nvSpPr>
          <p:cNvPr id="9238" name="文本框 2"/>
          <p:cNvSpPr txBox="1">
            <a:spLocks noChangeArrowheads="1"/>
          </p:cNvSpPr>
          <p:nvPr/>
        </p:nvSpPr>
        <p:spPr bwMode="auto">
          <a:xfrm>
            <a:off x="414338" y="6251575"/>
            <a:ext cx="690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艾里光，贝塞尔光。。。。。。</a:t>
            </a:r>
            <a:endParaRPr lang="zh-CN" altLang="en-US"/>
          </a:p>
        </p:txBody>
      </p:sp>
      <p:sp>
        <p:nvSpPr>
          <p:cNvPr id="23" name="文本框 2"/>
          <p:cNvSpPr txBox="1">
            <a:spLocks noChangeArrowheads="1"/>
          </p:cNvSpPr>
          <p:nvPr/>
        </p:nvSpPr>
        <p:spPr bwMode="auto">
          <a:xfrm>
            <a:off x="354013" y="2443163"/>
            <a:ext cx="28717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边界条件：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388938" y="158750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7" name="公式" r:id="rId3" imgW="746831" imgH="167561" progId="Equation.3">
                  <p:embed/>
                </p:oleObj>
              </mc:Choice>
              <mc:Fallback>
                <p:oleObj name="公式" r:id="rId3" imgW="746831" imgH="1675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158750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文本框 2"/>
          <p:cNvSpPr txBox="1">
            <a:spLocks noChangeArrowheads="1"/>
          </p:cNvSpPr>
          <p:nvPr/>
        </p:nvSpPr>
        <p:spPr bwMode="auto">
          <a:xfrm>
            <a:off x="3059113" y="184150"/>
            <a:ext cx="28876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 dirty="0"/>
              <a:t>k</a:t>
            </a:r>
            <a:r>
              <a:rPr lang="zh-CN" altLang="en-US" dirty="0"/>
              <a:t>是复数？</a:t>
            </a: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044668"/>
              </p:ext>
            </p:extLst>
          </p:nvPr>
        </p:nvGraphicFramePr>
        <p:xfrm>
          <a:off x="3611753" y="1091315"/>
          <a:ext cx="18891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8" name="公式" r:id="rId5" imgW="617114" imgH="365666" progId="Equation.3">
                  <p:embed/>
                </p:oleObj>
              </mc:Choice>
              <mc:Fallback>
                <p:oleObj name="公式" r:id="rId5" imgW="617114" imgH="365666" progId="Equation.3">
                  <p:embed/>
                  <p:pic>
                    <p:nvPicPr>
                      <p:cNvPr id="3379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753" y="1091315"/>
                        <a:ext cx="1889125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632045"/>
              </p:ext>
            </p:extLst>
          </p:nvPr>
        </p:nvGraphicFramePr>
        <p:xfrm>
          <a:off x="5494211" y="1354046"/>
          <a:ext cx="1143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9" name="公式" r:id="rId7" imgW="365760" imgH="175197" progId="Equation.3">
                  <p:embed/>
                </p:oleObj>
              </mc:Choice>
              <mc:Fallback>
                <p:oleObj name="公式" r:id="rId7" imgW="365760" imgH="175197" progId="Equation.3">
                  <p:embed/>
                  <p:pic>
                    <p:nvPicPr>
                      <p:cNvPr id="3379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211" y="1354046"/>
                        <a:ext cx="1143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256555"/>
              </p:ext>
            </p:extLst>
          </p:nvPr>
        </p:nvGraphicFramePr>
        <p:xfrm>
          <a:off x="1567199" y="2449611"/>
          <a:ext cx="25558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" name="公式" r:id="rId9" imgW="845926" imgH="175197" progId="Equation.3">
                  <p:embed/>
                </p:oleObj>
              </mc:Choice>
              <mc:Fallback>
                <p:oleObj name="公式" r:id="rId9" imgW="845926" imgH="175197" progId="Equation.3">
                  <p:embed/>
                  <p:pic>
                    <p:nvPicPr>
                      <p:cNvPr id="3246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199" y="2449611"/>
                        <a:ext cx="25558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628258"/>
              </p:ext>
            </p:extLst>
          </p:nvPr>
        </p:nvGraphicFramePr>
        <p:xfrm>
          <a:off x="1580270" y="3063196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1" name="公式" r:id="rId11" imgW="754486" imgH="175197" progId="Equation.3">
                  <p:embed/>
                </p:oleObj>
              </mc:Choice>
              <mc:Fallback>
                <p:oleObj name="公式" r:id="rId11" imgW="754486" imgH="175197" progId="Equation.3">
                  <p:embed/>
                  <p:pic>
                    <p:nvPicPr>
                      <p:cNvPr id="32462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270" y="3063196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714057"/>
              </p:ext>
            </p:extLst>
          </p:nvPr>
        </p:nvGraphicFramePr>
        <p:xfrm>
          <a:off x="532320" y="1278748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2" name="公式" r:id="rId13" imgW="830615" imgH="213376" progId="Equation.3">
                  <p:embed/>
                </p:oleObj>
              </mc:Choice>
              <mc:Fallback>
                <p:oleObj name="公式" r:id="rId13" imgW="830615" imgH="213376" progId="Equation.3">
                  <p:embed/>
                  <p:pic>
                    <p:nvPicPr>
                      <p:cNvPr id="3235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20" y="1278748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21"/>
          <p:cNvSpPr>
            <a:spLocks/>
          </p:cNvSpPr>
          <p:nvPr/>
        </p:nvSpPr>
        <p:spPr bwMode="auto">
          <a:xfrm>
            <a:off x="1231900" y="2670036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14800" y="2971800"/>
            <a:ext cx="6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324095"/>
              </p:ext>
            </p:extLst>
          </p:nvPr>
        </p:nvGraphicFramePr>
        <p:xfrm>
          <a:off x="532320" y="4005064"/>
          <a:ext cx="108012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3" name="Equation" r:id="rId15" imgW="380880" imgH="177480" progId="Equation.DSMT4">
                  <p:embed/>
                </p:oleObj>
              </mc:Choice>
              <mc:Fallback>
                <p:oleObj name="Equation" r:id="rId15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2320" y="4005064"/>
                        <a:ext cx="1080120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69604"/>
              </p:ext>
            </p:extLst>
          </p:nvPr>
        </p:nvGraphicFramePr>
        <p:xfrm>
          <a:off x="2051720" y="3894855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4" name="公式" r:id="rId11" imgW="754486" imgH="175197" progId="Equation.3">
                  <p:embed/>
                </p:oleObj>
              </mc:Choice>
              <mc:Fallback>
                <p:oleObj name="公式" r:id="rId11" imgW="754486" imgH="175197" progId="Equation.3">
                  <p:embed/>
                  <p:pic>
                    <p:nvPicPr>
                      <p:cNvPr id="1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894855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372200" y="3894855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没有稳定解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864459"/>
              </p:ext>
            </p:extLst>
          </p:nvPr>
        </p:nvGraphicFramePr>
        <p:xfrm>
          <a:off x="4937125" y="3947243"/>
          <a:ext cx="1009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5" name="Equation" r:id="rId17" imgW="355320" imgH="177480" progId="Equation.DSMT4">
                  <p:embed/>
                </p:oleObj>
              </mc:Choice>
              <mc:Fallback>
                <p:oleObj name="Equation" r:id="rId17" imgW="355320" imgH="177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37125" y="3947243"/>
                        <a:ext cx="100965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540880" y="4662189"/>
            <a:ext cx="4319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齐次边界条件！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12580" y="5400033"/>
            <a:ext cx="3835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非齐次边界条件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072380" y="6074222"/>
            <a:ext cx="189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衔接条件</a:t>
            </a:r>
          </a:p>
        </p:txBody>
      </p:sp>
      <p:cxnSp>
        <p:nvCxnSpPr>
          <p:cNvPr id="9" name="肘形连接符 8"/>
          <p:cNvCxnSpPr/>
          <p:nvPr/>
        </p:nvCxnSpPr>
        <p:spPr bwMode="auto">
          <a:xfrm flipV="1">
            <a:off x="3275856" y="5805264"/>
            <a:ext cx="1944216" cy="660857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" name="文本框 9"/>
          <p:cNvSpPr txBox="1"/>
          <p:nvPr/>
        </p:nvSpPr>
        <p:spPr>
          <a:xfrm>
            <a:off x="5364088" y="5589240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界面处！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388938" y="158750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7" name="公式" r:id="rId3" imgW="746831" imgH="167561" progId="Equation.3">
                  <p:embed/>
                </p:oleObj>
              </mc:Choice>
              <mc:Fallback>
                <p:oleObj name="公式" r:id="rId3" imgW="746831" imgH="167561" progId="Equation.3">
                  <p:embed/>
                  <p:pic>
                    <p:nvPicPr>
                      <p:cNvPr id="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158750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文本框 2"/>
          <p:cNvSpPr txBox="1">
            <a:spLocks noChangeArrowheads="1"/>
          </p:cNvSpPr>
          <p:nvPr/>
        </p:nvSpPr>
        <p:spPr bwMode="auto">
          <a:xfrm>
            <a:off x="3059113" y="184150"/>
            <a:ext cx="28876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 dirty="0"/>
              <a:t>k</a:t>
            </a:r>
            <a:r>
              <a:rPr lang="zh-CN" altLang="en-US" dirty="0"/>
              <a:t>是复数？</a:t>
            </a:r>
          </a:p>
        </p:txBody>
      </p:sp>
      <p:graphicFrame>
        <p:nvGraphicFramePr>
          <p:cNvPr id="4" name="Object 31"/>
          <p:cNvGraphicFramePr>
            <a:graphicFrameLocks noChangeAspect="1"/>
          </p:cNvGraphicFramePr>
          <p:nvPr/>
        </p:nvGraphicFramePr>
        <p:xfrm>
          <a:off x="388938" y="1404938"/>
          <a:ext cx="3094037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8" name="Equation" r:id="rId5" imgW="1015920" imgH="241200" progId="Equation.DSMT4">
                  <p:embed/>
                </p:oleObj>
              </mc:Choice>
              <mc:Fallback>
                <p:oleObj name="Equation" r:id="rId5" imgW="1015920" imgH="241200" progId="Equation.DSMT4">
                  <p:embed/>
                  <p:pic>
                    <p:nvPicPr>
                      <p:cNvPr id="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1404938"/>
                        <a:ext cx="3094037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文本框 4"/>
          <p:cNvSpPr txBox="1">
            <a:spLocks noChangeArrowheads="1"/>
          </p:cNvSpPr>
          <p:nvPr/>
        </p:nvSpPr>
        <p:spPr bwMode="auto">
          <a:xfrm>
            <a:off x="368300" y="903288"/>
            <a:ext cx="5735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介质中的亥姆赫兹方程</a:t>
            </a:r>
          </a:p>
        </p:txBody>
      </p:sp>
      <p:pic>
        <p:nvPicPr>
          <p:cNvPr id="1024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347913"/>
            <a:ext cx="28575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图片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2174875"/>
            <a:ext cx="178276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文本框 7"/>
          <p:cNvSpPr txBox="1">
            <a:spLocks noChangeArrowheads="1"/>
          </p:cNvSpPr>
          <p:nvPr/>
        </p:nvSpPr>
        <p:spPr bwMode="auto">
          <a:xfrm>
            <a:off x="468313" y="2246313"/>
            <a:ext cx="57340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麦克斯韦关系：</a:t>
            </a:r>
          </a:p>
        </p:txBody>
      </p:sp>
      <p:sp>
        <p:nvSpPr>
          <p:cNvPr id="10249" name="文本框 11"/>
          <p:cNvSpPr txBox="1">
            <a:spLocks noChangeArrowheads="1"/>
          </p:cNvSpPr>
          <p:nvPr/>
        </p:nvSpPr>
        <p:spPr bwMode="auto">
          <a:xfrm>
            <a:off x="427038" y="2922588"/>
            <a:ext cx="5735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对于导电介质：</a:t>
            </a:r>
          </a:p>
        </p:txBody>
      </p:sp>
      <p:graphicFrame>
        <p:nvGraphicFramePr>
          <p:cNvPr id="10250" name="对象 12"/>
          <p:cNvGraphicFramePr>
            <a:graphicFrameLocks noChangeAspect="1"/>
          </p:cNvGraphicFramePr>
          <p:nvPr/>
        </p:nvGraphicFramePr>
        <p:xfrm>
          <a:off x="509588" y="3567113"/>
          <a:ext cx="29733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9" name="Equation" r:id="rId9" imgW="1307880" imgH="393480" progId="Equation.DSMT4">
                  <p:embed/>
                </p:oleObj>
              </mc:Choice>
              <mc:Fallback>
                <p:oleObj name="Equation" r:id="rId9" imgW="1307880" imgH="393480" progId="Equation.DSMT4">
                  <p:embed/>
                  <p:pic>
                    <p:nvPicPr>
                      <p:cNvPr id="1025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567113"/>
                        <a:ext cx="297338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1" name="图片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5275263"/>
            <a:ext cx="4267200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图片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462463"/>
            <a:ext cx="188912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右箭头 2"/>
          <p:cNvSpPr/>
          <p:nvPr/>
        </p:nvSpPr>
        <p:spPr bwMode="auto">
          <a:xfrm>
            <a:off x="4878388" y="437356"/>
            <a:ext cx="1068387" cy="27860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2"/>
          <p:cNvSpPr txBox="1">
            <a:spLocks noChangeArrowheads="1"/>
          </p:cNvSpPr>
          <p:nvPr/>
        </p:nvSpPr>
        <p:spPr bwMode="auto">
          <a:xfrm>
            <a:off x="6103938" y="229446"/>
            <a:ext cx="28876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边界条件？</a:t>
            </a:r>
          </a:p>
        </p:txBody>
      </p:sp>
      <p:sp>
        <p:nvSpPr>
          <p:cNvPr id="15" name="文本框 2"/>
          <p:cNvSpPr txBox="1">
            <a:spLocks noChangeArrowheads="1"/>
          </p:cNvSpPr>
          <p:nvPr/>
        </p:nvSpPr>
        <p:spPr bwMode="auto">
          <a:xfrm>
            <a:off x="5652120" y="820163"/>
            <a:ext cx="3224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衔接条件</a:t>
            </a:r>
            <a:r>
              <a:rPr lang="en-US" altLang="zh-CN" dirty="0"/>
              <a:t>-</a:t>
            </a:r>
            <a:r>
              <a:rPr lang="zh-CN" altLang="en-US" dirty="0"/>
              <a:t>界面处</a:t>
            </a:r>
          </a:p>
        </p:txBody>
      </p:sp>
    </p:spTree>
    <p:extLst>
      <p:ext uri="{BB962C8B-B14F-4D97-AF65-F5344CB8AC3E}">
        <p14:creationId xmlns:p14="http://schemas.microsoft.com/office/powerpoint/2010/main" val="339607528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对象 2"/>
          <p:cNvGraphicFramePr>
            <a:graphicFrameLocks noChangeAspect="1"/>
          </p:cNvGraphicFramePr>
          <p:nvPr/>
        </p:nvGraphicFramePr>
        <p:xfrm>
          <a:off x="755650" y="549275"/>
          <a:ext cx="211613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3" name="Equation" r:id="rId3" imgW="863280" imgH="228600" progId="Equation.DSMT4">
                  <p:embed/>
                </p:oleObj>
              </mc:Choice>
              <mc:Fallback>
                <p:oleObj name="Equation" r:id="rId3" imgW="863280" imgH="228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49275"/>
                        <a:ext cx="2116138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对象 3"/>
          <p:cNvGraphicFramePr>
            <a:graphicFrameLocks noChangeAspect="1"/>
          </p:cNvGraphicFramePr>
          <p:nvPr/>
        </p:nvGraphicFramePr>
        <p:xfrm>
          <a:off x="395288" y="1196975"/>
          <a:ext cx="71358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4" name="Equation" r:id="rId5" imgW="2057400" imgH="228600" progId="Equation.DSMT4">
                  <p:embed/>
                </p:oleObj>
              </mc:Choice>
              <mc:Fallback>
                <p:oleObj name="Equation" r:id="rId5" imgW="205740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96975"/>
                        <a:ext cx="713581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椭圆 5"/>
          <p:cNvSpPr>
            <a:spLocks noChangeArrowheads="1"/>
          </p:cNvSpPr>
          <p:nvPr/>
        </p:nvSpPr>
        <p:spPr bwMode="auto">
          <a:xfrm>
            <a:off x="4211638" y="1233488"/>
            <a:ext cx="1368425" cy="719137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0" name="下箭头 6"/>
          <p:cNvSpPr>
            <a:spLocks noChangeArrowheads="1"/>
          </p:cNvSpPr>
          <p:nvPr/>
        </p:nvSpPr>
        <p:spPr bwMode="auto">
          <a:xfrm rot="10967456">
            <a:off x="4675324" y="655479"/>
            <a:ext cx="441051" cy="556721"/>
          </a:xfrm>
          <a:prstGeom prst="downArrow">
            <a:avLst>
              <a:gd name="adj1" fmla="val 50000"/>
              <a:gd name="adj2" fmla="val 4963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1" name="文本框 7"/>
          <p:cNvSpPr txBox="1">
            <a:spLocks noChangeArrowheads="1"/>
          </p:cNvSpPr>
          <p:nvPr/>
        </p:nvSpPr>
        <p:spPr bwMode="auto">
          <a:xfrm>
            <a:off x="4219700" y="60871"/>
            <a:ext cx="2886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衰减项</a:t>
            </a:r>
          </a:p>
        </p:txBody>
      </p:sp>
      <p:sp>
        <p:nvSpPr>
          <p:cNvPr id="13" name="文本框 7"/>
          <p:cNvSpPr txBox="1">
            <a:spLocks noChangeArrowheads="1"/>
          </p:cNvSpPr>
          <p:nvPr/>
        </p:nvSpPr>
        <p:spPr bwMode="auto">
          <a:xfrm>
            <a:off x="7236296" y="5100940"/>
            <a:ext cx="215200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金属的介电常数可以为负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8169" y="4330391"/>
            <a:ext cx="3664782" cy="6308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73212" y="4074968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金属光泽</a:t>
            </a:r>
          </a:p>
        </p:txBody>
      </p:sp>
      <p:graphicFrame>
        <p:nvGraphicFramePr>
          <p:cNvPr id="20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998076"/>
              </p:ext>
            </p:extLst>
          </p:nvPr>
        </p:nvGraphicFramePr>
        <p:xfrm>
          <a:off x="4162635" y="2198244"/>
          <a:ext cx="29733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5" name="Equation" r:id="rId8" imgW="1307880" imgH="393480" progId="Equation.DSMT4">
                  <p:embed/>
                </p:oleObj>
              </mc:Choice>
              <mc:Fallback>
                <p:oleObj name="Equation" r:id="rId8" imgW="1307880" imgH="393480" progId="Equation.DSMT4">
                  <p:embed/>
                  <p:pic>
                    <p:nvPicPr>
                      <p:cNvPr id="1025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635" y="2198244"/>
                        <a:ext cx="297338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976" y="3454617"/>
            <a:ext cx="3760096" cy="784125"/>
          </a:xfrm>
          <a:prstGeom prst="rect">
            <a:avLst/>
          </a:prstGeom>
        </p:spPr>
      </p:pic>
      <p:graphicFrame>
        <p:nvGraphicFramePr>
          <p:cNvPr id="22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87856"/>
              </p:ext>
            </p:extLst>
          </p:nvPr>
        </p:nvGraphicFramePr>
        <p:xfrm>
          <a:off x="5919783" y="3302700"/>
          <a:ext cx="20542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6" name="Equation" r:id="rId11" imgW="838080" imgH="203040" progId="Equation.DSMT4">
                  <p:embed/>
                </p:oleObj>
              </mc:Choice>
              <mc:Fallback>
                <p:oleObj name="Equation" r:id="rId11" imgW="838080" imgH="203040" progId="Equation.DSMT4">
                  <p:embed/>
                  <p:pic>
                    <p:nvPicPr>
                      <p:cNvPr id="1126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3" y="3302700"/>
                        <a:ext cx="20542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95288" y="2098383"/>
            <a:ext cx="3467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将介电常数从绝缘体推广到了金属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050" y="5100940"/>
            <a:ext cx="4311181" cy="12803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0674" y="5293271"/>
            <a:ext cx="2110923" cy="830652"/>
          </a:xfrm>
          <a:prstGeom prst="rect">
            <a:avLst/>
          </a:prstGeom>
        </p:spPr>
      </p:pic>
      <p:graphicFrame>
        <p:nvGraphicFramePr>
          <p:cNvPr id="26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900302"/>
              </p:ext>
            </p:extLst>
          </p:nvPr>
        </p:nvGraphicFramePr>
        <p:xfrm>
          <a:off x="7474160" y="4367356"/>
          <a:ext cx="1296144" cy="78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7" name="Equation" r:id="rId15" imgW="380880" imgH="228600" progId="Equation.DSMT4">
                  <p:embed/>
                </p:oleObj>
              </mc:Choice>
              <mc:Fallback>
                <p:oleObj name="Equation" r:id="rId15" imgW="380880" imgH="228600" progId="Equation.DSMT4">
                  <p:embed/>
                  <p:pic>
                    <p:nvPicPr>
                      <p:cNvPr id="2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4160" y="4367356"/>
                        <a:ext cx="1296144" cy="780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7"/>
          <p:cNvSpPr txBox="1">
            <a:spLocks noChangeArrowheads="1"/>
          </p:cNvSpPr>
          <p:nvPr/>
        </p:nvSpPr>
        <p:spPr bwMode="auto">
          <a:xfrm>
            <a:off x="566960" y="4046777"/>
            <a:ext cx="150094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反射：</a:t>
            </a: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774162"/>
              </p:ext>
            </p:extLst>
          </p:nvPr>
        </p:nvGraphicFramePr>
        <p:xfrm>
          <a:off x="3807594" y="256644"/>
          <a:ext cx="25558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0" name="公式" r:id="rId3" imgW="845926" imgH="175197" progId="Equation.3">
                  <p:embed/>
                </p:oleObj>
              </mc:Choice>
              <mc:Fallback>
                <p:oleObj name="公式" r:id="rId3" imgW="845926" imgH="175197" progId="Equation.3">
                  <p:embed/>
                  <p:pic>
                    <p:nvPicPr>
                      <p:cNvPr id="1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594" y="256644"/>
                        <a:ext cx="25558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673119"/>
              </p:ext>
            </p:extLst>
          </p:nvPr>
        </p:nvGraphicFramePr>
        <p:xfrm>
          <a:off x="3790504" y="961748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1" name="公式" r:id="rId5" imgW="754486" imgH="175197" progId="Equation.3">
                  <p:embed/>
                </p:oleObj>
              </mc:Choice>
              <mc:Fallback>
                <p:oleObj name="公式" r:id="rId5" imgW="754486" imgH="175197" progId="Equation.3">
                  <p:embed/>
                  <p:pic>
                    <p:nvPicPr>
                      <p:cNvPr id="1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504" y="961748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88767"/>
              </p:ext>
            </p:extLst>
          </p:nvPr>
        </p:nvGraphicFramePr>
        <p:xfrm>
          <a:off x="408607" y="1844824"/>
          <a:ext cx="15113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2" name="Equation" r:id="rId7" imgW="457200" imgH="177480" progId="Equation.DSMT4">
                  <p:embed/>
                </p:oleObj>
              </mc:Choice>
              <mc:Fallback>
                <p:oleObj name="Equation" r:id="rId7" imgW="457200" imgH="1774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8607" y="1844824"/>
                        <a:ext cx="1511300" cy="58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216875"/>
              </p:ext>
            </p:extLst>
          </p:nvPr>
        </p:nvGraphicFramePr>
        <p:xfrm>
          <a:off x="2627784" y="1860781"/>
          <a:ext cx="4364329" cy="55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3" name="Equation" r:id="rId9" imgW="1396800" imgH="177480" progId="Equation.DSMT4">
                  <p:embed/>
                </p:oleObj>
              </mc:Choice>
              <mc:Fallback>
                <p:oleObj name="Equation" r:id="rId9" imgW="1396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7784" y="1860781"/>
                        <a:ext cx="4364329" cy="555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-540568" y="2636912"/>
            <a:ext cx="82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对于均匀介质，简谐波，线性方程</a:t>
            </a: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04552"/>
              </p:ext>
            </p:extLst>
          </p:nvPr>
        </p:nvGraphicFramePr>
        <p:xfrm>
          <a:off x="408607" y="660168"/>
          <a:ext cx="251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4" name="公式" r:id="rId11" imgW="830615" imgH="213376" progId="Equation.3">
                  <p:embed/>
                </p:oleObj>
              </mc:Choice>
              <mc:Fallback>
                <p:oleObj name="公式" r:id="rId11" imgW="830615" imgH="213376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07" y="660168"/>
                        <a:ext cx="251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853942"/>
              </p:ext>
            </p:extLst>
          </p:nvPr>
        </p:nvGraphicFramePr>
        <p:xfrm>
          <a:off x="1043608" y="3480711"/>
          <a:ext cx="19732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5" name="Equation" r:id="rId13" imgW="596880" imgH="203040" progId="Equation.DSMT4">
                  <p:embed/>
                </p:oleObj>
              </mc:Choice>
              <mc:Fallback>
                <p:oleObj name="Equation" r:id="rId13" imgW="596880" imgH="20304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3608" y="3480711"/>
                        <a:ext cx="1973262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106038" y="3458874"/>
            <a:ext cx="2886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色散关系</a:t>
            </a: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408607" y="4411248"/>
            <a:ext cx="43876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波矢（频率）调制</a:t>
            </a: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4572000" y="5396928"/>
            <a:ext cx="3251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能带（谱）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536624"/>
              </p:ext>
            </p:extLst>
          </p:nvPr>
        </p:nvGraphicFramePr>
        <p:xfrm>
          <a:off x="1380258" y="5364197"/>
          <a:ext cx="1636612" cy="587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6" name="Equation" r:id="rId15" imgW="495000" imgH="177480" progId="Equation.DSMT4">
                  <p:embed/>
                </p:oleObj>
              </mc:Choice>
              <mc:Fallback>
                <p:oleObj name="Equation" r:id="rId15" imgW="495000" imgH="177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80258" y="5364197"/>
                        <a:ext cx="1636612" cy="587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箭头: 上 12">
            <a:extLst>
              <a:ext uri="{FF2B5EF4-FFF2-40B4-BE49-F238E27FC236}">
                <a16:creationId xmlns:a16="http://schemas.microsoft.com/office/drawing/2014/main" id="{B5EC1C93-714D-4A49-BA25-E9EC805829F5}"/>
              </a:ext>
            </a:extLst>
          </p:cNvPr>
          <p:cNvSpPr/>
          <p:nvPr/>
        </p:nvSpPr>
        <p:spPr bwMode="auto">
          <a:xfrm>
            <a:off x="5076056" y="4293096"/>
            <a:ext cx="360040" cy="936104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3869058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410317"/>
              </p:ext>
            </p:extLst>
          </p:nvPr>
        </p:nvGraphicFramePr>
        <p:xfrm>
          <a:off x="928811" y="1824212"/>
          <a:ext cx="22955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6" name="公式" r:id="rId3" imgW="746831" imgH="167561" progId="Equation.3">
                  <p:embed/>
                </p:oleObj>
              </mc:Choice>
              <mc:Fallback>
                <p:oleObj name="公式" r:id="rId3" imgW="746831" imgH="1675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811" y="1824212"/>
                        <a:ext cx="22955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文本框 2"/>
          <p:cNvSpPr txBox="1">
            <a:spLocks noChangeArrowheads="1"/>
          </p:cNvSpPr>
          <p:nvPr/>
        </p:nvSpPr>
        <p:spPr bwMode="auto">
          <a:xfrm>
            <a:off x="330937" y="2802509"/>
            <a:ext cx="431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如果</a:t>
            </a:r>
            <a:r>
              <a:rPr lang="en-US" altLang="zh-CN" i="1" dirty="0"/>
              <a:t>k</a:t>
            </a:r>
            <a:r>
              <a:rPr lang="zh-CN" altLang="en-US" dirty="0"/>
              <a:t>不是常数？</a:t>
            </a:r>
          </a:p>
        </p:txBody>
      </p:sp>
      <p:sp>
        <p:nvSpPr>
          <p:cNvPr id="12292" name="文本框 3"/>
          <p:cNvSpPr txBox="1">
            <a:spLocks noChangeArrowheads="1"/>
          </p:cNvSpPr>
          <p:nvPr/>
        </p:nvSpPr>
        <p:spPr bwMode="auto">
          <a:xfrm>
            <a:off x="4211960" y="2802509"/>
            <a:ext cx="4319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i="1" dirty="0"/>
              <a:t>k = k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i="1" dirty="0"/>
              <a:t>，</a:t>
            </a:r>
            <a:r>
              <a:rPr lang="en-US" altLang="zh-CN" i="1" dirty="0"/>
              <a:t>y</a:t>
            </a:r>
            <a:r>
              <a:rPr lang="zh-CN" altLang="en-US" i="1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996003"/>
              </p:ext>
            </p:extLst>
          </p:nvPr>
        </p:nvGraphicFramePr>
        <p:xfrm>
          <a:off x="339848" y="3948688"/>
          <a:ext cx="28844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7" name="Equation" r:id="rId5" imgW="952200" imgH="241200" progId="Equation.DSMT4">
                  <p:embed/>
                </p:oleObj>
              </mc:Choice>
              <mc:Fallback>
                <p:oleObj name="Equation" r:id="rId5" imgW="952200" imgH="241200" progId="Equation.DSMT4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48" y="3948688"/>
                        <a:ext cx="28844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251989"/>
              </p:ext>
            </p:extLst>
          </p:nvPr>
        </p:nvGraphicFramePr>
        <p:xfrm>
          <a:off x="330937" y="545944"/>
          <a:ext cx="28844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8" name="Equation" r:id="rId7" imgW="952200" imgH="241200" progId="Equation.DSMT4">
                  <p:embed/>
                </p:oleObj>
              </mc:Choice>
              <mc:Fallback>
                <p:oleObj name="Equation" r:id="rId7" imgW="952200" imgH="241200" progId="Equation.DSMT4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37" y="545944"/>
                        <a:ext cx="28844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042198"/>
              </p:ext>
            </p:extLst>
          </p:nvPr>
        </p:nvGraphicFramePr>
        <p:xfrm>
          <a:off x="3616263" y="137724"/>
          <a:ext cx="25558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9" name="公式" r:id="rId8" imgW="845926" imgH="175197" progId="Equation.3">
                  <p:embed/>
                </p:oleObj>
              </mc:Choice>
              <mc:Fallback>
                <p:oleObj name="公式" r:id="rId8" imgW="845926" imgH="175197" progId="Equation.3">
                  <p:embed/>
                  <p:pic>
                    <p:nvPicPr>
                      <p:cNvPr id="1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263" y="137724"/>
                        <a:ext cx="25558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9794"/>
              </p:ext>
            </p:extLst>
          </p:nvPr>
        </p:nvGraphicFramePr>
        <p:xfrm>
          <a:off x="3419872" y="864518"/>
          <a:ext cx="32480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0" name="Equation" r:id="rId10" imgW="1066680" imgH="203040" progId="Equation.DSMT4">
                  <p:embed/>
                </p:oleObj>
              </mc:Choice>
              <mc:Fallback>
                <p:oleObj name="Equation" r:id="rId10" imgW="1066680" imgH="203040" progId="Equation.DSMT4">
                  <p:embed/>
                  <p:pic>
                    <p:nvPicPr>
                      <p:cNvPr id="1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864518"/>
                        <a:ext cx="32480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左箭头 2"/>
          <p:cNvSpPr/>
          <p:nvPr/>
        </p:nvSpPr>
        <p:spPr bwMode="auto">
          <a:xfrm rot="19629618">
            <a:off x="3456311" y="1729094"/>
            <a:ext cx="1119956" cy="29835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2"/>
          <p:cNvSpPr txBox="1">
            <a:spLocks noChangeArrowheads="1"/>
          </p:cNvSpPr>
          <p:nvPr/>
        </p:nvSpPr>
        <p:spPr bwMode="auto">
          <a:xfrm>
            <a:off x="4016289" y="4031238"/>
            <a:ext cx="4319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/>
              <a:t>a</a:t>
            </a:r>
            <a:r>
              <a:rPr lang="zh-CN" altLang="en-US" dirty="0"/>
              <a:t>或</a:t>
            </a:r>
            <a:r>
              <a:rPr lang="en-US" altLang="zh-CN" dirty="0"/>
              <a:t>V</a:t>
            </a:r>
            <a:r>
              <a:rPr lang="zh-CN" altLang="en-US" dirty="0"/>
              <a:t>存在空间分布</a:t>
            </a:r>
          </a:p>
        </p:txBody>
      </p:sp>
      <p:sp>
        <p:nvSpPr>
          <p:cNvPr id="4" name="矩形 3"/>
          <p:cNvSpPr/>
          <p:nvPr/>
        </p:nvSpPr>
        <p:spPr>
          <a:xfrm>
            <a:off x="3139125" y="4798302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？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3"/>
          <a:stretch>
            <a:fillRect/>
          </a:stretch>
        </p:blipFill>
        <p:spPr bwMode="auto">
          <a:xfrm>
            <a:off x="250825" y="2781300"/>
            <a:ext cx="44545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23850" y="5697538"/>
            <a:ext cx="3937000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Nature 583, 60 (2019)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316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565400"/>
            <a:ext cx="396557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069975"/>
            <a:ext cx="7710488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文本框 5"/>
          <p:cNvSpPr txBox="1">
            <a:spLocks noChangeArrowheads="1"/>
          </p:cNvSpPr>
          <p:nvPr/>
        </p:nvSpPr>
        <p:spPr bwMode="auto">
          <a:xfrm>
            <a:off x="250825" y="260350"/>
            <a:ext cx="63373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IYPT2021</a:t>
            </a:r>
            <a:r>
              <a:rPr lang="zh-CN" altLang="en-US"/>
              <a:t>：</a:t>
            </a:r>
            <a:r>
              <a:rPr lang="en-US" altLang="zh-CN" b="1"/>
              <a:t>9. Light Whiskers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pic>
        <p:nvPicPr>
          <p:cNvPr id="13319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5697538"/>
            <a:ext cx="4500563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52513"/>
            <a:ext cx="3175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文本框 2"/>
          <p:cNvSpPr txBox="1">
            <a:spLocks noChangeArrowheads="1"/>
          </p:cNvSpPr>
          <p:nvPr/>
        </p:nvSpPr>
        <p:spPr bwMode="auto">
          <a:xfrm>
            <a:off x="250825" y="260350"/>
            <a:ext cx="63373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光学超材料：</a:t>
            </a:r>
          </a:p>
        </p:txBody>
      </p:sp>
      <p:sp>
        <p:nvSpPr>
          <p:cNvPr id="14340" name="文本框 3"/>
          <p:cNvSpPr txBox="1">
            <a:spLocks noChangeArrowheads="1"/>
          </p:cNvSpPr>
          <p:nvPr/>
        </p:nvSpPr>
        <p:spPr bwMode="auto">
          <a:xfrm>
            <a:off x="4427538" y="1125538"/>
            <a:ext cx="432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4341" name="文本框 4"/>
          <p:cNvSpPr txBox="1">
            <a:spLocks noChangeArrowheads="1"/>
          </p:cNvSpPr>
          <p:nvPr/>
        </p:nvSpPr>
        <p:spPr bwMode="auto">
          <a:xfrm>
            <a:off x="4067944" y="236537"/>
            <a:ext cx="4824536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当</a:t>
            </a:r>
            <a:r>
              <a:rPr lang="en-US" altLang="zh-CN" dirty="0"/>
              <a:t>k</a:t>
            </a:r>
            <a:r>
              <a:rPr lang="zh-CN" altLang="en-US" dirty="0"/>
              <a:t>的波动处于亚波长尺度（边界条件或初始条件）时，就会出现有违正常光学定律的现象</a:t>
            </a:r>
          </a:p>
        </p:txBody>
      </p:sp>
      <p:sp>
        <p:nvSpPr>
          <p:cNvPr id="14342" name="文本框 5"/>
          <p:cNvSpPr txBox="1">
            <a:spLocks noChangeArrowheads="1"/>
          </p:cNvSpPr>
          <p:nvPr/>
        </p:nvSpPr>
        <p:spPr bwMode="auto">
          <a:xfrm>
            <a:off x="250825" y="3573463"/>
            <a:ext cx="6337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左手材料：</a:t>
            </a:r>
          </a:p>
        </p:txBody>
      </p:sp>
      <p:pic>
        <p:nvPicPr>
          <p:cNvPr id="14343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4292600"/>
            <a:ext cx="23907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582" y="2467928"/>
            <a:ext cx="31242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4491416"/>
            <a:ext cx="3128962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179388" y="260350"/>
            <a:ext cx="63373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光子晶体：</a:t>
            </a:r>
          </a:p>
        </p:txBody>
      </p:sp>
      <p:pic>
        <p:nvPicPr>
          <p:cNvPr id="1536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15888"/>
            <a:ext cx="6481762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文本框 3"/>
          <p:cNvSpPr txBox="1">
            <a:spLocks noChangeArrowheads="1"/>
          </p:cNvSpPr>
          <p:nvPr/>
        </p:nvSpPr>
        <p:spPr bwMode="auto">
          <a:xfrm>
            <a:off x="539750" y="4581525"/>
            <a:ext cx="2016125" cy="584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光子晶体</a:t>
            </a:r>
          </a:p>
        </p:txBody>
      </p:sp>
      <p:sp>
        <p:nvSpPr>
          <p:cNvPr id="15365" name="左右箭头 4"/>
          <p:cNvSpPr>
            <a:spLocks noChangeArrowheads="1"/>
          </p:cNvSpPr>
          <p:nvPr/>
        </p:nvSpPr>
        <p:spPr bwMode="auto">
          <a:xfrm>
            <a:off x="2987675" y="4652963"/>
            <a:ext cx="2447925" cy="360362"/>
          </a:xfrm>
          <a:prstGeom prst="leftRightArrow">
            <a:avLst>
              <a:gd name="adj1" fmla="val 50000"/>
              <a:gd name="adj2" fmla="val 4994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5366" name="文本框 5"/>
          <p:cNvSpPr txBox="1">
            <a:spLocks noChangeArrowheads="1"/>
          </p:cNvSpPr>
          <p:nvPr/>
        </p:nvSpPr>
        <p:spPr bwMode="auto">
          <a:xfrm>
            <a:off x="5724525" y="4581525"/>
            <a:ext cx="2376488" cy="584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凝聚态物理</a:t>
            </a: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3848" y="404664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凝聚态物理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63888" y="1196752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材料计算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99792" y="5661248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求解量子力学方程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05190"/>
            <a:ext cx="8192210" cy="23319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15816" y="4581128"/>
            <a:ext cx="424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在凝聚态条件下</a:t>
            </a:r>
          </a:p>
        </p:txBody>
      </p:sp>
    </p:spTree>
    <p:extLst>
      <p:ext uri="{BB962C8B-B14F-4D97-AF65-F5344CB8AC3E}">
        <p14:creationId xmlns:p14="http://schemas.microsoft.com/office/powerpoint/2010/main" val="4051582424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520" y="1700808"/>
            <a:ext cx="5076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数理方程的数值解法：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1520" y="980728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大部分的数理方程都是不可解的！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1520" y="188640"/>
            <a:ext cx="5076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真实的数理方程：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950" y="2388869"/>
            <a:ext cx="5076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有限元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525" y="2654362"/>
            <a:ext cx="3095625" cy="16668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73574" y="1824463"/>
            <a:ext cx="3970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优点：不依赖原始方程</a:t>
            </a:r>
            <a:endParaRPr lang="en-US" altLang="zh-CN" sz="2800" dirty="0"/>
          </a:p>
          <a:p>
            <a:r>
              <a:rPr lang="zh-CN" altLang="en-US" sz="2800" dirty="0"/>
              <a:t>图像清晰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94197" y="2808054"/>
            <a:ext cx="36365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缺点：</a:t>
            </a:r>
            <a:r>
              <a:rPr lang="en-US" altLang="zh-CN" sz="2400" dirty="0"/>
              <a:t>1.</a:t>
            </a:r>
            <a:r>
              <a:rPr lang="zh-CN" altLang="en-US" sz="2400" dirty="0"/>
              <a:t>物理不清晰</a:t>
            </a:r>
            <a:endParaRPr lang="en-US" altLang="zh-CN" sz="2400" dirty="0"/>
          </a:p>
          <a:p>
            <a:r>
              <a:rPr lang="en-US" altLang="zh-CN" sz="2400" dirty="0"/>
              <a:t>2. </a:t>
            </a:r>
            <a:r>
              <a:rPr lang="zh-CN" altLang="en-US" sz="2400" dirty="0"/>
              <a:t>解的稳定性</a:t>
            </a:r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计算复杂，网格依赖</a:t>
            </a:r>
            <a:endParaRPr lang="en-US" altLang="zh-CN" sz="2400" dirty="0"/>
          </a:p>
          <a:p>
            <a:r>
              <a:rPr lang="zh-CN" altLang="en-US" sz="2400" dirty="0"/>
              <a:t>（收敛性问题）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0" y="4494791"/>
            <a:ext cx="5076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微扰展开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4632" y="5948716"/>
            <a:ext cx="1852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矩阵解法</a:t>
            </a:r>
          </a:p>
        </p:txBody>
      </p:sp>
      <p:sp>
        <p:nvSpPr>
          <p:cNvPr id="11" name="上下箭头 10"/>
          <p:cNvSpPr/>
          <p:nvPr/>
        </p:nvSpPr>
        <p:spPr bwMode="auto">
          <a:xfrm>
            <a:off x="1035033" y="5079566"/>
            <a:ext cx="432048" cy="751698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对象 1"/>
          <p:cNvGraphicFramePr>
            <a:graphicFrameLocks noChangeAspect="1"/>
          </p:cNvGraphicFramePr>
          <p:nvPr>
            <p:extLst/>
          </p:nvPr>
        </p:nvGraphicFramePr>
        <p:xfrm>
          <a:off x="2052049" y="4604094"/>
          <a:ext cx="2207243" cy="192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4" imgW="1308100" imgH="1143000" progId="Equation.DSMT4">
                  <p:embed/>
                </p:oleObj>
              </mc:Choice>
              <mc:Fallback>
                <p:oleObj name="Equation" r:id="rId4" imgW="1308100" imgH="1143000" progId="Equation.DSMT4">
                  <p:embed/>
                  <p:pic>
                    <p:nvPicPr>
                      <p:cNvPr id="1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049" y="4604094"/>
                        <a:ext cx="2207243" cy="1928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967879" y="4377714"/>
            <a:ext cx="3970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优点：物理清晰，计算简单。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31454" y="5229783"/>
            <a:ext cx="39708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缺点：</a:t>
            </a:r>
            <a:r>
              <a:rPr lang="en-US" altLang="zh-CN" sz="2800" dirty="0"/>
              <a:t>1.</a:t>
            </a:r>
            <a:r>
              <a:rPr lang="zh-CN" altLang="en-US" sz="2800" dirty="0"/>
              <a:t>图像不清晰</a:t>
            </a:r>
            <a:endParaRPr lang="en-US" altLang="zh-CN" sz="2800" dirty="0"/>
          </a:p>
          <a:p>
            <a:pPr algn="ctr"/>
            <a:r>
              <a:rPr lang="zh-CN" altLang="en-US" sz="2800" dirty="0"/>
              <a:t> </a:t>
            </a:r>
            <a:r>
              <a:rPr lang="en-US" altLang="zh-CN" sz="2800" dirty="0"/>
              <a:t>2. </a:t>
            </a:r>
            <a:r>
              <a:rPr lang="zh-CN" altLang="en-US" sz="2800" dirty="0"/>
              <a:t>截断的可靠性</a:t>
            </a:r>
            <a:endParaRPr lang="en-US" altLang="zh-CN" sz="2800" dirty="0"/>
          </a:p>
          <a:p>
            <a:pPr algn="ctr"/>
            <a:r>
              <a:rPr lang="zh-CN" altLang="en-US" sz="2800" dirty="0"/>
              <a:t>（收敛性问题）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819538-56A7-410A-A77A-B6E810F240FF}"/>
              </a:ext>
            </a:extLst>
          </p:cNvPr>
          <p:cNvSpPr txBox="1"/>
          <p:nvPr/>
        </p:nvSpPr>
        <p:spPr>
          <a:xfrm>
            <a:off x="65638" y="3082927"/>
            <a:ext cx="5076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格点法</a:t>
            </a:r>
          </a:p>
        </p:txBody>
      </p:sp>
    </p:spTree>
    <p:extLst>
      <p:ext uri="{BB962C8B-B14F-4D97-AF65-F5344CB8AC3E}">
        <p14:creationId xmlns:p14="http://schemas.microsoft.com/office/powerpoint/2010/main" val="1658635229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157292" y="365498"/>
            <a:ext cx="63373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希尔伯特空间</a:t>
            </a:r>
            <a:r>
              <a:rPr lang="en-US" altLang="zh-CN" dirty="0"/>
              <a:t>&amp;</a:t>
            </a:r>
            <a:r>
              <a:rPr lang="zh-CN" altLang="en-US" dirty="0"/>
              <a:t>基组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04048" y="1782727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3528" y="1513947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6393" y="2053482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边界条件</a:t>
            </a:r>
          </a:p>
        </p:txBody>
      </p:sp>
      <p:sp>
        <p:nvSpPr>
          <p:cNvPr id="6" name="右箭头 5"/>
          <p:cNvSpPr/>
          <p:nvPr/>
        </p:nvSpPr>
        <p:spPr bwMode="auto">
          <a:xfrm>
            <a:off x="3887924" y="1875178"/>
            <a:ext cx="792088" cy="39987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23728" y="1761460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对称性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-108520" y="4149080"/>
            <a:ext cx="88969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不同的基组间物理等价（变换矩阵）</a:t>
            </a:r>
            <a:endParaRPr lang="en-US" altLang="zh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但不同的基组计算难度差异极大</a:t>
            </a:r>
          </a:p>
        </p:txBody>
      </p:sp>
    </p:spTree>
    <p:extLst>
      <p:ext uri="{BB962C8B-B14F-4D97-AF65-F5344CB8AC3E}">
        <p14:creationId xmlns:p14="http://schemas.microsoft.com/office/powerpoint/2010/main" val="4203281284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907704" y="332656"/>
            <a:ext cx="63373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波动力学中常用的基组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1520" y="1268760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平面波：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6353" y="2203849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球面波：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8322" y="3414123"/>
            <a:ext cx="5889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柱面波：</a:t>
            </a:r>
          </a:p>
        </p:txBody>
      </p:sp>
      <p:graphicFrame>
        <p:nvGraphicFramePr>
          <p:cNvPr id="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926624"/>
              </p:ext>
            </p:extLst>
          </p:nvPr>
        </p:nvGraphicFramePr>
        <p:xfrm>
          <a:off x="2123728" y="1142840"/>
          <a:ext cx="3302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5" name="Equation" r:id="rId3" imgW="952200" imgH="241200" progId="Equation.DSMT4">
                  <p:embed/>
                </p:oleObj>
              </mc:Choice>
              <mc:Fallback>
                <p:oleObj name="Equation" r:id="rId3" imgW="952200" imgH="241200" progId="Equation.DSMT4">
                  <p:embed/>
                  <p:pic>
                    <p:nvPicPr>
                      <p:cNvPr id="9219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142840"/>
                        <a:ext cx="3302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88751" y="4711813"/>
            <a:ext cx="5889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拉盖尔高斯波：光学角动量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l="12982"/>
          <a:stretch/>
        </p:blipFill>
        <p:spPr>
          <a:xfrm>
            <a:off x="2148249" y="2134192"/>
            <a:ext cx="2309960" cy="742275"/>
          </a:xfrm>
          <a:prstGeom prst="rect">
            <a:avLst/>
          </a:prstGeom>
        </p:spPr>
      </p:pic>
      <p:pic>
        <p:nvPicPr>
          <p:cNvPr id="9" name="图片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51" y="5496907"/>
            <a:ext cx="471011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497" y="5516618"/>
            <a:ext cx="293370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椭圆 17"/>
          <p:cNvSpPr>
            <a:spLocks noChangeArrowheads="1"/>
          </p:cNvSpPr>
          <p:nvPr/>
        </p:nvSpPr>
        <p:spPr bwMode="auto">
          <a:xfrm>
            <a:off x="6474091" y="5524243"/>
            <a:ext cx="915988" cy="53975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0655" y="3747160"/>
            <a:ext cx="58898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特殊问题：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29820" y="6278529"/>
            <a:ext cx="5889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特殊光束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40537" y="2181217"/>
            <a:ext cx="5889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和球谐函数的关系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4960" y="3416655"/>
            <a:ext cx="1548967" cy="68954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280025" y="3424086"/>
            <a:ext cx="5889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和贝塞尔函数的关系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492927" y="2797670"/>
            <a:ext cx="1893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渐进展开</a:t>
            </a:r>
          </a:p>
        </p:txBody>
      </p:sp>
    </p:spTree>
    <p:extLst>
      <p:ext uri="{BB962C8B-B14F-4D97-AF65-F5344CB8AC3E}">
        <p14:creationId xmlns:p14="http://schemas.microsoft.com/office/powerpoint/2010/main" val="3227102711"/>
      </p:ext>
    </p:extLst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1907704" y="332656"/>
            <a:ext cx="63373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凝聚态物理中常用的基组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9512" y="1178656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平面波：</a:t>
            </a:r>
          </a:p>
        </p:txBody>
      </p:sp>
      <p:graphicFrame>
        <p:nvGraphicFramePr>
          <p:cNvPr id="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870817"/>
              </p:ext>
            </p:extLst>
          </p:nvPr>
        </p:nvGraphicFramePr>
        <p:xfrm>
          <a:off x="2051720" y="1052736"/>
          <a:ext cx="3302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6" name="Equation" r:id="rId3" imgW="952200" imgH="241200" progId="Equation.DSMT4">
                  <p:embed/>
                </p:oleObj>
              </mc:Choice>
              <mc:Fallback>
                <p:oleObj name="Equation" r:id="rId3" imgW="952200" imgH="241200" progId="Equation.DSMT4">
                  <p:embed/>
                  <p:pic>
                    <p:nvPicPr>
                      <p:cNvPr id="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052736"/>
                        <a:ext cx="330200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43880" y="2863188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布洛赫定理：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99792" y="2857147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对于具有周期势场的体系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345231"/>
              </p:ext>
            </p:extLst>
          </p:nvPr>
        </p:nvGraphicFramePr>
        <p:xfrm>
          <a:off x="343880" y="3447963"/>
          <a:ext cx="4217093" cy="755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7" name="Equation" r:id="rId5" imgW="1346040" imgH="241200" progId="Equation.DSMT4">
                  <p:embed/>
                </p:oleObj>
              </mc:Choice>
              <mc:Fallback>
                <p:oleObj name="Equation" r:id="rId5" imgW="1346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880" y="3447963"/>
                        <a:ext cx="4217093" cy="755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59532" y="1965320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薛定谔方程：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203086"/>
              </p:ext>
            </p:extLst>
          </p:nvPr>
        </p:nvGraphicFramePr>
        <p:xfrm>
          <a:off x="1259706" y="4118297"/>
          <a:ext cx="302418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8" name="Equation" r:id="rId7" imgW="965160" imgH="228600" progId="Equation.DSMT4">
                  <p:embed/>
                </p:oleObj>
              </mc:Choice>
              <mc:Fallback>
                <p:oleObj name="Equation" r:id="rId7" imgW="96516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9706" y="4118297"/>
                        <a:ext cx="3024188" cy="71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245955"/>
              </p:ext>
            </p:extLst>
          </p:nvPr>
        </p:nvGraphicFramePr>
        <p:xfrm>
          <a:off x="2914034" y="1767691"/>
          <a:ext cx="3419278" cy="1095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9" name="Equation" r:id="rId9" imgW="1307880" imgH="419040" progId="Equation.DSMT4">
                  <p:embed/>
                </p:oleObj>
              </mc:Choice>
              <mc:Fallback>
                <p:oleObj name="Equation" r:id="rId9" imgW="1307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4034" y="1767691"/>
                        <a:ext cx="3419278" cy="1095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109876"/>
              </p:ext>
            </p:extLst>
          </p:nvPr>
        </p:nvGraphicFramePr>
        <p:xfrm>
          <a:off x="3454400" y="1828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0" name="Equation" r:id="rId11" imgW="914400" imgH="198720" progId="Equation.DSMT4">
                  <p:embed/>
                </p:oleObj>
              </mc:Choice>
              <mc:Fallback>
                <p:oleObj name="Equation" r:id="rId11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4400" y="1828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/>
          <p:nvPr/>
        </p:nvSpPr>
        <p:spPr bwMode="auto">
          <a:xfrm>
            <a:off x="5143080" y="3956904"/>
            <a:ext cx="730047" cy="34386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8184" y="3528956"/>
            <a:ext cx="2341854" cy="170620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204867" y="4785059"/>
            <a:ext cx="1626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平面波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813986" y="5950903"/>
            <a:ext cx="1626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能带论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059002" y="5952191"/>
            <a:ext cx="2274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傅里叶变换</a:t>
            </a:r>
          </a:p>
        </p:txBody>
      </p:sp>
      <p:sp>
        <p:nvSpPr>
          <p:cNvPr id="18" name="左右箭头 17"/>
          <p:cNvSpPr/>
          <p:nvPr/>
        </p:nvSpPr>
        <p:spPr bwMode="auto">
          <a:xfrm>
            <a:off x="3204867" y="6098996"/>
            <a:ext cx="813119" cy="358282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左右箭头 18"/>
          <p:cNvSpPr/>
          <p:nvPr/>
        </p:nvSpPr>
        <p:spPr bwMode="auto">
          <a:xfrm rot="18508167">
            <a:off x="2691803" y="5460429"/>
            <a:ext cx="813119" cy="358282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左右箭头 19"/>
          <p:cNvSpPr/>
          <p:nvPr/>
        </p:nvSpPr>
        <p:spPr bwMode="auto">
          <a:xfrm rot="2480222">
            <a:off x="4086833" y="5478962"/>
            <a:ext cx="813119" cy="358282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9206674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260648"/>
            <a:ext cx="33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平面波的缺点：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620688"/>
            <a:ext cx="4488569" cy="544877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60" y="1124744"/>
            <a:ext cx="33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截断</a:t>
            </a:r>
            <a:r>
              <a:rPr lang="en-US" altLang="zh-CN" dirty="0"/>
              <a:t>&amp;</a:t>
            </a:r>
            <a:r>
              <a:rPr lang="zh-CN" altLang="en-US" dirty="0"/>
              <a:t>收敛问题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5576" y="2276872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近核部分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9512" y="3429000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赝势方法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12235" y="4296061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截断半径</a:t>
            </a:r>
          </a:p>
        </p:txBody>
      </p:sp>
    </p:spTree>
    <p:extLst>
      <p:ext uri="{BB962C8B-B14F-4D97-AF65-F5344CB8AC3E}">
        <p14:creationId xmlns:p14="http://schemas.microsoft.com/office/powerpoint/2010/main" val="2232435011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332656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局域基组：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3528" y="1196752"/>
            <a:ext cx="5544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原子轨道基（</a:t>
            </a:r>
            <a:r>
              <a:rPr lang="en-US" altLang="zh-CN" dirty="0" err="1"/>
              <a:t>LCAO</a:t>
            </a:r>
            <a:r>
              <a:rPr lang="zh-CN" altLang="en-US" dirty="0"/>
              <a:t>）：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145835"/>
            <a:ext cx="2016224" cy="6866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8" y="1974602"/>
            <a:ext cx="6218459" cy="65537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8119" y="2741890"/>
            <a:ext cx="590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广义拉盖尔多项式表述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3612" y="3306260"/>
            <a:ext cx="8792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量子力学（曾谨言）：合流超几何函数表述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92280" y="2045204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氢原子解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3528" y="4309080"/>
            <a:ext cx="2734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原子基组：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530" y="4195982"/>
            <a:ext cx="4526750" cy="69787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818" y="4931952"/>
            <a:ext cx="2943849" cy="65257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5954" y="4965854"/>
            <a:ext cx="2734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Slater</a:t>
            </a:r>
            <a:r>
              <a:rPr lang="zh-CN" altLang="en-US" dirty="0"/>
              <a:t>基组：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07679" y="5538870"/>
            <a:ext cx="2734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高斯基组：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3543" y="5584530"/>
            <a:ext cx="2683920" cy="49345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286" y="6169305"/>
            <a:ext cx="3999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高斯型</a:t>
            </a:r>
            <a:r>
              <a:rPr lang="en-US" altLang="zh-CN" dirty="0" err="1"/>
              <a:t>STO</a:t>
            </a:r>
            <a:r>
              <a:rPr lang="zh-CN" altLang="en-US" dirty="0"/>
              <a:t>基组：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7689" y="6123644"/>
            <a:ext cx="2056399" cy="5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2916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225619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局域基组</a:t>
            </a:r>
            <a:r>
              <a:rPr lang="en-US" altLang="zh-CN" dirty="0"/>
              <a:t>&amp;</a:t>
            </a:r>
            <a:r>
              <a:rPr lang="zh-CN" altLang="en-US" dirty="0"/>
              <a:t>平面波的优缺点：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5576" y="980728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体系上：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11760" y="967336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晶体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38811" y="1772816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孤立体系</a:t>
            </a:r>
          </a:p>
        </p:txBody>
      </p:sp>
      <p:sp>
        <p:nvSpPr>
          <p:cNvPr id="6" name="乘号 5"/>
          <p:cNvSpPr/>
          <p:nvPr/>
        </p:nvSpPr>
        <p:spPr bwMode="auto">
          <a:xfrm>
            <a:off x="3958808" y="949079"/>
            <a:ext cx="648072" cy="648072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L 形 6"/>
          <p:cNvSpPr/>
          <p:nvPr/>
        </p:nvSpPr>
        <p:spPr bwMode="auto">
          <a:xfrm rot="19086732">
            <a:off x="4467868" y="1820939"/>
            <a:ext cx="406382" cy="290923"/>
          </a:xfrm>
          <a:prstGeom prst="corne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5576" y="2636912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准确性：核区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11760" y="335585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非核区</a:t>
            </a:r>
          </a:p>
        </p:txBody>
      </p:sp>
      <p:sp>
        <p:nvSpPr>
          <p:cNvPr id="10" name="乘号 9"/>
          <p:cNvSpPr/>
          <p:nvPr/>
        </p:nvSpPr>
        <p:spPr bwMode="auto">
          <a:xfrm>
            <a:off x="4319972" y="3292558"/>
            <a:ext cx="648072" cy="648072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 形 10"/>
          <p:cNvSpPr/>
          <p:nvPr/>
        </p:nvSpPr>
        <p:spPr bwMode="auto">
          <a:xfrm rot="19086732">
            <a:off x="4446629" y="2713971"/>
            <a:ext cx="406382" cy="290923"/>
          </a:xfrm>
          <a:prstGeom prst="corne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5576" y="4437112"/>
            <a:ext cx="496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应用性：投影波函数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411760" y="5156055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金属性</a:t>
            </a:r>
          </a:p>
        </p:txBody>
      </p:sp>
      <p:sp>
        <p:nvSpPr>
          <p:cNvPr id="14" name="乘号 13"/>
          <p:cNvSpPr/>
          <p:nvPr/>
        </p:nvSpPr>
        <p:spPr bwMode="auto">
          <a:xfrm>
            <a:off x="4606880" y="5194333"/>
            <a:ext cx="648072" cy="648072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L 形 14"/>
          <p:cNvSpPr/>
          <p:nvPr/>
        </p:nvSpPr>
        <p:spPr bwMode="auto">
          <a:xfrm rot="19086732">
            <a:off x="4689205" y="4513651"/>
            <a:ext cx="406382" cy="290923"/>
          </a:xfrm>
          <a:prstGeom prst="corne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右箭头 15"/>
          <p:cNvSpPr/>
          <p:nvPr/>
        </p:nvSpPr>
        <p:spPr bwMode="auto">
          <a:xfrm>
            <a:off x="5289249" y="4596543"/>
            <a:ext cx="504056" cy="26591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56176" y="4415157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化学</a:t>
            </a:r>
          </a:p>
        </p:txBody>
      </p:sp>
    </p:spTree>
    <p:extLst>
      <p:ext uri="{BB962C8B-B14F-4D97-AF65-F5344CB8AC3E}">
        <p14:creationId xmlns:p14="http://schemas.microsoft.com/office/powerpoint/2010/main" val="3416767728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332656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复合基组：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13276" y="2705976"/>
            <a:ext cx="65167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缀加平面波：截断半径里面用局域基组，外面用平面波。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745115"/>
            <a:ext cx="3507078" cy="8553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48325" y="1044025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瓦尼尔函数：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149080"/>
            <a:ext cx="5982218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33187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332656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例题：求解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baseline="30000" dirty="0"/>
              <a:t>+</a:t>
            </a:r>
            <a:r>
              <a:rPr lang="zh-CN" altLang="en-US" dirty="0"/>
              <a:t>的能级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587031"/>
              </p:ext>
            </p:extLst>
          </p:nvPr>
        </p:nvGraphicFramePr>
        <p:xfrm>
          <a:off x="940594" y="943679"/>
          <a:ext cx="5480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3" name="Equation" r:id="rId3" imgW="1739880" imgH="228600" progId="Equation.DSMT4">
                  <p:embed/>
                </p:oleObj>
              </mc:Choice>
              <mc:Fallback>
                <p:oleObj name="Equation" r:id="rId3" imgW="1739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0594" y="943679"/>
                        <a:ext cx="5480050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66795" y="2877702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已知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606448"/>
              </p:ext>
            </p:extLst>
          </p:nvPr>
        </p:nvGraphicFramePr>
        <p:xfrm>
          <a:off x="1144588" y="2917825"/>
          <a:ext cx="49958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4" name="Equation" r:id="rId5" imgW="2070000" imgH="228600" progId="Equation.DSMT4">
                  <p:embed/>
                </p:oleObj>
              </mc:Choice>
              <mc:Fallback>
                <p:oleObj name="Equation" r:id="rId5" imgW="2070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4588" y="2917825"/>
                        <a:ext cx="4995862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280648" y="2938393"/>
            <a:ext cx="798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为库仑积分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70783"/>
              </p:ext>
            </p:extLst>
          </p:nvPr>
        </p:nvGraphicFramePr>
        <p:xfrm>
          <a:off x="1252451" y="3503102"/>
          <a:ext cx="36750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5" name="Equation" r:id="rId7" imgW="1523880" imgH="228600" progId="Equation.DSMT4">
                  <p:embed/>
                </p:oleObj>
              </mc:Choice>
              <mc:Fallback>
                <p:oleObj name="Equation" r:id="rId7" imgW="152388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2451" y="3503102"/>
                        <a:ext cx="3675062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387660" y="3462477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为重叠积分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53962"/>
              </p:ext>
            </p:extLst>
          </p:nvPr>
        </p:nvGraphicFramePr>
        <p:xfrm>
          <a:off x="1257798" y="4131530"/>
          <a:ext cx="50228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6" name="Equation" r:id="rId9" imgW="2082600" imgH="228600" progId="Equation.DSMT4">
                  <p:embed/>
                </p:oleObj>
              </mc:Choice>
              <mc:Fallback>
                <p:oleObj name="Equation" r:id="rId9" imgW="208260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7798" y="4131530"/>
                        <a:ext cx="5022850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390608" y="4077552"/>
            <a:ext cx="798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为交换积分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21794"/>
              </p:ext>
            </p:extLst>
          </p:nvPr>
        </p:nvGraphicFramePr>
        <p:xfrm>
          <a:off x="1252451" y="1949982"/>
          <a:ext cx="1214014" cy="753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7" name="Equation" r:id="rId11" imgW="368280" imgH="228600" progId="Equation.DSMT4">
                  <p:embed/>
                </p:oleObj>
              </mc:Choice>
              <mc:Fallback>
                <p:oleObj name="Equation" r:id="rId11" imgW="368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2451" y="1949982"/>
                        <a:ext cx="1214014" cy="753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2430554" y="2071510"/>
            <a:ext cx="798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为单个氢原子的波函数</a:t>
            </a:r>
          </a:p>
        </p:txBody>
      </p:sp>
    </p:spTree>
    <p:extLst>
      <p:ext uri="{BB962C8B-B14F-4D97-AF65-F5344CB8AC3E}">
        <p14:creationId xmlns:p14="http://schemas.microsoft.com/office/powerpoint/2010/main" val="2904147156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260648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原子轨道基模型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973637"/>
              </p:ext>
            </p:extLst>
          </p:nvPr>
        </p:nvGraphicFramePr>
        <p:xfrm>
          <a:off x="185558" y="859548"/>
          <a:ext cx="8702996" cy="336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5" name="Equation" r:id="rId3" imgW="3555720" imgH="1371600" progId="Equation.DSMT4">
                  <p:embed/>
                </p:oleObj>
              </mc:Choice>
              <mc:Fallback>
                <p:oleObj name="Equation" r:id="rId3" imgW="3555720" imgH="1371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558" y="859548"/>
                        <a:ext cx="8702996" cy="3361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9512" y="4149080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同理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687316"/>
              </p:ext>
            </p:extLst>
          </p:nvPr>
        </p:nvGraphicFramePr>
        <p:xfrm>
          <a:off x="250825" y="4733925"/>
          <a:ext cx="8070850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6" name="Equation" r:id="rId5" imgW="3619440" imgH="914400" progId="Equation.DSMT4">
                  <p:embed/>
                </p:oleObj>
              </mc:Choice>
              <mc:Fallback>
                <p:oleObj name="Equation" r:id="rId5" imgW="3619440" imgH="9144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825" y="4733925"/>
                        <a:ext cx="8070850" cy="204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6324309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40905"/>
              </p:ext>
            </p:extLst>
          </p:nvPr>
        </p:nvGraphicFramePr>
        <p:xfrm>
          <a:off x="251520" y="188640"/>
          <a:ext cx="45370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1" name="Equation" r:id="rId3" imgW="1854000" imgH="228600" progId="Equation.DSMT4">
                  <p:embed/>
                </p:oleObj>
              </mc:Choice>
              <mc:Fallback>
                <p:oleObj name="Equation" r:id="rId3" imgW="185400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188640"/>
                        <a:ext cx="4537075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038162"/>
              </p:ext>
            </p:extLst>
          </p:nvPr>
        </p:nvGraphicFramePr>
        <p:xfrm>
          <a:off x="323528" y="749027"/>
          <a:ext cx="41640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2" name="Equation" r:id="rId5" imgW="1866600" imgH="228600" progId="Equation.DSMT4">
                  <p:embed/>
                </p:oleObj>
              </mc:Choice>
              <mc:Fallback>
                <p:oleObj name="Equation" r:id="rId5" imgW="186660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528" y="749027"/>
                        <a:ext cx="4164012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747189"/>
              </p:ext>
            </p:extLst>
          </p:nvPr>
        </p:nvGraphicFramePr>
        <p:xfrm>
          <a:off x="251520" y="1412776"/>
          <a:ext cx="5798539" cy="144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3"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520" y="1412776"/>
                        <a:ext cx="5798539" cy="1440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232021"/>
              </p:ext>
            </p:extLst>
          </p:nvPr>
        </p:nvGraphicFramePr>
        <p:xfrm>
          <a:off x="395536" y="3192649"/>
          <a:ext cx="396044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4" name="Equation" r:id="rId9" imgW="1396800" imgH="228600" progId="Equation.DSMT4">
                  <p:embed/>
                </p:oleObj>
              </mc:Choice>
              <mc:Fallback>
                <p:oleObj name="Equation" r:id="rId9" imgW="1396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5536" y="3192649"/>
                        <a:ext cx="3960440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625278"/>
              </p:ext>
            </p:extLst>
          </p:nvPr>
        </p:nvGraphicFramePr>
        <p:xfrm>
          <a:off x="375498" y="3713162"/>
          <a:ext cx="3314700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5" name="Equation" r:id="rId11" imgW="965160" imgH="393480" progId="Equation.DSMT4">
                  <p:embed/>
                </p:oleObj>
              </mc:Choice>
              <mc:Fallback>
                <p:oleObj name="Equation" r:id="rId11" imgW="965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5498" y="3713162"/>
                        <a:ext cx="3314700" cy="1354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656245"/>
              </p:ext>
            </p:extLst>
          </p:nvPr>
        </p:nvGraphicFramePr>
        <p:xfrm>
          <a:off x="344488" y="5067300"/>
          <a:ext cx="32718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6" name="Equation" r:id="rId13" imgW="952200" imgH="393480" progId="Equation.DSMT4">
                  <p:embed/>
                </p:oleObj>
              </mc:Choice>
              <mc:Fallback>
                <p:oleObj name="Equation" r:id="rId13" imgW="95220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4488" y="5067300"/>
                        <a:ext cx="3271837" cy="1354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793409"/>
              </p:ext>
            </p:extLst>
          </p:nvPr>
        </p:nvGraphicFramePr>
        <p:xfrm>
          <a:off x="4505446" y="4005064"/>
          <a:ext cx="1334043" cy="7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7" name="Equation" r:id="rId15" imgW="419040" imgH="228600" progId="Equation.DSMT4">
                  <p:embed/>
                </p:oleObj>
              </mc:Choice>
              <mc:Fallback>
                <p:oleObj name="Equation" r:id="rId15" imgW="419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05446" y="4005064"/>
                        <a:ext cx="1334043" cy="7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849751"/>
              </p:ext>
            </p:extLst>
          </p:nvPr>
        </p:nvGraphicFramePr>
        <p:xfrm>
          <a:off x="4391025" y="5380038"/>
          <a:ext cx="161766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8" name="Equation" r:id="rId17" imgW="507960" imgH="228600" progId="Equation.DSMT4">
                  <p:embed/>
                </p:oleObj>
              </mc:Choice>
              <mc:Fallback>
                <p:oleObj name="Equation" r:id="rId17" imgW="50796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91025" y="5380038"/>
                        <a:ext cx="1617663" cy="72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5382659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260648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分子能级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664311"/>
              </p:ext>
            </p:extLst>
          </p:nvPr>
        </p:nvGraphicFramePr>
        <p:xfrm>
          <a:off x="179512" y="870092"/>
          <a:ext cx="3314700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0" name="Equation" r:id="rId3" imgW="965160" imgH="393480" progId="Equation.DSMT4">
                  <p:embed/>
                </p:oleObj>
              </mc:Choice>
              <mc:Fallback>
                <p:oleObj name="Equation" r:id="rId3" imgW="965160" imgH="39348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870092"/>
                        <a:ext cx="3314700" cy="1354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395519"/>
              </p:ext>
            </p:extLst>
          </p:nvPr>
        </p:nvGraphicFramePr>
        <p:xfrm>
          <a:off x="188416" y="2137602"/>
          <a:ext cx="32718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1" name="Equation" r:id="rId5" imgW="952200" imgH="393480" progId="Equation.DSMT4">
                  <p:embed/>
                </p:oleObj>
              </mc:Choice>
              <mc:Fallback>
                <p:oleObj name="Equation" r:id="rId5" imgW="952200" imgH="3934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416" y="2137602"/>
                        <a:ext cx="3271837" cy="1354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151782"/>
              </p:ext>
            </p:extLst>
          </p:nvPr>
        </p:nvGraphicFramePr>
        <p:xfrm>
          <a:off x="3494212" y="1134053"/>
          <a:ext cx="1334043" cy="7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2" name="Equation" r:id="rId7" imgW="419040" imgH="228600" progId="Equation.DSMT4">
                  <p:embed/>
                </p:oleObj>
              </mc:Choice>
              <mc:Fallback>
                <p:oleObj name="Equation" r:id="rId7" imgW="41904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4212" y="1134053"/>
                        <a:ext cx="1334043" cy="7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55792"/>
              </p:ext>
            </p:extLst>
          </p:nvPr>
        </p:nvGraphicFramePr>
        <p:xfrm>
          <a:off x="3420338" y="2360533"/>
          <a:ext cx="161766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3" name="Equation" r:id="rId9" imgW="507960" imgH="228600" progId="Equation.DSMT4">
                  <p:embed/>
                </p:oleObj>
              </mc:Choice>
              <mc:Fallback>
                <p:oleObj name="Equation" r:id="rId9" imgW="507960" imgH="2286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20338" y="2360533"/>
                        <a:ext cx="1617663" cy="72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830589" y="3941272"/>
            <a:ext cx="4677515" cy="1553905"/>
            <a:chOff x="2116068" y="3789040"/>
            <a:chExt cx="5254913" cy="1553905"/>
          </a:xfrm>
        </p:grpSpPr>
        <p:cxnSp>
          <p:nvCxnSpPr>
            <p:cNvPr id="12" name="直接连接符 11"/>
            <p:cNvCxnSpPr/>
            <p:nvPr/>
          </p:nvCxnSpPr>
          <p:spPr bwMode="auto">
            <a:xfrm>
              <a:off x="2987824" y="4592594"/>
              <a:ext cx="576064" cy="708614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4" name="直接箭头连接符 23"/>
            <p:cNvCxnSpPr/>
            <p:nvPr/>
          </p:nvCxnSpPr>
          <p:spPr bwMode="auto">
            <a:xfrm>
              <a:off x="6084168" y="4581128"/>
              <a:ext cx="0" cy="68509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grpSp>
          <p:nvGrpSpPr>
            <p:cNvPr id="26" name="组合 25"/>
            <p:cNvGrpSpPr/>
            <p:nvPr/>
          </p:nvGrpSpPr>
          <p:grpSpPr>
            <a:xfrm>
              <a:off x="2116068" y="3789040"/>
              <a:ext cx="5254913" cy="1553905"/>
              <a:chOff x="2116068" y="3789040"/>
              <a:chExt cx="5254913" cy="1553905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>
                <a:off x="3494212" y="3789040"/>
                <a:ext cx="1797868" cy="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8"/>
              <p:cNvCxnSpPr/>
              <p:nvPr/>
            </p:nvCxnSpPr>
            <p:spPr bwMode="auto">
              <a:xfrm>
                <a:off x="3563888" y="5301208"/>
                <a:ext cx="1797868" cy="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" name="直接连接符 10"/>
              <p:cNvCxnSpPr/>
              <p:nvPr/>
            </p:nvCxnSpPr>
            <p:spPr bwMode="auto">
              <a:xfrm flipH="1">
                <a:off x="2987824" y="3789040"/>
                <a:ext cx="506388" cy="792088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直接连接符 13"/>
              <p:cNvCxnSpPr/>
              <p:nvPr/>
            </p:nvCxnSpPr>
            <p:spPr bwMode="auto">
              <a:xfrm flipH="1" flipV="1">
                <a:off x="5272858" y="3836027"/>
                <a:ext cx="534941" cy="638103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直接连接符 15"/>
              <p:cNvCxnSpPr/>
              <p:nvPr/>
            </p:nvCxnSpPr>
            <p:spPr bwMode="auto">
              <a:xfrm flipH="1">
                <a:off x="5292080" y="4550857"/>
                <a:ext cx="506388" cy="792088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直接连接符 16"/>
              <p:cNvCxnSpPr/>
              <p:nvPr/>
            </p:nvCxnSpPr>
            <p:spPr bwMode="auto">
              <a:xfrm flipH="1">
                <a:off x="2123728" y="4593176"/>
                <a:ext cx="864096" cy="8653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直接连接符 18"/>
              <p:cNvCxnSpPr/>
              <p:nvPr/>
            </p:nvCxnSpPr>
            <p:spPr bwMode="auto">
              <a:xfrm flipH="1">
                <a:off x="5807799" y="4501625"/>
                <a:ext cx="912731" cy="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21" name="文本框 20"/>
              <p:cNvSpPr txBox="1"/>
              <p:nvPr/>
            </p:nvSpPr>
            <p:spPr>
              <a:xfrm>
                <a:off x="2116068" y="3862690"/>
                <a:ext cx="11521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H</a:t>
                </a:r>
                <a:r>
                  <a:rPr lang="en-US" altLang="zh-CN" baseline="-25000" dirty="0"/>
                  <a:t>11</a:t>
                </a:r>
                <a:endParaRPr lang="zh-CN" altLang="en-US" baseline="-25000" dirty="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6218853" y="4686423"/>
                <a:ext cx="11521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err="1"/>
                  <a:t>H</a:t>
                </a:r>
                <a:r>
                  <a:rPr lang="en-US" altLang="zh-CN" baseline="-25000" dirty="0" err="1"/>
                  <a:t>12</a:t>
                </a:r>
                <a:endParaRPr lang="zh-CN" altLang="en-US" baseline="-25000" dirty="0"/>
              </a:p>
            </p:txBody>
          </p:sp>
        </p:grpSp>
      </p:grpSp>
      <p:sp>
        <p:nvSpPr>
          <p:cNvPr id="28" name="文本框 27"/>
          <p:cNvSpPr txBox="1"/>
          <p:nvPr/>
        </p:nvSpPr>
        <p:spPr>
          <a:xfrm>
            <a:off x="2383352" y="5515814"/>
            <a:ext cx="1495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成键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2328668" y="3353798"/>
            <a:ext cx="1495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反键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5707" y="346670"/>
            <a:ext cx="3685581" cy="187756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5836369" y="2463265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价键理论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767" y="3089195"/>
            <a:ext cx="1389219" cy="1964752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5770718" y="5208036"/>
            <a:ext cx="2948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L. C. Pauling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1901-1994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两次诺贝尔奖得主</a:t>
            </a:r>
          </a:p>
        </p:txBody>
      </p:sp>
    </p:spTree>
    <p:extLst>
      <p:ext uri="{BB962C8B-B14F-4D97-AF65-F5344CB8AC3E}">
        <p14:creationId xmlns:p14="http://schemas.microsoft.com/office/powerpoint/2010/main" val="3752567605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512" y="260648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回顾一下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259358"/>
              </p:ext>
            </p:extLst>
          </p:nvPr>
        </p:nvGraphicFramePr>
        <p:xfrm>
          <a:off x="512242" y="2492896"/>
          <a:ext cx="49958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4" name="Equation" r:id="rId3" imgW="2070000" imgH="228600" progId="Equation.DSMT4">
                  <p:embed/>
                </p:oleObj>
              </mc:Choice>
              <mc:Fallback>
                <p:oleObj name="Equation" r:id="rId3" imgW="207000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242" y="2492896"/>
                        <a:ext cx="4995862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648303" y="2513464"/>
            <a:ext cx="2352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为库仑积分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799407"/>
              </p:ext>
            </p:extLst>
          </p:nvPr>
        </p:nvGraphicFramePr>
        <p:xfrm>
          <a:off x="620105" y="3078173"/>
          <a:ext cx="36750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5" name="Equation" r:id="rId5" imgW="1523880" imgH="228600" progId="Equation.DSMT4">
                  <p:embed/>
                </p:oleObj>
              </mc:Choice>
              <mc:Fallback>
                <p:oleObj name="Equation" r:id="rId5" imgW="1523880" imgH="228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0105" y="3078173"/>
                        <a:ext cx="3675062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755314" y="3037548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为重叠积分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676164"/>
              </p:ext>
            </p:extLst>
          </p:nvPr>
        </p:nvGraphicFramePr>
        <p:xfrm>
          <a:off x="625452" y="3706601"/>
          <a:ext cx="50228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6" name="Equation" r:id="rId7" imgW="2082600" imgH="228600" progId="Equation.DSMT4">
                  <p:embed/>
                </p:oleObj>
              </mc:Choice>
              <mc:Fallback>
                <p:oleObj name="Equation" r:id="rId7" imgW="2082600" imgH="2286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452" y="3706601"/>
                        <a:ext cx="5022850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758262" y="3652623"/>
            <a:ext cx="2242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为交换积分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8754"/>
              </p:ext>
            </p:extLst>
          </p:nvPr>
        </p:nvGraphicFramePr>
        <p:xfrm>
          <a:off x="674012" y="735292"/>
          <a:ext cx="5480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7" name="Equation" r:id="rId9" imgW="1739880" imgH="228600" progId="Equation.DSMT4">
                  <p:embed/>
                </p:oleObj>
              </mc:Choice>
              <mc:Fallback>
                <p:oleObj name="Equation" r:id="rId9" imgW="173988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4012" y="735292"/>
                        <a:ext cx="5480050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959747"/>
              </p:ext>
            </p:extLst>
          </p:nvPr>
        </p:nvGraphicFramePr>
        <p:xfrm>
          <a:off x="1233657" y="1273798"/>
          <a:ext cx="1214014" cy="753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8" name="Equation" r:id="rId11" imgW="368280" imgH="228600" progId="Equation.DSMT4">
                  <p:embed/>
                </p:oleObj>
              </mc:Choice>
              <mc:Fallback>
                <p:oleObj name="Equation" r:id="rId11" imgW="368280" imgH="2286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3657" y="1273798"/>
                        <a:ext cx="1214014" cy="753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411760" y="1395326"/>
            <a:ext cx="798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为单个氢原子的波函数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418190"/>
              </p:ext>
            </p:extLst>
          </p:nvPr>
        </p:nvGraphicFramePr>
        <p:xfrm>
          <a:off x="4817519" y="4582341"/>
          <a:ext cx="2095091" cy="855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9" name="Equation" r:id="rId13" imgW="965160" imgH="393480" progId="Equation.DSMT4">
                  <p:embed/>
                </p:oleObj>
              </mc:Choice>
              <mc:Fallback>
                <p:oleObj name="Equation" r:id="rId13" imgW="965160" imgH="39348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17519" y="4582341"/>
                        <a:ext cx="2095091" cy="8558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258190"/>
              </p:ext>
            </p:extLst>
          </p:nvPr>
        </p:nvGraphicFramePr>
        <p:xfrm>
          <a:off x="4966573" y="5542874"/>
          <a:ext cx="1946037" cy="805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0" name="Equation" r:id="rId15" imgW="952200" imgH="393480" progId="Equation.DSMT4">
                  <p:embed/>
                </p:oleObj>
              </mc:Choice>
              <mc:Fallback>
                <p:oleObj name="Equation" r:id="rId15" imgW="952200" imgH="39348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66573" y="5542874"/>
                        <a:ext cx="1946037" cy="805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788720"/>
              </p:ext>
            </p:extLst>
          </p:nvPr>
        </p:nvGraphicFramePr>
        <p:xfrm>
          <a:off x="7137233" y="4646459"/>
          <a:ext cx="1334043" cy="7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1" name="Equation" r:id="rId17" imgW="419040" imgH="228600" progId="Equation.DSMT4">
                  <p:embed/>
                </p:oleObj>
              </mc:Choice>
              <mc:Fallback>
                <p:oleObj name="Equation" r:id="rId17" imgW="419040" imgH="22860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37233" y="4646459"/>
                        <a:ext cx="1334043" cy="7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847980"/>
              </p:ext>
            </p:extLst>
          </p:nvPr>
        </p:nvGraphicFramePr>
        <p:xfrm>
          <a:off x="6995424" y="5542874"/>
          <a:ext cx="161766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2" name="Equation" r:id="rId19" imgW="507960" imgH="228600" progId="Equation.DSMT4">
                  <p:embed/>
                </p:oleObj>
              </mc:Choice>
              <mc:Fallback>
                <p:oleObj name="Equation" r:id="rId19" imgW="507960" imgH="22860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95424" y="5542874"/>
                        <a:ext cx="1617663" cy="72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687356"/>
              </p:ext>
            </p:extLst>
          </p:nvPr>
        </p:nvGraphicFramePr>
        <p:xfrm>
          <a:off x="1163919" y="5075341"/>
          <a:ext cx="22383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3" name="Equation" r:id="rId21" imgW="914400" imgH="228600" progId="Equation.DSMT4">
                  <p:embed/>
                </p:oleObj>
              </mc:Choice>
              <mc:Fallback>
                <p:oleObj name="Equation" r:id="rId21" imgW="91440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63919" y="5075341"/>
                        <a:ext cx="2238375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7568138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主题​​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10363</TotalTime>
  <Words>807</Words>
  <Application>Microsoft Office PowerPoint</Application>
  <PresentationFormat>全屏显示(4:3)</PresentationFormat>
  <Paragraphs>202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-apple-system</vt:lpstr>
      <vt:lpstr>楷体_GB2312</vt:lpstr>
      <vt:lpstr>宋体</vt:lpstr>
      <vt:lpstr>Arial</vt:lpstr>
      <vt:lpstr>Book Antiqua</vt:lpstr>
      <vt:lpstr>Calibri</vt:lpstr>
      <vt:lpstr>Times New Roman</vt:lpstr>
      <vt:lpstr>Office 主题​​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林建伟</dc:creator>
  <cp:lastModifiedBy>LENOVO</cp:lastModifiedBy>
  <cp:revision>445</cp:revision>
  <dcterms:created xsi:type="dcterms:W3CDTF">1996-07-15T15:40:02Z</dcterms:created>
  <dcterms:modified xsi:type="dcterms:W3CDTF">2022-06-05T15:41:25Z</dcterms:modified>
</cp:coreProperties>
</file>